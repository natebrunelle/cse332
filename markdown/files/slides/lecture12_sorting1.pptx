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9"/>
  </p:notesMasterIdLst>
  <p:handoutMasterIdLst>
    <p:handoutMasterId r:id="rId80"/>
  </p:handoutMasterIdLst>
  <p:sldIdLst>
    <p:sldId id="256" r:id="rId2"/>
    <p:sldId id="388" r:id="rId3"/>
    <p:sldId id="397" r:id="rId4"/>
    <p:sldId id="398" r:id="rId5"/>
    <p:sldId id="399" r:id="rId6"/>
    <p:sldId id="400" r:id="rId7"/>
    <p:sldId id="365" r:id="rId8"/>
    <p:sldId id="370" r:id="rId9"/>
    <p:sldId id="546" r:id="rId10"/>
    <p:sldId id="547" r:id="rId11"/>
    <p:sldId id="548" r:id="rId12"/>
    <p:sldId id="549" r:id="rId13"/>
    <p:sldId id="550" r:id="rId14"/>
    <p:sldId id="551" r:id="rId15"/>
    <p:sldId id="552" r:id="rId16"/>
    <p:sldId id="553" r:id="rId17"/>
    <p:sldId id="554" r:id="rId18"/>
    <p:sldId id="555" r:id="rId19"/>
    <p:sldId id="379" r:id="rId20"/>
    <p:sldId id="380" r:id="rId21"/>
    <p:sldId id="381" r:id="rId22"/>
    <p:sldId id="500" r:id="rId23"/>
    <p:sldId id="543" r:id="rId24"/>
    <p:sldId id="504" r:id="rId25"/>
    <p:sldId id="506" r:id="rId26"/>
    <p:sldId id="443" r:id="rId27"/>
    <p:sldId id="556" r:id="rId28"/>
    <p:sldId id="445" r:id="rId29"/>
    <p:sldId id="557" r:id="rId30"/>
    <p:sldId id="447" r:id="rId31"/>
    <p:sldId id="448" r:id="rId32"/>
    <p:sldId id="449" r:id="rId33"/>
    <p:sldId id="450" r:id="rId34"/>
    <p:sldId id="451" r:id="rId35"/>
    <p:sldId id="558" r:id="rId36"/>
    <p:sldId id="559" r:id="rId37"/>
    <p:sldId id="507" r:id="rId38"/>
    <p:sldId id="518" r:id="rId39"/>
    <p:sldId id="519" r:id="rId40"/>
    <p:sldId id="520" r:id="rId41"/>
    <p:sldId id="521" r:id="rId42"/>
    <p:sldId id="522" r:id="rId43"/>
    <p:sldId id="523" r:id="rId44"/>
    <p:sldId id="524" r:id="rId45"/>
    <p:sldId id="525" r:id="rId46"/>
    <p:sldId id="527" r:id="rId47"/>
    <p:sldId id="528" r:id="rId48"/>
    <p:sldId id="529" r:id="rId49"/>
    <p:sldId id="530" r:id="rId50"/>
    <p:sldId id="526" r:id="rId51"/>
    <p:sldId id="535" r:id="rId52"/>
    <p:sldId id="368" r:id="rId53"/>
    <p:sldId id="360" r:id="rId54"/>
    <p:sldId id="536" r:id="rId55"/>
    <p:sldId id="537" r:id="rId56"/>
    <p:sldId id="538" r:id="rId57"/>
    <p:sldId id="386" r:id="rId58"/>
    <p:sldId id="539" r:id="rId59"/>
    <p:sldId id="384" r:id="rId60"/>
    <p:sldId id="385" r:id="rId61"/>
    <p:sldId id="540" r:id="rId62"/>
    <p:sldId id="421" r:id="rId63"/>
    <p:sldId id="422" r:id="rId64"/>
    <p:sldId id="423" r:id="rId65"/>
    <p:sldId id="424" r:id="rId66"/>
    <p:sldId id="425" r:id="rId67"/>
    <p:sldId id="426" r:id="rId68"/>
    <p:sldId id="427" r:id="rId69"/>
    <p:sldId id="428" r:id="rId70"/>
    <p:sldId id="429" r:id="rId71"/>
    <p:sldId id="430" r:id="rId72"/>
    <p:sldId id="431" r:id="rId73"/>
    <p:sldId id="432" r:id="rId74"/>
    <p:sldId id="433" r:id="rId75"/>
    <p:sldId id="446" r:id="rId76"/>
    <p:sldId id="541" r:id="rId77"/>
    <p:sldId id="542" r:id="rId78"/>
  </p:sldIdLst>
  <p:sldSz cx="12192000" cy="6858000"/>
  <p:notesSz cx="6858000" cy="9144000"/>
  <p:embeddedFontLst>
    <p:embeddedFont>
      <p:font typeface="Cambria Math" panose="02040503050406030204" pitchFamily="18" charset="0"/>
      <p:regular r:id="rId81"/>
    </p:embeddedFont>
    <p:embeddedFont>
      <p:font typeface="Consolas" panose="020B0609020204030204" pitchFamily="49" charset="0"/>
      <p:regular r:id="rId82"/>
      <p:bold r:id="rId83"/>
      <p:italic r:id="rId84"/>
      <p:boldItalic r:id="rId8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94601" autoAdjust="0"/>
  </p:normalViewPr>
  <p:slideViewPr>
    <p:cSldViewPr snapToGrid="0">
      <p:cViewPr varScale="1">
        <p:scale>
          <a:sx n="63" d="100"/>
          <a:sy n="63" d="100"/>
        </p:scale>
        <p:origin x="52" y="264"/>
      </p:cViewPr>
      <p:guideLst/>
    </p:cSldViewPr>
  </p:slideViewPr>
  <p:notesTextViewPr>
    <p:cViewPr>
      <p:scale>
        <a:sx n="1" d="1"/>
        <a:sy n="1" d="1"/>
      </p:scale>
      <p:origin x="0" y="0"/>
    </p:cViewPr>
  </p:notesTextViewPr>
  <p:notesViewPr>
    <p:cSldViewPr snapToGrid="0">
      <p:cViewPr>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4.fntdata"/><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90" Type="http://schemas.microsoft.com/office/2018/10/relationships/authors" Target="author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handoutMaster" Target="handoutMasters/handoutMaster1.xml"/><Relationship Id="rId85"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3.fntdata"/><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font" Target="fonts/font1.fntdata"/><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font" Target="fonts/font2.fntdata"/><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EF960D-66C1-ABA0-D3DE-1DEABCB0C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401823-F715-AF68-6577-EBFD66D892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643542-CF0C-48D3-A91E-34CCD96FC74F}" type="datetimeFigureOut">
              <a:rPr lang="en-US" smtClean="0"/>
              <a:t>4/23/2026</a:t>
            </a:fld>
            <a:endParaRPr lang="en-US"/>
          </a:p>
        </p:txBody>
      </p:sp>
      <p:sp>
        <p:nvSpPr>
          <p:cNvPr id="4" name="Footer Placeholder 3">
            <a:extLst>
              <a:ext uri="{FF2B5EF4-FFF2-40B4-BE49-F238E27FC236}">
                <a16:creationId xmlns:a16="http://schemas.microsoft.com/office/drawing/2014/main" id="{12B5E006-DFCE-D704-C827-FE0B884DE9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0F989F-B2F9-4E4D-C4FD-A5DF82B44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26CC33-4824-4BB3-8904-E821E71A70B5}" type="slidenum">
              <a:rPr lang="en-US" smtClean="0"/>
              <a:t>‹#›</a:t>
            </a:fld>
            <a:endParaRPr lang="en-US"/>
          </a:p>
        </p:txBody>
      </p:sp>
    </p:spTree>
    <p:extLst>
      <p:ext uri="{BB962C8B-B14F-4D97-AF65-F5344CB8AC3E}">
        <p14:creationId xmlns:p14="http://schemas.microsoft.com/office/powerpoint/2010/main" val="3714995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4/23/2026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4/23/2026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0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8" Type="http://schemas.openxmlformats.org/officeDocument/2006/relationships/image" Target="../media/image1300.png"/><Relationship Id="rId3" Type="http://schemas.openxmlformats.org/officeDocument/2006/relationships/image" Target="../media/image710.png"/><Relationship Id="rId7" Type="http://schemas.openxmlformats.org/officeDocument/2006/relationships/image" Target="../media/image120.png"/><Relationship Id="rId12" Type="http://schemas.openxmlformats.org/officeDocument/2006/relationships/image" Target="../media/image201.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90.png"/><Relationship Id="rId5" Type="http://schemas.openxmlformats.org/officeDocument/2006/relationships/image" Target="../media/image900.png"/><Relationship Id="rId10" Type="http://schemas.openxmlformats.org/officeDocument/2006/relationships/image" Target="../media/image180.png"/><Relationship Id="rId4" Type="http://schemas.openxmlformats.org/officeDocument/2006/relationships/image" Target="../media/image86.png"/><Relationship Id="rId9" Type="http://schemas.openxmlformats.org/officeDocument/2006/relationships/image" Target="../media/image140.png"/></Relationships>
</file>

<file path=ppt/slides/_rels/slide5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0.png"/><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2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image" Target="../media/image310.png"/><Relationship Id="rId13" Type="http://schemas.openxmlformats.org/officeDocument/2006/relationships/image" Target="../media/image360.png"/><Relationship Id="rId18" Type="http://schemas.openxmlformats.org/officeDocument/2006/relationships/image" Target="../media/image41.png"/><Relationship Id="rId3" Type="http://schemas.openxmlformats.org/officeDocument/2006/relationships/image" Target="../media/image261.png"/><Relationship Id="rId21" Type="http://schemas.openxmlformats.org/officeDocument/2006/relationships/image" Target="../media/image44.png"/><Relationship Id="rId7" Type="http://schemas.openxmlformats.org/officeDocument/2006/relationships/image" Target="../media/image300.png"/><Relationship Id="rId12" Type="http://schemas.openxmlformats.org/officeDocument/2006/relationships/image" Target="../media/image35.png"/><Relationship Id="rId17" Type="http://schemas.openxmlformats.org/officeDocument/2006/relationships/image" Target="../media/image400.png"/><Relationship Id="rId2" Type="http://schemas.openxmlformats.org/officeDocument/2006/relationships/image" Target="../media/image200.png"/><Relationship Id="rId16" Type="http://schemas.openxmlformats.org/officeDocument/2006/relationships/image" Target="../media/image39.png"/><Relationship Id="rId20" Type="http://schemas.openxmlformats.org/officeDocument/2006/relationships/image" Target="../media/image43.png"/><Relationship Id="rId1" Type="http://schemas.openxmlformats.org/officeDocument/2006/relationships/slideLayout" Target="../slideLayouts/slideLayout6.xml"/><Relationship Id="rId6" Type="http://schemas.openxmlformats.org/officeDocument/2006/relationships/image" Target="../media/image290.png"/><Relationship Id="rId11" Type="http://schemas.openxmlformats.org/officeDocument/2006/relationships/image" Target="../media/image34.png"/><Relationship Id="rId5" Type="http://schemas.openxmlformats.org/officeDocument/2006/relationships/image" Target="../media/image280.png"/><Relationship Id="rId15" Type="http://schemas.openxmlformats.org/officeDocument/2006/relationships/image" Target="../media/image38.png"/><Relationship Id="rId23" Type="http://schemas.openxmlformats.org/officeDocument/2006/relationships/image" Target="../media/image46.png"/><Relationship Id="rId10" Type="http://schemas.openxmlformats.org/officeDocument/2006/relationships/image" Target="../media/image330.png"/><Relationship Id="rId19" Type="http://schemas.openxmlformats.org/officeDocument/2006/relationships/image" Target="../media/image42.png"/><Relationship Id="rId4" Type="http://schemas.openxmlformats.org/officeDocument/2006/relationships/image" Target="../media/image271.png"/><Relationship Id="rId9" Type="http://schemas.openxmlformats.org/officeDocument/2006/relationships/image" Target="../media/image320.png"/><Relationship Id="rId14" Type="http://schemas.openxmlformats.org/officeDocument/2006/relationships/image" Target="../media/image370.png"/><Relationship Id="rId22" Type="http://schemas.openxmlformats.org/officeDocument/2006/relationships/image" Target="../media/image45.png"/></Relationships>
</file>

<file path=ppt/slides/_rels/slide61.xml.rels><?xml version="1.0" encoding="UTF-8" standalone="yes"?>
<Relationships xmlns="http://schemas.openxmlformats.org/package/2006/relationships"><Relationship Id="rId2" Type="http://schemas.openxmlformats.org/officeDocument/2006/relationships/image" Target="../media/image2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00.png"/><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0.png"/></Relationships>
</file>

<file path=ppt/slides/_rels/slide7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4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Winter 2026</a:t>
            </a:r>
            <a:br>
              <a:rPr lang="en-US" dirty="0"/>
            </a:br>
            <a:r>
              <a:rPr lang="en-US" dirty="0"/>
              <a:t>Lecture 12: Sorting</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4A8AF-72A5-B472-A0CD-E37AFD3D075A}"/>
              </a:ext>
            </a:extLst>
          </p:cNvPr>
          <p:cNvSpPr>
            <a:spLocks noGrp="1"/>
          </p:cNvSpPr>
          <p:nvPr>
            <p:ph type="title"/>
          </p:nvPr>
        </p:nvSpPr>
        <p:spPr/>
        <p:txBody>
          <a:bodyPr/>
          <a:lstStyle/>
          <a:p>
            <a:r>
              <a:rPr lang="en-US" dirty="0"/>
              <a:t>Collision Resolution</a:t>
            </a:r>
          </a:p>
        </p:txBody>
      </p:sp>
      <p:sp>
        <p:nvSpPr>
          <p:cNvPr id="3" name="Content Placeholder 2">
            <a:extLst>
              <a:ext uri="{FF2B5EF4-FFF2-40B4-BE49-F238E27FC236}">
                <a16:creationId xmlns:a16="http://schemas.microsoft.com/office/drawing/2014/main" id="{3D07292A-1917-0E43-0B96-34F56EC9DE4C}"/>
              </a:ext>
            </a:extLst>
          </p:cNvPr>
          <p:cNvSpPr>
            <a:spLocks noGrp="1"/>
          </p:cNvSpPr>
          <p:nvPr>
            <p:ph idx="1"/>
          </p:nvPr>
        </p:nvSpPr>
        <p:spPr/>
        <p:txBody>
          <a:bodyPr/>
          <a:lstStyle/>
          <a:p>
            <a:r>
              <a:rPr lang="en-US" dirty="0"/>
              <a:t>A Collision occurs when we want to insert something into an already-occupied position in the hash table</a:t>
            </a:r>
          </a:p>
          <a:p>
            <a:r>
              <a:rPr lang="en-US" dirty="0"/>
              <a:t>2 main strategies:</a:t>
            </a:r>
          </a:p>
          <a:p>
            <a:pPr lvl="1"/>
            <a:r>
              <a:rPr lang="en-US" dirty="0"/>
              <a:t>Separate Chaining</a:t>
            </a:r>
          </a:p>
          <a:p>
            <a:pPr lvl="2"/>
            <a:r>
              <a:rPr lang="en-US" dirty="0"/>
              <a:t>Use a secondary data structure to contain the items</a:t>
            </a:r>
          </a:p>
          <a:p>
            <a:pPr lvl="3"/>
            <a:r>
              <a:rPr lang="en-US" dirty="0"/>
              <a:t>E.g. each index in the hash table is itself a linked list</a:t>
            </a:r>
          </a:p>
          <a:p>
            <a:pPr lvl="1"/>
            <a:r>
              <a:rPr lang="en-US" dirty="0"/>
              <a:t>Open Addressing</a:t>
            </a:r>
          </a:p>
          <a:p>
            <a:pPr lvl="2"/>
            <a:r>
              <a:rPr lang="en-US" dirty="0"/>
              <a:t>Use a different spot in the table instead</a:t>
            </a:r>
          </a:p>
          <a:p>
            <a:pPr lvl="3"/>
            <a:r>
              <a:rPr lang="en-US" dirty="0"/>
              <a:t>Linear Probing</a:t>
            </a:r>
          </a:p>
          <a:p>
            <a:pPr lvl="3"/>
            <a:r>
              <a:rPr lang="en-US" dirty="0"/>
              <a:t>Quadratic Probing</a:t>
            </a:r>
          </a:p>
          <a:p>
            <a:pPr lvl="3"/>
            <a:r>
              <a:rPr lang="en-US" dirty="0"/>
              <a:t>Double Hashing</a:t>
            </a:r>
          </a:p>
          <a:p>
            <a:pPr marL="0" indent="0">
              <a:buNone/>
            </a:pPr>
            <a:endParaRPr lang="en-US" dirty="0"/>
          </a:p>
        </p:txBody>
      </p:sp>
      <p:grpSp>
        <p:nvGrpSpPr>
          <p:cNvPr id="4" name="Group 3" descr="An empty array of size 10">
            <a:extLst>
              <a:ext uri="{FF2B5EF4-FFF2-40B4-BE49-F238E27FC236}">
                <a16:creationId xmlns:a16="http://schemas.microsoft.com/office/drawing/2014/main" id="{AF91B734-73D3-DC0E-2EA2-99B52DE40162}"/>
              </a:ext>
            </a:extLst>
          </p:cNvPr>
          <p:cNvGrpSpPr/>
          <p:nvPr/>
        </p:nvGrpSpPr>
        <p:grpSpPr>
          <a:xfrm>
            <a:off x="5389880" y="5395595"/>
            <a:ext cx="6400800" cy="1097280"/>
            <a:chOff x="4953000" y="660717"/>
            <a:chExt cx="6400800" cy="1097280"/>
          </a:xfrm>
        </p:grpSpPr>
        <p:grpSp>
          <p:nvGrpSpPr>
            <p:cNvPr id="5" name="Group 4">
              <a:extLst>
                <a:ext uri="{FF2B5EF4-FFF2-40B4-BE49-F238E27FC236}">
                  <a16:creationId xmlns:a16="http://schemas.microsoft.com/office/drawing/2014/main" id="{EBAB576A-E277-4D44-8605-52AA1885F28A}"/>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FB6B729D-973C-9729-632E-7734BF046430}"/>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8D280AE4-DF69-9BCF-A1E0-3A8E6BE2B33B}"/>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9B8C4FDE-B0DE-2771-370F-1A0C867096C0}"/>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7B97DC60-EB0D-24EA-F496-C00651236C4A}"/>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18589CB5-BA80-50F5-226F-5781BC30B897}"/>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41334B41-6AC4-A0BD-25EF-9FB7C063565F}"/>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2AA01879-292C-EAF8-264C-81133339D775}"/>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A0E7C03F-94AB-7223-381C-92C41393769B}"/>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75E6F94F-27FE-D263-E64E-FE7AB20BF7C9}"/>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4F73501A-40F5-F49B-0791-7DCE4C018645}"/>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F5C056CA-946D-B557-9168-1E9CA2B477B6}"/>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D2E4B604-A8C8-A753-DAD3-56463AC1B8B9}"/>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440D010B-46BA-24A7-2F9F-E2B5E82325AC}"/>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EDE21E00-A30B-1A54-F38A-541C565F9340}"/>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A4F2D1BF-F61C-68D8-1070-7FA83CFF1DF3}"/>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7D8FBC60-940C-B628-8C12-BC09ED41F408}"/>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39443195-B9EA-DE7E-DBA2-00E011DBA1C2}"/>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3800E23E-90B1-5279-C25A-4E2AC8972ED3}"/>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C77FE1D7-CC95-D643-4744-7214AFBD5D15}"/>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9DCB5281-E8A2-F396-0EC9-1F31090E63F7}"/>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CED01229-04B7-F7D8-4C7C-A8A02458CA1E}"/>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979381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FD21D-C91E-3FE2-2027-49433DFD68FC}"/>
              </a:ext>
            </a:extLst>
          </p:cNvPr>
          <p:cNvSpPr>
            <a:spLocks noGrp="1"/>
          </p:cNvSpPr>
          <p:nvPr>
            <p:ph type="title"/>
          </p:nvPr>
        </p:nvSpPr>
        <p:spPr/>
        <p:txBody>
          <a:bodyPr/>
          <a:lstStyle/>
          <a:p>
            <a:r>
              <a:rPr lang="en-US" dirty="0"/>
              <a:t>Collision Resolution: Linear Probing</a:t>
            </a:r>
          </a:p>
        </p:txBody>
      </p:sp>
      <p:sp>
        <p:nvSpPr>
          <p:cNvPr id="3" name="Content Placeholder 2">
            <a:extLst>
              <a:ext uri="{FF2B5EF4-FFF2-40B4-BE49-F238E27FC236}">
                <a16:creationId xmlns:a16="http://schemas.microsoft.com/office/drawing/2014/main" id="{218C88E4-9BBE-71CC-681D-27A20BEEA2AF}"/>
              </a:ext>
            </a:extLst>
          </p:cNvPr>
          <p:cNvSpPr>
            <a:spLocks noGrp="1"/>
          </p:cNvSpPr>
          <p:nvPr>
            <p:ph idx="1"/>
          </p:nvPr>
        </p:nvSpPr>
        <p:spPr/>
        <p:txBody>
          <a:bodyPr/>
          <a:lstStyle/>
          <a:p>
            <a:r>
              <a:rPr lang="en-US" dirty="0"/>
              <a:t>When there’s a collision, use the next open space in the table</a:t>
            </a:r>
          </a:p>
          <a:p>
            <a:pPr marL="0" indent="0">
              <a:buNone/>
            </a:pPr>
            <a:endParaRPr lang="en-US" dirty="0"/>
          </a:p>
        </p:txBody>
      </p:sp>
      <p:grpSp>
        <p:nvGrpSpPr>
          <p:cNvPr id="4" name="Group 3" descr="An empty hash table of size 10">
            <a:extLst>
              <a:ext uri="{FF2B5EF4-FFF2-40B4-BE49-F238E27FC236}">
                <a16:creationId xmlns:a16="http://schemas.microsoft.com/office/drawing/2014/main" id="{0E33847A-21B7-8D67-70E7-20697D5D828F}"/>
              </a:ext>
            </a:extLst>
          </p:cNvPr>
          <p:cNvGrpSpPr/>
          <p:nvPr/>
        </p:nvGrpSpPr>
        <p:grpSpPr>
          <a:xfrm>
            <a:off x="2895600" y="4838063"/>
            <a:ext cx="6400800" cy="1097280"/>
            <a:chOff x="4953000" y="660717"/>
            <a:chExt cx="6400800" cy="1097280"/>
          </a:xfrm>
        </p:grpSpPr>
        <p:grpSp>
          <p:nvGrpSpPr>
            <p:cNvPr id="5" name="Group 4">
              <a:extLst>
                <a:ext uri="{FF2B5EF4-FFF2-40B4-BE49-F238E27FC236}">
                  <a16:creationId xmlns:a16="http://schemas.microsoft.com/office/drawing/2014/main" id="{072483E0-035B-552B-046B-B8CFCDDDA378}"/>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10A2255D-F389-165E-90CE-D5FDEDDAD427}"/>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9873DF17-BBDE-7098-679E-F718BD0005E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7497686A-BF93-5D4B-62ED-13F2DCF99D21}"/>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23DB1FA2-F273-056C-0BC0-3CF45C0F23ED}"/>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5EFCA446-C2F3-17AC-0BE3-69BCB6EC8B5A}"/>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9E15B43A-CE28-5824-C803-3DB155C25B9F}"/>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DD50E83A-82AF-5B5F-4819-0B3B5A4A67D4}"/>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D477FBFB-DD77-940B-BBEF-1081F2AB4D8D}"/>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F54EC3AB-7728-01B1-C085-C01979A56E18}"/>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35AF9B6F-5851-F1D1-4A8F-611B3182AB28}"/>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F6CBC511-68D6-8230-0208-019B6D43F0C0}"/>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AEAA4797-6DEA-8CBE-BAC1-E915143B9341}"/>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DF550FB6-B136-FD0A-CDFB-8DCF58F3E6BD}"/>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B75A14D9-1D9F-1F25-2689-4B160E4CD780}"/>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5B50E096-C2C7-35F2-770A-652F4CB9C336}"/>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81390E29-9377-939E-4D08-909131F81DFA}"/>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718A230B-E4DC-C904-C2DD-D6BF5FD6E094}"/>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6C3758B1-9087-D7B1-ABB7-BF5CFE288F86}"/>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FC2C4802-4643-0124-1D32-E88B8617331A}"/>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34B46D2A-B3B0-8BFB-4118-5BA56C95DCC4}"/>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3DB85716-D30D-EBB1-5947-E6BF559FAEB6}"/>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2297001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Linear Probing: Insert Procedure</a:t>
            </a:r>
          </a:p>
        </p:txBody>
      </p:sp>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To insert </a:t>
            </a:r>
            <a:r>
              <a:rPr lang="en-US" dirty="0" err="1">
                <a:latin typeface="Consolas" panose="020B0609020204030204" pitchFamily="49" charset="0"/>
              </a:rPr>
              <a:t>k,v</a:t>
            </a:r>
            <a:endParaRPr lang="en-US" dirty="0">
              <a:latin typeface="Consolas" panose="020B0609020204030204" pitchFamily="49" charset="0"/>
            </a:endParaRP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p>
          <a:p>
            <a:pPr lvl="1"/>
            <a:r>
              <a:rPr lang="en-US" dirty="0"/>
              <a:t>If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is occupied then try index </a:t>
            </a:r>
            <a:r>
              <a:rPr lang="en-US" dirty="0">
                <a:latin typeface="Consolas" panose="020B0609020204030204" pitchFamily="49" charset="0"/>
              </a:rPr>
              <a:t>(i+1)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that is occupied try index </a:t>
            </a:r>
            <a:r>
              <a:rPr lang="en-US" dirty="0">
                <a:latin typeface="Consolas" panose="020B0609020204030204" pitchFamily="49" charset="0"/>
              </a:rPr>
              <a:t>(i+2) % </a:t>
            </a:r>
            <a:r>
              <a:rPr lang="en-US" dirty="0" err="1">
                <a:latin typeface="Consolas" panose="020B0609020204030204" pitchFamily="49" charset="0"/>
              </a:rPr>
              <a:t>table.length</a:t>
            </a:r>
            <a:endParaRPr lang="en-US" dirty="0"/>
          </a:p>
          <a:p>
            <a:pPr lvl="1"/>
            <a:r>
              <a:rPr lang="en-US" dirty="0"/>
              <a:t>If that is occupied try index </a:t>
            </a:r>
            <a:r>
              <a:rPr lang="en-US" dirty="0">
                <a:latin typeface="Consolas" panose="020B0609020204030204" pitchFamily="49" charset="0"/>
              </a:rPr>
              <a:t>(i+3) % </a:t>
            </a:r>
            <a:r>
              <a:rPr lang="en-US" dirty="0" err="1">
                <a:latin typeface="Consolas" panose="020B0609020204030204" pitchFamily="49" charset="0"/>
              </a:rPr>
              <a:t>table.length</a:t>
            </a:r>
            <a:endParaRPr lang="en-US" dirty="0"/>
          </a:p>
          <a:p>
            <a:pPr lvl="1"/>
            <a:r>
              <a:rPr lang="en-US" dirty="0"/>
              <a:t>…</a:t>
            </a:r>
          </a:p>
        </p:txBody>
      </p:sp>
      <p:grpSp>
        <p:nvGrpSpPr>
          <p:cNvPr id="4" name="Group 3" descr="An empty hash table of size 10">
            <a:extLst>
              <a:ext uri="{FF2B5EF4-FFF2-40B4-BE49-F238E27FC236}">
                <a16:creationId xmlns:a16="http://schemas.microsoft.com/office/drawing/2014/main" id="{A7F5364F-88DC-3F96-2BC8-BAFA44EC14BE}"/>
              </a:ext>
            </a:extLst>
          </p:cNvPr>
          <p:cNvGrpSpPr/>
          <p:nvPr/>
        </p:nvGrpSpPr>
        <p:grpSpPr>
          <a:xfrm>
            <a:off x="2895600" y="5467983"/>
            <a:ext cx="6400800" cy="1097280"/>
            <a:chOff x="4953000" y="660717"/>
            <a:chExt cx="6400800" cy="1097280"/>
          </a:xfrm>
        </p:grpSpPr>
        <p:grpSp>
          <p:nvGrpSpPr>
            <p:cNvPr id="5" name="Group 4">
              <a:extLst>
                <a:ext uri="{FF2B5EF4-FFF2-40B4-BE49-F238E27FC236}">
                  <a16:creationId xmlns:a16="http://schemas.microsoft.com/office/drawing/2014/main" id="{784DAC70-2D02-4363-C33E-910CC23D54FE}"/>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313EEE87-6AB8-548B-F84D-F081E8ECF76E}"/>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84FFA859-CE6A-3363-4D19-9CAB7D56F05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0627DBA0-51B9-2EDB-EBA7-1E4A030D3BD3}"/>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54B5109F-FED7-B365-433C-F0CF16F73FD8}"/>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7C3AF265-E570-4D67-F01B-B938693539B6}"/>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491A2D82-FDC4-EA2F-2A43-D14EA4AA9250}"/>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DDEA582E-177A-FEBE-3F05-79B2349E7EED}"/>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9A7DDDD4-8D2E-F314-F507-8FA0016B4B5C}"/>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CF9000BC-81DC-CE44-03EB-CDF8D357E516}"/>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5DF3124B-193F-D905-24FE-C943F42B8A33}"/>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56F3B3C3-578B-F0CF-7FDA-4D658EACB546}"/>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5ECA0DCD-68D5-0470-BBE4-88793B346E25}"/>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049C5070-60AB-1BF9-E768-8ADCF618F29D}"/>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7ABDDB81-53DE-3741-D996-1F287A6DDDBA}"/>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1A6C8874-6AA8-354F-33B5-648D0C65EEE2}"/>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6790C2C0-54CD-8E8A-29F1-4E4245996583}"/>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777B6A59-79DD-E078-29A8-28E65E272796}"/>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2BC9E6AB-C5FC-2724-1BF9-D8BBC6BF709A}"/>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9198A0B8-7969-41D6-DAFF-DB99A0ED3CF0}"/>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C69979AC-43BC-32F9-927F-21D434B1657C}"/>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C3FB1665-49F1-41F3-8E29-06DAC51EBB0E}"/>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527012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How to find?</a:t>
            </a:r>
          </a:p>
        </p:txBody>
      </p:sp>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p:txBody>
          <a:bodyPr/>
          <a:lstStyle/>
          <a:p>
            <a:r>
              <a:rPr lang="en-US" dirty="0"/>
              <a:t>What do you think?</a:t>
            </a:r>
          </a:p>
        </p:txBody>
      </p:sp>
      <p:grpSp>
        <p:nvGrpSpPr>
          <p:cNvPr id="4" name="Group 3" descr="An empty hash table of size 10">
            <a:extLst>
              <a:ext uri="{FF2B5EF4-FFF2-40B4-BE49-F238E27FC236}">
                <a16:creationId xmlns:a16="http://schemas.microsoft.com/office/drawing/2014/main" id="{81CB483B-1B51-81A4-998F-C18BDFC7A15B}"/>
              </a:ext>
            </a:extLst>
          </p:cNvPr>
          <p:cNvGrpSpPr/>
          <p:nvPr/>
        </p:nvGrpSpPr>
        <p:grpSpPr>
          <a:xfrm>
            <a:off x="2895600" y="5467983"/>
            <a:ext cx="6400800" cy="1097280"/>
            <a:chOff x="4953000" y="660717"/>
            <a:chExt cx="6400800" cy="1097280"/>
          </a:xfrm>
        </p:grpSpPr>
        <p:grpSp>
          <p:nvGrpSpPr>
            <p:cNvPr id="5" name="Group 4">
              <a:extLst>
                <a:ext uri="{FF2B5EF4-FFF2-40B4-BE49-F238E27FC236}">
                  <a16:creationId xmlns:a16="http://schemas.microsoft.com/office/drawing/2014/main" id="{C59E03DE-9160-760E-CF86-C5941F904018}"/>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1FB13D3D-1B90-EAA5-7AFB-EA801C2BB03B}"/>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CFE21E7F-24A9-345B-6179-CE9B6B64048E}"/>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8C08EC2F-4B9F-A549-E285-F42819929435}"/>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3385E2DE-C98D-9B83-787C-CDCDA12EE202}"/>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C6E10180-6F3A-3B45-83C4-214CAC8D7CD9}"/>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B778B9FA-5B1A-6BAA-D0ED-497B6D233882}"/>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825C5EA0-74A9-C388-4C28-4D4F714373D5}"/>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F6DE8AEA-6615-91BD-FFF6-5CBC5567FDB2}"/>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58753DEE-E10D-C9D8-4695-E23D2D67AB45}"/>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96618187-A7D6-BE09-20B6-BAA91D197150}"/>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4D31F8DB-D9C0-B9CB-3688-A3070BDBF18E}"/>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8FB6E01C-853F-A01D-EC7F-ADF1B7503A78}"/>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15FC6836-E37B-902E-DCCA-42612165BE79}"/>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A5BF1168-2CD5-0057-BC2B-4909F76A33DD}"/>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40BAE604-1186-0894-51A9-CDB7E3244583}"/>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7C78DDE3-ACB7-0049-DED7-1DAD1BC7F508}"/>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1B16DDB0-7B34-54E8-8893-11222F305B1A}"/>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BC05449B-00C3-5D02-3BCE-87B9791D97FD}"/>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BF1FDF2D-2EED-BE48-04B0-683CDAB71ABE}"/>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9851D624-3FB9-0A77-322F-64E16B3803E0}"/>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EA3D70CC-3542-191B-70BD-13DD27D6CB44}"/>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498189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Find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p:txBody>
              <a:bodyPr/>
              <a:lstStyle/>
              <a:p>
                <a:r>
                  <a:rPr lang="en-US" dirty="0"/>
                  <a:t>To find key </a:t>
                </a:r>
                <a:r>
                  <a:rPr lang="en-US" dirty="0">
                    <a:latin typeface="Consolas" panose="020B0609020204030204" pitchFamily="49" charset="0"/>
                  </a:rPr>
                  <a:t>k</a:t>
                </a: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p>
              <a:p>
                <a:pPr lvl="1"/>
                <a:r>
                  <a:rPr lang="en-US" dirty="0"/>
                  <a:t>If </a:t>
                </a:r>
                <a:r>
                  <a:rPr lang="en-US" sz="2000" dirty="0">
                    <a:solidFill>
                      <a:prstClr val="black"/>
                    </a:solidFill>
                    <a:latin typeface="Consolas" panose="020B0609020204030204" pitchFamily="49" charset="0"/>
                  </a:rPr>
                  <a:t>table[</a:t>
                </a:r>
                <a:r>
                  <a:rPr lang="en-US" sz="2000" dirty="0" err="1">
                    <a:solidFill>
                      <a:prstClr val="black"/>
                    </a:solidFill>
                    <a:latin typeface="Consolas" panose="020B0609020204030204" pitchFamily="49" charset="0"/>
                  </a:rPr>
                  <a:t>i</a:t>
                </a:r>
                <a:r>
                  <a:rPr lang="en-US" sz="2000" dirty="0">
                    <a:solidFill>
                      <a:prstClr val="black"/>
                    </a:solidFill>
                    <a:latin typeface="Consolas" panose="020B0609020204030204" pitchFamily="49" charset="0"/>
                  </a:rPr>
                  <a:t>] </a:t>
                </a:r>
                <a:r>
                  <a:rPr lang="en-US" dirty="0"/>
                  <a:t>is occupied but doesn’t have </a:t>
                </a:r>
                <a:r>
                  <a:rPr lang="en-US" dirty="0">
                    <a:latin typeface="Consolas" panose="020B0609020204030204" pitchFamily="49" charset="0"/>
                  </a:rPr>
                  <a:t>k</a:t>
                </a:r>
                <a:r>
                  <a:rPr lang="en-US" dirty="0"/>
                  <a:t>, check</a:t>
                </a:r>
                <a:r>
                  <a:rPr lang="en-US" sz="2000" dirty="0"/>
                  <a:t> </a:t>
                </a:r>
                <a:r>
                  <a:rPr lang="en-US" sz="2000" dirty="0">
                    <a:latin typeface="Consolas" panose="020B0609020204030204" pitchFamily="49" charset="0"/>
                  </a:rPr>
                  <a:t>(i+1) % </a:t>
                </a:r>
                <a:r>
                  <a:rPr lang="en-US" sz="2000" dirty="0" err="1">
                    <a:latin typeface="Consolas" panose="020B0609020204030204" pitchFamily="49" charset="0"/>
                  </a:rPr>
                  <a:t>table.length</a:t>
                </a:r>
                <a:endParaRPr lang="en-US" b="0" dirty="0"/>
              </a:p>
              <a:p>
                <a:pPr lvl="1"/>
                <a:r>
                  <a:rPr lang="en-US" dirty="0"/>
                  <a:t>If that is occupied and doesn’t contain </a:t>
                </a:r>
                <a:r>
                  <a:rPr lang="en-US" dirty="0">
                    <a:latin typeface="Consolas" panose="020B0609020204030204" pitchFamily="49" charset="0"/>
                  </a:rPr>
                  <a:t>k</a:t>
                </a:r>
                <a:r>
                  <a:rPr lang="en-US" dirty="0"/>
                  <a:t>, check </a:t>
                </a:r>
                <a:r>
                  <a:rPr lang="en-US" sz="2000" dirty="0">
                    <a:latin typeface="Consolas" panose="020B0609020204030204" pitchFamily="49" charset="0"/>
                  </a:rPr>
                  <a:t>(i+2) % </a:t>
                </a:r>
                <a:r>
                  <a:rPr lang="en-US" sz="2000" dirty="0" err="1">
                    <a:latin typeface="Consolas" panose="020B0609020204030204" pitchFamily="49" charset="0"/>
                  </a:rPr>
                  <a:t>table.length</a:t>
                </a:r>
                <a:endParaRPr lang="en-US" dirty="0"/>
              </a:p>
              <a:p>
                <a:pPr lvl="1"/>
                <a:r>
                  <a:rPr lang="en-US" dirty="0"/>
                  <a:t>If that is occupied and doesn’t contain </a:t>
                </a:r>
                <a:r>
                  <a:rPr lang="en-US" dirty="0">
                    <a:latin typeface="Consolas" panose="020B0609020204030204" pitchFamily="49" charset="0"/>
                  </a:rPr>
                  <a:t>k</a:t>
                </a:r>
                <a:r>
                  <a:rPr lang="en-US" dirty="0"/>
                  <a:t>, check </a:t>
                </a:r>
                <a:r>
                  <a:rPr lang="en-US" sz="1800" dirty="0">
                    <a:latin typeface="Consolas" panose="020B0609020204030204" pitchFamily="49" charset="0"/>
                  </a:rPr>
                  <a:t>(i+3) % </a:t>
                </a:r>
                <a:r>
                  <a:rPr lang="en-US" sz="1800" dirty="0" err="1">
                    <a:latin typeface="Consolas" panose="020B0609020204030204" pitchFamily="49" charset="0"/>
                  </a:rPr>
                  <a:t>table.length</a:t>
                </a:r>
                <a:endParaRPr lang="en-US" dirty="0"/>
              </a:p>
              <a:p>
                <a:pPr lvl="1"/>
                <a:r>
                  <a:rPr lang="en-US" dirty="0"/>
                  <a:t>Repeat until you either find </a:t>
                </a:r>
                <a14:m>
                  <m:oMath xmlns:m="http://schemas.openxmlformats.org/officeDocument/2006/math">
                    <m:r>
                      <a:rPr lang="en-US" b="0" i="1" smtClean="0">
                        <a:latin typeface="Cambria Math" panose="02040503050406030204" pitchFamily="18" charset="0"/>
                      </a:rPr>
                      <m:t>𝑘</m:t>
                    </m:r>
                  </m:oMath>
                </a14:m>
                <a:r>
                  <a:rPr lang="en-US" dirty="0"/>
                  <a:t> or else you reach an empty cell in the table</a:t>
                </a:r>
              </a:p>
            </p:txBody>
          </p:sp>
        </mc:Choice>
        <mc:Fallback xmlns="">
          <p:sp>
            <p:nvSpPr>
              <p:cNvPr id="3" name="Content Placeholder 2">
                <a:extLst>
                  <a:ext uri="{FF2B5EF4-FFF2-40B4-BE49-F238E27FC236}">
                    <a16:creationId xmlns:a16="http://schemas.microsoft.com/office/drawing/2014/main" id="{A97C19AB-1C53-85A1-A3AF-83DFA61F94B5}"/>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grpSp>
        <p:nvGrpSpPr>
          <p:cNvPr id="4" name="Group 3" descr="An empty hash table of size 10">
            <a:extLst>
              <a:ext uri="{FF2B5EF4-FFF2-40B4-BE49-F238E27FC236}">
                <a16:creationId xmlns:a16="http://schemas.microsoft.com/office/drawing/2014/main" id="{276BC9F7-99BA-B7BC-1AD2-84242D56EDF4}"/>
              </a:ext>
            </a:extLst>
          </p:cNvPr>
          <p:cNvGrpSpPr/>
          <p:nvPr/>
        </p:nvGrpSpPr>
        <p:grpSpPr>
          <a:xfrm>
            <a:off x="2895600" y="5467983"/>
            <a:ext cx="6400800" cy="1097280"/>
            <a:chOff x="4953000" y="660717"/>
            <a:chExt cx="6400800" cy="1097280"/>
          </a:xfrm>
        </p:grpSpPr>
        <p:grpSp>
          <p:nvGrpSpPr>
            <p:cNvPr id="5" name="Group 4">
              <a:extLst>
                <a:ext uri="{FF2B5EF4-FFF2-40B4-BE49-F238E27FC236}">
                  <a16:creationId xmlns:a16="http://schemas.microsoft.com/office/drawing/2014/main" id="{412EC1DB-D4A6-6B7B-7C6F-C60875C4B880}"/>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0F0BD263-8B0C-EE09-006A-586758C03449}"/>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1BCB131B-1A39-0FB0-EC28-AB2DC7165455}"/>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20065800-76F9-7D0C-E5B6-87020D3297B3}"/>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AA775EEE-4045-A0E9-526E-AC2E4A2B220F}"/>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48B9BA47-C1A1-480B-FBD9-0B5D0C3FEC27}"/>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BB61FD45-4837-E870-55ED-6756EC2B5361}"/>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AEEA9484-5BD7-74CD-F516-9CC8D067DE6A}"/>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2F251C79-01BF-5C06-7487-02E695D99A4F}"/>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C67AFA12-FBBE-9F99-7B1A-AE3BB7D429F8}"/>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1A245A2F-6564-4891-A90C-E3E2BF04E125}"/>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EAE4A53B-9B6C-7B8D-8E87-A270ED0D10A3}"/>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BBBD0B4C-F158-E738-E58A-1DA6795238D8}"/>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EE8BF469-3A2B-FC51-C4A4-253D9013DAF7}"/>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C9AC31F3-54B7-B947-0217-17FC02604175}"/>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E6818FCD-6E83-A9BD-EAA4-3AAD7B03036B}"/>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39B224D1-EB59-30C6-540B-8994D7663CDC}"/>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C63F476A-B374-374B-789B-67414FC2A447}"/>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B23329E1-825C-BBDB-1055-328D27B7B737}"/>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C09B7E04-AA65-9DC6-22AD-B63B7FA8D350}"/>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CF17D356-8CC5-C0AF-2880-5EE8F66A33EB}"/>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D3BF3FBC-BB62-99F8-8361-7ECF47FBB82E}"/>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414194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Delete is Hard (Example 1)</a:t>
            </a:r>
          </a:p>
        </p:txBody>
      </p:sp>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a:xfrm>
            <a:off x="838200" y="1825625"/>
            <a:ext cx="10515600" cy="1037157"/>
          </a:xfrm>
        </p:spPr>
        <p:txBody>
          <a:bodyPr/>
          <a:lstStyle/>
          <a:p>
            <a:r>
              <a:rPr lang="en-US" dirty="0"/>
              <a:t>Suppose we insert A, B, C, D, and E in that order, where all map to 3</a:t>
            </a:r>
          </a:p>
          <a:p>
            <a:r>
              <a:rPr lang="en-US" dirty="0"/>
              <a:t>How should we delete B?</a:t>
            </a:r>
          </a:p>
        </p:txBody>
      </p:sp>
      <p:grpSp>
        <p:nvGrpSpPr>
          <p:cNvPr id="53" name="Group 52" descr="Before the deletion our hash table is an array of length 10. Its contents are as follows:&#10;&#10;Index 3: A&#10;Index 4: B&#10;Index 5: C&#10;Index 6: D&#10;Index 7: E&#10;All other indices are empty">
            <a:extLst>
              <a:ext uri="{FF2B5EF4-FFF2-40B4-BE49-F238E27FC236}">
                <a16:creationId xmlns:a16="http://schemas.microsoft.com/office/drawing/2014/main" id="{7C976558-1999-8862-1F35-32829A558698}"/>
              </a:ext>
            </a:extLst>
          </p:cNvPr>
          <p:cNvGrpSpPr/>
          <p:nvPr/>
        </p:nvGrpSpPr>
        <p:grpSpPr>
          <a:xfrm>
            <a:off x="1600429" y="3198609"/>
            <a:ext cx="7637782" cy="1097280"/>
            <a:chOff x="1600429" y="3198609"/>
            <a:chExt cx="7637782" cy="1097280"/>
          </a:xfrm>
        </p:grpSpPr>
        <p:grpSp>
          <p:nvGrpSpPr>
            <p:cNvPr id="4" name="Group 3" descr="An array of length 10. Its contents are as follows:&#10;&#10;Index 3: A&#10;Index 4: B&#10;Index 5: C&#10;Index 6: D&#10;Index 7: E&#10;All other indices are empty">
              <a:extLst>
                <a:ext uri="{FF2B5EF4-FFF2-40B4-BE49-F238E27FC236}">
                  <a16:creationId xmlns:a16="http://schemas.microsoft.com/office/drawing/2014/main" id="{23317F43-9CD7-8DA0-A5D0-001E0001053F}"/>
                </a:ext>
              </a:extLst>
            </p:cNvPr>
            <p:cNvGrpSpPr/>
            <p:nvPr/>
          </p:nvGrpSpPr>
          <p:grpSpPr>
            <a:xfrm>
              <a:off x="2837411" y="3198609"/>
              <a:ext cx="6400800" cy="1097280"/>
              <a:chOff x="4953000" y="660717"/>
              <a:chExt cx="6400800" cy="1097280"/>
            </a:xfrm>
          </p:grpSpPr>
          <p:grpSp>
            <p:nvGrpSpPr>
              <p:cNvPr id="5" name="Group 4">
                <a:extLst>
                  <a:ext uri="{FF2B5EF4-FFF2-40B4-BE49-F238E27FC236}">
                    <a16:creationId xmlns:a16="http://schemas.microsoft.com/office/drawing/2014/main" id="{D1202B14-1CA9-7427-2AFA-FA1DD7757A51}"/>
                  </a:ext>
                </a:extLst>
              </p:cNvPr>
              <p:cNvGrpSpPr/>
              <p:nvPr/>
            </p:nvGrpSpPr>
            <p:grpSpPr>
              <a:xfrm>
                <a:off x="4953000" y="660717"/>
                <a:ext cx="6400800" cy="640080"/>
                <a:chOff x="2252980" y="5083048"/>
                <a:chExt cx="6400800" cy="640080"/>
              </a:xfrm>
            </p:grpSpPr>
            <p:sp>
              <p:nvSpPr>
                <p:cNvPr id="17" name="Rectangle 16">
                  <a:extLst>
                    <a:ext uri="{FF2B5EF4-FFF2-40B4-BE49-F238E27FC236}">
                      <a16:creationId xmlns:a16="http://schemas.microsoft.com/office/drawing/2014/main" id="{CA3C04AB-11E3-0E1D-5512-CF9905E76CA3}"/>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7505F905-78AC-0FED-63A8-D158F9F6DB98}"/>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56C3C739-190D-77AE-094B-B5A1ABEDD151}"/>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DDB671C4-36E4-5759-BD56-4B984DE8E14C}"/>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21" name="Rectangle 20">
                  <a:extLst>
                    <a:ext uri="{FF2B5EF4-FFF2-40B4-BE49-F238E27FC236}">
                      <a16:creationId xmlns:a16="http://schemas.microsoft.com/office/drawing/2014/main" id="{45E106D1-7203-82F6-280F-7E853F2B0A6B}"/>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22" name="Rectangle 21">
                  <a:extLst>
                    <a:ext uri="{FF2B5EF4-FFF2-40B4-BE49-F238E27FC236}">
                      <a16:creationId xmlns:a16="http://schemas.microsoft.com/office/drawing/2014/main" id="{30048179-5B5B-1D84-4BEE-B63E119BE515}"/>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23" name="Rectangle 22">
                  <a:extLst>
                    <a:ext uri="{FF2B5EF4-FFF2-40B4-BE49-F238E27FC236}">
                      <a16:creationId xmlns:a16="http://schemas.microsoft.com/office/drawing/2014/main" id="{EAF1E2D4-BFD0-E7A3-64D2-1DB262FEE593}"/>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24" name="Rectangle 23">
                  <a:extLst>
                    <a:ext uri="{FF2B5EF4-FFF2-40B4-BE49-F238E27FC236}">
                      <a16:creationId xmlns:a16="http://schemas.microsoft.com/office/drawing/2014/main" id="{C9BCC972-4F49-985D-FF80-F251AC888966}"/>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25" name="Rectangle 24">
                  <a:extLst>
                    <a:ext uri="{FF2B5EF4-FFF2-40B4-BE49-F238E27FC236}">
                      <a16:creationId xmlns:a16="http://schemas.microsoft.com/office/drawing/2014/main" id="{9F5EC299-2C81-C998-0B48-905B653F2074}"/>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835EE393-F261-7112-0EE4-348AA0A16376}"/>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FF74D851-AE84-7BB2-15D2-B8B3FDBD30F2}"/>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0D037339-333A-C3D8-3E6C-65B8FAD06306}"/>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AD452F40-2861-0C61-C782-DA10FBC1BF55}"/>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0EDF1C0F-B926-C860-D53D-B07734898241}"/>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7466C9CD-1D81-A75D-F1FC-9BF215023E22}"/>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715135D2-4A37-6E73-2735-7DD762D195B1}"/>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54DAB7D0-ACAD-CF90-8FD1-642768251F99}"/>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FD6C6D38-B5FA-0844-809D-ECE94165422E}"/>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18481B7C-6E6D-1241-B31F-BBD1206BCACC}"/>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C7E7B75A-56BD-E34F-5441-E945C7024148}"/>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E10EF039-58EA-D1AF-24E2-766AB95BFBAC}"/>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50" name="TextBox 49">
              <a:extLst>
                <a:ext uri="{FF2B5EF4-FFF2-40B4-BE49-F238E27FC236}">
                  <a16:creationId xmlns:a16="http://schemas.microsoft.com/office/drawing/2014/main" id="{F70D4F65-1C9F-2430-9212-AF08A10A5B82}"/>
                </a:ext>
              </a:extLst>
            </p:cNvPr>
            <p:cNvSpPr txBox="1"/>
            <p:nvPr/>
          </p:nvSpPr>
          <p:spPr>
            <a:xfrm>
              <a:off x="1600429" y="3301311"/>
              <a:ext cx="865622" cy="369332"/>
            </a:xfrm>
            <a:prstGeom prst="rect">
              <a:avLst/>
            </a:prstGeom>
            <a:noFill/>
          </p:spPr>
          <p:txBody>
            <a:bodyPr wrap="none" rtlCol="0">
              <a:spAutoFit/>
            </a:bodyPr>
            <a:lstStyle/>
            <a:p>
              <a:r>
                <a:rPr lang="en-US" dirty="0"/>
                <a:t>Before:</a:t>
              </a:r>
            </a:p>
          </p:txBody>
        </p:sp>
      </p:grpSp>
      <p:sp>
        <p:nvSpPr>
          <p:cNvPr id="52" name="Content Placeholder 2">
            <a:extLst>
              <a:ext uri="{FF2B5EF4-FFF2-40B4-BE49-F238E27FC236}">
                <a16:creationId xmlns:a16="http://schemas.microsoft.com/office/drawing/2014/main" id="{3BA10E1D-58A7-9792-3AD4-C1C9C47033AA}"/>
              </a:ext>
            </a:extLst>
          </p:cNvPr>
          <p:cNvSpPr txBox="1">
            <a:spLocks/>
          </p:cNvSpPr>
          <p:nvPr/>
        </p:nvSpPr>
        <p:spPr>
          <a:xfrm>
            <a:off x="838200" y="4503285"/>
            <a:ext cx="10515600" cy="49960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need future probing to work correctly, so we must fill in the hole.</a:t>
            </a:r>
          </a:p>
        </p:txBody>
      </p:sp>
      <p:grpSp>
        <p:nvGrpSpPr>
          <p:cNvPr id="54" name="Group 53" descr="After deleting key B we have an array of length 10. Its contents are as follows:&#10;&#10;Index 3: A&#10;Index 4: C&#10;Index 5: D&#10;Index 6: E&#10;All other indices are empty">
            <a:extLst>
              <a:ext uri="{FF2B5EF4-FFF2-40B4-BE49-F238E27FC236}">
                <a16:creationId xmlns:a16="http://schemas.microsoft.com/office/drawing/2014/main" id="{141B36DF-FA73-7210-669F-E00EE6FE784C}"/>
              </a:ext>
            </a:extLst>
          </p:cNvPr>
          <p:cNvGrpSpPr/>
          <p:nvPr/>
        </p:nvGrpSpPr>
        <p:grpSpPr>
          <a:xfrm>
            <a:off x="1600429" y="5467983"/>
            <a:ext cx="7695971" cy="1097280"/>
            <a:chOff x="1600429" y="5467983"/>
            <a:chExt cx="7695971" cy="1097280"/>
          </a:xfrm>
        </p:grpSpPr>
        <p:grpSp>
          <p:nvGrpSpPr>
            <p:cNvPr id="27" name="Group 26" descr="An array of length 10. Its contents are as follows:&#10;&#10;Index 3: A&#10;Index 4: C&#10;Index 5: D&#10;Index 6: E&#10;All other indices are empty">
              <a:extLst>
                <a:ext uri="{FF2B5EF4-FFF2-40B4-BE49-F238E27FC236}">
                  <a16:creationId xmlns:a16="http://schemas.microsoft.com/office/drawing/2014/main" id="{05116AA1-79E7-7B8F-6B63-5AD080903693}"/>
                </a:ext>
              </a:extLst>
            </p:cNvPr>
            <p:cNvGrpSpPr/>
            <p:nvPr/>
          </p:nvGrpSpPr>
          <p:grpSpPr>
            <a:xfrm>
              <a:off x="2895600" y="5467983"/>
              <a:ext cx="6400800" cy="1097280"/>
              <a:chOff x="4953000" y="660717"/>
              <a:chExt cx="6400800" cy="1097280"/>
            </a:xfrm>
          </p:grpSpPr>
          <p:grpSp>
            <p:nvGrpSpPr>
              <p:cNvPr id="28" name="Group 27">
                <a:extLst>
                  <a:ext uri="{FF2B5EF4-FFF2-40B4-BE49-F238E27FC236}">
                    <a16:creationId xmlns:a16="http://schemas.microsoft.com/office/drawing/2014/main" id="{4E2BEEE4-F2F5-4A6D-A7F1-74E5F59B87C3}"/>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56E892C7-4BB7-7892-D8EF-72CBDED38551}"/>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8C937C9A-A150-3B3B-5F5D-A46B057E77E9}"/>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514F1BB8-CD89-6CC4-271E-B54E8B76D927}"/>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Rectangle 42">
                  <a:extLst>
                    <a:ext uri="{FF2B5EF4-FFF2-40B4-BE49-F238E27FC236}">
                      <a16:creationId xmlns:a16="http://schemas.microsoft.com/office/drawing/2014/main" id="{EB063377-763D-7E6B-A2E2-168A8418FD90}"/>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4" name="Rectangle 43">
                  <a:extLst>
                    <a:ext uri="{FF2B5EF4-FFF2-40B4-BE49-F238E27FC236}">
                      <a16:creationId xmlns:a16="http://schemas.microsoft.com/office/drawing/2014/main" id="{3BDC69C8-0C62-202A-1D29-F6FA19617469}"/>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45" name="Rectangle 44">
                  <a:extLst>
                    <a:ext uri="{FF2B5EF4-FFF2-40B4-BE49-F238E27FC236}">
                      <a16:creationId xmlns:a16="http://schemas.microsoft.com/office/drawing/2014/main" id="{B2C24F4D-45E7-429F-1A5A-E2F8B8908173}"/>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46" name="Rectangle 45">
                  <a:extLst>
                    <a:ext uri="{FF2B5EF4-FFF2-40B4-BE49-F238E27FC236}">
                      <a16:creationId xmlns:a16="http://schemas.microsoft.com/office/drawing/2014/main" id="{C9CAD924-3E43-437B-0227-B82DCA6BCC64}"/>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47" name="Rectangle 46">
                  <a:extLst>
                    <a:ext uri="{FF2B5EF4-FFF2-40B4-BE49-F238E27FC236}">
                      <a16:creationId xmlns:a16="http://schemas.microsoft.com/office/drawing/2014/main" id="{1082242E-03C9-DAC8-4F5A-35CBD59C5E64}"/>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a:extLst>
                    <a:ext uri="{FF2B5EF4-FFF2-40B4-BE49-F238E27FC236}">
                      <a16:creationId xmlns:a16="http://schemas.microsoft.com/office/drawing/2014/main" id="{E4CCBA9C-3E8E-4B95-CA6E-01032FF83852}"/>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C792AA63-0871-0F41-E9F2-588857F0A4F8}"/>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29" name="Group 28">
                <a:extLst>
                  <a:ext uri="{FF2B5EF4-FFF2-40B4-BE49-F238E27FC236}">
                    <a16:creationId xmlns:a16="http://schemas.microsoft.com/office/drawing/2014/main" id="{9509C928-E94D-95A9-C016-C6809689E499}"/>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B2AA9EB9-788C-B4ED-3ADA-785D5BE14080}"/>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FFBF553E-1BDD-5C2E-6BB1-8C3C791134B5}"/>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738A8E60-CF0C-00C6-275F-9CBAE91141F1}"/>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DC89A41F-BF8D-9B3D-B3C1-AA50B5DDCE1C}"/>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3C7892DC-2FA8-A5BA-5797-5FBAD88AFA6D}"/>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EEF67158-5307-F23C-E512-778B1FDB75D9}"/>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5788CA28-DB30-5C22-5B10-37895107B113}"/>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9AF9FD98-F08E-74AD-B4D7-CC0C2EDE31F7}"/>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45B24D09-3912-D852-0607-0B6184BE452C}"/>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24A771A6-FE79-3EE8-742B-09A1A7CE80E6}"/>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51" name="TextBox 50">
              <a:extLst>
                <a:ext uri="{FF2B5EF4-FFF2-40B4-BE49-F238E27FC236}">
                  <a16:creationId xmlns:a16="http://schemas.microsoft.com/office/drawing/2014/main" id="{FAD923D7-3737-D6A6-A7FB-34380866D88E}"/>
                </a:ext>
              </a:extLst>
            </p:cNvPr>
            <p:cNvSpPr txBox="1"/>
            <p:nvPr/>
          </p:nvSpPr>
          <p:spPr>
            <a:xfrm>
              <a:off x="1600429" y="5603357"/>
              <a:ext cx="720775" cy="369332"/>
            </a:xfrm>
            <a:prstGeom prst="rect">
              <a:avLst/>
            </a:prstGeom>
            <a:noFill/>
          </p:spPr>
          <p:txBody>
            <a:bodyPr wrap="none" rtlCol="0">
              <a:spAutoFit/>
            </a:bodyPr>
            <a:lstStyle/>
            <a:p>
              <a:r>
                <a:rPr lang="en-US" dirty="0"/>
                <a:t>After:</a:t>
              </a:r>
            </a:p>
          </p:txBody>
        </p:sp>
      </p:grpSp>
    </p:spTree>
    <p:extLst>
      <p:ext uri="{BB962C8B-B14F-4D97-AF65-F5344CB8AC3E}">
        <p14:creationId xmlns:p14="http://schemas.microsoft.com/office/powerpoint/2010/main" val="565583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Delete is Hard (Example 2)</a:t>
            </a:r>
          </a:p>
        </p:txBody>
      </p:sp>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a:xfrm>
            <a:off x="838200" y="1825625"/>
            <a:ext cx="10515600" cy="1325563"/>
          </a:xfrm>
        </p:spPr>
        <p:txBody>
          <a:bodyPr>
            <a:normAutofit lnSpcReduction="10000"/>
          </a:bodyPr>
          <a:lstStyle/>
          <a:p>
            <a:r>
              <a:rPr lang="en-US" dirty="0"/>
              <a:t>Suppose we insert A, B, C, D, and E in that order, where A,B,E all map to 3 and C,D map to 5.</a:t>
            </a:r>
          </a:p>
          <a:p>
            <a:r>
              <a:rPr lang="en-US" dirty="0"/>
              <a:t>How should we delete B?</a:t>
            </a:r>
          </a:p>
        </p:txBody>
      </p:sp>
      <p:grpSp>
        <p:nvGrpSpPr>
          <p:cNvPr id="5" name="Group 4" descr="Before the deletion our hash table is an array of length 10. Its contents are as follows:&#10;&#10;Index 3: A&#10;Index 4: B&#10;Index 5: C&#10;Index 6: D&#10;Index 7: E&#10;All other indices are empty">
            <a:extLst>
              <a:ext uri="{FF2B5EF4-FFF2-40B4-BE49-F238E27FC236}">
                <a16:creationId xmlns:a16="http://schemas.microsoft.com/office/drawing/2014/main" id="{26AE6485-EF51-D616-6917-B457D5CEDA8E}"/>
              </a:ext>
            </a:extLst>
          </p:cNvPr>
          <p:cNvGrpSpPr/>
          <p:nvPr/>
        </p:nvGrpSpPr>
        <p:grpSpPr>
          <a:xfrm>
            <a:off x="1600429" y="3198609"/>
            <a:ext cx="7637782" cy="1097280"/>
            <a:chOff x="1600429" y="3198609"/>
            <a:chExt cx="7637782" cy="1097280"/>
          </a:xfrm>
        </p:grpSpPr>
        <p:grpSp>
          <p:nvGrpSpPr>
            <p:cNvPr id="27" name="Group 26" descr="An array of length 10. Its contents are as follows:&#10;&#10;Index 3: A&#10;Index 4: B&#10;Index 5: C&#10;Index 6: D&#10;Index 7: E&#10;All other indices are empty">
              <a:extLst>
                <a:ext uri="{FF2B5EF4-FFF2-40B4-BE49-F238E27FC236}">
                  <a16:creationId xmlns:a16="http://schemas.microsoft.com/office/drawing/2014/main" id="{6557A905-A4AB-3521-6E44-053E83039717}"/>
                </a:ext>
              </a:extLst>
            </p:cNvPr>
            <p:cNvGrpSpPr/>
            <p:nvPr/>
          </p:nvGrpSpPr>
          <p:grpSpPr>
            <a:xfrm>
              <a:off x="2837411" y="3198609"/>
              <a:ext cx="6400800" cy="1097280"/>
              <a:chOff x="4953000" y="660717"/>
              <a:chExt cx="6400800" cy="1097280"/>
            </a:xfrm>
          </p:grpSpPr>
          <p:grpSp>
            <p:nvGrpSpPr>
              <p:cNvPr id="28" name="Group 27">
                <a:extLst>
                  <a:ext uri="{FF2B5EF4-FFF2-40B4-BE49-F238E27FC236}">
                    <a16:creationId xmlns:a16="http://schemas.microsoft.com/office/drawing/2014/main" id="{080D7FBF-B01A-0263-3C32-5EE2F7A16537}"/>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A47806BC-9D6A-BA52-C7E9-2B88DE6B0DB6}"/>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DE16997F-BE67-C4CF-33DB-F3CEB9B5E7FF}"/>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5F4DD397-D99C-7646-A67D-CF7F7D487B88}"/>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Rectangle 42">
                  <a:extLst>
                    <a:ext uri="{FF2B5EF4-FFF2-40B4-BE49-F238E27FC236}">
                      <a16:creationId xmlns:a16="http://schemas.microsoft.com/office/drawing/2014/main" id="{CCB4BB42-9793-1214-47D0-4B30BC0780D9}"/>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4" name="Rectangle 43">
                  <a:extLst>
                    <a:ext uri="{FF2B5EF4-FFF2-40B4-BE49-F238E27FC236}">
                      <a16:creationId xmlns:a16="http://schemas.microsoft.com/office/drawing/2014/main" id="{6F4F6AC1-6C76-A972-3D3C-C502B6358025}"/>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sp>
              <p:nvSpPr>
                <p:cNvPr id="45" name="Rectangle 44">
                  <a:extLst>
                    <a:ext uri="{FF2B5EF4-FFF2-40B4-BE49-F238E27FC236}">
                      <a16:creationId xmlns:a16="http://schemas.microsoft.com/office/drawing/2014/main" id="{7D294464-AC69-3D07-3DB2-36131BDFBEAC}"/>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46" name="Rectangle 45">
                  <a:extLst>
                    <a:ext uri="{FF2B5EF4-FFF2-40B4-BE49-F238E27FC236}">
                      <a16:creationId xmlns:a16="http://schemas.microsoft.com/office/drawing/2014/main" id="{1BF1821F-C1E3-EA41-AE19-92A28DAE6210}"/>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47" name="Rectangle 46">
                  <a:extLst>
                    <a:ext uri="{FF2B5EF4-FFF2-40B4-BE49-F238E27FC236}">
                      <a16:creationId xmlns:a16="http://schemas.microsoft.com/office/drawing/2014/main" id="{DA3F0A40-04D7-AD38-9174-FBAA27A8621E}"/>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48" name="Rectangle 47">
                  <a:extLst>
                    <a:ext uri="{FF2B5EF4-FFF2-40B4-BE49-F238E27FC236}">
                      <a16:creationId xmlns:a16="http://schemas.microsoft.com/office/drawing/2014/main" id="{3E94F093-0B15-C706-A522-819BF36D2D9B}"/>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C3FB048E-0C7B-F708-75DA-E2C6FA8F5826}"/>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29" name="Group 28">
                <a:extLst>
                  <a:ext uri="{FF2B5EF4-FFF2-40B4-BE49-F238E27FC236}">
                    <a16:creationId xmlns:a16="http://schemas.microsoft.com/office/drawing/2014/main" id="{50DD7863-789A-A342-31AA-A1A494FE2D02}"/>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474489EC-EAE6-0437-2AD4-E63C397FE366}"/>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D12EB49C-DAB9-BEB9-59C3-10CAFDCCA95F}"/>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7EE59E87-303A-7922-37B0-7EED645DBB8D}"/>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9548E299-9524-3D95-0330-A77CA45E23C4}"/>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6D65189A-1BBE-D762-F7A0-0E1C52656C4A}"/>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0374B8B0-C318-594E-6595-2927D1887D2F}"/>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F6478652-DF0C-8932-2F4B-DCFF3721D7AE}"/>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0E1CC52F-5B67-A094-24D5-3FFD152CCCB4}"/>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F281D43C-365F-E9E0-2F3E-3AEC6E041CFF}"/>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00EFE913-0974-C71F-7F24-0616C6028245}"/>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73" name="TextBox 72">
              <a:extLst>
                <a:ext uri="{FF2B5EF4-FFF2-40B4-BE49-F238E27FC236}">
                  <a16:creationId xmlns:a16="http://schemas.microsoft.com/office/drawing/2014/main" id="{AB07EE8C-AC48-9B51-CA01-3DF09601C283}"/>
                </a:ext>
              </a:extLst>
            </p:cNvPr>
            <p:cNvSpPr txBox="1"/>
            <p:nvPr/>
          </p:nvSpPr>
          <p:spPr>
            <a:xfrm>
              <a:off x="1600429" y="3301311"/>
              <a:ext cx="865622" cy="369332"/>
            </a:xfrm>
            <a:prstGeom prst="rect">
              <a:avLst/>
            </a:prstGeom>
            <a:noFill/>
          </p:spPr>
          <p:txBody>
            <a:bodyPr wrap="none" rtlCol="0">
              <a:spAutoFit/>
            </a:bodyPr>
            <a:lstStyle/>
            <a:p>
              <a:r>
                <a:rPr lang="en-US" dirty="0"/>
                <a:t>Before:</a:t>
              </a:r>
            </a:p>
          </p:txBody>
        </p:sp>
      </p:grpSp>
      <p:sp>
        <p:nvSpPr>
          <p:cNvPr id="4" name="Content Placeholder 2">
            <a:extLst>
              <a:ext uri="{FF2B5EF4-FFF2-40B4-BE49-F238E27FC236}">
                <a16:creationId xmlns:a16="http://schemas.microsoft.com/office/drawing/2014/main" id="{5C150E18-9A49-DAA7-4B4C-534FD55FFA76}"/>
              </a:ext>
            </a:extLst>
          </p:cNvPr>
          <p:cNvSpPr txBox="1">
            <a:spLocks/>
          </p:cNvSpPr>
          <p:nvPr/>
        </p:nvSpPr>
        <p:spPr>
          <a:xfrm>
            <a:off x="838200" y="4503285"/>
            <a:ext cx="10515600" cy="79665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need future probing to work correctly, so we must fill in the hole.</a:t>
            </a:r>
          </a:p>
          <a:p>
            <a:pPr marL="0" indent="0" algn="ctr">
              <a:buNone/>
            </a:pPr>
            <a:r>
              <a:rPr lang="en-US" sz="2400" dirty="0"/>
              <a:t>We cannot move C or D over because they map to an index later in the probe path</a:t>
            </a:r>
          </a:p>
        </p:txBody>
      </p:sp>
      <p:grpSp>
        <p:nvGrpSpPr>
          <p:cNvPr id="6" name="Group 5" descr="After deleting B we have an array of length 10. Its contents are as follows:&#10;&#10;Index 3: A&#10;Index 4: E&#10;Index 5: C&#10;Index 6: D&#10;All other indices are empty">
            <a:extLst>
              <a:ext uri="{FF2B5EF4-FFF2-40B4-BE49-F238E27FC236}">
                <a16:creationId xmlns:a16="http://schemas.microsoft.com/office/drawing/2014/main" id="{77777F6F-1CD1-3B44-6890-33D6DD56EF77}"/>
              </a:ext>
            </a:extLst>
          </p:cNvPr>
          <p:cNvGrpSpPr/>
          <p:nvPr/>
        </p:nvGrpSpPr>
        <p:grpSpPr>
          <a:xfrm>
            <a:off x="1600429" y="5467983"/>
            <a:ext cx="7695971" cy="1097280"/>
            <a:chOff x="1600429" y="5467983"/>
            <a:chExt cx="7695971" cy="1097280"/>
          </a:xfrm>
        </p:grpSpPr>
        <p:grpSp>
          <p:nvGrpSpPr>
            <p:cNvPr id="50" name="Group 49" descr="An array of length 10. Its contents are as follows:&#10;&#10;Index 3: A&#10;Index 4: E&#10;Index 5: C&#10;Index 6: D&#10;All other indices are empty">
              <a:extLst>
                <a:ext uri="{FF2B5EF4-FFF2-40B4-BE49-F238E27FC236}">
                  <a16:creationId xmlns:a16="http://schemas.microsoft.com/office/drawing/2014/main" id="{FF0E7FA8-3BC2-B1F6-F856-E242C2F1AE79}"/>
                </a:ext>
              </a:extLst>
            </p:cNvPr>
            <p:cNvGrpSpPr/>
            <p:nvPr/>
          </p:nvGrpSpPr>
          <p:grpSpPr>
            <a:xfrm>
              <a:off x="2895600" y="5467983"/>
              <a:ext cx="6400800" cy="1097280"/>
              <a:chOff x="4953000" y="660717"/>
              <a:chExt cx="6400800" cy="1097280"/>
            </a:xfrm>
          </p:grpSpPr>
          <p:grpSp>
            <p:nvGrpSpPr>
              <p:cNvPr id="51" name="Group 50">
                <a:extLst>
                  <a:ext uri="{FF2B5EF4-FFF2-40B4-BE49-F238E27FC236}">
                    <a16:creationId xmlns:a16="http://schemas.microsoft.com/office/drawing/2014/main" id="{3080B4AB-EF77-14B3-B419-5CA35BE5DB03}"/>
                  </a:ext>
                </a:extLst>
              </p:cNvPr>
              <p:cNvGrpSpPr/>
              <p:nvPr/>
            </p:nvGrpSpPr>
            <p:grpSpPr>
              <a:xfrm>
                <a:off x="4953000" y="660717"/>
                <a:ext cx="6400800" cy="640080"/>
                <a:chOff x="2252980" y="5083048"/>
                <a:chExt cx="6400800" cy="640080"/>
              </a:xfrm>
            </p:grpSpPr>
            <p:sp>
              <p:nvSpPr>
                <p:cNvPr id="63" name="Rectangle 62">
                  <a:extLst>
                    <a:ext uri="{FF2B5EF4-FFF2-40B4-BE49-F238E27FC236}">
                      <a16:creationId xmlns:a16="http://schemas.microsoft.com/office/drawing/2014/main" id="{04249A9C-6ED1-D9FC-95EC-B4B4859E7E6A}"/>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4" name="Rectangle 63">
                  <a:extLst>
                    <a:ext uri="{FF2B5EF4-FFF2-40B4-BE49-F238E27FC236}">
                      <a16:creationId xmlns:a16="http://schemas.microsoft.com/office/drawing/2014/main" id="{2AB09D0E-533D-6A0E-99E3-33D37733B1A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5" name="Rectangle 64">
                  <a:extLst>
                    <a:ext uri="{FF2B5EF4-FFF2-40B4-BE49-F238E27FC236}">
                      <a16:creationId xmlns:a16="http://schemas.microsoft.com/office/drawing/2014/main" id="{78410FC4-E45A-B5FD-B222-FC7DA0EAD62C}"/>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6" name="Rectangle 65">
                  <a:extLst>
                    <a:ext uri="{FF2B5EF4-FFF2-40B4-BE49-F238E27FC236}">
                      <a16:creationId xmlns:a16="http://schemas.microsoft.com/office/drawing/2014/main" id="{1CCC229D-3A1C-5FEB-FC0B-A77D5870FA31}"/>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67" name="Rectangle 66">
                  <a:extLst>
                    <a:ext uri="{FF2B5EF4-FFF2-40B4-BE49-F238E27FC236}">
                      <a16:creationId xmlns:a16="http://schemas.microsoft.com/office/drawing/2014/main" id="{DE62C7C2-8671-2E6A-DA8F-CF7A29CDA5AD}"/>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68" name="Rectangle 67">
                  <a:extLst>
                    <a:ext uri="{FF2B5EF4-FFF2-40B4-BE49-F238E27FC236}">
                      <a16:creationId xmlns:a16="http://schemas.microsoft.com/office/drawing/2014/main" id="{2F6BD7A7-540E-8EC5-D043-5E081630C2C7}"/>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69" name="Rectangle 68">
                  <a:extLst>
                    <a:ext uri="{FF2B5EF4-FFF2-40B4-BE49-F238E27FC236}">
                      <a16:creationId xmlns:a16="http://schemas.microsoft.com/office/drawing/2014/main" id="{E8D7D4D6-8E24-244C-3971-3CCAD4261AEC}"/>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70" name="Rectangle 69">
                  <a:extLst>
                    <a:ext uri="{FF2B5EF4-FFF2-40B4-BE49-F238E27FC236}">
                      <a16:creationId xmlns:a16="http://schemas.microsoft.com/office/drawing/2014/main" id="{A67DFB6D-37C3-C196-F5BA-42A77E9D771B}"/>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1" name="Rectangle 70">
                  <a:extLst>
                    <a:ext uri="{FF2B5EF4-FFF2-40B4-BE49-F238E27FC236}">
                      <a16:creationId xmlns:a16="http://schemas.microsoft.com/office/drawing/2014/main" id="{DA4B8E49-61D8-BCC7-82FA-A482EDEE8E05}"/>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2" name="Rectangle 71">
                  <a:extLst>
                    <a:ext uri="{FF2B5EF4-FFF2-40B4-BE49-F238E27FC236}">
                      <a16:creationId xmlns:a16="http://schemas.microsoft.com/office/drawing/2014/main" id="{306DB1D8-0C5C-14B6-26C6-6D75B2A5EFB1}"/>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52" name="Group 51">
                <a:extLst>
                  <a:ext uri="{FF2B5EF4-FFF2-40B4-BE49-F238E27FC236}">
                    <a16:creationId xmlns:a16="http://schemas.microsoft.com/office/drawing/2014/main" id="{D2D755FE-F515-40EC-653B-223CEB76CA73}"/>
                  </a:ext>
                </a:extLst>
              </p:cNvPr>
              <p:cNvGrpSpPr/>
              <p:nvPr/>
            </p:nvGrpSpPr>
            <p:grpSpPr>
              <a:xfrm>
                <a:off x="4953000" y="1117917"/>
                <a:ext cx="6400800" cy="640080"/>
                <a:chOff x="2252980" y="5083048"/>
                <a:chExt cx="6400800" cy="640080"/>
              </a:xfrm>
              <a:noFill/>
            </p:grpSpPr>
            <p:sp>
              <p:nvSpPr>
                <p:cNvPr id="53" name="Rectangle 52">
                  <a:extLst>
                    <a:ext uri="{FF2B5EF4-FFF2-40B4-BE49-F238E27FC236}">
                      <a16:creationId xmlns:a16="http://schemas.microsoft.com/office/drawing/2014/main" id="{31D220B9-29A0-64DD-2500-3019131C007D}"/>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54" name="Rectangle 53">
                  <a:extLst>
                    <a:ext uri="{FF2B5EF4-FFF2-40B4-BE49-F238E27FC236}">
                      <a16:creationId xmlns:a16="http://schemas.microsoft.com/office/drawing/2014/main" id="{03D5157E-11D6-BE97-7FBE-07ED93BE870F}"/>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55" name="Rectangle 54">
                  <a:extLst>
                    <a:ext uri="{FF2B5EF4-FFF2-40B4-BE49-F238E27FC236}">
                      <a16:creationId xmlns:a16="http://schemas.microsoft.com/office/drawing/2014/main" id="{4DA80E3F-EE44-1BE6-C659-DB84450793FA}"/>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56" name="Rectangle 55">
                  <a:extLst>
                    <a:ext uri="{FF2B5EF4-FFF2-40B4-BE49-F238E27FC236}">
                      <a16:creationId xmlns:a16="http://schemas.microsoft.com/office/drawing/2014/main" id="{8B8FC242-387C-B27E-C1C6-8FE7AA601A71}"/>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57" name="Rectangle 56">
                  <a:extLst>
                    <a:ext uri="{FF2B5EF4-FFF2-40B4-BE49-F238E27FC236}">
                      <a16:creationId xmlns:a16="http://schemas.microsoft.com/office/drawing/2014/main" id="{E43771C7-E8E0-43A1-2859-0D4A771F59E8}"/>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58" name="Rectangle 57">
                  <a:extLst>
                    <a:ext uri="{FF2B5EF4-FFF2-40B4-BE49-F238E27FC236}">
                      <a16:creationId xmlns:a16="http://schemas.microsoft.com/office/drawing/2014/main" id="{AF78C97C-EF94-9133-7554-3A31C4B65CD3}"/>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59" name="Rectangle 58">
                  <a:extLst>
                    <a:ext uri="{FF2B5EF4-FFF2-40B4-BE49-F238E27FC236}">
                      <a16:creationId xmlns:a16="http://schemas.microsoft.com/office/drawing/2014/main" id="{574F169C-2BD0-1676-4932-755C5A0E5328}"/>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60" name="Rectangle 59">
                  <a:extLst>
                    <a:ext uri="{FF2B5EF4-FFF2-40B4-BE49-F238E27FC236}">
                      <a16:creationId xmlns:a16="http://schemas.microsoft.com/office/drawing/2014/main" id="{DFB6C60F-0F31-9D5A-8B8B-27195326098D}"/>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61" name="Rectangle 60">
                  <a:extLst>
                    <a:ext uri="{FF2B5EF4-FFF2-40B4-BE49-F238E27FC236}">
                      <a16:creationId xmlns:a16="http://schemas.microsoft.com/office/drawing/2014/main" id="{C3F8A554-51E7-EB90-5525-BCC34E507E3E}"/>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62" name="Rectangle 61">
                  <a:extLst>
                    <a:ext uri="{FF2B5EF4-FFF2-40B4-BE49-F238E27FC236}">
                      <a16:creationId xmlns:a16="http://schemas.microsoft.com/office/drawing/2014/main" id="{5851A8B6-4F8D-214A-6A55-233D3318CC0D}"/>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74" name="TextBox 73">
              <a:extLst>
                <a:ext uri="{FF2B5EF4-FFF2-40B4-BE49-F238E27FC236}">
                  <a16:creationId xmlns:a16="http://schemas.microsoft.com/office/drawing/2014/main" id="{3A4787DE-530B-3E10-4F22-AADFE50C03BD}"/>
                </a:ext>
              </a:extLst>
            </p:cNvPr>
            <p:cNvSpPr txBox="1"/>
            <p:nvPr/>
          </p:nvSpPr>
          <p:spPr>
            <a:xfrm>
              <a:off x="1600429" y="5603357"/>
              <a:ext cx="720775" cy="369332"/>
            </a:xfrm>
            <a:prstGeom prst="rect">
              <a:avLst/>
            </a:prstGeom>
            <a:noFill/>
          </p:spPr>
          <p:txBody>
            <a:bodyPr wrap="none" rtlCol="0">
              <a:spAutoFit/>
            </a:bodyPr>
            <a:lstStyle/>
            <a:p>
              <a:r>
                <a:rPr lang="en-US" dirty="0"/>
                <a:t>After:</a:t>
              </a:r>
            </a:p>
          </p:txBody>
        </p:sp>
      </p:grpSp>
    </p:spTree>
    <p:extLst>
      <p:ext uri="{BB962C8B-B14F-4D97-AF65-F5344CB8AC3E}">
        <p14:creationId xmlns:p14="http://schemas.microsoft.com/office/powerpoint/2010/main" val="134674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E5DD-0241-AAC9-05EF-BE9B3FAF8B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2FE969-C6E3-F2A6-CF07-ECADF7E61DC4}"/>
              </a:ext>
            </a:extLst>
          </p:cNvPr>
          <p:cNvSpPr>
            <a:spLocks noGrp="1"/>
          </p:cNvSpPr>
          <p:nvPr>
            <p:ph type="title"/>
          </p:nvPr>
        </p:nvSpPr>
        <p:spPr/>
        <p:txBody>
          <a:bodyPr/>
          <a:lstStyle/>
          <a:p>
            <a:r>
              <a:rPr lang="en-US" dirty="0"/>
              <a:t>Linear Probing: Delete is Hard (Example 3)</a:t>
            </a:r>
          </a:p>
        </p:txBody>
      </p:sp>
      <p:sp>
        <p:nvSpPr>
          <p:cNvPr id="3" name="Content Placeholder 2">
            <a:extLst>
              <a:ext uri="{FF2B5EF4-FFF2-40B4-BE49-F238E27FC236}">
                <a16:creationId xmlns:a16="http://schemas.microsoft.com/office/drawing/2014/main" id="{2EB65E61-D29B-A7D5-C396-7B1D90B6499D}"/>
              </a:ext>
            </a:extLst>
          </p:cNvPr>
          <p:cNvSpPr>
            <a:spLocks noGrp="1"/>
          </p:cNvSpPr>
          <p:nvPr>
            <p:ph idx="1"/>
          </p:nvPr>
        </p:nvSpPr>
        <p:spPr>
          <a:xfrm>
            <a:off x="838200" y="1825625"/>
            <a:ext cx="10515600" cy="1307640"/>
          </a:xfrm>
        </p:spPr>
        <p:txBody>
          <a:bodyPr>
            <a:normAutofit lnSpcReduction="10000"/>
          </a:bodyPr>
          <a:lstStyle/>
          <a:p>
            <a:r>
              <a:rPr lang="en-US" dirty="0"/>
              <a:t>Suppose we insert A, B, C, D, and E in that order, where A,B,E map to 8 and C,D map to 0.</a:t>
            </a:r>
          </a:p>
          <a:p>
            <a:r>
              <a:rPr lang="en-US" dirty="0"/>
              <a:t>How should we delete B?</a:t>
            </a:r>
          </a:p>
        </p:txBody>
      </p:sp>
      <p:grpSp>
        <p:nvGrpSpPr>
          <p:cNvPr id="5" name="Group 4" descr="Before the deletion our hash table is an array of length 10. Its contents are as follows:&#10;&#10;Index 0: C&#10;Index 1: D&#10;Index 2: E&#10;Index 8: A&#10;Index 9: B&#10;All other indices are empty">
            <a:extLst>
              <a:ext uri="{FF2B5EF4-FFF2-40B4-BE49-F238E27FC236}">
                <a16:creationId xmlns:a16="http://schemas.microsoft.com/office/drawing/2014/main" id="{A24CEE36-510B-9050-7681-672BD0775F5E}"/>
              </a:ext>
            </a:extLst>
          </p:cNvPr>
          <p:cNvGrpSpPr/>
          <p:nvPr/>
        </p:nvGrpSpPr>
        <p:grpSpPr>
          <a:xfrm>
            <a:off x="1600429" y="3198609"/>
            <a:ext cx="7637782" cy="1097280"/>
            <a:chOff x="1600429" y="3198609"/>
            <a:chExt cx="7637782" cy="1097280"/>
          </a:xfrm>
        </p:grpSpPr>
        <p:grpSp>
          <p:nvGrpSpPr>
            <p:cNvPr id="27" name="Group 26" descr="An array of length 10. Its contents are as follows:&#10;&#10;Index 0: C&#10;Index 1: D&#10;Index 2: E&#10;Index 8: A&#10;Index 9: B&#10;All other indices are empty">
              <a:extLst>
                <a:ext uri="{FF2B5EF4-FFF2-40B4-BE49-F238E27FC236}">
                  <a16:creationId xmlns:a16="http://schemas.microsoft.com/office/drawing/2014/main" id="{6D23A5FE-B46B-7803-BC5F-9933F002C54E}"/>
                </a:ext>
              </a:extLst>
            </p:cNvPr>
            <p:cNvGrpSpPr/>
            <p:nvPr/>
          </p:nvGrpSpPr>
          <p:grpSpPr>
            <a:xfrm>
              <a:off x="2837411" y="3198609"/>
              <a:ext cx="6400800" cy="1097280"/>
              <a:chOff x="4953000" y="660717"/>
              <a:chExt cx="6400800" cy="1097280"/>
            </a:xfrm>
          </p:grpSpPr>
          <p:grpSp>
            <p:nvGrpSpPr>
              <p:cNvPr id="28" name="Group 27">
                <a:extLst>
                  <a:ext uri="{FF2B5EF4-FFF2-40B4-BE49-F238E27FC236}">
                    <a16:creationId xmlns:a16="http://schemas.microsoft.com/office/drawing/2014/main" id="{83BEBE46-C409-08C2-4633-1B9F75B40BF3}"/>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528BE05D-FFD4-0D23-EE41-F863480DFE6A}"/>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41" name="Rectangle 40">
                  <a:extLst>
                    <a:ext uri="{FF2B5EF4-FFF2-40B4-BE49-F238E27FC236}">
                      <a16:creationId xmlns:a16="http://schemas.microsoft.com/office/drawing/2014/main" id="{59B77BD6-D4D6-F96D-A643-7D023C6BA1AC}"/>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42" name="Rectangle 41">
                  <a:extLst>
                    <a:ext uri="{FF2B5EF4-FFF2-40B4-BE49-F238E27FC236}">
                      <a16:creationId xmlns:a16="http://schemas.microsoft.com/office/drawing/2014/main" id="{8F86643F-0197-1381-A207-92F9B33D8321}"/>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sp>
              <p:nvSpPr>
                <p:cNvPr id="43" name="Rectangle 42">
                  <a:extLst>
                    <a:ext uri="{FF2B5EF4-FFF2-40B4-BE49-F238E27FC236}">
                      <a16:creationId xmlns:a16="http://schemas.microsoft.com/office/drawing/2014/main" id="{CCE6ECC5-9577-9E4D-7894-A5122BB13885}"/>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Rectangle 43">
                  <a:extLst>
                    <a:ext uri="{FF2B5EF4-FFF2-40B4-BE49-F238E27FC236}">
                      <a16:creationId xmlns:a16="http://schemas.microsoft.com/office/drawing/2014/main" id="{256CEA7E-F52A-707F-5E0B-2BF525A820B2}"/>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a:extLst>
                    <a:ext uri="{FF2B5EF4-FFF2-40B4-BE49-F238E27FC236}">
                      <a16:creationId xmlns:a16="http://schemas.microsoft.com/office/drawing/2014/main" id="{F38EF8A4-58C7-5DCA-BCDA-CE133FD7893D}"/>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6" name="Rectangle 45">
                  <a:extLst>
                    <a:ext uri="{FF2B5EF4-FFF2-40B4-BE49-F238E27FC236}">
                      <a16:creationId xmlns:a16="http://schemas.microsoft.com/office/drawing/2014/main" id="{74B3E3FD-6828-FB97-49B4-B1A61C233E59}"/>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7" name="Rectangle 46">
                  <a:extLst>
                    <a:ext uri="{FF2B5EF4-FFF2-40B4-BE49-F238E27FC236}">
                      <a16:creationId xmlns:a16="http://schemas.microsoft.com/office/drawing/2014/main" id="{DB663BA4-8B11-2C81-5EC9-3EF1FD064EA5}"/>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a:extLst>
                    <a:ext uri="{FF2B5EF4-FFF2-40B4-BE49-F238E27FC236}">
                      <a16:creationId xmlns:a16="http://schemas.microsoft.com/office/drawing/2014/main" id="{DF65CE64-91B6-D81F-268B-1BCF19DA8DEB}"/>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49" name="Rectangle 48">
                  <a:extLst>
                    <a:ext uri="{FF2B5EF4-FFF2-40B4-BE49-F238E27FC236}">
                      <a16:creationId xmlns:a16="http://schemas.microsoft.com/office/drawing/2014/main" id="{AC5AEBC5-1236-C8E2-2FF8-B7B617A5F874}"/>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B</a:t>
                  </a:r>
                </a:p>
              </p:txBody>
            </p:sp>
          </p:grpSp>
          <p:grpSp>
            <p:nvGrpSpPr>
              <p:cNvPr id="29" name="Group 28">
                <a:extLst>
                  <a:ext uri="{FF2B5EF4-FFF2-40B4-BE49-F238E27FC236}">
                    <a16:creationId xmlns:a16="http://schemas.microsoft.com/office/drawing/2014/main" id="{2DFE1540-F518-F37D-2149-5BEDFB9699F3}"/>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E7E2EBA3-9757-2C96-FF5B-9A5BB1AC3EAD}"/>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78371EB5-0D7E-70D5-14D6-21F88250DE62}"/>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7C7A54A7-B6E8-FFAA-48D6-204FB853BF12}"/>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42740EEB-B5A9-2B09-76E5-7412C2707643}"/>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08CABA42-6D38-5BF5-3A74-B8DF0B2ACA39}"/>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BB915538-D60E-B471-8BA0-C90825A33198}"/>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DA301906-59BF-9CAC-83A3-79B4A281E0E5}"/>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B3BC5E6F-C6F6-9CE6-19D9-6CBC5A67A400}"/>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2B137083-8592-7270-719E-A8BC57EBE4B8}"/>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CF13F882-19CB-9403-D71A-C096C179BCB9}"/>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73" name="TextBox 72">
              <a:extLst>
                <a:ext uri="{FF2B5EF4-FFF2-40B4-BE49-F238E27FC236}">
                  <a16:creationId xmlns:a16="http://schemas.microsoft.com/office/drawing/2014/main" id="{B7DB9724-7F37-6817-5C27-758E678C8A0E}"/>
                </a:ext>
              </a:extLst>
            </p:cNvPr>
            <p:cNvSpPr txBox="1"/>
            <p:nvPr/>
          </p:nvSpPr>
          <p:spPr>
            <a:xfrm>
              <a:off x="1600429" y="3301311"/>
              <a:ext cx="865622" cy="369332"/>
            </a:xfrm>
            <a:prstGeom prst="rect">
              <a:avLst/>
            </a:prstGeom>
            <a:noFill/>
          </p:spPr>
          <p:txBody>
            <a:bodyPr wrap="none" rtlCol="0">
              <a:spAutoFit/>
            </a:bodyPr>
            <a:lstStyle/>
            <a:p>
              <a:r>
                <a:rPr lang="en-US" dirty="0"/>
                <a:t>Before:</a:t>
              </a:r>
            </a:p>
          </p:txBody>
        </p:sp>
      </p:grpSp>
      <p:sp>
        <p:nvSpPr>
          <p:cNvPr id="4" name="Content Placeholder 2">
            <a:extLst>
              <a:ext uri="{FF2B5EF4-FFF2-40B4-BE49-F238E27FC236}">
                <a16:creationId xmlns:a16="http://schemas.microsoft.com/office/drawing/2014/main" id="{A4E6D3D8-0773-6C5D-9245-A7A0F25A1520}"/>
              </a:ext>
            </a:extLst>
          </p:cNvPr>
          <p:cNvSpPr txBox="1">
            <a:spLocks/>
          </p:cNvSpPr>
          <p:nvPr/>
        </p:nvSpPr>
        <p:spPr>
          <a:xfrm>
            <a:off x="838200" y="4295889"/>
            <a:ext cx="10515600" cy="100404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We cannot move C or D over because they map to an index later in the probe path, even though the index number happens to be smaller. </a:t>
            </a:r>
            <a:br>
              <a:rPr lang="en-US" sz="2400" dirty="0"/>
            </a:br>
            <a:r>
              <a:rPr lang="en-US" sz="2400" dirty="0"/>
              <a:t>E moves to a larger index because it’s earlier in its probe path</a:t>
            </a:r>
          </a:p>
        </p:txBody>
      </p:sp>
      <p:grpSp>
        <p:nvGrpSpPr>
          <p:cNvPr id="6" name="Group 5" descr="After deleting the key B we have an array of length 10. Its contents are as follows:&#10;&#10;Index 0: C&#10;Index 1: D&#10;Index 8: A&#10;Index 9: E&#10;All other indices are empty">
            <a:extLst>
              <a:ext uri="{FF2B5EF4-FFF2-40B4-BE49-F238E27FC236}">
                <a16:creationId xmlns:a16="http://schemas.microsoft.com/office/drawing/2014/main" id="{4D2EC61E-7223-1F13-4BE4-B998A2BB93AC}"/>
              </a:ext>
            </a:extLst>
          </p:cNvPr>
          <p:cNvGrpSpPr/>
          <p:nvPr/>
        </p:nvGrpSpPr>
        <p:grpSpPr>
          <a:xfrm>
            <a:off x="1600429" y="5467983"/>
            <a:ext cx="7695971" cy="1097280"/>
            <a:chOff x="1600429" y="5467983"/>
            <a:chExt cx="7695971" cy="1097280"/>
          </a:xfrm>
        </p:grpSpPr>
        <p:grpSp>
          <p:nvGrpSpPr>
            <p:cNvPr id="50" name="Group 49" descr="An array of length 10. Its contents are as follows:&#10;&#10;Index 0: C&#10;Index 1: D&#10;Index 8: A&#10;Index 9: E&#10;All other indices are empty">
              <a:extLst>
                <a:ext uri="{FF2B5EF4-FFF2-40B4-BE49-F238E27FC236}">
                  <a16:creationId xmlns:a16="http://schemas.microsoft.com/office/drawing/2014/main" id="{757BBB44-5F2E-A8DA-5DC0-E11ADCCCE600}"/>
                </a:ext>
              </a:extLst>
            </p:cNvPr>
            <p:cNvGrpSpPr/>
            <p:nvPr/>
          </p:nvGrpSpPr>
          <p:grpSpPr>
            <a:xfrm>
              <a:off x="2895600" y="5467983"/>
              <a:ext cx="6400800" cy="1097280"/>
              <a:chOff x="4953000" y="660717"/>
              <a:chExt cx="6400800" cy="1097280"/>
            </a:xfrm>
          </p:grpSpPr>
          <p:grpSp>
            <p:nvGrpSpPr>
              <p:cNvPr id="51" name="Group 50">
                <a:extLst>
                  <a:ext uri="{FF2B5EF4-FFF2-40B4-BE49-F238E27FC236}">
                    <a16:creationId xmlns:a16="http://schemas.microsoft.com/office/drawing/2014/main" id="{74A88986-A58B-B4C4-FBDF-0195A1F69738}"/>
                  </a:ext>
                </a:extLst>
              </p:cNvPr>
              <p:cNvGrpSpPr/>
              <p:nvPr/>
            </p:nvGrpSpPr>
            <p:grpSpPr>
              <a:xfrm>
                <a:off x="4953000" y="660717"/>
                <a:ext cx="6400800" cy="640080"/>
                <a:chOff x="2252980" y="5083048"/>
                <a:chExt cx="6400800" cy="640080"/>
              </a:xfrm>
            </p:grpSpPr>
            <p:sp>
              <p:nvSpPr>
                <p:cNvPr id="63" name="Rectangle 62">
                  <a:extLst>
                    <a:ext uri="{FF2B5EF4-FFF2-40B4-BE49-F238E27FC236}">
                      <a16:creationId xmlns:a16="http://schemas.microsoft.com/office/drawing/2014/main" id="{50E1C9E6-B1CC-BFEE-EB66-166EC1C671FB}"/>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C</a:t>
                  </a:r>
                </a:p>
              </p:txBody>
            </p:sp>
            <p:sp>
              <p:nvSpPr>
                <p:cNvPr id="64" name="Rectangle 63">
                  <a:extLst>
                    <a:ext uri="{FF2B5EF4-FFF2-40B4-BE49-F238E27FC236}">
                      <a16:creationId xmlns:a16="http://schemas.microsoft.com/office/drawing/2014/main" id="{AA826B72-7EAE-B7C0-2111-33121B87BC0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D</a:t>
                  </a:r>
                </a:p>
              </p:txBody>
            </p:sp>
            <p:sp>
              <p:nvSpPr>
                <p:cNvPr id="65" name="Rectangle 64">
                  <a:extLst>
                    <a:ext uri="{FF2B5EF4-FFF2-40B4-BE49-F238E27FC236}">
                      <a16:creationId xmlns:a16="http://schemas.microsoft.com/office/drawing/2014/main" id="{B814FF9D-834B-E79E-BA53-02E0A26701E0}"/>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6" name="Rectangle 65">
                  <a:extLst>
                    <a:ext uri="{FF2B5EF4-FFF2-40B4-BE49-F238E27FC236}">
                      <a16:creationId xmlns:a16="http://schemas.microsoft.com/office/drawing/2014/main" id="{C2F1422A-81B7-5F67-2831-2DB9C97411CC}"/>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7" name="Rectangle 66">
                  <a:extLst>
                    <a:ext uri="{FF2B5EF4-FFF2-40B4-BE49-F238E27FC236}">
                      <a16:creationId xmlns:a16="http://schemas.microsoft.com/office/drawing/2014/main" id="{857D0398-0DC7-E8DD-8DF8-49DFE3DB7973}"/>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8" name="Rectangle 67">
                  <a:extLst>
                    <a:ext uri="{FF2B5EF4-FFF2-40B4-BE49-F238E27FC236}">
                      <a16:creationId xmlns:a16="http://schemas.microsoft.com/office/drawing/2014/main" id="{C811B8FF-2F06-6DAD-9256-E34EC47CC2D0}"/>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9" name="Rectangle 68">
                  <a:extLst>
                    <a:ext uri="{FF2B5EF4-FFF2-40B4-BE49-F238E27FC236}">
                      <a16:creationId xmlns:a16="http://schemas.microsoft.com/office/drawing/2014/main" id="{73F16650-5C60-3259-1AC5-26E39BA0AEBB}"/>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0" name="Rectangle 69">
                  <a:extLst>
                    <a:ext uri="{FF2B5EF4-FFF2-40B4-BE49-F238E27FC236}">
                      <a16:creationId xmlns:a16="http://schemas.microsoft.com/office/drawing/2014/main" id="{1A7BE5A4-87FB-933A-29C5-33DA5D08D9B9}"/>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1" name="Rectangle 70">
                  <a:extLst>
                    <a:ext uri="{FF2B5EF4-FFF2-40B4-BE49-F238E27FC236}">
                      <a16:creationId xmlns:a16="http://schemas.microsoft.com/office/drawing/2014/main" id="{C0709E10-8B22-5E4B-89A7-9063A6887CCA}"/>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A</a:t>
                  </a:r>
                </a:p>
              </p:txBody>
            </p:sp>
            <p:sp>
              <p:nvSpPr>
                <p:cNvPr id="72" name="Rectangle 71">
                  <a:extLst>
                    <a:ext uri="{FF2B5EF4-FFF2-40B4-BE49-F238E27FC236}">
                      <a16:creationId xmlns:a16="http://schemas.microsoft.com/office/drawing/2014/main" id="{40B9EA6A-C763-551F-88E2-6EC4EBD5C6F9}"/>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a:t>
                  </a:r>
                </a:p>
              </p:txBody>
            </p:sp>
          </p:grpSp>
          <p:grpSp>
            <p:nvGrpSpPr>
              <p:cNvPr id="52" name="Group 51">
                <a:extLst>
                  <a:ext uri="{FF2B5EF4-FFF2-40B4-BE49-F238E27FC236}">
                    <a16:creationId xmlns:a16="http://schemas.microsoft.com/office/drawing/2014/main" id="{BFBABD74-6667-6A86-1B23-FD88797528C5}"/>
                  </a:ext>
                </a:extLst>
              </p:cNvPr>
              <p:cNvGrpSpPr/>
              <p:nvPr/>
            </p:nvGrpSpPr>
            <p:grpSpPr>
              <a:xfrm>
                <a:off x="4953000" y="1117917"/>
                <a:ext cx="6400800" cy="640080"/>
                <a:chOff x="2252980" y="5083048"/>
                <a:chExt cx="6400800" cy="640080"/>
              </a:xfrm>
              <a:noFill/>
            </p:grpSpPr>
            <p:sp>
              <p:nvSpPr>
                <p:cNvPr id="53" name="Rectangle 52">
                  <a:extLst>
                    <a:ext uri="{FF2B5EF4-FFF2-40B4-BE49-F238E27FC236}">
                      <a16:creationId xmlns:a16="http://schemas.microsoft.com/office/drawing/2014/main" id="{F9F6EBD8-02C0-558D-0F20-D2CB03D443EE}"/>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54" name="Rectangle 53">
                  <a:extLst>
                    <a:ext uri="{FF2B5EF4-FFF2-40B4-BE49-F238E27FC236}">
                      <a16:creationId xmlns:a16="http://schemas.microsoft.com/office/drawing/2014/main" id="{95A8ABF1-B84D-32C4-314D-5D5801330298}"/>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55" name="Rectangle 54">
                  <a:extLst>
                    <a:ext uri="{FF2B5EF4-FFF2-40B4-BE49-F238E27FC236}">
                      <a16:creationId xmlns:a16="http://schemas.microsoft.com/office/drawing/2014/main" id="{B05E08F2-55F4-729C-74B8-173ADDAD18EB}"/>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56" name="Rectangle 55">
                  <a:extLst>
                    <a:ext uri="{FF2B5EF4-FFF2-40B4-BE49-F238E27FC236}">
                      <a16:creationId xmlns:a16="http://schemas.microsoft.com/office/drawing/2014/main" id="{CA5FD097-3399-840F-E8C5-D06899B7A946}"/>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57" name="Rectangle 56">
                  <a:extLst>
                    <a:ext uri="{FF2B5EF4-FFF2-40B4-BE49-F238E27FC236}">
                      <a16:creationId xmlns:a16="http://schemas.microsoft.com/office/drawing/2014/main" id="{18E6677F-16EC-C7CC-D577-3664FA67D96E}"/>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58" name="Rectangle 57">
                  <a:extLst>
                    <a:ext uri="{FF2B5EF4-FFF2-40B4-BE49-F238E27FC236}">
                      <a16:creationId xmlns:a16="http://schemas.microsoft.com/office/drawing/2014/main" id="{ADC911A1-D33F-7899-9FCA-1BB73A60A924}"/>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59" name="Rectangle 58">
                  <a:extLst>
                    <a:ext uri="{FF2B5EF4-FFF2-40B4-BE49-F238E27FC236}">
                      <a16:creationId xmlns:a16="http://schemas.microsoft.com/office/drawing/2014/main" id="{65B62B5D-4D30-358B-B837-70A2CAB45633}"/>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60" name="Rectangle 59">
                  <a:extLst>
                    <a:ext uri="{FF2B5EF4-FFF2-40B4-BE49-F238E27FC236}">
                      <a16:creationId xmlns:a16="http://schemas.microsoft.com/office/drawing/2014/main" id="{CF990708-C698-45CE-9287-1A6692A87EFA}"/>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61" name="Rectangle 60">
                  <a:extLst>
                    <a:ext uri="{FF2B5EF4-FFF2-40B4-BE49-F238E27FC236}">
                      <a16:creationId xmlns:a16="http://schemas.microsoft.com/office/drawing/2014/main" id="{DDEA605A-CD21-C44E-B987-EEC2D8D7AA7B}"/>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62" name="Rectangle 61">
                  <a:extLst>
                    <a:ext uri="{FF2B5EF4-FFF2-40B4-BE49-F238E27FC236}">
                      <a16:creationId xmlns:a16="http://schemas.microsoft.com/office/drawing/2014/main" id="{640335E9-56DE-363B-28B9-958B228DA456}"/>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
          <p:nvSpPr>
            <p:cNvPr id="74" name="TextBox 73">
              <a:extLst>
                <a:ext uri="{FF2B5EF4-FFF2-40B4-BE49-F238E27FC236}">
                  <a16:creationId xmlns:a16="http://schemas.microsoft.com/office/drawing/2014/main" id="{787FB319-D6DF-2C6D-52DD-B9E7AEF39FAC}"/>
                </a:ext>
              </a:extLst>
            </p:cNvPr>
            <p:cNvSpPr txBox="1"/>
            <p:nvPr/>
          </p:nvSpPr>
          <p:spPr>
            <a:xfrm>
              <a:off x="1600429" y="5603357"/>
              <a:ext cx="720775" cy="369332"/>
            </a:xfrm>
            <a:prstGeom prst="rect">
              <a:avLst/>
            </a:prstGeom>
            <a:noFill/>
          </p:spPr>
          <p:txBody>
            <a:bodyPr wrap="none" rtlCol="0">
              <a:spAutoFit/>
            </a:bodyPr>
            <a:lstStyle/>
            <a:p>
              <a:r>
                <a:rPr lang="en-US" dirty="0"/>
                <a:t>After:</a:t>
              </a:r>
            </a:p>
          </p:txBody>
        </p:sp>
      </p:grpSp>
    </p:spTree>
    <p:extLst>
      <p:ext uri="{BB962C8B-B14F-4D97-AF65-F5344CB8AC3E}">
        <p14:creationId xmlns:p14="http://schemas.microsoft.com/office/powerpoint/2010/main" val="2403830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Delete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a:xfrm>
                <a:off x="838200" y="1336100"/>
                <a:ext cx="10515600" cy="4351338"/>
              </a:xfrm>
            </p:spPr>
            <p:txBody>
              <a:bodyPr/>
              <a:lstStyle/>
              <a:p>
                <a:r>
                  <a:rPr lang="en-US" b="1" dirty="0"/>
                  <a:t>Option 1 (harder)</a:t>
                </a:r>
                <a:r>
                  <a:rPr lang="en-US" dirty="0"/>
                  <a:t>: Plug the hole with other items in a way that makes probes behave correctly</a:t>
                </a:r>
              </a:p>
              <a:p>
                <a:pPr lvl="1"/>
                <a:r>
                  <a:rPr lang="en-US" dirty="0"/>
                  <a:t>Something like: to delete at index </a:t>
                </a:r>
                <a14:m>
                  <m:oMath xmlns:m="http://schemas.openxmlformats.org/officeDocument/2006/math">
                    <m:r>
                      <a:rPr lang="en-US" b="0" i="1" smtClean="0">
                        <a:latin typeface="Cambria Math" panose="02040503050406030204" pitchFamily="18" charset="0"/>
                      </a:rPr>
                      <m:t>𝑖</m:t>
                    </m:r>
                  </m:oMath>
                </a14:m>
                <a:r>
                  <a:rPr lang="en-US" dirty="0"/>
                  <a:t>, starting from </a:t>
                </a:r>
                <a14:m>
                  <m:oMath xmlns:m="http://schemas.openxmlformats.org/officeDocument/2006/math">
                    <m:r>
                      <a:rPr lang="en-US" b="0" i="1" smtClean="0">
                        <a:latin typeface="Cambria Math" panose="02040503050406030204" pitchFamily="18" charset="0"/>
                      </a:rPr>
                      <m:t>𝑖</m:t>
                    </m:r>
                  </m:oMath>
                </a14:m>
                <a:r>
                  <a:rPr lang="en-US" dirty="0"/>
                  <a:t> and going until we find an empty index, if probe path of the key at index </a:t>
                </a:r>
                <a14:m>
                  <m:oMath xmlns:m="http://schemas.openxmlformats.org/officeDocument/2006/math">
                    <m:r>
                      <a:rPr lang="en-US" b="0" i="1" smtClean="0">
                        <a:latin typeface="Cambria Math" panose="02040503050406030204" pitchFamily="18" charset="0"/>
                      </a:rPr>
                      <m:t>𝑗</m:t>
                    </m:r>
                  </m:oMath>
                </a14:m>
                <a:r>
                  <a:rPr lang="en-US" dirty="0"/>
                  <a:t> has index </a:t>
                </a:r>
                <a14:m>
                  <m:oMath xmlns:m="http://schemas.openxmlformats.org/officeDocument/2006/math">
                    <m:r>
                      <a:rPr lang="en-US" b="0" i="1" smtClean="0">
                        <a:latin typeface="Cambria Math" panose="02040503050406030204" pitchFamily="18" charset="0"/>
                      </a:rPr>
                      <m:t>𝑖</m:t>
                    </m:r>
                  </m:oMath>
                </a14:m>
                <a:r>
                  <a:rPr lang="en-US" dirty="0"/>
                  <a:t> before </a:t>
                </a:r>
                <a14:m>
                  <m:oMath xmlns:m="http://schemas.openxmlformats.org/officeDocument/2006/math">
                    <m:r>
                      <a:rPr lang="en-US" b="0" i="1" smtClean="0">
                        <a:latin typeface="Cambria Math" panose="02040503050406030204" pitchFamily="18" charset="0"/>
                      </a:rPr>
                      <m:t>𝑗</m:t>
                    </m:r>
                  </m:oMath>
                </a14:m>
                <a:r>
                  <a:rPr lang="en-US" dirty="0"/>
                  <a:t> then move the key-value pair at </a:t>
                </a:r>
                <a14:m>
                  <m:oMath xmlns:m="http://schemas.openxmlformats.org/officeDocument/2006/math">
                    <m:r>
                      <a:rPr lang="en-US" b="0" i="1" smtClean="0">
                        <a:latin typeface="Cambria Math" panose="02040503050406030204" pitchFamily="18" charset="0"/>
                      </a:rPr>
                      <m:t>𝑗</m:t>
                    </m:r>
                  </m:oMath>
                </a14:m>
                <a:r>
                  <a:rPr lang="en-US" dirty="0"/>
                  <a:t> to index </a:t>
                </a:r>
                <a14:m>
                  <m:oMath xmlns:m="http://schemas.openxmlformats.org/officeDocument/2006/math">
                    <m:r>
                      <a:rPr lang="en-US" b="0" i="1" smtClean="0">
                        <a:latin typeface="Cambria Math" panose="02040503050406030204" pitchFamily="18" charset="0"/>
                      </a:rPr>
                      <m:t>𝑖</m:t>
                    </m:r>
                  </m:oMath>
                </a14:m>
                <a:r>
                  <a:rPr lang="en-US" dirty="0"/>
                  <a:t>, then repeat on index </a:t>
                </a:r>
                <a14:m>
                  <m:oMath xmlns:m="http://schemas.openxmlformats.org/officeDocument/2006/math">
                    <m:r>
                      <a:rPr lang="en-US" b="0" i="1" smtClean="0">
                        <a:latin typeface="Cambria Math" panose="02040503050406030204" pitchFamily="18" charset="0"/>
                      </a:rPr>
                      <m:t>𝑗</m:t>
                    </m:r>
                  </m:oMath>
                </a14:m>
                <a:r>
                  <a:rPr lang="en-US" dirty="0"/>
                  <a:t>.</a:t>
                </a:r>
              </a:p>
              <a:p>
                <a:r>
                  <a:rPr lang="en-US" b="1" dirty="0"/>
                  <a:t>Option 2 (easier)</a:t>
                </a:r>
                <a:r>
                  <a:rPr lang="en-US" dirty="0"/>
                  <a:t>: “Tombstone” deletion. Leave a special object that indicates an something was deleted from there</a:t>
                </a:r>
              </a:p>
              <a:p>
                <a:pPr lvl="1"/>
                <a:r>
                  <a:rPr lang="en-US" dirty="0"/>
                  <a:t>The tombstone does not act as an open space when finding (so keep looking after its reached)</a:t>
                </a:r>
              </a:p>
              <a:p>
                <a:pPr lvl="1"/>
                <a:r>
                  <a:rPr lang="en-US" dirty="0"/>
                  <a:t>When inserting you can replace a tombstone with a new item</a:t>
                </a:r>
              </a:p>
            </p:txBody>
          </p:sp>
        </mc:Choice>
        <mc:Fallback xmlns="">
          <p:sp>
            <p:nvSpPr>
              <p:cNvPr id="3" name="Content Placeholder 2">
                <a:extLst>
                  <a:ext uri="{FF2B5EF4-FFF2-40B4-BE49-F238E27FC236}">
                    <a16:creationId xmlns:a16="http://schemas.microsoft.com/office/drawing/2014/main" id="{A97C19AB-1C53-85A1-A3AF-83DFA61F94B5}"/>
                  </a:ext>
                </a:extLst>
              </p:cNvPr>
              <p:cNvSpPr>
                <a:spLocks noGrp="1" noRot="1" noChangeAspect="1" noMove="1" noResize="1" noEditPoints="1" noAdjustHandles="1" noChangeArrowheads="1" noChangeShapeType="1" noTextEdit="1"/>
              </p:cNvSpPr>
              <p:nvPr>
                <p:ph idx="1"/>
              </p:nvPr>
            </p:nvSpPr>
            <p:spPr>
              <a:xfrm>
                <a:off x="838200" y="1336100"/>
                <a:ext cx="10515600" cy="4351338"/>
              </a:xfrm>
              <a:blipFill>
                <a:blip r:embed="rId2"/>
                <a:stretch>
                  <a:fillRect l="-1043" t="-2241" r="-1391"/>
                </a:stretch>
              </a:blipFill>
            </p:spPr>
            <p:txBody>
              <a:bodyPr/>
              <a:lstStyle/>
              <a:p>
                <a:r>
                  <a:rPr lang="en-US">
                    <a:noFill/>
                  </a:rPr>
                  <a:t> </a:t>
                </a:r>
              </a:p>
            </p:txBody>
          </p:sp>
        </mc:Fallback>
      </mc:AlternateContent>
      <p:grpSp>
        <p:nvGrpSpPr>
          <p:cNvPr id="27" name="Group 26" descr="For option 2 (tombstone deletion) when we delete a key from the dictionary we replace the key-value pair in the hash table with a special &quot;tombstone&quot; object to indicate that an item used to be present. &#10;&#10;This way when we're probing we know the spot is available to re-use if we insert a new key-value pair, but for a find we need to continue probing past that index since past inserts may have probed past it.">
            <a:extLst>
              <a:ext uri="{FF2B5EF4-FFF2-40B4-BE49-F238E27FC236}">
                <a16:creationId xmlns:a16="http://schemas.microsoft.com/office/drawing/2014/main" id="{5CEBE7AC-62BA-50C0-827E-A9312E83C711}"/>
              </a:ext>
            </a:extLst>
          </p:cNvPr>
          <p:cNvGrpSpPr/>
          <p:nvPr/>
        </p:nvGrpSpPr>
        <p:grpSpPr>
          <a:xfrm>
            <a:off x="2895600" y="5467983"/>
            <a:ext cx="6400800" cy="1097280"/>
            <a:chOff x="2895600" y="5467983"/>
            <a:chExt cx="6400800" cy="1097280"/>
          </a:xfrm>
        </p:grpSpPr>
        <p:grpSp>
          <p:nvGrpSpPr>
            <p:cNvPr id="4" name="Group 3">
              <a:extLst>
                <a:ext uri="{FF2B5EF4-FFF2-40B4-BE49-F238E27FC236}">
                  <a16:creationId xmlns:a16="http://schemas.microsoft.com/office/drawing/2014/main" id="{D2398797-8895-3723-4DFA-5FD577DC625E}"/>
                </a:ext>
              </a:extLst>
            </p:cNvPr>
            <p:cNvGrpSpPr/>
            <p:nvPr/>
          </p:nvGrpSpPr>
          <p:grpSpPr>
            <a:xfrm>
              <a:off x="2895600" y="5467983"/>
              <a:ext cx="6400800" cy="1097280"/>
              <a:chOff x="4953000" y="660717"/>
              <a:chExt cx="6400800" cy="1097280"/>
            </a:xfrm>
          </p:grpSpPr>
          <p:grpSp>
            <p:nvGrpSpPr>
              <p:cNvPr id="5" name="Group 4">
                <a:extLst>
                  <a:ext uri="{FF2B5EF4-FFF2-40B4-BE49-F238E27FC236}">
                    <a16:creationId xmlns:a16="http://schemas.microsoft.com/office/drawing/2014/main" id="{A94E3EBE-92D3-3CBC-4097-E854D2FB517E}"/>
                  </a:ext>
                </a:extLst>
              </p:cNvPr>
              <p:cNvGrpSpPr/>
              <p:nvPr/>
            </p:nvGrpSpPr>
            <p:grpSpPr>
              <a:xfrm>
                <a:off x="4953000" y="660717"/>
                <a:ext cx="6400800" cy="640080"/>
                <a:chOff x="2252980" y="5083048"/>
                <a:chExt cx="6400800" cy="640080"/>
              </a:xfrm>
            </p:grpSpPr>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F9CF4CB-A27A-964D-A636-9F4C5BAF32BE}"/>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𝑣</m:t>
                            </m:r>
                          </m:oMath>
                        </m:oMathPara>
                      </a14:m>
                      <a:endParaRPr lang="en-US" sz="2800" dirty="0">
                        <a:solidFill>
                          <a:schemeClr val="tx1"/>
                        </a:solidFill>
                      </a:endParaRPr>
                    </a:p>
                  </p:txBody>
                </p:sp>
              </mc:Choice>
              <mc:Fallback xmlns="">
                <p:sp>
                  <p:nvSpPr>
                    <p:cNvPr id="17" name="Rectangle 16">
                      <a:extLst>
                        <a:ext uri="{FF2B5EF4-FFF2-40B4-BE49-F238E27FC236}">
                          <a16:creationId xmlns:a16="http://schemas.microsoft.com/office/drawing/2014/main" id="{9F9CF4CB-A27A-964D-A636-9F4C5BAF32BE}"/>
                        </a:ext>
                      </a:extLst>
                    </p:cNvPr>
                    <p:cNvSpPr>
                      <a:spLocks noRot="1" noChangeAspect="1" noMove="1" noResize="1" noEditPoints="1" noAdjustHandles="1" noChangeArrowheads="1" noChangeShapeType="1" noTextEdit="1"/>
                    </p:cNvSpPr>
                    <p:nvPr/>
                  </p:nvSpPr>
                  <p:spPr>
                    <a:xfrm>
                      <a:off x="2252980" y="5083048"/>
                      <a:ext cx="640080" cy="640080"/>
                    </a:xfrm>
                    <a:prstGeom prst="rect">
                      <a:avLst/>
                    </a:prstGeom>
                    <a:blipFill>
                      <a:blip r:embed="rId3"/>
                      <a:stretch>
                        <a:fillRect/>
                      </a:stretch>
                    </a:blipFill>
                  </p:spPr>
                  <p:txBody>
                    <a:bodyPr/>
                    <a:lstStyle/>
                    <a:p>
                      <a:r>
                        <a:rPr lang="en-US">
                          <a:noFill/>
                        </a:rPr>
                        <a:t> </a:t>
                      </a:r>
                    </a:p>
                  </p:txBody>
                </p:sp>
              </mc:Fallback>
            </mc:AlternateContent>
            <p:sp>
              <p:nvSpPr>
                <p:cNvPr id="18" name="Rectangle 17">
                  <a:extLst>
                    <a:ext uri="{FF2B5EF4-FFF2-40B4-BE49-F238E27FC236}">
                      <a16:creationId xmlns:a16="http://schemas.microsoft.com/office/drawing/2014/main" id="{D168045C-4DD0-521D-E388-E155A93DAFF1}"/>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CBD1F50D-0106-BB33-E7B4-DF9459A8ED27}"/>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𝑣</m:t>
                            </m:r>
                          </m:oMath>
                        </m:oMathPara>
                      </a14:m>
                      <a:endParaRPr lang="en-US" sz="2800" dirty="0">
                        <a:solidFill>
                          <a:schemeClr val="tx1"/>
                        </a:solidFill>
                      </a:endParaRPr>
                    </a:p>
                  </p:txBody>
                </p:sp>
              </mc:Choice>
              <mc:Fallback xmlns="">
                <p:sp>
                  <p:nvSpPr>
                    <p:cNvPr id="19" name="Rectangle 18">
                      <a:extLst>
                        <a:ext uri="{FF2B5EF4-FFF2-40B4-BE49-F238E27FC236}">
                          <a16:creationId xmlns:a16="http://schemas.microsoft.com/office/drawing/2014/main" id="{CBD1F50D-0106-BB33-E7B4-DF9459A8ED27}"/>
                        </a:ext>
                      </a:extLst>
                    </p:cNvPr>
                    <p:cNvSpPr>
                      <a:spLocks noRot="1" noChangeAspect="1" noMove="1" noResize="1" noEditPoints="1" noAdjustHandles="1" noChangeArrowheads="1" noChangeShapeType="1" noTextEdit="1"/>
                    </p:cNvSpPr>
                    <p:nvPr/>
                  </p:nvSpPr>
                  <p:spPr>
                    <a:xfrm>
                      <a:off x="3533140" y="5083048"/>
                      <a:ext cx="640080" cy="64008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F68DA8B2-9D14-9376-BA10-6072DC3F7AAE}"/>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𝑣</m:t>
                            </m:r>
                          </m:oMath>
                        </m:oMathPara>
                      </a14:m>
                      <a:endParaRPr lang="en-US" sz="2800" dirty="0">
                        <a:solidFill>
                          <a:schemeClr val="tx1"/>
                        </a:solidFill>
                      </a:endParaRPr>
                    </a:p>
                  </p:txBody>
                </p:sp>
              </mc:Choice>
              <mc:Fallback xmlns="">
                <p:sp>
                  <p:nvSpPr>
                    <p:cNvPr id="20" name="Rectangle 19">
                      <a:extLst>
                        <a:ext uri="{FF2B5EF4-FFF2-40B4-BE49-F238E27FC236}">
                          <a16:creationId xmlns:a16="http://schemas.microsoft.com/office/drawing/2014/main" id="{F68DA8B2-9D14-9376-BA10-6072DC3F7AAE}"/>
                        </a:ext>
                      </a:extLst>
                    </p:cNvPr>
                    <p:cNvSpPr>
                      <a:spLocks noRot="1" noChangeAspect="1" noMove="1" noResize="1" noEditPoints="1" noAdjustHandles="1" noChangeArrowheads="1" noChangeShapeType="1" noTextEdit="1"/>
                    </p:cNvSpPr>
                    <p:nvPr/>
                  </p:nvSpPr>
                  <p:spPr>
                    <a:xfrm>
                      <a:off x="4173220" y="5083048"/>
                      <a:ext cx="640080" cy="640080"/>
                    </a:xfrm>
                    <a:prstGeom prst="rect">
                      <a:avLst/>
                    </a:prstGeom>
                    <a:blipFill>
                      <a:blip r:embed="rId3"/>
                      <a:stretch>
                        <a:fillRect/>
                      </a:stretch>
                    </a:blipFill>
                  </p:spPr>
                  <p:txBody>
                    <a:bodyPr/>
                    <a:lstStyle/>
                    <a:p>
                      <a:r>
                        <a:rPr lang="en-US">
                          <a:noFill/>
                        </a:rPr>
                        <a:t> </a:t>
                      </a:r>
                    </a:p>
                  </p:txBody>
                </p:sp>
              </mc:Fallback>
            </mc:AlternateContent>
            <p:sp>
              <p:nvSpPr>
                <p:cNvPr id="21" name="Rectangle 20">
                  <a:extLst>
                    <a:ext uri="{FF2B5EF4-FFF2-40B4-BE49-F238E27FC236}">
                      <a16:creationId xmlns:a16="http://schemas.microsoft.com/office/drawing/2014/main" id="{E872695B-70F4-3DA6-F9C7-C39AA3021A96}"/>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7C73464A-B923-7D8A-08E9-FA6362BB975F}"/>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𝑘</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𝑣</m:t>
                            </m:r>
                          </m:oMath>
                        </m:oMathPara>
                      </a14:m>
                      <a:endParaRPr lang="en-US" sz="2800" dirty="0">
                        <a:solidFill>
                          <a:schemeClr val="tx1"/>
                        </a:solidFill>
                      </a:endParaRPr>
                    </a:p>
                  </p:txBody>
                </p:sp>
              </mc:Choice>
              <mc:Fallback xmlns="">
                <p:sp>
                  <p:nvSpPr>
                    <p:cNvPr id="22" name="Rectangle 21">
                      <a:extLst>
                        <a:ext uri="{FF2B5EF4-FFF2-40B4-BE49-F238E27FC236}">
                          <a16:creationId xmlns:a16="http://schemas.microsoft.com/office/drawing/2014/main" id="{7C73464A-B923-7D8A-08E9-FA6362BB975F}"/>
                        </a:ext>
                      </a:extLst>
                    </p:cNvPr>
                    <p:cNvSpPr>
                      <a:spLocks noRot="1" noChangeAspect="1" noMove="1" noResize="1" noEditPoints="1" noAdjustHandles="1" noChangeArrowheads="1" noChangeShapeType="1" noTextEdit="1"/>
                    </p:cNvSpPr>
                    <p:nvPr/>
                  </p:nvSpPr>
                  <p:spPr>
                    <a:xfrm>
                      <a:off x="5453380" y="5083048"/>
                      <a:ext cx="640080" cy="640080"/>
                    </a:xfrm>
                    <a:prstGeom prst="rect">
                      <a:avLst/>
                    </a:prstGeom>
                    <a:blipFill>
                      <a:blip r:embed="rId3"/>
                      <a:stretch>
                        <a:fillRect/>
                      </a:stretch>
                    </a:blipFill>
                  </p:spPr>
                  <p:txBody>
                    <a:bodyPr/>
                    <a:lstStyle/>
                    <a:p>
                      <a:r>
                        <a:rPr lang="en-US">
                          <a:noFill/>
                        </a:rPr>
                        <a:t> </a:t>
                      </a:r>
                    </a:p>
                  </p:txBody>
                </p:sp>
              </mc:Fallback>
            </mc:AlternateContent>
            <p:sp>
              <p:nvSpPr>
                <p:cNvPr id="23" name="Rectangle 22">
                  <a:extLst>
                    <a:ext uri="{FF2B5EF4-FFF2-40B4-BE49-F238E27FC236}">
                      <a16:creationId xmlns:a16="http://schemas.microsoft.com/office/drawing/2014/main" id="{32B62BA5-C7A9-1093-C1C5-92B30048EF21}"/>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4" name="Rectangle 23">
                  <a:extLst>
                    <a:ext uri="{FF2B5EF4-FFF2-40B4-BE49-F238E27FC236}">
                      <a16:creationId xmlns:a16="http://schemas.microsoft.com/office/drawing/2014/main" id="{B7E8C7D0-301F-810C-81D7-8032D43CCED2}"/>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5" name="Rectangle 24">
                  <a:extLst>
                    <a:ext uri="{FF2B5EF4-FFF2-40B4-BE49-F238E27FC236}">
                      <a16:creationId xmlns:a16="http://schemas.microsoft.com/office/drawing/2014/main" id="{EEF34426-81D0-A00D-F869-CE2CC1F69DD9}"/>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6" name="Rectangle 25">
                  <a:extLst>
                    <a:ext uri="{FF2B5EF4-FFF2-40B4-BE49-F238E27FC236}">
                      <a16:creationId xmlns:a16="http://schemas.microsoft.com/office/drawing/2014/main" id="{27B13CF2-FF93-8502-9E02-8932AAC3B628}"/>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ECD7BD24-78C4-485A-B642-694347CAF79F}"/>
                  </a:ext>
                </a:extLst>
              </p:cNvPr>
              <p:cNvGrpSpPr/>
              <p:nvPr/>
            </p:nvGrpSpPr>
            <p:grpSpPr>
              <a:xfrm>
                <a:off x="4953000" y="1117917"/>
                <a:ext cx="6400800" cy="640080"/>
                <a:chOff x="2252980" y="5083048"/>
                <a:chExt cx="6400800" cy="640080"/>
              </a:xfrm>
              <a:noFill/>
            </p:grpSpPr>
            <p:sp>
              <p:nvSpPr>
                <p:cNvPr id="7" name="Rectangle 6">
                  <a:extLst>
                    <a:ext uri="{FF2B5EF4-FFF2-40B4-BE49-F238E27FC236}">
                      <a16:creationId xmlns:a16="http://schemas.microsoft.com/office/drawing/2014/main" id="{0E07A55D-FD55-65C4-B762-EE475FB813D9}"/>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22B816F0-1D87-DCEE-EE23-73BA3F93C0D0}"/>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3472B5DE-98C0-ED41-C1C2-5402072D17EC}"/>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01DF7F5A-E96D-9469-1E44-2B9982B5F417}"/>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24290CC6-A7C4-513F-0046-64C15C576672}"/>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6AAFCECB-C9D4-B0F1-13A6-E6A0B9F5E5FC}"/>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76966F40-4191-1551-B59D-C33E64E92ED2}"/>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14" name="Rectangle 13">
                  <a:extLst>
                    <a:ext uri="{FF2B5EF4-FFF2-40B4-BE49-F238E27FC236}">
                      <a16:creationId xmlns:a16="http://schemas.microsoft.com/office/drawing/2014/main" id="{91B32752-91AD-18C5-0ABD-530E78C6EAE1}"/>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15" name="Rectangle 14">
                  <a:extLst>
                    <a:ext uri="{FF2B5EF4-FFF2-40B4-BE49-F238E27FC236}">
                      <a16:creationId xmlns:a16="http://schemas.microsoft.com/office/drawing/2014/main" id="{E950CBD8-72AD-EB1F-CF08-19E9158FCF57}"/>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16" name="Rectangle 15">
                  <a:extLst>
                    <a:ext uri="{FF2B5EF4-FFF2-40B4-BE49-F238E27FC236}">
                      <a16:creationId xmlns:a16="http://schemas.microsoft.com/office/drawing/2014/main" id="{F2A5AD5E-A38F-FFBF-1612-402BB356C254}"/>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pic>
          <p:nvPicPr>
            <p:cNvPr id="1026" name="Picture 2" descr="Tombstone Graphic by Lowkey21 · Creative Fabrica">
              <a:extLst>
                <a:ext uri="{FF2B5EF4-FFF2-40B4-BE49-F238E27FC236}">
                  <a16:creationId xmlns:a16="http://schemas.microsoft.com/office/drawing/2014/main" id="{4D539D6B-C7E5-D7DC-674F-BD419E4829F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682" t="13451" r="15903" b="12240"/>
            <a:stretch/>
          </p:blipFill>
          <p:spPr bwMode="auto">
            <a:xfrm>
              <a:off x="5515827" y="5640183"/>
              <a:ext cx="510106" cy="3808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4774076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2224-77C0-7101-3666-23633BC3E368}"/>
              </a:ext>
            </a:extLst>
          </p:cNvPr>
          <p:cNvSpPr>
            <a:spLocks noGrp="1"/>
          </p:cNvSpPr>
          <p:nvPr>
            <p:ph type="title"/>
          </p:nvPr>
        </p:nvSpPr>
        <p:spPr/>
        <p:txBody>
          <a:bodyPr/>
          <a:lstStyle/>
          <a:p>
            <a:r>
              <a:rPr lang="en-US" dirty="0"/>
              <a:t>Linear Probing + Tombstone: Find</a:t>
            </a:r>
          </a:p>
        </p:txBody>
      </p:sp>
      <p:sp>
        <p:nvSpPr>
          <p:cNvPr id="3" name="Content Placeholder 2">
            <a:extLst>
              <a:ext uri="{FF2B5EF4-FFF2-40B4-BE49-F238E27FC236}">
                <a16:creationId xmlns:a16="http://schemas.microsoft.com/office/drawing/2014/main" id="{A97C19AB-1C53-85A1-A3AF-83DFA61F94B5}"/>
              </a:ext>
            </a:extLst>
          </p:cNvPr>
          <p:cNvSpPr>
            <a:spLocks noGrp="1"/>
          </p:cNvSpPr>
          <p:nvPr>
            <p:ph idx="1"/>
          </p:nvPr>
        </p:nvSpPr>
        <p:spPr>
          <a:xfrm>
            <a:off x="838200" y="1825625"/>
            <a:ext cx="10515600" cy="3555298"/>
          </a:xfrm>
        </p:spPr>
        <p:txBody>
          <a:bodyPr/>
          <a:lstStyle/>
          <a:p>
            <a:r>
              <a:rPr lang="en-US" dirty="0"/>
              <a:t>To find key </a:t>
            </a:r>
            <a:r>
              <a:rPr lang="en-US" dirty="0">
                <a:latin typeface="Consolas" panose="020B0609020204030204" pitchFamily="49" charset="0"/>
              </a:rPr>
              <a:t>k</a:t>
            </a: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p>
          <a:p>
            <a:pPr lvl="1"/>
            <a:r>
              <a:rPr lang="en-US" dirty="0"/>
              <a:t>While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has a key other than </a:t>
            </a:r>
            <a:r>
              <a:rPr lang="en-US" dirty="0">
                <a:latin typeface="Consolas" panose="020B0609020204030204" pitchFamily="49" charset="0"/>
              </a:rPr>
              <a:t>k</a:t>
            </a:r>
            <a:r>
              <a:rPr lang="en-US" dirty="0"/>
              <a:t>, set </a:t>
            </a:r>
            <a:r>
              <a:rPr lang="en-US" dirty="0" err="1">
                <a:latin typeface="Consolas" panose="020B0609020204030204" pitchFamily="49" charset="0"/>
              </a:rPr>
              <a:t>i</a:t>
            </a:r>
            <a:r>
              <a:rPr lang="en-US" dirty="0">
                <a:latin typeface="Consolas" panose="020B0609020204030204" pitchFamily="49" charset="0"/>
              </a:rPr>
              <a:t> = (i+1) % </a:t>
            </a:r>
            <a:r>
              <a:rPr lang="en-US" dirty="0" err="1">
                <a:latin typeface="Consolas" panose="020B0609020204030204" pitchFamily="49" charset="0"/>
              </a:rPr>
              <a:t>table.length</a:t>
            </a:r>
            <a:endParaRPr lang="en-US" dirty="0"/>
          </a:p>
          <a:p>
            <a:pPr lvl="1"/>
            <a:r>
              <a:rPr lang="en-US" dirty="0"/>
              <a:t>If you come across </a:t>
            </a:r>
            <a:r>
              <a:rPr lang="en-US" dirty="0">
                <a:latin typeface="Consolas" panose="020B0609020204030204" pitchFamily="49" charset="0"/>
              </a:rPr>
              <a:t>k</a:t>
            </a:r>
            <a:r>
              <a:rPr lang="en-US" dirty="0"/>
              <a:t> return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endParaRPr lang="en-US" dirty="0"/>
          </a:p>
          <a:p>
            <a:pPr lvl="1"/>
            <a:r>
              <a:rPr lang="en-US" dirty="0"/>
              <a:t>If you come across an empty index, the find was unsuccessful</a:t>
            </a:r>
          </a:p>
          <a:p>
            <a:pPr lvl="2"/>
            <a:r>
              <a:rPr lang="en-US" dirty="0"/>
              <a:t>Tombstones do not count as empty!</a:t>
            </a:r>
          </a:p>
        </p:txBody>
      </p:sp>
      <p:grpSp>
        <p:nvGrpSpPr>
          <p:cNvPr id="27" name="Group 26" descr="A hash table with a tombstone. Its contents are as follows (for each pair the first element is the key and the second is the value):&#10;&#10;Index 0: k1, v1&#10;Index 2: k2,v2&#10;Index 3: k3, v3&#10;Index 4: tombstone&#10;Index 5: k4, v4&#10;All other indices are empty&#10;&#10;Supposing we do an unsuccessful find on key k which maps to index 2. In this case we will need to check index 2, index 3, index 4 (which contains the tombstone), index 5, and then can conclude the find was unsuccessful when we see index 6 is empty.">
            <a:extLst>
              <a:ext uri="{FF2B5EF4-FFF2-40B4-BE49-F238E27FC236}">
                <a16:creationId xmlns:a16="http://schemas.microsoft.com/office/drawing/2014/main" id="{173FC6B8-AB4A-FD8C-6863-E218D088B95F}"/>
              </a:ext>
            </a:extLst>
          </p:cNvPr>
          <p:cNvGrpSpPr/>
          <p:nvPr/>
        </p:nvGrpSpPr>
        <p:grpSpPr>
          <a:xfrm>
            <a:off x="2895600" y="5467983"/>
            <a:ext cx="6400800" cy="1097280"/>
            <a:chOff x="2895600" y="5467983"/>
            <a:chExt cx="6400800" cy="1097280"/>
          </a:xfrm>
        </p:grpSpPr>
        <p:grpSp>
          <p:nvGrpSpPr>
            <p:cNvPr id="28" name="Group 27">
              <a:extLst>
                <a:ext uri="{FF2B5EF4-FFF2-40B4-BE49-F238E27FC236}">
                  <a16:creationId xmlns:a16="http://schemas.microsoft.com/office/drawing/2014/main" id="{62EBE785-09DD-2129-EF50-6BED889CAFDF}"/>
                </a:ext>
              </a:extLst>
            </p:cNvPr>
            <p:cNvGrpSpPr/>
            <p:nvPr/>
          </p:nvGrpSpPr>
          <p:grpSpPr>
            <a:xfrm>
              <a:off x="2895600" y="5467983"/>
              <a:ext cx="6400800" cy="1097280"/>
              <a:chOff x="4953000" y="660717"/>
              <a:chExt cx="6400800" cy="1097280"/>
            </a:xfrm>
          </p:grpSpPr>
          <p:grpSp>
            <p:nvGrpSpPr>
              <p:cNvPr id="30" name="Group 29">
                <a:extLst>
                  <a:ext uri="{FF2B5EF4-FFF2-40B4-BE49-F238E27FC236}">
                    <a16:creationId xmlns:a16="http://schemas.microsoft.com/office/drawing/2014/main" id="{4D7616CE-CEB2-3F78-01C7-559381A7E459}"/>
                  </a:ext>
                </a:extLst>
              </p:cNvPr>
              <p:cNvGrpSpPr/>
              <p:nvPr/>
            </p:nvGrpSpPr>
            <p:grpSpPr>
              <a:xfrm>
                <a:off x="4953000" y="660717"/>
                <a:ext cx="6400800" cy="640080"/>
                <a:chOff x="2252980" y="5083048"/>
                <a:chExt cx="6400800" cy="640080"/>
              </a:xfrm>
            </p:grpSpPr>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DA0882B2-FBB3-893B-47AC-ED5A54E5D7EF}"/>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42" name="Rectangle 41">
                      <a:extLst>
                        <a:ext uri="{FF2B5EF4-FFF2-40B4-BE49-F238E27FC236}">
                          <a16:creationId xmlns:a16="http://schemas.microsoft.com/office/drawing/2014/main" id="{DA0882B2-FBB3-893B-47AC-ED5A54E5D7EF}"/>
                        </a:ext>
                      </a:extLst>
                    </p:cNvPr>
                    <p:cNvSpPr>
                      <a:spLocks noRot="1" noChangeAspect="1" noMove="1" noResize="1" noEditPoints="1" noAdjustHandles="1" noChangeArrowheads="1" noChangeShapeType="1" noTextEdit="1"/>
                    </p:cNvSpPr>
                    <p:nvPr/>
                  </p:nvSpPr>
                  <p:spPr>
                    <a:xfrm>
                      <a:off x="2252980" y="5083048"/>
                      <a:ext cx="640080" cy="640080"/>
                    </a:xfrm>
                    <a:prstGeom prst="rect">
                      <a:avLst/>
                    </a:prstGeom>
                    <a:blipFill>
                      <a:blip r:embed="rId2"/>
                      <a:stretch>
                        <a:fillRect l="-8411"/>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9CC71AC7-66ED-D0EA-E2C9-4D9B8C7164CC}"/>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8FDFB75C-BC8B-A7B1-D939-0A388B717AE7}"/>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xmlns="">
                <p:sp>
                  <p:nvSpPr>
                    <p:cNvPr id="44" name="Rectangle 43">
                      <a:extLst>
                        <a:ext uri="{FF2B5EF4-FFF2-40B4-BE49-F238E27FC236}">
                          <a16:creationId xmlns:a16="http://schemas.microsoft.com/office/drawing/2014/main" id="{8FDFB75C-BC8B-A7B1-D939-0A388B717AE7}"/>
                        </a:ext>
                      </a:extLst>
                    </p:cNvPr>
                    <p:cNvSpPr>
                      <a:spLocks noRot="1" noChangeAspect="1" noMove="1" noResize="1" noEditPoints="1" noAdjustHandles="1" noChangeArrowheads="1" noChangeShapeType="1" noTextEdit="1"/>
                    </p:cNvSpPr>
                    <p:nvPr/>
                  </p:nvSpPr>
                  <p:spPr>
                    <a:xfrm>
                      <a:off x="3533140" y="5083048"/>
                      <a:ext cx="640080" cy="640080"/>
                    </a:xfrm>
                    <a:prstGeom prst="rect">
                      <a:avLst/>
                    </a:prstGeom>
                    <a:blipFill>
                      <a:blip r:embed="rId3"/>
                      <a:stretch>
                        <a:fillRect l="-9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4D3201B6-2128-AA78-0502-860BF7B613BB}"/>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3</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xmlns="">
                <p:sp>
                  <p:nvSpPr>
                    <p:cNvPr id="45" name="Rectangle 44">
                      <a:extLst>
                        <a:ext uri="{FF2B5EF4-FFF2-40B4-BE49-F238E27FC236}">
                          <a16:creationId xmlns:a16="http://schemas.microsoft.com/office/drawing/2014/main" id="{4D3201B6-2128-AA78-0502-860BF7B613BB}"/>
                        </a:ext>
                      </a:extLst>
                    </p:cNvPr>
                    <p:cNvSpPr>
                      <a:spLocks noRot="1" noChangeAspect="1" noMove="1" noResize="1" noEditPoints="1" noAdjustHandles="1" noChangeArrowheads="1" noChangeShapeType="1" noTextEdit="1"/>
                    </p:cNvSpPr>
                    <p:nvPr/>
                  </p:nvSpPr>
                  <p:spPr>
                    <a:xfrm>
                      <a:off x="4173220" y="5083048"/>
                      <a:ext cx="640080" cy="640080"/>
                    </a:xfrm>
                    <a:prstGeom prst="rect">
                      <a:avLst/>
                    </a:prstGeom>
                    <a:blipFill>
                      <a:blip r:embed="rId4"/>
                      <a:stretch>
                        <a:fillRect l="-9346"/>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041711FE-E996-23C1-97AD-7FDE658BA2E1}"/>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6DAEE92F-6002-9637-4F17-E5FB04B17788}"/>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4</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xmlns="">
                <p:sp>
                  <p:nvSpPr>
                    <p:cNvPr id="47" name="Rectangle 46">
                      <a:extLst>
                        <a:ext uri="{FF2B5EF4-FFF2-40B4-BE49-F238E27FC236}">
                          <a16:creationId xmlns:a16="http://schemas.microsoft.com/office/drawing/2014/main" id="{6DAEE92F-6002-9637-4F17-E5FB04B17788}"/>
                        </a:ext>
                      </a:extLst>
                    </p:cNvPr>
                    <p:cNvSpPr>
                      <a:spLocks noRot="1" noChangeAspect="1" noMove="1" noResize="1" noEditPoints="1" noAdjustHandles="1" noChangeArrowheads="1" noChangeShapeType="1" noTextEdit="1"/>
                    </p:cNvSpPr>
                    <p:nvPr/>
                  </p:nvSpPr>
                  <p:spPr>
                    <a:xfrm>
                      <a:off x="5453380" y="5083048"/>
                      <a:ext cx="640080" cy="640080"/>
                    </a:xfrm>
                    <a:prstGeom prst="rect">
                      <a:avLst/>
                    </a:prstGeom>
                    <a:blipFill>
                      <a:blip r:embed="rId5"/>
                      <a:stretch>
                        <a:fillRect l="-8411"/>
                      </a:stretch>
                    </a:blipFill>
                  </p:spPr>
                  <p:txBody>
                    <a:bodyPr/>
                    <a:lstStyle/>
                    <a:p>
                      <a:r>
                        <a:rPr lang="en-US">
                          <a:noFill/>
                        </a:rPr>
                        <a:t> </a:t>
                      </a:r>
                    </a:p>
                  </p:txBody>
                </p:sp>
              </mc:Fallback>
            </mc:AlternateContent>
            <p:sp>
              <p:nvSpPr>
                <p:cNvPr id="48" name="Rectangle 47">
                  <a:extLst>
                    <a:ext uri="{FF2B5EF4-FFF2-40B4-BE49-F238E27FC236}">
                      <a16:creationId xmlns:a16="http://schemas.microsoft.com/office/drawing/2014/main" id="{101D0832-8C87-DBB7-A03D-B331DBF755EF}"/>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37BBC0C9-9AE3-DF08-8D24-E971DA5754C3}"/>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50" name="Rectangle 49">
                  <a:extLst>
                    <a:ext uri="{FF2B5EF4-FFF2-40B4-BE49-F238E27FC236}">
                      <a16:creationId xmlns:a16="http://schemas.microsoft.com/office/drawing/2014/main" id="{38A6AC15-B4C8-948A-A1B6-31F5BEACFF6D}"/>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51" name="Rectangle 50">
                  <a:extLst>
                    <a:ext uri="{FF2B5EF4-FFF2-40B4-BE49-F238E27FC236}">
                      <a16:creationId xmlns:a16="http://schemas.microsoft.com/office/drawing/2014/main" id="{181753CC-4DE4-F5BD-AFEC-DA4B6D39AF0E}"/>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31" name="Group 30">
                <a:extLst>
                  <a:ext uri="{FF2B5EF4-FFF2-40B4-BE49-F238E27FC236}">
                    <a16:creationId xmlns:a16="http://schemas.microsoft.com/office/drawing/2014/main" id="{551F7581-2694-4F16-2D77-99EBD233E618}"/>
                  </a:ext>
                </a:extLst>
              </p:cNvPr>
              <p:cNvGrpSpPr/>
              <p:nvPr/>
            </p:nvGrpSpPr>
            <p:grpSpPr>
              <a:xfrm>
                <a:off x="4953000" y="1117917"/>
                <a:ext cx="6400800" cy="640080"/>
                <a:chOff x="2252980" y="5083048"/>
                <a:chExt cx="6400800" cy="640080"/>
              </a:xfrm>
              <a:noFill/>
            </p:grpSpPr>
            <p:sp>
              <p:nvSpPr>
                <p:cNvPr id="32" name="Rectangle 31">
                  <a:extLst>
                    <a:ext uri="{FF2B5EF4-FFF2-40B4-BE49-F238E27FC236}">
                      <a16:creationId xmlns:a16="http://schemas.microsoft.com/office/drawing/2014/main" id="{F17FFAC9-CE14-DCBB-F204-A9EE3D53FDC2}"/>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3" name="Rectangle 32">
                  <a:extLst>
                    <a:ext uri="{FF2B5EF4-FFF2-40B4-BE49-F238E27FC236}">
                      <a16:creationId xmlns:a16="http://schemas.microsoft.com/office/drawing/2014/main" id="{BCF16176-C858-3F4B-2338-71EE8AEA7156}"/>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4" name="Rectangle 33">
                  <a:extLst>
                    <a:ext uri="{FF2B5EF4-FFF2-40B4-BE49-F238E27FC236}">
                      <a16:creationId xmlns:a16="http://schemas.microsoft.com/office/drawing/2014/main" id="{0D9BF06B-65D6-9864-3A5D-83DA1D72FBCC}"/>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5" name="Rectangle 34">
                  <a:extLst>
                    <a:ext uri="{FF2B5EF4-FFF2-40B4-BE49-F238E27FC236}">
                      <a16:creationId xmlns:a16="http://schemas.microsoft.com/office/drawing/2014/main" id="{C6E9A345-05AB-412F-04A7-06DEAAA67AE8}"/>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6" name="Rectangle 35">
                  <a:extLst>
                    <a:ext uri="{FF2B5EF4-FFF2-40B4-BE49-F238E27FC236}">
                      <a16:creationId xmlns:a16="http://schemas.microsoft.com/office/drawing/2014/main" id="{B3A0273C-3478-8C2E-FF29-E2FD3B8B81EF}"/>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7" name="Rectangle 36">
                  <a:extLst>
                    <a:ext uri="{FF2B5EF4-FFF2-40B4-BE49-F238E27FC236}">
                      <a16:creationId xmlns:a16="http://schemas.microsoft.com/office/drawing/2014/main" id="{2A17E45D-8163-8373-1EE1-E0EEC0B7F1E0}"/>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8" name="Rectangle 37">
                  <a:extLst>
                    <a:ext uri="{FF2B5EF4-FFF2-40B4-BE49-F238E27FC236}">
                      <a16:creationId xmlns:a16="http://schemas.microsoft.com/office/drawing/2014/main" id="{26C69C17-57A7-433D-4954-3E9C7742E35B}"/>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9" name="Rectangle 38">
                  <a:extLst>
                    <a:ext uri="{FF2B5EF4-FFF2-40B4-BE49-F238E27FC236}">
                      <a16:creationId xmlns:a16="http://schemas.microsoft.com/office/drawing/2014/main" id="{1F0EBE50-D77D-6ACC-6154-87179C219DEF}"/>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40" name="Rectangle 39">
                  <a:extLst>
                    <a:ext uri="{FF2B5EF4-FFF2-40B4-BE49-F238E27FC236}">
                      <a16:creationId xmlns:a16="http://schemas.microsoft.com/office/drawing/2014/main" id="{BA195B53-7382-BFB7-0F97-3EB6EB5DC4AD}"/>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41" name="Rectangle 40">
                  <a:extLst>
                    <a:ext uri="{FF2B5EF4-FFF2-40B4-BE49-F238E27FC236}">
                      <a16:creationId xmlns:a16="http://schemas.microsoft.com/office/drawing/2014/main" id="{9B875D04-ECAD-DA0A-F8BD-36E7E0E46C3B}"/>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pic>
          <p:nvPicPr>
            <p:cNvPr id="29" name="Picture 2" descr="Tombstone Graphic by Lowkey21 · Creative Fabrica">
              <a:extLst>
                <a:ext uri="{FF2B5EF4-FFF2-40B4-BE49-F238E27FC236}">
                  <a16:creationId xmlns:a16="http://schemas.microsoft.com/office/drawing/2014/main" id="{CF584FA7-0070-6E40-7FA7-4BA779C84DE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682" t="13451" r="15903" b="12240"/>
            <a:stretch/>
          </p:blipFill>
          <p:spPr bwMode="auto">
            <a:xfrm>
              <a:off x="5515827" y="5640183"/>
              <a:ext cx="510106" cy="3808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486664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Linear Probing + Tombstone: Insert</a:t>
            </a:r>
          </a:p>
        </p:txBody>
      </p:sp>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To insert </a:t>
            </a:r>
            <a:r>
              <a:rPr lang="en-US" dirty="0" err="1">
                <a:latin typeface="Consolas" panose="020B0609020204030204" pitchFamily="49" charset="0"/>
              </a:rPr>
              <a:t>k,v</a:t>
            </a:r>
            <a:endParaRPr lang="en-US" dirty="0">
              <a:latin typeface="Consolas" panose="020B0609020204030204" pitchFamily="49" charset="0"/>
            </a:endParaRP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p>
          <a:p>
            <a:pPr lvl="1"/>
            <a:r>
              <a:rPr lang="en-US" dirty="0"/>
              <a:t>While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has a key other than </a:t>
            </a:r>
            <a:r>
              <a:rPr lang="en-US" dirty="0">
                <a:latin typeface="Consolas" panose="020B0609020204030204" pitchFamily="49" charset="0"/>
              </a:rPr>
              <a:t>k</a:t>
            </a:r>
            <a:r>
              <a:rPr lang="en-US" dirty="0"/>
              <a:t>, set </a:t>
            </a:r>
            <a:r>
              <a:rPr lang="en-US" dirty="0" err="1">
                <a:latin typeface="Consolas" panose="020B0609020204030204" pitchFamily="49" charset="0"/>
              </a:rPr>
              <a:t>i</a:t>
            </a:r>
            <a:r>
              <a:rPr lang="en-US" dirty="0">
                <a:latin typeface="Consolas" panose="020B0609020204030204" pitchFamily="49" charset="0"/>
              </a:rPr>
              <a:t> = (i+1) % </a:t>
            </a:r>
            <a:r>
              <a:rPr lang="en-US" dirty="0" err="1">
                <a:latin typeface="Consolas" panose="020B0609020204030204" pitchFamily="49" charset="0"/>
              </a:rPr>
              <a:t>table.length</a:t>
            </a:r>
            <a:endParaRPr lang="en-US" dirty="0">
              <a:latin typeface="Consolas" panose="020B0609020204030204" pitchFamily="49" charset="0"/>
            </a:endParaRPr>
          </a:p>
          <a:p>
            <a:pPr lvl="2"/>
            <a:r>
              <a:rPr lang="en-US" dirty="0"/>
              <a:t>If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has a tombstone, set </a:t>
            </a:r>
            <a:r>
              <a:rPr lang="en-US" dirty="0" err="1">
                <a:latin typeface="Consolas" panose="020B0609020204030204" pitchFamily="49" charset="0"/>
              </a:rPr>
              <a:t>dest</a:t>
            </a:r>
            <a:r>
              <a:rPr lang="en-US" dirty="0">
                <a:latin typeface="Consolas" panose="020B0609020204030204" pitchFamily="49" charset="0"/>
              </a:rPr>
              <a:t> = </a:t>
            </a:r>
            <a:r>
              <a:rPr lang="en-US" dirty="0" err="1">
                <a:latin typeface="Consolas" panose="020B0609020204030204" pitchFamily="49" charset="0"/>
              </a:rPr>
              <a:t>i</a:t>
            </a:r>
            <a:endParaRPr lang="en-US" b="0" dirty="0">
              <a:latin typeface="Consolas" panose="020B0609020204030204" pitchFamily="49" charset="0"/>
            </a:endParaRPr>
          </a:p>
          <a:p>
            <a:pPr lvl="3"/>
            <a:r>
              <a:rPr lang="en-US" dirty="0"/>
              <a:t>That is where we will insert if the find is unsuccessful</a:t>
            </a:r>
          </a:p>
          <a:p>
            <a:pPr lvl="2"/>
            <a:r>
              <a:rPr lang="en-US" dirty="0"/>
              <a:t>If you come across </a:t>
            </a:r>
            <a:r>
              <a:rPr lang="en-US" dirty="0">
                <a:latin typeface="Consolas" panose="020B0609020204030204" pitchFamily="49" charset="0"/>
              </a:rPr>
              <a:t>k</a:t>
            </a:r>
            <a:r>
              <a:rPr lang="en-US" dirty="0"/>
              <a:t>, set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 = </a:t>
            </a:r>
            <a:r>
              <a:rPr lang="en-US" dirty="0" err="1">
                <a:latin typeface="Consolas" panose="020B0609020204030204" pitchFamily="49" charset="0"/>
              </a:rPr>
              <a:t>k,v</a:t>
            </a:r>
            <a:endParaRPr lang="en-US" dirty="0">
              <a:latin typeface="Consolas" panose="020B0609020204030204" pitchFamily="49" charset="0"/>
            </a:endParaRPr>
          </a:p>
          <a:p>
            <a:pPr lvl="2"/>
            <a:r>
              <a:rPr lang="en-US" dirty="0"/>
              <a:t>If you come across an empty index, the find was unsuccessful</a:t>
            </a:r>
          </a:p>
          <a:p>
            <a:pPr lvl="3"/>
            <a:r>
              <a:rPr lang="en-US" dirty="0"/>
              <a:t>Set </a:t>
            </a:r>
            <a:r>
              <a:rPr lang="en-US" dirty="0">
                <a:latin typeface="Consolas" panose="020B0609020204030204" pitchFamily="49" charset="0"/>
              </a:rPr>
              <a:t>table[x] = </a:t>
            </a:r>
            <a:r>
              <a:rPr lang="en-US" dirty="0" err="1">
                <a:latin typeface="Consolas" panose="020B0609020204030204" pitchFamily="49" charset="0"/>
              </a:rPr>
              <a:t>k,v</a:t>
            </a:r>
            <a:r>
              <a:rPr lang="en-US" dirty="0"/>
              <a:t> if we saw a tombstone</a:t>
            </a:r>
          </a:p>
          <a:p>
            <a:pPr lvl="2"/>
            <a:r>
              <a:rPr lang="en-US" dirty="0"/>
              <a:t>Set </a:t>
            </a:r>
            <a:r>
              <a:rPr lang="en-US" dirty="0">
                <a:latin typeface="Consolas" panose="020B0609020204030204" pitchFamily="49" charset="0"/>
              </a:rPr>
              <a:t>table[x] = </a:t>
            </a:r>
            <a:r>
              <a:rPr lang="en-US" dirty="0" err="1">
                <a:latin typeface="Consolas" panose="020B0609020204030204" pitchFamily="49" charset="0"/>
              </a:rPr>
              <a:t>k,v</a:t>
            </a:r>
            <a:r>
              <a:rPr lang="en-US" dirty="0"/>
              <a:t> otherwise</a:t>
            </a:r>
          </a:p>
        </p:txBody>
      </p:sp>
      <p:grpSp>
        <p:nvGrpSpPr>
          <p:cNvPr id="52" name="Group 51" descr="A hash table with a tombstone. Its contents are as follows (for each pair the first element is the key and the second is the value):&#10;&#10;Index 0: k1, v1&#10;Index 2: k2,v2&#10;Index 3: k3, v3&#10;Index 4: tombstone&#10;Index 5: k4, v4&#10;All other indices are empty&#10;&#10;Supposing we do an insert on a new key k which maps to index 2. In this case we will need to check index 2, index 3, index 4 (which contains the tombstone), index 5, and then can conclude the key is not already present. The new key-value pair will then be added at index 4, replacing the tombstone.">
            <a:extLst>
              <a:ext uri="{FF2B5EF4-FFF2-40B4-BE49-F238E27FC236}">
                <a16:creationId xmlns:a16="http://schemas.microsoft.com/office/drawing/2014/main" id="{4FBD874A-F45D-3FB5-EED7-5548DA2EF994}"/>
              </a:ext>
            </a:extLst>
          </p:cNvPr>
          <p:cNvGrpSpPr/>
          <p:nvPr/>
        </p:nvGrpSpPr>
        <p:grpSpPr>
          <a:xfrm>
            <a:off x="2895600" y="5467983"/>
            <a:ext cx="6400800" cy="1097280"/>
            <a:chOff x="2895600" y="5467983"/>
            <a:chExt cx="6400800" cy="1097280"/>
          </a:xfrm>
        </p:grpSpPr>
        <p:grpSp>
          <p:nvGrpSpPr>
            <p:cNvPr id="53" name="Group 52">
              <a:extLst>
                <a:ext uri="{FF2B5EF4-FFF2-40B4-BE49-F238E27FC236}">
                  <a16:creationId xmlns:a16="http://schemas.microsoft.com/office/drawing/2014/main" id="{FCA24555-DC6F-9F47-C438-D2193716322E}"/>
                </a:ext>
              </a:extLst>
            </p:cNvPr>
            <p:cNvGrpSpPr/>
            <p:nvPr/>
          </p:nvGrpSpPr>
          <p:grpSpPr>
            <a:xfrm>
              <a:off x="2895600" y="5467983"/>
              <a:ext cx="6400800" cy="1097280"/>
              <a:chOff x="4953000" y="660717"/>
              <a:chExt cx="6400800" cy="1097280"/>
            </a:xfrm>
          </p:grpSpPr>
          <p:grpSp>
            <p:nvGrpSpPr>
              <p:cNvPr id="55" name="Group 54">
                <a:extLst>
                  <a:ext uri="{FF2B5EF4-FFF2-40B4-BE49-F238E27FC236}">
                    <a16:creationId xmlns:a16="http://schemas.microsoft.com/office/drawing/2014/main" id="{FEA72BE6-8063-3C34-3C24-D4A5E4EE6F00}"/>
                  </a:ext>
                </a:extLst>
              </p:cNvPr>
              <p:cNvGrpSpPr/>
              <p:nvPr/>
            </p:nvGrpSpPr>
            <p:grpSpPr>
              <a:xfrm>
                <a:off x="4953000" y="660717"/>
                <a:ext cx="6400800" cy="640080"/>
                <a:chOff x="2252980" y="5083048"/>
                <a:chExt cx="6400800" cy="640080"/>
              </a:xfrm>
            </p:grpSpPr>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8E5E0B5A-52FD-6423-81E7-B32D3FCF8CE7}"/>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1</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67" name="Rectangle 66">
                      <a:extLst>
                        <a:ext uri="{FF2B5EF4-FFF2-40B4-BE49-F238E27FC236}">
                          <a16:creationId xmlns:a16="http://schemas.microsoft.com/office/drawing/2014/main" id="{8E5E0B5A-52FD-6423-81E7-B32D3FCF8CE7}"/>
                        </a:ext>
                      </a:extLst>
                    </p:cNvPr>
                    <p:cNvSpPr>
                      <a:spLocks noRot="1" noChangeAspect="1" noMove="1" noResize="1" noEditPoints="1" noAdjustHandles="1" noChangeArrowheads="1" noChangeShapeType="1" noTextEdit="1"/>
                    </p:cNvSpPr>
                    <p:nvPr/>
                  </p:nvSpPr>
                  <p:spPr>
                    <a:xfrm>
                      <a:off x="2252980" y="5083048"/>
                      <a:ext cx="640080" cy="640080"/>
                    </a:xfrm>
                    <a:prstGeom prst="rect">
                      <a:avLst/>
                    </a:prstGeom>
                    <a:blipFill>
                      <a:blip r:embed="rId2"/>
                      <a:stretch>
                        <a:fillRect l="-8411"/>
                      </a:stretch>
                    </a:blipFill>
                  </p:spPr>
                  <p:txBody>
                    <a:bodyPr/>
                    <a:lstStyle/>
                    <a:p>
                      <a:r>
                        <a:rPr lang="en-US">
                          <a:noFill/>
                        </a:rPr>
                        <a:t> </a:t>
                      </a:r>
                    </a:p>
                  </p:txBody>
                </p:sp>
              </mc:Fallback>
            </mc:AlternateContent>
            <p:sp>
              <p:nvSpPr>
                <p:cNvPr id="68" name="Rectangle 67">
                  <a:extLst>
                    <a:ext uri="{FF2B5EF4-FFF2-40B4-BE49-F238E27FC236}">
                      <a16:creationId xmlns:a16="http://schemas.microsoft.com/office/drawing/2014/main" id="{B4FC1C40-8AD3-A17A-B895-F9E93E6FDC81}"/>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69" name="Rectangle 68">
                      <a:extLst>
                        <a:ext uri="{FF2B5EF4-FFF2-40B4-BE49-F238E27FC236}">
                          <a16:creationId xmlns:a16="http://schemas.microsoft.com/office/drawing/2014/main" id="{8141E5FC-1D98-DC12-60E4-6A7319128001}"/>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2</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xmlns="">
                <p:sp>
                  <p:nvSpPr>
                    <p:cNvPr id="69" name="Rectangle 68">
                      <a:extLst>
                        <a:ext uri="{FF2B5EF4-FFF2-40B4-BE49-F238E27FC236}">
                          <a16:creationId xmlns:a16="http://schemas.microsoft.com/office/drawing/2014/main" id="{8141E5FC-1D98-DC12-60E4-6A7319128001}"/>
                        </a:ext>
                      </a:extLst>
                    </p:cNvPr>
                    <p:cNvSpPr>
                      <a:spLocks noRot="1" noChangeAspect="1" noMove="1" noResize="1" noEditPoints="1" noAdjustHandles="1" noChangeArrowheads="1" noChangeShapeType="1" noTextEdit="1"/>
                    </p:cNvSpPr>
                    <p:nvPr/>
                  </p:nvSpPr>
                  <p:spPr>
                    <a:xfrm>
                      <a:off x="3533140" y="5083048"/>
                      <a:ext cx="640080" cy="640080"/>
                    </a:xfrm>
                    <a:prstGeom prst="rect">
                      <a:avLst/>
                    </a:prstGeom>
                    <a:blipFill>
                      <a:blip r:embed="rId3"/>
                      <a:stretch>
                        <a:fillRect l="-93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D8ACACD4-4231-E6C1-1086-B4A0FB4F9C65}"/>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3</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xmlns="">
                <p:sp>
                  <p:nvSpPr>
                    <p:cNvPr id="70" name="Rectangle 69">
                      <a:extLst>
                        <a:ext uri="{FF2B5EF4-FFF2-40B4-BE49-F238E27FC236}">
                          <a16:creationId xmlns:a16="http://schemas.microsoft.com/office/drawing/2014/main" id="{D8ACACD4-4231-E6C1-1086-B4A0FB4F9C65}"/>
                        </a:ext>
                      </a:extLst>
                    </p:cNvPr>
                    <p:cNvSpPr>
                      <a:spLocks noRot="1" noChangeAspect="1" noMove="1" noResize="1" noEditPoints="1" noAdjustHandles="1" noChangeArrowheads="1" noChangeShapeType="1" noTextEdit="1"/>
                    </p:cNvSpPr>
                    <p:nvPr/>
                  </p:nvSpPr>
                  <p:spPr>
                    <a:xfrm>
                      <a:off x="4173220" y="5083048"/>
                      <a:ext cx="640080" cy="640080"/>
                    </a:xfrm>
                    <a:prstGeom prst="rect">
                      <a:avLst/>
                    </a:prstGeom>
                    <a:blipFill>
                      <a:blip r:embed="rId4"/>
                      <a:stretch>
                        <a:fillRect l="-9346"/>
                      </a:stretch>
                    </a:blipFill>
                  </p:spPr>
                  <p:txBody>
                    <a:bodyPr/>
                    <a:lstStyle/>
                    <a:p>
                      <a:r>
                        <a:rPr lang="en-US">
                          <a:noFill/>
                        </a:rPr>
                        <a:t> </a:t>
                      </a:r>
                    </a:p>
                  </p:txBody>
                </p:sp>
              </mc:Fallback>
            </mc:AlternateContent>
            <p:sp>
              <p:nvSpPr>
                <p:cNvPr id="71" name="Rectangle 70">
                  <a:extLst>
                    <a:ext uri="{FF2B5EF4-FFF2-40B4-BE49-F238E27FC236}">
                      <a16:creationId xmlns:a16="http://schemas.microsoft.com/office/drawing/2014/main" id="{FABCCAC9-F36B-A1BA-667A-78802FFF6C6E}"/>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2BE99131-A086-2B36-648D-2F8AC6D2F7E9}"/>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𝑘</m:t>
                                </m:r>
                              </m:e>
                              <m:sub>
                                <m:r>
                                  <a:rPr lang="en-US" b="0" i="1" smtClean="0">
                                    <a:solidFill>
                                      <a:schemeClr val="tx1"/>
                                    </a:solidFill>
                                    <a:latin typeface="Cambria Math" panose="02040503050406030204" pitchFamily="18" charset="0"/>
                                  </a:rPr>
                                  <m:t>4</m:t>
                                </m:r>
                              </m:sub>
                            </m:sSub>
                            <m:r>
                              <a:rPr lang="en-US" b="0" i="1" smtClean="0">
                                <a:solidFill>
                                  <a:schemeClr val="tx1"/>
                                </a:solidFill>
                                <a:latin typeface="Cambria Math" panose="02040503050406030204" pitchFamily="18" charset="0"/>
                              </a:rPr>
                              <m:t>,</m:t>
                            </m:r>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𝑣</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xmlns="">
                <p:sp>
                  <p:nvSpPr>
                    <p:cNvPr id="72" name="Rectangle 71">
                      <a:extLst>
                        <a:ext uri="{FF2B5EF4-FFF2-40B4-BE49-F238E27FC236}">
                          <a16:creationId xmlns:a16="http://schemas.microsoft.com/office/drawing/2014/main" id="{2BE99131-A086-2B36-648D-2F8AC6D2F7E9}"/>
                        </a:ext>
                      </a:extLst>
                    </p:cNvPr>
                    <p:cNvSpPr>
                      <a:spLocks noRot="1" noChangeAspect="1" noMove="1" noResize="1" noEditPoints="1" noAdjustHandles="1" noChangeArrowheads="1" noChangeShapeType="1" noTextEdit="1"/>
                    </p:cNvSpPr>
                    <p:nvPr/>
                  </p:nvSpPr>
                  <p:spPr>
                    <a:xfrm>
                      <a:off x="5453380" y="5083048"/>
                      <a:ext cx="640080" cy="640080"/>
                    </a:xfrm>
                    <a:prstGeom prst="rect">
                      <a:avLst/>
                    </a:prstGeom>
                    <a:blipFill>
                      <a:blip r:embed="rId5"/>
                      <a:stretch>
                        <a:fillRect l="-8411"/>
                      </a:stretch>
                    </a:blipFill>
                  </p:spPr>
                  <p:txBody>
                    <a:bodyPr/>
                    <a:lstStyle/>
                    <a:p>
                      <a:r>
                        <a:rPr lang="en-US">
                          <a:noFill/>
                        </a:rPr>
                        <a:t> </a:t>
                      </a:r>
                    </a:p>
                  </p:txBody>
                </p:sp>
              </mc:Fallback>
            </mc:AlternateContent>
            <p:sp>
              <p:nvSpPr>
                <p:cNvPr id="73" name="Rectangle 72">
                  <a:extLst>
                    <a:ext uri="{FF2B5EF4-FFF2-40B4-BE49-F238E27FC236}">
                      <a16:creationId xmlns:a16="http://schemas.microsoft.com/office/drawing/2014/main" id="{D23AD1D0-2779-76DE-762C-E62A781C27A0}"/>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4" name="Rectangle 73">
                  <a:extLst>
                    <a:ext uri="{FF2B5EF4-FFF2-40B4-BE49-F238E27FC236}">
                      <a16:creationId xmlns:a16="http://schemas.microsoft.com/office/drawing/2014/main" id="{443002A0-8B12-348E-CA47-F1274759CBAA}"/>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5" name="Rectangle 74">
                  <a:extLst>
                    <a:ext uri="{FF2B5EF4-FFF2-40B4-BE49-F238E27FC236}">
                      <a16:creationId xmlns:a16="http://schemas.microsoft.com/office/drawing/2014/main" id="{47B5A1A1-85A3-E02C-0468-F04A20E88D70}"/>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6" name="Rectangle 75">
                  <a:extLst>
                    <a:ext uri="{FF2B5EF4-FFF2-40B4-BE49-F238E27FC236}">
                      <a16:creationId xmlns:a16="http://schemas.microsoft.com/office/drawing/2014/main" id="{820AFF44-7D99-FD98-034E-A50A6F192902}"/>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56" name="Group 55">
                <a:extLst>
                  <a:ext uri="{FF2B5EF4-FFF2-40B4-BE49-F238E27FC236}">
                    <a16:creationId xmlns:a16="http://schemas.microsoft.com/office/drawing/2014/main" id="{00EA210E-A610-EC71-019C-C68C26505630}"/>
                  </a:ext>
                </a:extLst>
              </p:cNvPr>
              <p:cNvGrpSpPr/>
              <p:nvPr/>
            </p:nvGrpSpPr>
            <p:grpSpPr>
              <a:xfrm>
                <a:off x="4953000" y="1117917"/>
                <a:ext cx="6400800" cy="640080"/>
                <a:chOff x="2252980" y="5083048"/>
                <a:chExt cx="6400800" cy="640080"/>
              </a:xfrm>
              <a:noFill/>
            </p:grpSpPr>
            <p:sp>
              <p:nvSpPr>
                <p:cNvPr id="57" name="Rectangle 56">
                  <a:extLst>
                    <a:ext uri="{FF2B5EF4-FFF2-40B4-BE49-F238E27FC236}">
                      <a16:creationId xmlns:a16="http://schemas.microsoft.com/office/drawing/2014/main" id="{1BC9CABD-A5AD-23B4-7543-FEE882A88D8D}"/>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58" name="Rectangle 57">
                  <a:extLst>
                    <a:ext uri="{FF2B5EF4-FFF2-40B4-BE49-F238E27FC236}">
                      <a16:creationId xmlns:a16="http://schemas.microsoft.com/office/drawing/2014/main" id="{70013DAA-466F-0FCA-8CC7-29B12DD45633}"/>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59" name="Rectangle 58">
                  <a:extLst>
                    <a:ext uri="{FF2B5EF4-FFF2-40B4-BE49-F238E27FC236}">
                      <a16:creationId xmlns:a16="http://schemas.microsoft.com/office/drawing/2014/main" id="{5874873E-7B28-2871-B6D5-5CD86143A42F}"/>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60" name="Rectangle 59">
                  <a:extLst>
                    <a:ext uri="{FF2B5EF4-FFF2-40B4-BE49-F238E27FC236}">
                      <a16:creationId xmlns:a16="http://schemas.microsoft.com/office/drawing/2014/main" id="{67D84E82-933E-823D-4E31-030CCF0CD267}"/>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61" name="Rectangle 60">
                  <a:extLst>
                    <a:ext uri="{FF2B5EF4-FFF2-40B4-BE49-F238E27FC236}">
                      <a16:creationId xmlns:a16="http://schemas.microsoft.com/office/drawing/2014/main" id="{21F2F06C-D463-6964-8C0C-2864D213D64F}"/>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62" name="Rectangle 61">
                  <a:extLst>
                    <a:ext uri="{FF2B5EF4-FFF2-40B4-BE49-F238E27FC236}">
                      <a16:creationId xmlns:a16="http://schemas.microsoft.com/office/drawing/2014/main" id="{B7BB9DB0-34E6-88C3-31F4-46A9A73C7EA6}"/>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63" name="Rectangle 62">
                  <a:extLst>
                    <a:ext uri="{FF2B5EF4-FFF2-40B4-BE49-F238E27FC236}">
                      <a16:creationId xmlns:a16="http://schemas.microsoft.com/office/drawing/2014/main" id="{61FB43B4-6CAE-DB5D-BE33-1E332A8C4988}"/>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64" name="Rectangle 63">
                  <a:extLst>
                    <a:ext uri="{FF2B5EF4-FFF2-40B4-BE49-F238E27FC236}">
                      <a16:creationId xmlns:a16="http://schemas.microsoft.com/office/drawing/2014/main" id="{682C96ED-631A-C62A-E2CC-08988EA05557}"/>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65" name="Rectangle 64">
                  <a:extLst>
                    <a:ext uri="{FF2B5EF4-FFF2-40B4-BE49-F238E27FC236}">
                      <a16:creationId xmlns:a16="http://schemas.microsoft.com/office/drawing/2014/main" id="{98324CC0-B7CB-6590-1138-B30A81B6A397}"/>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66" name="Rectangle 65">
                  <a:extLst>
                    <a:ext uri="{FF2B5EF4-FFF2-40B4-BE49-F238E27FC236}">
                      <a16:creationId xmlns:a16="http://schemas.microsoft.com/office/drawing/2014/main" id="{5A2629E3-C645-DCD7-D045-C975EEBA6BD9}"/>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pic>
          <p:nvPicPr>
            <p:cNvPr id="54" name="Picture 2" descr="Tombstone Graphic by Lowkey21 · Creative Fabrica">
              <a:extLst>
                <a:ext uri="{FF2B5EF4-FFF2-40B4-BE49-F238E27FC236}">
                  <a16:creationId xmlns:a16="http://schemas.microsoft.com/office/drawing/2014/main" id="{9A8BBA4D-2C28-2FCA-1BE7-BF9850028A0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682" t="13451" r="15903" b="12240"/>
            <a:stretch/>
          </p:blipFill>
          <p:spPr bwMode="auto">
            <a:xfrm>
              <a:off x="5515827" y="5640183"/>
              <a:ext cx="510106" cy="3808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104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DBF2-63C9-8594-E37F-13EE9BA0ACCA}"/>
              </a:ext>
            </a:extLst>
          </p:cNvPr>
          <p:cNvSpPr>
            <a:spLocks noGrp="1"/>
          </p:cNvSpPr>
          <p:nvPr>
            <p:ph type="title"/>
          </p:nvPr>
        </p:nvSpPr>
        <p:spPr/>
        <p:txBody>
          <a:bodyPr/>
          <a:lstStyle/>
          <a:p>
            <a:r>
              <a:rPr lang="en-US" dirty="0"/>
              <a:t>Downsides of Linear Probing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E0D9F20-503B-1CC5-FAAD-15F079F00C56}"/>
                  </a:ext>
                </a:extLst>
              </p:cNvPr>
              <p:cNvSpPr>
                <a:spLocks noGrp="1"/>
              </p:cNvSpPr>
              <p:nvPr>
                <p:ph idx="1"/>
              </p:nvPr>
            </p:nvSpPr>
            <p:spPr/>
            <p:txBody>
              <a:bodyPr/>
              <a:lstStyle/>
              <a:p>
                <a:r>
                  <a:rPr lang="en-US" dirty="0"/>
                  <a:t>What happens when </a:t>
                </a:r>
                <a14:m>
                  <m:oMath xmlns:m="http://schemas.openxmlformats.org/officeDocument/2006/math">
                    <m:r>
                      <a:rPr lang="en-US" b="0" i="1" smtClean="0">
                        <a:latin typeface="Cambria Math" panose="02040503050406030204" pitchFamily="18" charset="0"/>
                      </a:rPr>
                      <m:t>𝜆</m:t>
                    </m:r>
                  </m:oMath>
                </a14:m>
                <a:r>
                  <a:rPr lang="en-US" dirty="0"/>
                  <a:t> approaches 1?</a:t>
                </a:r>
              </a:p>
              <a:p>
                <a:pPr lvl="1"/>
                <a:r>
                  <a:rPr lang="en-US" dirty="0"/>
                  <a:t>Get longer and longer contiguous blocks</a:t>
                </a:r>
              </a:p>
              <a:p>
                <a:pPr lvl="1"/>
                <a:r>
                  <a:rPr lang="en-US" dirty="0"/>
                  <a:t>A collision is guaranteed to grow a block</a:t>
                </a:r>
              </a:p>
              <a:p>
                <a:pPr lvl="2"/>
                <a:r>
                  <a:rPr lang="en-US" dirty="0"/>
                  <a:t>Larger blocks experience more collisions</a:t>
                </a:r>
              </a:p>
              <a:p>
                <a:pPr lvl="2"/>
                <a:r>
                  <a:rPr lang="en-US" dirty="0"/>
                  <a:t>Feedback loop!</a:t>
                </a:r>
              </a:p>
              <a:p>
                <a:r>
                  <a:rPr lang="en-US" dirty="0"/>
                  <a:t>What happens when </a:t>
                </a:r>
                <a14:m>
                  <m:oMath xmlns:m="http://schemas.openxmlformats.org/officeDocument/2006/math">
                    <m:r>
                      <a:rPr lang="en-US" b="0" i="1" smtClean="0">
                        <a:latin typeface="Cambria Math" panose="02040503050406030204" pitchFamily="18" charset="0"/>
                      </a:rPr>
                      <m:t>𝜆</m:t>
                    </m:r>
                  </m:oMath>
                </a14:m>
                <a:r>
                  <a:rPr lang="en-US" dirty="0"/>
                  <a:t> exceeds 1?</a:t>
                </a:r>
              </a:p>
              <a:p>
                <a:pPr lvl="1"/>
                <a:r>
                  <a:rPr lang="en-US" dirty="0"/>
                  <a:t>Impossible!</a:t>
                </a:r>
              </a:p>
              <a:p>
                <a:pPr lvl="1"/>
                <a:r>
                  <a:rPr lang="en-US" dirty="0"/>
                  <a:t>You can’t insert more stuff</a:t>
                </a:r>
              </a:p>
            </p:txBody>
          </p:sp>
        </mc:Choice>
        <mc:Fallback xmlns="">
          <p:sp>
            <p:nvSpPr>
              <p:cNvPr id="3" name="Content Placeholder 2">
                <a:extLst>
                  <a:ext uri="{FF2B5EF4-FFF2-40B4-BE49-F238E27FC236}">
                    <a16:creationId xmlns:a16="http://schemas.microsoft.com/office/drawing/2014/main" id="{9E0D9F20-503B-1CC5-FAAD-15F079F00C5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265110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Quadratic Probing: Insert Procedure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To insert </a:t>
                </a:r>
                <a:r>
                  <a:rPr lang="en-US" dirty="0" err="1">
                    <a:latin typeface="Consolas" panose="020B0609020204030204" pitchFamily="49" charset="0"/>
                  </a:rPr>
                  <a:t>k,v</a:t>
                </a:r>
                <a:endParaRPr lang="en-US" dirty="0">
                  <a:latin typeface="Consolas" panose="020B0609020204030204" pitchFamily="49" charset="0"/>
                </a:endParaRP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is occupied then try </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e>
                      <m:sup>
                        <m:r>
                          <a:rPr lang="en-US" b="0" i="1" smtClean="0">
                            <a:latin typeface="Cambria Math" panose="02040503050406030204" pitchFamily="18" charset="0"/>
                          </a:rPr>
                          <m:t>2</m:t>
                        </m:r>
                      </m:sup>
                    </m:sSup>
                  </m:oMath>
                </a14:m>
                <a:r>
                  <a:rPr lang="en-US" dirty="0">
                    <a:latin typeface="Consolas" panose="020B0609020204030204" pitchFamily="49" charset="0"/>
                  </a:rPr>
                  <a:t>)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that is occupied try</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2</m:t>
                        </m:r>
                      </m:e>
                      <m:sup>
                        <m:r>
                          <a:rPr lang="en-US" i="1">
                            <a:latin typeface="Cambria Math" panose="02040503050406030204" pitchFamily="18" charset="0"/>
                          </a:rPr>
                          <m:t>2</m:t>
                        </m:r>
                      </m:sup>
                    </m:sSup>
                  </m:oMath>
                </a14:m>
                <a:r>
                  <a:rPr lang="en-US" dirty="0">
                    <a:latin typeface="Consolas" panose="020B0609020204030204" pitchFamily="49" charset="0"/>
                  </a:rPr>
                  <a:t>) % </a:t>
                </a:r>
                <a:r>
                  <a:rPr lang="en-US" dirty="0" err="1">
                    <a:latin typeface="Consolas" panose="020B0609020204030204" pitchFamily="49" charset="0"/>
                  </a:rPr>
                  <a:t>table.length</a:t>
                </a:r>
                <a:endParaRPr lang="en-US" dirty="0"/>
              </a:p>
              <a:p>
                <a:pPr lvl="1"/>
                <a:r>
                  <a:rPr lang="en-US" dirty="0"/>
                  <a:t>If that is occupied try</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3</m:t>
                        </m:r>
                      </m:e>
                      <m:sup>
                        <m:r>
                          <a:rPr lang="en-US" i="1">
                            <a:latin typeface="Cambria Math" panose="02040503050406030204" pitchFamily="18" charset="0"/>
                          </a:rPr>
                          <m:t>2</m:t>
                        </m:r>
                      </m:sup>
                    </m:sSup>
                  </m:oMath>
                </a14:m>
                <a:r>
                  <a:rPr lang="en-US" dirty="0">
                    <a:latin typeface="Consolas" panose="020B0609020204030204" pitchFamily="49" charset="0"/>
                  </a:rPr>
                  <a:t>) % </a:t>
                </a:r>
                <a:r>
                  <a:rPr lang="en-US" dirty="0" err="1">
                    <a:latin typeface="Consolas" panose="020B0609020204030204" pitchFamily="49" charset="0"/>
                  </a:rPr>
                  <a:t>table.length</a:t>
                </a:r>
                <a:endParaRPr lang="en-US" b="0" dirty="0"/>
              </a:p>
              <a:p>
                <a:pPr lvl="1"/>
                <a:r>
                  <a:rPr lang="en-US" dirty="0"/>
                  <a:t>If that is occupied try</a:t>
                </a:r>
                <a:r>
                  <a:rPr lang="en-US" dirty="0">
                    <a:latin typeface="Consolas" panose="020B0609020204030204" pitchFamily="49" charset="0"/>
                  </a:rPr>
                  <a:t>(</a:t>
                </a:r>
                <a:r>
                  <a:rPr lang="en-US" dirty="0" err="1">
                    <a:latin typeface="Consolas" panose="020B0609020204030204" pitchFamily="49" charset="0"/>
                  </a:rPr>
                  <a:t>i</a:t>
                </a:r>
                <a:r>
                  <a:rPr lang="en-US" dirty="0">
                    <a:latin typeface="Consolas" panose="020B0609020204030204" pitchFamily="49" charset="0"/>
                  </a:rPr>
                  <a:t>+</a:t>
                </a:r>
                <a14:m>
                  <m:oMath xmlns:m="http://schemas.openxmlformats.org/officeDocument/2006/math">
                    <m:sSup>
                      <m:sSupPr>
                        <m:ctrlPr>
                          <a:rPr lang="en-US" i="1">
                            <a:latin typeface="Cambria Math" panose="02040503050406030204" pitchFamily="18" charset="0"/>
                          </a:rPr>
                        </m:ctrlPr>
                      </m:sSupPr>
                      <m:e>
                        <m:r>
                          <a:rPr lang="en-US" b="0" i="1" smtClean="0">
                            <a:latin typeface="Cambria Math" panose="02040503050406030204" pitchFamily="18" charset="0"/>
                          </a:rPr>
                          <m:t>4</m:t>
                        </m:r>
                      </m:e>
                      <m:sup>
                        <m:r>
                          <a:rPr lang="en-US" i="1">
                            <a:latin typeface="Cambria Math" panose="02040503050406030204" pitchFamily="18" charset="0"/>
                          </a:rPr>
                          <m:t>2</m:t>
                        </m:r>
                      </m:sup>
                    </m:sSup>
                  </m:oMath>
                </a14:m>
                <a:r>
                  <a:rPr lang="en-US" dirty="0">
                    <a:latin typeface="Consolas" panose="020B0609020204030204" pitchFamily="49" charset="0"/>
                  </a:rPr>
                  <a:t>) % </a:t>
                </a:r>
                <a:r>
                  <a:rPr lang="en-US" dirty="0" err="1">
                    <a:latin typeface="Consolas" panose="020B0609020204030204" pitchFamily="49" charset="0"/>
                  </a:rPr>
                  <a:t>table.length</a:t>
                </a:r>
                <a:endParaRPr lang="en-US" dirty="0"/>
              </a:p>
              <a:p>
                <a:pPr lvl="1"/>
                <a:r>
                  <a:rPr lang="en-US" dirty="0"/>
                  <a:t>…</a:t>
                </a:r>
              </a:p>
            </p:txBody>
          </p:sp>
        </mc:Choice>
        <mc:Fallback xmlns="">
          <p:sp>
            <p:nvSpPr>
              <p:cNvPr id="3" name="Content Placeholder 2">
                <a:extLst>
                  <a:ext uri="{FF2B5EF4-FFF2-40B4-BE49-F238E27FC236}">
                    <a16:creationId xmlns:a16="http://schemas.microsoft.com/office/drawing/2014/main" id="{6CBEF850-0680-6520-62A9-DA71336F124F}"/>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grpSp>
        <p:nvGrpSpPr>
          <p:cNvPr id="27" name="Group 26" descr="An empty hash table of size 10">
            <a:extLst>
              <a:ext uri="{FF2B5EF4-FFF2-40B4-BE49-F238E27FC236}">
                <a16:creationId xmlns:a16="http://schemas.microsoft.com/office/drawing/2014/main" id="{756D933F-0667-60C4-43AB-754CAECD7250}"/>
              </a:ext>
            </a:extLst>
          </p:cNvPr>
          <p:cNvGrpSpPr/>
          <p:nvPr/>
        </p:nvGrpSpPr>
        <p:grpSpPr>
          <a:xfrm>
            <a:off x="2895600" y="5467983"/>
            <a:ext cx="6400800" cy="1097280"/>
            <a:chOff x="4953000" y="660717"/>
            <a:chExt cx="6400800" cy="1097280"/>
          </a:xfrm>
        </p:grpSpPr>
        <p:grpSp>
          <p:nvGrpSpPr>
            <p:cNvPr id="28" name="Group 27">
              <a:extLst>
                <a:ext uri="{FF2B5EF4-FFF2-40B4-BE49-F238E27FC236}">
                  <a16:creationId xmlns:a16="http://schemas.microsoft.com/office/drawing/2014/main" id="{60480FFF-EE72-457D-D6E8-451CF52B6DBF}"/>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DABC9ED3-873B-8DF2-3007-E959C8B83168}"/>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EAE90EA1-5C9D-BCA0-4D28-59611B824CB7}"/>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7114CFD8-6ED4-6B89-CD55-7D3ECE4BBB1B}"/>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Rectangle 42">
                <a:extLst>
                  <a:ext uri="{FF2B5EF4-FFF2-40B4-BE49-F238E27FC236}">
                    <a16:creationId xmlns:a16="http://schemas.microsoft.com/office/drawing/2014/main" id="{204A6FF5-99E2-3235-8D90-4C2A56472FBE}"/>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Rectangle 43">
                <a:extLst>
                  <a:ext uri="{FF2B5EF4-FFF2-40B4-BE49-F238E27FC236}">
                    <a16:creationId xmlns:a16="http://schemas.microsoft.com/office/drawing/2014/main" id="{669C8311-2520-F422-D336-3AC79533A4AA}"/>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a:extLst>
                  <a:ext uri="{FF2B5EF4-FFF2-40B4-BE49-F238E27FC236}">
                    <a16:creationId xmlns:a16="http://schemas.microsoft.com/office/drawing/2014/main" id="{E05872E6-031A-5F02-B19C-D0579D7096F5}"/>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6" name="Rectangle 45">
                <a:extLst>
                  <a:ext uri="{FF2B5EF4-FFF2-40B4-BE49-F238E27FC236}">
                    <a16:creationId xmlns:a16="http://schemas.microsoft.com/office/drawing/2014/main" id="{3B2E2A78-9B2E-AE47-7510-E5FE7C17E610}"/>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7" name="Rectangle 46">
                <a:extLst>
                  <a:ext uri="{FF2B5EF4-FFF2-40B4-BE49-F238E27FC236}">
                    <a16:creationId xmlns:a16="http://schemas.microsoft.com/office/drawing/2014/main" id="{1285CFFB-A1F9-F99E-EA0A-11E2F42035E9}"/>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a:extLst>
                  <a:ext uri="{FF2B5EF4-FFF2-40B4-BE49-F238E27FC236}">
                    <a16:creationId xmlns:a16="http://schemas.microsoft.com/office/drawing/2014/main" id="{E429C629-0428-3E55-C936-39BD54E80179}"/>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61D0268D-CC06-8E7E-3906-84E45BA0095C}"/>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29" name="Group 28">
              <a:extLst>
                <a:ext uri="{FF2B5EF4-FFF2-40B4-BE49-F238E27FC236}">
                  <a16:creationId xmlns:a16="http://schemas.microsoft.com/office/drawing/2014/main" id="{A5761B6E-FB16-592A-C7AD-4268DE295EAF}"/>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3FF1A6A4-AAFC-4F06-C075-68D62F7DFE3D}"/>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906FDE66-90C0-DAC7-AFC3-2AA73A7A36D9}"/>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9474FA1B-A961-CDFE-D875-A37DA7907E87}"/>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BE171187-6023-726D-E15D-75D10F0ABEE1}"/>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6E294FDE-A886-95E6-1015-F63C67A858BE}"/>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18B94A1E-2B67-07B2-390D-ED63652DA9F4}"/>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6C8F3CEC-CCCE-0872-BC52-6A4916FF9A35}"/>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D252A52A-4A9A-67F4-9371-287AE558D215}"/>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A8C2A306-35E2-9B4E-43B7-54B828C6BCD9}"/>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7385CBDA-09D8-0C40-9F92-39B7B00B7F1D}"/>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40303465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Quadratic Probing: Example</a:t>
            </a:r>
          </a:p>
        </p:txBody>
      </p:sp>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Insert:</a:t>
            </a:r>
          </a:p>
          <a:p>
            <a:pPr lvl="1"/>
            <a:r>
              <a:rPr lang="en-US" dirty="0"/>
              <a:t>76</a:t>
            </a:r>
          </a:p>
          <a:p>
            <a:pPr lvl="1"/>
            <a:r>
              <a:rPr lang="en-US" dirty="0"/>
              <a:t>40 </a:t>
            </a:r>
          </a:p>
          <a:p>
            <a:pPr lvl="1"/>
            <a:r>
              <a:rPr lang="en-US" dirty="0"/>
              <a:t>48 </a:t>
            </a:r>
          </a:p>
          <a:p>
            <a:pPr lvl="1"/>
            <a:r>
              <a:rPr lang="en-US" dirty="0"/>
              <a:t>5 </a:t>
            </a:r>
          </a:p>
          <a:p>
            <a:pPr lvl="1"/>
            <a:r>
              <a:rPr lang="en-US" dirty="0"/>
              <a:t>55 </a:t>
            </a:r>
          </a:p>
          <a:p>
            <a:pPr lvl="1"/>
            <a:r>
              <a:rPr lang="en-US" dirty="0"/>
              <a:t>47</a:t>
            </a:r>
          </a:p>
        </p:txBody>
      </p:sp>
      <p:grpSp>
        <p:nvGrpSpPr>
          <p:cNvPr id="4" name="Group 3" descr="An empty hash table of size 7">
            <a:extLst>
              <a:ext uri="{FF2B5EF4-FFF2-40B4-BE49-F238E27FC236}">
                <a16:creationId xmlns:a16="http://schemas.microsoft.com/office/drawing/2014/main" id="{A7F5364F-88DC-3F96-2BC8-BAFA44EC14BE}"/>
              </a:ext>
            </a:extLst>
          </p:cNvPr>
          <p:cNvGrpSpPr/>
          <p:nvPr/>
        </p:nvGrpSpPr>
        <p:grpSpPr>
          <a:xfrm>
            <a:off x="2895600" y="5467983"/>
            <a:ext cx="4480560" cy="1097280"/>
            <a:chOff x="4953000" y="660717"/>
            <a:chExt cx="4480560" cy="1097280"/>
          </a:xfrm>
        </p:grpSpPr>
        <p:grpSp>
          <p:nvGrpSpPr>
            <p:cNvPr id="5" name="Group 4">
              <a:extLst>
                <a:ext uri="{FF2B5EF4-FFF2-40B4-BE49-F238E27FC236}">
                  <a16:creationId xmlns:a16="http://schemas.microsoft.com/office/drawing/2014/main" id="{784DAC70-2D02-4363-C33E-910CC23D54FE}"/>
                </a:ext>
              </a:extLst>
            </p:cNvPr>
            <p:cNvGrpSpPr/>
            <p:nvPr/>
          </p:nvGrpSpPr>
          <p:grpSpPr>
            <a:xfrm>
              <a:off x="4953000" y="660717"/>
              <a:ext cx="4480560" cy="640080"/>
              <a:chOff x="2252980" y="5083048"/>
              <a:chExt cx="4480560" cy="640080"/>
            </a:xfrm>
          </p:grpSpPr>
          <p:sp>
            <p:nvSpPr>
              <p:cNvPr id="17" name="Rectangle 16">
                <a:extLst>
                  <a:ext uri="{FF2B5EF4-FFF2-40B4-BE49-F238E27FC236}">
                    <a16:creationId xmlns:a16="http://schemas.microsoft.com/office/drawing/2014/main" id="{313EEE87-6AB8-548B-F84D-F081E8ECF76E}"/>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Rectangle 17">
                <a:extLst>
                  <a:ext uri="{FF2B5EF4-FFF2-40B4-BE49-F238E27FC236}">
                    <a16:creationId xmlns:a16="http://schemas.microsoft.com/office/drawing/2014/main" id="{84FFA859-CE6A-3363-4D19-9CAB7D56F053}"/>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9" name="Rectangle 18">
                <a:extLst>
                  <a:ext uri="{FF2B5EF4-FFF2-40B4-BE49-F238E27FC236}">
                    <a16:creationId xmlns:a16="http://schemas.microsoft.com/office/drawing/2014/main" id="{0627DBA0-51B9-2EDB-EBA7-1E4A030D3BD3}"/>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0" name="Rectangle 19">
                <a:extLst>
                  <a:ext uri="{FF2B5EF4-FFF2-40B4-BE49-F238E27FC236}">
                    <a16:creationId xmlns:a16="http://schemas.microsoft.com/office/drawing/2014/main" id="{54B5109F-FED7-B365-433C-F0CF16F73FD8}"/>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1" name="Rectangle 20">
                <a:extLst>
                  <a:ext uri="{FF2B5EF4-FFF2-40B4-BE49-F238E27FC236}">
                    <a16:creationId xmlns:a16="http://schemas.microsoft.com/office/drawing/2014/main" id="{7C3AF265-E570-4D67-F01B-B938693539B6}"/>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2" name="Rectangle 21">
                <a:extLst>
                  <a:ext uri="{FF2B5EF4-FFF2-40B4-BE49-F238E27FC236}">
                    <a16:creationId xmlns:a16="http://schemas.microsoft.com/office/drawing/2014/main" id="{491A2D82-FDC4-EA2F-2A43-D14EA4AA9250}"/>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23" name="Rectangle 22">
                <a:extLst>
                  <a:ext uri="{FF2B5EF4-FFF2-40B4-BE49-F238E27FC236}">
                    <a16:creationId xmlns:a16="http://schemas.microsoft.com/office/drawing/2014/main" id="{DDEA582E-177A-FEBE-3F05-79B2349E7EED}"/>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6" name="Group 5">
              <a:extLst>
                <a:ext uri="{FF2B5EF4-FFF2-40B4-BE49-F238E27FC236}">
                  <a16:creationId xmlns:a16="http://schemas.microsoft.com/office/drawing/2014/main" id="{56F3B3C3-578B-F0CF-7FDA-4D658EACB546}"/>
                </a:ext>
              </a:extLst>
            </p:cNvPr>
            <p:cNvGrpSpPr/>
            <p:nvPr/>
          </p:nvGrpSpPr>
          <p:grpSpPr>
            <a:xfrm>
              <a:off x="4953000" y="1117917"/>
              <a:ext cx="4480560" cy="640080"/>
              <a:chOff x="2252980" y="5083048"/>
              <a:chExt cx="4480560" cy="640080"/>
            </a:xfrm>
            <a:noFill/>
          </p:grpSpPr>
          <p:sp>
            <p:nvSpPr>
              <p:cNvPr id="7" name="Rectangle 6">
                <a:extLst>
                  <a:ext uri="{FF2B5EF4-FFF2-40B4-BE49-F238E27FC236}">
                    <a16:creationId xmlns:a16="http://schemas.microsoft.com/office/drawing/2014/main" id="{5ECA0DCD-68D5-0470-BBE4-88793B346E25}"/>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8" name="Rectangle 7">
                <a:extLst>
                  <a:ext uri="{FF2B5EF4-FFF2-40B4-BE49-F238E27FC236}">
                    <a16:creationId xmlns:a16="http://schemas.microsoft.com/office/drawing/2014/main" id="{049C5070-60AB-1BF9-E768-8ADCF618F29D}"/>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9" name="Rectangle 8">
                <a:extLst>
                  <a:ext uri="{FF2B5EF4-FFF2-40B4-BE49-F238E27FC236}">
                    <a16:creationId xmlns:a16="http://schemas.microsoft.com/office/drawing/2014/main" id="{7ABDDB81-53DE-3741-D996-1F287A6DDDBA}"/>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10" name="Rectangle 9">
                <a:extLst>
                  <a:ext uri="{FF2B5EF4-FFF2-40B4-BE49-F238E27FC236}">
                    <a16:creationId xmlns:a16="http://schemas.microsoft.com/office/drawing/2014/main" id="{1A6C8874-6AA8-354F-33B5-648D0C65EEE2}"/>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11" name="Rectangle 10">
                <a:extLst>
                  <a:ext uri="{FF2B5EF4-FFF2-40B4-BE49-F238E27FC236}">
                    <a16:creationId xmlns:a16="http://schemas.microsoft.com/office/drawing/2014/main" id="{6790C2C0-54CD-8E8A-29F1-4E4245996583}"/>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12" name="Rectangle 11">
                <a:extLst>
                  <a:ext uri="{FF2B5EF4-FFF2-40B4-BE49-F238E27FC236}">
                    <a16:creationId xmlns:a16="http://schemas.microsoft.com/office/drawing/2014/main" id="{777B6A59-79DD-E078-29A8-28E65E272796}"/>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13" name="Rectangle 12">
                <a:extLst>
                  <a:ext uri="{FF2B5EF4-FFF2-40B4-BE49-F238E27FC236}">
                    <a16:creationId xmlns:a16="http://schemas.microsoft.com/office/drawing/2014/main" id="{2BC9E6AB-C5FC-2724-1BF9-D8BBC6BF709A}"/>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grpSp>
      </p:grpSp>
    </p:spTree>
    <p:extLst>
      <p:ext uri="{BB962C8B-B14F-4D97-AF65-F5344CB8AC3E}">
        <p14:creationId xmlns:p14="http://schemas.microsoft.com/office/powerpoint/2010/main" val="289278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E8820-9792-6FF2-3B76-3657BAD65F2D}"/>
              </a:ext>
            </a:extLst>
          </p:cNvPr>
          <p:cNvSpPr>
            <a:spLocks noGrp="1"/>
          </p:cNvSpPr>
          <p:nvPr>
            <p:ph type="title"/>
          </p:nvPr>
        </p:nvSpPr>
        <p:spPr/>
        <p:txBody>
          <a:bodyPr/>
          <a:lstStyle/>
          <a:p>
            <a:r>
              <a:rPr lang="en-US" dirty="0"/>
              <a:t>Using Quadratic Probing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FE5C53-5FC4-6CF5-6D34-1C1D27BEA866}"/>
                  </a:ext>
                </a:extLst>
              </p:cNvPr>
              <p:cNvSpPr>
                <a:spLocks noGrp="1"/>
              </p:cNvSpPr>
              <p:nvPr>
                <p:ph idx="1"/>
              </p:nvPr>
            </p:nvSpPr>
            <p:spPr/>
            <p:txBody>
              <a:bodyPr/>
              <a:lstStyle/>
              <a:p>
                <a:r>
                  <a:rPr lang="en-US" dirty="0"/>
                  <a:t>If you probe </a:t>
                </a:r>
                <a:r>
                  <a:rPr lang="en-US" dirty="0" err="1">
                    <a:latin typeface="Consolas" panose="020B0609020204030204" pitchFamily="49" charset="0"/>
                  </a:rPr>
                  <a:t>table.length</a:t>
                </a:r>
                <a:r>
                  <a:rPr lang="en-US" dirty="0"/>
                  <a:t> times, you start repeating indices</a:t>
                </a:r>
              </a:p>
              <a:p>
                <a:r>
                  <a:rPr lang="en-US" dirty="0"/>
                  <a:t>If </a:t>
                </a:r>
                <a:r>
                  <a:rPr lang="en-US" dirty="0" err="1">
                    <a:latin typeface="Consolas" panose="020B0609020204030204" pitchFamily="49" charset="0"/>
                  </a:rPr>
                  <a:t>table.length</a:t>
                </a:r>
                <a:r>
                  <a:rPr lang="en-US" dirty="0">
                    <a:latin typeface="Consolas" panose="020B0609020204030204" pitchFamily="49" charset="0"/>
                  </a:rPr>
                  <a:t> </a:t>
                </a:r>
                <a:r>
                  <a:rPr lang="en-US" dirty="0"/>
                  <a:t>is prime and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 then you’re guaranteed to find an open spot in at most </a:t>
                </a:r>
                <a:r>
                  <a:rPr lang="en-US" dirty="0" err="1">
                    <a:latin typeface="Consolas" panose="020B0609020204030204" pitchFamily="49" charset="0"/>
                  </a:rPr>
                  <a:t>table.length</a:t>
                </a:r>
                <a14:m>
                  <m:oMath xmlns:m="http://schemas.openxmlformats.org/officeDocument/2006/math">
                    <m:r>
                      <a:rPr lang="en-US" b="0" i="1" smtClean="0">
                        <a:latin typeface="Cambria Math" panose="02040503050406030204" pitchFamily="18" charset="0"/>
                      </a:rPr>
                      <m:t>/2</m:t>
                    </m:r>
                  </m:oMath>
                </a14:m>
                <a:r>
                  <a:rPr lang="en-US" dirty="0"/>
                  <a:t> probes</a:t>
                </a:r>
              </a:p>
              <a:p>
                <a:endParaRPr lang="en-US" dirty="0"/>
              </a:p>
              <a:p>
                <a:r>
                  <a:rPr lang="en-US" dirty="0"/>
                  <a:t>Helps with the clustering problem of linear probing, but does not help if many things hash to the same value</a:t>
                </a:r>
              </a:p>
            </p:txBody>
          </p:sp>
        </mc:Choice>
        <mc:Fallback xmlns="">
          <p:sp>
            <p:nvSpPr>
              <p:cNvPr id="3" name="Content Placeholder 2">
                <a:extLst>
                  <a:ext uri="{FF2B5EF4-FFF2-40B4-BE49-F238E27FC236}">
                    <a16:creationId xmlns:a16="http://schemas.microsoft.com/office/drawing/2014/main" id="{46FE5C53-5FC4-6CF5-6D34-1C1D27BEA866}"/>
                  </a:ext>
                </a:extLst>
              </p:cNvPr>
              <p:cNvSpPr>
                <a:spLocks noGrp="1" noRot="1" noChangeAspect="1" noMove="1" noResize="1" noEditPoints="1" noAdjustHandles="1" noChangeArrowheads="1" noChangeShapeType="1" noTextEdit="1"/>
              </p:cNvSpPr>
              <p:nvPr>
                <p:ph idx="1"/>
              </p:nvPr>
            </p:nvSpPr>
            <p:spPr>
              <a:blipFill>
                <a:blip r:embed="rId2"/>
                <a:stretch>
                  <a:fillRect l="-1043" t="-2381" r="-1681"/>
                </a:stretch>
              </a:blipFill>
            </p:spPr>
            <p:txBody>
              <a:bodyPr/>
              <a:lstStyle/>
              <a:p>
                <a:r>
                  <a:rPr lang="en-US">
                    <a:noFill/>
                  </a:rPr>
                  <a:t> </a:t>
                </a:r>
              </a:p>
            </p:txBody>
          </p:sp>
        </mc:Fallback>
      </mc:AlternateContent>
    </p:spTree>
    <p:extLst>
      <p:ext uri="{BB962C8B-B14F-4D97-AF65-F5344CB8AC3E}">
        <p14:creationId xmlns:p14="http://schemas.microsoft.com/office/powerpoint/2010/main" val="2125456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EC209-91E7-39F7-4A4E-647F00B99F44}"/>
              </a:ext>
            </a:extLst>
          </p:cNvPr>
          <p:cNvSpPr>
            <a:spLocks noGrp="1"/>
          </p:cNvSpPr>
          <p:nvPr>
            <p:ph type="title"/>
          </p:nvPr>
        </p:nvSpPr>
        <p:spPr/>
        <p:txBody>
          <a:bodyPr/>
          <a:lstStyle/>
          <a:p>
            <a:r>
              <a:rPr lang="en-US" dirty="0"/>
              <a:t>Double Hashing: Insert Procedure</a:t>
            </a:r>
          </a:p>
        </p:txBody>
      </p:sp>
      <p:sp>
        <p:nvSpPr>
          <p:cNvPr id="3" name="Content Placeholder 2">
            <a:extLst>
              <a:ext uri="{FF2B5EF4-FFF2-40B4-BE49-F238E27FC236}">
                <a16:creationId xmlns:a16="http://schemas.microsoft.com/office/drawing/2014/main" id="{6CBEF850-0680-6520-62A9-DA71336F124F}"/>
              </a:ext>
            </a:extLst>
          </p:cNvPr>
          <p:cNvSpPr>
            <a:spLocks noGrp="1"/>
          </p:cNvSpPr>
          <p:nvPr>
            <p:ph idx="1"/>
          </p:nvPr>
        </p:nvSpPr>
        <p:spPr/>
        <p:txBody>
          <a:bodyPr/>
          <a:lstStyle/>
          <a:p>
            <a:r>
              <a:rPr lang="en-US" dirty="0"/>
              <a:t>Given </a:t>
            </a:r>
            <a:r>
              <a:rPr lang="en-US" dirty="0">
                <a:latin typeface="Consolas" panose="020B0609020204030204" pitchFamily="49" charset="0"/>
              </a:rPr>
              <a:t>h</a:t>
            </a:r>
            <a:r>
              <a:rPr lang="en-US" dirty="0"/>
              <a:t> and </a:t>
            </a:r>
            <a:r>
              <a:rPr lang="en-US" dirty="0">
                <a:latin typeface="Consolas" panose="020B0609020204030204" pitchFamily="49" charset="0"/>
              </a:rPr>
              <a:t>g</a:t>
            </a:r>
            <a:r>
              <a:rPr lang="en-US" dirty="0"/>
              <a:t> are both good hash functions</a:t>
            </a:r>
          </a:p>
          <a:p>
            <a:r>
              <a:rPr lang="en-US" dirty="0"/>
              <a:t>To insert </a:t>
            </a:r>
            <a:r>
              <a:rPr lang="en-US" dirty="0" err="1">
                <a:latin typeface="Consolas" panose="020B0609020204030204" pitchFamily="49" charset="0"/>
              </a:rPr>
              <a:t>k,v</a:t>
            </a:r>
            <a:endParaRPr lang="en-US" dirty="0">
              <a:latin typeface="Consolas" panose="020B0609020204030204" pitchFamily="49" charset="0"/>
            </a:endParaRPr>
          </a:p>
          <a:p>
            <a:pPr lvl="1"/>
            <a:r>
              <a:rPr lang="en-US" dirty="0"/>
              <a:t>Calculate </a:t>
            </a:r>
            <a:r>
              <a:rPr lang="en-US" dirty="0" err="1">
                <a:latin typeface="Consolas" panose="020B0609020204030204" pitchFamily="49" charset="0"/>
              </a:rPr>
              <a:t>i</a:t>
            </a:r>
            <a:r>
              <a:rPr lang="en-US" dirty="0">
                <a:latin typeface="Consolas" panose="020B0609020204030204" pitchFamily="49" charset="0"/>
              </a:rPr>
              <a:t> = h(k)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a:t>
            </a:r>
            <a:r>
              <a:rPr lang="en-US" dirty="0">
                <a:latin typeface="Consolas" panose="020B0609020204030204" pitchFamily="49" charset="0"/>
              </a:rPr>
              <a:t>table[</a:t>
            </a:r>
            <a:r>
              <a:rPr lang="en-US" dirty="0" err="1">
                <a:latin typeface="Consolas" panose="020B0609020204030204" pitchFamily="49" charset="0"/>
              </a:rPr>
              <a:t>i</a:t>
            </a:r>
            <a:r>
              <a:rPr lang="en-US" dirty="0">
                <a:latin typeface="Consolas" panose="020B0609020204030204" pitchFamily="49" charset="0"/>
              </a:rPr>
              <a:t>]</a:t>
            </a:r>
            <a:r>
              <a:rPr lang="en-US" dirty="0"/>
              <a:t> is occupied then try </a:t>
            </a:r>
            <a:r>
              <a:rPr lang="en-US" dirty="0">
                <a:latin typeface="Consolas" panose="020B0609020204030204" pitchFamily="49" charset="0"/>
              </a:rPr>
              <a:t>(i+g(k)) % </a:t>
            </a:r>
            <a:r>
              <a:rPr lang="en-US" dirty="0" err="1">
                <a:latin typeface="Consolas" panose="020B0609020204030204" pitchFamily="49" charset="0"/>
              </a:rPr>
              <a:t>table.length</a:t>
            </a:r>
            <a:endParaRPr lang="en-US" dirty="0">
              <a:latin typeface="Consolas" panose="020B0609020204030204" pitchFamily="49" charset="0"/>
            </a:endParaRPr>
          </a:p>
          <a:p>
            <a:pPr lvl="1"/>
            <a:r>
              <a:rPr lang="en-US" dirty="0"/>
              <a:t>If that is occupied try </a:t>
            </a:r>
            <a:r>
              <a:rPr lang="en-US" dirty="0">
                <a:latin typeface="Consolas" panose="020B0609020204030204" pitchFamily="49" charset="0"/>
              </a:rPr>
              <a:t>(i+2*g(k)) % </a:t>
            </a:r>
            <a:r>
              <a:rPr lang="en-US" dirty="0" err="1">
                <a:latin typeface="Consolas" panose="020B0609020204030204" pitchFamily="49" charset="0"/>
              </a:rPr>
              <a:t>table.length</a:t>
            </a:r>
            <a:endParaRPr lang="en-US" dirty="0"/>
          </a:p>
          <a:p>
            <a:pPr lvl="1"/>
            <a:r>
              <a:rPr lang="en-US" dirty="0"/>
              <a:t>If that is occupied try </a:t>
            </a:r>
            <a:r>
              <a:rPr lang="en-US" dirty="0">
                <a:latin typeface="Consolas" panose="020B0609020204030204" pitchFamily="49" charset="0"/>
              </a:rPr>
              <a:t>(i+3*g(k)) % </a:t>
            </a:r>
            <a:r>
              <a:rPr lang="en-US" dirty="0" err="1">
                <a:latin typeface="Consolas" panose="020B0609020204030204" pitchFamily="49" charset="0"/>
              </a:rPr>
              <a:t>table.length</a:t>
            </a:r>
            <a:endParaRPr lang="en-US" b="0" dirty="0"/>
          </a:p>
          <a:p>
            <a:pPr lvl="1"/>
            <a:r>
              <a:rPr lang="en-US" dirty="0"/>
              <a:t>If that is occupied try </a:t>
            </a:r>
            <a:r>
              <a:rPr lang="en-US" dirty="0">
                <a:latin typeface="Consolas" panose="020B0609020204030204" pitchFamily="49" charset="0"/>
              </a:rPr>
              <a:t>(i+4*g(k)) % </a:t>
            </a:r>
            <a:r>
              <a:rPr lang="en-US" dirty="0" err="1">
                <a:latin typeface="Consolas" panose="020B0609020204030204" pitchFamily="49" charset="0"/>
              </a:rPr>
              <a:t>table.length</a:t>
            </a:r>
            <a:endParaRPr lang="en-US" dirty="0"/>
          </a:p>
          <a:p>
            <a:pPr lvl="1"/>
            <a:r>
              <a:rPr lang="en-US" dirty="0"/>
              <a:t>…</a:t>
            </a:r>
          </a:p>
        </p:txBody>
      </p:sp>
      <p:grpSp>
        <p:nvGrpSpPr>
          <p:cNvPr id="27" name="Group 26" descr="An empty hash table of size 10">
            <a:extLst>
              <a:ext uri="{FF2B5EF4-FFF2-40B4-BE49-F238E27FC236}">
                <a16:creationId xmlns:a16="http://schemas.microsoft.com/office/drawing/2014/main" id="{8FDFA169-707F-13A9-222D-7CCF6C7494CC}"/>
              </a:ext>
            </a:extLst>
          </p:cNvPr>
          <p:cNvGrpSpPr/>
          <p:nvPr/>
        </p:nvGrpSpPr>
        <p:grpSpPr>
          <a:xfrm>
            <a:off x="2895600" y="5467983"/>
            <a:ext cx="6400800" cy="1097280"/>
            <a:chOff x="4953000" y="660717"/>
            <a:chExt cx="6400800" cy="1097280"/>
          </a:xfrm>
        </p:grpSpPr>
        <p:grpSp>
          <p:nvGrpSpPr>
            <p:cNvPr id="28" name="Group 27">
              <a:extLst>
                <a:ext uri="{FF2B5EF4-FFF2-40B4-BE49-F238E27FC236}">
                  <a16:creationId xmlns:a16="http://schemas.microsoft.com/office/drawing/2014/main" id="{D2B87FAC-0538-ECBA-6B24-F4E460EA9870}"/>
                </a:ext>
              </a:extLst>
            </p:cNvPr>
            <p:cNvGrpSpPr/>
            <p:nvPr/>
          </p:nvGrpSpPr>
          <p:grpSpPr>
            <a:xfrm>
              <a:off x="4953000" y="660717"/>
              <a:ext cx="6400800" cy="640080"/>
              <a:chOff x="2252980" y="5083048"/>
              <a:chExt cx="6400800" cy="640080"/>
            </a:xfrm>
          </p:grpSpPr>
          <p:sp>
            <p:nvSpPr>
              <p:cNvPr id="40" name="Rectangle 39">
                <a:extLst>
                  <a:ext uri="{FF2B5EF4-FFF2-40B4-BE49-F238E27FC236}">
                    <a16:creationId xmlns:a16="http://schemas.microsoft.com/office/drawing/2014/main" id="{2DE9FF87-7128-E586-7012-FF0D25EAB45B}"/>
                  </a:ext>
                </a:extLst>
              </p:cNvPr>
              <p:cNvSpPr/>
              <p:nvPr/>
            </p:nvSpPr>
            <p:spPr>
              <a:xfrm>
                <a:off x="22529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1" name="Rectangle 40">
                <a:extLst>
                  <a:ext uri="{FF2B5EF4-FFF2-40B4-BE49-F238E27FC236}">
                    <a16:creationId xmlns:a16="http://schemas.microsoft.com/office/drawing/2014/main" id="{2451C35B-F3F9-0BF5-7F96-7056333224EB}"/>
                  </a:ext>
                </a:extLst>
              </p:cNvPr>
              <p:cNvSpPr/>
              <p:nvPr/>
            </p:nvSpPr>
            <p:spPr>
              <a:xfrm>
                <a:off x="28930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2" name="Rectangle 41">
                <a:extLst>
                  <a:ext uri="{FF2B5EF4-FFF2-40B4-BE49-F238E27FC236}">
                    <a16:creationId xmlns:a16="http://schemas.microsoft.com/office/drawing/2014/main" id="{8E6D8747-D77C-49C2-4342-BE0A69945D0B}"/>
                  </a:ext>
                </a:extLst>
              </p:cNvPr>
              <p:cNvSpPr/>
              <p:nvPr/>
            </p:nvSpPr>
            <p:spPr>
              <a:xfrm>
                <a:off x="35331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3" name="Rectangle 42">
                <a:extLst>
                  <a:ext uri="{FF2B5EF4-FFF2-40B4-BE49-F238E27FC236}">
                    <a16:creationId xmlns:a16="http://schemas.microsoft.com/office/drawing/2014/main" id="{9663C8E2-2E8B-9DD3-A6F6-8A6EE559FADD}"/>
                  </a:ext>
                </a:extLst>
              </p:cNvPr>
              <p:cNvSpPr/>
              <p:nvPr/>
            </p:nvSpPr>
            <p:spPr>
              <a:xfrm>
                <a:off x="41732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4" name="Rectangle 43">
                <a:extLst>
                  <a:ext uri="{FF2B5EF4-FFF2-40B4-BE49-F238E27FC236}">
                    <a16:creationId xmlns:a16="http://schemas.microsoft.com/office/drawing/2014/main" id="{66F23EEC-4D3B-4A13-ECDC-7AAD749E9E1F}"/>
                  </a:ext>
                </a:extLst>
              </p:cNvPr>
              <p:cNvSpPr/>
              <p:nvPr/>
            </p:nvSpPr>
            <p:spPr>
              <a:xfrm>
                <a:off x="48133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5" name="Rectangle 44">
                <a:extLst>
                  <a:ext uri="{FF2B5EF4-FFF2-40B4-BE49-F238E27FC236}">
                    <a16:creationId xmlns:a16="http://schemas.microsoft.com/office/drawing/2014/main" id="{83ED88EB-9FB1-DDBF-622D-AB81D9A8CFB4}"/>
                  </a:ext>
                </a:extLst>
              </p:cNvPr>
              <p:cNvSpPr/>
              <p:nvPr/>
            </p:nvSpPr>
            <p:spPr>
              <a:xfrm>
                <a:off x="545338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6" name="Rectangle 45">
                <a:extLst>
                  <a:ext uri="{FF2B5EF4-FFF2-40B4-BE49-F238E27FC236}">
                    <a16:creationId xmlns:a16="http://schemas.microsoft.com/office/drawing/2014/main" id="{AFA9D76C-694E-7726-7983-0F1C5DDA6F90}"/>
                  </a:ext>
                </a:extLst>
              </p:cNvPr>
              <p:cNvSpPr/>
              <p:nvPr/>
            </p:nvSpPr>
            <p:spPr>
              <a:xfrm>
                <a:off x="609346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7" name="Rectangle 46">
                <a:extLst>
                  <a:ext uri="{FF2B5EF4-FFF2-40B4-BE49-F238E27FC236}">
                    <a16:creationId xmlns:a16="http://schemas.microsoft.com/office/drawing/2014/main" id="{F9B4A258-5944-0B04-CCC2-864465617880}"/>
                  </a:ext>
                </a:extLst>
              </p:cNvPr>
              <p:cNvSpPr/>
              <p:nvPr/>
            </p:nvSpPr>
            <p:spPr>
              <a:xfrm>
                <a:off x="673354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8" name="Rectangle 47">
                <a:extLst>
                  <a:ext uri="{FF2B5EF4-FFF2-40B4-BE49-F238E27FC236}">
                    <a16:creationId xmlns:a16="http://schemas.microsoft.com/office/drawing/2014/main" id="{6E484E67-FD31-BFE6-8BB3-19A8BD0F8EE4}"/>
                  </a:ext>
                </a:extLst>
              </p:cNvPr>
              <p:cNvSpPr/>
              <p:nvPr/>
            </p:nvSpPr>
            <p:spPr>
              <a:xfrm>
                <a:off x="737362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49" name="Rectangle 48">
                <a:extLst>
                  <a:ext uri="{FF2B5EF4-FFF2-40B4-BE49-F238E27FC236}">
                    <a16:creationId xmlns:a16="http://schemas.microsoft.com/office/drawing/2014/main" id="{7F669135-A4C2-E31B-6A2C-9FC56971B3E4}"/>
                  </a:ext>
                </a:extLst>
              </p:cNvPr>
              <p:cNvSpPr/>
              <p:nvPr/>
            </p:nvSpPr>
            <p:spPr>
              <a:xfrm>
                <a:off x="8013700" y="5083048"/>
                <a:ext cx="640080" cy="6400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grpSp>
        <p:grpSp>
          <p:nvGrpSpPr>
            <p:cNvPr id="29" name="Group 28">
              <a:extLst>
                <a:ext uri="{FF2B5EF4-FFF2-40B4-BE49-F238E27FC236}">
                  <a16:creationId xmlns:a16="http://schemas.microsoft.com/office/drawing/2014/main" id="{8DCD689F-DD9E-AD37-2A3A-25648FC54A08}"/>
                </a:ext>
              </a:extLst>
            </p:cNvPr>
            <p:cNvGrpSpPr/>
            <p:nvPr/>
          </p:nvGrpSpPr>
          <p:grpSpPr>
            <a:xfrm>
              <a:off x="4953000" y="1117917"/>
              <a:ext cx="6400800" cy="640080"/>
              <a:chOff x="2252980" y="5083048"/>
              <a:chExt cx="6400800" cy="640080"/>
            </a:xfrm>
            <a:noFill/>
          </p:grpSpPr>
          <p:sp>
            <p:nvSpPr>
              <p:cNvPr id="30" name="Rectangle 29">
                <a:extLst>
                  <a:ext uri="{FF2B5EF4-FFF2-40B4-BE49-F238E27FC236}">
                    <a16:creationId xmlns:a16="http://schemas.microsoft.com/office/drawing/2014/main" id="{DDA43CA7-E636-2105-CF3A-DFA078E59DBC}"/>
                  </a:ext>
                </a:extLst>
              </p:cNvPr>
              <p:cNvSpPr/>
              <p:nvPr/>
            </p:nvSpPr>
            <p:spPr>
              <a:xfrm>
                <a:off x="22529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0</a:t>
                </a:r>
              </a:p>
            </p:txBody>
          </p:sp>
          <p:sp>
            <p:nvSpPr>
              <p:cNvPr id="31" name="Rectangle 30">
                <a:extLst>
                  <a:ext uri="{FF2B5EF4-FFF2-40B4-BE49-F238E27FC236}">
                    <a16:creationId xmlns:a16="http://schemas.microsoft.com/office/drawing/2014/main" id="{DC72C753-FB52-C263-0BAB-5E012781C04B}"/>
                  </a:ext>
                </a:extLst>
              </p:cNvPr>
              <p:cNvSpPr/>
              <p:nvPr/>
            </p:nvSpPr>
            <p:spPr>
              <a:xfrm>
                <a:off x="28930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1</a:t>
                </a:r>
              </a:p>
            </p:txBody>
          </p:sp>
          <p:sp>
            <p:nvSpPr>
              <p:cNvPr id="32" name="Rectangle 31">
                <a:extLst>
                  <a:ext uri="{FF2B5EF4-FFF2-40B4-BE49-F238E27FC236}">
                    <a16:creationId xmlns:a16="http://schemas.microsoft.com/office/drawing/2014/main" id="{74D0D8C0-3D63-671F-5D39-04E4F3F7B58A}"/>
                  </a:ext>
                </a:extLst>
              </p:cNvPr>
              <p:cNvSpPr/>
              <p:nvPr/>
            </p:nvSpPr>
            <p:spPr>
              <a:xfrm>
                <a:off x="35331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2</a:t>
                </a:r>
              </a:p>
            </p:txBody>
          </p:sp>
          <p:sp>
            <p:nvSpPr>
              <p:cNvPr id="33" name="Rectangle 32">
                <a:extLst>
                  <a:ext uri="{FF2B5EF4-FFF2-40B4-BE49-F238E27FC236}">
                    <a16:creationId xmlns:a16="http://schemas.microsoft.com/office/drawing/2014/main" id="{5E3258F8-8097-AC76-433F-D5EFE5498C84}"/>
                  </a:ext>
                </a:extLst>
              </p:cNvPr>
              <p:cNvSpPr/>
              <p:nvPr/>
            </p:nvSpPr>
            <p:spPr>
              <a:xfrm>
                <a:off x="41732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3</a:t>
                </a:r>
              </a:p>
            </p:txBody>
          </p:sp>
          <p:sp>
            <p:nvSpPr>
              <p:cNvPr id="34" name="Rectangle 33">
                <a:extLst>
                  <a:ext uri="{FF2B5EF4-FFF2-40B4-BE49-F238E27FC236}">
                    <a16:creationId xmlns:a16="http://schemas.microsoft.com/office/drawing/2014/main" id="{F388F548-F7C0-C703-87A3-0801D5B5EC6E}"/>
                  </a:ext>
                </a:extLst>
              </p:cNvPr>
              <p:cNvSpPr/>
              <p:nvPr/>
            </p:nvSpPr>
            <p:spPr>
              <a:xfrm>
                <a:off x="48133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4</a:t>
                </a:r>
              </a:p>
            </p:txBody>
          </p:sp>
          <p:sp>
            <p:nvSpPr>
              <p:cNvPr id="35" name="Rectangle 34">
                <a:extLst>
                  <a:ext uri="{FF2B5EF4-FFF2-40B4-BE49-F238E27FC236}">
                    <a16:creationId xmlns:a16="http://schemas.microsoft.com/office/drawing/2014/main" id="{A7BB719B-6E0B-43A2-33B0-2CC42D0F964B}"/>
                  </a:ext>
                </a:extLst>
              </p:cNvPr>
              <p:cNvSpPr/>
              <p:nvPr/>
            </p:nvSpPr>
            <p:spPr>
              <a:xfrm>
                <a:off x="545338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5</a:t>
                </a:r>
              </a:p>
            </p:txBody>
          </p:sp>
          <p:sp>
            <p:nvSpPr>
              <p:cNvPr id="36" name="Rectangle 35">
                <a:extLst>
                  <a:ext uri="{FF2B5EF4-FFF2-40B4-BE49-F238E27FC236}">
                    <a16:creationId xmlns:a16="http://schemas.microsoft.com/office/drawing/2014/main" id="{28B6754B-58E8-8AF8-8D17-5F85162BAD90}"/>
                  </a:ext>
                </a:extLst>
              </p:cNvPr>
              <p:cNvSpPr/>
              <p:nvPr/>
            </p:nvSpPr>
            <p:spPr>
              <a:xfrm>
                <a:off x="609346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6</a:t>
                </a:r>
              </a:p>
            </p:txBody>
          </p:sp>
          <p:sp>
            <p:nvSpPr>
              <p:cNvPr id="37" name="Rectangle 36">
                <a:extLst>
                  <a:ext uri="{FF2B5EF4-FFF2-40B4-BE49-F238E27FC236}">
                    <a16:creationId xmlns:a16="http://schemas.microsoft.com/office/drawing/2014/main" id="{722F989C-2F0A-D58A-28CA-E648FF802226}"/>
                  </a:ext>
                </a:extLst>
              </p:cNvPr>
              <p:cNvSpPr/>
              <p:nvPr/>
            </p:nvSpPr>
            <p:spPr>
              <a:xfrm>
                <a:off x="673354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7</a:t>
                </a:r>
              </a:p>
            </p:txBody>
          </p:sp>
          <p:sp>
            <p:nvSpPr>
              <p:cNvPr id="38" name="Rectangle 37">
                <a:extLst>
                  <a:ext uri="{FF2B5EF4-FFF2-40B4-BE49-F238E27FC236}">
                    <a16:creationId xmlns:a16="http://schemas.microsoft.com/office/drawing/2014/main" id="{DEA5F1D9-BDA3-2BD7-3F5F-E1F043FC3CFD}"/>
                  </a:ext>
                </a:extLst>
              </p:cNvPr>
              <p:cNvSpPr/>
              <p:nvPr/>
            </p:nvSpPr>
            <p:spPr>
              <a:xfrm>
                <a:off x="737362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8</a:t>
                </a:r>
              </a:p>
            </p:txBody>
          </p:sp>
          <p:sp>
            <p:nvSpPr>
              <p:cNvPr id="39" name="Rectangle 38">
                <a:extLst>
                  <a:ext uri="{FF2B5EF4-FFF2-40B4-BE49-F238E27FC236}">
                    <a16:creationId xmlns:a16="http://schemas.microsoft.com/office/drawing/2014/main" id="{861D331B-7649-C763-671F-8DEB78153BC1}"/>
                  </a:ext>
                </a:extLst>
              </p:cNvPr>
              <p:cNvSpPr/>
              <p:nvPr/>
            </p:nvSpPr>
            <p:spPr>
              <a:xfrm>
                <a:off x="8013700" y="5083048"/>
                <a:ext cx="640080" cy="64008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9</a:t>
                </a:r>
              </a:p>
            </p:txBody>
          </p:sp>
        </p:grpSp>
      </p:grpSp>
    </p:spTree>
    <p:extLst>
      <p:ext uri="{BB962C8B-B14F-4D97-AF65-F5344CB8AC3E}">
        <p14:creationId xmlns:p14="http://schemas.microsoft.com/office/powerpoint/2010/main" val="45032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48504-CA46-CA67-A734-8DDC6861F802}"/>
              </a:ext>
            </a:extLst>
          </p:cNvPr>
          <p:cNvSpPr>
            <a:spLocks noGrp="1"/>
          </p:cNvSpPr>
          <p:nvPr>
            <p:ph type="title"/>
          </p:nvPr>
        </p:nvSpPr>
        <p:spPr/>
        <p:txBody>
          <a:bodyPr/>
          <a:lstStyle/>
          <a:p>
            <a:r>
              <a:rPr lang="en-US" dirty="0"/>
              <a:t>Rehashing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56C4D0-09F9-C2D9-56AC-4F81B37D1B7A}"/>
                  </a:ext>
                </a:extLst>
              </p:cNvPr>
              <p:cNvSpPr>
                <a:spLocks noGrp="1"/>
              </p:cNvSpPr>
              <p:nvPr>
                <p:ph idx="1"/>
              </p:nvPr>
            </p:nvSpPr>
            <p:spPr/>
            <p:txBody>
              <a:bodyPr>
                <a:normAutofit/>
              </a:bodyPr>
              <a:lstStyle/>
              <a:p>
                <a:r>
                  <a:rPr lang="en-US" dirty="0"/>
                  <a:t>If your load factor </a:t>
                </a:r>
                <a14:m>
                  <m:oMath xmlns:m="http://schemas.openxmlformats.org/officeDocument/2006/math">
                    <m:r>
                      <a:rPr lang="en-US" b="0" i="1" smtClean="0">
                        <a:latin typeface="Cambria Math" panose="02040503050406030204" pitchFamily="18" charset="0"/>
                      </a:rPr>
                      <m:t>𝜆</m:t>
                    </m:r>
                  </m:oMath>
                </a14:m>
                <a:r>
                  <a:rPr lang="en-US" dirty="0"/>
                  <a:t> gets too large, copy everything over to a larger hash table</a:t>
                </a:r>
              </a:p>
              <a:p>
                <a:pPr lvl="1"/>
                <a:r>
                  <a:rPr lang="en-US" dirty="0"/>
                  <a:t>To do this: make a new, larger array</a:t>
                </a:r>
              </a:p>
              <a:p>
                <a:pPr lvl="1"/>
                <a:r>
                  <a:rPr lang="en-US" dirty="0"/>
                  <a:t>Re-insert all items into the new hash table by reapplying the hash function</a:t>
                </a:r>
              </a:p>
              <a:p>
                <a:pPr lvl="2"/>
                <a:r>
                  <a:rPr lang="en-US" dirty="0"/>
                  <a:t>We need to reapply the hash function because items should map to a different index</a:t>
                </a:r>
              </a:p>
              <a:p>
                <a:pPr lvl="1"/>
                <a:r>
                  <a:rPr lang="en-US" dirty="0"/>
                  <a:t>New array should be “roughly” double the length (but probably still want it to be prime)</a:t>
                </a:r>
              </a:p>
              <a:p>
                <a:r>
                  <a:rPr lang="en-US" dirty="0"/>
                  <a:t>What does “too large” mean?</a:t>
                </a:r>
              </a:p>
              <a:p>
                <a:pPr lvl="1"/>
                <a:r>
                  <a:rPr lang="en-US" dirty="0"/>
                  <a:t>For separate chaining, typically we want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&lt;2</m:t>
                    </m:r>
                  </m:oMath>
                </a14:m>
                <a:endParaRPr lang="en-US" dirty="0"/>
              </a:p>
              <a:p>
                <a:pPr lvl="1"/>
                <a:r>
                  <a:rPr lang="en-US" dirty="0"/>
                  <a:t>For open addressing, typically we want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&lt;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endParaRPr lang="en-US" dirty="0"/>
              </a:p>
            </p:txBody>
          </p:sp>
        </mc:Choice>
        <mc:Fallback xmlns="">
          <p:sp>
            <p:nvSpPr>
              <p:cNvPr id="3" name="Content Placeholder 2">
                <a:extLst>
                  <a:ext uri="{FF2B5EF4-FFF2-40B4-BE49-F238E27FC236}">
                    <a16:creationId xmlns:a16="http://schemas.microsoft.com/office/drawing/2014/main" id="{7456C4D0-09F9-C2D9-56AC-4F81B37D1B7A}"/>
                  </a:ext>
                </a:extLst>
              </p:cNvPr>
              <p:cNvSpPr>
                <a:spLocks noGrp="1" noRot="1" noChangeAspect="1" noMove="1" noResize="1" noEditPoints="1" noAdjustHandles="1" noChangeArrowheads="1" noChangeShapeType="1" noTextEdit="1"/>
              </p:cNvSpPr>
              <p:nvPr>
                <p:ph idx="1"/>
              </p:nvPr>
            </p:nvSpPr>
            <p:spPr>
              <a:blipFill>
                <a:blip r:embed="rId2"/>
                <a:stretch>
                  <a:fillRect l="-1043" t="-2241" r="-812"/>
                </a:stretch>
              </a:blipFill>
            </p:spPr>
            <p:txBody>
              <a:bodyPr/>
              <a:lstStyle/>
              <a:p>
                <a:r>
                  <a:rPr lang="en-US">
                    <a:noFill/>
                  </a:rPr>
                  <a:t> </a:t>
                </a:r>
              </a:p>
            </p:txBody>
          </p:sp>
        </mc:Fallback>
      </mc:AlternateContent>
    </p:spTree>
    <p:extLst>
      <p:ext uri="{BB962C8B-B14F-4D97-AF65-F5344CB8AC3E}">
        <p14:creationId xmlns:p14="http://schemas.microsoft.com/office/powerpoint/2010/main" val="8543449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709C-781C-D297-9372-53DA0D578A2B}"/>
              </a:ext>
            </a:extLst>
          </p:cNvPr>
          <p:cNvSpPr>
            <a:spLocks noGrp="1"/>
          </p:cNvSpPr>
          <p:nvPr>
            <p:ph type="title"/>
          </p:nvPr>
        </p:nvSpPr>
        <p:spPr/>
        <p:txBody>
          <a:bodyPr/>
          <a:lstStyle/>
          <a:p>
            <a:r>
              <a:rPr lang="en-US" dirty="0"/>
              <a:t>Sorting</a:t>
            </a:r>
          </a:p>
        </p:txBody>
      </p:sp>
      <p:sp>
        <p:nvSpPr>
          <p:cNvPr id="3" name="Content Placeholder 2">
            <a:extLst>
              <a:ext uri="{FF2B5EF4-FFF2-40B4-BE49-F238E27FC236}">
                <a16:creationId xmlns:a16="http://schemas.microsoft.com/office/drawing/2014/main" id="{4E38053D-A29E-D195-3C93-CF56E1479635}"/>
              </a:ext>
            </a:extLst>
          </p:cNvPr>
          <p:cNvSpPr>
            <a:spLocks noGrp="1"/>
          </p:cNvSpPr>
          <p:nvPr>
            <p:ph idx="1"/>
          </p:nvPr>
        </p:nvSpPr>
        <p:spPr/>
        <p:txBody>
          <a:bodyPr/>
          <a:lstStyle/>
          <a:p>
            <a:r>
              <a:rPr lang="en-US" dirty="0"/>
              <a:t>Rearrangement of items into some defined sequence</a:t>
            </a:r>
          </a:p>
          <a:p>
            <a:pPr lvl="1"/>
            <a:r>
              <a:rPr lang="en-US" dirty="0"/>
              <a:t>Usually: reordering a list from smallest to largest according to some metric</a:t>
            </a:r>
          </a:p>
          <a:p>
            <a:r>
              <a:rPr lang="en-US" dirty="0"/>
              <a:t>Why sort things?</a:t>
            </a:r>
          </a:p>
          <a:p>
            <a:pPr lvl="1"/>
            <a:r>
              <a:rPr lang="en-US" dirty="0"/>
              <a:t>Enable things like binary search</a:t>
            </a:r>
          </a:p>
          <a:p>
            <a:pPr lvl="2"/>
            <a:r>
              <a:rPr lang="en-US" dirty="0"/>
              <a:t>It makes some algorithms faster</a:t>
            </a:r>
          </a:p>
          <a:p>
            <a:pPr lvl="1"/>
            <a:r>
              <a:rPr lang="en-US" dirty="0"/>
              <a:t>Nicer for human algorithms too</a:t>
            </a:r>
          </a:p>
          <a:p>
            <a:pPr lvl="1"/>
            <a:r>
              <a:rPr lang="en-US" dirty="0"/>
              <a:t>Data organization</a:t>
            </a:r>
          </a:p>
          <a:p>
            <a:pPr lvl="1"/>
            <a:endParaRPr lang="en-US" dirty="0"/>
          </a:p>
        </p:txBody>
      </p:sp>
    </p:spTree>
    <p:extLst>
      <p:ext uri="{BB962C8B-B14F-4D97-AF65-F5344CB8AC3E}">
        <p14:creationId xmlns:p14="http://schemas.microsoft.com/office/powerpoint/2010/main" val="670589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64773-CFEA-E666-64D3-5AF21662F599}"/>
              </a:ext>
            </a:extLst>
          </p:cNvPr>
          <p:cNvSpPr>
            <a:spLocks noGrp="1"/>
          </p:cNvSpPr>
          <p:nvPr>
            <p:ph type="title"/>
          </p:nvPr>
        </p:nvSpPr>
        <p:spPr/>
        <p:txBody>
          <a:bodyPr/>
          <a:lstStyle/>
          <a:p>
            <a:r>
              <a:rPr lang="en-US" dirty="0"/>
              <a:t>More Formal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397537-824A-CCF1-8509-24B111BE4C91}"/>
                  </a:ext>
                </a:extLst>
              </p:cNvPr>
              <p:cNvSpPr>
                <a:spLocks noGrp="1"/>
              </p:cNvSpPr>
              <p:nvPr>
                <p:ph idx="1"/>
              </p:nvPr>
            </p:nvSpPr>
            <p:spPr/>
            <p:txBody>
              <a:bodyPr/>
              <a:lstStyle/>
              <a:p>
                <a:r>
                  <a:rPr lang="en-US" dirty="0"/>
                  <a:t>Input:</a:t>
                </a:r>
              </a:p>
              <a:p>
                <a:pPr lvl="1"/>
                <a:r>
                  <a:rPr lang="en-US" dirty="0"/>
                  <a:t>An array </a:t>
                </a:r>
                <a14:m>
                  <m:oMath xmlns:m="http://schemas.openxmlformats.org/officeDocument/2006/math">
                    <m:r>
                      <a:rPr lang="en-US" b="0" i="1" smtClean="0">
                        <a:latin typeface="Cambria Math" panose="02040503050406030204" pitchFamily="18" charset="0"/>
                      </a:rPr>
                      <m:t>𝐴</m:t>
                    </m:r>
                  </m:oMath>
                </a14:m>
                <a:r>
                  <a:rPr lang="en-US" dirty="0"/>
                  <a:t> of items</a:t>
                </a:r>
              </a:p>
              <a:p>
                <a:pPr lvl="1"/>
                <a:r>
                  <a:rPr lang="en-US" dirty="0"/>
                  <a:t>A comparison function for these items</a:t>
                </a:r>
              </a:p>
              <a:p>
                <a:pPr lvl="2"/>
                <a:r>
                  <a:rPr lang="en-US" dirty="0"/>
                  <a:t>Given two items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 we can determine whether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&lt;</m:t>
                    </m:r>
                    <m:r>
                      <a:rPr lang="en-US" b="0" i="1" smtClean="0">
                        <a:latin typeface="Cambria Math" panose="02040503050406030204" pitchFamily="18" charset="0"/>
                      </a:rPr>
                      <m:t>𝑦</m:t>
                    </m:r>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𝑦</m:t>
                    </m:r>
                  </m:oMath>
                </a14:m>
                <a:r>
                  <a:rPr lang="en-US" dirty="0"/>
                  <a:t>, or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a:p>
                <a:r>
                  <a:rPr lang="en-US" dirty="0"/>
                  <a:t>Output:</a:t>
                </a:r>
              </a:p>
              <a:p>
                <a:pPr lvl="1"/>
                <a:r>
                  <a:rPr lang="en-US" dirty="0"/>
                  <a:t>A permutation of </a:t>
                </a:r>
                <a14:m>
                  <m:oMath xmlns:m="http://schemas.openxmlformats.org/officeDocument/2006/math">
                    <m:r>
                      <a:rPr lang="en-US" b="0" i="1" smtClean="0">
                        <a:latin typeface="Cambria Math" panose="02040503050406030204" pitchFamily="18" charset="0"/>
                      </a:rPr>
                      <m:t>𝐴</m:t>
                    </m:r>
                  </m:oMath>
                </a14:m>
                <a:r>
                  <a:rPr lang="en-US" dirty="0"/>
                  <a:t> such that if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r>
                  <a:rPr lang="en-US" dirty="0"/>
                  <a:t> then </a:t>
                </a:r>
                <a14:m>
                  <m:oMath xmlns:m="http://schemas.openxmlformats.org/officeDocument/2006/math">
                    <m:r>
                      <a:rPr lang="en-US" b="0" i="1" smtClean="0">
                        <a:latin typeface="Cambria Math" panose="02040503050406030204" pitchFamily="18" charset="0"/>
                      </a:rPr>
                      <m:t>𝐴</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e>
                    </m:d>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endParaRPr lang="en-US" dirty="0"/>
              </a:p>
              <a:p>
                <a:pPr lvl="1"/>
                <a:r>
                  <a:rPr lang="en-US" dirty="0"/>
                  <a:t>Permutation: a sequence of the same items but perhaps in a different order</a:t>
                </a:r>
              </a:p>
            </p:txBody>
          </p:sp>
        </mc:Choice>
        <mc:Fallback xmlns="">
          <p:sp>
            <p:nvSpPr>
              <p:cNvPr id="3" name="Content Placeholder 2">
                <a:extLst>
                  <a:ext uri="{FF2B5EF4-FFF2-40B4-BE49-F238E27FC236}">
                    <a16:creationId xmlns:a16="http://schemas.microsoft.com/office/drawing/2014/main" id="{35397537-824A-CCF1-8509-24B111BE4C9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39934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0236-5662-84E4-1E2C-8131ADED1E5A}"/>
              </a:ext>
            </a:extLst>
          </p:cNvPr>
          <p:cNvSpPr>
            <a:spLocks noGrp="1"/>
          </p:cNvSpPr>
          <p:nvPr>
            <p:ph type="title"/>
          </p:nvPr>
        </p:nvSpPr>
        <p:spPr/>
        <p:txBody>
          <a:bodyPr/>
          <a:lstStyle/>
          <a:p>
            <a:r>
              <a:rPr lang="en-US" dirty="0"/>
              <a:t>Sorting “Landscape”</a:t>
            </a:r>
          </a:p>
        </p:txBody>
      </p:sp>
      <p:sp>
        <p:nvSpPr>
          <p:cNvPr id="3" name="Content Placeholder 2">
            <a:extLst>
              <a:ext uri="{FF2B5EF4-FFF2-40B4-BE49-F238E27FC236}">
                <a16:creationId xmlns:a16="http://schemas.microsoft.com/office/drawing/2014/main" id="{C4887EE2-0B7B-E6D3-DAF0-140E12D6FB63}"/>
              </a:ext>
            </a:extLst>
          </p:cNvPr>
          <p:cNvSpPr>
            <a:spLocks noGrp="1"/>
          </p:cNvSpPr>
          <p:nvPr>
            <p:ph idx="1"/>
          </p:nvPr>
        </p:nvSpPr>
        <p:spPr/>
        <p:txBody>
          <a:bodyPr/>
          <a:lstStyle/>
          <a:p>
            <a:r>
              <a:rPr lang="en-US" dirty="0"/>
              <a:t>There is no singular best algorithm for sorting</a:t>
            </a:r>
          </a:p>
          <a:p>
            <a:r>
              <a:rPr lang="en-US" dirty="0"/>
              <a:t>Some are faster, some are slower</a:t>
            </a:r>
          </a:p>
          <a:p>
            <a:r>
              <a:rPr lang="en-US" dirty="0"/>
              <a:t>Some use more memory, some use less</a:t>
            </a:r>
          </a:p>
          <a:p>
            <a:r>
              <a:rPr lang="en-US" dirty="0"/>
              <a:t>Some are super extra fast if your data matches particular assumptions</a:t>
            </a:r>
          </a:p>
          <a:p>
            <a:r>
              <a:rPr lang="en-US" dirty="0"/>
              <a:t>Some have other special properties that make them valuable</a:t>
            </a:r>
          </a:p>
          <a:p>
            <a:r>
              <a:rPr lang="en-US" dirty="0"/>
              <a:t>No sorting algorithm can have only all the “best” attributes</a:t>
            </a:r>
          </a:p>
        </p:txBody>
      </p:sp>
    </p:spTree>
    <p:extLst>
      <p:ext uri="{BB962C8B-B14F-4D97-AF65-F5344CB8AC3E}">
        <p14:creationId xmlns:p14="http://schemas.microsoft.com/office/powerpoint/2010/main" val="34692532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Content Placeholder 2"/>
          <p:cNvSpPr>
            <a:spLocks noGrp="1"/>
          </p:cNvSpPr>
          <p:nvPr>
            <p:ph idx="1"/>
          </p:nvPr>
        </p:nvSpPr>
        <p:spPr>
          <a:xfrm>
            <a:off x="1981200" y="1600201"/>
            <a:ext cx="8229600" cy="1066800"/>
          </a:xfrm>
        </p:spPr>
        <p:txBody>
          <a:bodyPr/>
          <a:lstStyle/>
          <a:p>
            <a:r>
              <a:rPr lang="en-US" dirty="0"/>
              <a:t>Idea: Maintain a </a:t>
            </a:r>
            <a:r>
              <a:rPr lang="en-US" dirty="0">
                <a:solidFill>
                  <a:srgbClr val="FF0000"/>
                </a:solidFill>
              </a:rPr>
              <a:t>sorted list prefix</a:t>
            </a:r>
            <a:r>
              <a:rPr lang="en-US" dirty="0"/>
              <a:t>, extend that prefix by “inserting” the </a:t>
            </a:r>
            <a:r>
              <a:rPr lang="en-US" dirty="0">
                <a:solidFill>
                  <a:schemeClr val="accent1"/>
                </a:solidFill>
              </a:rPr>
              <a:t>next element</a:t>
            </a:r>
          </a:p>
        </p:txBody>
      </p:sp>
      <p:sp>
        <p:nvSpPr>
          <p:cNvPr id="4" name="Slide Number Placeholder 3"/>
          <p:cNvSpPr>
            <a:spLocks noGrp="1"/>
          </p:cNvSpPr>
          <p:nvPr>
            <p:ph type="sldNum" sz="quarter" idx="12"/>
          </p:nvPr>
        </p:nvSpPr>
        <p:spPr/>
        <p:txBody>
          <a:bodyPr/>
          <a:lstStyle/>
          <a:p>
            <a:fld id="{86BADE50-950A-4D58-BFB2-FA2C6A8B385D}" type="slidenum">
              <a:rPr lang="en-US" smtClean="0"/>
              <a:t>22</a:t>
            </a:fld>
            <a:endParaRPr lang="en-US"/>
          </a:p>
        </p:txBody>
      </p:sp>
      <p:grpSp>
        <p:nvGrpSpPr>
          <p:cNvPr id="45" name="Group 44" descr="Because 9 is smaller than 12, we swap the values so that 9 is now at index 5 and 12 is at index 6.&#10;&#10;Next we compare 9 with the item at index 4, in this case that value is 10."/>
          <p:cNvGrpSpPr/>
          <p:nvPr/>
        </p:nvGrpSpPr>
        <p:grpSpPr>
          <a:xfrm>
            <a:off x="2855224" y="4114800"/>
            <a:ext cx="6403076" cy="533400"/>
            <a:chOff x="1064524" y="3429000"/>
            <a:chExt cx="6403076" cy="533400"/>
          </a:xfrm>
        </p:grpSpPr>
        <p:sp>
          <p:nvSpPr>
            <p:cNvPr id="46" name="Rectangle 45"/>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7" name="Rectangle 46"/>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8" name="Rectangle 47"/>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9" name="Rectangle 48"/>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 name="Rectangle 49"/>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1" name="Rectangle 50"/>
            <p:cNvSpPr/>
            <p:nvPr/>
          </p:nvSpPr>
          <p:spPr>
            <a:xfrm>
              <a:off x="3732662"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53" name="Rectangle 52"/>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4" name="Rectangle 53"/>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6" name="Rectangle 55"/>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7" name="Rectangle 56"/>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grpSp>
        <p:nvGrpSpPr>
          <p:cNvPr id="58" name="Group 57" descr="Because 9 is smaller than 14, we swap the values so that 9 is now at index 4 and 10 is at index 5.&#10;&#10;Next we compare 9 with the item at index 3, in this case that value is 8."/>
          <p:cNvGrpSpPr/>
          <p:nvPr/>
        </p:nvGrpSpPr>
        <p:grpSpPr>
          <a:xfrm>
            <a:off x="2855224" y="4800600"/>
            <a:ext cx="6403076" cy="533400"/>
            <a:chOff x="1064524" y="3429000"/>
            <a:chExt cx="6403076" cy="533400"/>
          </a:xfrm>
        </p:grpSpPr>
        <p:sp>
          <p:nvSpPr>
            <p:cNvPr id="59" name="Rectangle 58"/>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0" name="Rectangle 59"/>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1" name="Rectangle 60"/>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Rectangle 61"/>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3" name="Rectangle 62"/>
            <p:cNvSpPr/>
            <p:nvPr/>
          </p:nvSpPr>
          <p:spPr>
            <a:xfrm>
              <a:off x="3198693"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4" name="Rectangle 63"/>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5" name="Rectangle 64"/>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66" name="Rectangle 65"/>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7" name="Rectangle 66"/>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8" name="Rectangle 67"/>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9" name="Rectangle 68"/>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grpSp>
        <p:nvGrpSpPr>
          <p:cNvPr id="5" name="Group 4" descr="A partially-sorted array. Indices 0 through 5 are in sorted order (ascending), and we call this the &quot;sorted prefix&quot; of the array. The next step is to extend the length of the sorted prefix by placing index 6 in the right place.&#10;&#10;We do that by comparing that item with the item immediately before it in the array. If the new item is smaller, we swap it with the value to its left and continue. If larger then we are done with inserting that new item.&#10;&#10;In this case, the new item at index 6 is 9 and the item at index 5 is 12. ">
            <a:extLst>
              <a:ext uri="{FF2B5EF4-FFF2-40B4-BE49-F238E27FC236}">
                <a16:creationId xmlns:a16="http://schemas.microsoft.com/office/drawing/2014/main" id="{EE922EF1-E50C-6B91-FADC-0E8729A431BF}"/>
              </a:ext>
            </a:extLst>
          </p:cNvPr>
          <p:cNvGrpSpPr/>
          <p:nvPr/>
        </p:nvGrpSpPr>
        <p:grpSpPr>
          <a:xfrm>
            <a:off x="2855224" y="2678668"/>
            <a:ext cx="6403076" cy="1283732"/>
            <a:chOff x="2855224" y="2678668"/>
            <a:chExt cx="6403076" cy="1283732"/>
          </a:xfrm>
        </p:grpSpPr>
        <p:grpSp>
          <p:nvGrpSpPr>
            <p:cNvPr id="30" name="Group 29"/>
            <p:cNvGrpSpPr/>
            <p:nvPr/>
          </p:nvGrpSpPr>
          <p:grpSpPr>
            <a:xfrm>
              <a:off x="2855224" y="3429000"/>
              <a:ext cx="6403076" cy="533400"/>
              <a:chOff x="1064524" y="3429000"/>
              <a:chExt cx="6403076" cy="533400"/>
            </a:xfrm>
          </p:grpSpPr>
          <p:sp>
            <p:nvSpPr>
              <p:cNvPr id="31" name="Rectangle 30"/>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2" name="Rectangle 31"/>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3" name="Rectangle 32"/>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4" name="Rectangle 33"/>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5" name="Rectangle 34"/>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Rectangle 35"/>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7" name="Rectangle 36"/>
              <p:cNvSpPr/>
              <p:nvPr/>
            </p:nvSpPr>
            <p:spPr>
              <a:xfrm>
                <a:off x="4266062"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8" name="Rectangle 37"/>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9" name="Rectangle 38"/>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0" name="Rectangle 39"/>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1" name="Rectangle 40"/>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2" name="Rectangle 41"/>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4" name="TextBox 43"/>
            <p:cNvSpPr txBox="1"/>
            <p:nvPr/>
          </p:nvSpPr>
          <p:spPr>
            <a:xfrm>
              <a:off x="3761508" y="2678668"/>
              <a:ext cx="1388970" cy="369332"/>
            </a:xfrm>
            <a:prstGeom prst="rect">
              <a:avLst/>
            </a:prstGeom>
            <a:noFill/>
          </p:spPr>
          <p:txBody>
            <a:bodyPr wrap="none" rtlCol="0">
              <a:spAutoFit/>
            </a:bodyPr>
            <a:lstStyle/>
            <a:p>
              <a:r>
                <a:rPr lang="en-US" dirty="0">
                  <a:solidFill>
                    <a:srgbClr val="FF0000"/>
                  </a:solidFill>
                </a:rPr>
                <a:t>Sorted Prefix</a:t>
              </a:r>
            </a:p>
          </p:txBody>
        </p:sp>
        <p:sp>
          <p:nvSpPr>
            <p:cNvPr id="84" name="Right Brace 83"/>
            <p:cNvSpPr/>
            <p:nvPr/>
          </p:nvSpPr>
          <p:spPr>
            <a:xfrm rot="16200000">
              <a:off x="4227393" y="1599631"/>
              <a:ext cx="457200" cy="320153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6" name="Group 5" descr="Because 9 is greater than or equal to 8 we do not swap the values, and now the sorted prefix has been extended by 1 index.&#10;">
            <a:extLst>
              <a:ext uri="{FF2B5EF4-FFF2-40B4-BE49-F238E27FC236}">
                <a16:creationId xmlns:a16="http://schemas.microsoft.com/office/drawing/2014/main" id="{A76D8002-1B77-BB07-1975-451E6BD8DE4B}"/>
              </a:ext>
            </a:extLst>
          </p:cNvPr>
          <p:cNvGrpSpPr/>
          <p:nvPr/>
        </p:nvGrpSpPr>
        <p:grpSpPr>
          <a:xfrm>
            <a:off x="2855224" y="5421868"/>
            <a:ext cx="6403076" cy="1283732"/>
            <a:chOff x="2855224" y="5421868"/>
            <a:chExt cx="6403076" cy="1283732"/>
          </a:xfrm>
        </p:grpSpPr>
        <p:sp>
          <p:nvSpPr>
            <p:cNvPr id="43" name="Right Brace 42"/>
            <p:cNvSpPr/>
            <p:nvPr/>
          </p:nvSpPr>
          <p:spPr>
            <a:xfrm rot="16200000">
              <a:off x="4494093" y="4076131"/>
              <a:ext cx="457200" cy="373493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1" name="Group 70"/>
            <p:cNvGrpSpPr/>
            <p:nvPr/>
          </p:nvGrpSpPr>
          <p:grpSpPr>
            <a:xfrm>
              <a:off x="2855224" y="6172200"/>
              <a:ext cx="6403076" cy="533400"/>
              <a:chOff x="1064524" y="3429000"/>
              <a:chExt cx="6403076" cy="533400"/>
            </a:xfrm>
          </p:grpSpPr>
          <p:sp>
            <p:nvSpPr>
              <p:cNvPr id="72" name="Rectangle 71"/>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3" name="Rectangle 72"/>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5" name="Rectangle 74"/>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6" name="Rectangle 75"/>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8" name="Rectangle 77"/>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79" name="Rectangle 78"/>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1" name="Rectangle 80"/>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2" name="Rectangle 81"/>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85" name="TextBox 84"/>
            <p:cNvSpPr txBox="1"/>
            <p:nvPr/>
          </p:nvSpPr>
          <p:spPr>
            <a:xfrm>
              <a:off x="4028208" y="5421868"/>
              <a:ext cx="1388970" cy="369332"/>
            </a:xfrm>
            <a:prstGeom prst="rect">
              <a:avLst/>
            </a:prstGeom>
            <a:noFill/>
          </p:spPr>
          <p:txBody>
            <a:bodyPr wrap="none" rtlCol="0">
              <a:spAutoFit/>
            </a:bodyPr>
            <a:lstStyle/>
            <a:p>
              <a:r>
                <a:rPr lang="en-US" dirty="0">
                  <a:solidFill>
                    <a:srgbClr val="FF0000"/>
                  </a:solidFill>
                </a:rPr>
                <a:t>Sorted Prefix</a:t>
              </a:r>
            </a:p>
          </p:txBody>
        </p:sp>
      </p:grpSp>
    </p:spTree>
    <p:extLst>
      <p:ext uri="{BB962C8B-B14F-4D97-AF65-F5344CB8AC3E}">
        <p14:creationId xmlns:p14="http://schemas.microsoft.com/office/powerpoint/2010/main" val="4040783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0E331-20F3-CCA9-529D-FE34B4D8C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F9BF5-3D98-FDB3-0536-F52EC51AEA50}"/>
              </a:ext>
            </a:extLst>
          </p:cNvPr>
          <p:cNvSpPr>
            <a:spLocks noGrp="1"/>
          </p:cNvSpPr>
          <p:nvPr>
            <p:ph type="title"/>
          </p:nvPr>
        </p:nvSpPr>
        <p:spPr/>
        <p:txBody>
          <a:bodyPr/>
          <a:lstStyle/>
          <a:p>
            <a:r>
              <a:rPr lang="en-US" dirty="0"/>
              <a:t>Insertion Sort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098659-16A5-7134-405A-EC34150F6932}"/>
                  </a:ext>
                </a:extLst>
              </p:cNvPr>
              <p:cNvSpPr>
                <a:spLocks noGrp="1"/>
              </p:cNvSpPr>
              <p:nvPr>
                <p:ph idx="1"/>
              </p:nvPr>
            </p:nvSpPr>
            <p:spPr>
              <a:xfrm>
                <a:off x="838200" y="1402188"/>
                <a:ext cx="11252200" cy="1678693"/>
              </a:xfrm>
            </p:spPr>
            <p:txBody>
              <a:bodyPr>
                <a:normAutofit fontScale="77500" lnSpcReduction="20000"/>
              </a:bodyPr>
              <a:lstStyle/>
              <a:p>
                <a:r>
                  <a:rPr lang="en-US" dirty="0"/>
                  <a:t>If the items at index </a:t>
                </a:r>
                <a14:m>
                  <m:oMath xmlns:m="http://schemas.openxmlformats.org/officeDocument/2006/math">
                    <m:r>
                      <a:rPr lang="en-US" b="0" i="1" smtClean="0">
                        <a:latin typeface="Cambria Math" panose="02040503050406030204" pitchFamily="18" charset="0"/>
                      </a:rPr>
                      <m:t>0</m:t>
                    </m:r>
                  </m:oMath>
                </a14:m>
                <a:r>
                  <a:rPr lang="en-US" dirty="0"/>
                  <a:t> and </a:t>
                </a:r>
                <a14:m>
                  <m:oMath xmlns:m="http://schemas.openxmlformats.org/officeDocument/2006/math">
                    <m:r>
                      <a:rPr lang="en-US" b="0" i="1" smtClean="0">
                        <a:latin typeface="Cambria Math" panose="02040503050406030204" pitchFamily="18" charset="0"/>
                      </a:rPr>
                      <m:t>1</m:t>
                    </m:r>
                  </m:oMath>
                </a14:m>
                <a:r>
                  <a:rPr lang="en-US" dirty="0"/>
                  <a:t> are out of order, swap them</a:t>
                </a:r>
              </a:p>
              <a:p>
                <a:r>
                  <a:rPr lang="en-US" dirty="0"/>
                  <a:t>Keep swapping the item at index </a:t>
                </a:r>
                <a14:m>
                  <m:oMath xmlns:m="http://schemas.openxmlformats.org/officeDocument/2006/math">
                    <m:r>
                      <a:rPr lang="en-US" b="0" i="1" smtClean="0">
                        <a:latin typeface="Cambria Math" panose="02040503050406030204" pitchFamily="18" charset="0"/>
                      </a:rPr>
                      <m:t>2</m:t>
                    </m:r>
                  </m:oMath>
                </a14:m>
                <a:r>
                  <a:rPr lang="en-US" dirty="0"/>
                  <a:t> with the thing to its left as long as the left thing is larger</a:t>
                </a:r>
              </a:p>
              <a:p>
                <a:r>
                  <a:rPr lang="en-US" dirty="0"/>
                  <a:t>…</a:t>
                </a:r>
              </a:p>
              <a:p>
                <a:r>
                  <a:rPr lang="en-US" dirty="0"/>
                  <a:t>Keep swapping the item at index </a:t>
                </a:r>
                <a14:m>
                  <m:oMath xmlns:m="http://schemas.openxmlformats.org/officeDocument/2006/math">
                    <m:r>
                      <a:rPr lang="en-US" b="0" i="1" smtClean="0">
                        <a:latin typeface="Cambria Math" panose="02040503050406030204" pitchFamily="18" charset="0"/>
                      </a:rPr>
                      <m:t>𝑖</m:t>
                    </m:r>
                  </m:oMath>
                </a14:m>
                <a:r>
                  <a:rPr lang="en-US" dirty="0"/>
                  <a:t> with the thing to its left as long as the left thing is larger</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475C29A1-5CF0-19FF-2850-9349F3E580DF}"/>
                  </a:ext>
                </a:extLst>
              </p:cNvPr>
              <p:cNvSpPr>
                <a:spLocks noGrp="1" noRot="1" noChangeAspect="1" noMove="1" noResize="1" noEditPoints="1" noAdjustHandles="1" noChangeArrowheads="1" noChangeShapeType="1" noTextEdit="1"/>
              </p:cNvSpPr>
              <p:nvPr>
                <p:ph idx="1"/>
              </p:nvPr>
            </p:nvSpPr>
            <p:spPr>
              <a:xfrm>
                <a:off x="838200" y="1402188"/>
                <a:ext cx="11252200" cy="1678693"/>
              </a:xfrm>
              <a:blipFill>
                <a:blip r:embed="rId2"/>
                <a:stretch>
                  <a:fillRect l="-650" t="-763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E58BB90-BAEE-B9B7-5449-BE92204DBDC4}"/>
              </a:ext>
            </a:extLst>
          </p:cNvPr>
          <p:cNvSpPr txBox="1"/>
          <p:nvPr/>
        </p:nvSpPr>
        <p:spPr>
          <a:xfrm>
            <a:off x="574040" y="2548283"/>
            <a:ext cx="4434840" cy="3139321"/>
          </a:xfrm>
          <a:prstGeom prst="rect">
            <a:avLst/>
          </a:prstGeom>
          <a:noFill/>
        </p:spPr>
        <p:txBody>
          <a:bodyPr wrap="square" rtlCol="0">
            <a:spAutoFit/>
          </a:bodyPr>
          <a:lstStyle/>
          <a:p>
            <a:endParaRPr lang="en-US" dirty="0"/>
          </a:p>
          <a:p>
            <a:r>
              <a:rPr lang="en-US" dirty="0"/>
              <a:t>for (</a:t>
            </a:r>
            <a:r>
              <a:rPr lang="en-US" dirty="0" err="1"/>
              <a:t>i</a:t>
            </a:r>
            <a:r>
              <a:rPr lang="en-US" dirty="0"/>
              <a:t>=1; </a:t>
            </a:r>
            <a:r>
              <a:rPr lang="en-US" dirty="0" err="1"/>
              <a:t>i</a:t>
            </a:r>
            <a:r>
              <a:rPr lang="en-US" dirty="0"/>
              <a:t>&lt;</a:t>
            </a:r>
            <a:r>
              <a:rPr lang="en-US" dirty="0" err="1"/>
              <a:t>a.length</a:t>
            </a:r>
            <a:r>
              <a:rPr lang="en-US" dirty="0"/>
              <a:t>; </a:t>
            </a:r>
            <a:r>
              <a:rPr lang="en-US" dirty="0" err="1"/>
              <a:t>i</a:t>
            </a:r>
            <a:r>
              <a:rPr lang="en-US" dirty="0"/>
              <a:t>++){</a:t>
            </a:r>
          </a:p>
          <a:p>
            <a:r>
              <a:rPr lang="en-US" dirty="0"/>
              <a:t>        </a:t>
            </a:r>
            <a:r>
              <a:rPr lang="en-US" dirty="0" err="1"/>
              <a:t>prev</a:t>
            </a:r>
            <a:r>
              <a:rPr lang="en-US" dirty="0"/>
              <a:t> = i-1;</a:t>
            </a:r>
          </a:p>
          <a:p>
            <a:r>
              <a:rPr lang="en-US" dirty="0"/>
              <a:t>        while(a[</a:t>
            </a:r>
            <a:r>
              <a:rPr lang="en-US" dirty="0" err="1"/>
              <a:t>i</a:t>
            </a:r>
            <a:r>
              <a:rPr lang="en-US" dirty="0"/>
              <a:t>] &lt; a[</a:t>
            </a:r>
            <a:r>
              <a:rPr lang="en-US" dirty="0" err="1"/>
              <a:t>prev</a:t>
            </a:r>
            <a:r>
              <a:rPr lang="en-US" dirty="0"/>
              <a:t>] &amp;&amp; </a:t>
            </a:r>
            <a:r>
              <a:rPr lang="en-US" dirty="0" err="1"/>
              <a:t>prev</a:t>
            </a:r>
            <a:r>
              <a:rPr lang="en-US" dirty="0"/>
              <a:t> &gt; -1){</a:t>
            </a:r>
          </a:p>
          <a:p>
            <a:r>
              <a:rPr lang="en-US" dirty="0"/>
              <a:t>                temp = a[</a:t>
            </a:r>
            <a:r>
              <a:rPr lang="en-US" dirty="0" err="1"/>
              <a:t>i</a:t>
            </a:r>
            <a:r>
              <a:rPr lang="en-US" dirty="0"/>
              <a:t>];</a:t>
            </a:r>
          </a:p>
          <a:p>
            <a:r>
              <a:rPr lang="en-US" dirty="0"/>
              <a:t>                a[</a:t>
            </a:r>
            <a:r>
              <a:rPr lang="en-US" dirty="0" err="1"/>
              <a:t>i</a:t>
            </a:r>
            <a:r>
              <a:rPr lang="en-US" dirty="0"/>
              <a:t>] = a[</a:t>
            </a:r>
            <a:r>
              <a:rPr lang="en-US" dirty="0" err="1"/>
              <a:t>prev</a:t>
            </a:r>
            <a:r>
              <a:rPr lang="en-US" dirty="0"/>
              <a:t>];</a:t>
            </a:r>
          </a:p>
          <a:p>
            <a:r>
              <a:rPr lang="en-US" dirty="0"/>
              <a:t>                a[</a:t>
            </a:r>
            <a:r>
              <a:rPr lang="en-US" dirty="0" err="1"/>
              <a:t>prev</a:t>
            </a:r>
            <a:r>
              <a:rPr lang="en-US" dirty="0"/>
              <a:t>] = a[</a:t>
            </a:r>
            <a:r>
              <a:rPr lang="en-US" dirty="0" err="1"/>
              <a:t>i</a:t>
            </a:r>
            <a:r>
              <a:rPr lang="en-US" dirty="0"/>
              <a:t>];</a:t>
            </a:r>
          </a:p>
          <a:p>
            <a:r>
              <a:rPr lang="en-US" dirty="0"/>
              <a:t>                </a:t>
            </a:r>
            <a:r>
              <a:rPr lang="en-US" dirty="0" err="1"/>
              <a:t>i</a:t>
            </a:r>
            <a:r>
              <a:rPr lang="en-US" dirty="0"/>
              <a:t>--;</a:t>
            </a:r>
          </a:p>
          <a:p>
            <a:r>
              <a:rPr lang="en-US" dirty="0"/>
              <a:t>                </a:t>
            </a:r>
            <a:r>
              <a:rPr lang="en-US" dirty="0" err="1"/>
              <a:t>prev</a:t>
            </a:r>
            <a:r>
              <a:rPr lang="en-US" dirty="0"/>
              <a:t>--;</a:t>
            </a:r>
          </a:p>
          <a:p>
            <a:r>
              <a:rPr lang="en-US" dirty="0"/>
              <a:t>        }</a:t>
            </a:r>
          </a:p>
          <a:p>
            <a:r>
              <a:rPr lang="en-US" dirty="0"/>
              <a:t>}</a:t>
            </a:r>
          </a:p>
        </p:txBody>
      </p:sp>
      <p:grpSp>
        <p:nvGrpSpPr>
          <p:cNvPr id="5" name="Group 4" descr="An example array of length 16.">
            <a:extLst>
              <a:ext uri="{FF2B5EF4-FFF2-40B4-BE49-F238E27FC236}">
                <a16:creationId xmlns:a16="http://schemas.microsoft.com/office/drawing/2014/main" id="{B343D3DA-59A4-B54A-4F40-B87EDBA1D353}"/>
              </a:ext>
            </a:extLst>
          </p:cNvPr>
          <p:cNvGrpSpPr/>
          <p:nvPr/>
        </p:nvGrpSpPr>
        <p:grpSpPr>
          <a:xfrm>
            <a:off x="386080" y="5753526"/>
            <a:ext cx="11704320" cy="1259840"/>
            <a:chOff x="243840" y="4477752"/>
            <a:chExt cx="11704320" cy="1259840"/>
          </a:xfrm>
        </p:grpSpPr>
        <p:grpSp>
          <p:nvGrpSpPr>
            <p:cNvPr id="6" name="Group 5">
              <a:extLst>
                <a:ext uri="{FF2B5EF4-FFF2-40B4-BE49-F238E27FC236}">
                  <a16:creationId xmlns:a16="http://schemas.microsoft.com/office/drawing/2014/main" id="{7CA5C76A-D35B-BCA5-454F-5FB327976D40}"/>
                </a:ext>
              </a:extLst>
            </p:cNvPr>
            <p:cNvGrpSpPr/>
            <p:nvPr/>
          </p:nvGrpSpPr>
          <p:grpSpPr>
            <a:xfrm>
              <a:off x="243840" y="5006072"/>
              <a:ext cx="11704320" cy="731520"/>
              <a:chOff x="396240" y="2824480"/>
              <a:chExt cx="11704320" cy="731520"/>
            </a:xfrm>
            <a:solidFill>
              <a:schemeClr val="bg1"/>
            </a:solidFill>
          </p:grpSpPr>
          <p:sp>
            <p:nvSpPr>
              <p:cNvPr id="24" name="Rectangle 23">
                <a:extLst>
                  <a:ext uri="{FF2B5EF4-FFF2-40B4-BE49-F238E27FC236}">
                    <a16:creationId xmlns:a16="http://schemas.microsoft.com/office/drawing/2014/main" id="{E16B1BE7-0A96-E2B9-79C5-E628D72B312A}"/>
                  </a:ext>
                </a:extLst>
              </p:cNvPr>
              <p:cNvSpPr/>
              <p:nvPr/>
            </p:nvSpPr>
            <p:spPr>
              <a:xfrm>
                <a:off x="3962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5" name="Rectangle 24">
                <a:extLst>
                  <a:ext uri="{FF2B5EF4-FFF2-40B4-BE49-F238E27FC236}">
                    <a16:creationId xmlns:a16="http://schemas.microsoft.com/office/drawing/2014/main" id="{8E45602C-48BA-D233-5C94-C4F703C5AC36}"/>
                  </a:ext>
                </a:extLst>
              </p:cNvPr>
              <p:cNvSpPr/>
              <p:nvPr/>
            </p:nvSpPr>
            <p:spPr>
              <a:xfrm>
                <a:off x="11277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Rectangle 25">
                <a:extLst>
                  <a:ext uri="{FF2B5EF4-FFF2-40B4-BE49-F238E27FC236}">
                    <a16:creationId xmlns:a16="http://schemas.microsoft.com/office/drawing/2014/main" id="{4B09463F-0509-11CC-B101-953228211CD1}"/>
                  </a:ext>
                </a:extLst>
              </p:cNvPr>
              <p:cNvSpPr/>
              <p:nvPr/>
            </p:nvSpPr>
            <p:spPr>
              <a:xfrm>
                <a:off x="18592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7" name="Rectangle 26">
                <a:extLst>
                  <a:ext uri="{FF2B5EF4-FFF2-40B4-BE49-F238E27FC236}">
                    <a16:creationId xmlns:a16="http://schemas.microsoft.com/office/drawing/2014/main" id="{4DC329C7-DC74-6724-ED3E-50C312F84212}"/>
                  </a:ext>
                </a:extLst>
              </p:cNvPr>
              <p:cNvSpPr/>
              <p:nvPr/>
            </p:nvSpPr>
            <p:spPr>
              <a:xfrm>
                <a:off x="25908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8" name="Rectangle 27">
                <a:extLst>
                  <a:ext uri="{FF2B5EF4-FFF2-40B4-BE49-F238E27FC236}">
                    <a16:creationId xmlns:a16="http://schemas.microsoft.com/office/drawing/2014/main" id="{C2D97124-608C-2DF9-B3A4-2AAE654AE3CE}"/>
                  </a:ext>
                </a:extLst>
              </p:cNvPr>
              <p:cNvSpPr/>
              <p:nvPr/>
            </p:nvSpPr>
            <p:spPr>
              <a:xfrm>
                <a:off x="33223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9" name="Rectangle 28">
                <a:extLst>
                  <a:ext uri="{FF2B5EF4-FFF2-40B4-BE49-F238E27FC236}">
                    <a16:creationId xmlns:a16="http://schemas.microsoft.com/office/drawing/2014/main" id="{DFD3AB5F-9C51-180B-32F2-F8DF0E7C79FB}"/>
                  </a:ext>
                </a:extLst>
              </p:cNvPr>
              <p:cNvSpPr/>
              <p:nvPr/>
            </p:nvSpPr>
            <p:spPr>
              <a:xfrm>
                <a:off x="40538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0" name="Rectangle 29">
                <a:extLst>
                  <a:ext uri="{FF2B5EF4-FFF2-40B4-BE49-F238E27FC236}">
                    <a16:creationId xmlns:a16="http://schemas.microsoft.com/office/drawing/2014/main" id="{4076E0A1-7DEC-046A-44F3-F836A89AB564}"/>
                  </a:ext>
                </a:extLst>
              </p:cNvPr>
              <p:cNvSpPr/>
              <p:nvPr/>
            </p:nvSpPr>
            <p:spPr>
              <a:xfrm>
                <a:off x="47853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1" name="Rectangle 30">
                <a:extLst>
                  <a:ext uri="{FF2B5EF4-FFF2-40B4-BE49-F238E27FC236}">
                    <a16:creationId xmlns:a16="http://schemas.microsoft.com/office/drawing/2014/main" id="{31FB865B-A48B-C1F0-4055-86E3AF1CD735}"/>
                  </a:ext>
                </a:extLst>
              </p:cNvPr>
              <p:cNvSpPr/>
              <p:nvPr/>
            </p:nvSpPr>
            <p:spPr>
              <a:xfrm>
                <a:off x="55168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2" name="Rectangle 31">
                <a:extLst>
                  <a:ext uri="{FF2B5EF4-FFF2-40B4-BE49-F238E27FC236}">
                    <a16:creationId xmlns:a16="http://schemas.microsoft.com/office/drawing/2014/main" id="{6BD7E841-70D7-EF34-D8DA-492233DEF5B8}"/>
                  </a:ext>
                </a:extLst>
              </p:cNvPr>
              <p:cNvSpPr/>
              <p:nvPr/>
            </p:nvSpPr>
            <p:spPr>
              <a:xfrm>
                <a:off x="62484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3" name="Rectangle 32">
                <a:extLst>
                  <a:ext uri="{FF2B5EF4-FFF2-40B4-BE49-F238E27FC236}">
                    <a16:creationId xmlns:a16="http://schemas.microsoft.com/office/drawing/2014/main" id="{DDA2AC22-37CE-7CBD-6923-3B1ECA1EFB00}"/>
                  </a:ext>
                </a:extLst>
              </p:cNvPr>
              <p:cNvSpPr/>
              <p:nvPr/>
            </p:nvSpPr>
            <p:spPr>
              <a:xfrm>
                <a:off x="69799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C4BDBCD4-1925-CA71-AC2A-CB19ADB2E7EB}"/>
                  </a:ext>
                </a:extLst>
              </p:cNvPr>
              <p:cNvSpPr/>
              <p:nvPr/>
            </p:nvSpPr>
            <p:spPr>
              <a:xfrm>
                <a:off x="77114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Rectangle 34">
                <a:extLst>
                  <a:ext uri="{FF2B5EF4-FFF2-40B4-BE49-F238E27FC236}">
                    <a16:creationId xmlns:a16="http://schemas.microsoft.com/office/drawing/2014/main" id="{703401D9-938F-4988-D114-D52178982E75}"/>
                  </a:ext>
                </a:extLst>
              </p:cNvPr>
              <p:cNvSpPr/>
              <p:nvPr/>
            </p:nvSpPr>
            <p:spPr>
              <a:xfrm>
                <a:off x="84429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6" name="Rectangle 35">
                <a:extLst>
                  <a:ext uri="{FF2B5EF4-FFF2-40B4-BE49-F238E27FC236}">
                    <a16:creationId xmlns:a16="http://schemas.microsoft.com/office/drawing/2014/main" id="{CBADE5FD-9645-A685-EC6C-4ACB47D801B6}"/>
                  </a:ext>
                </a:extLst>
              </p:cNvPr>
              <p:cNvSpPr/>
              <p:nvPr/>
            </p:nvSpPr>
            <p:spPr>
              <a:xfrm>
                <a:off x="91744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7" name="Rectangle 36">
                <a:extLst>
                  <a:ext uri="{FF2B5EF4-FFF2-40B4-BE49-F238E27FC236}">
                    <a16:creationId xmlns:a16="http://schemas.microsoft.com/office/drawing/2014/main" id="{397173FA-5A64-AF3F-F569-72237EBC8DF0}"/>
                  </a:ext>
                </a:extLst>
              </p:cNvPr>
              <p:cNvSpPr/>
              <p:nvPr/>
            </p:nvSpPr>
            <p:spPr>
              <a:xfrm>
                <a:off x="99060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13</a:t>
                </a:r>
              </a:p>
            </p:txBody>
          </p:sp>
          <p:sp>
            <p:nvSpPr>
              <p:cNvPr id="38" name="Rectangle 37">
                <a:extLst>
                  <a:ext uri="{FF2B5EF4-FFF2-40B4-BE49-F238E27FC236}">
                    <a16:creationId xmlns:a16="http://schemas.microsoft.com/office/drawing/2014/main" id="{1169D52A-B95A-177E-668D-F4F75B24BA66}"/>
                  </a:ext>
                </a:extLst>
              </p:cNvPr>
              <p:cNvSpPr/>
              <p:nvPr/>
            </p:nvSpPr>
            <p:spPr>
              <a:xfrm>
                <a:off x="106375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9" name="Rectangle 38">
                <a:extLst>
                  <a:ext uri="{FF2B5EF4-FFF2-40B4-BE49-F238E27FC236}">
                    <a16:creationId xmlns:a16="http://schemas.microsoft.com/office/drawing/2014/main" id="{7C68A7B1-53D1-760F-F735-A7BF68D416E3}"/>
                  </a:ext>
                </a:extLst>
              </p:cNvPr>
              <p:cNvSpPr/>
              <p:nvPr/>
            </p:nvSpPr>
            <p:spPr>
              <a:xfrm>
                <a:off x="113690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grpSp>
        <p:grpSp>
          <p:nvGrpSpPr>
            <p:cNvPr id="7" name="Group 6">
              <a:extLst>
                <a:ext uri="{FF2B5EF4-FFF2-40B4-BE49-F238E27FC236}">
                  <a16:creationId xmlns:a16="http://schemas.microsoft.com/office/drawing/2014/main" id="{6FE49A76-8214-DEAA-DB99-75FFD24EFCF8}"/>
                </a:ext>
              </a:extLst>
            </p:cNvPr>
            <p:cNvGrpSpPr/>
            <p:nvPr/>
          </p:nvGrpSpPr>
          <p:grpSpPr>
            <a:xfrm>
              <a:off x="243840" y="4477752"/>
              <a:ext cx="11704320" cy="731520"/>
              <a:chOff x="396240" y="2092960"/>
              <a:chExt cx="11704320" cy="731520"/>
            </a:xfrm>
            <a:solidFill>
              <a:schemeClr val="bg1"/>
            </a:solidFill>
          </p:grpSpPr>
          <p:sp>
            <p:nvSpPr>
              <p:cNvPr id="8" name="Rectangle 7">
                <a:extLst>
                  <a:ext uri="{FF2B5EF4-FFF2-40B4-BE49-F238E27FC236}">
                    <a16:creationId xmlns:a16="http://schemas.microsoft.com/office/drawing/2014/main" id="{A8A71A54-C5A5-DB95-0E59-BDC56B1EB660}"/>
                  </a:ext>
                </a:extLst>
              </p:cNvPr>
              <p:cNvSpPr/>
              <p:nvPr/>
            </p:nvSpPr>
            <p:spPr>
              <a:xfrm>
                <a:off x="3962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6867CBBB-57F5-6156-CC7F-0F53AAC3C25A}"/>
                  </a:ext>
                </a:extLst>
              </p:cNvPr>
              <p:cNvSpPr/>
              <p:nvPr/>
            </p:nvSpPr>
            <p:spPr>
              <a:xfrm>
                <a:off x="11277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77</a:t>
                </a:r>
              </a:p>
            </p:txBody>
          </p:sp>
          <p:sp>
            <p:nvSpPr>
              <p:cNvPr id="10" name="Rectangle 9">
                <a:extLst>
                  <a:ext uri="{FF2B5EF4-FFF2-40B4-BE49-F238E27FC236}">
                    <a16:creationId xmlns:a16="http://schemas.microsoft.com/office/drawing/2014/main" id="{883B7741-CE11-3CFA-12BA-A2A8D2338882}"/>
                  </a:ext>
                </a:extLst>
              </p:cNvPr>
              <p:cNvSpPr/>
              <p:nvPr/>
            </p:nvSpPr>
            <p:spPr>
              <a:xfrm>
                <a:off x="18592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Rectangle 10">
                <a:extLst>
                  <a:ext uri="{FF2B5EF4-FFF2-40B4-BE49-F238E27FC236}">
                    <a16:creationId xmlns:a16="http://schemas.microsoft.com/office/drawing/2014/main" id="{791D3FD3-8BC0-4C87-3351-3940FCA8126A}"/>
                  </a:ext>
                </a:extLst>
              </p:cNvPr>
              <p:cNvSpPr/>
              <p:nvPr/>
            </p:nvSpPr>
            <p:spPr>
              <a:xfrm>
                <a:off x="25908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2" name="Rectangle 11">
                <a:extLst>
                  <a:ext uri="{FF2B5EF4-FFF2-40B4-BE49-F238E27FC236}">
                    <a16:creationId xmlns:a16="http://schemas.microsoft.com/office/drawing/2014/main" id="{93F897B1-47CD-3B59-A097-B14CCE75C624}"/>
                  </a:ext>
                </a:extLst>
              </p:cNvPr>
              <p:cNvSpPr/>
              <p:nvPr/>
            </p:nvSpPr>
            <p:spPr>
              <a:xfrm>
                <a:off x="33223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a:extLst>
                  <a:ext uri="{FF2B5EF4-FFF2-40B4-BE49-F238E27FC236}">
                    <a16:creationId xmlns:a16="http://schemas.microsoft.com/office/drawing/2014/main" id="{06B1F38F-DD55-CC2E-6C2A-5DB49AAFA237}"/>
                  </a:ext>
                </a:extLst>
              </p:cNvPr>
              <p:cNvSpPr/>
              <p:nvPr/>
            </p:nvSpPr>
            <p:spPr>
              <a:xfrm>
                <a:off x="40538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22</a:t>
                </a:r>
              </a:p>
            </p:txBody>
          </p:sp>
          <p:sp>
            <p:nvSpPr>
              <p:cNvPr id="14" name="Rectangle 13">
                <a:extLst>
                  <a:ext uri="{FF2B5EF4-FFF2-40B4-BE49-F238E27FC236}">
                    <a16:creationId xmlns:a16="http://schemas.microsoft.com/office/drawing/2014/main" id="{6CFE8E7C-9F24-0F00-552E-109570A6ABF2}"/>
                  </a:ext>
                </a:extLst>
              </p:cNvPr>
              <p:cNvSpPr/>
              <p:nvPr/>
            </p:nvSpPr>
            <p:spPr>
              <a:xfrm>
                <a:off x="47853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64</a:t>
                </a:r>
              </a:p>
            </p:txBody>
          </p:sp>
          <p:sp>
            <p:nvSpPr>
              <p:cNvPr id="15" name="Rectangle 14">
                <a:extLst>
                  <a:ext uri="{FF2B5EF4-FFF2-40B4-BE49-F238E27FC236}">
                    <a16:creationId xmlns:a16="http://schemas.microsoft.com/office/drawing/2014/main" id="{95837BDE-6B9D-D32A-8539-3647CB118ECE}"/>
                  </a:ext>
                </a:extLst>
              </p:cNvPr>
              <p:cNvSpPr/>
              <p:nvPr/>
            </p:nvSpPr>
            <p:spPr>
              <a:xfrm>
                <a:off x="55168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41</a:t>
                </a:r>
              </a:p>
            </p:txBody>
          </p:sp>
          <p:sp>
            <p:nvSpPr>
              <p:cNvPr id="16" name="Rectangle 15">
                <a:extLst>
                  <a:ext uri="{FF2B5EF4-FFF2-40B4-BE49-F238E27FC236}">
                    <a16:creationId xmlns:a16="http://schemas.microsoft.com/office/drawing/2014/main" id="{2EDAFF3A-75D4-28F9-D4C9-88E3E0571C7C}"/>
                  </a:ext>
                </a:extLst>
              </p:cNvPr>
              <p:cNvSpPr/>
              <p:nvPr/>
            </p:nvSpPr>
            <p:spPr>
              <a:xfrm>
                <a:off x="62484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17" name="Rectangle 16">
                <a:extLst>
                  <a:ext uri="{FF2B5EF4-FFF2-40B4-BE49-F238E27FC236}">
                    <a16:creationId xmlns:a16="http://schemas.microsoft.com/office/drawing/2014/main" id="{D555E7F8-39F9-A788-E786-FD85131450A7}"/>
                  </a:ext>
                </a:extLst>
              </p:cNvPr>
              <p:cNvSpPr/>
              <p:nvPr/>
            </p:nvSpPr>
            <p:spPr>
              <a:xfrm>
                <a:off x="69799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a:t>
                </a:r>
              </a:p>
            </p:txBody>
          </p:sp>
          <p:sp>
            <p:nvSpPr>
              <p:cNvPr id="18" name="Rectangle 17">
                <a:extLst>
                  <a:ext uri="{FF2B5EF4-FFF2-40B4-BE49-F238E27FC236}">
                    <a16:creationId xmlns:a16="http://schemas.microsoft.com/office/drawing/2014/main" id="{E5BA0443-D92C-A299-5184-52D9C8AE1267}"/>
                  </a:ext>
                </a:extLst>
              </p:cNvPr>
              <p:cNvSpPr/>
              <p:nvPr/>
            </p:nvSpPr>
            <p:spPr>
              <a:xfrm>
                <a:off x="77114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30</a:t>
                </a:r>
              </a:p>
            </p:txBody>
          </p:sp>
          <p:sp>
            <p:nvSpPr>
              <p:cNvPr id="19" name="Rectangle 18">
                <a:extLst>
                  <a:ext uri="{FF2B5EF4-FFF2-40B4-BE49-F238E27FC236}">
                    <a16:creationId xmlns:a16="http://schemas.microsoft.com/office/drawing/2014/main" id="{E558145C-C0BE-2130-BD62-F822325A5897}"/>
                  </a:ext>
                </a:extLst>
              </p:cNvPr>
              <p:cNvSpPr/>
              <p:nvPr/>
            </p:nvSpPr>
            <p:spPr>
              <a:xfrm>
                <a:off x="84429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21</a:t>
                </a:r>
              </a:p>
            </p:txBody>
          </p:sp>
          <p:sp>
            <p:nvSpPr>
              <p:cNvPr id="20" name="Rectangle 19">
                <a:extLst>
                  <a:ext uri="{FF2B5EF4-FFF2-40B4-BE49-F238E27FC236}">
                    <a16:creationId xmlns:a16="http://schemas.microsoft.com/office/drawing/2014/main" id="{2BF56C43-CC2D-39FB-B008-B6C537100F52}"/>
                  </a:ext>
                </a:extLst>
              </p:cNvPr>
              <p:cNvSpPr/>
              <p:nvPr/>
            </p:nvSpPr>
            <p:spPr>
              <a:xfrm>
                <a:off x="91744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1" name="Rectangle 20">
                <a:extLst>
                  <a:ext uri="{FF2B5EF4-FFF2-40B4-BE49-F238E27FC236}">
                    <a16:creationId xmlns:a16="http://schemas.microsoft.com/office/drawing/2014/main" id="{B9CC1235-FA51-5634-E483-3A005CB6FDC0}"/>
                  </a:ext>
                </a:extLst>
              </p:cNvPr>
              <p:cNvSpPr/>
              <p:nvPr/>
            </p:nvSpPr>
            <p:spPr>
              <a:xfrm>
                <a:off x="99060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a:t>
                </a:r>
              </a:p>
            </p:txBody>
          </p:sp>
          <p:sp>
            <p:nvSpPr>
              <p:cNvPr id="22" name="Rectangle 21">
                <a:extLst>
                  <a:ext uri="{FF2B5EF4-FFF2-40B4-BE49-F238E27FC236}">
                    <a16:creationId xmlns:a16="http://schemas.microsoft.com/office/drawing/2014/main" id="{A00EEBB2-99AE-95FF-37D0-A7FBE731F418}"/>
                  </a:ext>
                </a:extLst>
              </p:cNvPr>
              <p:cNvSpPr/>
              <p:nvPr/>
            </p:nvSpPr>
            <p:spPr>
              <a:xfrm>
                <a:off x="106375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23</a:t>
                </a:r>
              </a:p>
            </p:txBody>
          </p:sp>
          <p:sp>
            <p:nvSpPr>
              <p:cNvPr id="23" name="Rectangle 22">
                <a:extLst>
                  <a:ext uri="{FF2B5EF4-FFF2-40B4-BE49-F238E27FC236}">
                    <a16:creationId xmlns:a16="http://schemas.microsoft.com/office/drawing/2014/main" id="{A52B96DF-C51F-4E3C-A897-851ABA305D30}"/>
                  </a:ext>
                </a:extLst>
              </p:cNvPr>
              <p:cNvSpPr/>
              <p:nvPr/>
            </p:nvSpPr>
            <p:spPr>
              <a:xfrm>
                <a:off x="113690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33</a:t>
                </a:r>
              </a:p>
            </p:txBody>
          </p:sp>
        </p:gr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71AE98B-8F51-8F57-6316-76142E05001A}"/>
                  </a:ext>
                </a:extLst>
              </p:cNvPr>
              <p:cNvSpPr txBox="1"/>
              <p:nvPr/>
            </p:nvSpPr>
            <p:spPr>
              <a:xfrm>
                <a:off x="5872480" y="3244334"/>
                <a:ext cx="4434840" cy="1421864"/>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C71AE98B-8F51-8F57-6316-76142E05001A}"/>
                  </a:ext>
                </a:extLst>
              </p:cNvPr>
              <p:cNvSpPr txBox="1">
                <a:spLocks noRot="1" noChangeAspect="1" noMove="1" noResize="1" noEditPoints="1" noAdjustHandles="1" noChangeArrowheads="1" noChangeShapeType="1" noTextEdit="1"/>
              </p:cNvSpPr>
              <p:nvPr/>
            </p:nvSpPr>
            <p:spPr>
              <a:xfrm>
                <a:off x="5872480" y="3244334"/>
                <a:ext cx="4434840" cy="1421864"/>
              </a:xfrm>
              <a:prstGeom prst="rect">
                <a:avLst/>
              </a:prstGeom>
              <a:blipFill>
                <a:blip r:embed="rId3"/>
                <a:stretch>
                  <a:fillRect l="-2747" t="-3863" b="-9013"/>
                </a:stretch>
              </a:blipFill>
            </p:spPr>
            <p:txBody>
              <a:bodyPr/>
              <a:lstStyle/>
              <a:p>
                <a:r>
                  <a:rPr lang="en-US">
                    <a:noFill/>
                  </a:rPr>
                  <a:t> </a:t>
                </a:r>
              </a:p>
            </p:txBody>
          </p:sp>
        </mc:Fallback>
      </mc:AlternateContent>
    </p:spTree>
    <p:extLst>
      <p:ext uri="{BB962C8B-B14F-4D97-AF65-F5344CB8AC3E}">
        <p14:creationId xmlns:p14="http://schemas.microsoft.com/office/powerpoint/2010/main" val="287612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Aside: Bubble Sort – we won’t cover it</a:t>
            </a:r>
          </a:p>
        </p:txBody>
      </p:sp>
      <p:sp>
        <p:nvSpPr>
          <p:cNvPr id="43" name="Rectangle 42">
            <a:extLst>
              <a:ext uri="{FF2B5EF4-FFF2-40B4-BE49-F238E27FC236}">
                <a16:creationId xmlns:a16="http://schemas.microsoft.com/office/drawing/2014/main" id="{21552B0C-C8EA-5FE1-FACD-42E9A140A7A4}"/>
              </a:ext>
            </a:extLst>
          </p:cNvPr>
          <p:cNvSpPr/>
          <p:nvPr/>
        </p:nvSpPr>
        <p:spPr>
          <a:xfrm>
            <a:off x="1691640" y="2680236"/>
            <a:ext cx="4989550" cy="2308324"/>
          </a:xfrm>
          <a:prstGeom prst="rect">
            <a:avLst/>
          </a:prstGeom>
        </p:spPr>
        <p:txBody>
          <a:bodyPr wrap="square">
            <a:spAutoFit/>
          </a:bodyPr>
          <a:lstStyle/>
          <a:p>
            <a:r>
              <a:rPr lang="en-US" sz="2400" dirty="0"/>
              <a:t>"the bubble sort seems to have nothing to recommend it, except a catchy name and the fact that it leads to some interesting theoretical problems” –Donald Knuth, The Art of Computer Programming</a:t>
            </a:r>
          </a:p>
        </p:txBody>
      </p:sp>
      <p:pic>
        <p:nvPicPr>
          <p:cNvPr id="44" name="Picture 2" descr="Donald Knuth">
            <a:extLst>
              <a:ext uri="{FF2B5EF4-FFF2-40B4-BE49-F238E27FC236}">
                <a16:creationId xmlns:a16="http://schemas.microsoft.com/office/drawing/2014/main" id="{652CD0CD-4B59-39AA-30BC-4349CC7734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7516" y="2733677"/>
            <a:ext cx="3382324" cy="2254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15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3" name="Content Placeholder 2"/>
          <p:cNvSpPr>
            <a:spLocks noGrp="1"/>
          </p:cNvSpPr>
          <p:nvPr>
            <p:ph idx="1"/>
          </p:nvPr>
        </p:nvSpPr>
        <p:spPr>
          <a:xfrm>
            <a:off x="1981200" y="1351280"/>
            <a:ext cx="8229600" cy="1066800"/>
          </a:xfrm>
        </p:spPr>
        <p:txBody>
          <a:bodyPr>
            <a:normAutofit fontScale="92500"/>
          </a:bodyPr>
          <a:lstStyle/>
          <a:p>
            <a:r>
              <a:rPr lang="en-US" dirty="0">
                <a:solidFill>
                  <a:schemeClr val="accent1"/>
                </a:solidFill>
              </a:rPr>
              <a:t>Idea</a:t>
            </a:r>
            <a:r>
              <a:rPr lang="en-US" dirty="0"/>
              <a:t>: Build a </a:t>
            </a:r>
            <a:r>
              <a:rPr lang="en-US" dirty="0" err="1"/>
              <a:t>maxHeap</a:t>
            </a:r>
            <a:r>
              <a:rPr lang="en-US" dirty="0"/>
              <a:t>, repeatedly extract the max element from the heap to build sorted list Right-to-Left</a:t>
            </a:r>
            <a:endParaRPr lang="en-US" dirty="0">
              <a:solidFill>
                <a:srgbClr val="FF33CC"/>
              </a:solidFill>
            </a:endParaRPr>
          </a:p>
        </p:txBody>
      </p:sp>
      <p:sp>
        <p:nvSpPr>
          <p:cNvPr id="28" name="TextBox 27"/>
          <p:cNvSpPr txBox="1"/>
          <p:nvPr/>
        </p:nvSpPr>
        <p:spPr>
          <a:xfrm>
            <a:off x="1025232" y="3167225"/>
            <a:ext cx="2209800" cy="1569660"/>
          </a:xfrm>
          <a:prstGeom prst="rect">
            <a:avLst/>
          </a:prstGeom>
          <a:noFill/>
        </p:spPr>
        <p:txBody>
          <a:bodyPr wrap="square" rtlCol="0">
            <a:spAutoFit/>
          </a:bodyPr>
          <a:lstStyle/>
          <a:p>
            <a:r>
              <a:rPr lang="en-US" sz="2400" dirty="0">
                <a:solidFill>
                  <a:srgbClr val="0070C0"/>
                </a:solidFill>
              </a:rPr>
              <a:t>Max Heap Property</a:t>
            </a:r>
            <a:r>
              <a:rPr lang="en-US" sz="2400" dirty="0"/>
              <a:t>: Each node is larger than its children</a:t>
            </a:r>
          </a:p>
        </p:txBody>
      </p:sp>
      <p:grpSp>
        <p:nvGrpSpPr>
          <p:cNvPr id="8" name="Group 7" descr="The given heap represented as an array. The items in the heap appear in the array beginning with index 0, and so the array has length 9 and contains 9 items. The order of the items follows a level-order traversal of the heap (which matches the order that the nodes' positions would have been created while adding).&#10;&#10;The array is populated as follows:&#10;index 0: 10&#10;index 1: 9&#10;index 2: 6&#10;index 3: 8&#10;index 4: 7&#10;index 5: 5&#10;index 6: 2&#10;index 7: 4&#10;index 8: 1&#10;index 9: 3">
            <a:extLst>
              <a:ext uri="{FF2B5EF4-FFF2-40B4-BE49-F238E27FC236}">
                <a16:creationId xmlns:a16="http://schemas.microsoft.com/office/drawing/2014/main" id="{91F7744C-2E21-A764-AA23-BCCE31B45F0D}"/>
              </a:ext>
            </a:extLst>
          </p:cNvPr>
          <p:cNvGrpSpPr/>
          <p:nvPr/>
        </p:nvGrpSpPr>
        <p:grpSpPr>
          <a:xfrm>
            <a:off x="3658928" y="5752972"/>
            <a:ext cx="5336453" cy="934004"/>
            <a:chOff x="2937459" y="2430742"/>
            <a:chExt cx="5336453" cy="934004"/>
          </a:xfrm>
        </p:grpSpPr>
        <p:grpSp>
          <p:nvGrpSpPr>
            <p:cNvPr id="27" name="Group 26"/>
            <p:cNvGrpSpPr/>
            <p:nvPr/>
          </p:nvGrpSpPr>
          <p:grpSpPr>
            <a:xfrm>
              <a:off x="2937459" y="2430742"/>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2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grpSp>
      <p:grpSp>
        <p:nvGrpSpPr>
          <p:cNvPr id="6" name="Group 5" descr="A max heap containing 10 items, making for a binary tree of 4 levels. The last level has 3 nodes in it. The nodes are as follows:&#10;&#10;- The root node is 10&#10;- the left child of 10 is 9, the right child is 6&#10;- the left child of 9 is 8, the right child is 7&#10;- the left child of 6 is 5, the right child is 2&#10;- the left child of 8 is 4, the right child is 1&#10;- the left child of 7 is 3, it has no right child&#10;- nodes 5, 2, 4, 1, and 3 are all leaves">
            <a:extLst>
              <a:ext uri="{FF2B5EF4-FFF2-40B4-BE49-F238E27FC236}">
                <a16:creationId xmlns:a16="http://schemas.microsoft.com/office/drawing/2014/main" id="{36747D5A-4D0B-D1DD-615A-B5239E5AC7F4}"/>
              </a:ext>
            </a:extLst>
          </p:cNvPr>
          <p:cNvGrpSpPr/>
          <p:nvPr/>
        </p:nvGrpSpPr>
        <p:grpSpPr>
          <a:xfrm>
            <a:off x="3235032" y="2288754"/>
            <a:ext cx="6934200" cy="3326602"/>
            <a:chOff x="2590801" y="3347010"/>
            <a:chExt cx="6934200" cy="3326602"/>
          </a:xfrm>
        </p:grpSpPr>
        <p:sp>
          <p:nvSpPr>
            <p:cNvPr id="5" name="Oval 4"/>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21880887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Building a Heap From “Scratch”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An unordered array. It contains 10 items.&#10;&#10;The items are, in order: 5, 6, 10, 3, 15, 8, 7, 14, 2, 1">
            <a:extLst>
              <a:ext uri="{FF2B5EF4-FFF2-40B4-BE49-F238E27FC236}">
                <a16:creationId xmlns:a16="http://schemas.microsoft.com/office/drawing/2014/main" id="{D2C070FD-E606-FE96-DBE1-D6B50F960BB6}"/>
              </a:ext>
            </a:extLst>
          </p:cNvPr>
          <p:cNvGrpSpPr/>
          <p:nvPr/>
        </p:nvGrpSpPr>
        <p:grpSpPr>
          <a:xfrm>
            <a:off x="6346877" y="2423531"/>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grpSp>
        <p:nvGrpSpPr>
          <p:cNvPr id="61" name="Group 60" descr="The heap that the array implicitly represents. This tree itself follows the shape property of the heap because the proper indices are occupied in the array. The tree does satisfy the heap property, because the items are in an arbitrary order in the array. Our goal is to move values around so that the heap property holds.&#10;&#10;The binary tree has 10 nodes and therefore 4 levels. The last level has 3 nodes in it. The nodes are as follows:&#10;&#10;- The root node is 5&#10;- the left child of 5 is 6, the right child is 10&#10;- the left child of 6 is 3, the right child is 15&#10;- the left child of 10 is 8, the right child is 7&#10;- the left child of 3 is 14, the right child is 2&#10;- the left child of 15 is 1, it has no right child&#10;- nodes 8, 7, 14, 2, and 1 are all leaves&#10;&#10;We highlight all nodes that violate the heap property (meaning they are larger than at least one child). Those nodes are: 6, 10, 3, and 1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505239" y="6248022"/>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64" name="TextBox 63">
            <a:extLst>
              <a:ext uri="{FF2B5EF4-FFF2-40B4-BE49-F238E27FC236}">
                <a16:creationId xmlns:a16="http://schemas.microsoft.com/office/drawing/2014/main" id="{69DE40CB-E466-39F7-D8B8-04BB5635AAE6}"/>
              </a:ext>
            </a:extLst>
          </p:cNvPr>
          <p:cNvSpPr txBox="1"/>
          <p:nvPr/>
        </p:nvSpPr>
        <p:spPr>
          <a:xfrm>
            <a:off x="7936205" y="5053758"/>
            <a:ext cx="3121688" cy="1015663"/>
          </a:xfrm>
          <a:prstGeom prst="rect">
            <a:avLst/>
          </a:prstGeom>
          <a:noFill/>
        </p:spPr>
        <p:txBody>
          <a:bodyPr wrap="none" rtlCol="0">
            <a:spAutoFit/>
          </a:bodyPr>
          <a:lstStyle/>
          <a:p>
            <a:r>
              <a:rPr lang="en-US" sz="2000" dirty="0"/>
              <a:t>Two ways for “fix” the heap:</a:t>
            </a:r>
          </a:p>
          <a:p>
            <a:pPr marL="342900" indent="-342900">
              <a:buAutoNum type="arabicParenR"/>
            </a:pPr>
            <a:r>
              <a:rPr lang="en-US" sz="2000" dirty="0"/>
              <a:t>Percolate Up</a:t>
            </a:r>
          </a:p>
          <a:p>
            <a:pPr marL="342900" indent="-342900">
              <a:buAutoNum type="arabicParenR"/>
            </a:pPr>
            <a:r>
              <a:rPr lang="en-US" sz="2000" dirty="0"/>
              <a:t>Percolate Down</a:t>
            </a:r>
          </a:p>
        </p:txBody>
      </p:sp>
    </p:spTree>
    <p:extLst>
      <p:ext uri="{BB962C8B-B14F-4D97-AF65-F5344CB8AC3E}">
        <p14:creationId xmlns:p14="http://schemas.microsoft.com/office/powerpoint/2010/main" val="301808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1EFF-DC2E-DD10-0292-33AAADA21D1C}"/>
              </a:ext>
            </a:extLst>
          </p:cNvPr>
          <p:cNvSpPr>
            <a:spLocks noGrp="1"/>
          </p:cNvSpPr>
          <p:nvPr>
            <p:ph type="title"/>
          </p:nvPr>
        </p:nvSpPr>
        <p:spPr/>
        <p:txBody>
          <a:bodyPr/>
          <a:lstStyle/>
          <a:p>
            <a:r>
              <a:rPr lang="en-US" dirty="0"/>
              <a:t>Floyd’s </a:t>
            </a:r>
            <a:r>
              <a:rPr lang="en-US" dirty="0" err="1"/>
              <a:t>buildHeap</a:t>
            </a:r>
            <a:r>
              <a:rPr lang="en-US" dirty="0"/>
              <a:t> method</a:t>
            </a:r>
          </a:p>
        </p:txBody>
      </p:sp>
      <p:sp>
        <p:nvSpPr>
          <p:cNvPr id="3" name="Content Placeholder 2">
            <a:extLst>
              <a:ext uri="{FF2B5EF4-FFF2-40B4-BE49-F238E27FC236}">
                <a16:creationId xmlns:a16="http://schemas.microsoft.com/office/drawing/2014/main" id="{98CD70E1-83BF-D071-92AA-72F7671FE765}"/>
              </a:ext>
            </a:extLst>
          </p:cNvPr>
          <p:cNvSpPr>
            <a:spLocks noGrp="1"/>
          </p:cNvSpPr>
          <p:nvPr>
            <p:ph idx="1"/>
          </p:nvPr>
        </p:nvSpPr>
        <p:spPr/>
        <p:txBody>
          <a:bodyPr/>
          <a:lstStyle/>
          <a:p>
            <a:r>
              <a:rPr lang="en-US" dirty="0"/>
              <a:t>Working towards the root, one row at a time, percolate down</a:t>
            </a:r>
          </a:p>
          <a:p>
            <a:endParaRPr lang="en-US" dirty="0"/>
          </a:p>
        </p:txBody>
      </p:sp>
      <p:sp>
        <p:nvSpPr>
          <p:cNvPr id="4" name="TextBox 3">
            <a:extLst>
              <a:ext uri="{FF2B5EF4-FFF2-40B4-BE49-F238E27FC236}">
                <a16:creationId xmlns:a16="http://schemas.microsoft.com/office/drawing/2014/main" id="{0AD2E5B4-7285-3ACB-0CCF-7D5C84D8A06C}"/>
              </a:ext>
            </a:extLst>
          </p:cNvPr>
          <p:cNvSpPr txBox="1"/>
          <p:nvPr/>
        </p:nvSpPr>
        <p:spPr>
          <a:xfrm>
            <a:off x="1188720" y="3262630"/>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350164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15) </a:t>
            </a:r>
          </a:p>
        </p:txBody>
      </p:sp>
      <p:grpSp>
        <p:nvGrpSpPr>
          <p:cNvPr id="4" name="Group 3" descr="The array representation of the heap.&#10;&#10;The items are, in order: 5, 6, 10, 3, 15, 8, 7, 14, 2, 1">
            <a:extLst>
              <a:ext uri="{FF2B5EF4-FFF2-40B4-BE49-F238E27FC236}">
                <a16:creationId xmlns:a16="http://schemas.microsoft.com/office/drawing/2014/main" id="{D2C070FD-E606-FE96-DBE1-D6B50F960BB6}"/>
              </a:ext>
            </a:extLst>
          </p:cNvPr>
          <p:cNvGrpSpPr/>
          <p:nvPr/>
        </p:nvGrpSpPr>
        <p:grpSpPr>
          <a:xfrm>
            <a:off x="6355651" y="2504716"/>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Beginning from the end of the array, we will percolate all of our nodes down. Leaves cannot violate the heap property, so we skip those, and instead begin with the first non-leaf, in this case 15.">
            <a:extLst>
              <a:ext uri="{FF2B5EF4-FFF2-40B4-BE49-F238E27FC236}">
                <a16:creationId xmlns:a16="http://schemas.microsoft.com/office/drawing/2014/main" id="{863756C4-FFEE-45CE-C290-81DC657DB3F1}"/>
              </a:ext>
            </a:extLst>
          </p:cNvPr>
          <p:cNvGrpSpPr/>
          <p:nvPr/>
        </p:nvGrpSpPr>
        <p:grpSpPr>
          <a:xfrm>
            <a:off x="214268"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156993" y="4237971"/>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36160994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3)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The node 15 was larger than its left child (1), and so we swap 15 with the left child. Now 15 is a leaf and so it no longer violates the heap property. 1 is smaller than its child (now 15), and so it does not violate the heap property either.&#10;&#10;We will next percolate the node 3 down.">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grpSp>
        <p:nvGrpSpPr>
          <p:cNvPr id="4" name="Group 3" descr="The array representation of the heap.&#10;&#10;The items are, in order: 5, 6, 10, 3, 1, 8, 7, 14, 2, 15">
            <a:extLst>
              <a:ext uri="{FF2B5EF4-FFF2-40B4-BE49-F238E27FC236}">
                <a16:creationId xmlns:a16="http://schemas.microsoft.com/office/drawing/2014/main" id="{D2C070FD-E606-FE96-DBE1-D6B50F960BB6}"/>
              </a:ext>
            </a:extLst>
          </p:cNvPr>
          <p:cNvGrpSpPr/>
          <p:nvPr/>
        </p:nvGrpSpPr>
        <p:grpSpPr>
          <a:xfrm>
            <a:off x="6451294" y="2956422"/>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57" name="TextBox 56">
            <a:extLst>
              <a:ext uri="{FF2B5EF4-FFF2-40B4-BE49-F238E27FC236}">
                <a16:creationId xmlns:a16="http://schemas.microsoft.com/office/drawing/2014/main" id="{9E8440DB-C25F-EEF0-74F8-E305D893D7FF}"/>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20082967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10)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3 is larger than its right child (2) and so we swap 3 with 2. Now 3 is a leaf and so it does not violate the heap property. 2 is smaller than both of its children, so it does not violate the heap property either.&#10;&#10;We will next percolate down on the node 10.">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grpSp>
        <p:nvGrpSpPr>
          <p:cNvPr id="4" name="Group 3" descr="The array representation of the heap.&#10;&#10;The items are, in order: 5, 6, 10, 2, 1, 8, 7, 14, 3, 15">
            <a:extLst>
              <a:ext uri="{FF2B5EF4-FFF2-40B4-BE49-F238E27FC236}">
                <a16:creationId xmlns:a16="http://schemas.microsoft.com/office/drawing/2014/main" id="{D2C070FD-E606-FE96-DBE1-D6B50F960BB6}"/>
              </a:ext>
            </a:extLst>
          </p:cNvPr>
          <p:cNvGrpSpPr/>
          <p:nvPr/>
        </p:nvGrpSpPr>
        <p:grpSpPr>
          <a:xfrm>
            <a:off x="6451294" y="2956422"/>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844001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6)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10 is larger than both of its child (8 and 7) and so we swap with the smallest child (7). Now 10 is a leaf and so it does not violate the heap property. 7 is smaller than both of its children, so it does not violate the heap property either.&#10;&#10;We will next percolate down on the node 6.">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6, 7, 2, 1, 8, 10, 14, 3, 15">
            <a:extLst>
              <a:ext uri="{FF2B5EF4-FFF2-40B4-BE49-F238E27FC236}">
                <a16:creationId xmlns:a16="http://schemas.microsoft.com/office/drawing/2014/main" id="{A692BF09-9625-2CD5-D834-9D411C339FC6}"/>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07054BCB-17D4-6145-EE81-94D54751CF60}"/>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8263B86A-D779-E005-441F-E68D5D169718}"/>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Rectangle 63">
              <a:extLst>
                <a:ext uri="{FF2B5EF4-FFF2-40B4-BE49-F238E27FC236}">
                  <a16:creationId xmlns:a16="http://schemas.microsoft.com/office/drawing/2014/main" id="{565D459C-DD46-DA9D-AE73-A0F8E35141F7}"/>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A45FA4E8-AB40-20D6-E6C4-BBBFC90E84CA}"/>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32705A64-E13C-C7DC-7ADD-C52FE171C058}"/>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6745DEED-26FF-1618-3199-A90AF1E0C7C0}"/>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6144B196-7789-325D-C2B9-BD9A19D3060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7543B239-41C1-D902-500E-FED3B49ADB8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B1F76C89-6568-BD34-1E5A-0DEDAB50A571}"/>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TextBox 71">
              <a:extLst>
                <a:ext uri="{FF2B5EF4-FFF2-40B4-BE49-F238E27FC236}">
                  <a16:creationId xmlns:a16="http://schemas.microsoft.com/office/drawing/2014/main" id="{6C9BFA12-ACCF-83AF-7E1A-3A3E00F0B886}"/>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D85337A7-BCB6-7AD7-78A7-C1021D2744B3}"/>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F392E97B-2C88-19F6-9204-7B4229516B1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FE187CF5-9349-3571-E6B1-FE7BEF78FF76}"/>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2157D87E-2045-9A7E-6F88-F7D351EB35AC}"/>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26D2F156-7B5A-83F2-D1B5-FDF2229AF94F}"/>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2204989F-3585-1CBC-29E4-44BD3B0F92D1}"/>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6B464C4E-7DA9-B615-1058-C4E700278BB9}"/>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9E3BAF1E-0135-FE78-65E5-36F94453EB84}"/>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DFD8513-19E2-27AE-A56D-B4E733BA5CE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DC24E26C-88F3-9783-2C3F-A1DAAA8A430E}"/>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149931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5)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6 is larger than both of its children (2 and 1) and so we swap with the smallest child (1). Now 6 is a leaf and so it does not violate the heap property. 1 is smaller than both of its children, so it does not violate the heap property either. However, now the parent of 1 (5) is larger, and so it now violates the heap property.&#10;&#10;We will next percolate down on the node 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1, 7, 2, 6, 8, 10, 14, 3, 15">
            <a:extLst>
              <a:ext uri="{FF2B5EF4-FFF2-40B4-BE49-F238E27FC236}">
                <a16:creationId xmlns:a16="http://schemas.microsoft.com/office/drawing/2014/main" id="{2C5774DF-B400-48EA-E75C-977B776A9E43}"/>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A0D457F5-B8FC-9B1B-CF59-267AA7C6CAD1}"/>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F37F99C7-D197-80FC-CE2A-9749ACEA5F32}"/>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4" name="Rectangle 63">
              <a:extLst>
                <a:ext uri="{FF2B5EF4-FFF2-40B4-BE49-F238E27FC236}">
                  <a16:creationId xmlns:a16="http://schemas.microsoft.com/office/drawing/2014/main" id="{AC3A7B59-3F4B-780B-A5B7-379EEE352714}"/>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7A796C1D-1F8C-B898-946D-41A9E859458F}"/>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B07FAD7A-E9FD-3C85-76FF-28922CDBEFDF}"/>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1D71125A-94A9-4B26-2D5A-F26E11E1BB96}"/>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5DBF9675-314C-9C27-6D45-9FC984ECA75E}"/>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30828B16-7A28-F6FE-9E8E-EE9E59949BA2}"/>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21FFB6FE-84B1-863E-0CF8-7F493D5370BE}"/>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TextBox 71">
              <a:extLst>
                <a:ext uri="{FF2B5EF4-FFF2-40B4-BE49-F238E27FC236}">
                  <a16:creationId xmlns:a16="http://schemas.microsoft.com/office/drawing/2014/main" id="{927C8162-90B3-6C28-B2BD-05383D4765B4}"/>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5B4DA89A-7C4F-781A-AE68-A2BB348EACF1}"/>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D0347F87-1FB4-4E6C-6F02-2BB9DCF28E8F}"/>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4F8A5E1B-480C-911A-4330-65F59C820E6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EB447A05-9A11-01B3-34A0-EE5CDA0375BD}"/>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026542B8-2871-AF35-B676-609089C5179C}"/>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C0A290D2-48CB-E842-F9D8-A827F3B94AE9}"/>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771DE41D-7C99-168E-4134-F479AEF76DB0}"/>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082306F1-A92C-7C94-B354-96ABE646216D}"/>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8409E0E-C3DC-0906-7FD0-82479DCE3EC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71FE915F-7366-1A19-8F64-4F375491EE2B}"/>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4961531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(Done)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5 is larger than both of its child (1 and 7) and so we swap with the smallest child (1). Now 5 is larger than its left child (2) so it still violates the heap property, therefore we continue percolating. We swap 5 with 2, and so 2 does not violate the heap property. 5 still violates the heap property because it is larger than its right child (3), and so we swap again. Now 3 is smaller than both children and 5 is a leaf, so neither violate the heap property. 1 is now the root and is smaller than both of its children, so it does not violate the heap property either.  Because no nodes violate the heap property, we have a valid heap, so the procedure is done.">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1, 2, 7, 3, 6, 8, 10, 14, 5, 15">
            <a:extLst>
              <a:ext uri="{FF2B5EF4-FFF2-40B4-BE49-F238E27FC236}">
                <a16:creationId xmlns:a16="http://schemas.microsoft.com/office/drawing/2014/main" id="{FE59EB5D-9E80-A8D8-2B9B-CA62E5A09D8C}"/>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3B753B21-108E-09BD-1B45-F8D3D4105FE8}"/>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Rectangle 62">
              <a:extLst>
                <a:ext uri="{FF2B5EF4-FFF2-40B4-BE49-F238E27FC236}">
                  <a16:creationId xmlns:a16="http://schemas.microsoft.com/office/drawing/2014/main" id="{4E531248-F7BE-20C3-200A-F127BCA3C42F}"/>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DEC847A7-FCAF-9D7D-E9C8-9E37BF63664A}"/>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931E3229-1790-27C1-6AD7-024D4A248DB6}"/>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Rectangle 65">
              <a:extLst>
                <a:ext uri="{FF2B5EF4-FFF2-40B4-BE49-F238E27FC236}">
                  <a16:creationId xmlns:a16="http://schemas.microsoft.com/office/drawing/2014/main" id="{8F556F96-6DB4-B588-259C-DB09D6FAD42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038F08CD-D7CF-BAAF-B8B7-71620769B2CD}"/>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10472D42-ADFF-01A4-D930-59B138CBF86A}"/>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A9E88FF7-0C2E-BEF1-B1EA-D0DA2F2FCDA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E6D13558-906F-DECF-F466-9574D6C41049}"/>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2" name="TextBox 71">
              <a:extLst>
                <a:ext uri="{FF2B5EF4-FFF2-40B4-BE49-F238E27FC236}">
                  <a16:creationId xmlns:a16="http://schemas.microsoft.com/office/drawing/2014/main" id="{BAB1D9E0-6950-BAC5-8236-67A29BAF74C7}"/>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66EBBF63-ED6E-B389-C926-BB09C4007840}"/>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20074EAD-9235-1150-2541-BD2167D5D0FD}"/>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7F4969F4-B33F-56D3-C047-5C32882A309B}"/>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7DC6D51E-E5F7-C9E1-383D-F70C34B9885B}"/>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4406418E-138D-0497-A5A3-44E14EA787CB}"/>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FB4E8D37-EB35-9327-D7C1-C7AEAD8E45F4}"/>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D5ECD707-5460-E6BD-86CC-D83A48AF15BA}"/>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A15246D9-289A-2D23-676F-132998365B7A}"/>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385051A-8B5B-CAD2-BC18-2BE866C54EC8}"/>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437CFE15-372B-20CD-FDA1-BFC4030CEA8D}"/>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890394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905CF-DEFE-FCCE-A8B5-E5D05FB4125C}"/>
              </a:ext>
            </a:extLst>
          </p:cNvPr>
          <p:cNvSpPr>
            <a:spLocks noGrp="1"/>
          </p:cNvSpPr>
          <p:nvPr>
            <p:ph type="title"/>
          </p:nvPr>
        </p:nvSpPr>
        <p:spPr/>
        <p:txBody>
          <a:bodyPr/>
          <a:lstStyle/>
          <a:p>
            <a:r>
              <a:rPr lang="en-US" dirty="0"/>
              <a:t>How long did this take?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23365F4-D608-38F3-EE98-2E277D48B81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a leaf:</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second-from-last level:</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third-from-last level:</a:t>
                </a:r>
              </a:p>
              <a:p>
                <a:r>
                  <a:rPr lang="en-US" dirty="0"/>
                  <a:t>Overall Running time:</a:t>
                </a:r>
              </a:p>
            </p:txBody>
          </p:sp>
        </mc:Choice>
        <mc:Fallback>
          <p:sp>
            <p:nvSpPr>
              <p:cNvPr id="3" name="Content Placeholder 2">
                <a:extLst>
                  <a:ext uri="{FF2B5EF4-FFF2-40B4-BE49-F238E27FC236}">
                    <a16:creationId xmlns:a16="http://schemas.microsoft.com/office/drawing/2014/main" id="{B23365F4-D608-38F3-EE98-2E277D48B81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79625AA-3486-326F-E75E-91F40D9AD6A6}"/>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0463486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F7CF2-FF25-1EDC-5D5B-1F98340F7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2BEEF-3718-0EBE-4C38-EAD486AD862F}"/>
              </a:ext>
            </a:extLst>
          </p:cNvPr>
          <p:cNvSpPr>
            <a:spLocks noGrp="1"/>
          </p:cNvSpPr>
          <p:nvPr>
            <p:ph type="title"/>
          </p:nvPr>
        </p:nvSpPr>
        <p:spPr/>
        <p:txBody>
          <a:bodyPr/>
          <a:lstStyle/>
          <a:p>
            <a:r>
              <a:rPr lang="en-US" dirty="0"/>
              <a:t>How long did this take? (Answers)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B2AD650-F8A0-B91B-693E-62C927BB085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a leaf: </a:t>
                </a:r>
                <a14:m>
                  <m:oMath xmlns:m="http://schemas.openxmlformats.org/officeDocument/2006/math">
                    <m:r>
                      <a:rPr lang="en-US" b="0" i="1" smtClean="0">
                        <a:latin typeface="Cambria Math" panose="02040503050406030204" pitchFamily="18" charset="0"/>
                      </a:rPr>
                      <m:t>0</m:t>
                    </m:r>
                  </m:oMath>
                </a14:m>
                <a:endParaRPr lang="en-US" dirty="0"/>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second-from-last level: </a:t>
                </a:r>
                <a14:m>
                  <m:oMath xmlns:m="http://schemas.openxmlformats.org/officeDocument/2006/math">
                    <m:r>
                      <a:rPr lang="en-US" b="0" i="1" smtClean="0">
                        <a:latin typeface="Cambria Math" panose="02040503050406030204" pitchFamily="18" charset="0"/>
                      </a:rPr>
                      <m:t>1</m:t>
                    </m:r>
                  </m:oMath>
                </a14:m>
                <a:endParaRPr lang="en-US" dirty="0"/>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third-from-last level: </a:t>
                </a:r>
                <a14:m>
                  <m:oMath xmlns:m="http://schemas.openxmlformats.org/officeDocument/2006/math">
                    <m:r>
                      <a:rPr lang="en-US" b="0" i="1" smtClean="0">
                        <a:latin typeface="Cambria Math" panose="02040503050406030204" pitchFamily="18" charset="0"/>
                      </a:rPr>
                      <m:t>2</m:t>
                    </m:r>
                  </m:oMath>
                </a14:m>
                <a:endParaRPr lang="en-US" dirty="0"/>
              </a:p>
              <a:p>
                <a:r>
                  <a:rPr lang="en-US" dirty="0"/>
                  <a:t>Overall Running time:</a:t>
                </a:r>
              </a:p>
              <a:p>
                <a:pPr lvl="1"/>
                <a14:m>
                  <m:oMath xmlns:m="http://schemas.openxmlformats.org/officeDocument/2006/math">
                    <m:r>
                      <a:rPr lang="en-US" b="0" i="1" smtClean="0">
                        <a:latin typeface="Cambria Math" panose="02040503050406030204" pitchFamily="18" charset="0"/>
                      </a:rPr>
                      <m:t>0⋅</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4</m:t>
                        </m:r>
                      </m:den>
                    </m:f>
                    <m:r>
                      <a:rPr lang="en-US" b="0" i="1" smtClean="0">
                        <a:latin typeface="Cambria Math" panose="02040503050406030204" pitchFamily="18" charset="0"/>
                      </a:rPr>
                      <m:t>+2⋅</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r>
                      <a:rPr lang="en-US" b="0" i="1" smtClean="0">
                        <a:latin typeface="Cambria Math" panose="02040503050406030204" pitchFamily="18" charset="0"/>
                      </a:rPr>
                      <m:t>𝑛</m:t>
                    </m:r>
                    <m:r>
                      <a:rPr lang="en-US" b="0" i="1" smtClean="0">
                        <a:latin typeface="Cambria Math" panose="02040503050406030204" pitchFamily="18" charset="0"/>
                      </a:rPr>
                      <m:t>⋅1</m:t>
                    </m:r>
                  </m:oMath>
                </a14:m>
                <a:endParaRPr lang="en-US" dirty="0"/>
              </a:p>
              <a:p>
                <a:pPr lvl="1"/>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0" smtClean="0">
                                    <a:latin typeface="Cambria Math" panose="02040503050406030204" pitchFamily="18" charset="0"/>
                                  </a:rPr>
                                  <m:t>2</m:t>
                                </m:r>
                              </m:sub>
                            </m:sSub>
                          </m:fName>
                          <m:e>
                            <m:r>
                              <a:rPr lang="en-US" b="0" i="1" smtClean="0">
                                <a:latin typeface="Cambria Math" panose="02040503050406030204" pitchFamily="18" charset="0"/>
                              </a:rPr>
                              <m:t>𝑛</m:t>
                            </m:r>
                          </m:e>
                        </m:func>
                      </m:sup>
                      <m:e>
                        <m:r>
                          <a:rPr lang="en-US" b="0" i="1" smtClean="0">
                            <a:latin typeface="Cambria Math" panose="02040503050406030204" pitchFamily="18" charset="0"/>
                          </a:rPr>
                          <m:t>𝑖</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r>
                                  <a:rPr lang="en-US" b="0" i="1" smtClean="0">
                                    <a:latin typeface="Cambria Math" panose="02040503050406030204" pitchFamily="18" charset="0"/>
                                  </a:rPr>
                                  <m:t>+1</m:t>
                                </m:r>
                              </m:sup>
                            </m:sSup>
                          </m:den>
                        </m:f>
                        <m:r>
                          <a:rPr lang="en-US" b="0" i="1" smtClean="0">
                            <a:latin typeface="Cambria Math" panose="02040503050406030204" pitchFamily="18" charset="0"/>
                          </a:rPr>
                          <m:t>=</m:t>
                        </m:r>
                      </m:e>
                    </m:nary>
                    <m:r>
                      <a:rPr lang="en-US" b="0" i="1" smtClean="0">
                        <a:latin typeface="Cambria Math" panose="02040503050406030204" pitchFamily="18" charset="0"/>
                      </a:rPr>
                      <m:t>𝑛</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=0</m:t>
                        </m:r>
                      </m:sub>
                      <m:sup>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a:latin typeface="Cambria Math" panose="02040503050406030204" pitchFamily="18" charset="0"/>
                                  </a:rPr>
                                  <m:t>2</m:t>
                                </m:r>
                              </m:sub>
                            </m:sSub>
                          </m:fName>
                          <m:e>
                            <m:r>
                              <a:rPr lang="en-US" i="1">
                                <a:latin typeface="Cambria Math" panose="02040503050406030204" pitchFamily="18" charset="0"/>
                              </a:rPr>
                              <m:t>𝑛</m:t>
                            </m:r>
                          </m:e>
                        </m:func>
                      </m:sup>
                      <m:e>
                        <m:f>
                          <m:fPr>
                            <m:ctrlPr>
                              <a:rPr lang="en-US" i="1">
                                <a:latin typeface="Cambria Math" panose="02040503050406030204" pitchFamily="18" charset="0"/>
                              </a:rPr>
                            </m:ctrlPr>
                          </m:fPr>
                          <m:num>
                            <m:r>
                              <a:rPr lang="en-US" b="0" i="1" smtClean="0">
                                <a:latin typeface="Cambria Math" panose="02040503050406030204" pitchFamily="18" charset="0"/>
                              </a:rPr>
                              <m:t>𝑖</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r>
                                  <a:rPr lang="en-US" i="1">
                                    <a:latin typeface="Cambria Math" panose="02040503050406030204" pitchFamily="18" charset="0"/>
                                  </a:rPr>
                                  <m:t>+1</m:t>
                                </m:r>
                              </m:sup>
                            </m:sSup>
                          </m:den>
                        </m:f>
                      </m:e>
                    </m:nary>
                    <m:r>
                      <a:rPr lang="en-US" b="0" i="1" smtClean="0">
                        <a:latin typeface="Cambria Math" panose="02040503050406030204" pitchFamily="18" charset="0"/>
                      </a:rPr>
                      <m:t>≤</m:t>
                    </m:r>
                    <m:r>
                      <a:rPr lang="en-US" i="1">
                        <a:latin typeface="Cambria Math" panose="02040503050406030204" pitchFamily="18" charset="0"/>
                      </a:rPr>
                      <m:t>𝑛</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a:rPr lang="en-US" i="1" smtClean="0">
                            <a:latin typeface="Cambria Math" panose="02040503050406030204" pitchFamily="18" charset="0"/>
                          </a:rPr>
                          <m:t>0</m:t>
                        </m:r>
                      </m:sub>
                      <m:sup>
                        <m:r>
                          <a:rPr lang="en-US" b="0" i="1" smtClean="0">
                            <a:latin typeface="Cambria Math" panose="02040503050406030204" pitchFamily="18" charset="0"/>
                          </a:rPr>
                          <m:t>∞</m:t>
                        </m:r>
                      </m:sup>
                      <m:e>
                        <m:f>
                          <m:fPr>
                            <m:ctrlPr>
                              <a:rPr lang="en-US" i="1">
                                <a:latin typeface="Cambria Math" panose="02040503050406030204" pitchFamily="18" charset="0"/>
                              </a:rPr>
                            </m:ctrlPr>
                          </m:fPr>
                          <m:num>
                            <m:r>
                              <a:rPr lang="en-US" i="1">
                                <a:latin typeface="Cambria Math" panose="02040503050406030204" pitchFamily="18" charset="0"/>
                              </a:rPr>
                              <m:t>𝑖</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r>
                                  <a:rPr lang="en-US" i="1">
                                    <a:latin typeface="Cambria Math" panose="02040503050406030204" pitchFamily="18" charset="0"/>
                                  </a:rPr>
                                  <m:t>+1</m:t>
                                </m:r>
                              </m:sup>
                            </m:sSup>
                          </m:den>
                        </m:f>
                      </m:e>
                    </m:nary>
                    <m:r>
                      <a:rPr lang="en-US" b="0" i="1" smtClean="0">
                        <a:latin typeface="Cambria Math" panose="02040503050406030204" pitchFamily="18" charset="0"/>
                      </a:rPr>
                      <m:t>=2</m:t>
                    </m:r>
                    <m:r>
                      <a:rPr lang="en-US" b="0" i="1" smtClean="0">
                        <a:latin typeface="Cambria Math" panose="02040503050406030204" pitchFamily="18" charset="0"/>
                      </a:rPr>
                      <m:t>𝑛</m:t>
                    </m:r>
                  </m:oMath>
                </a14:m>
                <a:endParaRPr lang="en-US" dirty="0"/>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FB2AD650-F8A0-B91B-693E-62C927BB085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BCC700C-D33E-C7BE-D22A-52141D1C4A19}"/>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291984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C029-E528-0F03-08DA-EC67707CC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C3FC2-156A-2139-EE7B-81A8471D7EA3}"/>
              </a:ext>
            </a:extLst>
          </p:cNvPr>
          <p:cNvSpPr>
            <a:spLocks noGrp="1"/>
          </p:cNvSpPr>
          <p:nvPr>
            <p:ph type="title"/>
          </p:nvPr>
        </p:nvSpPr>
        <p:spPr/>
        <p:txBody>
          <a:bodyPr/>
          <a:lstStyle/>
          <a:p>
            <a:r>
              <a:rPr lang="en-US" dirty="0"/>
              <a:t>Heap Sort (Example)</a:t>
            </a:r>
          </a:p>
        </p:txBody>
      </p:sp>
      <p:sp>
        <p:nvSpPr>
          <p:cNvPr id="3" name="Content Placeholder 2">
            <a:extLst>
              <a:ext uri="{FF2B5EF4-FFF2-40B4-BE49-F238E27FC236}">
                <a16:creationId xmlns:a16="http://schemas.microsoft.com/office/drawing/2014/main" id="{C5F62A60-0D5F-7E5D-210D-366F84A10E5C}"/>
              </a:ext>
            </a:extLst>
          </p:cNvPr>
          <p:cNvSpPr>
            <a:spLocks noGrp="1"/>
          </p:cNvSpPr>
          <p:nvPr>
            <p:ph idx="1"/>
          </p:nvPr>
        </p:nvSpPr>
        <p:spPr>
          <a:xfrm>
            <a:off x="1981200" y="1351280"/>
            <a:ext cx="8229600" cy="1066800"/>
          </a:xfrm>
        </p:spPr>
        <p:txBody>
          <a:bodyPr>
            <a:normAutofit fontScale="92500"/>
          </a:bodyPr>
          <a:lstStyle/>
          <a:p>
            <a:r>
              <a:rPr lang="en-US" dirty="0">
                <a:solidFill>
                  <a:schemeClr val="accent1"/>
                </a:solidFill>
              </a:rPr>
              <a:t>Idea</a:t>
            </a:r>
            <a:r>
              <a:rPr lang="en-US" dirty="0"/>
              <a:t>: Build a </a:t>
            </a:r>
            <a:r>
              <a:rPr lang="en-US" dirty="0" err="1"/>
              <a:t>maxHeap</a:t>
            </a:r>
            <a:r>
              <a:rPr lang="en-US" dirty="0"/>
              <a:t>, repeatedly extract the max element from the heap to build sorted list Right-to-Left</a:t>
            </a:r>
            <a:endParaRPr lang="en-US" dirty="0">
              <a:solidFill>
                <a:srgbClr val="FF33CC"/>
              </a:solidFill>
            </a:endParaRPr>
          </a:p>
        </p:txBody>
      </p:sp>
      <p:sp>
        <p:nvSpPr>
          <p:cNvPr id="28" name="TextBox 27">
            <a:extLst>
              <a:ext uri="{FF2B5EF4-FFF2-40B4-BE49-F238E27FC236}">
                <a16:creationId xmlns:a16="http://schemas.microsoft.com/office/drawing/2014/main" id="{E92E4CEF-1E92-D2D6-5F09-8B8996BDE8E3}"/>
              </a:ext>
            </a:extLst>
          </p:cNvPr>
          <p:cNvSpPr txBox="1"/>
          <p:nvPr/>
        </p:nvSpPr>
        <p:spPr>
          <a:xfrm>
            <a:off x="1025232" y="3167225"/>
            <a:ext cx="2209800" cy="1569660"/>
          </a:xfrm>
          <a:prstGeom prst="rect">
            <a:avLst/>
          </a:prstGeom>
          <a:noFill/>
        </p:spPr>
        <p:txBody>
          <a:bodyPr wrap="square" rtlCol="0">
            <a:spAutoFit/>
          </a:bodyPr>
          <a:lstStyle/>
          <a:p>
            <a:r>
              <a:rPr lang="en-US" sz="2400" dirty="0">
                <a:solidFill>
                  <a:srgbClr val="0070C0"/>
                </a:solidFill>
              </a:rPr>
              <a:t>Max Heap Property</a:t>
            </a:r>
            <a:r>
              <a:rPr lang="en-US" sz="2400" dirty="0"/>
              <a:t>: Each node is larger than its children</a:t>
            </a:r>
          </a:p>
        </p:txBody>
      </p:sp>
      <p:grpSp>
        <p:nvGrpSpPr>
          <p:cNvPr id="8" name="Group 7" descr="The given heap represented as an array. The items in the heap appear in the array beginning with index 0, and so the array has length 9 and contains 9 items. The order of the items follows a level-order traversal of the heap (which matches the order that the nodes' positions would have been created while adding).&#10;&#10;The array is populated as follows:&#10;index 0: 10&#10;index 1: 9&#10;index 2: 6&#10;index 3: 8&#10;index 4: 7&#10;index 5: 5&#10;index 6: 2&#10;index 7: 4&#10;index 8: 1&#10;index 9: 3">
            <a:extLst>
              <a:ext uri="{FF2B5EF4-FFF2-40B4-BE49-F238E27FC236}">
                <a16:creationId xmlns:a16="http://schemas.microsoft.com/office/drawing/2014/main" id="{36AD6E90-3D92-7F80-F2A6-361A9CDAC36F}"/>
              </a:ext>
            </a:extLst>
          </p:cNvPr>
          <p:cNvGrpSpPr/>
          <p:nvPr/>
        </p:nvGrpSpPr>
        <p:grpSpPr>
          <a:xfrm>
            <a:off x="3658928" y="5752972"/>
            <a:ext cx="5336453" cy="934004"/>
            <a:chOff x="2937459" y="2430742"/>
            <a:chExt cx="5336453" cy="934004"/>
          </a:xfrm>
        </p:grpSpPr>
        <p:grpSp>
          <p:nvGrpSpPr>
            <p:cNvPr id="27" name="Group 26">
              <a:extLst>
                <a:ext uri="{FF2B5EF4-FFF2-40B4-BE49-F238E27FC236}">
                  <a16:creationId xmlns:a16="http://schemas.microsoft.com/office/drawing/2014/main" id="{DDD4772D-1B7B-5089-00AA-C5CE93410D11}"/>
                </a:ext>
              </a:extLst>
            </p:cNvPr>
            <p:cNvGrpSpPr/>
            <p:nvPr/>
          </p:nvGrpSpPr>
          <p:grpSpPr>
            <a:xfrm>
              <a:off x="2937459" y="2430742"/>
              <a:ext cx="5336453" cy="537341"/>
              <a:chOff x="1978924" y="2722180"/>
              <a:chExt cx="5336453" cy="537341"/>
            </a:xfrm>
          </p:grpSpPr>
          <p:grpSp>
            <p:nvGrpSpPr>
              <p:cNvPr id="86" name="Group 85">
                <a:extLst>
                  <a:ext uri="{FF2B5EF4-FFF2-40B4-BE49-F238E27FC236}">
                    <a16:creationId xmlns:a16="http://schemas.microsoft.com/office/drawing/2014/main" id="{7CC88DB2-DCCF-2656-4F21-6C287CB20070}"/>
                  </a:ext>
                </a:extLst>
              </p:cNvPr>
              <p:cNvGrpSpPr/>
              <p:nvPr/>
            </p:nvGrpSpPr>
            <p:grpSpPr>
              <a:xfrm>
                <a:off x="1978924" y="2726121"/>
                <a:ext cx="4802307" cy="533400"/>
                <a:chOff x="1978924" y="2971800"/>
                <a:chExt cx="4802307" cy="533400"/>
              </a:xfrm>
            </p:grpSpPr>
            <p:sp>
              <p:nvSpPr>
                <p:cNvPr id="88" name="Rectangle 87">
                  <a:extLst>
                    <a:ext uri="{FF2B5EF4-FFF2-40B4-BE49-F238E27FC236}">
                      <a16:creationId xmlns:a16="http://schemas.microsoft.com/office/drawing/2014/main" id="{2E666D3F-BB62-26CE-F3FC-4E6071A6FB6B}"/>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a:extLst>
                    <a:ext uri="{FF2B5EF4-FFF2-40B4-BE49-F238E27FC236}">
                      <a16:creationId xmlns:a16="http://schemas.microsoft.com/office/drawing/2014/main" id="{2CF60348-727E-BCC2-ECC8-FACF199E74BC}"/>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a:extLst>
                    <a:ext uri="{FF2B5EF4-FFF2-40B4-BE49-F238E27FC236}">
                      <a16:creationId xmlns:a16="http://schemas.microsoft.com/office/drawing/2014/main" id="{FA0A16CB-A7D9-D60C-7EB0-8F1A2C82B29F}"/>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a:extLst>
                    <a:ext uri="{FF2B5EF4-FFF2-40B4-BE49-F238E27FC236}">
                      <a16:creationId xmlns:a16="http://schemas.microsoft.com/office/drawing/2014/main" id="{E7C797C1-A75F-DEBF-DF03-627AAF6C7772}"/>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a:extLst>
                    <a:ext uri="{FF2B5EF4-FFF2-40B4-BE49-F238E27FC236}">
                      <a16:creationId xmlns:a16="http://schemas.microsoft.com/office/drawing/2014/main" id="{877A6AF5-B274-1823-9A2F-B4F560237D90}"/>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a:extLst>
                    <a:ext uri="{FF2B5EF4-FFF2-40B4-BE49-F238E27FC236}">
                      <a16:creationId xmlns:a16="http://schemas.microsoft.com/office/drawing/2014/main" id="{348803B8-6DC1-DB74-BB53-B0CC86478D5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a:extLst>
                    <a:ext uri="{FF2B5EF4-FFF2-40B4-BE49-F238E27FC236}">
                      <a16:creationId xmlns:a16="http://schemas.microsoft.com/office/drawing/2014/main" id="{2973F69A-4C4E-D5AE-CA59-DFD78DDF04DE}"/>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a:extLst>
                    <a:ext uri="{FF2B5EF4-FFF2-40B4-BE49-F238E27FC236}">
                      <a16:creationId xmlns:a16="http://schemas.microsoft.com/office/drawing/2014/main" id="{114B5B82-1D1A-29E8-D266-2A2D197F99AF}"/>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a:extLst>
                    <a:ext uri="{FF2B5EF4-FFF2-40B4-BE49-F238E27FC236}">
                      <a16:creationId xmlns:a16="http://schemas.microsoft.com/office/drawing/2014/main" id="{B4DB5750-14B7-698F-247C-4C18F29F8554}"/>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a:extLst>
                  <a:ext uri="{FF2B5EF4-FFF2-40B4-BE49-F238E27FC236}">
                    <a16:creationId xmlns:a16="http://schemas.microsoft.com/office/drawing/2014/main" id="{0E2695EC-AB1F-CFA1-2D7E-3F9DBFCC4703}"/>
                  </a:ext>
                </a:extLst>
              </p:cNvPr>
              <p:cNvSpPr/>
              <p:nvPr/>
            </p:nvSpPr>
            <p:spPr>
              <a:xfrm>
                <a:off x="6781977" y="2722180"/>
                <a:ext cx="533400" cy="532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a:extLst>
                <a:ext uri="{FF2B5EF4-FFF2-40B4-BE49-F238E27FC236}">
                  <a16:creationId xmlns:a16="http://schemas.microsoft.com/office/drawing/2014/main" id="{0BAF23B8-6A1D-0DBC-36A5-8BC2BCF17874}"/>
                </a:ext>
              </a:extLst>
            </p:cNvPr>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a:extLst>
                <a:ext uri="{FF2B5EF4-FFF2-40B4-BE49-F238E27FC236}">
                  <a16:creationId xmlns:a16="http://schemas.microsoft.com/office/drawing/2014/main" id="{A6B25A01-C608-1720-FC7C-D68ABA012822}"/>
                </a:ext>
              </a:extLst>
            </p:cNvPr>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a:extLst>
                <a:ext uri="{FF2B5EF4-FFF2-40B4-BE49-F238E27FC236}">
                  <a16:creationId xmlns:a16="http://schemas.microsoft.com/office/drawing/2014/main" id="{F9E573DB-79EA-0B96-45D1-A7BBACDC9037}"/>
                </a:ext>
              </a:extLst>
            </p:cNvPr>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a:extLst>
                <a:ext uri="{FF2B5EF4-FFF2-40B4-BE49-F238E27FC236}">
                  <a16:creationId xmlns:a16="http://schemas.microsoft.com/office/drawing/2014/main" id="{E01417BA-67CC-7E2E-EC83-691171AB450A}"/>
                </a:ext>
              </a:extLst>
            </p:cNvPr>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a:extLst>
                <a:ext uri="{FF2B5EF4-FFF2-40B4-BE49-F238E27FC236}">
                  <a16:creationId xmlns:a16="http://schemas.microsoft.com/office/drawing/2014/main" id="{05A8D06E-4C46-9C0B-280B-35D523BDD482}"/>
                </a:ext>
              </a:extLst>
            </p:cNvPr>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a:extLst>
                <a:ext uri="{FF2B5EF4-FFF2-40B4-BE49-F238E27FC236}">
                  <a16:creationId xmlns:a16="http://schemas.microsoft.com/office/drawing/2014/main" id="{31C6D3EE-2773-4B55-5266-E6CA75F40DE5}"/>
                </a:ext>
              </a:extLst>
            </p:cNvPr>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a:extLst>
                <a:ext uri="{FF2B5EF4-FFF2-40B4-BE49-F238E27FC236}">
                  <a16:creationId xmlns:a16="http://schemas.microsoft.com/office/drawing/2014/main" id="{40EDE6EB-918F-9E66-AE88-DEB5855E24E5}"/>
                </a:ext>
              </a:extLst>
            </p:cNvPr>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a:extLst>
                <a:ext uri="{FF2B5EF4-FFF2-40B4-BE49-F238E27FC236}">
                  <a16:creationId xmlns:a16="http://schemas.microsoft.com/office/drawing/2014/main" id="{6861C9BB-06CC-47CA-18BC-1832713EE94E}"/>
                </a:ext>
              </a:extLst>
            </p:cNvPr>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a:extLst>
                <a:ext uri="{FF2B5EF4-FFF2-40B4-BE49-F238E27FC236}">
                  <a16:creationId xmlns:a16="http://schemas.microsoft.com/office/drawing/2014/main" id="{8464D969-2081-BB60-E6A6-3604DC1E4C75}"/>
                </a:ext>
              </a:extLst>
            </p:cNvPr>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a:extLst>
                <a:ext uri="{FF2B5EF4-FFF2-40B4-BE49-F238E27FC236}">
                  <a16:creationId xmlns:a16="http://schemas.microsoft.com/office/drawing/2014/main" id="{854D01D9-CC08-C1D4-A13B-DC0347CAD63E}"/>
                </a:ext>
              </a:extLst>
            </p:cNvPr>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grpSp>
      <p:grpSp>
        <p:nvGrpSpPr>
          <p:cNvPr id="6" name="Group 5" descr="A max heap containing 10 items, making for a binary tree of 4 levels. The last level has 3 nodes in it. The nodes are as follows:&#10;&#10;- The root node is 10&#10;- the left child of 10 is 9, the right child is 6&#10;- the left child of 9 is 8, the right child is 7&#10;- the left child of 6 is 5, the right child is 2&#10;- the left child of 8 is 4, the right child is 1&#10;- the left child of 7 is 3, it has no right child&#10;- nodes 5, 2, 4, 1, and 3 are all leaves">
            <a:extLst>
              <a:ext uri="{FF2B5EF4-FFF2-40B4-BE49-F238E27FC236}">
                <a16:creationId xmlns:a16="http://schemas.microsoft.com/office/drawing/2014/main" id="{4427987A-55E3-5493-7734-1F53AE868D15}"/>
              </a:ext>
            </a:extLst>
          </p:cNvPr>
          <p:cNvGrpSpPr/>
          <p:nvPr/>
        </p:nvGrpSpPr>
        <p:grpSpPr>
          <a:xfrm>
            <a:off x="3235032" y="2288754"/>
            <a:ext cx="6934200" cy="3326602"/>
            <a:chOff x="2590801" y="3347010"/>
            <a:chExt cx="6934200" cy="3326602"/>
          </a:xfrm>
        </p:grpSpPr>
        <p:sp>
          <p:nvSpPr>
            <p:cNvPr id="5" name="Oval 4">
              <a:extLst>
                <a:ext uri="{FF2B5EF4-FFF2-40B4-BE49-F238E27FC236}">
                  <a16:creationId xmlns:a16="http://schemas.microsoft.com/office/drawing/2014/main" id="{AAF12DFA-DFDB-699D-A2D4-65C3DBD4597B}"/>
                </a:ext>
              </a:extLst>
            </p:cNvPr>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a:extLst>
                <a:ext uri="{FF2B5EF4-FFF2-40B4-BE49-F238E27FC236}">
                  <a16:creationId xmlns:a16="http://schemas.microsoft.com/office/drawing/2014/main" id="{D5C86E45-171D-B695-4332-BE30A6CA87EB}"/>
                </a:ext>
              </a:extLst>
            </p:cNvPr>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a:extLst>
                <a:ext uri="{FF2B5EF4-FFF2-40B4-BE49-F238E27FC236}">
                  <a16:creationId xmlns:a16="http://schemas.microsoft.com/office/drawing/2014/main" id="{60A65023-BD9C-E5A8-7DC2-97232EA81D74}"/>
                </a:ext>
              </a:extLst>
            </p:cNvPr>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a:extLst>
                <a:ext uri="{FF2B5EF4-FFF2-40B4-BE49-F238E27FC236}">
                  <a16:creationId xmlns:a16="http://schemas.microsoft.com/office/drawing/2014/main" id="{CE033F84-8F0E-6F7C-3F02-5BD97AA791CA}"/>
                </a:ext>
              </a:extLst>
            </p:cNvPr>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a:extLst>
                <a:ext uri="{FF2B5EF4-FFF2-40B4-BE49-F238E27FC236}">
                  <a16:creationId xmlns:a16="http://schemas.microsoft.com/office/drawing/2014/main" id="{E4CA5710-7761-79AA-4E64-75DE81A71D26}"/>
                </a:ext>
              </a:extLst>
            </p:cNvPr>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a:extLst>
                <a:ext uri="{FF2B5EF4-FFF2-40B4-BE49-F238E27FC236}">
                  <a16:creationId xmlns:a16="http://schemas.microsoft.com/office/drawing/2014/main" id="{8C9A65AD-AD32-A1DC-A4DF-34DD00DD7978}"/>
                </a:ext>
              </a:extLst>
            </p:cNvPr>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a:extLst>
                <a:ext uri="{FF2B5EF4-FFF2-40B4-BE49-F238E27FC236}">
                  <a16:creationId xmlns:a16="http://schemas.microsoft.com/office/drawing/2014/main" id="{56D71B4A-DF4F-B479-3D00-08232FDABC14}"/>
                </a:ext>
              </a:extLst>
            </p:cNvPr>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a:extLst>
                <a:ext uri="{FF2B5EF4-FFF2-40B4-BE49-F238E27FC236}">
                  <a16:creationId xmlns:a16="http://schemas.microsoft.com/office/drawing/2014/main" id="{5B5D4A2B-DF3F-769F-407B-BEE0324B089F}"/>
                </a:ext>
              </a:extLst>
            </p:cNvPr>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a:extLst>
                <a:ext uri="{FF2B5EF4-FFF2-40B4-BE49-F238E27FC236}">
                  <a16:creationId xmlns:a16="http://schemas.microsoft.com/office/drawing/2014/main" id="{9CA67041-7983-60C3-676A-7C98A82BFBF8}"/>
                </a:ext>
              </a:extLst>
            </p:cNvPr>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a:extLst>
                <a:ext uri="{FF2B5EF4-FFF2-40B4-BE49-F238E27FC236}">
                  <a16:creationId xmlns:a16="http://schemas.microsoft.com/office/drawing/2014/main" id="{F021BC32-BE53-AEBE-6E15-50683EAF488B}"/>
                </a:ext>
              </a:extLst>
            </p:cNvPr>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a:extLst>
                <a:ext uri="{FF2B5EF4-FFF2-40B4-BE49-F238E27FC236}">
                  <a16:creationId xmlns:a16="http://schemas.microsoft.com/office/drawing/2014/main" id="{505DE2C1-0D30-4AA5-34B5-8A46C6BB46F9}"/>
                </a:ext>
              </a:extLst>
            </p:cNvPr>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B818975C-CB2C-1BF3-3529-AC2A60719819}"/>
                </a:ext>
              </a:extLst>
            </p:cNvPr>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DDB2099-0631-1AE4-778A-06ED0330AE6B}"/>
                </a:ext>
              </a:extLst>
            </p:cNvPr>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157C6CE-274B-9474-2680-A85398D5AD5E}"/>
                </a:ext>
              </a:extLst>
            </p:cNvPr>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5CD014B-D8AC-775A-594F-E1E221E29141}"/>
                </a:ext>
              </a:extLst>
            </p:cNvPr>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7EE20E4-8A05-8D82-D3FC-1368E047EB57}"/>
                </a:ext>
              </a:extLst>
            </p:cNvPr>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11DFC83-A2D5-6EA7-D476-10A5D695D4C0}"/>
                </a:ext>
              </a:extLst>
            </p:cNvPr>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ADFD23C-89FF-79E9-32C0-2D283DE3CFE6}"/>
                </a:ext>
              </a:extLst>
            </p:cNvPr>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3699ED4-1AC9-029C-C966-367C1CAEB9B6}"/>
                </a:ext>
              </a:extLst>
            </p:cNvPr>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EEDDDED1-FC25-F48E-5EFB-687F26FBE96C}"/>
                </a:ext>
              </a:extLst>
            </p:cNvPr>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a:extLst>
                <a:ext uri="{FF2B5EF4-FFF2-40B4-BE49-F238E27FC236}">
                  <a16:creationId xmlns:a16="http://schemas.microsoft.com/office/drawing/2014/main" id="{60DCB7A0-36EF-AC36-FA9C-CA93CCB02D48}"/>
                </a:ext>
              </a:extLst>
            </p:cNvPr>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a:extLst>
                <a:ext uri="{FF2B5EF4-FFF2-40B4-BE49-F238E27FC236}">
                  <a16:creationId xmlns:a16="http://schemas.microsoft.com/office/drawing/2014/main" id="{B0557F78-9945-B6C3-48B1-BC73C686C49E}"/>
                </a:ext>
              </a:extLst>
            </p:cNvPr>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a:extLst>
                <a:ext uri="{FF2B5EF4-FFF2-40B4-BE49-F238E27FC236}">
                  <a16:creationId xmlns:a16="http://schemas.microsoft.com/office/drawing/2014/main" id="{2B03D040-A210-FE12-5B08-C71368826EF4}"/>
                </a:ext>
              </a:extLst>
            </p:cNvPr>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a:extLst>
                <a:ext uri="{FF2B5EF4-FFF2-40B4-BE49-F238E27FC236}">
                  <a16:creationId xmlns:a16="http://schemas.microsoft.com/office/drawing/2014/main" id="{5F23663C-4FA9-6DA9-89E7-8DDF377C7326}"/>
                </a:ext>
              </a:extLst>
            </p:cNvPr>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a:extLst>
                <a:ext uri="{FF2B5EF4-FFF2-40B4-BE49-F238E27FC236}">
                  <a16:creationId xmlns:a16="http://schemas.microsoft.com/office/drawing/2014/main" id="{9815A717-C269-9408-1307-5E8E95DB459C}"/>
                </a:ext>
              </a:extLst>
            </p:cNvPr>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a:extLst>
                <a:ext uri="{FF2B5EF4-FFF2-40B4-BE49-F238E27FC236}">
                  <a16:creationId xmlns:a16="http://schemas.microsoft.com/office/drawing/2014/main" id="{F2BF7A25-785B-BEF1-C713-29F7E52456A2}"/>
                </a:ext>
              </a:extLst>
            </p:cNvPr>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a:extLst>
                <a:ext uri="{FF2B5EF4-FFF2-40B4-BE49-F238E27FC236}">
                  <a16:creationId xmlns:a16="http://schemas.microsoft.com/office/drawing/2014/main" id="{BC408F18-9F69-3E7E-6D57-063A81DF2553}"/>
                </a:ext>
              </a:extLst>
            </p:cNvPr>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a:extLst>
                <a:ext uri="{FF2B5EF4-FFF2-40B4-BE49-F238E27FC236}">
                  <a16:creationId xmlns:a16="http://schemas.microsoft.com/office/drawing/2014/main" id="{EE16D552-4104-B826-FA22-249AE56F1D8E}"/>
                </a:ext>
              </a:extLst>
            </p:cNvPr>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a:extLst>
                <a:ext uri="{FF2B5EF4-FFF2-40B4-BE49-F238E27FC236}">
                  <a16:creationId xmlns:a16="http://schemas.microsoft.com/office/drawing/2014/main" id="{830ECCAC-9440-974C-68F7-FC4D31434EBB}"/>
                </a:ext>
              </a:extLst>
            </p:cNvPr>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10552263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(First Extract)</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sp>
        <p:nvSpPr>
          <p:cNvPr id="4" name="Slide Number Placeholder 3"/>
          <p:cNvSpPr>
            <a:spLocks noGrp="1"/>
          </p:cNvSpPr>
          <p:nvPr>
            <p:ph type="sldNum" sz="quarter" idx="12"/>
          </p:nvPr>
        </p:nvSpPr>
        <p:spPr/>
        <p:txBody>
          <a:bodyPr/>
          <a:lstStyle/>
          <a:p>
            <a:fld id="{86BADE50-950A-4D58-BFB2-FA2C6A8B385D}" type="slidenum">
              <a:rPr lang="en-US" smtClean="0"/>
              <a:t>37</a:t>
            </a:fld>
            <a:endParaRPr lang="en-US"/>
          </a:p>
        </p:txBody>
      </p:sp>
      <p:grpSp>
        <p:nvGrpSpPr>
          <p:cNvPr id="8" name="Group 7" descr="To do heap sort we will repeatedly call extract. This being a max heap, extracting results in the largest item being removed. To remove that item we replace the root with the last item in the heap.&#10;&#10;At this stage the heap contains 9 items, but will violate the heap property until percolation has finished. The nodes are as follows:&#10;&#10;- The root node is 3&#10;- the left child of 3 is 9, the right child is 6&#10;- the left child of 9 is 8, the right child is 7&#10;- the left child of 6 is 5, the right child is 2&#10;- the left child of 8 is 4, the right child is 1&#10;- nodes 7, 5, 2, 4, and 1 are all leaves">
            <a:extLst>
              <a:ext uri="{FF2B5EF4-FFF2-40B4-BE49-F238E27FC236}">
                <a16:creationId xmlns:a16="http://schemas.microsoft.com/office/drawing/2014/main" id="{D392C832-9BD6-CB78-880D-2CE5BF46D8BB}"/>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29823818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1)</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sp>
        <p:nvSpPr>
          <p:cNvPr id="4" name="Slide Number Placeholder 3"/>
          <p:cNvSpPr>
            <a:spLocks noGrp="1"/>
          </p:cNvSpPr>
          <p:nvPr>
            <p:ph type="sldNum" sz="quarter" idx="12"/>
          </p:nvPr>
        </p:nvSpPr>
        <p:spPr/>
        <p:txBody>
          <a:bodyPr/>
          <a:lstStyle/>
          <a:p>
            <a:fld id="{86BADE50-950A-4D58-BFB2-FA2C6A8B385D}" type="slidenum">
              <a:rPr lang="en-US" smtClean="0"/>
              <a:t>38</a:t>
            </a:fld>
            <a:endParaRPr lang="en-US"/>
          </a:p>
        </p:txBody>
      </p:sp>
      <p:grpSp>
        <p:nvGrpSpPr>
          <p:cNvPr id="8" name="Group 7" descr="Because 3 is smaller than its children, we swap with the larger child (in this case 9, its left child).&#10;&#10;Because percolation is still not complete, it may still violate the heap property. The nodes are as follows:&#10;&#10;- The root node is 9&#10;- the left child of 9 is 3, the right child is 6&#10;- the left child of 3 is 8, the right child is 7&#10;- the left child of 6 is 5, the right child is 2&#10;- the left child of 8 is 4, the right child is 1&#10;- nodes 7, 5, 2, 4, and 1 are all leaves">
            <a:extLst>
              <a:ext uri="{FF2B5EF4-FFF2-40B4-BE49-F238E27FC236}">
                <a16:creationId xmlns:a16="http://schemas.microsoft.com/office/drawing/2014/main" id="{F0B839F6-52B4-E2F4-85FE-33D6D63020C3}"/>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15748"/>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1" y="3574909"/>
              <a:ext cx="1218544" cy="4416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1" y="4503058"/>
              <a:ext cx="533662" cy="2465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503058"/>
              <a:ext cx="504057" cy="2047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748079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2)</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sp>
        <p:nvSpPr>
          <p:cNvPr id="4" name="Slide Number Placeholder 3"/>
          <p:cNvSpPr>
            <a:spLocks noGrp="1"/>
          </p:cNvSpPr>
          <p:nvPr>
            <p:ph type="sldNum" sz="quarter" idx="12"/>
          </p:nvPr>
        </p:nvSpPr>
        <p:spPr/>
        <p:txBody>
          <a:bodyPr/>
          <a:lstStyle/>
          <a:p>
            <a:fld id="{86BADE50-950A-4D58-BFB2-FA2C6A8B385D}" type="slidenum">
              <a:rPr lang="en-US" smtClean="0"/>
              <a:t>39</a:t>
            </a:fld>
            <a:endParaRPr lang="en-US"/>
          </a:p>
        </p:txBody>
      </p:sp>
      <p:grpSp>
        <p:nvGrpSpPr>
          <p:cNvPr id="8" name="Group 7" descr="Because 3 is smaller than its children, we swap with the larger child (in this case 8, its left child).&#10;&#10;Because percolation is still not complete, it may still violate the heap property. The nodes are as follows:&#10;&#10;- The root node is 9&#10;- the left child of 9 is 8, the right child is 6&#10;- the left child of 8 is 3, the right child is 7&#10;- the left child of 6 is 5, the right child is 2&#10;- the left child of 3 is 4, the right child is 1&#10;- nodes 7, 5, 2, 4, and 1 are all leaves">
            <a:extLst>
              <a:ext uri="{FF2B5EF4-FFF2-40B4-BE49-F238E27FC236}">
                <a16:creationId xmlns:a16="http://schemas.microsoft.com/office/drawing/2014/main" id="{21242C99-13FB-AAD5-B76E-D7FC8AF83DCA}"/>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347944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2)</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sp>
        <p:nvSpPr>
          <p:cNvPr id="4" name="Slide Number Placeholder 3"/>
          <p:cNvSpPr>
            <a:spLocks noGrp="1"/>
          </p:cNvSpPr>
          <p:nvPr>
            <p:ph type="sldNum" sz="quarter" idx="12"/>
          </p:nvPr>
        </p:nvSpPr>
        <p:spPr/>
        <p:txBody>
          <a:bodyPr/>
          <a:lstStyle/>
          <a:p>
            <a:fld id="{86BADE50-950A-4D58-BFB2-FA2C6A8B385D}" type="slidenum">
              <a:rPr lang="en-US" smtClean="0"/>
              <a:t>40</a:t>
            </a:fld>
            <a:endParaRPr lang="en-US"/>
          </a:p>
        </p:txBody>
      </p:sp>
      <p:grpSp>
        <p:nvGrpSpPr>
          <p:cNvPr id="8" name="Group 7" descr="Because 3 is smaller than one of its children, we swap with the larger child (in this case 4, its left child).&#10;&#10;At this point 3 is a leaf, and so percolation is finished. The final nodes are as follows:&#10;&#10;- The root node is 9&#10;- the left child of 9 is 8, the right child is 6&#10;- the left child of 8 is 4, the right child is 7&#10;- the left child of 6 is 5, the right child is 2&#10;- the left child of 4 is 3, the right child is 1&#10;- nodes 7, 5, 2, 3, and 1 are all leaves">
            <a:extLst>
              <a:ext uri="{FF2B5EF4-FFF2-40B4-BE49-F238E27FC236}">
                <a16:creationId xmlns:a16="http://schemas.microsoft.com/office/drawing/2014/main" id="{34BD948F-17B7-692A-4F63-B8011524339B}"/>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2932793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Heap Sort - Summary</a:t>
            </a:r>
          </a:p>
        </p:txBody>
      </p:sp>
      <p:sp>
        <p:nvSpPr>
          <p:cNvPr id="3" name="Content Placeholder 2">
            <a:extLst>
              <a:ext uri="{FF2B5EF4-FFF2-40B4-BE49-F238E27FC236}">
                <a16:creationId xmlns:a16="http://schemas.microsoft.com/office/drawing/2014/main" id="{475C29A1-5CF0-19FF-2850-9349F3E580DF}"/>
              </a:ext>
            </a:extLst>
          </p:cNvPr>
          <p:cNvSpPr>
            <a:spLocks noGrp="1"/>
          </p:cNvSpPr>
          <p:nvPr>
            <p:ph idx="1"/>
          </p:nvPr>
        </p:nvSpPr>
        <p:spPr>
          <a:xfrm>
            <a:off x="838200" y="1402188"/>
            <a:ext cx="11252200" cy="1678693"/>
          </a:xfrm>
        </p:spPr>
        <p:txBody>
          <a:bodyPr>
            <a:normAutofit/>
          </a:bodyPr>
          <a:lstStyle/>
          <a:p>
            <a:r>
              <a:rPr lang="en-US" dirty="0"/>
              <a:t>Build a max heap</a:t>
            </a:r>
          </a:p>
          <a:p>
            <a:r>
              <a:rPr lang="en-US" dirty="0"/>
              <a:t>Call extract</a:t>
            </a:r>
          </a:p>
          <a:p>
            <a:r>
              <a:rPr lang="en-US" dirty="0"/>
              <a:t>Put that at the end of the array</a:t>
            </a:r>
          </a:p>
          <a:p>
            <a:endParaRPr lang="en-US" dirty="0"/>
          </a:p>
          <a:p>
            <a:endParaRPr lang="en-US" dirty="0"/>
          </a:p>
        </p:txBody>
      </p:sp>
      <p:sp>
        <p:nvSpPr>
          <p:cNvPr id="4" name="TextBox 3">
            <a:extLst>
              <a:ext uri="{FF2B5EF4-FFF2-40B4-BE49-F238E27FC236}">
                <a16:creationId xmlns:a16="http://schemas.microsoft.com/office/drawing/2014/main" id="{400B9305-5813-9997-7771-B7BC37A4B988}"/>
              </a:ext>
            </a:extLst>
          </p:cNvPr>
          <p:cNvSpPr txBox="1"/>
          <p:nvPr/>
        </p:nvSpPr>
        <p:spPr>
          <a:xfrm>
            <a:off x="299720" y="3273374"/>
            <a:ext cx="4434840" cy="1477328"/>
          </a:xfrm>
          <a:prstGeom prst="rect">
            <a:avLst/>
          </a:prstGeom>
          <a:noFill/>
        </p:spPr>
        <p:txBody>
          <a:bodyPr wrap="square" rtlCol="0">
            <a:spAutoFit/>
          </a:bodyPr>
          <a:lstStyle/>
          <a:p>
            <a:r>
              <a:rPr lang="en-US" dirty="0" err="1"/>
              <a:t>myHeap</a:t>
            </a:r>
            <a:r>
              <a:rPr lang="en-US" dirty="0"/>
              <a:t> = </a:t>
            </a:r>
            <a:r>
              <a:rPr lang="en-US" dirty="0" err="1"/>
              <a:t>buildMaxHeap</a:t>
            </a:r>
            <a:r>
              <a:rPr lang="en-US" dirty="0"/>
              <a:t>(a);</a:t>
            </a:r>
          </a:p>
          <a:p>
            <a:r>
              <a:rPr lang="en-US" dirty="0"/>
              <a:t>for (int </a:t>
            </a:r>
            <a:r>
              <a:rPr lang="en-US" dirty="0" err="1"/>
              <a:t>i</a:t>
            </a:r>
            <a:r>
              <a:rPr lang="en-US" dirty="0"/>
              <a:t> = a.length-1; </a:t>
            </a:r>
            <a:r>
              <a:rPr lang="en-US" dirty="0" err="1"/>
              <a:t>i</a:t>
            </a:r>
            <a:r>
              <a:rPr lang="en-US" dirty="0"/>
              <a:t>&gt;=0; </a:t>
            </a:r>
            <a:r>
              <a:rPr lang="en-US" dirty="0" err="1"/>
              <a:t>i</a:t>
            </a:r>
            <a:r>
              <a:rPr lang="en-US" dirty="0"/>
              <a:t>--){</a:t>
            </a:r>
          </a:p>
          <a:p>
            <a:r>
              <a:rPr lang="en-US" dirty="0"/>
              <a:t>        item = </a:t>
            </a:r>
            <a:r>
              <a:rPr lang="en-US" dirty="0" err="1"/>
              <a:t>myHeap.extract</a:t>
            </a:r>
            <a:r>
              <a:rPr lang="en-US" dirty="0"/>
              <a:t>();</a:t>
            </a:r>
          </a:p>
          <a:p>
            <a:r>
              <a:rPr lang="en-US" dirty="0"/>
              <a:t>        a[</a:t>
            </a:r>
            <a:r>
              <a:rPr lang="en-US" dirty="0" err="1"/>
              <a:t>i</a:t>
            </a:r>
            <a:r>
              <a:rPr lang="en-US" dirty="0"/>
              <a:t>] = item;</a:t>
            </a:r>
          </a:p>
          <a:p>
            <a:r>
              <a:rPr lang="en-US" dirty="0"/>
              <a:t>} </a:t>
            </a: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83DF0B3D-6CCD-BDBB-6693-F8DD5945C5AE}"/>
                  </a:ext>
                </a:extLst>
              </p:cNvPr>
              <p:cNvSpPr txBox="1"/>
              <p:nvPr/>
            </p:nvSpPr>
            <p:spPr>
              <a:xfrm>
                <a:off x="5872480" y="3244334"/>
                <a:ext cx="4434840" cy="1384995"/>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p:txBody>
          </p:sp>
        </mc:Choice>
        <mc:Fallback>
          <p:sp>
            <p:nvSpPr>
              <p:cNvPr id="40" name="TextBox 39">
                <a:extLst>
                  <a:ext uri="{FF2B5EF4-FFF2-40B4-BE49-F238E27FC236}">
                    <a16:creationId xmlns:a16="http://schemas.microsoft.com/office/drawing/2014/main" id="{83DF0B3D-6CCD-BDBB-6693-F8DD5945C5AE}"/>
                  </a:ext>
                </a:extLst>
              </p:cNvPr>
              <p:cNvSpPr txBox="1">
                <a:spLocks noRot="1" noChangeAspect="1" noMove="1" noResize="1" noEditPoints="1" noAdjustHandles="1" noChangeArrowheads="1" noChangeShapeType="1" noTextEdit="1"/>
              </p:cNvSpPr>
              <p:nvPr/>
            </p:nvSpPr>
            <p:spPr>
              <a:xfrm>
                <a:off x="5872480" y="3244334"/>
                <a:ext cx="4434840" cy="1384995"/>
              </a:xfrm>
              <a:prstGeom prst="rect">
                <a:avLst/>
              </a:prstGeom>
              <a:blipFill>
                <a:blip r:embed="rId2"/>
                <a:stretch>
                  <a:fillRect l="-2747" t="-3965" b="-11894"/>
                </a:stretch>
              </a:blipFill>
            </p:spPr>
            <p:txBody>
              <a:bodyPr/>
              <a:lstStyle/>
              <a:p>
                <a:r>
                  <a:rPr lang="en-US">
                    <a:noFill/>
                  </a:rPr>
                  <a:t> </a:t>
                </a:r>
              </a:p>
            </p:txBody>
          </p:sp>
        </mc:Fallback>
      </mc:AlternateContent>
    </p:spTree>
    <p:extLst>
      <p:ext uri="{BB962C8B-B14F-4D97-AF65-F5344CB8AC3E}">
        <p14:creationId xmlns:p14="http://schemas.microsoft.com/office/powerpoint/2010/main" val="42048019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22811-03DA-EEF2-696E-79B19FD826B2}"/>
              </a:ext>
            </a:extLst>
          </p:cNvPr>
          <p:cNvSpPr>
            <a:spLocks noGrp="1"/>
          </p:cNvSpPr>
          <p:nvPr>
            <p:ph type="title"/>
          </p:nvPr>
        </p:nvSpPr>
        <p:spPr/>
        <p:txBody>
          <a:bodyPr/>
          <a:lstStyle/>
          <a:p>
            <a:r>
              <a:rPr lang="en-US" dirty="0"/>
              <a:t>“In Place” Sorting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B60587-5F27-0865-429E-8AA3C8FC4069}"/>
                  </a:ext>
                </a:extLst>
              </p:cNvPr>
              <p:cNvSpPr>
                <a:spLocks noGrp="1"/>
              </p:cNvSpPr>
              <p:nvPr>
                <p:ph idx="1"/>
              </p:nvPr>
            </p:nvSpPr>
            <p:spPr/>
            <p:txBody>
              <a:bodyPr/>
              <a:lstStyle/>
              <a:p>
                <a:r>
                  <a:rPr lang="en-US" dirty="0"/>
                  <a:t>A sorting algorithm which requires no extra data structures</a:t>
                </a:r>
              </a:p>
              <a:p>
                <a:r>
                  <a:rPr lang="en-US" dirty="0"/>
                  <a:t>Idea: It sorts items just by swapping things in the same array given</a:t>
                </a:r>
              </a:p>
              <a:p>
                <a:r>
                  <a:rPr lang="en-US" dirty="0"/>
                  <a:t>Definition: it only uses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(1)</m:t>
                    </m:r>
                  </m:oMath>
                </a14:m>
                <a:r>
                  <a:rPr lang="en-US" dirty="0"/>
                  <a:t> extra space</a:t>
                </a:r>
              </a:p>
              <a:p>
                <a:pPr marL="0" indent="0">
                  <a:buNone/>
                </a:pPr>
                <a:endParaRPr lang="en-US" dirty="0"/>
              </a:p>
              <a:p>
                <a:r>
                  <a:rPr lang="en-US" dirty="0"/>
                  <a:t>Insertion sort: In Place!</a:t>
                </a:r>
              </a:p>
              <a:p>
                <a:r>
                  <a:rPr lang="en-US" dirty="0"/>
                  <a:t>Heap sort: Not In Place!</a:t>
                </a:r>
              </a:p>
              <a:p>
                <a:pPr lvl="1"/>
                <a:r>
                  <a:rPr lang="en-US" dirty="0"/>
                  <a:t>But we can fix that!</a:t>
                </a:r>
              </a:p>
              <a:p>
                <a:endParaRPr lang="en-US" dirty="0"/>
              </a:p>
            </p:txBody>
          </p:sp>
        </mc:Choice>
        <mc:Fallback xmlns="">
          <p:sp>
            <p:nvSpPr>
              <p:cNvPr id="3" name="Content Placeholder 2">
                <a:extLst>
                  <a:ext uri="{FF2B5EF4-FFF2-40B4-BE49-F238E27FC236}">
                    <a16:creationId xmlns:a16="http://schemas.microsoft.com/office/drawing/2014/main" id="{54B60587-5F27-0865-429E-8AA3C8FC406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48656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a:t>
            </a:r>
          </a:p>
        </p:txBody>
      </p:sp>
      <p:sp>
        <p:nvSpPr>
          <p:cNvPr id="3" name="Content Placeholder 2"/>
          <p:cNvSpPr>
            <a:spLocks noGrp="1"/>
          </p:cNvSpPr>
          <p:nvPr>
            <p:ph idx="1"/>
          </p:nvPr>
        </p:nvSpPr>
        <p:spPr>
          <a:xfrm>
            <a:off x="1981200" y="1351280"/>
            <a:ext cx="8229600" cy="1066800"/>
          </a:xfrm>
        </p:spPr>
        <p:txBody>
          <a:bodyPr>
            <a:normAutofit fontScale="92500"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Be begin with the array we wish to sort made into a heap using Floyd's build-heap algorithm.">
            <a:extLst>
              <a:ext uri="{FF2B5EF4-FFF2-40B4-BE49-F238E27FC236}">
                <a16:creationId xmlns:a16="http://schemas.microsoft.com/office/drawing/2014/main" id="{A73E41D3-326F-7A61-A48F-76279639C6F7}"/>
              </a:ext>
            </a:extLst>
          </p:cNvPr>
          <p:cNvGrpSpPr/>
          <p:nvPr/>
        </p:nvGrpSpPr>
        <p:grpSpPr>
          <a:xfrm>
            <a:off x="2590801" y="2418080"/>
            <a:ext cx="6934200" cy="4255532"/>
            <a:chOff x="2590801" y="2418080"/>
            <a:chExt cx="6934200" cy="4255532"/>
          </a:xfrm>
        </p:grpSpPr>
        <p:sp>
          <p:nvSpPr>
            <p:cNvPr id="5" name="Oval 4"/>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418080"/>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1431534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(First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When we extract, the last item moves to the root of the tree. At this point, the last index of the array being used to store the heap is available, so the value extracted can be moved into that position (which the heap operations ignore because it is not considered part of the heap).">
            <a:extLst>
              <a:ext uri="{FF2B5EF4-FFF2-40B4-BE49-F238E27FC236}">
                <a16:creationId xmlns:a16="http://schemas.microsoft.com/office/drawing/2014/main" id="{04B54EDF-6979-38FF-474A-69A1E8F5D4B7}"/>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Tree>
    <p:extLst>
      <p:ext uri="{BB962C8B-B14F-4D97-AF65-F5344CB8AC3E}">
        <p14:creationId xmlns:p14="http://schemas.microsoft.com/office/powerpoint/2010/main" val="6556763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(First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935C841E-331F-60AF-A13F-2FDD9AC26218}"/>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Tree>
    <p:extLst>
      <p:ext uri="{BB962C8B-B14F-4D97-AF65-F5344CB8AC3E}">
        <p14:creationId xmlns:p14="http://schemas.microsoft.com/office/powerpoint/2010/main" val="827120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ow we extract again, removing the largest item, moving it to the freed-up index in the array.">
            <a:extLst>
              <a:ext uri="{FF2B5EF4-FFF2-40B4-BE49-F238E27FC236}">
                <a16:creationId xmlns:a16="http://schemas.microsoft.com/office/drawing/2014/main" id="{1E5D55D4-5E0E-5C66-1D76-E5D0B0A92360}"/>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grpSp>
    </p:spTree>
    <p:extLst>
      <p:ext uri="{BB962C8B-B14F-4D97-AF65-F5344CB8AC3E}">
        <p14:creationId xmlns:p14="http://schemas.microsoft.com/office/powerpoint/2010/main" val="12329516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9C3D8AAF-0192-6CAE-27A9-97F54044BAF1}"/>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grpSp>
    </p:spTree>
    <p:extLst>
      <p:ext uri="{BB962C8B-B14F-4D97-AF65-F5344CB8AC3E}">
        <p14:creationId xmlns:p14="http://schemas.microsoft.com/office/powerpoint/2010/main" val="4872297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ow we extract again, removing the largest item, moving it to the freed-up index in the array.">
            <a:extLst>
              <a:ext uri="{FF2B5EF4-FFF2-40B4-BE49-F238E27FC236}">
                <a16:creationId xmlns:a16="http://schemas.microsoft.com/office/drawing/2014/main" id="{9FBBFED5-BDCA-6FC4-1D8E-94C57769DE62}"/>
              </a:ext>
            </a:extLst>
          </p:cNvPr>
          <p:cNvGrpSpPr/>
          <p:nvPr/>
        </p:nvGrpSpPr>
        <p:grpSpPr>
          <a:xfrm>
            <a:off x="2964445" y="2357121"/>
            <a:ext cx="6560556" cy="3344633"/>
            <a:chOff x="2964445" y="2357121"/>
            <a:chExt cx="6560556" cy="3344633"/>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grpSp>
    </p:spTree>
    <p:extLst>
      <p:ext uri="{BB962C8B-B14F-4D97-AF65-F5344CB8AC3E}">
        <p14:creationId xmlns:p14="http://schemas.microsoft.com/office/powerpoint/2010/main" val="33958198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D6471605-609F-309D-337B-395E48B87A74}"/>
              </a:ext>
            </a:extLst>
          </p:cNvPr>
          <p:cNvGrpSpPr/>
          <p:nvPr/>
        </p:nvGrpSpPr>
        <p:grpSpPr>
          <a:xfrm>
            <a:off x="2964445" y="2357121"/>
            <a:ext cx="6560556" cy="3344633"/>
            <a:chOff x="2964445" y="2357121"/>
            <a:chExt cx="6560556" cy="3344633"/>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grpSp>
    </p:spTree>
    <p:extLst>
      <p:ext uri="{BB962C8B-B14F-4D97-AF65-F5344CB8AC3E}">
        <p14:creationId xmlns:p14="http://schemas.microsoft.com/office/powerpoint/2010/main" val="37346822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In Place Heap Sort - Summary</a:t>
            </a:r>
          </a:p>
        </p:txBody>
      </p:sp>
      <p:sp>
        <p:nvSpPr>
          <p:cNvPr id="3" name="Content Placeholder 2">
            <a:extLst>
              <a:ext uri="{FF2B5EF4-FFF2-40B4-BE49-F238E27FC236}">
                <a16:creationId xmlns:a16="http://schemas.microsoft.com/office/drawing/2014/main" id="{475C29A1-5CF0-19FF-2850-9349F3E580DF}"/>
              </a:ext>
            </a:extLst>
          </p:cNvPr>
          <p:cNvSpPr>
            <a:spLocks noGrp="1"/>
          </p:cNvSpPr>
          <p:nvPr>
            <p:ph idx="1"/>
          </p:nvPr>
        </p:nvSpPr>
        <p:spPr>
          <a:xfrm>
            <a:off x="838200" y="1402188"/>
            <a:ext cx="11252200" cy="1678693"/>
          </a:xfrm>
        </p:spPr>
        <p:txBody>
          <a:bodyPr>
            <a:normAutofit/>
          </a:bodyPr>
          <a:lstStyle/>
          <a:p>
            <a:r>
              <a:rPr lang="en-US" dirty="0"/>
              <a:t>Build a heap using the same array (Floyd’s build heap algorithm works)</a:t>
            </a:r>
          </a:p>
          <a:p>
            <a:r>
              <a:rPr lang="en-US" dirty="0"/>
              <a:t>Call extract</a:t>
            </a:r>
          </a:p>
          <a:p>
            <a:r>
              <a:rPr lang="en-US" dirty="0"/>
              <a:t>Put that at the end of the array</a:t>
            </a:r>
          </a:p>
          <a:p>
            <a:endParaRPr lang="en-US" dirty="0"/>
          </a:p>
          <a:p>
            <a:endParaRPr lang="en-US" dirty="0"/>
          </a:p>
        </p:txBody>
      </p:sp>
      <p:sp>
        <p:nvSpPr>
          <p:cNvPr id="4" name="TextBox 3">
            <a:extLst>
              <a:ext uri="{FF2B5EF4-FFF2-40B4-BE49-F238E27FC236}">
                <a16:creationId xmlns:a16="http://schemas.microsoft.com/office/drawing/2014/main" id="{400B9305-5813-9997-7771-B7BC37A4B988}"/>
              </a:ext>
            </a:extLst>
          </p:cNvPr>
          <p:cNvSpPr txBox="1"/>
          <p:nvPr/>
        </p:nvSpPr>
        <p:spPr>
          <a:xfrm>
            <a:off x="299720" y="3273374"/>
            <a:ext cx="4434840" cy="2031325"/>
          </a:xfrm>
          <a:prstGeom prst="rect">
            <a:avLst/>
          </a:prstGeom>
          <a:noFill/>
        </p:spPr>
        <p:txBody>
          <a:bodyPr wrap="square" rtlCol="0">
            <a:spAutoFit/>
          </a:bodyPr>
          <a:lstStyle/>
          <a:p>
            <a:r>
              <a:rPr lang="en-US" dirty="0" err="1"/>
              <a:t>buildHeap</a:t>
            </a:r>
            <a:r>
              <a:rPr lang="en-US" dirty="0"/>
              <a:t>(a);</a:t>
            </a:r>
          </a:p>
          <a:p>
            <a:r>
              <a:rPr lang="en-US" dirty="0"/>
              <a:t>for (int </a:t>
            </a:r>
            <a:r>
              <a:rPr lang="en-US" dirty="0" err="1"/>
              <a:t>i</a:t>
            </a:r>
            <a:r>
              <a:rPr lang="en-US" dirty="0"/>
              <a:t> = a.length-1; </a:t>
            </a:r>
            <a:r>
              <a:rPr lang="en-US" dirty="0" err="1"/>
              <a:t>i</a:t>
            </a:r>
            <a:r>
              <a:rPr lang="en-US" dirty="0"/>
              <a:t>&gt;=0; </a:t>
            </a:r>
            <a:r>
              <a:rPr lang="en-US" dirty="0" err="1"/>
              <a:t>i</a:t>
            </a:r>
            <a:r>
              <a:rPr lang="en-US" dirty="0"/>
              <a:t>--){</a:t>
            </a:r>
          </a:p>
          <a:p>
            <a:r>
              <a:rPr lang="en-US" dirty="0"/>
              <a:t>        temp=a[</a:t>
            </a:r>
            <a:r>
              <a:rPr lang="en-US" dirty="0" err="1"/>
              <a:t>i</a:t>
            </a:r>
            <a:r>
              <a:rPr lang="en-US" dirty="0"/>
              <a:t>]</a:t>
            </a:r>
          </a:p>
          <a:p>
            <a:r>
              <a:rPr lang="en-US" dirty="0"/>
              <a:t>        a[</a:t>
            </a:r>
            <a:r>
              <a:rPr lang="en-US" dirty="0" err="1"/>
              <a:t>i</a:t>
            </a:r>
            <a:r>
              <a:rPr lang="en-US" dirty="0"/>
              <a:t>] = a[0];</a:t>
            </a:r>
          </a:p>
          <a:p>
            <a:r>
              <a:rPr lang="en-US" dirty="0"/>
              <a:t>        a[0] = temp;</a:t>
            </a:r>
          </a:p>
          <a:p>
            <a:r>
              <a:rPr lang="en-US" dirty="0"/>
              <a:t>        </a:t>
            </a:r>
            <a:r>
              <a:rPr lang="en-US" dirty="0" err="1"/>
              <a:t>percolateDown</a:t>
            </a:r>
            <a:r>
              <a:rPr lang="en-US" dirty="0"/>
              <a:t>(0);</a:t>
            </a:r>
          </a:p>
          <a:p>
            <a:r>
              <a:rPr lang="en-US" dirty="0"/>
              <a:t>} </a:t>
            </a: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83DF0B3D-6CCD-BDBB-6693-F8DD5945C5AE}"/>
                  </a:ext>
                </a:extLst>
              </p:cNvPr>
              <p:cNvSpPr txBox="1"/>
              <p:nvPr/>
            </p:nvSpPr>
            <p:spPr>
              <a:xfrm>
                <a:off x="5872480" y="3244334"/>
                <a:ext cx="4434840" cy="1384995"/>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p:txBody>
          </p:sp>
        </mc:Choice>
        <mc:Fallback>
          <p:sp>
            <p:nvSpPr>
              <p:cNvPr id="40" name="TextBox 39">
                <a:extLst>
                  <a:ext uri="{FF2B5EF4-FFF2-40B4-BE49-F238E27FC236}">
                    <a16:creationId xmlns:a16="http://schemas.microsoft.com/office/drawing/2014/main" id="{83DF0B3D-6CCD-BDBB-6693-F8DD5945C5AE}"/>
                  </a:ext>
                </a:extLst>
              </p:cNvPr>
              <p:cNvSpPr txBox="1">
                <a:spLocks noRot="1" noChangeAspect="1" noMove="1" noResize="1" noEditPoints="1" noAdjustHandles="1" noChangeArrowheads="1" noChangeShapeType="1" noTextEdit="1"/>
              </p:cNvSpPr>
              <p:nvPr/>
            </p:nvSpPr>
            <p:spPr>
              <a:xfrm>
                <a:off x="5872480" y="3244334"/>
                <a:ext cx="4434840" cy="1384995"/>
              </a:xfrm>
              <a:prstGeom prst="rect">
                <a:avLst/>
              </a:prstGeom>
              <a:blipFill>
                <a:blip r:embed="rId2"/>
                <a:stretch>
                  <a:fillRect l="-2747" t="-3965" b="-11894"/>
                </a:stretch>
              </a:blipFill>
            </p:spPr>
            <p:txBody>
              <a:bodyPr/>
              <a:lstStyle/>
              <a:p>
                <a:r>
                  <a:rPr lang="en-US">
                    <a:noFill/>
                  </a:rPr>
                  <a:t> </a:t>
                </a:r>
              </a:p>
            </p:txBody>
          </p:sp>
        </mc:Fallback>
      </mc:AlternateContent>
    </p:spTree>
    <p:extLst>
      <p:ext uri="{BB962C8B-B14F-4D97-AF65-F5344CB8AC3E}">
        <p14:creationId xmlns:p14="http://schemas.microsoft.com/office/powerpoint/2010/main" val="1457515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Divide And Conquer Sorting</a:t>
            </a:r>
          </a:p>
        </p:txBody>
      </p:sp>
      <p:sp>
        <p:nvSpPr>
          <p:cNvPr id="3" name="Content Placeholder 2">
            <a:extLst>
              <a:ext uri="{FF2B5EF4-FFF2-40B4-BE49-F238E27FC236}">
                <a16:creationId xmlns:a16="http://schemas.microsoft.com/office/drawing/2014/main" id="{8209AF56-68BF-F3D5-11B8-6D7ECED34320}"/>
              </a:ext>
            </a:extLst>
          </p:cNvPr>
          <p:cNvSpPr>
            <a:spLocks noGrp="1"/>
          </p:cNvSpPr>
          <p:nvPr>
            <p:ph idx="1"/>
          </p:nvPr>
        </p:nvSpPr>
        <p:spPr/>
        <p:txBody>
          <a:bodyPr/>
          <a:lstStyle/>
          <a:p>
            <a:r>
              <a:rPr lang="en-US" dirty="0"/>
              <a:t>Divide and Conquer:</a:t>
            </a:r>
          </a:p>
          <a:p>
            <a:pPr lvl="1"/>
            <a:r>
              <a:rPr lang="en-US" dirty="0"/>
              <a:t>Recursive algorithm design technique</a:t>
            </a:r>
          </a:p>
          <a:p>
            <a:pPr lvl="1"/>
            <a:r>
              <a:rPr lang="en-US" dirty="0"/>
              <a:t>Solve a large problem by breaking it up into smaller versions of the same problem</a:t>
            </a:r>
          </a:p>
          <a:p>
            <a:endParaRPr lang="en-US" dirty="0"/>
          </a:p>
        </p:txBody>
      </p:sp>
    </p:spTree>
    <p:extLst>
      <p:ext uri="{BB962C8B-B14F-4D97-AF65-F5344CB8AC3E}">
        <p14:creationId xmlns:p14="http://schemas.microsoft.com/office/powerpoint/2010/main" val="288900809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Divide and Conquer</a:t>
            </a:r>
          </a:p>
        </p:txBody>
      </p:sp>
      <p:sp>
        <p:nvSpPr>
          <p:cNvPr id="3" name="Content Placeholder 2"/>
          <p:cNvSpPr>
            <a:spLocks noGrp="1"/>
          </p:cNvSpPr>
          <p:nvPr>
            <p:ph idx="4294967295"/>
          </p:nvPr>
        </p:nvSpPr>
        <p:spPr>
          <a:xfrm>
            <a:off x="3038588" y="1410797"/>
            <a:ext cx="9601200" cy="5257800"/>
          </a:xfrm>
        </p:spPr>
        <p:txBody>
          <a:bodyPr>
            <a:normAutofit/>
          </a:bodyPr>
          <a:lstStyle/>
          <a:p>
            <a:r>
              <a:rPr lang="en-US" b="1" dirty="0">
                <a:solidFill>
                  <a:srgbClr val="0070C0"/>
                </a:solidFill>
              </a:rPr>
              <a:t>Base Case</a:t>
            </a:r>
            <a:r>
              <a:rPr lang="en-US" b="1" dirty="0"/>
              <a:t>: </a:t>
            </a:r>
          </a:p>
          <a:p>
            <a:pPr lvl="1"/>
            <a:r>
              <a:rPr lang="en-US" dirty="0"/>
              <a:t>If the problem is “small” then solve directly and return</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Break the problem into subproblem(s), each smaller instances</a:t>
            </a:r>
          </a:p>
          <a:p>
            <a:pPr lvl="1"/>
            <a:endParaRPr lang="en-US" sz="2600" b="1" dirty="0"/>
          </a:p>
          <a:p>
            <a:r>
              <a:rPr lang="en-US" b="1" dirty="0">
                <a:solidFill>
                  <a:srgbClr val="0070C0"/>
                </a:solidFill>
              </a:rPr>
              <a:t>Conquer</a:t>
            </a:r>
            <a:r>
              <a:rPr lang="en-US" b="1" dirty="0"/>
              <a:t>:</a:t>
            </a:r>
          </a:p>
          <a:p>
            <a:pPr lvl="1"/>
            <a:r>
              <a:rPr lang="en-US" dirty="0"/>
              <a:t>Solve subproblem(s)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dirty="0"/>
              <a:t>Use solutions to subproblems to solve original problem</a:t>
            </a:r>
          </a:p>
        </p:txBody>
      </p:sp>
      <p:sp>
        <p:nvSpPr>
          <p:cNvPr id="4" name="Slide Number Placeholder 3">
            <a:extLst>
              <a:ext uri="{FF2B5EF4-FFF2-40B4-BE49-F238E27FC236}">
                <a16:creationId xmlns:a16="http://schemas.microsoft.com/office/drawing/2014/main" id="{AF5BD0AC-AF6B-41D9-8112-2153A916A2FC}"/>
              </a:ext>
            </a:extLst>
          </p:cNvPr>
          <p:cNvSpPr>
            <a:spLocks noGrp="1"/>
          </p:cNvSpPr>
          <p:nvPr>
            <p:ph type="sldNum" sz="quarter" idx="12"/>
          </p:nvPr>
        </p:nvSpPr>
        <p:spPr/>
        <p:txBody>
          <a:bodyPr/>
          <a:lstStyle/>
          <a:p>
            <a:fld id="{F4E8603E-186F-4CC7-B8E2-5FD613D3E28C}" type="slidenum">
              <a:rPr lang="en-US" smtClean="0"/>
              <a:t>52</a:t>
            </a:fld>
            <a:endParaRPr lang="en-US" dirty="0"/>
          </a:p>
        </p:txBody>
      </p:sp>
      <p:grpSp>
        <p:nvGrpSpPr>
          <p:cNvPr id="5" name="Group 4">
            <a:extLst>
              <a:ext uri="{FF2B5EF4-FFF2-40B4-BE49-F238E27FC236}">
                <a16:creationId xmlns:a16="http://schemas.microsoft.com/office/drawing/2014/main" id="{DADF71E6-F9FB-D6A8-1E23-54C6D3C4AD9B}"/>
              </a:ext>
            </a:extLst>
          </p:cNvPr>
          <p:cNvGrpSpPr/>
          <p:nvPr/>
        </p:nvGrpSpPr>
        <p:grpSpPr>
          <a:xfrm>
            <a:off x="6837680" y="257670"/>
            <a:ext cx="2535365" cy="1245566"/>
            <a:chOff x="1828800" y="1295400"/>
            <a:chExt cx="9753600" cy="4791716"/>
          </a:xfrm>
        </p:grpSpPr>
        <p:pic>
          <p:nvPicPr>
            <p:cNvPr id="6" name="Picture 2">
              <a:extLst>
                <a:ext uri="{FF2B5EF4-FFF2-40B4-BE49-F238E27FC236}">
                  <a16:creationId xmlns:a16="http://schemas.microsoft.com/office/drawing/2014/main" id="{DAC2D07C-463A-A5C5-6448-C3934F49A20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Shape 6">
              <a:extLst>
                <a:ext uri="{FF2B5EF4-FFF2-40B4-BE49-F238E27FC236}">
                  <a16:creationId xmlns:a16="http://schemas.microsoft.com/office/drawing/2014/main" id="{32BDA3FC-F142-9C70-E4D6-4E5EE4158D0A}"/>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9" name="Picture 2">
            <a:extLst>
              <a:ext uri="{FF2B5EF4-FFF2-40B4-BE49-F238E27FC236}">
                <a16:creationId xmlns:a16="http://schemas.microsoft.com/office/drawing/2014/main" id="{FDEAF6E4-A614-E805-EA09-1F12061D6A6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504731" y="1216324"/>
            <a:ext cx="1397841" cy="1024652"/>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3CC82D1E-2533-ECC2-B62E-317DC3B93625}"/>
              </a:ext>
            </a:extLst>
          </p:cNvPr>
          <p:cNvGrpSpPr/>
          <p:nvPr/>
        </p:nvGrpSpPr>
        <p:grpSpPr>
          <a:xfrm>
            <a:off x="37568" y="2335914"/>
            <a:ext cx="2844845" cy="1048732"/>
            <a:chOff x="8234658" y="3789922"/>
            <a:chExt cx="3957342" cy="1458846"/>
          </a:xfrm>
        </p:grpSpPr>
        <p:pic>
          <p:nvPicPr>
            <p:cNvPr id="12" name="Picture 2">
              <a:extLst>
                <a:ext uri="{FF2B5EF4-FFF2-40B4-BE49-F238E27FC236}">
                  <a16:creationId xmlns:a16="http://schemas.microsoft.com/office/drawing/2014/main" id="{5E10924C-B1C5-4455-DCE9-5F1998DBDA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Shape 12">
              <a:extLst>
                <a:ext uri="{FF2B5EF4-FFF2-40B4-BE49-F238E27FC236}">
                  <a16:creationId xmlns:a16="http://schemas.microsoft.com/office/drawing/2014/main" id="{027B0E59-A4F9-1851-A061-37C342E5728B}"/>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7051DDBC-58E7-4C71-EBF0-DBD7FB74D394}"/>
              </a:ext>
            </a:extLst>
          </p:cNvPr>
          <p:cNvGrpSpPr/>
          <p:nvPr/>
        </p:nvGrpSpPr>
        <p:grpSpPr>
          <a:xfrm>
            <a:off x="-76292" y="3619954"/>
            <a:ext cx="3334976" cy="1155246"/>
            <a:chOff x="-878932" y="3619954"/>
            <a:chExt cx="4211412" cy="1458846"/>
          </a:xfrm>
        </p:grpSpPr>
        <p:grpSp>
          <p:nvGrpSpPr>
            <p:cNvPr id="14" name="Group 13">
              <a:extLst>
                <a:ext uri="{FF2B5EF4-FFF2-40B4-BE49-F238E27FC236}">
                  <a16:creationId xmlns:a16="http://schemas.microsoft.com/office/drawing/2014/main" id="{0EBF0906-4FE4-F100-2C24-281830D90350}"/>
                </a:ext>
              </a:extLst>
            </p:cNvPr>
            <p:cNvGrpSpPr/>
            <p:nvPr/>
          </p:nvGrpSpPr>
          <p:grpSpPr>
            <a:xfrm>
              <a:off x="-624862" y="3619954"/>
              <a:ext cx="3957342" cy="1458846"/>
              <a:chOff x="8234658" y="3789922"/>
              <a:chExt cx="3957342" cy="1458846"/>
            </a:xfrm>
          </p:grpSpPr>
          <p:pic>
            <p:nvPicPr>
              <p:cNvPr id="15" name="Picture 2">
                <a:extLst>
                  <a:ext uri="{FF2B5EF4-FFF2-40B4-BE49-F238E27FC236}">
                    <a16:creationId xmlns:a16="http://schemas.microsoft.com/office/drawing/2014/main" id="{2247E5CC-152D-743A-6124-D5F3B696134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3A4B5CD5-17D3-5951-BFAE-B25192D1575A}"/>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840C5F3E-E2EF-A94A-4566-EAD49787C1D6}"/>
                </a:ext>
              </a:extLst>
            </p:cNvPr>
            <p:cNvSpPr/>
            <p:nvPr/>
          </p:nvSpPr>
          <p:spPr>
            <a:xfrm>
              <a:off x="261370" y="3663634"/>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2A5EEE48-1627-4A86-E86F-372008B163E3}"/>
                </a:ext>
              </a:extLst>
            </p:cNvPr>
            <p:cNvSpPr txBox="1"/>
            <p:nvPr/>
          </p:nvSpPr>
          <p:spPr>
            <a:xfrm>
              <a:off x="1134472" y="3768448"/>
              <a:ext cx="369207" cy="430887"/>
            </a:xfrm>
            <a:prstGeom prst="rect">
              <a:avLst/>
            </a:prstGeom>
            <a:noFill/>
          </p:spPr>
          <p:txBody>
            <a:bodyPr wrap="square" rtlCol="0">
              <a:spAutoFit/>
            </a:bodyPr>
            <a:lstStyle/>
            <a:p>
              <a:r>
                <a:rPr lang="en-US" sz="2200" dirty="0">
                  <a:solidFill>
                    <a:schemeClr val="accent1"/>
                  </a:solidFill>
                </a:rPr>
                <a:t>A</a:t>
              </a:r>
            </a:p>
          </p:txBody>
        </p:sp>
        <p:sp>
          <p:nvSpPr>
            <p:cNvPr id="19" name="TextBox 18">
              <a:extLst>
                <a:ext uri="{FF2B5EF4-FFF2-40B4-BE49-F238E27FC236}">
                  <a16:creationId xmlns:a16="http://schemas.microsoft.com/office/drawing/2014/main" id="{4AAC0440-CFB6-04CF-F283-03E190AD1723}"/>
                </a:ext>
              </a:extLst>
            </p:cNvPr>
            <p:cNvSpPr txBox="1"/>
            <p:nvPr/>
          </p:nvSpPr>
          <p:spPr>
            <a:xfrm>
              <a:off x="-878932" y="4103467"/>
              <a:ext cx="369207" cy="430887"/>
            </a:xfrm>
            <a:prstGeom prst="rect">
              <a:avLst/>
            </a:prstGeom>
            <a:noFill/>
          </p:spPr>
          <p:txBody>
            <a:bodyPr wrap="square" rtlCol="0">
              <a:spAutoFit/>
            </a:bodyPr>
            <a:lstStyle/>
            <a:p>
              <a:r>
                <a:rPr lang="en-US" sz="2200" dirty="0">
                  <a:solidFill>
                    <a:schemeClr val="accent1"/>
                  </a:solidFill>
                </a:rPr>
                <a:t>B</a:t>
              </a:r>
            </a:p>
          </p:txBody>
        </p:sp>
      </p:grpSp>
    </p:spTree>
    <p:extLst>
      <p:ext uri="{BB962C8B-B14F-4D97-AF65-F5344CB8AC3E}">
        <p14:creationId xmlns:p14="http://schemas.microsoft.com/office/powerpoint/2010/main" val="10811385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Divide and Conquer Template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412240"/>
            <a:ext cx="10972800" cy="5445760"/>
          </a:xfrm>
        </p:spPr>
        <p:txBody>
          <a:bodyPr>
            <a:normAutofit fontScale="62500" lnSpcReduction="20000"/>
          </a:bodyPr>
          <a:lstStyle/>
          <a:p>
            <a:pPr marL="0" indent="0">
              <a:buNone/>
            </a:pPr>
            <a:r>
              <a:rPr lang="en-US" dirty="0"/>
              <a:t>def my_DandC(problem){</a:t>
            </a:r>
            <a:br>
              <a:rPr lang="en-US" dirty="0"/>
            </a:br>
            <a:r>
              <a:rPr lang="en-US" dirty="0"/>
              <a:t>    // Base Case</a:t>
            </a:r>
          </a:p>
          <a:p>
            <a:pPr marL="0" indent="0">
              <a:buNone/>
            </a:pPr>
            <a:r>
              <a:rPr lang="en-US" dirty="0"/>
              <a:t>    if (</a:t>
            </a:r>
            <a:r>
              <a:rPr lang="en-US" dirty="0" err="1"/>
              <a:t>problem.size</a:t>
            </a:r>
            <a:r>
              <a:rPr lang="en-US" dirty="0"/>
              <a:t>() &lt;= </a:t>
            </a:r>
            <a:r>
              <a:rPr lang="en-US" dirty="0" err="1"/>
              <a:t>small_value</a:t>
            </a:r>
            <a:r>
              <a:rPr lang="en-US" dirty="0"/>
              <a:t>){</a:t>
            </a:r>
          </a:p>
          <a:p>
            <a:pPr marL="0" indent="0">
              <a:buNone/>
            </a:pPr>
            <a:r>
              <a:rPr lang="en-US" dirty="0"/>
              <a:t>        return solve(problem);  // directly solve (e.g., brute force)</a:t>
            </a:r>
          </a:p>
          <a:p>
            <a:pPr marL="0" indent="0">
              <a:buNone/>
            </a:pPr>
            <a:r>
              <a:rPr lang="en-US" dirty="0"/>
              <a:t>    }</a:t>
            </a:r>
          </a:p>
          <a:p>
            <a:pPr marL="0" indent="0">
              <a:buNone/>
            </a:pPr>
            <a:r>
              <a:rPr lang="en-US" dirty="0"/>
              <a:t>    // Divide</a:t>
            </a:r>
          </a:p>
          <a:p>
            <a:pPr marL="0" indent="0">
              <a:buNone/>
            </a:pPr>
            <a:r>
              <a:rPr lang="en-US" dirty="0"/>
              <a:t>    List subproblems = divide(problem);</a:t>
            </a:r>
          </a:p>
          <a:p>
            <a:pPr marL="0" indent="0">
              <a:buNone/>
            </a:pPr>
            <a:endParaRPr lang="en-US" dirty="0"/>
          </a:p>
          <a:p>
            <a:pPr marL="0" indent="0">
              <a:buNone/>
            </a:pPr>
            <a:r>
              <a:rPr lang="en-US" dirty="0"/>
              <a:t>    // Conquer</a:t>
            </a:r>
          </a:p>
          <a:p>
            <a:pPr marL="0" indent="0">
              <a:buNone/>
            </a:pPr>
            <a:r>
              <a:rPr lang="en-US" dirty="0"/>
              <a:t>    solutions = new List();</a:t>
            </a:r>
          </a:p>
          <a:p>
            <a:pPr marL="0" indent="0">
              <a:buNone/>
            </a:pPr>
            <a:r>
              <a:rPr lang="en-US" dirty="0"/>
              <a:t>    for (sub : subproblems){</a:t>
            </a:r>
          </a:p>
          <a:p>
            <a:pPr marL="0" indent="0">
              <a:buNone/>
            </a:pPr>
            <a:r>
              <a:rPr lang="en-US" dirty="0"/>
              <a:t>        subsolution = my_DandC(sub);</a:t>
            </a:r>
          </a:p>
          <a:p>
            <a:pPr marL="0" indent="0">
              <a:buNone/>
            </a:pPr>
            <a:r>
              <a:rPr lang="en-US" dirty="0"/>
              <a:t>        </a:t>
            </a:r>
            <a:r>
              <a:rPr lang="en-US" dirty="0" err="1"/>
              <a:t>solutions.add</a:t>
            </a:r>
            <a:r>
              <a:rPr lang="en-US" dirty="0"/>
              <a:t>(</a:t>
            </a:r>
            <a:r>
              <a:rPr lang="en-US" dirty="0" err="1"/>
              <a:t>subsolution</a:t>
            </a:r>
            <a:r>
              <a:rPr lang="en-US" dirty="0"/>
              <a:t>);</a:t>
            </a:r>
          </a:p>
          <a:p>
            <a:pPr marL="0" indent="0">
              <a:buNone/>
            </a:pPr>
            <a:r>
              <a:rPr lang="en-US" dirty="0"/>
              <a:t>    }</a:t>
            </a:r>
          </a:p>
          <a:p>
            <a:pPr marL="0" indent="0">
              <a:buNone/>
            </a:pPr>
            <a:r>
              <a:rPr lang="en-US" dirty="0"/>
              <a:t>    // Combine</a:t>
            </a:r>
          </a:p>
          <a:p>
            <a:pPr marL="0" indent="0">
              <a:buNone/>
            </a:pPr>
            <a:r>
              <a:rPr lang="en-US" dirty="0"/>
              <a:t>    return combine(solutions);</a:t>
            </a:r>
          </a:p>
          <a:p>
            <a:pPr marL="0" indent="0">
              <a:buNone/>
            </a:pPr>
            <a:r>
              <a:rPr lang="en-US" dirty="0"/>
              <a:t>}</a:t>
            </a:r>
          </a:p>
        </p:txBody>
      </p:sp>
      <p:sp>
        <p:nvSpPr>
          <p:cNvPr id="4" name="Slide Number Placeholder 3">
            <a:extLst>
              <a:ext uri="{FF2B5EF4-FFF2-40B4-BE49-F238E27FC236}">
                <a16:creationId xmlns:a16="http://schemas.microsoft.com/office/drawing/2014/main" id="{B1353B9F-2FEB-4029-B061-C90B385A1D1F}"/>
              </a:ext>
            </a:extLst>
          </p:cNvPr>
          <p:cNvSpPr>
            <a:spLocks noGrp="1"/>
          </p:cNvSpPr>
          <p:nvPr>
            <p:ph type="sldNum" sz="quarter" idx="12"/>
          </p:nvPr>
        </p:nvSpPr>
        <p:spPr/>
        <p:txBody>
          <a:bodyPr/>
          <a:lstStyle/>
          <a:p>
            <a:fld id="{F4E8603E-186F-4CC7-B8E2-5FD613D3E28C}" type="slidenum">
              <a:rPr lang="en-US" smtClean="0"/>
              <a:t>53</a:t>
            </a:fld>
            <a:endParaRPr lang="en-US" dirty="0"/>
          </a:p>
        </p:txBody>
      </p:sp>
    </p:spTree>
    <p:extLst>
      <p:ext uri="{BB962C8B-B14F-4D97-AF65-F5344CB8AC3E}">
        <p14:creationId xmlns:p14="http://schemas.microsoft.com/office/powerpoint/2010/main" val="4084274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a:t>
            </a:r>
          </a:p>
        </p:txBody>
      </p:sp>
      <p:sp>
        <p:nvSpPr>
          <p:cNvPr id="3" name="Content Placeholder 2"/>
          <p:cNvSpPr>
            <a:spLocks noGrp="1"/>
          </p:cNvSpPr>
          <p:nvPr>
            <p:ph idx="4294967295"/>
          </p:nvPr>
        </p:nvSpPr>
        <p:spPr>
          <a:xfrm>
            <a:off x="2519680" y="1298448"/>
            <a:ext cx="9601200" cy="5257800"/>
          </a:xfrm>
        </p:spPr>
        <p:txBody>
          <a:bodyPr>
            <a:normAutofit/>
          </a:bodyPr>
          <a:lstStyle/>
          <a:p>
            <a:r>
              <a:rPr lang="en-US" b="1" dirty="0">
                <a:solidFill>
                  <a:srgbClr val="0070C0"/>
                </a:solidFill>
              </a:rPr>
              <a:t>Base Case</a:t>
            </a:r>
            <a:r>
              <a:rPr lang="en-US" b="1" dirty="0"/>
              <a:t>: </a:t>
            </a:r>
          </a:p>
          <a:p>
            <a:pPr lvl="1"/>
            <a:r>
              <a:rPr lang="en-US" dirty="0"/>
              <a:t>If the list is of length 1 or 0, it’s already sorted, so just return it</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a:t>
            </a:r>
          </a:p>
          <a:p>
            <a:pPr lvl="1"/>
            <a:endParaRPr lang="en-US" sz="2600" b="1" dirty="0"/>
          </a:p>
          <a:p>
            <a:r>
              <a:rPr lang="en-US" b="1" dirty="0">
                <a:solidFill>
                  <a:srgbClr val="0070C0"/>
                </a:solidFill>
              </a:rPr>
              <a:t>Conquer</a:t>
            </a:r>
            <a:r>
              <a:rPr lang="en-US" b="1" dirty="0"/>
              <a:t>:</a:t>
            </a:r>
          </a:p>
          <a:p>
            <a:pPr lvl="1"/>
            <a:r>
              <a:rPr lang="en-US" dirty="0"/>
              <a:t>Sort both lists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b="1" dirty="0"/>
              <a:t>Merge</a:t>
            </a:r>
            <a:r>
              <a:rPr lang="en-US" dirty="0"/>
              <a:t> sorted sublists into one sorted list</a:t>
            </a:r>
          </a:p>
        </p:txBody>
      </p:sp>
      <p:sp>
        <p:nvSpPr>
          <p:cNvPr id="224" name="Slide Number Placeholder 223">
            <a:extLst>
              <a:ext uri="{FF2B5EF4-FFF2-40B4-BE49-F238E27FC236}">
                <a16:creationId xmlns:a16="http://schemas.microsoft.com/office/drawing/2014/main" id="{EFCFBE45-A1F3-4932-85FA-AF898B9364C6}"/>
              </a:ext>
            </a:extLst>
          </p:cNvPr>
          <p:cNvSpPr>
            <a:spLocks noGrp="1"/>
          </p:cNvSpPr>
          <p:nvPr>
            <p:ph type="sldNum" sz="quarter" idx="12"/>
          </p:nvPr>
        </p:nvSpPr>
        <p:spPr/>
        <p:txBody>
          <a:bodyPr/>
          <a:lstStyle/>
          <a:p>
            <a:fld id="{F4E8603E-186F-4CC7-B8E2-5FD613D3E28C}" type="slidenum">
              <a:rPr lang="en-US" smtClean="0"/>
              <a:t>54</a:t>
            </a:fld>
            <a:endParaRPr lang="en-US" dirty="0"/>
          </a:p>
        </p:txBody>
      </p:sp>
      <p:sp>
        <p:nvSpPr>
          <p:cNvPr id="492" name="Rectangle 491">
            <a:extLst>
              <a:ext uri="{FF2B5EF4-FFF2-40B4-BE49-F238E27FC236}">
                <a16:creationId xmlns:a16="http://schemas.microsoft.com/office/drawing/2014/main" id="{FA6038B4-F05D-6F20-8BFC-3AC6EC6FC6E8}"/>
              </a:ext>
            </a:extLst>
          </p:cNvPr>
          <p:cNvSpPr/>
          <p:nvPr/>
        </p:nvSpPr>
        <p:spPr>
          <a:xfrm>
            <a:off x="581660" y="1502728"/>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nvGrpSpPr>
          <p:cNvPr id="508" name="Group 507">
            <a:extLst>
              <a:ext uri="{FF2B5EF4-FFF2-40B4-BE49-F238E27FC236}">
                <a16:creationId xmlns:a16="http://schemas.microsoft.com/office/drawing/2014/main" id="{435895E0-AEA0-0940-5D39-646A13B54670}"/>
              </a:ext>
            </a:extLst>
          </p:cNvPr>
          <p:cNvGrpSpPr/>
          <p:nvPr/>
        </p:nvGrpSpPr>
        <p:grpSpPr>
          <a:xfrm>
            <a:off x="143510" y="2620011"/>
            <a:ext cx="2359660" cy="375920"/>
            <a:chOff x="7866380" y="4321811"/>
            <a:chExt cx="2359660" cy="375920"/>
          </a:xfrm>
        </p:grpSpPr>
        <p:sp>
          <p:nvSpPr>
            <p:cNvPr id="502" name="Rectangle 501">
              <a:extLst>
                <a:ext uri="{FF2B5EF4-FFF2-40B4-BE49-F238E27FC236}">
                  <a16:creationId xmlns:a16="http://schemas.microsoft.com/office/drawing/2014/main" id="{1AC0146F-1215-033B-474C-1202CBB1382F}"/>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3" name="Rectangle 502">
              <a:extLst>
                <a:ext uri="{FF2B5EF4-FFF2-40B4-BE49-F238E27FC236}">
                  <a16:creationId xmlns:a16="http://schemas.microsoft.com/office/drawing/2014/main" id="{6161B0BF-F025-0B80-A6D8-62CD5002CD1C}"/>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4" name="Rectangle 503">
              <a:extLst>
                <a:ext uri="{FF2B5EF4-FFF2-40B4-BE49-F238E27FC236}">
                  <a16:creationId xmlns:a16="http://schemas.microsoft.com/office/drawing/2014/main" id="{7E43537C-9288-ABDA-EB6D-AEE370B64291}"/>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5" name="Rectangle 504">
              <a:extLst>
                <a:ext uri="{FF2B5EF4-FFF2-40B4-BE49-F238E27FC236}">
                  <a16:creationId xmlns:a16="http://schemas.microsoft.com/office/drawing/2014/main" id="{F761104C-7C02-2944-984D-8E55BD05570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06" name="Rectangle 505">
              <a:extLst>
                <a:ext uri="{FF2B5EF4-FFF2-40B4-BE49-F238E27FC236}">
                  <a16:creationId xmlns:a16="http://schemas.microsoft.com/office/drawing/2014/main" id="{C59D95F4-292C-4129-52CD-0D6A35C64D9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07" name="Rectangle 506">
              <a:extLst>
                <a:ext uri="{FF2B5EF4-FFF2-40B4-BE49-F238E27FC236}">
                  <a16:creationId xmlns:a16="http://schemas.microsoft.com/office/drawing/2014/main" id="{F84B0681-6C9C-F58D-E1FF-80DFEFD8C581}"/>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509" name="Group 508">
            <a:extLst>
              <a:ext uri="{FF2B5EF4-FFF2-40B4-BE49-F238E27FC236}">
                <a16:creationId xmlns:a16="http://schemas.microsoft.com/office/drawing/2014/main" id="{A512511D-0BF2-1BD4-61D9-99C53A707F13}"/>
              </a:ext>
            </a:extLst>
          </p:cNvPr>
          <p:cNvGrpSpPr/>
          <p:nvPr/>
        </p:nvGrpSpPr>
        <p:grpSpPr>
          <a:xfrm>
            <a:off x="8068310" y="455867"/>
            <a:ext cx="2258060" cy="375920"/>
            <a:chOff x="7967980" y="4321811"/>
            <a:chExt cx="2258060" cy="375920"/>
          </a:xfrm>
        </p:grpSpPr>
        <p:sp>
          <p:nvSpPr>
            <p:cNvPr id="510" name="Rectangle 509">
              <a:extLst>
                <a:ext uri="{FF2B5EF4-FFF2-40B4-BE49-F238E27FC236}">
                  <a16:creationId xmlns:a16="http://schemas.microsoft.com/office/drawing/2014/main" id="{3DCBBB31-B027-E237-6E8F-A785199E188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1" name="Rectangle 510">
              <a:extLst>
                <a:ext uri="{FF2B5EF4-FFF2-40B4-BE49-F238E27FC236}">
                  <a16:creationId xmlns:a16="http://schemas.microsoft.com/office/drawing/2014/main" id="{E3D01A99-515F-0FD5-8557-F5A51BEBD9F8}"/>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4" name="Rectangle 73">
              <a:extLst>
                <a:ext uri="{FF2B5EF4-FFF2-40B4-BE49-F238E27FC236}">
                  <a16:creationId xmlns:a16="http://schemas.microsoft.com/office/drawing/2014/main" id="{D712EC17-6C8B-82E7-112A-93F08E4569E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7C62145E-972E-AA98-83BB-11990B5B0A19}"/>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6" name="Rectangle 75">
              <a:extLst>
                <a:ext uri="{FF2B5EF4-FFF2-40B4-BE49-F238E27FC236}">
                  <a16:creationId xmlns:a16="http://schemas.microsoft.com/office/drawing/2014/main" id="{D5C88493-7B69-E58E-EAEA-116212C7C254}"/>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7" name="Rectangle 76">
              <a:extLst>
                <a:ext uri="{FF2B5EF4-FFF2-40B4-BE49-F238E27FC236}">
                  <a16:creationId xmlns:a16="http://schemas.microsoft.com/office/drawing/2014/main" id="{7C9C7CE3-7A1C-CF03-CF1E-E5762740CED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78" name="Group 77">
            <a:extLst>
              <a:ext uri="{FF2B5EF4-FFF2-40B4-BE49-F238E27FC236}">
                <a16:creationId xmlns:a16="http://schemas.microsoft.com/office/drawing/2014/main" id="{B9E74BD3-16BD-405D-B960-A8F2C73ADA12}"/>
              </a:ext>
            </a:extLst>
          </p:cNvPr>
          <p:cNvGrpSpPr/>
          <p:nvPr/>
        </p:nvGrpSpPr>
        <p:grpSpPr>
          <a:xfrm>
            <a:off x="143510" y="3929254"/>
            <a:ext cx="2359660" cy="375920"/>
            <a:chOff x="7866380" y="4321811"/>
            <a:chExt cx="2359660" cy="375920"/>
          </a:xfrm>
        </p:grpSpPr>
        <p:sp>
          <p:nvSpPr>
            <p:cNvPr id="79" name="Rectangle 78">
              <a:extLst>
                <a:ext uri="{FF2B5EF4-FFF2-40B4-BE49-F238E27FC236}">
                  <a16:creationId xmlns:a16="http://schemas.microsoft.com/office/drawing/2014/main" id="{0EC224A1-B18F-E6A5-748F-A75B1F455D67}"/>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a:extLst>
                <a:ext uri="{FF2B5EF4-FFF2-40B4-BE49-F238E27FC236}">
                  <a16:creationId xmlns:a16="http://schemas.microsoft.com/office/drawing/2014/main" id="{78CEEEE7-FC40-57CE-4C6B-E3C2648A6C3D}"/>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24FE4E47-C824-4651-08D3-308F39FAFA47}"/>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4962A4A-98DB-B15A-FE92-B6E41220439F}"/>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a:extLst>
                <a:ext uri="{FF2B5EF4-FFF2-40B4-BE49-F238E27FC236}">
                  <a16:creationId xmlns:a16="http://schemas.microsoft.com/office/drawing/2014/main" id="{326CC13B-3743-C67D-1189-37D1268C051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940576FB-AFD1-4D3B-05F0-A0B70A599B74}"/>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85" name="Group 84">
            <a:extLst>
              <a:ext uri="{FF2B5EF4-FFF2-40B4-BE49-F238E27FC236}">
                <a16:creationId xmlns:a16="http://schemas.microsoft.com/office/drawing/2014/main" id="{5405945E-100C-6B39-5FD1-BBBE0566368B}"/>
              </a:ext>
            </a:extLst>
          </p:cNvPr>
          <p:cNvGrpSpPr/>
          <p:nvPr/>
        </p:nvGrpSpPr>
        <p:grpSpPr>
          <a:xfrm>
            <a:off x="143510" y="6074982"/>
            <a:ext cx="2258060" cy="375920"/>
            <a:chOff x="7967980" y="4321811"/>
            <a:chExt cx="2258060" cy="375920"/>
          </a:xfrm>
        </p:grpSpPr>
        <p:sp>
          <p:nvSpPr>
            <p:cNvPr id="86" name="Rectangle 85">
              <a:extLst>
                <a:ext uri="{FF2B5EF4-FFF2-40B4-BE49-F238E27FC236}">
                  <a16:creationId xmlns:a16="http://schemas.microsoft.com/office/drawing/2014/main" id="{0F3690BB-76CB-BAFE-26B3-260B537AE2D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7" name="Rectangle 86">
              <a:extLst>
                <a:ext uri="{FF2B5EF4-FFF2-40B4-BE49-F238E27FC236}">
                  <a16:creationId xmlns:a16="http://schemas.microsoft.com/office/drawing/2014/main" id="{423CC625-C6EE-939F-59C6-8FDBF827024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8" name="Rectangle 87">
              <a:extLst>
                <a:ext uri="{FF2B5EF4-FFF2-40B4-BE49-F238E27FC236}">
                  <a16:creationId xmlns:a16="http://schemas.microsoft.com/office/drawing/2014/main" id="{0B4D7055-02F7-A906-4A01-24889BAD29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9" name="Rectangle 88">
              <a:extLst>
                <a:ext uri="{FF2B5EF4-FFF2-40B4-BE49-F238E27FC236}">
                  <a16:creationId xmlns:a16="http://schemas.microsoft.com/office/drawing/2014/main" id="{96CC5D9E-F542-E42E-4C24-9E7DC23692CD}"/>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0" name="Rectangle 89">
              <a:extLst>
                <a:ext uri="{FF2B5EF4-FFF2-40B4-BE49-F238E27FC236}">
                  <a16:creationId xmlns:a16="http://schemas.microsoft.com/office/drawing/2014/main" id="{40B29DFD-1138-7F9E-DB14-8EC859E21220}"/>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1" name="Rectangle 90">
              <a:extLst>
                <a:ext uri="{FF2B5EF4-FFF2-40B4-BE49-F238E27FC236}">
                  <a16:creationId xmlns:a16="http://schemas.microsoft.com/office/drawing/2014/main" id="{C1A2089A-AFB5-4C8F-9B13-2BCC0A93AEAB}"/>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95" name="Straight Arrow Connector 94">
            <a:extLst>
              <a:ext uri="{FF2B5EF4-FFF2-40B4-BE49-F238E27FC236}">
                <a16:creationId xmlns:a16="http://schemas.microsoft.com/office/drawing/2014/main" id="{39760A4B-C884-D45E-2DBC-75690FDA2811}"/>
              </a:ext>
            </a:extLst>
          </p:cNvPr>
          <p:cNvCxnSpPr>
            <a:cxnSpLocks/>
            <a:stCxn id="101" idx="2"/>
            <a:endCxn id="86" idx="0"/>
          </p:cNvCxnSpPr>
          <p:nvPr/>
        </p:nvCxnSpPr>
        <p:spPr>
          <a:xfrm flipH="1">
            <a:off x="331470" y="5628831"/>
            <a:ext cx="12306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DBA8329B-B184-BF44-2E73-57E81568BE4A}"/>
              </a:ext>
            </a:extLst>
          </p:cNvPr>
          <p:cNvGrpSpPr/>
          <p:nvPr/>
        </p:nvGrpSpPr>
        <p:grpSpPr>
          <a:xfrm>
            <a:off x="142240" y="5252911"/>
            <a:ext cx="2359660" cy="375920"/>
            <a:chOff x="7866380" y="4321811"/>
            <a:chExt cx="2359660" cy="375920"/>
          </a:xfrm>
        </p:grpSpPr>
        <p:sp>
          <p:nvSpPr>
            <p:cNvPr id="97" name="Rectangle 96">
              <a:extLst>
                <a:ext uri="{FF2B5EF4-FFF2-40B4-BE49-F238E27FC236}">
                  <a16:creationId xmlns:a16="http://schemas.microsoft.com/office/drawing/2014/main" id="{F79926A6-DCE4-B48F-A5CB-5F011A4C0C72}"/>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9" name="Rectangle 98">
              <a:extLst>
                <a:ext uri="{FF2B5EF4-FFF2-40B4-BE49-F238E27FC236}">
                  <a16:creationId xmlns:a16="http://schemas.microsoft.com/office/drawing/2014/main" id="{5D879902-45E2-374E-6352-92BEFC1772DA}"/>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0" name="Rectangle 99">
              <a:extLst>
                <a:ext uri="{FF2B5EF4-FFF2-40B4-BE49-F238E27FC236}">
                  <a16:creationId xmlns:a16="http://schemas.microsoft.com/office/drawing/2014/main" id="{CAAC80FF-CC9B-8C57-D4EB-B9F52B08CF79}"/>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1" name="Rectangle 100">
              <a:extLst>
                <a:ext uri="{FF2B5EF4-FFF2-40B4-BE49-F238E27FC236}">
                  <a16:creationId xmlns:a16="http://schemas.microsoft.com/office/drawing/2014/main" id="{9F991359-E10F-1CEE-641D-4D6B0901C70B}"/>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2" name="Rectangle 101">
              <a:extLst>
                <a:ext uri="{FF2B5EF4-FFF2-40B4-BE49-F238E27FC236}">
                  <a16:creationId xmlns:a16="http://schemas.microsoft.com/office/drawing/2014/main" id="{DC042204-CC9B-292C-960C-FB3A9E83AD73}"/>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3" name="Rectangle 102">
              <a:extLst>
                <a:ext uri="{FF2B5EF4-FFF2-40B4-BE49-F238E27FC236}">
                  <a16:creationId xmlns:a16="http://schemas.microsoft.com/office/drawing/2014/main" id="{2038750F-0C93-3541-CBB6-23133514AD7D}"/>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106" name="Straight Arrow Connector 105">
            <a:extLst>
              <a:ext uri="{FF2B5EF4-FFF2-40B4-BE49-F238E27FC236}">
                <a16:creationId xmlns:a16="http://schemas.microsoft.com/office/drawing/2014/main" id="{402132B9-9C9F-E2DC-3604-45581B49A1B6}"/>
              </a:ext>
            </a:extLst>
          </p:cNvPr>
          <p:cNvCxnSpPr>
            <a:cxnSpLocks/>
            <a:stCxn id="97" idx="2"/>
            <a:endCxn id="87" idx="0"/>
          </p:cNvCxnSpPr>
          <p:nvPr/>
        </p:nvCxnSpPr>
        <p:spPr>
          <a:xfrm>
            <a:off x="330200" y="5628831"/>
            <a:ext cx="37719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8AB2DD9-25E5-A2C3-5B30-1A2098D2A7B5}"/>
              </a:ext>
            </a:extLst>
          </p:cNvPr>
          <p:cNvCxnSpPr>
            <a:cxnSpLocks/>
            <a:stCxn id="102" idx="2"/>
            <a:endCxn id="88" idx="0"/>
          </p:cNvCxnSpPr>
          <p:nvPr/>
        </p:nvCxnSpPr>
        <p:spPr>
          <a:xfrm flipH="1">
            <a:off x="1085850" y="5628831"/>
            <a:ext cx="85217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64C6B2E-65E1-999F-AE4C-0C9B90029F04}"/>
              </a:ext>
            </a:extLst>
          </p:cNvPr>
          <p:cNvCxnSpPr>
            <a:cxnSpLocks/>
            <a:stCxn id="99" idx="2"/>
            <a:endCxn id="89" idx="0"/>
          </p:cNvCxnSpPr>
          <p:nvPr/>
        </p:nvCxnSpPr>
        <p:spPr>
          <a:xfrm>
            <a:off x="706120" y="5628831"/>
            <a:ext cx="75565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BF20938-E610-9740-E5E4-C2A73A8D0BB5}"/>
              </a:ext>
            </a:extLst>
          </p:cNvPr>
          <p:cNvCxnSpPr>
            <a:cxnSpLocks/>
            <a:stCxn id="100" idx="2"/>
            <a:endCxn id="90" idx="0"/>
          </p:cNvCxnSpPr>
          <p:nvPr/>
        </p:nvCxnSpPr>
        <p:spPr>
          <a:xfrm>
            <a:off x="1084580" y="5628831"/>
            <a:ext cx="75311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660D801-269E-358E-2F73-D1FECEE60AAA}"/>
              </a:ext>
            </a:extLst>
          </p:cNvPr>
          <p:cNvCxnSpPr>
            <a:cxnSpLocks/>
            <a:stCxn id="103" idx="2"/>
            <a:endCxn id="91" idx="0"/>
          </p:cNvCxnSpPr>
          <p:nvPr/>
        </p:nvCxnSpPr>
        <p:spPr>
          <a:xfrm flipH="1">
            <a:off x="2213610" y="5628831"/>
            <a:ext cx="1003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534212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Merge Sort In Action!</a:t>
            </a:r>
          </a:p>
        </p:txBody>
      </p:sp>
      <p:grpSp>
        <p:nvGrpSpPr>
          <p:cNvPr id="21" name="Group 20">
            <a:extLst>
              <a:ext uri="{FF2B5EF4-FFF2-40B4-BE49-F238E27FC236}">
                <a16:creationId xmlns:a16="http://schemas.microsoft.com/office/drawing/2014/main" id="{A14DCCF6-BB83-4EE3-BC80-0BFBFF244782}"/>
              </a:ext>
            </a:extLst>
          </p:cNvPr>
          <p:cNvGrpSpPr/>
          <p:nvPr/>
        </p:nvGrpSpPr>
        <p:grpSpPr>
          <a:xfrm>
            <a:off x="2876550" y="2056448"/>
            <a:ext cx="5862824" cy="732853"/>
            <a:chOff x="641350" y="2386266"/>
            <a:chExt cx="5862824" cy="732853"/>
          </a:xfrm>
        </p:grpSpPr>
        <p:sp>
          <p:nvSpPr>
            <p:cNvPr id="7" name="Rectangle 6">
              <a:extLst>
                <a:ext uri="{FF2B5EF4-FFF2-40B4-BE49-F238E27FC236}">
                  <a16:creationId xmlns:a16="http://schemas.microsoft.com/office/drawing/2014/main" id="{B888C230-FD3C-EA40-210A-BFFCADEDCFB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488F41F6-3204-607E-164A-DCA6BA90C383}"/>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F7076EE9-0D45-1598-39E4-88A91E3187FC}"/>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E2F75015-E664-CC9C-4594-D28BA01E463F}"/>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1" name="Rectangle 10">
              <a:extLst>
                <a:ext uri="{FF2B5EF4-FFF2-40B4-BE49-F238E27FC236}">
                  <a16:creationId xmlns:a16="http://schemas.microsoft.com/office/drawing/2014/main" id="{9E7EF827-6599-548F-5C3D-8292DB144B00}"/>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7B9FB8D4-ECC1-E1AB-E075-8F7CCE064CB4}"/>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9" name="Rectangle 18">
              <a:extLst>
                <a:ext uri="{FF2B5EF4-FFF2-40B4-BE49-F238E27FC236}">
                  <a16:creationId xmlns:a16="http://schemas.microsoft.com/office/drawing/2014/main" id="{1BB24EE8-88B6-5BE1-2240-D58005BAE911}"/>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0" name="Rectangle 19">
              <a:extLst>
                <a:ext uri="{FF2B5EF4-FFF2-40B4-BE49-F238E27FC236}">
                  <a16:creationId xmlns:a16="http://schemas.microsoft.com/office/drawing/2014/main" id="{F096B498-5386-7132-97CB-04CACDCC3646}"/>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DDF2872-D1C3-4B08-E3E4-EF8CAF741EAB}"/>
                  </a:ext>
                </a:extLst>
              </p:cNvPr>
              <p:cNvSpPr txBox="1"/>
              <p:nvPr/>
            </p:nvSpPr>
            <p:spPr>
              <a:xfrm>
                <a:off x="362391" y="1533228"/>
                <a:ext cx="5430520" cy="400110"/>
              </a:xfrm>
              <a:prstGeom prst="rect">
                <a:avLst/>
              </a:prstGeom>
              <a:noFill/>
            </p:spPr>
            <p:txBody>
              <a:bodyPr wrap="square" rtlCol="0">
                <a:spAutoFit/>
              </a:bodyPr>
              <a:lstStyle/>
              <a:p>
                <a:r>
                  <a:rPr lang="en-US" sz="2000" dirty="0"/>
                  <a:t>Sort between indices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and </a:t>
                </a:r>
                <a14:m>
                  <m:oMath xmlns:m="http://schemas.openxmlformats.org/officeDocument/2006/math">
                    <m:r>
                      <a:rPr lang="en-US" sz="2000" i="1" dirty="0" smtClean="0">
                        <a:solidFill>
                          <a:srgbClr val="FF00FF"/>
                        </a:solidFill>
                        <a:latin typeface="Cambria Math" panose="02040503050406030204" pitchFamily="18" charset="0"/>
                      </a:rPr>
                      <m:t>h𝑖𝑔h</m:t>
                    </m:r>
                  </m:oMath>
                </a14:m>
                <a:r>
                  <a:rPr lang="en-US" sz="2000" dirty="0"/>
                  <a:t> </a:t>
                </a:r>
              </a:p>
            </p:txBody>
          </p:sp>
        </mc:Choice>
        <mc:Fallback xmlns="">
          <p:sp>
            <p:nvSpPr>
              <p:cNvPr id="22" name="TextBox 21">
                <a:extLst>
                  <a:ext uri="{FF2B5EF4-FFF2-40B4-BE49-F238E27FC236}">
                    <a16:creationId xmlns:a16="http://schemas.microsoft.com/office/drawing/2014/main" id="{2DDF2872-D1C3-4B08-E3E4-EF8CAF741EAB}"/>
                  </a:ext>
                </a:extLst>
              </p:cNvPr>
              <p:cNvSpPr txBox="1">
                <a:spLocks noRot="1" noChangeAspect="1" noMove="1" noResize="1" noEditPoints="1" noAdjustHandles="1" noChangeArrowheads="1" noChangeShapeType="1" noTextEdit="1"/>
              </p:cNvSpPr>
              <p:nvPr/>
            </p:nvSpPr>
            <p:spPr>
              <a:xfrm>
                <a:off x="362391" y="1533228"/>
                <a:ext cx="5430520" cy="400110"/>
              </a:xfrm>
              <a:prstGeom prst="rect">
                <a:avLst/>
              </a:prstGeom>
              <a:blipFill>
                <a:blip r:embed="rId2"/>
                <a:stretch>
                  <a:fillRect l="-1122"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7DCC280-7CB1-97D9-0F00-51561B65C832}"/>
                  </a:ext>
                </a:extLst>
              </p:cNvPr>
              <p:cNvSpPr txBox="1"/>
              <p:nvPr/>
            </p:nvSpPr>
            <p:spPr>
              <a:xfrm>
                <a:off x="2804160" y="281307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24" name="TextBox 23">
                <a:extLst>
                  <a:ext uri="{FF2B5EF4-FFF2-40B4-BE49-F238E27FC236}">
                    <a16:creationId xmlns:a16="http://schemas.microsoft.com/office/drawing/2014/main" id="{A7DCC280-7CB1-97D9-0F00-51561B65C832}"/>
                  </a:ext>
                </a:extLst>
              </p:cNvPr>
              <p:cNvSpPr txBox="1">
                <a:spLocks noRot="1" noChangeAspect="1" noMove="1" noResize="1" noEditPoints="1" noAdjustHandles="1" noChangeArrowheads="1" noChangeShapeType="1" noTextEdit="1"/>
              </p:cNvSpPr>
              <p:nvPr/>
            </p:nvSpPr>
            <p:spPr>
              <a:xfrm>
                <a:off x="2804160" y="2813071"/>
                <a:ext cx="732853"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47521F1-C529-BCFD-8388-55369777A507}"/>
                  </a:ext>
                </a:extLst>
              </p:cNvPr>
              <p:cNvSpPr txBox="1"/>
              <p:nvPr/>
            </p:nvSpPr>
            <p:spPr>
              <a:xfrm>
                <a:off x="8006520" y="278930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25" name="TextBox 24">
                <a:extLst>
                  <a:ext uri="{FF2B5EF4-FFF2-40B4-BE49-F238E27FC236}">
                    <a16:creationId xmlns:a16="http://schemas.microsoft.com/office/drawing/2014/main" id="{E47521F1-C529-BCFD-8388-55369777A507}"/>
                  </a:ext>
                </a:extLst>
              </p:cNvPr>
              <p:cNvSpPr txBox="1">
                <a:spLocks noRot="1" noChangeAspect="1" noMove="1" noResize="1" noEditPoints="1" noAdjustHandles="1" noChangeArrowheads="1" noChangeShapeType="1" noTextEdit="1"/>
              </p:cNvSpPr>
              <p:nvPr/>
            </p:nvSpPr>
            <p:spPr>
              <a:xfrm>
                <a:off x="8006520" y="2789301"/>
                <a:ext cx="732853"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88C347-A8D8-2303-74DB-E7D69034D8A2}"/>
                  </a:ext>
                </a:extLst>
              </p:cNvPr>
              <p:cNvSpPr txBox="1"/>
              <p:nvPr/>
            </p:nvSpPr>
            <p:spPr>
              <a:xfrm>
                <a:off x="312257" y="3142831"/>
                <a:ext cx="8852729" cy="400110"/>
              </a:xfrm>
              <a:prstGeom prst="rect">
                <a:avLst/>
              </a:prstGeom>
              <a:noFill/>
            </p:spPr>
            <p:txBody>
              <a:bodyPr wrap="square" rtlCol="0">
                <a:spAutoFit/>
              </a:bodyPr>
              <a:lstStyle/>
              <a:p>
                <a:r>
                  <a:rPr lang="en-US" sz="2000" dirty="0"/>
                  <a:t>Base Case: if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 </a:t>
                </a:r>
                <a14:m>
                  <m:oMath xmlns:m="http://schemas.openxmlformats.org/officeDocument/2006/math">
                    <m:r>
                      <a:rPr lang="en-US" sz="2000" b="0" i="1" dirty="0" smtClean="0">
                        <a:solidFill>
                          <a:srgbClr val="FF00FF"/>
                        </a:solidFill>
                        <a:latin typeface="Cambria Math" panose="02040503050406030204" pitchFamily="18" charset="0"/>
                      </a:rPr>
                      <m:t>h𝑖𝑔h</m:t>
                    </m:r>
                  </m:oMath>
                </a14:m>
                <a:r>
                  <a:rPr lang="en-US" sz="2000" dirty="0"/>
                  <a:t> then that range is already sorted!</a:t>
                </a:r>
              </a:p>
            </p:txBody>
          </p:sp>
        </mc:Choice>
        <mc:Fallback xmlns="">
          <p:sp>
            <p:nvSpPr>
              <p:cNvPr id="27" name="TextBox 26">
                <a:extLst>
                  <a:ext uri="{FF2B5EF4-FFF2-40B4-BE49-F238E27FC236}">
                    <a16:creationId xmlns:a16="http://schemas.microsoft.com/office/drawing/2014/main" id="{5388C347-A8D8-2303-74DB-E7D69034D8A2}"/>
                  </a:ext>
                </a:extLst>
              </p:cNvPr>
              <p:cNvSpPr txBox="1">
                <a:spLocks noRot="1" noChangeAspect="1" noMove="1" noResize="1" noEditPoints="1" noAdjustHandles="1" noChangeArrowheads="1" noChangeShapeType="1" noTextEdit="1"/>
              </p:cNvSpPr>
              <p:nvPr/>
            </p:nvSpPr>
            <p:spPr>
              <a:xfrm>
                <a:off x="312257" y="3142831"/>
                <a:ext cx="8852729" cy="400110"/>
              </a:xfrm>
              <a:prstGeom prst="rect">
                <a:avLst/>
              </a:prstGeom>
              <a:blipFill>
                <a:blip r:embed="rId5"/>
                <a:stretch>
                  <a:fillRect l="-689"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03BBCFA-D348-D5DC-E24C-572F4975723A}"/>
                  </a:ext>
                </a:extLst>
              </p:cNvPr>
              <p:cNvSpPr txBox="1"/>
              <p:nvPr/>
            </p:nvSpPr>
            <p:spPr>
              <a:xfrm>
                <a:off x="312257" y="3539659"/>
                <a:ext cx="10991410" cy="552972"/>
              </a:xfrm>
              <a:prstGeom prst="rect">
                <a:avLst/>
              </a:prstGeom>
              <a:noFill/>
            </p:spPr>
            <p:txBody>
              <a:bodyPr wrap="square" rtlCol="0">
                <a:spAutoFit/>
              </a:bodyPr>
              <a:lstStyle/>
              <a:p>
                <a:r>
                  <a:rPr lang="en-US" sz="2000" dirty="0"/>
                  <a:t>Divide and Conquer: Otherwise call </a:t>
                </a:r>
                <a:r>
                  <a:rPr lang="en-US" sz="2000" dirty="0" err="1"/>
                  <a:t>mergesort</a:t>
                </a:r>
                <a:r>
                  <a:rPr lang="en-US" sz="2000" dirty="0"/>
                  <a:t> on ranges </a:t>
                </a:r>
                <a14:m>
                  <m:oMath xmlns:m="http://schemas.openxmlformats.org/officeDocument/2006/math">
                    <m:d>
                      <m:dPr>
                        <m:ctrlPr>
                          <a:rPr lang="en-US" sz="2000" b="0" i="1" smtClean="0">
                            <a:solidFill>
                              <a:srgbClr val="FF00FF"/>
                            </a:solidFill>
                            <a:latin typeface="Cambria Math" panose="02040503050406030204" pitchFamily="18" charset="0"/>
                          </a:rPr>
                        </m:ctrlPr>
                      </m:dPr>
                      <m:e>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f>
                          <m:fPr>
                            <m:ctrlPr>
                              <a:rPr lang="en-US" sz="2000" b="0" i="1" smtClean="0">
                                <a:solidFill>
                                  <a:srgbClr val="FF00FF"/>
                                </a:solidFill>
                                <a:latin typeface="Cambria Math" panose="02040503050406030204" pitchFamily="18" charset="0"/>
                              </a:rPr>
                            </m:ctrlPr>
                          </m:fPr>
                          <m:num>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r>
                              <a:rPr lang="en-US" sz="2000" b="0" i="1" smtClean="0">
                                <a:solidFill>
                                  <a:srgbClr val="FF00FF"/>
                                </a:solidFill>
                                <a:latin typeface="Cambria Math" panose="02040503050406030204" pitchFamily="18" charset="0"/>
                              </a:rPr>
                              <m:t>h𝑖𝑔h</m:t>
                            </m:r>
                          </m:num>
                          <m:den>
                            <m:r>
                              <a:rPr lang="en-US" sz="2000" b="0" i="1" smtClean="0">
                                <a:solidFill>
                                  <a:srgbClr val="FF00FF"/>
                                </a:solidFill>
                                <a:latin typeface="Cambria Math" panose="02040503050406030204" pitchFamily="18" charset="0"/>
                              </a:rPr>
                              <m:t>2</m:t>
                            </m:r>
                          </m:den>
                        </m:f>
                      </m:e>
                    </m:d>
                  </m:oMath>
                </a14:m>
                <a:r>
                  <a:rPr lang="en-US" sz="2000" dirty="0"/>
                  <a:t> and </a:t>
                </a:r>
                <a14:m>
                  <m:oMath xmlns:m="http://schemas.openxmlformats.org/officeDocument/2006/math">
                    <m:d>
                      <m:dPr>
                        <m:ctrlPr>
                          <a:rPr lang="en-US" sz="2000" i="1">
                            <a:solidFill>
                              <a:srgbClr val="FF00FF"/>
                            </a:solidFill>
                            <a:latin typeface="Cambria Math" panose="02040503050406030204" pitchFamily="18" charset="0"/>
                          </a:rPr>
                        </m:ctrlPr>
                      </m:dPr>
                      <m:e>
                        <m:f>
                          <m:fPr>
                            <m:ctrlPr>
                              <a:rPr lang="en-US" sz="2000" i="1">
                                <a:solidFill>
                                  <a:srgbClr val="FF00FF"/>
                                </a:solidFill>
                                <a:latin typeface="Cambria Math" panose="02040503050406030204" pitchFamily="18" charset="0"/>
                              </a:rPr>
                            </m:ctrlPr>
                          </m:fPr>
                          <m:num>
                            <m:r>
                              <a:rPr lang="en-US" sz="2000" i="1">
                                <a:solidFill>
                                  <a:srgbClr val="FF00FF"/>
                                </a:solidFill>
                                <a:latin typeface="Cambria Math" panose="02040503050406030204" pitchFamily="18" charset="0"/>
                              </a:rPr>
                              <m:t>𝑙𝑜𝑤</m:t>
                            </m:r>
                            <m:r>
                              <a:rPr lang="en-US" sz="2000" i="1">
                                <a:solidFill>
                                  <a:srgbClr val="FF00FF"/>
                                </a:solidFill>
                                <a:latin typeface="Cambria Math" panose="02040503050406030204" pitchFamily="18" charset="0"/>
                              </a:rPr>
                              <m:t>+</m:t>
                            </m:r>
                            <m:r>
                              <a:rPr lang="en-US" sz="2000" i="1">
                                <a:solidFill>
                                  <a:srgbClr val="FF00FF"/>
                                </a:solidFill>
                                <a:latin typeface="Cambria Math" panose="02040503050406030204" pitchFamily="18" charset="0"/>
                              </a:rPr>
                              <m:t>h𝑖𝑔h</m:t>
                            </m:r>
                          </m:num>
                          <m:den>
                            <m:r>
                              <a:rPr lang="en-US" sz="2000" i="1">
                                <a:solidFill>
                                  <a:srgbClr val="FF00FF"/>
                                </a:solidFill>
                                <a:latin typeface="Cambria Math" panose="02040503050406030204" pitchFamily="18" charset="0"/>
                              </a:rPr>
                              <m:t>2</m:t>
                            </m:r>
                          </m:den>
                        </m:f>
                        <m:r>
                          <a:rPr lang="en-US" sz="2000" b="0" i="1" smtClean="0">
                            <a:solidFill>
                              <a:srgbClr val="FF00FF"/>
                            </a:solidFill>
                            <a:latin typeface="Cambria Math" panose="02040503050406030204" pitchFamily="18" charset="0"/>
                          </a:rPr>
                          <m:t>+1, </m:t>
                        </m:r>
                        <m:r>
                          <a:rPr lang="en-US" sz="2000" b="0" i="1" smtClean="0">
                            <a:solidFill>
                              <a:srgbClr val="FF00FF"/>
                            </a:solidFill>
                            <a:latin typeface="Cambria Math" panose="02040503050406030204" pitchFamily="18" charset="0"/>
                          </a:rPr>
                          <m:t>h𝑖𝑔h</m:t>
                        </m:r>
                      </m:e>
                    </m:d>
                  </m:oMath>
                </a14:m>
                <a:endParaRPr lang="en-US" sz="2000" dirty="0"/>
              </a:p>
            </p:txBody>
          </p:sp>
        </mc:Choice>
        <mc:Fallback xmlns="">
          <p:sp>
            <p:nvSpPr>
              <p:cNvPr id="28" name="TextBox 27">
                <a:extLst>
                  <a:ext uri="{FF2B5EF4-FFF2-40B4-BE49-F238E27FC236}">
                    <a16:creationId xmlns:a16="http://schemas.microsoft.com/office/drawing/2014/main" id="{503BBCFA-D348-D5DC-E24C-572F4975723A}"/>
                  </a:ext>
                </a:extLst>
              </p:cNvPr>
              <p:cNvSpPr txBox="1">
                <a:spLocks noRot="1" noChangeAspect="1" noMove="1" noResize="1" noEditPoints="1" noAdjustHandles="1" noChangeArrowheads="1" noChangeShapeType="1" noTextEdit="1"/>
              </p:cNvSpPr>
              <p:nvPr/>
            </p:nvSpPr>
            <p:spPr>
              <a:xfrm>
                <a:off x="312257" y="3539659"/>
                <a:ext cx="10991410" cy="552972"/>
              </a:xfrm>
              <a:prstGeom prst="rect">
                <a:avLst/>
              </a:prstGeom>
              <a:blipFill>
                <a:blip r:embed="rId6"/>
                <a:stretch>
                  <a:fillRect l="-555" b="-6667"/>
                </a:stretch>
              </a:blipFill>
            </p:spPr>
            <p:txBody>
              <a:bodyPr/>
              <a:lstStyle/>
              <a:p>
                <a:r>
                  <a:rPr lang="en-US">
                    <a:noFill/>
                  </a:rPr>
                  <a:t> </a:t>
                </a:r>
              </a:p>
            </p:txBody>
          </p:sp>
        </mc:Fallback>
      </mc:AlternateContent>
      <p:grpSp>
        <p:nvGrpSpPr>
          <p:cNvPr id="29" name="Group 28">
            <a:extLst>
              <a:ext uri="{FF2B5EF4-FFF2-40B4-BE49-F238E27FC236}">
                <a16:creationId xmlns:a16="http://schemas.microsoft.com/office/drawing/2014/main" id="{3D3C4954-18C7-146E-6B7E-0D9D212CA13A}"/>
              </a:ext>
            </a:extLst>
          </p:cNvPr>
          <p:cNvGrpSpPr/>
          <p:nvPr/>
        </p:nvGrpSpPr>
        <p:grpSpPr>
          <a:xfrm>
            <a:off x="2653030" y="4199677"/>
            <a:ext cx="5862824" cy="732853"/>
            <a:chOff x="641350" y="2386266"/>
            <a:chExt cx="5862824" cy="732853"/>
          </a:xfrm>
        </p:grpSpPr>
        <p:sp>
          <p:nvSpPr>
            <p:cNvPr id="30" name="Rectangle 29">
              <a:extLst>
                <a:ext uri="{FF2B5EF4-FFF2-40B4-BE49-F238E27FC236}">
                  <a16:creationId xmlns:a16="http://schemas.microsoft.com/office/drawing/2014/main" id="{263E3FFF-3C3A-E76C-6E22-3C2489A65651}"/>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Rectangle 30">
              <a:extLst>
                <a:ext uri="{FF2B5EF4-FFF2-40B4-BE49-F238E27FC236}">
                  <a16:creationId xmlns:a16="http://schemas.microsoft.com/office/drawing/2014/main" id="{B4AB53C9-518C-D320-CF21-4B4CD17CFE26}"/>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2" name="Rectangle 31">
              <a:extLst>
                <a:ext uri="{FF2B5EF4-FFF2-40B4-BE49-F238E27FC236}">
                  <a16:creationId xmlns:a16="http://schemas.microsoft.com/office/drawing/2014/main" id="{ED232457-E7F3-9FA4-E6AF-0C289F508761}"/>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3" name="Rectangle 32">
              <a:extLst>
                <a:ext uri="{FF2B5EF4-FFF2-40B4-BE49-F238E27FC236}">
                  <a16:creationId xmlns:a16="http://schemas.microsoft.com/office/drawing/2014/main" id="{83C181DA-77E2-6D0D-BF2D-D935A61F7614}"/>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531CBE20-1325-540C-60C6-0FE22059A639}"/>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5" name="Rectangle 34">
              <a:extLst>
                <a:ext uri="{FF2B5EF4-FFF2-40B4-BE49-F238E27FC236}">
                  <a16:creationId xmlns:a16="http://schemas.microsoft.com/office/drawing/2014/main" id="{7A68CC84-471E-C966-DB8A-1C5F1B77A5AB}"/>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FB6BC1D1-46F1-7544-E4DA-77766CBBE52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E03EE08D-8601-013B-E0A7-546F75941260}"/>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18A966C-DFAE-60B7-7FC7-6C2EF91E948A}"/>
                  </a:ext>
                </a:extLst>
              </p:cNvPr>
              <p:cNvSpPr txBox="1"/>
              <p:nvPr/>
            </p:nvSpPr>
            <p:spPr>
              <a:xfrm>
                <a:off x="2580640" y="495630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38" name="TextBox 37">
                <a:extLst>
                  <a:ext uri="{FF2B5EF4-FFF2-40B4-BE49-F238E27FC236}">
                    <a16:creationId xmlns:a16="http://schemas.microsoft.com/office/drawing/2014/main" id="{E18A966C-DFAE-60B7-7FC7-6C2EF91E948A}"/>
                  </a:ext>
                </a:extLst>
              </p:cNvPr>
              <p:cNvSpPr txBox="1">
                <a:spLocks noRot="1" noChangeAspect="1" noMove="1" noResize="1" noEditPoints="1" noAdjustHandles="1" noChangeArrowheads="1" noChangeShapeType="1" noTextEdit="1"/>
              </p:cNvSpPr>
              <p:nvPr/>
            </p:nvSpPr>
            <p:spPr>
              <a:xfrm>
                <a:off x="2580640" y="4956300"/>
                <a:ext cx="73285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A7609C9-9931-85A8-6C36-CFBE3621FB43}"/>
                  </a:ext>
                </a:extLst>
              </p:cNvPr>
              <p:cNvSpPr txBox="1"/>
              <p:nvPr/>
            </p:nvSpPr>
            <p:spPr>
              <a:xfrm>
                <a:off x="7783000" y="493253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39" name="TextBox 38">
                <a:extLst>
                  <a:ext uri="{FF2B5EF4-FFF2-40B4-BE49-F238E27FC236}">
                    <a16:creationId xmlns:a16="http://schemas.microsoft.com/office/drawing/2014/main" id="{DA7609C9-9931-85A8-6C36-CFBE3621FB43}"/>
                  </a:ext>
                </a:extLst>
              </p:cNvPr>
              <p:cNvSpPr txBox="1">
                <a:spLocks noRot="1" noChangeAspect="1" noMove="1" noResize="1" noEditPoints="1" noAdjustHandles="1" noChangeArrowheads="1" noChangeShapeType="1" noTextEdit="1"/>
              </p:cNvSpPr>
              <p:nvPr/>
            </p:nvSpPr>
            <p:spPr>
              <a:xfrm>
                <a:off x="7783000" y="4932530"/>
                <a:ext cx="732853"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13CD170-F635-085C-F3DC-D237BF24ED6B}"/>
                  </a:ext>
                </a:extLst>
              </p:cNvPr>
              <p:cNvSpPr txBox="1"/>
              <p:nvPr/>
            </p:nvSpPr>
            <p:spPr>
              <a:xfrm>
                <a:off x="4288632" y="496965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xmlns="">
          <p:sp>
            <p:nvSpPr>
              <p:cNvPr id="41" name="TextBox 40">
                <a:extLst>
                  <a:ext uri="{FF2B5EF4-FFF2-40B4-BE49-F238E27FC236}">
                    <a16:creationId xmlns:a16="http://schemas.microsoft.com/office/drawing/2014/main" id="{E13CD170-F635-085C-F3DC-D237BF24ED6B}"/>
                  </a:ext>
                </a:extLst>
              </p:cNvPr>
              <p:cNvSpPr txBox="1">
                <a:spLocks noRot="1" noChangeAspect="1" noMove="1" noResize="1" noEditPoints="1" noAdjustHandles="1" noChangeArrowheads="1" noChangeShapeType="1" noTextEdit="1"/>
              </p:cNvSpPr>
              <p:nvPr/>
            </p:nvSpPr>
            <p:spPr>
              <a:xfrm>
                <a:off x="4288632" y="4969652"/>
                <a:ext cx="1497305" cy="499945"/>
              </a:xfrm>
              <a:prstGeom prst="rect">
                <a:avLst/>
              </a:prstGeom>
              <a:blipFill>
                <a:blip r:embed="rId9"/>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62BA5EF-5185-5588-EB46-795E3436CCC9}"/>
                  </a:ext>
                </a:extLst>
              </p:cNvPr>
              <p:cNvSpPr txBox="1"/>
              <p:nvPr/>
            </p:nvSpPr>
            <p:spPr>
              <a:xfrm>
                <a:off x="5525770" y="5006774"/>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xmlns="">
          <p:sp>
            <p:nvSpPr>
              <p:cNvPr id="42" name="TextBox 41">
                <a:extLst>
                  <a:ext uri="{FF2B5EF4-FFF2-40B4-BE49-F238E27FC236}">
                    <a16:creationId xmlns:a16="http://schemas.microsoft.com/office/drawing/2014/main" id="{A62BA5EF-5185-5588-EB46-795E3436CCC9}"/>
                  </a:ext>
                </a:extLst>
              </p:cNvPr>
              <p:cNvSpPr txBox="1">
                <a:spLocks noRot="1" noChangeAspect="1" noMove="1" noResize="1" noEditPoints="1" noAdjustHandles="1" noChangeArrowheads="1" noChangeShapeType="1" noTextEdit="1"/>
              </p:cNvSpPr>
              <p:nvPr/>
            </p:nvSpPr>
            <p:spPr>
              <a:xfrm>
                <a:off x="5525770" y="5006774"/>
                <a:ext cx="1497305" cy="499945"/>
              </a:xfrm>
              <a:prstGeom prst="rect">
                <a:avLst/>
              </a:prstGeom>
              <a:blipFill>
                <a:blip r:embed="rId10"/>
                <a:stretch>
                  <a:fillRect b="-2439"/>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6FF4245F-E847-1743-85A7-9C67FC224BB0}"/>
              </a:ext>
            </a:extLst>
          </p:cNvPr>
          <p:cNvCxnSpPr>
            <a:cxnSpLocks/>
          </p:cNvCxnSpPr>
          <p:nvPr/>
        </p:nvCxnSpPr>
        <p:spPr>
          <a:xfrm>
            <a:off x="5584442" y="4002150"/>
            <a:ext cx="0" cy="15045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nvGrpSpPr>
          <p:cNvPr id="47" name="Group 46">
            <a:extLst>
              <a:ext uri="{FF2B5EF4-FFF2-40B4-BE49-F238E27FC236}">
                <a16:creationId xmlns:a16="http://schemas.microsoft.com/office/drawing/2014/main" id="{8A963E52-A4AF-852A-B21B-7A42B4E5386D}"/>
              </a:ext>
            </a:extLst>
          </p:cNvPr>
          <p:cNvGrpSpPr/>
          <p:nvPr/>
        </p:nvGrpSpPr>
        <p:grpSpPr>
          <a:xfrm>
            <a:off x="2653030" y="5672099"/>
            <a:ext cx="5862824" cy="732853"/>
            <a:chOff x="641350" y="2386266"/>
            <a:chExt cx="5862824" cy="732853"/>
          </a:xfrm>
        </p:grpSpPr>
        <p:sp>
          <p:nvSpPr>
            <p:cNvPr id="48" name="Rectangle 47">
              <a:extLst>
                <a:ext uri="{FF2B5EF4-FFF2-40B4-BE49-F238E27FC236}">
                  <a16:creationId xmlns:a16="http://schemas.microsoft.com/office/drawing/2014/main" id="{13B02481-CF61-EF96-5453-7FB12E7F13A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Rectangle 48">
              <a:extLst>
                <a:ext uri="{FF2B5EF4-FFF2-40B4-BE49-F238E27FC236}">
                  <a16:creationId xmlns:a16="http://schemas.microsoft.com/office/drawing/2014/main" id="{DBFBB41E-AADC-E1A6-BE95-E0C85FDAB6B1}"/>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 name="Rectangle 49">
              <a:extLst>
                <a:ext uri="{FF2B5EF4-FFF2-40B4-BE49-F238E27FC236}">
                  <a16:creationId xmlns:a16="http://schemas.microsoft.com/office/drawing/2014/main" id="{AB7869A1-7679-DE17-3E60-8B50A6C4B0A2}"/>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1" name="Rectangle 50">
              <a:extLst>
                <a:ext uri="{FF2B5EF4-FFF2-40B4-BE49-F238E27FC236}">
                  <a16:creationId xmlns:a16="http://schemas.microsoft.com/office/drawing/2014/main" id="{DE04867C-4660-98C8-256D-C98F0EC9A42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a:extLst>
                <a:ext uri="{FF2B5EF4-FFF2-40B4-BE49-F238E27FC236}">
                  <a16:creationId xmlns:a16="http://schemas.microsoft.com/office/drawing/2014/main" id="{5952717D-A7A0-6046-1A59-D0F84BB09A6B}"/>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62E4CCB4-9A64-FBB8-098E-EB736A9DC5E9}"/>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4" name="Rectangle 53">
              <a:extLst>
                <a:ext uri="{FF2B5EF4-FFF2-40B4-BE49-F238E27FC236}">
                  <a16:creationId xmlns:a16="http://schemas.microsoft.com/office/drawing/2014/main" id="{8C588CFB-6886-B3E4-F149-27A460466F7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a:extLst>
                <a:ext uri="{FF2B5EF4-FFF2-40B4-BE49-F238E27FC236}">
                  <a16:creationId xmlns:a16="http://schemas.microsoft.com/office/drawing/2014/main" id="{23A6B9B3-683B-B245-2120-B6C97C6C0119}"/>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0EC4A69-2D89-1F59-AFFB-70237FE3AA78}"/>
                  </a:ext>
                </a:extLst>
              </p:cNvPr>
              <p:cNvSpPr txBox="1"/>
              <p:nvPr/>
            </p:nvSpPr>
            <p:spPr>
              <a:xfrm>
                <a:off x="2580640" y="642872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56" name="TextBox 55">
                <a:extLst>
                  <a:ext uri="{FF2B5EF4-FFF2-40B4-BE49-F238E27FC236}">
                    <a16:creationId xmlns:a16="http://schemas.microsoft.com/office/drawing/2014/main" id="{60EC4A69-2D89-1F59-AFFB-70237FE3AA78}"/>
                  </a:ext>
                </a:extLst>
              </p:cNvPr>
              <p:cNvSpPr txBox="1">
                <a:spLocks noRot="1" noChangeAspect="1" noMove="1" noResize="1" noEditPoints="1" noAdjustHandles="1" noChangeArrowheads="1" noChangeShapeType="1" noTextEdit="1"/>
              </p:cNvSpPr>
              <p:nvPr/>
            </p:nvSpPr>
            <p:spPr>
              <a:xfrm>
                <a:off x="2580640" y="6428722"/>
                <a:ext cx="73285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C0B620E-FD13-DE0C-5024-743EEDDADFCD}"/>
                  </a:ext>
                </a:extLst>
              </p:cNvPr>
              <p:cNvSpPr txBox="1"/>
              <p:nvPr/>
            </p:nvSpPr>
            <p:spPr>
              <a:xfrm>
                <a:off x="7783000" y="640495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57" name="TextBox 56">
                <a:extLst>
                  <a:ext uri="{FF2B5EF4-FFF2-40B4-BE49-F238E27FC236}">
                    <a16:creationId xmlns:a16="http://schemas.microsoft.com/office/drawing/2014/main" id="{FC0B620E-FD13-DE0C-5024-743EEDDADFCD}"/>
                  </a:ext>
                </a:extLst>
              </p:cNvPr>
              <p:cNvSpPr txBox="1">
                <a:spLocks noRot="1" noChangeAspect="1" noMove="1" noResize="1" noEditPoints="1" noAdjustHandles="1" noChangeArrowheads="1" noChangeShapeType="1" noTextEdit="1"/>
              </p:cNvSpPr>
              <p:nvPr/>
            </p:nvSpPr>
            <p:spPr>
              <a:xfrm>
                <a:off x="7783000" y="6404952"/>
                <a:ext cx="732853" cy="369332"/>
              </a:xfrm>
              <a:prstGeom prst="rect">
                <a:avLst/>
              </a:prstGeom>
              <a:blipFill>
                <a:blip r:embed="rId12"/>
                <a:stretch>
                  <a:fillRect b="-13333"/>
                </a:stretch>
              </a:blipFill>
            </p:spPr>
            <p:txBody>
              <a:bodyPr/>
              <a:lstStyle/>
              <a:p>
                <a:r>
                  <a:rPr lang="en-US">
                    <a:noFill/>
                  </a:rPr>
                  <a:t> </a:t>
                </a:r>
              </a:p>
            </p:txBody>
          </p:sp>
        </mc:Fallback>
      </mc:AlternateContent>
      <p:sp>
        <p:nvSpPr>
          <p:cNvPr id="61" name="TextBox 60">
            <a:extLst>
              <a:ext uri="{FF2B5EF4-FFF2-40B4-BE49-F238E27FC236}">
                <a16:creationId xmlns:a16="http://schemas.microsoft.com/office/drawing/2014/main" id="{014B858A-911D-26ED-6F2B-0FF5014A4F19}"/>
              </a:ext>
            </a:extLst>
          </p:cNvPr>
          <p:cNvSpPr txBox="1"/>
          <p:nvPr/>
        </p:nvSpPr>
        <p:spPr>
          <a:xfrm>
            <a:off x="312257" y="5763351"/>
            <a:ext cx="10991410" cy="400110"/>
          </a:xfrm>
          <a:prstGeom prst="rect">
            <a:avLst/>
          </a:prstGeom>
          <a:noFill/>
        </p:spPr>
        <p:txBody>
          <a:bodyPr wrap="square" rtlCol="0">
            <a:spAutoFit/>
          </a:bodyPr>
          <a:lstStyle/>
          <a:p>
            <a:r>
              <a:rPr lang="en-US" sz="2000" dirty="0"/>
              <a:t>After Recursion:</a:t>
            </a:r>
          </a:p>
        </p:txBody>
      </p:sp>
    </p:spTree>
    <p:extLst>
      <p:ext uri="{BB962C8B-B14F-4D97-AF65-F5344CB8AC3E}">
        <p14:creationId xmlns:p14="http://schemas.microsoft.com/office/powerpoint/2010/main" val="26321363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F328-04B6-E91F-1000-0492DC56A084}"/>
              </a:ext>
            </a:extLst>
          </p:cNvPr>
          <p:cNvSpPr>
            <a:spLocks noGrp="1"/>
          </p:cNvSpPr>
          <p:nvPr>
            <p:ph type="title"/>
          </p:nvPr>
        </p:nvSpPr>
        <p:spPr/>
        <p:txBody>
          <a:bodyPr/>
          <a:lstStyle/>
          <a:p>
            <a:r>
              <a:rPr lang="en-US" dirty="0"/>
              <a:t>Merge (the combine part)</a:t>
            </a:r>
          </a:p>
        </p:txBody>
      </p:sp>
      <p:grpSp>
        <p:nvGrpSpPr>
          <p:cNvPr id="5" name="Group 4">
            <a:extLst>
              <a:ext uri="{FF2B5EF4-FFF2-40B4-BE49-F238E27FC236}">
                <a16:creationId xmlns:a16="http://schemas.microsoft.com/office/drawing/2014/main" id="{38FF776E-9504-C0D2-67B4-434D98EAE99C}"/>
              </a:ext>
            </a:extLst>
          </p:cNvPr>
          <p:cNvGrpSpPr/>
          <p:nvPr/>
        </p:nvGrpSpPr>
        <p:grpSpPr>
          <a:xfrm>
            <a:off x="2957830" y="1516659"/>
            <a:ext cx="5862824" cy="732853"/>
            <a:chOff x="641350" y="2386266"/>
            <a:chExt cx="5862824" cy="732853"/>
          </a:xfrm>
        </p:grpSpPr>
        <p:sp>
          <p:nvSpPr>
            <p:cNvPr id="6" name="Rectangle 5">
              <a:extLst>
                <a:ext uri="{FF2B5EF4-FFF2-40B4-BE49-F238E27FC236}">
                  <a16:creationId xmlns:a16="http://schemas.microsoft.com/office/drawing/2014/main" id="{116EB25A-86A2-872F-96C0-79FF2C7F32DE}"/>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90142F12-2080-CB61-8D64-C197A6CB325F}"/>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192AFA11-63FF-C162-E977-EAE405F3B96B}"/>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487859EA-E4DB-A2C3-44F9-06E320A8401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Rectangle 9">
              <a:extLst>
                <a:ext uri="{FF2B5EF4-FFF2-40B4-BE49-F238E27FC236}">
                  <a16:creationId xmlns:a16="http://schemas.microsoft.com/office/drawing/2014/main" id="{792363DB-D76A-72A7-ABE8-0D90E1ACB543}"/>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0CCD79CE-539B-7DD5-551C-9E0EE3379200}"/>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 name="Rectangle 11">
              <a:extLst>
                <a:ext uri="{FF2B5EF4-FFF2-40B4-BE49-F238E27FC236}">
                  <a16:creationId xmlns:a16="http://schemas.microsoft.com/office/drawing/2014/main" id="{48963F99-4075-ED57-903C-7E402901C503}"/>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3" name="Rectangle 12">
              <a:extLst>
                <a:ext uri="{FF2B5EF4-FFF2-40B4-BE49-F238E27FC236}">
                  <a16:creationId xmlns:a16="http://schemas.microsoft.com/office/drawing/2014/main" id="{CEB90353-0F02-1988-D3A5-C06BC70A33DC}"/>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BBA4A9-E429-B6AF-1D45-8B0C2ECC9465}"/>
                  </a:ext>
                </a:extLst>
              </p:cNvPr>
              <p:cNvSpPr txBox="1"/>
              <p:nvPr/>
            </p:nvSpPr>
            <p:spPr>
              <a:xfrm>
                <a:off x="2885440" y="227328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14" name="TextBox 13">
                <a:extLst>
                  <a:ext uri="{FF2B5EF4-FFF2-40B4-BE49-F238E27FC236}">
                    <a16:creationId xmlns:a16="http://schemas.microsoft.com/office/drawing/2014/main" id="{2FBBA4A9-E429-B6AF-1D45-8B0C2ECC9465}"/>
                  </a:ext>
                </a:extLst>
              </p:cNvPr>
              <p:cNvSpPr txBox="1">
                <a:spLocks noRot="1" noChangeAspect="1" noMove="1" noResize="1" noEditPoints="1" noAdjustHandles="1" noChangeArrowheads="1" noChangeShapeType="1" noTextEdit="1"/>
              </p:cNvSpPr>
              <p:nvPr/>
            </p:nvSpPr>
            <p:spPr>
              <a:xfrm>
                <a:off x="2885440" y="2273282"/>
                <a:ext cx="732853"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B3BBD60-3406-5A08-6A23-DC9783E22C44}"/>
                  </a:ext>
                </a:extLst>
              </p:cNvPr>
              <p:cNvSpPr txBox="1"/>
              <p:nvPr/>
            </p:nvSpPr>
            <p:spPr>
              <a:xfrm>
                <a:off x="8087800" y="224951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15" name="TextBox 14">
                <a:extLst>
                  <a:ext uri="{FF2B5EF4-FFF2-40B4-BE49-F238E27FC236}">
                    <a16:creationId xmlns:a16="http://schemas.microsoft.com/office/drawing/2014/main" id="{8B3BBD60-3406-5A08-6A23-DC9783E22C44}"/>
                  </a:ext>
                </a:extLst>
              </p:cNvPr>
              <p:cNvSpPr txBox="1">
                <a:spLocks noRot="1" noChangeAspect="1" noMove="1" noResize="1" noEditPoints="1" noAdjustHandles="1" noChangeArrowheads="1" noChangeShapeType="1" noTextEdit="1"/>
              </p:cNvSpPr>
              <p:nvPr/>
            </p:nvSpPr>
            <p:spPr>
              <a:xfrm>
                <a:off x="8087800" y="2249512"/>
                <a:ext cx="732853" cy="369332"/>
              </a:xfrm>
              <a:prstGeom prst="rect">
                <a:avLst/>
              </a:prstGeom>
              <a:blipFill>
                <a:blip r:embed="rId3"/>
                <a:stretch>
                  <a:fillRect b="-13115"/>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E7CA0072-DA42-358D-2313-C589B2C2A62B}"/>
              </a:ext>
            </a:extLst>
          </p:cNvPr>
          <p:cNvGrpSpPr/>
          <p:nvPr/>
        </p:nvGrpSpPr>
        <p:grpSpPr>
          <a:xfrm>
            <a:off x="2957830" y="3015897"/>
            <a:ext cx="5862824" cy="732853"/>
            <a:chOff x="641350" y="2386266"/>
            <a:chExt cx="5862824" cy="732853"/>
          </a:xfrm>
          <a:solidFill>
            <a:schemeClr val="accent4">
              <a:lumMod val="20000"/>
              <a:lumOff val="80000"/>
            </a:schemeClr>
          </a:solidFill>
        </p:grpSpPr>
        <p:sp>
          <p:nvSpPr>
            <p:cNvPr id="17" name="Rectangle 16">
              <a:extLst>
                <a:ext uri="{FF2B5EF4-FFF2-40B4-BE49-F238E27FC236}">
                  <a16:creationId xmlns:a16="http://schemas.microsoft.com/office/drawing/2014/main" id="{4C85D454-719B-702F-2281-4A10415E7000}"/>
                </a:ext>
              </a:extLst>
            </p:cNvPr>
            <p:cNvSpPr/>
            <p:nvPr/>
          </p:nvSpPr>
          <p:spPr>
            <a:xfrm>
              <a:off x="641350"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1EEF5804-408E-6879-D613-7044DEA0BF49}"/>
                </a:ext>
              </a:extLst>
            </p:cNvPr>
            <p:cNvSpPr/>
            <p:nvPr/>
          </p:nvSpPr>
          <p:spPr>
            <a:xfrm>
              <a:off x="1374203"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73D21588-F912-24DA-B6A5-5E6B9C42EEE5}"/>
                </a:ext>
              </a:extLst>
            </p:cNvPr>
            <p:cNvSpPr/>
            <p:nvPr/>
          </p:nvSpPr>
          <p:spPr>
            <a:xfrm>
              <a:off x="2107056"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08C151A5-A2A2-1312-39BF-4FADA5F73B47}"/>
                </a:ext>
              </a:extLst>
            </p:cNvPr>
            <p:cNvSpPr/>
            <p:nvPr/>
          </p:nvSpPr>
          <p:spPr>
            <a:xfrm>
              <a:off x="2839909"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C7B5ADAB-0AAF-740B-A52A-771577FB164D}"/>
                </a:ext>
              </a:extLst>
            </p:cNvPr>
            <p:cNvSpPr/>
            <p:nvPr/>
          </p:nvSpPr>
          <p:spPr>
            <a:xfrm>
              <a:off x="3572762"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a:extLst>
                <a:ext uri="{FF2B5EF4-FFF2-40B4-BE49-F238E27FC236}">
                  <a16:creationId xmlns:a16="http://schemas.microsoft.com/office/drawing/2014/main" id="{243AD86E-0BE4-0ED4-ABD9-55F9BA416BC8}"/>
                </a:ext>
              </a:extLst>
            </p:cNvPr>
            <p:cNvSpPr/>
            <p:nvPr/>
          </p:nvSpPr>
          <p:spPr>
            <a:xfrm>
              <a:off x="4305615"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a:extLst>
                <a:ext uri="{FF2B5EF4-FFF2-40B4-BE49-F238E27FC236}">
                  <a16:creationId xmlns:a16="http://schemas.microsoft.com/office/drawing/2014/main" id="{B93FE899-1FCC-9493-9EA2-45ABB23DF07B}"/>
                </a:ext>
              </a:extLst>
            </p:cNvPr>
            <p:cNvSpPr/>
            <p:nvPr/>
          </p:nvSpPr>
          <p:spPr>
            <a:xfrm>
              <a:off x="5038468"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7B47FEB0-46B7-71E2-6A76-89C06FCA5695}"/>
                </a:ext>
              </a:extLst>
            </p:cNvPr>
            <p:cNvSpPr/>
            <p:nvPr/>
          </p:nvSpPr>
          <p:spPr>
            <a:xfrm>
              <a:off x="5771321"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ABE936E-3286-77C7-957F-5423C8F6B9EE}"/>
                  </a:ext>
                </a:extLst>
              </p:cNvPr>
              <p:cNvSpPr txBox="1"/>
              <p:nvPr/>
            </p:nvSpPr>
            <p:spPr>
              <a:xfrm>
                <a:off x="4726924" y="224951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xmlns="">
          <p:sp>
            <p:nvSpPr>
              <p:cNvPr id="25" name="TextBox 24">
                <a:extLst>
                  <a:ext uri="{FF2B5EF4-FFF2-40B4-BE49-F238E27FC236}">
                    <a16:creationId xmlns:a16="http://schemas.microsoft.com/office/drawing/2014/main" id="{EABE936E-3286-77C7-957F-5423C8F6B9EE}"/>
                  </a:ext>
                </a:extLst>
              </p:cNvPr>
              <p:cNvSpPr txBox="1">
                <a:spLocks noRot="1" noChangeAspect="1" noMove="1" noResize="1" noEditPoints="1" noAdjustHandles="1" noChangeArrowheads="1" noChangeShapeType="1" noTextEdit="1"/>
              </p:cNvSpPr>
              <p:nvPr/>
            </p:nvSpPr>
            <p:spPr>
              <a:xfrm>
                <a:off x="4726924" y="2249512"/>
                <a:ext cx="1497305" cy="499945"/>
              </a:xfrm>
              <a:prstGeom prst="rect">
                <a:avLst/>
              </a:prstGeom>
              <a:blipFill>
                <a:blip r:embed="rId4"/>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F992678-C5BD-5105-91BC-B0DCB98849B8}"/>
                  </a:ext>
                </a:extLst>
              </p:cNvPr>
              <p:cNvSpPr txBox="1"/>
              <p:nvPr/>
            </p:nvSpPr>
            <p:spPr>
              <a:xfrm>
                <a:off x="5842003" y="2249511"/>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FF992678-C5BD-5105-91BC-B0DCB98849B8}"/>
                  </a:ext>
                </a:extLst>
              </p:cNvPr>
              <p:cNvSpPr txBox="1">
                <a:spLocks noRot="1" noChangeAspect="1" noMove="1" noResize="1" noEditPoints="1" noAdjustHandles="1" noChangeArrowheads="1" noChangeShapeType="1" noTextEdit="1"/>
              </p:cNvSpPr>
              <p:nvPr/>
            </p:nvSpPr>
            <p:spPr>
              <a:xfrm>
                <a:off x="5842003" y="2249511"/>
                <a:ext cx="1497305" cy="499945"/>
              </a:xfrm>
              <a:prstGeom prst="rect">
                <a:avLst/>
              </a:prstGeom>
              <a:blipFill>
                <a:blip r:embed="rId5"/>
                <a:stretch>
                  <a:fillRect b="-2439"/>
                </a:stretch>
              </a:blipFill>
            </p:spPr>
            <p:txBody>
              <a:bodyPr/>
              <a:lstStyle/>
              <a:p>
                <a:r>
                  <a:rPr lang="en-US">
                    <a:noFill/>
                  </a:rPr>
                  <a:t> </a:t>
                </a:r>
              </a:p>
            </p:txBody>
          </p:sp>
        </mc:Fallback>
      </mc:AlternateContent>
      <p:sp>
        <p:nvSpPr>
          <p:cNvPr id="27" name="Arrow: Right 26">
            <a:extLst>
              <a:ext uri="{FF2B5EF4-FFF2-40B4-BE49-F238E27FC236}">
                <a16:creationId xmlns:a16="http://schemas.microsoft.com/office/drawing/2014/main" id="{C4B62DBB-53B8-EA2D-12CE-AAFE2075A980}"/>
              </a:ext>
            </a:extLst>
          </p:cNvPr>
          <p:cNvSpPr/>
          <p:nvPr/>
        </p:nvSpPr>
        <p:spPr>
          <a:xfrm rot="18941864">
            <a:off x="224668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 next</a:t>
            </a:r>
          </a:p>
        </p:txBody>
      </p:sp>
      <p:sp>
        <p:nvSpPr>
          <p:cNvPr id="28" name="Arrow: Right 27">
            <a:extLst>
              <a:ext uri="{FF2B5EF4-FFF2-40B4-BE49-F238E27FC236}">
                <a16:creationId xmlns:a16="http://schemas.microsoft.com/office/drawing/2014/main" id="{F1982206-BF5B-A2CF-DE7D-8C5F945BC8DA}"/>
              </a:ext>
            </a:extLst>
          </p:cNvPr>
          <p:cNvSpPr/>
          <p:nvPr/>
        </p:nvSpPr>
        <p:spPr>
          <a:xfrm rot="18941864">
            <a:off x="525721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 next</a:t>
            </a:r>
          </a:p>
        </p:txBody>
      </p:sp>
      <p:sp>
        <p:nvSpPr>
          <p:cNvPr id="29" name="Arrow: Right 28">
            <a:extLst>
              <a:ext uri="{FF2B5EF4-FFF2-40B4-BE49-F238E27FC236}">
                <a16:creationId xmlns:a16="http://schemas.microsoft.com/office/drawing/2014/main" id="{866399B5-9CA7-FF10-921D-A115ADA6102E}"/>
              </a:ext>
            </a:extLst>
          </p:cNvPr>
          <p:cNvSpPr/>
          <p:nvPr/>
        </p:nvSpPr>
        <p:spPr>
          <a:xfrm rot="18941864">
            <a:off x="2218888" y="3763798"/>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 next</a:t>
            </a:r>
          </a:p>
        </p:txBody>
      </p:sp>
      <p:sp>
        <p:nvSpPr>
          <p:cNvPr id="30" name="TextBox 29">
            <a:extLst>
              <a:ext uri="{FF2B5EF4-FFF2-40B4-BE49-F238E27FC236}">
                <a16:creationId xmlns:a16="http://schemas.microsoft.com/office/drawing/2014/main" id="{1C40C5B3-F308-4ACC-3D1F-6D7C299211BC}"/>
              </a:ext>
            </a:extLst>
          </p:cNvPr>
          <p:cNvSpPr txBox="1"/>
          <p:nvPr/>
        </p:nvSpPr>
        <p:spPr>
          <a:xfrm>
            <a:off x="49304" y="4568149"/>
            <a:ext cx="7672070" cy="1323439"/>
          </a:xfrm>
          <a:prstGeom prst="rect">
            <a:avLst/>
          </a:prstGeom>
          <a:noFill/>
        </p:spPr>
        <p:txBody>
          <a:bodyPr wrap="square" rtlCol="0">
            <a:spAutoFit/>
          </a:bodyPr>
          <a:lstStyle/>
          <a:p>
            <a:r>
              <a:rPr lang="en-US" sz="2000" dirty="0"/>
              <a:t>Create a </a:t>
            </a:r>
            <a:r>
              <a:rPr lang="en-US" sz="2000" dirty="0">
                <a:solidFill>
                  <a:schemeClr val="accent2">
                    <a:lumMod val="75000"/>
                  </a:schemeClr>
                </a:solidFill>
              </a:rPr>
              <a:t>new array to merge into</a:t>
            </a:r>
            <a:r>
              <a:rPr lang="en-US" sz="2000" dirty="0"/>
              <a:t>, and 3 pointers/indices:</a:t>
            </a:r>
          </a:p>
          <a:p>
            <a:pPr marL="342900" indent="-342900">
              <a:buFont typeface="Arial" panose="020B0604020202020204" pitchFamily="34" charset="0"/>
              <a:buChar char="•"/>
            </a:pPr>
            <a:r>
              <a:rPr lang="en-US" sz="2000" dirty="0" err="1">
                <a:solidFill>
                  <a:schemeClr val="accent1">
                    <a:lumMod val="75000"/>
                  </a:schemeClr>
                </a:solidFill>
              </a:rPr>
              <a:t>L_next</a:t>
            </a:r>
            <a:r>
              <a:rPr lang="en-US" sz="2000" dirty="0"/>
              <a:t>: the smallest “unmerged” thing on the left</a:t>
            </a:r>
          </a:p>
          <a:p>
            <a:pPr marL="342900" indent="-342900">
              <a:buFont typeface="Arial" panose="020B0604020202020204" pitchFamily="34" charset="0"/>
              <a:buChar char="•"/>
            </a:pPr>
            <a:r>
              <a:rPr lang="en-US" sz="2000" dirty="0" err="1">
                <a:solidFill>
                  <a:schemeClr val="accent1">
                    <a:lumMod val="75000"/>
                  </a:schemeClr>
                </a:solidFill>
              </a:rPr>
              <a:t>R_next</a:t>
            </a:r>
            <a:r>
              <a:rPr lang="en-US" sz="2000" dirty="0"/>
              <a:t>: the smallest “unmerged” thing on the right</a:t>
            </a:r>
          </a:p>
          <a:p>
            <a:pPr marL="342900" indent="-342900">
              <a:buFont typeface="Arial" panose="020B0604020202020204" pitchFamily="34" charset="0"/>
              <a:buChar char="•"/>
            </a:pPr>
            <a:r>
              <a:rPr lang="en-US" sz="2000" dirty="0" err="1">
                <a:solidFill>
                  <a:schemeClr val="accent1">
                    <a:lumMod val="75000"/>
                  </a:schemeClr>
                </a:solidFill>
              </a:rPr>
              <a:t>M_next</a:t>
            </a:r>
            <a:r>
              <a:rPr lang="en-US" sz="2000" dirty="0"/>
              <a:t>: where the next smallest thing goes in the merged array</a:t>
            </a:r>
          </a:p>
        </p:txBody>
      </p:sp>
      <p:sp>
        <p:nvSpPr>
          <p:cNvPr id="31" name="TextBox 30">
            <a:extLst>
              <a:ext uri="{FF2B5EF4-FFF2-40B4-BE49-F238E27FC236}">
                <a16:creationId xmlns:a16="http://schemas.microsoft.com/office/drawing/2014/main" id="{15073BD5-9BD6-6F1A-701B-4FB3D2049E9F}"/>
              </a:ext>
            </a:extLst>
          </p:cNvPr>
          <p:cNvSpPr txBox="1"/>
          <p:nvPr/>
        </p:nvSpPr>
        <p:spPr>
          <a:xfrm>
            <a:off x="1" y="6046003"/>
            <a:ext cx="6959600" cy="707886"/>
          </a:xfrm>
          <a:prstGeom prst="rect">
            <a:avLst/>
          </a:prstGeom>
          <a:noFill/>
        </p:spPr>
        <p:txBody>
          <a:bodyPr wrap="square" rtlCol="0">
            <a:spAutoFit/>
          </a:bodyPr>
          <a:lstStyle/>
          <a:p>
            <a:r>
              <a:rPr lang="en-US" sz="2000" dirty="0"/>
              <a:t>One-by-one: put the smallest of </a:t>
            </a:r>
            <a:r>
              <a:rPr lang="en-US" sz="2000" dirty="0" err="1">
                <a:solidFill>
                  <a:schemeClr val="accent1">
                    <a:lumMod val="75000"/>
                  </a:schemeClr>
                </a:solidFill>
              </a:rPr>
              <a:t>L_next</a:t>
            </a:r>
            <a:r>
              <a:rPr lang="en-US" sz="2000" dirty="0">
                <a:solidFill>
                  <a:schemeClr val="accent1">
                    <a:lumMod val="75000"/>
                  </a:schemeClr>
                </a:solidFill>
              </a:rPr>
              <a:t> </a:t>
            </a:r>
            <a:r>
              <a:rPr lang="en-US" sz="2000" dirty="0"/>
              <a:t>and </a:t>
            </a:r>
            <a:r>
              <a:rPr lang="en-US" sz="2000" dirty="0" err="1">
                <a:solidFill>
                  <a:schemeClr val="accent1">
                    <a:lumMod val="75000"/>
                  </a:schemeClr>
                </a:solidFill>
              </a:rPr>
              <a:t>R_next</a:t>
            </a:r>
            <a:r>
              <a:rPr lang="en-US" sz="2000" dirty="0">
                <a:solidFill>
                  <a:schemeClr val="accent1">
                    <a:lumMod val="75000"/>
                  </a:schemeClr>
                </a:solidFill>
              </a:rPr>
              <a:t> </a:t>
            </a:r>
            <a:r>
              <a:rPr lang="en-US" sz="2000" dirty="0"/>
              <a:t>into </a:t>
            </a:r>
            <a:r>
              <a:rPr lang="en-US" sz="2000" dirty="0" err="1">
                <a:solidFill>
                  <a:schemeClr val="accent1">
                    <a:lumMod val="75000"/>
                  </a:schemeClr>
                </a:solidFill>
              </a:rPr>
              <a:t>M_next</a:t>
            </a:r>
            <a:r>
              <a:rPr lang="en-US" sz="2000" dirty="0"/>
              <a:t>, then advance both </a:t>
            </a:r>
            <a:r>
              <a:rPr lang="en-US" sz="2000" dirty="0" err="1">
                <a:solidFill>
                  <a:schemeClr val="accent1">
                    <a:lumMod val="75000"/>
                  </a:schemeClr>
                </a:solidFill>
              </a:rPr>
              <a:t>M_next</a:t>
            </a:r>
            <a:r>
              <a:rPr lang="en-US" sz="2000" dirty="0">
                <a:solidFill>
                  <a:schemeClr val="accent1">
                    <a:lumMod val="75000"/>
                  </a:schemeClr>
                </a:solidFill>
              </a:rPr>
              <a:t> </a:t>
            </a:r>
            <a:r>
              <a:rPr lang="en-US" sz="2000" dirty="0"/>
              <a:t>and whichever of</a:t>
            </a:r>
            <a:r>
              <a:rPr lang="en-US" sz="2000" dirty="0">
                <a:solidFill>
                  <a:schemeClr val="accent1">
                    <a:lumMod val="75000"/>
                  </a:schemeClr>
                </a:solidFill>
              </a:rPr>
              <a:t> L/R </a:t>
            </a:r>
            <a:r>
              <a:rPr lang="en-US" sz="2000" dirty="0"/>
              <a:t>was used.</a:t>
            </a:r>
          </a:p>
        </p:txBody>
      </p:sp>
    </p:spTree>
    <p:extLst>
      <p:ext uri="{BB962C8B-B14F-4D97-AF65-F5344CB8AC3E}">
        <p14:creationId xmlns:p14="http://schemas.microsoft.com/office/powerpoint/2010/main" val="35191881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Merge Sort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341120"/>
            <a:ext cx="10972800" cy="5516880"/>
          </a:xfrm>
        </p:spPr>
        <p:txBody>
          <a:bodyPr>
            <a:normAutofit/>
          </a:bodyPr>
          <a:lstStyle/>
          <a:p>
            <a:pPr marL="0" indent="0">
              <a:buNone/>
            </a:pPr>
            <a:r>
              <a:rPr lang="en-US" dirty="0"/>
              <a:t>void mergesort(</a:t>
            </a:r>
            <a:r>
              <a:rPr lang="en-US" dirty="0" err="1"/>
              <a:t>myArray</a:t>
            </a:r>
            <a:r>
              <a:rPr lang="en-US" dirty="0"/>
              <a:t>){</a:t>
            </a:r>
          </a:p>
          <a:p>
            <a:pPr marL="0" indent="0">
              <a:buNone/>
            </a:pPr>
            <a:r>
              <a:rPr lang="en-US" dirty="0"/>
              <a:t>	</a:t>
            </a:r>
            <a:r>
              <a:rPr lang="en-US" dirty="0" err="1"/>
              <a:t>ms_helper</a:t>
            </a:r>
            <a:r>
              <a:rPr lang="en-US" dirty="0"/>
              <a:t>(</a:t>
            </a:r>
            <a:r>
              <a:rPr lang="en-US" dirty="0" err="1"/>
              <a:t>myArray</a:t>
            </a:r>
            <a:r>
              <a:rPr lang="en-US" dirty="0"/>
              <a:t>, 0, </a:t>
            </a:r>
            <a:r>
              <a:rPr lang="en-US" dirty="0" err="1"/>
              <a:t>myArray.length</a:t>
            </a:r>
            <a:r>
              <a:rPr lang="en-US" dirty="0"/>
              <a:t>());</a:t>
            </a:r>
            <a:br>
              <a:rPr lang="en-US" dirty="0"/>
            </a:br>
            <a:r>
              <a:rPr lang="en-US" dirty="0"/>
              <a:t>}</a:t>
            </a:r>
          </a:p>
          <a:p>
            <a:pPr marL="0" indent="0">
              <a:buNone/>
            </a:pPr>
            <a:r>
              <a:rPr lang="en-US" dirty="0"/>
              <a:t>void </a:t>
            </a:r>
            <a:r>
              <a:rPr lang="en-US" dirty="0" err="1"/>
              <a:t>mshelper</a:t>
            </a:r>
            <a:r>
              <a:rPr lang="en-US" dirty="0"/>
              <a:t>(</a:t>
            </a:r>
            <a:r>
              <a:rPr lang="en-US" dirty="0" err="1"/>
              <a:t>myArray</a:t>
            </a:r>
            <a:r>
              <a:rPr lang="en-US" dirty="0"/>
              <a:t>, low, high){</a:t>
            </a:r>
          </a:p>
          <a:p>
            <a:pPr marL="0" indent="0">
              <a:buNone/>
            </a:pPr>
            <a:r>
              <a:rPr lang="en-US" dirty="0"/>
              <a:t>	if (low == high){return;}  // Base Case</a:t>
            </a:r>
          </a:p>
          <a:p>
            <a:pPr marL="0" indent="0">
              <a:buNone/>
            </a:pPr>
            <a:r>
              <a:rPr lang="en-US" dirty="0"/>
              <a:t>	mid = (</a:t>
            </a:r>
            <a:r>
              <a:rPr lang="en-US" dirty="0" err="1"/>
              <a:t>low+high</a:t>
            </a:r>
            <a:r>
              <a:rPr lang="en-US" dirty="0"/>
              <a:t>)/2;</a:t>
            </a:r>
          </a:p>
          <a:p>
            <a:pPr marL="0" indent="0">
              <a:buNone/>
            </a:pPr>
            <a:r>
              <a:rPr lang="en-US" dirty="0"/>
              <a:t>	</a:t>
            </a:r>
            <a:r>
              <a:rPr lang="en-US" dirty="0" err="1"/>
              <a:t>ms_helper</a:t>
            </a:r>
            <a:r>
              <a:rPr lang="en-US" dirty="0"/>
              <a:t>(low, mid);</a:t>
            </a:r>
          </a:p>
          <a:p>
            <a:pPr marL="0" indent="0">
              <a:buNone/>
            </a:pPr>
            <a:r>
              <a:rPr lang="en-US" dirty="0"/>
              <a:t>	</a:t>
            </a:r>
            <a:r>
              <a:rPr lang="en-US" dirty="0" err="1"/>
              <a:t>ms_helper</a:t>
            </a:r>
            <a:r>
              <a:rPr lang="en-US" dirty="0"/>
              <a:t>(mid+1, high);</a:t>
            </a:r>
          </a:p>
          <a:p>
            <a:pPr marL="0" indent="0">
              <a:buNone/>
            </a:pPr>
            <a:r>
              <a:rPr lang="en-US" dirty="0"/>
              <a:t>	merge(</a:t>
            </a:r>
            <a:r>
              <a:rPr lang="en-US" dirty="0" err="1"/>
              <a:t>myArray</a:t>
            </a:r>
            <a:r>
              <a:rPr lang="en-US" dirty="0"/>
              <a:t>, low, mid, high);	</a:t>
            </a:r>
          </a:p>
          <a:p>
            <a:pPr marL="0" indent="0">
              <a:buNone/>
            </a:pPr>
            <a:r>
              <a:rPr lang="en-US" dirty="0"/>
              <a:t>}</a:t>
            </a:r>
          </a:p>
        </p:txBody>
      </p:sp>
      <p:sp>
        <p:nvSpPr>
          <p:cNvPr id="4" name="Slide Number Placeholder 3">
            <a:extLst>
              <a:ext uri="{FF2B5EF4-FFF2-40B4-BE49-F238E27FC236}">
                <a16:creationId xmlns:a16="http://schemas.microsoft.com/office/drawing/2014/main" id="{22A27835-8A41-4D7F-A2BA-C58F37B1895C}"/>
              </a:ext>
            </a:extLst>
          </p:cNvPr>
          <p:cNvSpPr>
            <a:spLocks noGrp="1"/>
          </p:cNvSpPr>
          <p:nvPr>
            <p:ph type="sldNum" sz="quarter" idx="12"/>
          </p:nvPr>
        </p:nvSpPr>
        <p:spPr/>
        <p:txBody>
          <a:bodyPr/>
          <a:lstStyle/>
          <a:p>
            <a:fld id="{F4E8603E-186F-4CC7-B8E2-5FD613D3E28C}" type="slidenum">
              <a:rPr lang="en-US" smtClean="0"/>
              <a:t>57</a:t>
            </a:fld>
            <a:endParaRPr lang="en-US" dirty="0"/>
          </a:p>
        </p:txBody>
      </p:sp>
    </p:spTree>
    <p:extLst>
      <p:ext uri="{BB962C8B-B14F-4D97-AF65-F5344CB8AC3E}">
        <p14:creationId xmlns:p14="http://schemas.microsoft.com/office/powerpoint/2010/main" val="1152721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055B0-6D93-98AC-8022-6107AB6DD55F}"/>
              </a:ext>
            </a:extLst>
          </p:cNvPr>
          <p:cNvSpPr>
            <a:spLocks noGrp="1"/>
          </p:cNvSpPr>
          <p:nvPr>
            <p:ph type="title"/>
          </p:nvPr>
        </p:nvSpPr>
        <p:spPr>
          <a:xfrm>
            <a:off x="838200" y="-356235"/>
            <a:ext cx="10515600" cy="1325563"/>
          </a:xfrm>
        </p:spPr>
        <p:txBody>
          <a:bodyPr/>
          <a:lstStyle/>
          <a:p>
            <a:r>
              <a:rPr lang="en-US" dirty="0"/>
              <a:t>Merge Pseudocode</a:t>
            </a:r>
          </a:p>
        </p:txBody>
      </p:sp>
      <p:sp>
        <p:nvSpPr>
          <p:cNvPr id="3" name="Content Placeholder 2">
            <a:extLst>
              <a:ext uri="{FF2B5EF4-FFF2-40B4-BE49-F238E27FC236}">
                <a16:creationId xmlns:a16="http://schemas.microsoft.com/office/drawing/2014/main" id="{CEFFCFEC-8CB0-8275-D534-1D938B3AD188}"/>
              </a:ext>
            </a:extLst>
          </p:cNvPr>
          <p:cNvSpPr>
            <a:spLocks noGrp="1"/>
          </p:cNvSpPr>
          <p:nvPr>
            <p:ph idx="1"/>
          </p:nvPr>
        </p:nvSpPr>
        <p:spPr>
          <a:xfrm>
            <a:off x="838200" y="589280"/>
            <a:ext cx="10515600" cy="6268720"/>
          </a:xfrm>
        </p:spPr>
        <p:txBody>
          <a:bodyPr>
            <a:normAutofit fontScale="77500" lnSpcReduction="20000"/>
          </a:bodyPr>
          <a:lstStyle/>
          <a:p>
            <a:pPr marL="0" indent="0">
              <a:buNone/>
            </a:pPr>
            <a:r>
              <a:rPr lang="en-US" dirty="0"/>
              <a:t>void merge(</a:t>
            </a:r>
            <a:r>
              <a:rPr lang="en-US" dirty="0" err="1"/>
              <a:t>myArray</a:t>
            </a:r>
            <a:r>
              <a:rPr lang="en-US" dirty="0"/>
              <a:t>, low, mid, high){</a:t>
            </a:r>
          </a:p>
          <a:p>
            <a:pPr marL="0" indent="0">
              <a:buNone/>
            </a:pPr>
            <a:r>
              <a:rPr lang="en-US" dirty="0"/>
              <a:t>	merged = new int[high-low+1]; // or whatever type is in </a:t>
            </a:r>
            <a:r>
              <a:rPr lang="en-US" dirty="0" err="1"/>
              <a:t>myArray</a:t>
            </a:r>
            <a:endParaRPr lang="en-US" dirty="0"/>
          </a:p>
          <a:p>
            <a:pPr marL="0" indent="0">
              <a:buNone/>
            </a:pPr>
            <a:r>
              <a:rPr lang="en-US" dirty="0"/>
              <a:t>	</a:t>
            </a:r>
            <a:r>
              <a:rPr lang="en-US" dirty="0" err="1"/>
              <a:t>l_next</a:t>
            </a:r>
            <a:r>
              <a:rPr lang="en-US" dirty="0"/>
              <a:t> = low;</a:t>
            </a:r>
          </a:p>
          <a:p>
            <a:pPr marL="0" indent="0">
              <a:buNone/>
            </a:pPr>
            <a:r>
              <a:rPr lang="en-US" dirty="0"/>
              <a:t>	</a:t>
            </a:r>
            <a:r>
              <a:rPr lang="en-US" dirty="0" err="1"/>
              <a:t>r_next</a:t>
            </a:r>
            <a:r>
              <a:rPr lang="en-US" dirty="0"/>
              <a:t> = high;</a:t>
            </a:r>
          </a:p>
          <a:p>
            <a:pPr marL="0" indent="0">
              <a:buNone/>
            </a:pPr>
            <a:r>
              <a:rPr lang="en-US" dirty="0"/>
              <a:t>	</a:t>
            </a:r>
            <a:r>
              <a:rPr lang="en-US" dirty="0" err="1"/>
              <a:t>m_next</a:t>
            </a:r>
            <a:r>
              <a:rPr lang="en-US" dirty="0"/>
              <a:t> = 0;</a:t>
            </a:r>
          </a:p>
          <a:p>
            <a:pPr marL="0" indent="0">
              <a:buNone/>
            </a:pPr>
            <a:r>
              <a:rPr lang="en-US" dirty="0"/>
              <a:t>	while (</a:t>
            </a:r>
            <a:r>
              <a:rPr lang="en-US" dirty="0" err="1"/>
              <a:t>l_next</a:t>
            </a:r>
            <a:r>
              <a:rPr lang="en-US" dirty="0"/>
              <a:t> &lt;= mid &amp;&amp; </a:t>
            </a:r>
            <a:r>
              <a:rPr lang="en-US" dirty="0" err="1"/>
              <a:t>r_next</a:t>
            </a:r>
            <a:r>
              <a:rPr lang="en-US" dirty="0"/>
              <a:t> &lt;= high){</a:t>
            </a:r>
          </a:p>
          <a:p>
            <a:pPr marL="0" indent="0">
              <a:buNone/>
            </a:pPr>
            <a:r>
              <a:rPr lang="en-US" dirty="0"/>
              <a:t>		if (</a:t>
            </a:r>
            <a:r>
              <a:rPr lang="en-US" dirty="0" err="1"/>
              <a:t>myArray</a:t>
            </a:r>
            <a:r>
              <a:rPr lang="en-US" dirty="0"/>
              <a:t>[</a:t>
            </a:r>
            <a:r>
              <a:rPr lang="en-US" dirty="0" err="1"/>
              <a:t>l_next</a:t>
            </a:r>
            <a:r>
              <a:rPr lang="en-US" dirty="0"/>
              <a:t>] &lt;= </a:t>
            </a:r>
            <a:r>
              <a:rPr lang="en-US" dirty="0" err="1"/>
              <a:t>myArray</a:t>
            </a:r>
            <a:r>
              <a:rPr lang="en-US" dirty="0"/>
              <a:t>[</a:t>
            </a:r>
            <a:r>
              <a:rPr lang="en-US" dirty="0" err="1"/>
              <a:t>r_next</a:t>
            </a:r>
            <a:r>
              <a:rPr lang="en-US" dirty="0"/>
              <a:t>]){</a:t>
            </a:r>
          </a:p>
          <a:p>
            <a:pPr marL="0" indent="0">
              <a:buNone/>
            </a:pPr>
            <a:r>
              <a:rPr lang="en-US" dirty="0"/>
              <a:t>			merged[</a:t>
            </a:r>
            <a:r>
              <a:rPr lang="en-US" dirty="0" err="1"/>
              <a:t>m_next</a:t>
            </a:r>
            <a:r>
              <a:rPr lang="en-US" dirty="0"/>
              <a:t>++] = </a:t>
            </a:r>
            <a:r>
              <a:rPr lang="en-US" dirty="0" err="1"/>
              <a:t>myArray</a:t>
            </a:r>
            <a:r>
              <a:rPr lang="en-US" dirty="0"/>
              <a:t>[</a:t>
            </a:r>
            <a:r>
              <a:rPr lang="en-US" dirty="0" err="1"/>
              <a:t>l_next</a:t>
            </a:r>
            <a:r>
              <a:rPr lang="en-US" dirty="0"/>
              <a:t>++];</a:t>
            </a:r>
          </a:p>
          <a:p>
            <a:pPr marL="0" indent="0">
              <a:buNone/>
            </a:pPr>
            <a:r>
              <a:rPr lang="en-US" dirty="0"/>
              <a:t>		}</a:t>
            </a:r>
          </a:p>
          <a:p>
            <a:pPr marL="0" indent="0">
              <a:buNone/>
            </a:pPr>
            <a:r>
              <a:rPr lang="en-US" dirty="0"/>
              <a:t>		else{</a:t>
            </a:r>
          </a:p>
          <a:p>
            <a:pPr marL="0" indent="0">
              <a:buNone/>
            </a:pPr>
            <a:r>
              <a:rPr lang="en-US" dirty="0"/>
              <a:t>			merged[</a:t>
            </a:r>
            <a:r>
              <a:rPr lang="en-US" dirty="0" err="1"/>
              <a:t>m_next</a:t>
            </a:r>
            <a:r>
              <a:rPr lang="en-US" dirty="0"/>
              <a:t>++] = </a:t>
            </a:r>
            <a:r>
              <a:rPr lang="en-US" dirty="0" err="1"/>
              <a:t>myArray</a:t>
            </a:r>
            <a:r>
              <a:rPr lang="en-US" dirty="0"/>
              <a:t>[</a:t>
            </a:r>
            <a:r>
              <a:rPr lang="en-US" dirty="0" err="1"/>
              <a:t>r_next</a:t>
            </a:r>
            <a:r>
              <a:rPr lang="en-US" dirty="0"/>
              <a:t>++];</a:t>
            </a:r>
          </a:p>
          <a:p>
            <a:pPr marL="0" indent="0">
              <a:buNone/>
            </a:pPr>
            <a:r>
              <a:rPr lang="en-US" dirty="0"/>
              <a:t>		} </a:t>
            </a:r>
          </a:p>
          <a:p>
            <a:pPr marL="0" indent="0">
              <a:buNone/>
            </a:pPr>
            <a:r>
              <a:rPr lang="en-US" dirty="0"/>
              <a:t>	}</a:t>
            </a:r>
          </a:p>
          <a:p>
            <a:pPr marL="0" indent="0">
              <a:buNone/>
            </a:pPr>
            <a:r>
              <a:rPr lang="en-US" dirty="0"/>
              <a:t>	while (</a:t>
            </a:r>
            <a:r>
              <a:rPr lang="en-US" dirty="0" err="1"/>
              <a:t>l_next</a:t>
            </a:r>
            <a:r>
              <a:rPr lang="en-US" dirty="0"/>
              <a:t> &lt;= mid){ merged[</a:t>
            </a:r>
            <a:r>
              <a:rPr lang="en-US" dirty="0" err="1"/>
              <a:t>m_next</a:t>
            </a:r>
            <a:r>
              <a:rPr lang="en-US" dirty="0"/>
              <a:t>++] = </a:t>
            </a:r>
            <a:r>
              <a:rPr lang="en-US" dirty="0" err="1"/>
              <a:t>myArray</a:t>
            </a:r>
            <a:r>
              <a:rPr lang="en-US" dirty="0"/>
              <a:t>[</a:t>
            </a:r>
            <a:r>
              <a:rPr lang="en-US" dirty="0" err="1"/>
              <a:t>l_next</a:t>
            </a:r>
            <a:r>
              <a:rPr lang="en-US" dirty="0"/>
              <a:t>++]; }</a:t>
            </a:r>
          </a:p>
          <a:p>
            <a:pPr marL="0" indent="0">
              <a:buNone/>
            </a:pPr>
            <a:r>
              <a:rPr lang="en-US" dirty="0"/>
              <a:t>	while (</a:t>
            </a:r>
            <a:r>
              <a:rPr lang="en-US" dirty="0" err="1"/>
              <a:t>r_next</a:t>
            </a:r>
            <a:r>
              <a:rPr lang="en-US" dirty="0"/>
              <a:t> &lt;= high){  merged[</a:t>
            </a:r>
            <a:r>
              <a:rPr lang="en-US" dirty="0" err="1"/>
              <a:t>m_next</a:t>
            </a:r>
            <a:r>
              <a:rPr lang="en-US" dirty="0"/>
              <a:t>++] = </a:t>
            </a:r>
            <a:r>
              <a:rPr lang="en-US" dirty="0" err="1"/>
              <a:t>myArray</a:t>
            </a:r>
            <a:r>
              <a:rPr lang="en-US" dirty="0"/>
              <a:t>[</a:t>
            </a:r>
            <a:r>
              <a:rPr lang="en-US" dirty="0" err="1"/>
              <a:t>r_next</a:t>
            </a:r>
            <a:r>
              <a:rPr lang="en-US" dirty="0"/>
              <a:t>++]; } </a:t>
            </a:r>
          </a:p>
          <a:p>
            <a:pPr marL="0" indent="0">
              <a:buNone/>
            </a:pPr>
            <a:r>
              <a:rPr lang="en-US" dirty="0"/>
              <a:t>	for(</a:t>
            </a:r>
            <a:r>
              <a:rPr lang="en-US" dirty="0" err="1"/>
              <a:t>i</a:t>
            </a:r>
            <a:r>
              <a:rPr lang="en-US" dirty="0"/>
              <a:t>=0; </a:t>
            </a:r>
            <a:r>
              <a:rPr lang="en-US" dirty="0" err="1"/>
              <a:t>i</a:t>
            </a:r>
            <a:r>
              <a:rPr lang="en-US" dirty="0"/>
              <a:t>&lt;=</a:t>
            </a:r>
            <a:r>
              <a:rPr lang="en-US" dirty="0" err="1"/>
              <a:t>merged.length</a:t>
            </a:r>
            <a:r>
              <a:rPr lang="en-US" dirty="0"/>
              <a:t>; </a:t>
            </a:r>
            <a:r>
              <a:rPr lang="en-US" dirty="0" err="1"/>
              <a:t>i</a:t>
            </a:r>
            <a:r>
              <a:rPr lang="en-US" dirty="0"/>
              <a:t>++){ </a:t>
            </a:r>
            <a:r>
              <a:rPr lang="en-US" dirty="0" err="1"/>
              <a:t>myArray</a:t>
            </a:r>
            <a:r>
              <a:rPr lang="en-US" dirty="0"/>
              <a:t>[</a:t>
            </a:r>
            <a:r>
              <a:rPr lang="en-US" dirty="0" err="1"/>
              <a:t>i+low</a:t>
            </a:r>
            <a:r>
              <a:rPr lang="en-US" dirty="0"/>
              <a:t>] = merged[</a:t>
            </a:r>
            <a:r>
              <a:rPr lang="en-US" dirty="0" err="1"/>
              <a:t>i</a:t>
            </a:r>
            <a:r>
              <a:rPr lang="en-US" dirty="0"/>
              <a:t>];}</a:t>
            </a:r>
          </a:p>
          <a:p>
            <a:pPr marL="0" indent="0">
              <a:buNone/>
            </a:pPr>
            <a:r>
              <a:rPr lang="en-US" dirty="0"/>
              <a:t>}</a:t>
            </a:r>
          </a:p>
        </p:txBody>
      </p:sp>
    </p:spTree>
    <p:extLst>
      <p:ext uri="{BB962C8B-B14F-4D97-AF65-F5344CB8AC3E}">
        <p14:creationId xmlns:p14="http://schemas.microsoft.com/office/powerpoint/2010/main" val="20801487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Merge Sort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10972800" cy="5105399"/>
              </a:xfrm>
            </p:spPr>
            <p:txBody>
              <a:bodyPr>
                <a:normAutofit fontScale="92500" lnSpcReduction="10000"/>
              </a:bodyPr>
              <a:lstStyle/>
              <a:p>
                <a:pPr marL="514350" indent="-514350">
                  <a:buFont typeface="+mj-lt"/>
                  <a:buAutoNum type="arabicPeriod"/>
                </a:pPr>
                <a:r>
                  <a:rPr lang="en-US" dirty="0"/>
                  <a:t>Identify time required to Divide and Combine</a:t>
                </a:r>
              </a:p>
              <a:p>
                <a:pPr marL="514350" indent="-514350">
                  <a:buFont typeface="+mj-lt"/>
                  <a:buAutoNum type="arabicPeriod"/>
                </a:pPr>
                <a:r>
                  <a:rPr lang="en-US" dirty="0"/>
                  <a:t>Identify all subproblems and their sizes</a:t>
                </a:r>
              </a:p>
              <a:p>
                <a:pPr marL="514350" indent="-514350">
                  <a:buFont typeface="+mj-lt"/>
                  <a:buAutoNum type="arabicPeriod"/>
                </a:pPr>
                <a:r>
                  <a:rPr lang="en-US" dirty="0"/>
                  <a:t>Use recurrence relation to express recursive running time</a:t>
                </a:r>
              </a:p>
              <a:p>
                <a:pPr marL="514350" indent="-514350">
                  <a:buFont typeface="+mj-lt"/>
                  <a:buAutoNum type="arabicPeriod"/>
                </a:pPr>
                <a:r>
                  <a:rPr lang="en-US" dirty="0"/>
                  <a:t>Solve and express running time asymptotically</a:t>
                </a:r>
              </a:p>
              <a:p>
                <a:pPr marL="514350" indent="-514350">
                  <a:buFont typeface="+mj-lt"/>
                  <a:buAutoNum type="arabicPeriod"/>
                </a:pPr>
                <a:endParaRPr lang="en-US" dirty="0"/>
              </a:p>
              <a:p>
                <a:pPr>
                  <a:spcBef>
                    <a:spcPts val="648"/>
                  </a:spcBef>
                </a:pPr>
                <a:r>
                  <a:rPr lang="en-US" b="1" dirty="0">
                    <a:solidFill>
                      <a:srgbClr val="0070C0"/>
                    </a:solidFill>
                  </a:rPr>
                  <a:t>Divide</a:t>
                </a:r>
                <a:r>
                  <a:rPr lang="en-US" b="1" dirty="0"/>
                  <a:t>: </a:t>
                </a:r>
                <a14:m>
                  <m:oMath xmlns:m="http://schemas.openxmlformats.org/officeDocument/2006/math">
                    <m:r>
                      <a:rPr lang="en-US" b="0" i="1" dirty="0" smtClean="0">
                        <a:latin typeface="Cambria Math" panose="02040503050406030204" pitchFamily="18" charset="0"/>
                      </a:rPr>
                      <m:t>0</m:t>
                    </m:r>
                  </m:oMath>
                </a14:m>
                <a:r>
                  <a:rPr lang="en-US" dirty="0"/>
                  <a:t> comparisons </a:t>
                </a:r>
              </a:p>
              <a:p>
                <a:pPr>
                  <a:spcBef>
                    <a:spcPts val="648"/>
                  </a:spcBef>
                </a:pPr>
                <a:r>
                  <a:rPr lang="en-US" b="1" dirty="0">
                    <a:solidFill>
                      <a:srgbClr val="0070C0"/>
                    </a:solidFill>
                  </a:rPr>
                  <a:t>Conquer</a:t>
                </a:r>
                <a:r>
                  <a:rPr lang="en-US" b="1" dirty="0"/>
                  <a:t>: </a:t>
                </a:r>
                <a:r>
                  <a:rPr lang="en-US" dirty="0"/>
                  <a:t>recursively sort two lists of size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oMath>
                </a14:m>
                <a:endParaRPr lang="en-US" b="1" dirty="0"/>
              </a:p>
              <a:p>
                <a:pPr>
                  <a:spcBef>
                    <a:spcPts val="648"/>
                  </a:spcBef>
                </a:pPr>
                <a:r>
                  <a:rPr lang="en-US" b="1" dirty="0">
                    <a:solidFill>
                      <a:srgbClr val="0070C0"/>
                    </a:solidFill>
                  </a:rPr>
                  <a:t>Combine</a:t>
                </a:r>
                <a:r>
                  <a:rPr lang="en-US" b="1" dirty="0"/>
                  <a:t>: </a:t>
                </a:r>
                <a14:m>
                  <m:oMath xmlns:m="http://schemas.openxmlformats.org/officeDocument/2006/math">
                    <m:r>
                      <a:rPr lang="en-US" b="0" i="1" smtClean="0">
                        <a:latin typeface="Cambria Math" panose="02040503050406030204" pitchFamily="18" charset="0"/>
                      </a:rPr>
                      <m:t>𝑛</m:t>
                    </m:r>
                  </m:oMath>
                </a14:m>
                <a:r>
                  <a:rPr lang="en-US" dirty="0"/>
                  <a:t> comparisons</a:t>
                </a:r>
              </a:p>
              <a:p>
                <a:pPr>
                  <a:spcBef>
                    <a:spcPts val="648"/>
                  </a:spcBef>
                </a:pPr>
                <a:r>
                  <a:rPr lang="en-US" b="1" dirty="0"/>
                  <a:t>Recurrence: </a:t>
                </a:r>
                <a:endParaRPr lang="en-US" b="0" i="1" dirty="0">
                  <a:latin typeface="Cambria Math"/>
                </a:endParaRPr>
              </a:p>
              <a:p>
                <a:pPr marL="457200" lvl="1" indent="0">
                  <a:buNone/>
                </a:pPr>
                <a14:m>
                  <m:oMath xmlns:m="http://schemas.openxmlformats.org/officeDocument/2006/math">
                    <m:r>
                      <a:rPr lang="en-US" b="0" i="1" smtClean="0">
                        <a:latin typeface="Cambria Math"/>
                      </a:rPr>
                      <m:t>𝑇</m:t>
                    </m:r>
                    <m:d>
                      <m:dPr>
                        <m:ctrlPr>
                          <a:rPr lang="en-US"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0</m:t>
                    </m:r>
                    <m:r>
                      <a:rPr lang="en-US" b="0" i="1" smtClean="0">
                        <a:latin typeface="Cambria Math"/>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a:rPr>
                      <m:t>+</m:t>
                    </m:r>
                    <m:r>
                      <a:rPr lang="en-US" b="0" i="1" smtClean="0">
                        <a:latin typeface="Cambria Math" panose="02040503050406030204" pitchFamily="18" charset="0"/>
                      </a:rPr>
                      <m:t>𝑛</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10972800" cy="5105399"/>
              </a:xfrm>
              <a:blipFill>
                <a:blip r:embed="rId2"/>
                <a:stretch>
                  <a:fillRect l="-1000" t="-250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F51EEF7-A61B-43A8-8DFB-C2332B28D81B}"/>
              </a:ext>
            </a:extLst>
          </p:cNvPr>
          <p:cNvSpPr>
            <a:spLocks noGrp="1"/>
          </p:cNvSpPr>
          <p:nvPr>
            <p:ph type="sldNum" sz="quarter" idx="12"/>
          </p:nvPr>
        </p:nvSpPr>
        <p:spPr/>
        <p:txBody>
          <a:bodyPr/>
          <a:lstStyle/>
          <a:p>
            <a:fld id="{F4E8603E-186F-4CC7-B8E2-5FD613D3E28C}" type="slidenum">
              <a:rPr lang="en-US" smtClean="0"/>
              <a:t>59</a:t>
            </a:fld>
            <a:endParaRPr lang="en-US" dirty="0"/>
          </a:p>
        </p:txBody>
      </p:sp>
    </p:spTree>
    <p:extLst>
      <p:ext uri="{BB962C8B-B14F-4D97-AF65-F5344CB8AC3E}">
        <p14:creationId xmlns:p14="http://schemas.microsoft.com/office/powerpoint/2010/main" val="13156965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86BADE50-950A-4D58-BFB2-FA2C6A8B385D}" type="slidenum">
              <a:rPr lang="en-US" smtClean="0"/>
              <a:t>60</a:t>
            </a:fld>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8267700" y="2051914"/>
                <a:ext cx="3733827" cy="492443"/>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i="1" dirty="0">
                        <a:solidFill>
                          <a:schemeClr val="accent1"/>
                        </a:solidFill>
                        <a:latin typeface="Cambria Math"/>
                      </a:rPr>
                      <m:t>𝑛</m:t>
                    </m:r>
                  </m:oMath>
                </a14:m>
                <a:r>
                  <a:rPr lang="en-US" sz="2600" dirty="0">
                    <a:solidFill>
                      <a:srgbClr val="FF0000"/>
                    </a:solidFill>
                  </a:rPr>
                  <a:t> </a:t>
                </a:r>
                <a:r>
                  <a:rPr lang="en-US" sz="2600" dirty="0"/>
                  <a:t>comparisons /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8267700" y="2051914"/>
                <a:ext cx="3733827" cy="492443"/>
              </a:xfrm>
              <a:prstGeom prst="rect">
                <a:avLst/>
              </a:prstGeom>
              <a:blipFill>
                <a:blip r:embed="rId2"/>
                <a:stretch>
                  <a:fillRect t="-15000" b="-32500"/>
                </a:stretch>
              </a:blipFill>
              <a:ln w="9525">
                <a:noFill/>
                <a:miter lim="800000"/>
                <a:headEnd/>
                <a:tailEnd/>
              </a:ln>
            </p:spPr>
            <p:txBody>
              <a:bodyPr/>
              <a:lstStyle/>
              <a:p>
                <a:r>
                  <a:rPr lang="en-US">
                    <a:noFill/>
                  </a:rPr>
                  <a:t> </a:t>
                </a:r>
              </a:p>
            </p:txBody>
          </p:sp>
        </mc:Fallback>
      </mc:AlternateContent>
      <p:sp>
        <p:nvSpPr>
          <p:cNvPr id="42" name="Left Brace 41"/>
          <p:cNvSpPr/>
          <p:nvPr/>
        </p:nvSpPr>
        <p:spPr>
          <a:xfrm flipH="1" flipV="1">
            <a:off x="8229600" y="2133600"/>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267700" y="3676688"/>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267700" y="3676688"/>
                <a:ext cx="2312388" cy="954107"/>
              </a:xfrm>
              <a:prstGeom prst="rect">
                <a:avLst/>
              </a:prstGeom>
              <a:blipFill>
                <a:blip r:embed="rId3"/>
                <a:stretch>
                  <a:fillRect t="-6579" b="-15789"/>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Rectangle 44"/>
              <p:cNvSpPr/>
              <p:nvPr/>
            </p:nvSpPr>
            <p:spPr>
              <a:xfrm>
                <a:off x="4465610" y="1182558"/>
                <a:ext cx="3154390" cy="722442"/>
              </a:xfrm>
              <a:prstGeom prst="rect">
                <a:avLst/>
              </a:prstGeom>
            </p:spPr>
            <p:txBody>
              <a:bodyPr wrap="none">
                <a:spAutoFit/>
              </a:bodyPr>
              <a:lstStyle/>
              <a:p>
                <a:pPr lvl="1"/>
                <a14:m>
                  <m:oMathPara xmlns:m="http://schemas.openxmlformats.org/officeDocument/2006/math">
                    <m:oMathParaPr>
                      <m:jc m:val="center"/>
                    </m:oMathParaPr>
                    <m:oMath xmlns:m="http://schemas.openxmlformats.org/officeDocument/2006/math">
                      <m:r>
                        <a:rPr lang="en-US" sz="2400" i="1">
                          <a:latin typeface="Cambria Math"/>
                        </a:rPr>
                        <m:t>𝑇</m:t>
                      </m:r>
                      <m:d>
                        <m:dPr>
                          <m:ctrlPr>
                            <a:rPr lang="en-US" sz="2400" i="1">
                              <a:latin typeface="Cambria Math" panose="02040503050406030204" pitchFamily="18" charset="0"/>
                            </a:rPr>
                          </m:ctrlPr>
                        </m:dPr>
                        <m:e>
                          <m:r>
                            <a:rPr lang="en-US" sz="2400" i="1">
                              <a:latin typeface="Cambria Math"/>
                            </a:rPr>
                            <m:t>𝑛</m:t>
                          </m:r>
                        </m:e>
                      </m:d>
                      <m:r>
                        <a:rPr lang="en-US" sz="2400" i="1">
                          <a:latin typeface="Cambria Math"/>
                        </a:rPr>
                        <m:t>=2</m:t>
                      </m:r>
                      <m:r>
                        <a:rPr lang="en-US" sz="2400" i="1">
                          <a:latin typeface="Cambria Math"/>
                        </a:rPr>
                        <m:t>𝑇</m:t>
                      </m:r>
                      <m:r>
                        <a:rPr lang="en-US" sz="2400" i="1">
                          <a:latin typeface="Cambria Math"/>
                        </a:rPr>
                        <m:t>(</m:t>
                      </m:r>
                      <m:f>
                        <m:fPr>
                          <m:ctrlPr>
                            <a:rPr lang="en-US" sz="2400" i="1">
                              <a:latin typeface="Cambria Math" panose="02040503050406030204" pitchFamily="18" charset="0"/>
                            </a:rPr>
                          </m:ctrlPr>
                        </m:fPr>
                        <m:num>
                          <m:r>
                            <a:rPr lang="en-US" sz="2400" i="1">
                              <a:latin typeface="Cambria Math"/>
                            </a:rPr>
                            <m:t>𝑛</m:t>
                          </m:r>
                        </m:num>
                        <m:den>
                          <m:r>
                            <a:rPr lang="en-US" sz="2400" i="1">
                              <a:latin typeface="Cambria Math"/>
                            </a:rPr>
                            <m:t>2</m:t>
                          </m:r>
                        </m:den>
                      </m:f>
                      <m:r>
                        <a:rPr lang="en-US" sz="2400" i="1">
                          <a:latin typeface="Cambria Math"/>
                        </a:rPr>
                        <m:t> )+</m:t>
                      </m:r>
                      <m:r>
                        <a:rPr lang="en-US" sz="2400" i="1">
                          <a:latin typeface="Cambria Math"/>
                        </a:rPr>
                        <m:t>𝑛</m:t>
                      </m:r>
                    </m:oMath>
                  </m:oMathPara>
                </a14:m>
                <a:endParaRPr lang="en-US" sz="2400" dirty="0"/>
              </a:p>
            </p:txBody>
          </p:sp>
        </mc:Choice>
        <mc:Fallback xmlns="">
          <p:sp>
            <p:nvSpPr>
              <p:cNvPr id="45" name="Rectangle 44"/>
              <p:cNvSpPr>
                <a:spLocks noRot="1" noChangeAspect="1" noMove="1" noResize="1" noEditPoints="1" noAdjustHandles="1" noChangeArrowheads="1" noChangeShapeType="1" noTextEdit="1"/>
              </p:cNvSpPr>
              <p:nvPr/>
            </p:nvSpPr>
            <p:spPr>
              <a:xfrm>
                <a:off x="4465610" y="1182558"/>
                <a:ext cx="3154390" cy="722442"/>
              </a:xfrm>
              <a:prstGeom prst="rect">
                <a:avLst/>
              </a:prstGeom>
              <a:blipFill>
                <a:blip r:embed="rId5"/>
                <a:stretch>
                  <a:fillRect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7143432" y="5686778"/>
                <a:ext cx="3563091" cy="972317"/>
              </a:xfrm>
              <a:prstGeom prst="rect">
                <a:avLst/>
              </a:prstGeom>
            </p:spPr>
            <p:txBody>
              <a:bodyPr wrap="none">
                <a:spAutoFit/>
              </a:bodyPr>
              <a:lstStyle/>
              <a:p>
                <a:pPr lvl="1"/>
                <a14:m>
                  <m:oMathPara xmlns:m="http://schemas.openxmlformats.org/officeDocument/2006/math">
                    <m:oMathParaPr>
                      <m:jc m:val="centerGroup"/>
                    </m:oMathParaPr>
                    <m:oMath xmlns:m="http://schemas.openxmlformats.org/officeDocument/2006/math">
                      <m:r>
                        <a:rPr lang="en-US" sz="2000" i="1">
                          <a:latin typeface="Cambria Math"/>
                        </a:rPr>
                        <m:t>𝑇</m:t>
                      </m:r>
                      <m:d>
                        <m:dPr>
                          <m:ctrlPr>
                            <a:rPr lang="en-US" sz="2000" i="1">
                              <a:latin typeface="Cambria Math" panose="02040503050406030204" pitchFamily="18" charset="0"/>
                            </a:rPr>
                          </m:ctrlPr>
                        </m:dPr>
                        <m:e>
                          <m:r>
                            <a:rPr lang="en-US" sz="2000" i="1">
                              <a:latin typeface="Cambria Math"/>
                            </a:rPr>
                            <m:t>𝑛</m:t>
                          </m:r>
                        </m:e>
                      </m:d>
                      <m:r>
                        <a:rPr lang="en-US" sz="2000" i="1">
                          <a:latin typeface="Cambria Math"/>
                        </a:rPr>
                        <m:t>=</m:t>
                      </m:r>
                      <m:nary>
                        <m:naryPr>
                          <m:chr m:val="∑"/>
                          <m:ctrlPr>
                            <a:rPr lang="en-US" sz="2000" i="1">
                              <a:latin typeface="Cambria Math" panose="02040503050406030204" pitchFamily="18" charset="0"/>
                            </a:rPr>
                          </m:ctrlPr>
                        </m:naryPr>
                        <m:sub>
                          <m:r>
                            <m:rPr>
                              <m:brk m:alnAt="23"/>
                            </m:rPr>
                            <a:rPr lang="en-US" sz="2000" i="1">
                              <a:latin typeface="Cambria Math"/>
                            </a:rPr>
                            <m:t>𝑖</m:t>
                          </m:r>
                          <m:r>
                            <a:rPr lang="en-US" sz="2000" i="1">
                              <a:latin typeface="Cambria Math"/>
                            </a:rPr>
                            <m:t>=1</m:t>
                          </m:r>
                        </m:sub>
                        <m:sup>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m:rPr>
                                      <m:sty m:val="p"/>
                                    </m:rPr>
                                    <a:rPr lang="en-US" sz="2000">
                                      <a:latin typeface="Cambria Math"/>
                                    </a:rPr>
                                    <m:t>log</m:t>
                                  </m:r>
                                </m:e>
                                <m:sub>
                                  <m:r>
                                    <a:rPr lang="en-US" sz="2000">
                                      <a:latin typeface="Cambria Math"/>
                                    </a:rPr>
                                    <m:t>2</m:t>
                                  </m:r>
                                </m:sub>
                              </m:sSub>
                            </m:fName>
                            <m:e>
                              <m:r>
                                <a:rPr lang="en-US" sz="2000" i="1">
                                  <a:latin typeface="Cambria Math"/>
                                </a:rPr>
                                <m:t>𝑛</m:t>
                              </m:r>
                            </m:e>
                          </m:func>
                        </m:sup>
                        <m:e>
                          <m:r>
                            <a:rPr lang="en-US" sz="2000" i="1">
                              <a:latin typeface="Cambria Math"/>
                            </a:rPr>
                            <m:t>𝑛</m:t>
                          </m:r>
                        </m:e>
                      </m:nary>
                      <m:r>
                        <a:rPr lang="en-US" sz="2000" i="1">
                          <a:latin typeface="Cambria Math"/>
                        </a:rPr>
                        <m:t>=</m:t>
                      </m:r>
                      <m:r>
                        <a:rPr lang="en-US" sz="2000" i="1">
                          <a:latin typeface="Cambria Math"/>
                        </a:rPr>
                        <m:t>𝑛</m:t>
                      </m:r>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m:rPr>
                                  <m:sty m:val="p"/>
                                </m:rPr>
                                <a:rPr lang="en-US" sz="2000">
                                  <a:latin typeface="Cambria Math"/>
                                </a:rPr>
                                <m:t>log</m:t>
                              </m:r>
                            </m:e>
                            <m:sub>
                              <m:r>
                                <a:rPr lang="en-US" sz="2000">
                                  <a:latin typeface="Cambria Math"/>
                                </a:rPr>
                                <m:t>2</m:t>
                              </m:r>
                            </m:sub>
                          </m:sSub>
                        </m:fName>
                        <m:e>
                          <m:r>
                            <a:rPr lang="en-US" sz="2000" i="1">
                              <a:latin typeface="Cambria Math"/>
                            </a:rPr>
                            <m:t>𝑛</m:t>
                          </m:r>
                        </m:e>
                      </m:func>
                    </m:oMath>
                  </m:oMathPara>
                </a14:m>
                <a:endParaRPr lang="en-US" sz="2000" dirty="0"/>
              </a:p>
            </p:txBody>
          </p:sp>
        </mc:Choice>
        <mc:Fallback xmlns="">
          <p:sp>
            <p:nvSpPr>
              <p:cNvPr id="46" name="Rectangle 45"/>
              <p:cNvSpPr>
                <a:spLocks noRot="1" noChangeAspect="1" noMove="1" noResize="1" noEditPoints="1" noAdjustHandles="1" noChangeArrowheads="1" noChangeShapeType="1" noTextEdit="1"/>
              </p:cNvSpPr>
              <p:nvPr/>
            </p:nvSpPr>
            <p:spPr>
              <a:xfrm>
                <a:off x="7143432" y="5686778"/>
                <a:ext cx="3563091" cy="972317"/>
              </a:xfrm>
              <a:prstGeom prst="rect">
                <a:avLst/>
              </a:prstGeom>
              <a:blipFill>
                <a:blip r:embed="rId6"/>
                <a:stretch>
                  <a:fillRect t="-96104" b="-1506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7"/>
                <a:stretch>
                  <a:fillRect l="-7477" t="-144737" b="-215789"/>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8"/>
                <a:stretch>
                  <a:fillRect l="-7477" t="-144737" b="-215789"/>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9"/>
                <a:stretch>
                  <a:fillRect l="-7477" t="-147368" b="-213158"/>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10"/>
                <a:stretch>
                  <a:fillRect l="-7477" t="-147368" b="-213158"/>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10"/>
                <a:stretch>
                  <a:fillRect l="-8491" t="-147368" b="-213158"/>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11"/>
                <a:stretch>
                  <a:fillRect l="-7477" t="-147368" b="-213158"/>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a:solidFill>
                                <a:srgbClr val="0070C0"/>
                              </a:solidFill>
                              <a:latin typeface="Cambria Math" panose="02040503050406030204" pitchFamily="18" charset="0"/>
                            </a:rPr>
                          </m:ctrlPr>
                        </m:fPr>
                        <m:num>
                          <m:r>
                            <a:rPr lang="en-US" i="1">
                              <a:solidFill>
                                <a:srgbClr val="0070C0"/>
                              </a:solidFill>
                              <a:latin typeface="Cambria Math"/>
                            </a:rPr>
                            <m:t>𝑛</m:t>
                          </m:r>
                        </m:num>
                        <m:den>
                          <m:r>
                            <a:rPr lang="en-US" i="1">
                              <a:solidFill>
                                <a:srgbClr val="0070C0"/>
                              </a:solidFill>
                              <a:latin typeface="Cambria Math"/>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a:solidFill>
                                <a:srgbClr val="0070C0"/>
                              </a:solidFill>
                              <a:latin typeface="Cambria Math" panose="02040503050406030204" pitchFamily="18" charset="0"/>
                            </a:rPr>
                          </m:ctrlPr>
                        </m:fPr>
                        <m:num>
                          <m:r>
                            <a:rPr lang="en-US" i="1">
                              <a:solidFill>
                                <a:srgbClr val="0070C0"/>
                              </a:solidFill>
                              <a:latin typeface="Cambria Math"/>
                            </a:rPr>
                            <m:t>𝑛</m:t>
                          </m:r>
                        </m:num>
                        <m:den>
                          <m:r>
                            <a:rPr lang="en-US" i="1">
                              <a:solidFill>
                                <a:srgbClr val="0070C0"/>
                              </a:solidFill>
                              <a:latin typeface="Cambria Math"/>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a:solidFill>
                                <a:srgbClr val="0070C0"/>
                              </a:solidFill>
                              <a:latin typeface="Cambria Math" panose="02040503050406030204" pitchFamily="18" charset="0"/>
                            </a:rPr>
                          </m:ctrlPr>
                        </m:fPr>
                        <m:num>
                          <m:r>
                            <a:rPr lang="en-US" i="1">
                              <a:solidFill>
                                <a:srgbClr val="0070C0"/>
                              </a:solidFill>
                              <a:latin typeface="Cambria Math"/>
                            </a:rPr>
                            <m:t>𝑛</m:t>
                          </m:r>
                        </m:num>
                        <m:den>
                          <m:r>
                            <a:rPr lang="en-US" i="1">
                              <a:solidFill>
                                <a:srgbClr val="0070C0"/>
                              </a:solidFill>
                              <a:latin typeface="Cambria Math"/>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a:solidFill>
                                <a:srgbClr val="0070C0"/>
                              </a:solidFill>
                              <a:latin typeface="Cambria Math" panose="02040503050406030204" pitchFamily="18" charset="0"/>
                            </a:rPr>
                          </m:ctrlPr>
                        </m:fPr>
                        <m:num>
                          <m:r>
                            <a:rPr lang="en-US" i="1">
                              <a:solidFill>
                                <a:srgbClr val="0070C0"/>
                              </a:solidFill>
                              <a:latin typeface="Cambria Math"/>
                            </a:rPr>
                            <m:t>𝑛</m:t>
                          </m:r>
                        </m:num>
                        <m:den>
                          <m:r>
                            <a:rPr lang="en-US" i="1">
                              <a:solidFill>
                                <a:srgbClr val="0070C0"/>
                              </a:solidFill>
                              <a:latin typeface="Cambria Math"/>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b="-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a:solidFill>
                                <a:srgbClr val="0070C0"/>
                              </a:solidFill>
                              <a:latin typeface="Cambria Math" panose="02040503050406030204" pitchFamily="18" charset="0"/>
                            </a:rPr>
                          </m:ctrlPr>
                        </m:fPr>
                        <m:num>
                          <m:r>
                            <a:rPr lang="en-US" i="1">
                              <a:solidFill>
                                <a:srgbClr val="0070C0"/>
                              </a:solidFill>
                              <a:latin typeface="Cambria Math"/>
                            </a:rPr>
                            <m:t>𝑛</m:t>
                          </m:r>
                        </m:num>
                        <m:den>
                          <m:r>
                            <a:rPr lang="en-US" i="1">
                              <a:solidFill>
                                <a:srgbClr val="0070C0"/>
                              </a:solidFill>
                              <a:latin typeface="Cambria Math"/>
                            </a:rPr>
                            <m:t>4</m:t>
                          </m:r>
                        </m:den>
                      </m:f>
                    </m:oMath>
                  </m:oMathPara>
                </a14:m>
                <a:endParaRPr lang="en-US"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i="1">
                              <a:solidFill>
                                <a:srgbClr val="0070C0"/>
                              </a:solidFill>
                              <a:latin typeface="Cambria Math" panose="02040503050406030204" pitchFamily="18" charset="0"/>
                            </a:rPr>
                          </m:ctrlPr>
                        </m:fPr>
                        <m:num>
                          <m:r>
                            <a:rPr lang="en-US" i="1">
                              <a:solidFill>
                                <a:srgbClr val="0070C0"/>
                              </a:solidFill>
                              <a:latin typeface="Cambria Math"/>
                            </a:rPr>
                            <m:t>𝑛</m:t>
                          </m:r>
                        </m:num>
                        <m:den>
                          <m:r>
                            <a:rPr lang="en-US" i="1">
                              <a:solidFill>
                                <a:srgbClr val="0070C0"/>
                              </a:solidFill>
                              <a:latin typeface="Cambria Math"/>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19"/>
                <a:stretch>
                  <a:fillRect b="-44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3"/>
                <a:stretch>
                  <a:fillRect/>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Lst>
          </p:cNvPr>
          <p:cNvSpPr/>
          <p:nvPr/>
        </p:nvSpPr>
        <p:spPr>
          <a:xfrm>
            <a:off x="304801" y="274639"/>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83" name="Rectangle 82">
            <a:extLst>
              <a:ext uri="{FF2B5EF4-FFF2-40B4-BE49-F238E27FC236}">
                <a16:creationId xmlns:a16="http://schemas.microsoft.com/office/drawing/2014/main" id="{77C56E80-DC90-4EC4-92E0-C4399C5085E9}"/>
              </a:ext>
            </a:extLst>
          </p:cNvPr>
          <p:cNvSpPr/>
          <p:nvPr/>
        </p:nvSpPr>
        <p:spPr>
          <a:xfrm>
            <a:off x="304801" y="941019"/>
            <a:ext cx="2602580"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represents time spent at that level of recursion</a:t>
            </a:r>
          </a:p>
        </p:txBody>
      </p:sp>
    </p:spTree>
    <p:extLst>
      <p:ext uri="{BB962C8B-B14F-4D97-AF65-F5344CB8AC3E}">
        <p14:creationId xmlns:p14="http://schemas.microsoft.com/office/powerpoint/2010/main" val="993702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500"/>
                                        <p:tgtEl>
                                          <p:spTgt spid="65"/>
                                        </p:tgtEl>
                                      </p:cBhvr>
                                    </p:animEffect>
                                  </p:childTnLst>
                                </p:cTn>
                              </p:par>
                              <p:par>
                                <p:cTn id="13" presetID="10" presetClass="entr" presetSubtype="0" fill="hold" nodeType="with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fade">
                                      <p:cBhvr>
                                        <p:cTn id="15" dur="500"/>
                                        <p:tgtEl>
                                          <p:spTgt spid="6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7"/>
                                        </p:tgtEl>
                                        <p:attrNameLst>
                                          <p:attrName>style.visibility</p:attrName>
                                        </p:attrNameLst>
                                      </p:cBhvr>
                                      <p:to>
                                        <p:strVal val="visible"/>
                                      </p:to>
                                    </p:set>
                                    <p:animEffect transition="in" filter="fade">
                                      <p:cBhvr>
                                        <p:cTn id="18" dur="500"/>
                                        <p:tgtEl>
                                          <p:spTgt spid="4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fade">
                                      <p:cBhvr>
                                        <p:cTn id="21" dur="500"/>
                                        <p:tgtEl>
                                          <p:spTgt spid="4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73"/>
                                        </p:tgtEl>
                                        <p:attrNameLst>
                                          <p:attrName>style.visibility</p:attrName>
                                        </p:attrNameLst>
                                      </p:cBhvr>
                                      <p:to>
                                        <p:strVal val="visible"/>
                                      </p:to>
                                    </p:set>
                                    <p:animEffect transition="in" filter="fade">
                                      <p:cBhvr>
                                        <p:cTn id="26" dur="500"/>
                                        <p:tgtEl>
                                          <p:spTgt spid="73"/>
                                        </p:tgtEl>
                                      </p:cBhvr>
                                    </p:animEffect>
                                  </p:childTnLst>
                                </p:cTn>
                              </p:par>
                              <p:par>
                                <p:cTn id="27" presetID="10" presetClass="entr" presetSubtype="0" fill="hold" nodeType="withEffect">
                                  <p:stCondLst>
                                    <p:cond delay="0"/>
                                  </p:stCondLst>
                                  <p:childTnLst>
                                    <p:set>
                                      <p:cBhvr>
                                        <p:cTn id="28" dur="1" fill="hold">
                                          <p:stCondLst>
                                            <p:cond delay="0"/>
                                          </p:stCondLst>
                                        </p:cTn>
                                        <p:tgtEl>
                                          <p:spTgt spid="76"/>
                                        </p:tgtEl>
                                        <p:attrNameLst>
                                          <p:attrName>style.visibility</p:attrName>
                                        </p:attrNameLst>
                                      </p:cBhvr>
                                      <p:to>
                                        <p:strVal val="visible"/>
                                      </p:to>
                                    </p:set>
                                    <p:animEffect transition="in" filter="fade">
                                      <p:cBhvr>
                                        <p:cTn id="29" dur="500"/>
                                        <p:tgtEl>
                                          <p:spTgt spid="76"/>
                                        </p:tgtEl>
                                      </p:cBhvr>
                                    </p:animEffect>
                                  </p:childTnLst>
                                </p:cTn>
                              </p:par>
                              <p:par>
                                <p:cTn id="30" presetID="10" presetClass="entr" presetSubtype="0" fill="hold" nodeType="withEffect">
                                  <p:stCondLst>
                                    <p:cond delay="0"/>
                                  </p:stCondLst>
                                  <p:childTnLst>
                                    <p:set>
                                      <p:cBhvr>
                                        <p:cTn id="31" dur="1" fill="hold">
                                          <p:stCondLst>
                                            <p:cond delay="0"/>
                                          </p:stCondLst>
                                        </p:cTn>
                                        <p:tgtEl>
                                          <p:spTgt spid="79"/>
                                        </p:tgtEl>
                                        <p:attrNameLst>
                                          <p:attrName>style.visibility</p:attrName>
                                        </p:attrNameLst>
                                      </p:cBhvr>
                                      <p:to>
                                        <p:strVal val="visible"/>
                                      </p:to>
                                    </p:set>
                                    <p:animEffect transition="in" filter="fade">
                                      <p:cBhvr>
                                        <p:cTn id="32" dur="500"/>
                                        <p:tgtEl>
                                          <p:spTgt spid="79"/>
                                        </p:tgtEl>
                                      </p:cBhvr>
                                    </p:animEffect>
                                  </p:childTnLst>
                                </p:cTn>
                              </p:par>
                              <p:par>
                                <p:cTn id="33" presetID="10" presetClass="entr" presetSubtype="0" fill="hold" nodeType="withEffect">
                                  <p:stCondLst>
                                    <p:cond delay="0"/>
                                  </p:stCondLst>
                                  <p:childTnLst>
                                    <p:set>
                                      <p:cBhvr>
                                        <p:cTn id="34" dur="1" fill="hold">
                                          <p:stCondLst>
                                            <p:cond delay="0"/>
                                          </p:stCondLst>
                                        </p:cTn>
                                        <p:tgtEl>
                                          <p:spTgt spid="82"/>
                                        </p:tgtEl>
                                        <p:attrNameLst>
                                          <p:attrName>style.visibility</p:attrName>
                                        </p:attrNameLst>
                                      </p:cBhvr>
                                      <p:to>
                                        <p:strVal val="visible"/>
                                      </p:to>
                                    </p:set>
                                    <p:animEffect transition="in" filter="fade">
                                      <p:cBhvr>
                                        <p:cTn id="35" dur="500"/>
                                        <p:tgtEl>
                                          <p:spTgt spid="8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fade">
                                      <p:cBhvr>
                                        <p:cTn id="38" dur="500"/>
                                        <p:tgtEl>
                                          <p:spTgt spid="5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1"/>
                                        </p:tgtEl>
                                        <p:attrNameLst>
                                          <p:attrName>style.visibility</p:attrName>
                                        </p:attrNameLst>
                                      </p:cBhvr>
                                      <p:to>
                                        <p:strVal val="visible"/>
                                      </p:to>
                                    </p:set>
                                    <p:animEffect transition="in" filter="fade">
                                      <p:cBhvr>
                                        <p:cTn id="41" dur="500"/>
                                        <p:tgtEl>
                                          <p:spTgt spid="5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50"/>
                                        </p:tgtEl>
                                        <p:attrNameLst>
                                          <p:attrName>style.visibility</p:attrName>
                                        </p:attrNameLst>
                                      </p:cBhvr>
                                      <p:to>
                                        <p:strVal val="visible"/>
                                      </p:to>
                                    </p:set>
                                    <p:animEffect transition="in" filter="fade">
                                      <p:cBhvr>
                                        <p:cTn id="44" dur="500"/>
                                        <p:tgtEl>
                                          <p:spTgt spid="5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5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500"/>
                                        <p:tgtEl>
                                          <p:spTgt spid="5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500"/>
                                        <p:tgtEl>
                                          <p:spTgt spid="5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56"/>
                                        </p:tgtEl>
                                        <p:attrNameLst>
                                          <p:attrName>style.visibility</p:attrName>
                                        </p:attrNameLst>
                                      </p:cBhvr>
                                      <p:to>
                                        <p:strVal val="visible"/>
                                      </p:to>
                                    </p:set>
                                    <p:animEffect transition="in" filter="fade">
                                      <p:cBhvr>
                                        <p:cTn id="61" dur="500"/>
                                        <p:tgtEl>
                                          <p:spTgt spid="56"/>
                                        </p:tgtEl>
                                      </p:cBhvr>
                                    </p:animEffect>
                                  </p:childTnLst>
                                </p:cTn>
                              </p:par>
                              <p:par>
                                <p:cTn id="62" presetID="10" presetClass="entr" presetSubtype="0" fill="hold" nodeType="withEffect">
                                  <p:stCondLst>
                                    <p:cond delay="0"/>
                                  </p:stCondLst>
                                  <p:childTnLst>
                                    <p:set>
                                      <p:cBhvr>
                                        <p:cTn id="63" dur="1" fill="hold">
                                          <p:stCondLst>
                                            <p:cond delay="0"/>
                                          </p:stCondLst>
                                        </p:cTn>
                                        <p:tgtEl>
                                          <p:spTgt spid="85"/>
                                        </p:tgtEl>
                                        <p:attrNameLst>
                                          <p:attrName>style.visibility</p:attrName>
                                        </p:attrNameLst>
                                      </p:cBhvr>
                                      <p:to>
                                        <p:strVal val="visible"/>
                                      </p:to>
                                    </p:set>
                                    <p:animEffect transition="in" filter="fade">
                                      <p:cBhvr>
                                        <p:cTn id="64" dur="500"/>
                                        <p:tgtEl>
                                          <p:spTgt spid="85"/>
                                        </p:tgtEl>
                                      </p:cBhvr>
                                    </p:animEffect>
                                  </p:childTnLst>
                                </p:cTn>
                              </p:par>
                              <p:par>
                                <p:cTn id="65" presetID="10" presetClass="entr" presetSubtype="0" fill="hold" nodeType="withEffect">
                                  <p:stCondLst>
                                    <p:cond delay="0"/>
                                  </p:stCondLst>
                                  <p:childTnLst>
                                    <p:set>
                                      <p:cBhvr>
                                        <p:cTn id="66" dur="1" fill="hold">
                                          <p:stCondLst>
                                            <p:cond delay="0"/>
                                          </p:stCondLst>
                                        </p:cTn>
                                        <p:tgtEl>
                                          <p:spTgt spid="88"/>
                                        </p:tgtEl>
                                        <p:attrNameLst>
                                          <p:attrName>style.visibility</p:attrName>
                                        </p:attrNameLst>
                                      </p:cBhvr>
                                      <p:to>
                                        <p:strVal val="visible"/>
                                      </p:to>
                                    </p:set>
                                    <p:animEffect transition="in" filter="fade">
                                      <p:cBhvr>
                                        <p:cTn id="67" dur="500"/>
                                        <p:tgtEl>
                                          <p:spTgt spid="88"/>
                                        </p:tgtEl>
                                      </p:cBhvr>
                                    </p:animEffect>
                                  </p:childTnLst>
                                </p:cTn>
                              </p:par>
                              <p:par>
                                <p:cTn id="68" presetID="10" presetClass="entr" presetSubtype="0" fill="hold" nodeType="withEffect">
                                  <p:stCondLst>
                                    <p:cond delay="0"/>
                                  </p:stCondLst>
                                  <p:childTnLst>
                                    <p:set>
                                      <p:cBhvr>
                                        <p:cTn id="69" dur="1" fill="hold">
                                          <p:stCondLst>
                                            <p:cond delay="0"/>
                                          </p:stCondLst>
                                        </p:cTn>
                                        <p:tgtEl>
                                          <p:spTgt spid="92"/>
                                        </p:tgtEl>
                                        <p:attrNameLst>
                                          <p:attrName>style.visibility</p:attrName>
                                        </p:attrNameLst>
                                      </p:cBhvr>
                                      <p:to>
                                        <p:strVal val="visible"/>
                                      </p:to>
                                    </p:set>
                                    <p:animEffect transition="in" filter="fade">
                                      <p:cBhvr>
                                        <p:cTn id="70" dur="500"/>
                                        <p:tgtEl>
                                          <p:spTgt spid="92"/>
                                        </p:tgtEl>
                                      </p:cBhvr>
                                    </p:animEffect>
                                  </p:childTnLst>
                                </p:cTn>
                              </p:par>
                              <p:par>
                                <p:cTn id="71" presetID="10" presetClass="entr" presetSubtype="0" fill="hold" nodeType="withEffect">
                                  <p:stCondLst>
                                    <p:cond delay="0"/>
                                  </p:stCondLst>
                                  <p:childTnLst>
                                    <p:set>
                                      <p:cBhvr>
                                        <p:cTn id="72" dur="1" fill="hold">
                                          <p:stCondLst>
                                            <p:cond delay="0"/>
                                          </p:stCondLst>
                                        </p:cTn>
                                        <p:tgtEl>
                                          <p:spTgt spid="93"/>
                                        </p:tgtEl>
                                        <p:attrNameLst>
                                          <p:attrName>style.visibility</p:attrName>
                                        </p:attrNameLst>
                                      </p:cBhvr>
                                      <p:to>
                                        <p:strVal val="visible"/>
                                      </p:to>
                                    </p:set>
                                    <p:animEffect transition="in" filter="fade">
                                      <p:cBhvr>
                                        <p:cTn id="73" dur="500"/>
                                        <p:tgtEl>
                                          <p:spTgt spid="93"/>
                                        </p:tgtEl>
                                      </p:cBhvr>
                                    </p:animEffect>
                                  </p:childTnLst>
                                </p:cTn>
                              </p:par>
                              <p:par>
                                <p:cTn id="74" presetID="10" presetClass="entr" presetSubtype="0" fill="hold" nodeType="withEffect">
                                  <p:stCondLst>
                                    <p:cond delay="0"/>
                                  </p:stCondLst>
                                  <p:childTnLst>
                                    <p:set>
                                      <p:cBhvr>
                                        <p:cTn id="75" dur="1" fill="hold">
                                          <p:stCondLst>
                                            <p:cond delay="0"/>
                                          </p:stCondLst>
                                        </p:cTn>
                                        <p:tgtEl>
                                          <p:spTgt spid="96"/>
                                        </p:tgtEl>
                                        <p:attrNameLst>
                                          <p:attrName>style.visibility</p:attrName>
                                        </p:attrNameLst>
                                      </p:cBhvr>
                                      <p:to>
                                        <p:strVal val="visible"/>
                                      </p:to>
                                    </p:set>
                                    <p:animEffect transition="in" filter="fade">
                                      <p:cBhvr>
                                        <p:cTn id="76" dur="500"/>
                                        <p:tgtEl>
                                          <p:spTgt spid="96"/>
                                        </p:tgtEl>
                                      </p:cBhvr>
                                    </p:animEffect>
                                  </p:childTnLst>
                                </p:cTn>
                              </p:par>
                              <p:par>
                                <p:cTn id="77" presetID="10" presetClass="entr" presetSubtype="0" fill="hold" nodeType="withEffect">
                                  <p:stCondLst>
                                    <p:cond delay="0"/>
                                  </p:stCondLst>
                                  <p:childTnLst>
                                    <p:set>
                                      <p:cBhvr>
                                        <p:cTn id="78" dur="1" fill="hold">
                                          <p:stCondLst>
                                            <p:cond delay="0"/>
                                          </p:stCondLst>
                                        </p:cTn>
                                        <p:tgtEl>
                                          <p:spTgt spid="97"/>
                                        </p:tgtEl>
                                        <p:attrNameLst>
                                          <p:attrName>style.visibility</p:attrName>
                                        </p:attrNameLst>
                                      </p:cBhvr>
                                      <p:to>
                                        <p:strVal val="visible"/>
                                      </p:to>
                                    </p:set>
                                    <p:animEffect transition="in" filter="fade">
                                      <p:cBhvr>
                                        <p:cTn id="79" dur="500"/>
                                        <p:tgtEl>
                                          <p:spTgt spid="97"/>
                                        </p:tgtEl>
                                      </p:cBhvr>
                                    </p:animEffect>
                                  </p:childTnLst>
                                </p:cTn>
                              </p:par>
                              <p:par>
                                <p:cTn id="80" presetID="10" presetClass="entr" presetSubtype="0" fill="hold" nodeType="withEffect">
                                  <p:stCondLst>
                                    <p:cond delay="0"/>
                                  </p:stCondLst>
                                  <p:childTnLst>
                                    <p:set>
                                      <p:cBhvr>
                                        <p:cTn id="81" dur="1" fill="hold">
                                          <p:stCondLst>
                                            <p:cond delay="0"/>
                                          </p:stCondLst>
                                        </p:cTn>
                                        <p:tgtEl>
                                          <p:spTgt spid="100"/>
                                        </p:tgtEl>
                                        <p:attrNameLst>
                                          <p:attrName>style.visibility</p:attrName>
                                        </p:attrNameLst>
                                      </p:cBhvr>
                                      <p:to>
                                        <p:strVal val="visible"/>
                                      </p:to>
                                    </p:set>
                                    <p:animEffect transition="in" filter="fade">
                                      <p:cBhvr>
                                        <p:cTn id="82" dur="500"/>
                                        <p:tgtEl>
                                          <p:spTgt spid="100"/>
                                        </p:tgtEl>
                                      </p:cBhvr>
                                    </p:animEffect>
                                  </p:childTnLst>
                                </p:cTn>
                              </p:par>
                              <p:par>
                                <p:cTn id="83" presetID="10" presetClass="entr" presetSubtype="0" fill="hold" nodeType="withEffect">
                                  <p:stCondLst>
                                    <p:cond delay="0"/>
                                  </p:stCondLst>
                                  <p:childTnLst>
                                    <p:set>
                                      <p:cBhvr>
                                        <p:cTn id="84" dur="1" fill="hold">
                                          <p:stCondLst>
                                            <p:cond delay="0"/>
                                          </p:stCondLst>
                                        </p:cTn>
                                        <p:tgtEl>
                                          <p:spTgt spid="101"/>
                                        </p:tgtEl>
                                        <p:attrNameLst>
                                          <p:attrName>style.visibility</p:attrName>
                                        </p:attrNameLst>
                                      </p:cBhvr>
                                      <p:to>
                                        <p:strVal val="visible"/>
                                      </p:to>
                                    </p:set>
                                    <p:animEffect transition="in" filter="fade">
                                      <p:cBhvr>
                                        <p:cTn id="85" dur="500"/>
                                        <p:tgtEl>
                                          <p:spTgt spid="10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fade">
                                      <p:cBhvr>
                                        <p:cTn id="88" dur="500"/>
                                        <p:tgtEl>
                                          <p:spTgt spid="5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500"/>
                                        <p:tgtEl>
                                          <p:spTgt spid="5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fade">
                                      <p:cBhvr>
                                        <p:cTn id="94" dur="500"/>
                                        <p:tgtEl>
                                          <p:spTgt spid="5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60"/>
                                        </p:tgtEl>
                                        <p:attrNameLst>
                                          <p:attrName>style.visibility</p:attrName>
                                        </p:attrNameLst>
                                      </p:cBhvr>
                                      <p:to>
                                        <p:strVal val="visible"/>
                                      </p:to>
                                    </p:set>
                                    <p:animEffect transition="in" filter="fade">
                                      <p:cBhvr>
                                        <p:cTn id="97" dur="500"/>
                                        <p:tgtEl>
                                          <p:spTgt spid="6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61"/>
                                        </p:tgtEl>
                                        <p:attrNameLst>
                                          <p:attrName>style.visibility</p:attrName>
                                        </p:attrNameLst>
                                      </p:cBhvr>
                                      <p:to>
                                        <p:strVal val="visible"/>
                                      </p:to>
                                    </p:set>
                                    <p:animEffect transition="in" filter="fade">
                                      <p:cBhvr>
                                        <p:cTn id="100" dur="500"/>
                                        <p:tgtEl>
                                          <p:spTgt spid="6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62"/>
                                        </p:tgtEl>
                                        <p:attrNameLst>
                                          <p:attrName>style.visibility</p:attrName>
                                        </p:attrNameLst>
                                      </p:cBhvr>
                                      <p:to>
                                        <p:strVal val="visible"/>
                                      </p:to>
                                    </p:set>
                                    <p:animEffect transition="in" filter="fade">
                                      <p:cBhvr>
                                        <p:cTn id="103" dur="500"/>
                                        <p:tgtEl>
                                          <p:spTgt spid="6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63"/>
                                        </p:tgtEl>
                                        <p:attrNameLst>
                                          <p:attrName>style.visibility</p:attrName>
                                        </p:attrNameLst>
                                      </p:cBhvr>
                                      <p:to>
                                        <p:strVal val="visible"/>
                                      </p:to>
                                    </p:set>
                                    <p:animEffect transition="in" filter="fade">
                                      <p:cBhvr>
                                        <p:cTn id="106" dur="500"/>
                                        <p:tgtEl>
                                          <p:spTgt spid="6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64"/>
                                        </p:tgtEl>
                                        <p:attrNameLst>
                                          <p:attrName>style.visibility</p:attrName>
                                        </p:attrNameLst>
                                      </p:cBhvr>
                                      <p:to>
                                        <p:strVal val="visible"/>
                                      </p:to>
                                    </p:set>
                                    <p:animEffect transition="in" filter="fade">
                                      <p:cBhvr>
                                        <p:cTn id="111" dur="500"/>
                                        <p:tgtEl>
                                          <p:spTgt spid="64"/>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66"/>
                                        </p:tgtEl>
                                        <p:attrNameLst>
                                          <p:attrName>style.visibility</p:attrName>
                                        </p:attrNameLst>
                                      </p:cBhvr>
                                      <p:to>
                                        <p:strVal val="visible"/>
                                      </p:to>
                                    </p:set>
                                    <p:animEffect transition="in" filter="fade">
                                      <p:cBhvr>
                                        <p:cTn id="116" dur="500"/>
                                        <p:tgtEl>
                                          <p:spTgt spid="66"/>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67"/>
                                        </p:tgtEl>
                                        <p:attrNameLst>
                                          <p:attrName>style.visibility</p:attrName>
                                        </p:attrNameLst>
                                      </p:cBhvr>
                                      <p:to>
                                        <p:strVal val="visible"/>
                                      </p:to>
                                    </p:set>
                                    <p:animEffect transition="in" filter="fade">
                                      <p:cBhvr>
                                        <p:cTn id="119" dur="500"/>
                                        <p:tgtEl>
                                          <p:spTgt spid="67"/>
                                        </p:tgtEl>
                                      </p:cBhvr>
                                    </p:animEffect>
                                  </p:childTnLst>
                                </p:cTn>
                              </p:par>
                            </p:childTnLst>
                          </p:cTn>
                        </p:par>
                      </p:childTnLst>
                    </p:cTn>
                  </p:par>
                  <p:par>
                    <p:cTn id="120" fill="hold">
                      <p:stCondLst>
                        <p:cond delay="indefinite"/>
                      </p:stCondLst>
                      <p:childTnLst>
                        <p:par>
                          <p:cTn id="121" fill="hold">
                            <p:stCondLst>
                              <p:cond delay="0"/>
                            </p:stCondLst>
                            <p:childTnLst>
                              <p:par>
                                <p:cTn id="122" presetID="10" presetClass="entr" presetSubtype="0" fill="hold" grpId="0" nodeType="clickEffect">
                                  <p:stCondLst>
                                    <p:cond delay="0"/>
                                  </p:stCondLst>
                                  <p:childTnLst>
                                    <p:set>
                                      <p:cBhvr>
                                        <p:cTn id="123" dur="1" fill="hold">
                                          <p:stCondLst>
                                            <p:cond delay="0"/>
                                          </p:stCondLst>
                                        </p:cTn>
                                        <p:tgtEl>
                                          <p:spTgt spid="68"/>
                                        </p:tgtEl>
                                        <p:attrNameLst>
                                          <p:attrName>style.visibility</p:attrName>
                                        </p:attrNameLst>
                                      </p:cBhvr>
                                      <p:to>
                                        <p:strVal val="visible"/>
                                      </p:to>
                                    </p:set>
                                    <p:animEffect transition="in" filter="fade">
                                      <p:cBhvr>
                                        <p:cTn id="124" dur="500"/>
                                        <p:tgtEl>
                                          <p:spTgt spid="68"/>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70"/>
                                        </p:tgtEl>
                                        <p:attrNameLst>
                                          <p:attrName>style.visibility</p:attrName>
                                        </p:attrNameLst>
                                      </p:cBhvr>
                                      <p:to>
                                        <p:strVal val="visible"/>
                                      </p:to>
                                    </p:set>
                                    <p:animEffect transition="in" filter="fade">
                                      <p:cBhvr>
                                        <p:cTn id="127" dur="500"/>
                                        <p:tgtEl>
                                          <p:spTgt spid="70"/>
                                        </p:tgtEl>
                                      </p:cBhvr>
                                    </p:animEffect>
                                  </p:childTnLst>
                                </p:cTn>
                              </p:par>
                              <p:par>
                                <p:cTn id="128" presetID="10" presetClass="entr" presetSubtype="0" fill="hold" grpId="0" nodeType="withEffect">
                                  <p:stCondLst>
                                    <p:cond delay="0"/>
                                  </p:stCondLst>
                                  <p:childTnLst>
                                    <p:set>
                                      <p:cBhvr>
                                        <p:cTn id="129" dur="1" fill="hold">
                                          <p:stCondLst>
                                            <p:cond delay="0"/>
                                          </p:stCondLst>
                                        </p:cTn>
                                        <p:tgtEl>
                                          <p:spTgt spid="71"/>
                                        </p:tgtEl>
                                        <p:attrNameLst>
                                          <p:attrName>style.visibility</p:attrName>
                                        </p:attrNameLst>
                                      </p:cBhvr>
                                      <p:to>
                                        <p:strVal val="visible"/>
                                      </p:to>
                                    </p:set>
                                    <p:animEffect transition="in" filter="fade">
                                      <p:cBhvr>
                                        <p:cTn id="130" dur="500"/>
                                        <p:tgtEl>
                                          <p:spTgt spid="71"/>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72"/>
                                        </p:tgtEl>
                                        <p:attrNameLst>
                                          <p:attrName>style.visibility</p:attrName>
                                        </p:attrNameLst>
                                      </p:cBhvr>
                                      <p:to>
                                        <p:strVal val="visible"/>
                                      </p:to>
                                    </p:set>
                                    <p:animEffect transition="in" filter="fade">
                                      <p:cBhvr>
                                        <p:cTn id="133" dur="500"/>
                                        <p:tgtEl>
                                          <p:spTgt spid="72"/>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74"/>
                                        </p:tgtEl>
                                        <p:attrNameLst>
                                          <p:attrName>style.visibility</p:attrName>
                                        </p:attrNameLst>
                                      </p:cBhvr>
                                      <p:to>
                                        <p:strVal val="visible"/>
                                      </p:to>
                                    </p:set>
                                    <p:animEffect transition="in" filter="fade">
                                      <p:cBhvr>
                                        <p:cTn id="138" dur="500"/>
                                        <p:tgtEl>
                                          <p:spTgt spid="74"/>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75"/>
                                        </p:tgtEl>
                                        <p:attrNameLst>
                                          <p:attrName>style.visibility</p:attrName>
                                        </p:attrNameLst>
                                      </p:cBhvr>
                                      <p:to>
                                        <p:strVal val="visible"/>
                                      </p:to>
                                    </p:set>
                                    <p:animEffect transition="in" filter="fade">
                                      <p:cBhvr>
                                        <p:cTn id="141" dur="500"/>
                                        <p:tgtEl>
                                          <p:spTgt spid="75"/>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77"/>
                                        </p:tgtEl>
                                        <p:attrNameLst>
                                          <p:attrName>style.visibility</p:attrName>
                                        </p:attrNameLst>
                                      </p:cBhvr>
                                      <p:to>
                                        <p:strVal val="visible"/>
                                      </p:to>
                                    </p:set>
                                    <p:animEffect transition="in" filter="fade">
                                      <p:cBhvr>
                                        <p:cTn id="144" dur="500"/>
                                        <p:tgtEl>
                                          <p:spTgt spid="77"/>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78"/>
                                        </p:tgtEl>
                                        <p:attrNameLst>
                                          <p:attrName>style.visibility</p:attrName>
                                        </p:attrNameLst>
                                      </p:cBhvr>
                                      <p:to>
                                        <p:strVal val="visible"/>
                                      </p:to>
                                    </p:set>
                                    <p:animEffect transition="in" filter="fade">
                                      <p:cBhvr>
                                        <p:cTn id="147" dur="500"/>
                                        <p:tgtEl>
                                          <p:spTgt spid="78"/>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80"/>
                                        </p:tgtEl>
                                        <p:attrNameLst>
                                          <p:attrName>style.visibility</p:attrName>
                                        </p:attrNameLst>
                                      </p:cBhvr>
                                      <p:to>
                                        <p:strVal val="visible"/>
                                      </p:to>
                                    </p:set>
                                    <p:animEffect transition="in" filter="fade">
                                      <p:cBhvr>
                                        <p:cTn id="150" dur="500"/>
                                        <p:tgtEl>
                                          <p:spTgt spid="80"/>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81"/>
                                        </p:tgtEl>
                                        <p:attrNameLst>
                                          <p:attrName>style.visibility</p:attrName>
                                        </p:attrNameLst>
                                      </p:cBhvr>
                                      <p:to>
                                        <p:strVal val="visible"/>
                                      </p:to>
                                    </p:set>
                                    <p:animEffect transition="in" filter="fade">
                                      <p:cBhvr>
                                        <p:cTn id="153" dur="500"/>
                                        <p:tgtEl>
                                          <p:spTgt spid="81"/>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00"/>
                                        <p:tgtEl>
                                          <p:spTgt spid="41"/>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43"/>
                                        </p:tgtEl>
                                        <p:attrNameLst>
                                          <p:attrName>style.visibility</p:attrName>
                                        </p:attrNameLst>
                                      </p:cBhvr>
                                      <p:to>
                                        <p:strVal val="visible"/>
                                      </p:to>
                                    </p:set>
                                    <p:animEffect transition="in" filter="fade">
                                      <p:cBhvr>
                                        <p:cTn id="163" dur="500"/>
                                        <p:tgtEl>
                                          <p:spTgt spid="43"/>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00"/>
                                        <p:tgtEl>
                                          <p:spTgt spid="42"/>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grpId="0" nodeType="clickEffect">
                                  <p:stCondLst>
                                    <p:cond delay="0"/>
                                  </p:stCondLst>
                                  <p:childTnLst>
                                    <p:set>
                                      <p:cBhvr>
                                        <p:cTn id="170" dur="1" fill="hold">
                                          <p:stCondLst>
                                            <p:cond delay="0"/>
                                          </p:stCondLst>
                                        </p:cTn>
                                        <p:tgtEl>
                                          <p:spTgt spid="46"/>
                                        </p:tgtEl>
                                        <p:attrNameLst>
                                          <p:attrName>style.visibility</p:attrName>
                                        </p:attrNameLst>
                                      </p:cBhvr>
                                      <p:to>
                                        <p:strVal val="visible"/>
                                      </p:to>
                                    </p:set>
                                    <p:animEffect transition="in" filter="fade">
                                      <p:cBhvr>
                                        <p:cTn id="171"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2" grpId="0" animBg="1"/>
      <p:bldP spid="43" grpId="0"/>
      <p:bldP spid="44" grpId="0" animBg="1"/>
      <p:bldP spid="46" grpId="0"/>
      <p:bldP spid="47" grpId="0" animBg="1"/>
      <p:bldP spid="48" grpId="0" animBg="1"/>
      <p:bldP spid="49" grpId="0" animBg="1"/>
      <p:bldP spid="50" grpId="0" animBg="1"/>
      <p:bldP spid="51" grpId="0" animBg="1"/>
      <p:bldP spid="52" grpId="0" animBg="1"/>
      <p:bldP spid="53" grpId="0"/>
      <p:bldP spid="54" grpId="0"/>
      <p:bldP spid="55" grpId="0"/>
      <p:bldP spid="56" grpId="0"/>
      <p:bldP spid="57" grpId="0" animBg="1"/>
      <p:bldP spid="58" grpId="0" animBg="1"/>
      <p:bldP spid="59" grpId="0" animBg="1"/>
      <p:bldP spid="60" grpId="0"/>
      <p:bldP spid="61" grpId="0" animBg="1"/>
      <p:bldP spid="62" grpId="0" animBg="1"/>
      <p:bldP spid="63" grpId="0" animBg="1"/>
      <p:bldP spid="64" grpId="0"/>
      <p:bldP spid="66" grpId="0"/>
      <p:bldP spid="67" grpId="0"/>
      <p:bldP spid="68" grpId="0"/>
      <p:bldP spid="70" grpId="0"/>
      <p:bldP spid="71" grpId="0"/>
      <p:bldP spid="72" grpId="0"/>
      <p:bldP spid="74" grpId="0"/>
      <p:bldP spid="75" grpId="0"/>
      <p:bldP spid="77" grpId="0"/>
      <p:bldP spid="78" grpId="0"/>
      <p:bldP spid="80" grpId="0"/>
      <p:bldP spid="81"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8172-18DF-BF9D-15EE-737B44C98824}"/>
              </a:ext>
            </a:extLst>
          </p:cNvPr>
          <p:cNvSpPr>
            <a:spLocks noGrp="1"/>
          </p:cNvSpPr>
          <p:nvPr>
            <p:ph type="title"/>
          </p:nvPr>
        </p:nvSpPr>
        <p:spPr/>
        <p:txBody>
          <a:bodyPr/>
          <a:lstStyle/>
          <a:p>
            <a:r>
              <a:rPr lang="en-US" dirty="0"/>
              <a:t>Properties of Merge Sort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F1C77C-A95B-025D-AC30-3008592132B7}"/>
                  </a:ext>
                </a:extLst>
              </p:cNvPr>
              <p:cNvSpPr>
                <a:spLocks noGrp="1"/>
              </p:cNvSpPr>
              <p:nvPr>
                <p:ph idx="1"/>
              </p:nvPr>
            </p:nvSpPr>
            <p:spPr/>
            <p:txBody>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r>
                  <a:rPr lang="en-US" dirty="0"/>
                  <a:t>In-Place?</a:t>
                </a:r>
              </a:p>
              <a:p>
                <a:pPr lvl="1"/>
                <a:r>
                  <a:rPr lang="en-US" dirty="0"/>
                  <a:t>No!</a:t>
                </a:r>
              </a:p>
              <a:p>
                <a:r>
                  <a:rPr lang="en-US" dirty="0"/>
                  <a:t>Adaptive?</a:t>
                </a:r>
              </a:p>
              <a:p>
                <a:pPr lvl="1"/>
                <a:r>
                  <a:rPr lang="en-US" dirty="0"/>
                  <a:t>No!</a:t>
                </a:r>
              </a:p>
              <a:p>
                <a:r>
                  <a:rPr lang="en-US" dirty="0"/>
                  <a:t>Stable?</a:t>
                </a:r>
              </a:p>
              <a:p>
                <a:pPr lvl="1"/>
                <a:r>
                  <a:rPr lang="en-US" dirty="0"/>
                  <a:t>Yes! </a:t>
                </a:r>
              </a:p>
              <a:p>
                <a:pPr lvl="1"/>
                <a:r>
                  <a:rPr lang="en-US" dirty="0"/>
                  <a:t>As long as in a tie you always pick </a:t>
                </a:r>
                <a:r>
                  <a:rPr lang="en-US" dirty="0" err="1"/>
                  <a:t>l_next</a:t>
                </a:r>
                <a:endParaRPr lang="en-US" dirty="0"/>
              </a:p>
            </p:txBody>
          </p:sp>
        </mc:Choice>
        <mc:Fallback xmlns="">
          <p:sp>
            <p:nvSpPr>
              <p:cNvPr id="3" name="Content Placeholder 2">
                <a:extLst>
                  <a:ext uri="{FF2B5EF4-FFF2-40B4-BE49-F238E27FC236}">
                    <a16:creationId xmlns:a16="http://schemas.microsoft.com/office/drawing/2014/main" id="{E5F1C77C-A95B-025D-AC30-3008592132B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664590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8" end="8"/>
                                            </p:txEl>
                                          </p:spTgt>
                                        </p:tgtEl>
                                        <p:attrNameLst>
                                          <p:attrName>style.visibility</p:attrName>
                                        </p:attrNameLst>
                                      </p:cBhvr>
                                      <p:to>
                                        <p:strVal val="visible"/>
                                      </p:to>
                                    </p:set>
                                    <p:animEffect transition="in" filter="fade">
                                      <p:cBhvr>
                                        <p:cTn id="2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0" dirty="0"/>
                  <a:t>Like </a:t>
                </a:r>
                <a:r>
                  <a:rPr lang="en-US" b="0" dirty="0" err="1"/>
                  <a:t>Mergesort</a:t>
                </a:r>
                <a:r>
                  <a:rPr lang="en-US" b="0" dirty="0"/>
                  <a:t>:</a:t>
                </a:r>
              </a:p>
              <a:p>
                <a:pPr lvl="1"/>
                <a:r>
                  <a:rPr lang="en-US" dirty="0"/>
                  <a:t>Divide and conquer</a:t>
                </a:r>
                <a:endParaRPr lang="en-US" b="0" dirty="0"/>
              </a:p>
              <a:p>
                <a:pPr lvl="1"/>
                <a14:m>
                  <m:oMath xmlns:m="http://schemas.openxmlformats.org/officeDocument/2006/math">
                    <m:r>
                      <a:rPr lang="en-US" b="0" i="1" smtClean="0">
                        <a:latin typeface="Cambria Math"/>
                      </a:rPr>
                      <m:t>𝑂</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r>
                  <a:rPr lang="en-US" dirty="0"/>
                  <a:t> run time (kind of…)</a:t>
                </a:r>
              </a:p>
              <a:p>
                <a:r>
                  <a:rPr lang="en-US" dirty="0"/>
                  <a:t>Unlike </a:t>
                </a:r>
                <a:r>
                  <a:rPr lang="en-US" dirty="0" err="1"/>
                  <a:t>Mergesort</a:t>
                </a:r>
                <a:r>
                  <a:rPr lang="en-US" dirty="0"/>
                  <a:t>:</a:t>
                </a:r>
              </a:p>
              <a:p>
                <a:pPr lvl="1"/>
                <a:r>
                  <a:rPr lang="en-US" dirty="0"/>
                  <a:t>Divide step is the “hard” part</a:t>
                </a:r>
              </a:p>
              <a:p>
                <a:pPr lvl="1"/>
                <a:r>
                  <a:rPr lang="en-US" i="1" dirty="0"/>
                  <a:t>Typically</a:t>
                </a:r>
                <a:r>
                  <a:rPr lang="en-US" dirty="0"/>
                  <a:t> faster than </a:t>
                </a:r>
                <a:r>
                  <a:rPr lang="en-US" dirty="0" err="1"/>
                  <a:t>Mergesort</a:t>
                </a:r>
                <a:endParaRPr lang="en-US"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62</a:t>
            </a:fld>
            <a:endParaRPr lang="en-US"/>
          </a:p>
        </p:txBody>
      </p:sp>
    </p:spTree>
    <p:extLst>
      <p:ext uri="{BB962C8B-B14F-4D97-AF65-F5344CB8AC3E}">
        <p14:creationId xmlns:p14="http://schemas.microsoft.com/office/powerpoint/2010/main" val="170491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Idea: pick a </a:t>
                </a:r>
                <a:r>
                  <a:rPr lang="en-US" dirty="0">
                    <a:solidFill>
                      <a:srgbClr val="FF33CC"/>
                    </a:solidFill>
                  </a:rPr>
                  <a:t>pivot </a:t>
                </a:r>
                <a:r>
                  <a:rPr lang="en-US" dirty="0"/>
                  <a:t>element, recursively sort two </a:t>
                </a:r>
                <a:r>
                  <a:rPr lang="en-US" dirty="0" err="1"/>
                  <a:t>sublists</a:t>
                </a:r>
                <a:r>
                  <a:rPr lang="en-US" dirty="0"/>
                  <a:t> around that element</a:t>
                </a:r>
              </a:p>
              <a:p>
                <a:r>
                  <a:rPr lang="en-US" dirty="0">
                    <a:solidFill>
                      <a:srgbClr val="0070C0"/>
                    </a:solidFill>
                  </a:rPr>
                  <a:t>Divide: </a:t>
                </a:r>
                <a:r>
                  <a:rPr lang="en-US" dirty="0"/>
                  <a:t>select </a:t>
                </a:r>
                <a:r>
                  <a:rPr lang="en-US" dirty="0">
                    <a:solidFill>
                      <a:srgbClr val="FF33CC"/>
                    </a:solidFill>
                  </a:rPr>
                  <a:t>pivot </a:t>
                </a:r>
                <a:r>
                  <a:rPr lang="en-US" dirty="0"/>
                  <a:t>element </a:t>
                </a:r>
                <a14:m>
                  <m:oMath xmlns:m="http://schemas.openxmlformats.org/officeDocument/2006/math">
                    <m:r>
                      <a:rPr lang="en-US" b="0" i="1" smtClean="0">
                        <a:solidFill>
                          <a:srgbClr val="FF33CC"/>
                        </a:solidFill>
                        <a:latin typeface="Cambria Math"/>
                      </a:rPr>
                      <m:t>𝑝</m:t>
                    </m:r>
                  </m:oMath>
                </a14:m>
                <a:r>
                  <a:rPr lang="en-US" dirty="0"/>
                  <a:t>, </a:t>
                </a:r>
                <a:r>
                  <a:rPr lang="en-US" dirty="0">
                    <a:solidFill>
                      <a:srgbClr val="FF33CC"/>
                    </a:solidFill>
                  </a:rPr>
                  <a:t>Partition(</a:t>
                </a:r>
                <a14:m>
                  <m:oMath xmlns:m="http://schemas.openxmlformats.org/officeDocument/2006/math">
                    <m:r>
                      <a:rPr lang="en-US" i="1" dirty="0" smtClean="0">
                        <a:solidFill>
                          <a:srgbClr val="FF33CC"/>
                        </a:solidFill>
                        <a:latin typeface="Cambria Math"/>
                      </a:rPr>
                      <m:t>𝑝</m:t>
                    </m:r>
                  </m:oMath>
                </a14:m>
                <a:r>
                  <a:rPr lang="en-US" dirty="0">
                    <a:solidFill>
                      <a:srgbClr val="FF33CC"/>
                    </a:solidFill>
                  </a:rPr>
                  <a:t>)</a:t>
                </a:r>
              </a:p>
              <a:p>
                <a:r>
                  <a:rPr lang="en-US" dirty="0">
                    <a:solidFill>
                      <a:srgbClr val="0070C0"/>
                    </a:solidFill>
                  </a:rPr>
                  <a:t>Conquer: </a:t>
                </a:r>
                <a:r>
                  <a:rPr lang="en-US" dirty="0"/>
                  <a:t>recursively sort left and right </a:t>
                </a:r>
                <a:r>
                  <a:rPr lang="en-US" dirty="0" err="1"/>
                  <a:t>sublists</a:t>
                </a:r>
                <a:endParaRPr lang="en-US" dirty="0"/>
              </a:p>
              <a:p>
                <a:r>
                  <a:rPr lang="en-US" dirty="0">
                    <a:solidFill>
                      <a:srgbClr val="0070C0"/>
                    </a:solidFill>
                  </a:rPr>
                  <a:t>Combine: </a:t>
                </a:r>
                <a:r>
                  <a:rPr lang="en-US" dirty="0"/>
                  <a:t>Nothing!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8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63</a:t>
            </a:fld>
            <a:endParaRPr lang="en-US"/>
          </a:p>
        </p:txBody>
      </p:sp>
    </p:spTree>
    <p:extLst>
      <p:ext uri="{BB962C8B-B14F-4D97-AF65-F5344CB8AC3E}">
        <p14:creationId xmlns:p14="http://schemas.microsoft.com/office/powerpoint/2010/main" val="159361212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(Divide step)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05000" y="1970964"/>
                <a:ext cx="6019800" cy="685800"/>
              </a:xfrm>
            </p:spPr>
            <p:txBody>
              <a:bodyPr>
                <a:normAutofit/>
              </a:bodyPr>
              <a:lstStyle/>
              <a:p>
                <a:pPr marL="0" indent="0">
                  <a:buNone/>
                </a:pPr>
                <a:r>
                  <a:rPr lang="en-US" dirty="0"/>
                  <a:t>Given: a list, </a:t>
                </a:r>
                <a:r>
                  <a:rPr lang="en-US" dirty="0">
                    <a:solidFill>
                      <a:srgbClr val="FF33CC"/>
                    </a:solidFill>
                  </a:rPr>
                  <a:t>a pivot </a:t>
                </a:r>
                <a14:m>
                  <m:oMath xmlns:m="http://schemas.openxmlformats.org/officeDocument/2006/math">
                    <m:r>
                      <a:rPr lang="en-US" b="0" i="1" smtClean="0">
                        <a:solidFill>
                          <a:srgbClr val="FF33CC"/>
                        </a:solidFill>
                        <a:latin typeface="Cambria Math"/>
                      </a:rPr>
                      <m:t>𝑝</m:t>
                    </m:r>
                  </m:oMath>
                </a14:m>
                <a:endParaRPr lang="en-US" dirty="0">
                  <a:solidFill>
                    <a:srgbClr val="FF33CC"/>
                  </a:solidFill>
                </a:endParaRPr>
              </a:p>
              <a:p>
                <a:pPr marL="0" indent="0">
                  <a:buNone/>
                </a:pPr>
                <a:endParaRPr lang="en-US" dirty="0">
                  <a:solidFill>
                    <a:srgbClr val="FF33CC"/>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05000" y="1970964"/>
                <a:ext cx="6019800" cy="685800"/>
              </a:xfrm>
              <a:blipFill>
                <a:blip r:embed="rId2"/>
                <a:stretch>
                  <a:fillRect l="-2526" t="-4363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64</a:t>
            </a:fld>
            <a:endParaRPr lang="en-US"/>
          </a:p>
        </p:txBody>
      </p:sp>
      <p:sp>
        <p:nvSpPr>
          <p:cNvPr id="5" name="Rectangle 4"/>
          <p:cNvSpPr/>
          <p:nvPr/>
        </p:nvSpPr>
        <p:spPr>
          <a:xfrm>
            <a:off x="2209800" y="30480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2743200"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32771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8105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43439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8779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54113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9447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64787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70121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75455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8079476"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mc:AlternateContent xmlns:mc="http://schemas.openxmlformats.org/markup-compatibility/2006" xmlns:a14="http://schemas.microsoft.com/office/drawing/2010/main">
        <mc:Choice Requires="a14">
          <p:sp>
            <p:nvSpPr>
              <p:cNvPr id="18" name="Content Placeholder 2"/>
              <p:cNvSpPr txBox="1">
                <a:spLocks/>
              </p:cNvSpPr>
              <p:nvPr/>
            </p:nvSpPr>
            <p:spPr>
              <a:xfrm>
                <a:off x="1941394" y="4724400"/>
                <a:ext cx="7659806" cy="6858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Goal: All elements</a:t>
                </a:r>
                <a:r>
                  <a:rPr lang="en-US" dirty="0">
                    <a:solidFill>
                      <a:srgbClr val="FFCC00"/>
                    </a:solidFill>
                  </a:rPr>
                  <a:t> </a:t>
                </a:r>
                <a14:m>
                  <m:oMath xmlns:m="http://schemas.openxmlformats.org/officeDocument/2006/math">
                    <m:r>
                      <a:rPr lang="en-US" i="1" dirty="0">
                        <a:solidFill>
                          <a:srgbClr val="FFC000"/>
                        </a:solidFill>
                        <a:latin typeface="Cambria Math"/>
                      </a:rPr>
                      <m:t>&lt;</m:t>
                    </m:r>
                    <m:r>
                      <a:rPr lang="en-US" i="1" dirty="0">
                        <a:solidFill>
                          <a:srgbClr val="FFC000"/>
                        </a:solidFill>
                        <a:latin typeface="Cambria Math"/>
                      </a:rPr>
                      <m:t>𝑝</m:t>
                    </m:r>
                  </m:oMath>
                </a14:m>
                <a:r>
                  <a:rPr lang="en-US" dirty="0">
                    <a:solidFill>
                      <a:srgbClr val="00B050"/>
                    </a:solidFill>
                  </a:rPr>
                  <a:t> </a:t>
                </a:r>
                <a:r>
                  <a:rPr lang="en-US" dirty="0"/>
                  <a:t>on left, all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on right</a:t>
                </a:r>
                <a:endParaRPr lang="en-US" dirty="0">
                  <a:solidFill>
                    <a:srgbClr val="FF33CC"/>
                  </a:solidFill>
                </a:endParaRPr>
              </a:p>
            </p:txBody>
          </p:sp>
        </mc:Choice>
        <mc:Fallback xmlns="">
          <p:sp>
            <p:nvSpPr>
              <p:cNvPr id="18" name="Content Placeholder 2"/>
              <p:cNvSpPr txBox="1">
                <a:spLocks noRot="1" noChangeAspect="1" noMove="1" noResize="1" noEditPoints="1" noAdjustHandles="1" noChangeArrowheads="1" noChangeShapeType="1" noTextEdit="1"/>
              </p:cNvSpPr>
              <p:nvPr/>
            </p:nvSpPr>
            <p:spPr>
              <a:xfrm>
                <a:off x="1941394" y="4724400"/>
                <a:ext cx="7659806" cy="685800"/>
              </a:xfrm>
              <a:prstGeom prst="rect">
                <a:avLst/>
              </a:prstGeom>
              <a:blipFill>
                <a:blip r:embed="rId3"/>
                <a:stretch>
                  <a:fillRect l="-1821" t="-11111" b="-5556"/>
                </a:stretch>
              </a:blipFill>
            </p:spPr>
            <p:txBody>
              <a:bodyPr/>
              <a:lstStyle/>
              <a:p>
                <a:r>
                  <a:rPr lang="en-US">
                    <a:noFill/>
                  </a:rPr>
                  <a:t> </a:t>
                </a:r>
              </a:p>
            </p:txBody>
          </p:sp>
        </mc:Fallback>
      </mc:AlternateContent>
      <p:sp>
        <p:nvSpPr>
          <p:cNvPr id="19" name="Content Placeholder 2"/>
          <p:cNvSpPr txBox="1">
            <a:spLocks/>
          </p:cNvSpPr>
          <p:nvPr/>
        </p:nvSpPr>
        <p:spPr>
          <a:xfrm>
            <a:off x="1905000" y="2362200"/>
            <a:ext cx="6019800" cy="68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Start: unordered list</a:t>
            </a:r>
            <a:endParaRPr lang="en-US" dirty="0">
              <a:solidFill>
                <a:srgbClr val="FF33CC"/>
              </a:solidFill>
            </a:endParaRPr>
          </a:p>
        </p:txBody>
      </p:sp>
      <p:sp>
        <p:nvSpPr>
          <p:cNvPr id="20" name="Rectangle 19"/>
          <p:cNvSpPr/>
          <p:nvPr/>
        </p:nvSpPr>
        <p:spPr>
          <a:xfrm>
            <a:off x="22098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p:cNvSpPr/>
          <p:nvPr/>
        </p:nvSpPr>
        <p:spPr>
          <a:xfrm>
            <a:off x="27432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p:cNvSpPr/>
          <p:nvPr/>
        </p:nvSpPr>
        <p:spPr>
          <a:xfrm>
            <a:off x="32771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p:cNvSpPr/>
          <p:nvPr/>
        </p:nvSpPr>
        <p:spPr>
          <a:xfrm>
            <a:off x="38105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Rectangle 23"/>
          <p:cNvSpPr/>
          <p:nvPr/>
        </p:nvSpPr>
        <p:spPr>
          <a:xfrm>
            <a:off x="43439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Rectangle 24"/>
          <p:cNvSpPr/>
          <p:nvPr/>
        </p:nvSpPr>
        <p:spPr>
          <a:xfrm>
            <a:off x="48779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Rectangle 25"/>
          <p:cNvSpPr/>
          <p:nvPr/>
        </p:nvSpPr>
        <p:spPr>
          <a:xfrm>
            <a:off x="54113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Rectangle 26"/>
          <p:cNvSpPr/>
          <p:nvPr/>
        </p:nvSpPr>
        <p:spPr>
          <a:xfrm>
            <a:off x="5944738" y="54102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8" name="Rectangle 27"/>
          <p:cNvSpPr/>
          <p:nvPr/>
        </p:nvSpPr>
        <p:spPr>
          <a:xfrm>
            <a:off x="64787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9" name="Rectangle 28"/>
          <p:cNvSpPr/>
          <p:nvPr/>
        </p:nvSpPr>
        <p:spPr>
          <a:xfrm>
            <a:off x="70121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0" name="Rectangle 29"/>
          <p:cNvSpPr/>
          <p:nvPr/>
        </p:nvSpPr>
        <p:spPr>
          <a:xfrm>
            <a:off x="75455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1" name="Rectangle 30"/>
          <p:cNvSpPr/>
          <p:nvPr/>
        </p:nvSpPr>
        <p:spPr>
          <a:xfrm>
            <a:off x="8079476"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Tree>
    <p:extLst>
      <p:ext uri="{BB962C8B-B14F-4D97-AF65-F5344CB8AC3E}">
        <p14:creationId xmlns:p14="http://schemas.microsoft.com/office/powerpoint/2010/main" val="20867802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293" y="0"/>
            <a:ext cx="10515600" cy="1325563"/>
          </a:xfrm>
        </p:spPr>
        <p:txBody>
          <a:bodyPr/>
          <a:lstStyle/>
          <a:p>
            <a:r>
              <a:rPr lang="en-US" dirty="0"/>
              <a:t>Partition, Procedure</a:t>
            </a:r>
          </a:p>
        </p:txBody>
      </p:sp>
      <p:sp>
        <p:nvSpPr>
          <p:cNvPr id="4" name="Slide Number Placeholder 3"/>
          <p:cNvSpPr>
            <a:spLocks noGrp="1"/>
          </p:cNvSpPr>
          <p:nvPr>
            <p:ph type="sldNum" sz="quarter" idx="12"/>
          </p:nvPr>
        </p:nvSpPr>
        <p:spPr/>
        <p:txBody>
          <a:bodyPr/>
          <a:lstStyle/>
          <a:p>
            <a:fld id="{86BADE50-950A-4D58-BFB2-FA2C6A8B385D}" type="slidenum">
              <a:rPr lang="en-US" smtClean="0"/>
              <a:t>65</a:t>
            </a:fld>
            <a:endParaRPr lang="en-US"/>
          </a:p>
        </p:txBody>
      </p:sp>
      <p:grpSp>
        <p:nvGrpSpPr>
          <p:cNvPr id="20" name="Group 19"/>
          <p:cNvGrpSpPr/>
          <p:nvPr/>
        </p:nvGrpSpPr>
        <p:grpSpPr>
          <a:xfrm>
            <a:off x="2969524" y="2743200"/>
            <a:ext cx="6403076" cy="533400"/>
            <a:chOff x="1445524" y="2895600"/>
            <a:chExt cx="6403076" cy="533400"/>
          </a:xfrm>
        </p:grpSpPr>
        <p:sp>
          <p:nvSpPr>
            <p:cNvPr id="5" name="Rectangle 4"/>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25128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17" name="Down Arrow 16"/>
          <p:cNvSpPr/>
          <p:nvPr/>
        </p:nvSpPr>
        <p:spPr>
          <a:xfrm>
            <a:off x="3636274" y="23241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8972550" y="2328649"/>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21" name="Group 20"/>
          <p:cNvGrpSpPr/>
          <p:nvPr/>
        </p:nvGrpSpPr>
        <p:grpSpPr>
          <a:xfrm>
            <a:off x="2971513" y="3843551"/>
            <a:ext cx="6403076" cy="533400"/>
            <a:chOff x="1445524" y="2895600"/>
            <a:chExt cx="6403076" cy="533400"/>
          </a:xfrm>
        </p:grpSpPr>
        <p:sp>
          <p:nvSpPr>
            <p:cNvPr id="22" name="Rectangle 21"/>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Rectangle 2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5" name="Rectangle 24"/>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Rectangle 25"/>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7" name="Rectangle 26"/>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9" name="Rectangle 28"/>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0" name="Rectangle 29"/>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1" name="Rectangle 30"/>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2" name="Rectangle 31"/>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3" name="Rectangle 32"/>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34" name="Down Arrow 33"/>
          <p:cNvSpPr/>
          <p:nvPr/>
        </p:nvSpPr>
        <p:spPr>
          <a:xfrm>
            <a:off x="4170243" y="346255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8974539" y="3429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6" name="Group 35"/>
          <p:cNvGrpSpPr/>
          <p:nvPr/>
        </p:nvGrpSpPr>
        <p:grpSpPr>
          <a:xfrm>
            <a:off x="2990563" y="4910351"/>
            <a:ext cx="6403076" cy="533400"/>
            <a:chOff x="1445524" y="2895600"/>
            <a:chExt cx="6403076" cy="533400"/>
          </a:xfrm>
        </p:grpSpPr>
        <p:sp>
          <p:nvSpPr>
            <p:cNvPr id="37" name="Rectangle 36"/>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8" name="Rectangle 3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Rectangle 3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1" name="Rectangle 40"/>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42" name="Rectangle 41"/>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43" name="Rectangle 42"/>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Rectangle 43"/>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5" name="Rectangle 44"/>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6" name="Rectangle 45"/>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7" name="Rectangle 46"/>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Rectangle 47"/>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9" name="Down Arrow 48"/>
          <p:cNvSpPr/>
          <p:nvPr/>
        </p:nvSpPr>
        <p:spPr>
          <a:xfrm>
            <a:off x="5237043" y="454470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wn Arrow 49"/>
          <p:cNvSpPr/>
          <p:nvPr/>
        </p:nvSpPr>
        <p:spPr>
          <a:xfrm>
            <a:off x="8993589" y="44958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p:cNvGrpSpPr/>
          <p:nvPr/>
        </p:nvGrpSpPr>
        <p:grpSpPr>
          <a:xfrm>
            <a:off x="2969524" y="6073824"/>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5216004" y="5708179"/>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459620" y="5692824"/>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3875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Effect transition="in" filter="fade">
                                      <p:cBhvr>
                                        <p:cTn id="21" dur="500"/>
                                        <p:tgtEl>
                                          <p:spTgt spid="4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500"/>
                                        <p:tgtEl>
                                          <p:spTgt spid="5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fade">
                                      <p:cBhvr>
                                        <p:cTn id="29" dur="500"/>
                                        <p:tgtEl>
                                          <p:spTgt spid="5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fade">
                                      <p:cBhvr>
                                        <p:cTn id="32" dur="500"/>
                                        <p:tgtEl>
                                          <p:spTgt spid="6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5"/>
                                        </p:tgtEl>
                                        <p:attrNameLst>
                                          <p:attrName>style.visibility</p:attrName>
                                        </p:attrNameLst>
                                      </p:cBhvr>
                                      <p:to>
                                        <p:strVal val="visible"/>
                                      </p:to>
                                    </p:set>
                                    <p:animEffect transition="in" filter="fade">
                                      <p:cBhvr>
                                        <p:cTn id="35"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49" grpId="0" animBg="1"/>
      <p:bldP spid="50" grpId="0" animBg="1"/>
      <p:bldP spid="64" grpId="0" animBg="1"/>
      <p:bldP spid="6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6BADE50-950A-4D58-BFB2-FA2C6A8B385D}" type="slidenum">
              <a:rPr lang="en-US" smtClean="0"/>
              <a:t>66</a:t>
            </a:fld>
            <a:endParaRPr lang="en-US"/>
          </a:p>
        </p:txBody>
      </p:sp>
      <p:grpSp>
        <p:nvGrpSpPr>
          <p:cNvPr id="51" name="Group 50"/>
          <p:cNvGrpSpPr/>
          <p:nvPr/>
        </p:nvGrpSpPr>
        <p:grpSpPr>
          <a:xfrm>
            <a:off x="2649938" y="2667000"/>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4896418" y="2301355"/>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140034" y="2286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6" name="Group 65"/>
          <p:cNvGrpSpPr/>
          <p:nvPr/>
        </p:nvGrpSpPr>
        <p:grpSpPr>
          <a:xfrm>
            <a:off x="2649938" y="3758821"/>
            <a:ext cx="6403076" cy="533400"/>
            <a:chOff x="1445524" y="2895600"/>
            <a:chExt cx="6403076" cy="533400"/>
          </a:xfrm>
        </p:grpSpPr>
        <p:sp>
          <p:nvSpPr>
            <p:cNvPr id="67" name="Rectangle 66"/>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9" name="Rectangle 6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0" name="Rectangle 6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Rectangle 70"/>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2" name="Rectangle 7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Rectangle 7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4" name="Rectangle 7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6" name="Rectangle 75"/>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78" name="Rectangle 7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79" name="Down Arrow 78"/>
          <p:cNvSpPr/>
          <p:nvPr/>
        </p:nvSpPr>
        <p:spPr>
          <a:xfrm>
            <a:off x="4896418" y="339317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Down Arrow 79"/>
          <p:cNvSpPr/>
          <p:nvPr/>
        </p:nvSpPr>
        <p:spPr>
          <a:xfrm>
            <a:off x="7585595" y="337782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1" name="Group 80"/>
          <p:cNvGrpSpPr/>
          <p:nvPr/>
        </p:nvGrpSpPr>
        <p:grpSpPr>
          <a:xfrm>
            <a:off x="2649938" y="4825621"/>
            <a:ext cx="6403076" cy="533400"/>
            <a:chOff x="1445524" y="2895600"/>
            <a:chExt cx="6403076" cy="533400"/>
          </a:xfrm>
        </p:grpSpPr>
        <p:sp>
          <p:nvSpPr>
            <p:cNvPr id="82" name="Rectangle 81"/>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3" name="Rectangle 8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4" name="Rectangle 8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6" name="Rectangle 85"/>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7" name="Rectangle 8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8" name="Rectangle 8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Rectangle 8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1" name="Rectangle 9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2" name="Rectangle 91"/>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93" name="Rectangle 9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94" name="Down Arrow 93"/>
          <p:cNvSpPr/>
          <p:nvPr/>
        </p:nvSpPr>
        <p:spPr>
          <a:xfrm>
            <a:off x="4896418" y="445997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Down Arrow 94"/>
          <p:cNvSpPr/>
          <p:nvPr/>
        </p:nvSpPr>
        <p:spPr>
          <a:xfrm>
            <a:off x="7585595" y="4459976"/>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p:cNvGrpSpPr/>
          <p:nvPr/>
        </p:nvGrpSpPr>
        <p:grpSpPr>
          <a:xfrm>
            <a:off x="2649938" y="5867400"/>
            <a:ext cx="6403076" cy="533400"/>
            <a:chOff x="1445524" y="2895600"/>
            <a:chExt cx="6403076" cy="533400"/>
          </a:xfrm>
        </p:grpSpPr>
        <p:sp>
          <p:nvSpPr>
            <p:cNvPr id="97" name="Rectangle 96"/>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8" name="Rectangle 9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9" name="Rectangle 9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Rectangle 9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1" name="Rectangle 100"/>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2" name="Rectangle 101"/>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03" name="Rectangle 10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4" name="Rectangle 10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Rectangle 10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Rectangle 105"/>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7" name="Rectangle 10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08" name="Rectangle 10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09" name="Down Arrow 108"/>
          <p:cNvSpPr/>
          <p:nvPr/>
        </p:nvSpPr>
        <p:spPr>
          <a:xfrm>
            <a:off x="5451426" y="548583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Down Arrow 109"/>
          <p:cNvSpPr/>
          <p:nvPr/>
        </p:nvSpPr>
        <p:spPr>
          <a:xfrm>
            <a:off x="7585595" y="548583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1"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11"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4C0086E7-8C2F-FA6D-FBEB-411A8519EB2F}"/>
              </a:ext>
            </a:extLst>
          </p:cNvPr>
          <p:cNvSpPr txBox="1">
            <a:spLocks/>
          </p:cNvSpPr>
          <p:nvPr/>
        </p:nvSpPr>
        <p:spPr>
          <a:xfrm>
            <a:off x="37929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Partition, Procedure</a:t>
            </a:r>
            <a:endParaRPr lang="en-US" dirty="0"/>
          </a:p>
        </p:txBody>
      </p:sp>
    </p:spTree>
    <p:extLst>
      <p:ext uri="{BB962C8B-B14F-4D97-AF65-F5344CB8AC3E}">
        <p14:creationId xmlns:p14="http://schemas.microsoft.com/office/powerpoint/2010/main" val="1131855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9"/>
                                        </p:tgtEl>
                                        <p:attrNameLst>
                                          <p:attrName>style.visibility</p:attrName>
                                        </p:attrNameLst>
                                      </p:cBhvr>
                                      <p:to>
                                        <p:strVal val="visible"/>
                                      </p:to>
                                    </p:set>
                                    <p:animEffect transition="in" filter="fade">
                                      <p:cBhvr>
                                        <p:cTn id="10" dur="500"/>
                                        <p:tgtEl>
                                          <p:spTgt spid="7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0"/>
                                        </p:tgtEl>
                                        <p:attrNameLst>
                                          <p:attrName>style.visibility</p:attrName>
                                        </p:attrNameLst>
                                      </p:cBhvr>
                                      <p:to>
                                        <p:strVal val="visible"/>
                                      </p:to>
                                    </p:set>
                                    <p:animEffect transition="in" filter="fade">
                                      <p:cBhvr>
                                        <p:cTn id="13" dur="500"/>
                                        <p:tgtEl>
                                          <p:spTgt spid="8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1"/>
                                        </p:tgtEl>
                                        <p:attrNameLst>
                                          <p:attrName>style.visibility</p:attrName>
                                        </p:attrNameLst>
                                      </p:cBhvr>
                                      <p:to>
                                        <p:strVal val="visible"/>
                                      </p:to>
                                    </p:set>
                                    <p:animEffect transition="in" filter="fade">
                                      <p:cBhvr>
                                        <p:cTn id="18" dur="500"/>
                                        <p:tgtEl>
                                          <p:spTgt spid="8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4"/>
                                        </p:tgtEl>
                                        <p:attrNameLst>
                                          <p:attrName>style.visibility</p:attrName>
                                        </p:attrNameLst>
                                      </p:cBhvr>
                                      <p:to>
                                        <p:strVal val="visible"/>
                                      </p:to>
                                    </p:set>
                                    <p:animEffect transition="in" filter="fade">
                                      <p:cBhvr>
                                        <p:cTn id="21" dur="500"/>
                                        <p:tgtEl>
                                          <p:spTgt spid="9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5"/>
                                        </p:tgtEl>
                                        <p:attrNameLst>
                                          <p:attrName>style.visibility</p:attrName>
                                        </p:attrNameLst>
                                      </p:cBhvr>
                                      <p:to>
                                        <p:strVal val="visible"/>
                                      </p:to>
                                    </p:set>
                                    <p:animEffect transition="in" filter="fade">
                                      <p:cBhvr>
                                        <p:cTn id="24" dur="500"/>
                                        <p:tgtEl>
                                          <p:spTgt spid="9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96"/>
                                        </p:tgtEl>
                                        <p:attrNameLst>
                                          <p:attrName>style.visibility</p:attrName>
                                        </p:attrNameLst>
                                      </p:cBhvr>
                                      <p:to>
                                        <p:strVal val="visible"/>
                                      </p:to>
                                    </p:set>
                                    <p:animEffect transition="in" filter="fade">
                                      <p:cBhvr>
                                        <p:cTn id="29" dur="500"/>
                                        <p:tgtEl>
                                          <p:spTgt spid="9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09"/>
                                        </p:tgtEl>
                                        <p:attrNameLst>
                                          <p:attrName>style.visibility</p:attrName>
                                        </p:attrNameLst>
                                      </p:cBhvr>
                                      <p:to>
                                        <p:strVal val="visible"/>
                                      </p:to>
                                    </p:set>
                                    <p:animEffect transition="in" filter="fade">
                                      <p:cBhvr>
                                        <p:cTn id="32" dur="500"/>
                                        <p:tgtEl>
                                          <p:spTgt spid="1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0"/>
                                        </p:tgtEl>
                                        <p:attrNameLst>
                                          <p:attrName>style.visibility</p:attrName>
                                        </p:attrNameLst>
                                      </p:cBhvr>
                                      <p:to>
                                        <p:strVal val="visible"/>
                                      </p:to>
                                    </p:set>
                                    <p:animEffect transition="in" filter="fade">
                                      <p:cBhvr>
                                        <p:cTn id="35" dur="500"/>
                                        <p:tgtEl>
                                          <p:spTgt spid="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94" grpId="0" animBg="1"/>
      <p:bldP spid="95" grpId="0" animBg="1"/>
      <p:bldP spid="109" grpId="0" animBg="1"/>
      <p:bldP spid="11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6BADE50-950A-4D58-BFB2-FA2C6A8B385D}" type="slidenum">
              <a:rPr lang="en-US" smtClean="0"/>
              <a:t>67</a:t>
            </a:fld>
            <a:endParaRPr lang="en-US"/>
          </a:p>
        </p:txBody>
      </p:sp>
      <p:grpSp>
        <p:nvGrpSpPr>
          <p:cNvPr id="164" name="Group 163"/>
          <p:cNvGrpSpPr/>
          <p:nvPr/>
        </p:nvGrpSpPr>
        <p:grpSpPr>
          <a:xfrm>
            <a:off x="2649938" y="2827930"/>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400227" y="244181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6526186" y="244693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3412"/>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1: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pointer position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3412"/>
                <a:ext cx="8257182" cy="1230004"/>
              </a:xfrm>
              <a:prstGeom prst="rect">
                <a:avLst/>
              </a:prstGeom>
              <a:blipFill>
                <a:blip r:embed="rId2"/>
                <a:stretch>
                  <a:fillRect l="-1536" t="-6186" b="-4124"/>
                </a:stretch>
              </a:blipFill>
            </p:spPr>
            <p:txBody>
              <a:bodyPr/>
              <a:lstStyle/>
              <a:p>
                <a:r>
                  <a:rPr lang="en-US">
                    <a:noFill/>
                  </a:rPr>
                  <a:t> </a:t>
                </a:r>
              </a:p>
            </p:txBody>
          </p:sp>
        </mc:Fallback>
      </mc:AlternateContent>
      <p:grpSp>
        <p:nvGrpSpPr>
          <p:cNvPr id="180" name="Group 179"/>
          <p:cNvGrpSpPr/>
          <p:nvPr/>
        </p:nvGrpSpPr>
        <p:grpSpPr>
          <a:xfrm>
            <a:off x="2639420" y="5334000"/>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416723" y="494788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6542682" y="4953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6D196EAA-752A-A93B-2999-105C81B29669}"/>
              </a:ext>
            </a:extLst>
          </p:cNvPr>
          <p:cNvSpPr>
            <a:spLocks noGrp="1"/>
          </p:cNvSpPr>
          <p:nvPr>
            <p:ph type="title"/>
          </p:nvPr>
        </p:nvSpPr>
        <p:spPr>
          <a:xfrm>
            <a:off x="379293" y="0"/>
            <a:ext cx="10515600" cy="1325563"/>
          </a:xfrm>
        </p:spPr>
        <p:txBody>
          <a:bodyPr/>
          <a:lstStyle/>
          <a:p>
            <a:r>
              <a:rPr lang="en-US" dirty="0"/>
              <a:t>Partition, Procedure</a:t>
            </a:r>
          </a:p>
        </p:txBody>
      </p:sp>
    </p:spTree>
    <p:extLst>
      <p:ext uri="{BB962C8B-B14F-4D97-AF65-F5344CB8AC3E}">
        <p14:creationId xmlns:p14="http://schemas.microsoft.com/office/powerpoint/2010/main" val="319611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0"/>
                                        </p:tgtEl>
                                        <p:attrNameLst>
                                          <p:attrName>style.visibility</p:attrName>
                                        </p:attrNameLst>
                                      </p:cBhvr>
                                      <p:to>
                                        <p:strVal val="visible"/>
                                      </p:to>
                                    </p:set>
                                    <p:animEffect transition="in" filter="fade">
                                      <p:cBhvr>
                                        <p:cTn id="12" dur="500"/>
                                        <p:tgtEl>
                                          <p:spTgt spid="18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3"/>
                                        </p:tgtEl>
                                        <p:attrNameLst>
                                          <p:attrName>style.visibility</p:attrName>
                                        </p:attrNameLst>
                                      </p:cBhvr>
                                      <p:to>
                                        <p:strVal val="visible"/>
                                      </p:to>
                                    </p:set>
                                    <p:animEffect transition="in" filter="fade">
                                      <p:cBhvr>
                                        <p:cTn id="15" dur="500"/>
                                        <p:tgtEl>
                                          <p:spTgt spid="19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4"/>
                                        </p:tgtEl>
                                        <p:attrNameLst>
                                          <p:attrName>style.visibility</p:attrName>
                                        </p:attrNameLst>
                                      </p:cBhvr>
                                      <p:to>
                                        <p:strVal val="visible"/>
                                      </p:to>
                                    </p:set>
                                    <p:animEffect transition="in" filter="fade">
                                      <p:cBhvr>
                                        <p:cTn id="18" dur="500"/>
                                        <p:tgtEl>
                                          <p:spTgt spid="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P spid="193" grpId="0" animBg="1"/>
      <p:bldP spid="194"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86BADE50-950A-4D58-BFB2-FA2C6A8B385D}" type="slidenum">
              <a:rPr lang="en-US" smtClean="0"/>
              <a:t>68</a:t>
            </a:fld>
            <a:endParaRPr lang="en-US"/>
          </a:p>
        </p:txBody>
      </p:sp>
      <p:grpSp>
        <p:nvGrpSpPr>
          <p:cNvPr id="164" name="Group 163"/>
          <p:cNvGrpSpPr/>
          <p:nvPr/>
        </p:nvGrpSpPr>
        <p:grpSpPr>
          <a:xfrm>
            <a:off x="2649938" y="2824518"/>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926236" y="24384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7052195" y="244351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0000"/>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2: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value to the left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0000"/>
                <a:ext cx="8257182" cy="1230004"/>
              </a:xfrm>
              <a:prstGeom prst="rect">
                <a:avLst/>
              </a:prstGeom>
              <a:blipFill>
                <a:blip r:embed="rId2"/>
                <a:stretch>
                  <a:fillRect l="-1536" t="-6186" b="-3093"/>
                </a:stretch>
              </a:blipFill>
            </p:spPr>
            <p:txBody>
              <a:bodyPr/>
              <a:lstStyle/>
              <a:p>
                <a:r>
                  <a:rPr lang="en-US">
                    <a:noFill/>
                  </a:rPr>
                  <a:t> </a:t>
                </a:r>
              </a:p>
            </p:txBody>
          </p:sp>
        </mc:Fallback>
      </mc:AlternateContent>
      <p:grpSp>
        <p:nvGrpSpPr>
          <p:cNvPr id="180" name="Group 179"/>
          <p:cNvGrpSpPr/>
          <p:nvPr/>
        </p:nvGrpSpPr>
        <p:grpSpPr>
          <a:xfrm>
            <a:off x="2639420" y="5330588"/>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915718" y="494447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7041677" y="494958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FDFDB077-B10F-EDCC-4F41-BD481BF34B6D}"/>
              </a:ext>
            </a:extLst>
          </p:cNvPr>
          <p:cNvSpPr>
            <a:spLocks noGrp="1"/>
          </p:cNvSpPr>
          <p:nvPr>
            <p:ph type="title"/>
          </p:nvPr>
        </p:nvSpPr>
        <p:spPr>
          <a:xfrm>
            <a:off x="379293" y="0"/>
            <a:ext cx="10515600" cy="1325563"/>
          </a:xfrm>
        </p:spPr>
        <p:txBody>
          <a:bodyPr/>
          <a:lstStyle/>
          <a:p>
            <a:r>
              <a:rPr lang="en-US" dirty="0"/>
              <a:t>Partition, Procedure</a:t>
            </a:r>
          </a:p>
        </p:txBody>
      </p:sp>
    </p:spTree>
    <p:extLst>
      <p:ext uri="{BB962C8B-B14F-4D97-AF65-F5344CB8AC3E}">
        <p14:creationId xmlns:p14="http://schemas.microsoft.com/office/powerpoint/2010/main" val="39696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0"/>
                                        </p:tgtEl>
                                        <p:attrNameLst>
                                          <p:attrName>style.visibility</p:attrName>
                                        </p:attrNameLst>
                                      </p:cBhvr>
                                      <p:to>
                                        <p:strVal val="visible"/>
                                      </p:to>
                                    </p:set>
                                    <p:animEffect transition="in" filter="fade">
                                      <p:cBhvr>
                                        <p:cTn id="12" dur="500"/>
                                        <p:tgtEl>
                                          <p:spTgt spid="18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93"/>
                                        </p:tgtEl>
                                        <p:attrNameLst>
                                          <p:attrName>style.visibility</p:attrName>
                                        </p:attrNameLst>
                                      </p:cBhvr>
                                      <p:to>
                                        <p:strVal val="visible"/>
                                      </p:to>
                                    </p:set>
                                    <p:animEffect transition="in" filter="fade">
                                      <p:cBhvr>
                                        <p:cTn id="15" dur="500"/>
                                        <p:tgtEl>
                                          <p:spTgt spid="19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94"/>
                                        </p:tgtEl>
                                        <p:attrNameLst>
                                          <p:attrName>style.visibility</p:attrName>
                                        </p:attrNameLst>
                                      </p:cBhvr>
                                      <p:to>
                                        <p:strVal val="visible"/>
                                      </p:to>
                                    </p:set>
                                    <p:animEffect transition="in" filter="fade">
                                      <p:cBhvr>
                                        <p:cTn id="18" dur="500"/>
                                        <p:tgtEl>
                                          <p:spTgt spid="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P spid="193" grpId="0" animBg="1"/>
      <p:bldP spid="19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Summary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14350" indent="-514350">
                  <a:buFont typeface="+mj-lt"/>
                  <a:buAutoNum type="arabicPeriod"/>
                </a:pPr>
                <a:r>
                  <a:rPr lang="en-US" dirty="0"/>
                  <a:t>Put </a:t>
                </a:r>
                <a14:m>
                  <m:oMath xmlns:m="http://schemas.openxmlformats.org/officeDocument/2006/math">
                    <m:r>
                      <a:rPr lang="en-US" b="0" i="1" smtClean="0">
                        <a:solidFill>
                          <a:srgbClr val="FF33CC"/>
                        </a:solidFill>
                        <a:latin typeface="Cambria Math"/>
                      </a:rPr>
                      <m:t>𝑝</m:t>
                    </m:r>
                  </m:oMath>
                </a14:m>
                <a:r>
                  <a:rPr lang="en-US" dirty="0">
                    <a:solidFill>
                      <a:srgbClr val="FF33CC"/>
                    </a:solidFill>
                  </a:rPr>
                  <a:t> </a:t>
                </a:r>
                <a:r>
                  <a:rPr lang="en-US" dirty="0"/>
                  <a:t>at beginning of list</a:t>
                </a:r>
              </a:p>
              <a:p>
                <a:pPr marL="514350" indent="-514350">
                  <a:buFont typeface="+mj-lt"/>
                  <a:buAutoNum type="arabicPeriod"/>
                </a:pPr>
                <a:r>
                  <a:rPr lang="en-US" dirty="0"/>
                  <a:t>Put a pointer (</a:t>
                </a:r>
                <a:r>
                  <a:rPr lang="en-US" dirty="0">
                    <a:solidFill>
                      <a:srgbClr val="FFC000"/>
                    </a:solidFill>
                  </a:rPr>
                  <a:t>Begin</a:t>
                </a:r>
                <a:r>
                  <a:rPr lang="en-US" dirty="0"/>
                  <a:t>) just after </a:t>
                </a:r>
                <a14:m>
                  <m:oMath xmlns:m="http://schemas.openxmlformats.org/officeDocument/2006/math">
                    <m:r>
                      <a:rPr lang="en-US" b="0" i="1" smtClean="0">
                        <a:solidFill>
                          <a:srgbClr val="FF33CC"/>
                        </a:solidFill>
                        <a:latin typeface="Cambria Math"/>
                      </a:rPr>
                      <m:t>𝑝</m:t>
                    </m:r>
                  </m:oMath>
                </a14:m>
                <a:r>
                  <a:rPr lang="en-US" dirty="0"/>
                  <a:t>, and a pointer (</a:t>
                </a:r>
                <a:r>
                  <a:rPr lang="en-US" dirty="0">
                    <a:solidFill>
                      <a:srgbClr val="0070C0"/>
                    </a:solidFill>
                  </a:rPr>
                  <a:t>End</a:t>
                </a:r>
                <a:r>
                  <a:rPr lang="en-US" dirty="0"/>
                  <a:t>) at the end of the list</a:t>
                </a:r>
              </a:p>
              <a:p>
                <a:pPr marL="514350" indent="-514350">
                  <a:buFont typeface="+mj-lt"/>
                  <a:buAutoNum type="arabicPeriod"/>
                </a:pPr>
                <a:r>
                  <a:rPr lang="en-US" dirty="0"/>
                  <a:t>While </a:t>
                </a:r>
                <a:r>
                  <a:rPr lang="en-US" dirty="0">
                    <a:solidFill>
                      <a:srgbClr val="FFC000"/>
                    </a:solidFill>
                  </a:rPr>
                  <a:t>Begin </a:t>
                </a:r>
                <a:r>
                  <a:rPr lang="en-US" dirty="0"/>
                  <a:t>&lt; </a:t>
                </a:r>
                <a:r>
                  <a:rPr lang="en-US" dirty="0">
                    <a:solidFill>
                      <a:srgbClr val="0070C0"/>
                    </a:solidFill>
                  </a:rPr>
                  <a:t>End:</a:t>
                </a:r>
              </a:p>
              <a:p>
                <a:pPr marL="914400" lvl="1" indent="-514350">
                  <a:buFont typeface="+mj-lt"/>
                  <a:buAutoNum type="arabicPeriod"/>
                </a:pPr>
                <a:r>
                  <a:rPr lang="en-US" dirty="0"/>
                  <a:t>If </a:t>
                </a:r>
                <a:r>
                  <a:rPr lang="en-US" dirty="0">
                    <a:solidFill>
                      <a:srgbClr val="FFC000"/>
                    </a:solidFill>
                  </a:rPr>
                  <a:t>Begin</a:t>
                </a:r>
                <a:r>
                  <a:rPr lang="en-US" dirty="0"/>
                  <a:t> value </a:t>
                </a:r>
                <a14:m>
                  <m:oMath xmlns:m="http://schemas.openxmlformats.org/officeDocument/2006/math">
                    <m:r>
                      <a:rPr lang="en-US" i="1" dirty="0">
                        <a:solidFill>
                          <a:srgbClr val="FF33CC"/>
                        </a:solidFill>
                        <a:latin typeface="Cambria Math"/>
                      </a:rPr>
                      <m:t>&lt;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914400" lvl="1" indent="-514350">
                  <a:buFont typeface="+mj-lt"/>
                  <a:buAutoNum type="arabicPeriod"/>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514350" indent="-514350">
                  <a:buFont typeface="+mj-lt"/>
                  <a:buAutoNum type="arabicPeriod"/>
                </a:pPr>
                <a:r>
                  <a:rPr lang="en-US" dirty="0"/>
                  <a:t>If pointers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r>
                  <a:rPr lang="en-US" dirty="0"/>
                  <a:t>: 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pointer position</a:t>
                </a:r>
              </a:p>
              <a:p>
                <a:pPr marL="514350" indent="-514350">
                  <a:buFont typeface="+mj-lt"/>
                  <a:buAutoNum type="arabicPeriod"/>
                </a:pPr>
                <a:r>
                  <a:rPr lang="en-US" dirty="0"/>
                  <a:t>Else If pointers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value to the left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69</a:t>
            </a:fld>
            <a:endParaRPr lang="en-US"/>
          </a:p>
        </p:txBody>
      </p:sp>
      <p:sp>
        <p:nvSpPr>
          <p:cNvPr id="5" name="TextBox 4"/>
          <p:cNvSpPr txBox="1"/>
          <p:nvPr/>
        </p:nvSpPr>
        <p:spPr>
          <a:xfrm>
            <a:off x="8153400" y="6015693"/>
            <a:ext cx="1673856" cy="523220"/>
          </a:xfrm>
          <a:prstGeom prst="rect">
            <a:avLst/>
          </a:prstGeom>
          <a:noFill/>
        </p:spPr>
        <p:txBody>
          <a:bodyPr wrap="none" rtlCol="0">
            <a:spAutoFit/>
          </a:bodyPr>
          <a:lstStyle/>
          <a:p>
            <a:r>
              <a:rPr lang="en-US" sz="2800" dirty="0">
                <a:solidFill>
                  <a:srgbClr val="FF0000"/>
                </a:solidFill>
              </a:rPr>
              <a:t>Run time?</a:t>
            </a:r>
          </a:p>
        </p:txBody>
      </p:sp>
      <mc:AlternateContent xmlns:mc="http://schemas.openxmlformats.org/markup-compatibility/2006" xmlns:a14="http://schemas.microsoft.com/office/drawing/2010/main">
        <mc:Choice Requires="a14">
          <p:sp>
            <p:nvSpPr>
              <p:cNvPr id="6" name="TextBox 5"/>
              <p:cNvSpPr txBox="1"/>
              <p:nvPr/>
            </p:nvSpPr>
            <p:spPr>
              <a:xfrm>
                <a:off x="9982200" y="6015693"/>
                <a:ext cx="10283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982200" y="6015693"/>
                <a:ext cx="1028358" cy="523220"/>
              </a:xfrm>
              <a:prstGeom prst="rect">
                <a:avLst/>
              </a:prstGeom>
              <a:blipFill>
                <a:blip r:embed="rId3"/>
                <a:stretch>
                  <a:fillRect r="-2439" b="-16667"/>
                </a:stretch>
              </a:blipFill>
            </p:spPr>
            <p:txBody>
              <a:bodyPr/>
              <a:lstStyle/>
              <a:p>
                <a:r>
                  <a:rPr lang="en-US">
                    <a:noFill/>
                  </a:rPr>
                  <a:t> </a:t>
                </a:r>
              </a:p>
            </p:txBody>
          </p:sp>
        </mc:Fallback>
      </mc:AlternateContent>
    </p:spTree>
    <p:extLst>
      <p:ext uri="{BB962C8B-B14F-4D97-AF65-F5344CB8AC3E}">
        <p14:creationId xmlns:p14="http://schemas.microsoft.com/office/powerpoint/2010/main" val="197349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Conquer</a:t>
            </a:r>
          </a:p>
        </p:txBody>
      </p:sp>
      <p:sp>
        <p:nvSpPr>
          <p:cNvPr id="25" name="Content Placeholder 2"/>
          <p:cNvSpPr>
            <a:spLocks noGrp="1"/>
          </p:cNvSpPr>
          <p:nvPr>
            <p:ph idx="1"/>
          </p:nvPr>
        </p:nvSpPr>
        <p:spPr>
          <a:xfrm>
            <a:off x="2514600" y="5229710"/>
            <a:ext cx="8229600" cy="685800"/>
          </a:xfrm>
        </p:spPr>
        <p:txBody>
          <a:bodyPr>
            <a:normAutofit/>
          </a:bodyPr>
          <a:lstStyle/>
          <a:p>
            <a:pPr marL="0" indent="0">
              <a:buNone/>
            </a:pPr>
            <a:r>
              <a:rPr lang="en-US" dirty="0"/>
              <a:t>Recursively sort </a:t>
            </a:r>
            <a:r>
              <a:rPr lang="en-US" dirty="0">
                <a:solidFill>
                  <a:srgbClr val="FFC000"/>
                </a:solidFill>
              </a:rPr>
              <a:t>Left</a:t>
            </a:r>
            <a:r>
              <a:rPr lang="en-US" dirty="0"/>
              <a:t> and </a:t>
            </a:r>
            <a:r>
              <a:rPr lang="en-US" dirty="0">
                <a:solidFill>
                  <a:srgbClr val="0070C0"/>
                </a:solidFill>
              </a:rPr>
              <a:t>Right</a:t>
            </a:r>
            <a:r>
              <a:rPr lang="en-US" dirty="0"/>
              <a:t> </a:t>
            </a:r>
            <a:r>
              <a:rPr lang="en-US" dirty="0" err="1"/>
              <a:t>sublists</a:t>
            </a:r>
            <a:endParaRPr lang="en-US" dirty="0"/>
          </a:p>
        </p:txBody>
      </p:sp>
      <p:sp>
        <p:nvSpPr>
          <p:cNvPr id="4" name="Slide Number Placeholder 3"/>
          <p:cNvSpPr>
            <a:spLocks noGrp="1"/>
          </p:cNvSpPr>
          <p:nvPr>
            <p:ph type="sldNum" sz="quarter" idx="12"/>
          </p:nvPr>
        </p:nvSpPr>
        <p:spPr/>
        <p:txBody>
          <a:bodyPr/>
          <a:lstStyle/>
          <a:p>
            <a:fld id="{86BADE50-950A-4D58-BFB2-FA2C6A8B385D}" type="slidenum">
              <a:rPr lang="en-US" smtClean="0"/>
              <a:t>70</a:t>
            </a:fld>
            <a:endParaRPr lang="en-US"/>
          </a:p>
        </p:txBody>
      </p:sp>
      <p:grpSp>
        <p:nvGrpSpPr>
          <p:cNvPr id="5" name="Group 4"/>
          <p:cNvGrpSpPr/>
          <p:nvPr/>
        </p:nvGrpSpPr>
        <p:grpSpPr>
          <a:xfrm>
            <a:off x="2604910" y="14478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3" name="Rectangle 12"/>
            <p:cNvSpPr/>
            <p:nvPr/>
          </p:nvSpPr>
          <p:spPr>
            <a:xfrm>
              <a:off x="5180462"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8" name="Right Brace 17"/>
          <p:cNvSpPr/>
          <p:nvPr/>
        </p:nvSpPr>
        <p:spPr>
          <a:xfrm rot="5400000">
            <a:off x="4246480" y="339634"/>
            <a:ext cx="451798" cy="3734939"/>
          </a:xfrm>
          <a:prstGeom prst="rightBrace">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p:cNvSpPr txBox="1"/>
              <p:nvPr/>
            </p:nvSpPr>
            <p:spPr>
              <a:xfrm>
                <a:off x="3176618" y="2433000"/>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i="1" dirty="0">
                        <a:latin typeface="Cambria Math"/>
                      </a:rPr>
                      <m:t>&lt;</m:t>
                    </m:r>
                    <m:r>
                      <a:rPr lang="en-US" sz="2800" i="1" dirty="0">
                        <a:latin typeface="Cambria Math"/>
                      </a:rPr>
                      <m:t>𝑝</m:t>
                    </m:r>
                  </m:oMath>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3176618" y="2433000"/>
                <a:ext cx="2643481" cy="523220"/>
              </a:xfrm>
              <a:prstGeom prst="rect">
                <a:avLst/>
              </a:prstGeom>
              <a:blipFill>
                <a:blip r:embed="rId2"/>
                <a:stretch>
                  <a:fillRect l="-4306" t="-14634" b="-29268"/>
                </a:stretch>
              </a:blipFill>
            </p:spPr>
            <p:txBody>
              <a:bodyPr/>
              <a:lstStyle/>
              <a:p>
                <a:r>
                  <a:rPr lang="en-US">
                    <a:noFill/>
                  </a:rPr>
                  <a:t> </a:t>
                </a:r>
              </a:p>
            </p:txBody>
          </p:sp>
        </mc:Fallback>
      </mc:AlternateContent>
      <p:sp>
        <p:nvSpPr>
          <p:cNvPr id="20" name="Right Brace 19"/>
          <p:cNvSpPr/>
          <p:nvPr/>
        </p:nvSpPr>
        <p:spPr>
          <a:xfrm rot="5400000">
            <a:off x="7720885" y="1145894"/>
            <a:ext cx="451797" cy="212241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885579" y="2354868"/>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dirty="0">
                        <a:latin typeface="Cambria Math"/>
                      </a:rPr>
                      <m:t>&gt;</m:t>
                    </m:r>
                    <m:r>
                      <a:rPr lang="en-US" sz="2800" i="1" dirty="0">
                        <a:latin typeface="Cambria Math"/>
                      </a:rPr>
                      <m:t>𝑝</m:t>
                    </m:r>
                  </m:oMath>
                </a14:m>
                <a:endParaRPr lang="en-US" sz="28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885579" y="2354868"/>
                <a:ext cx="2643481" cy="523220"/>
              </a:xfrm>
              <a:prstGeom prst="rect">
                <a:avLst/>
              </a:prstGeom>
              <a:blipFill>
                <a:blip r:embed="rId3"/>
                <a:stretch>
                  <a:fillRect l="-4306" t="-9302" b="-27907"/>
                </a:stretch>
              </a:blipFill>
            </p:spPr>
            <p:txBody>
              <a:bodyPr/>
              <a:lstStyle/>
              <a:p>
                <a:r>
                  <a:rPr lang="en-US">
                    <a:noFill/>
                  </a:rPr>
                  <a:t> </a:t>
                </a:r>
              </a:p>
            </p:txBody>
          </p:sp>
        </mc:Fallback>
      </mc:AlternateContent>
      <p:sp>
        <p:nvSpPr>
          <p:cNvPr id="22" name="TextBox 21"/>
          <p:cNvSpPr txBox="1"/>
          <p:nvPr/>
        </p:nvSpPr>
        <p:spPr>
          <a:xfrm>
            <a:off x="4742915" y="3264090"/>
            <a:ext cx="3818674" cy="523220"/>
          </a:xfrm>
          <a:prstGeom prst="rect">
            <a:avLst/>
          </a:prstGeom>
          <a:noFill/>
        </p:spPr>
        <p:txBody>
          <a:bodyPr wrap="none" rtlCol="0">
            <a:spAutoFit/>
          </a:bodyPr>
          <a:lstStyle/>
          <a:p>
            <a:r>
              <a:rPr lang="en-US" sz="2800" dirty="0"/>
              <a:t>Exactly where it belongs!</a:t>
            </a:r>
          </a:p>
        </p:txBody>
      </p:sp>
      <p:cxnSp>
        <p:nvCxnSpPr>
          <p:cNvPr id="24" name="Straight Arrow Connector 23"/>
          <p:cNvCxnSpPr>
            <a:stCxn id="22" idx="0"/>
            <a:endCxn id="13" idx="2"/>
          </p:cNvCxnSpPr>
          <p:nvPr/>
        </p:nvCxnSpPr>
        <p:spPr>
          <a:xfrm flipH="1" flipV="1">
            <a:off x="6606548" y="1981200"/>
            <a:ext cx="45704" cy="1282890"/>
          </a:xfrm>
          <a:prstGeom prst="straightConnector1">
            <a:avLst/>
          </a:prstGeom>
          <a:ln w="38100">
            <a:solidFill>
              <a:srgbClr val="FF33CC"/>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8212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(Best)</a:t>
            </a:r>
          </a:p>
        </p:txBody>
      </p:sp>
      <p:sp>
        <p:nvSpPr>
          <p:cNvPr id="3" name="Content Placeholder 2"/>
          <p:cNvSpPr>
            <a:spLocks noGrp="1"/>
          </p:cNvSpPr>
          <p:nvPr>
            <p:ph idx="1"/>
          </p:nvPr>
        </p:nvSpPr>
        <p:spPr>
          <a:xfrm>
            <a:off x="2209800" y="4343400"/>
            <a:ext cx="8229600" cy="838200"/>
          </a:xfrm>
        </p:spPr>
        <p:txBody>
          <a:bodyPr/>
          <a:lstStyle/>
          <a:p>
            <a:pPr marL="0" indent="0">
              <a:buNone/>
            </a:pPr>
            <a:r>
              <a:rPr lang="en-US" dirty="0"/>
              <a:t>Then we divide in half each time</a:t>
            </a:r>
          </a:p>
        </p:txBody>
      </p:sp>
      <p:sp>
        <p:nvSpPr>
          <p:cNvPr id="4" name="Slide Number Placeholder 3"/>
          <p:cNvSpPr>
            <a:spLocks noGrp="1"/>
          </p:cNvSpPr>
          <p:nvPr>
            <p:ph type="sldNum" sz="quarter" idx="12"/>
          </p:nvPr>
        </p:nvSpPr>
        <p:spPr/>
        <p:txBody>
          <a:bodyPr/>
          <a:lstStyle/>
          <a:p>
            <a:fld id="{86BADE50-950A-4D58-BFB2-FA2C6A8B385D}" type="slidenum">
              <a:rPr lang="en-US" smtClean="0"/>
              <a:t>71</a:t>
            </a:fld>
            <a:endParaRPr lang="en-US"/>
          </a:p>
        </p:txBody>
      </p:sp>
      <p:grpSp>
        <p:nvGrpSpPr>
          <p:cNvPr id="5" name="Group 4"/>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Rectangle 19"/>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Rectangle 20"/>
            <p:cNvSpPr/>
            <p:nvPr/>
          </p:nvSpPr>
          <p:spPr>
            <a:xfrm>
              <a:off x="2512893"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8" name="Rectangle 27"/>
            <p:cNvSpPr/>
            <p:nvPr/>
          </p:nvSpPr>
          <p:spPr>
            <a:xfrm>
              <a:off x="6247831"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=2</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f>
                            <m:fPr>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b="-30909"/>
                </a:stretch>
              </a:blipFill>
            </p:spPr>
            <p:txBody>
              <a:bodyPr/>
              <a:lstStyle/>
              <a:p>
                <a:r>
                  <a:rPr lang="en-US">
                    <a:noFill/>
                  </a:rPr>
                  <a:t> </a:t>
                </a:r>
              </a:p>
            </p:txBody>
          </p:sp>
        </mc:Fallback>
      </mc:AlternateContent>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a:t>
            </a:r>
            <a:r>
              <a:rPr lang="en-US" dirty="0">
                <a:solidFill>
                  <a:srgbClr val="FF33CC"/>
                </a:solidFill>
              </a:rPr>
              <a:t>pivot</a:t>
            </a:r>
            <a:r>
              <a:rPr lang="en-US" dirty="0"/>
              <a:t> is always the median:</a:t>
            </a:r>
          </a:p>
        </p:txBody>
      </p:sp>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func>
                        <m:funcPr>
                          <m:ctrlPr>
                            <a:rPr lang="en-US" sz="2800" i="1" dirty="0">
                              <a:solidFill>
                                <a:srgbClr val="FF0000"/>
                              </a:solidFill>
                              <a:latin typeface="Cambria Math" panose="02040503050406030204" pitchFamily="18" charset="0"/>
                            </a:rPr>
                          </m:ctrlPr>
                        </m:funcPr>
                        <m:fName>
                          <m:r>
                            <m:rPr>
                              <m:sty m:val="p"/>
                            </m:rPr>
                            <a:rPr lang="en-US" sz="2800" dirty="0">
                              <a:solidFill>
                                <a:srgbClr val="FF0000"/>
                              </a:solidFill>
                              <a:latin typeface="Cambria Math"/>
                            </a:rPr>
                            <m:t>log</m:t>
                          </m:r>
                        </m:fName>
                        <m:e>
                          <m:r>
                            <a:rPr lang="en-US" sz="2800" i="1" dirty="0">
                              <a:solidFill>
                                <a:srgbClr val="FF0000"/>
                              </a:solidFill>
                              <a:latin typeface="Cambria Math"/>
                            </a:rPr>
                            <m:t>𝑛</m:t>
                          </m:r>
                        </m:e>
                      </m:func>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659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(Worst)</a:t>
            </a:r>
          </a:p>
        </p:txBody>
      </p:sp>
      <p:sp>
        <p:nvSpPr>
          <p:cNvPr id="3" name="Content Placeholder 2"/>
          <p:cNvSpPr>
            <a:spLocks noGrp="1"/>
          </p:cNvSpPr>
          <p:nvPr>
            <p:ph idx="1"/>
          </p:nvPr>
        </p:nvSpPr>
        <p:spPr>
          <a:xfrm>
            <a:off x="2239366" y="4305300"/>
            <a:ext cx="8229600" cy="838200"/>
          </a:xfrm>
        </p:spPr>
        <p:txBody>
          <a:bodyPr/>
          <a:lstStyle/>
          <a:p>
            <a:pPr marL="0" indent="0">
              <a:buNone/>
            </a:pPr>
            <a:r>
              <a:rPr lang="en-US" dirty="0"/>
              <a:t>Then we shorten by 1 each time</a:t>
            </a:r>
          </a:p>
        </p:txBody>
      </p:sp>
      <p:sp>
        <p:nvSpPr>
          <p:cNvPr id="4" name="Slide Number Placeholder 3"/>
          <p:cNvSpPr>
            <a:spLocks noGrp="1"/>
          </p:cNvSpPr>
          <p:nvPr>
            <p:ph type="sldNum" sz="quarter" idx="12"/>
          </p:nvPr>
        </p:nvSpPr>
        <p:spPr/>
        <p:txBody>
          <a:bodyPr/>
          <a:lstStyle/>
          <a:p>
            <a:fld id="{86BADE50-950A-4D58-BFB2-FA2C6A8B385D}" type="slidenum">
              <a:rPr lang="en-US" smtClean="0"/>
              <a:t>72</a:t>
            </a:fld>
            <a:endParaRPr lang="en-US"/>
          </a:p>
        </p:txBody>
      </p:sp>
      <p:grpSp>
        <p:nvGrpSpPr>
          <p:cNvPr id="5" name="Group 4"/>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 name="Rectangle 6"/>
            <p:cNvSpPr/>
            <p:nvPr/>
          </p:nvSpPr>
          <p:spPr>
            <a:xfrm>
              <a:off x="1978924"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 name="Rectangle 8"/>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Rectangle 19"/>
            <p:cNvSpPr/>
            <p:nvPr/>
          </p:nvSpPr>
          <p:spPr>
            <a:xfrm>
              <a:off x="19789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1" name="Rectangle 20"/>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a:stretch>
              </a:blipFill>
            </p:spPr>
            <p:txBody>
              <a:bodyPr/>
              <a:lstStyle/>
              <a:p>
                <a:r>
                  <a:rPr lang="en-US">
                    <a:noFill/>
                  </a:rPr>
                  <a:t> </a:t>
                </a:r>
              </a:p>
            </p:txBody>
          </p:sp>
        </mc:Fallback>
      </mc:AlternateContent>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pivot is always at the extreme:</a:t>
            </a:r>
          </a:p>
        </p:txBody>
      </p:sp>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sSup>
                        <m:sSupPr>
                          <m:ctrlPr>
                            <a:rPr lang="en-US" sz="2800" i="1" dirty="0">
                              <a:solidFill>
                                <a:srgbClr val="FF0000"/>
                              </a:solidFill>
                              <a:latin typeface="Cambria Math" panose="02040503050406030204" pitchFamily="18" charset="0"/>
                            </a:rPr>
                          </m:ctrlPr>
                        </m:sSupPr>
                        <m:e>
                          <m:r>
                            <a:rPr lang="en-US" sz="2800" i="1" dirty="0">
                              <a:solidFill>
                                <a:srgbClr val="FF0000"/>
                              </a:solidFill>
                              <a:latin typeface="Cambria Math"/>
                            </a:rPr>
                            <m:t>𝑛</m:t>
                          </m:r>
                        </m:e>
                        <m:sup>
                          <m:r>
                            <a:rPr lang="en-US" sz="2800" i="1" dirty="0">
                              <a:solidFill>
                                <a:srgbClr val="FF0000"/>
                              </a:solidFill>
                              <a:latin typeface="Cambria Math"/>
                            </a:rPr>
                            <m:t>2</m:t>
                          </m:r>
                        </m:sup>
                      </m:sSup>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461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(Worst)</a:t>
            </a:r>
          </a:p>
        </p:txBody>
      </p:sp>
      <p:sp>
        <p:nvSpPr>
          <p:cNvPr id="4" name="Slide Number Placeholder 3"/>
          <p:cNvSpPr>
            <a:spLocks noGrp="1"/>
          </p:cNvSpPr>
          <p:nvPr>
            <p:ph type="sldNum" sz="quarter" idx="12"/>
          </p:nvPr>
        </p:nvSpPr>
        <p:spPr/>
        <p:txBody>
          <a:bodyPr/>
          <a:lstStyle/>
          <a:p>
            <a:fld id="{86BADE50-950A-4D58-BFB2-FA2C6A8B385D}" type="slidenum">
              <a:rPr lang="en-US" smtClean="0"/>
              <a:t>73</a:t>
            </a:fld>
            <a:endParaRPr lang="en-US"/>
          </a:p>
        </p:txBody>
      </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129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1295400"/>
                <a:ext cx="8229600" cy="6858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ontent Placeholder 2"/>
              <p:cNvSpPr txBox="1">
                <a:spLocks/>
              </p:cNvSpPr>
              <p:nvPr/>
            </p:nvSpPr>
            <p:spPr>
              <a:xfrm>
                <a:off x="4419602" y="5105400"/>
                <a:ext cx="3429001"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sSup>
                        <m:sSupPr>
                          <m:ctrlPr>
                            <a:rPr lang="en-US" sz="2800" i="1" dirty="0">
                              <a:solidFill>
                                <a:srgbClr val="FF0000"/>
                              </a:solidFill>
                              <a:latin typeface="Cambria Math" panose="02040503050406030204" pitchFamily="18" charset="0"/>
                            </a:rPr>
                          </m:ctrlPr>
                        </m:sSupPr>
                        <m:e>
                          <m:r>
                            <a:rPr lang="en-US" sz="2800" i="1" dirty="0">
                              <a:solidFill>
                                <a:srgbClr val="FF0000"/>
                              </a:solidFill>
                              <a:latin typeface="Cambria Math"/>
                            </a:rPr>
                            <m:t>𝑛</m:t>
                          </m:r>
                        </m:e>
                        <m:sup>
                          <m:r>
                            <a:rPr lang="en-US" sz="2800" i="1" dirty="0">
                              <a:solidFill>
                                <a:srgbClr val="FF0000"/>
                              </a:solidFill>
                              <a:latin typeface="Cambria Math"/>
                            </a:rPr>
                            <m:t>2</m:t>
                          </m:r>
                        </m:sup>
                      </m:sSup>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4419602" y="5105400"/>
                <a:ext cx="3429001" cy="6858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 Box 41"/>
              <p:cNvSpPr txBox="1">
                <a:spLocks noChangeArrowheads="1"/>
              </p:cNvSpPr>
              <p:nvPr/>
            </p:nvSpPr>
            <p:spPr bwMode="auto">
              <a:xfrm>
                <a:off x="1913274"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35" name="Text Box 41"/>
              <p:cNvSpPr txBox="1">
                <a:spLocks noRot="1" noChangeAspect="1" noMove="1" noResize="1" noEditPoints="1" noAdjustHandles="1" noChangeArrowheads="1" noChangeShapeType="1" noTextEdit="1"/>
              </p:cNvSpPr>
              <p:nvPr/>
            </p:nvSpPr>
            <p:spPr bwMode="auto">
              <a:xfrm>
                <a:off x="1913274" y="2133600"/>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 Box 41"/>
              <p:cNvSpPr txBox="1">
                <a:spLocks noChangeArrowheads="1"/>
              </p:cNvSpPr>
              <p:nvPr/>
            </p:nvSpPr>
            <p:spPr bwMode="auto">
              <a:xfrm>
                <a:off x="1913274" y="3006229"/>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𝑛</m:t>
                      </m:r>
                      <m:r>
                        <a:rPr lang="en-US" sz="2800" i="1">
                          <a:latin typeface="Cambria Math"/>
                        </a:rPr>
                        <m:t>−1</m:t>
                      </m:r>
                    </m:oMath>
                  </m:oMathPara>
                </a14:m>
                <a:endParaRPr lang="en-US" sz="2800" dirty="0"/>
              </a:p>
            </p:txBody>
          </p:sp>
        </mc:Choice>
        <mc:Fallback xmlns="">
          <p:sp>
            <p:nvSpPr>
              <p:cNvPr id="37" name="Text Box 41"/>
              <p:cNvSpPr txBox="1">
                <a:spLocks noRot="1" noChangeAspect="1" noMove="1" noResize="1" noEditPoints="1" noAdjustHandles="1" noChangeArrowheads="1" noChangeShapeType="1" noTextEdit="1"/>
              </p:cNvSpPr>
              <p:nvPr/>
            </p:nvSpPr>
            <p:spPr bwMode="auto">
              <a:xfrm>
                <a:off x="1913274" y="3006229"/>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p:sp>
        <p:nvSpPr>
          <p:cNvPr id="43" name="Rectangle 42"/>
          <p:cNvSpPr/>
          <p:nvPr/>
        </p:nvSpPr>
        <p:spPr>
          <a:xfrm rot="16200000">
            <a:off x="2208366" y="4104544"/>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2217572" y="4863723"/>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2217572" y="4863723"/>
                <a:ext cx="71663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p:cxnSp>
        <p:nvCxnSpPr>
          <p:cNvPr id="54" name="Straight Connector 53"/>
          <p:cNvCxnSpPr>
            <a:stCxn id="35" idx="2"/>
            <a:endCxn id="37" idx="0"/>
          </p:cNvCxnSpPr>
          <p:nvPr/>
        </p:nvCxnSpPr>
        <p:spPr>
          <a:xfrm>
            <a:off x="2580024" y="2590803"/>
            <a:ext cx="0" cy="415429"/>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Text Box 41"/>
              <p:cNvSpPr txBox="1">
                <a:spLocks noChangeArrowheads="1"/>
              </p:cNvSpPr>
              <p:nvPr/>
            </p:nvSpPr>
            <p:spPr bwMode="auto">
              <a:xfrm>
                <a:off x="1905000" y="388835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𝑛</m:t>
                      </m:r>
                      <m:r>
                        <a:rPr lang="en-US" sz="2800" i="1">
                          <a:latin typeface="Cambria Math"/>
                        </a:rPr>
                        <m:t>−2</m:t>
                      </m:r>
                    </m:oMath>
                  </m:oMathPara>
                </a14:m>
                <a:endParaRPr lang="en-US" sz="2800" dirty="0"/>
              </a:p>
            </p:txBody>
          </p:sp>
        </mc:Choice>
        <mc:Fallback xmlns="">
          <p:sp>
            <p:nvSpPr>
              <p:cNvPr id="68" name="Text Box 41"/>
              <p:cNvSpPr txBox="1">
                <a:spLocks noRot="1" noChangeAspect="1" noMove="1" noResize="1" noEditPoints="1" noAdjustHandles="1" noChangeArrowheads="1" noChangeShapeType="1" noTextEdit="1"/>
              </p:cNvSpPr>
              <p:nvPr/>
            </p:nvSpPr>
            <p:spPr bwMode="auto">
              <a:xfrm>
                <a:off x="1905000" y="3888355"/>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p:cxnSp>
        <p:nvCxnSpPr>
          <p:cNvPr id="69" name="Straight Connector 68"/>
          <p:cNvCxnSpPr>
            <a:stCxn id="37" idx="2"/>
            <a:endCxn id="68" idx="0"/>
          </p:cNvCxnSpPr>
          <p:nvPr/>
        </p:nvCxnSpPr>
        <p:spPr>
          <a:xfrm flipH="1">
            <a:off x="2571750" y="3463429"/>
            <a:ext cx="8274" cy="424926"/>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p:cNvSpPr txBox="1"/>
              <p:nvPr/>
            </p:nvSpPr>
            <p:spPr>
              <a:xfrm>
                <a:off x="3201144" y="1981200"/>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𝑛</m:t>
                      </m:r>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3201144" y="1981200"/>
                <a:ext cx="374590"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p:cNvSpPr txBox="1"/>
              <p:nvPr/>
            </p:nvSpPr>
            <p:spPr>
              <a:xfrm>
                <a:off x="3238500" y="2898184"/>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𝑛</m:t>
                      </m:r>
                      <m:r>
                        <a:rPr lang="en-US" i="1">
                          <a:solidFill>
                            <a:srgbClr val="0070C0"/>
                          </a:solidFill>
                          <a:latin typeface="Cambria Math"/>
                        </a:rPr>
                        <m:t>−1</m:t>
                      </m:r>
                    </m:oMath>
                  </m:oMathPara>
                </a14:m>
                <a:endParaRPr lang="en-US" dirty="0">
                  <a:solidFill>
                    <a:srgbClr val="0070C0"/>
                  </a:solidFill>
                </a:endParaRPr>
              </a:p>
            </p:txBody>
          </p:sp>
        </mc:Choice>
        <mc:Fallback xmlns="">
          <p:sp>
            <p:nvSpPr>
              <p:cNvPr id="73" name="TextBox 72"/>
              <p:cNvSpPr txBox="1">
                <a:spLocks noRot="1" noChangeAspect="1" noMove="1" noResize="1" noEditPoints="1" noAdjustHandles="1" noChangeArrowheads="1" noChangeShapeType="1" noTextEdit="1"/>
              </p:cNvSpPr>
              <p:nvPr/>
            </p:nvSpPr>
            <p:spPr>
              <a:xfrm>
                <a:off x="3238500" y="2898184"/>
                <a:ext cx="77854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3238500" y="3747623"/>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𝑛</m:t>
                      </m:r>
                      <m:r>
                        <a:rPr lang="en-US" i="1">
                          <a:solidFill>
                            <a:srgbClr val="0070C0"/>
                          </a:solidFill>
                          <a:latin typeface="Cambria Math"/>
                        </a:rPr>
                        <m:t>−2</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3238500" y="3747623"/>
                <a:ext cx="778546"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3180176" y="4722991"/>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3180176" y="4722991"/>
                <a:ext cx="365805" cy="369332"/>
              </a:xfrm>
              <a:prstGeom prst="rect">
                <a:avLst/>
              </a:prstGeom>
              <a:blipFill>
                <a:blip r:embed="rId11"/>
                <a:stretch>
                  <a:fillRect/>
                </a:stretch>
              </a:blipFill>
            </p:spPr>
            <p:txBody>
              <a:bodyPr/>
              <a:lstStyle/>
              <a:p>
                <a:r>
                  <a:rPr lang="en-US">
                    <a:noFill/>
                  </a:rPr>
                  <a:t> </a:t>
                </a:r>
              </a:p>
            </p:txBody>
          </p:sp>
        </mc:Fallback>
      </mc:AlternateContent>
      <p:sp>
        <p:nvSpPr>
          <p:cNvPr id="76" name="Right Brace 75"/>
          <p:cNvSpPr/>
          <p:nvPr/>
        </p:nvSpPr>
        <p:spPr>
          <a:xfrm>
            <a:off x="3810000" y="1981200"/>
            <a:ext cx="533400" cy="350520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7" name="Content Placeholder 2"/>
              <p:cNvSpPr txBox="1">
                <a:spLocks/>
              </p:cNvSpPr>
              <p:nvPr/>
            </p:nvSpPr>
            <p:spPr>
              <a:xfrm>
                <a:off x="4326343" y="3390900"/>
                <a:ext cx="5373617"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=1+2+3+…+</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77" name="Content Placeholder 2"/>
              <p:cNvSpPr txBox="1">
                <a:spLocks noRot="1" noChangeAspect="1" noMove="1" noResize="1" noEditPoints="1" noAdjustHandles="1" noChangeArrowheads="1" noChangeShapeType="1" noTextEdit="1"/>
              </p:cNvSpPr>
              <p:nvPr/>
            </p:nvSpPr>
            <p:spPr>
              <a:xfrm>
                <a:off x="4326343" y="3390900"/>
                <a:ext cx="5373617" cy="68580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Content Placeholder 2"/>
              <p:cNvSpPr txBox="1">
                <a:spLocks/>
              </p:cNvSpPr>
              <p:nvPr/>
            </p:nvSpPr>
            <p:spPr>
              <a:xfrm>
                <a:off x="3617986" y="4002655"/>
                <a:ext cx="5373617"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f>
                        <m:fPr>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num>
                        <m:den>
                          <m:r>
                            <a:rPr lang="en-US" sz="2800" i="1" dirty="0">
                              <a:solidFill>
                                <a:srgbClr val="FF0000"/>
                              </a:solidFill>
                              <a:latin typeface="Cambria Math"/>
                            </a:rPr>
                            <m:t>2</m:t>
                          </m:r>
                        </m:den>
                      </m:f>
                    </m:oMath>
                  </m:oMathPara>
                </a14:m>
                <a:endParaRPr lang="en-US" sz="2800" dirty="0">
                  <a:solidFill>
                    <a:srgbClr val="FF0000"/>
                  </a:solidFill>
                </a:endParaRPr>
              </a:p>
            </p:txBody>
          </p:sp>
        </mc:Choice>
        <mc:Fallback xmlns="">
          <p:sp>
            <p:nvSpPr>
              <p:cNvPr id="78" name="Content Placeholder 2"/>
              <p:cNvSpPr txBox="1">
                <a:spLocks noRot="1" noChangeAspect="1" noMove="1" noResize="1" noEditPoints="1" noAdjustHandles="1" noChangeArrowheads="1" noChangeShapeType="1" noTextEdit="1"/>
              </p:cNvSpPr>
              <p:nvPr/>
            </p:nvSpPr>
            <p:spPr>
              <a:xfrm>
                <a:off x="3617986" y="4002655"/>
                <a:ext cx="5373617" cy="685800"/>
              </a:xfrm>
              <a:prstGeom prst="rect">
                <a:avLst/>
              </a:prstGeom>
              <a:blipFill>
                <a:blip r:embed="rId13"/>
                <a:stretch>
                  <a:fillRect b="-43636"/>
                </a:stretch>
              </a:blipFill>
            </p:spPr>
            <p:txBody>
              <a:bodyPr/>
              <a:lstStyle/>
              <a:p>
                <a:r>
                  <a:rPr lang="en-US">
                    <a:noFill/>
                  </a:rPr>
                  <a:t> </a:t>
                </a:r>
              </a:p>
            </p:txBody>
          </p:sp>
        </mc:Fallback>
      </mc:AlternateContent>
    </p:spTree>
    <p:extLst>
      <p:ext uri="{BB962C8B-B14F-4D97-AF65-F5344CB8AC3E}">
        <p14:creationId xmlns:p14="http://schemas.microsoft.com/office/powerpoint/2010/main" val="23751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par>
                                <p:cTn id="8" presetID="10" presetClass="entr" presetSubtype="0" fill="hold"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fade">
                                      <p:cBhvr>
                                        <p:cTn id="10" dur="500"/>
                                        <p:tgtEl>
                                          <p:spTgt spid="5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500"/>
                                        <p:tgtEl>
                                          <p:spTgt spid="3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fade">
                                      <p:cBhvr>
                                        <p:cTn id="16" dur="500"/>
                                        <p:tgtEl>
                                          <p:spTgt spid="4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8"/>
                                        </p:tgtEl>
                                        <p:attrNameLst>
                                          <p:attrName>style.visibility</p:attrName>
                                        </p:attrNameLst>
                                      </p:cBhvr>
                                      <p:to>
                                        <p:strVal val="visible"/>
                                      </p:to>
                                    </p:set>
                                    <p:animEffect transition="in" filter="fade">
                                      <p:cBhvr>
                                        <p:cTn id="19" dur="500"/>
                                        <p:tgtEl>
                                          <p:spTgt spid="48"/>
                                        </p:tgtEl>
                                      </p:cBhvr>
                                    </p:animEffect>
                                  </p:childTnLst>
                                </p:cTn>
                              </p:par>
                              <p:par>
                                <p:cTn id="20" presetID="10" presetClass="entr" presetSubtype="0" fill="hold" nodeType="with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fade">
                                      <p:cBhvr>
                                        <p:cTn id="22" dur="500"/>
                                        <p:tgtEl>
                                          <p:spTgt spid="6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fade">
                                      <p:cBhvr>
                                        <p:cTn id="25" dur="500"/>
                                        <p:tgtEl>
                                          <p:spTgt spid="6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72"/>
                                        </p:tgtEl>
                                        <p:attrNameLst>
                                          <p:attrName>style.visibility</p:attrName>
                                        </p:attrNameLst>
                                      </p:cBhvr>
                                      <p:to>
                                        <p:strVal val="visible"/>
                                      </p:to>
                                    </p:set>
                                    <p:animEffect transition="in" filter="fade">
                                      <p:cBhvr>
                                        <p:cTn id="30" dur="500"/>
                                        <p:tgtEl>
                                          <p:spTgt spid="72"/>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fade">
                                      <p:cBhvr>
                                        <p:cTn id="35" dur="500"/>
                                        <p:tgtEl>
                                          <p:spTgt spid="7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4"/>
                                        </p:tgtEl>
                                        <p:attrNameLst>
                                          <p:attrName>style.visibility</p:attrName>
                                        </p:attrNameLst>
                                      </p:cBhvr>
                                      <p:to>
                                        <p:strVal val="visible"/>
                                      </p:to>
                                    </p:set>
                                    <p:animEffect transition="in" filter="fade">
                                      <p:cBhvr>
                                        <p:cTn id="40" dur="500"/>
                                        <p:tgtEl>
                                          <p:spTgt spid="74"/>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fade">
                                      <p:cBhvr>
                                        <p:cTn id="45" dur="500"/>
                                        <p:tgtEl>
                                          <p:spTgt spid="75"/>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6"/>
                                        </p:tgtEl>
                                        <p:attrNameLst>
                                          <p:attrName>style.visibility</p:attrName>
                                        </p:attrNameLst>
                                      </p:cBhvr>
                                      <p:to>
                                        <p:strVal val="visible"/>
                                      </p:to>
                                    </p:set>
                                    <p:animEffect transition="in" filter="fade">
                                      <p:cBhvr>
                                        <p:cTn id="50" dur="500"/>
                                        <p:tgtEl>
                                          <p:spTgt spid="76"/>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77"/>
                                        </p:tgtEl>
                                        <p:attrNameLst>
                                          <p:attrName>style.visibility</p:attrName>
                                        </p:attrNameLst>
                                      </p:cBhvr>
                                      <p:to>
                                        <p:strVal val="visible"/>
                                      </p:to>
                                    </p:set>
                                    <p:animEffect transition="in" filter="fade">
                                      <p:cBhvr>
                                        <p:cTn id="55" dur="500"/>
                                        <p:tgtEl>
                                          <p:spTgt spid="7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78"/>
                                        </p:tgtEl>
                                        <p:attrNameLst>
                                          <p:attrName>style.visibility</p:attrName>
                                        </p:attrNameLst>
                                      </p:cBhvr>
                                      <p:to>
                                        <p:strVal val="visible"/>
                                      </p:to>
                                    </p:set>
                                    <p:animEffect transition="in" filter="fade">
                                      <p:cBhvr>
                                        <p:cTn id="60" dur="500"/>
                                        <p:tgtEl>
                                          <p:spTgt spid="7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fade">
                                      <p:cBhvr>
                                        <p:cTn id="6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5" grpId="0" animBg="1"/>
      <p:bldP spid="37" grpId="0" animBg="1"/>
      <p:bldP spid="43" grpId="0"/>
      <p:bldP spid="48" grpId="0" animBg="1"/>
      <p:bldP spid="68" grpId="0" animBg="1"/>
      <p:bldP spid="72" grpId="0"/>
      <p:bldP spid="73" grpId="0"/>
      <p:bldP spid="74" grpId="0"/>
      <p:bldP spid="75" grpId="0"/>
      <p:bldP spid="76" grpId="0" animBg="1"/>
      <p:bldP spid="77" grpId="0"/>
      <p:bldP spid="7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on a (nearly) Sorted List</a:t>
            </a:r>
          </a:p>
        </p:txBody>
      </p:sp>
      <p:sp>
        <p:nvSpPr>
          <p:cNvPr id="3" name="Content Placeholder 2"/>
          <p:cNvSpPr>
            <a:spLocks noGrp="1"/>
          </p:cNvSpPr>
          <p:nvPr>
            <p:ph idx="1"/>
          </p:nvPr>
        </p:nvSpPr>
        <p:spPr>
          <a:xfrm>
            <a:off x="2175676" y="4260851"/>
            <a:ext cx="8229600" cy="838200"/>
          </a:xfrm>
        </p:spPr>
        <p:txBody>
          <a:bodyPr/>
          <a:lstStyle/>
          <a:p>
            <a:pPr marL="0" indent="0">
              <a:buNone/>
            </a:pPr>
            <a:r>
              <a:rPr lang="en-US" dirty="0"/>
              <a:t>So we shorten by 1 each time</a:t>
            </a:r>
          </a:p>
        </p:txBody>
      </p:sp>
      <p:sp>
        <p:nvSpPr>
          <p:cNvPr id="4" name="Slide Number Placeholder 3"/>
          <p:cNvSpPr>
            <a:spLocks noGrp="1"/>
          </p:cNvSpPr>
          <p:nvPr>
            <p:ph type="sldNum" sz="quarter" idx="12"/>
          </p:nvPr>
        </p:nvSpPr>
        <p:spPr/>
        <p:txBody>
          <a:bodyPr/>
          <a:lstStyle/>
          <a:p>
            <a:fld id="{86BADE50-950A-4D58-BFB2-FA2C6A8B385D}" type="slidenum">
              <a:rPr lang="en-US" smtClean="0"/>
              <a:t>74</a:t>
            </a:fld>
            <a:endParaRPr lang="en-US"/>
          </a:p>
        </p:txBody>
      </p:sp>
      <p:grpSp>
        <p:nvGrpSpPr>
          <p:cNvPr id="5" name="Group 4"/>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 name="Rectangle 6"/>
            <p:cNvSpPr/>
            <p:nvPr/>
          </p:nvSpPr>
          <p:spPr>
            <a:xfrm>
              <a:off x="1978924"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 name="Rectangle 7"/>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 name="Rectangle 9"/>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Rectangle 10"/>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2" name="Rectangle 11"/>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Rectangle 19"/>
            <p:cNvSpPr/>
            <p:nvPr/>
          </p:nvSpPr>
          <p:spPr>
            <a:xfrm>
              <a:off x="1978924" y="2895600"/>
              <a:ext cx="533400" cy="533400"/>
            </a:xfrm>
            <a:prstGeom prst="rect">
              <a:avLst/>
            </a:prstGeom>
            <a:solidFill>
              <a:srgbClr val="FF33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1" name="Rectangle 20"/>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3" name="Rectangle 22"/>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Rectangle 23"/>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5" name="Rectangle 24"/>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8" name="Rectangle 27"/>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a:stretch>
              </a:blipFill>
            </p:spPr>
            <p:txBody>
              <a:bodyPr/>
              <a:lstStyle/>
              <a:p>
                <a:r>
                  <a:rPr lang="en-US">
                    <a:noFill/>
                  </a:rPr>
                  <a:t> </a:t>
                </a:r>
              </a:p>
            </p:txBody>
          </p:sp>
        </mc:Fallback>
      </mc:AlternateContent>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First element always yields unbalanced pivot</a:t>
            </a:r>
          </a:p>
        </p:txBody>
      </p:sp>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sSup>
                        <m:sSupPr>
                          <m:ctrlPr>
                            <a:rPr lang="en-US" sz="2800" i="1" dirty="0">
                              <a:solidFill>
                                <a:srgbClr val="FF0000"/>
                              </a:solidFill>
                              <a:latin typeface="Cambria Math" panose="02040503050406030204" pitchFamily="18" charset="0"/>
                            </a:rPr>
                          </m:ctrlPr>
                        </m:sSupPr>
                        <m:e>
                          <m:r>
                            <a:rPr lang="en-US" sz="2800" i="1" dirty="0">
                              <a:solidFill>
                                <a:srgbClr val="FF0000"/>
                              </a:solidFill>
                              <a:latin typeface="Cambria Math"/>
                            </a:rPr>
                            <m:t>𝑛</m:t>
                          </m:r>
                        </m:e>
                        <m:sup>
                          <m:r>
                            <a:rPr lang="en-US" sz="2800" i="1" dirty="0">
                              <a:solidFill>
                                <a:srgbClr val="FF0000"/>
                              </a:solidFill>
                              <a:latin typeface="Cambria Math"/>
                            </a:rPr>
                            <m:t>2</m:t>
                          </m:r>
                        </m:sup>
                      </m:sSup>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82823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Pivot</a:t>
            </a:r>
          </a:p>
        </p:txBody>
      </p:sp>
      <p:sp>
        <p:nvSpPr>
          <p:cNvPr id="3" name="Content Placeholder 2"/>
          <p:cNvSpPr>
            <a:spLocks noGrp="1"/>
          </p:cNvSpPr>
          <p:nvPr>
            <p:ph idx="1"/>
          </p:nvPr>
        </p:nvSpPr>
        <p:spPr/>
        <p:txBody>
          <a:bodyPr/>
          <a:lstStyle/>
          <a:p>
            <a:r>
              <a:rPr lang="en-US" dirty="0"/>
              <a:t>What makes a good Pivot?</a:t>
            </a:r>
          </a:p>
          <a:p>
            <a:pPr lvl="1"/>
            <a:r>
              <a:rPr lang="en-US" dirty="0"/>
              <a:t>Roughly even split between left and right</a:t>
            </a:r>
          </a:p>
          <a:p>
            <a:pPr lvl="1"/>
            <a:r>
              <a:rPr lang="en-US" dirty="0"/>
              <a:t>Ideally: median</a:t>
            </a:r>
          </a:p>
          <a:p>
            <a:r>
              <a:rPr lang="en-US" dirty="0"/>
              <a:t>There are ways to find the median in linear time, but it’s complicated and slow and you’re better off using </a:t>
            </a:r>
            <a:r>
              <a:rPr lang="en-US" dirty="0" err="1"/>
              <a:t>mergesort</a:t>
            </a:r>
            <a:endParaRPr lang="en-US" dirty="0"/>
          </a:p>
          <a:p>
            <a:r>
              <a:rPr lang="en-US" dirty="0"/>
              <a:t>In Practice:</a:t>
            </a:r>
          </a:p>
          <a:p>
            <a:pPr lvl="1"/>
            <a:r>
              <a:rPr lang="en-US" dirty="0"/>
              <a:t>Pick a random value as a pivot</a:t>
            </a:r>
          </a:p>
          <a:p>
            <a:pPr lvl="1"/>
            <a:r>
              <a:rPr lang="en-US" dirty="0"/>
              <a:t>Pick the middle of 3 random values as the pivot</a:t>
            </a:r>
          </a:p>
        </p:txBody>
      </p:sp>
      <p:sp>
        <p:nvSpPr>
          <p:cNvPr id="4" name="Slide Number Placeholder 3"/>
          <p:cNvSpPr>
            <a:spLocks noGrp="1"/>
          </p:cNvSpPr>
          <p:nvPr>
            <p:ph type="sldNum" sz="quarter" idx="12"/>
          </p:nvPr>
        </p:nvSpPr>
        <p:spPr/>
        <p:txBody>
          <a:bodyPr/>
          <a:lstStyle/>
          <a:p>
            <a:fld id="{86BADE50-950A-4D58-BFB2-FA2C6A8B385D}" type="slidenum">
              <a:rPr lang="en-US" smtClean="0"/>
              <a:t>75</a:t>
            </a:fld>
            <a:endParaRPr lang="en-US"/>
          </a:p>
        </p:txBody>
      </p:sp>
    </p:spTree>
    <p:extLst>
      <p:ext uri="{BB962C8B-B14F-4D97-AF65-F5344CB8AC3E}">
        <p14:creationId xmlns:p14="http://schemas.microsoft.com/office/powerpoint/2010/main" val="345666657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8172-18DF-BF9D-15EE-737B44C98824}"/>
              </a:ext>
            </a:extLst>
          </p:cNvPr>
          <p:cNvSpPr>
            <a:spLocks noGrp="1"/>
          </p:cNvSpPr>
          <p:nvPr>
            <p:ph type="title"/>
          </p:nvPr>
        </p:nvSpPr>
        <p:spPr/>
        <p:txBody>
          <a:bodyPr/>
          <a:lstStyle/>
          <a:p>
            <a:r>
              <a:rPr lang="en-US" dirty="0"/>
              <a:t>Properties of Quick Sort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5F1C77C-A95B-025D-AC30-3008592132B7}"/>
                  </a:ext>
                </a:extLst>
              </p:cNvPr>
              <p:cNvSpPr>
                <a:spLocks noGrp="1"/>
              </p:cNvSpPr>
              <p:nvPr>
                <p:ph idx="1"/>
              </p:nvPr>
            </p:nvSpPr>
            <p:spPr/>
            <p:txBody>
              <a:bodyPr>
                <a:normAutofit/>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US" dirty="0"/>
              </a:p>
              <a:p>
                <a:pPr lvl="1"/>
                <a:r>
                  <a:rPr lang="en-US" b="0" dirty="0"/>
                  <a:t>But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average! And typically faster than </a:t>
                </a:r>
                <a:r>
                  <a:rPr lang="en-US" dirty="0" err="1"/>
                  <a:t>mergesort</a:t>
                </a:r>
                <a:r>
                  <a:rPr lang="en-US" dirty="0"/>
                  <a:t>!</a:t>
                </a:r>
              </a:p>
              <a:p>
                <a:r>
                  <a:rPr lang="en-US" dirty="0"/>
                  <a:t>In-Place?</a:t>
                </a:r>
              </a:p>
              <a:p>
                <a:pPr lvl="1"/>
                <a:r>
                  <a:rPr lang="en-US" dirty="0"/>
                  <a:t>….Debatable</a:t>
                </a:r>
              </a:p>
              <a:p>
                <a:r>
                  <a:rPr lang="en-US" dirty="0"/>
                  <a:t>Adaptive?</a:t>
                </a:r>
              </a:p>
              <a:p>
                <a:pPr lvl="1"/>
                <a:r>
                  <a:rPr lang="en-US" dirty="0"/>
                  <a:t>No!</a:t>
                </a:r>
              </a:p>
              <a:p>
                <a:r>
                  <a:rPr lang="en-US" dirty="0"/>
                  <a:t>Stable?</a:t>
                </a:r>
              </a:p>
              <a:p>
                <a:pPr lvl="1"/>
                <a:r>
                  <a:rPr lang="en-US" dirty="0"/>
                  <a:t>No! </a:t>
                </a:r>
              </a:p>
            </p:txBody>
          </p:sp>
        </mc:Choice>
        <mc:Fallback xmlns="">
          <p:sp>
            <p:nvSpPr>
              <p:cNvPr id="3" name="Content Placeholder 2">
                <a:extLst>
                  <a:ext uri="{FF2B5EF4-FFF2-40B4-BE49-F238E27FC236}">
                    <a16:creationId xmlns:a16="http://schemas.microsoft.com/office/drawing/2014/main" id="{E5F1C77C-A95B-025D-AC30-3008592132B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3657509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72805-7B6A-7120-068C-6B36E196965B}"/>
              </a:ext>
            </a:extLst>
          </p:cNvPr>
          <p:cNvSpPr>
            <a:spLocks noGrp="1"/>
          </p:cNvSpPr>
          <p:nvPr>
            <p:ph type="title"/>
          </p:nvPr>
        </p:nvSpPr>
        <p:spPr/>
        <p:txBody>
          <a:bodyPr/>
          <a:lstStyle/>
          <a:p>
            <a:r>
              <a:rPr lang="en-US" dirty="0"/>
              <a:t>Improving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2581986-260B-F5AF-0B69-24B48EC9DC17}"/>
                  </a:ext>
                </a:extLst>
              </p:cNvPr>
              <p:cNvSpPr>
                <a:spLocks noGrp="1"/>
              </p:cNvSpPr>
              <p:nvPr>
                <p:ph idx="1"/>
              </p:nvPr>
            </p:nvSpPr>
            <p:spPr/>
            <p:txBody>
              <a:bodyPr>
                <a:normAutofit lnSpcReduction="10000"/>
              </a:bodyPr>
              <a:lstStyle/>
              <a:p>
                <a:r>
                  <a:rPr lang="en-US" dirty="0"/>
                  <a:t>Recall our definition of the sorting problem:</a:t>
                </a:r>
              </a:p>
              <a:p>
                <a:pPr lvl="1"/>
                <a:r>
                  <a:rPr lang="en-US" dirty="0"/>
                  <a:t>Input:</a:t>
                </a:r>
              </a:p>
              <a:p>
                <a:pPr lvl="2"/>
                <a:r>
                  <a:rPr lang="en-US" dirty="0"/>
                  <a:t>An array </a:t>
                </a:r>
                <a14:m>
                  <m:oMath xmlns:m="http://schemas.openxmlformats.org/officeDocument/2006/math">
                    <m:r>
                      <a:rPr lang="en-US" b="0" i="1" smtClean="0">
                        <a:latin typeface="Cambria Math" panose="02040503050406030204" pitchFamily="18" charset="0"/>
                      </a:rPr>
                      <m:t>𝐴</m:t>
                    </m:r>
                  </m:oMath>
                </a14:m>
                <a:r>
                  <a:rPr lang="en-US" dirty="0"/>
                  <a:t> of items</a:t>
                </a:r>
              </a:p>
              <a:p>
                <a:pPr lvl="2"/>
                <a:r>
                  <a:rPr lang="en-US" dirty="0"/>
                  <a:t>A comparison function for these items</a:t>
                </a:r>
              </a:p>
              <a:p>
                <a:pPr lvl="3"/>
                <a:r>
                  <a:rPr lang="en-US" dirty="0"/>
                  <a:t>Given two items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 we can determine whether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&lt;</m:t>
                    </m:r>
                    <m:r>
                      <a:rPr lang="en-US" b="0" i="1" smtClean="0">
                        <a:latin typeface="Cambria Math" panose="02040503050406030204" pitchFamily="18" charset="0"/>
                      </a:rPr>
                      <m:t>𝑦</m:t>
                    </m:r>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𝑦</m:t>
                    </m:r>
                  </m:oMath>
                </a14:m>
                <a:r>
                  <a:rPr lang="en-US" dirty="0"/>
                  <a:t>, or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a:p>
                <a:pPr lvl="1"/>
                <a:r>
                  <a:rPr lang="en-US" dirty="0"/>
                  <a:t>Output:</a:t>
                </a:r>
              </a:p>
              <a:p>
                <a:pPr lvl="2"/>
                <a:r>
                  <a:rPr lang="en-US" dirty="0"/>
                  <a:t>A permutation of </a:t>
                </a:r>
                <a14:m>
                  <m:oMath xmlns:m="http://schemas.openxmlformats.org/officeDocument/2006/math">
                    <m:r>
                      <a:rPr lang="en-US" b="0" i="1" smtClean="0">
                        <a:latin typeface="Cambria Math" panose="02040503050406030204" pitchFamily="18" charset="0"/>
                      </a:rPr>
                      <m:t>𝐴</m:t>
                    </m:r>
                  </m:oMath>
                </a14:m>
                <a:r>
                  <a:rPr lang="en-US" dirty="0"/>
                  <a:t> such that if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r>
                  <a:rPr lang="en-US" dirty="0"/>
                  <a:t> then </a:t>
                </a:r>
                <a14:m>
                  <m:oMath xmlns:m="http://schemas.openxmlformats.org/officeDocument/2006/math">
                    <m:r>
                      <a:rPr lang="en-US" b="0" i="1" smtClean="0">
                        <a:latin typeface="Cambria Math" panose="02040503050406030204" pitchFamily="18" charset="0"/>
                      </a:rPr>
                      <m:t>𝐴</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e>
                    </m:d>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endParaRPr lang="en-US" dirty="0"/>
              </a:p>
              <a:p>
                <a:r>
                  <a:rPr lang="en-US" dirty="0"/>
                  <a:t>Under this definition, it is impossible to write an algorithm faster than </a:t>
                </a:r>
                <a14:m>
                  <m:oMath xmlns:m="http://schemas.openxmlformats.org/officeDocument/2006/math">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oMath>
                </a14:m>
                <a:r>
                  <a:rPr lang="en-US" dirty="0"/>
                  <a:t> asymptotically.</a:t>
                </a:r>
              </a:p>
              <a:p>
                <a:r>
                  <a:rPr lang="en-US" dirty="0"/>
                  <a:t>Observation:</a:t>
                </a:r>
              </a:p>
              <a:p>
                <a:pPr lvl="1"/>
                <a:r>
                  <a:rPr lang="en-US" dirty="0"/>
                  <a:t>Sometimes there might be ways to determine the position of values without comparisons!</a:t>
                </a:r>
              </a:p>
              <a:p>
                <a:pPr lvl="1"/>
                <a:endParaRPr lang="en-US" dirty="0"/>
              </a:p>
              <a:p>
                <a:pPr lvl="1"/>
                <a:endParaRPr lang="en-US" dirty="0"/>
              </a:p>
            </p:txBody>
          </p:sp>
        </mc:Choice>
        <mc:Fallback xmlns="">
          <p:sp>
            <p:nvSpPr>
              <p:cNvPr id="3" name="Content Placeholder 2">
                <a:extLst>
                  <a:ext uri="{FF2B5EF4-FFF2-40B4-BE49-F238E27FC236}">
                    <a16:creationId xmlns:a16="http://schemas.microsoft.com/office/drawing/2014/main" id="{32581986-260B-F5AF-0B69-24B48EC9DC17}"/>
                  </a:ext>
                </a:extLst>
              </p:cNvPr>
              <p:cNvSpPr>
                <a:spLocks noGrp="1" noRot="1" noChangeAspect="1" noMove="1" noResize="1" noEditPoints="1" noAdjustHandles="1" noChangeArrowheads="1" noChangeShapeType="1" noTextEdit="1"/>
              </p:cNvSpPr>
              <p:nvPr>
                <p:ph idx="1"/>
              </p:nvPr>
            </p:nvSpPr>
            <p:spPr>
              <a:blipFill>
                <a:blip r:embed="rId2"/>
                <a:stretch>
                  <a:fillRect l="-1043" t="-3081" r="-1565" b="-1681"/>
                </a:stretch>
              </a:blipFill>
            </p:spPr>
            <p:txBody>
              <a:bodyPr/>
              <a:lstStyle/>
              <a:p>
                <a:r>
                  <a:rPr lang="en-US">
                    <a:noFill/>
                  </a:rPr>
                  <a:t> </a:t>
                </a:r>
              </a:p>
            </p:txBody>
          </p:sp>
        </mc:Fallback>
      </mc:AlternateContent>
    </p:spTree>
    <p:extLst>
      <p:ext uri="{BB962C8B-B14F-4D97-AF65-F5344CB8AC3E}">
        <p14:creationId xmlns:p14="http://schemas.microsoft.com/office/powerpoint/2010/main" val="1287405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35780</TotalTime>
  <Words>5969</Words>
  <Application>Microsoft Office PowerPoint</Application>
  <PresentationFormat>Widescreen</PresentationFormat>
  <Paragraphs>1986</Paragraphs>
  <Slides>77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77</vt:i4>
      </vt:variant>
    </vt:vector>
  </HeadingPairs>
  <TitlesOfParts>
    <vt:vector size="85" baseType="lpstr">
      <vt:lpstr>Calibri</vt:lpstr>
      <vt:lpstr>Cambria Math</vt:lpstr>
      <vt:lpstr>Arial</vt:lpstr>
      <vt:lpstr>Aptos</vt:lpstr>
      <vt:lpstr>Consolas</vt:lpstr>
      <vt:lpstr>Symbol</vt:lpstr>
      <vt:lpstr>Calibri Light</vt:lpstr>
      <vt:lpstr>Office Theme</vt:lpstr>
      <vt:lpstr>CSE 332 Winter 2026 Lecture 12: Sorting</vt:lpstr>
      <vt:lpstr>Collision Resolution</vt:lpstr>
      <vt:lpstr>Collision Resolution: Linear Probing</vt:lpstr>
      <vt:lpstr>Linear Probing: Insert Procedure</vt:lpstr>
      <vt:lpstr>Linear Probing: How to find?</vt:lpstr>
      <vt:lpstr>Linear Probing: Find</vt:lpstr>
      <vt:lpstr>Linear Probing: Delete is Hard (Example 1)</vt:lpstr>
      <vt:lpstr>Linear Probing: Delete is Hard (Example 2)</vt:lpstr>
      <vt:lpstr>Linear Probing: Delete is Hard (Example 3)</vt:lpstr>
      <vt:lpstr>Linear Probing: Delete</vt:lpstr>
      <vt:lpstr>Linear Probing + Tombstone: Find</vt:lpstr>
      <vt:lpstr>Linear Probing + Tombstone: Insert</vt:lpstr>
      <vt:lpstr>Downsides of Linear Probing</vt:lpstr>
      <vt:lpstr>Quadratic Probing: Insert Procedure</vt:lpstr>
      <vt:lpstr>Quadratic Probing: Example</vt:lpstr>
      <vt:lpstr>Using Quadratic Probing</vt:lpstr>
      <vt:lpstr>Double Hashing: Insert Procedure</vt:lpstr>
      <vt:lpstr>Rehashing</vt:lpstr>
      <vt:lpstr>Sorting</vt:lpstr>
      <vt:lpstr>More Formal Definition</vt:lpstr>
      <vt:lpstr>Sorting “Landscape”</vt:lpstr>
      <vt:lpstr>Insertion Sort</vt:lpstr>
      <vt:lpstr>Insertion Sort</vt:lpstr>
      <vt:lpstr>Aside: Bubble Sort – we won’t cover it</vt:lpstr>
      <vt:lpstr>Heap Sort</vt:lpstr>
      <vt:lpstr>Building a Heap From “Scratch”</vt:lpstr>
      <vt:lpstr>Floyd’s buildHeap method</vt:lpstr>
      <vt:lpstr>Floyd’s buildHeap method (Percolate 15) </vt:lpstr>
      <vt:lpstr>Floyd’s buildHeap method (Percolate 3) </vt:lpstr>
      <vt:lpstr>Floyd’s buildHeap method (Percolate 10) </vt:lpstr>
      <vt:lpstr>Floyd’s buildHeap method (Percolate 6) </vt:lpstr>
      <vt:lpstr>Floyd’s buildHeap method (Percolate 5) </vt:lpstr>
      <vt:lpstr>Floyd’s buildHeap method (Done)</vt:lpstr>
      <vt:lpstr>How long did this take?</vt:lpstr>
      <vt:lpstr>How long did this take? (Answers)</vt:lpstr>
      <vt:lpstr>Heap Sort (Example)</vt:lpstr>
      <vt:lpstr>Heap Sort (First Extract)</vt:lpstr>
      <vt:lpstr>Heap Sort (Percolate Down, Swap 1)</vt:lpstr>
      <vt:lpstr>Heap Sort (Percolate Down, Swap 2)</vt:lpstr>
      <vt:lpstr>Heap Sort (Percolate Down, Swap 2)</vt:lpstr>
      <vt:lpstr>Heap Sort - Summary</vt:lpstr>
      <vt:lpstr>“In Place” Sorting Algorithm</vt:lpstr>
      <vt:lpstr>In Place Heap Sort</vt:lpstr>
      <vt:lpstr>Heap Sort (First Extract)</vt:lpstr>
      <vt:lpstr>Heap Sort (First Percolate Down)</vt:lpstr>
      <vt:lpstr>Heap Sort</vt:lpstr>
      <vt:lpstr>Heap Sort</vt:lpstr>
      <vt:lpstr>Heap Sort</vt:lpstr>
      <vt:lpstr>Heap Sort</vt:lpstr>
      <vt:lpstr>In Place Heap Sort - Summary</vt:lpstr>
      <vt:lpstr>Divide And Conquer Sorting</vt:lpstr>
      <vt:lpstr>Divide and Conquer</vt:lpstr>
      <vt:lpstr>Divide and Conquer Template Pseudocode</vt:lpstr>
      <vt:lpstr>Merge Sort</vt:lpstr>
      <vt:lpstr>Merge Sort In Action!</vt:lpstr>
      <vt:lpstr>Merge (the combine part)</vt:lpstr>
      <vt:lpstr>Merge Sort Pseudocode</vt:lpstr>
      <vt:lpstr>Merge Pseudocode</vt:lpstr>
      <vt:lpstr>Analyzing Merge Sort</vt:lpstr>
      <vt:lpstr>PowerPoint Presentation</vt:lpstr>
      <vt:lpstr>Properties of Merge Sort</vt:lpstr>
      <vt:lpstr>Quicksort</vt:lpstr>
      <vt:lpstr>Quicksort</vt:lpstr>
      <vt:lpstr>Partition (Divide step)</vt:lpstr>
      <vt:lpstr>Partition, Procedure</vt:lpstr>
      <vt:lpstr>PowerPoint Presentation</vt:lpstr>
      <vt:lpstr>Partition, Procedure</vt:lpstr>
      <vt:lpstr>Partition, Procedure</vt:lpstr>
      <vt:lpstr>Partition Summary</vt:lpstr>
      <vt:lpstr>Conquer</vt:lpstr>
      <vt:lpstr>Quicksort Run Time (Best)</vt:lpstr>
      <vt:lpstr>Quicksort Run Time (Worst)</vt:lpstr>
      <vt:lpstr>Quicksort Run Time (Worst)</vt:lpstr>
      <vt:lpstr>Quicksort on a (nearly) Sorted List</vt:lpstr>
      <vt:lpstr>Good Pivot</vt:lpstr>
      <vt:lpstr>Properties of Quick Sort</vt:lpstr>
      <vt:lpstr>Improving Running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153</cp:revision>
  <dcterms:created xsi:type="dcterms:W3CDTF">2023-09-26T20:08:20Z</dcterms:created>
  <dcterms:modified xsi:type="dcterms:W3CDTF">2026-04-23T22:15:14Z</dcterms:modified>
</cp:coreProperties>
</file>