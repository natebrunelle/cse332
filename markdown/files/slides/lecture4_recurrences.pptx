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5"/>
  </p:notesMasterIdLst>
  <p:sldIdLst>
    <p:sldId id="257" r:id="rId4"/>
    <p:sldId id="426" r:id="rId5"/>
    <p:sldId id="453" r:id="rId6"/>
    <p:sldId id="306" r:id="rId7"/>
    <p:sldId id="307" r:id="rId8"/>
    <p:sldId id="455" r:id="rId9"/>
    <p:sldId id="407" r:id="rId10"/>
    <p:sldId id="456" r:id="rId11"/>
    <p:sldId id="457" r:id="rId12"/>
    <p:sldId id="385" r:id="rId13"/>
    <p:sldId id="458" r:id="rId14"/>
    <p:sldId id="465" r:id="rId15"/>
    <p:sldId id="466" r:id="rId16"/>
    <p:sldId id="459" r:id="rId17"/>
    <p:sldId id="460" r:id="rId18"/>
    <p:sldId id="461" r:id="rId19"/>
    <p:sldId id="462" r:id="rId20"/>
    <p:sldId id="463" r:id="rId21"/>
    <p:sldId id="464" r:id="rId22"/>
    <p:sldId id="358" r:id="rId23"/>
    <p:sldId id="3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4-06-26T17:24:58.058"/>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AFC52-F46C-4845-B64D-0DCC1AECCCC6}"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7389-0441-4D4C-B013-3AC3B336705E}" type="slidenum">
              <a:rPr lang="en-US" smtClean="0"/>
              <a:t>‹#›</a:t>
            </a:fld>
            <a:endParaRPr lang="en-US"/>
          </a:p>
        </p:txBody>
      </p:sp>
    </p:spTree>
    <p:extLst>
      <p:ext uri="{BB962C8B-B14F-4D97-AF65-F5344CB8AC3E}">
        <p14:creationId xmlns:p14="http://schemas.microsoft.com/office/powerpoint/2010/main" val="20803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1</a:t>
            </a:fld>
            <a:endParaRPr lang="en-US"/>
          </a:p>
        </p:txBody>
      </p:sp>
    </p:spTree>
    <p:extLst>
      <p:ext uri="{BB962C8B-B14F-4D97-AF65-F5344CB8AC3E}">
        <p14:creationId xmlns:p14="http://schemas.microsoft.com/office/powerpoint/2010/main" val="3432767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21</a:t>
            </a:fld>
            <a:endParaRPr lang="en-US"/>
          </a:p>
        </p:txBody>
      </p:sp>
    </p:spTree>
    <p:extLst>
      <p:ext uri="{BB962C8B-B14F-4D97-AF65-F5344CB8AC3E}">
        <p14:creationId xmlns:p14="http://schemas.microsoft.com/office/powerpoint/2010/main" val="401811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EDFD-05A3-AB2C-28EA-1F10E5D21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A4A9E-A38E-8FAD-4725-63270224C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024BA-3F6E-B600-8DEF-F5B8815AD09E}"/>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5" name="Footer Placeholder 4">
            <a:extLst>
              <a:ext uri="{FF2B5EF4-FFF2-40B4-BE49-F238E27FC236}">
                <a16:creationId xmlns:a16="http://schemas.microsoft.com/office/drawing/2014/main" id="{65D1B921-02AB-A8AB-A0C8-655556AFE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ED915-48D5-56D7-32CC-399EFE7FE2F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49938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38B-CB5A-B13E-F5D7-2DA1A6B917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E2621-C1D2-6EA5-9C00-AD4D21D63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B215E-AE4B-9861-F145-FDA28262E9E0}"/>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5" name="Footer Placeholder 4">
            <a:extLst>
              <a:ext uri="{FF2B5EF4-FFF2-40B4-BE49-F238E27FC236}">
                <a16:creationId xmlns:a16="http://schemas.microsoft.com/office/drawing/2014/main" id="{CAAEC039-B059-ECCC-530A-3AB6CB0A1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BEA18-99AF-5466-77A2-2ED025B81CA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41158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553B-F670-1604-5051-C69575AB0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F92DB-5E7F-F49E-F5A2-4CD71172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1753E-851C-6254-0D25-2F887273D52F}"/>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5" name="Footer Placeholder 4">
            <a:extLst>
              <a:ext uri="{FF2B5EF4-FFF2-40B4-BE49-F238E27FC236}">
                <a16:creationId xmlns:a16="http://schemas.microsoft.com/office/drawing/2014/main" id="{FB9E8AB3-1264-7FDE-D829-8552CB0E7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85CDF-C478-A7EF-68E9-A9B03181DF49}"/>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33369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4F7-D59E-B01A-8BD5-00384E223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F09C-F9B9-2C50-7C6F-29C125516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1A614B-6667-7695-5A04-2F636199B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CB1E8-E8EC-EC48-AC56-00B0294D4ECF}"/>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6" name="Footer Placeholder 5">
            <a:extLst>
              <a:ext uri="{FF2B5EF4-FFF2-40B4-BE49-F238E27FC236}">
                <a16:creationId xmlns:a16="http://schemas.microsoft.com/office/drawing/2014/main" id="{96E72EA3-CE48-C170-7657-2D913ED3E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36BE-3261-CE4F-7435-03969F8ED2AF}"/>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85854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65F-128C-5F4B-4E20-D385D2B40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4B8912-9AF9-E09C-E9BF-C1A235440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17D6C8-55A2-957D-7F4E-CC7BCF01E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7549B-8BC6-6148-ACAA-049554DFE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610D-E8FB-B2C8-5980-6848B27C4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98579-8216-620D-1649-3AF68889B180}"/>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8" name="Footer Placeholder 7">
            <a:extLst>
              <a:ext uri="{FF2B5EF4-FFF2-40B4-BE49-F238E27FC236}">
                <a16:creationId xmlns:a16="http://schemas.microsoft.com/office/drawing/2014/main" id="{EA47186D-AE3C-BCC2-5CC7-DFDB1E9C0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3C042-93EE-DFEB-EB11-59AE48DBB3A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83948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93B1-B34F-DEF0-36F0-9044F5D7D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52A602-329F-B48E-59DF-A750E7867E6A}"/>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4" name="Footer Placeholder 3">
            <a:extLst>
              <a:ext uri="{FF2B5EF4-FFF2-40B4-BE49-F238E27FC236}">
                <a16:creationId xmlns:a16="http://schemas.microsoft.com/office/drawing/2014/main" id="{4583EDF7-DE2E-A73E-8F31-9D5E4D89C8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12E61-B33E-641F-586B-715580997B5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66099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244B7-1B24-A316-4AE0-092CD30B907E}"/>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3" name="Footer Placeholder 2">
            <a:extLst>
              <a:ext uri="{FF2B5EF4-FFF2-40B4-BE49-F238E27FC236}">
                <a16:creationId xmlns:a16="http://schemas.microsoft.com/office/drawing/2014/main" id="{BDAF25EA-9B44-0E03-1033-8525546E0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25D09-469B-22B7-3367-45C141A2FC67}"/>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1745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B2F-B9E6-9510-4D05-E3D54924E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FE975-5B17-DA24-6CEB-DC943E8B8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5A351-A381-B7DE-629A-344A1879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DD2EF-7CF7-DD3F-F641-183E8B2BF12C}"/>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6" name="Footer Placeholder 5">
            <a:extLst>
              <a:ext uri="{FF2B5EF4-FFF2-40B4-BE49-F238E27FC236}">
                <a16:creationId xmlns:a16="http://schemas.microsoft.com/office/drawing/2014/main" id="{F7F85405-E07D-ACE1-4750-3CCE6C35E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E168D-7644-1D4C-5394-64379655537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5917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801B-B60C-BB23-B536-10DDE66CB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6861CE-32FE-1378-773F-41832B9FF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2144C-D26D-D14D-26EE-59C3FC1E5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EF677-D138-7015-213C-2BB3F4A73865}"/>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6" name="Footer Placeholder 5">
            <a:extLst>
              <a:ext uri="{FF2B5EF4-FFF2-40B4-BE49-F238E27FC236}">
                <a16:creationId xmlns:a16="http://schemas.microsoft.com/office/drawing/2014/main" id="{29F190E5-FB64-35C9-62D3-131BE3315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729FB-47F6-106B-7BD5-F0203103642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2615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187-FA0C-1996-5F4B-01C6D21DC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C32157-1E29-206A-A4D1-E079FFF5CF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D6E6-27DC-9868-8ED6-B497F6664AE8}"/>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5" name="Footer Placeholder 4">
            <a:extLst>
              <a:ext uri="{FF2B5EF4-FFF2-40B4-BE49-F238E27FC236}">
                <a16:creationId xmlns:a16="http://schemas.microsoft.com/office/drawing/2014/main" id="{8E4E3647-A949-3CDF-67EE-AB590EDCA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DF69-C102-21BC-88B3-80F4E212C8D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91613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C123A-D9AF-475A-C065-C2FA159642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27EB4-E58B-3FD3-E171-2FF9248A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EA4642-AEF9-1A45-F614-49CABD0DF3C2}"/>
              </a:ext>
            </a:extLst>
          </p:cNvPr>
          <p:cNvSpPr>
            <a:spLocks noGrp="1"/>
          </p:cNvSpPr>
          <p:nvPr>
            <p:ph type="dt" sz="half" idx="10"/>
          </p:nvPr>
        </p:nvSpPr>
        <p:spPr/>
        <p:txBody>
          <a:bodyPr/>
          <a:lstStyle/>
          <a:p>
            <a:fld id="{3CFB5B7B-F51D-4CAE-B141-34246E39C0D6}" type="datetimeFigureOut">
              <a:rPr lang="en-US" smtClean="0"/>
              <a:t>6/28/2026</a:t>
            </a:fld>
            <a:endParaRPr lang="en-US"/>
          </a:p>
        </p:txBody>
      </p:sp>
      <p:sp>
        <p:nvSpPr>
          <p:cNvPr id="5" name="Footer Placeholder 4">
            <a:extLst>
              <a:ext uri="{FF2B5EF4-FFF2-40B4-BE49-F238E27FC236}">
                <a16:creationId xmlns:a16="http://schemas.microsoft.com/office/drawing/2014/main" id="{9CA41C59-45AB-EDDF-36FA-E3E263F9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E2C6A-7AA0-08EE-B17B-CA0D2FF9EF9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235872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29756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6514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4765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76304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023494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255071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65021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965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764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06153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6/28/2026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3712646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C28AD1-28C6-4DBC-B0D5-638143145F9E}"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33188545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714055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C28AD1-28C6-4DBC-B0D5-638143145F9E}"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6664973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C28AD1-28C6-4DBC-B0D5-638143145F9E}"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57164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C28AD1-28C6-4DBC-B0D5-638143145F9E}"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535578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C28AD1-28C6-4DBC-B0D5-638143145F9E}"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2179823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C28AD1-28C6-4DBC-B0D5-638143145F9E}"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476460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3249113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41477908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339690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67568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7B289-BD5E-5EED-C530-FE49EC1FB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5310A-CDE1-6296-A6C7-FAD4EBB46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30977-A77A-05DC-ACE8-6F1D91538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FB5B7B-F51D-4CAE-B141-34246E39C0D6}" type="datetimeFigureOut">
              <a:rPr lang="en-US" smtClean="0"/>
              <a:t>6/28/2026</a:t>
            </a:fld>
            <a:endParaRPr lang="en-US"/>
          </a:p>
        </p:txBody>
      </p:sp>
      <p:sp>
        <p:nvSpPr>
          <p:cNvPr id="5" name="Footer Placeholder 4">
            <a:extLst>
              <a:ext uri="{FF2B5EF4-FFF2-40B4-BE49-F238E27FC236}">
                <a16:creationId xmlns:a16="http://schemas.microsoft.com/office/drawing/2014/main" id="{16EC77BE-A1DA-9A34-23FB-D1B3BF2A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EA4270-8225-31C5-8BCA-531C6C5C8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7764-5149-49EB-A53E-E807869452CC}" type="slidenum">
              <a:rPr lang="en-US" smtClean="0"/>
              <a:t>‹#›</a:t>
            </a:fld>
            <a:endParaRPr lang="en-US"/>
          </a:p>
        </p:txBody>
      </p:sp>
    </p:spTree>
    <p:extLst>
      <p:ext uri="{BB962C8B-B14F-4D97-AF65-F5344CB8AC3E}">
        <p14:creationId xmlns:p14="http://schemas.microsoft.com/office/powerpoint/2010/main" val="2042159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6/28/2026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1859234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C28AD1-28C6-4DBC-B0D5-638143145F9E}" type="datetimeFigureOut">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E8603E-186F-4CC7-B8E2-5FD613D3E28C}" type="slidenum">
              <a:rPr lang="en-US" smtClean="0"/>
              <a:t>‹#›</a:t>
            </a:fld>
            <a:endParaRPr lang="en-US"/>
          </a:p>
        </p:txBody>
      </p:sp>
    </p:spTree>
    <p:extLst>
      <p:ext uri="{BB962C8B-B14F-4D97-AF65-F5344CB8AC3E}">
        <p14:creationId xmlns:p14="http://schemas.microsoft.com/office/powerpoint/2010/main" val="37734136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w.edu/332/files/slides/lecture4_recurrences.pd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www.cs.uw.edu/332/files/slides/lecture4_recurrences.pptx"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400.png"/><Relationship Id="rId7"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17.xml"/><Relationship Id="rId6" Type="http://schemas.openxmlformats.org/officeDocument/2006/relationships/image" Target="../media/image171.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50.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7.png"/><Relationship Id="rId3" Type="http://schemas.openxmlformats.org/officeDocument/2006/relationships/image" Target="../media/image411.png"/><Relationship Id="rId7" Type="http://schemas.openxmlformats.org/officeDocument/2006/relationships/image" Target="../media/image8.png"/><Relationship Id="rId12"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710.png"/><Relationship Id="rId11" Type="http://schemas.openxmlformats.org/officeDocument/2006/relationships/image" Target="../media/image12.png"/><Relationship Id="rId5" Type="http://schemas.openxmlformats.org/officeDocument/2006/relationships/image" Target="../media/image612.png"/><Relationship Id="rId10" Type="http://schemas.openxmlformats.org/officeDocument/2006/relationships/image" Target="../media/image11.png"/><Relationship Id="rId4" Type="http://schemas.openxmlformats.org/officeDocument/2006/relationships/image" Target="../media/image510.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customXml" Target="../ink/ink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70.png"/><Relationship Id="rId1" Type="http://schemas.openxmlformats.org/officeDocument/2006/relationships/slideLayout" Target="../slideLayouts/slideLayout17.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8.png"/></Relationships>
</file>

<file path=ppt/slides/_rels/slide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17.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s>
</file>

<file path=ppt/slides/_rels/slide16.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18" Type="http://schemas.openxmlformats.org/officeDocument/2006/relationships/image" Target="../media/image105.png"/><Relationship Id="rId26" Type="http://schemas.openxmlformats.org/officeDocument/2006/relationships/image" Target="../media/image113.png"/><Relationship Id="rId3" Type="http://schemas.openxmlformats.org/officeDocument/2006/relationships/image" Target="../media/image90.png"/><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104.png"/><Relationship Id="rId25" Type="http://schemas.openxmlformats.org/officeDocument/2006/relationships/image" Target="../media/image112.png"/><Relationship Id="rId2" Type="http://schemas.openxmlformats.org/officeDocument/2006/relationships/image" Target="../media/image89.png"/><Relationship Id="rId16" Type="http://schemas.openxmlformats.org/officeDocument/2006/relationships/image" Target="../media/image103.png"/><Relationship Id="rId20" Type="http://schemas.openxmlformats.org/officeDocument/2006/relationships/image" Target="../media/image107.png"/><Relationship Id="rId29" Type="http://schemas.openxmlformats.org/officeDocument/2006/relationships/image" Target="../media/image116.png"/><Relationship Id="rId1" Type="http://schemas.openxmlformats.org/officeDocument/2006/relationships/slideLayout" Target="../slideLayouts/slideLayout17.xml"/><Relationship Id="rId6" Type="http://schemas.openxmlformats.org/officeDocument/2006/relationships/image" Target="../media/image93.png"/><Relationship Id="rId11" Type="http://schemas.openxmlformats.org/officeDocument/2006/relationships/image" Target="../media/image98.png"/><Relationship Id="rId24" Type="http://schemas.openxmlformats.org/officeDocument/2006/relationships/image" Target="../media/image111.png"/><Relationship Id="rId5" Type="http://schemas.openxmlformats.org/officeDocument/2006/relationships/image" Target="../media/image92.png"/><Relationship Id="rId15" Type="http://schemas.openxmlformats.org/officeDocument/2006/relationships/image" Target="../media/image102.png"/><Relationship Id="rId23" Type="http://schemas.openxmlformats.org/officeDocument/2006/relationships/image" Target="../media/image110.png"/><Relationship Id="rId28" Type="http://schemas.openxmlformats.org/officeDocument/2006/relationships/image" Target="../media/image115.png"/><Relationship Id="rId10" Type="http://schemas.openxmlformats.org/officeDocument/2006/relationships/image" Target="../media/image97.png"/><Relationship Id="rId19" Type="http://schemas.openxmlformats.org/officeDocument/2006/relationships/image" Target="../media/image106.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22" Type="http://schemas.openxmlformats.org/officeDocument/2006/relationships/image" Target="../media/image109.png"/><Relationship Id="rId27" Type="http://schemas.openxmlformats.org/officeDocument/2006/relationships/image" Target="../media/image114.png"/><Relationship Id="rId30" Type="http://schemas.openxmlformats.org/officeDocument/2006/relationships/image" Target="../media/image1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51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18" Type="http://schemas.openxmlformats.org/officeDocument/2006/relationships/image" Target="../media/image135.png"/><Relationship Id="rId26" Type="http://schemas.openxmlformats.org/officeDocument/2006/relationships/image" Target="../media/image143.pn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pn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image" Target="../media/image119.png"/><Relationship Id="rId16" Type="http://schemas.openxmlformats.org/officeDocument/2006/relationships/image" Target="../media/image133.png"/><Relationship Id="rId20" Type="http://schemas.openxmlformats.org/officeDocument/2006/relationships/image" Target="../media/image137.png"/><Relationship Id="rId29" Type="http://schemas.openxmlformats.org/officeDocument/2006/relationships/image" Target="../media/image146.png"/><Relationship Id="rId1" Type="http://schemas.openxmlformats.org/officeDocument/2006/relationships/slideLayout" Target="../slideLayouts/slideLayout17.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1.pn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png"/><Relationship Id="rId10" Type="http://schemas.openxmlformats.org/officeDocument/2006/relationships/image" Target="../media/image127.png"/><Relationship Id="rId19" Type="http://schemas.openxmlformats.org/officeDocument/2006/relationships/image" Target="../media/image136.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s>
</file>

<file path=ppt/slides/_rels/slide1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6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49.png"/><Relationship Id="rId1" Type="http://schemas.openxmlformats.org/officeDocument/2006/relationships/slideLayout" Target="../slideLayouts/slideLayout24.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s>
</file>

<file path=ppt/slides/_rels/slide21.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60.png"/><Relationship Id="rId7" Type="http://schemas.openxmlformats.org/officeDocument/2006/relationships/image" Target="../media/image153.png"/><Relationship Id="rId12" Type="http://schemas.openxmlformats.org/officeDocument/2006/relationships/image" Target="../media/image159.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152.png"/><Relationship Id="rId11" Type="http://schemas.openxmlformats.org/officeDocument/2006/relationships/image" Target="../media/image158.png"/><Relationship Id="rId5" Type="http://schemas.openxmlformats.org/officeDocument/2006/relationships/image" Target="../media/image155.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CSE 332 Summer 2026</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Lecture 4: Recurrences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a:xfrm>
            <a:off x="1524000" y="3602038"/>
            <a:ext cx="9144000" cy="2581048"/>
          </a:xfrm>
        </p:spPr>
        <p:txBody>
          <a:bodyPr>
            <a:normAutofit/>
          </a:bodyPr>
          <a:lstStyle/>
          <a:p>
            <a:r>
              <a:rPr lang="en-US" dirty="0"/>
              <a:t>Nathan Brunelle</a:t>
            </a:r>
          </a:p>
          <a:p>
            <a:endParaRPr lang="en-US" dirty="0"/>
          </a:p>
          <a:p>
            <a:r>
              <a:rPr lang="en-US" dirty="0">
                <a:hlinkClick r:id="rId3"/>
              </a:rPr>
              <a:t>http://www.cs.uw.edu/332/files/slides/lecture4_recurrences.pdf</a:t>
            </a:r>
            <a:endParaRPr lang="en-US" dirty="0"/>
          </a:p>
          <a:p>
            <a:endParaRPr lang="en-US" dirty="0"/>
          </a:p>
          <a:p>
            <a:r>
              <a:rPr lang="en-US" dirty="0">
                <a:hlinkClick r:id="rId4"/>
              </a:rPr>
              <a:t>http://www.cs.uw.edu/332/files/slides/lecture4_recurrences.pptx</a:t>
            </a:r>
            <a:endParaRPr lang="en-US" dirty="0"/>
          </a:p>
          <a:p>
            <a:endParaRPr lang="en-US" dirty="0"/>
          </a:p>
        </p:txBody>
      </p:sp>
      <p:pic>
        <p:nvPicPr>
          <p:cNvPr id="6" name="Picture 5" descr="QR Code">
            <a:extLst>
              <a:ext uri="{FF2B5EF4-FFF2-40B4-BE49-F238E27FC236}">
                <a16:creationId xmlns:a16="http://schemas.microsoft.com/office/drawing/2014/main" id="{6E682CA2-8674-E9D5-DE51-BF917658552E}"/>
              </a:ext>
            </a:extLst>
          </p:cNvPr>
          <p:cNvPicPr>
            <a:picLocks noChangeAspect="1"/>
          </p:cNvPicPr>
          <p:nvPr/>
        </p:nvPicPr>
        <p:blipFill>
          <a:blip r:embed="rId5"/>
          <a:stretch>
            <a:fillRect/>
          </a:stretch>
        </p:blipFill>
        <p:spPr>
          <a:xfrm>
            <a:off x="10668000" y="3599339"/>
            <a:ext cx="1293223" cy="1293223"/>
          </a:xfrm>
          <a:prstGeom prst="rect">
            <a:avLst/>
          </a:prstGeom>
        </p:spPr>
      </p:pic>
      <p:pic>
        <p:nvPicPr>
          <p:cNvPr id="7" name="Picture 6" descr="QR Code">
            <a:extLst>
              <a:ext uri="{FF2B5EF4-FFF2-40B4-BE49-F238E27FC236}">
                <a16:creationId xmlns:a16="http://schemas.microsoft.com/office/drawing/2014/main" id="{2289965A-634E-5063-A665-28E43A1D2781}"/>
              </a:ext>
            </a:extLst>
          </p:cNvPr>
          <p:cNvPicPr>
            <a:picLocks noChangeAspect="1"/>
          </p:cNvPicPr>
          <p:nvPr/>
        </p:nvPicPr>
        <p:blipFill>
          <a:blip r:embed="rId6"/>
          <a:stretch>
            <a:fillRect/>
          </a:stretch>
        </p:blipFill>
        <p:spPr>
          <a:xfrm>
            <a:off x="10668000" y="5436848"/>
            <a:ext cx="1293223" cy="1293223"/>
          </a:xfrm>
          <a:prstGeom prst="rect">
            <a:avLst/>
          </a:prstGeom>
        </p:spPr>
      </p:pic>
      <p:sp>
        <p:nvSpPr>
          <p:cNvPr id="8" name="TextBox 7">
            <a:extLst>
              <a:ext uri="{FF2B5EF4-FFF2-40B4-BE49-F238E27FC236}">
                <a16:creationId xmlns:a16="http://schemas.microsoft.com/office/drawing/2014/main" id="{DCC9997A-BC18-52D8-E7E5-B40DB156A8F4}"/>
              </a:ext>
            </a:extLst>
          </p:cNvPr>
          <p:cNvSpPr txBox="1"/>
          <p:nvPr/>
        </p:nvSpPr>
        <p:spPr>
          <a:xfrm>
            <a:off x="10739774" y="3258661"/>
            <a:ext cx="1149674" cy="369332"/>
          </a:xfrm>
          <a:prstGeom prst="rect">
            <a:avLst/>
          </a:prstGeom>
          <a:noFill/>
        </p:spPr>
        <p:txBody>
          <a:bodyPr wrap="none" rtlCol="0">
            <a:spAutoFit/>
          </a:bodyPr>
          <a:lstStyle/>
          <a:p>
            <a:r>
              <a:rPr lang="en-US" dirty="0"/>
              <a:t>pdf slides</a:t>
            </a:r>
          </a:p>
        </p:txBody>
      </p:sp>
      <p:sp>
        <p:nvSpPr>
          <p:cNvPr id="9" name="TextBox 8">
            <a:extLst>
              <a:ext uri="{FF2B5EF4-FFF2-40B4-BE49-F238E27FC236}">
                <a16:creationId xmlns:a16="http://schemas.microsoft.com/office/drawing/2014/main" id="{D29F00F5-362C-6F9A-8BA1-F339973F2CB9}"/>
              </a:ext>
            </a:extLst>
          </p:cNvPr>
          <p:cNvSpPr txBox="1"/>
          <p:nvPr/>
        </p:nvSpPr>
        <p:spPr>
          <a:xfrm>
            <a:off x="10685272" y="5109537"/>
            <a:ext cx="1258678" cy="369332"/>
          </a:xfrm>
          <a:prstGeom prst="rect">
            <a:avLst/>
          </a:prstGeom>
          <a:noFill/>
        </p:spPr>
        <p:txBody>
          <a:bodyPr wrap="none" rtlCol="0">
            <a:spAutoFit/>
          </a:bodyPr>
          <a:lstStyle/>
          <a:p>
            <a:r>
              <a:rPr lang="en-US" dirty="0"/>
              <a:t>pptx slides</a:t>
            </a:r>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Binary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fontScale="55000" lnSpcReduction="20000"/>
          </a:bodyPr>
          <a:lstStyle/>
          <a:p>
            <a:pPr marL="0" indent="0">
              <a:buNone/>
            </a:pPr>
            <a:r>
              <a:rPr lang="en-US" b="0" dirty="0">
                <a:solidFill>
                  <a:srgbClr val="0000FF"/>
                </a:solidFill>
                <a:effectLst/>
                <a:highlight>
                  <a:srgbClr val="FFFFFF"/>
                </a:highlight>
                <a:latin typeface="Consolas" panose="020B0609020204030204" pitchFamily="49" charset="0"/>
              </a:rPr>
              <a:t>public</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a:t>
            </a:r>
            <a:r>
              <a:rPr lang="en-US" b="0" dirty="0">
                <a:solidFill>
                  <a:srgbClr val="098658"/>
                </a:solidFill>
                <a:effectLst/>
                <a:highlight>
                  <a:srgbClr val="FFFFFF"/>
                </a:highlight>
                <a:latin typeface="Consolas" panose="020B0609020204030204" pitchFamily="49" charset="0"/>
              </a:rPr>
              <a:t>0</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lst.size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FF"/>
                </a:solidFill>
                <a:effectLst/>
                <a:highlight>
                  <a:srgbClr val="FFFFFF"/>
                </a:highlight>
                <a:latin typeface="Consolas" panose="020B0609020204030204" pitchFamily="49" charset="0"/>
              </a:rPr>
              <a:t>private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start,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(start ==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false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mid = start + (end-start)/</a:t>
            </a:r>
            <a:r>
              <a:rPr lang="en-US" b="0" dirty="0">
                <a:solidFill>
                  <a:srgbClr val="098658"/>
                </a:solidFill>
                <a:effectLst/>
                <a:highlight>
                  <a:srgbClr val="FFFFFF"/>
                </a:highlight>
                <a:latin typeface="Consolas" panose="020B0609020204030204" pitchFamily="49" charset="0"/>
              </a:rPr>
              <a:t>2</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true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&gt;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start, mid);</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mid+</a:t>
            </a:r>
            <a:r>
              <a:rPr lang="en-US" b="0" dirty="0">
                <a:solidFill>
                  <a:srgbClr val="098658"/>
                </a:solidFill>
                <a:effectLst/>
                <a:highlight>
                  <a:srgbClr val="FFFFFF"/>
                </a:highlight>
                <a:latin typeface="Consolas" panose="020B0609020204030204" pitchFamily="49" charset="0"/>
              </a:rPr>
              <a:t>1</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p>
          <a:p>
            <a:pPr marL="0" indent="0">
              <a:buNone/>
            </a:pPr>
            <a:r>
              <a:rPr lang="en-US" b="0" dirty="0">
                <a:solidFill>
                  <a:srgbClr val="000000"/>
                </a:solidFill>
                <a:effectLst/>
                <a:highlight>
                  <a:srgbClr val="FFFFFF"/>
                </a:highlight>
                <a:latin typeface="Consolas" panose="020B0609020204030204" pitchFamily="49" charset="0"/>
              </a:rPr>
              <a:t>}</a:t>
            </a:r>
          </a:p>
        </p:txBody>
      </p:sp>
      <p:grpSp>
        <p:nvGrpSpPr>
          <p:cNvPr id="26" name="Group 25" descr="An example array that is sorted in ascending order. &#10;&#10;The values are as follows: 5, 8, 13, 42, 75, 79, 88, 90, 95, 99">
            <a:extLst>
              <a:ext uri="{FF2B5EF4-FFF2-40B4-BE49-F238E27FC236}">
                <a16:creationId xmlns:a16="http://schemas.microsoft.com/office/drawing/2014/main" id="{3BC88654-239A-44AE-D715-B2925B4A1F94}"/>
              </a:ext>
            </a:extLst>
          </p:cNvPr>
          <p:cNvGrpSpPr/>
          <p:nvPr/>
        </p:nvGrpSpPr>
        <p:grpSpPr>
          <a:xfrm>
            <a:off x="6908800" y="1040108"/>
            <a:ext cx="5283200" cy="907778"/>
            <a:chOff x="6908800" y="1040108"/>
            <a:chExt cx="5283200" cy="907778"/>
          </a:xfrm>
        </p:grpSpPr>
        <p:grpSp>
          <p:nvGrpSpPr>
            <p:cNvPr id="4" name="Group 3">
              <a:extLst>
                <a:ext uri="{FF2B5EF4-FFF2-40B4-BE49-F238E27FC236}">
                  <a16:creationId xmlns:a16="http://schemas.microsoft.com/office/drawing/2014/main" id="{A6176971-CE8E-F718-7F77-E9162D17D650}"/>
                </a:ext>
              </a:extLst>
            </p:cNvPr>
            <p:cNvGrpSpPr/>
            <p:nvPr/>
          </p:nvGrpSpPr>
          <p:grpSpPr>
            <a:xfrm>
              <a:off x="6908800" y="1419566"/>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044C80AB-88F8-15C5-0103-53AE186760CB}"/>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6" name="Rectangle 5">
                <a:extLst>
                  <a:ext uri="{FF2B5EF4-FFF2-40B4-BE49-F238E27FC236}">
                    <a16:creationId xmlns:a16="http://schemas.microsoft.com/office/drawing/2014/main" id="{A324360B-2F37-69A1-7E37-A806252CB4F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7" name="Rectangle 6">
                <a:extLst>
                  <a:ext uri="{FF2B5EF4-FFF2-40B4-BE49-F238E27FC236}">
                    <a16:creationId xmlns:a16="http://schemas.microsoft.com/office/drawing/2014/main" id="{B0E67EE8-8B93-1B19-5019-F36B0BD7BF61}"/>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8" name="Rectangle 7">
                <a:extLst>
                  <a:ext uri="{FF2B5EF4-FFF2-40B4-BE49-F238E27FC236}">
                    <a16:creationId xmlns:a16="http://schemas.microsoft.com/office/drawing/2014/main" id="{1793D5AC-F3F1-9BA4-E366-21CB89ECB4FE}"/>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Rectangle 8">
                <a:extLst>
                  <a:ext uri="{FF2B5EF4-FFF2-40B4-BE49-F238E27FC236}">
                    <a16:creationId xmlns:a16="http://schemas.microsoft.com/office/drawing/2014/main" id="{8B126A6B-FFB4-A2F6-C119-A222B732EF3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Rectangle 9">
                <a:extLst>
                  <a:ext uri="{FF2B5EF4-FFF2-40B4-BE49-F238E27FC236}">
                    <a16:creationId xmlns:a16="http://schemas.microsoft.com/office/drawing/2014/main" id="{26CBE4FA-461E-32AF-1F21-B77F03699717}"/>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1" name="Rectangle 10">
                <a:extLst>
                  <a:ext uri="{FF2B5EF4-FFF2-40B4-BE49-F238E27FC236}">
                    <a16:creationId xmlns:a16="http://schemas.microsoft.com/office/drawing/2014/main" id="{7B537B33-5DD0-844B-4DE2-FACCCA75DC39}"/>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Rectangle 11">
                <a:extLst>
                  <a:ext uri="{FF2B5EF4-FFF2-40B4-BE49-F238E27FC236}">
                    <a16:creationId xmlns:a16="http://schemas.microsoft.com/office/drawing/2014/main" id="{380871E1-A9B9-68FB-9BE8-F1C631E2D52A}"/>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13" name="Rectangle 12">
                <a:extLst>
                  <a:ext uri="{FF2B5EF4-FFF2-40B4-BE49-F238E27FC236}">
                    <a16:creationId xmlns:a16="http://schemas.microsoft.com/office/drawing/2014/main" id="{58C3F77D-A3EF-58B8-E3C7-32E1697528F8}"/>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4" name="Rectangle 13">
                <a:extLst>
                  <a:ext uri="{FF2B5EF4-FFF2-40B4-BE49-F238E27FC236}">
                    <a16:creationId xmlns:a16="http://schemas.microsoft.com/office/drawing/2014/main" id="{049D9353-0FA0-020E-1D1E-349C1C971276}"/>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15" name="Group 14">
              <a:extLst>
                <a:ext uri="{FF2B5EF4-FFF2-40B4-BE49-F238E27FC236}">
                  <a16:creationId xmlns:a16="http://schemas.microsoft.com/office/drawing/2014/main" id="{200AD036-AEEA-337E-F743-27B6259BCAC9}"/>
                </a:ext>
              </a:extLst>
            </p:cNvPr>
            <p:cNvGrpSpPr/>
            <p:nvPr/>
          </p:nvGrpSpPr>
          <p:grpSpPr>
            <a:xfrm>
              <a:off x="6908800" y="1040108"/>
              <a:ext cx="5283200" cy="528320"/>
              <a:chOff x="1681480" y="5462905"/>
              <a:chExt cx="5283200" cy="528320"/>
            </a:xfrm>
          </p:grpSpPr>
          <p:sp>
            <p:nvSpPr>
              <p:cNvPr id="16" name="Rectangle 15">
                <a:extLst>
                  <a:ext uri="{FF2B5EF4-FFF2-40B4-BE49-F238E27FC236}">
                    <a16:creationId xmlns:a16="http://schemas.microsoft.com/office/drawing/2014/main" id="{E9956A8D-5179-312E-01CA-A027B4BE4CD7}"/>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17" name="Rectangle 16">
                <a:extLst>
                  <a:ext uri="{FF2B5EF4-FFF2-40B4-BE49-F238E27FC236}">
                    <a16:creationId xmlns:a16="http://schemas.microsoft.com/office/drawing/2014/main" id="{C53B6828-1075-6CA6-379F-1141B90E248F}"/>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18" name="Rectangle 17">
                <a:extLst>
                  <a:ext uri="{FF2B5EF4-FFF2-40B4-BE49-F238E27FC236}">
                    <a16:creationId xmlns:a16="http://schemas.microsoft.com/office/drawing/2014/main" id="{F6AADC8C-26C7-2EC0-CFD5-AB850DA464FF}"/>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19" name="Rectangle 18">
                <a:extLst>
                  <a:ext uri="{FF2B5EF4-FFF2-40B4-BE49-F238E27FC236}">
                    <a16:creationId xmlns:a16="http://schemas.microsoft.com/office/drawing/2014/main" id="{30D9D694-6129-D6F5-5737-C28073A0DA20}"/>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20" name="Rectangle 19">
                <a:extLst>
                  <a:ext uri="{FF2B5EF4-FFF2-40B4-BE49-F238E27FC236}">
                    <a16:creationId xmlns:a16="http://schemas.microsoft.com/office/drawing/2014/main" id="{B4B85989-2371-70E5-8119-C39A6E903CD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21" name="Rectangle 20">
                <a:extLst>
                  <a:ext uri="{FF2B5EF4-FFF2-40B4-BE49-F238E27FC236}">
                    <a16:creationId xmlns:a16="http://schemas.microsoft.com/office/drawing/2014/main" id="{5F51CD2F-E989-9A35-F1FE-B6802A86B6F7}"/>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22" name="Rectangle 21">
                <a:extLst>
                  <a:ext uri="{FF2B5EF4-FFF2-40B4-BE49-F238E27FC236}">
                    <a16:creationId xmlns:a16="http://schemas.microsoft.com/office/drawing/2014/main" id="{FCA394E8-3E48-87C4-4E66-B4248B28F3B8}"/>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23" name="Rectangle 22">
                <a:extLst>
                  <a:ext uri="{FF2B5EF4-FFF2-40B4-BE49-F238E27FC236}">
                    <a16:creationId xmlns:a16="http://schemas.microsoft.com/office/drawing/2014/main" id="{A22F7EE1-E438-088D-0E5E-4BFDEA41E50F}"/>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24" name="Rectangle 23">
                <a:extLst>
                  <a:ext uri="{FF2B5EF4-FFF2-40B4-BE49-F238E27FC236}">
                    <a16:creationId xmlns:a16="http://schemas.microsoft.com/office/drawing/2014/main" id="{C3332684-95DA-F21A-B08B-027F50B532A6}"/>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Rectangle 24">
                <a:extLst>
                  <a:ext uri="{FF2B5EF4-FFF2-40B4-BE49-F238E27FC236}">
                    <a16:creationId xmlns:a16="http://schemas.microsoft.com/office/drawing/2014/main" id="{4FDC9D9D-586A-5D6A-EAEB-05E79320B7F2}"/>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p:spTree>
    <p:extLst>
      <p:ext uri="{BB962C8B-B14F-4D97-AF65-F5344CB8AC3E}">
        <p14:creationId xmlns:p14="http://schemas.microsoft.com/office/powerpoint/2010/main" val="2539985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C13A8-F389-D526-27E0-2C577B791967}"/>
              </a:ext>
            </a:extLst>
          </p:cNvPr>
          <p:cNvSpPr>
            <a:spLocks noGrp="1"/>
          </p:cNvSpPr>
          <p:nvPr>
            <p:ph type="title"/>
          </p:nvPr>
        </p:nvSpPr>
        <p:spPr/>
        <p:txBody>
          <a:bodyPr/>
          <a:lstStyle/>
          <a:p>
            <a:r>
              <a:rPr lang="en-US" dirty="0"/>
              <a:t>Analysis of Recursive Algorithms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11F9DB-B627-51B1-AE8B-61E829E3EEB6}"/>
                  </a:ext>
                </a:extLst>
              </p:cNvPr>
              <p:cNvSpPr>
                <a:spLocks noGrp="1"/>
              </p:cNvSpPr>
              <p:nvPr>
                <p:ph idx="1"/>
              </p:nvPr>
            </p:nvSpPr>
            <p:spPr>
              <a:xfrm>
                <a:off x="411480" y="1551304"/>
                <a:ext cx="10515600" cy="5103495"/>
              </a:xfrm>
            </p:spPr>
            <p:txBody>
              <a:bodyPr>
                <a:normAutofit fontScale="92500" lnSpcReduction="10000"/>
              </a:bodyPr>
              <a:lstStyle/>
              <a:p>
                <a:r>
                  <a:rPr lang="en-US" dirty="0"/>
                  <a:t>Overall structure of recursion:</a:t>
                </a:r>
              </a:p>
              <a:p>
                <a:pPr lvl="1"/>
                <a:r>
                  <a:rPr lang="en-US" dirty="0">
                    <a:solidFill>
                      <a:srgbClr val="FF0000"/>
                    </a:solidFill>
                  </a:rPr>
                  <a:t>Do some non-recursive “work”</a:t>
                </a:r>
              </a:p>
              <a:p>
                <a:pPr lvl="1"/>
                <a:r>
                  <a:rPr lang="en-US" dirty="0">
                    <a:solidFill>
                      <a:srgbClr val="0070C0"/>
                    </a:solidFill>
                  </a:rPr>
                  <a:t>Do one or more recursive calls on some portion of your input</a:t>
                </a:r>
              </a:p>
              <a:p>
                <a:pPr lvl="1"/>
                <a:r>
                  <a:rPr lang="en-US" dirty="0">
                    <a:solidFill>
                      <a:srgbClr val="FF0000"/>
                    </a:solidFill>
                  </a:rPr>
                  <a:t>Do some more non-recursive “work”</a:t>
                </a:r>
              </a:p>
              <a:p>
                <a:pPr lvl="1"/>
                <a:r>
                  <a:rPr lang="en-US" dirty="0"/>
                  <a:t>Repeat until you reach a base case</a:t>
                </a:r>
              </a:p>
              <a:p>
                <a:r>
                  <a:rPr lang="en-US" dirty="0"/>
                  <a:t>Running time: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1</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2</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𝑥</m:t>
                            </m:r>
                          </m:sub>
                        </m:sSub>
                      </m:e>
                    </m:d>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m:t>
                    </m:r>
                  </m:oMath>
                </a14:m>
                <a:endParaRPr lang="en-US" dirty="0"/>
              </a:p>
              <a:p>
                <a:pPr lvl="1"/>
                <a:r>
                  <a:rPr lang="en-US" dirty="0"/>
                  <a:t>The time it takes to run the algorithm on an input of size </a:t>
                </a:r>
                <a14:m>
                  <m:oMath xmlns:m="http://schemas.openxmlformats.org/officeDocument/2006/math">
                    <m:r>
                      <a:rPr lang="en-US" b="0" i="1" smtClean="0">
                        <a:latin typeface="Cambria Math" panose="02040503050406030204" pitchFamily="18" charset="0"/>
                      </a:rPr>
                      <m:t>𝑛</m:t>
                    </m:r>
                  </m:oMath>
                </a14:m>
                <a:r>
                  <a:rPr lang="en-US" dirty="0"/>
                  <a:t> is:</a:t>
                </a:r>
              </a:p>
              <a:p>
                <a:pPr lvl="1"/>
                <a:r>
                  <a:rPr lang="en-US" dirty="0">
                    <a:solidFill>
                      <a:srgbClr val="0070C0"/>
                    </a:solidFill>
                  </a:rPr>
                  <a:t>The sum of how long it takes to run the same algorithm on each smaller input</a:t>
                </a:r>
              </a:p>
              <a:p>
                <a:pPr lvl="1"/>
                <a:r>
                  <a:rPr lang="en-US" dirty="0">
                    <a:solidFill>
                      <a:srgbClr val="FF0000"/>
                    </a:solidFill>
                  </a:rPr>
                  <a:t>Plus the total amount of non-recursive work done in that stack frame</a:t>
                </a:r>
              </a:p>
              <a:p>
                <a:r>
                  <a:rPr lang="en-US" dirty="0"/>
                  <a:t>Usually: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a:t>
                </a:r>
              </a:p>
              <a:p>
                <a:pPr lvl="2"/>
                <a:r>
                  <a:rPr lang="en-US" dirty="0"/>
                  <a:t>Called “divide and conquer”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Called “chip and conquer”</a:t>
                </a:r>
              </a:p>
            </p:txBody>
          </p:sp>
        </mc:Choice>
        <mc:Fallback>
          <p:sp>
            <p:nvSpPr>
              <p:cNvPr id="3" name="Content Placeholder 2">
                <a:extLst>
                  <a:ext uri="{FF2B5EF4-FFF2-40B4-BE49-F238E27FC236}">
                    <a16:creationId xmlns:a16="http://schemas.microsoft.com/office/drawing/2014/main" id="{AB11F9DB-B627-51B1-AE8B-61E829E3EEB6}"/>
                  </a:ext>
                </a:extLst>
              </p:cNvPr>
              <p:cNvSpPr>
                <a:spLocks noGrp="1" noRot="1" noChangeAspect="1" noMove="1" noResize="1" noEditPoints="1" noAdjustHandles="1" noChangeArrowheads="1" noChangeShapeType="1" noTextEdit="1"/>
              </p:cNvSpPr>
              <p:nvPr>
                <p:ph idx="1"/>
              </p:nvPr>
            </p:nvSpPr>
            <p:spPr>
              <a:xfrm>
                <a:off x="411480" y="1551304"/>
                <a:ext cx="10515600" cy="5103495"/>
              </a:xfrm>
              <a:blipFill>
                <a:blip r:embed="rId2"/>
                <a:stretch>
                  <a:fillRect l="-928" t="-2387" b="-835"/>
                </a:stretch>
              </a:blipFill>
            </p:spPr>
            <p:txBody>
              <a:bodyPr/>
              <a:lstStyle/>
              <a:p>
                <a:r>
                  <a:rPr lang="en-US">
                    <a:noFill/>
                  </a:rPr>
                  <a:t> </a:t>
                </a:r>
              </a:p>
            </p:txBody>
          </p:sp>
        </mc:Fallback>
      </mc:AlternateContent>
    </p:spTree>
    <p:extLst>
      <p:ext uri="{BB962C8B-B14F-4D97-AF65-F5344CB8AC3E}">
        <p14:creationId xmlns:p14="http://schemas.microsoft.com/office/powerpoint/2010/main" val="589594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Efficient Is It?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1</m:t>
                    </m:r>
                    <m:r>
                      <a:rPr lang="en-US" b="0" i="1" smtClean="0">
                        <a:solidFill>
                          <a:schemeClr val="tx1"/>
                        </a:solidFill>
                        <a:latin typeface="Cambria Math"/>
                      </a:rPr>
                      <m:t>+</m:t>
                    </m:r>
                    <m:r>
                      <a:rPr lang="en-US" b="0" i="1" smtClean="0">
                        <a:latin typeface="Cambria Math"/>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oMath>
                </a14:m>
                <a:endParaRPr lang="en-US" dirty="0"/>
              </a:p>
              <a:p>
                <a:r>
                  <a:rPr lang="en-US" dirty="0"/>
                  <a:t>Base case: </a:t>
                </a:r>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1</m:t>
                        </m:r>
                      </m:e>
                    </m:d>
                    <m:r>
                      <a:rPr lang="en-US" b="0" i="1" smtClean="0">
                        <a:latin typeface="Cambria Math"/>
                      </a:rPr>
                      <m:t>=</m:t>
                    </m:r>
                    <m:r>
                      <a:rPr lang="en-US" b="0" i="1" smtClean="0">
                        <a:latin typeface="Cambria Math" panose="02040503050406030204" pitchFamily="18" charset="0"/>
                      </a:rPr>
                      <m:t>1</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3D6D2D-7DE9-6D3E-2EF7-3E9EB7C1156D}"/>
                  </a:ext>
                </a:extLst>
              </p:cNvPr>
              <p:cNvSpPr txBox="1"/>
              <p:nvPr/>
            </p:nvSpPr>
            <p:spPr>
              <a:xfrm>
                <a:off x="6808424" y="1676400"/>
                <a:ext cx="5002576" cy="830997"/>
              </a:xfrm>
              <a:prstGeom prst="rect">
                <a:avLst/>
              </a:prstGeom>
              <a:noFill/>
            </p:spPr>
            <p:txBody>
              <a:bodyPr wrap="square" rtlCol="0">
                <a:spAutoFit/>
              </a:bodyPr>
              <a:lstStyle/>
              <a:p>
                <a14:m>
                  <m:oMath xmlns:m="http://schemas.openxmlformats.org/officeDocument/2006/math">
                    <m:r>
                      <a:rPr lang="en-US" sz="2400" b="0" i="1" smtClean="0">
                        <a:solidFill>
                          <a:srgbClr val="FF0000"/>
                        </a:solidFill>
                        <a:latin typeface="Cambria Math" panose="02040503050406030204" pitchFamily="18" charset="0"/>
                      </a:rPr>
                      <m:t>𝑇</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𝑛</m:t>
                        </m:r>
                      </m:e>
                    </m:d>
                    <m:r>
                      <a:rPr lang="en-US" sz="2400" b="0" i="1" smtClean="0">
                        <a:solidFill>
                          <a:srgbClr val="FF0000"/>
                        </a:solidFill>
                        <a:latin typeface="Cambria Math" panose="02040503050406030204" pitchFamily="18" charset="0"/>
                      </a:rPr>
                      <m:t>=</m:t>
                    </m:r>
                  </m:oMath>
                </a14:m>
                <a:r>
                  <a:rPr lang="en-US" sz="2400" dirty="0">
                    <a:solidFill>
                      <a:srgbClr val="FF0000"/>
                    </a:solidFill>
                  </a:rPr>
                  <a:t> “cost” of running the entire algorithm on an array of length </a:t>
                </a:r>
                <a14:m>
                  <m:oMath xmlns:m="http://schemas.openxmlformats.org/officeDocument/2006/math">
                    <m:r>
                      <a:rPr lang="en-US" sz="2400" b="0" i="1" smtClean="0">
                        <a:solidFill>
                          <a:srgbClr val="FF0000"/>
                        </a:solidFill>
                        <a:latin typeface="Cambria Math" panose="02040503050406030204" pitchFamily="18" charset="0"/>
                      </a:rPr>
                      <m:t>𝑛</m:t>
                    </m:r>
                  </m:oMath>
                </a14:m>
                <a:endParaRPr lang="en-US" sz="2400" dirty="0">
                  <a:solidFill>
                    <a:srgbClr val="FF0000"/>
                  </a:solidFill>
                </a:endParaRPr>
              </a:p>
            </p:txBody>
          </p:sp>
        </mc:Choice>
        <mc:Fallback xmlns="">
          <p:sp>
            <p:nvSpPr>
              <p:cNvPr id="4" name="TextBox 3">
                <a:extLst>
                  <a:ext uri="{FF2B5EF4-FFF2-40B4-BE49-F238E27FC236}">
                    <a16:creationId xmlns:a16="http://schemas.microsoft.com/office/drawing/2014/main" id="{4E3D6D2D-7DE9-6D3E-2EF7-3E9EB7C1156D}"/>
                  </a:ext>
                </a:extLst>
              </p:cNvPr>
              <p:cNvSpPr txBox="1">
                <a:spLocks noRot="1" noChangeAspect="1" noMove="1" noResize="1" noEditPoints="1" noAdjustHandles="1" noChangeArrowheads="1" noChangeShapeType="1" noTextEdit="1"/>
              </p:cNvSpPr>
              <p:nvPr/>
            </p:nvSpPr>
            <p:spPr>
              <a:xfrm>
                <a:off x="6808424" y="1676400"/>
                <a:ext cx="5002576" cy="830997"/>
              </a:xfrm>
              <a:prstGeom prst="rect">
                <a:avLst/>
              </a:prstGeom>
              <a:blipFill>
                <a:blip r:embed="rId3"/>
                <a:stretch>
                  <a:fillRect l="-1949" t="-5882" b="-1617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F1E9164B-D0D3-43CF-BBE2-17E6DAFC942A}"/>
              </a:ext>
            </a:extLst>
          </p:cNvPr>
          <p:cNvSpPr>
            <a:spLocks noGrp="1"/>
          </p:cNvSpPr>
          <p:nvPr>
            <p:ph type="sldNum" sz="quarter" idx="12"/>
          </p:nvPr>
        </p:nvSpPr>
        <p:spPr/>
        <p:txBody>
          <a:bodyPr/>
          <a:lstStyle/>
          <a:p>
            <a:fld id="{F4E8603E-186F-4CC7-B8E2-5FD613D3E28C}" type="slidenum">
              <a:rPr lang="en-US" smtClean="0"/>
              <a:t>4</a:t>
            </a:fld>
            <a:endParaRPr lang="en-US" dirty="0"/>
          </a:p>
        </p:txBody>
      </p:sp>
    </p:spTree>
    <p:extLst>
      <p:ext uri="{BB962C8B-B14F-4D97-AF65-F5344CB8AC3E}">
        <p14:creationId xmlns:p14="http://schemas.microsoft.com/office/powerpoint/2010/main" val="168439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Solve the Recurrence!</a:t>
            </a:r>
          </a:p>
        </p:txBody>
      </p:sp>
      <mc:AlternateContent xmlns:mc="http://schemas.openxmlformats.org/markup-compatibility/2006" xmlns:a14="http://schemas.microsoft.com/office/drawing/2010/main">
        <mc:Choice Requires="a14">
          <p:sp>
            <p:nvSpPr>
              <p:cNvPr id="4" name="TextBox 3"/>
              <p:cNvSpPr txBox="1"/>
              <p:nvPr/>
            </p:nvSpPr>
            <p:spPr>
              <a:xfrm>
                <a:off x="1752871" y="1788762"/>
                <a:ext cx="3162982" cy="584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752871" y="1788762"/>
                <a:ext cx="3162982" cy="58471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752871" y="1295368"/>
                <a:ext cx="165032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1</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oMath>
                  </m:oMathPara>
                </a14:m>
                <a:endParaRPr lang="en-US" sz="2800"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752871" y="1295368"/>
                <a:ext cx="1650324"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657600" y="2373477"/>
                <a:ext cx="1963679" cy="5831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4</m:t>
                          </m:r>
                        </m:den>
                      </m:f>
                      <m:r>
                        <a:rPr lang="en-US" sz="2800" i="1" dirty="0">
                          <a:solidFill>
                            <a:srgbClr val="FF0000"/>
                          </a:solidFill>
                          <a:latin typeface="Cambria Math"/>
                        </a:rPr>
                        <m:t>)</m:t>
                      </m:r>
                    </m:oMath>
                  </m:oMathPara>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3657600" y="2373477"/>
                <a:ext cx="1963679" cy="583173"/>
              </a:xfrm>
              <a:prstGeom prst="rect">
                <a:avLst/>
              </a:prstGeom>
              <a:blipFill>
                <a:blip r:embed="rId4"/>
                <a:stretch>
                  <a:fillRect/>
                </a:stretch>
              </a:blipFill>
            </p:spPr>
            <p:txBody>
              <a:bodyPr/>
              <a:lstStyle/>
              <a:p>
                <a:r>
                  <a:rPr lang="en-US">
                    <a:noFill/>
                  </a:rPr>
                  <a:t> </a:t>
                </a:r>
              </a:p>
            </p:txBody>
          </p:sp>
        </mc:Fallback>
      </mc:AlternateContent>
      <p:cxnSp>
        <p:nvCxnSpPr>
          <p:cNvPr id="9" name="Straight Connector 8">
            <a:extLst>
              <a:ext uri="{C183D7F6-B498-43B3-948B-1728B52AA6E4}">
                <adec:decorative xmlns:adec="http://schemas.microsoft.com/office/drawing/2017/decorative" val="1"/>
              </a:ext>
            </a:extLst>
          </p:cNvPr>
          <p:cNvCxnSpPr/>
          <p:nvPr/>
        </p:nvCxnSpPr>
        <p:spPr>
          <a:xfrm flipV="1">
            <a:off x="3923348" y="1818589"/>
            <a:ext cx="1258252" cy="39121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C183D7F6-B498-43B3-948B-1728B52AA6E4}">
                <adec:decorative xmlns:adec="http://schemas.microsoft.com/office/drawing/2017/decorative" val="1"/>
              </a:ext>
            </a:extLst>
          </p:cNvPr>
          <p:cNvCxnSpPr/>
          <p:nvPr/>
        </p:nvCxnSpPr>
        <p:spPr>
          <a:xfrm flipV="1">
            <a:off x="4556755" y="2452813"/>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4234155" y="2956650"/>
                <a:ext cx="1963679" cy="5875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8</m:t>
                          </m:r>
                        </m:den>
                      </m:f>
                      <m:r>
                        <a:rPr lang="en-US" sz="2800" i="1" dirty="0">
                          <a:solidFill>
                            <a:srgbClr val="FF0000"/>
                          </a:solidFill>
                          <a:latin typeface="Cambria Math"/>
                        </a:rPr>
                        <m:t>)</m:t>
                      </m:r>
                    </m:oMath>
                  </m:oMathPara>
                </a14:m>
                <a:endParaRPr lang="en-US" sz="2800" dirty="0"/>
              </a:p>
            </p:txBody>
          </p:sp>
        </mc:Choice>
        <mc:Fallback xmlns="">
          <p:sp>
            <p:nvSpPr>
              <p:cNvPr id="11" name="Rectangle 10"/>
              <p:cNvSpPr>
                <a:spLocks noRot="1" noChangeAspect="1" noMove="1" noResize="1" noEditPoints="1" noAdjustHandles="1" noChangeArrowheads="1" noChangeShapeType="1" noTextEdit="1"/>
              </p:cNvSpPr>
              <p:nvPr/>
            </p:nvSpPr>
            <p:spPr>
              <a:xfrm>
                <a:off x="4234155" y="2956650"/>
                <a:ext cx="1963679" cy="587533"/>
              </a:xfrm>
              <a:prstGeom prst="rect">
                <a:avLst/>
              </a:prstGeom>
              <a:blipFill>
                <a:blip r:embed="rId5"/>
                <a:stretch>
                  <a:fillRect/>
                </a:stretch>
              </a:blipFill>
            </p:spPr>
            <p:txBody>
              <a:bodyPr/>
              <a:lstStyle/>
              <a:p>
                <a:r>
                  <a:rPr lang="en-US">
                    <a:noFill/>
                  </a:rPr>
                  <a:t> </a:t>
                </a:r>
              </a:p>
            </p:txBody>
          </p:sp>
        </mc:Fallback>
      </mc:AlternateContent>
      <p:sp>
        <p:nvSpPr>
          <p:cNvPr id="12" name="TextBox 11"/>
          <p:cNvSpPr txBox="1"/>
          <p:nvPr/>
        </p:nvSpPr>
        <p:spPr>
          <a:xfrm rot="2181819">
            <a:off x="5632394" y="3341258"/>
            <a:ext cx="538930" cy="707886"/>
          </a:xfrm>
          <a:prstGeom prst="rect">
            <a:avLst/>
          </a:prstGeom>
          <a:noFill/>
        </p:spPr>
        <p:txBody>
          <a:bodyPr wrap="none" rtlCol="0">
            <a:spAutoFit/>
          </a:bodyPr>
          <a:lstStyle/>
          <a:p>
            <a:r>
              <a:rPr lang="en-US" sz="4000" dirty="0">
                <a:solidFill>
                  <a:srgbClr val="FF0000"/>
                </a:solidFill>
              </a:rPr>
              <a:t>…</a:t>
            </a:r>
          </a:p>
        </p:txBody>
      </p:sp>
      <mc:AlternateContent xmlns:mc="http://schemas.openxmlformats.org/markup-compatibility/2006" xmlns:a14="http://schemas.microsoft.com/office/drawing/2010/main">
        <mc:Choice Requires="a14">
          <p:sp>
            <p:nvSpPr>
              <p:cNvPr id="13" name="Rectangle 12"/>
              <p:cNvSpPr/>
              <p:nvPr/>
            </p:nvSpPr>
            <p:spPr>
              <a:xfrm>
                <a:off x="5791203" y="3896380"/>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1</m:t>
                      </m:r>
                    </m:oMath>
                  </m:oMathPara>
                </a14:m>
                <a:endParaRPr lang="en-US" sz="2800" dirty="0"/>
              </a:p>
            </p:txBody>
          </p:sp>
        </mc:Choice>
        <mc:Fallback xmlns="">
          <p:sp>
            <p:nvSpPr>
              <p:cNvPr id="13" name="Rectangle 12"/>
              <p:cNvSpPr>
                <a:spLocks noRot="1" noChangeAspect="1" noMove="1" noResize="1" noEditPoints="1" noAdjustHandles="1" noChangeArrowheads="1" noChangeShapeType="1" noTextEdit="1"/>
              </p:cNvSpPr>
              <p:nvPr/>
            </p:nvSpPr>
            <p:spPr>
              <a:xfrm>
                <a:off x="5791203" y="3896380"/>
                <a:ext cx="465191" cy="523220"/>
              </a:xfrm>
              <a:prstGeom prst="rect">
                <a:avLst/>
              </a:prstGeom>
              <a:blipFill>
                <a:blip r:embed="rId6"/>
                <a:stretch>
                  <a:fillRect/>
                </a:stretch>
              </a:blipFill>
            </p:spPr>
            <p:txBody>
              <a:bodyPr/>
              <a:lstStyle/>
              <a:p>
                <a:r>
                  <a:rPr lang="en-US">
                    <a:noFill/>
                  </a:rPr>
                  <a:t> </a:t>
                </a:r>
              </a:p>
            </p:txBody>
          </p:sp>
        </mc:Fallback>
      </mc:AlternateContent>
      <p:sp>
        <p:nvSpPr>
          <p:cNvPr id="19" name="Right Brace 18" descr="We can begin solving our recurrence relation by tracing through the recursion.&#10;&#10;If we know T(n)=1+T(n/2) then we can use this definition of T(n) to substitute for T(n/2), which gives us T(n)=1+1+T(n/4). We can then substitute again to get T(n)=1+1+1+T(n/8).&#10;&#10;Notice that with each step of substitution T(n) gains one more +1 term and the recursive call to T shrinks by half. This process will continue until we reach the base case of T(1) which equals 1. &#10;&#10;Now we know the running time will be determined by the number of +1 terms we've accumulated, which is equal to the number of substitutions we need to do until we get to the base case, in other words the number of times we must divide n in half before we get the value 1."/>
          <p:cNvSpPr/>
          <p:nvPr/>
        </p:nvSpPr>
        <p:spPr>
          <a:xfrm>
            <a:off x="6641598" y="1607198"/>
            <a:ext cx="673602" cy="281240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20" name="TextBox 19"/>
              <p:cNvSpPr txBox="1"/>
              <p:nvPr/>
            </p:nvSpPr>
            <p:spPr>
              <a:xfrm>
                <a:off x="7375131" y="2514600"/>
                <a:ext cx="3880229" cy="1077218"/>
              </a:xfrm>
              <a:prstGeom prst="rect">
                <a:avLst/>
              </a:prstGeom>
              <a:noFill/>
            </p:spPr>
            <p:txBody>
              <a:bodyPr wrap="none" rtlCol="0">
                <a:spAutoFit/>
              </a:bodyPr>
              <a:lstStyle/>
              <a:p>
                <a:r>
                  <a:rPr lang="en-US" sz="3200" b="0" dirty="0"/>
                  <a:t>Substitute until</a:t>
                </a:r>
                <a:r>
                  <a:rPr lang="en-US" sz="3200" b="0" i="1" dirty="0">
                    <a:latin typeface="Cambria Math" panose="02040503050406030204" pitchFamily="18" charset="0"/>
                  </a:rPr>
                  <a:t>  </a:t>
                </a:r>
                <a14:m>
                  <m:oMath xmlns:m="http://schemas.openxmlformats.org/officeDocument/2006/math">
                    <m:r>
                      <a:rPr lang="en-US" sz="3200" b="0" i="1" smtClean="0">
                        <a:latin typeface="Cambria Math" panose="02040503050406030204" pitchFamily="18" charset="0"/>
                      </a:rPr>
                      <m:t>𝑇</m:t>
                    </m:r>
                    <m:r>
                      <a:rPr lang="en-US" sz="3200" b="0" i="1" smtClean="0">
                        <a:latin typeface="Cambria Math" panose="02040503050406030204" pitchFamily="18" charset="0"/>
                      </a:rPr>
                      <m:t>(1)</m:t>
                    </m:r>
                  </m:oMath>
                </a14:m>
                <a:endParaRPr lang="en-US" sz="3200" b="0" i="1" dirty="0">
                  <a:latin typeface="Cambria Math" panose="02040503050406030204" pitchFamily="18" charset="0"/>
                </a:endParaRPr>
              </a:p>
              <a:p>
                <a:r>
                  <a:rPr lang="en-US" sz="3200" b="0" dirty="0"/>
                  <a:t>So </a:t>
                </a:r>
                <a14:m>
                  <m:oMath xmlns:m="http://schemas.openxmlformats.org/officeDocument/2006/math">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a:rPr>
                              <m:t>log</m:t>
                            </m:r>
                          </m:e>
                          <m:sub>
                            <m:r>
                              <a:rPr lang="en-US" sz="3200" b="0" i="1" smtClean="0">
                                <a:latin typeface="Cambria Math"/>
                              </a:rPr>
                              <m:t>2</m:t>
                            </m:r>
                          </m:sub>
                        </m:sSub>
                      </m:fName>
                      <m:e>
                        <m:r>
                          <a:rPr lang="en-US" sz="3200" b="0" i="1" smtClean="0">
                            <a:latin typeface="Cambria Math"/>
                          </a:rPr>
                          <m:t>𝑛</m:t>
                        </m:r>
                      </m:e>
                    </m:func>
                  </m:oMath>
                </a14:m>
                <a:r>
                  <a:rPr lang="en-US" sz="3200" dirty="0"/>
                  <a:t> steps (</a:t>
                </a:r>
                <a14:m>
                  <m:oMath xmlns:m="http://schemas.openxmlformats.org/officeDocument/2006/math">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2</m:t>
                    </m:r>
                  </m:oMath>
                </a14:m>
                <a:r>
                  <a:rPr lang="en-US" sz="3200" dirty="0"/>
                  <a:t>)</a:t>
                </a:r>
              </a:p>
            </p:txBody>
          </p:sp>
        </mc:Choice>
        <mc:Fallback>
          <p:sp>
            <p:nvSpPr>
              <p:cNvPr id="20" name="TextBox 19"/>
              <p:cNvSpPr txBox="1">
                <a:spLocks noRot="1" noChangeAspect="1" noMove="1" noResize="1" noEditPoints="1" noAdjustHandles="1" noChangeArrowheads="1" noChangeShapeType="1" noTextEdit="1"/>
              </p:cNvSpPr>
              <p:nvPr/>
            </p:nvSpPr>
            <p:spPr>
              <a:xfrm>
                <a:off x="7375131" y="2514600"/>
                <a:ext cx="3880229" cy="1077218"/>
              </a:xfrm>
              <a:prstGeom prst="rect">
                <a:avLst/>
              </a:prstGeom>
              <a:blipFill>
                <a:blip r:embed="rId7"/>
                <a:stretch>
                  <a:fillRect l="-4088" t="-6818" b="-1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1874535" y="4953000"/>
                <a:ext cx="5043432" cy="15006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a:latin typeface="Cambria Math"/>
                        </a:rPr>
                        <m:t>=</m:t>
                      </m:r>
                      <m:nary>
                        <m:naryPr>
                          <m:chr m:val="∑"/>
                          <m:ctrlPr>
                            <a:rPr lang="en-US" sz="3200" i="1">
                              <a:latin typeface="Cambria Math" panose="02040503050406030204" pitchFamily="18" charset="0"/>
                            </a:rPr>
                          </m:ctrlPr>
                        </m:naryPr>
                        <m:sub>
                          <m:r>
                            <m:rPr>
                              <m:brk m:alnAt="23"/>
                            </m:rPr>
                            <a:rPr lang="en-US" sz="3200" i="1">
                              <a:latin typeface="Cambria Math"/>
                            </a:rPr>
                            <m:t>𝑖</m:t>
                          </m:r>
                          <m:r>
                            <a:rPr lang="en-US" sz="3200" i="1">
                              <a:latin typeface="Cambria Math"/>
                            </a:rPr>
                            <m:t>=</m:t>
                          </m:r>
                          <m:r>
                            <a:rPr lang="en-US" sz="3200" b="0" i="1" smtClean="0">
                              <a:latin typeface="Cambria Math" panose="02040503050406030204" pitchFamily="18" charset="0"/>
                            </a:rPr>
                            <m:t>0</m:t>
                          </m:r>
                        </m:sub>
                        <m:sup>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r>
                            <a:rPr lang="en-US" sz="3200" i="1">
                              <a:latin typeface="Cambria Math"/>
                            </a:rPr>
                            <m:t>𝑛</m:t>
                          </m:r>
                        </m:sup>
                        <m:e>
                          <m:r>
                            <a:rPr lang="en-US" sz="3200" b="0" i="1" smtClean="0">
                              <a:latin typeface="Cambria Math" panose="02040503050406030204" pitchFamily="18" charset="0"/>
                            </a:rPr>
                            <m:t>1</m:t>
                          </m:r>
                        </m:e>
                      </m:nary>
                      <m:r>
                        <a:rPr lang="en-US" sz="3200" i="1">
                          <a:latin typeface="Cambria Math"/>
                        </a:rPr>
                        <m:t>=</m:t>
                      </m:r>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fName>
                        <m:e>
                          <m:r>
                            <a:rPr lang="en-US" sz="3200" i="1">
                              <a:latin typeface="Cambria Math"/>
                            </a:rPr>
                            <m:t>𝑛</m:t>
                          </m:r>
                        </m:e>
                      </m:func>
                      <m:r>
                        <a:rPr lang="en-US" sz="3200" b="0" i="1" smtClean="0">
                          <a:latin typeface="Cambria Math" panose="02040503050406030204" pitchFamily="18" charset="0"/>
                        </a:rPr>
                        <m:t>+1</m:t>
                      </m:r>
                    </m:oMath>
                  </m:oMathPara>
                </a14:m>
                <a:endParaRPr lang="en-US" sz="3200" dirty="0"/>
              </a:p>
            </p:txBody>
          </p:sp>
        </mc:Choice>
        <mc:Fallback>
          <p:sp>
            <p:nvSpPr>
              <p:cNvPr id="22" name="TextBox 21"/>
              <p:cNvSpPr txBox="1">
                <a:spLocks noRot="1" noChangeAspect="1" noMove="1" noResize="1" noEditPoints="1" noAdjustHandles="1" noChangeArrowheads="1" noChangeShapeType="1" noTextEdit="1"/>
              </p:cNvSpPr>
              <p:nvPr/>
            </p:nvSpPr>
            <p:spPr>
              <a:xfrm>
                <a:off x="1874535" y="4953000"/>
                <a:ext cx="5043432" cy="1500604"/>
              </a:xfrm>
              <a:prstGeom prst="rect">
                <a:avLst/>
              </a:prstGeom>
              <a:blipFill>
                <a:blip r:embed="rId8"/>
                <a:stretch>
                  <a:fillRect/>
                </a:stretch>
              </a:blipFill>
            </p:spPr>
            <p:txBody>
              <a:bodyPr/>
              <a:lstStyle/>
              <a:p>
                <a:r>
                  <a:rPr lang="en-US">
                    <a:noFill/>
                  </a:rPr>
                  <a:t> </a:t>
                </a:r>
              </a:p>
            </p:txBody>
          </p:sp>
        </mc:Fallback>
      </mc:AlternateContent>
      <p:sp>
        <p:nvSpPr>
          <p:cNvPr id="25" name="Oval 24">
            <a:extLst>
              <a:ext uri="{C183D7F6-B498-43B3-948B-1728B52AA6E4}">
                <adec:decorative xmlns:adec="http://schemas.microsoft.com/office/drawing/2017/decorative" val="1"/>
              </a:ext>
            </a:extLst>
          </p:cNvPr>
          <p:cNvSpPr/>
          <p:nvPr/>
        </p:nvSpPr>
        <p:spPr>
          <a:xfrm rot="2320398">
            <a:off x="2373991" y="2664031"/>
            <a:ext cx="4403655" cy="957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C183D7F6-B498-43B3-948B-1728B52AA6E4}">
                <adec:decorative xmlns:adec="http://schemas.microsoft.com/office/drawing/2017/decorative" val="1"/>
              </a:ext>
            </a:extLst>
          </p:cNvPr>
          <p:cNvCxnSpPr/>
          <p:nvPr/>
        </p:nvCxnSpPr>
        <p:spPr>
          <a:xfrm flipV="1">
            <a:off x="5128255" y="3065552"/>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D36018-B814-5D27-1894-CCA132A396B0}"/>
                  </a:ext>
                </a:extLst>
              </p:cNvPr>
              <p:cNvSpPr txBox="1"/>
              <p:nvPr/>
            </p:nvSpPr>
            <p:spPr>
              <a:xfrm>
                <a:off x="8531950" y="5410689"/>
                <a:ext cx="305045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smtClean="0">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b="0" i="1" smtClean="0">
                              <a:latin typeface="Cambria Math" panose="02040503050406030204" pitchFamily="18" charset="0"/>
                            </a:rPr>
                          </m:ctrlPr>
                        </m:dPr>
                        <m:e>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r>
                                <a:rPr lang="en-US" sz="3200" b="0" i="1" smtClean="0">
                                  <a:latin typeface="Cambria Math" panose="02040503050406030204" pitchFamily="18" charset="0"/>
                                </a:rPr>
                                <m:t>𝑛</m:t>
                              </m:r>
                            </m:e>
                          </m:func>
                        </m:e>
                      </m:d>
                    </m:oMath>
                  </m:oMathPara>
                </a14:m>
                <a:endParaRPr lang="en-US" sz="3200" dirty="0"/>
              </a:p>
            </p:txBody>
          </p:sp>
        </mc:Choice>
        <mc:Fallback xmlns="">
          <p:sp>
            <p:nvSpPr>
              <p:cNvPr id="3" name="TextBox 2">
                <a:extLst>
                  <a:ext uri="{FF2B5EF4-FFF2-40B4-BE49-F238E27FC236}">
                    <a16:creationId xmlns:a16="http://schemas.microsoft.com/office/drawing/2014/main" id="{D4D36018-B814-5D27-1894-CCA132A396B0}"/>
                  </a:ext>
                </a:extLst>
              </p:cNvPr>
              <p:cNvSpPr txBox="1">
                <a:spLocks noRot="1" noChangeAspect="1" noMove="1" noResize="1" noEditPoints="1" noAdjustHandles="1" noChangeArrowheads="1" noChangeShapeType="1" noTextEdit="1"/>
              </p:cNvSpPr>
              <p:nvPr/>
            </p:nvSpPr>
            <p:spPr>
              <a:xfrm>
                <a:off x="8531950" y="5410689"/>
                <a:ext cx="3050450" cy="584775"/>
              </a:xfrm>
              <a:prstGeom prst="rect">
                <a:avLst/>
              </a:prstGeom>
              <a:blipFill>
                <a:blip r:embed="rId9"/>
                <a:stretch>
                  <a:fillRect/>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1A438719-4012-4362-B790-16D138412EF9}"/>
              </a:ext>
            </a:extLst>
          </p:cNvPr>
          <p:cNvSpPr>
            <a:spLocks noGrp="1"/>
          </p:cNvSpPr>
          <p:nvPr>
            <p:ph type="sldNum" sz="quarter" idx="12"/>
          </p:nvPr>
        </p:nvSpPr>
        <p:spPr/>
        <p:txBody>
          <a:bodyPr/>
          <a:lstStyle/>
          <a:p>
            <a:fld id="{F4E8603E-186F-4CC7-B8E2-5FD613D3E28C}" type="slidenum">
              <a:rPr lang="en-US" smtClean="0"/>
              <a:t>5</a:t>
            </a:fld>
            <a:endParaRPr lang="en-US" dirty="0"/>
          </a:p>
        </p:txBody>
      </p:sp>
    </p:spTree>
    <p:extLst>
      <p:ext uri="{BB962C8B-B14F-4D97-AF65-F5344CB8AC3E}">
        <p14:creationId xmlns:p14="http://schemas.microsoft.com/office/powerpoint/2010/main" val="7288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9" grpId="0" animBg="1"/>
      <p:bldP spid="20" grpId="0"/>
      <p:bldP spid="22" grpId="0"/>
      <p:bldP spid="25"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a:xfrm>
            <a:off x="838200" y="385673"/>
            <a:ext cx="10515600" cy="1325563"/>
          </a:xfrm>
        </p:spPr>
        <p:txBody>
          <a:bodyPr/>
          <a:lstStyle/>
          <a:p>
            <a:r>
              <a:rPr lang="en-US" dirty="0"/>
              <a:t>Make our process “prettier”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a:xfrm>
                <a:off x="323557" y="1521048"/>
                <a:ext cx="10515600" cy="4351338"/>
              </a:xfrm>
            </p:spPr>
            <p:txBody>
              <a:bodyPr/>
              <a:lstStyle/>
              <a:p>
                <a:r>
                  <a:rPr lang="en-US" dirty="0">
                    <a:solidFill>
                      <a:srgbClr val="FF0000"/>
                    </a:solidFill>
                  </a:rPr>
                  <a:t>Draw a picture of the recursion</a:t>
                </a:r>
              </a:p>
              <a:p>
                <a:r>
                  <a:rPr lang="en-US" dirty="0">
                    <a:solidFill>
                      <a:srgbClr val="0070C0"/>
                    </a:solidFill>
                  </a:rPr>
                  <a:t>Identify the work done per stack frame</a:t>
                </a:r>
              </a:p>
              <a:p>
                <a:pPr lvl="1"/>
                <a:r>
                  <a:rPr lang="en-US" dirty="0">
                    <a:solidFill>
                      <a:srgbClr val="0070C0"/>
                    </a:solidFill>
                  </a:rPr>
                  <a:t>1 for this example</a:t>
                </a:r>
              </a:p>
              <a:p>
                <a:r>
                  <a:rPr lang="en-US" dirty="0"/>
                  <a:t>Add up all the work!</a:t>
                </a:r>
              </a:p>
              <a:p>
                <a:pPr lvl="1"/>
                <a:r>
                  <a:rPr lang="en-US" dirty="0"/>
                  <a:t>Sum is the answer!</a:t>
                </a:r>
              </a:p>
              <a:p>
                <a:pPr lvl="1"/>
                <a:r>
                  <a:rPr lang="en-US" dirty="0"/>
                  <a:t>In this case </a:t>
                </a:r>
                <a14:m>
                  <m:oMath xmlns:m="http://schemas.openxmlformats.org/officeDocument/2006/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0" smtClean="0">
                                    <a:latin typeface="Cambria Math" panose="02040503050406030204" pitchFamily="18" charset="0"/>
                                  </a:rPr>
                                  <m:t>2</m:t>
                                </m:r>
                              </m:sub>
                            </m:sSub>
                          </m:fName>
                          <m:e>
                            <m:r>
                              <a:rPr lang="en-US" b="0" i="1" smtClean="0">
                                <a:latin typeface="Cambria Math" panose="02040503050406030204" pitchFamily="18" charset="0"/>
                              </a:rPr>
                              <m:t>𝑛</m:t>
                            </m:r>
                          </m:e>
                        </m:func>
                      </m:sup>
                      <m:e>
                        <m:r>
                          <a:rPr lang="en-US" b="0" i="1" smtClean="0">
                            <a:latin typeface="Cambria Math" panose="02040503050406030204" pitchFamily="18" charset="0"/>
                          </a:rPr>
                          <m:t>1</m:t>
                        </m:r>
                      </m:e>
                    </m:nary>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FEFDDAAF-81C9-60F9-3FF1-0F973D6184CC}"/>
                  </a:ext>
                </a:extLst>
              </p:cNvPr>
              <p:cNvSpPr>
                <a:spLocks noGrp="1" noRot="1" noChangeAspect="1" noMove="1" noResize="1" noEditPoints="1" noAdjustHandles="1" noChangeArrowheads="1" noChangeShapeType="1" noTextEdit="1"/>
              </p:cNvSpPr>
              <p:nvPr>
                <p:ph idx="1"/>
              </p:nvPr>
            </p:nvSpPr>
            <p:spPr>
              <a:xfrm>
                <a:off x="323557" y="1521048"/>
                <a:ext cx="10515600" cy="4351338"/>
              </a:xfrm>
              <a:blipFill>
                <a:blip r:embed="rId2"/>
                <a:stretch>
                  <a:fillRect l="-1043" t="-23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1D829C-229D-3C07-6BB5-2622736B211F}"/>
                  </a:ext>
                </a:extLst>
              </p:cNvPr>
              <p:cNvSpPr txBox="1"/>
              <p:nvPr/>
            </p:nvSpPr>
            <p:spPr>
              <a:xfrm>
                <a:off x="6252897" y="1351760"/>
                <a:ext cx="3849189"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rPr>
                        <m:t>+1</m:t>
                      </m:r>
                    </m:oMath>
                  </m:oMathPara>
                </a14:m>
                <a:endParaRPr lang="en-US" sz="2400" dirty="0"/>
              </a:p>
            </p:txBody>
          </p:sp>
        </mc:Choice>
        <mc:Fallback xmlns="">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52897" y="1351760"/>
                <a:ext cx="3849189" cy="745460"/>
              </a:xfrm>
              <a:prstGeom prst="rect">
                <a:avLst/>
              </a:prstGeom>
              <a:blipFill>
                <a:blip r:embed="rId3"/>
                <a:stretch>
                  <a:fillRect/>
                </a:stretch>
              </a:blipFill>
            </p:spPr>
            <p:txBody>
              <a:bodyPr/>
              <a:lstStyle/>
              <a:p>
                <a:r>
                  <a:rPr lang="en-US">
                    <a:noFill/>
                  </a:rPr>
                  <a:t> </a:t>
                </a:r>
              </a:p>
            </p:txBody>
          </p:sp>
        </mc:Fallback>
      </mc:AlternateContent>
      <p:grpSp>
        <p:nvGrpSpPr>
          <p:cNvPr id="6" name="Group 5" descr="A picture of the recursion of binary search. We have one box per stack frame in the recursion. Each box is labelled inside with a value that represents the size of the input for that stack frame. Outside each box is labelled with the amount of (non-recursive) work done by that box.&#10;&#10;Each box has an arrow pointing to a box with a smaller input (specifically an input of half the size) to represent the larger box recursively invoking binary search with the smaller input.">
            <a:extLst>
              <a:ext uri="{FF2B5EF4-FFF2-40B4-BE49-F238E27FC236}">
                <a16:creationId xmlns:a16="http://schemas.microsoft.com/office/drawing/2014/main" id="{8A6CD75F-3E86-3DBC-6B7B-34DCC3D199CC}"/>
              </a:ext>
            </a:extLst>
          </p:cNvPr>
          <p:cNvGrpSpPr/>
          <p:nvPr/>
        </p:nvGrpSpPr>
        <p:grpSpPr>
          <a:xfrm>
            <a:off x="7510742" y="2026491"/>
            <a:ext cx="1694875" cy="4253404"/>
            <a:chOff x="7673338" y="1678247"/>
            <a:chExt cx="1694875" cy="4253404"/>
          </a:xfrm>
        </p:grpSpPr>
        <mc:AlternateContent xmlns:mc="http://schemas.openxmlformats.org/markup-compatibility/2006" xmlns:a14="http://schemas.microsoft.com/office/drawing/2010/main">
          <mc:Choice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/4</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/8</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2"/>
                  <a:stretch>
                    <a:fillRect/>
                  </a:stretch>
                </a:blipFill>
              </p:spPr>
              <p:txBody>
                <a:bodyPr/>
                <a:lstStyle/>
                <a:p>
                  <a:r>
                    <a:rPr lang="en-US">
                      <a:noFill/>
                    </a:rPr>
                    <a:t> </a:t>
                  </a:r>
                </a:p>
              </p:txBody>
            </p:sp>
          </mc:Fallback>
        </mc:AlternateContent>
      </p:grpSp>
      <p:sp>
        <p:nvSpPr>
          <p:cNvPr id="32" name="Left Brace 31" descr="Because we need to make log_2(n) recursive calls before reaching a base case, the height of this chain of stackframes is log_2(n).">
            <a:extLst>
              <a:ext uri="{FF2B5EF4-FFF2-40B4-BE49-F238E27FC236}">
                <a16:creationId xmlns:a16="http://schemas.microsoft.com/office/drawing/2014/main" id="{AB522D64-0FDA-0C3B-396A-2F0191CC116C}"/>
              </a:ext>
              <a:ext uri="{C183D7F6-B498-43B3-948B-1728B52AA6E4}">
                <adec:decorative xmlns:adec="http://schemas.microsoft.com/office/drawing/2017/decorative" val="0"/>
              </a:ext>
            </a:extLst>
          </p:cNvPr>
          <p:cNvSpPr/>
          <p:nvPr/>
        </p:nvSpPr>
        <p:spPr>
          <a:xfrm flipH="1" flipV="1">
            <a:off x="9668473" y="2045793"/>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31069" y="3750234"/>
                <a:ext cx="2312388" cy="1384995"/>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a:p>
                <a:pPr algn="ctr"/>
                <a:r>
                  <a:rPr lang="en-US" sz="2800" dirty="0"/>
                  <a:t>(</a:t>
                </a:r>
                <a14:m>
                  <m:oMath xmlns:m="http://schemas.openxmlformats.org/officeDocument/2006/math">
                    <m:r>
                      <a:rPr lang="en-US" sz="2800" b="0" i="1" smtClean="0">
                        <a:latin typeface="Cambria Math" panose="02040503050406030204" pitchFamily="18" charset="0"/>
                        <a:ea typeface="Cambria Math" panose="02040503050406030204" pitchFamily="18" charset="0"/>
                      </a:rPr>
                      <m:t>±2</m:t>
                    </m:r>
                  </m:oMath>
                </a14:m>
                <a:r>
                  <a:rPr lang="en-US" sz="2800" dirty="0"/>
                  <a:t>)</a:t>
                </a:r>
              </a:p>
            </p:txBody>
          </p:sp>
        </mc:Choice>
        <mc:Fallback>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31069" y="3750234"/>
                <a:ext cx="2312388" cy="1384995"/>
              </a:xfrm>
              <a:prstGeom prst="rect">
                <a:avLst/>
              </a:prstGeom>
              <a:blipFill>
                <a:blip r:embed="rId13"/>
                <a:stretch>
                  <a:fillRect t="-3965" b="-11894"/>
                </a:stretch>
              </a:blipFill>
              <a:ln w="9525">
                <a:noFill/>
                <a:miter lim="800000"/>
                <a:headEnd/>
                <a:tailEnd/>
              </a:ln>
            </p:spPr>
            <p:txBody>
              <a:bodyPr/>
              <a:lstStyle/>
              <a:p>
                <a:r>
                  <a:rPr lang="en-US">
                    <a:noFill/>
                  </a:rPr>
                  <a:t> </a:t>
                </a:r>
              </a:p>
            </p:txBody>
          </p:sp>
        </mc:Fallback>
      </mc:AlternateContent>
      <p:sp>
        <p:nvSpPr>
          <p:cNvPr id="34" name="TextBox 33">
            <a:extLst>
              <a:ext uri="{FF2B5EF4-FFF2-40B4-BE49-F238E27FC236}">
                <a16:creationId xmlns:a16="http://schemas.microsoft.com/office/drawing/2014/main" id="{C9BA210D-0C67-7E82-28CD-4DD3AE7466AD}"/>
              </a:ext>
            </a:extLst>
          </p:cNvPr>
          <p:cNvSpPr txBox="1"/>
          <p:nvPr/>
        </p:nvSpPr>
        <p:spPr>
          <a:xfrm>
            <a:off x="555429" y="4786136"/>
            <a:ext cx="5025928" cy="830997"/>
          </a:xfrm>
          <a:prstGeom prst="rect">
            <a:avLst/>
          </a:prstGeom>
          <a:noFill/>
        </p:spPr>
        <p:txBody>
          <a:bodyPr wrap="none" rtlCol="0">
            <a:spAutoFit/>
          </a:bodyPr>
          <a:lstStyle/>
          <a:p>
            <a:r>
              <a:rPr lang="en-US" sz="4800" dirty="0">
                <a:solidFill>
                  <a:srgbClr val="FFC000"/>
                </a:solidFill>
              </a:rPr>
              <a:t>The “Tree Method”</a:t>
            </a:r>
          </a:p>
        </p:txBody>
      </p:sp>
    </p:spTree>
    <p:extLst>
      <p:ext uri="{BB962C8B-B14F-4D97-AF65-F5344CB8AC3E}">
        <p14:creationId xmlns:p14="http://schemas.microsoft.com/office/powerpoint/2010/main" val="9498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Linear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a:bodyPr>
          <a:lstStyle/>
          <a:p>
            <a:pPr marL="0" indent="0">
              <a:buNone/>
            </a:pPr>
            <a:r>
              <a:rPr lang="en-US" sz="1600" b="0" dirty="0">
                <a:solidFill>
                  <a:srgbClr val="0000FF"/>
                </a:solidFill>
                <a:effectLst/>
                <a:highlight>
                  <a:srgbClr val="FFFFFF"/>
                </a:highlight>
                <a:latin typeface="Consolas" panose="020B0609020204030204" pitchFamily="49" charset="0"/>
              </a:rPr>
              <a:t>public</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98658"/>
                </a:solidFill>
                <a:effectLst/>
                <a:highlight>
                  <a:srgbClr val="FFFFFF"/>
                </a:highlight>
                <a:latin typeface="Consolas" panose="020B0609020204030204" pitchFamily="49" charset="0"/>
              </a:rPr>
              <a:t>0</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lst.size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FF"/>
                </a:solidFill>
                <a:effectLst/>
                <a:highlight>
                  <a:srgbClr val="FFFFFF"/>
                </a:highlight>
                <a:latin typeface="Consolas" panose="020B0609020204030204" pitchFamily="49" charset="0"/>
              </a:rPr>
              <a:t>private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start,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(start ==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false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lst.get</a:t>
            </a:r>
            <a:r>
              <a:rPr lang="en-US" sz="1600" b="0" dirty="0">
                <a:solidFill>
                  <a:srgbClr val="000000"/>
                </a:solidFill>
                <a:effectLst/>
                <a:highlight>
                  <a:srgbClr val="FFFFFF"/>
                </a:highlight>
                <a:latin typeface="Consolas" panose="020B0609020204030204" pitchFamily="49" charset="0"/>
              </a:rPr>
              <a:t>(start) ==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true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start+</a:t>
            </a:r>
            <a:r>
              <a:rPr lang="en-US" sz="1600" b="0" dirty="0">
                <a:solidFill>
                  <a:srgbClr val="098658"/>
                </a:solidFill>
                <a:effectLst/>
                <a:highlight>
                  <a:srgbClr val="FFFFFF"/>
                </a:highlight>
                <a:latin typeface="Consolas" panose="020B0609020204030204" pitchFamily="49" charset="0"/>
              </a:rPr>
              <a:t>1</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00"/>
                </a:solidFill>
                <a:effectLst/>
                <a:highlight>
                  <a:srgbClr val="FFFFFF"/>
                </a:highlight>
                <a:latin typeface="Consolas" panose="020B0609020204030204" pitchFamily="49" charset="0"/>
              </a:rPr>
              <a:t>}</a:t>
            </a:r>
          </a:p>
        </p:txBody>
      </p:sp>
      <p:grpSp>
        <p:nvGrpSpPr>
          <p:cNvPr id="27" name="Group 26" descr="An example array that is sorted in ascending order. &#10;&#10;The values are as follows: 5, 8, 13, 42, 75, 79, 88, 90, 95, 99">
            <a:extLst>
              <a:ext uri="{FF2B5EF4-FFF2-40B4-BE49-F238E27FC236}">
                <a16:creationId xmlns:a16="http://schemas.microsoft.com/office/drawing/2014/main" id="{10CB2629-A53F-A77D-E795-46ACFA30A2C2}"/>
              </a:ext>
            </a:extLst>
          </p:cNvPr>
          <p:cNvGrpSpPr/>
          <p:nvPr/>
        </p:nvGrpSpPr>
        <p:grpSpPr>
          <a:xfrm>
            <a:off x="6908800" y="1040108"/>
            <a:ext cx="5283200" cy="907778"/>
            <a:chOff x="6908800" y="1040108"/>
            <a:chExt cx="5283200" cy="907778"/>
          </a:xfrm>
        </p:grpSpPr>
        <p:grpSp>
          <p:nvGrpSpPr>
            <p:cNvPr id="28" name="Group 27">
              <a:extLst>
                <a:ext uri="{FF2B5EF4-FFF2-40B4-BE49-F238E27FC236}">
                  <a16:creationId xmlns:a16="http://schemas.microsoft.com/office/drawing/2014/main" id="{F2E22A03-67D4-9115-E948-ACD8F9DCAB20}"/>
                </a:ext>
              </a:extLst>
            </p:cNvPr>
            <p:cNvGrpSpPr/>
            <p:nvPr/>
          </p:nvGrpSpPr>
          <p:grpSpPr>
            <a:xfrm>
              <a:off x="6908800" y="1419566"/>
              <a:ext cx="5283200" cy="528320"/>
              <a:chOff x="1681480" y="5462905"/>
              <a:chExt cx="5283200" cy="528320"/>
            </a:xfrm>
            <a:solidFill>
              <a:schemeClr val="bg1"/>
            </a:solidFill>
          </p:grpSpPr>
          <p:sp>
            <p:nvSpPr>
              <p:cNvPr id="40" name="Rectangle 39">
                <a:extLst>
                  <a:ext uri="{FF2B5EF4-FFF2-40B4-BE49-F238E27FC236}">
                    <a16:creationId xmlns:a16="http://schemas.microsoft.com/office/drawing/2014/main" id="{AC3E1EA0-4C38-E610-1C64-7C1C78C53ED3}"/>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41" name="Rectangle 40">
                <a:extLst>
                  <a:ext uri="{FF2B5EF4-FFF2-40B4-BE49-F238E27FC236}">
                    <a16:creationId xmlns:a16="http://schemas.microsoft.com/office/drawing/2014/main" id="{9CC3FE3B-09BC-7F62-595A-7043CCB3188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42" name="Rectangle 41">
                <a:extLst>
                  <a:ext uri="{FF2B5EF4-FFF2-40B4-BE49-F238E27FC236}">
                    <a16:creationId xmlns:a16="http://schemas.microsoft.com/office/drawing/2014/main" id="{A0E9134F-CD68-88FF-1620-8F9E25F02693}"/>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43" name="Rectangle 42">
                <a:extLst>
                  <a:ext uri="{FF2B5EF4-FFF2-40B4-BE49-F238E27FC236}">
                    <a16:creationId xmlns:a16="http://schemas.microsoft.com/office/drawing/2014/main" id="{17CFB239-7EBD-AA43-6F29-E4004EB98246}"/>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44" name="Rectangle 43">
                <a:extLst>
                  <a:ext uri="{FF2B5EF4-FFF2-40B4-BE49-F238E27FC236}">
                    <a16:creationId xmlns:a16="http://schemas.microsoft.com/office/drawing/2014/main" id="{5B194439-89C3-7F47-AAF6-1D3A1F77F06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45" name="Rectangle 44">
                <a:extLst>
                  <a:ext uri="{FF2B5EF4-FFF2-40B4-BE49-F238E27FC236}">
                    <a16:creationId xmlns:a16="http://schemas.microsoft.com/office/drawing/2014/main" id="{60B79792-0F77-578A-0939-1F3F680CACA6}"/>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46" name="Rectangle 45">
                <a:extLst>
                  <a:ext uri="{FF2B5EF4-FFF2-40B4-BE49-F238E27FC236}">
                    <a16:creationId xmlns:a16="http://schemas.microsoft.com/office/drawing/2014/main" id="{13EC008C-DB6C-0B51-390A-C8E6007D3068}"/>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47" name="Rectangle 46">
                <a:extLst>
                  <a:ext uri="{FF2B5EF4-FFF2-40B4-BE49-F238E27FC236}">
                    <a16:creationId xmlns:a16="http://schemas.microsoft.com/office/drawing/2014/main" id="{87C3DA71-FC0C-1D1B-0C61-17FAC90FA9E5}"/>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48" name="Rectangle 47">
                <a:extLst>
                  <a:ext uri="{FF2B5EF4-FFF2-40B4-BE49-F238E27FC236}">
                    <a16:creationId xmlns:a16="http://schemas.microsoft.com/office/drawing/2014/main" id="{A5EEA0DB-E0CC-C062-5CDB-98FD7BE3285D}"/>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49" name="Rectangle 48">
                <a:extLst>
                  <a:ext uri="{FF2B5EF4-FFF2-40B4-BE49-F238E27FC236}">
                    <a16:creationId xmlns:a16="http://schemas.microsoft.com/office/drawing/2014/main" id="{8B6DE135-97C9-B225-FABA-D0E2D52368D4}"/>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29" name="Group 28">
              <a:extLst>
                <a:ext uri="{FF2B5EF4-FFF2-40B4-BE49-F238E27FC236}">
                  <a16:creationId xmlns:a16="http://schemas.microsoft.com/office/drawing/2014/main" id="{CE38D251-B6FA-FE47-6F42-CE50B3DEE3BE}"/>
                </a:ext>
              </a:extLst>
            </p:cNvPr>
            <p:cNvGrpSpPr/>
            <p:nvPr/>
          </p:nvGrpSpPr>
          <p:grpSpPr>
            <a:xfrm>
              <a:off x="6908800" y="1040108"/>
              <a:ext cx="5283200" cy="528320"/>
              <a:chOff x="1681480" y="5462905"/>
              <a:chExt cx="5283200" cy="528320"/>
            </a:xfrm>
          </p:grpSpPr>
          <p:sp>
            <p:nvSpPr>
              <p:cNvPr id="30" name="Rectangle 29">
                <a:extLst>
                  <a:ext uri="{FF2B5EF4-FFF2-40B4-BE49-F238E27FC236}">
                    <a16:creationId xmlns:a16="http://schemas.microsoft.com/office/drawing/2014/main" id="{E5D78976-093B-A092-21C0-7C7A6C63EC36}"/>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31" name="Rectangle 30">
                <a:extLst>
                  <a:ext uri="{FF2B5EF4-FFF2-40B4-BE49-F238E27FC236}">
                    <a16:creationId xmlns:a16="http://schemas.microsoft.com/office/drawing/2014/main" id="{D6E7790C-EFA6-205B-AA7E-8933925A08D8}"/>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32" name="Rectangle 31">
                <a:extLst>
                  <a:ext uri="{FF2B5EF4-FFF2-40B4-BE49-F238E27FC236}">
                    <a16:creationId xmlns:a16="http://schemas.microsoft.com/office/drawing/2014/main" id="{25A668E2-44AE-1628-692A-7DB8F3106505}"/>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33" name="Rectangle 32">
                <a:extLst>
                  <a:ext uri="{FF2B5EF4-FFF2-40B4-BE49-F238E27FC236}">
                    <a16:creationId xmlns:a16="http://schemas.microsoft.com/office/drawing/2014/main" id="{F7417051-D21F-D6CB-28D4-1B6F60435E43}"/>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34" name="Rectangle 33">
                <a:extLst>
                  <a:ext uri="{FF2B5EF4-FFF2-40B4-BE49-F238E27FC236}">
                    <a16:creationId xmlns:a16="http://schemas.microsoft.com/office/drawing/2014/main" id="{7309F633-6539-348A-1F6C-D56F8A4F809F}"/>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35" name="Rectangle 34">
                <a:extLst>
                  <a:ext uri="{FF2B5EF4-FFF2-40B4-BE49-F238E27FC236}">
                    <a16:creationId xmlns:a16="http://schemas.microsoft.com/office/drawing/2014/main" id="{B466DD14-A64B-294C-43E0-C5E8D4EED07D}"/>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36" name="Rectangle 35">
                <a:extLst>
                  <a:ext uri="{FF2B5EF4-FFF2-40B4-BE49-F238E27FC236}">
                    <a16:creationId xmlns:a16="http://schemas.microsoft.com/office/drawing/2014/main" id="{403788EE-839A-FB61-61FE-2B8B0632EB44}"/>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37" name="Rectangle 36">
                <a:extLst>
                  <a:ext uri="{FF2B5EF4-FFF2-40B4-BE49-F238E27FC236}">
                    <a16:creationId xmlns:a16="http://schemas.microsoft.com/office/drawing/2014/main" id="{60A3AF49-46C7-513F-3224-BA4FD5159D60}"/>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38" name="Rectangle 37">
                <a:extLst>
                  <a:ext uri="{FF2B5EF4-FFF2-40B4-BE49-F238E27FC236}">
                    <a16:creationId xmlns:a16="http://schemas.microsoft.com/office/drawing/2014/main" id="{964673FF-596D-BF38-FFF8-3655BB1ADEA3}"/>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39" name="Rectangle 38">
                <a:extLst>
                  <a:ext uri="{FF2B5EF4-FFF2-40B4-BE49-F238E27FC236}">
                    <a16:creationId xmlns:a16="http://schemas.microsoft.com/office/drawing/2014/main" id="{AD53A5EE-E6AB-D2E9-69DA-7578314EC4E0}"/>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p:spTree>
    <p:extLst>
      <p:ext uri="{BB962C8B-B14F-4D97-AF65-F5344CB8AC3E}">
        <p14:creationId xmlns:p14="http://schemas.microsoft.com/office/powerpoint/2010/main" val="95196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p:txBody>
          <a:bodyPr/>
          <a:lstStyle/>
          <a:p>
            <a:r>
              <a:rPr lang="en-US" dirty="0"/>
              <a:t>Prettier List Sum Substitution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p:txBody>
              <a:bodyPr/>
              <a:lstStyle/>
              <a:p>
                <a:r>
                  <a:rPr lang="en-US" dirty="0">
                    <a:solidFill>
                      <a:srgbClr val="FF0000"/>
                    </a:solidFill>
                  </a:rPr>
                  <a:t>Draw a picture of the recursion</a:t>
                </a:r>
              </a:p>
              <a:p>
                <a:r>
                  <a:rPr lang="en-US" dirty="0">
                    <a:solidFill>
                      <a:srgbClr val="0070C0"/>
                    </a:solidFill>
                  </a:rPr>
                  <a:t>Identify the work done per stack frame</a:t>
                </a:r>
              </a:p>
              <a:p>
                <a:pPr lvl="1"/>
                <a:r>
                  <a:rPr lang="en-US" dirty="0">
                    <a:solidFill>
                      <a:srgbClr val="0070C0"/>
                    </a:solidFill>
                  </a:rPr>
                  <a:t>1 for this example</a:t>
                </a:r>
              </a:p>
              <a:p>
                <a:r>
                  <a:rPr lang="en-US" dirty="0"/>
                  <a:t>Add up all the work!</a:t>
                </a:r>
              </a:p>
              <a:p>
                <a:pPr lvl="1"/>
                <a:r>
                  <a:rPr lang="en-US" dirty="0"/>
                  <a:t>Sum is the answer!</a:t>
                </a:r>
              </a:p>
              <a:p>
                <a:pPr lvl="1"/>
                <a:r>
                  <a:rPr lang="en-US" dirty="0"/>
                  <a:t>In this case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r>
                          <a:rPr lang="en-US" b="0" i="1" smtClean="0">
                            <a:latin typeface="Cambria Math" panose="02040503050406030204" pitchFamily="18" charset="0"/>
                          </a:rPr>
                          <m:t>𝑛</m:t>
                        </m:r>
                      </m:sup>
                      <m:e>
                        <m:r>
                          <a:rPr lang="en-US" i="1">
                            <a:latin typeface="Cambria Math" panose="02040503050406030204" pitchFamily="18" charset="0"/>
                          </a:rPr>
                          <m:t>1</m:t>
                        </m:r>
                      </m:e>
                    </m:nary>
                    <m:r>
                      <a:rPr lang="en-US" i="1">
                        <a:latin typeface="Cambria Math" panose="02040503050406030204" pitchFamily="18" charset="0"/>
                      </a:rPr>
                      <m:t>=</m:t>
                    </m:r>
                    <m:r>
                      <m:rPr>
                        <m:sty m:val="p"/>
                      </m:rPr>
                      <a:rPr lang="en-US">
                        <a:latin typeface="Cambria Math" panose="02040503050406030204" pitchFamily="18" charset="0"/>
                      </a:rPr>
                      <m:t>Θ</m:t>
                    </m:r>
                    <m:r>
                      <a:rPr lang="en-US" i="1">
                        <a:latin typeface="Cambria Math" panose="02040503050406030204" pitchFamily="18" charset="0"/>
                      </a:rPr>
                      <m:t>(</m:t>
                    </m:r>
                    <m:r>
                      <a:rPr lang="en-US" b="0" i="1" smtClean="0">
                        <a:latin typeface="Cambria Math" panose="02040503050406030204" pitchFamily="18" charset="0"/>
                      </a:rPr>
                      <m:t>𝑛</m:t>
                    </m:r>
                    <m:r>
                      <a:rPr lang="en-US" i="1">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FEFDDAAF-81C9-60F9-3FF1-0F973D6184C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1D829C-229D-3C07-6BB5-2622736B211F}"/>
                  </a:ext>
                </a:extLst>
              </p:cNvPr>
              <p:cNvSpPr txBox="1"/>
              <p:nvPr/>
            </p:nvSpPr>
            <p:spPr>
              <a:xfrm>
                <a:off x="626567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+1</m:t>
                      </m:r>
                    </m:oMath>
                  </m:oMathPara>
                </a14:m>
                <a:endParaRPr lang="en-US" sz="2400" dirty="0"/>
              </a:p>
            </p:txBody>
          </p:sp>
        </mc:Choice>
        <mc:Fallback xmlns="">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65675" y="1825625"/>
                <a:ext cx="3849189" cy="461665"/>
              </a:xfrm>
              <a:prstGeom prst="rect">
                <a:avLst/>
              </a:prstGeom>
              <a:blipFill>
                <a:blip r:embed="rId3"/>
                <a:stretch>
                  <a:fillRect/>
                </a:stretch>
              </a:blipFill>
            </p:spPr>
            <p:txBody>
              <a:bodyPr/>
              <a:lstStyle/>
              <a:p>
                <a:r>
                  <a:rPr lang="en-US">
                    <a:noFill/>
                  </a:rPr>
                  <a:t> </a:t>
                </a:r>
              </a:p>
            </p:txBody>
          </p:sp>
        </mc:Fallback>
      </mc:AlternateContent>
      <p:sp>
        <p:nvSpPr>
          <p:cNvPr id="32" name="Left Brace 31" descr="Because we need to make n recursive calls before reaching a base case, the height of this chain of stack frames is n.">
            <a:extLst>
              <a:ext uri="{FF2B5EF4-FFF2-40B4-BE49-F238E27FC236}">
                <a16:creationId xmlns:a16="http://schemas.microsoft.com/office/drawing/2014/main" id="{AB522D64-0FDA-0C3B-396A-2F0191CC116C}"/>
              </a:ext>
            </a:extLst>
          </p:cNvPr>
          <p:cNvSpPr/>
          <p:nvPr/>
        </p:nvSpPr>
        <p:spPr>
          <a:xfrm flipH="1" flipV="1">
            <a:off x="971701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79612" y="3995722"/>
                <a:ext cx="2312388" cy="1384995"/>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smtClean="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a:p>
                <a:pPr algn="ctr"/>
                <a:r>
                  <a:rPr lang="en-US" sz="2800" dirty="0"/>
                  <a:t>(</a:t>
                </a:r>
                <a14:m>
                  <m:oMath xmlns:m="http://schemas.openxmlformats.org/officeDocument/2006/math">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2</m:t>
                    </m:r>
                  </m:oMath>
                </a14:m>
                <a:r>
                  <a:rPr lang="en-US" sz="2800" dirty="0"/>
                  <a:t>)</a:t>
                </a:r>
              </a:p>
            </p:txBody>
          </p:sp>
        </mc:Choice>
        <mc:Fallback>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79612" y="3995722"/>
                <a:ext cx="2312388" cy="1384995"/>
              </a:xfrm>
              <a:prstGeom prst="rect">
                <a:avLst/>
              </a:prstGeom>
              <a:blipFill>
                <a:blip r:embed="rId4"/>
                <a:stretch>
                  <a:fillRect t="-3947" b="-11404"/>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17EAD35-6AB2-0B1C-8834-423A45431A3C}"/>
                  </a:ext>
                </a:extLst>
              </p:cNvPr>
              <p:cNvSpPr txBox="1"/>
              <p:nvPr/>
            </p:nvSpPr>
            <p:spPr>
              <a:xfrm>
                <a:off x="758066" y="4903161"/>
                <a:ext cx="3874650" cy="646331"/>
              </a:xfrm>
              <a:prstGeom prst="rect">
                <a:avLst/>
              </a:prstGeom>
              <a:noFill/>
            </p:spPr>
            <p:txBody>
              <a:bodyPr wrap="none" rtlCol="0">
                <a:spAutoFit/>
              </a:bodyPr>
              <a:lstStyle/>
              <a:p>
                <a:r>
                  <a:rPr lang="en-US" sz="3600" dirty="0"/>
                  <a:t>Running time: </a:t>
                </a:r>
                <a14:m>
                  <m:oMath xmlns:m="http://schemas.openxmlformats.org/officeDocument/2006/math">
                    <m:r>
                      <m:rPr>
                        <m:sty m:val="p"/>
                      </m:rPr>
                      <a:rPr lang="en-US" sz="3600" b="0" i="0" smtClean="0">
                        <a:latin typeface="Cambria Math" panose="02040503050406030204" pitchFamily="18" charset="0"/>
                      </a:rPr>
                      <m:t>Θ</m:t>
                    </m:r>
                    <m:r>
                      <a:rPr lang="en-US" sz="3600" b="0" i="1" smtClean="0">
                        <a:latin typeface="Cambria Math" panose="02040503050406030204" pitchFamily="18" charset="0"/>
                      </a:rPr>
                      <m:t>(</m:t>
                    </m:r>
                    <m:r>
                      <a:rPr lang="en-US" sz="3600" b="0" i="1" smtClean="0">
                        <a:latin typeface="Cambria Math" panose="02040503050406030204" pitchFamily="18" charset="0"/>
                      </a:rPr>
                      <m:t>𝑛</m:t>
                    </m:r>
                    <m:r>
                      <a:rPr lang="en-US" sz="3600" b="0" i="1" smtClean="0">
                        <a:latin typeface="Cambria Math" panose="02040503050406030204" pitchFamily="18" charset="0"/>
                      </a:rPr>
                      <m:t>)</m:t>
                    </m:r>
                  </m:oMath>
                </a14:m>
                <a:endParaRPr lang="en-US" sz="3600" dirty="0"/>
              </a:p>
            </p:txBody>
          </p:sp>
        </mc:Choice>
        <mc:Fallback>
          <p:sp>
            <p:nvSpPr>
              <p:cNvPr id="6" name="TextBox 5">
                <a:extLst>
                  <a:ext uri="{FF2B5EF4-FFF2-40B4-BE49-F238E27FC236}">
                    <a16:creationId xmlns:a16="http://schemas.microsoft.com/office/drawing/2014/main" id="{C17EAD35-6AB2-0B1C-8834-423A45431A3C}"/>
                  </a:ext>
                </a:extLst>
              </p:cNvPr>
              <p:cNvSpPr txBox="1">
                <a:spLocks noRot="1" noChangeAspect="1" noMove="1" noResize="1" noEditPoints="1" noAdjustHandles="1" noChangeArrowheads="1" noChangeShapeType="1" noTextEdit="1"/>
              </p:cNvSpPr>
              <p:nvPr/>
            </p:nvSpPr>
            <p:spPr>
              <a:xfrm>
                <a:off x="758066" y="4903161"/>
                <a:ext cx="3874650" cy="646331"/>
              </a:xfrm>
              <a:prstGeom prst="rect">
                <a:avLst/>
              </a:prstGeom>
              <a:blipFill>
                <a:blip r:embed="rId5"/>
                <a:stretch>
                  <a:fillRect l="-4717" t="-14151" b="-34906"/>
                </a:stretch>
              </a:blipFill>
            </p:spPr>
            <p:txBody>
              <a:bodyPr/>
              <a:lstStyle/>
              <a:p>
                <a:r>
                  <a:rPr lang="en-US">
                    <a:noFill/>
                  </a:rPr>
                  <a:t> </a:t>
                </a:r>
              </a:p>
            </p:txBody>
          </p:sp>
        </mc:Fallback>
      </mc:AlternateContent>
      <p:grpSp>
        <p:nvGrpSpPr>
          <p:cNvPr id="12" name="Group 11" descr="A picture of the recursion of linear search.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14BEBE9B-12FE-2004-6DBA-68AFD87D5C23}"/>
              </a:ext>
            </a:extLst>
          </p:cNvPr>
          <p:cNvGrpSpPr/>
          <p:nvPr/>
        </p:nvGrpSpPr>
        <p:grpSpPr>
          <a:xfrm>
            <a:off x="7559285" y="2131196"/>
            <a:ext cx="1737782" cy="4253404"/>
            <a:chOff x="7673338" y="1678247"/>
            <a:chExt cx="1737782" cy="4253404"/>
          </a:xfrm>
        </p:grpSpPr>
        <mc:AlternateContent xmlns:mc="http://schemas.openxmlformats.org/markup-compatibility/2006" xmlns:a14="http://schemas.microsoft.com/office/drawing/2010/main">
          <mc:Choice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D7D8E0AF-3481-5748-34FB-8D624C2E516D}"/>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5"/>
                <a:stretch>
                  <a:fillRect/>
                </a:stretch>
              </p:blipFill>
              <p:spPr>
                <a:xfrm>
                  <a:off x="9401400" y="4473720"/>
                  <a:ext cx="19080" cy="19080"/>
                </a:xfrm>
                <a:prstGeom prst="rect">
                  <a:avLst/>
                </a:prstGeom>
              </p:spPr>
            </p:pic>
          </mc:Fallback>
        </mc:AlternateContent>
      </p:grpSp>
    </p:spTree>
    <p:extLst>
      <p:ext uri="{BB962C8B-B14F-4D97-AF65-F5344CB8AC3E}">
        <p14:creationId xmlns:p14="http://schemas.microsoft.com/office/powerpoint/2010/main" val="377184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Code</a:t>
            </a:r>
          </a:p>
        </p:txBody>
      </p:sp>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0" indent="0">
              <a:buNone/>
            </a:pPr>
            <a:r>
              <a:rPr lang="en-US" sz="1800" b="0" dirty="0">
                <a:solidFill>
                  <a:srgbClr val="0000FF"/>
                </a:solidFill>
                <a:effectLst/>
                <a:latin typeface="Consolas" panose="020B0609020204030204" pitchFamily="49" charset="0"/>
              </a:rPr>
              <a:t>public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sum(</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list.size</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private</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low,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high){</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list[low];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middle = (</a:t>
            </a:r>
            <a:r>
              <a:rPr lang="en-US" sz="1800" b="0" dirty="0" err="1">
                <a:solidFill>
                  <a:srgbClr val="000000"/>
                </a:solidFill>
                <a:effectLst/>
                <a:latin typeface="Consolas" panose="020B0609020204030204" pitchFamily="49" charset="0"/>
              </a:rPr>
              <a:t>high+low</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low, middle) +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middle, high);</a:t>
            </a:r>
          </a:p>
          <a:p>
            <a:pPr marL="0" indent="0">
              <a:buNone/>
            </a:pPr>
            <a:r>
              <a:rPr lang="en-US" sz="18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5671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315"/>
            <a:ext cx="10515600" cy="1325563"/>
          </a:xfrm>
        </p:spPr>
        <p:txBody>
          <a:bodyPr/>
          <a:lstStyle/>
          <a:p>
            <a:r>
              <a:rPr lang="en-US" dirty="0"/>
              <a:t>Tree Method for Recursive Summation</a:t>
            </a:r>
          </a:p>
        </p:txBody>
      </p:sp>
      <p:sp>
        <p:nvSpPr>
          <p:cNvPr id="4" name="Rectangle 3">
            <a:extLst>
              <a:ext uri="{FF2B5EF4-FFF2-40B4-BE49-F238E27FC236}">
                <a16:creationId xmlns:a16="http://schemas.microsoft.com/office/drawing/2014/main" id="{9012C2DE-48D7-4255-8090-ED57B66C05A8}"/>
              </a:ext>
            </a:extLst>
          </p:cNvPr>
          <p:cNvSpPr/>
          <p:nvPr/>
        </p:nvSpPr>
        <p:spPr>
          <a:xfrm>
            <a:off x="195866" y="1114400"/>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83" name="Rectangle 82">
            <a:extLst>
              <a:ext uri="{FF2B5EF4-FFF2-40B4-BE49-F238E27FC236}">
                <a16:creationId xmlns:a16="http://schemas.microsoft.com/office/drawing/2014/main" id="{77C56E80-DC90-4EC4-92E0-C4399C5085E9}"/>
              </a:ext>
            </a:extLst>
          </p:cNvPr>
          <p:cNvSpPr/>
          <p:nvPr/>
        </p:nvSpPr>
        <p:spPr>
          <a:xfrm>
            <a:off x="81538" y="1780780"/>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mc:AlternateContent xmlns:mc="http://schemas.openxmlformats.org/markup-compatibility/2006" xmlns:a14="http://schemas.microsoft.com/office/drawing/2010/main">
        <mc:Choice Requires="a14">
          <p:sp>
            <p:nvSpPr>
              <p:cNvPr id="45" name="Rectangle 44"/>
              <p:cNvSpPr/>
              <p:nvPr/>
            </p:nvSpPr>
            <p:spPr>
              <a:xfrm>
                <a:off x="4465610" y="1182558"/>
                <a:ext cx="3241721" cy="745460"/>
              </a:xfrm>
              <a:prstGeom prst="rect">
                <a:avLst/>
              </a:prstGeom>
            </p:spPr>
            <p:txBody>
              <a:bodyPr wrap="none">
                <a:spAutoFit/>
              </a:bodyPr>
              <a:lstStyle/>
              <a:p>
                <a:pPr lvl="1"/>
                <a14:m>
                  <m:oMathPara xmlns:m="http://schemas.openxmlformats.org/officeDocument/2006/math">
                    <m:oMathParaPr>
                      <m:jc m:val="center"/>
                    </m:oMathParaPr>
                    <m:oMath xmlns:m="http://schemas.openxmlformats.org/officeDocument/2006/math">
                      <m:r>
                        <a:rPr lang="en-US" sz="2400" i="1" smtClean="0">
                          <a:latin typeface="Cambria Math"/>
                        </a:rPr>
                        <m:t>𝑇</m:t>
                      </m:r>
                      <m:d>
                        <m:dPr>
                          <m:ctrlPr>
                            <a:rPr lang="en-US" sz="2400" i="1">
                              <a:latin typeface="Cambria Math" panose="02040503050406030204" pitchFamily="18" charset="0"/>
                            </a:rPr>
                          </m:ctrlPr>
                        </m:dPr>
                        <m:e>
                          <m:r>
                            <a:rPr lang="en-US" sz="2400" i="1">
                              <a:latin typeface="Cambria Math"/>
                            </a:rPr>
                            <m:t>𝑛</m:t>
                          </m:r>
                        </m:e>
                      </m:d>
                      <m:r>
                        <a:rPr lang="en-US" sz="2400" i="1">
                          <a:latin typeface="Cambria Math"/>
                        </a:rPr>
                        <m:t>=2</m:t>
                      </m:r>
                      <m:r>
                        <a:rPr lang="en-US" sz="2400" i="1">
                          <a:latin typeface="Cambria Math"/>
                        </a:rPr>
                        <m:t>𝑇</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2</m:t>
                              </m:r>
                            </m:den>
                          </m:f>
                          <m:r>
                            <a:rPr lang="en-US" sz="2400" i="1">
                              <a:latin typeface="Cambria Math"/>
                            </a:rPr>
                            <m:t> </m:t>
                          </m:r>
                        </m:e>
                      </m:d>
                      <m:r>
                        <a:rPr lang="en-US" sz="2400" i="1">
                          <a:latin typeface="Cambria Math"/>
                        </a:rPr>
                        <m:t>+</m:t>
                      </m:r>
                      <m:r>
                        <a:rPr lang="en-US" sz="2400" b="0" i="1" smtClean="0">
                          <a:latin typeface="Cambria Math" panose="02040503050406030204" pitchFamily="18" charset="0"/>
                        </a:rPr>
                        <m:t>1</m:t>
                      </m:r>
                    </m:oMath>
                  </m:oMathPara>
                </a14:m>
                <a:endParaRPr lang="en-US" sz="2400" dirty="0"/>
              </a:p>
            </p:txBody>
          </p:sp>
        </mc:Choice>
        <mc:Fallback xmlns="">
          <p:sp>
            <p:nvSpPr>
              <p:cNvPr id="45" name="Rectangle 44"/>
              <p:cNvSpPr>
                <a:spLocks noRot="1" noChangeAspect="1" noMove="1" noResize="1" noEditPoints="1" noAdjustHandles="1" noChangeArrowheads="1" noChangeShapeType="1" noTextEdit="1"/>
              </p:cNvSpPr>
              <p:nvPr/>
            </p:nvSpPr>
            <p:spPr>
              <a:xfrm>
                <a:off x="4465610" y="1182558"/>
                <a:ext cx="3241721" cy="745460"/>
              </a:xfrm>
              <a:prstGeom prst="rect">
                <a:avLst/>
              </a:prstGeom>
              <a:blipFill>
                <a:blip r:embed="rId2"/>
                <a:stretch>
                  <a:fillRect/>
                </a:stretch>
              </a:blipFill>
            </p:spPr>
            <p:txBody>
              <a:bodyPr/>
              <a:lstStyle/>
              <a:p>
                <a:r>
                  <a:rPr lang="en-US">
                    <a:noFill/>
                  </a:rPr>
                  <a:t> </a:t>
                </a:r>
              </a:p>
            </p:txBody>
          </p:sp>
        </mc:Fallback>
      </mc:AlternateContent>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9F49813F-E6EA-4A18-6999-C83E2CFA528A}"/>
              </a:ext>
            </a:extLst>
          </p:cNvPr>
          <p:cNvGrpSpPr/>
          <p:nvPr/>
        </p:nvGrpSpPr>
        <p:grpSpPr>
          <a:xfrm>
            <a:off x="1295400" y="1992868"/>
            <a:ext cx="7071405" cy="3693910"/>
            <a:chOff x="1295400" y="1992868"/>
            <a:chExt cx="7071405" cy="3693910"/>
          </a:xfrm>
        </p:grpSpPr>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65A74FB7-C58B-91EF-9460-0BA341C59DEF}"/>
                </a:ext>
              </a:extLst>
            </p:cNvPr>
            <p:cNvGrpSpPr/>
            <p:nvPr/>
          </p:nvGrpSpPr>
          <p:grpSpPr>
            <a:xfrm>
              <a:off x="1295400" y="2133600"/>
              <a:ext cx="7071405" cy="3553178"/>
              <a:chOff x="1295400" y="2133600"/>
              <a:chExt cx="7071405" cy="3553178"/>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p:cNvSpPr txBox="1"/>
                  <p:nvPr/>
                </p:nvSpPr>
                <p:spPr>
                  <a:xfrm>
                    <a:off x="3962400" y="294030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6580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65805"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65805"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65805"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65805"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65805"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TextBox 63"/>
                <p:cNvSpPr txBox="1"/>
                <p:nvPr/>
              </p:nvSpPr>
              <p:spPr>
                <a:xfrm>
                  <a:off x="5668215" y="199286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65805"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229600"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267700" y="3676688"/>
                <a:ext cx="2726872"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 (</a:t>
                </a:r>
                <a14:m>
                  <m:oMath xmlns:m="http://schemas.openxmlformats.org/officeDocument/2006/math">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2</m:t>
                    </m:r>
                  </m:oMath>
                </a14:m>
                <a:r>
                  <a:rPr lang="en-US" sz="2800" dirty="0"/>
                  <a:t>)</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267700" y="3676688"/>
                <a:ext cx="2726872" cy="954107"/>
              </a:xfrm>
              <a:prstGeom prst="rect">
                <a:avLst/>
              </a:prstGeom>
              <a:blipFill>
                <a:blip r:embed="rId28"/>
                <a:stretch>
                  <a:fillRect l="-3571" t="-5732" r="-3348"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8267700"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8267700" y="2051914"/>
                <a:ext cx="3733827" cy="505395"/>
              </a:xfrm>
              <a:prstGeom prst="rect">
                <a:avLst/>
              </a:prstGeom>
              <a:blipFill>
                <a:blip r:embed="rId29"/>
                <a:stretch>
                  <a:fillRect t="-12048"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9370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1" grpId="0"/>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 Solving the Series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r>
                        <a:rPr lang="en-US" sz="2800" b="0" i="1" smtClean="0">
                          <a:latin typeface="Cambria Math" panose="02040503050406030204" pitchFamily="18" charset="0"/>
                        </a:rPr>
                        <m:t>𝑛</m:t>
                      </m:r>
                      <m:r>
                        <a:rPr lang="en-US" sz="2800" b="0" i="1" smtClean="0">
                          <a:latin typeface="Cambria Math" panose="02040503050406030204" pitchFamily="18" charset="0"/>
                        </a:rPr>
                        <m:t>−1=</m:t>
                      </m:r>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m:oMathPara>
                </a14:m>
                <a:endParaRPr lang="en-US" sz="2800" dirty="0"/>
              </a:p>
              <a:p>
                <a:pPr marL="457200" lvl="1" indent="0">
                  <a:buNone/>
                </a:pPr>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0250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3FB1-2024-3C2F-82C7-A570445A90E0}"/>
              </a:ext>
            </a:extLst>
          </p:cNvPr>
          <p:cNvSpPr>
            <a:spLocks noGrp="1"/>
          </p:cNvSpPr>
          <p:nvPr>
            <p:ph type="title"/>
          </p:nvPr>
        </p:nvSpPr>
        <p:spPr/>
        <p:txBody>
          <a:bodyPr/>
          <a:lstStyle/>
          <a:p>
            <a:r>
              <a:rPr lang="en-US" dirty="0"/>
              <a:t>Tree Method Summary: Chip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E1F56D-397B-4864-2127-448D2A1008AD}"/>
                  </a:ext>
                </a:extLst>
              </p:cNvPr>
              <p:cNvSpPr>
                <a:spLocks noGrp="1"/>
              </p:cNvSpPr>
              <p:nvPr>
                <p:ph idx="1"/>
              </p:nvPr>
            </p:nvSpPr>
            <p:spPr>
              <a:xfrm>
                <a:off x="838200" y="1825625"/>
                <a:ext cx="10515600" cy="4813714"/>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Subtract </a:t>
                </a:r>
                <a14:m>
                  <m:oMath xmlns:m="http://schemas.openxmlformats.org/officeDocument/2006/math">
                    <m:r>
                      <a:rPr lang="en-US" b="0" i="1" smtClean="0">
                        <a:latin typeface="Cambria Math" panose="02040503050406030204" pitchFamily="18" charset="0"/>
                      </a:rPr>
                      <m:t>𝑏</m:t>
                    </m:r>
                  </m:oMath>
                </a14:m>
                <a:r>
                  <a:rPr lang="en-US" dirty="0"/>
                  <a:t> from the parent’s input size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pPr lvl="2"/>
                <a:r>
                  <a:rPr lang="en-US" dirty="0"/>
                  <a:t>Because that is the number of times we must subtract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subtract </a:t>
                </a:r>
                <a14:m>
                  <m:oMath xmlns:m="http://schemas.openxmlformats.org/officeDocument/2006/math">
                    <m:r>
                      <a:rPr lang="en-US" b="0" i="1" smtClean="0">
                        <a:latin typeface="Cambria Math" panose="02040503050406030204" pitchFamily="18" charset="0"/>
                      </a:rPr>
                      <m:t>𝑏</m:t>
                    </m:r>
                  </m:oMath>
                </a14:m>
                <a:r>
                  <a:rPr lang="en-US" dirty="0"/>
                  <a:t> until we reach 0?”</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b="0" i="1" smtClean="0">
                        <a:latin typeface="Cambria Math" panose="02040503050406030204" pitchFamily="18" charset="0"/>
                      </a:rPr>
                      <m:t>𝑖</m:t>
                    </m:r>
                  </m:oMath>
                </a14:m>
                <a:r>
                  <a:rPr lang="en-US" dirty="0"/>
                  <a:t> as a function of </a:t>
                </a:r>
                <a14:m>
                  <m:oMath xmlns:m="http://schemas.openxmlformats.org/officeDocument/2006/math">
                    <m:r>
                      <a:rPr lang="en-US" b="0" i="1" smtClean="0">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=0</m:t>
                    </m:r>
                  </m:oMath>
                </a14:m>
                <a:r>
                  <a:rPr lang="en-US" dirty="0"/>
                  <a:t> up to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r>
                  <a:rPr lang="en-US" dirty="0"/>
                  <a:t>Solve the series</a:t>
                </a:r>
              </a:p>
            </p:txBody>
          </p:sp>
        </mc:Choice>
        <mc:Fallback xmlns="">
          <p:sp>
            <p:nvSpPr>
              <p:cNvPr id="3" name="Content Placeholder 2">
                <a:extLst>
                  <a:ext uri="{FF2B5EF4-FFF2-40B4-BE49-F238E27FC236}">
                    <a16:creationId xmlns:a16="http://schemas.microsoft.com/office/drawing/2014/main" id="{59E1F56D-397B-4864-2127-448D2A1008AD}"/>
                  </a:ext>
                </a:extLst>
              </p:cNvPr>
              <p:cNvSpPr>
                <a:spLocks noGrp="1" noRot="1" noChangeAspect="1" noMove="1" noResize="1" noEditPoints="1" noAdjustHandles="1" noChangeArrowheads="1" noChangeShapeType="1" noTextEdit="1"/>
              </p:cNvSpPr>
              <p:nvPr>
                <p:ph idx="1"/>
              </p:nvPr>
            </p:nvSpPr>
            <p:spPr>
              <a:xfrm>
                <a:off x="838200" y="1825625"/>
                <a:ext cx="10515600" cy="4813714"/>
              </a:xfrm>
              <a:blipFill>
                <a:blip r:embed="rId2"/>
                <a:stretch>
                  <a:fillRect l="-928" t="-3165"/>
                </a:stretch>
              </a:blipFill>
            </p:spPr>
            <p:txBody>
              <a:bodyPr/>
              <a:lstStyle/>
              <a:p>
                <a:r>
                  <a:rPr lang="en-US">
                    <a:noFill/>
                  </a:rPr>
                  <a:t> </a:t>
                </a:r>
              </a:p>
            </p:txBody>
          </p:sp>
        </mc:Fallback>
      </mc:AlternateContent>
    </p:spTree>
    <p:extLst>
      <p:ext uri="{BB962C8B-B14F-4D97-AF65-F5344CB8AC3E}">
        <p14:creationId xmlns:p14="http://schemas.microsoft.com/office/powerpoint/2010/main" val="259354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150C5-7F4C-B114-9C6D-551C73509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44591-7216-6863-6ED7-569C0FEECD75}"/>
              </a:ext>
            </a:extLst>
          </p:cNvPr>
          <p:cNvSpPr>
            <a:spLocks noGrp="1"/>
          </p:cNvSpPr>
          <p:nvPr>
            <p:ph type="title"/>
          </p:nvPr>
        </p:nvSpPr>
        <p:spPr/>
        <p:txBody>
          <a:bodyPr/>
          <a:lstStyle/>
          <a:p>
            <a:r>
              <a:rPr lang="en-US" dirty="0"/>
              <a:t>Tree Method Summary: Divide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A3A40D-EE5F-5E3C-882C-C1065A998549}"/>
                  </a:ext>
                </a:extLst>
              </p:cNvPr>
              <p:cNvSpPr>
                <a:spLocks noGrp="1"/>
              </p:cNvSpPr>
              <p:nvPr>
                <p:ph idx="1"/>
              </p:nvPr>
            </p:nvSpPr>
            <p:spPr>
              <a:xfrm>
                <a:off x="838200" y="1825624"/>
                <a:ext cx="10515600" cy="4823653"/>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Divide the parent’s input size by </a:t>
                </a:r>
                <a14:m>
                  <m:oMath xmlns:m="http://schemas.openxmlformats.org/officeDocument/2006/math">
                    <m:r>
                      <a:rPr lang="en-US" b="0" i="1" smtClean="0">
                        <a:latin typeface="Cambria Math" panose="02040503050406030204" pitchFamily="18" charset="0"/>
                      </a:rPr>
                      <m:t>𝑏</m:t>
                    </m:r>
                  </m:oMath>
                </a14:m>
                <a:r>
                  <a:rPr lang="en-US" dirty="0"/>
                  <a:t>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pPr lvl="2"/>
                <a:r>
                  <a:rPr lang="en-US" dirty="0"/>
                  <a:t>Because that is the number of times we must divide by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divide by </a:t>
                </a:r>
                <a14:m>
                  <m:oMath xmlns:m="http://schemas.openxmlformats.org/officeDocument/2006/math">
                    <m:r>
                      <a:rPr lang="en-US" i="1">
                        <a:latin typeface="Cambria Math" panose="02040503050406030204" pitchFamily="18" charset="0"/>
                      </a:rPr>
                      <m:t>𝑏</m:t>
                    </m:r>
                  </m:oMath>
                </a14:m>
                <a:r>
                  <a:rPr lang="en-US" dirty="0"/>
                  <a:t> until we reach 1?”</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i="1">
                        <a:latin typeface="Cambria Math" panose="02040503050406030204" pitchFamily="18" charset="0"/>
                      </a:rPr>
                      <m:t>𝑖</m:t>
                    </m:r>
                  </m:oMath>
                </a14:m>
                <a:r>
                  <a:rPr lang="en-US" dirty="0"/>
                  <a:t> as a function of </a:t>
                </a:r>
                <a14:m>
                  <m:oMath xmlns:m="http://schemas.openxmlformats.org/officeDocument/2006/math">
                    <m:r>
                      <a:rPr lang="en-US" i="1">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=0</m:t>
                    </m:r>
                  </m:oMath>
                </a14:m>
                <a:r>
                  <a:rPr lang="en-US" dirty="0"/>
                  <a:t> up to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r>
                  <a:rPr lang="en-US" dirty="0"/>
                  <a:t>Solve the series</a:t>
                </a:r>
              </a:p>
              <a:p>
                <a:pPr lvl="1"/>
                <a:endParaRPr lang="en-US" dirty="0"/>
              </a:p>
            </p:txBody>
          </p:sp>
        </mc:Choice>
        <mc:Fallback xmlns="">
          <p:sp>
            <p:nvSpPr>
              <p:cNvPr id="3" name="Content Placeholder 2">
                <a:extLst>
                  <a:ext uri="{FF2B5EF4-FFF2-40B4-BE49-F238E27FC236}">
                    <a16:creationId xmlns:a16="http://schemas.microsoft.com/office/drawing/2014/main" id="{F6A3A40D-EE5F-5E3C-882C-C1065A998549}"/>
                  </a:ext>
                </a:extLst>
              </p:cNvPr>
              <p:cNvSpPr>
                <a:spLocks noGrp="1" noRot="1" noChangeAspect="1" noMove="1" noResize="1" noEditPoints="1" noAdjustHandles="1" noChangeArrowheads="1" noChangeShapeType="1" noTextEdit="1"/>
              </p:cNvSpPr>
              <p:nvPr>
                <p:ph idx="1"/>
              </p:nvPr>
            </p:nvSpPr>
            <p:spPr>
              <a:xfrm>
                <a:off x="838200" y="1825624"/>
                <a:ext cx="10515600" cy="4823653"/>
              </a:xfrm>
              <a:blipFill>
                <a:blip r:embed="rId2"/>
                <a:stretch>
                  <a:fillRect l="-928" t="-1641"/>
                </a:stretch>
              </a:blipFill>
            </p:spPr>
            <p:txBody>
              <a:bodyPr/>
              <a:lstStyle/>
              <a:p>
                <a:r>
                  <a:rPr lang="en-US">
                    <a:noFill/>
                  </a:rPr>
                  <a:t> </a:t>
                </a:r>
              </a:p>
            </p:txBody>
          </p:sp>
        </mc:Fallback>
      </mc:AlternateContent>
    </p:spTree>
    <p:extLst>
      <p:ext uri="{BB962C8B-B14F-4D97-AF65-F5344CB8AC3E}">
        <p14:creationId xmlns:p14="http://schemas.microsoft.com/office/powerpoint/2010/main" val="2831027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52AD-3F4C-DE42-5E30-D2A783ABCB2B}"/>
              </a:ext>
            </a:extLst>
          </p:cNvPr>
          <p:cNvSpPr>
            <a:spLocks noGrp="1"/>
          </p:cNvSpPr>
          <p:nvPr>
            <p:ph type="title"/>
          </p:nvPr>
        </p:nvSpPr>
        <p:spPr/>
        <p:txBody>
          <a:bodyPr/>
          <a:lstStyle/>
          <a:p>
            <a:r>
              <a:rPr lang="en-US" dirty="0"/>
              <a:t>Let’s do some more!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9C023E-2A8A-B7C5-6C27-1E2A5B41D782}"/>
                  </a:ext>
                </a:extLst>
              </p:cNvPr>
              <p:cNvSpPr>
                <a:spLocks noGrp="1"/>
              </p:cNvSpPr>
              <p:nvPr>
                <p:ph idx="1"/>
              </p:nvPr>
            </p:nvSpPr>
            <p:spPr/>
            <p:txBody>
              <a:bodyPr/>
              <a:lstStyle/>
              <a:p>
                <a:r>
                  <a:rPr lang="en-US" dirty="0"/>
                  <a:t>For each, assume the base case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and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3" name="Content Placeholder 2">
                <a:extLst>
                  <a:ext uri="{FF2B5EF4-FFF2-40B4-BE49-F238E27FC236}">
                    <a16:creationId xmlns:a16="http://schemas.microsoft.com/office/drawing/2014/main" id="{499C023E-2A8A-B7C5-6C27-1E2A5B41D78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35797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217818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235290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266034" y="217250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266034" y="217250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935966" y="3670773"/>
                <a:ext cx="2874372"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 (</a:t>
                </a:r>
                <a14:m>
                  <m:oMath xmlns:m="http://schemas.openxmlformats.org/officeDocument/2006/math">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2</m:t>
                    </m:r>
                  </m:oMath>
                </a14:m>
                <a:r>
                  <a:rPr lang="en-US" sz="2800" dirty="0"/>
                  <a:t>)</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935966" y="3670773"/>
                <a:ext cx="2874372" cy="954107"/>
              </a:xfrm>
              <a:prstGeom prst="rect">
                <a:avLst/>
              </a:prstGeom>
              <a:blipFill>
                <a:blip r:embed="rId29"/>
                <a:stretch>
                  <a:fillRect l="-1062" t="-5732" r="-637"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877902" y="5474417"/>
                <a:ext cx="2874372"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877902" y="5474417"/>
                <a:ext cx="2874372"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39101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2</m:t>
                            </m:r>
                          </m:den>
                        </m:f>
                      </m:e>
                    </m:d>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27400"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34220DF3-EFFC-AD31-4F58-44D02B48AE9D}"/>
              </a:ext>
              <a:ext uri="{C183D7F6-B498-43B3-948B-1728B52AA6E4}">
                <adec:decorative xmlns:adec="http://schemas.microsoft.com/office/drawing/2017/decorative" val="1"/>
              </a:ext>
            </a:extLst>
          </p:cNvPr>
          <p:cNvSpPr/>
          <p:nvPr/>
        </p:nvSpPr>
        <p:spPr>
          <a:xfrm>
            <a:off x="-86928"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the square of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B5AAB1B8-0B60-9ECD-1FE6-F2B46E6D91FA}"/>
              </a:ext>
            </a:extLst>
          </p:cNvPr>
          <p:cNvGrpSpPr/>
          <p:nvPr/>
        </p:nvGrpSpPr>
        <p:grpSpPr>
          <a:xfrm>
            <a:off x="1490606" y="1992868"/>
            <a:ext cx="7199645" cy="3693910"/>
            <a:chOff x="1295400" y="1992868"/>
            <a:chExt cx="7199645"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4819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481927"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481927" cy="64633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481927" cy="646331"/>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494046" cy="64812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494046" cy="648126"/>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494046" cy="64812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494045"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494045" cy="64812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703289"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8575924"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8575924" y="2051914"/>
                <a:ext cx="3733827" cy="505395"/>
              </a:xfrm>
              <a:prstGeom prst="rect">
                <a:avLst/>
              </a:prstGeom>
              <a:blipFill>
                <a:blip r:embed="rId28"/>
                <a:stretch>
                  <a:fillRect t="-14458" b="-27711"/>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905773" y="3553400"/>
                <a:ext cx="2817772"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 (</a:t>
                </a:r>
                <a14:m>
                  <m:oMath xmlns:m="http://schemas.openxmlformats.org/officeDocument/2006/math">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2</m:t>
                    </m:r>
                  </m:oMath>
                </a14:m>
                <a:r>
                  <a:rPr lang="en-US" sz="2800" dirty="0"/>
                  <a:t>)</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905773" y="3553400"/>
                <a:ext cx="2817772" cy="954107"/>
              </a:xfrm>
              <a:prstGeom prst="rect">
                <a:avLst/>
              </a:prstGeom>
              <a:blipFill>
                <a:blip r:embed="rId29"/>
                <a:stretch>
                  <a:fillRect l="-1732" t="-6410" r="-1948" b="-17949"/>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m:t>
                          </m:r>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2248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num>
                            <m:den>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den>
                          </m:f>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e>
                              </m:d>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34962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b="0" i="1" smtClean="0">
                                <a:latin typeface="Cambria Math" panose="02040503050406030204" pitchFamily="18" charset="0"/>
                              </a:rPr>
                              <m:t>8</m:t>
                            </m:r>
                          </m:den>
                        </m:f>
                      </m:e>
                    </m:d>
                    <m:r>
                      <a:rPr lang="en-US" i="1">
                        <a:latin typeface="Cambria Math" panose="02040503050406030204" pitchFamily="18" charset="0"/>
                      </a:rPr>
                      <m:t>+</m:t>
                    </m:r>
                    <m:r>
                      <a:rPr lang="en-US" b="0" i="1" smtClean="0">
                        <a:latin typeface="Cambria Math" panose="02040503050406030204" pitchFamily="18" charset="0"/>
                      </a:rPr>
                      <m:t>1</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304801"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5" name="Rectangle 4">
            <a:extLst>
              <a:ext uri="{FF2B5EF4-FFF2-40B4-BE49-F238E27FC236}">
                <a16:creationId xmlns:a16="http://schemas.microsoft.com/office/drawing/2014/main" id="{50E142CF-CAF8-7789-FC06-8CB8767D971C}"/>
              </a:ext>
              <a:ext uri="{C183D7F6-B498-43B3-948B-1728B52AA6E4}">
                <adec:decorative xmlns:adec="http://schemas.microsoft.com/office/drawing/2017/decorative" val="1"/>
              </a:ext>
            </a:extLst>
          </p:cNvPr>
          <p:cNvSpPr/>
          <p:nvPr/>
        </p:nvSpPr>
        <p:spPr>
          <a:xfrm>
            <a:off x="190473"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one eighth the size) to represent the larger box recursively invoking the algorithm twice with smaller inputs.">
            <a:extLst>
              <a:ext uri="{FF2B5EF4-FFF2-40B4-BE49-F238E27FC236}">
                <a16:creationId xmlns:a16="http://schemas.microsoft.com/office/drawing/2014/main" id="{65B134EC-AF2B-71E9-E01E-FC03C60880A7}"/>
              </a:ext>
            </a:extLst>
          </p:cNvPr>
          <p:cNvGrpSpPr/>
          <p:nvPr/>
        </p:nvGrpSpPr>
        <p:grpSpPr>
          <a:xfrm>
            <a:off x="1295400" y="2249718"/>
            <a:ext cx="7071406" cy="3693910"/>
            <a:chOff x="1295400" y="1992868"/>
            <a:chExt cx="7071406"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65806"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65806"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65806"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65806"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65806"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65806"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8(n) recursive calls before reaching a base case, the height of this chain of stackframes is log_8(n)."/>
          <p:cNvSpPr/>
          <p:nvPr/>
        </p:nvSpPr>
        <p:spPr>
          <a:xfrm flipH="1" flipV="1">
            <a:off x="8395065" y="2534286"/>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040525" y="2631333"/>
                <a:ext cx="2991582"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040525" y="2631333"/>
                <a:ext cx="2991582" cy="505395"/>
              </a:xfrm>
              <a:prstGeom prst="rect">
                <a:avLst/>
              </a:prstGeom>
              <a:blipFill>
                <a:blip r:embed="rId28"/>
                <a:stretch>
                  <a:fillRect l="-1222" t="-12048" r="-1222"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486068" y="3763903"/>
                <a:ext cx="2867731"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b="0" i="1" dirty="0" smtClean="0">
                            <a:solidFill>
                              <a:srgbClr val="FF00FF"/>
                            </a:solidFill>
                            <a:latin typeface="Cambria Math" panose="02040503050406030204" pitchFamily="18" charset="0"/>
                          </a:rPr>
                          <m:t>8</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 (</a:t>
                </a:r>
                <a14:m>
                  <m:oMath xmlns:m="http://schemas.openxmlformats.org/officeDocument/2006/math">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1</m:t>
                    </m:r>
                  </m:oMath>
                </a14:m>
                <a:r>
                  <a:rPr lang="en-US" sz="2800" dirty="0"/>
                  <a:t>)</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486068" y="3763903"/>
                <a:ext cx="2867731" cy="954107"/>
              </a:xfrm>
              <a:prstGeom prst="rect">
                <a:avLst/>
              </a:prstGeom>
              <a:blipFill>
                <a:blip r:embed="rId29"/>
                <a:stretch>
                  <a:fillRect l="-851" t="-5732" r="-1064"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9040525" y="5302056"/>
                <a:ext cx="3159329"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9040525" y="5302056"/>
                <a:ext cx="3159329"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7021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lnSpcReduction="10000"/>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0"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2</m:t>
                              </m:r>
                            </m:e>
                          </m:func>
                        </m:sup>
                      </m:sSup>
                      <m:r>
                        <a:rPr lang="en-US" sz="2800" b="0" i="1" smtClean="0">
                          <a:latin typeface="Cambria Math" panose="02040503050406030204" pitchFamily="18" charset="0"/>
                        </a:rPr>
                        <m:t>−1=</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3</m:t>
                                  </m:r>
                                </m:den>
                              </m:f>
                            </m:sup>
                          </m:sSup>
                        </m:e>
                      </m:d>
                    </m:oMath>
                  </m:oMathPara>
                </a14:m>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54371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&gt;1</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3"/>
                <a:stretch>
                  <a:fillRect/>
                </a:stretch>
              </a:blipFill>
            </p:spPr>
            <p:txBody>
              <a:bodyPr/>
              <a:lstStyle/>
              <a:p>
                <a:r>
                  <a:rPr lang="en-US">
                    <a:noFill/>
                  </a:rPr>
                  <a:t> </a:t>
                </a:r>
              </a:p>
            </p:txBody>
          </p:sp>
        </mc:Fallback>
      </mc:AlternateContent>
      <p:grpSp>
        <p:nvGrpSpPr>
          <p:cNvPr id="3" name="Group 2" descr="Let S represent the value of the geometric series. doing aS gives the same result as &quot;shifting&quot; the series up by one value (so we add one to both the lower bound and upper bound for i, keeping the same number of terms).&#10;&#10;If we then do aS-S all terms from the series cancel except for the last term of aS and the first term of S. Therefore aS-S = the next term in the series minus the first term in the series. In other words, it is a^(L+1) - 1.&#10;&#10;Next applying algebra to aS-S=a^(L+1)-1 we get S = (a^(L+1)-1)/(a-1)">
            <a:extLst>
              <a:ext uri="{FF2B5EF4-FFF2-40B4-BE49-F238E27FC236}">
                <a16:creationId xmlns:a16="http://schemas.microsoft.com/office/drawing/2014/main" id="{23FC1136-767A-FCC8-7482-3B2AE824EC75}"/>
              </a:ext>
            </a:extLst>
          </p:cNvPr>
          <p:cNvGrpSpPr/>
          <p:nvPr/>
        </p:nvGrpSpPr>
        <p:grpSpPr>
          <a:xfrm>
            <a:off x="1429682" y="1473029"/>
            <a:ext cx="8934831" cy="4718388"/>
            <a:chOff x="1429682" y="1473029"/>
            <a:chExt cx="8934831" cy="4718388"/>
          </a:xfrm>
        </p:grpSpPr>
        <p:grpSp>
          <p:nvGrpSpPr>
            <p:cNvPr id="38" name="Group 37"/>
            <p:cNvGrpSpPr/>
            <p:nvPr/>
          </p:nvGrpSpPr>
          <p:grpSpPr>
            <a:xfrm>
              <a:off x="4759872" y="3301829"/>
              <a:ext cx="918341" cy="1828800"/>
              <a:chOff x="2434459" y="1295400"/>
              <a:chExt cx="918341" cy="3657600"/>
            </a:xfrm>
          </p:grpSpPr>
          <p:sp>
            <p:nvSpPr>
              <p:cNvPr id="39" name="Rectangle 38"/>
              <p:cNvSpPr/>
              <p:nvPr/>
            </p:nvSpPr>
            <p:spPr>
              <a:xfrm>
                <a:off x="2434459" y="4495800"/>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Rectangle 50"/>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ectangle 51"/>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3" name="Group 32"/>
            <p:cNvGrpSpPr/>
            <p:nvPr/>
          </p:nvGrpSpPr>
          <p:grpSpPr>
            <a:xfrm>
              <a:off x="2476500" y="1473029"/>
              <a:ext cx="914400" cy="3657600"/>
              <a:chOff x="2667000" y="-2362200"/>
              <a:chExt cx="914400" cy="7315200"/>
            </a:xfrm>
            <a:solidFill>
              <a:schemeClr val="tx2">
                <a:lumMod val="60000"/>
                <a:lumOff val="40000"/>
              </a:schemeClr>
            </a:solidFill>
          </p:grpSpPr>
          <p:sp>
            <p:nvSpPr>
              <p:cNvPr id="34" name="Rectangle 33"/>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36"/>
              <p:cNvSpPr/>
              <p:nvPr/>
            </p:nvSpPr>
            <p:spPr>
              <a:xfrm>
                <a:off x="3352800" y="-2362200"/>
                <a:ext cx="228600" cy="73152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15" name="Rectangle 14"/>
            <p:cNvSpPr/>
            <p:nvPr/>
          </p:nvSpPr>
          <p:spPr>
            <a:xfrm>
              <a:off x="7316513"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3" name="Group 22"/>
            <p:cNvGrpSpPr/>
            <p:nvPr/>
          </p:nvGrpSpPr>
          <p:grpSpPr>
            <a:xfrm>
              <a:off x="4759872" y="3301829"/>
              <a:ext cx="918341" cy="1828800"/>
              <a:chOff x="2434459" y="1295400"/>
              <a:chExt cx="918341" cy="3657600"/>
            </a:xfrm>
          </p:grpSpPr>
          <p:sp>
            <p:nvSpPr>
              <p:cNvPr id="24" name="Rectangle 23"/>
              <p:cNvSpPr/>
              <p:nvPr/>
            </p:nvSpPr>
            <p:spPr>
              <a:xfrm>
                <a:off x="2434459" y="4495800"/>
                <a:ext cx="228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26"/>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0" name="Group 39"/>
            <p:cNvGrpSpPr/>
            <p:nvPr/>
          </p:nvGrpSpPr>
          <p:grpSpPr>
            <a:xfrm>
              <a:off x="2476500" y="1473029"/>
              <a:ext cx="914400" cy="3657600"/>
              <a:chOff x="2667000" y="-2362200"/>
              <a:chExt cx="914400" cy="7315200"/>
            </a:xfrm>
            <a:solidFill>
              <a:schemeClr val="tx2">
                <a:lumMod val="60000"/>
                <a:lumOff val="40000"/>
              </a:schemeClr>
            </a:solidFill>
          </p:grpSpPr>
          <p:sp>
            <p:nvSpPr>
              <p:cNvPr id="42" name="Rectangle 41"/>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44"/>
              <p:cNvSpPr/>
              <p:nvPr/>
            </p:nvSpPr>
            <p:spPr>
              <a:xfrm>
                <a:off x="3352800" y="-2362200"/>
                <a:ext cx="228600" cy="7315200"/>
              </a:xfrm>
              <a:prstGeom prst="rect">
                <a:avLst/>
              </a:prstGeom>
              <a:grp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46" name="Rectangle 45"/>
            <p:cNvSpPr/>
            <p:nvPr/>
          </p:nvSpPr>
          <p:spPr>
            <a:xfrm>
              <a:off x="9373913" y="4978229"/>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7"/>
                  <a:stretch>
                    <a:fillRect l="-2424" t="-4717" b="-14151"/>
                  </a:stretch>
                </a:blipFill>
              </p:spPr>
              <p:txBody>
                <a:bodyPr/>
                <a:lstStyle/>
                <a:p>
                  <a:r>
                    <a:rPr lang="en-US">
                      <a:noFill/>
                    </a:rPr>
                    <a:t> </a:t>
                  </a:r>
                </a:p>
              </p:txBody>
            </p:sp>
          </mc:Fallback>
        </mc:AlternateContent>
        <p:sp>
          <p:nvSpPr>
            <p:cNvPr id="54" name="TextBox 53"/>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55" name="TextBox 54"/>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xmlns:a14="http://schemas.microsoft.com/office/drawing/2010/main">
          <mc:Choice Requires="a14">
            <p:sp>
              <p:nvSpPr>
                <p:cNvPr id="56" name="TextBox 55"/>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9" name="TextBox 58"/>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1"/>
                  <a:stretch>
                    <a:fillRect/>
                  </a:stretch>
                </a:blipFill>
              </p:spPr>
              <p:txBody>
                <a:bodyPr/>
                <a:lstStyle/>
                <a:p>
                  <a:r>
                    <a:rPr lang="en-US">
                      <a:noFill/>
                    </a:rPr>
                    <a:t> </a:t>
                  </a:r>
                </a:p>
              </p:txBody>
            </p:sp>
          </mc:Fallback>
        </mc:AlternateContent>
        <p:sp>
          <p:nvSpPr>
            <p:cNvPr id="61" name="TextBox 60"/>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grpSp>
    </p:spTree>
    <p:extLst>
      <p:ext uri="{BB962C8B-B14F-4D97-AF65-F5344CB8AC3E}">
        <p14:creationId xmlns:p14="http://schemas.microsoft.com/office/powerpoint/2010/main" val="1891667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i="1">
                        <a:latin typeface="Cambria Math" panose="02040503050406030204" pitchFamily="18" charset="0"/>
                      </a:rPr>
                      <m:t>𝑎</m:t>
                    </m:r>
                    <m:r>
                      <a:rPr lang="en-US" b="0" i="1" smtClean="0">
                        <a:latin typeface="Cambria Math" panose="02040503050406030204" pitchFamily="18" charset="0"/>
                      </a:rPr>
                      <m:t>&lt;</m:t>
                    </m:r>
                    <m:r>
                      <a:rPr lang="en-US" i="1">
                        <a:latin typeface="Cambria Math" panose="02040503050406030204" pitchFamily="18" charset="0"/>
                      </a:rPr>
                      <m:t>1</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2DA73B-DFB9-2873-31A0-9576BF22984D}"/>
                  </a:ext>
                </a:extLst>
              </p:cNvPr>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 name="TextBox 4">
                <a:extLst>
                  <a:ext uri="{FF2B5EF4-FFF2-40B4-BE49-F238E27FC236}">
                    <a16:creationId xmlns:a16="http://schemas.microsoft.com/office/drawing/2014/main" id="{A72DA73B-DFB9-2873-31A0-9576BF22984D}"/>
                  </a:ext>
                </a:extLst>
              </p:cNvPr>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4"/>
                <a:stretch>
                  <a:fillRect/>
                </a:stretch>
              </a:blipFill>
            </p:spPr>
            <p:txBody>
              <a:bodyPr/>
              <a:lstStyle/>
              <a:p>
                <a:r>
                  <a:rPr lang="en-US">
                    <a:noFill/>
                  </a:rPr>
                  <a:t> </a:t>
                </a:r>
              </a:p>
            </p:txBody>
          </p:sp>
        </mc:Fallback>
      </mc:AlternateContent>
      <p:grpSp>
        <p:nvGrpSpPr>
          <p:cNvPr id="7" name="Group 6" descr="If a&lt;1 then the series is decreasing, but we can use the same process to derive the same formula.">
            <a:extLst>
              <a:ext uri="{FF2B5EF4-FFF2-40B4-BE49-F238E27FC236}">
                <a16:creationId xmlns:a16="http://schemas.microsoft.com/office/drawing/2014/main" id="{B8EB1195-64D4-39B9-35AC-8FE282D75BAD}"/>
              </a:ext>
            </a:extLst>
          </p:cNvPr>
          <p:cNvGrpSpPr/>
          <p:nvPr/>
        </p:nvGrpSpPr>
        <p:grpSpPr>
          <a:xfrm>
            <a:off x="1429682" y="1438616"/>
            <a:ext cx="8934831" cy="5419384"/>
            <a:chOff x="1429682" y="1438616"/>
            <a:chExt cx="8934831" cy="5419384"/>
          </a:xfrm>
        </p:grpSpPr>
        <p:grpSp>
          <p:nvGrpSpPr>
            <p:cNvPr id="45" name="Group 44"/>
            <p:cNvGrpSpPr/>
            <p:nvPr/>
          </p:nvGrpSpPr>
          <p:grpSpPr>
            <a:xfrm>
              <a:off x="4630082" y="1438616"/>
              <a:ext cx="1143000" cy="3657600"/>
              <a:chOff x="533400" y="1473029"/>
              <a:chExt cx="1143000" cy="3657600"/>
            </a:xfrm>
          </p:grpSpPr>
          <p:sp>
            <p:nvSpPr>
              <p:cNvPr id="46" name="Rectangle 45"/>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Rectangle 56"/>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Rectangle 59"/>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533400" y="1473029"/>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ectangle 61"/>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7" name="Group 36"/>
            <p:cNvGrpSpPr/>
            <p:nvPr/>
          </p:nvGrpSpPr>
          <p:grpSpPr>
            <a:xfrm>
              <a:off x="2057400" y="3279706"/>
              <a:ext cx="1143000" cy="1828800"/>
              <a:chOff x="762000" y="3301829"/>
              <a:chExt cx="1143000" cy="1828800"/>
            </a:xfrm>
          </p:grpSpPr>
          <p:sp>
            <p:nvSpPr>
              <p:cNvPr id="40" name="Rectangle 39"/>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Rectangle 41"/>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mc:AlternateContent xmlns:mc="http://schemas.openxmlformats.org/markup-compatibility/2006" xmlns:a14="http://schemas.microsoft.com/office/drawing/2010/main">
          <mc:Choice Requires="a14">
            <p:sp>
              <p:nvSpPr>
                <p:cNvPr id="47" name="TextBox 46"/>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5"/>
                  <a:stretch>
                    <a:fillRect l="-2424" t="-4717" b="-14151"/>
                  </a:stretch>
                </a:blipFill>
              </p:spPr>
              <p:txBody>
                <a:bodyPr/>
                <a:lstStyle/>
                <a:p>
                  <a:r>
                    <a:rPr lang="en-US">
                      <a:noFill/>
                    </a:rPr>
                    <a:t> </a:t>
                  </a:r>
                </a:p>
              </p:txBody>
            </p:sp>
          </mc:Fallback>
        </mc:AlternateContent>
        <p:sp>
          <p:nvSpPr>
            <p:cNvPr id="48" name="TextBox 47"/>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49" name="TextBox 48"/>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xmlns:a14="http://schemas.microsoft.com/office/drawing/2010/main">
          <mc:Choice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2"/>
                  <a:stretch>
                    <a:fillRect/>
                  </a:stretch>
                </a:blipFill>
              </p:spPr>
              <p:txBody>
                <a:bodyPr/>
                <a:lstStyle/>
                <a:p>
                  <a:r>
                    <a:rPr lang="en-US">
                      <a:noFill/>
                    </a:rPr>
                    <a:t> </a:t>
                  </a:r>
                </a:p>
              </p:txBody>
            </p:sp>
          </mc:Fallback>
        </mc:AlternateContent>
        <p:grpSp>
          <p:nvGrpSpPr>
            <p:cNvPr id="33" name="Group 32"/>
            <p:cNvGrpSpPr/>
            <p:nvPr/>
          </p:nvGrpSpPr>
          <p:grpSpPr>
            <a:xfrm>
              <a:off x="2057400" y="3276600"/>
              <a:ext cx="1143000" cy="1828800"/>
              <a:chOff x="762000" y="3301829"/>
              <a:chExt cx="1143000" cy="1828800"/>
            </a:xfrm>
          </p:grpSpPr>
          <p:sp>
            <p:nvSpPr>
              <p:cNvPr id="34" name="Rectangle 33"/>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ectangle 37"/>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ectangle 38"/>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51" name="Group 50"/>
            <p:cNvGrpSpPr/>
            <p:nvPr/>
          </p:nvGrpSpPr>
          <p:grpSpPr>
            <a:xfrm>
              <a:off x="4630082" y="1438616"/>
              <a:ext cx="1143000" cy="3657600"/>
              <a:chOff x="533400" y="1473029"/>
              <a:chExt cx="1143000" cy="3657600"/>
            </a:xfrm>
          </p:grpSpPr>
          <p:sp>
            <p:nvSpPr>
              <p:cNvPr id="52" name="Rectangle 51"/>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52"/>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Rectangle 53"/>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Rectangle 54"/>
              <p:cNvSpPr/>
              <p:nvPr/>
            </p:nvSpPr>
            <p:spPr>
              <a:xfrm>
                <a:off x="533400"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Rectangle 55"/>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58" name="Rectangle 57"/>
            <p:cNvSpPr/>
            <p:nvPr/>
          </p:nvSpPr>
          <p:spPr>
            <a:xfrm>
              <a:off x="7391400" y="5011757"/>
              <a:ext cx="228600" cy="11887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Rectangle 58"/>
            <p:cNvSpPr/>
            <p:nvPr/>
          </p:nvSpPr>
          <p:spPr>
            <a:xfrm>
              <a:off x="9372600" y="1447800"/>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sp>
          <p:nvSpPr>
            <p:cNvPr id="6" name="Left Brace 5"/>
            <p:cNvSpPr/>
            <p:nvPr/>
          </p:nvSpPr>
          <p:spPr>
            <a:xfrm rot="16200000">
              <a:off x="5329359" y="2124934"/>
              <a:ext cx="437983" cy="82277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Box 65"/>
            <p:cNvSpPr txBox="1"/>
            <p:nvPr/>
          </p:nvSpPr>
          <p:spPr>
            <a:xfrm>
              <a:off x="4586700" y="6488668"/>
              <a:ext cx="19665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Solve for the series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4137851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1450</TotalTime>
  <Words>1707</Words>
  <Application>Microsoft Office PowerPoint</Application>
  <PresentationFormat>Widescreen</PresentationFormat>
  <Paragraphs>403</Paragraphs>
  <Slides>21</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21</vt:i4>
      </vt:variant>
    </vt:vector>
  </HeadingPairs>
  <TitlesOfParts>
    <vt:vector size="32" baseType="lpstr">
      <vt:lpstr>Aptos</vt:lpstr>
      <vt:lpstr>Aptos Display</vt:lpstr>
      <vt:lpstr>Arial</vt:lpstr>
      <vt:lpstr>Calibri</vt:lpstr>
      <vt:lpstr>Calibri Light</vt:lpstr>
      <vt:lpstr>Cambria Math</vt:lpstr>
      <vt:lpstr>Consolas</vt:lpstr>
      <vt:lpstr>Symbol</vt:lpstr>
      <vt:lpstr>Office Theme</vt:lpstr>
      <vt:lpstr>1_Office Theme</vt:lpstr>
      <vt:lpstr>2_Office Theme</vt:lpstr>
      <vt:lpstr>CSE 332 Summer 2026 Lecture 4: Recurrences</vt:lpstr>
      <vt:lpstr>Recursive Binary Search</vt:lpstr>
      <vt:lpstr>Analysis of Recursive Algorithms</vt:lpstr>
      <vt:lpstr>How Efficient Is It?</vt:lpstr>
      <vt:lpstr>Let’s Solve the Recurrence!</vt:lpstr>
      <vt:lpstr>Make our process “prettier”</vt:lpstr>
      <vt:lpstr>Recursive Linear Search</vt:lpstr>
      <vt:lpstr>Prettier List Sum Substitution </vt:lpstr>
      <vt:lpstr>Recursive List Summation Code</vt:lpstr>
      <vt:lpstr>Tree Method for Recursive Summation</vt:lpstr>
      <vt:lpstr>Recursive List Summation – Solving the Series</vt:lpstr>
      <vt:lpstr>Tree Method Summary: Chip and Conquer</vt:lpstr>
      <vt:lpstr>Tree Method Summary: Divide and Conquer</vt:lpstr>
      <vt:lpstr>Let’s do some more!</vt:lpstr>
      <vt:lpstr>Tree Method T(n)=2T(n/2)+n</vt:lpstr>
      <vt:lpstr>Tree Method T(n)=2T(n/2)+n^2</vt:lpstr>
      <vt:lpstr>Solving T(n)=2T(n/2)+n^2</vt:lpstr>
      <vt:lpstr>Tree Method T(n)=2T(n/8)+1</vt:lpstr>
      <vt:lpstr>Solving T(n)=2T(n/8)+1</vt:lpstr>
      <vt:lpstr>Finite Geometric Series (a&gt;1)</vt:lpstr>
      <vt:lpstr>Finite Geometric Series (a&lt;1)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CSE332 Lecture 6</dc:title>
  <dc:creator>Brunelle, Nathan J (njb2b)</dc:creator>
  <cp:lastModifiedBy>Nathan Brunelle</cp:lastModifiedBy>
  <cp:revision>51</cp:revision>
  <dcterms:created xsi:type="dcterms:W3CDTF">2024-06-26T12:44:42Z</dcterms:created>
  <dcterms:modified xsi:type="dcterms:W3CDTF">2026-06-29T16:24:54Z</dcterms:modified>
</cp:coreProperties>
</file>