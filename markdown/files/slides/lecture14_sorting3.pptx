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handoutMasterIdLst>
    <p:handoutMasterId r:id="rId39"/>
  </p:handoutMasterIdLst>
  <p:sldIdLst>
    <p:sldId id="256" r:id="rId2"/>
    <p:sldId id="552" r:id="rId3"/>
    <p:sldId id="535" r:id="rId4"/>
    <p:sldId id="368" r:id="rId5"/>
    <p:sldId id="360" r:id="rId6"/>
    <p:sldId id="536" r:id="rId7"/>
    <p:sldId id="537" r:id="rId8"/>
    <p:sldId id="538" r:id="rId9"/>
    <p:sldId id="386" r:id="rId10"/>
    <p:sldId id="539" r:id="rId11"/>
    <p:sldId id="384" r:id="rId12"/>
    <p:sldId id="460" r:id="rId13"/>
    <p:sldId id="556"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46" r:id="rId27"/>
    <p:sldId id="557" r:id="rId28"/>
    <p:sldId id="555" r:id="rId29"/>
    <p:sldId id="543" r:id="rId30"/>
    <p:sldId id="545" r:id="rId31"/>
    <p:sldId id="548" r:id="rId32"/>
    <p:sldId id="546" r:id="rId33"/>
    <p:sldId id="549" r:id="rId34"/>
    <p:sldId id="550" r:id="rId35"/>
    <p:sldId id="551" r:id="rId36"/>
    <p:sldId id="547" r:id="rId37"/>
  </p:sldIdLst>
  <p:sldSz cx="12192000" cy="6858000"/>
  <p:notesSz cx="6858000" cy="9144000"/>
  <p:embeddedFontLst>
    <p:embeddedFont>
      <p:font typeface="Cambria Math" panose="02040503050406030204" pitchFamily="18"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A48"/>
    <a:srgbClr val="005E00"/>
    <a:srgbClr val="32BF72"/>
    <a:srgbClr val="0070C0"/>
    <a:srgbClr val="501000"/>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01" autoAdjust="0"/>
  </p:normalViewPr>
  <p:slideViewPr>
    <p:cSldViewPr snapToGrid="0">
      <p:cViewPr>
        <p:scale>
          <a:sx n="40" d="100"/>
          <a:sy n="40" d="100"/>
        </p:scale>
        <p:origin x="688" y="756"/>
      </p:cViewPr>
      <p:guideLst/>
    </p:cSldViewPr>
  </p:slideViewPr>
  <p:outlineViewPr>
    <p:cViewPr>
      <p:scale>
        <a:sx n="33" d="100"/>
        <a:sy n="33" d="100"/>
      </p:scale>
      <p:origin x="0" y="-30744"/>
    </p:cViewPr>
    <p:sldLst>
      <p:sld r:id="rId1" collapse="1"/>
    </p:sldLst>
  </p:outlin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4/27/2026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7T17:24:00.296"/>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0.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17.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240.png"/><Relationship Id="rId12" Type="http://schemas.openxmlformats.org/officeDocument/2006/relationships/image" Target="../media/image31.png"/><Relationship Id="rId17" Type="http://schemas.openxmlformats.org/officeDocument/2006/relationships/image" Target="../media/image33.png"/><Relationship Id="rId2" Type="http://schemas.openxmlformats.org/officeDocument/2006/relationships/image" Target="../media/image24.png"/><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30.png"/><Relationship Id="rId5" Type="http://schemas.openxmlformats.org/officeDocument/2006/relationships/image" Target="../media/image220.png"/><Relationship Id="rId15" Type="http://schemas.openxmlformats.org/officeDocument/2006/relationships/customXml" Target="../ink/ink1.xml"/><Relationship Id="rId10" Type="http://schemas.openxmlformats.org/officeDocument/2006/relationships/image" Target="../media/image28.png"/><Relationship Id="rId9" Type="http://schemas.openxmlformats.org/officeDocument/2006/relationships/image" Target="../media/image260.png"/><Relationship Id="rId14" Type="http://schemas.openxmlformats.org/officeDocument/2006/relationships/image" Target="../media/image29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0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a:t>
            </a:r>
            <a:r>
              <a:rPr lang="en-US"/>
              <a:t>332 Spring </a:t>
            </a:r>
            <a:r>
              <a:rPr lang="en-US" dirty="0"/>
              <a:t>2026</a:t>
            </a:r>
            <a:br>
              <a:rPr lang="en-US" dirty="0"/>
            </a:br>
            <a:r>
              <a:rPr lang="en-US" dirty="0"/>
              <a:t>Lecture 13: Sorting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D131-B6AD-4797-71B9-76C7B83BC230}"/>
              </a:ext>
            </a:extLst>
          </p:cNvPr>
          <p:cNvSpPr>
            <a:spLocks noGrp="1"/>
          </p:cNvSpPr>
          <p:nvPr>
            <p:ph type="title"/>
          </p:nvPr>
        </p:nvSpPr>
        <p:spPr/>
        <p:txBody>
          <a:bodyPr/>
          <a:lstStyle/>
          <a:p>
            <a:r>
              <a:rPr lang="en-US" dirty="0"/>
              <a:t>Properties To Consider</a:t>
            </a:r>
          </a:p>
        </p:txBody>
      </p:sp>
      <p:sp>
        <p:nvSpPr>
          <p:cNvPr id="3" name="Content Placeholder 2">
            <a:extLst>
              <a:ext uri="{FF2B5EF4-FFF2-40B4-BE49-F238E27FC236}">
                <a16:creationId xmlns:a16="http://schemas.microsoft.com/office/drawing/2014/main" id="{D967E843-DAF3-ACD6-1133-A963D3179356}"/>
              </a:ext>
            </a:extLst>
          </p:cNvPr>
          <p:cNvSpPr>
            <a:spLocks noGrp="1"/>
          </p:cNvSpPr>
          <p:nvPr>
            <p:ph idx="1"/>
          </p:nvPr>
        </p:nvSpPr>
        <p:spPr/>
        <p:txBody>
          <a:bodyPr>
            <a:normAutofit fontScale="92500" lnSpcReduction="20000"/>
          </a:bodyPr>
          <a:lstStyle/>
          <a:p>
            <a:r>
              <a:rPr lang="en-US" dirty="0"/>
              <a:t>Worst case running time</a:t>
            </a:r>
          </a:p>
          <a:p>
            <a:r>
              <a:rPr lang="en-US" dirty="0"/>
              <a:t>In place:</a:t>
            </a:r>
          </a:p>
          <a:p>
            <a:pPr lvl="1"/>
            <a:r>
              <a:rPr lang="en-US" dirty="0"/>
              <a:t>We only need to use the pre-existing array to do sorting</a:t>
            </a:r>
          </a:p>
          <a:p>
            <a:pPr lvl="1"/>
            <a:r>
              <a:rPr lang="en-US" dirty="0"/>
              <a:t>Constant extra space (only some additional variables needed)</a:t>
            </a:r>
            <a:endParaRPr lang="en-US" i="1" dirty="0"/>
          </a:p>
          <a:p>
            <a:r>
              <a:rPr lang="en-US" dirty="0"/>
              <a:t>Adaptive</a:t>
            </a:r>
          </a:p>
          <a:p>
            <a:pPr lvl="1"/>
            <a:r>
              <a:rPr lang="en-US" dirty="0"/>
              <a:t>The running improves as the given list is closer to being sorted</a:t>
            </a:r>
          </a:p>
          <a:p>
            <a:pPr lvl="1"/>
            <a:r>
              <a:rPr lang="en-US" dirty="0"/>
              <a:t>It should be linear time for a pre-sorted list, and nearly linear time if the list is nearly sorted</a:t>
            </a:r>
            <a:endParaRPr lang="en-US" i="1" dirty="0"/>
          </a:p>
          <a:p>
            <a:r>
              <a:rPr lang="en-US" dirty="0"/>
              <a:t>Online</a:t>
            </a:r>
          </a:p>
          <a:p>
            <a:pPr lvl="1"/>
            <a:r>
              <a:rPr lang="en-US" dirty="0"/>
              <a:t>We can start sorting before we have the entire list.</a:t>
            </a:r>
            <a:endParaRPr lang="en-US" i="1" dirty="0"/>
          </a:p>
          <a:p>
            <a:r>
              <a:rPr lang="en-US" dirty="0"/>
              <a:t>Stable</a:t>
            </a:r>
          </a:p>
          <a:p>
            <a:pPr lvl="1"/>
            <a:r>
              <a:rPr lang="en-US" dirty="0"/>
              <a:t>“Tied” elements keep their original order</a:t>
            </a:r>
          </a:p>
        </p:txBody>
      </p:sp>
    </p:spTree>
    <p:extLst>
      <p:ext uri="{BB962C8B-B14F-4D97-AF65-F5344CB8AC3E}">
        <p14:creationId xmlns:p14="http://schemas.microsoft.com/office/powerpoint/2010/main" val="104602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p:spTree>
    <p:extLst>
      <p:ext uri="{BB962C8B-B14F-4D97-AF65-F5344CB8AC3E}">
        <p14:creationId xmlns:p14="http://schemas.microsoft.com/office/powerpoint/2010/main" val="288900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676" y="128263"/>
            <a:ext cx="5657193" cy="1325563"/>
          </a:xfrm>
        </p:spPr>
        <p:txBody>
          <a:bodyPr/>
          <a:lstStyle/>
          <a:p>
            <a:r>
              <a:rPr lang="en-US" dirty="0"/>
              <a:t>Divide and Conquer</a:t>
            </a:r>
          </a:p>
        </p:txBody>
      </p:sp>
      <p:sp>
        <p:nvSpPr>
          <p:cNvPr id="3" name="Content Placeholder 2"/>
          <p:cNvSpPr>
            <a:spLocks noGrp="1"/>
          </p:cNvSpPr>
          <p:nvPr>
            <p:ph idx="4294967295"/>
          </p:nvPr>
        </p:nvSpPr>
        <p:spPr>
          <a:xfrm>
            <a:off x="3287049" y="1343386"/>
            <a:ext cx="8904951"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pic>
        <p:nvPicPr>
          <p:cNvPr id="9" name="Picture 2" descr="The base case is when there is so little yarn in the pile that it is trivial to find the end.">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695434" y="127516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descr="Provided that there is still too much yarn for the base case, we separate the pile of yarn into two piles. ">
            <a:extLst>
              <a:ext uri="{FF2B5EF4-FFF2-40B4-BE49-F238E27FC236}">
                <a16:creationId xmlns:a16="http://schemas.microsoft.com/office/drawing/2014/main" id="{3CC82D1E-2533-ECC2-B62E-317DC3B93625}"/>
              </a:ext>
            </a:extLst>
          </p:cNvPr>
          <p:cNvGrpSpPr/>
          <p:nvPr/>
        </p:nvGrpSpPr>
        <p:grpSpPr>
          <a:xfrm>
            <a:off x="70314" y="2449021"/>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descr="The yarn begins at the blanket, then goes into one of the two piles of yarn, we call this pile A and the other pile B. By counting the number of times the yarn crosses between the piles we can determine which of A vs. B has the end (an even number means A has the end, an odd number means B).&#10;&#10;Once we determine the pile with the end, we can recursively solve (i.e. &quot;conquer&quot;) the problem on the pile containing the end of the yarn.">
            <a:extLst>
              <a:ext uri="{FF2B5EF4-FFF2-40B4-BE49-F238E27FC236}">
                <a16:creationId xmlns:a16="http://schemas.microsoft.com/office/drawing/2014/main" id="{7051DDBC-58E7-4C71-EBF0-DBD7FB74D394}"/>
              </a:ext>
            </a:extLst>
          </p:cNvPr>
          <p:cNvGrpSpPr/>
          <p:nvPr/>
        </p:nvGrpSpPr>
        <p:grpSpPr>
          <a:xfrm>
            <a:off x="-47927" y="3898391"/>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p:spTree>
    <p:extLst>
      <p:ext uri="{BB962C8B-B14F-4D97-AF65-F5344CB8AC3E}">
        <p14:creationId xmlns:p14="http://schemas.microsoft.com/office/powerpoint/2010/main" val="108113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p:spTree>
    <p:extLst>
      <p:ext uri="{BB962C8B-B14F-4D97-AF65-F5344CB8AC3E}">
        <p14:creationId xmlns:p14="http://schemas.microsoft.com/office/powerpoint/2010/main" val="40842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534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p:grpSp>
        <p:nvGrpSpPr>
          <p:cNvPr id="3" name="Group 2" descr="We are sorting the list [5,8,2,9,4,1,3,7]&#10;&#10;Initially low refers to index 0 and high refers to 8">
            <a:extLst>
              <a:ext uri="{FF2B5EF4-FFF2-40B4-BE49-F238E27FC236}">
                <a16:creationId xmlns:a16="http://schemas.microsoft.com/office/drawing/2014/main" id="{8C1DE985-A47B-CFA9-B61D-5A1ED88E2C57}"/>
              </a:ext>
            </a:extLst>
          </p:cNvPr>
          <p:cNvGrpSpPr/>
          <p:nvPr/>
        </p:nvGrpSpPr>
        <p:grpSpPr>
          <a:xfrm>
            <a:off x="2804160" y="2056448"/>
            <a:ext cx="5935214" cy="1125955"/>
            <a:chOff x="2804160" y="2056448"/>
            <a:chExt cx="5935214" cy="1125955"/>
          </a:xfrm>
        </p:grpSpPr>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4" name="Group 3" descr="To divide we split the array into two halves by calculating the midpoint between low and high, which is (low+high)/2. Our two half arrays are then the indices from low to (low+high)/2 and then from (low+high)/2 +1 up to high. We recursively sort those two half arrays.">
            <a:extLst>
              <a:ext uri="{FF2B5EF4-FFF2-40B4-BE49-F238E27FC236}">
                <a16:creationId xmlns:a16="http://schemas.microsoft.com/office/drawing/2014/main" id="{80DE510C-DD88-EA71-8A37-6C8BB68BE54A}"/>
              </a:ext>
            </a:extLst>
          </p:cNvPr>
          <p:cNvGrpSpPr/>
          <p:nvPr/>
        </p:nvGrpSpPr>
        <p:grpSpPr>
          <a:xfrm>
            <a:off x="2580640" y="4002150"/>
            <a:ext cx="5935214" cy="1504570"/>
            <a:chOff x="2580640" y="4002150"/>
            <a:chExt cx="5935214" cy="1504570"/>
          </a:xfrm>
        </p:grpSpPr>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p:grpSp>
        <p:nvGrpSpPr>
          <p:cNvPr id="5" name="Group 4" descr="After the recursive conquer steps we have each half-list sorted, but the range from low to high is not yet sorted.">
            <a:extLst>
              <a:ext uri="{FF2B5EF4-FFF2-40B4-BE49-F238E27FC236}">
                <a16:creationId xmlns:a16="http://schemas.microsoft.com/office/drawing/2014/main" id="{BB35499D-AF7E-3F2A-37A7-7F960A761D9F}"/>
              </a:ext>
            </a:extLst>
          </p:cNvPr>
          <p:cNvGrpSpPr/>
          <p:nvPr/>
        </p:nvGrpSpPr>
        <p:grpSpPr>
          <a:xfrm>
            <a:off x="2653030" y="5672099"/>
            <a:ext cx="5862824" cy="1102185"/>
            <a:chOff x="2653030" y="5672099"/>
            <a:chExt cx="5862824" cy="1102185"/>
          </a:xfrm>
        </p:grpSpPr>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grpSp>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p:spTree>
    <p:extLst>
      <p:ext uri="{BB962C8B-B14F-4D97-AF65-F5344CB8AC3E}">
        <p14:creationId xmlns:p14="http://schemas.microsoft.com/office/powerpoint/2010/main" val="263213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2892575" y="1443857"/>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2843272" y="2921711"/>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grpSp>
        <p:nvGrpSpPr>
          <p:cNvPr id="3" name="Group 2" descr="We now have the list [2,5,8,9,1,3,4,7], which came from sorting our two half lists (being [2,5,8,9] and [1,3,4,7]).&#10;&#10;Our objective now is to combine the two half lists together into one merged list that is sorted.">
            <a:extLst>
              <a:ext uri="{FF2B5EF4-FFF2-40B4-BE49-F238E27FC236}">
                <a16:creationId xmlns:a16="http://schemas.microsoft.com/office/drawing/2014/main" id="{DC8722CB-A3DB-DFC2-3448-411C692DB69D}"/>
              </a:ext>
            </a:extLst>
          </p:cNvPr>
          <p:cNvGrpSpPr/>
          <p:nvPr/>
        </p:nvGrpSpPr>
        <p:grpSpPr>
          <a:xfrm>
            <a:off x="3295343" y="3951750"/>
            <a:ext cx="5935214" cy="1232798"/>
            <a:chOff x="2885440" y="1516659"/>
            <a:chExt cx="5935214" cy="1232798"/>
          </a:xfrm>
        </p:grpSpPr>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grpSp>
      <p:grpSp>
        <p:nvGrpSpPr>
          <p:cNvPr id="16" name="Group 15" descr="We will have an empty array that we add each element into while merging.">
            <a:extLst>
              <a:ext uri="{FF2B5EF4-FFF2-40B4-BE49-F238E27FC236}">
                <a16:creationId xmlns:a16="http://schemas.microsoft.com/office/drawing/2014/main" id="{E7CA0072-DA42-358D-2313-C589B2C2A62B}"/>
              </a:ext>
            </a:extLst>
          </p:cNvPr>
          <p:cNvGrpSpPr/>
          <p:nvPr/>
        </p:nvGrpSpPr>
        <p:grpSpPr>
          <a:xfrm>
            <a:off x="3367733" y="5450988"/>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 name="Group 3" descr="To merge our lists we begin with a variable L_next which is initially set to be the index low, and a variable R_next which is initially set to be the index (low+high)/2 +1 (i.e. the first index of the second half-list).">
            <a:extLst>
              <a:ext uri="{FF2B5EF4-FFF2-40B4-BE49-F238E27FC236}">
                <a16:creationId xmlns:a16="http://schemas.microsoft.com/office/drawing/2014/main" id="{10407E64-57E5-6C11-C5D4-455C306D2F6E}"/>
              </a:ext>
            </a:extLst>
          </p:cNvPr>
          <p:cNvGrpSpPr/>
          <p:nvPr/>
        </p:nvGrpSpPr>
        <p:grpSpPr>
          <a:xfrm>
            <a:off x="2656590" y="4623198"/>
            <a:ext cx="4065950" cy="447040"/>
            <a:chOff x="2246687" y="2188107"/>
            <a:chExt cx="4065950" cy="447040"/>
          </a:xfrm>
        </p:grpSpPr>
        <p:sp>
          <p:nvSpPr>
            <p:cNvPr id="27" name="Arrow: Right 26" descr="To merge our lists we begin with variable L_next which is initially set to be the index low.">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grpSp>
      <p:sp>
        <p:nvSpPr>
          <p:cNvPr id="29" name="Arrow: Right 28" descr="We have a variable M_next which is initially the index low, and it keeps track of the next available index in the merged array.">
            <a:extLst>
              <a:ext uri="{FF2B5EF4-FFF2-40B4-BE49-F238E27FC236}">
                <a16:creationId xmlns:a16="http://schemas.microsoft.com/office/drawing/2014/main" id="{866399B5-9CA7-FF10-921D-A115ADA6102E}"/>
              </a:ext>
            </a:extLst>
          </p:cNvPr>
          <p:cNvSpPr/>
          <p:nvPr/>
        </p:nvSpPr>
        <p:spPr>
          <a:xfrm rot="18941864">
            <a:off x="2628791" y="6198889"/>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p:spTree>
    <p:extLst>
      <p:ext uri="{BB962C8B-B14F-4D97-AF65-F5344CB8AC3E}">
        <p14:creationId xmlns:p14="http://schemas.microsoft.com/office/powerpoint/2010/main" val="351918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p:spTree>
    <p:extLst>
      <p:ext uri="{BB962C8B-B14F-4D97-AF65-F5344CB8AC3E}">
        <p14:creationId xmlns:p14="http://schemas.microsoft.com/office/powerpoint/2010/main" val="115272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p:spTree>
    <p:extLst>
      <p:ext uri="{BB962C8B-B14F-4D97-AF65-F5344CB8AC3E}">
        <p14:creationId xmlns:p14="http://schemas.microsoft.com/office/powerpoint/2010/main" val="208014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p:spTree>
    <p:extLst>
      <p:ext uri="{BB962C8B-B14F-4D97-AF65-F5344CB8AC3E}">
        <p14:creationId xmlns:p14="http://schemas.microsoft.com/office/powerpoint/2010/main" val="131569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175146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192618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174578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174578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35966" y="324405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35966" y="324405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6665900" y="5533535"/>
                <a:ext cx="5484531" cy="132446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e>
                      </m:d>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6665900" y="5533535"/>
                <a:ext cx="5484531" cy="1324465"/>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101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336-958B-F73C-23DD-A712A1D03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BF59-DF2A-6E9B-261C-F8C2142E7F86}"/>
              </a:ext>
            </a:extLst>
          </p:cNvPr>
          <p:cNvSpPr>
            <a:spLocks noGrp="1"/>
          </p:cNvSpPr>
          <p:nvPr>
            <p:ph type="title"/>
          </p:nvPr>
        </p:nvSpPr>
        <p:spPr/>
        <p:txBody>
          <a:bodyPr/>
          <a:lstStyle/>
          <a:p>
            <a:r>
              <a:rPr lang="en-US" dirty="0"/>
              <a:t>Merge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895523-78E6-BC2B-D426-8B9B63399B3D}"/>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NO!</a:t>
                </a:r>
              </a:p>
              <a:p>
                <a:pPr lvl="1"/>
                <a:r>
                  <a:rPr lang="en-US" dirty="0"/>
                  <a:t>We need a second array to merge into</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before we can divide</a:t>
                </a:r>
              </a:p>
              <a:p>
                <a:r>
                  <a:rPr lang="en-US" dirty="0"/>
                  <a:t>Stable</a:t>
                </a:r>
              </a:p>
              <a:p>
                <a:pPr lvl="1"/>
                <a:r>
                  <a:rPr lang="en-US" dirty="0"/>
                  <a:t>YES!</a:t>
                </a:r>
              </a:p>
              <a:p>
                <a:pPr lvl="1"/>
                <a:r>
                  <a:rPr lang="en-US" dirty="0"/>
                  <a:t>When merging, and there’s a tie, choose the element from the left </a:t>
                </a:r>
              </a:p>
            </p:txBody>
          </p:sp>
        </mc:Choice>
        <mc:Fallback xmlns="">
          <p:sp>
            <p:nvSpPr>
              <p:cNvPr id="3" name="Content Placeholder 2">
                <a:extLst>
                  <a:ext uri="{FF2B5EF4-FFF2-40B4-BE49-F238E27FC236}">
                    <a16:creationId xmlns:a16="http://schemas.microsoft.com/office/drawing/2014/main" id="{A7895523-78E6-BC2B-D426-8B9B63399B3D}"/>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p:spTree>
    <p:extLst>
      <p:ext uri="{BB962C8B-B14F-4D97-AF65-F5344CB8AC3E}">
        <p14:creationId xmlns:p14="http://schemas.microsoft.com/office/powerpoint/2010/main" val="2549524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Vs. </a:t>
            </a:r>
            <a:r>
              <a:rPr lang="en-US" dirty="0" err="1"/>
              <a:t>Mergesort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Overview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p:spTree>
    <p:extLst>
      <p:ext uri="{BB962C8B-B14F-4D97-AF65-F5344CB8AC3E}">
        <p14:creationId xmlns:p14="http://schemas.microsoft.com/office/powerpoint/2010/main" val="159361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grpSp>
        <p:nvGrpSpPr>
          <p:cNvPr id="17" name="Group 16" descr="We begin with an unordered list and a special element that we call the pivot.&#10;&#10;In this case our list is [8,5,7,3,12,10,1,2,4,9,6,11], and our pivot is the first element of the array, i.e. 8.">
            <a:extLst>
              <a:ext uri="{FF2B5EF4-FFF2-40B4-BE49-F238E27FC236}">
                <a16:creationId xmlns:a16="http://schemas.microsoft.com/office/drawing/2014/main" id="{E580BD3A-1AE5-B498-061E-78515B1BD5E7}"/>
              </a:ext>
            </a:extLst>
          </p:cNvPr>
          <p:cNvGrpSpPr/>
          <p:nvPr/>
        </p:nvGrpSpPr>
        <p:grpSpPr>
          <a:xfrm>
            <a:off x="2209800" y="3048000"/>
            <a:ext cx="6403076" cy="533400"/>
            <a:chOff x="2209800" y="3048000"/>
            <a:chExt cx="6403076" cy="533400"/>
          </a:xfrm>
        </p:grpSpPr>
        <p:sp>
          <p:nvSpPr>
            <p:cNvPr id="5" name="Rectangle 4"/>
            <p:cNvSpPr/>
            <p:nvPr/>
          </p:nvSpPr>
          <p:spPr>
            <a:xfrm>
              <a:off x="2209800" y="3048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grpSp>
        <p:nvGrpSpPr>
          <p:cNvPr id="32" name="Group 31" descr="After partitioning our array should be arranged so that we have all the elements less than the pivot to the left, all elements greater than the pivot to the right, and then all elements equal to the pivot in the middle.&#10;&#10;In this case our array would be: [5,6,7,3,1,2,4,6,8,12,10,9,11]">
            <a:extLst>
              <a:ext uri="{FF2B5EF4-FFF2-40B4-BE49-F238E27FC236}">
                <a16:creationId xmlns:a16="http://schemas.microsoft.com/office/drawing/2014/main" id="{FACFE0A8-C0CE-AC1A-8707-EA80622BB262}"/>
              </a:ext>
            </a:extLst>
          </p:cNvPr>
          <p:cNvGrpSpPr/>
          <p:nvPr/>
        </p:nvGrpSpPr>
        <p:grpSpPr>
          <a:xfrm>
            <a:off x="2209800" y="5410200"/>
            <a:ext cx="6403076" cy="533400"/>
            <a:chOff x="2209800" y="5410200"/>
            <a:chExt cx="6403076" cy="533400"/>
          </a:xfrm>
        </p:grpSpPr>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Tree>
    <p:extLst>
      <p:ext uri="{BB962C8B-B14F-4D97-AF65-F5344CB8AC3E}">
        <p14:creationId xmlns:p14="http://schemas.microsoft.com/office/powerpoint/2010/main" val="2086780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 (Slide 1 of 2)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3" name="Group 2" descr="Initially we arrange our array so that the pivot is at index 0. Next we have the variable begin which is initially set to index 1, and the variable end which is initially set to index n-1.&#10;&#10;Next we compare the value at index begin with the pivot. In this case that value is 5 and the pivot is 8. Because the pivot is larger, we leave 5 in place and increment begin.">
            <a:extLst>
              <a:ext uri="{FF2B5EF4-FFF2-40B4-BE49-F238E27FC236}">
                <a16:creationId xmlns:a16="http://schemas.microsoft.com/office/drawing/2014/main" id="{1A28EF59-F89F-062A-2308-C463822BE940}"/>
              </a:ext>
            </a:extLst>
          </p:cNvPr>
          <p:cNvGrpSpPr/>
          <p:nvPr/>
        </p:nvGrpSpPr>
        <p:grpSpPr>
          <a:xfrm>
            <a:off x="2969524" y="2324100"/>
            <a:ext cx="6403076" cy="952500"/>
            <a:chOff x="2969524" y="2324100"/>
            <a:chExt cx="6403076" cy="952500"/>
          </a:xfrm>
        </p:grpSpPr>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descr="Once again we compare the value at index begin with the pivot. Now begin is 7 and the pivot is 8, so once again we leave the value in place and increment begin.&#10;&#10;The next value of being is 3, so once again we just increment begin.">
            <a:extLst>
              <a:ext uri="{FF2B5EF4-FFF2-40B4-BE49-F238E27FC236}">
                <a16:creationId xmlns:a16="http://schemas.microsoft.com/office/drawing/2014/main" id="{3751291A-A533-B7E5-96E6-0FEBD3914CF9}"/>
              </a:ext>
            </a:extLst>
          </p:cNvPr>
          <p:cNvGrpSpPr/>
          <p:nvPr/>
        </p:nvGrpSpPr>
        <p:grpSpPr>
          <a:xfrm>
            <a:off x="2971513" y="3429000"/>
            <a:ext cx="6403076" cy="947951"/>
            <a:chOff x="2971513" y="3429000"/>
            <a:chExt cx="6403076" cy="947951"/>
          </a:xfrm>
        </p:grpSpPr>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descr="Now the value at begin is 12. Because 12 is greater than the pivot we swap the value at index begin with the value at index end, then decrement end.">
            <a:extLst>
              <a:ext uri="{FF2B5EF4-FFF2-40B4-BE49-F238E27FC236}">
                <a16:creationId xmlns:a16="http://schemas.microsoft.com/office/drawing/2014/main" id="{2D99AECB-A8C4-A530-B7BE-62405E9BA388}"/>
              </a:ext>
            </a:extLst>
          </p:cNvPr>
          <p:cNvGrpSpPr/>
          <p:nvPr/>
        </p:nvGrpSpPr>
        <p:grpSpPr>
          <a:xfrm>
            <a:off x="2990563" y="4495800"/>
            <a:ext cx="6403076" cy="947951"/>
            <a:chOff x="2990563" y="4495800"/>
            <a:chExt cx="6403076" cy="947951"/>
          </a:xfrm>
        </p:grpSpPr>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1422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descr="Now the value at the index begin is that value that was formerly at the index end. We next compare this value with the pivot. In this case, the value at begin is 11, so it is larger than the pivot, so we once again swap this value with the one at index end and decrement end.">
            <a:extLst>
              <a:ext uri="{FF2B5EF4-FFF2-40B4-BE49-F238E27FC236}">
                <a16:creationId xmlns:a16="http://schemas.microsoft.com/office/drawing/2014/main" id="{D62520FA-D152-944A-D3D1-9F9F8B3BA6AA}"/>
              </a:ext>
            </a:extLst>
          </p:cNvPr>
          <p:cNvGrpSpPr/>
          <p:nvPr/>
        </p:nvGrpSpPr>
        <p:grpSpPr>
          <a:xfrm>
            <a:off x="2969524" y="5692824"/>
            <a:ext cx="6403076" cy="914400"/>
            <a:chOff x="2969524" y="5692824"/>
            <a:chExt cx="6403076" cy="914400"/>
          </a:xfrm>
        </p:grpSpPr>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3387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0086E7-8C2F-FA6D-FBEB-411A8519EB2F}"/>
              </a:ext>
            </a:extLst>
          </p:cNvPr>
          <p:cNvSpPr txBox="1">
            <a:spLocks noGrp="1"/>
          </p:cNvSpPr>
          <p:nvPr>
            <p:ph type="title" idx="4294967295"/>
          </p:nvPr>
        </p:nvSpPr>
        <p:spPr>
          <a:xfrm>
            <a:off x="379293" y="0"/>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dirty="0"/>
              <a:t>Partition Procedure (Slide 2 of 2)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 name="Group 1" descr="Where we left off from the previous slide.">
            <a:extLst>
              <a:ext uri="{FF2B5EF4-FFF2-40B4-BE49-F238E27FC236}">
                <a16:creationId xmlns:a16="http://schemas.microsoft.com/office/drawing/2014/main" id="{D044433F-DF44-C371-3353-327C2344D2B6}"/>
              </a:ext>
            </a:extLst>
          </p:cNvPr>
          <p:cNvGrpSpPr/>
          <p:nvPr/>
        </p:nvGrpSpPr>
        <p:grpSpPr>
          <a:xfrm>
            <a:off x="2649938" y="2286000"/>
            <a:ext cx="6403076" cy="914400"/>
            <a:chOff x="2649938" y="2286000"/>
            <a:chExt cx="6403076" cy="914400"/>
          </a:xfrm>
        </p:grpSpPr>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descr="Now begin contains the value 6, which is smaller than the pivot, so we increment begin.">
            <a:extLst>
              <a:ext uri="{FF2B5EF4-FFF2-40B4-BE49-F238E27FC236}">
                <a16:creationId xmlns:a16="http://schemas.microsoft.com/office/drawing/2014/main" id="{CAF0C632-34F8-38D2-BAD2-8150D883F696}"/>
              </a:ext>
            </a:extLst>
          </p:cNvPr>
          <p:cNvGrpSpPr/>
          <p:nvPr/>
        </p:nvGrpSpPr>
        <p:grpSpPr>
          <a:xfrm>
            <a:off x="2649938" y="3377821"/>
            <a:ext cx="6403076" cy="914400"/>
            <a:chOff x="2649938" y="3377821"/>
            <a:chExt cx="6403076" cy="914400"/>
          </a:xfrm>
        </p:grpSpPr>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descr="Now begin contains the value 10, which is larger than the pivot, so we swap 10 with the value at index end and decrement end.">
            <a:extLst>
              <a:ext uri="{FF2B5EF4-FFF2-40B4-BE49-F238E27FC236}">
                <a16:creationId xmlns:a16="http://schemas.microsoft.com/office/drawing/2014/main" id="{0A74119E-A09F-A8F5-4C0C-D890F6818E1D}"/>
              </a:ext>
            </a:extLst>
          </p:cNvPr>
          <p:cNvGrpSpPr/>
          <p:nvPr/>
        </p:nvGrpSpPr>
        <p:grpSpPr>
          <a:xfrm>
            <a:off x="2649938" y="4449816"/>
            <a:ext cx="6403076" cy="909205"/>
            <a:chOff x="2649938" y="4449816"/>
            <a:chExt cx="6403076" cy="909205"/>
          </a:xfrm>
        </p:grpSpPr>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5445058" y="444981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descr="Next we compare the value at index begin with the pivot, continuing the process until begin and end meet at the same index.">
            <a:extLst>
              <a:ext uri="{FF2B5EF4-FFF2-40B4-BE49-F238E27FC236}">
                <a16:creationId xmlns:a16="http://schemas.microsoft.com/office/drawing/2014/main" id="{D68431A1-00BD-033F-363E-28FD3B78CDE0}"/>
              </a:ext>
            </a:extLst>
          </p:cNvPr>
          <p:cNvGrpSpPr/>
          <p:nvPr/>
        </p:nvGrpSpPr>
        <p:grpSpPr>
          <a:xfrm>
            <a:off x="2649938" y="5485831"/>
            <a:ext cx="6403076" cy="914969"/>
            <a:chOff x="2649938" y="5485831"/>
            <a:chExt cx="6403076" cy="914969"/>
          </a:xfrm>
        </p:grpSpPr>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0267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31855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 Begin Meets End (Case 1)</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9222CCFC-3897-D26A-C056-6EFB88752F4E}"/>
              </a:ext>
            </a:extLst>
          </p:cNvPr>
          <p:cNvGrpSpPr/>
          <p:nvPr/>
        </p:nvGrpSpPr>
        <p:grpSpPr>
          <a:xfrm>
            <a:off x="2649938" y="2441812"/>
            <a:ext cx="6403076" cy="919518"/>
            <a:chOff x="2649938" y="2441812"/>
            <a:chExt cx="6403076" cy="919518"/>
          </a:xfrm>
        </p:grpSpPr>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3" name="Group 2" descr="We have two cases, the first case is when begin and end meet at a value that is less than the pivot. Because the pivot is at index 0, we can just swap the value at index begin with the pivot.">
            <a:extLst>
              <a:ext uri="{FF2B5EF4-FFF2-40B4-BE49-F238E27FC236}">
                <a16:creationId xmlns:a16="http://schemas.microsoft.com/office/drawing/2014/main" id="{75773105-19F6-A6BF-C8A8-032E238B4054}"/>
              </a:ext>
            </a:extLst>
          </p:cNvPr>
          <p:cNvGrpSpPr/>
          <p:nvPr/>
        </p:nvGrpSpPr>
        <p:grpSpPr>
          <a:xfrm>
            <a:off x="2639420" y="4947882"/>
            <a:ext cx="6403076" cy="919518"/>
            <a:chOff x="2639420" y="4947882"/>
            <a:chExt cx="6403076" cy="919518"/>
          </a:xfrm>
        </p:grpSpPr>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 Begin Meets End (Case 2)</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76F8D6F2-A5ED-2AFB-6265-8BF4FF369250}"/>
              </a:ext>
            </a:extLst>
          </p:cNvPr>
          <p:cNvGrpSpPr/>
          <p:nvPr/>
        </p:nvGrpSpPr>
        <p:grpSpPr>
          <a:xfrm>
            <a:off x="2649938" y="2438400"/>
            <a:ext cx="6403076" cy="919518"/>
            <a:chOff x="2649938" y="2438400"/>
            <a:chExt cx="6403076" cy="919518"/>
          </a:xfrm>
        </p:grpSpPr>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4"/>
                <a:stretch>
                  <a:fillRect l="-1773" t="-5941" b="-4950"/>
                </a:stretch>
              </a:blipFill>
            </p:spPr>
            <p:txBody>
              <a:bodyPr/>
              <a:lstStyle/>
              <a:p>
                <a:r>
                  <a:rPr lang="en-US">
                    <a:noFill/>
                  </a:rPr>
                  <a:t> </a:t>
                </a:r>
              </a:p>
            </p:txBody>
          </p:sp>
        </mc:Fallback>
      </mc:AlternateContent>
      <p:grpSp>
        <p:nvGrpSpPr>
          <p:cNvPr id="3" name="Group 2" descr="The second case is when begin and end meet at a value that is greater than the pivot. Because the pivot is at index 0, we can just swap the value at index begin-1 with the pivot.">
            <a:extLst>
              <a:ext uri="{FF2B5EF4-FFF2-40B4-BE49-F238E27FC236}">
                <a16:creationId xmlns:a16="http://schemas.microsoft.com/office/drawing/2014/main" id="{F2327318-50EB-1436-48FA-5E67A9F3019C}"/>
              </a:ext>
            </a:extLst>
          </p:cNvPr>
          <p:cNvGrpSpPr/>
          <p:nvPr/>
        </p:nvGrpSpPr>
        <p:grpSpPr>
          <a:xfrm>
            <a:off x="2639420" y="4944470"/>
            <a:ext cx="6403076" cy="919518"/>
            <a:chOff x="2639420" y="4944470"/>
            <a:chExt cx="6403076" cy="919518"/>
          </a:xfrm>
        </p:grpSpPr>
        <p:grpSp>
          <p:nvGrpSpPr>
            <p:cNvPr id="180" name="Group 179" descr="We have two cases, the first case is when begin and end meet at a value that is less than the pivot. Because the pivot is at index 0, we can just swap the value at index begin with the pivot."/>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grpSp>
        <p:nvGrpSpPr>
          <p:cNvPr id="3" name="Group 2" descr="After partitioning, all elements less than the pivot are to the left, all elements greater than the pivot are to the right, and the pivot is at exactly the index it belongs in for sorting the list.">
            <a:extLst>
              <a:ext uri="{FF2B5EF4-FFF2-40B4-BE49-F238E27FC236}">
                <a16:creationId xmlns:a16="http://schemas.microsoft.com/office/drawing/2014/main" id="{4546323E-26FD-AF3B-B0FC-5EF3A7E60A73}"/>
              </a:ext>
            </a:extLst>
          </p:cNvPr>
          <p:cNvGrpSpPr/>
          <p:nvPr/>
        </p:nvGrpSpPr>
        <p:grpSpPr>
          <a:xfrm>
            <a:off x="2604909" y="1447800"/>
            <a:ext cx="6924151" cy="2339510"/>
            <a:chOff x="2604909" y="1447800"/>
            <a:chExt cx="6924151" cy="2339510"/>
          </a:xfrm>
        </p:grpSpPr>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608" t="-10465" b="-3255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850" t="-10465" b="-32558"/>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1821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grpSp>
        <p:nvGrpSpPr>
          <p:cNvPr id="34" name="Group 33" descr="When the pivot is the median, the two half-lists are of the same size at ever step.">
            <a:extLst>
              <a:ext uri="{FF2B5EF4-FFF2-40B4-BE49-F238E27FC236}">
                <a16:creationId xmlns:a16="http://schemas.microsoft.com/office/drawing/2014/main" id="{273F4CBF-52A4-FDBD-17E0-A4C7F7F6B9E0}"/>
              </a:ext>
            </a:extLst>
          </p:cNvPr>
          <p:cNvGrpSpPr/>
          <p:nvPr/>
        </p:nvGrpSpPr>
        <p:grpSpPr>
          <a:xfrm>
            <a:off x="2619228" y="2438400"/>
            <a:ext cx="6403076" cy="1676400"/>
            <a:chOff x="2619228" y="2438400"/>
            <a:chExt cx="6403076" cy="1676400"/>
          </a:xfrm>
        </p:grpSpPr>
        <p:grpSp>
          <p:nvGrpSpPr>
            <p:cNvPr id="5" name="Group 4" descr="When the pivot is the median, the two half-lists are of the same size at ever step."/>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grpSp>
        <p:nvGrpSpPr>
          <p:cNvPr id="34" name="Group 33" descr="If the pivot is always the minimum element of the list, then the left half-list is of size 0 at each step.">
            <a:extLst>
              <a:ext uri="{FF2B5EF4-FFF2-40B4-BE49-F238E27FC236}">
                <a16:creationId xmlns:a16="http://schemas.microsoft.com/office/drawing/2014/main" id="{36419FAC-ADC4-C02F-047C-A2882A86DFF7}"/>
              </a:ext>
            </a:extLst>
          </p:cNvPr>
          <p:cNvGrpSpPr/>
          <p:nvPr/>
        </p:nvGrpSpPr>
        <p:grpSpPr>
          <a:xfrm>
            <a:off x="2619228" y="2438400"/>
            <a:ext cx="6403076" cy="1676400"/>
            <a:chOff x="2619228" y="2438400"/>
            <a:chExt cx="6403076" cy="1676400"/>
          </a:xfrm>
        </p:grpSpPr>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Worst Case Tree Method</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EDEE58-B2C4-E126-BCB6-C2650B438813}"/>
                  </a:ext>
                </a:extLst>
              </p:cNvPr>
              <p:cNvSpPr txBox="1"/>
              <p:nvPr/>
            </p:nvSpPr>
            <p:spPr>
              <a:xfrm>
                <a:off x="71831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dirty="0"/>
              </a:p>
            </p:txBody>
          </p:sp>
        </mc:Choice>
        <mc:Fallback xmlns="">
          <p:sp>
            <p:nvSpPr>
              <p:cNvPr id="3" name="TextBox 2">
                <a:extLst>
                  <a:ext uri="{FF2B5EF4-FFF2-40B4-BE49-F238E27FC236}">
                    <a16:creationId xmlns:a16="http://schemas.microsoft.com/office/drawing/2014/main" id="{CBEDEE58-B2C4-E126-BCB6-C2650B438813}"/>
                  </a:ext>
                </a:extLst>
              </p:cNvPr>
              <p:cNvSpPr txBox="1">
                <a:spLocks noRot="1" noChangeAspect="1" noMove="1" noResize="1" noEditPoints="1" noAdjustHandles="1" noChangeArrowheads="1" noChangeShapeType="1" noTextEdit="1"/>
              </p:cNvSpPr>
              <p:nvPr/>
            </p:nvSpPr>
            <p:spPr>
              <a:xfrm>
                <a:off x="71831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5" name="Left Brace 4" descr="Because we need to make n recursive calls before reaching a base case, the height of this chain of stack frames is n.">
            <a:extLst>
              <a:ext uri="{FF2B5EF4-FFF2-40B4-BE49-F238E27FC236}">
                <a16:creationId xmlns:a16="http://schemas.microsoft.com/office/drawing/2014/main" id="{03DCD9E8-D3A7-5D78-5FBC-F23481E629CB}"/>
              </a:ext>
            </a:extLst>
          </p:cNvPr>
          <p:cNvSpPr/>
          <p:nvPr/>
        </p:nvSpPr>
        <p:spPr>
          <a:xfrm flipH="1" flipV="1">
            <a:off x="416965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 name="Text Box 2">
                <a:extLst>
                  <a:ext uri="{FF2B5EF4-FFF2-40B4-BE49-F238E27FC236}">
                    <a16:creationId xmlns:a16="http://schemas.microsoft.com/office/drawing/2014/main" id="{E31597D2-7F44-6339-C17A-DA58B649A96A}"/>
                  </a:ext>
                </a:extLst>
              </p:cNvPr>
              <p:cNvSpPr txBox="1">
                <a:spLocks noChangeArrowheads="1"/>
              </p:cNvSpPr>
              <p:nvPr/>
            </p:nvSpPr>
            <p:spPr bwMode="auto">
              <a:xfrm>
                <a:off x="433225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6" name="Text Box 2">
                <a:extLst>
                  <a:ext uri="{FF2B5EF4-FFF2-40B4-BE49-F238E27FC236}">
                    <a16:creationId xmlns:a16="http://schemas.microsoft.com/office/drawing/2014/main" id="{E31597D2-7F44-6339-C17A-DA58B649A96A}"/>
                  </a:ext>
                </a:extLst>
              </p:cNvPr>
              <p:cNvSpPr txBox="1">
                <a:spLocks noRot="1" noChangeAspect="1" noMove="1" noResize="1" noEditPoints="1" noAdjustHandles="1" noChangeArrowheads="1" noChangeShapeType="1" noTextEdit="1"/>
              </p:cNvSpPr>
              <p:nvPr/>
            </p:nvSpPr>
            <p:spPr bwMode="auto">
              <a:xfrm>
                <a:off x="433225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p:grpSp>
        <p:nvGrpSpPr>
          <p:cNvPr id="7" name="Group 6" descr="A picture of the recursion of the worst case of quicksort.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90489735-38B1-5412-7009-2A2F579EF2C3}"/>
              </a:ext>
            </a:extLst>
          </p:cNvPr>
          <p:cNvGrpSpPr/>
          <p:nvPr/>
        </p:nvGrpSpPr>
        <p:grpSpPr>
          <a:xfrm>
            <a:off x="2011925" y="2131196"/>
            <a:ext cx="2107615" cy="4253404"/>
            <a:chOff x="7673338" y="1678247"/>
            <a:chExt cx="2107615" cy="4253404"/>
          </a:xfrm>
        </p:grpSpPr>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CE657F03-EF76-D362-3DE6-4B5DE5FBD482}"/>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222E2D5C-8E44-2CFA-940D-B3903F7D420D}"/>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1">
                  <a:extLst>
                    <a:ext uri="{FF2B5EF4-FFF2-40B4-BE49-F238E27FC236}">
                      <a16:creationId xmlns:a16="http://schemas.microsoft.com/office/drawing/2014/main" id="{5E825DF2-56E1-5581-0038-ACC8AE91E36B}"/>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41">
                  <a:extLst>
                    <a:ext uri="{FF2B5EF4-FFF2-40B4-BE49-F238E27FC236}">
                      <a16:creationId xmlns:a16="http://schemas.microsoft.com/office/drawing/2014/main" id="{17D8FD81-7F4C-AAEC-9E36-50728887EBB4}"/>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A9A3315-DE02-B40B-6499-60A5FA49A8B5}"/>
                </a:ext>
              </a:extLst>
            </p:cNvPr>
            <p:cNvCxnSpPr>
              <a:cxnSpLocks/>
              <a:stCxn id="8" idx="2"/>
              <a:endCxn id="9"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73097D-1F46-4B6B-4724-FBD493B73E93}"/>
                </a:ext>
              </a:extLst>
            </p:cNvPr>
            <p:cNvCxnSpPr>
              <a:cxnSpLocks/>
              <a:stCxn id="9" idx="2"/>
              <a:endCxn id="10"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6D4514-0E18-7CDC-91B4-4D1CEB374588}"/>
                </a:ext>
              </a:extLst>
            </p:cNvPr>
            <p:cNvCxnSpPr>
              <a:cxnSpLocks/>
              <a:stCxn id="10" idx="2"/>
              <a:endCxn id="11"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 Box 41">
                  <a:extLst>
                    <a:ext uri="{FF2B5EF4-FFF2-40B4-BE49-F238E27FC236}">
                      <a16:creationId xmlns:a16="http://schemas.microsoft.com/office/drawing/2014/main" id="{A2F1D833-111E-2639-CD0C-D984EC73994A}"/>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E0F7A06-6D76-F6E9-92CF-289EF67899EC}"/>
                </a:ext>
              </a:extLst>
            </p:cNvPr>
            <p:cNvCxnSpPr>
              <a:cxnSpLocks/>
              <a:stCxn id="11"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9E4F6E-DAF3-49C7-20E5-2931AD0D68D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8A8F9-E3CA-0651-BA6E-27AF093F0F34}"/>
                    </a:ext>
                  </a:extLst>
                </p:cNvPr>
                <p:cNvSpPr txBox="1"/>
                <p:nvPr/>
              </p:nvSpPr>
              <p:spPr>
                <a:xfrm>
                  <a:off x="9002408" y="1678247"/>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18" name="TextBox 17">
                  <a:extLst>
                    <a:ext uri="{FF2B5EF4-FFF2-40B4-BE49-F238E27FC236}">
                      <a16:creationId xmlns:a16="http://schemas.microsoft.com/office/drawing/2014/main" id="{BD28A8F9-E3CA-0651-BA6E-27AF093F0F34}"/>
                    </a:ext>
                  </a:extLst>
                </p:cNvPr>
                <p:cNvSpPr txBox="1">
                  <a:spLocks noRot="1" noChangeAspect="1" noMove="1" noResize="1" noEditPoints="1" noAdjustHandles="1" noChangeArrowheads="1" noChangeShapeType="1" noTextEdit="1"/>
                </p:cNvSpPr>
                <p:nvPr/>
              </p:nvSpPr>
              <p:spPr>
                <a:xfrm>
                  <a:off x="9002408" y="1678247"/>
                  <a:ext cx="37459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581E091-EA56-3C45-CCCF-4D8BBC012AC6}"/>
                    </a:ext>
                  </a:extLst>
                </p:cNvPr>
                <p:cNvSpPr txBox="1"/>
                <p:nvPr/>
              </p:nvSpPr>
              <p:spPr>
                <a:xfrm>
                  <a:off x="9002407" y="2525515"/>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19" name="TextBox 18">
                  <a:extLst>
                    <a:ext uri="{FF2B5EF4-FFF2-40B4-BE49-F238E27FC236}">
                      <a16:creationId xmlns:a16="http://schemas.microsoft.com/office/drawing/2014/main" id="{5581E091-EA56-3C45-CCCF-4D8BBC012AC6}"/>
                    </a:ext>
                  </a:extLst>
                </p:cNvPr>
                <p:cNvSpPr txBox="1">
                  <a:spLocks noRot="1" noChangeAspect="1" noMove="1" noResize="1" noEditPoints="1" noAdjustHandles="1" noChangeArrowheads="1" noChangeShapeType="1" noTextEdit="1"/>
                </p:cNvSpPr>
                <p:nvPr/>
              </p:nvSpPr>
              <p:spPr>
                <a:xfrm>
                  <a:off x="9002407" y="2525515"/>
                  <a:ext cx="77854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163E501-CBD8-735C-F2BC-DFE17572D485}"/>
                    </a:ext>
                  </a:extLst>
                </p:cNvPr>
                <p:cNvSpPr txBox="1"/>
                <p:nvPr/>
              </p:nvSpPr>
              <p:spPr>
                <a:xfrm>
                  <a:off x="9002407" y="334847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−2</m:t>
                        </m:r>
                      </m:oMath>
                    </m:oMathPara>
                  </a14:m>
                  <a:endParaRPr lang="en-US" dirty="0">
                    <a:solidFill>
                      <a:srgbClr val="0070C0"/>
                    </a:solidFill>
                  </a:endParaRPr>
                </a:p>
              </p:txBody>
            </p:sp>
          </mc:Choice>
          <mc:Fallback xmlns="">
            <p:sp>
              <p:nvSpPr>
                <p:cNvPr id="20" name="TextBox 19">
                  <a:extLst>
                    <a:ext uri="{FF2B5EF4-FFF2-40B4-BE49-F238E27FC236}">
                      <a16:creationId xmlns:a16="http://schemas.microsoft.com/office/drawing/2014/main" id="{D163E501-CBD8-735C-F2BC-DFE17572D485}"/>
                    </a:ext>
                  </a:extLst>
                </p:cNvPr>
                <p:cNvSpPr txBox="1">
                  <a:spLocks noRot="1" noChangeAspect="1" noMove="1" noResize="1" noEditPoints="1" noAdjustHandles="1" noChangeArrowheads="1" noChangeShapeType="1" noTextEdit="1"/>
                </p:cNvSpPr>
                <p:nvPr/>
              </p:nvSpPr>
              <p:spPr>
                <a:xfrm>
                  <a:off x="9002407" y="3348473"/>
                  <a:ext cx="77854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3762653-B1D8-1BB5-0E4D-B719C29E5903}"/>
                    </a:ext>
                  </a:extLst>
                </p:cNvPr>
                <p:cNvSpPr txBox="1"/>
                <p:nvPr/>
              </p:nvSpPr>
              <p:spPr>
                <a:xfrm>
                  <a:off x="9002407" y="4171431"/>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−3</m:t>
                        </m:r>
                      </m:oMath>
                    </m:oMathPara>
                  </a14:m>
                  <a:endParaRPr lang="en-US" dirty="0">
                    <a:solidFill>
                      <a:srgbClr val="0070C0"/>
                    </a:solidFill>
                  </a:endParaRPr>
                </a:p>
              </p:txBody>
            </p:sp>
          </mc:Choice>
          <mc:Fallback xmlns="">
            <p:sp>
              <p:nvSpPr>
                <p:cNvPr id="21" name="TextBox 20">
                  <a:extLst>
                    <a:ext uri="{FF2B5EF4-FFF2-40B4-BE49-F238E27FC236}">
                      <a16:creationId xmlns:a16="http://schemas.microsoft.com/office/drawing/2014/main" id="{83762653-B1D8-1BB5-0E4D-B719C29E5903}"/>
                    </a:ext>
                  </a:extLst>
                </p:cNvPr>
                <p:cNvSpPr txBox="1">
                  <a:spLocks noRot="1" noChangeAspect="1" noMove="1" noResize="1" noEditPoints="1" noAdjustHandles="1" noChangeArrowheads="1" noChangeShapeType="1" noTextEdit="1"/>
                </p:cNvSpPr>
                <p:nvPr/>
              </p:nvSpPr>
              <p:spPr>
                <a:xfrm>
                  <a:off x="9002407" y="4171431"/>
                  <a:ext cx="77854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13200-8A95-58CD-E8D3-1E24A7D13A1E}"/>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C126A993-8C69-70F1-F267-F626BD8A8E0F}"/>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6"/>
                <a:stretch>
                  <a:fillRect/>
                </a:stretch>
              </p:blipFill>
              <p:spPr>
                <a:xfrm>
                  <a:off x="9401400" y="4473720"/>
                  <a:ext cx="19080" cy="19080"/>
                </a:xfrm>
                <a:prstGeom prst="rect">
                  <a:avLst/>
                </a:prstGeom>
              </p:spPr>
            </p:pic>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1432180-B9BD-BEC0-6BC3-728A974152CA}"/>
                  </a:ext>
                </a:extLst>
              </p:cNvPr>
              <p:cNvSpPr txBox="1"/>
              <p:nvPr/>
            </p:nvSpPr>
            <p:spPr>
              <a:xfrm>
                <a:off x="6624320" y="2131196"/>
                <a:ext cx="4849365" cy="18688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𝑖</m:t>
                          </m:r>
                        </m:e>
                      </m:nary>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i="1" smtClean="0">
                              <a:latin typeface="Cambria Math" panose="02040503050406030204" pitchFamily="18" charset="0"/>
                            </a:rPr>
                            <m:t>𝑖</m:t>
                          </m:r>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en-US" sz="2400" b="0" i="1" dirty="0">
                  <a:latin typeface="Cambria Math" panose="02040503050406030204" pitchFamily="18" charset="0"/>
                </a:endParaRPr>
              </a:p>
              <a:p>
                <a:endParaRPr lang="en-US"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m:oMathPara>
                </a14:m>
                <a:endParaRPr lang="en-US" sz="2400" dirty="0"/>
              </a:p>
            </p:txBody>
          </p:sp>
        </mc:Choice>
        <mc:Fallback xmlns="">
          <p:sp>
            <p:nvSpPr>
              <p:cNvPr id="24" name="TextBox 23">
                <a:extLst>
                  <a:ext uri="{FF2B5EF4-FFF2-40B4-BE49-F238E27FC236}">
                    <a16:creationId xmlns:a16="http://schemas.microsoft.com/office/drawing/2014/main" id="{31432180-B9BD-BEC0-6BC3-728A974152CA}"/>
                  </a:ext>
                </a:extLst>
              </p:cNvPr>
              <p:cNvSpPr txBox="1">
                <a:spLocks noRot="1" noChangeAspect="1" noMove="1" noResize="1" noEditPoints="1" noAdjustHandles="1" noChangeArrowheads="1" noChangeShapeType="1" noTextEdit="1"/>
              </p:cNvSpPr>
              <p:nvPr/>
            </p:nvSpPr>
            <p:spPr>
              <a:xfrm>
                <a:off x="6624320" y="2131196"/>
                <a:ext cx="4849365" cy="1868845"/>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p:spTree>
    <p:extLst>
      <p:ext uri="{BB962C8B-B14F-4D97-AF65-F5344CB8AC3E}">
        <p14:creationId xmlns:p14="http://schemas.microsoft.com/office/powerpoint/2010/main" val="3456666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8608-2504-743C-86F1-72C308611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42D7-01D6-CE56-F5A1-3744AC657ABB}"/>
              </a:ext>
            </a:extLst>
          </p:cNvPr>
          <p:cNvSpPr>
            <a:spLocks noGrp="1"/>
          </p:cNvSpPr>
          <p:nvPr>
            <p:ph type="title"/>
          </p:nvPr>
        </p:nvSpPr>
        <p:spPr/>
        <p:txBody>
          <a:bodyPr/>
          <a:lstStyle/>
          <a:p>
            <a:r>
              <a:rPr lang="en-US" dirty="0"/>
              <a:t>Quick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D3322-3F80-5D45-0053-1B26325A3B93}"/>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but “almost always”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in practice </a:t>
                </a:r>
              </a:p>
              <a:p>
                <a:pPr lvl="1"/>
                <a:r>
                  <a:rPr lang="en-US" dirty="0"/>
                  <a:t>Better constants than merge sort</a:t>
                </a:r>
              </a:p>
              <a:p>
                <a:r>
                  <a:rPr lang="en-US" dirty="0"/>
                  <a:t>In place:</a:t>
                </a:r>
              </a:p>
              <a:p>
                <a:pPr lvl="1"/>
                <a:r>
                  <a:rPr lang="en-US" dirty="0"/>
                  <a:t>Kinda…</a:t>
                </a:r>
              </a:p>
              <a:p>
                <a:pPr lvl="1"/>
                <a:r>
                  <a:rPr lang="en-US" dirty="0"/>
                  <a:t>We swap within the given array, but do so using recursion, so we need space for the stack frames</a:t>
                </a:r>
              </a:p>
              <a:p>
                <a:pPr lvl="1"/>
                <a:r>
                  <a:rPr lang="en-US" dirty="0"/>
                  <a:t>Different textbooks disagree on whether call-stack space “counts” </a:t>
                </a:r>
              </a:p>
              <a:p>
                <a:r>
                  <a:rPr lang="en-US" dirty="0"/>
                  <a:t>Adaptive</a:t>
                </a:r>
              </a:p>
              <a:p>
                <a:pPr lvl="1"/>
                <a:r>
                  <a:rPr lang="en-US" dirty="0"/>
                  <a:t>NO! </a:t>
                </a:r>
              </a:p>
              <a:p>
                <a:r>
                  <a:rPr lang="en-US" dirty="0"/>
                  <a:t>Online</a:t>
                </a:r>
              </a:p>
              <a:p>
                <a:pPr lvl="1"/>
                <a:r>
                  <a:rPr lang="en-US" dirty="0"/>
                  <a:t>NO!</a:t>
                </a:r>
              </a:p>
              <a:p>
                <a:pPr lvl="1"/>
                <a:r>
                  <a:rPr lang="en-US" dirty="0"/>
                  <a:t>We need all elements before we can divide</a:t>
                </a:r>
              </a:p>
              <a:p>
                <a:r>
                  <a:rPr lang="en-US" dirty="0"/>
                  <a:t>Stable</a:t>
                </a:r>
              </a:p>
              <a:p>
                <a:pPr lvl="1"/>
                <a:r>
                  <a:rPr lang="en-US" dirty="0"/>
                  <a:t>NO!</a:t>
                </a:r>
              </a:p>
              <a:p>
                <a:pPr lvl="1"/>
                <a:r>
                  <a:rPr lang="en-US" dirty="0"/>
                  <a:t>Partition procedure may rearrange tied elements</a:t>
                </a:r>
              </a:p>
            </p:txBody>
          </p:sp>
        </mc:Choice>
        <mc:Fallback xmlns="">
          <p:sp>
            <p:nvSpPr>
              <p:cNvPr id="3" name="Content Placeholder 2">
                <a:extLst>
                  <a:ext uri="{FF2B5EF4-FFF2-40B4-BE49-F238E27FC236}">
                    <a16:creationId xmlns:a16="http://schemas.microsoft.com/office/drawing/2014/main" id="{076D3322-3F80-5D45-0053-1B26325A3B93}"/>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p:spTree>
    <p:extLst>
      <p:ext uri="{BB962C8B-B14F-4D97-AF65-F5344CB8AC3E}">
        <p14:creationId xmlns:p14="http://schemas.microsoft.com/office/powerpoint/2010/main" val="1657902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443D-CC80-4223-4973-783A2799D5A0}"/>
              </a:ext>
            </a:extLst>
          </p:cNvPr>
          <p:cNvSpPr>
            <a:spLocks noGrp="1"/>
          </p:cNvSpPr>
          <p:nvPr>
            <p:ph type="title"/>
          </p:nvPr>
        </p:nvSpPr>
        <p:spPr/>
        <p:txBody>
          <a:bodyPr/>
          <a:lstStyle/>
          <a:p>
            <a:r>
              <a:rPr lang="en-US" dirty="0"/>
              <a:t>“Linear Time” Sorting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4058D8-9EE1-AE68-B68A-9A002CD5EC46}"/>
                  </a:ext>
                </a:extLst>
              </p:cNvPr>
              <p:cNvSpPr>
                <a:spLocks noGrp="1"/>
              </p:cNvSpPr>
              <p:nvPr>
                <p:ph idx="1"/>
              </p:nvPr>
            </p:nvSpPr>
            <p:spPr/>
            <p:txBody>
              <a:bodyPr/>
              <a:lstStyle/>
              <a:p>
                <a:r>
                  <a:rPr lang="en-US" dirty="0"/>
                  <a:t>Useable when you are able to make additional assumptions about the contents of your list (beyond the ability to compare)</a:t>
                </a:r>
              </a:p>
              <a:p>
                <a:pPr lvl="1"/>
                <a:r>
                  <a:rPr lang="en-US" dirty="0"/>
                  <a:t>Examples:</a:t>
                </a:r>
              </a:p>
              <a:p>
                <a:pPr lvl="2"/>
                <a:r>
                  <a:rPr lang="en-US" dirty="0"/>
                  <a:t>The list contains only positive integers less than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The number of distinct values in the list is much smaller than the length of the list</a:t>
                </a:r>
              </a:p>
              <a:p>
                <a:r>
                  <a:rPr lang="en-US" dirty="0"/>
                  <a:t>The running time expression will always have a term other than the list’s length to account for this assumption</a:t>
                </a:r>
              </a:p>
              <a:p>
                <a:pPr lvl="1"/>
                <a:r>
                  <a:rPr lang="en-US" dirty="0"/>
                  <a:t>Examples:</a:t>
                </a:r>
              </a:p>
              <a:p>
                <a:pPr lvl="2"/>
                <a:r>
                  <a:rPr lang="en-US" dirty="0"/>
                  <a:t>Running time might be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𝑘</m:t>
                    </m:r>
                  </m:oMath>
                </a14:m>
                <a:r>
                  <a:rPr lang="en-US" dirty="0"/>
                  <a:t> is the range/count of values</a:t>
                </a:r>
              </a:p>
              <a:p>
                <a:pPr lvl="1"/>
                <a:endParaRPr lang="en-US" dirty="0"/>
              </a:p>
            </p:txBody>
          </p:sp>
        </mc:Choice>
        <mc:Fallback xmlns="">
          <p:sp>
            <p:nvSpPr>
              <p:cNvPr id="3" name="Content Placeholder 2">
                <a:extLst>
                  <a:ext uri="{FF2B5EF4-FFF2-40B4-BE49-F238E27FC236}">
                    <a16:creationId xmlns:a16="http://schemas.microsoft.com/office/drawing/2014/main" id="{614058D8-9EE1-AE68-B68A-9A002CD5EC46}"/>
                  </a:ext>
                </a:extLst>
              </p:cNvPr>
              <p:cNvSpPr>
                <a:spLocks noGrp="1" noRot="1" noChangeAspect="1" noMove="1" noResize="1" noEditPoints="1" noAdjustHandles="1" noChangeArrowheads="1" noChangeShapeType="1" noTextEdit="1"/>
              </p:cNvSpPr>
              <p:nvPr>
                <p:ph idx="1"/>
              </p:nvPr>
            </p:nvSpPr>
            <p:spPr>
              <a:blipFill>
                <a:blip r:embed="rId2"/>
                <a:stretch>
                  <a:fillRect l="-1043" t="-2241" r="-1681"/>
                </a:stretch>
              </a:blipFill>
            </p:spPr>
            <p:txBody>
              <a:bodyPr/>
              <a:lstStyle/>
              <a:p>
                <a:r>
                  <a:rPr lang="en-US">
                    <a:noFill/>
                  </a:rPr>
                  <a:t> </a:t>
                </a:r>
              </a:p>
            </p:txBody>
          </p:sp>
        </mc:Fallback>
      </mc:AlternateContent>
    </p:spTree>
    <p:extLst>
      <p:ext uri="{BB962C8B-B14F-4D97-AF65-F5344CB8AC3E}">
        <p14:creationId xmlns:p14="http://schemas.microsoft.com/office/powerpoint/2010/main" val="2444117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BucketSort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p:txBody>
              <a:bodyPr/>
              <a:lstStyle/>
              <a:p>
                <a:r>
                  <a:rPr lang="en-US" dirty="0"/>
                  <a:t>Assumes the array contains integers between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(or some other small range)</a:t>
                </a:r>
              </a:p>
              <a:p>
                <a:r>
                  <a:rPr lang="en-US" dirty="0"/>
                  <a:t>Idea:</a:t>
                </a:r>
              </a:p>
              <a:p>
                <a:pPr lvl="1"/>
                <a:r>
                  <a:rPr lang="en-US" dirty="0"/>
                  <a:t>Use each value as an index into an array of size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Add the item into the “bucket” at that index (e.g. linked list)</a:t>
                </a:r>
              </a:p>
              <a:p>
                <a:pPr lvl="1"/>
                <a:r>
                  <a:rPr lang="en-US" dirty="0"/>
                  <a:t>Get sorted array by “appending” all the buckets</a:t>
                </a:r>
              </a:p>
            </p:txBody>
          </p:sp>
        </mc:Choice>
        <mc:Fallback xmlns="">
          <p:sp>
            <p:nvSpPr>
              <p:cNvPr id="3" name="Content Placeholder 2">
                <a:extLst>
                  <a:ext uri="{FF2B5EF4-FFF2-40B4-BE49-F238E27FC236}">
                    <a16:creationId xmlns:a16="http://schemas.microsoft.com/office/drawing/2014/main" id="{13E04AAD-4854-7E00-900E-93F7F0ADE08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6" name="Group 45" descr="An array of length 12 containing only the keys 0, 1, 2, and 3. In particular, the contents are:&#10;[0,2,3,0,0,1,2,1,3,0,2,0]">
            <a:extLst>
              <a:ext uri="{FF2B5EF4-FFF2-40B4-BE49-F238E27FC236}">
                <a16:creationId xmlns:a16="http://schemas.microsoft.com/office/drawing/2014/main" id="{28D2429C-A2C3-D78D-86E9-11CE8E41D125}"/>
              </a:ext>
            </a:extLst>
          </p:cNvPr>
          <p:cNvGrpSpPr/>
          <p:nvPr/>
        </p:nvGrpSpPr>
        <p:grpSpPr>
          <a:xfrm>
            <a:off x="11911" y="5514575"/>
            <a:ext cx="4386191" cy="365386"/>
            <a:chOff x="1445524" y="2895600"/>
            <a:chExt cx="6403076" cy="533400"/>
          </a:xfrm>
          <a:solidFill>
            <a:schemeClr val="bg1"/>
          </a:solidFill>
        </p:grpSpPr>
        <p:sp>
          <p:nvSpPr>
            <p:cNvPr id="47" name="Rectangle 46">
              <a:extLst>
                <a:ext uri="{FF2B5EF4-FFF2-40B4-BE49-F238E27FC236}">
                  <a16:creationId xmlns:a16="http://schemas.microsoft.com/office/drawing/2014/main" id="{C8991133-53D2-21F2-29C3-E98E7709EE01}"/>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48" name="Rectangle 47">
              <a:extLst>
                <a:ext uri="{FF2B5EF4-FFF2-40B4-BE49-F238E27FC236}">
                  <a16:creationId xmlns:a16="http://schemas.microsoft.com/office/drawing/2014/main" id="{730D66B8-A5F7-07FF-D312-C7AC75751DF1}"/>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49" name="Rectangle 48">
              <a:extLst>
                <a:ext uri="{FF2B5EF4-FFF2-40B4-BE49-F238E27FC236}">
                  <a16:creationId xmlns:a16="http://schemas.microsoft.com/office/drawing/2014/main" id="{5E9E219E-11BF-685D-A6D4-EF356E8C2FA7}"/>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50" name="Rectangle 49">
              <a:extLst>
                <a:ext uri="{FF2B5EF4-FFF2-40B4-BE49-F238E27FC236}">
                  <a16:creationId xmlns:a16="http://schemas.microsoft.com/office/drawing/2014/main" id="{9D87A812-EAA0-D443-7950-C573364609A0}"/>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51" name="Rectangle 50">
              <a:extLst>
                <a:ext uri="{FF2B5EF4-FFF2-40B4-BE49-F238E27FC236}">
                  <a16:creationId xmlns:a16="http://schemas.microsoft.com/office/drawing/2014/main" id="{F1707F78-BE73-72CA-F6DC-1515ECE148EE}"/>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p>
          </p:txBody>
        </p:sp>
        <p:sp>
          <p:nvSpPr>
            <p:cNvPr id="52" name="Rectangle 51">
              <a:extLst>
                <a:ext uri="{FF2B5EF4-FFF2-40B4-BE49-F238E27FC236}">
                  <a16:creationId xmlns:a16="http://schemas.microsoft.com/office/drawing/2014/main" id="{361E9614-6CC2-15BD-1F3E-2BE8C9109E3A}"/>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712D61F4-D525-E70B-DDA3-1CA9C95D238A}"/>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a:extLst>
                <a:ext uri="{FF2B5EF4-FFF2-40B4-BE49-F238E27FC236}">
                  <a16:creationId xmlns:a16="http://schemas.microsoft.com/office/drawing/2014/main" id="{A9D0A8A3-E471-716C-E1E2-84F388209D08}"/>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55" name="Rectangle 54">
              <a:extLst>
                <a:ext uri="{FF2B5EF4-FFF2-40B4-BE49-F238E27FC236}">
                  <a16:creationId xmlns:a16="http://schemas.microsoft.com/office/drawing/2014/main" id="{39E38520-A7FB-159F-9CCA-D3E7AF2DAAAB}"/>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sp>
          <p:nvSpPr>
            <p:cNvPr id="56" name="Rectangle 55">
              <a:extLst>
                <a:ext uri="{FF2B5EF4-FFF2-40B4-BE49-F238E27FC236}">
                  <a16:creationId xmlns:a16="http://schemas.microsoft.com/office/drawing/2014/main" id="{75A47277-D855-F580-7023-1EC9C825E2D6}"/>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7" name="Rectangle 56">
              <a:extLst>
                <a:ext uri="{FF2B5EF4-FFF2-40B4-BE49-F238E27FC236}">
                  <a16:creationId xmlns:a16="http://schemas.microsoft.com/office/drawing/2014/main" id="{871D4AD6-315C-B84D-7071-065DA90CB2D5}"/>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p:txBody>
        </p:sp>
        <p:sp>
          <p:nvSpPr>
            <p:cNvPr id="58" name="Rectangle 57">
              <a:extLst>
                <a:ext uri="{FF2B5EF4-FFF2-40B4-BE49-F238E27FC236}">
                  <a16:creationId xmlns:a16="http://schemas.microsoft.com/office/drawing/2014/main" id="{DD60F3EF-76FE-B40C-1312-CAA6D43CD06D}"/>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p>
          </p:txBody>
        </p:sp>
      </p:grpSp>
      <p:sp>
        <p:nvSpPr>
          <p:cNvPr id="72" name="Arrow: Right 71">
            <a:extLst>
              <a:ext uri="{FF2B5EF4-FFF2-40B4-BE49-F238E27FC236}">
                <a16:creationId xmlns:a16="http://schemas.microsoft.com/office/drawing/2014/main" id="{1DC3E660-9E6E-B53B-EBBB-B31CCC11C4A0}"/>
              </a:ext>
              <a:ext uri="{C183D7F6-B498-43B3-948B-1728B52AA6E4}">
                <adec:decorative xmlns:adec="http://schemas.microsoft.com/office/drawing/2017/decorative" val="1"/>
              </a:ext>
            </a:extLst>
          </p:cNvPr>
          <p:cNvSpPr/>
          <p:nvPr/>
        </p:nvSpPr>
        <p:spPr>
          <a:xfrm>
            <a:off x="4520023" y="5341155"/>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descr="We have one &quot;bucket&quot; per key in our array, so in this case we have buckets 0, 1, 2, and 3. To sort the first step is to insert each item into a bucket according to its sort key. In this case the bucket 0 has six 0s, bucket 1 has two 1s, bucket 2 has three 2s, and bucket 3 has two 3s.">
            <a:extLst>
              <a:ext uri="{FF2B5EF4-FFF2-40B4-BE49-F238E27FC236}">
                <a16:creationId xmlns:a16="http://schemas.microsoft.com/office/drawing/2014/main" id="{67AF8E09-4807-2868-A48C-6127E71A25DA}"/>
              </a:ext>
            </a:extLst>
          </p:cNvPr>
          <p:cNvGrpSpPr/>
          <p:nvPr/>
        </p:nvGrpSpPr>
        <p:grpSpPr>
          <a:xfrm>
            <a:off x="5029200" y="4971363"/>
            <a:ext cx="2133600" cy="1817195"/>
            <a:chOff x="4876800" y="4493526"/>
            <a:chExt cx="2133600" cy="1817195"/>
          </a:xfrm>
        </p:grpSpPr>
        <p:sp>
          <p:nvSpPr>
            <p:cNvPr id="10" name="Rectangle 9">
              <a:extLst>
                <a:ext uri="{FF2B5EF4-FFF2-40B4-BE49-F238E27FC236}">
                  <a16:creationId xmlns:a16="http://schemas.microsoft.com/office/drawing/2014/main" id="{37195B6B-8F20-1E06-FD24-55448A14BC22}"/>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a:p>
              <a:pPr algn="ctr"/>
              <a:r>
                <a:rPr lang="en-US" dirty="0">
                  <a:solidFill>
                    <a:srgbClr val="0070C0"/>
                  </a:solidFill>
                </a:rPr>
                <a:t>3</a:t>
              </a:r>
            </a:p>
          </p:txBody>
        </p:sp>
        <p:sp>
          <p:nvSpPr>
            <p:cNvPr id="11" name="Rectangle 10">
              <a:extLst>
                <a:ext uri="{FF2B5EF4-FFF2-40B4-BE49-F238E27FC236}">
                  <a16:creationId xmlns:a16="http://schemas.microsoft.com/office/drawing/2014/main" id="{EFCDDC84-F1EE-993E-EAE5-3B0A4221D133}"/>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a:p>
              <a:pPr algn="ctr"/>
              <a:r>
                <a:rPr lang="en-US" dirty="0">
                  <a:solidFill>
                    <a:schemeClr val="tx1"/>
                  </a:solidFill>
                </a:rPr>
                <a:t>2</a:t>
              </a:r>
            </a:p>
            <a:p>
              <a:pPr algn="ctr"/>
              <a:r>
                <a:rPr lang="en-US" dirty="0">
                  <a:solidFill>
                    <a:srgbClr val="FF0000"/>
                  </a:solidFill>
                </a:rPr>
                <a:t>2</a:t>
              </a:r>
            </a:p>
          </p:txBody>
        </p:sp>
        <p:sp>
          <p:nvSpPr>
            <p:cNvPr id="12" name="TextBox 11">
              <a:extLst>
                <a:ext uri="{FF2B5EF4-FFF2-40B4-BE49-F238E27FC236}">
                  <a16:creationId xmlns:a16="http://schemas.microsoft.com/office/drawing/2014/main" id="{BCBDC5BF-A788-9BB0-473D-1600DF77A3F1}"/>
                </a:ext>
              </a:extLst>
            </p:cNvPr>
            <p:cNvSpPr txBox="1"/>
            <p:nvPr/>
          </p:nvSpPr>
          <p:spPr>
            <a:xfrm>
              <a:off x="4992657" y="5941389"/>
              <a:ext cx="301686" cy="369332"/>
            </a:xfrm>
            <a:prstGeom prst="rect">
              <a:avLst/>
            </a:prstGeom>
            <a:noFill/>
          </p:spPr>
          <p:txBody>
            <a:bodyPr wrap="none" rtlCol="0">
              <a:spAutoFit/>
            </a:bodyPr>
            <a:lstStyle/>
            <a:p>
              <a:r>
                <a:rPr lang="en-US" dirty="0"/>
                <a:t>0</a:t>
              </a:r>
            </a:p>
          </p:txBody>
        </p:sp>
        <p:sp>
          <p:nvSpPr>
            <p:cNvPr id="13" name="TextBox 12">
              <a:extLst>
                <a:ext uri="{FF2B5EF4-FFF2-40B4-BE49-F238E27FC236}">
                  <a16:creationId xmlns:a16="http://schemas.microsoft.com/office/drawing/2014/main" id="{7FD68542-BB28-5946-6762-7C4484D3871E}"/>
                </a:ext>
              </a:extLst>
            </p:cNvPr>
            <p:cNvSpPr txBox="1"/>
            <p:nvPr/>
          </p:nvSpPr>
          <p:spPr>
            <a:xfrm>
              <a:off x="5526057" y="5941389"/>
              <a:ext cx="301686"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6DF4183B-2334-683F-82D4-12D377A07121}"/>
                </a:ext>
              </a:extLst>
            </p:cNvPr>
            <p:cNvSpPr txBox="1"/>
            <p:nvPr/>
          </p:nvSpPr>
          <p:spPr>
            <a:xfrm>
              <a:off x="6060026" y="5941389"/>
              <a:ext cx="301686"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E7C120CA-55FF-AB22-BBE5-BF9068E1A493}"/>
                </a:ext>
              </a:extLst>
            </p:cNvPr>
            <p:cNvSpPr txBox="1"/>
            <p:nvPr/>
          </p:nvSpPr>
          <p:spPr>
            <a:xfrm>
              <a:off x="6569800" y="5941389"/>
              <a:ext cx="301686" cy="369332"/>
            </a:xfrm>
            <a:prstGeom prst="rect">
              <a:avLst/>
            </a:prstGeom>
            <a:noFill/>
          </p:spPr>
          <p:txBody>
            <a:bodyPr wrap="none" rtlCol="0">
              <a:spAutoFit/>
            </a:bodyPr>
            <a:lstStyle/>
            <a:p>
              <a:r>
                <a:rPr lang="en-US" dirty="0"/>
                <a:t>3</a:t>
              </a:r>
            </a:p>
          </p:txBody>
        </p:sp>
        <p:sp>
          <p:nvSpPr>
            <p:cNvPr id="20" name="Rectangle 19">
              <a:extLst>
                <a:ext uri="{FF2B5EF4-FFF2-40B4-BE49-F238E27FC236}">
                  <a16:creationId xmlns:a16="http://schemas.microsoft.com/office/drawing/2014/main" id="{6FA4C3E8-9EFE-C9A8-7B7A-F47C950A259C}"/>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a:p>
              <a:pPr algn="ctr"/>
              <a:r>
                <a:rPr lang="en-US" dirty="0">
                  <a:solidFill>
                    <a:srgbClr val="FF00FF"/>
                  </a:solidFill>
                </a:rPr>
                <a:t>1</a:t>
              </a:r>
            </a:p>
          </p:txBody>
        </p:sp>
        <p:sp>
          <p:nvSpPr>
            <p:cNvPr id="21" name="Rectangle 20">
              <a:extLst>
                <a:ext uri="{FF2B5EF4-FFF2-40B4-BE49-F238E27FC236}">
                  <a16:creationId xmlns:a16="http://schemas.microsoft.com/office/drawing/2014/main" id="{0562214D-E46D-80EC-D18F-6101DF8377CD}"/>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AA48"/>
                  </a:solidFill>
                </a:rPr>
                <a:t>0</a:t>
              </a:r>
            </a:p>
            <a:p>
              <a:pPr algn="ctr"/>
              <a:r>
                <a:rPr lang="en-US" dirty="0">
                  <a:solidFill>
                    <a:schemeClr val="tx1"/>
                  </a:solidFill>
                </a:rPr>
                <a:t>0</a:t>
              </a:r>
            </a:p>
            <a:p>
              <a:pPr algn="ctr"/>
              <a:r>
                <a:rPr lang="en-US" dirty="0">
                  <a:solidFill>
                    <a:srgbClr val="0070C0"/>
                  </a:solidFill>
                </a:rPr>
                <a:t>0</a:t>
              </a:r>
            </a:p>
            <a:p>
              <a:pPr algn="ctr"/>
              <a:r>
                <a:rPr lang="en-US" dirty="0">
                  <a:solidFill>
                    <a:srgbClr val="FF00FF"/>
                  </a:solidFill>
                </a:rPr>
                <a:t>0</a:t>
              </a:r>
            </a:p>
            <a:p>
              <a:pPr algn="ctr"/>
              <a:r>
                <a:rPr lang="en-US" dirty="0">
                  <a:solidFill>
                    <a:srgbClr val="FF0000"/>
                  </a:solidFill>
                </a:rPr>
                <a:t>0</a:t>
              </a:r>
            </a:p>
          </p:txBody>
        </p:sp>
      </p:grpSp>
      <p:sp>
        <p:nvSpPr>
          <p:cNvPr id="73" name="Arrow: Right 72">
            <a:extLst>
              <a:ext uri="{FF2B5EF4-FFF2-40B4-BE49-F238E27FC236}">
                <a16:creationId xmlns:a16="http://schemas.microsoft.com/office/drawing/2014/main" id="{13A20324-3B66-FEF7-4AD8-FE7A0460A6BD}"/>
              </a:ext>
              <a:ext uri="{C183D7F6-B498-43B3-948B-1728B52AA6E4}">
                <adec:decorative xmlns:adec="http://schemas.microsoft.com/office/drawing/2017/decorative" val="1"/>
              </a:ext>
            </a:extLst>
          </p:cNvPr>
          <p:cNvSpPr/>
          <p:nvPr/>
        </p:nvSpPr>
        <p:spPr>
          <a:xfrm>
            <a:off x="7219147" y="5404803"/>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descr="finally we empty the buckets into an output array, going in order of the buckets. Our final output will be an array of six 0s, then two 1s, then three 2s, and finally two 3s.">
            <a:extLst>
              <a:ext uri="{FF2B5EF4-FFF2-40B4-BE49-F238E27FC236}">
                <a16:creationId xmlns:a16="http://schemas.microsoft.com/office/drawing/2014/main" id="{2C37DF3F-683D-C0A4-0917-907B958B84E0}"/>
              </a:ext>
            </a:extLst>
          </p:cNvPr>
          <p:cNvGrpSpPr/>
          <p:nvPr/>
        </p:nvGrpSpPr>
        <p:grpSpPr>
          <a:xfrm>
            <a:off x="7782872" y="5527885"/>
            <a:ext cx="4386191" cy="365386"/>
            <a:chOff x="1445524" y="2895600"/>
            <a:chExt cx="6403076" cy="533400"/>
          </a:xfrm>
          <a:solidFill>
            <a:schemeClr val="bg1"/>
          </a:solidFill>
        </p:grpSpPr>
        <p:sp>
          <p:nvSpPr>
            <p:cNvPr id="60" name="Rectangle 59">
              <a:extLst>
                <a:ext uri="{FF2B5EF4-FFF2-40B4-BE49-F238E27FC236}">
                  <a16:creationId xmlns:a16="http://schemas.microsoft.com/office/drawing/2014/main" id="{168E7DD3-EF08-978F-A4CC-F110D4874DFC}"/>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61" name="Rectangle 60">
              <a:extLst>
                <a:ext uri="{FF2B5EF4-FFF2-40B4-BE49-F238E27FC236}">
                  <a16:creationId xmlns:a16="http://schemas.microsoft.com/office/drawing/2014/main" id="{69B22446-6F01-32A0-2BB0-AEAB907E04D5}"/>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62" name="Rectangle 61">
              <a:extLst>
                <a:ext uri="{FF2B5EF4-FFF2-40B4-BE49-F238E27FC236}">
                  <a16:creationId xmlns:a16="http://schemas.microsoft.com/office/drawing/2014/main" id="{002ABD29-384B-723C-6187-14C726F98BDC}"/>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endParaRPr lang="en-US" dirty="0">
                <a:solidFill>
                  <a:schemeClr val="tx1"/>
                </a:solidFill>
              </a:endParaRPr>
            </a:p>
          </p:txBody>
        </p:sp>
        <p:sp>
          <p:nvSpPr>
            <p:cNvPr id="63" name="Rectangle 62">
              <a:extLst>
                <a:ext uri="{FF2B5EF4-FFF2-40B4-BE49-F238E27FC236}">
                  <a16:creationId xmlns:a16="http://schemas.microsoft.com/office/drawing/2014/main" id="{5E9E328F-376B-9281-6918-22FBE538C2AE}"/>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4" name="Rectangle 63">
              <a:extLst>
                <a:ext uri="{FF2B5EF4-FFF2-40B4-BE49-F238E27FC236}">
                  <a16:creationId xmlns:a16="http://schemas.microsoft.com/office/drawing/2014/main" id="{629300FB-CEAE-D3F3-1EEE-A6D4FA6E9460}"/>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endParaRPr lang="en-US" dirty="0">
                <a:solidFill>
                  <a:schemeClr val="tx1"/>
                </a:solidFill>
              </a:endParaRPr>
            </a:p>
          </p:txBody>
        </p:sp>
        <p:sp>
          <p:nvSpPr>
            <p:cNvPr id="65" name="Rectangle 64">
              <a:extLst>
                <a:ext uri="{FF2B5EF4-FFF2-40B4-BE49-F238E27FC236}">
                  <a16:creationId xmlns:a16="http://schemas.microsoft.com/office/drawing/2014/main" id="{984D1EB2-7C2B-B887-349D-881E6E9E1109}"/>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66" name="Rectangle 65">
              <a:extLst>
                <a:ext uri="{FF2B5EF4-FFF2-40B4-BE49-F238E27FC236}">
                  <a16:creationId xmlns:a16="http://schemas.microsoft.com/office/drawing/2014/main" id="{041EB973-F099-2F63-CFFA-6B4FE1504307}"/>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D16FC5AC-9509-45B7-F650-CED6211C8830}"/>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endParaRPr lang="en-US" dirty="0">
                <a:solidFill>
                  <a:schemeClr val="tx1"/>
                </a:solidFill>
              </a:endParaRPr>
            </a:p>
          </p:txBody>
        </p:sp>
        <p:sp>
          <p:nvSpPr>
            <p:cNvPr id="68" name="Rectangle 67">
              <a:extLst>
                <a:ext uri="{FF2B5EF4-FFF2-40B4-BE49-F238E27FC236}">
                  <a16:creationId xmlns:a16="http://schemas.microsoft.com/office/drawing/2014/main" id="{525304CE-B1AA-C3A7-6873-7110DE44C16E}"/>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D07EFFBC-9B46-C790-EF65-9D92153F102F}"/>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endParaRPr lang="en-US" dirty="0">
                <a:solidFill>
                  <a:schemeClr val="tx1"/>
                </a:solidFill>
              </a:endParaRPr>
            </a:p>
          </p:txBody>
        </p:sp>
        <p:sp>
          <p:nvSpPr>
            <p:cNvPr id="70" name="Rectangle 69">
              <a:extLst>
                <a:ext uri="{FF2B5EF4-FFF2-40B4-BE49-F238E27FC236}">
                  <a16:creationId xmlns:a16="http://schemas.microsoft.com/office/drawing/2014/main" id="{3624E2DD-4DD7-4825-D30E-BEAB32059351}"/>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71" name="Rectangle 70">
              <a:extLst>
                <a:ext uri="{FF2B5EF4-FFF2-40B4-BE49-F238E27FC236}">
                  <a16:creationId xmlns:a16="http://schemas.microsoft.com/office/drawing/2014/main" id="{DFEDECB3-6B8A-6D9C-D63C-0945F37563C3}"/>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endParaRPr lang="en-US" dirty="0">
                <a:solidFill>
                  <a:schemeClr val="tx1"/>
                </a:solidFill>
              </a:endParaRPr>
            </a:p>
          </p:txBody>
        </p:sp>
      </p:grpSp>
    </p:spTree>
    <p:extLst>
      <p:ext uri="{BB962C8B-B14F-4D97-AF65-F5344CB8AC3E}">
        <p14:creationId xmlns:p14="http://schemas.microsoft.com/office/powerpoint/2010/main" val="1731338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BucketSort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lstStyle/>
              <a:p>
                <a:r>
                  <a:rPr lang="en-US" dirty="0"/>
                  <a:t>Create array of </a:t>
                </a:r>
                <a14:m>
                  <m:oMath xmlns:m="http://schemas.openxmlformats.org/officeDocument/2006/math">
                    <m:r>
                      <a:rPr lang="en-US" b="0" i="1" smtClean="0">
                        <a:latin typeface="Cambria Math" panose="02040503050406030204" pitchFamily="18" charset="0"/>
                      </a:rPr>
                      <m:t>𝑘</m:t>
                    </m:r>
                  </m:oMath>
                </a14:m>
                <a:r>
                  <a:rPr lang="en-US" dirty="0"/>
                  <a:t> buckets</a:t>
                </a:r>
              </a:p>
              <a:p>
                <a:pPr lvl="1"/>
                <a:r>
                  <a:rPr lang="en-US" dirty="0"/>
                  <a:t>Either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or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depending on some things…</a:t>
                </a:r>
              </a:p>
              <a:p>
                <a:r>
                  <a:rPr lang="en-US" dirty="0"/>
                  <a:t>Insert all </a:t>
                </a:r>
                <a14:m>
                  <m:oMath xmlns:m="http://schemas.openxmlformats.org/officeDocument/2006/math">
                    <m:r>
                      <a:rPr lang="en-US" b="0" i="1" smtClean="0">
                        <a:latin typeface="Cambria Math" panose="02040503050406030204" pitchFamily="18" charset="0"/>
                      </a:rPr>
                      <m:t>𝑛</m:t>
                    </m:r>
                  </m:oMath>
                </a14:m>
                <a:r>
                  <a:rPr lang="en-US" dirty="0"/>
                  <a:t> things into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Empty buckets into an array</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oMath>
                </a14:m>
                <a:endParaRPr lang="en-US" dirty="0"/>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008997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a:t>
            </a:r>
            <a:r>
              <a:rPr lang="en-US" dirty="0" err="1"/>
              <a:t>BucketSort</a:t>
            </a:r>
            <a:endParaRPr lang="en-US" dirty="0"/>
          </a:p>
        </p:txBody>
      </p:sp>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normAutofit/>
          </a:bodyPr>
          <a:lstStyle/>
          <a:p>
            <a:r>
              <a:rPr lang="en-US" dirty="0"/>
              <a:t>In-Place?</a:t>
            </a:r>
          </a:p>
          <a:p>
            <a:pPr lvl="1"/>
            <a:r>
              <a:rPr lang="en-US" dirty="0"/>
              <a:t>No</a:t>
            </a:r>
          </a:p>
          <a:p>
            <a:r>
              <a:rPr lang="en-US" dirty="0"/>
              <a:t>Adaptive?</a:t>
            </a:r>
          </a:p>
          <a:p>
            <a:pPr lvl="1"/>
            <a:r>
              <a:rPr lang="en-US" dirty="0"/>
              <a:t>No</a:t>
            </a:r>
          </a:p>
          <a:p>
            <a:r>
              <a:rPr lang="en-US" dirty="0"/>
              <a:t>Stable?</a:t>
            </a:r>
          </a:p>
          <a:p>
            <a:pPr lvl="1"/>
            <a:r>
              <a:rPr lang="en-US" dirty="0"/>
              <a:t>Yes! </a:t>
            </a:r>
          </a:p>
        </p:txBody>
      </p:sp>
    </p:spTree>
    <p:extLst>
      <p:ext uri="{BB962C8B-B14F-4D97-AF65-F5344CB8AC3E}">
        <p14:creationId xmlns:p14="http://schemas.microsoft.com/office/powerpoint/2010/main" val="3028115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endParaRPr lang="en-US" dirty="0"/>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293363" y="5249289"/>
            <a:ext cx="3184788" cy="1200329"/>
          </a:xfrm>
          <a:prstGeom prst="rect">
            <a:avLst/>
          </a:prstGeom>
          <a:noFill/>
        </p:spPr>
        <p:txBody>
          <a:bodyPr wrap="square" rtlCol="0">
            <a:spAutoFit/>
          </a:bodyPr>
          <a:lstStyle/>
          <a:p>
            <a:r>
              <a:rPr lang="en-US" sz="2400" dirty="0"/>
              <a:t>Place each element into a “bucket” according to its 1’s place</a:t>
            </a:r>
          </a:p>
        </p:txBody>
      </p:sp>
      <p:grpSp>
        <p:nvGrpSpPr>
          <p:cNvPr id="98" name="Group 97" descr="An array of three digit numbers of length 16:&#10;[103, 801, 401, 323, 255, 823, 999, 101, 113, 901, 555, 512, 245, 800, 018, 121]">
            <a:extLst>
              <a:ext uri="{FF2B5EF4-FFF2-40B4-BE49-F238E27FC236}">
                <a16:creationId xmlns:a16="http://schemas.microsoft.com/office/drawing/2014/main" id="{30506CD8-5A21-1B48-F376-2B0346B1442F}"/>
              </a:ext>
            </a:extLst>
          </p:cNvPr>
          <p:cNvGrpSpPr/>
          <p:nvPr/>
        </p:nvGrpSpPr>
        <p:grpSpPr>
          <a:xfrm>
            <a:off x="503842" y="3666399"/>
            <a:ext cx="8561464" cy="849868"/>
            <a:chOff x="1752600" y="2743200"/>
            <a:chExt cx="8561464" cy="849868"/>
          </a:xfrm>
        </p:grpSpPr>
        <p:grpSp>
          <p:nvGrpSpPr>
            <p:cNvPr id="4" name="Group 3">
              <a:extLst>
                <a:ext uri="{FF2B5EF4-FFF2-40B4-BE49-F238E27FC236}">
                  <a16:creationId xmlns:a16="http://schemas.microsoft.com/office/drawing/2014/main" id="{668EBC18-C202-3D7E-B926-33134979DB44}"/>
                </a:ext>
              </a:extLst>
            </p:cNvPr>
            <p:cNvGrpSpPr/>
            <p:nvPr/>
          </p:nvGrpSpPr>
          <p:grpSpPr>
            <a:xfrm>
              <a:off x="1752600" y="2743200"/>
              <a:ext cx="4268338" cy="849868"/>
              <a:chOff x="2361062" y="2743200"/>
              <a:chExt cx="4268338" cy="849868"/>
            </a:xfrm>
          </p:grpSpPr>
          <p:grpSp>
            <p:nvGrpSpPr>
              <p:cNvPr id="5" name="Group 4">
                <a:extLst>
                  <a:ext uri="{FF2B5EF4-FFF2-40B4-BE49-F238E27FC236}">
                    <a16:creationId xmlns:a16="http://schemas.microsoft.com/office/drawing/2014/main" id="{B07EEFA4-C5F7-5449-AE1D-C9DCD31AEE37}"/>
                  </a:ext>
                </a:extLst>
              </p:cNvPr>
              <p:cNvGrpSpPr/>
              <p:nvPr/>
            </p:nvGrpSpPr>
            <p:grpSpPr>
              <a:xfrm>
                <a:off x="2361062" y="2743200"/>
                <a:ext cx="4268338" cy="533400"/>
                <a:chOff x="1445524" y="2971800"/>
                <a:chExt cx="4268338" cy="533400"/>
              </a:xfrm>
            </p:grpSpPr>
            <p:sp>
              <p:nvSpPr>
                <p:cNvPr id="22" name="Rectangle 21">
                  <a:extLst>
                    <a:ext uri="{FF2B5EF4-FFF2-40B4-BE49-F238E27FC236}">
                      <a16:creationId xmlns:a16="http://schemas.microsoft.com/office/drawing/2014/main" id="{B772C34B-AE61-051B-E7C0-BD7A0E92C08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23" name="Rectangle 22">
                  <a:extLst>
                    <a:ext uri="{FF2B5EF4-FFF2-40B4-BE49-F238E27FC236}">
                      <a16:creationId xmlns:a16="http://schemas.microsoft.com/office/drawing/2014/main" id="{FA76D77E-9B08-5B17-CAB0-434AA7692468}"/>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25" name="Rectangle 24">
                  <a:extLst>
                    <a:ext uri="{FF2B5EF4-FFF2-40B4-BE49-F238E27FC236}">
                      <a16:creationId xmlns:a16="http://schemas.microsoft.com/office/drawing/2014/main" id="{14E195B0-311A-9164-AE6C-6CC2E9E46C9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26" name="Rectangle 25">
                  <a:extLst>
                    <a:ext uri="{FF2B5EF4-FFF2-40B4-BE49-F238E27FC236}">
                      <a16:creationId xmlns:a16="http://schemas.microsoft.com/office/drawing/2014/main" id="{5E96D355-24F5-F191-E3B1-402061B50FD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27" name="Rectangle 26">
                  <a:extLst>
                    <a:ext uri="{FF2B5EF4-FFF2-40B4-BE49-F238E27FC236}">
                      <a16:creationId xmlns:a16="http://schemas.microsoft.com/office/drawing/2014/main" id="{1B07A61B-7381-B0A9-3D0B-7C9945E1349D}"/>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28" name="Rectangle 27">
                  <a:extLst>
                    <a:ext uri="{FF2B5EF4-FFF2-40B4-BE49-F238E27FC236}">
                      <a16:creationId xmlns:a16="http://schemas.microsoft.com/office/drawing/2014/main" id="{FDB9E96C-7F87-6C59-7CAB-3D0C04C4A4B9}"/>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29" name="Rectangle 28">
                  <a:extLst>
                    <a:ext uri="{FF2B5EF4-FFF2-40B4-BE49-F238E27FC236}">
                      <a16:creationId xmlns:a16="http://schemas.microsoft.com/office/drawing/2014/main" id="{639CFBAD-84A8-D35F-518F-ACA2E84658C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30" name="Rectangle 29">
                  <a:extLst>
                    <a:ext uri="{FF2B5EF4-FFF2-40B4-BE49-F238E27FC236}">
                      <a16:creationId xmlns:a16="http://schemas.microsoft.com/office/drawing/2014/main" id="{8D65DD80-C4D2-3900-188B-E4A300D3349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grpSp>
          <p:sp>
            <p:nvSpPr>
              <p:cNvPr id="6" name="TextBox 5">
                <a:extLst>
                  <a:ext uri="{FF2B5EF4-FFF2-40B4-BE49-F238E27FC236}">
                    <a16:creationId xmlns:a16="http://schemas.microsoft.com/office/drawing/2014/main" id="{3335E1F1-0254-0DDD-5734-F8739BDEB8E2}"/>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7" name="TextBox 6">
                <a:extLst>
                  <a:ext uri="{FF2B5EF4-FFF2-40B4-BE49-F238E27FC236}">
                    <a16:creationId xmlns:a16="http://schemas.microsoft.com/office/drawing/2014/main" id="{8738B4C1-48B3-8D43-57B3-DF798D570F2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8" name="TextBox 7">
                <a:extLst>
                  <a:ext uri="{FF2B5EF4-FFF2-40B4-BE49-F238E27FC236}">
                    <a16:creationId xmlns:a16="http://schemas.microsoft.com/office/drawing/2014/main" id="{5BCE153C-97D2-2FDC-4F4B-FEDFBB49AE98}"/>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9" name="TextBox 8">
                <a:extLst>
                  <a:ext uri="{FF2B5EF4-FFF2-40B4-BE49-F238E27FC236}">
                    <a16:creationId xmlns:a16="http://schemas.microsoft.com/office/drawing/2014/main" id="{9C2625EF-4B40-86AC-DBF7-AEC4DBAC7920}"/>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16" name="TextBox 15">
                <a:extLst>
                  <a:ext uri="{FF2B5EF4-FFF2-40B4-BE49-F238E27FC236}">
                    <a16:creationId xmlns:a16="http://schemas.microsoft.com/office/drawing/2014/main" id="{EEC37B8A-61E0-DCA9-F6F9-F99C03E50FC5}"/>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17" name="TextBox 16">
                <a:extLst>
                  <a:ext uri="{FF2B5EF4-FFF2-40B4-BE49-F238E27FC236}">
                    <a16:creationId xmlns:a16="http://schemas.microsoft.com/office/drawing/2014/main" id="{751485CC-79A7-5233-BFC5-0C022EE87F6C}"/>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18" name="TextBox 17">
                <a:extLst>
                  <a:ext uri="{FF2B5EF4-FFF2-40B4-BE49-F238E27FC236}">
                    <a16:creationId xmlns:a16="http://schemas.microsoft.com/office/drawing/2014/main" id="{3B272925-512C-C00B-7B35-8DB56343F758}"/>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19" name="TextBox 18">
                <a:extLst>
                  <a:ext uri="{FF2B5EF4-FFF2-40B4-BE49-F238E27FC236}">
                    <a16:creationId xmlns:a16="http://schemas.microsoft.com/office/drawing/2014/main" id="{BC30E54D-BCBB-11D5-CD6E-F0AA8FE92BDD}"/>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0" name="Group 39">
              <a:extLst>
                <a:ext uri="{FF2B5EF4-FFF2-40B4-BE49-F238E27FC236}">
                  <a16:creationId xmlns:a16="http://schemas.microsoft.com/office/drawing/2014/main" id="{6CAA4EA5-FE3D-8D40-0A90-42A1D5AC8ECF}"/>
                </a:ext>
              </a:extLst>
            </p:cNvPr>
            <p:cNvGrpSpPr/>
            <p:nvPr/>
          </p:nvGrpSpPr>
          <p:grpSpPr>
            <a:xfrm>
              <a:off x="6020939" y="2743200"/>
              <a:ext cx="4293125" cy="849868"/>
              <a:chOff x="2361062" y="2743200"/>
              <a:chExt cx="4293125" cy="849868"/>
            </a:xfrm>
          </p:grpSpPr>
          <p:grpSp>
            <p:nvGrpSpPr>
              <p:cNvPr id="41" name="Group 40">
                <a:extLst>
                  <a:ext uri="{FF2B5EF4-FFF2-40B4-BE49-F238E27FC236}">
                    <a16:creationId xmlns:a16="http://schemas.microsoft.com/office/drawing/2014/main" id="{F028159C-F314-68E3-297B-5DE73893EACE}"/>
                  </a:ext>
                </a:extLst>
              </p:cNvPr>
              <p:cNvGrpSpPr/>
              <p:nvPr/>
            </p:nvGrpSpPr>
            <p:grpSpPr>
              <a:xfrm>
                <a:off x="2361062" y="2743200"/>
                <a:ext cx="4268338" cy="533400"/>
                <a:chOff x="1445524" y="2971800"/>
                <a:chExt cx="4268338" cy="533400"/>
              </a:xfrm>
            </p:grpSpPr>
            <p:sp>
              <p:nvSpPr>
                <p:cNvPr id="78" name="Rectangle 77">
                  <a:extLst>
                    <a:ext uri="{FF2B5EF4-FFF2-40B4-BE49-F238E27FC236}">
                      <a16:creationId xmlns:a16="http://schemas.microsoft.com/office/drawing/2014/main" id="{A954409E-4BAF-A95F-544D-B8DF8CE93CEE}"/>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79" name="Rectangle 78">
                  <a:extLst>
                    <a:ext uri="{FF2B5EF4-FFF2-40B4-BE49-F238E27FC236}">
                      <a16:creationId xmlns:a16="http://schemas.microsoft.com/office/drawing/2014/main" id="{245B0D8C-0166-3B37-5CF9-01E6616C1DC7}"/>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80" name="Rectangle 79">
                  <a:extLst>
                    <a:ext uri="{FF2B5EF4-FFF2-40B4-BE49-F238E27FC236}">
                      <a16:creationId xmlns:a16="http://schemas.microsoft.com/office/drawing/2014/main" id="{D8757A04-74EC-52A0-17F3-20B1DEECB0C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81" name="Rectangle 80">
                  <a:extLst>
                    <a:ext uri="{FF2B5EF4-FFF2-40B4-BE49-F238E27FC236}">
                      <a16:creationId xmlns:a16="http://schemas.microsoft.com/office/drawing/2014/main" id="{9D5D8644-3F22-4B90-4575-591E69E6DD1D}"/>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82" name="Rectangle 81">
                  <a:extLst>
                    <a:ext uri="{FF2B5EF4-FFF2-40B4-BE49-F238E27FC236}">
                      <a16:creationId xmlns:a16="http://schemas.microsoft.com/office/drawing/2014/main" id="{D0FB66AC-257C-A3A7-72A2-9BAA64032154}"/>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3" name="Rectangle 82">
                  <a:extLst>
                    <a:ext uri="{FF2B5EF4-FFF2-40B4-BE49-F238E27FC236}">
                      <a16:creationId xmlns:a16="http://schemas.microsoft.com/office/drawing/2014/main" id="{B64146E2-4504-A8F1-99F9-D44753821034}"/>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84" name="Rectangle 83">
                  <a:extLst>
                    <a:ext uri="{FF2B5EF4-FFF2-40B4-BE49-F238E27FC236}">
                      <a16:creationId xmlns:a16="http://schemas.microsoft.com/office/drawing/2014/main" id="{24994ADB-06A8-D4BC-7DB5-3CC06E91FA0C}"/>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85" name="Rectangle 84">
                  <a:extLst>
                    <a:ext uri="{FF2B5EF4-FFF2-40B4-BE49-F238E27FC236}">
                      <a16:creationId xmlns:a16="http://schemas.microsoft.com/office/drawing/2014/main" id="{A8740905-608B-1F49-6E88-49046DEDE13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grpSp>
          <p:sp>
            <p:nvSpPr>
              <p:cNvPr id="42" name="TextBox 41">
                <a:extLst>
                  <a:ext uri="{FF2B5EF4-FFF2-40B4-BE49-F238E27FC236}">
                    <a16:creationId xmlns:a16="http://schemas.microsoft.com/office/drawing/2014/main" id="{FA4ED3AF-CE5A-B2A9-1793-8C8C2A1B881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43" name="TextBox 42">
                <a:extLst>
                  <a:ext uri="{FF2B5EF4-FFF2-40B4-BE49-F238E27FC236}">
                    <a16:creationId xmlns:a16="http://schemas.microsoft.com/office/drawing/2014/main" id="{000116F0-E2BC-4A94-3A2F-68B14E3D9D6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44" name="TextBox 43">
                <a:extLst>
                  <a:ext uri="{FF2B5EF4-FFF2-40B4-BE49-F238E27FC236}">
                    <a16:creationId xmlns:a16="http://schemas.microsoft.com/office/drawing/2014/main" id="{58EB4907-B83A-178C-0854-3A1D1D6D8064}"/>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45" name="TextBox 44">
                <a:extLst>
                  <a:ext uri="{FF2B5EF4-FFF2-40B4-BE49-F238E27FC236}">
                    <a16:creationId xmlns:a16="http://schemas.microsoft.com/office/drawing/2014/main" id="{1F29C78F-1BB3-E0F4-23B0-F89C42A85941}"/>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74" name="TextBox 73">
                <a:extLst>
                  <a:ext uri="{FF2B5EF4-FFF2-40B4-BE49-F238E27FC236}">
                    <a16:creationId xmlns:a16="http://schemas.microsoft.com/office/drawing/2014/main" id="{91155CF0-8F3F-B2B6-B4CE-818EC30457F9}"/>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75" name="TextBox 74">
                <a:extLst>
                  <a:ext uri="{FF2B5EF4-FFF2-40B4-BE49-F238E27FC236}">
                    <a16:creationId xmlns:a16="http://schemas.microsoft.com/office/drawing/2014/main" id="{5ABAEC95-3AA8-1977-949A-53F10027BACC}"/>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76" name="TextBox 75">
                <a:extLst>
                  <a:ext uri="{FF2B5EF4-FFF2-40B4-BE49-F238E27FC236}">
                    <a16:creationId xmlns:a16="http://schemas.microsoft.com/office/drawing/2014/main" id="{9F7C5BDB-74C7-EEA9-FD7A-108150ED3D0B}"/>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77" name="TextBox 76">
                <a:extLst>
                  <a:ext uri="{FF2B5EF4-FFF2-40B4-BE49-F238E27FC236}">
                    <a16:creationId xmlns:a16="http://schemas.microsoft.com/office/drawing/2014/main" id="{9C38C609-4A48-7161-25E6-18F44C5174A4}"/>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grpSp>
        <p:nvGrpSpPr>
          <p:cNvPr id="99" name="Group 98" descr="We proceed by doing a bucket sort using the least significant digit of the numbers. Because our numbers are represented in base 10, we have buckets 0 through 9, filled in as follows:&#10;bucket 0: 800&#10;bucket 1: 801, 401, 901, 121&#10;bucket 2: 512&#10;bucket 3: 103, 323, 823, 113&#10;bucket 4: empty&#10;bucket 5: 255, 555, 245&#10;bucket 6: empty&#10;bucket 7: empty&#10;bucket 8: 018&#10;bucket 9: 999">
            <a:extLst>
              <a:ext uri="{FF2B5EF4-FFF2-40B4-BE49-F238E27FC236}">
                <a16:creationId xmlns:a16="http://schemas.microsoft.com/office/drawing/2014/main" id="{C4BEB531-3711-E388-CD9E-744269DCB5F9}"/>
              </a:ext>
            </a:extLst>
          </p:cNvPr>
          <p:cNvGrpSpPr/>
          <p:nvPr/>
        </p:nvGrpSpPr>
        <p:grpSpPr>
          <a:xfrm>
            <a:off x="6639080" y="4886764"/>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443829" y="4592010"/>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22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10’s place</a:t>
            </a:r>
          </a:p>
        </p:txBody>
      </p:sp>
      <p:grpSp>
        <p:nvGrpSpPr>
          <p:cNvPr id="99" name="Group 98" descr="All the values bucketed by the 1s place">
            <a:extLst>
              <a:ext uri="{FF2B5EF4-FFF2-40B4-BE49-F238E27FC236}">
                <a16:creationId xmlns:a16="http://schemas.microsoft.com/office/drawing/2014/main" id="{C4BEB531-3711-E388-CD9E-744269DCB5F9}"/>
              </a:ext>
            </a:extLst>
          </p:cNvPr>
          <p:cNvGrpSpPr/>
          <p:nvPr/>
        </p:nvGrpSpPr>
        <p:grpSpPr>
          <a:xfrm>
            <a:off x="452562" y="3381872"/>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Next we do a bucket sort using the next least significant digit of the numbers. Because our numbers are represented in base 10, we have buckets 0 through 9, filled in as follows:&#10;bucket 0: 800, 801, 401, 101, 901, 103&#10;bucket 1: 512, 113, 018&#10;bucket 2: 121, 323, 823&#10;bucket 3: empty&#10;bucket 4: 245&#10;bucket 5: 255, 555&#10;bucket 6: empty&#10;bucket 7: empty&#10;bucket 8: empty&#10;bucket 9: 999">
            <a:extLst>
              <a:ext uri="{FF2B5EF4-FFF2-40B4-BE49-F238E27FC236}">
                <a16:creationId xmlns:a16="http://schemas.microsoft.com/office/drawing/2014/main" id="{D03E7495-E90F-2D2E-2DC8-D7DB5BFCCBEB}"/>
              </a:ext>
            </a:extLst>
          </p:cNvPr>
          <p:cNvGrpSpPr/>
          <p:nvPr/>
        </p:nvGrpSpPr>
        <p:grpSpPr>
          <a:xfrm>
            <a:off x="6401447" y="468376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6436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100’s place</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All the values bucketed by the 10s place">
            <a:extLst>
              <a:ext uri="{FF2B5EF4-FFF2-40B4-BE49-F238E27FC236}">
                <a16:creationId xmlns:a16="http://schemas.microsoft.com/office/drawing/2014/main" id="{D03E7495-E90F-2D2E-2DC8-D7DB5BFCCBEB}"/>
              </a:ext>
            </a:extLst>
          </p:cNvPr>
          <p:cNvGrpSpPr/>
          <p:nvPr/>
        </p:nvGrpSpPr>
        <p:grpSpPr>
          <a:xfrm>
            <a:off x="184190" y="341844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grpSp>
        <p:nvGrpSpPr>
          <p:cNvPr id="42" name="Group 41" descr="Next we do a bucket sort using the next least significant digit of the numbers. Because our numbers are represented in base 10, we have buckets 0 through 9, filled in as follows:&#10;bucket 0: 018&#10;bucket 1: 101, 103, 113, 121&#10;bucket 2: 245, 255&#10;bucket 3: 323&#10;bucket 4: 401&#10;bucket 5: 512, 555&#10;bucket 6: empty&#10;bucket 7: empty&#10;bucket 8: 800, 801, 823&#10;bucket 9: 901, 999">
            <a:extLst>
              <a:ext uri="{FF2B5EF4-FFF2-40B4-BE49-F238E27FC236}">
                <a16:creationId xmlns:a16="http://schemas.microsoft.com/office/drawing/2014/main" id="{265A8A20-D2B5-DB28-F722-367EBB815E4D}"/>
              </a:ext>
            </a:extLst>
          </p:cNvPr>
          <p:cNvGrpSpPr/>
          <p:nvPr/>
        </p:nvGrpSpPr>
        <p:grpSpPr>
          <a:xfrm>
            <a:off x="6390963" y="4659805"/>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68232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Empty Buckets into Output Array</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7438723" y="4078344"/>
            <a:ext cx="3507868" cy="461665"/>
          </a:xfrm>
          <a:prstGeom prst="rect">
            <a:avLst/>
          </a:prstGeom>
          <a:noFill/>
        </p:spPr>
        <p:txBody>
          <a:bodyPr wrap="square" rtlCol="0">
            <a:spAutoFit/>
          </a:bodyPr>
          <a:lstStyle/>
          <a:p>
            <a:r>
              <a:rPr lang="en-US" sz="2400" dirty="0"/>
              <a:t>Convert back into an array</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flipV="1">
            <a:off x="6027125" y="3877228"/>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descr="All the values bucketed by the 10s place">
            <a:extLst>
              <a:ext uri="{FF2B5EF4-FFF2-40B4-BE49-F238E27FC236}">
                <a16:creationId xmlns:a16="http://schemas.microsoft.com/office/drawing/2014/main" id="{265A8A20-D2B5-DB28-F722-367EBB815E4D}"/>
              </a:ext>
            </a:extLst>
          </p:cNvPr>
          <p:cNvGrpSpPr/>
          <p:nvPr/>
        </p:nvGrpSpPr>
        <p:grpSpPr>
          <a:xfrm>
            <a:off x="34961" y="3418440"/>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grpSp>
        <p:nvGrpSpPr>
          <p:cNvPr id="43" name="Group 42" descr="Finally we &quot;unbucket&quot; into an array like we did with bucket sort, giving the final sorted array:&#10;[018. 101. 103, 113, 121, 245, 255, 323, 401, 512, 555, 800, 801, 823, 901, 999]">
            <a:extLst>
              <a:ext uri="{FF2B5EF4-FFF2-40B4-BE49-F238E27FC236}">
                <a16:creationId xmlns:a16="http://schemas.microsoft.com/office/drawing/2014/main" id="{068934FF-C8AB-D781-D815-713828A58097}"/>
              </a:ext>
            </a:extLst>
          </p:cNvPr>
          <p:cNvGrpSpPr/>
          <p:nvPr/>
        </p:nvGrpSpPr>
        <p:grpSpPr>
          <a:xfrm>
            <a:off x="503842" y="5962559"/>
            <a:ext cx="8561464" cy="849868"/>
            <a:chOff x="1752600" y="2743200"/>
            <a:chExt cx="8561464" cy="849868"/>
          </a:xfrm>
        </p:grpSpPr>
        <p:grpSp>
          <p:nvGrpSpPr>
            <p:cNvPr id="44" name="Group 43">
              <a:extLst>
                <a:ext uri="{FF2B5EF4-FFF2-40B4-BE49-F238E27FC236}">
                  <a16:creationId xmlns:a16="http://schemas.microsoft.com/office/drawing/2014/main" id="{B6C8016D-7B0B-A436-E8B1-2B87C5834C4D}"/>
                </a:ext>
              </a:extLst>
            </p:cNvPr>
            <p:cNvGrpSpPr/>
            <p:nvPr/>
          </p:nvGrpSpPr>
          <p:grpSpPr>
            <a:xfrm>
              <a:off x="1752600" y="2743200"/>
              <a:ext cx="4268338" cy="849868"/>
              <a:chOff x="2361062" y="2743200"/>
              <a:chExt cx="4268338" cy="849868"/>
            </a:xfrm>
          </p:grpSpPr>
          <p:grpSp>
            <p:nvGrpSpPr>
              <p:cNvPr id="67" name="Group 66">
                <a:extLst>
                  <a:ext uri="{FF2B5EF4-FFF2-40B4-BE49-F238E27FC236}">
                    <a16:creationId xmlns:a16="http://schemas.microsoft.com/office/drawing/2014/main" id="{5755D94F-2867-A4B9-F6AC-E9F1886F3771}"/>
                  </a:ext>
                </a:extLst>
              </p:cNvPr>
              <p:cNvGrpSpPr/>
              <p:nvPr/>
            </p:nvGrpSpPr>
            <p:grpSpPr>
              <a:xfrm>
                <a:off x="2361062" y="2743200"/>
                <a:ext cx="4268338" cy="533400"/>
                <a:chOff x="1445524" y="2971800"/>
                <a:chExt cx="4268338" cy="533400"/>
              </a:xfrm>
            </p:grpSpPr>
            <p:sp>
              <p:nvSpPr>
                <p:cNvPr id="76" name="Rectangle 75">
                  <a:extLst>
                    <a:ext uri="{FF2B5EF4-FFF2-40B4-BE49-F238E27FC236}">
                      <a16:creationId xmlns:a16="http://schemas.microsoft.com/office/drawing/2014/main" id="{A514DDEF-0799-B04F-5B56-64D468AAAEE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77" name="Rectangle 76">
                  <a:extLst>
                    <a:ext uri="{FF2B5EF4-FFF2-40B4-BE49-F238E27FC236}">
                      <a16:creationId xmlns:a16="http://schemas.microsoft.com/office/drawing/2014/main" id="{AAB3906E-2D52-9AD8-0556-772ABCB5C5D9}"/>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sp>
              <p:nvSpPr>
                <p:cNvPr id="78" name="Rectangle 77">
                  <a:extLst>
                    <a:ext uri="{FF2B5EF4-FFF2-40B4-BE49-F238E27FC236}">
                      <a16:creationId xmlns:a16="http://schemas.microsoft.com/office/drawing/2014/main" id="{DF0407A3-97AC-D294-9073-A3C5C3C52C0D}"/>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79" name="Rectangle 78">
                  <a:extLst>
                    <a:ext uri="{FF2B5EF4-FFF2-40B4-BE49-F238E27FC236}">
                      <a16:creationId xmlns:a16="http://schemas.microsoft.com/office/drawing/2014/main" id="{5B1E89E9-CD9C-EDED-9F75-F613D3AB91A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80" name="Rectangle 79">
                  <a:extLst>
                    <a:ext uri="{FF2B5EF4-FFF2-40B4-BE49-F238E27FC236}">
                      <a16:creationId xmlns:a16="http://schemas.microsoft.com/office/drawing/2014/main" id="{4CEFA199-8AEF-A65C-B1DF-DB1BD53B7D4B}"/>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sp>
              <p:nvSpPr>
                <p:cNvPr id="81" name="Rectangle 80">
                  <a:extLst>
                    <a:ext uri="{FF2B5EF4-FFF2-40B4-BE49-F238E27FC236}">
                      <a16:creationId xmlns:a16="http://schemas.microsoft.com/office/drawing/2014/main" id="{72314B16-133A-0F38-E912-090D0B52981D}"/>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2" name="Rectangle 81">
                  <a:extLst>
                    <a:ext uri="{FF2B5EF4-FFF2-40B4-BE49-F238E27FC236}">
                      <a16:creationId xmlns:a16="http://schemas.microsoft.com/office/drawing/2014/main" id="{1F53B560-510C-CE26-6FD0-9126FC5E6EE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83" name="Rectangle 82">
                  <a:extLst>
                    <a:ext uri="{FF2B5EF4-FFF2-40B4-BE49-F238E27FC236}">
                      <a16:creationId xmlns:a16="http://schemas.microsoft.com/office/drawing/2014/main" id="{96B9D8C3-45D5-97A3-0477-A8C14C88AA95}"/>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grpSp>
          <p:sp>
            <p:nvSpPr>
              <p:cNvPr id="68" name="TextBox 67">
                <a:extLst>
                  <a:ext uri="{FF2B5EF4-FFF2-40B4-BE49-F238E27FC236}">
                    <a16:creationId xmlns:a16="http://schemas.microsoft.com/office/drawing/2014/main" id="{8D59D340-F86D-62B2-AE74-933A408B6C2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69" name="TextBox 68">
                <a:extLst>
                  <a:ext uri="{FF2B5EF4-FFF2-40B4-BE49-F238E27FC236}">
                    <a16:creationId xmlns:a16="http://schemas.microsoft.com/office/drawing/2014/main" id="{14369803-FF3D-71C4-321A-534AEA695271}"/>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70" name="TextBox 69">
                <a:extLst>
                  <a:ext uri="{FF2B5EF4-FFF2-40B4-BE49-F238E27FC236}">
                    <a16:creationId xmlns:a16="http://schemas.microsoft.com/office/drawing/2014/main" id="{E8CF6890-2735-7463-9DA0-D55F9D0A85CA}"/>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71" name="TextBox 70">
                <a:extLst>
                  <a:ext uri="{FF2B5EF4-FFF2-40B4-BE49-F238E27FC236}">
                    <a16:creationId xmlns:a16="http://schemas.microsoft.com/office/drawing/2014/main" id="{3DE0E5BC-B5BB-CFC8-BC80-B3CEBD2B4439}"/>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72" name="TextBox 71">
                <a:extLst>
                  <a:ext uri="{FF2B5EF4-FFF2-40B4-BE49-F238E27FC236}">
                    <a16:creationId xmlns:a16="http://schemas.microsoft.com/office/drawing/2014/main" id="{CA6340E6-115E-DFF8-F7E4-8EBA440A3683}"/>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73" name="TextBox 72">
                <a:extLst>
                  <a:ext uri="{FF2B5EF4-FFF2-40B4-BE49-F238E27FC236}">
                    <a16:creationId xmlns:a16="http://schemas.microsoft.com/office/drawing/2014/main" id="{B8B0F7F2-8B83-8BD0-81C0-AA08A21A6314}"/>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74" name="TextBox 73">
                <a:extLst>
                  <a:ext uri="{FF2B5EF4-FFF2-40B4-BE49-F238E27FC236}">
                    <a16:creationId xmlns:a16="http://schemas.microsoft.com/office/drawing/2014/main" id="{E4B3C70A-1F9D-1759-D960-6B5816CDF9D2}"/>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75" name="TextBox 74">
                <a:extLst>
                  <a:ext uri="{FF2B5EF4-FFF2-40B4-BE49-F238E27FC236}">
                    <a16:creationId xmlns:a16="http://schemas.microsoft.com/office/drawing/2014/main" id="{0DA49A2D-6D5E-1096-7255-84F4793E32CE}"/>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5" name="Group 44">
              <a:extLst>
                <a:ext uri="{FF2B5EF4-FFF2-40B4-BE49-F238E27FC236}">
                  <a16:creationId xmlns:a16="http://schemas.microsoft.com/office/drawing/2014/main" id="{0D413D70-40DF-D119-7511-B9F9F3C5A188}"/>
                </a:ext>
              </a:extLst>
            </p:cNvPr>
            <p:cNvGrpSpPr/>
            <p:nvPr/>
          </p:nvGrpSpPr>
          <p:grpSpPr>
            <a:xfrm>
              <a:off x="6020939" y="2743200"/>
              <a:ext cx="4293125" cy="849868"/>
              <a:chOff x="2361062" y="2743200"/>
              <a:chExt cx="4293125" cy="849868"/>
            </a:xfrm>
          </p:grpSpPr>
          <p:grpSp>
            <p:nvGrpSpPr>
              <p:cNvPr id="50" name="Group 49">
                <a:extLst>
                  <a:ext uri="{FF2B5EF4-FFF2-40B4-BE49-F238E27FC236}">
                    <a16:creationId xmlns:a16="http://schemas.microsoft.com/office/drawing/2014/main" id="{004D5F06-57C0-9561-8DFB-97B713327871}"/>
                  </a:ext>
                </a:extLst>
              </p:cNvPr>
              <p:cNvGrpSpPr/>
              <p:nvPr/>
            </p:nvGrpSpPr>
            <p:grpSpPr>
              <a:xfrm>
                <a:off x="2361062" y="2743200"/>
                <a:ext cx="4268338" cy="533400"/>
                <a:chOff x="1445524" y="2971800"/>
                <a:chExt cx="4268338" cy="533400"/>
              </a:xfrm>
            </p:grpSpPr>
            <p:sp>
              <p:nvSpPr>
                <p:cNvPr id="59" name="Rectangle 58">
                  <a:extLst>
                    <a:ext uri="{FF2B5EF4-FFF2-40B4-BE49-F238E27FC236}">
                      <a16:creationId xmlns:a16="http://schemas.microsoft.com/office/drawing/2014/main" id="{550AB95D-A4E6-71A1-23FE-1422E35E9DB0}"/>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60" name="Rectangle 59">
                  <a:extLst>
                    <a:ext uri="{FF2B5EF4-FFF2-40B4-BE49-F238E27FC236}">
                      <a16:creationId xmlns:a16="http://schemas.microsoft.com/office/drawing/2014/main" id="{6244BB98-1673-3E2D-1F18-41CA51F31C20}"/>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61" name="Rectangle 60">
                  <a:extLst>
                    <a:ext uri="{FF2B5EF4-FFF2-40B4-BE49-F238E27FC236}">
                      <a16:creationId xmlns:a16="http://schemas.microsoft.com/office/drawing/2014/main" id="{EF048AD2-88EF-B37F-B639-FCDFE3693E59}"/>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62" name="Rectangle 61">
                  <a:extLst>
                    <a:ext uri="{FF2B5EF4-FFF2-40B4-BE49-F238E27FC236}">
                      <a16:creationId xmlns:a16="http://schemas.microsoft.com/office/drawing/2014/main" id="{999EC23D-1356-7C68-7368-D59878A983F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63" name="Rectangle 62">
                  <a:extLst>
                    <a:ext uri="{FF2B5EF4-FFF2-40B4-BE49-F238E27FC236}">
                      <a16:creationId xmlns:a16="http://schemas.microsoft.com/office/drawing/2014/main" id="{1497E028-C52E-675E-3CD6-CCD3F28302F7}"/>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64" name="Rectangle 63">
                  <a:extLst>
                    <a:ext uri="{FF2B5EF4-FFF2-40B4-BE49-F238E27FC236}">
                      <a16:creationId xmlns:a16="http://schemas.microsoft.com/office/drawing/2014/main" id="{13F32CD9-19E1-834C-26B7-A8F3D2CEE006}"/>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65" name="Rectangle 64">
                  <a:extLst>
                    <a:ext uri="{FF2B5EF4-FFF2-40B4-BE49-F238E27FC236}">
                      <a16:creationId xmlns:a16="http://schemas.microsoft.com/office/drawing/2014/main" id="{F675C80F-5B7A-BBA8-130A-B3CF5AD7FC8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66" name="Rectangle 65">
                  <a:extLst>
                    <a:ext uri="{FF2B5EF4-FFF2-40B4-BE49-F238E27FC236}">
                      <a16:creationId xmlns:a16="http://schemas.microsoft.com/office/drawing/2014/main" id="{D19F6413-A167-1DFB-2A37-A3D51542BA28}"/>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grpSp>
          <p:sp>
            <p:nvSpPr>
              <p:cNvPr id="51" name="TextBox 50">
                <a:extLst>
                  <a:ext uri="{FF2B5EF4-FFF2-40B4-BE49-F238E27FC236}">
                    <a16:creationId xmlns:a16="http://schemas.microsoft.com/office/drawing/2014/main" id="{513F22D5-36EF-BD52-DD4A-012D7F9C3B19}"/>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52" name="TextBox 51">
                <a:extLst>
                  <a:ext uri="{FF2B5EF4-FFF2-40B4-BE49-F238E27FC236}">
                    <a16:creationId xmlns:a16="http://schemas.microsoft.com/office/drawing/2014/main" id="{D08AE7A7-92D6-4BF5-76F1-0BA807B9981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53" name="TextBox 52">
                <a:extLst>
                  <a:ext uri="{FF2B5EF4-FFF2-40B4-BE49-F238E27FC236}">
                    <a16:creationId xmlns:a16="http://schemas.microsoft.com/office/drawing/2014/main" id="{CB441F66-DC45-EE7B-7A4B-9574148133B9}"/>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54" name="TextBox 53">
                <a:extLst>
                  <a:ext uri="{FF2B5EF4-FFF2-40B4-BE49-F238E27FC236}">
                    <a16:creationId xmlns:a16="http://schemas.microsoft.com/office/drawing/2014/main" id="{E19A5E20-A9BA-2C6A-A149-F0F458A67F9C}"/>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55" name="TextBox 54">
                <a:extLst>
                  <a:ext uri="{FF2B5EF4-FFF2-40B4-BE49-F238E27FC236}">
                    <a16:creationId xmlns:a16="http://schemas.microsoft.com/office/drawing/2014/main" id="{B419C7F8-2A62-E3D0-DAE0-473ABBD1B157}"/>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56" name="TextBox 55">
                <a:extLst>
                  <a:ext uri="{FF2B5EF4-FFF2-40B4-BE49-F238E27FC236}">
                    <a16:creationId xmlns:a16="http://schemas.microsoft.com/office/drawing/2014/main" id="{B3815E93-ACC1-5FFF-BD91-42D18964DD18}"/>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57" name="TextBox 56">
                <a:extLst>
                  <a:ext uri="{FF2B5EF4-FFF2-40B4-BE49-F238E27FC236}">
                    <a16:creationId xmlns:a16="http://schemas.microsoft.com/office/drawing/2014/main" id="{4B69515A-5AB2-AE1D-CB3B-DA3BB84E0EBD}"/>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58" name="TextBox 57">
                <a:extLst>
                  <a:ext uri="{FF2B5EF4-FFF2-40B4-BE49-F238E27FC236}">
                    <a16:creationId xmlns:a16="http://schemas.microsoft.com/office/drawing/2014/main" id="{A1D7BE6C-86B0-F51C-9E53-5ED83D0CFDAD}"/>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spTree>
    <p:extLst>
      <p:ext uri="{BB962C8B-B14F-4D97-AF65-F5344CB8AC3E}">
        <p14:creationId xmlns:p14="http://schemas.microsoft.com/office/powerpoint/2010/main" val="164051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RadixSort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normAutofit fontScale="92500" lnSpcReduction="10000"/>
              </a:bodyPr>
              <a:lstStyle/>
              <a:p>
                <a:r>
                  <a:rPr lang="en-US" dirty="0"/>
                  <a:t>Suppose largest value is </a:t>
                </a:r>
                <a14:m>
                  <m:oMath xmlns:m="http://schemas.openxmlformats.org/officeDocument/2006/math">
                    <m:r>
                      <a:rPr lang="en-US" b="0" i="1" smtClean="0">
                        <a:latin typeface="Cambria Math" panose="02040503050406030204" pitchFamily="18" charset="0"/>
                      </a:rPr>
                      <m:t>𝑚</m:t>
                    </m:r>
                  </m:oMath>
                </a14:m>
                <a:endParaRPr lang="en-US" dirty="0"/>
              </a:p>
              <a:p>
                <a:r>
                  <a:rPr lang="en-US" dirty="0"/>
                  <a:t>Choose a radix (base of representation) </a:t>
                </a:r>
                <a14:m>
                  <m:oMath xmlns:m="http://schemas.openxmlformats.org/officeDocument/2006/math">
                    <m:r>
                      <a:rPr lang="en-US" b="0" i="1" smtClean="0">
                        <a:latin typeface="Cambria Math" panose="02040503050406030204" pitchFamily="18" charset="0"/>
                      </a:rPr>
                      <m:t>𝑏</m:t>
                    </m:r>
                  </m:oMath>
                </a14:m>
                <a:endParaRPr lang="en-US" dirty="0"/>
              </a:p>
              <a:p>
                <a:r>
                  <a:rPr lang="en-US" dirty="0" err="1"/>
                  <a:t>BucketSort</a:t>
                </a:r>
                <a:r>
                  <a:rPr lang="en-US" dirty="0"/>
                  <a:t> all </a:t>
                </a:r>
                <a14:m>
                  <m:oMath xmlns:m="http://schemas.openxmlformats.org/officeDocument/2006/math">
                    <m:r>
                      <a:rPr lang="en-US" b="0" i="1" smtClean="0">
                        <a:latin typeface="Cambria Math" panose="02040503050406030204" pitchFamily="18" charset="0"/>
                      </a:rPr>
                      <m:t>𝑛</m:t>
                    </m:r>
                  </m:oMath>
                </a14:m>
                <a:r>
                  <a:rPr lang="en-US" dirty="0"/>
                  <a:t> things using </a:t>
                </a:r>
                <a14:m>
                  <m:oMath xmlns:m="http://schemas.openxmlformats.org/officeDocument/2006/math">
                    <m:r>
                      <a:rPr lang="en-US" b="0" i="1" smtClean="0">
                        <a:latin typeface="Cambria Math" panose="02040503050406030204" pitchFamily="18" charset="0"/>
                      </a:rPr>
                      <m:t>𝑏</m:t>
                    </m:r>
                  </m:oMath>
                </a14:m>
                <a:r>
                  <a:rPr lang="en-US" dirty="0"/>
                  <a:t>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Repeat once per each digit</a:t>
                </a:r>
              </a:p>
              <a:p>
                <a:pPr lvl="1"/>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oMath>
                </a14:m>
                <a:r>
                  <a:rPr lang="en-US" dirty="0"/>
                  <a:t> iterations</a:t>
                </a:r>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r>
                          <a:rPr lang="en-US" b="0" i="1" smtClean="0">
                            <a:latin typeface="Cambria Math" panose="02040503050406030204" pitchFamily="18" charset="0"/>
                          </a:rPr>
                          <m:t>+</m:t>
                        </m:r>
                        <m:r>
                          <a:rPr lang="en-US" b="0" i="1" smtClean="0">
                            <a:latin typeface="Cambria Math" panose="02040503050406030204" pitchFamily="18" charset="0"/>
                          </a:rPr>
                          <m:t>𝑏</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e>
                    </m:d>
                  </m:oMath>
                </a14:m>
                <a:endParaRPr lang="en-US" dirty="0"/>
              </a:p>
              <a:p>
                <a:r>
                  <a:rPr lang="en-US" dirty="0"/>
                  <a:t>In practice, you can select the value of </a:t>
                </a:r>
                <a14:m>
                  <m:oMath xmlns:m="http://schemas.openxmlformats.org/officeDocument/2006/math">
                    <m:r>
                      <a:rPr lang="en-US" b="0" i="1" smtClean="0">
                        <a:latin typeface="Cambria Math" panose="02040503050406030204" pitchFamily="18" charset="0"/>
                      </a:rPr>
                      <m:t>𝑏</m:t>
                    </m:r>
                  </m:oMath>
                </a14:m>
                <a:r>
                  <a:rPr lang="en-US" dirty="0"/>
                  <a:t> to optimize running time</a:t>
                </a:r>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4116976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37404</TotalTime>
  <Words>2725</Words>
  <Application>Microsoft Office PowerPoint</Application>
  <PresentationFormat>Widescreen</PresentationFormat>
  <Paragraphs>901</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Cambria Math</vt:lpstr>
      <vt:lpstr>Arial</vt:lpstr>
      <vt:lpstr>Aptos</vt:lpstr>
      <vt:lpstr>Symbol</vt:lpstr>
      <vt:lpstr>Calibri Light</vt:lpstr>
      <vt:lpstr>Calibri</vt:lpstr>
      <vt:lpstr>Office Theme</vt:lpstr>
      <vt:lpstr>CSE 332 Spring 2026 Lecture 13: Sorting 2</vt:lpstr>
      <vt:lpstr>Properties To Consider</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Tree Method T(n)=2T(n/2)+n</vt:lpstr>
      <vt:lpstr>Merge Sort Properties</vt:lpstr>
      <vt:lpstr>Quicksort Vs. Mergesort</vt:lpstr>
      <vt:lpstr>Quicksort Overview</vt:lpstr>
      <vt:lpstr>Partition (Divide step)</vt:lpstr>
      <vt:lpstr>Partition Procedure (Slide 1 of 2) </vt:lpstr>
      <vt:lpstr>Partition Procedure (Slide 2 of 2) </vt:lpstr>
      <vt:lpstr>Partition – Begin Meets End (Case 1)</vt:lpstr>
      <vt:lpstr>Partition – Begin Meets End (Case 2)</vt:lpstr>
      <vt:lpstr>Partition Summary</vt:lpstr>
      <vt:lpstr>Conquer</vt:lpstr>
      <vt:lpstr>Quicksort Run Time (Best)</vt:lpstr>
      <vt:lpstr>Quicksort Run Time (Worst)</vt:lpstr>
      <vt:lpstr>Quicksort Worst Case Tree Method</vt:lpstr>
      <vt:lpstr>Good Pivot</vt:lpstr>
      <vt:lpstr>Quick Sort Properties</vt:lpstr>
      <vt:lpstr>“Linear Time” Sorting Algorithms</vt:lpstr>
      <vt:lpstr>BucketSort</vt:lpstr>
      <vt:lpstr>BucketSort Running Time</vt:lpstr>
      <vt:lpstr>Properties of BucketSort</vt:lpstr>
      <vt:lpstr>RadixSort</vt:lpstr>
      <vt:lpstr>RadixSort – Re-Bucket by 10s</vt:lpstr>
      <vt:lpstr>RadixSort – Re-Bucket by 100s</vt:lpstr>
      <vt:lpstr>RadixSort – Empty Buckets into Output Array</vt:lpstr>
      <vt:lpstr>RadixSort Running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163</cp:revision>
  <dcterms:created xsi:type="dcterms:W3CDTF">2023-09-26T20:08:20Z</dcterms:created>
  <dcterms:modified xsi:type="dcterms:W3CDTF">2026-04-29T00:02:29Z</dcterms:modified>
</cp:coreProperties>
</file>