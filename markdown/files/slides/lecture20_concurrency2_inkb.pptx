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64" r:id="rId3"/>
    <p:sldId id="260" r:id="rId4"/>
    <p:sldId id="272" r:id="rId5"/>
    <p:sldId id="274" r:id="rId6"/>
    <p:sldId id="278" r:id="rId7"/>
    <p:sldId id="335" r:id="rId8"/>
    <p:sldId id="282" r:id="rId9"/>
    <p:sldId id="283" r:id="rId10"/>
    <p:sldId id="284" r:id="rId11"/>
    <p:sldId id="285" r:id="rId12"/>
    <p:sldId id="286" r:id="rId13"/>
    <p:sldId id="288" r:id="rId14"/>
    <p:sldId id="289" r:id="rId15"/>
    <p:sldId id="290" r:id="rId16"/>
    <p:sldId id="291" r:id="rId17"/>
    <p:sldId id="292" r:id="rId18"/>
    <p:sldId id="293" r:id="rId19"/>
    <p:sldId id="336" r:id="rId20"/>
    <p:sldId id="294" r:id="rId21"/>
    <p:sldId id="295" r:id="rId22"/>
    <p:sldId id="296" r:id="rId23"/>
    <p:sldId id="322" r:id="rId24"/>
    <p:sldId id="298" r:id="rId25"/>
    <p:sldId id="300" r:id="rId26"/>
    <p:sldId id="301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1" r:id="rId44"/>
    <p:sldId id="310" r:id="rId45"/>
    <p:sldId id="312" r:id="rId46"/>
    <p:sldId id="31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6T00:04:07.8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2057 6608 0,'0'0'0,"0"0"0,0 0 0,0 17 16,17 26-1,-8 42 1,-1 51-16,1 51 15,-18 42-15,-8 9 16,8 35 0,-8-1-16,0-26 15,0-16-15,9-26 32,-1-8-32,1-18 15,-1 1-15,-8-26 16,9-17-16,-1-25 15,0-1 1,1-16 0,8-26-1,0-9-15,0-16 16,0-18 0,0 1-16,0-9 0,0-9 31,0 9-31,0 0 15,0 0-15,0 9 16,0-9 0,0-9-1,0 1-15,0-1 16,0 1-16,0-1 16,0 9-1,0 0 1,0 9-16,0 8 15,-17 17-15,8 17 16,1 0 0,-1 17-1,-25 9-15,17-18 16,0 1 0,17-1-16,0-8 15,0-8-15,8-9 16,1 8-1,0 1 1,-1 8-16,1 0 16,-9-8-16,8-9 15,-8-9 1,0-8 0,0 0-16,0-8 15,0-1 1,0 1-16,17-1 15,-17 1 1,0-1-16,0 1 16,0-1-1,0 1-15,0-1 16,0 1 0,0-1-16,0-8 15,0 0 1,0-8-16,0-1 15,0 1 1,0-1-16,0-8 16,0 0-1,0 0-15,0 0 16,0 0 0,0 0-16,26 9 15,17-18 1,33 1-16,35-9 15,17-17 1,9 0-16,16-9 16,18 9-1,-17 9 1,-9-1-16,9 9 16,-9 17-16,-17 0 15,-17 9 1,-9 8-16,-8 0 15,-9 0 1,-8 0-16,-17 0 16,0 8-16,-9-16 15,-9-1 1,-16 1-16,0-9 16,-1 0-1,-16 0-15,-1 0 16,1 0-1,-1 0 1,1 0-16,-9 0 16,0 0-16,0 0 15,0 0 1,0 0 0,0 0-16,0 0 15,0 0 1,0 0-16,0 0 15,8 0 1,1 0-16,0 0 16,-1-9-1,1 1-15,8-1 16,0-16-16,0-1 16,0-8-1,8-8 1,-7-18-16,-1-16 15,17-26-15,0-26 32,9-42-32,-1-17 0,-8-43 15,9-33 1,-9-1-16,-8-34 16,8-16-1,0-10 1,-8-7-16,-1-26 31,-8 33-31,-8 27 16,-1-26-16,1 16 15,-9 1-15,17 17 16,-8 25 0,-1 18-16,9 16 15,9 43 1,-9 34-16,8 17 15,-7 51 1,-10 25 0,1 43-16</inkml:trace>
  <inkml:trace contextRef="#ctx0" brushRef="#br0" timeOffset="1055.33">2774 11473 0,'0'0'0,"0"-9"0,8-16 15,9-27 1,35-41-16,16-43 16,-8 17-1,8 17-15,26-34 16,-17 8-1,-26 35-15,0 16 16,-8 34 0,-18 18-16,1 8 15,0 25 1,8 26-16,0 52 16,-9 33-1,-16 17-15,0 34 16,-18-17-1,0-43-15,1 9 16,-1-8 0,9-17-16,0-43 15,0-9-15,0-25 16,0-8 0,0-9-16</inkml:trace>
  <inkml:trace contextRef="#ctx0" brushRef="#br0" timeOffset="1327.86">2979 11413 0,'0'0'0,"0"0"0,8 0 15,35 0 1,34-9-16,25 1 16,9-18-16,60 9 15,153 0 1</inkml:trace>
  <inkml:trace contextRef="#ctx0" brushRef="#br0" timeOffset="2125.11">2262 9610 0,'0'0'0,"0"0"16,0 0-16,0 0 16,8 0-16,26 0 31,43 0-31,26 0 15,16-8 1,26 8 0,26 0-16,8 0 15,0 0 1,1 0-16,-1 8 16,-17 1-16,-8 16 15,-1-16 1,-25-1-1,-25 9-15,-1 0 0,-51 0 16</inkml:trace>
  <inkml:trace contextRef="#ctx0" brushRef="#br0" timeOffset="3062.36">3388 8343 0,'0'0'0,"-8"34"16,-18 51-16,-8 25 16,8-7-1,-8 24-15,0 1 16,0-26-16,17-17 16,0-34-1,8-26-15,9-8 16,0-8-1,0-9 1,9-17-16,17-34 16,16-43-16,9-8 15,9 0 1,0 9-16,-9 8 16,9 0-1,-9 16 1,-8 18-16,-1 17 15,1 0 1,0 17-16,-18 9 16,1 8-1,0 0-15,-9 8 16,-9 18-16,-8 16 16,-8 26-1,-18 1-15,9-18 16,0-9-1,0-16 1,0-1-16,8-16 16,9-1-1,0-8-15,0 0 16,17 0 0,17 0-16,-8 0 15,0 0-15,-1 17 31,-8 26-31,9 50 16,-35 26-16,-33 9 16,-35-1-1,-26 1 1,-7-35-16,7-16 16,52-43-16</inkml:trace>
  <inkml:trace contextRef="#ctx0" brushRef="#br0" timeOffset="3687.65">2518 7748 0,'0'0'0,"17"0"0,43 17 16,68 0-16,102-17 15,35-17 1,59-17-16,94-17 16,17 8-1,-42 9-15</inkml:trace>
  <inkml:trace contextRef="#ctx0" brushRef="#br0" timeOffset="20618.52">12487 9457 0,'0'0'0,"0"0"0,-9 8 0,1 35 15,-1 8 1,0 0 0,1 9-16,-18 25 15,1 17 1,-1 0-16,1-17 16,-1-26-1,9-16-15,0-18 0,0 1 31,0-1-31,0-16 16,0-1 0,-1-16-16,18-18 15,9-42 1,17-42-16,8 16 16,17 18-1,9-1-15,-1-8 16,-7 34-1,-1 9-15,9 8 16,-1 0 0,-7 16-16,-18 10 15,-9 8 1,1 0-16,-18 0 16,1 8-1,-9 18-15,-17 17 16,-17 16-1,-35 26-15,-7-8 16,7-18 0,18-8-1,17-17-15,17-17 16,0-8 0,17-1-16,0-8 15,17 9 1,17 8-16,9 0 15,25 8 1,9 9-16,-17 0 0,-9-8 16,-17-1-1,-8-16-15,-18-1 16,-16 9 0,-35 17-1,-51 17-15,-43 0 16,-8-17-1,0-25 1,-145 8-16</inkml:trace>
  <inkml:trace contextRef="#ctx0" brushRef="#br0" timeOffset="22339.79">3346 8326 0,'0'0'0,"-9"0"0,-8 25 16,-26 26-1,-25 34-15,-9 9 16,-8 17 0,17-9-1,25-34-15,26-17 16,8-17 0,26-17-16,52-43 15,50-42 1,18-17-16,25-42 15,0-10 1,-42 44-16,-44 42 16,-16 8-16,-17 18 15,-18 16 1,-7 18-16,-18 50 16,-52 86-1,-42 42-15,-8-8 16,17-60-1,33-51 1,18-34-16,17-9 0,17-16 31,17-35-31,60-84 16,51-35-16,-8 9 16,8-17-1,-9 25 1,-59 60-16,-26 26 15,-8 25 1,-18 17-16,-16 8 16,-44 69-1,-67 76-15,-18 9 16,35-26-16,34-26 31,25-42-31,26-34 16,17-8-16,8-18 15,44-16-15,7-52 16,18-25 0,0 9-1,-26 33-15,-17 9 16,-25 17 0,-18 0-16,-25 34 0,-111 85 15,-68 77 1,34 8-1,33-17 1,36-51-16,50-51 16,34-34-1,18-25-15,33-86 16,52-102 0,34-76-1,0 34-15,-9 43 16,-25 16-16,-34 60 15,-26 51 1,-9 25-16,-16 26 16,-52 34-1,-42 68-15,-26 52 16,0 7 0,42-33-1,44-52-15,25-42 16,0-17-1,17-8-15,42-94 16,52-85 0,0-77-16,-9 0 15,1 60 1,-27 9-16,-24 67 16,-27 43-16,1 43 15,-9 16 1,-26 43-16,-51 85 15,-25 60 1,16-9 0,35-43-16,34-50 15,26-26 1,16-43-16,78-84 16,93-60-1,-17-26-15,-17-25 16,-16 43-16,-61 59 15,-25 34 1,-26 25 0,-26 18-16,-50 101 15,-86 171 1,-69 84-16,10 1 16,76-102-1,76-77-15,27 119 16</inkml:trace>
  <inkml:trace contextRef="#ctx0" brushRef="#br0" timeOffset="28978.39">21508 10996 0,'0'0'0,"0"0"0,0-8 0,0-9 32,9 0-32,8-9 0,17-25 15,26-51-15,8-25 16,-25 16 0,8 34-16,8 18 31,10-1-31,8 9 15,-18 17 1,1 0-16,-17 17 0,-9 17 31,-9 9-15,1 8-16,0 34 16,-1 59-16,-8 44 15,-25-18 1,-1-17-16,1 8 0,-1-25 31,1-25-31,-1-26 16,9-17-16,0-9 31,0-16-31,0-9 16,9-17-16,-1-17 15,1-34 1,-9 17-16</inkml:trace>
  <inkml:trace contextRef="#ctx0" brushRef="#br0" timeOffset="29168.54">21653 10903 0,'0'0'0,"0"0"0,9 0 16,50 8-16,69 1 15,60-1 1,26-25 0,16-17-16,-51 9 15,-119 16 1</inkml:trace>
  <inkml:trace contextRef="#ctx0" brushRef="#br0" timeOffset="30328.1">3294 10103 0,'0'0'0,"0"0"0,0 17 15,-8 60 1,-9 93-16,-51 94 16,-26 42-1,25-68-15,10-60 16,16-33-1,17-60-15,9-42 16,17-26 0,17-43-16,60-76 15,68-145 1,0-33-16,9-35 16,-17 26-1,-35 59-15,9 35 16,-34 84-1,-43 60-15,-8 26 16,-18 25 0,-42 93-16,-60 162 15,-25 43 1,16-68-16,-8-26 16,17-51-1,52-68-15,16-43 16,9-16-1,17-18-15,0-25 16,60-93 0,85-188-16,0-17 15,-17 77 1,0 17-16,-60 111 16,-34 59-16,-25 25 15,-1 26 1,-59 94-1,-60 152-15,-34 103 16,0 34-16,9-35 16,42-75-1,51-69-15,60-77 16,43-50 0,-26-52-1</inkml:trace>
  <inkml:trace contextRef="#ctx0" brushRef="#br0" timeOffset="34893.21">5607 10316 0,'0'0'0,"0"0"0,0 0 0,0 0 16,9 8 0,0 1-16,-1 8 15,-8 8-15,0 18 32,-8 8-32,-1 9 0,0 8 31,-16 8-31,-18 26 15,1 9-15,-10 16 16,1-8 0,17-42-1,17-26-15,0-17 16,8-9 0,1-16-16,8-1 15,0 1 1,0-18-16,8-16 15,9-60-15,17-26 16,1 1 0,16-18-16,26-25 15,-1 17 1,1 26-16,0 16 16,8-8-1,9 8 1,0 18-16,-17 25 15,-9 17 1,-8 17-16,-9 0 16,-8 17-1,-17 0-15,-1 17 0,1 0 32,-18 25-32,-8 43 15,-34 17 1,-9-8-16,-16-1 15,8-16 1,-1-17-16,1-9 16,17-17-16,0-9 15,17 1 1,0-9 0,8 0-16,9 0 15,9 0 1,16 0-16,18 0 15,25 0 1,1 8 0,-1 1-16,-17-1 15,-8 1-15,-18 8 16,-16 17 0,-18 25-16,-25 1 15,-51 8 1,-60 0-16,-35-17 15,-50-17-15,17-17 16,42-25 0,-17-9-1,-128 17-15</inkml:trace>
  <inkml:trace contextRef="#ctx0" brushRef="#br0" timeOffset="39937.9">5735 9066 0,'0'0'0,"0"0"16,0 0-16,-8 0 16,-1-9-16,9-25 15,0-34 1,17 0-1,9-8-15,51-111 16,0-9 0,-18 43-16,18-68 15,17 8 1,17 35-16,17-35 16,-34 51-1,-34 60-15,-9 17 16,-8 26-1,-9 16-15,-9 26 16,1 9 0,0 16-16,8 43 15,-9 43 1,1 42-16,-18 25 16,1 18-16,0 25 15,-9-25 1,8-18-16,1-8 15,-9-17 1,8-51 0,1-42-16,-9-17 15,0-9 1,0-9-16,-9 1 16,9-9-1</inkml:trace>
  <inkml:trace contextRef="#ctx0" brushRef="#br0" timeOffset="40141.92">6205 7748 0,'0'0'0,"43"8"0,59 9 16,77 9 0,35-1-16,110 18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6T00:07:56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2125 8292 0,'0'0'16,"0"25"-16,0 69 0,0 510 0,0-366 0,0 17 0,0-255 0,-8 255 0,-1 0 16,1-8-1,-1 8 1,-17 9 0,9-1-16,-34 18 0,17 0 31,0-9-31,-9-9 15,1-7-15,-10-1 16,1-9 0,0-25-16,17-17 15,0-33 1,0-10 0,16-33-16,-7-18 15,8-25-15,17-25 16,-17-9-1,8-9 1,-8 1-16,17-18 16,0 1-16,0-18 15,0 1 1,0-1-16,0 1 16,0 8-1,9 0-15,25 17 16,60 0-1,59-8 1,44-9-16,42-9 16,17-8-16,25 0 15,27 0 1,16-8 0,17-1-16,1 1 15,-10-9-15,-33 17 16,-17 8-1,-9 1-15,-34-1 16,-51 9 0,-35 0-16,-25 9 15,-42-1 1,-18 1-16,-17-18 16,-8 1-1,-17-1-15,-1 1 16,1-9-1,-1-9 1,9-33-16,18-52 16,-1-42-16,17-51 15,0-43 1,-8-16 0,-9-18-16,-8-17 15,-9-16 1,0-9-16,-8-35 15,0-16 1,-1-17-16,-16-17 16,-1-26-16,1 0 15,-9 18 1,-9-1-16,9-8 16,-8 33-1,8 1 1,8 26-16,1 58 15,8 10 1,17 16-16,17-67 16</inkml:trace>
  <inkml:trace contextRef="#ctx0" brushRef="#br0" timeOffset="1173.27">3559 12825 0,'0'0'0,"0"0"0,9 8 16,33 26-16,44 26 15,33 16 1,9 18-16,-8-1 15,8 35 1,8 8 0,-8-17-16,-25-8 15,-18-26-15,-8-17 16,-17-26 0,-26-16-1</inkml:trace>
  <inkml:trace contextRef="#ctx0" brushRef="#br0" timeOffset="1397.34">4737 12621 0,'0'0'0,"-9"0"0,-25 17 16,-111 102 0,-94 119-16,-8 59 0,8 18 15</inkml:trace>
  <inkml:trace contextRef="#ctx0" brushRef="#br0" timeOffset="6563.46">12307 10665 0,'0'0'0,"0"0"0,0 0 16,0 0-16,0 0 16,0 0-1,17 8-15,1 9 16,16 26 0,0 25-1,17 0-15,0 0 16,9 17-1,-17-9-15,-1 1 16,1-1-16,0-16 31,-9-9-31,-9-17 16,1-9 0,0-16-16,8-9 15,8-9-15,-7 9 16</inkml:trace>
  <inkml:trace contextRef="#ctx0" brushRef="#br0" timeOffset="6787.72">13195 10962 0,'0'0'0,"0"0"0,0 0 15,-17 0-15,-26 17 16,-25 9-1,-34 16-15,-61 18 16,-7 8 0,33 8-1,35-8-15,25-17 0,43-34 32</inkml:trace>
  <inkml:trace contextRef="#ctx0" brushRef="#br0" timeOffset="7686.68">4438 12723 0,'0'0'0,"-8"-17"0,-1-9 15,1 9-15,-27 0 31,-76 34-31,-93 68 0,-35 60 16,17 8 0,51 0-1,52-26-15,42-33 16,34-34 0,26-26-16,17-17 15,17-9 1,85-42-16,112-76 15,25-52 1,-26 17 0,-16 18-16,-18 25 0,-34 34 15,-51 42 1,-35 26 0,-24 26-16,-52 76 15,-94 127 1,-77 44-16,-8-35 15,25-60 1,68-76-16,52-42 16,26-43-1,16-9-15,18-25 16,67-68-16,78-68 31,17-17-31,8 17 16,-17 25-16,-34 43 15,-51 34 1,-34 26 0,-18 25-16,-16 0 15,-26 59-15,-35 95 0,-16 84 16,26 8 15,16 94-31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19: Concurrency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EC1A-6CA5-98A7-F39E-5B051CE8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31AF-5BCA-E54E-4929-B7B6A0D8A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to time slicing, a thread can be interrupted at any time</a:t>
            </a:r>
          </a:p>
          <a:p>
            <a:pPr lvl="1"/>
            <a:r>
              <a:rPr lang="en-US" dirty="0"/>
              <a:t>Between any two lines of code</a:t>
            </a:r>
          </a:p>
          <a:p>
            <a:pPr lvl="1"/>
            <a:r>
              <a:rPr lang="en-US" dirty="0"/>
              <a:t>Within a single line of code</a:t>
            </a:r>
          </a:p>
          <a:p>
            <a:r>
              <a:rPr lang="en-US" dirty="0"/>
              <a:t>The sequence that operations occur across two threads is called an interleaving</a:t>
            </a:r>
          </a:p>
          <a:p>
            <a:r>
              <a:rPr lang="en-US" dirty="0"/>
              <a:t>Without doing anything else, we have no control over how different threads might be interleaved</a:t>
            </a:r>
          </a:p>
        </p:txBody>
      </p:sp>
    </p:spTree>
    <p:extLst>
      <p:ext uri="{BB962C8B-B14F-4D97-AF65-F5344CB8AC3E}">
        <p14:creationId xmlns:p14="http://schemas.microsoft.com/office/powerpoint/2010/main" val="402623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ECE2-9CC3-DF86-BABE-D4BE2D4A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9A95-C324-F33C-8E0D-40758B326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Concurrency: </a:t>
            </a:r>
          </a:p>
          <a:p>
            <a:pPr lvl="1"/>
            <a:r>
              <a:rPr lang="en-US" dirty="0"/>
              <a:t>Correctly and efficiently managing access to shared resources across multiple possibly-simultaneous tasks</a:t>
            </a:r>
          </a:p>
          <a:p>
            <a:r>
              <a:rPr lang="en-US" dirty="0"/>
              <a:t>Requires synchronization to avoid incorrect simultaneous access</a:t>
            </a:r>
          </a:p>
          <a:p>
            <a:pPr lvl="1"/>
            <a:r>
              <a:rPr lang="en-US" dirty="0"/>
              <a:t>Use some way of “blocking” other tasks from using a resource when another modifies it or makes decisions based on its state</a:t>
            </a:r>
          </a:p>
          <a:p>
            <a:pPr lvl="1"/>
            <a:r>
              <a:rPr lang="en-US" dirty="0"/>
              <a:t>That blocking task will free up the resource when it’s done</a:t>
            </a:r>
          </a:p>
          <a:p>
            <a:r>
              <a:rPr lang="en-US" dirty="0"/>
              <a:t>Warning:</a:t>
            </a:r>
          </a:p>
          <a:p>
            <a:pPr lvl="1"/>
            <a:r>
              <a:rPr lang="en-US" dirty="0"/>
              <a:t>Because we have no control over when threads are scheduled by the OS, even correct implementations are highly non-deterministic</a:t>
            </a:r>
          </a:p>
          <a:p>
            <a:pPr lvl="1"/>
            <a:r>
              <a:rPr lang="en-US" dirty="0"/>
              <a:t>Errors are hard to reproduce, which complicates debugging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9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Bad attempt at Mutual Exclusion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Boolean busy = false;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while (busy) { /* wait until not busy */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busy = true;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busy = false;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059143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AEEC-82A4-7735-C350-4DA0E1BB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94BA-009A-BCE3-1087-2A0C36A43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We need a construct from Java to do this</a:t>
            </a:r>
          </a:p>
          <a:p>
            <a:r>
              <a:rPr lang="en-US" dirty="0"/>
              <a:t>One Solution – A </a:t>
            </a:r>
            <a:r>
              <a:rPr lang="en-US" b="1" dirty="0"/>
              <a:t>Mutual Exclusion Lock</a:t>
            </a:r>
            <a:r>
              <a:rPr lang="en-US" dirty="0"/>
              <a:t> (called a Mutex or Lock)</a:t>
            </a:r>
          </a:p>
          <a:p>
            <a:r>
              <a:rPr lang="en-US" dirty="0"/>
              <a:t>We define a </a:t>
            </a:r>
            <a:r>
              <a:rPr lang="en-US" b="1" dirty="0"/>
              <a:t>Lock</a:t>
            </a:r>
            <a:r>
              <a:rPr lang="en-US" dirty="0"/>
              <a:t> to be an ADT with operations:</a:t>
            </a:r>
          </a:p>
          <a:p>
            <a:pPr lvl="1"/>
            <a:r>
              <a:rPr lang="en-US" dirty="0"/>
              <a:t>New: </a:t>
            </a:r>
          </a:p>
          <a:p>
            <a:pPr lvl="2"/>
            <a:r>
              <a:rPr lang="en-US" dirty="0"/>
              <a:t>make a new lock, initially “not held”</a:t>
            </a:r>
          </a:p>
          <a:p>
            <a:pPr lvl="1"/>
            <a:r>
              <a:rPr lang="en-US" dirty="0"/>
              <a:t>Acquire:</a:t>
            </a:r>
          </a:p>
          <a:p>
            <a:pPr lvl="2"/>
            <a:r>
              <a:rPr lang="en-US" dirty="0"/>
              <a:t>If lock is not held, mark it as “held”</a:t>
            </a:r>
          </a:p>
          <a:p>
            <a:pPr lvl="3"/>
            <a:r>
              <a:rPr lang="en-US" dirty="0"/>
              <a:t>These two steps always done together in a way that cannot be interrupted!</a:t>
            </a:r>
          </a:p>
          <a:p>
            <a:pPr lvl="2"/>
            <a:r>
              <a:rPr lang="en-US" dirty="0"/>
              <a:t>If lock is held, pause until it is marked as “not held”</a:t>
            </a:r>
          </a:p>
          <a:p>
            <a:pPr lvl="1"/>
            <a:r>
              <a:rPr lang="en-US" dirty="0"/>
              <a:t>Release:</a:t>
            </a:r>
          </a:p>
          <a:p>
            <a:pPr lvl="2"/>
            <a:r>
              <a:rPr lang="en-US" dirty="0"/>
              <a:t>Mark the lock as “not held”</a:t>
            </a:r>
          </a:p>
        </p:txBody>
      </p:sp>
    </p:spTree>
    <p:extLst>
      <p:ext uri="{BB962C8B-B14F-4D97-AF65-F5344CB8AC3E}">
        <p14:creationId xmlns:p14="http://schemas.microsoft.com/office/powerpoint/2010/main" val="2056654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Withdraw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private Lock </a:t>
            </a:r>
            <a:r>
              <a:rPr lang="en-US" dirty="0" err="1"/>
              <a:t>lck</a:t>
            </a:r>
            <a:r>
              <a:rPr lang="en-US" dirty="0"/>
              <a:t> = new Lock();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lk.acquire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finally { 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 } 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441CF-8A8F-00EF-539B-A42DE40C58E9}"/>
              </a:ext>
            </a:extLst>
          </p:cNvPr>
          <p:cNvSpPr txBox="1"/>
          <p:nvPr/>
        </p:nvSpPr>
        <p:spPr>
          <a:xfrm>
            <a:off x="8585200" y="1690688"/>
            <a:ext cx="3484881" cy="175432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Questions: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Should deposit have its own lock object?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about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about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Should they share one?</a:t>
            </a:r>
          </a:p>
        </p:txBody>
      </p:sp>
    </p:spTree>
    <p:extLst>
      <p:ext uri="{BB962C8B-B14F-4D97-AF65-F5344CB8AC3E}">
        <p14:creationId xmlns:p14="http://schemas.microsoft.com/office/powerpoint/2010/main" val="34646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 err="1"/>
              <a:t>getBalance</a:t>
            </a:r>
            <a:r>
              <a:rPr lang="en-US" dirty="0"/>
              <a:t> needs the lock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private Lock </a:t>
            </a:r>
            <a:r>
              <a:rPr lang="en-US" dirty="0" err="1"/>
              <a:t>lck</a:t>
            </a:r>
            <a:r>
              <a:rPr lang="en-US" dirty="0"/>
              <a:t> = new Lock();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int </a:t>
            </a:r>
            <a:r>
              <a:rPr lang="en-US" dirty="0" err="1">
                <a:solidFill>
                  <a:srgbClr val="FF0000"/>
                </a:solidFill>
              </a:rPr>
              <a:t>getBalance</a:t>
            </a:r>
            <a:r>
              <a:rPr lang="en-US" dirty="0">
                <a:solidFill>
                  <a:srgbClr val="FF0000"/>
                </a:solidFill>
              </a:rPr>
              <a:t>(int x) {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try{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</a:t>
            </a:r>
            <a:r>
              <a:rPr lang="en-US" dirty="0" err="1">
                <a:solidFill>
                  <a:srgbClr val="FF0000"/>
                </a:solidFill>
              </a:rPr>
              <a:t>lk.acquire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return balance;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finally{ 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 } }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lk.acquire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</a:t>
            </a:r>
          </a:p>
          <a:p>
            <a:pPr marL="0" indent="0">
              <a:buNone/>
            </a:pPr>
            <a:r>
              <a:rPr lang="en-US" dirty="0"/>
              <a:t>		finally { </a:t>
            </a:r>
            <a:r>
              <a:rPr lang="en-US" dirty="0" err="1"/>
              <a:t>lk.release</a:t>
            </a:r>
            <a:r>
              <a:rPr lang="en-US" dirty="0"/>
              <a:t>(); }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}}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A89A4-2E43-E9E9-22B3-678B76A05715}"/>
              </a:ext>
            </a:extLst>
          </p:cNvPr>
          <p:cNvSpPr txBox="1"/>
          <p:nvPr/>
        </p:nvSpPr>
        <p:spPr>
          <a:xfrm>
            <a:off x="7416800" y="1690688"/>
            <a:ext cx="4500880" cy="175432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One more issue!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Withdraw calls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Withdraw can never finish because in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the lock will always be held! </a:t>
            </a:r>
          </a:p>
        </p:txBody>
      </p:sp>
    </p:spTree>
    <p:extLst>
      <p:ext uri="{BB962C8B-B14F-4D97-AF65-F5344CB8AC3E}">
        <p14:creationId xmlns:p14="http://schemas.microsoft.com/office/powerpoint/2010/main" val="356758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F5F7-665A-9FC5-2A1E-EF711A9C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Re-entrant Lock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A8F06-605F-B023-345D-50BEED1A0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re-entrant lock (a.k.a. recursive lock)</a:t>
            </a:r>
          </a:p>
          <a:p>
            <a:r>
              <a:rPr lang="en-US" dirty="0"/>
              <a:t>“Remembers” </a:t>
            </a:r>
          </a:p>
          <a:p>
            <a:pPr lvl="1"/>
            <a:r>
              <a:rPr lang="en-US" dirty="0"/>
              <a:t>the thread (if any) that currently holds it </a:t>
            </a:r>
          </a:p>
          <a:p>
            <a:pPr lvl="1"/>
            <a:r>
              <a:rPr lang="en-US" dirty="0"/>
              <a:t>a count of “layers” that the thread holds it</a:t>
            </a:r>
          </a:p>
          <a:p>
            <a:r>
              <a:rPr lang="en-US" dirty="0"/>
              <a:t>When the lock goes from not-held to held, the count is set to 0 </a:t>
            </a:r>
          </a:p>
          <a:p>
            <a:r>
              <a:rPr lang="en-US" dirty="0"/>
              <a:t>If (code running in) the current holder calls acquire: </a:t>
            </a:r>
          </a:p>
          <a:p>
            <a:pPr lvl="1"/>
            <a:r>
              <a:rPr lang="en-US" dirty="0"/>
              <a:t>it does not block </a:t>
            </a:r>
          </a:p>
          <a:p>
            <a:pPr lvl="1"/>
            <a:r>
              <a:rPr lang="en-US" dirty="0"/>
              <a:t>it increments the count </a:t>
            </a:r>
          </a:p>
          <a:p>
            <a:r>
              <a:rPr lang="en-US" dirty="0"/>
              <a:t>On release: </a:t>
            </a:r>
          </a:p>
          <a:p>
            <a:pPr lvl="1"/>
            <a:r>
              <a:rPr lang="en-US" dirty="0"/>
              <a:t>if the count is &gt; 0, the count is decremented </a:t>
            </a:r>
          </a:p>
          <a:p>
            <a:pPr lvl="1"/>
            <a:r>
              <a:rPr lang="en-US" dirty="0"/>
              <a:t>if the count is 0, the lock becomes not-held</a:t>
            </a:r>
          </a:p>
        </p:txBody>
      </p:sp>
    </p:spTree>
    <p:extLst>
      <p:ext uri="{BB962C8B-B14F-4D97-AF65-F5344CB8AC3E}">
        <p14:creationId xmlns:p14="http://schemas.microsoft.com/office/powerpoint/2010/main" val="333110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C8CE-76D5-72C9-751C-2441A085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Java’s Re-entrant Lock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21571-7770-8F19-F192-B62EF32D6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java.util.concurrent.locks.ReentrantLock</a:t>
            </a:r>
            <a:r>
              <a:rPr lang="en-US" dirty="0"/>
              <a:t> </a:t>
            </a:r>
          </a:p>
          <a:p>
            <a:r>
              <a:rPr lang="en-US" dirty="0"/>
              <a:t>Has methods lock() and unlock() </a:t>
            </a:r>
          </a:p>
          <a:p>
            <a:r>
              <a:rPr lang="en-US" dirty="0"/>
              <a:t>Important to guarantee that lock is always released!!! </a:t>
            </a:r>
          </a:p>
          <a:p>
            <a:r>
              <a:rPr lang="en-US" dirty="0"/>
              <a:t>Recommend something like this: </a:t>
            </a:r>
          </a:p>
          <a:p>
            <a:pPr marL="457200" lvl="1" indent="0">
              <a:buNone/>
            </a:pPr>
            <a:r>
              <a:rPr lang="en-US" dirty="0" err="1"/>
              <a:t>myLock.lock</a:t>
            </a:r>
            <a:r>
              <a:rPr lang="en-US" dirty="0"/>
              <a:t>(); </a:t>
            </a:r>
          </a:p>
          <a:p>
            <a:pPr marL="457200" lvl="1" indent="0">
              <a:buNone/>
            </a:pPr>
            <a:r>
              <a:rPr lang="en-US" dirty="0"/>
              <a:t>try { // method body }</a:t>
            </a:r>
          </a:p>
          <a:p>
            <a:pPr marL="457200" lvl="1" indent="0">
              <a:buNone/>
            </a:pPr>
            <a:r>
              <a:rPr lang="en-US" dirty="0"/>
              <a:t>finally { </a:t>
            </a:r>
            <a:r>
              <a:rPr lang="en-US" dirty="0" err="1"/>
              <a:t>myLock.unlock</a:t>
            </a:r>
            <a:r>
              <a:rPr lang="en-US" dirty="0"/>
              <a:t>(); } </a:t>
            </a:r>
          </a:p>
        </p:txBody>
      </p:sp>
    </p:spTree>
    <p:extLst>
      <p:ext uri="{BB962C8B-B14F-4D97-AF65-F5344CB8AC3E}">
        <p14:creationId xmlns:p14="http://schemas.microsoft.com/office/powerpoint/2010/main" val="3031101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this looks in Java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java.util.concurrent.locks.ReentrantLock</a:t>
            </a:r>
            <a:r>
              <a:rPr lang="en-US" dirty="0">
                <a:solidFill>
                  <a:srgbClr val="FF0000"/>
                </a:solidFill>
              </a:rPr>
              <a:t>; 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</a:t>
            </a:r>
            <a:r>
              <a:rPr lang="en-US" dirty="0" err="1">
                <a:solidFill>
                  <a:srgbClr val="FF0000"/>
                </a:solidFill>
              </a:rPr>
              <a:t>ReentrantLock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lck</a:t>
            </a:r>
            <a:r>
              <a:rPr lang="en-US" dirty="0">
                <a:solidFill>
                  <a:srgbClr val="FF0000"/>
                </a:solidFill>
              </a:rPr>
              <a:t> = new </a:t>
            </a:r>
            <a:r>
              <a:rPr lang="en-US" dirty="0" err="1">
                <a:solidFill>
                  <a:srgbClr val="FF0000"/>
                </a:solidFill>
              </a:rPr>
              <a:t>ReentrantLock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>
                <a:solidFill>
                  <a:srgbClr val="FF0000"/>
                </a:solidFill>
              </a:rPr>
              <a:t>lk.lock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			balance = x; }</a:t>
            </a:r>
          </a:p>
          <a:p>
            <a:pPr marL="0" indent="0">
              <a:buNone/>
            </a:pPr>
            <a:r>
              <a:rPr lang="en-US" dirty="0"/>
              <a:t>		finally{ </a:t>
            </a:r>
            <a:r>
              <a:rPr lang="en-US" dirty="0" err="1">
                <a:solidFill>
                  <a:srgbClr val="FF0000"/>
                </a:solidFill>
              </a:rPr>
              <a:t>lk.unlock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  <a:r>
              <a:rPr lang="en-US" dirty="0"/>
              <a:t>}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>
                <a:solidFill>
                  <a:srgbClr val="FF0000"/>
                </a:solidFill>
              </a:rPr>
              <a:t>lk.lock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</a:t>
            </a:r>
          </a:p>
          <a:p>
            <a:pPr marL="0" indent="0">
              <a:buNone/>
            </a:pPr>
            <a:r>
              <a:rPr lang="en-US" dirty="0"/>
              <a:t>		finally {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lk.unlock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  <a:r>
              <a:rPr lang="en-US" dirty="0"/>
              <a:t>}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}} </a:t>
            </a:r>
          </a:p>
        </p:txBody>
      </p:sp>
    </p:spTree>
    <p:extLst>
      <p:ext uri="{BB962C8B-B14F-4D97-AF65-F5344CB8AC3E}">
        <p14:creationId xmlns:p14="http://schemas.microsoft.com/office/powerpoint/2010/main" val="2058339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545-F6D7-FF86-2C4F-2973D3D6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Synchronized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7616-0B51-EF39-FDB9-C13F0827A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Syntactic sugar for re-entrant locks</a:t>
            </a:r>
          </a:p>
          <a:p>
            <a:r>
              <a:rPr lang="en-US" dirty="0"/>
              <a:t>You can use the synchronized statement as an alternative to declaring a </a:t>
            </a:r>
            <a:r>
              <a:rPr lang="en-US" dirty="0" err="1"/>
              <a:t>ReentrantLock</a:t>
            </a:r>
            <a:endParaRPr lang="en-US" dirty="0"/>
          </a:p>
          <a:p>
            <a:r>
              <a:rPr lang="en-US" dirty="0"/>
              <a:t>Syntax:</a:t>
            </a:r>
          </a:p>
          <a:p>
            <a:r>
              <a:rPr lang="en-US" dirty="0"/>
              <a:t>Any Object can serve as a “lock”</a:t>
            </a:r>
          </a:p>
          <a:p>
            <a:pPr lvl="1"/>
            <a:r>
              <a:rPr lang="en-US" dirty="0"/>
              <a:t>Primitive types (e.g. int) cannot serve as a lock</a:t>
            </a:r>
          </a:p>
          <a:p>
            <a:r>
              <a:rPr lang="en-US" dirty="0"/>
              <a:t>Acquires a lock and blocks if necessary</a:t>
            </a:r>
          </a:p>
          <a:p>
            <a:pPr lvl="1"/>
            <a:r>
              <a:rPr lang="en-US" dirty="0"/>
              <a:t>Once you get past the “{“, you have the lock</a:t>
            </a:r>
          </a:p>
          <a:p>
            <a:r>
              <a:rPr lang="en-US" dirty="0"/>
              <a:t>Released the lock when you pass “}”</a:t>
            </a:r>
          </a:p>
          <a:p>
            <a:pPr lvl="1"/>
            <a:r>
              <a:rPr lang="en-US" dirty="0"/>
              <a:t>Even in the cases of returning, exceptions, anything!</a:t>
            </a:r>
          </a:p>
          <a:p>
            <a:pPr lvl="1"/>
            <a:r>
              <a:rPr lang="en-US" dirty="0"/>
              <a:t>Impossible to forget to release the lock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D1961-CD41-26DA-F57A-3D4184303799}"/>
              </a:ext>
            </a:extLst>
          </p:cNvPr>
          <p:cNvSpPr txBox="1"/>
          <p:nvPr/>
        </p:nvSpPr>
        <p:spPr>
          <a:xfrm>
            <a:off x="2296160" y="3012440"/>
            <a:ext cx="630589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synchronized( /* expression returning an Object */ ) {statements}</a:t>
            </a:r>
          </a:p>
        </p:txBody>
      </p:sp>
    </p:spTree>
    <p:extLst>
      <p:ext uri="{BB962C8B-B14F-4D97-AF65-F5344CB8AC3E}">
        <p14:creationId xmlns:p14="http://schemas.microsoft.com/office/powerpoint/2010/main" val="3745049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(version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Object 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 = new Object();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return balance;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balance = x;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Exception();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7923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(version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return balance;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balance = x;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Exception();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 } // deposit would also use synchronized(</a:t>
            </a:r>
            <a:r>
              <a:rPr lang="en-US" dirty="0" err="1"/>
              <a:t>lk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EFB39-E530-049D-8D9C-B920D9F62D15}"/>
              </a:ext>
            </a:extLst>
          </p:cNvPr>
          <p:cNvSpPr txBox="1"/>
          <p:nvPr/>
        </p:nvSpPr>
        <p:spPr>
          <a:xfrm>
            <a:off x="7416800" y="1690688"/>
            <a:ext cx="4500880" cy="92333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Since we have one lock per account regardless of operation, it’s more intuitive to use the account object itself as the lock!</a:t>
            </a:r>
          </a:p>
        </p:txBody>
      </p:sp>
    </p:spTree>
    <p:extLst>
      <p:ext uri="{BB962C8B-B14F-4D97-AF65-F5344CB8AC3E}">
        <p14:creationId xmlns:p14="http://schemas.microsoft.com/office/powerpoint/2010/main" val="278480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4A2-54C4-FDD2-E365-2A9EFFFF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Syntactic Sugar!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63A75-790A-FBFC-D455-485A246C2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object itself as a lock is common enough that Java has convenient syntax for that as well!</a:t>
            </a:r>
          </a:p>
          <a:p>
            <a:r>
              <a:rPr lang="en-US" dirty="0"/>
              <a:t>Declaring a method as “</a:t>
            </a:r>
            <a:r>
              <a:rPr lang="en-US" b="1" dirty="0"/>
              <a:t>synchronized</a:t>
            </a:r>
            <a:r>
              <a:rPr lang="en-US" dirty="0"/>
              <a:t>” puts its body into a synchronized block with “this” as the lock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943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(Final)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</a:t>
            </a:r>
            <a:r>
              <a:rPr lang="en-US" dirty="0"/>
              <a:t> 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 </a:t>
            </a:r>
            <a:r>
              <a:rPr lang="en-US" dirty="0"/>
              <a:t>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 </a:t>
            </a:r>
            <a:r>
              <a:rPr lang="en-US" dirty="0"/>
              <a:t>void withdraw(int amount) {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} </a:t>
            </a:r>
          </a:p>
          <a:p>
            <a:pPr marL="0" indent="0">
              <a:buNone/>
            </a:pPr>
            <a:r>
              <a:rPr lang="en-US" dirty="0"/>
              <a:t>	// other operations like deposit (which would use synchronized)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315189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8ECE-174A-7C43-2874-DBA6552F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48"/>
            <a:ext cx="10515600" cy="1325563"/>
          </a:xfrm>
        </p:spPr>
        <p:txBody>
          <a:bodyPr/>
          <a:lstStyle/>
          <a:p>
            <a:r>
              <a:rPr lang="en-US" dirty="0"/>
              <a:t>Concurrency 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0260B-B93F-B6B0-8B30-28A9E3552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63" y="1052945"/>
            <a:ext cx="11360727" cy="570807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Race Condition:</a:t>
            </a:r>
          </a:p>
          <a:p>
            <a:pPr lvl="1"/>
            <a:r>
              <a:rPr lang="en-US" dirty="0"/>
              <a:t>Occurs when the computation result depends on scheduling (how threads are interleaved) </a:t>
            </a:r>
          </a:p>
          <a:p>
            <a:pPr lvl="1"/>
            <a:r>
              <a:rPr lang="en-US" b="1" dirty="0"/>
              <a:t>Java Example:</a:t>
            </a:r>
            <a:r>
              <a:rPr lang="en-US" dirty="0"/>
              <a:t> Two threads call withdraw. Different schedules cause different threads to see the Exception</a:t>
            </a:r>
          </a:p>
          <a:p>
            <a:pPr lvl="1"/>
            <a:r>
              <a:rPr lang="en-US" b="1" dirty="0"/>
              <a:t>Trident Example:</a:t>
            </a:r>
            <a:r>
              <a:rPr lang="en-US" dirty="0"/>
              <a:t> The trident did not prevent a race condition, </a:t>
            </a:r>
            <a:r>
              <a:rPr lang="en-US" i="1" dirty="0"/>
              <a:t>which</a:t>
            </a:r>
            <a:r>
              <a:rPr lang="en-US" dirty="0"/>
              <a:t> name is the last one in the box may differ, depending on who grabbed the trident first</a:t>
            </a:r>
          </a:p>
          <a:p>
            <a:r>
              <a:rPr lang="en-US" b="1" dirty="0"/>
              <a:t>Data Race: </a:t>
            </a:r>
          </a:p>
          <a:p>
            <a:pPr lvl="1"/>
            <a:r>
              <a:rPr lang="en-US" dirty="0"/>
              <a:t>Either:</a:t>
            </a:r>
          </a:p>
          <a:p>
            <a:pPr lvl="2"/>
            <a:r>
              <a:rPr lang="en-US" sz="2400" dirty="0"/>
              <a:t>There is the potential for two threads to be writing to a variable in parallel</a:t>
            </a:r>
          </a:p>
          <a:p>
            <a:pPr lvl="2"/>
            <a:r>
              <a:rPr lang="en-US" sz="2400" dirty="0"/>
              <a:t>There is the potential for one thread to be reading a variable while another writes to it</a:t>
            </a:r>
            <a:endParaRPr lang="en-US" dirty="0"/>
          </a:p>
          <a:p>
            <a:pPr lvl="1"/>
            <a:r>
              <a:rPr lang="en-US" b="1" dirty="0"/>
              <a:t>Java Example:</a:t>
            </a:r>
            <a:r>
              <a:rPr lang="en-US" dirty="0"/>
              <a:t> Two different threads attempt to change a static variable</a:t>
            </a:r>
          </a:p>
          <a:p>
            <a:pPr lvl="1"/>
            <a:r>
              <a:rPr lang="en-US" b="1" dirty="0"/>
              <a:t>Trident Example:</a:t>
            </a:r>
            <a:r>
              <a:rPr lang="en-US" dirty="0"/>
              <a:t> The trident corrected a data race, no two people can use the box at the same time</a:t>
            </a:r>
          </a:p>
          <a:p>
            <a:r>
              <a:rPr lang="en-US" b="1" dirty="0"/>
              <a:t>Bad Interleaving:</a:t>
            </a:r>
          </a:p>
          <a:p>
            <a:pPr lvl="1"/>
            <a:r>
              <a:rPr lang="en-US" dirty="0"/>
              <a:t>An error due to a race condition other than a data race</a:t>
            </a:r>
          </a:p>
          <a:p>
            <a:pPr lvl="2"/>
            <a:r>
              <a:rPr lang="en-US" dirty="0"/>
              <a:t>It’s a race condition the results in behavior our specification says in incorrect</a:t>
            </a:r>
          </a:p>
          <a:p>
            <a:pPr lvl="1"/>
            <a:r>
              <a:rPr lang="en-US" dirty="0"/>
              <a:t>Usually it looks like exposing a “bad” intermediate state</a:t>
            </a:r>
          </a:p>
          <a:p>
            <a:pPr lvl="1"/>
            <a:r>
              <a:rPr lang="en-US" b="1" dirty="0"/>
              <a:t>Java Example:</a:t>
            </a:r>
            <a:r>
              <a:rPr lang="en-US" dirty="0"/>
              <a:t> Two threads insert into a hash table. One thread computes the index, the other resizes the table. Now the index might be incorrect. </a:t>
            </a:r>
          </a:p>
          <a:p>
            <a:pPr lvl="1"/>
            <a:r>
              <a:rPr lang="en-US" b="1" dirty="0"/>
              <a:t>Trident Example:</a:t>
            </a:r>
            <a:r>
              <a:rPr lang="en-US" dirty="0"/>
              <a:t> The race condition present after the trident is not a bad interleaving because either result is still correct</a:t>
            </a:r>
          </a:p>
        </p:txBody>
      </p:sp>
    </p:spTree>
    <p:extLst>
      <p:ext uri="{BB962C8B-B14F-4D97-AF65-F5344CB8AC3E}">
        <p14:creationId xmlns:p14="http://schemas.microsoft.com/office/powerpoint/2010/main" val="10981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96875"/>
            <a:ext cx="10515600" cy="1325563"/>
          </a:xfrm>
        </p:spPr>
        <p:txBody>
          <a:bodyPr/>
          <a:lstStyle/>
          <a:p>
            <a:r>
              <a:rPr lang="en-US" dirty="0"/>
              <a:t>Example: Shared Stack (no problems so far)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440"/>
            <a:ext cx="10515600" cy="62585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return end ==-1;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		array[++ end] = </a:t>
            </a:r>
            <a:r>
              <a:rPr lang="en-US" dirty="0" err="1"/>
              <a:t>val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synchronized E pop() { </a:t>
            </a:r>
          </a:p>
          <a:p>
            <a:pPr marL="0" indent="0">
              <a:buNone/>
            </a:pPr>
            <a:r>
              <a:rPr lang="en-US" dirty="0"/>
              <a:t>		if(</a:t>
            </a:r>
            <a:r>
              <a:rPr lang="en-US" dirty="0" err="1"/>
              <a:t>isEmpty</a:t>
            </a:r>
            <a:r>
              <a:rPr lang="en-US" dirty="0"/>
              <a:t>())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StackEmptyException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return array[end--]; </a:t>
            </a:r>
          </a:p>
          <a:p>
            <a:pPr marL="0" indent="0">
              <a:buNone/>
            </a:pPr>
            <a:r>
              <a:rPr lang="en-US" dirty="0"/>
              <a:t>	} 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93AB9-3041-0C12-9F0A-B8332694E888}"/>
              </a:ext>
            </a:extLst>
          </p:cNvPr>
          <p:cNvSpPr txBox="1"/>
          <p:nvPr/>
        </p:nvSpPr>
        <p:spPr>
          <a:xfrm>
            <a:off x="7233920" y="4368800"/>
            <a:ext cx="380072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Critical sections of this code?</a:t>
            </a:r>
          </a:p>
        </p:txBody>
      </p:sp>
    </p:spTree>
    <p:extLst>
      <p:ext uri="{BB962C8B-B14F-4D97-AF65-F5344CB8AC3E}">
        <p14:creationId xmlns:p14="http://schemas.microsoft.com/office/powerpoint/2010/main" val="1448350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Race Condition, but no 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F7C49-A9B0-D71B-2293-78AC65711059}"/>
              </a:ext>
            </a:extLst>
          </p:cNvPr>
          <p:cNvSpPr txBox="1"/>
          <p:nvPr/>
        </p:nvSpPr>
        <p:spPr>
          <a:xfrm>
            <a:off x="7233920" y="4368800"/>
            <a:ext cx="380072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Critical sections of this code?</a:t>
            </a:r>
          </a:p>
        </p:txBody>
      </p:sp>
    </p:spTree>
    <p:extLst>
      <p:ext uri="{BB962C8B-B14F-4D97-AF65-F5344CB8AC3E}">
        <p14:creationId xmlns:p14="http://schemas.microsoft.com/office/powerpoint/2010/main" val="881664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ABED-FC58-1B03-048A-19E1A971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9F99-C319-6183-5B10-5E2F36F6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Peeks Break LIFO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9D9A3-9914-01AF-96F7-48F7C3C82C53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CFE3B-7878-8C9D-BF13-BD426649936C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E62BD0-463C-1DCB-EF49-5A3FD44E6D3F}"/>
              </a:ext>
            </a:extLst>
          </p:cNvPr>
          <p:cNvSpPr/>
          <p:nvPr/>
        </p:nvSpPr>
        <p:spPr>
          <a:xfrm>
            <a:off x="6878319" y="2172832"/>
            <a:ext cx="2499361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184C2-B0C7-D9B8-F4BB-CE27730DFF96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0B527-2773-B825-D04E-300DF91EA384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19CF3D-8C79-8ECE-BA54-AEF4FF39558A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D68B0F1-A237-CE71-6491-8FADDDF09C59}"/>
                  </a:ext>
                </a:extLst>
              </p14:cNvPr>
              <p14:cNvContentPartPr/>
              <p14:nvPr/>
            </p14:nvContentPartPr>
            <p14:xfrm>
              <a:off x="654480" y="1962360"/>
              <a:ext cx="7525080" cy="2370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D68B0F1-A237-CE71-6491-8FADDDF09C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5120" y="1953000"/>
                <a:ext cx="7543800" cy="238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4971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Race Condition, including a </a:t>
            </a:r>
            <a:r>
              <a:rPr lang="en-US" dirty="0">
                <a:solidFill>
                  <a:srgbClr val="FF0000"/>
                </a:solidFill>
              </a:rPr>
              <a:t>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System.out.println</a:t>
            </a:r>
            <a:r>
              <a:rPr lang="en-US" dirty="0">
                <a:solidFill>
                  <a:srgbClr val="FF0000"/>
                </a:solidFill>
              </a:rPr>
              <a:t>(end);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217747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</a:t>
            </a:r>
            <a:r>
              <a:rPr lang="en-US" dirty="0" err="1"/>
              <a:t>isEmpty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878319" y="2172832"/>
            <a:ext cx="2499361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boolean</a:t>
            </a:r>
            <a:r>
              <a:rPr lang="en-US" dirty="0">
                <a:solidFill>
                  <a:schemeClr val="tx1"/>
                </a:solidFill>
              </a:rPr>
              <a:t> b = </a:t>
            </a:r>
            <a:r>
              <a:rPr lang="en-US" dirty="0" err="1">
                <a:solidFill>
                  <a:schemeClr val="tx1"/>
                </a:solidFill>
              </a:rPr>
              <a:t>isEmpty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boolean</a:t>
            </a:r>
            <a:r>
              <a:rPr lang="en-US" dirty="0">
                <a:solidFill>
                  <a:schemeClr val="tx1"/>
                </a:solidFill>
              </a:rPr>
              <a:t> b = </a:t>
            </a:r>
            <a:r>
              <a:rPr lang="en-US" dirty="0" err="1">
                <a:solidFill>
                  <a:schemeClr val="tx1"/>
                </a:solidFill>
              </a:rPr>
              <a:t>isEmpty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should not see an empty stack if there is a push but no pop.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EE0D98-85DE-A26B-D865-F32A46279B83}"/>
                  </a:ext>
                </a:extLst>
              </p14:cNvPr>
              <p14:cNvContentPartPr/>
              <p14:nvPr/>
            </p14:nvContentPartPr>
            <p14:xfrm>
              <a:off x="534600" y="2406600"/>
              <a:ext cx="4215960" cy="2829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EE0D98-85DE-A26B-D865-F32A46279B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240" y="2397240"/>
                <a:ext cx="4234680" cy="284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7360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Push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1129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Items from a stack are popped in LIFO order</a:t>
            </a:r>
          </a:p>
        </p:txBody>
      </p:sp>
    </p:spTree>
    <p:extLst>
      <p:ext uri="{BB962C8B-B14F-4D97-AF65-F5344CB8AC3E}">
        <p14:creationId xmlns:p14="http://schemas.microsoft.com/office/powerpoint/2010/main" val="965725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Push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1129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items from a stack are popped in LIFO order</a:t>
            </a:r>
          </a:p>
        </p:txBody>
      </p:sp>
    </p:spTree>
    <p:extLst>
      <p:ext uri="{BB962C8B-B14F-4D97-AF65-F5344CB8AC3E}">
        <p14:creationId xmlns:p14="http://schemas.microsoft.com/office/powerpoint/2010/main" val="3173336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How to fix this?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135-EC9C-1AB3-29DF-5A9347DD46EF}"/>
              </a:ext>
            </a:extLst>
          </p:cNvPr>
          <p:cNvSpPr txBox="1"/>
          <p:nvPr/>
        </p:nvSpPr>
        <p:spPr>
          <a:xfrm>
            <a:off x="8087360" y="690880"/>
            <a:ext cx="38113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Make a bigger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206291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Fixed!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</a:t>
            </a:r>
            <a:r>
              <a:rPr lang="en-US" dirty="0"/>
              <a:t> 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135-EC9C-1AB3-29DF-5A9347DD46EF}"/>
              </a:ext>
            </a:extLst>
          </p:cNvPr>
          <p:cNvSpPr txBox="1"/>
          <p:nvPr/>
        </p:nvSpPr>
        <p:spPr>
          <a:xfrm>
            <a:off x="8087360" y="690880"/>
            <a:ext cx="38113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Make a bigger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818060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Did this fix it?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return array[end];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770E1-80A0-988D-5BDB-B8758C3C4D0A}"/>
              </a:ext>
            </a:extLst>
          </p:cNvPr>
          <p:cNvSpPr txBox="1"/>
          <p:nvPr/>
        </p:nvSpPr>
        <p:spPr>
          <a:xfrm>
            <a:off x="7832436" y="690880"/>
            <a:ext cx="4128655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 Now it has a data race!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Push/pop will be changing end!</a:t>
            </a:r>
          </a:p>
        </p:txBody>
      </p:sp>
    </p:spTree>
    <p:extLst>
      <p:ext uri="{BB962C8B-B14F-4D97-AF65-F5344CB8AC3E}">
        <p14:creationId xmlns:p14="http://schemas.microsoft.com/office/powerpoint/2010/main" val="175820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ED13-22A1-8328-2908-CCDB1D5C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910F9-037F-8B63-FA98-ED21F813E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Occurs when two or more threads are mutually blocking each other</a:t>
            </a:r>
          </a:p>
          <a:p>
            <a:r>
              <a:rPr lang="en-US" dirty="0"/>
              <a:t>T1 is blocked by T2, which is blocked by T3, …, Tn is blocked by T1</a:t>
            </a:r>
          </a:p>
          <a:p>
            <a:pPr lvl="1"/>
            <a:r>
              <a:rPr lang="en-US" dirty="0"/>
              <a:t>A cycle of blocking</a:t>
            </a:r>
          </a:p>
          <a:p>
            <a:pPr lvl="1"/>
            <a:endParaRPr lang="en-US" dirty="0"/>
          </a:p>
          <a:p>
            <a:r>
              <a:rPr lang="en-US" dirty="0"/>
              <a:t>Three requirements for deadlock:</a:t>
            </a:r>
          </a:p>
          <a:p>
            <a:pPr lvl="1"/>
            <a:r>
              <a:rPr lang="en-US" dirty="0"/>
              <a:t>Multiple threads each need to acquire </a:t>
            </a:r>
            <a:r>
              <a:rPr lang="en-US" b="1" dirty="0"/>
              <a:t>multiple locks</a:t>
            </a:r>
          </a:p>
          <a:p>
            <a:pPr lvl="1"/>
            <a:r>
              <a:rPr lang="en-US" dirty="0"/>
              <a:t>The locks need to be </a:t>
            </a:r>
            <a:r>
              <a:rPr lang="en-US" b="1" dirty="0"/>
              <a:t>held at the same time </a:t>
            </a:r>
            <a:r>
              <a:rPr lang="en-US" dirty="0"/>
              <a:t>by the threads</a:t>
            </a:r>
          </a:p>
          <a:p>
            <a:pPr lvl="1"/>
            <a:r>
              <a:rPr lang="en-US" dirty="0"/>
              <a:t>The locks may be </a:t>
            </a:r>
            <a:r>
              <a:rPr lang="en-US" b="1" dirty="0"/>
              <a:t>acquired in multiple orders</a:t>
            </a:r>
          </a:p>
        </p:txBody>
      </p:sp>
    </p:spTree>
    <p:extLst>
      <p:ext uri="{BB962C8B-B14F-4D97-AF65-F5344CB8AC3E}">
        <p14:creationId xmlns:p14="http://schemas.microsoft.com/office/powerpoint/2010/main" val="4142712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synchronized 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 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a.deposit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224490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x.transferTo</a:t>
            </a:r>
            <a:r>
              <a:rPr lang="en-US" dirty="0">
                <a:solidFill>
                  <a:schemeClr val="tx1"/>
                </a:solidFill>
              </a:rPr>
              <a:t>(1,y);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y.transferTo</a:t>
            </a:r>
            <a:r>
              <a:rPr lang="en-US" dirty="0">
                <a:solidFill>
                  <a:schemeClr val="tx1"/>
                </a:solidFill>
              </a:rPr>
              <a:t>(1,x);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355600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after </a:t>
            </a:r>
            <a:r>
              <a:rPr lang="en-US" dirty="0" err="1">
                <a:solidFill>
                  <a:schemeClr val="tx1"/>
                </a:solidFill>
              </a:rPr>
              <a:t>depost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 </a:t>
            </a:r>
            <a:r>
              <a:rPr lang="en-US" dirty="0">
                <a:solidFill>
                  <a:schemeClr val="tx1"/>
                </a:solidFill>
              </a:rPr>
              <a:t>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182F8-642A-68C5-38B4-4E1AD6C388B6}"/>
              </a:ext>
            </a:extLst>
          </p:cNvPr>
          <p:cNvSpPr/>
          <p:nvPr/>
        </p:nvSpPr>
        <p:spPr>
          <a:xfrm>
            <a:off x="6257729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</a:t>
            </a:r>
            <a:r>
              <a:rPr lang="en-US" dirty="0">
                <a:solidFill>
                  <a:schemeClr val="tx1"/>
                </a:solidFill>
              </a:rPr>
              <a:t> after deposit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858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x.transferTo</a:t>
            </a:r>
            <a:r>
              <a:rPr lang="en-US" dirty="0">
                <a:solidFill>
                  <a:schemeClr val="tx1"/>
                </a:solidFill>
              </a:rPr>
              <a:t>(1,y);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y.transferTo</a:t>
            </a:r>
            <a:r>
              <a:rPr lang="en-US" dirty="0">
                <a:solidFill>
                  <a:schemeClr val="tx1"/>
                </a:solidFill>
              </a:rPr>
              <a:t>(1,x);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355600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after </a:t>
            </a:r>
            <a:r>
              <a:rPr lang="en-US" dirty="0" err="1">
                <a:solidFill>
                  <a:schemeClr val="tx1"/>
                </a:solidFill>
              </a:rPr>
              <a:t>depost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 </a:t>
            </a:r>
            <a:r>
              <a:rPr lang="en-US" dirty="0">
                <a:solidFill>
                  <a:schemeClr val="tx1"/>
                </a:solidFill>
              </a:rPr>
              <a:t>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182F8-642A-68C5-38B4-4E1AD6C388B6}"/>
              </a:ext>
            </a:extLst>
          </p:cNvPr>
          <p:cNvSpPr/>
          <p:nvPr/>
        </p:nvSpPr>
        <p:spPr>
          <a:xfrm>
            <a:off x="6257729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</a:t>
            </a:r>
            <a:r>
              <a:rPr lang="en-US" dirty="0">
                <a:solidFill>
                  <a:schemeClr val="tx1"/>
                </a:solidFill>
              </a:rPr>
              <a:t> after deposit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966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E02C-5673-38D6-4439-D43D5A72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0BB86-88A0-A30B-3F0C-216BDA9EB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Option 1: Address the “multiple locks” requirement</a:t>
            </a:r>
          </a:p>
          <a:p>
            <a:pPr lvl="1"/>
            <a:r>
              <a:rPr lang="en-US" dirty="0"/>
              <a:t>Have a coarser lock granularity</a:t>
            </a:r>
          </a:p>
          <a:p>
            <a:pPr lvl="1"/>
            <a:r>
              <a:rPr lang="en-US" dirty="0"/>
              <a:t>E.g. one lock for ALL bank accounts</a:t>
            </a:r>
          </a:p>
          <a:p>
            <a:r>
              <a:rPr lang="en-US" dirty="0"/>
              <a:t>Option 2: Address the “held at the same time” requirement</a:t>
            </a:r>
          </a:p>
          <a:p>
            <a:pPr lvl="1"/>
            <a:r>
              <a:rPr lang="en-US" dirty="0"/>
              <a:t>Have a finer critical section so that only one lock is needed at a time</a:t>
            </a:r>
          </a:p>
          <a:p>
            <a:pPr lvl="1"/>
            <a:r>
              <a:rPr lang="en-US" dirty="0"/>
              <a:t>E.g. instead of a synchronized </a:t>
            </a:r>
            <a:r>
              <a:rPr lang="en-US" dirty="0" err="1"/>
              <a:t>transferTo</a:t>
            </a:r>
            <a:r>
              <a:rPr lang="en-US" dirty="0"/>
              <a:t>, have the withdraw and deposit steps locked separately</a:t>
            </a:r>
          </a:p>
          <a:p>
            <a:r>
              <a:rPr lang="en-US" dirty="0"/>
              <a:t>Option 3: Address the “acquired in multiple orders” requirement</a:t>
            </a:r>
          </a:p>
          <a:p>
            <a:pPr lvl="1"/>
            <a:r>
              <a:rPr lang="en-US" dirty="0"/>
              <a:t>Force the threads to always acquire the locks in the same order</a:t>
            </a:r>
          </a:p>
          <a:p>
            <a:pPr lvl="1"/>
            <a:r>
              <a:rPr lang="en-US" dirty="0"/>
              <a:t>E.g. make </a:t>
            </a:r>
            <a:r>
              <a:rPr lang="en-US" dirty="0" err="1"/>
              <a:t>transferTo</a:t>
            </a:r>
            <a:r>
              <a:rPr lang="en-US" dirty="0"/>
              <a:t> acquire both locks before doing either the withdraw or deposit, make sure both threads agree on the order to </a:t>
            </a:r>
            <a:r>
              <a:rPr lang="en-US" dirty="0" err="1"/>
              <a:t>aquire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393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1: Coarser 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static final Object BANK = new Object();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synchronized(BANK){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35221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Finer 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36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synchronized(this){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synchronized(a){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721836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3675"/>
            <a:ext cx="10515600" cy="1325563"/>
          </a:xfrm>
        </p:spPr>
        <p:txBody>
          <a:bodyPr/>
          <a:lstStyle/>
          <a:p>
            <a:r>
              <a:rPr lang="en-US" dirty="0"/>
              <a:t>Option 3: First Get All Locks In A Fixed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1840"/>
            <a:ext cx="10515600" cy="61874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if (</a:t>
            </a:r>
            <a:r>
              <a:rPr lang="en-US" dirty="0" err="1"/>
              <a:t>this.acctNum</a:t>
            </a:r>
            <a:r>
              <a:rPr lang="en-US" dirty="0"/>
              <a:t> &lt; </a:t>
            </a:r>
            <a:r>
              <a:rPr lang="en-US" dirty="0" err="1"/>
              <a:t>a.acctNum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synchronized(this){</a:t>
            </a:r>
          </a:p>
          <a:p>
            <a:pPr marL="0" indent="0">
              <a:buNone/>
            </a:pPr>
            <a:r>
              <a:rPr lang="en-US" dirty="0"/>
              <a:t>				synchronized(a){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} }</a:t>
            </a:r>
          </a:p>
          <a:p>
            <a:pPr marL="0" indent="0">
              <a:buNone/>
            </a:pPr>
            <a:r>
              <a:rPr lang="en-US" dirty="0"/>
              <a:t>		else {</a:t>
            </a:r>
          </a:p>
          <a:p>
            <a:pPr marL="0" indent="0">
              <a:buNone/>
            </a:pPr>
            <a:r>
              <a:rPr lang="en-US" dirty="0"/>
              <a:t>			synchronized(a){</a:t>
            </a:r>
          </a:p>
          <a:p>
            <a:pPr marL="0" indent="0">
              <a:buNone/>
            </a:pPr>
            <a:r>
              <a:rPr lang="en-US" dirty="0"/>
              <a:t>				synchronized(this){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} }		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218861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8F22-9A08-0993-D878-46864D92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Code Conventional Wisdom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32497-4370-4006-0BE4-92CEAB21A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448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F9FC-FCC2-7595-4DA6-972C382C3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EF2E3-1391-65DE-BDE7-03579C50B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memory must fit one of three categories: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Thread Local: Each thread has its own copy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Shared and Immutable: There is just one copy, but nothing will ever write to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Shared and Mutable: There is just one copy, it may change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Requires Synchronization!</a:t>
            </a:r>
          </a:p>
        </p:txBody>
      </p:sp>
    </p:spTree>
    <p:extLst>
      <p:ext uri="{BB962C8B-B14F-4D97-AF65-F5344CB8AC3E}">
        <p14:creationId xmlns:p14="http://schemas.microsoft.com/office/powerpoint/2010/main" val="3791496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891D-8375-FE99-21C6-EBE114E1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Local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5F66-6709-670F-93F3-2247BD9C7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avoid sharing resources</a:t>
            </a:r>
          </a:p>
          <a:p>
            <a:r>
              <a:rPr lang="en-US" dirty="0"/>
              <a:t>Dodges all race conditions, since no other threads can touch it!</a:t>
            </a:r>
          </a:p>
          <a:p>
            <a:pPr lvl="1"/>
            <a:r>
              <a:rPr lang="en-US" dirty="0"/>
              <a:t>No synchronization necessary! (Remember </a:t>
            </a:r>
            <a:r>
              <a:rPr lang="en-US" dirty="0" err="1"/>
              <a:t>Ahmdal’s</a:t>
            </a:r>
            <a:r>
              <a:rPr lang="en-US" dirty="0"/>
              <a:t> law)</a:t>
            </a:r>
          </a:p>
          <a:p>
            <a:r>
              <a:rPr lang="en-US" dirty="0"/>
              <a:t>Use whenever threads do not need to communicate using the resource</a:t>
            </a:r>
          </a:p>
          <a:p>
            <a:pPr lvl="1"/>
            <a:r>
              <a:rPr lang="en-US" dirty="0"/>
              <a:t>E.g., each thread should have its on Random object</a:t>
            </a:r>
          </a:p>
          <a:p>
            <a:r>
              <a:rPr lang="en-US" dirty="0"/>
              <a:t>In most cases, most objects should be in this category</a:t>
            </a:r>
          </a:p>
        </p:txBody>
      </p:sp>
    </p:spTree>
    <p:extLst>
      <p:ext uri="{BB962C8B-B14F-4D97-AF65-F5344CB8AC3E}">
        <p14:creationId xmlns:p14="http://schemas.microsoft.com/office/powerpoint/2010/main" val="1839542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2544-9CC0-FB0D-054C-7DA324CA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90D9C-3674-310D-619B-0737288B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avoid changing objects</a:t>
            </a:r>
          </a:p>
          <a:p>
            <a:pPr lvl="1"/>
            <a:r>
              <a:rPr lang="en-US" dirty="0"/>
              <a:t>Make new objects instead</a:t>
            </a:r>
          </a:p>
          <a:p>
            <a:r>
              <a:rPr lang="en-US" dirty="0"/>
              <a:t>Parallel reads are not data races</a:t>
            </a:r>
          </a:p>
          <a:p>
            <a:pPr lvl="1"/>
            <a:r>
              <a:rPr lang="en-US" dirty="0"/>
              <a:t>If an object is never written to, no synchronization necessary!</a:t>
            </a:r>
          </a:p>
          <a:p>
            <a:r>
              <a:rPr lang="en-US" dirty="0"/>
              <a:t>Many programmers over-use mutation, minimize it</a:t>
            </a:r>
          </a:p>
        </p:txBody>
      </p:sp>
    </p:spTree>
    <p:extLst>
      <p:ext uri="{BB962C8B-B14F-4D97-AF65-F5344CB8AC3E}">
        <p14:creationId xmlns:p14="http://schemas.microsoft.com/office/powerpoint/2010/main" val="3849426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68A4-910D-48CC-0436-66F2F2FF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and Mutable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1BC2D-B37B-2C4D-BE10-5A3797639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everything else, use locks</a:t>
            </a:r>
          </a:p>
          <a:p>
            <a:r>
              <a:rPr lang="en-US" dirty="0"/>
              <a:t>Avoid all data races</a:t>
            </a:r>
          </a:p>
          <a:p>
            <a:pPr lvl="1"/>
            <a:r>
              <a:rPr lang="en-US" dirty="0"/>
              <a:t>Every read and write should be projected with a lock, even if it “seems safe”</a:t>
            </a:r>
          </a:p>
          <a:p>
            <a:pPr lvl="1"/>
            <a:r>
              <a:rPr lang="en-US" dirty="0"/>
              <a:t>Almost every Java/C program with a data race is wrong</a:t>
            </a:r>
          </a:p>
          <a:p>
            <a:r>
              <a:rPr lang="en-US" dirty="0"/>
              <a:t>Even without data races, it still may be incorrect</a:t>
            </a:r>
          </a:p>
          <a:p>
            <a:pPr lvl="1"/>
            <a:r>
              <a:rPr lang="en-US" dirty="0"/>
              <a:t>Watch for bad </a:t>
            </a:r>
            <a:r>
              <a:rPr lang="en-US" dirty="0" err="1"/>
              <a:t>interleavings</a:t>
            </a:r>
            <a:r>
              <a:rPr lang="en-US" dirty="0"/>
              <a:t> as well!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522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955C-25A9-B2A3-AFBC-4B1D253E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E940-22B3-5589-4120-B555EBEC9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location needing synchronization, have a lock that is always held when reading or writing the location</a:t>
            </a:r>
          </a:p>
          <a:p>
            <a:r>
              <a:rPr lang="en-US" dirty="0"/>
              <a:t>The same lock can (and often should) “guard” multiple fields/objects</a:t>
            </a:r>
          </a:p>
          <a:p>
            <a:pPr lvl="1"/>
            <a:r>
              <a:rPr lang="en-US" dirty="0"/>
              <a:t>Clearly document what each lock guards!</a:t>
            </a:r>
          </a:p>
          <a:p>
            <a:pPr lvl="1"/>
            <a:r>
              <a:rPr lang="en-US" dirty="0"/>
              <a:t>In Java, the lock should usually be the object itself (i.e. “this”)</a:t>
            </a:r>
          </a:p>
          <a:p>
            <a:r>
              <a:rPr lang="en-US" dirty="0"/>
              <a:t>Have a mapping between memory locations and lock objects and stick to it!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1577DD-8FD9-9AD9-885F-3D517938C6E5}"/>
              </a:ext>
            </a:extLst>
          </p:cNvPr>
          <p:cNvSpPr/>
          <p:nvPr/>
        </p:nvSpPr>
        <p:spPr>
          <a:xfrm>
            <a:off x="3393440" y="506984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DA4BCB-B840-E23A-D909-CCF2B6BB9715}"/>
              </a:ext>
            </a:extLst>
          </p:cNvPr>
          <p:cNvSpPr/>
          <p:nvPr/>
        </p:nvSpPr>
        <p:spPr>
          <a:xfrm>
            <a:off x="4582160" y="502412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06CE46-E52A-8089-5737-93BA6D4D0C96}"/>
              </a:ext>
            </a:extLst>
          </p:cNvPr>
          <p:cNvSpPr/>
          <p:nvPr/>
        </p:nvSpPr>
        <p:spPr>
          <a:xfrm>
            <a:off x="3987800" y="506984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12BF3E40-7798-000B-70F0-ABC980897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3987800" y="5713254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B28564-6754-5437-B662-DB42C2261A4C}"/>
              </a:ext>
            </a:extLst>
          </p:cNvPr>
          <p:cNvCxnSpPr>
            <a:cxnSpLocks/>
            <a:stCxn id="4" idx="4"/>
            <a:endCxn id="1026" idx="0"/>
          </p:cNvCxnSpPr>
          <p:nvPr/>
        </p:nvCxnSpPr>
        <p:spPr>
          <a:xfrm>
            <a:off x="3591560" y="5466080"/>
            <a:ext cx="577209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3DC13-B389-D700-8088-2E7A18BAA99C}"/>
              </a:ext>
            </a:extLst>
          </p:cNvPr>
          <p:cNvCxnSpPr>
            <a:cxnSpLocks/>
            <a:stCxn id="6" idx="4"/>
            <a:endCxn id="1026" idx="0"/>
          </p:cNvCxnSpPr>
          <p:nvPr/>
        </p:nvCxnSpPr>
        <p:spPr>
          <a:xfrm flipH="1">
            <a:off x="4168769" y="5466080"/>
            <a:ext cx="17151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507CB1-7832-EEB4-B6A5-C67E1913F643}"/>
              </a:ext>
            </a:extLst>
          </p:cNvPr>
          <p:cNvCxnSpPr>
            <a:cxnSpLocks/>
            <a:stCxn id="5" idx="4"/>
            <a:endCxn id="1026" idx="0"/>
          </p:cNvCxnSpPr>
          <p:nvPr/>
        </p:nvCxnSpPr>
        <p:spPr>
          <a:xfrm flipH="1">
            <a:off x="4168769" y="5420360"/>
            <a:ext cx="611511" cy="29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D000D68-FFF8-4EFD-3C14-C45241A874C9}"/>
              </a:ext>
            </a:extLst>
          </p:cNvPr>
          <p:cNvSpPr/>
          <p:nvPr/>
        </p:nvSpPr>
        <p:spPr>
          <a:xfrm>
            <a:off x="6003931" y="495712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533211-2389-E0D6-BD14-CA40BEB073C4}"/>
              </a:ext>
            </a:extLst>
          </p:cNvPr>
          <p:cNvSpPr/>
          <p:nvPr/>
        </p:nvSpPr>
        <p:spPr>
          <a:xfrm>
            <a:off x="7192651" y="491140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19673F94-4B64-11B3-33A6-4DBBD8B777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6598291" y="5600542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237DFB-6235-79F0-97A7-B6D83CC0FEA2}"/>
              </a:ext>
            </a:extLst>
          </p:cNvPr>
          <p:cNvCxnSpPr>
            <a:cxnSpLocks/>
            <a:stCxn id="16" idx="4"/>
            <a:endCxn id="19" idx="0"/>
          </p:cNvCxnSpPr>
          <p:nvPr/>
        </p:nvCxnSpPr>
        <p:spPr>
          <a:xfrm>
            <a:off x="6202051" y="5353368"/>
            <a:ext cx="577209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8FA8E0-58BD-1596-FB94-73B07082C10E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 flipH="1">
            <a:off x="6779260" y="5307648"/>
            <a:ext cx="611511" cy="29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4D660FD-E3EA-5857-DED0-2FF6289614CF}"/>
              </a:ext>
            </a:extLst>
          </p:cNvPr>
          <p:cNvSpPr/>
          <p:nvPr/>
        </p:nvSpPr>
        <p:spPr>
          <a:xfrm>
            <a:off x="1916116" y="495712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710A18DC-401F-68BA-C1EC-52F5FFF228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1916116" y="5600542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5ACF62-48CF-8852-F989-3128D30DBD3B}"/>
              </a:ext>
            </a:extLst>
          </p:cNvPr>
          <p:cNvCxnSpPr>
            <a:cxnSpLocks/>
            <a:stCxn id="25" idx="4"/>
            <a:endCxn id="26" idx="0"/>
          </p:cNvCxnSpPr>
          <p:nvPr/>
        </p:nvCxnSpPr>
        <p:spPr>
          <a:xfrm flipH="1">
            <a:off x="2097085" y="5353368"/>
            <a:ext cx="17151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2847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CE9F-71A4-091E-38F4-0E9AC18D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0479E-F96C-37FB-4532-C0B632D59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 Grained: Fewer locks guarding more things each</a:t>
            </a:r>
          </a:p>
          <a:p>
            <a:pPr lvl="1"/>
            <a:r>
              <a:rPr lang="en-US" dirty="0"/>
              <a:t>One lock for an entire data structure</a:t>
            </a:r>
          </a:p>
          <a:p>
            <a:pPr lvl="1"/>
            <a:r>
              <a:rPr lang="en-US" dirty="0"/>
              <a:t>One lock shared by multiple objects (e.g. one lock for all bank accounts)</a:t>
            </a:r>
          </a:p>
          <a:p>
            <a:r>
              <a:rPr lang="en-US" dirty="0"/>
              <a:t>Fine Grained: More locks guarding fewer things each</a:t>
            </a:r>
          </a:p>
          <a:p>
            <a:pPr lvl="1"/>
            <a:r>
              <a:rPr lang="en-US" dirty="0"/>
              <a:t>One lock per data structure location (e.g. array index)</a:t>
            </a:r>
          </a:p>
          <a:p>
            <a:pPr lvl="1"/>
            <a:r>
              <a:rPr lang="en-US" dirty="0"/>
              <a:t>One lock per object or per field in one object (e.g. one lock for each account)</a:t>
            </a:r>
          </a:p>
          <a:p>
            <a:r>
              <a:rPr lang="en-US" dirty="0"/>
              <a:t>Note: there’s really a continuum between them…</a:t>
            </a:r>
          </a:p>
        </p:txBody>
      </p:sp>
    </p:spTree>
    <p:extLst>
      <p:ext uri="{BB962C8B-B14F-4D97-AF65-F5344CB8AC3E}">
        <p14:creationId xmlns:p14="http://schemas.microsoft.com/office/powerpoint/2010/main" val="3626139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4CA6-1854-5021-AEEB-6D4AA75E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Separate Chaining </a:t>
            </a:r>
            <a:r>
              <a:rPr lang="en-US" dirty="0" err="1"/>
              <a:t>Hashtable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75089-EBD9-F387-17F4-29696B6BF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Coarse-grained: One lock for the entire </a:t>
            </a:r>
            <a:r>
              <a:rPr lang="en-US" dirty="0" err="1"/>
              <a:t>hashtable</a:t>
            </a:r>
            <a:r>
              <a:rPr lang="en-US" dirty="0"/>
              <a:t> </a:t>
            </a:r>
          </a:p>
          <a:p>
            <a:r>
              <a:rPr lang="en-US" dirty="0"/>
              <a:t>Fine-grained: One lock for each bucket </a:t>
            </a:r>
          </a:p>
          <a:p>
            <a:r>
              <a:rPr lang="en-US" dirty="0"/>
              <a:t>Which supports more parallelism in insert and find?</a:t>
            </a:r>
          </a:p>
          <a:p>
            <a:r>
              <a:rPr lang="en-US" dirty="0"/>
              <a:t>Which makes rehashing easier?</a:t>
            </a:r>
          </a:p>
          <a:p>
            <a:r>
              <a:rPr lang="en-US" dirty="0"/>
              <a:t>What happens if you want to have a size field?</a:t>
            </a:r>
          </a:p>
        </p:txBody>
      </p:sp>
    </p:spTree>
    <p:extLst>
      <p:ext uri="{BB962C8B-B14F-4D97-AF65-F5344CB8AC3E}">
        <p14:creationId xmlns:p14="http://schemas.microsoft.com/office/powerpoint/2010/main" val="24502497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C1A01-CF23-81CE-05E5-CE64EE39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8F36-3486-B957-F723-92EF8DB08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Coarse-Grained Locking:</a:t>
            </a:r>
          </a:p>
          <a:p>
            <a:pPr lvl="1"/>
            <a:r>
              <a:rPr lang="en-US" dirty="0"/>
              <a:t>Simpler to implement and avoid race conditions</a:t>
            </a:r>
          </a:p>
          <a:p>
            <a:pPr lvl="1"/>
            <a:r>
              <a:rPr lang="en-US" dirty="0"/>
              <a:t>Faster/easier to implement operations that access multiple locations (because all guarded by the same lock) </a:t>
            </a:r>
          </a:p>
          <a:p>
            <a:pPr lvl="1"/>
            <a:r>
              <a:rPr lang="en-US" dirty="0"/>
              <a:t>Much easier for operations that modify data-structure shape</a:t>
            </a:r>
          </a:p>
          <a:p>
            <a:r>
              <a:rPr lang="en-US" dirty="0"/>
              <a:t>Fine-Grained Locking:</a:t>
            </a:r>
          </a:p>
          <a:p>
            <a:pPr lvl="1"/>
            <a:r>
              <a:rPr lang="en-US" dirty="0"/>
              <a:t>More simultaneous access (performance when coarse grained would lead to unnecessary blocking) </a:t>
            </a:r>
          </a:p>
          <a:p>
            <a:pPr lvl="1"/>
            <a:r>
              <a:rPr lang="en-US" dirty="0"/>
              <a:t>Can make multi-location operations more difficult: say, rotations in an AVL tree</a:t>
            </a:r>
          </a:p>
          <a:p>
            <a:r>
              <a:rPr lang="en-US" dirty="0"/>
              <a:t>Guideline:</a:t>
            </a:r>
          </a:p>
          <a:p>
            <a:pPr lvl="1"/>
            <a:r>
              <a:rPr lang="en-US" dirty="0"/>
              <a:t>Start with coarse-grained, make finer only as necessary to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652732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DF02-FA78-B96F-86DD-2652C9EA6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 But Separate Issue: Critical Section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E8E75-4589-EA1E-4DF3-1CA20E41F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Coarse-grained</a:t>
            </a:r>
          </a:p>
          <a:p>
            <a:pPr lvl="1"/>
            <a:r>
              <a:rPr lang="en-US" dirty="0"/>
              <a:t>For every method that needs a lock, put the entire method body in a lock</a:t>
            </a:r>
          </a:p>
          <a:p>
            <a:r>
              <a:rPr lang="en-US" dirty="0"/>
              <a:t>Fine-grained</a:t>
            </a:r>
          </a:p>
          <a:p>
            <a:pPr lvl="1"/>
            <a:r>
              <a:rPr lang="en-US" dirty="0"/>
              <a:t>Keep the lock only for the sections of code where it’s necessary</a:t>
            </a:r>
          </a:p>
          <a:p>
            <a:r>
              <a:rPr lang="en-US" dirty="0"/>
              <a:t>Guideline:</a:t>
            </a:r>
          </a:p>
          <a:p>
            <a:pPr lvl="1"/>
            <a:r>
              <a:rPr lang="en-US" dirty="0"/>
              <a:t>Try to structure code so that expensive operations (like I/O) can be done outside of your critical section</a:t>
            </a:r>
          </a:p>
          <a:p>
            <a:pPr lvl="1"/>
            <a:r>
              <a:rPr lang="en-US" dirty="0"/>
              <a:t>E.g., if you’re trying to print all the values in a tree, maybe copy items into an array inside your critical section, then print the array’s contents outside.</a:t>
            </a:r>
          </a:p>
        </p:txBody>
      </p:sp>
    </p:spTree>
    <p:extLst>
      <p:ext uri="{BB962C8B-B14F-4D97-AF65-F5344CB8AC3E}">
        <p14:creationId xmlns:p14="http://schemas.microsoft.com/office/powerpoint/2010/main" val="4056517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D581-6E2B-54C1-90F9-E93A6CB5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661FC-6A57-8CB3-802A-294E8FE1C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Atomic: indivisible</a:t>
            </a:r>
          </a:p>
          <a:p>
            <a:r>
              <a:rPr lang="en-US" dirty="0"/>
              <a:t>Atomic operation: one that should be thought of as a single step</a:t>
            </a:r>
          </a:p>
          <a:p>
            <a:r>
              <a:rPr lang="en-US" dirty="0"/>
              <a:t>Some sequences of operations should behave as if they are one unit</a:t>
            </a:r>
          </a:p>
          <a:p>
            <a:pPr lvl="1"/>
            <a:r>
              <a:rPr lang="en-US" dirty="0"/>
              <a:t>Between two operations you may need to avoid exposing an intermediate state</a:t>
            </a:r>
          </a:p>
          <a:p>
            <a:pPr lvl="1"/>
            <a:r>
              <a:rPr lang="en-US" dirty="0"/>
              <a:t>Usually ADT operations should be atomic </a:t>
            </a:r>
          </a:p>
          <a:p>
            <a:pPr lvl="2"/>
            <a:r>
              <a:rPr lang="en-US" dirty="0"/>
              <a:t>You don’t want another thread trying to do an insert while another thread is rotating the AVL tree</a:t>
            </a:r>
          </a:p>
          <a:p>
            <a:r>
              <a:rPr lang="en-US" dirty="0"/>
              <a:t>Think first in terms of what operations need to be atomic</a:t>
            </a:r>
          </a:p>
          <a:p>
            <a:pPr lvl="1"/>
            <a:r>
              <a:rPr lang="en-US" dirty="0"/>
              <a:t>Design critical sections and locking granularity based on these decisions</a:t>
            </a:r>
          </a:p>
        </p:txBody>
      </p:sp>
    </p:spTree>
    <p:extLst>
      <p:ext uri="{BB962C8B-B14F-4D97-AF65-F5344CB8AC3E}">
        <p14:creationId xmlns:p14="http://schemas.microsoft.com/office/powerpoint/2010/main" val="24934695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1513-6257-4293-7965-2B7E9E3A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Pre-Tested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C62B-845C-D299-42D4-0CD1A84A5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use built-in libraries!</a:t>
            </a:r>
          </a:p>
          <a:p>
            <a:r>
              <a:rPr lang="en-US" dirty="0"/>
              <a:t>Other people have already invested tons of effort into making things both efficient and correct, use their work when you can!</a:t>
            </a:r>
          </a:p>
          <a:p>
            <a:pPr lvl="1"/>
            <a:r>
              <a:rPr lang="en-US" dirty="0"/>
              <a:t>Especially true for concurrent data structures</a:t>
            </a:r>
          </a:p>
          <a:p>
            <a:pPr lvl="1"/>
            <a:r>
              <a:rPr lang="en-US" dirty="0"/>
              <a:t>Use thread-safe data structures when available</a:t>
            </a:r>
          </a:p>
          <a:p>
            <a:pPr lvl="2"/>
            <a:r>
              <a:rPr lang="en-US" dirty="0"/>
              <a:t>E.g. Java as </a:t>
            </a:r>
            <a:r>
              <a:rPr lang="en-US" dirty="0" err="1"/>
              <a:t>ConcurrentHashMap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5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34352</TotalTime>
  <Words>4032</Words>
  <Application>Microsoft Office PowerPoint</Application>
  <PresentationFormat>Widescreen</PresentationFormat>
  <Paragraphs>546</Paragraphs>
  <Slides>46</Slides>
  <Notes>0</Notes>
  <HiddenSlides>12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CSE 332 Winter 2026 Lecture 19: Concurrency 2</vt:lpstr>
      <vt:lpstr>Interleaving</vt:lpstr>
      <vt:lpstr>Concurrent Programming</vt:lpstr>
      <vt:lpstr>A Bad attempt at Mutual Exclusion</vt:lpstr>
      <vt:lpstr>Solution</vt:lpstr>
      <vt:lpstr>Correct Withdraw</vt:lpstr>
      <vt:lpstr>Solution: getBalance needs the lock</vt:lpstr>
      <vt:lpstr>Re-entrant Lock Details</vt:lpstr>
      <vt:lpstr>Java’s Re-entrant Lock Class</vt:lpstr>
      <vt:lpstr>How this looks in Java</vt:lpstr>
      <vt:lpstr>Java Synchronized Keyword</vt:lpstr>
      <vt:lpstr>Back Account Using Synchronize (version 1)</vt:lpstr>
      <vt:lpstr>Back Account Using Synchronize (version 2)</vt:lpstr>
      <vt:lpstr>More Syntactic Sugar!</vt:lpstr>
      <vt:lpstr>Back Account Using Synchronize (Final)</vt:lpstr>
      <vt:lpstr>Concurrency Races</vt:lpstr>
      <vt:lpstr>Example: Shared Stack (no problems so far)</vt:lpstr>
      <vt:lpstr>Race Condition, but no Data Race</vt:lpstr>
      <vt:lpstr>Two Peeks Break LIFO Order</vt:lpstr>
      <vt:lpstr>Race Condition, including a Data Race</vt:lpstr>
      <vt:lpstr>Peek and isEmpty</vt:lpstr>
      <vt:lpstr>Peek and Push</vt:lpstr>
      <vt:lpstr>Peek and Push</vt:lpstr>
      <vt:lpstr>How to fix this?</vt:lpstr>
      <vt:lpstr>Fixed!</vt:lpstr>
      <vt:lpstr>Did this fix it?</vt:lpstr>
      <vt:lpstr>Deadlock</vt:lpstr>
      <vt:lpstr>Bank Account</vt:lpstr>
      <vt:lpstr>Deadlock Example</vt:lpstr>
      <vt:lpstr>Deadlock Example</vt:lpstr>
      <vt:lpstr>Resolving Deadlocks</vt:lpstr>
      <vt:lpstr>Option 1: Coarser Locking</vt:lpstr>
      <vt:lpstr>Option 2: Finer Critical Section</vt:lpstr>
      <vt:lpstr>Option 3: First Get All Locks In A Fixed Order</vt:lpstr>
      <vt:lpstr>Parallel Code Conventional Wisdom</vt:lpstr>
      <vt:lpstr>Memory Categories</vt:lpstr>
      <vt:lpstr>Thread Local Memory</vt:lpstr>
      <vt:lpstr>Immutable Objects</vt:lpstr>
      <vt:lpstr>Shared and Mutable Objects</vt:lpstr>
      <vt:lpstr>Consistent Locking</vt:lpstr>
      <vt:lpstr>Lock Granularity</vt:lpstr>
      <vt:lpstr>Example: Separate Chaining Hashtable</vt:lpstr>
      <vt:lpstr>Tradeoffs</vt:lpstr>
      <vt:lpstr>Similar But Separate Issue: Critical Section Granularity</vt:lpstr>
      <vt:lpstr>Atomicity</vt:lpstr>
      <vt:lpstr>Use Pre-Tested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309</cp:revision>
  <dcterms:created xsi:type="dcterms:W3CDTF">2023-10-13T16:06:42Z</dcterms:created>
  <dcterms:modified xsi:type="dcterms:W3CDTF">2026-02-27T14:36:39Z</dcterms:modified>
</cp:coreProperties>
</file>