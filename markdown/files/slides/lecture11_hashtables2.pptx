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386" r:id="rId3"/>
    <p:sldId id="336" r:id="rId4"/>
    <p:sldId id="387" r:id="rId5"/>
    <p:sldId id="349" r:id="rId6"/>
    <p:sldId id="351" r:id="rId7"/>
    <p:sldId id="401" r:id="rId8"/>
    <p:sldId id="378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7" r:id="rId19"/>
    <p:sldId id="398" r:id="rId20"/>
    <p:sldId id="399" r:id="rId21"/>
    <p:sldId id="400" r:id="rId22"/>
    <p:sldId id="365" r:id="rId23"/>
    <p:sldId id="370" r:id="rId24"/>
    <p:sldId id="385" r:id="rId25"/>
    <p:sldId id="373" r:id="rId26"/>
    <p:sldId id="375" r:id="rId27"/>
    <p:sldId id="374" r:id="rId28"/>
    <p:sldId id="366" r:id="rId29"/>
    <p:sldId id="368" r:id="rId30"/>
    <p:sldId id="369" r:id="rId31"/>
    <p:sldId id="376" r:id="rId32"/>
    <p:sldId id="377" r:id="rId33"/>
  </p:sldIdLst>
  <p:sldSz cx="12192000" cy="6858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1" autoAdjust="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11: hashing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 - Unordered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strike="sngStrike" dirty="0"/>
              <a:t>Keys must be comparable</a:t>
            </a:r>
            <a:r>
              <a:rPr lang="en-US" dirty="0"/>
              <a:t> Keys have a hash function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</p:spTree>
    <p:extLst>
      <p:ext uri="{BB962C8B-B14F-4D97-AF65-F5344CB8AC3E}">
        <p14:creationId xmlns:p14="http://schemas.microsoft.com/office/powerpoint/2010/main" val="3564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FC2A-BFAD-154C-CB01-688AAE7F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 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35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714925" r="-22397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714925" r="-13986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714925" r="-976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802941" r="-22397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802941" r="-13986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802941" r="-976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91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BAF4-F1F4-9C84-F186-4A0326FB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22E5-FF63-9465-BBF3-027FF5402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Have a small array to store information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hash function</a:t>
            </a:r>
            <a:r>
              <a:rPr lang="en-US" dirty="0"/>
              <a:t> to convert the key into an index</a:t>
            </a:r>
          </a:p>
          <a:p>
            <a:pPr lvl="2"/>
            <a:r>
              <a:rPr lang="en-US" dirty="0"/>
              <a:t>Hash function should “scatter” the keys, behave as if it randomly assigned keys to indices</a:t>
            </a:r>
          </a:p>
          <a:p>
            <a:pPr lvl="1"/>
            <a:r>
              <a:rPr lang="en-US" dirty="0"/>
              <a:t>Store key at the index given by the hash function</a:t>
            </a:r>
          </a:p>
          <a:p>
            <a:pPr lvl="1"/>
            <a:r>
              <a:rPr lang="en-US" dirty="0"/>
              <a:t>Do something if two keys map to the same place (should be very rare)</a:t>
            </a:r>
          </a:p>
          <a:p>
            <a:pPr lvl="2"/>
            <a:r>
              <a:rPr lang="en-US" dirty="0"/>
              <a:t>Collision resolution</a:t>
            </a:r>
          </a:p>
        </p:txBody>
      </p:sp>
      <p:grpSp>
        <p:nvGrpSpPr>
          <p:cNvPr id="16" name="Group 15" descr="For each operation we will be given a key object.">
            <a:extLst>
              <a:ext uri="{FF2B5EF4-FFF2-40B4-BE49-F238E27FC236}">
                <a16:creationId xmlns:a16="http://schemas.microsoft.com/office/drawing/2014/main" id="{E33969F7-B6FB-C649-85E2-626BA79B8CF1}"/>
              </a:ext>
            </a:extLst>
          </p:cNvPr>
          <p:cNvGrpSpPr/>
          <p:nvPr/>
        </p:nvGrpSpPr>
        <p:grpSpPr>
          <a:xfrm>
            <a:off x="713741" y="5164328"/>
            <a:ext cx="1300479" cy="1147572"/>
            <a:chOff x="713741" y="5164328"/>
            <a:chExt cx="1300479" cy="1147572"/>
          </a:xfrm>
        </p:grpSpPr>
        <p:pic>
          <p:nvPicPr>
            <p:cNvPr id="1026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A711E177-0A03-6A78-A571-9F53531A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5164328"/>
              <a:ext cx="1252220" cy="751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BC6414-62CE-EA22-FB80-F74A3FDF0CD2}"/>
                </a:ext>
              </a:extLst>
            </p:cNvPr>
            <p:cNvSpPr txBox="1"/>
            <p:nvPr/>
          </p:nvSpPr>
          <p:spPr>
            <a:xfrm>
              <a:off x="713741" y="5942568"/>
              <a:ext cx="1190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 Object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/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66459D7-FB1D-BBF7-141C-D2577C0E01B4}"/>
              </a:ext>
            </a:extLst>
          </p:cNvPr>
          <p:cNvSpPr txBox="1"/>
          <p:nvPr/>
        </p:nvSpPr>
        <p:spPr>
          <a:xfrm>
            <a:off x="3360260" y="5355328"/>
            <a:ext cx="142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Integer</a:t>
            </a:r>
          </a:p>
        </p:txBody>
      </p:sp>
      <p:sp>
        <p:nvSpPr>
          <p:cNvPr id="17" name="Arrow: Right 16" descr="Next we perform a modulus operation on that integer to select an index of an array for our insert, find, and delete operations.">
            <a:extLst>
              <a:ext uri="{FF2B5EF4-FFF2-40B4-BE49-F238E27FC236}">
                <a16:creationId xmlns:a16="http://schemas.microsoft.com/office/drawing/2014/main" id="{B5298C6D-A5AF-44EB-717D-6711EFE60FC8}"/>
              </a:ext>
            </a:extLst>
          </p:cNvPr>
          <p:cNvSpPr/>
          <p:nvPr/>
        </p:nvSpPr>
        <p:spPr>
          <a:xfrm>
            <a:off x="4754350" y="4783932"/>
            <a:ext cx="2037080" cy="14605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Insert / find /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delete</a:t>
            </a:r>
          </a:p>
        </p:txBody>
      </p:sp>
      <p:grpSp>
        <p:nvGrpSpPr>
          <p:cNvPr id="20" name="Group 19" descr="Our array stores key-value pairs. The index used depends on the result of applying the hash function to the key and then modding by the array's length.">
            <a:extLst>
              <a:ext uri="{FF2B5EF4-FFF2-40B4-BE49-F238E27FC236}">
                <a16:creationId xmlns:a16="http://schemas.microsoft.com/office/drawing/2014/main" id="{2C8BA4EC-B7F1-49C0-3B37-79801EE19605}"/>
              </a:ext>
            </a:extLst>
          </p:cNvPr>
          <p:cNvGrpSpPr/>
          <p:nvPr/>
        </p:nvGrpSpPr>
        <p:grpSpPr>
          <a:xfrm>
            <a:off x="6906260" y="5164328"/>
            <a:ext cx="5120640" cy="640080"/>
            <a:chOff x="6906260" y="5164328"/>
            <a:chExt cx="5120640" cy="6400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5CEE9F9-2EBE-4CC1-9403-3C322B3D011A}"/>
                </a:ext>
              </a:extLst>
            </p:cNvPr>
            <p:cNvGrpSpPr/>
            <p:nvPr/>
          </p:nvGrpSpPr>
          <p:grpSpPr>
            <a:xfrm>
              <a:off x="6906260" y="5164328"/>
              <a:ext cx="5120640" cy="640080"/>
              <a:chOff x="1470660" y="4001294"/>
              <a:chExt cx="5120640" cy="64008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15F891-EABE-C715-0CC0-B077530D6B06}"/>
                  </a:ext>
                </a:extLst>
              </p:cNvPr>
              <p:cNvSpPr/>
              <p:nvPr/>
            </p:nvSpPr>
            <p:spPr>
              <a:xfrm>
                <a:off x="14706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16793F-F73D-8588-59C0-B5CD1713D13C}"/>
                  </a:ext>
                </a:extLst>
              </p:cNvPr>
              <p:cNvSpPr/>
              <p:nvPr/>
            </p:nvSpPr>
            <p:spPr>
              <a:xfrm>
                <a:off x="21107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F5FE7C-60F8-DCCD-71CA-23CCA50514E5}"/>
                  </a:ext>
                </a:extLst>
              </p:cNvPr>
              <p:cNvSpPr/>
              <p:nvPr/>
            </p:nvSpPr>
            <p:spPr>
              <a:xfrm>
                <a:off x="27508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908263-8B67-5D74-ACF7-D2EF2DE9F6C9}"/>
                  </a:ext>
                </a:extLst>
              </p:cNvPr>
              <p:cNvSpPr/>
              <p:nvPr/>
            </p:nvSpPr>
            <p:spPr>
              <a:xfrm>
                <a:off x="339090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5C47B54-CFE9-D28C-B605-0944181CD613}"/>
                  </a:ext>
                </a:extLst>
              </p:cNvPr>
              <p:cNvSpPr/>
              <p:nvPr/>
            </p:nvSpPr>
            <p:spPr>
              <a:xfrm>
                <a:off x="403098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809D88-9346-16AB-47D9-15E1AB178F52}"/>
                  </a:ext>
                </a:extLst>
              </p:cNvPr>
              <p:cNvSpPr/>
              <p:nvPr/>
            </p:nvSpPr>
            <p:spPr>
              <a:xfrm>
                <a:off x="46710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30064F-7EE5-1285-D430-ECA89FA194B5}"/>
                  </a:ext>
                </a:extLst>
              </p:cNvPr>
              <p:cNvSpPr/>
              <p:nvPr/>
            </p:nvSpPr>
            <p:spPr>
              <a:xfrm>
                <a:off x="53111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35BB3CB-8E1A-CB22-7ACF-36852255E9A8}"/>
                  </a:ext>
                </a:extLst>
              </p:cNvPr>
              <p:cNvSpPr/>
              <p:nvPr/>
            </p:nvSpPr>
            <p:spPr>
              <a:xfrm>
                <a:off x="59512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8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54070E1C-8E07-4C18-0042-FC895ADDBE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3118" y="5185664"/>
              <a:ext cx="513663" cy="308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AE7921-37C6-D987-ECCC-13611CBD6373}"/>
                </a:ext>
              </a:extLst>
            </p:cNvPr>
            <p:cNvSpPr txBox="1"/>
            <p:nvPr/>
          </p:nvSpPr>
          <p:spPr>
            <a:xfrm>
              <a:off x="8100060" y="5435076"/>
              <a:ext cx="8148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&amp; 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1117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3157-9EDB-A5A0-CA4E-45FD834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 “Good”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E848-4314-D161-07CD-DB538594E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Definition: A hash function maps objects to integers</a:t>
            </a:r>
          </a:p>
          <a:p>
            <a:r>
              <a:rPr lang="en-US" dirty="0"/>
              <a:t>Goal: A hash function should behave as if every key is assigned to a random index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Consistent</a:t>
            </a:r>
          </a:p>
          <a:p>
            <a:pPr lvl="1"/>
            <a:r>
              <a:rPr lang="en-US" dirty="0"/>
              <a:t>Objects considered “equal” should hash to the same value</a:t>
            </a:r>
          </a:p>
          <a:p>
            <a:pPr lvl="1"/>
            <a:r>
              <a:rPr lang="en-US" dirty="0"/>
              <a:t>Deterministic: running the hash function on the same object twice should yield the same result</a:t>
            </a:r>
          </a:p>
          <a:p>
            <a:r>
              <a:rPr lang="en-US" b="1" dirty="0"/>
              <a:t>Uniform</a:t>
            </a:r>
          </a:p>
          <a:p>
            <a:pPr lvl="1"/>
            <a:r>
              <a:rPr lang="en-US" dirty="0"/>
              <a:t>Should be able to use every index in a fixed-size array</a:t>
            </a:r>
          </a:p>
          <a:p>
            <a:pPr lvl="1"/>
            <a:r>
              <a:rPr lang="en-US" dirty="0"/>
              <a:t>Should use every index at roughly equal rates</a:t>
            </a:r>
            <a:endParaRPr lang="en-US" b="1" dirty="0"/>
          </a:p>
          <a:p>
            <a:r>
              <a:rPr lang="en-US" b="1" dirty="0"/>
              <a:t>Effective</a:t>
            </a:r>
            <a:endParaRPr lang="en-US" dirty="0"/>
          </a:p>
          <a:p>
            <a:pPr lvl="1"/>
            <a:r>
              <a:rPr lang="en-US" dirty="0"/>
              <a:t>It should be difficult to find two objects which hash to the same value</a:t>
            </a:r>
          </a:p>
          <a:p>
            <a:pPr lvl="1"/>
            <a:r>
              <a:rPr lang="en-US" dirty="0"/>
              <a:t>Given on object, it should be hard to find a different object which hashes to the same value</a:t>
            </a:r>
          </a:p>
          <a:p>
            <a:pPr lvl="1"/>
            <a:r>
              <a:rPr lang="en-US" dirty="0"/>
              <a:t>“Avalanche effect”: making a small change to the object yields big changes in the value it hashes to</a:t>
            </a:r>
          </a:p>
          <a:p>
            <a:r>
              <a:rPr lang="en-US" b="1" dirty="0"/>
              <a:t>Efficient</a:t>
            </a:r>
          </a:p>
          <a:p>
            <a:pPr lvl="1"/>
            <a:r>
              <a:rPr lang="en-US" dirty="0"/>
              <a:t>Time to calculate the hash should be very small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033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18AD-8782-101D-71B2-AACF88D7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These Hash Functions (for strings)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277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B21B-983A-7F4D-AB2A-1B8088E5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7551-8A02-8C7A-602B-6AAC9CB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Those Example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and possibly uniform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uniform, and effective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effective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11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667C-B941-C501-51C7-D8216993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349D-FC71-54C6-22B8-58D6B00A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Supposing we have a “good” hash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insert(key, value){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h = </a:t>
            </a:r>
            <a:r>
              <a:rPr lang="en-US" dirty="0" err="1">
                <a:latin typeface="Consolas" panose="020B0609020204030204" pitchFamily="49" charset="0"/>
              </a:rPr>
              <a:t>key.hash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table[h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r>
              <a:rPr lang="en-US" dirty="0">
                <a:latin typeface="Consolas" panose="020B0609020204030204" pitchFamily="49" charset="0"/>
              </a:rPr>
              <a:t>] = value;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Problem: It’s possible that two different keys map to the same index!</a:t>
            </a:r>
          </a:p>
          <a:p>
            <a:pPr marL="0" indent="0">
              <a:buNone/>
            </a:pPr>
            <a:r>
              <a:rPr lang="en-US" dirty="0"/>
              <a:t>This is called a “collision”</a:t>
            </a:r>
          </a:p>
        </p:txBody>
      </p:sp>
    </p:spTree>
    <p:extLst>
      <p:ext uri="{BB962C8B-B14F-4D97-AF65-F5344CB8AC3E}">
        <p14:creationId xmlns:p14="http://schemas.microsoft.com/office/powerpoint/2010/main" val="23506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A8AF-72A5-B472-A0CD-E37AFD3D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7292A-1917-0E43-0B96-34F56EC9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Collision occurs when we want to insert something into an already-occupied position in the hash table</a:t>
            </a:r>
          </a:p>
          <a:p>
            <a:r>
              <a:rPr lang="en-US" dirty="0"/>
              <a:t>2 main strategies:</a:t>
            </a:r>
          </a:p>
          <a:p>
            <a:pPr lvl="1"/>
            <a:r>
              <a:rPr lang="en-US" dirty="0"/>
              <a:t>Separate Chaining</a:t>
            </a:r>
          </a:p>
          <a:p>
            <a:pPr lvl="2"/>
            <a:r>
              <a:rPr lang="en-US" dirty="0"/>
              <a:t>Use a secondary data structure to contain the items</a:t>
            </a:r>
          </a:p>
          <a:p>
            <a:pPr lvl="3"/>
            <a:r>
              <a:rPr lang="en-US" dirty="0"/>
              <a:t>E.g. each index in the hash table is itself a linked list</a:t>
            </a:r>
          </a:p>
          <a:p>
            <a:pPr lvl="1"/>
            <a:r>
              <a:rPr lang="en-US" dirty="0"/>
              <a:t>Open Addressing</a:t>
            </a:r>
          </a:p>
          <a:p>
            <a:pPr lvl="2"/>
            <a:r>
              <a:rPr lang="en-US" dirty="0"/>
              <a:t>Use a different spot in the table instead</a:t>
            </a:r>
          </a:p>
          <a:p>
            <a:pPr lvl="3"/>
            <a:r>
              <a:rPr lang="en-US" dirty="0"/>
              <a:t>Linear Probing</a:t>
            </a:r>
          </a:p>
          <a:p>
            <a:pPr lvl="3"/>
            <a:r>
              <a:rPr lang="en-US" dirty="0"/>
              <a:t>Quadratic Probing</a:t>
            </a:r>
          </a:p>
          <a:p>
            <a:pPr lvl="3"/>
            <a:r>
              <a:rPr lang="en-US" dirty="0"/>
              <a:t>Double Hashing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array of size 10">
            <a:extLst>
              <a:ext uri="{FF2B5EF4-FFF2-40B4-BE49-F238E27FC236}">
                <a16:creationId xmlns:a16="http://schemas.microsoft.com/office/drawing/2014/main" id="{AF91B734-73D3-DC0E-2EA2-99B52DE40162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AB576A-E277-4D44-8605-52AA1885F28A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B6B729D-973C-9729-632E-7734BF046430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D280AE4-DF69-9BCF-A1E0-3A8E6BE2B33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8C4FDE-B0DE-2771-370F-1A0C867096C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97DC60-EB0D-24EA-F496-C00651236C4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8589CB5-BA80-50F5-226F-5781BC30B89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1334B41-6AC4-A0BD-25EF-9FB7C063565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AA01879-292C-EAF8-264C-81133339D77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E7C03F-94AB-7223-381C-92C41393769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E6F94F-27FE-D263-E64E-FE7AB20BF7C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F73501A-40F5-F49B-0791-7DCE4C01864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056CA-946D-B557-9168-1E9CA2B477B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E4B604-A8C8-A753-DAD3-56463AC1B8B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40D010B-46BA-24A7-2F9F-E2B5E82325A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DE21E00-A30B-1A54-F38A-541C565F934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F2D1BF-F61C-68D8-1070-7FA83CFF1DF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8FBC60-940C-B628-8C12-BC09ED41F4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443195-B9EA-DE7E-DBA2-00E011DBA1C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800E23E-90B1-5279-C25A-4E2AC8972ED3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77FE1D7-CC95-D643-4744-7214AFBD5D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CB5281-E8A2-F396-0EC9-1F31090E63F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D01229-04B7-F7D8-4C7C-A8A02458CA1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938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>
                <a:latin typeface="Consolas" panose="020B0609020204030204" pitchFamily="49" charset="0"/>
              </a:rPr>
              <a:t>k, v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Add the key-value pair to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F0D0E908-65FA-3B86-F2C7-EB14E6925F15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951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find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704D9272-389E-D58A-0B56-E0F660DB9F59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7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delete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C50485C1-971C-8906-53EB-58262418D02F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1ECDB6-DBDB-A8C5-13B8-D40E0B56F6CF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AA78154-D2A0-BF2C-9B37-89A4A1379974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B331FF7-4ADF-F5C5-5A92-E2E26C322D81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43150A1-3A0C-0E2E-806A-D901BAA46E5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FA6F73-9326-7623-286F-F79D18C948C5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B00C70B-769B-1252-448C-DD9A7F25B82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A2345D6-30A8-DE1D-1642-CCCCDFD9C13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FD4096-164B-4E14-BE95-4D30896294AD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85C0D695-3EA8-5B0F-C8B5-F6B37DA781F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64378A1-329E-3EB3-A369-D972CA452FA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D4BB78-3629-F57F-7936-EEB4230E3113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5268C3D-BFFE-225B-A692-AF99650934DB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4B1FA29-7E34-0841-EC22-1222491D9C3E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A02254A-91CA-3383-8EF6-F5AAF94312F5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117B7E3-7CA7-C371-0E02-C5C5A9B5A6B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1CDC39D-5234-7CFE-F9A7-BFA74A9CBB8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7FECAC9-D12D-95A0-AB8A-DD19A4DFF49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31F0E9C-6E2C-32C5-2754-D26A3538B18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6D4FDA9-756B-31B1-096F-002F125364F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B26DF93-8ABD-57E7-3342-E8BB1220BBEA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9BDE1C0-1567-F432-BFC9-5D6917EBB1F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4E56DA0-CB51-CD5D-0F83-6A455B6DB6CA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FA49A12-E978-D7D8-6386-D6286151FBC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8BF4F05-1F9D-06B3-2DDC-C289E853CCE0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787E9B0-35F3-4A63-957F-9FA7F2B518A2}"/>
                </a:ext>
              </a:extLst>
            </p:cNvPr>
            <p:cNvCxnSpPr>
              <a:cxnSpLocks/>
              <a:stCxn id="48" idx="0"/>
              <a:endCxn id="56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099790F-4528-AB94-CDB3-F6CC4231DE2C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0104CAB-B7CB-EF56-EAD8-BC0CD889224E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E13C852-F822-AC77-8026-CE353C7665DD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51ADFC5-0306-0154-E32F-D9B258F02E0B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2890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08DC-CFA0-51FE-747F-B24C466E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49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8A99-EE1D-8BA1-BF8F-8AE8428F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739B-EF93-6D32-C090-5A36AA6B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 (Answers)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Pick a constant value, resize the array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that constant</a:t>
                </a:r>
              </a:p>
              <a:p>
                <a:pPr lvl="2"/>
                <a:r>
                  <a:rPr lang="en-US" dirty="0"/>
                  <a:t>We’ll talk about which constant we should pick later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36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1</a:t>
            </a:r>
          </a:p>
        </p:txBody>
      </p:sp>
      <p:grpSp>
        <p:nvGrpSpPr>
          <p:cNvPr id="33" name="Group 32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B3CE968D-5F5C-9F08-A69F-AF2588EBB0F0}"/>
              </a:ext>
            </a:extLst>
          </p:cNvPr>
          <p:cNvGrpSpPr/>
          <p:nvPr/>
        </p:nvGrpSpPr>
        <p:grpSpPr>
          <a:xfrm>
            <a:off x="3002280" y="1825625"/>
            <a:ext cx="6400800" cy="2545078"/>
            <a:chOff x="3002280" y="1825625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2858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2</a:t>
            </a:r>
          </a:p>
        </p:txBody>
      </p:sp>
      <p:grpSp>
        <p:nvGrpSpPr>
          <p:cNvPr id="43" name="Group 42" descr="A separate chaining hash table of length 10. Index 2 of the array has 1 item, index 5 has 3 items, index 9 has 4 items, all other indices are empty.&#10;&#10;Because the total number of key-value pairs present is 8, and the length of the array is 10, the load factor is 8/10 = 0.8.">
            <a:extLst>
              <a:ext uri="{FF2B5EF4-FFF2-40B4-BE49-F238E27FC236}">
                <a16:creationId xmlns:a16="http://schemas.microsoft.com/office/drawing/2014/main" id="{B40C2928-5E80-C549-6F11-BEA5EEA6BBD3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479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3</a:t>
            </a:r>
          </a:p>
        </p:txBody>
      </p:sp>
      <p:grpSp>
        <p:nvGrpSpPr>
          <p:cNvPr id="57" name="Group 56" descr="A separate chaining hash table of length 10. Index 0 has 1 item, index 2 has 2 items, index 4 has 1 item, index 5 has 3 items, index 7 has 3 items, index 8 has 1 item, and index 9 has 4 items. All other indices are empty.&#10;&#10;Because the total number of key-value pairs present is 15, and the length of the array is 10, the load factor is 15/10 = 1.5.">
            <a:extLst>
              <a:ext uri="{FF2B5EF4-FFF2-40B4-BE49-F238E27FC236}">
                <a16:creationId xmlns:a16="http://schemas.microsoft.com/office/drawing/2014/main" id="{815CD5D2-D488-0B3B-0D69-B147C56F5636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/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blipFill>
                  <a:blip r:embed="rId10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772FA18-6A5B-A1AF-51F3-05EBCDEAB760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4608512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/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blipFill>
                  <a:blip r:embed="rId11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3F82035-F31B-DDB2-87BB-A0A1AEB721D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flipV="1">
              <a:off x="5841681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/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blipFill>
                  <a:blip r:embed="rId1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0D314E1-854A-65E6-9B7F-C273F6FDE7DA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flipV="1">
              <a:off x="7827325" y="303069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/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blipFill>
                  <a:blip r:embed="rId13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A668F0C-0B35-AA65-2737-CBC7BE8228E2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3360736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/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blipFill>
                  <a:blip r:embed="rId14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F63374C-DE0C-C5B4-3F72-3B27EC9BC237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7827325" y="2315209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/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blipFill>
                  <a:blip r:embed="rId1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40B7F36-8C50-B7B5-8D5D-F7C2197D449B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8447405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/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blipFill>
                  <a:blip r:embed="rId1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8F43A32-977F-43FE-EAAB-FDBF4149C224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 flipV="1">
              <a:off x="7811450" y="160178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9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D21D-C91E-3FE2-2027-49433DFD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C88E4-9BBE-71CC-681D-27A20BEE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there’s a collision, use the next open space in the table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0E33847A-21B7-8D67-70E7-20697D5D828F}"/>
              </a:ext>
            </a:extLst>
          </p:cNvPr>
          <p:cNvGrpSpPr/>
          <p:nvPr/>
        </p:nvGrpSpPr>
        <p:grpSpPr>
          <a:xfrm>
            <a:off x="2895600" y="483806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2483E0-035B-552B-046B-B8CFCDDDA37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A2255D-F389-165E-90CE-D5FDEDDAD427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73DF17-BBDE-7098-679E-F718BD0005E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97686A-BF93-5D4B-62ED-13F2DCF99D2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3DB1FA2-F273-056C-0BC0-3CF45C0F23E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EFCA446-C2F3-17AC-0BE3-69BCB6EC8B5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E15B43A-CE28-5824-C803-3DB155C25B9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50E83A-82AF-5B5F-4819-0B3B5A4A67D4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77FBFB-DD77-940B-BBEF-1081F2AB4D8D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4EC3AB-7728-01B1-C085-C01979A56E1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5AF9B6F-5851-F1D1-4A8F-611B3182AB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CBC511-68D6-8230-0208-019B6D43F0C0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EAA4797-6DEA-8CBE-BAC1-E915143B9341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550FB6-B136-FD0A-CDFB-8DCF58F3E6B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5A14D9-1D9F-1F25-2689-4B160E4CD78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0E096-C2C7-35F2-770A-652F4CB9C336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390E29-9377-939E-4D08-909131F81DF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8A230B-E4DC-C904-C2DD-D6BF5FD6E09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3758B1-9087-D7B1-ABB7-BF5CFE288F8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C2C4802-4643-0124-1D32-E88B8617331A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4B46D2A-B3B0-8BFB-4118-5BA56C95DCC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DB85716-D30D-EBB1-5947-E6BF559FAEB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7001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index </a:t>
            </a:r>
            <a:r>
              <a:rPr lang="en-US" dirty="0">
                <a:latin typeface="Consolas" panose="020B0609020204030204" pitchFamily="49" charset="0"/>
              </a:rPr>
              <a:t>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(i+2)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(i+3)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7012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How to find?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think?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81CB483B-1B51-81A4-998F-C18BDFC7A15B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9E03DE-9160-760E-CF86-C5941F90401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B13D3D-1B90-EAA5-7AFB-EA801C2BB03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FE21E7F-24A9-345B-6179-CE9B6B64048E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08EC2F-4B9F-A549-E285-F4281992943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385E2DE-C98D-9B83-787C-CDCDA12EE20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6E10180-6F3A-3B45-83C4-214CAC8D7CD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778B9FA-5B1A-6BAA-D0ED-497B6D23388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5C5EA0-74A9-C388-4C28-4D4F714373D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DE8AEA-6615-91BD-FFF6-5CBC5567FDB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8753DEE-E10D-C9D8-4695-E23D2D67AB45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618187-A7D6-BE09-20B6-BAA91D197150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31F8DB-D9C0-B9CB-3688-A3070BDBF18E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FB6E01C-853F-A01D-EC7F-ADF1B7503A7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FC6836-E37B-902E-DCCA-42612165BE7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BF1168-2CD5-0057-BC2B-4909F76A33D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BAE604-1186-0894-51A9-CDB7E324458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78DDE3-ACB7-0049-DED7-1DAD1BC7F5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16DDB0-7B34-54E8-8893-11222F305B1A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05449B-00C3-5D02-3BCE-87B9791D97F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F1FDF2D-2EED-BE48-04B0-683CDAB71ABE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51D624-3FB9-0A77-322F-64E16B3803E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A3D70CC-3542-191B-70BD-13DD27D6CB4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818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Find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key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table[</a:t>
                </a:r>
                <a:r>
                  <a:rPr lang="en-US" sz="200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] </a:t>
                </a:r>
                <a:r>
                  <a:rPr lang="en-US" dirty="0"/>
                  <a:t>is occupied but doesn’t have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</a:rPr>
                  <a:t>(i+1)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2000" dirty="0">
                    <a:latin typeface="Consolas" panose="020B0609020204030204" pitchFamily="49" charset="0"/>
                  </a:rPr>
                  <a:t>(i+2)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1800" dirty="0">
                    <a:latin typeface="Consolas" panose="020B0609020204030204" pitchFamily="49" charset="0"/>
                  </a:rPr>
                  <a:t>(i+3) %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Repeat until you either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or else you reach an empty cell in the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194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7157"/>
          </a:xfrm>
        </p:spPr>
        <p:txBody>
          <a:bodyPr/>
          <a:lstStyle/>
          <a:p>
            <a:r>
              <a:rPr lang="en-US" dirty="0"/>
              <a:t>Suppose we insert A, B, C, D, and E in that order, where all map to 3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3" name="Group 52" descr="Before the deletion our hash table is an array of length 10. Its contents are as follows:&#10;&#10;Index 3: A&#10;Index 4: B&#10;Index 5: C&#10;Index 6: D&#10;Index 7: E&#10;All other indices are empty">
            <a:extLst>
              <a:ext uri="{FF2B5EF4-FFF2-40B4-BE49-F238E27FC236}">
                <a16:creationId xmlns:a16="http://schemas.microsoft.com/office/drawing/2014/main" id="{7C976558-1999-8862-1F35-32829A558698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4" name="Group 3" descr="An array of length 10. Its contents are as follows:&#10;&#10;Index 3: A&#10;Index 4: B&#10;Index 5: C&#10;Index 6: D&#10;Index 7: E&#10;All other indices are empty">
              <a:extLst>
                <a:ext uri="{FF2B5EF4-FFF2-40B4-BE49-F238E27FC236}">
                  <a16:creationId xmlns:a16="http://schemas.microsoft.com/office/drawing/2014/main" id="{23317F43-9CD7-8DA0-A5D0-001E0001053F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1202B14-1CA9-7427-2AFA-FA1DD7757A51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A3C04AB-11E3-0E1D-5512-CF9905E76CA3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505F905-78AC-0FED-63A8-D158F9F6DB98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6C3C739-190D-77AE-094B-B5A1ABEDD15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DDB671C4-36E4-5759-BD56-4B984DE8E14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5E106D1-7203-82F6-280F-7E853F2B0A6B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0048179-5B5B-1D84-4BEE-B63E119BE515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AF1E2D4-BFD0-E7A3-64D2-1DB262FEE59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9BCC972-4F49-985D-FF80-F251AC888966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9F5EC299-2C81-C998-0B48-905B653F2074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35EE393-F261-7112-0EE4-348AA0A1637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F74D851-AE84-7BB2-15D2-B8B3FDBD30F2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D037339-333A-C3D8-3E6C-65B8FAD0630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D452F40-2861-0C61-C782-DA10FBC1BF55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EDF1C0F-B926-C860-D53D-B0773489824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466C9CD-1D81-A75D-F1FC-9BF215023E2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15135D2-4A37-6E73-2735-7DD762D195B1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54DAB7D0-ACAD-CF90-8FD1-642768251F9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FD6C6D38-B5FA-0844-809D-ECE94165422E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481B7C-6E6D-1241-B31F-BBD1206BCACC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7E7B75A-56BD-E34F-5441-E945C702414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10EF039-58EA-D1AF-24E2-766AB95BFBA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0D4F65-1C9F-2430-9212-AF08A10A5B82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3BA10E1D-58A7-9792-3AD4-C1C9C47033AA}"/>
              </a:ext>
            </a:extLst>
          </p:cNvPr>
          <p:cNvSpPr txBox="1">
            <a:spLocks/>
          </p:cNvSpPr>
          <p:nvPr/>
        </p:nvSpPr>
        <p:spPr>
          <a:xfrm>
            <a:off x="838200" y="4503285"/>
            <a:ext cx="10515600" cy="499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need future probing to work correctly, so we must fill in the hole.</a:t>
            </a:r>
          </a:p>
        </p:txBody>
      </p:sp>
      <p:grpSp>
        <p:nvGrpSpPr>
          <p:cNvPr id="54" name="Group 53" descr="After deleting key B we have an array of length 10. Its contents are as follows:&#10;&#10;Index 3: A&#10;Index 4: C&#10;Index 5: D&#10;Index 6: E&#10;All other indices are empty">
            <a:extLst>
              <a:ext uri="{FF2B5EF4-FFF2-40B4-BE49-F238E27FC236}">
                <a16:creationId xmlns:a16="http://schemas.microsoft.com/office/drawing/2014/main" id="{141B36DF-FA73-7210-669F-E00EE6FE784C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27" name="Group 26" descr="An array of length 10. Its contents are as follows:&#10;&#10;Index 3: A&#10;Index 4: C&#10;Index 5: D&#10;Index 6: E&#10;All other indices are empty">
              <a:extLst>
                <a:ext uri="{FF2B5EF4-FFF2-40B4-BE49-F238E27FC236}">
                  <a16:creationId xmlns:a16="http://schemas.microsoft.com/office/drawing/2014/main" id="{05116AA1-79E7-7B8F-6B63-5AD080903693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E2BEEE4-F2F5-4A6D-A7F1-74E5F59B87C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6E892C7-4BB7-7892-D8EF-72CBDED38551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C937C9A-A150-3B3B-5F5D-A46B057E77E9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14F1BB8-CD89-6CC4-271E-B54E8B76D927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EB063377-763D-7E6B-A2E2-168A8418FD90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BDC69C8-0C62-202A-1D29-F6FA19617469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B2C24F4D-45E7-429F-1A5A-E2F8B8908173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9CAD924-3E43-437B-0227-B82DCA6BCC64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082242E-03C9-DAC8-4F5A-35CBD59C5E64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E4CCBA9C-3E8E-4B95-CA6E-01032FF83852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792AA63-0871-0F41-E9F2-588857F0A4F8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509C928-E94D-95A9-C016-C6809689E49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2AA9EB9-788C-B4ED-3ADA-785D5BE14080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FBF553E-1BDD-5C2E-6BB1-8C3C791134B5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38A8E60-CF0C-00C6-275F-9CBAE91141F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C89A41F-BF8D-9B3D-B3C1-AA50B5DDCE1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C7892DC-2FA8-A5BA-5797-5FBAD88AFA6D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EEF67158-5307-F23C-E512-778B1FDB75D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5788CA28-DB30-5C22-5B10-37895107B11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9AF9FD98-F08E-74AD-B4D7-CC0C2EDE31F7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45B24D09-3912-D852-0607-0B6184BE452C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4A771A6-FE79-3EE8-742B-09A1A7CE80E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AD923D7-3737-D6A6-A7FB-34380866D88E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5583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insert A, B, C, D, and E in that order, where A,B,E all map to 3 and C,D map to 5.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" name="Group 4" descr="Before the deletion our hash table is an array of length 10. Its contents are as follows:&#10;&#10;Index 3: A&#10;Index 4: B&#10;Index 5: C&#10;Index 6: D&#10;Index 7: E&#10;All other indices are empty">
            <a:extLst>
              <a:ext uri="{FF2B5EF4-FFF2-40B4-BE49-F238E27FC236}">
                <a16:creationId xmlns:a16="http://schemas.microsoft.com/office/drawing/2014/main" id="{26AE6485-EF51-D616-6917-B457D5CEDA8E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27" name="Group 26" descr="An array of length 10. Its contents are as follows:&#10;&#10;Index 3: A&#10;Index 4: B&#10;Index 5: C&#10;Index 6: D&#10;Index 7: E&#10;All other indices are empty">
              <a:extLst>
                <a:ext uri="{FF2B5EF4-FFF2-40B4-BE49-F238E27FC236}">
                  <a16:creationId xmlns:a16="http://schemas.microsoft.com/office/drawing/2014/main" id="{6557A905-A4AB-3521-6E44-053E83039717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80D7FBF-B01A-0263-3C32-5EE2F7A16537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A47806BC-9D6A-BA52-C7E9-2B88DE6B0DB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E16997F-BE67-C4CF-33DB-F3CEB9B5E7F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F4DD397-D99C-7646-A67D-CF7F7D487B88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CB4BB42-9793-1214-47D0-4B30BC0780D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F4F6AC1-6C76-A972-3D3C-C502B635802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D294464-AC69-3D07-3DB2-36131BDFBEAC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BF1821F-C1E3-EA41-AE19-92A28DAE6210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A3F0A40-04D7-AD38-9174-FBAA27A8621E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3E94F093-0B15-C706-A522-819BF36D2D9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3FB048E-0C7B-F708-75DA-E2C6FA8F58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0DD7863-789A-A342-31AA-A1A494FE2D02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474489EC-EAE6-0437-2AD4-E63C397FE36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12EB49C-DAB9-BEB9-59C3-10CAFDCCA95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EE59E87-303A-7922-37B0-7EED645DBB8D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548E299-9524-3D95-0330-A77CA45E23C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D65189A-1BBE-D762-F7A0-0E1C52656C4A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374B8B0-C318-594E-6595-2927D1887D2F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6478652-DF0C-8932-2F4B-DCFF3721D7AE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E1CC52F-5B67-A094-24D5-3FFD152CCCB4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281D43C-365F-E9E0-2F3E-3AEC6E041CFF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0EFE913-0974-C71F-7F24-0616C6028245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B07EE8C-AC48-9B51-CA01-3DF09601C283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150E18-9A49-DAA7-4B4C-534FD55FFA76}"/>
              </a:ext>
            </a:extLst>
          </p:cNvPr>
          <p:cNvSpPr txBox="1">
            <a:spLocks/>
          </p:cNvSpPr>
          <p:nvPr/>
        </p:nvSpPr>
        <p:spPr>
          <a:xfrm>
            <a:off x="838200" y="4503285"/>
            <a:ext cx="10515600" cy="7966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need future probing to work correctly, so we must fill in the hole.</a:t>
            </a:r>
          </a:p>
          <a:p>
            <a:pPr marL="0" indent="0" algn="ctr">
              <a:buNone/>
            </a:pPr>
            <a:r>
              <a:rPr lang="en-US" sz="2400" dirty="0"/>
              <a:t>We cannot move C or D over because they map to an index later in the probe path</a:t>
            </a:r>
          </a:p>
        </p:txBody>
      </p:sp>
      <p:grpSp>
        <p:nvGrpSpPr>
          <p:cNvPr id="6" name="Group 5" descr="After deleting B we have an array of length 10. Its contents are as follows:&#10;&#10;Index 3: A&#10;Index 4: E&#10;Index 5: C&#10;Index 6: D&#10;All other indices are empty">
            <a:extLst>
              <a:ext uri="{FF2B5EF4-FFF2-40B4-BE49-F238E27FC236}">
                <a16:creationId xmlns:a16="http://schemas.microsoft.com/office/drawing/2014/main" id="{77777F6F-1CD1-3B44-6890-33D6DD56EF77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50" name="Group 49" descr="An array of length 10. Its contents are as follows:&#10;&#10;Index 3: A&#10;Index 4: E&#10;Index 5: C&#10;Index 6: D&#10;All other indices are empty">
              <a:extLst>
                <a:ext uri="{FF2B5EF4-FFF2-40B4-BE49-F238E27FC236}">
                  <a16:creationId xmlns:a16="http://schemas.microsoft.com/office/drawing/2014/main" id="{FF0E7FA8-3BC2-B1F6-F856-E242C2F1AE79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080B4AB-EF77-14B3-B419-5CA35BE5DB0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04249A9C-6ED1-D9FC-95EC-B4B4859E7E6A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2AB09D0E-533D-6A0E-99E3-33D37733B1A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78410FC4-E45A-B5FD-B222-FC7DA0EAD62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1CCC229D-3A1C-5FEB-FC0B-A77D5870FA31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DE62C7C2-8671-2E6A-DA8F-CF7A29CDA5AD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2F6BD7A7-540E-8EC5-D043-5E081630C2C7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E8D7D4D6-8E24-244C-3971-3CCAD4261AEC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A67DFB6D-37C3-C196-F5BA-42A77E9D771B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DA4B8E49-61D8-BCC7-82FA-A482EDEE8E05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06DB1D8-0C5C-14B6-26C6-6D75B2A5EFB1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2D755FE-F515-40EC-653B-223CEB76CA73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1D220B9-29A0-64DD-2500-3019131C007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3D5157E-11D6-BE97-7FBE-07ED93BE870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DA80E3F-EE44-1BE6-C659-DB84450793FA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B8FC242-387C-B27E-C1C6-8FE7AA601A71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E43771C7-E8E0-43A1-2859-0D4A771F59E8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AF78C97C-EF94-9133-7554-3A31C4B65CD3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74F169C-2BD0-1676-4932-755C5A0E5328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DFB6C60F-0F31-9D5A-8B8B-27195326098D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C3F8A554-51E7-EB90-5525-BCC34E507E3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5851A8B6-4F8D-214A-6A55-233D3318CC0D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A4787DE-530B-3E10-4F22-AADFE50C03BD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674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E5DD-0241-AAC9-05EF-BE9B3FAF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E969-C6E3-F2A6-CF07-ECADF7E6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65E61-D29B-A7D5-C396-7B1D90B64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076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insert A, B, C, D, and E in that order, where A,B,E map to 8 and C,D map to 0.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" name="Group 4" descr="Before the deletion our hash table is an array of length 10. Its contents are as follows:&#10;&#10;Index 0: C&#10;Index 1: D&#10;Index 2: E&#10;Index 8: A&#10;Index 9: B&#10;All other indices are empty">
            <a:extLst>
              <a:ext uri="{FF2B5EF4-FFF2-40B4-BE49-F238E27FC236}">
                <a16:creationId xmlns:a16="http://schemas.microsoft.com/office/drawing/2014/main" id="{A24CEE36-510B-9050-7681-672BD0775F5E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27" name="Group 26" descr="An array of length 10. Its contents are as follows:&#10;&#10;Index 0: C&#10;Index 1: D&#10;Index 2: E&#10;Index 8: A&#10;Index 9: B&#10;All other indices are empty">
              <a:extLst>
                <a:ext uri="{FF2B5EF4-FFF2-40B4-BE49-F238E27FC236}">
                  <a16:creationId xmlns:a16="http://schemas.microsoft.com/office/drawing/2014/main" id="{6D23A5FE-B46B-7803-BC5F-9933F002C54E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3BEBE46-C409-08C2-4633-1B9F75B40BF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28BE05D-FFD4-0D23-EE41-F863480DFE6A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9B77BD6-D4D6-F96D-A643-7D023C6BA1A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8F86643F-0197-1381-A207-92F9B33D832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CE6ECC5-9577-9E4D-7894-A5122BB13885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256CEA7E-F52A-707F-5E0B-2BF525A820B2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38EF8A4-58C7-5DCA-BCDA-CE133FD7893D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4B3E3FD-6828-FB97-49B4-B1A61C233E59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B663BA4-8B11-2C81-5EC9-3EF1FD064EA5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DF65CE64-91B6-D81F-268B-1BCF19DA8DE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C5AEBC5-1236-C8E2-2FF8-B7B617A5F874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DFE1540-F518-F37D-2149-5BEDFB9699F3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E7E2EBA3-9757-2C96-FF5B-9A5BB1AC3EA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78371EB5-0D7E-70D5-14D6-21F88250DE62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C7A54A7-B6E8-FFAA-48D6-204FB853BF12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2740EEB-B5A9-2B09-76E5-7412C2707643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8CABA42-6D38-5BF5-3A74-B8DF0B2ACA39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B915538-D60E-B471-8BA0-C90825A33198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DA301906-59BF-9CAC-83A3-79B4A281E0E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3BC5E6F-C6F6-9CE6-19D9-6CBC5A67A400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B137083-8592-7270-719E-A8BC57EBE4B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CF13F882-19CB-9403-D71A-C096C179BCB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7DB9724-7F37-6817-5C27-758E678C8A0E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E6D3D8-0773-6C5D-9245-A7A0F25A1520}"/>
              </a:ext>
            </a:extLst>
          </p:cNvPr>
          <p:cNvSpPr txBox="1">
            <a:spLocks/>
          </p:cNvSpPr>
          <p:nvPr/>
        </p:nvSpPr>
        <p:spPr>
          <a:xfrm>
            <a:off x="838200" y="4295889"/>
            <a:ext cx="10515600" cy="10040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cannot move C or D over because they map to an index later in the probe path, even though the index number happens to be smaller. </a:t>
            </a:r>
            <a:br>
              <a:rPr lang="en-US" sz="2400" dirty="0"/>
            </a:br>
            <a:r>
              <a:rPr lang="en-US" sz="2400" dirty="0"/>
              <a:t>E moves to a larger index because it’s earlier in its probe path</a:t>
            </a:r>
          </a:p>
        </p:txBody>
      </p:sp>
      <p:grpSp>
        <p:nvGrpSpPr>
          <p:cNvPr id="6" name="Group 5" descr="After deleting the key B we have an array of length 10. Its contents are as follows:&#10;&#10;Index 0: C&#10;Index 1: D&#10;Index 8: A&#10;Index 9: E&#10;All other indices are empty">
            <a:extLst>
              <a:ext uri="{FF2B5EF4-FFF2-40B4-BE49-F238E27FC236}">
                <a16:creationId xmlns:a16="http://schemas.microsoft.com/office/drawing/2014/main" id="{4D2EC61E-7223-1F13-4BE4-B998A2BB93AC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50" name="Group 49" descr="An array of length 10. Its contents are as follows:&#10;&#10;Index 0: C&#10;Index 1: D&#10;Index 8: A&#10;Index 9: E&#10;All other indices are empty">
              <a:extLst>
                <a:ext uri="{FF2B5EF4-FFF2-40B4-BE49-F238E27FC236}">
                  <a16:creationId xmlns:a16="http://schemas.microsoft.com/office/drawing/2014/main" id="{757BBB44-5F2E-A8DA-5DC0-E11ADCCCE600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4A88986-A58B-B4C4-FBDF-0195A1F69738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50E1C9E6-B1CC-BFEE-EB66-166EC1C67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A826B72-7EAE-B7C0-2111-33121B87BC0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B814FF9D-834B-E79E-BA53-02E0A26701E0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C2F1422A-81B7-5F67-2831-2DB9C97411C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857D0398-0DC7-E8DD-8DF8-49DFE3DB7973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C811B8FF-2F06-6DAD-9256-E34EC47CC2D0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73F16650-5C60-3259-1AC5-26E39BA0AEBB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1A7BE5A4-87FB-933A-29C5-33DA5D08D9B9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0709E10-8B22-5E4B-89A7-9063A6887CCA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40B9EA6A-C763-551F-88E2-6EC4EBD5C6F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BFBABD74-6667-6A86-1B23-FD88797528C5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9F6EBD8-02C0-558D-0F20-D2CB03D443E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5A8ABF1-B84D-32C4-314D-5D5801330298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05E08F2-55F4-729C-74B8-173ADDAD18EB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A5FD097-3399-840F-E8C5-D06899B7A946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8E6677F-16EC-C7CC-D577-3664FA67D96E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ADC911A1-D33F-7899-9FCA-1BB73A60A9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65B62B5D-4D30-358B-B837-70A2CAB4563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CF990708-C698-45CE-9287-1A6692A87EFA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DEA605A-CD21-C44E-B987-EEC2D8D7AA7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640335E9-56DE-363B-28B9-958B228DA45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87FB319-D6DF-2C6D-52DD-B9E7AEF39FAC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3830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6100"/>
                <a:ext cx="10515600" cy="4351338"/>
              </a:xfrm>
            </p:spPr>
            <p:txBody>
              <a:bodyPr/>
              <a:lstStyle/>
              <a:p>
                <a:r>
                  <a:rPr lang="en-US" b="1" dirty="0"/>
                  <a:t>Option 1 (harder)</a:t>
                </a:r>
                <a:r>
                  <a:rPr lang="en-US" dirty="0"/>
                  <a:t>: Plug the hole with other items in a way that makes probes behave correctly</a:t>
                </a:r>
              </a:p>
              <a:p>
                <a:pPr lvl="1"/>
                <a:r>
                  <a:rPr lang="en-US" dirty="0"/>
                  <a:t>Something like: to delete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starting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going until we find an empty index, if probe path of the key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has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move the key-value pair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to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then repeat on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Option 2 (easier)</a:t>
                </a:r>
                <a:r>
                  <a:rPr lang="en-US" dirty="0"/>
                  <a:t>: “Tombstone” deletion. Leave a special object that indicates an something was deleted from there</a:t>
                </a:r>
              </a:p>
              <a:p>
                <a:pPr lvl="1"/>
                <a:r>
                  <a:rPr lang="en-US" dirty="0"/>
                  <a:t>The tombstone does not act as an open space when finding (so keep looking after its reached)</a:t>
                </a:r>
              </a:p>
              <a:p>
                <a:pPr lvl="1"/>
                <a:r>
                  <a:rPr lang="en-US" dirty="0"/>
                  <a:t>When inserting you can replace a tombstone with a new item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6100"/>
                <a:ext cx="10515600" cy="4351338"/>
              </a:xfrm>
              <a:blipFill>
                <a:blip r:embed="rId2"/>
                <a:stretch>
                  <a:fillRect l="-1043" t="-224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For option 2 (tombstone deletion) when we delete a key from the dictionary we replace the key-value pair in the hash table with a special &quot;tombstone&quot; object to indicate that an item used to be present. &#10;&#10;This way when we're probing we know the spot is available to re-use if we insert a new key-value pair, but for a find we need to continue probing past that index since past inserts may have probed past it.">
            <a:extLst>
              <a:ext uri="{FF2B5EF4-FFF2-40B4-BE49-F238E27FC236}">
                <a16:creationId xmlns:a16="http://schemas.microsoft.com/office/drawing/2014/main" id="{5CEBE7AC-62BA-50C0-827E-A9312E83C711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398797-8895-3723-4DFA-5FD577DC625E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94E3EBE-92D3-3CBC-4097-E854D2FB517E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9F9CF4CB-A27A-964D-A636-9F4C5BAF32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9F9CF4CB-A27A-964D-A636-9F4C5BAF32B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168045C-4DD0-521D-E388-E155A93DAFF1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BD1F50D-0106-BB33-E7B4-DF9459A8ED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BD1F50D-0106-BB33-E7B4-DF9459A8ED2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F68DA8B2-9D14-9376-BA10-6072DC3F7A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F68DA8B2-9D14-9376-BA10-6072DC3F7AA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872695B-70F4-3DA6-F9C7-C39AA3021A9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7C73464A-B923-7D8A-08E9-FA6362BB97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7C73464A-B923-7D8A-08E9-FA6362BB975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2B62BA5-C7A9-1093-C1C5-92B30048EF2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7E8C7D0-301F-810C-81D7-8032D43CCED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EF34426-81D0-A00D-F869-CE2CC1F69DD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7B13CF2-FF93-8502-9E02-8932AAC3B628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CD7BD24-78C4-485A-B642-694347CAF79F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E07A55D-FD55-65C4-B762-EE475FB813D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2B816F0-1D87-DCEE-EE23-73BA3F93C0D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472B5DE-98C0-ED41-C1C2-5402072D17E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1DF7F5A-E96D-9469-1E44-2B9982B5F417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4290CC6-A7C4-513F-0046-64C15C576672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AAFCECB-C9D4-B0F1-13A6-E6A0B9F5E5FC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6966F40-4191-1551-B59D-C33E64E92ED2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B32752-91AD-18C5-0ABD-530E78C6EAE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950CBD8-72AD-EB1F-CF08-19E9158FCF57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2A5AD5E-A38F-FFBF-1612-402BB356C254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1026" name="Picture 2" descr="Tombstone Graphic by Lowkey21 · Creative Fabrica">
              <a:extLst>
                <a:ext uri="{FF2B5EF4-FFF2-40B4-BE49-F238E27FC236}">
                  <a16:creationId xmlns:a16="http://schemas.microsoft.com/office/drawing/2014/main" id="{4D539D6B-C7E5-D7DC-674F-BD419E482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20782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55298"/>
          </a:xfrm>
        </p:spPr>
        <p:txBody>
          <a:bodyPr/>
          <a:lstStyle/>
          <a:p>
            <a:r>
              <a:rPr lang="en-US" dirty="0"/>
              <a:t>To find key </a:t>
            </a:r>
            <a:r>
              <a:rPr lang="en-US" dirty="0">
                <a:latin typeface="Consolas" panose="020B0609020204030204" pitchFamily="49" charset="0"/>
              </a:rPr>
              <a:t>k</a:t>
            </a: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 return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r>
              <a:rPr lang="en-US" dirty="0"/>
              <a:t>If you come across an empty index, the find was unsuccessful</a:t>
            </a:r>
          </a:p>
          <a:p>
            <a:pPr lvl="2"/>
            <a:r>
              <a:rPr lang="en-US" dirty="0"/>
              <a:t>Tombstones do not count as empty!</a:t>
            </a:r>
          </a:p>
        </p:txBody>
      </p:sp>
      <p:grpSp>
        <p:nvGrpSpPr>
          <p:cNvPr id="27" name="Group 26" descr="A hash table with a tombstone. Its contents are as follows (for each pair the first element is the key and the second is the value):&#10;&#10;Index 0: k1, v1&#10;Index 2: k2,v2&#10;Index 3: k3, v3&#10;Index 4: tombstone&#10;Index 5: k4, v4&#10;All other indices are empty&#10;&#10;Supposing we do an unsuccessful find on key k which maps to index 2. In this case we will need to check index 2, index 3, index 4 (which contains the tombstone), index 5, and then can conclude the find was unsuccessful when we see index 6 is empty.">
            <a:extLst>
              <a:ext uri="{FF2B5EF4-FFF2-40B4-BE49-F238E27FC236}">
                <a16:creationId xmlns:a16="http://schemas.microsoft.com/office/drawing/2014/main" id="{173FC6B8-AB4A-FD8C-6863-E218D088B95F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EBE785-09DD-2129-EF50-6BED889CAFDF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D7616CE-CEB2-3F78-01C7-559381A7E459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DA0882B2-FBB3-893B-47AC-ED5A54E5D7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DA0882B2-FBB3-893B-47AC-ED5A54E5D7E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CC71AC7-66ED-D0EA-E2C9-4D9B8C7164C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8FDFB75C-BC8B-A7B1-D939-0A388B717A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8FDFB75C-BC8B-A7B1-D939-0A388B717AE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4D3201B6-2128-AA78-0502-860BF7B61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4D3201B6-2128-AA78-0502-860BF7B613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41711FE-E996-23C1-97AD-7FDE658BA2E1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6DAEE92F-6002-9637-4F17-E5FB04B17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6DAEE92F-6002-9637-4F17-E5FB04B177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101D0832-8C87-DBB7-A03D-B331DBF755EF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7BBC0C9-9AE3-DF08-8D24-E971DA5754C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8A6AC15-B4C8-948A-A1B6-31F5BEACFF6D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181753CC-4DE4-F5BD-AFEC-DA4B6D39AF0E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551F7581-2694-4F16-2D77-99EBD233E618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17FFAC9-CE14-DCBB-F204-A9EE3D53FDC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CF16176-C858-3F4B-2338-71EE8AEA715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D9BF06B-65D6-9864-3A5D-83DA1D72FBC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6E9A345-05AB-412F-04A7-06DEAAA67AE8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B3A0273C-3478-8C2E-FF29-E2FD3B8B81E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A17E45D-8163-8373-1EE1-E0EEC0B7F1E0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6C69C17-57A7-433D-4954-3E9C7742E35B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1F0EBE50-D77D-6ACC-6154-87179C219DEF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BA195B53-7382-BFB7-0F97-3EB6EB5DC4AD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9B875D04-ECAD-DA0A-F8BD-36E7E0E46C3B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29" name="Picture 2" descr="Tombstone Graphic by Lowkey21 · Creative Fabrica">
              <a:extLst>
                <a:ext uri="{FF2B5EF4-FFF2-40B4-BE49-F238E27FC236}">
                  <a16:creationId xmlns:a16="http://schemas.microsoft.com/office/drawing/2014/main" id="{CF584FA7-0070-6E40-7FA7-4BA779C84D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36590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tombstone, set </a:t>
            </a:r>
            <a:r>
              <a:rPr lang="en-US" dirty="0" err="1">
                <a:latin typeface="Consolas" panose="020B0609020204030204" pitchFamily="49" charset="0"/>
              </a:rPr>
              <a:t>dest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b="0" dirty="0">
              <a:latin typeface="Consolas" panose="020B0609020204030204" pitchFamily="49" charset="0"/>
            </a:endParaRPr>
          </a:p>
          <a:p>
            <a:pPr lvl="3"/>
            <a:r>
              <a:rPr lang="en-US" dirty="0"/>
              <a:t>That is where we will insert if the find is unsuccessful</a:t>
            </a:r>
          </a:p>
          <a:p>
            <a:pPr lvl="2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you come across an empty index, the find was unsuccessful</a:t>
            </a:r>
          </a:p>
          <a:p>
            <a:pPr lvl="3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if we saw a tombstone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otherwise</a:t>
            </a:r>
          </a:p>
        </p:txBody>
      </p:sp>
      <p:grpSp>
        <p:nvGrpSpPr>
          <p:cNvPr id="52" name="Group 51" descr="A hash table with a tombstone. Its contents are as follows (for each pair the first element is the key and the second is the value):&#10;&#10;Index 0: k1, v1&#10;Index 2: k2,v2&#10;Index 3: k3, v3&#10;Index 4: tombstone&#10;Index 5: k4, v4&#10;All other indices are empty&#10;&#10;Supposing we do an insert on a new key k which maps to index 2. In this case we will need to check index 2, index 3, index 4 (which contains the tombstone), index 5, and then can conclude the key is not already present. The new key-value pair will then be added at index 4, replacing the tombstone.">
            <a:extLst>
              <a:ext uri="{FF2B5EF4-FFF2-40B4-BE49-F238E27FC236}">
                <a16:creationId xmlns:a16="http://schemas.microsoft.com/office/drawing/2014/main" id="{4FBD874A-F45D-3FB5-EED7-5548DA2EF99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CA24555-DC6F-9F47-C438-D2193716322E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EA72BE6-8063-3C34-3C24-D4A5E4EE6F00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8E5E0B5A-52FD-6423-81E7-B32D3FCF8C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8E5E0B5A-52FD-6423-81E7-B32D3FCF8CE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B4FC1C40-8AD3-A17A-B895-F9E93E6FDC81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8141E5FC-1D98-DC12-60E4-6A73191280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8141E5FC-1D98-DC12-60E4-6A73191280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D8ACACD4-4231-E6C1-1086-B4A0FB4F9C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D8ACACD4-4231-E6C1-1086-B4A0FB4F9C6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FABCCAC9-F36B-A1BA-667A-78802FFF6C6E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2BE99131-A086-2B36-648D-2F8AC6D2F7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2BE99131-A086-2B36-648D-2F8AC6D2F7E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23AD1D0-2779-76DE-762C-E62A781C27A0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43002A0-8B12-348E-CA47-F1274759CBAA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47B5A1A1-85A3-E02C-0468-F04A20E88D7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820AFF44-7D99-FD98-034E-A50A6F19290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0EA210E-A610-EC71-019C-C68C26505630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BC9CABD-A5AD-23B4-7543-FEE882A88D8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70013DAA-466F-0FCA-8CC7-29B12DD4563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874873E-7B28-2871-B6D5-5CD86143A42F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7D84E82-933E-823D-4E31-030CCF0CD267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21F2F06C-D463-6964-8C0C-2864D213D64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B7BB9DB0-34E6-88C3-31F4-46A9A73C7EA6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61FB43B4-6CAE-DB5D-BE33-1E332A8C4988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682C96ED-631A-C62A-E2CC-08988EA05557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98324CC0-B7CB-6590-1138-B30A81B6A397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5A2629E3-C645-DCD7-D045-C975EEBA6BD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54" name="Picture 2" descr="Tombstone Graphic by Lowkey21 · Creative Fabrica">
              <a:extLst>
                <a:ext uri="{FF2B5EF4-FFF2-40B4-BE49-F238E27FC236}">
                  <a16:creationId xmlns:a16="http://schemas.microsoft.com/office/drawing/2014/main" id="{9A8BBA4D-2C28-2FCA-1BE7-BF9850028A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6738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F2-63C9-8594-E37F-13EE9BA0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approaches 1?</a:t>
                </a:r>
              </a:p>
              <a:p>
                <a:pPr lvl="1"/>
                <a:r>
                  <a:rPr lang="en-US" dirty="0"/>
                  <a:t>Get longer and longer contiguous blocks</a:t>
                </a:r>
              </a:p>
              <a:p>
                <a:pPr lvl="1"/>
                <a:r>
                  <a:rPr lang="en-US" dirty="0"/>
                  <a:t>A collision is guaranteed to grow a block</a:t>
                </a:r>
              </a:p>
              <a:p>
                <a:pPr lvl="2"/>
                <a:r>
                  <a:rPr lang="en-US" dirty="0"/>
                  <a:t>Larger blocks experience more collisions</a:t>
                </a:r>
              </a:p>
              <a:p>
                <a:pPr lvl="2"/>
                <a:r>
                  <a:rPr lang="en-US" dirty="0"/>
                  <a:t>Feedback loop!</a:t>
                </a:r>
              </a:p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1?</a:t>
                </a:r>
              </a:p>
              <a:p>
                <a:pPr lvl="1"/>
                <a:r>
                  <a:rPr lang="en-US" dirty="0"/>
                  <a:t>Impossible!</a:t>
                </a:r>
              </a:p>
              <a:p>
                <a:pPr lvl="1"/>
                <a:r>
                  <a:rPr lang="en-US" dirty="0"/>
                  <a:t>You can’t insert more stuff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6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Insert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insert </a:t>
                </a:r>
                <a:r>
                  <a:rPr lang="en-US" dirty="0" err="1">
                    <a:latin typeface="Consolas" panose="020B0609020204030204" pitchFamily="49" charset="0"/>
                  </a:rPr>
                  <a:t>k,v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</a:t>
                </a:r>
                <a:r>
                  <a:rPr lang="en-US" dirty="0">
                    <a:latin typeface="Consolas" panose="020B0609020204030204" pitchFamily="49" charset="0"/>
                  </a:rPr>
                  <a:t>table[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</a:t>
                </a:r>
                <a:r>
                  <a:rPr lang="en-US" dirty="0"/>
                  <a:t> is occupied then try 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An empty hash table of size 10">
            <a:extLst>
              <a:ext uri="{FF2B5EF4-FFF2-40B4-BE49-F238E27FC236}">
                <a16:creationId xmlns:a16="http://schemas.microsoft.com/office/drawing/2014/main" id="{756D933F-0667-60C4-43AB-754CAECD7250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0480FFF-EE72-457D-D6E8-451CF52B6DBF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ABC9ED3-873B-8DF2-3007-E959C8B8316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AE90EA1-5C9D-BCA0-4D28-59611B824CB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114CFD8-6ED4-6B89-CD55-7D3ECE4BBB1B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04A6FF5-99E2-3235-8D90-4C2A56472FBE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69C8311-2520-F422-D336-3AC79533A4A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05872E6-031A-5F02-B19C-D0579D7096F5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B2E2A78-9B2E-AE47-7510-E5FE7C17E61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285CFFB-A1F9-F99E-EA0A-11E2F42035E9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429C629-0428-3E55-C936-39BD54E8017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1D0268D-CC06-8E7E-3906-84E45BA0095C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5761B6E-FB16-592A-C7AD-4268DE295EAF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FF1A6A4-AAFC-4F06-C075-68D62F7DFE3D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06FDE66-90C0-DAC7-AFC3-2AA73A7A36D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74FA1B-A961-CDFE-D875-A37DA7907E87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E171187-6023-726D-E15D-75D10F0ABEE1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E294FDE-A886-95E6-1015-F63C67A858BE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8B94A1E-2B67-07B2-390D-ED63652DA9F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C8F3CEC-CCCE-0872-BC52-6A4916FF9A3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52A52A-4A9A-67F4-9371-287AE558D2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8C2A306-35E2-9B4E-43B7-54B828C6BCD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385CBDA-09D8-0C40-9F92-39B7B00B7F1D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719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Insert:</a:t>
            </a:r>
          </a:p>
          <a:p>
            <a:pPr lvl="1"/>
            <a:r>
              <a:rPr lang="en-US" dirty="0"/>
              <a:t>76</a:t>
            </a:r>
          </a:p>
          <a:p>
            <a:pPr lvl="1"/>
            <a:r>
              <a:rPr lang="en-US" dirty="0"/>
              <a:t>40 </a:t>
            </a:r>
          </a:p>
          <a:p>
            <a:pPr lvl="1"/>
            <a:r>
              <a:rPr lang="en-US" dirty="0"/>
              <a:t>48 </a:t>
            </a:r>
          </a:p>
          <a:p>
            <a:pPr lvl="1"/>
            <a:r>
              <a:rPr lang="en-US" dirty="0"/>
              <a:t>5 </a:t>
            </a:r>
          </a:p>
          <a:p>
            <a:pPr lvl="1"/>
            <a:r>
              <a:rPr lang="en-US" dirty="0"/>
              <a:t>55 </a:t>
            </a:r>
          </a:p>
          <a:p>
            <a:pPr lvl="1"/>
            <a:r>
              <a:rPr lang="en-US" dirty="0"/>
              <a:t>47</a:t>
            </a:r>
          </a:p>
        </p:txBody>
      </p:sp>
      <p:grpSp>
        <p:nvGrpSpPr>
          <p:cNvPr id="4" name="Group 3" descr="An empty hash table of size 7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4480560" cy="1097280"/>
            <a:chOff x="4953000" y="660717"/>
            <a:chExt cx="448056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4480560" cy="640080"/>
              <a:chOff x="2252980" y="5083048"/>
              <a:chExt cx="448056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4480560" cy="640080"/>
              <a:chOff x="2252980" y="5083048"/>
              <a:chExt cx="448056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7420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8820-9792-6FF2-3B76-3657BAD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probe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/>
                  <a:t> times, you start repeating indices</a:t>
                </a:r>
              </a:p>
              <a:p>
                <a:r>
                  <a:rPr lang="en-US" dirty="0"/>
                  <a:t>If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is prime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then you’re guaranteed to find an open spot in at most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probes</a:t>
                </a:r>
              </a:p>
              <a:p>
                <a:endParaRPr lang="en-US" dirty="0"/>
              </a:p>
              <a:p>
                <a:r>
                  <a:rPr lang="en-US" dirty="0"/>
                  <a:t>Helps with the clustering problem of linear probing, but does not help if many things hash to the same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580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  <a:r>
              <a:rPr lang="en-US" dirty="0">
                <a:latin typeface="Consolas" panose="020B0609020204030204" pitchFamily="49" charset="0"/>
              </a:rPr>
              <a:t>h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g</a:t>
            </a:r>
            <a:r>
              <a:rPr lang="en-US" dirty="0"/>
              <a:t> are both good hash functions</a:t>
            </a:r>
          </a:p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</a:t>
            </a:r>
            <a:r>
              <a:rPr lang="en-US" dirty="0">
                <a:latin typeface="Consolas" panose="020B0609020204030204" pitchFamily="49" charset="0"/>
              </a:rPr>
              <a:t>(i+g(k))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(i+2*g(k))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(i+3*g(k))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b="0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(i+4*g(k))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27" name="Group 26" descr="An empty hash table of size 10">
            <a:extLst>
              <a:ext uri="{FF2B5EF4-FFF2-40B4-BE49-F238E27FC236}">
                <a16:creationId xmlns:a16="http://schemas.microsoft.com/office/drawing/2014/main" id="{8FDFA169-707F-13A9-222D-7CCF6C7494CC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2B87FAC-0538-ECBA-6B24-F4E460EA987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DE9FF87-7128-E586-7012-FF0D25EAB45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451C35B-F3F9-0BF5-7F96-7056333224E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E6D8747-D77C-49C2-4342-BE0A69945D0B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663C8E2-2E8B-9DD3-A6F6-8A6EE559FAD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6F23EEC-4D3B-4A13-ECDC-7AAD749E9E1F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3ED88EB-9FB1-DDBF-622D-AB81D9A8CFB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FA9D76C-694E-7726-7983-0F1C5DDA6F9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9B4A258-5944-0B04-CCC2-86446561788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E484E67-FD31-BFE6-8BB3-19A8BD0F8EE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F669135-A4C2-E31B-6A2C-9FC56971B3E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DCD689F-DD9E-AD37-2A3A-25648FC54A08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DA43CA7-E636-2105-CF3A-DFA078E59DBC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72C753-FB52-C263-0BAB-5E012781C04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4D0D8C0-3D63-671F-5D39-04E4F3F7B58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E3258F8-8097-AC76-433F-D5EFE5498C84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388F548-F7C0-C703-87A3-0801D5B5EC6E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7BB719B-6E0B-43A2-33B0-2CC42D0F964B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8B6754B-58E8-8AF8-8D17-5F85162BAD9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2F989C-2F0A-D58A-28CA-E648FF802226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EA5F1D9-BDA3-2BD7-3F5F-E1F043FC3CFD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61D331B-7649-C763-671F-8DEB78153BC1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57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28862</TotalTime>
  <Words>2474</Words>
  <Application>Microsoft Office PowerPoint</Application>
  <PresentationFormat>Widescreen</PresentationFormat>
  <Paragraphs>562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Consolas</vt:lpstr>
      <vt:lpstr>Arial</vt:lpstr>
      <vt:lpstr>Aptos</vt:lpstr>
      <vt:lpstr>Calibri Light</vt:lpstr>
      <vt:lpstr>Cambria Math</vt:lpstr>
      <vt:lpstr>Calibri</vt:lpstr>
      <vt:lpstr>Office Theme</vt:lpstr>
      <vt:lpstr>CSE 332 Winter 2026 Lecture 11: hashing 2</vt:lpstr>
      <vt:lpstr>Dictionary (Map) ADT - Unordered</vt:lpstr>
      <vt:lpstr>Next topic: Hash Tables</vt:lpstr>
      <vt:lpstr>Hash Tables</vt:lpstr>
      <vt:lpstr>Properties of a “Good” Hash</vt:lpstr>
      <vt:lpstr>Compare These Hash Functions (for strings)</vt:lpstr>
      <vt:lpstr>Properties of Those Example Hash Functions</vt:lpstr>
      <vt:lpstr>Ideal Insert procedure</vt:lpstr>
      <vt:lpstr>Collision Resolution</vt:lpstr>
      <vt:lpstr>Separate Chaining Insert</vt:lpstr>
      <vt:lpstr>Separate Chaining Find</vt:lpstr>
      <vt:lpstr>Separate Chaining Delete</vt:lpstr>
      <vt:lpstr>Formal Running Time Analysis</vt:lpstr>
      <vt:lpstr>Formal Running Time Analysis (Answers)</vt:lpstr>
      <vt:lpstr>Load Factor Example 1</vt:lpstr>
      <vt:lpstr>Load Factor Example 2</vt:lpstr>
      <vt:lpstr>Load Factor Example 3</vt:lpstr>
      <vt:lpstr>Collision Resolution: Linear Probing</vt:lpstr>
      <vt:lpstr>Linear Probing: Insert Procedure</vt:lpstr>
      <vt:lpstr>Linear Probing: How to find?</vt:lpstr>
      <vt:lpstr>Linear Probing: Find</vt:lpstr>
      <vt:lpstr>Linear Probing: Delete is Hard (Example 1)</vt:lpstr>
      <vt:lpstr>Linear Probing: Delete is Hard (Example 2)</vt:lpstr>
      <vt:lpstr>Linear Probing: Delete is Hard (Example 3)</vt:lpstr>
      <vt:lpstr>Linear Probing: Delete</vt:lpstr>
      <vt:lpstr>Linear Probing + Tombstone: Find</vt:lpstr>
      <vt:lpstr>Linear Probing + Tombstone: Insert</vt:lpstr>
      <vt:lpstr>Downsides of Linear Probing</vt:lpstr>
      <vt:lpstr>Quadratic Probing: Insert Procedure</vt:lpstr>
      <vt:lpstr>Quadratic Probing: Example</vt:lpstr>
      <vt:lpstr>Using Quadratic Probing</vt:lpstr>
      <vt:lpstr>Double Hashing: Insert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155</cp:revision>
  <dcterms:created xsi:type="dcterms:W3CDTF">2023-09-26T20:08:20Z</dcterms:created>
  <dcterms:modified xsi:type="dcterms:W3CDTF">2026-04-22T22:05:36Z</dcterms:modified>
</cp:coreProperties>
</file>