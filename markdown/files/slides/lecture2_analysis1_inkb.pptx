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5"/>
  </p:notesMasterIdLst>
  <p:sldIdLst>
    <p:sldId id="256" r:id="rId2"/>
    <p:sldId id="422" r:id="rId3"/>
    <p:sldId id="267" r:id="rId4"/>
    <p:sldId id="268" r:id="rId5"/>
    <p:sldId id="279" r:id="rId6"/>
    <p:sldId id="428" r:id="rId7"/>
    <p:sldId id="429" r:id="rId8"/>
    <p:sldId id="430" r:id="rId9"/>
    <p:sldId id="431" r:id="rId10"/>
    <p:sldId id="274" r:id="rId11"/>
    <p:sldId id="273" r:id="rId12"/>
    <p:sldId id="261" r:id="rId13"/>
    <p:sldId id="314" r:id="rId14"/>
    <p:sldId id="353" r:id="rId15"/>
    <p:sldId id="389" r:id="rId16"/>
    <p:sldId id="390" r:id="rId17"/>
    <p:sldId id="319" r:id="rId18"/>
    <p:sldId id="316" r:id="rId19"/>
    <p:sldId id="391" r:id="rId20"/>
    <p:sldId id="392" r:id="rId21"/>
    <p:sldId id="423" r:id="rId22"/>
    <p:sldId id="424" r:id="rId23"/>
    <p:sldId id="411" r:id="rId24"/>
    <p:sldId id="425" r:id="rId25"/>
    <p:sldId id="426" r:id="rId26"/>
    <p:sldId id="394" r:id="rId27"/>
    <p:sldId id="398" r:id="rId28"/>
    <p:sldId id="427" r:id="rId29"/>
    <p:sldId id="397" r:id="rId30"/>
    <p:sldId id="410" r:id="rId31"/>
    <p:sldId id="416" r:id="rId32"/>
    <p:sldId id="415" r:id="rId33"/>
    <p:sldId id="421" r:id="rId34"/>
  </p:sldIdLst>
  <p:sldSz cx="12192000" cy="6858000"/>
  <p:notesSz cx="6858000" cy="9144000"/>
  <p:embeddedFontLst>
    <p:embeddedFont>
      <p:font typeface="Cambria Math" panose="02040503050406030204" pitchFamily="18" charset="0"/>
      <p:regular r:id="rId36"/>
    </p:embeddedFont>
    <p:embeddedFont>
      <p:font typeface="Cascadia Code" panose="020B0609020000020004" pitchFamily="49" charset="0"/>
      <p:regular r:id="rId37"/>
      <p:bold r:id="rId38"/>
      <p:italic r:id="rId39"/>
      <p:boldItalic r:id="rId40"/>
    </p:embeddedFont>
    <p:embeddedFont>
      <p:font typeface="Consolas" panose="020B0609020204030204" pitchFamily="49" charset="0"/>
      <p:regular r:id="rId41"/>
      <p:bold r:id="rId42"/>
      <p:italic r:id="rId43"/>
      <p:boldItalic r:id="rId4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DCB46A9-AC64-2107-0D04-23C3E6A0A637}" name="Sarah Brunelle" initials="SB" userId="S::sarah.bland@TNC.ORG::0841f992-6401-4fcf-8797-7495e84da30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CC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4" d="100"/>
          <a:sy n="64" d="100"/>
        </p:scale>
        <p:origin x="748"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7.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49"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s>
</file>

<file path=ppt/ink/ink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1T22:44:11.128"/>
    </inkml:context>
    <inkml:brush xml:id="br0">
      <inkml:brushProperty name="width" value="0.05292" units="cm"/>
      <inkml:brushProperty name="height" value="0.05292" units="cm"/>
      <inkml:brushProperty name="color" value="#FF0000"/>
    </inkml:brush>
  </inkml:definitions>
  <inkml:trace contextRef="#ctx0" brushRef="#br0">4814 4950 0,'0'0'0,"0"0"0,0 0 16,0 0 0,17 0-1,0 0 1,0-9-16,0-8 15,17-42 1,-8-26-16,-1-18 16,9 27-1,26 8-15,26 8 16,33-33-16,1-9 16,-9-17-1,42 0 1,9 34-16,-8 8 15,8-8-15,34-9 16,9 18 0,34-1-1,-8 1-15,16 16 16,26 18-16,-8 16 16,-9-8-1,17 0 1,17 17-16,26 0 15,0 9 1,-35 8-16,35 0 16,-17 8-1,0 1-15,-26 8 16,-26 17-16,1 8 16,-26 18-1,-34-9 1,-35 0-16,-25 8 15,-25 1 1,-18-1-16,-25-16 16,-26-18-1,-9-8-15,-16-8 16,0-1 0,-1 1-16,-16-9 0,-10-17 15,-16-26 1,0-25-1,0-25 1,17-1-16,0 26 16,17 17-16,0 17 15,0 9 1,0 8 0,17 17-16,17 0 15,17 17 1,18 17-16,16 17 15,0 17 1,-8-9-16,-9 9 16,9 9-1,-17-18-15,-9 1 16,-17-17 0,-8-18-16,-18 1 15,-8-9 1,-42 17-16,-120 42 15,-154 35 1,-102 25-16,34-9 16</inkml:trace>
  <inkml:trace contextRef="#ctx0" brushRef="#br0" timeOffset="5729.82">5292 4465 0,'0'0'0,"0"17"0,0 68 16,8 25-1,-8-25-15,-8-8 16,-1 8-16,9 0 15,0-25 1,0-18-16,0-16 16,17-9-16,9-26 31,16-33-31,1-18 16,0-42-1,17-42-15,8 16 16,-25 51-16,-18 35 15,-8 25 1,-8 25 0,-9 77-16,-34 43 15,-1 25 1,10-8-16,8-35 16,17-42-1,0-34-15,0-17 16,0-17-1,34-34-15,17-42 16,0 8-16,-25 34 16,0 0-16,-18 17 15,1 0 1,-1 17-16,-8 0 31,0 42-31,-8 43 16,8 9-16,0-26 15,8-26 1,9-16 0,17-18-16,35-42 15,7-51 1,18-25-16,9 8 16,-9 0-1,0 8-15,-18 26 0,-33 42 31,-17 9-31,-9 26 16,-9 16 0,1 35-16,-9 17 15,0-9 1,0-34 0,0-9-16,0-16 15,0-18 1,17-42-16,8-34 15,10-17 1,7 17-16,-8 42 16,-17 18-16,-8 33 15,0 43 1,-27 60-16,-16 42 16,9-8-1,8-52-15,17-33 16,0-26-1,0-26-15,8-25 16,43-42 0,18-35-16,-1 18 15,-17-1 1,-17 18 0,-17 33-16,-8 9 15,-1 17-15,-16 9 0,-9 50 31,-17 43-15,0-8-16,16-35 16,1-25-1,17-17-15,0-25 16,17-52-16,18-16 16,16-1-1,-8 9-15,-18 26 16,-16 25-1,-1 17-15,-16 42 0,-18 120 16,-25 178 15</inkml:trace>
  <inkml:trace contextRef="#ctx0" brushRef="#br0" timeOffset="7809.75">8057 3963 0,'9'17'0,"33"77"0,26 33 16,35 26-16,68 68 15,-18-34-15,9-25 16,94 68-1,-34-60 1,9-34 0,-18 34-16,-76-8 15,8-18-15,26-8 16,-52-25 0,-68-69-1,-17-25-15,26-42 16,-26-1-16</inkml:trace>
  <inkml:trace contextRef="#ctx0" brushRef="#br0" timeOffset="8093.66">10370 3844 0,'0'0'0,"-17"9"0,-60 59 16,-111 59-16,-170 86 16,-43 42-1,51-9-15,-86 129 31,-67 67-31,-35-25 16,205-162-16</inkml:trace>
  <inkml:trace contextRef="#ctx0" brushRef="#br0" timeOffset="34482.26">1570 15682 0,'0'0'0,"0"0"0,0 0 15,0 9-15,0 8 16,0 8-1,18 26-15,-1 26 16,8 25 0,-8-17-16,0-17 15,9 26 1,-18 25-16,1 17 16,0-26-1,-9-42-15,0 17 16,8-17-1,1-17-15,-9-25 16,0-18 0</inkml:trace>
  <inkml:trace contextRef="#ctx0" brushRef="#br0" timeOffset="34785.35">1417 16516 0,'0'0'0,"-9"0"0,9 17 16,-25 0-1,8 8 1,0 1-16,17-1 16,0 9-16,17 26 15,-9 16 1,26 1-1,-8-18-15,8-16 16,9-9 0,-1-17-16,10-34 15,-1-17 1,26-26-16,34-8 16,17-8-16,128-77 15</inkml:trace>
</inkml:ink>
</file>

<file path=ppt/ink/ink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1T22:50:47.472"/>
    </inkml:context>
    <inkml:brush xml:id="br0">
      <inkml:brushProperty name="width" value="0.05292" units="cm"/>
      <inkml:brushProperty name="height" value="0.05292" units="cm"/>
      <inkml:brushProperty name="color" value="#FF0000"/>
    </inkml:brush>
  </inkml:definitions>
  <inkml:trace contextRef="#ctx0" brushRef="#br0">11736 4831 0,'0'0'0,"0"17"16,0 42-16,0 43 16,-9 43-1,-8 8 1,0 0-16,-9 0 15,-8-17 1,0-51-16,17-51 16</inkml:trace>
  <inkml:trace contextRef="#ctx0" brushRef="#br0" timeOffset="1621.81">4430 4975 0,'0'0'0,"0"0"0,0 0 16,0 0 0,0 0-16,-9 0 15,-17 9 1,-42 33-16,-51 43 16,8 9-1,42-9-15,10-17 16,16-26-1,26-8-15,0-8 16,17-9 0,0-9-16,17-16 15,43-9 1,42-17-16,18-26 16,-35 9-1,-42 17-15,-18 17 16,-8 0-1,-8 9-15,-9 8 16,-34 34 0,-35 34-16,-41 25 15,16 1 1,42-9-16,27-34 16,8-17-1,17-17-15,34-17 16,68-51-1,18-9-15,-43 1 16,-18 8 0,-7 8-16,-18 18 15,-17 8 1,-9 17-16,-8 0 16,-34 25-1,-51 43 1,-35 43-16,18-9 15,42-34-15,43-17 16,17-34 0</inkml:trace>
  <inkml:trace contextRef="#ctx0" brushRef="#br0" timeOffset="2563">12965 4967 0,'0'0'0,"0"0"0,0 0 16,17 17-1,0 0 1,8-9-16,27 9 15,41 0 1,10 0-16,-9 17 16,-26 0-1,-25 0-15,-26 17 16,-26 9-16,-51 16 16,-33 18-1,16-18 1,34-25-16,9-17 15,17-8 1,8-18-16,9 1 16,34-9-16,103 8 15,0-16 1,-35-1 0,43-16-16,-77 8 15</inkml:trace>
  <inkml:trace contextRef="#ctx0" brushRef="#br0" timeOffset="3418.38">6051 5383 0,'0'0'0,"0"0"0,0 0 15,-8 0 1,-9 17-16,-26 17 16,-25 17-16,-43 26 15,8-1 1,52-16-16,17-17 16,17-9-1,0-17 1,17-9-16,0-8 15,34-17 1,34-34-16,26-17 16,-17 17-1,-26 0-15,-17 17 16,-8 17 0,-18 0-16,1 17 15,-18 0 1,-8 0-16,-17 0 15,0 8 1,17-8-16,0 0 16,17 0-1,0-8-15,26-35 16,25-25 0,-9 0-16,-16 26 15,-17 8-15,-1 17 16,1 17-1,-9 17 1,-9 34-16,-8 25 16,0 9-1,17 0-15,17-17 16,0-34 0</inkml:trace>
  <inkml:trace contextRef="#ctx0" brushRef="#br0" timeOffset="4351.93">14270 4856 0,'0'0'0,"0"0"0,0 0 16,0 0-16,9 9 15,8-1-15,9 9 16,16 0 0,35 9-1,17-1-15,-34-8 16,-18-8-1,-16-1-15,0 1 16,-18-1-16,1 9 16,-9 0-16,-26 26 15,-34 8 1,9-9 0,17-16-16,17-9 15,8-9 1,9 1-16,35 8 15,24-9 1,1 9 0,25 9-16,1-1 15,-35 1 1,-17-18-16,-25 9 16,-26 17-16,-35 17 15,-67 26 1,-95-1-1,-101 9-15</inkml:trace>
  <inkml:trace contextRef="#ctx0" brushRef="#br0" timeOffset="5360.92">7477 4856 0,'0'0'0,"0"0"0,-9 0 16,-8 34 0,-26 34-1,-33 17 1,16 9 0,0-9-16,0-17 15,9-17 1,17-17-16,17-9 15,17-16 1,0-1-16,17-16 0,17-1 16,43-25-1,-9 0 1,-34 17-16,-8 0 16,-18 17-16,-25 17 31,-34 34-31,-43 60 15,-59 42 1,8-8-16,59-69 16,44-42-16,24-8 15,10-18-15,34-16 16,102-43 0,0-26-1,-26 18 1,17 7-16,-67 35 0</inkml:trace>
  <inkml:trace contextRef="#ctx0" brushRef="#br0" timeOffset="6189.51">15431 5409 0,'0'0'0,"0"0"15,0 0-15,0 0 16,0 0 0,0 0-16,0 0 15,0 0 1,0 0-16,0 0 15,0 8 1,9 9-16,-1 17 16,-8 17-1,9 17-15,-1 9 16,9-17 0,0-1-16,1-16 15,24-9 1,18-9-16,0-25 15,42-8 1,43-18-16,-17-8 16,-25 0-1,-44 0-15,-16 9 16,-17-10 0,-9-7-16,-9 25 15</inkml:trace>
  <inkml:trace contextRef="#ctx0" brushRef="#br0" timeOffset="6417.25">16242 5324 0,'0'0'0,"-9"0"15,-8 42-15,-34 43 16,-43 51-1,-8 18 1,25-27-16,-25-16 16,-9-9-1,0-9-15,25-33 16,52-35 0</inkml:trace>
  <inkml:trace contextRef="#ctx0" brushRef="#br0" timeOffset="7225.98">8501 4984 0,'0'0'0,"0"0"0,0 0 16,0 0-16,-9 17 15,-8 17-15,-17 25 16,-9-8-16,9-8 31,9-9-15,8-9-16,0 1 15,17-1 1,17-8-16,25 9 16,44-18-16,16-16 15,-34-1 1,-34-8-1,-8 0-15,0 9 16,-18 8 0,1 0-16,-18 8 15,-25 26 1,-17 9-16,-9-9 16,9 0-1,25-17-15,18-9 16,8-8-16,51-8 15,34-9 1,35-26-16,16-8 16,-42 9-1,-34 25 1,-26 17-16,-25 8 16,-35 35-16,-59 76 15,-35 93 1,-16-41-16,76-120 15</inkml:trace>
  <inkml:trace contextRef="#ctx0" brushRef="#br0" timeOffset="8104.89">17804 4924 0,'0'0'0,"0"0"0,0 0 0,-9 0 16,-8 17-16,-17 0 31,-17 17-31,-17 17 16,25-8-16,0 8 15,1-9-15,-1 1 16,9-9 0,8-9-1,9 1 1,9-1-16,8 1 16,17-1-16,-9 1 31,9-9-31,17 0 0,1 0 15,-10 0 1,1 0 0,-18 0-16,-8 25 15,-17 26 1,0 9-16,0-17 16,0-9-1,17-26-15,0-8 16,0-17-16,0 0 15</inkml:trace>
  <inkml:trace contextRef="#ctx0" brushRef="#br0" timeOffset="8343.2">17556 4831 0,'0'0'0,"26"8"0,51 35 15,17 8 1,-17-17 0,-9-9-16,17-8 15,-8-8 1,-17-18-16,-35 1 15</inkml:trace>
  <inkml:trace contextRef="#ctx0" brushRef="#br0" timeOffset="9200.27">10421 5069 0,'0'0'0,"0"0"15,0 0 1,0 8 0,-17 18-16,-26 25 15,-42 8-15,-17 1 31,8-18-31,34-16 16,26-1-16,8 1 16,9-18-16,0 1 15,17-1-15,9-16 32,33-18-32,44-25 15,8-17 1,-26 26-16,-34 25 15,-8 0-15,-18 8 16,1 9 0,-35 26-1,-42 33-15,-43 26 16,25-17 0,35-25-16,9-18 15,25 1 1,8-18-16,9-8 15,26-8-15,50-18 16,27-16 0,-9 8-1,-43 17-15,-25 17 16,-18 0 0,-25 34-16,-85 85 15,-120 136-15</inkml:trace>
  <inkml:trace contextRef="#ctx0" brushRef="#br0" timeOffset="21998.82">2671 5817 0,'0'0'0,"0"0"0,0 0 15,0 0 1,9 17-1,0 26 1,-1 42-16,-16 25 16,-18 9-16,0 9 15,-8-26 1,17-26-16,0-8 16,8-8-1,9-17 1,9-1-16,17-8 15,25-17 1,60-25-16,68-26 16,9-9-16,8-8 15,9 8 1,17 1-16,0-9 16,17 17-1,17 8-15,17 9 0,0 0 16,17 17 15,17 0-31,-8 0 16,8 9-1,-8 8-15,0-9 16,-17 9 0,-9-8-16,0-1 15,17 1 1,-8-9-16,-1-9 0,-16 9 31,-26 9-31,0 8 16,-34 8-1,17 26-15,-9-8 16,-68-1 0,0-7-16,9-1 15,-43-9 1,-17 9-16,-18-8 15,-16-1 1,-9 1-16,18-1 16,-18 1-1,-17-9-15,-8-9 16,-18 1-16,1-1 16,-9-8-1,-9-8-15,-16-26 16,-1-17-1,0-51-15,1-18 16,16 61 0</inkml:trace>
  <inkml:trace contextRef="#ctx0" brushRef="#br0" timeOffset="25265.6">4455 3368 0,'0'0'0,"0"0"0,0 0 0,0 0 31,0 0-31,0 0 16,0 0-16,-8 0 0,-26 0 16,-9-9-1,-8 1-15,-9 8 31,-25 0-15,8 8-16,26 9 0,-1 9 31,-16 16-31,0 26 16,8 9 0,17 8-16,26-9 15,26 10 1,16 16-16,18-17 15,-9-26 1,26 1-16,17-1 16,8-25-1,18-17-15,-27-17 16,-24-17 0,-18-8-16,-9-1 15,-8-8-15,-17 0 16,-59-8-1,-61 8-15,-25 17 16,-9 8 0,-144-16-1</inkml:trace>
</inkml:ink>
</file>

<file path=ppt/ink/ink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1T22:51:33.624"/>
    </inkml:context>
    <inkml:brush xml:id="br0">
      <inkml:brushProperty name="width" value="0.05292" units="cm"/>
      <inkml:brushProperty name="height" value="0.05292" units="cm"/>
      <inkml:brushProperty name="color" value="#FF0000"/>
    </inkml:brush>
  </inkml:definitions>
  <inkml:trace contextRef="#ctx0" brushRef="#br0">9167 8462 0,'0'0'0,"-9"0"0,-8 17 16,-17 34-16,-17 34 15,-18 51 1,1 26-16,17-26 16,17-9-1,25-67-15</inkml:trace>
  <inkml:trace contextRef="#ctx0" brushRef="#br0" timeOffset="797.75">22882 17587 0,'0'-8'0,"-8"-35"0,-26-144 15</inkml:trace>
  <inkml:trace contextRef="#ctx0" brushRef="#br0" timeOffset="1071.08">22344 17026 0,'0'0'0,"0"0"15,0 0-15,0 0 16,0 0 0,9 0-16,-9 0 15,9 0 1,-9 8-16,-18 43 16,-33 77-1,-26 68 1,-16 42-16,-35 76 15,-18 44-15</inkml:trace>
  <inkml:trace contextRef="#ctx0" brushRef="#br0" timeOffset="3302.43">2006 8955 0,'0'0'0,"0"9"15,0 42 1,-9 42-16,-33 35 15,-27 25 1,18-34-16,25-34 16,1-42-1,8-18-15,17-16 16,0-18 0,8-25-16,52-68 15,34-17 1,-9 8-16,1-8 15,-35 26 1,-34 42 0,-9 17-16,-16 17 15,-60 34 1,-52 42-16,-25 35 16,0 16-1,25 9-15,35-34 16,51-34-16,0-25 15,25-26 1,26-43-16,43-59 16,43-42-1,-27-18-15,-7 35 16,-18 50 0,-17 35-1,-8 16-15,-18 18 16,-16 8-1,-10 34-15,-41 42 16,-18 26 0,17-25-16,35-26 15,16-26 1,18-16-16,76-26 16,-34 0-1</inkml:trace>
  <inkml:trace contextRef="#ctx0" brushRef="#br0" timeOffset="4354.14">25221 8785 0,'-17'9'0,"-26"16"0,-25 18 0,-9-1 16,17-8-1,26-8 1,17-18-16,8 1 16,9-1-1,18 1-15,75-9 16,87 8-1,-27-8-15,-67 0 16,-18 0 0,-8 9-16,-26-1 15,-26 1 1,-16-1-16,-69 18 16,-85 16-1,-35 1-15,27-18 16,59 1-1,43-18-15,33 1 16,27-9 0,51-17-16,85-17 15,59-26-15,1-8 16,-26 0 0,-34 26-1,-51 16-15,-43 9 16,-17 17-1,-34 0-15,-60 0 16,-110 17 0,-27 17-16,44 0 15,42-8 1,51-1-16,51-16 16,26-9-1,34-9-15,120-16 16,85-1-1,94 1-15</inkml:trace>
  <inkml:trace contextRef="#ctx0" brushRef="#br0" timeOffset="5764.29">10054 8649 0,'0'0'0,"0"0"0,0 0 15,0 0-15,0 0 16,0 0-1,0 0 1,9 0-16,8 0 16,17 9-1,17 8-15,9 0 16,-17 8-16,-1 9 16,-16 17-1,-1 9 1,-8 8-16,-8 0 15,0-9 1,-9-8-16,0-8 0,-9-1 31,0-8-31,1 9 0,-9-18 16,0 1 0,17-18-1,0 1 1,0-1-16,8 1 0,44-18 31,50 1-31,26-1 0,-17 9 31,-17-8-31,-43 8 16</inkml:trace>
  <inkml:trace contextRef="#ctx0" brushRef="#br0" timeOffset="6822.24">20211 15104 0,'0'0'0,"0"0"0,34 0 0,26 17 15,25 0 1,9 8-1,-34 1-15,-18-1 16,-8 10 0,-8-1-16,0 0 15,-18 0 1,1 34-16,-26 8 16,-17-16-1,-26-1-15,0 1 16,-8-9-16,-1-17 15,18-9 1,17-8-16,17-8 16,0-1-1,17 9 1,8 9-16,27 16 16,67 18-1,9-9-15,43 0 16,76 8-1,94 9-15</inkml:trace>
  <inkml:trace contextRef="#ctx0" brushRef="#br0" timeOffset="9458.41">27739 10392 0,'0'0'0,"0"0"16,-17 9-16,-43 33 15,-26 35 1,-7-9-16,-1-17 15,25 17-15,18-8 16,17-18 0,17-8-1,17-8-15,51 16 16,111-8 0,69-17-16,16-25 15,-59-26-15,-60 0 31,-51 8-31,-43 18 16,-17 8-16,-34 0 16,-77 25-1,-102 26-15,-43 9 16,34 8 0,60-17-16,60-26 15,42 1 1,17-9-16,18-9 15,25 9-15,51 0 16,43-8 0,0-9-1,-9-9-15,-25 1 16,-26-1 0,-25 9-16,-17 0 15,-26 0 1,-77 17-1,-120 26-15,-110 25 16</inkml:trace>
  <inkml:trace contextRef="#ctx0" brushRef="#br0" timeOffset="10418.07">3312 8853 0,'0'0'0,"0"0"0,-9 9 16,-8 16 0,-9 26-1,-16 17-15,-1-8 16,9-18-16,17-16 15,0-1 1,8-16 0,9-1-16,0-8 15,17-17 1,43-42-16,8-35 16,-25 1-16,0 25 15,-18 8 1,-16 26-16,-9 17 15,-9 17 1,-51 34 0,-68 85-16,-8 9 15,59-35-15,34-33 16,26-26 0,17-17-1,17-9-15,35-16 16,50-43-16,9-26 15,-51 1-15,-26 33 32,-17 18-32,-9 8 15,1 17-15,-9 17 16,0 51 0,0 0-1,0-43-15</inkml:trace>
  <inkml:trace contextRef="#ctx0" brushRef="#br0" timeOffset="12321.77">19613 12459 0,'0'0'0,"0"0"16,0 0-16,0 0 15,0 0 1,0 9 0,0 8-16,0 0 15,26 8-15,34 9 16,8-8-1,-8-1-15,-1 1 16,-24-1 0,-10-8-1,-25 17-15,-34 17 16,-43 26 0,-25-9-16,-9-17 15,-43 8 1,18-16-16,50-18 15,35-8-15,17-8 16,17-1 0,0 1-1,0-1-15,17-8 16,0 0 0,0 0-16,8 0 15,26 0 1,43 9-16,17 25 15,-9 17-15,-25 17 16,-26-8 0,-25-1-1,-9-16-15,-17 8 16,-43 8 0,-42-8-16,-26-34 15,-69-42 1,-25-9-16,-68-9 15</inkml:trace>
  <inkml:trace contextRef="#ctx0" brushRef="#br0" timeOffset="13925.16">4438 8921 0,'0'0'0,"0"0"15,-8 9 1,-18 16 0,-8 9-16,-9 17 15,1-8 1,7-1-16,1-16 16,17-1-1,9-16-15,8-1 16,17-8-1,34 9-15,9-18 16,25-16 0,17-18-16,-25 9 15,-43 17 1,-8 0-16,-17 17 16,-1 0-1,-34 26-15,-16 25 16,-9 0-1,-1 8-15,1-8 16,17-8 0,17-18-16,17-16 15,0-9 1,0-9-16,17-8 16,26-17-1,25-25-15,17-18 16,-16 1-1,-18 16-15,-26 26 16,-16 17 0,-1 17-16,-16 0 15,-43 9 1,-26 25-16,17 17 16,-8-9-1,25-16-15,26-18 16,9 1-1,8-18-15,0-33 16,42-35 0,27-8-16,-1 17 15,-17 26 1,-17 25-16,-17 8 16</inkml:trace>
  <inkml:trace contextRef="#ctx0" brushRef="#br0" timeOffset="15146.79">28345 13369 0,'0'-8'0,"-9"-27"0,0-7 16,1 8-1,-1 0-15,1 0 16,-35 0-1,-51 0-15,-34 8 16,26 26 0,59 0-16,18 0 15,8 0 1,-1 0 0,27 0-16,76 0 15,43 0 1,17-8-16,9-9 15,-34 0-15,-44 8 16,-41 9 0,-10-8-1,-16 8-15,-43 0 16,-43 17 0,-43 0-16,-25 8 15,34 1 1,34-18-16,43 1 15,17-1 1,17-8-16,26-8 16,34-18-1,-1 1-15,18-1 16,0 1 0,-26 8-16,-25 8 15,-18 9 1,-16 0-1,-35 17-15,-68 17 16,-51 9-16,42-9 16,69-9-1,26-8-15,16-8 16</inkml:trace>
  <inkml:trace contextRef="#ctx0" brushRef="#br0" timeOffset="16199.07">11599 8607 0,'0'0'0,"0"0"0,17 17 15,9-9 1,8 9 0,0-8-16,0-1 15,-8-8 1,-1 9-16,1-1 16,0 1-16,-9-9 15,-9 8 1,1 9-16,-1 9 15,-16 8 1,-9 25-16,-26 9 16,9-17-1,0-17 1,17-8-16,-1-1 16,18-8-1,0 0-15,26-8 16,17 8-16,17 0 15,-26-9 1,-9 1 0,1-1-16,-18 1 15,1-1 1,-26 18-16,-34 25 16,-52 25-16,1-16 15,59-35 1,26-16-1,9-9-15</inkml:trace>
  <inkml:trace contextRef="#ctx0" brushRef="#br0" timeOffset="17143.99">13332 8751 0,'0'0'0,"0"0"15,-9 0-15,-8 26 16,-9 16 0,-8 9-16,0 0 15,17 9 1,0-1-16,0-16 16,8-18-1,9 1-15,0-9 16,17 0-1,52 0-15,50 0 16,-8-17 0,-51-9-16,0-8 15,16-8 1,-16-1-16,-26 9 16</inkml:trace>
  <inkml:trace contextRef="#ctx0" brushRef="#br0" timeOffset="17366.87">13528 8921 0,'-9'17'0,"-25"51"0,-43 77 15,-8 50 1,17-25 0,25-59-16,26-68 15</inkml:trace>
  <inkml:trace contextRef="#ctx0" brushRef="#br0" timeOffset="18350.5">20168 10205 0,'0'0'0,"-8"9"0,-10 25 16,-33 25-16,0 1 16,0-1-1,8-16 1,9 0-16,8-18 15,9 1-15,0-1 16,17 9 0,26 0-16,34 0 15,8 0 1,17 0 0,43-8-16,-17-1 15,-17-16 1,-17-1-16,-26-16 15,-25-1 1,-9 1-16</inkml:trace>
  <inkml:trace contextRef="#ctx0" brushRef="#br0" timeOffset="18586.62">20578 10299 0,'-9'0'0,"-25"59"15,-68 78 1,-9 24 0,42-25-16,10 9 15,-18 8 1,-8-43-16,8-42 15,34-42-15</inkml:trace>
  <inkml:trace contextRef="#ctx0" brushRef="#br0" timeOffset="19634.43">6085 8998 0,'0'0'0,"0"0"16,0 8-16,-8 18 15,-26 16 1,-17 18-16,-1-9 16,10-9-1,16-16-15,9-9 16,17-9 0,17-16-16,26-18 15,16-33 1,44-52-1,25 1-15,-51 25 16,-26 42-16,-17 18 16,-17 8-1,-8 8 1,-18 9-16,-59 43 16,-35 50-1,-16 26-15,-1-8 16,44-35-16,33-25 15,17-17 1,26-25-16,9-9 16,34-9-1,8-25-15,26-17 16,25-25 0,-8-1-16,-43 35 15,-25 16 1,-9 9-1,-9 17-15,-33 34 16,-35 51-16,-8 68 16,16 51-1,35-76-15,17-102 16</inkml:trace>
  <inkml:trace contextRef="#ctx0" brushRef="#br0" timeOffset="20753.47">27704 15036 0,'0'0'0,"0"0"0,0 0 15,0 0 1,0 0-1,0 0-15,-8 0 16,-1 0-16,-16 17 16,-9 0-1,-9 17-15,-25 0 16,-18 8 0,27-8-16,24-8 15,18 0 1,0-1-16,0-8 15,17 0 1,17 0 0,26 0-16,25-8 15,18-1 1,-27-8-16,-16 0 16,-17 0-1,-18 0-15,1 0 16,-1 0-1,-25 0-15,-26 0 16,-8 0 0,-8 9-16,16-1 15,17-8 1,18 0-16,16 0 16,61 0-16,41 0 15,27 0-15,-17 0 16,-61 0-1,-25 0 1,-17 0 0,-42 9-16,-265 42 0,-111 17 31</inkml:trace>
  <inkml:trace contextRef="#ctx0" brushRef="#br0" timeOffset="22979.29">22336 8326 0,'0'0'0,"0"0"0,0 0 16,0 0-16,0 17 15,-9 25 1,-8 43-16,-42 35 15,-27 16 1,-16-9-16,8-33 16,43-26-1,17-26 1,17-8-16,8-17 16,9-8-16,9-9 15,33 8 1,52 1-1,0-9-15,-34 0 16,-26 8 0,-9 1-16,1 8 15,-9 17-15,9 68 16,-9 68-16,-26-51 16,-16-59-1,-9-9 1,-1-17-1,18-17-15,9-17 16,8 0 0,0 0-16</inkml:trace>
  <inkml:trace contextRef="#ctx0" brushRef="#br0" timeOffset="23208.55">22797 8343 0,'0'0'0,"8"17"0,9 34 16,9 8-1,42 1-15,60 17 16,9-18-1,17-25-15,170 17 16</inkml:trace>
  <inkml:trace contextRef="#ctx0" brushRef="#br0" timeOffset="23846.64">14902 8624 0,'0'0'0,"0"0"0,-9 8 15,-8 18-15,-8 16 16,-1 18 0,1 25-16,-18 25 15,0-25 1,9-25-16,9-35 16,7 1-1,1-18-15,9 1 16,8-1-1,0-8-15</inkml:trace>
  <inkml:trace contextRef="#ctx0" brushRef="#br0" timeOffset="24120.67">14595 8709 0,'0'0'0,"0"0"0,0 0 15,0 0-15,0 0 16,0 0 0,0 0-16,0 0 15,0 0 1,0 0-1,0 0-15,0 0 16,0 0 0,0 0-1,8 0-15,1 0 0</inkml:trace>
  <inkml:trace contextRef="#ctx0" brushRef="#br0" timeOffset="24721.76">14817 8726 0,'0'0'0,"0"0"31,-9 0-31,1 17 16,-1 0 0,1 8-16,-1-8 15,0 9 1,1-1-16,-1-8 15,1 0 1,-1 9-16,1 8 16,-9-9-1,8 1-15,9-1 16,0 1 0,0-1-16,9 1 15,-1-1 1,1-8-16,-1 0 15,9 0 1,0 0-16,1 17 16,-1 17-1,-9 9-15,-16-1 16,-9 1 0,8-9-16,0-17 15,1-25 1,-18-9-16,1-26 15,16 9 1</inkml:trace>
  <inkml:trace contextRef="#ctx0" brushRef="#br0" timeOffset="24925.12">14996 8666 0,'0'0'0,"0"0"0,8 9 16,52 33-1,8 18-15,35-9 16,76-9 0,-8-33-16,17-35 15,162-33-15</inkml:trace>
  <inkml:trace contextRef="#ctx0" brushRef="#br0" timeOffset="26005.72">27218 6685 0,'0'0'0,"0"0"0,0 0 16,-9-9-16,-16 1 16,-52-10-1,-60 10-15,9 8 16,-17 26 0,-85 33-16,59 18 15,26 25 1,-26 8-1,18 18-15,42-1 16,60 1 0,25-18-16,35-8 15,59 1-15,60-18 16,-26-43 0,-25-25-1,25-17-15,-16-17 16,-18-8-1,-34-1-15,-17 1 16,-25-26 0,-35-9-16,-162 0 15,-162-16 1</inkml:trace>
</inkml:ink>
</file>

<file path=ppt/ink/ink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1T22:52:30.212"/>
    </inkml:context>
    <inkml:brush xml:id="br0">
      <inkml:brushProperty name="width" value="0.05292" units="cm"/>
      <inkml:brushProperty name="height" value="0.05292" units="cm"/>
      <inkml:brushProperty name="color" value="#FF0000"/>
    </inkml:brush>
  </inkml:definitions>
  <inkml:trace contextRef="#ctx0" brushRef="#br0">15252 10971 0,'0'0'0,"-9"8"15,1 9-15,-1 0 16,1 9 0,-1-1-16,1 1 15,-1-1 1,1-8-16,-1 9 16,-8-1-1,0 9-15,0-8 16,0-1-16,8-8 15,1-8 1,8-1 0,0 1-16,0-1 15,0-8 1,17 9-16,17-1 16,9 1-16,25-9 15,9-9 1,8 1-1,9-9-15,-9 8 16,-16 9 0,-18 0-16,17 0 15,17 9 1,1-1-16,8 1 16,0-9-1,-18 8 1,27 1-16,8-1 0,-9 1 15,1-9 1,-10-9 0,1 1-16,17 8 15,-8 0 1,-1 0-16,-8 0 16,-17 0-1,17 8-15,0 1 16,0-1-1,8 1 1,-17-1-16,-8-8 16,8-8-1,-8-1-15,-17 9 16,-17 0-16,-1-8 16,1 8-1,-17 0 1,-1 0-16,1 0 0,-18 0 15,1 0 1,-1 0 0,-8 0-16,9 0 15,-9 0 1,9-9-16,-1 1 16,9-18-1,0-8-15,0-8 16,17-35-1,-17 26-15</inkml:trace>
  <inkml:trace contextRef="#ctx0" brushRef="#br0" timeOffset="1802.15">20697 9636 0,'0'0'0,"0"0"0,-8 0 31,-9 0-31,-26 17 16,-17 0 0,-17 8-16,-25 26 0,8 0 15,17 26 16,-8 16-31,-17 9 16,16-17 0,-8 0-16,17-17 15,35-17-15,16-17 0,9-8 32,0-18-17,9-16-15,-1-9 16,0-17-1,1-26-15,8-8 0,0 26 32,0 16-32,0 9 15,0 9 1,0 8-16,-9 0 16,1 25-16,-18 9 15,9 9 1,0-1-1,17 1-15,0-1 16,9-8 0,-1-8-16,26 8 15,43-8-15,68-35 0,162-42 32</inkml:trace>
  <inkml:trace contextRef="#ctx0" brushRef="#br0" timeOffset="6906.18">17591 11507 0,'0'0'0,"0"0"0,8 8 16,1 9-1,-1 0-15,-8 26 16,0 16-1,0 9-15,-8-17 16,-1-17 0,-8 9-1,0-1-15,8-8 16,9 9-16,0-9 16,9 0-1,8 0-15,9-9 16,8 1-1,34-9 1,17-17-16,-16-26 16,42-16-1,42-9-15,-16 17 16,-26 17 0,8 0-16,35 0 15,-1 17-15,-42 0 16,17 8-1,35 1-15,-18-1 16,-43 1 0,-8 8-1,26 8-15,8-8 16,-18 9 0,-33-18-16,-34 1 15,-17-1 1,-9-8-16,-9 0 15,1-8-15,-1-1 16,1 1 0,-1-9-1,1 8-15</inkml:trace>
  <inkml:trace contextRef="#ctx0" brushRef="#br0" timeOffset="10380.29">21252 12051 0,'0'0'0,"0"0"0,0 0 15,0 0-15,0 0 16,9-9-1,33 1 1,27-18 0,41 9-16,-7 0 15,59 0 1,86 0 0,50 0-16,1 0 15,102-8 1,51-9-16,-85-9 15,9 9 1</inkml:trace>
  <inkml:trace contextRef="#ctx0" brushRef="#br0" timeOffset="17063.58">14194 13854 0,'0'0'0,"17"0"0,68 0 16,69 0 0,42 0-1,34 8-15,-8-8 0,34-8 16,111 8 0</inkml:trace>
  <inkml:trace contextRef="#ctx0" brushRef="#br0" timeOffset="18626.66">16925 14577 0,'0'0'0,"0"0"15</inkml:trace>
  <inkml:trace contextRef="#ctx0" brushRef="#br0" timeOffset="20123.65">15465 14509 0,'0'0'0,"0"0"0,0 0 0,0 0 31,0 0-15,9 8-16,-9 9 16,0 9-1,0 25-15,0 0 16,8 8-16,1-8 16,8-8-1,0-1 1,17 1-16,17-1 15,1-16 1,-18-18-16,8 1 0,35-18 31,26-8-31,25-8 16,-17 8 0,-35 8-16,27 1 15,25-1-15,0 9 0,-17-8 31,-17-1-15,25 1-16,26-9 16,-17 0-1,-34 8-15,17 9 16,26 0 0,8 0-16,-34 0 15,-9 17-15,43-8 0,18-1 31,-35-8-15,0 0-16,34-8 16,-9-1-1,-25 9-15,9 0 16,51 0 0,-35-8-16,-8-1 15,35 1 1,-18-9-16,-26 0 15,1 8 1,25 1-16,-25 8 16,-43 8-1,8-8-15,26 9 16,-9-1-16,-8 1 16,-34-1-1,-26 1-15,9-1 16,8 1-1,-8-1 1,-9-8-16,-8 0 16,-17 0-1,-1-8-15,-16-1 16,-1-8-16,1-25 16,-18-18-1,1-16-15,-9-52 16,-34-161-1</inkml:trace>
  <inkml:trace contextRef="#ctx0" brushRef="#br0" timeOffset="22112.53">18000 15487 0,'0'0'0,"0"0"0,0 0 16,0 0 0,0 0-1,0 0-15,0 0 16,0 0-16,17 8 15,26 1 1,34-1 0,51-8-16,-34-8 15,17-18 1,85-8-16,-34 0 16,17 0-1,69 0-15,-52 9 16,35-18-16,127-25 15</inkml:trace>
  <inkml:trace contextRef="#ctx0" brushRef="#br0" timeOffset="23091.09">21679 15699 0,'0'0'0,"0"0"15,0 0-15,0 0 16,17 0-1,0 0 1,60-8-16,110 8 16,70-9-1,50 1-15,120-18 16,8-8-16,-34 0 16,34 0-1,-17 9 1,-25-9-16</inkml:trace>
  <inkml:trace contextRef="#ctx0" brushRef="#br0" timeOffset="29425.2">15252 16286 0,'0'0'0,"0"0"0,0 0 15,0 0-15,0 9 16,-9 33-16,1 26 15,-1 9 1,-8-9 0,0-17-1,17-26-15,0 1 16,0-18-16,0 1 16,9-1-16,-1 1 15,1-1 1,16 1-1,35 8 1,68-9-16,9 1 16,-35-9-16,9 0 15,77 0-15,-26 0 32,-8 0-32,76 0 0,-42 8 31,17-8-31,34 9 15,-52-9 1,52 0-16,-34 8 16,0 1-16,43 8 15,-61 8 1,44 9-16,-43 0 16,-69-8-16,43 8 15,-8-9 1,-43-16-16,-51-1 31,-26-16-31,-9-1 16,-8-25-16,-8 0 15,-9-25 1,0 16 0</inkml:trace>
  <inkml:trace contextRef="#ctx0" brushRef="#br0" timeOffset="32367.18">21235 17145 0,'0'0'15,"0"0"-15,0 0 0,0 0 16,0 0-1,0 0-15,-9 0 16,-16 0 0,-26 17-16,-26 17 15,-17 9 1,9 8 0,16 0-16,10 17 15,-10-9-15,18-16 16,8-18-1,9-16-15,9-1 16,8-16 0,-9-9-16,9-9 15,0-8 1,8 17-16,1 0 16,-1 0-1,9 9-15,0 8 16,0 0-1,-17 8-15,-26 26 16,-16 43 0,-1 8-16,17-17 15,26-34 1,0-9-16,17 1 16,9-18-1,59 9-15,77-8 16,162 16-16</inkml:trace>
</inkml:ink>
</file>

<file path=ppt/ink/ink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1T22:53:23.108"/>
    </inkml:context>
    <inkml:brush xml:id="br0">
      <inkml:brushProperty name="width" value="0.05292" units="cm"/>
      <inkml:brushProperty name="height" value="0.05292" units="cm"/>
      <inkml:brushProperty name="color" value="#FF0000"/>
    </inkml:brush>
  </inkml:definitions>
  <inkml:trace contextRef="#ctx0" brushRef="#br0">14979 10648 0,'0'0'0,"0"0"0,8 0 0,35 0 0,17 0 16,17-9 15,51-8-31,68-8 16,-34-9-1,-8 0-15,51 0 16,-60 8 0,0 9-16,8 8 15,-25 9 1,-17-8-16,-42-1 15,-18-8 1,0-8-16,-25 8 16,-18 17-1</inkml:trace>
  <inkml:trace contextRef="#ctx0" brushRef="#br0" timeOffset="304.13">16626 10180 0,'9'-9'0,"42"-8"15,77-17-15,51 0 16,-8 17 0,-35 9-16,-25 8 15,-17 0 1,-34 0-16,-17 8 15,-18 1-15,-16 16 16,-43 60 0,-103 94-1,-119 76-15,17-34 16,-9 0 0</inkml:trace>
  <inkml:trace contextRef="#ctx0" brushRef="#br0" timeOffset="28415.75">15909 4754 0,'0'0'0,"0"8"0,-8 27 16,-1 33-1,-8 8 1,0 1-16,17-1 16,-9 1-16,9-18 15,0 1 1,0-9-16,0-34 16</inkml:trace>
  <inkml:trace contextRef="#ctx0" brushRef="#br0" timeOffset="29077.12">17232 4499 0,'0'0'0,"0"0"16,0 0-1,17 17-15,17 0 16,0 8-1,-8 1 1,0-9-16,-18 0 16,1-9-16,-1 1 15,1 8-15,-1 0 16,1 17 0,-26 17-1,-17 26-15,-18-18 16,-7 1-1,16-9 1,17-17-16,9-9 16,17 1-1,0-1-15,43 1 16,17-1-16,8 1 16,34 8-1,86-9 1,145 9-16</inkml:trace>
  <inkml:trace contextRef="#ctx0" brushRef="#br0" timeOffset="39932.12">18546 4116 0,'0'0'0,"0"0"0,0 0 16,0 0-1,0 0 1,0 0 0,0 0-16,0 0 15,0 0 1,0 0-16,0 0 15,0 0 1,0 0-16,0 0 16,18 0-1,16 17-15,17 0 16,26 9 0,25-1-16,9-8 15,26 0 1,50-8-16,27-1 15,25-8 1,17-8-16,51-9 16,26-17-1,-26 0-15,60 0 16,9 8 0,-43 18-16,85 8 15,0 8 1,-25 18-16,25-18 15,17-8 1,17-17-16,-42 9 16,0-9-1,-18-9-15,10 9 16,16 0 0,-34-8-16,-9 8 15,-8-9 1,9-8-16,-35 17 15,-8 0 1,17-25-16,-43-1 16,-25 17-16,-17-8 15,-52 0 1,-42 9-16,-52 16 16,-42-8-1,-26 17 1,-25 0-16,-18 0 15,1 0-15,-1 0 16,1 0 0,-1 0-1,-8 0-15,0 0 16,0 9-16,0 42 16,-8 43-1,-9 42 1,-9 34-16,-16 25 15,-10 9 1,-7 17-16,7 18 16,18-1-16,9-9 15,8-8 1,17-8 0,0-34-16,0-26 15,8-17 1,-8-26-16,9-25 15,-1-25 1,-8-18-16,0-16 16,0-9-1,0-8 1,0-1-16,0 1 0,-8-1 16,-9 1-1,-26-18 1,-34 1-16,-42-9 15,-35 0 1,9-18 0,-51 1-16,-1 0 15,18 0-15,-43 0 16,-8 9 0,-35-1-1,-8 1-15,-26-1 16,-8 9-1,-9-8-15,-34 8 16,43 8-16,8 1 16,-8 8-1,-26 8 1,-42 1-16,50 8 16,-8-9-1,-8-16-15,25-1 16,-25-8-16,25 0 15,0 0 1,-59 17-16,59-8 16,9-1-1,17 1-15,16-18 16,-7-8 0,-1-17-1,9 0-15,0-8 16,8 16-1,-16 1-15,-10 8 16,18 17 0,17 0-16,9-17 15,16 0 1,78 0-16,-9-9 16,25 9-1,94 17-15</inkml:trace>
  <inkml:trace contextRef="#ctx0" brushRef="#br0" timeOffset="51306.49">3090 5502 0,'0'0'0,"0"0"0,0 9 16,-9 42 0,1 34-16,-1 17 15,1-25 1,-1-26-16,9-9 15,0-16-15,0-1 16,9 1-16,-1-1 16,9-16-1,9-1-15,16-8 16,-16 0 0</inkml:trace>
  <inkml:trace contextRef="#ctx0" brushRef="#br0" timeOffset="53479.14">3371 5485 0,'0'0'0,"0"0"0,-8 0 31,-1 0-31,-8 26 16,-8 25-1,7 34-15,1 17 16,17-25-1,0-26-15,17-17 0,1 17 16,-1 8-16,0 1 16,25 16-1,18 1 1,-9-18-16,-8-8 31,0-8-31,-18-1 16,9-16-1,1-1-15,16 1 16,-9-18 0,35 9-16,68-8 15,18-9 1,-1-9-16,43 18 16,-9-1-1,-8 1-15,51-1 16,-35 1-1,70 8-15,-27 0 16,26 8 0,0 1-16,-8 8 15,-1-8 1,-76-1-16,68 9 16,-77 0-1,69-8-15,-35-18 16,-76-8-1,102-17-15,-51-17 16,-94 9 0,85-26-16,9 8 15,-95 26 1,18-9-16,43 9 16,0 9-1,-52 16-15,-42 1 16,17-9-1,25-9-15,-8 1 16,0 8 0,-17 0-16,-26 8 15,-8-8 1,-18 0-16,1 0 16,-18 0-1,1 0-15,-1 0 16,1 0-1</inkml:trace>
  <inkml:trace contextRef="#ctx0" brushRef="#br0" timeOffset="54386.31">15568 5902 0,'0'0'0,"0"0"0,0 9 15,-9 8 1,-8 34 0,-8 42-16,-1 18 15,9-18 1,17-25 0,17-17-16,9-8 15,42 8 1,9-9-16,-1 1 15,52 8-15,60-8 16,-68-26 0,-9-9-16,68 1 15,-8-1-15,-78 1 32,10 8-32,51 17 15,25 0-15,-68 0 16,-52-17-1,27 17-15,16 8 16,-8-16-16,-17-18 16,-26 1-1,-25-1-15,-1-8 16,10-8 0,-1-26-1,-9-26 1,1-16-16,-1-9 15,-7-18-15,-1-75 16,8-145-16</inkml:trace>
  <inkml:trace contextRef="#ctx0" brushRef="#br0" timeOffset="55972.34">19571 6685 0,'0'17'0,"0"85"15,0 59-15,17 1 16,17-26 0,9-9-16,8-16 15,17-18 1,34-7-16,61-1 15,50-26 1,52-25-16,59-42 16,17-43-1,35-17-15,16 0 16,10-1 0,7 1-16,27 9 15,16 16 1,17 18-1,52 8-15,8 25 16,17 9-16,-8 17 16,0 17-1,-18 0-15,-50 0 16,-26 1 0,-18 7-1,-33 9-15,68 26 16,-69 16-16,-118-33 15,33-1 1,-77-8-16,-102-17 16,-34-8-1,-17-9-15,-43-9 16,-8-16 0,-1-26-16,1-34 15,0-94 1,-1-169-1</inkml:trace>
  <inkml:trace contextRef="#ctx0" brushRef="#br0" timeOffset="65683.49">25861 9780 0,'0'0'0,"0"0"0,-9 0 16,-16 0-16,-18 0 16,9 0-1,8 0 1,1 0-16,8 9 0,0 8 15,0 8 1,-9 26 0,0 26-1,-8 25-15,9-17 16,7-34 0,18 25-16,0 9 15,0 0 1,9 1-16,0-10 15,-9-8 1,-9 0-16,9 0 16,-9 9-1,9-9-15,0-17 0,0-9 16,9-16 0,8-1-16,17 1 15,35-1 1,41-16-16,18-9 31,-17-9-31,43-25 16,42-8-16,-25-9 15,17 8 1,17 1 0,-18 25-16,27 8 15,-43 26 1,-1 26-16,52 8 15,-51-9-15,-60-8 16,17-8 0,-9-9-16,-25-9 15,-17 1 1,-26-9 0,-8-9-16,-18 1 0,-7-9 31,-1-9-31,0-25 15,-9-8 1,9-26-16,0-43 16,-8 1-1,-9 25-15,-9 25 16,9 17 0,0 9-16,0 9 15,0 8 1,0 0-16,0 17 15,0 0 1,0 0-16,0 8 16,0 1-1,0 8-15,-8-9 16,-18 1 0,-8-18-16,-17 1 15,-52-18 1,-7-8-1,-36-8-15,-50-9 16,-26 0 0,-25 8-16,-69-16 15,-17 8 1,-43 0-16,-42 16 0,-8 18 16,33 17-1</inkml:trace>
</inkml:ink>
</file>

<file path=ppt/ink/ink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1T23:05:02.257"/>
    </inkml:context>
    <inkml:brush xml:id="br0">
      <inkml:brushProperty name="width" value="0.05292" units="cm"/>
      <inkml:brushProperty name="height" value="0.05292" units="cm"/>
      <inkml:brushProperty name="color" value="#FF0000"/>
    </inkml:brush>
  </inkml:definitions>
  <inkml:trace contextRef="#ctx0" brushRef="#br0">3875 9499 0,'0'-17'0,"34"-144"0</inkml:trace>
  <inkml:trace contextRef="#ctx0" brushRef="#br0" timeOffset="1172.95">4430 9185 0,'0'0'0,"0"0"0,0 0 16,0 0 0,0 17-16,0 17 15,0 17 1,0 34-16,-9 25 31,1-16-31,-1-26 16,0 9-16,1 8 15,8-9 1,0-8-16,0-17 16,0-8-1,8-18 1,1-16-16,0-1 0,25-8 16,34-8-1,34-18-15,18 1 16,-35 8-1,-8 0 1,34 0-16,17 8 16,0-8-1,-17 0-15,26 0 16,25 9-16,-26 8 16,-50 0-1,-1 0-15,9 8 16,-26 1-1,-17-1-15,-8 1 16,-17-1 0,-9 1-1,-9-18 1,9-8-16,-8-8 16,-1-35-16,1 18 15</inkml:trace>
  <inkml:trace contextRef="#ctx0" brushRef="#br0" timeOffset="5555.8">4225 13539 0,'0'0'0,"0"0"0,0 0 0,0 0 31,0 0-31,0 0 16,-9 0-16,1 17 15,-1 0 1,1 9-1,-1 8-15,1 8 16,-1 9 0,9 0-16,0 9 0,0-1 31,0-8-31,0-8 16,0-1-16,9-16 15,8-1 1,17 1-16,17-1 15,17-16 1,43-18 0,43-16-16,17-1 15,-1-8 1,18 0-16,-34 0 16,-26 17-1,17 17-15,8 0 16,-16 17-16,-35 0 15,-16 0 1,-9-8 0,-26-1-16,-26 1 15,1-1-15,-17-8 16,-9-8 0,0-18-1,-18-84-15,-24-26 16,25 85-16</inkml:trace>
  <inkml:trace contextRef="#ctx0" brushRef="#br0" timeOffset="8898.45">3918 11524 0,'0'0'0,"0"0"0,0 0 16,0 0-1,0 0 1,0 0-16,0 0 16,0 0-1,0 0-15,0 0 16,0 0-16,0 8 15,0 18-15,8 8 16,1 8 0,-1 9-1,1-8 1,-1-1-16,1 1 16,-9-1-16,0 1 15,-9-1 1,9 1-1,0-1-15,9-16 16,8-1-16,0 1 16,26-9-16,16-9 15,27-8 1,25-17 0,17-8-1,17-1-15,8 1 16,1 8-1,17 0-15,-1 17 16,27 0-16,-10 0 16,1 0-1,-9 8-15,-8 9 16,-34 0 0,-1 0-1,-16 0-15,-35 0 0,-17 0 16,-16-8-1,-10-1 1,-16-8 0,8-8-16,0-26 15,0-17-15,9-43 16,8-67 0,43-137-1</inkml:trace>
  <inkml:trace contextRef="#ctx0" brushRef="#br0" timeOffset="19858.25">4353 15682 0,'0'0'0,"0"0"0,0 0 16,0 0 0,0 0-16,0 9 15,0 16 1,-9 43-16,1 26 15,-1 8 1,-8-26-16,0-16 16,17-18-1,0-8-15,0-8 16,9 0 0,8-9-16,0 0 15,0-9 1,17 1-16,26-1 15,25-16 1,26-9-16,0 0 16,17-9-16,26-17 15,16 1 1,-16 8-16,-17 17 16,8 8-1,-9 9-15,-8 9 16,-8 8-1,-1 8-15,-8 1 16,0-18 0,-9 1-1,-8-9-15,-8-9 16,-27 1 0,-16-1-16,0-8 15,-18 0-15,1 0 16,0-8-1,-9-1 1,0-25-16,8-34 16,-8 34-1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1DDF0B-ACD3-4CCE-9D96-FD5CAF21C13D}" type="datetimeFigureOut">
              <a:rPr lang="en-US" smtClean="0"/>
              <a:t>4/1/2026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DA50AE-6676-4050-BB67-AE6E697DAE8C}" type="slidenum">
              <a:rPr lang="en-US" smtClean="0"/>
              <a:t>‹#›</a:t>
            </a:fld>
            <a:endParaRPr lang="en-US"/>
          </a:p>
        </p:txBody>
      </p:sp>
    </p:spTree>
    <p:extLst>
      <p:ext uri="{BB962C8B-B14F-4D97-AF65-F5344CB8AC3E}">
        <p14:creationId xmlns:p14="http://schemas.microsoft.com/office/powerpoint/2010/main" val="2121154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Amortized: “running average”</a:t>
            </a:r>
          </a:p>
        </p:txBody>
      </p:sp>
      <p:sp>
        <p:nvSpPr>
          <p:cNvPr id="4" name="Slide Number Placeholder 3"/>
          <p:cNvSpPr>
            <a:spLocks noGrp="1"/>
          </p:cNvSpPr>
          <p:nvPr>
            <p:ph type="sldNum" sz="quarter" idx="5"/>
          </p:nvPr>
        </p:nvSpPr>
        <p:spPr/>
        <p:txBody>
          <a:bodyPr/>
          <a:lstStyle/>
          <a:p>
            <a:fld id="{98DA50AE-6676-4050-BB67-AE6E697DAE8C}" type="slidenum">
              <a:rPr lang="en-US" smtClean="0"/>
              <a:t>32</a:t>
            </a:fld>
            <a:endParaRPr lang="en-US"/>
          </a:p>
        </p:txBody>
      </p:sp>
    </p:spTree>
    <p:extLst>
      <p:ext uri="{BB962C8B-B14F-4D97-AF65-F5344CB8AC3E}">
        <p14:creationId xmlns:p14="http://schemas.microsoft.com/office/powerpoint/2010/main" val="17947008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41DCF-5FA9-3BBE-A6DC-4C4767E77E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7D8AAD4-9F4E-2546-4A20-345BE6926F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EB68BC9-B242-D863-6297-36224D351B7D}"/>
              </a:ext>
            </a:extLst>
          </p:cNvPr>
          <p:cNvSpPr>
            <a:spLocks noGrp="1"/>
          </p:cNvSpPr>
          <p:nvPr>
            <p:ph type="dt" sz="half" idx="10"/>
          </p:nvPr>
        </p:nvSpPr>
        <p:spPr/>
        <p:txBody>
          <a:bodyPr/>
          <a:lstStyle/>
          <a:p>
            <a:fld id="{2DB93FBE-67AC-4C5C-B62E-CFFDEAF9BE53}" type="datetimeFigureOut">
              <a:rPr lang="en-US" smtClean="0"/>
              <a:t>4/1/2026</a:t>
            </a:fld>
            <a:endParaRPr lang="en-US"/>
          </a:p>
        </p:txBody>
      </p:sp>
      <p:sp>
        <p:nvSpPr>
          <p:cNvPr id="5" name="Footer Placeholder 4">
            <a:extLst>
              <a:ext uri="{FF2B5EF4-FFF2-40B4-BE49-F238E27FC236}">
                <a16:creationId xmlns:a16="http://schemas.microsoft.com/office/drawing/2014/main" id="{7B6D43E7-A090-881E-D908-BB9CC53DDD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DFBC9-B9F9-85A6-26A1-9D7E515D0331}"/>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543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BB011-50E5-247E-0EB3-D47C59C4FF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A71371-A022-A3A5-E49C-D2CCEC4E25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8F92F8-B436-FF4B-567C-6CF9F3F68596}"/>
              </a:ext>
            </a:extLst>
          </p:cNvPr>
          <p:cNvSpPr>
            <a:spLocks noGrp="1"/>
          </p:cNvSpPr>
          <p:nvPr>
            <p:ph type="dt" sz="half" idx="10"/>
          </p:nvPr>
        </p:nvSpPr>
        <p:spPr/>
        <p:txBody>
          <a:bodyPr/>
          <a:lstStyle/>
          <a:p>
            <a:fld id="{2DB93FBE-67AC-4C5C-B62E-CFFDEAF9BE53}" type="datetimeFigureOut">
              <a:rPr lang="en-US" smtClean="0"/>
              <a:t>4/1/2026</a:t>
            </a:fld>
            <a:endParaRPr lang="en-US"/>
          </a:p>
        </p:txBody>
      </p:sp>
      <p:sp>
        <p:nvSpPr>
          <p:cNvPr id="5" name="Footer Placeholder 4">
            <a:extLst>
              <a:ext uri="{FF2B5EF4-FFF2-40B4-BE49-F238E27FC236}">
                <a16:creationId xmlns:a16="http://schemas.microsoft.com/office/drawing/2014/main" id="{09C755B9-83BE-E117-954F-A47925F5BF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E45716-8D01-8E2F-8276-3A903E607C10}"/>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31678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264CF-1BBA-680C-4F96-017144A15A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089E9BE-1B28-C587-A2C5-253ECF74E1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3E3E68-CE19-CACB-1EDD-351F4F9C9466}"/>
              </a:ext>
            </a:extLst>
          </p:cNvPr>
          <p:cNvSpPr>
            <a:spLocks noGrp="1"/>
          </p:cNvSpPr>
          <p:nvPr>
            <p:ph type="dt" sz="half" idx="10"/>
          </p:nvPr>
        </p:nvSpPr>
        <p:spPr/>
        <p:txBody>
          <a:bodyPr/>
          <a:lstStyle/>
          <a:p>
            <a:fld id="{2DB93FBE-67AC-4C5C-B62E-CFFDEAF9BE53}" type="datetimeFigureOut">
              <a:rPr lang="en-US" smtClean="0"/>
              <a:t>4/1/2026</a:t>
            </a:fld>
            <a:endParaRPr lang="en-US"/>
          </a:p>
        </p:txBody>
      </p:sp>
      <p:sp>
        <p:nvSpPr>
          <p:cNvPr id="5" name="Footer Placeholder 4">
            <a:extLst>
              <a:ext uri="{FF2B5EF4-FFF2-40B4-BE49-F238E27FC236}">
                <a16:creationId xmlns:a16="http://schemas.microsoft.com/office/drawing/2014/main" id="{5DE49855-AB14-5CF9-EE88-AB42D1DF4D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DE2C96-8A85-4C99-39A1-9B9DB31D7A5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77264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89EEC-003E-DFFB-2D04-A2E70FE13D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BFE0F4-58A0-D6D9-6AAC-CD97965C20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7E4C68-9C36-2696-B323-CF0642D6DB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9713B3-5A96-0F1A-CFE7-8563FD24B87E}"/>
              </a:ext>
            </a:extLst>
          </p:cNvPr>
          <p:cNvSpPr>
            <a:spLocks noGrp="1"/>
          </p:cNvSpPr>
          <p:nvPr>
            <p:ph type="dt" sz="half" idx="10"/>
          </p:nvPr>
        </p:nvSpPr>
        <p:spPr/>
        <p:txBody>
          <a:bodyPr/>
          <a:lstStyle/>
          <a:p>
            <a:fld id="{2DB93FBE-67AC-4C5C-B62E-CFFDEAF9BE53}" type="datetimeFigureOut">
              <a:rPr lang="en-US" smtClean="0"/>
              <a:t>4/1/2026</a:t>
            </a:fld>
            <a:endParaRPr lang="en-US"/>
          </a:p>
        </p:txBody>
      </p:sp>
      <p:sp>
        <p:nvSpPr>
          <p:cNvPr id="6" name="Footer Placeholder 5">
            <a:extLst>
              <a:ext uri="{FF2B5EF4-FFF2-40B4-BE49-F238E27FC236}">
                <a16:creationId xmlns:a16="http://schemas.microsoft.com/office/drawing/2014/main" id="{818D724B-C264-2548-CAFF-305FE7D37B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193A13-EBDF-17F2-DF34-5BA3D79328AA}"/>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65914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19F2D-6C68-B3F6-3BC7-2A9EE6BE2B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32A2B36-9CB6-0E61-D14F-48AD642FCA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551B63-A4A2-BD66-BF76-72528E69BA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EF4911-72D8-7120-897F-434F05D8DA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354135-3D54-9447-778A-86081F0473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52A4A-AE91-8A3A-8DE2-74205F39FDCF}"/>
              </a:ext>
            </a:extLst>
          </p:cNvPr>
          <p:cNvSpPr>
            <a:spLocks noGrp="1"/>
          </p:cNvSpPr>
          <p:nvPr>
            <p:ph type="dt" sz="half" idx="10"/>
          </p:nvPr>
        </p:nvSpPr>
        <p:spPr/>
        <p:txBody>
          <a:bodyPr/>
          <a:lstStyle/>
          <a:p>
            <a:fld id="{2DB93FBE-67AC-4C5C-B62E-CFFDEAF9BE53}" type="datetimeFigureOut">
              <a:rPr lang="en-US" smtClean="0"/>
              <a:t>4/1/2026</a:t>
            </a:fld>
            <a:endParaRPr lang="en-US"/>
          </a:p>
        </p:txBody>
      </p:sp>
      <p:sp>
        <p:nvSpPr>
          <p:cNvPr id="8" name="Footer Placeholder 7">
            <a:extLst>
              <a:ext uri="{FF2B5EF4-FFF2-40B4-BE49-F238E27FC236}">
                <a16:creationId xmlns:a16="http://schemas.microsoft.com/office/drawing/2014/main" id="{38FC667D-AA9E-21BF-66F2-755D86E708B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8E628E-2723-30DA-D22D-BFF79CE056C7}"/>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419737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41984-7865-CBC1-7E39-27325050C7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341811-B828-6912-5458-2BC9266D21E5}"/>
              </a:ext>
            </a:extLst>
          </p:cNvPr>
          <p:cNvSpPr>
            <a:spLocks noGrp="1"/>
          </p:cNvSpPr>
          <p:nvPr>
            <p:ph type="dt" sz="half" idx="10"/>
          </p:nvPr>
        </p:nvSpPr>
        <p:spPr/>
        <p:txBody>
          <a:bodyPr/>
          <a:lstStyle/>
          <a:p>
            <a:fld id="{2DB93FBE-67AC-4C5C-B62E-CFFDEAF9BE53}" type="datetimeFigureOut">
              <a:rPr lang="en-US" smtClean="0"/>
              <a:t>4/1/2026</a:t>
            </a:fld>
            <a:endParaRPr lang="en-US"/>
          </a:p>
        </p:txBody>
      </p:sp>
      <p:sp>
        <p:nvSpPr>
          <p:cNvPr id="4" name="Footer Placeholder 3">
            <a:extLst>
              <a:ext uri="{FF2B5EF4-FFF2-40B4-BE49-F238E27FC236}">
                <a16:creationId xmlns:a16="http://schemas.microsoft.com/office/drawing/2014/main" id="{DA1DF831-0A64-24F5-806E-B3EBA55914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EFD212-56D6-B7F8-FC27-BC4BF7386DD8}"/>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49963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903B13-E121-53F2-65F9-41E383C574E5}"/>
              </a:ext>
            </a:extLst>
          </p:cNvPr>
          <p:cNvSpPr>
            <a:spLocks noGrp="1"/>
          </p:cNvSpPr>
          <p:nvPr>
            <p:ph type="dt" sz="half" idx="10"/>
          </p:nvPr>
        </p:nvSpPr>
        <p:spPr/>
        <p:txBody>
          <a:bodyPr/>
          <a:lstStyle/>
          <a:p>
            <a:fld id="{2DB93FBE-67AC-4C5C-B62E-CFFDEAF9BE53}" type="datetimeFigureOut">
              <a:rPr lang="en-US" smtClean="0"/>
              <a:t>4/1/2026</a:t>
            </a:fld>
            <a:endParaRPr lang="en-US"/>
          </a:p>
        </p:txBody>
      </p:sp>
      <p:sp>
        <p:nvSpPr>
          <p:cNvPr id="3" name="Footer Placeholder 2">
            <a:extLst>
              <a:ext uri="{FF2B5EF4-FFF2-40B4-BE49-F238E27FC236}">
                <a16:creationId xmlns:a16="http://schemas.microsoft.com/office/drawing/2014/main" id="{D2814793-9D7D-32F8-795A-31644DBAB3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76B231-FE15-2561-B700-2506AC71310D}"/>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8563565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B5398-EEBA-42F4-3948-4DF36A153E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E000E0-12D7-545A-0B4A-64A8B51A9F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585510-3798-210C-EC55-29C449719B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E698E8-2EE7-873D-A608-9A260F5DDDE7}"/>
              </a:ext>
            </a:extLst>
          </p:cNvPr>
          <p:cNvSpPr>
            <a:spLocks noGrp="1"/>
          </p:cNvSpPr>
          <p:nvPr>
            <p:ph type="dt" sz="half" idx="10"/>
          </p:nvPr>
        </p:nvSpPr>
        <p:spPr/>
        <p:txBody>
          <a:bodyPr/>
          <a:lstStyle/>
          <a:p>
            <a:fld id="{2DB93FBE-67AC-4C5C-B62E-CFFDEAF9BE53}" type="datetimeFigureOut">
              <a:rPr lang="en-US" smtClean="0"/>
              <a:t>4/1/2026</a:t>
            </a:fld>
            <a:endParaRPr lang="en-US"/>
          </a:p>
        </p:txBody>
      </p:sp>
      <p:sp>
        <p:nvSpPr>
          <p:cNvPr id="6" name="Footer Placeholder 5">
            <a:extLst>
              <a:ext uri="{FF2B5EF4-FFF2-40B4-BE49-F238E27FC236}">
                <a16:creationId xmlns:a16="http://schemas.microsoft.com/office/drawing/2014/main" id="{F8D5F347-CF7A-10E6-8DC6-FA1E5DB6DB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5E452D-F82A-718F-94C2-C889F622E54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162156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1DDD-DB8D-6429-4235-465780A7B8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42B9E5-6756-3695-C94E-93A464783E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170C60-CA85-5E67-14F6-3176093E55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325D70-D5F0-5123-66A9-63D9B82E929A}"/>
              </a:ext>
            </a:extLst>
          </p:cNvPr>
          <p:cNvSpPr>
            <a:spLocks noGrp="1"/>
          </p:cNvSpPr>
          <p:nvPr>
            <p:ph type="dt" sz="half" idx="10"/>
          </p:nvPr>
        </p:nvSpPr>
        <p:spPr/>
        <p:txBody>
          <a:bodyPr/>
          <a:lstStyle/>
          <a:p>
            <a:fld id="{2DB93FBE-67AC-4C5C-B62E-CFFDEAF9BE53}" type="datetimeFigureOut">
              <a:rPr lang="en-US" smtClean="0"/>
              <a:t>4/1/2026</a:t>
            </a:fld>
            <a:endParaRPr lang="en-US"/>
          </a:p>
        </p:txBody>
      </p:sp>
      <p:sp>
        <p:nvSpPr>
          <p:cNvPr id="6" name="Footer Placeholder 5">
            <a:extLst>
              <a:ext uri="{FF2B5EF4-FFF2-40B4-BE49-F238E27FC236}">
                <a16:creationId xmlns:a16="http://schemas.microsoft.com/office/drawing/2014/main" id="{E977B62A-8600-7CE9-095E-82CDE4E176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8F328-EF42-0E10-9C29-12A53381D4AB}"/>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405340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24705-3181-4743-BF72-E5B55E6278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D9669D-6765-7CD2-C040-D4C5E44BAB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E5E7B0-5065-8FAA-2D02-01DC4905B366}"/>
              </a:ext>
            </a:extLst>
          </p:cNvPr>
          <p:cNvSpPr>
            <a:spLocks noGrp="1"/>
          </p:cNvSpPr>
          <p:nvPr>
            <p:ph type="dt" sz="half" idx="10"/>
          </p:nvPr>
        </p:nvSpPr>
        <p:spPr/>
        <p:txBody>
          <a:bodyPr/>
          <a:lstStyle/>
          <a:p>
            <a:fld id="{2DB93FBE-67AC-4C5C-B62E-CFFDEAF9BE53}" type="datetimeFigureOut">
              <a:rPr lang="en-US" smtClean="0"/>
              <a:t>4/1/2026</a:t>
            </a:fld>
            <a:endParaRPr lang="en-US"/>
          </a:p>
        </p:txBody>
      </p:sp>
      <p:sp>
        <p:nvSpPr>
          <p:cNvPr id="5" name="Footer Placeholder 4">
            <a:extLst>
              <a:ext uri="{FF2B5EF4-FFF2-40B4-BE49-F238E27FC236}">
                <a16:creationId xmlns:a16="http://schemas.microsoft.com/office/drawing/2014/main" id="{CA487F4E-481E-5CA4-5AC0-EF15EBAF8D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05C81A-1EC7-F85E-A5DB-0F7CA62EC0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3653172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F8F565-D4D2-A972-147D-1A41777B26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813695-1D6C-4A4F-7F94-1346663811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6AEB8A-EA17-E1E1-8CD3-B7AF8E3F2803}"/>
              </a:ext>
            </a:extLst>
          </p:cNvPr>
          <p:cNvSpPr>
            <a:spLocks noGrp="1"/>
          </p:cNvSpPr>
          <p:nvPr>
            <p:ph type="dt" sz="half" idx="10"/>
          </p:nvPr>
        </p:nvSpPr>
        <p:spPr/>
        <p:txBody>
          <a:bodyPr/>
          <a:lstStyle/>
          <a:p>
            <a:fld id="{2DB93FBE-67AC-4C5C-B62E-CFFDEAF9BE53}" type="datetimeFigureOut">
              <a:rPr lang="en-US" smtClean="0"/>
              <a:t>4/1/2026</a:t>
            </a:fld>
            <a:endParaRPr lang="en-US"/>
          </a:p>
        </p:txBody>
      </p:sp>
      <p:sp>
        <p:nvSpPr>
          <p:cNvPr id="5" name="Footer Placeholder 4">
            <a:extLst>
              <a:ext uri="{FF2B5EF4-FFF2-40B4-BE49-F238E27FC236}">
                <a16:creationId xmlns:a16="http://schemas.microsoft.com/office/drawing/2014/main" id="{AB6AF905-A88D-ED4C-DD07-098840D4AB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A03B8-DD10-B6B6-6B59-3EB669F377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787887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BC2B57-F2EC-C92D-BAFA-C36FE7F31C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0AE8E8-3549-4143-3C3F-38529FA553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2DEB0-3161-B686-27DF-345950BFF0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B93FBE-67AC-4C5C-B62E-CFFDEAF9BE53}" type="datetimeFigureOut">
              <a:rPr lang="en-US" smtClean="0"/>
              <a:t>4/1/2026</a:t>
            </a:fld>
            <a:endParaRPr lang="en-US"/>
          </a:p>
        </p:txBody>
      </p:sp>
      <p:sp>
        <p:nvSpPr>
          <p:cNvPr id="5" name="Footer Placeholder 4">
            <a:extLst>
              <a:ext uri="{FF2B5EF4-FFF2-40B4-BE49-F238E27FC236}">
                <a16:creationId xmlns:a16="http://schemas.microsoft.com/office/drawing/2014/main" id="{B7B5E12D-E358-B346-0620-4D8545C52B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B1C4BA-D22A-5462-8F71-6F616DC8FA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4D5A7D-FFFE-410B-BEE5-702232F4B148}" type="slidenum">
              <a:rPr lang="en-US" smtClean="0"/>
              <a:t>‹#›</a:t>
            </a:fld>
            <a:endParaRPr lang="en-US"/>
          </a:p>
        </p:txBody>
      </p:sp>
    </p:spTree>
    <p:extLst>
      <p:ext uri="{BB962C8B-B14F-4D97-AF65-F5344CB8AC3E}">
        <p14:creationId xmlns:p14="http://schemas.microsoft.com/office/powerpoint/2010/main" val="3096507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10.jpeg"/></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fontScale="90000"/>
          </a:bodyPr>
          <a:lstStyle/>
          <a:p>
            <a:r>
              <a:rPr lang="en-US" dirty="0"/>
              <a:t>CSE 332 Spring 2026</a:t>
            </a:r>
            <a:br>
              <a:rPr lang="en-US" dirty="0"/>
            </a:br>
            <a:r>
              <a:rPr lang="en-US" dirty="0"/>
              <a:t>Lecture 2: Algorithm Analysis pt.1</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38DD4-06E1-4997-10CD-58E9D69CC843}"/>
              </a:ext>
            </a:extLst>
          </p:cNvPr>
          <p:cNvSpPr>
            <a:spLocks noGrp="1"/>
          </p:cNvSpPr>
          <p:nvPr>
            <p:ph type="title"/>
          </p:nvPr>
        </p:nvSpPr>
        <p:spPr/>
        <p:txBody>
          <a:bodyPr/>
          <a:lstStyle/>
          <a:p>
            <a:r>
              <a:rPr lang="en-US" dirty="0"/>
              <a:t>Announcements</a:t>
            </a:r>
          </a:p>
        </p:txBody>
      </p:sp>
      <p:sp>
        <p:nvSpPr>
          <p:cNvPr id="3" name="Content Placeholder 2">
            <a:extLst>
              <a:ext uri="{FF2B5EF4-FFF2-40B4-BE49-F238E27FC236}">
                <a16:creationId xmlns:a16="http://schemas.microsoft.com/office/drawing/2014/main" id="{2B4BBE2C-C693-B1FE-74D0-68C0E05A99A1}"/>
              </a:ext>
            </a:extLst>
          </p:cNvPr>
          <p:cNvSpPr>
            <a:spLocks noGrp="1"/>
          </p:cNvSpPr>
          <p:nvPr>
            <p:ph idx="1"/>
          </p:nvPr>
        </p:nvSpPr>
        <p:spPr/>
        <p:txBody>
          <a:bodyPr/>
          <a:lstStyle/>
          <a:p>
            <a:r>
              <a:rPr lang="en-US" dirty="0"/>
              <a:t>Exercise 0 released</a:t>
            </a:r>
          </a:p>
          <a:p>
            <a:pPr lvl="1"/>
            <a:r>
              <a:rPr lang="en-US" dirty="0"/>
              <a:t>Due Wednesday 4/8</a:t>
            </a:r>
          </a:p>
          <a:p>
            <a:pPr lvl="1"/>
            <a:r>
              <a:rPr lang="en-US" dirty="0"/>
              <a:t>There are 2 separate </a:t>
            </a:r>
            <a:r>
              <a:rPr lang="en-US" dirty="0" err="1"/>
              <a:t>gradescope</a:t>
            </a:r>
            <a:r>
              <a:rPr lang="en-US" dirty="0"/>
              <a:t> submissions</a:t>
            </a:r>
          </a:p>
          <a:p>
            <a:r>
              <a:rPr lang="en-US" dirty="0"/>
              <a:t>Concept check 0 released</a:t>
            </a:r>
          </a:p>
          <a:p>
            <a:pPr lvl="1"/>
            <a:r>
              <a:rPr lang="en-US" dirty="0"/>
              <a:t>Helps us to get more familiar with each other!</a:t>
            </a:r>
          </a:p>
          <a:p>
            <a:pPr lvl="1"/>
            <a:r>
              <a:rPr lang="en-US" dirty="0" err="1"/>
              <a:t>Gradescope</a:t>
            </a:r>
            <a:r>
              <a:rPr lang="en-US" dirty="0"/>
              <a:t> submission due 4/10</a:t>
            </a:r>
          </a:p>
          <a:p>
            <a:pPr lvl="1"/>
            <a:r>
              <a:rPr lang="en-US" dirty="0"/>
              <a:t>Meet the staff activity due by 5/1</a:t>
            </a:r>
          </a:p>
          <a:p>
            <a:pPr lvl="2"/>
            <a:r>
              <a:rPr lang="en-US" dirty="0"/>
              <a:t>Come to any office hours, chat with us, ask us to mark you off for this</a:t>
            </a:r>
          </a:p>
        </p:txBody>
      </p:sp>
    </p:spTree>
    <p:extLst>
      <p:ext uri="{BB962C8B-B14F-4D97-AF65-F5344CB8AC3E}">
        <p14:creationId xmlns:p14="http://schemas.microsoft.com/office/powerpoint/2010/main" val="32108855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D41E5-465C-EBB5-E9CD-029376B833DF}"/>
              </a:ext>
            </a:extLst>
          </p:cNvPr>
          <p:cNvSpPr>
            <a:spLocks noGrp="1"/>
          </p:cNvSpPr>
          <p:nvPr>
            <p:ph type="title"/>
          </p:nvPr>
        </p:nvSpPr>
        <p:spPr/>
        <p:txBody>
          <a:bodyPr/>
          <a:lstStyle/>
          <a:p>
            <a:r>
              <a:rPr lang="en-US" dirty="0"/>
              <a:t>ADT: Queue</a:t>
            </a:r>
          </a:p>
        </p:txBody>
      </p:sp>
      <p:sp>
        <p:nvSpPr>
          <p:cNvPr id="3" name="Content Placeholder 2">
            <a:extLst>
              <a:ext uri="{FF2B5EF4-FFF2-40B4-BE49-F238E27FC236}">
                <a16:creationId xmlns:a16="http://schemas.microsoft.com/office/drawing/2014/main" id="{B5EF048E-DA88-5227-7793-0EE138E7390F}"/>
              </a:ext>
            </a:extLst>
          </p:cNvPr>
          <p:cNvSpPr>
            <a:spLocks noGrp="1"/>
          </p:cNvSpPr>
          <p:nvPr>
            <p:ph idx="1"/>
          </p:nvPr>
        </p:nvSpPr>
        <p:spPr/>
        <p:txBody>
          <a:bodyPr/>
          <a:lstStyle/>
          <a:p>
            <a:r>
              <a:rPr lang="en-US" dirty="0"/>
              <a:t>What is it?</a:t>
            </a:r>
          </a:p>
          <a:p>
            <a:pPr lvl="1"/>
            <a:r>
              <a:rPr lang="en-US" dirty="0"/>
              <a:t>A collection of items that we interact with in a “First In First Out” (FIFO) way</a:t>
            </a:r>
          </a:p>
          <a:p>
            <a:r>
              <a:rPr lang="en-US" dirty="0"/>
              <a:t>What operations do we need?</a:t>
            </a:r>
          </a:p>
          <a:p>
            <a:pPr lvl="1"/>
            <a:r>
              <a:rPr lang="en-US" dirty="0"/>
              <a:t>Enqueue</a:t>
            </a:r>
          </a:p>
          <a:p>
            <a:pPr lvl="2"/>
            <a:r>
              <a:rPr lang="en-US" dirty="0"/>
              <a:t>Add a new item to the queue</a:t>
            </a:r>
          </a:p>
          <a:p>
            <a:pPr lvl="1"/>
            <a:r>
              <a:rPr lang="en-US" dirty="0"/>
              <a:t>Dequeue</a:t>
            </a:r>
          </a:p>
          <a:p>
            <a:pPr lvl="2"/>
            <a:r>
              <a:rPr lang="en-US" dirty="0"/>
              <a:t>Remove the “oldest” item from the queue</a:t>
            </a:r>
          </a:p>
          <a:p>
            <a:pPr lvl="1"/>
            <a:r>
              <a:rPr lang="en-US" dirty="0" err="1"/>
              <a:t>IsEmpty</a:t>
            </a:r>
            <a:endParaRPr lang="en-US" dirty="0"/>
          </a:p>
          <a:p>
            <a:pPr lvl="2"/>
            <a:r>
              <a:rPr lang="en-US" dirty="0"/>
              <a:t>Indicate whether or not there are items still on the queue</a:t>
            </a:r>
          </a:p>
        </p:txBody>
      </p:sp>
    </p:spTree>
    <p:extLst>
      <p:ext uri="{BB962C8B-B14F-4D97-AF65-F5344CB8AC3E}">
        <p14:creationId xmlns:p14="http://schemas.microsoft.com/office/powerpoint/2010/main" val="4388750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3408-2D56-B58E-F959-CF8F6AE7145D}"/>
              </a:ext>
            </a:extLst>
          </p:cNvPr>
          <p:cNvSpPr>
            <a:spLocks noGrp="1"/>
          </p:cNvSpPr>
          <p:nvPr>
            <p:ph type="title"/>
          </p:nvPr>
        </p:nvSpPr>
        <p:spPr/>
        <p:txBody>
          <a:bodyPr/>
          <a:lstStyle/>
          <a:p>
            <a:r>
              <a:rPr lang="en-US" dirty="0"/>
              <a:t>Linked Queue Data Structure (Idea)</a:t>
            </a:r>
          </a:p>
        </p:txBody>
      </p:sp>
      <p:sp>
        <p:nvSpPr>
          <p:cNvPr id="3" name="Content Placeholder 2">
            <a:extLst>
              <a:ext uri="{FF2B5EF4-FFF2-40B4-BE49-F238E27FC236}">
                <a16:creationId xmlns:a16="http://schemas.microsoft.com/office/drawing/2014/main" id="{1376FFCF-F09D-CE03-F022-D39AD4A97E9E}"/>
              </a:ext>
            </a:extLst>
          </p:cNvPr>
          <p:cNvSpPr>
            <a:spLocks noGrp="1"/>
          </p:cNvSpPr>
          <p:nvPr>
            <p:ph idx="1"/>
          </p:nvPr>
        </p:nvSpPr>
        <p:spPr>
          <a:xfrm>
            <a:off x="198120" y="2313305"/>
            <a:ext cx="7076440" cy="4351338"/>
          </a:xfrm>
          <a:ln>
            <a:noFill/>
          </a:ln>
        </p:spPr>
        <p:txBody>
          <a:bodyPr>
            <a:normAutofit fontScale="92500" lnSpcReduction="20000"/>
          </a:bodyPr>
          <a:lstStyle/>
          <a:p>
            <a:r>
              <a:rPr lang="en-US" dirty="0"/>
              <a:t>Queue represented as a “chain” of items</a:t>
            </a:r>
          </a:p>
          <a:p>
            <a:pPr lvl="1"/>
            <a:r>
              <a:rPr lang="en-US" dirty="0">
                <a:solidFill>
                  <a:srgbClr val="0070C0"/>
                </a:solidFill>
              </a:rPr>
              <a:t>A “front” reference to the oldest item</a:t>
            </a:r>
          </a:p>
          <a:p>
            <a:pPr lvl="1"/>
            <a:r>
              <a:rPr lang="en-US" dirty="0">
                <a:solidFill>
                  <a:schemeClr val="accent2">
                    <a:lumMod val="75000"/>
                  </a:schemeClr>
                </a:solidFill>
              </a:rPr>
              <a:t>A “back” reference to the most recent item</a:t>
            </a:r>
          </a:p>
          <a:p>
            <a:pPr lvl="1"/>
            <a:r>
              <a:rPr lang="en-US" dirty="0">
                <a:solidFill>
                  <a:srgbClr val="FF0000"/>
                </a:solidFill>
              </a:rPr>
              <a:t>Each Node references the item enqueued after it</a:t>
            </a:r>
          </a:p>
          <a:p>
            <a:r>
              <a:rPr lang="en-US" dirty="0"/>
              <a:t>enqueue Procedure:</a:t>
            </a:r>
          </a:p>
          <a:p>
            <a:pPr marL="457200" lvl="1" indent="0">
              <a:buNone/>
            </a:pPr>
            <a:endParaRPr lang="en-US" dirty="0"/>
          </a:p>
          <a:p>
            <a:pPr marL="457200" lvl="1" indent="0">
              <a:buNone/>
            </a:pPr>
            <a:endParaRPr lang="en-US" dirty="0"/>
          </a:p>
          <a:p>
            <a:pPr lvl="1"/>
            <a:endParaRPr lang="en-US" dirty="0"/>
          </a:p>
          <a:p>
            <a:r>
              <a:rPr lang="en-US" dirty="0"/>
              <a:t>dequeue Procedure:</a:t>
            </a:r>
          </a:p>
          <a:p>
            <a:endParaRPr lang="en-US" dirty="0"/>
          </a:p>
          <a:p>
            <a:endParaRPr lang="en-US" dirty="0"/>
          </a:p>
          <a:p>
            <a:r>
              <a:rPr lang="en-US" dirty="0" err="1"/>
              <a:t>isEmpty</a:t>
            </a:r>
            <a:r>
              <a:rPr lang="en-US" dirty="0"/>
              <a:t> Procedure:</a:t>
            </a:r>
          </a:p>
        </p:txBody>
      </p:sp>
      <p:grpSp>
        <p:nvGrpSpPr>
          <p:cNvPr id="19" name="Group 18" descr="An illustration of a linked queue data structure. The elements of the list are contained in node objects. Each node object has a reference to another node object to establish a sequence of elements. There is also a reference called &quot;front&quot; that points to the first node in the queue, and a reference called &quot;back&quot; that points to the last node in the queue.">
            <a:extLst>
              <a:ext uri="{FF2B5EF4-FFF2-40B4-BE49-F238E27FC236}">
                <a16:creationId xmlns:a16="http://schemas.microsoft.com/office/drawing/2014/main" id="{EC75C82D-E1B4-51B9-7FE9-D680C96B6501}"/>
              </a:ext>
            </a:extLst>
          </p:cNvPr>
          <p:cNvGrpSpPr/>
          <p:nvPr/>
        </p:nvGrpSpPr>
        <p:grpSpPr>
          <a:xfrm>
            <a:off x="838200" y="1554957"/>
            <a:ext cx="8239760" cy="1718152"/>
            <a:chOff x="838200" y="1554957"/>
            <a:chExt cx="8239760" cy="1718152"/>
          </a:xfrm>
        </p:grpSpPr>
        <p:grpSp>
          <p:nvGrpSpPr>
            <p:cNvPr id="31" name="Group 30">
              <a:extLst>
                <a:ext uri="{FF2B5EF4-FFF2-40B4-BE49-F238E27FC236}">
                  <a16:creationId xmlns:a16="http://schemas.microsoft.com/office/drawing/2014/main" id="{EE47A3E1-F9C8-C154-58A8-A0F832437092}"/>
                </a:ext>
              </a:extLst>
            </p:cNvPr>
            <p:cNvGrpSpPr/>
            <p:nvPr/>
          </p:nvGrpSpPr>
          <p:grpSpPr>
            <a:xfrm>
              <a:off x="2727960" y="1554957"/>
              <a:ext cx="6350000" cy="528320"/>
              <a:chOff x="2727960" y="1554957"/>
              <a:chExt cx="6350000" cy="528320"/>
            </a:xfrm>
          </p:grpSpPr>
          <p:grpSp>
            <p:nvGrpSpPr>
              <p:cNvPr id="6" name="Group 5">
                <a:extLst>
                  <a:ext uri="{FF2B5EF4-FFF2-40B4-BE49-F238E27FC236}">
                    <a16:creationId xmlns:a16="http://schemas.microsoft.com/office/drawing/2014/main" id="{6AFBF987-7851-60B2-CF03-393FC95534F8}"/>
                  </a:ext>
                </a:extLst>
              </p:cNvPr>
              <p:cNvGrpSpPr/>
              <p:nvPr/>
            </p:nvGrpSpPr>
            <p:grpSpPr>
              <a:xfrm>
                <a:off x="4053840" y="1554957"/>
                <a:ext cx="1056640" cy="528320"/>
                <a:chOff x="8117840" y="4104640"/>
                <a:chExt cx="1056640" cy="528320"/>
              </a:xfrm>
            </p:grpSpPr>
            <p:sp>
              <p:nvSpPr>
                <p:cNvPr id="4" name="Rectangle 3">
                  <a:extLst>
                    <a:ext uri="{FF2B5EF4-FFF2-40B4-BE49-F238E27FC236}">
                      <a16:creationId xmlns:a16="http://schemas.microsoft.com/office/drawing/2014/main" id="{0D240B2B-22D3-91C7-A99D-36F8C313B7FD}"/>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5" name="Rectangle 4">
                  <a:extLst>
                    <a:ext uri="{FF2B5EF4-FFF2-40B4-BE49-F238E27FC236}">
                      <a16:creationId xmlns:a16="http://schemas.microsoft.com/office/drawing/2014/main" id="{4B5CC621-6E1F-A3F0-5D55-C08016EAD80D}"/>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a:extLst>
                  <a:ext uri="{FF2B5EF4-FFF2-40B4-BE49-F238E27FC236}">
                    <a16:creationId xmlns:a16="http://schemas.microsoft.com/office/drawing/2014/main" id="{E5D432AB-1E74-F08B-CEC5-A365264C947C}"/>
                  </a:ext>
                </a:extLst>
              </p:cNvPr>
              <p:cNvGrpSpPr/>
              <p:nvPr/>
            </p:nvGrpSpPr>
            <p:grpSpPr>
              <a:xfrm>
                <a:off x="5374640" y="1554957"/>
                <a:ext cx="1056640" cy="528320"/>
                <a:chOff x="8117840" y="4104640"/>
                <a:chExt cx="1056640" cy="528320"/>
              </a:xfrm>
            </p:grpSpPr>
            <p:sp>
              <p:nvSpPr>
                <p:cNvPr id="8" name="Rectangle 7">
                  <a:extLst>
                    <a:ext uri="{FF2B5EF4-FFF2-40B4-BE49-F238E27FC236}">
                      <a16:creationId xmlns:a16="http://schemas.microsoft.com/office/drawing/2014/main" id="{60CA4D0E-42E8-E538-D8FF-DC6E00DFC845}"/>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Rectangle 8">
                  <a:extLst>
                    <a:ext uri="{FF2B5EF4-FFF2-40B4-BE49-F238E27FC236}">
                      <a16:creationId xmlns:a16="http://schemas.microsoft.com/office/drawing/2014/main" id="{5852A5BB-697F-7122-8EBB-493FC932062B}"/>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6ECA4301-84E7-41A8-4817-7EF969030D46}"/>
                  </a:ext>
                </a:extLst>
              </p:cNvPr>
              <p:cNvGrpSpPr/>
              <p:nvPr/>
            </p:nvGrpSpPr>
            <p:grpSpPr>
              <a:xfrm>
                <a:off x="6700520" y="1554957"/>
                <a:ext cx="1056640" cy="528320"/>
                <a:chOff x="8117840" y="4104640"/>
                <a:chExt cx="1056640" cy="528320"/>
              </a:xfrm>
            </p:grpSpPr>
            <p:sp>
              <p:nvSpPr>
                <p:cNvPr id="11" name="Rectangle 10">
                  <a:extLst>
                    <a:ext uri="{FF2B5EF4-FFF2-40B4-BE49-F238E27FC236}">
                      <a16:creationId xmlns:a16="http://schemas.microsoft.com/office/drawing/2014/main" id="{AE88FDA0-F73F-1E24-18F2-F7925E8FC51E}"/>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Rectangle 11">
                  <a:extLst>
                    <a:ext uri="{FF2B5EF4-FFF2-40B4-BE49-F238E27FC236}">
                      <a16:creationId xmlns:a16="http://schemas.microsoft.com/office/drawing/2014/main" id="{1DA96747-E578-B3DB-2470-F7243CD49DD5}"/>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77951176-168B-B07B-7BE1-8239EFA9C9FE}"/>
                  </a:ext>
                </a:extLst>
              </p:cNvPr>
              <p:cNvGrpSpPr/>
              <p:nvPr/>
            </p:nvGrpSpPr>
            <p:grpSpPr>
              <a:xfrm>
                <a:off x="8021320" y="1554957"/>
                <a:ext cx="1056640" cy="528320"/>
                <a:chOff x="8117840" y="4104640"/>
                <a:chExt cx="1056640" cy="528320"/>
              </a:xfrm>
            </p:grpSpPr>
            <p:sp>
              <p:nvSpPr>
                <p:cNvPr id="14" name="Rectangle 13">
                  <a:extLst>
                    <a:ext uri="{FF2B5EF4-FFF2-40B4-BE49-F238E27FC236}">
                      <a16:creationId xmlns:a16="http://schemas.microsoft.com/office/drawing/2014/main" id="{2BA7BE02-D13E-4DA9-2B89-8660802D026E}"/>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5" name="Rectangle 14">
                  <a:extLst>
                    <a:ext uri="{FF2B5EF4-FFF2-40B4-BE49-F238E27FC236}">
                      <a16:creationId xmlns:a16="http://schemas.microsoft.com/office/drawing/2014/main" id="{1DE038FD-A9AA-D9E1-A1D5-95725C7BEEA5}"/>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7DA111CA-6B8C-359A-673A-7D5DE0F70DA5}"/>
                  </a:ext>
                </a:extLst>
              </p:cNvPr>
              <p:cNvGrpSpPr/>
              <p:nvPr/>
            </p:nvGrpSpPr>
            <p:grpSpPr>
              <a:xfrm>
                <a:off x="2727960" y="1554957"/>
                <a:ext cx="1056640" cy="528320"/>
                <a:chOff x="8117840" y="4104640"/>
                <a:chExt cx="1056640" cy="528320"/>
              </a:xfrm>
            </p:grpSpPr>
            <p:sp>
              <p:nvSpPr>
                <p:cNvPr id="17" name="Rectangle 16">
                  <a:extLst>
                    <a:ext uri="{FF2B5EF4-FFF2-40B4-BE49-F238E27FC236}">
                      <a16:creationId xmlns:a16="http://schemas.microsoft.com/office/drawing/2014/main" id="{57E8C63A-82D6-CC85-3709-0E2E37F557D0}"/>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8" name="Rectangle 17">
                  <a:extLst>
                    <a:ext uri="{FF2B5EF4-FFF2-40B4-BE49-F238E27FC236}">
                      <a16:creationId xmlns:a16="http://schemas.microsoft.com/office/drawing/2014/main" id="{3B8F20F7-7B97-9FD1-C14A-D4CD9FE6D9C2}"/>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0" name="Straight Arrow Connector 19">
                <a:extLst>
                  <a:ext uri="{FF2B5EF4-FFF2-40B4-BE49-F238E27FC236}">
                    <a16:creationId xmlns:a16="http://schemas.microsoft.com/office/drawing/2014/main" id="{ADAB37D0-E4BC-0B87-3E32-3F87021568CC}"/>
                  </a:ext>
                </a:extLst>
              </p:cNvPr>
              <p:cNvCxnSpPr>
                <a:cxnSpLocks/>
                <a:endCxn id="4" idx="1"/>
              </p:cNvCxnSpPr>
              <p:nvPr/>
            </p:nvCxnSpPr>
            <p:spPr>
              <a:xfrm>
                <a:off x="3520440" y="1819117"/>
                <a:ext cx="5334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080BD9A-B13C-50BF-A4D8-47758C79AC32}"/>
                  </a:ext>
                </a:extLst>
              </p:cNvPr>
              <p:cNvCxnSpPr>
                <a:cxnSpLocks/>
                <a:endCxn id="8" idx="1"/>
              </p:cNvCxnSpPr>
              <p:nvPr/>
            </p:nvCxnSpPr>
            <p:spPr>
              <a:xfrm>
                <a:off x="4846320" y="1819117"/>
                <a:ext cx="5283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A59202CE-9F90-F4A7-20C4-388EBA71AF5A}"/>
                  </a:ext>
                </a:extLst>
              </p:cNvPr>
              <p:cNvCxnSpPr>
                <a:cxnSpLocks/>
                <a:endCxn id="11" idx="1"/>
              </p:cNvCxnSpPr>
              <p:nvPr/>
            </p:nvCxnSpPr>
            <p:spPr>
              <a:xfrm>
                <a:off x="6167120" y="1819117"/>
                <a:ext cx="5334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82F20BE-DCF4-D7DF-70AA-D308F3FB3C0A}"/>
                  </a:ext>
                </a:extLst>
              </p:cNvPr>
              <p:cNvCxnSpPr>
                <a:cxnSpLocks/>
                <a:endCxn id="14" idx="1"/>
              </p:cNvCxnSpPr>
              <p:nvPr/>
            </p:nvCxnSpPr>
            <p:spPr>
              <a:xfrm>
                <a:off x="7493000" y="1819117"/>
                <a:ext cx="5283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32" name="Rectangle 31">
              <a:extLst>
                <a:ext uri="{FF2B5EF4-FFF2-40B4-BE49-F238E27FC236}">
                  <a16:creationId xmlns:a16="http://schemas.microsoft.com/office/drawing/2014/main" id="{71097677-82C3-534D-F0DA-F71F927E9535}"/>
                </a:ext>
              </a:extLst>
            </p:cNvPr>
            <p:cNvSpPr/>
            <p:nvPr/>
          </p:nvSpPr>
          <p:spPr>
            <a:xfrm>
              <a:off x="838200" y="1554957"/>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a:t>
              </a:r>
            </a:p>
          </p:txBody>
        </p:sp>
        <p:cxnSp>
          <p:nvCxnSpPr>
            <p:cNvPr id="33" name="Straight Arrow Connector 32">
              <a:extLst>
                <a:ext uri="{FF2B5EF4-FFF2-40B4-BE49-F238E27FC236}">
                  <a16:creationId xmlns:a16="http://schemas.microsoft.com/office/drawing/2014/main" id="{DFA11222-D8D6-01E9-FB88-B45F69E27FD3}"/>
                </a:ext>
              </a:extLst>
            </p:cNvPr>
            <p:cNvCxnSpPr>
              <a:cxnSpLocks/>
              <a:stCxn id="32" idx="3"/>
              <a:endCxn id="17" idx="1"/>
            </p:cNvCxnSpPr>
            <p:nvPr/>
          </p:nvCxnSpPr>
          <p:spPr>
            <a:xfrm>
              <a:off x="1788160" y="1819117"/>
              <a:ext cx="9398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73EED586-69E7-D3F5-2880-C2F533716668}"/>
                </a:ext>
              </a:extLst>
            </p:cNvPr>
            <p:cNvSpPr/>
            <p:nvPr/>
          </p:nvSpPr>
          <p:spPr>
            <a:xfrm>
              <a:off x="7810500" y="2744789"/>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a:t>
              </a:r>
            </a:p>
          </p:txBody>
        </p:sp>
        <p:cxnSp>
          <p:nvCxnSpPr>
            <p:cNvPr id="38" name="Straight Arrow Connector 37">
              <a:extLst>
                <a:ext uri="{FF2B5EF4-FFF2-40B4-BE49-F238E27FC236}">
                  <a16:creationId xmlns:a16="http://schemas.microsoft.com/office/drawing/2014/main" id="{4015BFBB-A85A-F4E1-2263-4CC9757E5464}"/>
                </a:ext>
              </a:extLst>
            </p:cNvPr>
            <p:cNvCxnSpPr>
              <a:cxnSpLocks/>
              <a:stCxn id="37" idx="0"/>
              <a:endCxn id="14" idx="2"/>
            </p:cNvCxnSpPr>
            <p:nvPr/>
          </p:nvCxnSpPr>
          <p:spPr>
            <a:xfrm flipV="1">
              <a:off x="8285480" y="2083277"/>
              <a:ext cx="0" cy="66151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22" name="Ink 21">
                <a:extLst>
                  <a:ext uri="{FF2B5EF4-FFF2-40B4-BE49-F238E27FC236}">
                    <a16:creationId xmlns:a16="http://schemas.microsoft.com/office/drawing/2014/main" id="{56FA637C-19C4-C7E2-B3B2-ED12BB5DFFDD}"/>
                  </a:ext>
                </a:extLst>
              </p14:cNvPr>
              <p14:cNvContentPartPr/>
              <p14:nvPr/>
            </p14:nvContentPartPr>
            <p14:xfrm>
              <a:off x="485640" y="1163520"/>
              <a:ext cx="4123440" cy="4966200"/>
            </p14:xfrm>
          </p:contentPart>
        </mc:Choice>
        <mc:Fallback>
          <p:pic>
            <p:nvPicPr>
              <p:cNvPr id="22" name="Ink 21">
                <a:extLst>
                  <a:ext uri="{FF2B5EF4-FFF2-40B4-BE49-F238E27FC236}">
                    <a16:creationId xmlns:a16="http://schemas.microsoft.com/office/drawing/2014/main" id="{56FA637C-19C4-C7E2-B3B2-ED12BB5DFFDD}"/>
                  </a:ext>
                </a:extLst>
              </p:cNvPr>
              <p:cNvPicPr/>
              <p:nvPr/>
            </p:nvPicPr>
            <p:blipFill>
              <a:blip r:embed="rId3"/>
              <a:stretch>
                <a:fillRect/>
              </a:stretch>
            </p:blipFill>
            <p:spPr>
              <a:xfrm>
                <a:off x="476280" y="1154160"/>
                <a:ext cx="4142160" cy="4984920"/>
              </a:xfrm>
              <a:prstGeom prst="rect">
                <a:avLst/>
              </a:prstGeom>
            </p:spPr>
          </p:pic>
        </mc:Fallback>
      </mc:AlternateContent>
    </p:spTree>
    <p:extLst>
      <p:ext uri="{BB962C8B-B14F-4D97-AF65-F5344CB8AC3E}">
        <p14:creationId xmlns:p14="http://schemas.microsoft.com/office/powerpoint/2010/main" val="20542285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3408-2D56-B58E-F959-CF8F6AE7145D}"/>
              </a:ext>
            </a:extLst>
          </p:cNvPr>
          <p:cNvSpPr>
            <a:spLocks noGrp="1"/>
          </p:cNvSpPr>
          <p:nvPr>
            <p:ph type="title"/>
          </p:nvPr>
        </p:nvSpPr>
        <p:spPr/>
        <p:txBody>
          <a:bodyPr/>
          <a:lstStyle/>
          <a:p>
            <a:r>
              <a:rPr lang="en-US" dirty="0"/>
              <a:t>Linked Queue Data Structure (Algorithms)</a:t>
            </a:r>
          </a:p>
        </p:txBody>
      </p:sp>
      <p:sp>
        <p:nvSpPr>
          <p:cNvPr id="3" name="Content Placeholder 2">
            <a:extLst>
              <a:ext uri="{FF2B5EF4-FFF2-40B4-BE49-F238E27FC236}">
                <a16:creationId xmlns:a16="http://schemas.microsoft.com/office/drawing/2014/main" id="{1376FFCF-F09D-CE03-F022-D39AD4A97E9E}"/>
              </a:ext>
            </a:extLst>
          </p:cNvPr>
          <p:cNvSpPr>
            <a:spLocks noGrp="1"/>
          </p:cNvSpPr>
          <p:nvPr>
            <p:ph idx="1"/>
          </p:nvPr>
        </p:nvSpPr>
        <p:spPr>
          <a:xfrm>
            <a:off x="198120" y="2313305"/>
            <a:ext cx="7076440" cy="4351338"/>
          </a:xfrm>
          <a:ln>
            <a:noFill/>
          </a:ln>
        </p:spPr>
        <p:txBody>
          <a:bodyPr>
            <a:normAutofit fontScale="92500" lnSpcReduction="20000"/>
          </a:bodyPr>
          <a:lstStyle/>
          <a:p>
            <a:r>
              <a:rPr lang="en-US" dirty="0"/>
              <a:t>Queue represented as a “chain” of items</a:t>
            </a:r>
          </a:p>
          <a:p>
            <a:pPr lvl="1"/>
            <a:r>
              <a:rPr lang="en-US" dirty="0">
                <a:solidFill>
                  <a:srgbClr val="0070C0"/>
                </a:solidFill>
              </a:rPr>
              <a:t>A “front” reference to the oldest item</a:t>
            </a:r>
          </a:p>
          <a:p>
            <a:pPr lvl="1"/>
            <a:r>
              <a:rPr lang="en-US" dirty="0">
                <a:solidFill>
                  <a:schemeClr val="accent2">
                    <a:lumMod val="75000"/>
                  </a:schemeClr>
                </a:solidFill>
              </a:rPr>
              <a:t>A “back” reference to the most recent item</a:t>
            </a:r>
          </a:p>
          <a:p>
            <a:pPr lvl="1"/>
            <a:r>
              <a:rPr lang="en-US" dirty="0">
                <a:solidFill>
                  <a:srgbClr val="FF0000"/>
                </a:solidFill>
              </a:rPr>
              <a:t>Each Node references the item enqueued after it</a:t>
            </a:r>
          </a:p>
          <a:p>
            <a:r>
              <a:rPr lang="en-US" dirty="0"/>
              <a:t>enqueue Procedure:</a:t>
            </a:r>
          </a:p>
          <a:p>
            <a:pPr marL="457200" lvl="1" indent="0">
              <a:buNone/>
            </a:pPr>
            <a:endParaRPr lang="en-US" dirty="0"/>
          </a:p>
          <a:p>
            <a:pPr marL="457200" lvl="1" indent="0">
              <a:buNone/>
            </a:pPr>
            <a:endParaRPr lang="en-US" dirty="0"/>
          </a:p>
          <a:p>
            <a:pPr lvl="1"/>
            <a:endParaRPr lang="en-US" dirty="0"/>
          </a:p>
          <a:p>
            <a:r>
              <a:rPr lang="en-US" dirty="0"/>
              <a:t>dequeue Procedure:</a:t>
            </a:r>
          </a:p>
          <a:p>
            <a:endParaRPr lang="en-US" dirty="0"/>
          </a:p>
          <a:p>
            <a:endParaRPr lang="en-US" dirty="0"/>
          </a:p>
          <a:p>
            <a:r>
              <a:rPr lang="en-US" dirty="0" err="1"/>
              <a:t>isEmpty</a:t>
            </a:r>
            <a:r>
              <a:rPr lang="en-US" dirty="0"/>
              <a:t> Procedure:</a:t>
            </a:r>
          </a:p>
        </p:txBody>
      </p:sp>
      <p:grpSp>
        <p:nvGrpSpPr>
          <p:cNvPr id="19" name="Group 18" descr="An illustration of a linked queue data structure. The elements of the list are contained in node objects. Each node object has a reference to another node object to establish a sequence of elements. There is also a reference called &quot;front&quot; that points to the first node in the queue, and a reference called &quot;back&quot; that points to the last node in the queue.">
            <a:extLst>
              <a:ext uri="{FF2B5EF4-FFF2-40B4-BE49-F238E27FC236}">
                <a16:creationId xmlns:a16="http://schemas.microsoft.com/office/drawing/2014/main" id="{D2854160-5A0B-556C-7F74-574BAC0D9C9D}"/>
              </a:ext>
            </a:extLst>
          </p:cNvPr>
          <p:cNvGrpSpPr/>
          <p:nvPr/>
        </p:nvGrpSpPr>
        <p:grpSpPr>
          <a:xfrm>
            <a:off x="838200" y="1554957"/>
            <a:ext cx="8239760" cy="1718152"/>
            <a:chOff x="838200" y="1554957"/>
            <a:chExt cx="8239760" cy="1718152"/>
          </a:xfrm>
        </p:grpSpPr>
        <p:grpSp>
          <p:nvGrpSpPr>
            <p:cNvPr id="31" name="Group 30">
              <a:extLst>
                <a:ext uri="{FF2B5EF4-FFF2-40B4-BE49-F238E27FC236}">
                  <a16:creationId xmlns:a16="http://schemas.microsoft.com/office/drawing/2014/main" id="{EE47A3E1-F9C8-C154-58A8-A0F832437092}"/>
                </a:ext>
              </a:extLst>
            </p:cNvPr>
            <p:cNvGrpSpPr/>
            <p:nvPr/>
          </p:nvGrpSpPr>
          <p:grpSpPr>
            <a:xfrm>
              <a:off x="2727960" y="1554957"/>
              <a:ext cx="6350000" cy="528320"/>
              <a:chOff x="2727960" y="1554957"/>
              <a:chExt cx="6350000" cy="528320"/>
            </a:xfrm>
          </p:grpSpPr>
          <p:grpSp>
            <p:nvGrpSpPr>
              <p:cNvPr id="6" name="Group 5">
                <a:extLst>
                  <a:ext uri="{FF2B5EF4-FFF2-40B4-BE49-F238E27FC236}">
                    <a16:creationId xmlns:a16="http://schemas.microsoft.com/office/drawing/2014/main" id="{6AFBF987-7851-60B2-CF03-393FC95534F8}"/>
                  </a:ext>
                </a:extLst>
              </p:cNvPr>
              <p:cNvGrpSpPr/>
              <p:nvPr/>
            </p:nvGrpSpPr>
            <p:grpSpPr>
              <a:xfrm>
                <a:off x="4053840" y="1554957"/>
                <a:ext cx="1056640" cy="528320"/>
                <a:chOff x="8117840" y="4104640"/>
                <a:chExt cx="1056640" cy="528320"/>
              </a:xfrm>
            </p:grpSpPr>
            <p:sp>
              <p:nvSpPr>
                <p:cNvPr id="4" name="Rectangle 3">
                  <a:extLst>
                    <a:ext uri="{FF2B5EF4-FFF2-40B4-BE49-F238E27FC236}">
                      <a16:creationId xmlns:a16="http://schemas.microsoft.com/office/drawing/2014/main" id="{0D240B2B-22D3-91C7-A99D-36F8C313B7FD}"/>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5" name="Rectangle 4">
                  <a:extLst>
                    <a:ext uri="{FF2B5EF4-FFF2-40B4-BE49-F238E27FC236}">
                      <a16:creationId xmlns:a16="http://schemas.microsoft.com/office/drawing/2014/main" id="{4B5CC621-6E1F-A3F0-5D55-C08016EAD80D}"/>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a:extLst>
                  <a:ext uri="{FF2B5EF4-FFF2-40B4-BE49-F238E27FC236}">
                    <a16:creationId xmlns:a16="http://schemas.microsoft.com/office/drawing/2014/main" id="{E5D432AB-1E74-F08B-CEC5-A365264C947C}"/>
                  </a:ext>
                </a:extLst>
              </p:cNvPr>
              <p:cNvGrpSpPr/>
              <p:nvPr/>
            </p:nvGrpSpPr>
            <p:grpSpPr>
              <a:xfrm>
                <a:off x="5374640" y="1554957"/>
                <a:ext cx="1056640" cy="528320"/>
                <a:chOff x="8117840" y="4104640"/>
                <a:chExt cx="1056640" cy="528320"/>
              </a:xfrm>
            </p:grpSpPr>
            <p:sp>
              <p:nvSpPr>
                <p:cNvPr id="8" name="Rectangle 7">
                  <a:extLst>
                    <a:ext uri="{FF2B5EF4-FFF2-40B4-BE49-F238E27FC236}">
                      <a16:creationId xmlns:a16="http://schemas.microsoft.com/office/drawing/2014/main" id="{60CA4D0E-42E8-E538-D8FF-DC6E00DFC845}"/>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Rectangle 8">
                  <a:extLst>
                    <a:ext uri="{FF2B5EF4-FFF2-40B4-BE49-F238E27FC236}">
                      <a16:creationId xmlns:a16="http://schemas.microsoft.com/office/drawing/2014/main" id="{5852A5BB-697F-7122-8EBB-493FC932062B}"/>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6ECA4301-84E7-41A8-4817-7EF969030D46}"/>
                  </a:ext>
                </a:extLst>
              </p:cNvPr>
              <p:cNvGrpSpPr/>
              <p:nvPr/>
            </p:nvGrpSpPr>
            <p:grpSpPr>
              <a:xfrm>
                <a:off x="6700520" y="1554957"/>
                <a:ext cx="1056640" cy="528320"/>
                <a:chOff x="8117840" y="4104640"/>
                <a:chExt cx="1056640" cy="528320"/>
              </a:xfrm>
            </p:grpSpPr>
            <p:sp>
              <p:nvSpPr>
                <p:cNvPr id="11" name="Rectangle 10">
                  <a:extLst>
                    <a:ext uri="{FF2B5EF4-FFF2-40B4-BE49-F238E27FC236}">
                      <a16:creationId xmlns:a16="http://schemas.microsoft.com/office/drawing/2014/main" id="{AE88FDA0-F73F-1E24-18F2-F7925E8FC51E}"/>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Rectangle 11">
                  <a:extLst>
                    <a:ext uri="{FF2B5EF4-FFF2-40B4-BE49-F238E27FC236}">
                      <a16:creationId xmlns:a16="http://schemas.microsoft.com/office/drawing/2014/main" id="{1DA96747-E578-B3DB-2470-F7243CD49DD5}"/>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77951176-168B-B07B-7BE1-8239EFA9C9FE}"/>
                  </a:ext>
                </a:extLst>
              </p:cNvPr>
              <p:cNvGrpSpPr/>
              <p:nvPr/>
            </p:nvGrpSpPr>
            <p:grpSpPr>
              <a:xfrm>
                <a:off x="8021320" y="1554957"/>
                <a:ext cx="1056640" cy="528320"/>
                <a:chOff x="8117840" y="4104640"/>
                <a:chExt cx="1056640" cy="528320"/>
              </a:xfrm>
            </p:grpSpPr>
            <p:sp>
              <p:nvSpPr>
                <p:cNvPr id="14" name="Rectangle 13">
                  <a:extLst>
                    <a:ext uri="{FF2B5EF4-FFF2-40B4-BE49-F238E27FC236}">
                      <a16:creationId xmlns:a16="http://schemas.microsoft.com/office/drawing/2014/main" id="{2BA7BE02-D13E-4DA9-2B89-8660802D026E}"/>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5" name="Rectangle 14">
                  <a:extLst>
                    <a:ext uri="{FF2B5EF4-FFF2-40B4-BE49-F238E27FC236}">
                      <a16:creationId xmlns:a16="http://schemas.microsoft.com/office/drawing/2014/main" id="{1DE038FD-A9AA-D9E1-A1D5-95725C7BEEA5}"/>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7DA111CA-6B8C-359A-673A-7D5DE0F70DA5}"/>
                  </a:ext>
                </a:extLst>
              </p:cNvPr>
              <p:cNvGrpSpPr/>
              <p:nvPr/>
            </p:nvGrpSpPr>
            <p:grpSpPr>
              <a:xfrm>
                <a:off x="2727960" y="1554957"/>
                <a:ext cx="1056640" cy="528320"/>
                <a:chOff x="8117840" y="4104640"/>
                <a:chExt cx="1056640" cy="528320"/>
              </a:xfrm>
            </p:grpSpPr>
            <p:sp>
              <p:nvSpPr>
                <p:cNvPr id="17" name="Rectangle 16">
                  <a:extLst>
                    <a:ext uri="{FF2B5EF4-FFF2-40B4-BE49-F238E27FC236}">
                      <a16:creationId xmlns:a16="http://schemas.microsoft.com/office/drawing/2014/main" id="{57E8C63A-82D6-CC85-3709-0E2E37F557D0}"/>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8" name="Rectangle 17">
                  <a:extLst>
                    <a:ext uri="{FF2B5EF4-FFF2-40B4-BE49-F238E27FC236}">
                      <a16:creationId xmlns:a16="http://schemas.microsoft.com/office/drawing/2014/main" id="{3B8F20F7-7B97-9FD1-C14A-D4CD9FE6D9C2}"/>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0" name="Straight Arrow Connector 19">
                <a:extLst>
                  <a:ext uri="{FF2B5EF4-FFF2-40B4-BE49-F238E27FC236}">
                    <a16:creationId xmlns:a16="http://schemas.microsoft.com/office/drawing/2014/main" id="{ADAB37D0-E4BC-0B87-3E32-3F87021568CC}"/>
                  </a:ext>
                </a:extLst>
              </p:cNvPr>
              <p:cNvCxnSpPr>
                <a:cxnSpLocks/>
                <a:endCxn id="4" idx="1"/>
              </p:cNvCxnSpPr>
              <p:nvPr/>
            </p:nvCxnSpPr>
            <p:spPr>
              <a:xfrm>
                <a:off x="3520440" y="1819117"/>
                <a:ext cx="5334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080BD9A-B13C-50BF-A4D8-47758C79AC32}"/>
                  </a:ext>
                </a:extLst>
              </p:cNvPr>
              <p:cNvCxnSpPr>
                <a:cxnSpLocks/>
                <a:endCxn id="8" idx="1"/>
              </p:cNvCxnSpPr>
              <p:nvPr/>
            </p:nvCxnSpPr>
            <p:spPr>
              <a:xfrm>
                <a:off x="4846320" y="1819117"/>
                <a:ext cx="5283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A59202CE-9F90-F4A7-20C4-388EBA71AF5A}"/>
                  </a:ext>
                </a:extLst>
              </p:cNvPr>
              <p:cNvCxnSpPr>
                <a:cxnSpLocks/>
                <a:endCxn id="11" idx="1"/>
              </p:cNvCxnSpPr>
              <p:nvPr/>
            </p:nvCxnSpPr>
            <p:spPr>
              <a:xfrm>
                <a:off x="6167120" y="1819117"/>
                <a:ext cx="5334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82F20BE-DCF4-D7DF-70AA-D308F3FB3C0A}"/>
                  </a:ext>
                </a:extLst>
              </p:cNvPr>
              <p:cNvCxnSpPr>
                <a:cxnSpLocks/>
                <a:endCxn id="14" idx="1"/>
              </p:cNvCxnSpPr>
              <p:nvPr/>
            </p:nvCxnSpPr>
            <p:spPr>
              <a:xfrm>
                <a:off x="7493000" y="1819117"/>
                <a:ext cx="5283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32" name="Rectangle 31">
              <a:extLst>
                <a:ext uri="{FF2B5EF4-FFF2-40B4-BE49-F238E27FC236}">
                  <a16:creationId xmlns:a16="http://schemas.microsoft.com/office/drawing/2014/main" id="{71097677-82C3-534D-F0DA-F71F927E9535}"/>
                </a:ext>
              </a:extLst>
            </p:cNvPr>
            <p:cNvSpPr/>
            <p:nvPr/>
          </p:nvSpPr>
          <p:spPr>
            <a:xfrm>
              <a:off x="838200" y="1554957"/>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a:t>
              </a:r>
            </a:p>
          </p:txBody>
        </p:sp>
        <p:cxnSp>
          <p:nvCxnSpPr>
            <p:cNvPr id="33" name="Straight Arrow Connector 32">
              <a:extLst>
                <a:ext uri="{FF2B5EF4-FFF2-40B4-BE49-F238E27FC236}">
                  <a16:creationId xmlns:a16="http://schemas.microsoft.com/office/drawing/2014/main" id="{DFA11222-D8D6-01E9-FB88-B45F69E27FD3}"/>
                </a:ext>
              </a:extLst>
            </p:cNvPr>
            <p:cNvCxnSpPr>
              <a:cxnSpLocks/>
              <a:stCxn id="32" idx="3"/>
              <a:endCxn id="17" idx="1"/>
            </p:cNvCxnSpPr>
            <p:nvPr/>
          </p:nvCxnSpPr>
          <p:spPr>
            <a:xfrm>
              <a:off x="1788160" y="1819117"/>
              <a:ext cx="9398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73EED586-69E7-D3F5-2880-C2F533716668}"/>
                </a:ext>
              </a:extLst>
            </p:cNvPr>
            <p:cNvSpPr/>
            <p:nvPr/>
          </p:nvSpPr>
          <p:spPr>
            <a:xfrm>
              <a:off x="7810500" y="2744789"/>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a:t>
              </a:r>
            </a:p>
          </p:txBody>
        </p:sp>
        <p:cxnSp>
          <p:nvCxnSpPr>
            <p:cNvPr id="38" name="Straight Arrow Connector 37">
              <a:extLst>
                <a:ext uri="{FF2B5EF4-FFF2-40B4-BE49-F238E27FC236}">
                  <a16:creationId xmlns:a16="http://schemas.microsoft.com/office/drawing/2014/main" id="{4015BFBB-A85A-F4E1-2263-4CC9757E5464}"/>
                </a:ext>
              </a:extLst>
            </p:cNvPr>
            <p:cNvCxnSpPr>
              <a:cxnSpLocks/>
              <a:stCxn id="37" idx="0"/>
              <a:endCxn id="14" idx="2"/>
            </p:cNvCxnSpPr>
            <p:nvPr/>
          </p:nvCxnSpPr>
          <p:spPr>
            <a:xfrm flipV="1">
              <a:off x="8285480" y="2083277"/>
              <a:ext cx="0" cy="66151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43" name="TextBox 42">
            <a:extLst>
              <a:ext uri="{FF2B5EF4-FFF2-40B4-BE49-F238E27FC236}">
                <a16:creationId xmlns:a16="http://schemas.microsoft.com/office/drawing/2014/main" id="{69E8F0DA-CE7F-6B36-60B8-62F219E45284}"/>
              </a:ext>
            </a:extLst>
          </p:cNvPr>
          <p:cNvSpPr txBox="1"/>
          <p:nvPr/>
        </p:nvSpPr>
        <p:spPr>
          <a:xfrm>
            <a:off x="3391535" y="3599774"/>
            <a:ext cx="3966210" cy="1354217"/>
          </a:xfrm>
          <a:prstGeom prst="rect">
            <a:avLst/>
          </a:prstGeom>
          <a:noFill/>
        </p:spPr>
        <p:txBody>
          <a:bodyPr wrap="square" rtlCol="0">
            <a:spAutoFit/>
          </a:bodyPr>
          <a:lstStyle/>
          <a:p>
            <a:r>
              <a:rPr lang="en-US" sz="1600" dirty="0">
                <a:latin typeface="Cascadia Code" panose="020B0609020000020004" pitchFamily="49" charset="0"/>
                <a:ea typeface="Cascadia Code" panose="020B0609020000020004" pitchFamily="49" charset="0"/>
                <a:cs typeface="Cascadia Code" panose="020B0609020000020004" pitchFamily="49" charset="0"/>
              </a:rPr>
              <a:t>enqueue(x){</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last = new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ListNode</a:t>
            </a:r>
            <a:r>
              <a:rPr lang="en-US" sz="1600" dirty="0">
                <a:latin typeface="Cascadia Code" panose="020B0609020000020004" pitchFamily="49" charset="0"/>
                <a:ea typeface="Cascadia Code" panose="020B0609020000020004" pitchFamily="49" charset="0"/>
                <a:cs typeface="Cascadia Code" panose="020B0609020000020004" pitchFamily="49" charset="0"/>
              </a:rPr>
              <a:t>(x);</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back.next</a:t>
            </a:r>
            <a:r>
              <a:rPr lang="en-US" sz="1600" dirty="0">
                <a:latin typeface="Cascadia Code" panose="020B0609020000020004" pitchFamily="49" charset="0"/>
                <a:ea typeface="Cascadia Code" panose="020B0609020000020004" pitchFamily="49" charset="0"/>
                <a:cs typeface="Cascadia Code" panose="020B0609020000020004" pitchFamily="49" charset="0"/>
              </a:rPr>
              <a:t> = last;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back = last;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47" name="TextBox 46">
            <a:extLst>
              <a:ext uri="{FF2B5EF4-FFF2-40B4-BE49-F238E27FC236}">
                <a16:creationId xmlns:a16="http://schemas.microsoft.com/office/drawing/2014/main" id="{68D35A14-A21F-78BA-93A9-BDB21389B45A}"/>
              </a:ext>
            </a:extLst>
          </p:cNvPr>
          <p:cNvSpPr txBox="1"/>
          <p:nvPr/>
        </p:nvSpPr>
        <p:spPr>
          <a:xfrm>
            <a:off x="5110479" y="4593600"/>
            <a:ext cx="4781665" cy="1569660"/>
          </a:xfrm>
          <a:prstGeom prst="rect">
            <a:avLst/>
          </a:prstGeom>
          <a:noFill/>
        </p:spPr>
        <p:txBody>
          <a:bodyPr wrap="square" rtlCol="0">
            <a:spAutoFit/>
          </a:bodyPr>
          <a:lstStyle/>
          <a:p>
            <a:r>
              <a:rPr lang="en-US" sz="1600" dirty="0">
                <a:latin typeface="Cascadia Code" panose="020B0609020000020004" pitchFamily="49" charset="0"/>
                <a:ea typeface="Cascadia Code" panose="020B0609020000020004" pitchFamily="49" charset="0"/>
                <a:cs typeface="Cascadia Code" panose="020B0609020000020004" pitchFamily="49" charset="0"/>
              </a:rPr>
              <a:t>dequeue(){</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first =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front.value</a:t>
            </a:r>
            <a:r>
              <a:rPr lang="en-US" sz="16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front =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front.next</a:t>
            </a:r>
            <a:r>
              <a:rPr lang="en-US" sz="16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if (front == null) {back = null;}</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return first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48" name="TextBox 47">
            <a:extLst>
              <a:ext uri="{FF2B5EF4-FFF2-40B4-BE49-F238E27FC236}">
                <a16:creationId xmlns:a16="http://schemas.microsoft.com/office/drawing/2014/main" id="{7558E7DC-D758-CF07-0610-54789A2E490C}"/>
              </a:ext>
            </a:extLst>
          </p:cNvPr>
          <p:cNvSpPr txBox="1"/>
          <p:nvPr/>
        </p:nvSpPr>
        <p:spPr>
          <a:xfrm>
            <a:off x="3342639" y="5985030"/>
            <a:ext cx="3538451" cy="830997"/>
          </a:xfrm>
          <a:prstGeom prst="rect">
            <a:avLst/>
          </a:prstGeom>
          <a:noFill/>
        </p:spPr>
        <p:txBody>
          <a:bodyPr wrap="square" rtlCol="0">
            <a:spAutoFit/>
          </a:bodyPr>
          <a:lstStyle/>
          <a:p>
            <a:r>
              <a:rPr lang="en-US" sz="1600" dirty="0" err="1">
                <a:latin typeface="Cascadia Code" panose="020B0609020000020004" pitchFamily="49" charset="0"/>
                <a:ea typeface="Cascadia Code" panose="020B0609020000020004" pitchFamily="49" charset="0"/>
                <a:cs typeface="Cascadia Code" panose="020B0609020000020004" pitchFamily="49" charset="0"/>
              </a:rPr>
              <a:t>isEmpty</a:t>
            </a:r>
            <a:r>
              <a:rPr lang="en-US" sz="16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return front == null;</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a:t>
            </a:r>
          </a:p>
        </p:txBody>
      </p:sp>
    </p:spTree>
    <p:extLst>
      <p:ext uri="{BB962C8B-B14F-4D97-AF65-F5344CB8AC3E}">
        <p14:creationId xmlns:p14="http://schemas.microsoft.com/office/powerpoint/2010/main" val="41752345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3408-2D56-B58E-F959-CF8F6AE7145D}"/>
              </a:ext>
            </a:extLst>
          </p:cNvPr>
          <p:cNvSpPr>
            <a:spLocks noGrp="1"/>
          </p:cNvSpPr>
          <p:nvPr>
            <p:ph type="title"/>
          </p:nvPr>
        </p:nvSpPr>
        <p:spPr/>
        <p:txBody>
          <a:bodyPr/>
          <a:lstStyle/>
          <a:p>
            <a:r>
              <a:rPr lang="en-US" dirty="0"/>
              <a:t>“Circular” Array Queue (Idea)</a:t>
            </a:r>
          </a:p>
        </p:txBody>
      </p:sp>
      <p:sp>
        <p:nvSpPr>
          <p:cNvPr id="3" name="Content Placeholder 2">
            <a:extLst>
              <a:ext uri="{FF2B5EF4-FFF2-40B4-BE49-F238E27FC236}">
                <a16:creationId xmlns:a16="http://schemas.microsoft.com/office/drawing/2014/main" id="{1376FFCF-F09D-CE03-F022-D39AD4A97E9E}"/>
              </a:ext>
            </a:extLst>
          </p:cNvPr>
          <p:cNvSpPr>
            <a:spLocks noGrp="1"/>
          </p:cNvSpPr>
          <p:nvPr>
            <p:ph idx="1"/>
          </p:nvPr>
        </p:nvSpPr>
        <p:spPr>
          <a:xfrm>
            <a:off x="268946" y="2505200"/>
            <a:ext cx="10515600" cy="4351338"/>
          </a:xfrm>
        </p:spPr>
        <p:txBody>
          <a:bodyPr/>
          <a:lstStyle/>
          <a:p>
            <a:r>
              <a:rPr lang="en-US" dirty="0"/>
              <a:t>Queue represented as an array of items</a:t>
            </a:r>
          </a:p>
          <a:p>
            <a:pPr lvl="1"/>
            <a:r>
              <a:rPr lang="en-US" dirty="0">
                <a:solidFill>
                  <a:srgbClr val="0070C0"/>
                </a:solidFill>
              </a:rPr>
              <a:t>A “front” index to indicate the oldest item in the queue</a:t>
            </a:r>
          </a:p>
          <a:p>
            <a:pPr lvl="1"/>
            <a:r>
              <a:rPr lang="en-US" dirty="0">
                <a:solidFill>
                  <a:schemeClr val="accent2">
                    <a:lumMod val="75000"/>
                  </a:schemeClr>
                </a:solidFill>
              </a:rPr>
              <a:t>A “back” index to indicate the most recent item in the queue</a:t>
            </a:r>
          </a:p>
          <a:p>
            <a:pPr lvl="2"/>
            <a:r>
              <a:rPr lang="en-US" dirty="0">
                <a:solidFill>
                  <a:schemeClr val="accent2">
                    <a:lumMod val="75000"/>
                  </a:schemeClr>
                </a:solidFill>
              </a:rPr>
              <a:t>Actually, the first “open” slot in the array</a:t>
            </a:r>
          </a:p>
          <a:p>
            <a:r>
              <a:rPr lang="en-US" dirty="0"/>
              <a:t>enqueue Procedure:</a:t>
            </a:r>
          </a:p>
          <a:p>
            <a:endParaRPr lang="en-US" dirty="0"/>
          </a:p>
          <a:p>
            <a:r>
              <a:rPr lang="en-US" dirty="0"/>
              <a:t>dequeue Procedure:</a:t>
            </a:r>
          </a:p>
          <a:p>
            <a:endParaRPr lang="en-US" dirty="0"/>
          </a:p>
          <a:p>
            <a:r>
              <a:rPr lang="en-US" dirty="0" err="1"/>
              <a:t>isEmpty</a:t>
            </a:r>
            <a:r>
              <a:rPr lang="en-US" dirty="0"/>
              <a:t> Procedure:</a:t>
            </a:r>
          </a:p>
        </p:txBody>
      </p:sp>
      <p:grpSp>
        <p:nvGrpSpPr>
          <p:cNvPr id="28" name="Group 27" descr="An illustration of a circular array queue data structure. The elements of the queue are contained in an array. Because the array will not necessarily be occupied starting from index 0, we additionally have a field called &quot;front&quot; that indicates which index of the array contains the first item in the queue, and a field called &quot;back&quot; that indicates which index in teh array contains the last item in the queue.">
            <a:extLst>
              <a:ext uri="{FF2B5EF4-FFF2-40B4-BE49-F238E27FC236}">
                <a16:creationId xmlns:a16="http://schemas.microsoft.com/office/drawing/2014/main" id="{11B0EF4C-C656-AB89-58AE-F9492F437B01}"/>
              </a:ext>
            </a:extLst>
          </p:cNvPr>
          <p:cNvGrpSpPr/>
          <p:nvPr/>
        </p:nvGrpSpPr>
        <p:grpSpPr>
          <a:xfrm>
            <a:off x="1300186" y="1403212"/>
            <a:ext cx="6519765" cy="1221610"/>
            <a:chOff x="1300186" y="1403212"/>
            <a:chExt cx="6519765" cy="1221610"/>
          </a:xfrm>
        </p:grpSpPr>
        <p:grpSp>
          <p:nvGrpSpPr>
            <p:cNvPr id="17" name="Group 16">
              <a:extLst>
                <a:ext uri="{FF2B5EF4-FFF2-40B4-BE49-F238E27FC236}">
                  <a16:creationId xmlns:a16="http://schemas.microsoft.com/office/drawing/2014/main" id="{B35512AB-1499-E48B-6D8C-304AAD97F7A2}"/>
                </a:ext>
              </a:extLst>
            </p:cNvPr>
            <p:cNvGrpSpPr/>
            <p:nvPr/>
          </p:nvGrpSpPr>
          <p:grpSpPr>
            <a:xfrm>
              <a:off x="1300186" y="2023513"/>
              <a:ext cx="5283200" cy="528320"/>
              <a:chOff x="1681480" y="5462905"/>
              <a:chExt cx="5283200" cy="528320"/>
            </a:xfrm>
            <a:solidFill>
              <a:schemeClr val="bg1"/>
            </a:solidFill>
          </p:grpSpPr>
          <p:sp>
            <p:nvSpPr>
              <p:cNvPr id="18" name="Rectangle 17">
                <a:extLst>
                  <a:ext uri="{FF2B5EF4-FFF2-40B4-BE49-F238E27FC236}">
                    <a16:creationId xmlns:a16="http://schemas.microsoft.com/office/drawing/2014/main" id="{B6B19CF6-6A2A-C1D3-631D-4182EA1285CF}"/>
                  </a:ext>
                </a:extLst>
              </p:cNvPr>
              <p:cNvSpPr/>
              <p:nvPr/>
            </p:nvSpPr>
            <p:spPr>
              <a:xfrm>
                <a:off x="37947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9" name="Rectangle 18">
                <a:extLst>
                  <a:ext uri="{FF2B5EF4-FFF2-40B4-BE49-F238E27FC236}">
                    <a16:creationId xmlns:a16="http://schemas.microsoft.com/office/drawing/2014/main" id="{55B71A6C-68A1-64CE-F17B-BF6FB3B097C8}"/>
                  </a:ext>
                </a:extLst>
              </p:cNvPr>
              <p:cNvSpPr/>
              <p:nvPr/>
            </p:nvSpPr>
            <p:spPr>
              <a:xfrm>
                <a:off x="43230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0" name="Rectangle 19">
                <a:extLst>
                  <a:ext uri="{FF2B5EF4-FFF2-40B4-BE49-F238E27FC236}">
                    <a16:creationId xmlns:a16="http://schemas.microsoft.com/office/drawing/2014/main" id="{98C66068-5FAB-3D20-0467-A2EF26E40CDF}"/>
                  </a:ext>
                </a:extLst>
              </p:cNvPr>
              <p:cNvSpPr/>
              <p:nvPr/>
            </p:nvSpPr>
            <p:spPr>
              <a:xfrm>
                <a:off x="48514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1" name="Rectangle 20">
                <a:extLst>
                  <a:ext uri="{FF2B5EF4-FFF2-40B4-BE49-F238E27FC236}">
                    <a16:creationId xmlns:a16="http://schemas.microsoft.com/office/drawing/2014/main" id="{51272AE7-E366-87D6-27B2-5CB35A0A2E9D}"/>
                  </a:ext>
                </a:extLst>
              </p:cNvPr>
              <p:cNvSpPr/>
              <p:nvPr/>
            </p:nvSpPr>
            <p:spPr>
              <a:xfrm>
                <a:off x="53797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2" name="Rectangle 21">
                <a:extLst>
                  <a:ext uri="{FF2B5EF4-FFF2-40B4-BE49-F238E27FC236}">
                    <a16:creationId xmlns:a16="http://schemas.microsoft.com/office/drawing/2014/main" id="{CF2296D2-437A-44A8-9CE6-19E62D8545D1}"/>
                  </a:ext>
                </a:extLst>
              </p:cNvPr>
              <p:cNvSpPr/>
              <p:nvPr/>
            </p:nvSpPr>
            <p:spPr>
              <a:xfrm>
                <a:off x="32664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3" name="Rectangle 22">
                <a:extLst>
                  <a:ext uri="{FF2B5EF4-FFF2-40B4-BE49-F238E27FC236}">
                    <a16:creationId xmlns:a16="http://schemas.microsoft.com/office/drawing/2014/main" id="{DFEE2D71-BB8B-6307-DEFC-2C707D090F82}"/>
                  </a:ext>
                </a:extLst>
              </p:cNvPr>
              <p:cNvSpPr/>
              <p:nvPr/>
            </p:nvSpPr>
            <p:spPr>
              <a:xfrm>
                <a:off x="27381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4" name="Rectangle 23">
                <a:extLst>
                  <a:ext uri="{FF2B5EF4-FFF2-40B4-BE49-F238E27FC236}">
                    <a16:creationId xmlns:a16="http://schemas.microsoft.com/office/drawing/2014/main" id="{3F8C3EC8-D207-C9BC-AF3B-34BA8F2A3D86}"/>
                  </a:ext>
                </a:extLst>
              </p:cNvPr>
              <p:cNvSpPr/>
              <p:nvPr/>
            </p:nvSpPr>
            <p:spPr>
              <a:xfrm>
                <a:off x="22098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5" name="Rectangle 24">
                <a:extLst>
                  <a:ext uri="{FF2B5EF4-FFF2-40B4-BE49-F238E27FC236}">
                    <a16:creationId xmlns:a16="http://schemas.microsoft.com/office/drawing/2014/main" id="{998516BA-4D79-F018-3A35-3792D5BA16BA}"/>
                  </a:ext>
                </a:extLst>
              </p:cNvPr>
              <p:cNvSpPr/>
              <p:nvPr/>
            </p:nvSpPr>
            <p:spPr>
              <a:xfrm>
                <a:off x="59080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6" name="Rectangle 25">
                <a:extLst>
                  <a:ext uri="{FF2B5EF4-FFF2-40B4-BE49-F238E27FC236}">
                    <a16:creationId xmlns:a16="http://schemas.microsoft.com/office/drawing/2014/main" id="{F1EFC881-59FC-EC46-6767-3A59A758D927}"/>
                  </a:ext>
                </a:extLst>
              </p:cNvPr>
              <p:cNvSpPr/>
              <p:nvPr/>
            </p:nvSpPr>
            <p:spPr>
              <a:xfrm>
                <a:off x="16814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27" name="Rectangle 26">
                <a:extLst>
                  <a:ext uri="{FF2B5EF4-FFF2-40B4-BE49-F238E27FC236}">
                    <a16:creationId xmlns:a16="http://schemas.microsoft.com/office/drawing/2014/main" id="{8ED915B2-758F-CB33-5D15-9D5EBA4EC8C0}"/>
                  </a:ext>
                </a:extLst>
              </p:cNvPr>
              <p:cNvSpPr/>
              <p:nvPr/>
            </p:nvSpPr>
            <p:spPr>
              <a:xfrm>
                <a:off x="64363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grpSp>
          <p:nvGrpSpPr>
            <p:cNvPr id="14" name="Group 13">
              <a:extLst>
                <a:ext uri="{FF2B5EF4-FFF2-40B4-BE49-F238E27FC236}">
                  <a16:creationId xmlns:a16="http://schemas.microsoft.com/office/drawing/2014/main" id="{B8DF4474-60B3-C430-4D19-462F2190B410}"/>
                </a:ext>
              </a:extLst>
            </p:cNvPr>
            <p:cNvGrpSpPr/>
            <p:nvPr/>
          </p:nvGrpSpPr>
          <p:grpSpPr>
            <a:xfrm>
              <a:off x="1300186" y="1644055"/>
              <a:ext cx="5283200" cy="528320"/>
              <a:chOff x="1681480" y="5462905"/>
              <a:chExt cx="5283200" cy="528320"/>
            </a:xfrm>
          </p:grpSpPr>
          <p:sp>
            <p:nvSpPr>
              <p:cNvPr id="4" name="Rectangle 3">
                <a:extLst>
                  <a:ext uri="{FF2B5EF4-FFF2-40B4-BE49-F238E27FC236}">
                    <a16:creationId xmlns:a16="http://schemas.microsoft.com/office/drawing/2014/main" id="{D831EFCE-5250-1723-F114-8351794B50FE}"/>
                  </a:ext>
                </a:extLst>
              </p:cNvPr>
              <p:cNvSpPr/>
              <p:nvPr/>
            </p:nvSpPr>
            <p:spPr>
              <a:xfrm>
                <a:off x="37947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 name="Rectangle 4">
                <a:extLst>
                  <a:ext uri="{FF2B5EF4-FFF2-40B4-BE49-F238E27FC236}">
                    <a16:creationId xmlns:a16="http://schemas.microsoft.com/office/drawing/2014/main" id="{5C716BC8-F892-38F0-34E4-0F229F2421DC}"/>
                  </a:ext>
                </a:extLst>
              </p:cNvPr>
              <p:cNvSpPr/>
              <p:nvPr/>
            </p:nvSpPr>
            <p:spPr>
              <a:xfrm>
                <a:off x="43230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3DD8C1CE-795B-B6D5-812A-2746FF01ECAE}"/>
                  </a:ext>
                </a:extLst>
              </p:cNvPr>
              <p:cNvSpPr/>
              <p:nvPr/>
            </p:nvSpPr>
            <p:spPr>
              <a:xfrm>
                <a:off x="48514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5A01BD75-8814-65AB-8F5F-316F1C82E544}"/>
                  </a:ext>
                </a:extLst>
              </p:cNvPr>
              <p:cNvSpPr/>
              <p:nvPr/>
            </p:nvSpPr>
            <p:spPr>
              <a:xfrm>
                <a:off x="53797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a:extLst>
                  <a:ext uri="{FF2B5EF4-FFF2-40B4-BE49-F238E27FC236}">
                    <a16:creationId xmlns:a16="http://schemas.microsoft.com/office/drawing/2014/main" id="{F39F3ADB-383D-280B-B96B-EFEE14AF981C}"/>
                  </a:ext>
                </a:extLst>
              </p:cNvPr>
              <p:cNvSpPr/>
              <p:nvPr/>
            </p:nvSpPr>
            <p:spPr>
              <a:xfrm>
                <a:off x="32664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Rectangle 8">
                <a:extLst>
                  <a:ext uri="{FF2B5EF4-FFF2-40B4-BE49-F238E27FC236}">
                    <a16:creationId xmlns:a16="http://schemas.microsoft.com/office/drawing/2014/main" id="{7D4C4584-EEB5-D541-A430-BF4C19CF179B}"/>
                  </a:ext>
                </a:extLst>
              </p:cNvPr>
              <p:cNvSpPr/>
              <p:nvPr/>
            </p:nvSpPr>
            <p:spPr>
              <a:xfrm>
                <a:off x="27381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DB4EE6EE-57C7-E930-E769-D14333D1C2F1}"/>
                  </a:ext>
                </a:extLst>
              </p:cNvPr>
              <p:cNvSpPr/>
              <p:nvPr/>
            </p:nvSpPr>
            <p:spPr>
              <a:xfrm>
                <a:off x="22098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 name="Rectangle 10">
                <a:extLst>
                  <a:ext uri="{FF2B5EF4-FFF2-40B4-BE49-F238E27FC236}">
                    <a16:creationId xmlns:a16="http://schemas.microsoft.com/office/drawing/2014/main" id="{5AE60CAA-B899-0819-3473-0296EED20853}"/>
                  </a:ext>
                </a:extLst>
              </p:cNvPr>
              <p:cNvSpPr/>
              <p:nvPr/>
            </p:nvSpPr>
            <p:spPr>
              <a:xfrm>
                <a:off x="59080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Rectangle 11">
                <a:extLst>
                  <a:ext uri="{FF2B5EF4-FFF2-40B4-BE49-F238E27FC236}">
                    <a16:creationId xmlns:a16="http://schemas.microsoft.com/office/drawing/2014/main" id="{1F225A0A-55C8-3626-F395-47E46232D82B}"/>
                  </a:ext>
                </a:extLst>
              </p:cNvPr>
              <p:cNvSpPr/>
              <p:nvPr/>
            </p:nvSpPr>
            <p:spPr>
              <a:xfrm>
                <a:off x="16814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Rectangle 12">
                <a:extLst>
                  <a:ext uri="{FF2B5EF4-FFF2-40B4-BE49-F238E27FC236}">
                    <a16:creationId xmlns:a16="http://schemas.microsoft.com/office/drawing/2014/main" id="{6036E8D9-4E7B-6D69-B1FD-BC29EC101E8B}"/>
                  </a:ext>
                </a:extLst>
              </p:cNvPr>
              <p:cNvSpPr/>
              <p:nvPr/>
            </p:nvSpPr>
            <p:spPr>
              <a:xfrm>
                <a:off x="64363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15" name="Rectangle 14">
              <a:extLst>
                <a:ext uri="{FF2B5EF4-FFF2-40B4-BE49-F238E27FC236}">
                  <a16:creationId xmlns:a16="http://schemas.microsoft.com/office/drawing/2014/main" id="{A83D0B77-4258-3DCB-9442-557E7F23A1DF}"/>
                </a:ext>
              </a:extLst>
            </p:cNvPr>
            <p:cNvSpPr/>
            <p:nvPr/>
          </p:nvSpPr>
          <p:spPr>
            <a:xfrm>
              <a:off x="6869991" y="1403212"/>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front=0</a:t>
              </a:r>
            </a:p>
          </p:txBody>
        </p:sp>
        <p:sp>
          <p:nvSpPr>
            <p:cNvPr id="16" name="Rectangle 15">
              <a:extLst>
                <a:ext uri="{FF2B5EF4-FFF2-40B4-BE49-F238E27FC236}">
                  <a16:creationId xmlns:a16="http://schemas.microsoft.com/office/drawing/2014/main" id="{E7B5C368-7EC9-6CCF-C5F9-C50DE30682A5}"/>
                </a:ext>
              </a:extLst>
            </p:cNvPr>
            <p:cNvSpPr/>
            <p:nvPr/>
          </p:nvSpPr>
          <p:spPr>
            <a:xfrm>
              <a:off x="6869991" y="2096502"/>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back=5</a:t>
              </a:r>
            </a:p>
          </p:txBody>
        </p:sp>
      </p:grpSp>
      <mc:AlternateContent xmlns:mc="http://schemas.openxmlformats.org/markup-compatibility/2006">
        <mc:Choice xmlns:p14="http://schemas.microsoft.com/office/powerpoint/2010/main" Requires="p14">
          <p:contentPart p14:bwMode="auto" r:id="rId2">
            <p14:nvContentPartPr>
              <p14:cNvPr id="29" name="Ink 28">
                <a:extLst>
                  <a:ext uri="{FF2B5EF4-FFF2-40B4-BE49-F238E27FC236}">
                    <a16:creationId xmlns:a16="http://schemas.microsoft.com/office/drawing/2014/main" id="{AAF819BE-13F7-1D13-2ED3-C6F9F169622F}"/>
                  </a:ext>
                </a:extLst>
              </p14:cNvPr>
              <p14:cNvContentPartPr/>
              <p14:nvPr/>
            </p14:nvContentPartPr>
            <p14:xfrm>
              <a:off x="921600" y="1206360"/>
              <a:ext cx="5610960" cy="1295280"/>
            </p14:xfrm>
          </p:contentPart>
        </mc:Choice>
        <mc:Fallback>
          <p:pic>
            <p:nvPicPr>
              <p:cNvPr id="29" name="Ink 28">
                <a:extLst>
                  <a:ext uri="{FF2B5EF4-FFF2-40B4-BE49-F238E27FC236}">
                    <a16:creationId xmlns:a16="http://schemas.microsoft.com/office/drawing/2014/main" id="{AAF819BE-13F7-1D13-2ED3-C6F9F169622F}"/>
                  </a:ext>
                </a:extLst>
              </p:cNvPr>
              <p:cNvPicPr/>
              <p:nvPr/>
            </p:nvPicPr>
            <p:blipFill>
              <a:blip r:embed="rId3"/>
              <a:stretch>
                <a:fillRect/>
              </a:stretch>
            </p:blipFill>
            <p:spPr>
              <a:xfrm>
                <a:off x="912240" y="1197000"/>
                <a:ext cx="5629680" cy="1314000"/>
              </a:xfrm>
              <a:prstGeom prst="rect">
                <a:avLst/>
              </a:prstGeom>
            </p:spPr>
          </p:pic>
        </mc:Fallback>
      </mc:AlternateContent>
    </p:spTree>
    <p:extLst>
      <p:ext uri="{BB962C8B-B14F-4D97-AF65-F5344CB8AC3E}">
        <p14:creationId xmlns:p14="http://schemas.microsoft.com/office/powerpoint/2010/main" val="29529600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DAA65-8837-CC21-AE2E-580A4844FF13}"/>
              </a:ext>
            </a:extLst>
          </p:cNvPr>
          <p:cNvSpPr>
            <a:spLocks noGrp="1"/>
          </p:cNvSpPr>
          <p:nvPr>
            <p:ph type="title"/>
          </p:nvPr>
        </p:nvSpPr>
        <p:spPr/>
        <p:txBody>
          <a:bodyPr/>
          <a:lstStyle/>
          <a:p>
            <a:r>
              <a:rPr lang="en-US" dirty="0"/>
              <a:t>“Circular” Array</a:t>
            </a:r>
          </a:p>
        </p:txBody>
      </p:sp>
      <p:sp>
        <p:nvSpPr>
          <p:cNvPr id="3" name="Content Placeholder 2">
            <a:extLst>
              <a:ext uri="{FF2B5EF4-FFF2-40B4-BE49-F238E27FC236}">
                <a16:creationId xmlns:a16="http://schemas.microsoft.com/office/drawing/2014/main" id="{4AD352E5-62FD-31C9-0322-6ED83CF87A15}"/>
              </a:ext>
            </a:extLst>
          </p:cNvPr>
          <p:cNvSpPr>
            <a:spLocks noGrp="1"/>
          </p:cNvSpPr>
          <p:nvPr>
            <p:ph idx="1"/>
          </p:nvPr>
        </p:nvSpPr>
        <p:spPr/>
        <p:txBody>
          <a:bodyPr/>
          <a:lstStyle/>
          <a:p>
            <a:r>
              <a:rPr lang="en-US" dirty="0"/>
              <a:t>Intuitively, An array of values arranged in a “circle” rather than a line</a:t>
            </a:r>
          </a:p>
          <a:p>
            <a:pPr lvl="1"/>
            <a:r>
              <a:rPr lang="en-US" dirty="0"/>
              <a:t>If you go beyond the last index, to wrap back around to 0</a:t>
            </a:r>
          </a:p>
        </p:txBody>
      </p:sp>
      <p:grpSp>
        <p:nvGrpSpPr>
          <p:cNvPr id="28" name="Group 27" descr="This is a re-illustration of at circular array intended to illustrate the way in which it operates as a circle. In reality a circular array is a standard array, but we will use the array as if it is a circle in that we want the last index of the array to be followed by index 0. This has the effect of connected the end of the array with the beginning, making it behave as if it were circular.">
            <a:extLst>
              <a:ext uri="{FF2B5EF4-FFF2-40B4-BE49-F238E27FC236}">
                <a16:creationId xmlns:a16="http://schemas.microsoft.com/office/drawing/2014/main" id="{D69EE0EC-2D5E-D79F-575A-371F5F8253BE}"/>
              </a:ext>
            </a:extLst>
          </p:cNvPr>
          <p:cNvGrpSpPr/>
          <p:nvPr/>
        </p:nvGrpSpPr>
        <p:grpSpPr>
          <a:xfrm>
            <a:off x="352535" y="2756044"/>
            <a:ext cx="10195775" cy="3968952"/>
            <a:chOff x="352535" y="2756044"/>
            <a:chExt cx="10195775" cy="3968952"/>
          </a:xfrm>
        </p:grpSpPr>
        <p:grpSp>
          <p:nvGrpSpPr>
            <p:cNvPr id="4" name="Group 3">
              <a:extLst>
                <a:ext uri="{FF2B5EF4-FFF2-40B4-BE49-F238E27FC236}">
                  <a16:creationId xmlns:a16="http://schemas.microsoft.com/office/drawing/2014/main" id="{8354F8AB-52E5-93DF-2103-296898DD010C}"/>
                </a:ext>
              </a:extLst>
            </p:cNvPr>
            <p:cNvGrpSpPr/>
            <p:nvPr/>
          </p:nvGrpSpPr>
          <p:grpSpPr>
            <a:xfrm>
              <a:off x="352535" y="3349393"/>
              <a:ext cx="5283200" cy="528320"/>
              <a:chOff x="1681480" y="5462905"/>
              <a:chExt cx="5283200" cy="528320"/>
            </a:xfrm>
            <a:solidFill>
              <a:schemeClr val="bg1"/>
            </a:solidFill>
          </p:grpSpPr>
          <p:sp>
            <p:nvSpPr>
              <p:cNvPr id="5" name="Rectangle 4">
                <a:extLst>
                  <a:ext uri="{FF2B5EF4-FFF2-40B4-BE49-F238E27FC236}">
                    <a16:creationId xmlns:a16="http://schemas.microsoft.com/office/drawing/2014/main" id="{3A3367D0-4545-BFE9-DE41-6FD0D237B15F}"/>
                  </a:ext>
                </a:extLst>
              </p:cNvPr>
              <p:cNvSpPr/>
              <p:nvPr/>
            </p:nvSpPr>
            <p:spPr>
              <a:xfrm>
                <a:off x="37947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6" name="Rectangle 5">
                <a:extLst>
                  <a:ext uri="{FF2B5EF4-FFF2-40B4-BE49-F238E27FC236}">
                    <a16:creationId xmlns:a16="http://schemas.microsoft.com/office/drawing/2014/main" id="{52CA98B8-EEB3-FC16-312A-A84E2D7C0E90}"/>
                  </a:ext>
                </a:extLst>
              </p:cNvPr>
              <p:cNvSpPr/>
              <p:nvPr/>
            </p:nvSpPr>
            <p:spPr>
              <a:xfrm>
                <a:off x="43230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Rectangle 6">
                <a:extLst>
                  <a:ext uri="{FF2B5EF4-FFF2-40B4-BE49-F238E27FC236}">
                    <a16:creationId xmlns:a16="http://schemas.microsoft.com/office/drawing/2014/main" id="{E5B6A29C-D4FD-ED3A-C78B-F60246DCDCA3}"/>
                  </a:ext>
                </a:extLst>
              </p:cNvPr>
              <p:cNvSpPr/>
              <p:nvPr/>
            </p:nvSpPr>
            <p:spPr>
              <a:xfrm>
                <a:off x="48514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 name="Rectangle 7">
                <a:extLst>
                  <a:ext uri="{FF2B5EF4-FFF2-40B4-BE49-F238E27FC236}">
                    <a16:creationId xmlns:a16="http://schemas.microsoft.com/office/drawing/2014/main" id="{0EFDBE48-B472-F67A-F0F1-73513F157C8C}"/>
                  </a:ext>
                </a:extLst>
              </p:cNvPr>
              <p:cNvSpPr/>
              <p:nvPr/>
            </p:nvSpPr>
            <p:spPr>
              <a:xfrm>
                <a:off x="53797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 name="Rectangle 8">
                <a:extLst>
                  <a:ext uri="{FF2B5EF4-FFF2-40B4-BE49-F238E27FC236}">
                    <a16:creationId xmlns:a16="http://schemas.microsoft.com/office/drawing/2014/main" id="{894653E1-F6B8-0899-B2C6-9A1C2D1BB1F0}"/>
                  </a:ext>
                </a:extLst>
              </p:cNvPr>
              <p:cNvSpPr/>
              <p:nvPr/>
            </p:nvSpPr>
            <p:spPr>
              <a:xfrm>
                <a:off x="32664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110E5E1B-56D0-545F-7659-77F433476D1E}"/>
                  </a:ext>
                </a:extLst>
              </p:cNvPr>
              <p:cNvSpPr/>
              <p:nvPr/>
            </p:nvSpPr>
            <p:spPr>
              <a:xfrm>
                <a:off x="27381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 name="Rectangle 10">
                <a:extLst>
                  <a:ext uri="{FF2B5EF4-FFF2-40B4-BE49-F238E27FC236}">
                    <a16:creationId xmlns:a16="http://schemas.microsoft.com/office/drawing/2014/main" id="{96A1D074-66C2-A53E-39AF-9B399A918C72}"/>
                  </a:ext>
                </a:extLst>
              </p:cNvPr>
              <p:cNvSpPr/>
              <p:nvPr/>
            </p:nvSpPr>
            <p:spPr>
              <a:xfrm>
                <a:off x="22098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2" name="Rectangle 11">
                <a:extLst>
                  <a:ext uri="{FF2B5EF4-FFF2-40B4-BE49-F238E27FC236}">
                    <a16:creationId xmlns:a16="http://schemas.microsoft.com/office/drawing/2014/main" id="{C4F455DE-59DE-156B-53C1-7645679B3824}"/>
                  </a:ext>
                </a:extLst>
              </p:cNvPr>
              <p:cNvSpPr/>
              <p:nvPr/>
            </p:nvSpPr>
            <p:spPr>
              <a:xfrm>
                <a:off x="59080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3" name="Rectangle 12">
                <a:extLst>
                  <a:ext uri="{FF2B5EF4-FFF2-40B4-BE49-F238E27FC236}">
                    <a16:creationId xmlns:a16="http://schemas.microsoft.com/office/drawing/2014/main" id="{9474B481-DD98-5C4B-DFED-1C2DAEA6F4BB}"/>
                  </a:ext>
                </a:extLst>
              </p:cNvPr>
              <p:cNvSpPr/>
              <p:nvPr/>
            </p:nvSpPr>
            <p:spPr>
              <a:xfrm>
                <a:off x="16814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14" name="Rectangle 13">
                <a:extLst>
                  <a:ext uri="{FF2B5EF4-FFF2-40B4-BE49-F238E27FC236}">
                    <a16:creationId xmlns:a16="http://schemas.microsoft.com/office/drawing/2014/main" id="{83E8458D-25E4-1FAC-1DE9-4FC223055B11}"/>
                  </a:ext>
                </a:extLst>
              </p:cNvPr>
              <p:cNvSpPr/>
              <p:nvPr/>
            </p:nvSpPr>
            <p:spPr>
              <a:xfrm>
                <a:off x="64363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grpSp>
          <p:nvGrpSpPr>
            <p:cNvPr id="15" name="Group 14">
              <a:extLst>
                <a:ext uri="{FF2B5EF4-FFF2-40B4-BE49-F238E27FC236}">
                  <a16:creationId xmlns:a16="http://schemas.microsoft.com/office/drawing/2014/main" id="{D6C0605A-3135-5138-8687-1A5FDE254AD2}"/>
                </a:ext>
              </a:extLst>
            </p:cNvPr>
            <p:cNvGrpSpPr/>
            <p:nvPr/>
          </p:nvGrpSpPr>
          <p:grpSpPr>
            <a:xfrm>
              <a:off x="352535" y="2969935"/>
              <a:ext cx="5283200" cy="528320"/>
              <a:chOff x="1681480" y="5462905"/>
              <a:chExt cx="5283200" cy="528320"/>
            </a:xfrm>
          </p:grpSpPr>
          <p:sp>
            <p:nvSpPr>
              <p:cNvPr id="16" name="Rectangle 15">
                <a:extLst>
                  <a:ext uri="{FF2B5EF4-FFF2-40B4-BE49-F238E27FC236}">
                    <a16:creationId xmlns:a16="http://schemas.microsoft.com/office/drawing/2014/main" id="{E2DE85AD-6B09-367A-9A9B-6EE66A7D4D4C}"/>
                  </a:ext>
                </a:extLst>
              </p:cNvPr>
              <p:cNvSpPr/>
              <p:nvPr/>
            </p:nvSpPr>
            <p:spPr>
              <a:xfrm>
                <a:off x="37947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7" name="Rectangle 16">
                <a:extLst>
                  <a:ext uri="{FF2B5EF4-FFF2-40B4-BE49-F238E27FC236}">
                    <a16:creationId xmlns:a16="http://schemas.microsoft.com/office/drawing/2014/main" id="{81427ABB-1EE9-142A-8C89-1673F8AB26B5}"/>
                  </a:ext>
                </a:extLst>
              </p:cNvPr>
              <p:cNvSpPr/>
              <p:nvPr/>
            </p:nvSpPr>
            <p:spPr>
              <a:xfrm>
                <a:off x="43230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Rectangle 17">
                <a:extLst>
                  <a:ext uri="{FF2B5EF4-FFF2-40B4-BE49-F238E27FC236}">
                    <a16:creationId xmlns:a16="http://schemas.microsoft.com/office/drawing/2014/main" id="{5DD335C5-16B9-F275-5C4C-A8AADE6D899A}"/>
                  </a:ext>
                </a:extLst>
              </p:cNvPr>
              <p:cNvSpPr/>
              <p:nvPr/>
            </p:nvSpPr>
            <p:spPr>
              <a:xfrm>
                <a:off x="48514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9" name="Rectangle 18">
                <a:extLst>
                  <a:ext uri="{FF2B5EF4-FFF2-40B4-BE49-F238E27FC236}">
                    <a16:creationId xmlns:a16="http://schemas.microsoft.com/office/drawing/2014/main" id="{AABC20E1-9112-90A2-57D9-49B9311A4F17}"/>
                  </a:ext>
                </a:extLst>
              </p:cNvPr>
              <p:cNvSpPr/>
              <p:nvPr/>
            </p:nvSpPr>
            <p:spPr>
              <a:xfrm>
                <a:off x="53797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0" name="Rectangle 19">
                <a:extLst>
                  <a:ext uri="{FF2B5EF4-FFF2-40B4-BE49-F238E27FC236}">
                    <a16:creationId xmlns:a16="http://schemas.microsoft.com/office/drawing/2014/main" id="{A62EDD1B-F566-A302-DA0B-ABF30AA988D4}"/>
                  </a:ext>
                </a:extLst>
              </p:cNvPr>
              <p:cNvSpPr/>
              <p:nvPr/>
            </p:nvSpPr>
            <p:spPr>
              <a:xfrm>
                <a:off x="32664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1" name="Rectangle 20">
                <a:extLst>
                  <a:ext uri="{FF2B5EF4-FFF2-40B4-BE49-F238E27FC236}">
                    <a16:creationId xmlns:a16="http://schemas.microsoft.com/office/drawing/2014/main" id="{406F291B-9490-2CE2-598E-211994F5C384}"/>
                  </a:ext>
                </a:extLst>
              </p:cNvPr>
              <p:cNvSpPr/>
              <p:nvPr/>
            </p:nvSpPr>
            <p:spPr>
              <a:xfrm>
                <a:off x="27381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2" name="Rectangle 21">
                <a:extLst>
                  <a:ext uri="{FF2B5EF4-FFF2-40B4-BE49-F238E27FC236}">
                    <a16:creationId xmlns:a16="http://schemas.microsoft.com/office/drawing/2014/main" id="{10071176-BD1F-4CA7-F9F4-BE7C532ACF7C}"/>
                  </a:ext>
                </a:extLst>
              </p:cNvPr>
              <p:cNvSpPr/>
              <p:nvPr/>
            </p:nvSpPr>
            <p:spPr>
              <a:xfrm>
                <a:off x="22098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3" name="Rectangle 22">
                <a:extLst>
                  <a:ext uri="{FF2B5EF4-FFF2-40B4-BE49-F238E27FC236}">
                    <a16:creationId xmlns:a16="http://schemas.microsoft.com/office/drawing/2014/main" id="{EB697226-B6FC-F67A-283F-B25E6E0FD5A5}"/>
                  </a:ext>
                </a:extLst>
              </p:cNvPr>
              <p:cNvSpPr/>
              <p:nvPr/>
            </p:nvSpPr>
            <p:spPr>
              <a:xfrm>
                <a:off x="59080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Rectangle 23">
                <a:extLst>
                  <a:ext uri="{FF2B5EF4-FFF2-40B4-BE49-F238E27FC236}">
                    <a16:creationId xmlns:a16="http://schemas.microsoft.com/office/drawing/2014/main" id="{2FC55923-9921-7397-7FD6-C82D1AA07A70}"/>
                  </a:ext>
                </a:extLst>
              </p:cNvPr>
              <p:cNvSpPr/>
              <p:nvPr/>
            </p:nvSpPr>
            <p:spPr>
              <a:xfrm>
                <a:off x="16814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5" name="Rectangle 24">
                <a:extLst>
                  <a:ext uri="{FF2B5EF4-FFF2-40B4-BE49-F238E27FC236}">
                    <a16:creationId xmlns:a16="http://schemas.microsoft.com/office/drawing/2014/main" id="{6B59DBC1-DE4C-49E1-9AB1-B003EB94ABF5}"/>
                  </a:ext>
                </a:extLst>
              </p:cNvPr>
              <p:cNvSpPr/>
              <p:nvPr/>
            </p:nvSpPr>
            <p:spPr>
              <a:xfrm>
                <a:off x="64363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6" name="Oval 25">
              <a:extLst>
                <a:ext uri="{FF2B5EF4-FFF2-40B4-BE49-F238E27FC236}">
                  <a16:creationId xmlns:a16="http://schemas.microsoft.com/office/drawing/2014/main" id="{128379D1-3254-3DE6-9029-81EAE98A2212}"/>
                </a:ext>
              </a:extLst>
            </p:cNvPr>
            <p:cNvSpPr/>
            <p:nvPr/>
          </p:nvSpPr>
          <p:spPr>
            <a:xfrm>
              <a:off x="6579358" y="2756044"/>
              <a:ext cx="3968952" cy="3968952"/>
            </a:xfrm>
            <a:prstGeom prst="ellipse">
              <a:avLst/>
            </a:prstGeom>
            <a:solidFill>
              <a:schemeClr val="accent4">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7" name="Group 66">
              <a:extLst>
                <a:ext uri="{FF2B5EF4-FFF2-40B4-BE49-F238E27FC236}">
                  <a16:creationId xmlns:a16="http://schemas.microsoft.com/office/drawing/2014/main" id="{9ABE1E1D-F3B4-CB94-C6BC-CD13A88C31A7}"/>
                </a:ext>
              </a:extLst>
            </p:cNvPr>
            <p:cNvGrpSpPr/>
            <p:nvPr/>
          </p:nvGrpSpPr>
          <p:grpSpPr>
            <a:xfrm>
              <a:off x="6579358" y="2756044"/>
              <a:ext cx="3968952" cy="3968952"/>
              <a:chOff x="6579358" y="2756044"/>
              <a:chExt cx="3968952" cy="3968952"/>
            </a:xfrm>
          </p:grpSpPr>
          <p:cxnSp>
            <p:nvCxnSpPr>
              <p:cNvPr id="42" name="Straight Connector 41">
                <a:extLst>
                  <a:ext uri="{FF2B5EF4-FFF2-40B4-BE49-F238E27FC236}">
                    <a16:creationId xmlns:a16="http://schemas.microsoft.com/office/drawing/2014/main" id="{E3568609-FC76-05A4-B59F-99E41C1F4E7C}"/>
                  </a:ext>
                </a:extLst>
              </p:cNvPr>
              <p:cNvCxnSpPr>
                <a:cxnSpLocks/>
              </p:cNvCxnSpPr>
              <p:nvPr/>
            </p:nvCxnSpPr>
            <p:spPr>
              <a:xfrm rot="2160000">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A8B92DD-4899-C38B-C1E1-4611890E7BB6}"/>
                  </a:ext>
                </a:extLst>
              </p:cNvPr>
              <p:cNvCxnSpPr>
                <a:cxnSpLocks/>
              </p:cNvCxnSpPr>
              <p:nvPr/>
            </p:nvCxnSpPr>
            <p:spPr>
              <a:xfrm rot="4320000">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3DE8566B-6DF9-80C7-DCE7-407659D22353}"/>
                  </a:ext>
                </a:extLst>
              </p:cNvPr>
              <p:cNvCxnSpPr>
                <a:cxnSpLocks/>
              </p:cNvCxnSpPr>
              <p:nvPr/>
            </p:nvCxnSpPr>
            <p:spPr>
              <a:xfrm rot="6480000">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12C30AE-45BC-F385-2C7B-AF92F6FA8509}"/>
                  </a:ext>
                </a:extLst>
              </p:cNvPr>
              <p:cNvCxnSpPr>
                <a:cxnSpLocks/>
              </p:cNvCxnSpPr>
              <p:nvPr/>
            </p:nvCxnSpPr>
            <p:spPr>
              <a:xfrm rot="8640000">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AE49B5B6-4E48-AFAA-D18F-C5A1E76AE1E8}"/>
                  </a:ext>
                </a:extLst>
              </p:cNvPr>
              <p:cNvCxnSpPr>
                <a:cxnSpLocks/>
                <a:stCxn id="26" idx="0"/>
                <a:endCxn id="26" idx="4"/>
              </p:cNvCxnSpPr>
              <p:nvPr/>
            </p:nvCxnSpPr>
            <p:spPr>
              <a:xfrm>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7" name="Oval 26">
              <a:extLst>
                <a:ext uri="{FF2B5EF4-FFF2-40B4-BE49-F238E27FC236}">
                  <a16:creationId xmlns:a16="http://schemas.microsoft.com/office/drawing/2014/main" id="{9715479E-DC73-8589-9D5B-2C58BFF85BDE}"/>
                </a:ext>
              </a:extLst>
            </p:cNvPr>
            <p:cNvSpPr/>
            <p:nvPr/>
          </p:nvSpPr>
          <p:spPr>
            <a:xfrm>
              <a:off x="7297616" y="3474302"/>
              <a:ext cx="2532436" cy="2532436"/>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D9910C60-E5BB-DB4A-7E6B-7541D8115FBF}"/>
                </a:ext>
              </a:extLst>
            </p:cNvPr>
            <p:cNvSpPr/>
            <p:nvPr/>
          </p:nvSpPr>
          <p:spPr>
            <a:xfrm>
              <a:off x="8680334" y="3599559"/>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69" name="Rectangle 68">
              <a:extLst>
                <a:ext uri="{FF2B5EF4-FFF2-40B4-BE49-F238E27FC236}">
                  <a16:creationId xmlns:a16="http://schemas.microsoft.com/office/drawing/2014/main" id="{12C412A9-0633-AB06-FD42-DAC64F41108F}"/>
                </a:ext>
              </a:extLst>
            </p:cNvPr>
            <p:cNvSpPr/>
            <p:nvPr/>
          </p:nvSpPr>
          <p:spPr>
            <a:xfrm>
              <a:off x="9162664" y="3977190"/>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70" name="Rectangle 69">
              <a:extLst>
                <a:ext uri="{FF2B5EF4-FFF2-40B4-BE49-F238E27FC236}">
                  <a16:creationId xmlns:a16="http://schemas.microsoft.com/office/drawing/2014/main" id="{F8A357D5-679D-A32F-FC3E-9CD5EA6A9CF3}"/>
                </a:ext>
              </a:extLst>
            </p:cNvPr>
            <p:cNvSpPr/>
            <p:nvPr/>
          </p:nvSpPr>
          <p:spPr>
            <a:xfrm>
              <a:off x="9357019" y="4583833"/>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1" name="Rectangle 70">
              <a:extLst>
                <a:ext uri="{FF2B5EF4-FFF2-40B4-BE49-F238E27FC236}">
                  <a16:creationId xmlns:a16="http://schemas.microsoft.com/office/drawing/2014/main" id="{4ADE4C66-E520-1738-A3C5-57C4225BB607}"/>
                </a:ext>
              </a:extLst>
            </p:cNvPr>
            <p:cNvSpPr/>
            <p:nvPr/>
          </p:nvSpPr>
          <p:spPr>
            <a:xfrm>
              <a:off x="9144376" y="5141881"/>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2" name="Rectangle 71">
              <a:extLst>
                <a:ext uri="{FF2B5EF4-FFF2-40B4-BE49-F238E27FC236}">
                  <a16:creationId xmlns:a16="http://schemas.microsoft.com/office/drawing/2014/main" id="{7DA69168-92BF-AA5C-205A-07E2E50C54C6}"/>
                </a:ext>
              </a:extLst>
            </p:cNvPr>
            <p:cNvSpPr/>
            <p:nvPr/>
          </p:nvSpPr>
          <p:spPr>
            <a:xfrm>
              <a:off x="8689817" y="5534488"/>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73" name="Rectangle 72">
              <a:extLst>
                <a:ext uri="{FF2B5EF4-FFF2-40B4-BE49-F238E27FC236}">
                  <a16:creationId xmlns:a16="http://schemas.microsoft.com/office/drawing/2014/main" id="{C303F88D-C968-8B7C-A670-760DFFBE04FC}"/>
                </a:ext>
              </a:extLst>
            </p:cNvPr>
            <p:cNvSpPr/>
            <p:nvPr/>
          </p:nvSpPr>
          <p:spPr>
            <a:xfrm>
              <a:off x="8101410" y="5534488"/>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4" name="Rectangle 73">
              <a:extLst>
                <a:ext uri="{FF2B5EF4-FFF2-40B4-BE49-F238E27FC236}">
                  <a16:creationId xmlns:a16="http://schemas.microsoft.com/office/drawing/2014/main" id="{5B71349B-0199-1E32-5C57-6D878A0D513F}"/>
                </a:ext>
              </a:extLst>
            </p:cNvPr>
            <p:cNvSpPr/>
            <p:nvPr/>
          </p:nvSpPr>
          <p:spPr>
            <a:xfrm>
              <a:off x="7588049" y="5146114"/>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75" name="Rectangle 74">
              <a:extLst>
                <a:ext uri="{FF2B5EF4-FFF2-40B4-BE49-F238E27FC236}">
                  <a16:creationId xmlns:a16="http://schemas.microsoft.com/office/drawing/2014/main" id="{0868B71B-1579-3A6B-835A-CB5663E7AAC5}"/>
                </a:ext>
              </a:extLst>
            </p:cNvPr>
            <p:cNvSpPr/>
            <p:nvPr/>
          </p:nvSpPr>
          <p:spPr>
            <a:xfrm>
              <a:off x="7336181" y="4597255"/>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76" name="Rectangle 75">
              <a:extLst>
                <a:ext uri="{FF2B5EF4-FFF2-40B4-BE49-F238E27FC236}">
                  <a16:creationId xmlns:a16="http://schemas.microsoft.com/office/drawing/2014/main" id="{EABE6CBB-21F3-B9D4-9D8B-F8BB4F0991FA}"/>
                </a:ext>
              </a:extLst>
            </p:cNvPr>
            <p:cNvSpPr/>
            <p:nvPr/>
          </p:nvSpPr>
          <p:spPr>
            <a:xfrm>
              <a:off x="7561221" y="3992644"/>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77" name="Rectangle 76">
              <a:extLst>
                <a:ext uri="{FF2B5EF4-FFF2-40B4-BE49-F238E27FC236}">
                  <a16:creationId xmlns:a16="http://schemas.microsoft.com/office/drawing/2014/main" id="{A81982B3-E6AA-C666-F3C9-727F7F6B43CC}"/>
                </a:ext>
              </a:extLst>
            </p:cNvPr>
            <p:cNvSpPr/>
            <p:nvPr/>
          </p:nvSpPr>
          <p:spPr>
            <a:xfrm>
              <a:off x="8075240" y="3621745"/>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79" name="Rectangle 78">
              <a:extLst>
                <a:ext uri="{FF2B5EF4-FFF2-40B4-BE49-F238E27FC236}">
                  <a16:creationId xmlns:a16="http://schemas.microsoft.com/office/drawing/2014/main" id="{90726518-87A2-B490-66D2-93987BF07928}"/>
                </a:ext>
              </a:extLst>
            </p:cNvPr>
            <p:cNvSpPr/>
            <p:nvPr/>
          </p:nvSpPr>
          <p:spPr>
            <a:xfrm>
              <a:off x="8861857" y="3048242"/>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1" name="Rectangle 80">
              <a:extLst>
                <a:ext uri="{FF2B5EF4-FFF2-40B4-BE49-F238E27FC236}">
                  <a16:creationId xmlns:a16="http://schemas.microsoft.com/office/drawing/2014/main" id="{3AA9D7B0-5307-BCFA-9749-62DBA8E066F2}"/>
                </a:ext>
              </a:extLst>
            </p:cNvPr>
            <p:cNvSpPr/>
            <p:nvPr/>
          </p:nvSpPr>
          <p:spPr>
            <a:xfrm>
              <a:off x="9738727" y="3677705"/>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82" name="Rectangle 81">
              <a:extLst>
                <a:ext uri="{FF2B5EF4-FFF2-40B4-BE49-F238E27FC236}">
                  <a16:creationId xmlns:a16="http://schemas.microsoft.com/office/drawing/2014/main" id="{735B1ED7-49A2-F574-2E96-912B07E79601}"/>
                </a:ext>
              </a:extLst>
            </p:cNvPr>
            <p:cNvSpPr/>
            <p:nvPr/>
          </p:nvSpPr>
          <p:spPr>
            <a:xfrm>
              <a:off x="9956034" y="4553647"/>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83" name="Rectangle 82">
              <a:extLst>
                <a:ext uri="{FF2B5EF4-FFF2-40B4-BE49-F238E27FC236}">
                  <a16:creationId xmlns:a16="http://schemas.microsoft.com/office/drawing/2014/main" id="{4F1CC7B0-7BB3-45E7-4E7A-D1DA146378F8}"/>
                </a:ext>
              </a:extLst>
            </p:cNvPr>
            <p:cNvSpPr/>
            <p:nvPr/>
          </p:nvSpPr>
          <p:spPr>
            <a:xfrm>
              <a:off x="9671679" y="5523386"/>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84" name="Rectangle 83">
              <a:extLst>
                <a:ext uri="{FF2B5EF4-FFF2-40B4-BE49-F238E27FC236}">
                  <a16:creationId xmlns:a16="http://schemas.microsoft.com/office/drawing/2014/main" id="{87D04EE0-ED02-D209-EAA9-6D21D426406A}"/>
                </a:ext>
              </a:extLst>
            </p:cNvPr>
            <p:cNvSpPr/>
            <p:nvPr/>
          </p:nvSpPr>
          <p:spPr>
            <a:xfrm>
              <a:off x="8841987" y="6088932"/>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85" name="Rectangle 84">
              <a:extLst>
                <a:ext uri="{FF2B5EF4-FFF2-40B4-BE49-F238E27FC236}">
                  <a16:creationId xmlns:a16="http://schemas.microsoft.com/office/drawing/2014/main" id="{AFEC5388-74F5-AF62-F82A-19394D9E4653}"/>
                </a:ext>
              </a:extLst>
            </p:cNvPr>
            <p:cNvSpPr/>
            <p:nvPr/>
          </p:nvSpPr>
          <p:spPr>
            <a:xfrm>
              <a:off x="2151155" y="4545310"/>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front=0</a:t>
              </a:r>
            </a:p>
          </p:txBody>
        </p:sp>
        <p:sp>
          <p:nvSpPr>
            <p:cNvPr id="86" name="Rectangle 85">
              <a:extLst>
                <a:ext uri="{FF2B5EF4-FFF2-40B4-BE49-F238E27FC236}">
                  <a16:creationId xmlns:a16="http://schemas.microsoft.com/office/drawing/2014/main" id="{1ED4207A-6B0C-187B-C676-087B4C053BD4}"/>
                </a:ext>
              </a:extLst>
            </p:cNvPr>
            <p:cNvSpPr/>
            <p:nvPr/>
          </p:nvSpPr>
          <p:spPr>
            <a:xfrm>
              <a:off x="2151155" y="5238600"/>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back=5</a:t>
              </a:r>
            </a:p>
          </p:txBody>
        </p:sp>
        <p:sp>
          <p:nvSpPr>
            <p:cNvPr id="87" name="Rectangle 86">
              <a:extLst>
                <a:ext uri="{FF2B5EF4-FFF2-40B4-BE49-F238E27FC236}">
                  <a16:creationId xmlns:a16="http://schemas.microsoft.com/office/drawing/2014/main" id="{968ACB5C-7180-0CBE-17B3-B25D8512CC0F}"/>
                </a:ext>
              </a:extLst>
            </p:cNvPr>
            <p:cNvSpPr/>
            <p:nvPr/>
          </p:nvSpPr>
          <p:spPr>
            <a:xfrm>
              <a:off x="7871784" y="3025841"/>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
          <p:nvSpPr>
            <p:cNvPr id="88" name="Rectangle 87">
              <a:extLst>
                <a:ext uri="{FF2B5EF4-FFF2-40B4-BE49-F238E27FC236}">
                  <a16:creationId xmlns:a16="http://schemas.microsoft.com/office/drawing/2014/main" id="{2CD2D71D-48DE-8DC1-5291-299F56C8FEE6}"/>
                </a:ext>
              </a:extLst>
            </p:cNvPr>
            <p:cNvSpPr/>
            <p:nvPr/>
          </p:nvSpPr>
          <p:spPr>
            <a:xfrm>
              <a:off x="7046877" y="3616892"/>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
          <p:nvSpPr>
            <p:cNvPr id="89" name="Rectangle 88">
              <a:extLst>
                <a:ext uri="{FF2B5EF4-FFF2-40B4-BE49-F238E27FC236}">
                  <a16:creationId xmlns:a16="http://schemas.microsoft.com/office/drawing/2014/main" id="{CDBE289B-42E2-0D5F-1293-FD9A24DEFE92}"/>
                </a:ext>
              </a:extLst>
            </p:cNvPr>
            <p:cNvSpPr/>
            <p:nvPr/>
          </p:nvSpPr>
          <p:spPr>
            <a:xfrm>
              <a:off x="6724672" y="4597254"/>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
          <p:nvSpPr>
            <p:cNvPr id="90" name="Rectangle 89">
              <a:extLst>
                <a:ext uri="{FF2B5EF4-FFF2-40B4-BE49-F238E27FC236}">
                  <a16:creationId xmlns:a16="http://schemas.microsoft.com/office/drawing/2014/main" id="{59C268AA-F554-70AB-FF42-8F07E56580A7}"/>
                </a:ext>
              </a:extLst>
            </p:cNvPr>
            <p:cNvSpPr/>
            <p:nvPr/>
          </p:nvSpPr>
          <p:spPr>
            <a:xfrm>
              <a:off x="7073203" y="5537827"/>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
          <p:nvSpPr>
            <p:cNvPr id="91" name="Rectangle 90">
              <a:extLst>
                <a:ext uri="{FF2B5EF4-FFF2-40B4-BE49-F238E27FC236}">
                  <a16:creationId xmlns:a16="http://schemas.microsoft.com/office/drawing/2014/main" id="{1B2B1F33-81FA-459E-DDA2-AB94EC3D8CCD}"/>
                </a:ext>
              </a:extLst>
            </p:cNvPr>
            <p:cNvSpPr/>
            <p:nvPr/>
          </p:nvSpPr>
          <p:spPr>
            <a:xfrm>
              <a:off x="7875678" y="6132554"/>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grpSp>
      <mc:AlternateContent xmlns:mc="http://schemas.openxmlformats.org/markup-compatibility/2006">
        <mc:Choice xmlns:p14="http://schemas.microsoft.com/office/powerpoint/2010/main" Requires="p14">
          <p:contentPart p14:bwMode="auto" r:id="rId2">
            <p14:nvContentPartPr>
              <p14:cNvPr id="29" name="Ink 28">
                <a:extLst>
                  <a:ext uri="{FF2B5EF4-FFF2-40B4-BE49-F238E27FC236}">
                    <a16:creationId xmlns:a16="http://schemas.microsoft.com/office/drawing/2014/main" id="{977DD563-0481-2877-BFB1-FC65E3252C42}"/>
                  </a:ext>
                </a:extLst>
              </p14:cNvPr>
              <p14:cNvContentPartPr/>
              <p14:nvPr/>
            </p14:nvContentPartPr>
            <p14:xfrm>
              <a:off x="506880" y="2391120"/>
              <a:ext cx="9795960" cy="4204080"/>
            </p14:xfrm>
          </p:contentPart>
        </mc:Choice>
        <mc:Fallback>
          <p:pic>
            <p:nvPicPr>
              <p:cNvPr id="29" name="Ink 28">
                <a:extLst>
                  <a:ext uri="{FF2B5EF4-FFF2-40B4-BE49-F238E27FC236}">
                    <a16:creationId xmlns:a16="http://schemas.microsoft.com/office/drawing/2014/main" id="{977DD563-0481-2877-BFB1-FC65E3252C42}"/>
                  </a:ext>
                </a:extLst>
              </p:cNvPr>
              <p:cNvPicPr/>
              <p:nvPr/>
            </p:nvPicPr>
            <p:blipFill>
              <a:blip r:embed="rId3"/>
              <a:stretch>
                <a:fillRect/>
              </a:stretch>
            </p:blipFill>
            <p:spPr>
              <a:xfrm>
                <a:off x="497520" y="2381760"/>
                <a:ext cx="9814680" cy="4222800"/>
              </a:xfrm>
              <a:prstGeom prst="rect">
                <a:avLst/>
              </a:prstGeom>
            </p:spPr>
          </p:pic>
        </mc:Fallback>
      </mc:AlternateContent>
    </p:spTree>
    <p:extLst>
      <p:ext uri="{BB962C8B-B14F-4D97-AF65-F5344CB8AC3E}">
        <p14:creationId xmlns:p14="http://schemas.microsoft.com/office/powerpoint/2010/main" val="20236685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3408-2D56-B58E-F959-CF8F6AE7145D}"/>
              </a:ext>
              <a:ext uri="{C183D7F6-B498-43B3-948B-1728B52AA6E4}">
                <adec:decorative xmlns:adec="http://schemas.microsoft.com/office/drawing/2017/decorative" val="0"/>
              </a:ext>
            </a:extLst>
          </p:cNvPr>
          <p:cNvSpPr>
            <a:spLocks noGrp="1"/>
          </p:cNvSpPr>
          <p:nvPr>
            <p:ph type="title"/>
          </p:nvPr>
        </p:nvSpPr>
        <p:spPr/>
        <p:txBody>
          <a:bodyPr/>
          <a:lstStyle/>
          <a:p>
            <a:r>
              <a:rPr lang="en-US" dirty="0"/>
              <a:t>“Circular” Array Queue (Algorithms)</a:t>
            </a:r>
          </a:p>
        </p:txBody>
      </p:sp>
      <p:grpSp>
        <p:nvGrpSpPr>
          <p:cNvPr id="32" name="Group 31" descr="An illustration of a circular array queue data structure. The elements of the queue are contained in an array. Because the array will not necessarily be occupied starting from index 0, we additionally have a field called &quot;front&quot; that indicates which index of the array contains the first item in the queue, and a field called &quot;back&quot; that indicates which index in teh array contains the last item in the queue.">
            <a:extLst>
              <a:ext uri="{FF2B5EF4-FFF2-40B4-BE49-F238E27FC236}">
                <a16:creationId xmlns:a16="http://schemas.microsoft.com/office/drawing/2014/main" id="{FD43D330-6FCC-1D97-5D20-AAE1BF003115}"/>
              </a:ext>
              <a:ext uri="{C183D7F6-B498-43B3-948B-1728B52AA6E4}">
                <adec:decorative xmlns:adec="http://schemas.microsoft.com/office/drawing/2017/decorative" val="0"/>
              </a:ext>
            </a:extLst>
          </p:cNvPr>
          <p:cNvGrpSpPr/>
          <p:nvPr/>
        </p:nvGrpSpPr>
        <p:grpSpPr>
          <a:xfrm>
            <a:off x="1300186" y="1403212"/>
            <a:ext cx="6519765" cy="1221610"/>
            <a:chOff x="1300186" y="1403212"/>
            <a:chExt cx="6519765" cy="1221610"/>
          </a:xfrm>
        </p:grpSpPr>
        <p:grpSp>
          <p:nvGrpSpPr>
            <p:cNvPr id="17" name="Group 16">
              <a:extLst>
                <a:ext uri="{FF2B5EF4-FFF2-40B4-BE49-F238E27FC236}">
                  <a16:creationId xmlns:a16="http://schemas.microsoft.com/office/drawing/2014/main" id="{B35512AB-1499-E48B-6D8C-304AAD97F7A2}"/>
                </a:ext>
              </a:extLst>
            </p:cNvPr>
            <p:cNvGrpSpPr/>
            <p:nvPr/>
          </p:nvGrpSpPr>
          <p:grpSpPr>
            <a:xfrm>
              <a:off x="1300186" y="2023513"/>
              <a:ext cx="5283200" cy="528320"/>
              <a:chOff x="1681480" y="5462905"/>
              <a:chExt cx="5283200" cy="528320"/>
            </a:xfrm>
            <a:solidFill>
              <a:schemeClr val="bg1"/>
            </a:solidFill>
          </p:grpSpPr>
          <p:sp>
            <p:nvSpPr>
              <p:cNvPr id="18" name="Rectangle 17">
                <a:extLst>
                  <a:ext uri="{FF2B5EF4-FFF2-40B4-BE49-F238E27FC236}">
                    <a16:creationId xmlns:a16="http://schemas.microsoft.com/office/drawing/2014/main" id="{B6B19CF6-6A2A-C1D3-631D-4182EA1285CF}"/>
                  </a:ext>
                </a:extLst>
              </p:cNvPr>
              <p:cNvSpPr/>
              <p:nvPr/>
            </p:nvSpPr>
            <p:spPr>
              <a:xfrm>
                <a:off x="37947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9" name="Rectangle 18">
                <a:extLst>
                  <a:ext uri="{FF2B5EF4-FFF2-40B4-BE49-F238E27FC236}">
                    <a16:creationId xmlns:a16="http://schemas.microsoft.com/office/drawing/2014/main" id="{55B71A6C-68A1-64CE-F17B-BF6FB3B097C8}"/>
                  </a:ext>
                </a:extLst>
              </p:cNvPr>
              <p:cNvSpPr/>
              <p:nvPr/>
            </p:nvSpPr>
            <p:spPr>
              <a:xfrm>
                <a:off x="43230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0" name="Rectangle 19">
                <a:extLst>
                  <a:ext uri="{FF2B5EF4-FFF2-40B4-BE49-F238E27FC236}">
                    <a16:creationId xmlns:a16="http://schemas.microsoft.com/office/drawing/2014/main" id="{98C66068-5FAB-3D20-0467-A2EF26E40CDF}"/>
                  </a:ext>
                </a:extLst>
              </p:cNvPr>
              <p:cNvSpPr/>
              <p:nvPr/>
            </p:nvSpPr>
            <p:spPr>
              <a:xfrm>
                <a:off x="48514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1" name="Rectangle 20">
                <a:extLst>
                  <a:ext uri="{FF2B5EF4-FFF2-40B4-BE49-F238E27FC236}">
                    <a16:creationId xmlns:a16="http://schemas.microsoft.com/office/drawing/2014/main" id="{51272AE7-E366-87D6-27B2-5CB35A0A2E9D}"/>
                  </a:ext>
                </a:extLst>
              </p:cNvPr>
              <p:cNvSpPr/>
              <p:nvPr/>
            </p:nvSpPr>
            <p:spPr>
              <a:xfrm>
                <a:off x="53797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2" name="Rectangle 21">
                <a:extLst>
                  <a:ext uri="{FF2B5EF4-FFF2-40B4-BE49-F238E27FC236}">
                    <a16:creationId xmlns:a16="http://schemas.microsoft.com/office/drawing/2014/main" id="{CF2296D2-437A-44A8-9CE6-19E62D8545D1}"/>
                  </a:ext>
                </a:extLst>
              </p:cNvPr>
              <p:cNvSpPr/>
              <p:nvPr/>
            </p:nvSpPr>
            <p:spPr>
              <a:xfrm>
                <a:off x="32664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3" name="Rectangle 22">
                <a:extLst>
                  <a:ext uri="{FF2B5EF4-FFF2-40B4-BE49-F238E27FC236}">
                    <a16:creationId xmlns:a16="http://schemas.microsoft.com/office/drawing/2014/main" id="{DFEE2D71-BB8B-6307-DEFC-2C707D090F82}"/>
                  </a:ext>
                </a:extLst>
              </p:cNvPr>
              <p:cNvSpPr/>
              <p:nvPr/>
            </p:nvSpPr>
            <p:spPr>
              <a:xfrm>
                <a:off x="27381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4" name="Rectangle 23">
                <a:extLst>
                  <a:ext uri="{FF2B5EF4-FFF2-40B4-BE49-F238E27FC236}">
                    <a16:creationId xmlns:a16="http://schemas.microsoft.com/office/drawing/2014/main" id="{3F8C3EC8-D207-C9BC-AF3B-34BA8F2A3D86}"/>
                  </a:ext>
                </a:extLst>
              </p:cNvPr>
              <p:cNvSpPr/>
              <p:nvPr/>
            </p:nvSpPr>
            <p:spPr>
              <a:xfrm>
                <a:off x="22098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5" name="Rectangle 24">
                <a:extLst>
                  <a:ext uri="{FF2B5EF4-FFF2-40B4-BE49-F238E27FC236}">
                    <a16:creationId xmlns:a16="http://schemas.microsoft.com/office/drawing/2014/main" id="{998516BA-4D79-F018-3A35-3792D5BA16BA}"/>
                  </a:ext>
                </a:extLst>
              </p:cNvPr>
              <p:cNvSpPr/>
              <p:nvPr/>
            </p:nvSpPr>
            <p:spPr>
              <a:xfrm>
                <a:off x="59080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6" name="Rectangle 25">
                <a:extLst>
                  <a:ext uri="{FF2B5EF4-FFF2-40B4-BE49-F238E27FC236}">
                    <a16:creationId xmlns:a16="http://schemas.microsoft.com/office/drawing/2014/main" id="{F1EFC881-59FC-EC46-6767-3A59A758D927}"/>
                  </a:ext>
                </a:extLst>
              </p:cNvPr>
              <p:cNvSpPr/>
              <p:nvPr/>
            </p:nvSpPr>
            <p:spPr>
              <a:xfrm>
                <a:off x="16814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27" name="Rectangle 26">
                <a:extLst>
                  <a:ext uri="{FF2B5EF4-FFF2-40B4-BE49-F238E27FC236}">
                    <a16:creationId xmlns:a16="http://schemas.microsoft.com/office/drawing/2014/main" id="{8ED915B2-758F-CB33-5D15-9D5EBA4EC8C0}"/>
                  </a:ext>
                </a:extLst>
              </p:cNvPr>
              <p:cNvSpPr/>
              <p:nvPr/>
            </p:nvSpPr>
            <p:spPr>
              <a:xfrm>
                <a:off x="64363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grpSp>
          <p:nvGrpSpPr>
            <p:cNvPr id="14" name="Group 13">
              <a:extLst>
                <a:ext uri="{FF2B5EF4-FFF2-40B4-BE49-F238E27FC236}">
                  <a16:creationId xmlns:a16="http://schemas.microsoft.com/office/drawing/2014/main" id="{B8DF4474-60B3-C430-4D19-462F2190B410}"/>
                </a:ext>
              </a:extLst>
            </p:cNvPr>
            <p:cNvGrpSpPr/>
            <p:nvPr/>
          </p:nvGrpSpPr>
          <p:grpSpPr>
            <a:xfrm>
              <a:off x="1300186" y="1644055"/>
              <a:ext cx="5283200" cy="528320"/>
              <a:chOff x="1681480" y="5462905"/>
              <a:chExt cx="5283200" cy="528320"/>
            </a:xfrm>
          </p:grpSpPr>
          <p:sp>
            <p:nvSpPr>
              <p:cNvPr id="4" name="Rectangle 3">
                <a:extLst>
                  <a:ext uri="{FF2B5EF4-FFF2-40B4-BE49-F238E27FC236}">
                    <a16:creationId xmlns:a16="http://schemas.microsoft.com/office/drawing/2014/main" id="{D831EFCE-5250-1723-F114-8351794B50FE}"/>
                  </a:ext>
                </a:extLst>
              </p:cNvPr>
              <p:cNvSpPr/>
              <p:nvPr/>
            </p:nvSpPr>
            <p:spPr>
              <a:xfrm>
                <a:off x="37947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 name="Rectangle 4">
                <a:extLst>
                  <a:ext uri="{FF2B5EF4-FFF2-40B4-BE49-F238E27FC236}">
                    <a16:creationId xmlns:a16="http://schemas.microsoft.com/office/drawing/2014/main" id="{5C716BC8-F892-38F0-34E4-0F229F2421DC}"/>
                  </a:ext>
                </a:extLst>
              </p:cNvPr>
              <p:cNvSpPr/>
              <p:nvPr/>
            </p:nvSpPr>
            <p:spPr>
              <a:xfrm>
                <a:off x="43230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3DD8C1CE-795B-B6D5-812A-2746FF01ECAE}"/>
                  </a:ext>
                </a:extLst>
              </p:cNvPr>
              <p:cNvSpPr/>
              <p:nvPr/>
            </p:nvSpPr>
            <p:spPr>
              <a:xfrm>
                <a:off x="48514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5A01BD75-8814-65AB-8F5F-316F1C82E544}"/>
                  </a:ext>
                </a:extLst>
              </p:cNvPr>
              <p:cNvSpPr/>
              <p:nvPr/>
            </p:nvSpPr>
            <p:spPr>
              <a:xfrm>
                <a:off x="53797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a:extLst>
                  <a:ext uri="{FF2B5EF4-FFF2-40B4-BE49-F238E27FC236}">
                    <a16:creationId xmlns:a16="http://schemas.microsoft.com/office/drawing/2014/main" id="{F39F3ADB-383D-280B-B96B-EFEE14AF981C}"/>
                  </a:ext>
                </a:extLst>
              </p:cNvPr>
              <p:cNvSpPr/>
              <p:nvPr/>
            </p:nvSpPr>
            <p:spPr>
              <a:xfrm>
                <a:off x="32664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Rectangle 8">
                <a:extLst>
                  <a:ext uri="{FF2B5EF4-FFF2-40B4-BE49-F238E27FC236}">
                    <a16:creationId xmlns:a16="http://schemas.microsoft.com/office/drawing/2014/main" id="{7D4C4584-EEB5-D541-A430-BF4C19CF179B}"/>
                  </a:ext>
                </a:extLst>
              </p:cNvPr>
              <p:cNvSpPr/>
              <p:nvPr/>
            </p:nvSpPr>
            <p:spPr>
              <a:xfrm>
                <a:off x="27381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DB4EE6EE-57C7-E930-E769-D14333D1C2F1}"/>
                  </a:ext>
                </a:extLst>
              </p:cNvPr>
              <p:cNvSpPr/>
              <p:nvPr/>
            </p:nvSpPr>
            <p:spPr>
              <a:xfrm>
                <a:off x="22098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 name="Rectangle 10">
                <a:extLst>
                  <a:ext uri="{FF2B5EF4-FFF2-40B4-BE49-F238E27FC236}">
                    <a16:creationId xmlns:a16="http://schemas.microsoft.com/office/drawing/2014/main" id="{5AE60CAA-B899-0819-3473-0296EED20853}"/>
                  </a:ext>
                </a:extLst>
              </p:cNvPr>
              <p:cNvSpPr/>
              <p:nvPr/>
            </p:nvSpPr>
            <p:spPr>
              <a:xfrm>
                <a:off x="59080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Rectangle 11">
                <a:extLst>
                  <a:ext uri="{FF2B5EF4-FFF2-40B4-BE49-F238E27FC236}">
                    <a16:creationId xmlns:a16="http://schemas.microsoft.com/office/drawing/2014/main" id="{1F225A0A-55C8-3626-F395-47E46232D82B}"/>
                  </a:ext>
                </a:extLst>
              </p:cNvPr>
              <p:cNvSpPr/>
              <p:nvPr/>
            </p:nvSpPr>
            <p:spPr>
              <a:xfrm>
                <a:off x="16814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Rectangle 12">
                <a:extLst>
                  <a:ext uri="{FF2B5EF4-FFF2-40B4-BE49-F238E27FC236}">
                    <a16:creationId xmlns:a16="http://schemas.microsoft.com/office/drawing/2014/main" id="{6036E8D9-4E7B-6D69-B1FD-BC29EC101E8B}"/>
                  </a:ext>
                </a:extLst>
              </p:cNvPr>
              <p:cNvSpPr/>
              <p:nvPr/>
            </p:nvSpPr>
            <p:spPr>
              <a:xfrm>
                <a:off x="64363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15" name="Rectangle 14">
              <a:extLst>
                <a:ext uri="{FF2B5EF4-FFF2-40B4-BE49-F238E27FC236}">
                  <a16:creationId xmlns:a16="http://schemas.microsoft.com/office/drawing/2014/main" id="{A83D0B77-4258-3DCB-9442-557E7F23A1DF}"/>
                </a:ext>
              </a:extLst>
            </p:cNvPr>
            <p:cNvSpPr/>
            <p:nvPr/>
          </p:nvSpPr>
          <p:spPr>
            <a:xfrm>
              <a:off x="6869991" y="1403212"/>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front=0</a:t>
              </a:r>
            </a:p>
          </p:txBody>
        </p:sp>
        <p:sp>
          <p:nvSpPr>
            <p:cNvPr id="16" name="Rectangle 15">
              <a:extLst>
                <a:ext uri="{FF2B5EF4-FFF2-40B4-BE49-F238E27FC236}">
                  <a16:creationId xmlns:a16="http://schemas.microsoft.com/office/drawing/2014/main" id="{E7B5C368-7EC9-6CCF-C5F9-C50DE30682A5}"/>
                </a:ext>
              </a:extLst>
            </p:cNvPr>
            <p:cNvSpPr/>
            <p:nvPr/>
          </p:nvSpPr>
          <p:spPr>
            <a:xfrm>
              <a:off x="6869991" y="2096502"/>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back=5</a:t>
              </a:r>
            </a:p>
          </p:txBody>
        </p:sp>
      </p:grpSp>
      <p:sp>
        <p:nvSpPr>
          <p:cNvPr id="3" name="Content Placeholder 2">
            <a:extLst>
              <a:ext uri="{FF2B5EF4-FFF2-40B4-BE49-F238E27FC236}">
                <a16:creationId xmlns:a16="http://schemas.microsoft.com/office/drawing/2014/main" id="{1376FFCF-F09D-CE03-F022-D39AD4A97E9E}"/>
              </a:ext>
              <a:ext uri="{C183D7F6-B498-43B3-948B-1728B52AA6E4}">
                <adec:decorative xmlns:adec="http://schemas.microsoft.com/office/drawing/2017/decorative" val="0"/>
              </a:ext>
            </a:extLst>
          </p:cNvPr>
          <p:cNvSpPr>
            <a:spLocks noGrp="1"/>
          </p:cNvSpPr>
          <p:nvPr>
            <p:ph idx="1"/>
          </p:nvPr>
        </p:nvSpPr>
        <p:spPr>
          <a:xfrm>
            <a:off x="268946" y="2291840"/>
            <a:ext cx="10515600" cy="4351338"/>
          </a:xfrm>
        </p:spPr>
        <p:txBody>
          <a:bodyPr/>
          <a:lstStyle/>
          <a:p>
            <a:r>
              <a:rPr lang="en-US" dirty="0"/>
              <a:t>Queue represented as an array of items</a:t>
            </a:r>
          </a:p>
          <a:p>
            <a:pPr lvl="1"/>
            <a:r>
              <a:rPr lang="en-US" dirty="0">
                <a:solidFill>
                  <a:srgbClr val="0070C0"/>
                </a:solidFill>
              </a:rPr>
              <a:t>A “front” index to indicate the oldest item in the queue</a:t>
            </a:r>
          </a:p>
          <a:p>
            <a:pPr lvl="1"/>
            <a:r>
              <a:rPr lang="en-US" dirty="0">
                <a:solidFill>
                  <a:schemeClr val="accent2">
                    <a:lumMod val="75000"/>
                  </a:schemeClr>
                </a:solidFill>
              </a:rPr>
              <a:t>A “back” index to indicate the most recent item in the queue</a:t>
            </a:r>
          </a:p>
          <a:p>
            <a:r>
              <a:rPr lang="en-US" dirty="0"/>
              <a:t>enqueue Procedure:</a:t>
            </a:r>
          </a:p>
          <a:p>
            <a:endParaRPr lang="en-US" dirty="0"/>
          </a:p>
          <a:p>
            <a:r>
              <a:rPr lang="en-US" dirty="0"/>
              <a:t>dequeue Procedure:</a:t>
            </a:r>
          </a:p>
          <a:p>
            <a:endParaRPr lang="en-US" dirty="0"/>
          </a:p>
          <a:p>
            <a:r>
              <a:rPr lang="en-US" dirty="0" err="1"/>
              <a:t>isEmpty</a:t>
            </a:r>
            <a:r>
              <a:rPr lang="en-US" dirty="0"/>
              <a:t> Procedure:</a:t>
            </a:r>
          </a:p>
        </p:txBody>
      </p:sp>
      <p:sp>
        <p:nvSpPr>
          <p:cNvPr id="28" name="TextBox 27">
            <a:extLst>
              <a:ext uri="{FF2B5EF4-FFF2-40B4-BE49-F238E27FC236}">
                <a16:creationId xmlns:a16="http://schemas.microsoft.com/office/drawing/2014/main" id="{C9B8B987-A0D6-91EB-C7C4-924CA8D44D33}"/>
              </a:ext>
              <a:ext uri="{C183D7F6-B498-43B3-948B-1728B52AA6E4}">
                <adec:decorative xmlns:adec="http://schemas.microsoft.com/office/drawing/2017/decorative" val="0"/>
              </a:ext>
            </a:extLst>
          </p:cNvPr>
          <p:cNvSpPr txBox="1"/>
          <p:nvPr/>
        </p:nvSpPr>
        <p:spPr>
          <a:xfrm>
            <a:off x="4998426" y="3556474"/>
            <a:ext cx="4668140" cy="1169551"/>
          </a:xfrm>
          <a:prstGeom prst="rect">
            <a:avLst/>
          </a:prstGeom>
          <a:noFill/>
        </p:spPr>
        <p:txBody>
          <a:bodyPr wrap="square" rtlCol="0">
            <a:spAutoFit/>
          </a:bodyP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enqueue(x){</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queue[back] = x;</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back = (back + 1) % </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queue.length</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29" name="TextBox 28">
            <a:extLst>
              <a:ext uri="{FF2B5EF4-FFF2-40B4-BE49-F238E27FC236}">
                <a16:creationId xmlns:a16="http://schemas.microsoft.com/office/drawing/2014/main" id="{BC3CF233-AF80-4F4B-1F74-1C0FFDBAF814}"/>
              </a:ext>
              <a:ext uri="{C183D7F6-B498-43B3-948B-1728B52AA6E4}">
                <adec:decorative xmlns:adec="http://schemas.microsoft.com/office/drawing/2017/decorative" val="0"/>
              </a:ext>
            </a:extLst>
          </p:cNvPr>
          <p:cNvSpPr txBox="1"/>
          <p:nvPr/>
        </p:nvSpPr>
        <p:spPr>
          <a:xfrm>
            <a:off x="4998426" y="4650213"/>
            <a:ext cx="4828372" cy="1600438"/>
          </a:xfrm>
          <a:prstGeom prst="rect">
            <a:avLst/>
          </a:prstGeom>
          <a:noFill/>
        </p:spPr>
        <p:txBody>
          <a:bodyPr wrap="square" rtlCol="0">
            <a:spAutoFit/>
          </a:bodyP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dequeue(){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 Assumes queue is not empty</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first = queue[front];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front = (front + 1) % </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queue.length</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return first;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30" name="TextBox 29">
            <a:extLst>
              <a:ext uri="{FF2B5EF4-FFF2-40B4-BE49-F238E27FC236}">
                <a16:creationId xmlns:a16="http://schemas.microsoft.com/office/drawing/2014/main" id="{510A3170-9D65-DAB1-3531-90A153C974D9}"/>
              </a:ext>
            </a:extLst>
          </p:cNvPr>
          <p:cNvSpPr txBox="1"/>
          <p:nvPr/>
        </p:nvSpPr>
        <p:spPr>
          <a:xfrm>
            <a:off x="4998426" y="6147441"/>
            <a:ext cx="3677566" cy="738664"/>
          </a:xfrm>
          <a:prstGeom prst="rect">
            <a:avLst/>
          </a:prstGeom>
          <a:noFill/>
        </p:spPr>
        <p:txBody>
          <a:bodyPr wrap="square" rtlCol="0">
            <a:spAutoFit/>
          </a:bodyPr>
          <a:lstStyle/>
          <a:p>
            <a:r>
              <a:rPr lang="en-US" sz="1400" dirty="0" err="1">
                <a:latin typeface="Cascadia Code" panose="020B0609020000020004" pitchFamily="49" charset="0"/>
                <a:ea typeface="Cascadia Code" panose="020B0609020000020004" pitchFamily="49" charset="0"/>
                <a:cs typeface="Cascadia Code" panose="020B0609020000020004" pitchFamily="49" charset="0"/>
              </a:rPr>
              <a:t>isEmpty</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return size == 0; </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31" name="TextBox 30">
            <a:extLst>
              <a:ext uri="{FF2B5EF4-FFF2-40B4-BE49-F238E27FC236}">
                <a16:creationId xmlns:a16="http://schemas.microsoft.com/office/drawing/2014/main" id="{63E03939-F397-8FF3-F848-0C741AD0877F}"/>
              </a:ext>
            </a:extLst>
          </p:cNvPr>
          <p:cNvSpPr txBox="1"/>
          <p:nvPr/>
        </p:nvSpPr>
        <p:spPr>
          <a:xfrm>
            <a:off x="10196034" y="4327047"/>
            <a:ext cx="1813086" cy="646331"/>
          </a:xfrm>
          <a:prstGeom prst="rect">
            <a:avLst/>
          </a:prstGeom>
          <a:noFill/>
          <a:ln>
            <a:solidFill>
              <a:srgbClr val="FF0000"/>
            </a:solidFill>
          </a:ln>
        </p:spPr>
        <p:txBody>
          <a:bodyPr wrap="square" rtlCol="0">
            <a:spAutoFit/>
          </a:bodyPr>
          <a:lstStyle/>
          <a:p>
            <a:r>
              <a:rPr lang="en-US" dirty="0">
                <a:solidFill>
                  <a:srgbClr val="FF0000"/>
                </a:solidFill>
              </a:rPr>
              <a:t>What if we run out of space?!</a:t>
            </a:r>
          </a:p>
        </p:txBody>
      </p:sp>
      <mc:AlternateContent xmlns:mc="http://schemas.openxmlformats.org/markup-compatibility/2006">
        <mc:Choice xmlns:p14="http://schemas.microsoft.com/office/powerpoint/2010/main" Requires="p14">
          <p:contentPart p14:bwMode="auto" r:id="rId2">
            <p14:nvContentPartPr>
              <p14:cNvPr id="33" name="Ink 32">
                <a:extLst>
                  <a:ext uri="{FF2B5EF4-FFF2-40B4-BE49-F238E27FC236}">
                    <a16:creationId xmlns:a16="http://schemas.microsoft.com/office/drawing/2014/main" id="{B6F6B55A-F0F8-FB82-24C4-3DBBEC4A8CA9}"/>
                  </a:ext>
                </a:extLst>
              </p14:cNvPr>
              <p14:cNvContentPartPr/>
              <p14:nvPr/>
            </p14:nvContentPartPr>
            <p14:xfrm>
              <a:off x="5109840" y="3468960"/>
              <a:ext cx="3908520" cy="2948400"/>
            </p14:xfrm>
          </p:contentPart>
        </mc:Choice>
        <mc:Fallback>
          <p:pic>
            <p:nvPicPr>
              <p:cNvPr id="33" name="Ink 32">
                <a:extLst>
                  <a:ext uri="{FF2B5EF4-FFF2-40B4-BE49-F238E27FC236}">
                    <a16:creationId xmlns:a16="http://schemas.microsoft.com/office/drawing/2014/main" id="{B6F6B55A-F0F8-FB82-24C4-3DBBEC4A8CA9}"/>
                  </a:ext>
                </a:extLst>
              </p:cNvPr>
              <p:cNvPicPr/>
              <p:nvPr/>
            </p:nvPicPr>
            <p:blipFill>
              <a:blip r:embed="rId3"/>
              <a:stretch>
                <a:fillRect/>
              </a:stretch>
            </p:blipFill>
            <p:spPr>
              <a:xfrm>
                <a:off x="5100480" y="3459600"/>
                <a:ext cx="3927240" cy="2967120"/>
              </a:xfrm>
              <a:prstGeom prst="rect">
                <a:avLst/>
              </a:prstGeom>
            </p:spPr>
          </p:pic>
        </mc:Fallback>
      </mc:AlternateContent>
    </p:spTree>
    <p:extLst>
      <p:ext uri="{BB962C8B-B14F-4D97-AF65-F5344CB8AC3E}">
        <p14:creationId xmlns:p14="http://schemas.microsoft.com/office/powerpoint/2010/main" val="3348092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3408-2D56-B58E-F959-CF8F6AE7145D}"/>
              </a:ext>
            </a:extLst>
          </p:cNvPr>
          <p:cNvSpPr>
            <a:spLocks noGrp="1"/>
          </p:cNvSpPr>
          <p:nvPr>
            <p:ph type="title"/>
          </p:nvPr>
        </p:nvSpPr>
        <p:spPr/>
        <p:txBody>
          <a:bodyPr/>
          <a:lstStyle/>
          <a:p>
            <a:r>
              <a:rPr lang="en-US" dirty="0"/>
              <a:t>Resizing “Circular” Array Queue</a:t>
            </a:r>
          </a:p>
        </p:txBody>
      </p:sp>
      <p:grpSp>
        <p:nvGrpSpPr>
          <p:cNvPr id="29" name="Group 28" descr="An illustration of a circular array queue data structure. The elements of the queue are contained in an array. Because the array will not necessarily be occupied starting from index 0, we additionally have a field called &quot;front&quot; that indicates which index of the array contains the first item in the queue, and a field called &quot;back&quot; that indicates which index in teh array contains the last item in the queue.">
            <a:extLst>
              <a:ext uri="{FF2B5EF4-FFF2-40B4-BE49-F238E27FC236}">
                <a16:creationId xmlns:a16="http://schemas.microsoft.com/office/drawing/2014/main" id="{0D4C21AF-AA79-392F-03D4-279329E0F972}"/>
              </a:ext>
            </a:extLst>
          </p:cNvPr>
          <p:cNvGrpSpPr/>
          <p:nvPr/>
        </p:nvGrpSpPr>
        <p:grpSpPr>
          <a:xfrm>
            <a:off x="1300186" y="1266578"/>
            <a:ext cx="6519765" cy="1221610"/>
            <a:chOff x="1300186" y="1403212"/>
            <a:chExt cx="6519765" cy="1221610"/>
          </a:xfrm>
        </p:grpSpPr>
        <p:grpSp>
          <p:nvGrpSpPr>
            <p:cNvPr id="17" name="Group 16">
              <a:extLst>
                <a:ext uri="{FF2B5EF4-FFF2-40B4-BE49-F238E27FC236}">
                  <a16:creationId xmlns:a16="http://schemas.microsoft.com/office/drawing/2014/main" id="{B35512AB-1499-E48B-6D8C-304AAD97F7A2}"/>
                </a:ext>
              </a:extLst>
            </p:cNvPr>
            <p:cNvGrpSpPr/>
            <p:nvPr/>
          </p:nvGrpSpPr>
          <p:grpSpPr>
            <a:xfrm>
              <a:off x="1300186" y="2023513"/>
              <a:ext cx="5283200" cy="528320"/>
              <a:chOff x="1681480" y="5462905"/>
              <a:chExt cx="5283200" cy="528320"/>
            </a:xfrm>
            <a:solidFill>
              <a:schemeClr val="bg1"/>
            </a:solidFill>
          </p:grpSpPr>
          <p:sp>
            <p:nvSpPr>
              <p:cNvPr id="18" name="Rectangle 17">
                <a:extLst>
                  <a:ext uri="{FF2B5EF4-FFF2-40B4-BE49-F238E27FC236}">
                    <a16:creationId xmlns:a16="http://schemas.microsoft.com/office/drawing/2014/main" id="{B6B19CF6-6A2A-C1D3-631D-4182EA1285CF}"/>
                  </a:ext>
                </a:extLst>
              </p:cNvPr>
              <p:cNvSpPr/>
              <p:nvPr/>
            </p:nvSpPr>
            <p:spPr>
              <a:xfrm>
                <a:off x="37947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9" name="Rectangle 18">
                <a:extLst>
                  <a:ext uri="{FF2B5EF4-FFF2-40B4-BE49-F238E27FC236}">
                    <a16:creationId xmlns:a16="http://schemas.microsoft.com/office/drawing/2014/main" id="{55B71A6C-68A1-64CE-F17B-BF6FB3B097C8}"/>
                  </a:ext>
                </a:extLst>
              </p:cNvPr>
              <p:cNvSpPr/>
              <p:nvPr/>
            </p:nvSpPr>
            <p:spPr>
              <a:xfrm>
                <a:off x="43230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0" name="Rectangle 19">
                <a:extLst>
                  <a:ext uri="{FF2B5EF4-FFF2-40B4-BE49-F238E27FC236}">
                    <a16:creationId xmlns:a16="http://schemas.microsoft.com/office/drawing/2014/main" id="{98C66068-5FAB-3D20-0467-A2EF26E40CDF}"/>
                  </a:ext>
                </a:extLst>
              </p:cNvPr>
              <p:cNvSpPr/>
              <p:nvPr/>
            </p:nvSpPr>
            <p:spPr>
              <a:xfrm>
                <a:off x="48514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1" name="Rectangle 20">
                <a:extLst>
                  <a:ext uri="{FF2B5EF4-FFF2-40B4-BE49-F238E27FC236}">
                    <a16:creationId xmlns:a16="http://schemas.microsoft.com/office/drawing/2014/main" id="{51272AE7-E366-87D6-27B2-5CB35A0A2E9D}"/>
                  </a:ext>
                </a:extLst>
              </p:cNvPr>
              <p:cNvSpPr/>
              <p:nvPr/>
            </p:nvSpPr>
            <p:spPr>
              <a:xfrm>
                <a:off x="53797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2" name="Rectangle 21">
                <a:extLst>
                  <a:ext uri="{FF2B5EF4-FFF2-40B4-BE49-F238E27FC236}">
                    <a16:creationId xmlns:a16="http://schemas.microsoft.com/office/drawing/2014/main" id="{CF2296D2-437A-44A8-9CE6-19E62D8545D1}"/>
                  </a:ext>
                </a:extLst>
              </p:cNvPr>
              <p:cNvSpPr/>
              <p:nvPr/>
            </p:nvSpPr>
            <p:spPr>
              <a:xfrm>
                <a:off x="32664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3" name="Rectangle 22">
                <a:extLst>
                  <a:ext uri="{FF2B5EF4-FFF2-40B4-BE49-F238E27FC236}">
                    <a16:creationId xmlns:a16="http://schemas.microsoft.com/office/drawing/2014/main" id="{DFEE2D71-BB8B-6307-DEFC-2C707D090F82}"/>
                  </a:ext>
                </a:extLst>
              </p:cNvPr>
              <p:cNvSpPr/>
              <p:nvPr/>
            </p:nvSpPr>
            <p:spPr>
              <a:xfrm>
                <a:off x="27381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4" name="Rectangle 23">
                <a:extLst>
                  <a:ext uri="{FF2B5EF4-FFF2-40B4-BE49-F238E27FC236}">
                    <a16:creationId xmlns:a16="http://schemas.microsoft.com/office/drawing/2014/main" id="{3F8C3EC8-D207-C9BC-AF3B-34BA8F2A3D86}"/>
                  </a:ext>
                </a:extLst>
              </p:cNvPr>
              <p:cNvSpPr/>
              <p:nvPr/>
            </p:nvSpPr>
            <p:spPr>
              <a:xfrm>
                <a:off x="22098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5" name="Rectangle 24">
                <a:extLst>
                  <a:ext uri="{FF2B5EF4-FFF2-40B4-BE49-F238E27FC236}">
                    <a16:creationId xmlns:a16="http://schemas.microsoft.com/office/drawing/2014/main" id="{998516BA-4D79-F018-3A35-3792D5BA16BA}"/>
                  </a:ext>
                </a:extLst>
              </p:cNvPr>
              <p:cNvSpPr/>
              <p:nvPr/>
            </p:nvSpPr>
            <p:spPr>
              <a:xfrm>
                <a:off x="59080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6" name="Rectangle 25">
                <a:extLst>
                  <a:ext uri="{FF2B5EF4-FFF2-40B4-BE49-F238E27FC236}">
                    <a16:creationId xmlns:a16="http://schemas.microsoft.com/office/drawing/2014/main" id="{F1EFC881-59FC-EC46-6767-3A59A758D927}"/>
                  </a:ext>
                </a:extLst>
              </p:cNvPr>
              <p:cNvSpPr/>
              <p:nvPr/>
            </p:nvSpPr>
            <p:spPr>
              <a:xfrm>
                <a:off x="16814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27" name="Rectangle 26">
                <a:extLst>
                  <a:ext uri="{FF2B5EF4-FFF2-40B4-BE49-F238E27FC236}">
                    <a16:creationId xmlns:a16="http://schemas.microsoft.com/office/drawing/2014/main" id="{8ED915B2-758F-CB33-5D15-9D5EBA4EC8C0}"/>
                  </a:ext>
                </a:extLst>
              </p:cNvPr>
              <p:cNvSpPr/>
              <p:nvPr/>
            </p:nvSpPr>
            <p:spPr>
              <a:xfrm>
                <a:off x="64363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grpSp>
          <p:nvGrpSpPr>
            <p:cNvPr id="14" name="Group 13">
              <a:extLst>
                <a:ext uri="{FF2B5EF4-FFF2-40B4-BE49-F238E27FC236}">
                  <a16:creationId xmlns:a16="http://schemas.microsoft.com/office/drawing/2014/main" id="{B8DF4474-60B3-C430-4D19-462F2190B410}"/>
                </a:ext>
              </a:extLst>
            </p:cNvPr>
            <p:cNvGrpSpPr/>
            <p:nvPr/>
          </p:nvGrpSpPr>
          <p:grpSpPr>
            <a:xfrm>
              <a:off x="1300186" y="1644055"/>
              <a:ext cx="5283200" cy="528320"/>
              <a:chOff x="1681480" y="5462905"/>
              <a:chExt cx="5283200" cy="528320"/>
            </a:xfrm>
          </p:grpSpPr>
          <p:sp>
            <p:nvSpPr>
              <p:cNvPr id="4" name="Rectangle 3">
                <a:extLst>
                  <a:ext uri="{FF2B5EF4-FFF2-40B4-BE49-F238E27FC236}">
                    <a16:creationId xmlns:a16="http://schemas.microsoft.com/office/drawing/2014/main" id="{D831EFCE-5250-1723-F114-8351794B50FE}"/>
                  </a:ext>
                </a:extLst>
              </p:cNvPr>
              <p:cNvSpPr/>
              <p:nvPr/>
            </p:nvSpPr>
            <p:spPr>
              <a:xfrm>
                <a:off x="37947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 name="Rectangle 4">
                <a:extLst>
                  <a:ext uri="{FF2B5EF4-FFF2-40B4-BE49-F238E27FC236}">
                    <a16:creationId xmlns:a16="http://schemas.microsoft.com/office/drawing/2014/main" id="{5C716BC8-F892-38F0-34E4-0F229F2421DC}"/>
                  </a:ext>
                </a:extLst>
              </p:cNvPr>
              <p:cNvSpPr/>
              <p:nvPr/>
            </p:nvSpPr>
            <p:spPr>
              <a:xfrm>
                <a:off x="43230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3DD8C1CE-795B-B6D5-812A-2746FF01ECAE}"/>
                  </a:ext>
                </a:extLst>
              </p:cNvPr>
              <p:cNvSpPr/>
              <p:nvPr/>
            </p:nvSpPr>
            <p:spPr>
              <a:xfrm>
                <a:off x="48514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5A01BD75-8814-65AB-8F5F-316F1C82E544}"/>
                  </a:ext>
                </a:extLst>
              </p:cNvPr>
              <p:cNvSpPr/>
              <p:nvPr/>
            </p:nvSpPr>
            <p:spPr>
              <a:xfrm>
                <a:off x="53797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a:extLst>
                  <a:ext uri="{FF2B5EF4-FFF2-40B4-BE49-F238E27FC236}">
                    <a16:creationId xmlns:a16="http://schemas.microsoft.com/office/drawing/2014/main" id="{F39F3ADB-383D-280B-B96B-EFEE14AF981C}"/>
                  </a:ext>
                </a:extLst>
              </p:cNvPr>
              <p:cNvSpPr/>
              <p:nvPr/>
            </p:nvSpPr>
            <p:spPr>
              <a:xfrm>
                <a:off x="32664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Rectangle 8">
                <a:extLst>
                  <a:ext uri="{FF2B5EF4-FFF2-40B4-BE49-F238E27FC236}">
                    <a16:creationId xmlns:a16="http://schemas.microsoft.com/office/drawing/2014/main" id="{7D4C4584-EEB5-D541-A430-BF4C19CF179B}"/>
                  </a:ext>
                </a:extLst>
              </p:cNvPr>
              <p:cNvSpPr/>
              <p:nvPr/>
            </p:nvSpPr>
            <p:spPr>
              <a:xfrm>
                <a:off x="27381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DB4EE6EE-57C7-E930-E769-D14333D1C2F1}"/>
                  </a:ext>
                </a:extLst>
              </p:cNvPr>
              <p:cNvSpPr/>
              <p:nvPr/>
            </p:nvSpPr>
            <p:spPr>
              <a:xfrm>
                <a:off x="22098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 name="Rectangle 10">
                <a:extLst>
                  <a:ext uri="{FF2B5EF4-FFF2-40B4-BE49-F238E27FC236}">
                    <a16:creationId xmlns:a16="http://schemas.microsoft.com/office/drawing/2014/main" id="{5AE60CAA-B899-0819-3473-0296EED20853}"/>
                  </a:ext>
                </a:extLst>
              </p:cNvPr>
              <p:cNvSpPr/>
              <p:nvPr/>
            </p:nvSpPr>
            <p:spPr>
              <a:xfrm>
                <a:off x="59080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Rectangle 11">
                <a:extLst>
                  <a:ext uri="{FF2B5EF4-FFF2-40B4-BE49-F238E27FC236}">
                    <a16:creationId xmlns:a16="http://schemas.microsoft.com/office/drawing/2014/main" id="{1F225A0A-55C8-3626-F395-47E46232D82B}"/>
                  </a:ext>
                </a:extLst>
              </p:cNvPr>
              <p:cNvSpPr/>
              <p:nvPr/>
            </p:nvSpPr>
            <p:spPr>
              <a:xfrm>
                <a:off x="16814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Rectangle 12">
                <a:extLst>
                  <a:ext uri="{FF2B5EF4-FFF2-40B4-BE49-F238E27FC236}">
                    <a16:creationId xmlns:a16="http://schemas.microsoft.com/office/drawing/2014/main" id="{6036E8D9-4E7B-6D69-B1FD-BC29EC101E8B}"/>
                  </a:ext>
                </a:extLst>
              </p:cNvPr>
              <p:cNvSpPr/>
              <p:nvPr/>
            </p:nvSpPr>
            <p:spPr>
              <a:xfrm>
                <a:off x="64363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15" name="Rectangle 14">
              <a:extLst>
                <a:ext uri="{FF2B5EF4-FFF2-40B4-BE49-F238E27FC236}">
                  <a16:creationId xmlns:a16="http://schemas.microsoft.com/office/drawing/2014/main" id="{A83D0B77-4258-3DCB-9442-557E7F23A1DF}"/>
                </a:ext>
              </a:extLst>
            </p:cNvPr>
            <p:cNvSpPr/>
            <p:nvPr/>
          </p:nvSpPr>
          <p:spPr>
            <a:xfrm>
              <a:off x="6869991" y="1403212"/>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front=0</a:t>
              </a:r>
            </a:p>
          </p:txBody>
        </p:sp>
        <p:sp>
          <p:nvSpPr>
            <p:cNvPr id="16" name="Rectangle 15">
              <a:extLst>
                <a:ext uri="{FF2B5EF4-FFF2-40B4-BE49-F238E27FC236}">
                  <a16:creationId xmlns:a16="http://schemas.microsoft.com/office/drawing/2014/main" id="{E7B5C368-7EC9-6CCF-C5F9-C50DE30682A5}"/>
                </a:ext>
              </a:extLst>
            </p:cNvPr>
            <p:cNvSpPr/>
            <p:nvPr/>
          </p:nvSpPr>
          <p:spPr>
            <a:xfrm>
              <a:off x="6869991" y="2096502"/>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back=5</a:t>
              </a:r>
            </a:p>
          </p:txBody>
        </p:sp>
      </p:grpSp>
      <p:sp>
        <p:nvSpPr>
          <p:cNvPr id="3" name="Content Placeholder 2">
            <a:extLst>
              <a:ext uri="{FF2B5EF4-FFF2-40B4-BE49-F238E27FC236}">
                <a16:creationId xmlns:a16="http://schemas.microsoft.com/office/drawing/2014/main" id="{1376FFCF-F09D-CE03-F022-D39AD4A97E9E}"/>
              </a:ext>
            </a:extLst>
          </p:cNvPr>
          <p:cNvSpPr>
            <a:spLocks noGrp="1"/>
          </p:cNvSpPr>
          <p:nvPr>
            <p:ph idx="1"/>
          </p:nvPr>
        </p:nvSpPr>
        <p:spPr>
          <a:xfrm>
            <a:off x="268946" y="2316011"/>
            <a:ext cx="10515600" cy="4351338"/>
          </a:xfrm>
        </p:spPr>
        <p:txBody>
          <a:bodyPr/>
          <a:lstStyle/>
          <a:p>
            <a:r>
              <a:rPr lang="en-US" dirty="0"/>
              <a:t>Queue represented as an array of items</a:t>
            </a:r>
          </a:p>
          <a:p>
            <a:pPr lvl="1"/>
            <a:r>
              <a:rPr lang="en-US" dirty="0">
                <a:solidFill>
                  <a:srgbClr val="0070C0"/>
                </a:solidFill>
              </a:rPr>
              <a:t>A “front” index to indicate the oldest item in the queue</a:t>
            </a:r>
          </a:p>
          <a:p>
            <a:pPr lvl="1"/>
            <a:r>
              <a:rPr lang="en-US" dirty="0">
                <a:solidFill>
                  <a:schemeClr val="accent2">
                    <a:lumMod val="75000"/>
                  </a:schemeClr>
                </a:solidFill>
              </a:rPr>
              <a:t>A “back” index to indicate the most recent item in the queue</a:t>
            </a:r>
          </a:p>
          <a:p>
            <a:r>
              <a:rPr lang="en-US" dirty="0"/>
              <a:t>enqueue Procedure:</a:t>
            </a:r>
          </a:p>
          <a:p>
            <a:endParaRPr lang="en-US" dirty="0"/>
          </a:p>
          <a:p>
            <a:r>
              <a:rPr lang="en-US" dirty="0"/>
              <a:t>dequeue Procedure:</a:t>
            </a:r>
          </a:p>
          <a:p>
            <a:endParaRPr lang="en-US" dirty="0"/>
          </a:p>
          <a:p>
            <a:r>
              <a:rPr lang="en-US" dirty="0" err="1"/>
              <a:t>isEmpty</a:t>
            </a:r>
            <a:r>
              <a:rPr lang="en-US" dirty="0"/>
              <a:t> Procedure:</a:t>
            </a:r>
          </a:p>
        </p:txBody>
      </p:sp>
      <p:sp>
        <p:nvSpPr>
          <p:cNvPr id="32" name="TextBox 31">
            <a:extLst>
              <a:ext uri="{FF2B5EF4-FFF2-40B4-BE49-F238E27FC236}">
                <a16:creationId xmlns:a16="http://schemas.microsoft.com/office/drawing/2014/main" id="{44B77E27-802E-1F52-9A57-028FD4DE4449}"/>
              </a:ext>
            </a:extLst>
          </p:cNvPr>
          <p:cNvSpPr txBox="1"/>
          <p:nvPr/>
        </p:nvSpPr>
        <p:spPr>
          <a:xfrm>
            <a:off x="5725443" y="3440486"/>
            <a:ext cx="5150352" cy="1384995"/>
          </a:xfrm>
          <a:prstGeom prst="rect">
            <a:avLst/>
          </a:prstGeom>
          <a:noFill/>
        </p:spPr>
        <p:txBody>
          <a:bodyPr wrap="square" rtlCol="0">
            <a:spAutoFit/>
          </a:bodyP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enqueue(x){</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a:t>
            </a:r>
            <a:r>
              <a:rPr lang="en-US" sz="14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t> if (size == queue.length-1) {resize();}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queue[back] = x;</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back = (back + 1) % </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queue.length</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33" name="TextBox 32">
            <a:extLst>
              <a:ext uri="{FF2B5EF4-FFF2-40B4-BE49-F238E27FC236}">
                <a16:creationId xmlns:a16="http://schemas.microsoft.com/office/drawing/2014/main" id="{EF541FBE-7B55-F079-E785-ADC053CEC4C6}"/>
              </a:ext>
            </a:extLst>
          </p:cNvPr>
          <p:cNvSpPr txBox="1"/>
          <p:nvPr/>
        </p:nvSpPr>
        <p:spPr>
          <a:xfrm>
            <a:off x="5725443" y="4661212"/>
            <a:ext cx="5327136" cy="1600438"/>
          </a:xfrm>
          <a:prstGeom prst="rect">
            <a:avLst/>
          </a:prstGeom>
          <a:noFill/>
        </p:spPr>
        <p:txBody>
          <a:bodyPr wrap="square" rtlCol="0">
            <a:spAutoFit/>
          </a:bodyP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dequeue(){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 Assumes queue is not empty</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first = queue[front];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front = (front + 1) % </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queue.length</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return first;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34" name="TextBox 33">
            <a:extLst>
              <a:ext uri="{FF2B5EF4-FFF2-40B4-BE49-F238E27FC236}">
                <a16:creationId xmlns:a16="http://schemas.microsoft.com/office/drawing/2014/main" id="{C6572C5E-B004-807E-80CB-E17C300C1203}"/>
              </a:ext>
            </a:extLst>
          </p:cNvPr>
          <p:cNvSpPr txBox="1"/>
          <p:nvPr/>
        </p:nvSpPr>
        <p:spPr>
          <a:xfrm>
            <a:off x="5790906" y="6182846"/>
            <a:ext cx="4057454" cy="738664"/>
          </a:xfrm>
          <a:prstGeom prst="rect">
            <a:avLst/>
          </a:prstGeom>
          <a:noFill/>
        </p:spPr>
        <p:txBody>
          <a:bodyPr wrap="square" rtlCol="0">
            <a:spAutoFit/>
          </a:bodyPr>
          <a:lstStyle/>
          <a:p>
            <a:r>
              <a:rPr lang="en-US" sz="1400" dirty="0" err="1">
                <a:latin typeface="Cascadia Code" panose="020B0609020000020004" pitchFamily="49" charset="0"/>
                <a:ea typeface="Cascadia Code" panose="020B0609020000020004" pitchFamily="49" charset="0"/>
                <a:cs typeface="Cascadia Code" panose="020B0609020000020004" pitchFamily="49" charset="0"/>
              </a:rPr>
              <a:t>isEmpty</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return size == 0; </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28" name="TextBox 27">
            <a:extLst>
              <a:ext uri="{FF2B5EF4-FFF2-40B4-BE49-F238E27FC236}">
                <a16:creationId xmlns:a16="http://schemas.microsoft.com/office/drawing/2014/main" id="{98F8A8B4-1F34-29B1-9D95-AB5148C8299F}"/>
              </a:ext>
            </a:extLst>
          </p:cNvPr>
          <p:cNvSpPr txBox="1"/>
          <p:nvPr/>
        </p:nvSpPr>
        <p:spPr>
          <a:xfrm>
            <a:off x="9868969" y="2262995"/>
            <a:ext cx="2117759" cy="923330"/>
          </a:xfrm>
          <a:prstGeom prst="rect">
            <a:avLst/>
          </a:prstGeom>
          <a:noFill/>
          <a:ln>
            <a:solidFill>
              <a:srgbClr val="FF0000"/>
            </a:solidFill>
          </a:ln>
        </p:spPr>
        <p:txBody>
          <a:bodyPr wrap="none" rtlCol="0">
            <a:spAutoFit/>
          </a:bodyPr>
          <a:lstStyle/>
          <a:p>
            <a:r>
              <a:rPr lang="en-US" dirty="0">
                <a:solidFill>
                  <a:srgbClr val="FF0000"/>
                </a:solidFill>
              </a:rPr>
              <a:t>How do you resize? </a:t>
            </a:r>
            <a:br>
              <a:rPr lang="en-US" dirty="0">
                <a:solidFill>
                  <a:srgbClr val="FF0000"/>
                </a:solidFill>
              </a:rPr>
            </a:br>
            <a:br>
              <a:rPr lang="en-US" dirty="0">
                <a:solidFill>
                  <a:srgbClr val="FF0000"/>
                </a:solidFill>
              </a:rPr>
            </a:br>
            <a:r>
              <a:rPr lang="en-US" dirty="0">
                <a:solidFill>
                  <a:srgbClr val="FF0000"/>
                </a:solidFill>
              </a:rPr>
              <a:t>That’s for Exercise 0!</a:t>
            </a:r>
          </a:p>
        </p:txBody>
      </p:sp>
      <mc:AlternateContent xmlns:mc="http://schemas.openxmlformats.org/markup-compatibility/2006">
        <mc:Choice xmlns:p14="http://schemas.microsoft.com/office/powerpoint/2010/main" Requires="p14">
          <p:contentPart p14:bwMode="auto" r:id="rId2">
            <p14:nvContentPartPr>
              <p14:cNvPr id="30" name="Ink 29">
                <a:extLst>
                  <a:ext uri="{FF2B5EF4-FFF2-40B4-BE49-F238E27FC236}">
                    <a16:creationId xmlns:a16="http://schemas.microsoft.com/office/drawing/2014/main" id="{FF4DFCDC-1634-93C8-C4C6-D354E8C6CEDF}"/>
                  </a:ext>
                </a:extLst>
              </p14:cNvPr>
              <p14:cNvContentPartPr/>
              <p14:nvPr/>
            </p14:nvContentPartPr>
            <p14:xfrm>
              <a:off x="1096920" y="1319400"/>
              <a:ext cx="10127520" cy="2697840"/>
            </p14:xfrm>
          </p:contentPart>
        </mc:Choice>
        <mc:Fallback>
          <p:pic>
            <p:nvPicPr>
              <p:cNvPr id="30" name="Ink 29">
                <a:extLst>
                  <a:ext uri="{FF2B5EF4-FFF2-40B4-BE49-F238E27FC236}">
                    <a16:creationId xmlns:a16="http://schemas.microsoft.com/office/drawing/2014/main" id="{FF4DFCDC-1634-93C8-C4C6-D354E8C6CEDF}"/>
                  </a:ext>
                </a:extLst>
              </p:cNvPr>
              <p:cNvPicPr/>
              <p:nvPr/>
            </p:nvPicPr>
            <p:blipFill>
              <a:blip r:embed="rId3"/>
              <a:stretch>
                <a:fillRect/>
              </a:stretch>
            </p:blipFill>
            <p:spPr>
              <a:xfrm>
                <a:off x="1087560" y="1310040"/>
                <a:ext cx="10146240" cy="2716560"/>
              </a:xfrm>
              <a:prstGeom prst="rect">
                <a:avLst/>
              </a:prstGeom>
            </p:spPr>
          </p:pic>
        </mc:Fallback>
      </mc:AlternateContent>
    </p:spTree>
    <p:extLst>
      <p:ext uri="{BB962C8B-B14F-4D97-AF65-F5344CB8AC3E}">
        <p14:creationId xmlns:p14="http://schemas.microsoft.com/office/powerpoint/2010/main" val="4037612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450B6-F0B1-452F-736A-CBAD5DE567E1}"/>
              </a:ext>
            </a:extLst>
          </p:cNvPr>
          <p:cNvSpPr>
            <a:spLocks noGrp="1"/>
          </p:cNvSpPr>
          <p:nvPr>
            <p:ph type="title"/>
          </p:nvPr>
        </p:nvSpPr>
        <p:spPr/>
        <p:txBody>
          <a:bodyPr/>
          <a:lstStyle/>
          <a:p>
            <a:r>
              <a:rPr lang="en-US" dirty="0"/>
              <a:t>Linked Nodes vs. Circular Array</a:t>
            </a:r>
          </a:p>
        </p:txBody>
      </p:sp>
      <p:sp>
        <p:nvSpPr>
          <p:cNvPr id="3" name="Content Placeholder 2">
            <a:extLst>
              <a:ext uri="{FF2B5EF4-FFF2-40B4-BE49-F238E27FC236}">
                <a16:creationId xmlns:a16="http://schemas.microsoft.com/office/drawing/2014/main" id="{E1FB6DFD-BFD3-6A83-79CC-23335BC24C61}"/>
              </a:ext>
            </a:extLst>
          </p:cNvPr>
          <p:cNvSpPr>
            <a:spLocks noGrp="1"/>
          </p:cNvSpPr>
          <p:nvPr>
            <p:ph idx="1"/>
          </p:nvPr>
        </p:nvSpPr>
        <p:spPr/>
        <p:txBody>
          <a:bodyPr/>
          <a:lstStyle/>
          <a:p>
            <a:r>
              <a:rPr lang="en-US" dirty="0"/>
              <a:t>Let’s Summarize some benefits and drawbacks of each</a:t>
            </a:r>
          </a:p>
          <a:p>
            <a:pPr lvl="1"/>
            <a:r>
              <a:rPr lang="en-US" dirty="0"/>
              <a:t>Arrays have a lot to do when you need to resize</a:t>
            </a:r>
          </a:p>
          <a:p>
            <a:pPr lvl="1"/>
            <a:r>
              <a:rPr lang="en-US" dirty="0"/>
              <a:t>Maybe circular arrays take up more space (at least immediately after resized)</a:t>
            </a:r>
          </a:p>
          <a:p>
            <a:pPr lvl="2"/>
            <a:r>
              <a:rPr lang="en-US" dirty="0"/>
              <a:t>The space needed for linked nodes more exactly matches the size</a:t>
            </a:r>
          </a:p>
          <a:p>
            <a:pPr lvl="1"/>
            <a:r>
              <a:rPr lang="en-US" dirty="0"/>
              <a:t>If we wanted some behaviors in addition to the ADT</a:t>
            </a:r>
          </a:p>
          <a:p>
            <a:pPr lvl="1"/>
            <a:r>
              <a:rPr lang="en-US" dirty="0"/>
              <a:t>Contiguous memory vs. non-contiguous</a:t>
            </a:r>
          </a:p>
        </p:txBody>
      </p:sp>
    </p:spTree>
    <p:extLst>
      <p:ext uri="{BB962C8B-B14F-4D97-AF65-F5344CB8AC3E}">
        <p14:creationId xmlns:p14="http://schemas.microsoft.com/office/powerpoint/2010/main" val="13745289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D41E5-465C-EBB5-E9CD-029376B833DF}"/>
              </a:ext>
            </a:extLst>
          </p:cNvPr>
          <p:cNvSpPr>
            <a:spLocks noGrp="1"/>
          </p:cNvSpPr>
          <p:nvPr>
            <p:ph type="title"/>
          </p:nvPr>
        </p:nvSpPr>
        <p:spPr/>
        <p:txBody>
          <a:bodyPr/>
          <a:lstStyle/>
          <a:p>
            <a:r>
              <a:rPr lang="en-US" dirty="0"/>
              <a:t>ADT: Stack</a:t>
            </a:r>
          </a:p>
        </p:txBody>
      </p:sp>
      <p:sp>
        <p:nvSpPr>
          <p:cNvPr id="3" name="Content Placeholder 2">
            <a:extLst>
              <a:ext uri="{FF2B5EF4-FFF2-40B4-BE49-F238E27FC236}">
                <a16:creationId xmlns:a16="http://schemas.microsoft.com/office/drawing/2014/main" id="{B5EF048E-DA88-5227-7793-0EE138E7390F}"/>
              </a:ext>
            </a:extLst>
          </p:cNvPr>
          <p:cNvSpPr>
            <a:spLocks noGrp="1"/>
          </p:cNvSpPr>
          <p:nvPr>
            <p:ph idx="1"/>
          </p:nvPr>
        </p:nvSpPr>
        <p:spPr/>
        <p:txBody>
          <a:bodyPr>
            <a:normAutofit/>
          </a:bodyPr>
          <a:lstStyle/>
          <a:p>
            <a:r>
              <a:rPr lang="en-US" dirty="0"/>
              <a:t>What is it?</a:t>
            </a:r>
          </a:p>
          <a:p>
            <a:pPr lvl="1"/>
            <a:r>
              <a:rPr lang="en-US" dirty="0"/>
              <a:t>A “Last In First Out” (LIFO) collection of items (sometimes called FILO)</a:t>
            </a:r>
          </a:p>
          <a:p>
            <a:r>
              <a:rPr lang="en-US" dirty="0"/>
              <a:t>What operations do we need?</a:t>
            </a:r>
          </a:p>
          <a:p>
            <a:pPr lvl="1"/>
            <a:r>
              <a:rPr lang="en-US" dirty="0"/>
              <a:t>push</a:t>
            </a:r>
          </a:p>
          <a:p>
            <a:pPr lvl="2"/>
            <a:r>
              <a:rPr lang="en-US" dirty="0"/>
              <a:t>Add a new item onto the stack</a:t>
            </a:r>
          </a:p>
          <a:p>
            <a:pPr lvl="1"/>
            <a:r>
              <a:rPr lang="en-US" dirty="0"/>
              <a:t>peek</a:t>
            </a:r>
          </a:p>
          <a:p>
            <a:pPr lvl="2"/>
            <a:r>
              <a:rPr lang="en-US" dirty="0"/>
              <a:t>Return the value of the most recently pushed item</a:t>
            </a:r>
          </a:p>
          <a:p>
            <a:pPr lvl="1"/>
            <a:r>
              <a:rPr lang="en-US" dirty="0"/>
              <a:t>pop</a:t>
            </a:r>
          </a:p>
          <a:p>
            <a:pPr lvl="2"/>
            <a:r>
              <a:rPr lang="en-US" dirty="0"/>
              <a:t>Return the value of the most recently pushed item and remove it from the stack</a:t>
            </a:r>
          </a:p>
          <a:p>
            <a:pPr lvl="1"/>
            <a:r>
              <a:rPr lang="en-US" dirty="0" err="1"/>
              <a:t>isEmpty</a:t>
            </a:r>
            <a:endParaRPr lang="en-US" dirty="0"/>
          </a:p>
          <a:p>
            <a:pPr lvl="2"/>
            <a:r>
              <a:rPr lang="en-US" dirty="0"/>
              <a:t>Indicate whether or not there are items still on the stack</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8948C7DA-AB49-7F74-5C97-DC28E6105F97}"/>
                  </a:ext>
                </a:extLst>
              </p14:cNvPr>
              <p14:cNvContentPartPr/>
              <p14:nvPr/>
            </p14:nvContentPartPr>
            <p14:xfrm>
              <a:off x="1395000" y="3306600"/>
              <a:ext cx="1161720" cy="2562840"/>
            </p14:xfrm>
          </p:contentPart>
        </mc:Choice>
        <mc:Fallback>
          <p:pic>
            <p:nvPicPr>
              <p:cNvPr id="4" name="Ink 3">
                <a:extLst>
                  <a:ext uri="{FF2B5EF4-FFF2-40B4-BE49-F238E27FC236}">
                    <a16:creationId xmlns:a16="http://schemas.microsoft.com/office/drawing/2014/main" id="{8948C7DA-AB49-7F74-5C97-DC28E6105F97}"/>
                  </a:ext>
                </a:extLst>
              </p:cNvPr>
              <p:cNvPicPr/>
              <p:nvPr/>
            </p:nvPicPr>
            <p:blipFill>
              <a:blip r:embed="rId3"/>
              <a:stretch>
                <a:fillRect/>
              </a:stretch>
            </p:blipFill>
            <p:spPr>
              <a:xfrm>
                <a:off x="1385640" y="3297240"/>
                <a:ext cx="1180440" cy="2581560"/>
              </a:xfrm>
              <a:prstGeom prst="rect">
                <a:avLst/>
              </a:prstGeom>
            </p:spPr>
          </p:pic>
        </mc:Fallback>
      </mc:AlternateContent>
    </p:spTree>
    <p:extLst>
      <p:ext uri="{BB962C8B-B14F-4D97-AF65-F5344CB8AC3E}">
        <p14:creationId xmlns:p14="http://schemas.microsoft.com/office/powerpoint/2010/main" val="391256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F71B3-2D7D-74A2-E5C3-63EBD2C239C8}"/>
              </a:ext>
            </a:extLst>
          </p:cNvPr>
          <p:cNvSpPr>
            <a:spLocks noGrp="1"/>
          </p:cNvSpPr>
          <p:nvPr>
            <p:ph type="title"/>
          </p:nvPr>
        </p:nvSpPr>
        <p:spPr/>
        <p:txBody>
          <a:bodyPr/>
          <a:lstStyle/>
          <a:p>
            <a:r>
              <a:rPr lang="en-US" dirty="0"/>
              <a:t>Motivating Example</a:t>
            </a:r>
          </a:p>
        </p:txBody>
      </p:sp>
      <p:sp>
        <p:nvSpPr>
          <p:cNvPr id="3" name="Text Placeholder 2">
            <a:extLst>
              <a:ext uri="{FF2B5EF4-FFF2-40B4-BE49-F238E27FC236}">
                <a16:creationId xmlns:a16="http://schemas.microsoft.com/office/drawing/2014/main" id="{A3608ACD-B439-456B-C165-6FFFD6B1D691}"/>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602313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60275-4D4A-E63A-59AE-016BA0E53C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A8F36F-2AEB-C26B-B28B-00C3A944304E}"/>
              </a:ext>
            </a:extLst>
          </p:cNvPr>
          <p:cNvSpPr>
            <a:spLocks noGrp="1"/>
          </p:cNvSpPr>
          <p:nvPr>
            <p:ph type="title"/>
          </p:nvPr>
        </p:nvSpPr>
        <p:spPr/>
        <p:txBody>
          <a:bodyPr/>
          <a:lstStyle/>
          <a:p>
            <a:r>
              <a:rPr lang="en-US" dirty="0"/>
              <a:t>Let’s design an algorithm</a:t>
            </a:r>
          </a:p>
        </p:txBody>
      </p:sp>
      <p:sp>
        <p:nvSpPr>
          <p:cNvPr id="6" name="TextBox 5">
            <a:extLst>
              <a:ext uri="{FF2B5EF4-FFF2-40B4-BE49-F238E27FC236}">
                <a16:creationId xmlns:a16="http://schemas.microsoft.com/office/drawing/2014/main" id="{E4C6E168-C88F-DF7F-EC22-214AB5B6EF4F}"/>
              </a:ext>
            </a:extLst>
          </p:cNvPr>
          <p:cNvSpPr txBox="1"/>
          <p:nvPr/>
        </p:nvSpPr>
        <p:spPr>
          <a:xfrm>
            <a:off x="579120" y="3652753"/>
            <a:ext cx="7262975" cy="2554545"/>
          </a:xfrm>
          <a:prstGeom prst="rect">
            <a:avLst/>
          </a:prstGeom>
          <a:noFill/>
          <a:ln>
            <a:noFill/>
          </a:ln>
        </p:spPr>
        <p:txBody>
          <a:bodyPr wrap="square" rtlCol="0">
            <a:spAutoFit/>
          </a:bodyPr>
          <a:lstStyle/>
          <a:p>
            <a:pPr marL="457200" indent="-457200">
              <a:buFont typeface="Arial" panose="020B0604020202020204" pitchFamily="34" charset="0"/>
              <a:buChar char="•"/>
            </a:pPr>
            <a:r>
              <a:rPr lang="en-US" sz="3200" dirty="0"/>
              <a:t>I have a pile of string</a:t>
            </a:r>
          </a:p>
          <a:p>
            <a:pPr marL="457200" indent="-457200">
              <a:buFont typeface="Arial" panose="020B0604020202020204" pitchFamily="34" charset="0"/>
              <a:buChar char="•"/>
            </a:pPr>
            <a:r>
              <a:rPr lang="en-US" sz="3200" dirty="0"/>
              <a:t>I have one end of the string in-hand</a:t>
            </a:r>
          </a:p>
          <a:p>
            <a:pPr marL="457200" indent="-457200">
              <a:buFont typeface="Arial" panose="020B0604020202020204" pitchFamily="34" charset="0"/>
              <a:buChar char="•"/>
            </a:pPr>
            <a:r>
              <a:rPr lang="en-US" sz="3200" dirty="0"/>
              <a:t>I need to find the other end in the pile</a:t>
            </a:r>
          </a:p>
          <a:p>
            <a:pPr marL="457200" indent="-457200">
              <a:buFont typeface="Arial" panose="020B0604020202020204" pitchFamily="34" charset="0"/>
              <a:buChar char="•"/>
            </a:pPr>
            <a:r>
              <a:rPr lang="en-US" sz="3200" dirty="0"/>
              <a:t>How can I do this efficiently?</a:t>
            </a:r>
          </a:p>
          <a:p>
            <a:pPr algn="ctr"/>
            <a:endParaRPr lang="en-US" sz="3200" b="1" u="sng" dirty="0"/>
          </a:p>
        </p:txBody>
      </p:sp>
      <p:grpSp>
        <p:nvGrpSpPr>
          <p:cNvPr id="7" name="Group 6" descr="Depicts the problem of trying to find the end of the yarn from a pile. There is a blanket which possesses one end of the yarn. The other end is in a tangled pile. We need to find the end from among that tangled pile.">
            <a:extLst>
              <a:ext uri="{FF2B5EF4-FFF2-40B4-BE49-F238E27FC236}">
                <a16:creationId xmlns:a16="http://schemas.microsoft.com/office/drawing/2014/main" id="{494A9C52-F5D2-C88A-3A31-49852E7FE19D}"/>
              </a:ext>
            </a:extLst>
          </p:cNvPr>
          <p:cNvGrpSpPr/>
          <p:nvPr/>
        </p:nvGrpSpPr>
        <p:grpSpPr>
          <a:xfrm>
            <a:off x="5836920" y="1395903"/>
            <a:ext cx="5875948" cy="2886716"/>
            <a:chOff x="1828800" y="1295400"/>
            <a:chExt cx="9753600" cy="4791716"/>
          </a:xfrm>
        </p:grpSpPr>
        <p:pic>
          <p:nvPicPr>
            <p:cNvPr id="8" name="Picture 2">
              <a:extLst>
                <a:ext uri="{FF2B5EF4-FFF2-40B4-BE49-F238E27FC236}">
                  <a16:creationId xmlns:a16="http://schemas.microsoft.com/office/drawing/2014/main" id="{A8F912FB-D296-9A48-1B4F-126A8058C6F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9000"/>
            <a:stretch/>
          </p:blipFill>
          <p:spPr bwMode="auto">
            <a:xfrm>
              <a:off x="5410200" y="1562741"/>
              <a:ext cx="6172200" cy="4524375"/>
            </a:xfrm>
            <a:prstGeom prst="rect">
              <a:avLst/>
            </a:prstGeom>
            <a:noFill/>
            <a:extLst>
              <a:ext uri="{909E8E84-426E-40DD-AFC4-6F175D3DCCD1}">
                <a14:hiddenFill xmlns:a14="http://schemas.microsoft.com/office/drawing/2010/main">
                  <a:solidFill>
                    <a:srgbClr val="FFFFFF"/>
                  </a:solidFill>
                </a14:hiddenFill>
              </a:ext>
            </a:extLst>
          </p:spPr>
        </p:pic>
        <p:sp>
          <p:nvSpPr>
            <p:cNvPr id="9" name="Freeform: Shape 8">
              <a:extLst>
                <a:ext uri="{FF2B5EF4-FFF2-40B4-BE49-F238E27FC236}">
                  <a16:creationId xmlns:a16="http://schemas.microsoft.com/office/drawing/2014/main" id="{14015EAA-7995-1E43-A032-ADC9E404DB88}"/>
                </a:ext>
              </a:extLst>
            </p:cNvPr>
            <p:cNvSpPr/>
            <p:nvPr/>
          </p:nvSpPr>
          <p:spPr>
            <a:xfrm>
              <a:off x="1828800" y="1295400"/>
              <a:ext cx="3852820" cy="4022719"/>
            </a:xfrm>
            <a:custGeom>
              <a:avLst/>
              <a:gdLst>
                <a:gd name="connsiteX0" fmla="*/ 3613123 w 3852820"/>
                <a:gd name="connsiteY0" fmla="*/ 763480 h 4022719"/>
                <a:gd name="connsiteX1" fmla="*/ 3178117 w 3852820"/>
                <a:gd name="connsiteY1" fmla="*/ 772357 h 4022719"/>
                <a:gd name="connsiteX2" fmla="*/ 2849643 w 3852820"/>
                <a:gd name="connsiteY2" fmla="*/ 887767 h 4022719"/>
                <a:gd name="connsiteX3" fmla="*/ 2680968 w 3852820"/>
                <a:gd name="connsiteY3" fmla="*/ 967666 h 4022719"/>
                <a:gd name="connsiteX4" fmla="*/ 2601069 w 3852820"/>
                <a:gd name="connsiteY4" fmla="*/ 1145220 h 4022719"/>
                <a:gd name="connsiteX5" fmla="*/ 2583313 w 3852820"/>
                <a:gd name="connsiteY5" fmla="*/ 1384917 h 4022719"/>
                <a:gd name="connsiteX6" fmla="*/ 2609946 w 3852820"/>
                <a:gd name="connsiteY6" fmla="*/ 2130641 h 4022719"/>
                <a:gd name="connsiteX7" fmla="*/ 2751989 w 3852820"/>
                <a:gd name="connsiteY7" fmla="*/ 2547891 h 4022719"/>
                <a:gd name="connsiteX8" fmla="*/ 2672090 w 3852820"/>
                <a:gd name="connsiteY8" fmla="*/ 2849732 h 4022719"/>
                <a:gd name="connsiteX9" fmla="*/ 2316983 w 3852820"/>
                <a:gd name="connsiteY9" fmla="*/ 3053919 h 4022719"/>
                <a:gd name="connsiteX10" fmla="*/ 1846467 w 3852820"/>
                <a:gd name="connsiteY10" fmla="*/ 2982897 h 4022719"/>
                <a:gd name="connsiteX11" fmla="*/ 1526871 w 3852820"/>
                <a:gd name="connsiteY11" fmla="*/ 2769833 h 4022719"/>
                <a:gd name="connsiteX12" fmla="*/ 923189 w 3852820"/>
                <a:gd name="connsiteY12" fmla="*/ 2512381 h 4022719"/>
                <a:gd name="connsiteX13" fmla="*/ 594715 w 3852820"/>
                <a:gd name="connsiteY13" fmla="*/ 2104008 h 4022719"/>
                <a:gd name="connsiteX14" fmla="*/ 585838 w 3852820"/>
                <a:gd name="connsiteY14" fmla="*/ 2015231 h 4022719"/>
                <a:gd name="connsiteX15" fmla="*/ 1216152 w 3852820"/>
                <a:gd name="connsiteY15" fmla="*/ 1509204 h 4022719"/>
                <a:gd name="connsiteX16" fmla="*/ 1677791 w 3852820"/>
                <a:gd name="connsiteY16" fmla="*/ 1447060 h 4022719"/>
                <a:gd name="connsiteX17" fmla="*/ 2849643 w 3852820"/>
                <a:gd name="connsiteY17" fmla="*/ 1784412 h 4022719"/>
                <a:gd name="connsiteX18" fmla="*/ 2956175 w 3852820"/>
                <a:gd name="connsiteY18" fmla="*/ 1882066 h 4022719"/>
                <a:gd name="connsiteX19" fmla="*/ 3009441 w 3852820"/>
                <a:gd name="connsiteY19" fmla="*/ 2032987 h 4022719"/>
                <a:gd name="connsiteX20" fmla="*/ 2956175 w 3852820"/>
                <a:gd name="connsiteY20" fmla="*/ 2379216 h 4022719"/>
                <a:gd name="connsiteX21" fmla="*/ 2654335 w 3852820"/>
                <a:gd name="connsiteY21" fmla="*/ 2645546 h 4022719"/>
                <a:gd name="connsiteX22" fmla="*/ 2103919 w 3852820"/>
                <a:gd name="connsiteY22" fmla="*/ 3258105 h 4022719"/>
                <a:gd name="connsiteX23" fmla="*/ 1864222 w 3852820"/>
                <a:gd name="connsiteY23" fmla="*/ 3382392 h 4022719"/>
                <a:gd name="connsiteX24" fmla="*/ 1296051 w 3852820"/>
                <a:gd name="connsiteY24" fmla="*/ 3311371 h 4022719"/>
                <a:gd name="connsiteX25" fmla="*/ 1145131 w 3852820"/>
                <a:gd name="connsiteY25" fmla="*/ 3222594 h 4022719"/>
                <a:gd name="connsiteX26" fmla="*/ 1065232 w 3852820"/>
                <a:gd name="connsiteY26" fmla="*/ 3080552 h 4022719"/>
                <a:gd name="connsiteX27" fmla="*/ 994210 w 3852820"/>
                <a:gd name="connsiteY27" fmla="*/ 1890944 h 4022719"/>
                <a:gd name="connsiteX28" fmla="*/ 1038599 w 3852820"/>
                <a:gd name="connsiteY28" fmla="*/ 958788 h 4022719"/>
                <a:gd name="connsiteX29" fmla="*/ 1003088 w 3852820"/>
                <a:gd name="connsiteY29" fmla="*/ 727969 h 4022719"/>
                <a:gd name="connsiteX30" fmla="*/ 976455 w 3852820"/>
                <a:gd name="connsiteY30" fmla="*/ 648070 h 4022719"/>
                <a:gd name="connsiteX31" fmla="*/ 878801 w 3852820"/>
                <a:gd name="connsiteY31" fmla="*/ 612559 h 4022719"/>
                <a:gd name="connsiteX32" fmla="*/ 674614 w 3852820"/>
                <a:gd name="connsiteY32" fmla="*/ 701336 h 4022719"/>
                <a:gd name="connsiteX33" fmla="*/ 328385 w 3852820"/>
                <a:gd name="connsiteY33" fmla="*/ 1189608 h 4022719"/>
                <a:gd name="connsiteX34" fmla="*/ 319507 w 3852820"/>
                <a:gd name="connsiteY34" fmla="*/ 1606858 h 4022719"/>
                <a:gd name="connsiteX35" fmla="*/ 470428 w 3852820"/>
                <a:gd name="connsiteY35" fmla="*/ 1988598 h 4022719"/>
                <a:gd name="connsiteX36" fmla="*/ 807779 w 3852820"/>
                <a:gd name="connsiteY36" fmla="*/ 2379216 h 4022719"/>
                <a:gd name="connsiteX37" fmla="*/ 1402583 w 3852820"/>
                <a:gd name="connsiteY37" fmla="*/ 2494625 h 4022719"/>
                <a:gd name="connsiteX38" fmla="*/ 1633403 w 3852820"/>
                <a:gd name="connsiteY38" fmla="*/ 2467992 h 4022719"/>
                <a:gd name="connsiteX39" fmla="*/ 2059531 w 3852820"/>
                <a:gd name="connsiteY39" fmla="*/ 1731146 h 4022719"/>
                <a:gd name="connsiteX40" fmla="*/ 2015142 w 3852820"/>
                <a:gd name="connsiteY40" fmla="*/ 1056443 h 4022719"/>
                <a:gd name="connsiteX41" fmla="*/ 1846467 w 3852820"/>
                <a:gd name="connsiteY41" fmla="*/ 594804 h 4022719"/>
                <a:gd name="connsiteX42" fmla="*/ 1517993 w 3852820"/>
                <a:gd name="connsiteY42" fmla="*/ 958788 h 4022719"/>
                <a:gd name="connsiteX43" fmla="*/ 1535748 w 3852820"/>
                <a:gd name="connsiteY43" fmla="*/ 1420427 h 4022719"/>
                <a:gd name="connsiteX44" fmla="*/ 1748812 w 3852820"/>
                <a:gd name="connsiteY44" fmla="*/ 2059620 h 4022719"/>
                <a:gd name="connsiteX45" fmla="*/ 2902909 w 3852820"/>
                <a:gd name="connsiteY45" fmla="*/ 3045041 h 4022719"/>
                <a:gd name="connsiteX46" fmla="*/ 3169239 w 3852820"/>
                <a:gd name="connsiteY46" fmla="*/ 3160451 h 4022719"/>
                <a:gd name="connsiteX47" fmla="*/ 3382304 w 3852820"/>
                <a:gd name="connsiteY47" fmla="*/ 3400148 h 4022719"/>
                <a:gd name="connsiteX48" fmla="*/ 3444447 w 3852820"/>
                <a:gd name="connsiteY48" fmla="*/ 3604334 h 4022719"/>
                <a:gd name="connsiteX49" fmla="*/ 2592191 w 3852820"/>
                <a:gd name="connsiteY49" fmla="*/ 3817398 h 4022719"/>
                <a:gd name="connsiteX50" fmla="*/ 1722179 w 3852820"/>
                <a:gd name="connsiteY50" fmla="*/ 3355759 h 4022719"/>
                <a:gd name="connsiteX51" fmla="*/ 1677791 w 3852820"/>
                <a:gd name="connsiteY51" fmla="*/ 3089429 h 4022719"/>
                <a:gd name="connsiteX52" fmla="*/ 1810956 w 3852820"/>
                <a:gd name="connsiteY52" fmla="*/ 2707689 h 4022719"/>
                <a:gd name="connsiteX53" fmla="*/ 2263717 w 3852820"/>
                <a:gd name="connsiteY53" fmla="*/ 2423604 h 4022719"/>
                <a:gd name="connsiteX54" fmla="*/ 2707601 w 3852820"/>
                <a:gd name="connsiteY54" fmla="*/ 2059620 h 4022719"/>
                <a:gd name="connsiteX55" fmla="*/ 2760867 w 3852820"/>
                <a:gd name="connsiteY55" fmla="*/ 1864311 h 4022719"/>
                <a:gd name="connsiteX56" fmla="*/ 2148307 w 3852820"/>
                <a:gd name="connsiteY56" fmla="*/ 1526959 h 4022719"/>
                <a:gd name="connsiteX57" fmla="*/ 1926366 w 3852820"/>
                <a:gd name="connsiteY57" fmla="*/ 1615736 h 4022719"/>
                <a:gd name="connsiteX58" fmla="*/ 2245962 w 3852820"/>
                <a:gd name="connsiteY58" fmla="*/ 2334827 h 4022719"/>
                <a:gd name="connsiteX59" fmla="*/ 3258016 w 3852820"/>
                <a:gd name="connsiteY59" fmla="*/ 2991775 h 4022719"/>
                <a:gd name="connsiteX60" fmla="*/ 3426692 w 3852820"/>
                <a:gd name="connsiteY60" fmla="*/ 3089429 h 4022719"/>
                <a:gd name="connsiteX61" fmla="*/ 3524346 w 3852820"/>
                <a:gd name="connsiteY61" fmla="*/ 3124940 h 4022719"/>
                <a:gd name="connsiteX62" fmla="*/ 3559857 w 3852820"/>
                <a:gd name="connsiteY62" fmla="*/ 3178206 h 4022719"/>
                <a:gd name="connsiteX63" fmla="*/ 2965053 w 3852820"/>
                <a:gd name="connsiteY63" fmla="*/ 3648722 h 4022719"/>
                <a:gd name="connsiteX64" fmla="*/ 2459026 w 3852820"/>
                <a:gd name="connsiteY64" fmla="*/ 3391270 h 4022719"/>
                <a:gd name="connsiteX65" fmla="*/ 2388005 w 3852820"/>
                <a:gd name="connsiteY65" fmla="*/ 3160451 h 4022719"/>
                <a:gd name="connsiteX66" fmla="*/ 2680968 w 3852820"/>
                <a:gd name="connsiteY66" fmla="*/ 2370338 h 4022719"/>
                <a:gd name="connsiteX67" fmla="*/ 2716478 w 3852820"/>
                <a:gd name="connsiteY67" fmla="*/ 2059620 h 4022719"/>
                <a:gd name="connsiteX68" fmla="*/ 1739935 w 3852820"/>
                <a:gd name="connsiteY68" fmla="*/ 1438183 h 4022719"/>
                <a:gd name="connsiteX69" fmla="*/ 1136253 w 3852820"/>
                <a:gd name="connsiteY69" fmla="*/ 2015231 h 4022719"/>
                <a:gd name="connsiteX70" fmla="*/ 2103919 w 3852820"/>
                <a:gd name="connsiteY70" fmla="*/ 3169328 h 4022719"/>
                <a:gd name="connsiteX71" fmla="*/ 2441271 w 3852820"/>
                <a:gd name="connsiteY71" fmla="*/ 3195961 h 4022719"/>
                <a:gd name="connsiteX72" fmla="*/ 2601069 w 3852820"/>
                <a:gd name="connsiteY72" fmla="*/ 2965142 h 4022719"/>
                <a:gd name="connsiteX73" fmla="*/ 1766568 w 3852820"/>
                <a:gd name="connsiteY73" fmla="*/ 1775534 h 4022719"/>
                <a:gd name="connsiteX74" fmla="*/ 1340439 w 3852820"/>
                <a:gd name="connsiteY74" fmla="*/ 1802167 h 4022719"/>
                <a:gd name="connsiteX75" fmla="*/ 1633403 w 3852820"/>
                <a:gd name="connsiteY75" fmla="*/ 3888420 h 4022719"/>
                <a:gd name="connsiteX76" fmla="*/ 2015142 w 3852820"/>
                <a:gd name="connsiteY76" fmla="*/ 3994952 h 4022719"/>
                <a:gd name="connsiteX77" fmla="*/ 2095041 w 3852820"/>
                <a:gd name="connsiteY77" fmla="*/ 3630967 h 4022719"/>
                <a:gd name="connsiteX78" fmla="*/ 1864222 w 3852820"/>
                <a:gd name="connsiteY78" fmla="*/ 3204839 h 4022719"/>
                <a:gd name="connsiteX79" fmla="*/ 1828711 w 3852820"/>
                <a:gd name="connsiteY79" fmla="*/ 3178206 h 4022719"/>
                <a:gd name="connsiteX80" fmla="*/ 1899733 w 3852820"/>
                <a:gd name="connsiteY80" fmla="*/ 3204839 h 4022719"/>
                <a:gd name="connsiteX81" fmla="*/ 2503414 w 3852820"/>
                <a:gd name="connsiteY81" fmla="*/ 3586579 h 4022719"/>
                <a:gd name="connsiteX82" fmla="*/ 2840766 w 3852820"/>
                <a:gd name="connsiteY82" fmla="*/ 3613212 h 4022719"/>
                <a:gd name="connsiteX83" fmla="*/ 2609946 w 3852820"/>
                <a:gd name="connsiteY83" fmla="*/ 2743200 h 4022719"/>
                <a:gd name="connsiteX84" fmla="*/ 2494537 w 3852820"/>
                <a:gd name="connsiteY84" fmla="*/ 2707689 h 4022719"/>
                <a:gd name="connsiteX85" fmla="*/ 2627702 w 3852820"/>
                <a:gd name="connsiteY85" fmla="*/ 3542190 h 4022719"/>
                <a:gd name="connsiteX86" fmla="*/ 3222506 w 3852820"/>
                <a:gd name="connsiteY86" fmla="*/ 3178206 h 4022719"/>
                <a:gd name="connsiteX87" fmla="*/ 3186995 w 3852820"/>
                <a:gd name="connsiteY87" fmla="*/ 2512381 h 4022719"/>
                <a:gd name="connsiteX88" fmla="*/ 1952999 w 3852820"/>
                <a:gd name="connsiteY88" fmla="*/ 1722268 h 4022719"/>
                <a:gd name="connsiteX89" fmla="*/ 1731057 w 3852820"/>
                <a:gd name="connsiteY89" fmla="*/ 1899821 h 4022719"/>
                <a:gd name="connsiteX90" fmla="*/ 2343616 w 3852820"/>
                <a:gd name="connsiteY90" fmla="*/ 2547891 h 4022719"/>
                <a:gd name="connsiteX91" fmla="*/ 2414638 w 3852820"/>
                <a:gd name="connsiteY91" fmla="*/ 1331651 h 4022719"/>
                <a:gd name="connsiteX92" fmla="*/ 1802078 w 3852820"/>
                <a:gd name="connsiteY92" fmla="*/ 1029810 h 4022719"/>
                <a:gd name="connsiteX93" fmla="*/ 914311 w 3852820"/>
                <a:gd name="connsiteY93" fmla="*/ 1633491 h 4022719"/>
                <a:gd name="connsiteX94" fmla="*/ 923189 w 3852820"/>
                <a:gd name="connsiteY94" fmla="*/ 1819922 h 4022719"/>
                <a:gd name="connsiteX95" fmla="*/ 1589014 w 3852820"/>
                <a:gd name="connsiteY95" fmla="*/ 1944210 h 4022719"/>
                <a:gd name="connsiteX96" fmla="*/ 2041775 w 3852820"/>
                <a:gd name="connsiteY96" fmla="*/ 1695635 h 4022719"/>
                <a:gd name="connsiteX97" fmla="*/ 1287173 w 3852820"/>
                <a:gd name="connsiteY97" fmla="*/ 319596 h 4022719"/>
                <a:gd name="connsiteX98" fmla="*/ 940944 w 3852820"/>
                <a:gd name="connsiteY98" fmla="*/ 230820 h 4022719"/>
                <a:gd name="connsiteX99" fmla="*/ 603593 w 3852820"/>
                <a:gd name="connsiteY99" fmla="*/ 772357 h 4022719"/>
                <a:gd name="connsiteX100" fmla="*/ 727880 w 3852820"/>
                <a:gd name="connsiteY100" fmla="*/ 2148396 h 4022719"/>
                <a:gd name="connsiteX101" fmla="*/ 967577 w 3852820"/>
                <a:gd name="connsiteY101" fmla="*/ 2405849 h 4022719"/>
                <a:gd name="connsiteX102" fmla="*/ 1509115 w 3852820"/>
                <a:gd name="connsiteY102" fmla="*/ 2299317 h 4022719"/>
                <a:gd name="connsiteX103" fmla="*/ 1855344 w 3852820"/>
                <a:gd name="connsiteY103" fmla="*/ 656948 h 4022719"/>
                <a:gd name="connsiteX104" fmla="*/ 1331562 w 3852820"/>
                <a:gd name="connsiteY104" fmla="*/ 514905 h 4022719"/>
                <a:gd name="connsiteX105" fmla="*/ 940944 w 3852820"/>
                <a:gd name="connsiteY105" fmla="*/ 2725445 h 4022719"/>
                <a:gd name="connsiteX106" fmla="*/ 1739935 w 3852820"/>
                <a:gd name="connsiteY106" fmla="*/ 3338004 h 4022719"/>
                <a:gd name="connsiteX107" fmla="*/ 2396882 w 3852820"/>
                <a:gd name="connsiteY107" fmla="*/ 2991775 h 4022719"/>
                <a:gd name="connsiteX108" fmla="*/ 1793201 w 3852820"/>
                <a:gd name="connsiteY108" fmla="*/ 1864311 h 4022719"/>
                <a:gd name="connsiteX109" fmla="*/ 1313806 w 3852820"/>
                <a:gd name="connsiteY109" fmla="*/ 2192785 h 4022719"/>
                <a:gd name="connsiteX110" fmla="*/ 1384828 w 3852820"/>
                <a:gd name="connsiteY110" fmla="*/ 3941686 h 4022719"/>
                <a:gd name="connsiteX111" fmla="*/ 2503414 w 3852820"/>
                <a:gd name="connsiteY111" fmla="*/ 4012707 h 4022719"/>
                <a:gd name="connsiteX112" fmla="*/ 3089340 w 3852820"/>
                <a:gd name="connsiteY112" fmla="*/ 3639845 h 4022719"/>
                <a:gd name="connsiteX113" fmla="*/ 3027197 w 3852820"/>
                <a:gd name="connsiteY113" fmla="*/ 2068497 h 4022719"/>
                <a:gd name="connsiteX114" fmla="*/ 2689845 w 3852820"/>
                <a:gd name="connsiteY114" fmla="*/ 1686757 h 4022719"/>
                <a:gd name="connsiteX115" fmla="*/ 2201573 w 3852820"/>
                <a:gd name="connsiteY115" fmla="*/ 2636668 h 4022719"/>
                <a:gd name="connsiteX116" fmla="*/ 2840766 w 3852820"/>
                <a:gd name="connsiteY116" fmla="*/ 2752078 h 4022719"/>
                <a:gd name="connsiteX117" fmla="*/ 3684144 w 3852820"/>
                <a:gd name="connsiteY117" fmla="*/ 807868 h 4022719"/>
                <a:gd name="connsiteX118" fmla="*/ 3364548 w 3852820"/>
                <a:gd name="connsiteY118" fmla="*/ 417251 h 4022719"/>
                <a:gd name="connsiteX119" fmla="*/ 3062707 w 3852820"/>
                <a:gd name="connsiteY119" fmla="*/ 435006 h 4022719"/>
                <a:gd name="connsiteX120" fmla="*/ 2245962 w 3852820"/>
                <a:gd name="connsiteY120" fmla="*/ 1296140 h 4022719"/>
                <a:gd name="connsiteX121" fmla="*/ 2778622 w 3852820"/>
                <a:gd name="connsiteY121" fmla="*/ 612559 h 4022719"/>
                <a:gd name="connsiteX122" fmla="*/ 2121674 w 3852820"/>
                <a:gd name="connsiteY122" fmla="*/ 0 h 4022719"/>
                <a:gd name="connsiteX123" fmla="*/ 1509115 w 3852820"/>
                <a:gd name="connsiteY123" fmla="*/ 363985 h 4022719"/>
                <a:gd name="connsiteX124" fmla="*/ 1855344 w 3852820"/>
                <a:gd name="connsiteY124" fmla="*/ 1811045 h 4022719"/>
                <a:gd name="connsiteX125" fmla="*/ 2432393 w 3852820"/>
                <a:gd name="connsiteY125" fmla="*/ 1953088 h 4022719"/>
                <a:gd name="connsiteX126" fmla="*/ 2991686 w 3852820"/>
                <a:gd name="connsiteY126" fmla="*/ 1491449 h 4022719"/>
                <a:gd name="connsiteX127" fmla="*/ 2192696 w 3852820"/>
                <a:gd name="connsiteY127" fmla="*/ 603682 h 4022719"/>
                <a:gd name="connsiteX128" fmla="*/ 1420339 w 3852820"/>
                <a:gd name="connsiteY128" fmla="*/ 1988598 h 4022719"/>
                <a:gd name="connsiteX129" fmla="*/ 2121674 w 3852820"/>
                <a:gd name="connsiteY129" fmla="*/ 2290439 h 4022719"/>
                <a:gd name="connsiteX130" fmla="*/ 2956175 w 3852820"/>
                <a:gd name="connsiteY130" fmla="*/ 1287262 h 4022719"/>
                <a:gd name="connsiteX131" fmla="*/ 2068408 w 3852820"/>
                <a:gd name="connsiteY131" fmla="*/ 807868 h 4022719"/>
                <a:gd name="connsiteX132" fmla="*/ 1668913 w 3852820"/>
                <a:gd name="connsiteY132" fmla="*/ 2334827 h 4022719"/>
                <a:gd name="connsiteX133" fmla="*/ 2192696 w 3852820"/>
                <a:gd name="connsiteY133" fmla="*/ 2601157 h 4022719"/>
                <a:gd name="connsiteX134" fmla="*/ 3036074 w 3852820"/>
                <a:gd name="connsiteY134" fmla="*/ 1242874 h 4022719"/>
                <a:gd name="connsiteX135" fmla="*/ 2538925 w 3852820"/>
                <a:gd name="connsiteY135" fmla="*/ 976544 h 4022719"/>
                <a:gd name="connsiteX136" fmla="*/ 2219329 w 3852820"/>
                <a:gd name="connsiteY136" fmla="*/ 1677880 h 4022719"/>
                <a:gd name="connsiteX137" fmla="*/ 2290350 w 3852820"/>
                <a:gd name="connsiteY137" fmla="*/ 3355759 h 4022719"/>
                <a:gd name="connsiteX138" fmla="*/ 3417814 w 3852820"/>
                <a:gd name="connsiteY138" fmla="*/ 2707689 h 4022719"/>
                <a:gd name="connsiteX139" fmla="*/ 3408937 w 3852820"/>
                <a:gd name="connsiteY139" fmla="*/ 2370338 h 4022719"/>
                <a:gd name="connsiteX140" fmla="*/ 2707601 w 3852820"/>
                <a:gd name="connsiteY140" fmla="*/ 2015231 h 4022719"/>
                <a:gd name="connsiteX141" fmla="*/ 2272595 w 3852820"/>
                <a:gd name="connsiteY141" fmla="*/ 2175029 h 4022719"/>
                <a:gd name="connsiteX142" fmla="*/ 2574436 w 3852820"/>
                <a:gd name="connsiteY142" fmla="*/ 3249227 h 4022719"/>
                <a:gd name="connsiteX143" fmla="*/ 3062707 w 3852820"/>
                <a:gd name="connsiteY143" fmla="*/ 3151573 h 4022719"/>
                <a:gd name="connsiteX144" fmla="*/ 2902909 w 3852820"/>
                <a:gd name="connsiteY144" fmla="*/ 941033 h 4022719"/>
                <a:gd name="connsiteX145" fmla="*/ 2121674 w 3852820"/>
                <a:gd name="connsiteY145" fmla="*/ 301841 h 4022719"/>
                <a:gd name="connsiteX146" fmla="*/ 1455849 w 3852820"/>
                <a:gd name="connsiteY146" fmla="*/ 1535837 h 4022719"/>
                <a:gd name="connsiteX147" fmla="*/ 1509115 w 3852820"/>
                <a:gd name="connsiteY147" fmla="*/ 1908699 h 4022719"/>
                <a:gd name="connsiteX148" fmla="*/ 1775445 w 3852820"/>
                <a:gd name="connsiteY148" fmla="*/ 1997476 h 4022719"/>
                <a:gd name="connsiteX149" fmla="*/ 2112797 w 3852820"/>
                <a:gd name="connsiteY149" fmla="*/ 852256 h 4022719"/>
                <a:gd name="connsiteX150" fmla="*/ 1926366 w 3852820"/>
                <a:gd name="connsiteY150" fmla="*/ 381740 h 4022719"/>
                <a:gd name="connsiteX151" fmla="*/ 1402583 w 3852820"/>
                <a:gd name="connsiteY151" fmla="*/ 541538 h 4022719"/>
                <a:gd name="connsiteX152" fmla="*/ 1145131 w 3852820"/>
                <a:gd name="connsiteY152" fmla="*/ 2565647 h 4022719"/>
                <a:gd name="connsiteX153" fmla="*/ 1775445 w 3852820"/>
                <a:gd name="connsiteY153" fmla="*/ 2787588 h 4022719"/>
                <a:gd name="connsiteX154" fmla="*/ 2157185 w 3852820"/>
                <a:gd name="connsiteY154" fmla="*/ 2432482 h 4022719"/>
                <a:gd name="connsiteX155" fmla="*/ 1464727 w 3852820"/>
                <a:gd name="connsiteY155" fmla="*/ 1873188 h 4022719"/>
                <a:gd name="connsiteX156" fmla="*/ 1269418 w 3852820"/>
                <a:gd name="connsiteY156" fmla="*/ 3462291 h 4022719"/>
                <a:gd name="connsiteX157" fmla="*/ 1908610 w 3852820"/>
                <a:gd name="connsiteY157" fmla="*/ 3728621 h 4022719"/>
                <a:gd name="connsiteX158" fmla="*/ 3089340 w 3852820"/>
                <a:gd name="connsiteY158" fmla="*/ 2601157 h 4022719"/>
                <a:gd name="connsiteX159" fmla="*/ 2716478 w 3852820"/>
                <a:gd name="connsiteY159" fmla="*/ 2024109 h 4022719"/>
                <a:gd name="connsiteX160" fmla="*/ 2574436 w 3852820"/>
                <a:gd name="connsiteY160" fmla="*/ 3355759 h 4022719"/>
                <a:gd name="connsiteX161" fmla="*/ 3000564 w 3852820"/>
                <a:gd name="connsiteY161" fmla="*/ 3204839 h 4022719"/>
                <a:gd name="connsiteX162" fmla="*/ 3293527 w 3852820"/>
                <a:gd name="connsiteY162" fmla="*/ 994299 h 4022719"/>
                <a:gd name="connsiteX163" fmla="*/ 2858521 w 3852820"/>
                <a:gd name="connsiteY163" fmla="*/ 692458 h 4022719"/>
                <a:gd name="connsiteX164" fmla="*/ 2228206 w 3852820"/>
                <a:gd name="connsiteY164" fmla="*/ 2139519 h 4022719"/>
                <a:gd name="connsiteX165" fmla="*/ 2316983 w 3852820"/>
                <a:gd name="connsiteY165" fmla="*/ 2183907 h 4022719"/>
                <a:gd name="connsiteX166" fmla="*/ 2743111 w 3852820"/>
                <a:gd name="connsiteY166" fmla="*/ 1438183 h 4022719"/>
                <a:gd name="connsiteX167" fmla="*/ 1455849 w 3852820"/>
                <a:gd name="connsiteY167" fmla="*/ 648070 h 4022719"/>
                <a:gd name="connsiteX168" fmla="*/ 763391 w 3852820"/>
                <a:gd name="connsiteY168" fmla="*/ 2583402 h 4022719"/>
                <a:gd name="connsiteX169" fmla="*/ 1065232 w 3852820"/>
                <a:gd name="connsiteY169" fmla="*/ 2974020 h 4022719"/>
                <a:gd name="connsiteX170" fmla="*/ 1597892 w 3852820"/>
                <a:gd name="connsiteY170" fmla="*/ 2849732 h 4022719"/>
                <a:gd name="connsiteX171" fmla="*/ 1402583 w 3852820"/>
                <a:gd name="connsiteY171" fmla="*/ 2006354 h 4022719"/>
                <a:gd name="connsiteX172" fmla="*/ 1074109 w 3852820"/>
                <a:gd name="connsiteY172" fmla="*/ 1970843 h 4022719"/>
                <a:gd name="connsiteX173" fmla="*/ 1020843 w 3852820"/>
                <a:gd name="connsiteY173" fmla="*/ 3551068 h 4022719"/>
                <a:gd name="connsiteX174" fmla="*/ 1855344 w 3852820"/>
                <a:gd name="connsiteY174" fmla="*/ 3542190 h 4022719"/>
                <a:gd name="connsiteX175" fmla="*/ 2601069 w 3852820"/>
                <a:gd name="connsiteY175" fmla="*/ 2325950 h 4022719"/>
                <a:gd name="connsiteX176" fmla="*/ 1722179 w 3852820"/>
                <a:gd name="connsiteY176" fmla="*/ 1766656 h 4022719"/>
                <a:gd name="connsiteX177" fmla="*/ 1198397 w 3852820"/>
                <a:gd name="connsiteY177" fmla="*/ 1793289 h 4022719"/>
                <a:gd name="connsiteX178" fmla="*/ 710125 w 3852820"/>
                <a:gd name="connsiteY178" fmla="*/ 3435658 h 4022719"/>
                <a:gd name="connsiteX179" fmla="*/ 1704424 w 3852820"/>
                <a:gd name="connsiteY179" fmla="*/ 3684233 h 4022719"/>
                <a:gd name="connsiteX180" fmla="*/ 2902909 w 3852820"/>
                <a:gd name="connsiteY180" fmla="*/ 3053919 h 4022719"/>
                <a:gd name="connsiteX181" fmla="*/ 3435570 w 3852820"/>
                <a:gd name="connsiteY181" fmla="*/ 2201662 h 4022719"/>
                <a:gd name="connsiteX182" fmla="*/ 3071585 w 3852820"/>
                <a:gd name="connsiteY182" fmla="*/ 1296140 h 4022719"/>
                <a:gd name="connsiteX183" fmla="*/ 1589014 w 3852820"/>
                <a:gd name="connsiteY183" fmla="*/ 257453 h 4022719"/>
                <a:gd name="connsiteX184" fmla="*/ 861045 w 3852820"/>
                <a:gd name="connsiteY184" fmla="*/ 2077375 h 4022719"/>
                <a:gd name="connsiteX185" fmla="*/ 949822 w 3852820"/>
                <a:gd name="connsiteY185" fmla="*/ 2618913 h 4022719"/>
                <a:gd name="connsiteX186" fmla="*/ 1411461 w 3852820"/>
                <a:gd name="connsiteY186" fmla="*/ 2876365 h 4022719"/>
                <a:gd name="connsiteX187" fmla="*/ 2379127 w 3852820"/>
                <a:gd name="connsiteY187" fmla="*/ 2592280 h 4022719"/>
                <a:gd name="connsiteX188" fmla="*/ 2459026 w 3852820"/>
                <a:gd name="connsiteY188" fmla="*/ 958788 h 4022719"/>
                <a:gd name="connsiteX189" fmla="*/ 1260540 w 3852820"/>
                <a:gd name="connsiteY189" fmla="*/ 443884 h 4022719"/>
                <a:gd name="connsiteX190" fmla="*/ 568082 w 3852820"/>
                <a:gd name="connsiteY190" fmla="*/ 861134 h 4022719"/>
                <a:gd name="connsiteX191" fmla="*/ 816657 w 3852820"/>
                <a:gd name="connsiteY191" fmla="*/ 2743200 h 4022719"/>
                <a:gd name="connsiteX192" fmla="*/ 1606770 w 3852820"/>
                <a:gd name="connsiteY192" fmla="*/ 2725445 h 4022719"/>
                <a:gd name="connsiteX193" fmla="*/ 1597892 w 3852820"/>
                <a:gd name="connsiteY193" fmla="*/ 1322773 h 4022719"/>
                <a:gd name="connsiteX194" fmla="*/ 683492 w 3852820"/>
                <a:gd name="connsiteY194" fmla="*/ 1012055 h 4022719"/>
                <a:gd name="connsiteX195" fmla="*/ 35422 w 3852820"/>
                <a:gd name="connsiteY195" fmla="*/ 2601157 h 4022719"/>
                <a:gd name="connsiteX196" fmla="*/ 514816 w 3852820"/>
                <a:gd name="connsiteY196" fmla="*/ 3151573 h 4022719"/>
                <a:gd name="connsiteX197" fmla="*/ 1544626 w 3852820"/>
                <a:gd name="connsiteY197" fmla="*/ 3107185 h 4022719"/>
                <a:gd name="connsiteX198" fmla="*/ 2086164 w 3852820"/>
                <a:gd name="connsiteY198" fmla="*/ 2902998 h 4022719"/>
                <a:gd name="connsiteX199" fmla="*/ 1970754 w 3852820"/>
                <a:gd name="connsiteY199" fmla="*/ 3551068 h 4022719"/>
                <a:gd name="connsiteX200" fmla="*/ 2538925 w 3852820"/>
                <a:gd name="connsiteY200" fmla="*/ 3923930 h 4022719"/>
                <a:gd name="connsiteX201" fmla="*/ 3852820 w 3852820"/>
                <a:gd name="connsiteY201" fmla="*/ 2858610 h 4022719"/>
                <a:gd name="connsiteX202" fmla="*/ 3746288 w 3852820"/>
                <a:gd name="connsiteY202" fmla="*/ 2192785 h 4022719"/>
                <a:gd name="connsiteX203" fmla="*/ 3479958 w 3852820"/>
                <a:gd name="connsiteY203" fmla="*/ 1970843 h 4022719"/>
                <a:gd name="connsiteX204" fmla="*/ 3178117 w 3852820"/>
                <a:gd name="connsiteY204" fmla="*/ 2396971 h 4022719"/>
                <a:gd name="connsiteX205" fmla="*/ 3124851 w 3852820"/>
                <a:gd name="connsiteY205" fmla="*/ 2769833 h 4022719"/>
                <a:gd name="connsiteX206" fmla="*/ 3169239 w 3852820"/>
                <a:gd name="connsiteY206" fmla="*/ 1305018 h 4022719"/>
                <a:gd name="connsiteX207" fmla="*/ 2547803 w 3852820"/>
                <a:gd name="connsiteY207" fmla="*/ 1189608 h 4022719"/>
                <a:gd name="connsiteX208" fmla="*/ 1935243 w 3852820"/>
                <a:gd name="connsiteY208" fmla="*/ 1722268 h 4022719"/>
                <a:gd name="connsiteX209" fmla="*/ 1837589 w 3852820"/>
                <a:gd name="connsiteY209" fmla="*/ 301841 h 4022719"/>
                <a:gd name="connsiteX210" fmla="*/ 1571259 w 3852820"/>
                <a:gd name="connsiteY210" fmla="*/ 124288 h 4022719"/>
                <a:gd name="connsiteX211" fmla="*/ 1091865 w 3852820"/>
                <a:gd name="connsiteY211" fmla="*/ 497150 h 4022719"/>
                <a:gd name="connsiteX212" fmla="*/ 949822 w 3852820"/>
                <a:gd name="connsiteY212" fmla="*/ 1367161 h 4022719"/>
                <a:gd name="connsiteX213" fmla="*/ 1296051 w 3852820"/>
                <a:gd name="connsiteY213" fmla="*/ 1500326 h 4022719"/>
                <a:gd name="connsiteX214" fmla="*/ 1890855 w 3852820"/>
                <a:gd name="connsiteY214" fmla="*/ 1100831 h 4022719"/>
                <a:gd name="connsiteX215" fmla="*/ 2077286 w 3852820"/>
                <a:gd name="connsiteY215" fmla="*/ 710214 h 4022719"/>
                <a:gd name="connsiteX216" fmla="*/ 861045 w 3852820"/>
                <a:gd name="connsiteY216" fmla="*/ 337352 h 4022719"/>
                <a:gd name="connsiteX217" fmla="*/ 1047476 w 3852820"/>
                <a:gd name="connsiteY217" fmla="*/ 2104008 h 4022719"/>
                <a:gd name="connsiteX218" fmla="*/ 1757690 w 3852820"/>
                <a:gd name="connsiteY218" fmla="*/ 2139519 h 4022719"/>
                <a:gd name="connsiteX219" fmla="*/ 2237084 w 3852820"/>
                <a:gd name="connsiteY219" fmla="*/ 976544 h 4022719"/>
                <a:gd name="connsiteX220" fmla="*/ 1695546 w 3852820"/>
                <a:gd name="connsiteY220" fmla="*/ 781235 h 4022719"/>
                <a:gd name="connsiteX221" fmla="*/ 1517993 w 3852820"/>
                <a:gd name="connsiteY221" fmla="*/ 1695635 h 4022719"/>
                <a:gd name="connsiteX222" fmla="*/ 1500238 w 3852820"/>
                <a:gd name="connsiteY222" fmla="*/ 2148396 h 4022719"/>
                <a:gd name="connsiteX223" fmla="*/ 1544626 w 3852820"/>
                <a:gd name="connsiteY223" fmla="*/ 2210540 h 4022719"/>
                <a:gd name="connsiteX224" fmla="*/ 1633403 w 3852820"/>
                <a:gd name="connsiteY224" fmla="*/ 2237173 h 4022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Lst>
              <a:rect l="l" t="t" r="r" b="b"/>
              <a:pathLst>
                <a:path w="3852820" h="4022719">
                  <a:moveTo>
                    <a:pt x="3613123" y="763480"/>
                  </a:moveTo>
                  <a:lnTo>
                    <a:pt x="3178117" y="772357"/>
                  </a:lnTo>
                  <a:cubicBezTo>
                    <a:pt x="3013286" y="786485"/>
                    <a:pt x="2988249" y="823414"/>
                    <a:pt x="2849643" y="887767"/>
                  </a:cubicBezTo>
                  <a:cubicBezTo>
                    <a:pt x="2663961" y="973976"/>
                    <a:pt x="2811941" y="892823"/>
                    <a:pt x="2680968" y="967666"/>
                  </a:cubicBezTo>
                  <a:cubicBezTo>
                    <a:pt x="2654335" y="1026851"/>
                    <a:pt x="2615859" y="1082027"/>
                    <a:pt x="2601069" y="1145220"/>
                  </a:cubicBezTo>
                  <a:cubicBezTo>
                    <a:pt x="2582811" y="1223230"/>
                    <a:pt x="2582591" y="1304802"/>
                    <a:pt x="2583313" y="1384917"/>
                  </a:cubicBezTo>
                  <a:cubicBezTo>
                    <a:pt x="2585554" y="1633640"/>
                    <a:pt x="2574244" y="1884483"/>
                    <a:pt x="2609946" y="2130641"/>
                  </a:cubicBezTo>
                  <a:cubicBezTo>
                    <a:pt x="2631035" y="2276041"/>
                    <a:pt x="2751989" y="2547891"/>
                    <a:pt x="2751989" y="2547891"/>
                  </a:cubicBezTo>
                  <a:cubicBezTo>
                    <a:pt x="2725356" y="2648505"/>
                    <a:pt x="2723116" y="2759019"/>
                    <a:pt x="2672090" y="2849732"/>
                  </a:cubicBezTo>
                  <a:cubicBezTo>
                    <a:pt x="2614088" y="2952847"/>
                    <a:pt x="2410764" y="3015554"/>
                    <a:pt x="2316983" y="3053919"/>
                  </a:cubicBezTo>
                  <a:cubicBezTo>
                    <a:pt x="2131551" y="3048124"/>
                    <a:pt x="2009299" y="3071455"/>
                    <a:pt x="1846467" y="2982897"/>
                  </a:cubicBezTo>
                  <a:cubicBezTo>
                    <a:pt x="1733990" y="2921725"/>
                    <a:pt x="1640947" y="2827968"/>
                    <a:pt x="1526871" y="2769833"/>
                  </a:cubicBezTo>
                  <a:cubicBezTo>
                    <a:pt x="1331959" y="2670503"/>
                    <a:pt x="923189" y="2512381"/>
                    <a:pt x="923189" y="2512381"/>
                  </a:cubicBezTo>
                  <a:cubicBezTo>
                    <a:pt x="718357" y="2323305"/>
                    <a:pt x="683953" y="2341976"/>
                    <a:pt x="594715" y="2104008"/>
                  </a:cubicBezTo>
                  <a:cubicBezTo>
                    <a:pt x="584273" y="2076162"/>
                    <a:pt x="588797" y="2044823"/>
                    <a:pt x="585838" y="2015231"/>
                  </a:cubicBezTo>
                  <a:cubicBezTo>
                    <a:pt x="779496" y="1814895"/>
                    <a:pt x="938649" y="1609577"/>
                    <a:pt x="1216152" y="1509204"/>
                  </a:cubicBezTo>
                  <a:cubicBezTo>
                    <a:pt x="1362162" y="1456392"/>
                    <a:pt x="1523911" y="1467775"/>
                    <a:pt x="1677791" y="1447060"/>
                  </a:cubicBezTo>
                  <a:cubicBezTo>
                    <a:pt x="2623806" y="1535749"/>
                    <a:pt x="2328193" y="1349870"/>
                    <a:pt x="2849643" y="1784412"/>
                  </a:cubicBezTo>
                  <a:cubicBezTo>
                    <a:pt x="2886650" y="1815251"/>
                    <a:pt x="2920664" y="1849515"/>
                    <a:pt x="2956175" y="1882066"/>
                  </a:cubicBezTo>
                  <a:cubicBezTo>
                    <a:pt x="2973930" y="1932373"/>
                    <a:pt x="2998451" y="1980783"/>
                    <a:pt x="3009441" y="2032987"/>
                  </a:cubicBezTo>
                  <a:cubicBezTo>
                    <a:pt x="3036049" y="2159376"/>
                    <a:pt x="3049445" y="2272622"/>
                    <a:pt x="2956175" y="2379216"/>
                  </a:cubicBezTo>
                  <a:cubicBezTo>
                    <a:pt x="2867817" y="2480197"/>
                    <a:pt x="2742167" y="2544107"/>
                    <a:pt x="2654335" y="2645546"/>
                  </a:cubicBezTo>
                  <a:cubicBezTo>
                    <a:pt x="2223274" y="3143392"/>
                    <a:pt x="2506059" y="3018368"/>
                    <a:pt x="2103919" y="3258105"/>
                  </a:cubicBezTo>
                  <a:cubicBezTo>
                    <a:pt x="2026613" y="3304191"/>
                    <a:pt x="1944121" y="3340963"/>
                    <a:pt x="1864222" y="3382392"/>
                  </a:cubicBezTo>
                  <a:cubicBezTo>
                    <a:pt x="1721830" y="3372221"/>
                    <a:pt x="1453698" y="3372005"/>
                    <a:pt x="1296051" y="3311371"/>
                  </a:cubicBezTo>
                  <a:cubicBezTo>
                    <a:pt x="1241576" y="3290419"/>
                    <a:pt x="1195438" y="3252186"/>
                    <a:pt x="1145131" y="3222594"/>
                  </a:cubicBezTo>
                  <a:cubicBezTo>
                    <a:pt x="1118498" y="3175247"/>
                    <a:pt x="1077447" y="3133485"/>
                    <a:pt x="1065232" y="3080552"/>
                  </a:cubicBezTo>
                  <a:cubicBezTo>
                    <a:pt x="989807" y="2753712"/>
                    <a:pt x="1000898" y="2175168"/>
                    <a:pt x="994210" y="1890944"/>
                  </a:cubicBezTo>
                  <a:cubicBezTo>
                    <a:pt x="1013380" y="1628949"/>
                    <a:pt x="1068983" y="1256551"/>
                    <a:pt x="1038599" y="958788"/>
                  </a:cubicBezTo>
                  <a:cubicBezTo>
                    <a:pt x="1030697" y="881345"/>
                    <a:pt x="1018355" y="804302"/>
                    <a:pt x="1003088" y="727969"/>
                  </a:cubicBezTo>
                  <a:cubicBezTo>
                    <a:pt x="997582" y="700441"/>
                    <a:pt x="997027" y="667173"/>
                    <a:pt x="976455" y="648070"/>
                  </a:cubicBezTo>
                  <a:cubicBezTo>
                    <a:pt x="951073" y="624501"/>
                    <a:pt x="911352" y="624396"/>
                    <a:pt x="878801" y="612559"/>
                  </a:cubicBezTo>
                  <a:cubicBezTo>
                    <a:pt x="810739" y="642151"/>
                    <a:pt x="732445" y="654820"/>
                    <a:pt x="674614" y="701336"/>
                  </a:cubicBezTo>
                  <a:cubicBezTo>
                    <a:pt x="512526" y="831711"/>
                    <a:pt x="427957" y="1015356"/>
                    <a:pt x="328385" y="1189608"/>
                  </a:cubicBezTo>
                  <a:cubicBezTo>
                    <a:pt x="325426" y="1328691"/>
                    <a:pt x="295157" y="1469891"/>
                    <a:pt x="319507" y="1606858"/>
                  </a:cubicBezTo>
                  <a:cubicBezTo>
                    <a:pt x="343457" y="1741576"/>
                    <a:pt x="415198" y="1863410"/>
                    <a:pt x="470428" y="1988598"/>
                  </a:cubicBezTo>
                  <a:cubicBezTo>
                    <a:pt x="544787" y="2157145"/>
                    <a:pt x="612968" y="2311456"/>
                    <a:pt x="807779" y="2379216"/>
                  </a:cubicBezTo>
                  <a:cubicBezTo>
                    <a:pt x="998535" y="2445566"/>
                    <a:pt x="1204315" y="2456155"/>
                    <a:pt x="1402583" y="2494625"/>
                  </a:cubicBezTo>
                  <a:cubicBezTo>
                    <a:pt x="1479523" y="2485747"/>
                    <a:pt x="1572721" y="2516119"/>
                    <a:pt x="1633403" y="2467992"/>
                  </a:cubicBezTo>
                  <a:cubicBezTo>
                    <a:pt x="1877399" y="2274478"/>
                    <a:pt x="1951976" y="2000034"/>
                    <a:pt x="2059531" y="1731146"/>
                  </a:cubicBezTo>
                  <a:cubicBezTo>
                    <a:pt x="2074728" y="1427184"/>
                    <a:pt x="2080353" y="1499874"/>
                    <a:pt x="2015142" y="1056443"/>
                  </a:cubicBezTo>
                  <a:cubicBezTo>
                    <a:pt x="1952186" y="628344"/>
                    <a:pt x="2048317" y="715915"/>
                    <a:pt x="1846467" y="594804"/>
                  </a:cubicBezTo>
                  <a:cubicBezTo>
                    <a:pt x="1742166" y="678245"/>
                    <a:pt x="1540433" y="794976"/>
                    <a:pt x="1517993" y="958788"/>
                  </a:cubicBezTo>
                  <a:cubicBezTo>
                    <a:pt x="1497093" y="1111357"/>
                    <a:pt x="1522806" y="1266978"/>
                    <a:pt x="1535748" y="1420427"/>
                  </a:cubicBezTo>
                  <a:cubicBezTo>
                    <a:pt x="1553813" y="1634620"/>
                    <a:pt x="1609594" y="1889117"/>
                    <a:pt x="1748812" y="2059620"/>
                  </a:cubicBezTo>
                  <a:cubicBezTo>
                    <a:pt x="2040773" y="2417190"/>
                    <a:pt x="2503242" y="2796359"/>
                    <a:pt x="2902909" y="3045041"/>
                  </a:cubicBezTo>
                  <a:cubicBezTo>
                    <a:pt x="2985058" y="3096156"/>
                    <a:pt x="3080462" y="3121981"/>
                    <a:pt x="3169239" y="3160451"/>
                  </a:cubicBezTo>
                  <a:cubicBezTo>
                    <a:pt x="3240261" y="3240350"/>
                    <a:pt x="3325973" y="3309292"/>
                    <a:pt x="3382304" y="3400148"/>
                  </a:cubicBezTo>
                  <a:cubicBezTo>
                    <a:pt x="3419793" y="3460614"/>
                    <a:pt x="3469590" y="3537780"/>
                    <a:pt x="3444447" y="3604334"/>
                  </a:cubicBezTo>
                  <a:cubicBezTo>
                    <a:pt x="3318819" y="3936878"/>
                    <a:pt x="2786654" y="3811996"/>
                    <a:pt x="2592191" y="3817398"/>
                  </a:cubicBezTo>
                  <a:cubicBezTo>
                    <a:pt x="2126217" y="3724204"/>
                    <a:pt x="2017802" y="3793035"/>
                    <a:pt x="1722179" y="3355759"/>
                  </a:cubicBezTo>
                  <a:cubicBezTo>
                    <a:pt x="1671772" y="3281198"/>
                    <a:pt x="1692587" y="3178206"/>
                    <a:pt x="1677791" y="3089429"/>
                  </a:cubicBezTo>
                  <a:cubicBezTo>
                    <a:pt x="1722179" y="2962182"/>
                    <a:pt x="1721925" y="2808860"/>
                    <a:pt x="1810956" y="2707689"/>
                  </a:cubicBezTo>
                  <a:cubicBezTo>
                    <a:pt x="1928659" y="2573935"/>
                    <a:pt x="2114658" y="2521202"/>
                    <a:pt x="2263717" y="2423604"/>
                  </a:cubicBezTo>
                  <a:cubicBezTo>
                    <a:pt x="2579907" y="2216575"/>
                    <a:pt x="2497650" y="2281920"/>
                    <a:pt x="2707601" y="2059620"/>
                  </a:cubicBezTo>
                  <a:cubicBezTo>
                    <a:pt x="2725356" y="1994517"/>
                    <a:pt x="2780131" y="1928984"/>
                    <a:pt x="2760867" y="1864311"/>
                  </a:cubicBezTo>
                  <a:cubicBezTo>
                    <a:pt x="2674472" y="1574273"/>
                    <a:pt x="2382146" y="1588998"/>
                    <a:pt x="2148307" y="1526959"/>
                  </a:cubicBezTo>
                  <a:cubicBezTo>
                    <a:pt x="2074327" y="1556551"/>
                    <a:pt x="1988417" y="1565751"/>
                    <a:pt x="1926366" y="1615736"/>
                  </a:cubicBezTo>
                  <a:cubicBezTo>
                    <a:pt x="1631421" y="1853331"/>
                    <a:pt x="2079822" y="2194485"/>
                    <a:pt x="2245962" y="2334827"/>
                  </a:cubicBezTo>
                  <a:cubicBezTo>
                    <a:pt x="2553208" y="2594364"/>
                    <a:pt x="2909947" y="2790262"/>
                    <a:pt x="3258016" y="2991775"/>
                  </a:cubicBezTo>
                  <a:cubicBezTo>
                    <a:pt x="3314241" y="3024326"/>
                    <a:pt x="3368583" y="3060374"/>
                    <a:pt x="3426692" y="3089429"/>
                  </a:cubicBezTo>
                  <a:cubicBezTo>
                    <a:pt x="3457672" y="3104919"/>
                    <a:pt x="3491795" y="3113103"/>
                    <a:pt x="3524346" y="3124940"/>
                  </a:cubicBezTo>
                  <a:cubicBezTo>
                    <a:pt x="3536183" y="3142695"/>
                    <a:pt x="3570763" y="3159864"/>
                    <a:pt x="3559857" y="3178206"/>
                  </a:cubicBezTo>
                  <a:cubicBezTo>
                    <a:pt x="3377036" y="3485679"/>
                    <a:pt x="3277585" y="3481023"/>
                    <a:pt x="2965053" y="3648722"/>
                  </a:cubicBezTo>
                  <a:cubicBezTo>
                    <a:pt x="2796377" y="3562905"/>
                    <a:pt x="2603498" y="3513515"/>
                    <a:pt x="2459026" y="3391270"/>
                  </a:cubicBezTo>
                  <a:cubicBezTo>
                    <a:pt x="2397574" y="3339272"/>
                    <a:pt x="2378599" y="3240399"/>
                    <a:pt x="2388005" y="3160451"/>
                  </a:cubicBezTo>
                  <a:cubicBezTo>
                    <a:pt x="2425112" y="2845041"/>
                    <a:pt x="2548631" y="2635012"/>
                    <a:pt x="2680968" y="2370338"/>
                  </a:cubicBezTo>
                  <a:cubicBezTo>
                    <a:pt x="2692805" y="2266765"/>
                    <a:pt x="2765159" y="2151802"/>
                    <a:pt x="2716478" y="2059620"/>
                  </a:cubicBezTo>
                  <a:cubicBezTo>
                    <a:pt x="2436376" y="1529215"/>
                    <a:pt x="2231527" y="1571496"/>
                    <a:pt x="1739935" y="1438183"/>
                  </a:cubicBezTo>
                  <a:cubicBezTo>
                    <a:pt x="1555069" y="1535017"/>
                    <a:pt x="1100824" y="1690916"/>
                    <a:pt x="1136253" y="2015231"/>
                  </a:cubicBezTo>
                  <a:cubicBezTo>
                    <a:pt x="1190539" y="2512155"/>
                    <a:pt x="1708097" y="2960422"/>
                    <a:pt x="2103919" y="3169328"/>
                  </a:cubicBezTo>
                  <a:cubicBezTo>
                    <a:pt x="2203678" y="3221979"/>
                    <a:pt x="2328820" y="3187083"/>
                    <a:pt x="2441271" y="3195961"/>
                  </a:cubicBezTo>
                  <a:cubicBezTo>
                    <a:pt x="2494537" y="3119021"/>
                    <a:pt x="2615664" y="3057576"/>
                    <a:pt x="2601069" y="2965142"/>
                  </a:cubicBezTo>
                  <a:cubicBezTo>
                    <a:pt x="2481086" y="2205253"/>
                    <a:pt x="2281921" y="2184263"/>
                    <a:pt x="1766568" y="1775534"/>
                  </a:cubicBezTo>
                  <a:cubicBezTo>
                    <a:pt x="1624525" y="1784412"/>
                    <a:pt x="1443786" y="1704318"/>
                    <a:pt x="1340439" y="1802167"/>
                  </a:cubicBezTo>
                  <a:cubicBezTo>
                    <a:pt x="555483" y="2545371"/>
                    <a:pt x="1041033" y="3106686"/>
                    <a:pt x="1633403" y="3888420"/>
                  </a:cubicBezTo>
                  <a:cubicBezTo>
                    <a:pt x="1713190" y="3993713"/>
                    <a:pt x="1887896" y="3959441"/>
                    <a:pt x="2015142" y="3994952"/>
                  </a:cubicBezTo>
                  <a:cubicBezTo>
                    <a:pt x="2194011" y="3892741"/>
                    <a:pt x="2211106" y="3934234"/>
                    <a:pt x="2095041" y="3630967"/>
                  </a:cubicBezTo>
                  <a:cubicBezTo>
                    <a:pt x="2037300" y="3480097"/>
                    <a:pt x="1946127" y="3344078"/>
                    <a:pt x="1864222" y="3204839"/>
                  </a:cubicBezTo>
                  <a:cubicBezTo>
                    <a:pt x="1856720" y="3192086"/>
                    <a:pt x="1813915" y="3178206"/>
                    <a:pt x="1828711" y="3178206"/>
                  </a:cubicBezTo>
                  <a:cubicBezTo>
                    <a:pt x="1853995" y="3178206"/>
                    <a:pt x="1878103" y="3191747"/>
                    <a:pt x="1899733" y="3204839"/>
                  </a:cubicBezTo>
                  <a:cubicBezTo>
                    <a:pt x="2103414" y="3328120"/>
                    <a:pt x="2285009" y="3491799"/>
                    <a:pt x="2503414" y="3586579"/>
                  </a:cubicBezTo>
                  <a:cubicBezTo>
                    <a:pt x="2606891" y="3631484"/>
                    <a:pt x="2728315" y="3604334"/>
                    <a:pt x="2840766" y="3613212"/>
                  </a:cubicBezTo>
                  <a:cubicBezTo>
                    <a:pt x="3057267" y="2974533"/>
                    <a:pt x="3176695" y="3156255"/>
                    <a:pt x="2609946" y="2743200"/>
                  </a:cubicBezTo>
                  <a:cubicBezTo>
                    <a:pt x="2577419" y="2719494"/>
                    <a:pt x="2533007" y="2719526"/>
                    <a:pt x="2494537" y="2707689"/>
                  </a:cubicBezTo>
                  <a:cubicBezTo>
                    <a:pt x="2478211" y="2774249"/>
                    <a:pt x="2166064" y="3542190"/>
                    <a:pt x="2627702" y="3542190"/>
                  </a:cubicBezTo>
                  <a:cubicBezTo>
                    <a:pt x="2860147" y="3542190"/>
                    <a:pt x="3024238" y="3299534"/>
                    <a:pt x="3222506" y="3178206"/>
                  </a:cubicBezTo>
                  <a:cubicBezTo>
                    <a:pt x="3210669" y="2956264"/>
                    <a:pt x="3290510" y="2709060"/>
                    <a:pt x="3186995" y="2512381"/>
                  </a:cubicBezTo>
                  <a:cubicBezTo>
                    <a:pt x="2798148" y="1773571"/>
                    <a:pt x="2578318" y="1841376"/>
                    <a:pt x="1952999" y="1722268"/>
                  </a:cubicBezTo>
                  <a:cubicBezTo>
                    <a:pt x="1879018" y="1781452"/>
                    <a:pt x="1759013" y="1809298"/>
                    <a:pt x="1731057" y="1899821"/>
                  </a:cubicBezTo>
                  <a:cubicBezTo>
                    <a:pt x="1562326" y="2446187"/>
                    <a:pt x="1953583" y="2397879"/>
                    <a:pt x="2343616" y="2547891"/>
                  </a:cubicBezTo>
                  <a:cubicBezTo>
                    <a:pt x="2603663" y="2094907"/>
                    <a:pt x="2864522" y="1903786"/>
                    <a:pt x="2414638" y="1331651"/>
                  </a:cubicBezTo>
                  <a:cubicBezTo>
                    <a:pt x="2273936" y="1152715"/>
                    <a:pt x="2006265" y="1130424"/>
                    <a:pt x="1802078" y="1029810"/>
                  </a:cubicBezTo>
                  <a:cubicBezTo>
                    <a:pt x="1253694" y="1148089"/>
                    <a:pt x="1274466" y="1048239"/>
                    <a:pt x="914311" y="1633491"/>
                  </a:cubicBezTo>
                  <a:cubicBezTo>
                    <a:pt x="881705" y="1686476"/>
                    <a:pt x="866679" y="1793898"/>
                    <a:pt x="923189" y="1819922"/>
                  </a:cubicBezTo>
                  <a:cubicBezTo>
                    <a:pt x="1128263" y="1914364"/>
                    <a:pt x="1367072" y="1902781"/>
                    <a:pt x="1589014" y="1944210"/>
                  </a:cubicBezTo>
                  <a:cubicBezTo>
                    <a:pt x="1739934" y="1861352"/>
                    <a:pt x="1973404" y="1853647"/>
                    <a:pt x="2041775" y="1695635"/>
                  </a:cubicBezTo>
                  <a:cubicBezTo>
                    <a:pt x="2302797" y="1092385"/>
                    <a:pt x="1649320" y="592740"/>
                    <a:pt x="1287173" y="319596"/>
                  </a:cubicBezTo>
                  <a:cubicBezTo>
                    <a:pt x="1192052" y="247852"/>
                    <a:pt x="1056354" y="260412"/>
                    <a:pt x="940944" y="230820"/>
                  </a:cubicBezTo>
                  <a:cubicBezTo>
                    <a:pt x="828494" y="411332"/>
                    <a:pt x="665946" y="569030"/>
                    <a:pt x="603593" y="772357"/>
                  </a:cubicBezTo>
                  <a:cubicBezTo>
                    <a:pt x="451971" y="1266777"/>
                    <a:pt x="497353" y="1701456"/>
                    <a:pt x="727880" y="2148396"/>
                  </a:cubicBezTo>
                  <a:cubicBezTo>
                    <a:pt x="781630" y="2252605"/>
                    <a:pt x="887678" y="2320031"/>
                    <a:pt x="967577" y="2405849"/>
                  </a:cubicBezTo>
                  <a:cubicBezTo>
                    <a:pt x="1148090" y="2370338"/>
                    <a:pt x="1381091" y="2431437"/>
                    <a:pt x="1509115" y="2299317"/>
                  </a:cubicBezTo>
                  <a:cubicBezTo>
                    <a:pt x="1885109" y="1911291"/>
                    <a:pt x="2373763" y="1175367"/>
                    <a:pt x="1855344" y="656948"/>
                  </a:cubicBezTo>
                  <a:cubicBezTo>
                    <a:pt x="1727428" y="529032"/>
                    <a:pt x="1506156" y="562253"/>
                    <a:pt x="1331562" y="514905"/>
                  </a:cubicBezTo>
                  <a:cubicBezTo>
                    <a:pt x="1036708" y="1201110"/>
                    <a:pt x="513494" y="1921332"/>
                    <a:pt x="940944" y="2725445"/>
                  </a:cubicBezTo>
                  <a:cubicBezTo>
                    <a:pt x="1098466" y="3021774"/>
                    <a:pt x="1473605" y="3133818"/>
                    <a:pt x="1739935" y="3338004"/>
                  </a:cubicBezTo>
                  <a:cubicBezTo>
                    <a:pt x="1958917" y="3222594"/>
                    <a:pt x="2257494" y="3196332"/>
                    <a:pt x="2396882" y="2991775"/>
                  </a:cubicBezTo>
                  <a:cubicBezTo>
                    <a:pt x="2824490" y="2364246"/>
                    <a:pt x="2132154" y="2117332"/>
                    <a:pt x="1793201" y="1864311"/>
                  </a:cubicBezTo>
                  <a:cubicBezTo>
                    <a:pt x="1633403" y="1973802"/>
                    <a:pt x="1408727" y="2023925"/>
                    <a:pt x="1313806" y="2192785"/>
                  </a:cubicBezTo>
                  <a:cubicBezTo>
                    <a:pt x="1071739" y="2623409"/>
                    <a:pt x="589725" y="3610014"/>
                    <a:pt x="1384828" y="3941686"/>
                  </a:cubicBezTo>
                  <a:cubicBezTo>
                    <a:pt x="1729643" y="4085523"/>
                    <a:pt x="2130552" y="3989033"/>
                    <a:pt x="2503414" y="4012707"/>
                  </a:cubicBezTo>
                  <a:cubicBezTo>
                    <a:pt x="2698723" y="3888420"/>
                    <a:pt x="2967150" y="3836473"/>
                    <a:pt x="3089340" y="3639845"/>
                  </a:cubicBezTo>
                  <a:cubicBezTo>
                    <a:pt x="3472606" y="3023096"/>
                    <a:pt x="3253706" y="2634769"/>
                    <a:pt x="3027197" y="2068497"/>
                  </a:cubicBezTo>
                  <a:cubicBezTo>
                    <a:pt x="2901809" y="1755027"/>
                    <a:pt x="2939386" y="1822870"/>
                    <a:pt x="2689845" y="1686757"/>
                  </a:cubicBezTo>
                  <a:cubicBezTo>
                    <a:pt x="2512684" y="1827830"/>
                    <a:pt x="1795998" y="2196819"/>
                    <a:pt x="2201573" y="2636668"/>
                  </a:cubicBezTo>
                  <a:cubicBezTo>
                    <a:pt x="2348341" y="2795839"/>
                    <a:pt x="2627702" y="2713608"/>
                    <a:pt x="2840766" y="2752078"/>
                  </a:cubicBezTo>
                  <a:cubicBezTo>
                    <a:pt x="3569922" y="1979519"/>
                    <a:pt x="3856117" y="2004798"/>
                    <a:pt x="3684144" y="807868"/>
                  </a:cubicBezTo>
                  <a:cubicBezTo>
                    <a:pt x="3660218" y="641344"/>
                    <a:pt x="3471080" y="547457"/>
                    <a:pt x="3364548" y="417251"/>
                  </a:cubicBezTo>
                  <a:cubicBezTo>
                    <a:pt x="3263934" y="423169"/>
                    <a:pt x="3141958" y="372737"/>
                    <a:pt x="3062707" y="435006"/>
                  </a:cubicBezTo>
                  <a:cubicBezTo>
                    <a:pt x="2751625" y="679427"/>
                    <a:pt x="2245962" y="1296140"/>
                    <a:pt x="2245962" y="1296140"/>
                  </a:cubicBezTo>
                  <a:cubicBezTo>
                    <a:pt x="2441783" y="1557238"/>
                    <a:pt x="2396189" y="1519899"/>
                    <a:pt x="2778622" y="612559"/>
                  </a:cubicBezTo>
                  <a:cubicBezTo>
                    <a:pt x="2969722" y="159165"/>
                    <a:pt x="2329516" y="88639"/>
                    <a:pt x="2121674" y="0"/>
                  </a:cubicBezTo>
                  <a:cubicBezTo>
                    <a:pt x="1917488" y="121328"/>
                    <a:pt x="1639052" y="165166"/>
                    <a:pt x="1509115" y="363985"/>
                  </a:cubicBezTo>
                  <a:cubicBezTo>
                    <a:pt x="1169467" y="883688"/>
                    <a:pt x="1421997" y="1469509"/>
                    <a:pt x="1855344" y="1811045"/>
                  </a:cubicBezTo>
                  <a:cubicBezTo>
                    <a:pt x="2010924" y="1933663"/>
                    <a:pt x="2240043" y="1905740"/>
                    <a:pt x="2432393" y="1953088"/>
                  </a:cubicBezTo>
                  <a:cubicBezTo>
                    <a:pt x="2618824" y="1799208"/>
                    <a:pt x="2855640" y="1691266"/>
                    <a:pt x="2991686" y="1491449"/>
                  </a:cubicBezTo>
                  <a:cubicBezTo>
                    <a:pt x="3325291" y="1001466"/>
                    <a:pt x="2290831" y="666229"/>
                    <a:pt x="2192696" y="603682"/>
                  </a:cubicBezTo>
                  <a:cubicBezTo>
                    <a:pt x="1702693" y="914794"/>
                    <a:pt x="1098413" y="1110617"/>
                    <a:pt x="1420339" y="1988598"/>
                  </a:cubicBezTo>
                  <a:cubicBezTo>
                    <a:pt x="1507955" y="2227552"/>
                    <a:pt x="1887896" y="2189825"/>
                    <a:pt x="2121674" y="2290439"/>
                  </a:cubicBezTo>
                  <a:cubicBezTo>
                    <a:pt x="2315634" y="2190972"/>
                    <a:pt x="3351357" y="1884739"/>
                    <a:pt x="2956175" y="1287262"/>
                  </a:cubicBezTo>
                  <a:cubicBezTo>
                    <a:pt x="2770643" y="1006756"/>
                    <a:pt x="2364330" y="967666"/>
                    <a:pt x="2068408" y="807868"/>
                  </a:cubicBezTo>
                  <a:cubicBezTo>
                    <a:pt x="1601669" y="1347033"/>
                    <a:pt x="1219122" y="1491469"/>
                    <a:pt x="1668913" y="2334827"/>
                  </a:cubicBezTo>
                  <a:cubicBezTo>
                    <a:pt x="1761086" y="2507652"/>
                    <a:pt x="2018102" y="2512380"/>
                    <a:pt x="2192696" y="2601157"/>
                  </a:cubicBezTo>
                  <a:cubicBezTo>
                    <a:pt x="2631312" y="2258137"/>
                    <a:pt x="3277803" y="1999054"/>
                    <a:pt x="3036074" y="1242874"/>
                  </a:cubicBezTo>
                  <a:cubicBezTo>
                    <a:pt x="2978830" y="1063803"/>
                    <a:pt x="2704641" y="1065321"/>
                    <a:pt x="2538925" y="976544"/>
                  </a:cubicBezTo>
                  <a:cubicBezTo>
                    <a:pt x="2432393" y="1210323"/>
                    <a:pt x="2267762" y="1425579"/>
                    <a:pt x="2219329" y="1677880"/>
                  </a:cubicBezTo>
                  <a:cubicBezTo>
                    <a:pt x="2019589" y="2718388"/>
                    <a:pt x="2060506" y="2681550"/>
                    <a:pt x="2290350" y="3355759"/>
                  </a:cubicBezTo>
                  <a:cubicBezTo>
                    <a:pt x="2993818" y="3298721"/>
                    <a:pt x="3047403" y="3455633"/>
                    <a:pt x="3417814" y="2707689"/>
                  </a:cubicBezTo>
                  <a:cubicBezTo>
                    <a:pt x="3467736" y="2606884"/>
                    <a:pt x="3489479" y="2448867"/>
                    <a:pt x="3408937" y="2370338"/>
                  </a:cubicBezTo>
                  <a:cubicBezTo>
                    <a:pt x="3221318" y="2187409"/>
                    <a:pt x="2941380" y="2133600"/>
                    <a:pt x="2707601" y="2015231"/>
                  </a:cubicBezTo>
                  <a:cubicBezTo>
                    <a:pt x="2562599" y="2068497"/>
                    <a:pt x="2350918" y="2041881"/>
                    <a:pt x="2272595" y="2175029"/>
                  </a:cubicBezTo>
                  <a:cubicBezTo>
                    <a:pt x="1870027" y="2859394"/>
                    <a:pt x="2175582" y="2921282"/>
                    <a:pt x="2574436" y="3249227"/>
                  </a:cubicBezTo>
                  <a:cubicBezTo>
                    <a:pt x="2737193" y="3216676"/>
                    <a:pt x="2952570" y="3275747"/>
                    <a:pt x="3062707" y="3151573"/>
                  </a:cubicBezTo>
                  <a:cubicBezTo>
                    <a:pt x="3770113" y="2354007"/>
                    <a:pt x="3483741" y="1764827"/>
                    <a:pt x="2902909" y="941033"/>
                  </a:cubicBezTo>
                  <a:cubicBezTo>
                    <a:pt x="2709023" y="666044"/>
                    <a:pt x="2382086" y="514905"/>
                    <a:pt x="2121674" y="301841"/>
                  </a:cubicBezTo>
                  <a:cubicBezTo>
                    <a:pt x="1507367" y="400131"/>
                    <a:pt x="1764843" y="292841"/>
                    <a:pt x="1455849" y="1535837"/>
                  </a:cubicBezTo>
                  <a:cubicBezTo>
                    <a:pt x="1425561" y="1657678"/>
                    <a:pt x="1437651" y="1805473"/>
                    <a:pt x="1509115" y="1908699"/>
                  </a:cubicBezTo>
                  <a:cubicBezTo>
                    <a:pt x="1562381" y="1985639"/>
                    <a:pt x="1686668" y="1967884"/>
                    <a:pt x="1775445" y="1997476"/>
                  </a:cubicBezTo>
                  <a:cubicBezTo>
                    <a:pt x="1887896" y="1615736"/>
                    <a:pt x="2075786" y="1248489"/>
                    <a:pt x="2112797" y="852256"/>
                  </a:cubicBezTo>
                  <a:cubicBezTo>
                    <a:pt x="2128487" y="684286"/>
                    <a:pt x="2080923" y="449359"/>
                    <a:pt x="1926366" y="381740"/>
                  </a:cubicBezTo>
                  <a:cubicBezTo>
                    <a:pt x="1759132" y="308575"/>
                    <a:pt x="1577177" y="488272"/>
                    <a:pt x="1402583" y="541538"/>
                  </a:cubicBezTo>
                  <a:cubicBezTo>
                    <a:pt x="1361431" y="710987"/>
                    <a:pt x="879407" y="2170558"/>
                    <a:pt x="1145131" y="2565647"/>
                  </a:cubicBezTo>
                  <a:cubicBezTo>
                    <a:pt x="1269444" y="2750480"/>
                    <a:pt x="1565340" y="2713608"/>
                    <a:pt x="1775445" y="2787588"/>
                  </a:cubicBezTo>
                  <a:cubicBezTo>
                    <a:pt x="1902692" y="2669219"/>
                    <a:pt x="2096378" y="2595287"/>
                    <a:pt x="2157185" y="2432482"/>
                  </a:cubicBezTo>
                  <a:cubicBezTo>
                    <a:pt x="2334810" y="1956905"/>
                    <a:pt x="1653382" y="1930357"/>
                    <a:pt x="1464727" y="1873188"/>
                  </a:cubicBezTo>
                  <a:cubicBezTo>
                    <a:pt x="1195552" y="2402255"/>
                    <a:pt x="905504" y="2762102"/>
                    <a:pt x="1269418" y="3462291"/>
                  </a:cubicBezTo>
                  <a:cubicBezTo>
                    <a:pt x="1375865" y="3667100"/>
                    <a:pt x="1695546" y="3639844"/>
                    <a:pt x="1908610" y="3728621"/>
                  </a:cubicBezTo>
                  <a:cubicBezTo>
                    <a:pt x="2521305" y="3483543"/>
                    <a:pt x="3141857" y="3488110"/>
                    <a:pt x="3089340" y="2601157"/>
                  </a:cubicBezTo>
                  <a:cubicBezTo>
                    <a:pt x="3075804" y="2372547"/>
                    <a:pt x="2840765" y="2216458"/>
                    <a:pt x="2716478" y="2024109"/>
                  </a:cubicBezTo>
                  <a:cubicBezTo>
                    <a:pt x="2514061" y="2371656"/>
                    <a:pt x="1834508" y="2990148"/>
                    <a:pt x="2574436" y="3355759"/>
                  </a:cubicBezTo>
                  <a:cubicBezTo>
                    <a:pt x="2709532" y="3422512"/>
                    <a:pt x="2858521" y="3255146"/>
                    <a:pt x="3000564" y="3204839"/>
                  </a:cubicBezTo>
                  <a:cubicBezTo>
                    <a:pt x="3438629" y="2206627"/>
                    <a:pt x="3831218" y="1999851"/>
                    <a:pt x="3293527" y="994299"/>
                  </a:cubicBezTo>
                  <a:cubicBezTo>
                    <a:pt x="3210305" y="838662"/>
                    <a:pt x="3003523" y="793072"/>
                    <a:pt x="2858521" y="692458"/>
                  </a:cubicBezTo>
                  <a:cubicBezTo>
                    <a:pt x="2280101" y="1408598"/>
                    <a:pt x="2208144" y="1236710"/>
                    <a:pt x="2228206" y="2139519"/>
                  </a:cubicBezTo>
                  <a:cubicBezTo>
                    <a:pt x="2228941" y="2172596"/>
                    <a:pt x="2287391" y="2169111"/>
                    <a:pt x="2316983" y="2183907"/>
                  </a:cubicBezTo>
                  <a:cubicBezTo>
                    <a:pt x="2459026" y="1935332"/>
                    <a:pt x="2748798" y="1724423"/>
                    <a:pt x="2743111" y="1438183"/>
                  </a:cubicBezTo>
                  <a:cubicBezTo>
                    <a:pt x="2729625" y="759366"/>
                    <a:pt x="1830937" y="735857"/>
                    <a:pt x="1455849" y="648070"/>
                  </a:cubicBezTo>
                  <a:cubicBezTo>
                    <a:pt x="1165541" y="1213407"/>
                    <a:pt x="703616" y="1889090"/>
                    <a:pt x="763391" y="2583402"/>
                  </a:cubicBezTo>
                  <a:cubicBezTo>
                    <a:pt x="777505" y="2747346"/>
                    <a:pt x="964618" y="2843814"/>
                    <a:pt x="1065232" y="2974020"/>
                  </a:cubicBezTo>
                  <a:cubicBezTo>
                    <a:pt x="1242785" y="2932591"/>
                    <a:pt x="1459013" y="2967859"/>
                    <a:pt x="1597892" y="2849732"/>
                  </a:cubicBezTo>
                  <a:cubicBezTo>
                    <a:pt x="2110070" y="2414086"/>
                    <a:pt x="1813572" y="2192733"/>
                    <a:pt x="1402583" y="2006354"/>
                  </a:cubicBezTo>
                  <a:cubicBezTo>
                    <a:pt x="1302285" y="1960870"/>
                    <a:pt x="1183600" y="1982680"/>
                    <a:pt x="1074109" y="1970843"/>
                  </a:cubicBezTo>
                  <a:cubicBezTo>
                    <a:pt x="850123" y="2428997"/>
                    <a:pt x="287327" y="3067615"/>
                    <a:pt x="1020843" y="3551068"/>
                  </a:cubicBezTo>
                  <a:cubicBezTo>
                    <a:pt x="1253114" y="3704156"/>
                    <a:pt x="1577177" y="3545149"/>
                    <a:pt x="1855344" y="3542190"/>
                  </a:cubicBezTo>
                  <a:cubicBezTo>
                    <a:pt x="2011835" y="3390514"/>
                    <a:pt x="2857750" y="2765516"/>
                    <a:pt x="2601069" y="2325950"/>
                  </a:cubicBezTo>
                  <a:cubicBezTo>
                    <a:pt x="2425963" y="2026080"/>
                    <a:pt x="2015142" y="1953087"/>
                    <a:pt x="1722179" y="1766656"/>
                  </a:cubicBezTo>
                  <a:cubicBezTo>
                    <a:pt x="1547585" y="1775534"/>
                    <a:pt x="1331930" y="1680458"/>
                    <a:pt x="1198397" y="1793289"/>
                  </a:cubicBezTo>
                  <a:cubicBezTo>
                    <a:pt x="989269" y="1969994"/>
                    <a:pt x="162830" y="2974551"/>
                    <a:pt x="710125" y="3435658"/>
                  </a:cubicBezTo>
                  <a:cubicBezTo>
                    <a:pt x="971391" y="3655780"/>
                    <a:pt x="1372991" y="3601375"/>
                    <a:pt x="1704424" y="3684233"/>
                  </a:cubicBezTo>
                  <a:cubicBezTo>
                    <a:pt x="2103919" y="3474128"/>
                    <a:pt x="2560075" y="3347526"/>
                    <a:pt x="2902909" y="3053919"/>
                  </a:cubicBezTo>
                  <a:cubicBezTo>
                    <a:pt x="3157358" y="2836007"/>
                    <a:pt x="3403570" y="2535138"/>
                    <a:pt x="3435570" y="2201662"/>
                  </a:cubicBezTo>
                  <a:cubicBezTo>
                    <a:pt x="3466644" y="1877837"/>
                    <a:pt x="3266773" y="1556390"/>
                    <a:pt x="3071585" y="1296140"/>
                  </a:cubicBezTo>
                  <a:cubicBezTo>
                    <a:pt x="2590871" y="655188"/>
                    <a:pt x="2217497" y="548243"/>
                    <a:pt x="1589014" y="257453"/>
                  </a:cubicBezTo>
                  <a:cubicBezTo>
                    <a:pt x="1002914" y="1011009"/>
                    <a:pt x="999669" y="853868"/>
                    <a:pt x="861045" y="2077375"/>
                  </a:cubicBezTo>
                  <a:cubicBezTo>
                    <a:pt x="840452" y="2259134"/>
                    <a:pt x="846049" y="2468275"/>
                    <a:pt x="949822" y="2618913"/>
                  </a:cubicBezTo>
                  <a:cubicBezTo>
                    <a:pt x="1049777" y="2764008"/>
                    <a:pt x="1257581" y="2790548"/>
                    <a:pt x="1411461" y="2876365"/>
                  </a:cubicBezTo>
                  <a:cubicBezTo>
                    <a:pt x="1734016" y="2781670"/>
                    <a:pt x="2104836" y="2786635"/>
                    <a:pt x="2379127" y="2592280"/>
                  </a:cubicBezTo>
                  <a:cubicBezTo>
                    <a:pt x="3108043" y="2075791"/>
                    <a:pt x="3183287" y="1524616"/>
                    <a:pt x="2459026" y="958788"/>
                  </a:cubicBezTo>
                  <a:cubicBezTo>
                    <a:pt x="2116389" y="691103"/>
                    <a:pt x="1660035" y="615519"/>
                    <a:pt x="1260540" y="443884"/>
                  </a:cubicBezTo>
                  <a:cubicBezTo>
                    <a:pt x="1029721" y="582967"/>
                    <a:pt x="684224" y="617962"/>
                    <a:pt x="568082" y="861134"/>
                  </a:cubicBezTo>
                  <a:cubicBezTo>
                    <a:pt x="26055" y="1996002"/>
                    <a:pt x="293525" y="2083599"/>
                    <a:pt x="816657" y="2743200"/>
                  </a:cubicBezTo>
                  <a:cubicBezTo>
                    <a:pt x="1080028" y="2737282"/>
                    <a:pt x="1378747" y="2857372"/>
                    <a:pt x="1606770" y="2725445"/>
                  </a:cubicBezTo>
                  <a:cubicBezTo>
                    <a:pt x="2293333" y="2328219"/>
                    <a:pt x="2130040" y="1714159"/>
                    <a:pt x="1597892" y="1322773"/>
                  </a:cubicBezTo>
                  <a:cubicBezTo>
                    <a:pt x="1338563" y="1132041"/>
                    <a:pt x="988292" y="1115628"/>
                    <a:pt x="683492" y="1012055"/>
                  </a:cubicBezTo>
                  <a:cubicBezTo>
                    <a:pt x="348662" y="1483086"/>
                    <a:pt x="-135283" y="1926872"/>
                    <a:pt x="35422" y="2601157"/>
                  </a:cubicBezTo>
                  <a:cubicBezTo>
                    <a:pt x="95134" y="2837021"/>
                    <a:pt x="355018" y="2968101"/>
                    <a:pt x="514816" y="3151573"/>
                  </a:cubicBezTo>
                  <a:cubicBezTo>
                    <a:pt x="858086" y="3136777"/>
                    <a:pt x="1205257" y="3160870"/>
                    <a:pt x="1544626" y="3107185"/>
                  </a:cubicBezTo>
                  <a:cubicBezTo>
                    <a:pt x="1735174" y="3077042"/>
                    <a:pt x="1952562" y="2763830"/>
                    <a:pt x="2086164" y="2902998"/>
                  </a:cubicBezTo>
                  <a:cubicBezTo>
                    <a:pt x="2238121" y="3061286"/>
                    <a:pt x="2009224" y="3335045"/>
                    <a:pt x="1970754" y="3551068"/>
                  </a:cubicBezTo>
                  <a:cubicBezTo>
                    <a:pt x="2160144" y="3675355"/>
                    <a:pt x="2313312" y="3903562"/>
                    <a:pt x="2538925" y="3923930"/>
                  </a:cubicBezTo>
                  <a:cubicBezTo>
                    <a:pt x="3239904" y="3987213"/>
                    <a:pt x="3532653" y="3287070"/>
                    <a:pt x="3852820" y="2858610"/>
                  </a:cubicBezTo>
                  <a:cubicBezTo>
                    <a:pt x="3817309" y="2636668"/>
                    <a:pt x="3833324" y="2400014"/>
                    <a:pt x="3746288" y="2192785"/>
                  </a:cubicBezTo>
                  <a:cubicBezTo>
                    <a:pt x="3701539" y="2086239"/>
                    <a:pt x="3588710" y="1931760"/>
                    <a:pt x="3479958" y="1970843"/>
                  </a:cubicBezTo>
                  <a:cubicBezTo>
                    <a:pt x="3316148" y="2029712"/>
                    <a:pt x="3278731" y="2254928"/>
                    <a:pt x="3178117" y="2396971"/>
                  </a:cubicBezTo>
                  <a:cubicBezTo>
                    <a:pt x="3160362" y="2521258"/>
                    <a:pt x="3034958" y="2857479"/>
                    <a:pt x="3124851" y="2769833"/>
                  </a:cubicBezTo>
                  <a:cubicBezTo>
                    <a:pt x="3594381" y="2312041"/>
                    <a:pt x="3729832" y="1794906"/>
                    <a:pt x="3169239" y="1305018"/>
                  </a:cubicBezTo>
                  <a:cubicBezTo>
                    <a:pt x="3010592" y="1166381"/>
                    <a:pt x="2754948" y="1228078"/>
                    <a:pt x="2547803" y="1189608"/>
                  </a:cubicBezTo>
                  <a:cubicBezTo>
                    <a:pt x="1741719" y="2083099"/>
                    <a:pt x="1663989" y="2342281"/>
                    <a:pt x="1935243" y="1722268"/>
                  </a:cubicBezTo>
                  <a:cubicBezTo>
                    <a:pt x="1902692" y="1248792"/>
                    <a:pt x="1942991" y="764582"/>
                    <a:pt x="1837589" y="301841"/>
                  </a:cubicBezTo>
                  <a:cubicBezTo>
                    <a:pt x="1813893" y="197809"/>
                    <a:pt x="1674474" y="97255"/>
                    <a:pt x="1571259" y="124288"/>
                  </a:cubicBezTo>
                  <a:cubicBezTo>
                    <a:pt x="1375422" y="175579"/>
                    <a:pt x="1251663" y="372863"/>
                    <a:pt x="1091865" y="497150"/>
                  </a:cubicBezTo>
                  <a:cubicBezTo>
                    <a:pt x="1044517" y="787154"/>
                    <a:pt x="891215" y="1079222"/>
                    <a:pt x="949822" y="1367161"/>
                  </a:cubicBezTo>
                  <a:cubicBezTo>
                    <a:pt x="974484" y="1488328"/>
                    <a:pt x="1177073" y="1533999"/>
                    <a:pt x="1296051" y="1500326"/>
                  </a:cubicBezTo>
                  <a:cubicBezTo>
                    <a:pt x="1525861" y="1435285"/>
                    <a:pt x="1692587" y="1233996"/>
                    <a:pt x="1890855" y="1100831"/>
                  </a:cubicBezTo>
                  <a:cubicBezTo>
                    <a:pt x="1952999" y="970625"/>
                    <a:pt x="2142373" y="838973"/>
                    <a:pt x="2077286" y="710214"/>
                  </a:cubicBezTo>
                  <a:cubicBezTo>
                    <a:pt x="1788879" y="139670"/>
                    <a:pt x="1315535" y="304888"/>
                    <a:pt x="861045" y="337352"/>
                  </a:cubicBezTo>
                  <a:cubicBezTo>
                    <a:pt x="714385" y="974567"/>
                    <a:pt x="271374" y="1644317"/>
                    <a:pt x="1047476" y="2104008"/>
                  </a:cubicBezTo>
                  <a:cubicBezTo>
                    <a:pt x="1251420" y="2224805"/>
                    <a:pt x="1520952" y="2127682"/>
                    <a:pt x="1757690" y="2139519"/>
                  </a:cubicBezTo>
                  <a:cubicBezTo>
                    <a:pt x="2086670" y="1831100"/>
                    <a:pt x="2684077" y="1562041"/>
                    <a:pt x="2237084" y="976544"/>
                  </a:cubicBezTo>
                  <a:cubicBezTo>
                    <a:pt x="2120640" y="824019"/>
                    <a:pt x="1876059" y="846338"/>
                    <a:pt x="1695546" y="781235"/>
                  </a:cubicBezTo>
                  <a:cubicBezTo>
                    <a:pt x="1636362" y="1086035"/>
                    <a:pt x="1561903" y="1388263"/>
                    <a:pt x="1517993" y="1695635"/>
                  </a:cubicBezTo>
                  <a:cubicBezTo>
                    <a:pt x="1496633" y="1845153"/>
                    <a:pt x="1492436" y="1997561"/>
                    <a:pt x="1500238" y="2148396"/>
                  </a:cubicBezTo>
                  <a:cubicBezTo>
                    <a:pt x="1501553" y="2173818"/>
                    <a:pt x="1523911" y="2195744"/>
                    <a:pt x="1544626" y="2210540"/>
                  </a:cubicBezTo>
                  <a:cubicBezTo>
                    <a:pt x="1583222" y="2238109"/>
                    <a:pt x="1601101" y="2237173"/>
                    <a:pt x="1633403" y="2237173"/>
                  </a:cubicBezTo>
                </a:path>
              </a:pathLst>
            </a:custGeom>
            <a:noFill/>
            <a:ln w="38100">
              <a:solidFill>
                <a:srgbClr val="DC4C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1179258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4B8A6-6262-3483-491D-62F323CE0D76}"/>
              </a:ext>
            </a:extLst>
          </p:cNvPr>
          <p:cNvSpPr>
            <a:spLocks noGrp="1"/>
          </p:cNvSpPr>
          <p:nvPr>
            <p:ph type="title"/>
          </p:nvPr>
        </p:nvSpPr>
        <p:spPr/>
        <p:txBody>
          <a:bodyPr/>
          <a:lstStyle/>
          <a:p>
            <a:r>
              <a:rPr lang="en-US" dirty="0"/>
              <a:t>Algorithm Ideas</a:t>
            </a:r>
          </a:p>
        </p:txBody>
      </p:sp>
      <p:sp>
        <p:nvSpPr>
          <p:cNvPr id="3" name="Content Placeholder 2">
            <a:extLst>
              <a:ext uri="{FF2B5EF4-FFF2-40B4-BE49-F238E27FC236}">
                <a16:creationId xmlns:a16="http://schemas.microsoft.com/office/drawing/2014/main" id="{0428C3EB-0A85-2DCD-6E54-8EAC01977E84}"/>
              </a:ext>
            </a:extLst>
          </p:cNvPr>
          <p:cNvSpPr>
            <a:spLocks noGrp="1"/>
          </p:cNvSpPr>
          <p:nvPr>
            <p:ph idx="1"/>
          </p:nvPr>
        </p:nvSpPr>
        <p:spPr/>
        <p:txBody>
          <a:bodyPr/>
          <a:lstStyle/>
          <a:p>
            <a:r>
              <a:rPr lang="en-US" dirty="0" err="1"/>
              <a:t>Whatcha</a:t>
            </a:r>
            <a:r>
              <a:rPr lang="en-US" dirty="0"/>
              <a:t> got?</a:t>
            </a:r>
          </a:p>
          <a:p>
            <a:endParaRPr lang="en-US" dirty="0"/>
          </a:p>
        </p:txBody>
      </p:sp>
      <p:grpSp>
        <p:nvGrpSpPr>
          <p:cNvPr id="4" name="Group 3">
            <a:extLst>
              <a:ext uri="{FF2B5EF4-FFF2-40B4-BE49-F238E27FC236}">
                <a16:creationId xmlns:a16="http://schemas.microsoft.com/office/drawing/2014/main" id="{2F972420-6B26-4271-AD3A-A848D46D6A0E}"/>
              </a:ext>
              <a:ext uri="{C183D7F6-B498-43B3-948B-1728B52AA6E4}">
                <adec:decorative xmlns:adec="http://schemas.microsoft.com/office/drawing/2017/decorative" val="1"/>
              </a:ext>
            </a:extLst>
          </p:cNvPr>
          <p:cNvGrpSpPr/>
          <p:nvPr/>
        </p:nvGrpSpPr>
        <p:grpSpPr>
          <a:xfrm>
            <a:off x="8686800" y="274638"/>
            <a:ext cx="3144965" cy="1545048"/>
            <a:chOff x="1828800" y="1295400"/>
            <a:chExt cx="9753600" cy="4791716"/>
          </a:xfrm>
        </p:grpSpPr>
        <p:pic>
          <p:nvPicPr>
            <p:cNvPr id="5" name="Picture 2">
              <a:extLst>
                <a:ext uri="{FF2B5EF4-FFF2-40B4-BE49-F238E27FC236}">
                  <a16:creationId xmlns:a16="http://schemas.microsoft.com/office/drawing/2014/main" id="{303B5E41-C3D0-060F-5B40-4F1C16DE0969}"/>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9000"/>
            <a:stretch/>
          </p:blipFill>
          <p:spPr bwMode="auto">
            <a:xfrm>
              <a:off x="5410200" y="1562741"/>
              <a:ext cx="6172200" cy="4524375"/>
            </a:xfrm>
            <a:prstGeom prst="rect">
              <a:avLst/>
            </a:prstGeom>
            <a:noFill/>
            <a:extLst>
              <a:ext uri="{909E8E84-426E-40DD-AFC4-6F175D3DCCD1}">
                <a14:hiddenFill xmlns:a14="http://schemas.microsoft.com/office/drawing/2010/main">
                  <a:solidFill>
                    <a:srgbClr val="FFFFFF"/>
                  </a:solidFill>
                </a14:hiddenFill>
              </a:ext>
            </a:extLst>
          </p:spPr>
        </p:pic>
        <p:sp>
          <p:nvSpPr>
            <p:cNvPr id="6" name="Freeform: Shape 5">
              <a:extLst>
                <a:ext uri="{FF2B5EF4-FFF2-40B4-BE49-F238E27FC236}">
                  <a16:creationId xmlns:a16="http://schemas.microsoft.com/office/drawing/2014/main" id="{B4EA9D4B-C1B7-824E-7DA6-5B9C45191BB1}"/>
                </a:ext>
              </a:extLst>
            </p:cNvPr>
            <p:cNvSpPr/>
            <p:nvPr/>
          </p:nvSpPr>
          <p:spPr>
            <a:xfrm>
              <a:off x="1828800" y="1295400"/>
              <a:ext cx="3852820" cy="4022719"/>
            </a:xfrm>
            <a:custGeom>
              <a:avLst/>
              <a:gdLst>
                <a:gd name="connsiteX0" fmla="*/ 3613123 w 3852820"/>
                <a:gd name="connsiteY0" fmla="*/ 763480 h 4022719"/>
                <a:gd name="connsiteX1" fmla="*/ 3178117 w 3852820"/>
                <a:gd name="connsiteY1" fmla="*/ 772357 h 4022719"/>
                <a:gd name="connsiteX2" fmla="*/ 2849643 w 3852820"/>
                <a:gd name="connsiteY2" fmla="*/ 887767 h 4022719"/>
                <a:gd name="connsiteX3" fmla="*/ 2680968 w 3852820"/>
                <a:gd name="connsiteY3" fmla="*/ 967666 h 4022719"/>
                <a:gd name="connsiteX4" fmla="*/ 2601069 w 3852820"/>
                <a:gd name="connsiteY4" fmla="*/ 1145220 h 4022719"/>
                <a:gd name="connsiteX5" fmla="*/ 2583313 w 3852820"/>
                <a:gd name="connsiteY5" fmla="*/ 1384917 h 4022719"/>
                <a:gd name="connsiteX6" fmla="*/ 2609946 w 3852820"/>
                <a:gd name="connsiteY6" fmla="*/ 2130641 h 4022719"/>
                <a:gd name="connsiteX7" fmla="*/ 2751989 w 3852820"/>
                <a:gd name="connsiteY7" fmla="*/ 2547891 h 4022719"/>
                <a:gd name="connsiteX8" fmla="*/ 2672090 w 3852820"/>
                <a:gd name="connsiteY8" fmla="*/ 2849732 h 4022719"/>
                <a:gd name="connsiteX9" fmla="*/ 2316983 w 3852820"/>
                <a:gd name="connsiteY9" fmla="*/ 3053919 h 4022719"/>
                <a:gd name="connsiteX10" fmla="*/ 1846467 w 3852820"/>
                <a:gd name="connsiteY10" fmla="*/ 2982897 h 4022719"/>
                <a:gd name="connsiteX11" fmla="*/ 1526871 w 3852820"/>
                <a:gd name="connsiteY11" fmla="*/ 2769833 h 4022719"/>
                <a:gd name="connsiteX12" fmla="*/ 923189 w 3852820"/>
                <a:gd name="connsiteY12" fmla="*/ 2512381 h 4022719"/>
                <a:gd name="connsiteX13" fmla="*/ 594715 w 3852820"/>
                <a:gd name="connsiteY13" fmla="*/ 2104008 h 4022719"/>
                <a:gd name="connsiteX14" fmla="*/ 585838 w 3852820"/>
                <a:gd name="connsiteY14" fmla="*/ 2015231 h 4022719"/>
                <a:gd name="connsiteX15" fmla="*/ 1216152 w 3852820"/>
                <a:gd name="connsiteY15" fmla="*/ 1509204 h 4022719"/>
                <a:gd name="connsiteX16" fmla="*/ 1677791 w 3852820"/>
                <a:gd name="connsiteY16" fmla="*/ 1447060 h 4022719"/>
                <a:gd name="connsiteX17" fmla="*/ 2849643 w 3852820"/>
                <a:gd name="connsiteY17" fmla="*/ 1784412 h 4022719"/>
                <a:gd name="connsiteX18" fmla="*/ 2956175 w 3852820"/>
                <a:gd name="connsiteY18" fmla="*/ 1882066 h 4022719"/>
                <a:gd name="connsiteX19" fmla="*/ 3009441 w 3852820"/>
                <a:gd name="connsiteY19" fmla="*/ 2032987 h 4022719"/>
                <a:gd name="connsiteX20" fmla="*/ 2956175 w 3852820"/>
                <a:gd name="connsiteY20" fmla="*/ 2379216 h 4022719"/>
                <a:gd name="connsiteX21" fmla="*/ 2654335 w 3852820"/>
                <a:gd name="connsiteY21" fmla="*/ 2645546 h 4022719"/>
                <a:gd name="connsiteX22" fmla="*/ 2103919 w 3852820"/>
                <a:gd name="connsiteY22" fmla="*/ 3258105 h 4022719"/>
                <a:gd name="connsiteX23" fmla="*/ 1864222 w 3852820"/>
                <a:gd name="connsiteY23" fmla="*/ 3382392 h 4022719"/>
                <a:gd name="connsiteX24" fmla="*/ 1296051 w 3852820"/>
                <a:gd name="connsiteY24" fmla="*/ 3311371 h 4022719"/>
                <a:gd name="connsiteX25" fmla="*/ 1145131 w 3852820"/>
                <a:gd name="connsiteY25" fmla="*/ 3222594 h 4022719"/>
                <a:gd name="connsiteX26" fmla="*/ 1065232 w 3852820"/>
                <a:gd name="connsiteY26" fmla="*/ 3080552 h 4022719"/>
                <a:gd name="connsiteX27" fmla="*/ 994210 w 3852820"/>
                <a:gd name="connsiteY27" fmla="*/ 1890944 h 4022719"/>
                <a:gd name="connsiteX28" fmla="*/ 1038599 w 3852820"/>
                <a:gd name="connsiteY28" fmla="*/ 958788 h 4022719"/>
                <a:gd name="connsiteX29" fmla="*/ 1003088 w 3852820"/>
                <a:gd name="connsiteY29" fmla="*/ 727969 h 4022719"/>
                <a:gd name="connsiteX30" fmla="*/ 976455 w 3852820"/>
                <a:gd name="connsiteY30" fmla="*/ 648070 h 4022719"/>
                <a:gd name="connsiteX31" fmla="*/ 878801 w 3852820"/>
                <a:gd name="connsiteY31" fmla="*/ 612559 h 4022719"/>
                <a:gd name="connsiteX32" fmla="*/ 674614 w 3852820"/>
                <a:gd name="connsiteY32" fmla="*/ 701336 h 4022719"/>
                <a:gd name="connsiteX33" fmla="*/ 328385 w 3852820"/>
                <a:gd name="connsiteY33" fmla="*/ 1189608 h 4022719"/>
                <a:gd name="connsiteX34" fmla="*/ 319507 w 3852820"/>
                <a:gd name="connsiteY34" fmla="*/ 1606858 h 4022719"/>
                <a:gd name="connsiteX35" fmla="*/ 470428 w 3852820"/>
                <a:gd name="connsiteY35" fmla="*/ 1988598 h 4022719"/>
                <a:gd name="connsiteX36" fmla="*/ 807779 w 3852820"/>
                <a:gd name="connsiteY36" fmla="*/ 2379216 h 4022719"/>
                <a:gd name="connsiteX37" fmla="*/ 1402583 w 3852820"/>
                <a:gd name="connsiteY37" fmla="*/ 2494625 h 4022719"/>
                <a:gd name="connsiteX38" fmla="*/ 1633403 w 3852820"/>
                <a:gd name="connsiteY38" fmla="*/ 2467992 h 4022719"/>
                <a:gd name="connsiteX39" fmla="*/ 2059531 w 3852820"/>
                <a:gd name="connsiteY39" fmla="*/ 1731146 h 4022719"/>
                <a:gd name="connsiteX40" fmla="*/ 2015142 w 3852820"/>
                <a:gd name="connsiteY40" fmla="*/ 1056443 h 4022719"/>
                <a:gd name="connsiteX41" fmla="*/ 1846467 w 3852820"/>
                <a:gd name="connsiteY41" fmla="*/ 594804 h 4022719"/>
                <a:gd name="connsiteX42" fmla="*/ 1517993 w 3852820"/>
                <a:gd name="connsiteY42" fmla="*/ 958788 h 4022719"/>
                <a:gd name="connsiteX43" fmla="*/ 1535748 w 3852820"/>
                <a:gd name="connsiteY43" fmla="*/ 1420427 h 4022719"/>
                <a:gd name="connsiteX44" fmla="*/ 1748812 w 3852820"/>
                <a:gd name="connsiteY44" fmla="*/ 2059620 h 4022719"/>
                <a:gd name="connsiteX45" fmla="*/ 2902909 w 3852820"/>
                <a:gd name="connsiteY45" fmla="*/ 3045041 h 4022719"/>
                <a:gd name="connsiteX46" fmla="*/ 3169239 w 3852820"/>
                <a:gd name="connsiteY46" fmla="*/ 3160451 h 4022719"/>
                <a:gd name="connsiteX47" fmla="*/ 3382304 w 3852820"/>
                <a:gd name="connsiteY47" fmla="*/ 3400148 h 4022719"/>
                <a:gd name="connsiteX48" fmla="*/ 3444447 w 3852820"/>
                <a:gd name="connsiteY48" fmla="*/ 3604334 h 4022719"/>
                <a:gd name="connsiteX49" fmla="*/ 2592191 w 3852820"/>
                <a:gd name="connsiteY49" fmla="*/ 3817398 h 4022719"/>
                <a:gd name="connsiteX50" fmla="*/ 1722179 w 3852820"/>
                <a:gd name="connsiteY50" fmla="*/ 3355759 h 4022719"/>
                <a:gd name="connsiteX51" fmla="*/ 1677791 w 3852820"/>
                <a:gd name="connsiteY51" fmla="*/ 3089429 h 4022719"/>
                <a:gd name="connsiteX52" fmla="*/ 1810956 w 3852820"/>
                <a:gd name="connsiteY52" fmla="*/ 2707689 h 4022719"/>
                <a:gd name="connsiteX53" fmla="*/ 2263717 w 3852820"/>
                <a:gd name="connsiteY53" fmla="*/ 2423604 h 4022719"/>
                <a:gd name="connsiteX54" fmla="*/ 2707601 w 3852820"/>
                <a:gd name="connsiteY54" fmla="*/ 2059620 h 4022719"/>
                <a:gd name="connsiteX55" fmla="*/ 2760867 w 3852820"/>
                <a:gd name="connsiteY55" fmla="*/ 1864311 h 4022719"/>
                <a:gd name="connsiteX56" fmla="*/ 2148307 w 3852820"/>
                <a:gd name="connsiteY56" fmla="*/ 1526959 h 4022719"/>
                <a:gd name="connsiteX57" fmla="*/ 1926366 w 3852820"/>
                <a:gd name="connsiteY57" fmla="*/ 1615736 h 4022719"/>
                <a:gd name="connsiteX58" fmla="*/ 2245962 w 3852820"/>
                <a:gd name="connsiteY58" fmla="*/ 2334827 h 4022719"/>
                <a:gd name="connsiteX59" fmla="*/ 3258016 w 3852820"/>
                <a:gd name="connsiteY59" fmla="*/ 2991775 h 4022719"/>
                <a:gd name="connsiteX60" fmla="*/ 3426692 w 3852820"/>
                <a:gd name="connsiteY60" fmla="*/ 3089429 h 4022719"/>
                <a:gd name="connsiteX61" fmla="*/ 3524346 w 3852820"/>
                <a:gd name="connsiteY61" fmla="*/ 3124940 h 4022719"/>
                <a:gd name="connsiteX62" fmla="*/ 3559857 w 3852820"/>
                <a:gd name="connsiteY62" fmla="*/ 3178206 h 4022719"/>
                <a:gd name="connsiteX63" fmla="*/ 2965053 w 3852820"/>
                <a:gd name="connsiteY63" fmla="*/ 3648722 h 4022719"/>
                <a:gd name="connsiteX64" fmla="*/ 2459026 w 3852820"/>
                <a:gd name="connsiteY64" fmla="*/ 3391270 h 4022719"/>
                <a:gd name="connsiteX65" fmla="*/ 2388005 w 3852820"/>
                <a:gd name="connsiteY65" fmla="*/ 3160451 h 4022719"/>
                <a:gd name="connsiteX66" fmla="*/ 2680968 w 3852820"/>
                <a:gd name="connsiteY66" fmla="*/ 2370338 h 4022719"/>
                <a:gd name="connsiteX67" fmla="*/ 2716478 w 3852820"/>
                <a:gd name="connsiteY67" fmla="*/ 2059620 h 4022719"/>
                <a:gd name="connsiteX68" fmla="*/ 1739935 w 3852820"/>
                <a:gd name="connsiteY68" fmla="*/ 1438183 h 4022719"/>
                <a:gd name="connsiteX69" fmla="*/ 1136253 w 3852820"/>
                <a:gd name="connsiteY69" fmla="*/ 2015231 h 4022719"/>
                <a:gd name="connsiteX70" fmla="*/ 2103919 w 3852820"/>
                <a:gd name="connsiteY70" fmla="*/ 3169328 h 4022719"/>
                <a:gd name="connsiteX71" fmla="*/ 2441271 w 3852820"/>
                <a:gd name="connsiteY71" fmla="*/ 3195961 h 4022719"/>
                <a:gd name="connsiteX72" fmla="*/ 2601069 w 3852820"/>
                <a:gd name="connsiteY72" fmla="*/ 2965142 h 4022719"/>
                <a:gd name="connsiteX73" fmla="*/ 1766568 w 3852820"/>
                <a:gd name="connsiteY73" fmla="*/ 1775534 h 4022719"/>
                <a:gd name="connsiteX74" fmla="*/ 1340439 w 3852820"/>
                <a:gd name="connsiteY74" fmla="*/ 1802167 h 4022719"/>
                <a:gd name="connsiteX75" fmla="*/ 1633403 w 3852820"/>
                <a:gd name="connsiteY75" fmla="*/ 3888420 h 4022719"/>
                <a:gd name="connsiteX76" fmla="*/ 2015142 w 3852820"/>
                <a:gd name="connsiteY76" fmla="*/ 3994952 h 4022719"/>
                <a:gd name="connsiteX77" fmla="*/ 2095041 w 3852820"/>
                <a:gd name="connsiteY77" fmla="*/ 3630967 h 4022719"/>
                <a:gd name="connsiteX78" fmla="*/ 1864222 w 3852820"/>
                <a:gd name="connsiteY78" fmla="*/ 3204839 h 4022719"/>
                <a:gd name="connsiteX79" fmla="*/ 1828711 w 3852820"/>
                <a:gd name="connsiteY79" fmla="*/ 3178206 h 4022719"/>
                <a:gd name="connsiteX80" fmla="*/ 1899733 w 3852820"/>
                <a:gd name="connsiteY80" fmla="*/ 3204839 h 4022719"/>
                <a:gd name="connsiteX81" fmla="*/ 2503414 w 3852820"/>
                <a:gd name="connsiteY81" fmla="*/ 3586579 h 4022719"/>
                <a:gd name="connsiteX82" fmla="*/ 2840766 w 3852820"/>
                <a:gd name="connsiteY82" fmla="*/ 3613212 h 4022719"/>
                <a:gd name="connsiteX83" fmla="*/ 2609946 w 3852820"/>
                <a:gd name="connsiteY83" fmla="*/ 2743200 h 4022719"/>
                <a:gd name="connsiteX84" fmla="*/ 2494537 w 3852820"/>
                <a:gd name="connsiteY84" fmla="*/ 2707689 h 4022719"/>
                <a:gd name="connsiteX85" fmla="*/ 2627702 w 3852820"/>
                <a:gd name="connsiteY85" fmla="*/ 3542190 h 4022719"/>
                <a:gd name="connsiteX86" fmla="*/ 3222506 w 3852820"/>
                <a:gd name="connsiteY86" fmla="*/ 3178206 h 4022719"/>
                <a:gd name="connsiteX87" fmla="*/ 3186995 w 3852820"/>
                <a:gd name="connsiteY87" fmla="*/ 2512381 h 4022719"/>
                <a:gd name="connsiteX88" fmla="*/ 1952999 w 3852820"/>
                <a:gd name="connsiteY88" fmla="*/ 1722268 h 4022719"/>
                <a:gd name="connsiteX89" fmla="*/ 1731057 w 3852820"/>
                <a:gd name="connsiteY89" fmla="*/ 1899821 h 4022719"/>
                <a:gd name="connsiteX90" fmla="*/ 2343616 w 3852820"/>
                <a:gd name="connsiteY90" fmla="*/ 2547891 h 4022719"/>
                <a:gd name="connsiteX91" fmla="*/ 2414638 w 3852820"/>
                <a:gd name="connsiteY91" fmla="*/ 1331651 h 4022719"/>
                <a:gd name="connsiteX92" fmla="*/ 1802078 w 3852820"/>
                <a:gd name="connsiteY92" fmla="*/ 1029810 h 4022719"/>
                <a:gd name="connsiteX93" fmla="*/ 914311 w 3852820"/>
                <a:gd name="connsiteY93" fmla="*/ 1633491 h 4022719"/>
                <a:gd name="connsiteX94" fmla="*/ 923189 w 3852820"/>
                <a:gd name="connsiteY94" fmla="*/ 1819922 h 4022719"/>
                <a:gd name="connsiteX95" fmla="*/ 1589014 w 3852820"/>
                <a:gd name="connsiteY95" fmla="*/ 1944210 h 4022719"/>
                <a:gd name="connsiteX96" fmla="*/ 2041775 w 3852820"/>
                <a:gd name="connsiteY96" fmla="*/ 1695635 h 4022719"/>
                <a:gd name="connsiteX97" fmla="*/ 1287173 w 3852820"/>
                <a:gd name="connsiteY97" fmla="*/ 319596 h 4022719"/>
                <a:gd name="connsiteX98" fmla="*/ 940944 w 3852820"/>
                <a:gd name="connsiteY98" fmla="*/ 230820 h 4022719"/>
                <a:gd name="connsiteX99" fmla="*/ 603593 w 3852820"/>
                <a:gd name="connsiteY99" fmla="*/ 772357 h 4022719"/>
                <a:gd name="connsiteX100" fmla="*/ 727880 w 3852820"/>
                <a:gd name="connsiteY100" fmla="*/ 2148396 h 4022719"/>
                <a:gd name="connsiteX101" fmla="*/ 967577 w 3852820"/>
                <a:gd name="connsiteY101" fmla="*/ 2405849 h 4022719"/>
                <a:gd name="connsiteX102" fmla="*/ 1509115 w 3852820"/>
                <a:gd name="connsiteY102" fmla="*/ 2299317 h 4022719"/>
                <a:gd name="connsiteX103" fmla="*/ 1855344 w 3852820"/>
                <a:gd name="connsiteY103" fmla="*/ 656948 h 4022719"/>
                <a:gd name="connsiteX104" fmla="*/ 1331562 w 3852820"/>
                <a:gd name="connsiteY104" fmla="*/ 514905 h 4022719"/>
                <a:gd name="connsiteX105" fmla="*/ 940944 w 3852820"/>
                <a:gd name="connsiteY105" fmla="*/ 2725445 h 4022719"/>
                <a:gd name="connsiteX106" fmla="*/ 1739935 w 3852820"/>
                <a:gd name="connsiteY106" fmla="*/ 3338004 h 4022719"/>
                <a:gd name="connsiteX107" fmla="*/ 2396882 w 3852820"/>
                <a:gd name="connsiteY107" fmla="*/ 2991775 h 4022719"/>
                <a:gd name="connsiteX108" fmla="*/ 1793201 w 3852820"/>
                <a:gd name="connsiteY108" fmla="*/ 1864311 h 4022719"/>
                <a:gd name="connsiteX109" fmla="*/ 1313806 w 3852820"/>
                <a:gd name="connsiteY109" fmla="*/ 2192785 h 4022719"/>
                <a:gd name="connsiteX110" fmla="*/ 1384828 w 3852820"/>
                <a:gd name="connsiteY110" fmla="*/ 3941686 h 4022719"/>
                <a:gd name="connsiteX111" fmla="*/ 2503414 w 3852820"/>
                <a:gd name="connsiteY111" fmla="*/ 4012707 h 4022719"/>
                <a:gd name="connsiteX112" fmla="*/ 3089340 w 3852820"/>
                <a:gd name="connsiteY112" fmla="*/ 3639845 h 4022719"/>
                <a:gd name="connsiteX113" fmla="*/ 3027197 w 3852820"/>
                <a:gd name="connsiteY113" fmla="*/ 2068497 h 4022719"/>
                <a:gd name="connsiteX114" fmla="*/ 2689845 w 3852820"/>
                <a:gd name="connsiteY114" fmla="*/ 1686757 h 4022719"/>
                <a:gd name="connsiteX115" fmla="*/ 2201573 w 3852820"/>
                <a:gd name="connsiteY115" fmla="*/ 2636668 h 4022719"/>
                <a:gd name="connsiteX116" fmla="*/ 2840766 w 3852820"/>
                <a:gd name="connsiteY116" fmla="*/ 2752078 h 4022719"/>
                <a:gd name="connsiteX117" fmla="*/ 3684144 w 3852820"/>
                <a:gd name="connsiteY117" fmla="*/ 807868 h 4022719"/>
                <a:gd name="connsiteX118" fmla="*/ 3364548 w 3852820"/>
                <a:gd name="connsiteY118" fmla="*/ 417251 h 4022719"/>
                <a:gd name="connsiteX119" fmla="*/ 3062707 w 3852820"/>
                <a:gd name="connsiteY119" fmla="*/ 435006 h 4022719"/>
                <a:gd name="connsiteX120" fmla="*/ 2245962 w 3852820"/>
                <a:gd name="connsiteY120" fmla="*/ 1296140 h 4022719"/>
                <a:gd name="connsiteX121" fmla="*/ 2778622 w 3852820"/>
                <a:gd name="connsiteY121" fmla="*/ 612559 h 4022719"/>
                <a:gd name="connsiteX122" fmla="*/ 2121674 w 3852820"/>
                <a:gd name="connsiteY122" fmla="*/ 0 h 4022719"/>
                <a:gd name="connsiteX123" fmla="*/ 1509115 w 3852820"/>
                <a:gd name="connsiteY123" fmla="*/ 363985 h 4022719"/>
                <a:gd name="connsiteX124" fmla="*/ 1855344 w 3852820"/>
                <a:gd name="connsiteY124" fmla="*/ 1811045 h 4022719"/>
                <a:gd name="connsiteX125" fmla="*/ 2432393 w 3852820"/>
                <a:gd name="connsiteY125" fmla="*/ 1953088 h 4022719"/>
                <a:gd name="connsiteX126" fmla="*/ 2991686 w 3852820"/>
                <a:gd name="connsiteY126" fmla="*/ 1491449 h 4022719"/>
                <a:gd name="connsiteX127" fmla="*/ 2192696 w 3852820"/>
                <a:gd name="connsiteY127" fmla="*/ 603682 h 4022719"/>
                <a:gd name="connsiteX128" fmla="*/ 1420339 w 3852820"/>
                <a:gd name="connsiteY128" fmla="*/ 1988598 h 4022719"/>
                <a:gd name="connsiteX129" fmla="*/ 2121674 w 3852820"/>
                <a:gd name="connsiteY129" fmla="*/ 2290439 h 4022719"/>
                <a:gd name="connsiteX130" fmla="*/ 2956175 w 3852820"/>
                <a:gd name="connsiteY130" fmla="*/ 1287262 h 4022719"/>
                <a:gd name="connsiteX131" fmla="*/ 2068408 w 3852820"/>
                <a:gd name="connsiteY131" fmla="*/ 807868 h 4022719"/>
                <a:gd name="connsiteX132" fmla="*/ 1668913 w 3852820"/>
                <a:gd name="connsiteY132" fmla="*/ 2334827 h 4022719"/>
                <a:gd name="connsiteX133" fmla="*/ 2192696 w 3852820"/>
                <a:gd name="connsiteY133" fmla="*/ 2601157 h 4022719"/>
                <a:gd name="connsiteX134" fmla="*/ 3036074 w 3852820"/>
                <a:gd name="connsiteY134" fmla="*/ 1242874 h 4022719"/>
                <a:gd name="connsiteX135" fmla="*/ 2538925 w 3852820"/>
                <a:gd name="connsiteY135" fmla="*/ 976544 h 4022719"/>
                <a:gd name="connsiteX136" fmla="*/ 2219329 w 3852820"/>
                <a:gd name="connsiteY136" fmla="*/ 1677880 h 4022719"/>
                <a:gd name="connsiteX137" fmla="*/ 2290350 w 3852820"/>
                <a:gd name="connsiteY137" fmla="*/ 3355759 h 4022719"/>
                <a:gd name="connsiteX138" fmla="*/ 3417814 w 3852820"/>
                <a:gd name="connsiteY138" fmla="*/ 2707689 h 4022719"/>
                <a:gd name="connsiteX139" fmla="*/ 3408937 w 3852820"/>
                <a:gd name="connsiteY139" fmla="*/ 2370338 h 4022719"/>
                <a:gd name="connsiteX140" fmla="*/ 2707601 w 3852820"/>
                <a:gd name="connsiteY140" fmla="*/ 2015231 h 4022719"/>
                <a:gd name="connsiteX141" fmla="*/ 2272595 w 3852820"/>
                <a:gd name="connsiteY141" fmla="*/ 2175029 h 4022719"/>
                <a:gd name="connsiteX142" fmla="*/ 2574436 w 3852820"/>
                <a:gd name="connsiteY142" fmla="*/ 3249227 h 4022719"/>
                <a:gd name="connsiteX143" fmla="*/ 3062707 w 3852820"/>
                <a:gd name="connsiteY143" fmla="*/ 3151573 h 4022719"/>
                <a:gd name="connsiteX144" fmla="*/ 2902909 w 3852820"/>
                <a:gd name="connsiteY144" fmla="*/ 941033 h 4022719"/>
                <a:gd name="connsiteX145" fmla="*/ 2121674 w 3852820"/>
                <a:gd name="connsiteY145" fmla="*/ 301841 h 4022719"/>
                <a:gd name="connsiteX146" fmla="*/ 1455849 w 3852820"/>
                <a:gd name="connsiteY146" fmla="*/ 1535837 h 4022719"/>
                <a:gd name="connsiteX147" fmla="*/ 1509115 w 3852820"/>
                <a:gd name="connsiteY147" fmla="*/ 1908699 h 4022719"/>
                <a:gd name="connsiteX148" fmla="*/ 1775445 w 3852820"/>
                <a:gd name="connsiteY148" fmla="*/ 1997476 h 4022719"/>
                <a:gd name="connsiteX149" fmla="*/ 2112797 w 3852820"/>
                <a:gd name="connsiteY149" fmla="*/ 852256 h 4022719"/>
                <a:gd name="connsiteX150" fmla="*/ 1926366 w 3852820"/>
                <a:gd name="connsiteY150" fmla="*/ 381740 h 4022719"/>
                <a:gd name="connsiteX151" fmla="*/ 1402583 w 3852820"/>
                <a:gd name="connsiteY151" fmla="*/ 541538 h 4022719"/>
                <a:gd name="connsiteX152" fmla="*/ 1145131 w 3852820"/>
                <a:gd name="connsiteY152" fmla="*/ 2565647 h 4022719"/>
                <a:gd name="connsiteX153" fmla="*/ 1775445 w 3852820"/>
                <a:gd name="connsiteY153" fmla="*/ 2787588 h 4022719"/>
                <a:gd name="connsiteX154" fmla="*/ 2157185 w 3852820"/>
                <a:gd name="connsiteY154" fmla="*/ 2432482 h 4022719"/>
                <a:gd name="connsiteX155" fmla="*/ 1464727 w 3852820"/>
                <a:gd name="connsiteY155" fmla="*/ 1873188 h 4022719"/>
                <a:gd name="connsiteX156" fmla="*/ 1269418 w 3852820"/>
                <a:gd name="connsiteY156" fmla="*/ 3462291 h 4022719"/>
                <a:gd name="connsiteX157" fmla="*/ 1908610 w 3852820"/>
                <a:gd name="connsiteY157" fmla="*/ 3728621 h 4022719"/>
                <a:gd name="connsiteX158" fmla="*/ 3089340 w 3852820"/>
                <a:gd name="connsiteY158" fmla="*/ 2601157 h 4022719"/>
                <a:gd name="connsiteX159" fmla="*/ 2716478 w 3852820"/>
                <a:gd name="connsiteY159" fmla="*/ 2024109 h 4022719"/>
                <a:gd name="connsiteX160" fmla="*/ 2574436 w 3852820"/>
                <a:gd name="connsiteY160" fmla="*/ 3355759 h 4022719"/>
                <a:gd name="connsiteX161" fmla="*/ 3000564 w 3852820"/>
                <a:gd name="connsiteY161" fmla="*/ 3204839 h 4022719"/>
                <a:gd name="connsiteX162" fmla="*/ 3293527 w 3852820"/>
                <a:gd name="connsiteY162" fmla="*/ 994299 h 4022719"/>
                <a:gd name="connsiteX163" fmla="*/ 2858521 w 3852820"/>
                <a:gd name="connsiteY163" fmla="*/ 692458 h 4022719"/>
                <a:gd name="connsiteX164" fmla="*/ 2228206 w 3852820"/>
                <a:gd name="connsiteY164" fmla="*/ 2139519 h 4022719"/>
                <a:gd name="connsiteX165" fmla="*/ 2316983 w 3852820"/>
                <a:gd name="connsiteY165" fmla="*/ 2183907 h 4022719"/>
                <a:gd name="connsiteX166" fmla="*/ 2743111 w 3852820"/>
                <a:gd name="connsiteY166" fmla="*/ 1438183 h 4022719"/>
                <a:gd name="connsiteX167" fmla="*/ 1455849 w 3852820"/>
                <a:gd name="connsiteY167" fmla="*/ 648070 h 4022719"/>
                <a:gd name="connsiteX168" fmla="*/ 763391 w 3852820"/>
                <a:gd name="connsiteY168" fmla="*/ 2583402 h 4022719"/>
                <a:gd name="connsiteX169" fmla="*/ 1065232 w 3852820"/>
                <a:gd name="connsiteY169" fmla="*/ 2974020 h 4022719"/>
                <a:gd name="connsiteX170" fmla="*/ 1597892 w 3852820"/>
                <a:gd name="connsiteY170" fmla="*/ 2849732 h 4022719"/>
                <a:gd name="connsiteX171" fmla="*/ 1402583 w 3852820"/>
                <a:gd name="connsiteY171" fmla="*/ 2006354 h 4022719"/>
                <a:gd name="connsiteX172" fmla="*/ 1074109 w 3852820"/>
                <a:gd name="connsiteY172" fmla="*/ 1970843 h 4022719"/>
                <a:gd name="connsiteX173" fmla="*/ 1020843 w 3852820"/>
                <a:gd name="connsiteY173" fmla="*/ 3551068 h 4022719"/>
                <a:gd name="connsiteX174" fmla="*/ 1855344 w 3852820"/>
                <a:gd name="connsiteY174" fmla="*/ 3542190 h 4022719"/>
                <a:gd name="connsiteX175" fmla="*/ 2601069 w 3852820"/>
                <a:gd name="connsiteY175" fmla="*/ 2325950 h 4022719"/>
                <a:gd name="connsiteX176" fmla="*/ 1722179 w 3852820"/>
                <a:gd name="connsiteY176" fmla="*/ 1766656 h 4022719"/>
                <a:gd name="connsiteX177" fmla="*/ 1198397 w 3852820"/>
                <a:gd name="connsiteY177" fmla="*/ 1793289 h 4022719"/>
                <a:gd name="connsiteX178" fmla="*/ 710125 w 3852820"/>
                <a:gd name="connsiteY178" fmla="*/ 3435658 h 4022719"/>
                <a:gd name="connsiteX179" fmla="*/ 1704424 w 3852820"/>
                <a:gd name="connsiteY179" fmla="*/ 3684233 h 4022719"/>
                <a:gd name="connsiteX180" fmla="*/ 2902909 w 3852820"/>
                <a:gd name="connsiteY180" fmla="*/ 3053919 h 4022719"/>
                <a:gd name="connsiteX181" fmla="*/ 3435570 w 3852820"/>
                <a:gd name="connsiteY181" fmla="*/ 2201662 h 4022719"/>
                <a:gd name="connsiteX182" fmla="*/ 3071585 w 3852820"/>
                <a:gd name="connsiteY182" fmla="*/ 1296140 h 4022719"/>
                <a:gd name="connsiteX183" fmla="*/ 1589014 w 3852820"/>
                <a:gd name="connsiteY183" fmla="*/ 257453 h 4022719"/>
                <a:gd name="connsiteX184" fmla="*/ 861045 w 3852820"/>
                <a:gd name="connsiteY184" fmla="*/ 2077375 h 4022719"/>
                <a:gd name="connsiteX185" fmla="*/ 949822 w 3852820"/>
                <a:gd name="connsiteY185" fmla="*/ 2618913 h 4022719"/>
                <a:gd name="connsiteX186" fmla="*/ 1411461 w 3852820"/>
                <a:gd name="connsiteY186" fmla="*/ 2876365 h 4022719"/>
                <a:gd name="connsiteX187" fmla="*/ 2379127 w 3852820"/>
                <a:gd name="connsiteY187" fmla="*/ 2592280 h 4022719"/>
                <a:gd name="connsiteX188" fmla="*/ 2459026 w 3852820"/>
                <a:gd name="connsiteY188" fmla="*/ 958788 h 4022719"/>
                <a:gd name="connsiteX189" fmla="*/ 1260540 w 3852820"/>
                <a:gd name="connsiteY189" fmla="*/ 443884 h 4022719"/>
                <a:gd name="connsiteX190" fmla="*/ 568082 w 3852820"/>
                <a:gd name="connsiteY190" fmla="*/ 861134 h 4022719"/>
                <a:gd name="connsiteX191" fmla="*/ 816657 w 3852820"/>
                <a:gd name="connsiteY191" fmla="*/ 2743200 h 4022719"/>
                <a:gd name="connsiteX192" fmla="*/ 1606770 w 3852820"/>
                <a:gd name="connsiteY192" fmla="*/ 2725445 h 4022719"/>
                <a:gd name="connsiteX193" fmla="*/ 1597892 w 3852820"/>
                <a:gd name="connsiteY193" fmla="*/ 1322773 h 4022719"/>
                <a:gd name="connsiteX194" fmla="*/ 683492 w 3852820"/>
                <a:gd name="connsiteY194" fmla="*/ 1012055 h 4022719"/>
                <a:gd name="connsiteX195" fmla="*/ 35422 w 3852820"/>
                <a:gd name="connsiteY195" fmla="*/ 2601157 h 4022719"/>
                <a:gd name="connsiteX196" fmla="*/ 514816 w 3852820"/>
                <a:gd name="connsiteY196" fmla="*/ 3151573 h 4022719"/>
                <a:gd name="connsiteX197" fmla="*/ 1544626 w 3852820"/>
                <a:gd name="connsiteY197" fmla="*/ 3107185 h 4022719"/>
                <a:gd name="connsiteX198" fmla="*/ 2086164 w 3852820"/>
                <a:gd name="connsiteY198" fmla="*/ 2902998 h 4022719"/>
                <a:gd name="connsiteX199" fmla="*/ 1970754 w 3852820"/>
                <a:gd name="connsiteY199" fmla="*/ 3551068 h 4022719"/>
                <a:gd name="connsiteX200" fmla="*/ 2538925 w 3852820"/>
                <a:gd name="connsiteY200" fmla="*/ 3923930 h 4022719"/>
                <a:gd name="connsiteX201" fmla="*/ 3852820 w 3852820"/>
                <a:gd name="connsiteY201" fmla="*/ 2858610 h 4022719"/>
                <a:gd name="connsiteX202" fmla="*/ 3746288 w 3852820"/>
                <a:gd name="connsiteY202" fmla="*/ 2192785 h 4022719"/>
                <a:gd name="connsiteX203" fmla="*/ 3479958 w 3852820"/>
                <a:gd name="connsiteY203" fmla="*/ 1970843 h 4022719"/>
                <a:gd name="connsiteX204" fmla="*/ 3178117 w 3852820"/>
                <a:gd name="connsiteY204" fmla="*/ 2396971 h 4022719"/>
                <a:gd name="connsiteX205" fmla="*/ 3124851 w 3852820"/>
                <a:gd name="connsiteY205" fmla="*/ 2769833 h 4022719"/>
                <a:gd name="connsiteX206" fmla="*/ 3169239 w 3852820"/>
                <a:gd name="connsiteY206" fmla="*/ 1305018 h 4022719"/>
                <a:gd name="connsiteX207" fmla="*/ 2547803 w 3852820"/>
                <a:gd name="connsiteY207" fmla="*/ 1189608 h 4022719"/>
                <a:gd name="connsiteX208" fmla="*/ 1935243 w 3852820"/>
                <a:gd name="connsiteY208" fmla="*/ 1722268 h 4022719"/>
                <a:gd name="connsiteX209" fmla="*/ 1837589 w 3852820"/>
                <a:gd name="connsiteY209" fmla="*/ 301841 h 4022719"/>
                <a:gd name="connsiteX210" fmla="*/ 1571259 w 3852820"/>
                <a:gd name="connsiteY210" fmla="*/ 124288 h 4022719"/>
                <a:gd name="connsiteX211" fmla="*/ 1091865 w 3852820"/>
                <a:gd name="connsiteY211" fmla="*/ 497150 h 4022719"/>
                <a:gd name="connsiteX212" fmla="*/ 949822 w 3852820"/>
                <a:gd name="connsiteY212" fmla="*/ 1367161 h 4022719"/>
                <a:gd name="connsiteX213" fmla="*/ 1296051 w 3852820"/>
                <a:gd name="connsiteY213" fmla="*/ 1500326 h 4022719"/>
                <a:gd name="connsiteX214" fmla="*/ 1890855 w 3852820"/>
                <a:gd name="connsiteY214" fmla="*/ 1100831 h 4022719"/>
                <a:gd name="connsiteX215" fmla="*/ 2077286 w 3852820"/>
                <a:gd name="connsiteY215" fmla="*/ 710214 h 4022719"/>
                <a:gd name="connsiteX216" fmla="*/ 861045 w 3852820"/>
                <a:gd name="connsiteY216" fmla="*/ 337352 h 4022719"/>
                <a:gd name="connsiteX217" fmla="*/ 1047476 w 3852820"/>
                <a:gd name="connsiteY217" fmla="*/ 2104008 h 4022719"/>
                <a:gd name="connsiteX218" fmla="*/ 1757690 w 3852820"/>
                <a:gd name="connsiteY218" fmla="*/ 2139519 h 4022719"/>
                <a:gd name="connsiteX219" fmla="*/ 2237084 w 3852820"/>
                <a:gd name="connsiteY219" fmla="*/ 976544 h 4022719"/>
                <a:gd name="connsiteX220" fmla="*/ 1695546 w 3852820"/>
                <a:gd name="connsiteY220" fmla="*/ 781235 h 4022719"/>
                <a:gd name="connsiteX221" fmla="*/ 1517993 w 3852820"/>
                <a:gd name="connsiteY221" fmla="*/ 1695635 h 4022719"/>
                <a:gd name="connsiteX222" fmla="*/ 1500238 w 3852820"/>
                <a:gd name="connsiteY222" fmla="*/ 2148396 h 4022719"/>
                <a:gd name="connsiteX223" fmla="*/ 1544626 w 3852820"/>
                <a:gd name="connsiteY223" fmla="*/ 2210540 h 4022719"/>
                <a:gd name="connsiteX224" fmla="*/ 1633403 w 3852820"/>
                <a:gd name="connsiteY224" fmla="*/ 2237173 h 4022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Lst>
              <a:rect l="l" t="t" r="r" b="b"/>
              <a:pathLst>
                <a:path w="3852820" h="4022719">
                  <a:moveTo>
                    <a:pt x="3613123" y="763480"/>
                  </a:moveTo>
                  <a:lnTo>
                    <a:pt x="3178117" y="772357"/>
                  </a:lnTo>
                  <a:cubicBezTo>
                    <a:pt x="3013286" y="786485"/>
                    <a:pt x="2988249" y="823414"/>
                    <a:pt x="2849643" y="887767"/>
                  </a:cubicBezTo>
                  <a:cubicBezTo>
                    <a:pt x="2663961" y="973976"/>
                    <a:pt x="2811941" y="892823"/>
                    <a:pt x="2680968" y="967666"/>
                  </a:cubicBezTo>
                  <a:cubicBezTo>
                    <a:pt x="2654335" y="1026851"/>
                    <a:pt x="2615859" y="1082027"/>
                    <a:pt x="2601069" y="1145220"/>
                  </a:cubicBezTo>
                  <a:cubicBezTo>
                    <a:pt x="2582811" y="1223230"/>
                    <a:pt x="2582591" y="1304802"/>
                    <a:pt x="2583313" y="1384917"/>
                  </a:cubicBezTo>
                  <a:cubicBezTo>
                    <a:pt x="2585554" y="1633640"/>
                    <a:pt x="2574244" y="1884483"/>
                    <a:pt x="2609946" y="2130641"/>
                  </a:cubicBezTo>
                  <a:cubicBezTo>
                    <a:pt x="2631035" y="2276041"/>
                    <a:pt x="2751989" y="2547891"/>
                    <a:pt x="2751989" y="2547891"/>
                  </a:cubicBezTo>
                  <a:cubicBezTo>
                    <a:pt x="2725356" y="2648505"/>
                    <a:pt x="2723116" y="2759019"/>
                    <a:pt x="2672090" y="2849732"/>
                  </a:cubicBezTo>
                  <a:cubicBezTo>
                    <a:pt x="2614088" y="2952847"/>
                    <a:pt x="2410764" y="3015554"/>
                    <a:pt x="2316983" y="3053919"/>
                  </a:cubicBezTo>
                  <a:cubicBezTo>
                    <a:pt x="2131551" y="3048124"/>
                    <a:pt x="2009299" y="3071455"/>
                    <a:pt x="1846467" y="2982897"/>
                  </a:cubicBezTo>
                  <a:cubicBezTo>
                    <a:pt x="1733990" y="2921725"/>
                    <a:pt x="1640947" y="2827968"/>
                    <a:pt x="1526871" y="2769833"/>
                  </a:cubicBezTo>
                  <a:cubicBezTo>
                    <a:pt x="1331959" y="2670503"/>
                    <a:pt x="923189" y="2512381"/>
                    <a:pt x="923189" y="2512381"/>
                  </a:cubicBezTo>
                  <a:cubicBezTo>
                    <a:pt x="718357" y="2323305"/>
                    <a:pt x="683953" y="2341976"/>
                    <a:pt x="594715" y="2104008"/>
                  </a:cubicBezTo>
                  <a:cubicBezTo>
                    <a:pt x="584273" y="2076162"/>
                    <a:pt x="588797" y="2044823"/>
                    <a:pt x="585838" y="2015231"/>
                  </a:cubicBezTo>
                  <a:cubicBezTo>
                    <a:pt x="779496" y="1814895"/>
                    <a:pt x="938649" y="1609577"/>
                    <a:pt x="1216152" y="1509204"/>
                  </a:cubicBezTo>
                  <a:cubicBezTo>
                    <a:pt x="1362162" y="1456392"/>
                    <a:pt x="1523911" y="1467775"/>
                    <a:pt x="1677791" y="1447060"/>
                  </a:cubicBezTo>
                  <a:cubicBezTo>
                    <a:pt x="2623806" y="1535749"/>
                    <a:pt x="2328193" y="1349870"/>
                    <a:pt x="2849643" y="1784412"/>
                  </a:cubicBezTo>
                  <a:cubicBezTo>
                    <a:pt x="2886650" y="1815251"/>
                    <a:pt x="2920664" y="1849515"/>
                    <a:pt x="2956175" y="1882066"/>
                  </a:cubicBezTo>
                  <a:cubicBezTo>
                    <a:pt x="2973930" y="1932373"/>
                    <a:pt x="2998451" y="1980783"/>
                    <a:pt x="3009441" y="2032987"/>
                  </a:cubicBezTo>
                  <a:cubicBezTo>
                    <a:pt x="3036049" y="2159376"/>
                    <a:pt x="3049445" y="2272622"/>
                    <a:pt x="2956175" y="2379216"/>
                  </a:cubicBezTo>
                  <a:cubicBezTo>
                    <a:pt x="2867817" y="2480197"/>
                    <a:pt x="2742167" y="2544107"/>
                    <a:pt x="2654335" y="2645546"/>
                  </a:cubicBezTo>
                  <a:cubicBezTo>
                    <a:pt x="2223274" y="3143392"/>
                    <a:pt x="2506059" y="3018368"/>
                    <a:pt x="2103919" y="3258105"/>
                  </a:cubicBezTo>
                  <a:cubicBezTo>
                    <a:pt x="2026613" y="3304191"/>
                    <a:pt x="1944121" y="3340963"/>
                    <a:pt x="1864222" y="3382392"/>
                  </a:cubicBezTo>
                  <a:cubicBezTo>
                    <a:pt x="1721830" y="3372221"/>
                    <a:pt x="1453698" y="3372005"/>
                    <a:pt x="1296051" y="3311371"/>
                  </a:cubicBezTo>
                  <a:cubicBezTo>
                    <a:pt x="1241576" y="3290419"/>
                    <a:pt x="1195438" y="3252186"/>
                    <a:pt x="1145131" y="3222594"/>
                  </a:cubicBezTo>
                  <a:cubicBezTo>
                    <a:pt x="1118498" y="3175247"/>
                    <a:pt x="1077447" y="3133485"/>
                    <a:pt x="1065232" y="3080552"/>
                  </a:cubicBezTo>
                  <a:cubicBezTo>
                    <a:pt x="989807" y="2753712"/>
                    <a:pt x="1000898" y="2175168"/>
                    <a:pt x="994210" y="1890944"/>
                  </a:cubicBezTo>
                  <a:cubicBezTo>
                    <a:pt x="1013380" y="1628949"/>
                    <a:pt x="1068983" y="1256551"/>
                    <a:pt x="1038599" y="958788"/>
                  </a:cubicBezTo>
                  <a:cubicBezTo>
                    <a:pt x="1030697" y="881345"/>
                    <a:pt x="1018355" y="804302"/>
                    <a:pt x="1003088" y="727969"/>
                  </a:cubicBezTo>
                  <a:cubicBezTo>
                    <a:pt x="997582" y="700441"/>
                    <a:pt x="997027" y="667173"/>
                    <a:pt x="976455" y="648070"/>
                  </a:cubicBezTo>
                  <a:cubicBezTo>
                    <a:pt x="951073" y="624501"/>
                    <a:pt x="911352" y="624396"/>
                    <a:pt x="878801" y="612559"/>
                  </a:cubicBezTo>
                  <a:cubicBezTo>
                    <a:pt x="810739" y="642151"/>
                    <a:pt x="732445" y="654820"/>
                    <a:pt x="674614" y="701336"/>
                  </a:cubicBezTo>
                  <a:cubicBezTo>
                    <a:pt x="512526" y="831711"/>
                    <a:pt x="427957" y="1015356"/>
                    <a:pt x="328385" y="1189608"/>
                  </a:cubicBezTo>
                  <a:cubicBezTo>
                    <a:pt x="325426" y="1328691"/>
                    <a:pt x="295157" y="1469891"/>
                    <a:pt x="319507" y="1606858"/>
                  </a:cubicBezTo>
                  <a:cubicBezTo>
                    <a:pt x="343457" y="1741576"/>
                    <a:pt x="415198" y="1863410"/>
                    <a:pt x="470428" y="1988598"/>
                  </a:cubicBezTo>
                  <a:cubicBezTo>
                    <a:pt x="544787" y="2157145"/>
                    <a:pt x="612968" y="2311456"/>
                    <a:pt x="807779" y="2379216"/>
                  </a:cubicBezTo>
                  <a:cubicBezTo>
                    <a:pt x="998535" y="2445566"/>
                    <a:pt x="1204315" y="2456155"/>
                    <a:pt x="1402583" y="2494625"/>
                  </a:cubicBezTo>
                  <a:cubicBezTo>
                    <a:pt x="1479523" y="2485747"/>
                    <a:pt x="1572721" y="2516119"/>
                    <a:pt x="1633403" y="2467992"/>
                  </a:cubicBezTo>
                  <a:cubicBezTo>
                    <a:pt x="1877399" y="2274478"/>
                    <a:pt x="1951976" y="2000034"/>
                    <a:pt x="2059531" y="1731146"/>
                  </a:cubicBezTo>
                  <a:cubicBezTo>
                    <a:pt x="2074728" y="1427184"/>
                    <a:pt x="2080353" y="1499874"/>
                    <a:pt x="2015142" y="1056443"/>
                  </a:cubicBezTo>
                  <a:cubicBezTo>
                    <a:pt x="1952186" y="628344"/>
                    <a:pt x="2048317" y="715915"/>
                    <a:pt x="1846467" y="594804"/>
                  </a:cubicBezTo>
                  <a:cubicBezTo>
                    <a:pt x="1742166" y="678245"/>
                    <a:pt x="1540433" y="794976"/>
                    <a:pt x="1517993" y="958788"/>
                  </a:cubicBezTo>
                  <a:cubicBezTo>
                    <a:pt x="1497093" y="1111357"/>
                    <a:pt x="1522806" y="1266978"/>
                    <a:pt x="1535748" y="1420427"/>
                  </a:cubicBezTo>
                  <a:cubicBezTo>
                    <a:pt x="1553813" y="1634620"/>
                    <a:pt x="1609594" y="1889117"/>
                    <a:pt x="1748812" y="2059620"/>
                  </a:cubicBezTo>
                  <a:cubicBezTo>
                    <a:pt x="2040773" y="2417190"/>
                    <a:pt x="2503242" y="2796359"/>
                    <a:pt x="2902909" y="3045041"/>
                  </a:cubicBezTo>
                  <a:cubicBezTo>
                    <a:pt x="2985058" y="3096156"/>
                    <a:pt x="3080462" y="3121981"/>
                    <a:pt x="3169239" y="3160451"/>
                  </a:cubicBezTo>
                  <a:cubicBezTo>
                    <a:pt x="3240261" y="3240350"/>
                    <a:pt x="3325973" y="3309292"/>
                    <a:pt x="3382304" y="3400148"/>
                  </a:cubicBezTo>
                  <a:cubicBezTo>
                    <a:pt x="3419793" y="3460614"/>
                    <a:pt x="3469590" y="3537780"/>
                    <a:pt x="3444447" y="3604334"/>
                  </a:cubicBezTo>
                  <a:cubicBezTo>
                    <a:pt x="3318819" y="3936878"/>
                    <a:pt x="2786654" y="3811996"/>
                    <a:pt x="2592191" y="3817398"/>
                  </a:cubicBezTo>
                  <a:cubicBezTo>
                    <a:pt x="2126217" y="3724204"/>
                    <a:pt x="2017802" y="3793035"/>
                    <a:pt x="1722179" y="3355759"/>
                  </a:cubicBezTo>
                  <a:cubicBezTo>
                    <a:pt x="1671772" y="3281198"/>
                    <a:pt x="1692587" y="3178206"/>
                    <a:pt x="1677791" y="3089429"/>
                  </a:cubicBezTo>
                  <a:cubicBezTo>
                    <a:pt x="1722179" y="2962182"/>
                    <a:pt x="1721925" y="2808860"/>
                    <a:pt x="1810956" y="2707689"/>
                  </a:cubicBezTo>
                  <a:cubicBezTo>
                    <a:pt x="1928659" y="2573935"/>
                    <a:pt x="2114658" y="2521202"/>
                    <a:pt x="2263717" y="2423604"/>
                  </a:cubicBezTo>
                  <a:cubicBezTo>
                    <a:pt x="2579907" y="2216575"/>
                    <a:pt x="2497650" y="2281920"/>
                    <a:pt x="2707601" y="2059620"/>
                  </a:cubicBezTo>
                  <a:cubicBezTo>
                    <a:pt x="2725356" y="1994517"/>
                    <a:pt x="2780131" y="1928984"/>
                    <a:pt x="2760867" y="1864311"/>
                  </a:cubicBezTo>
                  <a:cubicBezTo>
                    <a:pt x="2674472" y="1574273"/>
                    <a:pt x="2382146" y="1588998"/>
                    <a:pt x="2148307" y="1526959"/>
                  </a:cubicBezTo>
                  <a:cubicBezTo>
                    <a:pt x="2074327" y="1556551"/>
                    <a:pt x="1988417" y="1565751"/>
                    <a:pt x="1926366" y="1615736"/>
                  </a:cubicBezTo>
                  <a:cubicBezTo>
                    <a:pt x="1631421" y="1853331"/>
                    <a:pt x="2079822" y="2194485"/>
                    <a:pt x="2245962" y="2334827"/>
                  </a:cubicBezTo>
                  <a:cubicBezTo>
                    <a:pt x="2553208" y="2594364"/>
                    <a:pt x="2909947" y="2790262"/>
                    <a:pt x="3258016" y="2991775"/>
                  </a:cubicBezTo>
                  <a:cubicBezTo>
                    <a:pt x="3314241" y="3024326"/>
                    <a:pt x="3368583" y="3060374"/>
                    <a:pt x="3426692" y="3089429"/>
                  </a:cubicBezTo>
                  <a:cubicBezTo>
                    <a:pt x="3457672" y="3104919"/>
                    <a:pt x="3491795" y="3113103"/>
                    <a:pt x="3524346" y="3124940"/>
                  </a:cubicBezTo>
                  <a:cubicBezTo>
                    <a:pt x="3536183" y="3142695"/>
                    <a:pt x="3570763" y="3159864"/>
                    <a:pt x="3559857" y="3178206"/>
                  </a:cubicBezTo>
                  <a:cubicBezTo>
                    <a:pt x="3377036" y="3485679"/>
                    <a:pt x="3277585" y="3481023"/>
                    <a:pt x="2965053" y="3648722"/>
                  </a:cubicBezTo>
                  <a:cubicBezTo>
                    <a:pt x="2796377" y="3562905"/>
                    <a:pt x="2603498" y="3513515"/>
                    <a:pt x="2459026" y="3391270"/>
                  </a:cubicBezTo>
                  <a:cubicBezTo>
                    <a:pt x="2397574" y="3339272"/>
                    <a:pt x="2378599" y="3240399"/>
                    <a:pt x="2388005" y="3160451"/>
                  </a:cubicBezTo>
                  <a:cubicBezTo>
                    <a:pt x="2425112" y="2845041"/>
                    <a:pt x="2548631" y="2635012"/>
                    <a:pt x="2680968" y="2370338"/>
                  </a:cubicBezTo>
                  <a:cubicBezTo>
                    <a:pt x="2692805" y="2266765"/>
                    <a:pt x="2765159" y="2151802"/>
                    <a:pt x="2716478" y="2059620"/>
                  </a:cubicBezTo>
                  <a:cubicBezTo>
                    <a:pt x="2436376" y="1529215"/>
                    <a:pt x="2231527" y="1571496"/>
                    <a:pt x="1739935" y="1438183"/>
                  </a:cubicBezTo>
                  <a:cubicBezTo>
                    <a:pt x="1555069" y="1535017"/>
                    <a:pt x="1100824" y="1690916"/>
                    <a:pt x="1136253" y="2015231"/>
                  </a:cubicBezTo>
                  <a:cubicBezTo>
                    <a:pt x="1190539" y="2512155"/>
                    <a:pt x="1708097" y="2960422"/>
                    <a:pt x="2103919" y="3169328"/>
                  </a:cubicBezTo>
                  <a:cubicBezTo>
                    <a:pt x="2203678" y="3221979"/>
                    <a:pt x="2328820" y="3187083"/>
                    <a:pt x="2441271" y="3195961"/>
                  </a:cubicBezTo>
                  <a:cubicBezTo>
                    <a:pt x="2494537" y="3119021"/>
                    <a:pt x="2615664" y="3057576"/>
                    <a:pt x="2601069" y="2965142"/>
                  </a:cubicBezTo>
                  <a:cubicBezTo>
                    <a:pt x="2481086" y="2205253"/>
                    <a:pt x="2281921" y="2184263"/>
                    <a:pt x="1766568" y="1775534"/>
                  </a:cubicBezTo>
                  <a:cubicBezTo>
                    <a:pt x="1624525" y="1784412"/>
                    <a:pt x="1443786" y="1704318"/>
                    <a:pt x="1340439" y="1802167"/>
                  </a:cubicBezTo>
                  <a:cubicBezTo>
                    <a:pt x="555483" y="2545371"/>
                    <a:pt x="1041033" y="3106686"/>
                    <a:pt x="1633403" y="3888420"/>
                  </a:cubicBezTo>
                  <a:cubicBezTo>
                    <a:pt x="1713190" y="3993713"/>
                    <a:pt x="1887896" y="3959441"/>
                    <a:pt x="2015142" y="3994952"/>
                  </a:cubicBezTo>
                  <a:cubicBezTo>
                    <a:pt x="2194011" y="3892741"/>
                    <a:pt x="2211106" y="3934234"/>
                    <a:pt x="2095041" y="3630967"/>
                  </a:cubicBezTo>
                  <a:cubicBezTo>
                    <a:pt x="2037300" y="3480097"/>
                    <a:pt x="1946127" y="3344078"/>
                    <a:pt x="1864222" y="3204839"/>
                  </a:cubicBezTo>
                  <a:cubicBezTo>
                    <a:pt x="1856720" y="3192086"/>
                    <a:pt x="1813915" y="3178206"/>
                    <a:pt x="1828711" y="3178206"/>
                  </a:cubicBezTo>
                  <a:cubicBezTo>
                    <a:pt x="1853995" y="3178206"/>
                    <a:pt x="1878103" y="3191747"/>
                    <a:pt x="1899733" y="3204839"/>
                  </a:cubicBezTo>
                  <a:cubicBezTo>
                    <a:pt x="2103414" y="3328120"/>
                    <a:pt x="2285009" y="3491799"/>
                    <a:pt x="2503414" y="3586579"/>
                  </a:cubicBezTo>
                  <a:cubicBezTo>
                    <a:pt x="2606891" y="3631484"/>
                    <a:pt x="2728315" y="3604334"/>
                    <a:pt x="2840766" y="3613212"/>
                  </a:cubicBezTo>
                  <a:cubicBezTo>
                    <a:pt x="3057267" y="2974533"/>
                    <a:pt x="3176695" y="3156255"/>
                    <a:pt x="2609946" y="2743200"/>
                  </a:cubicBezTo>
                  <a:cubicBezTo>
                    <a:pt x="2577419" y="2719494"/>
                    <a:pt x="2533007" y="2719526"/>
                    <a:pt x="2494537" y="2707689"/>
                  </a:cubicBezTo>
                  <a:cubicBezTo>
                    <a:pt x="2478211" y="2774249"/>
                    <a:pt x="2166064" y="3542190"/>
                    <a:pt x="2627702" y="3542190"/>
                  </a:cubicBezTo>
                  <a:cubicBezTo>
                    <a:pt x="2860147" y="3542190"/>
                    <a:pt x="3024238" y="3299534"/>
                    <a:pt x="3222506" y="3178206"/>
                  </a:cubicBezTo>
                  <a:cubicBezTo>
                    <a:pt x="3210669" y="2956264"/>
                    <a:pt x="3290510" y="2709060"/>
                    <a:pt x="3186995" y="2512381"/>
                  </a:cubicBezTo>
                  <a:cubicBezTo>
                    <a:pt x="2798148" y="1773571"/>
                    <a:pt x="2578318" y="1841376"/>
                    <a:pt x="1952999" y="1722268"/>
                  </a:cubicBezTo>
                  <a:cubicBezTo>
                    <a:pt x="1879018" y="1781452"/>
                    <a:pt x="1759013" y="1809298"/>
                    <a:pt x="1731057" y="1899821"/>
                  </a:cubicBezTo>
                  <a:cubicBezTo>
                    <a:pt x="1562326" y="2446187"/>
                    <a:pt x="1953583" y="2397879"/>
                    <a:pt x="2343616" y="2547891"/>
                  </a:cubicBezTo>
                  <a:cubicBezTo>
                    <a:pt x="2603663" y="2094907"/>
                    <a:pt x="2864522" y="1903786"/>
                    <a:pt x="2414638" y="1331651"/>
                  </a:cubicBezTo>
                  <a:cubicBezTo>
                    <a:pt x="2273936" y="1152715"/>
                    <a:pt x="2006265" y="1130424"/>
                    <a:pt x="1802078" y="1029810"/>
                  </a:cubicBezTo>
                  <a:cubicBezTo>
                    <a:pt x="1253694" y="1148089"/>
                    <a:pt x="1274466" y="1048239"/>
                    <a:pt x="914311" y="1633491"/>
                  </a:cubicBezTo>
                  <a:cubicBezTo>
                    <a:pt x="881705" y="1686476"/>
                    <a:pt x="866679" y="1793898"/>
                    <a:pt x="923189" y="1819922"/>
                  </a:cubicBezTo>
                  <a:cubicBezTo>
                    <a:pt x="1128263" y="1914364"/>
                    <a:pt x="1367072" y="1902781"/>
                    <a:pt x="1589014" y="1944210"/>
                  </a:cubicBezTo>
                  <a:cubicBezTo>
                    <a:pt x="1739934" y="1861352"/>
                    <a:pt x="1973404" y="1853647"/>
                    <a:pt x="2041775" y="1695635"/>
                  </a:cubicBezTo>
                  <a:cubicBezTo>
                    <a:pt x="2302797" y="1092385"/>
                    <a:pt x="1649320" y="592740"/>
                    <a:pt x="1287173" y="319596"/>
                  </a:cubicBezTo>
                  <a:cubicBezTo>
                    <a:pt x="1192052" y="247852"/>
                    <a:pt x="1056354" y="260412"/>
                    <a:pt x="940944" y="230820"/>
                  </a:cubicBezTo>
                  <a:cubicBezTo>
                    <a:pt x="828494" y="411332"/>
                    <a:pt x="665946" y="569030"/>
                    <a:pt x="603593" y="772357"/>
                  </a:cubicBezTo>
                  <a:cubicBezTo>
                    <a:pt x="451971" y="1266777"/>
                    <a:pt x="497353" y="1701456"/>
                    <a:pt x="727880" y="2148396"/>
                  </a:cubicBezTo>
                  <a:cubicBezTo>
                    <a:pt x="781630" y="2252605"/>
                    <a:pt x="887678" y="2320031"/>
                    <a:pt x="967577" y="2405849"/>
                  </a:cubicBezTo>
                  <a:cubicBezTo>
                    <a:pt x="1148090" y="2370338"/>
                    <a:pt x="1381091" y="2431437"/>
                    <a:pt x="1509115" y="2299317"/>
                  </a:cubicBezTo>
                  <a:cubicBezTo>
                    <a:pt x="1885109" y="1911291"/>
                    <a:pt x="2373763" y="1175367"/>
                    <a:pt x="1855344" y="656948"/>
                  </a:cubicBezTo>
                  <a:cubicBezTo>
                    <a:pt x="1727428" y="529032"/>
                    <a:pt x="1506156" y="562253"/>
                    <a:pt x="1331562" y="514905"/>
                  </a:cubicBezTo>
                  <a:cubicBezTo>
                    <a:pt x="1036708" y="1201110"/>
                    <a:pt x="513494" y="1921332"/>
                    <a:pt x="940944" y="2725445"/>
                  </a:cubicBezTo>
                  <a:cubicBezTo>
                    <a:pt x="1098466" y="3021774"/>
                    <a:pt x="1473605" y="3133818"/>
                    <a:pt x="1739935" y="3338004"/>
                  </a:cubicBezTo>
                  <a:cubicBezTo>
                    <a:pt x="1958917" y="3222594"/>
                    <a:pt x="2257494" y="3196332"/>
                    <a:pt x="2396882" y="2991775"/>
                  </a:cubicBezTo>
                  <a:cubicBezTo>
                    <a:pt x="2824490" y="2364246"/>
                    <a:pt x="2132154" y="2117332"/>
                    <a:pt x="1793201" y="1864311"/>
                  </a:cubicBezTo>
                  <a:cubicBezTo>
                    <a:pt x="1633403" y="1973802"/>
                    <a:pt x="1408727" y="2023925"/>
                    <a:pt x="1313806" y="2192785"/>
                  </a:cubicBezTo>
                  <a:cubicBezTo>
                    <a:pt x="1071739" y="2623409"/>
                    <a:pt x="589725" y="3610014"/>
                    <a:pt x="1384828" y="3941686"/>
                  </a:cubicBezTo>
                  <a:cubicBezTo>
                    <a:pt x="1729643" y="4085523"/>
                    <a:pt x="2130552" y="3989033"/>
                    <a:pt x="2503414" y="4012707"/>
                  </a:cubicBezTo>
                  <a:cubicBezTo>
                    <a:pt x="2698723" y="3888420"/>
                    <a:pt x="2967150" y="3836473"/>
                    <a:pt x="3089340" y="3639845"/>
                  </a:cubicBezTo>
                  <a:cubicBezTo>
                    <a:pt x="3472606" y="3023096"/>
                    <a:pt x="3253706" y="2634769"/>
                    <a:pt x="3027197" y="2068497"/>
                  </a:cubicBezTo>
                  <a:cubicBezTo>
                    <a:pt x="2901809" y="1755027"/>
                    <a:pt x="2939386" y="1822870"/>
                    <a:pt x="2689845" y="1686757"/>
                  </a:cubicBezTo>
                  <a:cubicBezTo>
                    <a:pt x="2512684" y="1827830"/>
                    <a:pt x="1795998" y="2196819"/>
                    <a:pt x="2201573" y="2636668"/>
                  </a:cubicBezTo>
                  <a:cubicBezTo>
                    <a:pt x="2348341" y="2795839"/>
                    <a:pt x="2627702" y="2713608"/>
                    <a:pt x="2840766" y="2752078"/>
                  </a:cubicBezTo>
                  <a:cubicBezTo>
                    <a:pt x="3569922" y="1979519"/>
                    <a:pt x="3856117" y="2004798"/>
                    <a:pt x="3684144" y="807868"/>
                  </a:cubicBezTo>
                  <a:cubicBezTo>
                    <a:pt x="3660218" y="641344"/>
                    <a:pt x="3471080" y="547457"/>
                    <a:pt x="3364548" y="417251"/>
                  </a:cubicBezTo>
                  <a:cubicBezTo>
                    <a:pt x="3263934" y="423169"/>
                    <a:pt x="3141958" y="372737"/>
                    <a:pt x="3062707" y="435006"/>
                  </a:cubicBezTo>
                  <a:cubicBezTo>
                    <a:pt x="2751625" y="679427"/>
                    <a:pt x="2245962" y="1296140"/>
                    <a:pt x="2245962" y="1296140"/>
                  </a:cubicBezTo>
                  <a:cubicBezTo>
                    <a:pt x="2441783" y="1557238"/>
                    <a:pt x="2396189" y="1519899"/>
                    <a:pt x="2778622" y="612559"/>
                  </a:cubicBezTo>
                  <a:cubicBezTo>
                    <a:pt x="2969722" y="159165"/>
                    <a:pt x="2329516" y="88639"/>
                    <a:pt x="2121674" y="0"/>
                  </a:cubicBezTo>
                  <a:cubicBezTo>
                    <a:pt x="1917488" y="121328"/>
                    <a:pt x="1639052" y="165166"/>
                    <a:pt x="1509115" y="363985"/>
                  </a:cubicBezTo>
                  <a:cubicBezTo>
                    <a:pt x="1169467" y="883688"/>
                    <a:pt x="1421997" y="1469509"/>
                    <a:pt x="1855344" y="1811045"/>
                  </a:cubicBezTo>
                  <a:cubicBezTo>
                    <a:pt x="2010924" y="1933663"/>
                    <a:pt x="2240043" y="1905740"/>
                    <a:pt x="2432393" y="1953088"/>
                  </a:cubicBezTo>
                  <a:cubicBezTo>
                    <a:pt x="2618824" y="1799208"/>
                    <a:pt x="2855640" y="1691266"/>
                    <a:pt x="2991686" y="1491449"/>
                  </a:cubicBezTo>
                  <a:cubicBezTo>
                    <a:pt x="3325291" y="1001466"/>
                    <a:pt x="2290831" y="666229"/>
                    <a:pt x="2192696" y="603682"/>
                  </a:cubicBezTo>
                  <a:cubicBezTo>
                    <a:pt x="1702693" y="914794"/>
                    <a:pt x="1098413" y="1110617"/>
                    <a:pt x="1420339" y="1988598"/>
                  </a:cubicBezTo>
                  <a:cubicBezTo>
                    <a:pt x="1507955" y="2227552"/>
                    <a:pt x="1887896" y="2189825"/>
                    <a:pt x="2121674" y="2290439"/>
                  </a:cubicBezTo>
                  <a:cubicBezTo>
                    <a:pt x="2315634" y="2190972"/>
                    <a:pt x="3351357" y="1884739"/>
                    <a:pt x="2956175" y="1287262"/>
                  </a:cubicBezTo>
                  <a:cubicBezTo>
                    <a:pt x="2770643" y="1006756"/>
                    <a:pt x="2364330" y="967666"/>
                    <a:pt x="2068408" y="807868"/>
                  </a:cubicBezTo>
                  <a:cubicBezTo>
                    <a:pt x="1601669" y="1347033"/>
                    <a:pt x="1219122" y="1491469"/>
                    <a:pt x="1668913" y="2334827"/>
                  </a:cubicBezTo>
                  <a:cubicBezTo>
                    <a:pt x="1761086" y="2507652"/>
                    <a:pt x="2018102" y="2512380"/>
                    <a:pt x="2192696" y="2601157"/>
                  </a:cubicBezTo>
                  <a:cubicBezTo>
                    <a:pt x="2631312" y="2258137"/>
                    <a:pt x="3277803" y="1999054"/>
                    <a:pt x="3036074" y="1242874"/>
                  </a:cubicBezTo>
                  <a:cubicBezTo>
                    <a:pt x="2978830" y="1063803"/>
                    <a:pt x="2704641" y="1065321"/>
                    <a:pt x="2538925" y="976544"/>
                  </a:cubicBezTo>
                  <a:cubicBezTo>
                    <a:pt x="2432393" y="1210323"/>
                    <a:pt x="2267762" y="1425579"/>
                    <a:pt x="2219329" y="1677880"/>
                  </a:cubicBezTo>
                  <a:cubicBezTo>
                    <a:pt x="2019589" y="2718388"/>
                    <a:pt x="2060506" y="2681550"/>
                    <a:pt x="2290350" y="3355759"/>
                  </a:cubicBezTo>
                  <a:cubicBezTo>
                    <a:pt x="2993818" y="3298721"/>
                    <a:pt x="3047403" y="3455633"/>
                    <a:pt x="3417814" y="2707689"/>
                  </a:cubicBezTo>
                  <a:cubicBezTo>
                    <a:pt x="3467736" y="2606884"/>
                    <a:pt x="3489479" y="2448867"/>
                    <a:pt x="3408937" y="2370338"/>
                  </a:cubicBezTo>
                  <a:cubicBezTo>
                    <a:pt x="3221318" y="2187409"/>
                    <a:pt x="2941380" y="2133600"/>
                    <a:pt x="2707601" y="2015231"/>
                  </a:cubicBezTo>
                  <a:cubicBezTo>
                    <a:pt x="2562599" y="2068497"/>
                    <a:pt x="2350918" y="2041881"/>
                    <a:pt x="2272595" y="2175029"/>
                  </a:cubicBezTo>
                  <a:cubicBezTo>
                    <a:pt x="1870027" y="2859394"/>
                    <a:pt x="2175582" y="2921282"/>
                    <a:pt x="2574436" y="3249227"/>
                  </a:cubicBezTo>
                  <a:cubicBezTo>
                    <a:pt x="2737193" y="3216676"/>
                    <a:pt x="2952570" y="3275747"/>
                    <a:pt x="3062707" y="3151573"/>
                  </a:cubicBezTo>
                  <a:cubicBezTo>
                    <a:pt x="3770113" y="2354007"/>
                    <a:pt x="3483741" y="1764827"/>
                    <a:pt x="2902909" y="941033"/>
                  </a:cubicBezTo>
                  <a:cubicBezTo>
                    <a:pt x="2709023" y="666044"/>
                    <a:pt x="2382086" y="514905"/>
                    <a:pt x="2121674" y="301841"/>
                  </a:cubicBezTo>
                  <a:cubicBezTo>
                    <a:pt x="1507367" y="400131"/>
                    <a:pt x="1764843" y="292841"/>
                    <a:pt x="1455849" y="1535837"/>
                  </a:cubicBezTo>
                  <a:cubicBezTo>
                    <a:pt x="1425561" y="1657678"/>
                    <a:pt x="1437651" y="1805473"/>
                    <a:pt x="1509115" y="1908699"/>
                  </a:cubicBezTo>
                  <a:cubicBezTo>
                    <a:pt x="1562381" y="1985639"/>
                    <a:pt x="1686668" y="1967884"/>
                    <a:pt x="1775445" y="1997476"/>
                  </a:cubicBezTo>
                  <a:cubicBezTo>
                    <a:pt x="1887896" y="1615736"/>
                    <a:pt x="2075786" y="1248489"/>
                    <a:pt x="2112797" y="852256"/>
                  </a:cubicBezTo>
                  <a:cubicBezTo>
                    <a:pt x="2128487" y="684286"/>
                    <a:pt x="2080923" y="449359"/>
                    <a:pt x="1926366" y="381740"/>
                  </a:cubicBezTo>
                  <a:cubicBezTo>
                    <a:pt x="1759132" y="308575"/>
                    <a:pt x="1577177" y="488272"/>
                    <a:pt x="1402583" y="541538"/>
                  </a:cubicBezTo>
                  <a:cubicBezTo>
                    <a:pt x="1361431" y="710987"/>
                    <a:pt x="879407" y="2170558"/>
                    <a:pt x="1145131" y="2565647"/>
                  </a:cubicBezTo>
                  <a:cubicBezTo>
                    <a:pt x="1269444" y="2750480"/>
                    <a:pt x="1565340" y="2713608"/>
                    <a:pt x="1775445" y="2787588"/>
                  </a:cubicBezTo>
                  <a:cubicBezTo>
                    <a:pt x="1902692" y="2669219"/>
                    <a:pt x="2096378" y="2595287"/>
                    <a:pt x="2157185" y="2432482"/>
                  </a:cubicBezTo>
                  <a:cubicBezTo>
                    <a:pt x="2334810" y="1956905"/>
                    <a:pt x="1653382" y="1930357"/>
                    <a:pt x="1464727" y="1873188"/>
                  </a:cubicBezTo>
                  <a:cubicBezTo>
                    <a:pt x="1195552" y="2402255"/>
                    <a:pt x="905504" y="2762102"/>
                    <a:pt x="1269418" y="3462291"/>
                  </a:cubicBezTo>
                  <a:cubicBezTo>
                    <a:pt x="1375865" y="3667100"/>
                    <a:pt x="1695546" y="3639844"/>
                    <a:pt x="1908610" y="3728621"/>
                  </a:cubicBezTo>
                  <a:cubicBezTo>
                    <a:pt x="2521305" y="3483543"/>
                    <a:pt x="3141857" y="3488110"/>
                    <a:pt x="3089340" y="2601157"/>
                  </a:cubicBezTo>
                  <a:cubicBezTo>
                    <a:pt x="3075804" y="2372547"/>
                    <a:pt x="2840765" y="2216458"/>
                    <a:pt x="2716478" y="2024109"/>
                  </a:cubicBezTo>
                  <a:cubicBezTo>
                    <a:pt x="2514061" y="2371656"/>
                    <a:pt x="1834508" y="2990148"/>
                    <a:pt x="2574436" y="3355759"/>
                  </a:cubicBezTo>
                  <a:cubicBezTo>
                    <a:pt x="2709532" y="3422512"/>
                    <a:pt x="2858521" y="3255146"/>
                    <a:pt x="3000564" y="3204839"/>
                  </a:cubicBezTo>
                  <a:cubicBezTo>
                    <a:pt x="3438629" y="2206627"/>
                    <a:pt x="3831218" y="1999851"/>
                    <a:pt x="3293527" y="994299"/>
                  </a:cubicBezTo>
                  <a:cubicBezTo>
                    <a:pt x="3210305" y="838662"/>
                    <a:pt x="3003523" y="793072"/>
                    <a:pt x="2858521" y="692458"/>
                  </a:cubicBezTo>
                  <a:cubicBezTo>
                    <a:pt x="2280101" y="1408598"/>
                    <a:pt x="2208144" y="1236710"/>
                    <a:pt x="2228206" y="2139519"/>
                  </a:cubicBezTo>
                  <a:cubicBezTo>
                    <a:pt x="2228941" y="2172596"/>
                    <a:pt x="2287391" y="2169111"/>
                    <a:pt x="2316983" y="2183907"/>
                  </a:cubicBezTo>
                  <a:cubicBezTo>
                    <a:pt x="2459026" y="1935332"/>
                    <a:pt x="2748798" y="1724423"/>
                    <a:pt x="2743111" y="1438183"/>
                  </a:cubicBezTo>
                  <a:cubicBezTo>
                    <a:pt x="2729625" y="759366"/>
                    <a:pt x="1830937" y="735857"/>
                    <a:pt x="1455849" y="648070"/>
                  </a:cubicBezTo>
                  <a:cubicBezTo>
                    <a:pt x="1165541" y="1213407"/>
                    <a:pt x="703616" y="1889090"/>
                    <a:pt x="763391" y="2583402"/>
                  </a:cubicBezTo>
                  <a:cubicBezTo>
                    <a:pt x="777505" y="2747346"/>
                    <a:pt x="964618" y="2843814"/>
                    <a:pt x="1065232" y="2974020"/>
                  </a:cubicBezTo>
                  <a:cubicBezTo>
                    <a:pt x="1242785" y="2932591"/>
                    <a:pt x="1459013" y="2967859"/>
                    <a:pt x="1597892" y="2849732"/>
                  </a:cubicBezTo>
                  <a:cubicBezTo>
                    <a:pt x="2110070" y="2414086"/>
                    <a:pt x="1813572" y="2192733"/>
                    <a:pt x="1402583" y="2006354"/>
                  </a:cubicBezTo>
                  <a:cubicBezTo>
                    <a:pt x="1302285" y="1960870"/>
                    <a:pt x="1183600" y="1982680"/>
                    <a:pt x="1074109" y="1970843"/>
                  </a:cubicBezTo>
                  <a:cubicBezTo>
                    <a:pt x="850123" y="2428997"/>
                    <a:pt x="287327" y="3067615"/>
                    <a:pt x="1020843" y="3551068"/>
                  </a:cubicBezTo>
                  <a:cubicBezTo>
                    <a:pt x="1253114" y="3704156"/>
                    <a:pt x="1577177" y="3545149"/>
                    <a:pt x="1855344" y="3542190"/>
                  </a:cubicBezTo>
                  <a:cubicBezTo>
                    <a:pt x="2011835" y="3390514"/>
                    <a:pt x="2857750" y="2765516"/>
                    <a:pt x="2601069" y="2325950"/>
                  </a:cubicBezTo>
                  <a:cubicBezTo>
                    <a:pt x="2425963" y="2026080"/>
                    <a:pt x="2015142" y="1953087"/>
                    <a:pt x="1722179" y="1766656"/>
                  </a:cubicBezTo>
                  <a:cubicBezTo>
                    <a:pt x="1547585" y="1775534"/>
                    <a:pt x="1331930" y="1680458"/>
                    <a:pt x="1198397" y="1793289"/>
                  </a:cubicBezTo>
                  <a:cubicBezTo>
                    <a:pt x="989269" y="1969994"/>
                    <a:pt x="162830" y="2974551"/>
                    <a:pt x="710125" y="3435658"/>
                  </a:cubicBezTo>
                  <a:cubicBezTo>
                    <a:pt x="971391" y="3655780"/>
                    <a:pt x="1372991" y="3601375"/>
                    <a:pt x="1704424" y="3684233"/>
                  </a:cubicBezTo>
                  <a:cubicBezTo>
                    <a:pt x="2103919" y="3474128"/>
                    <a:pt x="2560075" y="3347526"/>
                    <a:pt x="2902909" y="3053919"/>
                  </a:cubicBezTo>
                  <a:cubicBezTo>
                    <a:pt x="3157358" y="2836007"/>
                    <a:pt x="3403570" y="2535138"/>
                    <a:pt x="3435570" y="2201662"/>
                  </a:cubicBezTo>
                  <a:cubicBezTo>
                    <a:pt x="3466644" y="1877837"/>
                    <a:pt x="3266773" y="1556390"/>
                    <a:pt x="3071585" y="1296140"/>
                  </a:cubicBezTo>
                  <a:cubicBezTo>
                    <a:pt x="2590871" y="655188"/>
                    <a:pt x="2217497" y="548243"/>
                    <a:pt x="1589014" y="257453"/>
                  </a:cubicBezTo>
                  <a:cubicBezTo>
                    <a:pt x="1002914" y="1011009"/>
                    <a:pt x="999669" y="853868"/>
                    <a:pt x="861045" y="2077375"/>
                  </a:cubicBezTo>
                  <a:cubicBezTo>
                    <a:pt x="840452" y="2259134"/>
                    <a:pt x="846049" y="2468275"/>
                    <a:pt x="949822" y="2618913"/>
                  </a:cubicBezTo>
                  <a:cubicBezTo>
                    <a:pt x="1049777" y="2764008"/>
                    <a:pt x="1257581" y="2790548"/>
                    <a:pt x="1411461" y="2876365"/>
                  </a:cubicBezTo>
                  <a:cubicBezTo>
                    <a:pt x="1734016" y="2781670"/>
                    <a:pt x="2104836" y="2786635"/>
                    <a:pt x="2379127" y="2592280"/>
                  </a:cubicBezTo>
                  <a:cubicBezTo>
                    <a:pt x="3108043" y="2075791"/>
                    <a:pt x="3183287" y="1524616"/>
                    <a:pt x="2459026" y="958788"/>
                  </a:cubicBezTo>
                  <a:cubicBezTo>
                    <a:pt x="2116389" y="691103"/>
                    <a:pt x="1660035" y="615519"/>
                    <a:pt x="1260540" y="443884"/>
                  </a:cubicBezTo>
                  <a:cubicBezTo>
                    <a:pt x="1029721" y="582967"/>
                    <a:pt x="684224" y="617962"/>
                    <a:pt x="568082" y="861134"/>
                  </a:cubicBezTo>
                  <a:cubicBezTo>
                    <a:pt x="26055" y="1996002"/>
                    <a:pt x="293525" y="2083599"/>
                    <a:pt x="816657" y="2743200"/>
                  </a:cubicBezTo>
                  <a:cubicBezTo>
                    <a:pt x="1080028" y="2737282"/>
                    <a:pt x="1378747" y="2857372"/>
                    <a:pt x="1606770" y="2725445"/>
                  </a:cubicBezTo>
                  <a:cubicBezTo>
                    <a:pt x="2293333" y="2328219"/>
                    <a:pt x="2130040" y="1714159"/>
                    <a:pt x="1597892" y="1322773"/>
                  </a:cubicBezTo>
                  <a:cubicBezTo>
                    <a:pt x="1338563" y="1132041"/>
                    <a:pt x="988292" y="1115628"/>
                    <a:pt x="683492" y="1012055"/>
                  </a:cubicBezTo>
                  <a:cubicBezTo>
                    <a:pt x="348662" y="1483086"/>
                    <a:pt x="-135283" y="1926872"/>
                    <a:pt x="35422" y="2601157"/>
                  </a:cubicBezTo>
                  <a:cubicBezTo>
                    <a:pt x="95134" y="2837021"/>
                    <a:pt x="355018" y="2968101"/>
                    <a:pt x="514816" y="3151573"/>
                  </a:cubicBezTo>
                  <a:cubicBezTo>
                    <a:pt x="858086" y="3136777"/>
                    <a:pt x="1205257" y="3160870"/>
                    <a:pt x="1544626" y="3107185"/>
                  </a:cubicBezTo>
                  <a:cubicBezTo>
                    <a:pt x="1735174" y="3077042"/>
                    <a:pt x="1952562" y="2763830"/>
                    <a:pt x="2086164" y="2902998"/>
                  </a:cubicBezTo>
                  <a:cubicBezTo>
                    <a:pt x="2238121" y="3061286"/>
                    <a:pt x="2009224" y="3335045"/>
                    <a:pt x="1970754" y="3551068"/>
                  </a:cubicBezTo>
                  <a:cubicBezTo>
                    <a:pt x="2160144" y="3675355"/>
                    <a:pt x="2313312" y="3903562"/>
                    <a:pt x="2538925" y="3923930"/>
                  </a:cubicBezTo>
                  <a:cubicBezTo>
                    <a:pt x="3239904" y="3987213"/>
                    <a:pt x="3532653" y="3287070"/>
                    <a:pt x="3852820" y="2858610"/>
                  </a:cubicBezTo>
                  <a:cubicBezTo>
                    <a:pt x="3817309" y="2636668"/>
                    <a:pt x="3833324" y="2400014"/>
                    <a:pt x="3746288" y="2192785"/>
                  </a:cubicBezTo>
                  <a:cubicBezTo>
                    <a:pt x="3701539" y="2086239"/>
                    <a:pt x="3588710" y="1931760"/>
                    <a:pt x="3479958" y="1970843"/>
                  </a:cubicBezTo>
                  <a:cubicBezTo>
                    <a:pt x="3316148" y="2029712"/>
                    <a:pt x="3278731" y="2254928"/>
                    <a:pt x="3178117" y="2396971"/>
                  </a:cubicBezTo>
                  <a:cubicBezTo>
                    <a:pt x="3160362" y="2521258"/>
                    <a:pt x="3034958" y="2857479"/>
                    <a:pt x="3124851" y="2769833"/>
                  </a:cubicBezTo>
                  <a:cubicBezTo>
                    <a:pt x="3594381" y="2312041"/>
                    <a:pt x="3729832" y="1794906"/>
                    <a:pt x="3169239" y="1305018"/>
                  </a:cubicBezTo>
                  <a:cubicBezTo>
                    <a:pt x="3010592" y="1166381"/>
                    <a:pt x="2754948" y="1228078"/>
                    <a:pt x="2547803" y="1189608"/>
                  </a:cubicBezTo>
                  <a:cubicBezTo>
                    <a:pt x="1741719" y="2083099"/>
                    <a:pt x="1663989" y="2342281"/>
                    <a:pt x="1935243" y="1722268"/>
                  </a:cubicBezTo>
                  <a:cubicBezTo>
                    <a:pt x="1902692" y="1248792"/>
                    <a:pt x="1942991" y="764582"/>
                    <a:pt x="1837589" y="301841"/>
                  </a:cubicBezTo>
                  <a:cubicBezTo>
                    <a:pt x="1813893" y="197809"/>
                    <a:pt x="1674474" y="97255"/>
                    <a:pt x="1571259" y="124288"/>
                  </a:cubicBezTo>
                  <a:cubicBezTo>
                    <a:pt x="1375422" y="175579"/>
                    <a:pt x="1251663" y="372863"/>
                    <a:pt x="1091865" y="497150"/>
                  </a:cubicBezTo>
                  <a:cubicBezTo>
                    <a:pt x="1044517" y="787154"/>
                    <a:pt x="891215" y="1079222"/>
                    <a:pt x="949822" y="1367161"/>
                  </a:cubicBezTo>
                  <a:cubicBezTo>
                    <a:pt x="974484" y="1488328"/>
                    <a:pt x="1177073" y="1533999"/>
                    <a:pt x="1296051" y="1500326"/>
                  </a:cubicBezTo>
                  <a:cubicBezTo>
                    <a:pt x="1525861" y="1435285"/>
                    <a:pt x="1692587" y="1233996"/>
                    <a:pt x="1890855" y="1100831"/>
                  </a:cubicBezTo>
                  <a:cubicBezTo>
                    <a:pt x="1952999" y="970625"/>
                    <a:pt x="2142373" y="838973"/>
                    <a:pt x="2077286" y="710214"/>
                  </a:cubicBezTo>
                  <a:cubicBezTo>
                    <a:pt x="1788879" y="139670"/>
                    <a:pt x="1315535" y="304888"/>
                    <a:pt x="861045" y="337352"/>
                  </a:cubicBezTo>
                  <a:cubicBezTo>
                    <a:pt x="714385" y="974567"/>
                    <a:pt x="271374" y="1644317"/>
                    <a:pt x="1047476" y="2104008"/>
                  </a:cubicBezTo>
                  <a:cubicBezTo>
                    <a:pt x="1251420" y="2224805"/>
                    <a:pt x="1520952" y="2127682"/>
                    <a:pt x="1757690" y="2139519"/>
                  </a:cubicBezTo>
                  <a:cubicBezTo>
                    <a:pt x="2086670" y="1831100"/>
                    <a:pt x="2684077" y="1562041"/>
                    <a:pt x="2237084" y="976544"/>
                  </a:cubicBezTo>
                  <a:cubicBezTo>
                    <a:pt x="2120640" y="824019"/>
                    <a:pt x="1876059" y="846338"/>
                    <a:pt x="1695546" y="781235"/>
                  </a:cubicBezTo>
                  <a:cubicBezTo>
                    <a:pt x="1636362" y="1086035"/>
                    <a:pt x="1561903" y="1388263"/>
                    <a:pt x="1517993" y="1695635"/>
                  </a:cubicBezTo>
                  <a:cubicBezTo>
                    <a:pt x="1496633" y="1845153"/>
                    <a:pt x="1492436" y="1997561"/>
                    <a:pt x="1500238" y="2148396"/>
                  </a:cubicBezTo>
                  <a:cubicBezTo>
                    <a:pt x="1501553" y="2173818"/>
                    <a:pt x="1523911" y="2195744"/>
                    <a:pt x="1544626" y="2210540"/>
                  </a:cubicBezTo>
                  <a:cubicBezTo>
                    <a:pt x="1583222" y="2238109"/>
                    <a:pt x="1601101" y="2237173"/>
                    <a:pt x="1633403" y="2237173"/>
                  </a:cubicBezTo>
                </a:path>
              </a:pathLst>
            </a:custGeom>
            <a:noFill/>
            <a:ln w="28575">
              <a:solidFill>
                <a:srgbClr val="DC4C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1222371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FF38E-AECA-9968-3B27-944730BF0EAA}"/>
              </a:ext>
            </a:extLst>
          </p:cNvPr>
          <p:cNvSpPr>
            <a:spLocks noGrp="1"/>
          </p:cNvSpPr>
          <p:nvPr>
            <p:ph type="title"/>
          </p:nvPr>
        </p:nvSpPr>
        <p:spPr/>
        <p:txBody>
          <a:bodyPr/>
          <a:lstStyle/>
          <a:p>
            <a:r>
              <a:rPr lang="en-US" dirty="0"/>
              <a:t>My Approach</a:t>
            </a:r>
          </a:p>
        </p:txBody>
      </p:sp>
      <p:pic>
        <p:nvPicPr>
          <p:cNvPr id="14" name="Picture 13" descr="Input: the blanket with one end of yarn, the pile with the other end.">
            <a:extLst>
              <a:ext uri="{FF2B5EF4-FFF2-40B4-BE49-F238E27FC236}">
                <a16:creationId xmlns:a16="http://schemas.microsoft.com/office/drawing/2014/main" id="{EEAE774A-BB99-6245-DF87-E1B9D0363D2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1411150"/>
            <a:ext cx="3053265" cy="2289949"/>
          </a:xfrm>
          <a:prstGeom prst="rect">
            <a:avLst/>
          </a:prstGeom>
          <a:ln>
            <a:noFill/>
          </a:ln>
          <a:effectLst>
            <a:softEdge rad="112500"/>
          </a:effectLst>
        </p:spPr>
      </p:pic>
      <p:pic>
        <p:nvPicPr>
          <p:cNvPr id="12" name="Picture 11" descr="step 1: split the pile in half, count the number of strands between them. If there is an even number then that means the end of the yarn must be in the half-pile which connects to the blanket.">
            <a:extLst>
              <a:ext uri="{FF2B5EF4-FFF2-40B4-BE49-F238E27FC236}">
                <a16:creationId xmlns:a16="http://schemas.microsoft.com/office/drawing/2014/main" id="{3B6BBC2D-A66F-DB9C-04C2-A9C2963A4EF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831" y="2118822"/>
            <a:ext cx="3053265" cy="2289949"/>
          </a:xfrm>
          <a:prstGeom prst="rect">
            <a:avLst/>
          </a:prstGeom>
          <a:ln>
            <a:noFill/>
          </a:ln>
          <a:effectLst>
            <a:softEdge rad="112500"/>
          </a:effectLst>
        </p:spPr>
      </p:pic>
      <p:pic>
        <p:nvPicPr>
          <p:cNvPr id="10" name="Picture 9" descr="In the previous step we had 7 strands crossing, so we next repeat the process of dividing the pile in half on the pile that does not attach to the blanket. In the next step we again count the crossing strands. If it's even then we continue with the pile that connects to the previously discarded pile.">
            <a:extLst>
              <a:ext uri="{FF2B5EF4-FFF2-40B4-BE49-F238E27FC236}">
                <a16:creationId xmlns:a16="http://schemas.microsoft.com/office/drawing/2014/main" id="{58BED0D0-21C6-FBC0-34A7-7C88AC53F1F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856873" y="2998304"/>
            <a:ext cx="3053264" cy="2289948"/>
          </a:xfrm>
          <a:prstGeom prst="rect">
            <a:avLst/>
          </a:prstGeom>
          <a:ln>
            <a:noFill/>
          </a:ln>
          <a:effectLst>
            <a:softEdge rad="112500"/>
          </a:effectLst>
        </p:spPr>
      </p:pic>
      <p:pic>
        <p:nvPicPr>
          <p:cNvPr id="8" name="Content Placeholder 7" descr="We continue until we pile is small enough that we can simply spot the end.">
            <a:extLst>
              <a:ext uri="{FF2B5EF4-FFF2-40B4-BE49-F238E27FC236}">
                <a16:creationId xmlns:a16="http://schemas.microsoft.com/office/drawing/2014/main" id="{7559EE6A-C753-DE43-1417-771D507A9974}"/>
              </a:ext>
            </a:extLst>
          </p:cNvPr>
          <p:cNvPicPr>
            <a:picLocks noGrp="1" noChangeAspect="1"/>
          </p:cNvPicPr>
          <p:nvPr>
            <p:ph idx="1"/>
          </p:nvPr>
        </p:nvPicPr>
        <p:blipFill>
          <a:blip r:embed="rId5" cstate="print">
            <a:extLst>
              <a:ext uri="{28A0092B-C50C-407E-A947-70E740481C1C}">
                <a14:useLocalDpi xmlns:a14="http://schemas.microsoft.com/office/drawing/2010/main" val="0"/>
              </a:ext>
            </a:extLst>
          </a:blip>
          <a:stretch>
            <a:fillRect/>
          </a:stretch>
        </p:blipFill>
        <p:spPr>
          <a:xfrm>
            <a:off x="8664915" y="3988904"/>
            <a:ext cx="3053264" cy="2289948"/>
          </a:xfrm>
          <a:prstGeom prst="rect">
            <a:avLst/>
          </a:prstGeom>
          <a:ln>
            <a:noFill/>
          </a:ln>
          <a:effectLst>
            <a:softEdge rad="112500"/>
          </a:effectLst>
        </p:spPr>
      </p:pic>
      <p:sp>
        <p:nvSpPr>
          <p:cNvPr id="3" name="Slide Number Placeholder 2">
            <a:extLst>
              <a:ext uri="{FF2B5EF4-FFF2-40B4-BE49-F238E27FC236}">
                <a16:creationId xmlns:a16="http://schemas.microsoft.com/office/drawing/2014/main" id="{EBEB04ED-E34C-46CC-9EA4-5D7878C3B20E}"/>
              </a:ext>
            </a:extLst>
          </p:cNvPr>
          <p:cNvSpPr>
            <a:spLocks noGrp="1"/>
          </p:cNvSpPr>
          <p:nvPr>
            <p:ph type="sldNum" sz="quarter" idx="12"/>
          </p:nvPr>
        </p:nvSpPr>
        <p:spPr/>
        <p:txBody>
          <a:bodyPr/>
          <a:lstStyle/>
          <a:p>
            <a:fld id="{F4E8603E-186F-4CC7-B8E2-5FD613D3E28C}" type="slidenum">
              <a:rPr lang="en-US" smtClean="0"/>
              <a:t>15</a:t>
            </a:fld>
            <a:endParaRPr lang="en-US" dirty="0"/>
          </a:p>
        </p:txBody>
      </p:sp>
    </p:spTree>
    <p:extLst>
      <p:ext uri="{BB962C8B-B14F-4D97-AF65-F5344CB8AC3E}">
        <p14:creationId xmlns:p14="http://schemas.microsoft.com/office/powerpoint/2010/main" val="1157591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End-of-Yarn Finding Algorithm</a:t>
            </a:r>
          </a:p>
        </p:txBody>
      </p:sp>
      <p:sp>
        <p:nvSpPr>
          <p:cNvPr id="3" name="Content Placeholder 2"/>
          <p:cNvSpPr>
            <a:spLocks noGrp="1"/>
          </p:cNvSpPr>
          <p:nvPr>
            <p:ph idx="1"/>
          </p:nvPr>
        </p:nvSpPr>
        <p:spPr>
          <a:xfrm>
            <a:off x="154929" y="1442153"/>
            <a:ext cx="9067800" cy="4800600"/>
          </a:xfrm>
        </p:spPr>
        <p:txBody>
          <a:bodyPr>
            <a:normAutofit/>
          </a:bodyPr>
          <a:lstStyle/>
          <a:p>
            <a:pPr marL="0" indent="0">
              <a:buNone/>
            </a:pPr>
            <a:r>
              <a:rPr lang="en-US" dirty="0"/>
              <a:t>Set aside the already-obtained beginning</a:t>
            </a:r>
            <a:br>
              <a:rPr lang="en-US" dirty="0"/>
            </a:br>
            <a:r>
              <a:rPr lang="en-US" dirty="0"/>
              <a:t>Do the following until you find the end:</a:t>
            </a:r>
            <a:br>
              <a:rPr lang="en-US" dirty="0"/>
            </a:br>
            <a:r>
              <a:rPr lang="en-US" dirty="0"/>
              <a:t>    Separate the pile of yarn into 2 piles </a:t>
            </a:r>
            <a:br>
              <a:rPr lang="en-US" dirty="0"/>
            </a:br>
            <a:r>
              <a:rPr lang="en-US" dirty="0"/>
              <a:t>    Label A to be the pile that the beginning enters</a:t>
            </a:r>
            <a:br>
              <a:rPr lang="en-US" dirty="0"/>
            </a:br>
            <a:r>
              <a:rPr lang="en-US" dirty="0"/>
              <a:t>    Label B to be the other pile</a:t>
            </a:r>
            <a:br>
              <a:rPr lang="en-US" dirty="0"/>
            </a:br>
            <a:r>
              <a:rPr lang="en-US" dirty="0"/>
              <a:t>    Count the number of strands crossing the piles</a:t>
            </a:r>
            <a:br>
              <a:rPr lang="en-US" dirty="0"/>
            </a:br>
            <a:r>
              <a:rPr lang="en-US" dirty="0"/>
              <a:t>    If count is even, set the pile to be A</a:t>
            </a:r>
            <a:br>
              <a:rPr lang="en-US" dirty="0"/>
            </a:br>
            <a:r>
              <a:rPr lang="en-US" dirty="0"/>
              <a:t>    Otherwise set the pile to be B.</a:t>
            </a:r>
          </a:p>
        </p:txBody>
      </p:sp>
      <p:grpSp>
        <p:nvGrpSpPr>
          <p:cNvPr id="5" name="Group 4">
            <a:extLst>
              <a:ext uri="{FF2B5EF4-FFF2-40B4-BE49-F238E27FC236}">
                <a16:creationId xmlns:a16="http://schemas.microsoft.com/office/drawing/2014/main" id="{4D1B2CB4-59D7-A41F-E296-7ABCB1DC156F}"/>
              </a:ext>
              <a:ext uri="{C183D7F6-B498-43B3-948B-1728B52AA6E4}">
                <adec:decorative xmlns:adec="http://schemas.microsoft.com/office/drawing/2017/decorative" val="1"/>
              </a:ext>
            </a:extLst>
          </p:cNvPr>
          <p:cNvGrpSpPr/>
          <p:nvPr/>
        </p:nvGrpSpPr>
        <p:grpSpPr>
          <a:xfrm>
            <a:off x="8839200" y="793608"/>
            <a:ext cx="3144965" cy="1545048"/>
            <a:chOff x="1828800" y="1295400"/>
            <a:chExt cx="9753600" cy="4791716"/>
          </a:xfrm>
        </p:grpSpPr>
        <p:pic>
          <p:nvPicPr>
            <p:cNvPr id="6" name="Picture 2">
              <a:extLst>
                <a:ext uri="{FF2B5EF4-FFF2-40B4-BE49-F238E27FC236}">
                  <a16:creationId xmlns:a16="http://schemas.microsoft.com/office/drawing/2014/main" id="{6AFE74D8-0805-A2AB-18A6-3EA35C1460FF}"/>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9000"/>
            <a:stretch/>
          </p:blipFill>
          <p:spPr bwMode="auto">
            <a:xfrm>
              <a:off x="5410200" y="1562741"/>
              <a:ext cx="6172200" cy="4524375"/>
            </a:xfrm>
            <a:prstGeom prst="rect">
              <a:avLst/>
            </a:prstGeom>
            <a:noFill/>
            <a:extLst>
              <a:ext uri="{909E8E84-426E-40DD-AFC4-6F175D3DCCD1}">
                <a14:hiddenFill xmlns:a14="http://schemas.microsoft.com/office/drawing/2010/main">
                  <a:solidFill>
                    <a:srgbClr val="FFFFFF"/>
                  </a:solidFill>
                </a14:hiddenFill>
              </a:ext>
            </a:extLst>
          </p:spPr>
        </p:pic>
        <p:sp>
          <p:nvSpPr>
            <p:cNvPr id="7" name="Freeform: Shape 6">
              <a:extLst>
                <a:ext uri="{FF2B5EF4-FFF2-40B4-BE49-F238E27FC236}">
                  <a16:creationId xmlns:a16="http://schemas.microsoft.com/office/drawing/2014/main" id="{F1D8BFED-936F-6088-AA6C-2A93B3F514AB}"/>
                </a:ext>
              </a:extLst>
            </p:cNvPr>
            <p:cNvSpPr/>
            <p:nvPr/>
          </p:nvSpPr>
          <p:spPr>
            <a:xfrm>
              <a:off x="1828800" y="1295400"/>
              <a:ext cx="3852820" cy="4022719"/>
            </a:xfrm>
            <a:custGeom>
              <a:avLst/>
              <a:gdLst>
                <a:gd name="connsiteX0" fmla="*/ 3613123 w 3852820"/>
                <a:gd name="connsiteY0" fmla="*/ 763480 h 4022719"/>
                <a:gd name="connsiteX1" fmla="*/ 3178117 w 3852820"/>
                <a:gd name="connsiteY1" fmla="*/ 772357 h 4022719"/>
                <a:gd name="connsiteX2" fmla="*/ 2849643 w 3852820"/>
                <a:gd name="connsiteY2" fmla="*/ 887767 h 4022719"/>
                <a:gd name="connsiteX3" fmla="*/ 2680968 w 3852820"/>
                <a:gd name="connsiteY3" fmla="*/ 967666 h 4022719"/>
                <a:gd name="connsiteX4" fmla="*/ 2601069 w 3852820"/>
                <a:gd name="connsiteY4" fmla="*/ 1145220 h 4022719"/>
                <a:gd name="connsiteX5" fmla="*/ 2583313 w 3852820"/>
                <a:gd name="connsiteY5" fmla="*/ 1384917 h 4022719"/>
                <a:gd name="connsiteX6" fmla="*/ 2609946 w 3852820"/>
                <a:gd name="connsiteY6" fmla="*/ 2130641 h 4022719"/>
                <a:gd name="connsiteX7" fmla="*/ 2751989 w 3852820"/>
                <a:gd name="connsiteY7" fmla="*/ 2547891 h 4022719"/>
                <a:gd name="connsiteX8" fmla="*/ 2672090 w 3852820"/>
                <a:gd name="connsiteY8" fmla="*/ 2849732 h 4022719"/>
                <a:gd name="connsiteX9" fmla="*/ 2316983 w 3852820"/>
                <a:gd name="connsiteY9" fmla="*/ 3053919 h 4022719"/>
                <a:gd name="connsiteX10" fmla="*/ 1846467 w 3852820"/>
                <a:gd name="connsiteY10" fmla="*/ 2982897 h 4022719"/>
                <a:gd name="connsiteX11" fmla="*/ 1526871 w 3852820"/>
                <a:gd name="connsiteY11" fmla="*/ 2769833 h 4022719"/>
                <a:gd name="connsiteX12" fmla="*/ 923189 w 3852820"/>
                <a:gd name="connsiteY12" fmla="*/ 2512381 h 4022719"/>
                <a:gd name="connsiteX13" fmla="*/ 594715 w 3852820"/>
                <a:gd name="connsiteY13" fmla="*/ 2104008 h 4022719"/>
                <a:gd name="connsiteX14" fmla="*/ 585838 w 3852820"/>
                <a:gd name="connsiteY14" fmla="*/ 2015231 h 4022719"/>
                <a:gd name="connsiteX15" fmla="*/ 1216152 w 3852820"/>
                <a:gd name="connsiteY15" fmla="*/ 1509204 h 4022719"/>
                <a:gd name="connsiteX16" fmla="*/ 1677791 w 3852820"/>
                <a:gd name="connsiteY16" fmla="*/ 1447060 h 4022719"/>
                <a:gd name="connsiteX17" fmla="*/ 2849643 w 3852820"/>
                <a:gd name="connsiteY17" fmla="*/ 1784412 h 4022719"/>
                <a:gd name="connsiteX18" fmla="*/ 2956175 w 3852820"/>
                <a:gd name="connsiteY18" fmla="*/ 1882066 h 4022719"/>
                <a:gd name="connsiteX19" fmla="*/ 3009441 w 3852820"/>
                <a:gd name="connsiteY19" fmla="*/ 2032987 h 4022719"/>
                <a:gd name="connsiteX20" fmla="*/ 2956175 w 3852820"/>
                <a:gd name="connsiteY20" fmla="*/ 2379216 h 4022719"/>
                <a:gd name="connsiteX21" fmla="*/ 2654335 w 3852820"/>
                <a:gd name="connsiteY21" fmla="*/ 2645546 h 4022719"/>
                <a:gd name="connsiteX22" fmla="*/ 2103919 w 3852820"/>
                <a:gd name="connsiteY22" fmla="*/ 3258105 h 4022719"/>
                <a:gd name="connsiteX23" fmla="*/ 1864222 w 3852820"/>
                <a:gd name="connsiteY23" fmla="*/ 3382392 h 4022719"/>
                <a:gd name="connsiteX24" fmla="*/ 1296051 w 3852820"/>
                <a:gd name="connsiteY24" fmla="*/ 3311371 h 4022719"/>
                <a:gd name="connsiteX25" fmla="*/ 1145131 w 3852820"/>
                <a:gd name="connsiteY25" fmla="*/ 3222594 h 4022719"/>
                <a:gd name="connsiteX26" fmla="*/ 1065232 w 3852820"/>
                <a:gd name="connsiteY26" fmla="*/ 3080552 h 4022719"/>
                <a:gd name="connsiteX27" fmla="*/ 994210 w 3852820"/>
                <a:gd name="connsiteY27" fmla="*/ 1890944 h 4022719"/>
                <a:gd name="connsiteX28" fmla="*/ 1038599 w 3852820"/>
                <a:gd name="connsiteY28" fmla="*/ 958788 h 4022719"/>
                <a:gd name="connsiteX29" fmla="*/ 1003088 w 3852820"/>
                <a:gd name="connsiteY29" fmla="*/ 727969 h 4022719"/>
                <a:gd name="connsiteX30" fmla="*/ 976455 w 3852820"/>
                <a:gd name="connsiteY30" fmla="*/ 648070 h 4022719"/>
                <a:gd name="connsiteX31" fmla="*/ 878801 w 3852820"/>
                <a:gd name="connsiteY31" fmla="*/ 612559 h 4022719"/>
                <a:gd name="connsiteX32" fmla="*/ 674614 w 3852820"/>
                <a:gd name="connsiteY32" fmla="*/ 701336 h 4022719"/>
                <a:gd name="connsiteX33" fmla="*/ 328385 w 3852820"/>
                <a:gd name="connsiteY33" fmla="*/ 1189608 h 4022719"/>
                <a:gd name="connsiteX34" fmla="*/ 319507 w 3852820"/>
                <a:gd name="connsiteY34" fmla="*/ 1606858 h 4022719"/>
                <a:gd name="connsiteX35" fmla="*/ 470428 w 3852820"/>
                <a:gd name="connsiteY35" fmla="*/ 1988598 h 4022719"/>
                <a:gd name="connsiteX36" fmla="*/ 807779 w 3852820"/>
                <a:gd name="connsiteY36" fmla="*/ 2379216 h 4022719"/>
                <a:gd name="connsiteX37" fmla="*/ 1402583 w 3852820"/>
                <a:gd name="connsiteY37" fmla="*/ 2494625 h 4022719"/>
                <a:gd name="connsiteX38" fmla="*/ 1633403 w 3852820"/>
                <a:gd name="connsiteY38" fmla="*/ 2467992 h 4022719"/>
                <a:gd name="connsiteX39" fmla="*/ 2059531 w 3852820"/>
                <a:gd name="connsiteY39" fmla="*/ 1731146 h 4022719"/>
                <a:gd name="connsiteX40" fmla="*/ 2015142 w 3852820"/>
                <a:gd name="connsiteY40" fmla="*/ 1056443 h 4022719"/>
                <a:gd name="connsiteX41" fmla="*/ 1846467 w 3852820"/>
                <a:gd name="connsiteY41" fmla="*/ 594804 h 4022719"/>
                <a:gd name="connsiteX42" fmla="*/ 1517993 w 3852820"/>
                <a:gd name="connsiteY42" fmla="*/ 958788 h 4022719"/>
                <a:gd name="connsiteX43" fmla="*/ 1535748 w 3852820"/>
                <a:gd name="connsiteY43" fmla="*/ 1420427 h 4022719"/>
                <a:gd name="connsiteX44" fmla="*/ 1748812 w 3852820"/>
                <a:gd name="connsiteY44" fmla="*/ 2059620 h 4022719"/>
                <a:gd name="connsiteX45" fmla="*/ 2902909 w 3852820"/>
                <a:gd name="connsiteY45" fmla="*/ 3045041 h 4022719"/>
                <a:gd name="connsiteX46" fmla="*/ 3169239 w 3852820"/>
                <a:gd name="connsiteY46" fmla="*/ 3160451 h 4022719"/>
                <a:gd name="connsiteX47" fmla="*/ 3382304 w 3852820"/>
                <a:gd name="connsiteY47" fmla="*/ 3400148 h 4022719"/>
                <a:gd name="connsiteX48" fmla="*/ 3444447 w 3852820"/>
                <a:gd name="connsiteY48" fmla="*/ 3604334 h 4022719"/>
                <a:gd name="connsiteX49" fmla="*/ 2592191 w 3852820"/>
                <a:gd name="connsiteY49" fmla="*/ 3817398 h 4022719"/>
                <a:gd name="connsiteX50" fmla="*/ 1722179 w 3852820"/>
                <a:gd name="connsiteY50" fmla="*/ 3355759 h 4022719"/>
                <a:gd name="connsiteX51" fmla="*/ 1677791 w 3852820"/>
                <a:gd name="connsiteY51" fmla="*/ 3089429 h 4022719"/>
                <a:gd name="connsiteX52" fmla="*/ 1810956 w 3852820"/>
                <a:gd name="connsiteY52" fmla="*/ 2707689 h 4022719"/>
                <a:gd name="connsiteX53" fmla="*/ 2263717 w 3852820"/>
                <a:gd name="connsiteY53" fmla="*/ 2423604 h 4022719"/>
                <a:gd name="connsiteX54" fmla="*/ 2707601 w 3852820"/>
                <a:gd name="connsiteY54" fmla="*/ 2059620 h 4022719"/>
                <a:gd name="connsiteX55" fmla="*/ 2760867 w 3852820"/>
                <a:gd name="connsiteY55" fmla="*/ 1864311 h 4022719"/>
                <a:gd name="connsiteX56" fmla="*/ 2148307 w 3852820"/>
                <a:gd name="connsiteY56" fmla="*/ 1526959 h 4022719"/>
                <a:gd name="connsiteX57" fmla="*/ 1926366 w 3852820"/>
                <a:gd name="connsiteY57" fmla="*/ 1615736 h 4022719"/>
                <a:gd name="connsiteX58" fmla="*/ 2245962 w 3852820"/>
                <a:gd name="connsiteY58" fmla="*/ 2334827 h 4022719"/>
                <a:gd name="connsiteX59" fmla="*/ 3258016 w 3852820"/>
                <a:gd name="connsiteY59" fmla="*/ 2991775 h 4022719"/>
                <a:gd name="connsiteX60" fmla="*/ 3426692 w 3852820"/>
                <a:gd name="connsiteY60" fmla="*/ 3089429 h 4022719"/>
                <a:gd name="connsiteX61" fmla="*/ 3524346 w 3852820"/>
                <a:gd name="connsiteY61" fmla="*/ 3124940 h 4022719"/>
                <a:gd name="connsiteX62" fmla="*/ 3559857 w 3852820"/>
                <a:gd name="connsiteY62" fmla="*/ 3178206 h 4022719"/>
                <a:gd name="connsiteX63" fmla="*/ 2965053 w 3852820"/>
                <a:gd name="connsiteY63" fmla="*/ 3648722 h 4022719"/>
                <a:gd name="connsiteX64" fmla="*/ 2459026 w 3852820"/>
                <a:gd name="connsiteY64" fmla="*/ 3391270 h 4022719"/>
                <a:gd name="connsiteX65" fmla="*/ 2388005 w 3852820"/>
                <a:gd name="connsiteY65" fmla="*/ 3160451 h 4022719"/>
                <a:gd name="connsiteX66" fmla="*/ 2680968 w 3852820"/>
                <a:gd name="connsiteY66" fmla="*/ 2370338 h 4022719"/>
                <a:gd name="connsiteX67" fmla="*/ 2716478 w 3852820"/>
                <a:gd name="connsiteY67" fmla="*/ 2059620 h 4022719"/>
                <a:gd name="connsiteX68" fmla="*/ 1739935 w 3852820"/>
                <a:gd name="connsiteY68" fmla="*/ 1438183 h 4022719"/>
                <a:gd name="connsiteX69" fmla="*/ 1136253 w 3852820"/>
                <a:gd name="connsiteY69" fmla="*/ 2015231 h 4022719"/>
                <a:gd name="connsiteX70" fmla="*/ 2103919 w 3852820"/>
                <a:gd name="connsiteY70" fmla="*/ 3169328 h 4022719"/>
                <a:gd name="connsiteX71" fmla="*/ 2441271 w 3852820"/>
                <a:gd name="connsiteY71" fmla="*/ 3195961 h 4022719"/>
                <a:gd name="connsiteX72" fmla="*/ 2601069 w 3852820"/>
                <a:gd name="connsiteY72" fmla="*/ 2965142 h 4022719"/>
                <a:gd name="connsiteX73" fmla="*/ 1766568 w 3852820"/>
                <a:gd name="connsiteY73" fmla="*/ 1775534 h 4022719"/>
                <a:gd name="connsiteX74" fmla="*/ 1340439 w 3852820"/>
                <a:gd name="connsiteY74" fmla="*/ 1802167 h 4022719"/>
                <a:gd name="connsiteX75" fmla="*/ 1633403 w 3852820"/>
                <a:gd name="connsiteY75" fmla="*/ 3888420 h 4022719"/>
                <a:gd name="connsiteX76" fmla="*/ 2015142 w 3852820"/>
                <a:gd name="connsiteY76" fmla="*/ 3994952 h 4022719"/>
                <a:gd name="connsiteX77" fmla="*/ 2095041 w 3852820"/>
                <a:gd name="connsiteY77" fmla="*/ 3630967 h 4022719"/>
                <a:gd name="connsiteX78" fmla="*/ 1864222 w 3852820"/>
                <a:gd name="connsiteY78" fmla="*/ 3204839 h 4022719"/>
                <a:gd name="connsiteX79" fmla="*/ 1828711 w 3852820"/>
                <a:gd name="connsiteY79" fmla="*/ 3178206 h 4022719"/>
                <a:gd name="connsiteX80" fmla="*/ 1899733 w 3852820"/>
                <a:gd name="connsiteY80" fmla="*/ 3204839 h 4022719"/>
                <a:gd name="connsiteX81" fmla="*/ 2503414 w 3852820"/>
                <a:gd name="connsiteY81" fmla="*/ 3586579 h 4022719"/>
                <a:gd name="connsiteX82" fmla="*/ 2840766 w 3852820"/>
                <a:gd name="connsiteY82" fmla="*/ 3613212 h 4022719"/>
                <a:gd name="connsiteX83" fmla="*/ 2609946 w 3852820"/>
                <a:gd name="connsiteY83" fmla="*/ 2743200 h 4022719"/>
                <a:gd name="connsiteX84" fmla="*/ 2494537 w 3852820"/>
                <a:gd name="connsiteY84" fmla="*/ 2707689 h 4022719"/>
                <a:gd name="connsiteX85" fmla="*/ 2627702 w 3852820"/>
                <a:gd name="connsiteY85" fmla="*/ 3542190 h 4022719"/>
                <a:gd name="connsiteX86" fmla="*/ 3222506 w 3852820"/>
                <a:gd name="connsiteY86" fmla="*/ 3178206 h 4022719"/>
                <a:gd name="connsiteX87" fmla="*/ 3186995 w 3852820"/>
                <a:gd name="connsiteY87" fmla="*/ 2512381 h 4022719"/>
                <a:gd name="connsiteX88" fmla="*/ 1952999 w 3852820"/>
                <a:gd name="connsiteY88" fmla="*/ 1722268 h 4022719"/>
                <a:gd name="connsiteX89" fmla="*/ 1731057 w 3852820"/>
                <a:gd name="connsiteY89" fmla="*/ 1899821 h 4022719"/>
                <a:gd name="connsiteX90" fmla="*/ 2343616 w 3852820"/>
                <a:gd name="connsiteY90" fmla="*/ 2547891 h 4022719"/>
                <a:gd name="connsiteX91" fmla="*/ 2414638 w 3852820"/>
                <a:gd name="connsiteY91" fmla="*/ 1331651 h 4022719"/>
                <a:gd name="connsiteX92" fmla="*/ 1802078 w 3852820"/>
                <a:gd name="connsiteY92" fmla="*/ 1029810 h 4022719"/>
                <a:gd name="connsiteX93" fmla="*/ 914311 w 3852820"/>
                <a:gd name="connsiteY93" fmla="*/ 1633491 h 4022719"/>
                <a:gd name="connsiteX94" fmla="*/ 923189 w 3852820"/>
                <a:gd name="connsiteY94" fmla="*/ 1819922 h 4022719"/>
                <a:gd name="connsiteX95" fmla="*/ 1589014 w 3852820"/>
                <a:gd name="connsiteY95" fmla="*/ 1944210 h 4022719"/>
                <a:gd name="connsiteX96" fmla="*/ 2041775 w 3852820"/>
                <a:gd name="connsiteY96" fmla="*/ 1695635 h 4022719"/>
                <a:gd name="connsiteX97" fmla="*/ 1287173 w 3852820"/>
                <a:gd name="connsiteY97" fmla="*/ 319596 h 4022719"/>
                <a:gd name="connsiteX98" fmla="*/ 940944 w 3852820"/>
                <a:gd name="connsiteY98" fmla="*/ 230820 h 4022719"/>
                <a:gd name="connsiteX99" fmla="*/ 603593 w 3852820"/>
                <a:gd name="connsiteY99" fmla="*/ 772357 h 4022719"/>
                <a:gd name="connsiteX100" fmla="*/ 727880 w 3852820"/>
                <a:gd name="connsiteY100" fmla="*/ 2148396 h 4022719"/>
                <a:gd name="connsiteX101" fmla="*/ 967577 w 3852820"/>
                <a:gd name="connsiteY101" fmla="*/ 2405849 h 4022719"/>
                <a:gd name="connsiteX102" fmla="*/ 1509115 w 3852820"/>
                <a:gd name="connsiteY102" fmla="*/ 2299317 h 4022719"/>
                <a:gd name="connsiteX103" fmla="*/ 1855344 w 3852820"/>
                <a:gd name="connsiteY103" fmla="*/ 656948 h 4022719"/>
                <a:gd name="connsiteX104" fmla="*/ 1331562 w 3852820"/>
                <a:gd name="connsiteY104" fmla="*/ 514905 h 4022719"/>
                <a:gd name="connsiteX105" fmla="*/ 940944 w 3852820"/>
                <a:gd name="connsiteY105" fmla="*/ 2725445 h 4022719"/>
                <a:gd name="connsiteX106" fmla="*/ 1739935 w 3852820"/>
                <a:gd name="connsiteY106" fmla="*/ 3338004 h 4022719"/>
                <a:gd name="connsiteX107" fmla="*/ 2396882 w 3852820"/>
                <a:gd name="connsiteY107" fmla="*/ 2991775 h 4022719"/>
                <a:gd name="connsiteX108" fmla="*/ 1793201 w 3852820"/>
                <a:gd name="connsiteY108" fmla="*/ 1864311 h 4022719"/>
                <a:gd name="connsiteX109" fmla="*/ 1313806 w 3852820"/>
                <a:gd name="connsiteY109" fmla="*/ 2192785 h 4022719"/>
                <a:gd name="connsiteX110" fmla="*/ 1384828 w 3852820"/>
                <a:gd name="connsiteY110" fmla="*/ 3941686 h 4022719"/>
                <a:gd name="connsiteX111" fmla="*/ 2503414 w 3852820"/>
                <a:gd name="connsiteY111" fmla="*/ 4012707 h 4022719"/>
                <a:gd name="connsiteX112" fmla="*/ 3089340 w 3852820"/>
                <a:gd name="connsiteY112" fmla="*/ 3639845 h 4022719"/>
                <a:gd name="connsiteX113" fmla="*/ 3027197 w 3852820"/>
                <a:gd name="connsiteY113" fmla="*/ 2068497 h 4022719"/>
                <a:gd name="connsiteX114" fmla="*/ 2689845 w 3852820"/>
                <a:gd name="connsiteY114" fmla="*/ 1686757 h 4022719"/>
                <a:gd name="connsiteX115" fmla="*/ 2201573 w 3852820"/>
                <a:gd name="connsiteY115" fmla="*/ 2636668 h 4022719"/>
                <a:gd name="connsiteX116" fmla="*/ 2840766 w 3852820"/>
                <a:gd name="connsiteY116" fmla="*/ 2752078 h 4022719"/>
                <a:gd name="connsiteX117" fmla="*/ 3684144 w 3852820"/>
                <a:gd name="connsiteY117" fmla="*/ 807868 h 4022719"/>
                <a:gd name="connsiteX118" fmla="*/ 3364548 w 3852820"/>
                <a:gd name="connsiteY118" fmla="*/ 417251 h 4022719"/>
                <a:gd name="connsiteX119" fmla="*/ 3062707 w 3852820"/>
                <a:gd name="connsiteY119" fmla="*/ 435006 h 4022719"/>
                <a:gd name="connsiteX120" fmla="*/ 2245962 w 3852820"/>
                <a:gd name="connsiteY120" fmla="*/ 1296140 h 4022719"/>
                <a:gd name="connsiteX121" fmla="*/ 2778622 w 3852820"/>
                <a:gd name="connsiteY121" fmla="*/ 612559 h 4022719"/>
                <a:gd name="connsiteX122" fmla="*/ 2121674 w 3852820"/>
                <a:gd name="connsiteY122" fmla="*/ 0 h 4022719"/>
                <a:gd name="connsiteX123" fmla="*/ 1509115 w 3852820"/>
                <a:gd name="connsiteY123" fmla="*/ 363985 h 4022719"/>
                <a:gd name="connsiteX124" fmla="*/ 1855344 w 3852820"/>
                <a:gd name="connsiteY124" fmla="*/ 1811045 h 4022719"/>
                <a:gd name="connsiteX125" fmla="*/ 2432393 w 3852820"/>
                <a:gd name="connsiteY125" fmla="*/ 1953088 h 4022719"/>
                <a:gd name="connsiteX126" fmla="*/ 2991686 w 3852820"/>
                <a:gd name="connsiteY126" fmla="*/ 1491449 h 4022719"/>
                <a:gd name="connsiteX127" fmla="*/ 2192696 w 3852820"/>
                <a:gd name="connsiteY127" fmla="*/ 603682 h 4022719"/>
                <a:gd name="connsiteX128" fmla="*/ 1420339 w 3852820"/>
                <a:gd name="connsiteY128" fmla="*/ 1988598 h 4022719"/>
                <a:gd name="connsiteX129" fmla="*/ 2121674 w 3852820"/>
                <a:gd name="connsiteY129" fmla="*/ 2290439 h 4022719"/>
                <a:gd name="connsiteX130" fmla="*/ 2956175 w 3852820"/>
                <a:gd name="connsiteY130" fmla="*/ 1287262 h 4022719"/>
                <a:gd name="connsiteX131" fmla="*/ 2068408 w 3852820"/>
                <a:gd name="connsiteY131" fmla="*/ 807868 h 4022719"/>
                <a:gd name="connsiteX132" fmla="*/ 1668913 w 3852820"/>
                <a:gd name="connsiteY132" fmla="*/ 2334827 h 4022719"/>
                <a:gd name="connsiteX133" fmla="*/ 2192696 w 3852820"/>
                <a:gd name="connsiteY133" fmla="*/ 2601157 h 4022719"/>
                <a:gd name="connsiteX134" fmla="*/ 3036074 w 3852820"/>
                <a:gd name="connsiteY134" fmla="*/ 1242874 h 4022719"/>
                <a:gd name="connsiteX135" fmla="*/ 2538925 w 3852820"/>
                <a:gd name="connsiteY135" fmla="*/ 976544 h 4022719"/>
                <a:gd name="connsiteX136" fmla="*/ 2219329 w 3852820"/>
                <a:gd name="connsiteY136" fmla="*/ 1677880 h 4022719"/>
                <a:gd name="connsiteX137" fmla="*/ 2290350 w 3852820"/>
                <a:gd name="connsiteY137" fmla="*/ 3355759 h 4022719"/>
                <a:gd name="connsiteX138" fmla="*/ 3417814 w 3852820"/>
                <a:gd name="connsiteY138" fmla="*/ 2707689 h 4022719"/>
                <a:gd name="connsiteX139" fmla="*/ 3408937 w 3852820"/>
                <a:gd name="connsiteY139" fmla="*/ 2370338 h 4022719"/>
                <a:gd name="connsiteX140" fmla="*/ 2707601 w 3852820"/>
                <a:gd name="connsiteY140" fmla="*/ 2015231 h 4022719"/>
                <a:gd name="connsiteX141" fmla="*/ 2272595 w 3852820"/>
                <a:gd name="connsiteY141" fmla="*/ 2175029 h 4022719"/>
                <a:gd name="connsiteX142" fmla="*/ 2574436 w 3852820"/>
                <a:gd name="connsiteY142" fmla="*/ 3249227 h 4022719"/>
                <a:gd name="connsiteX143" fmla="*/ 3062707 w 3852820"/>
                <a:gd name="connsiteY143" fmla="*/ 3151573 h 4022719"/>
                <a:gd name="connsiteX144" fmla="*/ 2902909 w 3852820"/>
                <a:gd name="connsiteY144" fmla="*/ 941033 h 4022719"/>
                <a:gd name="connsiteX145" fmla="*/ 2121674 w 3852820"/>
                <a:gd name="connsiteY145" fmla="*/ 301841 h 4022719"/>
                <a:gd name="connsiteX146" fmla="*/ 1455849 w 3852820"/>
                <a:gd name="connsiteY146" fmla="*/ 1535837 h 4022719"/>
                <a:gd name="connsiteX147" fmla="*/ 1509115 w 3852820"/>
                <a:gd name="connsiteY147" fmla="*/ 1908699 h 4022719"/>
                <a:gd name="connsiteX148" fmla="*/ 1775445 w 3852820"/>
                <a:gd name="connsiteY148" fmla="*/ 1997476 h 4022719"/>
                <a:gd name="connsiteX149" fmla="*/ 2112797 w 3852820"/>
                <a:gd name="connsiteY149" fmla="*/ 852256 h 4022719"/>
                <a:gd name="connsiteX150" fmla="*/ 1926366 w 3852820"/>
                <a:gd name="connsiteY150" fmla="*/ 381740 h 4022719"/>
                <a:gd name="connsiteX151" fmla="*/ 1402583 w 3852820"/>
                <a:gd name="connsiteY151" fmla="*/ 541538 h 4022719"/>
                <a:gd name="connsiteX152" fmla="*/ 1145131 w 3852820"/>
                <a:gd name="connsiteY152" fmla="*/ 2565647 h 4022719"/>
                <a:gd name="connsiteX153" fmla="*/ 1775445 w 3852820"/>
                <a:gd name="connsiteY153" fmla="*/ 2787588 h 4022719"/>
                <a:gd name="connsiteX154" fmla="*/ 2157185 w 3852820"/>
                <a:gd name="connsiteY154" fmla="*/ 2432482 h 4022719"/>
                <a:gd name="connsiteX155" fmla="*/ 1464727 w 3852820"/>
                <a:gd name="connsiteY155" fmla="*/ 1873188 h 4022719"/>
                <a:gd name="connsiteX156" fmla="*/ 1269418 w 3852820"/>
                <a:gd name="connsiteY156" fmla="*/ 3462291 h 4022719"/>
                <a:gd name="connsiteX157" fmla="*/ 1908610 w 3852820"/>
                <a:gd name="connsiteY157" fmla="*/ 3728621 h 4022719"/>
                <a:gd name="connsiteX158" fmla="*/ 3089340 w 3852820"/>
                <a:gd name="connsiteY158" fmla="*/ 2601157 h 4022719"/>
                <a:gd name="connsiteX159" fmla="*/ 2716478 w 3852820"/>
                <a:gd name="connsiteY159" fmla="*/ 2024109 h 4022719"/>
                <a:gd name="connsiteX160" fmla="*/ 2574436 w 3852820"/>
                <a:gd name="connsiteY160" fmla="*/ 3355759 h 4022719"/>
                <a:gd name="connsiteX161" fmla="*/ 3000564 w 3852820"/>
                <a:gd name="connsiteY161" fmla="*/ 3204839 h 4022719"/>
                <a:gd name="connsiteX162" fmla="*/ 3293527 w 3852820"/>
                <a:gd name="connsiteY162" fmla="*/ 994299 h 4022719"/>
                <a:gd name="connsiteX163" fmla="*/ 2858521 w 3852820"/>
                <a:gd name="connsiteY163" fmla="*/ 692458 h 4022719"/>
                <a:gd name="connsiteX164" fmla="*/ 2228206 w 3852820"/>
                <a:gd name="connsiteY164" fmla="*/ 2139519 h 4022719"/>
                <a:gd name="connsiteX165" fmla="*/ 2316983 w 3852820"/>
                <a:gd name="connsiteY165" fmla="*/ 2183907 h 4022719"/>
                <a:gd name="connsiteX166" fmla="*/ 2743111 w 3852820"/>
                <a:gd name="connsiteY166" fmla="*/ 1438183 h 4022719"/>
                <a:gd name="connsiteX167" fmla="*/ 1455849 w 3852820"/>
                <a:gd name="connsiteY167" fmla="*/ 648070 h 4022719"/>
                <a:gd name="connsiteX168" fmla="*/ 763391 w 3852820"/>
                <a:gd name="connsiteY168" fmla="*/ 2583402 h 4022719"/>
                <a:gd name="connsiteX169" fmla="*/ 1065232 w 3852820"/>
                <a:gd name="connsiteY169" fmla="*/ 2974020 h 4022719"/>
                <a:gd name="connsiteX170" fmla="*/ 1597892 w 3852820"/>
                <a:gd name="connsiteY170" fmla="*/ 2849732 h 4022719"/>
                <a:gd name="connsiteX171" fmla="*/ 1402583 w 3852820"/>
                <a:gd name="connsiteY171" fmla="*/ 2006354 h 4022719"/>
                <a:gd name="connsiteX172" fmla="*/ 1074109 w 3852820"/>
                <a:gd name="connsiteY172" fmla="*/ 1970843 h 4022719"/>
                <a:gd name="connsiteX173" fmla="*/ 1020843 w 3852820"/>
                <a:gd name="connsiteY173" fmla="*/ 3551068 h 4022719"/>
                <a:gd name="connsiteX174" fmla="*/ 1855344 w 3852820"/>
                <a:gd name="connsiteY174" fmla="*/ 3542190 h 4022719"/>
                <a:gd name="connsiteX175" fmla="*/ 2601069 w 3852820"/>
                <a:gd name="connsiteY175" fmla="*/ 2325950 h 4022719"/>
                <a:gd name="connsiteX176" fmla="*/ 1722179 w 3852820"/>
                <a:gd name="connsiteY176" fmla="*/ 1766656 h 4022719"/>
                <a:gd name="connsiteX177" fmla="*/ 1198397 w 3852820"/>
                <a:gd name="connsiteY177" fmla="*/ 1793289 h 4022719"/>
                <a:gd name="connsiteX178" fmla="*/ 710125 w 3852820"/>
                <a:gd name="connsiteY178" fmla="*/ 3435658 h 4022719"/>
                <a:gd name="connsiteX179" fmla="*/ 1704424 w 3852820"/>
                <a:gd name="connsiteY179" fmla="*/ 3684233 h 4022719"/>
                <a:gd name="connsiteX180" fmla="*/ 2902909 w 3852820"/>
                <a:gd name="connsiteY180" fmla="*/ 3053919 h 4022719"/>
                <a:gd name="connsiteX181" fmla="*/ 3435570 w 3852820"/>
                <a:gd name="connsiteY181" fmla="*/ 2201662 h 4022719"/>
                <a:gd name="connsiteX182" fmla="*/ 3071585 w 3852820"/>
                <a:gd name="connsiteY182" fmla="*/ 1296140 h 4022719"/>
                <a:gd name="connsiteX183" fmla="*/ 1589014 w 3852820"/>
                <a:gd name="connsiteY183" fmla="*/ 257453 h 4022719"/>
                <a:gd name="connsiteX184" fmla="*/ 861045 w 3852820"/>
                <a:gd name="connsiteY184" fmla="*/ 2077375 h 4022719"/>
                <a:gd name="connsiteX185" fmla="*/ 949822 w 3852820"/>
                <a:gd name="connsiteY185" fmla="*/ 2618913 h 4022719"/>
                <a:gd name="connsiteX186" fmla="*/ 1411461 w 3852820"/>
                <a:gd name="connsiteY186" fmla="*/ 2876365 h 4022719"/>
                <a:gd name="connsiteX187" fmla="*/ 2379127 w 3852820"/>
                <a:gd name="connsiteY187" fmla="*/ 2592280 h 4022719"/>
                <a:gd name="connsiteX188" fmla="*/ 2459026 w 3852820"/>
                <a:gd name="connsiteY188" fmla="*/ 958788 h 4022719"/>
                <a:gd name="connsiteX189" fmla="*/ 1260540 w 3852820"/>
                <a:gd name="connsiteY189" fmla="*/ 443884 h 4022719"/>
                <a:gd name="connsiteX190" fmla="*/ 568082 w 3852820"/>
                <a:gd name="connsiteY190" fmla="*/ 861134 h 4022719"/>
                <a:gd name="connsiteX191" fmla="*/ 816657 w 3852820"/>
                <a:gd name="connsiteY191" fmla="*/ 2743200 h 4022719"/>
                <a:gd name="connsiteX192" fmla="*/ 1606770 w 3852820"/>
                <a:gd name="connsiteY192" fmla="*/ 2725445 h 4022719"/>
                <a:gd name="connsiteX193" fmla="*/ 1597892 w 3852820"/>
                <a:gd name="connsiteY193" fmla="*/ 1322773 h 4022719"/>
                <a:gd name="connsiteX194" fmla="*/ 683492 w 3852820"/>
                <a:gd name="connsiteY194" fmla="*/ 1012055 h 4022719"/>
                <a:gd name="connsiteX195" fmla="*/ 35422 w 3852820"/>
                <a:gd name="connsiteY195" fmla="*/ 2601157 h 4022719"/>
                <a:gd name="connsiteX196" fmla="*/ 514816 w 3852820"/>
                <a:gd name="connsiteY196" fmla="*/ 3151573 h 4022719"/>
                <a:gd name="connsiteX197" fmla="*/ 1544626 w 3852820"/>
                <a:gd name="connsiteY197" fmla="*/ 3107185 h 4022719"/>
                <a:gd name="connsiteX198" fmla="*/ 2086164 w 3852820"/>
                <a:gd name="connsiteY198" fmla="*/ 2902998 h 4022719"/>
                <a:gd name="connsiteX199" fmla="*/ 1970754 w 3852820"/>
                <a:gd name="connsiteY199" fmla="*/ 3551068 h 4022719"/>
                <a:gd name="connsiteX200" fmla="*/ 2538925 w 3852820"/>
                <a:gd name="connsiteY200" fmla="*/ 3923930 h 4022719"/>
                <a:gd name="connsiteX201" fmla="*/ 3852820 w 3852820"/>
                <a:gd name="connsiteY201" fmla="*/ 2858610 h 4022719"/>
                <a:gd name="connsiteX202" fmla="*/ 3746288 w 3852820"/>
                <a:gd name="connsiteY202" fmla="*/ 2192785 h 4022719"/>
                <a:gd name="connsiteX203" fmla="*/ 3479958 w 3852820"/>
                <a:gd name="connsiteY203" fmla="*/ 1970843 h 4022719"/>
                <a:gd name="connsiteX204" fmla="*/ 3178117 w 3852820"/>
                <a:gd name="connsiteY204" fmla="*/ 2396971 h 4022719"/>
                <a:gd name="connsiteX205" fmla="*/ 3124851 w 3852820"/>
                <a:gd name="connsiteY205" fmla="*/ 2769833 h 4022719"/>
                <a:gd name="connsiteX206" fmla="*/ 3169239 w 3852820"/>
                <a:gd name="connsiteY206" fmla="*/ 1305018 h 4022719"/>
                <a:gd name="connsiteX207" fmla="*/ 2547803 w 3852820"/>
                <a:gd name="connsiteY207" fmla="*/ 1189608 h 4022719"/>
                <a:gd name="connsiteX208" fmla="*/ 1935243 w 3852820"/>
                <a:gd name="connsiteY208" fmla="*/ 1722268 h 4022719"/>
                <a:gd name="connsiteX209" fmla="*/ 1837589 w 3852820"/>
                <a:gd name="connsiteY209" fmla="*/ 301841 h 4022719"/>
                <a:gd name="connsiteX210" fmla="*/ 1571259 w 3852820"/>
                <a:gd name="connsiteY210" fmla="*/ 124288 h 4022719"/>
                <a:gd name="connsiteX211" fmla="*/ 1091865 w 3852820"/>
                <a:gd name="connsiteY211" fmla="*/ 497150 h 4022719"/>
                <a:gd name="connsiteX212" fmla="*/ 949822 w 3852820"/>
                <a:gd name="connsiteY212" fmla="*/ 1367161 h 4022719"/>
                <a:gd name="connsiteX213" fmla="*/ 1296051 w 3852820"/>
                <a:gd name="connsiteY213" fmla="*/ 1500326 h 4022719"/>
                <a:gd name="connsiteX214" fmla="*/ 1890855 w 3852820"/>
                <a:gd name="connsiteY214" fmla="*/ 1100831 h 4022719"/>
                <a:gd name="connsiteX215" fmla="*/ 2077286 w 3852820"/>
                <a:gd name="connsiteY215" fmla="*/ 710214 h 4022719"/>
                <a:gd name="connsiteX216" fmla="*/ 861045 w 3852820"/>
                <a:gd name="connsiteY216" fmla="*/ 337352 h 4022719"/>
                <a:gd name="connsiteX217" fmla="*/ 1047476 w 3852820"/>
                <a:gd name="connsiteY217" fmla="*/ 2104008 h 4022719"/>
                <a:gd name="connsiteX218" fmla="*/ 1757690 w 3852820"/>
                <a:gd name="connsiteY218" fmla="*/ 2139519 h 4022719"/>
                <a:gd name="connsiteX219" fmla="*/ 2237084 w 3852820"/>
                <a:gd name="connsiteY219" fmla="*/ 976544 h 4022719"/>
                <a:gd name="connsiteX220" fmla="*/ 1695546 w 3852820"/>
                <a:gd name="connsiteY220" fmla="*/ 781235 h 4022719"/>
                <a:gd name="connsiteX221" fmla="*/ 1517993 w 3852820"/>
                <a:gd name="connsiteY221" fmla="*/ 1695635 h 4022719"/>
                <a:gd name="connsiteX222" fmla="*/ 1500238 w 3852820"/>
                <a:gd name="connsiteY222" fmla="*/ 2148396 h 4022719"/>
                <a:gd name="connsiteX223" fmla="*/ 1544626 w 3852820"/>
                <a:gd name="connsiteY223" fmla="*/ 2210540 h 4022719"/>
                <a:gd name="connsiteX224" fmla="*/ 1633403 w 3852820"/>
                <a:gd name="connsiteY224" fmla="*/ 2237173 h 4022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Lst>
              <a:rect l="l" t="t" r="r" b="b"/>
              <a:pathLst>
                <a:path w="3852820" h="4022719">
                  <a:moveTo>
                    <a:pt x="3613123" y="763480"/>
                  </a:moveTo>
                  <a:lnTo>
                    <a:pt x="3178117" y="772357"/>
                  </a:lnTo>
                  <a:cubicBezTo>
                    <a:pt x="3013286" y="786485"/>
                    <a:pt x="2988249" y="823414"/>
                    <a:pt x="2849643" y="887767"/>
                  </a:cubicBezTo>
                  <a:cubicBezTo>
                    <a:pt x="2663961" y="973976"/>
                    <a:pt x="2811941" y="892823"/>
                    <a:pt x="2680968" y="967666"/>
                  </a:cubicBezTo>
                  <a:cubicBezTo>
                    <a:pt x="2654335" y="1026851"/>
                    <a:pt x="2615859" y="1082027"/>
                    <a:pt x="2601069" y="1145220"/>
                  </a:cubicBezTo>
                  <a:cubicBezTo>
                    <a:pt x="2582811" y="1223230"/>
                    <a:pt x="2582591" y="1304802"/>
                    <a:pt x="2583313" y="1384917"/>
                  </a:cubicBezTo>
                  <a:cubicBezTo>
                    <a:pt x="2585554" y="1633640"/>
                    <a:pt x="2574244" y="1884483"/>
                    <a:pt x="2609946" y="2130641"/>
                  </a:cubicBezTo>
                  <a:cubicBezTo>
                    <a:pt x="2631035" y="2276041"/>
                    <a:pt x="2751989" y="2547891"/>
                    <a:pt x="2751989" y="2547891"/>
                  </a:cubicBezTo>
                  <a:cubicBezTo>
                    <a:pt x="2725356" y="2648505"/>
                    <a:pt x="2723116" y="2759019"/>
                    <a:pt x="2672090" y="2849732"/>
                  </a:cubicBezTo>
                  <a:cubicBezTo>
                    <a:pt x="2614088" y="2952847"/>
                    <a:pt x="2410764" y="3015554"/>
                    <a:pt x="2316983" y="3053919"/>
                  </a:cubicBezTo>
                  <a:cubicBezTo>
                    <a:pt x="2131551" y="3048124"/>
                    <a:pt x="2009299" y="3071455"/>
                    <a:pt x="1846467" y="2982897"/>
                  </a:cubicBezTo>
                  <a:cubicBezTo>
                    <a:pt x="1733990" y="2921725"/>
                    <a:pt x="1640947" y="2827968"/>
                    <a:pt x="1526871" y="2769833"/>
                  </a:cubicBezTo>
                  <a:cubicBezTo>
                    <a:pt x="1331959" y="2670503"/>
                    <a:pt x="923189" y="2512381"/>
                    <a:pt x="923189" y="2512381"/>
                  </a:cubicBezTo>
                  <a:cubicBezTo>
                    <a:pt x="718357" y="2323305"/>
                    <a:pt x="683953" y="2341976"/>
                    <a:pt x="594715" y="2104008"/>
                  </a:cubicBezTo>
                  <a:cubicBezTo>
                    <a:pt x="584273" y="2076162"/>
                    <a:pt x="588797" y="2044823"/>
                    <a:pt x="585838" y="2015231"/>
                  </a:cubicBezTo>
                  <a:cubicBezTo>
                    <a:pt x="779496" y="1814895"/>
                    <a:pt x="938649" y="1609577"/>
                    <a:pt x="1216152" y="1509204"/>
                  </a:cubicBezTo>
                  <a:cubicBezTo>
                    <a:pt x="1362162" y="1456392"/>
                    <a:pt x="1523911" y="1467775"/>
                    <a:pt x="1677791" y="1447060"/>
                  </a:cubicBezTo>
                  <a:cubicBezTo>
                    <a:pt x="2623806" y="1535749"/>
                    <a:pt x="2328193" y="1349870"/>
                    <a:pt x="2849643" y="1784412"/>
                  </a:cubicBezTo>
                  <a:cubicBezTo>
                    <a:pt x="2886650" y="1815251"/>
                    <a:pt x="2920664" y="1849515"/>
                    <a:pt x="2956175" y="1882066"/>
                  </a:cubicBezTo>
                  <a:cubicBezTo>
                    <a:pt x="2973930" y="1932373"/>
                    <a:pt x="2998451" y="1980783"/>
                    <a:pt x="3009441" y="2032987"/>
                  </a:cubicBezTo>
                  <a:cubicBezTo>
                    <a:pt x="3036049" y="2159376"/>
                    <a:pt x="3049445" y="2272622"/>
                    <a:pt x="2956175" y="2379216"/>
                  </a:cubicBezTo>
                  <a:cubicBezTo>
                    <a:pt x="2867817" y="2480197"/>
                    <a:pt x="2742167" y="2544107"/>
                    <a:pt x="2654335" y="2645546"/>
                  </a:cubicBezTo>
                  <a:cubicBezTo>
                    <a:pt x="2223274" y="3143392"/>
                    <a:pt x="2506059" y="3018368"/>
                    <a:pt x="2103919" y="3258105"/>
                  </a:cubicBezTo>
                  <a:cubicBezTo>
                    <a:pt x="2026613" y="3304191"/>
                    <a:pt x="1944121" y="3340963"/>
                    <a:pt x="1864222" y="3382392"/>
                  </a:cubicBezTo>
                  <a:cubicBezTo>
                    <a:pt x="1721830" y="3372221"/>
                    <a:pt x="1453698" y="3372005"/>
                    <a:pt x="1296051" y="3311371"/>
                  </a:cubicBezTo>
                  <a:cubicBezTo>
                    <a:pt x="1241576" y="3290419"/>
                    <a:pt x="1195438" y="3252186"/>
                    <a:pt x="1145131" y="3222594"/>
                  </a:cubicBezTo>
                  <a:cubicBezTo>
                    <a:pt x="1118498" y="3175247"/>
                    <a:pt x="1077447" y="3133485"/>
                    <a:pt x="1065232" y="3080552"/>
                  </a:cubicBezTo>
                  <a:cubicBezTo>
                    <a:pt x="989807" y="2753712"/>
                    <a:pt x="1000898" y="2175168"/>
                    <a:pt x="994210" y="1890944"/>
                  </a:cubicBezTo>
                  <a:cubicBezTo>
                    <a:pt x="1013380" y="1628949"/>
                    <a:pt x="1068983" y="1256551"/>
                    <a:pt x="1038599" y="958788"/>
                  </a:cubicBezTo>
                  <a:cubicBezTo>
                    <a:pt x="1030697" y="881345"/>
                    <a:pt x="1018355" y="804302"/>
                    <a:pt x="1003088" y="727969"/>
                  </a:cubicBezTo>
                  <a:cubicBezTo>
                    <a:pt x="997582" y="700441"/>
                    <a:pt x="997027" y="667173"/>
                    <a:pt x="976455" y="648070"/>
                  </a:cubicBezTo>
                  <a:cubicBezTo>
                    <a:pt x="951073" y="624501"/>
                    <a:pt x="911352" y="624396"/>
                    <a:pt x="878801" y="612559"/>
                  </a:cubicBezTo>
                  <a:cubicBezTo>
                    <a:pt x="810739" y="642151"/>
                    <a:pt x="732445" y="654820"/>
                    <a:pt x="674614" y="701336"/>
                  </a:cubicBezTo>
                  <a:cubicBezTo>
                    <a:pt x="512526" y="831711"/>
                    <a:pt x="427957" y="1015356"/>
                    <a:pt x="328385" y="1189608"/>
                  </a:cubicBezTo>
                  <a:cubicBezTo>
                    <a:pt x="325426" y="1328691"/>
                    <a:pt x="295157" y="1469891"/>
                    <a:pt x="319507" y="1606858"/>
                  </a:cubicBezTo>
                  <a:cubicBezTo>
                    <a:pt x="343457" y="1741576"/>
                    <a:pt x="415198" y="1863410"/>
                    <a:pt x="470428" y="1988598"/>
                  </a:cubicBezTo>
                  <a:cubicBezTo>
                    <a:pt x="544787" y="2157145"/>
                    <a:pt x="612968" y="2311456"/>
                    <a:pt x="807779" y="2379216"/>
                  </a:cubicBezTo>
                  <a:cubicBezTo>
                    <a:pt x="998535" y="2445566"/>
                    <a:pt x="1204315" y="2456155"/>
                    <a:pt x="1402583" y="2494625"/>
                  </a:cubicBezTo>
                  <a:cubicBezTo>
                    <a:pt x="1479523" y="2485747"/>
                    <a:pt x="1572721" y="2516119"/>
                    <a:pt x="1633403" y="2467992"/>
                  </a:cubicBezTo>
                  <a:cubicBezTo>
                    <a:pt x="1877399" y="2274478"/>
                    <a:pt x="1951976" y="2000034"/>
                    <a:pt x="2059531" y="1731146"/>
                  </a:cubicBezTo>
                  <a:cubicBezTo>
                    <a:pt x="2074728" y="1427184"/>
                    <a:pt x="2080353" y="1499874"/>
                    <a:pt x="2015142" y="1056443"/>
                  </a:cubicBezTo>
                  <a:cubicBezTo>
                    <a:pt x="1952186" y="628344"/>
                    <a:pt x="2048317" y="715915"/>
                    <a:pt x="1846467" y="594804"/>
                  </a:cubicBezTo>
                  <a:cubicBezTo>
                    <a:pt x="1742166" y="678245"/>
                    <a:pt x="1540433" y="794976"/>
                    <a:pt x="1517993" y="958788"/>
                  </a:cubicBezTo>
                  <a:cubicBezTo>
                    <a:pt x="1497093" y="1111357"/>
                    <a:pt x="1522806" y="1266978"/>
                    <a:pt x="1535748" y="1420427"/>
                  </a:cubicBezTo>
                  <a:cubicBezTo>
                    <a:pt x="1553813" y="1634620"/>
                    <a:pt x="1609594" y="1889117"/>
                    <a:pt x="1748812" y="2059620"/>
                  </a:cubicBezTo>
                  <a:cubicBezTo>
                    <a:pt x="2040773" y="2417190"/>
                    <a:pt x="2503242" y="2796359"/>
                    <a:pt x="2902909" y="3045041"/>
                  </a:cubicBezTo>
                  <a:cubicBezTo>
                    <a:pt x="2985058" y="3096156"/>
                    <a:pt x="3080462" y="3121981"/>
                    <a:pt x="3169239" y="3160451"/>
                  </a:cubicBezTo>
                  <a:cubicBezTo>
                    <a:pt x="3240261" y="3240350"/>
                    <a:pt x="3325973" y="3309292"/>
                    <a:pt x="3382304" y="3400148"/>
                  </a:cubicBezTo>
                  <a:cubicBezTo>
                    <a:pt x="3419793" y="3460614"/>
                    <a:pt x="3469590" y="3537780"/>
                    <a:pt x="3444447" y="3604334"/>
                  </a:cubicBezTo>
                  <a:cubicBezTo>
                    <a:pt x="3318819" y="3936878"/>
                    <a:pt x="2786654" y="3811996"/>
                    <a:pt x="2592191" y="3817398"/>
                  </a:cubicBezTo>
                  <a:cubicBezTo>
                    <a:pt x="2126217" y="3724204"/>
                    <a:pt x="2017802" y="3793035"/>
                    <a:pt x="1722179" y="3355759"/>
                  </a:cubicBezTo>
                  <a:cubicBezTo>
                    <a:pt x="1671772" y="3281198"/>
                    <a:pt x="1692587" y="3178206"/>
                    <a:pt x="1677791" y="3089429"/>
                  </a:cubicBezTo>
                  <a:cubicBezTo>
                    <a:pt x="1722179" y="2962182"/>
                    <a:pt x="1721925" y="2808860"/>
                    <a:pt x="1810956" y="2707689"/>
                  </a:cubicBezTo>
                  <a:cubicBezTo>
                    <a:pt x="1928659" y="2573935"/>
                    <a:pt x="2114658" y="2521202"/>
                    <a:pt x="2263717" y="2423604"/>
                  </a:cubicBezTo>
                  <a:cubicBezTo>
                    <a:pt x="2579907" y="2216575"/>
                    <a:pt x="2497650" y="2281920"/>
                    <a:pt x="2707601" y="2059620"/>
                  </a:cubicBezTo>
                  <a:cubicBezTo>
                    <a:pt x="2725356" y="1994517"/>
                    <a:pt x="2780131" y="1928984"/>
                    <a:pt x="2760867" y="1864311"/>
                  </a:cubicBezTo>
                  <a:cubicBezTo>
                    <a:pt x="2674472" y="1574273"/>
                    <a:pt x="2382146" y="1588998"/>
                    <a:pt x="2148307" y="1526959"/>
                  </a:cubicBezTo>
                  <a:cubicBezTo>
                    <a:pt x="2074327" y="1556551"/>
                    <a:pt x="1988417" y="1565751"/>
                    <a:pt x="1926366" y="1615736"/>
                  </a:cubicBezTo>
                  <a:cubicBezTo>
                    <a:pt x="1631421" y="1853331"/>
                    <a:pt x="2079822" y="2194485"/>
                    <a:pt x="2245962" y="2334827"/>
                  </a:cubicBezTo>
                  <a:cubicBezTo>
                    <a:pt x="2553208" y="2594364"/>
                    <a:pt x="2909947" y="2790262"/>
                    <a:pt x="3258016" y="2991775"/>
                  </a:cubicBezTo>
                  <a:cubicBezTo>
                    <a:pt x="3314241" y="3024326"/>
                    <a:pt x="3368583" y="3060374"/>
                    <a:pt x="3426692" y="3089429"/>
                  </a:cubicBezTo>
                  <a:cubicBezTo>
                    <a:pt x="3457672" y="3104919"/>
                    <a:pt x="3491795" y="3113103"/>
                    <a:pt x="3524346" y="3124940"/>
                  </a:cubicBezTo>
                  <a:cubicBezTo>
                    <a:pt x="3536183" y="3142695"/>
                    <a:pt x="3570763" y="3159864"/>
                    <a:pt x="3559857" y="3178206"/>
                  </a:cubicBezTo>
                  <a:cubicBezTo>
                    <a:pt x="3377036" y="3485679"/>
                    <a:pt x="3277585" y="3481023"/>
                    <a:pt x="2965053" y="3648722"/>
                  </a:cubicBezTo>
                  <a:cubicBezTo>
                    <a:pt x="2796377" y="3562905"/>
                    <a:pt x="2603498" y="3513515"/>
                    <a:pt x="2459026" y="3391270"/>
                  </a:cubicBezTo>
                  <a:cubicBezTo>
                    <a:pt x="2397574" y="3339272"/>
                    <a:pt x="2378599" y="3240399"/>
                    <a:pt x="2388005" y="3160451"/>
                  </a:cubicBezTo>
                  <a:cubicBezTo>
                    <a:pt x="2425112" y="2845041"/>
                    <a:pt x="2548631" y="2635012"/>
                    <a:pt x="2680968" y="2370338"/>
                  </a:cubicBezTo>
                  <a:cubicBezTo>
                    <a:pt x="2692805" y="2266765"/>
                    <a:pt x="2765159" y="2151802"/>
                    <a:pt x="2716478" y="2059620"/>
                  </a:cubicBezTo>
                  <a:cubicBezTo>
                    <a:pt x="2436376" y="1529215"/>
                    <a:pt x="2231527" y="1571496"/>
                    <a:pt x="1739935" y="1438183"/>
                  </a:cubicBezTo>
                  <a:cubicBezTo>
                    <a:pt x="1555069" y="1535017"/>
                    <a:pt x="1100824" y="1690916"/>
                    <a:pt x="1136253" y="2015231"/>
                  </a:cubicBezTo>
                  <a:cubicBezTo>
                    <a:pt x="1190539" y="2512155"/>
                    <a:pt x="1708097" y="2960422"/>
                    <a:pt x="2103919" y="3169328"/>
                  </a:cubicBezTo>
                  <a:cubicBezTo>
                    <a:pt x="2203678" y="3221979"/>
                    <a:pt x="2328820" y="3187083"/>
                    <a:pt x="2441271" y="3195961"/>
                  </a:cubicBezTo>
                  <a:cubicBezTo>
                    <a:pt x="2494537" y="3119021"/>
                    <a:pt x="2615664" y="3057576"/>
                    <a:pt x="2601069" y="2965142"/>
                  </a:cubicBezTo>
                  <a:cubicBezTo>
                    <a:pt x="2481086" y="2205253"/>
                    <a:pt x="2281921" y="2184263"/>
                    <a:pt x="1766568" y="1775534"/>
                  </a:cubicBezTo>
                  <a:cubicBezTo>
                    <a:pt x="1624525" y="1784412"/>
                    <a:pt x="1443786" y="1704318"/>
                    <a:pt x="1340439" y="1802167"/>
                  </a:cubicBezTo>
                  <a:cubicBezTo>
                    <a:pt x="555483" y="2545371"/>
                    <a:pt x="1041033" y="3106686"/>
                    <a:pt x="1633403" y="3888420"/>
                  </a:cubicBezTo>
                  <a:cubicBezTo>
                    <a:pt x="1713190" y="3993713"/>
                    <a:pt x="1887896" y="3959441"/>
                    <a:pt x="2015142" y="3994952"/>
                  </a:cubicBezTo>
                  <a:cubicBezTo>
                    <a:pt x="2194011" y="3892741"/>
                    <a:pt x="2211106" y="3934234"/>
                    <a:pt x="2095041" y="3630967"/>
                  </a:cubicBezTo>
                  <a:cubicBezTo>
                    <a:pt x="2037300" y="3480097"/>
                    <a:pt x="1946127" y="3344078"/>
                    <a:pt x="1864222" y="3204839"/>
                  </a:cubicBezTo>
                  <a:cubicBezTo>
                    <a:pt x="1856720" y="3192086"/>
                    <a:pt x="1813915" y="3178206"/>
                    <a:pt x="1828711" y="3178206"/>
                  </a:cubicBezTo>
                  <a:cubicBezTo>
                    <a:pt x="1853995" y="3178206"/>
                    <a:pt x="1878103" y="3191747"/>
                    <a:pt x="1899733" y="3204839"/>
                  </a:cubicBezTo>
                  <a:cubicBezTo>
                    <a:pt x="2103414" y="3328120"/>
                    <a:pt x="2285009" y="3491799"/>
                    <a:pt x="2503414" y="3586579"/>
                  </a:cubicBezTo>
                  <a:cubicBezTo>
                    <a:pt x="2606891" y="3631484"/>
                    <a:pt x="2728315" y="3604334"/>
                    <a:pt x="2840766" y="3613212"/>
                  </a:cubicBezTo>
                  <a:cubicBezTo>
                    <a:pt x="3057267" y="2974533"/>
                    <a:pt x="3176695" y="3156255"/>
                    <a:pt x="2609946" y="2743200"/>
                  </a:cubicBezTo>
                  <a:cubicBezTo>
                    <a:pt x="2577419" y="2719494"/>
                    <a:pt x="2533007" y="2719526"/>
                    <a:pt x="2494537" y="2707689"/>
                  </a:cubicBezTo>
                  <a:cubicBezTo>
                    <a:pt x="2478211" y="2774249"/>
                    <a:pt x="2166064" y="3542190"/>
                    <a:pt x="2627702" y="3542190"/>
                  </a:cubicBezTo>
                  <a:cubicBezTo>
                    <a:pt x="2860147" y="3542190"/>
                    <a:pt x="3024238" y="3299534"/>
                    <a:pt x="3222506" y="3178206"/>
                  </a:cubicBezTo>
                  <a:cubicBezTo>
                    <a:pt x="3210669" y="2956264"/>
                    <a:pt x="3290510" y="2709060"/>
                    <a:pt x="3186995" y="2512381"/>
                  </a:cubicBezTo>
                  <a:cubicBezTo>
                    <a:pt x="2798148" y="1773571"/>
                    <a:pt x="2578318" y="1841376"/>
                    <a:pt x="1952999" y="1722268"/>
                  </a:cubicBezTo>
                  <a:cubicBezTo>
                    <a:pt x="1879018" y="1781452"/>
                    <a:pt x="1759013" y="1809298"/>
                    <a:pt x="1731057" y="1899821"/>
                  </a:cubicBezTo>
                  <a:cubicBezTo>
                    <a:pt x="1562326" y="2446187"/>
                    <a:pt x="1953583" y="2397879"/>
                    <a:pt x="2343616" y="2547891"/>
                  </a:cubicBezTo>
                  <a:cubicBezTo>
                    <a:pt x="2603663" y="2094907"/>
                    <a:pt x="2864522" y="1903786"/>
                    <a:pt x="2414638" y="1331651"/>
                  </a:cubicBezTo>
                  <a:cubicBezTo>
                    <a:pt x="2273936" y="1152715"/>
                    <a:pt x="2006265" y="1130424"/>
                    <a:pt x="1802078" y="1029810"/>
                  </a:cubicBezTo>
                  <a:cubicBezTo>
                    <a:pt x="1253694" y="1148089"/>
                    <a:pt x="1274466" y="1048239"/>
                    <a:pt x="914311" y="1633491"/>
                  </a:cubicBezTo>
                  <a:cubicBezTo>
                    <a:pt x="881705" y="1686476"/>
                    <a:pt x="866679" y="1793898"/>
                    <a:pt x="923189" y="1819922"/>
                  </a:cubicBezTo>
                  <a:cubicBezTo>
                    <a:pt x="1128263" y="1914364"/>
                    <a:pt x="1367072" y="1902781"/>
                    <a:pt x="1589014" y="1944210"/>
                  </a:cubicBezTo>
                  <a:cubicBezTo>
                    <a:pt x="1739934" y="1861352"/>
                    <a:pt x="1973404" y="1853647"/>
                    <a:pt x="2041775" y="1695635"/>
                  </a:cubicBezTo>
                  <a:cubicBezTo>
                    <a:pt x="2302797" y="1092385"/>
                    <a:pt x="1649320" y="592740"/>
                    <a:pt x="1287173" y="319596"/>
                  </a:cubicBezTo>
                  <a:cubicBezTo>
                    <a:pt x="1192052" y="247852"/>
                    <a:pt x="1056354" y="260412"/>
                    <a:pt x="940944" y="230820"/>
                  </a:cubicBezTo>
                  <a:cubicBezTo>
                    <a:pt x="828494" y="411332"/>
                    <a:pt x="665946" y="569030"/>
                    <a:pt x="603593" y="772357"/>
                  </a:cubicBezTo>
                  <a:cubicBezTo>
                    <a:pt x="451971" y="1266777"/>
                    <a:pt x="497353" y="1701456"/>
                    <a:pt x="727880" y="2148396"/>
                  </a:cubicBezTo>
                  <a:cubicBezTo>
                    <a:pt x="781630" y="2252605"/>
                    <a:pt x="887678" y="2320031"/>
                    <a:pt x="967577" y="2405849"/>
                  </a:cubicBezTo>
                  <a:cubicBezTo>
                    <a:pt x="1148090" y="2370338"/>
                    <a:pt x="1381091" y="2431437"/>
                    <a:pt x="1509115" y="2299317"/>
                  </a:cubicBezTo>
                  <a:cubicBezTo>
                    <a:pt x="1885109" y="1911291"/>
                    <a:pt x="2373763" y="1175367"/>
                    <a:pt x="1855344" y="656948"/>
                  </a:cubicBezTo>
                  <a:cubicBezTo>
                    <a:pt x="1727428" y="529032"/>
                    <a:pt x="1506156" y="562253"/>
                    <a:pt x="1331562" y="514905"/>
                  </a:cubicBezTo>
                  <a:cubicBezTo>
                    <a:pt x="1036708" y="1201110"/>
                    <a:pt x="513494" y="1921332"/>
                    <a:pt x="940944" y="2725445"/>
                  </a:cubicBezTo>
                  <a:cubicBezTo>
                    <a:pt x="1098466" y="3021774"/>
                    <a:pt x="1473605" y="3133818"/>
                    <a:pt x="1739935" y="3338004"/>
                  </a:cubicBezTo>
                  <a:cubicBezTo>
                    <a:pt x="1958917" y="3222594"/>
                    <a:pt x="2257494" y="3196332"/>
                    <a:pt x="2396882" y="2991775"/>
                  </a:cubicBezTo>
                  <a:cubicBezTo>
                    <a:pt x="2824490" y="2364246"/>
                    <a:pt x="2132154" y="2117332"/>
                    <a:pt x="1793201" y="1864311"/>
                  </a:cubicBezTo>
                  <a:cubicBezTo>
                    <a:pt x="1633403" y="1973802"/>
                    <a:pt x="1408727" y="2023925"/>
                    <a:pt x="1313806" y="2192785"/>
                  </a:cubicBezTo>
                  <a:cubicBezTo>
                    <a:pt x="1071739" y="2623409"/>
                    <a:pt x="589725" y="3610014"/>
                    <a:pt x="1384828" y="3941686"/>
                  </a:cubicBezTo>
                  <a:cubicBezTo>
                    <a:pt x="1729643" y="4085523"/>
                    <a:pt x="2130552" y="3989033"/>
                    <a:pt x="2503414" y="4012707"/>
                  </a:cubicBezTo>
                  <a:cubicBezTo>
                    <a:pt x="2698723" y="3888420"/>
                    <a:pt x="2967150" y="3836473"/>
                    <a:pt x="3089340" y="3639845"/>
                  </a:cubicBezTo>
                  <a:cubicBezTo>
                    <a:pt x="3472606" y="3023096"/>
                    <a:pt x="3253706" y="2634769"/>
                    <a:pt x="3027197" y="2068497"/>
                  </a:cubicBezTo>
                  <a:cubicBezTo>
                    <a:pt x="2901809" y="1755027"/>
                    <a:pt x="2939386" y="1822870"/>
                    <a:pt x="2689845" y="1686757"/>
                  </a:cubicBezTo>
                  <a:cubicBezTo>
                    <a:pt x="2512684" y="1827830"/>
                    <a:pt x="1795998" y="2196819"/>
                    <a:pt x="2201573" y="2636668"/>
                  </a:cubicBezTo>
                  <a:cubicBezTo>
                    <a:pt x="2348341" y="2795839"/>
                    <a:pt x="2627702" y="2713608"/>
                    <a:pt x="2840766" y="2752078"/>
                  </a:cubicBezTo>
                  <a:cubicBezTo>
                    <a:pt x="3569922" y="1979519"/>
                    <a:pt x="3856117" y="2004798"/>
                    <a:pt x="3684144" y="807868"/>
                  </a:cubicBezTo>
                  <a:cubicBezTo>
                    <a:pt x="3660218" y="641344"/>
                    <a:pt x="3471080" y="547457"/>
                    <a:pt x="3364548" y="417251"/>
                  </a:cubicBezTo>
                  <a:cubicBezTo>
                    <a:pt x="3263934" y="423169"/>
                    <a:pt x="3141958" y="372737"/>
                    <a:pt x="3062707" y="435006"/>
                  </a:cubicBezTo>
                  <a:cubicBezTo>
                    <a:pt x="2751625" y="679427"/>
                    <a:pt x="2245962" y="1296140"/>
                    <a:pt x="2245962" y="1296140"/>
                  </a:cubicBezTo>
                  <a:cubicBezTo>
                    <a:pt x="2441783" y="1557238"/>
                    <a:pt x="2396189" y="1519899"/>
                    <a:pt x="2778622" y="612559"/>
                  </a:cubicBezTo>
                  <a:cubicBezTo>
                    <a:pt x="2969722" y="159165"/>
                    <a:pt x="2329516" y="88639"/>
                    <a:pt x="2121674" y="0"/>
                  </a:cubicBezTo>
                  <a:cubicBezTo>
                    <a:pt x="1917488" y="121328"/>
                    <a:pt x="1639052" y="165166"/>
                    <a:pt x="1509115" y="363985"/>
                  </a:cubicBezTo>
                  <a:cubicBezTo>
                    <a:pt x="1169467" y="883688"/>
                    <a:pt x="1421997" y="1469509"/>
                    <a:pt x="1855344" y="1811045"/>
                  </a:cubicBezTo>
                  <a:cubicBezTo>
                    <a:pt x="2010924" y="1933663"/>
                    <a:pt x="2240043" y="1905740"/>
                    <a:pt x="2432393" y="1953088"/>
                  </a:cubicBezTo>
                  <a:cubicBezTo>
                    <a:pt x="2618824" y="1799208"/>
                    <a:pt x="2855640" y="1691266"/>
                    <a:pt x="2991686" y="1491449"/>
                  </a:cubicBezTo>
                  <a:cubicBezTo>
                    <a:pt x="3325291" y="1001466"/>
                    <a:pt x="2290831" y="666229"/>
                    <a:pt x="2192696" y="603682"/>
                  </a:cubicBezTo>
                  <a:cubicBezTo>
                    <a:pt x="1702693" y="914794"/>
                    <a:pt x="1098413" y="1110617"/>
                    <a:pt x="1420339" y="1988598"/>
                  </a:cubicBezTo>
                  <a:cubicBezTo>
                    <a:pt x="1507955" y="2227552"/>
                    <a:pt x="1887896" y="2189825"/>
                    <a:pt x="2121674" y="2290439"/>
                  </a:cubicBezTo>
                  <a:cubicBezTo>
                    <a:pt x="2315634" y="2190972"/>
                    <a:pt x="3351357" y="1884739"/>
                    <a:pt x="2956175" y="1287262"/>
                  </a:cubicBezTo>
                  <a:cubicBezTo>
                    <a:pt x="2770643" y="1006756"/>
                    <a:pt x="2364330" y="967666"/>
                    <a:pt x="2068408" y="807868"/>
                  </a:cubicBezTo>
                  <a:cubicBezTo>
                    <a:pt x="1601669" y="1347033"/>
                    <a:pt x="1219122" y="1491469"/>
                    <a:pt x="1668913" y="2334827"/>
                  </a:cubicBezTo>
                  <a:cubicBezTo>
                    <a:pt x="1761086" y="2507652"/>
                    <a:pt x="2018102" y="2512380"/>
                    <a:pt x="2192696" y="2601157"/>
                  </a:cubicBezTo>
                  <a:cubicBezTo>
                    <a:pt x="2631312" y="2258137"/>
                    <a:pt x="3277803" y="1999054"/>
                    <a:pt x="3036074" y="1242874"/>
                  </a:cubicBezTo>
                  <a:cubicBezTo>
                    <a:pt x="2978830" y="1063803"/>
                    <a:pt x="2704641" y="1065321"/>
                    <a:pt x="2538925" y="976544"/>
                  </a:cubicBezTo>
                  <a:cubicBezTo>
                    <a:pt x="2432393" y="1210323"/>
                    <a:pt x="2267762" y="1425579"/>
                    <a:pt x="2219329" y="1677880"/>
                  </a:cubicBezTo>
                  <a:cubicBezTo>
                    <a:pt x="2019589" y="2718388"/>
                    <a:pt x="2060506" y="2681550"/>
                    <a:pt x="2290350" y="3355759"/>
                  </a:cubicBezTo>
                  <a:cubicBezTo>
                    <a:pt x="2993818" y="3298721"/>
                    <a:pt x="3047403" y="3455633"/>
                    <a:pt x="3417814" y="2707689"/>
                  </a:cubicBezTo>
                  <a:cubicBezTo>
                    <a:pt x="3467736" y="2606884"/>
                    <a:pt x="3489479" y="2448867"/>
                    <a:pt x="3408937" y="2370338"/>
                  </a:cubicBezTo>
                  <a:cubicBezTo>
                    <a:pt x="3221318" y="2187409"/>
                    <a:pt x="2941380" y="2133600"/>
                    <a:pt x="2707601" y="2015231"/>
                  </a:cubicBezTo>
                  <a:cubicBezTo>
                    <a:pt x="2562599" y="2068497"/>
                    <a:pt x="2350918" y="2041881"/>
                    <a:pt x="2272595" y="2175029"/>
                  </a:cubicBezTo>
                  <a:cubicBezTo>
                    <a:pt x="1870027" y="2859394"/>
                    <a:pt x="2175582" y="2921282"/>
                    <a:pt x="2574436" y="3249227"/>
                  </a:cubicBezTo>
                  <a:cubicBezTo>
                    <a:pt x="2737193" y="3216676"/>
                    <a:pt x="2952570" y="3275747"/>
                    <a:pt x="3062707" y="3151573"/>
                  </a:cubicBezTo>
                  <a:cubicBezTo>
                    <a:pt x="3770113" y="2354007"/>
                    <a:pt x="3483741" y="1764827"/>
                    <a:pt x="2902909" y="941033"/>
                  </a:cubicBezTo>
                  <a:cubicBezTo>
                    <a:pt x="2709023" y="666044"/>
                    <a:pt x="2382086" y="514905"/>
                    <a:pt x="2121674" y="301841"/>
                  </a:cubicBezTo>
                  <a:cubicBezTo>
                    <a:pt x="1507367" y="400131"/>
                    <a:pt x="1764843" y="292841"/>
                    <a:pt x="1455849" y="1535837"/>
                  </a:cubicBezTo>
                  <a:cubicBezTo>
                    <a:pt x="1425561" y="1657678"/>
                    <a:pt x="1437651" y="1805473"/>
                    <a:pt x="1509115" y="1908699"/>
                  </a:cubicBezTo>
                  <a:cubicBezTo>
                    <a:pt x="1562381" y="1985639"/>
                    <a:pt x="1686668" y="1967884"/>
                    <a:pt x="1775445" y="1997476"/>
                  </a:cubicBezTo>
                  <a:cubicBezTo>
                    <a:pt x="1887896" y="1615736"/>
                    <a:pt x="2075786" y="1248489"/>
                    <a:pt x="2112797" y="852256"/>
                  </a:cubicBezTo>
                  <a:cubicBezTo>
                    <a:pt x="2128487" y="684286"/>
                    <a:pt x="2080923" y="449359"/>
                    <a:pt x="1926366" y="381740"/>
                  </a:cubicBezTo>
                  <a:cubicBezTo>
                    <a:pt x="1759132" y="308575"/>
                    <a:pt x="1577177" y="488272"/>
                    <a:pt x="1402583" y="541538"/>
                  </a:cubicBezTo>
                  <a:cubicBezTo>
                    <a:pt x="1361431" y="710987"/>
                    <a:pt x="879407" y="2170558"/>
                    <a:pt x="1145131" y="2565647"/>
                  </a:cubicBezTo>
                  <a:cubicBezTo>
                    <a:pt x="1269444" y="2750480"/>
                    <a:pt x="1565340" y="2713608"/>
                    <a:pt x="1775445" y="2787588"/>
                  </a:cubicBezTo>
                  <a:cubicBezTo>
                    <a:pt x="1902692" y="2669219"/>
                    <a:pt x="2096378" y="2595287"/>
                    <a:pt x="2157185" y="2432482"/>
                  </a:cubicBezTo>
                  <a:cubicBezTo>
                    <a:pt x="2334810" y="1956905"/>
                    <a:pt x="1653382" y="1930357"/>
                    <a:pt x="1464727" y="1873188"/>
                  </a:cubicBezTo>
                  <a:cubicBezTo>
                    <a:pt x="1195552" y="2402255"/>
                    <a:pt x="905504" y="2762102"/>
                    <a:pt x="1269418" y="3462291"/>
                  </a:cubicBezTo>
                  <a:cubicBezTo>
                    <a:pt x="1375865" y="3667100"/>
                    <a:pt x="1695546" y="3639844"/>
                    <a:pt x="1908610" y="3728621"/>
                  </a:cubicBezTo>
                  <a:cubicBezTo>
                    <a:pt x="2521305" y="3483543"/>
                    <a:pt x="3141857" y="3488110"/>
                    <a:pt x="3089340" y="2601157"/>
                  </a:cubicBezTo>
                  <a:cubicBezTo>
                    <a:pt x="3075804" y="2372547"/>
                    <a:pt x="2840765" y="2216458"/>
                    <a:pt x="2716478" y="2024109"/>
                  </a:cubicBezTo>
                  <a:cubicBezTo>
                    <a:pt x="2514061" y="2371656"/>
                    <a:pt x="1834508" y="2990148"/>
                    <a:pt x="2574436" y="3355759"/>
                  </a:cubicBezTo>
                  <a:cubicBezTo>
                    <a:pt x="2709532" y="3422512"/>
                    <a:pt x="2858521" y="3255146"/>
                    <a:pt x="3000564" y="3204839"/>
                  </a:cubicBezTo>
                  <a:cubicBezTo>
                    <a:pt x="3438629" y="2206627"/>
                    <a:pt x="3831218" y="1999851"/>
                    <a:pt x="3293527" y="994299"/>
                  </a:cubicBezTo>
                  <a:cubicBezTo>
                    <a:pt x="3210305" y="838662"/>
                    <a:pt x="3003523" y="793072"/>
                    <a:pt x="2858521" y="692458"/>
                  </a:cubicBezTo>
                  <a:cubicBezTo>
                    <a:pt x="2280101" y="1408598"/>
                    <a:pt x="2208144" y="1236710"/>
                    <a:pt x="2228206" y="2139519"/>
                  </a:cubicBezTo>
                  <a:cubicBezTo>
                    <a:pt x="2228941" y="2172596"/>
                    <a:pt x="2287391" y="2169111"/>
                    <a:pt x="2316983" y="2183907"/>
                  </a:cubicBezTo>
                  <a:cubicBezTo>
                    <a:pt x="2459026" y="1935332"/>
                    <a:pt x="2748798" y="1724423"/>
                    <a:pt x="2743111" y="1438183"/>
                  </a:cubicBezTo>
                  <a:cubicBezTo>
                    <a:pt x="2729625" y="759366"/>
                    <a:pt x="1830937" y="735857"/>
                    <a:pt x="1455849" y="648070"/>
                  </a:cubicBezTo>
                  <a:cubicBezTo>
                    <a:pt x="1165541" y="1213407"/>
                    <a:pt x="703616" y="1889090"/>
                    <a:pt x="763391" y="2583402"/>
                  </a:cubicBezTo>
                  <a:cubicBezTo>
                    <a:pt x="777505" y="2747346"/>
                    <a:pt x="964618" y="2843814"/>
                    <a:pt x="1065232" y="2974020"/>
                  </a:cubicBezTo>
                  <a:cubicBezTo>
                    <a:pt x="1242785" y="2932591"/>
                    <a:pt x="1459013" y="2967859"/>
                    <a:pt x="1597892" y="2849732"/>
                  </a:cubicBezTo>
                  <a:cubicBezTo>
                    <a:pt x="2110070" y="2414086"/>
                    <a:pt x="1813572" y="2192733"/>
                    <a:pt x="1402583" y="2006354"/>
                  </a:cubicBezTo>
                  <a:cubicBezTo>
                    <a:pt x="1302285" y="1960870"/>
                    <a:pt x="1183600" y="1982680"/>
                    <a:pt x="1074109" y="1970843"/>
                  </a:cubicBezTo>
                  <a:cubicBezTo>
                    <a:pt x="850123" y="2428997"/>
                    <a:pt x="287327" y="3067615"/>
                    <a:pt x="1020843" y="3551068"/>
                  </a:cubicBezTo>
                  <a:cubicBezTo>
                    <a:pt x="1253114" y="3704156"/>
                    <a:pt x="1577177" y="3545149"/>
                    <a:pt x="1855344" y="3542190"/>
                  </a:cubicBezTo>
                  <a:cubicBezTo>
                    <a:pt x="2011835" y="3390514"/>
                    <a:pt x="2857750" y="2765516"/>
                    <a:pt x="2601069" y="2325950"/>
                  </a:cubicBezTo>
                  <a:cubicBezTo>
                    <a:pt x="2425963" y="2026080"/>
                    <a:pt x="2015142" y="1953087"/>
                    <a:pt x="1722179" y="1766656"/>
                  </a:cubicBezTo>
                  <a:cubicBezTo>
                    <a:pt x="1547585" y="1775534"/>
                    <a:pt x="1331930" y="1680458"/>
                    <a:pt x="1198397" y="1793289"/>
                  </a:cubicBezTo>
                  <a:cubicBezTo>
                    <a:pt x="989269" y="1969994"/>
                    <a:pt x="162830" y="2974551"/>
                    <a:pt x="710125" y="3435658"/>
                  </a:cubicBezTo>
                  <a:cubicBezTo>
                    <a:pt x="971391" y="3655780"/>
                    <a:pt x="1372991" y="3601375"/>
                    <a:pt x="1704424" y="3684233"/>
                  </a:cubicBezTo>
                  <a:cubicBezTo>
                    <a:pt x="2103919" y="3474128"/>
                    <a:pt x="2560075" y="3347526"/>
                    <a:pt x="2902909" y="3053919"/>
                  </a:cubicBezTo>
                  <a:cubicBezTo>
                    <a:pt x="3157358" y="2836007"/>
                    <a:pt x="3403570" y="2535138"/>
                    <a:pt x="3435570" y="2201662"/>
                  </a:cubicBezTo>
                  <a:cubicBezTo>
                    <a:pt x="3466644" y="1877837"/>
                    <a:pt x="3266773" y="1556390"/>
                    <a:pt x="3071585" y="1296140"/>
                  </a:cubicBezTo>
                  <a:cubicBezTo>
                    <a:pt x="2590871" y="655188"/>
                    <a:pt x="2217497" y="548243"/>
                    <a:pt x="1589014" y="257453"/>
                  </a:cubicBezTo>
                  <a:cubicBezTo>
                    <a:pt x="1002914" y="1011009"/>
                    <a:pt x="999669" y="853868"/>
                    <a:pt x="861045" y="2077375"/>
                  </a:cubicBezTo>
                  <a:cubicBezTo>
                    <a:pt x="840452" y="2259134"/>
                    <a:pt x="846049" y="2468275"/>
                    <a:pt x="949822" y="2618913"/>
                  </a:cubicBezTo>
                  <a:cubicBezTo>
                    <a:pt x="1049777" y="2764008"/>
                    <a:pt x="1257581" y="2790548"/>
                    <a:pt x="1411461" y="2876365"/>
                  </a:cubicBezTo>
                  <a:cubicBezTo>
                    <a:pt x="1734016" y="2781670"/>
                    <a:pt x="2104836" y="2786635"/>
                    <a:pt x="2379127" y="2592280"/>
                  </a:cubicBezTo>
                  <a:cubicBezTo>
                    <a:pt x="3108043" y="2075791"/>
                    <a:pt x="3183287" y="1524616"/>
                    <a:pt x="2459026" y="958788"/>
                  </a:cubicBezTo>
                  <a:cubicBezTo>
                    <a:pt x="2116389" y="691103"/>
                    <a:pt x="1660035" y="615519"/>
                    <a:pt x="1260540" y="443884"/>
                  </a:cubicBezTo>
                  <a:cubicBezTo>
                    <a:pt x="1029721" y="582967"/>
                    <a:pt x="684224" y="617962"/>
                    <a:pt x="568082" y="861134"/>
                  </a:cubicBezTo>
                  <a:cubicBezTo>
                    <a:pt x="26055" y="1996002"/>
                    <a:pt x="293525" y="2083599"/>
                    <a:pt x="816657" y="2743200"/>
                  </a:cubicBezTo>
                  <a:cubicBezTo>
                    <a:pt x="1080028" y="2737282"/>
                    <a:pt x="1378747" y="2857372"/>
                    <a:pt x="1606770" y="2725445"/>
                  </a:cubicBezTo>
                  <a:cubicBezTo>
                    <a:pt x="2293333" y="2328219"/>
                    <a:pt x="2130040" y="1714159"/>
                    <a:pt x="1597892" y="1322773"/>
                  </a:cubicBezTo>
                  <a:cubicBezTo>
                    <a:pt x="1338563" y="1132041"/>
                    <a:pt x="988292" y="1115628"/>
                    <a:pt x="683492" y="1012055"/>
                  </a:cubicBezTo>
                  <a:cubicBezTo>
                    <a:pt x="348662" y="1483086"/>
                    <a:pt x="-135283" y="1926872"/>
                    <a:pt x="35422" y="2601157"/>
                  </a:cubicBezTo>
                  <a:cubicBezTo>
                    <a:pt x="95134" y="2837021"/>
                    <a:pt x="355018" y="2968101"/>
                    <a:pt x="514816" y="3151573"/>
                  </a:cubicBezTo>
                  <a:cubicBezTo>
                    <a:pt x="858086" y="3136777"/>
                    <a:pt x="1205257" y="3160870"/>
                    <a:pt x="1544626" y="3107185"/>
                  </a:cubicBezTo>
                  <a:cubicBezTo>
                    <a:pt x="1735174" y="3077042"/>
                    <a:pt x="1952562" y="2763830"/>
                    <a:pt x="2086164" y="2902998"/>
                  </a:cubicBezTo>
                  <a:cubicBezTo>
                    <a:pt x="2238121" y="3061286"/>
                    <a:pt x="2009224" y="3335045"/>
                    <a:pt x="1970754" y="3551068"/>
                  </a:cubicBezTo>
                  <a:cubicBezTo>
                    <a:pt x="2160144" y="3675355"/>
                    <a:pt x="2313312" y="3903562"/>
                    <a:pt x="2538925" y="3923930"/>
                  </a:cubicBezTo>
                  <a:cubicBezTo>
                    <a:pt x="3239904" y="3987213"/>
                    <a:pt x="3532653" y="3287070"/>
                    <a:pt x="3852820" y="2858610"/>
                  </a:cubicBezTo>
                  <a:cubicBezTo>
                    <a:pt x="3817309" y="2636668"/>
                    <a:pt x="3833324" y="2400014"/>
                    <a:pt x="3746288" y="2192785"/>
                  </a:cubicBezTo>
                  <a:cubicBezTo>
                    <a:pt x="3701539" y="2086239"/>
                    <a:pt x="3588710" y="1931760"/>
                    <a:pt x="3479958" y="1970843"/>
                  </a:cubicBezTo>
                  <a:cubicBezTo>
                    <a:pt x="3316148" y="2029712"/>
                    <a:pt x="3278731" y="2254928"/>
                    <a:pt x="3178117" y="2396971"/>
                  </a:cubicBezTo>
                  <a:cubicBezTo>
                    <a:pt x="3160362" y="2521258"/>
                    <a:pt x="3034958" y="2857479"/>
                    <a:pt x="3124851" y="2769833"/>
                  </a:cubicBezTo>
                  <a:cubicBezTo>
                    <a:pt x="3594381" y="2312041"/>
                    <a:pt x="3729832" y="1794906"/>
                    <a:pt x="3169239" y="1305018"/>
                  </a:cubicBezTo>
                  <a:cubicBezTo>
                    <a:pt x="3010592" y="1166381"/>
                    <a:pt x="2754948" y="1228078"/>
                    <a:pt x="2547803" y="1189608"/>
                  </a:cubicBezTo>
                  <a:cubicBezTo>
                    <a:pt x="1741719" y="2083099"/>
                    <a:pt x="1663989" y="2342281"/>
                    <a:pt x="1935243" y="1722268"/>
                  </a:cubicBezTo>
                  <a:cubicBezTo>
                    <a:pt x="1902692" y="1248792"/>
                    <a:pt x="1942991" y="764582"/>
                    <a:pt x="1837589" y="301841"/>
                  </a:cubicBezTo>
                  <a:cubicBezTo>
                    <a:pt x="1813893" y="197809"/>
                    <a:pt x="1674474" y="97255"/>
                    <a:pt x="1571259" y="124288"/>
                  </a:cubicBezTo>
                  <a:cubicBezTo>
                    <a:pt x="1375422" y="175579"/>
                    <a:pt x="1251663" y="372863"/>
                    <a:pt x="1091865" y="497150"/>
                  </a:cubicBezTo>
                  <a:cubicBezTo>
                    <a:pt x="1044517" y="787154"/>
                    <a:pt x="891215" y="1079222"/>
                    <a:pt x="949822" y="1367161"/>
                  </a:cubicBezTo>
                  <a:cubicBezTo>
                    <a:pt x="974484" y="1488328"/>
                    <a:pt x="1177073" y="1533999"/>
                    <a:pt x="1296051" y="1500326"/>
                  </a:cubicBezTo>
                  <a:cubicBezTo>
                    <a:pt x="1525861" y="1435285"/>
                    <a:pt x="1692587" y="1233996"/>
                    <a:pt x="1890855" y="1100831"/>
                  </a:cubicBezTo>
                  <a:cubicBezTo>
                    <a:pt x="1952999" y="970625"/>
                    <a:pt x="2142373" y="838973"/>
                    <a:pt x="2077286" y="710214"/>
                  </a:cubicBezTo>
                  <a:cubicBezTo>
                    <a:pt x="1788879" y="139670"/>
                    <a:pt x="1315535" y="304888"/>
                    <a:pt x="861045" y="337352"/>
                  </a:cubicBezTo>
                  <a:cubicBezTo>
                    <a:pt x="714385" y="974567"/>
                    <a:pt x="271374" y="1644317"/>
                    <a:pt x="1047476" y="2104008"/>
                  </a:cubicBezTo>
                  <a:cubicBezTo>
                    <a:pt x="1251420" y="2224805"/>
                    <a:pt x="1520952" y="2127682"/>
                    <a:pt x="1757690" y="2139519"/>
                  </a:cubicBezTo>
                  <a:cubicBezTo>
                    <a:pt x="2086670" y="1831100"/>
                    <a:pt x="2684077" y="1562041"/>
                    <a:pt x="2237084" y="976544"/>
                  </a:cubicBezTo>
                  <a:cubicBezTo>
                    <a:pt x="2120640" y="824019"/>
                    <a:pt x="1876059" y="846338"/>
                    <a:pt x="1695546" y="781235"/>
                  </a:cubicBezTo>
                  <a:cubicBezTo>
                    <a:pt x="1636362" y="1086035"/>
                    <a:pt x="1561903" y="1388263"/>
                    <a:pt x="1517993" y="1695635"/>
                  </a:cubicBezTo>
                  <a:cubicBezTo>
                    <a:pt x="1496633" y="1845153"/>
                    <a:pt x="1492436" y="1997561"/>
                    <a:pt x="1500238" y="2148396"/>
                  </a:cubicBezTo>
                  <a:cubicBezTo>
                    <a:pt x="1501553" y="2173818"/>
                    <a:pt x="1523911" y="2195744"/>
                    <a:pt x="1544626" y="2210540"/>
                  </a:cubicBezTo>
                  <a:cubicBezTo>
                    <a:pt x="1583222" y="2238109"/>
                    <a:pt x="1601101" y="2237173"/>
                    <a:pt x="1633403" y="2237173"/>
                  </a:cubicBezTo>
                </a:path>
              </a:pathLst>
            </a:custGeom>
            <a:noFill/>
            <a:ln w="28575">
              <a:solidFill>
                <a:srgbClr val="DC4C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8" name="Group 17" descr="Pile A refers to the pile that connects to the blanket. Pile B is the other pile.">
            <a:extLst>
              <a:ext uri="{FF2B5EF4-FFF2-40B4-BE49-F238E27FC236}">
                <a16:creationId xmlns:a16="http://schemas.microsoft.com/office/drawing/2014/main" id="{1A47E06E-C41F-E698-74B1-DFA8100725AB}"/>
              </a:ext>
            </a:extLst>
          </p:cNvPr>
          <p:cNvGrpSpPr/>
          <p:nvPr/>
        </p:nvGrpSpPr>
        <p:grpSpPr>
          <a:xfrm>
            <a:off x="8234658" y="3581400"/>
            <a:ext cx="3957342" cy="1458846"/>
            <a:chOff x="8234658" y="3789922"/>
            <a:chExt cx="3957342" cy="1458846"/>
          </a:xfrm>
        </p:grpSpPr>
        <p:pic>
          <p:nvPicPr>
            <p:cNvPr id="9" name="Picture 2">
              <a:extLst>
                <a:ext uri="{FF2B5EF4-FFF2-40B4-BE49-F238E27FC236}">
                  <a16:creationId xmlns:a16="http://schemas.microsoft.com/office/drawing/2014/main" id="{020328E4-3AD5-2135-47DB-AFBF6E99B60B}"/>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9000"/>
            <a:stretch/>
          </p:blipFill>
          <p:spPr bwMode="auto">
            <a:xfrm>
              <a:off x="10201827" y="3789922"/>
              <a:ext cx="1990173" cy="1458846"/>
            </a:xfrm>
            <a:prstGeom prst="rect">
              <a:avLst/>
            </a:prstGeom>
            <a:noFill/>
            <a:extLst>
              <a:ext uri="{909E8E84-426E-40DD-AFC4-6F175D3DCCD1}">
                <a14:hiddenFill xmlns:a14="http://schemas.microsoft.com/office/drawing/2010/main">
                  <a:solidFill>
                    <a:srgbClr val="FFFFFF"/>
                  </a:solidFill>
                </a14:hiddenFill>
              </a:ext>
            </a:extLst>
          </p:spPr>
        </p:pic>
        <p:sp>
          <p:nvSpPr>
            <p:cNvPr id="14" name="Freeform: Shape 13">
              <a:extLst>
                <a:ext uri="{FF2B5EF4-FFF2-40B4-BE49-F238E27FC236}">
                  <a16:creationId xmlns:a16="http://schemas.microsoft.com/office/drawing/2014/main" id="{307CA02C-8F9A-47CD-1BDC-418B090FD2B8}"/>
                </a:ext>
              </a:extLst>
            </p:cNvPr>
            <p:cNvSpPr/>
            <p:nvPr/>
          </p:nvSpPr>
          <p:spPr>
            <a:xfrm>
              <a:off x="8234658" y="3938416"/>
              <a:ext cx="1976142" cy="1106424"/>
            </a:xfrm>
            <a:custGeom>
              <a:avLst/>
              <a:gdLst>
                <a:gd name="connsiteX0" fmla="*/ 1976142 w 1976142"/>
                <a:gd name="connsiteY0" fmla="*/ 0 h 1106424"/>
                <a:gd name="connsiteX1" fmla="*/ 1793262 w 1976142"/>
                <a:gd name="connsiteY1" fmla="*/ 9144 h 1106424"/>
                <a:gd name="connsiteX2" fmla="*/ 1729254 w 1976142"/>
                <a:gd name="connsiteY2" fmla="*/ 18288 h 1106424"/>
                <a:gd name="connsiteX3" fmla="*/ 1619526 w 1976142"/>
                <a:gd name="connsiteY3" fmla="*/ 91440 h 1106424"/>
                <a:gd name="connsiteX4" fmla="*/ 1546374 w 1976142"/>
                <a:gd name="connsiteY4" fmla="*/ 192024 h 1106424"/>
                <a:gd name="connsiteX5" fmla="*/ 1509798 w 1976142"/>
                <a:gd name="connsiteY5" fmla="*/ 329184 h 1106424"/>
                <a:gd name="connsiteX6" fmla="*/ 1592094 w 1976142"/>
                <a:gd name="connsiteY6" fmla="*/ 384048 h 1106424"/>
                <a:gd name="connsiteX7" fmla="*/ 1756686 w 1976142"/>
                <a:gd name="connsiteY7" fmla="*/ 365760 h 1106424"/>
                <a:gd name="connsiteX8" fmla="*/ 1774974 w 1976142"/>
                <a:gd name="connsiteY8" fmla="*/ 292608 h 1106424"/>
                <a:gd name="connsiteX9" fmla="*/ 1537230 w 1976142"/>
                <a:gd name="connsiteY9" fmla="*/ 201168 h 1106424"/>
                <a:gd name="connsiteX10" fmla="*/ 1409214 w 1976142"/>
                <a:gd name="connsiteY10" fmla="*/ 265176 h 1106424"/>
                <a:gd name="connsiteX11" fmla="*/ 1436646 w 1976142"/>
                <a:gd name="connsiteY11" fmla="*/ 384048 h 1106424"/>
                <a:gd name="connsiteX12" fmla="*/ 1582950 w 1976142"/>
                <a:gd name="connsiteY12" fmla="*/ 411480 h 1106424"/>
                <a:gd name="connsiteX13" fmla="*/ 1610382 w 1976142"/>
                <a:gd name="connsiteY13" fmla="*/ 393192 h 1106424"/>
                <a:gd name="connsiteX14" fmla="*/ 1436646 w 1976142"/>
                <a:gd name="connsiteY14" fmla="*/ 292608 h 1106424"/>
                <a:gd name="connsiteX15" fmla="*/ 1445790 w 1976142"/>
                <a:gd name="connsiteY15" fmla="*/ 694944 h 1106424"/>
                <a:gd name="connsiteX16" fmla="*/ 1729254 w 1976142"/>
                <a:gd name="connsiteY16" fmla="*/ 722376 h 1106424"/>
                <a:gd name="connsiteX17" fmla="*/ 1811550 w 1976142"/>
                <a:gd name="connsiteY17" fmla="*/ 393192 h 1106424"/>
                <a:gd name="connsiteX18" fmla="*/ 1656102 w 1976142"/>
                <a:gd name="connsiteY18" fmla="*/ 347472 h 1106424"/>
                <a:gd name="connsiteX19" fmla="*/ 1683534 w 1976142"/>
                <a:gd name="connsiteY19" fmla="*/ 539496 h 1106424"/>
                <a:gd name="connsiteX20" fmla="*/ 1784118 w 1976142"/>
                <a:gd name="connsiteY20" fmla="*/ 585216 h 1106424"/>
                <a:gd name="connsiteX21" fmla="*/ 1774974 w 1976142"/>
                <a:gd name="connsiteY21" fmla="*/ 448056 h 1106424"/>
                <a:gd name="connsiteX22" fmla="*/ 1464078 w 1976142"/>
                <a:gd name="connsiteY22" fmla="*/ 384048 h 1106424"/>
                <a:gd name="connsiteX23" fmla="*/ 1509798 w 1976142"/>
                <a:gd name="connsiteY23" fmla="*/ 466344 h 1106424"/>
                <a:gd name="connsiteX24" fmla="*/ 1564662 w 1976142"/>
                <a:gd name="connsiteY24" fmla="*/ 475488 h 1106424"/>
                <a:gd name="connsiteX25" fmla="*/ 1473222 w 1976142"/>
                <a:gd name="connsiteY25" fmla="*/ 402336 h 1106424"/>
                <a:gd name="connsiteX26" fmla="*/ 1390926 w 1976142"/>
                <a:gd name="connsiteY26" fmla="*/ 658368 h 1106424"/>
                <a:gd name="connsiteX27" fmla="*/ 1528086 w 1976142"/>
                <a:gd name="connsiteY27" fmla="*/ 676656 h 1106424"/>
                <a:gd name="connsiteX28" fmla="*/ 1573806 w 1976142"/>
                <a:gd name="connsiteY28" fmla="*/ 557784 h 1106424"/>
                <a:gd name="connsiteX29" fmla="*/ 1345206 w 1976142"/>
                <a:gd name="connsiteY29" fmla="*/ 612648 h 1106424"/>
                <a:gd name="connsiteX30" fmla="*/ 1546374 w 1976142"/>
                <a:gd name="connsiteY30" fmla="*/ 841248 h 1106424"/>
                <a:gd name="connsiteX31" fmla="*/ 1665246 w 1976142"/>
                <a:gd name="connsiteY31" fmla="*/ 658368 h 1106424"/>
                <a:gd name="connsiteX32" fmla="*/ 1601238 w 1976142"/>
                <a:gd name="connsiteY32" fmla="*/ 493776 h 1106424"/>
                <a:gd name="connsiteX33" fmla="*/ 1500654 w 1976142"/>
                <a:gd name="connsiteY33" fmla="*/ 448056 h 1106424"/>
                <a:gd name="connsiteX34" fmla="*/ 1464078 w 1976142"/>
                <a:gd name="connsiteY34" fmla="*/ 621792 h 1106424"/>
                <a:gd name="connsiteX35" fmla="*/ 1582950 w 1976142"/>
                <a:gd name="connsiteY35" fmla="*/ 667512 h 1106424"/>
                <a:gd name="connsiteX36" fmla="*/ 1582950 w 1976142"/>
                <a:gd name="connsiteY36" fmla="*/ 411480 h 1106424"/>
                <a:gd name="connsiteX37" fmla="*/ 1445790 w 1976142"/>
                <a:gd name="connsiteY37" fmla="*/ 402336 h 1106424"/>
                <a:gd name="connsiteX38" fmla="*/ 1363494 w 1976142"/>
                <a:gd name="connsiteY38" fmla="*/ 466344 h 1106424"/>
                <a:gd name="connsiteX39" fmla="*/ 1528086 w 1976142"/>
                <a:gd name="connsiteY39" fmla="*/ 813816 h 1106424"/>
                <a:gd name="connsiteX40" fmla="*/ 1765830 w 1976142"/>
                <a:gd name="connsiteY40" fmla="*/ 749808 h 1106424"/>
                <a:gd name="connsiteX41" fmla="*/ 1820694 w 1976142"/>
                <a:gd name="connsiteY41" fmla="*/ 402336 h 1106424"/>
                <a:gd name="connsiteX42" fmla="*/ 1720110 w 1976142"/>
                <a:gd name="connsiteY42" fmla="*/ 384048 h 1106424"/>
                <a:gd name="connsiteX43" fmla="*/ 1692678 w 1976142"/>
                <a:gd name="connsiteY43" fmla="*/ 676656 h 1106424"/>
                <a:gd name="connsiteX44" fmla="*/ 1857270 w 1976142"/>
                <a:gd name="connsiteY44" fmla="*/ 758952 h 1106424"/>
                <a:gd name="connsiteX45" fmla="*/ 1902990 w 1976142"/>
                <a:gd name="connsiteY45" fmla="*/ 640080 h 1106424"/>
                <a:gd name="connsiteX46" fmla="*/ 1592094 w 1976142"/>
                <a:gd name="connsiteY46" fmla="*/ 438912 h 1106424"/>
                <a:gd name="connsiteX47" fmla="*/ 1482366 w 1976142"/>
                <a:gd name="connsiteY47" fmla="*/ 740664 h 1106424"/>
                <a:gd name="connsiteX48" fmla="*/ 1546374 w 1976142"/>
                <a:gd name="connsiteY48" fmla="*/ 786384 h 1106424"/>
                <a:gd name="connsiteX49" fmla="*/ 1619526 w 1976142"/>
                <a:gd name="connsiteY49" fmla="*/ 685800 h 1106424"/>
                <a:gd name="connsiteX50" fmla="*/ 1354350 w 1976142"/>
                <a:gd name="connsiteY50" fmla="*/ 484632 h 1106424"/>
                <a:gd name="connsiteX51" fmla="*/ 1354350 w 1976142"/>
                <a:gd name="connsiteY51" fmla="*/ 832104 h 1106424"/>
                <a:gd name="connsiteX52" fmla="*/ 1482366 w 1976142"/>
                <a:gd name="connsiteY52" fmla="*/ 877824 h 1106424"/>
                <a:gd name="connsiteX53" fmla="*/ 1573806 w 1976142"/>
                <a:gd name="connsiteY53" fmla="*/ 758952 h 1106424"/>
                <a:gd name="connsiteX54" fmla="*/ 1509798 w 1976142"/>
                <a:gd name="connsiteY54" fmla="*/ 530352 h 1106424"/>
                <a:gd name="connsiteX55" fmla="*/ 1445790 w 1976142"/>
                <a:gd name="connsiteY55" fmla="*/ 804672 h 1106424"/>
                <a:gd name="connsiteX56" fmla="*/ 1546374 w 1976142"/>
                <a:gd name="connsiteY56" fmla="*/ 822960 h 1106424"/>
                <a:gd name="connsiteX57" fmla="*/ 1555518 w 1976142"/>
                <a:gd name="connsiteY57" fmla="*/ 640080 h 1106424"/>
                <a:gd name="connsiteX58" fmla="*/ 1189758 w 1976142"/>
                <a:gd name="connsiteY58" fmla="*/ 576072 h 1106424"/>
                <a:gd name="connsiteX59" fmla="*/ 1125750 w 1976142"/>
                <a:gd name="connsiteY59" fmla="*/ 603504 h 1106424"/>
                <a:gd name="connsiteX60" fmla="*/ 1061742 w 1976142"/>
                <a:gd name="connsiteY60" fmla="*/ 612648 h 1106424"/>
                <a:gd name="connsiteX61" fmla="*/ 503958 w 1976142"/>
                <a:gd name="connsiteY61" fmla="*/ 621792 h 1106424"/>
                <a:gd name="connsiteX62" fmla="*/ 339366 w 1976142"/>
                <a:gd name="connsiteY62" fmla="*/ 694944 h 1106424"/>
                <a:gd name="connsiteX63" fmla="*/ 302790 w 1976142"/>
                <a:gd name="connsiteY63" fmla="*/ 722376 h 1106424"/>
                <a:gd name="connsiteX64" fmla="*/ 513102 w 1976142"/>
                <a:gd name="connsiteY64" fmla="*/ 822960 h 1106424"/>
                <a:gd name="connsiteX65" fmla="*/ 394230 w 1976142"/>
                <a:gd name="connsiteY65" fmla="*/ 649224 h 1106424"/>
                <a:gd name="connsiteX66" fmla="*/ 348510 w 1976142"/>
                <a:gd name="connsiteY66" fmla="*/ 694944 h 1106424"/>
                <a:gd name="connsiteX67" fmla="*/ 476526 w 1976142"/>
                <a:gd name="connsiteY67" fmla="*/ 640080 h 1106424"/>
                <a:gd name="connsiteX68" fmla="*/ 366798 w 1976142"/>
                <a:gd name="connsiteY68" fmla="*/ 484632 h 1106424"/>
                <a:gd name="connsiteX69" fmla="*/ 238782 w 1976142"/>
                <a:gd name="connsiteY69" fmla="*/ 475488 h 1106424"/>
                <a:gd name="connsiteX70" fmla="*/ 220494 w 1976142"/>
                <a:gd name="connsiteY70" fmla="*/ 685800 h 1106424"/>
                <a:gd name="connsiteX71" fmla="*/ 321078 w 1976142"/>
                <a:gd name="connsiteY71" fmla="*/ 704088 h 1106424"/>
                <a:gd name="connsiteX72" fmla="*/ 366798 w 1976142"/>
                <a:gd name="connsiteY72" fmla="*/ 530352 h 1106424"/>
                <a:gd name="connsiteX73" fmla="*/ 211350 w 1976142"/>
                <a:gd name="connsiteY73" fmla="*/ 457200 h 1106424"/>
                <a:gd name="connsiteX74" fmla="*/ 129054 w 1976142"/>
                <a:gd name="connsiteY74" fmla="*/ 676656 h 1106424"/>
                <a:gd name="connsiteX75" fmla="*/ 339366 w 1976142"/>
                <a:gd name="connsiteY75" fmla="*/ 813816 h 1106424"/>
                <a:gd name="connsiteX76" fmla="*/ 394230 w 1976142"/>
                <a:gd name="connsiteY76" fmla="*/ 786384 h 1106424"/>
                <a:gd name="connsiteX77" fmla="*/ 348510 w 1976142"/>
                <a:gd name="connsiteY77" fmla="*/ 603504 h 1106424"/>
                <a:gd name="connsiteX78" fmla="*/ 238782 w 1976142"/>
                <a:gd name="connsiteY78" fmla="*/ 585216 h 1106424"/>
                <a:gd name="connsiteX79" fmla="*/ 357654 w 1976142"/>
                <a:gd name="connsiteY79" fmla="*/ 804672 h 1106424"/>
                <a:gd name="connsiteX80" fmla="*/ 467382 w 1976142"/>
                <a:gd name="connsiteY80" fmla="*/ 731520 h 1106424"/>
                <a:gd name="connsiteX81" fmla="*/ 330222 w 1976142"/>
                <a:gd name="connsiteY81" fmla="*/ 530352 h 1106424"/>
                <a:gd name="connsiteX82" fmla="*/ 302790 w 1976142"/>
                <a:gd name="connsiteY82" fmla="*/ 868680 h 1106424"/>
                <a:gd name="connsiteX83" fmla="*/ 394230 w 1976142"/>
                <a:gd name="connsiteY83" fmla="*/ 758952 h 1106424"/>
                <a:gd name="connsiteX84" fmla="*/ 403374 w 1976142"/>
                <a:gd name="connsiteY84" fmla="*/ 795528 h 1106424"/>
                <a:gd name="connsiteX85" fmla="*/ 449094 w 1976142"/>
                <a:gd name="connsiteY85" fmla="*/ 777240 h 1106424"/>
                <a:gd name="connsiteX86" fmla="*/ 412518 w 1976142"/>
                <a:gd name="connsiteY86" fmla="*/ 731520 h 1106424"/>
                <a:gd name="connsiteX87" fmla="*/ 385086 w 1976142"/>
                <a:gd name="connsiteY87" fmla="*/ 804672 h 1106424"/>
                <a:gd name="connsiteX88" fmla="*/ 439950 w 1976142"/>
                <a:gd name="connsiteY88" fmla="*/ 841248 h 1106424"/>
                <a:gd name="connsiteX89" fmla="*/ 449094 w 1976142"/>
                <a:gd name="connsiteY89" fmla="*/ 566928 h 1106424"/>
                <a:gd name="connsiteX90" fmla="*/ 513102 w 1976142"/>
                <a:gd name="connsiteY90" fmla="*/ 466344 h 1106424"/>
                <a:gd name="connsiteX91" fmla="*/ 1016022 w 1976142"/>
                <a:gd name="connsiteY91" fmla="*/ 329184 h 1106424"/>
                <a:gd name="connsiteX92" fmla="*/ 1363494 w 1976142"/>
                <a:gd name="connsiteY92" fmla="*/ 265176 h 1106424"/>
                <a:gd name="connsiteX93" fmla="*/ 1528086 w 1976142"/>
                <a:gd name="connsiteY93" fmla="*/ 274320 h 1106424"/>
                <a:gd name="connsiteX94" fmla="*/ 1518942 w 1976142"/>
                <a:gd name="connsiteY94" fmla="*/ 338328 h 1106424"/>
                <a:gd name="connsiteX95" fmla="*/ 1528086 w 1976142"/>
                <a:gd name="connsiteY95" fmla="*/ 411480 h 1106424"/>
                <a:gd name="connsiteX96" fmla="*/ 1573806 w 1976142"/>
                <a:gd name="connsiteY96" fmla="*/ 576072 h 1106424"/>
                <a:gd name="connsiteX97" fmla="*/ 1592094 w 1976142"/>
                <a:gd name="connsiteY97" fmla="*/ 612648 h 1106424"/>
                <a:gd name="connsiteX98" fmla="*/ 1619526 w 1976142"/>
                <a:gd name="connsiteY98" fmla="*/ 621792 h 1106424"/>
                <a:gd name="connsiteX99" fmla="*/ 1656102 w 1976142"/>
                <a:gd name="connsiteY99" fmla="*/ 685800 h 1106424"/>
                <a:gd name="connsiteX100" fmla="*/ 1710966 w 1976142"/>
                <a:gd name="connsiteY100" fmla="*/ 694944 h 1106424"/>
                <a:gd name="connsiteX101" fmla="*/ 1692678 w 1976142"/>
                <a:gd name="connsiteY101" fmla="*/ 740664 h 1106424"/>
                <a:gd name="connsiteX102" fmla="*/ 1637814 w 1976142"/>
                <a:gd name="connsiteY102" fmla="*/ 758952 h 1106424"/>
                <a:gd name="connsiteX103" fmla="*/ 1564662 w 1976142"/>
                <a:gd name="connsiteY103" fmla="*/ 795528 h 1106424"/>
                <a:gd name="connsiteX104" fmla="*/ 1326918 w 1976142"/>
                <a:gd name="connsiteY104" fmla="*/ 941832 h 1106424"/>
                <a:gd name="connsiteX105" fmla="*/ 1208046 w 1976142"/>
                <a:gd name="connsiteY105" fmla="*/ 969264 h 1106424"/>
                <a:gd name="connsiteX106" fmla="*/ 1052598 w 1976142"/>
                <a:gd name="connsiteY106" fmla="*/ 1033272 h 1106424"/>
                <a:gd name="connsiteX107" fmla="*/ 897150 w 1976142"/>
                <a:gd name="connsiteY107" fmla="*/ 1051560 h 1106424"/>
                <a:gd name="connsiteX108" fmla="*/ 650262 w 1976142"/>
                <a:gd name="connsiteY108" fmla="*/ 1005840 h 1106424"/>
                <a:gd name="connsiteX109" fmla="*/ 522246 w 1976142"/>
                <a:gd name="connsiteY109" fmla="*/ 896112 h 1106424"/>
                <a:gd name="connsiteX110" fmla="*/ 494814 w 1976142"/>
                <a:gd name="connsiteY110" fmla="*/ 859536 h 1106424"/>
                <a:gd name="connsiteX111" fmla="*/ 458238 w 1976142"/>
                <a:gd name="connsiteY111" fmla="*/ 841248 h 1106424"/>
                <a:gd name="connsiteX112" fmla="*/ 275358 w 1976142"/>
                <a:gd name="connsiteY112" fmla="*/ 722376 h 1106424"/>
                <a:gd name="connsiteX113" fmla="*/ 202206 w 1976142"/>
                <a:gd name="connsiteY113" fmla="*/ 694944 h 1106424"/>
                <a:gd name="connsiteX114" fmla="*/ 92478 w 1976142"/>
                <a:gd name="connsiteY114" fmla="*/ 804672 h 1106424"/>
                <a:gd name="connsiteX115" fmla="*/ 174774 w 1976142"/>
                <a:gd name="connsiteY115" fmla="*/ 868680 h 1106424"/>
                <a:gd name="connsiteX116" fmla="*/ 458238 w 1976142"/>
                <a:gd name="connsiteY116" fmla="*/ 795528 h 1106424"/>
                <a:gd name="connsiteX117" fmla="*/ 220494 w 1976142"/>
                <a:gd name="connsiteY117" fmla="*/ 685800 h 1106424"/>
                <a:gd name="connsiteX118" fmla="*/ 247926 w 1976142"/>
                <a:gd name="connsiteY118" fmla="*/ 1014984 h 1106424"/>
                <a:gd name="connsiteX119" fmla="*/ 385086 w 1976142"/>
                <a:gd name="connsiteY119" fmla="*/ 987552 h 1106424"/>
                <a:gd name="connsiteX120" fmla="*/ 412518 w 1976142"/>
                <a:gd name="connsiteY120" fmla="*/ 832104 h 1106424"/>
                <a:gd name="connsiteX121" fmla="*/ 110766 w 1976142"/>
                <a:gd name="connsiteY121" fmla="*/ 658368 h 1106424"/>
                <a:gd name="connsiteX122" fmla="*/ 101622 w 1976142"/>
                <a:gd name="connsiteY122" fmla="*/ 886968 h 1106424"/>
                <a:gd name="connsiteX123" fmla="*/ 211350 w 1976142"/>
                <a:gd name="connsiteY123" fmla="*/ 740664 h 1106424"/>
                <a:gd name="connsiteX124" fmla="*/ 83334 w 1976142"/>
                <a:gd name="connsiteY124" fmla="*/ 923544 h 1106424"/>
                <a:gd name="connsiteX125" fmla="*/ 238782 w 1976142"/>
                <a:gd name="connsiteY125" fmla="*/ 1106424 h 1106424"/>
                <a:gd name="connsiteX126" fmla="*/ 476526 w 1976142"/>
                <a:gd name="connsiteY126" fmla="*/ 960120 h 1106424"/>
                <a:gd name="connsiteX127" fmla="*/ 247926 w 1976142"/>
                <a:gd name="connsiteY127" fmla="*/ 630936 h 1106424"/>
                <a:gd name="connsiteX128" fmla="*/ 202206 w 1976142"/>
                <a:gd name="connsiteY128" fmla="*/ 612648 h 1106424"/>
                <a:gd name="connsiteX129" fmla="*/ 220494 w 1976142"/>
                <a:gd name="connsiteY129" fmla="*/ 941832 h 1106424"/>
                <a:gd name="connsiteX130" fmla="*/ 293646 w 1976142"/>
                <a:gd name="connsiteY130" fmla="*/ 950976 h 1106424"/>
                <a:gd name="connsiteX131" fmla="*/ 330222 w 1976142"/>
                <a:gd name="connsiteY131" fmla="*/ 795528 h 1106424"/>
                <a:gd name="connsiteX132" fmla="*/ 275358 w 1976142"/>
                <a:gd name="connsiteY132" fmla="*/ 795528 h 1106424"/>
                <a:gd name="connsiteX133" fmla="*/ 403374 w 1976142"/>
                <a:gd name="connsiteY133" fmla="*/ 786384 h 1106424"/>
                <a:gd name="connsiteX134" fmla="*/ 485670 w 1976142"/>
                <a:gd name="connsiteY134" fmla="*/ 777240 h 1106424"/>
                <a:gd name="connsiteX135" fmla="*/ 558822 w 1976142"/>
                <a:gd name="connsiteY135" fmla="*/ 768096 h 1106424"/>
                <a:gd name="connsiteX136" fmla="*/ 769134 w 1976142"/>
                <a:gd name="connsiteY136" fmla="*/ 758952 h 1106424"/>
                <a:gd name="connsiteX137" fmla="*/ 906294 w 1976142"/>
                <a:gd name="connsiteY137" fmla="*/ 740664 h 1106424"/>
                <a:gd name="connsiteX138" fmla="*/ 1153182 w 1976142"/>
                <a:gd name="connsiteY138" fmla="*/ 731520 h 1106424"/>
                <a:gd name="connsiteX139" fmla="*/ 1345206 w 1976142"/>
                <a:gd name="connsiteY139" fmla="*/ 713232 h 1106424"/>
                <a:gd name="connsiteX140" fmla="*/ 1436646 w 1976142"/>
                <a:gd name="connsiteY140" fmla="*/ 685800 h 1106424"/>
                <a:gd name="connsiteX141" fmla="*/ 1500654 w 1976142"/>
                <a:gd name="connsiteY141" fmla="*/ 676656 h 1106424"/>
                <a:gd name="connsiteX142" fmla="*/ 1555518 w 1976142"/>
                <a:gd name="connsiteY142" fmla="*/ 658368 h 1106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1976142" h="1106424">
                  <a:moveTo>
                    <a:pt x="1976142" y="0"/>
                  </a:moveTo>
                  <a:cubicBezTo>
                    <a:pt x="1915182" y="3048"/>
                    <a:pt x="1854131" y="4635"/>
                    <a:pt x="1793262" y="9144"/>
                  </a:cubicBezTo>
                  <a:cubicBezTo>
                    <a:pt x="1771768" y="10736"/>
                    <a:pt x="1749701" y="11472"/>
                    <a:pt x="1729254" y="18288"/>
                  </a:cubicBezTo>
                  <a:cubicBezTo>
                    <a:pt x="1711411" y="24236"/>
                    <a:pt x="1623701" y="86987"/>
                    <a:pt x="1619526" y="91440"/>
                  </a:cubicBezTo>
                  <a:cubicBezTo>
                    <a:pt x="1591172" y="121685"/>
                    <a:pt x="1570758" y="158496"/>
                    <a:pt x="1546374" y="192024"/>
                  </a:cubicBezTo>
                  <a:cubicBezTo>
                    <a:pt x="1516604" y="311103"/>
                    <a:pt x="1530864" y="265985"/>
                    <a:pt x="1509798" y="329184"/>
                  </a:cubicBezTo>
                  <a:cubicBezTo>
                    <a:pt x="1537230" y="347472"/>
                    <a:pt x="1561608" y="371495"/>
                    <a:pt x="1592094" y="384048"/>
                  </a:cubicBezTo>
                  <a:cubicBezTo>
                    <a:pt x="1654628" y="409797"/>
                    <a:pt x="1696349" y="383861"/>
                    <a:pt x="1756686" y="365760"/>
                  </a:cubicBezTo>
                  <a:cubicBezTo>
                    <a:pt x="1762782" y="341376"/>
                    <a:pt x="1787296" y="314515"/>
                    <a:pt x="1774974" y="292608"/>
                  </a:cubicBezTo>
                  <a:cubicBezTo>
                    <a:pt x="1725172" y="204071"/>
                    <a:pt x="1617482" y="211868"/>
                    <a:pt x="1537230" y="201168"/>
                  </a:cubicBezTo>
                  <a:cubicBezTo>
                    <a:pt x="1494558" y="222504"/>
                    <a:pt x="1446468" y="235373"/>
                    <a:pt x="1409214" y="265176"/>
                  </a:cubicBezTo>
                  <a:cubicBezTo>
                    <a:pt x="1376294" y="291512"/>
                    <a:pt x="1425447" y="377889"/>
                    <a:pt x="1436646" y="384048"/>
                  </a:cubicBezTo>
                  <a:cubicBezTo>
                    <a:pt x="1480122" y="407960"/>
                    <a:pt x="1534182" y="402336"/>
                    <a:pt x="1582950" y="411480"/>
                  </a:cubicBezTo>
                  <a:cubicBezTo>
                    <a:pt x="1592094" y="405384"/>
                    <a:pt x="1614138" y="403520"/>
                    <a:pt x="1610382" y="393192"/>
                  </a:cubicBezTo>
                  <a:cubicBezTo>
                    <a:pt x="1572794" y="289824"/>
                    <a:pt x="1528174" y="307863"/>
                    <a:pt x="1436646" y="292608"/>
                  </a:cubicBezTo>
                  <a:cubicBezTo>
                    <a:pt x="1410348" y="392539"/>
                    <a:pt x="1325437" y="603866"/>
                    <a:pt x="1445790" y="694944"/>
                  </a:cubicBezTo>
                  <a:cubicBezTo>
                    <a:pt x="1521487" y="752228"/>
                    <a:pt x="1634766" y="713232"/>
                    <a:pt x="1729254" y="722376"/>
                  </a:cubicBezTo>
                  <a:cubicBezTo>
                    <a:pt x="1788776" y="621933"/>
                    <a:pt x="1972251" y="486934"/>
                    <a:pt x="1811550" y="393192"/>
                  </a:cubicBezTo>
                  <a:cubicBezTo>
                    <a:pt x="1764897" y="365978"/>
                    <a:pt x="1707918" y="362712"/>
                    <a:pt x="1656102" y="347472"/>
                  </a:cubicBezTo>
                  <a:cubicBezTo>
                    <a:pt x="1568750" y="369310"/>
                    <a:pt x="1554311" y="360020"/>
                    <a:pt x="1683534" y="539496"/>
                  </a:cubicBezTo>
                  <a:cubicBezTo>
                    <a:pt x="1705053" y="569384"/>
                    <a:pt x="1750590" y="569976"/>
                    <a:pt x="1784118" y="585216"/>
                  </a:cubicBezTo>
                  <a:cubicBezTo>
                    <a:pt x="1781070" y="539496"/>
                    <a:pt x="1809764" y="477876"/>
                    <a:pt x="1774974" y="448056"/>
                  </a:cubicBezTo>
                  <a:cubicBezTo>
                    <a:pt x="1629840" y="323656"/>
                    <a:pt x="1580083" y="350904"/>
                    <a:pt x="1464078" y="384048"/>
                  </a:cubicBezTo>
                  <a:cubicBezTo>
                    <a:pt x="1479318" y="411480"/>
                    <a:pt x="1486578" y="445235"/>
                    <a:pt x="1509798" y="466344"/>
                  </a:cubicBezTo>
                  <a:cubicBezTo>
                    <a:pt x="1523517" y="478816"/>
                    <a:pt x="1573861" y="491585"/>
                    <a:pt x="1564662" y="475488"/>
                  </a:cubicBezTo>
                  <a:cubicBezTo>
                    <a:pt x="1545296" y="441597"/>
                    <a:pt x="1503702" y="426720"/>
                    <a:pt x="1473222" y="402336"/>
                  </a:cubicBezTo>
                  <a:cubicBezTo>
                    <a:pt x="1372225" y="436002"/>
                    <a:pt x="1298296" y="442231"/>
                    <a:pt x="1390926" y="658368"/>
                  </a:cubicBezTo>
                  <a:cubicBezTo>
                    <a:pt x="1409095" y="700763"/>
                    <a:pt x="1482366" y="670560"/>
                    <a:pt x="1528086" y="676656"/>
                  </a:cubicBezTo>
                  <a:cubicBezTo>
                    <a:pt x="1543326" y="637032"/>
                    <a:pt x="1586590" y="598267"/>
                    <a:pt x="1573806" y="557784"/>
                  </a:cubicBezTo>
                  <a:cubicBezTo>
                    <a:pt x="1521546" y="392295"/>
                    <a:pt x="1358496" y="601256"/>
                    <a:pt x="1345206" y="612648"/>
                  </a:cubicBezTo>
                  <a:cubicBezTo>
                    <a:pt x="1350351" y="705259"/>
                    <a:pt x="1311727" y="930966"/>
                    <a:pt x="1546374" y="841248"/>
                  </a:cubicBezTo>
                  <a:cubicBezTo>
                    <a:pt x="1614285" y="815282"/>
                    <a:pt x="1625622" y="719328"/>
                    <a:pt x="1665246" y="658368"/>
                  </a:cubicBezTo>
                  <a:cubicBezTo>
                    <a:pt x="1643910" y="603504"/>
                    <a:pt x="1637518" y="540134"/>
                    <a:pt x="1601238" y="493776"/>
                  </a:cubicBezTo>
                  <a:cubicBezTo>
                    <a:pt x="1578540" y="464773"/>
                    <a:pt x="1527578" y="422927"/>
                    <a:pt x="1500654" y="448056"/>
                  </a:cubicBezTo>
                  <a:cubicBezTo>
                    <a:pt x="1457389" y="488437"/>
                    <a:pt x="1476270" y="563880"/>
                    <a:pt x="1464078" y="621792"/>
                  </a:cubicBezTo>
                  <a:cubicBezTo>
                    <a:pt x="1503702" y="637032"/>
                    <a:pt x="1541764" y="677809"/>
                    <a:pt x="1582950" y="667512"/>
                  </a:cubicBezTo>
                  <a:cubicBezTo>
                    <a:pt x="1804811" y="612047"/>
                    <a:pt x="1723047" y="490868"/>
                    <a:pt x="1582950" y="411480"/>
                  </a:cubicBezTo>
                  <a:cubicBezTo>
                    <a:pt x="1543084" y="388889"/>
                    <a:pt x="1491510" y="405384"/>
                    <a:pt x="1445790" y="402336"/>
                  </a:cubicBezTo>
                  <a:cubicBezTo>
                    <a:pt x="1418358" y="423672"/>
                    <a:pt x="1369898" y="432187"/>
                    <a:pt x="1363494" y="466344"/>
                  </a:cubicBezTo>
                  <a:cubicBezTo>
                    <a:pt x="1321777" y="688837"/>
                    <a:pt x="1393124" y="696849"/>
                    <a:pt x="1528086" y="813816"/>
                  </a:cubicBezTo>
                  <a:cubicBezTo>
                    <a:pt x="1607334" y="792480"/>
                    <a:pt x="1701133" y="800303"/>
                    <a:pt x="1765830" y="749808"/>
                  </a:cubicBezTo>
                  <a:cubicBezTo>
                    <a:pt x="1910387" y="636983"/>
                    <a:pt x="1963008" y="509071"/>
                    <a:pt x="1820694" y="402336"/>
                  </a:cubicBezTo>
                  <a:cubicBezTo>
                    <a:pt x="1793432" y="381889"/>
                    <a:pt x="1753638" y="390144"/>
                    <a:pt x="1720110" y="384048"/>
                  </a:cubicBezTo>
                  <a:cubicBezTo>
                    <a:pt x="1631412" y="472746"/>
                    <a:pt x="1574924" y="494672"/>
                    <a:pt x="1692678" y="676656"/>
                  </a:cubicBezTo>
                  <a:cubicBezTo>
                    <a:pt x="1726001" y="728155"/>
                    <a:pt x="1802406" y="731520"/>
                    <a:pt x="1857270" y="758952"/>
                  </a:cubicBezTo>
                  <a:cubicBezTo>
                    <a:pt x="1872510" y="719328"/>
                    <a:pt x="1921976" y="678052"/>
                    <a:pt x="1902990" y="640080"/>
                  </a:cubicBezTo>
                  <a:cubicBezTo>
                    <a:pt x="1799482" y="433064"/>
                    <a:pt x="1745025" y="451656"/>
                    <a:pt x="1592094" y="438912"/>
                  </a:cubicBezTo>
                  <a:cubicBezTo>
                    <a:pt x="1556536" y="503563"/>
                    <a:pt x="1448762" y="639851"/>
                    <a:pt x="1482366" y="740664"/>
                  </a:cubicBezTo>
                  <a:cubicBezTo>
                    <a:pt x="1490657" y="765538"/>
                    <a:pt x="1525038" y="771144"/>
                    <a:pt x="1546374" y="786384"/>
                  </a:cubicBezTo>
                  <a:cubicBezTo>
                    <a:pt x="1570758" y="752856"/>
                    <a:pt x="1623792" y="727037"/>
                    <a:pt x="1619526" y="685800"/>
                  </a:cubicBezTo>
                  <a:cubicBezTo>
                    <a:pt x="1600077" y="497794"/>
                    <a:pt x="1485172" y="513703"/>
                    <a:pt x="1354350" y="484632"/>
                  </a:cubicBezTo>
                  <a:cubicBezTo>
                    <a:pt x="1286163" y="629528"/>
                    <a:pt x="1219989" y="673313"/>
                    <a:pt x="1354350" y="832104"/>
                  </a:cubicBezTo>
                  <a:cubicBezTo>
                    <a:pt x="1383619" y="866694"/>
                    <a:pt x="1439694" y="862584"/>
                    <a:pt x="1482366" y="877824"/>
                  </a:cubicBezTo>
                  <a:cubicBezTo>
                    <a:pt x="1512846" y="838200"/>
                    <a:pt x="1561681" y="807450"/>
                    <a:pt x="1573806" y="758952"/>
                  </a:cubicBezTo>
                  <a:cubicBezTo>
                    <a:pt x="1606974" y="626279"/>
                    <a:pt x="1570743" y="603486"/>
                    <a:pt x="1509798" y="530352"/>
                  </a:cubicBezTo>
                  <a:cubicBezTo>
                    <a:pt x="1424848" y="628372"/>
                    <a:pt x="1314599" y="673481"/>
                    <a:pt x="1445790" y="804672"/>
                  </a:cubicBezTo>
                  <a:cubicBezTo>
                    <a:pt x="1469887" y="828769"/>
                    <a:pt x="1512846" y="816864"/>
                    <a:pt x="1546374" y="822960"/>
                  </a:cubicBezTo>
                  <a:cubicBezTo>
                    <a:pt x="1549422" y="762000"/>
                    <a:pt x="1584341" y="693882"/>
                    <a:pt x="1555518" y="640080"/>
                  </a:cubicBezTo>
                  <a:cubicBezTo>
                    <a:pt x="1495403" y="527865"/>
                    <a:pt x="1260021" y="573144"/>
                    <a:pt x="1189758" y="576072"/>
                  </a:cubicBezTo>
                  <a:cubicBezTo>
                    <a:pt x="1168422" y="585216"/>
                    <a:pt x="1148070" y="597127"/>
                    <a:pt x="1125750" y="603504"/>
                  </a:cubicBezTo>
                  <a:cubicBezTo>
                    <a:pt x="1105027" y="609425"/>
                    <a:pt x="1083285" y="612014"/>
                    <a:pt x="1061742" y="612648"/>
                  </a:cubicBezTo>
                  <a:cubicBezTo>
                    <a:pt x="875869" y="618115"/>
                    <a:pt x="689886" y="618744"/>
                    <a:pt x="503958" y="621792"/>
                  </a:cubicBezTo>
                  <a:cubicBezTo>
                    <a:pt x="449094" y="646176"/>
                    <a:pt x="393066" y="668094"/>
                    <a:pt x="339366" y="694944"/>
                  </a:cubicBezTo>
                  <a:cubicBezTo>
                    <a:pt x="325735" y="701760"/>
                    <a:pt x="295974" y="708745"/>
                    <a:pt x="302790" y="722376"/>
                  </a:cubicBezTo>
                  <a:cubicBezTo>
                    <a:pt x="351791" y="820377"/>
                    <a:pt x="424324" y="809302"/>
                    <a:pt x="513102" y="822960"/>
                  </a:cubicBezTo>
                  <a:cubicBezTo>
                    <a:pt x="543887" y="730606"/>
                    <a:pt x="566783" y="718245"/>
                    <a:pt x="394230" y="649224"/>
                  </a:cubicBezTo>
                  <a:cubicBezTo>
                    <a:pt x="374219" y="641220"/>
                    <a:pt x="363750" y="679704"/>
                    <a:pt x="348510" y="694944"/>
                  </a:cubicBezTo>
                  <a:cubicBezTo>
                    <a:pt x="367255" y="710565"/>
                    <a:pt x="507736" y="858553"/>
                    <a:pt x="476526" y="640080"/>
                  </a:cubicBezTo>
                  <a:cubicBezTo>
                    <a:pt x="467556" y="577293"/>
                    <a:pt x="418945" y="520734"/>
                    <a:pt x="366798" y="484632"/>
                  </a:cubicBezTo>
                  <a:cubicBezTo>
                    <a:pt x="331624" y="460281"/>
                    <a:pt x="281454" y="478536"/>
                    <a:pt x="238782" y="475488"/>
                  </a:cubicBezTo>
                  <a:cubicBezTo>
                    <a:pt x="227488" y="512193"/>
                    <a:pt x="168266" y="637589"/>
                    <a:pt x="220494" y="685800"/>
                  </a:cubicBezTo>
                  <a:cubicBezTo>
                    <a:pt x="245534" y="708914"/>
                    <a:pt x="287550" y="697992"/>
                    <a:pt x="321078" y="704088"/>
                  </a:cubicBezTo>
                  <a:cubicBezTo>
                    <a:pt x="336318" y="646176"/>
                    <a:pt x="391119" y="585074"/>
                    <a:pt x="366798" y="530352"/>
                  </a:cubicBezTo>
                  <a:cubicBezTo>
                    <a:pt x="343540" y="478021"/>
                    <a:pt x="260122" y="427187"/>
                    <a:pt x="211350" y="457200"/>
                  </a:cubicBezTo>
                  <a:cubicBezTo>
                    <a:pt x="144813" y="498146"/>
                    <a:pt x="156486" y="603504"/>
                    <a:pt x="129054" y="676656"/>
                  </a:cubicBezTo>
                  <a:cubicBezTo>
                    <a:pt x="199158" y="722376"/>
                    <a:pt x="262030" y="781815"/>
                    <a:pt x="339366" y="813816"/>
                  </a:cubicBezTo>
                  <a:cubicBezTo>
                    <a:pt x="358259" y="821634"/>
                    <a:pt x="393342" y="806811"/>
                    <a:pt x="394230" y="786384"/>
                  </a:cubicBezTo>
                  <a:cubicBezTo>
                    <a:pt x="396959" y="723607"/>
                    <a:pt x="386931" y="653225"/>
                    <a:pt x="348510" y="603504"/>
                  </a:cubicBezTo>
                  <a:cubicBezTo>
                    <a:pt x="325837" y="574163"/>
                    <a:pt x="275358" y="591312"/>
                    <a:pt x="238782" y="585216"/>
                  </a:cubicBezTo>
                  <a:cubicBezTo>
                    <a:pt x="228340" y="679190"/>
                    <a:pt x="198097" y="761714"/>
                    <a:pt x="357654" y="804672"/>
                  </a:cubicBezTo>
                  <a:cubicBezTo>
                    <a:pt x="400101" y="816100"/>
                    <a:pt x="430806" y="755904"/>
                    <a:pt x="467382" y="731520"/>
                  </a:cubicBezTo>
                  <a:cubicBezTo>
                    <a:pt x="421662" y="664464"/>
                    <a:pt x="409529" y="513111"/>
                    <a:pt x="330222" y="530352"/>
                  </a:cubicBezTo>
                  <a:cubicBezTo>
                    <a:pt x="129433" y="574002"/>
                    <a:pt x="265516" y="794132"/>
                    <a:pt x="302790" y="868680"/>
                  </a:cubicBezTo>
                  <a:cubicBezTo>
                    <a:pt x="333270" y="832104"/>
                    <a:pt x="355725" y="786956"/>
                    <a:pt x="394230" y="758952"/>
                  </a:cubicBezTo>
                  <a:cubicBezTo>
                    <a:pt x="404394" y="751560"/>
                    <a:pt x="391452" y="791554"/>
                    <a:pt x="403374" y="795528"/>
                  </a:cubicBezTo>
                  <a:cubicBezTo>
                    <a:pt x="418946" y="800719"/>
                    <a:pt x="433854" y="783336"/>
                    <a:pt x="449094" y="777240"/>
                  </a:cubicBezTo>
                  <a:cubicBezTo>
                    <a:pt x="547245" y="949004"/>
                    <a:pt x="428167" y="737211"/>
                    <a:pt x="412518" y="731520"/>
                  </a:cubicBezTo>
                  <a:cubicBezTo>
                    <a:pt x="388044" y="722620"/>
                    <a:pt x="394230" y="780288"/>
                    <a:pt x="385086" y="804672"/>
                  </a:cubicBezTo>
                  <a:cubicBezTo>
                    <a:pt x="403374" y="816864"/>
                    <a:pt x="431628" y="861591"/>
                    <a:pt x="439950" y="841248"/>
                  </a:cubicBezTo>
                  <a:cubicBezTo>
                    <a:pt x="509537" y="671147"/>
                    <a:pt x="496122" y="660984"/>
                    <a:pt x="449094" y="566928"/>
                  </a:cubicBezTo>
                  <a:cubicBezTo>
                    <a:pt x="470430" y="533400"/>
                    <a:pt x="479528" y="487608"/>
                    <a:pt x="513102" y="466344"/>
                  </a:cubicBezTo>
                  <a:cubicBezTo>
                    <a:pt x="603198" y="409283"/>
                    <a:pt x="939463" y="343287"/>
                    <a:pt x="1016022" y="329184"/>
                  </a:cubicBezTo>
                  <a:lnTo>
                    <a:pt x="1363494" y="265176"/>
                  </a:lnTo>
                  <a:cubicBezTo>
                    <a:pt x="1418358" y="268224"/>
                    <a:pt x="1478367" y="250923"/>
                    <a:pt x="1528086" y="274320"/>
                  </a:cubicBezTo>
                  <a:cubicBezTo>
                    <a:pt x="1547587" y="283497"/>
                    <a:pt x="1518942" y="316775"/>
                    <a:pt x="1518942" y="338328"/>
                  </a:cubicBezTo>
                  <a:cubicBezTo>
                    <a:pt x="1518942" y="362902"/>
                    <a:pt x="1524046" y="387241"/>
                    <a:pt x="1528086" y="411480"/>
                  </a:cubicBezTo>
                  <a:cubicBezTo>
                    <a:pt x="1541592" y="492517"/>
                    <a:pt x="1543745" y="503925"/>
                    <a:pt x="1573806" y="576072"/>
                  </a:cubicBezTo>
                  <a:cubicBezTo>
                    <a:pt x="1579049" y="588655"/>
                    <a:pt x="1582455" y="603009"/>
                    <a:pt x="1592094" y="612648"/>
                  </a:cubicBezTo>
                  <a:cubicBezTo>
                    <a:pt x="1598910" y="619464"/>
                    <a:pt x="1610382" y="618744"/>
                    <a:pt x="1619526" y="621792"/>
                  </a:cubicBezTo>
                  <a:cubicBezTo>
                    <a:pt x="1631718" y="643128"/>
                    <a:pt x="1636913" y="670449"/>
                    <a:pt x="1656102" y="685800"/>
                  </a:cubicBezTo>
                  <a:cubicBezTo>
                    <a:pt x="1670580" y="697382"/>
                    <a:pt x="1700682" y="679518"/>
                    <a:pt x="1710966" y="694944"/>
                  </a:cubicBezTo>
                  <a:cubicBezTo>
                    <a:pt x="1720071" y="708601"/>
                    <a:pt x="1705031" y="729855"/>
                    <a:pt x="1692678" y="740664"/>
                  </a:cubicBezTo>
                  <a:cubicBezTo>
                    <a:pt x="1678170" y="753358"/>
                    <a:pt x="1655533" y="751358"/>
                    <a:pt x="1637814" y="758952"/>
                  </a:cubicBezTo>
                  <a:cubicBezTo>
                    <a:pt x="1612756" y="769691"/>
                    <a:pt x="1586472" y="779171"/>
                    <a:pt x="1564662" y="795528"/>
                  </a:cubicBezTo>
                  <a:cubicBezTo>
                    <a:pt x="1451099" y="880700"/>
                    <a:pt x="1443184" y="906447"/>
                    <a:pt x="1326918" y="941832"/>
                  </a:cubicBezTo>
                  <a:cubicBezTo>
                    <a:pt x="1288014" y="953672"/>
                    <a:pt x="1247670" y="960120"/>
                    <a:pt x="1208046" y="969264"/>
                  </a:cubicBezTo>
                  <a:cubicBezTo>
                    <a:pt x="1155769" y="995403"/>
                    <a:pt x="1111184" y="1022005"/>
                    <a:pt x="1052598" y="1033272"/>
                  </a:cubicBezTo>
                  <a:cubicBezTo>
                    <a:pt x="1001363" y="1043125"/>
                    <a:pt x="948966" y="1045464"/>
                    <a:pt x="897150" y="1051560"/>
                  </a:cubicBezTo>
                  <a:cubicBezTo>
                    <a:pt x="824326" y="1043468"/>
                    <a:pt x="721803" y="1043714"/>
                    <a:pt x="650262" y="1005840"/>
                  </a:cubicBezTo>
                  <a:cubicBezTo>
                    <a:pt x="609208" y="984105"/>
                    <a:pt x="553870" y="931250"/>
                    <a:pt x="522246" y="896112"/>
                  </a:cubicBezTo>
                  <a:cubicBezTo>
                    <a:pt x="512051" y="884784"/>
                    <a:pt x="506385" y="869454"/>
                    <a:pt x="494814" y="859536"/>
                  </a:cubicBezTo>
                  <a:cubicBezTo>
                    <a:pt x="484465" y="850665"/>
                    <a:pt x="469704" y="848619"/>
                    <a:pt x="458238" y="841248"/>
                  </a:cubicBezTo>
                  <a:cubicBezTo>
                    <a:pt x="420406" y="816927"/>
                    <a:pt x="319665" y="738991"/>
                    <a:pt x="275358" y="722376"/>
                  </a:cubicBezTo>
                  <a:lnTo>
                    <a:pt x="202206" y="694944"/>
                  </a:lnTo>
                  <a:cubicBezTo>
                    <a:pt x="156561" y="710159"/>
                    <a:pt x="78082" y="723095"/>
                    <a:pt x="92478" y="804672"/>
                  </a:cubicBezTo>
                  <a:cubicBezTo>
                    <a:pt x="98517" y="838896"/>
                    <a:pt x="147342" y="847344"/>
                    <a:pt x="174774" y="868680"/>
                  </a:cubicBezTo>
                  <a:cubicBezTo>
                    <a:pt x="269262" y="844296"/>
                    <a:pt x="404108" y="876722"/>
                    <a:pt x="458238" y="795528"/>
                  </a:cubicBezTo>
                  <a:cubicBezTo>
                    <a:pt x="570087" y="627754"/>
                    <a:pt x="245242" y="683050"/>
                    <a:pt x="220494" y="685800"/>
                  </a:cubicBezTo>
                  <a:cubicBezTo>
                    <a:pt x="185488" y="790818"/>
                    <a:pt x="81289" y="934998"/>
                    <a:pt x="247926" y="1014984"/>
                  </a:cubicBezTo>
                  <a:cubicBezTo>
                    <a:pt x="289960" y="1035160"/>
                    <a:pt x="339366" y="996696"/>
                    <a:pt x="385086" y="987552"/>
                  </a:cubicBezTo>
                  <a:cubicBezTo>
                    <a:pt x="394230" y="935736"/>
                    <a:pt x="439196" y="877456"/>
                    <a:pt x="412518" y="832104"/>
                  </a:cubicBezTo>
                  <a:cubicBezTo>
                    <a:pt x="327943" y="688327"/>
                    <a:pt x="233941" y="683003"/>
                    <a:pt x="110766" y="658368"/>
                  </a:cubicBezTo>
                  <a:cubicBezTo>
                    <a:pt x="60088" y="696377"/>
                    <a:pt x="-105671" y="804051"/>
                    <a:pt x="101622" y="886968"/>
                  </a:cubicBezTo>
                  <a:cubicBezTo>
                    <a:pt x="158222" y="909608"/>
                    <a:pt x="174774" y="789432"/>
                    <a:pt x="211350" y="740664"/>
                  </a:cubicBezTo>
                  <a:cubicBezTo>
                    <a:pt x="139272" y="678883"/>
                    <a:pt x="-3767" y="522882"/>
                    <a:pt x="83334" y="923544"/>
                  </a:cubicBezTo>
                  <a:cubicBezTo>
                    <a:pt x="100330" y="1001724"/>
                    <a:pt x="186966" y="1045464"/>
                    <a:pt x="238782" y="1106424"/>
                  </a:cubicBezTo>
                  <a:cubicBezTo>
                    <a:pt x="318030" y="1057656"/>
                    <a:pt x="420695" y="1034561"/>
                    <a:pt x="476526" y="960120"/>
                  </a:cubicBezTo>
                  <a:cubicBezTo>
                    <a:pt x="621366" y="767000"/>
                    <a:pt x="337863" y="683158"/>
                    <a:pt x="247926" y="630936"/>
                  </a:cubicBezTo>
                  <a:cubicBezTo>
                    <a:pt x="233731" y="622694"/>
                    <a:pt x="217446" y="618744"/>
                    <a:pt x="202206" y="612648"/>
                  </a:cubicBezTo>
                  <a:cubicBezTo>
                    <a:pt x="169272" y="750971"/>
                    <a:pt x="109896" y="823861"/>
                    <a:pt x="220494" y="941832"/>
                  </a:cubicBezTo>
                  <a:cubicBezTo>
                    <a:pt x="237301" y="959759"/>
                    <a:pt x="269262" y="947928"/>
                    <a:pt x="293646" y="950976"/>
                  </a:cubicBezTo>
                  <a:cubicBezTo>
                    <a:pt x="305838" y="899160"/>
                    <a:pt x="327424" y="848685"/>
                    <a:pt x="330222" y="795528"/>
                  </a:cubicBezTo>
                  <a:cubicBezTo>
                    <a:pt x="332777" y="746992"/>
                    <a:pt x="272803" y="795296"/>
                    <a:pt x="275358" y="795528"/>
                  </a:cubicBezTo>
                  <a:cubicBezTo>
                    <a:pt x="317963" y="799401"/>
                    <a:pt x="360754" y="790090"/>
                    <a:pt x="403374" y="786384"/>
                  </a:cubicBezTo>
                  <a:cubicBezTo>
                    <a:pt x="430871" y="783993"/>
                    <a:pt x="458258" y="780465"/>
                    <a:pt x="485670" y="777240"/>
                  </a:cubicBezTo>
                  <a:cubicBezTo>
                    <a:pt x="510075" y="774369"/>
                    <a:pt x="534299" y="769678"/>
                    <a:pt x="558822" y="768096"/>
                  </a:cubicBezTo>
                  <a:cubicBezTo>
                    <a:pt x="628847" y="763578"/>
                    <a:pt x="699030" y="762000"/>
                    <a:pt x="769134" y="758952"/>
                  </a:cubicBezTo>
                  <a:cubicBezTo>
                    <a:pt x="814854" y="752856"/>
                    <a:pt x="860287" y="743950"/>
                    <a:pt x="906294" y="740664"/>
                  </a:cubicBezTo>
                  <a:cubicBezTo>
                    <a:pt x="988437" y="734797"/>
                    <a:pt x="1070932" y="735632"/>
                    <a:pt x="1153182" y="731520"/>
                  </a:cubicBezTo>
                  <a:cubicBezTo>
                    <a:pt x="1245088" y="726925"/>
                    <a:pt x="1264445" y="723327"/>
                    <a:pt x="1345206" y="713232"/>
                  </a:cubicBezTo>
                  <a:cubicBezTo>
                    <a:pt x="1373836" y="703689"/>
                    <a:pt x="1406243" y="691328"/>
                    <a:pt x="1436646" y="685800"/>
                  </a:cubicBezTo>
                  <a:cubicBezTo>
                    <a:pt x="1457851" y="681945"/>
                    <a:pt x="1479318" y="679704"/>
                    <a:pt x="1500654" y="676656"/>
                  </a:cubicBezTo>
                  <a:lnTo>
                    <a:pt x="1555518" y="658368"/>
                  </a:lnTo>
                </a:path>
              </a:pathLst>
            </a:custGeom>
            <a:noFill/>
            <a:ln>
              <a:solidFill>
                <a:srgbClr val="DC4C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8" name="Rectangle 7">
            <a:extLst>
              <a:ext uri="{FF2B5EF4-FFF2-40B4-BE49-F238E27FC236}">
                <a16:creationId xmlns:a16="http://schemas.microsoft.com/office/drawing/2014/main" id="{7CFFEF35-1F9B-40D0-9482-87780E141A1F}"/>
              </a:ext>
              <a:ext uri="{C183D7F6-B498-43B3-948B-1728B52AA6E4}">
                <adec:decorative xmlns:adec="http://schemas.microsoft.com/office/drawing/2017/decorative" val="1"/>
              </a:ext>
            </a:extLst>
          </p:cNvPr>
          <p:cNvSpPr/>
          <p:nvPr/>
        </p:nvSpPr>
        <p:spPr>
          <a:xfrm>
            <a:off x="9120890" y="3625080"/>
            <a:ext cx="1242309" cy="1327920"/>
          </a:xfrm>
          <a:prstGeom prst="rect">
            <a:avLst/>
          </a:prstGeom>
          <a:noFill/>
          <a:ln w="19050">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91612188-44BB-42F6-B9AB-6D5BA5D72D15}"/>
              </a:ext>
            </a:extLst>
          </p:cNvPr>
          <p:cNvSpPr txBox="1"/>
          <p:nvPr/>
        </p:nvSpPr>
        <p:spPr>
          <a:xfrm>
            <a:off x="9993992" y="3729894"/>
            <a:ext cx="369207" cy="430887"/>
          </a:xfrm>
          <a:prstGeom prst="rect">
            <a:avLst/>
          </a:prstGeom>
          <a:noFill/>
        </p:spPr>
        <p:txBody>
          <a:bodyPr wrap="square" rtlCol="0">
            <a:spAutoFit/>
          </a:bodyPr>
          <a:lstStyle/>
          <a:p>
            <a:r>
              <a:rPr lang="en-US" sz="2200" dirty="0">
                <a:solidFill>
                  <a:schemeClr val="accent1"/>
                </a:solidFill>
              </a:rPr>
              <a:t>A</a:t>
            </a:r>
          </a:p>
        </p:txBody>
      </p:sp>
      <p:sp>
        <p:nvSpPr>
          <p:cNvPr id="15" name="TextBox 14">
            <a:extLst>
              <a:ext uri="{FF2B5EF4-FFF2-40B4-BE49-F238E27FC236}">
                <a16:creationId xmlns:a16="http://schemas.microsoft.com/office/drawing/2014/main" id="{02F314E0-E0A1-4E2D-B990-9C733A1730D7}"/>
              </a:ext>
            </a:extLst>
          </p:cNvPr>
          <p:cNvSpPr txBox="1"/>
          <p:nvPr/>
        </p:nvSpPr>
        <p:spPr>
          <a:xfrm>
            <a:off x="7980588" y="4064913"/>
            <a:ext cx="369207" cy="430887"/>
          </a:xfrm>
          <a:prstGeom prst="rect">
            <a:avLst/>
          </a:prstGeom>
          <a:noFill/>
        </p:spPr>
        <p:txBody>
          <a:bodyPr wrap="square" rtlCol="0">
            <a:spAutoFit/>
          </a:bodyPr>
          <a:lstStyle/>
          <a:p>
            <a:r>
              <a:rPr lang="en-US" sz="2200" dirty="0">
                <a:solidFill>
                  <a:schemeClr val="accent1"/>
                </a:solidFill>
              </a:rPr>
              <a:t>B</a:t>
            </a:r>
          </a:p>
        </p:txBody>
      </p:sp>
      <p:sp>
        <p:nvSpPr>
          <p:cNvPr id="12" name="Slide Number Placeholder 11">
            <a:extLst>
              <a:ext uri="{FF2B5EF4-FFF2-40B4-BE49-F238E27FC236}">
                <a16:creationId xmlns:a16="http://schemas.microsoft.com/office/drawing/2014/main" id="{A2DA4D18-9F73-425D-9D37-9027EA7A1784}"/>
              </a:ext>
            </a:extLst>
          </p:cNvPr>
          <p:cNvSpPr>
            <a:spLocks noGrp="1"/>
          </p:cNvSpPr>
          <p:nvPr>
            <p:ph type="sldNum" sz="quarter" idx="12"/>
          </p:nvPr>
        </p:nvSpPr>
        <p:spPr/>
        <p:txBody>
          <a:bodyPr/>
          <a:lstStyle/>
          <a:p>
            <a:fld id="{F4E8603E-186F-4CC7-B8E2-5FD613D3E28C}" type="slidenum">
              <a:rPr lang="en-US" smtClean="0"/>
              <a:t>16</a:t>
            </a:fld>
            <a:endParaRPr lang="en-US" dirty="0"/>
          </a:p>
        </p:txBody>
      </p:sp>
    </p:spTree>
    <p:extLst>
      <p:ext uri="{BB962C8B-B14F-4D97-AF65-F5344CB8AC3E}">
        <p14:creationId xmlns:p14="http://schemas.microsoft.com/office/powerpoint/2010/main" val="4637338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CDBD3-20EE-3FF9-D8ED-C39DD9E2F3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19D33E-CB48-EE13-6D30-85C0B0A08D5D}"/>
              </a:ext>
            </a:extLst>
          </p:cNvPr>
          <p:cNvSpPr>
            <a:spLocks noGrp="1"/>
          </p:cNvSpPr>
          <p:nvPr>
            <p:ph type="title"/>
          </p:nvPr>
        </p:nvSpPr>
        <p:spPr/>
        <p:txBody>
          <a:bodyPr/>
          <a:lstStyle/>
          <a:p>
            <a:r>
              <a:rPr lang="en-US" dirty="0"/>
              <a:t>Resource Analysis</a:t>
            </a:r>
          </a:p>
        </p:txBody>
      </p:sp>
      <p:sp>
        <p:nvSpPr>
          <p:cNvPr id="3" name="Text Placeholder 2">
            <a:extLst>
              <a:ext uri="{FF2B5EF4-FFF2-40B4-BE49-F238E27FC236}">
                <a16:creationId xmlns:a16="http://schemas.microsoft.com/office/drawing/2014/main" id="{797426F0-F493-331C-2CCB-B80A4232A84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96825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BABBE-1E7E-6C10-BB86-117BA9F809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3B71EB-B395-B9D7-EF2C-3D1A75FC53FE}"/>
              </a:ext>
            </a:extLst>
          </p:cNvPr>
          <p:cNvSpPr>
            <a:spLocks noGrp="1"/>
          </p:cNvSpPr>
          <p:nvPr>
            <p:ph type="title"/>
          </p:nvPr>
        </p:nvSpPr>
        <p:spPr/>
        <p:txBody>
          <a:bodyPr/>
          <a:lstStyle/>
          <a:p>
            <a:r>
              <a:rPr lang="en-US" dirty="0"/>
              <a:t>Why do resource analysis?</a:t>
            </a:r>
          </a:p>
        </p:txBody>
      </p:sp>
      <p:sp>
        <p:nvSpPr>
          <p:cNvPr id="3" name="Content Placeholder 2">
            <a:extLst>
              <a:ext uri="{FF2B5EF4-FFF2-40B4-BE49-F238E27FC236}">
                <a16:creationId xmlns:a16="http://schemas.microsoft.com/office/drawing/2014/main" id="{02359980-D1F3-A29C-74D4-C8F74B28099C}"/>
              </a:ext>
            </a:extLst>
          </p:cNvPr>
          <p:cNvSpPr>
            <a:spLocks noGrp="1"/>
          </p:cNvSpPr>
          <p:nvPr>
            <p:ph idx="1"/>
          </p:nvPr>
        </p:nvSpPr>
        <p:spPr/>
        <p:txBody>
          <a:bodyPr>
            <a:normAutofit/>
          </a:bodyPr>
          <a:lstStyle/>
          <a:p>
            <a:r>
              <a:rPr lang="en-US" dirty="0"/>
              <a:t>Allows us to compare </a:t>
            </a:r>
            <a:r>
              <a:rPr lang="en-US" i="1" dirty="0"/>
              <a:t>algorithms, </a:t>
            </a:r>
            <a:r>
              <a:rPr lang="en-US" dirty="0"/>
              <a:t>not implementations</a:t>
            </a:r>
          </a:p>
          <a:p>
            <a:pPr marL="590550" lvl="1" indent="-457200">
              <a:buFont typeface="Arial" panose="020B0604020202020204" pitchFamily="34" charset="0"/>
              <a:buChar char="•"/>
            </a:pPr>
            <a:r>
              <a:rPr lang="en-US" dirty="0"/>
              <a:t>Using observations necessarily couples the algorithm with its implementation</a:t>
            </a:r>
          </a:p>
          <a:p>
            <a:pPr marL="590550" lvl="1" indent="-457200">
              <a:buFont typeface="Arial" panose="020B0604020202020204" pitchFamily="34" charset="0"/>
              <a:buChar char="•"/>
            </a:pPr>
            <a:r>
              <a:rPr lang="en-US" dirty="0"/>
              <a:t>If my implementation on my computer takes more time than your implementation on your computer, we cannot conclude your algorithm is better</a:t>
            </a:r>
          </a:p>
          <a:p>
            <a:r>
              <a:rPr lang="en-US" dirty="0"/>
              <a:t>We can predict an algorithm’s running time before implementing </a:t>
            </a:r>
          </a:p>
          <a:p>
            <a:r>
              <a:rPr lang="en-US" dirty="0"/>
              <a:t>Understand where the bottlenecks are in our algorithm</a:t>
            </a:r>
          </a:p>
          <a:p>
            <a:endParaRPr lang="en-US" dirty="0"/>
          </a:p>
        </p:txBody>
      </p:sp>
    </p:spTree>
    <p:extLst>
      <p:ext uri="{BB962C8B-B14F-4D97-AF65-F5344CB8AC3E}">
        <p14:creationId xmlns:p14="http://schemas.microsoft.com/office/powerpoint/2010/main" val="21403606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F07D7-5AA9-FA85-7331-9378AB1A35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474783-DB99-8859-C5B9-A6C362631BF6}"/>
              </a:ext>
            </a:extLst>
          </p:cNvPr>
          <p:cNvSpPr>
            <a:spLocks noGrp="1"/>
          </p:cNvSpPr>
          <p:nvPr>
            <p:ph type="title"/>
          </p:nvPr>
        </p:nvSpPr>
        <p:spPr/>
        <p:txBody>
          <a:bodyPr/>
          <a:lstStyle/>
          <a:p>
            <a:r>
              <a:rPr lang="en-US" dirty="0"/>
              <a:t>Process for resource Analysis</a:t>
            </a:r>
          </a:p>
        </p:txBody>
      </p:sp>
      <p:sp>
        <p:nvSpPr>
          <p:cNvPr id="3" name="Content Placeholder 2">
            <a:extLst>
              <a:ext uri="{FF2B5EF4-FFF2-40B4-BE49-F238E27FC236}">
                <a16:creationId xmlns:a16="http://schemas.microsoft.com/office/drawing/2014/main" id="{73A38714-2D6B-73D0-9AB5-513DA2673539}"/>
              </a:ext>
            </a:extLst>
          </p:cNvPr>
          <p:cNvSpPr>
            <a:spLocks noGrp="1"/>
          </p:cNvSpPr>
          <p:nvPr>
            <p:ph idx="1"/>
          </p:nvPr>
        </p:nvSpPr>
        <p:spPr/>
        <p:txBody>
          <a:bodyPr>
            <a:normAutofit/>
          </a:bodyPr>
          <a:lstStyle/>
          <a:p>
            <a:r>
              <a:rPr lang="en-US" dirty="0"/>
              <a:t>End Result: A </a:t>
            </a:r>
            <a:r>
              <a:rPr lang="en-US" i="1" dirty="0"/>
              <a:t>function</a:t>
            </a:r>
            <a:r>
              <a:rPr lang="en-US" dirty="0"/>
              <a:t> which maps the algorithm’s input size to count of resources used</a:t>
            </a:r>
          </a:p>
          <a:p>
            <a:pPr lvl="1"/>
            <a:r>
              <a:rPr lang="en-US" dirty="0"/>
              <a:t>Input of the function: </a:t>
            </a:r>
            <a:r>
              <a:rPr lang="en-US" b="1" dirty="0"/>
              <a:t>sizes</a:t>
            </a:r>
            <a:r>
              <a:rPr lang="en-US" dirty="0"/>
              <a:t> of the input </a:t>
            </a:r>
          </a:p>
          <a:p>
            <a:pPr lvl="2"/>
            <a:r>
              <a:rPr lang="en-US" dirty="0"/>
              <a:t>Number of characters in a string, number of items in a list, number of pixels in an image</a:t>
            </a:r>
          </a:p>
          <a:p>
            <a:pPr lvl="1"/>
            <a:r>
              <a:rPr lang="en-US" dirty="0"/>
              <a:t>Output of the function: </a:t>
            </a:r>
            <a:r>
              <a:rPr lang="en-US" b="1" dirty="0"/>
              <a:t>counts</a:t>
            </a:r>
            <a:r>
              <a:rPr lang="en-US" dirty="0"/>
              <a:t> of resources used</a:t>
            </a:r>
          </a:p>
          <a:p>
            <a:pPr lvl="2"/>
            <a:r>
              <a:rPr lang="en-US" dirty="0"/>
              <a:t>Number of times the algorithm adds two numbers together, number times the algorithm does a &gt; or &lt; comparison, maximum number of bytes of memory the algorithm uses at any time </a:t>
            </a:r>
          </a:p>
          <a:p>
            <a:r>
              <a:rPr lang="en-US" dirty="0"/>
              <a:t>Important note: Make sure you know the “units” of your input and output!</a:t>
            </a:r>
          </a:p>
        </p:txBody>
      </p:sp>
    </p:spTree>
    <p:extLst>
      <p:ext uri="{BB962C8B-B14F-4D97-AF65-F5344CB8AC3E}">
        <p14:creationId xmlns:p14="http://schemas.microsoft.com/office/powerpoint/2010/main" val="32749193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673A8-8C9E-1A48-51AF-C49EB8C0441F}"/>
              </a:ext>
            </a:extLst>
          </p:cNvPr>
          <p:cNvSpPr>
            <a:spLocks noGrp="1"/>
          </p:cNvSpPr>
          <p:nvPr>
            <p:ph type="title"/>
          </p:nvPr>
        </p:nvSpPr>
        <p:spPr/>
        <p:txBody>
          <a:bodyPr>
            <a:normAutofit/>
          </a:bodyPr>
          <a:lstStyle/>
          <a:p>
            <a:r>
              <a:rPr lang="en-US" dirty="0"/>
              <a:t>Resource Analysis – Worst Case Running Time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B40E513-B2D9-8AE9-0CC5-5596DBF773BE}"/>
                  </a:ext>
                </a:extLst>
              </p:cNvPr>
              <p:cNvSpPr>
                <a:spLocks noGrp="1"/>
              </p:cNvSpPr>
              <p:nvPr>
                <p:ph idx="1"/>
              </p:nvPr>
            </p:nvSpPr>
            <p:spPr/>
            <p:txBody>
              <a:bodyPr/>
              <a:lstStyle/>
              <a:p>
                <a:r>
                  <a:rPr lang="en-US" dirty="0"/>
                  <a:t>If an algorithm has a worst case running time of </a:t>
                </a:r>
                <a14:m>
                  <m:oMath xmlns:m="http://schemas.openxmlformats.org/officeDocument/2006/math">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oMath>
                </a14:m>
                <a:endParaRPr lang="en-US" dirty="0"/>
              </a:p>
              <a:p>
                <a:pPr marL="590550" lvl="1" indent="-457200">
                  <a:buFont typeface="Arial" panose="020B0604020202020204" pitchFamily="34" charset="0"/>
                  <a:buChar char="•"/>
                </a:pPr>
                <a:r>
                  <a:rPr lang="en-US" dirty="0"/>
                  <a:t>Among all possible size-</a:t>
                </a:r>
                <a14:m>
                  <m:oMath xmlns:m="http://schemas.openxmlformats.org/officeDocument/2006/math">
                    <m:r>
                      <a:rPr lang="en-US" i="1">
                        <a:latin typeface="Cambria Math" panose="02040503050406030204" pitchFamily="18" charset="0"/>
                      </a:rPr>
                      <m:t>𝑛</m:t>
                    </m:r>
                  </m:oMath>
                </a14:m>
                <a:r>
                  <a:rPr lang="en-US" dirty="0"/>
                  <a:t> inputs, the “worst” one will do </a:t>
                </a:r>
                <a14:m>
                  <m:oMath xmlns:m="http://schemas.openxmlformats.org/officeDocument/2006/math">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oMath>
                </a14:m>
                <a:r>
                  <a:rPr lang="en-US" dirty="0"/>
                  <a:t> “operations”</a:t>
                </a:r>
              </a:p>
              <a:p>
                <a:pPr marL="590550" lvl="1" indent="-457200">
                  <a:buFont typeface="Arial" panose="020B0604020202020204" pitchFamily="34" charset="0"/>
                  <a:buChar char="•"/>
                </a:pPr>
                <a:r>
                  <a:rPr lang="en-US" dirty="0"/>
                  <a:t>I.e. </a:t>
                </a:r>
                <a14:m>
                  <m:oMath xmlns:m="http://schemas.openxmlformats.org/officeDocument/2006/math">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oMath>
                </a14:m>
                <a:r>
                  <a:rPr lang="en-US" dirty="0"/>
                  <a:t> gives the maximum operation count from among all inputs of size </a:t>
                </a:r>
                <a14:m>
                  <m:oMath xmlns:m="http://schemas.openxmlformats.org/officeDocument/2006/math">
                    <m:r>
                      <a:rPr lang="en-US" i="1">
                        <a:latin typeface="Cambria Math" panose="02040503050406030204" pitchFamily="18" charset="0"/>
                      </a:rPr>
                      <m:t>𝑛</m:t>
                    </m:r>
                  </m:oMath>
                </a14:m>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4B40E513-B2D9-8AE9-0CC5-5596DBF773BE}"/>
                  </a:ext>
                </a:extLst>
              </p:cNvPr>
              <p:cNvSpPr>
                <a:spLocks noGrp="1" noRot="1" noChangeAspect="1" noMove="1" noResize="1" noEditPoints="1" noAdjustHandles="1" noChangeArrowheads="1" noChangeShapeType="1" noTextEdit="1"/>
              </p:cNvSpPr>
              <p:nvPr>
                <p:ph idx="1"/>
              </p:nvPr>
            </p:nvSpPr>
            <p:spPr>
              <a:blipFill>
                <a:blip r:embed="rId2"/>
                <a:stretch>
                  <a:fillRect l="-1217" t="-380"/>
                </a:stretch>
              </a:blipFill>
            </p:spPr>
            <p:txBody>
              <a:bodyPr/>
              <a:lstStyle/>
              <a:p>
                <a:r>
                  <a:rPr lang="en-US">
                    <a:noFill/>
                  </a:rPr>
                  <a:t> </a:t>
                </a:r>
              </a:p>
            </p:txBody>
          </p:sp>
        </mc:Fallback>
      </mc:AlternateContent>
    </p:spTree>
    <p:extLst>
      <p:ext uri="{BB962C8B-B14F-4D97-AF65-F5344CB8AC3E}">
        <p14:creationId xmlns:p14="http://schemas.microsoft.com/office/powerpoint/2010/main" val="234053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A1722-D8F7-70FC-8C99-5D21D5944C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613A43-CA80-FCA6-5DDA-6E2265BD29C1}"/>
              </a:ext>
            </a:extLst>
          </p:cNvPr>
          <p:cNvSpPr>
            <a:spLocks noGrp="1"/>
          </p:cNvSpPr>
          <p:nvPr>
            <p:ph type="title"/>
          </p:nvPr>
        </p:nvSpPr>
        <p:spPr/>
        <p:txBody>
          <a:bodyPr>
            <a:normAutofit/>
          </a:bodyPr>
          <a:lstStyle/>
          <a:p>
            <a:r>
              <a:rPr lang="en-US" dirty="0"/>
              <a:t>Resource Analysis – Best Case Running Time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7096F45-9F9A-5E7C-7028-DE08289BB3E8}"/>
                  </a:ext>
                </a:extLst>
              </p:cNvPr>
              <p:cNvSpPr>
                <a:spLocks noGrp="1"/>
              </p:cNvSpPr>
              <p:nvPr>
                <p:ph idx="1"/>
              </p:nvPr>
            </p:nvSpPr>
            <p:spPr/>
            <p:txBody>
              <a:bodyPr/>
              <a:lstStyle/>
              <a:p>
                <a:r>
                  <a:rPr lang="en-US" dirty="0"/>
                  <a:t>If an algorithm has a </a:t>
                </a:r>
                <a:r>
                  <a:rPr lang="en-US" b="1" dirty="0"/>
                  <a:t>best</a:t>
                </a:r>
                <a:r>
                  <a:rPr lang="en-US" dirty="0"/>
                  <a:t> case running time of </a:t>
                </a:r>
                <a14:m>
                  <m:oMath xmlns:m="http://schemas.openxmlformats.org/officeDocument/2006/math">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oMath>
                </a14:m>
                <a:endParaRPr lang="en-US" dirty="0"/>
              </a:p>
              <a:p>
                <a:pPr marL="590550" lvl="1" indent="-457200">
                  <a:buFont typeface="Arial" panose="020B0604020202020204" pitchFamily="34" charset="0"/>
                  <a:buChar char="•"/>
                </a:pPr>
                <a:r>
                  <a:rPr lang="en-US" dirty="0"/>
                  <a:t>Among all possible size-</a:t>
                </a:r>
                <a14:m>
                  <m:oMath xmlns:m="http://schemas.openxmlformats.org/officeDocument/2006/math">
                    <m:r>
                      <a:rPr lang="en-US" i="1">
                        <a:latin typeface="Cambria Math" panose="02040503050406030204" pitchFamily="18" charset="0"/>
                      </a:rPr>
                      <m:t>𝑛</m:t>
                    </m:r>
                  </m:oMath>
                </a14:m>
                <a:r>
                  <a:rPr lang="en-US" dirty="0"/>
                  <a:t> inputs, the “</a:t>
                </a:r>
                <a:r>
                  <a:rPr lang="en-US" b="1" dirty="0"/>
                  <a:t>best</a:t>
                </a:r>
                <a:r>
                  <a:rPr lang="en-US" dirty="0"/>
                  <a:t>” one will do </a:t>
                </a:r>
                <a14:m>
                  <m:oMath xmlns:m="http://schemas.openxmlformats.org/officeDocument/2006/math">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oMath>
                </a14:m>
                <a:r>
                  <a:rPr lang="en-US" dirty="0"/>
                  <a:t> “operations”</a:t>
                </a:r>
              </a:p>
              <a:p>
                <a:pPr marL="590550" lvl="1" indent="-457200">
                  <a:buFont typeface="Arial" panose="020B0604020202020204" pitchFamily="34" charset="0"/>
                  <a:buChar char="•"/>
                </a:pPr>
                <a:r>
                  <a:rPr lang="en-US" dirty="0"/>
                  <a:t>I.e. </a:t>
                </a:r>
                <a14:m>
                  <m:oMath xmlns:m="http://schemas.openxmlformats.org/officeDocument/2006/math">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oMath>
                </a14:m>
                <a:r>
                  <a:rPr lang="en-US" dirty="0"/>
                  <a:t> gives the </a:t>
                </a:r>
                <a:r>
                  <a:rPr lang="en-US" b="1" dirty="0"/>
                  <a:t>minimum</a:t>
                </a:r>
                <a:r>
                  <a:rPr lang="en-US" dirty="0"/>
                  <a:t> operation count from among all inputs of size </a:t>
                </a:r>
                <a14:m>
                  <m:oMath xmlns:m="http://schemas.openxmlformats.org/officeDocument/2006/math">
                    <m:r>
                      <a:rPr lang="en-US" i="1">
                        <a:latin typeface="Cambria Math" panose="02040503050406030204" pitchFamily="18" charset="0"/>
                      </a:rPr>
                      <m:t>𝑛</m:t>
                    </m:r>
                  </m:oMath>
                </a14:m>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B7096F45-9F9A-5E7C-7028-DE08289BB3E8}"/>
                  </a:ext>
                </a:extLst>
              </p:cNvPr>
              <p:cNvSpPr>
                <a:spLocks noGrp="1" noRot="1" noChangeAspect="1" noMove="1" noResize="1" noEditPoints="1" noAdjustHandles="1" noChangeArrowheads="1" noChangeShapeType="1" noTextEdit="1"/>
              </p:cNvSpPr>
              <p:nvPr>
                <p:ph idx="1"/>
              </p:nvPr>
            </p:nvSpPr>
            <p:spPr>
              <a:blipFill>
                <a:blip r:embed="rId2"/>
                <a:stretch>
                  <a:fillRect l="-1217" t="-380"/>
                </a:stretch>
              </a:blipFill>
            </p:spPr>
            <p:txBody>
              <a:bodyPr/>
              <a:lstStyle/>
              <a:p>
                <a:r>
                  <a:rPr lang="en-US">
                    <a:noFill/>
                  </a:rPr>
                  <a:t> </a:t>
                </a:r>
              </a:p>
            </p:txBody>
          </p:sp>
        </mc:Fallback>
      </mc:AlternateContent>
    </p:spTree>
    <p:extLst>
      <p:ext uri="{BB962C8B-B14F-4D97-AF65-F5344CB8AC3E}">
        <p14:creationId xmlns:p14="http://schemas.microsoft.com/office/powerpoint/2010/main" val="37548784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BB9A6-B8CB-6573-4C0A-8B3506DC26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AD2FF4-D6F3-80BB-339F-11EA13742259}"/>
              </a:ext>
            </a:extLst>
          </p:cNvPr>
          <p:cNvSpPr>
            <a:spLocks noGrp="1"/>
          </p:cNvSpPr>
          <p:nvPr>
            <p:ph type="title"/>
          </p:nvPr>
        </p:nvSpPr>
        <p:spPr/>
        <p:txBody>
          <a:bodyPr>
            <a:normAutofit/>
          </a:bodyPr>
          <a:lstStyle/>
          <a:p>
            <a:r>
              <a:rPr lang="en-US" dirty="0"/>
              <a:t>Resource Analysis – Worst Case Space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142667F-39BE-9D0B-F195-38656997D187}"/>
                  </a:ext>
                </a:extLst>
              </p:cNvPr>
              <p:cNvSpPr>
                <a:spLocks noGrp="1"/>
              </p:cNvSpPr>
              <p:nvPr>
                <p:ph idx="1"/>
              </p:nvPr>
            </p:nvSpPr>
            <p:spPr/>
            <p:txBody>
              <a:bodyPr/>
              <a:lstStyle/>
              <a:p>
                <a:r>
                  <a:rPr lang="en-US" dirty="0"/>
                  <a:t>If an algorithm has a worst case space of </a:t>
                </a:r>
                <a14:m>
                  <m:oMath xmlns:m="http://schemas.openxmlformats.org/officeDocument/2006/math">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oMath>
                </a14:m>
                <a:endParaRPr lang="en-US" dirty="0"/>
              </a:p>
              <a:p>
                <a:pPr marL="590550" lvl="1" indent="-457200">
                  <a:buFont typeface="Arial" panose="020B0604020202020204" pitchFamily="34" charset="0"/>
                  <a:buChar char="•"/>
                </a:pPr>
                <a:r>
                  <a:rPr lang="en-US" dirty="0"/>
                  <a:t>Among all possible size-</a:t>
                </a:r>
                <a14:m>
                  <m:oMath xmlns:m="http://schemas.openxmlformats.org/officeDocument/2006/math">
                    <m:r>
                      <a:rPr lang="en-US" i="1">
                        <a:latin typeface="Cambria Math" panose="02040503050406030204" pitchFamily="18" charset="0"/>
                      </a:rPr>
                      <m:t>𝑛</m:t>
                    </m:r>
                  </m:oMath>
                </a14:m>
                <a:r>
                  <a:rPr lang="en-US" dirty="0"/>
                  <a:t> inputs, the “worst” one will use </a:t>
                </a:r>
                <a14:m>
                  <m:oMath xmlns:m="http://schemas.openxmlformats.org/officeDocument/2006/math">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oMath>
                </a14:m>
                <a:r>
                  <a:rPr lang="en-US" dirty="0"/>
                  <a:t> bits of memory</a:t>
                </a:r>
              </a:p>
              <a:p>
                <a:pPr marL="590550" lvl="1" indent="-457200">
                  <a:buFont typeface="Arial" panose="020B0604020202020204" pitchFamily="34" charset="0"/>
                  <a:buChar char="•"/>
                </a:pPr>
                <a:r>
                  <a:rPr lang="en-US" dirty="0"/>
                  <a:t>I.e. </a:t>
                </a:r>
                <a14:m>
                  <m:oMath xmlns:m="http://schemas.openxmlformats.org/officeDocument/2006/math">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oMath>
                </a14:m>
                <a:r>
                  <a:rPr lang="en-US" dirty="0"/>
                  <a:t> gives the maximum amount of memory required from among all inputs of size </a:t>
                </a:r>
                <a14:m>
                  <m:oMath xmlns:m="http://schemas.openxmlformats.org/officeDocument/2006/math">
                    <m:r>
                      <a:rPr lang="en-US" i="1">
                        <a:latin typeface="Cambria Math" panose="02040503050406030204" pitchFamily="18" charset="0"/>
                      </a:rPr>
                      <m:t>𝑛</m:t>
                    </m:r>
                  </m:oMath>
                </a14:m>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4142667F-39BE-9D0B-F195-38656997D187}"/>
                  </a:ext>
                </a:extLst>
              </p:cNvPr>
              <p:cNvSpPr>
                <a:spLocks noGrp="1" noRot="1" noChangeAspect="1" noMove="1" noResize="1" noEditPoints="1" noAdjustHandles="1" noChangeArrowheads="1" noChangeShapeType="1" noTextEdit="1"/>
              </p:cNvSpPr>
              <p:nvPr>
                <p:ph idx="1"/>
              </p:nvPr>
            </p:nvSpPr>
            <p:spPr>
              <a:blipFill>
                <a:blip r:embed="rId2"/>
                <a:stretch>
                  <a:fillRect l="-1217" t="-380" r="-1391"/>
                </a:stretch>
              </a:blipFill>
            </p:spPr>
            <p:txBody>
              <a:bodyPr/>
              <a:lstStyle/>
              <a:p>
                <a:r>
                  <a:rPr lang="en-US">
                    <a:noFill/>
                  </a:rPr>
                  <a:t> </a:t>
                </a:r>
              </a:p>
            </p:txBody>
          </p:sp>
        </mc:Fallback>
      </mc:AlternateContent>
    </p:spTree>
    <p:extLst>
      <p:ext uri="{BB962C8B-B14F-4D97-AF65-F5344CB8AC3E}">
        <p14:creationId xmlns:p14="http://schemas.microsoft.com/office/powerpoint/2010/main" val="38495090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84DA2-2ED4-99C7-07C9-2477F8DA9FD6}"/>
              </a:ext>
            </a:extLst>
          </p:cNvPr>
          <p:cNvSpPr>
            <a:spLocks noGrp="1"/>
          </p:cNvSpPr>
          <p:nvPr>
            <p:ph type="title"/>
          </p:nvPr>
        </p:nvSpPr>
        <p:spPr/>
        <p:txBody>
          <a:bodyPr/>
          <a:lstStyle/>
          <a:p>
            <a:r>
              <a:rPr lang="en-US" dirty="0"/>
              <a:t>Analysis Process From 123/143</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29891AE-16E9-91BA-6328-ABD63BDC27B7}"/>
                  </a:ext>
                </a:extLst>
              </p:cNvPr>
              <p:cNvSpPr>
                <a:spLocks noGrp="1"/>
              </p:cNvSpPr>
              <p:nvPr>
                <p:ph idx="1"/>
              </p:nvPr>
            </p:nvSpPr>
            <p:spPr/>
            <p:txBody>
              <a:bodyPr/>
              <a:lstStyle/>
              <a:p>
                <a:r>
                  <a:rPr lang="en-US" dirty="0"/>
                  <a:t>Count the number of “primitive operations”</a:t>
                </a:r>
              </a:p>
              <a:p>
                <a:pPr lvl="1"/>
                <a:r>
                  <a:rPr lang="en-US" dirty="0"/>
                  <a:t>+, -, compare, </a:t>
                </a:r>
                <a:r>
                  <a:rPr lang="en-US" dirty="0" err="1"/>
                  <a:t>arr</a:t>
                </a:r>
                <a:r>
                  <a:rPr lang="en-US" dirty="0"/>
                  <a:t>[</a:t>
                </a:r>
                <a:r>
                  <a:rPr lang="en-US" dirty="0" err="1"/>
                  <a:t>i</a:t>
                </a:r>
                <a:r>
                  <a:rPr lang="en-US" dirty="0"/>
                  <a:t>], </a:t>
                </a:r>
                <a:r>
                  <a:rPr lang="en-US" dirty="0" err="1"/>
                  <a:t>arr.length</a:t>
                </a:r>
                <a:r>
                  <a:rPr lang="en-US" dirty="0"/>
                  <a:t>, </a:t>
                </a:r>
                <a:r>
                  <a:rPr lang="en-US" dirty="0" err="1"/>
                  <a:t>etc</a:t>
                </a:r>
                <a:endParaRPr lang="en-US" dirty="0"/>
              </a:p>
              <a:p>
                <a:r>
                  <a:rPr lang="en-US" dirty="0"/>
                  <a:t>Write that count as an expression using </a:t>
                </a:r>
                <a14:m>
                  <m:oMath xmlns:m="http://schemas.openxmlformats.org/officeDocument/2006/math">
                    <m:r>
                      <a:rPr lang="en-US" b="0" i="1" smtClean="0">
                        <a:latin typeface="Cambria Math" panose="02040503050406030204" pitchFamily="18" charset="0"/>
                      </a:rPr>
                      <m:t>𝑛</m:t>
                    </m:r>
                  </m:oMath>
                </a14:m>
                <a:r>
                  <a:rPr lang="en-US" dirty="0"/>
                  <a:t> (the input size)</a:t>
                </a:r>
              </a:p>
              <a:p>
                <a:r>
                  <a:rPr lang="en-US" dirty="0"/>
                  <a:t>Put that expression into a “bucket” by ignoring constants and “non-dominant” terms, then put a </a:t>
                </a:r>
                <a14:m>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 )</m:t>
                    </m:r>
                  </m:oMath>
                </a14:m>
                <a:r>
                  <a:rPr lang="en-US" dirty="0"/>
                  <a:t> around it.</a:t>
                </a:r>
              </a:p>
              <a:p>
                <a:pPr lvl="1"/>
                <a14:m>
                  <m:oMath xmlns:m="http://schemas.openxmlformats.org/officeDocument/2006/math">
                    <m:r>
                      <a:rPr lang="en-US" b="0" i="1" smtClean="0">
                        <a:latin typeface="Cambria Math" panose="02040503050406030204" pitchFamily="18" charset="0"/>
                      </a:rPr>
                      <m:t>4</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+8</m:t>
                    </m:r>
                    <m:r>
                      <a:rPr lang="en-US" b="0" i="1" smtClean="0">
                        <a:latin typeface="Cambria Math" panose="02040503050406030204" pitchFamily="18" charset="0"/>
                      </a:rPr>
                      <m:t>𝑛</m:t>
                    </m:r>
                    <m:r>
                      <a:rPr lang="en-US" b="0" i="1" smtClean="0">
                        <a:latin typeface="Cambria Math" panose="02040503050406030204" pitchFamily="18" charset="0"/>
                      </a:rPr>
                      <m:t>−10</m:t>
                    </m:r>
                  </m:oMath>
                </a14:m>
                <a:r>
                  <a:rPr lang="en-US" dirty="0"/>
                  <a:t> ends up as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e>
                    </m:d>
                  </m:oMath>
                </a14:m>
                <a:endParaRPr lang="en-US" dirty="0"/>
              </a:p>
              <a:p>
                <a:pPr lvl="1"/>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𝑛</m:t>
                    </m:r>
                    <m:r>
                      <a:rPr lang="en-US" b="0" i="1" smtClean="0">
                        <a:latin typeface="Cambria Math" panose="02040503050406030204" pitchFamily="18" charset="0"/>
                      </a:rPr>
                      <m:t>+80</m:t>
                    </m:r>
                  </m:oMath>
                </a14:m>
                <a:r>
                  <a:rPr lang="en-US" dirty="0"/>
                  <a:t> ends up as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a:p>
                <a:pPr lvl="1"/>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+1)</m:t>
                    </m:r>
                  </m:oMath>
                </a14:m>
                <a:r>
                  <a:rPr lang="en-US" dirty="0"/>
                  <a:t> ends up as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e>
                    </m:d>
                  </m:oMath>
                </a14:m>
                <a:r>
                  <a:rPr lang="en-US" dirty="0"/>
                  <a:t> </a:t>
                </a:r>
              </a:p>
              <a:p>
                <a:pPr lvl="1"/>
                <a:endParaRPr lang="en-US" dirty="0"/>
              </a:p>
            </p:txBody>
          </p:sp>
        </mc:Choice>
        <mc:Fallback xmlns="">
          <p:sp>
            <p:nvSpPr>
              <p:cNvPr id="3" name="Content Placeholder 2">
                <a:extLst>
                  <a:ext uri="{FF2B5EF4-FFF2-40B4-BE49-F238E27FC236}">
                    <a16:creationId xmlns:a16="http://schemas.microsoft.com/office/drawing/2014/main" id="{329891AE-16E9-91BA-6328-ABD63BDC27B7}"/>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31891630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B32D1-F253-EA2C-7252-FD6E731EAE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892800-6DED-2F7C-D506-D9C5225BD648}"/>
              </a:ext>
            </a:extLst>
          </p:cNvPr>
          <p:cNvSpPr>
            <a:spLocks noGrp="1"/>
          </p:cNvSpPr>
          <p:nvPr>
            <p:ph type="title"/>
          </p:nvPr>
        </p:nvSpPr>
        <p:spPr/>
        <p:txBody>
          <a:bodyPr/>
          <a:lstStyle/>
          <a:p>
            <a:r>
              <a:rPr lang="en-US" dirty="0"/>
              <a:t>Analysis Process For Us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3E204E3-3746-6F63-F37E-E3CE2D8E9313}"/>
                  </a:ext>
                </a:extLst>
              </p:cNvPr>
              <p:cNvSpPr>
                <a:spLocks noGrp="1"/>
              </p:cNvSpPr>
              <p:nvPr>
                <p:ph idx="1"/>
              </p:nvPr>
            </p:nvSpPr>
            <p:spPr/>
            <p:txBody>
              <a:bodyPr>
                <a:normAutofit/>
              </a:bodyPr>
              <a:lstStyle/>
              <a:p>
                <a:r>
                  <a:rPr lang="en-US" dirty="0"/>
                  <a:t>Count the number of </a:t>
                </a:r>
                <a:r>
                  <a:rPr lang="en-US" i="1" dirty="0"/>
                  <a:t>chosen</a:t>
                </a:r>
                <a:r>
                  <a:rPr lang="en-US" dirty="0"/>
                  <a:t> operation(s)</a:t>
                </a:r>
              </a:p>
              <a:p>
                <a:pPr lvl="1"/>
                <a:r>
                  <a:rPr lang="en-US" dirty="0"/>
                  <a:t>Factors to consider when choosing which operation(s) to count</a:t>
                </a:r>
              </a:p>
              <a:p>
                <a:pPr lvl="2"/>
                <a:r>
                  <a:rPr lang="en-US" b="1" dirty="0"/>
                  <a:t>Necessity</a:t>
                </a:r>
                <a:r>
                  <a:rPr lang="en-US" dirty="0"/>
                  <a:t>: should be necessary for solving the problem</a:t>
                </a:r>
              </a:p>
              <a:p>
                <a:pPr lvl="2"/>
                <a:r>
                  <a:rPr lang="en-US" b="1" dirty="0"/>
                  <a:t>Frequency</a:t>
                </a:r>
                <a:r>
                  <a:rPr lang="en-US" dirty="0"/>
                  <a:t>: should be the most frequently done (up to a constant factor)</a:t>
                </a:r>
              </a:p>
              <a:p>
                <a:pPr lvl="2"/>
                <a:r>
                  <a:rPr lang="en-US" b="1" dirty="0"/>
                  <a:t>Magnitude</a:t>
                </a:r>
                <a:r>
                  <a:rPr lang="en-US" dirty="0"/>
                  <a:t>: should be expensive to perform each chosen operation</a:t>
                </a:r>
              </a:p>
              <a:p>
                <a:r>
                  <a:rPr lang="en-US" dirty="0"/>
                  <a:t>Write that count as an expression using </a:t>
                </a:r>
                <a14:m>
                  <m:oMath xmlns:m="http://schemas.openxmlformats.org/officeDocument/2006/math">
                    <m:r>
                      <a:rPr lang="en-US" b="0" i="1" smtClean="0">
                        <a:latin typeface="Cambria Math" panose="02040503050406030204" pitchFamily="18" charset="0"/>
                      </a:rPr>
                      <m:t>𝑛</m:t>
                    </m:r>
                  </m:oMath>
                </a14:m>
                <a:r>
                  <a:rPr lang="en-US" dirty="0"/>
                  <a:t> (the input size)</a:t>
                </a:r>
              </a:p>
              <a:p>
                <a:r>
                  <a:rPr lang="en-US" dirty="0"/>
                  <a:t>Put an asymptotic bound on it (one of </a:t>
                </a:r>
                <a14:m>
                  <m:oMath xmlns:m="http://schemas.openxmlformats.org/officeDocument/2006/math">
                    <m:r>
                      <a:rPr lang="en-US" b="0" i="1" smtClean="0">
                        <a:latin typeface="Cambria Math" panose="02040503050406030204" pitchFamily="18" charset="0"/>
                      </a:rPr>
                      <m:t>𝑂</m:t>
                    </m:r>
                  </m:oMath>
                </a14:m>
                <a:r>
                  <a:rPr lang="en-US" dirty="0"/>
                  <a:t>, </a:t>
                </a:r>
                <a14:m>
                  <m:oMath xmlns:m="http://schemas.openxmlformats.org/officeDocument/2006/math">
                    <m:r>
                      <m:rPr>
                        <m:sty m:val="p"/>
                      </m:rPr>
                      <a:rPr lang="en-US" b="0" i="0" smtClean="0">
                        <a:latin typeface="Cambria Math" panose="02040503050406030204" pitchFamily="18" charset="0"/>
                      </a:rPr>
                      <m:t>Ω</m:t>
                    </m:r>
                  </m:oMath>
                </a14:m>
                <a:r>
                  <a:rPr lang="en-US" dirty="0"/>
                  <a:t>, </a:t>
                </a:r>
                <a14:m>
                  <m:oMath xmlns:m="http://schemas.openxmlformats.org/officeDocument/2006/math">
                    <m:r>
                      <m:rPr>
                        <m:sty m:val="p"/>
                      </m:rPr>
                      <a:rPr lang="en-US" b="0" i="0" smtClean="0">
                        <a:latin typeface="Cambria Math" panose="02040503050406030204" pitchFamily="18" charset="0"/>
                      </a:rPr>
                      <m:t>Θ</m:t>
                    </m:r>
                  </m:oMath>
                </a14:m>
                <a:r>
                  <a:rPr lang="en-US" dirty="0"/>
                  <a:t>)</a:t>
                </a:r>
              </a:p>
              <a:p>
                <a:pPr lvl="1"/>
                <a:r>
                  <a:rPr lang="en-US" dirty="0"/>
                  <a:t>More on this next class</a:t>
                </a:r>
              </a:p>
              <a:p>
                <a:pPr lvl="1"/>
                <a:endParaRPr lang="en-US" dirty="0"/>
              </a:p>
            </p:txBody>
          </p:sp>
        </mc:Choice>
        <mc:Fallback xmlns="">
          <p:sp>
            <p:nvSpPr>
              <p:cNvPr id="3" name="Content Placeholder 2">
                <a:extLst>
                  <a:ext uri="{FF2B5EF4-FFF2-40B4-BE49-F238E27FC236}">
                    <a16:creationId xmlns:a16="http://schemas.microsoft.com/office/drawing/2014/main" id="{83E204E3-3746-6F63-F37E-E3CE2D8E9313}"/>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27807212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33A1F-2F28-72B9-7893-6E4BD45084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8DE26A-C2F5-7B5B-4759-C1446F452DED}"/>
              </a:ext>
            </a:extLst>
          </p:cNvPr>
          <p:cNvSpPr>
            <a:spLocks noGrp="1"/>
          </p:cNvSpPr>
          <p:nvPr>
            <p:ph type="title"/>
          </p:nvPr>
        </p:nvSpPr>
        <p:spPr>
          <a:xfrm>
            <a:off x="3266440" y="0"/>
            <a:ext cx="8925560" cy="1325563"/>
          </a:xfrm>
        </p:spPr>
        <p:txBody>
          <a:bodyPr/>
          <a:lstStyle/>
          <a:p>
            <a:r>
              <a:rPr lang="en-US" dirty="0"/>
              <a:t>Worst Case – Example 1 (Questions)</a:t>
            </a:r>
          </a:p>
        </p:txBody>
      </p:sp>
      <p:sp>
        <p:nvSpPr>
          <p:cNvPr id="3" name="Content Placeholder 2">
            <a:extLst>
              <a:ext uri="{FF2B5EF4-FFF2-40B4-BE49-F238E27FC236}">
                <a16:creationId xmlns:a16="http://schemas.microsoft.com/office/drawing/2014/main" id="{CE5E1733-8A24-7197-0553-9AFFD2032989}"/>
              </a:ext>
            </a:extLst>
          </p:cNvPr>
          <p:cNvSpPr>
            <a:spLocks noGrp="1"/>
          </p:cNvSpPr>
          <p:nvPr>
            <p:ph idx="1"/>
          </p:nvPr>
        </p:nvSpPr>
        <p:spPr>
          <a:xfrm>
            <a:off x="157480" y="609600"/>
            <a:ext cx="10515600" cy="6451599"/>
          </a:xfrm>
        </p:spPr>
        <p:txBody>
          <a:bodyPr>
            <a:normAutofit fontScale="77500" lnSpcReduction="20000"/>
          </a:bodyPr>
          <a:lstStyle/>
          <a:p>
            <a:pPr marL="0" indent="0">
              <a:buNone/>
            </a:pPr>
            <a:r>
              <a:rPr lang="en-US" dirty="0" err="1"/>
              <a:t>myFunction</a:t>
            </a:r>
            <a:r>
              <a:rPr lang="en-US" dirty="0"/>
              <a:t>(List n){</a:t>
            </a:r>
          </a:p>
          <a:p>
            <a:pPr marL="0" indent="0">
              <a:buNone/>
            </a:pPr>
            <a:r>
              <a:rPr lang="en-US" dirty="0"/>
              <a:t>    b = 55 + 5; </a:t>
            </a:r>
          </a:p>
          <a:p>
            <a:pPr marL="0" indent="0">
              <a:buNone/>
            </a:pPr>
            <a:r>
              <a:rPr lang="en-US" dirty="0"/>
              <a:t>    c = b / 3;  </a:t>
            </a:r>
          </a:p>
          <a:p>
            <a:pPr marL="0" indent="0">
              <a:buNone/>
            </a:pPr>
            <a:r>
              <a:rPr lang="en-US" dirty="0"/>
              <a:t>    b = c + 100;  </a:t>
            </a:r>
          </a:p>
          <a:p>
            <a:pPr marL="0" indent="0">
              <a:buNone/>
            </a:pPr>
            <a:r>
              <a:rPr lang="en-US" dirty="0"/>
              <a:t>    for (</a:t>
            </a:r>
            <a:r>
              <a:rPr lang="en-US" dirty="0" err="1"/>
              <a:t>i</a:t>
            </a:r>
            <a:r>
              <a:rPr lang="en-US" dirty="0"/>
              <a:t> = 0; </a:t>
            </a:r>
            <a:r>
              <a:rPr lang="en-US" dirty="0" err="1"/>
              <a:t>i</a:t>
            </a:r>
            <a:r>
              <a:rPr lang="en-US" dirty="0"/>
              <a:t> &lt; </a:t>
            </a:r>
            <a:r>
              <a:rPr lang="en-US" dirty="0" err="1"/>
              <a:t>n.size</a:t>
            </a:r>
            <a:r>
              <a:rPr lang="en-US" dirty="0"/>
              <a:t>(); </a:t>
            </a:r>
            <a:r>
              <a:rPr lang="en-US" dirty="0" err="1"/>
              <a:t>i</a:t>
            </a:r>
            <a:r>
              <a:rPr lang="en-US" dirty="0"/>
              <a:t>++) { </a:t>
            </a:r>
          </a:p>
          <a:p>
            <a:pPr marL="0" indent="0">
              <a:buNone/>
            </a:pPr>
            <a:r>
              <a:rPr lang="en-US" dirty="0"/>
              <a:t>        b++; </a:t>
            </a:r>
          </a:p>
          <a:p>
            <a:pPr marL="0" indent="0">
              <a:buNone/>
            </a:pPr>
            <a:r>
              <a:rPr lang="en-US" dirty="0"/>
              <a:t>   } </a:t>
            </a:r>
          </a:p>
          <a:p>
            <a:pPr marL="0" indent="0">
              <a:buNone/>
            </a:pPr>
            <a:r>
              <a:rPr lang="en-US" dirty="0"/>
              <a:t>    if (b % 2 == 0) {  </a:t>
            </a:r>
          </a:p>
          <a:p>
            <a:pPr marL="0" indent="0">
              <a:buNone/>
            </a:pPr>
            <a:r>
              <a:rPr lang="en-US" dirty="0"/>
              <a:t>        </a:t>
            </a:r>
            <a:r>
              <a:rPr lang="en-US" dirty="0" err="1"/>
              <a:t>c++</a:t>
            </a:r>
            <a:r>
              <a:rPr lang="en-US" dirty="0"/>
              <a:t>;</a:t>
            </a:r>
          </a:p>
          <a:p>
            <a:pPr marL="0" indent="0">
              <a:buNone/>
            </a:pPr>
            <a:r>
              <a:rPr lang="en-US" dirty="0"/>
              <a:t>    } </a:t>
            </a:r>
          </a:p>
          <a:p>
            <a:pPr marL="0" indent="0">
              <a:buNone/>
            </a:pPr>
            <a:r>
              <a:rPr lang="en-US" dirty="0"/>
              <a:t>    else { </a:t>
            </a:r>
          </a:p>
          <a:p>
            <a:pPr marL="0" indent="0">
              <a:buNone/>
            </a:pPr>
            <a:r>
              <a:rPr lang="en-US" dirty="0"/>
              <a:t>        for (</a:t>
            </a:r>
            <a:r>
              <a:rPr lang="en-US" dirty="0" err="1"/>
              <a:t>i</a:t>
            </a:r>
            <a:r>
              <a:rPr lang="en-US" dirty="0"/>
              <a:t> = 0; </a:t>
            </a:r>
            <a:r>
              <a:rPr lang="en-US" dirty="0" err="1"/>
              <a:t>i</a:t>
            </a:r>
            <a:r>
              <a:rPr lang="en-US" dirty="0"/>
              <a:t> &lt; </a:t>
            </a:r>
            <a:r>
              <a:rPr lang="en-US" dirty="0" err="1"/>
              <a:t>n.size</a:t>
            </a:r>
            <a:r>
              <a:rPr lang="en-US" dirty="0"/>
              <a:t>(); </a:t>
            </a:r>
            <a:r>
              <a:rPr lang="en-US" dirty="0" err="1"/>
              <a:t>i</a:t>
            </a:r>
            <a:r>
              <a:rPr lang="en-US" dirty="0"/>
              <a:t>++) { </a:t>
            </a:r>
          </a:p>
          <a:p>
            <a:pPr marL="0" indent="0">
              <a:buNone/>
            </a:pPr>
            <a:r>
              <a:rPr lang="en-US" dirty="0"/>
              <a:t>            </a:t>
            </a:r>
            <a:r>
              <a:rPr lang="en-US" dirty="0" err="1"/>
              <a:t>c++</a:t>
            </a:r>
            <a:r>
              <a:rPr lang="en-US" dirty="0"/>
              <a:t>;</a:t>
            </a:r>
          </a:p>
          <a:p>
            <a:pPr marL="0" indent="0">
              <a:buNone/>
            </a:pPr>
            <a:r>
              <a:rPr lang="en-US" dirty="0"/>
              <a:t>        } </a:t>
            </a:r>
          </a:p>
          <a:p>
            <a:pPr marL="0" indent="0">
              <a:buNone/>
            </a:pPr>
            <a:r>
              <a:rPr lang="en-US" dirty="0"/>
              <a:t>    }</a:t>
            </a:r>
          </a:p>
          <a:p>
            <a:pPr marL="0" indent="0">
              <a:buNone/>
            </a:pPr>
            <a:r>
              <a:rPr lang="en-US" dirty="0"/>
              <a:t>    return c;</a:t>
            </a:r>
          </a:p>
          <a:p>
            <a:pPr marL="0" indent="0">
              <a:buNone/>
            </a:pPr>
            <a:r>
              <a:rPr lang="en-US" dirty="0"/>
              <a:t>}</a:t>
            </a:r>
          </a:p>
        </p:txBody>
      </p:sp>
      <p:sp>
        <p:nvSpPr>
          <p:cNvPr id="4" name="TextBox 3">
            <a:extLst>
              <a:ext uri="{FF2B5EF4-FFF2-40B4-BE49-F238E27FC236}">
                <a16:creationId xmlns:a16="http://schemas.microsoft.com/office/drawing/2014/main" id="{415FE405-21FA-86BC-EF0B-7959FD174D9C}"/>
              </a:ext>
            </a:extLst>
          </p:cNvPr>
          <p:cNvSpPr txBox="1"/>
          <p:nvPr/>
        </p:nvSpPr>
        <p:spPr>
          <a:xfrm>
            <a:off x="6096000" y="1223466"/>
            <a:ext cx="5816657" cy="4524315"/>
          </a:xfrm>
          <a:prstGeom prst="rect">
            <a:avLst/>
          </a:prstGeom>
          <a:noFill/>
        </p:spPr>
        <p:txBody>
          <a:bodyPr wrap="none" rtlCol="0">
            <a:spAutoFit/>
          </a:bodyPr>
          <a:lstStyle/>
          <a:p>
            <a:r>
              <a:rPr lang="en-US" sz="2400" dirty="0"/>
              <a:t>Questions to ask:</a:t>
            </a:r>
          </a:p>
          <a:p>
            <a:pPr marL="285750" indent="-285750">
              <a:buFont typeface="Arial" panose="020B0604020202020204" pitchFamily="34" charset="0"/>
              <a:buChar char="•"/>
            </a:pPr>
            <a:r>
              <a:rPr lang="en-US" sz="2400" dirty="0"/>
              <a:t>What are the units of the input size?</a:t>
            </a:r>
          </a:p>
          <a:p>
            <a:pPr marL="742950" lvl="1"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What are the operations we’re counting?</a:t>
            </a:r>
          </a:p>
          <a:p>
            <a:pPr marL="742950" lvl="1"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For each line:</a:t>
            </a:r>
          </a:p>
          <a:p>
            <a:pPr marL="742950" lvl="1" indent="-285750">
              <a:buFont typeface="Arial" panose="020B0604020202020204" pitchFamily="34" charset="0"/>
              <a:buChar char="•"/>
            </a:pPr>
            <a:r>
              <a:rPr lang="en-US" sz="2400" dirty="0"/>
              <a:t>How many times will it run?</a:t>
            </a:r>
          </a:p>
          <a:p>
            <a:pPr marL="742950" lvl="1" indent="-285750">
              <a:buFont typeface="Arial" panose="020B0604020202020204" pitchFamily="34" charset="0"/>
              <a:buChar char="•"/>
            </a:pPr>
            <a:r>
              <a:rPr lang="en-US" sz="2400" dirty="0"/>
              <a:t>How long does it take to run?</a:t>
            </a:r>
          </a:p>
          <a:p>
            <a:pPr marL="742950" lvl="1" indent="-285750">
              <a:buFont typeface="Arial" panose="020B0604020202020204" pitchFamily="34" charset="0"/>
              <a:buChar char="•"/>
            </a:pPr>
            <a:r>
              <a:rPr lang="en-US" sz="2400" dirty="0"/>
              <a:t>Does this change with different inputs?</a:t>
            </a:r>
          </a:p>
          <a:p>
            <a:pPr marL="285750" indent="-285750">
              <a:buFont typeface="Arial" panose="020B0604020202020204" pitchFamily="34" charset="0"/>
              <a:buChar char="•"/>
            </a:pPr>
            <a:r>
              <a:rPr lang="en-US" sz="2400" dirty="0"/>
              <a:t>Answer:</a:t>
            </a:r>
          </a:p>
          <a:p>
            <a:pPr marL="742950" lvl="1"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p:txBody>
      </p:sp>
    </p:spTree>
    <p:extLst>
      <p:ext uri="{BB962C8B-B14F-4D97-AF65-F5344CB8AC3E}">
        <p14:creationId xmlns:p14="http://schemas.microsoft.com/office/powerpoint/2010/main" val="33105485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D16DD-36F5-8C12-841E-7550A34136A2}"/>
              </a:ext>
            </a:extLst>
          </p:cNvPr>
          <p:cNvSpPr>
            <a:spLocks noGrp="1"/>
          </p:cNvSpPr>
          <p:nvPr>
            <p:ph type="title"/>
          </p:nvPr>
        </p:nvSpPr>
        <p:spPr>
          <a:xfrm>
            <a:off x="3266440" y="0"/>
            <a:ext cx="8925560" cy="1325563"/>
          </a:xfrm>
        </p:spPr>
        <p:txBody>
          <a:bodyPr/>
          <a:lstStyle/>
          <a:p>
            <a:r>
              <a:rPr lang="en-US" dirty="0"/>
              <a:t>Worst Case – Example 1 (Answers)</a:t>
            </a:r>
          </a:p>
        </p:txBody>
      </p:sp>
      <p:sp>
        <p:nvSpPr>
          <p:cNvPr id="3" name="Content Placeholder 2">
            <a:extLst>
              <a:ext uri="{FF2B5EF4-FFF2-40B4-BE49-F238E27FC236}">
                <a16:creationId xmlns:a16="http://schemas.microsoft.com/office/drawing/2014/main" id="{C2647DF6-6456-9C6C-709D-BEBF2D0F59A6}"/>
              </a:ext>
            </a:extLst>
          </p:cNvPr>
          <p:cNvSpPr>
            <a:spLocks noGrp="1"/>
          </p:cNvSpPr>
          <p:nvPr>
            <p:ph idx="1"/>
          </p:nvPr>
        </p:nvSpPr>
        <p:spPr>
          <a:xfrm>
            <a:off x="157480" y="609600"/>
            <a:ext cx="10515600" cy="6451599"/>
          </a:xfrm>
        </p:spPr>
        <p:txBody>
          <a:bodyPr>
            <a:normAutofit fontScale="77500" lnSpcReduction="20000"/>
          </a:bodyPr>
          <a:lstStyle/>
          <a:p>
            <a:pPr marL="0" indent="0">
              <a:buNone/>
            </a:pPr>
            <a:r>
              <a:rPr lang="en-US" dirty="0" err="1"/>
              <a:t>myFunction</a:t>
            </a:r>
            <a:r>
              <a:rPr lang="en-US" dirty="0"/>
              <a:t>(List n){</a:t>
            </a:r>
          </a:p>
          <a:p>
            <a:pPr marL="0" indent="0">
              <a:buNone/>
            </a:pPr>
            <a:r>
              <a:rPr lang="en-US" dirty="0"/>
              <a:t>    b = 55 + 5; // 1</a:t>
            </a:r>
          </a:p>
          <a:p>
            <a:pPr marL="0" indent="0">
              <a:buNone/>
            </a:pPr>
            <a:r>
              <a:rPr lang="en-US" dirty="0"/>
              <a:t>    c = b / 3;  // 1</a:t>
            </a:r>
          </a:p>
          <a:p>
            <a:pPr marL="0" indent="0">
              <a:buNone/>
            </a:pPr>
            <a:r>
              <a:rPr lang="en-US" dirty="0"/>
              <a:t>    b = c + 100;  // 1</a:t>
            </a:r>
          </a:p>
          <a:p>
            <a:pPr marL="0" indent="0">
              <a:buNone/>
            </a:pPr>
            <a:r>
              <a:rPr lang="en-US" dirty="0"/>
              <a:t>    for (</a:t>
            </a:r>
            <a:r>
              <a:rPr lang="en-US" dirty="0" err="1"/>
              <a:t>i</a:t>
            </a:r>
            <a:r>
              <a:rPr lang="en-US" dirty="0"/>
              <a:t> = 0; </a:t>
            </a:r>
            <a:r>
              <a:rPr lang="en-US" dirty="0" err="1"/>
              <a:t>i</a:t>
            </a:r>
            <a:r>
              <a:rPr lang="en-US" dirty="0"/>
              <a:t> &lt; </a:t>
            </a:r>
            <a:r>
              <a:rPr lang="en-US" dirty="0" err="1"/>
              <a:t>n.size</a:t>
            </a:r>
            <a:r>
              <a:rPr lang="en-US" dirty="0"/>
              <a:t>(); </a:t>
            </a:r>
            <a:r>
              <a:rPr lang="en-US" dirty="0" err="1"/>
              <a:t>i</a:t>
            </a:r>
            <a:r>
              <a:rPr lang="en-US" dirty="0"/>
              <a:t>++) { // 1, n times</a:t>
            </a:r>
          </a:p>
          <a:p>
            <a:pPr marL="0" indent="0">
              <a:buNone/>
            </a:pPr>
            <a:r>
              <a:rPr lang="en-US" dirty="0"/>
              <a:t>        b++; // 1</a:t>
            </a:r>
          </a:p>
          <a:p>
            <a:pPr marL="0" indent="0">
              <a:buNone/>
            </a:pPr>
            <a:r>
              <a:rPr lang="en-US" dirty="0"/>
              <a:t>   } </a:t>
            </a:r>
          </a:p>
          <a:p>
            <a:pPr marL="0" indent="0">
              <a:buNone/>
            </a:pPr>
            <a:r>
              <a:rPr lang="en-US" dirty="0"/>
              <a:t>    if (b % 2 == 0) { // 1 </a:t>
            </a:r>
          </a:p>
          <a:p>
            <a:pPr marL="0" indent="0">
              <a:buNone/>
            </a:pPr>
            <a:r>
              <a:rPr lang="en-US" dirty="0"/>
              <a:t>        </a:t>
            </a:r>
            <a:r>
              <a:rPr lang="en-US" dirty="0" err="1"/>
              <a:t>c++</a:t>
            </a:r>
            <a:r>
              <a:rPr lang="en-US" dirty="0"/>
              <a:t>; // 1</a:t>
            </a:r>
          </a:p>
          <a:p>
            <a:pPr marL="0" indent="0">
              <a:buNone/>
            </a:pPr>
            <a:r>
              <a:rPr lang="en-US" dirty="0"/>
              <a:t>    } </a:t>
            </a:r>
          </a:p>
          <a:p>
            <a:pPr marL="0" indent="0">
              <a:buNone/>
            </a:pPr>
            <a:r>
              <a:rPr lang="en-US" dirty="0"/>
              <a:t>    else { </a:t>
            </a:r>
          </a:p>
          <a:p>
            <a:pPr marL="0" indent="0">
              <a:buNone/>
            </a:pPr>
            <a:r>
              <a:rPr lang="en-US" dirty="0"/>
              <a:t>        for (</a:t>
            </a:r>
            <a:r>
              <a:rPr lang="en-US" dirty="0" err="1"/>
              <a:t>i</a:t>
            </a:r>
            <a:r>
              <a:rPr lang="en-US" dirty="0"/>
              <a:t> = 0; </a:t>
            </a:r>
            <a:r>
              <a:rPr lang="en-US" dirty="0" err="1"/>
              <a:t>i</a:t>
            </a:r>
            <a:r>
              <a:rPr lang="en-US" dirty="0"/>
              <a:t> &lt; </a:t>
            </a:r>
            <a:r>
              <a:rPr lang="en-US" dirty="0" err="1"/>
              <a:t>n.size</a:t>
            </a:r>
            <a:r>
              <a:rPr lang="en-US" dirty="0"/>
              <a:t>(); </a:t>
            </a:r>
            <a:r>
              <a:rPr lang="en-US" dirty="0" err="1"/>
              <a:t>i</a:t>
            </a:r>
            <a:r>
              <a:rPr lang="en-US" dirty="0"/>
              <a:t>++) { // 1, n times </a:t>
            </a:r>
          </a:p>
          <a:p>
            <a:pPr marL="0" indent="0">
              <a:buNone/>
            </a:pPr>
            <a:r>
              <a:rPr lang="en-US" dirty="0"/>
              <a:t>            </a:t>
            </a:r>
            <a:r>
              <a:rPr lang="en-US" dirty="0" err="1"/>
              <a:t>c++</a:t>
            </a:r>
            <a:r>
              <a:rPr lang="en-US" dirty="0"/>
              <a:t>; // 1</a:t>
            </a:r>
          </a:p>
          <a:p>
            <a:pPr marL="0" indent="0">
              <a:buNone/>
            </a:pPr>
            <a:r>
              <a:rPr lang="en-US" dirty="0"/>
              <a:t>        } </a:t>
            </a:r>
          </a:p>
          <a:p>
            <a:pPr marL="0" indent="0">
              <a:buNone/>
            </a:pPr>
            <a:r>
              <a:rPr lang="en-US" dirty="0"/>
              <a:t>    }</a:t>
            </a:r>
          </a:p>
          <a:p>
            <a:pPr marL="0" indent="0">
              <a:buNone/>
            </a:pPr>
            <a:r>
              <a:rPr lang="en-US" dirty="0"/>
              <a:t>    return c;</a:t>
            </a:r>
          </a:p>
          <a:p>
            <a:pPr marL="0" indent="0">
              <a:buNone/>
            </a:pPr>
            <a:r>
              <a:rPr lang="en-US" dirty="0"/>
              <a:t>}</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D6C7F58-306D-E658-69EC-00881D5C09AB}"/>
                  </a:ext>
                </a:extLst>
              </p:cNvPr>
              <p:cNvSpPr txBox="1"/>
              <p:nvPr/>
            </p:nvSpPr>
            <p:spPr>
              <a:xfrm>
                <a:off x="6096000" y="1223466"/>
                <a:ext cx="5816657" cy="4893647"/>
              </a:xfrm>
              <a:prstGeom prst="rect">
                <a:avLst/>
              </a:prstGeom>
              <a:noFill/>
            </p:spPr>
            <p:txBody>
              <a:bodyPr wrap="none" rtlCol="0">
                <a:spAutoFit/>
              </a:bodyPr>
              <a:lstStyle/>
              <a:p>
                <a:r>
                  <a:rPr lang="en-US" sz="2400" dirty="0"/>
                  <a:t>Questions to ask:</a:t>
                </a:r>
              </a:p>
              <a:p>
                <a:pPr marL="285750" indent="-285750">
                  <a:buFont typeface="Arial" panose="020B0604020202020204" pitchFamily="34" charset="0"/>
                  <a:buChar char="•"/>
                </a:pPr>
                <a:r>
                  <a:rPr lang="en-US" sz="2400" dirty="0"/>
                  <a:t>What are the units of the input size?</a:t>
                </a:r>
              </a:p>
              <a:p>
                <a:pPr marL="742950" lvl="1" indent="-285750">
                  <a:buFont typeface="Arial" panose="020B0604020202020204" pitchFamily="34" charset="0"/>
                  <a:buChar char="•"/>
                </a:pPr>
                <a:r>
                  <a:rPr lang="en-US" sz="2400" dirty="0"/>
                  <a:t># of items in the list</a:t>
                </a:r>
              </a:p>
              <a:p>
                <a:pPr marL="285750" indent="-285750">
                  <a:buFont typeface="Arial" panose="020B0604020202020204" pitchFamily="34" charset="0"/>
                  <a:buChar char="•"/>
                </a:pPr>
                <a:r>
                  <a:rPr lang="en-US" sz="2400" dirty="0"/>
                  <a:t>What are the operations we’re counting?</a:t>
                </a:r>
              </a:p>
              <a:p>
                <a:pPr marL="742950" lvl="1" indent="-285750">
                  <a:buFont typeface="Arial" panose="020B0604020202020204" pitchFamily="34" charset="0"/>
                  <a:buChar char="•"/>
                </a:pPr>
                <a:r>
                  <a:rPr lang="en-US" sz="2400" dirty="0"/>
                  <a:t>Arithmetic ops (+-*/)</a:t>
                </a:r>
              </a:p>
              <a:p>
                <a:pPr marL="285750" indent="-285750">
                  <a:buFont typeface="Arial" panose="020B0604020202020204" pitchFamily="34" charset="0"/>
                  <a:buChar char="•"/>
                </a:pPr>
                <a:r>
                  <a:rPr lang="en-US" sz="2400" dirty="0"/>
                  <a:t>For each line:</a:t>
                </a:r>
              </a:p>
              <a:p>
                <a:pPr marL="742950" lvl="1" indent="-285750">
                  <a:buFont typeface="Arial" panose="020B0604020202020204" pitchFamily="34" charset="0"/>
                  <a:buChar char="•"/>
                </a:pPr>
                <a:r>
                  <a:rPr lang="en-US" sz="2400" dirty="0"/>
                  <a:t>How many times will it run?</a:t>
                </a:r>
              </a:p>
              <a:p>
                <a:pPr marL="742950" lvl="1" indent="-285750">
                  <a:buFont typeface="Arial" panose="020B0604020202020204" pitchFamily="34" charset="0"/>
                  <a:buChar char="•"/>
                </a:pPr>
                <a:r>
                  <a:rPr lang="en-US" sz="2400" dirty="0"/>
                  <a:t>How long does it take to run?</a:t>
                </a:r>
              </a:p>
              <a:p>
                <a:pPr marL="742950" lvl="1" indent="-285750">
                  <a:buFont typeface="Arial" panose="020B0604020202020204" pitchFamily="34" charset="0"/>
                  <a:buChar char="•"/>
                </a:pPr>
                <a:r>
                  <a:rPr lang="en-US" sz="2400" dirty="0"/>
                  <a:t>Does this change with different inputs?</a:t>
                </a:r>
              </a:p>
              <a:p>
                <a:pPr marL="285750" indent="-285750">
                  <a:buFont typeface="Arial" panose="020B0604020202020204" pitchFamily="34" charset="0"/>
                  <a:buChar char="•"/>
                </a:pPr>
                <a:r>
                  <a:rPr lang="en-US" sz="2400" dirty="0"/>
                  <a:t>Answer:</a:t>
                </a:r>
              </a:p>
              <a:p>
                <a:pPr marL="742950" lvl="1" indent="-285750">
                  <a:buFont typeface="Arial" panose="020B0604020202020204" pitchFamily="34" charset="0"/>
                  <a:buChar char="•"/>
                </a:pPr>
                <a14:m>
                  <m:oMath xmlns:m="http://schemas.openxmlformats.org/officeDocument/2006/math">
                    <m:r>
                      <a:rPr lang="en-US" sz="2400" b="0" i="1" smtClean="0">
                        <a:latin typeface="Cambria Math" panose="02040503050406030204" pitchFamily="18" charset="0"/>
                      </a:rPr>
                      <m:t>3+2</m:t>
                    </m:r>
                    <m:r>
                      <a:rPr lang="en-US" sz="2400" b="0" i="1" smtClean="0">
                        <a:latin typeface="Cambria Math" panose="02040503050406030204" pitchFamily="18" charset="0"/>
                      </a:rPr>
                      <m:t>𝑛</m:t>
                    </m:r>
                    <m:r>
                      <a:rPr lang="en-US" sz="2400" b="0" i="1" smtClean="0">
                        <a:latin typeface="Cambria Math" panose="02040503050406030204" pitchFamily="18" charset="0"/>
                      </a:rPr>
                      <m:t>+1+2</m:t>
                    </m:r>
                    <m:r>
                      <a:rPr lang="en-US" sz="2400" b="0" i="1" smtClean="0">
                        <a:latin typeface="Cambria Math" panose="02040503050406030204" pitchFamily="18" charset="0"/>
                      </a:rPr>
                      <m:t>𝑛</m:t>
                    </m:r>
                    <m:r>
                      <a:rPr lang="en-US" sz="2400" b="0" i="1" smtClean="0">
                        <a:latin typeface="Cambria Math" panose="02040503050406030204" pitchFamily="18" charset="0"/>
                      </a:rPr>
                      <m:t>=4</m:t>
                    </m:r>
                    <m:r>
                      <a:rPr lang="en-US" sz="2400" b="0" i="1" smtClean="0">
                        <a:latin typeface="Cambria Math" panose="02040503050406030204" pitchFamily="18" charset="0"/>
                      </a:rPr>
                      <m:t>𝑛</m:t>
                    </m:r>
                    <m:r>
                      <a:rPr lang="en-US" sz="2400" b="0" i="1" smtClean="0">
                        <a:latin typeface="Cambria Math" panose="02040503050406030204" pitchFamily="18" charset="0"/>
                      </a:rPr>
                      <m:t>+4</m:t>
                    </m:r>
                  </m:oMath>
                </a14:m>
                <a:endParaRPr lang="en-US" sz="2400" b="0" dirty="0"/>
              </a:p>
              <a:p>
                <a:pPr marL="742950" lvl="1" indent="-285750">
                  <a:buFont typeface="Arial" panose="020B0604020202020204" pitchFamily="34" charset="0"/>
                  <a:buChar char="•"/>
                </a:pPr>
                <a14:m>
                  <m:oMath xmlns:m="http://schemas.openxmlformats.org/officeDocument/2006/math">
                    <m:r>
                      <a:rPr lang="en-US" sz="2400" b="0" i="1" smtClean="0">
                        <a:latin typeface="Cambria Math" panose="02040503050406030204" pitchFamily="18" charset="0"/>
                      </a:rPr>
                      <m:t>𝑂</m:t>
                    </m:r>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m:t>
                    </m:r>
                  </m:oMath>
                </a14:m>
                <a:endParaRPr lang="en-US" sz="2400" dirty="0"/>
              </a:p>
              <a:p>
                <a:pPr marL="285750" indent="-285750">
                  <a:buFont typeface="Arial" panose="020B0604020202020204" pitchFamily="34" charset="0"/>
                  <a:buChar char="•"/>
                </a:pPr>
                <a:endParaRPr lang="en-US" sz="2400" dirty="0"/>
              </a:p>
            </p:txBody>
          </p:sp>
        </mc:Choice>
        <mc:Fallback xmlns="">
          <p:sp>
            <p:nvSpPr>
              <p:cNvPr id="4" name="TextBox 3">
                <a:extLst>
                  <a:ext uri="{FF2B5EF4-FFF2-40B4-BE49-F238E27FC236}">
                    <a16:creationId xmlns:a16="http://schemas.microsoft.com/office/drawing/2014/main" id="{AD6C7F58-306D-E658-69EC-00881D5C09AB}"/>
                  </a:ext>
                </a:extLst>
              </p:cNvPr>
              <p:cNvSpPr txBox="1">
                <a:spLocks noRot="1" noChangeAspect="1" noMove="1" noResize="1" noEditPoints="1" noAdjustHandles="1" noChangeArrowheads="1" noChangeShapeType="1" noTextEdit="1"/>
              </p:cNvSpPr>
              <p:nvPr/>
            </p:nvSpPr>
            <p:spPr>
              <a:xfrm>
                <a:off x="6096000" y="1223466"/>
                <a:ext cx="5816657" cy="4893647"/>
              </a:xfrm>
              <a:prstGeom prst="rect">
                <a:avLst/>
              </a:prstGeom>
              <a:blipFill>
                <a:blip r:embed="rId2"/>
                <a:stretch>
                  <a:fillRect l="-1572" t="-998" r="-524"/>
                </a:stretch>
              </a:blipFill>
            </p:spPr>
            <p:txBody>
              <a:bodyPr/>
              <a:lstStyle/>
              <a:p>
                <a:r>
                  <a:rPr lang="en-US">
                    <a:noFill/>
                  </a:rPr>
                  <a:t> </a:t>
                </a:r>
              </a:p>
            </p:txBody>
          </p:sp>
        </mc:Fallback>
      </mc:AlternateContent>
    </p:spTree>
    <p:extLst>
      <p:ext uri="{BB962C8B-B14F-4D97-AF65-F5344CB8AC3E}">
        <p14:creationId xmlns:p14="http://schemas.microsoft.com/office/powerpoint/2010/main" val="24620383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D16DD-36F5-8C12-841E-7550A34136A2}"/>
              </a:ext>
            </a:extLst>
          </p:cNvPr>
          <p:cNvSpPr>
            <a:spLocks noGrp="1"/>
          </p:cNvSpPr>
          <p:nvPr>
            <p:ph type="title"/>
          </p:nvPr>
        </p:nvSpPr>
        <p:spPr>
          <a:xfrm>
            <a:off x="3266440" y="0"/>
            <a:ext cx="8925560" cy="1325563"/>
          </a:xfrm>
        </p:spPr>
        <p:txBody>
          <a:bodyPr/>
          <a:lstStyle/>
          <a:p>
            <a:r>
              <a:rPr lang="en-US" dirty="0"/>
              <a:t>Worst Case – Example 2 (Questions)</a:t>
            </a:r>
          </a:p>
        </p:txBody>
      </p:sp>
      <p:sp>
        <p:nvSpPr>
          <p:cNvPr id="3" name="Content Placeholder 2">
            <a:extLst>
              <a:ext uri="{FF2B5EF4-FFF2-40B4-BE49-F238E27FC236}">
                <a16:creationId xmlns:a16="http://schemas.microsoft.com/office/drawing/2014/main" id="{C2647DF6-6456-9C6C-709D-BEBF2D0F59A6}"/>
              </a:ext>
            </a:extLst>
          </p:cNvPr>
          <p:cNvSpPr>
            <a:spLocks noGrp="1"/>
          </p:cNvSpPr>
          <p:nvPr>
            <p:ph idx="1"/>
          </p:nvPr>
        </p:nvSpPr>
        <p:spPr>
          <a:xfrm>
            <a:off x="157480" y="1044654"/>
            <a:ext cx="10515600" cy="6451599"/>
          </a:xfrm>
        </p:spPr>
        <p:txBody>
          <a:bodyPr>
            <a:normAutofit/>
          </a:bodyPr>
          <a:lstStyle/>
          <a:p>
            <a:pPr marL="0" indent="0">
              <a:buNone/>
            </a:pPr>
            <a:r>
              <a:rPr lang="en-US" dirty="0" err="1"/>
              <a:t>beAnnoying</a:t>
            </a:r>
            <a:r>
              <a:rPr lang="en-US" dirty="0"/>
              <a:t>(List n){</a:t>
            </a:r>
          </a:p>
          <a:p>
            <a:pPr marL="0" indent="0">
              <a:buNone/>
            </a:pPr>
            <a:r>
              <a:rPr lang="en-US" dirty="0"/>
              <a:t>    List m = [];</a:t>
            </a:r>
          </a:p>
          <a:p>
            <a:pPr marL="0" indent="0">
              <a:buNone/>
            </a:pPr>
            <a:r>
              <a:rPr lang="en-US" dirty="0"/>
              <a:t>    for (</a:t>
            </a:r>
            <a:r>
              <a:rPr lang="en-US" dirty="0" err="1"/>
              <a:t>i</a:t>
            </a:r>
            <a:r>
              <a:rPr lang="en-US" dirty="0"/>
              <a:t>=0; </a:t>
            </a:r>
            <a:r>
              <a:rPr lang="en-US" dirty="0" err="1"/>
              <a:t>i</a:t>
            </a:r>
            <a:r>
              <a:rPr lang="en-US" dirty="0"/>
              <a:t> &lt; </a:t>
            </a:r>
            <a:r>
              <a:rPr lang="en-US" dirty="0" err="1"/>
              <a:t>n.size</a:t>
            </a:r>
            <a:r>
              <a:rPr lang="en-US" dirty="0"/>
              <a:t>(); </a:t>
            </a:r>
            <a:r>
              <a:rPr lang="en-US" dirty="0" err="1"/>
              <a:t>i</a:t>
            </a:r>
            <a:r>
              <a:rPr lang="en-US" dirty="0"/>
              <a:t>++){ </a:t>
            </a:r>
          </a:p>
          <a:p>
            <a:pPr marL="0" indent="0">
              <a:buNone/>
            </a:pPr>
            <a:r>
              <a:rPr lang="en-US" dirty="0"/>
              <a:t>        </a:t>
            </a:r>
            <a:r>
              <a:rPr lang="en-US" dirty="0" err="1"/>
              <a:t>m.add</a:t>
            </a:r>
            <a:r>
              <a:rPr lang="en-US" dirty="0"/>
              <a:t>(n[</a:t>
            </a:r>
            <a:r>
              <a:rPr lang="en-US" dirty="0" err="1"/>
              <a:t>i</a:t>
            </a:r>
            <a:r>
              <a:rPr lang="en-US" dirty="0"/>
              <a:t>]);</a:t>
            </a:r>
          </a:p>
          <a:p>
            <a:pPr marL="0" indent="0">
              <a:buNone/>
            </a:pPr>
            <a:r>
              <a:rPr lang="en-US" dirty="0"/>
              <a:t>        for (j=0; j&lt; </a:t>
            </a:r>
            <a:r>
              <a:rPr lang="en-US" dirty="0" err="1"/>
              <a:t>n.size</a:t>
            </a:r>
            <a:r>
              <a:rPr lang="en-US" dirty="0"/>
              <a:t>(); </a:t>
            </a:r>
            <a:r>
              <a:rPr lang="en-US" dirty="0" err="1"/>
              <a:t>j++</a:t>
            </a:r>
            <a:r>
              <a:rPr lang="en-US" dirty="0"/>
              <a:t>){ </a:t>
            </a:r>
          </a:p>
          <a:p>
            <a:pPr marL="0" indent="0">
              <a:buNone/>
            </a:pPr>
            <a:r>
              <a:rPr lang="en-US" dirty="0"/>
              <a:t>            print (“Hi, I’m annoying”); </a:t>
            </a:r>
          </a:p>
          <a:p>
            <a:pPr marL="0" indent="0">
              <a:buNone/>
            </a:pPr>
            <a:r>
              <a:rPr lang="en-US" dirty="0"/>
              <a:t>        } </a:t>
            </a:r>
          </a:p>
          <a:p>
            <a:pPr marL="0" indent="0">
              <a:buNone/>
            </a:pPr>
            <a:r>
              <a:rPr lang="en-US" dirty="0"/>
              <a:t>    }</a:t>
            </a:r>
          </a:p>
          <a:p>
            <a:pPr marL="0" indent="0">
              <a:buNone/>
            </a:pPr>
            <a:r>
              <a:rPr lang="en-US" dirty="0"/>
              <a:t>}</a:t>
            </a:r>
          </a:p>
        </p:txBody>
      </p:sp>
      <p:sp>
        <p:nvSpPr>
          <p:cNvPr id="4" name="TextBox 3">
            <a:extLst>
              <a:ext uri="{FF2B5EF4-FFF2-40B4-BE49-F238E27FC236}">
                <a16:creationId xmlns:a16="http://schemas.microsoft.com/office/drawing/2014/main" id="{AD6C7F58-306D-E658-69EC-00881D5C09AB}"/>
              </a:ext>
            </a:extLst>
          </p:cNvPr>
          <p:cNvSpPr txBox="1"/>
          <p:nvPr/>
        </p:nvSpPr>
        <p:spPr>
          <a:xfrm>
            <a:off x="6096000" y="1223466"/>
            <a:ext cx="5595058" cy="3785652"/>
          </a:xfrm>
          <a:prstGeom prst="rect">
            <a:avLst/>
          </a:prstGeom>
          <a:noFill/>
        </p:spPr>
        <p:txBody>
          <a:bodyPr wrap="none" rtlCol="0">
            <a:spAutoFit/>
          </a:bodyPr>
          <a:lstStyle/>
          <a:p>
            <a:r>
              <a:rPr lang="en-US" sz="2400" dirty="0"/>
              <a:t>Questions to ask:</a:t>
            </a:r>
          </a:p>
          <a:p>
            <a:pPr marL="285750" indent="-285750">
              <a:buFont typeface="Arial" panose="020B0604020202020204" pitchFamily="34" charset="0"/>
              <a:buChar char="•"/>
            </a:pPr>
            <a:r>
              <a:rPr lang="en-US" sz="2400" dirty="0"/>
              <a:t>What are the units of the input size?</a:t>
            </a:r>
          </a:p>
          <a:p>
            <a:pPr marL="742950" lvl="1"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What are the operations we’re counting?</a:t>
            </a:r>
          </a:p>
          <a:p>
            <a:pPr marL="742950" lvl="1"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For each line:</a:t>
            </a:r>
          </a:p>
          <a:p>
            <a:pPr marL="742950" lvl="1" indent="-285750">
              <a:buFont typeface="Arial" panose="020B0604020202020204" pitchFamily="34" charset="0"/>
              <a:buChar char="•"/>
            </a:pPr>
            <a:r>
              <a:rPr lang="en-US" sz="2400" dirty="0"/>
              <a:t>How many times will it run?</a:t>
            </a:r>
          </a:p>
          <a:p>
            <a:pPr marL="742950" lvl="1" indent="-285750">
              <a:buFont typeface="Arial" panose="020B0604020202020204" pitchFamily="34" charset="0"/>
              <a:buChar char="•"/>
            </a:pPr>
            <a:r>
              <a:rPr lang="en-US" sz="2400" dirty="0"/>
              <a:t>How long does it take to run?</a:t>
            </a:r>
          </a:p>
          <a:p>
            <a:pPr marL="742950" lvl="1" indent="-285750">
              <a:buFont typeface="Arial" panose="020B0604020202020204" pitchFamily="34" charset="0"/>
              <a:buChar char="•"/>
            </a:pPr>
            <a:r>
              <a:rPr lang="en-US" sz="2400" dirty="0"/>
              <a:t>Does this change with the input size?</a:t>
            </a:r>
          </a:p>
          <a:p>
            <a:pPr marL="285750" indent="-285750">
              <a:buFont typeface="Arial" panose="020B0604020202020204" pitchFamily="34" charset="0"/>
              <a:buChar char="•"/>
            </a:pPr>
            <a:endParaRPr lang="en-US" sz="2400" dirty="0"/>
          </a:p>
        </p:txBody>
      </p:sp>
    </p:spTree>
    <p:extLst>
      <p:ext uri="{BB962C8B-B14F-4D97-AF65-F5344CB8AC3E}">
        <p14:creationId xmlns:p14="http://schemas.microsoft.com/office/powerpoint/2010/main" val="5419996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5417A-E6C5-87EA-7920-49532B7D25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657A5C-50F3-28D9-983F-194010493941}"/>
              </a:ext>
            </a:extLst>
          </p:cNvPr>
          <p:cNvSpPr>
            <a:spLocks noGrp="1"/>
          </p:cNvSpPr>
          <p:nvPr>
            <p:ph type="title"/>
          </p:nvPr>
        </p:nvSpPr>
        <p:spPr>
          <a:xfrm>
            <a:off x="3266440" y="0"/>
            <a:ext cx="8925560" cy="1325563"/>
          </a:xfrm>
        </p:spPr>
        <p:txBody>
          <a:bodyPr/>
          <a:lstStyle/>
          <a:p>
            <a:r>
              <a:rPr lang="en-US" dirty="0"/>
              <a:t>Worst Case – Example 2 (Answers)</a:t>
            </a:r>
          </a:p>
        </p:txBody>
      </p:sp>
      <p:sp>
        <p:nvSpPr>
          <p:cNvPr id="3" name="Content Placeholder 2">
            <a:extLst>
              <a:ext uri="{FF2B5EF4-FFF2-40B4-BE49-F238E27FC236}">
                <a16:creationId xmlns:a16="http://schemas.microsoft.com/office/drawing/2014/main" id="{F8E53F75-C222-9FA9-3DC9-6A0B759E3353}"/>
              </a:ext>
            </a:extLst>
          </p:cNvPr>
          <p:cNvSpPr>
            <a:spLocks noGrp="1"/>
          </p:cNvSpPr>
          <p:nvPr>
            <p:ph idx="1"/>
          </p:nvPr>
        </p:nvSpPr>
        <p:spPr>
          <a:xfrm>
            <a:off x="157480" y="1044654"/>
            <a:ext cx="10515600" cy="6451599"/>
          </a:xfrm>
        </p:spPr>
        <p:txBody>
          <a:bodyPr>
            <a:normAutofit/>
          </a:bodyPr>
          <a:lstStyle/>
          <a:p>
            <a:pPr marL="0" indent="0">
              <a:buNone/>
            </a:pPr>
            <a:r>
              <a:rPr lang="en-US" dirty="0" err="1"/>
              <a:t>beAnnoying</a:t>
            </a:r>
            <a:r>
              <a:rPr lang="en-US" dirty="0"/>
              <a:t>(List n){</a:t>
            </a:r>
          </a:p>
          <a:p>
            <a:pPr marL="0" indent="0">
              <a:buNone/>
            </a:pPr>
            <a:r>
              <a:rPr lang="en-US" dirty="0"/>
              <a:t>    List m = [];</a:t>
            </a:r>
          </a:p>
          <a:p>
            <a:pPr marL="0" indent="0">
              <a:buNone/>
            </a:pPr>
            <a:r>
              <a:rPr lang="en-US" dirty="0"/>
              <a:t>    for (</a:t>
            </a:r>
            <a:r>
              <a:rPr lang="en-US" dirty="0" err="1"/>
              <a:t>i</a:t>
            </a:r>
            <a:r>
              <a:rPr lang="en-US" dirty="0"/>
              <a:t>=0; </a:t>
            </a:r>
            <a:r>
              <a:rPr lang="en-US" dirty="0" err="1"/>
              <a:t>i</a:t>
            </a:r>
            <a:r>
              <a:rPr lang="en-US" dirty="0"/>
              <a:t> &lt; </a:t>
            </a:r>
            <a:r>
              <a:rPr lang="en-US" dirty="0" err="1"/>
              <a:t>n.size</a:t>
            </a:r>
            <a:r>
              <a:rPr lang="en-US" dirty="0"/>
              <a:t>(); </a:t>
            </a:r>
            <a:r>
              <a:rPr lang="en-US" dirty="0" err="1"/>
              <a:t>i</a:t>
            </a:r>
            <a:r>
              <a:rPr lang="en-US" dirty="0"/>
              <a:t>++){ // n times</a:t>
            </a:r>
          </a:p>
          <a:p>
            <a:pPr marL="0" indent="0">
              <a:buNone/>
            </a:pPr>
            <a:r>
              <a:rPr lang="en-US" dirty="0"/>
              <a:t>        </a:t>
            </a:r>
            <a:r>
              <a:rPr lang="en-US" dirty="0" err="1"/>
              <a:t>m.add</a:t>
            </a:r>
            <a:r>
              <a:rPr lang="en-US" dirty="0"/>
              <a:t>(n[</a:t>
            </a:r>
            <a:r>
              <a:rPr lang="en-US" dirty="0" err="1"/>
              <a:t>i</a:t>
            </a:r>
            <a:r>
              <a:rPr lang="en-US" dirty="0"/>
              <a:t>]);</a:t>
            </a:r>
          </a:p>
          <a:p>
            <a:pPr marL="0" indent="0">
              <a:buNone/>
            </a:pPr>
            <a:r>
              <a:rPr lang="en-US" dirty="0"/>
              <a:t>        for (j=0; j&lt; </a:t>
            </a:r>
            <a:r>
              <a:rPr lang="en-US" dirty="0" err="1"/>
              <a:t>n.size</a:t>
            </a:r>
            <a:r>
              <a:rPr lang="en-US" dirty="0"/>
              <a:t>(); </a:t>
            </a:r>
            <a:r>
              <a:rPr lang="en-US" dirty="0" err="1"/>
              <a:t>j++</a:t>
            </a:r>
            <a:r>
              <a:rPr lang="en-US" dirty="0"/>
              <a:t>){ // n times</a:t>
            </a:r>
          </a:p>
          <a:p>
            <a:pPr marL="0" indent="0">
              <a:buNone/>
            </a:pPr>
            <a:r>
              <a:rPr lang="en-US" dirty="0"/>
              <a:t>            print (“Hi, I’m annoying”); // 1</a:t>
            </a:r>
          </a:p>
          <a:p>
            <a:pPr marL="0" indent="0">
              <a:buNone/>
            </a:pPr>
            <a:r>
              <a:rPr lang="en-US" dirty="0"/>
              <a:t>        } </a:t>
            </a:r>
          </a:p>
          <a:p>
            <a:pPr marL="0" indent="0">
              <a:buNone/>
            </a:pPr>
            <a:r>
              <a:rPr lang="en-US" dirty="0"/>
              <a:t>    }</a:t>
            </a:r>
          </a:p>
          <a:p>
            <a:pPr marL="0" indent="0">
              <a:buNone/>
            </a:pPr>
            <a:r>
              <a:rPr lang="en-US" dirty="0"/>
              <a:t>}</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F431723-5CC5-DB8E-EA72-4108117A5CDA}"/>
                  </a:ext>
                </a:extLst>
              </p:cNvPr>
              <p:cNvSpPr txBox="1"/>
              <p:nvPr/>
            </p:nvSpPr>
            <p:spPr>
              <a:xfrm>
                <a:off x="6096000" y="1223466"/>
                <a:ext cx="5595058" cy="4154984"/>
              </a:xfrm>
              <a:prstGeom prst="rect">
                <a:avLst/>
              </a:prstGeom>
              <a:noFill/>
            </p:spPr>
            <p:txBody>
              <a:bodyPr wrap="none" rtlCol="0">
                <a:spAutoFit/>
              </a:bodyPr>
              <a:lstStyle/>
              <a:p>
                <a:r>
                  <a:rPr lang="en-US" sz="2400" dirty="0"/>
                  <a:t>Questions to ask:</a:t>
                </a:r>
              </a:p>
              <a:p>
                <a:pPr marL="285750" indent="-285750">
                  <a:buFont typeface="Arial" panose="020B0604020202020204" pitchFamily="34" charset="0"/>
                  <a:buChar char="•"/>
                </a:pPr>
                <a:r>
                  <a:rPr lang="en-US" sz="2400" dirty="0"/>
                  <a:t>What are the units of the input size?</a:t>
                </a:r>
              </a:p>
              <a:p>
                <a:pPr marL="742950" lvl="1" indent="-285750">
                  <a:buFont typeface="Arial" panose="020B0604020202020204" pitchFamily="34" charset="0"/>
                  <a:buChar char="•"/>
                </a:pPr>
                <a:r>
                  <a:rPr lang="en-US" sz="2400" dirty="0"/>
                  <a:t># items</a:t>
                </a:r>
              </a:p>
              <a:p>
                <a:pPr marL="285750" indent="-285750">
                  <a:buFont typeface="Arial" panose="020B0604020202020204" pitchFamily="34" charset="0"/>
                  <a:buChar char="•"/>
                </a:pPr>
                <a:r>
                  <a:rPr lang="en-US" sz="2400" dirty="0"/>
                  <a:t>What are the operations we’re counting?</a:t>
                </a:r>
              </a:p>
              <a:p>
                <a:pPr marL="742950" lvl="1" indent="-285750">
                  <a:buFont typeface="Arial" panose="020B0604020202020204" pitchFamily="34" charset="0"/>
                  <a:buChar char="•"/>
                </a:pPr>
                <a:r>
                  <a:rPr lang="en-US" sz="2400" dirty="0"/>
                  <a:t>Adding or printing</a:t>
                </a:r>
              </a:p>
              <a:p>
                <a:pPr marL="742950" lvl="1" indent="-285750">
                  <a:buFont typeface="Arial" panose="020B0604020202020204" pitchFamily="34" charset="0"/>
                  <a:buChar char="•"/>
                </a:pPr>
                <a:r>
                  <a:rPr lang="en-US" sz="2400" dirty="0"/>
                  <a:t>Printing: </a:t>
                </a:r>
                <a14:m>
                  <m:oMath xmlns:m="http://schemas.openxmlformats.org/officeDocument/2006/math">
                    <m:r>
                      <a:rPr lang="en-US" sz="2400" b="0" i="1" smtClean="0">
                        <a:latin typeface="Cambria Math" panose="02040503050406030204" pitchFamily="18" charset="0"/>
                      </a:rPr>
                      <m:t>𝑂</m:t>
                    </m:r>
                    <m:d>
                      <m:dPr>
                        <m:ctrlPr>
                          <a:rPr lang="en-US" sz="2400" b="0" i="1" smtClean="0">
                            <a:latin typeface="Cambria Math" panose="02040503050406030204" pitchFamily="18" charset="0"/>
                          </a:rPr>
                        </m:ctrlPr>
                      </m:dPr>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𝑛</m:t>
                            </m:r>
                          </m:e>
                          <m:sup>
                            <m:r>
                              <a:rPr lang="en-US" sz="2400" b="0" i="1" smtClean="0">
                                <a:latin typeface="Cambria Math" panose="02040503050406030204" pitchFamily="18" charset="0"/>
                              </a:rPr>
                              <m:t>2</m:t>
                            </m:r>
                          </m:sup>
                        </m:sSup>
                      </m:e>
                    </m:d>
                  </m:oMath>
                </a14:m>
                <a:endParaRPr lang="en-US" sz="2400" dirty="0"/>
              </a:p>
              <a:p>
                <a:pPr marL="285750" indent="-285750">
                  <a:buFont typeface="Arial" panose="020B0604020202020204" pitchFamily="34" charset="0"/>
                  <a:buChar char="•"/>
                </a:pPr>
                <a:r>
                  <a:rPr lang="en-US" sz="2400" dirty="0"/>
                  <a:t>For each line:</a:t>
                </a:r>
              </a:p>
              <a:p>
                <a:pPr marL="742950" lvl="1" indent="-285750">
                  <a:buFont typeface="Arial" panose="020B0604020202020204" pitchFamily="34" charset="0"/>
                  <a:buChar char="•"/>
                </a:pPr>
                <a:r>
                  <a:rPr lang="en-US" sz="2400" dirty="0"/>
                  <a:t>How many times will it run?</a:t>
                </a:r>
              </a:p>
              <a:p>
                <a:pPr marL="742950" lvl="1" indent="-285750">
                  <a:buFont typeface="Arial" panose="020B0604020202020204" pitchFamily="34" charset="0"/>
                  <a:buChar char="•"/>
                </a:pPr>
                <a:r>
                  <a:rPr lang="en-US" sz="2400" dirty="0"/>
                  <a:t>How long does it take to run?</a:t>
                </a:r>
              </a:p>
              <a:p>
                <a:pPr marL="742950" lvl="1" indent="-285750">
                  <a:buFont typeface="Arial" panose="020B0604020202020204" pitchFamily="34" charset="0"/>
                  <a:buChar char="•"/>
                </a:pPr>
                <a:r>
                  <a:rPr lang="en-US" sz="2400" dirty="0"/>
                  <a:t>Does this change with the input size?</a:t>
                </a:r>
              </a:p>
              <a:p>
                <a:pPr marL="285750" indent="-285750">
                  <a:buFont typeface="Arial" panose="020B0604020202020204" pitchFamily="34" charset="0"/>
                  <a:buChar char="•"/>
                </a:pPr>
                <a:endParaRPr lang="en-US" sz="2400" dirty="0"/>
              </a:p>
            </p:txBody>
          </p:sp>
        </mc:Choice>
        <mc:Fallback xmlns="">
          <p:sp>
            <p:nvSpPr>
              <p:cNvPr id="4" name="TextBox 3">
                <a:extLst>
                  <a:ext uri="{FF2B5EF4-FFF2-40B4-BE49-F238E27FC236}">
                    <a16:creationId xmlns:a16="http://schemas.microsoft.com/office/drawing/2014/main" id="{AD6C7F58-306D-E658-69EC-00881D5C09AB}"/>
                  </a:ext>
                </a:extLst>
              </p:cNvPr>
              <p:cNvSpPr txBox="1">
                <a:spLocks noRot="1" noChangeAspect="1" noMove="1" noResize="1" noEditPoints="1" noAdjustHandles="1" noChangeArrowheads="1" noChangeShapeType="1" noTextEdit="1"/>
              </p:cNvSpPr>
              <p:nvPr/>
            </p:nvSpPr>
            <p:spPr>
              <a:xfrm>
                <a:off x="6096000" y="1223466"/>
                <a:ext cx="5595058" cy="4154984"/>
              </a:xfrm>
              <a:prstGeom prst="rect">
                <a:avLst/>
              </a:prstGeom>
              <a:blipFill>
                <a:blip r:embed="rId2"/>
                <a:stretch>
                  <a:fillRect l="-1634" t="-1175" r="-654"/>
                </a:stretch>
              </a:blipFill>
            </p:spPr>
            <p:txBody>
              <a:bodyPr/>
              <a:lstStyle/>
              <a:p>
                <a:r>
                  <a:rPr lang="en-US">
                    <a:noFill/>
                  </a:rPr>
                  <a:t> </a:t>
                </a:r>
              </a:p>
            </p:txBody>
          </p:sp>
        </mc:Fallback>
      </mc:AlternateContent>
    </p:spTree>
    <p:extLst>
      <p:ext uri="{BB962C8B-B14F-4D97-AF65-F5344CB8AC3E}">
        <p14:creationId xmlns:p14="http://schemas.microsoft.com/office/powerpoint/2010/main" val="29403402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CBC43-DD63-2B24-550B-B08D845611D3}"/>
              </a:ext>
            </a:extLst>
          </p:cNvPr>
          <p:cNvSpPr>
            <a:spLocks noGrp="1"/>
          </p:cNvSpPr>
          <p:nvPr>
            <p:ph type="title"/>
          </p:nvPr>
        </p:nvSpPr>
        <p:spPr/>
        <p:txBody>
          <a:bodyPr/>
          <a:lstStyle/>
          <a:p>
            <a:r>
              <a:rPr lang="en-US" dirty="0"/>
              <a:t>Worst Case Running Time – General Guide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E06B4E2-CD04-DDD0-E33D-A4B22AE7A8D8}"/>
                  </a:ext>
                </a:extLst>
              </p:cNvPr>
              <p:cNvSpPr>
                <a:spLocks noGrp="1"/>
              </p:cNvSpPr>
              <p:nvPr>
                <p:ph idx="1"/>
              </p:nvPr>
            </p:nvSpPr>
            <p:spPr/>
            <p:txBody>
              <a:bodyPr/>
              <a:lstStyle/>
              <a:p>
                <a:r>
                  <a:rPr lang="en-US" dirty="0"/>
                  <a:t>Add together the time of consecutive statements</a:t>
                </a:r>
              </a:p>
              <a:p>
                <a:r>
                  <a:rPr lang="en-US" dirty="0"/>
                  <a:t>Loops: Sum up the time required through each iteration of the loop</a:t>
                </a:r>
              </a:p>
              <a:p>
                <a:pPr lvl="1"/>
                <a:r>
                  <a:rPr lang="en-US" dirty="0"/>
                  <a:t>If each takes the same time, then [time per loop </a:t>
                </a:r>
                <a14:m>
                  <m:oMath xmlns:m="http://schemas.openxmlformats.org/officeDocument/2006/math">
                    <m:r>
                      <a:rPr lang="en-US" b="0" i="1" smtClean="0">
                        <a:latin typeface="Cambria Math" panose="02040503050406030204" pitchFamily="18" charset="0"/>
                      </a:rPr>
                      <m:t>×</m:t>
                    </m:r>
                  </m:oMath>
                </a14:m>
                <a:r>
                  <a:rPr lang="en-US" dirty="0"/>
                  <a:t> number of iterations]</a:t>
                </a:r>
              </a:p>
              <a:p>
                <a:r>
                  <a:rPr lang="en-US" dirty="0"/>
                  <a:t>Conditionals: Sum together the time to check the condition and time of the slowest branch</a:t>
                </a:r>
              </a:p>
              <a:p>
                <a:r>
                  <a:rPr lang="en-US" dirty="0"/>
                  <a:t>Function Calls: Time of the function’s body</a:t>
                </a:r>
              </a:p>
              <a:p>
                <a:r>
                  <a:rPr lang="en-US" dirty="0"/>
                  <a:t>Recursion: Solve a </a:t>
                </a:r>
                <a:r>
                  <a:rPr lang="en-US" dirty="0">
                    <a:solidFill>
                      <a:srgbClr val="FF0000"/>
                    </a:solidFill>
                  </a:rPr>
                  <a:t>recurrence relation</a:t>
                </a:r>
              </a:p>
              <a:p>
                <a:endParaRPr lang="en-US" dirty="0"/>
              </a:p>
            </p:txBody>
          </p:sp>
        </mc:Choice>
        <mc:Fallback xmlns="">
          <p:sp>
            <p:nvSpPr>
              <p:cNvPr id="3" name="Content Placeholder 2">
                <a:extLst>
                  <a:ext uri="{FF2B5EF4-FFF2-40B4-BE49-F238E27FC236}">
                    <a16:creationId xmlns:a16="http://schemas.microsoft.com/office/drawing/2014/main" id="{8E06B4E2-CD04-DDD0-E33D-A4B22AE7A8D8}"/>
                  </a:ext>
                </a:extLst>
              </p:cNvPr>
              <p:cNvSpPr>
                <a:spLocks noGrp="1" noRot="1" noChangeAspect="1" noMove="1" noResize="1" noEditPoints="1" noAdjustHandles="1" noChangeArrowheads="1" noChangeShapeType="1" noTextEdit="1"/>
              </p:cNvSpPr>
              <p:nvPr>
                <p:ph idx="1"/>
              </p:nvPr>
            </p:nvSpPr>
            <p:spPr>
              <a:blipFill>
                <a:blip r:embed="rId2"/>
                <a:stretch>
                  <a:fillRect l="-1043" t="-2241" r="-116"/>
                </a:stretch>
              </a:blipFill>
            </p:spPr>
            <p:txBody>
              <a:bodyPr/>
              <a:lstStyle/>
              <a:p>
                <a:r>
                  <a:rPr lang="en-US">
                    <a:noFill/>
                  </a:rPr>
                  <a:t> </a:t>
                </a:r>
              </a:p>
            </p:txBody>
          </p:sp>
        </mc:Fallback>
      </mc:AlternateContent>
    </p:spTree>
    <p:extLst>
      <p:ext uri="{BB962C8B-B14F-4D97-AF65-F5344CB8AC3E}">
        <p14:creationId xmlns:p14="http://schemas.microsoft.com/office/powerpoint/2010/main" val="24833984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0106B-E7F2-6AC4-0CEB-263B34D0A085}"/>
              </a:ext>
            </a:extLst>
          </p:cNvPr>
          <p:cNvSpPr>
            <a:spLocks noGrp="1"/>
          </p:cNvSpPr>
          <p:nvPr>
            <p:ph type="title"/>
          </p:nvPr>
        </p:nvSpPr>
        <p:spPr/>
        <p:txBody>
          <a:bodyPr/>
          <a:lstStyle/>
          <a:p>
            <a:r>
              <a:rPr lang="en-US" dirty="0"/>
              <a:t>Defining your running time function</a:t>
            </a:r>
          </a:p>
        </p:txBody>
      </p:sp>
      <p:sp>
        <p:nvSpPr>
          <p:cNvPr id="3" name="Content Placeholder 2">
            <a:extLst>
              <a:ext uri="{FF2B5EF4-FFF2-40B4-BE49-F238E27FC236}">
                <a16:creationId xmlns:a16="http://schemas.microsoft.com/office/drawing/2014/main" id="{0D8B7D0D-89C1-85CB-26AE-4351C262A7BA}"/>
              </a:ext>
            </a:extLst>
          </p:cNvPr>
          <p:cNvSpPr>
            <a:spLocks noGrp="1"/>
          </p:cNvSpPr>
          <p:nvPr>
            <p:ph idx="1"/>
          </p:nvPr>
        </p:nvSpPr>
        <p:spPr>
          <a:xfrm>
            <a:off x="838199" y="1825625"/>
            <a:ext cx="10850217" cy="4351338"/>
          </a:xfrm>
        </p:spPr>
        <p:txBody>
          <a:bodyPr>
            <a:normAutofit/>
          </a:bodyPr>
          <a:lstStyle/>
          <a:p>
            <a:r>
              <a:rPr lang="en-US" dirty="0"/>
              <a:t>Worst-case complexity: </a:t>
            </a:r>
          </a:p>
          <a:p>
            <a:pPr lvl="1"/>
            <a:r>
              <a:rPr lang="en-US" dirty="0"/>
              <a:t>max number of steps algorithm takes on “most challenging” input </a:t>
            </a:r>
          </a:p>
          <a:p>
            <a:r>
              <a:rPr lang="en-US" dirty="0"/>
              <a:t>Best-case complexity: </a:t>
            </a:r>
          </a:p>
          <a:p>
            <a:pPr lvl="1"/>
            <a:r>
              <a:rPr lang="en-US" dirty="0"/>
              <a:t>min number of steps algorithm takes on “easiest” input </a:t>
            </a:r>
          </a:p>
          <a:p>
            <a:r>
              <a:rPr lang="en-US" dirty="0"/>
              <a:t>Average/expected complexity: </a:t>
            </a:r>
          </a:p>
          <a:p>
            <a:pPr lvl="1"/>
            <a:r>
              <a:rPr lang="en-US" dirty="0"/>
              <a:t>avg number of steps algorithm takes on random inputs (distribution-dependent) </a:t>
            </a:r>
          </a:p>
          <a:p>
            <a:r>
              <a:rPr lang="en-US" dirty="0"/>
              <a:t>Amortized complexity: </a:t>
            </a:r>
          </a:p>
          <a:p>
            <a:pPr lvl="1"/>
            <a:r>
              <a:rPr lang="en-US" dirty="0"/>
              <a:t>max total number of steps algorithm takes on M “most challenging” consecutive inputs, divided by M (i.e., divide the max total sum by M).</a:t>
            </a:r>
          </a:p>
        </p:txBody>
      </p:sp>
    </p:spTree>
    <p:extLst>
      <p:ext uri="{BB962C8B-B14F-4D97-AF65-F5344CB8AC3E}">
        <p14:creationId xmlns:p14="http://schemas.microsoft.com/office/powerpoint/2010/main" val="5454825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69A94-1220-2804-63AB-870822DBD0D0}"/>
              </a:ext>
            </a:extLst>
          </p:cNvPr>
          <p:cNvSpPr>
            <a:spLocks noGrp="1"/>
          </p:cNvSpPr>
          <p:nvPr>
            <p:ph type="title"/>
          </p:nvPr>
        </p:nvSpPr>
        <p:spPr/>
        <p:txBody>
          <a:bodyPr/>
          <a:lstStyle/>
          <a:p>
            <a:r>
              <a:rPr lang="en-US" dirty="0" err="1"/>
              <a:t>ArrayList</a:t>
            </a:r>
            <a:r>
              <a:rPr lang="en-US" dirty="0"/>
              <a:t> - Worst Case Time of Add</a:t>
            </a:r>
          </a:p>
        </p:txBody>
      </p:sp>
      <p:sp>
        <p:nvSpPr>
          <p:cNvPr id="5" name="Content Placeholder 2">
            <a:extLst>
              <a:ext uri="{FF2B5EF4-FFF2-40B4-BE49-F238E27FC236}">
                <a16:creationId xmlns:a16="http://schemas.microsoft.com/office/drawing/2014/main" id="{EBE0DF2B-2C50-08CC-5BA6-B5A1FBAD4B25}"/>
              </a:ext>
            </a:extLst>
          </p:cNvPr>
          <p:cNvSpPr>
            <a:spLocks noGrp="1"/>
          </p:cNvSpPr>
          <p:nvPr>
            <p:ph sz="half" idx="1"/>
          </p:nvPr>
        </p:nvSpPr>
        <p:spPr>
          <a:xfrm>
            <a:off x="349135" y="1825625"/>
            <a:ext cx="5670665" cy="4667250"/>
          </a:xfrm>
        </p:spPr>
        <p:txBody>
          <a:bodyPr>
            <a:normAutofit/>
          </a:bodyPr>
          <a:lstStyle/>
          <a:p>
            <a:pPr marL="0" indent="0">
              <a:buNone/>
            </a:pPr>
            <a:r>
              <a:rPr lang="en-US" sz="1600" b="0" dirty="0">
                <a:solidFill>
                  <a:srgbClr val="0000FF"/>
                </a:solidFill>
                <a:effectLst/>
                <a:highlight>
                  <a:srgbClr val="FFFFFF"/>
                </a:highlight>
                <a:latin typeface="Consolas" panose="020B0609020204030204" pitchFamily="49" charset="0"/>
              </a:rPr>
              <a:t>public</a:t>
            </a: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void</a:t>
            </a:r>
            <a:r>
              <a:rPr lang="en-US" sz="1600" b="0" dirty="0">
                <a:solidFill>
                  <a:srgbClr val="000000"/>
                </a:solidFill>
                <a:effectLst/>
                <a:highlight>
                  <a:srgbClr val="FFFFFF"/>
                </a:highlight>
                <a:latin typeface="Consolas" panose="020B0609020204030204" pitchFamily="49" charset="0"/>
              </a:rPr>
              <a:t> add(</a:t>
            </a:r>
            <a:r>
              <a:rPr lang="en-US" sz="1600" dirty="0">
                <a:solidFill>
                  <a:srgbClr val="0000FF"/>
                </a:solidFill>
                <a:highlight>
                  <a:srgbClr val="FFFFFF"/>
                </a:highlight>
                <a:latin typeface="Consolas" panose="020B0609020204030204" pitchFamily="49" charset="0"/>
              </a:rPr>
              <a:t>int</a:t>
            </a:r>
            <a:r>
              <a:rPr lang="en-US" sz="1600" b="0" dirty="0">
                <a:solidFill>
                  <a:srgbClr val="000000"/>
                </a:solidFill>
                <a:effectLst/>
                <a:highlight>
                  <a:srgbClr val="FFFFFF"/>
                </a:highlight>
                <a:latin typeface="Consolas" panose="020B0609020204030204" pitchFamily="49" charset="0"/>
              </a:rPr>
              <a:t> value){</a:t>
            </a:r>
          </a:p>
          <a:p>
            <a:pPr marL="0" indent="0">
              <a:buNone/>
            </a:pP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if</a:t>
            </a:r>
            <a:r>
              <a:rPr lang="en-US" sz="1600" b="0" dirty="0">
                <a:solidFill>
                  <a:srgbClr val="000000"/>
                </a:solidFill>
                <a:effectLst/>
                <a:highlight>
                  <a:srgbClr val="FFFFFF"/>
                </a:highlight>
                <a:latin typeface="Consolas" panose="020B0609020204030204" pitchFamily="49" charset="0"/>
              </a:rPr>
              <a:t>(</a:t>
            </a:r>
            <a:r>
              <a:rPr lang="en-US" sz="1600" b="0" dirty="0" err="1">
                <a:solidFill>
                  <a:srgbClr val="000000"/>
                </a:solidFill>
                <a:effectLst/>
                <a:highlight>
                  <a:srgbClr val="FFFFFF"/>
                </a:highlight>
                <a:latin typeface="Consolas" panose="020B0609020204030204" pitchFamily="49" charset="0"/>
              </a:rPr>
              <a:t>data.length</a:t>
            </a:r>
            <a:r>
              <a:rPr lang="en-US" sz="1600" b="0" dirty="0">
                <a:solidFill>
                  <a:srgbClr val="000000"/>
                </a:solidFill>
                <a:effectLst/>
                <a:highlight>
                  <a:srgbClr val="FFFFFF"/>
                </a:highlight>
                <a:latin typeface="Consolas" panose="020B0609020204030204" pitchFamily="49" charset="0"/>
              </a:rPr>
              <a:t> == size)</a:t>
            </a:r>
          </a:p>
          <a:p>
            <a:pPr marL="0" indent="0">
              <a:buNone/>
            </a:pPr>
            <a:r>
              <a:rPr lang="en-US" sz="1600" b="0" dirty="0">
                <a:solidFill>
                  <a:srgbClr val="000000"/>
                </a:solidFill>
                <a:effectLst/>
                <a:highlight>
                  <a:srgbClr val="FFFFFF"/>
                </a:highlight>
                <a:latin typeface="Consolas" panose="020B0609020204030204" pitchFamily="49" charset="0"/>
              </a:rPr>
              <a:t>        resize();</a:t>
            </a:r>
          </a:p>
          <a:p>
            <a:pPr marL="0" indent="0">
              <a:buNone/>
            </a:pPr>
            <a:r>
              <a:rPr lang="en-US" sz="1600" b="0" dirty="0">
                <a:solidFill>
                  <a:srgbClr val="000000"/>
                </a:solidFill>
                <a:effectLst/>
                <a:highlight>
                  <a:srgbClr val="FFFFFF"/>
                </a:highlight>
                <a:latin typeface="Consolas" panose="020B0609020204030204" pitchFamily="49" charset="0"/>
              </a:rPr>
              <a:t>    data[size] = value;</a:t>
            </a:r>
          </a:p>
          <a:p>
            <a:pPr marL="0" indent="0">
              <a:buNone/>
            </a:pPr>
            <a:r>
              <a:rPr lang="en-US" sz="1600" b="0" dirty="0">
                <a:solidFill>
                  <a:srgbClr val="000000"/>
                </a:solidFill>
                <a:effectLst/>
                <a:highlight>
                  <a:srgbClr val="FFFFFF"/>
                </a:highlight>
                <a:latin typeface="Consolas" panose="020B0609020204030204" pitchFamily="49" charset="0"/>
              </a:rPr>
              <a:t>    size++;</a:t>
            </a:r>
          </a:p>
          <a:p>
            <a:pPr marL="0" indent="0">
              <a:buNone/>
            </a:pPr>
            <a:r>
              <a:rPr lang="en-US" sz="1600" b="0" dirty="0">
                <a:solidFill>
                  <a:srgbClr val="000000"/>
                </a:solidFill>
                <a:effectLst/>
                <a:highlight>
                  <a:srgbClr val="FFFFFF"/>
                </a:highlight>
                <a:latin typeface="Consolas" panose="020B0609020204030204" pitchFamily="49" charset="0"/>
              </a:rPr>
              <a:t>}</a:t>
            </a:r>
            <a:endParaRPr lang="en-US" sz="1600" dirty="0">
              <a:solidFill>
                <a:srgbClr val="0000FF"/>
              </a:solidFill>
              <a:latin typeface="Consolas" panose="020B0609020204030204" pitchFamily="49" charset="0"/>
            </a:endParaRPr>
          </a:p>
          <a:p>
            <a:pPr marL="0" indent="0">
              <a:buNone/>
            </a:pPr>
            <a:r>
              <a:rPr lang="en-US" sz="1600" b="0" dirty="0">
                <a:solidFill>
                  <a:srgbClr val="0000FF"/>
                </a:solidFill>
                <a:effectLst/>
                <a:latin typeface="Consolas" panose="020B0609020204030204" pitchFamily="49" charset="0"/>
              </a:rPr>
              <a:t>private</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void</a:t>
            </a:r>
            <a:r>
              <a:rPr lang="en-US" sz="1600" b="0" dirty="0">
                <a:solidFill>
                  <a:srgbClr val="000000"/>
                </a:solidFill>
                <a:effectLst/>
                <a:latin typeface="Consolas" panose="020B0609020204030204" pitchFamily="49" charset="0"/>
              </a:rPr>
              <a:t> resize(){</a:t>
            </a:r>
          </a:p>
          <a:p>
            <a:pPr marL="0" indent="0">
              <a:buNone/>
            </a:pP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oldData</a:t>
            </a:r>
            <a:r>
              <a:rPr lang="en-US" sz="1600" b="0" dirty="0">
                <a:solidFill>
                  <a:srgbClr val="000000"/>
                </a:solidFill>
                <a:effectLst/>
                <a:latin typeface="Consolas" panose="020B0609020204030204" pitchFamily="49" charset="0"/>
              </a:rPr>
              <a:t> = data;</a:t>
            </a:r>
          </a:p>
          <a:p>
            <a:pPr marL="0" indent="0">
              <a:buNone/>
            </a:pPr>
            <a:r>
              <a:rPr lang="en-US" sz="1600" b="0" dirty="0">
                <a:solidFill>
                  <a:srgbClr val="000000"/>
                </a:solidFill>
                <a:effectLst/>
                <a:latin typeface="Consolas" panose="020B0609020204030204" pitchFamily="49" charset="0"/>
              </a:rPr>
              <a:t>    data = </a:t>
            </a:r>
            <a:r>
              <a:rPr lang="en-US" sz="1600" b="0" dirty="0">
                <a:solidFill>
                  <a:srgbClr val="0000FF"/>
                </a:solidFill>
                <a:effectLst/>
                <a:latin typeface="Consolas" panose="020B0609020204030204" pitchFamily="49" charset="0"/>
              </a:rPr>
              <a:t>new int</a:t>
            </a:r>
            <a:r>
              <a:rPr lang="en-US" sz="1600" b="0" dirty="0">
                <a:solidFill>
                  <a:srgbClr val="000000"/>
                </a:solidFill>
                <a:effectLst/>
                <a:latin typeface="Consolas" panose="020B0609020204030204" pitchFamily="49" charset="0"/>
              </a:rPr>
              <a:t>[</a:t>
            </a:r>
            <a:r>
              <a:rPr lang="en-US" sz="1600" b="0" dirty="0" err="1">
                <a:solidFill>
                  <a:srgbClr val="000000"/>
                </a:solidFill>
                <a:effectLst/>
                <a:latin typeface="Consolas" panose="020B0609020204030204" pitchFamily="49" charset="0"/>
              </a:rPr>
              <a:t>data.length</a:t>
            </a:r>
            <a:r>
              <a:rPr lang="en-US" sz="1600" b="0" dirty="0">
                <a:solidFill>
                  <a:srgbClr val="000000"/>
                </a:solidFill>
                <a:effectLst/>
                <a:latin typeface="Consolas" panose="020B0609020204030204" pitchFamily="49" charset="0"/>
              </a:rPr>
              <a:t>*</a:t>
            </a:r>
            <a:r>
              <a:rPr lang="en-US" sz="1600" b="0" dirty="0">
                <a:solidFill>
                  <a:srgbClr val="098658"/>
                </a:solidFill>
                <a:effectLst/>
                <a:latin typeface="Consolas" panose="020B0609020204030204" pitchFamily="49" charset="0"/>
              </a:rPr>
              <a:t>2</a:t>
            </a:r>
            <a:r>
              <a:rPr lang="en-US" sz="1600" b="0" dirty="0">
                <a:solidFill>
                  <a:srgbClr val="000000"/>
                </a:solidFill>
                <a:effectLst/>
                <a:latin typeface="Consolas" panose="020B0609020204030204" pitchFamily="49" charset="0"/>
              </a:rPr>
              <a:t>];</a:t>
            </a:r>
          </a:p>
          <a:p>
            <a:pPr marL="0" indent="0">
              <a:buNone/>
            </a:pP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for</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i</a:t>
            </a:r>
            <a:r>
              <a:rPr lang="en-US" sz="1600" b="0" dirty="0">
                <a:solidFill>
                  <a:srgbClr val="000000"/>
                </a:solidFill>
                <a:effectLst/>
                <a:latin typeface="Consolas" panose="020B0609020204030204" pitchFamily="49" charset="0"/>
              </a:rPr>
              <a:t> = </a:t>
            </a:r>
            <a:r>
              <a:rPr lang="en-US" sz="1600" b="0" dirty="0">
                <a:solidFill>
                  <a:srgbClr val="098658"/>
                </a:solidFill>
                <a:effectLst/>
                <a:latin typeface="Consolas" panose="020B0609020204030204" pitchFamily="49" charset="0"/>
              </a:rPr>
              <a:t>0</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i</a:t>
            </a:r>
            <a:r>
              <a:rPr lang="en-US" sz="1600" b="0" dirty="0">
                <a:solidFill>
                  <a:srgbClr val="000000"/>
                </a:solidFill>
                <a:effectLst/>
                <a:latin typeface="Consolas" panose="020B0609020204030204" pitchFamily="49" charset="0"/>
              </a:rPr>
              <a:t> &lt; </a:t>
            </a:r>
            <a:r>
              <a:rPr lang="en-US" sz="1600" b="0" dirty="0" err="1">
                <a:solidFill>
                  <a:srgbClr val="000000"/>
                </a:solidFill>
                <a:effectLst/>
                <a:latin typeface="Consolas" panose="020B0609020204030204" pitchFamily="49" charset="0"/>
              </a:rPr>
              <a:t>oldData.length</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i</a:t>
            </a:r>
            <a:r>
              <a:rPr lang="en-US" sz="1600" b="0" dirty="0">
                <a:solidFill>
                  <a:srgbClr val="000000"/>
                </a:solidFill>
                <a:effectLst/>
                <a:latin typeface="Consolas" panose="020B0609020204030204" pitchFamily="49" charset="0"/>
              </a:rPr>
              <a:t>++)</a:t>
            </a:r>
          </a:p>
          <a:p>
            <a:pPr marL="0" indent="0">
              <a:buNone/>
            </a:pPr>
            <a:r>
              <a:rPr lang="en-US" sz="1600" b="0" dirty="0">
                <a:solidFill>
                  <a:srgbClr val="000000"/>
                </a:solidFill>
                <a:effectLst/>
                <a:latin typeface="Consolas" panose="020B0609020204030204" pitchFamily="49" charset="0"/>
              </a:rPr>
              <a:t>        data[</a:t>
            </a:r>
            <a:r>
              <a:rPr lang="en-US" sz="1600" b="0" dirty="0" err="1">
                <a:solidFill>
                  <a:srgbClr val="000000"/>
                </a:solidFill>
                <a:effectLst/>
                <a:latin typeface="Consolas" panose="020B0609020204030204" pitchFamily="49" charset="0"/>
              </a:rPr>
              <a:t>i</a:t>
            </a:r>
            <a:r>
              <a:rPr lang="en-US" sz="1600" b="0" dirty="0">
                <a:solidFill>
                  <a:srgbClr val="000000"/>
                </a:solidFill>
                <a:effectLst/>
                <a:latin typeface="Consolas" panose="020B0609020204030204" pitchFamily="49" charset="0"/>
              </a:rPr>
              <a:t>] = </a:t>
            </a:r>
            <a:r>
              <a:rPr lang="en-US" sz="1600" b="0" dirty="0" err="1">
                <a:solidFill>
                  <a:srgbClr val="000000"/>
                </a:solidFill>
                <a:effectLst/>
                <a:latin typeface="Consolas" panose="020B0609020204030204" pitchFamily="49" charset="0"/>
              </a:rPr>
              <a:t>oldData</a:t>
            </a:r>
            <a:r>
              <a:rPr lang="en-US" sz="1600" b="0" dirty="0">
                <a:solidFill>
                  <a:srgbClr val="000000"/>
                </a:solidFill>
                <a:effectLst/>
                <a:latin typeface="Consolas" panose="020B0609020204030204" pitchFamily="49" charset="0"/>
              </a:rPr>
              <a:t>[</a:t>
            </a:r>
            <a:r>
              <a:rPr lang="en-US" sz="1600" b="0" dirty="0" err="1">
                <a:solidFill>
                  <a:srgbClr val="000000"/>
                </a:solidFill>
                <a:effectLst/>
                <a:latin typeface="Consolas" panose="020B0609020204030204" pitchFamily="49" charset="0"/>
              </a:rPr>
              <a:t>i</a:t>
            </a:r>
            <a:r>
              <a:rPr lang="en-US" sz="1600" b="0" dirty="0">
                <a:solidFill>
                  <a:srgbClr val="000000"/>
                </a:solidFill>
                <a:effectLst/>
                <a:latin typeface="Consolas" panose="020B0609020204030204" pitchFamily="49" charset="0"/>
              </a:rPr>
              <a:t>];</a:t>
            </a:r>
          </a:p>
          <a:p>
            <a:pPr marL="0" indent="0">
              <a:buNone/>
            </a:pPr>
            <a:r>
              <a:rPr lang="en-US" sz="1600" b="0" dirty="0">
                <a:solidFill>
                  <a:srgbClr val="000000"/>
                </a:solidFill>
                <a:effectLst/>
                <a:latin typeface="Consolas" panose="020B0609020204030204" pitchFamily="49" charset="0"/>
              </a:rPr>
              <a:t>}</a:t>
            </a:r>
            <a:endParaRPr lang="en-US" sz="1600"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015840F2-52BA-DB0C-15EC-2298E887A62B}"/>
                  </a:ext>
                </a:extLst>
              </p:cNvPr>
              <p:cNvSpPr>
                <a:spLocks noGrp="1"/>
              </p:cNvSpPr>
              <p:nvPr>
                <p:ph sz="half" idx="2"/>
              </p:nvPr>
            </p:nvSpPr>
            <p:spPr/>
            <p:txBody>
              <a:bodyPr>
                <a:normAutofit/>
              </a:bodyPr>
              <a:lstStyle/>
              <a:p>
                <a:r>
                  <a:rPr lang="en-US" dirty="0"/>
                  <a:t>What is the worst case running time of add?</a:t>
                </a:r>
              </a:p>
              <a:p>
                <a:pPr lvl="1"/>
                <a:r>
                  <a:rPr lang="en-US" dirty="0"/>
                  <a:t>Input size: size of “this”</a:t>
                </a:r>
              </a:p>
              <a:p>
                <a:pPr lvl="1"/>
                <a:r>
                  <a:rPr lang="en-US" dirty="0"/>
                  <a:t>Operations counted: indexing</a:t>
                </a:r>
              </a:p>
              <a:p>
                <a:pPr lvl="1"/>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p:txBody>
          </p:sp>
        </mc:Choice>
        <mc:Fallback xmlns="">
          <p:sp>
            <p:nvSpPr>
              <p:cNvPr id="4" name="Content Placeholder 3">
                <a:extLst>
                  <a:ext uri="{FF2B5EF4-FFF2-40B4-BE49-F238E27FC236}">
                    <a16:creationId xmlns:a16="http://schemas.microsoft.com/office/drawing/2014/main" id="{015840F2-52BA-DB0C-15EC-2298E887A62B}"/>
                  </a:ext>
                </a:extLst>
              </p:cNvPr>
              <p:cNvSpPr>
                <a:spLocks noGrp="1" noRot="1" noChangeAspect="1" noMove="1" noResize="1" noEditPoints="1" noAdjustHandles="1" noChangeArrowheads="1" noChangeShapeType="1" noTextEdit="1"/>
              </p:cNvSpPr>
              <p:nvPr>
                <p:ph sz="half" idx="2"/>
              </p:nvPr>
            </p:nvSpPr>
            <p:spPr>
              <a:blipFill>
                <a:blip r:embed="rId2"/>
                <a:stretch>
                  <a:fillRect l="-2118" t="-2241"/>
                </a:stretch>
              </a:blipFill>
            </p:spPr>
            <p:txBody>
              <a:bodyPr/>
              <a:lstStyle/>
              <a:p>
                <a:r>
                  <a:rPr lang="en-US">
                    <a:noFill/>
                  </a:rPr>
                  <a:t> </a:t>
                </a:r>
              </a:p>
            </p:txBody>
          </p:sp>
        </mc:Fallback>
      </mc:AlternateContent>
    </p:spTree>
    <p:extLst>
      <p:ext uri="{BB962C8B-B14F-4D97-AF65-F5344CB8AC3E}">
        <p14:creationId xmlns:p14="http://schemas.microsoft.com/office/powerpoint/2010/main" val="11585666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69A94-1220-2804-63AB-870822DBD0D0}"/>
              </a:ext>
            </a:extLst>
          </p:cNvPr>
          <p:cNvSpPr>
            <a:spLocks noGrp="1"/>
          </p:cNvSpPr>
          <p:nvPr>
            <p:ph type="title"/>
          </p:nvPr>
        </p:nvSpPr>
        <p:spPr/>
        <p:txBody>
          <a:bodyPr/>
          <a:lstStyle/>
          <a:p>
            <a:r>
              <a:rPr lang="en-US" dirty="0" err="1"/>
              <a:t>ArrayList</a:t>
            </a:r>
            <a:r>
              <a:rPr lang="en-US" dirty="0"/>
              <a:t> – Amortized Time of Add</a:t>
            </a:r>
          </a:p>
        </p:txBody>
      </p:sp>
      <p:sp>
        <p:nvSpPr>
          <p:cNvPr id="14" name="Content Placeholder 2">
            <a:extLst>
              <a:ext uri="{FF2B5EF4-FFF2-40B4-BE49-F238E27FC236}">
                <a16:creationId xmlns:a16="http://schemas.microsoft.com/office/drawing/2014/main" id="{959D7957-B208-5E47-448C-922F4E81772F}"/>
              </a:ext>
            </a:extLst>
          </p:cNvPr>
          <p:cNvSpPr>
            <a:spLocks noGrp="1"/>
          </p:cNvSpPr>
          <p:nvPr>
            <p:ph sz="half" idx="1"/>
          </p:nvPr>
        </p:nvSpPr>
        <p:spPr>
          <a:xfrm>
            <a:off x="349135" y="1825625"/>
            <a:ext cx="5670665" cy="4667250"/>
          </a:xfrm>
        </p:spPr>
        <p:txBody>
          <a:bodyPr>
            <a:normAutofit/>
          </a:bodyPr>
          <a:lstStyle/>
          <a:p>
            <a:pPr marL="0" indent="0">
              <a:buNone/>
            </a:pPr>
            <a:r>
              <a:rPr lang="en-US" sz="1600" dirty="0">
                <a:solidFill>
                  <a:srgbClr val="0000FF"/>
                </a:solidFill>
                <a:highlight>
                  <a:srgbClr val="FFFFFF"/>
                </a:highlight>
                <a:latin typeface="Consolas" panose="020B0609020204030204" pitchFamily="49" charset="0"/>
              </a:rPr>
              <a:t>public</a:t>
            </a:r>
            <a:r>
              <a:rPr lang="en-US" sz="1600" dirty="0">
                <a:solidFill>
                  <a:srgbClr val="000000"/>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void</a:t>
            </a:r>
            <a:r>
              <a:rPr lang="en-US" sz="1600" dirty="0">
                <a:solidFill>
                  <a:srgbClr val="000000"/>
                </a:solidFill>
                <a:highlight>
                  <a:srgbClr val="FFFFFF"/>
                </a:highlight>
                <a:latin typeface="Consolas" panose="020B0609020204030204" pitchFamily="49" charset="0"/>
              </a:rPr>
              <a:t> add(</a:t>
            </a:r>
            <a:r>
              <a:rPr lang="en-US" sz="1600" dirty="0">
                <a:solidFill>
                  <a:srgbClr val="0000FF"/>
                </a:solidFill>
                <a:highlight>
                  <a:srgbClr val="FFFFFF"/>
                </a:highlight>
                <a:latin typeface="Consolas" panose="020B0609020204030204" pitchFamily="49" charset="0"/>
              </a:rPr>
              <a:t>int</a:t>
            </a:r>
            <a:r>
              <a:rPr lang="en-US" sz="1600" dirty="0">
                <a:solidFill>
                  <a:srgbClr val="000000"/>
                </a:solidFill>
                <a:highlight>
                  <a:srgbClr val="FFFFFF"/>
                </a:highlight>
                <a:latin typeface="Consolas" panose="020B0609020204030204" pitchFamily="49" charset="0"/>
              </a:rPr>
              <a:t> value){</a:t>
            </a:r>
          </a:p>
          <a:p>
            <a:pPr marL="0" indent="0">
              <a:buNone/>
            </a:pPr>
            <a:r>
              <a:rPr lang="en-US" sz="1600" dirty="0">
                <a:solidFill>
                  <a:srgbClr val="000000"/>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if</a:t>
            </a:r>
            <a:r>
              <a:rPr lang="en-US" sz="1600" dirty="0">
                <a:solidFill>
                  <a:srgbClr val="000000"/>
                </a:solidFill>
                <a:highlight>
                  <a:srgbClr val="FFFFFF"/>
                </a:highlight>
                <a:latin typeface="Consolas" panose="020B0609020204030204" pitchFamily="49" charset="0"/>
              </a:rPr>
              <a:t>(</a:t>
            </a:r>
            <a:r>
              <a:rPr lang="en-US" sz="1600" dirty="0" err="1">
                <a:solidFill>
                  <a:srgbClr val="000000"/>
                </a:solidFill>
                <a:highlight>
                  <a:srgbClr val="FFFFFF"/>
                </a:highlight>
                <a:latin typeface="Consolas" panose="020B0609020204030204" pitchFamily="49" charset="0"/>
              </a:rPr>
              <a:t>data.length</a:t>
            </a:r>
            <a:r>
              <a:rPr lang="en-US" sz="1600" dirty="0">
                <a:solidFill>
                  <a:srgbClr val="000000"/>
                </a:solidFill>
                <a:highlight>
                  <a:srgbClr val="FFFFFF"/>
                </a:highlight>
                <a:latin typeface="Consolas" panose="020B0609020204030204" pitchFamily="49" charset="0"/>
              </a:rPr>
              <a:t> == size)</a:t>
            </a:r>
          </a:p>
          <a:p>
            <a:pPr marL="0" indent="0">
              <a:buNone/>
            </a:pPr>
            <a:r>
              <a:rPr lang="en-US" sz="1600" dirty="0">
                <a:solidFill>
                  <a:srgbClr val="000000"/>
                </a:solidFill>
                <a:highlight>
                  <a:srgbClr val="FFFFFF"/>
                </a:highlight>
                <a:latin typeface="Consolas" panose="020B0609020204030204" pitchFamily="49" charset="0"/>
              </a:rPr>
              <a:t>        resize();</a:t>
            </a:r>
          </a:p>
          <a:p>
            <a:pPr marL="0" indent="0">
              <a:buNone/>
            </a:pPr>
            <a:r>
              <a:rPr lang="en-US" sz="1600" dirty="0">
                <a:solidFill>
                  <a:srgbClr val="000000"/>
                </a:solidFill>
                <a:highlight>
                  <a:srgbClr val="FFFFFF"/>
                </a:highlight>
                <a:latin typeface="Consolas" panose="020B0609020204030204" pitchFamily="49" charset="0"/>
              </a:rPr>
              <a:t>    data[size] = value;</a:t>
            </a:r>
          </a:p>
          <a:p>
            <a:pPr marL="0" indent="0">
              <a:buNone/>
            </a:pPr>
            <a:r>
              <a:rPr lang="en-US" sz="1600" dirty="0">
                <a:solidFill>
                  <a:srgbClr val="000000"/>
                </a:solidFill>
                <a:highlight>
                  <a:srgbClr val="FFFFFF"/>
                </a:highlight>
                <a:latin typeface="Consolas" panose="020B0609020204030204" pitchFamily="49" charset="0"/>
              </a:rPr>
              <a:t>    size++;</a:t>
            </a:r>
          </a:p>
          <a:p>
            <a:pPr marL="0" indent="0">
              <a:buNone/>
            </a:pPr>
            <a:r>
              <a:rPr lang="en-US" sz="1600" dirty="0">
                <a:solidFill>
                  <a:srgbClr val="000000"/>
                </a:solidFill>
                <a:highlight>
                  <a:srgbClr val="FFFFFF"/>
                </a:highlight>
                <a:latin typeface="Consolas" panose="020B0609020204030204" pitchFamily="49" charset="0"/>
              </a:rPr>
              <a:t>}</a:t>
            </a:r>
            <a:endParaRPr lang="en-US" sz="1600" dirty="0">
              <a:solidFill>
                <a:srgbClr val="0000FF"/>
              </a:solidFill>
              <a:highlight>
                <a:srgbClr val="FFFFFF"/>
              </a:highlight>
              <a:latin typeface="Consolas" panose="020B0609020204030204" pitchFamily="49" charset="0"/>
            </a:endParaRPr>
          </a:p>
          <a:p>
            <a:pPr marL="0" indent="0">
              <a:buNone/>
            </a:pPr>
            <a:r>
              <a:rPr lang="en-US" sz="1600" dirty="0">
                <a:solidFill>
                  <a:srgbClr val="0000FF"/>
                </a:solidFill>
                <a:highlight>
                  <a:srgbClr val="FFFFFF"/>
                </a:highlight>
                <a:latin typeface="Consolas" panose="020B0609020204030204" pitchFamily="49" charset="0"/>
              </a:rPr>
              <a:t>private</a:t>
            </a:r>
            <a:r>
              <a:rPr lang="en-US" sz="1600" dirty="0">
                <a:solidFill>
                  <a:srgbClr val="000000"/>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void</a:t>
            </a:r>
            <a:r>
              <a:rPr lang="en-US" sz="1600" dirty="0">
                <a:solidFill>
                  <a:srgbClr val="000000"/>
                </a:solidFill>
                <a:highlight>
                  <a:srgbClr val="FFFFFF"/>
                </a:highlight>
                <a:latin typeface="Consolas" panose="020B0609020204030204" pitchFamily="49" charset="0"/>
              </a:rPr>
              <a:t> resize(){</a:t>
            </a:r>
          </a:p>
          <a:p>
            <a:pPr marL="0" indent="0">
              <a:buNone/>
            </a:pPr>
            <a:r>
              <a:rPr lang="en-US" sz="1600" dirty="0">
                <a:solidFill>
                  <a:srgbClr val="000000"/>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int</a:t>
            </a:r>
            <a:r>
              <a:rPr lang="en-US" sz="1600" dirty="0">
                <a:solidFill>
                  <a:srgbClr val="000000"/>
                </a:solidFill>
                <a:highlight>
                  <a:srgbClr val="FFFFFF"/>
                </a:highlight>
                <a:latin typeface="Consolas" panose="020B0609020204030204" pitchFamily="49" charset="0"/>
              </a:rPr>
              <a:t>[] </a:t>
            </a:r>
            <a:r>
              <a:rPr lang="en-US" sz="1600" dirty="0" err="1">
                <a:solidFill>
                  <a:srgbClr val="000000"/>
                </a:solidFill>
                <a:highlight>
                  <a:srgbClr val="FFFFFF"/>
                </a:highlight>
                <a:latin typeface="Consolas" panose="020B0609020204030204" pitchFamily="49" charset="0"/>
              </a:rPr>
              <a:t>oldData</a:t>
            </a:r>
            <a:r>
              <a:rPr lang="en-US" sz="1600" dirty="0">
                <a:solidFill>
                  <a:srgbClr val="000000"/>
                </a:solidFill>
                <a:highlight>
                  <a:srgbClr val="FFFFFF"/>
                </a:highlight>
                <a:latin typeface="Consolas" panose="020B0609020204030204" pitchFamily="49" charset="0"/>
              </a:rPr>
              <a:t> = data;</a:t>
            </a:r>
          </a:p>
          <a:p>
            <a:pPr marL="0" indent="0">
              <a:buNone/>
            </a:pPr>
            <a:r>
              <a:rPr lang="en-US" sz="1600" dirty="0">
                <a:solidFill>
                  <a:srgbClr val="000000"/>
                </a:solidFill>
                <a:highlight>
                  <a:srgbClr val="FFFFFF"/>
                </a:highlight>
                <a:latin typeface="Consolas" panose="020B0609020204030204" pitchFamily="49" charset="0"/>
              </a:rPr>
              <a:t>    data = </a:t>
            </a:r>
            <a:r>
              <a:rPr lang="en-US" sz="1600" dirty="0">
                <a:solidFill>
                  <a:srgbClr val="0000FF"/>
                </a:solidFill>
                <a:highlight>
                  <a:srgbClr val="FFFFFF"/>
                </a:highlight>
                <a:latin typeface="Consolas" panose="020B0609020204030204" pitchFamily="49" charset="0"/>
              </a:rPr>
              <a:t>new int</a:t>
            </a:r>
            <a:r>
              <a:rPr lang="en-US" sz="1600" dirty="0">
                <a:solidFill>
                  <a:srgbClr val="000000"/>
                </a:solidFill>
                <a:highlight>
                  <a:srgbClr val="FFFFFF"/>
                </a:highlight>
                <a:latin typeface="Consolas" panose="020B0609020204030204" pitchFamily="49" charset="0"/>
              </a:rPr>
              <a:t>[</a:t>
            </a:r>
            <a:r>
              <a:rPr lang="en-US" sz="1600" dirty="0" err="1">
                <a:solidFill>
                  <a:srgbClr val="000000"/>
                </a:solidFill>
                <a:highlight>
                  <a:srgbClr val="FFFFFF"/>
                </a:highlight>
                <a:latin typeface="Consolas" panose="020B0609020204030204" pitchFamily="49" charset="0"/>
              </a:rPr>
              <a:t>data.length</a:t>
            </a:r>
            <a:r>
              <a:rPr lang="en-US" sz="1600" dirty="0">
                <a:solidFill>
                  <a:srgbClr val="000000"/>
                </a:solidFill>
                <a:highlight>
                  <a:srgbClr val="FFFFFF"/>
                </a:highlight>
                <a:latin typeface="Consolas" panose="020B0609020204030204" pitchFamily="49" charset="0"/>
              </a:rPr>
              <a:t>*</a:t>
            </a:r>
            <a:r>
              <a:rPr lang="en-US" sz="1600" dirty="0">
                <a:solidFill>
                  <a:srgbClr val="098658"/>
                </a:solidFill>
                <a:highlight>
                  <a:srgbClr val="FFFFFF"/>
                </a:highlight>
                <a:latin typeface="Consolas" panose="020B0609020204030204" pitchFamily="49" charset="0"/>
              </a:rPr>
              <a:t>2</a:t>
            </a:r>
            <a:r>
              <a:rPr lang="en-US" sz="1600" dirty="0">
                <a:solidFill>
                  <a:srgbClr val="000000"/>
                </a:solidFill>
                <a:highlight>
                  <a:srgbClr val="FFFFFF"/>
                </a:highlight>
                <a:latin typeface="Consolas" panose="020B0609020204030204" pitchFamily="49" charset="0"/>
              </a:rPr>
              <a:t>];</a:t>
            </a:r>
          </a:p>
          <a:p>
            <a:pPr marL="0" indent="0">
              <a:buNone/>
            </a:pPr>
            <a:r>
              <a:rPr lang="en-US" sz="1600" dirty="0">
                <a:solidFill>
                  <a:srgbClr val="000000"/>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for</a:t>
            </a:r>
            <a:r>
              <a:rPr lang="en-US" sz="1600" dirty="0">
                <a:solidFill>
                  <a:srgbClr val="000000"/>
                </a:solidFill>
                <a:highlight>
                  <a:srgbClr val="FFFFFF"/>
                </a:highlight>
                <a:latin typeface="Consolas" panose="020B0609020204030204" pitchFamily="49" charset="0"/>
              </a:rPr>
              <a:t>(</a:t>
            </a:r>
            <a:r>
              <a:rPr lang="en-US" sz="1600" dirty="0">
                <a:solidFill>
                  <a:srgbClr val="0000FF"/>
                </a:solidFill>
                <a:highlight>
                  <a:srgbClr val="FFFFFF"/>
                </a:highlight>
                <a:latin typeface="Consolas" panose="020B0609020204030204" pitchFamily="49" charset="0"/>
              </a:rPr>
              <a:t>int</a:t>
            </a:r>
            <a:r>
              <a:rPr lang="en-US" sz="1600" dirty="0">
                <a:solidFill>
                  <a:srgbClr val="000000"/>
                </a:solidFill>
                <a:highlight>
                  <a:srgbClr val="FFFFFF"/>
                </a:highlight>
                <a:latin typeface="Consolas" panose="020B0609020204030204" pitchFamily="49" charset="0"/>
              </a:rPr>
              <a:t> </a:t>
            </a:r>
            <a:r>
              <a:rPr lang="en-US" sz="1600" dirty="0" err="1">
                <a:solidFill>
                  <a:srgbClr val="000000"/>
                </a:solidFill>
                <a:highlight>
                  <a:srgbClr val="FFFFFF"/>
                </a:highlight>
                <a:latin typeface="Consolas" panose="020B0609020204030204" pitchFamily="49" charset="0"/>
              </a:rPr>
              <a:t>i</a:t>
            </a:r>
            <a:r>
              <a:rPr lang="en-US" sz="1600" dirty="0">
                <a:solidFill>
                  <a:srgbClr val="000000"/>
                </a:solidFill>
                <a:highlight>
                  <a:srgbClr val="FFFFFF"/>
                </a:highlight>
                <a:latin typeface="Consolas" panose="020B0609020204030204" pitchFamily="49" charset="0"/>
              </a:rPr>
              <a:t> = </a:t>
            </a:r>
            <a:r>
              <a:rPr lang="en-US" sz="1600" dirty="0">
                <a:solidFill>
                  <a:srgbClr val="098658"/>
                </a:solidFill>
                <a:highlight>
                  <a:srgbClr val="FFFFFF"/>
                </a:highlight>
                <a:latin typeface="Consolas" panose="020B0609020204030204" pitchFamily="49" charset="0"/>
              </a:rPr>
              <a:t>0</a:t>
            </a:r>
            <a:r>
              <a:rPr lang="en-US" sz="1600" dirty="0">
                <a:solidFill>
                  <a:srgbClr val="000000"/>
                </a:solidFill>
                <a:highlight>
                  <a:srgbClr val="FFFFFF"/>
                </a:highlight>
                <a:latin typeface="Consolas" panose="020B0609020204030204" pitchFamily="49" charset="0"/>
              </a:rPr>
              <a:t>; </a:t>
            </a:r>
            <a:r>
              <a:rPr lang="en-US" sz="1600" dirty="0" err="1">
                <a:solidFill>
                  <a:srgbClr val="000000"/>
                </a:solidFill>
                <a:highlight>
                  <a:srgbClr val="FFFFFF"/>
                </a:highlight>
                <a:latin typeface="Consolas" panose="020B0609020204030204" pitchFamily="49" charset="0"/>
              </a:rPr>
              <a:t>i</a:t>
            </a:r>
            <a:r>
              <a:rPr lang="en-US" sz="1600" dirty="0">
                <a:solidFill>
                  <a:srgbClr val="000000"/>
                </a:solidFill>
                <a:highlight>
                  <a:srgbClr val="FFFFFF"/>
                </a:highlight>
                <a:latin typeface="Consolas" panose="020B0609020204030204" pitchFamily="49" charset="0"/>
              </a:rPr>
              <a:t> &lt; </a:t>
            </a:r>
            <a:r>
              <a:rPr lang="en-US" sz="1600" dirty="0" err="1">
                <a:solidFill>
                  <a:srgbClr val="000000"/>
                </a:solidFill>
                <a:highlight>
                  <a:srgbClr val="FFFFFF"/>
                </a:highlight>
                <a:latin typeface="Consolas" panose="020B0609020204030204" pitchFamily="49" charset="0"/>
              </a:rPr>
              <a:t>oldData.length</a:t>
            </a:r>
            <a:r>
              <a:rPr lang="en-US" sz="1600" dirty="0">
                <a:solidFill>
                  <a:srgbClr val="000000"/>
                </a:solidFill>
                <a:highlight>
                  <a:srgbClr val="FFFFFF"/>
                </a:highlight>
                <a:latin typeface="Consolas" panose="020B0609020204030204" pitchFamily="49" charset="0"/>
              </a:rPr>
              <a:t>; </a:t>
            </a:r>
            <a:r>
              <a:rPr lang="en-US" sz="1600" dirty="0" err="1">
                <a:solidFill>
                  <a:srgbClr val="000000"/>
                </a:solidFill>
                <a:highlight>
                  <a:srgbClr val="FFFFFF"/>
                </a:highlight>
                <a:latin typeface="Consolas" panose="020B0609020204030204" pitchFamily="49" charset="0"/>
              </a:rPr>
              <a:t>i</a:t>
            </a:r>
            <a:r>
              <a:rPr lang="en-US" sz="1600" dirty="0">
                <a:solidFill>
                  <a:srgbClr val="000000"/>
                </a:solidFill>
                <a:highlight>
                  <a:srgbClr val="FFFFFF"/>
                </a:highlight>
                <a:latin typeface="Consolas" panose="020B0609020204030204" pitchFamily="49" charset="0"/>
              </a:rPr>
              <a:t>++)</a:t>
            </a:r>
          </a:p>
          <a:p>
            <a:pPr marL="0" indent="0">
              <a:buNone/>
            </a:pPr>
            <a:r>
              <a:rPr lang="en-US" sz="1600" dirty="0">
                <a:solidFill>
                  <a:srgbClr val="000000"/>
                </a:solidFill>
                <a:highlight>
                  <a:srgbClr val="FFFFFF"/>
                </a:highlight>
                <a:latin typeface="Consolas" panose="020B0609020204030204" pitchFamily="49" charset="0"/>
              </a:rPr>
              <a:t>        data[</a:t>
            </a:r>
            <a:r>
              <a:rPr lang="en-US" sz="1600" dirty="0" err="1">
                <a:solidFill>
                  <a:srgbClr val="000000"/>
                </a:solidFill>
                <a:highlight>
                  <a:srgbClr val="FFFFFF"/>
                </a:highlight>
                <a:latin typeface="Consolas" panose="020B0609020204030204" pitchFamily="49" charset="0"/>
              </a:rPr>
              <a:t>i</a:t>
            </a:r>
            <a:r>
              <a:rPr lang="en-US" sz="1600" dirty="0">
                <a:solidFill>
                  <a:srgbClr val="000000"/>
                </a:solidFill>
                <a:highlight>
                  <a:srgbClr val="FFFFFF"/>
                </a:highlight>
                <a:latin typeface="Consolas" panose="020B0609020204030204" pitchFamily="49" charset="0"/>
              </a:rPr>
              <a:t>] = </a:t>
            </a:r>
            <a:r>
              <a:rPr lang="en-US" sz="1600" dirty="0" err="1">
                <a:solidFill>
                  <a:srgbClr val="000000"/>
                </a:solidFill>
                <a:highlight>
                  <a:srgbClr val="FFFFFF"/>
                </a:highlight>
                <a:latin typeface="Consolas" panose="020B0609020204030204" pitchFamily="49" charset="0"/>
              </a:rPr>
              <a:t>oldData</a:t>
            </a:r>
            <a:r>
              <a:rPr lang="en-US" sz="1600" dirty="0">
                <a:solidFill>
                  <a:srgbClr val="000000"/>
                </a:solidFill>
                <a:highlight>
                  <a:srgbClr val="FFFFFF"/>
                </a:highlight>
                <a:latin typeface="Consolas" panose="020B0609020204030204" pitchFamily="49" charset="0"/>
              </a:rPr>
              <a:t>[</a:t>
            </a:r>
            <a:r>
              <a:rPr lang="en-US" sz="1600" dirty="0" err="1">
                <a:solidFill>
                  <a:srgbClr val="000000"/>
                </a:solidFill>
                <a:highlight>
                  <a:srgbClr val="FFFFFF"/>
                </a:highlight>
                <a:latin typeface="Consolas" panose="020B0609020204030204" pitchFamily="49" charset="0"/>
              </a:rPr>
              <a:t>i</a:t>
            </a:r>
            <a:r>
              <a:rPr lang="en-US" sz="1600" dirty="0">
                <a:solidFill>
                  <a:srgbClr val="000000"/>
                </a:solidFill>
                <a:highlight>
                  <a:srgbClr val="FFFFFF"/>
                </a:highlight>
                <a:latin typeface="Consolas" panose="020B0609020204030204" pitchFamily="49" charset="0"/>
              </a:rPr>
              <a:t>];</a:t>
            </a:r>
          </a:p>
          <a:p>
            <a:pPr marL="0" indent="0">
              <a:buNone/>
            </a:pPr>
            <a:r>
              <a:rPr lang="en-US" sz="1600" dirty="0">
                <a:solidFill>
                  <a:srgbClr val="000000"/>
                </a:solidFill>
                <a:highlight>
                  <a:srgbClr val="FFFFFF"/>
                </a:highlight>
                <a:latin typeface="Consolas" panose="020B0609020204030204" pitchFamily="49" charset="0"/>
              </a:rPr>
              <a:t>}</a:t>
            </a:r>
            <a:endParaRPr lang="en-US" sz="1600" dirty="0">
              <a:highlight>
                <a:srgbClr val="FFFFFF"/>
              </a:highlight>
            </a:endParaRPr>
          </a:p>
        </p:txBody>
      </p:sp>
      <p:grpSp>
        <p:nvGrpSpPr>
          <p:cNvPr id="10" name="Group 9" descr="In the resize method, we double the length of the array using the line:&#10;&#10;data = new int[data.length*2];&#10;&#10;By making the choice to double, we guarantee we will not have to do any more resizing until the size of the ArrayList has double.">
            <a:extLst>
              <a:ext uri="{FF2B5EF4-FFF2-40B4-BE49-F238E27FC236}">
                <a16:creationId xmlns:a16="http://schemas.microsoft.com/office/drawing/2014/main" id="{9C129402-4FE1-5B72-A11C-459E5ABFB08C}"/>
              </a:ext>
            </a:extLst>
          </p:cNvPr>
          <p:cNvGrpSpPr/>
          <p:nvPr/>
        </p:nvGrpSpPr>
        <p:grpSpPr>
          <a:xfrm>
            <a:off x="3603084" y="4899991"/>
            <a:ext cx="2975957" cy="1873574"/>
            <a:chOff x="3603084" y="4899991"/>
            <a:chExt cx="2975957" cy="1873574"/>
          </a:xfrm>
        </p:grpSpPr>
        <p:cxnSp>
          <p:nvCxnSpPr>
            <p:cNvPr id="7" name="Straight Arrow Connector 6">
              <a:extLst>
                <a:ext uri="{FF2B5EF4-FFF2-40B4-BE49-F238E27FC236}">
                  <a16:creationId xmlns:a16="http://schemas.microsoft.com/office/drawing/2014/main" id="{1CA4A632-C2AC-7864-4F4E-4A5F61D15BA8}"/>
                </a:ext>
              </a:extLst>
            </p:cNvPr>
            <p:cNvCxnSpPr>
              <a:cxnSpLocks/>
              <a:stCxn id="3" idx="0"/>
            </p:cNvCxnSpPr>
            <p:nvPr/>
          </p:nvCxnSpPr>
          <p:spPr>
            <a:xfrm flipH="1" flipV="1">
              <a:off x="3856383" y="4899991"/>
              <a:ext cx="1234680" cy="95024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16D5D4F1-8370-387D-F6D8-21C5C80D4F42}"/>
                </a:ext>
              </a:extLst>
            </p:cNvPr>
            <p:cNvSpPr txBox="1"/>
            <p:nvPr/>
          </p:nvSpPr>
          <p:spPr>
            <a:xfrm>
              <a:off x="3603084" y="5850235"/>
              <a:ext cx="2975957" cy="923330"/>
            </a:xfrm>
            <a:prstGeom prst="rect">
              <a:avLst/>
            </a:prstGeom>
            <a:noFill/>
            <a:ln>
              <a:solidFill>
                <a:srgbClr val="FF0000"/>
              </a:solidFill>
            </a:ln>
          </p:spPr>
          <p:txBody>
            <a:bodyPr wrap="square" rtlCol="0">
              <a:spAutoFit/>
            </a:bodyPr>
            <a:lstStyle/>
            <a:p>
              <a:r>
                <a:rPr lang="en-US" dirty="0">
                  <a:solidFill>
                    <a:srgbClr val="FF0000"/>
                  </a:solidFill>
                </a:rPr>
                <a:t>Every time we resize, we earn </a:t>
              </a:r>
              <a:r>
                <a:rPr lang="en-US" dirty="0" err="1">
                  <a:solidFill>
                    <a:srgbClr val="FF0000"/>
                  </a:solidFill>
                  <a:latin typeface="Consolas" panose="020B0609020204030204" pitchFamily="49" charset="0"/>
                </a:rPr>
                <a:t>data.length</a:t>
              </a:r>
              <a:r>
                <a:rPr lang="en-US" dirty="0">
                  <a:solidFill>
                    <a:srgbClr val="FF0000"/>
                  </a:solidFill>
                </a:rPr>
                <a:t> more adds before the next resize!</a:t>
              </a:r>
            </a:p>
          </p:txBody>
        </p:sp>
      </p:gr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015840F2-52BA-DB0C-15EC-2298E887A62B}"/>
                  </a:ext>
                </a:extLst>
              </p:cNvPr>
              <p:cNvSpPr>
                <a:spLocks noGrp="1"/>
              </p:cNvSpPr>
              <p:nvPr>
                <p:ph sz="half" idx="2"/>
              </p:nvPr>
            </p:nvSpPr>
            <p:spPr/>
            <p:txBody>
              <a:bodyPr>
                <a:normAutofit/>
              </a:bodyPr>
              <a:lstStyle/>
              <a:p>
                <a:r>
                  <a:rPr lang="en-US" dirty="0"/>
                  <a:t>Amortized Analysis Idea:</a:t>
                </a:r>
              </a:p>
              <a:p>
                <a:pPr lvl="1"/>
                <a:r>
                  <a:rPr lang="en-US" dirty="0"/>
                  <a:t>Suppose we have a program that in total does </a:t>
                </a:r>
                <a14:m>
                  <m:oMath xmlns:m="http://schemas.openxmlformats.org/officeDocument/2006/math">
                    <m:r>
                      <a:rPr lang="en-US" b="0" i="1" smtClean="0">
                        <a:latin typeface="Cambria Math" panose="02040503050406030204" pitchFamily="18" charset="0"/>
                      </a:rPr>
                      <m:t>𝑛</m:t>
                    </m:r>
                  </m:oMath>
                </a14:m>
                <a:r>
                  <a:rPr lang="en-US" dirty="0"/>
                  <a:t> adds.</a:t>
                </a:r>
              </a:p>
              <a:p>
                <a:pPr lvl="1"/>
                <a:r>
                  <a:rPr lang="en-US" dirty="0"/>
                  <a:t>How much time was spent “on average” across all </a:t>
                </a:r>
                <a14:m>
                  <m:oMath xmlns:m="http://schemas.openxmlformats.org/officeDocument/2006/math">
                    <m:r>
                      <a:rPr lang="en-US" b="0" i="1" smtClean="0">
                        <a:latin typeface="Cambria Math" panose="02040503050406030204" pitchFamily="18" charset="0"/>
                      </a:rPr>
                      <m:t>𝑛</m:t>
                    </m:r>
                  </m:oMath>
                </a14:m>
                <a:r>
                  <a:rPr lang="en-US" dirty="0"/>
                  <a:t>?</a:t>
                </a:r>
              </a:p>
              <a:p>
                <a:r>
                  <a:rPr lang="en-US" dirty="0"/>
                  <a:t>Let </a:t>
                </a:r>
                <a14:m>
                  <m:oMath xmlns:m="http://schemas.openxmlformats.org/officeDocument/2006/math">
                    <m:r>
                      <a:rPr lang="en-US" b="0" i="1" smtClean="0">
                        <a:latin typeface="Cambria Math" panose="02040503050406030204" pitchFamily="18" charset="0"/>
                      </a:rPr>
                      <m:t>𝑐</m:t>
                    </m:r>
                  </m:oMath>
                </a14:m>
                <a:r>
                  <a:rPr lang="en-US" dirty="0"/>
                  <a:t> be the initial size of </a:t>
                </a:r>
                <a:r>
                  <a:rPr lang="en-US" dirty="0">
                    <a:latin typeface="Consolas" panose="020B0609020204030204" pitchFamily="49" charset="0"/>
                  </a:rPr>
                  <a:t>data</a:t>
                </a:r>
              </a:p>
              <a:p>
                <a:pPr lvl="1"/>
                <a:r>
                  <a:rPr lang="en-US" dirty="0"/>
                  <a:t>The first </a:t>
                </a:r>
                <a14:m>
                  <m:oMath xmlns:m="http://schemas.openxmlformats.org/officeDocument/2006/math">
                    <m:r>
                      <a:rPr lang="en-US" b="0" i="1" smtClean="0">
                        <a:latin typeface="Cambria Math" panose="02040503050406030204" pitchFamily="18" charset="0"/>
                      </a:rPr>
                      <m:t>𝑐</m:t>
                    </m:r>
                  </m:oMath>
                </a14:m>
                <a:r>
                  <a:rPr lang="en-US" dirty="0"/>
                  <a:t> adds take: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=2</m:t>
                    </m:r>
                    <m:r>
                      <a:rPr lang="en-US" b="0" i="1" smtClean="0">
                        <a:latin typeface="Cambria Math" panose="02040503050406030204" pitchFamily="18" charset="0"/>
                      </a:rPr>
                      <m:t>𝑐</m:t>
                    </m:r>
                  </m:oMath>
                </a14:m>
                <a:endParaRPr lang="en-US" dirty="0"/>
              </a:p>
              <a:p>
                <a:pPr lvl="1"/>
                <a:r>
                  <a:rPr lang="en-US" dirty="0"/>
                  <a:t>The next </a:t>
                </a:r>
                <a14:m>
                  <m:oMath xmlns:m="http://schemas.openxmlformats.org/officeDocument/2006/math">
                    <m:r>
                      <a:rPr lang="en-US" b="0" i="1" smtClean="0">
                        <a:latin typeface="Cambria Math" panose="02040503050406030204" pitchFamily="18" charset="0"/>
                      </a:rPr>
                      <m:t>2</m:t>
                    </m:r>
                    <m:r>
                      <a:rPr lang="en-US" b="0" i="1" smtClean="0">
                        <a:latin typeface="Cambria Math" panose="02040503050406030204" pitchFamily="18" charset="0"/>
                      </a:rPr>
                      <m:t>𝑐</m:t>
                    </m:r>
                  </m:oMath>
                </a14:m>
                <a:r>
                  <a:rPr lang="en-US" dirty="0"/>
                  <a:t> adds: </a:t>
                </a:r>
                <a14:m>
                  <m:oMath xmlns:m="http://schemas.openxmlformats.org/officeDocument/2006/math">
                    <m:r>
                      <a:rPr lang="en-US" b="0" i="1" smtClean="0">
                        <a:latin typeface="Cambria Math" panose="02040503050406030204" pitchFamily="18" charset="0"/>
                      </a:rPr>
                      <m:t>2</m:t>
                    </m:r>
                    <m:r>
                      <a:rPr lang="en-US" b="0" i="1" smtClean="0">
                        <a:latin typeface="Cambria Math" panose="02040503050406030204" pitchFamily="18" charset="0"/>
                      </a:rPr>
                      <m:t>𝑐</m:t>
                    </m:r>
                    <m:r>
                      <a:rPr lang="en-US" b="0" i="1" smtClean="0">
                        <a:latin typeface="Cambria Math" panose="02040503050406030204" pitchFamily="18" charset="0"/>
                      </a:rPr>
                      <m:t>+2</m:t>
                    </m:r>
                    <m:r>
                      <a:rPr lang="en-US" b="0" i="1" smtClean="0">
                        <a:latin typeface="Cambria Math" panose="02040503050406030204" pitchFamily="18" charset="0"/>
                      </a:rPr>
                      <m:t>𝑐</m:t>
                    </m:r>
                    <m:r>
                      <a:rPr lang="en-US" b="0" i="1" smtClean="0">
                        <a:latin typeface="Cambria Math" panose="02040503050406030204" pitchFamily="18" charset="0"/>
                      </a:rPr>
                      <m:t>=4</m:t>
                    </m:r>
                    <m:r>
                      <a:rPr lang="en-US" b="0" i="1" smtClean="0">
                        <a:latin typeface="Cambria Math" panose="02040503050406030204" pitchFamily="18" charset="0"/>
                      </a:rPr>
                      <m:t>𝑐</m:t>
                    </m:r>
                  </m:oMath>
                </a14:m>
                <a:endParaRPr lang="en-US" dirty="0"/>
              </a:p>
              <a:p>
                <a:pPr lvl="1"/>
                <a:r>
                  <a:rPr lang="en-US" dirty="0"/>
                  <a:t>The next </a:t>
                </a:r>
                <a14:m>
                  <m:oMath xmlns:m="http://schemas.openxmlformats.org/officeDocument/2006/math">
                    <m:r>
                      <a:rPr lang="en-US" b="0" i="1" smtClean="0">
                        <a:latin typeface="Cambria Math" panose="02040503050406030204" pitchFamily="18" charset="0"/>
                      </a:rPr>
                      <m:t>4</m:t>
                    </m:r>
                    <m:r>
                      <a:rPr lang="en-US" b="0" i="1" smtClean="0">
                        <a:latin typeface="Cambria Math" panose="02040503050406030204" pitchFamily="18" charset="0"/>
                      </a:rPr>
                      <m:t>𝑐</m:t>
                    </m:r>
                  </m:oMath>
                </a14:m>
                <a:r>
                  <a:rPr lang="en-US" dirty="0"/>
                  <a:t> adds: </a:t>
                </a:r>
                <a14:m>
                  <m:oMath xmlns:m="http://schemas.openxmlformats.org/officeDocument/2006/math">
                    <m:r>
                      <a:rPr lang="en-US" b="0" i="1" smtClean="0">
                        <a:latin typeface="Cambria Math" panose="02040503050406030204" pitchFamily="18" charset="0"/>
                      </a:rPr>
                      <m:t>4</m:t>
                    </m:r>
                    <m:r>
                      <a:rPr lang="en-US" b="0" i="1" smtClean="0">
                        <a:latin typeface="Cambria Math" panose="02040503050406030204" pitchFamily="18" charset="0"/>
                      </a:rPr>
                      <m:t>𝑐</m:t>
                    </m:r>
                    <m:r>
                      <a:rPr lang="en-US" b="0" i="1" smtClean="0">
                        <a:latin typeface="Cambria Math" panose="02040503050406030204" pitchFamily="18" charset="0"/>
                      </a:rPr>
                      <m:t>+4</m:t>
                    </m:r>
                    <m:r>
                      <a:rPr lang="en-US" b="0" i="1" smtClean="0">
                        <a:latin typeface="Cambria Math" panose="02040503050406030204" pitchFamily="18" charset="0"/>
                      </a:rPr>
                      <m:t>𝑐</m:t>
                    </m:r>
                    <m:r>
                      <a:rPr lang="en-US" b="0" i="1" smtClean="0">
                        <a:latin typeface="Cambria Math" panose="02040503050406030204" pitchFamily="18" charset="0"/>
                      </a:rPr>
                      <m:t>=8</m:t>
                    </m:r>
                    <m:r>
                      <a:rPr lang="en-US" b="0" i="1" smtClean="0">
                        <a:latin typeface="Cambria Math" panose="02040503050406030204" pitchFamily="18" charset="0"/>
                      </a:rPr>
                      <m:t>𝑐</m:t>
                    </m:r>
                  </m:oMath>
                </a14:m>
                <a:endParaRPr lang="en-US" dirty="0"/>
              </a:p>
              <a:p>
                <a:pPr lvl="1"/>
                <a:r>
                  <a:rPr lang="en-US" dirty="0"/>
                  <a:t>Overall: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14</m:t>
                        </m:r>
                        <m:r>
                          <a:rPr lang="en-US" b="0" i="1" smtClean="0">
                            <a:latin typeface="Cambria Math" panose="02040503050406030204" pitchFamily="18" charset="0"/>
                          </a:rPr>
                          <m:t>𝑐</m:t>
                        </m:r>
                      </m:num>
                      <m:den>
                        <m:r>
                          <a:rPr lang="en-US" b="0" i="1" smtClean="0">
                            <a:latin typeface="Cambria Math" panose="02040503050406030204" pitchFamily="18" charset="0"/>
                          </a:rPr>
                          <m:t>7</m:t>
                        </m:r>
                        <m:r>
                          <a:rPr lang="en-US" b="0" i="1" smtClean="0">
                            <a:latin typeface="Cambria Math" panose="02040503050406030204" pitchFamily="18" charset="0"/>
                          </a:rPr>
                          <m:t>𝑐</m:t>
                        </m:r>
                      </m:den>
                    </m:f>
                    <m:r>
                      <a:rPr lang="en-US" b="0" i="1" smtClean="0">
                        <a:latin typeface="Cambria Math" panose="02040503050406030204" pitchFamily="18" charset="0"/>
                      </a:rPr>
                      <m:t>=2</m:t>
                    </m:r>
                    <m:r>
                      <a:rPr lang="en-US" b="0" i="1" smtClean="0">
                        <a:latin typeface="Cambria Math" panose="02040503050406030204" pitchFamily="18" charset="0"/>
                      </a:rPr>
                      <m:t>𝑐</m:t>
                    </m:r>
                  </m:oMath>
                </a14:m>
                <a:endParaRPr lang="en-US" dirty="0"/>
              </a:p>
            </p:txBody>
          </p:sp>
        </mc:Choice>
        <mc:Fallback xmlns="">
          <p:sp>
            <p:nvSpPr>
              <p:cNvPr id="4" name="Content Placeholder 3">
                <a:extLst>
                  <a:ext uri="{FF2B5EF4-FFF2-40B4-BE49-F238E27FC236}">
                    <a16:creationId xmlns:a16="http://schemas.microsoft.com/office/drawing/2014/main" id="{015840F2-52BA-DB0C-15EC-2298E887A62B}"/>
                  </a:ext>
                </a:extLst>
              </p:cNvPr>
              <p:cNvSpPr>
                <a:spLocks noGrp="1" noRot="1" noChangeAspect="1" noMove="1" noResize="1" noEditPoints="1" noAdjustHandles="1" noChangeArrowheads="1" noChangeShapeType="1" noTextEdit="1"/>
              </p:cNvSpPr>
              <p:nvPr>
                <p:ph sz="half" idx="2"/>
              </p:nvPr>
            </p:nvSpPr>
            <p:spPr>
              <a:blipFill>
                <a:blip r:embed="rId3"/>
                <a:stretch>
                  <a:fillRect l="-2118" t="-2241"/>
                </a:stretch>
              </a:blipFill>
            </p:spPr>
            <p:txBody>
              <a:bodyPr/>
              <a:lstStyle/>
              <a:p>
                <a:r>
                  <a:rPr lang="en-US">
                    <a:noFill/>
                  </a:rPr>
                  <a:t> </a:t>
                </a:r>
              </a:p>
            </p:txBody>
          </p:sp>
        </mc:Fallback>
      </mc:AlternateContent>
    </p:spTree>
    <p:extLst>
      <p:ext uri="{BB962C8B-B14F-4D97-AF65-F5344CB8AC3E}">
        <p14:creationId xmlns:p14="http://schemas.microsoft.com/office/powerpoint/2010/main" val="3498627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37711-2C9F-C400-7B2E-F7113BCCD397}"/>
              </a:ext>
            </a:extLst>
          </p:cNvPr>
          <p:cNvSpPr>
            <a:spLocks noGrp="1"/>
          </p:cNvSpPr>
          <p:nvPr>
            <p:ph type="title"/>
          </p:nvPr>
        </p:nvSpPr>
        <p:spPr/>
        <p:txBody>
          <a:bodyPr/>
          <a:lstStyle/>
          <a:p>
            <a:r>
              <a:rPr lang="en-US" dirty="0"/>
              <a:t>Amortized Analysis Analogy</a:t>
            </a:r>
          </a:p>
        </p:txBody>
      </p:sp>
      <p:sp>
        <p:nvSpPr>
          <p:cNvPr id="3" name="Content Placeholder 2">
            <a:extLst>
              <a:ext uri="{FF2B5EF4-FFF2-40B4-BE49-F238E27FC236}">
                <a16:creationId xmlns:a16="http://schemas.microsoft.com/office/drawing/2014/main" id="{E995483E-FA76-F83C-AF97-9517E9B1D9AB}"/>
              </a:ext>
            </a:extLst>
          </p:cNvPr>
          <p:cNvSpPr>
            <a:spLocks noGrp="1"/>
          </p:cNvSpPr>
          <p:nvPr>
            <p:ph idx="1"/>
          </p:nvPr>
        </p:nvSpPr>
        <p:spPr/>
        <p:txBody>
          <a:bodyPr/>
          <a:lstStyle/>
          <a:p>
            <a:r>
              <a:rPr lang="en-US" dirty="0"/>
              <a:t>Suppose I’d like to park in a lot where they charge $10 per day to park</a:t>
            </a:r>
          </a:p>
          <a:p>
            <a:r>
              <a:rPr lang="en-US" dirty="0"/>
              <a:t>If you are caught in the lot without paying you are given a warning</a:t>
            </a:r>
          </a:p>
          <a:p>
            <a:r>
              <a:rPr lang="en-US" dirty="0"/>
              <a:t>If you get 3 warnings, you are charged a $25 fine, and your warnings reset.</a:t>
            </a:r>
          </a:p>
          <a:p>
            <a:r>
              <a:rPr lang="en-US" dirty="0"/>
              <a:t>Should you actually pay to park?</a:t>
            </a:r>
          </a:p>
          <a:p>
            <a:pPr lvl="1"/>
            <a:r>
              <a:rPr lang="en-US" dirty="0"/>
              <a:t>If you pay every day then you pay an average of $10 per day</a:t>
            </a:r>
          </a:p>
          <a:p>
            <a:pPr lvl="1"/>
            <a:r>
              <a:rPr lang="en-US" dirty="0"/>
              <a:t>If you do not pay then for every three </a:t>
            </a:r>
            <a:r>
              <a:rPr lang="en-US"/>
              <a:t>days parking costs $</a:t>
            </a:r>
            <a:r>
              <a:rPr lang="en-US" dirty="0"/>
              <a:t>0+$0+$25, for an average of $8.33 per day</a:t>
            </a:r>
          </a:p>
          <a:p>
            <a:pPr lvl="2"/>
            <a:r>
              <a:rPr lang="en-US" dirty="0"/>
              <a:t>This is an amortized analysis</a:t>
            </a:r>
          </a:p>
        </p:txBody>
      </p:sp>
    </p:spTree>
    <p:extLst>
      <p:ext uri="{BB962C8B-B14F-4D97-AF65-F5344CB8AC3E}">
        <p14:creationId xmlns:p14="http://schemas.microsoft.com/office/powerpoint/2010/main" val="9487375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9632</TotalTime>
  <Words>2798</Words>
  <Application>Microsoft Office PowerPoint</Application>
  <PresentationFormat>Widescreen</PresentationFormat>
  <Paragraphs>467</Paragraphs>
  <Slides>33</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Aptos</vt:lpstr>
      <vt:lpstr>Calibri Light</vt:lpstr>
      <vt:lpstr>Cascadia Code</vt:lpstr>
      <vt:lpstr>Consolas</vt:lpstr>
      <vt:lpstr>Arial</vt:lpstr>
      <vt:lpstr>Calibri</vt:lpstr>
      <vt:lpstr>Cambria Math</vt:lpstr>
      <vt:lpstr>Office Theme</vt:lpstr>
      <vt:lpstr>CSE 332 Spring 2026 Lecture 2: Algorithm Analysis pt.1</vt:lpstr>
      <vt:lpstr>Announcements</vt:lpstr>
      <vt:lpstr>ADT: Queue</vt:lpstr>
      <vt:lpstr>Linked Queue Data Structure (Idea)</vt:lpstr>
      <vt:lpstr>Linked Queue Data Structure (Algorithms)</vt:lpstr>
      <vt:lpstr>“Circular” Array Queue (Idea)</vt:lpstr>
      <vt:lpstr>“Circular” Array</vt:lpstr>
      <vt:lpstr>“Circular” Array Queue (Algorithms)</vt:lpstr>
      <vt:lpstr>Resizing “Circular” Array Queue</vt:lpstr>
      <vt:lpstr>Linked Nodes vs. Circular Array</vt:lpstr>
      <vt:lpstr>ADT: Stack</vt:lpstr>
      <vt:lpstr>Motivating Example</vt:lpstr>
      <vt:lpstr>Let’s design an algorithm</vt:lpstr>
      <vt:lpstr>Algorithm Ideas</vt:lpstr>
      <vt:lpstr>My Approach</vt:lpstr>
      <vt:lpstr>End-of-Yarn Finding Algorithm</vt:lpstr>
      <vt:lpstr>Resource Analysis</vt:lpstr>
      <vt:lpstr>Why do resource analysis?</vt:lpstr>
      <vt:lpstr>Process for resource Analysis</vt:lpstr>
      <vt:lpstr>Resource Analysis – Worst Case Running Time</vt:lpstr>
      <vt:lpstr>Resource Analysis – Best Case Running Time</vt:lpstr>
      <vt:lpstr>Resource Analysis – Worst Case Space</vt:lpstr>
      <vt:lpstr>Analysis Process From 123/143</vt:lpstr>
      <vt:lpstr>Analysis Process For Us</vt:lpstr>
      <vt:lpstr>Worst Case – Example 1 (Questions)</vt:lpstr>
      <vt:lpstr>Worst Case – Example 1 (Answers)</vt:lpstr>
      <vt:lpstr>Worst Case – Example 2 (Questions)</vt:lpstr>
      <vt:lpstr>Worst Case – Example 2 (Answers)</vt:lpstr>
      <vt:lpstr>Worst Case Running Time – General Guide</vt:lpstr>
      <vt:lpstr>Defining your running time function</vt:lpstr>
      <vt:lpstr>ArrayList - Worst Case Time of Add</vt:lpstr>
      <vt:lpstr>ArrayList – Amortized Time of Add</vt:lpstr>
      <vt:lpstr>Amortized Analysis Analogy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Spring 2026 Lecture 2</dc:title>
  <dc:creator>Nathan Brunelle</dc:creator>
  <cp:lastModifiedBy>Nathan Brunelle</cp:lastModifiedBy>
  <cp:revision>62</cp:revision>
  <dcterms:created xsi:type="dcterms:W3CDTF">2023-09-26T20:08:20Z</dcterms:created>
  <dcterms:modified xsi:type="dcterms:W3CDTF">2026-04-03T18:50:01Z</dcterms:modified>
</cp:coreProperties>
</file>