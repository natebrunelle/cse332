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7" r:id="rId2"/>
    <p:sldId id="399" r:id="rId3"/>
    <p:sldId id="400" r:id="rId4"/>
    <p:sldId id="401" r:id="rId5"/>
    <p:sldId id="402" r:id="rId6"/>
    <p:sldId id="403" r:id="rId7"/>
    <p:sldId id="409" r:id="rId8"/>
    <p:sldId id="405" r:id="rId9"/>
    <p:sldId id="406" r:id="rId10"/>
    <p:sldId id="410" r:id="rId11"/>
    <p:sldId id="408" r:id="rId12"/>
    <p:sldId id="258" r:id="rId13"/>
    <p:sldId id="259" r:id="rId14"/>
    <p:sldId id="327" r:id="rId15"/>
    <p:sldId id="328" r:id="rId16"/>
    <p:sldId id="329" r:id="rId17"/>
    <p:sldId id="330" r:id="rId18"/>
    <p:sldId id="331" r:id="rId19"/>
    <p:sldId id="264" r:id="rId20"/>
    <p:sldId id="260" r:id="rId21"/>
    <p:sldId id="332" r:id="rId22"/>
    <p:sldId id="333" r:id="rId23"/>
    <p:sldId id="261" r:id="rId24"/>
    <p:sldId id="324" r:id="rId25"/>
    <p:sldId id="325" r:id="rId26"/>
    <p:sldId id="326" r:id="rId27"/>
    <p:sldId id="269" r:id="rId28"/>
    <p:sldId id="270" r:id="rId29"/>
    <p:sldId id="271" r:id="rId30"/>
    <p:sldId id="272" r:id="rId31"/>
    <p:sldId id="273" r:id="rId32"/>
    <p:sldId id="274" r:id="rId33"/>
    <p:sldId id="276" r:id="rId34"/>
    <p:sldId id="334" r:id="rId35"/>
    <p:sldId id="277" r:id="rId36"/>
    <p:sldId id="278" r:id="rId37"/>
  </p:sldIdLst>
  <p:sldSz cx="12192000" cy="6858000"/>
  <p:notesSz cx="6858000" cy="9144000"/>
  <p:embeddedFontLst>
    <p:embeddedFont>
      <p:font typeface="Cambria Math" panose="02040503050406030204" pitchFamily="18"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58" d="100"/>
          <a:sy n="58" d="100"/>
        </p:scale>
        <p:origin x="7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10</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22</a:t>
            </a:r>
            <a:r>
              <a:rPr lang="en-US"/>
              <a:t>: Amdahl’s </a:t>
            </a:r>
            <a:r>
              <a:rPr lang="en-US" dirty="0"/>
              <a:t>Law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6129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sequential tasks!</a:t>
            </a:r>
          </a:p>
        </p:txBody>
      </p:sp>
      <p:grpSp>
        <p:nvGrpSpPr>
          <p:cNvPr id="15" name="Group 14" descr="An example of a DAG:&#10;&#10;Nodes: 1, 2, 3&#10;Edges: (1,2), (1,3), (3,2)">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3849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a:t>Task Dependency Graph</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a:t>
            </a:r>
          </a:p>
          <a:p>
            <a:pPr lvl="1"/>
            <a:r>
              <a:rPr lang="en-US" dirty="0"/>
              <a:t>This graph depicts a </a:t>
            </a:r>
            <a:r>
              <a:rPr lang="en-US" dirty="0" err="1"/>
              <a:t>forkjoin</a:t>
            </a:r>
            <a:r>
              <a:rPr lang="en-US" dirty="0"/>
              <a:t> algorithm. Each step takes constant time.</a:t>
            </a:r>
          </a:p>
          <a:p>
            <a:r>
              <a:rPr lang="en-US" dirty="0"/>
              <a:t>Fork and Join each create a new node</a:t>
            </a:r>
          </a:p>
          <a:p>
            <a:pPr lvl="1"/>
            <a:r>
              <a:rPr lang="en-US" dirty="0"/>
              <a:t>When calling fork/compute</a:t>
            </a:r>
          </a:p>
          <a:p>
            <a:pPr lvl="2"/>
            <a:r>
              <a:rPr lang="en-US" dirty="0"/>
              <a:t>Algorithm creates two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grpSp>
        <p:nvGrpSpPr>
          <p:cNvPr id="17" name="Group 16" descr="An illustration of a task dependency graph for ForkJoin. We have the original task, which then has two parallelizable subtasks, which each have two parallelizable subtasks, etc. This continues on forming a binary tree until we reach our sequential cutoff, where we have a sequential task. Once we compute these base cases, we can then return to the task that invoked them, so there are tasks that depend on two nodes above them, forming an inverted binary tree.&#10;&#10;Overall, the heights of the rightside-up binary tree and an upside-down binary tree are each log(n). The longest path in the DAG gives the span of the algorithm, which will be log(n). The sum of the running time of all of the nodes gives the work, which in this case will be n.">
            <a:extLst>
              <a:ext uri="{FF2B5EF4-FFF2-40B4-BE49-F238E27FC236}">
                <a16:creationId xmlns:a16="http://schemas.microsoft.com/office/drawing/2014/main" id="{F689664F-B415-8F80-42C3-0C09A1556525}"/>
              </a:ext>
            </a:extLst>
          </p:cNvPr>
          <p:cNvGrpSpPr/>
          <p:nvPr/>
        </p:nvGrpSpPr>
        <p:grpSpPr>
          <a:xfrm>
            <a:off x="244262" y="3673015"/>
            <a:ext cx="11858867" cy="3190465"/>
            <a:chOff x="244262" y="3673015"/>
            <a:chExt cx="11858867" cy="3190465"/>
          </a:xfrm>
        </p:grpSpPr>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244262" y="5648271"/>
              <a:ext cx="1925040" cy="923330"/>
            </a:xfrm>
            <a:prstGeom prst="rect">
              <a:avLst/>
            </a:prstGeom>
            <a:noFill/>
          </p:spPr>
          <p:txBody>
            <a:bodyPr wrap="square" rtlCol="0">
              <a:spAutoFit/>
            </a:bodyPr>
            <a:lstStyle/>
            <a:p>
              <a:r>
                <a:rPr lang="en-US" b="1" dirty="0">
                  <a:solidFill>
                    <a:schemeClr val="accent5">
                      <a:lumMod val="75000"/>
                    </a:schemeClr>
                  </a:solidFill>
                </a:rPr>
                <a:t>Work </a:t>
              </a:r>
              <a:r>
                <a:rPr lang="en-US" dirty="0">
                  <a:solidFill>
                    <a:schemeClr val="accent5">
                      <a:lumMod val="75000"/>
                    </a:schemeClr>
                  </a:solidFill>
                </a:rPr>
                <a:t>= sum of the running times of all nodes</a:t>
              </a:r>
            </a:p>
          </p:txBody>
        </p:sp>
        <p:sp>
          <p:nvSpPr>
            <p:cNvPr id="11" name="Right Brace 10">
              <a:extLst>
                <a:ext uri="{FF2B5EF4-FFF2-40B4-BE49-F238E27FC236}">
                  <a16:creationId xmlns:a16="http://schemas.microsoft.com/office/drawing/2014/main" id="{1527CD99-D6AE-3991-E3E6-36BE5475044E}"/>
                </a:ext>
              </a:extLst>
            </p:cNvPr>
            <p:cNvSpPr/>
            <p:nvPr/>
          </p:nvSpPr>
          <p:spPr>
            <a:xfrm rot="10800000">
              <a:off x="2058136" y="3687149"/>
              <a:ext cx="684352" cy="317633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extBox 11">
              <a:extLst>
                <a:ext uri="{FF2B5EF4-FFF2-40B4-BE49-F238E27FC236}">
                  <a16:creationId xmlns:a16="http://schemas.microsoft.com/office/drawing/2014/main" id="{BED5D1DB-0C08-B2E6-5201-7F8536FA901A}"/>
                </a:ext>
              </a:extLst>
            </p:cNvPr>
            <p:cNvSpPr txBox="1"/>
            <p:nvPr/>
          </p:nvSpPr>
          <p:spPr>
            <a:xfrm>
              <a:off x="9720289" y="5748726"/>
              <a:ext cx="1925040" cy="923330"/>
            </a:xfrm>
            <a:prstGeom prst="rect">
              <a:avLst/>
            </a:prstGeom>
            <a:noFill/>
          </p:spPr>
          <p:txBody>
            <a:bodyPr wrap="square" rtlCol="0">
              <a:spAutoFit/>
            </a:bodyPr>
            <a:lstStyle/>
            <a:p>
              <a:r>
                <a:rPr lang="en-US" b="1" dirty="0">
                  <a:solidFill>
                    <a:srgbClr val="FF0000"/>
                  </a:solidFill>
                </a:rPr>
                <a:t>Span </a:t>
              </a:r>
              <a:r>
                <a:rPr lang="en-US" dirty="0">
                  <a:solidFill>
                    <a:srgbClr val="FF0000"/>
                  </a:solidFill>
                </a:rPr>
                <a:t>= longest path from start node to end node.</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43B6269-2CDE-E8D6-8674-36B7C9F37497}"/>
                    </a:ext>
                  </a:extLst>
                </p:cNvPr>
                <p:cNvSpPr txBox="1"/>
                <p:nvPr/>
              </p:nvSpPr>
              <p:spPr>
                <a:xfrm>
                  <a:off x="748772" y="5080298"/>
                  <a:ext cx="1925040" cy="369332"/>
                </a:xfrm>
                <a:prstGeom prst="rect">
                  <a:avLst/>
                </a:prstGeom>
                <a:noFill/>
              </p:spPr>
              <p:txBody>
                <a:bodyPr wrap="square" rtlCol="0">
                  <a:spAutoFit/>
                </a:bodyPr>
                <a:lstStyle/>
                <a:p>
                  <a14:m>
                    <m:oMath xmlns:m="http://schemas.openxmlformats.org/officeDocument/2006/math">
                      <m:r>
                        <m:rPr>
                          <m:sty m:val="p"/>
                        </m:rPr>
                        <a:rPr lang="en-US" b="0" i="0" smtClean="0">
                          <a:solidFill>
                            <a:schemeClr val="accent5">
                              <a:lumMod val="75000"/>
                            </a:schemeClr>
                          </a:solidFill>
                          <a:latin typeface="Cambria Math" panose="02040503050406030204" pitchFamily="18" charset="0"/>
                        </a:rPr>
                        <m:t>Σ</m:t>
                      </m:r>
                    </m:oMath>
                  </a14:m>
                  <a:r>
                    <a:rPr lang="en-US" dirty="0">
                      <a:solidFill>
                        <a:schemeClr val="accent5">
                          <a:lumMod val="75000"/>
                        </a:schemeClr>
                      </a:solidFill>
                    </a:rPr>
                    <a:t> gives work</a:t>
                  </a:r>
                </a:p>
              </p:txBody>
            </p:sp>
          </mc:Choice>
          <mc:Fallback>
            <p:sp>
              <p:nvSpPr>
                <p:cNvPr id="13" name="TextBox 12">
                  <a:extLst>
                    <a:ext uri="{FF2B5EF4-FFF2-40B4-BE49-F238E27FC236}">
                      <a16:creationId xmlns:a16="http://schemas.microsoft.com/office/drawing/2014/main" id="{743B6269-2CDE-E8D6-8674-36B7C9F37497}"/>
                    </a:ext>
                  </a:extLst>
                </p:cNvPr>
                <p:cNvSpPr txBox="1">
                  <a:spLocks noRot="1" noChangeAspect="1" noMove="1" noResize="1" noEditPoints="1" noAdjustHandles="1" noChangeArrowheads="1" noChangeShapeType="1" noTextEdit="1"/>
                </p:cNvSpPr>
                <p:nvPr/>
              </p:nvSpPr>
              <p:spPr>
                <a:xfrm>
                  <a:off x="748772" y="5080298"/>
                  <a:ext cx="1925040" cy="369332"/>
                </a:xfrm>
                <a:prstGeom prst="rect">
                  <a:avLst/>
                </a:prstGeom>
                <a:blipFill>
                  <a:blip r:embed="rId2"/>
                  <a:stretch>
                    <a:fillRect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06EB262-A421-79C1-C23E-F21E68389737}"/>
                    </a:ext>
                  </a:extLst>
                </p:cNvPr>
                <p:cNvSpPr txBox="1"/>
                <p:nvPr/>
              </p:nvSpPr>
              <p:spPr>
                <a:xfrm>
                  <a:off x="9879709" y="5054138"/>
                  <a:ext cx="2223420" cy="369332"/>
                </a:xfrm>
                <a:prstGeom prst="rect">
                  <a:avLst/>
                </a:prstGeom>
                <a:noFill/>
              </p:spPr>
              <p:txBody>
                <a:bodyPr wrap="square" rtlCol="0">
                  <a:spAutoFit/>
                </a:bodyPr>
                <a:lstStyle/>
                <a:p>
                  <a14:m>
                    <m:oMath xmlns:m="http://schemas.openxmlformats.org/officeDocument/2006/math">
                      <m:r>
                        <a:rPr lang="en-US" b="0" i="1" smtClean="0">
                          <a:solidFill>
                            <a:srgbClr val="FF0000"/>
                          </a:solidFill>
                          <a:latin typeface="Cambria Math" panose="02040503050406030204" pitchFamily="18" charset="0"/>
                        </a:rPr>
                        <m:t>𝑚𝑎𝑥</m:t>
                      </m:r>
                    </m:oMath>
                  </a14:m>
                  <a:r>
                    <a:rPr lang="en-US" dirty="0">
                      <a:solidFill>
                        <a:srgbClr val="FF0000"/>
                      </a:solidFill>
                    </a:rPr>
                    <a:t> path gives span</a:t>
                  </a:r>
                </a:p>
              </p:txBody>
            </p:sp>
          </mc:Choice>
          <mc:Fallback>
            <p:sp>
              <p:nvSpPr>
                <p:cNvPr id="14" name="TextBox 13">
                  <a:extLst>
                    <a:ext uri="{FF2B5EF4-FFF2-40B4-BE49-F238E27FC236}">
                      <a16:creationId xmlns:a16="http://schemas.microsoft.com/office/drawing/2014/main" id="{706EB262-A421-79C1-C23E-F21E68389737}"/>
                    </a:ext>
                  </a:extLst>
                </p:cNvPr>
                <p:cNvSpPr txBox="1">
                  <a:spLocks noRot="1" noChangeAspect="1" noMove="1" noResize="1" noEditPoints="1" noAdjustHandles="1" noChangeArrowheads="1" noChangeShapeType="1" noTextEdit="1"/>
                </p:cNvSpPr>
                <p:nvPr/>
              </p:nvSpPr>
              <p:spPr>
                <a:xfrm>
                  <a:off x="9879709" y="5054138"/>
                  <a:ext cx="2223420" cy="369332"/>
                </a:xfrm>
                <a:prstGeom prst="rect">
                  <a:avLst/>
                </a:prstGeom>
                <a:blipFill>
                  <a:blip r:embed="rId3"/>
                  <a:stretch>
                    <a:fillRect t="-8197" b="-24590"/>
                  </a:stretch>
                </a:blipFill>
              </p:spPr>
              <p:txBody>
                <a:bodyPr/>
                <a:lstStyle/>
                <a:p>
                  <a:r>
                    <a:rPr lang="en-US">
                      <a:noFill/>
                    </a:rPr>
                    <a:t> </a:t>
                  </a:r>
                </a:p>
              </p:txBody>
            </p:sp>
          </mc:Fallback>
        </mc:AlternateContent>
      </p:grpSp>
    </p:spTree>
    <p:extLst>
      <p:ext uri="{BB962C8B-B14F-4D97-AF65-F5344CB8AC3E}">
        <p14:creationId xmlns:p14="http://schemas.microsoft.com/office/powerpoint/2010/main" val="152420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p:spTree>
    <p:extLst>
      <p:ext uri="{BB962C8B-B14F-4D97-AF65-F5344CB8AC3E}">
        <p14:creationId xmlns:p14="http://schemas.microsoft.com/office/powerpoint/2010/main" val="358724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p:spTree>
    <p:extLst>
      <p:ext uri="{BB962C8B-B14F-4D97-AF65-F5344CB8AC3E}">
        <p14:creationId xmlns:p14="http://schemas.microsoft.com/office/powerpoint/2010/main" val="1757298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416429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p:spTree>
    <p:extLst>
      <p:ext uri="{BB962C8B-B14F-4D97-AF65-F5344CB8AC3E}">
        <p14:creationId xmlns:p14="http://schemas.microsoft.com/office/powerpoint/2010/main" val="3617113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25292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p:spTree>
    <p:extLst>
      <p:ext uri="{BB962C8B-B14F-4D97-AF65-F5344CB8AC3E}">
        <p14:creationId xmlns:p14="http://schemas.microsoft.com/office/powerpoint/2010/main" val="1839093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DBEA-B255-B4F1-5392-BBC6FEE78133}"/>
              </a:ext>
            </a:extLst>
          </p:cNvPr>
          <p:cNvSpPr>
            <a:spLocks noGrp="1"/>
          </p:cNvSpPr>
          <p:nvPr>
            <p:ph type="title"/>
          </p:nvPr>
        </p:nvSpPr>
        <p:spPr/>
        <p:txBody>
          <a:bodyPr/>
          <a:lstStyle/>
          <a:p>
            <a:r>
              <a:rPr lang="en-US" dirty="0"/>
              <a:t>Memory Sharing With </a:t>
            </a:r>
            <a:r>
              <a:rPr lang="en-US" dirty="0" err="1"/>
              <a:t>ForkJoin</a:t>
            </a:r>
            <a:endParaRPr lang="en-US" dirty="0"/>
          </a:p>
        </p:txBody>
      </p:sp>
      <p:sp>
        <p:nvSpPr>
          <p:cNvPr id="3" name="Content Placeholder 2">
            <a:extLst>
              <a:ext uri="{FF2B5EF4-FFF2-40B4-BE49-F238E27FC236}">
                <a16:creationId xmlns:a16="http://schemas.microsoft.com/office/drawing/2014/main" id="{F05A5F00-415B-C01C-1686-D7BA8B87AB91}"/>
              </a:ext>
            </a:extLst>
          </p:cNvPr>
          <p:cNvSpPr>
            <a:spLocks noGrp="1"/>
          </p:cNvSpPr>
          <p:nvPr>
            <p:ph idx="1"/>
          </p:nvPr>
        </p:nvSpPr>
        <p:spPr/>
        <p:txBody>
          <a:bodyPr/>
          <a:lstStyle/>
          <a:p>
            <a:r>
              <a:rPr lang="en-US" dirty="0"/>
              <a:t>Structure of </a:t>
            </a:r>
            <a:r>
              <a:rPr lang="en-US" dirty="0" err="1"/>
              <a:t>ForkJoin</a:t>
            </a:r>
            <a:r>
              <a:rPr lang="en-US" dirty="0"/>
              <a:t>:</a:t>
            </a:r>
          </a:p>
          <a:p>
            <a:pPr lvl="1"/>
            <a:r>
              <a:rPr lang="en-US" dirty="0"/>
              <a:t>All threads are executing the same algorithm</a:t>
            </a:r>
          </a:p>
          <a:p>
            <a:pPr lvl="1"/>
            <a:r>
              <a:rPr lang="en-US" dirty="0"/>
              <a:t>Each task is responsible for </a:t>
            </a:r>
            <a:r>
              <a:rPr lang="en-US" b="1" dirty="0"/>
              <a:t>its own portion</a:t>
            </a:r>
            <a:r>
              <a:rPr lang="en-US" dirty="0"/>
              <a:t> of the input/output</a:t>
            </a:r>
          </a:p>
          <a:p>
            <a:pPr lvl="1"/>
            <a:r>
              <a:rPr lang="en-US" dirty="0"/>
              <a:t>If one task needs another’s result, use join() to ensure it uses the final answer</a:t>
            </a:r>
          </a:p>
          <a:p>
            <a:endParaRPr lang="en-US" dirty="0"/>
          </a:p>
          <a:p>
            <a:r>
              <a:rPr lang="en-US" dirty="0"/>
              <a:t>This does not help when:</a:t>
            </a:r>
          </a:p>
          <a:p>
            <a:pPr lvl="1"/>
            <a:r>
              <a:rPr lang="en-US" dirty="0"/>
              <a:t>Memory accessed by threads is overlapping or unpredictable </a:t>
            </a:r>
          </a:p>
          <a:p>
            <a:pPr lvl="1"/>
            <a:r>
              <a:rPr lang="en-US" dirty="0"/>
              <a:t>Threads are doing independent tasks using same resources (rather than implementing the same algorithm)</a:t>
            </a:r>
          </a:p>
        </p:txBody>
      </p:sp>
    </p:spTree>
    <p:extLst>
      <p:ext uri="{BB962C8B-B14F-4D97-AF65-F5344CB8AC3E}">
        <p14:creationId xmlns:p14="http://schemas.microsoft.com/office/powerpoint/2010/main" val="256201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7C48-1D14-4508-7D6F-E7B0446DF8A2}"/>
              </a:ext>
            </a:extLst>
          </p:cNvPr>
          <p:cNvSpPr>
            <a:spLocks noGrp="1"/>
          </p:cNvSpPr>
          <p:nvPr>
            <p:ph type="title"/>
          </p:nvPr>
        </p:nvSpPr>
        <p:spPr/>
        <p:txBody>
          <a:bodyPr/>
          <a:lstStyle/>
          <a:p>
            <a:r>
              <a:rPr lang="en-US" dirty="0"/>
              <a:t>Example: Shared Queue</a:t>
            </a:r>
          </a:p>
        </p:txBody>
      </p:sp>
      <p:sp>
        <p:nvSpPr>
          <p:cNvPr id="3" name="Content Placeholder 2">
            <a:extLst>
              <a:ext uri="{FF2B5EF4-FFF2-40B4-BE49-F238E27FC236}">
                <a16:creationId xmlns:a16="http://schemas.microsoft.com/office/drawing/2014/main" id="{7C2177BE-2729-5CFA-92C0-D3D634D7F7C3}"/>
              </a:ext>
            </a:extLst>
          </p:cNvPr>
          <p:cNvSpPr>
            <a:spLocks noGrp="1"/>
          </p:cNvSpPr>
          <p:nvPr>
            <p:ph idx="1"/>
          </p:nvPr>
        </p:nvSpPr>
        <p:spPr/>
        <p:txBody>
          <a:bodyPr>
            <a:normAutofit fontScale="92500" lnSpcReduction="20000"/>
          </a:bodyPr>
          <a:lstStyle/>
          <a:p>
            <a:pPr marL="0" indent="0">
              <a:buNone/>
            </a:pPr>
            <a:r>
              <a:rPr lang="en-US" dirty="0"/>
              <a:t>enqueue(x){</a:t>
            </a:r>
          </a:p>
          <a:p>
            <a:pPr marL="0" indent="0">
              <a:buNone/>
            </a:pPr>
            <a:r>
              <a:rPr lang="en-US" dirty="0"/>
              <a:t>	if ( back == null ){</a:t>
            </a:r>
          </a:p>
          <a:p>
            <a:pPr marL="0" indent="0">
              <a:buNone/>
            </a:pPr>
            <a:r>
              <a:rPr lang="en-US" dirty="0"/>
              <a:t>		back = new Node(x); </a:t>
            </a:r>
          </a:p>
          <a:p>
            <a:pPr marL="0" indent="0">
              <a:buNone/>
            </a:pPr>
            <a:r>
              <a:rPr lang="en-US" dirty="0"/>
              <a:t>		front = back;</a:t>
            </a:r>
          </a:p>
          <a:p>
            <a:pPr marL="0" indent="0">
              <a:buNone/>
            </a:pPr>
            <a:r>
              <a:rPr lang="en-US" dirty="0"/>
              <a:t>	}</a:t>
            </a:r>
          </a:p>
          <a:p>
            <a:pPr marL="0" indent="0">
              <a:buNone/>
            </a:pPr>
            <a:r>
              <a:rPr lang="en-US" dirty="0"/>
              <a:t>	else { </a:t>
            </a:r>
          </a:p>
          <a:p>
            <a:pPr marL="0" indent="0">
              <a:buNone/>
            </a:pPr>
            <a:r>
              <a:rPr lang="en-US" dirty="0"/>
              <a:t>		</a:t>
            </a:r>
            <a:r>
              <a:rPr lang="en-US" dirty="0" err="1"/>
              <a:t>back.next</a:t>
            </a:r>
            <a:r>
              <a:rPr lang="en-US" dirty="0"/>
              <a:t> = new Node(x); </a:t>
            </a:r>
          </a:p>
          <a:p>
            <a:pPr marL="0" indent="0">
              <a:buNone/>
            </a:pPr>
            <a:r>
              <a:rPr lang="en-US" dirty="0"/>
              <a:t>		back = </a:t>
            </a:r>
            <a:r>
              <a:rPr lang="en-US" dirty="0" err="1"/>
              <a:t>back.next</a:t>
            </a:r>
            <a:r>
              <a:rPr lang="en-US" dirty="0"/>
              <a:t>;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50A198D3-0D64-C903-4F5A-6866C97171C2}"/>
              </a:ext>
            </a:extLst>
          </p:cNvPr>
          <p:cNvSpPr txBox="1"/>
          <p:nvPr/>
        </p:nvSpPr>
        <p:spPr>
          <a:xfrm>
            <a:off x="7762240" y="1513840"/>
            <a:ext cx="4267200" cy="1200329"/>
          </a:xfrm>
          <a:prstGeom prst="rect">
            <a:avLst/>
          </a:prstGeom>
          <a:noFill/>
        </p:spPr>
        <p:txBody>
          <a:bodyPr wrap="square" rtlCol="0">
            <a:spAutoFit/>
          </a:bodyPr>
          <a:lstStyle/>
          <a:p>
            <a:r>
              <a:rPr lang="en-US" dirty="0">
                <a:solidFill>
                  <a:srgbClr val="FF0000"/>
                </a:solidFill>
              </a:rPr>
              <a:t>Imagine two threads are both using the same linked list based queue.</a:t>
            </a:r>
          </a:p>
          <a:p>
            <a:endParaRPr lang="en-US" dirty="0">
              <a:solidFill>
                <a:srgbClr val="FF0000"/>
              </a:solidFill>
            </a:endParaRPr>
          </a:p>
          <a:p>
            <a:r>
              <a:rPr lang="en-US" dirty="0">
                <a:solidFill>
                  <a:srgbClr val="FF0000"/>
                </a:solidFill>
              </a:rPr>
              <a:t>What could go wrong?</a:t>
            </a:r>
          </a:p>
        </p:txBody>
      </p:sp>
    </p:spTree>
    <p:extLst>
      <p:ext uri="{BB962C8B-B14F-4D97-AF65-F5344CB8AC3E}">
        <p14:creationId xmlns:p14="http://schemas.microsoft.com/office/powerpoint/2010/main" val="925459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5A6D-3EA5-564B-D6CE-FE255327E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1A4E-EEFF-F9C6-7B18-FE828B1A961B}"/>
              </a:ext>
            </a:extLst>
          </p:cNvPr>
          <p:cNvSpPr>
            <a:spLocks noGrp="1"/>
          </p:cNvSpPr>
          <p:nvPr>
            <p:ph type="title"/>
          </p:nvPr>
        </p:nvSpPr>
        <p:spPr/>
        <p:txBody>
          <a:bodyPr/>
          <a:lstStyle/>
          <a:p>
            <a:r>
              <a:rPr lang="en-US" dirty="0"/>
              <a:t>Shared Queue Interleaving</a:t>
            </a:r>
          </a:p>
        </p:txBody>
      </p:sp>
      <p:sp>
        <p:nvSpPr>
          <p:cNvPr id="40" name="TextBox 39">
            <a:extLst>
              <a:ext uri="{FF2B5EF4-FFF2-40B4-BE49-F238E27FC236}">
                <a16:creationId xmlns:a16="http://schemas.microsoft.com/office/drawing/2014/main" id="{808CA7FB-9575-435C-0845-404647D4BEB8}"/>
              </a:ext>
            </a:extLst>
          </p:cNvPr>
          <p:cNvSpPr txBox="1"/>
          <p:nvPr/>
        </p:nvSpPr>
        <p:spPr>
          <a:xfrm>
            <a:off x="3619977" y="1812952"/>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E8AFB037-C1ED-8D07-F5CC-13F9A1937988}"/>
              </a:ext>
            </a:extLst>
          </p:cNvPr>
          <p:cNvSpPr txBox="1">
            <a:spLocks/>
          </p:cNvSpPr>
          <p:nvPr/>
        </p:nvSpPr>
        <p:spPr>
          <a:xfrm>
            <a:off x="162056" y="2103942"/>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01D6BEF-E836-3BDB-502C-A14B43894775}"/>
              </a:ext>
            </a:extLst>
          </p:cNvPr>
          <p:cNvSpPr txBox="1"/>
          <p:nvPr/>
        </p:nvSpPr>
        <p:spPr>
          <a:xfrm>
            <a:off x="9175650" y="1812952"/>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DFCBFBE1-D283-24D3-5621-9A19344C54FB}"/>
              </a:ext>
            </a:extLst>
          </p:cNvPr>
          <p:cNvSpPr txBox="1">
            <a:spLocks/>
          </p:cNvSpPr>
          <p:nvPr/>
        </p:nvSpPr>
        <p:spPr>
          <a:xfrm>
            <a:off x="5717729" y="2103942"/>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4" name="Group 3" descr="For this interleaving we will do the entirety of thread 2's work after Thread 1 checks &quot;if( back==null)&quot;.">
            <a:extLst>
              <a:ext uri="{FF2B5EF4-FFF2-40B4-BE49-F238E27FC236}">
                <a16:creationId xmlns:a16="http://schemas.microsoft.com/office/drawing/2014/main" id="{6750E3EF-7175-A3FB-0A7B-5BB4FA145090}"/>
              </a:ext>
            </a:extLst>
          </p:cNvPr>
          <p:cNvGrpSpPr/>
          <p:nvPr/>
        </p:nvGrpSpPr>
        <p:grpSpPr>
          <a:xfrm>
            <a:off x="2686008" y="2103942"/>
            <a:ext cx="3175000" cy="3690936"/>
            <a:chOff x="3256280" y="2920019"/>
            <a:chExt cx="3175000" cy="3690936"/>
          </a:xfrm>
        </p:grpSpPr>
        <p:sp>
          <p:nvSpPr>
            <p:cNvPr id="41" name="Left Brace 40">
              <a:extLst>
                <a:ext uri="{FF2B5EF4-FFF2-40B4-BE49-F238E27FC236}">
                  <a16:creationId xmlns:a16="http://schemas.microsoft.com/office/drawing/2014/main" id="{3A8550E1-A4F7-5700-48AF-3C93F9330A5F}"/>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1D1F010-1CAD-7D8E-F126-10F47AF09B2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78B4E59A-AD88-46EF-7811-3FDED8024964}"/>
              </a:ext>
              <a:ext uri="{C183D7F6-B498-43B3-948B-1728B52AA6E4}">
                <adec:decorative xmlns:adec="http://schemas.microsoft.com/office/drawing/2017/decorative" val="1"/>
              </a:ext>
            </a:extLst>
          </p:cNvPr>
          <p:cNvGrpSpPr/>
          <p:nvPr/>
        </p:nvGrpSpPr>
        <p:grpSpPr>
          <a:xfrm>
            <a:off x="3527268" y="5108722"/>
            <a:ext cx="8239760" cy="1537510"/>
            <a:chOff x="838200" y="499586"/>
            <a:chExt cx="8239760" cy="1537510"/>
          </a:xfrm>
        </p:grpSpPr>
        <p:grpSp>
          <p:nvGrpSpPr>
            <p:cNvPr id="6" name="Group 5">
              <a:extLst>
                <a:ext uri="{FF2B5EF4-FFF2-40B4-BE49-F238E27FC236}">
                  <a16:creationId xmlns:a16="http://schemas.microsoft.com/office/drawing/2014/main" id="{05B88687-1F98-BBFE-9A7C-12CE92691556}"/>
                </a:ext>
              </a:extLst>
            </p:cNvPr>
            <p:cNvGrpSpPr/>
            <p:nvPr/>
          </p:nvGrpSpPr>
          <p:grpSpPr>
            <a:xfrm>
              <a:off x="2727960" y="1508776"/>
              <a:ext cx="6350000" cy="528320"/>
              <a:chOff x="2727960" y="1554957"/>
              <a:chExt cx="6350000" cy="528320"/>
            </a:xfrm>
          </p:grpSpPr>
          <p:grpSp>
            <p:nvGrpSpPr>
              <p:cNvPr id="11" name="Group 10">
                <a:extLst>
                  <a:ext uri="{FF2B5EF4-FFF2-40B4-BE49-F238E27FC236}">
                    <a16:creationId xmlns:a16="http://schemas.microsoft.com/office/drawing/2014/main" id="{074E0C07-FD0A-6DC2-38BB-D0A30DD7ECAF}"/>
                  </a:ext>
                </a:extLst>
              </p:cNvPr>
              <p:cNvGrpSpPr/>
              <p:nvPr/>
            </p:nvGrpSpPr>
            <p:grpSpPr>
              <a:xfrm>
                <a:off x="4053840" y="1554957"/>
                <a:ext cx="1056640" cy="528320"/>
                <a:chOff x="8117840" y="4104640"/>
                <a:chExt cx="1056640" cy="528320"/>
              </a:xfrm>
            </p:grpSpPr>
            <p:sp>
              <p:nvSpPr>
                <p:cNvPr id="28" name="Rectangle 27">
                  <a:extLst>
                    <a:ext uri="{FF2B5EF4-FFF2-40B4-BE49-F238E27FC236}">
                      <a16:creationId xmlns:a16="http://schemas.microsoft.com/office/drawing/2014/main" id="{692DEAEC-C1CF-1A25-7E33-A5E20EA18D9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9" name="Rectangle 28">
                  <a:extLst>
                    <a:ext uri="{FF2B5EF4-FFF2-40B4-BE49-F238E27FC236}">
                      <a16:creationId xmlns:a16="http://schemas.microsoft.com/office/drawing/2014/main" id="{C071C29D-5761-ED91-95BF-3CAD27C12D6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FD6C5F5-D6D6-AC55-B4B3-ED322DDEA6F3}"/>
                  </a:ext>
                </a:extLst>
              </p:cNvPr>
              <p:cNvGrpSpPr/>
              <p:nvPr/>
            </p:nvGrpSpPr>
            <p:grpSpPr>
              <a:xfrm>
                <a:off x="5374640" y="1554957"/>
                <a:ext cx="1056640" cy="528320"/>
                <a:chOff x="8117840" y="4104640"/>
                <a:chExt cx="1056640" cy="528320"/>
              </a:xfrm>
            </p:grpSpPr>
            <p:sp>
              <p:nvSpPr>
                <p:cNvPr id="26" name="Rectangle 25">
                  <a:extLst>
                    <a:ext uri="{FF2B5EF4-FFF2-40B4-BE49-F238E27FC236}">
                      <a16:creationId xmlns:a16="http://schemas.microsoft.com/office/drawing/2014/main" id="{620C4AF5-DCDF-3985-4C41-023092DFD5C8}"/>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7" name="Rectangle 26">
                  <a:extLst>
                    <a:ext uri="{FF2B5EF4-FFF2-40B4-BE49-F238E27FC236}">
                      <a16:creationId xmlns:a16="http://schemas.microsoft.com/office/drawing/2014/main" id="{B6587CBF-C470-CA83-7B5C-FEAD95D0F54C}"/>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932D68C7-2FC9-BA2D-67D8-24B85A9F4DB1}"/>
                  </a:ext>
                </a:extLst>
              </p:cNvPr>
              <p:cNvGrpSpPr/>
              <p:nvPr/>
            </p:nvGrpSpPr>
            <p:grpSpPr>
              <a:xfrm>
                <a:off x="6700520" y="1554957"/>
                <a:ext cx="1056640" cy="528320"/>
                <a:chOff x="8117840" y="4104640"/>
                <a:chExt cx="1056640" cy="528320"/>
              </a:xfrm>
            </p:grpSpPr>
            <p:sp>
              <p:nvSpPr>
                <p:cNvPr id="24" name="Rectangle 23">
                  <a:extLst>
                    <a:ext uri="{FF2B5EF4-FFF2-40B4-BE49-F238E27FC236}">
                      <a16:creationId xmlns:a16="http://schemas.microsoft.com/office/drawing/2014/main" id="{8098BE31-45D1-DA89-F058-798D9BC0B451}"/>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a:extLst>
                    <a:ext uri="{FF2B5EF4-FFF2-40B4-BE49-F238E27FC236}">
                      <a16:creationId xmlns:a16="http://schemas.microsoft.com/office/drawing/2014/main" id="{B9006E91-1C84-00B1-B529-6B1C315CB0D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B9301D26-0CD9-3B07-C42A-543F20E60541}"/>
                  </a:ext>
                </a:extLst>
              </p:cNvPr>
              <p:cNvGrpSpPr/>
              <p:nvPr/>
            </p:nvGrpSpPr>
            <p:grpSpPr>
              <a:xfrm>
                <a:off x="8021320" y="1554957"/>
                <a:ext cx="1056640" cy="528320"/>
                <a:chOff x="8117840" y="4104640"/>
                <a:chExt cx="1056640" cy="528320"/>
              </a:xfrm>
            </p:grpSpPr>
            <p:sp>
              <p:nvSpPr>
                <p:cNvPr id="22" name="Rectangle 21">
                  <a:extLst>
                    <a:ext uri="{FF2B5EF4-FFF2-40B4-BE49-F238E27FC236}">
                      <a16:creationId xmlns:a16="http://schemas.microsoft.com/office/drawing/2014/main" id="{701AF4BC-4E55-0C8F-F7F1-62B9AD51C8D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3" name="Rectangle 22">
                  <a:extLst>
                    <a:ext uri="{FF2B5EF4-FFF2-40B4-BE49-F238E27FC236}">
                      <a16:creationId xmlns:a16="http://schemas.microsoft.com/office/drawing/2014/main" id="{3DC0394D-65FA-1E41-04C5-04DEF03BB64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3AF1D2A6-5EE2-5AEB-D1F4-D2462051008F}"/>
                  </a:ext>
                </a:extLst>
              </p:cNvPr>
              <p:cNvGrpSpPr/>
              <p:nvPr/>
            </p:nvGrpSpPr>
            <p:grpSpPr>
              <a:xfrm>
                <a:off x="2727960" y="1554957"/>
                <a:ext cx="1056640" cy="528320"/>
                <a:chOff x="8117840" y="4104640"/>
                <a:chExt cx="1056640" cy="528320"/>
              </a:xfrm>
            </p:grpSpPr>
            <p:sp>
              <p:nvSpPr>
                <p:cNvPr id="20" name="Rectangle 19">
                  <a:extLst>
                    <a:ext uri="{FF2B5EF4-FFF2-40B4-BE49-F238E27FC236}">
                      <a16:creationId xmlns:a16="http://schemas.microsoft.com/office/drawing/2014/main" id="{D00D8EEB-9458-D06C-12F7-90FBA7B2A40B}"/>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a:extLst>
                    <a:ext uri="{FF2B5EF4-FFF2-40B4-BE49-F238E27FC236}">
                      <a16:creationId xmlns:a16="http://schemas.microsoft.com/office/drawing/2014/main" id="{F3D1DDAC-6B8F-3404-4F5C-15827CEB97B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Straight Arrow Connector 15">
                <a:extLst>
                  <a:ext uri="{FF2B5EF4-FFF2-40B4-BE49-F238E27FC236}">
                    <a16:creationId xmlns:a16="http://schemas.microsoft.com/office/drawing/2014/main" id="{1D6F7302-29CD-6247-CA2E-E28169576C09}"/>
                  </a:ext>
                </a:extLst>
              </p:cNvPr>
              <p:cNvCxnSpPr>
                <a:cxnSpLocks/>
                <a:endCxn id="28"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5CED23-E26E-7CE3-4EBE-AD8018704CF2}"/>
                  </a:ext>
                </a:extLst>
              </p:cNvPr>
              <p:cNvCxnSpPr>
                <a:cxnSpLocks/>
                <a:endCxn id="26"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86D0954-ABC6-8CD8-BA01-DE1C5E5C97D6}"/>
                  </a:ext>
                </a:extLst>
              </p:cNvPr>
              <p:cNvCxnSpPr>
                <a:cxnSpLocks/>
                <a:endCxn id="24"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EA1E83-F56E-75E8-B524-231D324007C4}"/>
                  </a:ext>
                </a:extLst>
              </p:cNvPr>
              <p:cNvCxnSpPr>
                <a:cxnSpLocks/>
                <a:endCxn id="22"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6B75BAC-83DC-D607-03EF-51F98CB4EDB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8" name="Straight Arrow Connector 7">
              <a:extLst>
                <a:ext uri="{FF2B5EF4-FFF2-40B4-BE49-F238E27FC236}">
                  <a16:creationId xmlns:a16="http://schemas.microsoft.com/office/drawing/2014/main" id="{A40CEF90-47B1-A9D1-0883-8E95D2E3673D}"/>
                </a:ext>
              </a:extLst>
            </p:cNvPr>
            <p:cNvCxnSpPr>
              <a:cxnSpLocks/>
              <a:stCxn id="7" idx="3"/>
              <a:endCxn id="20"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316CF11-E4C0-4497-26B8-3591CF94353D}"/>
                </a:ext>
              </a:extLst>
            </p:cNvPr>
            <p:cNvSpPr/>
            <p:nvPr/>
          </p:nvSpPr>
          <p:spPr>
            <a:xfrm>
              <a:off x="7810500" y="49958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10" name="Straight Arrow Connector 9">
              <a:extLst>
                <a:ext uri="{FF2B5EF4-FFF2-40B4-BE49-F238E27FC236}">
                  <a16:creationId xmlns:a16="http://schemas.microsoft.com/office/drawing/2014/main" id="{12BF9FD3-DA04-6D0D-A349-ABE4C21451D1}"/>
                </a:ext>
              </a:extLst>
            </p:cNvPr>
            <p:cNvCxnSpPr>
              <a:cxnSpLocks/>
              <a:stCxn id="9" idx="2"/>
              <a:endCxn id="22" idx="0"/>
            </p:cNvCxnSpPr>
            <p:nvPr/>
          </p:nvCxnSpPr>
          <p:spPr>
            <a:xfrm>
              <a:off x="8285480" y="1027906"/>
              <a:ext cx="0" cy="4808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5687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8952-A878-A3A3-7669-D7284A2D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A3A11-05DA-4EBB-5EF4-CD47DA10B29E}"/>
              </a:ext>
            </a:extLst>
          </p:cNvPr>
          <p:cNvSpPr>
            <a:spLocks noGrp="1"/>
          </p:cNvSpPr>
          <p:nvPr>
            <p:ph type="title"/>
          </p:nvPr>
        </p:nvSpPr>
        <p:spPr/>
        <p:txBody>
          <a:bodyPr/>
          <a:lstStyle/>
          <a:p>
            <a:r>
              <a:rPr lang="en-US" dirty="0"/>
              <a:t>Empty Shared Queue</a:t>
            </a:r>
          </a:p>
        </p:txBody>
      </p:sp>
      <p:sp>
        <p:nvSpPr>
          <p:cNvPr id="3" name="TextBox 2">
            <a:extLst>
              <a:ext uri="{FF2B5EF4-FFF2-40B4-BE49-F238E27FC236}">
                <a16:creationId xmlns:a16="http://schemas.microsoft.com/office/drawing/2014/main" id="{F45A7BDC-C17C-45B5-8A30-9A6895A7D101}"/>
              </a:ext>
            </a:extLst>
          </p:cNvPr>
          <p:cNvSpPr txBox="1"/>
          <p:nvPr/>
        </p:nvSpPr>
        <p:spPr>
          <a:xfrm>
            <a:off x="7179934" y="274918"/>
            <a:ext cx="3796144" cy="1200329"/>
          </a:xfrm>
          <a:prstGeom prst="rect">
            <a:avLst/>
          </a:prstGeom>
          <a:noFill/>
          <a:ln>
            <a:solidFill>
              <a:schemeClr val="tx1"/>
            </a:solidFill>
          </a:ln>
        </p:spPr>
        <p:txBody>
          <a:bodyPr wrap="square" rtlCol="0">
            <a:spAutoFit/>
          </a:bodyPr>
          <a:lstStyle/>
          <a:p>
            <a:r>
              <a:rPr lang="en-US" dirty="0"/>
              <a:t>Suppose the Queue is empty, and the threads execute in this order.</a:t>
            </a:r>
          </a:p>
          <a:p>
            <a:r>
              <a:rPr lang="en-US" dirty="0"/>
              <a:t>Assume Thread 1 enqueues 1, and Thread 2 enqueues 2.</a:t>
            </a:r>
          </a:p>
        </p:txBody>
      </p:sp>
      <p:sp>
        <p:nvSpPr>
          <p:cNvPr id="40" name="TextBox 39">
            <a:extLst>
              <a:ext uri="{FF2B5EF4-FFF2-40B4-BE49-F238E27FC236}">
                <a16:creationId xmlns:a16="http://schemas.microsoft.com/office/drawing/2014/main" id="{F71053BC-FCCB-9309-F57A-160BAEF35949}"/>
              </a:ext>
            </a:extLst>
          </p:cNvPr>
          <p:cNvSpPr txBox="1"/>
          <p:nvPr/>
        </p:nvSpPr>
        <p:spPr>
          <a:xfrm>
            <a:off x="4190249" y="1635968"/>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020025F3-B985-B3BA-F393-B23EECD8B476}"/>
              </a:ext>
            </a:extLst>
          </p:cNvPr>
          <p:cNvSpPr txBox="1">
            <a:spLocks/>
          </p:cNvSpPr>
          <p:nvPr/>
        </p:nvSpPr>
        <p:spPr>
          <a:xfrm>
            <a:off x="732328" y="1926958"/>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D2B293B8-14F8-36EF-B9B6-15753ED2AA49}"/>
              </a:ext>
            </a:extLst>
          </p:cNvPr>
          <p:cNvSpPr txBox="1"/>
          <p:nvPr/>
        </p:nvSpPr>
        <p:spPr>
          <a:xfrm>
            <a:off x="9745922" y="1635968"/>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42B5AB57-3FAA-7C65-DC61-CB8E30409CB1}"/>
              </a:ext>
            </a:extLst>
          </p:cNvPr>
          <p:cNvSpPr txBox="1">
            <a:spLocks/>
          </p:cNvSpPr>
          <p:nvPr/>
        </p:nvSpPr>
        <p:spPr>
          <a:xfrm>
            <a:off x="6288001" y="1926958"/>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5" name="Group 4" descr="For this interleaving we will do the entirety of thread 2's work after Thread 1 checks &quot;if( back==null)&quot;.">
            <a:extLst>
              <a:ext uri="{FF2B5EF4-FFF2-40B4-BE49-F238E27FC236}">
                <a16:creationId xmlns:a16="http://schemas.microsoft.com/office/drawing/2014/main" id="{B4F47CAF-5506-8AD6-7E79-1607C0A27DC5}"/>
              </a:ext>
            </a:extLst>
          </p:cNvPr>
          <p:cNvGrpSpPr/>
          <p:nvPr/>
        </p:nvGrpSpPr>
        <p:grpSpPr>
          <a:xfrm>
            <a:off x="3256280" y="1926958"/>
            <a:ext cx="3175000" cy="3690936"/>
            <a:chOff x="3256280" y="2920019"/>
            <a:chExt cx="3175000" cy="3690936"/>
          </a:xfrm>
        </p:grpSpPr>
        <p:sp>
          <p:nvSpPr>
            <p:cNvPr id="41" name="Left Brace 40">
              <a:extLst>
                <a:ext uri="{FF2B5EF4-FFF2-40B4-BE49-F238E27FC236}">
                  <a16:creationId xmlns:a16="http://schemas.microsoft.com/office/drawing/2014/main" id="{61DC0C11-F1E2-3E72-A4B0-9CEB80FA5520}"/>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D88510B-C68C-F57E-02DE-6244D9017B09}"/>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descr="An empty queue, which is just a front pointer and a back pointer, both referencing null.">
            <a:extLst>
              <a:ext uri="{FF2B5EF4-FFF2-40B4-BE49-F238E27FC236}">
                <a16:creationId xmlns:a16="http://schemas.microsoft.com/office/drawing/2014/main" id="{39081851-4413-9AAB-4DA7-5985E1208B19}"/>
              </a:ext>
            </a:extLst>
          </p:cNvPr>
          <p:cNvGrpSpPr/>
          <p:nvPr/>
        </p:nvGrpSpPr>
        <p:grpSpPr>
          <a:xfrm>
            <a:off x="4180724" y="6040682"/>
            <a:ext cx="3276369" cy="583738"/>
            <a:chOff x="838200" y="1453358"/>
            <a:chExt cx="3276369" cy="583738"/>
          </a:xfrm>
        </p:grpSpPr>
        <p:sp>
          <p:nvSpPr>
            <p:cNvPr id="7" name="Rectangle 6">
              <a:extLst>
                <a:ext uri="{FF2B5EF4-FFF2-40B4-BE49-F238E27FC236}">
                  <a16:creationId xmlns:a16="http://schemas.microsoft.com/office/drawing/2014/main" id="{C95BA25F-6E74-5CFB-6579-C95C2CF1B3F5}"/>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126FE4E9-C141-2CBB-48E3-A997648FBF81}"/>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3562583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DADBF-FEE0-18E2-A45A-AD175122B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71105-A168-DAEF-0113-68B18EF529B2}"/>
              </a:ext>
            </a:extLst>
          </p:cNvPr>
          <p:cNvSpPr>
            <a:spLocks noGrp="1"/>
          </p:cNvSpPr>
          <p:nvPr>
            <p:ph type="title"/>
          </p:nvPr>
        </p:nvSpPr>
        <p:spPr/>
        <p:txBody>
          <a:bodyPr/>
          <a:lstStyle/>
          <a:p>
            <a:r>
              <a:rPr lang="en-US" dirty="0"/>
              <a:t>Thread 1 – first two lines</a:t>
            </a:r>
          </a:p>
        </p:txBody>
      </p:sp>
      <p:sp>
        <p:nvSpPr>
          <p:cNvPr id="4" name="TextBox 3">
            <a:extLst>
              <a:ext uri="{FF2B5EF4-FFF2-40B4-BE49-F238E27FC236}">
                <a16:creationId xmlns:a16="http://schemas.microsoft.com/office/drawing/2014/main" id="{5096B101-57E4-0B41-1B77-88811F6D0549}"/>
              </a:ext>
            </a:extLst>
          </p:cNvPr>
          <p:cNvSpPr txBox="1"/>
          <p:nvPr/>
        </p:nvSpPr>
        <p:spPr>
          <a:xfrm>
            <a:off x="7278255" y="959529"/>
            <a:ext cx="4165599" cy="369332"/>
          </a:xfrm>
          <a:prstGeom prst="rect">
            <a:avLst/>
          </a:prstGeom>
          <a:noFill/>
          <a:ln>
            <a:solidFill>
              <a:schemeClr val="tx1"/>
            </a:solidFill>
          </a:ln>
        </p:spPr>
        <p:txBody>
          <a:bodyPr wrap="square" rtlCol="0">
            <a:spAutoFit/>
          </a:bodyPr>
          <a:lstStyle/>
          <a:p>
            <a:r>
              <a:rPr lang="en-US" dirty="0"/>
              <a:t>Thread 1 has decided the queue is empty</a:t>
            </a:r>
          </a:p>
        </p:txBody>
      </p:sp>
      <p:grpSp>
        <p:nvGrpSpPr>
          <p:cNvPr id="3" name="Group 2" descr="In thread 1 we execute the line &quot;if (back == null)&quot; which is true, and so we enter into the body of the if statement. At this point Thread 1 gets interrupted due to time slicing.">
            <a:extLst>
              <a:ext uri="{FF2B5EF4-FFF2-40B4-BE49-F238E27FC236}">
                <a16:creationId xmlns:a16="http://schemas.microsoft.com/office/drawing/2014/main" id="{B8F14D24-E6B8-92DE-D02B-B49CD1F6D4DE}"/>
              </a:ext>
            </a:extLst>
          </p:cNvPr>
          <p:cNvGrpSpPr/>
          <p:nvPr/>
        </p:nvGrpSpPr>
        <p:grpSpPr>
          <a:xfrm>
            <a:off x="732328" y="1635967"/>
            <a:ext cx="10037272" cy="3981926"/>
            <a:chOff x="732328" y="2629029"/>
            <a:chExt cx="10037272" cy="3981926"/>
          </a:xfrm>
        </p:grpSpPr>
        <p:sp>
          <p:nvSpPr>
            <p:cNvPr id="34" name="Content Placeholder 2">
              <a:extLst>
                <a:ext uri="{FF2B5EF4-FFF2-40B4-BE49-F238E27FC236}">
                  <a16:creationId xmlns:a16="http://schemas.microsoft.com/office/drawing/2014/main" id="{F5292516-790B-38C1-6F13-7BE6682A5EAC}"/>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216BFCC7-5090-605B-28AB-D5E471BD3E0E}"/>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703E1D4A-047C-D08F-7CF9-02F225EE1C1C}"/>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BC800D67-0C0E-B005-3EE3-3EE585765328}"/>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B70FB154-6E16-75F6-9182-5879BE0784EB}"/>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0419BE70-FFFB-930F-6059-1D5051263FAA}"/>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descr="An empty queue, which is just a front pointer and a back pointer, both referencing null.">
            <a:extLst>
              <a:ext uri="{FF2B5EF4-FFF2-40B4-BE49-F238E27FC236}">
                <a16:creationId xmlns:a16="http://schemas.microsoft.com/office/drawing/2014/main" id="{A4BA5E5C-073F-FDDD-6BF9-83E0A03B06E0}"/>
              </a:ext>
            </a:extLst>
          </p:cNvPr>
          <p:cNvGrpSpPr/>
          <p:nvPr/>
        </p:nvGrpSpPr>
        <p:grpSpPr>
          <a:xfrm>
            <a:off x="4180724" y="6040682"/>
            <a:ext cx="3276369" cy="583738"/>
            <a:chOff x="838200" y="1453358"/>
            <a:chExt cx="3276369" cy="583738"/>
          </a:xfrm>
        </p:grpSpPr>
        <p:sp>
          <p:nvSpPr>
            <p:cNvPr id="12" name="Rectangle 11">
              <a:extLst>
                <a:ext uri="{FF2B5EF4-FFF2-40B4-BE49-F238E27FC236}">
                  <a16:creationId xmlns:a16="http://schemas.microsoft.com/office/drawing/2014/main" id="{B2969B1D-5DE5-B496-C1BD-B1C64F0C3568}"/>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13" name="Rectangle 12">
              <a:extLst>
                <a:ext uri="{FF2B5EF4-FFF2-40B4-BE49-F238E27FC236}">
                  <a16:creationId xmlns:a16="http://schemas.microsoft.com/office/drawing/2014/main" id="{661128DB-A8A7-C912-E270-C32CC70A26F5}"/>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1176293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19DD-FFAA-30D0-0137-1B071571D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9EF8D-0659-368F-1D30-6D64917FBC6E}"/>
              </a:ext>
            </a:extLst>
          </p:cNvPr>
          <p:cNvSpPr>
            <a:spLocks noGrp="1"/>
          </p:cNvSpPr>
          <p:nvPr>
            <p:ph type="title"/>
          </p:nvPr>
        </p:nvSpPr>
        <p:spPr/>
        <p:txBody>
          <a:bodyPr/>
          <a:lstStyle/>
          <a:p>
            <a:r>
              <a:rPr lang="en-US" dirty="0"/>
              <a:t>Thread 2 – all lines</a:t>
            </a:r>
          </a:p>
        </p:txBody>
      </p:sp>
      <p:sp>
        <p:nvSpPr>
          <p:cNvPr id="4" name="TextBox 3">
            <a:extLst>
              <a:ext uri="{FF2B5EF4-FFF2-40B4-BE49-F238E27FC236}">
                <a16:creationId xmlns:a16="http://schemas.microsoft.com/office/drawing/2014/main" id="{83536E1E-3EF4-02FF-B3E4-92BDEFC6BC6F}"/>
              </a:ext>
            </a:extLst>
          </p:cNvPr>
          <p:cNvSpPr txBox="1"/>
          <p:nvPr/>
        </p:nvSpPr>
        <p:spPr>
          <a:xfrm>
            <a:off x="7278255" y="605567"/>
            <a:ext cx="4165599" cy="646331"/>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p:txBody>
      </p:sp>
      <p:grpSp>
        <p:nvGrpSpPr>
          <p:cNvPr id="3" name="Group 2" descr="Next we do the entirety of thread 2, which completely adds the value 2 into the queue.">
            <a:extLst>
              <a:ext uri="{FF2B5EF4-FFF2-40B4-BE49-F238E27FC236}">
                <a16:creationId xmlns:a16="http://schemas.microsoft.com/office/drawing/2014/main" id="{F32ABF83-49E1-A195-551E-140A11B4896F}"/>
              </a:ext>
            </a:extLst>
          </p:cNvPr>
          <p:cNvGrpSpPr/>
          <p:nvPr/>
        </p:nvGrpSpPr>
        <p:grpSpPr>
          <a:xfrm>
            <a:off x="732328" y="1626135"/>
            <a:ext cx="10037272" cy="3981926"/>
            <a:chOff x="732328" y="2629029"/>
            <a:chExt cx="10037272" cy="3981926"/>
          </a:xfrm>
        </p:grpSpPr>
        <p:sp>
          <p:nvSpPr>
            <p:cNvPr id="34" name="Content Placeholder 2">
              <a:extLst>
                <a:ext uri="{FF2B5EF4-FFF2-40B4-BE49-F238E27FC236}">
                  <a16:creationId xmlns:a16="http://schemas.microsoft.com/office/drawing/2014/main" id="{8FD0F61F-A2A6-CBA4-DF5C-53599A4265AD}"/>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9EB55E4B-6E58-E142-6911-BA43302DE33B}"/>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8581A67-265F-9585-D086-42EF97575984}"/>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D9C1810D-BB3B-2781-5F5B-5DE76F9CEBCC}"/>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564C11C0-95B9-1798-6B0D-70E74342981A}"/>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D4C5BA0-DB61-7A1C-DBF3-52591A1D10D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AAEEF8CC-1EF3-5AE5-F128-A6E22EC01EBC}"/>
              </a:ext>
            </a:extLst>
          </p:cNvPr>
          <p:cNvGrpSpPr/>
          <p:nvPr/>
        </p:nvGrpSpPr>
        <p:grpSpPr>
          <a:xfrm>
            <a:off x="3359611" y="5898471"/>
            <a:ext cx="4918595" cy="528320"/>
            <a:chOff x="838200" y="1508776"/>
            <a:chExt cx="4918595" cy="528320"/>
          </a:xfrm>
        </p:grpSpPr>
        <p:sp>
          <p:nvSpPr>
            <p:cNvPr id="7" name="Rectangle 6">
              <a:extLst>
                <a:ext uri="{FF2B5EF4-FFF2-40B4-BE49-F238E27FC236}">
                  <a16:creationId xmlns:a16="http://schemas.microsoft.com/office/drawing/2014/main" id="{AB4EB502-DFF5-6917-FCF6-7387D28E1A1C}"/>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5337DB78-0E17-00A6-67C4-29EDA89A127B}"/>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11" name="Group 10">
              <a:extLst>
                <a:ext uri="{FF2B5EF4-FFF2-40B4-BE49-F238E27FC236}">
                  <a16:creationId xmlns:a16="http://schemas.microsoft.com/office/drawing/2014/main" id="{094F13B9-60D5-077E-15A4-469C6B0BAD27}"/>
                </a:ext>
              </a:extLst>
            </p:cNvPr>
            <p:cNvGrpSpPr/>
            <p:nvPr/>
          </p:nvGrpSpPr>
          <p:grpSpPr>
            <a:xfrm>
              <a:off x="2727960" y="1508776"/>
              <a:ext cx="1056640" cy="528320"/>
              <a:chOff x="8117840" y="4104640"/>
              <a:chExt cx="1056640" cy="528320"/>
            </a:xfrm>
          </p:grpSpPr>
          <p:sp>
            <p:nvSpPr>
              <p:cNvPr id="16" name="Rectangle 15">
                <a:extLst>
                  <a:ext uri="{FF2B5EF4-FFF2-40B4-BE49-F238E27FC236}">
                    <a16:creationId xmlns:a16="http://schemas.microsoft.com/office/drawing/2014/main" id="{0802F6A3-E9A8-5954-9C38-CCB5620F1E8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Rectangle 16">
                <a:extLst>
                  <a:ext uri="{FF2B5EF4-FFF2-40B4-BE49-F238E27FC236}">
                    <a16:creationId xmlns:a16="http://schemas.microsoft.com/office/drawing/2014/main" id="{8472B177-356A-CB8A-35C4-337C8E3F16A4}"/>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6" name="Straight Arrow Connector 25">
              <a:extLst>
                <a:ext uri="{FF2B5EF4-FFF2-40B4-BE49-F238E27FC236}">
                  <a16:creationId xmlns:a16="http://schemas.microsoft.com/office/drawing/2014/main" id="{C5F3E8C0-1ACE-CE78-25B2-C1B8F66A40FE}"/>
                </a:ext>
              </a:extLst>
            </p:cNvPr>
            <p:cNvCxnSpPr>
              <a:cxnSpLocks/>
              <a:endCxn id="16"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C3CAF0A-06E5-3F96-9D71-184D4DE4B21F}"/>
                </a:ext>
              </a:extLst>
            </p:cNvPr>
            <p:cNvCxnSpPr>
              <a:cxnSpLocks/>
              <a:stCxn id="9" idx="1"/>
              <a:endCxn id="17"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664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2911-38DC-1E6D-E379-30119B37B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C99E9-D4B1-C748-7403-A56BB3BA0C63}"/>
              </a:ext>
            </a:extLst>
          </p:cNvPr>
          <p:cNvSpPr>
            <a:spLocks noGrp="1"/>
          </p:cNvSpPr>
          <p:nvPr>
            <p:ph type="title"/>
          </p:nvPr>
        </p:nvSpPr>
        <p:spPr/>
        <p:txBody>
          <a:bodyPr/>
          <a:lstStyle/>
          <a:p>
            <a:r>
              <a:rPr lang="en-US" dirty="0"/>
              <a:t>Thread 1 – remaining lines</a:t>
            </a:r>
          </a:p>
        </p:txBody>
      </p:sp>
      <p:sp>
        <p:nvSpPr>
          <p:cNvPr id="4" name="TextBox 3">
            <a:extLst>
              <a:ext uri="{FF2B5EF4-FFF2-40B4-BE49-F238E27FC236}">
                <a16:creationId xmlns:a16="http://schemas.microsoft.com/office/drawing/2014/main" id="{FC791B17-5542-5D5F-DA9C-4CCFCCCAA899}"/>
              </a:ext>
            </a:extLst>
          </p:cNvPr>
          <p:cNvSpPr txBox="1"/>
          <p:nvPr/>
        </p:nvSpPr>
        <p:spPr>
          <a:xfrm>
            <a:off x="7278255" y="389257"/>
            <a:ext cx="4165599" cy="1200329"/>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a:p>
            <a:r>
              <a:rPr lang="en-US" dirty="0"/>
              <a:t>Thread 1 continues as if the queue is still empty, overwriting Thread 2’s work</a:t>
            </a:r>
          </a:p>
        </p:txBody>
      </p:sp>
      <p:grpSp>
        <p:nvGrpSpPr>
          <p:cNvPr id="15" name="Group 14" descr="Finally we complete the rest of thread 1. Because we had already entered the body of the if statement, the code behaves as if the queue was empty, and so we create a new node and set the front and back pointers to both reference this new node. The causes the node containing 2 to be garbage collected, and so the final queue contains only the value 1.">
            <a:extLst>
              <a:ext uri="{FF2B5EF4-FFF2-40B4-BE49-F238E27FC236}">
                <a16:creationId xmlns:a16="http://schemas.microsoft.com/office/drawing/2014/main" id="{CD2085A9-880C-5445-E142-80D107D35EE8}"/>
              </a:ext>
            </a:extLst>
          </p:cNvPr>
          <p:cNvGrpSpPr/>
          <p:nvPr/>
        </p:nvGrpSpPr>
        <p:grpSpPr>
          <a:xfrm>
            <a:off x="732328" y="1626138"/>
            <a:ext cx="10037272" cy="3981926"/>
            <a:chOff x="732328" y="2629029"/>
            <a:chExt cx="10037272" cy="3981926"/>
          </a:xfrm>
        </p:grpSpPr>
        <p:sp>
          <p:nvSpPr>
            <p:cNvPr id="34" name="Content Placeholder 2">
              <a:extLst>
                <a:ext uri="{FF2B5EF4-FFF2-40B4-BE49-F238E27FC236}">
                  <a16:creationId xmlns:a16="http://schemas.microsoft.com/office/drawing/2014/main" id="{CC8DECD1-895E-D68C-B141-B2E311C8F60B}"/>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25CDDDE-EF93-813B-B4F7-D6ADE9D95D88}"/>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7686F63-0A25-C02E-9A08-2ED6268AE6E1}"/>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b="1" strike="sngStrike" dirty="0"/>
                <a:t>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a:t>
              </a:r>
            </a:p>
          </p:txBody>
        </p:sp>
        <p:sp>
          <p:nvSpPr>
            <p:cNvPr id="40" name="TextBox 39">
              <a:extLst>
                <a:ext uri="{FF2B5EF4-FFF2-40B4-BE49-F238E27FC236}">
                  <a16:creationId xmlns:a16="http://schemas.microsoft.com/office/drawing/2014/main" id="{11444953-DBCB-47F1-A02C-9CA403DCF3AE}"/>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83EA8621-D1A8-C7B3-38AB-8A6276264452}"/>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25D9C66-6DA1-4C62-74C3-DC716B86E77D}"/>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709774E0-CB5D-9755-F1AE-F8D8478A9B60}"/>
              </a:ext>
            </a:extLst>
          </p:cNvPr>
          <p:cNvGrpSpPr/>
          <p:nvPr/>
        </p:nvGrpSpPr>
        <p:grpSpPr>
          <a:xfrm>
            <a:off x="3359611" y="5898471"/>
            <a:ext cx="4918595" cy="528320"/>
            <a:chOff x="838200" y="1508776"/>
            <a:chExt cx="4918595" cy="528320"/>
          </a:xfrm>
        </p:grpSpPr>
        <p:sp>
          <p:nvSpPr>
            <p:cNvPr id="5" name="Rectangle 4">
              <a:extLst>
                <a:ext uri="{FF2B5EF4-FFF2-40B4-BE49-F238E27FC236}">
                  <a16:creationId xmlns:a16="http://schemas.microsoft.com/office/drawing/2014/main" id="{E3424C8B-452A-DE65-33EB-B4D650FFAD63}"/>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6" name="Rectangle 5">
              <a:extLst>
                <a:ext uri="{FF2B5EF4-FFF2-40B4-BE49-F238E27FC236}">
                  <a16:creationId xmlns:a16="http://schemas.microsoft.com/office/drawing/2014/main" id="{19C7892C-6D31-E3E8-A602-B2BDC676AE37}"/>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8" name="Group 7">
              <a:extLst>
                <a:ext uri="{FF2B5EF4-FFF2-40B4-BE49-F238E27FC236}">
                  <a16:creationId xmlns:a16="http://schemas.microsoft.com/office/drawing/2014/main" id="{F578A044-54B4-95F1-612E-2681E548F54D}"/>
                </a:ext>
              </a:extLst>
            </p:cNvPr>
            <p:cNvGrpSpPr/>
            <p:nvPr/>
          </p:nvGrpSpPr>
          <p:grpSpPr>
            <a:xfrm>
              <a:off x="2727960" y="1508776"/>
              <a:ext cx="1056640" cy="528320"/>
              <a:chOff x="8117840" y="4104640"/>
              <a:chExt cx="1056640" cy="528320"/>
            </a:xfrm>
          </p:grpSpPr>
          <p:sp>
            <p:nvSpPr>
              <p:cNvPr id="13" name="Rectangle 12">
                <a:extLst>
                  <a:ext uri="{FF2B5EF4-FFF2-40B4-BE49-F238E27FC236}">
                    <a16:creationId xmlns:a16="http://schemas.microsoft.com/office/drawing/2014/main" id="{9D9B449B-F18D-1CF4-E28C-FFD52F8E8A3F}"/>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 name="Rectangle 13">
                <a:extLst>
                  <a:ext uri="{FF2B5EF4-FFF2-40B4-BE49-F238E27FC236}">
                    <a16:creationId xmlns:a16="http://schemas.microsoft.com/office/drawing/2014/main" id="{8F2593BC-6EDF-A1E8-708A-C2ADC88A70B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0F83FAEE-FBA9-4874-4525-0A4C657DADA3}"/>
                </a:ext>
              </a:extLst>
            </p:cNvPr>
            <p:cNvCxnSpPr>
              <a:cxnSpLocks/>
              <a:endCxn id="13"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F49352-3251-8CEE-CCE6-B41079E1A66B}"/>
                </a:ext>
              </a:extLst>
            </p:cNvPr>
            <p:cNvCxnSpPr>
              <a:cxnSpLocks/>
              <a:stCxn id="6" idx="1"/>
              <a:endCxn id="14"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0626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C1A-6CA5-98A7-F39E-5B051CE8D372}"/>
              </a:ext>
            </a:extLst>
          </p:cNvPr>
          <p:cNvSpPr>
            <a:spLocks noGrp="1"/>
          </p:cNvSpPr>
          <p:nvPr>
            <p:ph type="title"/>
          </p:nvPr>
        </p:nvSpPr>
        <p:spPr/>
        <p:txBody>
          <a:bodyPr/>
          <a:lstStyle/>
          <a:p>
            <a:r>
              <a:rPr lang="en-US" dirty="0"/>
              <a:t>Interleaving</a:t>
            </a:r>
          </a:p>
        </p:txBody>
      </p:sp>
      <p:sp>
        <p:nvSpPr>
          <p:cNvPr id="3" name="Content Placeholder 2">
            <a:extLst>
              <a:ext uri="{FF2B5EF4-FFF2-40B4-BE49-F238E27FC236}">
                <a16:creationId xmlns:a16="http://schemas.microsoft.com/office/drawing/2014/main" id="{43DB31AF-5BCA-E54E-4929-B7B6A0D8AB8B}"/>
              </a:ext>
            </a:extLst>
          </p:cNvPr>
          <p:cNvSpPr>
            <a:spLocks noGrp="1"/>
          </p:cNvSpPr>
          <p:nvPr>
            <p:ph idx="1"/>
          </p:nvPr>
        </p:nvSpPr>
        <p:spPr/>
        <p:txBody>
          <a:bodyPr/>
          <a:lstStyle/>
          <a:p>
            <a:r>
              <a:rPr lang="en-US" dirty="0"/>
              <a:t>Due to time slicing, a thread can be interrupted at any time</a:t>
            </a:r>
          </a:p>
          <a:p>
            <a:pPr lvl="1"/>
            <a:r>
              <a:rPr lang="en-US" dirty="0"/>
              <a:t>Between any two lines of code</a:t>
            </a:r>
          </a:p>
          <a:p>
            <a:pPr lvl="1"/>
            <a:r>
              <a:rPr lang="en-US" dirty="0"/>
              <a:t>Within a single line of code</a:t>
            </a:r>
          </a:p>
          <a:p>
            <a:r>
              <a:rPr lang="en-US" dirty="0"/>
              <a:t>The sequence that operations occur across two threads is called an interleaving</a:t>
            </a:r>
          </a:p>
          <a:p>
            <a:r>
              <a:rPr lang="en-US" dirty="0"/>
              <a:t>Without doing anything else, we have no control over how different threads might be interleaved</a:t>
            </a:r>
          </a:p>
        </p:txBody>
      </p:sp>
    </p:spTree>
    <p:extLst>
      <p:ext uri="{BB962C8B-B14F-4D97-AF65-F5344CB8AC3E}">
        <p14:creationId xmlns:p14="http://schemas.microsoft.com/office/powerpoint/2010/main" val="4026232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ECE2-9CC3-DF86-BABE-D4BE2D4AB901}"/>
              </a:ext>
            </a:extLst>
          </p:cNvPr>
          <p:cNvSpPr>
            <a:spLocks noGrp="1"/>
          </p:cNvSpPr>
          <p:nvPr>
            <p:ph type="title"/>
          </p:nvPr>
        </p:nvSpPr>
        <p:spPr/>
        <p:txBody>
          <a:bodyPr/>
          <a:lstStyle/>
          <a:p>
            <a:r>
              <a:rPr lang="en-US" dirty="0"/>
              <a:t>Concurrent Programming</a:t>
            </a:r>
          </a:p>
        </p:txBody>
      </p:sp>
      <p:sp>
        <p:nvSpPr>
          <p:cNvPr id="3" name="Content Placeholder 2">
            <a:extLst>
              <a:ext uri="{FF2B5EF4-FFF2-40B4-BE49-F238E27FC236}">
                <a16:creationId xmlns:a16="http://schemas.microsoft.com/office/drawing/2014/main" id="{5B919A95-C324-F33C-8E0D-40758B326B9A}"/>
              </a:ext>
            </a:extLst>
          </p:cNvPr>
          <p:cNvSpPr>
            <a:spLocks noGrp="1"/>
          </p:cNvSpPr>
          <p:nvPr>
            <p:ph idx="1"/>
          </p:nvPr>
        </p:nvSpPr>
        <p:spPr/>
        <p:txBody>
          <a:bodyPr>
            <a:normAutofit lnSpcReduction="10000"/>
          </a:bodyPr>
          <a:lstStyle/>
          <a:p>
            <a:r>
              <a:rPr lang="en-US" dirty="0"/>
              <a:t>Concurrency: </a:t>
            </a:r>
          </a:p>
          <a:p>
            <a:pPr lvl="1"/>
            <a:r>
              <a:rPr lang="en-US" dirty="0"/>
              <a:t>Correctly and efficiently managing access to shared resources across multiple possibly-simultaneous tasks</a:t>
            </a:r>
          </a:p>
          <a:p>
            <a:r>
              <a:rPr lang="en-US" dirty="0"/>
              <a:t>Requires synchronization to avoid incorrect simultaneous access</a:t>
            </a:r>
          </a:p>
          <a:p>
            <a:pPr lvl="1"/>
            <a:r>
              <a:rPr lang="en-US" dirty="0"/>
              <a:t>Use some way of “blocking” other tasks from using a resource when another modifies it or makes decisions based on its state</a:t>
            </a:r>
          </a:p>
          <a:p>
            <a:pPr lvl="1"/>
            <a:r>
              <a:rPr lang="en-US" dirty="0"/>
              <a:t>That blocking task will free up the resource when it’s done</a:t>
            </a:r>
          </a:p>
          <a:p>
            <a:r>
              <a:rPr lang="en-US" dirty="0"/>
              <a:t>Warning:</a:t>
            </a:r>
          </a:p>
          <a:p>
            <a:pPr lvl="1"/>
            <a:r>
              <a:rPr lang="en-US" dirty="0"/>
              <a:t>Because we have no control over when threads are scheduled by the OS, even correct implementations are highly non-deterministic</a:t>
            </a:r>
          </a:p>
          <a:p>
            <a:pPr lvl="1"/>
            <a:r>
              <a:rPr lang="en-US" dirty="0"/>
              <a:t>Errors are hard to reproduce, which complicates debugging</a:t>
            </a:r>
          </a:p>
          <a:p>
            <a:endParaRPr lang="en-US" dirty="0"/>
          </a:p>
        </p:txBody>
      </p:sp>
    </p:spTree>
    <p:extLst>
      <p:ext uri="{BB962C8B-B14F-4D97-AF65-F5344CB8AC3E}">
        <p14:creationId xmlns:p14="http://schemas.microsoft.com/office/powerpoint/2010/main" val="315409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0080A-80A6-F4EC-185D-CA6DDF5AE918}"/>
              </a:ext>
            </a:extLst>
          </p:cNvPr>
          <p:cNvSpPr>
            <a:spLocks noGrp="1"/>
          </p:cNvSpPr>
          <p:nvPr>
            <p:ph type="title"/>
          </p:nvPr>
        </p:nvSpPr>
        <p:spPr/>
        <p:txBody>
          <a:bodyPr/>
          <a:lstStyle/>
          <a:p>
            <a:r>
              <a:rPr lang="en-US" dirty="0"/>
              <a:t>Analogue Example – Data Race</a:t>
            </a:r>
          </a:p>
        </p:txBody>
      </p:sp>
      <p:sp>
        <p:nvSpPr>
          <p:cNvPr id="3" name="Content Placeholder 2">
            <a:extLst>
              <a:ext uri="{FF2B5EF4-FFF2-40B4-BE49-F238E27FC236}">
                <a16:creationId xmlns:a16="http://schemas.microsoft.com/office/drawing/2014/main" id="{7479C2D5-5A64-4902-8AD7-35A11A4386FF}"/>
              </a:ext>
            </a:extLst>
          </p:cNvPr>
          <p:cNvSpPr>
            <a:spLocks noGrp="1"/>
          </p:cNvSpPr>
          <p:nvPr>
            <p:ph idx="1"/>
          </p:nvPr>
        </p:nvSpPr>
        <p:spPr/>
        <p:txBody>
          <a:bodyPr/>
          <a:lstStyle/>
          <a:p>
            <a:pPr marL="514350" indent="-514350">
              <a:buFont typeface="+mj-lt"/>
              <a:buAutoNum type="arabicPeriod"/>
            </a:pPr>
            <a:r>
              <a:rPr lang="en-US" dirty="0"/>
              <a:t>Count to 10 aloud</a:t>
            </a:r>
          </a:p>
          <a:p>
            <a:pPr marL="514350" indent="-514350">
              <a:buFont typeface="+mj-lt"/>
              <a:buAutoNum type="arabicPeriod"/>
            </a:pPr>
            <a:r>
              <a:rPr lang="en-US" dirty="0"/>
              <a:t>Clap three times</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Tree>
    <p:extLst>
      <p:ext uri="{BB962C8B-B14F-4D97-AF65-F5344CB8AC3E}">
        <p14:creationId xmlns:p14="http://schemas.microsoft.com/office/powerpoint/2010/main" val="4003104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88F7-8470-2FB0-3F58-066321055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CC10C-B593-0AF5-AFE1-B583940AF0DA}"/>
              </a:ext>
            </a:extLst>
          </p:cNvPr>
          <p:cNvSpPr>
            <a:spLocks noGrp="1"/>
          </p:cNvSpPr>
          <p:nvPr>
            <p:ph type="title"/>
          </p:nvPr>
        </p:nvSpPr>
        <p:spPr/>
        <p:txBody>
          <a:bodyPr/>
          <a:lstStyle/>
          <a:p>
            <a:r>
              <a:rPr lang="en-US" dirty="0"/>
              <a:t>Analogue Example – With “Mutual Exclusion”</a:t>
            </a:r>
          </a:p>
        </p:txBody>
      </p:sp>
      <p:sp>
        <p:nvSpPr>
          <p:cNvPr id="3" name="Content Placeholder 2">
            <a:extLst>
              <a:ext uri="{FF2B5EF4-FFF2-40B4-BE49-F238E27FC236}">
                <a16:creationId xmlns:a16="http://schemas.microsoft.com/office/drawing/2014/main" id="{C054146F-AD1E-FC77-4919-A6BBBABA28C2}"/>
              </a:ext>
            </a:extLst>
          </p:cNvPr>
          <p:cNvSpPr>
            <a:spLocks noGrp="1"/>
          </p:cNvSpPr>
          <p:nvPr>
            <p:ph idx="1"/>
          </p:nvPr>
        </p:nvSpPr>
        <p:spPr/>
        <p:txBody>
          <a:bodyPr/>
          <a:lstStyle/>
          <a:p>
            <a:pPr marL="514350" indent="-514350">
              <a:buFont typeface="+mj-lt"/>
              <a:buAutoNum type="arabicPeriod"/>
            </a:pPr>
            <a:r>
              <a:rPr lang="en-US" dirty="0"/>
              <a:t>Count to 10 aloud</a:t>
            </a:r>
          </a:p>
          <a:p>
            <a:pPr marL="514350" indent="-514350">
              <a:buFont typeface="+mj-lt"/>
              <a:buAutoNum type="arabicPeriod"/>
            </a:pPr>
            <a:r>
              <a:rPr lang="en-US" dirty="0"/>
              <a:t>Clap three times</a:t>
            </a:r>
          </a:p>
          <a:p>
            <a:pPr marL="514350" indent="-514350">
              <a:buFont typeface="+mj-lt"/>
              <a:buAutoNum type="arabicPeriod"/>
            </a:pPr>
            <a:r>
              <a:rPr lang="en-US" b="1" dirty="0"/>
              <a:t>Pick up the trident</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b="1" dirty="0"/>
              <a:t>Put down the trident</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
        <p:nvSpPr>
          <p:cNvPr id="4" name="TextBox 3">
            <a:extLst>
              <a:ext uri="{FF2B5EF4-FFF2-40B4-BE49-F238E27FC236}">
                <a16:creationId xmlns:a16="http://schemas.microsoft.com/office/drawing/2014/main" id="{71C7E461-003B-7375-D404-8ECBC044E487}"/>
              </a:ext>
            </a:extLst>
          </p:cNvPr>
          <p:cNvSpPr txBox="1"/>
          <p:nvPr/>
        </p:nvSpPr>
        <p:spPr>
          <a:xfrm>
            <a:off x="7481454" y="1690688"/>
            <a:ext cx="4331855" cy="4247317"/>
          </a:xfrm>
          <a:prstGeom prst="rect">
            <a:avLst/>
          </a:prstGeom>
          <a:noFill/>
        </p:spPr>
        <p:txBody>
          <a:bodyPr wrap="square" rtlCol="0">
            <a:spAutoFit/>
          </a:bodyPr>
          <a:lstStyle/>
          <a:p>
            <a:r>
              <a:rPr lang="en-US" dirty="0"/>
              <a:t>There is only one trident, so no two threads (both executing this same code) can execute lines 4 and 5 at the same time. </a:t>
            </a:r>
          </a:p>
          <a:p>
            <a:endParaRPr lang="en-US" dirty="0"/>
          </a:p>
          <a:p>
            <a:r>
              <a:rPr lang="en-US" dirty="0"/>
              <a:t>All threads after the first must wait at line 3 for the trident to become available.</a:t>
            </a:r>
          </a:p>
          <a:p>
            <a:endParaRPr lang="en-US" dirty="0"/>
          </a:p>
          <a:p>
            <a:r>
              <a:rPr lang="en-US" dirty="0"/>
              <a:t>The trident causes any one thread to “lock out” (exclude) all other threads.</a:t>
            </a:r>
          </a:p>
          <a:p>
            <a:endParaRPr lang="en-US" dirty="0"/>
          </a:p>
          <a:p>
            <a:r>
              <a:rPr lang="en-US" dirty="0"/>
              <a:t>Any thread being between lines 3 and 6 excludes all other threads, so this is called “mutual exclusion”.</a:t>
            </a:r>
          </a:p>
          <a:p>
            <a:endParaRPr lang="en-US" dirty="0"/>
          </a:p>
          <a:p>
            <a:r>
              <a:rPr lang="en-US" dirty="0"/>
              <a:t>The trident itself we call a “lock”</a:t>
            </a:r>
          </a:p>
        </p:txBody>
      </p:sp>
    </p:spTree>
    <p:extLst>
      <p:ext uri="{BB962C8B-B14F-4D97-AF65-F5344CB8AC3E}">
        <p14:creationId xmlns:p14="http://schemas.microsoft.com/office/powerpoint/2010/main" val="2820800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942080"/>
            <a:ext cx="7711440" cy="19405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85000" lnSpcReduction="20000"/>
          </a:bodyPr>
          <a:lstStyle/>
          <a:p>
            <a:r>
              <a:rPr lang="en-US" dirty="0"/>
              <a:t>The following code implements a bank account object correctly for a synchronized situation</a:t>
            </a:r>
          </a:p>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etc. </a:t>
            </a:r>
          </a:p>
          <a:p>
            <a:pPr marL="0" indent="0">
              <a:buNone/>
            </a:pPr>
            <a:r>
              <a:rPr lang="en-US" dirty="0"/>
              <a:t>} </a:t>
            </a:r>
          </a:p>
        </p:txBody>
      </p:sp>
      <p:grpSp>
        <p:nvGrpSpPr>
          <p:cNvPr id="7" name="Group 6" descr="Suppose we have an itial balance of 150 and call the code&#10;withdraw(100);&#10;withdraw(75);&#10;&#10;What happens?&#10;">
            <a:extLst>
              <a:ext uri="{FF2B5EF4-FFF2-40B4-BE49-F238E27FC236}">
                <a16:creationId xmlns:a16="http://schemas.microsoft.com/office/drawing/2014/main" id="{54DE38CE-2403-8299-6B0D-996A31732FE0}"/>
              </a:ext>
            </a:extLst>
          </p:cNvPr>
          <p:cNvGrpSpPr/>
          <p:nvPr/>
        </p:nvGrpSpPr>
        <p:grpSpPr>
          <a:xfrm>
            <a:off x="9540239" y="2265680"/>
            <a:ext cx="2165658" cy="1163320"/>
            <a:chOff x="9540239" y="2265680"/>
            <a:chExt cx="2165658" cy="1163320"/>
          </a:xfrm>
        </p:grpSpPr>
        <p:sp>
          <p:nvSpPr>
            <p:cNvPr id="5" name="Rectangle 4" descr="Suppose we call the">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a:p>
              <a:r>
                <a:rPr lang="en-US" dirty="0">
                  <a:solidFill>
                    <a:schemeClr val="tx1"/>
                  </a:solidFill>
                </a:rPr>
                <a:t>withdraw(75)</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2165657" cy="369332"/>
            </a:xfrm>
            <a:prstGeom prst="rect">
              <a:avLst/>
            </a:prstGeom>
            <a:noFill/>
          </p:spPr>
          <p:txBody>
            <a:bodyPr wrap="none" rtlCol="0">
              <a:spAutoFit/>
            </a:bodyPr>
            <a:lstStyle/>
            <a:p>
              <a:r>
                <a:rPr lang="en-US" dirty="0"/>
                <a:t>What Happens here?</a:t>
              </a:r>
            </a:p>
          </p:txBody>
        </p:sp>
      </p:grpSp>
    </p:spTree>
    <p:extLst>
      <p:ext uri="{BB962C8B-B14F-4D97-AF65-F5344CB8AC3E}">
        <p14:creationId xmlns:p14="http://schemas.microsoft.com/office/powerpoint/2010/main" val="64017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677920"/>
            <a:ext cx="7711440" cy="20929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 - Parallel</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925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etc. </a:t>
            </a:r>
          </a:p>
          <a:p>
            <a:pPr marL="0" indent="0">
              <a:buNone/>
            </a:pPr>
            <a:r>
              <a:rPr lang="en-US" dirty="0"/>
              <a:t>} </a:t>
            </a:r>
          </a:p>
        </p:txBody>
      </p:sp>
      <p:grpSp>
        <p:nvGrpSpPr>
          <p:cNvPr id="9" name="Group 8" descr="Now suppose we still call &#10;withdraw(100);&#10;withdraw(75);&#10;&#10;but now each withdraw call is done by a separate thread, so they happen in parallel.">
            <a:extLst>
              <a:ext uri="{FF2B5EF4-FFF2-40B4-BE49-F238E27FC236}">
                <a16:creationId xmlns:a16="http://schemas.microsoft.com/office/drawing/2014/main" id="{3B33847F-3F7C-FE38-4C34-34C3532177DC}"/>
              </a:ext>
            </a:extLst>
          </p:cNvPr>
          <p:cNvGrpSpPr/>
          <p:nvPr/>
        </p:nvGrpSpPr>
        <p:grpSpPr>
          <a:xfrm>
            <a:off x="9533539" y="2265680"/>
            <a:ext cx="2172357" cy="2724228"/>
            <a:chOff x="9533539" y="2265680"/>
            <a:chExt cx="2172357" cy="2724228"/>
          </a:xfrm>
        </p:grpSpPr>
        <p:sp>
          <p:nvSpPr>
            <p:cNvPr id="5" name="Rectangle 4">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9533539" y="413376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9533540" y="3826588"/>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56732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An “OK”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4" name="Group 3" descr="We say Thread 1 is the one running withdraw(100);">
            <a:extLst>
              <a:ext uri="{FF2B5EF4-FFF2-40B4-BE49-F238E27FC236}">
                <a16:creationId xmlns:a16="http://schemas.microsoft.com/office/drawing/2014/main" id="{5D04D01C-14F5-55F3-1545-E615188FC3AA}"/>
              </a:ext>
            </a:extLst>
          </p:cNvPr>
          <p:cNvGrpSpPr/>
          <p:nvPr/>
        </p:nvGrpSpPr>
        <p:grpSpPr>
          <a:xfrm>
            <a:off x="3478179" y="1865651"/>
            <a:ext cx="2165657" cy="1163320"/>
            <a:chOff x="3478179" y="1865651"/>
            <a:chExt cx="2165657" cy="1163320"/>
          </a:xfrm>
        </p:grpSpPr>
        <p:sp>
          <p:nvSpPr>
            <p:cNvPr id="5" name="Rectangle 4">
              <a:extLst>
                <a:ext uri="{FF2B5EF4-FFF2-40B4-BE49-F238E27FC236}">
                  <a16:creationId xmlns:a16="http://schemas.microsoft.com/office/drawing/2014/main" id="{DBEFDB0C-B099-09B5-232E-F0FD7B01BA79}"/>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0" name="Group 9" descr="We say Thread 2 invokes withdraw(75)">
            <a:extLst>
              <a:ext uri="{FF2B5EF4-FFF2-40B4-BE49-F238E27FC236}">
                <a16:creationId xmlns:a16="http://schemas.microsoft.com/office/drawing/2014/main" id="{3B3EBB13-33E7-9FAE-CF2D-626E366C090F}"/>
              </a:ext>
            </a:extLst>
          </p:cNvPr>
          <p:cNvGrpSpPr/>
          <p:nvPr/>
        </p:nvGrpSpPr>
        <p:grpSpPr>
          <a:xfrm>
            <a:off x="6878319" y="1865651"/>
            <a:ext cx="2165657" cy="1163320"/>
            <a:chOff x="6878319" y="1865651"/>
            <a:chExt cx="2165657" cy="1163320"/>
          </a:xfrm>
        </p:grpSpPr>
        <p:sp>
          <p:nvSpPr>
            <p:cNvPr id="7" name="Rectangle 6">
              <a:extLst>
                <a:ext uri="{FF2B5EF4-FFF2-40B4-BE49-F238E27FC236}">
                  <a16:creationId xmlns:a16="http://schemas.microsoft.com/office/drawing/2014/main" id="{E3D40A5B-D6FE-42EA-6F2F-1386F2603716}"/>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2" name="Group 11" descr="Consider the interleaving where Thread 2 executes the entire body of withdraw, then Thread1 executes the entire body of withdraw.">
            <a:extLst>
              <a:ext uri="{FF2B5EF4-FFF2-40B4-BE49-F238E27FC236}">
                <a16:creationId xmlns:a16="http://schemas.microsoft.com/office/drawing/2014/main" id="{D16BBCC1-BF69-C4E8-BE87-4400F76F97F9}"/>
              </a:ext>
            </a:extLst>
          </p:cNvPr>
          <p:cNvGrpSpPr/>
          <p:nvPr/>
        </p:nvGrpSpPr>
        <p:grpSpPr>
          <a:xfrm>
            <a:off x="2864289" y="3437615"/>
            <a:ext cx="6786878" cy="2424706"/>
            <a:chOff x="2864289" y="3437615"/>
            <a:chExt cx="6786878" cy="242470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grpSp>
    </p:spTree>
    <p:extLst>
      <p:ext uri="{BB962C8B-B14F-4D97-AF65-F5344CB8AC3E}">
        <p14:creationId xmlns:p14="http://schemas.microsoft.com/office/powerpoint/2010/main" val="376417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 “Bad”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Now consider the following interleaving:&#10;&#10;First Thread1 executes:&#10;int b = getBalance();&#10;&#10;Next Thread 2 executes the entire body of withdraw&#10;&#10;Finally Thread 1 finishes its withdraw doing:&#10;if(amount &gt; b) {throw new Exception();}&#10;setBalance(b-amount);">
            <a:extLst>
              <a:ext uri="{FF2B5EF4-FFF2-40B4-BE49-F238E27FC236}">
                <a16:creationId xmlns:a16="http://schemas.microsoft.com/office/drawing/2014/main" id="{CA326DC4-276C-E676-EA63-5E67F6491C43}"/>
              </a:ext>
            </a:extLst>
          </p:cNvPr>
          <p:cNvGrpSpPr/>
          <p:nvPr/>
        </p:nvGrpSpPr>
        <p:grpSpPr>
          <a:xfrm>
            <a:off x="2864289" y="3437615"/>
            <a:ext cx="6786878" cy="2424706"/>
            <a:chOff x="2864289" y="3437615"/>
            <a:chExt cx="6786878" cy="242470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grpSp>
      <p:grpSp>
        <p:nvGrpSpPr>
          <p:cNvPr id="4" name="Group 3" descr="We say Thread 1 is the one running withdraw(100);">
            <a:extLst>
              <a:ext uri="{FF2B5EF4-FFF2-40B4-BE49-F238E27FC236}">
                <a16:creationId xmlns:a16="http://schemas.microsoft.com/office/drawing/2014/main" id="{31D7F015-1F42-E285-626C-83660EF73E9E}"/>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F2C16CB2-E8A5-C67F-B0AF-C0F3FFEBB55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FA976BB2-4FE4-A785-98BF-1A584BCD1570}"/>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B7DFB475-8B8F-B694-3C4D-5BB8EADED1CB}"/>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A5534C67-A22F-A634-DAB7-13D3C49061CE}"/>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6A206E50-CE39-3B65-6146-3CA6C9DED9C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518490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25FF-2CDE-3F33-5B4D-F3A0869EECD9}"/>
              </a:ext>
            </a:extLst>
          </p:cNvPr>
          <p:cNvSpPr>
            <a:spLocks noGrp="1"/>
          </p:cNvSpPr>
          <p:nvPr>
            <p:ph type="title"/>
          </p:nvPr>
        </p:nvSpPr>
        <p:spPr/>
        <p:txBody>
          <a:bodyPr/>
          <a:lstStyle/>
          <a:p>
            <a:r>
              <a:rPr lang="en-US" dirty="0"/>
              <a:t>A Bad Fix</a:t>
            </a:r>
          </a:p>
        </p:txBody>
      </p:sp>
      <p:sp>
        <p:nvSpPr>
          <p:cNvPr id="4" name="Content Placeholder 2">
            <a:extLst>
              <a:ext uri="{FF2B5EF4-FFF2-40B4-BE49-F238E27FC236}">
                <a16:creationId xmlns:a16="http://schemas.microsoft.com/office/drawing/2014/main" id="{29364B38-540B-8CEF-70F3-5E01114ACE88}"/>
              </a:ext>
            </a:extLst>
          </p:cNvPr>
          <p:cNvSpPr>
            <a:spLocks noGrp="1"/>
          </p:cNvSpPr>
          <p:nvPr>
            <p:ph idx="1"/>
          </p:nvPr>
        </p:nvSpPr>
        <p:spPr>
          <a:xfrm>
            <a:off x="274320" y="1330960"/>
            <a:ext cx="11917680" cy="5527039"/>
          </a:xfrm>
        </p:spPr>
        <p:txBody>
          <a:bodyPr>
            <a:normAutofit fontScale="92500" lnSpcReduction="1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if (amount &gt; </a:t>
            </a:r>
            <a:r>
              <a:rPr lang="en-US" dirty="0" err="1">
                <a:solidFill>
                  <a:srgbClr val="FF0000"/>
                </a:solidFill>
              </a:rPr>
              <a:t>getBalance</a:t>
            </a:r>
            <a:r>
              <a:rPr lang="en-US" dirty="0">
                <a:solidFill>
                  <a:srgbClr val="FF0000"/>
                </a:solidFill>
              </a:rPr>
              <a:t>()</a:t>
            </a:r>
            <a:r>
              <a:rPr lang="en-US" dirty="0"/>
              <a:t>)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a:t>
            </a:r>
            <a:r>
              <a:rPr lang="en-US" dirty="0" err="1">
                <a:solidFill>
                  <a:srgbClr val="FF0000"/>
                </a:solidFill>
              </a:rPr>
              <a:t>getBalance</a:t>
            </a:r>
            <a:r>
              <a:rPr lang="en-US" dirty="0">
                <a:solidFill>
                  <a:srgbClr val="FF0000"/>
                </a:solidFill>
              </a:rPr>
              <a:t>()</a:t>
            </a:r>
            <a:r>
              <a:rPr lang="en-US" dirty="0"/>
              <a:t> – amount); }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310764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Avoiding Variables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Thread 2 does the lines:&#10;if(amount &gt; getBalance()) {throw new Exception();}&#10;&#10;Then Thread 1 does:&#10;if(amount &gt; getBalance()) {throw new Exception();}&#10;followed by just the getBalance() call from the line: &#10;setBalance(getBalance()-amount);&#10;&#10;Then thread 2 does the whole line:&#10;setBalance(getBalance()-amount);&#10;&#10;And finally thread 1 finishes: setBalance(getBalance()-amount);&#10;using the already-computed result of getBalance()">
            <a:extLst>
              <a:ext uri="{FF2B5EF4-FFF2-40B4-BE49-F238E27FC236}">
                <a16:creationId xmlns:a16="http://schemas.microsoft.com/office/drawing/2014/main" id="{4664EB9F-634F-29E4-B976-341C6A593C51}"/>
              </a:ext>
            </a:extLst>
          </p:cNvPr>
          <p:cNvGrpSpPr/>
          <p:nvPr/>
        </p:nvGrpSpPr>
        <p:grpSpPr>
          <a:xfrm>
            <a:off x="2428241" y="3437615"/>
            <a:ext cx="7658975" cy="2424706"/>
            <a:chOff x="2428241" y="3437615"/>
            <a:chExt cx="7658975" cy="2424706"/>
          </a:xfrm>
        </p:grpSpPr>
        <p:sp>
          <p:nvSpPr>
            <p:cNvPr id="9" name="Rectangle 8">
              <a:extLst>
                <a:ext uri="{FF2B5EF4-FFF2-40B4-BE49-F238E27FC236}">
                  <a16:creationId xmlns:a16="http://schemas.microsoft.com/office/drawing/2014/main" id="{153111F2-E0CB-EFB9-CDFE-114A83873431}"/>
                </a:ext>
              </a:extLst>
            </p:cNvPr>
            <p:cNvSpPr/>
            <p:nvPr/>
          </p:nvSpPr>
          <p:spPr>
            <a:xfrm>
              <a:off x="2428241" y="3437615"/>
              <a:ext cx="3829488"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r>
                <a:rPr lang="en-US" dirty="0" err="1">
                  <a:solidFill>
                    <a:schemeClr val="accent4">
                      <a:lumMod val="50000"/>
                    </a:schemeClr>
                  </a:solidFill>
                </a:rPr>
                <a:t>setBalance</a:t>
              </a:r>
              <a:r>
                <a:rPr lang="en-US" dirty="0">
                  <a:solidFill>
                    <a:schemeClr val="accent4">
                      <a:lumMod val="50000"/>
                    </a:schemeClr>
                  </a:solidFill>
                </a:rPr>
                <a:t>(</a:t>
              </a:r>
              <a:r>
                <a:rPr lang="en-US" dirty="0" err="1">
                  <a:solidFill>
                    <a:schemeClr val="tx1"/>
                  </a:solidFill>
                </a:rPr>
                <a:t>getBalance</a:t>
              </a:r>
              <a:r>
                <a:rPr lang="en-US" dirty="0">
                  <a:solidFill>
                    <a:schemeClr val="tx1"/>
                  </a:solidFill>
                </a:rPr>
                <a:t>()</a:t>
              </a:r>
              <a:r>
                <a:rPr lang="en-US" dirty="0">
                  <a:solidFill>
                    <a:schemeClr val="accent4">
                      <a:lumMod val="50000"/>
                    </a:schemeClr>
                  </a:solidFill>
                </a:rPr>
                <a:t> – amount);</a:t>
              </a:r>
            </a:p>
            <a:p>
              <a:pPr marL="0" indent="0">
                <a:buNone/>
              </a:pPr>
              <a:endParaRPr lang="en-US" dirty="0">
                <a:solidFill>
                  <a:schemeClr val="accent1">
                    <a:lumMod val="60000"/>
                    <a:lumOff val="40000"/>
                  </a:schemeClr>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accent4">
                      <a:lumMod val="50000"/>
                    </a:schemeClr>
                  </a:solidFill>
                </a:rPr>
                <a:t>getBalance</a:t>
              </a:r>
              <a:r>
                <a:rPr lang="en-US" dirty="0">
                  <a:solidFill>
                    <a:schemeClr val="accent4">
                      <a:lumMod val="50000"/>
                    </a:schemeClr>
                  </a:solidFill>
                </a:rPr>
                <a:t>()</a:t>
              </a:r>
              <a:r>
                <a:rPr lang="en-US" dirty="0">
                  <a:solidFill>
                    <a:schemeClr val="accent1">
                      <a:lumMod val="60000"/>
                      <a:lumOff val="40000"/>
                    </a:schemeClr>
                  </a:solidFill>
                </a:rPr>
                <a:t> </a:t>
              </a:r>
              <a:r>
                <a:rPr lang="en-US" dirty="0">
                  <a:solidFill>
                    <a:schemeClr val="tx1"/>
                  </a:solidFill>
                </a:rPr>
                <a:t>–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829488"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tx1"/>
                  </a:solidFill>
                </a:rPr>
                <a:t>getBalance</a:t>
              </a:r>
              <a:r>
                <a:rPr lang="en-US" dirty="0">
                  <a:solidFill>
                    <a:schemeClr val="tx1"/>
                  </a:solidFill>
                </a:rPr>
                <a:t>() – amount);</a:t>
              </a:r>
            </a:p>
          </p:txBody>
        </p:sp>
      </p:grpSp>
      <p:grpSp>
        <p:nvGrpSpPr>
          <p:cNvPr id="4" name="Group 3" descr="We say Thread 1 is the one running withdraw(100);">
            <a:extLst>
              <a:ext uri="{FF2B5EF4-FFF2-40B4-BE49-F238E27FC236}">
                <a16:creationId xmlns:a16="http://schemas.microsoft.com/office/drawing/2014/main" id="{812389E1-1E68-FF85-9003-480CAE420721}"/>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53259A6D-684B-288A-3889-B65443BF546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46BDE9EC-C504-EA4F-25C1-B1B4C3215CD7}"/>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81813798-F247-2EEC-F254-BAA01F1618DC}"/>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7273181A-446D-39C0-12A1-3A47DF087C99}"/>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24C52D6E-E553-5572-A2F1-03E8D59B143E}"/>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701308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CF88-C78D-8F7E-C458-5267F33A382F}"/>
              </a:ext>
            </a:extLst>
          </p:cNvPr>
          <p:cNvSpPr>
            <a:spLocks noGrp="1"/>
          </p:cNvSpPr>
          <p:nvPr>
            <p:ph type="title"/>
          </p:nvPr>
        </p:nvSpPr>
        <p:spPr/>
        <p:txBody>
          <a:bodyPr/>
          <a:lstStyle/>
          <a:p>
            <a:r>
              <a:rPr lang="en-US" dirty="0"/>
              <a:t>What we want – Mutual Exclusion</a:t>
            </a:r>
          </a:p>
        </p:txBody>
      </p:sp>
      <p:sp>
        <p:nvSpPr>
          <p:cNvPr id="3" name="Content Placeholder 2">
            <a:extLst>
              <a:ext uri="{FF2B5EF4-FFF2-40B4-BE49-F238E27FC236}">
                <a16:creationId xmlns:a16="http://schemas.microsoft.com/office/drawing/2014/main" id="{026C05A3-0912-1FA4-743F-1EACF89C314E}"/>
              </a:ext>
            </a:extLst>
          </p:cNvPr>
          <p:cNvSpPr>
            <a:spLocks noGrp="1"/>
          </p:cNvSpPr>
          <p:nvPr>
            <p:ph idx="1"/>
          </p:nvPr>
        </p:nvSpPr>
        <p:spPr/>
        <p:txBody>
          <a:bodyPr/>
          <a:lstStyle/>
          <a:p>
            <a:r>
              <a:rPr lang="en-US" dirty="0"/>
              <a:t>While one thread is withdrawing from the account, we want to exclude all other threads from also withdrawing</a:t>
            </a:r>
          </a:p>
          <a:p>
            <a:r>
              <a:rPr lang="en-US" dirty="0"/>
              <a:t>Called mutual exclusion: </a:t>
            </a:r>
          </a:p>
          <a:p>
            <a:pPr lvl="1"/>
            <a:r>
              <a:rPr lang="en-US" dirty="0"/>
              <a:t>One thread using a resource (here: a bank account) means another thread must wait </a:t>
            </a:r>
          </a:p>
          <a:p>
            <a:pPr lvl="1"/>
            <a:r>
              <a:rPr lang="en-US" dirty="0"/>
              <a:t>We call the area of code that we want to have mutual exclusion (only one thread can be there at a time) a </a:t>
            </a:r>
            <a:r>
              <a:rPr lang="en-US" b="1" dirty="0"/>
              <a:t>critical section</a:t>
            </a:r>
            <a:r>
              <a:rPr lang="en-US" dirty="0"/>
              <a:t>.</a:t>
            </a:r>
          </a:p>
          <a:p>
            <a:r>
              <a:rPr lang="en-US" dirty="0"/>
              <a:t>The programmer must implement critical sections!</a:t>
            </a:r>
          </a:p>
          <a:p>
            <a:pPr lvl="1"/>
            <a:r>
              <a:rPr lang="en-US" dirty="0"/>
              <a:t>It requires programming language primitives to do correctly</a:t>
            </a:r>
          </a:p>
        </p:txBody>
      </p:sp>
    </p:spTree>
    <p:extLst>
      <p:ext uri="{BB962C8B-B14F-4D97-AF65-F5344CB8AC3E}">
        <p14:creationId xmlns:p14="http://schemas.microsoft.com/office/powerpoint/2010/main" val="3986630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 Bad attempt at Mutual Exclusion</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Boolean busy = false;</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a:solidFill>
                  <a:srgbClr val="FF0000"/>
                </a:solidFill>
              </a:rPr>
              <a:t>while (busy) { /* wait until not busy */ }</a:t>
            </a:r>
          </a:p>
          <a:p>
            <a:pPr marL="0" indent="0">
              <a:buNone/>
            </a:pPr>
            <a:r>
              <a:rPr lang="en-US" dirty="0">
                <a:solidFill>
                  <a:srgbClr val="FF0000"/>
                </a:solidFill>
              </a:rPr>
              <a:t>		busy = true;</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a:solidFill>
                  <a:srgbClr val="FF0000"/>
                </a:solidFill>
              </a:rPr>
              <a:t>busy = false;</a:t>
            </a:r>
            <a:r>
              <a:rPr lang="en-US" dirty="0"/>
              <a:t>}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2059143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The “Busy Signal”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First Thread 1 does :&#10;while(busy) {}&#10;Then upon seeing busy is False it moves past the line, but gets interrupted for time slicing before it executes the line to set busy to be true.&#10;&#10;Then Thread 2 runs its line:&#10;while(busy) {}&#10;And likewise sees that busy is still False, so it moves past that line. From this point we can use whatever interleaving we would like.">
            <a:extLst>
              <a:ext uri="{FF2B5EF4-FFF2-40B4-BE49-F238E27FC236}">
                <a16:creationId xmlns:a16="http://schemas.microsoft.com/office/drawing/2014/main" id="{EA69FE4F-FE8C-DB87-E33F-307213B54278}"/>
              </a:ext>
            </a:extLst>
          </p:cNvPr>
          <p:cNvGrpSpPr/>
          <p:nvPr/>
        </p:nvGrpSpPr>
        <p:grpSpPr>
          <a:xfrm>
            <a:off x="2255520" y="2915918"/>
            <a:ext cx="8004416" cy="3942083"/>
            <a:chOff x="2255520" y="2915918"/>
            <a:chExt cx="8004416" cy="3942083"/>
          </a:xfrm>
        </p:grpSpPr>
        <p:sp>
          <p:nvSpPr>
            <p:cNvPr id="9" name="Rectangle 8">
              <a:extLst>
                <a:ext uri="{FF2B5EF4-FFF2-40B4-BE49-F238E27FC236}">
                  <a16:creationId xmlns:a16="http://schemas.microsoft.com/office/drawing/2014/main" id="{153111F2-E0CB-EFB9-CDFE-114A83873431}"/>
                </a:ext>
              </a:extLst>
            </p:cNvPr>
            <p:cNvSpPr/>
            <p:nvPr/>
          </p:nvSpPr>
          <p:spPr>
            <a:xfrm>
              <a:off x="2255520" y="2915920"/>
              <a:ext cx="4002209"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915918"/>
              <a:ext cx="4002208"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p:txBody>
        </p:sp>
      </p:grpSp>
      <p:grpSp>
        <p:nvGrpSpPr>
          <p:cNvPr id="4" name="Group 3" descr="We say Thread 1 is the one running withdraw(100);">
            <a:extLst>
              <a:ext uri="{FF2B5EF4-FFF2-40B4-BE49-F238E27FC236}">
                <a16:creationId xmlns:a16="http://schemas.microsoft.com/office/drawing/2014/main" id="{532EB1D6-83A7-F8E1-A662-3CCB03F02C31}"/>
              </a:ext>
            </a:extLst>
          </p:cNvPr>
          <p:cNvGrpSpPr/>
          <p:nvPr/>
        </p:nvGrpSpPr>
        <p:grpSpPr>
          <a:xfrm>
            <a:off x="3478179" y="1865651"/>
            <a:ext cx="2165657" cy="916878"/>
            <a:chOff x="3478179" y="1865651"/>
            <a:chExt cx="2165657" cy="916878"/>
          </a:xfrm>
        </p:grpSpPr>
        <p:sp>
          <p:nvSpPr>
            <p:cNvPr id="10" name="Rectangle 9">
              <a:extLst>
                <a:ext uri="{FF2B5EF4-FFF2-40B4-BE49-F238E27FC236}">
                  <a16:creationId xmlns:a16="http://schemas.microsoft.com/office/drawing/2014/main" id="{10E5DC7E-3293-32FF-1410-FD5F9DF1A43A}"/>
                </a:ext>
              </a:extLst>
            </p:cNvPr>
            <p:cNvSpPr/>
            <p:nvPr/>
          </p:nvSpPr>
          <p:spPr>
            <a:xfrm>
              <a:off x="347817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510C8C5A-8E5B-130C-66C6-D0CFD51F2B56}"/>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A537FC43-E6B9-08D4-E411-CB21EB7CE996}"/>
              </a:ext>
            </a:extLst>
          </p:cNvPr>
          <p:cNvGrpSpPr/>
          <p:nvPr/>
        </p:nvGrpSpPr>
        <p:grpSpPr>
          <a:xfrm>
            <a:off x="6878319" y="1865651"/>
            <a:ext cx="2165657" cy="916878"/>
            <a:chOff x="6878319" y="1865651"/>
            <a:chExt cx="2165657" cy="916878"/>
          </a:xfrm>
        </p:grpSpPr>
        <p:sp>
          <p:nvSpPr>
            <p:cNvPr id="14" name="Rectangle 13">
              <a:extLst>
                <a:ext uri="{FF2B5EF4-FFF2-40B4-BE49-F238E27FC236}">
                  <a16:creationId xmlns:a16="http://schemas.microsoft.com/office/drawing/2014/main" id="{F091DDEB-8FF4-69AA-AB0C-4B69E5C28507}"/>
                </a:ext>
              </a:extLst>
            </p:cNvPr>
            <p:cNvSpPr/>
            <p:nvPr/>
          </p:nvSpPr>
          <p:spPr>
            <a:xfrm>
              <a:off x="687831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35F02F73-164F-2826-26F4-C218B29B2E15}"/>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919207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AEEC-82A4-7735-C350-4DA0E1BBE1B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D9594BA-009A-BCE3-1087-2A0C36A4391A}"/>
              </a:ext>
            </a:extLst>
          </p:cNvPr>
          <p:cNvSpPr>
            <a:spLocks noGrp="1"/>
          </p:cNvSpPr>
          <p:nvPr>
            <p:ph idx="1"/>
          </p:nvPr>
        </p:nvSpPr>
        <p:spPr>
          <a:xfrm>
            <a:off x="838200" y="1825624"/>
            <a:ext cx="10515600" cy="5032375"/>
          </a:xfrm>
        </p:spPr>
        <p:txBody>
          <a:bodyPr/>
          <a:lstStyle/>
          <a:p>
            <a:r>
              <a:rPr lang="en-US" dirty="0"/>
              <a:t>We need a construct from Java to do this</a:t>
            </a:r>
          </a:p>
          <a:p>
            <a:r>
              <a:rPr lang="en-US" dirty="0"/>
              <a:t>One Solution – A </a:t>
            </a:r>
            <a:r>
              <a:rPr lang="en-US" b="1" dirty="0"/>
              <a:t>Mutual Exclusion Lock</a:t>
            </a:r>
            <a:r>
              <a:rPr lang="en-US" dirty="0"/>
              <a:t> (called a Mutex or Lock)</a:t>
            </a:r>
          </a:p>
          <a:p>
            <a:r>
              <a:rPr lang="en-US" dirty="0"/>
              <a:t>We define a </a:t>
            </a:r>
            <a:r>
              <a:rPr lang="en-US" b="1" dirty="0"/>
              <a:t>Lock</a:t>
            </a:r>
            <a:r>
              <a:rPr lang="en-US" dirty="0"/>
              <a:t> to be an ADT with operations:</a:t>
            </a:r>
          </a:p>
          <a:p>
            <a:pPr lvl="1"/>
            <a:r>
              <a:rPr lang="en-US" dirty="0"/>
              <a:t>New: </a:t>
            </a:r>
          </a:p>
          <a:p>
            <a:pPr lvl="2"/>
            <a:r>
              <a:rPr lang="en-US" dirty="0"/>
              <a:t>make a new lock, initially “not held”</a:t>
            </a:r>
          </a:p>
          <a:p>
            <a:pPr lvl="1"/>
            <a:r>
              <a:rPr lang="en-US" dirty="0"/>
              <a:t>Acquire:</a:t>
            </a:r>
          </a:p>
          <a:p>
            <a:pPr lvl="2"/>
            <a:r>
              <a:rPr lang="en-US" dirty="0"/>
              <a:t>If lock is not held, mark it as “held”</a:t>
            </a:r>
          </a:p>
          <a:p>
            <a:pPr lvl="3"/>
            <a:r>
              <a:rPr lang="en-US" dirty="0"/>
              <a:t>These two steps always done together in a way that cannot be interrupted!</a:t>
            </a:r>
          </a:p>
          <a:p>
            <a:pPr lvl="2"/>
            <a:r>
              <a:rPr lang="en-US" dirty="0"/>
              <a:t>If lock is held, pause until it is marked as “not held”</a:t>
            </a:r>
          </a:p>
          <a:p>
            <a:pPr lvl="1"/>
            <a:r>
              <a:rPr lang="en-US" dirty="0"/>
              <a:t>Release:</a:t>
            </a:r>
          </a:p>
          <a:p>
            <a:pPr lvl="2"/>
            <a:r>
              <a:rPr lang="en-US" dirty="0"/>
              <a:t>Mark the lock as “not held”</a:t>
            </a:r>
          </a:p>
        </p:txBody>
      </p:sp>
    </p:spTree>
    <p:extLst>
      <p:ext uri="{BB962C8B-B14F-4D97-AF65-F5344CB8AC3E}">
        <p14:creationId xmlns:p14="http://schemas.microsoft.com/office/powerpoint/2010/main" val="2056654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Almost Correct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lck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r>
              <a:rPr lang="en-US" dirty="0"/>
              <a: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F9521E9D-CC7F-2013-9558-8183772814AD}"/>
              </a:ext>
            </a:extLst>
          </p:cNvPr>
          <p:cNvSpPr txBox="1"/>
          <p:nvPr/>
        </p:nvSpPr>
        <p:spPr>
          <a:xfrm>
            <a:off x="8361680" y="1733193"/>
            <a:ext cx="3115725" cy="923330"/>
          </a:xfrm>
          <a:prstGeom prst="rect">
            <a:avLst/>
          </a:prstGeom>
          <a:noFill/>
          <a:ln>
            <a:solidFill>
              <a:schemeClr val="accent5">
                <a:lumMod val="75000"/>
              </a:schemeClr>
            </a:solidFill>
          </a:ln>
        </p:spPr>
        <p:txBody>
          <a:bodyPr wrap="non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What is the critical section?</a:t>
            </a:r>
          </a:p>
          <a:p>
            <a:pPr marL="342900" indent="-342900">
              <a:buFont typeface="+mj-lt"/>
              <a:buAutoNum type="arabicPeriod"/>
            </a:pPr>
            <a:r>
              <a:rPr lang="en-US" dirty="0">
                <a:solidFill>
                  <a:schemeClr val="accent5">
                    <a:lumMod val="75000"/>
                  </a:schemeClr>
                </a:solidFill>
              </a:rPr>
              <a:t>What is the Error?</a:t>
            </a:r>
          </a:p>
        </p:txBody>
      </p:sp>
    </p:spTree>
    <p:extLst>
      <p:ext uri="{BB962C8B-B14F-4D97-AF65-F5344CB8AC3E}">
        <p14:creationId xmlns:p14="http://schemas.microsoft.com/office/powerpoint/2010/main" val="677388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3AB2-3D5A-EB16-47FC-4AD3E7B76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0B8C1-27B5-CE1A-EAE5-9CAADA064486}"/>
              </a:ext>
            </a:extLst>
          </p:cNvPr>
          <p:cNvSpPr>
            <a:spLocks noGrp="1"/>
          </p:cNvSpPr>
          <p:nvPr>
            <p:ph type="title"/>
          </p:nvPr>
        </p:nvSpPr>
        <p:spPr/>
        <p:txBody>
          <a:bodyPr/>
          <a:lstStyle/>
          <a:p>
            <a:r>
              <a:rPr lang="en-US" dirty="0"/>
              <a:t>Exceptions End the Method!</a:t>
            </a:r>
          </a:p>
        </p:txBody>
      </p:sp>
      <p:sp>
        <p:nvSpPr>
          <p:cNvPr id="7" name="Content Placeholder 2">
            <a:extLst>
              <a:ext uri="{FF2B5EF4-FFF2-40B4-BE49-F238E27FC236}">
                <a16:creationId xmlns:a16="http://schemas.microsoft.com/office/drawing/2014/main" id="{AE8E52FE-1490-C84A-188E-E5FE73DB25E7}"/>
              </a:ext>
            </a:extLst>
          </p:cNvPr>
          <p:cNvSpPr>
            <a:spLocks noGrp="1"/>
          </p:cNvSpPr>
          <p:nvPr>
            <p:ph idx="1"/>
          </p:nvPr>
        </p:nvSpPr>
        <p:spPr>
          <a:xfrm>
            <a:off x="274320" y="1330960"/>
            <a:ext cx="11917680" cy="5527039"/>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lck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r>
              <a:rPr lang="en-US" dirty="0"/>
              <a: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BE52A69B-ABDE-910C-4672-36C0A2175A2C}"/>
              </a:ext>
            </a:extLst>
          </p:cNvPr>
          <p:cNvSpPr txBox="1"/>
          <p:nvPr/>
        </p:nvSpPr>
        <p:spPr>
          <a:xfrm>
            <a:off x="7862917" y="1690688"/>
            <a:ext cx="3710248" cy="1200329"/>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If we throw an exception, we never finish the method!</a:t>
            </a:r>
          </a:p>
          <a:p>
            <a:endParaRPr lang="en-US" dirty="0">
              <a:solidFill>
                <a:schemeClr val="accent5">
                  <a:lumMod val="75000"/>
                </a:schemeClr>
              </a:solidFill>
            </a:endParaRPr>
          </a:p>
          <a:p>
            <a:r>
              <a:rPr lang="en-US" dirty="0">
                <a:solidFill>
                  <a:schemeClr val="accent5">
                    <a:lumMod val="75000"/>
                  </a:schemeClr>
                </a:solidFill>
              </a:rPr>
              <a:t>The lock would never get released!</a:t>
            </a:r>
          </a:p>
        </p:txBody>
      </p:sp>
    </p:spTree>
    <p:extLst>
      <p:ext uri="{BB962C8B-B14F-4D97-AF65-F5344CB8AC3E}">
        <p14:creationId xmlns:p14="http://schemas.microsoft.com/office/powerpoint/2010/main" val="3342528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7323-349F-EF3C-515F-012FCEA685C6}"/>
              </a:ext>
            </a:extLst>
          </p:cNvPr>
          <p:cNvSpPr>
            <a:spLocks noGrp="1"/>
          </p:cNvSpPr>
          <p:nvPr>
            <p:ph type="title"/>
          </p:nvPr>
        </p:nvSpPr>
        <p:spPr/>
        <p:txBody>
          <a:bodyPr/>
          <a:lstStyle/>
          <a:p>
            <a:r>
              <a:rPr lang="en-US" dirty="0"/>
              <a:t>Try…Finally</a:t>
            </a:r>
          </a:p>
        </p:txBody>
      </p:sp>
      <p:sp>
        <p:nvSpPr>
          <p:cNvPr id="3" name="Content Placeholder 2">
            <a:extLst>
              <a:ext uri="{FF2B5EF4-FFF2-40B4-BE49-F238E27FC236}">
                <a16:creationId xmlns:a16="http://schemas.microsoft.com/office/drawing/2014/main" id="{84785A17-F9C0-58D0-1F19-EE96DE3C8C13}"/>
              </a:ext>
            </a:extLst>
          </p:cNvPr>
          <p:cNvSpPr>
            <a:spLocks noGrp="1"/>
          </p:cNvSpPr>
          <p:nvPr>
            <p:ph idx="1"/>
          </p:nvPr>
        </p:nvSpPr>
        <p:spPr/>
        <p:txBody>
          <a:bodyPr/>
          <a:lstStyle/>
          <a:p>
            <a:r>
              <a:rPr lang="en-US" dirty="0"/>
              <a:t>Try Block:</a:t>
            </a:r>
          </a:p>
          <a:p>
            <a:pPr lvl="1"/>
            <a:r>
              <a:rPr lang="en-US" dirty="0"/>
              <a:t>Body of code that will be run</a:t>
            </a:r>
          </a:p>
          <a:p>
            <a:r>
              <a:rPr lang="en-US" dirty="0"/>
              <a:t>Finally Block:</a:t>
            </a:r>
          </a:p>
          <a:p>
            <a:pPr lvl="1"/>
            <a:r>
              <a:rPr lang="en-US" dirty="0"/>
              <a:t>Always runs once the program exits try block (whether due to a return, exception, anything!)</a:t>
            </a:r>
          </a:p>
        </p:txBody>
      </p:sp>
    </p:spTree>
    <p:extLst>
      <p:ext uri="{BB962C8B-B14F-4D97-AF65-F5344CB8AC3E}">
        <p14:creationId xmlns:p14="http://schemas.microsoft.com/office/powerpoint/2010/main" val="3989048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Correct (but not Java)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lck</a:t>
            </a:r>
            <a:r>
              <a:rPr lang="en-US" dirty="0"/>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a:solidFill>
                  <a:srgbClr val="FF0000"/>
                </a:solidFill>
              </a:rPr>
              <a:t>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r>
              <a:rPr lang="en-US" dirty="0">
                <a:solidFill>
                  <a:srgbClr val="FF0000"/>
                </a:solidFill>
              </a:rPr>
              <a:t>}</a:t>
            </a:r>
          </a:p>
          <a:p>
            <a:pPr marL="0" indent="0">
              <a:buNone/>
            </a:pPr>
            <a:r>
              <a:rPr lang="en-US" dirty="0"/>
              <a:t>		</a:t>
            </a:r>
            <a:r>
              <a:rPr lang="en-US" dirty="0">
                <a:solidFill>
                  <a:srgbClr val="FF0000"/>
                </a:solidFill>
              </a:rPr>
              <a:t>finally { </a:t>
            </a:r>
            <a:r>
              <a:rPr lang="en-US" dirty="0" err="1">
                <a:solidFill>
                  <a:srgbClr val="FF0000"/>
                </a:solidFill>
              </a:rPr>
              <a:t>lk.release</a:t>
            </a:r>
            <a:r>
              <a:rPr lang="en-US" dirty="0">
                <a:solidFill>
                  <a:srgbClr val="FF0000"/>
                </a:solidFill>
              </a:rPr>
              <a:t>(); } </a:t>
            </a:r>
            <a:r>
              <a:rPr lang="en-US" dirty="0"/>
              <a:t>} </a:t>
            </a:r>
          </a:p>
          <a:p>
            <a:pPr marL="0" indent="0">
              <a:buNone/>
            </a:pPr>
            <a:r>
              <a:rPr lang="en-US" dirty="0"/>
              <a:t>	// other operations like deposit, etc. </a:t>
            </a:r>
          </a:p>
          <a:p>
            <a:pPr marL="0" indent="0">
              <a:buNone/>
            </a:pPr>
            <a:r>
              <a:rPr lang="en-US" dirty="0"/>
              <a:t>} </a:t>
            </a:r>
          </a:p>
        </p:txBody>
      </p:sp>
      <p:sp>
        <p:nvSpPr>
          <p:cNvPr id="4" name="TextBox 3">
            <a:extLst>
              <a:ext uri="{FF2B5EF4-FFF2-40B4-BE49-F238E27FC236}">
                <a16:creationId xmlns:a16="http://schemas.microsoft.com/office/drawing/2014/main" id="{C44441CF-8A8F-00EF-539B-A42DE40C58E9}"/>
              </a:ext>
            </a:extLst>
          </p:cNvPr>
          <p:cNvSpPr txBox="1"/>
          <p:nvPr/>
        </p:nvSpPr>
        <p:spPr>
          <a:xfrm>
            <a:off x="8585200" y="1690688"/>
            <a:ext cx="3484881"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Should deposit have its own lock object?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getBalance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setBalance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Should they share one?</a:t>
            </a:r>
          </a:p>
        </p:txBody>
      </p:sp>
    </p:spTree>
    <p:extLst>
      <p:ext uri="{BB962C8B-B14F-4D97-AF65-F5344CB8AC3E}">
        <p14:creationId xmlns:p14="http://schemas.microsoft.com/office/powerpoint/2010/main" val="346467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32595</TotalTime>
  <Words>3461</Words>
  <Application>Microsoft Office PowerPoint</Application>
  <PresentationFormat>Widescreen</PresentationFormat>
  <Paragraphs>565</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Cambria Math</vt:lpstr>
      <vt:lpstr>Calibri</vt:lpstr>
      <vt:lpstr>Aptos</vt:lpstr>
      <vt:lpstr>Calibri Light</vt:lpstr>
      <vt:lpstr>Office Theme</vt:lpstr>
      <vt:lpstr>CSE 332 Winter 2026 Lecture 22: Amdahl’s Law and Wisdom</vt:lpstr>
      <vt:lpstr>Work and Span</vt:lpstr>
      <vt:lpstr>Directed Acyclic Graph (DAG)</vt:lpstr>
      <vt:lpstr>Task Dependency Graph</vt:lpstr>
      <vt:lpstr>Work Law</vt:lpstr>
      <vt:lpstr>Asymptotically Optimal T_P</vt:lpstr>
      <vt:lpstr>More Vocab</vt:lpstr>
      <vt:lpstr>And now for some bad news…</vt:lpstr>
      <vt:lpstr>Amdahl’s Law (mostly bad news)</vt:lpstr>
      <vt:lpstr>Amdahl’s Law Example</vt:lpstr>
      <vt:lpstr>Conclusion</vt:lpstr>
      <vt:lpstr>Memory Sharing With ForkJoin</vt:lpstr>
      <vt:lpstr>Example: Shared Queue</vt:lpstr>
      <vt:lpstr>Shared Queue Interleaving</vt:lpstr>
      <vt:lpstr>Empty Shared Queue</vt:lpstr>
      <vt:lpstr>Thread 1 – first two lines</vt:lpstr>
      <vt:lpstr>Thread 2 – all lines</vt:lpstr>
      <vt:lpstr>Thread 1 – remaining lines</vt:lpstr>
      <vt:lpstr>Interleaving</vt:lpstr>
      <vt:lpstr>Concurrent Programming</vt:lpstr>
      <vt:lpstr>Analogue Example – Data Race</vt:lpstr>
      <vt:lpstr>Analogue Example – With “Mutual Exclusion”</vt:lpstr>
      <vt:lpstr>Bank Account Example</vt:lpstr>
      <vt:lpstr>Bank Account Example - Parallel</vt:lpstr>
      <vt:lpstr>An “OK” Interleaving</vt:lpstr>
      <vt:lpstr>A “Bad” Interleaving</vt:lpstr>
      <vt:lpstr>A Bad Fix</vt:lpstr>
      <vt:lpstr>Avoiding Variables doesn’t work</vt:lpstr>
      <vt:lpstr>What we want – Mutual Exclusion</vt:lpstr>
      <vt:lpstr>A Bad attempt at Mutual Exclusion</vt:lpstr>
      <vt:lpstr>The “Busy Signal” Doesn’t Work</vt:lpstr>
      <vt:lpstr>Solution</vt:lpstr>
      <vt:lpstr>Almost Correct Bank Account Example</vt:lpstr>
      <vt:lpstr>Exceptions End the Method!</vt:lpstr>
      <vt:lpstr>Try…Finally</vt:lpstr>
      <vt:lpstr>Correct (but not Java) Bank Account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343</cp:revision>
  <dcterms:created xsi:type="dcterms:W3CDTF">2023-10-13T16:06:42Z</dcterms:created>
  <dcterms:modified xsi:type="dcterms:W3CDTF">2026-05-18T17:36:47Z</dcterms:modified>
</cp:coreProperties>
</file>