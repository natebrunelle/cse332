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7" r:id="rId2"/>
    <p:sldId id="852" r:id="rId3"/>
    <p:sldId id="853" r:id="rId4"/>
    <p:sldId id="854" r:id="rId5"/>
    <p:sldId id="855" r:id="rId6"/>
    <p:sldId id="856" r:id="rId7"/>
    <p:sldId id="857" r:id="rId8"/>
    <p:sldId id="858" r:id="rId9"/>
    <p:sldId id="859" r:id="rId10"/>
    <p:sldId id="860" r:id="rId11"/>
    <p:sldId id="752" r:id="rId12"/>
    <p:sldId id="753" r:id="rId13"/>
    <p:sldId id="830" r:id="rId14"/>
    <p:sldId id="836" r:id="rId15"/>
    <p:sldId id="829" r:id="rId16"/>
    <p:sldId id="837" r:id="rId17"/>
    <p:sldId id="846" r:id="rId18"/>
    <p:sldId id="850" r:id="rId19"/>
    <p:sldId id="849" r:id="rId20"/>
    <p:sldId id="756" r:id="rId21"/>
    <p:sldId id="847" r:id="rId22"/>
    <p:sldId id="848" r:id="rId23"/>
    <p:sldId id="851" r:id="rId24"/>
  </p:sldIdLst>
  <p:sldSz cx="12192000" cy="6858000"/>
  <p:notesSz cx="6858000" cy="9144000"/>
  <p:embeddedFontLst>
    <p:embeddedFont>
      <p:font typeface="Cambria Math" panose="02040503050406030204" pitchFamily="18"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19:38:48.584"/>
    </inkml:context>
    <inkml:brush xml:id="br0">
      <inkml:brushProperty name="width" value="0.05292" units="cm"/>
      <inkml:brushProperty name="height" value="0.05292" units="cm"/>
      <inkml:brushProperty name="color" value="#FF0000"/>
    </inkml:brush>
  </inkml:definitions>
  <inkml:trace contextRef="#ctx0" brushRef="#br0">3371 3989 0,'17'8'0,"69"9"0,-86-17 0,145 17 0,85-17 16,35-8-16,8-9 15,26-9-15,25 1 16,52 25-1,25 17-15,-17 17 16,8 8 0,1-8-1,-35-17-15,18-8 16,-35-1 0,-42-8-16,-17-8 15,-26 16 1,-17 18-16,-43-1 15,-42-8 1,-26 9-16,-43-18 16,-34 1-1,-25-1-15,-18-8 16,1 0 0,-18 0-16,-33-8 15,-35-26 1,-77-9-16,-33-8 15,-44 9 1,-42-1-16,-34 1 16,-9-9-1,-25-9-15,-52 18 16,34 24 0,-16 1-16,-18 9 15,69 16 1,-69 18-16,-16 17 15,8-1 1,51 9-16,94-17 16,34-8-1,51-18 1,60 1-16,34-9 16,35 0-16,16 0 15,17 0 1,35 0-16,68 8 15,188-8 1</inkml:trace>
  <inkml:trace contextRef="#ctx0" brushRef="#br0" timeOffset="135022.03">16788 9380 0,'0'0'0,"43"26"0,51 8 0,59 17 16,103 17-16,137-17 15,102-51-15,60-94 16,-145 1 0</inkml:trace>
  <inkml:trace contextRef="#ctx0" brushRef="#br0" timeOffset="148345.31">15337 7637 0,'0'0'0,"0"0"0,0 0 0,0 0 16,0 0-1,0 0-15,0 0 16,0 0 0,0 0-16,0 0 15,0 0 1,0 0-16,0 0 16,0 0-1,0 0-15,0 0 16,0 0-1,0 0-15,0 0 16,9 0 0,-9 0-16,0 0 15,0 0 1,8 0-16,-8 0 16,0 0-1,0 17-15,9 26 16,-9 16-1,0 9-15,8-8 16,-8-1 0,-8-8-16,8 0 15,-9-8 1,1-1-16,-1 1 16,1-1-1,8-25-15</inkml:trace>
  <inkml:trace contextRef="#ctx0" brushRef="#br0" timeOffset="148705.5">14859 8173 0,'0'0'0,"0"0"0,0 0 0,0 0 16,9 8 0,-1 9-16,1 0 15,-1 9 1,10 8-16,-10 8 16,9 9-1,0 0 1,0 0-16,17-8 15,9-1-15,17-7 16,25-18 0,1-9-1,-1-16-15,0-18 16,26-8-16,-8-17 16,-61 17-1</inkml:trace>
  <inkml:trace contextRef="#ctx0" brushRef="#br0" timeOffset="152879.54">21124 7892 0,'-9'0'0,"-8"9"0,-25 8 0,-1 8 16,0 1 0,-8 8-16,-17 17 15,-17 8 1,16 1 0,-8-1-16,1 9 15,-10-8 1,9-9-16,18-9 15,33-16 1</inkml:trace>
  <inkml:trace contextRef="#ctx0" brushRef="#br0" timeOffset="153161.56">20219 8096 0,'0'0'0,"0"0"0,0 0 15,0 0-15,0 0 16,0 9 0,0 8-1,-8 17-15,-1 17 16,1 8 0,8 1-16,0-9 15,0-9 1,17-16-16,8 8 15,44 0 1,67-17 0,18-9-16,127-16 15</inkml:trace>
  <inkml:trace contextRef="#ctx0" brushRef="#br0" timeOffset="175900.72">12674 15104 0,'0'0'0,"0"0"0,0 0 0,0 0 16,0 0 15,0 0-31,-8 8 15,-1 18 1,-16 33-16,-9 10 16,-1-1-1,18-9 1,9-16-16,-1-1 16,9-8-16,0-8 15,0-1 1,17-8-16,18 0 15,-1-8 1,17-1-16,26-16 16,17 8-1,42-9-15,9 1 16,-25-9 0,25 0-16,17 8 15,-25 9 1,-27 0-16,-7 0 15,25 17 1,-17 9-16,-43-9 16,-17 8-1,-25-8-15,0-8 16,-9-1 0,-9 1-16,9-26 15,9-26 1,25-59-16,17-76 15,18-27 1,8 1-16,42-102 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19:42:35.418"/>
    </inkml:context>
    <inkml:brush xml:id="br0">
      <inkml:brushProperty name="width" value="0.05292" units="cm"/>
      <inkml:brushProperty name="height" value="0.05292" units="cm"/>
      <inkml:brushProperty name="color" value="#FF0000"/>
    </inkml:brush>
  </inkml:definitions>
  <inkml:trace contextRef="#ctx0" brushRef="#br0">2287 2721 0,'0'0'0,"0"0"0,0 0 0,0 0 0,0 0 16,-17 9-16,9-1 16,-1 9-1,1 0-15,-1 9 16,1 8-16,-1 9 16,1 16-1,-10 18 1,1 8-16,9-9 31,8 1-31,0-18 16,0 1-1,0-9-15,25 0 16,18 0 0,43 0-16,50-9 15,43-16 1,35-18-16,8-8 15,-1-8 1,27-1-16,17 1 16,16-1-1,44 9-15,24 9 16,27-1 0,0 1-16,-1 8 15,26 0 1,-8 8-16,-9 1 15,17-1-15,-42 18 16,-27 0 0,-33-1-1,-34 1-15,-26-1 16,-52-16 0,-33-1-16,-34-8 15,-35-8 1,-17-9-16,-25 0 15,-18 0 1,-16 0-16,0-9 16,-9-16-1,-26-52-15,-17-25 16,-16-51 0,-10-68-16,-33-102 15</inkml:trace>
  <inkml:trace contextRef="#ctx0" brushRef="#br0" timeOffset="6555.27">8552 6064 0,'9'0'0,"42"17"0,94 17 0,137-17 15,67-17-15,104-9 16,102-8-1,110-25 1,-238-1-16</inkml:trace>
  <inkml:trace contextRef="#ctx0" brushRef="#br0" timeOffset="8886.26">14757 6565 0,'0'0'0,"0"0"0,0 0 0,0 0 15,0 0 1,0 0-1,0 0-15,0 0 16,8 0 0,27 17-16,58 17 15,146 9 1,154 8-16,94-34 16,25-85-1,-111-26-15</inkml:trace>
  <inkml:trace contextRef="#ctx0" brushRef="#br0" timeOffset="38262.03">21295 6047 0,'0'0'0,"0"0"0,0 0 0,0 0 16,0 0-16,0 0 0,0 0 0,0 0 0,0 0 15,0 0 1,-9 17-1,-8 8-15,-26 26 16,1 17 0,8 9-16,-1-18 15,10 1 1,8-18-16,8-16 16,9-1-1,0-8-15,0 9 16,60-9-1,77 8-15,8-16 16,59-18 0,27-8-16,25-8 15,0-1 1,26 9-16,-1 9 16,18 25-1,51 8-15,-9 26 16,26 9-1,-76-17 1,-1-1-16,-17 1 16,-9 16-16,1-8 15,-26 0 1,-34 0-16,-77-17 16,0-8-1,17-9-15,-34-9 16,-60-8-1,-17 0 1,-8-8-16,-9-1 16,0 1-16,0-18 15,17-25 1,9-25-16,8-52 16,0-34-1,43-127 1</inkml:trace>
  <inkml:trace contextRef="#ctx0" brushRef="#br0" timeOffset="83034.2">22302 7637 0,'0'0'0,"0"0"0,0 0 0</inkml:trace>
  <inkml:trace contextRef="#ctx0" brushRef="#br0" timeOffset="83810.39">22106 7637 0,'0'0'0,"0"0"15,0 0-15,0 0 0,0 0 0,0 0 0,-9 0 0,0 9 0,1-9 32,-9 8-17,0-8-15,0 0 16,0-8-1,0-1-15,-1-8 16,-7-17 0,-18-34-16,9-26 15,8 1-15,9-1 16,0-16 0,0-9-16,0 25 15,9 35 1,8 16-1,-9 9-15,9 17 16,0 0-16,0 9 16,0 8-1,-8-9 1,-1 9-16,-17 0 16,-16 17-1,-18 17-15,9 0 16,17-8-1,17-9-15,0-9 16,8 1 0,9-1-16,0-8 15,0-8 1,17-18-16,0-16 16,9-9-1,-9 0-15,0-1 16,-9 18-1,1 17-15,-1 0 16,1 0 0,-9 9-16,17 8 15,26 17 1,51 25-16,42 44 16,43 7-1,1-16-15,-35-26 16,0-26-1,137 18-15</inkml:trace>
  <inkml:trace contextRef="#ctx0" brushRef="#br0" timeOffset="88080.77">25187 7960 0,'-9'0'0,"1"0"0,-10-8 16,1-1-16,0-8 16,9-25-1,16-35-15,9-42 16,0-43-1,9 1-15,-9 33 16,0 1 0,-8 16-16,-18 18 15,1 8 1,-26 17-16,-26 17 16,-8 17-1,25 16-15,9 10 16,8 8-1,9 0-15,0 0 16,8 0 0,1 0-1,8 0-15,0 0 16,0 0-16,0-9 16,0 1-1,0-18-15,17-8 16,17-8-1,0 8-15,-8 0 16,-1 8 0,-7 9-16,-1 9 15,0 8 1,8 17-16,18 25 16,8 18 15,-8-18-31,-18 1 0,-7-18 15,-10-8 1,18-8-16,85-35 16,145-25-1,102-17-15</inkml:trace>
  <inkml:trace contextRef="#ctx0" brushRef="#br0" timeOffset="91884.85">10925 12561 0,'0'0'0,"0"0"0,0 0 15,0 0 1,0 0-16,0 0 15,0 0 1,0 0-16,25 17 16,52 26-1,77 16-15,-9 9 16,0 26 0,60 25-16,-52-26 15,10 1 1,59 8-16,-52-17 15,1 17-15,34 9 16,-60-52 0,-51-16-1,0-18-15,-18-8 16,-24-17 0,-27-17-16,-25-34 15,0 17 1,-119-451-16,119 485 15,0 0 1,0 0-16,0 0 16,0 0-16,0 0 15,0 0 1,0 0-16,0 0 16,34 26-1,26 16 1,16 26-16,35 60 15,-8 0 1,-52-43-16,-25-26 16,-1-8-1,-16-8-15,-26-9 16,-43 8 0,-68 9-16,-94-17 15,-111-8 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19:45:43.117"/>
    </inkml:context>
    <inkml:brush xml:id="br0">
      <inkml:brushProperty name="width" value="0.05292" units="cm"/>
      <inkml:brushProperty name="height" value="0.05292" units="cm"/>
      <inkml:brushProperty name="color" value="#FF0000"/>
    </inkml:brush>
  </inkml:definitions>
  <inkml:trace contextRef="#ctx0" brushRef="#br0">3218 6132 0,'0'0'0,"0"0"0,0 0 0,0 0 0,8 8 0,9 1 15,0 8-15,0 0 16,18 8-1,24 1-15,10-1 32,-1 1-32,34-1 0,18 1 15,16-18 1,18-8 0,17 0-1,16 0-15,10 0 16,16 0-1,18 9-15,33-9 16,18-9 0,25 1-1,43-1-15,17 1 16,34 16 0,34-8-16,52 0 15,25-17-15,9-8 16,25-18-1,43-8-15,8-8 16,-25-18 0,-162 18-16</inkml:trace>
  <inkml:trace contextRef="#ctx0" brushRef="#br0" timeOffset="15477.09">16353 7603 0,'0'0'0,"0"0"0,8 0 0,52 0 0,68 0 0,26 17 16,34 0-16,51 9 16,34-1-1,8-8-15,44 0 16,-1 9 0,-17-9-1,-25 8-15,-43 1 16,-43-1-16,-34 1 15,-16-1 1,-44-8-16,-25-8 16,-26-1-1,-25 1-15,-9-9 16,-9 0 0,-25 0-1,-68 0-15,-86-17 16,-76-17-1,-10-9-15,-16-8 16,-17-17 0,17-8-16,-17-1 15,8 17 1,1 26-16,7 9 16,27 8-1,8 17-15,26 8 16,42 1-1,60-1-15,43 1 16,25-1 0,26 1-16,0-1 15,17 9 1,43 26-16,67 25 16,112 9-1,69-26 1,41-9-16,10-8 0,-18-17 15,60 9 1,0-9 0,-25 17-16,25-17 15,-26 8 1,-33 9 0,-35-8-16,-60-9 0,-42 17 15,-51-9-15,-69-16 16,-43-1 15</inkml:trace>
  <inkml:trace contextRef="#ctx0" brushRef="#br0" timeOffset="22383.25">7169 7850 0,'9'-9'0,"145"-50"0,178-86 16</inkml:trace>
  <inkml:trace contextRef="#ctx0" brushRef="#br0" timeOffset="23301.23">9576 7671 0,'0'0'0,"0"0"0,9-8 16,59-18-16,94-17 15,120-8 1,162 17 0,110 60-16,-144 25 15</inkml:trace>
  <inkml:trace contextRef="#ctx0" brushRef="#br0" timeOffset="35349.08">6384 8921 0,'0'0'0,"0"0"0,0 0 16,0 0-16,0 0 31,0 0-15,0 0-16,0 0 15,0 0 1,17 9-16,60 8 16,94-9-1,93-25 1,44-25-16,93-26 15,43 0-15,-60 8 16</inkml:trace>
  <inkml:trace contextRef="#ctx0" brushRef="#br0" timeOffset="51517.88">4225 9619 0,'0'0'0,"0"0"0,0 0 0,0 25 0,8 9 15,1 0 1,-9 9 0,0-18-1,0 1-15,0 8 16,0-9-1,8 9-15,1 0 16,-1-8 0,18 8-16,17 17 15,16-9 1,1-16-16,0-9 16,17-9-1,8 1-15,35-9 16,25-9-1,-17-8-15,25 9 16,10 8 0,-1 0-16,-26 0 15,35 8 1,-17 18-16,-69-18 16,-25 1-1,-9-1-15,-8 1 16,-18-1-1,-16 1-15,-1-9 16,9-9 0,0-8-16,18-76 15,33-179 1</inkml:trace>
  <inkml:trace contextRef="#ctx0" brushRef="#br0" timeOffset="59178.81">2893 11396 0,'0'0'0,"0"0"0,17 0 0,0 17 16,18 0-16,-1-8 16,17-1-1,0 1-15,0 8 16,26 0-1,9 0-15,-1 0 16,26 0 0,42 0-16,35 8 15,9 1 1,42-9 0,42-17-16,61-9 15,50-8 1,-16-8-16,42 8 15,77 0 1,17 8-16,43 18 16,59-18-1,137 1-15,35-1 16,33-16-16,120-35 16,-461 17-1</inkml:trace>
  <inkml:trace contextRef="#ctx0" brushRef="#br0" timeOffset="71257.74">5010 12323 0,'0'0'0,"0"0"0,0 0 0,-9 0 15,1 17-15,-1 8 0,-8 1 16,0 8 0,0 0-1,0 0-15,0 0 16,9-8-1,8-1-15,0-16 16,17-1-16,8 1 16,26-9-1,1-9 1,16 1-16,9-18 16,8 1-1,35-1-15,-9 9 16,-18 0-16,-16 17 15,-17 0 1,-17 9 0,-1 8-16,-16-9 15,0 1 1,-18-1-16,1 1 16,-1-1-1,1 1-15,-9-9 16,0-17-1,17-51-15,17-128 16,17-153 0</inkml:trace>
  <inkml:trace contextRef="#ctx0" brushRef="#br0" timeOffset="76122.75">6606 12127 0,'0'0'0,"-8"17"0,-18 26 0,0 8 0,1 8 0,8 1 31,0-9-31,8-8 16,9-1-1,0-8-15,0 9 16,0-9 0,17 8-16,0 1 15,-8-9 1,-1-9-16,1-8 15,-1 0-15,1-8 16,8 8 0,9-9-1,8 1-15,8-18 16,27 1-16,-1-9 16,0-9-1,26 9 1,8 0-16,-25 17 15,-8 0 1,-10 0-16,1 9 16,-17-1-1,-1 1-15,-7-1 16,-10 1 0,-8-1-16,-8-8 15,-1 0 1,1 0-16,-9 0 15,8-17 1,35-42-16,25-52 16,-34 52-1</inkml:trace>
  <inkml:trace contextRef="#ctx0" brushRef="#br0" timeOffset="93848.24">10080 14262 0,'0'0'0,"0"0"0,0 0 16,0 0-16,0 0 15,0 0 1,0 0-16,-17 0 16,-17-9-1,-35 1-15,-110 16 16,-34 27 0,-60 16-1,8 8-15,77-16 16,18-18-1,67-16-15,52-9 16,34 0 0,25-17-16,52-43 15,8-8 1,-8 0-16,8 0 16,-8 8-1,-26 26-15,-8 17 16,-18 0-1,1 9-15,-1 8 16,-16 0 0,-18 8-16,-68 52 15,-59 50 1,8 1-16,42 0 16,35-9-1,42-9-15,52 26 16,136 34-1,188 0-15,34-42 16</inkml:trace>
  <inkml:trace contextRef="#ctx0" brushRef="#br0" timeOffset="169675.6">8731 12816 0,'-8'0'0,"-9"0"0,-17 9 0,-18 8 0,1 8 0,0 9 0,-34 17 31,-9 26-31,-17 25 16,8 8-16,26-25 15,35-33 1,8-18-16,17-9 15,0-16-15,8-18 0,0-16 32,-16-35-17,-9-17-15,8 26 16,26 34 0,0 9-16,-8 8 15,-10 8 1,-16 18-16,-17 42 15,0 26-15,0 16 16,8 1 0,17-9-1,26-34-15,26-17 16,42-9-16,86-50 16,170-60-1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19:50:16.917"/>
    </inkml:context>
    <inkml:brush xml:id="br0">
      <inkml:brushProperty name="width" value="0.05292" units="cm"/>
      <inkml:brushProperty name="height" value="0.05292" units="cm"/>
      <inkml:brushProperty name="color" value="#FF0000"/>
    </inkml:brush>
  </inkml:definitions>
  <inkml:trace contextRef="#ctx0" brushRef="#br0">2287 3657 0,'0'0'0,"0"0"0,0 0 0,0 0 0,17 17 0,1 0 16,7 17-16,9 17 15,17 9 1,1 16 0,16 26-16,0 0 15,-17 9 1,-8 8-16,0 0 15,-9-9 1,9-8-16,-1-17 16,1-25-1,-9-17-15,-8-18 16,-9-16 0,-9-1-16</inkml:trace>
  <inkml:trace contextRef="#ctx0" brushRef="#br0" timeOffset="354.57">2424 4575 0,'0'0'0,"0"0"0,0 17 0,8 26 0,10 8 15,-1 8 1,0 1-16,8 0 16,-8-9-16,0-9 15,-8-8 1,-1-8-16,10-9 15,24-9 1,35-33-16,68-52 16,43-76-1,-34-17-15,33-68 16</inkml:trace>
  <inkml:trace contextRef="#ctx0" brushRef="#br0" timeOffset="17162.71">1750 8972 0,'0'0'15,"-9"0"-15,-16 0 0,-44 0 16,1 17-16,0 0 15,16-8 1,18-1 0,17 1-16,0-1 15,0 1 1,9-9-16,8 0 16,0 0-1,8-9-15,26 1 16,52-18-1,50 1-15,18 8 16,-1 8 0,-25 1-16,-8 16 15,8-8 1,-17 9-16,-34-1 16,-26 1-1,-25-1-15,-1 1 16,-16 16-1,-9-8-15</inkml:trace>
  <inkml:trace contextRef="#ctx0" brushRef="#br0" timeOffset="17451.84">2014 9431 0,'0'0'0,"0"0"0,0 0 0,0 0 16,0 0-1,0-8 1,9-1 0,-1 1-16,9-1 15,26 1 1,34 8-16,0 0 16,-18 8-1,-16-8-15,0 0 16,-18 0-1,1 0-15,-9-8 16,-8-1 0,-1-8-16,1 9 15</inkml:trace>
  <inkml:trace contextRef="#ctx0" brushRef="#br0" timeOffset="18093.33">2398 8692 0,'0'0'0,"0"0"0,0 0 0,0 0 15,0 0-15,0 0 32,0 0-17,0 0-15,0 0 16,0 0-1,0 0-15,0 0 16,0 0 0,0 0-16,0 0 15,26 17 1,17 0-16,8 8 16,-9 1-1,1-9-15,17 0 16,0 8-1,-18 1-15,-16-9 16,0-9 0,-18 9-16,1 0 15,-1-8 1,-8-1-16,0 1 16,-8 8-1,-27 8-15,-58 52 16,-138 76-1,-51 59-15,69-24 16,102-61 0,86-84-16</inkml:trace>
  <inkml:trace contextRef="#ctx0" brushRef="#br0" timeOffset="24687.1">1741 12544 0,'0'0'0,"0"0"0,26-17 0,16-17 16,35-8-1,26-27 1,-1-7-16,-8-18 16,17 9-1,-17 0 1,0 9-16,0 8 15,-18 0-15,-24 8 16,-27 35 0</inkml:trace>
  <inkml:trace contextRef="#ctx0" brushRef="#br0" timeOffset="24979.11">2100 11617 0,'0'0'0,"0"0"0,0 0 0,8 0 16,26 0-16,26-8 31,34-1-15,17-16-16,8 8 15,-16 0 1,-18 17-16,-17 8 15,-16 18 1,-10 25-16,-33 68 16,-43 51-16,0-9 15,16-59 1,27-68 0</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19:53:04.419"/>
    </inkml:context>
    <inkml:brush xml:id="br0">
      <inkml:brushProperty name="width" value="0.05292" units="cm"/>
      <inkml:brushProperty name="height" value="0.05292" units="cm"/>
      <inkml:brushProperty name="color" value="#FF0000"/>
    </inkml:brush>
  </inkml:definitions>
  <inkml:trace contextRef="#ctx0" brushRef="#br0">1169 8020 0,'0'0'0,"0"0"16,0 0-16,0 8 0,17 35 0,17 16 16,1 35-16,7 16 15,-8 1-15,-16 8 16,7-8-1,9 8-15,-34 0 16,9-9 15,-1-25-31,-8-17 16,0-8 0,-8-26-1,8-17-15</inkml:trace>
  <inkml:trace contextRef="#ctx0" brushRef="#br0" timeOffset="336.01">1007 9168 0,'0'0'0,"0"8"0,0 18 0,0 16 16,0 9-1,9 17-15,8 9 16,8 8 0,27-17-1,7-17-15,-16-17 16,-9-25-16,17-26 15,18-43 1,-1-34-16,26-25 16,-9-25-1,52-120-15</inkml:trace>
  <inkml:trace contextRef="#ctx0" brushRef="#br0" timeOffset="98021.91">2287 2789 0,'0'0'0,"0"0"0,0 0 0,0 0 0,9 0 0,-9 0 0,8 0 16,1 9 15,0 8-31,-1 17 15,1 43-15,-1 16 16,-16-8 0,-18 0-16,9-8 15,8-9 1,9-9-16,0 1 16,17-1-1,1-8-15,-1-17 0,0-8 16,0-1-1,17-8 1,17 0 0,0-8-16,52 8 15,25-9 1,17-8-16,51-8 16,9-1-1,-9 1-15,26 8 16,0 8-1,-9-8-15,-16 0 16,-18 0 0,26 0-16,-26 9 15,-42-1 1,-9 1-16,-17 8 16,0 8-1,-35-8-15,-24 0 16,-18-8-1,-9 0-15,-16-1 16,-1-8 0,1 0-16,8-8 15,0-27 1,26-33 0,25-68-16,43-42 15,8-9 1,52-94-16</inkml:trace>
  <inkml:trace contextRef="#ctx0" brushRef="#br0" timeOffset="102044.54">7067 5315 0,'0'0'15,"-9"0"-15,1 9 0,-1-9 0,1 0 0,-1 0 0,1 0 16,8 0 0,0 0-1,0 0-15,42 17 16,69 0 0,94 8-16,85 9 15,77 9 1,120-9-16,76-34 15,-145-9 1</inkml:trace>
  <inkml:trace contextRef="#ctx0" brushRef="#br0" timeOffset="129701.8">3491 9176 0,'0'0'0,"0"0"0,0 0 0,0 0 16,34-8-16,85-9 15,69-9-15,51 1 16,60-1-1,59 9-15,1-8 16,68 8 0,93 17-16,-110 8 15</inkml:trace>
  <inkml:trace contextRef="#ctx0" brushRef="#br0" timeOffset="131658.82">8953 9363 0,'0'0'0,"0"0"0,0 0 0,17-17 0,77-25 0,85-26 32,52-9-32,68 18 15,93-1 1,9 1-16,-8 8 15</inkml:trace>
  <inkml:trace contextRef="#ctx0" brushRef="#br0" timeOffset="134196.21">19084 9185 0,'0'0'0,"0"-9"0,9 1 0,-1-1 0,9 1 31,9-9-15,51-9-16,136-8 15,137 17-15,34 34 16</inkml:trace>
  <inkml:trace contextRef="#ctx0" brushRef="#br0" timeOffset="136222.75">25776 9032 0,'0'0'0,"0"0"0,0 0 16,0 0-16,0 0 16,0 0-1,0 0 1,0-9-1,25 1-15,120 16 16,77 26 0,111 51-16,102 0 15,9-59 1,-43-35-16</inkml:trace>
  <inkml:trace contextRef="#ctx0" brushRef="#br0" timeOffset="154933.35">2287 697 0,'0'0'15,"0"0"-15,0 0 0,0 0 0,0 0 31,0 0-31,0 0 16,0 0 0,0 0-16,0 0 15,9 0-15,8 9 16,17-1 0,9 18-16,25-18 15,17 18 1,9 8-16,0 17 15,0 42 1,-26 1-16,-8 34 16,-9-26-1,-8 0-15,-9-34 16,-8-34 0,-18-9-16,1-16 15,-1-1 1,-16-16-16,-1 8 15</inkml:trace>
  <inkml:trace contextRef="#ctx0" brushRef="#br0" timeOffset="155182.87">2330 1301 0,'0'0'0,"0"0"15,0 0-15,9 9 0,8 8 16,25 25-16,18 18 16,0 8-1,0 0 1,8 0-16,17-17 16,-17-17-16,-8-17 15,8-17 1,18-43-16,50-76 15,-16-25 1,-86 93 0</inkml:trace>
  <inkml:trace contextRef="#ctx0" brushRef="#br0" timeOffset="171943.23">1494 14015 0,'0'0'0,"0"0"16,0 0-16,0 0 0,0 0 0,0 0 15,0 0-15,0 0 16,0 0-1,-9-8-15,9-9 16,0-34-16,9-26 16,8-25-1,17 9 1,0-18-16,0-8 16,0 8-1,-17 18-15,9 8 16,-18 8-1,1 9-15,-18 17 16,1 17 0,-18 9-16,9 8 15,-34 17 1,-9 0-16,18 8 16,7 1-1,10-1-15,8 1 16,8-1-1,9 1-15,0-9 16,0 0 0,17-9-16,43-8 15,43-8 1,-1-1-16,-25-8 16,-26 17-1,-8 0-15,-18 17 16,1 9-1,8 16-15,9 26 16,25 26 0,-25-35-16</inkml:trace>
  <inkml:trace contextRef="#ctx0" brushRef="#br0" timeOffset="176812.69">7169 13173 0,'0'0'0,"0"26"0,17 16 0,9 43 15,8 18-15,9-1 16,17 17 0,8 17-1,34 8-15,43 18 16,9-18-16,68 10 16,34-1-1,43-17-15,25-17 16,26-9-1,43 18 1,-9 8-16,-17 0 16,34 9-16,8-18 15,44-16 1,42-18-16,25-25 16,18-8-1,-26-18 1,-8-16-16,-35-18 15,-59 1-15,-26-18 16,-68-8 0,-9-8-1,-8-18-15,-43-8 16,-43 9 0,-59-1-16,-35 1 15,-25-1-15,-43 9 16,-16 9-1,-18-1 1,-9 1-16,-16-9 16,-9 0-16,-26-9 15,-25 9 1,-35 0-16,-8 17 16,26 17-1,25 0 1,26 0-16,17 9 15,0-9 1,17 0-16,0 0 16,43 34-1,42 17-15,51 34 16,18 0 0,8-9-16,-34-8 15,-25-25 1,-35-1-1,-25-8-15,-35 43 16,-8-18-16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20:00:17.042"/>
    </inkml:context>
    <inkml:brush xml:id="br0">
      <inkml:brushProperty name="width" value="0.05292" units="cm"/>
      <inkml:brushProperty name="height" value="0.05292" units="cm"/>
      <inkml:brushProperty name="color" value="#FF0000"/>
    </inkml:brush>
  </inkml:definitions>
  <inkml:trace contextRef="#ctx0" brushRef="#br0">16711 9619 0,'0'0'0,"-8"0"0,-1 0 0,-127 85 0,42 8 0,-43 26 0,-59 43 0,25-1 16,18-25-1,-1-8-15,43-51 16,34-26 0,35-17-16,8-9 15,16-16 1,1-1 0,0-16-16,17 8 15</inkml:trace>
  <inkml:trace contextRef="#ctx0" brushRef="#br0" timeOffset="242.48">15278 10282 0,'0'0'0,"0"0"0,0 0 0,-9 8 16,-17 18-16,-25 42 16,0 17-1,8 9 1,18-1-16,16-16 15,18-18-15,25-8 16,34-8 0,77-18-1,69-16-15,50-35 16,103-16 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20:01:12.464"/>
    </inkml:context>
    <inkml:brush xml:id="br0">
      <inkml:brushProperty name="width" value="0.05292" units="cm"/>
      <inkml:brushProperty name="height" value="0.05292" units="cm"/>
      <inkml:brushProperty name="color" value="#FF0000"/>
    </inkml:brush>
  </inkml:definitions>
  <inkml:trace contextRef="#ctx0" brushRef="#br0">14757 4414 0,'0'0'0,"0"0"0,0-9 0,0 1 0,0-1 0,0 1 16,-9-1-16,-25 9 15,-17 0 1,-26 26 0,-34 25-16,9 8 15,17 18-15,-69 16 16,-25 1 0,34-9-1,8 9-15,-8-9 16,17-17-16,43-26 15,42-16 1,26-9 0,8-9-16,18 1 15,16-1 1,52-8-16,9-8 16,-27-18-1,-25 1-15,-17 8 16,-8 0-1,-18 8-15,1-8 16,-1 9 0,-16-1-16,-9 1 15,-9-9 1,-8 0-16,17 0 16,8 17-1,0 0-15,1 8 16,8 1-1,0 8-15,0 0 16,0 0 0,8 0-16,0 0 15,9 8 1,18 18-16,67 25 16,43-9-1,-17-8-15,17-25 16,17-9-1,-8-9-15,-69 1 16</inkml:trace>
  <inkml:trace contextRef="#ctx0" brushRef="#br0" timeOffset="5572.13">19135 4907 0,'0'0'0,"0"0"0,-8 26 0,-9 8 0,-9 25 15,-8 26 1,-17 43 0,-17 33-16,-18 1 15,9-26 1,18-34-16,-10-25 15,27-26 1,8-26-16,16-16 16,10-18-1,8-42-15,0-76 16,8-163 0</inkml:trace>
  <inkml:trace contextRef="#ctx0" brushRef="#br0" timeOffset="5781.92">18546 5460 0,'0'0'0,"-8"8"0,-18 18 15,-16 42-15,-10 34 16,10 0 0,16-8-16,18-18 15,8-8 1,17-8-16,51-1 15,26-8 1,25-34 0,43-51-16,120-102 15</inkml:trace>
  <inkml:trace contextRef="#ctx0" brushRef="#br0" timeOffset="23375.47">3363 8717 0,'0'0'0,"0"0"0,0 9 16,0-1-16,34 9 15,51 9 1,43-9-16,60 0 16,77-9-1,76-25-15,86-17 16,34 0-1,8-8-15,-68 16 16</inkml:trace>
  <inkml:trace contextRef="#ctx0" brushRef="#br0" timeOffset="26265.89">8202 8768 0,'0'0'0,"0"0"0,9 0 0,50 26 16,112 8-16,136 17 15,77 8 1,-8 1 0</inkml:trace>
  <inkml:trace contextRef="#ctx0" brushRef="#br0" timeOffset="29419.92">6273 9780 0,'0'0'0,"0"0"0,0 0 0,17 9 16,0-1-1,17 1-15,18 8 16,16-9 0,60-25-16,102 0 15,120 0 1</inkml:trace>
  <inkml:trace contextRef="#ctx0" brushRef="#br0" timeOffset="34330.62">14279 7382 0,'0'0'0,"0"0"0,0 0 0,0 0 15,0 0-15,-9 0 16,-25 17 0,-17 17-1,-26 0-15,-17 8 16,9 9 0,-17 0-16,-1 18 15,9-1 1,9 17-16,8 0 15,26 8 1,8 18-16,35 8 16,16-9-1,18-8-15,34-8 16,8-26 0,17-17-16,26-17 15,9-17 1,8-25-16,17-35 15,17-16 1,-8-44-16,-9-16 16,-17 0-1,-34-8-15,-9 8 16,-34 17 0,-17-9-16,-17 1 15,-34 7 1,-25 10-16,-52-9 15,-43 0 1,-42 25-16,-60 18 16,-43 50-1,-33 43-15,-18 77 16,-9 59 0</inkml:trace>
  <inkml:trace contextRef="#ctx0" brushRef="#br0" timeOffset="35399.4">11121 8904 0,'0'0'0,"0"0"0,0 0 0,0 0 15,0 17 1,-9 9-16,-8 33 16,-25 43-1,-27 26 1,10-18-16,8-25 16,16-17-16,18-25 15,0-17 1,9-9-16,8-9 15,0 1 1,0-1-16,0-16 16,17-35-1,43-42-15,16-17 16,-7 0 0,7 0-16,1 17 15,0 17 1,17 8-16,0 18 15,-17 25 1,-1 8 0,1 18-16,0 16 15,0 18 1,-9 16-16,-17 26 16,-16 9-1,-27-1-15,-8 9 16,-8-17-16,8-25 15,0-17 1,0-9 0,8-17-16</inkml:trace>
  <inkml:trace contextRef="#ctx0" brushRef="#br0" timeOffset="35963.98">12913 9117 0,'0'0'0,"0"0"0,0 0 0,0 0 15,0 0 1,0 0 0,0 8-1,0 26-15,-8 17 16,-1 17-1,-16-8-15,-1 8 16,0 8 0,1-16-16,-1 8 15,9-8 1,0 8-16,0 0 16,0-9-1,8-25-15</inkml:trace>
  <inkml:trace contextRef="#ctx0" brushRef="#br0" timeOffset="36296.89">12222 9508 0,'0'0'0,"0"0"0,9 0 0,16 0 15,69 0-15,51 0 16,9 0-1,-9-9-15,-9-8 16,-16-8 0,-69 8-16</inkml:trace>
  <inkml:trace contextRef="#ctx0" brushRef="#br0" timeOffset="37201.5">14245 8649 0,'0'0'0,"0"-8"0,8 8 15,1 0-15,-9 0 32,0 8-17,-17 43-15,-17 26 16,-26 33-16,-8 35 16,8-9-1,0-17-15,9-26 16,17-16-1,17-26 1,0-17-16,0-8 16,8-9-16,9-9 15,0 1-15,0-1 16,0-8 0,0 0-1,9-8 1,16-18-16,9 1 15,18-1 1,7 0-16,18 9 16,8 9-1,-16 8-15,-1 17 0,9 17 16,-9 9 0,-25-9-1,-9 17 1,-8-9-16,-18 1 15,-25-1 1,-34 1-16,-60-9 0,-34-9 31,25-25-31,9-17 16,9-34-16,-1-25 16,69 33-1</inkml:trace>
  <inkml:trace contextRef="#ctx0" brushRef="#br0" timeOffset="44579.18">10063 10775 0,'0'-8'0,"34"-1"0,85-8 0,103-8 15,103-26-15,101-17 0,18-17 16,85-18 0,-110 35-16</inkml:trace>
  <inkml:trace contextRef="#ctx0" brushRef="#br0" timeOffset="49193.22">9662 11745 0,'0'0'0,"0"0"0,0 0 0,0 0 0,0 0 0,0 0 0,0 0 0</inkml:trace>
  <inkml:trace contextRef="#ctx0" brushRef="#br0" timeOffset="50294.98">5753 11507 0,'0'0'0,"0"0"0,0 0 0,0 0 15,0 0 1,0 0 0,0 0-16,0 0 15,0 0 1,0 0-16,0 0 16,0 0-1,0 17-15,0 0 16,0 0-1,0 17-15,0 0 16,0 0 0,0 0-16,0 0 15,0-9 1,8 1-16,1-1 16,-1-8-1,9 0-15,0 0 16,0 0-1,0-8-15,1 8 16,33 0 0,17 0-16,0 0 15,18 0 1,-10 8-16,1-16 16,0-1-1,8 1 1,1-1-16,-26 1 15,-9-1-15,-9 1 16,-16-1 0,0 1-1,-18-9-15,1 0 16,-1 0-16,1 0 16,-9 0-1,0 0 1,0 0-16,0-9 15,8-8 1,9-17-16,0-17 16,0 0-1,1-8-15,-1 25 16</inkml:trace>
  <inkml:trace contextRef="#ctx0" brushRef="#br0" timeOffset="59233.7">4344 11209 0,'0'0'0,"0"0"0,0 0 0,0 0 16,0 0-16,-8 17 31,-1 42-15,-8 43-16,0 18 15,17-1 1,0-26-16,0-16 16,0-18-1,9-16-15,-1-1 16,-8-16-1,0-1-15,9-8 16,8 9 0,25-9-16,10-9 15,7-8 1,18-17-16,0-8 16,17-1-1,25-8-15,-16 9 16,-9 8-1,25 0-15,43 8 16,18 1 0,-44 8-16,35-9 15,-9 9 1,-34 0-16,-26 0 16,-16 9-1,-18 8-15,9-9 16,-17 1-1,-9-1-15,-8-16 16,-1-1 0,-8 1-16,18-18 15,-10 1 1,9-18-16,-8-8 16,0-8-1,-18-1-15,1-8 16,-9 43-1</inkml:trace>
  <inkml:trace contextRef="#ctx0" brushRef="#br0" timeOffset="85967.15">14919 10750 0,'0'0'0,"0"0"0,0 0 16,-8 8-16,-1 43 0,-25 34 31,-9 51-31,-8 9 16,8-35 0,26-33-16,17-26 15,9-25 1</inkml:trace>
  <inkml:trace contextRef="#ctx0" brushRef="#br0" timeOffset="86373.04">15508 10954 0,'0'0'0,"-9"8"16,-25 18-16,-17 8 0,17 0 15,0 0 1,0 17 0,17 0-16,17 0 15,25-9 1,18 1-16,17-26 15,16-17 1,27-17-16,-18-26 16,-25-16-1,-9-1-15,-17-8 16,-17 0 0,-17 0-16,-34 17 15,-25 17 1,-18 17-16,-34 17 15,42 0 1</inkml:trace>
  <inkml:trace contextRef="#ctx0" brushRef="#br0" timeOffset="86946.72">16413 11251 0,'0'0'0,"0"0"0,0 0 0,-9 0 15,1 0 1,-18 17 0,-17 17-16,9 0 15,17-8 1,0-1-16,17-8 15,0 0 1,17-8-16,17 0 16,9-18-1,8-17-15,17-8 16,-8-17 0,-17 17-16,-18 0 15,-7 17 1,-10 0-16,1 9 15,-1 8 1,-8 8-16,9 26 16,-18 51-16,-16 77 31,-27 17-31,-16-35 16,-9 35-16,0-18 15,-8-59 1,-9-34-16,-8-25 15,-1-26 1,-8-26-16,18-25 16,50 17-16</inkml:trace>
  <inkml:trace contextRef="#ctx0" brushRef="#br0" timeOffset="87558.87">17462 10979 0,'0'0'0,"-8"9"0,-26 25 0,-17 25 16,-18 43-1,1 26 1,-9 8-16,0-8 16,9-26-1,17-26-15,17-25 16,17-25 0,0-9-16,17-9 15,0-8 1,17-8-16,17-1 15,0 1 1,17-9-16,-8 0 16,-9 17-1,-8 0-15,-1 0 16,-8 0 0,0 17-16,-8 17 0,-1 17 31,-16 0-31,-1-9 15,-16 1 1,-18-9 0,0-17-16,9-26 15,0-16 1,26 8-16</inkml:trace>
  <inkml:trace contextRef="#ctx0" brushRef="#br0" timeOffset="88188.81">18282 11226 0,'0'0'0,"-9"0"0,-8 25 0,-17 18 0,-9 16 15,1 9 1,-1 1-16,9-10 16,17-16-1,0-18-15,0 1 16,17-18-1,0 1-15,8-18 16,26-8 0,35-25-16,8-9 15,8-9 1,9 0 0,-26 18-16,-25 25 15,-18 8-15,1 9 16,-18 0-1,1 9-15,0 8 16,-18 17 0,0-8-16,-8-1 15,17 1-15,0-18 16,35-8 0,67-34-1,60-43-15,-17 9 16,-59 26-1,-18 16-15,-26 18 16,-7 42 0,-1 59-16,-17 61 15,-26 16 1,-8-26-16,9-84 16</inkml:trace>
  <inkml:trace contextRef="#ctx0" brushRef="#br0" timeOffset="90956.68">15098 9908 0,'0'0'0,"0"0"0,-8 8 0,-26 26 16,-9 26 0,-34 67-16,-51 52 15,0-9 1,9 26-16,16 16 15,1-16 1,-9-1 0,25-33-16,44-26 15,33 9-15,52-9 16,42-26 0,43-16-16,154 42 15</inkml:trace>
  <inkml:trace contextRef="#ctx0" brushRef="#br0" timeOffset="91456.47">20134 9993 0,'0'0'0,"0"0"0,8 0 0,10 17 16,7 17 0,9 34-1,0 42-15,-8 26 16,-17 9-1,-1 17-15,1 16 16,-18-33 0,-8-1-16,-43 18 15,-25-9 1,17-25 0,-1-9-16,-7-34 15,33-43-15</inkml:trace>
  <inkml:trace contextRef="#ctx0" brushRef="#br0" timeOffset="91868.82">21867 9644 0,'-18'0'0,"-41"43"0,-52 42 0,-34 34 16,-26 34 0,9 34-16,42 0 15,26 43 1,26 25-16,34 8 16,34-8-1,60 18-15,110 7 16,163-25-1,17-50-15</inkml:trace>
  <inkml:trace contextRef="#ctx0" brushRef="#br0" timeOffset="94231.36">21892 10673 0,'0'0'0,"0"9"0,9 33 0,-9 52 15,-9 42 1,-8 17-16,-17-9 15,-17-16 1,17-34-16,17-26 16,-1-34-1,18-9-15,0-16 16,0-1 0,9-16-1,17-18-15,42-33 16,34-44-16,26-33 15,26 0 1,-9 17-16,-25 17 16,-10 9-1,10 16-15,-9 26 16,-43 26 0,-8 16-16,-9 18 15,-8 16 1,-1 26-16,-16 51 15,-9 34 1,-25 17 0,-9-25-16,-1-35 15,1-7 1,9-27-16,-9-8 16,8-25-1</inkml:trace>
  <inkml:trace contextRef="#ctx0" brushRef="#br0" timeOffset="94553.29">24572 10512 0,'0'0'0,"0"0"0,0 0 0,-17 34 16,-34 51-1,-17 42-15,8 18 16,9 8-16,16-43 15,10-33 1,8-26 0,0-17-16,0-9 15,-9-16 1,9-1-16</inkml:trace>
  <inkml:trace contextRef="#ctx0" brushRef="#br0" timeOffset="94797.81">23923 10690 0,'0'0'0,"9"0"0,42 34 0,35 26 15,33-1 1,35 1-16,8-9 15,-26-17-15,-16-26 16,-26-8 0,-52-8-16</inkml:trace>
  <inkml:trace contextRef="#ctx0" brushRef="#br0" timeOffset="95353.06">25750 10358 0,'0'0'0,"-9"26"15,-33 33-15,-27 44 16,-16 33 0,8-9-16,9-25 15,17-17 1,0-17-16,16-17 16,10-17-1,8-8-15,0-18 16,8 1-1,9-1-15,0 1 16,0-9 0,26-9-16,34-16 15,33 8 1,10 8-16,-18 9 16,-17 0-1,-16 9-15,-10-1 16,-16 9-1,0 0-15,-18 9 16,-8 8 0,-17 0-16,-34 0 15,-35 0 1,18-17-16,0-17 16,0-26-1,8-33-15,26 25 16</inkml:trace>
  <inkml:trace contextRef="#ctx0" brushRef="#br0" timeOffset="95735.42">26979 9967 0,'0'0'0,"9"9"0,33 84 0,52 94 16,-9 17-16,-42 18 15,-51 16 1,-78 25-16,-59 18 16,-145 0-1,-26-26 1</inkml:trace>
  <inkml:trace contextRef="#ctx0" brushRef="#br0" timeOffset="117030.35">3218 7594 0,'0'0'0,"-9"-8"0,1-1 0,8 9 0,0 0 0,0 0 16,0-8-16,17-1 15,25-8 17,52 0-32,51 17 15,26-8 1,17 8-16,34 0 15,25 0 1,26-9-16,9-8 16,0 17-1,-1 0-15,1 9 16,-9-1 0,-8 1-16,-9-1 15,-9-8 1,1 0-16,-18 9 15,-8-1 1,-34 1-16,-43-9 16,-17 8-1,-26 1-15,-33-9 16,-27 0 0,-16 0-16,-9 0 15,-8 0 1,-1 0-16,-16 0 15,-44 0 1,-59 8-16,-68-8 16,-43 9-1,-17 8-15,-8-9 16,16 1 0,-8-18-16,9-8 15,-35-8 1,1 8-16,-35 0 15,-42 8 1,33 18-16,-16 16 16,25 1-1,18-1-15,8 1 16,42-9 0,26-17-16,35-8 15,16 8 1,26-9-16,34 1 15,17-1 1,35-8-16,16 17 16,9 0-1,17 0-15,8 0 16,61 8 0,59 1-16,68-9 15,26 9 1,25-9-16,27 8 15,7 1 1,18 8-16,34-9 16,0 9-1,34-17 1,17-8-16,-26 8 16,9 8-16,-17 1 15,-26 8 1,9 8-16,-25-8 15,-35-8 1,-26-1 0,-59 1-16,94-1 15</inkml:trace>
  <inkml:trace contextRef="#ctx0" brushRef="#br0" timeOffset="132586.13">9337 13003 0,'0'0'0,"0"0"0,0 0 0,0 0 15,0 0-15,0 0 31,0 0-15,0-8-16,0-1 16,9 1-1,-1-1-15,1 1 16,-1-1 0,1 9-16,-9 0 15,0 0 1,0 0-16,-9 0 15,1 0 1,-9 0-16,-9 0 0,-17 0 31,1 17-31,-9 0 16,8 0 0,-8 9-16,-9 8 15,-8 0 1,16 0-16,1 17 15,0 8 1,0 1-16,17-9 16,0-8-1,17-1-15,-1-8 16,18 0 0,0 17-16,18 0 15,-1 0 1,8 0-16,9-8 15,0-1 1,9-8-16,8-8 16,1-18-1,16-8-15,0-17 16,0-8 0,-16-9-16,-1-9 15,17-8 1,-8-17-16,-17 9 15,-9-26 1,-17 0-16,-17-1 16,-17 10-1,-26-1-15,-34-8 16,-34 17 0,-34 34-1,-128 9-15</inkml:trace>
  <inkml:trace contextRef="#ctx0" brushRef="#br0" timeOffset="134200.43">9875 13726 0,'0'0'0,"0"0"16,0 0-16</inkml:trace>
  <inkml:trace contextRef="#ctx0" brushRef="#br0" timeOffset="135140.31">9371 13939 0,'0'0'0,"0"0"0,0 0 0,0 0 15,0 0 1,9 0 0,-9 0-16,0 0 15,8 0 1,1 17-16,0 0 16,-1 17-1,1 25-15,-1 26 16,1 0-1,-9-16-15,8-18 16,1-9 0,-1-16-1,9-1-15,0-8 16,0-8-16,1-1 16,7 1-1,1-1-15,8-8 16,34-8-1,18-18-15,24-16 16,10-1 0,17-8-16,8 17 15,0 17 1,-9 0-16,18 17 16,17 0-1,-18 0 1,9 0-16,9 0 15,-9-9 1,-17 1-16,9-1 16,-35 9-1,-42 0-15,-26 0 16,-8 0 0,-17 0-16,-9 0 15,-9 0 1,9-8-16,1-35 15,16-25 1,0-51-16,51-161 16</inkml:trace>
  <inkml:trace contextRef="#ctx0" brushRef="#br0" timeOffset="155818.19">17317 14959 0,'0'0'0,"-8"17"0,-1 17 16,1 17-16,-1 26 31,-8 8-31,0 0 16,0 9-16,0-18 15,8-16 1,9-9-16,0-26 16,0 1-1,0-1-15,9-16 16,0-1 0,-1 1-16,18-1 15,25 1 1,17-18-16,-8 1 15,8 8 1,0-9-16,1 9 16,8-8-1,25-1-15,-8-8 16,-26 0 0,-17 9-16,-8-9 15,-17 8 1,-1 1-16,-16-1 15,-1 1 1,1-9-16,-9-26 16,-17-59-1,0 34-15</inkml:trace>
  <inkml:trace contextRef="#ctx0" brushRef="#br0" timeOffset="164015.26">1212 16754 0,'0'0'16,"8"-9"-16,44-16 0,25-9 0,25-9 0,0-8 16,9 0-1,0 0 1,-17 0 0,-8 17-16,-10 9 15,-7 8 1,-1 0-16,-43 0 15,1 0-15,-9 8 16,-8 1 0</inkml:trace>
  <inkml:trace contextRef="#ctx0" brushRef="#br0" timeOffset="164325.88">1485 16192 0,'0'0'0,"0"0"0,0 0 0,0-8 32,51-1-32,35-8 15,33 0 1,1 0 0,-1 17-16,-8 9 15,-26 8-15,-25 8 16,-26-8-1,-8 9-15,-35 17 16,-42 50 0,-51 26-1,25-34-15,26-51 16,34-17-16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20:08:44.193"/>
    </inkml:context>
    <inkml:brush xml:id="br0">
      <inkml:brushProperty name="width" value="0.05292" units="cm"/>
      <inkml:brushProperty name="height" value="0.05292" units="cm"/>
      <inkml:brushProperty name="color" value="#FF0000"/>
    </inkml:brush>
  </inkml:definitions>
  <inkml:trace contextRef="#ctx0" brushRef="#br0">25050 8139 0,'0'0'0,"0"0"0,-8-9 0,-10 1 0,-33-9 16,-34 0 15,-35 8-31,27 1 16,16 16-1,-43 9-15,-42 17 16,17 34-1,-26 26-15,-76 50 16,33 18 0,1 76-16,-9 17 15,94-25 1,68 0-16,26 16 16,17 9-1,17-25 1,60 0-16,119 33 15,9-25-15,85-17 16,43-34 0,-43-59-16,145-9 15,-51-51 1,-85-85-16,136-76 16,-34-52-1,-77-59-15,1-51 16,-27-51-1,-50-35-15,-44-41 16,-59 25 0,-59 16-1,-78-67-15,-85 0 16,-85 51-16,-196-9 16,-129 68-1,-196 137 1,248 84-16</inkml:trace>
  <inkml:trace contextRef="#ctx0" brushRef="#br0" timeOffset="2841.34">25955 11728 0,'0'0'0,"0"0"0,0 17 0,-9 0 31,1 25-15,-1 9-16,-16 9 16,-18 25-1,-34 25 1,-68 69-16,-43 17 15,-42-9-15,-43 34 16,-26 8 0,17-7-16,1-1 0,-10-26 31,10 1-31,16-26 16,9-26-1,0-7 1,17-18-16,9-17 15,76-43-15,-25-16 16,25-9 0,60-9-16,0-8 15,43-8 1</inkml:trace>
  <inkml:trace contextRef="#ctx0" brushRef="#br0" timeOffset="3218.04">21175 15385 0,'0'0'0,"0"0"0,0 0 16,0 0-16,0 0 0,0 0 31,0 0-31,0 0 16,-8-9-1,-18-8-15,0-25 16,-16-35 0,-1-25-16,9-9 15,8 9 1,9 0-16,17 17 16,17 17-1,18 17-15,58 0 16,35 9-1,0 33-15,94 18 16,0 8 0,-43 17-16,35-17 15,16-17 1,9-34-16,111-17 16</inkml:trace>
  <inkml:trace contextRef="#ctx0" brushRef="#br0" timeOffset="5279.36">19647 13446 0,'-8'-9'0,"-35"-16"0,-42-43 0,-9-43 16,-8-34 0,-9-59-1,17 0-15,-17-42 16,0-27-16,0-50 16,8-17-1,10 51 1,-18-119-16,8 16 15,18 61 1,0-69 0,-1 9-16,18 76 15,0-33 1,8 41-16,17 69 16,1 9-16,7 59 15,1 25 1,9 43-16,8 42 15,-1 18 1,1 16-16,-8 35 16,-9 25-1,-18 68-15,-16 59 16,8 35 0,9-26-16,17-25 15,0-9 1,8 17-16,1-17 15,8-51 1,0-34-16,17-25 16,0-18-1,0 1 1,0-26-16,8-51 16,9-69-16,0-33 15,9-8 1,17-1-16,16 18 15,10 33 1,-27 34-16,9 26 16,18 26-1,8 25-15,51 42 16,0 52 0,-9 34-1,9 33-15,26 26 16,-18-42-16,-84-86 15</inkml:trace>
  <inkml:trace contextRef="#ctx0" brushRef="#br0" timeOffset="6058.12">17420 6081 0,'0'0'0,"0"0"0,0 0 0,0 0 15,0 0-15,0-9 16,17 1 0,-9 8-16,-8 0 15,0 0 1,0 0-16,0 0 16,0 0-1,-8 0-15,-9 17 16,-17 0-1,-26 0 1,-17 8-16,-42 1 16,-26-1-16,8 1 15,-34 8 1,-16 8-16,16 1 16,26 8-1,-35 17-15,-7 25 16,50-8-1,-51 26-15,-8 42 16,51 17 0,0 0-16,-17 26 15,25-26 1,43-25-16,9-1 16,25 1-1,9-18-15,-9-8 16,9-25-1,17-26-15,8-17 16,18-26 0</inkml:trace>
  <inkml:trace contextRef="#ctx0" brushRef="#br0" timeOffset="6346.51">14194 7407 0,'0'0'0,"0"0"0,-9 0 0,-8 43 31,-9 42-31,9 51 16,0 51-1,0 17 1,9-34-16,8-17 15,0-25-15,0-51 16,25-35 0,44-8-1,59-51-15,128-94 16,25-50-16,-42-1 16,69-33-1</inkml:trace>
  <inkml:trace contextRef="#ctx0" brushRef="#br0" timeOffset="7319.16">13357 9653 0,'-8'0'0,"-9"0"0,-60 8 0,-60 18 0,-16 16 16,-35 43-1,-34 9 1,34-1-16,-17 18 16,9 25-1,0 8 1,-9 18-16,0 34 15,0 25 1,17 0-16,35 0 16,33-34-1,26-59-15,60-77 16</inkml:trace>
  <inkml:trace contextRef="#ctx0" brushRef="#br0" timeOffset="7622.52">10600 11132 0,'0'0'0,"0"0"0,0 0 16,0 0-16,-8 17 31,-52 77-31,-42 59 15,33 9 1,27-18-16,16-33 16,9-43-1,17-17-15,26-26 16,42-8 0,60-34-16,94-51 15,111-42 1</inkml:trace>
  <inkml:trace contextRef="#ctx0" brushRef="#br0" timeOffset="40729.96">22054 3972 0,'0'0'0,"0"0"0,-8-9 0</inkml:trace>
  <inkml:trace contextRef="#ctx0" brushRef="#br0" timeOffset="41354.74">22268 3563 0,'0'0'0,"0"0"0,0 0 0,0 0 0,0 0 0,0 0 0,0 0 15,-9 0 1,1 26 0,-18 16-16,-17 52 15,-8 25 1,0 26-16,0 25 16,-9 34-1,9 17-15,0-8 16,-1-9-1,-7 0-15,-10-17 16,-8-17 0,18-43-16,16-41 15,17-44 1,9-16-16,0-18 16,9 1-1,-1-26-15,-8-17 16,0-26-1,0 9-15,9 0 16,-1 17 0,0 8-16,9 9 15,-8 9 1,-1 8-16,-25 25 16,-8 35-1,16 25-15,17 9 16,9-1-1,9-33-15,-1-18 16,1-16 0,8-1-16,0-8 15,51-17 1,78-34-16,33-51 16,85-68-1</inkml:trace>
  <inkml:trace contextRef="#ctx0" brushRef="#br0" timeOffset="47297.47">14185 3904 0,'0'0'0,"0"0"0,-8 0 0,-1 0 15,-17-9 1,1 1-1,-9-1 1,0 1-16,-1-1 16,1 1-1,-17 8-15,-9 8 16,9 9 0,-17 9-16,-35 16 15,-59 43 1,26-8-1,33-9-15,-8 17 16,-17 8-16,9 1 16,8-1-1,43 1-15,16-1 16,18 10 0,0 7-16,8 18 15,9 8 1,9-26-16,8-8 15,17-8-15,0-9 16,26 0 0,8 0-1,26-17 1,25-8-16,26-18 16,17 9-16,43-8 15,0-26 1,8-26-1,26 1-15,8-18 16,26 1-16,-17-1 16,17 1-1,9-9 1,0 0-16,-1 0 16,-16-17-1,-18 0-15,-34-1 16,18 1-1,-69 9-15,-8-18 16,-1-8 0,-25 0-16,-26 0 15,-25 9 1,-17-26-16,-26-17 16,-34 0-1,-26-9-15,-51 0 16,-25 9-1,-43 0-15,-43 0 16,-26 9 0,-25 25-16,-25 8 15,-27 18 1,-42-1-16,-17 9 16,-51 17-1,-51 34-15,-60 68 16,-129 102-1,-33 119-15,8 103 16,52 41 0,289-194-16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20:10:09.016"/>
    </inkml:context>
    <inkml:brush xml:id="br0">
      <inkml:brushProperty name="width" value="0.05292" units="cm"/>
      <inkml:brushProperty name="height" value="0.05292" units="cm"/>
      <inkml:brushProperty name="color" value="#FF0000"/>
    </inkml:brush>
  </inkml:definitions>
  <inkml:trace contextRef="#ctx0" brushRef="#br0">9875 2832 0,'0'0'0,"0"0"0,0 0 0,0 17 0,0 9 0,-9 25 16,1 34-1,-18 25-15,-16 1 16,7 8 0,10 0-16,16-26 15,26-16 1,9-26-16,17-17 15,33 0 1,44-17-16,17-17 16,-1-17-16,1 8 15,42 1 1,-26-1 0,-24 9-16,75 0 15,-7 9 1,-18-1-16,60 18 15,0-9 1,-9 0-16,-8 0 16,0 9-1,9 8-15,-1-34 16,18 0 0,-52-9-16,-34-16 15,17-9 1,-42-1-16,-60 1 15,-18 9 1,-16-1-16,-9-16 16,-8-35-1,-18-33-15,-16 50 16</inkml:trace>
  <inkml:trace contextRef="#ctx0" brushRef="#br0" timeOffset="6991.4">20527 4958 0,'0'0'0,"0"0"0,0 0 16,0 9-16,0 8 15,0 0 1,0 0 0,0 0-16,0 8 15,0 1-15,0-1 16,0 1-1,0-1 1,0 1-16,0-1 16,0 1-1,0-1-15,0-8 16,0 0 0,0-8-1,0-1-15,0 1 16,0-1-1,0 1-15,8-1 16,9 1-16,26-1 16,17 1-1,-9-1-15,9 1 16,16-9 0,10 0-16,25 8 15,8-8 1,-25 0-16,8 0 15,-8 17 1,-8 0 0,8 0-16,-35-8 15,-16-1-15,-17 1 16,-1-9 0,-16 0-16,-1 0 15,1 0 1,-1-9-1,1-8-15,-1-8 16,1-26-16,-9-17 16,-9-34-1,1 42-15</inkml:trace>
  <inkml:trace contextRef="#ctx0" brushRef="#br0" timeOffset="7557.91">22797 4984 0,'0'0'0,"-9"0"0,1 0 0</inkml:trace>
  <inkml:trace contextRef="#ctx0" brushRef="#br0" timeOffset="8168.45">22447 4694 0,'0'0'0,"0"0"0,0 0 0,0 0 0,0 0 16,0 0-16,0 9 15,8 42 1,1 34-16,0 0 16,-1-17-1,-8-8-15,-8-1 16,-1 1-1,0-1-15,1-16 16,-1-1 0,1-8-16,8-8 15,0-1 1,0-8-16,17 0 16,9-8-1,16-1-15,18-16 16,51-9-1,17-9-15,-17 9 16,0 0 0,0 0-16,17 17 15,-34 0 1,-43 0-16,-17 0 16,-8 0-1,-18 0-15,1 0 16,-1 0-1,1 0-15,-1 0 16,-8 0 0,0 0-16,0-8 15,9-9 1,-9-34-16,0-60 16,0-16-1,8-1-15,-8 69 16</inkml:trace>
  <inkml:trace contextRef="#ctx0" brushRef="#br0" timeOffset="9843.23">19647 3121 0,'0'0'0,"0"0"0,9 0 0,-9 0 0,0 0 0,0 0 31,0-8-15,-9-1-16,1-8 15,-1 0 1,-8 0-16,-8 0 16,-18 0-1,-25 0-15,-35 17 16,-16 17 0,-1 17-16,-8 17 15,17 17 1,0 9-16,18 8 15,16-17 1,26 0-16,8 0 16,17 17-1,18 17-15,25 0 16,43-8 0,33-1-16,35-8 15,26-17 1,17 9-16,17-9 15,8-17 1,9-9-16,17-25 16,-1-34-1,1-17-15,-8-8 16,-35-9 0,-17-9-16,-59 9 15,-35 9 1,-17-9-1,-25-34-15,-26-17 16,-26-1-16,-34-16 16,-42-51-1,-26-8-15,-17 33 16,-17 9 0,-60-34-16,-9 34 15,-42 34 1,-68 42-16,-60 43 15,-94 68 1,0 68-16,119-8 16</inkml:trace>
  <inkml:trace contextRef="#ctx0" brushRef="#br0" timeOffset="19328.41">23966 1692 0,'0'0'16,"0"0"-16,0 0 0,0 0 0,-8 0 0,-9 34 15,-43 43-15,-26 42 16,-16 26 0,8-9-1,9 0-15,16-9 16,-7 9 0,16-17-16,9-34 15,0-16 1,8-18-16,-8-9 15,-1-8 1,10-17-16,8-17 16,-1-25-1,10-18-15,8 9 16,0 17 0,8 0-16,9 0 15,0 9 1,0-1-16,0 9 15,0-9 1,9 9-16,8 9 16,17 17-1,-8 25 1,-1 8-16,-16 1 16,-1-9-16,1-9 15,-9 1 1,25 8-16,35 8 15,60-25 1,170-8-16</inkml:trace>
  <inkml:trace contextRef="#ctx0" brushRef="#br0" timeOffset="32417.05">25067 7552 0,'0'0'0,"0"0"0,9 0 0,-9 0 0,0 0 16,0 0 0,-9-17-1,-25-17 1,0-26-16,-9-8 16,1-25-16,-10-1 15,1 9 1,0 0-16,0 9 15,-18-1 1,-7 1-16,7 25 16,18 0-1,17 16-15,8 10 16,9 8 0,0 17-16,-8 0 15,8 8 1,-1 9-16,1 0 15,0 18 1,0-1-16,9-9 16,8 1-1,0-18-15,0 1 16,0-1 0,0-8-16,-9 0 15,1-8 1,-18-26-16,-8-9 15,8-8 1,9 0 0,0 17-16,9 8 15,8 9-15,8 0 16,26 17 0,69 26-16,59 25 15,128 60 1</inkml:trace>
  <inkml:trace contextRef="#ctx0" brushRef="#br0" timeOffset="39479.24">1963 4924 0,'0'0'0,"0"0"0,0 0 15,0 0-15,0 0 32,0 0-32,0 0 15,0 0 1,26 17-16,16 34 15,18 68 1,17 34 0,0 34-16,0 26 15,8-9-15,-17-25 16,9 8 0,-9-43-16,-17-25 15,-8-17 1,-17-33-1,-18-27-15,1-16 16,-9-9 0,0-9-16</inkml:trace>
  <inkml:trace contextRef="#ctx0" brushRef="#br0" timeOffset="39763.23">2270 6149 0,'0'0'0,"-8"59"0,16 60 16,26 0-16,26-8 16,34 17-1,8-1-15,18 1 16,-9-43-1,-17-26-15,-26-25 16,-25-17 0,-9-17-16,9-42 15,33-137-15,27-136 16,8-50 0</inkml:trace>
  <inkml:trace contextRef="#ctx0" brushRef="#br0" timeOffset="51044.14">3346 8624 0,'0'0'0,"0"0"0,-9 0 0,1-9 0,-18 1 0,0-1 16,-16 9-1,-1 0 1,0 0-16,1 9 16,-27 8-1,-7 17-15,-10 17 16,-33 42-1,-9 35-15,0 8 16,25-9 0,35 9-16,-9 17 15,9-16 1,17-27-16,0 26 16,16 0-1,1-8-15,9 8 16,8 25-1,8-24-15,18-27 16,16 9 0,9 17-16,26 0 15,-9-25 1,-8-26 0,17-17-16,25 0 15,43 0-15,0-34 16,34-8-1,52-18-15,-27-16 16,18-18 0,26-8-16,-1-9 15,9-16 1,0-9 0,9-26-16,8-25 15,-17 9-15,0-18 16,-9 1-1,0-18-15,9-8 16,-25 0 0,-1-26-16,-16-8 15,-18-8 1,-17-1-16,-8 0 16,-18-8-1,-8-8 1,-34 8-16,-26 25 15,-17 0-15,-25 1 16,-26 33 0,-34-16-16,-9 8 15,-25 33 1,-43-7-16,-26 16 16,-33 18-1,-61 8-15,-33 34 16,-61 59-1,-84 52-15,8 25 16,-35 51 0,-76 76-1,-34 69-15,-60 51 16,-60 51 0,77 33-16,0 120 15,274-221 1</inkml:trace>
  <inkml:trace contextRef="#ctx0" brushRef="#br0" timeOffset="160085.15">17821 8224 0,'9'0'0,"33"8"0,86 1 0,94-9 16,9-26 15,33-16-31,-59-9 16,-77 17-1,-17 0-15,-43 0 16,-17 17-16,-25 0 16,-17 8-1,-9 9 1,-111 17-16,-205 77 15,-171 67 1,86-33-16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20:12:25.051"/>
    </inkml:context>
    <inkml:brush xml:id="br0">
      <inkml:brushProperty name="width" value="0.05292" units="cm"/>
      <inkml:brushProperty name="height" value="0.05292" units="cm"/>
      <inkml:brushProperty name="color" value="#FF0000"/>
    </inkml:brush>
  </inkml:definitions>
  <inkml:trace contextRef="#ctx0" brushRef="#br0">26501 3742 0,'-9'0'0,"1"0"0,-9 0 0,-128 17 0,102 8 0,0 10 0,-42 16 0,-137 34 0,43 0 16,42-9 0,-85-8-16,77-34 15,94-17 1,17-8-16,17-9 16,8-17-1,1 0-15</inkml:trace>
  <inkml:trace contextRef="#ctx0" brushRef="#br0" timeOffset="199.84">25306 3912 0,'0'0'0,"-8"0"0,-35 17 16,-17 17-16,26 0 16,0 9-1,0 8-15,0 0 16,-1 17-1,27 17-15,8-9 16,34 9 0,94 26-16,154 67 15</inkml:trace>
  <inkml:trace contextRef="#ctx0" brushRef="#br0" timeOffset="6609.36">21636 8113 0,'0'0'0,"-8"0"0,-1 0 16,0 0-16,1 0 16,-1 0-1,9 0 1,0 0-1,0 0-15,0 0 16,0 0 0,0 0-16,0 0 15,0 0 1,0 0-16,9 9 16,25 8-1,34-9-15,18 1 16,8-1-16,8-8 15,18-8 1,16-9 0,-42-9-16,-9 9 15,-16 0 1,-27 9-16,-16 8 16,-9 0-1,-9 0-15,1 0 16,-18 0-1,-16 25-15,-69 26 16,-43 9 0,9-18-16,-34-8 15,9-8 1,50-18-16,26 1 16,18-9-1,16 0-15,9 0 16,17-9-1,17 9-15,8-8 16,52-26 0,60 0-16,33 8 15,52 26 1,17 0-16,85 17 16</inkml:trace>
  <inkml:trace contextRef="#ctx0" brushRef="#br0" timeOffset="9930.73">23420 8368 0,'0'0'0,"0"0"0,0 0 16,0 0-16,8 0 15,35 0 1,42 9-1,26-9-15,0-9 16,0 1 0,0-1-16,-42 1 15,-18 8 1,-26 0-16,1 0 16,-17 0-1,-1 0-15,-8 0 16,-26 0-1,-67 0-15,-87 0 16,-50 8 0,8 1-16,68-1 15,69 1 1,42-9-16,26 0 16,34-9-1,94-8-15,137-8 16,42 8-1,-8 17-15,-52 0 16,77-34 0</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20:13:48.647"/>
    </inkml:context>
    <inkml:brush xml:id="br0">
      <inkml:brushProperty name="width" value="0.05292" units="cm"/>
      <inkml:brushProperty name="height" value="0.05292" units="cm"/>
      <inkml:brushProperty name="color" value="#FF0000"/>
    </inkml:brush>
  </inkml:definitions>
  <inkml:trace contextRef="#ctx0" brushRef="#br0">6265 9423 0,'0'0'0,"0"0"0,0 0 0,-9-9 0,1 1 15,-9-1-15,-1 1 16,1-1 0,9 9-16,-1 0 15,-16 9 1,-27 25-16,-41 34 15,-1 9 1,8-9-16,-8 17 16,9-9-1,8 1-15,1 16 16,7 1 0,18-1-16,-9 9 15,1 34 1,16 1-16,9-18 15,8-17 1,-8 17-16,17-9 16,17-16-1,17-26 1,0-9-16,0-8 16,0 0-16,26 0 15,17 0 1,16-16-16,18-10 15,34-8 1,34-25-16,-8-18 16,8-17-1,43-25-15,0-34 16,0-17 0,25-17-1,18-8-15,16-18 16,18-8-16,17 0 15,-26 25 1,-9-8-16,10 0 16,-1 0-1,0-8 1,-17-10-16,-34 18 16,-17 0-16,-9 0 15,-17 0 1,-25 17-16,-26 8 15,-17 9 1,-26 0 0,-25 17-16,-18 26 15,-16-9 1,-17 0-16,-18 8 16,-25-8-1,-26 0-15,-17 8 16,-42 9-1,-52 0-15,-42 17 16,-35 17 0,-8 9-16,-8 25 15,-18 8 1,-8 26-16,0 9 16,-1 25-1,-24 25-15,-10 27 16,-59 24-1,34 18-15,-25 42 16,-35 17 0,9 34-16,25 9 15,1 84 1,76-58-16</inkml:trace>
  <inkml:trace contextRef="#ctx0" brushRef="#br0" timeOffset="61742.59">4327 8709 0,'0'0'0,"0"0"0,0 0 0,-8 0 0,-1 0 0,1 0 15,-1 0-15,1 0 31,-10 0-15,10 0-16,-18 0 0,-8 0 0,-26 0 31,1 8-15,-10-8-16,-33 9 0,-9 8 16,-8 0-1,8 0 1,17 8-16,-9 1 0,-16 8 31,8 0-15,8 8-16,18 9 15,0 9-15,-1-1 16,1 1 0,8 16-1,0 26-15,9 9 16,8 0-1,9 16-15,17 9 16,8 26 0,9-1-16,17 1 15,0-18 1,0 1-16,0-26 16,17-8-16,9 16 15,17-8 1,-1-34-16,18-8 15,17 8 1,0-26 0,17-16-16,25-17 15,18-9-15,-1-9 16,1-16 0,8-9-1,9-9-15,-9 0 16,0 1-1,8-9-15,1 0 16,-9 0 0,-8-9-16,8 1 15,-9-1 1,-42 9-16,-34 9 16,0-9-1,25-17-15,-17-9 16,-16-8-1,-1-42-15,-9-26 16,1-26 0,-17 9-16,-18-9 15,-16-25 1,-9 9-16,-18 8 16,-16-26-1,-17 26-15,-9 25 16,-34 9-1,-25-17-15,-27 34 0,-33 34 32,-68 42-32,-120 69 15,-35 93 1,61 34-16</inkml:trace>
  <inkml:trace contextRef="#ctx0" brushRef="#br0" timeOffset="72554.08">16310 4950 0,'-8'0'0,"-26"-9"15,-9 1-15,0-9 0,9 8 16,9 1-16,7-1 16,1 9-1,9 0-15,8 0 16,0 0-1,8 0-15,44 0 16,67 9 0,94 8-16,61-17 15,58 0 1,44 8 0,34-8-16,51 9 15,-18 8 1,10 8-16,-44-8 15</inkml:trace>
  <inkml:trace contextRef="#ctx0" brushRef="#br0" timeOffset="73582.74">15295 6021 0,'0'0'0,"0"0"0,0 0 15,0-8-15,17-1 16,25-16-1,27-1 1,25 1-16,8 8 16,-8 8-1,77 1-15,76-9 16,77 8 0,52 1-16,42 8 15,43 0 1,0-9-16,42 35 15,-93 25 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01T20:16:58.980"/>
    </inkml:context>
    <inkml:brush xml:id="br0">
      <inkml:brushProperty name="width" value="0.05292" units="cm"/>
      <inkml:brushProperty name="height" value="0.05292" units="cm"/>
      <inkml:brushProperty name="color" value="#FF0000"/>
    </inkml:brush>
  </inkml:definitions>
  <inkml:trace contextRef="#ctx0" brushRef="#br0">11488 7552 0,'17'-9'0,"128"-42"0,69-17 0,67 0 0,35 9 0,-316 59 0,299-26 16,127 18-16,27 25 15,50 8 1,-84 1 0</inkml:trace>
  <inkml:trace contextRef="#ctx0" brushRef="#br0" timeOffset="2325.32">2782 3819 0,'0'0'0,"0"0"0,0 0 16,0-9-16,43 0 16,111 1-1,68-9 1,76-9-1,35 9-15,26 17 16,67-8 0,69 33-16,60 18 15,26 0 1,178 42-16,35-9 16,42-16-1,-349-18-15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50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60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7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8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8.xml"/><Relationship Id="rId5" Type="http://schemas.openxmlformats.org/officeDocument/2006/relationships/image" Target="../media/image11.jpe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customXml" Target="../ink/ink9.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customXml" Target="../ink/ink10.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90.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15: graphs 1</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0443D-CC80-4223-4973-783A2799D5A0}"/>
              </a:ext>
            </a:extLst>
          </p:cNvPr>
          <p:cNvSpPr>
            <a:spLocks noGrp="1"/>
          </p:cNvSpPr>
          <p:nvPr>
            <p:ph type="title"/>
          </p:nvPr>
        </p:nvSpPr>
        <p:spPr/>
        <p:txBody>
          <a:bodyPr/>
          <a:lstStyle/>
          <a:p>
            <a:r>
              <a:rPr lang="en-US" dirty="0"/>
              <a:t>“Linear Time” Sorting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4058D8-9EE1-AE68-B68A-9A002CD5EC46}"/>
                  </a:ext>
                </a:extLst>
              </p:cNvPr>
              <p:cNvSpPr>
                <a:spLocks noGrp="1"/>
              </p:cNvSpPr>
              <p:nvPr>
                <p:ph idx="1"/>
              </p:nvPr>
            </p:nvSpPr>
            <p:spPr/>
            <p:txBody>
              <a:bodyPr/>
              <a:lstStyle/>
              <a:p>
                <a:r>
                  <a:rPr lang="en-US" dirty="0"/>
                  <a:t>Useable when you are able to make additional assumptions about the contents of your list (beyond the ability to compare)</a:t>
                </a:r>
              </a:p>
              <a:p>
                <a:pPr lvl="1"/>
                <a:r>
                  <a:rPr lang="en-US" dirty="0"/>
                  <a:t>Examples:</a:t>
                </a:r>
              </a:p>
              <a:p>
                <a:pPr lvl="2"/>
                <a:r>
                  <a:rPr lang="en-US" dirty="0"/>
                  <a:t>The list contains only positive integers less than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The number of distinct values in the list is much smaller than the length of the list</a:t>
                </a:r>
              </a:p>
              <a:p>
                <a:r>
                  <a:rPr lang="en-US" dirty="0"/>
                  <a:t>The running time expression will always have a term other than the list’s length to account for this assumption</a:t>
                </a:r>
              </a:p>
              <a:p>
                <a:pPr lvl="1"/>
                <a:r>
                  <a:rPr lang="en-US" dirty="0"/>
                  <a:t>Examples:</a:t>
                </a:r>
              </a:p>
              <a:p>
                <a:pPr lvl="2"/>
                <a:r>
                  <a:rPr lang="en-US" dirty="0"/>
                  <a:t>Running time might be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𝑘</m:t>
                    </m:r>
                  </m:oMath>
                </a14:m>
                <a:r>
                  <a:rPr lang="en-US" dirty="0"/>
                  <a:t> is the range/count of values</a:t>
                </a:r>
              </a:p>
              <a:p>
                <a:pPr lvl="1"/>
                <a:endParaRPr lang="en-US" dirty="0"/>
              </a:p>
            </p:txBody>
          </p:sp>
        </mc:Choice>
        <mc:Fallback xmlns="">
          <p:sp>
            <p:nvSpPr>
              <p:cNvPr id="3" name="Content Placeholder 2">
                <a:extLst>
                  <a:ext uri="{FF2B5EF4-FFF2-40B4-BE49-F238E27FC236}">
                    <a16:creationId xmlns:a16="http://schemas.microsoft.com/office/drawing/2014/main" id="{614058D8-9EE1-AE68-B68A-9A002CD5EC46}"/>
                  </a:ext>
                </a:extLst>
              </p:cNvPr>
              <p:cNvSpPr>
                <a:spLocks noGrp="1" noRot="1" noChangeAspect="1" noMove="1" noResize="1" noEditPoints="1" noAdjustHandles="1" noChangeArrowheads="1" noChangeShapeType="1" noTextEdit="1"/>
              </p:cNvSpPr>
              <p:nvPr>
                <p:ph idx="1"/>
              </p:nvPr>
            </p:nvSpPr>
            <p:spPr>
              <a:blipFill>
                <a:blip r:embed="rId2"/>
                <a:stretch>
                  <a:fillRect l="-1043" t="-2241" r="-168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CCB8391-0C0B-3C32-215D-3D79B23490B6}"/>
                  </a:ext>
                </a:extLst>
              </p14:cNvPr>
              <p14:cNvContentPartPr/>
              <p14:nvPr/>
            </p14:nvContentPartPr>
            <p14:xfrm>
              <a:off x="1213560" y="1359360"/>
              <a:ext cx="6391440" cy="4283640"/>
            </p14:xfrm>
          </p:contentPart>
        </mc:Choice>
        <mc:Fallback>
          <p:pic>
            <p:nvPicPr>
              <p:cNvPr id="4" name="Ink 3">
                <a:extLst>
                  <a:ext uri="{FF2B5EF4-FFF2-40B4-BE49-F238E27FC236}">
                    <a16:creationId xmlns:a16="http://schemas.microsoft.com/office/drawing/2014/main" id="{8CCB8391-0C0B-3C32-215D-3D79B23490B6}"/>
                  </a:ext>
                </a:extLst>
              </p:cNvPr>
              <p:cNvPicPr/>
              <p:nvPr/>
            </p:nvPicPr>
            <p:blipFill>
              <a:blip r:embed="rId4"/>
              <a:stretch>
                <a:fillRect/>
              </a:stretch>
            </p:blipFill>
            <p:spPr>
              <a:xfrm>
                <a:off x="1204200" y="1350000"/>
                <a:ext cx="6410160" cy="4302360"/>
              </a:xfrm>
              <a:prstGeom prst="rect">
                <a:avLst/>
              </a:prstGeom>
            </p:spPr>
          </p:pic>
        </mc:Fallback>
      </mc:AlternateContent>
    </p:spTree>
    <p:extLst>
      <p:ext uri="{BB962C8B-B14F-4D97-AF65-F5344CB8AC3E}">
        <p14:creationId xmlns:p14="http://schemas.microsoft.com/office/powerpoint/2010/main" val="1557844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BucketSort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p:txBody>
              <a:bodyPr/>
              <a:lstStyle/>
              <a:p>
                <a:r>
                  <a:rPr lang="en-US" dirty="0"/>
                  <a:t>Assumes the array contains integers between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(or some other small range)</a:t>
                </a:r>
              </a:p>
              <a:p>
                <a:r>
                  <a:rPr lang="en-US" dirty="0"/>
                  <a:t>Idea:</a:t>
                </a:r>
              </a:p>
              <a:p>
                <a:pPr lvl="1"/>
                <a:r>
                  <a:rPr lang="en-US" dirty="0"/>
                  <a:t>Use each value as an index into an array of size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Add the item into the “bucket” at that index (e.g. linked list)</a:t>
                </a:r>
              </a:p>
              <a:p>
                <a:pPr lvl="1"/>
                <a:r>
                  <a:rPr lang="en-US" dirty="0"/>
                  <a:t>Get sorted array by “appending” all the buckets</a:t>
                </a:r>
              </a:p>
            </p:txBody>
          </p:sp>
        </mc:Choice>
        <mc:Fallback xmlns="">
          <p:sp>
            <p:nvSpPr>
              <p:cNvPr id="3" name="Content Placeholder 2">
                <a:extLst>
                  <a:ext uri="{FF2B5EF4-FFF2-40B4-BE49-F238E27FC236}">
                    <a16:creationId xmlns:a16="http://schemas.microsoft.com/office/drawing/2014/main" id="{13E04AAD-4854-7E00-900E-93F7F0ADE08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6" name="Group 45" descr="An array of length 12 containing only the keys 0, 1, 2, and 3. In particular, the contents are:&#10;[0,2,3,0,0,1,2,1,3,0,2,0]">
            <a:extLst>
              <a:ext uri="{FF2B5EF4-FFF2-40B4-BE49-F238E27FC236}">
                <a16:creationId xmlns:a16="http://schemas.microsoft.com/office/drawing/2014/main" id="{28D2429C-A2C3-D78D-86E9-11CE8E41D125}"/>
              </a:ext>
            </a:extLst>
          </p:cNvPr>
          <p:cNvGrpSpPr/>
          <p:nvPr/>
        </p:nvGrpSpPr>
        <p:grpSpPr>
          <a:xfrm>
            <a:off x="11911" y="5514575"/>
            <a:ext cx="4386191" cy="365386"/>
            <a:chOff x="1445524" y="2895600"/>
            <a:chExt cx="6403076" cy="533400"/>
          </a:xfrm>
          <a:solidFill>
            <a:schemeClr val="bg1"/>
          </a:solidFill>
        </p:grpSpPr>
        <p:sp>
          <p:nvSpPr>
            <p:cNvPr id="47" name="Rectangle 46">
              <a:extLst>
                <a:ext uri="{FF2B5EF4-FFF2-40B4-BE49-F238E27FC236}">
                  <a16:creationId xmlns:a16="http://schemas.microsoft.com/office/drawing/2014/main" id="{C8991133-53D2-21F2-29C3-E98E7709EE01}"/>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48" name="Rectangle 47">
              <a:extLst>
                <a:ext uri="{FF2B5EF4-FFF2-40B4-BE49-F238E27FC236}">
                  <a16:creationId xmlns:a16="http://schemas.microsoft.com/office/drawing/2014/main" id="{730D66B8-A5F7-07FF-D312-C7AC75751DF1}"/>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p>
          </p:txBody>
        </p:sp>
        <p:sp>
          <p:nvSpPr>
            <p:cNvPr id="49" name="Rectangle 48">
              <a:extLst>
                <a:ext uri="{FF2B5EF4-FFF2-40B4-BE49-F238E27FC236}">
                  <a16:creationId xmlns:a16="http://schemas.microsoft.com/office/drawing/2014/main" id="{5E9E219E-11BF-685D-A6D4-EF356E8C2FA7}"/>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50" name="Rectangle 49">
              <a:extLst>
                <a:ext uri="{FF2B5EF4-FFF2-40B4-BE49-F238E27FC236}">
                  <a16:creationId xmlns:a16="http://schemas.microsoft.com/office/drawing/2014/main" id="{9D87A812-EAA0-D443-7950-C573364609A0}"/>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51" name="Rectangle 50">
              <a:extLst>
                <a:ext uri="{FF2B5EF4-FFF2-40B4-BE49-F238E27FC236}">
                  <a16:creationId xmlns:a16="http://schemas.microsoft.com/office/drawing/2014/main" id="{F1707F78-BE73-72CA-F6DC-1515ECE148EE}"/>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p>
          </p:txBody>
        </p:sp>
        <p:sp>
          <p:nvSpPr>
            <p:cNvPr id="52" name="Rectangle 51">
              <a:extLst>
                <a:ext uri="{FF2B5EF4-FFF2-40B4-BE49-F238E27FC236}">
                  <a16:creationId xmlns:a16="http://schemas.microsoft.com/office/drawing/2014/main" id="{361E9614-6CC2-15BD-1F3E-2BE8C9109E3A}"/>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712D61F4-D525-E70B-DDA3-1CA9C95D238A}"/>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a:extLst>
                <a:ext uri="{FF2B5EF4-FFF2-40B4-BE49-F238E27FC236}">
                  <a16:creationId xmlns:a16="http://schemas.microsoft.com/office/drawing/2014/main" id="{A9D0A8A3-E471-716C-E1E2-84F388209D08}"/>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55" name="Rectangle 54">
              <a:extLst>
                <a:ext uri="{FF2B5EF4-FFF2-40B4-BE49-F238E27FC236}">
                  <a16:creationId xmlns:a16="http://schemas.microsoft.com/office/drawing/2014/main" id="{39E38520-A7FB-159F-9CCA-D3E7AF2DAAAB}"/>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p:txBody>
        </p:sp>
        <p:sp>
          <p:nvSpPr>
            <p:cNvPr id="56" name="Rectangle 55">
              <a:extLst>
                <a:ext uri="{FF2B5EF4-FFF2-40B4-BE49-F238E27FC236}">
                  <a16:creationId xmlns:a16="http://schemas.microsoft.com/office/drawing/2014/main" id="{75A47277-D855-F580-7023-1EC9C825E2D6}"/>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7" name="Rectangle 56">
              <a:extLst>
                <a:ext uri="{FF2B5EF4-FFF2-40B4-BE49-F238E27FC236}">
                  <a16:creationId xmlns:a16="http://schemas.microsoft.com/office/drawing/2014/main" id="{871D4AD6-315C-B84D-7071-065DA90CB2D5}"/>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p:txBody>
        </p:sp>
        <p:sp>
          <p:nvSpPr>
            <p:cNvPr id="58" name="Rectangle 57">
              <a:extLst>
                <a:ext uri="{FF2B5EF4-FFF2-40B4-BE49-F238E27FC236}">
                  <a16:creationId xmlns:a16="http://schemas.microsoft.com/office/drawing/2014/main" id="{DD60F3EF-76FE-B40C-1312-CAA6D43CD06D}"/>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p>
          </p:txBody>
        </p:sp>
      </p:grpSp>
      <p:sp>
        <p:nvSpPr>
          <p:cNvPr id="72" name="Arrow: Right 71">
            <a:extLst>
              <a:ext uri="{FF2B5EF4-FFF2-40B4-BE49-F238E27FC236}">
                <a16:creationId xmlns:a16="http://schemas.microsoft.com/office/drawing/2014/main" id="{1DC3E660-9E6E-B53B-EBBB-B31CCC11C4A0}"/>
              </a:ext>
              <a:ext uri="{C183D7F6-B498-43B3-948B-1728B52AA6E4}">
                <adec:decorative xmlns:adec="http://schemas.microsoft.com/office/drawing/2017/decorative" val="1"/>
              </a:ext>
            </a:extLst>
          </p:cNvPr>
          <p:cNvSpPr/>
          <p:nvPr/>
        </p:nvSpPr>
        <p:spPr>
          <a:xfrm>
            <a:off x="4520023" y="5341155"/>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descr="We have one &quot;bucket&quot; per key in our array, so in this case we have buckets 0, 1, 2, and 3. To sort the first step is to insert each item into a bucket according to its sort key. In this case the bucket 0 has six 0s, bucket 1 has two 1s, bucket 2 has three 2s, and bucket 3 has two 3s.">
            <a:extLst>
              <a:ext uri="{FF2B5EF4-FFF2-40B4-BE49-F238E27FC236}">
                <a16:creationId xmlns:a16="http://schemas.microsoft.com/office/drawing/2014/main" id="{67AF8E09-4807-2868-A48C-6127E71A25DA}"/>
              </a:ext>
            </a:extLst>
          </p:cNvPr>
          <p:cNvGrpSpPr/>
          <p:nvPr/>
        </p:nvGrpSpPr>
        <p:grpSpPr>
          <a:xfrm>
            <a:off x="5029200" y="4971363"/>
            <a:ext cx="2133600" cy="1817195"/>
            <a:chOff x="4876800" y="4493526"/>
            <a:chExt cx="2133600" cy="1817195"/>
          </a:xfrm>
        </p:grpSpPr>
        <p:sp>
          <p:nvSpPr>
            <p:cNvPr id="10" name="Rectangle 9">
              <a:extLst>
                <a:ext uri="{FF2B5EF4-FFF2-40B4-BE49-F238E27FC236}">
                  <a16:creationId xmlns:a16="http://schemas.microsoft.com/office/drawing/2014/main" id="{37195B6B-8F20-1E06-FD24-55448A14BC22}"/>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a:p>
              <a:pPr algn="ctr"/>
              <a:r>
                <a:rPr lang="en-US" dirty="0">
                  <a:solidFill>
                    <a:srgbClr val="0070C0"/>
                  </a:solidFill>
                </a:rPr>
                <a:t>3</a:t>
              </a:r>
            </a:p>
          </p:txBody>
        </p:sp>
        <p:sp>
          <p:nvSpPr>
            <p:cNvPr id="11" name="Rectangle 10">
              <a:extLst>
                <a:ext uri="{FF2B5EF4-FFF2-40B4-BE49-F238E27FC236}">
                  <a16:creationId xmlns:a16="http://schemas.microsoft.com/office/drawing/2014/main" id="{EFCDDC84-F1EE-993E-EAE5-3B0A4221D133}"/>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a:p>
              <a:pPr algn="ctr"/>
              <a:r>
                <a:rPr lang="en-US" dirty="0">
                  <a:solidFill>
                    <a:schemeClr val="tx1"/>
                  </a:solidFill>
                </a:rPr>
                <a:t>2</a:t>
              </a:r>
            </a:p>
            <a:p>
              <a:pPr algn="ctr"/>
              <a:r>
                <a:rPr lang="en-US" dirty="0">
                  <a:solidFill>
                    <a:srgbClr val="FF0000"/>
                  </a:solidFill>
                </a:rPr>
                <a:t>2</a:t>
              </a:r>
            </a:p>
          </p:txBody>
        </p:sp>
        <p:sp>
          <p:nvSpPr>
            <p:cNvPr id="12" name="TextBox 11">
              <a:extLst>
                <a:ext uri="{FF2B5EF4-FFF2-40B4-BE49-F238E27FC236}">
                  <a16:creationId xmlns:a16="http://schemas.microsoft.com/office/drawing/2014/main" id="{BCBDC5BF-A788-9BB0-473D-1600DF77A3F1}"/>
                </a:ext>
              </a:extLst>
            </p:cNvPr>
            <p:cNvSpPr txBox="1"/>
            <p:nvPr/>
          </p:nvSpPr>
          <p:spPr>
            <a:xfrm>
              <a:off x="4992657" y="5941389"/>
              <a:ext cx="301686" cy="369332"/>
            </a:xfrm>
            <a:prstGeom prst="rect">
              <a:avLst/>
            </a:prstGeom>
            <a:noFill/>
          </p:spPr>
          <p:txBody>
            <a:bodyPr wrap="none" rtlCol="0">
              <a:spAutoFit/>
            </a:bodyPr>
            <a:lstStyle/>
            <a:p>
              <a:r>
                <a:rPr lang="en-US" dirty="0"/>
                <a:t>0</a:t>
              </a:r>
            </a:p>
          </p:txBody>
        </p:sp>
        <p:sp>
          <p:nvSpPr>
            <p:cNvPr id="13" name="TextBox 12">
              <a:extLst>
                <a:ext uri="{FF2B5EF4-FFF2-40B4-BE49-F238E27FC236}">
                  <a16:creationId xmlns:a16="http://schemas.microsoft.com/office/drawing/2014/main" id="{7FD68542-BB28-5946-6762-7C4484D3871E}"/>
                </a:ext>
              </a:extLst>
            </p:cNvPr>
            <p:cNvSpPr txBox="1"/>
            <p:nvPr/>
          </p:nvSpPr>
          <p:spPr>
            <a:xfrm>
              <a:off x="5526057" y="5941389"/>
              <a:ext cx="301686"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6DF4183B-2334-683F-82D4-12D377A07121}"/>
                </a:ext>
              </a:extLst>
            </p:cNvPr>
            <p:cNvSpPr txBox="1"/>
            <p:nvPr/>
          </p:nvSpPr>
          <p:spPr>
            <a:xfrm>
              <a:off x="6060026" y="5941389"/>
              <a:ext cx="301686"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E7C120CA-55FF-AB22-BBE5-BF9068E1A493}"/>
                </a:ext>
              </a:extLst>
            </p:cNvPr>
            <p:cNvSpPr txBox="1"/>
            <p:nvPr/>
          </p:nvSpPr>
          <p:spPr>
            <a:xfrm>
              <a:off x="6569800" y="5941389"/>
              <a:ext cx="301686" cy="369332"/>
            </a:xfrm>
            <a:prstGeom prst="rect">
              <a:avLst/>
            </a:prstGeom>
            <a:noFill/>
          </p:spPr>
          <p:txBody>
            <a:bodyPr wrap="none" rtlCol="0">
              <a:spAutoFit/>
            </a:bodyPr>
            <a:lstStyle/>
            <a:p>
              <a:r>
                <a:rPr lang="en-US" dirty="0"/>
                <a:t>3</a:t>
              </a:r>
            </a:p>
          </p:txBody>
        </p:sp>
        <p:sp>
          <p:nvSpPr>
            <p:cNvPr id="20" name="Rectangle 19">
              <a:extLst>
                <a:ext uri="{FF2B5EF4-FFF2-40B4-BE49-F238E27FC236}">
                  <a16:creationId xmlns:a16="http://schemas.microsoft.com/office/drawing/2014/main" id="{6FA4C3E8-9EFE-C9A8-7B7A-F47C950A259C}"/>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a:p>
              <a:pPr algn="ctr"/>
              <a:r>
                <a:rPr lang="en-US" dirty="0">
                  <a:solidFill>
                    <a:srgbClr val="FF00FF"/>
                  </a:solidFill>
                </a:rPr>
                <a:t>1</a:t>
              </a:r>
            </a:p>
          </p:txBody>
        </p:sp>
        <p:sp>
          <p:nvSpPr>
            <p:cNvPr id="21" name="Rectangle 20">
              <a:extLst>
                <a:ext uri="{FF2B5EF4-FFF2-40B4-BE49-F238E27FC236}">
                  <a16:creationId xmlns:a16="http://schemas.microsoft.com/office/drawing/2014/main" id="{0562214D-E46D-80EC-D18F-6101DF8377CD}"/>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AA48"/>
                  </a:solidFill>
                </a:rPr>
                <a:t>0</a:t>
              </a:r>
            </a:p>
            <a:p>
              <a:pPr algn="ctr"/>
              <a:r>
                <a:rPr lang="en-US" dirty="0">
                  <a:solidFill>
                    <a:schemeClr val="tx1"/>
                  </a:solidFill>
                </a:rPr>
                <a:t>0</a:t>
              </a:r>
            </a:p>
            <a:p>
              <a:pPr algn="ctr"/>
              <a:r>
                <a:rPr lang="en-US" dirty="0">
                  <a:solidFill>
                    <a:srgbClr val="0070C0"/>
                  </a:solidFill>
                </a:rPr>
                <a:t>0</a:t>
              </a:r>
            </a:p>
            <a:p>
              <a:pPr algn="ctr"/>
              <a:r>
                <a:rPr lang="en-US" dirty="0">
                  <a:solidFill>
                    <a:srgbClr val="FF00FF"/>
                  </a:solidFill>
                </a:rPr>
                <a:t>0</a:t>
              </a:r>
            </a:p>
            <a:p>
              <a:pPr algn="ctr"/>
              <a:r>
                <a:rPr lang="en-US" dirty="0">
                  <a:solidFill>
                    <a:srgbClr val="FF0000"/>
                  </a:solidFill>
                </a:rPr>
                <a:t>0</a:t>
              </a:r>
            </a:p>
          </p:txBody>
        </p:sp>
      </p:grpSp>
      <p:sp>
        <p:nvSpPr>
          <p:cNvPr id="73" name="Arrow: Right 72">
            <a:extLst>
              <a:ext uri="{FF2B5EF4-FFF2-40B4-BE49-F238E27FC236}">
                <a16:creationId xmlns:a16="http://schemas.microsoft.com/office/drawing/2014/main" id="{13A20324-3B66-FEF7-4AD8-FE7A0460A6BD}"/>
              </a:ext>
              <a:ext uri="{C183D7F6-B498-43B3-948B-1728B52AA6E4}">
                <adec:decorative xmlns:adec="http://schemas.microsoft.com/office/drawing/2017/decorative" val="1"/>
              </a:ext>
            </a:extLst>
          </p:cNvPr>
          <p:cNvSpPr/>
          <p:nvPr/>
        </p:nvSpPr>
        <p:spPr>
          <a:xfrm>
            <a:off x="7219147" y="5404803"/>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descr="finally we empty the buckets into an output array, going in order of the buckets. Our final output will be an array of six 0s, then two 1s, then three 2s, and finally two 3s.">
            <a:extLst>
              <a:ext uri="{FF2B5EF4-FFF2-40B4-BE49-F238E27FC236}">
                <a16:creationId xmlns:a16="http://schemas.microsoft.com/office/drawing/2014/main" id="{2C37DF3F-683D-C0A4-0917-907B958B84E0}"/>
              </a:ext>
            </a:extLst>
          </p:cNvPr>
          <p:cNvGrpSpPr/>
          <p:nvPr/>
        </p:nvGrpSpPr>
        <p:grpSpPr>
          <a:xfrm>
            <a:off x="7782872" y="5527885"/>
            <a:ext cx="4386191" cy="365386"/>
            <a:chOff x="1445524" y="2895600"/>
            <a:chExt cx="6403076" cy="533400"/>
          </a:xfrm>
          <a:solidFill>
            <a:schemeClr val="bg1"/>
          </a:solidFill>
        </p:grpSpPr>
        <p:sp>
          <p:nvSpPr>
            <p:cNvPr id="60" name="Rectangle 59">
              <a:extLst>
                <a:ext uri="{FF2B5EF4-FFF2-40B4-BE49-F238E27FC236}">
                  <a16:creationId xmlns:a16="http://schemas.microsoft.com/office/drawing/2014/main" id="{168E7DD3-EF08-978F-A4CC-F110D4874DFC}"/>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61" name="Rectangle 60">
              <a:extLst>
                <a:ext uri="{FF2B5EF4-FFF2-40B4-BE49-F238E27FC236}">
                  <a16:creationId xmlns:a16="http://schemas.microsoft.com/office/drawing/2014/main" id="{69B22446-6F01-32A0-2BB0-AEAB907E04D5}"/>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62" name="Rectangle 61">
              <a:extLst>
                <a:ext uri="{FF2B5EF4-FFF2-40B4-BE49-F238E27FC236}">
                  <a16:creationId xmlns:a16="http://schemas.microsoft.com/office/drawing/2014/main" id="{002ABD29-384B-723C-6187-14C726F98BDC}"/>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endParaRPr lang="en-US" dirty="0">
                <a:solidFill>
                  <a:schemeClr val="tx1"/>
                </a:solidFill>
              </a:endParaRPr>
            </a:p>
          </p:txBody>
        </p:sp>
        <p:sp>
          <p:nvSpPr>
            <p:cNvPr id="63" name="Rectangle 62">
              <a:extLst>
                <a:ext uri="{FF2B5EF4-FFF2-40B4-BE49-F238E27FC236}">
                  <a16:creationId xmlns:a16="http://schemas.microsoft.com/office/drawing/2014/main" id="{5E9E328F-376B-9281-6918-22FBE538C2AE}"/>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4" name="Rectangle 63">
              <a:extLst>
                <a:ext uri="{FF2B5EF4-FFF2-40B4-BE49-F238E27FC236}">
                  <a16:creationId xmlns:a16="http://schemas.microsoft.com/office/drawing/2014/main" id="{629300FB-CEAE-D3F3-1EEE-A6D4FA6E9460}"/>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endParaRPr lang="en-US" dirty="0">
                <a:solidFill>
                  <a:schemeClr val="tx1"/>
                </a:solidFill>
              </a:endParaRPr>
            </a:p>
          </p:txBody>
        </p:sp>
        <p:sp>
          <p:nvSpPr>
            <p:cNvPr id="65" name="Rectangle 64">
              <a:extLst>
                <a:ext uri="{FF2B5EF4-FFF2-40B4-BE49-F238E27FC236}">
                  <a16:creationId xmlns:a16="http://schemas.microsoft.com/office/drawing/2014/main" id="{984D1EB2-7C2B-B887-349D-881E6E9E1109}"/>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66" name="Rectangle 65">
              <a:extLst>
                <a:ext uri="{FF2B5EF4-FFF2-40B4-BE49-F238E27FC236}">
                  <a16:creationId xmlns:a16="http://schemas.microsoft.com/office/drawing/2014/main" id="{041EB973-F099-2F63-CFFA-6B4FE1504307}"/>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D16FC5AC-9509-45B7-F650-CED6211C8830}"/>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endParaRPr lang="en-US" dirty="0">
                <a:solidFill>
                  <a:schemeClr val="tx1"/>
                </a:solidFill>
              </a:endParaRPr>
            </a:p>
          </p:txBody>
        </p:sp>
        <p:sp>
          <p:nvSpPr>
            <p:cNvPr id="68" name="Rectangle 67">
              <a:extLst>
                <a:ext uri="{FF2B5EF4-FFF2-40B4-BE49-F238E27FC236}">
                  <a16:creationId xmlns:a16="http://schemas.microsoft.com/office/drawing/2014/main" id="{525304CE-B1AA-C3A7-6873-7110DE44C16E}"/>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9" name="Rectangle 68">
              <a:extLst>
                <a:ext uri="{FF2B5EF4-FFF2-40B4-BE49-F238E27FC236}">
                  <a16:creationId xmlns:a16="http://schemas.microsoft.com/office/drawing/2014/main" id="{D07EFFBC-9B46-C790-EF65-9D92153F102F}"/>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endParaRPr lang="en-US" dirty="0">
                <a:solidFill>
                  <a:schemeClr val="tx1"/>
                </a:solidFill>
              </a:endParaRPr>
            </a:p>
          </p:txBody>
        </p:sp>
        <p:sp>
          <p:nvSpPr>
            <p:cNvPr id="70" name="Rectangle 69">
              <a:extLst>
                <a:ext uri="{FF2B5EF4-FFF2-40B4-BE49-F238E27FC236}">
                  <a16:creationId xmlns:a16="http://schemas.microsoft.com/office/drawing/2014/main" id="{3624E2DD-4DD7-4825-D30E-BEAB32059351}"/>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71" name="Rectangle 70">
              <a:extLst>
                <a:ext uri="{FF2B5EF4-FFF2-40B4-BE49-F238E27FC236}">
                  <a16:creationId xmlns:a16="http://schemas.microsoft.com/office/drawing/2014/main" id="{DFEDECB3-6B8A-6D9C-D63C-0945F37563C3}"/>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endParaRPr lang="en-US" dirty="0">
                <a:solidFill>
                  <a:schemeClr val="tx1"/>
                </a:solidFill>
              </a:endParaRP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A37C039-1B3A-6500-33C5-D287AC47D9A2}"/>
                  </a:ext>
                </a:extLst>
              </p14:cNvPr>
              <p14:cNvContentPartPr/>
              <p14:nvPr/>
            </p14:nvContentPartPr>
            <p14:xfrm>
              <a:off x="780480" y="979560"/>
              <a:ext cx="8956800" cy="4032720"/>
            </p14:xfrm>
          </p:contentPart>
        </mc:Choice>
        <mc:Fallback>
          <p:pic>
            <p:nvPicPr>
              <p:cNvPr id="4" name="Ink 3">
                <a:extLst>
                  <a:ext uri="{FF2B5EF4-FFF2-40B4-BE49-F238E27FC236}">
                    <a16:creationId xmlns:a16="http://schemas.microsoft.com/office/drawing/2014/main" id="{FA37C039-1B3A-6500-33C5-D287AC47D9A2}"/>
                  </a:ext>
                </a:extLst>
              </p:cNvPr>
              <p:cNvPicPr/>
              <p:nvPr/>
            </p:nvPicPr>
            <p:blipFill>
              <a:blip r:embed="rId4"/>
              <a:stretch>
                <a:fillRect/>
              </a:stretch>
            </p:blipFill>
            <p:spPr>
              <a:xfrm>
                <a:off x="771120" y="970200"/>
                <a:ext cx="8975520" cy="4051440"/>
              </a:xfrm>
              <a:prstGeom prst="rect">
                <a:avLst/>
              </a:prstGeom>
            </p:spPr>
          </p:pic>
        </mc:Fallback>
      </mc:AlternateContent>
    </p:spTree>
    <p:extLst>
      <p:ext uri="{BB962C8B-B14F-4D97-AF65-F5344CB8AC3E}">
        <p14:creationId xmlns:p14="http://schemas.microsoft.com/office/powerpoint/2010/main" val="299576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BucketSort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lstStyle/>
              <a:p>
                <a:r>
                  <a:rPr lang="en-US" dirty="0"/>
                  <a:t>Create array of </a:t>
                </a:r>
                <a14:m>
                  <m:oMath xmlns:m="http://schemas.openxmlformats.org/officeDocument/2006/math">
                    <m:r>
                      <a:rPr lang="en-US" b="0" i="1" smtClean="0">
                        <a:latin typeface="Cambria Math" panose="02040503050406030204" pitchFamily="18" charset="0"/>
                      </a:rPr>
                      <m:t>𝑘</m:t>
                    </m:r>
                  </m:oMath>
                </a14:m>
                <a:r>
                  <a:rPr lang="en-US" dirty="0"/>
                  <a:t> buckets</a:t>
                </a:r>
              </a:p>
              <a:p>
                <a:pPr lvl="1"/>
                <a:r>
                  <a:rPr lang="en-US" dirty="0"/>
                  <a:t>Either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or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depending on some things…</a:t>
                </a:r>
              </a:p>
              <a:p>
                <a:r>
                  <a:rPr lang="en-US" dirty="0"/>
                  <a:t>Insert all </a:t>
                </a:r>
                <a14:m>
                  <m:oMath xmlns:m="http://schemas.openxmlformats.org/officeDocument/2006/math">
                    <m:r>
                      <a:rPr lang="en-US" b="0" i="1" smtClean="0">
                        <a:latin typeface="Cambria Math" panose="02040503050406030204" pitchFamily="18" charset="0"/>
                      </a:rPr>
                      <m:t>𝑛</m:t>
                    </m:r>
                  </m:oMath>
                </a14:m>
                <a:r>
                  <a:rPr lang="en-US" dirty="0"/>
                  <a:t> things into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Empty buckets into an array</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oMath>
                </a14:m>
                <a:endParaRPr lang="en-US" dirty="0"/>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3E34DBEC-161A-4EF8-B6E5-B718E93C1D28}"/>
                  </a:ext>
                </a:extLst>
              </p14:cNvPr>
              <p14:cNvContentPartPr/>
              <p14:nvPr/>
            </p14:nvContentPartPr>
            <p14:xfrm>
              <a:off x="1041480" y="2158560"/>
              <a:ext cx="6474240" cy="3309840"/>
            </p14:xfrm>
          </p:contentPart>
        </mc:Choice>
        <mc:Fallback>
          <p:pic>
            <p:nvPicPr>
              <p:cNvPr id="4" name="Ink 3">
                <a:extLst>
                  <a:ext uri="{FF2B5EF4-FFF2-40B4-BE49-F238E27FC236}">
                    <a16:creationId xmlns:a16="http://schemas.microsoft.com/office/drawing/2014/main" id="{3E34DBEC-161A-4EF8-B6E5-B718E93C1D28}"/>
                  </a:ext>
                </a:extLst>
              </p:cNvPr>
              <p:cNvPicPr/>
              <p:nvPr/>
            </p:nvPicPr>
            <p:blipFill>
              <a:blip r:embed="rId4"/>
              <a:stretch>
                <a:fillRect/>
              </a:stretch>
            </p:blipFill>
            <p:spPr>
              <a:xfrm>
                <a:off x="1032120" y="2149200"/>
                <a:ext cx="6492960" cy="3328560"/>
              </a:xfrm>
              <a:prstGeom prst="rect">
                <a:avLst/>
              </a:prstGeom>
            </p:spPr>
          </p:pic>
        </mc:Fallback>
      </mc:AlternateContent>
    </p:spTree>
    <p:extLst>
      <p:ext uri="{BB962C8B-B14F-4D97-AF65-F5344CB8AC3E}">
        <p14:creationId xmlns:p14="http://schemas.microsoft.com/office/powerpoint/2010/main" val="3432155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8172-18DF-BF9D-15EE-737B44C98824}"/>
              </a:ext>
            </a:extLst>
          </p:cNvPr>
          <p:cNvSpPr>
            <a:spLocks noGrp="1"/>
          </p:cNvSpPr>
          <p:nvPr>
            <p:ph type="title"/>
          </p:nvPr>
        </p:nvSpPr>
        <p:spPr/>
        <p:txBody>
          <a:bodyPr/>
          <a:lstStyle/>
          <a:p>
            <a:r>
              <a:rPr lang="en-US" dirty="0"/>
              <a:t>Properties of </a:t>
            </a:r>
            <a:r>
              <a:rPr lang="en-US" dirty="0" err="1"/>
              <a:t>BucketSort</a:t>
            </a:r>
            <a:endParaRPr lang="en-US" dirty="0"/>
          </a:p>
        </p:txBody>
      </p:sp>
      <p:sp>
        <p:nvSpPr>
          <p:cNvPr id="3" name="Content Placeholder 2">
            <a:extLst>
              <a:ext uri="{FF2B5EF4-FFF2-40B4-BE49-F238E27FC236}">
                <a16:creationId xmlns:a16="http://schemas.microsoft.com/office/drawing/2014/main" id="{E5F1C77C-A95B-025D-AC30-3008592132B7}"/>
              </a:ext>
            </a:extLst>
          </p:cNvPr>
          <p:cNvSpPr>
            <a:spLocks noGrp="1"/>
          </p:cNvSpPr>
          <p:nvPr>
            <p:ph idx="1"/>
          </p:nvPr>
        </p:nvSpPr>
        <p:spPr/>
        <p:txBody>
          <a:bodyPr>
            <a:normAutofit/>
          </a:bodyPr>
          <a:lstStyle/>
          <a:p>
            <a:r>
              <a:rPr lang="en-US" dirty="0"/>
              <a:t>In-Place?</a:t>
            </a:r>
          </a:p>
          <a:p>
            <a:pPr lvl="1"/>
            <a:r>
              <a:rPr lang="en-US" dirty="0"/>
              <a:t>No</a:t>
            </a:r>
          </a:p>
          <a:p>
            <a:r>
              <a:rPr lang="en-US" dirty="0"/>
              <a:t>Adaptive?</a:t>
            </a:r>
          </a:p>
          <a:p>
            <a:pPr lvl="1"/>
            <a:r>
              <a:rPr lang="en-US" dirty="0"/>
              <a:t>No</a:t>
            </a:r>
          </a:p>
          <a:p>
            <a:r>
              <a:rPr lang="en-US" dirty="0"/>
              <a:t>Stable?</a:t>
            </a:r>
          </a:p>
          <a:p>
            <a:pPr lvl="1"/>
            <a:r>
              <a:rPr lang="en-US" dirty="0"/>
              <a:t>Yes!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9D76D8B-AF46-2B1B-5AFF-556B3A2D2B64}"/>
                  </a:ext>
                </a:extLst>
              </p14:cNvPr>
              <p14:cNvContentPartPr/>
              <p14:nvPr/>
            </p14:nvContentPartPr>
            <p14:xfrm>
              <a:off x="491760" y="1316520"/>
              <a:ext cx="722160" cy="3199680"/>
            </p14:xfrm>
          </p:contentPart>
        </mc:Choice>
        <mc:Fallback>
          <p:pic>
            <p:nvPicPr>
              <p:cNvPr id="4" name="Ink 3">
                <a:extLst>
                  <a:ext uri="{FF2B5EF4-FFF2-40B4-BE49-F238E27FC236}">
                    <a16:creationId xmlns:a16="http://schemas.microsoft.com/office/drawing/2014/main" id="{79D76D8B-AF46-2B1B-5AFF-556B3A2D2B64}"/>
                  </a:ext>
                </a:extLst>
              </p:cNvPr>
              <p:cNvPicPr/>
              <p:nvPr/>
            </p:nvPicPr>
            <p:blipFill>
              <a:blip r:embed="rId3"/>
              <a:stretch>
                <a:fillRect/>
              </a:stretch>
            </p:blipFill>
            <p:spPr>
              <a:xfrm>
                <a:off x="482400" y="1307160"/>
                <a:ext cx="740880" cy="3218400"/>
              </a:xfrm>
              <a:prstGeom prst="rect">
                <a:avLst/>
              </a:prstGeom>
            </p:spPr>
          </p:pic>
        </mc:Fallback>
      </mc:AlternateContent>
    </p:spTree>
    <p:extLst>
      <p:ext uri="{BB962C8B-B14F-4D97-AF65-F5344CB8AC3E}">
        <p14:creationId xmlns:p14="http://schemas.microsoft.com/office/powerpoint/2010/main" val="419425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endParaRPr lang="en-US" dirty="0"/>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293363" y="5249289"/>
            <a:ext cx="3184788" cy="1200329"/>
          </a:xfrm>
          <a:prstGeom prst="rect">
            <a:avLst/>
          </a:prstGeom>
          <a:noFill/>
        </p:spPr>
        <p:txBody>
          <a:bodyPr wrap="square" rtlCol="0">
            <a:spAutoFit/>
          </a:bodyPr>
          <a:lstStyle/>
          <a:p>
            <a:r>
              <a:rPr lang="en-US" sz="2400" dirty="0"/>
              <a:t>Place each element into a “bucket” according to its 1’s place</a:t>
            </a:r>
          </a:p>
        </p:txBody>
      </p:sp>
      <p:grpSp>
        <p:nvGrpSpPr>
          <p:cNvPr id="98" name="Group 97" descr="An array of three digit numbers of length 16:&#10;[103, 801, 401, 323, 255, 823, 999, 101, 113, 901, 555, 512, 245, 800, 018, 121]">
            <a:extLst>
              <a:ext uri="{FF2B5EF4-FFF2-40B4-BE49-F238E27FC236}">
                <a16:creationId xmlns:a16="http://schemas.microsoft.com/office/drawing/2014/main" id="{30506CD8-5A21-1B48-F376-2B0346B1442F}"/>
              </a:ext>
            </a:extLst>
          </p:cNvPr>
          <p:cNvGrpSpPr/>
          <p:nvPr/>
        </p:nvGrpSpPr>
        <p:grpSpPr>
          <a:xfrm>
            <a:off x="503842" y="3666399"/>
            <a:ext cx="8561464" cy="849868"/>
            <a:chOff x="1752600" y="2743200"/>
            <a:chExt cx="8561464" cy="849868"/>
          </a:xfrm>
        </p:grpSpPr>
        <p:grpSp>
          <p:nvGrpSpPr>
            <p:cNvPr id="4" name="Group 3">
              <a:extLst>
                <a:ext uri="{FF2B5EF4-FFF2-40B4-BE49-F238E27FC236}">
                  <a16:creationId xmlns:a16="http://schemas.microsoft.com/office/drawing/2014/main" id="{668EBC18-C202-3D7E-B926-33134979DB44}"/>
                </a:ext>
              </a:extLst>
            </p:cNvPr>
            <p:cNvGrpSpPr/>
            <p:nvPr/>
          </p:nvGrpSpPr>
          <p:grpSpPr>
            <a:xfrm>
              <a:off x="1752600" y="2743200"/>
              <a:ext cx="4268338" cy="849868"/>
              <a:chOff x="2361062" y="2743200"/>
              <a:chExt cx="4268338" cy="849868"/>
            </a:xfrm>
          </p:grpSpPr>
          <p:grpSp>
            <p:nvGrpSpPr>
              <p:cNvPr id="5" name="Group 4">
                <a:extLst>
                  <a:ext uri="{FF2B5EF4-FFF2-40B4-BE49-F238E27FC236}">
                    <a16:creationId xmlns:a16="http://schemas.microsoft.com/office/drawing/2014/main" id="{B07EEFA4-C5F7-5449-AE1D-C9DCD31AEE37}"/>
                  </a:ext>
                </a:extLst>
              </p:cNvPr>
              <p:cNvGrpSpPr/>
              <p:nvPr/>
            </p:nvGrpSpPr>
            <p:grpSpPr>
              <a:xfrm>
                <a:off x="2361062" y="2743200"/>
                <a:ext cx="4268338" cy="533400"/>
                <a:chOff x="1445524" y="2971800"/>
                <a:chExt cx="4268338" cy="533400"/>
              </a:xfrm>
            </p:grpSpPr>
            <p:sp>
              <p:nvSpPr>
                <p:cNvPr id="22" name="Rectangle 21">
                  <a:extLst>
                    <a:ext uri="{FF2B5EF4-FFF2-40B4-BE49-F238E27FC236}">
                      <a16:creationId xmlns:a16="http://schemas.microsoft.com/office/drawing/2014/main" id="{B772C34B-AE61-051B-E7C0-BD7A0E92C08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23" name="Rectangle 22">
                  <a:extLst>
                    <a:ext uri="{FF2B5EF4-FFF2-40B4-BE49-F238E27FC236}">
                      <a16:creationId xmlns:a16="http://schemas.microsoft.com/office/drawing/2014/main" id="{FA76D77E-9B08-5B17-CAB0-434AA7692468}"/>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25" name="Rectangle 24">
                  <a:extLst>
                    <a:ext uri="{FF2B5EF4-FFF2-40B4-BE49-F238E27FC236}">
                      <a16:creationId xmlns:a16="http://schemas.microsoft.com/office/drawing/2014/main" id="{14E195B0-311A-9164-AE6C-6CC2E9E46C9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26" name="Rectangle 25">
                  <a:extLst>
                    <a:ext uri="{FF2B5EF4-FFF2-40B4-BE49-F238E27FC236}">
                      <a16:creationId xmlns:a16="http://schemas.microsoft.com/office/drawing/2014/main" id="{5E96D355-24F5-F191-E3B1-402061B50FD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27" name="Rectangle 26">
                  <a:extLst>
                    <a:ext uri="{FF2B5EF4-FFF2-40B4-BE49-F238E27FC236}">
                      <a16:creationId xmlns:a16="http://schemas.microsoft.com/office/drawing/2014/main" id="{1B07A61B-7381-B0A9-3D0B-7C9945E1349D}"/>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28" name="Rectangle 27">
                  <a:extLst>
                    <a:ext uri="{FF2B5EF4-FFF2-40B4-BE49-F238E27FC236}">
                      <a16:creationId xmlns:a16="http://schemas.microsoft.com/office/drawing/2014/main" id="{FDB9E96C-7F87-6C59-7CAB-3D0C04C4A4B9}"/>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29" name="Rectangle 28">
                  <a:extLst>
                    <a:ext uri="{FF2B5EF4-FFF2-40B4-BE49-F238E27FC236}">
                      <a16:creationId xmlns:a16="http://schemas.microsoft.com/office/drawing/2014/main" id="{639CFBAD-84A8-D35F-518F-ACA2E84658C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30" name="Rectangle 29">
                  <a:extLst>
                    <a:ext uri="{FF2B5EF4-FFF2-40B4-BE49-F238E27FC236}">
                      <a16:creationId xmlns:a16="http://schemas.microsoft.com/office/drawing/2014/main" id="{8D65DD80-C4D2-3900-188B-E4A300D3349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grpSp>
          <p:sp>
            <p:nvSpPr>
              <p:cNvPr id="6" name="TextBox 5">
                <a:extLst>
                  <a:ext uri="{FF2B5EF4-FFF2-40B4-BE49-F238E27FC236}">
                    <a16:creationId xmlns:a16="http://schemas.microsoft.com/office/drawing/2014/main" id="{3335E1F1-0254-0DDD-5734-F8739BDEB8E2}"/>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7" name="TextBox 6">
                <a:extLst>
                  <a:ext uri="{FF2B5EF4-FFF2-40B4-BE49-F238E27FC236}">
                    <a16:creationId xmlns:a16="http://schemas.microsoft.com/office/drawing/2014/main" id="{8738B4C1-48B3-8D43-57B3-DF798D570F2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8" name="TextBox 7">
                <a:extLst>
                  <a:ext uri="{FF2B5EF4-FFF2-40B4-BE49-F238E27FC236}">
                    <a16:creationId xmlns:a16="http://schemas.microsoft.com/office/drawing/2014/main" id="{5BCE153C-97D2-2FDC-4F4B-FEDFBB49AE98}"/>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9" name="TextBox 8">
                <a:extLst>
                  <a:ext uri="{FF2B5EF4-FFF2-40B4-BE49-F238E27FC236}">
                    <a16:creationId xmlns:a16="http://schemas.microsoft.com/office/drawing/2014/main" id="{9C2625EF-4B40-86AC-DBF7-AEC4DBAC7920}"/>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16" name="TextBox 15">
                <a:extLst>
                  <a:ext uri="{FF2B5EF4-FFF2-40B4-BE49-F238E27FC236}">
                    <a16:creationId xmlns:a16="http://schemas.microsoft.com/office/drawing/2014/main" id="{EEC37B8A-61E0-DCA9-F6F9-F99C03E50FC5}"/>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17" name="TextBox 16">
                <a:extLst>
                  <a:ext uri="{FF2B5EF4-FFF2-40B4-BE49-F238E27FC236}">
                    <a16:creationId xmlns:a16="http://schemas.microsoft.com/office/drawing/2014/main" id="{751485CC-79A7-5233-BFC5-0C022EE87F6C}"/>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18" name="TextBox 17">
                <a:extLst>
                  <a:ext uri="{FF2B5EF4-FFF2-40B4-BE49-F238E27FC236}">
                    <a16:creationId xmlns:a16="http://schemas.microsoft.com/office/drawing/2014/main" id="{3B272925-512C-C00B-7B35-8DB56343F758}"/>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19" name="TextBox 18">
                <a:extLst>
                  <a:ext uri="{FF2B5EF4-FFF2-40B4-BE49-F238E27FC236}">
                    <a16:creationId xmlns:a16="http://schemas.microsoft.com/office/drawing/2014/main" id="{BC30E54D-BCBB-11D5-CD6E-F0AA8FE92BDD}"/>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0" name="Group 39">
              <a:extLst>
                <a:ext uri="{FF2B5EF4-FFF2-40B4-BE49-F238E27FC236}">
                  <a16:creationId xmlns:a16="http://schemas.microsoft.com/office/drawing/2014/main" id="{6CAA4EA5-FE3D-8D40-0A90-42A1D5AC8ECF}"/>
                </a:ext>
              </a:extLst>
            </p:cNvPr>
            <p:cNvGrpSpPr/>
            <p:nvPr/>
          </p:nvGrpSpPr>
          <p:grpSpPr>
            <a:xfrm>
              <a:off x="6020939" y="2743200"/>
              <a:ext cx="4293125" cy="849868"/>
              <a:chOff x="2361062" y="2743200"/>
              <a:chExt cx="4293125" cy="849868"/>
            </a:xfrm>
          </p:grpSpPr>
          <p:grpSp>
            <p:nvGrpSpPr>
              <p:cNvPr id="41" name="Group 40">
                <a:extLst>
                  <a:ext uri="{FF2B5EF4-FFF2-40B4-BE49-F238E27FC236}">
                    <a16:creationId xmlns:a16="http://schemas.microsoft.com/office/drawing/2014/main" id="{F028159C-F314-68E3-297B-5DE73893EACE}"/>
                  </a:ext>
                </a:extLst>
              </p:cNvPr>
              <p:cNvGrpSpPr/>
              <p:nvPr/>
            </p:nvGrpSpPr>
            <p:grpSpPr>
              <a:xfrm>
                <a:off x="2361062" y="2743200"/>
                <a:ext cx="4268338" cy="533400"/>
                <a:chOff x="1445524" y="2971800"/>
                <a:chExt cx="4268338" cy="533400"/>
              </a:xfrm>
            </p:grpSpPr>
            <p:sp>
              <p:nvSpPr>
                <p:cNvPr id="78" name="Rectangle 77">
                  <a:extLst>
                    <a:ext uri="{FF2B5EF4-FFF2-40B4-BE49-F238E27FC236}">
                      <a16:creationId xmlns:a16="http://schemas.microsoft.com/office/drawing/2014/main" id="{A954409E-4BAF-A95F-544D-B8DF8CE93CEE}"/>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79" name="Rectangle 78">
                  <a:extLst>
                    <a:ext uri="{FF2B5EF4-FFF2-40B4-BE49-F238E27FC236}">
                      <a16:creationId xmlns:a16="http://schemas.microsoft.com/office/drawing/2014/main" id="{245B0D8C-0166-3B37-5CF9-01E6616C1DC7}"/>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80" name="Rectangle 79">
                  <a:extLst>
                    <a:ext uri="{FF2B5EF4-FFF2-40B4-BE49-F238E27FC236}">
                      <a16:creationId xmlns:a16="http://schemas.microsoft.com/office/drawing/2014/main" id="{D8757A04-74EC-52A0-17F3-20B1DEECB0C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81" name="Rectangle 80">
                  <a:extLst>
                    <a:ext uri="{FF2B5EF4-FFF2-40B4-BE49-F238E27FC236}">
                      <a16:creationId xmlns:a16="http://schemas.microsoft.com/office/drawing/2014/main" id="{9D5D8644-3F22-4B90-4575-591E69E6DD1D}"/>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82" name="Rectangle 81">
                  <a:extLst>
                    <a:ext uri="{FF2B5EF4-FFF2-40B4-BE49-F238E27FC236}">
                      <a16:creationId xmlns:a16="http://schemas.microsoft.com/office/drawing/2014/main" id="{D0FB66AC-257C-A3A7-72A2-9BAA64032154}"/>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3" name="Rectangle 82">
                  <a:extLst>
                    <a:ext uri="{FF2B5EF4-FFF2-40B4-BE49-F238E27FC236}">
                      <a16:creationId xmlns:a16="http://schemas.microsoft.com/office/drawing/2014/main" id="{B64146E2-4504-A8F1-99F9-D44753821034}"/>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84" name="Rectangle 83">
                  <a:extLst>
                    <a:ext uri="{FF2B5EF4-FFF2-40B4-BE49-F238E27FC236}">
                      <a16:creationId xmlns:a16="http://schemas.microsoft.com/office/drawing/2014/main" id="{24994ADB-06A8-D4BC-7DB5-3CC06E91FA0C}"/>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85" name="Rectangle 84">
                  <a:extLst>
                    <a:ext uri="{FF2B5EF4-FFF2-40B4-BE49-F238E27FC236}">
                      <a16:creationId xmlns:a16="http://schemas.microsoft.com/office/drawing/2014/main" id="{A8740905-608B-1F49-6E88-49046DEDE13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grpSp>
          <p:sp>
            <p:nvSpPr>
              <p:cNvPr id="42" name="TextBox 41">
                <a:extLst>
                  <a:ext uri="{FF2B5EF4-FFF2-40B4-BE49-F238E27FC236}">
                    <a16:creationId xmlns:a16="http://schemas.microsoft.com/office/drawing/2014/main" id="{FA4ED3AF-CE5A-B2A9-1793-8C8C2A1B881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43" name="TextBox 42">
                <a:extLst>
                  <a:ext uri="{FF2B5EF4-FFF2-40B4-BE49-F238E27FC236}">
                    <a16:creationId xmlns:a16="http://schemas.microsoft.com/office/drawing/2014/main" id="{000116F0-E2BC-4A94-3A2F-68B14E3D9D6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44" name="TextBox 43">
                <a:extLst>
                  <a:ext uri="{FF2B5EF4-FFF2-40B4-BE49-F238E27FC236}">
                    <a16:creationId xmlns:a16="http://schemas.microsoft.com/office/drawing/2014/main" id="{58EB4907-B83A-178C-0854-3A1D1D6D8064}"/>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45" name="TextBox 44">
                <a:extLst>
                  <a:ext uri="{FF2B5EF4-FFF2-40B4-BE49-F238E27FC236}">
                    <a16:creationId xmlns:a16="http://schemas.microsoft.com/office/drawing/2014/main" id="{1F29C78F-1BB3-E0F4-23B0-F89C42A85941}"/>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74" name="TextBox 73">
                <a:extLst>
                  <a:ext uri="{FF2B5EF4-FFF2-40B4-BE49-F238E27FC236}">
                    <a16:creationId xmlns:a16="http://schemas.microsoft.com/office/drawing/2014/main" id="{91155CF0-8F3F-B2B6-B4CE-818EC30457F9}"/>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75" name="TextBox 74">
                <a:extLst>
                  <a:ext uri="{FF2B5EF4-FFF2-40B4-BE49-F238E27FC236}">
                    <a16:creationId xmlns:a16="http://schemas.microsoft.com/office/drawing/2014/main" id="{5ABAEC95-3AA8-1977-949A-53F10027BACC}"/>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76" name="TextBox 75">
                <a:extLst>
                  <a:ext uri="{FF2B5EF4-FFF2-40B4-BE49-F238E27FC236}">
                    <a16:creationId xmlns:a16="http://schemas.microsoft.com/office/drawing/2014/main" id="{9F7C5BDB-74C7-EEA9-FD7A-108150ED3D0B}"/>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77" name="TextBox 76">
                <a:extLst>
                  <a:ext uri="{FF2B5EF4-FFF2-40B4-BE49-F238E27FC236}">
                    <a16:creationId xmlns:a16="http://schemas.microsoft.com/office/drawing/2014/main" id="{9C38C609-4A48-7161-25E6-18F44C5174A4}"/>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p:grpSp>
        <p:nvGrpSpPr>
          <p:cNvPr id="99" name="Group 98" descr="We proceed by doing a bucket sort using the least significant digit of the numbers. Because our numbers are represented in base 10, we have buckets 0 through 9, filled in as follows:&#10;bucket 0: 800&#10;bucket 1: 801, 401, 901, 121&#10;bucket 2: 512&#10;bucket 3: 103, 323, 823, 113&#10;bucket 4: empty&#10;bucket 5: 255, 555, 245&#10;bucket 6: empty&#10;bucket 7: empty&#10;bucket 8: 018&#10;bucket 9: 999">
            <a:extLst>
              <a:ext uri="{FF2B5EF4-FFF2-40B4-BE49-F238E27FC236}">
                <a16:creationId xmlns:a16="http://schemas.microsoft.com/office/drawing/2014/main" id="{C4BEB531-3711-E388-CD9E-744269DCB5F9}"/>
              </a:ext>
            </a:extLst>
          </p:cNvPr>
          <p:cNvGrpSpPr/>
          <p:nvPr/>
        </p:nvGrpSpPr>
        <p:grpSpPr>
          <a:xfrm>
            <a:off x="6639080" y="4886764"/>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443829" y="4592010"/>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D8DC29C5-8B5B-A4F2-70F8-62B388628CE7}"/>
                  </a:ext>
                </a:extLst>
              </p14:cNvPr>
              <p14:cNvContentPartPr/>
              <p14:nvPr/>
            </p14:nvContentPartPr>
            <p14:xfrm>
              <a:off x="362520" y="250920"/>
              <a:ext cx="9639000" cy="5523480"/>
            </p14:xfrm>
          </p:contentPart>
        </mc:Choice>
        <mc:Fallback>
          <p:pic>
            <p:nvPicPr>
              <p:cNvPr id="10" name="Ink 9">
                <a:extLst>
                  <a:ext uri="{FF2B5EF4-FFF2-40B4-BE49-F238E27FC236}">
                    <a16:creationId xmlns:a16="http://schemas.microsoft.com/office/drawing/2014/main" id="{D8DC29C5-8B5B-A4F2-70F8-62B388628CE7}"/>
                  </a:ext>
                </a:extLst>
              </p:cNvPr>
              <p:cNvPicPr/>
              <p:nvPr/>
            </p:nvPicPr>
            <p:blipFill>
              <a:blip r:embed="rId3"/>
              <a:stretch>
                <a:fillRect/>
              </a:stretch>
            </p:blipFill>
            <p:spPr>
              <a:xfrm>
                <a:off x="353160" y="241560"/>
                <a:ext cx="9657720" cy="5542200"/>
              </a:xfrm>
              <a:prstGeom prst="rect">
                <a:avLst/>
              </a:prstGeom>
            </p:spPr>
          </p:pic>
        </mc:Fallback>
      </mc:AlternateContent>
    </p:spTree>
    <p:extLst>
      <p:ext uri="{BB962C8B-B14F-4D97-AF65-F5344CB8AC3E}">
        <p14:creationId xmlns:p14="http://schemas.microsoft.com/office/powerpoint/2010/main" val="376568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10’s place</a:t>
            </a:r>
          </a:p>
        </p:txBody>
      </p:sp>
      <p:grpSp>
        <p:nvGrpSpPr>
          <p:cNvPr id="99" name="Group 98" descr="All the values bucketed by the 1s place">
            <a:extLst>
              <a:ext uri="{FF2B5EF4-FFF2-40B4-BE49-F238E27FC236}">
                <a16:creationId xmlns:a16="http://schemas.microsoft.com/office/drawing/2014/main" id="{C4BEB531-3711-E388-CD9E-744269DCB5F9}"/>
              </a:ext>
            </a:extLst>
          </p:cNvPr>
          <p:cNvGrpSpPr/>
          <p:nvPr/>
        </p:nvGrpSpPr>
        <p:grpSpPr>
          <a:xfrm>
            <a:off x="452562" y="3381872"/>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Next we do a bucket sort using the next least significant digit of the numbers. Because our numbers are represented in base 10, we have buckets 0 through 9, filled in as follows:&#10;bucket 0: 800, 801, 401, 101, 901, 103&#10;bucket 1: 512, 113, 018&#10;bucket 2: 121, 323, 823&#10;bucket 3: empty&#10;bucket 4: 245&#10;bucket 5: 255, 555&#10;bucket 6: empty&#10;bucket 7: empty&#10;bucket 8: empty&#10;bucket 9: 999">
            <a:extLst>
              <a:ext uri="{FF2B5EF4-FFF2-40B4-BE49-F238E27FC236}">
                <a16:creationId xmlns:a16="http://schemas.microsoft.com/office/drawing/2014/main" id="{D03E7495-E90F-2D2E-2DC8-D7DB5BFCCBEB}"/>
              </a:ext>
            </a:extLst>
          </p:cNvPr>
          <p:cNvGrpSpPr/>
          <p:nvPr/>
        </p:nvGrpSpPr>
        <p:grpSpPr>
          <a:xfrm>
            <a:off x="6401447" y="468376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88081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100’s place</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All the values bucketed by the 10s place">
            <a:extLst>
              <a:ext uri="{FF2B5EF4-FFF2-40B4-BE49-F238E27FC236}">
                <a16:creationId xmlns:a16="http://schemas.microsoft.com/office/drawing/2014/main" id="{D03E7495-E90F-2D2E-2DC8-D7DB5BFCCBEB}"/>
              </a:ext>
            </a:extLst>
          </p:cNvPr>
          <p:cNvGrpSpPr/>
          <p:nvPr/>
        </p:nvGrpSpPr>
        <p:grpSpPr>
          <a:xfrm>
            <a:off x="184190" y="341844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grpSp>
        <p:nvGrpSpPr>
          <p:cNvPr id="42" name="Group 41" descr="Next we do a bucket sort using the next least significant digit of the numbers. Because our numbers are represented in base 10, we have buckets 0 through 9, filled in as follows:&#10;bucket 0: 018&#10;bucket 1: 101, 103, 113, 121&#10;bucket 2: 245, 255&#10;bucket 3: 323&#10;bucket 4: 401&#10;bucket 5: 512, 555&#10;bucket 6: empty&#10;bucket 7: empty&#10;bucket 8: 800, 801, 823&#10;bucket 9: 901, 999">
            <a:extLst>
              <a:ext uri="{FF2B5EF4-FFF2-40B4-BE49-F238E27FC236}">
                <a16:creationId xmlns:a16="http://schemas.microsoft.com/office/drawing/2014/main" id="{265A8A20-D2B5-DB28-F722-367EBB815E4D}"/>
              </a:ext>
            </a:extLst>
          </p:cNvPr>
          <p:cNvGrpSpPr/>
          <p:nvPr/>
        </p:nvGrpSpPr>
        <p:grpSpPr>
          <a:xfrm>
            <a:off x="6390963" y="4659805"/>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396771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Empty Buckets into Output Array</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7438723" y="4078344"/>
            <a:ext cx="3507868" cy="461665"/>
          </a:xfrm>
          <a:prstGeom prst="rect">
            <a:avLst/>
          </a:prstGeom>
          <a:noFill/>
        </p:spPr>
        <p:txBody>
          <a:bodyPr wrap="square" rtlCol="0">
            <a:spAutoFit/>
          </a:bodyPr>
          <a:lstStyle/>
          <a:p>
            <a:r>
              <a:rPr lang="en-US" sz="2400" dirty="0"/>
              <a:t>Convert back into an array</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flipV="1">
            <a:off x="6027125" y="3877228"/>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descr="All the values bucketed by the 10s place">
            <a:extLst>
              <a:ext uri="{FF2B5EF4-FFF2-40B4-BE49-F238E27FC236}">
                <a16:creationId xmlns:a16="http://schemas.microsoft.com/office/drawing/2014/main" id="{265A8A20-D2B5-DB28-F722-367EBB815E4D}"/>
              </a:ext>
            </a:extLst>
          </p:cNvPr>
          <p:cNvGrpSpPr/>
          <p:nvPr/>
        </p:nvGrpSpPr>
        <p:grpSpPr>
          <a:xfrm>
            <a:off x="34961" y="3418440"/>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grpSp>
        <p:nvGrpSpPr>
          <p:cNvPr id="43" name="Group 42" descr="Finally we &quot;unbucket&quot; into an array like we did with bucket sort, giving the final sorted array:&#10;[018. 101. 103, 113, 121, 245, 255, 323, 401, 512, 555, 800, 801, 823, 901, 999]">
            <a:extLst>
              <a:ext uri="{FF2B5EF4-FFF2-40B4-BE49-F238E27FC236}">
                <a16:creationId xmlns:a16="http://schemas.microsoft.com/office/drawing/2014/main" id="{068934FF-C8AB-D781-D815-713828A58097}"/>
              </a:ext>
            </a:extLst>
          </p:cNvPr>
          <p:cNvGrpSpPr/>
          <p:nvPr/>
        </p:nvGrpSpPr>
        <p:grpSpPr>
          <a:xfrm>
            <a:off x="503842" y="5962559"/>
            <a:ext cx="8561464" cy="849868"/>
            <a:chOff x="1752600" y="2743200"/>
            <a:chExt cx="8561464" cy="849868"/>
          </a:xfrm>
        </p:grpSpPr>
        <p:grpSp>
          <p:nvGrpSpPr>
            <p:cNvPr id="44" name="Group 43">
              <a:extLst>
                <a:ext uri="{FF2B5EF4-FFF2-40B4-BE49-F238E27FC236}">
                  <a16:creationId xmlns:a16="http://schemas.microsoft.com/office/drawing/2014/main" id="{B6C8016D-7B0B-A436-E8B1-2B87C5834C4D}"/>
                </a:ext>
              </a:extLst>
            </p:cNvPr>
            <p:cNvGrpSpPr/>
            <p:nvPr/>
          </p:nvGrpSpPr>
          <p:grpSpPr>
            <a:xfrm>
              <a:off x="1752600" y="2743200"/>
              <a:ext cx="4268338" cy="849868"/>
              <a:chOff x="2361062" y="2743200"/>
              <a:chExt cx="4268338" cy="849868"/>
            </a:xfrm>
          </p:grpSpPr>
          <p:grpSp>
            <p:nvGrpSpPr>
              <p:cNvPr id="67" name="Group 66">
                <a:extLst>
                  <a:ext uri="{FF2B5EF4-FFF2-40B4-BE49-F238E27FC236}">
                    <a16:creationId xmlns:a16="http://schemas.microsoft.com/office/drawing/2014/main" id="{5755D94F-2867-A4B9-F6AC-E9F1886F3771}"/>
                  </a:ext>
                </a:extLst>
              </p:cNvPr>
              <p:cNvGrpSpPr/>
              <p:nvPr/>
            </p:nvGrpSpPr>
            <p:grpSpPr>
              <a:xfrm>
                <a:off x="2361062" y="2743200"/>
                <a:ext cx="4268338" cy="533400"/>
                <a:chOff x="1445524" y="2971800"/>
                <a:chExt cx="4268338" cy="533400"/>
              </a:xfrm>
            </p:grpSpPr>
            <p:sp>
              <p:nvSpPr>
                <p:cNvPr id="76" name="Rectangle 75">
                  <a:extLst>
                    <a:ext uri="{FF2B5EF4-FFF2-40B4-BE49-F238E27FC236}">
                      <a16:creationId xmlns:a16="http://schemas.microsoft.com/office/drawing/2014/main" id="{A514DDEF-0799-B04F-5B56-64D468AAAEE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77" name="Rectangle 76">
                  <a:extLst>
                    <a:ext uri="{FF2B5EF4-FFF2-40B4-BE49-F238E27FC236}">
                      <a16:creationId xmlns:a16="http://schemas.microsoft.com/office/drawing/2014/main" id="{AAB3906E-2D52-9AD8-0556-772ABCB5C5D9}"/>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sp>
              <p:nvSpPr>
                <p:cNvPr id="78" name="Rectangle 77">
                  <a:extLst>
                    <a:ext uri="{FF2B5EF4-FFF2-40B4-BE49-F238E27FC236}">
                      <a16:creationId xmlns:a16="http://schemas.microsoft.com/office/drawing/2014/main" id="{DF0407A3-97AC-D294-9073-A3C5C3C52C0D}"/>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79" name="Rectangle 78">
                  <a:extLst>
                    <a:ext uri="{FF2B5EF4-FFF2-40B4-BE49-F238E27FC236}">
                      <a16:creationId xmlns:a16="http://schemas.microsoft.com/office/drawing/2014/main" id="{5B1E89E9-CD9C-EDED-9F75-F613D3AB91A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80" name="Rectangle 79">
                  <a:extLst>
                    <a:ext uri="{FF2B5EF4-FFF2-40B4-BE49-F238E27FC236}">
                      <a16:creationId xmlns:a16="http://schemas.microsoft.com/office/drawing/2014/main" id="{4CEFA199-8AEF-A65C-B1DF-DB1BD53B7D4B}"/>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sp>
              <p:nvSpPr>
                <p:cNvPr id="81" name="Rectangle 80">
                  <a:extLst>
                    <a:ext uri="{FF2B5EF4-FFF2-40B4-BE49-F238E27FC236}">
                      <a16:creationId xmlns:a16="http://schemas.microsoft.com/office/drawing/2014/main" id="{72314B16-133A-0F38-E912-090D0B52981D}"/>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2" name="Rectangle 81">
                  <a:extLst>
                    <a:ext uri="{FF2B5EF4-FFF2-40B4-BE49-F238E27FC236}">
                      <a16:creationId xmlns:a16="http://schemas.microsoft.com/office/drawing/2014/main" id="{1F53B560-510C-CE26-6FD0-9126FC5E6EE5}"/>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83" name="Rectangle 82">
                  <a:extLst>
                    <a:ext uri="{FF2B5EF4-FFF2-40B4-BE49-F238E27FC236}">
                      <a16:creationId xmlns:a16="http://schemas.microsoft.com/office/drawing/2014/main" id="{96B9D8C3-45D5-97A3-0477-A8C14C88AA95}"/>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grpSp>
          <p:sp>
            <p:nvSpPr>
              <p:cNvPr id="68" name="TextBox 67">
                <a:extLst>
                  <a:ext uri="{FF2B5EF4-FFF2-40B4-BE49-F238E27FC236}">
                    <a16:creationId xmlns:a16="http://schemas.microsoft.com/office/drawing/2014/main" id="{8D59D340-F86D-62B2-AE74-933A408B6C2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69" name="TextBox 68">
                <a:extLst>
                  <a:ext uri="{FF2B5EF4-FFF2-40B4-BE49-F238E27FC236}">
                    <a16:creationId xmlns:a16="http://schemas.microsoft.com/office/drawing/2014/main" id="{14369803-FF3D-71C4-321A-534AEA695271}"/>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70" name="TextBox 69">
                <a:extLst>
                  <a:ext uri="{FF2B5EF4-FFF2-40B4-BE49-F238E27FC236}">
                    <a16:creationId xmlns:a16="http://schemas.microsoft.com/office/drawing/2014/main" id="{E8CF6890-2735-7463-9DA0-D55F9D0A85CA}"/>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71" name="TextBox 70">
                <a:extLst>
                  <a:ext uri="{FF2B5EF4-FFF2-40B4-BE49-F238E27FC236}">
                    <a16:creationId xmlns:a16="http://schemas.microsoft.com/office/drawing/2014/main" id="{3DE0E5BC-B5BB-CFC8-BC80-B3CEBD2B4439}"/>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72" name="TextBox 71">
                <a:extLst>
                  <a:ext uri="{FF2B5EF4-FFF2-40B4-BE49-F238E27FC236}">
                    <a16:creationId xmlns:a16="http://schemas.microsoft.com/office/drawing/2014/main" id="{CA6340E6-115E-DFF8-F7E4-8EBA440A3683}"/>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73" name="TextBox 72">
                <a:extLst>
                  <a:ext uri="{FF2B5EF4-FFF2-40B4-BE49-F238E27FC236}">
                    <a16:creationId xmlns:a16="http://schemas.microsoft.com/office/drawing/2014/main" id="{B8B0F7F2-8B83-8BD0-81C0-AA08A21A6314}"/>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74" name="TextBox 73">
                <a:extLst>
                  <a:ext uri="{FF2B5EF4-FFF2-40B4-BE49-F238E27FC236}">
                    <a16:creationId xmlns:a16="http://schemas.microsoft.com/office/drawing/2014/main" id="{E4B3C70A-1F9D-1759-D960-6B5816CDF9D2}"/>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75" name="TextBox 74">
                <a:extLst>
                  <a:ext uri="{FF2B5EF4-FFF2-40B4-BE49-F238E27FC236}">
                    <a16:creationId xmlns:a16="http://schemas.microsoft.com/office/drawing/2014/main" id="{0DA49A2D-6D5E-1096-7255-84F4793E32CE}"/>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5" name="Group 44">
              <a:extLst>
                <a:ext uri="{FF2B5EF4-FFF2-40B4-BE49-F238E27FC236}">
                  <a16:creationId xmlns:a16="http://schemas.microsoft.com/office/drawing/2014/main" id="{0D413D70-40DF-D119-7511-B9F9F3C5A188}"/>
                </a:ext>
              </a:extLst>
            </p:cNvPr>
            <p:cNvGrpSpPr/>
            <p:nvPr/>
          </p:nvGrpSpPr>
          <p:grpSpPr>
            <a:xfrm>
              <a:off x="6020939" y="2743200"/>
              <a:ext cx="4293125" cy="849868"/>
              <a:chOff x="2361062" y="2743200"/>
              <a:chExt cx="4293125" cy="849868"/>
            </a:xfrm>
          </p:grpSpPr>
          <p:grpSp>
            <p:nvGrpSpPr>
              <p:cNvPr id="50" name="Group 49">
                <a:extLst>
                  <a:ext uri="{FF2B5EF4-FFF2-40B4-BE49-F238E27FC236}">
                    <a16:creationId xmlns:a16="http://schemas.microsoft.com/office/drawing/2014/main" id="{004D5F06-57C0-9561-8DFB-97B713327871}"/>
                  </a:ext>
                </a:extLst>
              </p:cNvPr>
              <p:cNvGrpSpPr/>
              <p:nvPr/>
            </p:nvGrpSpPr>
            <p:grpSpPr>
              <a:xfrm>
                <a:off x="2361062" y="2743200"/>
                <a:ext cx="4268338" cy="533400"/>
                <a:chOff x="1445524" y="2971800"/>
                <a:chExt cx="4268338" cy="533400"/>
              </a:xfrm>
            </p:grpSpPr>
            <p:sp>
              <p:nvSpPr>
                <p:cNvPr id="59" name="Rectangle 58">
                  <a:extLst>
                    <a:ext uri="{FF2B5EF4-FFF2-40B4-BE49-F238E27FC236}">
                      <a16:creationId xmlns:a16="http://schemas.microsoft.com/office/drawing/2014/main" id="{550AB95D-A4E6-71A1-23FE-1422E35E9DB0}"/>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60" name="Rectangle 59">
                  <a:extLst>
                    <a:ext uri="{FF2B5EF4-FFF2-40B4-BE49-F238E27FC236}">
                      <a16:creationId xmlns:a16="http://schemas.microsoft.com/office/drawing/2014/main" id="{6244BB98-1673-3E2D-1F18-41CA51F31C20}"/>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61" name="Rectangle 60">
                  <a:extLst>
                    <a:ext uri="{FF2B5EF4-FFF2-40B4-BE49-F238E27FC236}">
                      <a16:creationId xmlns:a16="http://schemas.microsoft.com/office/drawing/2014/main" id="{EF048AD2-88EF-B37F-B639-FCDFE3693E59}"/>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62" name="Rectangle 61">
                  <a:extLst>
                    <a:ext uri="{FF2B5EF4-FFF2-40B4-BE49-F238E27FC236}">
                      <a16:creationId xmlns:a16="http://schemas.microsoft.com/office/drawing/2014/main" id="{999EC23D-1356-7C68-7368-D59878A983F4}"/>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63" name="Rectangle 62">
                  <a:extLst>
                    <a:ext uri="{FF2B5EF4-FFF2-40B4-BE49-F238E27FC236}">
                      <a16:creationId xmlns:a16="http://schemas.microsoft.com/office/drawing/2014/main" id="{1497E028-C52E-675E-3CD6-CCD3F28302F7}"/>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64" name="Rectangle 63">
                  <a:extLst>
                    <a:ext uri="{FF2B5EF4-FFF2-40B4-BE49-F238E27FC236}">
                      <a16:creationId xmlns:a16="http://schemas.microsoft.com/office/drawing/2014/main" id="{13F32CD9-19E1-834C-26B7-A8F3D2CEE006}"/>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65" name="Rectangle 64">
                  <a:extLst>
                    <a:ext uri="{FF2B5EF4-FFF2-40B4-BE49-F238E27FC236}">
                      <a16:creationId xmlns:a16="http://schemas.microsoft.com/office/drawing/2014/main" id="{F675C80F-5B7A-BBA8-130A-B3CF5AD7FC8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66" name="Rectangle 65">
                  <a:extLst>
                    <a:ext uri="{FF2B5EF4-FFF2-40B4-BE49-F238E27FC236}">
                      <a16:creationId xmlns:a16="http://schemas.microsoft.com/office/drawing/2014/main" id="{D19F6413-A167-1DFB-2A37-A3D51542BA28}"/>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grpSp>
          <p:sp>
            <p:nvSpPr>
              <p:cNvPr id="51" name="TextBox 50">
                <a:extLst>
                  <a:ext uri="{FF2B5EF4-FFF2-40B4-BE49-F238E27FC236}">
                    <a16:creationId xmlns:a16="http://schemas.microsoft.com/office/drawing/2014/main" id="{513F22D5-36EF-BD52-DD4A-012D7F9C3B19}"/>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52" name="TextBox 51">
                <a:extLst>
                  <a:ext uri="{FF2B5EF4-FFF2-40B4-BE49-F238E27FC236}">
                    <a16:creationId xmlns:a16="http://schemas.microsoft.com/office/drawing/2014/main" id="{D08AE7A7-92D6-4BF5-76F1-0BA807B9981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53" name="TextBox 52">
                <a:extLst>
                  <a:ext uri="{FF2B5EF4-FFF2-40B4-BE49-F238E27FC236}">
                    <a16:creationId xmlns:a16="http://schemas.microsoft.com/office/drawing/2014/main" id="{CB441F66-DC45-EE7B-7A4B-9574148133B9}"/>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54" name="TextBox 53">
                <a:extLst>
                  <a:ext uri="{FF2B5EF4-FFF2-40B4-BE49-F238E27FC236}">
                    <a16:creationId xmlns:a16="http://schemas.microsoft.com/office/drawing/2014/main" id="{E19A5E20-A9BA-2C6A-A149-F0F458A67F9C}"/>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55" name="TextBox 54">
                <a:extLst>
                  <a:ext uri="{FF2B5EF4-FFF2-40B4-BE49-F238E27FC236}">
                    <a16:creationId xmlns:a16="http://schemas.microsoft.com/office/drawing/2014/main" id="{B419C7F8-2A62-E3D0-DAE0-473ABBD1B157}"/>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56" name="TextBox 55">
                <a:extLst>
                  <a:ext uri="{FF2B5EF4-FFF2-40B4-BE49-F238E27FC236}">
                    <a16:creationId xmlns:a16="http://schemas.microsoft.com/office/drawing/2014/main" id="{B3815E93-ACC1-5FFF-BD91-42D18964DD18}"/>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57" name="TextBox 56">
                <a:extLst>
                  <a:ext uri="{FF2B5EF4-FFF2-40B4-BE49-F238E27FC236}">
                    <a16:creationId xmlns:a16="http://schemas.microsoft.com/office/drawing/2014/main" id="{4B69515A-5AB2-AE1D-CB3B-DA3BB84E0EBD}"/>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58" name="TextBox 57">
                <a:extLst>
                  <a:ext uri="{FF2B5EF4-FFF2-40B4-BE49-F238E27FC236}">
                    <a16:creationId xmlns:a16="http://schemas.microsoft.com/office/drawing/2014/main" id="{A1D7BE6C-86B0-F51C-9E53-5ED83D0CFDAD}"/>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mc:AlternateContent xmlns:mc="http://schemas.openxmlformats.org/markup-compatibility/2006">
        <mc:Choice xmlns:p14="http://schemas.microsoft.com/office/powerpoint/2010/main" Requires="p14">
          <p:contentPart p14:bwMode="auto" r:id="rId2">
            <p14:nvContentPartPr>
              <p14:cNvPr id="10" name="Ink 9">
                <a:extLst>
                  <a:ext uri="{FF2B5EF4-FFF2-40B4-BE49-F238E27FC236}">
                    <a16:creationId xmlns:a16="http://schemas.microsoft.com/office/drawing/2014/main" id="{224F2792-07EE-AB03-FB67-A0EA1D4FD1DA}"/>
                  </a:ext>
                </a:extLst>
              </p14:cNvPr>
              <p14:cNvContentPartPr/>
              <p14:nvPr/>
            </p14:nvContentPartPr>
            <p14:xfrm>
              <a:off x="5423040" y="3462840"/>
              <a:ext cx="593280" cy="468720"/>
            </p14:xfrm>
          </p:contentPart>
        </mc:Choice>
        <mc:Fallback>
          <p:pic>
            <p:nvPicPr>
              <p:cNvPr id="10" name="Ink 9">
                <a:extLst>
                  <a:ext uri="{FF2B5EF4-FFF2-40B4-BE49-F238E27FC236}">
                    <a16:creationId xmlns:a16="http://schemas.microsoft.com/office/drawing/2014/main" id="{224F2792-07EE-AB03-FB67-A0EA1D4FD1DA}"/>
                  </a:ext>
                </a:extLst>
              </p:cNvPr>
              <p:cNvPicPr/>
              <p:nvPr/>
            </p:nvPicPr>
            <p:blipFill>
              <a:blip r:embed="rId3"/>
              <a:stretch>
                <a:fillRect/>
              </a:stretch>
            </p:blipFill>
            <p:spPr>
              <a:xfrm>
                <a:off x="5413680" y="3453480"/>
                <a:ext cx="612000" cy="487440"/>
              </a:xfrm>
              <a:prstGeom prst="rect">
                <a:avLst/>
              </a:prstGeom>
            </p:spPr>
          </p:pic>
        </mc:Fallback>
      </mc:AlternateContent>
    </p:spTree>
    <p:extLst>
      <p:ext uri="{BB962C8B-B14F-4D97-AF65-F5344CB8AC3E}">
        <p14:creationId xmlns:p14="http://schemas.microsoft.com/office/powerpoint/2010/main" val="175121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RadixSort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normAutofit fontScale="92500" lnSpcReduction="10000"/>
              </a:bodyPr>
              <a:lstStyle/>
              <a:p>
                <a:r>
                  <a:rPr lang="en-US" dirty="0"/>
                  <a:t>Suppose largest value is </a:t>
                </a:r>
                <a14:m>
                  <m:oMath xmlns:m="http://schemas.openxmlformats.org/officeDocument/2006/math">
                    <m:r>
                      <a:rPr lang="en-US" b="0" i="1" smtClean="0">
                        <a:latin typeface="Cambria Math" panose="02040503050406030204" pitchFamily="18" charset="0"/>
                      </a:rPr>
                      <m:t>𝑚</m:t>
                    </m:r>
                  </m:oMath>
                </a14:m>
                <a:endParaRPr lang="en-US" dirty="0"/>
              </a:p>
              <a:p>
                <a:r>
                  <a:rPr lang="en-US" dirty="0"/>
                  <a:t>Choose a radix (base of representation) </a:t>
                </a:r>
                <a14:m>
                  <m:oMath xmlns:m="http://schemas.openxmlformats.org/officeDocument/2006/math">
                    <m:r>
                      <a:rPr lang="en-US" b="0" i="1" smtClean="0">
                        <a:latin typeface="Cambria Math" panose="02040503050406030204" pitchFamily="18" charset="0"/>
                      </a:rPr>
                      <m:t>𝑏</m:t>
                    </m:r>
                  </m:oMath>
                </a14:m>
                <a:endParaRPr lang="en-US" dirty="0"/>
              </a:p>
              <a:p>
                <a:r>
                  <a:rPr lang="en-US" dirty="0" err="1"/>
                  <a:t>BucketSort</a:t>
                </a:r>
                <a:r>
                  <a:rPr lang="en-US" dirty="0"/>
                  <a:t> all </a:t>
                </a:r>
                <a14:m>
                  <m:oMath xmlns:m="http://schemas.openxmlformats.org/officeDocument/2006/math">
                    <m:r>
                      <a:rPr lang="en-US" b="0" i="1" smtClean="0">
                        <a:latin typeface="Cambria Math" panose="02040503050406030204" pitchFamily="18" charset="0"/>
                      </a:rPr>
                      <m:t>𝑛</m:t>
                    </m:r>
                  </m:oMath>
                </a14:m>
                <a:r>
                  <a:rPr lang="en-US" dirty="0"/>
                  <a:t> things using </a:t>
                </a:r>
                <a14:m>
                  <m:oMath xmlns:m="http://schemas.openxmlformats.org/officeDocument/2006/math">
                    <m:r>
                      <a:rPr lang="en-US" b="0" i="1" smtClean="0">
                        <a:latin typeface="Cambria Math" panose="02040503050406030204" pitchFamily="18" charset="0"/>
                      </a:rPr>
                      <m:t>𝑏</m:t>
                    </m:r>
                  </m:oMath>
                </a14:m>
                <a:r>
                  <a:rPr lang="en-US" dirty="0"/>
                  <a:t>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Repeat once per each digit</a:t>
                </a:r>
              </a:p>
              <a:p>
                <a:pPr lvl="1"/>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oMath>
                </a14:m>
                <a:r>
                  <a:rPr lang="en-US" dirty="0"/>
                  <a:t> iterations</a:t>
                </a:r>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r>
                          <a:rPr lang="en-US" b="0" i="1" smtClean="0">
                            <a:latin typeface="Cambria Math" panose="02040503050406030204" pitchFamily="18" charset="0"/>
                          </a:rPr>
                          <m:t>+</m:t>
                        </m:r>
                        <m:r>
                          <a:rPr lang="en-US" b="0" i="1" smtClean="0">
                            <a:latin typeface="Cambria Math" panose="02040503050406030204" pitchFamily="18" charset="0"/>
                          </a:rPr>
                          <m:t>𝑏</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e>
                    </m:d>
                  </m:oMath>
                </a14:m>
                <a:endParaRPr lang="en-US" dirty="0"/>
              </a:p>
              <a:p>
                <a:r>
                  <a:rPr lang="en-US" dirty="0"/>
                  <a:t>In practice, you can select the value of </a:t>
                </a:r>
                <a14:m>
                  <m:oMath xmlns:m="http://schemas.openxmlformats.org/officeDocument/2006/math">
                    <m:r>
                      <a:rPr lang="en-US" b="0" i="1" smtClean="0">
                        <a:latin typeface="Cambria Math" panose="02040503050406030204" pitchFamily="18" charset="0"/>
                      </a:rPr>
                      <m:t>𝑏</m:t>
                    </m:r>
                  </m:oMath>
                </a14:m>
                <a:r>
                  <a:rPr lang="en-US" dirty="0"/>
                  <a:t> to optimize running time</a:t>
                </a:r>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E29900E-8B24-C7CA-4857-A851EE52ABCF}"/>
                  </a:ext>
                </a:extLst>
              </p14:cNvPr>
              <p14:cNvContentPartPr/>
              <p14:nvPr/>
            </p14:nvContentPartPr>
            <p14:xfrm>
              <a:off x="436320" y="1573560"/>
              <a:ext cx="9374760" cy="4458240"/>
            </p14:xfrm>
          </p:contentPart>
        </mc:Choice>
        <mc:Fallback>
          <p:pic>
            <p:nvPicPr>
              <p:cNvPr id="4" name="Ink 3">
                <a:extLst>
                  <a:ext uri="{FF2B5EF4-FFF2-40B4-BE49-F238E27FC236}">
                    <a16:creationId xmlns:a16="http://schemas.microsoft.com/office/drawing/2014/main" id="{CE29900E-8B24-C7CA-4857-A851EE52ABCF}"/>
                  </a:ext>
                </a:extLst>
              </p:cNvPr>
              <p:cNvPicPr/>
              <p:nvPr/>
            </p:nvPicPr>
            <p:blipFill>
              <a:blip r:embed="rId4"/>
              <a:stretch>
                <a:fillRect/>
              </a:stretch>
            </p:blipFill>
            <p:spPr>
              <a:xfrm>
                <a:off x="426960" y="1564200"/>
                <a:ext cx="9393480" cy="4476960"/>
              </a:xfrm>
              <a:prstGeom prst="rect">
                <a:avLst/>
              </a:prstGeom>
            </p:spPr>
          </p:pic>
        </mc:Fallback>
      </mc:AlternateContent>
    </p:spTree>
    <p:extLst>
      <p:ext uri="{BB962C8B-B14F-4D97-AF65-F5344CB8AC3E}">
        <p14:creationId xmlns:p14="http://schemas.microsoft.com/office/powerpoint/2010/main" val="2110166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ARPANET</a:t>
            </a:r>
          </a:p>
        </p:txBody>
      </p:sp>
      <p:grpSp>
        <p:nvGrpSpPr>
          <p:cNvPr id="5" name="Group 4" descr="An illustration of the ARPANET network as a graph. It depicts universities by their logos. The logos are connected together by lines to indicate that there is a communication wire that connects those campuses.">
            <a:extLst>
              <a:ext uri="{FF2B5EF4-FFF2-40B4-BE49-F238E27FC236}">
                <a16:creationId xmlns:a16="http://schemas.microsoft.com/office/drawing/2014/main" id="{6D40A998-F8EF-40C8-5FC3-D09842B53AAE}"/>
              </a:ext>
            </a:extLst>
          </p:cNvPr>
          <p:cNvGrpSpPr/>
          <p:nvPr/>
        </p:nvGrpSpPr>
        <p:grpSpPr>
          <a:xfrm>
            <a:off x="2004930" y="1521214"/>
            <a:ext cx="7331334" cy="3991049"/>
            <a:chOff x="2004930" y="1521214"/>
            <a:chExt cx="7331334" cy="3991049"/>
          </a:xfrm>
        </p:grpSpPr>
        <p:pic>
          <p:nvPicPr>
            <p:cNvPr id="1026" name="Picture 2" descr="Image result for UCL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1" y="4114801"/>
              <a:ext cx="866775" cy="8667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SRI Internation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2209800"/>
              <a:ext cx="1295400" cy="95747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UCSB"/>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18691" y="1694568"/>
              <a:ext cx="957755" cy="5086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University of Utah"/>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0074" y="4419600"/>
              <a:ext cx="1042326" cy="104232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harvar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54362" y="4850938"/>
              <a:ext cx="678862" cy="66132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yal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04930" y="2590800"/>
              <a:ext cx="674276" cy="70405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mage result for cmu"/>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42135" y="3216885"/>
              <a:ext cx="994129" cy="99412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mage result for mit"/>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706399" y="3227427"/>
              <a:ext cx="737119" cy="376553"/>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p:cNvCxnSpPr>
              <a:cxnSpLocks/>
            </p:cNvCxnSpPr>
            <p:nvPr/>
          </p:nvCxnSpPr>
          <p:spPr>
            <a:xfrm flipV="1">
              <a:off x="2624296" y="1948872"/>
              <a:ext cx="1214280" cy="67339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4676446" y="1807387"/>
              <a:ext cx="110924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a:stCxn id="1036" idx="2"/>
            </p:cNvCxnSpPr>
            <p:nvPr/>
          </p:nvCxnSpPr>
          <p:spPr>
            <a:xfrm>
              <a:off x="2342068" y="3294857"/>
              <a:ext cx="716596" cy="102909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cxnSpLocks/>
              <a:stCxn id="1040" idx="1"/>
            </p:cNvCxnSpPr>
            <p:nvPr/>
          </p:nvCxnSpPr>
          <p:spPr>
            <a:xfrm flipH="1">
              <a:off x="3824008" y="3415704"/>
              <a:ext cx="882391" cy="91291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cxnSpLocks/>
            </p:cNvCxnSpPr>
            <p:nvPr/>
          </p:nvCxnSpPr>
          <p:spPr>
            <a:xfrm flipH="1" flipV="1">
              <a:off x="3776917" y="4780959"/>
              <a:ext cx="1135672" cy="4572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a:stCxn id="1040" idx="2"/>
              <a:endCxn id="1034" idx="0"/>
            </p:cNvCxnSpPr>
            <p:nvPr/>
          </p:nvCxnSpPr>
          <p:spPr>
            <a:xfrm>
              <a:off x="5074959" y="3603980"/>
              <a:ext cx="118834" cy="1246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cxnSpLocks/>
            </p:cNvCxnSpPr>
            <p:nvPr/>
          </p:nvCxnSpPr>
          <p:spPr>
            <a:xfrm flipV="1">
              <a:off x="5193794" y="2318202"/>
              <a:ext cx="787515" cy="97665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cxnSpLocks/>
              <a:stCxn id="1034" idx="3"/>
            </p:cNvCxnSpPr>
            <p:nvPr/>
          </p:nvCxnSpPr>
          <p:spPr>
            <a:xfrm>
              <a:off x="5533224" y="5181601"/>
              <a:ext cx="1400976"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cxnSpLocks/>
            </p:cNvCxnSpPr>
            <p:nvPr/>
          </p:nvCxnSpPr>
          <p:spPr>
            <a:xfrm flipH="1" flipV="1">
              <a:off x="6249637" y="2412816"/>
              <a:ext cx="836964" cy="23115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flipH="1" flipV="1">
              <a:off x="6637383" y="2238828"/>
              <a:ext cx="449218" cy="23177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7410450" y="2942829"/>
              <a:ext cx="171450" cy="160535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cxnSpLocks/>
            </p:cNvCxnSpPr>
            <p:nvPr/>
          </p:nvCxnSpPr>
          <p:spPr>
            <a:xfrm flipH="1" flipV="1">
              <a:off x="8013242" y="2872266"/>
              <a:ext cx="469440" cy="45630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cxnSpLocks/>
            </p:cNvCxnSpPr>
            <p:nvPr/>
          </p:nvCxnSpPr>
          <p:spPr>
            <a:xfrm flipH="1">
              <a:off x="7772400" y="4163760"/>
              <a:ext cx="850482" cy="81781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1030" idx="2"/>
              <a:endCxn id="1026" idx="0"/>
            </p:cNvCxnSpPr>
            <p:nvPr/>
          </p:nvCxnSpPr>
          <p:spPr>
            <a:xfrm flipH="1">
              <a:off x="3405188" y="2203174"/>
              <a:ext cx="792380" cy="191162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University of Washington - Wikipedia">
              <a:extLst>
                <a:ext uri="{FF2B5EF4-FFF2-40B4-BE49-F238E27FC236}">
                  <a16:creationId xmlns:a16="http://schemas.microsoft.com/office/drawing/2014/main" id="{A9A49F51-0866-954E-BFF9-1DE70B8806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3628" y="1521214"/>
              <a:ext cx="994130" cy="994130"/>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C8C52738-B696-170C-4D7C-8BE239E5199D}"/>
                  </a:ext>
                </a:extLst>
              </p14:cNvPr>
              <p14:cNvContentPartPr/>
              <p14:nvPr/>
            </p14:nvContentPartPr>
            <p14:xfrm>
              <a:off x="3699360" y="1282680"/>
              <a:ext cx="6213240" cy="4256280"/>
            </p14:xfrm>
          </p:contentPart>
        </mc:Choice>
        <mc:Fallback>
          <p:pic>
            <p:nvPicPr>
              <p:cNvPr id="6" name="Ink 5">
                <a:extLst>
                  <a:ext uri="{FF2B5EF4-FFF2-40B4-BE49-F238E27FC236}">
                    <a16:creationId xmlns:a16="http://schemas.microsoft.com/office/drawing/2014/main" id="{C8C52738-B696-170C-4D7C-8BE239E5199D}"/>
                  </a:ext>
                </a:extLst>
              </p:cNvPr>
              <p:cNvPicPr/>
              <p:nvPr/>
            </p:nvPicPr>
            <p:blipFill>
              <a:blip r:embed="rId12"/>
              <a:stretch>
                <a:fillRect/>
              </a:stretch>
            </p:blipFill>
            <p:spPr>
              <a:xfrm>
                <a:off x="3690000" y="1273320"/>
                <a:ext cx="6231960" cy="4275000"/>
              </a:xfrm>
              <a:prstGeom prst="rect">
                <a:avLst/>
              </a:prstGeom>
            </p:spPr>
          </p:pic>
        </mc:Fallback>
      </mc:AlternateContent>
    </p:spTree>
    <p:extLst>
      <p:ext uri="{BB962C8B-B14F-4D97-AF65-F5344CB8AC3E}">
        <p14:creationId xmlns:p14="http://schemas.microsoft.com/office/powerpoint/2010/main" val="4173270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Undirected Graphs</a:t>
            </a:r>
          </a:p>
        </p:txBody>
      </p:sp>
      <p:grpSp>
        <p:nvGrpSpPr>
          <p:cNvPr id="3" name="Group 2" descr="A graph is defined as a pair of two sets. One set is called V and it contains all vertices/nodes in the graph. The other is called E which contains pairs of vertices to indicate that those two vertices are connected together. For an undirected graph the edges are considered unordered pairs.">
            <a:extLst>
              <a:ext uri="{FF2B5EF4-FFF2-40B4-BE49-F238E27FC236}">
                <a16:creationId xmlns:a16="http://schemas.microsoft.com/office/drawing/2014/main" id="{5C95C37B-CEE2-97DF-F289-7A53CFE04C87}"/>
              </a:ext>
            </a:extLst>
          </p:cNvPr>
          <p:cNvGrpSpPr/>
          <p:nvPr/>
        </p:nvGrpSpPr>
        <p:grpSpPr>
          <a:xfrm>
            <a:off x="3976310" y="1058920"/>
            <a:ext cx="4922324" cy="1250591"/>
            <a:chOff x="3976310" y="1058920"/>
            <a:chExt cx="4922324" cy="1250591"/>
          </a:xfrm>
        </p:grpSpPr>
        <mc:AlternateContent xmlns:mc="http://schemas.openxmlformats.org/markup-compatibility/2006">
          <mc:Choice xmlns:a14="http://schemas.microsoft.com/office/drawing/2010/main" Requires="a14">
            <p:sp>
              <p:nvSpPr>
                <p:cNvPr id="2067" name="TextBox 2066"/>
                <p:cNvSpPr txBox="1"/>
                <p:nvPr/>
              </p:nvSpPr>
              <p:spPr>
                <a:xfrm>
                  <a:off x="3976310" y="1295402"/>
                  <a:ext cx="4802981" cy="707886"/>
                </a:xfrm>
                <a:prstGeom prst="rect">
                  <a:avLst/>
                </a:prstGeom>
                <a:noFill/>
              </p:spPr>
              <p:txBody>
                <a:bodyPr wrap="none" rtlCol="0">
                  <a:spAutoFit/>
                </a:bodyPr>
                <a:lstStyle/>
                <a:p>
                  <a:r>
                    <a:rPr lang="en-US" sz="4000" dirty="0"/>
                    <a:t>Definition: </a:t>
                  </a:r>
                  <a14:m>
                    <m:oMath xmlns:m="http://schemas.openxmlformats.org/officeDocument/2006/math">
                      <m:r>
                        <a:rPr lang="en-US" sz="4000" i="1">
                          <a:latin typeface="Cambria Math"/>
                        </a:rPr>
                        <m:t>𝐺</m:t>
                      </m:r>
                      <m:r>
                        <a:rPr lang="en-US" sz="4000" i="1">
                          <a:latin typeface="Cambria Math"/>
                        </a:rPr>
                        <m:t>=(</m:t>
                      </m:r>
                      <m:r>
                        <a:rPr lang="en-US" sz="4000" i="1">
                          <a:solidFill>
                            <a:srgbClr val="0070C0"/>
                          </a:solidFill>
                          <a:latin typeface="Cambria Math"/>
                        </a:rPr>
                        <m:t>𝑉</m:t>
                      </m:r>
                      <m:r>
                        <a:rPr lang="en-US" sz="4000" i="1">
                          <a:latin typeface="Cambria Math"/>
                        </a:rPr>
                        <m:t>,</m:t>
                      </m:r>
                      <m:r>
                        <a:rPr lang="en-US" sz="4000" i="1">
                          <a:solidFill>
                            <a:srgbClr val="FF0000"/>
                          </a:solidFill>
                          <a:latin typeface="Cambria Math"/>
                        </a:rPr>
                        <m:t>𝐸</m:t>
                      </m:r>
                      <m:r>
                        <a:rPr lang="en-US" sz="4000" i="1">
                          <a:latin typeface="Cambria Math"/>
                        </a:rPr>
                        <m:t>)</m:t>
                      </m:r>
                    </m:oMath>
                  </a14:m>
                  <a:endParaRPr lang="en-US" sz="4000" dirty="0"/>
                </a:p>
              </p:txBody>
            </p:sp>
          </mc:Choice>
          <mc:Fallback>
            <p:sp>
              <p:nvSpPr>
                <p:cNvPr id="2067" name="TextBox 2066"/>
                <p:cNvSpPr txBox="1">
                  <a:spLocks noRot="1" noChangeAspect="1" noMove="1" noResize="1" noEditPoints="1" noAdjustHandles="1" noChangeArrowheads="1" noChangeShapeType="1" noTextEdit="1"/>
                </p:cNvSpPr>
                <p:nvPr/>
              </p:nvSpPr>
              <p:spPr>
                <a:xfrm>
                  <a:off x="3976310" y="1295402"/>
                  <a:ext cx="4802981" cy="707886"/>
                </a:xfrm>
                <a:prstGeom prst="rect">
                  <a:avLst/>
                </a:prstGeom>
                <a:blipFill>
                  <a:blip r:embed="rId2"/>
                  <a:stretch>
                    <a:fillRect l="-4442" t="-15517" b="-35345"/>
                  </a:stretch>
                </a:blipFill>
              </p:spPr>
              <p:txBody>
                <a:bodyPr/>
                <a:lstStyle/>
                <a:p>
                  <a:r>
                    <a:rPr lang="en-US">
                      <a:noFill/>
                    </a:rPr>
                    <a:t> </a:t>
                  </a:r>
                </a:p>
              </p:txBody>
            </p:sp>
          </mc:Fallback>
        </mc:AlternateContent>
        <p:sp>
          <p:nvSpPr>
            <p:cNvPr id="2068" name="TextBox 2067"/>
            <p:cNvSpPr txBox="1"/>
            <p:nvPr/>
          </p:nvSpPr>
          <p:spPr>
            <a:xfrm>
              <a:off x="6639846" y="1058920"/>
              <a:ext cx="2097754" cy="461665"/>
            </a:xfrm>
            <a:prstGeom prst="rect">
              <a:avLst/>
            </a:prstGeom>
            <a:noFill/>
          </p:spPr>
          <p:txBody>
            <a:bodyPr wrap="none" rtlCol="0">
              <a:spAutoFit/>
            </a:bodyPr>
            <a:lstStyle/>
            <a:p>
              <a:r>
                <a:rPr lang="en-US" sz="2400" dirty="0">
                  <a:solidFill>
                    <a:srgbClr val="0070C0"/>
                  </a:solidFill>
                </a:rPr>
                <a:t>Vertices/Nodes</a:t>
              </a:r>
            </a:p>
          </p:txBody>
        </p:sp>
        <p:sp>
          <p:nvSpPr>
            <p:cNvPr id="90" name="TextBox 89"/>
            <p:cNvSpPr txBox="1"/>
            <p:nvPr/>
          </p:nvSpPr>
          <p:spPr>
            <a:xfrm>
              <a:off x="7990052" y="1847846"/>
              <a:ext cx="908582" cy="461665"/>
            </a:xfrm>
            <a:prstGeom prst="rect">
              <a:avLst/>
            </a:prstGeom>
            <a:noFill/>
          </p:spPr>
          <p:txBody>
            <a:bodyPr wrap="none" rtlCol="0">
              <a:spAutoFit/>
            </a:bodyPr>
            <a:lstStyle/>
            <a:p>
              <a:r>
                <a:rPr lang="en-US" sz="2400" dirty="0">
                  <a:solidFill>
                    <a:srgbClr val="FF0000"/>
                  </a:solidFill>
                </a:rPr>
                <a:t>Edges</a:t>
              </a:r>
            </a:p>
          </p:txBody>
        </p:sp>
      </p:grpSp>
      <mc:AlternateContent xmlns:mc="http://schemas.openxmlformats.org/markup-compatibility/2006">
        <mc:Choice xmlns:a14="http://schemas.microsoft.com/office/drawing/2010/main" Requires="a14">
          <p:sp>
            <p:nvSpPr>
              <p:cNvPr id="2069" name="TextBox 2068"/>
              <p:cNvSpPr txBox="1"/>
              <p:nvPr/>
            </p:nvSpPr>
            <p:spPr>
              <a:xfrm>
                <a:off x="4986849" y="1976368"/>
                <a:ext cx="265162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70C0"/>
                          </a:solidFill>
                          <a:latin typeface="Cambria Math"/>
                        </a:rPr>
                        <m:t>𝑉</m:t>
                      </m:r>
                      <m:r>
                        <a:rPr lang="en-US" sz="2000" i="1" smtClean="0">
                          <a:solidFill>
                            <a:srgbClr val="0070C0"/>
                          </a:solidFill>
                          <a:latin typeface="Cambria Math"/>
                        </a:rPr>
                        <m:t>={1,2,3,4,5,6,7,8,9}</m:t>
                      </m:r>
                    </m:oMath>
                  </m:oMathPara>
                </a14:m>
                <a:endParaRPr lang="en-US" sz="2000" dirty="0">
                  <a:solidFill>
                    <a:srgbClr val="0070C0"/>
                  </a:solidFill>
                </a:endParaRPr>
              </a:p>
            </p:txBody>
          </p:sp>
        </mc:Choice>
        <mc:Fallback>
          <p:sp>
            <p:nvSpPr>
              <p:cNvPr id="2069" name="TextBox 2068"/>
              <p:cNvSpPr txBox="1">
                <a:spLocks noRot="1" noChangeAspect="1" noMove="1" noResize="1" noEditPoints="1" noAdjustHandles="1" noChangeArrowheads="1" noChangeShapeType="1" noTextEdit="1"/>
              </p:cNvSpPr>
              <p:nvPr/>
            </p:nvSpPr>
            <p:spPr>
              <a:xfrm>
                <a:off x="4986849" y="1976368"/>
                <a:ext cx="2651623" cy="400110"/>
              </a:xfrm>
              <a:prstGeom prst="rect">
                <a:avLst/>
              </a:prstGeom>
              <a:blipFill>
                <a:blip r:embed="rId3"/>
                <a:stretch>
                  <a:fillRect b="-151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3" name="TextBox 92"/>
              <p:cNvSpPr txBox="1"/>
              <p:nvPr/>
            </p:nvSpPr>
            <p:spPr>
              <a:xfrm>
                <a:off x="4979825" y="2401094"/>
                <a:ext cx="31204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FF0000"/>
                          </a:solidFill>
                          <a:latin typeface="Cambria Math"/>
                        </a:rPr>
                        <m:t>𝐸</m:t>
                      </m:r>
                      <m:r>
                        <a:rPr lang="en-US" sz="2000" i="1" smtClean="0">
                          <a:solidFill>
                            <a:srgbClr val="FF0000"/>
                          </a:solidFill>
                          <a:latin typeface="Cambria Math"/>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1,2</m:t>
                          </m:r>
                        </m:e>
                      </m:d>
                      <m:r>
                        <a:rPr lang="en-US" sz="2000" b="0" i="1" smtClean="0">
                          <a:solidFill>
                            <a:srgbClr val="FF0000"/>
                          </a:solidFill>
                          <a:latin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2,3</m:t>
                          </m:r>
                        </m:e>
                      </m:d>
                      <m:r>
                        <a:rPr lang="en-US" sz="2000" b="0" i="1" smtClean="0">
                          <a:solidFill>
                            <a:srgbClr val="FF0000"/>
                          </a:solidFill>
                          <a:latin typeface="Cambria Math" panose="02040503050406030204" pitchFamily="18" charset="0"/>
                        </a:rPr>
                        <m:t>,(1,3)</m:t>
                      </m:r>
                      <m:r>
                        <a:rPr lang="en-US" sz="2000" i="1">
                          <a:solidFill>
                            <a:srgbClr val="FF0000"/>
                          </a:solidFill>
                          <a:latin typeface="Cambria Math"/>
                        </a:rPr>
                        <m:t>,…}</m:t>
                      </m:r>
                    </m:oMath>
                  </m:oMathPara>
                </a14:m>
                <a:endParaRPr lang="en-US" sz="2000" dirty="0">
                  <a:solidFill>
                    <a:srgbClr val="FF0000"/>
                  </a:solidFill>
                </a:endParaRPr>
              </a:p>
            </p:txBody>
          </p:sp>
        </mc:Choice>
        <mc:Fallback>
          <p:sp>
            <p:nvSpPr>
              <p:cNvPr id="93" name="TextBox 92"/>
              <p:cNvSpPr txBox="1">
                <a:spLocks noRot="1" noChangeAspect="1" noMove="1" noResize="1" noEditPoints="1" noAdjustHandles="1" noChangeArrowheads="1" noChangeShapeType="1" noTextEdit="1"/>
              </p:cNvSpPr>
              <p:nvPr/>
            </p:nvSpPr>
            <p:spPr>
              <a:xfrm>
                <a:off x="4979825" y="2401094"/>
                <a:ext cx="3120470" cy="400110"/>
              </a:xfrm>
              <a:prstGeom prst="rect">
                <a:avLst/>
              </a:prstGeom>
              <a:blipFill>
                <a:blip r:embed="rId4"/>
                <a:stretch>
                  <a:fillRect b="-13636"/>
                </a:stretch>
              </a:blipFill>
            </p:spPr>
            <p:txBody>
              <a:bodyPr/>
              <a:lstStyle/>
              <a:p>
                <a:r>
                  <a:rPr lang="en-US">
                    <a:noFill/>
                  </a:rPr>
                  <a:t> </a:t>
                </a:r>
              </a:p>
            </p:txBody>
          </p:sp>
        </mc:Fallback>
      </mc:AlternateContent>
      <p:grpSp>
        <p:nvGrpSpPr>
          <p:cNvPr id="2070" name="Group 2069" descr="An illustration of an undirected graph.&#10;&#10;Nodes/vertices are represented as circles and edges (which connect pairs of vertices) are represented as lines. For an undirected graph the edges may be crossed in either order."/>
          <p:cNvGrpSpPr/>
          <p:nvPr/>
        </p:nvGrpSpPr>
        <p:grpSpPr>
          <a:xfrm>
            <a:off x="454137" y="2714655"/>
            <a:ext cx="7044346" cy="3888478"/>
            <a:chOff x="0" y="3020093"/>
            <a:chExt cx="7044346" cy="3888478"/>
          </a:xfrm>
        </p:grpSpPr>
        <p:cxnSp>
          <p:nvCxnSpPr>
            <p:cNvPr id="17" name="Straight Connector 16"/>
            <p:cNvCxnSpPr>
              <a:stCxn id="5" idx="7"/>
              <a:endCxn id="44"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44" idx="6"/>
              <a:endCxn id="4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5" idx="4"/>
              <a:endCxn id="45"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47" idx="3"/>
              <a:endCxn id="45"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50" idx="2"/>
              <a:endCxn id="45"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47" idx="5"/>
              <a:endCxn id="5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47" idx="7"/>
              <a:endCxn id="4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50" idx="6"/>
              <a:endCxn id="51"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51" idx="1"/>
              <a:endCxn id="4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54" idx="2"/>
              <a:endCxn id="48"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51" idx="0"/>
              <a:endCxn id="5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53" idx="1"/>
              <a:endCxn id="54"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53" idx="3"/>
              <a:endCxn id="51"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4"/>
              <a:endCxn id="45"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Oval 43"/>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Oval 44"/>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7" name="Oval 4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8" name="Oval 4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0" name="Oval 4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51" name="Oval 50"/>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3" name="Oval 5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4" name="Oval 5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E0EB0D32-CB91-3323-297B-DE252E558DA6}"/>
                  </a:ext>
                </a:extLst>
              </p14:cNvPr>
              <p14:cNvContentPartPr/>
              <p14:nvPr/>
            </p14:nvContentPartPr>
            <p14:xfrm>
              <a:off x="411840" y="609120"/>
              <a:ext cx="8615880" cy="3542760"/>
            </p14:xfrm>
          </p:contentPart>
        </mc:Choice>
        <mc:Fallback>
          <p:pic>
            <p:nvPicPr>
              <p:cNvPr id="6" name="Ink 5">
                <a:extLst>
                  <a:ext uri="{FF2B5EF4-FFF2-40B4-BE49-F238E27FC236}">
                    <a16:creationId xmlns:a16="http://schemas.microsoft.com/office/drawing/2014/main" id="{E0EB0D32-CB91-3323-297B-DE252E558DA6}"/>
                  </a:ext>
                </a:extLst>
              </p:cNvPr>
              <p:cNvPicPr/>
              <p:nvPr/>
            </p:nvPicPr>
            <p:blipFill>
              <a:blip r:embed="rId6"/>
              <a:stretch>
                <a:fillRect/>
              </a:stretch>
            </p:blipFill>
            <p:spPr>
              <a:xfrm>
                <a:off x="402480" y="599760"/>
                <a:ext cx="8634600" cy="3561480"/>
              </a:xfrm>
              <a:prstGeom prst="rect">
                <a:avLst/>
              </a:prstGeom>
            </p:spPr>
          </p:pic>
        </mc:Fallback>
      </mc:AlternateContent>
    </p:spTree>
    <p:extLst>
      <p:ext uri="{BB962C8B-B14F-4D97-AF65-F5344CB8AC3E}">
        <p14:creationId xmlns:p14="http://schemas.microsoft.com/office/powerpoint/2010/main" val="1823147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a:t>
            </a:r>
          </a:p>
        </p:txBody>
      </p:sp>
      <p:grpSp>
        <p:nvGrpSpPr>
          <p:cNvPr id="6" name="Group 5" descr="A graph is defined as a pair of two sets. One set is called V and it contains all vertices/nodes in the graph. The other is called E which contains pairs of vertices to indicate that those two vertices are connected together. For a directed graph the edges are considered ordered pairs.">
            <a:extLst>
              <a:ext uri="{FF2B5EF4-FFF2-40B4-BE49-F238E27FC236}">
                <a16:creationId xmlns:a16="http://schemas.microsoft.com/office/drawing/2014/main" id="{10B59DDF-B349-DD37-400E-D9AB4A3E8C63}"/>
              </a:ext>
            </a:extLst>
          </p:cNvPr>
          <p:cNvGrpSpPr/>
          <p:nvPr/>
        </p:nvGrpSpPr>
        <p:grpSpPr>
          <a:xfrm>
            <a:off x="3976310" y="1058920"/>
            <a:ext cx="4922324" cy="1250591"/>
            <a:chOff x="3976310" y="1058920"/>
            <a:chExt cx="4922324" cy="1250591"/>
          </a:xfrm>
        </p:grpSpPr>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7294A28-CC24-EB41-B5EB-675BBA8C94B0}"/>
                    </a:ext>
                  </a:extLst>
                </p:cNvPr>
                <p:cNvSpPr txBox="1"/>
                <p:nvPr/>
              </p:nvSpPr>
              <p:spPr>
                <a:xfrm>
                  <a:off x="3976310" y="1295402"/>
                  <a:ext cx="4802981" cy="707886"/>
                </a:xfrm>
                <a:prstGeom prst="rect">
                  <a:avLst/>
                </a:prstGeom>
                <a:noFill/>
              </p:spPr>
              <p:txBody>
                <a:bodyPr wrap="none" rtlCol="0">
                  <a:spAutoFit/>
                </a:bodyPr>
                <a:lstStyle/>
                <a:p>
                  <a:r>
                    <a:rPr lang="en-US" sz="4000" dirty="0"/>
                    <a:t>Definition: </a:t>
                  </a:r>
                  <a14:m>
                    <m:oMath xmlns:m="http://schemas.openxmlformats.org/officeDocument/2006/math">
                      <m:r>
                        <a:rPr lang="en-US" sz="4000" i="1">
                          <a:latin typeface="Cambria Math"/>
                        </a:rPr>
                        <m:t>𝐺</m:t>
                      </m:r>
                      <m:r>
                        <a:rPr lang="en-US" sz="4000" i="1">
                          <a:latin typeface="Cambria Math"/>
                        </a:rPr>
                        <m:t>=(</m:t>
                      </m:r>
                      <m:r>
                        <a:rPr lang="en-US" sz="4000" i="1">
                          <a:solidFill>
                            <a:srgbClr val="0070C0"/>
                          </a:solidFill>
                          <a:latin typeface="Cambria Math"/>
                        </a:rPr>
                        <m:t>𝑉</m:t>
                      </m:r>
                      <m:r>
                        <a:rPr lang="en-US" sz="4000" i="1">
                          <a:latin typeface="Cambria Math"/>
                        </a:rPr>
                        <m:t>,</m:t>
                      </m:r>
                      <m:r>
                        <a:rPr lang="en-US" sz="4000" i="1">
                          <a:solidFill>
                            <a:srgbClr val="FF0000"/>
                          </a:solidFill>
                          <a:latin typeface="Cambria Math"/>
                        </a:rPr>
                        <m:t>𝐸</m:t>
                      </m:r>
                      <m:r>
                        <a:rPr lang="en-US" sz="4000" i="1">
                          <a:latin typeface="Cambria Math"/>
                        </a:rPr>
                        <m:t>)</m:t>
                      </m:r>
                    </m:oMath>
                  </a14:m>
                  <a:endParaRPr lang="en-US" sz="4000" dirty="0"/>
                </a:p>
              </p:txBody>
            </p:sp>
          </mc:Choice>
          <mc:Fallback>
            <p:sp>
              <p:nvSpPr>
                <p:cNvPr id="7" name="TextBox 6">
                  <a:extLst>
                    <a:ext uri="{FF2B5EF4-FFF2-40B4-BE49-F238E27FC236}">
                      <a16:creationId xmlns:a16="http://schemas.microsoft.com/office/drawing/2014/main" id="{57294A28-CC24-EB41-B5EB-675BBA8C94B0}"/>
                    </a:ext>
                  </a:extLst>
                </p:cNvPr>
                <p:cNvSpPr txBox="1">
                  <a:spLocks noRot="1" noChangeAspect="1" noMove="1" noResize="1" noEditPoints="1" noAdjustHandles="1" noChangeArrowheads="1" noChangeShapeType="1" noTextEdit="1"/>
                </p:cNvSpPr>
                <p:nvPr/>
              </p:nvSpPr>
              <p:spPr>
                <a:xfrm>
                  <a:off x="3976310" y="1295402"/>
                  <a:ext cx="4802981" cy="707886"/>
                </a:xfrm>
                <a:prstGeom prst="rect">
                  <a:avLst/>
                </a:prstGeom>
                <a:blipFill>
                  <a:blip r:embed="rId2"/>
                  <a:stretch>
                    <a:fillRect l="-4442" t="-15517" b="-3534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B791F18-51A7-0F38-C5D7-30C5CF7F4B07}"/>
                </a:ext>
              </a:extLst>
            </p:cNvPr>
            <p:cNvSpPr txBox="1"/>
            <p:nvPr/>
          </p:nvSpPr>
          <p:spPr>
            <a:xfrm>
              <a:off x="6639846" y="1058920"/>
              <a:ext cx="2097754" cy="461665"/>
            </a:xfrm>
            <a:prstGeom prst="rect">
              <a:avLst/>
            </a:prstGeom>
            <a:noFill/>
          </p:spPr>
          <p:txBody>
            <a:bodyPr wrap="none" rtlCol="0">
              <a:spAutoFit/>
            </a:bodyPr>
            <a:lstStyle/>
            <a:p>
              <a:r>
                <a:rPr lang="en-US" sz="2400" dirty="0">
                  <a:solidFill>
                    <a:srgbClr val="0070C0"/>
                  </a:solidFill>
                </a:rPr>
                <a:t>Vertices/Nodes</a:t>
              </a:r>
            </a:p>
          </p:txBody>
        </p:sp>
        <p:sp>
          <p:nvSpPr>
            <p:cNvPr id="10" name="TextBox 9">
              <a:extLst>
                <a:ext uri="{FF2B5EF4-FFF2-40B4-BE49-F238E27FC236}">
                  <a16:creationId xmlns:a16="http://schemas.microsoft.com/office/drawing/2014/main" id="{EEF270C6-38FC-A42E-8A70-DAB2A0F86015}"/>
                </a:ext>
              </a:extLst>
            </p:cNvPr>
            <p:cNvSpPr txBox="1"/>
            <p:nvPr/>
          </p:nvSpPr>
          <p:spPr>
            <a:xfrm>
              <a:off x="7990052" y="1847846"/>
              <a:ext cx="908582" cy="461665"/>
            </a:xfrm>
            <a:prstGeom prst="rect">
              <a:avLst/>
            </a:prstGeom>
            <a:noFill/>
          </p:spPr>
          <p:txBody>
            <a:bodyPr wrap="none" rtlCol="0">
              <a:spAutoFit/>
            </a:bodyPr>
            <a:lstStyle/>
            <a:p>
              <a:r>
                <a:rPr lang="en-US" sz="2400" dirty="0">
                  <a:solidFill>
                    <a:srgbClr val="FF0000"/>
                  </a:solidFill>
                </a:rPr>
                <a:t>Edges</a:t>
              </a:r>
            </a:p>
          </p:txBody>
        </p:sp>
      </p:grpSp>
      <mc:AlternateContent xmlns:mc="http://schemas.openxmlformats.org/markup-compatibility/2006">
        <mc:Choice xmlns:a14="http://schemas.microsoft.com/office/drawing/2010/main" Requires="a14">
          <p:sp>
            <p:nvSpPr>
              <p:cNvPr id="2069" name="TextBox 2068"/>
              <p:cNvSpPr txBox="1"/>
              <p:nvPr/>
            </p:nvSpPr>
            <p:spPr>
              <a:xfrm>
                <a:off x="4968093" y="2067415"/>
                <a:ext cx="265162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70C0"/>
                          </a:solidFill>
                          <a:latin typeface="Cambria Math"/>
                        </a:rPr>
                        <m:t>𝑉</m:t>
                      </m:r>
                      <m:r>
                        <a:rPr lang="en-US" sz="2000" i="1" smtClean="0">
                          <a:solidFill>
                            <a:srgbClr val="0070C0"/>
                          </a:solidFill>
                          <a:latin typeface="Cambria Math"/>
                        </a:rPr>
                        <m:t>={1,2,3,4,5,6,7,8,9}</m:t>
                      </m:r>
                    </m:oMath>
                  </m:oMathPara>
                </a14:m>
                <a:endParaRPr lang="en-US" sz="2000" dirty="0">
                  <a:solidFill>
                    <a:srgbClr val="0070C0"/>
                  </a:solidFill>
                </a:endParaRPr>
              </a:p>
            </p:txBody>
          </p:sp>
        </mc:Choice>
        <mc:Fallback>
          <p:sp>
            <p:nvSpPr>
              <p:cNvPr id="2069" name="TextBox 2068"/>
              <p:cNvSpPr txBox="1">
                <a:spLocks noRot="1" noChangeAspect="1" noMove="1" noResize="1" noEditPoints="1" noAdjustHandles="1" noChangeArrowheads="1" noChangeShapeType="1" noTextEdit="1"/>
              </p:cNvSpPr>
              <p:nvPr/>
            </p:nvSpPr>
            <p:spPr>
              <a:xfrm>
                <a:off x="4968093" y="2067415"/>
                <a:ext cx="2651623" cy="400110"/>
              </a:xfrm>
              <a:prstGeom prst="rect">
                <a:avLst/>
              </a:prstGeom>
              <a:blipFill>
                <a:blip r:embed="rId3"/>
                <a:stretch>
                  <a:fillRect b="-151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3" name="TextBox 92"/>
              <p:cNvSpPr txBox="1"/>
              <p:nvPr/>
            </p:nvSpPr>
            <p:spPr>
              <a:xfrm>
                <a:off x="4961069" y="2492141"/>
                <a:ext cx="436113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FF0000"/>
                          </a:solidFill>
                          <a:latin typeface="Cambria Math"/>
                        </a:rPr>
                        <m:t>𝐸</m:t>
                      </m:r>
                      <m:r>
                        <a:rPr lang="en-US" sz="2000" i="1" smtClean="0">
                          <a:solidFill>
                            <a:srgbClr val="FF0000"/>
                          </a:solidFill>
                          <a:latin typeface="Cambria Math"/>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1,2</m:t>
                          </m:r>
                        </m:e>
                      </m:d>
                      <m:r>
                        <a:rPr lang="en-US" sz="2000" b="0" i="1" smtClean="0">
                          <a:solidFill>
                            <a:srgbClr val="FF0000"/>
                          </a:solidFill>
                          <a:latin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3</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2</m:t>
                          </m:r>
                        </m:e>
                      </m:d>
                      <m:r>
                        <a:rPr lang="en-US" sz="2000" b="0" i="1" smtClean="0">
                          <a:solidFill>
                            <a:srgbClr val="FF0000"/>
                          </a:solidFill>
                          <a:latin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1,3</m:t>
                          </m:r>
                        </m:e>
                      </m:d>
                      <m:r>
                        <a:rPr lang="en-US" sz="2000" i="1">
                          <a:solidFill>
                            <a:srgbClr val="FF0000"/>
                          </a:solidFill>
                          <a:latin typeface="Cambria Math"/>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3,6</m:t>
                          </m:r>
                        </m:e>
                      </m:d>
                      <m:r>
                        <a:rPr lang="en-US" sz="2000" b="0" i="1" smtClean="0">
                          <a:solidFill>
                            <a:srgbClr val="FF0000"/>
                          </a:solidFill>
                          <a:latin typeface="Cambria Math" panose="02040503050406030204" pitchFamily="18" charset="0"/>
                        </a:rPr>
                        <m:t>,(6,3)</m:t>
                      </m:r>
                      <m:r>
                        <a:rPr lang="en-US" sz="2000" i="1">
                          <a:solidFill>
                            <a:srgbClr val="FF0000"/>
                          </a:solidFill>
                          <a:latin typeface="Cambria Math"/>
                        </a:rPr>
                        <m:t>…}</m:t>
                      </m:r>
                    </m:oMath>
                  </m:oMathPara>
                </a14:m>
                <a:endParaRPr lang="en-US" sz="2000" dirty="0">
                  <a:solidFill>
                    <a:srgbClr val="FF0000"/>
                  </a:solidFill>
                </a:endParaRPr>
              </a:p>
            </p:txBody>
          </p:sp>
        </mc:Choice>
        <mc:Fallback>
          <p:sp>
            <p:nvSpPr>
              <p:cNvPr id="93" name="TextBox 92"/>
              <p:cNvSpPr txBox="1">
                <a:spLocks noRot="1" noChangeAspect="1" noMove="1" noResize="1" noEditPoints="1" noAdjustHandles="1" noChangeArrowheads="1" noChangeShapeType="1" noTextEdit="1"/>
              </p:cNvSpPr>
              <p:nvPr/>
            </p:nvSpPr>
            <p:spPr>
              <a:xfrm>
                <a:off x="4961069" y="2492141"/>
                <a:ext cx="4361130" cy="400110"/>
              </a:xfrm>
              <a:prstGeom prst="rect">
                <a:avLst/>
              </a:prstGeom>
              <a:blipFill>
                <a:blip r:embed="rId4"/>
                <a:stretch>
                  <a:fillRect b="-15385"/>
                </a:stretch>
              </a:blipFill>
            </p:spPr>
            <p:txBody>
              <a:bodyPr/>
              <a:lstStyle/>
              <a:p>
                <a:r>
                  <a:rPr lang="en-US">
                    <a:noFill/>
                  </a:rPr>
                  <a:t> </a:t>
                </a:r>
              </a:p>
            </p:txBody>
          </p:sp>
        </mc:Fallback>
      </mc:AlternateContent>
      <p:grpSp>
        <p:nvGrpSpPr>
          <p:cNvPr id="11" name="Group 10" descr="An illustration of a directed graph.&#10;&#10;Nodes/vertices are represented as circles and edges (which connect pairs of vertices) are represented as arrows. For a directed graph the edges may be crossed in only one direction, where that direction is indicated by the arrow.">
            <a:extLst>
              <a:ext uri="{FF2B5EF4-FFF2-40B4-BE49-F238E27FC236}">
                <a16:creationId xmlns:a16="http://schemas.microsoft.com/office/drawing/2014/main" id="{3D4F64E0-3961-CFDA-3271-06B48D4D0B4D}"/>
              </a:ext>
            </a:extLst>
          </p:cNvPr>
          <p:cNvGrpSpPr/>
          <p:nvPr/>
        </p:nvGrpSpPr>
        <p:grpSpPr>
          <a:xfrm>
            <a:off x="277878" y="2714655"/>
            <a:ext cx="7044346" cy="3888478"/>
            <a:chOff x="1524000" y="2625729"/>
            <a:chExt cx="7044346" cy="3888478"/>
          </a:xfrm>
        </p:grpSpPr>
        <p:grpSp>
          <p:nvGrpSpPr>
            <p:cNvPr id="2070" name="Group 2069"/>
            <p:cNvGrpSpPr/>
            <p:nvPr/>
          </p:nvGrpSpPr>
          <p:grpSpPr>
            <a:xfrm>
              <a:off x="1524000" y="2625729"/>
              <a:ext cx="7044346" cy="3888478"/>
              <a:chOff x="0" y="3020093"/>
              <a:chExt cx="7044346" cy="3888478"/>
            </a:xfrm>
          </p:grpSpPr>
          <p:cxnSp>
            <p:nvCxnSpPr>
              <p:cNvPr id="17" name="Straight Connector 16"/>
              <p:cNvCxnSpPr>
                <a:stCxn id="5" idx="7"/>
                <a:endCxn id="4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44" idx="6"/>
                <a:endCxn id="48"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5" idx="4"/>
                <a:endCxn id="4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47" idx="3"/>
                <a:endCxn id="4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50" idx="2"/>
                <a:endCxn id="45"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47" idx="5"/>
                <a:endCxn id="50"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47" idx="7"/>
                <a:endCxn id="48"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50" idx="6"/>
                <a:endCxn id="51"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51" idx="1"/>
                <a:endCxn id="48"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54" idx="2"/>
                <a:endCxn id="48"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51" idx="0"/>
                <a:endCxn id="54"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53" idx="1"/>
                <a:endCxn id="54"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53" idx="3"/>
                <a:endCxn id="51"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4"/>
                <a:endCxn id="45"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Oval 43"/>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Oval 44"/>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7" name="Oval 4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8" name="Oval 4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0" name="Oval 4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51" name="Oval 50"/>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3" name="Oval 5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4" name="Oval 5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3" name="Straight Connector 2">
              <a:extLst>
                <a:ext uri="{FF2B5EF4-FFF2-40B4-BE49-F238E27FC236}">
                  <a16:creationId xmlns:a16="http://schemas.microsoft.com/office/drawing/2014/main" id="{05017AB7-164A-F3E8-2283-B6D8043EC3F1}"/>
                </a:ext>
              </a:extLst>
            </p:cNvPr>
            <p:cNvCxnSpPr>
              <a:cxnSpLocks/>
              <a:stCxn id="51" idx="7"/>
              <a:endCxn id="54"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F03C30C-4DA2-F5A0-18BB-7C9D45A12607}"/>
                </a:ext>
              </a:extLst>
            </p:cNvPr>
            <p:cNvCxnSpPr>
              <a:cxnSpLocks/>
              <a:stCxn id="50" idx="3"/>
              <a:endCxn id="4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5">
            <p14:nvContentPartPr>
              <p14:cNvPr id="12" name="Ink 11">
                <a:extLst>
                  <a:ext uri="{FF2B5EF4-FFF2-40B4-BE49-F238E27FC236}">
                    <a16:creationId xmlns:a16="http://schemas.microsoft.com/office/drawing/2014/main" id="{E41A3E48-2948-DBE5-5D76-C748A9EE2AFB}"/>
                  </a:ext>
                </a:extLst>
              </p14:cNvPr>
              <p14:cNvContentPartPr/>
              <p14:nvPr/>
            </p14:nvContentPartPr>
            <p14:xfrm>
              <a:off x="7758360" y="1347120"/>
              <a:ext cx="1782360" cy="1668960"/>
            </p14:xfrm>
          </p:contentPart>
        </mc:Choice>
        <mc:Fallback>
          <p:pic>
            <p:nvPicPr>
              <p:cNvPr id="12" name="Ink 11">
                <a:extLst>
                  <a:ext uri="{FF2B5EF4-FFF2-40B4-BE49-F238E27FC236}">
                    <a16:creationId xmlns:a16="http://schemas.microsoft.com/office/drawing/2014/main" id="{E41A3E48-2948-DBE5-5D76-C748A9EE2AFB}"/>
                  </a:ext>
                </a:extLst>
              </p:cNvPr>
              <p:cNvPicPr/>
              <p:nvPr/>
            </p:nvPicPr>
            <p:blipFill>
              <a:blip r:embed="rId6"/>
              <a:stretch>
                <a:fillRect/>
              </a:stretch>
            </p:blipFill>
            <p:spPr>
              <a:xfrm>
                <a:off x="7749000" y="1337760"/>
                <a:ext cx="1801080" cy="1687680"/>
              </a:xfrm>
              <a:prstGeom prst="rect">
                <a:avLst/>
              </a:prstGeom>
            </p:spPr>
          </p:pic>
        </mc:Fallback>
      </mc:AlternateContent>
    </p:spTree>
    <p:extLst>
      <p:ext uri="{BB962C8B-B14F-4D97-AF65-F5344CB8AC3E}">
        <p14:creationId xmlns:p14="http://schemas.microsoft.com/office/powerpoint/2010/main" val="1039874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Self-Edges and Duplicate Edges</a:t>
            </a:r>
          </a:p>
        </p:txBody>
      </p:sp>
      <p:sp>
        <p:nvSpPr>
          <p:cNvPr id="38" name="TextBox 37">
            <a:extLst>
              <a:ext uri="{FF2B5EF4-FFF2-40B4-BE49-F238E27FC236}">
                <a16:creationId xmlns:a16="http://schemas.microsoft.com/office/drawing/2014/main" id="{AC3F99A2-D314-6EC0-C057-BC351C4F1666}"/>
              </a:ext>
            </a:extLst>
          </p:cNvPr>
          <p:cNvSpPr txBox="1"/>
          <p:nvPr/>
        </p:nvSpPr>
        <p:spPr>
          <a:xfrm>
            <a:off x="3108113" y="1460924"/>
            <a:ext cx="10407197" cy="1015663"/>
          </a:xfrm>
          <a:prstGeom prst="rect">
            <a:avLst/>
          </a:prstGeom>
          <a:noFill/>
        </p:spPr>
        <p:txBody>
          <a:bodyPr wrap="square" rtlCol="0">
            <a:spAutoFit/>
          </a:bodyPr>
          <a:lstStyle/>
          <a:p>
            <a:r>
              <a:rPr lang="en-US" sz="2000" dirty="0"/>
              <a:t>Some graphs may have duplicate edges (e.g. here we have the edge (1,2) twice).</a:t>
            </a:r>
          </a:p>
          <a:p>
            <a:r>
              <a:rPr lang="en-US" sz="2000" dirty="0"/>
              <a:t>Some may also have self-edges/loops (e.g. here there is an edge from 1 to 1).</a:t>
            </a:r>
          </a:p>
          <a:p>
            <a:r>
              <a:rPr lang="en-US" sz="2000" dirty="0"/>
              <a:t>Graph with neither self-edges nor duplicate edges are called </a:t>
            </a:r>
            <a:r>
              <a:rPr lang="en-US" sz="2000" b="1" dirty="0">
                <a:solidFill>
                  <a:srgbClr val="FF00FF"/>
                </a:solidFill>
              </a:rPr>
              <a:t>simple graphs</a:t>
            </a:r>
          </a:p>
        </p:txBody>
      </p:sp>
      <p:grpSp>
        <p:nvGrpSpPr>
          <p:cNvPr id="7" name="Group 6" descr="An illustration of a directed non-simple graph.&#10;&#10;Nodes/vertices are represented as circles and edges (which connect pairs of vertices) are represented as arrows. In this case the edge from 7 to 6 appears twice (an example of a duplicate edge) and there is an edge from the node 1 to itself (and example of a self-edge/loop).">
            <a:extLst>
              <a:ext uri="{FF2B5EF4-FFF2-40B4-BE49-F238E27FC236}">
                <a16:creationId xmlns:a16="http://schemas.microsoft.com/office/drawing/2014/main" id="{A43EA064-996C-9FBA-BCFF-801E5CD83A91}"/>
              </a:ext>
            </a:extLst>
          </p:cNvPr>
          <p:cNvGrpSpPr/>
          <p:nvPr/>
        </p:nvGrpSpPr>
        <p:grpSpPr>
          <a:xfrm>
            <a:off x="1524000" y="2625729"/>
            <a:ext cx="7044346" cy="3888478"/>
            <a:chOff x="1524000" y="2625729"/>
            <a:chExt cx="7044346" cy="3888478"/>
          </a:xfrm>
        </p:grpSpPr>
        <p:grpSp>
          <p:nvGrpSpPr>
            <p:cNvPr id="11" name="Group 10">
              <a:extLst>
                <a:ext uri="{FF2B5EF4-FFF2-40B4-BE49-F238E27FC236}">
                  <a16:creationId xmlns:a16="http://schemas.microsoft.com/office/drawing/2014/main" id="{3D4F64E0-3961-CFDA-3271-06B48D4D0B4D}"/>
                </a:ext>
              </a:extLst>
            </p:cNvPr>
            <p:cNvGrpSpPr/>
            <p:nvPr/>
          </p:nvGrpSpPr>
          <p:grpSpPr>
            <a:xfrm>
              <a:off x="1524000" y="2625729"/>
              <a:ext cx="7044346" cy="3888478"/>
              <a:chOff x="1524000" y="2625729"/>
              <a:chExt cx="7044346" cy="3888478"/>
            </a:xfrm>
          </p:grpSpPr>
          <p:grpSp>
            <p:nvGrpSpPr>
              <p:cNvPr id="2070" name="Group 2069"/>
              <p:cNvGrpSpPr/>
              <p:nvPr/>
            </p:nvGrpSpPr>
            <p:grpSpPr>
              <a:xfrm>
                <a:off x="1524000" y="2625729"/>
                <a:ext cx="7044346" cy="3888478"/>
                <a:chOff x="0" y="3020093"/>
                <a:chExt cx="7044346" cy="3888478"/>
              </a:xfrm>
            </p:grpSpPr>
            <p:cxnSp>
              <p:nvCxnSpPr>
                <p:cNvPr id="17" name="Straight Connector 16"/>
                <p:cNvCxnSpPr>
                  <a:stCxn id="5" idx="7"/>
                  <a:endCxn id="44"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44" idx="6"/>
                  <a:endCxn id="48"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5" idx="4"/>
                  <a:endCxn id="45"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47" idx="3"/>
                  <a:endCxn id="45"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50" idx="2"/>
                  <a:endCxn id="45"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47" idx="5"/>
                  <a:endCxn id="50"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47" idx="7"/>
                  <a:endCxn id="48"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cxnSpLocks/>
                  <a:stCxn id="50" idx="6"/>
                  <a:endCxn id="51" idx="2"/>
                </p:cNvCxnSpPr>
                <p:nvPr/>
              </p:nvCxnSpPr>
              <p:spPr>
                <a:xfrm flipV="1">
                  <a:off x="3360148" y="6395303"/>
                  <a:ext cx="1641019" cy="256634"/>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51" idx="1"/>
                  <a:endCxn id="48"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54" idx="2"/>
                  <a:endCxn id="48"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51" idx="0"/>
                  <a:endCxn id="54"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53" idx="1"/>
                  <a:endCxn id="54"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53" idx="3"/>
                  <a:endCxn id="51"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4"/>
                  <a:endCxn id="45"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Oval 43"/>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Oval 44"/>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7" name="Oval 4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8" name="Oval 4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0" name="Oval 4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51" name="Oval 50"/>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3" name="Oval 5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4" name="Oval 5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3" name="Straight Connector 2">
                <a:extLst>
                  <a:ext uri="{FF2B5EF4-FFF2-40B4-BE49-F238E27FC236}">
                    <a16:creationId xmlns:a16="http://schemas.microsoft.com/office/drawing/2014/main" id="{05017AB7-164A-F3E8-2283-B6D8043EC3F1}"/>
                  </a:ext>
                </a:extLst>
              </p:cNvPr>
              <p:cNvCxnSpPr>
                <a:cxnSpLocks/>
                <a:stCxn id="51" idx="7"/>
                <a:endCxn id="54"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F03C30C-4DA2-F5A0-18BB-7C9D45A12607}"/>
                  </a:ext>
                </a:extLst>
              </p:cNvPr>
              <p:cNvCxnSpPr>
                <a:cxnSpLocks/>
                <a:stCxn id="50" idx="3"/>
                <a:endCxn id="45"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0D33CB24-50C7-D2CF-FAED-CF4F258497C8}"/>
                </a:ext>
              </a:extLst>
            </p:cNvPr>
            <p:cNvCxnSpPr>
              <a:cxnSpLocks/>
              <a:stCxn id="5" idx="6"/>
              <a:endCxn id="44" idx="3"/>
            </p:cNvCxnSpPr>
            <p:nvPr/>
          </p:nvCxnSpPr>
          <p:spPr>
            <a:xfrm flipV="1">
              <a:off x="2037268" y="3063831"/>
              <a:ext cx="1492916" cy="962604"/>
            </a:xfrm>
            <a:prstGeom prst="line">
              <a:avLst/>
            </a:prstGeom>
            <a:ln w="57150">
              <a:solidFill>
                <a:srgbClr val="FFC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6B0E6A-605D-5996-9043-170D7CC5F07A}"/>
                </a:ext>
              </a:extLst>
            </p:cNvPr>
            <p:cNvCxnSpPr>
              <a:cxnSpLocks/>
              <a:stCxn id="51" idx="3"/>
              <a:endCxn id="50" idx="5"/>
            </p:cNvCxnSpPr>
            <p:nvPr/>
          </p:nvCxnSpPr>
          <p:spPr>
            <a:xfrm flipH="1">
              <a:off x="4808982" y="6182407"/>
              <a:ext cx="1791351" cy="256634"/>
            </a:xfrm>
            <a:prstGeom prst="line">
              <a:avLst/>
            </a:prstGeom>
            <a:ln w="57150">
              <a:solidFill>
                <a:srgbClr val="FFC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9B9F7E4-6D03-3262-1E65-A6910025C7EF}"/>
                </a:ext>
              </a:extLst>
            </p:cNvPr>
            <p:cNvCxnSpPr>
              <a:cxnSpLocks/>
              <a:stCxn id="5" idx="0"/>
              <a:endCxn id="5" idx="2"/>
            </p:cNvCxnSpPr>
            <p:nvPr/>
          </p:nvCxnSpPr>
          <p:spPr>
            <a:xfrm rot="16200000" flipH="1" flipV="1">
              <a:off x="1524000" y="3769801"/>
              <a:ext cx="256634" cy="256634"/>
            </a:xfrm>
            <a:prstGeom prst="curvedConnector4">
              <a:avLst>
                <a:gd name="adj1" fmla="val -135735"/>
                <a:gd name="adj2" fmla="val 235735"/>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15B3BD7D-4690-9EDA-BF5A-DBC07F09F285}"/>
                  </a:ext>
                </a:extLst>
              </p14:cNvPr>
              <p14:cNvContentPartPr/>
              <p14:nvPr/>
            </p14:nvContentPartPr>
            <p14:xfrm>
              <a:off x="823320" y="1760400"/>
              <a:ext cx="6243840" cy="2373120"/>
            </p14:xfrm>
          </p:contentPart>
        </mc:Choice>
        <mc:Fallback>
          <p:pic>
            <p:nvPicPr>
              <p:cNvPr id="9" name="Ink 8">
                <a:extLst>
                  <a:ext uri="{FF2B5EF4-FFF2-40B4-BE49-F238E27FC236}">
                    <a16:creationId xmlns:a16="http://schemas.microsoft.com/office/drawing/2014/main" id="{15B3BD7D-4690-9EDA-BF5A-DBC07F09F285}"/>
                  </a:ext>
                </a:extLst>
              </p:cNvPr>
              <p:cNvPicPr/>
              <p:nvPr/>
            </p:nvPicPr>
            <p:blipFill>
              <a:blip r:embed="rId3"/>
              <a:stretch>
                <a:fillRect/>
              </a:stretch>
            </p:blipFill>
            <p:spPr>
              <a:xfrm>
                <a:off x="813960" y="1751040"/>
                <a:ext cx="6262560" cy="2391840"/>
              </a:xfrm>
              <a:prstGeom prst="rect">
                <a:avLst/>
              </a:prstGeom>
            </p:spPr>
          </p:pic>
        </mc:Fallback>
      </mc:AlternateContent>
    </p:spTree>
    <p:extLst>
      <p:ext uri="{BB962C8B-B14F-4D97-AF65-F5344CB8AC3E}">
        <p14:creationId xmlns:p14="http://schemas.microsoft.com/office/powerpoint/2010/main" val="3538788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Weighted Graphs</a:t>
            </a:r>
          </a:p>
        </p:txBody>
      </p:sp>
      <p:grpSp>
        <p:nvGrpSpPr>
          <p:cNvPr id="3" name="Group 2" descr="A graph is defined as a pair of two sets. One set is called V and it contains all vertices/nodes in the graph. The other is called E which contains pairs of vertices to indicate that those two vertices are connected together. In a weighted graph these connections have an associated cost that we call a weight.">
            <a:extLst>
              <a:ext uri="{FF2B5EF4-FFF2-40B4-BE49-F238E27FC236}">
                <a16:creationId xmlns:a16="http://schemas.microsoft.com/office/drawing/2014/main" id="{485F44A6-7ADA-6D74-721C-2A358944FE10}"/>
              </a:ext>
            </a:extLst>
          </p:cNvPr>
          <p:cNvGrpSpPr/>
          <p:nvPr/>
        </p:nvGrpSpPr>
        <p:grpSpPr>
          <a:xfrm>
            <a:off x="3976310" y="1058920"/>
            <a:ext cx="4922324" cy="1250591"/>
            <a:chOff x="3976310" y="1058920"/>
            <a:chExt cx="4922324" cy="1250591"/>
          </a:xfrm>
        </p:grpSpPr>
        <mc:AlternateContent xmlns:mc="http://schemas.openxmlformats.org/markup-compatibility/2006">
          <mc:Choice xmlns:a14="http://schemas.microsoft.com/office/drawing/2010/main" Requires="a14">
            <p:sp>
              <p:nvSpPr>
                <p:cNvPr id="2067" name="TextBox 2066"/>
                <p:cNvSpPr txBox="1"/>
                <p:nvPr/>
              </p:nvSpPr>
              <p:spPr>
                <a:xfrm>
                  <a:off x="3976310" y="1295402"/>
                  <a:ext cx="4802981" cy="707886"/>
                </a:xfrm>
                <a:prstGeom prst="rect">
                  <a:avLst/>
                </a:prstGeom>
                <a:noFill/>
              </p:spPr>
              <p:txBody>
                <a:bodyPr wrap="none" rtlCol="0">
                  <a:spAutoFit/>
                </a:bodyPr>
                <a:lstStyle/>
                <a:p>
                  <a:r>
                    <a:rPr lang="en-US" sz="4000" dirty="0"/>
                    <a:t>Definition: </a:t>
                  </a:r>
                  <a14:m>
                    <m:oMath xmlns:m="http://schemas.openxmlformats.org/officeDocument/2006/math">
                      <m:r>
                        <a:rPr lang="en-US" sz="4000" i="1">
                          <a:latin typeface="Cambria Math"/>
                        </a:rPr>
                        <m:t>𝐺</m:t>
                      </m:r>
                      <m:r>
                        <a:rPr lang="en-US" sz="4000" i="1">
                          <a:latin typeface="Cambria Math"/>
                        </a:rPr>
                        <m:t>=(</m:t>
                      </m:r>
                      <m:r>
                        <a:rPr lang="en-US" sz="4000" i="1">
                          <a:solidFill>
                            <a:srgbClr val="0070C0"/>
                          </a:solidFill>
                          <a:latin typeface="Cambria Math"/>
                        </a:rPr>
                        <m:t>𝑉</m:t>
                      </m:r>
                      <m:r>
                        <a:rPr lang="en-US" sz="4000" i="1">
                          <a:latin typeface="Cambria Math"/>
                        </a:rPr>
                        <m:t>,</m:t>
                      </m:r>
                      <m:r>
                        <a:rPr lang="en-US" sz="4000" i="1">
                          <a:solidFill>
                            <a:srgbClr val="FF0000"/>
                          </a:solidFill>
                          <a:latin typeface="Cambria Math"/>
                        </a:rPr>
                        <m:t>𝐸</m:t>
                      </m:r>
                      <m:r>
                        <a:rPr lang="en-US" sz="4000" i="1">
                          <a:latin typeface="Cambria Math"/>
                        </a:rPr>
                        <m:t>)</m:t>
                      </m:r>
                    </m:oMath>
                  </a14:m>
                  <a:endParaRPr lang="en-US" sz="4000" dirty="0"/>
                </a:p>
              </p:txBody>
            </p:sp>
          </mc:Choice>
          <mc:Fallback>
            <p:sp>
              <p:nvSpPr>
                <p:cNvPr id="2067" name="TextBox 2066"/>
                <p:cNvSpPr txBox="1">
                  <a:spLocks noRot="1" noChangeAspect="1" noMove="1" noResize="1" noEditPoints="1" noAdjustHandles="1" noChangeArrowheads="1" noChangeShapeType="1" noTextEdit="1"/>
                </p:cNvSpPr>
                <p:nvPr/>
              </p:nvSpPr>
              <p:spPr>
                <a:xfrm>
                  <a:off x="3976310" y="1295402"/>
                  <a:ext cx="4802981" cy="707886"/>
                </a:xfrm>
                <a:prstGeom prst="rect">
                  <a:avLst/>
                </a:prstGeom>
                <a:blipFill>
                  <a:blip r:embed="rId2"/>
                  <a:stretch>
                    <a:fillRect l="-4442" t="-15517" b="-35345"/>
                  </a:stretch>
                </a:blipFill>
              </p:spPr>
              <p:txBody>
                <a:bodyPr/>
                <a:lstStyle/>
                <a:p>
                  <a:r>
                    <a:rPr lang="en-US">
                      <a:noFill/>
                    </a:rPr>
                    <a:t> </a:t>
                  </a:r>
                </a:p>
              </p:txBody>
            </p:sp>
          </mc:Fallback>
        </mc:AlternateContent>
        <p:sp>
          <p:nvSpPr>
            <p:cNvPr id="2068" name="TextBox 2067"/>
            <p:cNvSpPr txBox="1"/>
            <p:nvPr/>
          </p:nvSpPr>
          <p:spPr>
            <a:xfrm>
              <a:off x="6639846" y="1058920"/>
              <a:ext cx="2097754" cy="461665"/>
            </a:xfrm>
            <a:prstGeom prst="rect">
              <a:avLst/>
            </a:prstGeom>
            <a:noFill/>
          </p:spPr>
          <p:txBody>
            <a:bodyPr wrap="none" rtlCol="0">
              <a:spAutoFit/>
            </a:bodyPr>
            <a:lstStyle/>
            <a:p>
              <a:r>
                <a:rPr lang="en-US" sz="2400" dirty="0">
                  <a:solidFill>
                    <a:srgbClr val="0070C0"/>
                  </a:solidFill>
                </a:rPr>
                <a:t>Vertices/Nodes</a:t>
              </a:r>
            </a:p>
          </p:txBody>
        </p:sp>
        <p:sp>
          <p:nvSpPr>
            <p:cNvPr id="90" name="TextBox 89"/>
            <p:cNvSpPr txBox="1"/>
            <p:nvPr/>
          </p:nvSpPr>
          <p:spPr>
            <a:xfrm>
              <a:off x="7990052" y="1847846"/>
              <a:ext cx="908582" cy="461665"/>
            </a:xfrm>
            <a:prstGeom prst="rect">
              <a:avLst/>
            </a:prstGeom>
            <a:noFill/>
          </p:spPr>
          <p:txBody>
            <a:bodyPr wrap="none" rtlCol="0">
              <a:spAutoFit/>
            </a:bodyPr>
            <a:lstStyle/>
            <a:p>
              <a:r>
                <a:rPr lang="en-US" sz="2400" dirty="0">
                  <a:solidFill>
                    <a:srgbClr val="FF0000"/>
                  </a:solidFill>
                </a:rPr>
                <a:t>Edges</a:t>
              </a:r>
            </a:p>
          </p:txBody>
        </p:sp>
      </p:grpSp>
      <mc:AlternateContent xmlns:mc="http://schemas.openxmlformats.org/markup-compatibility/2006" xmlns:a14="http://schemas.microsoft.com/office/drawing/2010/main">
        <mc:Choice Requires="a14">
          <p:sp>
            <p:nvSpPr>
              <p:cNvPr id="91" name="TextBox 90"/>
              <p:cNvSpPr txBox="1"/>
              <p:nvPr/>
            </p:nvSpPr>
            <p:spPr>
              <a:xfrm>
                <a:off x="2496650" y="1981200"/>
                <a:ext cx="5047151" cy="707886"/>
              </a:xfrm>
              <a:prstGeom prst="rect">
                <a:avLst/>
              </a:prstGeom>
              <a:noFill/>
            </p:spPr>
            <p:txBody>
              <a:bodyPr wrap="none" rtlCol="0">
                <a:spAutoFit/>
              </a:bodyPr>
              <a:lstStyle/>
              <a:p>
                <a14:m>
                  <m:oMath xmlns:m="http://schemas.openxmlformats.org/officeDocument/2006/math">
                    <m:r>
                      <a:rPr lang="en-US" sz="3200" i="1">
                        <a:solidFill>
                          <a:srgbClr val="00B050"/>
                        </a:solidFill>
                        <a:latin typeface="Cambria Math"/>
                      </a:rPr>
                      <m:t>𝑤</m:t>
                    </m:r>
                    <m:d>
                      <m:dPr>
                        <m:ctrlPr>
                          <a:rPr lang="en-US" sz="3200" i="1">
                            <a:latin typeface="Cambria Math" panose="02040503050406030204" pitchFamily="18" charset="0"/>
                          </a:rPr>
                        </m:ctrlPr>
                      </m:dPr>
                      <m:e>
                        <m:r>
                          <a:rPr lang="en-US" sz="3200" i="1">
                            <a:solidFill>
                              <a:srgbClr val="FF0000"/>
                            </a:solidFill>
                            <a:latin typeface="Cambria Math"/>
                          </a:rPr>
                          <m:t>𝑒</m:t>
                        </m:r>
                      </m:e>
                    </m:d>
                    <m:r>
                      <a:rPr lang="en-US" sz="3200" i="1">
                        <a:latin typeface="Cambria Math"/>
                      </a:rPr>
                      <m:t>=</m:t>
                    </m:r>
                  </m:oMath>
                </a14:m>
                <a:r>
                  <a:rPr lang="en-US" sz="4000" dirty="0"/>
                  <a:t> </a:t>
                </a:r>
                <a:r>
                  <a:rPr lang="en-US" sz="4000" dirty="0">
                    <a:solidFill>
                      <a:srgbClr val="00B050"/>
                    </a:solidFill>
                  </a:rPr>
                  <a:t>weight</a:t>
                </a:r>
                <a:r>
                  <a:rPr lang="en-US" sz="4000" dirty="0"/>
                  <a:t> of </a:t>
                </a:r>
                <a:r>
                  <a:rPr lang="en-US" sz="4000" dirty="0">
                    <a:solidFill>
                      <a:srgbClr val="FF0000"/>
                    </a:solidFill>
                  </a:rPr>
                  <a:t>edge </a:t>
                </a:r>
                <a14:m>
                  <m:oMath xmlns:m="http://schemas.openxmlformats.org/officeDocument/2006/math">
                    <m:r>
                      <a:rPr lang="en-US" sz="4000" i="1" dirty="0">
                        <a:solidFill>
                          <a:srgbClr val="FF0000"/>
                        </a:solidFill>
                        <a:latin typeface="Cambria Math"/>
                      </a:rPr>
                      <m:t>𝑒</m:t>
                    </m:r>
                  </m:oMath>
                </a14:m>
                <a:endParaRPr lang="en-US" sz="4000" dirty="0">
                  <a:solidFill>
                    <a:srgbClr val="FF0000"/>
                  </a:solidFill>
                </a:endParaRPr>
              </a:p>
            </p:txBody>
          </p:sp>
        </mc:Choice>
        <mc:Fallback xmlns="">
          <p:sp>
            <p:nvSpPr>
              <p:cNvPr id="91" name="TextBox 90"/>
              <p:cNvSpPr txBox="1">
                <a:spLocks noRot="1" noChangeAspect="1" noMove="1" noResize="1" noEditPoints="1" noAdjustHandles="1" noChangeArrowheads="1" noChangeShapeType="1" noTextEdit="1"/>
              </p:cNvSpPr>
              <p:nvPr/>
            </p:nvSpPr>
            <p:spPr>
              <a:xfrm>
                <a:off x="2496650" y="1981200"/>
                <a:ext cx="5047151" cy="707886"/>
              </a:xfrm>
              <a:prstGeom prst="rect">
                <a:avLst/>
              </a:prstGeom>
              <a:blipFill>
                <a:blip r:embed="rId3"/>
                <a:stretch>
                  <a:fillRect l="-251" t="-14286" b="-3571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69" name="TextBox 2068"/>
              <p:cNvSpPr txBox="1"/>
              <p:nvPr/>
            </p:nvSpPr>
            <p:spPr>
              <a:xfrm>
                <a:off x="9078554" y="1864250"/>
                <a:ext cx="265162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70C0"/>
                          </a:solidFill>
                          <a:latin typeface="Cambria Math"/>
                        </a:rPr>
                        <m:t>𝑉</m:t>
                      </m:r>
                      <m:r>
                        <a:rPr lang="en-US" sz="2000" i="1" smtClean="0">
                          <a:solidFill>
                            <a:srgbClr val="0070C0"/>
                          </a:solidFill>
                          <a:latin typeface="Cambria Math"/>
                        </a:rPr>
                        <m:t>={1,2,3,4,5,6,7,8,9}</m:t>
                      </m:r>
                    </m:oMath>
                  </m:oMathPara>
                </a14:m>
                <a:endParaRPr lang="en-US" sz="2000" dirty="0">
                  <a:solidFill>
                    <a:srgbClr val="0070C0"/>
                  </a:solidFill>
                </a:endParaRPr>
              </a:p>
            </p:txBody>
          </p:sp>
        </mc:Choice>
        <mc:Fallback>
          <p:sp>
            <p:nvSpPr>
              <p:cNvPr id="2069" name="TextBox 2068"/>
              <p:cNvSpPr txBox="1">
                <a:spLocks noRot="1" noChangeAspect="1" noMove="1" noResize="1" noEditPoints="1" noAdjustHandles="1" noChangeArrowheads="1" noChangeShapeType="1" noTextEdit="1"/>
              </p:cNvSpPr>
              <p:nvPr/>
            </p:nvSpPr>
            <p:spPr>
              <a:xfrm>
                <a:off x="9078554" y="1864250"/>
                <a:ext cx="2651623" cy="400110"/>
              </a:xfrm>
              <a:prstGeom prst="rect">
                <a:avLst/>
              </a:prstGeom>
              <a:blipFill>
                <a:blip r:embed="rId4"/>
                <a:stretch>
                  <a:fillRect b="-153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3" name="TextBox 92"/>
              <p:cNvSpPr txBox="1"/>
              <p:nvPr/>
            </p:nvSpPr>
            <p:spPr>
              <a:xfrm>
                <a:off x="9071530" y="2288976"/>
                <a:ext cx="31204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FF0000"/>
                          </a:solidFill>
                          <a:latin typeface="Cambria Math"/>
                        </a:rPr>
                        <m:t>𝐸</m:t>
                      </m:r>
                      <m:r>
                        <a:rPr lang="en-US" sz="2000" i="1" smtClean="0">
                          <a:solidFill>
                            <a:srgbClr val="FF0000"/>
                          </a:solidFill>
                          <a:latin typeface="Cambria Math"/>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1,2</m:t>
                          </m:r>
                        </m:e>
                      </m:d>
                      <m:r>
                        <a:rPr lang="en-US" sz="2000" b="0" i="1" smtClean="0">
                          <a:solidFill>
                            <a:srgbClr val="FF0000"/>
                          </a:solidFill>
                          <a:latin typeface="Cambria Math" panose="02040503050406030204" pitchFamily="18" charset="0"/>
                        </a:rPr>
                        <m:t>,</m:t>
                      </m:r>
                      <m:d>
                        <m:dPr>
                          <m:ctrlPr>
                            <a:rPr lang="en-US" sz="2000" b="0" i="1" smtClean="0">
                              <a:solidFill>
                                <a:srgbClr val="FF0000"/>
                              </a:solidFill>
                              <a:latin typeface="Cambria Math" panose="02040503050406030204" pitchFamily="18" charset="0"/>
                            </a:rPr>
                          </m:ctrlPr>
                        </m:dPr>
                        <m:e>
                          <m:r>
                            <a:rPr lang="en-US" sz="2000" b="0" i="1" smtClean="0">
                              <a:solidFill>
                                <a:srgbClr val="FF0000"/>
                              </a:solidFill>
                              <a:latin typeface="Cambria Math" panose="02040503050406030204" pitchFamily="18" charset="0"/>
                            </a:rPr>
                            <m:t>2,3</m:t>
                          </m:r>
                        </m:e>
                      </m:d>
                      <m:r>
                        <a:rPr lang="en-US" sz="2000" b="0" i="1" smtClean="0">
                          <a:solidFill>
                            <a:srgbClr val="FF0000"/>
                          </a:solidFill>
                          <a:latin typeface="Cambria Math" panose="02040503050406030204" pitchFamily="18" charset="0"/>
                        </a:rPr>
                        <m:t>,(1,3)</m:t>
                      </m:r>
                      <m:r>
                        <a:rPr lang="en-US" sz="2000" i="1">
                          <a:solidFill>
                            <a:srgbClr val="FF0000"/>
                          </a:solidFill>
                          <a:latin typeface="Cambria Math"/>
                        </a:rPr>
                        <m:t>,…}</m:t>
                      </m:r>
                    </m:oMath>
                  </m:oMathPara>
                </a14:m>
                <a:endParaRPr lang="en-US" sz="2000" dirty="0">
                  <a:solidFill>
                    <a:srgbClr val="FF0000"/>
                  </a:solidFill>
                </a:endParaRPr>
              </a:p>
            </p:txBody>
          </p:sp>
        </mc:Choice>
        <mc:Fallback>
          <p:sp>
            <p:nvSpPr>
              <p:cNvPr id="93" name="TextBox 92"/>
              <p:cNvSpPr txBox="1">
                <a:spLocks noRot="1" noChangeAspect="1" noMove="1" noResize="1" noEditPoints="1" noAdjustHandles="1" noChangeArrowheads="1" noChangeShapeType="1" noTextEdit="1"/>
              </p:cNvSpPr>
              <p:nvPr/>
            </p:nvSpPr>
            <p:spPr>
              <a:xfrm>
                <a:off x="9071530" y="2288976"/>
                <a:ext cx="3120470" cy="400110"/>
              </a:xfrm>
              <a:prstGeom prst="rect">
                <a:avLst/>
              </a:prstGeom>
              <a:blipFill>
                <a:blip r:embed="rId5"/>
                <a:stretch>
                  <a:fillRect b="-15152"/>
                </a:stretch>
              </a:blipFill>
            </p:spPr>
            <p:txBody>
              <a:bodyPr/>
              <a:lstStyle/>
              <a:p>
                <a:r>
                  <a:rPr lang="en-US">
                    <a:noFill/>
                  </a:rPr>
                  <a:t> </a:t>
                </a:r>
              </a:p>
            </p:txBody>
          </p:sp>
        </mc:Fallback>
      </mc:AlternateContent>
      <p:grpSp>
        <p:nvGrpSpPr>
          <p:cNvPr id="2070" name="Group 2069" descr="An illustration of a weighted undirected graph.&#10;&#10;Nodes/vertices are represented as circles and edges (which connect pairs of vertices) are represented as lines. Because this is a weighted graph, each edge is labelled with a number of indicate its weight."/>
          <p:cNvGrpSpPr/>
          <p:nvPr/>
        </p:nvGrpSpPr>
        <p:grpSpPr>
          <a:xfrm>
            <a:off x="1524000" y="2743200"/>
            <a:ext cx="7044346" cy="4072018"/>
            <a:chOff x="0" y="2862182"/>
            <a:chExt cx="7044346" cy="4072018"/>
          </a:xfrm>
        </p:grpSpPr>
        <p:cxnSp>
          <p:nvCxnSpPr>
            <p:cNvPr id="17" name="Straight Connector 16"/>
            <p:cNvCxnSpPr>
              <a:stCxn id="5" idx="7"/>
              <a:endCxn id="44"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44" idx="6"/>
              <a:endCxn id="48"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5" idx="4"/>
              <a:endCxn id="45"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47" idx="3"/>
              <a:endCxn id="45"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50" idx="2"/>
              <a:endCxn id="45"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47" idx="5"/>
              <a:endCxn id="5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47" idx="7"/>
              <a:endCxn id="4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50" idx="6"/>
              <a:endCxn id="51"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51" idx="1"/>
              <a:endCxn id="48"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54" idx="2"/>
              <a:endCxn id="48"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51" idx="0"/>
              <a:endCxn id="5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53" idx="1"/>
              <a:endCxn id="54"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53" idx="3"/>
              <a:endCxn id="51"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2057" name="TextBox 2056"/>
            <p:cNvSpPr txBox="1"/>
            <p:nvPr/>
          </p:nvSpPr>
          <p:spPr>
            <a:xfrm>
              <a:off x="886366" y="3331447"/>
              <a:ext cx="418704" cy="369332"/>
            </a:xfrm>
            <a:prstGeom prst="rect">
              <a:avLst/>
            </a:prstGeom>
            <a:noFill/>
          </p:spPr>
          <p:txBody>
            <a:bodyPr wrap="none" rtlCol="0">
              <a:spAutoFit/>
            </a:bodyPr>
            <a:lstStyle/>
            <a:p>
              <a:r>
                <a:rPr lang="en-US" dirty="0">
                  <a:solidFill>
                    <a:srgbClr val="00B050"/>
                  </a:solidFill>
                </a:rPr>
                <a:t>10</a:t>
              </a:r>
            </a:p>
          </p:txBody>
        </p:sp>
        <p:sp>
          <p:nvSpPr>
            <p:cNvPr id="57" name="TextBox 56"/>
            <p:cNvSpPr txBox="1"/>
            <p:nvPr/>
          </p:nvSpPr>
          <p:spPr>
            <a:xfrm>
              <a:off x="6095562" y="4099030"/>
              <a:ext cx="301686" cy="369332"/>
            </a:xfrm>
            <a:prstGeom prst="rect">
              <a:avLst/>
            </a:prstGeom>
            <a:noFill/>
          </p:spPr>
          <p:txBody>
            <a:bodyPr wrap="none" rtlCol="0">
              <a:spAutoFit/>
            </a:bodyPr>
            <a:lstStyle/>
            <a:p>
              <a:r>
                <a:rPr lang="en-US" dirty="0">
                  <a:solidFill>
                    <a:srgbClr val="00B050"/>
                  </a:solidFill>
                </a:rPr>
                <a:t>2</a:t>
              </a:r>
            </a:p>
          </p:txBody>
        </p:sp>
        <p:sp>
          <p:nvSpPr>
            <p:cNvPr id="58" name="TextBox 57"/>
            <p:cNvSpPr txBox="1"/>
            <p:nvPr/>
          </p:nvSpPr>
          <p:spPr>
            <a:xfrm>
              <a:off x="3895875" y="6564868"/>
              <a:ext cx="301686" cy="369332"/>
            </a:xfrm>
            <a:prstGeom prst="rect">
              <a:avLst/>
            </a:prstGeom>
            <a:noFill/>
          </p:spPr>
          <p:txBody>
            <a:bodyPr wrap="none" rtlCol="0">
              <a:spAutoFit/>
            </a:bodyPr>
            <a:lstStyle/>
            <a:p>
              <a:r>
                <a:rPr lang="en-US" dirty="0">
                  <a:solidFill>
                    <a:srgbClr val="00B050"/>
                  </a:solidFill>
                </a:rPr>
                <a:t>6</a:t>
              </a:r>
            </a:p>
          </p:txBody>
        </p:sp>
        <p:sp>
          <p:nvSpPr>
            <p:cNvPr id="59" name="TextBox 58"/>
            <p:cNvSpPr txBox="1"/>
            <p:nvPr/>
          </p:nvSpPr>
          <p:spPr>
            <a:xfrm>
              <a:off x="6047348" y="5905158"/>
              <a:ext cx="418704" cy="369332"/>
            </a:xfrm>
            <a:prstGeom prst="rect">
              <a:avLst/>
            </a:prstGeom>
            <a:noFill/>
          </p:spPr>
          <p:txBody>
            <a:bodyPr wrap="none" rtlCol="0">
              <a:spAutoFit/>
            </a:bodyPr>
            <a:lstStyle/>
            <a:p>
              <a:r>
                <a:rPr lang="en-US" dirty="0">
                  <a:solidFill>
                    <a:srgbClr val="00B050"/>
                  </a:solidFill>
                </a:rPr>
                <a:t>11</a:t>
              </a:r>
            </a:p>
          </p:txBody>
        </p:sp>
        <p:sp>
          <p:nvSpPr>
            <p:cNvPr id="60" name="TextBox 59"/>
            <p:cNvSpPr txBox="1"/>
            <p:nvPr/>
          </p:nvSpPr>
          <p:spPr>
            <a:xfrm>
              <a:off x="5004912" y="4717243"/>
              <a:ext cx="301686" cy="369332"/>
            </a:xfrm>
            <a:prstGeom prst="rect">
              <a:avLst/>
            </a:prstGeom>
            <a:noFill/>
          </p:spPr>
          <p:txBody>
            <a:bodyPr wrap="none" rtlCol="0">
              <a:spAutoFit/>
            </a:bodyPr>
            <a:lstStyle/>
            <a:p>
              <a:r>
                <a:rPr lang="en-US" dirty="0">
                  <a:solidFill>
                    <a:srgbClr val="00B050"/>
                  </a:solidFill>
                </a:rPr>
                <a:t>9</a:t>
              </a:r>
            </a:p>
          </p:txBody>
        </p:sp>
        <p:sp>
          <p:nvSpPr>
            <p:cNvPr id="61" name="TextBox 60"/>
            <p:cNvSpPr txBox="1"/>
            <p:nvPr/>
          </p:nvSpPr>
          <p:spPr>
            <a:xfrm>
              <a:off x="4119679" y="4462779"/>
              <a:ext cx="301686" cy="369332"/>
            </a:xfrm>
            <a:prstGeom prst="rect">
              <a:avLst/>
            </a:prstGeom>
            <a:noFill/>
          </p:spPr>
          <p:txBody>
            <a:bodyPr wrap="none" rtlCol="0">
              <a:spAutoFit/>
            </a:bodyPr>
            <a:lstStyle/>
            <a:p>
              <a:r>
                <a:rPr lang="en-US" dirty="0">
                  <a:solidFill>
                    <a:srgbClr val="00B050"/>
                  </a:solidFill>
                </a:rPr>
                <a:t>5</a:t>
              </a:r>
            </a:p>
          </p:txBody>
        </p:sp>
        <p:sp>
          <p:nvSpPr>
            <p:cNvPr id="62" name="TextBox 61"/>
            <p:cNvSpPr txBox="1"/>
            <p:nvPr/>
          </p:nvSpPr>
          <p:spPr>
            <a:xfrm>
              <a:off x="4582463" y="3299181"/>
              <a:ext cx="301686" cy="369332"/>
            </a:xfrm>
            <a:prstGeom prst="rect">
              <a:avLst/>
            </a:prstGeom>
            <a:noFill/>
          </p:spPr>
          <p:txBody>
            <a:bodyPr wrap="none" rtlCol="0">
              <a:spAutoFit/>
            </a:bodyPr>
            <a:lstStyle/>
            <a:p>
              <a:r>
                <a:rPr lang="en-US" dirty="0">
                  <a:solidFill>
                    <a:srgbClr val="00B050"/>
                  </a:solidFill>
                </a:rPr>
                <a:t>8</a:t>
              </a:r>
            </a:p>
          </p:txBody>
        </p:sp>
        <p:sp>
          <p:nvSpPr>
            <p:cNvPr id="63" name="TextBox 62"/>
            <p:cNvSpPr txBox="1"/>
            <p:nvPr/>
          </p:nvSpPr>
          <p:spPr>
            <a:xfrm>
              <a:off x="3058462" y="5546337"/>
              <a:ext cx="301686" cy="369332"/>
            </a:xfrm>
            <a:prstGeom prst="rect">
              <a:avLst/>
            </a:prstGeom>
            <a:noFill/>
          </p:spPr>
          <p:txBody>
            <a:bodyPr wrap="none" rtlCol="0">
              <a:spAutoFit/>
            </a:bodyPr>
            <a:lstStyle/>
            <a:p>
              <a:r>
                <a:rPr lang="en-US" dirty="0">
                  <a:solidFill>
                    <a:srgbClr val="00B050"/>
                  </a:solidFill>
                </a:rPr>
                <a:t>3</a:t>
              </a:r>
            </a:p>
          </p:txBody>
        </p:sp>
        <p:sp>
          <p:nvSpPr>
            <p:cNvPr id="64" name="TextBox 63"/>
            <p:cNvSpPr txBox="1"/>
            <p:nvPr/>
          </p:nvSpPr>
          <p:spPr>
            <a:xfrm>
              <a:off x="3064048" y="3853179"/>
              <a:ext cx="301686" cy="369332"/>
            </a:xfrm>
            <a:prstGeom prst="rect">
              <a:avLst/>
            </a:prstGeom>
            <a:noFill/>
          </p:spPr>
          <p:txBody>
            <a:bodyPr wrap="none" rtlCol="0">
              <a:spAutoFit/>
            </a:bodyPr>
            <a:lstStyle/>
            <a:p>
              <a:r>
                <a:rPr lang="en-US" dirty="0">
                  <a:solidFill>
                    <a:srgbClr val="00B050"/>
                  </a:solidFill>
                </a:rPr>
                <a:t>7</a:t>
              </a:r>
            </a:p>
          </p:txBody>
        </p:sp>
        <p:sp>
          <p:nvSpPr>
            <p:cNvPr id="65" name="TextBox 64"/>
            <p:cNvSpPr txBox="1"/>
            <p:nvPr/>
          </p:nvSpPr>
          <p:spPr>
            <a:xfrm>
              <a:off x="2051034" y="5224258"/>
              <a:ext cx="301686" cy="369332"/>
            </a:xfrm>
            <a:prstGeom prst="rect">
              <a:avLst/>
            </a:prstGeom>
            <a:noFill/>
          </p:spPr>
          <p:txBody>
            <a:bodyPr wrap="none" rtlCol="0">
              <a:spAutoFit/>
            </a:bodyPr>
            <a:lstStyle/>
            <a:p>
              <a:r>
                <a:rPr lang="en-US" dirty="0">
                  <a:solidFill>
                    <a:srgbClr val="00B050"/>
                  </a:solidFill>
                </a:rPr>
                <a:t>3</a:t>
              </a:r>
            </a:p>
          </p:txBody>
        </p:sp>
        <p:sp>
          <p:nvSpPr>
            <p:cNvPr id="66" name="TextBox 65"/>
            <p:cNvSpPr txBox="1"/>
            <p:nvPr/>
          </p:nvSpPr>
          <p:spPr>
            <a:xfrm>
              <a:off x="1885966" y="6404395"/>
              <a:ext cx="301686" cy="369332"/>
            </a:xfrm>
            <a:prstGeom prst="rect">
              <a:avLst/>
            </a:prstGeom>
            <a:noFill/>
          </p:spPr>
          <p:txBody>
            <a:bodyPr wrap="none" rtlCol="0">
              <a:spAutoFit/>
            </a:bodyPr>
            <a:lstStyle/>
            <a:p>
              <a:r>
                <a:rPr lang="en-US" dirty="0">
                  <a:solidFill>
                    <a:srgbClr val="00B050"/>
                  </a:solidFill>
                </a:rPr>
                <a:t>1</a:t>
              </a:r>
            </a:p>
          </p:txBody>
        </p:sp>
        <p:sp>
          <p:nvSpPr>
            <p:cNvPr id="67" name="TextBox 66"/>
            <p:cNvSpPr txBox="1"/>
            <p:nvPr/>
          </p:nvSpPr>
          <p:spPr>
            <a:xfrm>
              <a:off x="2830979" y="2862182"/>
              <a:ext cx="301686" cy="369332"/>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256634" y="5096525"/>
              <a:ext cx="418704" cy="369332"/>
            </a:xfrm>
            <a:prstGeom prst="rect">
              <a:avLst/>
            </a:prstGeom>
            <a:noFill/>
          </p:spPr>
          <p:txBody>
            <a:bodyPr wrap="none" rtlCol="0">
              <a:spAutoFit/>
            </a:bodyPr>
            <a:lstStyle/>
            <a:p>
              <a:r>
                <a:rPr lang="en-US" dirty="0">
                  <a:solidFill>
                    <a:srgbClr val="00B050"/>
                  </a:solidFill>
                </a:rPr>
                <a:t>12</a:t>
              </a:r>
            </a:p>
          </p:txBody>
        </p:sp>
        <p:cxnSp>
          <p:nvCxnSpPr>
            <p:cNvPr id="69" name="Straight Connector 68"/>
            <p:cNvCxnSpPr>
              <a:stCxn id="44" idx="4"/>
              <a:endCxn id="45"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1414258" y="4262424"/>
              <a:ext cx="301686" cy="369332"/>
            </a:xfrm>
            <a:prstGeom prst="rect">
              <a:avLst/>
            </a:prstGeom>
            <a:noFill/>
          </p:spPr>
          <p:txBody>
            <a:bodyPr wrap="none" rtlCol="0">
              <a:spAutoFit/>
            </a:bodyPr>
            <a:lstStyle/>
            <a:p>
              <a:r>
                <a:rPr lang="en-US" dirty="0">
                  <a:solidFill>
                    <a:srgbClr val="00B050"/>
                  </a:solidFill>
                </a:rPr>
                <a:t>9</a:t>
              </a:r>
            </a:p>
          </p:txBody>
        </p:sp>
        <p:sp>
          <p:nvSpPr>
            <p:cNvPr id="5" name="Oval 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4" name="Oval 43"/>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5" name="Oval 44"/>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7" name="Oval 4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8" name="Oval 4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50" name="Oval 4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51" name="Oval 50"/>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3" name="Oval 5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54" name="Oval 5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F41DF3C6-BA38-9CA8-FC27-D04E55F296FC}"/>
                  </a:ext>
                </a:extLst>
              </p14:cNvPr>
              <p14:cNvContentPartPr/>
              <p14:nvPr/>
            </p14:nvContentPartPr>
            <p14:xfrm>
              <a:off x="1001520" y="1341000"/>
              <a:ext cx="4240800" cy="1378080"/>
            </p14:xfrm>
          </p:contentPart>
        </mc:Choice>
        <mc:Fallback>
          <p:pic>
            <p:nvPicPr>
              <p:cNvPr id="6" name="Ink 5">
                <a:extLst>
                  <a:ext uri="{FF2B5EF4-FFF2-40B4-BE49-F238E27FC236}">
                    <a16:creationId xmlns:a16="http://schemas.microsoft.com/office/drawing/2014/main" id="{F41DF3C6-BA38-9CA8-FC27-D04E55F296FC}"/>
                  </a:ext>
                </a:extLst>
              </p:cNvPr>
              <p:cNvPicPr/>
              <p:nvPr/>
            </p:nvPicPr>
            <p:blipFill>
              <a:blip r:embed="rId7"/>
              <a:stretch>
                <a:fillRect/>
              </a:stretch>
            </p:blipFill>
            <p:spPr>
              <a:xfrm>
                <a:off x="992160" y="1331640"/>
                <a:ext cx="4259520" cy="1396800"/>
              </a:xfrm>
              <a:prstGeom prst="rect">
                <a:avLst/>
              </a:prstGeom>
            </p:spPr>
          </p:pic>
        </mc:Fallback>
      </mc:AlternateContent>
    </p:spTree>
    <p:extLst>
      <p:ext uri="{BB962C8B-B14F-4D97-AF65-F5344CB8AC3E}">
        <p14:creationId xmlns:p14="http://schemas.microsoft.com/office/powerpoint/2010/main" val="2115300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A2D5-C737-A39E-7E2E-D192CB644AEF}"/>
              </a:ext>
            </a:extLst>
          </p:cNvPr>
          <p:cNvSpPr>
            <a:spLocks noGrp="1"/>
          </p:cNvSpPr>
          <p:nvPr>
            <p:ph type="title"/>
          </p:nvPr>
        </p:nvSpPr>
        <p:spPr/>
        <p:txBody>
          <a:bodyPr/>
          <a:lstStyle/>
          <a:p>
            <a:r>
              <a:rPr lang="en-US" dirty="0"/>
              <a:t>Graph Applications</a:t>
            </a:r>
          </a:p>
        </p:txBody>
      </p:sp>
      <p:sp>
        <p:nvSpPr>
          <p:cNvPr id="3" name="Content Placeholder 2">
            <a:extLst>
              <a:ext uri="{FF2B5EF4-FFF2-40B4-BE49-F238E27FC236}">
                <a16:creationId xmlns:a16="http://schemas.microsoft.com/office/drawing/2014/main" id="{CD20B705-15E4-A291-8248-D337DB23F1BC}"/>
              </a:ext>
            </a:extLst>
          </p:cNvPr>
          <p:cNvSpPr>
            <a:spLocks noGrp="1"/>
          </p:cNvSpPr>
          <p:nvPr>
            <p:ph idx="1"/>
          </p:nvPr>
        </p:nvSpPr>
        <p:spPr/>
        <p:txBody>
          <a:bodyPr>
            <a:normAutofit fontScale="77500" lnSpcReduction="20000"/>
          </a:bodyPr>
          <a:lstStyle/>
          <a:p>
            <a:r>
              <a:rPr lang="en-US" dirty="0"/>
              <a:t>For each application below, consider:</a:t>
            </a:r>
          </a:p>
          <a:p>
            <a:pPr lvl="1"/>
            <a:r>
              <a:rPr lang="en-US" dirty="0"/>
              <a:t>What are the nodes, what are the edges?</a:t>
            </a:r>
          </a:p>
          <a:p>
            <a:pPr lvl="1"/>
            <a:r>
              <a:rPr lang="en-US" dirty="0"/>
              <a:t>Is the graph directed?</a:t>
            </a:r>
          </a:p>
          <a:p>
            <a:pPr lvl="1"/>
            <a:r>
              <a:rPr lang="en-US" dirty="0"/>
              <a:t>Is the graph simple?</a:t>
            </a:r>
          </a:p>
          <a:p>
            <a:pPr lvl="1"/>
            <a:r>
              <a:rPr lang="en-US" dirty="0"/>
              <a:t>Is the graph weighted?</a:t>
            </a:r>
          </a:p>
          <a:p>
            <a:r>
              <a:rPr lang="en-US" dirty="0"/>
              <a:t>LinkedIn Connections</a:t>
            </a:r>
          </a:p>
          <a:p>
            <a:pPr lvl="1"/>
            <a:r>
              <a:rPr lang="en-US" dirty="0"/>
              <a:t>Nodes: profiles, edges: Connection relationship</a:t>
            </a:r>
          </a:p>
          <a:p>
            <a:pPr lvl="1"/>
            <a:r>
              <a:rPr lang="en-US" dirty="0"/>
              <a:t>Undirected</a:t>
            </a:r>
          </a:p>
          <a:p>
            <a:pPr lvl="1"/>
            <a:r>
              <a:rPr lang="en-US" dirty="0"/>
              <a:t>Simple</a:t>
            </a:r>
          </a:p>
          <a:p>
            <a:pPr lvl="1"/>
            <a:r>
              <a:rPr lang="en-US" dirty="0"/>
              <a:t>unweighted</a:t>
            </a:r>
          </a:p>
          <a:p>
            <a:r>
              <a:rPr lang="en-US" dirty="0"/>
              <a:t>Twitter Followers</a:t>
            </a:r>
          </a:p>
          <a:p>
            <a:r>
              <a:rPr lang="en-US" dirty="0"/>
              <a:t>Java Inheritance</a:t>
            </a:r>
          </a:p>
          <a:p>
            <a:r>
              <a:rPr lang="en-US" dirty="0"/>
              <a:t>Airline Routes</a:t>
            </a:r>
          </a:p>
          <a:p>
            <a:r>
              <a:rPr lang="en-US" dirty="0"/>
              <a:t>Course Prerequisites</a:t>
            </a:r>
          </a:p>
          <a:p>
            <a:endParaRPr lang="en-US" dirty="0"/>
          </a:p>
        </p:txBody>
      </p:sp>
    </p:spTree>
    <p:extLst>
      <p:ext uri="{BB962C8B-B14F-4D97-AF65-F5344CB8AC3E}">
        <p14:creationId xmlns:p14="http://schemas.microsoft.com/office/powerpoint/2010/main" val="732656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61270-E0F8-A2B4-DC31-E1498BB47B05}"/>
              </a:ext>
            </a:extLst>
          </p:cNvPr>
          <p:cNvSpPr>
            <a:spLocks noGrp="1"/>
          </p:cNvSpPr>
          <p:nvPr>
            <p:ph type="title"/>
          </p:nvPr>
        </p:nvSpPr>
        <p:spPr/>
        <p:txBody>
          <a:bodyPr/>
          <a:lstStyle/>
          <a:p>
            <a:r>
              <a:rPr lang="en-US" dirty="0"/>
              <a:t>Some Graph Terms</a:t>
            </a:r>
          </a:p>
        </p:txBody>
      </p:sp>
      <p:sp>
        <p:nvSpPr>
          <p:cNvPr id="3" name="Content Placeholder 2">
            <a:extLst>
              <a:ext uri="{FF2B5EF4-FFF2-40B4-BE49-F238E27FC236}">
                <a16:creationId xmlns:a16="http://schemas.microsoft.com/office/drawing/2014/main" id="{D7815C73-AF4A-DFE5-A3D1-D1EC818DCB5A}"/>
              </a:ext>
            </a:extLst>
          </p:cNvPr>
          <p:cNvSpPr>
            <a:spLocks noGrp="1"/>
          </p:cNvSpPr>
          <p:nvPr>
            <p:ph idx="1"/>
          </p:nvPr>
        </p:nvSpPr>
        <p:spPr>
          <a:xfrm>
            <a:off x="609600" y="1600201"/>
            <a:ext cx="7367570" cy="4525963"/>
          </a:xfrm>
        </p:spPr>
        <p:txBody>
          <a:bodyPr>
            <a:normAutofit/>
          </a:bodyPr>
          <a:lstStyle/>
          <a:p>
            <a:r>
              <a:rPr lang="en-US" dirty="0"/>
              <a:t>Adjacent/Neighbors</a:t>
            </a:r>
          </a:p>
          <a:p>
            <a:pPr lvl="1"/>
            <a:r>
              <a:rPr lang="en-US" dirty="0"/>
              <a:t>Nodes are adjacent/neighbors if they share an edge</a:t>
            </a:r>
          </a:p>
          <a:p>
            <a:r>
              <a:rPr lang="en-US" dirty="0"/>
              <a:t>Degree</a:t>
            </a:r>
          </a:p>
          <a:p>
            <a:pPr lvl="1"/>
            <a:r>
              <a:rPr lang="en-US" dirty="0"/>
              <a:t>Number of edges “touching” a vertex</a:t>
            </a:r>
          </a:p>
          <a:p>
            <a:r>
              <a:rPr lang="en-US" dirty="0"/>
              <a:t>Indegree</a:t>
            </a:r>
          </a:p>
          <a:p>
            <a:pPr lvl="1"/>
            <a:r>
              <a:rPr lang="en-US" dirty="0"/>
              <a:t>Number of incoming edges</a:t>
            </a:r>
          </a:p>
          <a:p>
            <a:r>
              <a:rPr lang="en-US" dirty="0"/>
              <a:t>Outdegree</a:t>
            </a:r>
          </a:p>
          <a:p>
            <a:pPr lvl="1"/>
            <a:r>
              <a:rPr lang="en-US" dirty="0"/>
              <a:t>Number of outgoing edges</a:t>
            </a:r>
          </a:p>
          <a:p>
            <a:endParaRPr lang="en-US" dirty="0"/>
          </a:p>
          <a:p>
            <a:endParaRPr lang="en-US" dirty="0"/>
          </a:p>
        </p:txBody>
      </p:sp>
      <p:grpSp>
        <p:nvGrpSpPr>
          <p:cNvPr id="4" name="Group 3" descr="An illustration of the following undirected graph:&#10;&#10;The vertices are: 1,2,3,4,5,6,7,8&#10;The edges are as follows:&#10;(1,2), (1,3), &#10;(2,5), (2,3), &#10;(3,4), (3,6), &#10;(4,5), (4,6), &#10;(5,7), (5,8), &#10;(6,7), &#10;(7,8), (7,9), &#10;(8,9)&#10;&#10;We would say, for example:&#10;That node 5 is adjacent to 2&#10;That the degree of node 5 is 4&#10;">
            <a:extLst>
              <a:ext uri="{FF2B5EF4-FFF2-40B4-BE49-F238E27FC236}">
                <a16:creationId xmlns:a16="http://schemas.microsoft.com/office/drawing/2014/main" id="{A77077EB-8563-0C5E-9AF2-6FB42457C3F5}"/>
              </a:ext>
            </a:extLst>
          </p:cNvPr>
          <p:cNvGrpSpPr/>
          <p:nvPr/>
        </p:nvGrpSpPr>
        <p:grpSpPr>
          <a:xfrm>
            <a:off x="7848600" y="846138"/>
            <a:ext cx="4301146" cy="2374232"/>
            <a:chOff x="0" y="3020093"/>
            <a:chExt cx="7044346" cy="3888478"/>
          </a:xfrm>
        </p:grpSpPr>
        <p:cxnSp>
          <p:nvCxnSpPr>
            <p:cNvPr id="5" name="Straight Connector 4">
              <a:extLst>
                <a:ext uri="{FF2B5EF4-FFF2-40B4-BE49-F238E27FC236}">
                  <a16:creationId xmlns:a16="http://schemas.microsoft.com/office/drawing/2014/main" id="{91C421F4-A457-DB86-1FD3-32D14A13BE0A}"/>
                </a:ext>
              </a:extLst>
            </p:cNvPr>
            <p:cNvCxnSpPr>
              <a:stCxn id="19" idx="7"/>
              <a:endCxn id="2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06D50B3-9D94-894A-AEF4-03C92A6437D5}"/>
                </a:ext>
              </a:extLst>
            </p:cNvPr>
            <p:cNvCxnSpPr>
              <a:stCxn id="20" idx="6"/>
              <a:endCxn id="2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6F2AEC7-7C95-AF77-5085-BC18C20FED6C}"/>
                </a:ext>
              </a:extLst>
            </p:cNvPr>
            <p:cNvCxnSpPr>
              <a:stCxn id="19" idx="4"/>
              <a:endCxn id="2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D91F591-A554-8D39-D9B1-E0EE5E18BBEA}"/>
                </a:ext>
              </a:extLst>
            </p:cNvPr>
            <p:cNvCxnSpPr>
              <a:stCxn id="22" idx="3"/>
              <a:endCxn id="2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DDE6CD8-5778-FAA9-5C53-CE46081CD71E}"/>
                </a:ext>
              </a:extLst>
            </p:cNvPr>
            <p:cNvCxnSpPr>
              <a:stCxn id="24" idx="2"/>
              <a:endCxn id="2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877BBA0-F365-074C-3764-5C12DEEB2E8F}"/>
                </a:ext>
              </a:extLst>
            </p:cNvPr>
            <p:cNvCxnSpPr>
              <a:stCxn id="22" idx="5"/>
              <a:endCxn id="2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0203ADB-430A-D65F-9723-DAA04ACAFB9C}"/>
                </a:ext>
              </a:extLst>
            </p:cNvPr>
            <p:cNvCxnSpPr>
              <a:stCxn id="22" idx="7"/>
              <a:endCxn id="2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8AE7B9-7053-F6F9-A0D3-5A043D505A2D}"/>
                </a:ext>
              </a:extLst>
            </p:cNvPr>
            <p:cNvCxnSpPr>
              <a:stCxn id="24" idx="6"/>
              <a:endCxn id="2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75ACCEC-0E1D-BF87-4D29-C9EFE7A95074}"/>
                </a:ext>
              </a:extLst>
            </p:cNvPr>
            <p:cNvCxnSpPr>
              <a:stCxn id="25" idx="1"/>
              <a:endCxn id="2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ADBF4-FB3C-D330-300D-00B6AF377E53}"/>
                </a:ext>
              </a:extLst>
            </p:cNvPr>
            <p:cNvCxnSpPr>
              <a:stCxn id="27" idx="2"/>
              <a:endCxn id="2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FB4587-1690-02D4-BA3C-A0099E7358D5}"/>
                </a:ext>
              </a:extLst>
            </p:cNvPr>
            <p:cNvCxnSpPr>
              <a:stCxn id="25" idx="0"/>
              <a:endCxn id="2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C13D604-B112-B9D1-2FB0-D426EB51FDB5}"/>
                </a:ext>
              </a:extLst>
            </p:cNvPr>
            <p:cNvCxnSpPr>
              <a:stCxn id="26" idx="1"/>
              <a:endCxn id="2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8B21677-B01D-DF4C-8F76-B4A4CCE81DFF}"/>
                </a:ext>
              </a:extLst>
            </p:cNvPr>
            <p:cNvCxnSpPr>
              <a:stCxn id="26" idx="3"/>
              <a:endCxn id="2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A2EE3B9-2788-3830-4E73-9DF1652682FE}"/>
                </a:ext>
              </a:extLst>
            </p:cNvPr>
            <p:cNvCxnSpPr>
              <a:stCxn id="20" idx="4"/>
              <a:endCxn id="2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102ECF91-9510-823B-C909-5F0EB0CA314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98B09655-F346-B1A3-1410-FB8E825C8643}"/>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Oval 20">
              <a:extLst>
                <a:ext uri="{FF2B5EF4-FFF2-40B4-BE49-F238E27FC236}">
                  <a16:creationId xmlns:a16="http://schemas.microsoft.com/office/drawing/2014/main" id="{49E88022-25E7-86C7-8B92-34447DB1CB8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Oval 21">
              <a:extLst>
                <a:ext uri="{FF2B5EF4-FFF2-40B4-BE49-F238E27FC236}">
                  <a16:creationId xmlns:a16="http://schemas.microsoft.com/office/drawing/2014/main" id="{7EB710F6-6934-006D-D44B-6C316E606C8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Oval 22">
              <a:extLst>
                <a:ext uri="{FF2B5EF4-FFF2-40B4-BE49-F238E27FC236}">
                  <a16:creationId xmlns:a16="http://schemas.microsoft.com/office/drawing/2014/main" id="{62B6EF87-9ED8-0DE9-D60E-95BDFA88858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4" name="Oval 23">
              <a:extLst>
                <a:ext uri="{FF2B5EF4-FFF2-40B4-BE49-F238E27FC236}">
                  <a16:creationId xmlns:a16="http://schemas.microsoft.com/office/drawing/2014/main" id="{41E8C970-DD24-1453-11B9-B8ACAA2F93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5" name="Oval 24">
              <a:extLst>
                <a:ext uri="{FF2B5EF4-FFF2-40B4-BE49-F238E27FC236}">
                  <a16:creationId xmlns:a16="http://schemas.microsoft.com/office/drawing/2014/main" id="{75E1A8BB-249C-43D9-96A3-202B7BEE668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6" name="Oval 25">
              <a:extLst>
                <a:ext uri="{FF2B5EF4-FFF2-40B4-BE49-F238E27FC236}">
                  <a16:creationId xmlns:a16="http://schemas.microsoft.com/office/drawing/2014/main" id="{1A1B0CD1-8132-C3B4-B8C7-CDDC25E0B19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7" name="Oval 26">
              <a:extLst>
                <a:ext uri="{FF2B5EF4-FFF2-40B4-BE49-F238E27FC236}">
                  <a16:creationId xmlns:a16="http://schemas.microsoft.com/office/drawing/2014/main" id="{156E15FE-2AC2-BAA6-9B20-EDB3AA8EE9E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nvGrpSpPr>
          <p:cNvPr id="76" name="Group 75" descr="An illustration of the following undirected graph:&#10;&#10;The vertices are: 1,2,3,4,5,6,7,8&#10;The edges are as follows:&#10;(1,2), (1,3), &#10;(2,5), &#10;(3,2), (3,4), (3,6), &#10;(4,6), &#10;(5,4), (5,8), &#10;(6,3),  &#10;(7,5), (7,6), (7,8) &#10;(8,7),&#10;(9,7), (9,8)&#10;&#10;We would say, for example:&#10;That 5 is adjacent to 2 but 2 is not adjacent to 5&#10;The in-degree of 8 is 3&#10;The out-degree of 8 is 1&#10;The degree of 8 is 4">
            <a:extLst>
              <a:ext uri="{FF2B5EF4-FFF2-40B4-BE49-F238E27FC236}">
                <a16:creationId xmlns:a16="http://schemas.microsoft.com/office/drawing/2014/main" id="{49BC2B0C-3F8F-E385-9C36-453724DCBB67}"/>
              </a:ext>
            </a:extLst>
          </p:cNvPr>
          <p:cNvGrpSpPr/>
          <p:nvPr/>
        </p:nvGrpSpPr>
        <p:grpSpPr>
          <a:xfrm>
            <a:off x="7752750" y="3494747"/>
            <a:ext cx="4385159" cy="2420607"/>
            <a:chOff x="1524000" y="2625729"/>
            <a:chExt cx="7044346" cy="3888478"/>
          </a:xfrm>
        </p:grpSpPr>
        <p:grpSp>
          <p:nvGrpSpPr>
            <p:cNvPr id="77" name="Group 76">
              <a:extLst>
                <a:ext uri="{FF2B5EF4-FFF2-40B4-BE49-F238E27FC236}">
                  <a16:creationId xmlns:a16="http://schemas.microsoft.com/office/drawing/2014/main" id="{D1311A56-0703-B4CB-4DF3-E964A1EBFC91}"/>
                </a:ext>
              </a:extLst>
            </p:cNvPr>
            <p:cNvGrpSpPr/>
            <p:nvPr/>
          </p:nvGrpSpPr>
          <p:grpSpPr>
            <a:xfrm>
              <a:off x="1524000" y="2625729"/>
              <a:ext cx="7044346" cy="3888478"/>
              <a:chOff x="0" y="3020093"/>
              <a:chExt cx="7044346" cy="3888478"/>
            </a:xfrm>
          </p:grpSpPr>
          <p:cxnSp>
            <p:nvCxnSpPr>
              <p:cNvPr id="80" name="Straight Connector 79">
                <a:extLst>
                  <a:ext uri="{FF2B5EF4-FFF2-40B4-BE49-F238E27FC236}">
                    <a16:creationId xmlns:a16="http://schemas.microsoft.com/office/drawing/2014/main" id="{F08BE01B-5DBC-5EE1-D933-A8EB34AAAF91}"/>
                  </a:ext>
                </a:extLst>
              </p:cNvPr>
              <p:cNvCxnSpPr>
                <a:stCxn id="94" idx="7"/>
                <a:endCxn id="95"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8838333-99B5-EDB2-E636-E37A3041178D}"/>
                  </a:ext>
                </a:extLst>
              </p:cNvPr>
              <p:cNvCxnSpPr>
                <a:stCxn id="95" idx="6"/>
                <a:endCxn id="98"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C90C3336-FD01-DDE1-F0D0-03F55BFFCE28}"/>
                  </a:ext>
                </a:extLst>
              </p:cNvPr>
              <p:cNvCxnSpPr>
                <a:stCxn id="94" idx="4"/>
                <a:endCxn id="96"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12F9B32-568D-6074-BFD1-06C1C822970C}"/>
                  </a:ext>
                </a:extLst>
              </p:cNvPr>
              <p:cNvCxnSpPr>
                <a:stCxn id="97" idx="3"/>
                <a:endCxn id="96"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927DFB4-FE48-C8DF-70F7-FA2E1E749276}"/>
                  </a:ext>
                </a:extLst>
              </p:cNvPr>
              <p:cNvCxnSpPr>
                <a:stCxn id="99" idx="2"/>
                <a:endCxn id="96"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F6211A5-2B55-D230-16B2-2AD51EA7A0D9}"/>
                  </a:ext>
                </a:extLst>
              </p:cNvPr>
              <p:cNvCxnSpPr>
                <a:stCxn id="97" idx="5"/>
                <a:endCxn id="99"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AC54169-CBFA-C7E2-BC2E-33184A527D9D}"/>
                  </a:ext>
                </a:extLst>
              </p:cNvPr>
              <p:cNvCxnSpPr>
                <a:stCxn id="97" idx="7"/>
                <a:endCxn id="98"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ECDD1BC-741B-9CAD-1105-09E397EE3B17}"/>
                  </a:ext>
                </a:extLst>
              </p:cNvPr>
              <p:cNvCxnSpPr>
                <a:stCxn id="99" idx="6"/>
                <a:endCxn id="100"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0CE11B8-8F5D-C7A3-14F8-FBE2BD41B155}"/>
                  </a:ext>
                </a:extLst>
              </p:cNvPr>
              <p:cNvCxnSpPr>
                <a:stCxn id="100" idx="1"/>
                <a:endCxn id="98"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D4A98BB-84E0-53EA-CAB6-B34746A23FB1}"/>
                  </a:ext>
                </a:extLst>
              </p:cNvPr>
              <p:cNvCxnSpPr>
                <a:stCxn id="102" idx="2"/>
                <a:endCxn id="98"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DFE9DAC-A92C-CC96-A200-12881D3F5556}"/>
                  </a:ext>
                </a:extLst>
              </p:cNvPr>
              <p:cNvCxnSpPr>
                <a:stCxn id="100" idx="0"/>
                <a:endCxn id="102"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53C9770-FA50-C8A2-029D-50072B26B7AA}"/>
                  </a:ext>
                </a:extLst>
              </p:cNvPr>
              <p:cNvCxnSpPr>
                <a:stCxn id="101" idx="1"/>
                <a:endCxn id="102"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E368074D-3071-983E-D9B7-5D8BED13FAD1}"/>
                  </a:ext>
                </a:extLst>
              </p:cNvPr>
              <p:cNvCxnSpPr>
                <a:stCxn id="101" idx="3"/>
                <a:endCxn id="100"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DDF72EC-73F5-C92E-7376-748E30BB74C1}"/>
                  </a:ext>
                </a:extLst>
              </p:cNvPr>
              <p:cNvCxnSpPr>
                <a:stCxn id="95" idx="4"/>
                <a:endCxn id="96"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4" name="Oval 93">
                <a:extLst>
                  <a:ext uri="{FF2B5EF4-FFF2-40B4-BE49-F238E27FC236}">
                    <a16:creationId xmlns:a16="http://schemas.microsoft.com/office/drawing/2014/main" id="{F5FC2285-020A-878E-90CE-2ACC450330A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5" name="Oval 94">
                <a:extLst>
                  <a:ext uri="{FF2B5EF4-FFF2-40B4-BE49-F238E27FC236}">
                    <a16:creationId xmlns:a16="http://schemas.microsoft.com/office/drawing/2014/main" id="{8AA52F75-BA01-66A5-EF54-E52D90EDD43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6" name="Oval 95">
                <a:extLst>
                  <a:ext uri="{FF2B5EF4-FFF2-40B4-BE49-F238E27FC236}">
                    <a16:creationId xmlns:a16="http://schemas.microsoft.com/office/drawing/2014/main" id="{C0E6879E-1525-AA65-2114-574042CBEEB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7" name="Oval 96">
                <a:extLst>
                  <a:ext uri="{FF2B5EF4-FFF2-40B4-BE49-F238E27FC236}">
                    <a16:creationId xmlns:a16="http://schemas.microsoft.com/office/drawing/2014/main" id="{BDC3F494-6211-1948-0CDB-6CD123A25C3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98" name="Oval 97">
                <a:extLst>
                  <a:ext uri="{FF2B5EF4-FFF2-40B4-BE49-F238E27FC236}">
                    <a16:creationId xmlns:a16="http://schemas.microsoft.com/office/drawing/2014/main" id="{3BE19C25-5170-64E5-46A0-C59958E021A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9" name="Oval 98">
                <a:extLst>
                  <a:ext uri="{FF2B5EF4-FFF2-40B4-BE49-F238E27FC236}">
                    <a16:creationId xmlns:a16="http://schemas.microsoft.com/office/drawing/2014/main" id="{AB48AE5A-C4EE-BA50-885A-F30C09797C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00" name="Oval 99">
                <a:extLst>
                  <a:ext uri="{FF2B5EF4-FFF2-40B4-BE49-F238E27FC236}">
                    <a16:creationId xmlns:a16="http://schemas.microsoft.com/office/drawing/2014/main" id="{587E7852-F9BC-8B04-BCFA-082683DAC53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01" name="Oval 100">
                <a:extLst>
                  <a:ext uri="{FF2B5EF4-FFF2-40B4-BE49-F238E27FC236}">
                    <a16:creationId xmlns:a16="http://schemas.microsoft.com/office/drawing/2014/main" id="{FE98C314-CBA0-EA5B-6C6F-13F8858E0BB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02" name="Oval 101">
                <a:extLst>
                  <a:ext uri="{FF2B5EF4-FFF2-40B4-BE49-F238E27FC236}">
                    <a16:creationId xmlns:a16="http://schemas.microsoft.com/office/drawing/2014/main" id="{C9C4FAAE-5AE5-4514-0BA9-55334F0335B1}"/>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78" name="Straight Connector 77">
              <a:extLst>
                <a:ext uri="{FF2B5EF4-FFF2-40B4-BE49-F238E27FC236}">
                  <a16:creationId xmlns:a16="http://schemas.microsoft.com/office/drawing/2014/main" id="{CA80272A-3CC3-702F-8EA2-DA7404D25FFB}"/>
                </a:ext>
              </a:extLst>
            </p:cNvPr>
            <p:cNvCxnSpPr>
              <a:cxnSpLocks/>
              <a:stCxn id="100" idx="7"/>
              <a:endCxn id="102"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F2BA105-F684-B473-14DF-7C5E0517E06F}"/>
                </a:ext>
              </a:extLst>
            </p:cNvPr>
            <p:cNvCxnSpPr>
              <a:cxnSpLocks/>
              <a:stCxn id="99" idx="3"/>
              <a:endCxn id="96"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71303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Complete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an edge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72" t="-6410" b="-17308"/>
                </a:stretch>
              </a:blipFill>
            </p:spPr>
            <p:txBody>
              <a:bodyPr/>
              <a:lstStyle/>
              <a:p>
                <a:r>
                  <a:rPr lang="en-US">
                    <a:noFill/>
                  </a:rPr>
                  <a:t> </a:t>
                </a:r>
              </a:p>
            </p:txBody>
          </p:sp>
        </mc:Fallback>
      </mc:AlternateContent>
      <p:grpSp>
        <p:nvGrpSpPr>
          <p:cNvPr id="3" name="Group 2" descr="A complete undirected graph of 4 nodes. It contains all unordered pairs of the 4 nodes as edges, giving the following 6 edges:&#10;(1,2),(1,3),(1,4),(2,4),(2,3),(3,4)">
            <a:extLst>
              <a:ext uri="{FF2B5EF4-FFF2-40B4-BE49-F238E27FC236}">
                <a16:creationId xmlns:a16="http://schemas.microsoft.com/office/drawing/2014/main" id="{3D7DF397-FBC2-D1CC-AF2D-4450AD28FB54}"/>
              </a:ext>
            </a:extLst>
          </p:cNvPr>
          <p:cNvGrpSpPr/>
          <p:nvPr/>
        </p:nvGrpSpPr>
        <p:grpSpPr>
          <a:xfrm>
            <a:off x="344787" y="3206160"/>
            <a:ext cx="3135454" cy="3379131"/>
            <a:chOff x="344787" y="3206160"/>
            <a:chExt cx="3135454" cy="3379131"/>
          </a:xfrm>
        </p:grpSpPr>
        <mc:AlternateContent xmlns:mc="http://schemas.openxmlformats.org/markup-compatibility/2006">
          <mc:Choice xmlns:a14="http://schemas.microsoft.com/office/drawing/2010/main" Requires="a14">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p:nvPr/>
              </p:nvSpPr>
              <p:spPr>
                <a:xfrm>
                  <a:off x="344787" y="4916821"/>
                  <a:ext cx="3135454" cy="1668470"/>
                </a:xfrm>
                <a:prstGeom prst="rect">
                  <a:avLst/>
                </a:prstGeom>
                <a:noFill/>
              </p:spPr>
              <p:txBody>
                <a:bodyPr wrap="square" rtlCol="0">
                  <a:spAutoFit/>
                </a:bodyPr>
                <a:lstStyle/>
                <a:p>
                  <a:r>
                    <a:rPr lang="en-US" sz="2800" dirty="0"/>
                    <a:t>Complete Undirected Graph</a:t>
                  </a:r>
                </a:p>
                <a:p>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num>
                          <m:den>
                            <m:r>
                              <a:rPr lang="en-US" sz="2400" b="0" i="1" smtClean="0">
                                <a:latin typeface="Cambria Math" panose="02040503050406030204" pitchFamily="18" charset="0"/>
                              </a:rPr>
                              <m:t>2</m:t>
                            </m:r>
                          </m:den>
                        </m:f>
                      </m:oMath>
                    </m:oMathPara>
                  </a14:m>
                  <a:endParaRPr lang="en-US" sz="2400" dirty="0"/>
                </a:p>
              </p:txBody>
            </p:sp>
          </mc:Choice>
          <mc:Fallback>
            <p:sp>
              <p:nvSpPr>
                <p:cNvPr id="45" name="TextBox 44" descr="A complete undirected graph of 4 nodes. It contains all unordered pairs of the 4 nodes as edges, giving the following 6 edges:&#10;(1,2),(1,3),(1,4),(2,4),(2,3),(3,4)&#10;&#10;In general, a complete undirected graph of n nodes has n(n+1)/2 edges">
                  <a:extLst>
                    <a:ext uri="{FF2B5EF4-FFF2-40B4-BE49-F238E27FC236}">
                      <a16:creationId xmlns:a16="http://schemas.microsoft.com/office/drawing/2014/main" id="{1E0F26B5-366A-711E-D723-7F1979D24DA8}"/>
                    </a:ext>
                  </a:extLst>
                </p:cNvPr>
                <p:cNvSpPr txBox="1">
                  <a:spLocks noRot="1" noChangeAspect="1" noMove="1" noResize="1" noEditPoints="1" noAdjustHandles="1" noChangeArrowheads="1" noChangeShapeType="1" noTextEdit="1"/>
                </p:cNvSpPr>
                <p:nvPr/>
              </p:nvSpPr>
              <p:spPr>
                <a:xfrm>
                  <a:off x="344787" y="4916821"/>
                  <a:ext cx="3135454" cy="1668470"/>
                </a:xfrm>
                <a:prstGeom prst="rect">
                  <a:avLst/>
                </a:prstGeom>
                <a:blipFill>
                  <a:blip r:embed="rId3"/>
                  <a:stretch>
                    <a:fillRect l="-4086" t="-3663"/>
                  </a:stretch>
                </a:blipFill>
              </p:spPr>
              <p:txBody>
                <a:bodyPr/>
                <a:lstStyle/>
                <a:p>
                  <a:r>
                    <a:rPr lang="en-US">
                      <a:noFill/>
                    </a:rPr>
                    <a:t> </a:t>
                  </a:r>
                </a:p>
              </p:txBody>
            </p:sp>
          </mc:Fallback>
        </mc:AlternateContent>
        <p:grpSp>
          <p:nvGrpSpPr>
            <p:cNvPr id="83" name="Group 82">
              <a:extLst>
                <a:ext uri="{FF2B5EF4-FFF2-40B4-BE49-F238E27FC236}">
                  <a16:creationId xmlns:a16="http://schemas.microsoft.com/office/drawing/2014/main" id="{DFBE9801-D0B3-6EF8-63EA-B9DCCBFB1CE6}"/>
                </a:ext>
              </a:extLst>
            </p:cNvPr>
            <p:cNvGrpSpPr/>
            <p:nvPr/>
          </p:nvGrpSpPr>
          <p:grpSpPr>
            <a:xfrm>
              <a:off x="718434" y="3206160"/>
              <a:ext cx="1729793" cy="1622043"/>
              <a:chOff x="1378834" y="3116577"/>
              <a:chExt cx="1729793" cy="1622043"/>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378834" y="3116577"/>
                <a:ext cx="1729793" cy="1622043"/>
                <a:chOff x="-388725" y="3020093"/>
                <a:chExt cx="2833027" cy="2656555"/>
              </a:xfrm>
            </p:grpSpPr>
            <p:cxnSp>
              <p:nvCxnSpPr>
                <p:cNvPr id="32" name="Straight Connector 31">
                  <a:extLst>
                    <a:ext uri="{FF2B5EF4-FFF2-40B4-BE49-F238E27FC236}">
                      <a16:creationId xmlns:a16="http://schemas.microsoft.com/office/drawing/2014/main" id="{5E1BD8B7-4CC3-76C2-B59D-BB8E9AB4F6AB}"/>
                    </a:ext>
                  </a:extLst>
                </p:cNvPr>
                <p:cNvCxnSpPr>
                  <a:cxnSpLocks/>
                  <a:stCxn id="85" idx="6"/>
                  <a:endCxn id="86" idx="2"/>
                </p:cNvCxnSpPr>
                <p:nvPr/>
              </p:nvCxnSpPr>
              <p:spPr>
                <a:xfrm>
                  <a:off x="166749" y="3276727"/>
                  <a:ext cx="176426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cxnSpLocks/>
                  <a:stCxn id="86" idx="4"/>
                  <a:endCxn id="88" idx="0"/>
                </p:cNvCxnSpPr>
                <p:nvPr/>
              </p:nvCxnSpPr>
              <p:spPr>
                <a:xfrm>
                  <a:off x="2187651" y="3533361"/>
                  <a:ext cx="16" cy="16018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cxnSpLocks/>
                  <a:stCxn id="85" idx="4"/>
                  <a:endCxn id="87" idx="0"/>
                </p:cNvCxnSpPr>
                <p:nvPr/>
              </p:nvCxnSpPr>
              <p:spPr>
                <a:xfrm flipH="1">
                  <a:off x="-132091" y="3533361"/>
                  <a:ext cx="42206" cy="163001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cxnSpLocks/>
                  <a:stCxn id="88" idx="2"/>
                  <a:endCxn id="87" idx="6"/>
                </p:cNvCxnSpPr>
                <p:nvPr/>
              </p:nvCxnSpPr>
              <p:spPr>
                <a:xfrm flipH="1">
                  <a:off x="124543" y="5391811"/>
                  <a:ext cx="1806490" cy="2820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cxnSpLocks/>
                  <a:stCxn id="86" idx="3"/>
                  <a:endCxn id="87" idx="7"/>
                </p:cNvCxnSpPr>
                <p:nvPr/>
              </p:nvCxnSpPr>
              <p:spPr>
                <a:xfrm flipH="1">
                  <a:off x="49377" y="3458195"/>
                  <a:ext cx="1956808" cy="178035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65" name="Straight Connector 64">
                <a:extLst>
                  <a:ext uri="{FF2B5EF4-FFF2-40B4-BE49-F238E27FC236}">
                    <a16:creationId xmlns:a16="http://schemas.microsoft.com/office/drawing/2014/main" id="{32E320C1-342B-2917-1FF6-23EADE44AF82}"/>
                  </a:ext>
                </a:extLst>
              </p:cNvPr>
              <p:cNvCxnSpPr>
                <a:cxnSpLocks/>
                <a:stCxn id="85" idx="5"/>
                <a:endCxn id="88" idx="1"/>
              </p:cNvCxnSpPr>
              <p:nvPr/>
            </p:nvCxnSpPr>
            <p:spPr>
              <a:xfrm>
                <a:off x="1672101" y="3384074"/>
                <a:ext cx="1169029" cy="106982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descr="A complete undirected graph of 4 nodes. It contains all ordered pairs of the 4 nodes as edges, giving the following 12 edges:&#10;(1,2),(2,1)(1,3),(3,1),(1,4),(4,1),(2,4),(4,2),(3,2)(2,3),(3,4),(4,3)&#10;&#10;In general, a complete directed graph of n nodes has n(n-1) edges">
            <a:extLst>
              <a:ext uri="{FF2B5EF4-FFF2-40B4-BE49-F238E27FC236}">
                <a16:creationId xmlns:a16="http://schemas.microsoft.com/office/drawing/2014/main" id="{CF0BE5E2-2027-8CC7-D28D-120B3428946C}"/>
              </a:ext>
            </a:extLst>
          </p:cNvPr>
          <p:cNvGrpSpPr/>
          <p:nvPr/>
        </p:nvGrpSpPr>
        <p:grpSpPr>
          <a:xfrm>
            <a:off x="3899919" y="3110592"/>
            <a:ext cx="3135454" cy="3133075"/>
            <a:chOff x="3899919" y="3110592"/>
            <a:chExt cx="3135454" cy="3133075"/>
          </a:xfrm>
        </p:grpSpPr>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1DBCCB78-25D1-DA64-D181-C086C657BD95}"/>
                    </a:ext>
                  </a:extLst>
                </p:cNvPr>
                <p:cNvSpPr txBox="1"/>
                <p:nvPr/>
              </p:nvSpPr>
              <p:spPr>
                <a:xfrm>
                  <a:off x="3899919" y="4920228"/>
                  <a:ext cx="3135454" cy="1323439"/>
                </a:xfrm>
                <a:prstGeom prst="rect">
                  <a:avLst/>
                </a:prstGeom>
                <a:noFill/>
              </p:spPr>
              <p:txBody>
                <a:bodyPr wrap="square" rtlCol="0">
                  <a:spAutoFit/>
                </a:bodyPr>
                <a:lstStyle/>
                <a:p>
                  <a:r>
                    <a:rPr lang="en-US" sz="2800" dirty="0"/>
                    <a:t>Complete </a:t>
                  </a:r>
                </a:p>
                <a:p>
                  <a:r>
                    <a:rPr lang="en-US" sz="2800" dirty="0"/>
                    <a:t>Directed Graph</a:t>
                  </a:r>
                </a:p>
                <a:p>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r>
                              <a:rPr lang="en-US" sz="2400" b="0" i="1" smtClean="0">
                                <a:latin typeface="Cambria Math" panose="02040503050406030204" pitchFamily="18" charset="0"/>
                              </a:rPr>
                              <m:t>−1</m:t>
                            </m:r>
                          </m:e>
                        </m:d>
                      </m:oMath>
                    </m:oMathPara>
                  </a14:m>
                  <a:endParaRPr lang="en-US" sz="2800" dirty="0"/>
                </a:p>
              </p:txBody>
            </p:sp>
          </mc:Choice>
          <mc:Fallback>
            <p:sp>
              <p:nvSpPr>
                <p:cNvPr id="46" name="TextBox 45">
                  <a:extLst>
                    <a:ext uri="{FF2B5EF4-FFF2-40B4-BE49-F238E27FC236}">
                      <a16:creationId xmlns:a16="http://schemas.microsoft.com/office/drawing/2014/main" id="{1DBCCB78-25D1-DA64-D181-C086C657BD95}"/>
                    </a:ext>
                  </a:extLst>
                </p:cNvPr>
                <p:cNvSpPr txBox="1">
                  <a:spLocks noRot="1" noChangeAspect="1" noMove="1" noResize="1" noEditPoints="1" noAdjustHandles="1" noChangeArrowheads="1" noChangeShapeType="1" noTextEdit="1"/>
                </p:cNvSpPr>
                <p:nvPr/>
              </p:nvSpPr>
              <p:spPr>
                <a:xfrm>
                  <a:off x="3899919" y="4920228"/>
                  <a:ext cx="3135454" cy="1323439"/>
                </a:xfrm>
                <a:prstGeom prst="rect">
                  <a:avLst/>
                </a:prstGeom>
                <a:blipFill>
                  <a:blip r:embed="rId4"/>
                  <a:stretch>
                    <a:fillRect l="-4086" t="-4147"/>
                  </a:stretch>
                </a:blipFill>
              </p:spPr>
              <p:txBody>
                <a:bodyPr/>
                <a:lstStyle/>
                <a:p>
                  <a:r>
                    <a:rPr lang="en-US">
                      <a:noFill/>
                    </a:rPr>
                    <a:t> </a:t>
                  </a:r>
                </a:p>
              </p:txBody>
            </p:sp>
          </mc:Fallback>
        </mc:AlternateContent>
        <p:grpSp>
          <p:nvGrpSpPr>
            <p:cNvPr id="82" name="Group 81">
              <a:extLst>
                <a:ext uri="{FF2B5EF4-FFF2-40B4-BE49-F238E27FC236}">
                  <a16:creationId xmlns:a16="http://schemas.microsoft.com/office/drawing/2014/main" id="{FCA9F77F-1A5A-D413-FF40-26A41279BB85}"/>
                </a:ext>
              </a:extLst>
            </p:cNvPr>
            <p:cNvGrpSpPr/>
            <p:nvPr/>
          </p:nvGrpSpPr>
          <p:grpSpPr>
            <a:xfrm>
              <a:off x="3940430" y="3110592"/>
              <a:ext cx="1729793" cy="1622043"/>
              <a:chOff x="8610600" y="3884345"/>
              <a:chExt cx="1729793" cy="1622043"/>
            </a:xfrm>
          </p:grpSpPr>
          <p:grpSp>
            <p:nvGrpSpPr>
              <p:cNvPr id="68" name="Group 67">
                <a:extLst>
                  <a:ext uri="{FF2B5EF4-FFF2-40B4-BE49-F238E27FC236}">
                    <a16:creationId xmlns:a16="http://schemas.microsoft.com/office/drawing/2014/main" id="{85E6465E-23D4-7A78-2D90-033B0364F71F}"/>
                  </a:ext>
                </a:extLst>
              </p:cNvPr>
              <p:cNvGrpSpPr/>
              <p:nvPr/>
            </p:nvGrpSpPr>
            <p:grpSpPr>
              <a:xfrm>
                <a:off x="8610600" y="3884345"/>
                <a:ext cx="1729793" cy="1622043"/>
                <a:chOff x="-388725" y="3020093"/>
                <a:chExt cx="2833027" cy="2656555"/>
              </a:xfrm>
            </p:grpSpPr>
            <p:cxnSp>
              <p:nvCxnSpPr>
                <p:cNvPr id="69" name="Straight Connector 68">
                  <a:extLst>
                    <a:ext uri="{FF2B5EF4-FFF2-40B4-BE49-F238E27FC236}">
                      <a16:creationId xmlns:a16="http://schemas.microsoft.com/office/drawing/2014/main" id="{8DD0BA37-2B83-48D8-E26B-B217259C66A7}"/>
                    </a:ext>
                  </a:extLst>
                </p:cNvPr>
                <p:cNvCxnSpPr>
                  <a:cxnSpLocks/>
                  <a:stCxn id="74" idx="6"/>
                  <a:endCxn id="75"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CF37D2-E27F-7A71-AA33-5320E9514E61}"/>
                    </a:ext>
                  </a:extLst>
                </p:cNvPr>
                <p:cNvCxnSpPr>
                  <a:cxnSpLocks/>
                  <a:stCxn id="75" idx="4"/>
                  <a:endCxn id="77"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4B9CD13-FF66-A5D2-1F8C-EA4244CE544E}"/>
                    </a:ext>
                  </a:extLst>
                </p:cNvPr>
                <p:cNvCxnSpPr>
                  <a:cxnSpLocks/>
                  <a:stCxn id="74" idx="4"/>
                  <a:endCxn id="76"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AAAAFF1-1B6F-502F-3C12-C0947F002D01}"/>
                    </a:ext>
                  </a:extLst>
                </p:cNvPr>
                <p:cNvCxnSpPr>
                  <a:cxnSpLocks/>
                  <a:stCxn id="77" idx="2"/>
                  <a:endCxn id="76"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2F468B2-2AA2-16F2-91D4-FBD14E916986}"/>
                    </a:ext>
                  </a:extLst>
                </p:cNvPr>
                <p:cNvCxnSpPr>
                  <a:cxnSpLocks/>
                  <a:stCxn id="75" idx="3"/>
                  <a:endCxn id="76"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FBBC902-CBD4-4CB0-72AA-AE5F4733DCCB}"/>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5" name="Oval 74">
                  <a:extLst>
                    <a:ext uri="{FF2B5EF4-FFF2-40B4-BE49-F238E27FC236}">
                      <a16:creationId xmlns:a16="http://schemas.microsoft.com/office/drawing/2014/main" id="{D4FC3465-BB6F-A32D-08ED-ABA63E4E3C5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6" name="Oval 75">
                  <a:extLst>
                    <a:ext uri="{FF2B5EF4-FFF2-40B4-BE49-F238E27FC236}">
                      <a16:creationId xmlns:a16="http://schemas.microsoft.com/office/drawing/2014/main" id="{232A27BB-C4B2-C204-190D-230D1EDFACFD}"/>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7" name="Oval 76">
                  <a:extLst>
                    <a:ext uri="{FF2B5EF4-FFF2-40B4-BE49-F238E27FC236}">
                      <a16:creationId xmlns:a16="http://schemas.microsoft.com/office/drawing/2014/main" id="{DC3F8BBE-8F1A-CB36-09BD-AAC71BEE1AFE}"/>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78" name="Straight Connector 77">
                <a:extLst>
                  <a:ext uri="{FF2B5EF4-FFF2-40B4-BE49-F238E27FC236}">
                    <a16:creationId xmlns:a16="http://schemas.microsoft.com/office/drawing/2014/main" id="{943D3B1D-6E15-D403-70FD-A1D85F4CE5E3}"/>
                  </a:ext>
                </a:extLst>
              </p:cNvPr>
              <p:cNvCxnSpPr>
                <a:cxnSpLocks/>
                <a:stCxn id="74" idx="5"/>
                <a:endCxn id="77"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nvGrpSpPr>
          <p:cNvPr id="7" name="Group 6" descr="A complete undirected graph of 4 nodes. It contains all ordered pairs of the 4 nodes as edges, giving the following 12 edges:&#10;(1,2),(2,1)(1,3),(3,1),(1,4),(4,1),(2,4),(4,2),(3,2)(2,3),(3,4),(4,3),(1,1),(2,2),(3,3),(4,4)&#10;&#10;In general, a complete directed graph of n nodes has n^2 edges">
            <a:extLst>
              <a:ext uri="{FF2B5EF4-FFF2-40B4-BE49-F238E27FC236}">
                <a16:creationId xmlns:a16="http://schemas.microsoft.com/office/drawing/2014/main" id="{D3DB6BCA-0612-FC5B-2229-2FA613DC72D0}"/>
              </a:ext>
            </a:extLst>
          </p:cNvPr>
          <p:cNvGrpSpPr/>
          <p:nvPr/>
        </p:nvGrpSpPr>
        <p:grpSpPr>
          <a:xfrm>
            <a:off x="7293345" y="3188940"/>
            <a:ext cx="3008896" cy="3150295"/>
            <a:chOff x="7293345" y="3188940"/>
            <a:chExt cx="3008896" cy="3150295"/>
          </a:xfrm>
        </p:grpSpPr>
        <mc:AlternateContent xmlns:mc="http://schemas.openxmlformats.org/markup-compatibility/2006">
          <mc:Choice xmlns:a14="http://schemas.microsoft.com/office/drawing/2010/main" Requires="a14">
            <p:sp>
              <p:nvSpPr>
                <p:cNvPr id="84" name="TextBox 83">
                  <a:extLst>
                    <a:ext uri="{FF2B5EF4-FFF2-40B4-BE49-F238E27FC236}">
                      <a16:creationId xmlns:a16="http://schemas.microsoft.com/office/drawing/2014/main" id="{EDEF3C5F-5BD2-C41A-AD2D-7FDA50A70D73}"/>
                    </a:ext>
                  </a:extLst>
                </p:cNvPr>
                <p:cNvSpPr txBox="1"/>
                <p:nvPr/>
              </p:nvSpPr>
              <p:spPr>
                <a:xfrm>
                  <a:off x="7293345" y="5015796"/>
                  <a:ext cx="3008896" cy="1323439"/>
                </a:xfrm>
                <a:prstGeom prst="rect">
                  <a:avLst/>
                </a:prstGeom>
                <a:noFill/>
              </p:spPr>
              <p:txBody>
                <a:bodyPr wrap="square" rtlCol="0">
                  <a:spAutoFit/>
                </a:bodyPr>
                <a:lstStyle/>
                <a:p>
                  <a:r>
                    <a:rPr lang="en-US" sz="2800" dirty="0"/>
                    <a:t>Complete Directed Non-simple Graph</a:t>
                  </a:r>
                </a:p>
                <a:p>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𝑉</m:t>
                                </m:r>
                              </m:e>
                            </m:d>
                          </m:e>
                          <m:sup>
                            <m:r>
                              <a:rPr lang="en-US" sz="2400" b="0" i="1" smtClean="0">
                                <a:latin typeface="Cambria Math" panose="02040503050406030204" pitchFamily="18" charset="0"/>
                              </a:rPr>
                              <m:t>2</m:t>
                            </m:r>
                          </m:sup>
                        </m:sSup>
                      </m:oMath>
                    </m:oMathPara>
                  </a14:m>
                  <a:endParaRPr lang="en-US" sz="2800" dirty="0"/>
                </a:p>
              </p:txBody>
            </p:sp>
          </mc:Choice>
          <mc:Fallback>
            <p:sp>
              <p:nvSpPr>
                <p:cNvPr id="84" name="TextBox 83">
                  <a:extLst>
                    <a:ext uri="{FF2B5EF4-FFF2-40B4-BE49-F238E27FC236}">
                      <a16:creationId xmlns:a16="http://schemas.microsoft.com/office/drawing/2014/main" id="{EDEF3C5F-5BD2-C41A-AD2D-7FDA50A70D73}"/>
                    </a:ext>
                  </a:extLst>
                </p:cNvPr>
                <p:cNvSpPr txBox="1">
                  <a:spLocks noRot="1" noChangeAspect="1" noMove="1" noResize="1" noEditPoints="1" noAdjustHandles="1" noChangeArrowheads="1" noChangeShapeType="1" noTextEdit="1"/>
                </p:cNvSpPr>
                <p:nvPr/>
              </p:nvSpPr>
              <p:spPr>
                <a:xfrm>
                  <a:off x="7293345" y="5015796"/>
                  <a:ext cx="3008896" cy="1323439"/>
                </a:xfrm>
                <a:prstGeom prst="rect">
                  <a:avLst/>
                </a:prstGeom>
                <a:blipFill>
                  <a:blip r:embed="rId5"/>
                  <a:stretch>
                    <a:fillRect l="-4049" t="-4608" r="-2632"/>
                  </a:stretch>
                </a:blipFill>
              </p:spPr>
              <p:txBody>
                <a:bodyPr/>
                <a:lstStyle/>
                <a:p>
                  <a:r>
                    <a:rPr lang="en-US">
                      <a:noFill/>
                    </a:rPr>
                    <a:t> </a:t>
                  </a:r>
                </a:p>
              </p:txBody>
            </p:sp>
          </mc:Fallback>
        </mc:AlternateContent>
        <p:grpSp>
          <p:nvGrpSpPr>
            <p:cNvPr id="122" name="Group 121">
              <a:extLst>
                <a:ext uri="{FF2B5EF4-FFF2-40B4-BE49-F238E27FC236}">
                  <a16:creationId xmlns:a16="http://schemas.microsoft.com/office/drawing/2014/main" id="{32359349-EE97-3770-8BAC-38168D0EF38B}"/>
                </a:ext>
              </a:extLst>
            </p:cNvPr>
            <p:cNvGrpSpPr/>
            <p:nvPr/>
          </p:nvGrpSpPr>
          <p:grpSpPr>
            <a:xfrm>
              <a:off x="7932896" y="3188940"/>
              <a:ext cx="1729793" cy="1622043"/>
              <a:chOff x="7333856" y="3206160"/>
              <a:chExt cx="1729793" cy="1622043"/>
            </a:xfrm>
          </p:grpSpPr>
          <p:grpSp>
            <p:nvGrpSpPr>
              <p:cNvPr id="94" name="Group 93">
                <a:extLst>
                  <a:ext uri="{FF2B5EF4-FFF2-40B4-BE49-F238E27FC236}">
                    <a16:creationId xmlns:a16="http://schemas.microsoft.com/office/drawing/2014/main" id="{FA94A04F-CBDC-2DFF-3B03-A6FD1C79CAF6}"/>
                  </a:ext>
                </a:extLst>
              </p:cNvPr>
              <p:cNvGrpSpPr/>
              <p:nvPr/>
            </p:nvGrpSpPr>
            <p:grpSpPr>
              <a:xfrm>
                <a:off x="7333856" y="3206160"/>
                <a:ext cx="1729793" cy="1622043"/>
                <a:chOff x="8610600" y="3884345"/>
                <a:chExt cx="1729793" cy="1622043"/>
              </a:xfrm>
            </p:grpSpPr>
            <p:grpSp>
              <p:nvGrpSpPr>
                <p:cNvPr id="95" name="Group 94">
                  <a:extLst>
                    <a:ext uri="{FF2B5EF4-FFF2-40B4-BE49-F238E27FC236}">
                      <a16:creationId xmlns:a16="http://schemas.microsoft.com/office/drawing/2014/main" id="{CE6C9A5B-FF03-AA04-A4AE-24D89402B256}"/>
                    </a:ext>
                  </a:extLst>
                </p:cNvPr>
                <p:cNvGrpSpPr/>
                <p:nvPr/>
              </p:nvGrpSpPr>
              <p:grpSpPr>
                <a:xfrm>
                  <a:off x="8610600" y="3884345"/>
                  <a:ext cx="1729793" cy="1622043"/>
                  <a:chOff x="-388725" y="3020093"/>
                  <a:chExt cx="2833027" cy="2656555"/>
                </a:xfrm>
              </p:grpSpPr>
              <p:cxnSp>
                <p:nvCxnSpPr>
                  <p:cNvPr id="97" name="Straight Connector 96">
                    <a:extLst>
                      <a:ext uri="{FF2B5EF4-FFF2-40B4-BE49-F238E27FC236}">
                        <a16:creationId xmlns:a16="http://schemas.microsoft.com/office/drawing/2014/main" id="{10B5200E-1448-31F4-AA7A-88645C9AD2BD}"/>
                      </a:ext>
                    </a:extLst>
                  </p:cNvPr>
                  <p:cNvCxnSpPr>
                    <a:cxnSpLocks/>
                    <a:stCxn id="102" idx="6"/>
                    <a:endCxn id="103" idx="2"/>
                  </p:cNvCxnSpPr>
                  <p:nvPr/>
                </p:nvCxnSpPr>
                <p:spPr>
                  <a:xfrm>
                    <a:off x="166749" y="3276727"/>
                    <a:ext cx="1764268" cy="0"/>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0C0BF86-1F58-EDBC-66CF-FE1283DDCE59}"/>
                      </a:ext>
                    </a:extLst>
                  </p:cNvPr>
                  <p:cNvCxnSpPr>
                    <a:cxnSpLocks/>
                    <a:stCxn id="103" idx="4"/>
                    <a:endCxn id="105" idx="0"/>
                  </p:cNvCxnSpPr>
                  <p:nvPr/>
                </p:nvCxnSpPr>
                <p:spPr>
                  <a:xfrm>
                    <a:off x="2187651" y="3533361"/>
                    <a:ext cx="16" cy="1601816"/>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EDC5ECE-C857-8E84-F3DE-369A603DE929}"/>
                      </a:ext>
                    </a:extLst>
                  </p:cNvPr>
                  <p:cNvCxnSpPr>
                    <a:cxnSpLocks/>
                    <a:stCxn id="102" idx="4"/>
                    <a:endCxn id="104" idx="0"/>
                  </p:cNvCxnSpPr>
                  <p:nvPr/>
                </p:nvCxnSpPr>
                <p:spPr>
                  <a:xfrm flipH="1">
                    <a:off x="-132091" y="3533361"/>
                    <a:ext cx="42206" cy="163001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E939F5E-DEAF-A9A8-7B5D-E05002EB01D4}"/>
                      </a:ext>
                    </a:extLst>
                  </p:cNvPr>
                  <p:cNvCxnSpPr>
                    <a:cxnSpLocks/>
                    <a:stCxn id="105" idx="2"/>
                    <a:endCxn id="104" idx="6"/>
                  </p:cNvCxnSpPr>
                  <p:nvPr/>
                </p:nvCxnSpPr>
                <p:spPr>
                  <a:xfrm flipH="1">
                    <a:off x="124543" y="5391811"/>
                    <a:ext cx="1806490" cy="28203"/>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14D2943-F575-CC14-FDFC-39D72AABD608}"/>
                      </a:ext>
                    </a:extLst>
                  </p:cNvPr>
                  <p:cNvCxnSpPr>
                    <a:cxnSpLocks/>
                    <a:stCxn id="103" idx="3"/>
                    <a:endCxn id="104" idx="7"/>
                  </p:cNvCxnSpPr>
                  <p:nvPr/>
                </p:nvCxnSpPr>
                <p:spPr>
                  <a:xfrm flipH="1">
                    <a:off x="49377" y="3458195"/>
                    <a:ext cx="1956808" cy="1780351"/>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B21E3DC6-38B7-146E-1A6C-437B5A9E20EA}"/>
                      </a:ext>
                    </a:extLst>
                  </p:cNvPr>
                  <p:cNvSpPr/>
                  <p:nvPr/>
                </p:nvSpPr>
                <p:spPr>
                  <a:xfrm>
                    <a:off x="-346519"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3" name="Oval 102">
                    <a:extLst>
                      <a:ext uri="{FF2B5EF4-FFF2-40B4-BE49-F238E27FC236}">
                        <a16:creationId xmlns:a16="http://schemas.microsoft.com/office/drawing/2014/main" id="{4ED45FA7-5323-F739-FF16-46247FADD7C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04" name="Oval 103">
                    <a:extLst>
                      <a:ext uri="{FF2B5EF4-FFF2-40B4-BE49-F238E27FC236}">
                        <a16:creationId xmlns:a16="http://schemas.microsoft.com/office/drawing/2014/main" id="{57E6E620-E580-606F-5183-439E2E75E879}"/>
                      </a:ext>
                    </a:extLst>
                  </p:cNvPr>
                  <p:cNvSpPr/>
                  <p:nvPr/>
                </p:nvSpPr>
                <p:spPr>
                  <a:xfrm>
                    <a:off x="-388725" y="516338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05" name="Oval 104" descr="A complete undirected non-simple graph of 4 nodes. It contains all ordered pairs of the 4 nodes as edges along with self-edge, giving the following 16 edges:&#10;(1,2),(2,1)(1,3),(3,1),(1,4),(4,1),(2,4),(4,2),(3,2)(2,3),(3,4),(4,3),(1,1),(2,2),(3,3),(4,4)&#10;&#10;In general, a complete directed non-simple graph of n nodes has n^2 edges">
                    <a:extLst>
                      <a:ext uri="{FF2B5EF4-FFF2-40B4-BE49-F238E27FC236}">
                        <a16:creationId xmlns:a16="http://schemas.microsoft.com/office/drawing/2014/main" id="{299B76C7-479F-7E2A-8439-49539F65348C}"/>
                      </a:ext>
                    </a:extLst>
                  </p:cNvPr>
                  <p:cNvSpPr/>
                  <p:nvPr/>
                </p:nvSpPr>
                <p:spPr>
                  <a:xfrm>
                    <a:off x="1931034" y="513517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cxnSp>
              <p:nvCxnSpPr>
                <p:cNvPr id="96" name="Straight Connector 95">
                  <a:extLst>
                    <a:ext uri="{FF2B5EF4-FFF2-40B4-BE49-F238E27FC236}">
                      <a16:creationId xmlns:a16="http://schemas.microsoft.com/office/drawing/2014/main" id="{E849EE9E-1689-9D70-42AC-4990CC1047BC}"/>
                    </a:ext>
                  </a:extLst>
                </p:cNvPr>
                <p:cNvCxnSpPr>
                  <a:cxnSpLocks/>
                  <a:stCxn id="102" idx="5"/>
                  <a:endCxn id="105" idx="1"/>
                </p:cNvCxnSpPr>
                <p:nvPr/>
              </p:nvCxnSpPr>
              <p:spPr>
                <a:xfrm>
                  <a:off x="8903867" y="4151842"/>
                  <a:ext cx="1169029" cy="1069829"/>
                </a:xfrm>
                <a:prstGeom prst="line">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09" name="Connector: Curved 108">
                <a:extLst>
                  <a:ext uri="{FF2B5EF4-FFF2-40B4-BE49-F238E27FC236}">
                    <a16:creationId xmlns:a16="http://schemas.microsoft.com/office/drawing/2014/main" id="{EAB280D5-8B38-1A02-1A1E-6AAFBCBDFF3C}"/>
                  </a:ext>
                </a:extLst>
              </p:cNvPr>
              <p:cNvCxnSpPr>
                <a:cxnSpLocks/>
                <a:stCxn id="102" idx="2"/>
                <a:endCxn id="102" idx="0"/>
              </p:cNvCxnSpPr>
              <p:nvPr/>
            </p:nvCxnSpPr>
            <p:spPr>
              <a:xfrm rot="10800000" flipH="1">
                <a:off x="7359626"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Curved 112">
                <a:extLst>
                  <a:ext uri="{FF2B5EF4-FFF2-40B4-BE49-F238E27FC236}">
                    <a16:creationId xmlns:a16="http://schemas.microsoft.com/office/drawing/2014/main" id="{EC8AAE19-B417-E8DA-AF16-7D2A38B228B3}"/>
                  </a:ext>
                </a:extLst>
              </p:cNvPr>
              <p:cNvCxnSpPr>
                <a:cxnSpLocks/>
                <a:stCxn id="103" idx="6"/>
                <a:endCxn id="103" idx="0"/>
              </p:cNvCxnSpPr>
              <p:nvPr/>
            </p:nvCxnSpPr>
            <p:spPr>
              <a:xfrm flipH="1" flipV="1">
                <a:off x="8906943" y="3206160"/>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or: Curved 115">
                <a:extLst>
                  <a:ext uri="{FF2B5EF4-FFF2-40B4-BE49-F238E27FC236}">
                    <a16:creationId xmlns:a16="http://schemas.microsoft.com/office/drawing/2014/main" id="{DEDD00C3-0088-64FE-A5C8-A608B44F7253}"/>
                  </a:ext>
                </a:extLst>
              </p:cNvPr>
              <p:cNvCxnSpPr>
                <a:cxnSpLocks/>
                <a:stCxn id="105" idx="6"/>
                <a:endCxn id="105" idx="4"/>
              </p:cNvCxnSpPr>
              <p:nvPr/>
            </p:nvCxnSpPr>
            <p:spPr>
              <a:xfrm flipH="1">
                <a:off x="8906953" y="465428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ctor: Curved 118">
                <a:extLst>
                  <a:ext uri="{FF2B5EF4-FFF2-40B4-BE49-F238E27FC236}">
                    <a16:creationId xmlns:a16="http://schemas.microsoft.com/office/drawing/2014/main" id="{81CBC10A-9968-CBFF-40CB-013C222F0918}"/>
                  </a:ext>
                </a:extLst>
              </p:cNvPr>
              <p:cNvCxnSpPr>
                <a:cxnSpLocks/>
                <a:stCxn id="104" idx="4"/>
                <a:endCxn id="104" idx="2"/>
              </p:cNvCxnSpPr>
              <p:nvPr/>
            </p:nvCxnSpPr>
            <p:spPr>
              <a:xfrm rot="5400000" flipH="1">
                <a:off x="7333856" y="4671507"/>
                <a:ext cx="156696" cy="156696"/>
              </a:xfrm>
              <a:prstGeom prst="curvedConnector4">
                <a:avLst>
                  <a:gd name="adj1" fmla="val -145888"/>
                  <a:gd name="adj2" fmla="val 245888"/>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556869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3AC3-3AA8-E27B-FB78-7759EBA9B3EB}"/>
              </a:ext>
            </a:extLst>
          </p:cNvPr>
          <p:cNvSpPr>
            <a:spLocks noGrp="1"/>
          </p:cNvSpPr>
          <p:nvPr>
            <p:ph type="title"/>
          </p:nvPr>
        </p:nvSpPr>
        <p:spPr/>
        <p:txBody>
          <a:bodyPr/>
          <a:lstStyle/>
          <a:p>
            <a:r>
              <a:rPr lang="en-US" dirty="0"/>
              <a:t>Graph Density, Data Structures, Efficiency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155EE9-7CE2-D431-734A-223076BAE216}"/>
                  </a:ext>
                </a:extLst>
              </p:cNvPr>
              <p:cNvSpPr>
                <a:spLocks noGrp="1"/>
              </p:cNvSpPr>
              <p:nvPr>
                <p:ph idx="1"/>
              </p:nvPr>
            </p:nvSpPr>
            <p:spPr/>
            <p:txBody>
              <a:bodyPr>
                <a:normAutofit lnSpcReduction="10000"/>
              </a:bodyPr>
              <a:lstStyle/>
              <a:p>
                <a:r>
                  <a:rPr lang="en-US" dirty="0"/>
                  <a:t>The maximum number of edges in a graph is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sup>
                            <m:r>
                              <a:rPr lang="en-US" b="0" i="1" smtClean="0">
                                <a:latin typeface="Cambria Math" panose="02040503050406030204" pitchFamily="18" charset="0"/>
                              </a:rPr>
                              <m:t>2</m:t>
                            </m:r>
                          </m:sup>
                        </m:sSup>
                      </m:e>
                    </m:d>
                    <m:r>
                      <a:rPr lang="en-US" b="0" i="0" smtClean="0">
                        <a:latin typeface="Cambria Math" panose="02040503050406030204" pitchFamily="18" charset="0"/>
                      </a:rPr>
                      <m:t>:</m:t>
                    </m:r>
                  </m:oMath>
                </a14:m>
                <a:endParaRPr lang="en-US" b="0" dirty="0"/>
              </a:p>
              <a:p>
                <a:pPr lvl="1"/>
                <a:r>
                  <a:rPr lang="en-US" dirty="0"/>
                  <a:t>Undirected and simple: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num>
                      <m:den>
                        <m:r>
                          <a:rPr lang="en-US" b="0" i="1" smtClean="0">
                            <a:latin typeface="Cambria Math" panose="02040503050406030204" pitchFamily="18" charset="0"/>
                          </a:rPr>
                          <m:t>2</m:t>
                        </m:r>
                      </m:den>
                    </m:f>
                  </m:oMath>
                </a14:m>
                <a:endParaRPr lang="en-US" dirty="0"/>
              </a:p>
              <a:p>
                <a:pPr lvl="1"/>
                <a:r>
                  <a:rPr lang="en-US" dirty="0"/>
                  <a:t>Directed and simple: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|−1)</m:t>
                    </m:r>
                  </m:oMath>
                </a14:m>
                <a:endParaRPr lang="en-US" dirty="0"/>
              </a:p>
              <a:p>
                <a:pPr lvl="1"/>
                <a:r>
                  <a:rPr lang="en-US" dirty="0"/>
                  <a:t>Direct and non-simple (but no duplicates): </a:t>
                </a:r>
                <a14:m>
                  <m:oMath xmlns:m="http://schemas.openxmlformats.org/officeDocument/2006/math">
                    <m:sSup>
                      <m:sSupPr>
                        <m:ctrlPr>
                          <a:rPr lang="en-US" b="0" i="1" smtClean="0">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𝑉</m:t>
                        </m:r>
                        <m:r>
                          <a:rPr lang="en-US" i="1">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r>
                  <a:rPr lang="en-US" dirty="0"/>
                  <a:t>If the graph is connected, the minimum number of edges is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𝑉</m:t>
                        </m:r>
                      </m:e>
                    </m:d>
                    <m:r>
                      <a:rPr lang="en-US" b="0" i="1" smtClean="0">
                        <a:latin typeface="Cambria Math" panose="02040503050406030204" pitchFamily="18" charset="0"/>
                      </a:rPr>
                      <m:t>−1</m:t>
                    </m:r>
                  </m:oMath>
                </a14:m>
                <a:endParaRPr lang="en-US" dirty="0"/>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e>
                    </m:d>
                  </m:oMath>
                </a14:m>
                <a:r>
                  <a:rPr lang="en-US" dirty="0"/>
                  <a:t> we say the graph is </a:t>
                </a:r>
                <a:r>
                  <a:rPr lang="en-US" b="1" dirty="0"/>
                  <a:t>dense</a:t>
                </a:r>
              </a:p>
              <a:p>
                <a:r>
                  <a:rPr lang="en-US" dirty="0"/>
                  <a:t>If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d>
                  </m:oMath>
                </a14:m>
                <a:r>
                  <a:rPr lang="en-US" dirty="0"/>
                  <a:t> we say the graph is </a:t>
                </a:r>
                <a:r>
                  <a:rPr lang="en-US" b="1" dirty="0"/>
                  <a:t>sparse</a:t>
                </a:r>
                <a:endParaRPr lang="en-US" dirty="0"/>
              </a:p>
              <a:p>
                <a:r>
                  <a:rPr lang="en-US" dirty="0"/>
                  <a:t>Because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is not always near to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we do not typically substitute </a:t>
                </a:r>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oMath>
                </a14:m>
                <a:r>
                  <a:rPr lang="en-US" dirty="0"/>
                  <a:t> for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oMath>
                </a14:m>
                <a:r>
                  <a:rPr lang="en-US" dirty="0"/>
                  <a:t> in running times, but leave it as a separate variable</a:t>
                </a:r>
              </a:p>
              <a:p>
                <a:pPr lvl="1"/>
                <a:r>
                  <a:rPr lang="en-US" dirty="0"/>
                  <a:t>However,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e>
                        </m:d>
                      </m:e>
                    </m:func>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d>
                          </m:e>
                        </m:func>
                      </m:e>
                    </m:d>
                  </m:oMath>
                </a14:m>
                <a:endParaRPr lang="en-US" dirty="0"/>
              </a:p>
            </p:txBody>
          </p:sp>
        </mc:Choice>
        <mc:Fallback xmlns="">
          <p:sp>
            <p:nvSpPr>
              <p:cNvPr id="3" name="Content Placeholder 2">
                <a:extLst>
                  <a:ext uri="{FF2B5EF4-FFF2-40B4-BE49-F238E27FC236}">
                    <a16:creationId xmlns:a16="http://schemas.microsoft.com/office/drawing/2014/main" id="{F6155EE9-7CE2-D431-734A-223076BAE216}"/>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1487236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Path</a:t>
            </a:r>
          </a:p>
        </p:txBody>
      </p:sp>
      <p:grpSp>
        <p:nvGrpSpPr>
          <p:cNvPr id="5" name="Group 4" descr="An illustration of the following undirected graph:&#10;&#10;The vertices are: 1,2,3,4,5,6,7,8&#10;The edges are as follows:&#10;(1,2), (1,3), &#10;(2,5), (2,3), &#10;(3,4), (3,6), &#10;(4,5), (4,6), &#10;(5,7), (5,8), &#10;(6,7), &#10;(7,8), (7,9), &#10;(8,9)&#10;&#10;In this graph, the following is a simple path from node 1 to node 4: [1,2,5,7,6,4]&#10;&#10;The following is a cycle: [5,7,6,4,5]&#10;&#10;And the following is neither a simple path nor a cycle: [5,8,9,7,8]"/>
          <p:cNvGrpSpPr/>
          <p:nvPr/>
        </p:nvGrpSpPr>
        <p:grpSpPr>
          <a:xfrm>
            <a:off x="1524000" y="1687612"/>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mc:AlternateContent xmlns:mc="http://schemas.openxmlformats.org/markup-compatibility/2006" xmlns:a14="http://schemas.microsoft.com/office/drawing/2010/main">
        <mc:Choice Requires="a14">
          <p:sp>
            <p:nvSpPr>
              <p:cNvPr id="81" name="TextBox 80"/>
              <p:cNvSpPr txBox="1"/>
              <p:nvPr/>
            </p:nvSpPr>
            <p:spPr>
              <a:xfrm>
                <a:off x="4818101" y="1135560"/>
                <a:ext cx="5492466" cy="954107"/>
              </a:xfrm>
              <a:prstGeom prst="rect">
                <a:avLst/>
              </a:prstGeom>
              <a:noFill/>
            </p:spPr>
            <p:txBody>
              <a:bodyPr wrap="none" rtlCol="0">
                <a:spAutoFit/>
              </a:bodyPr>
              <a:lstStyle/>
              <a:p>
                <a:r>
                  <a:rPr lang="en-US" sz="2800" dirty="0"/>
                  <a:t>A </a:t>
                </a:r>
                <a:r>
                  <a:rPr lang="en-US" sz="2800" dirty="0">
                    <a:solidFill>
                      <a:srgbClr val="7030A0"/>
                    </a:solidFill>
                  </a:rPr>
                  <a:t>sequence of nodes </a:t>
                </a:r>
                <a14:m>
                  <m:oMath xmlns:m="http://schemas.openxmlformats.org/officeDocument/2006/math">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1</m:t>
                        </m:r>
                      </m:sub>
                    </m:sSub>
                    <m:r>
                      <a:rPr lang="en-US" sz="2800" i="1">
                        <a:solidFill>
                          <a:srgbClr val="7030A0"/>
                        </a:solidFill>
                        <a:latin typeface="Cambria Math"/>
                      </a:rPr>
                      <m:t>,</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2</m:t>
                        </m:r>
                      </m:sub>
                    </m:sSub>
                    <m:r>
                      <a:rPr lang="en-US" sz="2800" i="1">
                        <a:solidFill>
                          <a:srgbClr val="7030A0"/>
                        </a:solidFill>
                        <a:latin typeface="Cambria Math"/>
                      </a:rPr>
                      <m:t>,…, </m:t>
                    </m:r>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a:rPr>
                          <m:t>𝑣</m:t>
                        </m:r>
                      </m:e>
                      <m:sub>
                        <m:r>
                          <a:rPr lang="en-US" sz="2800" i="1">
                            <a:solidFill>
                              <a:srgbClr val="7030A0"/>
                            </a:solidFill>
                            <a:latin typeface="Cambria Math"/>
                          </a:rPr>
                          <m:t>𝑘</m:t>
                        </m:r>
                      </m:sub>
                    </m:sSub>
                    <m:r>
                      <a:rPr lang="en-US" sz="2800" i="1">
                        <a:solidFill>
                          <a:srgbClr val="7030A0"/>
                        </a:solidFill>
                        <a:latin typeface="Cambria Math"/>
                      </a:rPr>
                      <m:t>)</m:t>
                    </m:r>
                  </m:oMath>
                </a14:m>
                <a:r>
                  <a:rPr lang="en-US" sz="2800" dirty="0">
                    <a:solidFill>
                      <a:srgbClr val="7030A0"/>
                    </a:solidFill>
                  </a:rPr>
                  <a:t> </a:t>
                </a:r>
                <a:endParaRPr lang="en-US" sz="2800" dirty="0"/>
              </a:p>
              <a:p>
                <a:r>
                  <a:rPr lang="en-US" sz="2800" dirty="0" err="1"/>
                  <a:t>s.t.</a:t>
                </a:r>
                <a:r>
                  <a:rPr lang="en-US" sz="2800" dirty="0"/>
                  <a:t> </a:t>
                </a:r>
                <a14:m>
                  <m:oMath xmlns:m="http://schemas.openxmlformats.org/officeDocument/2006/math">
                    <m:r>
                      <a:rPr lang="en-US" sz="2800" i="1">
                        <a:latin typeface="Cambria Math"/>
                      </a:rPr>
                      <m:t>∀1≤</m:t>
                    </m:r>
                    <m:r>
                      <a:rPr lang="en-US" sz="2800" i="1">
                        <a:latin typeface="Cambria Math"/>
                      </a:rPr>
                      <m:t>𝑖</m:t>
                    </m:r>
                    <m:r>
                      <a:rPr lang="en-US" sz="2800" i="1">
                        <a:latin typeface="Cambria Math"/>
                      </a:rPr>
                      <m:t>≤</m:t>
                    </m:r>
                    <m:r>
                      <a:rPr lang="en-US" sz="2800" i="1">
                        <a:latin typeface="Cambria Math"/>
                      </a:rPr>
                      <m:t>𝑘</m:t>
                    </m:r>
                    <m:r>
                      <a:rPr lang="en-US" sz="2800" i="1">
                        <a:latin typeface="Cambria Math"/>
                      </a:rPr>
                      <m:t>−1</m:t>
                    </m:r>
                  </m:oMath>
                </a14:m>
                <a:r>
                  <a:rPr lang="en-US" sz="2800" dirty="0"/>
                  <a:t>, </a:t>
                </a:r>
                <a14:m>
                  <m:oMath xmlns:m="http://schemas.openxmlformats.org/officeDocument/2006/math">
                    <m:d>
                      <m:dPr>
                        <m:ctrlPr>
                          <a:rPr lang="en-US" sz="2800" i="1">
                            <a:solidFill>
                              <a:srgbClr val="FF0000"/>
                            </a:solidFill>
                            <a:latin typeface="Cambria Math" panose="02040503050406030204" pitchFamily="18" charset="0"/>
                          </a:rPr>
                        </m:ctrlPr>
                      </m:d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sub>
                        </m:sSub>
                        <m:r>
                          <a:rPr lang="en-US" sz="2800" i="1">
                            <a:solidFill>
                              <a:srgbClr val="FF0000"/>
                            </a:solidFill>
                            <a:latin typeface="Cambria Math"/>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a:rPr>
                              <m:t>𝑣</m:t>
                            </m:r>
                          </m:e>
                          <m:sub>
                            <m:r>
                              <a:rPr lang="en-US" sz="2800" i="1">
                                <a:solidFill>
                                  <a:srgbClr val="FF0000"/>
                                </a:solidFill>
                                <a:latin typeface="Cambria Math"/>
                              </a:rPr>
                              <m:t>𝑖</m:t>
                            </m:r>
                            <m:r>
                              <a:rPr lang="en-US" sz="2800" i="1">
                                <a:solidFill>
                                  <a:srgbClr val="FF0000"/>
                                </a:solidFill>
                                <a:latin typeface="Cambria Math"/>
                              </a:rPr>
                              <m:t>+1</m:t>
                            </m:r>
                          </m:sub>
                        </m:sSub>
                      </m:e>
                    </m:d>
                    <m:r>
                      <a:rPr lang="en-US" sz="2800" i="1">
                        <a:solidFill>
                          <a:srgbClr val="FF0000"/>
                        </a:solidFill>
                        <a:latin typeface="Cambria Math"/>
                      </a:rPr>
                      <m:t>∈</m:t>
                    </m:r>
                    <m:r>
                      <a:rPr lang="en-US" sz="2800" i="1">
                        <a:solidFill>
                          <a:srgbClr val="FF0000"/>
                        </a:solidFill>
                        <a:latin typeface="Cambria Math"/>
                      </a:rPr>
                      <m:t>𝐸</m:t>
                    </m:r>
                  </m:oMath>
                </a14:m>
                <a:endParaRPr lang="en-US" sz="2800" dirty="0">
                  <a:solidFill>
                    <a:srgbClr val="FF000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4818101" y="1135560"/>
                <a:ext cx="5492466" cy="954107"/>
              </a:xfrm>
              <a:prstGeom prst="rect">
                <a:avLst/>
              </a:prstGeom>
              <a:blipFill>
                <a:blip r:embed="rId2"/>
                <a:stretch>
                  <a:fillRect l="-2074" t="-5195" b="-15584"/>
                </a:stretch>
              </a:blipFill>
            </p:spPr>
            <p:txBody>
              <a:bodyPr/>
              <a:lstStyle/>
              <a:p>
                <a:r>
                  <a:rPr lang="en-US">
                    <a:noFill/>
                  </a:rPr>
                  <a:t> </a:t>
                </a:r>
              </a:p>
            </p:txBody>
          </p:sp>
        </mc:Fallback>
      </mc:AlternateContent>
      <p:sp>
        <p:nvSpPr>
          <p:cNvPr id="52" name="TextBox 51"/>
          <p:cNvSpPr txBox="1"/>
          <p:nvPr/>
        </p:nvSpPr>
        <p:spPr>
          <a:xfrm>
            <a:off x="1783389" y="4800601"/>
            <a:ext cx="4108321" cy="1384995"/>
          </a:xfrm>
          <a:prstGeom prst="rect">
            <a:avLst/>
          </a:prstGeom>
          <a:noFill/>
        </p:spPr>
        <p:txBody>
          <a:bodyPr wrap="square" rtlCol="0">
            <a:spAutoFit/>
          </a:bodyPr>
          <a:lstStyle/>
          <a:p>
            <a:r>
              <a:rPr lang="en-US" sz="2800" u="sng" dirty="0"/>
              <a:t>Simple Path:</a:t>
            </a:r>
          </a:p>
          <a:p>
            <a:r>
              <a:rPr lang="en-US" sz="2800" dirty="0"/>
              <a:t>A path in which each node appears at most once</a:t>
            </a:r>
          </a:p>
        </p:txBody>
      </p:sp>
      <p:sp>
        <p:nvSpPr>
          <p:cNvPr id="154" name="TextBox 153"/>
          <p:cNvSpPr txBox="1"/>
          <p:nvPr/>
        </p:nvSpPr>
        <p:spPr>
          <a:xfrm>
            <a:off x="6559680" y="4800600"/>
            <a:ext cx="4108321" cy="1384995"/>
          </a:xfrm>
          <a:prstGeom prst="rect">
            <a:avLst/>
          </a:prstGeom>
          <a:noFill/>
        </p:spPr>
        <p:txBody>
          <a:bodyPr wrap="square" rtlCol="0">
            <a:spAutoFit/>
          </a:bodyPr>
          <a:lstStyle/>
          <a:p>
            <a:r>
              <a:rPr lang="en-US" sz="2800" u="sng" dirty="0"/>
              <a:t>Cycle:</a:t>
            </a:r>
          </a:p>
          <a:p>
            <a:r>
              <a:rPr lang="en-US" sz="2800" dirty="0"/>
              <a:t>A path which starts and ends in the same place</a:t>
            </a:r>
          </a:p>
        </p:txBody>
      </p:sp>
    </p:spTree>
    <p:extLst>
      <p:ext uri="{BB962C8B-B14F-4D97-AF65-F5344CB8AC3E}">
        <p14:creationId xmlns:p14="http://schemas.microsoft.com/office/powerpoint/2010/main" val="1054982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(Strongly)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954107"/>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endParaRPr lang="en-US" sz="2800" dirty="0"/>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954107"/>
              </a:xfrm>
              <a:prstGeom prst="rect">
                <a:avLst/>
              </a:prstGeom>
              <a:blipFill>
                <a:blip r:embed="rId2"/>
                <a:stretch>
                  <a:fillRect l="-1855" t="-6579" b="-15789"/>
                </a:stretch>
              </a:blipFill>
            </p:spPr>
            <p:txBody>
              <a:bodyPr/>
              <a:lstStyle/>
              <a:p>
                <a:r>
                  <a:rPr lang="en-US">
                    <a:noFill/>
                  </a:rPr>
                  <a:t> </a:t>
                </a:r>
              </a:p>
            </p:txBody>
          </p:sp>
        </mc:Fallback>
      </mc:AlternateContent>
      <p:grpSp>
        <p:nvGrpSpPr>
          <p:cNvPr id="47" name="Group 46" descr="An illustration of the following undirected graph:&#10;&#10;The vertices are: 1,2,3,4,5,6,7,8&#10;The edges are as follows:&#10;(1,2), (1,3), &#10;(2,5), (2,3), &#10;(3,4), (3,6), &#10;(4,5), (4,6), &#10;(5,7), (5,8), &#10;(6,7), &#10;(7,8), (7,9), &#10;(8,9)&#10;&#10;Because we can identify a path from any node to any other node in this graph, it is connected.">
            <a:extLst>
              <a:ext uri="{FF2B5EF4-FFF2-40B4-BE49-F238E27FC236}">
                <a16:creationId xmlns:a16="http://schemas.microsoft.com/office/drawing/2014/main" id="{2B921582-14F2-2CDF-EE5D-D0B88021BD72}"/>
              </a:ext>
            </a:extLst>
          </p:cNvPr>
          <p:cNvGrpSpPr/>
          <p:nvPr/>
        </p:nvGrpSpPr>
        <p:grpSpPr>
          <a:xfrm>
            <a:off x="1616182" y="3116577"/>
            <a:ext cx="4301146" cy="3151832"/>
            <a:chOff x="1616182" y="3116577"/>
            <a:chExt cx="4301146" cy="3151832"/>
          </a:xfrm>
        </p:grpSpPr>
        <p:grpSp>
          <p:nvGrpSpPr>
            <p:cNvPr id="31" name="Group 30">
              <a:extLst>
                <a:ext uri="{FF2B5EF4-FFF2-40B4-BE49-F238E27FC236}">
                  <a16:creationId xmlns:a16="http://schemas.microsoft.com/office/drawing/2014/main" id="{8737F504-B85A-1520-E7F4-8989BE84231C}"/>
                </a:ext>
              </a:extLst>
            </p:cNvPr>
            <p:cNvGrpSpPr/>
            <p:nvPr/>
          </p:nvGrpSpPr>
          <p:grpSpPr>
            <a:xfrm>
              <a:off x="1616182" y="3116577"/>
              <a:ext cx="4301146" cy="2374232"/>
              <a:chOff x="0" y="3020093"/>
              <a:chExt cx="7044346" cy="3888478"/>
            </a:xfrm>
          </p:grpSpPr>
          <p:cxnSp>
            <p:nvCxnSpPr>
              <p:cNvPr id="32" name="Straight Connector 31">
                <a:extLst>
                  <a:ext uri="{FF2B5EF4-FFF2-40B4-BE49-F238E27FC236}">
                    <a16:creationId xmlns:a16="http://schemas.microsoft.com/office/drawing/2014/main" id="{5E1BD8B7-4CC3-76C2-B59D-BB8E9AB4F6AB}"/>
                  </a:ext>
                </a:extLst>
              </p:cNvPr>
              <p:cNvCxnSpPr>
                <a:stCxn id="85" idx="7"/>
                <a:endCxn id="8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0A5863F-100D-A240-865D-33C97E04E063}"/>
                  </a:ext>
                </a:extLst>
              </p:cNvPr>
              <p:cNvCxnSpPr>
                <a:stCxn id="86" idx="6"/>
                <a:endCxn id="89"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CEE1F91-DED4-E4D4-2B84-54D4FDE1057A}"/>
                  </a:ext>
                </a:extLst>
              </p:cNvPr>
              <p:cNvCxnSpPr>
                <a:stCxn id="85" idx="4"/>
                <a:endCxn id="8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FEBBBC-BC80-BAFB-02A9-944572FA7FA8}"/>
                  </a:ext>
                </a:extLst>
              </p:cNvPr>
              <p:cNvCxnSpPr>
                <a:stCxn id="88" idx="3"/>
                <a:endCxn id="8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4ECCA56-B715-95D0-83A6-60AF5A7297FF}"/>
                  </a:ext>
                </a:extLst>
              </p:cNvPr>
              <p:cNvCxnSpPr>
                <a:stCxn id="90" idx="2"/>
                <a:endCxn id="87"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2590685-BC32-4A6F-5A37-D6428C971D84}"/>
                  </a:ext>
                </a:extLst>
              </p:cNvPr>
              <p:cNvCxnSpPr>
                <a:stCxn id="88" idx="5"/>
                <a:endCxn id="9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22BE66F-CBDB-9CEF-9F06-ADB5F68BD1CB}"/>
                  </a:ext>
                </a:extLst>
              </p:cNvPr>
              <p:cNvCxnSpPr>
                <a:stCxn id="88" idx="7"/>
                <a:endCxn id="8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ED1E064-189B-F03C-1A06-B7A4627BCB55}"/>
                  </a:ext>
                </a:extLst>
              </p:cNvPr>
              <p:cNvCxnSpPr>
                <a:stCxn id="90" idx="6"/>
                <a:endCxn id="91"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8FDEE05-0F64-09AD-162E-CEBA1DE2EEA0}"/>
                  </a:ext>
                </a:extLst>
              </p:cNvPr>
              <p:cNvCxnSpPr>
                <a:stCxn id="91" idx="1"/>
                <a:endCxn id="8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0AC6570-6D5A-48F4-4C13-5FEA4B295FA6}"/>
                  </a:ext>
                </a:extLst>
              </p:cNvPr>
              <p:cNvCxnSpPr>
                <a:stCxn id="93" idx="2"/>
                <a:endCxn id="89"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A429117-4959-566E-2650-71AFD0E1BBAA}"/>
                  </a:ext>
                </a:extLst>
              </p:cNvPr>
              <p:cNvCxnSpPr>
                <a:stCxn id="91" idx="0"/>
                <a:endCxn id="93"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2EDC6FD-F830-449D-BEA8-3A01CC00C88D}"/>
                  </a:ext>
                </a:extLst>
              </p:cNvPr>
              <p:cNvCxnSpPr>
                <a:stCxn id="92" idx="1"/>
                <a:endCxn id="93"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4325B0E-E771-8B2A-813B-1C9C414A2711}"/>
                  </a:ext>
                </a:extLst>
              </p:cNvPr>
              <p:cNvCxnSpPr>
                <a:stCxn id="92" idx="3"/>
                <a:endCxn id="91"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75438BD-A475-6206-0EF0-890B3A937474}"/>
                  </a:ext>
                </a:extLst>
              </p:cNvPr>
              <p:cNvCxnSpPr>
                <a:stCxn id="86" idx="4"/>
                <a:endCxn id="87"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433C72C6-1468-0C1C-DAFA-E75622DA098E}"/>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6" name="Oval 85">
                <a:extLst>
                  <a:ext uri="{FF2B5EF4-FFF2-40B4-BE49-F238E27FC236}">
                    <a16:creationId xmlns:a16="http://schemas.microsoft.com/office/drawing/2014/main" id="{5C6235E6-E60A-062C-E312-5D5F0758C46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87" name="Oval 86">
                <a:extLst>
                  <a:ext uri="{FF2B5EF4-FFF2-40B4-BE49-F238E27FC236}">
                    <a16:creationId xmlns:a16="http://schemas.microsoft.com/office/drawing/2014/main" id="{266721D1-8A4C-2F76-CAA9-FEE941202C6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88" name="Oval 87">
                <a:extLst>
                  <a:ext uri="{FF2B5EF4-FFF2-40B4-BE49-F238E27FC236}">
                    <a16:creationId xmlns:a16="http://schemas.microsoft.com/office/drawing/2014/main" id="{A11DC63D-5D3B-50C2-0184-D0A5C0983F4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9" name="Oval 88">
                <a:extLst>
                  <a:ext uri="{FF2B5EF4-FFF2-40B4-BE49-F238E27FC236}">
                    <a16:creationId xmlns:a16="http://schemas.microsoft.com/office/drawing/2014/main" id="{A85C5B94-C7C8-EF44-98C4-BE12B03F598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90" name="Oval 89">
                <a:extLst>
                  <a:ext uri="{FF2B5EF4-FFF2-40B4-BE49-F238E27FC236}">
                    <a16:creationId xmlns:a16="http://schemas.microsoft.com/office/drawing/2014/main" id="{B2B540B4-CB17-9AE6-4BB0-4C37019F579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91" name="Oval 90">
                <a:extLst>
                  <a:ext uri="{FF2B5EF4-FFF2-40B4-BE49-F238E27FC236}">
                    <a16:creationId xmlns:a16="http://schemas.microsoft.com/office/drawing/2014/main" id="{33EC8594-8ABF-2A8A-5F6C-A051BCCEB0DB}"/>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92" name="Oval 91">
                <a:extLst>
                  <a:ext uri="{FF2B5EF4-FFF2-40B4-BE49-F238E27FC236}">
                    <a16:creationId xmlns:a16="http://schemas.microsoft.com/office/drawing/2014/main" id="{4BEDAF14-D53E-75A5-E285-6B0F2B4BACC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93" name="Oval 92">
                <a:extLst>
                  <a:ext uri="{FF2B5EF4-FFF2-40B4-BE49-F238E27FC236}">
                    <a16:creationId xmlns:a16="http://schemas.microsoft.com/office/drawing/2014/main" id="{A3638133-CC72-9171-3757-AEDA085786C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
          <p:nvSpPr>
            <p:cNvPr id="45" name="TextBox 44">
              <a:extLst>
                <a:ext uri="{FF2B5EF4-FFF2-40B4-BE49-F238E27FC236}">
                  <a16:creationId xmlns:a16="http://schemas.microsoft.com/office/drawing/2014/main" id="{1E0F26B5-366A-711E-D723-7F1979D24DA8}"/>
                </a:ext>
              </a:extLst>
            </p:cNvPr>
            <p:cNvSpPr txBox="1"/>
            <p:nvPr/>
          </p:nvSpPr>
          <p:spPr>
            <a:xfrm>
              <a:off x="2548407" y="5745189"/>
              <a:ext cx="1756571" cy="523220"/>
            </a:xfrm>
            <a:prstGeom prst="rect">
              <a:avLst/>
            </a:prstGeom>
            <a:noFill/>
          </p:spPr>
          <p:txBody>
            <a:bodyPr wrap="none" rtlCol="0">
              <a:spAutoFit/>
            </a:bodyPr>
            <a:lstStyle/>
            <a:p>
              <a:r>
                <a:rPr lang="en-US" sz="2800" dirty="0"/>
                <a:t>Connected</a:t>
              </a:r>
            </a:p>
          </p:txBody>
        </p:sp>
      </p:grpSp>
      <p:grpSp>
        <p:nvGrpSpPr>
          <p:cNvPr id="48" name="Group 47" descr="An illustration of the following undirected graph:&#10;&#10;The vertices are: 1,2,3,4,5,6,7,8&#10;The edges are as follows:&#10;(1,2), (1,3), &#10;(2,5), &#10;(3,2), (3,4), (3,6), &#10;(4,6), &#10;(5,4), (5,8), &#10;(6,3),  &#10;(7,5), (7,6), (7,8) &#10;(8,7),&#10;(9,7), (9,8)&#10;&#10;To be strongly connected we need to be able to identify a path from any node to any other node. Even thought there is a path from node 9 to node 7, there is not a path from node 7 to node 9, so it is not strongly connected.">
            <a:extLst>
              <a:ext uri="{FF2B5EF4-FFF2-40B4-BE49-F238E27FC236}">
                <a16:creationId xmlns:a16="http://schemas.microsoft.com/office/drawing/2014/main" id="{905F0962-A3E0-271C-79D6-0552E34A7DD3}"/>
              </a:ext>
            </a:extLst>
          </p:cNvPr>
          <p:cNvGrpSpPr/>
          <p:nvPr/>
        </p:nvGrpSpPr>
        <p:grpSpPr>
          <a:xfrm>
            <a:off x="7066996" y="2971845"/>
            <a:ext cx="4385159" cy="3327415"/>
            <a:chOff x="7066996" y="2971845"/>
            <a:chExt cx="4385159" cy="3327415"/>
          </a:xfrm>
        </p:grpSpPr>
        <p:grpSp>
          <p:nvGrpSpPr>
            <p:cNvPr id="3" name="Group 2" descr="An illustration of the following undirected graph:&#10;&#10;The vertices are: 1,2,3,4,5,6,7,8&#10;The edges are as follows:&#10;(1,2), (1,3), &#10;(2,5), &#10;(3,2), (3,4), (3,6), &#10;(4,6), &#10;(5,4), (5,8), &#10;(6,3),  &#10;(7,5), (7,6), (7,8) &#10;(8,7),&#10;(9,7), (9,8)">
              <a:extLst>
                <a:ext uri="{FF2B5EF4-FFF2-40B4-BE49-F238E27FC236}">
                  <a16:creationId xmlns:a16="http://schemas.microsoft.com/office/drawing/2014/main" id="{81BF1141-E287-AF7C-AFF5-2F8E9B62CA1A}"/>
                </a:ext>
              </a:extLst>
            </p:cNvPr>
            <p:cNvGrpSpPr/>
            <p:nvPr/>
          </p:nvGrpSpPr>
          <p:grpSpPr>
            <a:xfrm>
              <a:off x="7066996" y="2971845"/>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1DBCCB78-25D1-DA64-D181-C086C657BD95}"/>
                </a:ext>
              </a:extLst>
            </p:cNvPr>
            <p:cNvSpPr txBox="1"/>
            <p:nvPr/>
          </p:nvSpPr>
          <p:spPr>
            <a:xfrm>
              <a:off x="7493777" y="5776040"/>
              <a:ext cx="3846694" cy="523220"/>
            </a:xfrm>
            <a:prstGeom prst="rect">
              <a:avLst/>
            </a:prstGeom>
            <a:noFill/>
          </p:spPr>
          <p:txBody>
            <a:bodyPr wrap="none" rtlCol="0">
              <a:spAutoFit/>
            </a:bodyPr>
            <a:lstStyle/>
            <a:p>
              <a:r>
                <a:rPr lang="en-US" sz="2800" dirty="0"/>
                <a:t>Not (strongly) Connected</a:t>
              </a:r>
            </a:p>
          </p:txBody>
        </p:sp>
      </p:grpSp>
    </p:spTree>
    <p:extLst>
      <p:ext uri="{BB962C8B-B14F-4D97-AF65-F5344CB8AC3E}">
        <p14:creationId xmlns:p14="http://schemas.microsoft.com/office/powerpoint/2010/main" val="2162532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Weakly Connected Graph</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a:t>
                </a:r>
                <a:r>
                  <a:rPr lang="en-US" sz="2800" dirty="0" err="1"/>
                  <a:t>s.t.</a:t>
                </a:r>
                <a:r>
                  <a:rPr lang="en-US" sz="2800" dirty="0"/>
                  <a:t> for any pair of nodes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oMath>
                </a14:m>
                <a:r>
                  <a:rPr lang="en-US" sz="2800" dirty="0"/>
                  <a:t> there is a path from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oMath>
                </a14:m>
                <a:r>
                  <a:rPr lang="en-US" sz="2800" dirty="0"/>
                  <a:t> to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oMath>
                </a14:m>
                <a:r>
                  <a:rPr lang="en-US" sz="2800" dirty="0"/>
                  <a:t> ignoring direction of edges</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1" name="Group 30" descr="An illustration of the following undirected graph:&#10;&#10;The vertices are: 1,2,3,4,5,6,7,8&#10;The edges are as follows:&#10;(1,2), (1,3), &#10;(2,5), &#10;(3,2), (3,4), (3,6), &#10;(4,6), &#10;(5,4), (5,8), &#10;(6,3),  &#10;(7,5), (7,6), (7,8) &#10;(8,7),&#10;(9,7), (9,8)&#10;&#10;Even though the graph was not strongly connected, by ignoring edge direction we can get from any node to any other node, making it weakly connected.">
            <a:extLst>
              <a:ext uri="{FF2B5EF4-FFF2-40B4-BE49-F238E27FC236}">
                <a16:creationId xmlns:a16="http://schemas.microsoft.com/office/drawing/2014/main" id="{19BC0474-2A8C-0AB9-1FE3-EA12B04EF99D}"/>
              </a:ext>
            </a:extLst>
          </p:cNvPr>
          <p:cNvGrpSpPr/>
          <p:nvPr/>
        </p:nvGrpSpPr>
        <p:grpSpPr>
          <a:xfrm>
            <a:off x="1345045" y="3509073"/>
            <a:ext cx="4385159" cy="3094574"/>
            <a:chOff x="1345045" y="3509073"/>
            <a:chExt cx="4385159" cy="3094574"/>
          </a:xfrm>
        </p:grpSpPr>
        <p:grpSp>
          <p:nvGrpSpPr>
            <p:cNvPr id="3" name="Group 2">
              <a:extLst>
                <a:ext uri="{FF2B5EF4-FFF2-40B4-BE49-F238E27FC236}">
                  <a16:creationId xmlns:a16="http://schemas.microsoft.com/office/drawing/2014/main" id="{81BF1141-E287-AF7C-AFF5-2F8E9B62CA1A}"/>
                </a:ext>
              </a:extLst>
            </p:cNvPr>
            <p:cNvGrpSpPr/>
            <p:nvPr/>
          </p:nvGrpSpPr>
          <p:grpSpPr>
            <a:xfrm>
              <a:off x="1345045" y="3509073"/>
              <a:ext cx="4385159" cy="2420607"/>
              <a:chOff x="1524000" y="2625729"/>
              <a:chExt cx="7044346" cy="3888478"/>
            </a:xfrm>
          </p:grpSpPr>
          <p:grpSp>
            <p:nvGrpSpPr>
              <p:cNvPr id="5" name="Group 4">
                <a:extLst>
                  <a:ext uri="{FF2B5EF4-FFF2-40B4-BE49-F238E27FC236}">
                    <a16:creationId xmlns:a16="http://schemas.microsoft.com/office/drawing/2014/main" id="{AEE66EC6-58BA-8B7F-F97E-CEC5873CDDC7}"/>
                  </a:ext>
                </a:extLst>
              </p:cNvPr>
              <p:cNvGrpSpPr/>
              <p:nvPr/>
            </p:nvGrpSpPr>
            <p:grpSpPr>
              <a:xfrm>
                <a:off x="1524000" y="2625729"/>
                <a:ext cx="7044346" cy="3888478"/>
                <a:chOff x="0" y="3020093"/>
                <a:chExt cx="7044346" cy="3888478"/>
              </a:xfrm>
            </p:grpSpPr>
            <p:cxnSp>
              <p:nvCxnSpPr>
                <p:cNvPr id="8" name="Straight Connector 7">
                  <a:extLst>
                    <a:ext uri="{FF2B5EF4-FFF2-40B4-BE49-F238E27FC236}">
                      <a16:creationId xmlns:a16="http://schemas.microsoft.com/office/drawing/2014/main" id="{89AFC12B-39C3-99AC-053B-CE2CCA14BA75}"/>
                    </a:ext>
                  </a:extLst>
                </p:cNvPr>
                <p:cNvCxnSpPr>
                  <a:stCxn id="22" idx="7"/>
                  <a:endCxn id="23"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F04E6-0506-14DD-C1B8-061A0C100FEC}"/>
                    </a:ext>
                  </a:extLst>
                </p:cNvPr>
                <p:cNvCxnSpPr>
                  <a:stCxn id="23" idx="6"/>
                  <a:endCxn id="26"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E6AEB8A-3153-8E0D-0156-6F98D5335F49}"/>
                    </a:ext>
                  </a:extLst>
                </p:cNvPr>
                <p:cNvCxnSpPr>
                  <a:stCxn id="22" idx="4"/>
                  <a:endCxn id="24"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D5F06FF-1FBB-51C9-D087-2A0EB822B04D}"/>
                    </a:ext>
                  </a:extLst>
                </p:cNvPr>
                <p:cNvCxnSpPr>
                  <a:stCxn id="25" idx="3"/>
                  <a:endCxn id="24" idx="7"/>
                </p:cNvCxnSpPr>
                <p:nvPr/>
              </p:nvCxnSpPr>
              <p:spPr>
                <a:xfrm flipH="1">
                  <a:off x="1477469" y="4930617"/>
                  <a:ext cx="1172042" cy="7930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5098F52-2824-8AA8-3922-992FB49EB3E5}"/>
                    </a:ext>
                  </a:extLst>
                </p:cNvPr>
                <p:cNvCxnSpPr>
                  <a:stCxn id="27" idx="2"/>
                  <a:endCxn id="24" idx="5"/>
                </p:cNvCxnSpPr>
                <p:nvPr/>
              </p:nvCxnSpPr>
              <p:spPr>
                <a:xfrm flipH="1" flipV="1">
                  <a:off x="1477469" y="6086626"/>
                  <a:ext cx="1369411" cy="5653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475DF4-532D-38A5-63C3-9BA7C3D6939C}"/>
                    </a:ext>
                  </a:extLst>
                </p:cNvPr>
                <p:cNvCxnSpPr>
                  <a:stCxn id="25" idx="5"/>
                  <a:endCxn id="27"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64BD50-F8D5-5D5A-95EF-5568D430D039}"/>
                    </a:ext>
                  </a:extLst>
                </p:cNvPr>
                <p:cNvCxnSpPr>
                  <a:stCxn id="25" idx="7"/>
                  <a:endCxn id="26" idx="3"/>
                </p:cNvCxnSpPr>
                <p:nvPr/>
              </p:nvCxnSpPr>
              <p:spPr>
                <a:xfrm flipV="1">
                  <a:off x="3012447" y="3510585"/>
                  <a:ext cx="1017218" cy="105709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7C31DA-8F2A-8F23-C636-D1342B4A7DF4}"/>
                    </a:ext>
                  </a:extLst>
                </p:cNvPr>
                <p:cNvCxnSpPr>
                  <a:stCxn id="27" idx="6"/>
                  <a:endCxn id="28"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EA4FB5-ABAC-FB0F-FE78-8BE2B901BF66}"/>
                    </a:ext>
                  </a:extLst>
                </p:cNvPr>
                <p:cNvCxnSpPr>
                  <a:stCxn id="28" idx="1"/>
                  <a:endCxn id="26" idx="4"/>
                </p:cNvCxnSpPr>
                <p:nvPr/>
              </p:nvCxnSpPr>
              <p:spPr>
                <a:xfrm flipH="1" flipV="1">
                  <a:off x="4211133" y="3585751"/>
                  <a:ext cx="865200" cy="262808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05BF0B6-60ED-3C2A-9FB3-DC753FC6FAA6}"/>
                    </a:ext>
                  </a:extLst>
                </p:cNvPr>
                <p:cNvCxnSpPr>
                  <a:stCxn id="30" idx="2"/>
                  <a:endCxn id="26" idx="5"/>
                </p:cNvCxnSpPr>
                <p:nvPr/>
              </p:nvCxnSpPr>
              <p:spPr>
                <a:xfrm flipH="1" flipV="1">
                  <a:off x="4392601" y="3510585"/>
                  <a:ext cx="913997" cy="495205"/>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746BAB-BB1E-C2B2-520A-A86FCCB55CE7}"/>
                    </a:ext>
                  </a:extLst>
                </p:cNvPr>
                <p:cNvCxnSpPr>
                  <a:stCxn id="28" idx="0"/>
                  <a:endCxn id="30"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AC7CFD-ECC5-6018-3782-7B088AECD37C}"/>
                    </a:ext>
                  </a:extLst>
                </p:cNvPr>
                <p:cNvCxnSpPr>
                  <a:stCxn id="29" idx="1"/>
                  <a:endCxn id="30"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AEBB05-4F00-801A-D566-A93053A1D101}"/>
                    </a:ext>
                  </a:extLst>
                </p:cNvPr>
                <p:cNvCxnSpPr>
                  <a:stCxn id="29" idx="3"/>
                  <a:endCxn id="28"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B02D6-9344-FD5B-8B88-9AC79699BFFE}"/>
                    </a:ext>
                  </a:extLst>
                </p:cNvPr>
                <p:cNvCxnSpPr>
                  <a:stCxn id="23" idx="4"/>
                  <a:endCxn id="24"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1DAE3905-1B05-6124-AB53-61458D9EB97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3" name="Oval 22">
                  <a:extLst>
                    <a:ext uri="{FF2B5EF4-FFF2-40B4-BE49-F238E27FC236}">
                      <a16:creationId xmlns:a16="http://schemas.microsoft.com/office/drawing/2014/main" id="{3C3D966A-9151-52E6-017F-2694581BB74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4" name="Oval 23">
                  <a:extLst>
                    <a:ext uri="{FF2B5EF4-FFF2-40B4-BE49-F238E27FC236}">
                      <a16:creationId xmlns:a16="http://schemas.microsoft.com/office/drawing/2014/main" id="{62A45554-D79D-45C9-7301-93F33FFEF2C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5" name="Oval 24">
                  <a:extLst>
                    <a:ext uri="{FF2B5EF4-FFF2-40B4-BE49-F238E27FC236}">
                      <a16:creationId xmlns:a16="http://schemas.microsoft.com/office/drawing/2014/main" id="{0BF1C4A5-87DC-6397-F7B4-E8B6A536313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6" name="Oval 25">
                  <a:extLst>
                    <a:ext uri="{FF2B5EF4-FFF2-40B4-BE49-F238E27FC236}">
                      <a16:creationId xmlns:a16="http://schemas.microsoft.com/office/drawing/2014/main" id="{BE2669F6-C388-5DB3-8B7C-276BF872A7B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7" name="Oval 26">
                  <a:extLst>
                    <a:ext uri="{FF2B5EF4-FFF2-40B4-BE49-F238E27FC236}">
                      <a16:creationId xmlns:a16="http://schemas.microsoft.com/office/drawing/2014/main" id="{AE4EA7AE-E274-5D22-6F89-0AB74F01887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8" name="Oval 27">
                  <a:extLst>
                    <a:ext uri="{FF2B5EF4-FFF2-40B4-BE49-F238E27FC236}">
                      <a16:creationId xmlns:a16="http://schemas.microsoft.com/office/drawing/2014/main" id="{CADFF9D3-A17E-83D3-E0AB-24C0F47B6A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9" name="Oval 28">
                  <a:extLst>
                    <a:ext uri="{FF2B5EF4-FFF2-40B4-BE49-F238E27FC236}">
                      <a16:creationId xmlns:a16="http://schemas.microsoft.com/office/drawing/2014/main" id="{8057FAA4-BCDD-0947-760F-FCDFF8FAB60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0" name="Oval 29">
                  <a:extLst>
                    <a:ext uri="{FF2B5EF4-FFF2-40B4-BE49-F238E27FC236}">
                      <a16:creationId xmlns:a16="http://schemas.microsoft.com/office/drawing/2014/main" id="{49D5AA22-30A7-9811-FE6C-6EDEA48BC1E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6" name="Straight Connector 5">
                <a:extLst>
                  <a:ext uri="{FF2B5EF4-FFF2-40B4-BE49-F238E27FC236}">
                    <a16:creationId xmlns:a16="http://schemas.microsoft.com/office/drawing/2014/main" id="{2CF2B64D-2DF1-BB32-71E0-C22A56E4E2ED}"/>
                  </a:ext>
                </a:extLst>
              </p:cNvPr>
              <p:cNvCxnSpPr>
                <a:cxnSpLocks/>
                <a:stCxn id="28" idx="7"/>
                <a:endCxn id="30"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CE29F38-5950-0CEC-28BD-9BE87A22D3DB}"/>
                  </a:ext>
                </a:extLst>
              </p:cNvPr>
              <p:cNvCxnSpPr>
                <a:cxnSpLocks/>
                <a:stCxn id="27" idx="3"/>
                <a:endCxn id="24" idx="4"/>
              </p:cNvCxnSpPr>
              <p:nvPr/>
            </p:nvCxnSpPr>
            <p:spPr>
              <a:xfrm flipH="1" flipV="1">
                <a:off x="2820001" y="5767428"/>
                <a:ext cx="1626045" cy="67161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EE1BE191-9ADF-A0F9-9404-022D8FA417F2}"/>
                </a:ext>
              </a:extLst>
            </p:cNvPr>
            <p:cNvSpPr txBox="1"/>
            <p:nvPr/>
          </p:nvSpPr>
          <p:spPr>
            <a:xfrm>
              <a:off x="2038851" y="6080427"/>
              <a:ext cx="2900794" cy="523220"/>
            </a:xfrm>
            <a:prstGeom prst="rect">
              <a:avLst/>
            </a:prstGeom>
            <a:noFill/>
          </p:spPr>
          <p:txBody>
            <a:bodyPr wrap="none" rtlCol="0">
              <a:spAutoFit/>
            </a:bodyPr>
            <a:lstStyle/>
            <a:p>
              <a:r>
                <a:rPr lang="en-US" sz="2800" dirty="0"/>
                <a:t>Weakly Connected</a:t>
              </a:r>
            </a:p>
          </p:txBody>
        </p:sp>
      </p:grpSp>
      <p:grpSp>
        <p:nvGrpSpPr>
          <p:cNvPr id="32" name="Group 31" descr="An illustration of the following undirected graph:&#10;&#10;The vertices are: 1,2,3,4,5,6,7,8&#10;The edges are as follows:&#10;(1,2), (1,3), &#10;(2,5), &#10;(3,2),  &#10;(4,6),  &#10;(7,6), (7,8) &#10;(8,7),&#10;(9,7), (9,8)&#10;&#10;Even if we ignore edge direction, there is no path from 5 to 4, making this graph not weakly connected.">
            <a:extLst>
              <a:ext uri="{FF2B5EF4-FFF2-40B4-BE49-F238E27FC236}">
                <a16:creationId xmlns:a16="http://schemas.microsoft.com/office/drawing/2014/main" id="{FFB8F1B0-54C6-58CB-256F-D049A914D62C}"/>
              </a:ext>
            </a:extLst>
          </p:cNvPr>
          <p:cNvGrpSpPr/>
          <p:nvPr/>
        </p:nvGrpSpPr>
        <p:grpSpPr>
          <a:xfrm>
            <a:off x="6788205" y="3626901"/>
            <a:ext cx="4385159" cy="3094574"/>
            <a:chOff x="6788205" y="3626901"/>
            <a:chExt cx="4385159" cy="3094574"/>
          </a:xfrm>
        </p:grpSpPr>
        <p:grpSp>
          <p:nvGrpSpPr>
            <p:cNvPr id="46" name="Group 45">
              <a:extLst>
                <a:ext uri="{FF2B5EF4-FFF2-40B4-BE49-F238E27FC236}">
                  <a16:creationId xmlns:a16="http://schemas.microsoft.com/office/drawing/2014/main" id="{F84C5F6F-58DE-3FC1-BB80-93719F85BC73}"/>
                </a:ext>
              </a:extLst>
            </p:cNvPr>
            <p:cNvGrpSpPr/>
            <p:nvPr/>
          </p:nvGrpSpPr>
          <p:grpSpPr>
            <a:xfrm>
              <a:off x="6788205" y="3626901"/>
              <a:ext cx="4385159" cy="2420607"/>
              <a:chOff x="1524000" y="2625729"/>
              <a:chExt cx="7044346" cy="3888478"/>
            </a:xfrm>
          </p:grpSpPr>
          <p:grpSp>
            <p:nvGrpSpPr>
              <p:cNvPr id="47" name="Group 46">
                <a:extLst>
                  <a:ext uri="{FF2B5EF4-FFF2-40B4-BE49-F238E27FC236}">
                    <a16:creationId xmlns:a16="http://schemas.microsoft.com/office/drawing/2014/main" id="{18CB4F3E-CB23-97A6-EFAF-F9BD45269D39}"/>
                  </a:ext>
                </a:extLst>
              </p:cNvPr>
              <p:cNvGrpSpPr/>
              <p:nvPr/>
            </p:nvGrpSpPr>
            <p:grpSpPr>
              <a:xfrm>
                <a:off x="1524000" y="2625729"/>
                <a:ext cx="7044346" cy="3888478"/>
                <a:chOff x="0" y="3020093"/>
                <a:chExt cx="7044346" cy="3888478"/>
              </a:xfrm>
            </p:grpSpPr>
            <p:cxnSp>
              <p:nvCxnSpPr>
                <p:cNvPr id="50" name="Straight Connector 49">
                  <a:extLst>
                    <a:ext uri="{FF2B5EF4-FFF2-40B4-BE49-F238E27FC236}">
                      <a16:creationId xmlns:a16="http://schemas.microsoft.com/office/drawing/2014/main" id="{82DF5C0A-E8F2-69C9-D8DE-36C592DB1F35}"/>
                    </a:ext>
                  </a:extLst>
                </p:cNvPr>
                <p:cNvCxnSpPr>
                  <a:stCxn id="65" idx="7"/>
                  <a:endCxn id="66" idx="2"/>
                </p:cNvCxnSpPr>
                <p:nvPr/>
              </p:nvCxnSpPr>
              <p:spPr>
                <a:xfrm flipV="1">
                  <a:off x="438102" y="3276727"/>
                  <a:ext cx="1492916" cy="9626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36BDB3A-6A37-BF11-EE32-6CDC3F572EC1}"/>
                    </a:ext>
                  </a:extLst>
                </p:cNvPr>
                <p:cNvCxnSpPr>
                  <a:stCxn id="66" idx="6"/>
                  <a:endCxn id="69" idx="2"/>
                </p:cNvCxnSpPr>
                <p:nvPr/>
              </p:nvCxnSpPr>
              <p:spPr>
                <a:xfrm>
                  <a:off x="2444286" y="3276727"/>
                  <a:ext cx="1510213" cy="52390"/>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0D29429-F6EA-7784-1BA6-CCC4A20D5296}"/>
                    </a:ext>
                  </a:extLst>
                </p:cNvPr>
                <p:cNvCxnSpPr>
                  <a:stCxn id="65" idx="4"/>
                  <a:endCxn id="67" idx="1"/>
                </p:cNvCxnSpPr>
                <p:nvPr/>
              </p:nvCxnSpPr>
              <p:spPr>
                <a:xfrm>
                  <a:off x="256634" y="4677433"/>
                  <a:ext cx="857899" cy="1046257"/>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F6D26E9-C424-E5E0-5828-DC247F0AE23F}"/>
                    </a:ext>
                  </a:extLst>
                </p:cNvPr>
                <p:cNvCxnSpPr>
                  <a:stCxn id="68" idx="5"/>
                  <a:endCxn id="70" idx="0"/>
                </p:cNvCxnSpPr>
                <p:nvPr/>
              </p:nvCxnSpPr>
              <p:spPr>
                <a:xfrm>
                  <a:off x="3012447" y="4930617"/>
                  <a:ext cx="91067" cy="146468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E300FF0-365B-494E-20E5-01CB17669309}"/>
                    </a:ext>
                  </a:extLst>
                </p:cNvPr>
                <p:cNvCxnSpPr>
                  <a:stCxn id="70" idx="6"/>
                  <a:endCxn id="71" idx="3"/>
                </p:cNvCxnSpPr>
                <p:nvPr/>
              </p:nvCxnSpPr>
              <p:spPr>
                <a:xfrm flipV="1">
                  <a:off x="3360148" y="6576771"/>
                  <a:ext cx="1716185" cy="75166"/>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B2ACCC7-4379-03F2-199D-6BA7A3ABBDB0}"/>
                    </a:ext>
                  </a:extLst>
                </p:cNvPr>
                <p:cNvCxnSpPr>
                  <a:stCxn id="71" idx="0"/>
                  <a:endCxn id="73" idx="3"/>
                </p:cNvCxnSpPr>
                <p:nvPr/>
              </p:nvCxnSpPr>
              <p:spPr>
                <a:xfrm flipV="1">
                  <a:off x="5257801" y="4187258"/>
                  <a:ext cx="123963" cy="1951411"/>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EFA6315-8521-AC29-8B30-A0CA8E3B459C}"/>
                    </a:ext>
                  </a:extLst>
                </p:cNvPr>
                <p:cNvCxnSpPr>
                  <a:stCxn id="72" idx="1"/>
                  <a:endCxn id="73" idx="5"/>
                </p:cNvCxnSpPr>
                <p:nvPr/>
              </p:nvCxnSpPr>
              <p:spPr>
                <a:xfrm flipH="1" flipV="1">
                  <a:off x="5744700" y="4187258"/>
                  <a:ext cx="861544" cy="674868"/>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5F159AA-0EEA-ADC5-8921-C9C56BA6C0DF}"/>
                    </a:ext>
                  </a:extLst>
                </p:cNvPr>
                <p:cNvCxnSpPr>
                  <a:stCxn id="72" idx="3"/>
                  <a:endCxn id="71" idx="6"/>
                </p:cNvCxnSpPr>
                <p:nvPr/>
              </p:nvCxnSpPr>
              <p:spPr>
                <a:xfrm flipH="1">
                  <a:off x="5514435" y="5225062"/>
                  <a:ext cx="1091809" cy="11702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7F9E7C5-BC15-996A-D145-12AEB7E95473}"/>
                    </a:ext>
                  </a:extLst>
                </p:cNvPr>
                <p:cNvCxnSpPr>
                  <a:stCxn id="66" idx="4"/>
                  <a:endCxn id="67" idx="0"/>
                </p:cNvCxnSpPr>
                <p:nvPr/>
              </p:nvCxnSpPr>
              <p:spPr>
                <a:xfrm flipH="1">
                  <a:off x="1296001" y="3533361"/>
                  <a:ext cx="891651" cy="211516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7CF46F7D-3C0A-7812-5BC4-CD5BDEA859B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6" name="Oval 65">
                  <a:extLst>
                    <a:ext uri="{FF2B5EF4-FFF2-40B4-BE49-F238E27FC236}">
                      <a16:creationId xmlns:a16="http://schemas.microsoft.com/office/drawing/2014/main" id="{941D961C-8CE3-DBC7-EE64-675C6FF1BF1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67" name="Oval 66">
                  <a:extLst>
                    <a:ext uri="{FF2B5EF4-FFF2-40B4-BE49-F238E27FC236}">
                      <a16:creationId xmlns:a16="http://schemas.microsoft.com/office/drawing/2014/main" id="{64CF45A4-1E9B-24B3-185C-1ADC7D62BEF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68" name="Oval 67">
                  <a:extLst>
                    <a:ext uri="{FF2B5EF4-FFF2-40B4-BE49-F238E27FC236}">
                      <a16:creationId xmlns:a16="http://schemas.microsoft.com/office/drawing/2014/main" id="{55B9325F-60F2-4882-622D-1D708738D72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69" name="Oval 68">
                  <a:extLst>
                    <a:ext uri="{FF2B5EF4-FFF2-40B4-BE49-F238E27FC236}">
                      <a16:creationId xmlns:a16="http://schemas.microsoft.com/office/drawing/2014/main" id="{5458B5D4-3984-6FCD-0CF4-D6AD24A19202}"/>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70" name="Oval 69">
                  <a:extLst>
                    <a:ext uri="{FF2B5EF4-FFF2-40B4-BE49-F238E27FC236}">
                      <a16:creationId xmlns:a16="http://schemas.microsoft.com/office/drawing/2014/main" id="{3C8E179C-59A4-27DB-665D-DC9BAB2B8C9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1" name="Oval 70">
                  <a:extLst>
                    <a:ext uri="{FF2B5EF4-FFF2-40B4-BE49-F238E27FC236}">
                      <a16:creationId xmlns:a16="http://schemas.microsoft.com/office/drawing/2014/main" id="{00B9E416-A418-F46B-9E32-E1B19FA507A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72" name="Oval 71">
                  <a:extLst>
                    <a:ext uri="{FF2B5EF4-FFF2-40B4-BE49-F238E27FC236}">
                      <a16:creationId xmlns:a16="http://schemas.microsoft.com/office/drawing/2014/main" id="{90DCD95A-6DC3-DEE9-8A08-6540DC6B46E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3" name="Oval 72">
                  <a:extLst>
                    <a:ext uri="{FF2B5EF4-FFF2-40B4-BE49-F238E27FC236}">
                      <a16:creationId xmlns:a16="http://schemas.microsoft.com/office/drawing/2014/main" id="{BB8AC4A4-A928-9D1A-72E3-E11A496D884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cxnSp>
            <p:nvCxnSpPr>
              <p:cNvPr id="48" name="Straight Connector 47">
                <a:extLst>
                  <a:ext uri="{FF2B5EF4-FFF2-40B4-BE49-F238E27FC236}">
                    <a16:creationId xmlns:a16="http://schemas.microsoft.com/office/drawing/2014/main" id="{5AEFFE30-A635-FC0A-A611-D53C6175AA53}"/>
                  </a:ext>
                </a:extLst>
              </p:cNvPr>
              <p:cNvCxnSpPr>
                <a:cxnSpLocks/>
                <a:stCxn id="71" idx="7"/>
                <a:endCxn id="73" idx="4"/>
              </p:cNvCxnSpPr>
              <p:nvPr/>
            </p:nvCxnSpPr>
            <p:spPr>
              <a:xfrm flipV="1">
                <a:off x="6963269" y="3868060"/>
                <a:ext cx="123963" cy="195141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5CD567A0-55DE-E659-0F5F-1C52C0C2E415}"/>
                </a:ext>
              </a:extLst>
            </p:cNvPr>
            <p:cNvSpPr txBox="1"/>
            <p:nvPr/>
          </p:nvSpPr>
          <p:spPr>
            <a:xfrm>
              <a:off x="7482011" y="6198255"/>
              <a:ext cx="3524363" cy="523220"/>
            </a:xfrm>
            <a:prstGeom prst="rect">
              <a:avLst/>
            </a:prstGeom>
            <a:noFill/>
          </p:spPr>
          <p:txBody>
            <a:bodyPr wrap="none" rtlCol="0">
              <a:spAutoFit/>
            </a:bodyPr>
            <a:lstStyle/>
            <a:p>
              <a:r>
                <a:rPr lang="en-US" sz="2800" dirty="0"/>
                <a:t>Not Weakly Connected</a:t>
              </a:r>
            </a:p>
          </p:txBody>
        </p:sp>
      </p:grpSp>
    </p:spTree>
    <p:extLst>
      <p:ext uri="{BB962C8B-B14F-4D97-AF65-F5344CB8AC3E}">
        <p14:creationId xmlns:p14="http://schemas.microsoft.com/office/powerpoint/2010/main" val="2921561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mc:AlternateContent xmlns:mc="http://schemas.openxmlformats.org/markup-compatibility/2006" xmlns:a14="http://schemas.microsoft.com/office/drawing/2010/main">
        <mc:Choice Requires="a14">
          <p:sp>
            <p:nvSpPr>
              <p:cNvPr id="81" name="TextBox 80"/>
              <p:cNvSpPr txBox="1"/>
              <p:nvPr/>
            </p:nvSpPr>
            <p:spPr>
              <a:xfrm>
                <a:off x="2749217" y="1600201"/>
                <a:ext cx="6841446" cy="1384995"/>
              </a:xfrm>
              <a:prstGeom prst="rect">
                <a:avLst/>
              </a:prstGeom>
              <a:noFill/>
            </p:spPr>
            <p:txBody>
              <a:bodyPr wrap="square" rtlCol="0">
                <a:spAutoFit/>
              </a:bodyPr>
              <a:lstStyle/>
              <a:p>
                <a:r>
                  <a:rPr lang="en-US" sz="2800" dirty="0"/>
                  <a:t>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tree if it is undirect, connected, and has no cycles (i.e. is acyclic).</a:t>
                </a:r>
              </a:p>
              <a:p>
                <a:r>
                  <a:rPr lang="en-US" sz="2800" dirty="0"/>
                  <a:t>Often one node is identified as the “root”</a:t>
                </a:r>
              </a:p>
            </p:txBody>
          </p:sp>
        </mc:Choice>
        <mc:Fallback xmlns="">
          <p:sp>
            <p:nvSpPr>
              <p:cNvPr id="81" name="TextBox 80"/>
              <p:cNvSpPr txBox="1">
                <a:spLocks noRot="1" noChangeAspect="1" noMove="1" noResize="1" noEditPoints="1" noAdjustHandles="1" noChangeArrowheads="1" noChangeShapeType="1" noTextEdit="1"/>
              </p:cNvSpPr>
              <p:nvPr/>
            </p:nvSpPr>
            <p:spPr>
              <a:xfrm>
                <a:off x="2749217" y="1600201"/>
                <a:ext cx="6841446" cy="1384995"/>
              </a:xfrm>
              <a:prstGeom prst="rect">
                <a:avLst/>
              </a:prstGeom>
              <a:blipFill>
                <a:blip r:embed="rId2"/>
                <a:stretch>
                  <a:fillRect l="-1872" t="-4405" b="-11454"/>
                </a:stretch>
              </a:blipFill>
            </p:spPr>
            <p:txBody>
              <a:bodyPr/>
              <a:lstStyle/>
              <a:p>
                <a:r>
                  <a:rPr lang="en-US">
                    <a:noFill/>
                  </a:rPr>
                  <a:t> </a:t>
                </a:r>
              </a:p>
            </p:txBody>
          </p:sp>
        </mc:Fallback>
      </mc:AlternateContent>
      <p:grpSp>
        <p:nvGrpSpPr>
          <p:cNvPr id="3" name="Group 2" descr="An illustration of the following undirected graph:&#10;&#10;The vertices are: 1,2,3,4,5,6,7,8&#10;The edges are as follows:&#10;(1,2), (1,3), &#10;(3,4), &#10;(4,5), (4,6), &#10;(5,8), &#10;(7,8), &#10;(8,9)&#10;&#10;Because the graph is connected and we can't find any cycles, this graph is a tree.">
            <a:extLst>
              <a:ext uri="{FF2B5EF4-FFF2-40B4-BE49-F238E27FC236}">
                <a16:creationId xmlns:a16="http://schemas.microsoft.com/office/drawing/2014/main" id="{DCEB1014-8469-0178-3638-23CF18E510B7}"/>
              </a:ext>
            </a:extLst>
          </p:cNvPr>
          <p:cNvGrpSpPr/>
          <p:nvPr/>
        </p:nvGrpSpPr>
        <p:grpSpPr>
          <a:xfrm>
            <a:off x="222637" y="3116577"/>
            <a:ext cx="4301146" cy="3033293"/>
            <a:chOff x="222637" y="3116577"/>
            <a:chExt cx="4301146" cy="3033293"/>
          </a:xfrm>
        </p:grpSpPr>
        <p:sp>
          <p:nvSpPr>
            <p:cNvPr id="78" name="TextBox 77">
              <a:extLst>
                <a:ext uri="{FF2B5EF4-FFF2-40B4-BE49-F238E27FC236}">
                  <a16:creationId xmlns:a16="http://schemas.microsoft.com/office/drawing/2014/main" id="{CB26A4FB-1FF3-22E3-008F-C86C19A60FCA}"/>
                </a:ext>
              </a:extLst>
            </p:cNvPr>
            <p:cNvSpPr txBox="1"/>
            <p:nvPr/>
          </p:nvSpPr>
          <p:spPr>
            <a:xfrm>
              <a:off x="1347968" y="5626650"/>
              <a:ext cx="2908318" cy="523220"/>
            </a:xfrm>
            <a:prstGeom prst="rect">
              <a:avLst/>
            </a:prstGeom>
            <a:noFill/>
          </p:spPr>
          <p:txBody>
            <a:bodyPr wrap="square" rtlCol="0">
              <a:spAutoFit/>
            </a:bodyPr>
            <a:lstStyle/>
            <a:p>
              <a:r>
                <a:rPr lang="en-US" sz="2800" dirty="0"/>
                <a:t>A Tree</a:t>
              </a:r>
            </a:p>
          </p:txBody>
        </p:sp>
        <p:grpSp>
          <p:nvGrpSpPr>
            <p:cNvPr id="103" name="Group 102">
              <a:extLst>
                <a:ext uri="{FF2B5EF4-FFF2-40B4-BE49-F238E27FC236}">
                  <a16:creationId xmlns:a16="http://schemas.microsoft.com/office/drawing/2014/main" id="{A5759540-9AC3-0DDB-F03A-ACDE045114E3}"/>
                </a:ext>
              </a:extLst>
            </p:cNvPr>
            <p:cNvGrpSpPr/>
            <p:nvPr/>
          </p:nvGrpSpPr>
          <p:grpSpPr>
            <a:xfrm>
              <a:off x="222637" y="3116577"/>
              <a:ext cx="4301146" cy="2374232"/>
              <a:chOff x="0" y="3020093"/>
              <a:chExt cx="7044346" cy="3888478"/>
            </a:xfrm>
          </p:grpSpPr>
          <p:cxnSp>
            <p:nvCxnSpPr>
              <p:cNvPr id="104" name="Straight Connector 103">
                <a:extLst>
                  <a:ext uri="{FF2B5EF4-FFF2-40B4-BE49-F238E27FC236}">
                    <a16:creationId xmlns:a16="http://schemas.microsoft.com/office/drawing/2014/main" id="{3579F93B-7403-10DF-E95E-AAEF3BA6A367}"/>
                  </a:ext>
                </a:extLst>
              </p:cNvPr>
              <p:cNvCxnSpPr>
                <a:stCxn id="118" idx="7"/>
                <a:endCxn id="119"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D78E9FC-207A-E53D-7517-EEF9FF99AAF2}"/>
                  </a:ext>
                </a:extLst>
              </p:cNvPr>
              <p:cNvCxnSpPr>
                <a:stCxn id="118" idx="4"/>
                <a:endCxn id="120"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86C4985-38E1-46D6-CB4D-A6A98BD9ED77}"/>
                  </a:ext>
                </a:extLst>
              </p:cNvPr>
              <p:cNvCxnSpPr>
                <a:stCxn id="121" idx="3"/>
                <a:endCxn id="120"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D22C930-0352-6899-1E98-8A3AA06731A6}"/>
                  </a:ext>
                </a:extLst>
              </p:cNvPr>
              <p:cNvCxnSpPr>
                <a:stCxn id="121" idx="5"/>
                <a:endCxn id="123"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6F78A95-92D3-3C83-2D08-884970B4C01A}"/>
                  </a:ext>
                </a:extLst>
              </p:cNvPr>
              <p:cNvCxnSpPr>
                <a:stCxn id="121" idx="7"/>
                <a:endCxn id="122"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29927E5-909C-C044-BEFF-60F1FEE460A4}"/>
                  </a:ext>
                </a:extLst>
              </p:cNvPr>
              <p:cNvCxnSpPr>
                <a:stCxn id="126" idx="2"/>
                <a:endCxn id="122"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423522A-4F24-8A79-8AED-C46B27D17E35}"/>
                  </a:ext>
                </a:extLst>
              </p:cNvPr>
              <p:cNvCxnSpPr>
                <a:stCxn id="124" idx="0"/>
                <a:endCxn id="126"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E7937C5B-8522-FE68-C63F-72C9C051B3D7}"/>
                  </a:ext>
                </a:extLst>
              </p:cNvPr>
              <p:cNvCxnSpPr>
                <a:stCxn id="125" idx="1"/>
                <a:endCxn id="126"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A6C4D89C-3C85-56BA-4BFC-56F1024D1EB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9" name="Oval 118">
                <a:extLst>
                  <a:ext uri="{FF2B5EF4-FFF2-40B4-BE49-F238E27FC236}">
                    <a16:creationId xmlns:a16="http://schemas.microsoft.com/office/drawing/2014/main" id="{49B2B4FA-C1C9-855B-2015-97144E4F2F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20" name="Oval 119">
                <a:extLst>
                  <a:ext uri="{FF2B5EF4-FFF2-40B4-BE49-F238E27FC236}">
                    <a16:creationId xmlns:a16="http://schemas.microsoft.com/office/drawing/2014/main" id="{51D38388-C86D-1D9F-3601-C3BD0D65BAA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1" name="Oval 120">
                <a:extLst>
                  <a:ext uri="{FF2B5EF4-FFF2-40B4-BE49-F238E27FC236}">
                    <a16:creationId xmlns:a16="http://schemas.microsoft.com/office/drawing/2014/main" id="{4DB4CA7F-D981-B1C6-AD3C-CD1E9E7E4C56}"/>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22" name="Oval 121">
                <a:extLst>
                  <a:ext uri="{FF2B5EF4-FFF2-40B4-BE49-F238E27FC236}">
                    <a16:creationId xmlns:a16="http://schemas.microsoft.com/office/drawing/2014/main" id="{78C583B9-6AFF-9308-7CA5-EB8DD9BA17F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23" name="Oval 122">
                <a:extLst>
                  <a:ext uri="{FF2B5EF4-FFF2-40B4-BE49-F238E27FC236}">
                    <a16:creationId xmlns:a16="http://schemas.microsoft.com/office/drawing/2014/main" id="{3057C619-BB2D-5ED4-80D6-6576D285508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24" name="Oval 123">
                <a:extLst>
                  <a:ext uri="{FF2B5EF4-FFF2-40B4-BE49-F238E27FC236}">
                    <a16:creationId xmlns:a16="http://schemas.microsoft.com/office/drawing/2014/main" id="{269B7C16-C0D7-3D0C-6AB3-4D7B9EBFF8B7}"/>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25" name="Oval 124">
                <a:extLst>
                  <a:ext uri="{FF2B5EF4-FFF2-40B4-BE49-F238E27FC236}">
                    <a16:creationId xmlns:a16="http://schemas.microsoft.com/office/drawing/2014/main" id="{CC7ABB57-BAD7-A7C2-0130-69898A09FBD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26" name="Oval 125">
                <a:extLst>
                  <a:ext uri="{FF2B5EF4-FFF2-40B4-BE49-F238E27FC236}">
                    <a16:creationId xmlns:a16="http://schemas.microsoft.com/office/drawing/2014/main" id="{3C278552-0929-7F80-E4A2-BC45124A87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grpSp>
        <p:nvGrpSpPr>
          <p:cNvPr id="5" name="Group 4" descr="An illustration of the following undirected graph (same as the previous):&#10;&#10;The vertices are: 1,2,3,4,5,6,7,8&#10;The edges are as follows:&#10;(1,2), (1,3), &#10;(3,4), &#10;(4,5), (4,6), &#10;(5,8), &#10;(7,8), &#10;(8,9)&#10;&#10;In this case we identify the node 4 as the root node, so we can think of it as follows:&#10;The root is 4&#10;4's children are 3, 6, 5&#10;3's child is 1&#10;6 has not children&#10;5's child is 8&#10;1's child is 2&#10;8's children are 7 and 9&#10;2, 7, 9 have no children.">
            <a:extLst>
              <a:ext uri="{FF2B5EF4-FFF2-40B4-BE49-F238E27FC236}">
                <a16:creationId xmlns:a16="http://schemas.microsoft.com/office/drawing/2014/main" id="{B9F77481-A614-CFA3-3507-723CADE21049}"/>
              </a:ext>
            </a:extLst>
          </p:cNvPr>
          <p:cNvGrpSpPr/>
          <p:nvPr/>
        </p:nvGrpSpPr>
        <p:grpSpPr>
          <a:xfrm>
            <a:off x="7891433" y="3069482"/>
            <a:ext cx="2908318" cy="3509915"/>
            <a:chOff x="7891433" y="3069482"/>
            <a:chExt cx="2908318" cy="3509915"/>
          </a:xfrm>
        </p:grpSpPr>
        <p:sp>
          <p:nvSpPr>
            <p:cNvPr id="127" name="TextBox 126">
              <a:extLst>
                <a:ext uri="{FF2B5EF4-FFF2-40B4-BE49-F238E27FC236}">
                  <a16:creationId xmlns:a16="http://schemas.microsoft.com/office/drawing/2014/main" id="{56204DC0-5532-D2DD-0951-4ED40E184A8D}"/>
                </a:ext>
              </a:extLst>
            </p:cNvPr>
            <p:cNvSpPr txBox="1"/>
            <p:nvPr/>
          </p:nvSpPr>
          <p:spPr>
            <a:xfrm>
              <a:off x="7891433" y="6056177"/>
              <a:ext cx="2908318" cy="523220"/>
            </a:xfrm>
            <a:prstGeom prst="rect">
              <a:avLst/>
            </a:prstGeom>
            <a:noFill/>
          </p:spPr>
          <p:txBody>
            <a:bodyPr wrap="square" rtlCol="0">
              <a:spAutoFit/>
            </a:bodyPr>
            <a:lstStyle/>
            <a:p>
              <a:r>
                <a:rPr lang="en-US" sz="2800" dirty="0"/>
                <a:t>A Rooted Tree</a:t>
              </a:r>
            </a:p>
          </p:txBody>
        </p:sp>
        <p:grpSp>
          <p:nvGrpSpPr>
            <p:cNvPr id="128" name="Group 127">
              <a:extLst>
                <a:ext uri="{FF2B5EF4-FFF2-40B4-BE49-F238E27FC236}">
                  <a16:creationId xmlns:a16="http://schemas.microsoft.com/office/drawing/2014/main" id="{8B85FD0C-A578-1C23-26A0-A573C8E06253}"/>
                </a:ext>
              </a:extLst>
            </p:cNvPr>
            <p:cNvGrpSpPr/>
            <p:nvPr/>
          </p:nvGrpSpPr>
          <p:grpSpPr>
            <a:xfrm>
              <a:off x="7972595" y="3069482"/>
              <a:ext cx="1931460" cy="2875894"/>
              <a:chOff x="1975975" y="3234315"/>
              <a:chExt cx="3163313" cy="4710092"/>
            </a:xfrm>
          </p:grpSpPr>
          <p:cxnSp>
            <p:nvCxnSpPr>
              <p:cNvPr id="129" name="Straight Connector 128">
                <a:extLst>
                  <a:ext uri="{FF2B5EF4-FFF2-40B4-BE49-F238E27FC236}">
                    <a16:creationId xmlns:a16="http://schemas.microsoft.com/office/drawing/2014/main" id="{50C46145-3AED-D952-D22E-5CD74086CFE4}"/>
                  </a:ext>
                </a:extLst>
              </p:cNvPr>
              <p:cNvCxnSpPr>
                <a:cxnSpLocks/>
                <a:stCxn id="137" idx="4"/>
                <a:endCxn id="138" idx="0"/>
              </p:cNvCxnSpPr>
              <p:nvPr/>
            </p:nvCxnSpPr>
            <p:spPr>
              <a:xfrm flipH="1">
                <a:off x="2232609" y="6436506"/>
                <a:ext cx="18769" cy="705341"/>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7FBDAA7A-E23D-7B4C-9341-DEC0ABC0901B}"/>
                  </a:ext>
                </a:extLst>
              </p:cNvPr>
              <p:cNvCxnSpPr>
                <a:cxnSpLocks/>
                <a:stCxn id="137" idx="0"/>
                <a:endCxn id="139" idx="4"/>
              </p:cNvCxnSpPr>
              <p:nvPr/>
            </p:nvCxnSpPr>
            <p:spPr>
              <a:xfrm flipH="1" flipV="1">
                <a:off x="2242545" y="5375694"/>
                <a:ext cx="8833" cy="547544"/>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ABF3FBD-AAF8-E87C-0AE3-3C7987960345}"/>
                  </a:ext>
                </a:extLst>
              </p:cNvPr>
              <p:cNvCxnSpPr>
                <a:cxnSpLocks/>
                <a:stCxn id="140" idx="3"/>
                <a:endCxn id="139" idx="7"/>
              </p:cNvCxnSpPr>
              <p:nvPr/>
            </p:nvCxnSpPr>
            <p:spPr>
              <a:xfrm flipH="1">
                <a:off x="2424013" y="3672417"/>
                <a:ext cx="533541" cy="1265175"/>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153F4EC0-D1D9-B03F-5C30-B3D5412FCFB0}"/>
                  </a:ext>
                </a:extLst>
              </p:cNvPr>
              <p:cNvCxnSpPr>
                <a:cxnSpLocks/>
                <a:stCxn id="140" idx="4"/>
                <a:endCxn id="142" idx="0"/>
              </p:cNvCxnSpPr>
              <p:nvPr/>
            </p:nvCxnSpPr>
            <p:spPr>
              <a:xfrm flipH="1">
                <a:off x="3113923" y="3747583"/>
                <a:ext cx="25099" cy="1221204"/>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344D2C2C-BFA5-F796-EEBA-B1BE3FD52820}"/>
                  </a:ext>
                </a:extLst>
              </p:cNvPr>
              <p:cNvCxnSpPr>
                <a:cxnSpLocks/>
                <a:stCxn id="140" idx="5"/>
                <a:endCxn id="141" idx="1"/>
              </p:cNvCxnSpPr>
              <p:nvPr/>
            </p:nvCxnSpPr>
            <p:spPr>
              <a:xfrm>
                <a:off x="3320490" y="3672417"/>
                <a:ext cx="478336" cy="1281176"/>
              </a:xfrm>
              <a:prstGeom prst="line">
                <a:avLst/>
              </a:prstGeom>
              <a:ln w="571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C7B95E0A-9DDF-6B65-B8CC-4BA742F228DA}"/>
                  </a:ext>
                </a:extLst>
              </p:cNvPr>
              <p:cNvCxnSpPr>
                <a:cxnSpLocks/>
                <a:stCxn id="145" idx="0"/>
                <a:endCxn id="141" idx="4"/>
              </p:cNvCxnSpPr>
              <p:nvPr/>
            </p:nvCxnSpPr>
            <p:spPr>
              <a:xfrm flipH="1" flipV="1">
                <a:off x="3980294" y="5391695"/>
                <a:ext cx="244352" cy="899002"/>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3EB0404-14D3-1B52-3A0F-886A0478956C}"/>
                  </a:ext>
                </a:extLst>
              </p:cNvPr>
              <p:cNvCxnSpPr>
                <a:stCxn id="143" idx="0"/>
                <a:endCxn id="145" idx="3"/>
              </p:cNvCxnSpPr>
              <p:nvPr/>
            </p:nvCxnSpPr>
            <p:spPr>
              <a:xfrm flipV="1">
                <a:off x="3816291" y="6728800"/>
                <a:ext cx="226887" cy="702339"/>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C045A29-1865-0404-CBBC-2A9A656F44C8}"/>
                  </a:ext>
                </a:extLst>
              </p:cNvPr>
              <p:cNvCxnSpPr>
                <a:cxnSpLocks/>
                <a:stCxn id="144" idx="0"/>
                <a:endCxn id="145" idx="5"/>
              </p:cNvCxnSpPr>
              <p:nvPr/>
            </p:nvCxnSpPr>
            <p:spPr>
              <a:xfrm flipH="1" flipV="1">
                <a:off x="4406115" y="6728800"/>
                <a:ext cx="476539" cy="602773"/>
              </a:xfrm>
              <a:prstGeom prst="line">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7" name="Oval 136">
                <a:extLst>
                  <a:ext uri="{FF2B5EF4-FFF2-40B4-BE49-F238E27FC236}">
                    <a16:creationId xmlns:a16="http://schemas.microsoft.com/office/drawing/2014/main" id="{C3DAB289-ACE3-40AF-161A-F60C3F5C8E6D}"/>
                  </a:ext>
                </a:extLst>
              </p:cNvPr>
              <p:cNvSpPr/>
              <p:nvPr/>
            </p:nvSpPr>
            <p:spPr>
              <a:xfrm>
                <a:off x="1994744" y="592323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38" name="Oval 137">
                <a:extLst>
                  <a:ext uri="{FF2B5EF4-FFF2-40B4-BE49-F238E27FC236}">
                    <a16:creationId xmlns:a16="http://schemas.microsoft.com/office/drawing/2014/main" id="{DF763AAF-F20B-3CCC-54B3-571FE59D285C}"/>
                  </a:ext>
                </a:extLst>
              </p:cNvPr>
              <p:cNvSpPr/>
              <p:nvPr/>
            </p:nvSpPr>
            <p:spPr>
              <a:xfrm>
                <a:off x="1975975" y="714184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39" name="Oval 138">
                <a:extLst>
                  <a:ext uri="{FF2B5EF4-FFF2-40B4-BE49-F238E27FC236}">
                    <a16:creationId xmlns:a16="http://schemas.microsoft.com/office/drawing/2014/main" id="{3AC2FA7B-BA61-4C22-2789-214F7D17EA4F}"/>
                  </a:ext>
                </a:extLst>
              </p:cNvPr>
              <p:cNvSpPr/>
              <p:nvPr/>
            </p:nvSpPr>
            <p:spPr>
              <a:xfrm>
                <a:off x="1985911" y="486242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40" name="Oval 139">
                <a:extLst>
                  <a:ext uri="{FF2B5EF4-FFF2-40B4-BE49-F238E27FC236}">
                    <a16:creationId xmlns:a16="http://schemas.microsoft.com/office/drawing/2014/main" id="{A38AE445-8301-A81B-8E6A-74DCDE903058}"/>
                  </a:ext>
                </a:extLst>
              </p:cNvPr>
              <p:cNvSpPr/>
              <p:nvPr/>
            </p:nvSpPr>
            <p:spPr>
              <a:xfrm>
                <a:off x="2882388" y="32343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41" name="Oval 140">
                <a:extLst>
                  <a:ext uri="{FF2B5EF4-FFF2-40B4-BE49-F238E27FC236}">
                    <a16:creationId xmlns:a16="http://schemas.microsoft.com/office/drawing/2014/main" id="{E3634F20-61B8-01BA-265B-6D53BFED478F}"/>
                  </a:ext>
                </a:extLst>
              </p:cNvPr>
              <p:cNvSpPr/>
              <p:nvPr/>
            </p:nvSpPr>
            <p:spPr>
              <a:xfrm>
                <a:off x="3723660" y="487842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42" name="Oval 141">
                <a:extLst>
                  <a:ext uri="{FF2B5EF4-FFF2-40B4-BE49-F238E27FC236}">
                    <a16:creationId xmlns:a16="http://schemas.microsoft.com/office/drawing/2014/main" id="{F0FE370C-E9B0-5F3C-D304-503B3A904DC1}"/>
                  </a:ext>
                </a:extLst>
              </p:cNvPr>
              <p:cNvSpPr/>
              <p:nvPr/>
            </p:nvSpPr>
            <p:spPr>
              <a:xfrm>
                <a:off x="2857289" y="496878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43" name="Oval 142">
                <a:extLst>
                  <a:ext uri="{FF2B5EF4-FFF2-40B4-BE49-F238E27FC236}">
                    <a16:creationId xmlns:a16="http://schemas.microsoft.com/office/drawing/2014/main" id="{E4375051-9540-4F0A-98CC-A806591EFAC1}"/>
                  </a:ext>
                </a:extLst>
              </p:cNvPr>
              <p:cNvSpPr/>
              <p:nvPr/>
            </p:nvSpPr>
            <p:spPr>
              <a:xfrm>
                <a:off x="3559657" y="743113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44" name="Oval 143">
                <a:extLst>
                  <a:ext uri="{FF2B5EF4-FFF2-40B4-BE49-F238E27FC236}">
                    <a16:creationId xmlns:a16="http://schemas.microsoft.com/office/drawing/2014/main" id="{D85A1BCB-B54D-AFFF-3E9E-3D242BD2890D}"/>
                  </a:ext>
                </a:extLst>
              </p:cNvPr>
              <p:cNvSpPr/>
              <p:nvPr/>
            </p:nvSpPr>
            <p:spPr>
              <a:xfrm>
                <a:off x="4626020" y="733157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45" name="Oval 144">
                <a:extLst>
                  <a:ext uri="{FF2B5EF4-FFF2-40B4-BE49-F238E27FC236}">
                    <a16:creationId xmlns:a16="http://schemas.microsoft.com/office/drawing/2014/main" id="{C99D7300-F782-0F13-A601-B867BFB18170}"/>
                  </a:ext>
                </a:extLst>
              </p:cNvPr>
              <p:cNvSpPr/>
              <p:nvPr/>
            </p:nvSpPr>
            <p:spPr>
              <a:xfrm>
                <a:off x="3968012" y="6290698"/>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spTree>
    <p:extLst>
      <p:ext uri="{BB962C8B-B14F-4D97-AF65-F5344CB8AC3E}">
        <p14:creationId xmlns:p14="http://schemas.microsoft.com/office/powerpoint/2010/main" val="1713796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22756</TotalTime>
  <Words>1535</Words>
  <Application>Microsoft Office PowerPoint</Application>
  <PresentationFormat>Widescreen</PresentationFormat>
  <Paragraphs>573</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Cambria Math</vt:lpstr>
      <vt:lpstr>Arial</vt:lpstr>
      <vt:lpstr>Aptos</vt:lpstr>
      <vt:lpstr>Calibri Light</vt:lpstr>
      <vt:lpstr>Calibri</vt:lpstr>
      <vt:lpstr>Office Theme</vt:lpstr>
      <vt:lpstr>CSE 332 Spring 2026 Lecture 15: graphs 1</vt:lpstr>
      <vt:lpstr>“Linear Time” Sorting Algorithms</vt:lpstr>
      <vt:lpstr>BucketSort</vt:lpstr>
      <vt:lpstr>BucketSort Running Time</vt:lpstr>
      <vt:lpstr>Properties of BucketSort</vt:lpstr>
      <vt:lpstr>RadixSort</vt:lpstr>
      <vt:lpstr>RadixSort – Re-Bucket by 10s</vt:lpstr>
      <vt:lpstr>RadixSort – Re-Bucket by 100s</vt:lpstr>
      <vt:lpstr>RadixSort – Empty Buckets into Output Array</vt:lpstr>
      <vt:lpstr>RadixSort Running Time</vt:lpstr>
      <vt:lpstr>ARPANET</vt:lpstr>
      <vt:lpstr>Undirected Graphs</vt:lpstr>
      <vt:lpstr>Directed Graphs</vt:lpstr>
      <vt:lpstr>Self-Edges and Duplicate Edges</vt:lpstr>
      <vt:lpstr>Weighted Graphs</vt:lpstr>
      <vt:lpstr>Graph Applications</vt:lpstr>
      <vt:lpstr>Some Graph Terms</vt:lpstr>
      <vt:lpstr>Definition: Complete Graph</vt:lpstr>
      <vt:lpstr>Graph Density, Data Structures, Efficiency</vt:lpstr>
      <vt:lpstr>Definition: Path</vt:lpstr>
      <vt:lpstr>Definition: (Strongly) Connected Graph</vt:lpstr>
      <vt:lpstr>Definition: Weakly Connected Graph</vt:lpstr>
      <vt:lpstr>Definition: Tree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264</cp:revision>
  <dcterms:created xsi:type="dcterms:W3CDTF">2023-10-13T16:06:42Z</dcterms:created>
  <dcterms:modified xsi:type="dcterms:W3CDTF">2026-05-01T21:31:33Z</dcterms:modified>
</cp:coreProperties>
</file>