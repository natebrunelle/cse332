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8"/>
  </p:notesMasterIdLst>
  <p:handoutMasterIdLst>
    <p:handoutMasterId r:id="rId39"/>
  </p:handoutMasterIdLst>
  <p:sldIdLst>
    <p:sldId id="256" r:id="rId2"/>
    <p:sldId id="552" r:id="rId3"/>
    <p:sldId id="535" r:id="rId4"/>
    <p:sldId id="368" r:id="rId5"/>
    <p:sldId id="360" r:id="rId6"/>
    <p:sldId id="536" r:id="rId7"/>
    <p:sldId id="537" r:id="rId8"/>
    <p:sldId id="538" r:id="rId9"/>
    <p:sldId id="386" r:id="rId10"/>
    <p:sldId id="539" r:id="rId11"/>
    <p:sldId id="384" r:id="rId12"/>
    <p:sldId id="460" r:id="rId13"/>
    <p:sldId id="556" r:id="rId14"/>
    <p:sldId id="421" r:id="rId15"/>
    <p:sldId id="422" r:id="rId16"/>
    <p:sldId id="423" r:id="rId17"/>
    <p:sldId id="424" r:id="rId18"/>
    <p:sldId id="425" r:id="rId19"/>
    <p:sldId id="426" r:id="rId20"/>
    <p:sldId id="427" r:id="rId21"/>
    <p:sldId id="428" r:id="rId22"/>
    <p:sldId id="429" r:id="rId23"/>
    <p:sldId id="430" r:id="rId24"/>
    <p:sldId id="431" r:id="rId25"/>
    <p:sldId id="432" r:id="rId26"/>
    <p:sldId id="446" r:id="rId27"/>
    <p:sldId id="557" r:id="rId28"/>
    <p:sldId id="555" r:id="rId29"/>
    <p:sldId id="543" r:id="rId30"/>
    <p:sldId id="545" r:id="rId31"/>
    <p:sldId id="548" r:id="rId32"/>
    <p:sldId id="546" r:id="rId33"/>
    <p:sldId id="549" r:id="rId34"/>
    <p:sldId id="550" r:id="rId35"/>
    <p:sldId id="551" r:id="rId36"/>
    <p:sldId id="547" r:id="rId37"/>
  </p:sldIdLst>
  <p:sldSz cx="12192000" cy="6858000"/>
  <p:notesSz cx="6858000" cy="9144000"/>
  <p:embeddedFontLst>
    <p:embeddedFont>
      <p:font typeface="Cambria Math" panose="02040503050406030204" pitchFamily="18" charset="0"/>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CB46A9-AC64-2107-0D04-23C3E6A0A637}" name="Sarah Brunelle" initials="SB" userId="S::sarah.bland@TNC.ORG::0841f992-6401-4fcf-8797-7495e84da30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AA48"/>
    <a:srgbClr val="005E00"/>
    <a:srgbClr val="32BF72"/>
    <a:srgbClr val="0070C0"/>
    <a:srgbClr val="501000"/>
    <a:srgbClr val="FF7C80"/>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816" autoAdjust="0"/>
    <p:restoredTop sz="94601" autoAdjust="0"/>
  </p:normalViewPr>
  <p:slideViewPr>
    <p:cSldViewPr snapToGrid="0">
      <p:cViewPr varScale="1">
        <p:scale>
          <a:sx n="73" d="100"/>
          <a:sy n="73" d="100"/>
        </p:scale>
        <p:origin x="296" y="36"/>
      </p:cViewPr>
      <p:guideLst/>
    </p:cSldViewPr>
  </p:slideViewPr>
  <p:outlineViewPr>
    <p:cViewPr>
      <p:scale>
        <a:sx n="33" d="100"/>
        <a:sy n="33" d="100"/>
      </p:scale>
      <p:origin x="0" y="-30744"/>
    </p:cViewPr>
    <p:sldLst>
      <p:sld r:id="rId1" collapse="1"/>
    </p:sldLst>
  </p:outlineViewPr>
  <p:notesTextViewPr>
    <p:cViewPr>
      <p:scale>
        <a:sx n="1" d="1"/>
        <a:sy n="1" d="1"/>
      </p:scale>
      <p:origin x="0" y="0"/>
    </p:cViewPr>
  </p:notesTextViewPr>
  <p:notesViewPr>
    <p:cSldViewPr snapToGrid="0">
      <p:cViewPr>
        <p:scale>
          <a:sx n="48" d="100"/>
          <a:sy n="48" d="100"/>
        </p:scale>
        <p:origin x="2752" y="3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presProps" Target="presProps.xml"/></Relationships>
</file>

<file path=ppt/_rels/viewProps.xml.rels><?xml version="1.0" encoding="UTF-8" standalone="yes"?>
<Relationships xmlns="http://schemas.openxmlformats.org/package/2006/relationships"><Relationship Id="rId1" Type="http://schemas.openxmlformats.org/officeDocument/2006/relationships/slide" Target="slides/slide1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5EF960D-66C1-ABA0-D3DE-1DEABCB0C20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A401823-F715-AF68-6577-EBFD66D892A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643542-CF0C-48D3-A91E-34CCD96FC74F}" type="datetimeFigureOut">
              <a:rPr lang="en-US" smtClean="0"/>
              <a:t>4/29/2026</a:t>
            </a:fld>
            <a:endParaRPr lang="en-US"/>
          </a:p>
        </p:txBody>
      </p:sp>
      <p:sp>
        <p:nvSpPr>
          <p:cNvPr id="4" name="Footer Placeholder 3">
            <a:extLst>
              <a:ext uri="{FF2B5EF4-FFF2-40B4-BE49-F238E27FC236}">
                <a16:creationId xmlns:a16="http://schemas.microsoft.com/office/drawing/2014/main" id="{12B5E006-DFCE-D704-C827-FE0B884DE91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C0F989F-B2F9-4E4D-C4FD-A5DF82B44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A26CC33-4824-4BB3-8904-E821E71A70B5}" type="slidenum">
              <a:rPr lang="en-US" smtClean="0"/>
              <a:t>‹#›</a:t>
            </a:fld>
            <a:endParaRPr lang="en-US"/>
          </a:p>
        </p:txBody>
      </p:sp>
    </p:spTree>
    <p:extLst>
      <p:ext uri="{BB962C8B-B14F-4D97-AF65-F5344CB8AC3E}">
        <p14:creationId xmlns:p14="http://schemas.microsoft.com/office/powerpoint/2010/main" val="371499557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2:34:55.329"/>
    </inkml:context>
    <inkml:brush xml:id="br0">
      <inkml:brushProperty name="width" value="0.05292" units="cm"/>
      <inkml:brushProperty name="height" value="0.05292" units="cm"/>
      <inkml:brushProperty name="color" value="#FF0000"/>
    </inkml:brush>
  </inkml:definitions>
  <inkml:trace contextRef="#ctx0" brushRef="#br0">3243 5358 0,'0'0'0,"0"0"0,0 0 16,0 8 0,0 26-16,-8 17 15,-1 17 1,1 17-16,-9 0 16,17-8-1,0-17 1,8-1-16,9 1 15,17-18-15,26-8 16,0 0 0,8-8-16,17-18 15,26 1 1,43-1-16,17-8 16,17 0-1,25 0-15,0-8 31,26-1-31,0-8 0,9 0 0,16 0 32,9-8-17,9 8-15,17-9 16,34 1 0,0 8-16,34 8 15,0-8 1,8-17-16,43 9 15,-17 8 1,-34 8-16,18 1 16,16 16-1,-26 1-15,-16 8 16,-9 8 0,-35 1-16,-16 8 15,-17 8-15,-26 1 16,-51-1-1,-77-16 1,-69-18-16,-24 1 16,-10-1-1,-8 1-15,-8-9 16,-1-17 0,1-17-16,-1-26 15,-8-33 1,-8 42-16</inkml:trace>
  <inkml:trace contextRef="#ctx0" brushRef="#br0" timeOffset="34628.47">2885 6089 0,'0'0'0,"0"0"0,-9-8 0,-136-26 0,77 25 0,0 1 16,8 8-1,17 0 1,1 17-16,-1 17 16,9 17-1,8 8-15,1 18 16,7 8-1,10-9 1,8 26-16,8 35 16,18 7-1,-9 1-15,-17 33 16,-8 18-16,-9-35 16,-1-50-1,10-26-15,8-17 16,0-8-1,17-18 1,0 1-16,0-9 16,17-9-16,0 1 15,18-18 1,24 9 0,1-8-16,-26-1 15,35 18-15,136 25 16,145 17-1</inkml:trace>
  <inkml:trace contextRef="#ctx0" brushRef="#br0" timeOffset="50126.56">2834 8726 0,'0'0'0,"0"0"0,0 0 0,0 0 31,0 0-31,0 0 16,0 17-1,-9 17-15,-8 17 16,-60 42 0,-25 9-16,-9-17 15,8 9-15,10 33 16,-36 26 0,19-16-1,-1-10-15,25 26 16,18-8-1,34-26-15,17-26 16,0 18 0,17-9-16,0 0 15,25-17 1,44 9-16,50 16 16,9 18-1,-51-26-15,-17-9 16,-18 1-1,-25 16-15,-8 27 16,-18 16 0,-25-26-16,-34-8 15,-26 17 1,-17-17-16,26-42 16,42-26-1,17-17-15,9-17 16,17-9-1,0 1-15,0-9 16,0 0 0,43 0-16,51 0 15,17 8 1,-51 1-16,-9 8 16,-8 0-1,8 17-15,0 9 16,-17 8-1,-25 25-15,-35 43 16,-68 51 0,-59 26-16,25-52 15,42-24 1,35-1-16,77 8 16,127 1-1,265-9-15,137 0 16,-154-34-1</inkml:trace>
  <inkml:trace contextRef="#ctx0" brushRef="#br0" timeOffset="73304.44">2927 14347 0,'-8'-8'0,"-1"-18"16,1-17 0,-9-8-16,0 17 15,-17-8 1,-26-9 0,-17 0-16,-17 0 15,0 17-15,17 8 16,-8 9-1,-17 0-15,-9 26 16,0 8 0,17 17-16,17 8 15,34-8 1,1 17-16,25 17 16,17 26-1,17 8-15,25 17 16,-25 34-1,9 26-15,-17-1 16,-9 18 0,0-17-16,-17-26 15,-1 0 1,1-9-16,17-8 16,-25-34-1,25-25 1,0-26-16,25-17 15,35 9-15,68-26 16,145-34 0,94-9-16,0 9 15</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2:36:49.801"/>
    </inkml:context>
    <inkml:brush xml:id="br0">
      <inkml:brushProperty name="width" value="0.05292" units="cm"/>
      <inkml:brushProperty name="height" value="0.05292" units="cm"/>
      <inkml:brushProperty name="color" value="#FF0000"/>
    </inkml:brush>
  </inkml:definitions>
  <inkml:trace contextRef="#ctx0" brushRef="#br0">2356 3385 0,'0'0'0,"0"0"31,0 8-31,0 18 0,0 8 16,0 17 0,0 0-1,-9 0 1,9 0-16,0 8 16,0-16-1,17-9-15,9 0 16,16 9-1,27-1 1,33 1-16,-16-9 16,33-26-1,69 1-15,-26-26 16,34-9 0,43 9-16,9 0 15,16 9 1,26-1-16,1 1 15,67 8-15,26 0 16,-68 0 0,94 0-1,-1-9-15,-33-8 16,42 0 0,52 26-16,8-1 15,-35 1 1,44-1-16,8-16 15,17 8 1,-17-9-16,9-16 16,8-1-1,-26 9-15,1 8 16,8 9 0,-103 9-16,-76-18 15,34 1-15,-103 8 16,-101 0-1,-27 0 1,-51 0-16,-34 0 16,-8 0-1,-9-9-15,0 1 16,0-9 0,9-60-16,0 18 15</inkml:trace>
  <inkml:trace contextRef="#ctx0" brushRef="#br0" timeOffset="27414.25">16361 4040 0,'0'0'0,"0"0"16,0 8-16,0 35 31,-8 25-16,-1 0-15,1 8 16,-9 60 0,-17 51-16,-18-51 15,10-16 1,-9 33-16,8-17 16,9-43-1,17-42-15,0-17 16,-18 0-1,18-17-15</inkml:trace>
  <inkml:trace contextRef="#ctx0" brushRef="#br0" timeOffset="27786.45">15593 4133 0,'0'0'0,"9"9"16,25 25-16,9 8 16,25-8-1,51-17 1,61-34-16,-10-25 16,10-35-1,24 1-15,-58 33 16,-10 1-1,154-26-15</inkml:trace>
  <inkml:trace contextRef="#ctx0" brushRef="#br0" timeOffset="28516.31">17838 3853 0,'-8'0'0,"-35"42"0,-51 52 16,-17 33-1,9 18-15,-35 33 16,9 18 0,26-26-16,33-17 15,44-8 1,42-26-16,51-26 16,34-16-1,9-18-15,-59-33 16</inkml:trace>
  <inkml:trace contextRef="#ctx0" brushRef="#br0" timeOffset="29314.04">18572 4439 0,'0'0'0,"-17"17"16,-9 34 0,-16 34-16,-18 17 15,-17 18 1,-8 16-16,8-17 16,17-17-1,26-17 1,8-34-16,9-17 15,9-9 1,8-16-16,0-18 16,34-25-16,26-59 15,17-18 1,8 1 0,0 8-16,9 8 15,17 17 1,26 9-16,-9 9 15,-9 25-15,1 8 16,-26 26 0,-18 0-1,-16 17-15,-9 17 16,-8 9 0,-17 33-16,-18 27 15,-25 24 1,-17 9-16,0-17 15,0-34 1,-18-17-16,27-34 16</inkml:trace>
  <inkml:trace contextRef="#ctx0" brushRef="#br0" timeOffset="29785.99">20288 3793 0,'0'0'0,"17"17"0,17 51 15,8 26 1,-7 25-16,-35 25 16,-26 18-1,-25-1-15,-43 35 16,-26 8 0,-16-17-16,-1-25 15,35-60 1,42-43-16,35-25 15</inkml:trace>
  <inkml:trace contextRef="#ctx0" brushRef="#br0" timeOffset="30647.93">21158 4482 0,'0'0'0,"0"0"0,0 0 16,0 0 0,26 8-1,33-8-15,44-8 16,16-1 0,-8-8-16,-42-8 15,-27 8 1,-16 8-1</inkml:trace>
  <inkml:trace contextRef="#ctx0" brushRef="#br0" timeOffset="30881.07">21243 4967 0,'0'0'0,"35"8"0,50 9 31,26 0-15,-17-8-16,-34-9 16,16-17-1,-16 8-15</inkml:trace>
  <inkml:trace contextRef="#ctx0" brushRef="#br0" timeOffset="31452.32">23113 4269 0,'-9'0'0,"-25"0"0,-43 34 15,-34 26 1,0 8-1,0 17-15,17-9 16,35-16 0,16-18-16,26 1 15,0 0 1,17-18-16,17 1 16,9-9-1,16-9-15,26-8 16,18-34-1,-18-26-15,-8-8 16,8 0 0,-34 26-16,-8 25 15,-18 0 1,1 17-16,-1 0 16,-16 25-1,-9 77-15,-9 35 16,1 7-1,8 9-15,8-25 16,9-60 0,26-17-16,-9-34 15</inkml:trace>
  <inkml:trace contextRef="#ctx0" brushRef="#br0" timeOffset="31880.49">24154 4465 0,'0'0'0,"0"0"0,0 0 16,-9 25-1,-16 52-15,-35 67 16,0 1 0,18-26-1,-10-17-15,1-8 16,17-26-16,0-17 16,-9-9-1,18-25-15</inkml:trace>
  <inkml:trace contextRef="#ctx0" brushRef="#br0" timeOffset="32151.41">23608 4329 0,'0'0'0,"0"0"16,8 8-16,26 26 16,0 0-1,18 9-15,33-1 16,35-16 0,25-9-16,-9-9 15,1-25-15,144-42 16</inkml:trace>
  <inkml:trace contextRef="#ctx0" brushRef="#br0" timeOffset="32512.87">25528 3844 0,'-9'0'0,"-25"34"0,-42 34 31,-27 43-15,-16 42-16,8 8 15,0 9-15,25-8 16,27-34 0,33 8-1,26 0-15,34-17 16,17-34 0,9-34-16,17-9 15,-17-25 1</inkml:trace>
  <inkml:trace contextRef="#ctx0" brushRef="#br0" timeOffset="33026.51">26211 3997 0,'0'0'0,"0"9"0,-9 25 16,-8 25 0,-8 18-16,-10 8 15,10 0 1,8-17-16,0-17 15,17-9 1,0-16-16,0-18 16,0 1-1,34-18-15,43-33 16,25-18 0,26-16-16,-8 16 15,-27 9 1,-7 17-16,-18 17 15,-25 9 1,-18 8-16,1 17 16,-17 25-1,-1 52-15,-16 16 16,-1-16 0,0-43-16,1-26 15,-1-16 1,1-9-16</inkml:trace>
  <inkml:trace contextRef="#ctx0" brushRef="#br0" timeOffset="33296.8">25682 5137 0,'0'0'0,"25"8"15,86 1-15,103-9 16,25-26 0,-18-25-16,-7-17 15,-35 9 1,-34 8-16,0 17 15,-76 17 1</inkml:trace>
  <inkml:trace contextRef="#ctx0" brushRef="#br0" timeOffset="33912.79">26578 5256 0,'0'0'0,"-9"8"16,1 18-1,-1 25 1,-16 0-16,-10 17 16,-7 0-1,8-9-15,0 1 16,8-18-16,9-16 15,0 0 1,17-9-16,0-9 16,17 1-1,17-1-15,26 1 16,8-18 0,17 1-1,18 8-15,-9 0 16,-18 17-1,-24 17-15,-18 0 16,-26 8-16,-16 1 16,-26-1-1,-18 1 1,1-18-16,-17-25 16,-34-17-1,-1-8-15,9-18 16,9 9-16,42 26 15</inkml:trace>
  <inkml:trace contextRef="#ctx0" brushRef="#br0" timeOffset="34363.06">28174 3946 0,'0'0'0,"17"17"15,60 60 1,25 33-16,9 26 16,-26 9-1,-16-9-15,-18 17 16,-34-8-1,-34-1-15,-17 1 16,-26 25 0,-42 0-16,8-43 15,8-24 1,-7-10-16,41-50 16</inkml:trace>
  <inkml:trace contextRef="#ctx0" brushRef="#br0" timeOffset="34735.28">30052 4567 0,'-9'0'0,"-8"34"16,-26 68-1,-16 43 1,-18-1-16,8 1 16,1-35-16,8-25 15,1-25 1,7-9-16,35-34 16</inkml:trace>
  <inkml:trace contextRef="#ctx0" brushRef="#br0" timeOffset="34958.6">29360 5026 0,'0'0'0,"0"0"15,43 26-15,34 25 16,42 17-1,-8-17-15,-43-26 16,18 9 0,16 9-16,-42-26 15</inkml:trace>
  <inkml:trace contextRef="#ctx0" brushRef="#br0" timeOffset="35478.94">30239 5630 0,'0'0'0,"0"0"0,0 0 16,9-9 0,8-16-16,9-9 15,25-43 1,8-76 0,27-25-16,16 16 15,1-8 1,-9 17-16,-9 17 15,0 8 1,-8 18-16,0 16 16,-17 18-1,-9 25-15,-17 8 16,-8 26-16,8 0 16,0 17-1,9 17-15,-9 9 16,-9 25-1,-8 0 1,-8 8-16,-9-16 16,0-1-1,0-16-15,8-18 16,1 1-16</inkml:trace>
  <inkml:trace contextRef="#ctx0" brushRef="#br0" timeOffset="35717.99">30325 4941 0,'8'0'0,"35"34"0,68 43 15,25 8 1,-8-17-16,-42-26 16,-18-25-1,9-17-15,-34 0 16</inkml:trace>
  <inkml:trace contextRef="#ctx0" brushRef="#br0" timeOffset="36077.56">31861 4533 0,'-9'0'0,"-42"51"0,-51 59 31,-1 44-15,35-1-16,8-9 15,26-8 1,9-17-16,25-25 15,17-9 1,8-17-16,1-34 16,-18-26-1</inkml:trace>
  <inkml:trace contextRef="#ctx0" brushRef="#br0" timeOffset="36608.51">32399 5196 0,'0'0'0,"-9"9"15,-8 16 1,-26 26-16,9-8 0,0-1 16,8-16-1,9-1 1,9-16 0,-1-1-1,9 1-15,0-9 0,9-9 16,34 1-16,33-26 15,18-9 1,-8 1-16,-18 8 16,-8 8-1,-9 9-15,-8 17 16,-1 0 0,-8 17-16,-8 9 15,0 25 1,-9 8-16,-9 1 15,-16-9 1,-1-17-16,9-17 16,-8-9-1,8-8-15</inkml:trace>
  <inkml:trace contextRef="#ctx0" brushRef="#br0" timeOffset="36838.74">33295 4856 0,'17'9'0,"60"59"0,34 34 0,-43 8 0,-51 1 0,-34 25 0,-43 8 16,-68 18-16,-94 25 15,-76 34 1</inkml:trace>
  <inkml:trace contextRef="#ctx0" brushRef="#br0" timeOffset="72873.53">8270 7263 0,'0'0'0,"0"0"0,26 17 15,25 0-15,52 8 31,8 1-31,51 8 16,102-9 0,9-16-16,9-9 15,85 0 1,-43 0-16,1 25 16,76 18-1</inkml:trace>
  <inkml:trace contextRef="#ctx0" brushRef="#br0" timeOffset="73327.37">5036 7654 0,'17'-8'15,"102"-9"-15,171-18 32,112 10-32,-1 16 0,-26 18 15</inkml:trace>
  <inkml:trace contextRef="#ctx0" brushRef="#br0" timeOffset="75734.52">4831 8572 0,'17'0'0,"77"18"0,153-1 16,214-26-1,51-8-15,69 0 16,-155 8 0</inkml:trace>
  <inkml:trace contextRef="#ctx0" brushRef="#br0" timeOffset="79659.49">13750 8581 0,'8'0'0,"44"9"16,118-1-16,180 1 16,77-18-1,102-25-15,103-26 16,-9-16-1,-205 25-15</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2:38:38.840"/>
    </inkml:context>
    <inkml:brush xml:id="br0">
      <inkml:brushProperty name="width" value="0.05292" units="cm"/>
      <inkml:brushProperty name="height" value="0.05292" units="cm"/>
      <inkml:brushProperty name="color" value="#FF0000"/>
    </inkml:brush>
  </inkml:definitions>
  <inkml:trace contextRef="#ctx0" brushRef="#br0">10029 3342 0,'0'0'0,"0"0"15,0 0-15,0 0 16,0 0 0,-18 9-16,-24 8 15,-26 8 1,-26 1-16,0-18 15,0-8 1,9 17 0,8 0-16,26 0 15,-1 0-15,10 26 16,-10 16 0,1 35-16,9 16 15,7 18 1,10 25-16,16 43 15,9 33 1,0 61 0,0 67-16,-8 8 15,-9 35-15,17 42 16,0 1 0,-9 33-16,1 17 15,-1-34 1,-8 18-1,8 7-15,1-7 16,8-10-16,17-16 16,9 8-1,8-33 1,0 24-16,17-25 16,0-8-1,-8 17-15,-9-17 16,-8-1-16,-26-33 15,-9-26 1,9-51 0,17-50-16,-8-35 15,-1-34 1,1-17-16,-26-26 16,-9-16-16,-8-17 15,8-1 1,1-16-1,-1-9-15,9-26 16,0-25 0,9-8-16,8-18 15,0 1-15,0-1 16,17-16 0,68-18-16,77-42 15,60-8 1,34 16-16,94 18 15</inkml:trace>
  <inkml:trace contextRef="#ctx0" brushRef="#br0" timeOffset="33636.04">7903 4354 0,'0'0'0,"-8"-8"0,-18-1 0,-51-16 0,-16 25 16,-95-9-16,26 9 16,16 17-16,-75 9 15,67-18 1,77 1 0,0-1-16,18-8 15,16-8 1,34 8-16</inkml:trace>
  <inkml:trace contextRef="#ctx0" brushRef="#br0" timeOffset="33849.82">6359 4167 0,'0'0'0,"-9"9"15,-34 50-15,-25 26 16,17-17-1,17-25 1,17-9-16,0-9 16,8 1-1,0 8-15,27 17 16,67 17 0,60 0-1,111 17-15,103 43 16</inkml:trace>
  <inkml:trace contextRef="#ctx0" brushRef="#br0" timeOffset="54727.56">10208 6914 0,'-9'0'0,"-8"9"0,-34 25 31,-34 25-15,-26 26-16,-51 68 16,-9 17-1,26-17-15,-26 60 16,0-9-1,35-25-15,8 42 16,34-51 0,26-25-16,16 16 15,27-33 1,25-52-16,25-8 16,10 9-1,24-18-15,27 1 16,59-9-1,-9-9-15,-42 1 32,17 17-32,-17-1 0,-43-8 15,-8 9 1,-26 42-16,-34 42 16,-34 1-1,-26-9-15,-60 51 16,-25-8-1,60-77-15,33-43 16,1 1 0,0-1-16,25-25 15,18-8 1,8-1-16,17 9 16,8 0-1,9 9-15,0-9 16,9 0-1,59 0 1,86 0-16,-26-26 16,-17-8-16,34 9 15,-17 8 1,-42 17-16,-52 0 16,0 51-1,-42 77-15,-103 101 16,-86 52-1,-24-9-15,-18 26 16,25 67 0,69 61-16,60 16 15,77-42 1,42-120-16,205 95 16,77-95-1,222-288-15,-95-35 16</inkml:trace>
  <inkml:trace contextRef="#ctx0" brushRef="#br0" timeOffset="88683.75">777 9380 0,'0'0'15,"0"0"-15,0 0 0,34 51 0,-26 26 0,1 34 16,-18-1 0,9-16-16,0-9 15,0-26 1,0-8-16,26 0 15,-9-8 1,17-9-16,43-17 16,42-26-1,44-33-15,33-26 16,0-9 0,-8 9-16,34-8 15,17-9 1,25-9-16,44 1 15,-18 16 1,-25 34 0,-35 18-16,-8 25 15,-9 17-15,-59-9 16,-35 9 0,9-8-16,-25-18 15,-18-16 1,-17-1-16,-8-25 15,-17-34 1,-9-25-16,-17-26 16,-8-9-1,16-50-15,26-137 16</inkml:trace>
  <inkml:trace contextRef="#ctx0" brushRef="#br0" timeOffset="99362.54">2586 11064 0,'0'0'0,"0"0"0,0 0 15,0 0-15,-8 17 16,-1 26 0,-8 33-1,-43 86-15,-17 59 16,1 0 0,24 17-16,1 9 15,-9-17 1,1-1-16,-1-16 15,9 8 1,8-42-16,9-1 16,-9 1-1,18-60-15,25-26 16,8-16 0,18-1-16,16-8 15,44-17 1,-9-25-16,16-26 15,61-17 1,8-26-16,-25 9 16,16-17-1,78-25-15,-1-9 16,26-17 0,-8 8-16,-1 35 15,-16 8 1,-18 25-16,18 18 15,-95 8 1,-16 25-16,8 9 16,-17 17-1,-17 17-15,-18-8 16,-24-18 0,-27 1-16,1-18 15,-9 1 1,17-18-16,17-16 15,26-43 1,17-51-16,-9-17 16,-16-26-1,-18-50-15,-9-10 16,1-50 0,-17 26-16,-9 8 15,-9-18 1,1 18-16,-1 9 15,-8 25 1,0 25 0,0 0-16,-8 26 15,-1 34-15,-16 9 16,-18 16 0,0 9-16,1 26 15,-1 8 1,-25-9-16,-1 9 15,1 17 1,-85 17-16,-69 26 16,-162 42-1,-35 17-15,-16 34 16,-128 85 0,-18-17-1,-110 68-15,51 43 16,273-128-1</inkml:trace>
  <inkml:trace contextRef="#ctx0" brushRef="#br0" timeOffset="110645.83">10745 13896 0,'0'0'0,"0"0"16,0 0-16,0 0 16,0 0-1,-8 0-15,-18 17 16,-8 9-1,0-9-15,17-9 16,0 1 0,17-1-16,0-8 15,0 0 1,0 0-16,-9 0 16,9 9-1,-8 16-15,8 9 16,0 26-1,0 25-15,0 17 16,8-8 0,1-9-16,-1-26 15,1-8 1,0-25-16,-1-1 16,-8-8-1,0-8-15,-8-18 16,-1 1-1,9 8-15,0 0 16,0 0 0,0 0-16,-9-9 15,1 9 1,-1 0-16,1 0 16,-1 0-1,1 0-15,-1 0 16,1 0-1,-1 9-15,1-1 16,8 1 0,0-9-1,0 8-15,8 1 16,18-1-16,16-8 16,35-8-1,17-26-15,9-9 16,-1-8-1,-51 34-15</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2:42:02.495"/>
    </inkml:context>
    <inkml:brush xml:id="br0">
      <inkml:brushProperty name="width" value="0.05292" units="cm"/>
      <inkml:brushProperty name="height" value="0.05292" units="cm"/>
      <inkml:brushProperty name="color" value="#FF0000"/>
    </inkml:brush>
  </inkml:definitions>
  <inkml:trace contextRef="#ctx0" brushRef="#br0">6726 5468 0,'25'-8'0,"103"-52"0,103-67 15,42-26 1,-43 42-16,43 18 15,52 16 1,16 60 0,35 26-16</inkml:trace>
  <inkml:trace contextRef="#ctx0" brushRef="#br0" timeOffset="16754.52">27909 6327 0,'51'-34'0,"120"-42"16,196-35-16,205 18 15,94 59 1,128 51 0,-317 8-16</inkml:trace>
  <inkml:trace contextRef="#ctx0" brushRef="#br0" timeOffset="25290.12">7707 8513 0,'0'0'0,"26"0"16,110-9-16,103 18 16,77-9-1,188 17 1,93 17-16,-179 0 16</inkml:trace>
  <inkml:trace contextRef="#ctx0" brushRef="#br0" timeOffset="36449.44">7169 12485 0,'0'0'0,"0"-9"16,17-8-16,43-17 31,51-26-31,9 9 16,-44 17-16,78 0 15,68 0 1,77 26-16,68 16 16,51 9-1,103-17-15,-112 0 16</inkml:trace>
  <inkml:trace contextRef="#ctx0" brushRef="#br0" timeOffset="43546.28">871 8862 0,'0'0'0,"0"0"15,0 0-15,0 0 16,0 0 0,25-9-16,26-8 15,9 0 1,0 0-16,8-8 15,26-1 1,-9 18-16,18 8 16,8 8-1,51-16-15,77-9 16,0-9 0,51-8-16,0 9 15,-8-1 1,111 9-16,-9 17 15,0 0 1,68 0-16,43 0 16,43 17-1,-1 0-15,10-8 16,-10 8 0,-127 8-16</inkml:trace>
  <inkml:trace contextRef="#ctx0" brushRef="#br0" timeOffset="46699.52">1212 6565 0,'0'0'0,"0"0"0,0 0 16,0 0 0,0 0-1,0 0-15,0 0 16,0 0-1,0 0-15,0 0 16,0 0 0,0 0-16,0 0 15,-17-8 1,-9 8-16,-42-9 16,0 1-1,8 16-15,-25 9 16,8 0-1,17 9-15,17-1 16,18 18 0,-26 0-16,25 8 15,-8 8 1,0 9-16,8 34 16,9 0-1,-17 0 1,17 9-16,-17 8 15,34-17-15,0-17 16,0 9 0,0-9-16,34 0 15,-9-9 1,18 1 0,8-9-16,-34-17 15,26 17-15,17 0 16,0 8-1,8 1-15,26-1 16,8 1 0,-17-17-16,18-9 15,33 0 1,1-9 0,25-16-16,34-18 15,-8-16 1,0-9-16,34-9 15,-9-16 1,-8-35-16,9-8 16,-35-17-1,-9 0-15,-7-9 16,-44 1-16,-42-1 16,-26 9-1,-17-25 1,-25-18-16,-43 0 15,-43-8 1,-26-8-16,-42-9 16,-42 25-1,-61 26-15,-51 17 16,-42 51 0,-94 76-1,-43 69-15,-17 68 16,102-26-16</inkml:trace>
  <inkml:trace contextRef="#ctx0" brushRef="#br0" timeOffset="49838.16">4720 6565 0,'0'0'0,"0"0"0,0 0 15,0 0-15,-9-8 16,1-1-1,-1 9-15,1 0 16,-9 0 0,-26 9-16,-17 8 15,-8 17 1,-17 34 0,-26 34-16,-17 43 15,-9 16 1,0 18-16,35-9 15,25-34-15,26 9 16,17-1 0,42-25-16,35 0 15,34 9 1,51 8-16,51 0 16,26-42-1,68-9-15,34-17 16,-8-26-1,68-25-15,9-34 16,-26 0 0,17-8-16,-43-9 15,-34-34 1,-42-35-16,-35-33 16,9-42-1,-60-26-15,-25-43 16,-61-17-1,-118-25 1,-78 26-16,-144-1 16,-95 17-1,-76 103-15,-188 50 16,-34 86-16,68 33 16,-26 35-1,-136 127 1,342-60-16</inkml:trace>
  <inkml:trace contextRef="#ctx0" brushRef="#br0" timeOffset="56916.57">1212 12459 0,'0'0'16,"0"0"-16,0 0 16,0 0-16,0 9 15</inkml:trace>
  <inkml:trace contextRef="#ctx0" brushRef="#br0" timeOffset="57244.37">888 12570 0,'0'0'0,"0"0"15,0 0-15,0 0 32,42 0-32,61-17 15,76-17 1,111-26-16,69-8 0,25 0 31,25 25-31,-16 26 16</inkml:trace>
  <inkml:trace contextRef="#ctx0" brushRef="#br0" timeOffset="58943.53">4080 13097 0,'8'0'0,"43"0"16,69 0-16,102 0 31,51 8-31,51 9 0,43 9 16,17-1 0,52-16-1,-44-1-15</inkml:trace>
  <inkml:trace contextRef="#ctx0" brushRef="#br0" timeOffset="66570.6">12324 13641 0,'0'0'0,"0"0"0,-8 0 31,-1 17-15,-16 0-16,-18 17 15,-42 34 1,-52 51-16,-16 17 16,-10 0-1,18 1-15,34-44 16,17-25 0,26-17-16,17-8 15,0-18 1,17-16-16,-1-1 15,10-16 1,-1-18-16,1-25 16,-1-25-1,9 8-15,8 17 16,1 17 0,-18 8-16,1 0 15,-44 18 1,-16 16-16,0 26 15,25 1 1,17 16-16,18 8 16,25 1-1,42-9-15,69 0 16,120-17 0,33-34-16,-25-17 15,86 8 1</inkml:trace>
  <inkml:trace contextRef="#ctx0" brushRef="#br0" timeOffset="82536.45">3892 14075 0,'0'0'0,"0"0"0,0 0 16,0-9-1,0-8-15,0-17 16,0-8-1,-9-18-15,1 9 16,-1 0 0,-16 0-1,-9 9-15,-18-9 16,-7 17-16,-27 0 16,1 0-1,0 8-15,-35-8 16,-25 0-1,17 9-15,34 25 16,-8 0 0,-9 8-16,8 1 15,9-1 1,26 9-16,17 0 16,17 0-1,0 0-15,17 0 16,0 0-1,8 17-15,0 0 16,9-8 0,0-1-1,0 1-15,0-18 16,0 1-16,0-1 16,0 1-1,0-1 1,0 1-16,0-9 15,0 0 1,-8-9-16,-1 1 16,-16-18-1,8-8-15,0 0 16,8 9-16,9-1 16,0 1-1,0-1 1,0 9-16,-8 0 15,-1 0 1,-8 0-16,0 0 16,-43 0-1,0 0-15,-33 0 16,24 9 0,-33-1-16,8-8 15,17 9 1,0-1-16,-8 9 15,-26 9 1,-9 42-16,-33 102 16,-1 68-1,86-9-15,111-42 16,136 77 0</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2:44:33.744"/>
    </inkml:context>
    <inkml:brush xml:id="br0">
      <inkml:brushProperty name="width" value="0.05292" units="cm"/>
      <inkml:brushProperty name="height" value="0.05292" units="cm"/>
      <inkml:brushProperty name="color" value="#FF0000"/>
    </inkml:brush>
  </inkml:definitions>
  <inkml:trace contextRef="#ctx0" brushRef="#br0">4839 7535 0,'-8'0'0,"-9"-9"0,-26-8 16,17 9-1</inkml:trace>
  <inkml:trace contextRef="#ctx0" brushRef="#br0" timeOffset="920.18">5974 6923 0,'0'0'0,"9"0"16,8-9-16,68-16 15,95-9 1,-44 0-16,1 8 15,25-16 1,-8 8-16,-43 17 16,-1-9-1,10 9-15,-43 0 16,-17 0 0,-35 8-16</inkml:trace>
  <inkml:trace contextRef="#ctx0" brushRef="#br0" timeOffset="1234.33">6939 6497 0,'0'0'0,"0"0"0,8 0 16,27 0-16,16-8 15,17-1 1,17 1-16,9-1 15,17 18 1,-8 8-16,-44 8 16,-16 9-1,-17 9-15,-1 16 16,-25 35 0,-42 25-16,-61 26 15,-16-26 1,33-17-16,35 8 15,-26 171 1</inkml:trace>
  <inkml:trace contextRef="#ctx0" brushRef="#br0" timeOffset="2042.85">9312 7960 0,'0'0'0,"-9"-8"0,-8-1 16,-43 1-16,-42-1 16,-26-8-1,-26 17 1,-8 9-16,8 16 16,18 1-16,8 33 15,8 26 1,9 17-16,26 0 15,17 26 1,34-1 0,59 1-16,78 8 15,50-25-15,78-52 16,-9-42 0,17-68-1,8-25-15,-51-26 16,9-26-1,-60-8-15,-59 8 16,-61 1 0,-102-1-16,-255 18 15,-283 127 1,-127 204-16,349-51 16</inkml:trace>
  <inkml:trace contextRef="#ctx0" brushRef="#br0" timeOffset="3713.85">23710 7960 0,'0'0'0,"-17"0"0,-34 0 15,-35 0 1,-33-8-16,-26 8 15,-26 17-15,-17 0 16,-8 25 0,25 35-1,35-1-15,42 9 16,43 9 0,51 42-16,77 34 15,136 0-15,103-25 16,25-52-1,9-67-15,43-43 16,-35-26 0,-68-33-1,-59-35-15,-78-8 16,-84 9 0,-95-35-16,-256-127 15,-298 34 1,-231 136-16,342 76 15</inkml:trace>
  <inkml:trace contextRef="#ctx0" brushRef="#br0" timeOffset="8406.57">4549 9355 0,'0'0'0,"0"0"0,0 0 0,0 0 16,0 17 0,-8 25-1,-9 26 1,-18 26-16,1 8 15,17-25 1,17-18-16,0-16 16,0-1-1,9 1 1,8-18-16,17 1 16,43-1-16,25-16 15,1-1 1,16-8-16,26 0 15,9 9 1,8-1-16,0 1 16,51-9-1,1 8-15,-1 1 16,1-9-16,8 8 16,16 1-1,1-9 1,9 8-16,8-8 15,-8 0 1,-18 0-16,-51 0 16,-25 0-1,-35 0-15,-59 0 16,-26 0 0,-8 0-16,-18 0 15,1-8 1,-1-1-1,-8-8-15,9-34 16,0-42 0,16-43-16,52-137 15</inkml:trace>
  <inkml:trace contextRef="#ctx0" brushRef="#br0" timeOffset="13963.64">13460 10154 0,'0'0'0,"76"9"16,274-9-1,290-17 1,197-17-16,-359 8 15</inkml:trace>
  <inkml:trace contextRef="#ctx0" brushRef="#br0" timeOffset="26715.4">20177 9193 0,'0'0'0,"0"0"0,0 0 15,0 0-15,0 0 16,0 0-1,0 0 1,-9 0-16,-34 0 16,-16 17-16,-10 0 15,-25 17 1,1 17 0,24 9-16,10 33 15,-10 10 1,1-1-16,0 8 15,8 18-15,17-9 16,9-26 0,9-8-16,8 9 15,17 8 1,25 0 0,35 0-16,8 0 15,-8-25 1,34 25-16,42 17 15,18-26-15,-9-8 16,26-17 0,25-17-1,17-25-15,26-26 16,-42-26 0,-10-25-16,44-42 15,-43-35 1,-26-8-16,-17-17 15,-26-25 1,-42-10-16,-34 1 16,-52-25-1,-59 8-15,-94 0 16,-103 8 0,-144 43-16,-120 102 15,-35 119 1,-93 136-16,256-42 15</inkml:trace>
  <inkml:trace contextRef="#ctx0" brushRef="#br0" timeOffset="37833.03">3969 12570 0,'8'0'0,"61"-9"0,67-16 15,120-9-15,26 8 31,-26 9-31,0-8 16,-26 8-16,18 8 16,-77 1-1,-43-10 1,-17 10-16,-43-1 16,-34 1-1,-8 8-15,-18 0 16,-8 0-1</inkml:trace>
  <inkml:trace contextRef="#ctx0" brushRef="#br0" timeOffset="38105.26">5778 12025 0,'0'0'0,"9"0"15,16 0-15,18 9 16,8-1-1,17 9-15,26 17 16,-8-8 0,-9 8-16,8 0 15,-8 0 1,-18 0-16,-24-9 16,-18-8-1,-34 17-15,-146 86 16,-195 75-16,110-76 15,223-93 1</inkml:trace>
  <inkml:trace contextRef="#ctx0" brushRef="#br0" timeOffset="41336.92">8782 13539 0,'-8'0'0,"-18"-8"0,-42-18 16,-17 1-1,-18-1 1,-8 9-16,0 9 16,-17 16-1,-85 60-15,-9 26 16,17 25-1,-25 51-15,16 17 16,61 0-16,50-8 16,61-26-1,50-9-15,52-8 16,51-25 0,85-26-1,60-34-15,34-51 16,26-60-1,-8-42-15,-18-59 16,-34-9-16,-68 8 16,-26 9-1,-51 8 1,-77 18-16,-77-9 16,-111-43-1,-170 9-15,-9 85 16,9 26-1</inkml:trace>
  <inkml:trace contextRef="#ctx0" brushRef="#br0" timeOffset="42281.79">13374 13429 0,'-8'0'0,"-9"0"0,-77 34 15,-34 25 1,-9 1-1,-25 16-15,0 9 16,17 17 0,17 34-16,34 9 15,26 17 1,33-1-16,44 18 16,68 8-1,76-9-15,112-8 16,68-25-1,-9-60-15,18-42 16,8-35 0,-35-33-16,-16-26 15,-34-26 1,-26-42-16,-17-9 16,-86 9-1,-25-42-15,-43-26 16,-68 17-1,-77-60-15,-144-25 16,-172 8 0,-85 43-16,-85 85 15,-26 102 1,179 43 0</inkml:trace>
  <inkml:trace contextRef="#ctx0" brushRef="#br0" timeOffset="47256.5">17352 13888 0,'-9'0'0,"-8"-9"15,-26-16-15,1-1 16,-18-8 0,9 17-16,-9 0 15,-17 0 1,9 17-16,-9 0 15,0 9 1,0 8 0,-42 8-16,-9 26 15,8 17-15,9 17 16,9 0 0,0 26-16,-9 25 15,25-8 1,35-18-16,25-16 15,18-1 1,42 9-16,34 0 16,52-8-1,42-9-15,68-17 16,35-17 0,42-34-16,18-25 15,-1-18 1,-8-25-1,8-26-15,-34-25 16,-51-8-16,-17-9 16,-34-9-1,-60 9-15,-34 0 16,-43-8 0,-42-35-1,-69-8-15,-145-17 16,-205 25-16,-136 86 15,-68 118 1,-155 137-16,138 25 16,272-85-1</inkml:trace>
  <inkml:trace contextRef="#ctx0" brushRef="#br0" timeOffset="49884.36">23266 13973 0,'0'0'0,"0"0"16,-8-9-16,-1 1 16,-16-9-1,-18-9 1,-51 1-16,-43-1 15,-25 26 1,-51 34-16,8 17 16,34 26-1,-51 33-15,26 1 16,51-9 0,17 0-16,17-8 15,51-1 1,52 18-16,51-1 15,85 18 1,119-26-16,94-77 16,26-50-1,-51-43-15,-17-26 16,17-33 0,-18-18-16,-67 1 15,-77 33 1,-61-8-16,-58-9 15,-61 18 1,-153-1-16,-231 69 16,9 67-1</inkml:trace>
  <inkml:trace contextRef="#ctx0" brushRef="#br0" timeOffset="61402.71">8398 15070 0,'0'0'0,"0"0"15,0 0-15,0 0 16,0 0-1,0 0 1,-8 0-16,-26 0 16,-9 17-1,-17 8-15,1 1 16,-27 8 0,-25 17-16,-25 9 15,8 8 1,-17 0-16,-1 0 15,-7 8 1,-1 9-16,18 17 16,8 9-1,-9 16-15,18-8 16,16 9 0,1 25-16,16-8 15,18-18-15,25-8 16,18-8-1,25-26 1,17-9 0,26 1-16,8 17 15,17-9 1,26 8-16,17 1 16,8-9-1,18-17-15,34 0 16,16-17-1,-16-17-15,25-17 16,9-9 0,-17 1-1,0-1-15,-9 1 0,9-1 16,25 1 0,9-9-1,17-26-15,9-16 16,-18-1-1,9-16-15,0-1 16,-26 18 0,9 8-16,-17 17 15,-9 0 1,9 8-16,9-8 16,16 0-1,-8 0-15,0 0 16,0-8-1,-9 8-15,-17 0 16,-16 8 0,7 9-16,1-8 15,-17-1 1,25 9-16,-8-8 16,0-1-1,34 1 1,0-1-16,-26-25 15,-34 0-15,-25-8 16,-1-9 0,-8-18-16,-8-7 15,-9-9 1,-17-26-16,-18-16 16,-7-9-1,-10-9-15,-24 1 16,-35-1-1,-18 9-15,-41-17 16,-27-9 0,-67 9-16,-27 17 15,-24 0 1,-52 0-16,-52 17 16,-7 25-1,-44 26-15,-102 9 0,34 25 31,1 17-31,-103 25 16,-43 35 0,-86 67-16,-16 35 15,273-35 1</inkml:trace>
  <inkml:trace contextRef="#ctx0" brushRef="#br0" timeOffset="64759.59">17556 15631 0,'0'0'0,"0"0"0,-8-8 15,-26-1 1,-9-8-16,0 9 16,1-1-1,-18 1-15,-8 8 16,-9 0 0,-43 25-1,1 18-15,8 33 16,-9 18-16,-42 33 15,0 26 1,34-16 0,17-1-16,9-9 15,-1 18-15,1-18 16,25-16 0,26-9-1,8 17-15,0 17 16,9-25-1,17-1-15,17-25 16,17-17 0,0 0-16,18-25 15,33-1 1,9-8-16,8 0 16,17-8-1,18-9-15,34-9 16,8 1-1,8-18-15,27-8 16,-1 9 0,17-1-16,1 9 15,-44 9 1,44-1-16,16 1 16,-25-1-1,26-8-15,-1-8 16,35-9-1,-1 0-15,1 0 16,-1 0 0,1 0-16,-9-9 15,9 9 1,-1-8-16,18 8 16,17 0-1,8 0-15,17 17 16,-25 0-1,0-9-15,-18 1 16,-25-1-16,-8-8 16,-43-8-1,-9-18 1,-8 1-16,-43-1 16,8-25-1,-8 0-15,-42 0 16,-18 0-1,-25 8-15,-17-16 16,-18-9 0,-16-26-16,-18 1 15,-25-1 1,-60-25-16,-42-17 16,8 9-1,-69 7-15,-7 27 16,16-1-1,-60-16-15,-25 25 16,-34 25 0,-60 18-16,17 16 15,-17 18 1,-68 8-16,-35 8 16,-59 1-1,8 25-15,-25 0 16,0 17-1,-26 34-15,-68 76 16,-128 94 0,333-102-16</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2:45:59.274"/>
    </inkml:context>
    <inkml:brush xml:id="br0">
      <inkml:brushProperty name="width" value="0.05292" units="cm"/>
      <inkml:brushProperty name="height" value="0.05292" units="cm"/>
      <inkml:brushProperty name="color" value="#FF0000"/>
    </inkml:brush>
  </inkml:definitions>
  <inkml:trace contextRef="#ctx0" brushRef="#br0">2526 4354 0,'0'0'0,"0"0"15,0 0-15,9-8 0,34-1 16,33-16-16,78-18 16,102-8 15,120 17-31,33 26 0,-42 16 15,34 9-15,-17 0 32,-17 17-17,9-17-15,0-17 0</inkml:trace>
  <inkml:trace contextRef="#ctx0" brushRef="#br0" timeOffset="87616.81">10421 15691 0,'0'0'0,"0"0"16,9 0-16,-1 0 15,1 0 1,-1 0-16,-8 0 16,0 0-1,0 0-15,0 0 16,0 0-16,0 17 16,0 25-1,0 18 1,-8 33-16,-9 1 15,0-18 1,0 9-16,-1 1 16,10-10-1,-1-8-15,1-17 16,-1-17 0,1-8-16,8-9 15,0-9 1,0 1-16,0-9 15,0-9 1,0-16-16,0-9 16,8-17-1,1 0-15,8 0 16,0-9 0,0-17-16,0 1 15,0-18 1,0 1-16,0 16 15,-8 26 1,-1 9-16,1 16 16,-9 26-1</inkml:trace>
  <inkml:trace contextRef="#ctx0" brushRef="#br0" timeOffset="93514.05">10626 16966 0,'0'0'0,"0"0"15,0 0 1,0 0-16,0 0 16,0 0-1,0 0-15,0 0 16,0 0-1,0 9-15,-9 16 0,1 18 32,8 16-17,0-7-15,8 16 16,10 0-16,-1 8 16,17-8-1,17 9-15,0-1 16,0-16-1,18-9-15,16-9 16,0-8 0,18-17-16,16-8 15,9-1 1,-8-25-16,-9-8 16,8-9-1,-8-26-15,-8-8 16,-18-17-1,-17 0-15,-8 0 16,-9-8 0,-8 8-16,-18 8 15,1 26 1,-9 17-16,-8 17 16,-1 0-1,1 0-15,-1 17 16,-8 0-1,0 0-15,-8 17 16,-1 8 0,1 1-16,-9-18 15,17 1 1,-9-9-16,1 0 16,-1 0-1,0 0-15,1 0 16,8 0-1,0 0-15,0 0 0,0 0 16,0 0 0,0 0-1,0 0 1,0 0 0,0 0-16,0 0 15,0 0-15,0-9 16,17-25-1,17-8-15,17-18 16,9 9 0,-9 9-16,-25 25 15,0 0 1,-18 17-16,1 8 16,-9 35-1,-9 42-15,-17 25 16,9-8-1,17-8-15,0-26 16,17-17 0,1-25-16,-1-18 15</inkml:trace>
  <inkml:trace contextRef="#ctx0" brushRef="#br0" timeOffset="95607.84">18555 12570 0,'0'0'0,"0"0"0,9 8 16,-1 9 0,1 0-16,-1-8 15,1 8 1,-1-9-16,1 9 15,-1 0 1,9 17-16,0 17 16,0 26-1,-8 16 1,0 9-16,-1 0 16,1 17-16,-1-8 15,9-9 1,0-8-16,17-1 15,1-8 1,7 0-16,18-17 16,25 0-1,1-17-15,16-17 16,1-25 0,25-26-16,17-26 15,-17-16 1,8-18-1,18-16-15,-9-9 16,-26 0 0,-8 0-16,-8 8 15,-1 0-15,-8 18 16,-34 25 0,-26 17-1,-8 17-15,-18 0 16,1 8-1,-18 1-15,-16-1 16,16 9 0</inkml:trace>
  <inkml:trace contextRef="#ctx0" brushRef="#br0" timeOffset="95957.07">20074 13250 0,'0'0'0,"0"0"0,0 0 16,0 0-1,-8-9-15,8 1 16,0-9 0,34-26-16,34-16 15,0-9 1,9 0-16,-9 8 16,-25 9-1,0 17-15,-1 0 16,-7 17-1,-10 9-15,1 8 16,-1 0 0,1 25-16,8 35 15,0 33 1,9 9-16,-9 0 16,17-8-1,18 0-15,-35-52 16</inkml:trace>
  <inkml:trace contextRef="#ctx0" brushRef="#br0" timeOffset="109965.58">12094 15708 0,'0'0'0,"0"0"0,0 0 15,0 0 1,0 0-1,17 8 1,26 1-16,25-9 16,26-9-16,0 9 15,0 0 1,-26 0 0,-17 9-16,-25 8 15,-1 8-15,-16 35 16,-26 33-1,-34 1-15,-18-9 16,18-17 0,8-17-16,9-8 15,17-18 1,0 1-16,17-9 16,9 0-1,16 0-15,18 0 16,51-9-1,85-25 1,-25-17-16,-103 26 16</inkml:trace>
  <inkml:trace contextRef="#ctx0" brushRef="#br0" timeOffset="111593.52">13016 16966 0,'0'0'0,"0"0"31,-9 0-31,1 0 16,-1-8-16,1 8 15,-1 0 1,1 0-16,-1 0 15,-8 17 1,-9 8-16,9 9 16,-8 17-1,8 18-15,0-1 16,-1 17 0,18-9-16,9-8 15,17 0 1,16 9-16,27-18 15,16-16 1,26-18-16,8-16 16,-8-18-1,-8-8-15,-18-8 16,0-18 0,-8 1-16,0-18 15,-17 1 1,0-1-16,-9 9 15,-17 17 1,-8 17-16,-18 9 16</inkml:trace>
  <inkml:trace contextRef="#ctx0" brushRef="#br0" timeOffset="111930.03">13699 17298 0,'0'0'0,"0"0"15,0 0-15,0 0 32,0 0-32,17-8 15,25-9-15,18-17 16,8-9 0,9-8-1,-9 0-15,-8 17 16,0 0-1,-17 17-15,-1 0 16,1 17 0,-9 8-16,9 9 15,-1 17 1,-7 0-16,-10 17 16,1 1-1,-1-1-15,10 0 16,-10-26-1</inkml:trace>
  <inkml:trace contextRef="#ctx0" brushRef="#br0" timeOffset="112914.32">10677 12765 0,'0'0'0,"0"0"16,0 0-1,0 17-15,0 17 16,0 9 0,0 8-16,0 0 15,0 17 1,0 8-16,17 1 16,9-9-1,17 8-15,42 10 16,17-18-1,9-9 1,17-16-16,26-18 16,17-16-16,-35-18 15,35-33 1,0-9-16,-43-17 16,8-17-1,1-18-15,-9 1 16,-43 17-1,-8 0-15,-17 17 16,-18 26-16,-8 8 16,-8 17-1,-17 0 1,-9 17-16</inkml:trace>
  <inkml:trace contextRef="#ctx0" brushRef="#br0" timeOffset="113182.16">12162 12995 0,'0'0'0,"0"0"16,0 0-1,0 0-15,9-9 16,25 1-16,34-18 16,26-16-1,26-1 1,-26-8-16,-18 17 15,-7 0 1,-18 17-16,-9 0 16,-16 9-16,0 8 15,-9 0 1,0 17-16,0 25 16,9 52-1,-9 33-15,17 18 16,51 127-1</inkml:trace>
  <inkml:trace contextRef="#ctx0" brushRef="#br0" timeOffset="117610.92">14279 15759 0,'0'0'0,"0"0"0,0 0 15,0 0 1,26 0 0,16-9-16,35-8 15,17 0 1,0 0-16,-17 0 15,-9 17 1,-25 0-16,-26 0 16,-9 17-1,-25 17-15,-17 26 16,-34 16 0,-1-8-16,18-17 15,17-8 1,8-18-16,9-8 15,17-8 1,0-1-16,9 9 16,17 0-1,8 9-15,8-9 16,1 8 0,8 1-16,0 8 15,9 9 1,-17 8-16,-9-9 15,-25 9 1,-27 9-16,-33 8 16,-17-9-1,25-33-15</inkml:trace>
  <inkml:trace contextRef="#ctx0" brushRef="#br0" timeOffset="118462.6">20638 13037 0,'0'0'0,"0"0"0,0 0 15,0 0 1,0 0-16,0 9 15,0 8 1,0 17 0,17 17-16,8 8 15,9 9-15,0 9 16,1 0 0,16-1-1,0 1-15,17-1 16,1-16-1,-1-18-15,34-16 16,26-26 0,17-43-16,9-25 15,0-17 1,-1-17-16,-16-17 16,-26 8-1,-43 35-15,-8 8 16,-18 17-16,-16 17 15,-17 17 1,-1 8 0</inkml:trace>
  <inkml:trace contextRef="#ctx0" brushRef="#br0" timeOffset="118775.12">21867 13088 0,'0'0'0,"0"0"0,0 0 16,17-8 0,34-1-16,34-16 15,26-18 1,9-8-16,-9 9 16,-9-9-16,-25 17 15,-26 8 1,-25 9-1,-1 17 1,-16 26-16,-9 42 16,-26 51-16,-34 51 15,-16-9 1,16-24-16,9-1 16,-35 136-1</inkml:trace>
  <inkml:trace contextRef="#ctx0" brushRef="#br0" timeOffset="119833.03">14706 17000 0,'0'0'0,"-9"9"0,1 16 31,-9 35-31,0 17 15,-1 16-15,18 35 16,0 8 0,9-26-16,8-25 15,17-8 1,26-1-16,8-25 16,18-8-16,25-9 15,34-34 1,17-26-1,8-25 1,1-8-16,-9-18 16,-8-25-16,-26 0 15,-34 17 1,-9 17-16,-17 0 16,-25 17-1,0 0 1,-18 0-16,-7 9 15,-27-10-15,0 18 16</inkml:trace>
  <inkml:trace contextRef="#ctx0" brushRef="#br0" timeOffset="120181.42">16054 17230 0,'0'0'0,"0"0"16,9-8 0,16-9-16,27-17 15,33-43 1,9-8 0,-9 8-16,-25 9 15,-17 17 1,-9 17-16,-9 9 15,-8 8-15,-8 17 16,-1 8 0,1 52-1,0 42-15,-9 8 16,25-25 0,18-16-16,17-27 15,-35-25 1</inkml:trace>
  <inkml:trace contextRef="#ctx0" brushRef="#br0" timeOffset="123456.11">16396 15725 0,'0'0'15,"0"0"-15,-9 0 16,1 17-16,-1 17 16,9 0-1,-9-9 1,1 1 0,8-1-16,0 1 15,0-9 1,0 0-16,8 0 15,1 0-15,8 0 16,0 0 0,26 0-1,8-9-15,26-8 16,25-17 0,-16-8-16,8-9 15,8-9-15,-25 1 16,0-1-1,-26 9-15,-34 17 16</inkml:trace>
  <inkml:trace contextRef="#ctx0" brushRef="#br0" timeOffset="123686.57">16788 15767 0,'0'0'0,"-8"26"15,-18 67 1,9 52 0,0 8-16,8 9 15,1-9 1,8-94-16</inkml:trace>
  <inkml:trace contextRef="#ctx0" brushRef="#br0" timeOffset="127018.02">16532 16992 0,'0'0'0,"0"0"15,0 0-15,0 8 16,0 18 0,17 16-1,26 26 1,8 9-16,0-9 15,9 9 1,-9-1-16,1 1 16,-1-9-1,0-9-15,9 1 16,16-18 0,27-16-16,25-9 15,8-26 1,10-25-16,7-34 15,-8-17 1,0-17-16,-25 17 16,-1 0-16,-25 0 31,-34-9-31,-34 43 16</inkml:trace>
  <inkml:trace contextRef="#ctx0" brushRef="#br0" timeOffset="127341.65">17812 17290 0,'0'0'0,"0"0"16,0 0-16,0 0 15,35-17 1,50-17-16,26-34 15,8-18 1,9-16-16,-17 26 16,-8 16-1,-26 26-15,-26 17 16,-9 17 0,-7 26-1,-1 25-15,0 42 16,0 9-16,0-25 15,17-17 1,1-18-16,-27-25 16</inkml:trace>
  <inkml:trace contextRef="#ctx0" brushRef="#br0" timeOffset="128030.95">22541 13173 0,'0'0'0,"0"0"0,0 26 15,17 16 1,8 18 0,27 8-16,42 9 15,17-9 1,8-9-16,-8-8 16,8-8-16,18-18 15,17-25 1,-1-17-16,18-25 15,0-35 1,-35-8 0,-25-8-16,0-10 15,-26 18-15,-16 17 16,-27 26 0,-24 25-16,-10 17 15</inkml:trace>
  <inkml:trace contextRef="#ctx0" brushRef="#br0" timeOffset="128344.54">24154 13224 0,'0'0'0,"0"0"0,0 0 16,0 0 0,0 0-1,0 0-15,8-8 16,27-18-16,16-16 15,17-26 1,9 0 0,-9 17-16,-25 17 15,-18 17 1,-7 0-16,-1 8 16,-9 9-1,9 9-15,-8 42 16,-1 59-1,9 26-15,0-25 16,26-26-16,-9-42 16</inkml:trace>
  <inkml:trace contextRef="#ctx0" brushRef="#br0" timeOffset="132257.14">18598 15988 0,'0'0'0,"0"0"16,0 0-16,0 0 16,-9 0-1,1 26-15,-9 8 16,-1 0-1,1-9-15,17-8 16,0-8 0,9 8-16,25 0 15,43 0 1,8-9-16,-8 1 16,-26 0-1,-17-1-15,-8 18 16,-26 25-1,-17 25-15,-26 9 16,-25 0 0,8-25-16,18-26 15,16-26 1,17-8-16</inkml:trace>
  <inkml:trace contextRef="#ctx0" brushRef="#br0" timeOffset="132440.31">18905 15852 0,'0'0'0,"0"0"15,17 0-15,68 17 16,86 9-1,153 16-15</inkml:trace>
  <inkml:trace contextRef="#ctx0" brushRef="#br0" timeOffset="134205.6">18649 17222 0,'0'0'0,"0"0"0,0 0 16,0 0 0,0 8-1,17 35-15,0 50 16,9 18 0,8-9-16,17-17 15,9-17 1,17-17-16,33-9 15,10-8 1,-1-8-16,27-26 16,7-9-1,-8-16-15,-17-18 16,-8 1 0,-18-18-16,-16 1 15,-27 8 1,-16 0-16,-26 8 15,-26-8 1,1 34-16</inkml:trace>
  <inkml:trace contextRef="#ctx0" brushRef="#br0" timeOffset="134482.82">19963 17392 0,'0'0'0,"0"0"0,0 0 15,9 0-15,25-9 16,51-16 0,9-9-1,-9-9 1,9 1-16,-17 8 16,-17 8-1,-9 9-15,-17 17 16,-8 9-16,0 8 15,-9 17 1,-9 8-16,1 9 16,-1-17-1</inkml:trace>
  <inkml:trace contextRef="#ctx0" brushRef="#br0" timeOffset="135330.09">13016 13122 0,'0'0'0,"0"0"0,0 0 0,-9 9 31,1 8-31,8 17 16,0 0 0,0 25-16,0 18 15,8 0 1,18-1-16,17 9 16,8-8-1,-9-18-15,18-16 16,8-9-1,26-9 1,43-16-16,-9-26 16,-9-9-16,1-16 15,34-18 1,-18-8-16,-25 9 16,-9-9-1,-16 0 1,-9-9-16,-26 0 15,-17 9-15,-25 34 16</inkml:trace>
  <inkml:trace contextRef="#ctx0" brushRef="#br0" timeOffset="135689.37">14279 13054 0,'0'0'16,"0"0"-16,0 0 15,0 0-15,0 0 16,0 0 0,0 0-16,17 0 15,17 0 1,17-17-16,26-17 16,17-8-1,0 8-15,-26 0 16,-8 0-1,-17 17-15,-18 0 16,1 8 0,-1 9-16,-16 0 15,0 26 1,-1 25-16,1 34 16,-1 17-1,18-9-15,59 26 16,-25-50-1</inkml:trace>
  <inkml:trace contextRef="#ctx0" brushRef="#br0" timeOffset="137905.59">20160 15929 0,'0'0'0,"0"0"16,0 0-1,0 0-15,0 0 16,0 0 0,0 0-1,0 0-15,8 0 16,18 8-1,42 9-15,34-8 16,43-1 0,18 1-16,-27-9 15,-16 0 1,-26 0-16,-35 8 16,-25-8-16,-25 0 15,-18 9 1,-25 25-1,-51 34-15,-60 25 16,-9 1-16,26 0 16,26-9-1,25-9-15,43-42 16</inkml:trace>
  <inkml:trace contextRef="#ctx0" brushRef="#br0" timeOffset="147274.13">23224 15784 0,'-9'0'0,"-17"17"15,-42 0-15,0 9 16,17-1-1,-9 18 1,-34 8-16,0 0 16,34 0-1,9-9-15,17-16 16,0 8 0,17 9-16,25 8 15,27 25 1,41 1-16,-16-18 15,-9-16 1,18 8-16,-18-9 16,-17-16-1,-17-9-15,-26 0 16,1 0 0,-43 17-16,-60-9 15,-17-16 1,25-9-16,44-9 15,24-25 1,1-51-16,60-51 16,68 0-1,25 9 1,1 24-16,33-7 16,129-69-16</inkml:trace>
  <inkml:trace contextRef="#ctx0" brushRef="#br0" timeOffset="147918.57">24709 15657 0,'0'0'0,"-9"0"0,-25 0 31,-17 17-31,-26 17 16,-8 34-1,-1 25-15,27 1 16,24-18-16,18-8 16,17-8-1,17-9 1,0-17-16,9-17 16,8-17-1,0-17-15,18-25 16,16-27-16,0-16 15,-8 9 1,-26 25 0,-8 17-16,-18 25 15,-16 26 1,-35 60-16,-8 50 16,8 44-1,26 7-15,43 103 16</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2:49:57.476"/>
    </inkml:context>
    <inkml:brush xml:id="br0">
      <inkml:brushProperty name="width" value="0.05292" units="cm"/>
      <inkml:brushProperty name="height" value="0.05292" units="cm"/>
      <inkml:brushProperty name="color" value="#FF0000"/>
    </inkml:brush>
  </inkml:definitions>
  <inkml:trace contextRef="#ctx0" brushRef="#br0">2390 10052 0,'0'0'0,"0"0"0,0 0 16,-9 0-1,1 0-15,-26 17 16,-18 9-16,-50 8 16,0 8-1,8 9-15,0 0 16,8 0-1,18-8 1,17 8-16,-26 9 16,34-1-1,1 1 1,16-18-16,9 1 16,17-9-1,0 8-15,17-8 16,17 0-1,0 9-15,9 8 16,-9 8 0,-8 9-1,-9 17-15,-9 9 16,-16 8-16,-35 26 16,-34 8-1,9-26-15,17-33 16,8-18-1,1-25 1,25-8-16,-1-18 16,18 1-16,0-9 15,9-9 1,25 1 0,43-18-16,0 9 15,-26 0 1,-8 17-16,8 0 15,9 17-15,-1 17 16,-16 43 0,-34 50-1,-44 86-15,-101 119 16,-52 25 0,43-128-16,94-101 15,51-26 1,51 0-16,77-8 15,265-60 1,33-26-16</inkml:trace>
  <inkml:trace contextRef="#ctx0" brushRef="#br0" timeOffset="10977.36">5607 10954 0,'9'0'0,"59"0"16,60 25-16,120 35 15,51 25 1,25 8-16</inkml:trace>
  <inkml:trace contextRef="#ctx0" brushRef="#br0" timeOffset="14502.14">12265 12655 0,'0'0'0,"0"0"0,0 0 0,8 0 32,52-9-32,136-16 15,129-43 1,84-9-1,120 35-15,-110 33 16</inkml:trace>
  <inkml:trace contextRef="#ctx0" brushRef="#br0" timeOffset="15739.34">17667 13284 0,'0'0'0,"0"0"16,34 0 0,52 8-1,93-25-15,60-8 16,102-18-16,52-16 15</inkml:trace>
  <inkml:trace contextRef="#ctx0" brushRef="#br0" timeOffset="17859.59">20330 11362 0,'0'0'0,"0"0"15,0 0 1,0 0-16,17 0 15,9 0 1,8 8-16,26 18 16,8 42-1,-8 43 1,-26-1-16,-17-16 16,-8 33-16,-26 18 15,-9-18 1,-17-42-16,1-34 15,-10-8 1,-7-9 0,-1-8-16,17-18 15,9 1-15,17-18 16,8-8 0,9-9-1,0 9-15,17 0 16,1 0-16,24 9 15,18 16 1,25 26-16,-8-8 16,0 0-16,17-1 31,17-16-31,8-1 16,-16-8-1,-61 0-15</inkml:trace>
  <inkml:trace contextRef="#ctx0" brushRef="#br0" timeOffset="18350">22242 11073 0,'0'0'0,"0"0"0,-8 34 31,-1 34-31,-17 42 16,-8 61-1,-17 16-15,0-60 16,-9 9 0,9 17-16,25-25 15,18-43 1,-1-43-16,1-16 16,8-9-1,0-9-15</inkml:trace>
  <inkml:trace contextRef="#ctx0" brushRef="#br0" timeOffset="18711.82">21781 10954 0,'0'0'0,"0"0"16,0 0-1,0 0-15,0 0 16,9 0-1,25 0-15,43-9 16,34-8 0,8 0-1,18 0-15,-18 9 16,-8-1-16,0 1 16,-26 8-1,-59 0-15</inkml:trace>
  <inkml:trace contextRef="#ctx0" brushRef="#br0" timeOffset="19054.32">23770 10852 0,'0'0'0,"0"0"16,0 0-1,0 0-15,0 0 16,-9 0 0,-16 17-16,-44 25 15,-59 26 1,-8 34 0,16 0-16,-16 26 15,8 42-15,25-8 16,44-35-1,33 1-15,26 16 16,43-25 0,25-17-16,34-34 15,18-17 1,-60-33-16</inkml:trace>
  <inkml:trace contextRef="#ctx0" brushRef="#br0" timeOffset="19671.99">24640 11056 0,'0'0'0,"0"0"0,0 0 16,0 0 15,-8 0-31,-9 25 16,-26 18-16,-8 16 15,8 1-15,9-1 16,17-16 0,0-1-1,17-16-15,0 0 16,8-9 0,18-9-16,17-8 15,34-17-15,25-26 16,-8-8-1,17-8 1,0 8-16,-43 17 16,-8 17-1,-9 0-15,-17 17 16,-8 0 0,-1 17-16,-16 17 15,-9 42 1,-9 1-16,-8 0 0,0-26 31,9-17-31,8-17 16,0-9-1</inkml:trace>
  <inkml:trace contextRef="#ctx0" brushRef="#br0" timeOffset="19986.36">24145 11966 0,'0'0'0,"26"-9"0,68 1 16,51-18 0,9 1-1,-1-1-15,1 1 16,8-1 0,-25 9-16,-9 0 15,-17 0 1,-77 17-16</inkml:trace>
  <inkml:trace contextRef="#ctx0" brushRef="#br0" timeOffset="20492.45">24871 12187 0,'0'0'0,"0"0"0,17 0 15,0 17 1,9 0-16,-18 8 15,1 9 1,-26 0-16,-9 9 16,-17 0-1,9-9-15,0-9 16,-9-8 0,9-8-16,0-1 15,17-8 1,17 0-1,0 0-15,0 0 0,9-8 16,8 8 0,25 0-1,18 8-15,0 18 16,-9 8 0,9 17-16,17 0 15,-1-9 1,10-25-16,25-34 15,-43 0 1</inkml:trace>
  <inkml:trace contextRef="#ctx0" brushRef="#br0" timeOffset="20808.29">26356 11302 0,'0'0'0,"8"17"0,18 34 31,25 43-31,-8 51 15,-9 25 1,-25 42-16,-44 18 16,-33-9-1,-34 9-15,-9-52 16,-68 69 0</inkml:trace>
  <inkml:trace contextRef="#ctx0" brushRef="#br0" timeOffset="22742.84">5974 13981 0,'0'0'0,"0"0"0,0 0 15,0 0 1,35-8 0,76-35-16,128-42 15,68-34 1,77-17-16,77-8 15,-77 33-15</inkml:trace>
  <inkml:trace contextRef="#ctx0" brushRef="#br0" timeOffset="27737.29">1451 16405 0,'0'0'0,"0"0"0,0 0 0,8 17 31,18 0-15,17 17-16,8 0 16,17 0-16,9 9 15,17-9 1,17-9-1,-9 1-15,-16-18 16,8 1 0,17-1-16,-1 1 15,10-9 1,-18-9-16,-25 1 16,-9-1-1,-16 9-15,-27 0 16,-8 0-1</inkml:trace>
  <inkml:trace contextRef="#ctx0" brushRef="#br0" timeOffset="28081.62">2714 16490 0,'0'0'0,"-8"0"16,-1 0-1,9 0-15,0 0 16,0 0 0,0 0-16,0 0 15,0 0 1,17 17-16,26 0 16,8 9-1,9-1-15,-1-8 16,-16 0-1,-17-8-15,-1 8 16,-16 0 0,-9 25-16,-43 43 15,-25 34 1,-9-8-16,34-52 16</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2:50:48.739"/>
    </inkml:context>
    <inkml:brush xml:id="br0">
      <inkml:brushProperty name="width" value="0.05292" units="cm"/>
      <inkml:brushProperty name="height" value="0.05292" units="cm"/>
      <inkml:brushProperty name="color" value="#FF0000"/>
    </inkml:brush>
  </inkml:definitions>
  <inkml:trace contextRef="#ctx0" brushRef="#br0">29821 15129 0,'0'0'0,"-8"17"16,-1 34-1,0 43-15,1 34 16,-1 8-1,1-9-15,-1 1 16,-8 8 0,-8 8-16,-18-16 15,-8-9-15,17-34 16,17-17 0,0-25-16,17-26 15</inkml:trace>
  <inkml:trace contextRef="#ctx0" brushRef="#br0" timeOffset="127.98">29002 16346 0,'0'0'0,"0"0"0,0 0 15,0 0 1,0 17-16,0 0 16,0-9-1,0 1-15,0-1 16,0 1 0,0-1-1,0 1-15,0-1 16,0-8-1,0 0-15,42-17 16,-7 0 0</inkml:trace>
  <inkml:trace contextRef="#ctx0" brushRef="#br0" timeOffset="924.25">29258 16201 0,'0'0'15,"0"0"-15,0 0 16,0 0-16,0 0 16,0 0-1,0 0 1,0 0-16,0 0 15,-9 0 1,1 17-16,-9 34 16,0 26-16,0 33 15,8-16 1,26-26-16,26 8 16,16-16-1,35-1 1,17-25-16,9-17 15,-1-25-15,9-18 16,-25 1 0,-18-9-1,-17-9-15,-16 1 16,-1 8 0,-17 17-16</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2:51:18.550"/>
    </inkml:context>
    <inkml:brush xml:id="br0">
      <inkml:brushProperty name="width" value="0.05292" units="cm"/>
      <inkml:brushProperty name="height" value="0.05292" units="cm"/>
      <inkml:brushProperty name="color" value="#FF0000"/>
    </inkml:brush>
  </inkml:definitions>
  <inkml:trace contextRef="#ctx0" brushRef="#br0">1750 8428 0,'0'0'0,"0"0"16,0 0-16,0 0 15,0 0 1,17 8-16,8 18 31,69-1-31,26-8 16,-9-17-1,0-8-15,59-9 16,-16-17-16,-60 17 16,-26 0-1,26 0 1,-17 8-16,-26 9 16,-34 0-1</inkml:trace>
  <inkml:trace contextRef="#ctx0" brushRef="#br0" timeOffset="312.66">2876 8275 0,'0'0'0,"17"0"15,9 0 1,34 0-1,42 8-15,-17 1 16,-16-9 0,42-9-16,17 1 15,0-9 1,-26 8-16,-51 1 16,1-1-1,-10 9-15,-16 0 16,-18 17-1,-42 77 1,-162 135-16,-86 44 16</inkml:trace>
  <inkml:trace contextRef="#ctx0" brushRef="#br0" timeOffset="21632.16">2262 10367 0,'0'0'0,"0"0"0,0 17 15,25 0 1,1 17 0,25 0-1,26 26-15,17 8 16,34 17-16,26 17 15,-26 0 1,-17 0 0,-26-9-16,-34-33 15,-8-18-15,-9-16 16,0-9 0,-8-9-1,-9-8-15</inkml:trace>
  <inkml:trace contextRef="#ctx0" brushRef="#br0" timeOffset="21806.77">3516 10512 0,'0'0'0,"-34"0"16,-34 17 15,-43 17-31,-94 68 16,-76 76-1,-27 52-15,1 16 16,17 10 0</inkml:trace>
  <inkml:trace contextRef="#ctx0" brushRef="#br0" timeOffset="31484.64">1946 12791 0,'0'0'0,"0"0"15,0 0-15,0 0 32,0 0-32,0 8 15,26 18-15,16 33 16,35 18 0,0 25-1,42 8-15,1 1 16,8-34-16,-9-9 15,18-17 1,-1 0-16,-7-9 16,-27-8-1,-25-8 1,-9-9-16,-34-9 16</inkml:trace>
  <inkml:trace contextRef="#ctx0" brushRef="#br0" timeOffset="31728.88">3260 12791 0,'0'0'0,"-17"0"16,-77 42 0,-204 154-16,-112 136 15,-25 118 1,162-127-16</inkml:trace>
  <inkml:trace contextRef="#ctx0" brushRef="#br0" timeOffset="50422.73">1826 15691 0,'0'0'0,"0"0"0,0 0 15,0 0 1,0 0 0,0 0-16,0 0 15,0 25 1,0 26-16,0 17 15,0 9 1,9-18-16,0-8 16,-1-17-1,9-8-15,17-26 16,60-60 0,128-110-16,60-68 15,42 0 1,35-9-16,-1-8 15,-34 26 1</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2:53:01.816"/>
    </inkml:context>
    <inkml:brush xml:id="br0">
      <inkml:brushProperty name="width" value="0.05292" units="cm"/>
      <inkml:brushProperty name="height" value="0.05292" units="cm"/>
      <inkml:brushProperty name="color" value="#FF0000"/>
    </inkml:brush>
  </inkml:definitions>
  <inkml:trace contextRef="#ctx0" brushRef="#br0">2313 3325 0,'0'0'0,"0"0"0,0 0 0,17 17 31,0 17-31,-8 0 16,-1 0-1,1 0-15,-1 9 16,1-9 0,-9 0-16,0 0 15,0 0 1,8 0-16,1 17 15,8 0 1,9 9 0,16-9-16,9-9 15,18-8-15,42 9 16,0-9 0,8-9-1,60-16-15,26-1 16,-26-16-16,60-9 15,0 17 1,0 8 0,-8 9-16,-9 0 15,17 17 1,17-8-16,-9-1 16,9-8-16,0-8 15,-17-1 1,-8-8-1,-1 9-15,18-18 16,-1 9 0,18 0-16,-18-8 15,-25-1 1,0 1-16,-8-1 16,-10 9-1,-33-8-15,-43-1 16,-51 1-1,-34-1-15,-18 1 16,-8-1 0,-8 1-16,-18-9 15,1-26 1,-9-25-16,-18-25 16,10 42-1</inkml:trace>
  <inkml:trace contextRef="#ctx0" brushRef="#br0" timeOffset="28592.64">4532 8692 0,'0'0'0,"0"0"0,34 8 16,52 18-16,33 8 15,69 0 1,51 8-16,60-16 16,25-1-1,51-8-15,9 9 16,-17-9 0</inkml:trace>
  <inkml:trace contextRef="#ctx0" brushRef="#br0" timeOffset="29952.11">12034 8249 0,'0'0'0,"0"0"15,0 0-15,0 0 16,0 0 0,0 0-16,-8 0 15,-1 17 1,-8 9-1,0 8 1,0 0-16,0 8 16,8 1-16,1-1 15,-1-16 1,1-1 0,-1 1-16,9-9 15,0-8-15,0-1 16,0 1-1,17 8-15,52 17 16,67-9 0,52-16-16,17-18 15,0 1 1,17-9-16,8-17 16,9 8-1,-9 9-15,-8 8 16,0 18-1,0 8-15,-9 17 16,-50 9 0,-44-1-16,-59-16 15,-26-1 1,-8-16-16,-18-1 16,1 1-1,-1-1-15,1 1 16,-9-9-1,17-17-15,0-34 16,9-9 0,-18 9-16,-8 0 15,0 25 1</inkml:trace>
  <inkml:trace contextRef="#ctx0" brushRef="#br0" timeOffset="72170.14">2475 2152 0,'0'0'0,"-8"17"15,-1 51-15,1 34 16,-1 17 0,-17 34-16,1 0 15,-1-25 1,-16 8-16,-18 17 16,17-26-1,17-33-15,9-26 16,9-9-1,8 9 1,17 9-16,51-18 16,43 1-16,43-9 15,42-34 1,26-17 0,8-17-16,9-8 15,26-10-15,8 1 16,-8 9-1,-1-1 1,-8 9-16,-25 17 16,-35 9-16,-34 8 15,-42 8 1,-18 9 0,-16 0-16,-18 9 15,-26-17-15,-16-1 16,0-8-1,-9-8 1,8-1-16,10 1 16,7-9-16,26-17 15,9-9 1,-17-8 0,0 0-16,-9-9 15,-8 1-15,8-18 16,-8-8-1,-1-17 1,1-17-16,-18 17 16,-7 9-1,-1 8-15,0-9 16,0-8 0,0-17-16,0 8 15,-9 9 1,1 17-16,-9 26 15,0 8 1,-9 17-16,9 0 16,0 8-1,0 1-15,0 8 16,0 0 0,0 0-16,0 0 15,-8-9 1,-9 1-16,-17-18 15,-35-16 1,-42-26-16,-25 0 16,-43 0-1,-52 0-15,-50 25 16,-86 9 0,-94 9-16,-77 25 15,-34 17 1,-51 8-16,-26 43 15,231 0 1</inkml:trace>
  <inkml:trace contextRef="#ctx0" brushRef="#br0" timeOffset="75122.69">1767 11396 0,'0'0'0,"0"0"16,0 8-1,8 1 1,-8-9-16,0 0 15,0 0 1,0 0-16,0 0 16,0 0-1,9 0-15,25 8 16,34 1-16,35-9 16,25-9-1,42 1 1,18-1-16,8-8 15,-8 0 1,-9 9-16,-42 8 16,-9 0-1,-17 0-15,-43 8 16,-17 1 0,-33-9-16,-27 0 15,0 0 1</inkml:trace>
  <inkml:trace contextRef="#ctx0" brushRef="#br0" timeOffset="75406.07">2953 11396 0,'0'0'0,"0"0"16,9-9-16,16 1 16,26-18-1,35 1 1,-18-1-16,-8 9 15,8 0 1,9 0-16,-17 0 16,-9 9-1,-8-1-15,-18 9 16,-8 0 0,-8 0-16,-18 0 15,-42 51 1,-68 51-16,-18 18 15,69-61 1</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2:55:24.061"/>
    </inkml:context>
    <inkml:brush xml:id="br0">
      <inkml:brushProperty name="width" value="0.05292" units="cm"/>
      <inkml:brushProperty name="height" value="0.05292" units="cm"/>
      <inkml:brushProperty name="color" value="#FF0000"/>
    </inkml:brush>
  </inkml:definitions>
  <inkml:trace contextRef="#ctx0" brushRef="#br0">7127 5766 0,'0'0'0,"-9"0"0,1 26 16,-18 25-1,0 42-15,-8 18 16,-8-18-1,-1 9-15,-8-8 16,17-18 0,8-16-1,9-1-15,17-16 16,0-1-16,25 1 16,27 0-1,59-1-15,34-25 16,8-17-1,44-8-15,33-9 16,-8 8 0,17 18-16,-17 8 15,-34 8 1,-26 18 0,-26-9-16,-25 0 15,-17-9-15,-17 1 16,-17-9-1,-18-9-15,1 1 16,0-9 0,-9-17-16,9-17 15,-1-34 1,-8-34-16,9-43 16,0-8-1,8-145 1</inkml:trace>
  <inkml:trace contextRef="#ctx0" brushRef="#br0" timeOffset="25675.13">15559 7629 0,'0'0'0,"0"0"0,0 0 15,17 17 1,0 17 0,0 17-1,-8 34-15,-9 25 16,-17 18-1,-17-9-15,-9-9 16,9-8 0,0-25-16,0-18 15,17-25 1,0-8-16,8-9 16,9 0-1,9 0-15,16 0 16,35 0-1,59-8-15,26-9 16,1 0 0,7 8-16,35 9 15,17 0 1,8 0-16,18 9 16,-1-1-1,18 1-15,-1-1 16,9-8-1,9-8-15,-1-1 16,-8 1 0,-8-1-16,-9 9 15,-26-8 1,-17 8-16,-16-9 16,-44 1-1,-25-1-15,-17 1 16,-17-1-1,-9-16-15,-8-1 16,-17 1 0,-1-9-16,1-9 15,0-8 1,-9-8-16,26-18 16,-1-16-1,-7 8-15,-1-9 16,8-8-1,10 8-15,-1-8 16,0 9 0,9-9-16,-17 8 15,0 9 1,-18 17-16,-8 17 16,-8 9-1,-17 8-15,-9 0 16,-18 0-1,-7 0-15,-18 8 16,1 9 0,-18-8-16,0-1 15,-25 1 1,-26-1-16,0 1 16,-34-26-1,-69-17-15,-16-9 16,-26-8-1,-26 0-15,-25 8 16,-111 18 0,-1 33-16,-67 18 15,-146 16 1,-42 9-16,-17 9 16,8 16-1,-60 9-15,103-33 16,43-18-1,170 0-15</inkml:trace>
  <inkml:trace contextRef="#ctx0" brushRef="#br0" timeOffset="35824.44">3252 10316 0,'0'0'0,"42"-9"16,104-8-1,144 9 1,94-1-16,119 26 16,86 0-16,-179-8 15</inkml:trace>
  <inkml:trace contextRef="#ctx0" brushRef="#br0" timeOffset="40567.18">2467 11813 0,'0'0'0,"0"0"16,0 0-16,8-9 31,60-25-31,154-59 16,162-9-16,163-9 15,144 26 1,103 93-16,102 120 15,43 119 1,-470-86-16</inkml:trace>
  <inkml:trace contextRef="#ctx0" brushRef="#br0" timeOffset="56129.13">23625 7765 0,'-9'0'0,"-25"0"16,-34 8-1,-9 9-15,0-8 16,-8 8 0,-9 0-16,-26 0 15,-8 8 1,0 9-16,-25 0 15,-26 9 1,33-18-16,27 1 16,17-9-1,25-9-15,25 1 16,27-18 0,8 1-16,17-43 15,8 8 1</inkml:trace>
  <inkml:trace contextRef="#ctx0" brushRef="#br0" timeOffset="56362.48">22370 7611 0,'0'0'0,"0"0"0,0 0 16,0 0 0,-17 9-16,-17 34 15,-69 33 1,-76 43-16,-9 9 15,69-26-15,51-34 32,34-34-32,25-9 15,77 18-15,129 16 16,93 1 0,68 8-16</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2:56:31.614"/>
    </inkml:context>
    <inkml:brush xml:id="br0">
      <inkml:brushProperty name="width" value="0.05292" units="cm"/>
      <inkml:brushProperty name="height" value="0.05292" units="cm"/>
      <inkml:brushProperty name="color" value="#FF0000"/>
    </inkml:brush>
  </inkml:definitions>
  <inkml:trace contextRef="#ctx0" brushRef="#br0">8578 6940 0,'0'0'0,"0"0"16,0 0 0,34-9-16,68 9 15,69 9 1,93 8-16,78-9 15,93 1 1,-25 8 0</inkml:trace>
  <inkml:trace contextRef="#ctx0" brushRef="#br0" timeOffset="3183.94">11130 6923 0,'0'0'0,"25"0"0,78-9 16,119 1-1,119 8 1,103 0-16,51 0 16,-86 0-1</inkml:trace>
  <inkml:trace contextRef="#ctx0" brushRef="#br0" timeOffset="13325.68">2834 15010 0,'0'0'0,"-9"-8"15,1-1-15,-10-16 16,1-1 0,0 9-1,0 0-15,9 0 16,8 17-1,0 0-15,25 9 16,44 25 0,67 17-16,1-9 15,42 1 1,60 8-16,-9-9 16,1-8-1,-18-8-15,9 0 16,9-1-1,-52 1-15,-17-9 16,9 8 0,-52-16-16,-51-1 15,-25 1 1,-17-9-16,-9-9 16,0-25-1,0 9-15</inkml:trace>
  <inkml:trace contextRef="#ctx0" brushRef="#br0" timeOffset="13613.24">5112 14985 0,'0'0'0,"0"0"15,0 0-15,0 0 16,0 0 0,0 0-1,0 0-15,35 17 16,50 8-1,43 1-15,34 8 16,-8 8 0,-26 1-16,-34-18 15,-35-8 1,-24 0-16,-10 1 16,-8-1-1,-25 8-15,-44 18 16,-41 25-1,-44 42-15,-128 94 16</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2:58:01.502"/>
    </inkml:context>
    <inkml:brush xml:id="br0">
      <inkml:brushProperty name="width" value="0.05292" units="cm"/>
      <inkml:brushProperty name="height" value="0.05292" units="cm"/>
      <inkml:brushProperty name="color" value="#FF0000"/>
    </inkml:brush>
  </inkml:definitions>
  <inkml:trace contextRef="#ctx0" brushRef="#br0">10959 6276 0,'0'0'0,"0"0"0,0 0 0,0 0 0,0 0 15,0 0-15,0-8 16,0-1-16,0 1 16,0-9-16,-9-9 31,-8 1-31,-17-18 0,-26 9 16,-16 9-1,-18 8 1,8 0-16,-25 17 31,-25 0-31,-18 25 16,35 1-16,42 16 15,-26 18 1,-16 33-16,8 1 16,0-1-1,26 1-15,42 8 16,9 17-1,17-8 1,0-9-16,17 0 16,34 25-16,60 9 15,25-17 1,-8-25-16,34-9 16,77 0-1,-68-34-15,8-25 16,60-18-1,-26-25-15,9-17 16,0-25 0,-43-18-16,-8-34 15,-18-25 1,-50-8-16,-44-18 16,-59-16-1,-68-35-15,-52-8 16,-68 25-1,-93 9-15,-52 51 16,-94 85 0,43 34-1</inkml:trace>
  <inkml:trace contextRef="#ctx0" brushRef="#br0" timeOffset="9137.52">25588 5485 0,'0'0'0,"0"0"32,8 9-32,1-1 0,-1-8 31,-8 0-31,-8 0 16,-18 17-1,-25 0-15,-34 34 16,-60 26-1,-18 42-15,1 34 16,9 43 0,16-1-16,35 1 15,8 25 1,17 0-16,26-17 16,25-17-1,26-51-15,43-25 16,51-9-1,76-8-15,69-52 16,34-50 0,1-26-16,-10-34 15,-33-34 1,-27-43-16,-24-42 16,-61-17-1,-59-26-15,-60-17 16,-68-33-1,-103-9-15,-145 34 16,-213 76 0,-137 111-16,-162 187 15,342 0 1</inkml:trace>
  <inkml:trace contextRef="#ctx0" brushRef="#br0" timeOffset="59753.12">10592 8887 0,'0'0'0,"0"0"16,0 0-16,0 0 16,0 0-1,0 0 1,0 0-16,-9 17 15,1 17 1,-18 0-16,1 17 16,-10 0-1,10-8-15,-1-9 16,-16 8 0,-10-8-16,-7 17 15,7-8 1,-16 8-16,-9-9 15,9 1 1,0-1-16,-18 1 16,-16 0-1,17-18-15,8-16 16,0-1 0,34-16-16,9-1 15,0 1 1,0-18-16,0-8 15,0-9 1,-1-16-16,18 8 16,9 34-1</inkml:trace>
  <inkml:trace contextRef="#ctx0" brushRef="#br0" timeOffset="60191.21">9226 9270 0,'0'0'0,"0"0"15,0 0 1,0 17-16,0 17 15,-8 0 1,-1 17-16,1 8 16,-1 1-1,1 0 1,-1-18-16,1-16 16,-10-1-16,-7 1 15,-1-1-15,9 1 31,0-18-31,0 1 16,9-9-16,-1-9 16,-8-8-1,-9-25-15,1-26 16,8-26 0,17 0-16,8 26 15,9 17 1,0-8-1,17 8-15,9 0 16,8 17-16,1 8 16,7 18-1,27 16 1,16 9-16,35 9 16,-1-1-1,9-8-15,163 34 16</inkml:trace>
  <inkml:trace contextRef="#ctx0" brushRef="#br0" timeOffset="75909.57">10413 7059 0,'0'0'0,"0"0"15,0 0 1,0 0-16,0 0 16,0 0-1,0 0-15,0 0 16,0 0 0,0 8-16,0 1 15,17-1 1,17 9-16,9-8 15,8-1 1,8 1-16,35-1 16,0-8-1,26 0-15,25 0 16,-9 0 0,1-8-16,-18 8 15,-16 0 1,-35 0-16,-17 0 15,-8 0 1,-17 0-16,-1 0 16,-8 0-1,-8-9-15,-1 9 16,-8 0 0</inkml:trace>
  <inkml:trace contextRef="#ctx0" brushRef="#br0" timeOffset="76233.5">11309 6906 0,'0'0'0,"0"0"0,0 0 16,8 0 0,26 0-16,9 0 15,17 8 1,25 1-1,-8-9-15,0 0 16,-9 8-16,-8 1 16,-17-1-1,-1 1-15,-16-1 16,-9 1 0,-9-1-16,1 9 15,-9 26 1,-51 25-16,-52 42 15,-16 9 1,68-68-16</inkml:trace>
  <inkml:trace contextRef="#ctx0" brushRef="#br0" timeOffset="89051.93">12009 10937 0,'0'0'0,"-9"0"0,1 8 16,-9 1-1,-1-1-15,1 1 16,-8 8 0,-9 0-16,-18 25 15,1 26 1,0 9-1,0 8-15,0 17 16,25 17-16,17-8 16,27-18-1,16-33-15,8-18 16,27-8 0,25-17-16,8-34 15,43-34 1,9-51-16,-43 9 15,-18-9 1,-33 8-16,-26 9 16,-34 0-1,-42 0-15,-44 0 16,-42 8 0,9 35-16,68 25 15</inkml:trace>
  <inkml:trace contextRef="#ctx0" brushRef="#br0" timeOffset="90106.69">11932 11132 0,'0'0'0,"0"0"0,0 0 31,0 0-15,0 0-16,-9-8 15,1-18 1,-18 1-16,1-18 16,-18 1-1,-17-9-15,-17 8 16,-17 1-1,-8 8-15,-9-9 32,-17 1-32,9-1 0,-9-16 15,0 8-15,8 0 16,-8 0 0,9 16-16,8 1 0,0 0 31,8 9-16,-16 16-15,-1 9 0,9 17 16,9 0-16,-9 9 16,-9 16-1,18 10-15,25-10 32,26 1-17,17-18-15,8 1 16,9-18-1,0 1-15,9-1 16,8-16 0,0-18-16,8-8 15,1 0 1,-1 0-16,-8 17 16,0 9-1,0-1-15,0 1 16,0 8-1,0 0-15,-8 0 16,-18 25 0,-25 35-16,-26 25 15,-17 17 1,9-17-16,34-34 16,16-17-1,27-9-15,16-16 16,103-9-1,145-51-15,86-9 16,33 18 0</inkml:trace>
  <inkml:trace contextRef="#ctx0" brushRef="#br0" timeOffset="93107.37">12043 9976 0,'0'0'0,"0"0"16,0 0-16,0 0 15,0 0 1,0 0-1,0 0-15,0 0 32,0 0-32,0 0 0,0 0 15,0 0 1,0 0-16,25 0 16,18 8-1,42 1-15,26-1 16,-17-8-1,17 0-15,26-8 16,-1-1 0,-16 1-16,-43 8 15,8 0 1,-8 0-16,-26 0 16,-25 0-1,-1 0-15,-16 0 16,-1 0-1,-16-9-15,-9-8 16,8 9 0</inkml:trace>
  <inkml:trace contextRef="#ctx0" brushRef="#br0" timeOffset="93428.82">13118 9738 0,'0'0'0,"0"0"15,0 0-15,0 0 16,0 0 0,0 0-16,9 0 15,25 0 1,26 0-16,16 8 16,18 1-1,-17 8-15,-26-9 16,-25 9-1,0 0-15,-9 0 16,-9 17 0,-33 34-16,-52 26 15,-34-9 1,25-26-16,44-25 16,25-25-1,8-1-15</inkml:trace>
  <inkml:trace contextRef="#ctx0" brushRef="#br0" timeOffset="96811.89">13690 10894 0,'0'0'0,"0"0"15,0 0-15,-8 0 16,-18 0-16,0 0 15,-25 17 1,-26 17 0,-42 51-16,8 26 15,17 8 1,26 0-16,16 0 16,35-17-1,26-25-15,17-18 16,50-16-1,52-18-15,17-42 16,-8-42 0,0-26-16,-18-26 15,-34 0 1,-25 1-16,-26-9 16,-34 0-1,-8 59-15</inkml:trace>
  <inkml:trace contextRef="#ctx0" brushRef="#br0" timeOffset="100671.43">13605 10341 0,'0'0'0,"0"0"16,0 0-1,0 0-15,0 0 16,0 0-1,0 0-15,0 0 16,0 0 0,0 0-1,0 0-15,0 0 16,0-8-16,17-1 16,17-16-1,26-1-15,42-8 16,18-8-1,-9-1-15,8 9 16,35-8 0,-18 8-16,-33 8 15,-52 9 1,-26 9-16,-7-1 16,-10 9-1</inkml:trace>
  <inkml:trace contextRef="#ctx0" brushRef="#br0" timeOffset="101018.92">14347 9508 0,'0'0'16,"0"0"-16,0 0 15,26 0-15,25 8 16,34 1 0,1 8-16,8 0 15,17 9 1,-26-9-16,-8 0 16,-17 8-1,-9 1-15,-17 8 16,-9 0-1,-25 17 1,-25 25-16,-60 26 16,-35 0-1,-17-8-15,-119 59 16</inkml:trace>
  <inkml:trace contextRef="#ctx0" brushRef="#br0" timeOffset="106438.48">14561 14577 0,'0'0'0,"0"0"15,0 0-15,0 0 16,0 0-1,0 0-15,0 0 16,0 0 0,0 0-16,0 0 15,0 0 1,0 8-16,0 9 16,8 9-1,1-1-15,-1 9 16,1-8-1,-1-1-15,-8 1 16,0-1 0,0-8-16,9 0 15,-1-8 1,1 8-16,-1-9 16,1 1-1,8-1-15,-8 1 16,8-1-1,0 1-15,0-1 16,8 1 0,10-9-16,16 0 15,0-9 1,9 1-16,-1-1 16,1-8-1,-17 9-15,-9-1 16,-8 1-1,-1 8-15,-8-9 16,0 9 0,0 0-16,-8 0 15,8-8 1,-8 8-16,-1 0 16,1 0-1,-9-9-15,0 9 16</inkml:trace>
  <inkml:trace contextRef="#ctx0" brushRef="#br0" timeOffset="119171.77">25588 14075 0,'0'0'0,"0"0"0,-9-9 16,1 1-1,-1-1-15,1 1 16,-1-1 0,1 1-16,-1-1 15,0 1 1,-16-1-16,-1-8 15,-8 0 1,0 9 0,-9 8-16,9 0 15,-8 8 1,-27 18-16,-8 33 16,1 18-1,7 16-15,18 10 16,8-18-1,26 0-15,9 0 16,16 0-16,18-9 16,17-8-1,16-8 1,18-26-16,34-17 16,9-34-1,-18-26-15,9-25 16,-17 0-1,-26 0-15,-17-17 16,-16-25 0,-35-1-16,-43 0 15,-42-8 1,-52 17-16,-128-42 16</inkml:trace>
  <inkml:trace contextRef="#ctx0" brushRef="#br0" timeOffset="124246.05">15022 14611 0,'0'0'0,"0"0"0,0 0 16,0 0 0,0 0-16,0 0 15,0 0 1,0 0-16,0 0 16,0 8-1,-9 9-15,9 0 16,0 0-1,0 9-15,0 8 16,9 0 0,8 8-16,0 1 15,0 8 1,0 0 0,17 0-16,9 0 15,16-9-15,1 9 16,8-8-1,1-1-15,-1 1 16,0-9 0,26 0-16,9 9 15,-10-9 1,1 0-16,17 0 16,26 0-1,8-9-15,-17-16 16,8 8-1,18 0-15,8-9 16,-17 1 0,26-1-16,17-8 15,-35 0 1,35-8-16,17-1 16,8-16-1,1-1 1,-18 9-16,9 0 15,8 9-15,-33-1 16,24 1 0,1-1-16,0-16 15,17-1 1,-9-8-16,9 9 16,0-9-1,-43 8 1,26 1-16,-8-1 15,-35 18-15,17-10 16,9 1 0,-35 9-16,35-18 15,0 1 1,-34 8 0,33-9-16,-7 1 15,-35 8-15,25 0 16,1 0-1,-34 8-15,-9-8 16,17-8 0,8 8-16,-42-9 15,-8 1 1,8-1-16,8 9 16,-16 0-1,-27 0-15,-16 17 16,-17 0-1,-18 0 1,1 0-16,0 0 16,-18 0-1,1 0-15,-1 0 16,-8 0 0,0 0-16,0 0 15,-8-8 1,-26-1-16,-26 9 15,0 0 1,9 0-16,17 0 16,0 0-1,16 0-15,1 0 16,9 0 0,8 0-16,0 0 15,0 0 1,8-8-16,27-18 15,24 1 1,10 8-16,7 0 16,-7 0-1,-1 0-15,0 8 16,1 9 0,-27 0-16,-16 0 15,-1 0 1,1 26-16,-26 25 15,-17 34 1,-17 17-16,8-26 16,18-42-1</inkml:trace>
  <inkml:trace contextRef="#ctx0" brushRef="#br0" timeOffset="130299.3">25221 13071 0,'0'0'0,"0"0"16,8 9-1,1-1-15,-9 1 16,0-9 0,0 0-1,0 0-15,0 0 16,0 0-1,0 0-15,0 0 16,0 0 0,0 0-1,0 0-15,0 0 16,0 0-16,0 0 16,-9 0-1,-8 0-15,-8 0 16,-18 0-1,-8-9-15,-9 9 16,-25 0 0,-26 0-1,-17 0-15,8 9 16,18-1-16,8-8 16,26 0-1,25 0-15,9 0 16,17 0-1,0 0-15,8 0 16,9 0 0,0 0-1,0 0-15,9-8 16,8-1-16,25 1 16,-16-1-1</inkml:trace>
  <inkml:trace contextRef="#ctx0" brushRef="#br0" timeOffset="130598.59">24282 13037 0,'0'0'0,"0"0"0,0 0 16,-9 0-16,1 0 16,-1 0-1,-8 0 1,0 0-16,9 0 15,-1 0-15,1 0 16,-1 0 0,1 0-1,8 9-15,0-1 16,8 9 0,18 0-16,16 17 15,18 0 1,0 0-16,-26 17 15,-26-17 1</inkml:trace>
  <inkml:trace contextRef="#ctx0" brushRef="#br0" timeOffset="149891.82">15124 17349 0,'0'0'0,"0"0"16,0 0-16,0-8 16,17-1-1,-8 9-15</inkml:trace>
  <inkml:trace contextRef="#ctx0" brushRef="#br0" timeOffset="150408.6">15457 17281 0,'0'0'0,"0"0"16,0 0-16,0-8 16,-9-1-1,-8-8 1,0 0-16,-8 0 15,-1 0 1,-17 0-16,-17 0 16,-16 9-1,-18 16-15,-26 18 16,-8 16 0,9 18-16,8 25 15,17 17 1,26 17-16,34-9 15,8 35 1,34 25-16,27-42 16,16-60-1,43-17-15,42-17 16,69-68-16,8-77 16,-33-34-1,-18 9 1,-17-34-16,-43 9 15,-50 16 1,-35-8-16,-17 25 16,-26 35-1,-17 16-15,-42 9 16,34 43 0</inkml:trace>
  <inkml:trace contextRef="#ctx0" brushRef="#br0" timeOffset="152547.25">14945 17409 0,'0'0'0,"-9"0"0,1-9 32,-9 1-32,-9-1 15,-17 1 1,-8-9-16,-9 0 16,-8 0-1,8 0-15,-8-17 16,-17-17-1,-9-26-15,17-25 16,-25-26 0,-9 9-16,-26-17 15,-17-8 1,1 16-16,-1 18 16,-8 16-1,-9 0-15,-25-16 16,17 16-1,0 1-15,-26-1 16,0 9 0,-9 9-16,1 8 15,0 17 1,-1 17 0,18 8-16,8 18 15,9-1-15,0 9 16,-9 17-1,0 17-15,0 0 16,1 17 0,25 17-16,-9 17 15,9-8 1,34 8 0,17 0-16,17 0 0,-9 8 15,10 1 1,24 0-1,10-18-15,16-16 16,9-18 0,8 1-16,9-9 15,8-9 1,1-16-16,8-1 16,0-8-1</inkml:trace>
  <inkml:trace contextRef="#ctx0" brushRef="#br0" timeOffset="152807.53">8672 15810 0,'0'0'0,"0"0"0,0 0 15,-9 17-15,0 8 16,-8 18-1,0 8-15,17 25 16,0 1 0,17-18-16,18 1 15,41 0 1,44-18-16,51-16 16,59-52-16,111-25 15</inkml:trace>
  <inkml:trace contextRef="#ctx0" brushRef="#br0" timeOffset="154326.31">15098 17324 0,'0'0'0,"0"0"16,0 0-1,0 0 1,-8 0-16,-1 8 16,1 1-1,8-1-15,0-8 16,0 0-16,0 0 16,8-8-1,9-1 1,26-25-16,0-17 15,8 0 1,17-9-16,18 1 16,16-9-1,17 0-15,27 8 16,16 1 0,17 8-16,17 0 15,1 8 1,-18 9-16,0 0 15,26 0 1,0 0-16,-1 9 16,10-9-1,42-9-15,26 1 16,-1 8 0,-8 17-16,0 8 15,1 9 1,7 9-16,1-1 15,-9 1 1,9 8-16,-1 0 16,1 17-1,-17 0-15,-9 0 16,0 8 0,-26 1-16,1 25 15,-35 0 1,-8 0-16,-9-9 15,-34 1 1,-34-9-16,0 0 16,8-9-1,-25 1-15,-43-18 16,-16-8 0,-10-8-16,-16 0 15,-1-1 1,-8-8-16</inkml:trace>
  <inkml:trace contextRef="#ctx0" brushRef="#br0" timeOffset="154623.76">23044 16822 0,'0'0'0,"0"0"15,0 0-15,26 17 16,17 0-16,8 17 16,26 0-1,8 8 1,-25 1-16,-9-1 16,-25 1-16,-26 17 15,-26 8 1,-25 8-16,-18 1 15,1-9 1,0-9-16,8 1 16,35-35-1</inkml:trace>
  <inkml:trace contextRef="#ctx0" brushRef="#br0" timeOffset="155589.99">23625 18327 0,'0'0'0,"0"0"0,-17 9 31,-17 8-16,-18 8-15,-7 1 16,-18 8-16,-9-9 16,-16 9-1,-35 9 1,-16-1-16,-1 1 16,1-1-1,-18-16-15,-17 8 16,-17-9-1,-25 1-15,-9-1 16,-9-16 0,1-18-16,-9-8 15,8-8 1,-16-1-16,-9 1 16,-9-9-1,0-9-15,1 1 16,7-1-1,-7 1-15,-52-1 16,34 1 0,43 25-16,-8-9 15,42-8 1,0 0-16,17 17 16,-8 9-1,25-9-15,34 17 16,9-9-1,0 9-15,0 0 16,25 0 0,26 9-16,18-1 15,16-8 1,17 0-16,9 0 16,17 0-16,17 0 15,0 0 1,0 0-1,0 0-15</inkml:trace>
  <inkml:trace contextRef="#ctx0" brushRef="#br0" timeOffset="158174.79">23249 16354 0,'0'0'0,"0"0"0,0 0 16,-8-8-16,-18-18 16,-17 1-1,1-18-15,-27 9 16,-24 0 0,-10 17-1,-8 17-15,-17 17 16,-17 9-1,34-1-15,26 1 16,-1-18 0,10 1-16,7-1 15,10 1 1,24-9-16,1-9 16,26 9-16</inkml:trace>
  <inkml:trace contextRef="#ctx0" brushRef="#br0" timeOffset="158472.22">21815 16056 0,'0'0'0,"0"0"0,0 0 16,0 0-1,0 0-15,0 0 16,-8 0-1,-18 17-15,1 0 16,-27 26 0,1-1-16,8 1 15,9-9 1,9 0-16,8 0 16,17 0-1,17 0-15,25 0 16,18 0-1,8 9-15,-42-26 16</inkml:trace>
</inkml:ink>
</file>

<file path=ppt/ink/ink1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3:00:45.424"/>
    </inkml:context>
    <inkml:brush xml:id="br0">
      <inkml:brushProperty name="width" value="0.05292" units="cm"/>
      <inkml:brushProperty name="height" value="0.05292" units="cm"/>
      <inkml:brushProperty name="color" value="#FF0000"/>
    </inkml:brush>
  </inkml:definitions>
  <inkml:trace contextRef="#ctx0" brushRef="#br0">14066 7790 0,'0'0'0,"0"0"16,0 0-16,0 0 16,0 0-1,0 0-15,0-8 16,25-35-1,35-25-15,59-26 32,44-25-17,24 17-15,10 26 16,16 8 0,43-17-16,43 8 15,8 26 1,34-8-16,44 16 15,-10 1 1,52 16-16,25 9 16,-17 17-1,-16 9-15,-35 8 16,17 17 0,-17 0-16,-51 0 15,0 8 1,-26 26-16,-25 17 15,-35-17 1,-42-8-16,-26-1 16,-42-8-1,-35-8 1,1 8-16,-18-17 16,-34-9-16,-25-16 15,-1-1 1,-16 1-16,-1-9 15,1 0 1,-9 0-16,0 0 16,0-9-1,0 1-15,0-9 16,8 0 0,10-9-16,16 1 15,0 8 1,-9 0-16,1 0 15,-9 17 1,0 0-16,9 0 16,-1 8-1,-8 1-15,-8-1 16,0 1 0,-1 8-16,-16 25 15,-27 18 1,-41 17-16,-35-1 15,8 1 1,1-18-16,16-16 16,10-18-1,24-16-15,10-1 16,8-16 0,25-1-16</inkml:trace>
  <inkml:trace contextRef="#ctx0" brushRef="#br0" timeOffset="1157.55">14262 8283 0,'0'0'0,"0"0"0,0 9 16,17 25 0,0 17-1,9 0-15,16 0 16,27 8 0,42 18-16,25 0 15,52-1 1,25-8-16,35-8 15,16-1 1,44-8-16,16-17 16,17-17-1,26 0 1,17 0-16,9 0 16,25 0-1,18 0-15,-18 0 16,8-17-1,-16-8-15,-9-9 16,0-9-16,-42-8 16,-26-8-1,17-9-15,-60 8 16,-26 1 0,-50 8-1,-61 8-15,-25-8 16,-25 0-1,-43 0-15,-9 9 16,-8-1 0,-18 9-16,1 0 15,-18 9 1,-8-1-16,-17 1 16,-34-1-1,-43 1-15,9 8 16,8 0-1,34 0-15,9 0 16,17 0 0,9 0-16,8 0 15,8-9 1,18 1-16,42-1 16,26-8-1,-9 8-15,-8 9 16,-9 0-1,-17 9-15,-8-1 16,-17 1 0,-9 0-16,-9-1 15,1 9 1,-9 0-16,-9 9 16,-8-18-1,0 1-15,9-9 16,-1 0-1</inkml:trace>
  <inkml:trace contextRef="#ctx0" brushRef="#br0" timeOffset="1627.27">22447 6557 0,'0'0'0,"0"0"0,-9 0 15,-16 17 1,-18 8-16,0 1 16,-33-1-1,-27-7-15,-42-10 16,0 1-1,34-1-15,26-16 16,42-1 0,9 1-16,17-1 15,17-8 1,17-17-16,26-17 16,-9 25-1</inkml:trace>
  <inkml:trace contextRef="#ctx0" brushRef="#br0" timeOffset="2012.74">21747 6225 0,'0'0'0,"-8"0"0,-1 0 16,0 0-1,1 0-15,-1 0 16,1 9-1,-1-9-15,1 8 16,-1 1 0,1 8-16,-9 0 15,0 8 1,-9 9-16,0 17 16,9 0-1,0 0 1,17 0-16,0-8 15,17-1-15,0-7 16,9-1 0,8 0-1,17 0-15,1 0 16,-1 17-16,-26-26 16</inkml:trace>
  <inkml:trace contextRef="#ctx0" brushRef="#br0" timeOffset="3548.89">14159 10928 0,'0'0'0,"0"0"16,0 0-16,0 0 16,0 0-1,-8-8-15,-1-1 16,-8 1 0,-34 8-16,-26 17 15,-34 25 1,-17 35-1,34 16-15,18 35 16,33 8-16,34-25 16,26-18-1,18-16-15,16-26 16,9-17 0,16-34-16,10-17 15,-1-34 1,0-17-16,-8-34 15,-43 51 1</inkml:trace>
  <inkml:trace contextRef="#ctx0" brushRef="#br0" timeOffset="6578.51">21670 9244 0,'-8'0'0,"-1"0"0,-16 17 16,-18 0-1,-8 9 1,-18 8-16,1 8 15,0 18 1,-18 25-16,-16 17 16,0 26-1,-1-1-15,18 1 16,34-18 0,17 1-16,25-1 15,43 9 1,60 1-16,26-44 15,-1-42 1,35-25-16,42-43 16,-17-43-1,-8-33-15,8-27 16,-34 1 0,-68 17-16,-26-34 15,-51-8 1,-77 16-16,-119-34 15,-137 18 1,-145 110-16,-128 93 16,188 1-1</inkml:trace>
  <inkml:trace contextRef="#ctx0" brushRef="#br0" timeOffset="7334.59">22891 11779 0,'0'0'0,"0"0"16,0 0-16,25 0 15,95-9 1,119-33 0,111-69-16,17-16 15</inkml:trace>
  <inkml:trace contextRef="#ctx0" brushRef="#br0" timeOffset="16408.77">13980 10001 0,'0'0'0,"0"0"15,0 0-15,0 0 16,0 0 0,0 0-16,17-8 15,17-1 1,1 1-16,7-1 15,27 1 1,-1-1-16,-8 1 16,8-9-1,9 0-15,-1 0 16,-7 8 0,-1-16-16,17-1 15,1 9 1,-27 0-16,-33 17 15</inkml:trace>
  <inkml:trace contextRef="#ctx0" brushRef="#br0" timeOffset="16737.27">14689 9534 0,'0'0'0,"0"0"15,0 0 1,0 0-16,17 8 16,42 9-16,44 9 15,42-18 17,-8 9-32,-9 0 0,-26-8 15,-34-1 1,-17 1-16,-25-1 15,-9 18 1,-42 33-16,-95 60 16,-85 43-1,26-35 1,85-50-16,68-52 16</inkml:trace>
  <inkml:trace contextRef="#ctx0" brushRef="#br0" timeOffset="18483.15">15696 13582 0,'0'0'15,"0"0"-15,-9 0 0,1 8 16,-18 1-16,-8 8 31,-34 8-31,-35 9 16,-8 17-1,17 0-15,9 26 16,25 8 0,18 8-16,25 9 15,34 17 1,34-8-16,60-26 16,34-17-16,17-34 31,-17-42-31,0-43 15,9-51-15,-26-26 16,-51-8 0,-52-9-1,-76-33-15,-103-1 16,-127-16 0</inkml:trace>
  <inkml:trace contextRef="#ctx0" brushRef="#br0" timeOffset="19965.99">15807 14330 0,'0'0'0,"0"0"0,0 0 16,0 17 0,17 9-16,8 8 15,18 17 1,34 0-16,42 17 15,44-9 1,50 9-16,9-17 16,25 0-1,44 9-15,24-1 16,1-8 0,8-17-16,26-25 15,-8-18 1,59-8-16,-17-17 15,-26-8 1,-25-1-16,0-8 16,-34 0-1,-35 0-15,-16-8 16,-43 8 0,-52 8-16,-33-8 15,-35 9 1,-25 8-16,-26 8 15,-17 9 1,-34-8-16,-68-9 16,-9 8-1,68 26-15</inkml:trace>
  <inkml:trace contextRef="#ctx0" brushRef="#br0" timeOffset="20283.77">21269 14415 0,'0'0'0,"0"0"16,0 0-16,0 0 15,0 0 1,0 0-16,0-8 16,26-1-1,33-8-15,27-8 16,16 8 0,1 0-1,-1 17-15,-8 8 16,-26 1-16,-17-1 15,-16 1 1,-10-1 0,-16 9-16,-9 9 15,-26 16 1,-34 35-16,-25 8 16,-9 0-1,0 8-15,17 1 16,43-52-16</inkml:trace>
  <inkml:trace contextRef="#ctx0" brushRef="#br0" timeOffset="20986.79">16131 13913 0,'0'0'0,"17"-8"0,26-9 16,-9 0-1,-8 8-15,-9 9 16,-9 0-1,1 0-15,-1 0 16,9 0 0,0 0-16,17-8 15,1-1 1,-1 1-16,8-1 16,-7 1-1,-10-1-15,1 9 16,-18 0-1,1 0-15,-1 0 16,1 0 0,-1 0-16,-8 0 15,0 0 1,0 0-16,0 0 16</inkml:trace>
  <inkml:trace contextRef="#ctx0" brushRef="#br0" timeOffset="22171.23">21943 13837 0,'0'0'0,"0"0"0,0-9 0,0 1 16,-8-18-1,-1 1 1,-16-1 0,8 9-16,0 0 15,-1 0-15,1 9 16,9-1-1,-9 1-15,8-1 16,1 1 0,-1-1-16,-16-8 15,-18-8 1,0-1-16,1 1 16,-18-1-1,-17-16-15,-8 8 16,-9 0-1,-43 0-15,-51-9 16,-25 0 0,-43 1-16,0 8 15,-9 8 1,-25 1-16,-17 25 16,17-9-1,8 9 1,-17 0-16,-8 0 15,-17 0-15,25 9 16,17 8 0,9 17-1,34 8-15,17 1 16,35 8-16,42 0 16,34-17-1,25-8-15,35-1 16,25-16-1,18-1-15,8-8 16,34-17 0,60-25-16,0-9 15,-43 8 1,-8 9-16,-18 17 16,1 0-1,-9 8 1,-9 1-16,1 8 15,-9 0-15,-17 34 16,-26 43 0,-25 25-1,-9 8-15,17 1 16,18-26 0,33-26-16,18-8 15,42 0 1,60 0-16,145 9 15,120-1 1</inkml:trace>
  <inkml:trace contextRef="#ctx0" brushRef="#br0" timeOffset="24853.06">21491 12978 0,'-9'-9'0,"-8"1"0,-17-18 16,-8-8-16,7 0 16,10 17-1,-26-8-15,-52 8 16,-33 0-1,25 17 1,59 0-16,18 8 16,0 1-16,0-9 15,0-9 1,25 9-16</inkml:trace>
  <inkml:trace contextRef="#ctx0" brushRef="#br0" timeOffset="25169.4">20706 12519 0,'0'0'0,"0"0"16,0 0-16,-9 8 16,1 9-1,-18 26-15,-17 8 16,1-9-1,-1 1 1,9-1-16,8-8 16,9-8-1,0-9-15,17-9 16,17 1-16,34-1 16,26 1-1,51-9-15,52 17 16,-44 8-1,-93-8 1</inkml:trace>
  <inkml:trace contextRef="#ctx0" brushRef="#br0" timeOffset="26063.08">15841 16754 0,'0'0'0,"0"0"16,0 0-16,0-9 16,0 1-1,-9-1 1,1-8-16,-18 0 15,-16 0 1,-10 0-16,10 17 16,-18 0-1,-8 17-15,-9 17 16,26 9 0,-9 50-16,0 35 15,26-26-15,8 17 16,26 43-1,17-1 1,-8-59-16,8-51 16,9-17-1,42 0-15,43-25 16,17-77 0,-26-51-16,-25-9 15,0-8 1,-17-26-16,-18 9 15,-50 43 1,-1 67-16</inkml:trace>
</inkml:ink>
</file>

<file path=ppt/ink/ink1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3:02:53.208"/>
    </inkml:context>
    <inkml:brush xml:id="br0">
      <inkml:brushProperty name="width" value="0.05292" units="cm"/>
      <inkml:brushProperty name="height" value="0.05292" units="cm"/>
      <inkml:brushProperty name="color" value="#FF0000"/>
    </inkml:brush>
  </inkml:definitions>
  <inkml:trace contextRef="#ctx0" brushRef="#br0">18000 8266 0,'0'0'0,"0"0"16,0 0-16,0 0 31,0 0-31,0 0 16,0 0-1,0 0-15,0 17 16,0 9 0,0 16-16,-8 18 15,-1 33 1,9 10 0,17-10-16,0 1 15,0-9 1,17 0-16,-16-43 0</inkml:trace>
  <inkml:trace contextRef="#ctx0" brushRef="#br0" timeOffset="29113.3">21124 9168 0,'0'0'0,"0"0"0,0 0 15,0-9 1,34 1-16,60-9 16,119 25-1,146 35-15,33 16 16</inkml:trace>
  <inkml:trace contextRef="#ctx0" brushRef="#br0" timeOffset="42444.63">18546 6693 0,'0'0'0,"0"0"15,0 0 1,0 0 0,0 0-16,0 0 15,0 0 1,0 0-16,0 0 16,0 0-1,0 0-15,0 0 16,0 0-1,0 0-15,0 0 16,-8-8 0,-9-9-16,-17-9 15,-18 0 1,1-8-16,0 0 16,0 9-1,0-1-15,-1 1 16,10 8-16,-1 0 15,-17 0 1,-34 0 0,1 17-16,-1 0 15,0 8 1,8 35-16,-7 16 16,7 9-1,1 18-15,17-10 16,25-8-1,9-25-15,17-18 16,0 1 0,8-18-16,1 1 15,8-1 1,-9-16-16,0-9 16,-16-26-1,8-25-15,0 9 16,0 25-1,8 17-15,1 0 16,-1 17 0,1 0-16,-10 25 15,-7 26 1,8 26-16,0 8 16,17-17-1,0-9-15,17 1 16,17-1-1,17 1-15,-8-18 16,8-16 0,0-1-16,26-25 15,-34-8 1</inkml:trace>
  <inkml:trace contextRef="#ctx0" brushRef="#br0" timeOffset="50657.41">7835 8641 0,'0'0'0,"-8"8"0,-1 9 31,0 17-31,9 9 16,9-1-16,8 9 15,26 0 1,8 9-1,26-18-15,17-8 16,-18-34-16,1-17 16,-8-17-1,-10-17-15,-7-17 16,-18 0 0,-9-17-16,-16-17 15,-9 17 1,-9 17-16,-25 17 15,-51-9 1,-129-8-16,-136-25 16</inkml:trace>
  <inkml:trace contextRef="#ctx0" brushRef="#br0" timeOffset="51556.43">17599 8241 0,'0'0'0,"0"0"15,0 0-15,0 0 16,0 0-1,-8 0-15,-10 0 16,-33 0 0,-9 0-16,-8 17 15,-26 0 1,0 17-16,-34 17 16,0 8-1,26 1-15,17 8 16,8 9-16,26-18 15,16-8 1,18 0 0,26 0-16,51 17 15,51 0 1,25-34-16,18-17 16,-9-25-1,-43-18-15,-8-25 16,-17-8-1,-26-18-15,-42-16 16,-78-35 0,-110-25-16,-273-9 15,42 69-15</inkml:trace>
</inkml:ink>
</file>

<file path=ppt/ink/ink1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3:03:59.628"/>
    </inkml:context>
    <inkml:brush xml:id="br0">
      <inkml:brushProperty name="width" value="0.05292" units="cm"/>
      <inkml:brushProperty name="height" value="0.05292" units="cm"/>
      <inkml:brushProperty name="color" value="#FF0000"/>
    </inkml:brush>
  </inkml:definitions>
  <inkml:trace contextRef="#ctx0" brushRef="#br0">19349 9134 0,'0'0'0,"0"0"16,51 8-1,103 9-15,136-8 16,171-43 0,-52 8-1</inkml:trace>
  <inkml:trace contextRef="#ctx0" brushRef="#br0" timeOffset="8904.68">4711 15087 0,'0'0'0,"0"0"0,17 0 15,35-9 1,41 1-16,44-18 16,42 1-1,26-1-15,26 1 16,-10 8-1,-16 8-15,-8 26 16,-61 0 0,-51 0-16,-33 0 15,-18-8 1,-26-1-16</inkml:trace>
  <inkml:trace contextRef="#ctx0" brushRef="#br0" timeOffset="9216.48">6265 14636 0,'0'0'0,"0"0"16,0 0-1,8 0 1,26 0-16,18 9 15,16-1 1,9 9-16,8 0 16,-8 0-1,-26 9-15,-17-9 16,-8-9 0,-18 1-16,-8 16 15,-94 52 1,-102 50-16,8-8 15,-76 43 1</inkml:trace>
</inkml:ink>
</file>

<file path=ppt/ink/ink1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3:04:44.118"/>
    </inkml:context>
    <inkml:brush xml:id="br0">
      <inkml:brushProperty name="width" value="0.05292" units="cm"/>
      <inkml:brushProperty name="height" value="0.05292" units="cm"/>
      <inkml:brushProperty name="color" value="#FF0000"/>
    </inkml:brush>
  </inkml:definitions>
  <inkml:trace contextRef="#ctx0" brushRef="#br0">3593 4805 0,'0'0'0,"-8"-8"0,-9-9 0,-137-103 0,34 86 0,-59 26 15,-17 25 1,17 25-16,34 1 16,-9 42-16,-17 43 15,1 42 1,-1 34-1,17 25 1,26 10-16,9 7 16,50-16-1,27-9-15,33 9 16,9-35 0,17-8-16,17 9 15,35-9-15,16-25 16,26 8-1,26 8-15,-1-16 16,-8-1 0,-51 1-1,-34-9-15,-18 0 16,-8 17 0,-51 0-16,-34-8 15,-43-9-15,-26 9 16,9-26-1,26-34 1,42-43-16,18-25 16,25-8-1,-1-9-15,18 0 16,9 0 0,25 17-16,9 8 15,51 18 1,42 16-16,-16 9 15,-18 0 1,-34 35-16,-25 58 16,-60 77-16,-111 102 15,-60 43 1,-102 76 0,-9 18-16,94-10 15,120-84 1,145-136-16,264 42 15,188-42 1,111-103-16,-196-84 16</inkml:trace>
</inkml:ink>
</file>

<file path=ppt/ink/ink1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3:05:22.601"/>
    </inkml:context>
    <inkml:brush xml:id="br0">
      <inkml:brushProperty name="width" value="0.05292" units="cm"/>
      <inkml:brushProperty name="height" value="0.05292" units="cm"/>
      <inkml:brushProperty name="color" value="#FF0000"/>
    </inkml:brush>
  </inkml:definitions>
  <inkml:trace contextRef="#ctx0" brushRef="#br0">9098 8496 0,'0'0'0,"17"-9"0,35 1 0,485-77 15,-230 68-15,95 17 0,76 25 16,42 26-16,26 0 16,60 9-1,52-34-15,-10-26 16,35 0-1,-256 8 1</inkml:trace>
  <inkml:trace contextRef="#ctx0" brushRef="#br0" timeOffset="2875.31">18444 2305 0,'0'0'0,"0"0"0,0 17 16,0 17 0,9 0-1,-1 17-15,-16 25 16,-1 43-1,-17 34-15,-8 1 16,0-1 0,0-26-16,0-25 15,17-42 1,0-26-16,8-9 16,9-16-1,0-9-15,-8-9 16,-9-16-1,-18 8-15,10 8 16</inkml:trace>
  <inkml:trace contextRef="#ctx0" brushRef="#br0" timeOffset="3090.72">17872 3436 0,'0'0'0,"0"0"16,0 17-1,0 8-15,9 9 16,16 9-1,27-1-15,7-16 16,27-9 0,42-17-16,25-34 15,9-17 1,1-17-16,-1-17 16,-26 8-1,-42 18-15,-51 25 16</inkml:trace>
  <inkml:trace contextRef="#ctx0" brushRef="#br0" timeOffset="4826.37">19793 7339 0,'0'0'0,"0"0"16,0 0-16,0 0 31,0 0-31,-9 26 15,-8 16 1,-34 26-16,-9 17 16,9-16-1,17-10-15,17-8 16,8 0 0,26 26-16,43 16 15,17 1-15,17-18 16,85-8-1,51-17 1,35-25-16,8-9 16,26 8-1,25-16-15,52 8 16,16 0 0,-25 0-16,26-9 15,59 9 1,26-8-16,-34-1 15,0 1 1,-60-9-16,34 8 16,-8-8-1,-86-8-15,-8 8 16,-43 0 0,-43 0-16,-33 0 15,-78-9 1,-42-8-16,-26 9 15,-17-1 1,-17 1-16,-8-26 16,-9-34-1,-34-34-15,-17 8 16,8 26 0,-8-17-16,25 34 15</inkml:trace>
  <inkml:trace contextRef="#ctx0" brushRef="#br0" timeOffset="21660.25">7989 3393 0,'0'0'0,"-9"0"0,1 0 16,-18 9-16,-8-1 15,-17 9 1,-26 0-16,-8 26 16,-26 8-1,0 8 1,-9 1-16,-8 25 15,26 0 1,16-8-16,18-1 16,17 1-1,0-9-15,16 17 16,1 17 0,9 0-16,-1 17 15,9-17 1,0 8-16,0 1 15,17-17 1,17-1-16,0 1 16,17-18-1,17 18-15,18-1 16,25-16 0,17-1-16,17-8 15,8-8 1,52-9-16,34 0 15,34-8-15,0-18 16,26-8 0,-1 0-1,9-8-15,-8-1 16,-9-8 0,0 9-16,0-1 15,-17 1 1,18 8-16,-1 0 15,17 8 1,0-8-16,26 9 16,8-1-1,-17 1-15,1-1 16,-27 1 0,-8-1-16,-8-8 15,17 0 1,-1-8-16,1-1 15,-9 1 1,9-1-16,-1 1 16,-7-9-1,-18-9-15,-17 1 16,0-1 0,-43 1-16,9-18 15,-9-8 1,-8-8-16,-18-9 15,-16 0 1,-17 8-16,-26 9 16,-26 0-1,-17 17-15,-34 0 16,1 0 0,-10-8-16,1-1 15,-1-25 1,1-17-16,0 0 15,-18 0 1,1 0-16,-18-9 16,-17-8-1,-16-8-15,-18-18 16,9 9 0,8 17-16,1 9 15,-18-18 1,0-8-16,-8 0 15,-26-9 1,-17 18-16,8 16 16,-25 1-1,-17-9-15,-8 0 16,16 8 0,-25-8-16,-9 8 15,9 26 1,-51-8-16,-1 16 15,10 9 1,-35 0-16,0-8 16,-26-1-1,-25 1-15,-9-9 16,-25 8 0,-1-8-16,-7 9 15,16 16 1,-9 1-1,-76-1-15,94 18 16,-9-1-16,-93-8 16,59 0-1,-51 17-15,-52 9 16,-16 16 0,-18 35-16,26 42 15,9 17 1,-43 0-16,-9-9 15,9 43 1,9 9-16,102-51 16</inkml:trace>
  <inkml:trace contextRef="#ctx0" brushRef="#br0" timeOffset="31131.63">20168 3555 0,'0'0'0,"-17"25"16,-34 18-16,-60 33 15,-60 35 1,9-17-16,34-18 16,26 1-1,-1-1-15,-25 35 16,9 8 0,42-17-16,17-17 15,0 0 1,9 25-16,8 10 15,9 7 1,17-16-16,9 8 16,16 17-1,18-17-15,16-17 16,27 0 0,42 0-16,25 0 15,-8-8 1,77 8-16,26-26 15,-10-16 1,10-9-16,-1-17 16,44-9-1,16 1-15,0-18 16,34 1 0,-25-9-16,0-17 15,42 0 1,-8 0-16,17-9 15,-60 1 1,17-1-16,-17 1 16,1-18-1,7-16-15,-24-1 16,-1-16 0,-26-1-16,-25 18 15,-68-1 1,-1-8-16,-25-17 15,-34 0 1,-26-9-16,-8 18 16,0-26-1,-17-34-15,-26-9 16,-26 18 0,-25-1-16,-60-51 15,-51 9 1,-34 26-16,-69 16 15,-50 9 1,-18-8-16,-51 7 16,42 44-1,-33 25-15,-94 0 16,-35 17 0,-51 17-16,1 8 15,-9 26 1,-1 26-16,35 16 15,43 35 1,76-9-16</inkml:trace>
</inkml:ink>
</file>

<file path=ppt/ink/ink1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3:06:39.095"/>
    </inkml:context>
    <inkml:brush xml:id="br0">
      <inkml:brushProperty name="width" value="0.05292" units="cm"/>
      <inkml:brushProperty name="height" value="0.05292" units="cm"/>
      <inkml:brushProperty name="color" value="#FF0000"/>
    </inkml:brush>
  </inkml:definitions>
  <inkml:trace contextRef="#ctx0" brushRef="#br0">10105 13624 0,'26'-17'0,"145"-42"0,238-43 15,103 8 1,-68 34-16,-60 9 16</inkml:trace>
  <inkml:trace contextRef="#ctx0" brushRef="#br0" timeOffset="12637.76">16490 14007 0,'0'0'0,"0"0"0,0 0 16,0 0-16,-9 8 31,-17 18-31,1 42 16,-1 42-1,9 1-15,0-34 16,17-26 0,0-17-16,0 0 15,0-9 1,0-8-16,0-8 15,0-1 1,0-8-16</inkml:trace>
  <inkml:trace contextRef="#ctx0" brushRef="#br0" timeOffset="12884.07">16071 14628 0,'-8'0'0,"-9"25"16,-17 35-16,-9 25 16,9 8-1,17-16-15,8-35 16,9-16 0,9-1-16,25-8 15,68-8 1,26-43-16,34-68 15,43-34 1,77-34-16</inkml:trace>
  <inkml:trace contextRef="#ctx0" brushRef="#br0" timeOffset="13658.73">19306 13675 0,'0'0'0,"-8"0"0,-10 26 16,-16 8-1,-8 17-15,-18 25 16,-17 1 0,9-18-16,0 1 15,16-9 1,18-17-1,17-9-15,0-16 16,17-1-16,0-16 16,0 8-1</inkml:trace>
  <inkml:trace contextRef="#ctx0" brushRef="#br0" timeOffset="13854.44">18521 14143 0,'-9'0'0,"1"17"16,-1 17-16,1 8 15,8 10-15,17-10 16,17 9 0,34-8-16,69-26 15,-9-26 1,-86-8-1</inkml:trace>
</inkml:ink>
</file>

<file path=ppt/ink/ink2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3:07:30.333"/>
    </inkml:context>
    <inkml:brush xml:id="br0">
      <inkml:brushProperty name="width" value="0.05292" units="cm"/>
      <inkml:brushProperty name="height" value="0.05292" units="cm"/>
      <inkml:brushProperty name="color" value="#FF0000"/>
    </inkml:brush>
  </inkml:definitions>
  <inkml:trace contextRef="#ctx0" brushRef="#br0">6930 10146 0,'0'0'0,"-17"0"0,9-9 15,-1 9 1,1-8-16,-1 8 0,1-9 16,-1 9-1,1-8 1,-1-1-16,-8 1 15,-9-1 1,-8 1-16,0-9 16,0 8-16,-9 9 15,-8 0 17,-9 0-32,-17 0 15,-16 0 1,-27 17-16,-8 0 15,-8 0-15,8 9 16,8-9 0,1 0-1,8 8-15,0 9 16,8 0-16,-8 9 16,-17-1-1,0 1-15,9-9 16,8 0-1,8-8-15,27-1 0,7 1 32,9 8-17,-8 0-15,0 8 16,-26 35-16,9 8 16,16-9-1,35-16 1,9 8-16,8-9 15,0 1 1,8-1-16,9 1 16,0-1-1,9-8-15,42 9 16,26 0 0,25-9-16,0 0 15,26-9 1,60 1-16,-26-26 15,1 0 1,33-9-16,-8-16 16,8-18-1,51-16-15,-59-9 16,-17 0 0,34-17-16,-52-1 15,-16-7 1,-1-9-16,-8-9 15,-25-8 1,-18-25-16,-34 8 16,-8-9-1,-9-8-15,-17-9 16,-25 26 0,-26 26-16,-69-1 15,-136 18 1,-170 67-16,7 35 15</inkml:trace>
  <inkml:trace contextRef="#ctx0" brushRef="#br0" timeOffset="10877.17">20723 15648 0,'0'0'0,"0"0"15,0 0-15,0 0 16,8-8 0,61-18-16,76-16 15,102 8 1,35 17-16,59 25 15</inkml:trace>
  <inkml:trace contextRef="#ctx0" brushRef="#br0" timeOffset="18603.8">16857 15214 0,'0'0'0,"-9"0"15,0 9-15,1-1 16,-1 1 0,1 0-16,-1 8 15,1 8 1,-1 18-16,-8 16 16,-8 35-1,-10-1-15,10-16 16,8-26-1,0-9-15,17-16 16,0-1 0,0-8-16,17 0 15,60 9 1,59 8-16,18-26 16,68-8-1,25-8-15,9-1 16,0-8-1,-51 0-15,8 9 16,-25 8 0,9-9-16,-10 9 15,-67 9 1,-26 8-16,-26-9 16,-25 1-1,-1-1-15,-16 1 16,-9-9-1,-8 0-15,-1 0 16,1 0 0,-9-9-16,8-8 15,1-42 1,-18-43-16,1 17 16,8-26-1,0 43-15</inkml:trace>
</inkml:ink>
</file>

<file path=ppt/ink/ink2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6-04-27T17:24:00.296"/>
    </inkml:context>
    <inkml:brush xml:id="br0">
      <inkml:brushProperty name="width" value="0.05292" units="cm"/>
      <inkml:brushProperty name="height" value="0.05292" units="cm"/>
      <inkml:brushProperty name="color" value="#FF0000"/>
    </inkml:brush>
  </inkml:definitions>
  <inkml:trace contextRef="#ctx0" brushRef="#br0">26141 12453 0</inkml:trace>
</inkml:ink>
</file>

<file path=ppt/ink/ink2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3:07:59.695"/>
    </inkml:context>
    <inkml:brush xml:id="br0">
      <inkml:brushProperty name="width" value="0.05292" units="cm"/>
      <inkml:brushProperty name="height" value="0.05292" units="cm"/>
      <inkml:brushProperty name="color" value="#FF0000"/>
    </inkml:brush>
  </inkml:definitions>
  <inkml:trace contextRef="#ctx0" brushRef="#br0">3371 7271 0,'0'0'0,"0"0"0,0 0 16,0 0-1,0 0-15,0 0 16,0 0 0,0 0-16,0 0 15,0 0 1,17-8-16,35-1 16,41 1-16,27-9 15,-18 8 1,43-16-16,52-1 31,-61 1-31,-8-9 0,17 0 31,-8 8-31,-18 9 16,-59 9 0,-26 8-16,-8 0 0,-9 0 31,-8 8-31</inkml:trace>
  <inkml:trace contextRef="#ctx0" brushRef="#br0" timeOffset="347.19">4276 7059 0,'0'0'0,"17"0"16,51 0-16,77 8 15,43 1 1,-17-18 0,0-16-16,8-9 15,-51 0-15,-77 17 16,-25 8 0,-1 1-16,-16 8 15,-1 0 1,-42 8-16,-85 43 15,-26 26 1,-52 25-16,-42 17 16,60 8-1,-85 86-15</inkml:trace>
  <inkml:trace contextRef="#ctx0" brushRef="#br0" timeOffset="2571.42">9337 6948 0,'0'0'0,"0"0"0,0 0 15,0 0-15,34-8 32,35-1-32,59 9 15,179 9 1</inkml:trace>
  <inkml:trace contextRef="#ctx0" brushRef="#br0" timeOffset="7383.61">3892 9465 0,'0'0'0,"0"0"16,43-8-16,59-1 16,18-8-1,8 9 1,0-1-16,8 1 16,-16 8-1,-18 0-15,-34-9 16,-42 9-16</inkml:trace>
  <inkml:trace contextRef="#ctx0" brushRef="#br0" timeOffset="7728.97">4344 9210 0,'0'0'16,"0"0"-16,9 0 16,33 0-1,52 0 1,34 0-16,9 9 16,8-9-1,-17 17-15,-34 8 16,-34-8-16,-26-8 15,-9-1-15,-16 9 16,-43 17 0,-43 26-1,-8 8 1,-9 0-16,26 0 16,50-25-1</inkml:trace>
  <inkml:trace contextRef="#ctx0" brushRef="#br0" timeOffset="9963.04">9568 9687 0,'0'0'0,"0"0"15,0 0-15,0-9 16,17 1-1,8-18 1,69-16-16,51-1 16,52-8-1,118 8-15,104-16 16,-27-18 0</inkml:trace>
  <inkml:trace contextRef="#ctx0" brushRef="#br0" timeOffset="13263.12">3679 11923 0,'0'0'0,"0"0"0,0 0 15,0 0 1,0 0-16,0 0 15,0 0 1,17 9-16,25-1 16,69 1-1,60-18-15,25 1 16,1-18 0,-27 9-16,-42 0 15,-42 9 1,-35 8-16,-34 0 15</inkml:trace>
  <inkml:trace contextRef="#ctx0" brushRef="#br0" timeOffset="13573.27">4310 11702 0,'0'0'0,"0"0"0,9 0 15,16 0 1,61-8-16,33-1 16,26 1-1,-8-1-15,-1 9 16,1 0 0,-35 9-16,-25 8 15,-26 0 1,-34 0-16,-17 8 15,-51 52 1,-94 59-16,-34 17 16,0-9-1,-77 61-15</inkml:trace>
  <inkml:trace contextRef="#ctx0" brushRef="#br0" timeOffset="20286.49">10097 6531 0,'0'0'0,"-9"-8"0,1-1 16,-9-16-16,0-1 31,-9 1-31,9-9 15,0 17 1,8 0-16,26 0 16,43-9-1,68 9-15,26 26 16,17 16 0,16 26-16,10 9 15,-27 16 1,-25 1-16,-8 8 15,0 0 1,-9 0-16,0 17 16,-9 9-1,1-9-15,-18-9 16,-17 9 0,-8 17-16,-34 0 15,-35-8 1,-33 34-16,-44 33 15,-42 1 1,-8 8-16,0 9 16,16-9-1,35-17 1,25-9-16,26-16 16,26-18-16,33-16 15,27-9 1,42-8-16,42-18 15,1-16 1,-18-18-16,-33-16 16,-26-9-1,-18-9-15,-25 1 16,-16-1 0,-18 9-16,-43 26 15,-60 42 1,-33 25-16,-18 18 15,26-1 1,34 10-16,26-1 16,25 8-1,18 1 1,25 8-16,17 25 16,8 18-16,18 25 15,42 17 1,26 9-16,-8 25 15,16 26 1,9 33-16,-8 1 16,-43-51-1,-9 42-15,-34-8 16,-68-18 0,-51 35-16,-78-9 15,-84 0 1,-69-25-16,-59-51 15,-112 8 1,120-60 0</inkml:trace>
  <inkml:trace contextRef="#ctx0" brushRef="#br0" timeOffset="22588.15">25511 9295 0,'0'0'0,"26"-8"15,76 8-15,120 0 32,60 25-32,50 9 15,10-17-15,25-25 16,25-9 0</inkml:trace>
  <inkml:trace contextRef="#ctx0" brushRef="#br0" timeOffset="33679.53">28584 8845 0,'0'0'0,"0"0"0,8 8 16,60 9-16,95 0 31,101-8-31,43-1 16,60-25-1,60-8-15,-51 25 16,33 0 0,-8 0-16</inkml:trace>
  <inkml:trace contextRef="#ctx0" brushRef="#br0" timeOffset="37776.67">24589 9967 0,'0'0'0,"0"0"0,9 0 15,-1 9 1,1 8-16,-1 17 16,1 8-1,8 35-15,-9 25 16,1 8-1,-9 10-15,-9-10 16,1 1 0,-1-9-16,-16-9 15,-1 1 1,-8-18-16,17-16 16,8-9-1,18 8-15,25 1 16,9-9-1,17-9-15,50-16 16,53-18 0,33-25-16,51-17 15,18-8 1,-9 8-16,-8 0 16,-44 8-1,-16 9-15,-51 17 16,-26 0-1,-52 0-15,-16 0 16,-17 0 0,-9 0-16,-9 0 15,1 0 1,-1 0-16,1-8 16,8-18-1,9-25-15,16-51 16,18-17-1,0 0-15,0 0 16,-18 9 0,-8-1-16,-8 17 15,0 9 1,-18 17-16,1 9 16,-1 8-1,-8 17-15,0 17 16,-8 0-1,-1 0-15,-8 0 16,-43 0 0,-8 8-16,-17 9 15,-26 0 1,-77-8-16,-34 8 16,-60-9-1,-127-8-15,-103 0 16,-146 60-1,240 8-15</inkml:trace>
</inkml:ink>
</file>

<file path=ppt/ink/ink2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3:09:01.097"/>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70C0"/>
    </inkml:brush>
  </inkml:definitions>
  <inkml:trace contextRef="#ctx0" brushRef="#br0">2834 3147 0,'0'0'0,"0"0"15,0 0-15,0 0 16,-9 17 0,1 0-16,-18 17 15,0 17 1,1 0-1,-9 17-15,-1 0 16,10-9 0,8-8-1,0-8-15,17 8 16,0 0-16,8-9 16,9 1-1,35-9-15,41-8 16,35-18-1,18-16-15,16-1 16,0-8 0,0 0-1,26 8-15,8 9 16,9 0 0,42 18-16,35 7 15,25 9 1,18 0-16,8-8 15,8-9 1,-25-9-16,8 1 16,43 8-1,-34 0-15,34 0 16,-17 8 0,-51-16-16,-18-1 15,-33-8 1,-52-8-16,-8 8 15,-17-9 1,-61-8-16,-33-8 16,-8-9-1,-10-26-15,-7-8 16,-27 8 0,-16 1-16,-1-9 15,1-51 1,8-26-16,0 43 15,-9 60 1</inkml:trace>
  <inkml:trace contextRef="#ctx0" brushRef="#br0" timeOffset="9933.73">13707 7731 0,'17'-9'0,"51"-16"0,95-18 16,24 0 15,-24 9-31,24 17 15,27 9 1,42 33-16,77 27 16,128 16-1,144-9-15,129-25 16,-307-17 0</inkml:trace>
  <inkml:trace contextRef="#ctx0" brushRef="#br0" timeOffset="19314.34">7033 8462 0,'0'0'0,"8"0"16,52 17-16,85 0 16,179 25-1,129 1-15,59-34 16,-94-1 0</inkml:trace>
  <inkml:trace contextRef="#ctx0" brushRef="#br0" timeOffset="30072.59">12248 2143 0,'0'0'0,"0"0"0,8 17 32,-8 26-32,-17 16 15,-17 43 1,-26 43 0,9 16-16,8 1 15,9 25 1,9-34-16,16-34 15,9-8 1,9-26-16,-1-26 16,-8-25-16,0-17 31,0-17-15</inkml:trace>
  <inkml:trace contextRef="#ctx0" brushRef="#br0" timeOffset="30374.34">11326 2288 0,'0'0'0,"0"0"15,43 17-15,76 8 16,52 1 0,51-26-16,8-9 15,-25-25 1,-26 0-16,-34 0 15,137-25 1</inkml:trace>
  <inkml:trace contextRef="#ctx0" brushRef="#br0" timeOffset="30926.51">13955 2160 0,'-9'0'0,"-8"17"16,-26 9-1,-25 33 1,-17 26-16,8 0 16,9 34-1,-1 26-15,1 8 16,17 0-1,8 9 1,18-9-16,16-34 16,26-26-16,26 1 15,34-26 1,-18-34-16</inkml:trace>
  <inkml:trace contextRef="#ctx0" brushRef="#br0" timeOffset="31622.68">14808 2577 0,'0'0'0,"-8"8"15,-18 52 1,-17 42-16,1-9 15,16-16 1,0-9-16,1 26 16,-1 16-16,-8-16 15,17-26 1,0-26-16,8-16 16,1-1-1,8-16-15,0-1 16,0-8-16,0-25 15,25-52 1,27-42 0,42-25-16,25-26 15,1 16 1,-9 44-16,34 16 16,-9 26-1,-42 26-15,-26 25 16,-8 17-1,0 0-15,-18 17 16,-16 8 0,0 26-16,-18 68 15,-16 17 1,-1-33-16,1-27 16,8-8-1,0 0-15,0-25 16,0-18-1,0-8-15</inkml:trace>
  <inkml:trace contextRef="#ctx0" brushRef="#br0" timeOffset="31954.38">16848 2160 0,'-9'26'0,"-8"59"16,-17 76-16,0 60 16,-9-16-16,-16-1 15,-86 51-15,-77 8 16,-128 35 0,8-60-1</inkml:trace>
  <inkml:trace contextRef="#ctx0" brushRef="#br0" timeOffset="33560.96">17881 2747 0,'0'0'0,"17"-9"0,25 1 16,35-1-16,9-8 31,-1-8-15,9-1-16,-9 9 15,1 0 1,-35 9-16</inkml:trace>
  <inkml:trace contextRef="#ctx0" brushRef="#br0" timeOffset="33886.46">17701 3393 0,'9'0'0,"34"0"16,93-8-16,69-9 15,26-26 1,-18 1-16,-51 8 15,0 0 1,120-9 0</inkml:trace>
  <inkml:trace contextRef="#ctx0" brushRef="#br0" timeOffset="34558.64">20467 2381 0,'0'0'0,"8"9"0,52 25 16,34 17-1,-26 0-15,-25 0 16,-9 17-1,-8 17-15,-18 0 16,-50 17 0,-44 17-16,-25 9 15,-8-9 1,-26-26-16,0-33 16,34-26-1,25-17-15,26-17 16,1-9-1,8-16-15,16-1 16,18-8 0,17 0-16,0 0 15,17 0 1,9 0-16,17 17 16,25 17-1,43 26-15,8 16 16,-8 9-1,-8 0-15,-1-8 16,-8-1 0,-17-16-16,0-18 15,17-16 1,-52-1-16</inkml:trace>
  <inkml:trace contextRef="#ctx0" brushRef="#br0" timeOffset="34974.92">22490 2466 0,'0'0'0,"0"9"16,0 50-16,0 60 16,-9 9-1,1-34-15,-10-1 16,-16 18-1,-8-1-15,-1-16 16,9-26 0,17-26-16,0-8 15,0-17 1,17-8 0,0-9-16</inkml:trace>
  <inkml:trace contextRef="#ctx0" brushRef="#br0" timeOffset="35230.83">21884 2322 0,'0'0'0,"0"8"16,25 18 0,35 8-16,8-9 15,60 9 1,26-17-16,-9-8 16,34-18-1,-8-8-15,-111 9 16</inkml:trace>
  <inkml:trace contextRef="#ctx0" brushRef="#br0" timeOffset="35662.29">24086 1999 0,'0'0'0,"-35"8"15,-33 35 1,-17 33-1,-9 18 1,9-1-16,-1 18 16,-42 42-1,9 17-15,42-34 16,17 17 0,0 17-16,18 0 15,33 0 1,26-25-16,26-35 15,17-24 1,8-27-16,17-33 16,-42-18-1</inkml:trace>
  <inkml:trace contextRef="#ctx0" brushRef="#br0" timeOffset="36338.11">24879 1965 0,'0'0'0,"0"0"16,0 8 0,-8 26-16,-1 34 15,1 9 1,-9-1-16,-9-16 15,0-1 1,1-16-16,8-9 16,0-9-1,0 1-15,8-18 16,9 1 0,0-1-16,0-8 15,26-8 1,16-1-16,61-33 15,16-18 1,-25 1-16,-8-1 16,-27 9-16,1 9 15,8 8 1,9 17 0,0 8-16,-26 9 15,-8 26 1,0 25-16,-9 17 15,-17 8 1,-9-8-16,-8 9 16,-17-18-1,-8 1-15,8-26 16,-1-9 0,10-8-16</inkml:trace>
  <inkml:trace contextRef="#ctx0" brushRef="#br0" timeOffset="36655.58">24393 2960 0,'34'0'0,"86"0"0,25 0 16,34 8 0,-8 1-16,-52-1 15,1 1 1,25-9-16,-17 0 15,-34-9 1,-43 1-16</inkml:trace>
  <inkml:trace contextRef="#ctx0" brushRef="#br0" timeOffset="37239.58">24811 3393 0,'0'0'0,"0"0"15,17 17 1,9 9 0,8 25-16,9 0 15,-18 0-15,-25 17 16,-17 17 0,-17 9-16,-17-9 15,-35 0 1,-25-17-1,9-17-15,34-26 16,25-16 0,9-1-16,17-16 15,17-18 1,8-16-16,44-26 16,7 0-1,10 17-15,7 8 16,-16 26-1,0 17-15,0 17 16,-1 9 0,1 8-16,-17 0 15,8-9 1,0 1-16,9-26 16,17-26-1,-34 9-15</inkml:trace>
  <inkml:trace contextRef="#ctx0" brushRef="#br0" timeOffset="37629.11">26322 2177 0,'0'0'0,"8"9"0,26 59 15,43 51 1,34 42-1,0 9-15,-51-16 16,-26-10 0,-25 35-16,-52 8 15,-34-9 1,-17 9-16,0-16 16,0-35-1,-17 0-15,1-9 16,50-50-1,17-35-15,35-25 16</inkml:trace>
  <inkml:trace contextRef="#ctx0" brushRef="#br0" timeOffset="38335.35">28370 2466 0,'0'0'0,"0"0"0,0 0 16,0 0 0,0 0-16,0 9 15,9 16 1,-35 52-16,-34 59 16,1 0-1,-1-8-15,-8 16 16,-1-8-1,18-25 1,0-9-16,17-26 16,17-25-1,0-25-15,8-9 16,1-9 0,8-8-16</inkml:trace>
  <inkml:trace contextRef="#ctx0" brushRef="#br0" timeOffset="38531">27542 3079 0,'0'0'0,"9"0"0,51 0 31,51 17-15,-9 8-16,0-8 15,-8-17-15,26-8 16,-18-1 0,-25-8-1,-43 9-15</inkml:trace>
  <inkml:trace contextRef="#ctx0" brushRef="#br0" timeOffset="39029.44">29557 2858 0,'0'0'0,"-9"17"0,-42 42 15,-35 43 1,-16 34 0,0 0-16,16-25 15,9-26-15,26-34 16,17-26 0,17-16-16,17-1 15,0-8 1,17-17-16,68-51 15,95-68 1,33-8-16,-42 25 16,34 0-1,-1 17-15,-16 16 16,-26 44 0,-51 33-16,-17 43 15,-17 26 1,-26 25-16,-42 60 15,-35 42 1,-25-26-16,-34-8 16,-69 111-1</inkml:trace>
  <inkml:trace contextRef="#ctx0" brushRef="#br1" timeOffset="51705.71">28643 3487 0,'0'0'0,"0"0"0,-8 0 16,-1 17-16,1 0 15,-18 17 1,0 0-16,1 25 16,-9 18-1,-9 17-15,-25-1 16,-1-16 0,18-18-16,17-16 15,17-18 1,0 1-16,8-18 15,9 1 1,0-1 0,9 9-16,25 9 15,17 8 1,26 0-16,26-9 16,59-8-1,17-8-15,-25-18 16,50 9-16,35 9 15,26 8 1,8 8-16,-8 1 16,-1-1-1,-33 1 1,-9-1-16,-43 1 16,-34-1-1,-8 1-15,-44-9 16,-41-9-16,-18 1 15,-9-1 1,-8-8 0,-8 0-16,0 0 15,-1 0 1,-8 0-16,0 0 16,0-8-1,9-9-15,-1-17 16,9-17-1,-8 0-15,-1 0 16,1 17 0,-1 8-16,1 1 15,-1-1 1,9 1-16,1-9 16,7 0-16,-8 8 15,0 9 1,-8 0-1,-1 0-15,1 9 16,-1 8 0,-8 0-16,0 0 15,0 0 1,0 0-16,0 0 16,-8 8-1,-1 35-15,-16 33 16,-1 18-1,1-9-15,7-17 16,1-9-16,0-16 16,0-18-1,0 1 1,9-1-16,-1-8 16,1-8-1,8-1-15,0 1 16,0-1-1,0 1-15,-9-9 16,9 8 0,-8-8-16,-10 0 15,-33 9 1,-17-18-16,-9 1 16,-51-1-1,-43-8 1,9 0-16,-8 0 15,-44 0-15,26 0 16,-42-8 0,-9 8-16,34 0 15,-17 0 1,34 8-16,9-16 16,0-1-1,42 1-15,35-1 16,8 1-1,-17-1-15,0-8 16,26 9 0,25 8-16,9 8 15,17 1 1,8 8-16,9 0 16,0 0-1,9 0-15,8 0 16,0 0-1,0 0-15,0 0 16,0 0 0,0 0-16,0 0 15,0 0 1,0 0-16,0 0 16,0 0-1,0-9-15,0-16 16,0-26-1,8-51 1,1-34-16,8 17 16,0 33-1,0-7-15,8-9 16,-8 17-16,9 17 16,-9 8-1,0 18-15,-8 25 16,-1 0-1,1 0-15,-9 17 16,0 0 0,-9 0-1,-8 34-15,-17 34 16,0 17 0,0-9-16,8 26 15,9 9 1,9-17-16,-1-26 15,9-26-15,0 1 16,0-9 0,0-9-1,0 1-15,0-1 16,0 1-16,0-9 16,0-9-1,0 1 1,17 8-16,9 0 15,42 17-15,26-9 16,8-16 0,26-1-16,43-16 15,8-1 1,0 1-16,35-1 16,-26-8-1,59 26-15,-8 8 16,-26 8-1,9 18-15,-51-1 16,-34-8 0,8 9-1,-17-1-15,-34 1 16,-18-9 0,-16-9-16,0 1 15,34-1 1,0 1-16,-17-9 15,-18-9 1,1 1-16,-17-1 16,-9 1-1,-9-9-15,-16 0 16,0 0 0,-1 0-16,1 0 15,-9 0 1,0 0-16,0 0 15,0 0 1,0 0-16,0-9 16,8-25-1,1-42-15,-1-26 16,9 8 0,0 1-16,0 50 15</inkml:trace>
  <inkml:trace contextRef="#ctx0" brushRef="#br1" timeOffset="121723.39">26083 9908 0,'0'0'0,"0"0"0,0 0 0,0 0 16,0 0-1,0 0-15,0 0 16,17 0-1,60 0 1,85 0-16,51 17 16,60 8-1,0 1-15,9-1 16,68 1 0,51 8-16,52-9 15,42-8 1,-94 9-16</inkml:trace>
  <inkml:trace contextRef="#ctx0" brushRef="#br1" timeOffset="137758.57">18495 11166 0,'0'0'0,"0"0"0,9 0 15,25 0 1,60 17 0,68 0-1,103-8 1,110-1-16,103 1 15,68 8 1,-128 0-16</inkml:trace>
  <inkml:trace contextRef="#ctx0" brushRef="#br1" timeOffset="153653.9">7118 13684 0,'0'0'0,"0"0"16,0 0-16,0 0 15,0 0 1,17-9-16,26 1 16,42-1-1,43 9 1,94 0-16,103 0 15,59 0 1,153 0-16,103-25 16,-221-9-16</inkml:trace>
  <inkml:trace contextRef="#ctx0" brushRef="#br1" timeOffset="171574.32">10763 14934 0,'0'0'0,"51"-9"16,102-25-16,163-17 16,60-17-1,8 9-15,128-9 16,94 8 0,-188 26-1</inkml:trace>
  <inkml:trace contextRef="#ctx0" brushRef="#br1" timeOffset="185478.41">20680 12459 0,'0'0'0,"0"0"16,0 0-16,0-8 16,0-1-1,0 1-15,9-9 16,-9 0 0,17-1-1,25 1-15,35 0 16,43 17-1,-18 0-15,-16 26 16,24 17-16,1 8 16,-17 8-1,0 18 1,-26 8-16,-16-9 16,-27-8-1,1 0-15,-9 0 16,0 9-1,9 8-15,16 0 16,35-9 0,34-16-16,-8-43 15,-35-17 1,-26-8-16,1-9 16,-17-1-1,-18 10-15,1 8 16,-26 0-1,-34 17-15,-35 17 16,1 17 0,8-8-16,34 8 15,26 8 1,68 26-16,60 34 16,-8-34-1,8-17-15,17-17 16,-9-8-1,-16 8-15,-35-9 16,-25 18 0,-9 25-16,-34 26 15,-68 33 1,-95 52-16,-101 25 16,-43-26-1,-69-16-15,9-9 16</inkml:trace>
  <inkml:trace contextRef="#ctx0" brushRef="#br1" timeOffset="-202463.12">16626 11932 0,'0'0'0,"0"0"15,0 0-15,-8-9 16,-10 1 0,-24-1-1,-9 9-15,-18 0 16,-25 9 0,-17 8-1,-17 8-15,9 1 16,8 8-1,9-9-15,33 1 16,27-18 0,7-8-16,18-17 15,17 0 1,43-34-16,17-34 16,-26 9-16,-8 33 15,-9 26 1,-9 0-16,1 0 15,-1 17 1,-16 0 0,-26 17-16,-26 17 15,-8 0-15,8 9 16,9-18 0,16-8-16,18-8 15,17 8 1,26 0-1,42 0-15,60 17 16,60 0 0,0-17-16,111-9 15</inkml:trace>
  <inkml:trace contextRef="#ctx0" brushRef="#br1" timeOffset="-189413.23">3892 12451 0,'0'0'0,"0"-9"16,0 1-16,0-18 15,0 0 1,8-8-1,-8 17 1,0 0-16,-8 0 16,-1 0-1,-25 0-15,-17 0 16,-17 17 0,-9 9-1,-25 8-15,-18 17 16,1 0-16,-9 17 15,-9 17 1,17 9-16,35-18 16,25-8-1,35-8-15,16-9 16,18 0 0,42 0-16,34 8 15,18-8 1,-1 0-16,-16 0 15,-27-8 1,-16-1-16,-17-16 16,-1-1-1,-16 1-15,-9 8 16,-26 25 0,-42 18-16,-43 16 15,-26 1 1,9-17-16,17-9 15,43-9 1,25 1-16,18-18 16,8 1-1,25-1-15,26 9 16,26 9 0,51 16-16,9 1 15,-18-9 1,-17 8-1,-33 9-15,-18 0 16,-26 34-16,-68 60 16,-50 25-1,16-42-15,59-43 16,53 8 0,110 9-16,170 43 15</inkml:trace>
</inkml:ink>
</file>

<file path=ppt/ink/ink2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29T23:13:32.205"/>
    </inkml:context>
    <inkml:brush xml:id="br0">
      <inkml:brushProperty name="width" value="0.05292" units="cm"/>
      <inkml:brushProperty name="height" value="0.05292" units="cm"/>
      <inkml:brushProperty name="color" value="#0070C0"/>
    </inkml:brush>
  </inkml:definitions>
  <inkml:trace contextRef="#ctx0" brushRef="#br0">1826 6463 0,'0'0'0,"0"0"0,0 0 16,9 9-16,8-1 15,0 1 1,17-1-16,26-16 15,25-18 1,-16 9 0,-18-8-1,-26-9-15,35-9 16,43-16-16,16-1 16,-8 26-1,-26 9-15,18 8 16,42 0-1,-17 8-15,-26 26 16,-42-8 0,-9 8-16,26 8 15,17 1 1,-17-18-16,-9 1 16,-8-9-1,-17-17 1,-18 8-16</inkml:trace>
  <inkml:trace contextRef="#ctx0" brushRef="#br0" timeOffset="369.83">3218 6030 0,'0'0'0,"0"0"0,8 0 16,9 0-16,0 0 31,-8 0-31,8 0 16,43 0 0,25 0-16,26 0 15,0 8 1,-26 1-16,-51-9 15,-8 0 1,-9 0-16,0 0 16,-8 0-1,-1 8-15,1 18 16,-9 25 0,-60 59-16,-94 43 15,9-34 1,111-76-16</inkml:trace>
  <inkml:trace contextRef="#ctx0" brushRef="#br0" timeOffset="26543.32">13391 4414 0,'0'0'0,"-8"0"0,-18 51 15,-34 59 1,1 18-16,16-26 16,17 0-1,9 17-15,0 0 16,9-34 0,-1-25-16,9-9 15,0-26 1,0-8-16,0-8 15,0-1 1,0 1-16,0-9 16,0 0-1</inkml:trace>
  <inkml:trace contextRef="#ctx0" brushRef="#br0" timeOffset="26782.38">13127 5230 0,'0'0'0,"0"0"15,-9 9 1,-8 25-16,-17 17 15,-17-9 1,-9 1-16,0 33 16,1 1-1,33-9-15,17-9 16,18-24 0,51-10-16,17-25 15,76-68 1,95-26-16,50 26 15,78 9 1</inkml:trace>
  <inkml:trace contextRef="#ctx0" brushRef="#br0" timeOffset="30421.46">14501 7424 0,'0'0'0,"0"0"16,0 0-16,-9 0 15,-8-8 1,-42-1 0,-1-8-16,-26-8 15,-25-9 1,-8 8-16,-1-8 15,27 9 1,-1-1-16,-9 9 16,9 0-1,1 9-15,16 8 16,26 17 0,25 8-16,9-8 15,8 0-15,9 0 16,0 0-1,0 0 1,0 0-16,0 9 16,0-9-1,0-9-15,0 1 16,-8-1 0,-1 1-16,1-9 15,-1-9 1,-16-16-16,-1-1 15,-8-8 1,0 0-16,0 9 16,16 8-1,1 0-15,9 8 16,8 1 0,0 8-16,25-9 15,61-16 1,33-1-16,52 1 15,8-1 1,-42 1-16,25-1 16,128-42-1</inkml:trace>
  <inkml:trace contextRef="#ctx0" brushRef="#br0" timeOffset="39560.36">1485 8555 0,'0'0'0,"0"0"0,0 0 15,0 0 1,0 0 0,0 0-1,17-8-15,51-9 16,26-9-1,51-8 1,-8-8-16,-9-1 16,-9 18-16,1-9 15,-18 0 1,-25 0 0,-17 8-16,-26 1 15,-17 8-15,-17-9 16,-25 1-1,-35-18-15,-8 9 16,25 9 0,-8 8-1,17 0-15,8 17 16,17 0 0,-8 0-16,17 0 15,0 0-15,17-9 16,9 1-1,42-9-15,1 8 16,-10 9 0,1 17-1,-17 0-15,-9 17 16,-9 9-16,-16 8 16,0-9-1,-9 1 1,0-1-16,0-8 15,0 9 1,25-9-16,1 8 16,-9-25-16</inkml:trace>
  <inkml:trace contextRef="#ctx0" brushRef="#br0" timeOffset="192193.63">768 11115 0,'0'0'0,"77"-8"0,25-9 15,9 17-15,43-9 32,51 18-17,-52-1-15,-33 9 16,76 17-1,-34-8-15,-76-9 16,33 17-16,-8-9 16,-34 1-1,0-1 1,-43-8-16</inkml:trace>
  <inkml:trace contextRef="#ctx0" brushRef="#br0" timeOffset="192501.24">2262 11005 0,'0'0'0,"0"0"0,0 0 32,0 0-17,34 17-15,26 8 16,25 1-1,34 8-15,-25-9 16,-34 1 0,8-1-16,-16 1 15,-18-9 1,-17 0-16,-17 17 16,-43 42-1,-110 78-15,-69 67 16,-34 34-1</inkml:trace>
  <inkml:trace contextRef="#ctx0" brushRef="#br0" timeOffset="203042.86">1331 13369 0,'0'0'0,"0"0"15,0-8-15,52-9 16,50-18 0,-17 1-16,18-8 15,76-9 1,-17 17-16,9 17 16,25 0-1,-25 8-15,-34 1 16,-9 8-1,-18-9-15,-24-8 16,-43 9 0</inkml:trace>
  <inkml:trace contextRef="#ctx0" brushRef="#br0" timeOffset="203371.34">2910 12833 0,'0'0'0,"0"0"16,0 0-16,26 0 15,17 0-15,42 17 16,0 9 0,-16-1-1,-18 1-15,17 8 16,0 0-1,-16-9-15,-27-8 16,1 0 0,-9 0-16,-9-8 15,-25 8-15,-59 42 32,-87 43-32,-41 26 15,41-9 1,95-68-16</inkml:trace>
  <inkml:trace contextRef="#ctx0" brushRef="#br0" timeOffset="209447.7">1750 15810 0,'0'0'16,"0"0"-16,0 0 16,17 0-16,0 0 15,34 0 1,0-9-16,35 1 16,7-1-1,10 1-15,25-9 16,26 0-1,-26 0-15,-9 8 16,1 9 0,-35 0-16,-25 9 15,-26-18 1,-17 9-16</inkml:trace>
  <inkml:trace contextRef="#ctx0" brushRef="#br0" timeOffset="209741.31">2885 15606 0,'0'0'0,"-9"-9"16,9 1-16,0 8 15,0-9 1,9 1-16,42-1 16,77-8-1,0 17 1,-26 9-16,18-1 15,-26 1-15,-26-1 16,-17 1 0,-17-1-16,-8 1 15,-17-1 1,-1 9-16,-33 34 16,-61 43-1,-50 50-15,-69 103 16</inkml:trace>
  <inkml:trace contextRef="#ctx0" brushRef="#br0" timeOffset="-200632.41">17864 15470 0,'0'0'0,"0"0"16,0 0-16,-9 0 15,-25 0 1,-9 17-1,-25 0-15,-43 8 16,-43 9 0,9 17-16,9 9 15,25-9 1,51-26-16,17 1 16,26-18-1,17-16-15,0 8 16</inkml:trace>
  <inkml:trace contextRef="#ctx0" brushRef="#br0" timeOffset="-200412.76">16967 15589 0,'0'0'0,"0"0"0,-8 0 0,-9 17 16,-9 17-1,-8 0-15,-9 25 16,1 1-1,8-1 1,-1-8-16,18-8 16,26-9-16,34 17 15,102 8 1,77-8-16,110 0 16</inkml:trace>
  <inkml:trace contextRef="#ctx0" brushRef="#br0" timeOffset="40784.04">9610 11421 0,'0'0'0,"0"0"0,-8-8 0,-112-26 0,61 25 16,-69 1 0,-60-1-1,34 9-15,1 0 16,-61 0 0,52 9-16,68-1 15,-25 1 1,25-18-1,25 9-15,35-8 16,26 8-16,8 0 16</inkml:trace>
  <inkml:trace contextRef="#ctx0" brushRef="#br0" timeOffset="41046.25">8296 11200 0,'0'0'0,"0"0"16,0 0-16,0 0 15,-9 0 1,-16 17-16,-52 9 16,-42 8-1,-1 0-15,35 8 16,33 1 0,-7-9-16,-10 0 15,18 0 1,26 17-16,25 17 15,34 34 1,51 51-16,146 77 16,59 33-1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0D1F59-0C63-44D8-BE72-2266A9516CA1}" type="datetimeFigureOut">
              <a:rPr lang="en-US" smtClean="0"/>
              <a:t>4/29/2026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9C3430-04EA-4E2B-840E-2DAFF95C6F71}" type="slidenum">
              <a:rPr lang="en-US" smtClean="0"/>
              <a:t>‹#›</a:t>
            </a:fld>
            <a:endParaRPr lang="en-US"/>
          </a:p>
        </p:txBody>
      </p:sp>
    </p:spTree>
    <p:extLst>
      <p:ext uri="{BB962C8B-B14F-4D97-AF65-F5344CB8AC3E}">
        <p14:creationId xmlns:p14="http://schemas.microsoft.com/office/powerpoint/2010/main" val="2212231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4/29/2026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543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4/29/2026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3167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4/29/2026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7726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4/29/2026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65914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4/29/2026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41973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4/29/2026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49963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4/29/2026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856356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4/29/2026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16215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4/29/2026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40534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4/29/2026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53172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4/29/2026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78788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4/29/2026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3096507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customXml" Target="../ink/ink5.xml"/><Relationship Id="rId3" Type="http://schemas.openxmlformats.org/officeDocument/2006/relationships/image" Target="../media/image7.png"/><Relationship Id="rId7" Type="http://schemas.openxmlformats.org/officeDocument/2006/relationships/image" Target="../media/image9.png"/><Relationship Id="rId12" Type="http://schemas.openxmlformats.org/officeDocument/2006/relationships/image" Target="../media/image13.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110.png"/><Relationship Id="rId11" Type="http://schemas.openxmlformats.org/officeDocument/2006/relationships/image" Target="../media/image190.png"/><Relationship Id="rId5" Type="http://schemas.openxmlformats.org/officeDocument/2006/relationships/image" Target="../media/image90.pn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11.png"/><Relationship Id="rId1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7.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customXml" Target="../ink/ink6.xml"/><Relationship Id="rId5" Type="http://schemas.openxmlformats.org/officeDocument/2006/relationships/image" Target="../media/image16.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241.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 Type="http://schemas.openxmlformats.org/officeDocument/2006/relationships/image" Target="../media/image61.png"/><Relationship Id="rId21" Type="http://schemas.openxmlformats.org/officeDocument/2006/relationships/image" Target="../media/image79.png"/><Relationship Id="rId7" Type="http://schemas.openxmlformats.org/officeDocument/2006/relationships/image" Target="../media/image650.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2" Type="http://schemas.openxmlformats.org/officeDocument/2006/relationships/image" Target="../media/image60.png"/><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180.png"/><Relationship Id="rId1" Type="http://schemas.openxmlformats.org/officeDocument/2006/relationships/slideLayout" Target="../slideLayouts/slideLayout6.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32" Type="http://schemas.openxmlformats.org/officeDocument/2006/relationships/image" Target="../media/image20.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170.png"/><Relationship Id="rId10" Type="http://schemas.openxmlformats.org/officeDocument/2006/relationships/image" Target="../media/image68.png"/><Relationship Id="rId19" Type="http://schemas.openxmlformats.org/officeDocument/2006/relationships/image" Target="../media/image77.png"/><Relationship Id="rId31" Type="http://schemas.openxmlformats.org/officeDocument/2006/relationships/customXml" Target="../ink/ink8.xml"/><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50.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image" Target="../media/image29.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49.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customXml" Target="../ink/ink12.xml"/></Relationships>
</file>

<file path=ppt/slides/_rels/slide17.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image" Target="../media/image620.png"/><Relationship Id="rId1" Type="http://schemas.openxmlformats.org/officeDocument/2006/relationships/slideLayout" Target="../slideLayouts/slideLayout6.xml"/><Relationship Id="rId4" Type="http://schemas.openxmlformats.org/officeDocument/2006/relationships/image" Target="../media/image25.png"/></Relationships>
</file>

<file path=ppt/slides/_rels/slide18.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image" Target="../media/image620.png"/><Relationship Id="rId1" Type="http://schemas.openxmlformats.org/officeDocument/2006/relationships/slideLayout" Target="../slideLayouts/slideLayout6.xml"/><Relationship Id="rId4" Type="http://schemas.openxmlformats.org/officeDocument/2006/relationships/image" Target="../media/image27.png"/></Relationships>
</file>

<file path=ppt/slides/_rels/slide19.xml.rels><?xml version="1.0" encoding="UTF-8" standalone="yes"?>
<Relationships xmlns="http://schemas.openxmlformats.org/package/2006/relationships"><Relationship Id="rId3" Type="http://schemas.openxmlformats.org/officeDocument/2006/relationships/image" Target="../media/image620.png"/><Relationship Id="rId2" Type="http://schemas.openxmlformats.org/officeDocument/2006/relationships/image" Target="../media/image59.png"/><Relationship Id="rId1" Type="http://schemas.openxmlformats.org/officeDocument/2006/relationships/slideLayout" Target="../slideLayouts/slideLayout6.xml"/><Relationship Id="rId5" Type="http://schemas.openxmlformats.org/officeDocument/2006/relationships/image" Target="../media/image28.png"/><Relationship Id="rId4" Type="http://schemas.openxmlformats.org/officeDocument/2006/relationships/customXml" Target="../ink/ink15.xml"/></Relationships>
</file>

<file path=ppt/slides/_rels/slide20.xml.rels><?xml version="1.0" encoding="UTF-8" standalone="yes"?>
<Relationships xmlns="http://schemas.openxmlformats.org/package/2006/relationships"><Relationship Id="rId3" Type="http://schemas.openxmlformats.org/officeDocument/2006/relationships/image" Target="../media/image620.png"/><Relationship Id="rId1" Type="http://schemas.openxmlformats.org/officeDocument/2006/relationships/slideLayout" Target="../slideLayouts/slideLayout6.xml"/><Relationship Id="rId6" Type="http://schemas.openxmlformats.org/officeDocument/2006/relationships/image" Target="../media/image30.png"/><Relationship Id="rId5" Type="http://schemas.openxmlformats.org/officeDocument/2006/relationships/customXml" Target="../ink/ink16.xml"/><Relationship Id="rId4" Type="http://schemas.openxmlformats.org/officeDocument/2006/relationships/image" Target="../media/image210.png"/></Relationships>
</file>

<file path=ppt/slides/_rels/slide21.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image" Target="../media/image271.png"/><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customXml" Target="../ink/ink17.xml"/></Relationships>
</file>

<file path=ppt/slides/_rels/slide22.xml.rels><?xml version="1.0" encoding="UTF-8" standalone="yes"?>
<Relationships xmlns="http://schemas.openxmlformats.org/package/2006/relationships"><Relationship Id="rId3" Type="http://schemas.openxmlformats.org/officeDocument/2006/relationships/image" Target="../media/image231.png"/><Relationship Id="rId2" Type="http://schemas.openxmlformats.org/officeDocument/2006/relationships/image" Target="../media/image221.png"/><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customXml" Target="../ink/ink18.xml"/></Relationships>
</file>

<file path=ppt/slides/_rels/slide23.xml.rels><?xml version="1.0" encoding="UTF-8" standalone="yes"?>
<Relationships xmlns="http://schemas.openxmlformats.org/package/2006/relationships"><Relationship Id="rId3" Type="http://schemas.openxmlformats.org/officeDocument/2006/relationships/image" Target="../media/image700.png"/><Relationship Id="rId2" Type="http://schemas.openxmlformats.org/officeDocument/2006/relationships/image" Target="../media/image690.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customXml" Target="../ink/ink19.xml"/></Relationships>
</file>

<file path=ppt/slides/_rels/slide24.xml.rels><?xml version="1.0" encoding="UTF-8" standalone="yes"?>
<Relationships xmlns="http://schemas.openxmlformats.org/package/2006/relationships"><Relationship Id="rId3" Type="http://schemas.openxmlformats.org/officeDocument/2006/relationships/image" Target="../media/image720.png"/><Relationship Id="rId2" Type="http://schemas.openxmlformats.org/officeDocument/2006/relationships/image" Target="../media/image710.png"/><Relationship Id="rId1" Type="http://schemas.openxmlformats.org/officeDocument/2006/relationships/slideLayout" Target="../slideLayouts/slideLayout2.xml"/><Relationship Id="rId5" Type="http://schemas.openxmlformats.org/officeDocument/2006/relationships/image" Target="../media/image34.png"/><Relationship Id="rId4" Type="http://schemas.openxmlformats.org/officeDocument/2006/relationships/customXml" Target="../ink/ink20.xml"/></Relationships>
</file>

<file path=ppt/slides/_rels/slide25.xml.rels><?xml version="1.0" encoding="UTF-8" standalone="yes"?>
<Relationships xmlns="http://schemas.openxmlformats.org/package/2006/relationships"><Relationship Id="rId8" Type="http://schemas.openxmlformats.org/officeDocument/2006/relationships/image" Target="../media/image250.png"/><Relationship Id="rId13" Type="http://schemas.openxmlformats.org/officeDocument/2006/relationships/image" Target="../media/image320.png"/><Relationship Id="rId18" Type="http://schemas.openxmlformats.org/officeDocument/2006/relationships/customXml" Target="../ink/ink22.xml"/><Relationship Id="rId3" Type="http://schemas.openxmlformats.org/officeDocument/2006/relationships/image" Target="../media/image251.png"/><Relationship Id="rId7" Type="http://schemas.openxmlformats.org/officeDocument/2006/relationships/image" Target="../media/image240.png"/><Relationship Id="rId12" Type="http://schemas.openxmlformats.org/officeDocument/2006/relationships/image" Target="../media/image310.png"/><Relationship Id="rId17" Type="http://schemas.openxmlformats.org/officeDocument/2006/relationships/image" Target="../media/image330.png"/><Relationship Id="rId2" Type="http://schemas.openxmlformats.org/officeDocument/2006/relationships/image" Target="../media/image242.png"/><Relationship Id="rId16" Type="http://schemas.openxmlformats.org/officeDocument/2006/relationships/image" Target="../media/image300.png"/><Relationship Id="rId1" Type="http://schemas.openxmlformats.org/officeDocument/2006/relationships/slideLayout" Target="../slideLayouts/slideLayout2.xml"/><Relationship Id="rId6" Type="http://schemas.openxmlformats.org/officeDocument/2006/relationships/image" Target="../media/image230.png"/><Relationship Id="rId11" Type="http://schemas.openxmlformats.org/officeDocument/2006/relationships/image" Target="../media/image301.png"/><Relationship Id="rId5" Type="http://schemas.openxmlformats.org/officeDocument/2006/relationships/image" Target="../media/image220.png"/><Relationship Id="rId15" Type="http://schemas.openxmlformats.org/officeDocument/2006/relationships/customXml" Target="../ink/ink21.xml"/><Relationship Id="rId10" Type="http://schemas.openxmlformats.org/officeDocument/2006/relationships/image" Target="../media/image280.png"/><Relationship Id="rId19" Type="http://schemas.openxmlformats.org/officeDocument/2006/relationships/image" Target="../media/image35.png"/><Relationship Id="rId9" Type="http://schemas.openxmlformats.org/officeDocument/2006/relationships/image" Target="../media/image260.png"/><Relationship Id="rId14" Type="http://schemas.openxmlformats.org/officeDocument/2006/relationships/image" Target="../media/image290.png"/></Relationships>
</file>

<file path=ppt/slides/_rels/slide2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customXml" Target="../ink/ink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customXml" Target="../ink/ink24.xml"/><Relationship Id="rId2" Type="http://schemas.openxmlformats.org/officeDocument/2006/relationships/image" Target="../media/image611.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2" Type="http://schemas.openxmlformats.org/officeDocument/2006/relationships/image" Target="../media/image250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60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7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8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t>CSE 332 Spring 2026</a:t>
            </a:r>
            <a:br>
              <a:rPr lang="en-US" dirty="0"/>
            </a:br>
            <a:r>
              <a:rPr lang="en-US" dirty="0"/>
              <a:t>Lecture 14: Sorting 3</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FD131-B6AD-4797-71B9-76C7B83BC230}"/>
              </a:ext>
            </a:extLst>
          </p:cNvPr>
          <p:cNvSpPr>
            <a:spLocks noGrp="1"/>
          </p:cNvSpPr>
          <p:nvPr>
            <p:ph type="title"/>
          </p:nvPr>
        </p:nvSpPr>
        <p:spPr/>
        <p:txBody>
          <a:bodyPr/>
          <a:lstStyle/>
          <a:p>
            <a:r>
              <a:rPr lang="en-US" dirty="0"/>
              <a:t>Properties To Consider</a:t>
            </a:r>
          </a:p>
        </p:txBody>
      </p:sp>
      <p:sp>
        <p:nvSpPr>
          <p:cNvPr id="3" name="Content Placeholder 2">
            <a:extLst>
              <a:ext uri="{FF2B5EF4-FFF2-40B4-BE49-F238E27FC236}">
                <a16:creationId xmlns:a16="http://schemas.microsoft.com/office/drawing/2014/main" id="{D967E843-DAF3-ACD6-1133-A963D3179356}"/>
              </a:ext>
            </a:extLst>
          </p:cNvPr>
          <p:cNvSpPr>
            <a:spLocks noGrp="1"/>
          </p:cNvSpPr>
          <p:nvPr>
            <p:ph idx="1"/>
          </p:nvPr>
        </p:nvSpPr>
        <p:spPr/>
        <p:txBody>
          <a:bodyPr>
            <a:normAutofit fontScale="92500" lnSpcReduction="20000"/>
          </a:bodyPr>
          <a:lstStyle/>
          <a:p>
            <a:r>
              <a:rPr lang="en-US" dirty="0"/>
              <a:t>Worst case running time</a:t>
            </a:r>
          </a:p>
          <a:p>
            <a:r>
              <a:rPr lang="en-US" dirty="0"/>
              <a:t>In place:</a:t>
            </a:r>
          </a:p>
          <a:p>
            <a:pPr lvl="1"/>
            <a:r>
              <a:rPr lang="en-US" dirty="0"/>
              <a:t>We only need to use the pre-existing array to do sorting</a:t>
            </a:r>
          </a:p>
          <a:p>
            <a:pPr lvl="1"/>
            <a:r>
              <a:rPr lang="en-US" dirty="0"/>
              <a:t>Constant extra space (only some additional variables needed)</a:t>
            </a:r>
            <a:endParaRPr lang="en-US" i="1" dirty="0"/>
          </a:p>
          <a:p>
            <a:r>
              <a:rPr lang="en-US" dirty="0"/>
              <a:t>Adaptive</a:t>
            </a:r>
          </a:p>
          <a:p>
            <a:pPr lvl="1"/>
            <a:r>
              <a:rPr lang="en-US" dirty="0"/>
              <a:t>The running improves as the given list is closer to being sorted</a:t>
            </a:r>
          </a:p>
          <a:p>
            <a:pPr lvl="1"/>
            <a:r>
              <a:rPr lang="en-US" dirty="0"/>
              <a:t>It should be linear time for a pre-sorted list, and nearly linear time if the list is nearly sorted</a:t>
            </a:r>
            <a:endParaRPr lang="en-US" i="1" dirty="0"/>
          </a:p>
          <a:p>
            <a:r>
              <a:rPr lang="en-US" dirty="0"/>
              <a:t>Online</a:t>
            </a:r>
          </a:p>
          <a:p>
            <a:pPr lvl="1"/>
            <a:r>
              <a:rPr lang="en-US" dirty="0"/>
              <a:t>We can start sorting before we have the entire list.</a:t>
            </a:r>
            <a:endParaRPr lang="en-US" i="1" dirty="0"/>
          </a:p>
          <a:p>
            <a:r>
              <a:rPr lang="en-US" dirty="0"/>
              <a:t>Stable</a:t>
            </a:r>
          </a:p>
          <a:p>
            <a:pPr lvl="1"/>
            <a:r>
              <a:rPr lang="en-US" dirty="0"/>
              <a:t>“Tied” elements keep their original order</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ACB46970-34BB-AB7A-E391-E5BF751A8A51}"/>
                  </a:ext>
                </a:extLst>
              </p14:cNvPr>
              <p14:cNvContentPartPr/>
              <p14:nvPr/>
            </p14:nvContentPartPr>
            <p14:xfrm>
              <a:off x="630000" y="1928880"/>
              <a:ext cx="4019040" cy="3925440"/>
            </p14:xfrm>
          </p:contentPart>
        </mc:Choice>
        <mc:Fallback>
          <p:pic>
            <p:nvPicPr>
              <p:cNvPr id="4" name="Ink 3">
                <a:extLst>
                  <a:ext uri="{FF2B5EF4-FFF2-40B4-BE49-F238E27FC236}">
                    <a16:creationId xmlns:a16="http://schemas.microsoft.com/office/drawing/2014/main" id="{ACB46970-34BB-AB7A-E391-E5BF751A8A51}"/>
                  </a:ext>
                </a:extLst>
              </p:cNvPr>
              <p:cNvPicPr/>
              <p:nvPr/>
            </p:nvPicPr>
            <p:blipFill>
              <a:blip r:embed="rId3"/>
              <a:stretch>
                <a:fillRect/>
              </a:stretch>
            </p:blipFill>
            <p:spPr>
              <a:xfrm>
                <a:off x="620640" y="1919520"/>
                <a:ext cx="4037760" cy="3944160"/>
              </a:xfrm>
              <a:prstGeom prst="rect">
                <a:avLst/>
              </a:prstGeom>
            </p:spPr>
          </p:pic>
        </mc:Fallback>
      </mc:AlternateContent>
    </p:spTree>
    <p:extLst>
      <p:ext uri="{BB962C8B-B14F-4D97-AF65-F5344CB8AC3E}">
        <p14:creationId xmlns:p14="http://schemas.microsoft.com/office/powerpoint/2010/main" val="1046029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2CBAD-23AB-0CC2-48DA-218DAB0B7E52}"/>
              </a:ext>
            </a:extLst>
          </p:cNvPr>
          <p:cNvSpPr>
            <a:spLocks noGrp="1"/>
          </p:cNvSpPr>
          <p:nvPr>
            <p:ph type="title"/>
          </p:nvPr>
        </p:nvSpPr>
        <p:spPr/>
        <p:txBody>
          <a:bodyPr/>
          <a:lstStyle/>
          <a:p>
            <a:r>
              <a:rPr lang="en-US" dirty="0"/>
              <a:t>Divide And Conquer Sorting</a:t>
            </a:r>
          </a:p>
        </p:txBody>
      </p:sp>
      <p:sp>
        <p:nvSpPr>
          <p:cNvPr id="3" name="Content Placeholder 2">
            <a:extLst>
              <a:ext uri="{FF2B5EF4-FFF2-40B4-BE49-F238E27FC236}">
                <a16:creationId xmlns:a16="http://schemas.microsoft.com/office/drawing/2014/main" id="{8209AF56-68BF-F3D5-11B8-6D7ECED34320}"/>
              </a:ext>
            </a:extLst>
          </p:cNvPr>
          <p:cNvSpPr>
            <a:spLocks noGrp="1"/>
          </p:cNvSpPr>
          <p:nvPr>
            <p:ph idx="1"/>
          </p:nvPr>
        </p:nvSpPr>
        <p:spPr/>
        <p:txBody>
          <a:bodyPr/>
          <a:lstStyle/>
          <a:p>
            <a:r>
              <a:rPr lang="en-US" dirty="0"/>
              <a:t>Divide and Conquer:</a:t>
            </a:r>
          </a:p>
          <a:p>
            <a:pPr lvl="1"/>
            <a:r>
              <a:rPr lang="en-US" dirty="0"/>
              <a:t>Recursive algorithm design technique</a:t>
            </a:r>
          </a:p>
          <a:p>
            <a:pPr lvl="1"/>
            <a:r>
              <a:rPr lang="en-US" dirty="0"/>
              <a:t>Solve a large problem by breaking it up into smaller versions of the same problem</a:t>
            </a:r>
          </a:p>
          <a:p>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A3F9FC68-9B35-2B5C-D820-C95667D3E6F8}"/>
                  </a:ext>
                </a:extLst>
              </p14:cNvPr>
              <p14:cNvContentPartPr/>
              <p14:nvPr/>
            </p14:nvContentPartPr>
            <p14:xfrm>
              <a:off x="844920" y="1218600"/>
              <a:ext cx="11246040" cy="1880280"/>
            </p14:xfrm>
          </p:contentPart>
        </mc:Choice>
        <mc:Fallback>
          <p:pic>
            <p:nvPicPr>
              <p:cNvPr id="4" name="Ink 3">
                <a:extLst>
                  <a:ext uri="{FF2B5EF4-FFF2-40B4-BE49-F238E27FC236}">
                    <a16:creationId xmlns:a16="http://schemas.microsoft.com/office/drawing/2014/main" id="{A3F9FC68-9B35-2B5C-D820-C95667D3E6F8}"/>
                  </a:ext>
                </a:extLst>
              </p:cNvPr>
              <p:cNvPicPr/>
              <p:nvPr/>
            </p:nvPicPr>
            <p:blipFill>
              <a:blip r:embed="rId3"/>
              <a:stretch>
                <a:fillRect/>
              </a:stretch>
            </p:blipFill>
            <p:spPr>
              <a:xfrm>
                <a:off x="835560" y="1209240"/>
                <a:ext cx="11264760" cy="1899000"/>
              </a:xfrm>
              <a:prstGeom prst="rect">
                <a:avLst/>
              </a:prstGeom>
            </p:spPr>
          </p:pic>
        </mc:Fallback>
      </mc:AlternateContent>
    </p:spTree>
    <p:extLst>
      <p:ext uri="{BB962C8B-B14F-4D97-AF65-F5344CB8AC3E}">
        <p14:creationId xmlns:p14="http://schemas.microsoft.com/office/powerpoint/2010/main" val="28890080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0676" y="128263"/>
            <a:ext cx="5657193" cy="1325563"/>
          </a:xfrm>
        </p:spPr>
        <p:txBody>
          <a:bodyPr/>
          <a:lstStyle/>
          <a:p>
            <a:r>
              <a:rPr lang="en-US" dirty="0"/>
              <a:t>Divide and Conquer</a:t>
            </a:r>
          </a:p>
        </p:txBody>
      </p:sp>
      <p:sp>
        <p:nvSpPr>
          <p:cNvPr id="3" name="Content Placeholder 2"/>
          <p:cNvSpPr>
            <a:spLocks noGrp="1"/>
          </p:cNvSpPr>
          <p:nvPr>
            <p:ph idx="4294967295"/>
          </p:nvPr>
        </p:nvSpPr>
        <p:spPr>
          <a:xfrm>
            <a:off x="3287049" y="1343386"/>
            <a:ext cx="8904951" cy="5257800"/>
          </a:xfrm>
        </p:spPr>
        <p:txBody>
          <a:bodyPr>
            <a:normAutofit/>
          </a:bodyPr>
          <a:lstStyle/>
          <a:p>
            <a:r>
              <a:rPr lang="en-US" b="1" dirty="0">
                <a:solidFill>
                  <a:srgbClr val="0070C0"/>
                </a:solidFill>
              </a:rPr>
              <a:t>Base Case</a:t>
            </a:r>
            <a:r>
              <a:rPr lang="en-US" b="1" dirty="0"/>
              <a:t>: </a:t>
            </a:r>
          </a:p>
          <a:p>
            <a:pPr lvl="1"/>
            <a:r>
              <a:rPr lang="en-US" dirty="0"/>
              <a:t>If the problem is “small” then solve directly and return</a:t>
            </a:r>
          </a:p>
          <a:p>
            <a:pPr lvl="2"/>
            <a:endParaRPr lang="en-US" sz="2600" b="1" dirty="0">
              <a:solidFill>
                <a:srgbClr val="0070C0"/>
              </a:solidFill>
            </a:endParaRPr>
          </a:p>
          <a:p>
            <a:r>
              <a:rPr lang="en-US" b="1" dirty="0">
                <a:solidFill>
                  <a:srgbClr val="0070C0"/>
                </a:solidFill>
              </a:rPr>
              <a:t>Divide</a:t>
            </a:r>
            <a:r>
              <a:rPr lang="en-US" b="1" dirty="0"/>
              <a:t>: </a:t>
            </a:r>
          </a:p>
          <a:p>
            <a:pPr lvl="1"/>
            <a:r>
              <a:rPr lang="en-US" dirty="0"/>
              <a:t>Break the problem into subproblem(s), each smaller instances</a:t>
            </a:r>
          </a:p>
          <a:p>
            <a:pPr lvl="1"/>
            <a:endParaRPr lang="en-US" sz="2600" b="1" dirty="0"/>
          </a:p>
          <a:p>
            <a:r>
              <a:rPr lang="en-US" b="1" dirty="0">
                <a:solidFill>
                  <a:srgbClr val="0070C0"/>
                </a:solidFill>
              </a:rPr>
              <a:t>Conquer</a:t>
            </a:r>
            <a:r>
              <a:rPr lang="en-US" b="1" dirty="0"/>
              <a:t>:</a:t>
            </a:r>
          </a:p>
          <a:p>
            <a:pPr lvl="1"/>
            <a:r>
              <a:rPr lang="en-US" dirty="0"/>
              <a:t>Solve subproblem(s) recursively</a:t>
            </a:r>
          </a:p>
          <a:p>
            <a:pPr lvl="1"/>
            <a:endParaRPr lang="en-US" sz="2600" dirty="0">
              <a:solidFill>
                <a:srgbClr val="FF33CC"/>
              </a:solidFill>
            </a:endParaRPr>
          </a:p>
          <a:p>
            <a:r>
              <a:rPr lang="en-US" b="1" dirty="0">
                <a:solidFill>
                  <a:srgbClr val="0070C0"/>
                </a:solidFill>
              </a:rPr>
              <a:t>Combine</a:t>
            </a:r>
            <a:r>
              <a:rPr lang="en-US" b="1" dirty="0"/>
              <a:t>:</a:t>
            </a:r>
          </a:p>
          <a:p>
            <a:pPr lvl="1"/>
            <a:r>
              <a:rPr lang="en-US" dirty="0"/>
              <a:t>Use solutions to subproblems to solve original problem</a:t>
            </a:r>
          </a:p>
        </p:txBody>
      </p:sp>
      <p:pic>
        <p:nvPicPr>
          <p:cNvPr id="9" name="Picture 2" descr="The base case is when there is so little yarn in the pile that it is trivial to find the end.">
            <a:extLst>
              <a:ext uri="{FF2B5EF4-FFF2-40B4-BE49-F238E27FC236}">
                <a16:creationId xmlns:a16="http://schemas.microsoft.com/office/drawing/2014/main" id="{FDEAF6E4-A614-E805-EA09-1F12061D6A60}"/>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695434" y="1275164"/>
            <a:ext cx="1397841" cy="1024652"/>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descr="Provided that there is still too much yarn for the base case, we separate the pile of yarn into two piles. ">
            <a:extLst>
              <a:ext uri="{FF2B5EF4-FFF2-40B4-BE49-F238E27FC236}">
                <a16:creationId xmlns:a16="http://schemas.microsoft.com/office/drawing/2014/main" id="{3CC82D1E-2533-ECC2-B62E-317DC3B93625}"/>
              </a:ext>
            </a:extLst>
          </p:cNvPr>
          <p:cNvGrpSpPr/>
          <p:nvPr/>
        </p:nvGrpSpPr>
        <p:grpSpPr>
          <a:xfrm>
            <a:off x="70314" y="2449021"/>
            <a:ext cx="2844845" cy="1048732"/>
            <a:chOff x="8234658" y="3789922"/>
            <a:chExt cx="3957342" cy="1458846"/>
          </a:xfrm>
        </p:grpSpPr>
        <p:pic>
          <p:nvPicPr>
            <p:cNvPr id="12" name="Picture 2">
              <a:extLst>
                <a:ext uri="{FF2B5EF4-FFF2-40B4-BE49-F238E27FC236}">
                  <a16:creationId xmlns:a16="http://schemas.microsoft.com/office/drawing/2014/main" id="{5E10924C-B1C5-4455-DCE9-5F1998DBDACB}"/>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10201827" y="3789922"/>
              <a:ext cx="1990173" cy="1458846"/>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Shape 12">
              <a:extLst>
                <a:ext uri="{FF2B5EF4-FFF2-40B4-BE49-F238E27FC236}">
                  <a16:creationId xmlns:a16="http://schemas.microsoft.com/office/drawing/2014/main" id="{027B0E59-A4F9-1851-A061-37C342E5728B}"/>
                </a:ext>
              </a:extLst>
            </p:cNvPr>
            <p:cNvSpPr/>
            <p:nvPr/>
          </p:nvSpPr>
          <p:spPr>
            <a:xfrm>
              <a:off x="8234658" y="3938416"/>
              <a:ext cx="1976142" cy="1106424"/>
            </a:xfrm>
            <a:custGeom>
              <a:avLst/>
              <a:gdLst>
                <a:gd name="connsiteX0" fmla="*/ 1976142 w 1976142"/>
                <a:gd name="connsiteY0" fmla="*/ 0 h 1106424"/>
                <a:gd name="connsiteX1" fmla="*/ 1793262 w 1976142"/>
                <a:gd name="connsiteY1" fmla="*/ 9144 h 1106424"/>
                <a:gd name="connsiteX2" fmla="*/ 1729254 w 1976142"/>
                <a:gd name="connsiteY2" fmla="*/ 18288 h 1106424"/>
                <a:gd name="connsiteX3" fmla="*/ 1619526 w 1976142"/>
                <a:gd name="connsiteY3" fmla="*/ 91440 h 1106424"/>
                <a:gd name="connsiteX4" fmla="*/ 1546374 w 1976142"/>
                <a:gd name="connsiteY4" fmla="*/ 192024 h 1106424"/>
                <a:gd name="connsiteX5" fmla="*/ 1509798 w 1976142"/>
                <a:gd name="connsiteY5" fmla="*/ 329184 h 1106424"/>
                <a:gd name="connsiteX6" fmla="*/ 1592094 w 1976142"/>
                <a:gd name="connsiteY6" fmla="*/ 384048 h 1106424"/>
                <a:gd name="connsiteX7" fmla="*/ 1756686 w 1976142"/>
                <a:gd name="connsiteY7" fmla="*/ 365760 h 1106424"/>
                <a:gd name="connsiteX8" fmla="*/ 1774974 w 1976142"/>
                <a:gd name="connsiteY8" fmla="*/ 292608 h 1106424"/>
                <a:gd name="connsiteX9" fmla="*/ 1537230 w 1976142"/>
                <a:gd name="connsiteY9" fmla="*/ 201168 h 1106424"/>
                <a:gd name="connsiteX10" fmla="*/ 1409214 w 1976142"/>
                <a:gd name="connsiteY10" fmla="*/ 265176 h 1106424"/>
                <a:gd name="connsiteX11" fmla="*/ 1436646 w 1976142"/>
                <a:gd name="connsiteY11" fmla="*/ 384048 h 1106424"/>
                <a:gd name="connsiteX12" fmla="*/ 1582950 w 1976142"/>
                <a:gd name="connsiteY12" fmla="*/ 411480 h 1106424"/>
                <a:gd name="connsiteX13" fmla="*/ 1610382 w 1976142"/>
                <a:gd name="connsiteY13" fmla="*/ 393192 h 1106424"/>
                <a:gd name="connsiteX14" fmla="*/ 1436646 w 1976142"/>
                <a:gd name="connsiteY14" fmla="*/ 292608 h 1106424"/>
                <a:gd name="connsiteX15" fmla="*/ 1445790 w 1976142"/>
                <a:gd name="connsiteY15" fmla="*/ 694944 h 1106424"/>
                <a:gd name="connsiteX16" fmla="*/ 1729254 w 1976142"/>
                <a:gd name="connsiteY16" fmla="*/ 722376 h 1106424"/>
                <a:gd name="connsiteX17" fmla="*/ 1811550 w 1976142"/>
                <a:gd name="connsiteY17" fmla="*/ 393192 h 1106424"/>
                <a:gd name="connsiteX18" fmla="*/ 1656102 w 1976142"/>
                <a:gd name="connsiteY18" fmla="*/ 347472 h 1106424"/>
                <a:gd name="connsiteX19" fmla="*/ 1683534 w 1976142"/>
                <a:gd name="connsiteY19" fmla="*/ 539496 h 1106424"/>
                <a:gd name="connsiteX20" fmla="*/ 1784118 w 1976142"/>
                <a:gd name="connsiteY20" fmla="*/ 585216 h 1106424"/>
                <a:gd name="connsiteX21" fmla="*/ 1774974 w 1976142"/>
                <a:gd name="connsiteY21" fmla="*/ 448056 h 1106424"/>
                <a:gd name="connsiteX22" fmla="*/ 1464078 w 1976142"/>
                <a:gd name="connsiteY22" fmla="*/ 384048 h 1106424"/>
                <a:gd name="connsiteX23" fmla="*/ 1509798 w 1976142"/>
                <a:gd name="connsiteY23" fmla="*/ 466344 h 1106424"/>
                <a:gd name="connsiteX24" fmla="*/ 1564662 w 1976142"/>
                <a:gd name="connsiteY24" fmla="*/ 475488 h 1106424"/>
                <a:gd name="connsiteX25" fmla="*/ 1473222 w 1976142"/>
                <a:gd name="connsiteY25" fmla="*/ 402336 h 1106424"/>
                <a:gd name="connsiteX26" fmla="*/ 1390926 w 1976142"/>
                <a:gd name="connsiteY26" fmla="*/ 658368 h 1106424"/>
                <a:gd name="connsiteX27" fmla="*/ 1528086 w 1976142"/>
                <a:gd name="connsiteY27" fmla="*/ 676656 h 1106424"/>
                <a:gd name="connsiteX28" fmla="*/ 1573806 w 1976142"/>
                <a:gd name="connsiteY28" fmla="*/ 557784 h 1106424"/>
                <a:gd name="connsiteX29" fmla="*/ 1345206 w 1976142"/>
                <a:gd name="connsiteY29" fmla="*/ 612648 h 1106424"/>
                <a:gd name="connsiteX30" fmla="*/ 1546374 w 1976142"/>
                <a:gd name="connsiteY30" fmla="*/ 841248 h 1106424"/>
                <a:gd name="connsiteX31" fmla="*/ 1665246 w 1976142"/>
                <a:gd name="connsiteY31" fmla="*/ 658368 h 1106424"/>
                <a:gd name="connsiteX32" fmla="*/ 1601238 w 1976142"/>
                <a:gd name="connsiteY32" fmla="*/ 493776 h 1106424"/>
                <a:gd name="connsiteX33" fmla="*/ 1500654 w 1976142"/>
                <a:gd name="connsiteY33" fmla="*/ 448056 h 1106424"/>
                <a:gd name="connsiteX34" fmla="*/ 1464078 w 1976142"/>
                <a:gd name="connsiteY34" fmla="*/ 621792 h 1106424"/>
                <a:gd name="connsiteX35" fmla="*/ 1582950 w 1976142"/>
                <a:gd name="connsiteY35" fmla="*/ 667512 h 1106424"/>
                <a:gd name="connsiteX36" fmla="*/ 1582950 w 1976142"/>
                <a:gd name="connsiteY36" fmla="*/ 411480 h 1106424"/>
                <a:gd name="connsiteX37" fmla="*/ 1445790 w 1976142"/>
                <a:gd name="connsiteY37" fmla="*/ 402336 h 1106424"/>
                <a:gd name="connsiteX38" fmla="*/ 1363494 w 1976142"/>
                <a:gd name="connsiteY38" fmla="*/ 466344 h 1106424"/>
                <a:gd name="connsiteX39" fmla="*/ 1528086 w 1976142"/>
                <a:gd name="connsiteY39" fmla="*/ 813816 h 1106424"/>
                <a:gd name="connsiteX40" fmla="*/ 1765830 w 1976142"/>
                <a:gd name="connsiteY40" fmla="*/ 749808 h 1106424"/>
                <a:gd name="connsiteX41" fmla="*/ 1820694 w 1976142"/>
                <a:gd name="connsiteY41" fmla="*/ 402336 h 1106424"/>
                <a:gd name="connsiteX42" fmla="*/ 1720110 w 1976142"/>
                <a:gd name="connsiteY42" fmla="*/ 384048 h 1106424"/>
                <a:gd name="connsiteX43" fmla="*/ 1692678 w 1976142"/>
                <a:gd name="connsiteY43" fmla="*/ 676656 h 1106424"/>
                <a:gd name="connsiteX44" fmla="*/ 1857270 w 1976142"/>
                <a:gd name="connsiteY44" fmla="*/ 758952 h 1106424"/>
                <a:gd name="connsiteX45" fmla="*/ 1902990 w 1976142"/>
                <a:gd name="connsiteY45" fmla="*/ 640080 h 1106424"/>
                <a:gd name="connsiteX46" fmla="*/ 1592094 w 1976142"/>
                <a:gd name="connsiteY46" fmla="*/ 438912 h 1106424"/>
                <a:gd name="connsiteX47" fmla="*/ 1482366 w 1976142"/>
                <a:gd name="connsiteY47" fmla="*/ 740664 h 1106424"/>
                <a:gd name="connsiteX48" fmla="*/ 1546374 w 1976142"/>
                <a:gd name="connsiteY48" fmla="*/ 786384 h 1106424"/>
                <a:gd name="connsiteX49" fmla="*/ 1619526 w 1976142"/>
                <a:gd name="connsiteY49" fmla="*/ 685800 h 1106424"/>
                <a:gd name="connsiteX50" fmla="*/ 1354350 w 1976142"/>
                <a:gd name="connsiteY50" fmla="*/ 484632 h 1106424"/>
                <a:gd name="connsiteX51" fmla="*/ 1354350 w 1976142"/>
                <a:gd name="connsiteY51" fmla="*/ 832104 h 1106424"/>
                <a:gd name="connsiteX52" fmla="*/ 1482366 w 1976142"/>
                <a:gd name="connsiteY52" fmla="*/ 877824 h 1106424"/>
                <a:gd name="connsiteX53" fmla="*/ 1573806 w 1976142"/>
                <a:gd name="connsiteY53" fmla="*/ 758952 h 1106424"/>
                <a:gd name="connsiteX54" fmla="*/ 1509798 w 1976142"/>
                <a:gd name="connsiteY54" fmla="*/ 530352 h 1106424"/>
                <a:gd name="connsiteX55" fmla="*/ 1445790 w 1976142"/>
                <a:gd name="connsiteY55" fmla="*/ 804672 h 1106424"/>
                <a:gd name="connsiteX56" fmla="*/ 1546374 w 1976142"/>
                <a:gd name="connsiteY56" fmla="*/ 822960 h 1106424"/>
                <a:gd name="connsiteX57" fmla="*/ 1555518 w 1976142"/>
                <a:gd name="connsiteY57" fmla="*/ 640080 h 1106424"/>
                <a:gd name="connsiteX58" fmla="*/ 1189758 w 1976142"/>
                <a:gd name="connsiteY58" fmla="*/ 576072 h 1106424"/>
                <a:gd name="connsiteX59" fmla="*/ 1125750 w 1976142"/>
                <a:gd name="connsiteY59" fmla="*/ 603504 h 1106424"/>
                <a:gd name="connsiteX60" fmla="*/ 1061742 w 1976142"/>
                <a:gd name="connsiteY60" fmla="*/ 612648 h 1106424"/>
                <a:gd name="connsiteX61" fmla="*/ 503958 w 1976142"/>
                <a:gd name="connsiteY61" fmla="*/ 621792 h 1106424"/>
                <a:gd name="connsiteX62" fmla="*/ 339366 w 1976142"/>
                <a:gd name="connsiteY62" fmla="*/ 694944 h 1106424"/>
                <a:gd name="connsiteX63" fmla="*/ 302790 w 1976142"/>
                <a:gd name="connsiteY63" fmla="*/ 722376 h 1106424"/>
                <a:gd name="connsiteX64" fmla="*/ 513102 w 1976142"/>
                <a:gd name="connsiteY64" fmla="*/ 822960 h 1106424"/>
                <a:gd name="connsiteX65" fmla="*/ 394230 w 1976142"/>
                <a:gd name="connsiteY65" fmla="*/ 649224 h 1106424"/>
                <a:gd name="connsiteX66" fmla="*/ 348510 w 1976142"/>
                <a:gd name="connsiteY66" fmla="*/ 694944 h 1106424"/>
                <a:gd name="connsiteX67" fmla="*/ 476526 w 1976142"/>
                <a:gd name="connsiteY67" fmla="*/ 640080 h 1106424"/>
                <a:gd name="connsiteX68" fmla="*/ 366798 w 1976142"/>
                <a:gd name="connsiteY68" fmla="*/ 484632 h 1106424"/>
                <a:gd name="connsiteX69" fmla="*/ 238782 w 1976142"/>
                <a:gd name="connsiteY69" fmla="*/ 475488 h 1106424"/>
                <a:gd name="connsiteX70" fmla="*/ 220494 w 1976142"/>
                <a:gd name="connsiteY70" fmla="*/ 685800 h 1106424"/>
                <a:gd name="connsiteX71" fmla="*/ 321078 w 1976142"/>
                <a:gd name="connsiteY71" fmla="*/ 704088 h 1106424"/>
                <a:gd name="connsiteX72" fmla="*/ 366798 w 1976142"/>
                <a:gd name="connsiteY72" fmla="*/ 530352 h 1106424"/>
                <a:gd name="connsiteX73" fmla="*/ 211350 w 1976142"/>
                <a:gd name="connsiteY73" fmla="*/ 457200 h 1106424"/>
                <a:gd name="connsiteX74" fmla="*/ 129054 w 1976142"/>
                <a:gd name="connsiteY74" fmla="*/ 676656 h 1106424"/>
                <a:gd name="connsiteX75" fmla="*/ 339366 w 1976142"/>
                <a:gd name="connsiteY75" fmla="*/ 813816 h 1106424"/>
                <a:gd name="connsiteX76" fmla="*/ 394230 w 1976142"/>
                <a:gd name="connsiteY76" fmla="*/ 786384 h 1106424"/>
                <a:gd name="connsiteX77" fmla="*/ 348510 w 1976142"/>
                <a:gd name="connsiteY77" fmla="*/ 603504 h 1106424"/>
                <a:gd name="connsiteX78" fmla="*/ 238782 w 1976142"/>
                <a:gd name="connsiteY78" fmla="*/ 585216 h 1106424"/>
                <a:gd name="connsiteX79" fmla="*/ 357654 w 1976142"/>
                <a:gd name="connsiteY79" fmla="*/ 804672 h 1106424"/>
                <a:gd name="connsiteX80" fmla="*/ 467382 w 1976142"/>
                <a:gd name="connsiteY80" fmla="*/ 731520 h 1106424"/>
                <a:gd name="connsiteX81" fmla="*/ 330222 w 1976142"/>
                <a:gd name="connsiteY81" fmla="*/ 530352 h 1106424"/>
                <a:gd name="connsiteX82" fmla="*/ 302790 w 1976142"/>
                <a:gd name="connsiteY82" fmla="*/ 868680 h 1106424"/>
                <a:gd name="connsiteX83" fmla="*/ 394230 w 1976142"/>
                <a:gd name="connsiteY83" fmla="*/ 758952 h 1106424"/>
                <a:gd name="connsiteX84" fmla="*/ 403374 w 1976142"/>
                <a:gd name="connsiteY84" fmla="*/ 795528 h 1106424"/>
                <a:gd name="connsiteX85" fmla="*/ 449094 w 1976142"/>
                <a:gd name="connsiteY85" fmla="*/ 777240 h 1106424"/>
                <a:gd name="connsiteX86" fmla="*/ 412518 w 1976142"/>
                <a:gd name="connsiteY86" fmla="*/ 731520 h 1106424"/>
                <a:gd name="connsiteX87" fmla="*/ 385086 w 1976142"/>
                <a:gd name="connsiteY87" fmla="*/ 804672 h 1106424"/>
                <a:gd name="connsiteX88" fmla="*/ 439950 w 1976142"/>
                <a:gd name="connsiteY88" fmla="*/ 841248 h 1106424"/>
                <a:gd name="connsiteX89" fmla="*/ 449094 w 1976142"/>
                <a:gd name="connsiteY89" fmla="*/ 566928 h 1106424"/>
                <a:gd name="connsiteX90" fmla="*/ 513102 w 1976142"/>
                <a:gd name="connsiteY90" fmla="*/ 466344 h 1106424"/>
                <a:gd name="connsiteX91" fmla="*/ 1016022 w 1976142"/>
                <a:gd name="connsiteY91" fmla="*/ 329184 h 1106424"/>
                <a:gd name="connsiteX92" fmla="*/ 1363494 w 1976142"/>
                <a:gd name="connsiteY92" fmla="*/ 265176 h 1106424"/>
                <a:gd name="connsiteX93" fmla="*/ 1528086 w 1976142"/>
                <a:gd name="connsiteY93" fmla="*/ 274320 h 1106424"/>
                <a:gd name="connsiteX94" fmla="*/ 1518942 w 1976142"/>
                <a:gd name="connsiteY94" fmla="*/ 338328 h 1106424"/>
                <a:gd name="connsiteX95" fmla="*/ 1528086 w 1976142"/>
                <a:gd name="connsiteY95" fmla="*/ 411480 h 1106424"/>
                <a:gd name="connsiteX96" fmla="*/ 1573806 w 1976142"/>
                <a:gd name="connsiteY96" fmla="*/ 576072 h 1106424"/>
                <a:gd name="connsiteX97" fmla="*/ 1592094 w 1976142"/>
                <a:gd name="connsiteY97" fmla="*/ 612648 h 1106424"/>
                <a:gd name="connsiteX98" fmla="*/ 1619526 w 1976142"/>
                <a:gd name="connsiteY98" fmla="*/ 621792 h 1106424"/>
                <a:gd name="connsiteX99" fmla="*/ 1656102 w 1976142"/>
                <a:gd name="connsiteY99" fmla="*/ 685800 h 1106424"/>
                <a:gd name="connsiteX100" fmla="*/ 1710966 w 1976142"/>
                <a:gd name="connsiteY100" fmla="*/ 694944 h 1106424"/>
                <a:gd name="connsiteX101" fmla="*/ 1692678 w 1976142"/>
                <a:gd name="connsiteY101" fmla="*/ 740664 h 1106424"/>
                <a:gd name="connsiteX102" fmla="*/ 1637814 w 1976142"/>
                <a:gd name="connsiteY102" fmla="*/ 758952 h 1106424"/>
                <a:gd name="connsiteX103" fmla="*/ 1564662 w 1976142"/>
                <a:gd name="connsiteY103" fmla="*/ 795528 h 1106424"/>
                <a:gd name="connsiteX104" fmla="*/ 1326918 w 1976142"/>
                <a:gd name="connsiteY104" fmla="*/ 941832 h 1106424"/>
                <a:gd name="connsiteX105" fmla="*/ 1208046 w 1976142"/>
                <a:gd name="connsiteY105" fmla="*/ 969264 h 1106424"/>
                <a:gd name="connsiteX106" fmla="*/ 1052598 w 1976142"/>
                <a:gd name="connsiteY106" fmla="*/ 1033272 h 1106424"/>
                <a:gd name="connsiteX107" fmla="*/ 897150 w 1976142"/>
                <a:gd name="connsiteY107" fmla="*/ 1051560 h 1106424"/>
                <a:gd name="connsiteX108" fmla="*/ 650262 w 1976142"/>
                <a:gd name="connsiteY108" fmla="*/ 1005840 h 1106424"/>
                <a:gd name="connsiteX109" fmla="*/ 522246 w 1976142"/>
                <a:gd name="connsiteY109" fmla="*/ 896112 h 1106424"/>
                <a:gd name="connsiteX110" fmla="*/ 494814 w 1976142"/>
                <a:gd name="connsiteY110" fmla="*/ 859536 h 1106424"/>
                <a:gd name="connsiteX111" fmla="*/ 458238 w 1976142"/>
                <a:gd name="connsiteY111" fmla="*/ 841248 h 1106424"/>
                <a:gd name="connsiteX112" fmla="*/ 275358 w 1976142"/>
                <a:gd name="connsiteY112" fmla="*/ 722376 h 1106424"/>
                <a:gd name="connsiteX113" fmla="*/ 202206 w 1976142"/>
                <a:gd name="connsiteY113" fmla="*/ 694944 h 1106424"/>
                <a:gd name="connsiteX114" fmla="*/ 92478 w 1976142"/>
                <a:gd name="connsiteY114" fmla="*/ 804672 h 1106424"/>
                <a:gd name="connsiteX115" fmla="*/ 174774 w 1976142"/>
                <a:gd name="connsiteY115" fmla="*/ 868680 h 1106424"/>
                <a:gd name="connsiteX116" fmla="*/ 458238 w 1976142"/>
                <a:gd name="connsiteY116" fmla="*/ 795528 h 1106424"/>
                <a:gd name="connsiteX117" fmla="*/ 220494 w 1976142"/>
                <a:gd name="connsiteY117" fmla="*/ 685800 h 1106424"/>
                <a:gd name="connsiteX118" fmla="*/ 247926 w 1976142"/>
                <a:gd name="connsiteY118" fmla="*/ 1014984 h 1106424"/>
                <a:gd name="connsiteX119" fmla="*/ 385086 w 1976142"/>
                <a:gd name="connsiteY119" fmla="*/ 987552 h 1106424"/>
                <a:gd name="connsiteX120" fmla="*/ 412518 w 1976142"/>
                <a:gd name="connsiteY120" fmla="*/ 832104 h 1106424"/>
                <a:gd name="connsiteX121" fmla="*/ 110766 w 1976142"/>
                <a:gd name="connsiteY121" fmla="*/ 658368 h 1106424"/>
                <a:gd name="connsiteX122" fmla="*/ 101622 w 1976142"/>
                <a:gd name="connsiteY122" fmla="*/ 886968 h 1106424"/>
                <a:gd name="connsiteX123" fmla="*/ 211350 w 1976142"/>
                <a:gd name="connsiteY123" fmla="*/ 740664 h 1106424"/>
                <a:gd name="connsiteX124" fmla="*/ 83334 w 1976142"/>
                <a:gd name="connsiteY124" fmla="*/ 923544 h 1106424"/>
                <a:gd name="connsiteX125" fmla="*/ 238782 w 1976142"/>
                <a:gd name="connsiteY125" fmla="*/ 1106424 h 1106424"/>
                <a:gd name="connsiteX126" fmla="*/ 476526 w 1976142"/>
                <a:gd name="connsiteY126" fmla="*/ 960120 h 1106424"/>
                <a:gd name="connsiteX127" fmla="*/ 247926 w 1976142"/>
                <a:gd name="connsiteY127" fmla="*/ 630936 h 1106424"/>
                <a:gd name="connsiteX128" fmla="*/ 202206 w 1976142"/>
                <a:gd name="connsiteY128" fmla="*/ 612648 h 1106424"/>
                <a:gd name="connsiteX129" fmla="*/ 220494 w 1976142"/>
                <a:gd name="connsiteY129" fmla="*/ 941832 h 1106424"/>
                <a:gd name="connsiteX130" fmla="*/ 293646 w 1976142"/>
                <a:gd name="connsiteY130" fmla="*/ 950976 h 1106424"/>
                <a:gd name="connsiteX131" fmla="*/ 330222 w 1976142"/>
                <a:gd name="connsiteY131" fmla="*/ 795528 h 1106424"/>
                <a:gd name="connsiteX132" fmla="*/ 275358 w 1976142"/>
                <a:gd name="connsiteY132" fmla="*/ 795528 h 1106424"/>
                <a:gd name="connsiteX133" fmla="*/ 403374 w 1976142"/>
                <a:gd name="connsiteY133" fmla="*/ 786384 h 1106424"/>
                <a:gd name="connsiteX134" fmla="*/ 485670 w 1976142"/>
                <a:gd name="connsiteY134" fmla="*/ 777240 h 1106424"/>
                <a:gd name="connsiteX135" fmla="*/ 558822 w 1976142"/>
                <a:gd name="connsiteY135" fmla="*/ 768096 h 1106424"/>
                <a:gd name="connsiteX136" fmla="*/ 769134 w 1976142"/>
                <a:gd name="connsiteY136" fmla="*/ 758952 h 1106424"/>
                <a:gd name="connsiteX137" fmla="*/ 906294 w 1976142"/>
                <a:gd name="connsiteY137" fmla="*/ 740664 h 1106424"/>
                <a:gd name="connsiteX138" fmla="*/ 1153182 w 1976142"/>
                <a:gd name="connsiteY138" fmla="*/ 731520 h 1106424"/>
                <a:gd name="connsiteX139" fmla="*/ 1345206 w 1976142"/>
                <a:gd name="connsiteY139" fmla="*/ 713232 h 1106424"/>
                <a:gd name="connsiteX140" fmla="*/ 1436646 w 1976142"/>
                <a:gd name="connsiteY140" fmla="*/ 685800 h 1106424"/>
                <a:gd name="connsiteX141" fmla="*/ 1500654 w 1976142"/>
                <a:gd name="connsiteY141" fmla="*/ 676656 h 1106424"/>
                <a:gd name="connsiteX142" fmla="*/ 1555518 w 1976142"/>
                <a:gd name="connsiteY142" fmla="*/ 658368 h 110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976142" h="1106424">
                  <a:moveTo>
                    <a:pt x="1976142" y="0"/>
                  </a:moveTo>
                  <a:cubicBezTo>
                    <a:pt x="1915182" y="3048"/>
                    <a:pt x="1854131" y="4635"/>
                    <a:pt x="1793262" y="9144"/>
                  </a:cubicBezTo>
                  <a:cubicBezTo>
                    <a:pt x="1771768" y="10736"/>
                    <a:pt x="1749701" y="11472"/>
                    <a:pt x="1729254" y="18288"/>
                  </a:cubicBezTo>
                  <a:cubicBezTo>
                    <a:pt x="1711411" y="24236"/>
                    <a:pt x="1623701" y="86987"/>
                    <a:pt x="1619526" y="91440"/>
                  </a:cubicBezTo>
                  <a:cubicBezTo>
                    <a:pt x="1591172" y="121685"/>
                    <a:pt x="1570758" y="158496"/>
                    <a:pt x="1546374" y="192024"/>
                  </a:cubicBezTo>
                  <a:cubicBezTo>
                    <a:pt x="1516604" y="311103"/>
                    <a:pt x="1530864" y="265985"/>
                    <a:pt x="1509798" y="329184"/>
                  </a:cubicBezTo>
                  <a:cubicBezTo>
                    <a:pt x="1537230" y="347472"/>
                    <a:pt x="1561608" y="371495"/>
                    <a:pt x="1592094" y="384048"/>
                  </a:cubicBezTo>
                  <a:cubicBezTo>
                    <a:pt x="1654628" y="409797"/>
                    <a:pt x="1696349" y="383861"/>
                    <a:pt x="1756686" y="365760"/>
                  </a:cubicBezTo>
                  <a:cubicBezTo>
                    <a:pt x="1762782" y="341376"/>
                    <a:pt x="1787296" y="314515"/>
                    <a:pt x="1774974" y="292608"/>
                  </a:cubicBezTo>
                  <a:cubicBezTo>
                    <a:pt x="1725172" y="204071"/>
                    <a:pt x="1617482" y="211868"/>
                    <a:pt x="1537230" y="201168"/>
                  </a:cubicBezTo>
                  <a:cubicBezTo>
                    <a:pt x="1494558" y="222504"/>
                    <a:pt x="1446468" y="235373"/>
                    <a:pt x="1409214" y="265176"/>
                  </a:cubicBezTo>
                  <a:cubicBezTo>
                    <a:pt x="1376294" y="291512"/>
                    <a:pt x="1425447" y="377889"/>
                    <a:pt x="1436646" y="384048"/>
                  </a:cubicBezTo>
                  <a:cubicBezTo>
                    <a:pt x="1480122" y="407960"/>
                    <a:pt x="1534182" y="402336"/>
                    <a:pt x="1582950" y="411480"/>
                  </a:cubicBezTo>
                  <a:cubicBezTo>
                    <a:pt x="1592094" y="405384"/>
                    <a:pt x="1614138" y="403520"/>
                    <a:pt x="1610382" y="393192"/>
                  </a:cubicBezTo>
                  <a:cubicBezTo>
                    <a:pt x="1572794" y="289824"/>
                    <a:pt x="1528174" y="307863"/>
                    <a:pt x="1436646" y="292608"/>
                  </a:cubicBezTo>
                  <a:cubicBezTo>
                    <a:pt x="1410348" y="392539"/>
                    <a:pt x="1325437" y="603866"/>
                    <a:pt x="1445790" y="694944"/>
                  </a:cubicBezTo>
                  <a:cubicBezTo>
                    <a:pt x="1521487" y="752228"/>
                    <a:pt x="1634766" y="713232"/>
                    <a:pt x="1729254" y="722376"/>
                  </a:cubicBezTo>
                  <a:cubicBezTo>
                    <a:pt x="1788776" y="621933"/>
                    <a:pt x="1972251" y="486934"/>
                    <a:pt x="1811550" y="393192"/>
                  </a:cubicBezTo>
                  <a:cubicBezTo>
                    <a:pt x="1764897" y="365978"/>
                    <a:pt x="1707918" y="362712"/>
                    <a:pt x="1656102" y="347472"/>
                  </a:cubicBezTo>
                  <a:cubicBezTo>
                    <a:pt x="1568750" y="369310"/>
                    <a:pt x="1554311" y="360020"/>
                    <a:pt x="1683534" y="539496"/>
                  </a:cubicBezTo>
                  <a:cubicBezTo>
                    <a:pt x="1705053" y="569384"/>
                    <a:pt x="1750590" y="569976"/>
                    <a:pt x="1784118" y="585216"/>
                  </a:cubicBezTo>
                  <a:cubicBezTo>
                    <a:pt x="1781070" y="539496"/>
                    <a:pt x="1809764" y="477876"/>
                    <a:pt x="1774974" y="448056"/>
                  </a:cubicBezTo>
                  <a:cubicBezTo>
                    <a:pt x="1629840" y="323656"/>
                    <a:pt x="1580083" y="350904"/>
                    <a:pt x="1464078" y="384048"/>
                  </a:cubicBezTo>
                  <a:cubicBezTo>
                    <a:pt x="1479318" y="411480"/>
                    <a:pt x="1486578" y="445235"/>
                    <a:pt x="1509798" y="466344"/>
                  </a:cubicBezTo>
                  <a:cubicBezTo>
                    <a:pt x="1523517" y="478816"/>
                    <a:pt x="1573861" y="491585"/>
                    <a:pt x="1564662" y="475488"/>
                  </a:cubicBezTo>
                  <a:cubicBezTo>
                    <a:pt x="1545296" y="441597"/>
                    <a:pt x="1503702" y="426720"/>
                    <a:pt x="1473222" y="402336"/>
                  </a:cubicBezTo>
                  <a:cubicBezTo>
                    <a:pt x="1372225" y="436002"/>
                    <a:pt x="1298296" y="442231"/>
                    <a:pt x="1390926" y="658368"/>
                  </a:cubicBezTo>
                  <a:cubicBezTo>
                    <a:pt x="1409095" y="700763"/>
                    <a:pt x="1482366" y="670560"/>
                    <a:pt x="1528086" y="676656"/>
                  </a:cubicBezTo>
                  <a:cubicBezTo>
                    <a:pt x="1543326" y="637032"/>
                    <a:pt x="1586590" y="598267"/>
                    <a:pt x="1573806" y="557784"/>
                  </a:cubicBezTo>
                  <a:cubicBezTo>
                    <a:pt x="1521546" y="392295"/>
                    <a:pt x="1358496" y="601256"/>
                    <a:pt x="1345206" y="612648"/>
                  </a:cubicBezTo>
                  <a:cubicBezTo>
                    <a:pt x="1350351" y="705259"/>
                    <a:pt x="1311727" y="930966"/>
                    <a:pt x="1546374" y="841248"/>
                  </a:cubicBezTo>
                  <a:cubicBezTo>
                    <a:pt x="1614285" y="815282"/>
                    <a:pt x="1625622" y="719328"/>
                    <a:pt x="1665246" y="658368"/>
                  </a:cubicBezTo>
                  <a:cubicBezTo>
                    <a:pt x="1643910" y="603504"/>
                    <a:pt x="1637518" y="540134"/>
                    <a:pt x="1601238" y="493776"/>
                  </a:cubicBezTo>
                  <a:cubicBezTo>
                    <a:pt x="1578540" y="464773"/>
                    <a:pt x="1527578" y="422927"/>
                    <a:pt x="1500654" y="448056"/>
                  </a:cubicBezTo>
                  <a:cubicBezTo>
                    <a:pt x="1457389" y="488437"/>
                    <a:pt x="1476270" y="563880"/>
                    <a:pt x="1464078" y="621792"/>
                  </a:cubicBezTo>
                  <a:cubicBezTo>
                    <a:pt x="1503702" y="637032"/>
                    <a:pt x="1541764" y="677809"/>
                    <a:pt x="1582950" y="667512"/>
                  </a:cubicBezTo>
                  <a:cubicBezTo>
                    <a:pt x="1804811" y="612047"/>
                    <a:pt x="1723047" y="490868"/>
                    <a:pt x="1582950" y="411480"/>
                  </a:cubicBezTo>
                  <a:cubicBezTo>
                    <a:pt x="1543084" y="388889"/>
                    <a:pt x="1491510" y="405384"/>
                    <a:pt x="1445790" y="402336"/>
                  </a:cubicBezTo>
                  <a:cubicBezTo>
                    <a:pt x="1418358" y="423672"/>
                    <a:pt x="1369898" y="432187"/>
                    <a:pt x="1363494" y="466344"/>
                  </a:cubicBezTo>
                  <a:cubicBezTo>
                    <a:pt x="1321777" y="688837"/>
                    <a:pt x="1393124" y="696849"/>
                    <a:pt x="1528086" y="813816"/>
                  </a:cubicBezTo>
                  <a:cubicBezTo>
                    <a:pt x="1607334" y="792480"/>
                    <a:pt x="1701133" y="800303"/>
                    <a:pt x="1765830" y="749808"/>
                  </a:cubicBezTo>
                  <a:cubicBezTo>
                    <a:pt x="1910387" y="636983"/>
                    <a:pt x="1963008" y="509071"/>
                    <a:pt x="1820694" y="402336"/>
                  </a:cubicBezTo>
                  <a:cubicBezTo>
                    <a:pt x="1793432" y="381889"/>
                    <a:pt x="1753638" y="390144"/>
                    <a:pt x="1720110" y="384048"/>
                  </a:cubicBezTo>
                  <a:cubicBezTo>
                    <a:pt x="1631412" y="472746"/>
                    <a:pt x="1574924" y="494672"/>
                    <a:pt x="1692678" y="676656"/>
                  </a:cubicBezTo>
                  <a:cubicBezTo>
                    <a:pt x="1726001" y="728155"/>
                    <a:pt x="1802406" y="731520"/>
                    <a:pt x="1857270" y="758952"/>
                  </a:cubicBezTo>
                  <a:cubicBezTo>
                    <a:pt x="1872510" y="719328"/>
                    <a:pt x="1921976" y="678052"/>
                    <a:pt x="1902990" y="640080"/>
                  </a:cubicBezTo>
                  <a:cubicBezTo>
                    <a:pt x="1799482" y="433064"/>
                    <a:pt x="1745025" y="451656"/>
                    <a:pt x="1592094" y="438912"/>
                  </a:cubicBezTo>
                  <a:cubicBezTo>
                    <a:pt x="1556536" y="503563"/>
                    <a:pt x="1448762" y="639851"/>
                    <a:pt x="1482366" y="740664"/>
                  </a:cubicBezTo>
                  <a:cubicBezTo>
                    <a:pt x="1490657" y="765538"/>
                    <a:pt x="1525038" y="771144"/>
                    <a:pt x="1546374" y="786384"/>
                  </a:cubicBezTo>
                  <a:cubicBezTo>
                    <a:pt x="1570758" y="752856"/>
                    <a:pt x="1623792" y="727037"/>
                    <a:pt x="1619526" y="685800"/>
                  </a:cubicBezTo>
                  <a:cubicBezTo>
                    <a:pt x="1600077" y="497794"/>
                    <a:pt x="1485172" y="513703"/>
                    <a:pt x="1354350" y="484632"/>
                  </a:cubicBezTo>
                  <a:cubicBezTo>
                    <a:pt x="1286163" y="629528"/>
                    <a:pt x="1219989" y="673313"/>
                    <a:pt x="1354350" y="832104"/>
                  </a:cubicBezTo>
                  <a:cubicBezTo>
                    <a:pt x="1383619" y="866694"/>
                    <a:pt x="1439694" y="862584"/>
                    <a:pt x="1482366" y="877824"/>
                  </a:cubicBezTo>
                  <a:cubicBezTo>
                    <a:pt x="1512846" y="838200"/>
                    <a:pt x="1561681" y="807450"/>
                    <a:pt x="1573806" y="758952"/>
                  </a:cubicBezTo>
                  <a:cubicBezTo>
                    <a:pt x="1606974" y="626279"/>
                    <a:pt x="1570743" y="603486"/>
                    <a:pt x="1509798" y="530352"/>
                  </a:cubicBezTo>
                  <a:cubicBezTo>
                    <a:pt x="1424848" y="628372"/>
                    <a:pt x="1314599" y="673481"/>
                    <a:pt x="1445790" y="804672"/>
                  </a:cubicBezTo>
                  <a:cubicBezTo>
                    <a:pt x="1469887" y="828769"/>
                    <a:pt x="1512846" y="816864"/>
                    <a:pt x="1546374" y="822960"/>
                  </a:cubicBezTo>
                  <a:cubicBezTo>
                    <a:pt x="1549422" y="762000"/>
                    <a:pt x="1584341" y="693882"/>
                    <a:pt x="1555518" y="640080"/>
                  </a:cubicBezTo>
                  <a:cubicBezTo>
                    <a:pt x="1495403" y="527865"/>
                    <a:pt x="1260021" y="573144"/>
                    <a:pt x="1189758" y="576072"/>
                  </a:cubicBezTo>
                  <a:cubicBezTo>
                    <a:pt x="1168422" y="585216"/>
                    <a:pt x="1148070" y="597127"/>
                    <a:pt x="1125750" y="603504"/>
                  </a:cubicBezTo>
                  <a:cubicBezTo>
                    <a:pt x="1105027" y="609425"/>
                    <a:pt x="1083285" y="612014"/>
                    <a:pt x="1061742" y="612648"/>
                  </a:cubicBezTo>
                  <a:cubicBezTo>
                    <a:pt x="875869" y="618115"/>
                    <a:pt x="689886" y="618744"/>
                    <a:pt x="503958" y="621792"/>
                  </a:cubicBezTo>
                  <a:cubicBezTo>
                    <a:pt x="449094" y="646176"/>
                    <a:pt x="393066" y="668094"/>
                    <a:pt x="339366" y="694944"/>
                  </a:cubicBezTo>
                  <a:cubicBezTo>
                    <a:pt x="325735" y="701760"/>
                    <a:pt x="295974" y="708745"/>
                    <a:pt x="302790" y="722376"/>
                  </a:cubicBezTo>
                  <a:cubicBezTo>
                    <a:pt x="351791" y="820377"/>
                    <a:pt x="424324" y="809302"/>
                    <a:pt x="513102" y="822960"/>
                  </a:cubicBezTo>
                  <a:cubicBezTo>
                    <a:pt x="543887" y="730606"/>
                    <a:pt x="566783" y="718245"/>
                    <a:pt x="394230" y="649224"/>
                  </a:cubicBezTo>
                  <a:cubicBezTo>
                    <a:pt x="374219" y="641220"/>
                    <a:pt x="363750" y="679704"/>
                    <a:pt x="348510" y="694944"/>
                  </a:cubicBezTo>
                  <a:cubicBezTo>
                    <a:pt x="367255" y="710565"/>
                    <a:pt x="507736" y="858553"/>
                    <a:pt x="476526" y="640080"/>
                  </a:cubicBezTo>
                  <a:cubicBezTo>
                    <a:pt x="467556" y="577293"/>
                    <a:pt x="418945" y="520734"/>
                    <a:pt x="366798" y="484632"/>
                  </a:cubicBezTo>
                  <a:cubicBezTo>
                    <a:pt x="331624" y="460281"/>
                    <a:pt x="281454" y="478536"/>
                    <a:pt x="238782" y="475488"/>
                  </a:cubicBezTo>
                  <a:cubicBezTo>
                    <a:pt x="227488" y="512193"/>
                    <a:pt x="168266" y="637589"/>
                    <a:pt x="220494" y="685800"/>
                  </a:cubicBezTo>
                  <a:cubicBezTo>
                    <a:pt x="245534" y="708914"/>
                    <a:pt x="287550" y="697992"/>
                    <a:pt x="321078" y="704088"/>
                  </a:cubicBezTo>
                  <a:cubicBezTo>
                    <a:pt x="336318" y="646176"/>
                    <a:pt x="391119" y="585074"/>
                    <a:pt x="366798" y="530352"/>
                  </a:cubicBezTo>
                  <a:cubicBezTo>
                    <a:pt x="343540" y="478021"/>
                    <a:pt x="260122" y="427187"/>
                    <a:pt x="211350" y="457200"/>
                  </a:cubicBezTo>
                  <a:cubicBezTo>
                    <a:pt x="144813" y="498146"/>
                    <a:pt x="156486" y="603504"/>
                    <a:pt x="129054" y="676656"/>
                  </a:cubicBezTo>
                  <a:cubicBezTo>
                    <a:pt x="199158" y="722376"/>
                    <a:pt x="262030" y="781815"/>
                    <a:pt x="339366" y="813816"/>
                  </a:cubicBezTo>
                  <a:cubicBezTo>
                    <a:pt x="358259" y="821634"/>
                    <a:pt x="393342" y="806811"/>
                    <a:pt x="394230" y="786384"/>
                  </a:cubicBezTo>
                  <a:cubicBezTo>
                    <a:pt x="396959" y="723607"/>
                    <a:pt x="386931" y="653225"/>
                    <a:pt x="348510" y="603504"/>
                  </a:cubicBezTo>
                  <a:cubicBezTo>
                    <a:pt x="325837" y="574163"/>
                    <a:pt x="275358" y="591312"/>
                    <a:pt x="238782" y="585216"/>
                  </a:cubicBezTo>
                  <a:cubicBezTo>
                    <a:pt x="228340" y="679190"/>
                    <a:pt x="198097" y="761714"/>
                    <a:pt x="357654" y="804672"/>
                  </a:cubicBezTo>
                  <a:cubicBezTo>
                    <a:pt x="400101" y="816100"/>
                    <a:pt x="430806" y="755904"/>
                    <a:pt x="467382" y="731520"/>
                  </a:cubicBezTo>
                  <a:cubicBezTo>
                    <a:pt x="421662" y="664464"/>
                    <a:pt x="409529" y="513111"/>
                    <a:pt x="330222" y="530352"/>
                  </a:cubicBezTo>
                  <a:cubicBezTo>
                    <a:pt x="129433" y="574002"/>
                    <a:pt x="265516" y="794132"/>
                    <a:pt x="302790" y="868680"/>
                  </a:cubicBezTo>
                  <a:cubicBezTo>
                    <a:pt x="333270" y="832104"/>
                    <a:pt x="355725" y="786956"/>
                    <a:pt x="394230" y="758952"/>
                  </a:cubicBezTo>
                  <a:cubicBezTo>
                    <a:pt x="404394" y="751560"/>
                    <a:pt x="391452" y="791554"/>
                    <a:pt x="403374" y="795528"/>
                  </a:cubicBezTo>
                  <a:cubicBezTo>
                    <a:pt x="418946" y="800719"/>
                    <a:pt x="433854" y="783336"/>
                    <a:pt x="449094" y="777240"/>
                  </a:cubicBezTo>
                  <a:cubicBezTo>
                    <a:pt x="547245" y="949004"/>
                    <a:pt x="428167" y="737211"/>
                    <a:pt x="412518" y="731520"/>
                  </a:cubicBezTo>
                  <a:cubicBezTo>
                    <a:pt x="388044" y="722620"/>
                    <a:pt x="394230" y="780288"/>
                    <a:pt x="385086" y="804672"/>
                  </a:cubicBezTo>
                  <a:cubicBezTo>
                    <a:pt x="403374" y="816864"/>
                    <a:pt x="431628" y="861591"/>
                    <a:pt x="439950" y="841248"/>
                  </a:cubicBezTo>
                  <a:cubicBezTo>
                    <a:pt x="509537" y="671147"/>
                    <a:pt x="496122" y="660984"/>
                    <a:pt x="449094" y="566928"/>
                  </a:cubicBezTo>
                  <a:cubicBezTo>
                    <a:pt x="470430" y="533400"/>
                    <a:pt x="479528" y="487608"/>
                    <a:pt x="513102" y="466344"/>
                  </a:cubicBezTo>
                  <a:cubicBezTo>
                    <a:pt x="603198" y="409283"/>
                    <a:pt x="939463" y="343287"/>
                    <a:pt x="1016022" y="329184"/>
                  </a:cubicBezTo>
                  <a:lnTo>
                    <a:pt x="1363494" y="265176"/>
                  </a:lnTo>
                  <a:cubicBezTo>
                    <a:pt x="1418358" y="268224"/>
                    <a:pt x="1478367" y="250923"/>
                    <a:pt x="1528086" y="274320"/>
                  </a:cubicBezTo>
                  <a:cubicBezTo>
                    <a:pt x="1547587" y="283497"/>
                    <a:pt x="1518942" y="316775"/>
                    <a:pt x="1518942" y="338328"/>
                  </a:cubicBezTo>
                  <a:cubicBezTo>
                    <a:pt x="1518942" y="362902"/>
                    <a:pt x="1524046" y="387241"/>
                    <a:pt x="1528086" y="411480"/>
                  </a:cubicBezTo>
                  <a:cubicBezTo>
                    <a:pt x="1541592" y="492517"/>
                    <a:pt x="1543745" y="503925"/>
                    <a:pt x="1573806" y="576072"/>
                  </a:cubicBezTo>
                  <a:cubicBezTo>
                    <a:pt x="1579049" y="588655"/>
                    <a:pt x="1582455" y="603009"/>
                    <a:pt x="1592094" y="612648"/>
                  </a:cubicBezTo>
                  <a:cubicBezTo>
                    <a:pt x="1598910" y="619464"/>
                    <a:pt x="1610382" y="618744"/>
                    <a:pt x="1619526" y="621792"/>
                  </a:cubicBezTo>
                  <a:cubicBezTo>
                    <a:pt x="1631718" y="643128"/>
                    <a:pt x="1636913" y="670449"/>
                    <a:pt x="1656102" y="685800"/>
                  </a:cubicBezTo>
                  <a:cubicBezTo>
                    <a:pt x="1670580" y="697382"/>
                    <a:pt x="1700682" y="679518"/>
                    <a:pt x="1710966" y="694944"/>
                  </a:cubicBezTo>
                  <a:cubicBezTo>
                    <a:pt x="1720071" y="708601"/>
                    <a:pt x="1705031" y="729855"/>
                    <a:pt x="1692678" y="740664"/>
                  </a:cubicBezTo>
                  <a:cubicBezTo>
                    <a:pt x="1678170" y="753358"/>
                    <a:pt x="1655533" y="751358"/>
                    <a:pt x="1637814" y="758952"/>
                  </a:cubicBezTo>
                  <a:cubicBezTo>
                    <a:pt x="1612756" y="769691"/>
                    <a:pt x="1586472" y="779171"/>
                    <a:pt x="1564662" y="795528"/>
                  </a:cubicBezTo>
                  <a:cubicBezTo>
                    <a:pt x="1451099" y="880700"/>
                    <a:pt x="1443184" y="906447"/>
                    <a:pt x="1326918" y="941832"/>
                  </a:cubicBezTo>
                  <a:cubicBezTo>
                    <a:pt x="1288014" y="953672"/>
                    <a:pt x="1247670" y="960120"/>
                    <a:pt x="1208046" y="969264"/>
                  </a:cubicBezTo>
                  <a:cubicBezTo>
                    <a:pt x="1155769" y="995403"/>
                    <a:pt x="1111184" y="1022005"/>
                    <a:pt x="1052598" y="1033272"/>
                  </a:cubicBezTo>
                  <a:cubicBezTo>
                    <a:pt x="1001363" y="1043125"/>
                    <a:pt x="948966" y="1045464"/>
                    <a:pt x="897150" y="1051560"/>
                  </a:cubicBezTo>
                  <a:cubicBezTo>
                    <a:pt x="824326" y="1043468"/>
                    <a:pt x="721803" y="1043714"/>
                    <a:pt x="650262" y="1005840"/>
                  </a:cubicBezTo>
                  <a:cubicBezTo>
                    <a:pt x="609208" y="984105"/>
                    <a:pt x="553870" y="931250"/>
                    <a:pt x="522246" y="896112"/>
                  </a:cubicBezTo>
                  <a:cubicBezTo>
                    <a:pt x="512051" y="884784"/>
                    <a:pt x="506385" y="869454"/>
                    <a:pt x="494814" y="859536"/>
                  </a:cubicBezTo>
                  <a:cubicBezTo>
                    <a:pt x="484465" y="850665"/>
                    <a:pt x="469704" y="848619"/>
                    <a:pt x="458238" y="841248"/>
                  </a:cubicBezTo>
                  <a:cubicBezTo>
                    <a:pt x="420406" y="816927"/>
                    <a:pt x="319665" y="738991"/>
                    <a:pt x="275358" y="722376"/>
                  </a:cubicBezTo>
                  <a:lnTo>
                    <a:pt x="202206" y="694944"/>
                  </a:lnTo>
                  <a:cubicBezTo>
                    <a:pt x="156561" y="710159"/>
                    <a:pt x="78082" y="723095"/>
                    <a:pt x="92478" y="804672"/>
                  </a:cubicBezTo>
                  <a:cubicBezTo>
                    <a:pt x="98517" y="838896"/>
                    <a:pt x="147342" y="847344"/>
                    <a:pt x="174774" y="868680"/>
                  </a:cubicBezTo>
                  <a:cubicBezTo>
                    <a:pt x="269262" y="844296"/>
                    <a:pt x="404108" y="876722"/>
                    <a:pt x="458238" y="795528"/>
                  </a:cubicBezTo>
                  <a:cubicBezTo>
                    <a:pt x="570087" y="627754"/>
                    <a:pt x="245242" y="683050"/>
                    <a:pt x="220494" y="685800"/>
                  </a:cubicBezTo>
                  <a:cubicBezTo>
                    <a:pt x="185488" y="790818"/>
                    <a:pt x="81289" y="934998"/>
                    <a:pt x="247926" y="1014984"/>
                  </a:cubicBezTo>
                  <a:cubicBezTo>
                    <a:pt x="289960" y="1035160"/>
                    <a:pt x="339366" y="996696"/>
                    <a:pt x="385086" y="987552"/>
                  </a:cubicBezTo>
                  <a:cubicBezTo>
                    <a:pt x="394230" y="935736"/>
                    <a:pt x="439196" y="877456"/>
                    <a:pt x="412518" y="832104"/>
                  </a:cubicBezTo>
                  <a:cubicBezTo>
                    <a:pt x="327943" y="688327"/>
                    <a:pt x="233941" y="683003"/>
                    <a:pt x="110766" y="658368"/>
                  </a:cubicBezTo>
                  <a:cubicBezTo>
                    <a:pt x="60088" y="696377"/>
                    <a:pt x="-105671" y="804051"/>
                    <a:pt x="101622" y="886968"/>
                  </a:cubicBezTo>
                  <a:cubicBezTo>
                    <a:pt x="158222" y="909608"/>
                    <a:pt x="174774" y="789432"/>
                    <a:pt x="211350" y="740664"/>
                  </a:cubicBezTo>
                  <a:cubicBezTo>
                    <a:pt x="139272" y="678883"/>
                    <a:pt x="-3767" y="522882"/>
                    <a:pt x="83334" y="923544"/>
                  </a:cubicBezTo>
                  <a:cubicBezTo>
                    <a:pt x="100330" y="1001724"/>
                    <a:pt x="186966" y="1045464"/>
                    <a:pt x="238782" y="1106424"/>
                  </a:cubicBezTo>
                  <a:cubicBezTo>
                    <a:pt x="318030" y="1057656"/>
                    <a:pt x="420695" y="1034561"/>
                    <a:pt x="476526" y="960120"/>
                  </a:cubicBezTo>
                  <a:cubicBezTo>
                    <a:pt x="621366" y="767000"/>
                    <a:pt x="337863" y="683158"/>
                    <a:pt x="247926" y="630936"/>
                  </a:cubicBezTo>
                  <a:cubicBezTo>
                    <a:pt x="233731" y="622694"/>
                    <a:pt x="217446" y="618744"/>
                    <a:pt x="202206" y="612648"/>
                  </a:cubicBezTo>
                  <a:cubicBezTo>
                    <a:pt x="169272" y="750971"/>
                    <a:pt x="109896" y="823861"/>
                    <a:pt x="220494" y="941832"/>
                  </a:cubicBezTo>
                  <a:cubicBezTo>
                    <a:pt x="237301" y="959759"/>
                    <a:pt x="269262" y="947928"/>
                    <a:pt x="293646" y="950976"/>
                  </a:cubicBezTo>
                  <a:cubicBezTo>
                    <a:pt x="305838" y="899160"/>
                    <a:pt x="327424" y="848685"/>
                    <a:pt x="330222" y="795528"/>
                  </a:cubicBezTo>
                  <a:cubicBezTo>
                    <a:pt x="332777" y="746992"/>
                    <a:pt x="272803" y="795296"/>
                    <a:pt x="275358" y="795528"/>
                  </a:cubicBezTo>
                  <a:cubicBezTo>
                    <a:pt x="317963" y="799401"/>
                    <a:pt x="360754" y="790090"/>
                    <a:pt x="403374" y="786384"/>
                  </a:cubicBezTo>
                  <a:cubicBezTo>
                    <a:pt x="430871" y="783993"/>
                    <a:pt x="458258" y="780465"/>
                    <a:pt x="485670" y="777240"/>
                  </a:cubicBezTo>
                  <a:cubicBezTo>
                    <a:pt x="510075" y="774369"/>
                    <a:pt x="534299" y="769678"/>
                    <a:pt x="558822" y="768096"/>
                  </a:cubicBezTo>
                  <a:cubicBezTo>
                    <a:pt x="628847" y="763578"/>
                    <a:pt x="699030" y="762000"/>
                    <a:pt x="769134" y="758952"/>
                  </a:cubicBezTo>
                  <a:cubicBezTo>
                    <a:pt x="814854" y="752856"/>
                    <a:pt x="860287" y="743950"/>
                    <a:pt x="906294" y="740664"/>
                  </a:cubicBezTo>
                  <a:cubicBezTo>
                    <a:pt x="988437" y="734797"/>
                    <a:pt x="1070932" y="735632"/>
                    <a:pt x="1153182" y="731520"/>
                  </a:cubicBezTo>
                  <a:cubicBezTo>
                    <a:pt x="1245088" y="726925"/>
                    <a:pt x="1264445" y="723327"/>
                    <a:pt x="1345206" y="713232"/>
                  </a:cubicBezTo>
                  <a:cubicBezTo>
                    <a:pt x="1373836" y="703689"/>
                    <a:pt x="1406243" y="691328"/>
                    <a:pt x="1436646" y="685800"/>
                  </a:cubicBezTo>
                  <a:cubicBezTo>
                    <a:pt x="1457851" y="681945"/>
                    <a:pt x="1479318" y="679704"/>
                    <a:pt x="1500654" y="676656"/>
                  </a:cubicBezTo>
                  <a:lnTo>
                    <a:pt x="1555518" y="658368"/>
                  </a:lnTo>
                </a:path>
              </a:pathLst>
            </a:custGeom>
            <a:noFill/>
            <a:ln w="19050">
              <a:solidFill>
                <a:srgbClr val="DC4C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0" name="Group 19" descr="The yarn begins at the blanket, then goes into one of the two piles of yarn, we call this pile A and the other pile B. By counting the number of times the yarn crosses between the piles we can determine which of A vs. B has the end (an even number means A has the end, an odd number means B).&#10;&#10;Once we determine the pile with the end, we can recursively solve (i.e. &quot;conquer&quot;) the problem on the pile containing the end of the yarn.">
            <a:extLst>
              <a:ext uri="{FF2B5EF4-FFF2-40B4-BE49-F238E27FC236}">
                <a16:creationId xmlns:a16="http://schemas.microsoft.com/office/drawing/2014/main" id="{7051DDBC-58E7-4C71-EBF0-DBD7FB74D394}"/>
              </a:ext>
            </a:extLst>
          </p:cNvPr>
          <p:cNvGrpSpPr/>
          <p:nvPr/>
        </p:nvGrpSpPr>
        <p:grpSpPr>
          <a:xfrm>
            <a:off x="-47927" y="3898391"/>
            <a:ext cx="3334976" cy="1155246"/>
            <a:chOff x="-878932" y="3619954"/>
            <a:chExt cx="4211412" cy="1458846"/>
          </a:xfrm>
        </p:grpSpPr>
        <p:grpSp>
          <p:nvGrpSpPr>
            <p:cNvPr id="14" name="Group 13">
              <a:extLst>
                <a:ext uri="{FF2B5EF4-FFF2-40B4-BE49-F238E27FC236}">
                  <a16:creationId xmlns:a16="http://schemas.microsoft.com/office/drawing/2014/main" id="{0EBF0906-4FE4-F100-2C24-281830D90350}"/>
                </a:ext>
              </a:extLst>
            </p:cNvPr>
            <p:cNvGrpSpPr/>
            <p:nvPr/>
          </p:nvGrpSpPr>
          <p:grpSpPr>
            <a:xfrm>
              <a:off x="-624862" y="3619954"/>
              <a:ext cx="3957342" cy="1458846"/>
              <a:chOff x="8234658" y="3789922"/>
              <a:chExt cx="3957342" cy="1458846"/>
            </a:xfrm>
          </p:grpSpPr>
          <p:pic>
            <p:nvPicPr>
              <p:cNvPr id="15" name="Picture 2">
                <a:extLst>
                  <a:ext uri="{FF2B5EF4-FFF2-40B4-BE49-F238E27FC236}">
                    <a16:creationId xmlns:a16="http://schemas.microsoft.com/office/drawing/2014/main" id="{2247E5CC-152D-743A-6124-D5F3B696134E}"/>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10201827" y="3789922"/>
                <a:ext cx="1990173" cy="1458846"/>
              </a:xfrm>
              <a:prstGeom prst="rect">
                <a:avLst/>
              </a:prstGeom>
              <a:noFill/>
              <a:extLst>
                <a:ext uri="{909E8E84-426E-40DD-AFC4-6F175D3DCCD1}">
                  <a14:hiddenFill xmlns:a14="http://schemas.microsoft.com/office/drawing/2010/main">
                    <a:solidFill>
                      <a:srgbClr val="FFFFFF"/>
                    </a:solidFill>
                  </a14:hiddenFill>
                </a:ext>
              </a:extLst>
            </p:spPr>
          </p:pic>
          <p:sp>
            <p:nvSpPr>
              <p:cNvPr id="16" name="Freeform: Shape 15">
                <a:extLst>
                  <a:ext uri="{FF2B5EF4-FFF2-40B4-BE49-F238E27FC236}">
                    <a16:creationId xmlns:a16="http://schemas.microsoft.com/office/drawing/2014/main" id="{3A4B5CD5-17D3-5951-BFAE-B25192D1575A}"/>
                  </a:ext>
                </a:extLst>
              </p:cNvPr>
              <p:cNvSpPr/>
              <p:nvPr/>
            </p:nvSpPr>
            <p:spPr>
              <a:xfrm>
                <a:off x="8234658" y="3938416"/>
                <a:ext cx="1976142" cy="1106424"/>
              </a:xfrm>
              <a:custGeom>
                <a:avLst/>
                <a:gdLst>
                  <a:gd name="connsiteX0" fmla="*/ 1976142 w 1976142"/>
                  <a:gd name="connsiteY0" fmla="*/ 0 h 1106424"/>
                  <a:gd name="connsiteX1" fmla="*/ 1793262 w 1976142"/>
                  <a:gd name="connsiteY1" fmla="*/ 9144 h 1106424"/>
                  <a:gd name="connsiteX2" fmla="*/ 1729254 w 1976142"/>
                  <a:gd name="connsiteY2" fmla="*/ 18288 h 1106424"/>
                  <a:gd name="connsiteX3" fmla="*/ 1619526 w 1976142"/>
                  <a:gd name="connsiteY3" fmla="*/ 91440 h 1106424"/>
                  <a:gd name="connsiteX4" fmla="*/ 1546374 w 1976142"/>
                  <a:gd name="connsiteY4" fmla="*/ 192024 h 1106424"/>
                  <a:gd name="connsiteX5" fmla="*/ 1509798 w 1976142"/>
                  <a:gd name="connsiteY5" fmla="*/ 329184 h 1106424"/>
                  <a:gd name="connsiteX6" fmla="*/ 1592094 w 1976142"/>
                  <a:gd name="connsiteY6" fmla="*/ 384048 h 1106424"/>
                  <a:gd name="connsiteX7" fmla="*/ 1756686 w 1976142"/>
                  <a:gd name="connsiteY7" fmla="*/ 365760 h 1106424"/>
                  <a:gd name="connsiteX8" fmla="*/ 1774974 w 1976142"/>
                  <a:gd name="connsiteY8" fmla="*/ 292608 h 1106424"/>
                  <a:gd name="connsiteX9" fmla="*/ 1537230 w 1976142"/>
                  <a:gd name="connsiteY9" fmla="*/ 201168 h 1106424"/>
                  <a:gd name="connsiteX10" fmla="*/ 1409214 w 1976142"/>
                  <a:gd name="connsiteY10" fmla="*/ 265176 h 1106424"/>
                  <a:gd name="connsiteX11" fmla="*/ 1436646 w 1976142"/>
                  <a:gd name="connsiteY11" fmla="*/ 384048 h 1106424"/>
                  <a:gd name="connsiteX12" fmla="*/ 1582950 w 1976142"/>
                  <a:gd name="connsiteY12" fmla="*/ 411480 h 1106424"/>
                  <a:gd name="connsiteX13" fmla="*/ 1610382 w 1976142"/>
                  <a:gd name="connsiteY13" fmla="*/ 393192 h 1106424"/>
                  <a:gd name="connsiteX14" fmla="*/ 1436646 w 1976142"/>
                  <a:gd name="connsiteY14" fmla="*/ 292608 h 1106424"/>
                  <a:gd name="connsiteX15" fmla="*/ 1445790 w 1976142"/>
                  <a:gd name="connsiteY15" fmla="*/ 694944 h 1106424"/>
                  <a:gd name="connsiteX16" fmla="*/ 1729254 w 1976142"/>
                  <a:gd name="connsiteY16" fmla="*/ 722376 h 1106424"/>
                  <a:gd name="connsiteX17" fmla="*/ 1811550 w 1976142"/>
                  <a:gd name="connsiteY17" fmla="*/ 393192 h 1106424"/>
                  <a:gd name="connsiteX18" fmla="*/ 1656102 w 1976142"/>
                  <a:gd name="connsiteY18" fmla="*/ 347472 h 1106424"/>
                  <a:gd name="connsiteX19" fmla="*/ 1683534 w 1976142"/>
                  <a:gd name="connsiteY19" fmla="*/ 539496 h 1106424"/>
                  <a:gd name="connsiteX20" fmla="*/ 1784118 w 1976142"/>
                  <a:gd name="connsiteY20" fmla="*/ 585216 h 1106424"/>
                  <a:gd name="connsiteX21" fmla="*/ 1774974 w 1976142"/>
                  <a:gd name="connsiteY21" fmla="*/ 448056 h 1106424"/>
                  <a:gd name="connsiteX22" fmla="*/ 1464078 w 1976142"/>
                  <a:gd name="connsiteY22" fmla="*/ 384048 h 1106424"/>
                  <a:gd name="connsiteX23" fmla="*/ 1509798 w 1976142"/>
                  <a:gd name="connsiteY23" fmla="*/ 466344 h 1106424"/>
                  <a:gd name="connsiteX24" fmla="*/ 1564662 w 1976142"/>
                  <a:gd name="connsiteY24" fmla="*/ 475488 h 1106424"/>
                  <a:gd name="connsiteX25" fmla="*/ 1473222 w 1976142"/>
                  <a:gd name="connsiteY25" fmla="*/ 402336 h 1106424"/>
                  <a:gd name="connsiteX26" fmla="*/ 1390926 w 1976142"/>
                  <a:gd name="connsiteY26" fmla="*/ 658368 h 1106424"/>
                  <a:gd name="connsiteX27" fmla="*/ 1528086 w 1976142"/>
                  <a:gd name="connsiteY27" fmla="*/ 676656 h 1106424"/>
                  <a:gd name="connsiteX28" fmla="*/ 1573806 w 1976142"/>
                  <a:gd name="connsiteY28" fmla="*/ 557784 h 1106424"/>
                  <a:gd name="connsiteX29" fmla="*/ 1345206 w 1976142"/>
                  <a:gd name="connsiteY29" fmla="*/ 612648 h 1106424"/>
                  <a:gd name="connsiteX30" fmla="*/ 1546374 w 1976142"/>
                  <a:gd name="connsiteY30" fmla="*/ 841248 h 1106424"/>
                  <a:gd name="connsiteX31" fmla="*/ 1665246 w 1976142"/>
                  <a:gd name="connsiteY31" fmla="*/ 658368 h 1106424"/>
                  <a:gd name="connsiteX32" fmla="*/ 1601238 w 1976142"/>
                  <a:gd name="connsiteY32" fmla="*/ 493776 h 1106424"/>
                  <a:gd name="connsiteX33" fmla="*/ 1500654 w 1976142"/>
                  <a:gd name="connsiteY33" fmla="*/ 448056 h 1106424"/>
                  <a:gd name="connsiteX34" fmla="*/ 1464078 w 1976142"/>
                  <a:gd name="connsiteY34" fmla="*/ 621792 h 1106424"/>
                  <a:gd name="connsiteX35" fmla="*/ 1582950 w 1976142"/>
                  <a:gd name="connsiteY35" fmla="*/ 667512 h 1106424"/>
                  <a:gd name="connsiteX36" fmla="*/ 1582950 w 1976142"/>
                  <a:gd name="connsiteY36" fmla="*/ 411480 h 1106424"/>
                  <a:gd name="connsiteX37" fmla="*/ 1445790 w 1976142"/>
                  <a:gd name="connsiteY37" fmla="*/ 402336 h 1106424"/>
                  <a:gd name="connsiteX38" fmla="*/ 1363494 w 1976142"/>
                  <a:gd name="connsiteY38" fmla="*/ 466344 h 1106424"/>
                  <a:gd name="connsiteX39" fmla="*/ 1528086 w 1976142"/>
                  <a:gd name="connsiteY39" fmla="*/ 813816 h 1106424"/>
                  <a:gd name="connsiteX40" fmla="*/ 1765830 w 1976142"/>
                  <a:gd name="connsiteY40" fmla="*/ 749808 h 1106424"/>
                  <a:gd name="connsiteX41" fmla="*/ 1820694 w 1976142"/>
                  <a:gd name="connsiteY41" fmla="*/ 402336 h 1106424"/>
                  <a:gd name="connsiteX42" fmla="*/ 1720110 w 1976142"/>
                  <a:gd name="connsiteY42" fmla="*/ 384048 h 1106424"/>
                  <a:gd name="connsiteX43" fmla="*/ 1692678 w 1976142"/>
                  <a:gd name="connsiteY43" fmla="*/ 676656 h 1106424"/>
                  <a:gd name="connsiteX44" fmla="*/ 1857270 w 1976142"/>
                  <a:gd name="connsiteY44" fmla="*/ 758952 h 1106424"/>
                  <a:gd name="connsiteX45" fmla="*/ 1902990 w 1976142"/>
                  <a:gd name="connsiteY45" fmla="*/ 640080 h 1106424"/>
                  <a:gd name="connsiteX46" fmla="*/ 1592094 w 1976142"/>
                  <a:gd name="connsiteY46" fmla="*/ 438912 h 1106424"/>
                  <a:gd name="connsiteX47" fmla="*/ 1482366 w 1976142"/>
                  <a:gd name="connsiteY47" fmla="*/ 740664 h 1106424"/>
                  <a:gd name="connsiteX48" fmla="*/ 1546374 w 1976142"/>
                  <a:gd name="connsiteY48" fmla="*/ 786384 h 1106424"/>
                  <a:gd name="connsiteX49" fmla="*/ 1619526 w 1976142"/>
                  <a:gd name="connsiteY49" fmla="*/ 685800 h 1106424"/>
                  <a:gd name="connsiteX50" fmla="*/ 1354350 w 1976142"/>
                  <a:gd name="connsiteY50" fmla="*/ 484632 h 1106424"/>
                  <a:gd name="connsiteX51" fmla="*/ 1354350 w 1976142"/>
                  <a:gd name="connsiteY51" fmla="*/ 832104 h 1106424"/>
                  <a:gd name="connsiteX52" fmla="*/ 1482366 w 1976142"/>
                  <a:gd name="connsiteY52" fmla="*/ 877824 h 1106424"/>
                  <a:gd name="connsiteX53" fmla="*/ 1573806 w 1976142"/>
                  <a:gd name="connsiteY53" fmla="*/ 758952 h 1106424"/>
                  <a:gd name="connsiteX54" fmla="*/ 1509798 w 1976142"/>
                  <a:gd name="connsiteY54" fmla="*/ 530352 h 1106424"/>
                  <a:gd name="connsiteX55" fmla="*/ 1445790 w 1976142"/>
                  <a:gd name="connsiteY55" fmla="*/ 804672 h 1106424"/>
                  <a:gd name="connsiteX56" fmla="*/ 1546374 w 1976142"/>
                  <a:gd name="connsiteY56" fmla="*/ 822960 h 1106424"/>
                  <a:gd name="connsiteX57" fmla="*/ 1555518 w 1976142"/>
                  <a:gd name="connsiteY57" fmla="*/ 640080 h 1106424"/>
                  <a:gd name="connsiteX58" fmla="*/ 1189758 w 1976142"/>
                  <a:gd name="connsiteY58" fmla="*/ 576072 h 1106424"/>
                  <a:gd name="connsiteX59" fmla="*/ 1125750 w 1976142"/>
                  <a:gd name="connsiteY59" fmla="*/ 603504 h 1106424"/>
                  <a:gd name="connsiteX60" fmla="*/ 1061742 w 1976142"/>
                  <a:gd name="connsiteY60" fmla="*/ 612648 h 1106424"/>
                  <a:gd name="connsiteX61" fmla="*/ 503958 w 1976142"/>
                  <a:gd name="connsiteY61" fmla="*/ 621792 h 1106424"/>
                  <a:gd name="connsiteX62" fmla="*/ 339366 w 1976142"/>
                  <a:gd name="connsiteY62" fmla="*/ 694944 h 1106424"/>
                  <a:gd name="connsiteX63" fmla="*/ 302790 w 1976142"/>
                  <a:gd name="connsiteY63" fmla="*/ 722376 h 1106424"/>
                  <a:gd name="connsiteX64" fmla="*/ 513102 w 1976142"/>
                  <a:gd name="connsiteY64" fmla="*/ 822960 h 1106424"/>
                  <a:gd name="connsiteX65" fmla="*/ 394230 w 1976142"/>
                  <a:gd name="connsiteY65" fmla="*/ 649224 h 1106424"/>
                  <a:gd name="connsiteX66" fmla="*/ 348510 w 1976142"/>
                  <a:gd name="connsiteY66" fmla="*/ 694944 h 1106424"/>
                  <a:gd name="connsiteX67" fmla="*/ 476526 w 1976142"/>
                  <a:gd name="connsiteY67" fmla="*/ 640080 h 1106424"/>
                  <a:gd name="connsiteX68" fmla="*/ 366798 w 1976142"/>
                  <a:gd name="connsiteY68" fmla="*/ 484632 h 1106424"/>
                  <a:gd name="connsiteX69" fmla="*/ 238782 w 1976142"/>
                  <a:gd name="connsiteY69" fmla="*/ 475488 h 1106424"/>
                  <a:gd name="connsiteX70" fmla="*/ 220494 w 1976142"/>
                  <a:gd name="connsiteY70" fmla="*/ 685800 h 1106424"/>
                  <a:gd name="connsiteX71" fmla="*/ 321078 w 1976142"/>
                  <a:gd name="connsiteY71" fmla="*/ 704088 h 1106424"/>
                  <a:gd name="connsiteX72" fmla="*/ 366798 w 1976142"/>
                  <a:gd name="connsiteY72" fmla="*/ 530352 h 1106424"/>
                  <a:gd name="connsiteX73" fmla="*/ 211350 w 1976142"/>
                  <a:gd name="connsiteY73" fmla="*/ 457200 h 1106424"/>
                  <a:gd name="connsiteX74" fmla="*/ 129054 w 1976142"/>
                  <a:gd name="connsiteY74" fmla="*/ 676656 h 1106424"/>
                  <a:gd name="connsiteX75" fmla="*/ 339366 w 1976142"/>
                  <a:gd name="connsiteY75" fmla="*/ 813816 h 1106424"/>
                  <a:gd name="connsiteX76" fmla="*/ 394230 w 1976142"/>
                  <a:gd name="connsiteY76" fmla="*/ 786384 h 1106424"/>
                  <a:gd name="connsiteX77" fmla="*/ 348510 w 1976142"/>
                  <a:gd name="connsiteY77" fmla="*/ 603504 h 1106424"/>
                  <a:gd name="connsiteX78" fmla="*/ 238782 w 1976142"/>
                  <a:gd name="connsiteY78" fmla="*/ 585216 h 1106424"/>
                  <a:gd name="connsiteX79" fmla="*/ 357654 w 1976142"/>
                  <a:gd name="connsiteY79" fmla="*/ 804672 h 1106424"/>
                  <a:gd name="connsiteX80" fmla="*/ 467382 w 1976142"/>
                  <a:gd name="connsiteY80" fmla="*/ 731520 h 1106424"/>
                  <a:gd name="connsiteX81" fmla="*/ 330222 w 1976142"/>
                  <a:gd name="connsiteY81" fmla="*/ 530352 h 1106424"/>
                  <a:gd name="connsiteX82" fmla="*/ 302790 w 1976142"/>
                  <a:gd name="connsiteY82" fmla="*/ 868680 h 1106424"/>
                  <a:gd name="connsiteX83" fmla="*/ 394230 w 1976142"/>
                  <a:gd name="connsiteY83" fmla="*/ 758952 h 1106424"/>
                  <a:gd name="connsiteX84" fmla="*/ 403374 w 1976142"/>
                  <a:gd name="connsiteY84" fmla="*/ 795528 h 1106424"/>
                  <a:gd name="connsiteX85" fmla="*/ 449094 w 1976142"/>
                  <a:gd name="connsiteY85" fmla="*/ 777240 h 1106424"/>
                  <a:gd name="connsiteX86" fmla="*/ 412518 w 1976142"/>
                  <a:gd name="connsiteY86" fmla="*/ 731520 h 1106424"/>
                  <a:gd name="connsiteX87" fmla="*/ 385086 w 1976142"/>
                  <a:gd name="connsiteY87" fmla="*/ 804672 h 1106424"/>
                  <a:gd name="connsiteX88" fmla="*/ 439950 w 1976142"/>
                  <a:gd name="connsiteY88" fmla="*/ 841248 h 1106424"/>
                  <a:gd name="connsiteX89" fmla="*/ 449094 w 1976142"/>
                  <a:gd name="connsiteY89" fmla="*/ 566928 h 1106424"/>
                  <a:gd name="connsiteX90" fmla="*/ 513102 w 1976142"/>
                  <a:gd name="connsiteY90" fmla="*/ 466344 h 1106424"/>
                  <a:gd name="connsiteX91" fmla="*/ 1016022 w 1976142"/>
                  <a:gd name="connsiteY91" fmla="*/ 329184 h 1106424"/>
                  <a:gd name="connsiteX92" fmla="*/ 1363494 w 1976142"/>
                  <a:gd name="connsiteY92" fmla="*/ 265176 h 1106424"/>
                  <a:gd name="connsiteX93" fmla="*/ 1528086 w 1976142"/>
                  <a:gd name="connsiteY93" fmla="*/ 274320 h 1106424"/>
                  <a:gd name="connsiteX94" fmla="*/ 1518942 w 1976142"/>
                  <a:gd name="connsiteY94" fmla="*/ 338328 h 1106424"/>
                  <a:gd name="connsiteX95" fmla="*/ 1528086 w 1976142"/>
                  <a:gd name="connsiteY95" fmla="*/ 411480 h 1106424"/>
                  <a:gd name="connsiteX96" fmla="*/ 1573806 w 1976142"/>
                  <a:gd name="connsiteY96" fmla="*/ 576072 h 1106424"/>
                  <a:gd name="connsiteX97" fmla="*/ 1592094 w 1976142"/>
                  <a:gd name="connsiteY97" fmla="*/ 612648 h 1106424"/>
                  <a:gd name="connsiteX98" fmla="*/ 1619526 w 1976142"/>
                  <a:gd name="connsiteY98" fmla="*/ 621792 h 1106424"/>
                  <a:gd name="connsiteX99" fmla="*/ 1656102 w 1976142"/>
                  <a:gd name="connsiteY99" fmla="*/ 685800 h 1106424"/>
                  <a:gd name="connsiteX100" fmla="*/ 1710966 w 1976142"/>
                  <a:gd name="connsiteY100" fmla="*/ 694944 h 1106424"/>
                  <a:gd name="connsiteX101" fmla="*/ 1692678 w 1976142"/>
                  <a:gd name="connsiteY101" fmla="*/ 740664 h 1106424"/>
                  <a:gd name="connsiteX102" fmla="*/ 1637814 w 1976142"/>
                  <a:gd name="connsiteY102" fmla="*/ 758952 h 1106424"/>
                  <a:gd name="connsiteX103" fmla="*/ 1564662 w 1976142"/>
                  <a:gd name="connsiteY103" fmla="*/ 795528 h 1106424"/>
                  <a:gd name="connsiteX104" fmla="*/ 1326918 w 1976142"/>
                  <a:gd name="connsiteY104" fmla="*/ 941832 h 1106424"/>
                  <a:gd name="connsiteX105" fmla="*/ 1208046 w 1976142"/>
                  <a:gd name="connsiteY105" fmla="*/ 969264 h 1106424"/>
                  <a:gd name="connsiteX106" fmla="*/ 1052598 w 1976142"/>
                  <a:gd name="connsiteY106" fmla="*/ 1033272 h 1106424"/>
                  <a:gd name="connsiteX107" fmla="*/ 897150 w 1976142"/>
                  <a:gd name="connsiteY107" fmla="*/ 1051560 h 1106424"/>
                  <a:gd name="connsiteX108" fmla="*/ 650262 w 1976142"/>
                  <a:gd name="connsiteY108" fmla="*/ 1005840 h 1106424"/>
                  <a:gd name="connsiteX109" fmla="*/ 522246 w 1976142"/>
                  <a:gd name="connsiteY109" fmla="*/ 896112 h 1106424"/>
                  <a:gd name="connsiteX110" fmla="*/ 494814 w 1976142"/>
                  <a:gd name="connsiteY110" fmla="*/ 859536 h 1106424"/>
                  <a:gd name="connsiteX111" fmla="*/ 458238 w 1976142"/>
                  <a:gd name="connsiteY111" fmla="*/ 841248 h 1106424"/>
                  <a:gd name="connsiteX112" fmla="*/ 275358 w 1976142"/>
                  <a:gd name="connsiteY112" fmla="*/ 722376 h 1106424"/>
                  <a:gd name="connsiteX113" fmla="*/ 202206 w 1976142"/>
                  <a:gd name="connsiteY113" fmla="*/ 694944 h 1106424"/>
                  <a:gd name="connsiteX114" fmla="*/ 92478 w 1976142"/>
                  <a:gd name="connsiteY114" fmla="*/ 804672 h 1106424"/>
                  <a:gd name="connsiteX115" fmla="*/ 174774 w 1976142"/>
                  <a:gd name="connsiteY115" fmla="*/ 868680 h 1106424"/>
                  <a:gd name="connsiteX116" fmla="*/ 458238 w 1976142"/>
                  <a:gd name="connsiteY116" fmla="*/ 795528 h 1106424"/>
                  <a:gd name="connsiteX117" fmla="*/ 220494 w 1976142"/>
                  <a:gd name="connsiteY117" fmla="*/ 685800 h 1106424"/>
                  <a:gd name="connsiteX118" fmla="*/ 247926 w 1976142"/>
                  <a:gd name="connsiteY118" fmla="*/ 1014984 h 1106424"/>
                  <a:gd name="connsiteX119" fmla="*/ 385086 w 1976142"/>
                  <a:gd name="connsiteY119" fmla="*/ 987552 h 1106424"/>
                  <a:gd name="connsiteX120" fmla="*/ 412518 w 1976142"/>
                  <a:gd name="connsiteY120" fmla="*/ 832104 h 1106424"/>
                  <a:gd name="connsiteX121" fmla="*/ 110766 w 1976142"/>
                  <a:gd name="connsiteY121" fmla="*/ 658368 h 1106424"/>
                  <a:gd name="connsiteX122" fmla="*/ 101622 w 1976142"/>
                  <a:gd name="connsiteY122" fmla="*/ 886968 h 1106424"/>
                  <a:gd name="connsiteX123" fmla="*/ 211350 w 1976142"/>
                  <a:gd name="connsiteY123" fmla="*/ 740664 h 1106424"/>
                  <a:gd name="connsiteX124" fmla="*/ 83334 w 1976142"/>
                  <a:gd name="connsiteY124" fmla="*/ 923544 h 1106424"/>
                  <a:gd name="connsiteX125" fmla="*/ 238782 w 1976142"/>
                  <a:gd name="connsiteY125" fmla="*/ 1106424 h 1106424"/>
                  <a:gd name="connsiteX126" fmla="*/ 476526 w 1976142"/>
                  <a:gd name="connsiteY126" fmla="*/ 960120 h 1106424"/>
                  <a:gd name="connsiteX127" fmla="*/ 247926 w 1976142"/>
                  <a:gd name="connsiteY127" fmla="*/ 630936 h 1106424"/>
                  <a:gd name="connsiteX128" fmla="*/ 202206 w 1976142"/>
                  <a:gd name="connsiteY128" fmla="*/ 612648 h 1106424"/>
                  <a:gd name="connsiteX129" fmla="*/ 220494 w 1976142"/>
                  <a:gd name="connsiteY129" fmla="*/ 941832 h 1106424"/>
                  <a:gd name="connsiteX130" fmla="*/ 293646 w 1976142"/>
                  <a:gd name="connsiteY130" fmla="*/ 950976 h 1106424"/>
                  <a:gd name="connsiteX131" fmla="*/ 330222 w 1976142"/>
                  <a:gd name="connsiteY131" fmla="*/ 795528 h 1106424"/>
                  <a:gd name="connsiteX132" fmla="*/ 275358 w 1976142"/>
                  <a:gd name="connsiteY132" fmla="*/ 795528 h 1106424"/>
                  <a:gd name="connsiteX133" fmla="*/ 403374 w 1976142"/>
                  <a:gd name="connsiteY133" fmla="*/ 786384 h 1106424"/>
                  <a:gd name="connsiteX134" fmla="*/ 485670 w 1976142"/>
                  <a:gd name="connsiteY134" fmla="*/ 777240 h 1106424"/>
                  <a:gd name="connsiteX135" fmla="*/ 558822 w 1976142"/>
                  <a:gd name="connsiteY135" fmla="*/ 768096 h 1106424"/>
                  <a:gd name="connsiteX136" fmla="*/ 769134 w 1976142"/>
                  <a:gd name="connsiteY136" fmla="*/ 758952 h 1106424"/>
                  <a:gd name="connsiteX137" fmla="*/ 906294 w 1976142"/>
                  <a:gd name="connsiteY137" fmla="*/ 740664 h 1106424"/>
                  <a:gd name="connsiteX138" fmla="*/ 1153182 w 1976142"/>
                  <a:gd name="connsiteY138" fmla="*/ 731520 h 1106424"/>
                  <a:gd name="connsiteX139" fmla="*/ 1345206 w 1976142"/>
                  <a:gd name="connsiteY139" fmla="*/ 713232 h 1106424"/>
                  <a:gd name="connsiteX140" fmla="*/ 1436646 w 1976142"/>
                  <a:gd name="connsiteY140" fmla="*/ 685800 h 1106424"/>
                  <a:gd name="connsiteX141" fmla="*/ 1500654 w 1976142"/>
                  <a:gd name="connsiteY141" fmla="*/ 676656 h 1106424"/>
                  <a:gd name="connsiteX142" fmla="*/ 1555518 w 1976142"/>
                  <a:gd name="connsiteY142" fmla="*/ 658368 h 110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976142" h="1106424">
                    <a:moveTo>
                      <a:pt x="1976142" y="0"/>
                    </a:moveTo>
                    <a:cubicBezTo>
                      <a:pt x="1915182" y="3048"/>
                      <a:pt x="1854131" y="4635"/>
                      <a:pt x="1793262" y="9144"/>
                    </a:cubicBezTo>
                    <a:cubicBezTo>
                      <a:pt x="1771768" y="10736"/>
                      <a:pt x="1749701" y="11472"/>
                      <a:pt x="1729254" y="18288"/>
                    </a:cubicBezTo>
                    <a:cubicBezTo>
                      <a:pt x="1711411" y="24236"/>
                      <a:pt x="1623701" y="86987"/>
                      <a:pt x="1619526" y="91440"/>
                    </a:cubicBezTo>
                    <a:cubicBezTo>
                      <a:pt x="1591172" y="121685"/>
                      <a:pt x="1570758" y="158496"/>
                      <a:pt x="1546374" y="192024"/>
                    </a:cubicBezTo>
                    <a:cubicBezTo>
                      <a:pt x="1516604" y="311103"/>
                      <a:pt x="1530864" y="265985"/>
                      <a:pt x="1509798" y="329184"/>
                    </a:cubicBezTo>
                    <a:cubicBezTo>
                      <a:pt x="1537230" y="347472"/>
                      <a:pt x="1561608" y="371495"/>
                      <a:pt x="1592094" y="384048"/>
                    </a:cubicBezTo>
                    <a:cubicBezTo>
                      <a:pt x="1654628" y="409797"/>
                      <a:pt x="1696349" y="383861"/>
                      <a:pt x="1756686" y="365760"/>
                    </a:cubicBezTo>
                    <a:cubicBezTo>
                      <a:pt x="1762782" y="341376"/>
                      <a:pt x="1787296" y="314515"/>
                      <a:pt x="1774974" y="292608"/>
                    </a:cubicBezTo>
                    <a:cubicBezTo>
                      <a:pt x="1725172" y="204071"/>
                      <a:pt x="1617482" y="211868"/>
                      <a:pt x="1537230" y="201168"/>
                    </a:cubicBezTo>
                    <a:cubicBezTo>
                      <a:pt x="1494558" y="222504"/>
                      <a:pt x="1446468" y="235373"/>
                      <a:pt x="1409214" y="265176"/>
                    </a:cubicBezTo>
                    <a:cubicBezTo>
                      <a:pt x="1376294" y="291512"/>
                      <a:pt x="1425447" y="377889"/>
                      <a:pt x="1436646" y="384048"/>
                    </a:cubicBezTo>
                    <a:cubicBezTo>
                      <a:pt x="1480122" y="407960"/>
                      <a:pt x="1534182" y="402336"/>
                      <a:pt x="1582950" y="411480"/>
                    </a:cubicBezTo>
                    <a:cubicBezTo>
                      <a:pt x="1592094" y="405384"/>
                      <a:pt x="1614138" y="403520"/>
                      <a:pt x="1610382" y="393192"/>
                    </a:cubicBezTo>
                    <a:cubicBezTo>
                      <a:pt x="1572794" y="289824"/>
                      <a:pt x="1528174" y="307863"/>
                      <a:pt x="1436646" y="292608"/>
                    </a:cubicBezTo>
                    <a:cubicBezTo>
                      <a:pt x="1410348" y="392539"/>
                      <a:pt x="1325437" y="603866"/>
                      <a:pt x="1445790" y="694944"/>
                    </a:cubicBezTo>
                    <a:cubicBezTo>
                      <a:pt x="1521487" y="752228"/>
                      <a:pt x="1634766" y="713232"/>
                      <a:pt x="1729254" y="722376"/>
                    </a:cubicBezTo>
                    <a:cubicBezTo>
                      <a:pt x="1788776" y="621933"/>
                      <a:pt x="1972251" y="486934"/>
                      <a:pt x="1811550" y="393192"/>
                    </a:cubicBezTo>
                    <a:cubicBezTo>
                      <a:pt x="1764897" y="365978"/>
                      <a:pt x="1707918" y="362712"/>
                      <a:pt x="1656102" y="347472"/>
                    </a:cubicBezTo>
                    <a:cubicBezTo>
                      <a:pt x="1568750" y="369310"/>
                      <a:pt x="1554311" y="360020"/>
                      <a:pt x="1683534" y="539496"/>
                    </a:cubicBezTo>
                    <a:cubicBezTo>
                      <a:pt x="1705053" y="569384"/>
                      <a:pt x="1750590" y="569976"/>
                      <a:pt x="1784118" y="585216"/>
                    </a:cubicBezTo>
                    <a:cubicBezTo>
                      <a:pt x="1781070" y="539496"/>
                      <a:pt x="1809764" y="477876"/>
                      <a:pt x="1774974" y="448056"/>
                    </a:cubicBezTo>
                    <a:cubicBezTo>
                      <a:pt x="1629840" y="323656"/>
                      <a:pt x="1580083" y="350904"/>
                      <a:pt x="1464078" y="384048"/>
                    </a:cubicBezTo>
                    <a:cubicBezTo>
                      <a:pt x="1479318" y="411480"/>
                      <a:pt x="1486578" y="445235"/>
                      <a:pt x="1509798" y="466344"/>
                    </a:cubicBezTo>
                    <a:cubicBezTo>
                      <a:pt x="1523517" y="478816"/>
                      <a:pt x="1573861" y="491585"/>
                      <a:pt x="1564662" y="475488"/>
                    </a:cubicBezTo>
                    <a:cubicBezTo>
                      <a:pt x="1545296" y="441597"/>
                      <a:pt x="1503702" y="426720"/>
                      <a:pt x="1473222" y="402336"/>
                    </a:cubicBezTo>
                    <a:cubicBezTo>
                      <a:pt x="1372225" y="436002"/>
                      <a:pt x="1298296" y="442231"/>
                      <a:pt x="1390926" y="658368"/>
                    </a:cubicBezTo>
                    <a:cubicBezTo>
                      <a:pt x="1409095" y="700763"/>
                      <a:pt x="1482366" y="670560"/>
                      <a:pt x="1528086" y="676656"/>
                    </a:cubicBezTo>
                    <a:cubicBezTo>
                      <a:pt x="1543326" y="637032"/>
                      <a:pt x="1586590" y="598267"/>
                      <a:pt x="1573806" y="557784"/>
                    </a:cubicBezTo>
                    <a:cubicBezTo>
                      <a:pt x="1521546" y="392295"/>
                      <a:pt x="1358496" y="601256"/>
                      <a:pt x="1345206" y="612648"/>
                    </a:cubicBezTo>
                    <a:cubicBezTo>
                      <a:pt x="1350351" y="705259"/>
                      <a:pt x="1311727" y="930966"/>
                      <a:pt x="1546374" y="841248"/>
                    </a:cubicBezTo>
                    <a:cubicBezTo>
                      <a:pt x="1614285" y="815282"/>
                      <a:pt x="1625622" y="719328"/>
                      <a:pt x="1665246" y="658368"/>
                    </a:cubicBezTo>
                    <a:cubicBezTo>
                      <a:pt x="1643910" y="603504"/>
                      <a:pt x="1637518" y="540134"/>
                      <a:pt x="1601238" y="493776"/>
                    </a:cubicBezTo>
                    <a:cubicBezTo>
                      <a:pt x="1578540" y="464773"/>
                      <a:pt x="1527578" y="422927"/>
                      <a:pt x="1500654" y="448056"/>
                    </a:cubicBezTo>
                    <a:cubicBezTo>
                      <a:pt x="1457389" y="488437"/>
                      <a:pt x="1476270" y="563880"/>
                      <a:pt x="1464078" y="621792"/>
                    </a:cubicBezTo>
                    <a:cubicBezTo>
                      <a:pt x="1503702" y="637032"/>
                      <a:pt x="1541764" y="677809"/>
                      <a:pt x="1582950" y="667512"/>
                    </a:cubicBezTo>
                    <a:cubicBezTo>
                      <a:pt x="1804811" y="612047"/>
                      <a:pt x="1723047" y="490868"/>
                      <a:pt x="1582950" y="411480"/>
                    </a:cubicBezTo>
                    <a:cubicBezTo>
                      <a:pt x="1543084" y="388889"/>
                      <a:pt x="1491510" y="405384"/>
                      <a:pt x="1445790" y="402336"/>
                    </a:cubicBezTo>
                    <a:cubicBezTo>
                      <a:pt x="1418358" y="423672"/>
                      <a:pt x="1369898" y="432187"/>
                      <a:pt x="1363494" y="466344"/>
                    </a:cubicBezTo>
                    <a:cubicBezTo>
                      <a:pt x="1321777" y="688837"/>
                      <a:pt x="1393124" y="696849"/>
                      <a:pt x="1528086" y="813816"/>
                    </a:cubicBezTo>
                    <a:cubicBezTo>
                      <a:pt x="1607334" y="792480"/>
                      <a:pt x="1701133" y="800303"/>
                      <a:pt x="1765830" y="749808"/>
                    </a:cubicBezTo>
                    <a:cubicBezTo>
                      <a:pt x="1910387" y="636983"/>
                      <a:pt x="1963008" y="509071"/>
                      <a:pt x="1820694" y="402336"/>
                    </a:cubicBezTo>
                    <a:cubicBezTo>
                      <a:pt x="1793432" y="381889"/>
                      <a:pt x="1753638" y="390144"/>
                      <a:pt x="1720110" y="384048"/>
                    </a:cubicBezTo>
                    <a:cubicBezTo>
                      <a:pt x="1631412" y="472746"/>
                      <a:pt x="1574924" y="494672"/>
                      <a:pt x="1692678" y="676656"/>
                    </a:cubicBezTo>
                    <a:cubicBezTo>
                      <a:pt x="1726001" y="728155"/>
                      <a:pt x="1802406" y="731520"/>
                      <a:pt x="1857270" y="758952"/>
                    </a:cubicBezTo>
                    <a:cubicBezTo>
                      <a:pt x="1872510" y="719328"/>
                      <a:pt x="1921976" y="678052"/>
                      <a:pt x="1902990" y="640080"/>
                    </a:cubicBezTo>
                    <a:cubicBezTo>
                      <a:pt x="1799482" y="433064"/>
                      <a:pt x="1745025" y="451656"/>
                      <a:pt x="1592094" y="438912"/>
                    </a:cubicBezTo>
                    <a:cubicBezTo>
                      <a:pt x="1556536" y="503563"/>
                      <a:pt x="1448762" y="639851"/>
                      <a:pt x="1482366" y="740664"/>
                    </a:cubicBezTo>
                    <a:cubicBezTo>
                      <a:pt x="1490657" y="765538"/>
                      <a:pt x="1525038" y="771144"/>
                      <a:pt x="1546374" y="786384"/>
                    </a:cubicBezTo>
                    <a:cubicBezTo>
                      <a:pt x="1570758" y="752856"/>
                      <a:pt x="1623792" y="727037"/>
                      <a:pt x="1619526" y="685800"/>
                    </a:cubicBezTo>
                    <a:cubicBezTo>
                      <a:pt x="1600077" y="497794"/>
                      <a:pt x="1485172" y="513703"/>
                      <a:pt x="1354350" y="484632"/>
                    </a:cubicBezTo>
                    <a:cubicBezTo>
                      <a:pt x="1286163" y="629528"/>
                      <a:pt x="1219989" y="673313"/>
                      <a:pt x="1354350" y="832104"/>
                    </a:cubicBezTo>
                    <a:cubicBezTo>
                      <a:pt x="1383619" y="866694"/>
                      <a:pt x="1439694" y="862584"/>
                      <a:pt x="1482366" y="877824"/>
                    </a:cubicBezTo>
                    <a:cubicBezTo>
                      <a:pt x="1512846" y="838200"/>
                      <a:pt x="1561681" y="807450"/>
                      <a:pt x="1573806" y="758952"/>
                    </a:cubicBezTo>
                    <a:cubicBezTo>
                      <a:pt x="1606974" y="626279"/>
                      <a:pt x="1570743" y="603486"/>
                      <a:pt x="1509798" y="530352"/>
                    </a:cubicBezTo>
                    <a:cubicBezTo>
                      <a:pt x="1424848" y="628372"/>
                      <a:pt x="1314599" y="673481"/>
                      <a:pt x="1445790" y="804672"/>
                    </a:cubicBezTo>
                    <a:cubicBezTo>
                      <a:pt x="1469887" y="828769"/>
                      <a:pt x="1512846" y="816864"/>
                      <a:pt x="1546374" y="822960"/>
                    </a:cubicBezTo>
                    <a:cubicBezTo>
                      <a:pt x="1549422" y="762000"/>
                      <a:pt x="1584341" y="693882"/>
                      <a:pt x="1555518" y="640080"/>
                    </a:cubicBezTo>
                    <a:cubicBezTo>
                      <a:pt x="1495403" y="527865"/>
                      <a:pt x="1260021" y="573144"/>
                      <a:pt x="1189758" y="576072"/>
                    </a:cubicBezTo>
                    <a:cubicBezTo>
                      <a:pt x="1168422" y="585216"/>
                      <a:pt x="1148070" y="597127"/>
                      <a:pt x="1125750" y="603504"/>
                    </a:cubicBezTo>
                    <a:cubicBezTo>
                      <a:pt x="1105027" y="609425"/>
                      <a:pt x="1083285" y="612014"/>
                      <a:pt x="1061742" y="612648"/>
                    </a:cubicBezTo>
                    <a:cubicBezTo>
                      <a:pt x="875869" y="618115"/>
                      <a:pt x="689886" y="618744"/>
                      <a:pt x="503958" y="621792"/>
                    </a:cubicBezTo>
                    <a:cubicBezTo>
                      <a:pt x="449094" y="646176"/>
                      <a:pt x="393066" y="668094"/>
                      <a:pt x="339366" y="694944"/>
                    </a:cubicBezTo>
                    <a:cubicBezTo>
                      <a:pt x="325735" y="701760"/>
                      <a:pt x="295974" y="708745"/>
                      <a:pt x="302790" y="722376"/>
                    </a:cubicBezTo>
                    <a:cubicBezTo>
                      <a:pt x="351791" y="820377"/>
                      <a:pt x="424324" y="809302"/>
                      <a:pt x="513102" y="822960"/>
                    </a:cubicBezTo>
                    <a:cubicBezTo>
                      <a:pt x="543887" y="730606"/>
                      <a:pt x="566783" y="718245"/>
                      <a:pt x="394230" y="649224"/>
                    </a:cubicBezTo>
                    <a:cubicBezTo>
                      <a:pt x="374219" y="641220"/>
                      <a:pt x="363750" y="679704"/>
                      <a:pt x="348510" y="694944"/>
                    </a:cubicBezTo>
                    <a:cubicBezTo>
                      <a:pt x="367255" y="710565"/>
                      <a:pt x="507736" y="858553"/>
                      <a:pt x="476526" y="640080"/>
                    </a:cubicBezTo>
                    <a:cubicBezTo>
                      <a:pt x="467556" y="577293"/>
                      <a:pt x="418945" y="520734"/>
                      <a:pt x="366798" y="484632"/>
                    </a:cubicBezTo>
                    <a:cubicBezTo>
                      <a:pt x="331624" y="460281"/>
                      <a:pt x="281454" y="478536"/>
                      <a:pt x="238782" y="475488"/>
                    </a:cubicBezTo>
                    <a:cubicBezTo>
                      <a:pt x="227488" y="512193"/>
                      <a:pt x="168266" y="637589"/>
                      <a:pt x="220494" y="685800"/>
                    </a:cubicBezTo>
                    <a:cubicBezTo>
                      <a:pt x="245534" y="708914"/>
                      <a:pt x="287550" y="697992"/>
                      <a:pt x="321078" y="704088"/>
                    </a:cubicBezTo>
                    <a:cubicBezTo>
                      <a:pt x="336318" y="646176"/>
                      <a:pt x="391119" y="585074"/>
                      <a:pt x="366798" y="530352"/>
                    </a:cubicBezTo>
                    <a:cubicBezTo>
                      <a:pt x="343540" y="478021"/>
                      <a:pt x="260122" y="427187"/>
                      <a:pt x="211350" y="457200"/>
                    </a:cubicBezTo>
                    <a:cubicBezTo>
                      <a:pt x="144813" y="498146"/>
                      <a:pt x="156486" y="603504"/>
                      <a:pt x="129054" y="676656"/>
                    </a:cubicBezTo>
                    <a:cubicBezTo>
                      <a:pt x="199158" y="722376"/>
                      <a:pt x="262030" y="781815"/>
                      <a:pt x="339366" y="813816"/>
                    </a:cubicBezTo>
                    <a:cubicBezTo>
                      <a:pt x="358259" y="821634"/>
                      <a:pt x="393342" y="806811"/>
                      <a:pt x="394230" y="786384"/>
                    </a:cubicBezTo>
                    <a:cubicBezTo>
                      <a:pt x="396959" y="723607"/>
                      <a:pt x="386931" y="653225"/>
                      <a:pt x="348510" y="603504"/>
                    </a:cubicBezTo>
                    <a:cubicBezTo>
                      <a:pt x="325837" y="574163"/>
                      <a:pt x="275358" y="591312"/>
                      <a:pt x="238782" y="585216"/>
                    </a:cubicBezTo>
                    <a:cubicBezTo>
                      <a:pt x="228340" y="679190"/>
                      <a:pt x="198097" y="761714"/>
                      <a:pt x="357654" y="804672"/>
                    </a:cubicBezTo>
                    <a:cubicBezTo>
                      <a:pt x="400101" y="816100"/>
                      <a:pt x="430806" y="755904"/>
                      <a:pt x="467382" y="731520"/>
                    </a:cubicBezTo>
                    <a:cubicBezTo>
                      <a:pt x="421662" y="664464"/>
                      <a:pt x="409529" y="513111"/>
                      <a:pt x="330222" y="530352"/>
                    </a:cubicBezTo>
                    <a:cubicBezTo>
                      <a:pt x="129433" y="574002"/>
                      <a:pt x="265516" y="794132"/>
                      <a:pt x="302790" y="868680"/>
                    </a:cubicBezTo>
                    <a:cubicBezTo>
                      <a:pt x="333270" y="832104"/>
                      <a:pt x="355725" y="786956"/>
                      <a:pt x="394230" y="758952"/>
                    </a:cubicBezTo>
                    <a:cubicBezTo>
                      <a:pt x="404394" y="751560"/>
                      <a:pt x="391452" y="791554"/>
                      <a:pt x="403374" y="795528"/>
                    </a:cubicBezTo>
                    <a:cubicBezTo>
                      <a:pt x="418946" y="800719"/>
                      <a:pt x="433854" y="783336"/>
                      <a:pt x="449094" y="777240"/>
                    </a:cubicBezTo>
                    <a:cubicBezTo>
                      <a:pt x="547245" y="949004"/>
                      <a:pt x="428167" y="737211"/>
                      <a:pt x="412518" y="731520"/>
                    </a:cubicBezTo>
                    <a:cubicBezTo>
                      <a:pt x="388044" y="722620"/>
                      <a:pt x="394230" y="780288"/>
                      <a:pt x="385086" y="804672"/>
                    </a:cubicBezTo>
                    <a:cubicBezTo>
                      <a:pt x="403374" y="816864"/>
                      <a:pt x="431628" y="861591"/>
                      <a:pt x="439950" y="841248"/>
                    </a:cubicBezTo>
                    <a:cubicBezTo>
                      <a:pt x="509537" y="671147"/>
                      <a:pt x="496122" y="660984"/>
                      <a:pt x="449094" y="566928"/>
                    </a:cubicBezTo>
                    <a:cubicBezTo>
                      <a:pt x="470430" y="533400"/>
                      <a:pt x="479528" y="487608"/>
                      <a:pt x="513102" y="466344"/>
                    </a:cubicBezTo>
                    <a:cubicBezTo>
                      <a:pt x="603198" y="409283"/>
                      <a:pt x="939463" y="343287"/>
                      <a:pt x="1016022" y="329184"/>
                    </a:cubicBezTo>
                    <a:lnTo>
                      <a:pt x="1363494" y="265176"/>
                    </a:lnTo>
                    <a:cubicBezTo>
                      <a:pt x="1418358" y="268224"/>
                      <a:pt x="1478367" y="250923"/>
                      <a:pt x="1528086" y="274320"/>
                    </a:cubicBezTo>
                    <a:cubicBezTo>
                      <a:pt x="1547587" y="283497"/>
                      <a:pt x="1518942" y="316775"/>
                      <a:pt x="1518942" y="338328"/>
                    </a:cubicBezTo>
                    <a:cubicBezTo>
                      <a:pt x="1518942" y="362902"/>
                      <a:pt x="1524046" y="387241"/>
                      <a:pt x="1528086" y="411480"/>
                    </a:cubicBezTo>
                    <a:cubicBezTo>
                      <a:pt x="1541592" y="492517"/>
                      <a:pt x="1543745" y="503925"/>
                      <a:pt x="1573806" y="576072"/>
                    </a:cubicBezTo>
                    <a:cubicBezTo>
                      <a:pt x="1579049" y="588655"/>
                      <a:pt x="1582455" y="603009"/>
                      <a:pt x="1592094" y="612648"/>
                    </a:cubicBezTo>
                    <a:cubicBezTo>
                      <a:pt x="1598910" y="619464"/>
                      <a:pt x="1610382" y="618744"/>
                      <a:pt x="1619526" y="621792"/>
                    </a:cubicBezTo>
                    <a:cubicBezTo>
                      <a:pt x="1631718" y="643128"/>
                      <a:pt x="1636913" y="670449"/>
                      <a:pt x="1656102" y="685800"/>
                    </a:cubicBezTo>
                    <a:cubicBezTo>
                      <a:pt x="1670580" y="697382"/>
                      <a:pt x="1700682" y="679518"/>
                      <a:pt x="1710966" y="694944"/>
                    </a:cubicBezTo>
                    <a:cubicBezTo>
                      <a:pt x="1720071" y="708601"/>
                      <a:pt x="1705031" y="729855"/>
                      <a:pt x="1692678" y="740664"/>
                    </a:cubicBezTo>
                    <a:cubicBezTo>
                      <a:pt x="1678170" y="753358"/>
                      <a:pt x="1655533" y="751358"/>
                      <a:pt x="1637814" y="758952"/>
                    </a:cubicBezTo>
                    <a:cubicBezTo>
                      <a:pt x="1612756" y="769691"/>
                      <a:pt x="1586472" y="779171"/>
                      <a:pt x="1564662" y="795528"/>
                    </a:cubicBezTo>
                    <a:cubicBezTo>
                      <a:pt x="1451099" y="880700"/>
                      <a:pt x="1443184" y="906447"/>
                      <a:pt x="1326918" y="941832"/>
                    </a:cubicBezTo>
                    <a:cubicBezTo>
                      <a:pt x="1288014" y="953672"/>
                      <a:pt x="1247670" y="960120"/>
                      <a:pt x="1208046" y="969264"/>
                    </a:cubicBezTo>
                    <a:cubicBezTo>
                      <a:pt x="1155769" y="995403"/>
                      <a:pt x="1111184" y="1022005"/>
                      <a:pt x="1052598" y="1033272"/>
                    </a:cubicBezTo>
                    <a:cubicBezTo>
                      <a:pt x="1001363" y="1043125"/>
                      <a:pt x="948966" y="1045464"/>
                      <a:pt x="897150" y="1051560"/>
                    </a:cubicBezTo>
                    <a:cubicBezTo>
                      <a:pt x="824326" y="1043468"/>
                      <a:pt x="721803" y="1043714"/>
                      <a:pt x="650262" y="1005840"/>
                    </a:cubicBezTo>
                    <a:cubicBezTo>
                      <a:pt x="609208" y="984105"/>
                      <a:pt x="553870" y="931250"/>
                      <a:pt x="522246" y="896112"/>
                    </a:cubicBezTo>
                    <a:cubicBezTo>
                      <a:pt x="512051" y="884784"/>
                      <a:pt x="506385" y="869454"/>
                      <a:pt x="494814" y="859536"/>
                    </a:cubicBezTo>
                    <a:cubicBezTo>
                      <a:pt x="484465" y="850665"/>
                      <a:pt x="469704" y="848619"/>
                      <a:pt x="458238" y="841248"/>
                    </a:cubicBezTo>
                    <a:cubicBezTo>
                      <a:pt x="420406" y="816927"/>
                      <a:pt x="319665" y="738991"/>
                      <a:pt x="275358" y="722376"/>
                    </a:cubicBezTo>
                    <a:lnTo>
                      <a:pt x="202206" y="694944"/>
                    </a:lnTo>
                    <a:cubicBezTo>
                      <a:pt x="156561" y="710159"/>
                      <a:pt x="78082" y="723095"/>
                      <a:pt x="92478" y="804672"/>
                    </a:cubicBezTo>
                    <a:cubicBezTo>
                      <a:pt x="98517" y="838896"/>
                      <a:pt x="147342" y="847344"/>
                      <a:pt x="174774" y="868680"/>
                    </a:cubicBezTo>
                    <a:cubicBezTo>
                      <a:pt x="269262" y="844296"/>
                      <a:pt x="404108" y="876722"/>
                      <a:pt x="458238" y="795528"/>
                    </a:cubicBezTo>
                    <a:cubicBezTo>
                      <a:pt x="570087" y="627754"/>
                      <a:pt x="245242" y="683050"/>
                      <a:pt x="220494" y="685800"/>
                    </a:cubicBezTo>
                    <a:cubicBezTo>
                      <a:pt x="185488" y="790818"/>
                      <a:pt x="81289" y="934998"/>
                      <a:pt x="247926" y="1014984"/>
                    </a:cubicBezTo>
                    <a:cubicBezTo>
                      <a:pt x="289960" y="1035160"/>
                      <a:pt x="339366" y="996696"/>
                      <a:pt x="385086" y="987552"/>
                    </a:cubicBezTo>
                    <a:cubicBezTo>
                      <a:pt x="394230" y="935736"/>
                      <a:pt x="439196" y="877456"/>
                      <a:pt x="412518" y="832104"/>
                    </a:cubicBezTo>
                    <a:cubicBezTo>
                      <a:pt x="327943" y="688327"/>
                      <a:pt x="233941" y="683003"/>
                      <a:pt x="110766" y="658368"/>
                    </a:cubicBezTo>
                    <a:cubicBezTo>
                      <a:pt x="60088" y="696377"/>
                      <a:pt x="-105671" y="804051"/>
                      <a:pt x="101622" y="886968"/>
                    </a:cubicBezTo>
                    <a:cubicBezTo>
                      <a:pt x="158222" y="909608"/>
                      <a:pt x="174774" y="789432"/>
                      <a:pt x="211350" y="740664"/>
                    </a:cubicBezTo>
                    <a:cubicBezTo>
                      <a:pt x="139272" y="678883"/>
                      <a:pt x="-3767" y="522882"/>
                      <a:pt x="83334" y="923544"/>
                    </a:cubicBezTo>
                    <a:cubicBezTo>
                      <a:pt x="100330" y="1001724"/>
                      <a:pt x="186966" y="1045464"/>
                      <a:pt x="238782" y="1106424"/>
                    </a:cubicBezTo>
                    <a:cubicBezTo>
                      <a:pt x="318030" y="1057656"/>
                      <a:pt x="420695" y="1034561"/>
                      <a:pt x="476526" y="960120"/>
                    </a:cubicBezTo>
                    <a:cubicBezTo>
                      <a:pt x="621366" y="767000"/>
                      <a:pt x="337863" y="683158"/>
                      <a:pt x="247926" y="630936"/>
                    </a:cubicBezTo>
                    <a:cubicBezTo>
                      <a:pt x="233731" y="622694"/>
                      <a:pt x="217446" y="618744"/>
                      <a:pt x="202206" y="612648"/>
                    </a:cubicBezTo>
                    <a:cubicBezTo>
                      <a:pt x="169272" y="750971"/>
                      <a:pt x="109896" y="823861"/>
                      <a:pt x="220494" y="941832"/>
                    </a:cubicBezTo>
                    <a:cubicBezTo>
                      <a:pt x="237301" y="959759"/>
                      <a:pt x="269262" y="947928"/>
                      <a:pt x="293646" y="950976"/>
                    </a:cubicBezTo>
                    <a:cubicBezTo>
                      <a:pt x="305838" y="899160"/>
                      <a:pt x="327424" y="848685"/>
                      <a:pt x="330222" y="795528"/>
                    </a:cubicBezTo>
                    <a:cubicBezTo>
                      <a:pt x="332777" y="746992"/>
                      <a:pt x="272803" y="795296"/>
                      <a:pt x="275358" y="795528"/>
                    </a:cubicBezTo>
                    <a:cubicBezTo>
                      <a:pt x="317963" y="799401"/>
                      <a:pt x="360754" y="790090"/>
                      <a:pt x="403374" y="786384"/>
                    </a:cubicBezTo>
                    <a:cubicBezTo>
                      <a:pt x="430871" y="783993"/>
                      <a:pt x="458258" y="780465"/>
                      <a:pt x="485670" y="777240"/>
                    </a:cubicBezTo>
                    <a:cubicBezTo>
                      <a:pt x="510075" y="774369"/>
                      <a:pt x="534299" y="769678"/>
                      <a:pt x="558822" y="768096"/>
                    </a:cubicBezTo>
                    <a:cubicBezTo>
                      <a:pt x="628847" y="763578"/>
                      <a:pt x="699030" y="762000"/>
                      <a:pt x="769134" y="758952"/>
                    </a:cubicBezTo>
                    <a:cubicBezTo>
                      <a:pt x="814854" y="752856"/>
                      <a:pt x="860287" y="743950"/>
                      <a:pt x="906294" y="740664"/>
                    </a:cubicBezTo>
                    <a:cubicBezTo>
                      <a:pt x="988437" y="734797"/>
                      <a:pt x="1070932" y="735632"/>
                      <a:pt x="1153182" y="731520"/>
                    </a:cubicBezTo>
                    <a:cubicBezTo>
                      <a:pt x="1245088" y="726925"/>
                      <a:pt x="1264445" y="723327"/>
                      <a:pt x="1345206" y="713232"/>
                    </a:cubicBezTo>
                    <a:cubicBezTo>
                      <a:pt x="1373836" y="703689"/>
                      <a:pt x="1406243" y="691328"/>
                      <a:pt x="1436646" y="685800"/>
                    </a:cubicBezTo>
                    <a:cubicBezTo>
                      <a:pt x="1457851" y="681945"/>
                      <a:pt x="1479318" y="679704"/>
                      <a:pt x="1500654" y="676656"/>
                    </a:cubicBezTo>
                    <a:lnTo>
                      <a:pt x="1555518" y="658368"/>
                    </a:lnTo>
                  </a:path>
                </a:pathLst>
              </a:custGeom>
              <a:noFill/>
              <a:ln w="19050">
                <a:solidFill>
                  <a:srgbClr val="DC4C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7" name="Rectangle 16">
              <a:extLst>
                <a:ext uri="{FF2B5EF4-FFF2-40B4-BE49-F238E27FC236}">
                  <a16:creationId xmlns:a16="http://schemas.microsoft.com/office/drawing/2014/main" id="{840C5F3E-E2EF-A94A-4566-EAD49787C1D6}"/>
                </a:ext>
              </a:extLst>
            </p:cNvPr>
            <p:cNvSpPr/>
            <p:nvPr/>
          </p:nvSpPr>
          <p:spPr>
            <a:xfrm>
              <a:off x="261370" y="3663634"/>
              <a:ext cx="1242309" cy="1327920"/>
            </a:xfrm>
            <a:prstGeom prst="rect">
              <a:avLst/>
            </a:prstGeom>
            <a:noFill/>
            <a:ln w="19050">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2A5EEE48-1627-4A86-E86F-372008B163E3}"/>
                </a:ext>
              </a:extLst>
            </p:cNvPr>
            <p:cNvSpPr txBox="1"/>
            <p:nvPr/>
          </p:nvSpPr>
          <p:spPr>
            <a:xfrm>
              <a:off x="1134472" y="3768448"/>
              <a:ext cx="369207" cy="430887"/>
            </a:xfrm>
            <a:prstGeom prst="rect">
              <a:avLst/>
            </a:prstGeom>
            <a:noFill/>
          </p:spPr>
          <p:txBody>
            <a:bodyPr wrap="square" rtlCol="0">
              <a:spAutoFit/>
            </a:bodyPr>
            <a:lstStyle/>
            <a:p>
              <a:r>
                <a:rPr lang="en-US" sz="2200" dirty="0">
                  <a:solidFill>
                    <a:schemeClr val="accent1"/>
                  </a:solidFill>
                </a:rPr>
                <a:t>A</a:t>
              </a:r>
            </a:p>
          </p:txBody>
        </p:sp>
        <p:sp>
          <p:nvSpPr>
            <p:cNvPr id="19" name="TextBox 18">
              <a:extLst>
                <a:ext uri="{FF2B5EF4-FFF2-40B4-BE49-F238E27FC236}">
                  <a16:creationId xmlns:a16="http://schemas.microsoft.com/office/drawing/2014/main" id="{4AAC0440-CFB6-04CF-F283-03E190AD1723}"/>
                </a:ext>
              </a:extLst>
            </p:cNvPr>
            <p:cNvSpPr txBox="1"/>
            <p:nvPr/>
          </p:nvSpPr>
          <p:spPr>
            <a:xfrm>
              <a:off x="-878932" y="4103467"/>
              <a:ext cx="369207" cy="430887"/>
            </a:xfrm>
            <a:prstGeom prst="rect">
              <a:avLst/>
            </a:prstGeom>
            <a:noFill/>
          </p:spPr>
          <p:txBody>
            <a:bodyPr wrap="square" rtlCol="0">
              <a:spAutoFit/>
            </a:bodyPr>
            <a:lstStyle/>
            <a:p>
              <a:r>
                <a:rPr lang="en-US" sz="2200" dirty="0">
                  <a:solidFill>
                    <a:schemeClr val="accent1"/>
                  </a:solidFill>
                </a:rPr>
                <a:t>B</a:t>
              </a:r>
            </a:p>
          </p:txBody>
        </p:sp>
      </p:gr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EF324632-337B-734A-1AF2-C2260DDF35AF}"/>
                  </a:ext>
                </a:extLst>
              </p14:cNvPr>
              <p14:cNvContentPartPr/>
              <p14:nvPr/>
            </p14:nvContentPartPr>
            <p14:xfrm>
              <a:off x="279720" y="1203120"/>
              <a:ext cx="3696480" cy="4819320"/>
            </p14:xfrm>
          </p:contentPart>
        </mc:Choice>
        <mc:Fallback>
          <p:pic>
            <p:nvPicPr>
              <p:cNvPr id="4" name="Ink 3">
                <a:extLst>
                  <a:ext uri="{FF2B5EF4-FFF2-40B4-BE49-F238E27FC236}">
                    <a16:creationId xmlns:a16="http://schemas.microsoft.com/office/drawing/2014/main" id="{EF324632-337B-734A-1AF2-C2260DDF35AF}"/>
                  </a:ext>
                </a:extLst>
              </p:cNvPr>
              <p:cNvPicPr/>
              <p:nvPr/>
            </p:nvPicPr>
            <p:blipFill>
              <a:blip r:embed="rId4"/>
              <a:stretch>
                <a:fillRect/>
              </a:stretch>
            </p:blipFill>
            <p:spPr>
              <a:xfrm>
                <a:off x="270360" y="1193760"/>
                <a:ext cx="3715200" cy="4838040"/>
              </a:xfrm>
              <a:prstGeom prst="rect">
                <a:avLst/>
              </a:prstGeom>
            </p:spPr>
          </p:pic>
        </mc:Fallback>
      </mc:AlternateContent>
    </p:spTree>
    <p:extLst>
      <p:ext uri="{BB962C8B-B14F-4D97-AF65-F5344CB8AC3E}">
        <p14:creationId xmlns:p14="http://schemas.microsoft.com/office/powerpoint/2010/main" val="1081138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91F74-162D-4500-A8B7-B49A379D832F}"/>
              </a:ext>
            </a:extLst>
          </p:cNvPr>
          <p:cNvSpPr>
            <a:spLocks noGrp="1"/>
          </p:cNvSpPr>
          <p:nvPr>
            <p:ph type="title"/>
          </p:nvPr>
        </p:nvSpPr>
        <p:spPr/>
        <p:txBody>
          <a:bodyPr/>
          <a:lstStyle/>
          <a:p>
            <a:r>
              <a:rPr lang="en-US" dirty="0"/>
              <a:t>Divide and Conquer Template Pseudocode</a:t>
            </a:r>
          </a:p>
        </p:txBody>
      </p:sp>
      <p:sp>
        <p:nvSpPr>
          <p:cNvPr id="3" name="Content Placeholder 2">
            <a:extLst>
              <a:ext uri="{FF2B5EF4-FFF2-40B4-BE49-F238E27FC236}">
                <a16:creationId xmlns:a16="http://schemas.microsoft.com/office/drawing/2014/main" id="{4E6A96E2-1227-4225-8791-5FB9A27DA720}"/>
              </a:ext>
            </a:extLst>
          </p:cNvPr>
          <p:cNvSpPr>
            <a:spLocks noGrp="1"/>
          </p:cNvSpPr>
          <p:nvPr>
            <p:ph idx="1"/>
          </p:nvPr>
        </p:nvSpPr>
        <p:spPr>
          <a:xfrm>
            <a:off x="609600" y="1412240"/>
            <a:ext cx="10972800" cy="5445760"/>
          </a:xfrm>
        </p:spPr>
        <p:txBody>
          <a:bodyPr>
            <a:normAutofit fontScale="62500" lnSpcReduction="20000"/>
          </a:bodyPr>
          <a:lstStyle/>
          <a:p>
            <a:pPr marL="0" indent="0">
              <a:buNone/>
            </a:pPr>
            <a:r>
              <a:rPr lang="en-US" dirty="0"/>
              <a:t>def my_DandC(problem){</a:t>
            </a:r>
            <a:br>
              <a:rPr lang="en-US" dirty="0"/>
            </a:br>
            <a:r>
              <a:rPr lang="en-US" dirty="0"/>
              <a:t>    // Base Case</a:t>
            </a:r>
          </a:p>
          <a:p>
            <a:pPr marL="0" indent="0">
              <a:buNone/>
            </a:pPr>
            <a:r>
              <a:rPr lang="en-US" dirty="0"/>
              <a:t>    if (</a:t>
            </a:r>
            <a:r>
              <a:rPr lang="en-US" dirty="0" err="1"/>
              <a:t>problem.size</a:t>
            </a:r>
            <a:r>
              <a:rPr lang="en-US" dirty="0"/>
              <a:t>() &lt;= </a:t>
            </a:r>
            <a:r>
              <a:rPr lang="en-US" dirty="0" err="1"/>
              <a:t>small_value</a:t>
            </a:r>
            <a:r>
              <a:rPr lang="en-US" dirty="0"/>
              <a:t>){</a:t>
            </a:r>
          </a:p>
          <a:p>
            <a:pPr marL="0" indent="0">
              <a:buNone/>
            </a:pPr>
            <a:r>
              <a:rPr lang="en-US" dirty="0"/>
              <a:t>        return solve(problem);  // directly solve (e.g., brute force)</a:t>
            </a:r>
          </a:p>
          <a:p>
            <a:pPr marL="0" indent="0">
              <a:buNone/>
            </a:pPr>
            <a:r>
              <a:rPr lang="en-US" dirty="0"/>
              <a:t>    }</a:t>
            </a:r>
          </a:p>
          <a:p>
            <a:pPr marL="0" indent="0">
              <a:buNone/>
            </a:pPr>
            <a:r>
              <a:rPr lang="en-US" dirty="0"/>
              <a:t>    // Divide</a:t>
            </a:r>
          </a:p>
          <a:p>
            <a:pPr marL="0" indent="0">
              <a:buNone/>
            </a:pPr>
            <a:r>
              <a:rPr lang="en-US" dirty="0"/>
              <a:t>    List subproblems = divide(problem);</a:t>
            </a:r>
          </a:p>
          <a:p>
            <a:pPr marL="0" indent="0">
              <a:buNone/>
            </a:pPr>
            <a:endParaRPr lang="en-US" dirty="0"/>
          </a:p>
          <a:p>
            <a:pPr marL="0" indent="0">
              <a:buNone/>
            </a:pPr>
            <a:r>
              <a:rPr lang="en-US" dirty="0"/>
              <a:t>    // Conquer</a:t>
            </a:r>
          </a:p>
          <a:p>
            <a:pPr marL="0" indent="0">
              <a:buNone/>
            </a:pPr>
            <a:r>
              <a:rPr lang="en-US" dirty="0"/>
              <a:t>    solutions = new List();</a:t>
            </a:r>
          </a:p>
          <a:p>
            <a:pPr marL="0" indent="0">
              <a:buNone/>
            </a:pPr>
            <a:r>
              <a:rPr lang="en-US" dirty="0"/>
              <a:t>    for (sub : subproblems){</a:t>
            </a:r>
          </a:p>
          <a:p>
            <a:pPr marL="0" indent="0">
              <a:buNone/>
            </a:pPr>
            <a:r>
              <a:rPr lang="en-US" dirty="0"/>
              <a:t>        subsolution = my_DandC(sub);</a:t>
            </a:r>
          </a:p>
          <a:p>
            <a:pPr marL="0" indent="0">
              <a:buNone/>
            </a:pPr>
            <a:r>
              <a:rPr lang="en-US" dirty="0"/>
              <a:t>        </a:t>
            </a:r>
            <a:r>
              <a:rPr lang="en-US" dirty="0" err="1"/>
              <a:t>solutions.add</a:t>
            </a:r>
            <a:r>
              <a:rPr lang="en-US" dirty="0"/>
              <a:t>(</a:t>
            </a:r>
            <a:r>
              <a:rPr lang="en-US" dirty="0" err="1"/>
              <a:t>subsolution</a:t>
            </a:r>
            <a:r>
              <a:rPr lang="en-US" dirty="0"/>
              <a:t>);</a:t>
            </a:r>
          </a:p>
          <a:p>
            <a:pPr marL="0" indent="0">
              <a:buNone/>
            </a:pPr>
            <a:r>
              <a:rPr lang="en-US" dirty="0"/>
              <a:t>    }</a:t>
            </a:r>
          </a:p>
          <a:p>
            <a:pPr marL="0" indent="0">
              <a:buNone/>
            </a:pPr>
            <a:r>
              <a:rPr lang="en-US" dirty="0"/>
              <a:t>    // Combine</a:t>
            </a:r>
          </a:p>
          <a:p>
            <a:pPr marL="0" indent="0">
              <a:buNone/>
            </a:pPr>
            <a:r>
              <a:rPr lang="en-US" dirty="0"/>
              <a:t>    return combine(solutions);</a:t>
            </a:r>
          </a:p>
          <a:p>
            <a:pPr marL="0" indent="0">
              <a:buNone/>
            </a:pPr>
            <a:r>
              <a:rPr lang="en-US" dirty="0"/>
              <a:t>}</a:t>
            </a:r>
          </a:p>
        </p:txBody>
      </p:sp>
    </p:spTree>
    <p:extLst>
      <p:ext uri="{BB962C8B-B14F-4D97-AF65-F5344CB8AC3E}">
        <p14:creationId xmlns:p14="http://schemas.microsoft.com/office/powerpoint/2010/main" val="4084274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Merge Sort</a:t>
            </a:r>
          </a:p>
        </p:txBody>
      </p:sp>
      <p:sp>
        <p:nvSpPr>
          <p:cNvPr id="3" name="Content Placeholder 2"/>
          <p:cNvSpPr>
            <a:spLocks noGrp="1"/>
          </p:cNvSpPr>
          <p:nvPr>
            <p:ph idx="4294967295"/>
          </p:nvPr>
        </p:nvSpPr>
        <p:spPr>
          <a:xfrm>
            <a:off x="2519680" y="1298448"/>
            <a:ext cx="9601200" cy="5257800"/>
          </a:xfrm>
        </p:spPr>
        <p:txBody>
          <a:bodyPr>
            <a:normAutofit/>
          </a:bodyPr>
          <a:lstStyle/>
          <a:p>
            <a:r>
              <a:rPr lang="en-US" b="1" dirty="0">
                <a:solidFill>
                  <a:srgbClr val="0070C0"/>
                </a:solidFill>
              </a:rPr>
              <a:t>Base Case</a:t>
            </a:r>
            <a:r>
              <a:rPr lang="en-US" b="1" dirty="0"/>
              <a:t>: </a:t>
            </a:r>
          </a:p>
          <a:p>
            <a:pPr lvl="1"/>
            <a:r>
              <a:rPr lang="en-US" dirty="0"/>
              <a:t>If the list is of length 1 or 0, it’s already sorted, so just return it</a:t>
            </a:r>
          </a:p>
          <a:p>
            <a:pPr lvl="2"/>
            <a:endParaRPr lang="en-US" sz="2600" b="1" dirty="0">
              <a:solidFill>
                <a:srgbClr val="0070C0"/>
              </a:solidFill>
            </a:endParaRPr>
          </a:p>
          <a:p>
            <a:r>
              <a:rPr lang="en-US" b="1" dirty="0">
                <a:solidFill>
                  <a:srgbClr val="0070C0"/>
                </a:solidFill>
              </a:rPr>
              <a:t>Divide</a:t>
            </a:r>
            <a:r>
              <a:rPr lang="en-US" b="1" dirty="0"/>
              <a:t>: </a:t>
            </a:r>
          </a:p>
          <a:p>
            <a:pPr lvl="1"/>
            <a:r>
              <a:rPr lang="en-US" dirty="0"/>
              <a:t>Split the list into two “sublists” of (roughly) equal length</a:t>
            </a:r>
          </a:p>
          <a:p>
            <a:pPr lvl="1"/>
            <a:endParaRPr lang="en-US" sz="2600" b="1" dirty="0"/>
          </a:p>
          <a:p>
            <a:r>
              <a:rPr lang="en-US" b="1" dirty="0">
                <a:solidFill>
                  <a:srgbClr val="0070C0"/>
                </a:solidFill>
              </a:rPr>
              <a:t>Conquer</a:t>
            </a:r>
            <a:r>
              <a:rPr lang="en-US" b="1" dirty="0"/>
              <a:t>:</a:t>
            </a:r>
          </a:p>
          <a:p>
            <a:pPr lvl="1"/>
            <a:r>
              <a:rPr lang="en-US" dirty="0"/>
              <a:t>Sort both lists recursively</a:t>
            </a:r>
          </a:p>
          <a:p>
            <a:pPr lvl="1"/>
            <a:endParaRPr lang="en-US" sz="2600" dirty="0">
              <a:solidFill>
                <a:srgbClr val="FF33CC"/>
              </a:solidFill>
            </a:endParaRPr>
          </a:p>
          <a:p>
            <a:r>
              <a:rPr lang="en-US" b="1" dirty="0">
                <a:solidFill>
                  <a:srgbClr val="0070C0"/>
                </a:solidFill>
              </a:rPr>
              <a:t>Combine</a:t>
            </a:r>
            <a:r>
              <a:rPr lang="en-US" b="1" dirty="0"/>
              <a:t>:</a:t>
            </a:r>
          </a:p>
          <a:p>
            <a:pPr lvl="1"/>
            <a:r>
              <a:rPr lang="en-US" b="1" dirty="0"/>
              <a:t>Merge</a:t>
            </a:r>
            <a:r>
              <a:rPr lang="en-US" dirty="0"/>
              <a:t> sorted sublists into one sorted list</a:t>
            </a:r>
          </a:p>
        </p:txBody>
      </p:sp>
      <p:grpSp>
        <p:nvGrpSpPr>
          <p:cNvPr id="509" name="Group 508" descr="Our objective is to sort an array. For this example, the array is [5,8,2,9,4,1].">
            <a:extLst>
              <a:ext uri="{FF2B5EF4-FFF2-40B4-BE49-F238E27FC236}">
                <a16:creationId xmlns:a16="http://schemas.microsoft.com/office/drawing/2014/main" id="{A512511D-0BF2-1BD4-61D9-99C53A707F13}"/>
              </a:ext>
            </a:extLst>
          </p:cNvPr>
          <p:cNvGrpSpPr/>
          <p:nvPr/>
        </p:nvGrpSpPr>
        <p:grpSpPr>
          <a:xfrm>
            <a:off x="8068310" y="455867"/>
            <a:ext cx="2258060" cy="375920"/>
            <a:chOff x="7967980" y="4321811"/>
            <a:chExt cx="2258060" cy="375920"/>
          </a:xfrm>
        </p:grpSpPr>
        <p:sp>
          <p:nvSpPr>
            <p:cNvPr id="510" name="Rectangle 509">
              <a:extLst>
                <a:ext uri="{FF2B5EF4-FFF2-40B4-BE49-F238E27FC236}">
                  <a16:creationId xmlns:a16="http://schemas.microsoft.com/office/drawing/2014/main" id="{3DCBBB31-B027-E237-6E8F-A785199E188A}"/>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11" name="Rectangle 510">
              <a:extLst>
                <a:ext uri="{FF2B5EF4-FFF2-40B4-BE49-F238E27FC236}">
                  <a16:creationId xmlns:a16="http://schemas.microsoft.com/office/drawing/2014/main" id="{E3D01A99-515F-0FD5-8557-F5A51BEBD9F8}"/>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74" name="Rectangle 73">
              <a:extLst>
                <a:ext uri="{FF2B5EF4-FFF2-40B4-BE49-F238E27FC236}">
                  <a16:creationId xmlns:a16="http://schemas.microsoft.com/office/drawing/2014/main" id="{D712EC17-6C8B-82E7-112A-93F08E4569EA}"/>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5" name="Rectangle 74">
              <a:extLst>
                <a:ext uri="{FF2B5EF4-FFF2-40B4-BE49-F238E27FC236}">
                  <a16:creationId xmlns:a16="http://schemas.microsoft.com/office/drawing/2014/main" id="{7C62145E-972E-AA98-83BB-11990B5B0A19}"/>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6" name="Rectangle 75">
              <a:extLst>
                <a:ext uri="{FF2B5EF4-FFF2-40B4-BE49-F238E27FC236}">
                  <a16:creationId xmlns:a16="http://schemas.microsoft.com/office/drawing/2014/main" id="{D5C88493-7B69-E58E-EAEA-116212C7C254}"/>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77" name="Rectangle 76">
              <a:extLst>
                <a:ext uri="{FF2B5EF4-FFF2-40B4-BE49-F238E27FC236}">
                  <a16:creationId xmlns:a16="http://schemas.microsoft.com/office/drawing/2014/main" id="{7C9C7CE3-7A1C-CF03-CF1E-E5762740CEDA}"/>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492" name="Rectangle 491" descr="In the case that there is 0 or 1 element left we don't need to do anything else, since that sequence is already sorted.">
            <a:extLst>
              <a:ext uri="{FF2B5EF4-FFF2-40B4-BE49-F238E27FC236}">
                <a16:creationId xmlns:a16="http://schemas.microsoft.com/office/drawing/2014/main" id="{FA6038B4-F05D-6F20-8BFC-3AC6EC6FC6E8}"/>
              </a:ext>
            </a:extLst>
          </p:cNvPr>
          <p:cNvSpPr/>
          <p:nvPr/>
        </p:nvSpPr>
        <p:spPr>
          <a:xfrm>
            <a:off x="581660" y="1502728"/>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grpSp>
        <p:nvGrpSpPr>
          <p:cNvPr id="508" name="Group 507" descr="If we have 2 or more items left, split the array in half.&#10;&#10;For this example, the two half arrays will be [5,8,2] and [9,4,1].">
            <a:extLst>
              <a:ext uri="{FF2B5EF4-FFF2-40B4-BE49-F238E27FC236}">
                <a16:creationId xmlns:a16="http://schemas.microsoft.com/office/drawing/2014/main" id="{435895E0-AEA0-0940-5D39-646A13B54670}"/>
              </a:ext>
            </a:extLst>
          </p:cNvPr>
          <p:cNvGrpSpPr/>
          <p:nvPr/>
        </p:nvGrpSpPr>
        <p:grpSpPr>
          <a:xfrm>
            <a:off x="143510" y="2620011"/>
            <a:ext cx="2359660" cy="375920"/>
            <a:chOff x="7866380" y="4321811"/>
            <a:chExt cx="2359660" cy="375920"/>
          </a:xfrm>
        </p:grpSpPr>
        <p:sp>
          <p:nvSpPr>
            <p:cNvPr id="502" name="Rectangle 501">
              <a:extLst>
                <a:ext uri="{FF2B5EF4-FFF2-40B4-BE49-F238E27FC236}">
                  <a16:creationId xmlns:a16="http://schemas.microsoft.com/office/drawing/2014/main" id="{1AC0146F-1215-033B-474C-1202CBB1382F}"/>
                </a:ext>
              </a:extLst>
            </p:cNvPr>
            <p:cNvSpPr/>
            <p:nvPr/>
          </p:nvSpPr>
          <p:spPr>
            <a:xfrm>
              <a:off x="78663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03" name="Rectangle 502">
              <a:extLst>
                <a:ext uri="{FF2B5EF4-FFF2-40B4-BE49-F238E27FC236}">
                  <a16:creationId xmlns:a16="http://schemas.microsoft.com/office/drawing/2014/main" id="{6161B0BF-F025-0B80-A6D8-62CD5002CD1C}"/>
                </a:ext>
              </a:extLst>
            </p:cNvPr>
            <p:cNvSpPr/>
            <p:nvPr/>
          </p:nvSpPr>
          <p:spPr>
            <a:xfrm>
              <a:off x="82423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04" name="Rectangle 503">
              <a:extLst>
                <a:ext uri="{FF2B5EF4-FFF2-40B4-BE49-F238E27FC236}">
                  <a16:creationId xmlns:a16="http://schemas.microsoft.com/office/drawing/2014/main" id="{7E43537C-9288-ABDA-EB6D-AEE370B64291}"/>
                </a:ext>
              </a:extLst>
            </p:cNvPr>
            <p:cNvSpPr/>
            <p:nvPr/>
          </p:nvSpPr>
          <p:spPr>
            <a:xfrm>
              <a:off x="86207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05" name="Rectangle 504">
              <a:extLst>
                <a:ext uri="{FF2B5EF4-FFF2-40B4-BE49-F238E27FC236}">
                  <a16:creationId xmlns:a16="http://schemas.microsoft.com/office/drawing/2014/main" id="{F761104C-7C02-2944-984D-8E55BD055701}"/>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506" name="Rectangle 505">
              <a:extLst>
                <a:ext uri="{FF2B5EF4-FFF2-40B4-BE49-F238E27FC236}">
                  <a16:creationId xmlns:a16="http://schemas.microsoft.com/office/drawing/2014/main" id="{C59D95F4-292C-4129-52CD-0D6A35C64D95}"/>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07" name="Rectangle 506">
              <a:extLst>
                <a:ext uri="{FF2B5EF4-FFF2-40B4-BE49-F238E27FC236}">
                  <a16:creationId xmlns:a16="http://schemas.microsoft.com/office/drawing/2014/main" id="{F84B0681-6C9C-F58D-E1FF-80DFEFD8C581}"/>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grpSp>
        <p:nvGrpSpPr>
          <p:cNvPr id="78" name="Group 77" descr="Recursively sort each of the halves. This gives us the two arrays [2,5,8] and [1,4,9]">
            <a:extLst>
              <a:ext uri="{FF2B5EF4-FFF2-40B4-BE49-F238E27FC236}">
                <a16:creationId xmlns:a16="http://schemas.microsoft.com/office/drawing/2014/main" id="{B9E74BD3-16BD-405D-B960-A8F2C73ADA12}"/>
              </a:ext>
            </a:extLst>
          </p:cNvPr>
          <p:cNvGrpSpPr/>
          <p:nvPr/>
        </p:nvGrpSpPr>
        <p:grpSpPr>
          <a:xfrm>
            <a:off x="143510" y="3929254"/>
            <a:ext cx="2359660" cy="375920"/>
            <a:chOff x="7866380" y="4321811"/>
            <a:chExt cx="2359660" cy="375920"/>
          </a:xfrm>
        </p:grpSpPr>
        <p:sp>
          <p:nvSpPr>
            <p:cNvPr id="79" name="Rectangle 78">
              <a:extLst>
                <a:ext uri="{FF2B5EF4-FFF2-40B4-BE49-F238E27FC236}">
                  <a16:creationId xmlns:a16="http://schemas.microsoft.com/office/drawing/2014/main" id="{0EC224A1-B18F-E6A5-748F-A75B1F455D67}"/>
                </a:ext>
              </a:extLst>
            </p:cNvPr>
            <p:cNvSpPr/>
            <p:nvPr/>
          </p:nvSpPr>
          <p:spPr>
            <a:xfrm>
              <a:off x="78663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0" name="Rectangle 79">
              <a:extLst>
                <a:ext uri="{FF2B5EF4-FFF2-40B4-BE49-F238E27FC236}">
                  <a16:creationId xmlns:a16="http://schemas.microsoft.com/office/drawing/2014/main" id="{78CEEEE7-FC40-57CE-4C6B-E3C2648A6C3D}"/>
                </a:ext>
              </a:extLst>
            </p:cNvPr>
            <p:cNvSpPr/>
            <p:nvPr/>
          </p:nvSpPr>
          <p:spPr>
            <a:xfrm>
              <a:off x="82423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1" name="Rectangle 80">
              <a:extLst>
                <a:ext uri="{FF2B5EF4-FFF2-40B4-BE49-F238E27FC236}">
                  <a16:creationId xmlns:a16="http://schemas.microsoft.com/office/drawing/2014/main" id="{24FE4E47-C824-4651-08D3-308F39FAFA47}"/>
                </a:ext>
              </a:extLst>
            </p:cNvPr>
            <p:cNvSpPr/>
            <p:nvPr/>
          </p:nvSpPr>
          <p:spPr>
            <a:xfrm>
              <a:off x="86207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82" name="Rectangle 81">
              <a:extLst>
                <a:ext uri="{FF2B5EF4-FFF2-40B4-BE49-F238E27FC236}">
                  <a16:creationId xmlns:a16="http://schemas.microsoft.com/office/drawing/2014/main" id="{74962A4A-98DB-B15A-FE92-B6E41220439F}"/>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3" name="Rectangle 82">
              <a:extLst>
                <a:ext uri="{FF2B5EF4-FFF2-40B4-BE49-F238E27FC236}">
                  <a16:creationId xmlns:a16="http://schemas.microsoft.com/office/drawing/2014/main" id="{326CC13B-3743-C67D-1189-37D1268C0515}"/>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4" name="Rectangle 83">
              <a:extLst>
                <a:ext uri="{FF2B5EF4-FFF2-40B4-BE49-F238E27FC236}">
                  <a16:creationId xmlns:a16="http://schemas.microsoft.com/office/drawing/2014/main" id="{940576FB-AFD1-4D3B-05F0-A0B70A599B74}"/>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4" name="Group 3" descr="To get our final sorted list we merge together the two sorted half lists. To do this we compare the first values from each of the half list, removing the smaller of the two and adding it to a combined list. Repeat until all elements have been removed from one list.">
            <a:extLst>
              <a:ext uri="{FF2B5EF4-FFF2-40B4-BE49-F238E27FC236}">
                <a16:creationId xmlns:a16="http://schemas.microsoft.com/office/drawing/2014/main" id="{9E5B2C66-6C4B-8D6D-2F5A-7F20E1C109E9}"/>
              </a:ext>
            </a:extLst>
          </p:cNvPr>
          <p:cNvGrpSpPr/>
          <p:nvPr/>
        </p:nvGrpSpPr>
        <p:grpSpPr>
          <a:xfrm>
            <a:off x="142240" y="5252911"/>
            <a:ext cx="2359660" cy="1197991"/>
            <a:chOff x="142240" y="5252911"/>
            <a:chExt cx="2359660" cy="1197991"/>
          </a:xfrm>
        </p:grpSpPr>
        <p:grpSp>
          <p:nvGrpSpPr>
            <p:cNvPr id="85" name="Group 84">
              <a:extLst>
                <a:ext uri="{FF2B5EF4-FFF2-40B4-BE49-F238E27FC236}">
                  <a16:creationId xmlns:a16="http://schemas.microsoft.com/office/drawing/2014/main" id="{5405945E-100C-6B39-5FD1-BBBE0566368B}"/>
                </a:ext>
              </a:extLst>
            </p:cNvPr>
            <p:cNvGrpSpPr/>
            <p:nvPr/>
          </p:nvGrpSpPr>
          <p:grpSpPr>
            <a:xfrm>
              <a:off x="143510" y="6074982"/>
              <a:ext cx="2258060" cy="375920"/>
              <a:chOff x="7967980" y="4321811"/>
              <a:chExt cx="2258060" cy="375920"/>
            </a:xfrm>
          </p:grpSpPr>
          <p:sp>
            <p:nvSpPr>
              <p:cNvPr id="86" name="Rectangle 85">
                <a:extLst>
                  <a:ext uri="{FF2B5EF4-FFF2-40B4-BE49-F238E27FC236}">
                    <a16:creationId xmlns:a16="http://schemas.microsoft.com/office/drawing/2014/main" id="{0F3690BB-76CB-BAFE-26B3-260B537AE2DA}"/>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7" name="Rectangle 86">
                <a:extLst>
                  <a:ext uri="{FF2B5EF4-FFF2-40B4-BE49-F238E27FC236}">
                    <a16:creationId xmlns:a16="http://schemas.microsoft.com/office/drawing/2014/main" id="{423CC625-C6EE-939F-59C6-8FDBF827024F}"/>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8" name="Rectangle 87">
                <a:extLst>
                  <a:ext uri="{FF2B5EF4-FFF2-40B4-BE49-F238E27FC236}">
                    <a16:creationId xmlns:a16="http://schemas.microsoft.com/office/drawing/2014/main" id="{0B4D7055-02F7-A906-4A01-24889BAD2921}"/>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9" name="Rectangle 88">
                <a:extLst>
                  <a:ext uri="{FF2B5EF4-FFF2-40B4-BE49-F238E27FC236}">
                    <a16:creationId xmlns:a16="http://schemas.microsoft.com/office/drawing/2014/main" id="{96CC5D9E-F542-E42E-4C24-9E7DC23692CD}"/>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0" name="Rectangle 89">
                <a:extLst>
                  <a:ext uri="{FF2B5EF4-FFF2-40B4-BE49-F238E27FC236}">
                    <a16:creationId xmlns:a16="http://schemas.microsoft.com/office/drawing/2014/main" id="{40B29DFD-1138-7F9E-DB14-8EC859E21220}"/>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1" name="Rectangle 90">
                <a:extLst>
                  <a:ext uri="{FF2B5EF4-FFF2-40B4-BE49-F238E27FC236}">
                    <a16:creationId xmlns:a16="http://schemas.microsoft.com/office/drawing/2014/main" id="{C1A2089A-AFB5-4C8F-9B13-2BCC0A93AEAB}"/>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cxnSp>
          <p:nvCxnSpPr>
            <p:cNvPr id="95" name="Straight Arrow Connector 94">
              <a:extLst>
                <a:ext uri="{FF2B5EF4-FFF2-40B4-BE49-F238E27FC236}">
                  <a16:creationId xmlns:a16="http://schemas.microsoft.com/office/drawing/2014/main" id="{39760A4B-C884-D45E-2DBC-75690FDA2811}"/>
                </a:ext>
              </a:extLst>
            </p:cNvPr>
            <p:cNvCxnSpPr>
              <a:cxnSpLocks/>
              <a:stCxn id="101" idx="2"/>
              <a:endCxn id="86" idx="0"/>
            </p:cNvCxnSpPr>
            <p:nvPr/>
          </p:nvCxnSpPr>
          <p:spPr>
            <a:xfrm flipH="1">
              <a:off x="331470" y="5628831"/>
              <a:ext cx="123063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96" name="Group 95">
              <a:extLst>
                <a:ext uri="{FF2B5EF4-FFF2-40B4-BE49-F238E27FC236}">
                  <a16:creationId xmlns:a16="http://schemas.microsoft.com/office/drawing/2014/main" id="{DBA8329B-B184-BF44-2E73-57E81568BE4A}"/>
                </a:ext>
              </a:extLst>
            </p:cNvPr>
            <p:cNvGrpSpPr/>
            <p:nvPr/>
          </p:nvGrpSpPr>
          <p:grpSpPr>
            <a:xfrm>
              <a:off x="142240" y="5252911"/>
              <a:ext cx="2359660" cy="375920"/>
              <a:chOff x="7866380" y="4321811"/>
              <a:chExt cx="2359660" cy="375920"/>
            </a:xfrm>
          </p:grpSpPr>
          <p:sp>
            <p:nvSpPr>
              <p:cNvPr id="97" name="Rectangle 96">
                <a:extLst>
                  <a:ext uri="{FF2B5EF4-FFF2-40B4-BE49-F238E27FC236}">
                    <a16:creationId xmlns:a16="http://schemas.microsoft.com/office/drawing/2014/main" id="{F79926A6-DCE4-B48F-A5CB-5F011A4C0C72}"/>
                  </a:ext>
                </a:extLst>
              </p:cNvPr>
              <p:cNvSpPr/>
              <p:nvPr/>
            </p:nvSpPr>
            <p:spPr>
              <a:xfrm>
                <a:off x="78663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9" name="Rectangle 98">
                <a:extLst>
                  <a:ext uri="{FF2B5EF4-FFF2-40B4-BE49-F238E27FC236}">
                    <a16:creationId xmlns:a16="http://schemas.microsoft.com/office/drawing/2014/main" id="{5D879902-45E2-374E-6352-92BEFC1772DA}"/>
                  </a:ext>
                </a:extLst>
              </p:cNvPr>
              <p:cNvSpPr/>
              <p:nvPr/>
            </p:nvSpPr>
            <p:spPr>
              <a:xfrm>
                <a:off x="82423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0" name="Rectangle 99">
                <a:extLst>
                  <a:ext uri="{FF2B5EF4-FFF2-40B4-BE49-F238E27FC236}">
                    <a16:creationId xmlns:a16="http://schemas.microsoft.com/office/drawing/2014/main" id="{CAAC80FF-CC9B-8C57-D4EB-B9F52B08CF79}"/>
                  </a:ext>
                </a:extLst>
              </p:cNvPr>
              <p:cNvSpPr/>
              <p:nvPr/>
            </p:nvSpPr>
            <p:spPr>
              <a:xfrm>
                <a:off x="86207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1" name="Rectangle 100">
                <a:extLst>
                  <a:ext uri="{FF2B5EF4-FFF2-40B4-BE49-F238E27FC236}">
                    <a16:creationId xmlns:a16="http://schemas.microsoft.com/office/drawing/2014/main" id="{9F991359-E10F-1CEE-641D-4D6B0901C70B}"/>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2" name="Rectangle 101">
                <a:extLst>
                  <a:ext uri="{FF2B5EF4-FFF2-40B4-BE49-F238E27FC236}">
                    <a16:creationId xmlns:a16="http://schemas.microsoft.com/office/drawing/2014/main" id="{DC042204-CC9B-292C-960C-FB3A9E83AD73}"/>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3" name="Rectangle 102">
                <a:extLst>
                  <a:ext uri="{FF2B5EF4-FFF2-40B4-BE49-F238E27FC236}">
                    <a16:creationId xmlns:a16="http://schemas.microsoft.com/office/drawing/2014/main" id="{2038750F-0C93-3541-CBB6-23133514AD7D}"/>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cxnSp>
          <p:nvCxnSpPr>
            <p:cNvPr id="106" name="Straight Arrow Connector 105">
              <a:extLst>
                <a:ext uri="{FF2B5EF4-FFF2-40B4-BE49-F238E27FC236}">
                  <a16:creationId xmlns:a16="http://schemas.microsoft.com/office/drawing/2014/main" id="{402132B9-9C9F-E2DC-3604-45581B49A1B6}"/>
                </a:ext>
              </a:extLst>
            </p:cNvPr>
            <p:cNvCxnSpPr>
              <a:cxnSpLocks/>
              <a:stCxn id="97" idx="2"/>
              <a:endCxn id="87" idx="0"/>
            </p:cNvCxnSpPr>
            <p:nvPr/>
          </p:nvCxnSpPr>
          <p:spPr>
            <a:xfrm>
              <a:off x="330200" y="5628831"/>
              <a:ext cx="37719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B8AB2DD9-25E5-A2C3-5B30-1A2098D2A7B5}"/>
                </a:ext>
              </a:extLst>
            </p:cNvPr>
            <p:cNvCxnSpPr>
              <a:cxnSpLocks/>
              <a:stCxn id="102" idx="2"/>
              <a:endCxn id="88" idx="0"/>
            </p:cNvCxnSpPr>
            <p:nvPr/>
          </p:nvCxnSpPr>
          <p:spPr>
            <a:xfrm flipH="1">
              <a:off x="1085850" y="5628831"/>
              <a:ext cx="85217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A64C6B2E-65E1-999F-AE4C-0C9B90029F04}"/>
                </a:ext>
              </a:extLst>
            </p:cNvPr>
            <p:cNvCxnSpPr>
              <a:cxnSpLocks/>
              <a:stCxn id="99" idx="2"/>
              <a:endCxn id="89" idx="0"/>
            </p:cNvCxnSpPr>
            <p:nvPr/>
          </p:nvCxnSpPr>
          <p:spPr>
            <a:xfrm>
              <a:off x="706120" y="5628831"/>
              <a:ext cx="75565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7BF20938-E610-9740-E5E4-C2A73A8D0BB5}"/>
                </a:ext>
              </a:extLst>
            </p:cNvPr>
            <p:cNvCxnSpPr>
              <a:cxnSpLocks/>
              <a:stCxn id="100" idx="2"/>
              <a:endCxn id="90" idx="0"/>
            </p:cNvCxnSpPr>
            <p:nvPr/>
          </p:nvCxnSpPr>
          <p:spPr>
            <a:xfrm>
              <a:off x="1084580" y="5628831"/>
              <a:ext cx="75311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8660D801-269E-358E-2F73-D1FECEE60AAA}"/>
                </a:ext>
              </a:extLst>
            </p:cNvPr>
            <p:cNvCxnSpPr>
              <a:cxnSpLocks/>
              <a:stCxn id="103" idx="2"/>
              <a:endCxn id="91" idx="0"/>
            </p:cNvCxnSpPr>
            <p:nvPr/>
          </p:nvCxnSpPr>
          <p:spPr>
            <a:xfrm flipH="1">
              <a:off x="2213610" y="5628831"/>
              <a:ext cx="10033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45F0C094-CF2F-FCA0-AAE4-309AC8269316}"/>
                  </a:ext>
                </a:extLst>
              </p14:cNvPr>
              <p14:cNvContentPartPr/>
              <p14:nvPr/>
            </p14:nvContentPartPr>
            <p14:xfrm>
              <a:off x="147600" y="1735920"/>
              <a:ext cx="11015280" cy="3524400"/>
            </p14:xfrm>
          </p:contentPart>
        </mc:Choice>
        <mc:Fallback>
          <p:pic>
            <p:nvPicPr>
              <p:cNvPr id="5" name="Ink 4">
                <a:extLst>
                  <a:ext uri="{FF2B5EF4-FFF2-40B4-BE49-F238E27FC236}">
                    <a16:creationId xmlns:a16="http://schemas.microsoft.com/office/drawing/2014/main" id="{45F0C094-CF2F-FCA0-AAE4-309AC8269316}"/>
                  </a:ext>
                </a:extLst>
              </p:cNvPr>
              <p:cNvPicPr/>
              <p:nvPr/>
            </p:nvPicPr>
            <p:blipFill>
              <a:blip r:embed="rId3"/>
              <a:stretch>
                <a:fillRect/>
              </a:stretch>
            </p:blipFill>
            <p:spPr>
              <a:xfrm>
                <a:off x="138240" y="1726560"/>
                <a:ext cx="11034000" cy="3543120"/>
              </a:xfrm>
              <a:prstGeom prst="rect">
                <a:avLst/>
              </a:prstGeom>
            </p:spPr>
          </p:pic>
        </mc:Fallback>
      </mc:AlternateContent>
    </p:spTree>
    <p:extLst>
      <p:ext uri="{BB962C8B-B14F-4D97-AF65-F5344CB8AC3E}">
        <p14:creationId xmlns:p14="http://schemas.microsoft.com/office/powerpoint/2010/main" val="825342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2CBAD-23AB-0CC2-48DA-218DAB0B7E52}"/>
              </a:ext>
            </a:extLst>
          </p:cNvPr>
          <p:cNvSpPr>
            <a:spLocks noGrp="1"/>
          </p:cNvSpPr>
          <p:nvPr>
            <p:ph type="title"/>
          </p:nvPr>
        </p:nvSpPr>
        <p:spPr/>
        <p:txBody>
          <a:bodyPr/>
          <a:lstStyle/>
          <a:p>
            <a:r>
              <a:rPr lang="en-US" dirty="0"/>
              <a:t>Merge Sort In Action!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DDF2872-D1C3-4B08-E3E4-EF8CAF741EAB}"/>
                  </a:ext>
                </a:extLst>
              </p:cNvPr>
              <p:cNvSpPr txBox="1"/>
              <p:nvPr/>
            </p:nvSpPr>
            <p:spPr>
              <a:xfrm>
                <a:off x="362391" y="1533228"/>
                <a:ext cx="5430520" cy="400110"/>
              </a:xfrm>
              <a:prstGeom prst="rect">
                <a:avLst/>
              </a:prstGeom>
              <a:noFill/>
            </p:spPr>
            <p:txBody>
              <a:bodyPr wrap="square" rtlCol="0">
                <a:spAutoFit/>
              </a:bodyPr>
              <a:lstStyle/>
              <a:p>
                <a:r>
                  <a:rPr lang="en-US" sz="2000" dirty="0"/>
                  <a:t>Sort between indices </a:t>
                </a:r>
                <a14:m>
                  <m:oMath xmlns:m="http://schemas.openxmlformats.org/officeDocument/2006/math">
                    <m:r>
                      <a:rPr lang="en-US" sz="2000" i="1" dirty="0" smtClean="0">
                        <a:solidFill>
                          <a:srgbClr val="FF00FF"/>
                        </a:solidFill>
                        <a:latin typeface="Cambria Math" panose="02040503050406030204" pitchFamily="18" charset="0"/>
                      </a:rPr>
                      <m:t>𝑙𝑜𝑤</m:t>
                    </m:r>
                  </m:oMath>
                </a14:m>
                <a:r>
                  <a:rPr lang="en-US" sz="2000" dirty="0"/>
                  <a:t> and </a:t>
                </a:r>
                <a14:m>
                  <m:oMath xmlns:m="http://schemas.openxmlformats.org/officeDocument/2006/math">
                    <m:r>
                      <a:rPr lang="en-US" sz="2000" i="1" dirty="0" smtClean="0">
                        <a:solidFill>
                          <a:srgbClr val="FF00FF"/>
                        </a:solidFill>
                        <a:latin typeface="Cambria Math" panose="02040503050406030204" pitchFamily="18" charset="0"/>
                      </a:rPr>
                      <m:t>h𝑖𝑔h</m:t>
                    </m:r>
                  </m:oMath>
                </a14:m>
                <a:r>
                  <a:rPr lang="en-US" sz="2000" dirty="0"/>
                  <a:t> </a:t>
                </a:r>
              </a:p>
            </p:txBody>
          </p:sp>
        </mc:Choice>
        <mc:Fallback xmlns="">
          <p:sp>
            <p:nvSpPr>
              <p:cNvPr id="22" name="TextBox 21">
                <a:extLst>
                  <a:ext uri="{FF2B5EF4-FFF2-40B4-BE49-F238E27FC236}">
                    <a16:creationId xmlns:a16="http://schemas.microsoft.com/office/drawing/2014/main" id="{2DDF2872-D1C3-4B08-E3E4-EF8CAF741EAB}"/>
                  </a:ext>
                </a:extLst>
              </p:cNvPr>
              <p:cNvSpPr txBox="1">
                <a:spLocks noRot="1" noChangeAspect="1" noMove="1" noResize="1" noEditPoints="1" noAdjustHandles="1" noChangeArrowheads="1" noChangeShapeType="1" noTextEdit="1"/>
              </p:cNvSpPr>
              <p:nvPr/>
            </p:nvSpPr>
            <p:spPr>
              <a:xfrm>
                <a:off x="362391" y="1533228"/>
                <a:ext cx="5430520" cy="400110"/>
              </a:xfrm>
              <a:prstGeom prst="rect">
                <a:avLst/>
              </a:prstGeom>
              <a:blipFill>
                <a:blip r:embed="rId2"/>
                <a:stretch>
                  <a:fillRect l="-1122" t="-9231" b="-27692"/>
                </a:stretch>
              </a:blipFill>
            </p:spPr>
            <p:txBody>
              <a:bodyPr/>
              <a:lstStyle/>
              <a:p>
                <a:r>
                  <a:rPr lang="en-US">
                    <a:noFill/>
                  </a:rPr>
                  <a:t> </a:t>
                </a:r>
              </a:p>
            </p:txBody>
          </p:sp>
        </mc:Fallback>
      </mc:AlternateContent>
      <p:grpSp>
        <p:nvGrpSpPr>
          <p:cNvPr id="3" name="Group 2" descr="We are sorting the list [5,8,2,9,4,1,3,7]&#10;&#10;Initially low refers to index 0 and high refers to 8">
            <a:extLst>
              <a:ext uri="{FF2B5EF4-FFF2-40B4-BE49-F238E27FC236}">
                <a16:creationId xmlns:a16="http://schemas.microsoft.com/office/drawing/2014/main" id="{8C1DE985-A47B-CFA9-B61D-5A1ED88E2C57}"/>
              </a:ext>
            </a:extLst>
          </p:cNvPr>
          <p:cNvGrpSpPr/>
          <p:nvPr/>
        </p:nvGrpSpPr>
        <p:grpSpPr>
          <a:xfrm>
            <a:off x="2804160" y="2056448"/>
            <a:ext cx="5935214" cy="1125955"/>
            <a:chOff x="2804160" y="2056448"/>
            <a:chExt cx="5935214" cy="1125955"/>
          </a:xfrm>
        </p:grpSpPr>
        <p:grpSp>
          <p:nvGrpSpPr>
            <p:cNvPr id="21" name="Group 20">
              <a:extLst>
                <a:ext uri="{FF2B5EF4-FFF2-40B4-BE49-F238E27FC236}">
                  <a16:creationId xmlns:a16="http://schemas.microsoft.com/office/drawing/2014/main" id="{A14DCCF6-BB83-4EE3-BC80-0BFBFF244782}"/>
                </a:ext>
              </a:extLst>
            </p:cNvPr>
            <p:cNvGrpSpPr/>
            <p:nvPr/>
          </p:nvGrpSpPr>
          <p:grpSpPr>
            <a:xfrm>
              <a:off x="2876550" y="2056448"/>
              <a:ext cx="5862824" cy="732853"/>
              <a:chOff x="641350" y="2386266"/>
              <a:chExt cx="5862824" cy="732853"/>
            </a:xfrm>
          </p:grpSpPr>
          <p:sp>
            <p:nvSpPr>
              <p:cNvPr id="7" name="Rectangle 6">
                <a:extLst>
                  <a:ext uri="{FF2B5EF4-FFF2-40B4-BE49-F238E27FC236}">
                    <a16:creationId xmlns:a16="http://schemas.microsoft.com/office/drawing/2014/main" id="{B888C230-FD3C-EA40-210A-BFFCADEDCFB4}"/>
                  </a:ext>
                </a:extLst>
              </p:cNvPr>
              <p:cNvSpPr/>
              <p:nvPr/>
            </p:nvSpPr>
            <p:spPr>
              <a:xfrm>
                <a:off x="641350"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a:extLst>
                  <a:ext uri="{FF2B5EF4-FFF2-40B4-BE49-F238E27FC236}">
                    <a16:creationId xmlns:a16="http://schemas.microsoft.com/office/drawing/2014/main" id="{488F41F6-3204-607E-164A-DCA6BA90C383}"/>
                  </a:ext>
                </a:extLst>
              </p:cNvPr>
              <p:cNvSpPr/>
              <p:nvPr/>
            </p:nvSpPr>
            <p:spPr>
              <a:xfrm>
                <a:off x="1374203"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 name="Rectangle 8">
                <a:extLst>
                  <a:ext uri="{FF2B5EF4-FFF2-40B4-BE49-F238E27FC236}">
                    <a16:creationId xmlns:a16="http://schemas.microsoft.com/office/drawing/2014/main" id="{F7076EE9-0D45-1598-39E4-88A91E3187FC}"/>
                  </a:ext>
                </a:extLst>
              </p:cNvPr>
              <p:cNvSpPr/>
              <p:nvPr/>
            </p:nvSpPr>
            <p:spPr>
              <a:xfrm>
                <a:off x="2107056"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 name="Rectangle 9">
                <a:extLst>
                  <a:ext uri="{FF2B5EF4-FFF2-40B4-BE49-F238E27FC236}">
                    <a16:creationId xmlns:a16="http://schemas.microsoft.com/office/drawing/2014/main" id="{E2F75015-E664-CC9C-4594-D28BA01E463F}"/>
                  </a:ext>
                </a:extLst>
              </p:cNvPr>
              <p:cNvSpPr/>
              <p:nvPr/>
            </p:nvSpPr>
            <p:spPr>
              <a:xfrm>
                <a:off x="2839909"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1" name="Rectangle 10">
                <a:extLst>
                  <a:ext uri="{FF2B5EF4-FFF2-40B4-BE49-F238E27FC236}">
                    <a16:creationId xmlns:a16="http://schemas.microsoft.com/office/drawing/2014/main" id="{9E7EF827-6599-548F-5C3D-8292DB144B00}"/>
                  </a:ext>
                </a:extLst>
              </p:cNvPr>
              <p:cNvSpPr/>
              <p:nvPr/>
            </p:nvSpPr>
            <p:spPr>
              <a:xfrm>
                <a:off x="3572762"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a:extLst>
                  <a:ext uri="{FF2B5EF4-FFF2-40B4-BE49-F238E27FC236}">
                    <a16:creationId xmlns:a16="http://schemas.microsoft.com/office/drawing/2014/main" id="{7B9FB8D4-ECC1-E1AB-E075-8F7CCE064CB4}"/>
                  </a:ext>
                </a:extLst>
              </p:cNvPr>
              <p:cNvSpPr/>
              <p:nvPr/>
            </p:nvSpPr>
            <p:spPr>
              <a:xfrm>
                <a:off x="4305615"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9" name="Rectangle 18">
                <a:extLst>
                  <a:ext uri="{FF2B5EF4-FFF2-40B4-BE49-F238E27FC236}">
                    <a16:creationId xmlns:a16="http://schemas.microsoft.com/office/drawing/2014/main" id="{1BB24EE8-88B6-5BE1-2240-D58005BAE911}"/>
                  </a:ext>
                </a:extLst>
              </p:cNvPr>
              <p:cNvSpPr/>
              <p:nvPr/>
            </p:nvSpPr>
            <p:spPr>
              <a:xfrm>
                <a:off x="5038468"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0" name="Rectangle 19">
                <a:extLst>
                  <a:ext uri="{FF2B5EF4-FFF2-40B4-BE49-F238E27FC236}">
                    <a16:creationId xmlns:a16="http://schemas.microsoft.com/office/drawing/2014/main" id="{F096B498-5386-7132-97CB-04CACDCC3646}"/>
                  </a:ext>
                </a:extLst>
              </p:cNvPr>
              <p:cNvSpPr/>
              <p:nvPr/>
            </p:nvSpPr>
            <p:spPr>
              <a:xfrm>
                <a:off x="5771321"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7DCC280-7CB1-97D9-0F00-51561B65C832}"/>
                    </a:ext>
                  </a:extLst>
                </p:cNvPr>
                <p:cNvSpPr txBox="1"/>
                <p:nvPr/>
              </p:nvSpPr>
              <p:spPr>
                <a:xfrm>
                  <a:off x="2804160" y="2813071"/>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solidFill>
                              <a:srgbClr val="FF00FF"/>
                            </a:solidFill>
                            <a:latin typeface="Cambria Math" panose="02040503050406030204" pitchFamily="18" charset="0"/>
                          </a:rPr>
                          <m:t>𝑙𝑜𝑤</m:t>
                        </m:r>
                      </m:oMath>
                    </m:oMathPara>
                  </a14:m>
                  <a:endParaRPr lang="en-US" dirty="0"/>
                </a:p>
              </p:txBody>
            </p:sp>
          </mc:Choice>
          <mc:Fallback xmlns="">
            <p:sp>
              <p:nvSpPr>
                <p:cNvPr id="24" name="TextBox 23">
                  <a:extLst>
                    <a:ext uri="{FF2B5EF4-FFF2-40B4-BE49-F238E27FC236}">
                      <a16:creationId xmlns:a16="http://schemas.microsoft.com/office/drawing/2014/main" id="{A7DCC280-7CB1-97D9-0F00-51561B65C832}"/>
                    </a:ext>
                  </a:extLst>
                </p:cNvPr>
                <p:cNvSpPr txBox="1">
                  <a:spLocks noRot="1" noChangeAspect="1" noMove="1" noResize="1" noEditPoints="1" noAdjustHandles="1" noChangeArrowheads="1" noChangeShapeType="1" noTextEdit="1"/>
                </p:cNvSpPr>
                <p:nvPr/>
              </p:nvSpPr>
              <p:spPr>
                <a:xfrm>
                  <a:off x="2804160" y="2813071"/>
                  <a:ext cx="732853"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47521F1-C529-BCFD-8388-55369777A507}"/>
                    </a:ext>
                  </a:extLst>
                </p:cNvPr>
                <p:cNvSpPr txBox="1"/>
                <p:nvPr/>
              </p:nvSpPr>
              <p:spPr>
                <a:xfrm>
                  <a:off x="8006520" y="2789301"/>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dirty="0" smtClean="0">
                            <a:solidFill>
                              <a:srgbClr val="FF00FF"/>
                            </a:solidFill>
                            <a:latin typeface="Cambria Math" panose="02040503050406030204" pitchFamily="18" charset="0"/>
                          </a:rPr>
                          <m:t>h𝑖𝑔h</m:t>
                        </m:r>
                      </m:oMath>
                    </m:oMathPara>
                  </a14:m>
                  <a:endParaRPr lang="en-US" dirty="0"/>
                </a:p>
              </p:txBody>
            </p:sp>
          </mc:Choice>
          <mc:Fallback xmlns="">
            <p:sp>
              <p:nvSpPr>
                <p:cNvPr id="25" name="TextBox 24">
                  <a:extLst>
                    <a:ext uri="{FF2B5EF4-FFF2-40B4-BE49-F238E27FC236}">
                      <a16:creationId xmlns:a16="http://schemas.microsoft.com/office/drawing/2014/main" id="{E47521F1-C529-BCFD-8388-55369777A507}"/>
                    </a:ext>
                  </a:extLst>
                </p:cNvPr>
                <p:cNvSpPr txBox="1">
                  <a:spLocks noRot="1" noChangeAspect="1" noMove="1" noResize="1" noEditPoints="1" noAdjustHandles="1" noChangeArrowheads="1" noChangeShapeType="1" noTextEdit="1"/>
                </p:cNvSpPr>
                <p:nvPr/>
              </p:nvSpPr>
              <p:spPr>
                <a:xfrm>
                  <a:off x="8006520" y="2789301"/>
                  <a:ext cx="732853" cy="369332"/>
                </a:xfrm>
                <a:prstGeom prst="rect">
                  <a:avLst/>
                </a:prstGeom>
                <a:blipFill>
                  <a:blip r:embed="rId4"/>
                  <a:stretch>
                    <a:fillRect b="-13333"/>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5388C347-A8D8-2303-74DB-E7D69034D8A2}"/>
                  </a:ext>
                </a:extLst>
              </p:cNvPr>
              <p:cNvSpPr txBox="1"/>
              <p:nvPr/>
            </p:nvSpPr>
            <p:spPr>
              <a:xfrm>
                <a:off x="312257" y="3142831"/>
                <a:ext cx="8852729" cy="400110"/>
              </a:xfrm>
              <a:prstGeom prst="rect">
                <a:avLst/>
              </a:prstGeom>
              <a:noFill/>
            </p:spPr>
            <p:txBody>
              <a:bodyPr wrap="square" rtlCol="0">
                <a:spAutoFit/>
              </a:bodyPr>
              <a:lstStyle/>
              <a:p>
                <a:r>
                  <a:rPr lang="en-US" sz="2000" dirty="0"/>
                  <a:t>Base Case: if </a:t>
                </a:r>
                <a14:m>
                  <m:oMath xmlns:m="http://schemas.openxmlformats.org/officeDocument/2006/math">
                    <m:r>
                      <a:rPr lang="en-US" sz="2000" i="1" dirty="0" smtClean="0">
                        <a:solidFill>
                          <a:srgbClr val="FF00FF"/>
                        </a:solidFill>
                        <a:latin typeface="Cambria Math" panose="02040503050406030204" pitchFamily="18" charset="0"/>
                      </a:rPr>
                      <m:t>𝑙𝑜𝑤</m:t>
                    </m:r>
                  </m:oMath>
                </a14:m>
                <a:r>
                  <a:rPr lang="en-US" sz="2000" dirty="0"/>
                  <a:t> == </a:t>
                </a:r>
                <a14:m>
                  <m:oMath xmlns:m="http://schemas.openxmlformats.org/officeDocument/2006/math">
                    <m:r>
                      <a:rPr lang="en-US" sz="2000" b="0" i="1" dirty="0" smtClean="0">
                        <a:solidFill>
                          <a:srgbClr val="FF00FF"/>
                        </a:solidFill>
                        <a:latin typeface="Cambria Math" panose="02040503050406030204" pitchFamily="18" charset="0"/>
                      </a:rPr>
                      <m:t>h𝑖𝑔h</m:t>
                    </m:r>
                  </m:oMath>
                </a14:m>
                <a:r>
                  <a:rPr lang="en-US" sz="2000" dirty="0"/>
                  <a:t> then that range is already sorted!</a:t>
                </a:r>
              </a:p>
            </p:txBody>
          </p:sp>
        </mc:Choice>
        <mc:Fallback xmlns="">
          <p:sp>
            <p:nvSpPr>
              <p:cNvPr id="27" name="TextBox 26">
                <a:extLst>
                  <a:ext uri="{FF2B5EF4-FFF2-40B4-BE49-F238E27FC236}">
                    <a16:creationId xmlns:a16="http://schemas.microsoft.com/office/drawing/2014/main" id="{5388C347-A8D8-2303-74DB-E7D69034D8A2}"/>
                  </a:ext>
                </a:extLst>
              </p:cNvPr>
              <p:cNvSpPr txBox="1">
                <a:spLocks noRot="1" noChangeAspect="1" noMove="1" noResize="1" noEditPoints="1" noAdjustHandles="1" noChangeArrowheads="1" noChangeShapeType="1" noTextEdit="1"/>
              </p:cNvSpPr>
              <p:nvPr/>
            </p:nvSpPr>
            <p:spPr>
              <a:xfrm>
                <a:off x="312257" y="3142831"/>
                <a:ext cx="8852729" cy="400110"/>
              </a:xfrm>
              <a:prstGeom prst="rect">
                <a:avLst/>
              </a:prstGeom>
              <a:blipFill>
                <a:blip r:embed="rId5"/>
                <a:stretch>
                  <a:fillRect l="-689" t="-9231"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03BBCFA-D348-D5DC-E24C-572F4975723A}"/>
                  </a:ext>
                </a:extLst>
              </p:cNvPr>
              <p:cNvSpPr txBox="1"/>
              <p:nvPr/>
            </p:nvSpPr>
            <p:spPr>
              <a:xfrm>
                <a:off x="312257" y="3539659"/>
                <a:ext cx="10991410" cy="552972"/>
              </a:xfrm>
              <a:prstGeom prst="rect">
                <a:avLst/>
              </a:prstGeom>
              <a:noFill/>
            </p:spPr>
            <p:txBody>
              <a:bodyPr wrap="square" rtlCol="0">
                <a:spAutoFit/>
              </a:bodyPr>
              <a:lstStyle/>
              <a:p>
                <a:r>
                  <a:rPr lang="en-US" sz="2000" dirty="0"/>
                  <a:t>Divide and Conquer: Otherwise call </a:t>
                </a:r>
                <a:r>
                  <a:rPr lang="en-US" sz="2000" dirty="0" err="1"/>
                  <a:t>mergesort</a:t>
                </a:r>
                <a:r>
                  <a:rPr lang="en-US" sz="2000" dirty="0"/>
                  <a:t> on ranges </a:t>
                </a:r>
                <a14:m>
                  <m:oMath xmlns:m="http://schemas.openxmlformats.org/officeDocument/2006/math">
                    <m:d>
                      <m:dPr>
                        <m:ctrlPr>
                          <a:rPr lang="en-US" sz="2000" b="0" i="1" smtClean="0">
                            <a:solidFill>
                              <a:srgbClr val="FF00FF"/>
                            </a:solidFill>
                            <a:latin typeface="Cambria Math" panose="02040503050406030204" pitchFamily="18" charset="0"/>
                          </a:rPr>
                        </m:ctrlPr>
                      </m:dPr>
                      <m:e>
                        <m:r>
                          <a:rPr lang="en-US" sz="2000" b="0" i="1" smtClean="0">
                            <a:solidFill>
                              <a:srgbClr val="FF00FF"/>
                            </a:solidFill>
                            <a:latin typeface="Cambria Math" panose="02040503050406030204" pitchFamily="18" charset="0"/>
                          </a:rPr>
                          <m:t>𝑙𝑜𝑤</m:t>
                        </m:r>
                        <m:r>
                          <a:rPr lang="en-US" sz="2000" b="0" i="1" smtClean="0">
                            <a:solidFill>
                              <a:srgbClr val="FF00FF"/>
                            </a:solidFill>
                            <a:latin typeface="Cambria Math" panose="02040503050406030204" pitchFamily="18" charset="0"/>
                          </a:rPr>
                          <m:t>,</m:t>
                        </m:r>
                        <m:f>
                          <m:fPr>
                            <m:ctrlPr>
                              <a:rPr lang="en-US" sz="2000" b="0" i="1" smtClean="0">
                                <a:solidFill>
                                  <a:srgbClr val="FF00FF"/>
                                </a:solidFill>
                                <a:latin typeface="Cambria Math" panose="02040503050406030204" pitchFamily="18" charset="0"/>
                              </a:rPr>
                            </m:ctrlPr>
                          </m:fPr>
                          <m:num>
                            <m:r>
                              <a:rPr lang="en-US" sz="2000" b="0" i="1" smtClean="0">
                                <a:solidFill>
                                  <a:srgbClr val="FF00FF"/>
                                </a:solidFill>
                                <a:latin typeface="Cambria Math" panose="02040503050406030204" pitchFamily="18" charset="0"/>
                              </a:rPr>
                              <m:t>𝑙𝑜𝑤</m:t>
                            </m:r>
                            <m:r>
                              <a:rPr lang="en-US" sz="2000" b="0" i="1" smtClean="0">
                                <a:solidFill>
                                  <a:srgbClr val="FF00FF"/>
                                </a:solidFill>
                                <a:latin typeface="Cambria Math" panose="02040503050406030204" pitchFamily="18" charset="0"/>
                              </a:rPr>
                              <m:t>+</m:t>
                            </m:r>
                            <m:r>
                              <a:rPr lang="en-US" sz="2000" b="0" i="1" smtClean="0">
                                <a:solidFill>
                                  <a:srgbClr val="FF00FF"/>
                                </a:solidFill>
                                <a:latin typeface="Cambria Math" panose="02040503050406030204" pitchFamily="18" charset="0"/>
                              </a:rPr>
                              <m:t>h𝑖𝑔h</m:t>
                            </m:r>
                          </m:num>
                          <m:den>
                            <m:r>
                              <a:rPr lang="en-US" sz="2000" b="0" i="1" smtClean="0">
                                <a:solidFill>
                                  <a:srgbClr val="FF00FF"/>
                                </a:solidFill>
                                <a:latin typeface="Cambria Math" panose="02040503050406030204" pitchFamily="18" charset="0"/>
                              </a:rPr>
                              <m:t>2</m:t>
                            </m:r>
                          </m:den>
                        </m:f>
                      </m:e>
                    </m:d>
                  </m:oMath>
                </a14:m>
                <a:r>
                  <a:rPr lang="en-US" sz="2000" dirty="0"/>
                  <a:t> and </a:t>
                </a:r>
                <a14:m>
                  <m:oMath xmlns:m="http://schemas.openxmlformats.org/officeDocument/2006/math">
                    <m:d>
                      <m:dPr>
                        <m:ctrlPr>
                          <a:rPr lang="en-US" sz="2000" i="1">
                            <a:solidFill>
                              <a:srgbClr val="FF00FF"/>
                            </a:solidFill>
                            <a:latin typeface="Cambria Math" panose="02040503050406030204" pitchFamily="18" charset="0"/>
                          </a:rPr>
                        </m:ctrlPr>
                      </m:dPr>
                      <m:e>
                        <m:f>
                          <m:fPr>
                            <m:ctrlPr>
                              <a:rPr lang="en-US" sz="2000" i="1">
                                <a:solidFill>
                                  <a:srgbClr val="FF00FF"/>
                                </a:solidFill>
                                <a:latin typeface="Cambria Math" panose="02040503050406030204" pitchFamily="18" charset="0"/>
                              </a:rPr>
                            </m:ctrlPr>
                          </m:fPr>
                          <m:num>
                            <m:r>
                              <a:rPr lang="en-US" sz="2000" i="1">
                                <a:solidFill>
                                  <a:srgbClr val="FF00FF"/>
                                </a:solidFill>
                                <a:latin typeface="Cambria Math" panose="02040503050406030204" pitchFamily="18" charset="0"/>
                              </a:rPr>
                              <m:t>𝑙𝑜𝑤</m:t>
                            </m:r>
                            <m:r>
                              <a:rPr lang="en-US" sz="2000" i="1">
                                <a:solidFill>
                                  <a:srgbClr val="FF00FF"/>
                                </a:solidFill>
                                <a:latin typeface="Cambria Math" panose="02040503050406030204" pitchFamily="18" charset="0"/>
                              </a:rPr>
                              <m:t>+</m:t>
                            </m:r>
                            <m:r>
                              <a:rPr lang="en-US" sz="2000" i="1">
                                <a:solidFill>
                                  <a:srgbClr val="FF00FF"/>
                                </a:solidFill>
                                <a:latin typeface="Cambria Math" panose="02040503050406030204" pitchFamily="18" charset="0"/>
                              </a:rPr>
                              <m:t>h𝑖𝑔h</m:t>
                            </m:r>
                          </m:num>
                          <m:den>
                            <m:r>
                              <a:rPr lang="en-US" sz="2000" i="1">
                                <a:solidFill>
                                  <a:srgbClr val="FF00FF"/>
                                </a:solidFill>
                                <a:latin typeface="Cambria Math" panose="02040503050406030204" pitchFamily="18" charset="0"/>
                              </a:rPr>
                              <m:t>2</m:t>
                            </m:r>
                          </m:den>
                        </m:f>
                        <m:r>
                          <a:rPr lang="en-US" sz="2000" b="0" i="1" smtClean="0">
                            <a:solidFill>
                              <a:srgbClr val="FF00FF"/>
                            </a:solidFill>
                            <a:latin typeface="Cambria Math" panose="02040503050406030204" pitchFamily="18" charset="0"/>
                          </a:rPr>
                          <m:t>+1, </m:t>
                        </m:r>
                        <m:r>
                          <a:rPr lang="en-US" sz="2000" b="0" i="1" smtClean="0">
                            <a:solidFill>
                              <a:srgbClr val="FF00FF"/>
                            </a:solidFill>
                            <a:latin typeface="Cambria Math" panose="02040503050406030204" pitchFamily="18" charset="0"/>
                          </a:rPr>
                          <m:t>h𝑖𝑔h</m:t>
                        </m:r>
                      </m:e>
                    </m:d>
                  </m:oMath>
                </a14:m>
                <a:endParaRPr lang="en-US" sz="2000" dirty="0"/>
              </a:p>
            </p:txBody>
          </p:sp>
        </mc:Choice>
        <mc:Fallback xmlns="">
          <p:sp>
            <p:nvSpPr>
              <p:cNvPr id="28" name="TextBox 27">
                <a:extLst>
                  <a:ext uri="{FF2B5EF4-FFF2-40B4-BE49-F238E27FC236}">
                    <a16:creationId xmlns:a16="http://schemas.microsoft.com/office/drawing/2014/main" id="{503BBCFA-D348-D5DC-E24C-572F4975723A}"/>
                  </a:ext>
                </a:extLst>
              </p:cNvPr>
              <p:cNvSpPr txBox="1">
                <a:spLocks noRot="1" noChangeAspect="1" noMove="1" noResize="1" noEditPoints="1" noAdjustHandles="1" noChangeArrowheads="1" noChangeShapeType="1" noTextEdit="1"/>
              </p:cNvSpPr>
              <p:nvPr/>
            </p:nvSpPr>
            <p:spPr>
              <a:xfrm>
                <a:off x="312257" y="3539659"/>
                <a:ext cx="10991410" cy="552972"/>
              </a:xfrm>
              <a:prstGeom prst="rect">
                <a:avLst/>
              </a:prstGeom>
              <a:blipFill>
                <a:blip r:embed="rId6"/>
                <a:stretch>
                  <a:fillRect l="-555" b="-6667"/>
                </a:stretch>
              </a:blipFill>
            </p:spPr>
            <p:txBody>
              <a:bodyPr/>
              <a:lstStyle/>
              <a:p>
                <a:r>
                  <a:rPr lang="en-US">
                    <a:noFill/>
                  </a:rPr>
                  <a:t> </a:t>
                </a:r>
              </a:p>
            </p:txBody>
          </p:sp>
        </mc:Fallback>
      </mc:AlternateContent>
      <p:grpSp>
        <p:nvGrpSpPr>
          <p:cNvPr id="4" name="Group 3" descr="To divide we split the array into two halves by calculating the midpoint between low and high, which is (low+high)/2. Our two half arrays are then the indices from low to (low+high)/2 and then from (low+high)/2 +1 up to high. We recursively sort those two half arrays.">
            <a:extLst>
              <a:ext uri="{FF2B5EF4-FFF2-40B4-BE49-F238E27FC236}">
                <a16:creationId xmlns:a16="http://schemas.microsoft.com/office/drawing/2014/main" id="{80DE510C-DD88-EA71-8A37-6C8BB68BE54A}"/>
              </a:ext>
            </a:extLst>
          </p:cNvPr>
          <p:cNvGrpSpPr/>
          <p:nvPr/>
        </p:nvGrpSpPr>
        <p:grpSpPr>
          <a:xfrm>
            <a:off x="2580640" y="4002150"/>
            <a:ext cx="5935214" cy="1504570"/>
            <a:chOff x="2580640" y="4002150"/>
            <a:chExt cx="5935214" cy="1504570"/>
          </a:xfrm>
        </p:grpSpPr>
        <p:grpSp>
          <p:nvGrpSpPr>
            <p:cNvPr id="29" name="Group 28">
              <a:extLst>
                <a:ext uri="{FF2B5EF4-FFF2-40B4-BE49-F238E27FC236}">
                  <a16:creationId xmlns:a16="http://schemas.microsoft.com/office/drawing/2014/main" id="{3D3C4954-18C7-146E-6B7E-0D9D212CA13A}"/>
                </a:ext>
              </a:extLst>
            </p:cNvPr>
            <p:cNvGrpSpPr/>
            <p:nvPr/>
          </p:nvGrpSpPr>
          <p:grpSpPr>
            <a:xfrm>
              <a:off x="2653030" y="4199677"/>
              <a:ext cx="5862824" cy="732853"/>
              <a:chOff x="641350" y="2386266"/>
              <a:chExt cx="5862824" cy="732853"/>
            </a:xfrm>
          </p:grpSpPr>
          <p:sp>
            <p:nvSpPr>
              <p:cNvPr id="30" name="Rectangle 29">
                <a:extLst>
                  <a:ext uri="{FF2B5EF4-FFF2-40B4-BE49-F238E27FC236}">
                    <a16:creationId xmlns:a16="http://schemas.microsoft.com/office/drawing/2014/main" id="{263E3FFF-3C3A-E76C-6E22-3C2489A65651}"/>
                  </a:ext>
                </a:extLst>
              </p:cNvPr>
              <p:cNvSpPr/>
              <p:nvPr/>
            </p:nvSpPr>
            <p:spPr>
              <a:xfrm>
                <a:off x="641350"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1" name="Rectangle 30">
                <a:extLst>
                  <a:ext uri="{FF2B5EF4-FFF2-40B4-BE49-F238E27FC236}">
                    <a16:creationId xmlns:a16="http://schemas.microsoft.com/office/drawing/2014/main" id="{B4AB53C9-518C-D320-CF21-4B4CD17CFE26}"/>
                  </a:ext>
                </a:extLst>
              </p:cNvPr>
              <p:cNvSpPr/>
              <p:nvPr/>
            </p:nvSpPr>
            <p:spPr>
              <a:xfrm>
                <a:off x="1374203"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2" name="Rectangle 31">
                <a:extLst>
                  <a:ext uri="{FF2B5EF4-FFF2-40B4-BE49-F238E27FC236}">
                    <a16:creationId xmlns:a16="http://schemas.microsoft.com/office/drawing/2014/main" id="{ED232457-E7F3-9FA4-E6AF-0C289F508761}"/>
                  </a:ext>
                </a:extLst>
              </p:cNvPr>
              <p:cNvSpPr/>
              <p:nvPr/>
            </p:nvSpPr>
            <p:spPr>
              <a:xfrm>
                <a:off x="2107056"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3" name="Rectangle 32">
                <a:extLst>
                  <a:ext uri="{FF2B5EF4-FFF2-40B4-BE49-F238E27FC236}">
                    <a16:creationId xmlns:a16="http://schemas.microsoft.com/office/drawing/2014/main" id="{83C181DA-77E2-6D0D-BF2D-D935A61F7614}"/>
                  </a:ext>
                </a:extLst>
              </p:cNvPr>
              <p:cNvSpPr/>
              <p:nvPr/>
            </p:nvSpPr>
            <p:spPr>
              <a:xfrm>
                <a:off x="2839909"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4" name="Rectangle 33">
                <a:extLst>
                  <a:ext uri="{FF2B5EF4-FFF2-40B4-BE49-F238E27FC236}">
                    <a16:creationId xmlns:a16="http://schemas.microsoft.com/office/drawing/2014/main" id="{531CBE20-1325-540C-60C6-0FE22059A639}"/>
                  </a:ext>
                </a:extLst>
              </p:cNvPr>
              <p:cNvSpPr/>
              <p:nvPr/>
            </p:nvSpPr>
            <p:spPr>
              <a:xfrm>
                <a:off x="3572762"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5" name="Rectangle 34">
                <a:extLst>
                  <a:ext uri="{FF2B5EF4-FFF2-40B4-BE49-F238E27FC236}">
                    <a16:creationId xmlns:a16="http://schemas.microsoft.com/office/drawing/2014/main" id="{7A68CC84-471E-C966-DB8A-1C5F1B77A5AB}"/>
                  </a:ext>
                </a:extLst>
              </p:cNvPr>
              <p:cNvSpPr/>
              <p:nvPr/>
            </p:nvSpPr>
            <p:spPr>
              <a:xfrm>
                <a:off x="4305615"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6" name="Rectangle 35">
                <a:extLst>
                  <a:ext uri="{FF2B5EF4-FFF2-40B4-BE49-F238E27FC236}">
                    <a16:creationId xmlns:a16="http://schemas.microsoft.com/office/drawing/2014/main" id="{FB6BC1D1-46F1-7544-E4DA-77766CBBE52A}"/>
                  </a:ext>
                </a:extLst>
              </p:cNvPr>
              <p:cNvSpPr/>
              <p:nvPr/>
            </p:nvSpPr>
            <p:spPr>
              <a:xfrm>
                <a:off x="5038468"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7" name="Rectangle 36">
                <a:extLst>
                  <a:ext uri="{FF2B5EF4-FFF2-40B4-BE49-F238E27FC236}">
                    <a16:creationId xmlns:a16="http://schemas.microsoft.com/office/drawing/2014/main" id="{E03EE08D-8601-013B-E0A7-546F75941260}"/>
                  </a:ext>
                </a:extLst>
              </p:cNvPr>
              <p:cNvSpPr/>
              <p:nvPr/>
            </p:nvSpPr>
            <p:spPr>
              <a:xfrm>
                <a:off x="5771321"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18A966C-DFAE-60B7-7FC7-6C2EF91E948A}"/>
                    </a:ext>
                  </a:extLst>
                </p:cNvPr>
                <p:cNvSpPr txBox="1"/>
                <p:nvPr/>
              </p:nvSpPr>
              <p:spPr>
                <a:xfrm>
                  <a:off x="2580640" y="4956300"/>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solidFill>
                              <a:srgbClr val="FF00FF"/>
                            </a:solidFill>
                            <a:latin typeface="Cambria Math" panose="02040503050406030204" pitchFamily="18" charset="0"/>
                          </a:rPr>
                          <m:t>𝑙𝑜𝑤</m:t>
                        </m:r>
                      </m:oMath>
                    </m:oMathPara>
                  </a14:m>
                  <a:endParaRPr lang="en-US" dirty="0"/>
                </a:p>
              </p:txBody>
            </p:sp>
          </mc:Choice>
          <mc:Fallback xmlns="">
            <p:sp>
              <p:nvSpPr>
                <p:cNvPr id="38" name="TextBox 37">
                  <a:extLst>
                    <a:ext uri="{FF2B5EF4-FFF2-40B4-BE49-F238E27FC236}">
                      <a16:creationId xmlns:a16="http://schemas.microsoft.com/office/drawing/2014/main" id="{E18A966C-DFAE-60B7-7FC7-6C2EF91E948A}"/>
                    </a:ext>
                  </a:extLst>
                </p:cNvPr>
                <p:cNvSpPr txBox="1">
                  <a:spLocks noRot="1" noChangeAspect="1" noMove="1" noResize="1" noEditPoints="1" noAdjustHandles="1" noChangeArrowheads="1" noChangeShapeType="1" noTextEdit="1"/>
                </p:cNvSpPr>
                <p:nvPr/>
              </p:nvSpPr>
              <p:spPr>
                <a:xfrm>
                  <a:off x="2580640" y="4956300"/>
                  <a:ext cx="732853"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DA7609C9-9931-85A8-6C36-CFBE3621FB43}"/>
                    </a:ext>
                  </a:extLst>
                </p:cNvPr>
                <p:cNvSpPr txBox="1"/>
                <p:nvPr/>
              </p:nvSpPr>
              <p:spPr>
                <a:xfrm>
                  <a:off x="7783000" y="4932530"/>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dirty="0" smtClean="0">
                            <a:solidFill>
                              <a:srgbClr val="FF00FF"/>
                            </a:solidFill>
                            <a:latin typeface="Cambria Math" panose="02040503050406030204" pitchFamily="18" charset="0"/>
                          </a:rPr>
                          <m:t>h𝑖𝑔h</m:t>
                        </m:r>
                      </m:oMath>
                    </m:oMathPara>
                  </a14:m>
                  <a:endParaRPr lang="en-US" dirty="0"/>
                </a:p>
              </p:txBody>
            </p:sp>
          </mc:Choice>
          <mc:Fallback xmlns="">
            <p:sp>
              <p:nvSpPr>
                <p:cNvPr id="39" name="TextBox 38">
                  <a:extLst>
                    <a:ext uri="{FF2B5EF4-FFF2-40B4-BE49-F238E27FC236}">
                      <a16:creationId xmlns:a16="http://schemas.microsoft.com/office/drawing/2014/main" id="{DA7609C9-9931-85A8-6C36-CFBE3621FB43}"/>
                    </a:ext>
                  </a:extLst>
                </p:cNvPr>
                <p:cNvSpPr txBox="1">
                  <a:spLocks noRot="1" noChangeAspect="1" noMove="1" noResize="1" noEditPoints="1" noAdjustHandles="1" noChangeArrowheads="1" noChangeShapeType="1" noTextEdit="1"/>
                </p:cNvSpPr>
                <p:nvPr/>
              </p:nvSpPr>
              <p:spPr>
                <a:xfrm>
                  <a:off x="7783000" y="4932530"/>
                  <a:ext cx="732853" cy="369332"/>
                </a:xfrm>
                <a:prstGeom prst="rect">
                  <a:avLst/>
                </a:prstGeom>
                <a:blipFill>
                  <a:blip r:embed="rId8"/>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E13CD170-F635-085C-F3DC-D237BF24ED6B}"/>
                    </a:ext>
                  </a:extLst>
                </p:cNvPr>
                <p:cNvSpPr txBox="1"/>
                <p:nvPr/>
              </p:nvSpPr>
              <p:spPr>
                <a:xfrm>
                  <a:off x="4288632" y="4969652"/>
                  <a:ext cx="1497305"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b="0" i="1" smtClean="0">
                                <a:solidFill>
                                  <a:srgbClr val="FF00FF"/>
                                </a:solidFill>
                                <a:latin typeface="Cambria Math" panose="02040503050406030204" pitchFamily="18" charset="0"/>
                              </a:rPr>
                            </m:ctrlPr>
                          </m:fPr>
                          <m:num>
                            <m:r>
                              <a:rPr lang="en-US" sz="1400" b="0" i="1" smtClean="0">
                                <a:solidFill>
                                  <a:srgbClr val="FF00FF"/>
                                </a:solidFill>
                                <a:latin typeface="Cambria Math" panose="02040503050406030204" pitchFamily="18" charset="0"/>
                              </a:rPr>
                              <m:t>𝑙𝑜𝑤</m:t>
                            </m:r>
                            <m:r>
                              <a:rPr lang="en-US" sz="1400" b="0" i="1" smtClean="0">
                                <a:solidFill>
                                  <a:srgbClr val="FF00FF"/>
                                </a:solidFill>
                                <a:latin typeface="Cambria Math" panose="02040503050406030204" pitchFamily="18" charset="0"/>
                              </a:rPr>
                              <m:t>+</m:t>
                            </m:r>
                            <m:r>
                              <a:rPr lang="en-US" sz="1400" b="0" i="1" smtClean="0">
                                <a:solidFill>
                                  <a:srgbClr val="FF00FF"/>
                                </a:solidFill>
                                <a:latin typeface="Cambria Math" panose="02040503050406030204" pitchFamily="18" charset="0"/>
                              </a:rPr>
                              <m:t>h𝑖𝑔h</m:t>
                            </m:r>
                          </m:num>
                          <m:den>
                            <m:r>
                              <a:rPr lang="en-US" sz="1400" b="0" i="1" smtClean="0">
                                <a:solidFill>
                                  <a:srgbClr val="FF00FF"/>
                                </a:solidFill>
                                <a:latin typeface="Cambria Math" panose="02040503050406030204" pitchFamily="18" charset="0"/>
                              </a:rPr>
                              <m:t>2</m:t>
                            </m:r>
                          </m:den>
                        </m:f>
                      </m:oMath>
                    </m:oMathPara>
                  </a14:m>
                  <a:endParaRPr lang="en-US" sz="1400" dirty="0"/>
                </a:p>
              </p:txBody>
            </p:sp>
          </mc:Choice>
          <mc:Fallback xmlns="">
            <p:sp>
              <p:nvSpPr>
                <p:cNvPr id="41" name="TextBox 40">
                  <a:extLst>
                    <a:ext uri="{FF2B5EF4-FFF2-40B4-BE49-F238E27FC236}">
                      <a16:creationId xmlns:a16="http://schemas.microsoft.com/office/drawing/2014/main" id="{E13CD170-F635-085C-F3DC-D237BF24ED6B}"/>
                    </a:ext>
                  </a:extLst>
                </p:cNvPr>
                <p:cNvSpPr txBox="1">
                  <a:spLocks noRot="1" noChangeAspect="1" noMove="1" noResize="1" noEditPoints="1" noAdjustHandles="1" noChangeArrowheads="1" noChangeShapeType="1" noTextEdit="1"/>
                </p:cNvSpPr>
                <p:nvPr/>
              </p:nvSpPr>
              <p:spPr>
                <a:xfrm>
                  <a:off x="4288632" y="4969652"/>
                  <a:ext cx="1497305" cy="499945"/>
                </a:xfrm>
                <a:prstGeom prst="rect">
                  <a:avLst/>
                </a:prstGeom>
                <a:blipFill>
                  <a:blip r:embed="rId9"/>
                  <a:stretch>
                    <a:fillRect b="-24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A62BA5EF-5185-5588-EB46-795E3436CCC9}"/>
                    </a:ext>
                  </a:extLst>
                </p:cNvPr>
                <p:cNvSpPr txBox="1"/>
                <p:nvPr/>
              </p:nvSpPr>
              <p:spPr>
                <a:xfrm>
                  <a:off x="5525770" y="5006774"/>
                  <a:ext cx="1497305"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b="0" i="1" smtClean="0">
                                <a:solidFill>
                                  <a:srgbClr val="FF00FF"/>
                                </a:solidFill>
                                <a:latin typeface="Cambria Math" panose="02040503050406030204" pitchFamily="18" charset="0"/>
                              </a:rPr>
                            </m:ctrlPr>
                          </m:fPr>
                          <m:num>
                            <m:r>
                              <a:rPr lang="en-US" sz="1400" b="0" i="1" smtClean="0">
                                <a:solidFill>
                                  <a:srgbClr val="FF00FF"/>
                                </a:solidFill>
                                <a:latin typeface="Cambria Math" panose="02040503050406030204" pitchFamily="18" charset="0"/>
                              </a:rPr>
                              <m:t>𝑙𝑜𝑤</m:t>
                            </m:r>
                            <m:r>
                              <a:rPr lang="en-US" sz="1400" b="0" i="1" smtClean="0">
                                <a:solidFill>
                                  <a:srgbClr val="FF00FF"/>
                                </a:solidFill>
                                <a:latin typeface="Cambria Math" panose="02040503050406030204" pitchFamily="18" charset="0"/>
                              </a:rPr>
                              <m:t>+</m:t>
                            </m:r>
                            <m:r>
                              <a:rPr lang="en-US" sz="1400" b="0" i="1" smtClean="0">
                                <a:solidFill>
                                  <a:srgbClr val="FF00FF"/>
                                </a:solidFill>
                                <a:latin typeface="Cambria Math" panose="02040503050406030204" pitchFamily="18" charset="0"/>
                              </a:rPr>
                              <m:t>h𝑖𝑔h</m:t>
                            </m:r>
                          </m:num>
                          <m:den>
                            <m:r>
                              <a:rPr lang="en-US" sz="1400" b="0" i="1" smtClean="0">
                                <a:solidFill>
                                  <a:srgbClr val="FF00FF"/>
                                </a:solidFill>
                                <a:latin typeface="Cambria Math" panose="02040503050406030204" pitchFamily="18" charset="0"/>
                              </a:rPr>
                              <m:t>2</m:t>
                            </m:r>
                          </m:den>
                        </m:f>
                        <m:r>
                          <a:rPr lang="en-US" sz="1400" b="0" i="1" smtClean="0">
                            <a:solidFill>
                              <a:srgbClr val="FF00FF"/>
                            </a:solidFill>
                            <a:latin typeface="Cambria Math" panose="02040503050406030204" pitchFamily="18" charset="0"/>
                          </a:rPr>
                          <m:t>+1</m:t>
                        </m:r>
                      </m:oMath>
                    </m:oMathPara>
                  </a14:m>
                  <a:endParaRPr lang="en-US" sz="1400" dirty="0"/>
                </a:p>
              </p:txBody>
            </p:sp>
          </mc:Choice>
          <mc:Fallback xmlns="">
            <p:sp>
              <p:nvSpPr>
                <p:cNvPr id="42" name="TextBox 41">
                  <a:extLst>
                    <a:ext uri="{FF2B5EF4-FFF2-40B4-BE49-F238E27FC236}">
                      <a16:creationId xmlns:a16="http://schemas.microsoft.com/office/drawing/2014/main" id="{A62BA5EF-5185-5588-EB46-795E3436CCC9}"/>
                    </a:ext>
                  </a:extLst>
                </p:cNvPr>
                <p:cNvSpPr txBox="1">
                  <a:spLocks noRot="1" noChangeAspect="1" noMove="1" noResize="1" noEditPoints="1" noAdjustHandles="1" noChangeArrowheads="1" noChangeShapeType="1" noTextEdit="1"/>
                </p:cNvSpPr>
                <p:nvPr/>
              </p:nvSpPr>
              <p:spPr>
                <a:xfrm>
                  <a:off x="5525770" y="5006774"/>
                  <a:ext cx="1497305" cy="499945"/>
                </a:xfrm>
                <a:prstGeom prst="rect">
                  <a:avLst/>
                </a:prstGeom>
                <a:blipFill>
                  <a:blip r:embed="rId10"/>
                  <a:stretch>
                    <a:fillRect b="-2439"/>
                  </a:stretch>
                </a:blipFill>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6FF4245F-E847-1743-85A7-9C67FC224BB0}"/>
                </a:ext>
              </a:extLst>
            </p:cNvPr>
            <p:cNvCxnSpPr>
              <a:cxnSpLocks/>
            </p:cNvCxnSpPr>
            <p:nvPr/>
          </p:nvCxnSpPr>
          <p:spPr>
            <a:xfrm>
              <a:off x="5584442" y="4002150"/>
              <a:ext cx="0" cy="1504570"/>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60EC4A69-2D89-1F59-AFFB-70237FE3AA78}"/>
                  </a:ext>
                </a:extLst>
              </p:cNvPr>
              <p:cNvSpPr txBox="1"/>
              <p:nvPr/>
            </p:nvSpPr>
            <p:spPr>
              <a:xfrm>
                <a:off x="2580640" y="6428722"/>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solidFill>
                            <a:srgbClr val="FF00FF"/>
                          </a:solidFill>
                          <a:latin typeface="Cambria Math" panose="02040503050406030204" pitchFamily="18" charset="0"/>
                        </a:rPr>
                        <m:t>𝑙𝑜𝑤</m:t>
                      </m:r>
                    </m:oMath>
                  </m:oMathPara>
                </a14:m>
                <a:endParaRPr lang="en-US" dirty="0"/>
              </a:p>
            </p:txBody>
          </p:sp>
        </mc:Choice>
        <mc:Fallback xmlns="">
          <p:sp>
            <p:nvSpPr>
              <p:cNvPr id="56" name="TextBox 55">
                <a:extLst>
                  <a:ext uri="{FF2B5EF4-FFF2-40B4-BE49-F238E27FC236}">
                    <a16:creationId xmlns:a16="http://schemas.microsoft.com/office/drawing/2014/main" id="{60EC4A69-2D89-1F59-AFFB-70237FE3AA78}"/>
                  </a:ext>
                </a:extLst>
              </p:cNvPr>
              <p:cNvSpPr txBox="1">
                <a:spLocks noRot="1" noChangeAspect="1" noMove="1" noResize="1" noEditPoints="1" noAdjustHandles="1" noChangeArrowheads="1" noChangeShapeType="1" noTextEdit="1"/>
              </p:cNvSpPr>
              <p:nvPr/>
            </p:nvSpPr>
            <p:spPr>
              <a:xfrm>
                <a:off x="2580640" y="6428722"/>
                <a:ext cx="732853" cy="369332"/>
              </a:xfrm>
              <a:prstGeom prst="rect">
                <a:avLst/>
              </a:prstGeom>
              <a:blipFill>
                <a:blip r:embed="rId11"/>
                <a:stretch>
                  <a:fillRect/>
                </a:stretch>
              </a:blipFill>
            </p:spPr>
            <p:txBody>
              <a:bodyPr/>
              <a:lstStyle/>
              <a:p>
                <a:r>
                  <a:rPr lang="en-US">
                    <a:noFill/>
                  </a:rPr>
                  <a:t> </a:t>
                </a:r>
              </a:p>
            </p:txBody>
          </p:sp>
        </mc:Fallback>
      </mc:AlternateContent>
      <p:grpSp>
        <p:nvGrpSpPr>
          <p:cNvPr id="5" name="Group 4" descr="After the recursive conquer steps we have each half-list sorted, but the range from low to high is not yet sorted.">
            <a:extLst>
              <a:ext uri="{FF2B5EF4-FFF2-40B4-BE49-F238E27FC236}">
                <a16:creationId xmlns:a16="http://schemas.microsoft.com/office/drawing/2014/main" id="{BB35499D-AF7E-3F2A-37A7-7F960A761D9F}"/>
              </a:ext>
            </a:extLst>
          </p:cNvPr>
          <p:cNvGrpSpPr/>
          <p:nvPr/>
        </p:nvGrpSpPr>
        <p:grpSpPr>
          <a:xfrm>
            <a:off x="2653030" y="5672099"/>
            <a:ext cx="5862824" cy="1102185"/>
            <a:chOff x="2653030" y="5672099"/>
            <a:chExt cx="5862824" cy="1102185"/>
          </a:xfrm>
        </p:grpSpPr>
        <p:grpSp>
          <p:nvGrpSpPr>
            <p:cNvPr id="47" name="Group 46">
              <a:extLst>
                <a:ext uri="{FF2B5EF4-FFF2-40B4-BE49-F238E27FC236}">
                  <a16:creationId xmlns:a16="http://schemas.microsoft.com/office/drawing/2014/main" id="{8A963E52-A4AF-852A-B21B-7A42B4E5386D}"/>
                </a:ext>
              </a:extLst>
            </p:cNvPr>
            <p:cNvGrpSpPr/>
            <p:nvPr/>
          </p:nvGrpSpPr>
          <p:grpSpPr>
            <a:xfrm>
              <a:off x="2653030" y="5672099"/>
              <a:ext cx="5862824" cy="732853"/>
              <a:chOff x="641350" y="2386266"/>
              <a:chExt cx="5862824" cy="732853"/>
            </a:xfrm>
          </p:grpSpPr>
          <p:sp>
            <p:nvSpPr>
              <p:cNvPr id="48" name="Rectangle 47">
                <a:extLst>
                  <a:ext uri="{FF2B5EF4-FFF2-40B4-BE49-F238E27FC236}">
                    <a16:creationId xmlns:a16="http://schemas.microsoft.com/office/drawing/2014/main" id="{13B02481-CF61-EF96-5453-7FB12E7F13A4}"/>
                  </a:ext>
                </a:extLst>
              </p:cNvPr>
              <p:cNvSpPr/>
              <p:nvPr/>
            </p:nvSpPr>
            <p:spPr>
              <a:xfrm>
                <a:off x="641350"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9" name="Rectangle 48">
                <a:extLst>
                  <a:ext uri="{FF2B5EF4-FFF2-40B4-BE49-F238E27FC236}">
                    <a16:creationId xmlns:a16="http://schemas.microsoft.com/office/drawing/2014/main" id="{DBFBB41E-AADC-E1A6-BE95-E0C85FDAB6B1}"/>
                  </a:ext>
                </a:extLst>
              </p:cNvPr>
              <p:cNvSpPr/>
              <p:nvPr/>
            </p:nvSpPr>
            <p:spPr>
              <a:xfrm>
                <a:off x="1374203"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0" name="Rectangle 49">
                <a:extLst>
                  <a:ext uri="{FF2B5EF4-FFF2-40B4-BE49-F238E27FC236}">
                    <a16:creationId xmlns:a16="http://schemas.microsoft.com/office/drawing/2014/main" id="{AB7869A1-7679-DE17-3E60-8B50A6C4B0A2}"/>
                  </a:ext>
                </a:extLst>
              </p:cNvPr>
              <p:cNvSpPr/>
              <p:nvPr/>
            </p:nvSpPr>
            <p:spPr>
              <a:xfrm>
                <a:off x="2107056"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1" name="Rectangle 50">
                <a:extLst>
                  <a:ext uri="{FF2B5EF4-FFF2-40B4-BE49-F238E27FC236}">
                    <a16:creationId xmlns:a16="http://schemas.microsoft.com/office/drawing/2014/main" id="{DE04867C-4660-98C8-256D-C98F0EC9A427}"/>
                  </a:ext>
                </a:extLst>
              </p:cNvPr>
              <p:cNvSpPr/>
              <p:nvPr/>
            </p:nvSpPr>
            <p:spPr>
              <a:xfrm>
                <a:off x="2839909"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52" name="Rectangle 51">
                <a:extLst>
                  <a:ext uri="{FF2B5EF4-FFF2-40B4-BE49-F238E27FC236}">
                    <a16:creationId xmlns:a16="http://schemas.microsoft.com/office/drawing/2014/main" id="{5952717D-A7A0-6046-1A59-D0F84BB09A6B}"/>
                  </a:ext>
                </a:extLst>
              </p:cNvPr>
              <p:cNvSpPr/>
              <p:nvPr/>
            </p:nvSpPr>
            <p:spPr>
              <a:xfrm>
                <a:off x="3572762"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3" name="Rectangle 52">
                <a:extLst>
                  <a:ext uri="{FF2B5EF4-FFF2-40B4-BE49-F238E27FC236}">
                    <a16:creationId xmlns:a16="http://schemas.microsoft.com/office/drawing/2014/main" id="{62E4CCB4-9A64-FBB8-098E-EB736A9DC5E9}"/>
                  </a:ext>
                </a:extLst>
              </p:cNvPr>
              <p:cNvSpPr/>
              <p:nvPr/>
            </p:nvSpPr>
            <p:spPr>
              <a:xfrm>
                <a:off x="4305615"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4" name="Rectangle 53">
                <a:extLst>
                  <a:ext uri="{FF2B5EF4-FFF2-40B4-BE49-F238E27FC236}">
                    <a16:creationId xmlns:a16="http://schemas.microsoft.com/office/drawing/2014/main" id="{8C588CFB-6886-B3E4-F149-27A460466F7A}"/>
                  </a:ext>
                </a:extLst>
              </p:cNvPr>
              <p:cNvSpPr/>
              <p:nvPr/>
            </p:nvSpPr>
            <p:spPr>
              <a:xfrm>
                <a:off x="5038468"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5" name="Rectangle 54">
                <a:extLst>
                  <a:ext uri="{FF2B5EF4-FFF2-40B4-BE49-F238E27FC236}">
                    <a16:creationId xmlns:a16="http://schemas.microsoft.com/office/drawing/2014/main" id="{23A6B9B3-683B-B245-2120-B6C97C6C0119}"/>
                  </a:ext>
                </a:extLst>
              </p:cNvPr>
              <p:cNvSpPr/>
              <p:nvPr/>
            </p:nvSpPr>
            <p:spPr>
              <a:xfrm>
                <a:off x="5771321"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FC0B620E-FD13-DE0C-5024-743EEDDADFCD}"/>
                    </a:ext>
                  </a:extLst>
                </p:cNvPr>
                <p:cNvSpPr txBox="1"/>
                <p:nvPr/>
              </p:nvSpPr>
              <p:spPr>
                <a:xfrm>
                  <a:off x="7783000" y="6404952"/>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dirty="0" smtClean="0">
                            <a:solidFill>
                              <a:srgbClr val="FF00FF"/>
                            </a:solidFill>
                            <a:latin typeface="Cambria Math" panose="02040503050406030204" pitchFamily="18" charset="0"/>
                          </a:rPr>
                          <m:t>h𝑖𝑔h</m:t>
                        </m:r>
                      </m:oMath>
                    </m:oMathPara>
                  </a14:m>
                  <a:endParaRPr lang="en-US" dirty="0"/>
                </a:p>
              </p:txBody>
            </p:sp>
          </mc:Choice>
          <mc:Fallback xmlns="">
            <p:sp>
              <p:nvSpPr>
                <p:cNvPr id="57" name="TextBox 56">
                  <a:extLst>
                    <a:ext uri="{FF2B5EF4-FFF2-40B4-BE49-F238E27FC236}">
                      <a16:creationId xmlns:a16="http://schemas.microsoft.com/office/drawing/2014/main" id="{FC0B620E-FD13-DE0C-5024-743EEDDADFCD}"/>
                    </a:ext>
                  </a:extLst>
                </p:cNvPr>
                <p:cNvSpPr txBox="1">
                  <a:spLocks noRot="1" noChangeAspect="1" noMove="1" noResize="1" noEditPoints="1" noAdjustHandles="1" noChangeArrowheads="1" noChangeShapeType="1" noTextEdit="1"/>
                </p:cNvSpPr>
                <p:nvPr/>
              </p:nvSpPr>
              <p:spPr>
                <a:xfrm>
                  <a:off x="7783000" y="6404952"/>
                  <a:ext cx="732853" cy="369332"/>
                </a:xfrm>
                <a:prstGeom prst="rect">
                  <a:avLst/>
                </a:prstGeom>
                <a:blipFill>
                  <a:blip r:embed="rId12"/>
                  <a:stretch>
                    <a:fillRect b="-13333"/>
                  </a:stretch>
                </a:blipFill>
              </p:spPr>
              <p:txBody>
                <a:bodyPr/>
                <a:lstStyle/>
                <a:p>
                  <a:r>
                    <a:rPr lang="en-US">
                      <a:noFill/>
                    </a:rPr>
                    <a:t> </a:t>
                  </a:r>
                </a:p>
              </p:txBody>
            </p:sp>
          </mc:Fallback>
        </mc:AlternateContent>
      </p:grpSp>
      <p:sp>
        <p:nvSpPr>
          <p:cNvPr id="61" name="TextBox 60">
            <a:extLst>
              <a:ext uri="{FF2B5EF4-FFF2-40B4-BE49-F238E27FC236}">
                <a16:creationId xmlns:a16="http://schemas.microsoft.com/office/drawing/2014/main" id="{014B858A-911D-26ED-6F2B-0FF5014A4F19}"/>
              </a:ext>
            </a:extLst>
          </p:cNvPr>
          <p:cNvSpPr txBox="1"/>
          <p:nvPr/>
        </p:nvSpPr>
        <p:spPr>
          <a:xfrm>
            <a:off x="312257" y="5763351"/>
            <a:ext cx="10991410" cy="400110"/>
          </a:xfrm>
          <a:prstGeom prst="rect">
            <a:avLst/>
          </a:prstGeom>
          <a:noFill/>
        </p:spPr>
        <p:txBody>
          <a:bodyPr wrap="square" rtlCol="0">
            <a:spAutoFit/>
          </a:bodyPr>
          <a:lstStyle/>
          <a:p>
            <a:r>
              <a:rPr lang="en-US" sz="2000" dirty="0"/>
              <a:t>After Recursion:</a:t>
            </a:r>
          </a:p>
        </p:txBody>
      </p:sp>
      <mc:AlternateContent xmlns:mc="http://schemas.openxmlformats.org/markup-compatibility/2006">
        <mc:Choice xmlns:p14="http://schemas.microsoft.com/office/powerpoint/2010/main" Requires="p14">
          <p:contentPart p14:bwMode="auto" r:id="rId13">
            <p14:nvContentPartPr>
              <p14:cNvPr id="6" name="Ink 5">
                <a:extLst>
                  <a:ext uri="{FF2B5EF4-FFF2-40B4-BE49-F238E27FC236}">
                    <a16:creationId xmlns:a16="http://schemas.microsoft.com/office/drawing/2014/main" id="{CEE388A6-D122-9959-0F70-F69940A86816}"/>
                  </a:ext>
                </a:extLst>
              </p14:cNvPr>
              <p14:cNvContentPartPr/>
              <p14:nvPr/>
            </p14:nvContentPartPr>
            <p14:xfrm>
              <a:off x="1428840" y="2326680"/>
              <a:ext cx="7598880" cy="4112280"/>
            </p14:xfrm>
          </p:contentPart>
        </mc:Choice>
        <mc:Fallback>
          <p:pic>
            <p:nvPicPr>
              <p:cNvPr id="6" name="Ink 5">
                <a:extLst>
                  <a:ext uri="{FF2B5EF4-FFF2-40B4-BE49-F238E27FC236}">
                    <a16:creationId xmlns:a16="http://schemas.microsoft.com/office/drawing/2014/main" id="{CEE388A6-D122-9959-0F70-F69940A86816}"/>
                  </a:ext>
                </a:extLst>
              </p:cNvPr>
              <p:cNvPicPr/>
              <p:nvPr/>
            </p:nvPicPr>
            <p:blipFill>
              <a:blip r:embed="rId14"/>
              <a:stretch>
                <a:fillRect/>
              </a:stretch>
            </p:blipFill>
            <p:spPr>
              <a:xfrm>
                <a:off x="1419480" y="2317320"/>
                <a:ext cx="7617600" cy="4131000"/>
              </a:xfrm>
              <a:prstGeom prst="rect">
                <a:avLst/>
              </a:prstGeom>
            </p:spPr>
          </p:pic>
        </mc:Fallback>
      </mc:AlternateContent>
    </p:spTree>
    <p:extLst>
      <p:ext uri="{BB962C8B-B14F-4D97-AF65-F5344CB8AC3E}">
        <p14:creationId xmlns:p14="http://schemas.microsoft.com/office/powerpoint/2010/main" val="26321363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2F328-04B6-E91F-1000-0492DC56A084}"/>
              </a:ext>
            </a:extLst>
          </p:cNvPr>
          <p:cNvSpPr>
            <a:spLocks noGrp="1"/>
          </p:cNvSpPr>
          <p:nvPr>
            <p:ph type="title"/>
          </p:nvPr>
        </p:nvSpPr>
        <p:spPr/>
        <p:txBody>
          <a:bodyPr/>
          <a:lstStyle/>
          <a:p>
            <a:r>
              <a:rPr lang="en-US" dirty="0"/>
              <a:t>Merge (the combine part)</a:t>
            </a:r>
          </a:p>
        </p:txBody>
      </p:sp>
      <p:sp>
        <p:nvSpPr>
          <p:cNvPr id="30" name="TextBox 29">
            <a:extLst>
              <a:ext uri="{FF2B5EF4-FFF2-40B4-BE49-F238E27FC236}">
                <a16:creationId xmlns:a16="http://schemas.microsoft.com/office/drawing/2014/main" id="{1C40C5B3-F308-4ACC-3D1F-6D7C299211BC}"/>
              </a:ext>
            </a:extLst>
          </p:cNvPr>
          <p:cNvSpPr txBox="1"/>
          <p:nvPr/>
        </p:nvSpPr>
        <p:spPr>
          <a:xfrm>
            <a:off x="2892575" y="1443857"/>
            <a:ext cx="7672070" cy="1323439"/>
          </a:xfrm>
          <a:prstGeom prst="rect">
            <a:avLst/>
          </a:prstGeom>
          <a:noFill/>
        </p:spPr>
        <p:txBody>
          <a:bodyPr wrap="square" rtlCol="0">
            <a:spAutoFit/>
          </a:bodyPr>
          <a:lstStyle/>
          <a:p>
            <a:r>
              <a:rPr lang="en-US" sz="2000" dirty="0"/>
              <a:t>Create a </a:t>
            </a:r>
            <a:r>
              <a:rPr lang="en-US" sz="2000" dirty="0">
                <a:solidFill>
                  <a:schemeClr val="accent2">
                    <a:lumMod val="75000"/>
                  </a:schemeClr>
                </a:solidFill>
              </a:rPr>
              <a:t>new array to merge into</a:t>
            </a:r>
            <a:r>
              <a:rPr lang="en-US" sz="2000" dirty="0"/>
              <a:t>, and 3 pointers/indices:</a:t>
            </a:r>
          </a:p>
          <a:p>
            <a:pPr marL="342900" indent="-342900">
              <a:buFont typeface="Arial" panose="020B0604020202020204" pitchFamily="34" charset="0"/>
              <a:buChar char="•"/>
            </a:pPr>
            <a:r>
              <a:rPr lang="en-US" sz="2000" dirty="0" err="1">
                <a:solidFill>
                  <a:schemeClr val="accent1">
                    <a:lumMod val="75000"/>
                  </a:schemeClr>
                </a:solidFill>
              </a:rPr>
              <a:t>L_next</a:t>
            </a:r>
            <a:r>
              <a:rPr lang="en-US" sz="2000" dirty="0"/>
              <a:t>: the smallest “unmerged” thing on the left</a:t>
            </a:r>
          </a:p>
          <a:p>
            <a:pPr marL="342900" indent="-342900">
              <a:buFont typeface="Arial" panose="020B0604020202020204" pitchFamily="34" charset="0"/>
              <a:buChar char="•"/>
            </a:pPr>
            <a:r>
              <a:rPr lang="en-US" sz="2000" dirty="0" err="1">
                <a:solidFill>
                  <a:schemeClr val="accent1">
                    <a:lumMod val="75000"/>
                  </a:schemeClr>
                </a:solidFill>
              </a:rPr>
              <a:t>R_next</a:t>
            </a:r>
            <a:r>
              <a:rPr lang="en-US" sz="2000" dirty="0"/>
              <a:t>: the smallest “unmerged” thing on the right</a:t>
            </a:r>
          </a:p>
          <a:p>
            <a:pPr marL="342900" indent="-342900">
              <a:buFont typeface="Arial" panose="020B0604020202020204" pitchFamily="34" charset="0"/>
              <a:buChar char="•"/>
            </a:pPr>
            <a:r>
              <a:rPr lang="en-US" sz="2000" dirty="0" err="1">
                <a:solidFill>
                  <a:schemeClr val="accent1">
                    <a:lumMod val="75000"/>
                  </a:schemeClr>
                </a:solidFill>
              </a:rPr>
              <a:t>M_next</a:t>
            </a:r>
            <a:r>
              <a:rPr lang="en-US" sz="2000" dirty="0"/>
              <a:t>: where the next smallest thing goes in the merged array</a:t>
            </a:r>
          </a:p>
        </p:txBody>
      </p:sp>
      <p:sp>
        <p:nvSpPr>
          <p:cNvPr id="31" name="TextBox 30">
            <a:extLst>
              <a:ext uri="{FF2B5EF4-FFF2-40B4-BE49-F238E27FC236}">
                <a16:creationId xmlns:a16="http://schemas.microsoft.com/office/drawing/2014/main" id="{15073BD5-9BD6-6F1A-701B-4FB3D2049E9F}"/>
              </a:ext>
            </a:extLst>
          </p:cNvPr>
          <p:cNvSpPr txBox="1"/>
          <p:nvPr/>
        </p:nvSpPr>
        <p:spPr>
          <a:xfrm>
            <a:off x="2843272" y="2921711"/>
            <a:ext cx="6959600" cy="707886"/>
          </a:xfrm>
          <a:prstGeom prst="rect">
            <a:avLst/>
          </a:prstGeom>
          <a:noFill/>
        </p:spPr>
        <p:txBody>
          <a:bodyPr wrap="square" rtlCol="0">
            <a:spAutoFit/>
          </a:bodyPr>
          <a:lstStyle/>
          <a:p>
            <a:r>
              <a:rPr lang="en-US" sz="2000" dirty="0"/>
              <a:t>One-by-one: put the smallest of </a:t>
            </a:r>
            <a:r>
              <a:rPr lang="en-US" sz="2000" dirty="0" err="1">
                <a:solidFill>
                  <a:schemeClr val="accent1">
                    <a:lumMod val="75000"/>
                  </a:schemeClr>
                </a:solidFill>
              </a:rPr>
              <a:t>L_next</a:t>
            </a:r>
            <a:r>
              <a:rPr lang="en-US" sz="2000" dirty="0">
                <a:solidFill>
                  <a:schemeClr val="accent1">
                    <a:lumMod val="75000"/>
                  </a:schemeClr>
                </a:solidFill>
              </a:rPr>
              <a:t> </a:t>
            </a:r>
            <a:r>
              <a:rPr lang="en-US" sz="2000" dirty="0"/>
              <a:t>and </a:t>
            </a:r>
            <a:r>
              <a:rPr lang="en-US" sz="2000" dirty="0" err="1">
                <a:solidFill>
                  <a:schemeClr val="accent1">
                    <a:lumMod val="75000"/>
                  </a:schemeClr>
                </a:solidFill>
              </a:rPr>
              <a:t>R_next</a:t>
            </a:r>
            <a:r>
              <a:rPr lang="en-US" sz="2000" dirty="0">
                <a:solidFill>
                  <a:schemeClr val="accent1">
                    <a:lumMod val="75000"/>
                  </a:schemeClr>
                </a:solidFill>
              </a:rPr>
              <a:t> </a:t>
            </a:r>
            <a:r>
              <a:rPr lang="en-US" sz="2000" dirty="0"/>
              <a:t>into </a:t>
            </a:r>
            <a:r>
              <a:rPr lang="en-US" sz="2000" dirty="0" err="1">
                <a:solidFill>
                  <a:schemeClr val="accent1">
                    <a:lumMod val="75000"/>
                  </a:schemeClr>
                </a:solidFill>
              </a:rPr>
              <a:t>M_next</a:t>
            </a:r>
            <a:r>
              <a:rPr lang="en-US" sz="2000" dirty="0"/>
              <a:t>, then advance both </a:t>
            </a:r>
            <a:r>
              <a:rPr lang="en-US" sz="2000" dirty="0" err="1">
                <a:solidFill>
                  <a:schemeClr val="accent1">
                    <a:lumMod val="75000"/>
                  </a:schemeClr>
                </a:solidFill>
              </a:rPr>
              <a:t>M_next</a:t>
            </a:r>
            <a:r>
              <a:rPr lang="en-US" sz="2000" dirty="0">
                <a:solidFill>
                  <a:schemeClr val="accent1">
                    <a:lumMod val="75000"/>
                  </a:schemeClr>
                </a:solidFill>
              </a:rPr>
              <a:t> </a:t>
            </a:r>
            <a:r>
              <a:rPr lang="en-US" sz="2000" dirty="0"/>
              <a:t>and whichever of</a:t>
            </a:r>
            <a:r>
              <a:rPr lang="en-US" sz="2000" dirty="0">
                <a:solidFill>
                  <a:schemeClr val="accent1">
                    <a:lumMod val="75000"/>
                  </a:schemeClr>
                </a:solidFill>
              </a:rPr>
              <a:t> L/R </a:t>
            </a:r>
            <a:r>
              <a:rPr lang="en-US" sz="2000" dirty="0"/>
              <a:t>was used.</a:t>
            </a:r>
          </a:p>
        </p:txBody>
      </p:sp>
      <p:grpSp>
        <p:nvGrpSpPr>
          <p:cNvPr id="3" name="Group 2" descr="We now have the list [2,5,8,9,1,3,4,7], which came from sorting our two half lists (being [2,5,8,9] and [1,3,4,7]).&#10;&#10;Our objective now is to combine the two half lists together into one merged list that is sorted.">
            <a:extLst>
              <a:ext uri="{FF2B5EF4-FFF2-40B4-BE49-F238E27FC236}">
                <a16:creationId xmlns:a16="http://schemas.microsoft.com/office/drawing/2014/main" id="{DC8722CB-A3DB-DFC2-3448-411C692DB69D}"/>
              </a:ext>
            </a:extLst>
          </p:cNvPr>
          <p:cNvGrpSpPr/>
          <p:nvPr/>
        </p:nvGrpSpPr>
        <p:grpSpPr>
          <a:xfrm>
            <a:off x="3295343" y="3951750"/>
            <a:ext cx="5935214" cy="1232798"/>
            <a:chOff x="2885440" y="1516659"/>
            <a:chExt cx="5935214" cy="1232798"/>
          </a:xfrm>
        </p:grpSpPr>
        <p:grpSp>
          <p:nvGrpSpPr>
            <p:cNvPr id="5" name="Group 4">
              <a:extLst>
                <a:ext uri="{FF2B5EF4-FFF2-40B4-BE49-F238E27FC236}">
                  <a16:creationId xmlns:a16="http://schemas.microsoft.com/office/drawing/2014/main" id="{38FF776E-9504-C0D2-67B4-434D98EAE99C}"/>
                </a:ext>
              </a:extLst>
            </p:cNvPr>
            <p:cNvGrpSpPr/>
            <p:nvPr/>
          </p:nvGrpSpPr>
          <p:grpSpPr>
            <a:xfrm>
              <a:off x="2957830" y="1516659"/>
              <a:ext cx="5862824" cy="732853"/>
              <a:chOff x="641350" y="2386266"/>
              <a:chExt cx="5862824" cy="732853"/>
            </a:xfrm>
          </p:grpSpPr>
          <p:sp>
            <p:nvSpPr>
              <p:cNvPr id="6" name="Rectangle 5">
                <a:extLst>
                  <a:ext uri="{FF2B5EF4-FFF2-40B4-BE49-F238E27FC236}">
                    <a16:creationId xmlns:a16="http://schemas.microsoft.com/office/drawing/2014/main" id="{116EB25A-86A2-872F-96C0-79FF2C7F32DE}"/>
                  </a:ext>
                </a:extLst>
              </p:cNvPr>
              <p:cNvSpPr/>
              <p:nvPr/>
            </p:nvSpPr>
            <p:spPr>
              <a:xfrm>
                <a:off x="641350"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Rectangle 6">
                <a:extLst>
                  <a:ext uri="{FF2B5EF4-FFF2-40B4-BE49-F238E27FC236}">
                    <a16:creationId xmlns:a16="http://schemas.microsoft.com/office/drawing/2014/main" id="{90142F12-2080-CB61-8D64-C197A6CB325F}"/>
                  </a:ext>
                </a:extLst>
              </p:cNvPr>
              <p:cNvSpPr/>
              <p:nvPr/>
            </p:nvSpPr>
            <p:spPr>
              <a:xfrm>
                <a:off x="1374203"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a:extLst>
                  <a:ext uri="{FF2B5EF4-FFF2-40B4-BE49-F238E27FC236}">
                    <a16:creationId xmlns:a16="http://schemas.microsoft.com/office/drawing/2014/main" id="{192AFA11-63FF-C162-E977-EAE405F3B96B}"/>
                  </a:ext>
                </a:extLst>
              </p:cNvPr>
              <p:cNvSpPr/>
              <p:nvPr/>
            </p:nvSpPr>
            <p:spPr>
              <a:xfrm>
                <a:off x="2107056"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 name="Rectangle 8">
                <a:extLst>
                  <a:ext uri="{FF2B5EF4-FFF2-40B4-BE49-F238E27FC236}">
                    <a16:creationId xmlns:a16="http://schemas.microsoft.com/office/drawing/2014/main" id="{487859EA-E4DB-A2C3-44F9-06E320A84017}"/>
                  </a:ext>
                </a:extLst>
              </p:cNvPr>
              <p:cNvSpPr/>
              <p:nvPr/>
            </p:nvSpPr>
            <p:spPr>
              <a:xfrm>
                <a:off x="2839909"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 name="Rectangle 9">
                <a:extLst>
                  <a:ext uri="{FF2B5EF4-FFF2-40B4-BE49-F238E27FC236}">
                    <a16:creationId xmlns:a16="http://schemas.microsoft.com/office/drawing/2014/main" id="{792363DB-D76A-72A7-ABE8-0D90E1ACB543}"/>
                  </a:ext>
                </a:extLst>
              </p:cNvPr>
              <p:cNvSpPr/>
              <p:nvPr/>
            </p:nvSpPr>
            <p:spPr>
              <a:xfrm>
                <a:off x="3572762"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 name="Rectangle 10">
                <a:extLst>
                  <a:ext uri="{FF2B5EF4-FFF2-40B4-BE49-F238E27FC236}">
                    <a16:creationId xmlns:a16="http://schemas.microsoft.com/office/drawing/2014/main" id="{0CCD79CE-539B-7DD5-551C-9E0EE3379200}"/>
                  </a:ext>
                </a:extLst>
              </p:cNvPr>
              <p:cNvSpPr/>
              <p:nvPr/>
            </p:nvSpPr>
            <p:spPr>
              <a:xfrm>
                <a:off x="4305615"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2" name="Rectangle 11">
                <a:extLst>
                  <a:ext uri="{FF2B5EF4-FFF2-40B4-BE49-F238E27FC236}">
                    <a16:creationId xmlns:a16="http://schemas.microsoft.com/office/drawing/2014/main" id="{48963F99-4075-ED57-903C-7E402901C503}"/>
                  </a:ext>
                </a:extLst>
              </p:cNvPr>
              <p:cNvSpPr/>
              <p:nvPr/>
            </p:nvSpPr>
            <p:spPr>
              <a:xfrm>
                <a:off x="5038468"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3" name="Rectangle 12">
                <a:extLst>
                  <a:ext uri="{FF2B5EF4-FFF2-40B4-BE49-F238E27FC236}">
                    <a16:creationId xmlns:a16="http://schemas.microsoft.com/office/drawing/2014/main" id="{CEB90353-0F02-1988-D3A5-C06BC70A33DC}"/>
                  </a:ext>
                </a:extLst>
              </p:cNvPr>
              <p:cNvSpPr/>
              <p:nvPr/>
            </p:nvSpPr>
            <p:spPr>
              <a:xfrm>
                <a:off x="5771321"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BBA4A9-E429-B6AF-1D45-8B0C2ECC9465}"/>
                    </a:ext>
                  </a:extLst>
                </p:cNvPr>
                <p:cNvSpPr txBox="1"/>
                <p:nvPr/>
              </p:nvSpPr>
              <p:spPr>
                <a:xfrm>
                  <a:off x="2885440" y="2273282"/>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solidFill>
                              <a:srgbClr val="FF00FF"/>
                            </a:solidFill>
                            <a:latin typeface="Cambria Math" panose="02040503050406030204" pitchFamily="18" charset="0"/>
                          </a:rPr>
                          <m:t>𝑙𝑜𝑤</m:t>
                        </m:r>
                      </m:oMath>
                    </m:oMathPara>
                  </a14:m>
                  <a:endParaRPr lang="en-US" dirty="0"/>
                </a:p>
              </p:txBody>
            </p:sp>
          </mc:Choice>
          <mc:Fallback xmlns="">
            <p:sp>
              <p:nvSpPr>
                <p:cNvPr id="14" name="TextBox 13">
                  <a:extLst>
                    <a:ext uri="{FF2B5EF4-FFF2-40B4-BE49-F238E27FC236}">
                      <a16:creationId xmlns:a16="http://schemas.microsoft.com/office/drawing/2014/main" id="{2FBBA4A9-E429-B6AF-1D45-8B0C2ECC9465}"/>
                    </a:ext>
                  </a:extLst>
                </p:cNvPr>
                <p:cNvSpPr txBox="1">
                  <a:spLocks noRot="1" noChangeAspect="1" noMove="1" noResize="1" noEditPoints="1" noAdjustHandles="1" noChangeArrowheads="1" noChangeShapeType="1" noTextEdit="1"/>
                </p:cNvSpPr>
                <p:nvPr/>
              </p:nvSpPr>
              <p:spPr>
                <a:xfrm>
                  <a:off x="2885440" y="2273282"/>
                  <a:ext cx="732853"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8B3BBD60-3406-5A08-6A23-DC9783E22C44}"/>
                    </a:ext>
                  </a:extLst>
                </p:cNvPr>
                <p:cNvSpPr txBox="1"/>
                <p:nvPr/>
              </p:nvSpPr>
              <p:spPr>
                <a:xfrm>
                  <a:off x="8087800" y="2249512"/>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dirty="0" smtClean="0">
                            <a:solidFill>
                              <a:srgbClr val="FF00FF"/>
                            </a:solidFill>
                            <a:latin typeface="Cambria Math" panose="02040503050406030204" pitchFamily="18" charset="0"/>
                          </a:rPr>
                          <m:t>h𝑖𝑔h</m:t>
                        </m:r>
                      </m:oMath>
                    </m:oMathPara>
                  </a14:m>
                  <a:endParaRPr lang="en-US" dirty="0"/>
                </a:p>
              </p:txBody>
            </p:sp>
          </mc:Choice>
          <mc:Fallback xmlns="">
            <p:sp>
              <p:nvSpPr>
                <p:cNvPr id="15" name="TextBox 14">
                  <a:extLst>
                    <a:ext uri="{FF2B5EF4-FFF2-40B4-BE49-F238E27FC236}">
                      <a16:creationId xmlns:a16="http://schemas.microsoft.com/office/drawing/2014/main" id="{8B3BBD60-3406-5A08-6A23-DC9783E22C44}"/>
                    </a:ext>
                  </a:extLst>
                </p:cNvPr>
                <p:cNvSpPr txBox="1">
                  <a:spLocks noRot="1" noChangeAspect="1" noMove="1" noResize="1" noEditPoints="1" noAdjustHandles="1" noChangeArrowheads="1" noChangeShapeType="1" noTextEdit="1"/>
                </p:cNvSpPr>
                <p:nvPr/>
              </p:nvSpPr>
              <p:spPr>
                <a:xfrm>
                  <a:off x="8087800" y="2249512"/>
                  <a:ext cx="732853" cy="369332"/>
                </a:xfrm>
                <a:prstGeom prst="rect">
                  <a:avLst/>
                </a:prstGeom>
                <a:blipFill>
                  <a:blip r:embed="rId3"/>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EABE936E-3286-77C7-957F-5423C8F6B9EE}"/>
                    </a:ext>
                  </a:extLst>
                </p:cNvPr>
                <p:cNvSpPr txBox="1"/>
                <p:nvPr/>
              </p:nvSpPr>
              <p:spPr>
                <a:xfrm>
                  <a:off x="4726924" y="2249512"/>
                  <a:ext cx="1497305"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b="0" i="1" smtClean="0">
                                <a:solidFill>
                                  <a:srgbClr val="FF00FF"/>
                                </a:solidFill>
                                <a:latin typeface="Cambria Math" panose="02040503050406030204" pitchFamily="18" charset="0"/>
                              </a:rPr>
                            </m:ctrlPr>
                          </m:fPr>
                          <m:num>
                            <m:r>
                              <a:rPr lang="en-US" sz="1400" b="0" i="1" smtClean="0">
                                <a:solidFill>
                                  <a:srgbClr val="FF00FF"/>
                                </a:solidFill>
                                <a:latin typeface="Cambria Math" panose="02040503050406030204" pitchFamily="18" charset="0"/>
                              </a:rPr>
                              <m:t>𝑙𝑜𝑤</m:t>
                            </m:r>
                            <m:r>
                              <a:rPr lang="en-US" sz="1400" b="0" i="1" smtClean="0">
                                <a:solidFill>
                                  <a:srgbClr val="FF00FF"/>
                                </a:solidFill>
                                <a:latin typeface="Cambria Math" panose="02040503050406030204" pitchFamily="18" charset="0"/>
                              </a:rPr>
                              <m:t>+</m:t>
                            </m:r>
                            <m:r>
                              <a:rPr lang="en-US" sz="1400" b="0" i="1" smtClean="0">
                                <a:solidFill>
                                  <a:srgbClr val="FF00FF"/>
                                </a:solidFill>
                                <a:latin typeface="Cambria Math" panose="02040503050406030204" pitchFamily="18" charset="0"/>
                              </a:rPr>
                              <m:t>h𝑖𝑔h</m:t>
                            </m:r>
                          </m:num>
                          <m:den>
                            <m:r>
                              <a:rPr lang="en-US" sz="1400" b="0" i="1" smtClean="0">
                                <a:solidFill>
                                  <a:srgbClr val="FF00FF"/>
                                </a:solidFill>
                                <a:latin typeface="Cambria Math" panose="02040503050406030204" pitchFamily="18" charset="0"/>
                              </a:rPr>
                              <m:t>2</m:t>
                            </m:r>
                          </m:den>
                        </m:f>
                      </m:oMath>
                    </m:oMathPara>
                  </a14:m>
                  <a:endParaRPr lang="en-US" sz="1400" dirty="0"/>
                </a:p>
              </p:txBody>
            </p:sp>
          </mc:Choice>
          <mc:Fallback xmlns="">
            <p:sp>
              <p:nvSpPr>
                <p:cNvPr id="25" name="TextBox 24">
                  <a:extLst>
                    <a:ext uri="{FF2B5EF4-FFF2-40B4-BE49-F238E27FC236}">
                      <a16:creationId xmlns:a16="http://schemas.microsoft.com/office/drawing/2014/main" id="{EABE936E-3286-77C7-957F-5423C8F6B9EE}"/>
                    </a:ext>
                  </a:extLst>
                </p:cNvPr>
                <p:cNvSpPr txBox="1">
                  <a:spLocks noRot="1" noChangeAspect="1" noMove="1" noResize="1" noEditPoints="1" noAdjustHandles="1" noChangeArrowheads="1" noChangeShapeType="1" noTextEdit="1"/>
                </p:cNvSpPr>
                <p:nvPr/>
              </p:nvSpPr>
              <p:spPr>
                <a:xfrm>
                  <a:off x="4726924" y="2249512"/>
                  <a:ext cx="1497305" cy="499945"/>
                </a:xfrm>
                <a:prstGeom prst="rect">
                  <a:avLst/>
                </a:prstGeom>
                <a:blipFill>
                  <a:blip r:embed="rId4"/>
                  <a:stretch>
                    <a:fillRect b="-24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FF992678-C5BD-5105-91BC-B0DCB98849B8}"/>
                    </a:ext>
                  </a:extLst>
                </p:cNvPr>
                <p:cNvSpPr txBox="1"/>
                <p:nvPr/>
              </p:nvSpPr>
              <p:spPr>
                <a:xfrm>
                  <a:off x="5842003" y="2249511"/>
                  <a:ext cx="1497305"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b="0" i="1" smtClean="0">
                                <a:solidFill>
                                  <a:srgbClr val="FF00FF"/>
                                </a:solidFill>
                                <a:latin typeface="Cambria Math" panose="02040503050406030204" pitchFamily="18" charset="0"/>
                              </a:rPr>
                            </m:ctrlPr>
                          </m:fPr>
                          <m:num>
                            <m:r>
                              <a:rPr lang="en-US" sz="1400" b="0" i="1" smtClean="0">
                                <a:solidFill>
                                  <a:srgbClr val="FF00FF"/>
                                </a:solidFill>
                                <a:latin typeface="Cambria Math" panose="02040503050406030204" pitchFamily="18" charset="0"/>
                              </a:rPr>
                              <m:t>𝑙𝑜𝑤</m:t>
                            </m:r>
                            <m:r>
                              <a:rPr lang="en-US" sz="1400" b="0" i="1" smtClean="0">
                                <a:solidFill>
                                  <a:srgbClr val="FF00FF"/>
                                </a:solidFill>
                                <a:latin typeface="Cambria Math" panose="02040503050406030204" pitchFamily="18" charset="0"/>
                              </a:rPr>
                              <m:t>+</m:t>
                            </m:r>
                            <m:r>
                              <a:rPr lang="en-US" sz="1400" b="0" i="1" smtClean="0">
                                <a:solidFill>
                                  <a:srgbClr val="FF00FF"/>
                                </a:solidFill>
                                <a:latin typeface="Cambria Math" panose="02040503050406030204" pitchFamily="18" charset="0"/>
                              </a:rPr>
                              <m:t>h𝑖𝑔h</m:t>
                            </m:r>
                          </m:num>
                          <m:den>
                            <m:r>
                              <a:rPr lang="en-US" sz="1400" b="0" i="1" smtClean="0">
                                <a:solidFill>
                                  <a:srgbClr val="FF00FF"/>
                                </a:solidFill>
                                <a:latin typeface="Cambria Math" panose="02040503050406030204" pitchFamily="18" charset="0"/>
                              </a:rPr>
                              <m:t>2</m:t>
                            </m:r>
                          </m:den>
                        </m:f>
                        <m:r>
                          <a:rPr lang="en-US" sz="1400" b="0" i="1" smtClean="0">
                            <a:solidFill>
                              <a:srgbClr val="FF00FF"/>
                            </a:solidFill>
                            <a:latin typeface="Cambria Math" panose="02040503050406030204" pitchFamily="18" charset="0"/>
                          </a:rPr>
                          <m:t>+1</m:t>
                        </m:r>
                      </m:oMath>
                    </m:oMathPara>
                  </a14:m>
                  <a:endParaRPr lang="en-US" sz="1400" dirty="0"/>
                </a:p>
              </p:txBody>
            </p:sp>
          </mc:Choice>
          <mc:Fallback xmlns="">
            <p:sp>
              <p:nvSpPr>
                <p:cNvPr id="26" name="TextBox 25">
                  <a:extLst>
                    <a:ext uri="{FF2B5EF4-FFF2-40B4-BE49-F238E27FC236}">
                      <a16:creationId xmlns:a16="http://schemas.microsoft.com/office/drawing/2014/main" id="{FF992678-C5BD-5105-91BC-B0DCB98849B8}"/>
                    </a:ext>
                  </a:extLst>
                </p:cNvPr>
                <p:cNvSpPr txBox="1">
                  <a:spLocks noRot="1" noChangeAspect="1" noMove="1" noResize="1" noEditPoints="1" noAdjustHandles="1" noChangeArrowheads="1" noChangeShapeType="1" noTextEdit="1"/>
                </p:cNvSpPr>
                <p:nvPr/>
              </p:nvSpPr>
              <p:spPr>
                <a:xfrm>
                  <a:off x="5842003" y="2249511"/>
                  <a:ext cx="1497305" cy="499945"/>
                </a:xfrm>
                <a:prstGeom prst="rect">
                  <a:avLst/>
                </a:prstGeom>
                <a:blipFill>
                  <a:blip r:embed="rId5"/>
                  <a:stretch>
                    <a:fillRect b="-2439"/>
                  </a:stretch>
                </a:blipFill>
              </p:spPr>
              <p:txBody>
                <a:bodyPr/>
                <a:lstStyle/>
                <a:p>
                  <a:r>
                    <a:rPr lang="en-US">
                      <a:noFill/>
                    </a:rPr>
                    <a:t> </a:t>
                  </a:r>
                </a:p>
              </p:txBody>
            </p:sp>
          </mc:Fallback>
        </mc:AlternateContent>
      </p:grpSp>
      <p:grpSp>
        <p:nvGrpSpPr>
          <p:cNvPr id="16" name="Group 15" descr="We will have an empty array that we add each element into while merging.">
            <a:extLst>
              <a:ext uri="{FF2B5EF4-FFF2-40B4-BE49-F238E27FC236}">
                <a16:creationId xmlns:a16="http://schemas.microsoft.com/office/drawing/2014/main" id="{E7CA0072-DA42-358D-2313-C589B2C2A62B}"/>
              </a:ext>
            </a:extLst>
          </p:cNvPr>
          <p:cNvGrpSpPr/>
          <p:nvPr/>
        </p:nvGrpSpPr>
        <p:grpSpPr>
          <a:xfrm>
            <a:off x="3367733" y="5450988"/>
            <a:ext cx="5862824" cy="732853"/>
            <a:chOff x="641350" y="2386266"/>
            <a:chExt cx="5862824" cy="732853"/>
          </a:xfrm>
          <a:solidFill>
            <a:schemeClr val="accent4">
              <a:lumMod val="20000"/>
              <a:lumOff val="80000"/>
            </a:schemeClr>
          </a:solidFill>
        </p:grpSpPr>
        <p:sp>
          <p:nvSpPr>
            <p:cNvPr id="17" name="Rectangle 16">
              <a:extLst>
                <a:ext uri="{FF2B5EF4-FFF2-40B4-BE49-F238E27FC236}">
                  <a16:creationId xmlns:a16="http://schemas.microsoft.com/office/drawing/2014/main" id="{4C85D454-719B-702F-2281-4A10415E7000}"/>
                </a:ext>
              </a:extLst>
            </p:cNvPr>
            <p:cNvSpPr/>
            <p:nvPr/>
          </p:nvSpPr>
          <p:spPr>
            <a:xfrm>
              <a:off x="641350"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Rectangle 17">
              <a:extLst>
                <a:ext uri="{FF2B5EF4-FFF2-40B4-BE49-F238E27FC236}">
                  <a16:creationId xmlns:a16="http://schemas.microsoft.com/office/drawing/2014/main" id="{1EEF5804-408E-6879-D613-7044DEA0BF49}"/>
                </a:ext>
              </a:extLst>
            </p:cNvPr>
            <p:cNvSpPr/>
            <p:nvPr/>
          </p:nvSpPr>
          <p:spPr>
            <a:xfrm>
              <a:off x="1374203"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Rectangle 18">
              <a:extLst>
                <a:ext uri="{FF2B5EF4-FFF2-40B4-BE49-F238E27FC236}">
                  <a16:creationId xmlns:a16="http://schemas.microsoft.com/office/drawing/2014/main" id="{73D21588-F912-24DA-B6A5-5E6B9C42EEE5}"/>
                </a:ext>
              </a:extLst>
            </p:cNvPr>
            <p:cNvSpPr/>
            <p:nvPr/>
          </p:nvSpPr>
          <p:spPr>
            <a:xfrm>
              <a:off x="2107056"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Rectangle 19">
              <a:extLst>
                <a:ext uri="{FF2B5EF4-FFF2-40B4-BE49-F238E27FC236}">
                  <a16:creationId xmlns:a16="http://schemas.microsoft.com/office/drawing/2014/main" id="{08C151A5-A2A2-1312-39BF-4FADA5F73B47}"/>
                </a:ext>
              </a:extLst>
            </p:cNvPr>
            <p:cNvSpPr/>
            <p:nvPr/>
          </p:nvSpPr>
          <p:spPr>
            <a:xfrm>
              <a:off x="2839909"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Rectangle 20">
              <a:extLst>
                <a:ext uri="{FF2B5EF4-FFF2-40B4-BE49-F238E27FC236}">
                  <a16:creationId xmlns:a16="http://schemas.microsoft.com/office/drawing/2014/main" id="{C7B5ADAB-0AAF-740B-A52A-771577FB164D}"/>
                </a:ext>
              </a:extLst>
            </p:cNvPr>
            <p:cNvSpPr/>
            <p:nvPr/>
          </p:nvSpPr>
          <p:spPr>
            <a:xfrm>
              <a:off x="3572762"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2" name="Rectangle 21">
              <a:extLst>
                <a:ext uri="{FF2B5EF4-FFF2-40B4-BE49-F238E27FC236}">
                  <a16:creationId xmlns:a16="http://schemas.microsoft.com/office/drawing/2014/main" id="{243AD86E-0BE4-0ED4-ABD9-55F9BA416BC8}"/>
                </a:ext>
              </a:extLst>
            </p:cNvPr>
            <p:cNvSpPr/>
            <p:nvPr/>
          </p:nvSpPr>
          <p:spPr>
            <a:xfrm>
              <a:off x="4305615"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3" name="Rectangle 22">
              <a:extLst>
                <a:ext uri="{FF2B5EF4-FFF2-40B4-BE49-F238E27FC236}">
                  <a16:creationId xmlns:a16="http://schemas.microsoft.com/office/drawing/2014/main" id="{B93FE899-1FCC-9493-9EA2-45ABB23DF07B}"/>
                </a:ext>
              </a:extLst>
            </p:cNvPr>
            <p:cNvSpPr/>
            <p:nvPr/>
          </p:nvSpPr>
          <p:spPr>
            <a:xfrm>
              <a:off x="5038468"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Rectangle 23">
              <a:extLst>
                <a:ext uri="{FF2B5EF4-FFF2-40B4-BE49-F238E27FC236}">
                  <a16:creationId xmlns:a16="http://schemas.microsoft.com/office/drawing/2014/main" id="{7B47FEB0-46B7-71E2-6A76-89C06FCA5695}"/>
                </a:ext>
              </a:extLst>
            </p:cNvPr>
            <p:cNvSpPr/>
            <p:nvPr/>
          </p:nvSpPr>
          <p:spPr>
            <a:xfrm>
              <a:off x="5771321"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4" name="Group 3" descr="To merge our lists we begin with a variable L_next which is initially set to be the index low, and a variable R_next which is initially set to be the index (low+high)/2 +1 (i.e. the first index of the second half-list).">
            <a:extLst>
              <a:ext uri="{FF2B5EF4-FFF2-40B4-BE49-F238E27FC236}">
                <a16:creationId xmlns:a16="http://schemas.microsoft.com/office/drawing/2014/main" id="{10407E64-57E5-6C11-C5D4-455C306D2F6E}"/>
              </a:ext>
            </a:extLst>
          </p:cNvPr>
          <p:cNvGrpSpPr/>
          <p:nvPr/>
        </p:nvGrpSpPr>
        <p:grpSpPr>
          <a:xfrm>
            <a:off x="2656590" y="4623198"/>
            <a:ext cx="4065950" cy="447040"/>
            <a:chOff x="2246687" y="2188107"/>
            <a:chExt cx="4065950" cy="447040"/>
          </a:xfrm>
        </p:grpSpPr>
        <p:sp>
          <p:nvSpPr>
            <p:cNvPr id="27" name="Arrow: Right 26" descr="To merge our lists we begin with variable L_next which is initially set to be the index low.">
              <a:extLst>
                <a:ext uri="{FF2B5EF4-FFF2-40B4-BE49-F238E27FC236}">
                  <a16:creationId xmlns:a16="http://schemas.microsoft.com/office/drawing/2014/main" id="{C4B62DBB-53B8-EA2D-12CE-AAFE2075A980}"/>
                </a:ext>
              </a:extLst>
            </p:cNvPr>
            <p:cNvSpPr/>
            <p:nvPr/>
          </p:nvSpPr>
          <p:spPr>
            <a:xfrm rot="18941864">
              <a:off x="2246687" y="2188107"/>
              <a:ext cx="1055420" cy="447040"/>
            </a:xfrm>
            <a:prstGeom prst="rightArrow">
              <a:avLst/>
            </a:prstGeom>
            <a:solidFill>
              <a:schemeClr val="accent5">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 next</a:t>
              </a:r>
            </a:p>
          </p:txBody>
        </p:sp>
        <p:sp>
          <p:nvSpPr>
            <p:cNvPr id="28" name="Arrow: Right 27">
              <a:extLst>
                <a:ext uri="{FF2B5EF4-FFF2-40B4-BE49-F238E27FC236}">
                  <a16:creationId xmlns:a16="http://schemas.microsoft.com/office/drawing/2014/main" id="{F1982206-BF5B-A2CF-DE7D-8C5F945BC8DA}"/>
                </a:ext>
              </a:extLst>
            </p:cNvPr>
            <p:cNvSpPr/>
            <p:nvPr/>
          </p:nvSpPr>
          <p:spPr>
            <a:xfrm rot="18941864">
              <a:off x="5257217" y="2188107"/>
              <a:ext cx="1055420" cy="447040"/>
            </a:xfrm>
            <a:prstGeom prst="rightArrow">
              <a:avLst/>
            </a:prstGeom>
            <a:solidFill>
              <a:schemeClr val="accent5">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 next</a:t>
              </a:r>
            </a:p>
          </p:txBody>
        </p:sp>
      </p:grpSp>
      <p:sp>
        <p:nvSpPr>
          <p:cNvPr id="29" name="Arrow: Right 28" descr="We have a variable M_next which is initially the index low, and it keeps track of the next available index in the merged array.">
            <a:extLst>
              <a:ext uri="{FF2B5EF4-FFF2-40B4-BE49-F238E27FC236}">
                <a16:creationId xmlns:a16="http://schemas.microsoft.com/office/drawing/2014/main" id="{866399B5-9CA7-FF10-921D-A115ADA6102E}"/>
              </a:ext>
            </a:extLst>
          </p:cNvPr>
          <p:cNvSpPr/>
          <p:nvPr/>
        </p:nvSpPr>
        <p:spPr>
          <a:xfrm rot="18941864">
            <a:off x="2628791" y="6198889"/>
            <a:ext cx="1055420" cy="447040"/>
          </a:xfrm>
          <a:prstGeom prst="rightArrow">
            <a:avLst/>
          </a:prstGeom>
          <a:solidFill>
            <a:schemeClr val="accent5">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 next</a:t>
            </a:r>
          </a:p>
        </p:txBody>
      </p:sp>
      <mc:AlternateContent xmlns:mc="http://schemas.openxmlformats.org/markup-compatibility/2006">
        <mc:Choice xmlns:p14="http://schemas.microsoft.com/office/powerpoint/2010/main" Requires="p14">
          <p:contentPart p14:bwMode="auto" r:id="rId6">
            <p14:nvContentPartPr>
              <p14:cNvPr id="32" name="Ink 31">
                <a:extLst>
                  <a:ext uri="{FF2B5EF4-FFF2-40B4-BE49-F238E27FC236}">
                    <a16:creationId xmlns:a16="http://schemas.microsoft.com/office/drawing/2014/main" id="{CFCC62CC-6E11-9DBD-F06C-0EC67C775B80}"/>
                  </a:ext>
                </a:extLst>
              </p14:cNvPr>
              <p14:cNvContentPartPr/>
              <p14:nvPr/>
            </p14:nvContentPartPr>
            <p14:xfrm>
              <a:off x="909360" y="1503360"/>
              <a:ext cx="7989120" cy="4978440"/>
            </p14:xfrm>
          </p:contentPart>
        </mc:Choice>
        <mc:Fallback>
          <p:pic>
            <p:nvPicPr>
              <p:cNvPr id="32" name="Ink 31">
                <a:extLst>
                  <a:ext uri="{FF2B5EF4-FFF2-40B4-BE49-F238E27FC236}">
                    <a16:creationId xmlns:a16="http://schemas.microsoft.com/office/drawing/2014/main" id="{CFCC62CC-6E11-9DBD-F06C-0EC67C775B80}"/>
                  </a:ext>
                </a:extLst>
              </p:cNvPr>
              <p:cNvPicPr/>
              <p:nvPr/>
            </p:nvPicPr>
            <p:blipFill>
              <a:blip r:embed="rId7"/>
              <a:stretch>
                <a:fillRect/>
              </a:stretch>
            </p:blipFill>
            <p:spPr>
              <a:xfrm>
                <a:off x="900000" y="1494000"/>
                <a:ext cx="8007840" cy="4997160"/>
              </a:xfrm>
              <a:prstGeom prst="rect">
                <a:avLst/>
              </a:prstGeom>
            </p:spPr>
          </p:pic>
        </mc:Fallback>
      </mc:AlternateContent>
    </p:spTree>
    <p:extLst>
      <p:ext uri="{BB962C8B-B14F-4D97-AF65-F5344CB8AC3E}">
        <p14:creationId xmlns:p14="http://schemas.microsoft.com/office/powerpoint/2010/main" val="3519188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91F74-162D-4500-A8B7-B49A379D832F}"/>
              </a:ext>
            </a:extLst>
          </p:cNvPr>
          <p:cNvSpPr>
            <a:spLocks noGrp="1"/>
          </p:cNvSpPr>
          <p:nvPr>
            <p:ph type="title"/>
          </p:nvPr>
        </p:nvSpPr>
        <p:spPr/>
        <p:txBody>
          <a:bodyPr/>
          <a:lstStyle/>
          <a:p>
            <a:r>
              <a:rPr lang="en-US" dirty="0"/>
              <a:t>Merge Sort Pseudocode</a:t>
            </a:r>
          </a:p>
        </p:txBody>
      </p:sp>
      <p:sp>
        <p:nvSpPr>
          <p:cNvPr id="3" name="Content Placeholder 2">
            <a:extLst>
              <a:ext uri="{FF2B5EF4-FFF2-40B4-BE49-F238E27FC236}">
                <a16:creationId xmlns:a16="http://schemas.microsoft.com/office/drawing/2014/main" id="{4E6A96E2-1227-4225-8791-5FB9A27DA720}"/>
              </a:ext>
            </a:extLst>
          </p:cNvPr>
          <p:cNvSpPr>
            <a:spLocks noGrp="1"/>
          </p:cNvSpPr>
          <p:nvPr>
            <p:ph idx="1"/>
          </p:nvPr>
        </p:nvSpPr>
        <p:spPr>
          <a:xfrm>
            <a:off x="609600" y="1341120"/>
            <a:ext cx="10972800" cy="5516880"/>
          </a:xfrm>
        </p:spPr>
        <p:txBody>
          <a:bodyPr>
            <a:normAutofit/>
          </a:bodyPr>
          <a:lstStyle/>
          <a:p>
            <a:pPr marL="0" indent="0">
              <a:buNone/>
            </a:pPr>
            <a:r>
              <a:rPr lang="en-US" dirty="0"/>
              <a:t>void mergesort(</a:t>
            </a:r>
            <a:r>
              <a:rPr lang="en-US" dirty="0" err="1"/>
              <a:t>myArray</a:t>
            </a:r>
            <a:r>
              <a:rPr lang="en-US" dirty="0"/>
              <a:t>){</a:t>
            </a:r>
          </a:p>
          <a:p>
            <a:pPr marL="0" indent="0">
              <a:buNone/>
            </a:pPr>
            <a:r>
              <a:rPr lang="en-US" dirty="0"/>
              <a:t>	</a:t>
            </a:r>
            <a:r>
              <a:rPr lang="en-US" dirty="0" err="1"/>
              <a:t>ms_helper</a:t>
            </a:r>
            <a:r>
              <a:rPr lang="en-US" dirty="0"/>
              <a:t>(</a:t>
            </a:r>
            <a:r>
              <a:rPr lang="en-US" dirty="0" err="1"/>
              <a:t>myArray</a:t>
            </a:r>
            <a:r>
              <a:rPr lang="en-US" dirty="0"/>
              <a:t>, 0, </a:t>
            </a:r>
            <a:r>
              <a:rPr lang="en-US" dirty="0" err="1"/>
              <a:t>myArray.length</a:t>
            </a:r>
            <a:r>
              <a:rPr lang="en-US" dirty="0"/>
              <a:t>());</a:t>
            </a:r>
            <a:br>
              <a:rPr lang="en-US" dirty="0"/>
            </a:br>
            <a:r>
              <a:rPr lang="en-US" dirty="0"/>
              <a:t>}</a:t>
            </a:r>
          </a:p>
          <a:p>
            <a:pPr marL="0" indent="0">
              <a:buNone/>
            </a:pPr>
            <a:r>
              <a:rPr lang="en-US" dirty="0"/>
              <a:t>void </a:t>
            </a:r>
            <a:r>
              <a:rPr lang="en-US" dirty="0" err="1"/>
              <a:t>mshelper</a:t>
            </a:r>
            <a:r>
              <a:rPr lang="en-US" dirty="0"/>
              <a:t>(</a:t>
            </a:r>
            <a:r>
              <a:rPr lang="en-US" dirty="0" err="1"/>
              <a:t>myArray</a:t>
            </a:r>
            <a:r>
              <a:rPr lang="en-US" dirty="0"/>
              <a:t>, low, high){</a:t>
            </a:r>
          </a:p>
          <a:p>
            <a:pPr marL="0" indent="0">
              <a:buNone/>
            </a:pPr>
            <a:r>
              <a:rPr lang="en-US" dirty="0"/>
              <a:t>	if (low == high){return;}  // Base Case</a:t>
            </a:r>
          </a:p>
          <a:p>
            <a:pPr marL="0" indent="0">
              <a:buNone/>
            </a:pPr>
            <a:r>
              <a:rPr lang="en-US" dirty="0"/>
              <a:t>	mid = (</a:t>
            </a:r>
            <a:r>
              <a:rPr lang="en-US" dirty="0" err="1"/>
              <a:t>low+high</a:t>
            </a:r>
            <a:r>
              <a:rPr lang="en-US" dirty="0"/>
              <a:t>)/2;</a:t>
            </a:r>
          </a:p>
          <a:p>
            <a:pPr marL="0" indent="0">
              <a:buNone/>
            </a:pPr>
            <a:r>
              <a:rPr lang="en-US" dirty="0"/>
              <a:t>	</a:t>
            </a:r>
            <a:r>
              <a:rPr lang="en-US" dirty="0" err="1"/>
              <a:t>ms_helper</a:t>
            </a:r>
            <a:r>
              <a:rPr lang="en-US" dirty="0"/>
              <a:t>(low, mid);</a:t>
            </a:r>
          </a:p>
          <a:p>
            <a:pPr marL="0" indent="0">
              <a:buNone/>
            </a:pPr>
            <a:r>
              <a:rPr lang="en-US" dirty="0"/>
              <a:t>	</a:t>
            </a:r>
            <a:r>
              <a:rPr lang="en-US" dirty="0" err="1"/>
              <a:t>ms_helper</a:t>
            </a:r>
            <a:r>
              <a:rPr lang="en-US" dirty="0"/>
              <a:t>(mid+1, high);</a:t>
            </a:r>
          </a:p>
          <a:p>
            <a:pPr marL="0" indent="0">
              <a:buNone/>
            </a:pPr>
            <a:r>
              <a:rPr lang="en-US" dirty="0"/>
              <a:t>	merge(</a:t>
            </a:r>
            <a:r>
              <a:rPr lang="en-US" dirty="0" err="1"/>
              <a:t>myArray</a:t>
            </a:r>
            <a:r>
              <a:rPr lang="en-US" dirty="0"/>
              <a:t>, low, mid, high);	</a:t>
            </a:r>
          </a:p>
          <a:p>
            <a:pPr marL="0" indent="0">
              <a:buNone/>
            </a:pPr>
            <a:r>
              <a:rPr lang="en-US" dirty="0"/>
              <a:t>}</a:t>
            </a:r>
          </a:p>
        </p:txBody>
      </p:sp>
    </p:spTree>
    <p:extLst>
      <p:ext uri="{BB962C8B-B14F-4D97-AF65-F5344CB8AC3E}">
        <p14:creationId xmlns:p14="http://schemas.microsoft.com/office/powerpoint/2010/main" val="11527214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055B0-6D93-98AC-8022-6107AB6DD55F}"/>
              </a:ext>
            </a:extLst>
          </p:cNvPr>
          <p:cNvSpPr>
            <a:spLocks noGrp="1"/>
          </p:cNvSpPr>
          <p:nvPr>
            <p:ph type="title"/>
          </p:nvPr>
        </p:nvSpPr>
        <p:spPr>
          <a:xfrm>
            <a:off x="838200" y="-356235"/>
            <a:ext cx="10515600" cy="1325563"/>
          </a:xfrm>
        </p:spPr>
        <p:txBody>
          <a:bodyPr/>
          <a:lstStyle/>
          <a:p>
            <a:r>
              <a:rPr lang="en-US" dirty="0"/>
              <a:t>Merge Pseudocode</a:t>
            </a:r>
          </a:p>
        </p:txBody>
      </p:sp>
      <p:sp>
        <p:nvSpPr>
          <p:cNvPr id="3" name="Content Placeholder 2">
            <a:extLst>
              <a:ext uri="{FF2B5EF4-FFF2-40B4-BE49-F238E27FC236}">
                <a16:creationId xmlns:a16="http://schemas.microsoft.com/office/drawing/2014/main" id="{CEFFCFEC-8CB0-8275-D534-1D938B3AD188}"/>
              </a:ext>
            </a:extLst>
          </p:cNvPr>
          <p:cNvSpPr>
            <a:spLocks noGrp="1"/>
          </p:cNvSpPr>
          <p:nvPr>
            <p:ph idx="1"/>
          </p:nvPr>
        </p:nvSpPr>
        <p:spPr>
          <a:xfrm>
            <a:off x="838200" y="589280"/>
            <a:ext cx="10515600" cy="6268720"/>
          </a:xfrm>
        </p:spPr>
        <p:txBody>
          <a:bodyPr>
            <a:normAutofit fontScale="77500" lnSpcReduction="20000"/>
          </a:bodyPr>
          <a:lstStyle/>
          <a:p>
            <a:pPr marL="0" indent="0">
              <a:buNone/>
            </a:pPr>
            <a:r>
              <a:rPr lang="en-US" dirty="0"/>
              <a:t>void merge(</a:t>
            </a:r>
            <a:r>
              <a:rPr lang="en-US" dirty="0" err="1"/>
              <a:t>myArray</a:t>
            </a:r>
            <a:r>
              <a:rPr lang="en-US" dirty="0"/>
              <a:t>, low, mid, high){</a:t>
            </a:r>
          </a:p>
          <a:p>
            <a:pPr marL="0" indent="0">
              <a:buNone/>
            </a:pPr>
            <a:r>
              <a:rPr lang="en-US" dirty="0"/>
              <a:t>	merged = new int[high-low+1]; // or whatever type is in </a:t>
            </a:r>
            <a:r>
              <a:rPr lang="en-US" dirty="0" err="1"/>
              <a:t>myArray</a:t>
            </a:r>
            <a:endParaRPr lang="en-US" dirty="0"/>
          </a:p>
          <a:p>
            <a:pPr marL="0" indent="0">
              <a:buNone/>
            </a:pPr>
            <a:r>
              <a:rPr lang="en-US" dirty="0"/>
              <a:t>	</a:t>
            </a:r>
            <a:r>
              <a:rPr lang="en-US" dirty="0" err="1"/>
              <a:t>l_next</a:t>
            </a:r>
            <a:r>
              <a:rPr lang="en-US" dirty="0"/>
              <a:t> = low;</a:t>
            </a:r>
          </a:p>
          <a:p>
            <a:pPr marL="0" indent="0">
              <a:buNone/>
            </a:pPr>
            <a:r>
              <a:rPr lang="en-US" dirty="0"/>
              <a:t>	</a:t>
            </a:r>
            <a:r>
              <a:rPr lang="en-US" dirty="0" err="1"/>
              <a:t>r_next</a:t>
            </a:r>
            <a:r>
              <a:rPr lang="en-US" dirty="0"/>
              <a:t> = high;</a:t>
            </a:r>
          </a:p>
          <a:p>
            <a:pPr marL="0" indent="0">
              <a:buNone/>
            </a:pPr>
            <a:r>
              <a:rPr lang="en-US" dirty="0"/>
              <a:t>	</a:t>
            </a:r>
            <a:r>
              <a:rPr lang="en-US" dirty="0" err="1"/>
              <a:t>m_next</a:t>
            </a:r>
            <a:r>
              <a:rPr lang="en-US" dirty="0"/>
              <a:t> = 0;</a:t>
            </a:r>
          </a:p>
          <a:p>
            <a:pPr marL="0" indent="0">
              <a:buNone/>
            </a:pPr>
            <a:r>
              <a:rPr lang="en-US" dirty="0"/>
              <a:t>	while (</a:t>
            </a:r>
            <a:r>
              <a:rPr lang="en-US" dirty="0" err="1"/>
              <a:t>l_next</a:t>
            </a:r>
            <a:r>
              <a:rPr lang="en-US" dirty="0"/>
              <a:t> &lt;= mid &amp;&amp; </a:t>
            </a:r>
            <a:r>
              <a:rPr lang="en-US" dirty="0" err="1"/>
              <a:t>r_next</a:t>
            </a:r>
            <a:r>
              <a:rPr lang="en-US" dirty="0"/>
              <a:t> &lt;= high){</a:t>
            </a:r>
          </a:p>
          <a:p>
            <a:pPr marL="0" indent="0">
              <a:buNone/>
            </a:pPr>
            <a:r>
              <a:rPr lang="en-US" dirty="0"/>
              <a:t>		if (</a:t>
            </a:r>
            <a:r>
              <a:rPr lang="en-US" dirty="0" err="1"/>
              <a:t>myArray</a:t>
            </a:r>
            <a:r>
              <a:rPr lang="en-US" dirty="0"/>
              <a:t>[</a:t>
            </a:r>
            <a:r>
              <a:rPr lang="en-US" dirty="0" err="1"/>
              <a:t>l_next</a:t>
            </a:r>
            <a:r>
              <a:rPr lang="en-US" dirty="0"/>
              <a:t>] &lt;= </a:t>
            </a:r>
            <a:r>
              <a:rPr lang="en-US" dirty="0" err="1"/>
              <a:t>myArray</a:t>
            </a:r>
            <a:r>
              <a:rPr lang="en-US" dirty="0"/>
              <a:t>[</a:t>
            </a:r>
            <a:r>
              <a:rPr lang="en-US" dirty="0" err="1"/>
              <a:t>r_next</a:t>
            </a:r>
            <a:r>
              <a:rPr lang="en-US" dirty="0"/>
              <a:t>]){</a:t>
            </a:r>
          </a:p>
          <a:p>
            <a:pPr marL="0" indent="0">
              <a:buNone/>
            </a:pPr>
            <a:r>
              <a:rPr lang="en-US" dirty="0"/>
              <a:t>			merged[</a:t>
            </a:r>
            <a:r>
              <a:rPr lang="en-US" dirty="0" err="1"/>
              <a:t>m_next</a:t>
            </a:r>
            <a:r>
              <a:rPr lang="en-US" dirty="0"/>
              <a:t>++] = </a:t>
            </a:r>
            <a:r>
              <a:rPr lang="en-US" dirty="0" err="1"/>
              <a:t>myArray</a:t>
            </a:r>
            <a:r>
              <a:rPr lang="en-US" dirty="0"/>
              <a:t>[</a:t>
            </a:r>
            <a:r>
              <a:rPr lang="en-US" dirty="0" err="1"/>
              <a:t>l_next</a:t>
            </a:r>
            <a:r>
              <a:rPr lang="en-US" dirty="0"/>
              <a:t>++];</a:t>
            </a:r>
          </a:p>
          <a:p>
            <a:pPr marL="0" indent="0">
              <a:buNone/>
            </a:pPr>
            <a:r>
              <a:rPr lang="en-US" dirty="0"/>
              <a:t>		}</a:t>
            </a:r>
          </a:p>
          <a:p>
            <a:pPr marL="0" indent="0">
              <a:buNone/>
            </a:pPr>
            <a:r>
              <a:rPr lang="en-US" dirty="0"/>
              <a:t>		else{</a:t>
            </a:r>
          </a:p>
          <a:p>
            <a:pPr marL="0" indent="0">
              <a:buNone/>
            </a:pPr>
            <a:r>
              <a:rPr lang="en-US" dirty="0"/>
              <a:t>			merged[</a:t>
            </a:r>
            <a:r>
              <a:rPr lang="en-US" dirty="0" err="1"/>
              <a:t>m_next</a:t>
            </a:r>
            <a:r>
              <a:rPr lang="en-US" dirty="0"/>
              <a:t>++] = </a:t>
            </a:r>
            <a:r>
              <a:rPr lang="en-US" dirty="0" err="1"/>
              <a:t>myArray</a:t>
            </a:r>
            <a:r>
              <a:rPr lang="en-US" dirty="0"/>
              <a:t>[</a:t>
            </a:r>
            <a:r>
              <a:rPr lang="en-US" dirty="0" err="1"/>
              <a:t>r_next</a:t>
            </a:r>
            <a:r>
              <a:rPr lang="en-US" dirty="0"/>
              <a:t>++];</a:t>
            </a:r>
          </a:p>
          <a:p>
            <a:pPr marL="0" indent="0">
              <a:buNone/>
            </a:pPr>
            <a:r>
              <a:rPr lang="en-US" dirty="0"/>
              <a:t>		} </a:t>
            </a:r>
          </a:p>
          <a:p>
            <a:pPr marL="0" indent="0">
              <a:buNone/>
            </a:pPr>
            <a:r>
              <a:rPr lang="en-US" dirty="0"/>
              <a:t>	}</a:t>
            </a:r>
          </a:p>
          <a:p>
            <a:pPr marL="0" indent="0">
              <a:buNone/>
            </a:pPr>
            <a:r>
              <a:rPr lang="en-US" dirty="0"/>
              <a:t>	while (</a:t>
            </a:r>
            <a:r>
              <a:rPr lang="en-US" dirty="0" err="1"/>
              <a:t>l_next</a:t>
            </a:r>
            <a:r>
              <a:rPr lang="en-US" dirty="0"/>
              <a:t> &lt;= mid){ merged[</a:t>
            </a:r>
            <a:r>
              <a:rPr lang="en-US" dirty="0" err="1"/>
              <a:t>m_next</a:t>
            </a:r>
            <a:r>
              <a:rPr lang="en-US" dirty="0"/>
              <a:t>++] = </a:t>
            </a:r>
            <a:r>
              <a:rPr lang="en-US" dirty="0" err="1"/>
              <a:t>myArray</a:t>
            </a:r>
            <a:r>
              <a:rPr lang="en-US" dirty="0"/>
              <a:t>[</a:t>
            </a:r>
            <a:r>
              <a:rPr lang="en-US" dirty="0" err="1"/>
              <a:t>l_next</a:t>
            </a:r>
            <a:r>
              <a:rPr lang="en-US" dirty="0"/>
              <a:t>++]; }</a:t>
            </a:r>
          </a:p>
          <a:p>
            <a:pPr marL="0" indent="0">
              <a:buNone/>
            </a:pPr>
            <a:r>
              <a:rPr lang="en-US" dirty="0"/>
              <a:t>	while (</a:t>
            </a:r>
            <a:r>
              <a:rPr lang="en-US" dirty="0" err="1"/>
              <a:t>r_next</a:t>
            </a:r>
            <a:r>
              <a:rPr lang="en-US" dirty="0"/>
              <a:t> &lt;= high){  merged[</a:t>
            </a:r>
            <a:r>
              <a:rPr lang="en-US" dirty="0" err="1"/>
              <a:t>m_next</a:t>
            </a:r>
            <a:r>
              <a:rPr lang="en-US" dirty="0"/>
              <a:t>++] = </a:t>
            </a:r>
            <a:r>
              <a:rPr lang="en-US" dirty="0" err="1"/>
              <a:t>myArray</a:t>
            </a:r>
            <a:r>
              <a:rPr lang="en-US" dirty="0"/>
              <a:t>[</a:t>
            </a:r>
            <a:r>
              <a:rPr lang="en-US" dirty="0" err="1"/>
              <a:t>r_next</a:t>
            </a:r>
            <a:r>
              <a:rPr lang="en-US" dirty="0"/>
              <a:t>++]; } </a:t>
            </a:r>
          </a:p>
          <a:p>
            <a:pPr marL="0" indent="0">
              <a:buNone/>
            </a:pPr>
            <a:r>
              <a:rPr lang="en-US" dirty="0"/>
              <a:t>	for(</a:t>
            </a:r>
            <a:r>
              <a:rPr lang="en-US" dirty="0" err="1"/>
              <a:t>i</a:t>
            </a:r>
            <a:r>
              <a:rPr lang="en-US" dirty="0"/>
              <a:t>=0; </a:t>
            </a:r>
            <a:r>
              <a:rPr lang="en-US" dirty="0" err="1"/>
              <a:t>i</a:t>
            </a:r>
            <a:r>
              <a:rPr lang="en-US" dirty="0"/>
              <a:t>&lt;=</a:t>
            </a:r>
            <a:r>
              <a:rPr lang="en-US" dirty="0" err="1"/>
              <a:t>merged.length</a:t>
            </a:r>
            <a:r>
              <a:rPr lang="en-US" dirty="0"/>
              <a:t>; </a:t>
            </a:r>
            <a:r>
              <a:rPr lang="en-US" dirty="0" err="1"/>
              <a:t>i</a:t>
            </a:r>
            <a:r>
              <a:rPr lang="en-US" dirty="0"/>
              <a:t>++){ </a:t>
            </a:r>
            <a:r>
              <a:rPr lang="en-US" dirty="0" err="1"/>
              <a:t>myArray</a:t>
            </a:r>
            <a:r>
              <a:rPr lang="en-US" dirty="0"/>
              <a:t>[</a:t>
            </a:r>
            <a:r>
              <a:rPr lang="en-US" dirty="0" err="1"/>
              <a:t>i+low</a:t>
            </a:r>
            <a:r>
              <a:rPr lang="en-US" dirty="0"/>
              <a:t>] = merged[</a:t>
            </a:r>
            <a:r>
              <a:rPr lang="en-US" dirty="0" err="1"/>
              <a:t>i</a:t>
            </a:r>
            <a:r>
              <a:rPr lang="en-US" dirty="0"/>
              <a:t>];}</a:t>
            </a:r>
          </a:p>
          <a:p>
            <a:pPr marL="0" indent="0">
              <a:buNone/>
            </a:pPr>
            <a:r>
              <a:rPr lang="en-US" dirty="0"/>
              <a:t>}</a:t>
            </a:r>
          </a:p>
        </p:txBody>
      </p:sp>
    </p:spTree>
    <p:extLst>
      <p:ext uri="{BB962C8B-B14F-4D97-AF65-F5344CB8AC3E}">
        <p14:creationId xmlns:p14="http://schemas.microsoft.com/office/powerpoint/2010/main" val="2080148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Analyzing Merge Sort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524000"/>
                <a:ext cx="10972800" cy="5105399"/>
              </a:xfrm>
            </p:spPr>
            <p:txBody>
              <a:bodyPr>
                <a:normAutofit fontScale="92500" lnSpcReduction="10000"/>
              </a:bodyPr>
              <a:lstStyle/>
              <a:p>
                <a:pPr marL="514350" indent="-514350">
                  <a:buFont typeface="+mj-lt"/>
                  <a:buAutoNum type="arabicPeriod"/>
                </a:pPr>
                <a:r>
                  <a:rPr lang="en-US" dirty="0"/>
                  <a:t>Identify time required to Divide and Combine</a:t>
                </a:r>
              </a:p>
              <a:p>
                <a:pPr marL="514350" indent="-514350">
                  <a:buFont typeface="+mj-lt"/>
                  <a:buAutoNum type="arabicPeriod"/>
                </a:pPr>
                <a:r>
                  <a:rPr lang="en-US" dirty="0"/>
                  <a:t>Identify all subproblems and their sizes</a:t>
                </a:r>
              </a:p>
              <a:p>
                <a:pPr marL="514350" indent="-514350">
                  <a:buFont typeface="+mj-lt"/>
                  <a:buAutoNum type="arabicPeriod"/>
                </a:pPr>
                <a:r>
                  <a:rPr lang="en-US" dirty="0"/>
                  <a:t>Use recurrence relation to express recursive running time</a:t>
                </a:r>
              </a:p>
              <a:p>
                <a:pPr marL="514350" indent="-514350">
                  <a:buFont typeface="+mj-lt"/>
                  <a:buAutoNum type="arabicPeriod"/>
                </a:pPr>
                <a:r>
                  <a:rPr lang="en-US" dirty="0"/>
                  <a:t>Solve and express running time asymptotically</a:t>
                </a:r>
              </a:p>
              <a:p>
                <a:pPr marL="514350" indent="-514350">
                  <a:buFont typeface="+mj-lt"/>
                  <a:buAutoNum type="arabicPeriod"/>
                </a:pPr>
                <a:endParaRPr lang="en-US" dirty="0"/>
              </a:p>
              <a:p>
                <a:pPr>
                  <a:spcBef>
                    <a:spcPts val="648"/>
                  </a:spcBef>
                </a:pPr>
                <a:r>
                  <a:rPr lang="en-US" b="1" dirty="0">
                    <a:solidFill>
                      <a:srgbClr val="0070C0"/>
                    </a:solidFill>
                  </a:rPr>
                  <a:t>Divide</a:t>
                </a:r>
                <a:r>
                  <a:rPr lang="en-US" b="1" dirty="0"/>
                  <a:t>: </a:t>
                </a:r>
                <a14:m>
                  <m:oMath xmlns:m="http://schemas.openxmlformats.org/officeDocument/2006/math">
                    <m:r>
                      <a:rPr lang="en-US" b="0" i="1" dirty="0" smtClean="0">
                        <a:latin typeface="Cambria Math" panose="02040503050406030204" pitchFamily="18" charset="0"/>
                      </a:rPr>
                      <m:t>0</m:t>
                    </m:r>
                  </m:oMath>
                </a14:m>
                <a:r>
                  <a:rPr lang="en-US" dirty="0"/>
                  <a:t> comparisons </a:t>
                </a:r>
              </a:p>
              <a:p>
                <a:pPr>
                  <a:spcBef>
                    <a:spcPts val="648"/>
                  </a:spcBef>
                </a:pPr>
                <a:r>
                  <a:rPr lang="en-US" b="1" dirty="0">
                    <a:solidFill>
                      <a:srgbClr val="0070C0"/>
                    </a:solidFill>
                  </a:rPr>
                  <a:t>Conquer</a:t>
                </a:r>
                <a:r>
                  <a:rPr lang="en-US" b="1" dirty="0"/>
                  <a:t>: </a:t>
                </a:r>
                <a:r>
                  <a:rPr lang="en-US" dirty="0"/>
                  <a:t>recursively sort two lists of size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oMath>
                </a14:m>
                <a:endParaRPr lang="en-US" b="1" dirty="0"/>
              </a:p>
              <a:p>
                <a:pPr>
                  <a:spcBef>
                    <a:spcPts val="648"/>
                  </a:spcBef>
                </a:pPr>
                <a:r>
                  <a:rPr lang="en-US" b="1" dirty="0">
                    <a:solidFill>
                      <a:srgbClr val="0070C0"/>
                    </a:solidFill>
                  </a:rPr>
                  <a:t>Combine</a:t>
                </a:r>
                <a:r>
                  <a:rPr lang="en-US" b="1" dirty="0"/>
                  <a:t>: </a:t>
                </a:r>
                <a14:m>
                  <m:oMath xmlns:m="http://schemas.openxmlformats.org/officeDocument/2006/math">
                    <m:r>
                      <a:rPr lang="en-US" b="0" i="1" smtClean="0">
                        <a:latin typeface="Cambria Math" panose="02040503050406030204" pitchFamily="18" charset="0"/>
                      </a:rPr>
                      <m:t>𝑛</m:t>
                    </m:r>
                  </m:oMath>
                </a14:m>
                <a:r>
                  <a:rPr lang="en-US" dirty="0"/>
                  <a:t> comparisons</a:t>
                </a:r>
              </a:p>
              <a:p>
                <a:pPr>
                  <a:spcBef>
                    <a:spcPts val="648"/>
                  </a:spcBef>
                </a:pPr>
                <a:r>
                  <a:rPr lang="en-US" b="1" dirty="0"/>
                  <a:t>Recurrence: </a:t>
                </a:r>
                <a:endParaRPr lang="en-US" b="0" i="1" dirty="0">
                  <a:latin typeface="Cambria Math"/>
                </a:endParaRPr>
              </a:p>
              <a:p>
                <a:pPr marL="457200" lvl="1" indent="0">
                  <a:buNone/>
                </a:pPr>
                <a14:m>
                  <m:oMath xmlns:m="http://schemas.openxmlformats.org/officeDocument/2006/math">
                    <m:r>
                      <a:rPr lang="en-US" b="0" i="1" smtClean="0">
                        <a:latin typeface="Cambria Math"/>
                      </a:rPr>
                      <m:t>𝑇</m:t>
                    </m:r>
                    <m:d>
                      <m:dPr>
                        <m:ctrlPr>
                          <a:rPr lang="en-US" i="1" smtClean="0">
                            <a:latin typeface="Cambria Math" panose="02040503050406030204" pitchFamily="18" charset="0"/>
                          </a:rPr>
                        </m:ctrlPr>
                      </m:dPr>
                      <m:e>
                        <m:r>
                          <a:rPr lang="en-US" b="0" i="1" smtClean="0">
                            <a:latin typeface="Cambria Math"/>
                          </a:rPr>
                          <m:t>𝑛</m:t>
                        </m:r>
                      </m:e>
                    </m:d>
                    <m:r>
                      <a:rPr lang="en-US" b="0" i="1" smtClean="0">
                        <a:latin typeface="Cambria Math"/>
                      </a:rPr>
                      <m:t>=</m:t>
                    </m:r>
                    <m:r>
                      <a:rPr lang="en-US" b="0" i="1" smtClean="0">
                        <a:latin typeface="Cambria Math" panose="02040503050406030204" pitchFamily="18" charset="0"/>
                      </a:rPr>
                      <m:t>0</m:t>
                    </m:r>
                    <m:r>
                      <a:rPr lang="en-US" b="0" i="1" smtClean="0">
                        <a:latin typeface="Cambria Math"/>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a:rPr>
                      <m:t>+</m:t>
                    </m:r>
                    <m:r>
                      <a:rPr lang="en-US" b="0" i="1" smtClean="0">
                        <a:latin typeface="Cambria Math" panose="02040503050406030204" pitchFamily="18" charset="0"/>
                      </a:rPr>
                      <m:t>𝑛</m:t>
                    </m:r>
                  </m:oMath>
                </a14:m>
                <a:r>
                  <a:rPr lang="en-US" dirty="0"/>
                  <a:t> 	</a:t>
                </a:r>
              </a:p>
              <a:p>
                <a:pPr marL="457200" lvl="1" indent="0">
                  <a:buNone/>
                </a:pPr>
                <a14:m>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r>
                      <a:rPr lang="en-US" b="0" i="1" smtClean="0">
                        <a:latin typeface="Cambria Math" panose="02040503050406030204" pitchFamily="18" charset="0"/>
                      </a:rPr>
                      <m:t>𝑛</m:t>
                    </m:r>
                  </m:oMath>
                </a14:m>
                <a:r>
                  <a:rPr lang="en-US" dirty="0"/>
                  <a:t> </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524000"/>
                <a:ext cx="10972800" cy="5105399"/>
              </a:xfrm>
              <a:blipFill>
                <a:blip r:embed="rId2"/>
                <a:stretch>
                  <a:fillRect l="-1000" t="-2509"/>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EAC4A968-ABBA-0148-8FAC-7A34796189C3}"/>
                  </a:ext>
                </a:extLst>
              </p14:cNvPr>
              <p14:cNvContentPartPr/>
              <p14:nvPr/>
            </p14:nvContentPartPr>
            <p14:xfrm>
              <a:off x="464040" y="3618720"/>
              <a:ext cx="9086040" cy="2526120"/>
            </p14:xfrm>
          </p:contentPart>
        </mc:Choice>
        <mc:Fallback>
          <p:pic>
            <p:nvPicPr>
              <p:cNvPr id="4" name="Ink 3">
                <a:extLst>
                  <a:ext uri="{FF2B5EF4-FFF2-40B4-BE49-F238E27FC236}">
                    <a16:creationId xmlns:a16="http://schemas.microsoft.com/office/drawing/2014/main" id="{EAC4A968-ABBA-0148-8FAC-7A34796189C3}"/>
                  </a:ext>
                </a:extLst>
              </p:cNvPr>
              <p:cNvPicPr/>
              <p:nvPr/>
            </p:nvPicPr>
            <p:blipFill>
              <a:blip r:embed="rId4"/>
              <a:stretch>
                <a:fillRect/>
              </a:stretch>
            </p:blipFill>
            <p:spPr>
              <a:xfrm>
                <a:off x="454680" y="3609360"/>
                <a:ext cx="9104760" cy="2544840"/>
              </a:xfrm>
              <a:prstGeom prst="rect">
                <a:avLst/>
              </a:prstGeom>
            </p:spPr>
          </p:pic>
        </mc:Fallback>
      </mc:AlternateContent>
    </p:spTree>
    <p:extLst>
      <p:ext uri="{BB962C8B-B14F-4D97-AF65-F5344CB8AC3E}">
        <p14:creationId xmlns:p14="http://schemas.microsoft.com/office/powerpoint/2010/main" val="13156965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38200" y="226901"/>
                <a:ext cx="10515600" cy="1152020"/>
              </a:xfrm>
            </p:spPr>
            <p:txBody>
              <a:bodyPr/>
              <a:lstStyle/>
              <a:p>
                <a:r>
                  <a:rPr lang="en-US" dirty="0"/>
                  <a:t>Tree Method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38200" y="226901"/>
                <a:ext cx="10515600" cy="1152020"/>
              </a:xfrm>
              <a:blipFill>
                <a:blip r:embed="rId2"/>
                <a:stretch>
                  <a:fillRect l="-2377" b="-634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012C2DE-48D7-4255-8090-ED57B66C05A8}"/>
              </a:ext>
              <a:ext uri="{C183D7F6-B498-43B3-948B-1728B52AA6E4}">
                <adec:decorative xmlns:adec="http://schemas.microsoft.com/office/drawing/2017/decorative" val="1"/>
              </a:ext>
            </a:extLst>
          </p:cNvPr>
          <p:cNvSpPr/>
          <p:nvPr/>
        </p:nvSpPr>
        <p:spPr>
          <a:xfrm>
            <a:off x="198471" y="1473992"/>
            <a:ext cx="2602580" cy="6397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Red box represents a problem instance</a:t>
            </a:r>
          </a:p>
        </p:txBody>
      </p:sp>
      <p:sp>
        <p:nvSpPr>
          <p:cNvPr id="3" name="Rectangle 2">
            <a:extLst>
              <a:ext uri="{FF2B5EF4-FFF2-40B4-BE49-F238E27FC236}">
                <a16:creationId xmlns:a16="http://schemas.microsoft.com/office/drawing/2014/main" id="{4404CA70-A150-F1D8-AD03-6AA8C0C6C3A5}"/>
              </a:ext>
              <a:ext uri="{C183D7F6-B498-43B3-948B-1728B52AA6E4}">
                <adec:decorative xmlns:adec="http://schemas.microsoft.com/office/drawing/2017/decorative" val="1"/>
              </a:ext>
            </a:extLst>
          </p:cNvPr>
          <p:cNvSpPr/>
          <p:nvPr/>
        </p:nvSpPr>
        <p:spPr>
          <a:xfrm>
            <a:off x="84143" y="2182904"/>
            <a:ext cx="2716908" cy="811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Blue value next to each box represents time spent at that level of recursion</a:t>
            </a:r>
          </a:p>
        </p:txBody>
      </p:sp>
      <p:grpSp>
        <p:nvGrpSpPr>
          <p:cNvPr id="5" name="Group 4" descr="A picture of the recursion for the given recurrence relation. We have one box per stack frame in the recursion. Each box is labelled inside with a value that represents the size of the input for that stack frame. Outside each box is labelled with the amount of (non-recursive) work done by that box (in this case it matches the size of the box).&#10;&#10;Each box has an arrow pointing to two boxes with a smaller input (specifically each is half the size) to represent the larger box recursively invoking the algorithm twice with smaller inputs.">
            <a:extLst>
              <a:ext uri="{FF2B5EF4-FFF2-40B4-BE49-F238E27FC236}">
                <a16:creationId xmlns:a16="http://schemas.microsoft.com/office/drawing/2014/main" id="{1608846C-74F5-18A2-9C12-E88C074DF299}"/>
              </a:ext>
            </a:extLst>
          </p:cNvPr>
          <p:cNvGrpSpPr/>
          <p:nvPr/>
        </p:nvGrpSpPr>
        <p:grpSpPr>
          <a:xfrm>
            <a:off x="1312850" y="1751469"/>
            <a:ext cx="7080190" cy="3693910"/>
            <a:chOff x="1295400" y="1992868"/>
            <a:chExt cx="7080190" cy="3693910"/>
          </a:xfrm>
        </p:grpSpPr>
        <mc:AlternateContent xmlns:mc="http://schemas.openxmlformats.org/markup-compatibility/2006" xmlns:a14="http://schemas.microsoft.com/office/drawing/2010/main">
          <mc:Choice Requires="a14">
            <p:sp>
              <p:nvSpPr>
                <p:cNvPr id="44" name="Text Box 41"/>
                <p:cNvSpPr txBox="1">
                  <a:spLocks noChangeArrowheads="1"/>
                </p:cNvSpPr>
                <p:nvPr/>
              </p:nvSpPr>
              <p:spPr bwMode="auto">
                <a:xfrm>
                  <a:off x="4381500" y="213360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44" name="Text Box 41"/>
                <p:cNvSpPr txBox="1">
                  <a:spLocks noRot="1" noChangeAspect="1" noMove="1" noResize="1" noEditPoints="1" noAdjustHandles="1" noChangeArrowheads="1" noChangeShapeType="1" noTextEdit="1"/>
                </p:cNvSpPr>
                <p:nvPr/>
              </p:nvSpPr>
              <p:spPr bwMode="auto">
                <a:xfrm>
                  <a:off x="4381500" y="2133600"/>
                  <a:ext cx="1333500" cy="457200"/>
                </a:xfrm>
                <a:prstGeom prst="rect">
                  <a:avLst/>
                </a:prstGeom>
                <a:blipFill>
                  <a:blip r:embed="rId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 Box 41"/>
                <p:cNvSpPr txBox="1">
                  <a:spLocks noChangeArrowheads="1"/>
                </p:cNvSpPr>
                <p:nvPr/>
              </p:nvSpPr>
              <p:spPr bwMode="auto">
                <a:xfrm>
                  <a:off x="2690604"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7" name="Text Box 41"/>
                <p:cNvSpPr txBox="1">
                  <a:spLocks noRot="1" noChangeAspect="1" noMove="1" noResize="1" noEditPoints="1" noAdjustHandles="1" noChangeArrowheads="1" noChangeShapeType="1" noTextEdit="1"/>
                </p:cNvSpPr>
                <p:nvPr/>
              </p:nvSpPr>
              <p:spPr bwMode="auto">
                <a:xfrm>
                  <a:off x="2690604" y="3028252"/>
                  <a:ext cx="1333500" cy="457200"/>
                </a:xfrm>
                <a:prstGeom prst="rect">
                  <a:avLst/>
                </a:prstGeom>
                <a:blipFill>
                  <a:blip r:embed="rId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 Box 41"/>
                <p:cNvSpPr txBox="1">
                  <a:spLocks noChangeArrowheads="1"/>
                </p:cNvSpPr>
                <p:nvPr/>
              </p:nvSpPr>
              <p:spPr bwMode="auto">
                <a:xfrm>
                  <a:off x="5981700"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8" name="Text Box 41"/>
                <p:cNvSpPr txBox="1">
                  <a:spLocks noRot="1" noChangeAspect="1" noMove="1" noResize="1" noEditPoints="1" noAdjustHandles="1" noChangeArrowheads="1" noChangeShapeType="1" noTextEdit="1"/>
                </p:cNvSpPr>
                <p:nvPr/>
              </p:nvSpPr>
              <p:spPr bwMode="auto">
                <a:xfrm>
                  <a:off x="5981700" y="3028252"/>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 Box 41"/>
                <p:cNvSpPr txBox="1">
                  <a:spLocks noChangeArrowheads="1"/>
                </p:cNvSpPr>
                <p:nvPr/>
              </p:nvSpPr>
              <p:spPr bwMode="auto">
                <a:xfrm>
                  <a:off x="157388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49" name="Text Box 41"/>
                <p:cNvSpPr txBox="1">
                  <a:spLocks noRot="1" noChangeAspect="1" noMove="1" noResize="1" noEditPoints="1" noAdjustHandles="1" noChangeArrowheads="1" noChangeShapeType="1" noTextEdit="1"/>
                </p:cNvSpPr>
                <p:nvPr/>
              </p:nvSpPr>
              <p:spPr bwMode="auto">
                <a:xfrm>
                  <a:off x="1573880" y="3834326"/>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 Box 41"/>
                <p:cNvSpPr txBox="1">
                  <a:spLocks noChangeArrowheads="1"/>
                </p:cNvSpPr>
                <p:nvPr/>
              </p:nvSpPr>
              <p:spPr bwMode="auto">
                <a:xfrm>
                  <a:off x="3314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0" name="Text Box 41"/>
                <p:cNvSpPr txBox="1">
                  <a:spLocks noRot="1" noChangeAspect="1" noMove="1" noResize="1" noEditPoints="1" noAdjustHandles="1" noChangeArrowheads="1" noChangeShapeType="1" noTextEdit="1"/>
                </p:cNvSpPr>
                <p:nvPr/>
              </p:nvSpPr>
              <p:spPr bwMode="auto">
                <a:xfrm>
                  <a:off x="3314700" y="3834326"/>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 Box 41"/>
                <p:cNvSpPr txBox="1">
                  <a:spLocks noChangeArrowheads="1"/>
                </p:cNvSpPr>
                <p:nvPr/>
              </p:nvSpPr>
              <p:spPr bwMode="auto">
                <a:xfrm>
                  <a:off x="5181600" y="383237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1" name="Text Box 41"/>
                <p:cNvSpPr txBox="1">
                  <a:spLocks noRot="1" noChangeAspect="1" noMove="1" noResize="1" noEditPoints="1" noAdjustHandles="1" noChangeArrowheads="1" noChangeShapeType="1" noTextEdit="1"/>
                </p:cNvSpPr>
                <p:nvPr/>
              </p:nvSpPr>
              <p:spPr bwMode="auto">
                <a:xfrm>
                  <a:off x="5181600" y="3832376"/>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 Box 41"/>
                <p:cNvSpPr txBox="1">
                  <a:spLocks noChangeArrowheads="1"/>
                </p:cNvSpPr>
                <p:nvPr/>
              </p:nvSpPr>
              <p:spPr bwMode="auto">
                <a:xfrm>
                  <a:off x="6743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2" name="Text Box 41"/>
                <p:cNvSpPr txBox="1">
                  <a:spLocks noRot="1" noChangeAspect="1" noMove="1" noResize="1" noEditPoints="1" noAdjustHandles="1" noChangeArrowheads="1" noChangeShapeType="1" noTextEdit="1"/>
                </p:cNvSpPr>
                <p:nvPr/>
              </p:nvSpPr>
              <p:spPr bwMode="auto">
                <a:xfrm>
                  <a:off x="6743700" y="3834326"/>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sp>
          <p:nvSpPr>
            <p:cNvPr id="53" name="Rectangle 52"/>
            <p:cNvSpPr/>
            <p:nvPr/>
          </p:nvSpPr>
          <p:spPr>
            <a:xfrm rot="16200000">
              <a:off x="2018785" y="4281268"/>
              <a:ext cx="574196" cy="769441"/>
            </a:xfrm>
            <a:prstGeom prst="rect">
              <a:avLst/>
            </a:prstGeom>
          </p:spPr>
          <p:txBody>
            <a:bodyPr wrap="none">
              <a:spAutoFit/>
            </a:bodyPr>
            <a:lstStyle/>
            <a:p>
              <a:r>
                <a:rPr lang="en-US" sz="4400" dirty="0"/>
                <a:t>…</a:t>
              </a:r>
            </a:p>
          </p:txBody>
        </p:sp>
        <p:sp>
          <p:nvSpPr>
            <p:cNvPr id="54" name="Rectangle 53"/>
            <p:cNvSpPr/>
            <p:nvPr/>
          </p:nvSpPr>
          <p:spPr>
            <a:xfrm rot="16200000">
              <a:off x="3694351" y="4308283"/>
              <a:ext cx="574196" cy="769441"/>
            </a:xfrm>
            <a:prstGeom prst="rect">
              <a:avLst/>
            </a:prstGeom>
          </p:spPr>
          <p:txBody>
            <a:bodyPr wrap="none">
              <a:spAutoFit/>
            </a:bodyPr>
            <a:lstStyle/>
            <a:p>
              <a:r>
                <a:rPr lang="en-US" sz="4400" dirty="0"/>
                <a:t>…</a:t>
              </a:r>
            </a:p>
          </p:txBody>
        </p:sp>
        <p:sp>
          <p:nvSpPr>
            <p:cNvPr id="55" name="Rectangle 54"/>
            <p:cNvSpPr/>
            <p:nvPr/>
          </p:nvSpPr>
          <p:spPr>
            <a:xfrm rot="16200000">
              <a:off x="5637451" y="4308283"/>
              <a:ext cx="574196" cy="769441"/>
            </a:xfrm>
            <a:prstGeom prst="rect">
              <a:avLst/>
            </a:prstGeom>
          </p:spPr>
          <p:txBody>
            <a:bodyPr wrap="none">
              <a:spAutoFit/>
            </a:bodyPr>
            <a:lstStyle/>
            <a:p>
              <a:r>
                <a:rPr lang="en-US" sz="4400" dirty="0"/>
                <a:t>…</a:t>
              </a:r>
            </a:p>
          </p:txBody>
        </p:sp>
        <p:sp>
          <p:nvSpPr>
            <p:cNvPr id="56" name="Rectangle 55"/>
            <p:cNvSpPr/>
            <p:nvPr/>
          </p:nvSpPr>
          <p:spPr>
            <a:xfrm rot="16200000">
              <a:off x="7123351" y="4335298"/>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57" name="Text Box 41"/>
                <p:cNvSpPr txBox="1">
                  <a:spLocks noChangeArrowheads="1"/>
                </p:cNvSpPr>
                <p:nvPr/>
              </p:nvSpPr>
              <p:spPr bwMode="auto">
                <a:xfrm>
                  <a:off x="1295400"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7" name="Text Box 41"/>
                <p:cNvSpPr txBox="1">
                  <a:spLocks noRot="1" noChangeAspect="1" noMove="1" noResize="1" noEditPoints="1" noAdjustHandles="1" noChangeArrowheads="1" noChangeShapeType="1" noTextEdit="1"/>
                </p:cNvSpPr>
                <p:nvPr/>
              </p:nvSpPr>
              <p:spPr bwMode="auto">
                <a:xfrm>
                  <a:off x="1295400" y="5226656"/>
                  <a:ext cx="716630" cy="457200"/>
                </a:xfrm>
                <a:prstGeom prst="rect">
                  <a:avLst/>
                </a:prstGeom>
                <a:blipFill>
                  <a:blip r:embed="rId10"/>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 Box 41"/>
                <p:cNvSpPr txBox="1">
                  <a:spLocks noChangeArrowheads="1"/>
                </p:cNvSpPr>
                <p:nvPr/>
              </p:nvSpPr>
              <p:spPr bwMode="auto">
                <a:xfrm>
                  <a:off x="22860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8" name="Text Box 41"/>
                <p:cNvSpPr txBox="1">
                  <a:spLocks noRot="1" noChangeAspect="1" noMove="1" noResize="1" noEditPoints="1" noAdjustHandles="1" noChangeArrowheads="1" noChangeShapeType="1" noTextEdit="1"/>
                </p:cNvSpPr>
                <p:nvPr/>
              </p:nvSpPr>
              <p:spPr bwMode="auto">
                <a:xfrm>
                  <a:off x="2286000" y="5229577"/>
                  <a:ext cx="716630" cy="457200"/>
                </a:xfrm>
                <a:prstGeom prst="rect">
                  <a:avLst/>
                </a:prstGeom>
                <a:blipFill>
                  <a:blip r:embed="rId11"/>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 Box 41"/>
                <p:cNvSpPr txBox="1">
                  <a:spLocks noChangeArrowheads="1"/>
                </p:cNvSpPr>
                <p:nvPr/>
              </p:nvSpPr>
              <p:spPr bwMode="auto">
                <a:xfrm>
                  <a:off x="3201319"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9" name="Text Box 41"/>
                <p:cNvSpPr txBox="1">
                  <a:spLocks noRot="1" noChangeAspect="1" noMove="1" noResize="1" noEditPoints="1" noAdjustHandles="1" noChangeArrowheads="1" noChangeShapeType="1" noTextEdit="1"/>
                </p:cNvSpPr>
                <p:nvPr/>
              </p:nvSpPr>
              <p:spPr bwMode="auto">
                <a:xfrm>
                  <a:off x="3201319" y="5229577"/>
                  <a:ext cx="716630" cy="457200"/>
                </a:xfrm>
                <a:prstGeom prst="rect">
                  <a:avLst/>
                </a:prstGeom>
                <a:blipFill>
                  <a:blip r:embed="rId12"/>
                  <a:stretch>
                    <a:fillRect/>
                  </a:stretch>
                </a:blipFill>
                <a:ln w="9525">
                  <a:solidFill>
                    <a:srgbClr val="FF0000"/>
                  </a:solidFill>
                  <a:miter lim="800000"/>
                  <a:headEnd/>
                  <a:tailEnd/>
                </a:ln>
              </p:spPr>
              <p:txBody>
                <a:bodyPr/>
                <a:lstStyle/>
                <a:p>
                  <a:r>
                    <a:rPr lang="en-US">
                      <a:noFill/>
                    </a:rPr>
                    <a:t> </a:t>
                  </a:r>
                </a:p>
              </p:txBody>
            </p:sp>
          </mc:Fallback>
        </mc:AlternateContent>
        <p:sp>
          <p:nvSpPr>
            <p:cNvPr id="60" name="Rectangle 59"/>
            <p:cNvSpPr/>
            <p:nvPr/>
          </p:nvSpPr>
          <p:spPr>
            <a:xfrm>
              <a:off x="4133849" y="4917337"/>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61" name="Text Box 41"/>
                <p:cNvSpPr txBox="1">
                  <a:spLocks noChangeArrowheads="1"/>
                </p:cNvSpPr>
                <p:nvPr/>
              </p:nvSpPr>
              <p:spPr bwMode="auto">
                <a:xfrm>
                  <a:off x="5348411"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1" name="Text Box 41"/>
                <p:cNvSpPr txBox="1">
                  <a:spLocks noRot="1" noChangeAspect="1" noMove="1" noResize="1" noEditPoints="1" noAdjustHandles="1" noChangeArrowheads="1" noChangeShapeType="1" noTextEdit="1"/>
                </p:cNvSpPr>
                <p:nvPr/>
              </p:nvSpPr>
              <p:spPr bwMode="auto">
                <a:xfrm>
                  <a:off x="5348411" y="5226656"/>
                  <a:ext cx="716630" cy="457200"/>
                </a:xfrm>
                <a:prstGeom prst="rect">
                  <a:avLst/>
                </a:prstGeom>
                <a:blipFill>
                  <a:blip r:embed="rId1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 Box 41"/>
                <p:cNvSpPr txBox="1">
                  <a:spLocks noChangeArrowheads="1"/>
                </p:cNvSpPr>
                <p:nvPr/>
              </p:nvSpPr>
              <p:spPr bwMode="auto">
                <a:xfrm>
                  <a:off x="63246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2" name="Text Box 41"/>
                <p:cNvSpPr txBox="1">
                  <a:spLocks noRot="1" noChangeAspect="1" noMove="1" noResize="1" noEditPoints="1" noAdjustHandles="1" noChangeArrowheads="1" noChangeShapeType="1" noTextEdit="1"/>
                </p:cNvSpPr>
                <p:nvPr/>
              </p:nvSpPr>
              <p:spPr bwMode="auto">
                <a:xfrm>
                  <a:off x="6324600" y="5229577"/>
                  <a:ext cx="716630" cy="457200"/>
                </a:xfrm>
                <a:prstGeom prst="rect">
                  <a:avLst/>
                </a:prstGeom>
                <a:blipFill>
                  <a:blip r:embed="rId1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 Box 41"/>
                <p:cNvSpPr txBox="1">
                  <a:spLocks noChangeArrowheads="1"/>
                </p:cNvSpPr>
                <p:nvPr/>
              </p:nvSpPr>
              <p:spPr bwMode="auto">
                <a:xfrm>
                  <a:off x="7201056"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3" name="Text Box 41"/>
                <p:cNvSpPr txBox="1">
                  <a:spLocks noRot="1" noChangeAspect="1" noMove="1" noResize="1" noEditPoints="1" noAdjustHandles="1" noChangeArrowheads="1" noChangeShapeType="1" noTextEdit="1"/>
                </p:cNvSpPr>
                <p:nvPr/>
              </p:nvSpPr>
              <p:spPr bwMode="auto">
                <a:xfrm>
                  <a:off x="7201056" y="5229577"/>
                  <a:ext cx="716630" cy="457200"/>
                </a:xfrm>
                <a:prstGeom prst="rect">
                  <a:avLst/>
                </a:prstGeom>
                <a:blipFill>
                  <a:blip r:embed="rId15"/>
                  <a:stretch>
                    <a:fillRect/>
                  </a:stretch>
                </a:blipFill>
                <a:ln w="9525">
                  <a:solidFill>
                    <a:srgbClr val="FF0000"/>
                  </a:solidFill>
                  <a:miter lim="800000"/>
                  <a:headEnd/>
                  <a:tailEnd/>
                </a:ln>
              </p:spPr>
              <p:txBody>
                <a:bodyPr/>
                <a:lstStyle/>
                <a:p>
                  <a:r>
                    <a:rPr lang="en-US">
                      <a:noFill/>
                    </a:rPr>
                    <a:t> </a:t>
                  </a:r>
                </a:p>
              </p:txBody>
            </p:sp>
          </mc:Fallback>
        </mc:AlternateContent>
        <p:cxnSp>
          <p:nvCxnSpPr>
            <p:cNvPr id="65" name="Straight Connector 64"/>
            <p:cNvCxnSpPr>
              <a:stCxn id="44" idx="2"/>
              <a:endCxn id="47" idx="0"/>
            </p:cNvCxnSpPr>
            <p:nvPr/>
          </p:nvCxnSpPr>
          <p:spPr>
            <a:xfrm flipH="1">
              <a:off x="3357354" y="2590800"/>
              <a:ext cx="1690896"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44" idx="2"/>
              <a:endCxn id="48" idx="0"/>
            </p:cNvCxnSpPr>
            <p:nvPr/>
          </p:nvCxnSpPr>
          <p:spPr>
            <a:xfrm>
              <a:off x="5048250" y="2590800"/>
              <a:ext cx="1600200"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47" idx="2"/>
              <a:endCxn id="49" idx="0"/>
            </p:cNvCxnSpPr>
            <p:nvPr/>
          </p:nvCxnSpPr>
          <p:spPr>
            <a:xfrm flipH="1">
              <a:off x="2240630" y="3485452"/>
              <a:ext cx="1116724"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47" idx="2"/>
              <a:endCxn id="50" idx="0"/>
            </p:cNvCxnSpPr>
            <p:nvPr/>
          </p:nvCxnSpPr>
          <p:spPr>
            <a:xfrm>
              <a:off x="3357354" y="3485452"/>
              <a:ext cx="624096"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48" idx="2"/>
              <a:endCxn id="51" idx="0"/>
            </p:cNvCxnSpPr>
            <p:nvPr/>
          </p:nvCxnSpPr>
          <p:spPr>
            <a:xfrm flipH="1">
              <a:off x="5848350" y="3485452"/>
              <a:ext cx="800100" cy="34692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48" idx="2"/>
              <a:endCxn id="52" idx="0"/>
            </p:cNvCxnSpPr>
            <p:nvPr/>
          </p:nvCxnSpPr>
          <p:spPr>
            <a:xfrm>
              <a:off x="6648450" y="3485452"/>
              <a:ext cx="762000"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7486650" y="4291526"/>
              <a:ext cx="499546"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52" idx="2"/>
            </p:cNvCxnSpPr>
            <p:nvPr/>
          </p:nvCxnSpPr>
          <p:spPr>
            <a:xfrm flipH="1">
              <a:off x="7143432" y="4291526"/>
              <a:ext cx="267019"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51" idx="2"/>
            </p:cNvCxnSpPr>
            <p:nvPr/>
          </p:nvCxnSpPr>
          <p:spPr>
            <a:xfrm>
              <a:off x="5848351" y="4289576"/>
              <a:ext cx="499545"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51" idx="2"/>
            </p:cNvCxnSpPr>
            <p:nvPr/>
          </p:nvCxnSpPr>
          <p:spPr>
            <a:xfrm flipH="1">
              <a:off x="5581332" y="4289576"/>
              <a:ext cx="267019"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a:stCxn id="50" idx="2"/>
            </p:cNvCxnSpPr>
            <p:nvPr/>
          </p:nvCxnSpPr>
          <p:spPr>
            <a:xfrm>
              <a:off x="3981450" y="4291526"/>
              <a:ext cx="526860"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50" idx="2"/>
            </p:cNvCxnSpPr>
            <p:nvPr/>
          </p:nvCxnSpPr>
          <p:spPr>
            <a:xfrm flipH="1">
              <a:off x="3741748" y="4291526"/>
              <a:ext cx="239703"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49" idx="2"/>
            </p:cNvCxnSpPr>
            <p:nvPr/>
          </p:nvCxnSpPr>
          <p:spPr>
            <a:xfrm>
              <a:off x="2240631" y="4291527"/>
              <a:ext cx="474963"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49" idx="2"/>
            </p:cNvCxnSpPr>
            <p:nvPr/>
          </p:nvCxnSpPr>
          <p:spPr>
            <a:xfrm flipH="1">
              <a:off x="1949032" y="4291527"/>
              <a:ext cx="291599"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p:cNvSpPr txBox="1"/>
                <p:nvPr/>
              </p:nvSpPr>
              <p:spPr>
                <a:xfrm>
                  <a:off x="5668215" y="1992868"/>
                  <a:ext cx="3745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𝑛</m:t>
                        </m:r>
                      </m:oMath>
                    </m:oMathPara>
                  </a14:m>
                  <a:endParaRPr lang="en-US" dirty="0">
                    <a:solidFill>
                      <a:srgbClr val="0070C0"/>
                    </a:solidFill>
                  </a:endParaRPr>
                </a:p>
              </p:txBody>
            </p:sp>
          </mc:Choice>
          <mc:Fallback xmlns="">
            <p:sp>
              <p:nvSpPr>
                <p:cNvPr id="64" name="TextBox 63"/>
                <p:cNvSpPr txBox="1">
                  <a:spLocks noRot="1" noChangeAspect="1" noMove="1" noResize="1" noEditPoints="1" noAdjustHandles="1" noChangeArrowheads="1" noChangeShapeType="1" noTextEdit="1"/>
                </p:cNvSpPr>
                <p:nvPr/>
              </p:nvSpPr>
              <p:spPr>
                <a:xfrm>
                  <a:off x="5668215" y="1992868"/>
                  <a:ext cx="374590"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p:cNvSpPr txBox="1"/>
                <p:nvPr/>
              </p:nvSpPr>
              <p:spPr>
                <a:xfrm>
                  <a:off x="3962400" y="2940302"/>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2</m:t>
                            </m:r>
                          </m:den>
                        </m:f>
                      </m:oMath>
                    </m:oMathPara>
                  </a14:m>
                  <a:endParaRPr lang="en-US" dirty="0">
                    <a:solidFill>
                      <a:srgbClr val="0070C0"/>
                    </a:solidFill>
                  </a:endParaRPr>
                </a:p>
              </p:txBody>
            </p:sp>
          </mc:Choice>
          <mc:Fallback xmlns="">
            <p:sp>
              <p:nvSpPr>
                <p:cNvPr id="66" name="TextBox 65"/>
                <p:cNvSpPr txBox="1">
                  <a:spLocks noRot="1" noChangeAspect="1" noMove="1" noResize="1" noEditPoints="1" noAdjustHandles="1" noChangeArrowheads="1" noChangeShapeType="1" noTextEdit="1"/>
                </p:cNvSpPr>
                <p:nvPr/>
              </p:nvSpPr>
              <p:spPr>
                <a:xfrm>
                  <a:off x="3962400" y="2940302"/>
                  <a:ext cx="374590" cy="564898"/>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p:cNvSpPr txBox="1"/>
                <p:nvPr/>
              </p:nvSpPr>
              <p:spPr>
                <a:xfrm>
                  <a:off x="7246374" y="2974403"/>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2</m:t>
                            </m:r>
                          </m:den>
                        </m:f>
                      </m:oMath>
                    </m:oMathPara>
                  </a14:m>
                  <a:endParaRPr lang="en-US" dirty="0">
                    <a:solidFill>
                      <a:srgbClr val="0070C0"/>
                    </a:solidFill>
                  </a:endParaRPr>
                </a:p>
              </p:txBody>
            </p:sp>
          </mc:Choice>
          <mc:Fallback xmlns="">
            <p:sp>
              <p:nvSpPr>
                <p:cNvPr id="67" name="TextBox 66"/>
                <p:cNvSpPr txBox="1">
                  <a:spLocks noRot="1" noChangeAspect="1" noMove="1" noResize="1" noEditPoints="1" noAdjustHandles="1" noChangeArrowheads="1" noChangeShapeType="1" noTextEdit="1"/>
                </p:cNvSpPr>
                <p:nvPr/>
              </p:nvSpPr>
              <p:spPr>
                <a:xfrm>
                  <a:off x="7246374" y="2974403"/>
                  <a:ext cx="374590" cy="564898"/>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2819400" y="3778527"/>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68" name="TextBox 67"/>
                <p:cNvSpPr txBox="1">
                  <a:spLocks noRot="1" noChangeAspect="1" noMove="1" noResize="1" noEditPoints="1" noAdjustHandles="1" noChangeArrowheads="1" noChangeShapeType="1" noTextEdit="1"/>
                </p:cNvSpPr>
                <p:nvPr/>
              </p:nvSpPr>
              <p:spPr>
                <a:xfrm>
                  <a:off x="2819400" y="3778527"/>
                  <a:ext cx="374590" cy="564898"/>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a:off x="4639597" y="3774093"/>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70" name="TextBox 69"/>
                <p:cNvSpPr txBox="1">
                  <a:spLocks noRot="1" noChangeAspect="1" noMove="1" noResize="1" noEditPoints="1" noAdjustHandles="1" noChangeArrowheads="1" noChangeShapeType="1" noTextEdit="1"/>
                </p:cNvSpPr>
                <p:nvPr/>
              </p:nvSpPr>
              <p:spPr>
                <a:xfrm>
                  <a:off x="4639597" y="3774093"/>
                  <a:ext cx="374590" cy="564898"/>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p:cNvSpPr txBox="1"/>
                <p:nvPr/>
              </p:nvSpPr>
              <p:spPr>
                <a:xfrm>
                  <a:off x="6432433" y="3783622"/>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b="0" dirty="0">
                    <a:solidFill>
                      <a:srgbClr val="0070C0"/>
                    </a:solidFill>
                  </a:endParaRPr>
                </a:p>
              </p:txBody>
            </p:sp>
          </mc:Choice>
          <mc:Fallback xmlns="">
            <p:sp>
              <p:nvSpPr>
                <p:cNvPr id="71" name="TextBox 70"/>
                <p:cNvSpPr txBox="1">
                  <a:spLocks noRot="1" noChangeAspect="1" noMove="1" noResize="1" noEditPoints="1" noAdjustHandles="1" noChangeArrowheads="1" noChangeShapeType="1" noTextEdit="1"/>
                </p:cNvSpPr>
                <p:nvPr/>
              </p:nvSpPr>
              <p:spPr>
                <a:xfrm>
                  <a:off x="6432433" y="3783622"/>
                  <a:ext cx="374590" cy="564898"/>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p:cNvSpPr txBox="1"/>
                <p:nvPr/>
              </p:nvSpPr>
              <p:spPr>
                <a:xfrm>
                  <a:off x="8001000" y="3779188"/>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72" name="TextBox 71"/>
                <p:cNvSpPr txBox="1">
                  <a:spLocks noRot="1" noChangeAspect="1" noMove="1" noResize="1" noEditPoints="1" noAdjustHandles="1" noChangeArrowheads="1" noChangeShapeType="1" noTextEdit="1"/>
                </p:cNvSpPr>
                <p:nvPr/>
              </p:nvSpPr>
              <p:spPr>
                <a:xfrm>
                  <a:off x="8001000" y="3779188"/>
                  <a:ext cx="374590" cy="564898"/>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190500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4" name="TextBox 73"/>
                <p:cNvSpPr txBox="1">
                  <a:spLocks noRot="1" noChangeAspect="1" noMove="1" noResize="1" noEditPoints="1" noAdjustHandles="1" noChangeArrowheads="1" noChangeShapeType="1" noTextEdit="1"/>
                </p:cNvSpPr>
                <p:nvPr/>
              </p:nvSpPr>
              <p:spPr>
                <a:xfrm>
                  <a:off x="1905000" y="5105400"/>
                  <a:ext cx="365806"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290738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5" name="TextBox 74"/>
                <p:cNvSpPr txBox="1">
                  <a:spLocks noRot="1" noChangeAspect="1" noMove="1" noResize="1" noEditPoints="1" noAdjustHandles="1" noChangeArrowheads="1" noChangeShapeType="1" noTextEdit="1"/>
                </p:cNvSpPr>
                <p:nvPr/>
              </p:nvSpPr>
              <p:spPr>
                <a:xfrm>
                  <a:off x="2907380" y="5105400"/>
                  <a:ext cx="365806"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p:cNvSpPr txBox="1"/>
                <p:nvPr/>
              </p:nvSpPr>
              <p:spPr>
                <a:xfrm>
                  <a:off x="3821292"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7" name="TextBox 76"/>
                <p:cNvSpPr txBox="1">
                  <a:spLocks noRot="1" noChangeAspect="1" noMove="1" noResize="1" noEditPoints="1" noAdjustHandles="1" noChangeArrowheads="1" noChangeShapeType="1" noTextEdit="1"/>
                </p:cNvSpPr>
                <p:nvPr/>
              </p:nvSpPr>
              <p:spPr>
                <a:xfrm>
                  <a:off x="3821292" y="5105400"/>
                  <a:ext cx="365806"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p:cNvSpPr txBox="1"/>
                <p:nvPr/>
              </p:nvSpPr>
              <p:spPr>
                <a:xfrm>
                  <a:off x="5958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8" name="TextBox 77"/>
                <p:cNvSpPr txBox="1">
                  <a:spLocks noRot="1" noChangeAspect="1" noMove="1" noResize="1" noEditPoints="1" noAdjustHandles="1" noChangeArrowheads="1" noChangeShapeType="1" noTextEdit="1"/>
                </p:cNvSpPr>
                <p:nvPr/>
              </p:nvSpPr>
              <p:spPr>
                <a:xfrm>
                  <a:off x="5958794" y="5117390"/>
                  <a:ext cx="365806"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p:cNvSpPr txBox="1"/>
                <p:nvPr/>
              </p:nvSpPr>
              <p:spPr>
                <a:xfrm>
                  <a:off x="69493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0" name="TextBox 79"/>
                <p:cNvSpPr txBox="1">
                  <a:spLocks noRot="1" noChangeAspect="1" noMove="1" noResize="1" noEditPoints="1" noAdjustHandles="1" noChangeArrowheads="1" noChangeShapeType="1" noTextEdit="1"/>
                </p:cNvSpPr>
                <p:nvPr/>
              </p:nvSpPr>
              <p:spPr>
                <a:xfrm>
                  <a:off x="6949394" y="5117390"/>
                  <a:ext cx="365806" cy="369332"/>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7863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7863794" y="5117390"/>
                  <a:ext cx="365806" cy="369332"/>
                </a:xfrm>
                <a:prstGeom prst="rect">
                  <a:avLst/>
                </a:prstGeom>
                <a:blipFill>
                  <a:blip r:embed="rId27"/>
                  <a:stretch>
                    <a:fillRect/>
                  </a:stretch>
                </a:blipFill>
              </p:spPr>
              <p:txBody>
                <a:bodyPr/>
                <a:lstStyle/>
                <a:p>
                  <a:r>
                    <a:rPr lang="en-US">
                      <a:noFill/>
                    </a:rPr>
                    <a:t> </a:t>
                  </a:r>
                </a:p>
              </p:txBody>
            </p:sp>
          </mc:Fallback>
        </mc:AlternateContent>
      </p:grpSp>
      <p:sp>
        <p:nvSpPr>
          <p:cNvPr id="42" name="Left Brace 41" descr="Because we need to make log_2(n) recursive calls before reaching a base case, the height of this chain of stackframes is log_2(n)."/>
          <p:cNvSpPr/>
          <p:nvPr/>
        </p:nvSpPr>
        <p:spPr>
          <a:xfrm flipH="1" flipV="1">
            <a:off x="8619126" y="1926189"/>
            <a:ext cx="250372" cy="3553177"/>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41" name="Text Box 2"/>
              <p:cNvSpPr txBox="1">
                <a:spLocks noChangeArrowheads="1"/>
              </p:cNvSpPr>
              <p:nvPr/>
            </p:nvSpPr>
            <p:spPr bwMode="auto">
              <a:xfrm>
                <a:off x="9266034" y="1745788"/>
                <a:ext cx="2807035" cy="505395"/>
              </a:xfrm>
              <a:prstGeom prst="rect">
                <a:avLst/>
              </a:prstGeom>
              <a:noFill/>
              <a:ln w="9525">
                <a:noFill/>
                <a:miter lim="800000"/>
                <a:headEnd/>
                <a:tailEnd/>
              </a:ln>
            </p:spPr>
            <p:txBody>
              <a:bodyPr wrap="square">
                <a:spAutoFit/>
              </a:bodyPr>
              <a:lstStyle/>
              <a:p>
                <a:pPr algn="ctr"/>
                <a:r>
                  <a:rPr lang="en-US" sz="2600" dirty="0">
                    <a:latin typeface="Symbol" pitchFamily="18" charset="2"/>
                  </a:rPr>
                  <a:t>Þ </a:t>
                </a:r>
                <a14:m>
                  <m:oMath xmlns:m="http://schemas.openxmlformats.org/officeDocument/2006/math">
                    <m:r>
                      <a:rPr lang="en-US" sz="2600" b="0" i="1" smtClean="0">
                        <a:solidFill>
                          <a:srgbClr val="0070C0"/>
                        </a:solidFill>
                        <a:latin typeface="Cambria Math" panose="02040503050406030204" pitchFamily="18" charset="0"/>
                      </a:rPr>
                      <m:t>𝑛</m:t>
                    </m:r>
                  </m:oMath>
                </a14:m>
                <a:r>
                  <a:rPr lang="en-US" sz="2600" dirty="0">
                    <a:solidFill>
                      <a:srgbClr val="FF0000"/>
                    </a:solidFill>
                  </a:rPr>
                  <a:t> </a:t>
                </a:r>
                <a:r>
                  <a:rPr lang="en-US" sz="2600" dirty="0"/>
                  <a:t>work per level</a:t>
                </a:r>
              </a:p>
            </p:txBody>
          </p:sp>
        </mc:Choice>
        <mc:Fallback xmlns="">
          <p:sp>
            <p:nvSpPr>
              <p:cNvPr id="41" name="Text Box 2"/>
              <p:cNvSpPr txBox="1">
                <a:spLocks noRot="1" noChangeAspect="1" noMove="1" noResize="1" noEditPoints="1" noAdjustHandles="1" noChangeArrowheads="1" noChangeShapeType="1" noTextEdit="1"/>
              </p:cNvSpPr>
              <p:nvPr/>
            </p:nvSpPr>
            <p:spPr bwMode="auto">
              <a:xfrm>
                <a:off x="9266034" y="1745788"/>
                <a:ext cx="2807035" cy="505395"/>
              </a:xfrm>
              <a:prstGeom prst="rect">
                <a:avLst/>
              </a:prstGeom>
              <a:blipFill>
                <a:blip r:embed="rId28"/>
                <a:stretch>
                  <a:fillRect l="-3043" t="-13253" r="-3043" b="-28916"/>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 Box 2"/>
              <p:cNvSpPr txBox="1">
                <a:spLocks noChangeArrowheads="1"/>
              </p:cNvSpPr>
              <p:nvPr/>
            </p:nvSpPr>
            <p:spPr bwMode="auto">
              <a:xfrm>
                <a:off x="8935966" y="3244053"/>
                <a:ext cx="2312388" cy="954107"/>
              </a:xfrm>
              <a:prstGeom prst="rect">
                <a:avLst/>
              </a:prstGeom>
              <a:noFill/>
              <a:ln w="9525">
                <a:noFill/>
                <a:miter lim="800000"/>
                <a:headEnd/>
                <a:tailEnd/>
              </a:ln>
            </p:spPr>
            <p:txBody>
              <a:bodyPr wrap="square">
                <a:spAutoFit/>
              </a:bodyPr>
              <a:lstStyle/>
              <a:p>
                <a:pPr algn="ctr"/>
                <a14:m>
                  <m:oMath xmlns:m="http://schemas.openxmlformats.org/officeDocument/2006/math">
                    <m:sSub>
                      <m:sSubPr>
                        <m:ctrlPr>
                          <a:rPr lang="en-US" sz="2800" i="1" dirty="0">
                            <a:solidFill>
                              <a:srgbClr val="FF00FF"/>
                            </a:solidFill>
                            <a:latin typeface="Cambria Math" panose="02040503050406030204" pitchFamily="18" charset="0"/>
                          </a:rPr>
                        </m:ctrlPr>
                      </m:sSubPr>
                      <m:e>
                        <m:r>
                          <m:rPr>
                            <m:sty m:val="p"/>
                          </m:rPr>
                          <a:rPr lang="en-US" sz="2800" dirty="0">
                            <a:solidFill>
                              <a:srgbClr val="FF00FF"/>
                            </a:solidFill>
                            <a:latin typeface="Cambria Math"/>
                          </a:rPr>
                          <m:t>log</m:t>
                        </m:r>
                      </m:e>
                      <m:sub>
                        <m:r>
                          <a:rPr lang="en-US" sz="2800" i="1" dirty="0">
                            <a:solidFill>
                              <a:srgbClr val="FF00FF"/>
                            </a:solidFill>
                            <a:latin typeface="Cambria Math"/>
                          </a:rPr>
                          <m:t>2</m:t>
                        </m:r>
                      </m:sub>
                    </m:sSub>
                    <m:r>
                      <a:rPr lang="en-US" sz="2800" i="1" dirty="0">
                        <a:solidFill>
                          <a:srgbClr val="FF00FF"/>
                        </a:solidFill>
                        <a:latin typeface="Cambria Math"/>
                      </a:rPr>
                      <m:t>⁡</m:t>
                    </m:r>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p:txBody>
          </p:sp>
        </mc:Choice>
        <mc:Fallback xmlns="">
          <p:sp>
            <p:nvSpPr>
              <p:cNvPr id="43" name="Text Box 2"/>
              <p:cNvSpPr txBox="1">
                <a:spLocks noRot="1" noChangeAspect="1" noMove="1" noResize="1" noEditPoints="1" noAdjustHandles="1" noChangeArrowheads="1" noChangeShapeType="1" noTextEdit="1"/>
              </p:cNvSpPr>
              <p:nvPr/>
            </p:nvSpPr>
            <p:spPr bwMode="auto">
              <a:xfrm>
                <a:off x="8935966" y="3244053"/>
                <a:ext cx="2312388" cy="954107"/>
              </a:xfrm>
              <a:prstGeom prst="rect">
                <a:avLst/>
              </a:prstGeom>
              <a:blipFill>
                <a:blip r:embed="rId29"/>
                <a:stretch>
                  <a:fillRect t="-5732" b="-17197"/>
                </a:stretch>
              </a:blipFill>
              <a:ln w="9525">
                <a:no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Rectangle 45"/>
              <p:cNvSpPr/>
              <p:nvPr/>
            </p:nvSpPr>
            <p:spPr>
              <a:xfrm>
                <a:off x="6665900" y="5533535"/>
                <a:ext cx="5484531" cy="1324465"/>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a:latin typeface="Cambria Math"/>
                                    </a:rPr>
                                    <m:t>2</m:t>
                                  </m:r>
                                </m:sub>
                              </m:sSub>
                            </m:fName>
                            <m:e>
                              <m:r>
                                <a:rPr lang="en-US" sz="2800" i="1">
                                  <a:latin typeface="Cambria Math"/>
                                </a:rPr>
                                <m:t>𝑛</m:t>
                              </m:r>
                            </m:e>
                          </m:func>
                        </m:sup>
                        <m:e>
                          <m:r>
                            <a:rPr lang="en-US" sz="2800" b="0" i="1" smtClean="0">
                              <a:latin typeface="Cambria Math" panose="02040503050406030204" pitchFamily="18" charset="0"/>
                            </a:rPr>
                            <m:t>𝑛</m:t>
                          </m:r>
                        </m:e>
                      </m:nary>
                      <m:r>
                        <a:rPr lang="en-US" sz="2800" b="0" i="1" smtClean="0">
                          <a:latin typeface="Cambria Math" panose="02040503050406030204" pitchFamily="18" charset="0"/>
                        </a:rPr>
                        <m:t>=</m:t>
                      </m:r>
                      <m:r>
                        <m:rPr>
                          <m:sty m:val="p"/>
                        </m:rPr>
                        <a:rPr lang="en-US" sz="2800" b="0" i="0" smtClean="0">
                          <a:latin typeface="Cambria Math" panose="02040503050406030204" pitchFamily="18" charset="0"/>
                        </a:rPr>
                        <m:t>Θ</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𝑛</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r>
                                <a:rPr lang="en-US" sz="2800" b="0" i="1" smtClean="0">
                                  <a:latin typeface="Cambria Math" panose="02040503050406030204" pitchFamily="18" charset="0"/>
                                </a:rPr>
                                <m:t>𝑛</m:t>
                              </m:r>
                            </m:e>
                          </m:func>
                        </m:e>
                      </m:d>
                    </m:oMath>
                  </m:oMathPara>
                </a14:m>
                <a:endParaRPr lang="en-US" sz="2800" dirty="0"/>
              </a:p>
            </p:txBody>
          </p:sp>
        </mc:Choice>
        <mc:Fallback xmlns="">
          <p:sp>
            <p:nvSpPr>
              <p:cNvPr id="46" name="Rectangle 45"/>
              <p:cNvSpPr>
                <a:spLocks noRot="1" noChangeAspect="1" noMove="1" noResize="1" noEditPoints="1" noAdjustHandles="1" noChangeArrowheads="1" noChangeShapeType="1" noTextEdit="1"/>
              </p:cNvSpPr>
              <p:nvPr/>
            </p:nvSpPr>
            <p:spPr>
              <a:xfrm>
                <a:off x="6665900" y="5533535"/>
                <a:ext cx="5484531" cy="1324465"/>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1">
            <p14:nvContentPartPr>
              <p14:cNvPr id="6" name="Ink 5">
                <a:extLst>
                  <a:ext uri="{FF2B5EF4-FFF2-40B4-BE49-F238E27FC236}">
                    <a16:creationId xmlns:a16="http://schemas.microsoft.com/office/drawing/2014/main" id="{9ACAA92B-32A1-C0EC-E2DD-8F21E680A1A3}"/>
                  </a:ext>
                </a:extLst>
              </p14:cNvPr>
              <p14:cNvContentPartPr/>
              <p14:nvPr/>
            </p14:nvContentPartPr>
            <p14:xfrm>
              <a:off x="10440720" y="5446440"/>
              <a:ext cx="455040" cy="624960"/>
            </p14:xfrm>
          </p:contentPart>
        </mc:Choice>
        <mc:Fallback>
          <p:pic>
            <p:nvPicPr>
              <p:cNvPr id="6" name="Ink 5">
                <a:extLst>
                  <a:ext uri="{FF2B5EF4-FFF2-40B4-BE49-F238E27FC236}">
                    <a16:creationId xmlns:a16="http://schemas.microsoft.com/office/drawing/2014/main" id="{9ACAA92B-32A1-C0EC-E2DD-8F21E680A1A3}"/>
                  </a:ext>
                </a:extLst>
              </p:cNvPr>
              <p:cNvPicPr/>
              <p:nvPr/>
            </p:nvPicPr>
            <p:blipFill>
              <a:blip r:embed="rId32"/>
              <a:stretch>
                <a:fillRect/>
              </a:stretch>
            </p:blipFill>
            <p:spPr>
              <a:xfrm>
                <a:off x="10431360" y="5437080"/>
                <a:ext cx="473760" cy="643680"/>
              </a:xfrm>
              <a:prstGeom prst="rect">
                <a:avLst/>
              </a:prstGeom>
            </p:spPr>
          </p:pic>
        </mc:Fallback>
      </mc:AlternateContent>
    </p:spTree>
    <p:extLst>
      <p:ext uri="{BB962C8B-B14F-4D97-AF65-F5344CB8AC3E}">
        <p14:creationId xmlns:p14="http://schemas.microsoft.com/office/powerpoint/2010/main" val="2539101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E5336-958B-F73C-23DD-A712A1D03E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2EBF59-DF2A-6E9B-261C-F8C2142E7F86}"/>
              </a:ext>
            </a:extLst>
          </p:cNvPr>
          <p:cNvSpPr>
            <a:spLocks noGrp="1"/>
          </p:cNvSpPr>
          <p:nvPr>
            <p:ph type="title"/>
          </p:nvPr>
        </p:nvSpPr>
        <p:spPr/>
        <p:txBody>
          <a:bodyPr/>
          <a:lstStyle/>
          <a:p>
            <a:r>
              <a:rPr lang="en-US" dirty="0"/>
              <a:t>Merge Sort Properties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895523-78E6-BC2B-D426-8B9B63399B3D}"/>
                  </a:ext>
                </a:extLst>
              </p:cNvPr>
              <p:cNvSpPr>
                <a:spLocks noGrp="1"/>
              </p:cNvSpPr>
              <p:nvPr>
                <p:ph idx="1"/>
              </p:nvPr>
            </p:nvSpPr>
            <p:spPr/>
            <p:txBody>
              <a:bodyPr>
                <a:normAutofit fontScale="77500" lnSpcReduction="20000"/>
              </a:bodyPr>
              <a:lstStyle/>
              <a:p>
                <a:r>
                  <a:rPr lang="en-US" dirty="0"/>
                  <a:t>Worst case running time</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r>
                  <a:rPr lang="en-US" dirty="0"/>
                  <a:t> </a:t>
                </a:r>
              </a:p>
              <a:p>
                <a:r>
                  <a:rPr lang="en-US" dirty="0"/>
                  <a:t>In place:</a:t>
                </a:r>
              </a:p>
              <a:p>
                <a:pPr lvl="1"/>
                <a:r>
                  <a:rPr lang="en-US" dirty="0"/>
                  <a:t>NO!</a:t>
                </a:r>
              </a:p>
              <a:p>
                <a:pPr lvl="1"/>
                <a:r>
                  <a:rPr lang="en-US" dirty="0"/>
                  <a:t>We need a second array to merge into</a:t>
                </a:r>
              </a:p>
              <a:p>
                <a:r>
                  <a:rPr lang="en-US" dirty="0"/>
                  <a:t>Adaptive</a:t>
                </a:r>
              </a:p>
              <a:p>
                <a:pPr lvl="1"/>
                <a:r>
                  <a:rPr lang="en-US" dirty="0"/>
                  <a:t>NO!</a:t>
                </a:r>
              </a:p>
              <a:p>
                <a:pPr lvl="1"/>
                <a:r>
                  <a:rPr lang="en-US" dirty="0"/>
                  <a:t>Running time is the same regardless of original list’s order</a:t>
                </a:r>
              </a:p>
              <a:p>
                <a:r>
                  <a:rPr lang="en-US" dirty="0"/>
                  <a:t>Online</a:t>
                </a:r>
              </a:p>
              <a:p>
                <a:pPr lvl="1"/>
                <a:r>
                  <a:rPr lang="en-US" dirty="0"/>
                  <a:t>NO!</a:t>
                </a:r>
              </a:p>
              <a:p>
                <a:pPr lvl="1"/>
                <a:r>
                  <a:rPr lang="en-US" dirty="0"/>
                  <a:t>We need all elements before we can divide</a:t>
                </a:r>
              </a:p>
              <a:p>
                <a:r>
                  <a:rPr lang="en-US" dirty="0"/>
                  <a:t>Stable</a:t>
                </a:r>
              </a:p>
              <a:p>
                <a:pPr lvl="1"/>
                <a:r>
                  <a:rPr lang="en-US" dirty="0"/>
                  <a:t>YES!</a:t>
                </a:r>
              </a:p>
              <a:p>
                <a:pPr lvl="1"/>
                <a:r>
                  <a:rPr lang="en-US" dirty="0"/>
                  <a:t>When merging, and there’s a tie, choose the element from the left </a:t>
                </a:r>
              </a:p>
            </p:txBody>
          </p:sp>
        </mc:Choice>
        <mc:Fallback xmlns="">
          <p:sp>
            <p:nvSpPr>
              <p:cNvPr id="3" name="Content Placeholder 2">
                <a:extLst>
                  <a:ext uri="{FF2B5EF4-FFF2-40B4-BE49-F238E27FC236}">
                    <a16:creationId xmlns:a16="http://schemas.microsoft.com/office/drawing/2014/main" id="{A7895523-78E6-BC2B-D426-8B9B63399B3D}"/>
                  </a:ext>
                </a:extLst>
              </p:cNvPr>
              <p:cNvSpPr>
                <a:spLocks noGrp="1" noRot="1" noChangeAspect="1" noMove="1" noResize="1" noEditPoints="1" noAdjustHandles="1" noChangeArrowheads="1" noChangeShapeType="1" noTextEdit="1"/>
              </p:cNvSpPr>
              <p:nvPr>
                <p:ph idx="1"/>
              </p:nvPr>
            </p:nvSpPr>
            <p:spPr>
              <a:blipFill>
                <a:blip r:embed="rId2"/>
                <a:stretch>
                  <a:fillRect l="-696" t="-280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E11368CD-7506-3961-F031-C089BF8F05DF}"/>
                  </a:ext>
                </a:extLst>
              </p14:cNvPr>
              <p14:cNvContentPartPr/>
              <p14:nvPr/>
            </p14:nvContentPartPr>
            <p14:xfrm>
              <a:off x="623880" y="2963520"/>
              <a:ext cx="774360" cy="2826360"/>
            </p14:xfrm>
          </p:contentPart>
        </mc:Choice>
        <mc:Fallback>
          <p:pic>
            <p:nvPicPr>
              <p:cNvPr id="4" name="Ink 3">
                <a:extLst>
                  <a:ext uri="{FF2B5EF4-FFF2-40B4-BE49-F238E27FC236}">
                    <a16:creationId xmlns:a16="http://schemas.microsoft.com/office/drawing/2014/main" id="{E11368CD-7506-3961-F031-C089BF8F05DF}"/>
                  </a:ext>
                </a:extLst>
              </p:cNvPr>
              <p:cNvPicPr/>
              <p:nvPr/>
            </p:nvPicPr>
            <p:blipFill>
              <a:blip r:embed="rId4"/>
              <a:stretch>
                <a:fillRect/>
              </a:stretch>
            </p:blipFill>
            <p:spPr>
              <a:xfrm>
                <a:off x="614520" y="2954160"/>
                <a:ext cx="793080" cy="2845080"/>
              </a:xfrm>
              <a:prstGeom prst="rect">
                <a:avLst/>
              </a:prstGeom>
            </p:spPr>
          </p:pic>
        </mc:Fallback>
      </mc:AlternateContent>
    </p:spTree>
    <p:extLst>
      <p:ext uri="{BB962C8B-B14F-4D97-AF65-F5344CB8AC3E}">
        <p14:creationId xmlns:p14="http://schemas.microsoft.com/office/powerpoint/2010/main" val="2549524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 Vs. </a:t>
            </a:r>
            <a:r>
              <a:rPr lang="en-US" dirty="0" err="1"/>
              <a:t>Mergesort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b="0" dirty="0"/>
                  <a:t>Like </a:t>
                </a:r>
                <a:r>
                  <a:rPr lang="en-US" b="0" dirty="0" err="1"/>
                  <a:t>Mergesort</a:t>
                </a:r>
                <a:r>
                  <a:rPr lang="en-US" b="0" dirty="0"/>
                  <a:t>:</a:t>
                </a:r>
              </a:p>
              <a:p>
                <a:pPr lvl="1"/>
                <a:r>
                  <a:rPr lang="en-US" dirty="0"/>
                  <a:t>Divide and conquer</a:t>
                </a:r>
                <a:endParaRPr lang="en-US" b="0" dirty="0"/>
              </a:p>
              <a:p>
                <a:pPr lvl="1"/>
                <a14:m>
                  <m:oMath xmlns:m="http://schemas.openxmlformats.org/officeDocument/2006/math">
                    <m:r>
                      <a:rPr lang="en-US" b="0" i="1" smtClean="0">
                        <a:latin typeface="Cambria Math"/>
                      </a:rPr>
                      <m:t>𝑂</m:t>
                    </m:r>
                    <m:r>
                      <a:rPr lang="en-US" b="0" i="1" smtClean="0">
                        <a:latin typeface="Cambria Math"/>
                      </a:rPr>
                      <m:t>(</m:t>
                    </m:r>
                    <m:r>
                      <a:rPr lang="en-US" b="0" i="1" smtClean="0">
                        <a:latin typeface="Cambria Math"/>
                      </a:rPr>
                      <m:t>𝑛</m:t>
                    </m:r>
                    <m:func>
                      <m:funcPr>
                        <m:ctrlPr>
                          <a:rPr lang="en-US" b="0" i="1" smtClean="0">
                            <a:latin typeface="Cambria Math" panose="02040503050406030204" pitchFamily="18" charset="0"/>
                          </a:rPr>
                        </m:ctrlPr>
                      </m:funcPr>
                      <m:fName>
                        <m:r>
                          <m:rPr>
                            <m:sty m:val="p"/>
                          </m:rPr>
                          <a:rPr lang="en-US" b="0" i="0" smtClean="0">
                            <a:latin typeface="Cambria Math"/>
                          </a:rPr>
                          <m:t>log</m:t>
                        </m:r>
                      </m:fName>
                      <m:e>
                        <m:r>
                          <a:rPr lang="en-US" b="0" i="1" smtClean="0">
                            <a:latin typeface="Cambria Math"/>
                          </a:rPr>
                          <m:t>𝑛</m:t>
                        </m:r>
                      </m:e>
                    </m:func>
                    <m:r>
                      <a:rPr lang="en-US" b="0" i="1" smtClean="0">
                        <a:latin typeface="Cambria Math"/>
                      </a:rPr>
                      <m:t>)</m:t>
                    </m:r>
                  </m:oMath>
                </a14:m>
                <a:r>
                  <a:rPr lang="en-US" dirty="0"/>
                  <a:t> run time (kind of…)</a:t>
                </a:r>
              </a:p>
              <a:p>
                <a:r>
                  <a:rPr lang="en-US" dirty="0"/>
                  <a:t>Unlike </a:t>
                </a:r>
                <a:r>
                  <a:rPr lang="en-US" dirty="0" err="1"/>
                  <a:t>Mergesort</a:t>
                </a:r>
                <a:r>
                  <a:rPr lang="en-US" dirty="0"/>
                  <a:t>:</a:t>
                </a:r>
              </a:p>
              <a:p>
                <a:pPr lvl="1"/>
                <a:r>
                  <a:rPr lang="en-US" dirty="0"/>
                  <a:t>Divide step is the “hard” part</a:t>
                </a:r>
              </a:p>
              <a:p>
                <a:pPr lvl="1"/>
                <a:r>
                  <a:rPr lang="en-US" i="1" dirty="0"/>
                  <a:t>Typically</a:t>
                </a:r>
                <a:r>
                  <a:rPr lang="en-US" dirty="0"/>
                  <a:t> faster than </a:t>
                </a:r>
                <a:r>
                  <a:rPr lang="en-US" dirty="0" err="1"/>
                  <a:t>Mergesort</a:t>
                </a:r>
                <a:endParaRPr lang="en-US" i="1"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9A6EC69E-64C5-8A53-B5DE-E7B3A7141FD3}"/>
                  </a:ext>
                </a:extLst>
              </p14:cNvPr>
              <p14:cNvContentPartPr/>
              <p14:nvPr/>
            </p14:nvContentPartPr>
            <p14:xfrm>
              <a:off x="636120" y="756360"/>
              <a:ext cx="4775040" cy="3401640"/>
            </p14:xfrm>
          </p:contentPart>
        </mc:Choice>
        <mc:Fallback>
          <p:pic>
            <p:nvPicPr>
              <p:cNvPr id="4" name="Ink 3">
                <a:extLst>
                  <a:ext uri="{FF2B5EF4-FFF2-40B4-BE49-F238E27FC236}">
                    <a16:creationId xmlns:a16="http://schemas.microsoft.com/office/drawing/2014/main" id="{9A6EC69E-64C5-8A53-B5DE-E7B3A7141FD3}"/>
                  </a:ext>
                </a:extLst>
              </p:cNvPr>
              <p:cNvPicPr/>
              <p:nvPr/>
            </p:nvPicPr>
            <p:blipFill>
              <a:blip r:embed="rId4"/>
              <a:stretch>
                <a:fillRect/>
              </a:stretch>
            </p:blipFill>
            <p:spPr>
              <a:xfrm>
                <a:off x="626760" y="747000"/>
                <a:ext cx="4793760" cy="3420360"/>
              </a:xfrm>
              <a:prstGeom prst="rect">
                <a:avLst/>
              </a:prstGeom>
            </p:spPr>
          </p:pic>
        </mc:Fallback>
      </mc:AlternateContent>
    </p:spTree>
    <p:extLst>
      <p:ext uri="{BB962C8B-B14F-4D97-AF65-F5344CB8AC3E}">
        <p14:creationId xmlns:p14="http://schemas.microsoft.com/office/powerpoint/2010/main" val="1704911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 Overview</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Idea: pick a </a:t>
                </a:r>
                <a:r>
                  <a:rPr lang="en-US" dirty="0">
                    <a:solidFill>
                      <a:srgbClr val="FF33CC"/>
                    </a:solidFill>
                  </a:rPr>
                  <a:t>pivot </a:t>
                </a:r>
                <a:r>
                  <a:rPr lang="en-US" dirty="0"/>
                  <a:t>element, recursively sort two </a:t>
                </a:r>
                <a:r>
                  <a:rPr lang="en-US" dirty="0" err="1"/>
                  <a:t>sublists</a:t>
                </a:r>
                <a:r>
                  <a:rPr lang="en-US" dirty="0"/>
                  <a:t> around that element</a:t>
                </a:r>
              </a:p>
              <a:p>
                <a:r>
                  <a:rPr lang="en-US" dirty="0">
                    <a:solidFill>
                      <a:srgbClr val="0070C0"/>
                    </a:solidFill>
                  </a:rPr>
                  <a:t>Divide: </a:t>
                </a:r>
                <a:r>
                  <a:rPr lang="en-US" dirty="0"/>
                  <a:t>select </a:t>
                </a:r>
                <a:r>
                  <a:rPr lang="en-US" dirty="0">
                    <a:solidFill>
                      <a:srgbClr val="FF33CC"/>
                    </a:solidFill>
                  </a:rPr>
                  <a:t>pivot </a:t>
                </a:r>
                <a:r>
                  <a:rPr lang="en-US" dirty="0"/>
                  <a:t>element </a:t>
                </a:r>
                <a14:m>
                  <m:oMath xmlns:m="http://schemas.openxmlformats.org/officeDocument/2006/math">
                    <m:r>
                      <a:rPr lang="en-US" b="0" i="1" smtClean="0">
                        <a:solidFill>
                          <a:srgbClr val="FF33CC"/>
                        </a:solidFill>
                        <a:latin typeface="Cambria Math"/>
                      </a:rPr>
                      <m:t>𝑝</m:t>
                    </m:r>
                  </m:oMath>
                </a14:m>
                <a:r>
                  <a:rPr lang="en-US" dirty="0"/>
                  <a:t>, </a:t>
                </a:r>
                <a:r>
                  <a:rPr lang="en-US" dirty="0">
                    <a:solidFill>
                      <a:srgbClr val="FF33CC"/>
                    </a:solidFill>
                  </a:rPr>
                  <a:t>Partition(</a:t>
                </a:r>
                <a14:m>
                  <m:oMath xmlns:m="http://schemas.openxmlformats.org/officeDocument/2006/math">
                    <m:r>
                      <a:rPr lang="en-US" i="1" dirty="0" smtClean="0">
                        <a:solidFill>
                          <a:srgbClr val="FF33CC"/>
                        </a:solidFill>
                        <a:latin typeface="Cambria Math"/>
                      </a:rPr>
                      <m:t>𝑝</m:t>
                    </m:r>
                  </m:oMath>
                </a14:m>
                <a:r>
                  <a:rPr lang="en-US" dirty="0">
                    <a:solidFill>
                      <a:srgbClr val="FF33CC"/>
                    </a:solidFill>
                  </a:rPr>
                  <a:t>)</a:t>
                </a:r>
              </a:p>
              <a:p>
                <a:r>
                  <a:rPr lang="en-US" dirty="0">
                    <a:solidFill>
                      <a:srgbClr val="0070C0"/>
                    </a:solidFill>
                  </a:rPr>
                  <a:t>Conquer: </a:t>
                </a:r>
                <a:r>
                  <a:rPr lang="en-US" dirty="0"/>
                  <a:t>recursively sort left and right </a:t>
                </a:r>
                <a:r>
                  <a:rPr lang="en-US" dirty="0" err="1"/>
                  <a:t>sublists</a:t>
                </a:r>
                <a:endParaRPr lang="en-US" dirty="0"/>
              </a:p>
              <a:p>
                <a:r>
                  <a:rPr lang="en-US" dirty="0">
                    <a:solidFill>
                      <a:srgbClr val="0070C0"/>
                    </a:solidFill>
                  </a:rPr>
                  <a:t>Combine: </a:t>
                </a:r>
                <a:r>
                  <a:rPr lang="en-US" dirty="0"/>
                  <a:t>Nothing!</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389"/>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C3B668FD-AA4F-F65C-BF61-91B3032AB049}"/>
                  </a:ext>
                </a:extLst>
              </p14:cNvPr>
              <p14:cNvContentPartPr/>
              <p14:nvPr/>
            </p14:nvContentPartPr>
            <p14:xfrm>
              <a:off x="888120" y="2075760"/>
              <a:ext cx="7617240" cy="2216880"/>
            </p14:xfrm>
          </p:contentPart>
        </mc:Choice>
        <mc:Fallback>
          <p:pic>
            <p:nvPicPr>
              <p:cNvPr id="4" name="Ink 3">
                <a:extLst>
                  <a:ext uri="{FF2B5EF4-FFF2-40B4-BE49-F238E27FC236}">
                    <a16:creationId xmlns:a16="http://schemas.microsoft.com/office/drawing/2014/main" id="{C3B668FD-AA4F-F65C-BF61-91B3032AB049}"/>
                  </a:ext>
                </a:extLst>
              </p:cNvPr>
              <p:cNvPicPr/>
              <p:nvPr/>
            </p:nvPicPr>
            <p:blipFill>
              <a:blip r:embed="rId4"/>
              <a:stretch>
                <a:fillRect/>
              </a:stretch>
            </p:blipFill>
            <p:spPr>
              <a:xfrm>
                <a:off x="878760" y="2066400"/>
                <a:ext cx="7635960" cy="2235600"/>
              </a:xfrm>
              <a:prstGeom prst="rect">
                <a:avLst/>
              </a:prstGeom>
            </p:spPr>
          </p:pic>
        </mc:Fallback>
      </mc:AlternateContent>
    </p:spTree>
    <p:extLst>
      <p:ext uri="{BB962C8B-B14F-4D97-AF65-F5344CB8AC3E}">
        <p14:creationId xmlns:p14="http://schemas.microsoft.com/office/powerpoint/2010/main" val="1593612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Partition (Divide step)</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905000" y="1970964"/>
                <a:ext cx="6019800" cy="685800"/>
              </a:xfrm>
            </p:spPr>
            <p:txBody>
              <a:bodyPr>
                <a:normAutofit/>
              </a:bodyPr>
              <a:lstStyle/>
              <a:p>
                <a:pPr marL="0" indent="0">
                  <a:buNone/>
                </a:pPr>
                <a:r>
                  <a:rPr lang="en-US" dirty="0"/>
                  <a:t>Given: a list, </a:t>
                </a:r>
                <a:r>
                  <a:rPr lang="en-US" dirty="0">
                    <a:solidFill>
                      <a:srgbClr val="FF33CC"/>
                    </a:solidFill>
                  </a:rPr>
                  <a:t>a pivot </a:t>
                </a:r>
                <a14:m>
                  <m:oMath xmlns:m="http://schemas.openxmlformats.org/officeDocument/2006/math">
                    <m:r>
                      <a:rPr lang="en-US" b="0" i="1" smtClean="0">
                        <a:solidFill>
                          <a:srgbClr val="FF33CC"/>
                        </a:solidFill>
                        <a:latin typeface="Cambria Math"/>
                      </a:rPr>
                      <m:t>𝑝</m:t>
                    </m:r>
                  </m:oMath>
                </a14:m>
                <a:endParaRPr lang="en-US" dirty="0">
                  <a:solidFill>
                    <a:srgbClr val="FF33CC"/>
                  </a:solidFill>
                </a:endParaRPr>
              </a:p>
              <a:p>
                <a:pPr marL="0" indent="0">
                  <a:buNone/>
                </a:pPr>
                <a:endParaRPr lang="en-US" dirty="0">
                  <a:solidFill>
                    <a:srgbClr val="FF33CC"/>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905000" y="1970964"/>
                <a:ext cx="6019800" cy="685800"/>
              </a:xfrm>
              <a:blipFill>
                <a:blip r:embed="rId2"/>
                <a:stretch>
                  <a:fillRect l="-2526" t="-43636"/>
                </a:stretch>
              </a:blipFill>
            </p:spPr>
            <p:txBody>
              <a:bodyPr/>
              <a:lstStyle/>
              <a:p>
                <a:r>
                  <a:rPr lang="en-US">
                    <a:noFill/>
                  </a:rPr>
                  <a:t> </a:t>
                </a:r>
              </a:p>
            </p:txBody>
          </p:sp>
        </mc:Fallback>
      </mc:AlternateContent>
      <p:sp>
        <p:nvSpPr>
          <p:cNvPr id="19" name="Content Placeholder 2"/>
          <p:cNvSpPr txBox="1">
            <a:spLocks/>
          </p:cNvSpPr>
          <p:nvPr/>
        </p:nvSpPr>
        <p:spPr>
          <a:xfrm>
            <a:off x="1905000" y="2362200"/>
            <a:ext cx="6019800" cy="6858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Start: unordered list</a:t>
            </a:r>
            <a:endParaRPr lang="en-US" dirty="0">
              <a:solidFill>
                <a:srgbClr val="FF33CC"/>
              </a:solidFill>
            </a:endParaRPr>
          </a:p>
        </p:txBody>
      </p:sp>
      <p:grpSp>
        <p:nvGrpSpPr>
          <p:cNvPr id="17" name="Group 16" descr="We begin with an unordered list and a special element that we call the pivot.&#10;&#10;In this case our list is [8,5,7,3,12,10,1,2,4,9,6,11], and our pivot is the first element of the array, i.e. 8.">
            <a:extLst>
              <a:ext uri="{FF2B5EF4-FFF2-40B4-BE49-F238E27FC236}">
                <a16:creationId xmlns:a16="http://schemas.microsoft.com/office/drawing/2014/main" id="{E580BD3A-1AE5-B498-061E-78515B1BD5E7}"/>
              </a:ext>
            </a:extLst>
          </p:cNvPr>
          <p:cNvGrpSpPr/>
          <p:nvPr/>
        </p:nvGrpSpPr>
        <p:grpSpPr>
          <a:xfrm>
            <a:off x="2209800" y="3048000"/>
            <a:ext cx="6403076" cy="533400"/>
            <a:chOff x="2209800" y="3048000"/>
            <a:chExt cx="6403076" cy="533400"/>
          </a:xfrm>
        </p:grpSpPr>
        <p:sp>
          <p:nvSpPr>
            <p:cNvPr id="5" name="Rectangle 4"/>
            <p:cNvSpPr/>
            <p:nvPr/>
          </p:nvSpPr>
          <p:spPr>
            <a:xfrm>
              <a:off x="2209800" y="3048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 name="Rectangle 5"/>
            <p:cNvSpPr/>
            <p:nvPr/>
          </p:nvSpPr>
          <p:spPr>
            <a:xfrm>
              <a:off x="2743200"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p:cNvSpPr/>
            <p:nvPr/>
          </p:nvSpPr>
          <p:spPr>
            <a:xfrm>
              <a:off x="3277169"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8" name="Rectangle 7"/>
            <p:cNvSpPr/>
            <p:nvPr/>
          </p:nvSpPr>
          <p:spPr>
            <a:xfrm>
              <a:off x="3810569"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p:cNvSpPr/>
            <p:nvPr/>
          </p:nvSpPr>
          <p:spPr>
            <a:xfrm>
              <a:off x="4343969"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10" name="Rectangle 9"/>
            <p:cNvSpPr/>
            <p:nvPr/>
          </p:nvSpPr>
          <p:spPr>
            <a:xfrm>
              <a:off x="4877938"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1" name="Rectangle 10"/>
            <p:cNvSpPr/>
            <p:nvPr/>
          </p:nvSpPr>
          <p:spPr>
            <a:xfrm>
              <a:off x="5411338"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 name="Rectangle 11"/>
            <p:cNvSpPr/>
            <p:nvPr/>
          </p:nvSpPr>
          <p:spPr>
            <a:xfrm>
              <a:off x="5944738"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3" name="Rectangle 12"/>
            <p:cNvSpPr/>
            <p:nvPr/>
          </p:nvSpPr>
          <p:spPr>
            <a:xfrm>
              <a:off x="6478707"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4" name="Rectangle 13"/>
            <p:cNvSpPr/>
            <p:nvPr/>
          </p:nvSpPr>
          <p:spPr>
            <a:xfrm>
              <a:off x="7012107"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5" name="Rectangle 14"/>
            <p:cNvSpPr/>
            <p:nvPr/>
          </p:nvSpPr>
          <p:spPr>
            <a:xfrm>
              <a:off x="7545507"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6" name="Rectangle 15"/>
            <p:cNvSpPr/>
            <p:nvPr/>
          </p:nvSpPr>
          <p:spPr>
            <a:xfrm>
              <a:off x="8079476"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mc:AlternateContent xmlns:mc="http://schemas.openxmlformats.org/markup-compatibility/2006" xmlns:a14="http://schemas.microsoft.com/office/drawing/2010/main">
        <mc:Choice Requires="a14">
          <p:sp>
            <p:nvSpPr>
              <p:cNvPr id="18" name="Content Placeholder 2"/>
              <p:cNvSpPr txBox="1">
                <a:spLocks/>
              </p:cNvSpPr>
              <p:nvPr/>
            </p:nvSpPr>
            <p:spPr>
              <a:xfrm>
                <a:off x="1941394" y="4724400"/>
                <a:ext cx="7659806" cy="685800"/>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Goal: All elements</a:t>
                </a:r>
                <a:r>
                  <a:rPr lang="en-US" dirty="0">
                    <a:solidFill>
                      <a:srgbClr val="FFCC00"/>
                    </a:solidFill>
                  </a:rPr>
                  <a:t> </a:t>
                </a:r>
                <a14:m>
                  <m:oMath xmlns:m="http://schemas.openxmlformats.org/officeDocument/2006/math">
                    <m:r>
                      <a:rPr lang="en-US" i="1" dirty="0">
                        <a:solidFill>
                          <a:srgbClr val="FFC000"/>
                        </a:solidFill>
                        <a:latin typeface="Cambria Math"/>
                      </a:rPr>
                      <m:t>&lt;</m:t>
                    </m:r>
                    <m:r>
                      <a:rPr lang="en-US" i="1" dirty="0">
                        <a:solidFill>
                          <a:srgbClr val="FFC000"/>
                        </a:solidFill>
                        <a:latin typeface="Cambria Math"/>
                      </a:rPr>
                      <m:t>𝑝</m:t>
                    </m:r>
                  </m:oMath>
                </a14:m>
                <a:r>
                  <a:rPr lang="en-US" dirty="0">
                    <a:solidFill>
                      <a:srgbClr val="00B050"/>
                    </a:solidFill>
                  </a:rPr>
                  <a:t> </a:t>
                </a:r>
                <a:r>
                  <a:rPr lang="en-US" dirty="0"/>
                  <a:t>on left, all </a:t>
                </a:r>
                <a14:m>
                  <m:oMath xmlns:m="http://schemas.openxmlformats.org/officeDocument/2006/math">
                    <m:r>
                      <a:rPr lang="en-US" i="1" dirty="0">
                        <a:solidFill>
                          <a:srgbClr val="0070C0"/>
                        </a:solidFill>
                        <a:latin typeface="Cambria Math"/>
                      </a:rPr>
                      <m:t>&gt;</m:t>
                    </m:r>
                    <m:r>
                      <a:rPr lang="en-US" i="1" dirty="0">
                        <a:solidFill>
                          <a:srgbClr val="0070C0"/>
                        </a:solidFill>
                        <a:latin typeface="Cambria Math"/>
                      </a:rPr>
                      <m:t>𝑝</m:t>
                    </m:r>
                  </m:oMath>
                </a14:m>
                <a:r>
                  <a:rPr lang="en-US" dirty="0">
                    <a:solidFill>
                      <a:srgbClr val="0070C0"/>
                    </a:solidFill>
                  </a:rPr>
                  <a:t> </a:t>
                </a:r>
                <a:r>
                  <a:rPr lang="en-US" dirty="0"/>
                  <a:t>on right</a:t>
                </a:r>
                <a:endParaRPr lang="en-US" dirty="0">
                  <a:solidFill>
                    <a:srgbClr val="FF33CC"/>
                  </a:solidFill>
                </a:endParaRPr>
              </a:p>
            </p:txBody>
          </p:sp>
        </mc:Choice>
        <mc:Fallback xmlns="">
          <p:sp>
            <p:nvSpPr>
              <p:cNvPr id="18" name="Content Placeholder 2"/>
              <p:cNvSpPr txBox="1">
                <a:spLocks noRot="1" noChangeAspect="1" noMove="1" noResize="1" noEditPoints="1" noAdjustHandles="1" noChangeArrowheads="1" noChangeShapeType="1" noTextEdit="1"/>
              </p:cNvSpPr>
              <p:nvPr/>
            </p:nvSpPr>
            <p:spPr>
              <a:xfrm>
                <a:off x="1941394" y="4724400"/>
                <a:ext cx="7659806" cy="685800"/>
              </a:xfrm>
              <a:prstGeom prst="rect">
                <a:avLst/>
              </a:prstGeom>
              <a:blipFill>
                <a:blip r:embed="rId3"/>
                <a:stretch>
                  <a:fillRect l="-1821" t="-11111" b="-5556"/>
                </a:stretch>
              </a:blipFill>
            </p:spPr>
            <p:txBody>
              <a:bodyPr/>
              <a:lstStyle/>
              <a:p>
                <a:r>
                  <a:rPr lang="en-US">
                    <a:noFill/>
                  </a:rPr>
                  <a:t> </a:t>
                </a:r>
              </a:p>
            </p:txBody>
          </p:sp>
        </mc:Fallback>
      </mc:AlternateContent>
      <p:grpSp>
        <p:nvGrpSpPr>
          <p:cNvPr id="32" name="Group 31" descr="After partitioning our array should be arranged so that we have all the elements less than the pivot to the left, all elements greater than the pivot to the right, and then all elements equal to the pivot in the middle.&#10;&#10;In this case our array would be: [5,6,7,3,1,2,4,6,8,12,10,9,11]">
            <a:extLst>
              <a:ext uri="{FF2B5EF4-FFF2-40B4-BE49-F238E27FC236}">
                <a16:creationId xmlns:a16="http://schemas.microsoft.com/office/drawing/2014/main" id="{FACFE0A8-C0CE-AC1A-8707-EA80622BB262}"/>
              </a:ext>
            </a:extLst>
          </p:cNvPr>
          <p:cNvGrpSpPr/>
          <p:nvPr/>
        </p:nvGrpSpPr>
        <p:grpSpPr>
          <a:xfrm>
            <a:off x="2209800" y="5410200"/>
            <a:ext cx="6403076" cy="533400"/>
            <a:chOff x="2209800" y="5410200"/>
            <a:chExt cx="6403076" cy="533400"/>
          </a:xfrm>
        </p:grpSpPr>
        <p:sp>
          <p:nvSpPr>
            <p:cNvPr id="20" name="Rectangle 19"/>
            <p:cNvSpPr/>
            <p:nvPr/>
          </p:nvSpPr>
          <p:spPr>
            <a:xfrm>
              <a:off x="2209800"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1" name="Rectangle 20"/>
            <p:cNvSpPr/>
            <p:nvPr/>
          </p:nvSpPr>
          <p:spPr>
            <a:xfrm>
              <a:off x="2743200"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p:cNvSpPr/>
            <p:nvPr/>
          </p:nvSpPr>
          <p:spPr>
            <a:xfrm>
              <a:off x="3277169"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p:cNvSpPr/>
            <p:nvPr/>
          </p:nvSpPr>
          <p:spPr>
            <a:xfrm>
              <a:off x="3810569"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4" name="Rectangle 23"/>
            <p:cNvSpPr/>
            <p:nvPr/>
          </p:nvSpPr>
          <p:spPr>
            <a:xfrm>
              <a:off x="4343969"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5" name="Rectangle 24"/>
            <p:cNvSpPr/>
            <p:nvPr/>
          </p:nvSpPr>
          <p:spPr>
            <a:xfrm>
              <a:off x="4877938"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6" name="Rectangle 25"/>
            <p:cNvSpPr/>
            <p:nvPr/>
          </p:nvSpPr>
          <p:spPr>
            <a:xfrm>
              <a:off x="5411338"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7" name="Rectangle 26"/>
            <p:cNvSpPr/>
            <p:nvPr/>
          </p:nvSpPr>
          <p:spPr>
            <a:xfrm>
              <a:off x="5944738" y="54102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8" name="Rectangle 27"/>
            <p:cNvSpPr/>
            <p:nvPr/>
          </p:nvSpPr>
          <p:spPr>
            <a:xfrm>
              <a:off x="6478707" y="54102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29" name="Rectangle 28"/>
            <p:cNvSpPr/>
            <p:nvPr/>
          </p:nvSpPr>
          <p:spPr>
            <a:xfrm>
              <a:off x="7012107" y="54102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0" name="Rectangle 29"/>
            <p:cNvSpPr/>
            <p:nvPr/>
          </p:nvSpPr>
          <p:spPr>
            <a:xfrm>
              <a:off x="7545507" y="54102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1" name="Rectangle 30"/>
            <p:cNvSpPr/>
            <p:nvPr/>
          </p:nvSpPr>
          <p:spPr>
            <a:xfrm>
              <a:off x="8079476" y="54102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44E932B9-AC8D-DB2A-72F4-09B2D6B6E2F6}"/>
                  </a:ext>
                </a:extLst>
              </p14:cNvPr>
              <p14:cNvContentPartPr/>
              <p14:nvPr/>
            </p14:nvContentPartPr>
            <p14:xfrm>
              <a:off x="986400" y="2486160"/>
              <a:ext cx="3754800" cy="3171960"/>
            </p14:xfrm>
          </p:contentPart>
        </mc:Choice>
        <mc:Fallback>
          <p:pic>
            <p:nvPicPr>
              <p:cNvPr id="4" name="Ink 3">
                <a:extLst>
                  <a:ext uri="{FF2B5EF4-FFF2-40B4-BE49-F238E27FC236}">
                    <a16:creationId xmlns:a16="http://schemas.microsoft.com/office/drawing/2014/main" id="{44E932B9-AC8D-DB2A-72F4-09B2D6B6E2F6}"/>
                  </a:ext>
                </a:extLst>
              </p:cNvPr>
              <p:cNvPicPr/>
              <p:nvPr/>
            </p:nvPicPr>
            <p:blipFill>
              <a:blip r:embed="rId5"/>
              <a:stretch>
                <a:fillRect/>
              </a:stretch>
            </p:blipFill>
            <p:spPr>
              <a:xfrm>
                <a:off x="977040" y="2476800"/>
                <a:ext cx="3773520" cy="3190680"/>
              </a:xfrm>
              <a:prstGeom prst="rect">
                <a:avLst/>
              </a:prstGeom>
            </p:spPr>
          </p:pic>
        </mc:Fallback>
      </mc:AlternateContent>
    </p:spTree>
    <p:extLst>
      <p:ext uri="{BB962C8B-B14F-4D97-AF65-F5344CB8AC3E}">
        <p14:creationId xmlns:p14="http://schemas.microsoft.com/office/powerpoint/2010/main" val="20867802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293" y="0"/>
            <a:ext cx="10515600" cy="1325563"/>
          </a:xfrm>
        </p:spPr>
        <p:txBody>
          <a:bodyPr/>
          <a:lstStyle/>
          <a:p>
            <a:r>
              <a:rPr lang="en-US" dirty="0"/>
              <a:t>Partition Procedure (Slide 1 of 2) </a:t>
            </a:r>
          </a:p>
        </p:txBody>
      </p:sp>
      <mc:AlternateContent xmlns:mc="http://schemas.openxmlformats.org/markup-compatibility/2006" xmlns:a14="http://schemas.microsoft.com/office/drawing/2010/main">
        <mc:Choice Requires="a14">
          <p:sp>
            <p:nvSpPr>
              <p:cNvPr id="19" name="Content Placeholder 2"/>
              <p:cNvSpPr txBox="1">
                <a:spLocks/>
              </p:cNvSpPr>
              <p:nvPr/>
            </p:nvSpPr>
            <p:spPr>
              <a:xfrm>
                <a:off x="1827093" y="990600"/>
                <a:ext cx="7774109" cy="1572904"/>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a:t>
                </a:r>
                <a:r>
                  <a:rPr lang="en-US" dirty="0">
                    <a:solidFill>
                      <a:srgbClr val="FFC000"/>
                    </a:solidFill>
                  </a:rPr>
                  <a:t>Begin</a:t>
                </a:r>
                <a:r>
                  <a:rPr lang="en-US" dirty="0"/>
                  <a:t> value </a:t>
                </a:r>
                <a14:m>
                  <m:oMath xmlns:m="http://schemas.openxmlformats.org/officeDocument/2006/math">
                    <m:r>
                      <a:rPr lang="en-US" i="1" dirty="0">
                        <a:latin typeface="Cambria Math"/>
                      </a:rPr>
                      <m:t>&lt;</m:t>
                    </m:r>
                    <m:r>
                      <a:rPr lang="en-US" i="1" dirty="0">
                        <a:solidFill>
                          <a:srgbClr val="FF33CC"/>
                        </a:solidFill>
                        <a:latin typeface="Cambria Math"/>
                      </a:rPr>
                      <m: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0" indent="0">
                  <a:buNone/>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0" indent="0">
                  <a:buNone/>
                </a:pPr>
                <a:r>
                  <a:rPr lang="en-US" dirty="0"/>
                  <a:t>Done when </a:t>
                </a:r>
                <a:r>
                  <a:rPr lang="en-US" dirty="0">
                    <a:solidFill>
                      <a:srgbClr val="FFC000"/>
                    </a:solidFill>
                  </a:rPr>
                  <a:t>Begin</a:t>
                </a:r>
                <a:r>
                  <a:rPr lang="en-US" dirty="0"/>
                  <a:t> = </a:t>
                </a:r>
                <a:r>
                  <a:rPr lang="en-US" dirty="0">
                    <a:solidFill>
                      <a:srgbClr val="0070C0"/>
                    </a:solidFill>
                  </a:rPr>
                  <a:t>End</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827093" y="990600"/>
                <a:ext cx="7774109" cy="1572904"/>
              </a:xfrm>
              <a:prstGeom prst="rect">
                <a:avLst/>
              </a:prstGeom>
              <a:blipFill>
                <a:blip r:embed="rId2"/>
                <a:stretch>
                  <a:fillRect l="-1634" t="-5600"/>
                </a:stretch>
              </a:blipFill>
            </p:spPr>
            <p:txBody>
              <a:bodyPr/>
              <a:lstStyle/>
              <a:p>
                <a:r>
                  <a:rPr lang="en-US">
                    <a:noFill/>
                  </a:rPr>
                  <a:t> </a:t>
                </a:r>
              </a:p>
            </p:txBody>
          </p:sp>
        </mc:Fallback>
      </mc:AlternateContent>
      <p:grpSp>
        <p:nvGrpSpPr>
          <p:cNvPr id="3" name="Group 2" descr="Initially we arrange our array so that the pivot is at index 0. Next we have the variable begin which is initially set to index 1, and the variable end which is initially set to index n-1.&#10;&#10;Next we compare the value at index begin with the pivot. In this case that value is 5 and the pivot is 8. Because the pivot is larger, we leave 5 in place and increment begin.">
            <a:extLst>
              <a:ext uri="{FF2B5EF4-FFF2-40B4-BE49-F238E27FC236}">
                <a16:creationId xmlns:a16="http://schemas.microsoft.com/office/drawing/2014/main" id="{1A28EF59-F89F-062A-2308-C463822BE940}"/>
              </a:ext>
            </a:extLst>
          </p:cNvPr>
          <p:cNvGrpSpPr/>
          <p:nvPr/>
        </p:nvGrpSpPr>
        <p:grpSpPr>
          <a:xfrm>
            <a:off x="2969524" y="2324100"/>
            <a:ext cx="6403076" cy="952500"/>
            <a:chOff x="2969524" y="2324100"/>
            <a:chExt cx="6403076" cy="952500"/>
          </a:xfrm>
        </p:grpSpPr>
        <p:grpSp>
          <p:nvGrpSpPr>
            <p:cNvPr id="20" name="Group 19"/>
            <p:cNvGrpSpPr/>
            <p:nvPr/>
          </p:nvGrpSpPr>
          <p:grpSpPr>
            <a:xfrm>
              <a:off x="2969524" y="2743200"/>
              <a:ext cx="6403076" cy="533400"/>
              <a:chOff x="1445524" y="2895600"/>
              <a:chExt cx="6403076" cy="533400"/>
            </a:xfrm>
          </p:grpSpPr>
          <p:sp>
            <p:nvSpPr>
              <p:cNvPr id="5" name="Rectangle 4"/>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 name="Rectangle 5"/>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p:cNvSpPr/>
              <p:nvPr/>
            </p:nvSpPr>
            <p:spPr>
              <a:xfrm>
                <a:off x="25128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8" name="Rectangle 7"/>
              <p:cNvSpPr/>
              <p:nvPr/>
            </p:nvSpPr>
            <p:spPr>
              <a:xfrm>
                <a:off x="30462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p:cNvSpPr/>
              <p:nvPr/>
            </p:nvSpPr>
            <p:spPr>
              <a:xfrm>
                <a:off x="35796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10" name="Rectangle 9"/>
              <p:cNvSpPr/>
              <p:nvPr/>
            </p:nvSpPr>
            <p:spPr>
              <a:xfrm>
                <a:off x="41136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1" name="Rectangle 10"/>
              <p:cNvSpPr/>
              <p:nvPr/>
            </p:nvSpPr>
            <p:spPr>
              <a:xfrm>
                <a:off x="46470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 name="Rectangle 11"/>
              <p:cNvSpPr/>
              <p:nvPr/>
            </p:nvSpPr>
            <p:spPr>
              <a:xfrm>
                <a:off x="51804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3" name="Rectangle 12"/>
              <p:cNvSpPr/>
              <p:nvPr/>
            </p:nvSpPr>
            <p:spPr>
              <a:xfrm>
                <a:off x="57144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4" name="Rectangle 13"/>
              <p:cNvSpPr/>
              <p:nvPr/>
            </p:nvSpPr>
            <p:spPr>
              <a:xfrm>
                <a:off x="62478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5" name="Rectangle 14"/>
              <p:cNvSpPr/>
              <p:nvPr/>
            </p:nvSpPr>
            <p:spPr>
              <a:xfrm>
                <a:off x="67812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6" name="Rectangle 15"/>
              <p:cNvSpPr/>
              <p:nvPr/>
            </p:nvSpPr>
            <p:spPr>
              <a:xfrm>
                <a:off x="7315200"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sp>
          <p:nvSpPr>
            <p:cNvPr id="17" name="Down Arrow 16"/>
            <p:cNvSpPr/>
            <p:nvPr/>
          </p:nvSpPr>
          <p:spPr>
            <a:xfrm>
              <a:off x="3636274" y="2324100"/>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own Arrow 17"/>
            <p:cNvSpPr/>
            <p:nvPr/>
          </p:nvSpPr>
          <p:spPr>
            <a:xfrm>
              <a:off x="8972550" y="2328649"/>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6" name="Group 65" descr="Once again we compare the value at index begin with the pivot. Now begin is 7 and the pivot is 8, so once again we leave the value in place and increment begin.&#10;&#10;The next value of being is 3, so once again we just increment begin.">
            <a:extLst>
              <a:ext uri="{FF2B5EF4-FFF2-40B4-BE49-F238E27FC236}">
                <a16:creationId xmlns:a16="http://schemas.microsoft.com/office/drawing/2014/main" id="{3751291A-A533-B7E5-96E6-0FEBD3914CF9}"/>
              </a:ext>
            </a:extLst>
          </p:cNvPr>
          <p:cNvGrpSpPr/>
          <p:nvPr/>
        </p:nvGrpSpPr>
        <p:grpSpPr>
          <a:xfrm>
            <a:off x="2971513" y="3429000"/>
            <a:ext cx="6403076" cy="947951"/>
            <a:chOff x="2971513" y="3429000"/>
            <a:chExt cx="6403076" cy="947951"/>
          </a:xfrm>
        </p:grpSpPr>
        <p:grpSp>
          <p:nvGrpSpPr>
            <p:cNvPr id="21" name="Group 20"/>
            <p:cNvGrpSpPr/>
            <p:nvPr/>
          </p:nvGrpSpPr>
          <p:grpSpPr>
            <a:xfrm>
              <a:off x="2971513" y="3843551"/>
              <a:ext cx="6403076" cy="533400"/>
              <a:chOff x="1445524" y="2895600"/>
              <a:chExt cx="6403076" cy="533400"/>
            </a:xfrm>
          </p:grpSpPr>
          <p:sp>
            <p:nvSpPr>
              <p:cNvPr id="22" name="Rectangle 21"/>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3" name="Rectangle 22"/>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4" name="Rectangle 23"/>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5" name="Rectangle 24"/>
              <p:cNvSpPr/>
              <p:nvPr/>
            </p:nvSpPr>
            <p:spPr>
              <a:xfrm>
                <a:off x="30462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6" name="Rectangle 25"/>
              <p:cNvSpPr/>
              <p:nvPr/>
            </p:nvSpPr>
            <p:spPr>
              <a:xfrm>
                <a:off x="35796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27" name="Rectangle 26"/>
              <p:cNvSpPr/>
              <p:nvPr/>
            </p:nvSpPr>
            <p:spPr>
              <a:xfrm>
                <a:off x="41136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28" name="Rectangle 27"/>
              <p:cNvSpPr/>
              <p:nvPr/>
            </p:nvSpPr>
            <p:spPr>
              <a:xfrm>
                <a:off x="46470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9" name="Rectangle 28"/>
              <p:cNvSpPr/>
              <p:nvPr/>
            </p:nvSpPr>
            <p:spPr>
              <a:xfrm>
                <a:off x="51804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0" name="Rectangle 29"/>
              <p:cNvSpPr/>
              <p:nvPr/>
            </p:nvSpPr>
            <p:spPr>
              <a:xfrm>
                <a:off x="57144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1" name="Rectangle 30"/>
              <p:cNvSpPr/>
              <p:nvPr/>
            </p:nvSpPr>
            <p:spPr>
              <a:xfrm>
                <a:off x="62478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2" name="Rectangle 31"/>
              <p:cNvSpPr/>
              <p:nvPr/>
            </p:nvSpPr>
            <p:spPr>
              <a:xfrm>
                <a:off x="67812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33" name="Rectangle 32"/>
              <p:cNvSpPr/>
              <p:nvPr/>
            </p:nvSpPr>
            <p:spPr>
              <a:xfrm>
                <a:off x="7315200"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sp>
          <p:nvSpPr>
            <p:cNvPr id="34" name="Down Arrow 33"/>
            <p:cNvSpPr/>
            <p:nvPr/>
          </p:nvSpPr>
          <p:spPr>
            <a:xfrm>
              <a:off x="4170243" y="3462551"/>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own Arrow 34"/>
            <p:cNvSpPr/>
            <p:nvPr/>
          </p:nvSpPr>
          <p:spPr>
            <a:xfrm>
              <a:off x="8974539" y="342900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 name="Group 66" descr="Now the value at begin is 12. Because 12 is greater than the pivot we swap the value at index begin with the value at index end, then decrement end.">
            <a:extLst>
              <a:ext uri="{FF2B5EF4-FFF2-40B4-BE49-F238E27FC236}">
                <a16:creationId xmlns:a16="http://schemas.microsoft.com/office/drawing/2014/main" id="{2D99AECB-A8C4-A530-B7BE-62405E9BA388}"/>
              </a:ext>
            </a:extLst>
          </p:cNvPr>
          <p:cNvGrpSpPr/>
          <p:nvPr/>
        </p:nvGrpSpPr>
        <p:grpSpPr>
          <a:xfrm>
            <a:off x="2990563" y="4495800"/>
            <a:ext cx="6403076" cy="947951"/>
            <a:chOff x="2990563" y="4495800"/>
            <a:chExt cx="6403076" cy="947951"/>
          </a:xfrm>
        </p:grpSpPr>
        <p:grpSp>
          <p:nvGrpSpPr>
            <p:cNvPr id="36" name="Group 35"/>
            <p:cNvGrpSpPr/>
            <p:nvPr/>
          </p:nvGrpSpPr>
          <p:grpSpPr>
            <a:xfrm>
              <a:off x="2990563" y="4910351"/>
              <a:ext cx="6403076" cy="533400"/>
              <a:chOff x="1445524" y="2895600"/>
              <a:chExt cx="6403076" cy="533400"/>
            </a:xfrm>
          </p:grpSpPr>
          <p:sp>
            <p:nvSpPr>
              <p:cNvPr id="37" name="Rectangle 36"/>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8" name="Rectangle 37"/>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9" name="Rectangle 38"/>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0" name="Rectangle 39"/>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41" name="Rectangle 40"/>
              <p:cNvSpPr/>
              <p:nvPr/>
            </p:nvSpPr>
            <p:spPr>
              <a:xfrm>
                <a:off x="35796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42" name="Rectangle 41"/>
              <p:cNvSpPr/>
              <p:nvPr/>
            </p:nvSpPr>
            <p:spPr>
              <a:xfrm>
                <a:off x="41136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43" name="Rectangle 42"/>
              <p:cNvSpPr/>
              <p:nvPr/>
            </p:nvSpPr>
            <p:spPr>
              <a:xfrm>
                <a:off x="46470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4" name="Rectangle 43"/>
              <p:cNvSpPr/>
              <p:nvPr/>
            </p:nvSpPr>
            <p:spPr>
              <a:xfrm>
                <a:off x="51804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5" name="Rectangle 44"/>
              <p:cNvSpPr/>
              <p:nvPr/>
            </p:nvSpPr>
            <p:spPr>
              <a:xfrm>
                <a:off x="57144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46" name="Rectangle 45"/>
              <p:cNvSpPr/>
              <p:nvPr/>
            </p:nvSpPr>
            <p:spPr>
              <a:xfrm>
                <a:off x="62478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47" name="Rectangle 46"/>
              <p:cNvSpPr/>
              <p:nvPr/>
            </p:nvSpPr>
            <p:spPr>
              <a:xfrm>
                <a:off x="67812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8" name="Rectangle 47"/>
              <p:cNvSpPr/>
              <p:nvPr/>
            </p:nvSpPr>
            <p:spPr>
              <a:xfrm>
                <a:off x="7315200"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sp>
          <p:nvSpPr>
            <p:cNvPr id="49" name="Down Arrow 48"/>
            <p:cNvSpPr/>
            <p:nvPr/>
          </p:nvSpPr>
          <p:spPr>
            <a:xfrm>
              <a:off x="5237043" y="4514226"/>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Down Arrow 49"/>
            <p:cNvSpPr/>
            <p:nvPr/>
          </p:nvSpPr>
          <p:spPr>
            <a:xfrm>
              <a:off x="8993589" y="449580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 name="Group 67" descr="Now the value at the index begin is that value that was formerly at the index end. We next compare this value with the pivot. In this case, the value at begin is 11, so it is larger than the pivot, so we once again swap this value with the one at index end and decrement end.">
            <a:extLst>
              <a:ext uri="{FF2B5EF4-FFF2-40B4-BE49-F238E27FC236}">
                <a16:creationId xmlns:a16="http://schemas.microsoft.com/office/drawing/2014/main" id="{D62520FA-D152-944A-D3D1-9F9F8B3BA6AA}"/>
              </a:ext>
            </a:extLst>
          </p:cNvPr>
          <p:cNvGrpSpPr/>
          <p:nvPr/>
        </p:nvGrpSpPr>
        <p:grpSpPr>
          <a:xfrm>
            <a:off x="2969524" y="5692824"/>
            <a:ext cx="6403076" cy="914400"/>
            <a:chOff x="2969524" y="5692824"/>
            <a:chExt cx="6403076" cy="914400"/>
          </a:xfrm>
        </p:grpSpPr>
        <p:grpSp>
          <p:nvGrpSpPr>
            <p:cNvPr id="51" name="Group 50"/>
            <p:cNvGrpSpPr/>
            <p:nvPr/>
          </p:nvGrpSpPr>
          <p:grpSpPr>
            <a:xfrm>
              <a:off x="2969524" y="6073824"/>
              <a:ext cx="6403076" cy="533400"/>
              <a:chOff x="1445524" y="2895600"/>
              <a:chExt cx="6403076" cy="533400"/>
            </a:xfrm>
          </p:grpSpPr>
          <p:sp>
            <p:nvSpPr>
              <p:cNvPr id="52" name="Rectangle 51"/>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3" name="Rectangle 52"/>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4" name="Rectangle 53"/>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5" name="Rectangle 54"/>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6" name="Rectangle 55"/>
              <p:cNvSpPr/>
              <p:nvPr/>
            </p:nvSpPr>
            <p:spPr>
              <a:xfrm>
                <a:off x="3579693"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57" name="Rectangle 56"/>
              <p:cNvSpPr/>
              <p:nvPr/>
            </p:nvSpPr>
            <p:spPr>
              <a:xfrm>
                <a:off x="41136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58" name="Rectangle 57"/>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9" name="Rectangle 58"/>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0" name="Rectangle 59"/>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1" name="Rectangle 60"/>
              <p:cNvSpPr/>
              <p:nvPr/>
            </p:nvSpPr>
            <p:spPr>
              <a:xfrm>
                <a:off x="62478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62" name="Rectangle 61"/>
              <p:cNvSpPr/>
              <p:nvPr/>
            </p:nvSpPr>
            <p:spPr>
              <a:xfrm>
                <a:off x="67812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3" name="Rectangle 62"/>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64" name="Down Arrow 63"/>
            <p:cNvSpPr/>
            <p:nvPr/>
          </p:nvSpPr>
          <p:spPr>
            <a:xfrm>
              <a:off x="5216004" y="5708179"/>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Down Arrow 64"/>
            <p:cNvSpPr/>
            <p:nvPr/>
          </p:nvSpPr>
          <p:spPr>
            <a:xfrm>
              <a:off x="8459620" y="5692824"/>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D0D20E8F-5200-A6F5-579D-8EE698FC7A23}"/>
                  </a:ext>
                </a:extLst>
              </p14:cNvPr>
              <p14:cNvContentPartPr/>
              <p14:nvPr/>
            </p14:nvContentPartPr>
            <p14:xfrm>
              <a:off x="3072600" y="1974600"/>
              <a:ext cx="6462000" cy="4798080"/>
            </p14:xfrm>
          </p:contentPart>
        </mc:Choice>
        <mc:Fallback>
          <p:pic>
            <p:nvPicPr>
              <p:cNvPr id="4" name="Ink 3">
                <a:extLst>
                  <a:ext uri="{FF2B5EF4-FFF2-40B4-BE49-F238E27FC236}">
                    <a16:creationId xmlns:a16="http://schemas.microsoft.com/office/drawing/2014/main" id="{D0D20E8F-5200-A6F5-579D-8EE698FC7A23}"/>
                  </a:ext>
                </a:extLst>
              </p:cNvPr>
              <p:cNvPicPr/>
              <p:nvPr/>
            </p:nvPicPr>
            <p:blipFill>
              <a:blip r:embed="rId4"/>
              <a:stretch>
                <a:fillRect/>
              </a:stretch>
            </p:blipFill>
            <p:spPr>
              <a:xfrm>
                <a:off x="3063240" y="1965240"/>
                <a:ext cx="6480720" cy="4816800"/>
              </a:xfrm>
              <a:prstGeom prst="rect">
                <a:avLst/>
              </a:prstGeom>
            </p:spPr>
          </p:pic>
        </mc:Fallback>
      </mc:AlternateContent>
    </p:spTree>
    <p:extLst>
      <p:ext uri="{BB962C8B-B14F-4D97-AF65-F5344CB8AC3E}">
        <p14:creationId xmlns:p14="http://schemas.microsoft.com/office/powerpoint/2010/main" val="4033875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C0086E7-8C2F-FA6D-FBEB-411A8519EB2F}"/>
              </a:ext>
            </a:extLst>
          </p:cNvPr>
          <p:cNvSpPr txBox="1">
            <a:spLocks noGrp="1"/>
          </p:cNvSpPr>
          <p:nvPr>
            <p:ph type="title" idx="4294967295"/>
          </p:nvPr>
        </p:nvSpPr>
        <p:spPr>
          <a:xfrm>
            <a:off x="379293" y="0"/>
            <a:ext cx="10515600"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en-US" dirty="0"/>
              <a:t>Partition Procedure (Slide 2 of 2) </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mc:AlternateContent xmlns:mc="http://schemas.openxmlformats.org/markup-compatibility/2006" xmlns:a14="http://schemas.microsoft.com/office/drawing/2010/main">
        <mc:Choice Requires="a14">
          <p:sp>
            <p:nvSpPr>
              <p:cNvPr id="111" name="Content Placeholder 2"/>
              <p:cNvSpPr txBox="1">
                <a:spLocks/>
              </p:cNvSpPr>
              <p:nvPr/>
            </p:nvSpPr>
            <p:spPr>
              <a:xfrm>
                <a:off x="1827093" y="990600"/>
                <a:ext cx="7774109" cy="1572904"/>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a:t>
                </a:r>
                <a:r>
                  <a:rPr lang="en-US" dirty="0">
                    <a:solidFill>
                      <a:srgbClr val="FFC000"/>
                    </a:solidFill>
                  </a:rPr>
                  <a:t>Begin</a:t>
                </a:r>
                <a:r>
                  <a:rPr lang="en-US" dirty="0"/>
                  <a:t> value </a:t>
                </a:r>
                <a14:m>
                  <m:oMath xmlns:m="http://schemas.openxmlformats.org/officeDocument/2006/math">
                    <m:r>
                      <a:rPr lang="en-US" i="1" dirty="0">
                        <a:latin typeface="Cambria Math"/>
                      </a:rPr>
                      <m:t>&lt;</m:t>
                    </m:r>
                    <m:r>
                      <a:rPr lang="en-US" i="1" dirty="0">
                        <a:solidFill>
                          <a:srgbClr val="FF33CC"/>
                        </a:solidFill>
                        <a:latin typeface="Cambria Math"/>
                      </a:rPr>
                      <m: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0" indent="0">
                  <a:buNone/>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0" indent="0">
                  <a:buNone/>
                </a:pPr>
                <a:r>
                  <a:rPr lang="en-US" dirty="0"/>
                  <a:t>Done when </a:t>
                </a:r>
                <a:r>
                  <a:rPr lang="en-US" dirty="0">
                    <a:solidFill>
                      <a:srgbClr val="FFC000"/>
                    </a:solidFill>
                  </a:rPr>
                  <a:t>Begin</a:t>
                </a:r>
                <a:r>
                  <a:rPr lang="en-US" dirty="0"/>
                  <a:t> = </a:t>
                </a:r>
                <a:r>
                  <a:rPr lang="en-US" dirty="0">
                    <a:solidFill>
                      <a:srgbClr val="0070C0"/>
                    </a:solidFill>
                  </a:rPr>
                  <a:t>End</a:t>
                </a:r>
              </a:p>
            </p:txBody>
          </p:sp>
        </mc:Choice>
        <mc:Fallback xmlns="">
          <p:sp>
            <p:nvSpPr>
              <p:cNvPr id="111" name="Content Placeholder 2"/>
              <p:cNvSpPr txBox="1">
                <a:spLocks noRot="1" noChangeAspect="1" noMove="1" noResize="1" noEditPoints="1" noAdjustHandles="1" noChangeArrowheads="1" noChangeShapeType="1" noTextEdit="1"/>
              </p:cNvSpPr>
              <p:nvPr/>
            </p:nvSpPr>
            <p:spPr>
              <a:xfrm>
                <a:off x="1827093" y="990600"/>
                <a:ext cx="7774109" cy="1572904"/>
              </a:xfrm>
              <a:prstGeom prst="rect">
                <a:avLst/>
              </a:prstGeom>
              <a:blipFill>
                <a:blip r:embed="rId2"/>
                <a:stretch>
                  <a:fillRect l="-1634" t="-5600"/>
                </a:stretch>
              </a:blipFill>
            </p:spPr>
            <p:txBody>
              <a:bodyPr/>
              <a:lstStyle/>
              <a:p>
                <a:r>
                  <a:rPr lang="en-US">
                    <a:noFill/>
                  </a:rPr>
                  <a:t> </a:t>
                </a:r>
              </a:p>
            </p:txBody>
          </p:sp>
        </mc:Fallback>
      </mc:AlternateContent>
      <p:grpSp>
        <p:nvGrpSpPr>
          <p:cNvPr id="2" name="Group 1" descr="Where we left off from the previous slide.">
            <a:extLst>
              <a:ext uri="{FF2B5EF4-FFF2-40B4-BE49-F238E27FC236}">
                <a16:creationId xmlns:a16="http://schemas.microsoft.com/office/drawing/2014/main" id="{D044433F-DF44-C371-3353-327C2344D2B6}"/>
              </a:ext>
            </a:extLst>
          </p:cNvPr>
          <p:cNvGrpSpPr/>
          <p:nvPr/>
        </p:nvGrpSpPr>
        <p:grpSpPr>
          <a:xfrm>
            <a:off x="2649938" y="2286000"/>
            <a:ext cx="6403076" cy="914400"/>
            <a:chOff x="2649938" y="2286000"/>
            <a:chExt cx="6403076" cy="914400"/>
          </a:xfrm>
        </p:grpSpPr>
        <p:grpSp>
          <p:nvGrpSpPr>
            <p:cNvPr id="51" name="Group 50"/>
            <p:cNvGrpSpPr/>
            <p:nvPr/>
          </p:nvGrpSpPr>
          <p:grpSpPr>
            <a:xfrm>
              <a:off x="2649938" y="2667000"/>
              <a:ext cx="6403076" cy="533400"/>
              <a:chOff x="1445524" y="2895600"/>
              <a:chExt cx="6403076" cy="533400"/>
            </a:xfrm>
          </p:grpSpPr>
          <p:sp>
            <p:nvSpPr>
              <p:cNvPr id="52" name="Rectangle 51"/>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3" name="Rectangle 52"/>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4" name="Rectangle 53"/>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5" name="Rectangle 54"/>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6" name="Rectangle 55"/>
              <p:cNvSpPr/>
              <p:nvPr/>
            </p:nvSpPr>
            <p:spPr>
              <a:xfrm>
                <a:off x="35796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57" name="Rectangle 56"/>
              <p:cNvSpPr/>
              <p:nvPr/>
            </p:nvSpPr>
            <p:spPr>
              <a:xfrm>
                <a:off x="41136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58" name="Rectangle 57"/>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9" name="Rectangle 58"/>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0" name="Rectangle 59"/>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1" name="Rectangle 60"/>
              <p:cNvSpPr/>
              <p:nvPr/>
            </p:nvSpPr>
            <p:spPr>
              <a:xfrm>
                <a:off x="62478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62" name="Rectangle 61"/>
              <p:cNvSpPr/>
              <p:nvPr/>
            </p:nvSpPr>
            <p:spPr>
              <a:xfrm>
                <a:off x="67812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3" name="Rectangle 62"/>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64" name="Down Arrow 63"/>
            <p:cNvSpPr/>
            <p:nvPr/>
          </p:nvSpPr>
          <p:spPr>
            <a:xfrm>
              <a:off x="4896418" y="2301355"/>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Down Arrow 64"/>
            <p:cNvSpPr/>
            <p:nvPr/>
          </p:nvSpPr>
          <p:spPr>
            <a:xfrm>
              <a:off x="8140034" y="228600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 name="Group 2" descr="Now begin contains the value 6, which is smaller than the pivot, so we increment begin.">
            <a:extLst>
              <a:ext uri="{FF2B5EF4-FFF2-40B4-BE49-F238E27FC236}">
                <a16:creationId xmlns:a16="http://schemas.microsoft.com/office/drawing/2014/main" id="{CAF0C632-34F8-38D2-BAD2-8150D883F696}"/>
              </a:ext>
            </a:extLst>
          </p:cNvPr>
          <p:cNvGrpSpPr/>
          <p:nvPr/>
        </p:nvGrpSpPr>
        <p:grpSpPr>
          <a:xfrm>
            <a:off x="2649938" y="3377821"/>
            <a:ext cx="6403076" cy="914400"/>
            <a:chOff x="2649938" y="3377821"/>
            <a:chExt cx="6403076" cy="914400"/>
          </a:xfrm>
        </p:grpSpPr>
        <p:grpSp>
          <p:nvGrpSpPr>
            <p:cNvPr id="66" name="Group 65"/>
            <p:cNvGrpSpPr/>
            <p:nvPr/>
          </p:nvGrpSpPr>
          <p:grpSpPr>
            <a:xfrm>
              <a:off x="2649938" y="3758821"/>
              <a:ext cx="6403076" cy="533400"/>
              <a:chOff x="1445524" y="2895600"/>
              <a:chExt cx="6403076" cy="533400"/>
            </a:xfrm>
          </p:grpSpPr>
          <p:sp>
            <p:nvSpPr>
              <p:cNvPr id="67" name="Rectangle 66"/>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8" name="Rectangle 67"/>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9" name="Rectangle 68"/>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0" name="Rectangle 69"/>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1" name="Rectangle 70"/>
              <p:cNvSpPr/>
              <p:nvPr/>
            </p:nvSpPr>
            <p:spPr>
              <a:xfrm>
                <a:off x="3579693"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72" name="Rectangle 71"/>
              <p:cNvSpPr/>
              <p:nvPr/>
            </p:nvSpPr>
            <p:spPr>
              <a:xfrm>
                <a:off x="41136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73" name="Rectangle 72"/>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4" name="Rectangle 73"/>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5" name="Rectangle 74"/>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76" name="Rectangle 75"/>
              <p:cNvSpPr/>
              <p:nvPr/>
            </p:nvSpPr>
            <p:spPr>
              <a:xfrm>
                <a:off x="62478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7" name="Rectangle 76"/>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78" name="Rectangle 77"/>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79" name="Down Arrow 78"/>
            <p:cNvSpPr/>
            <p:nvPr/>
          </p:nvSpPr>
          <p:spPr>
            <a:xfrm>
              <a:off x="4896418" y="3393176"/>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Down Arrow 79"/>
            <p:cNvSpPr/>
            <p:nvPr/>
          </p:nvSpPr>
          <p:spPr>
            <a:xfrm>
              <a:off x="7585595" y="3377821"/>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 name="Group 4" descr="Now begin contains the value 10, which is larger than the pivot, so we swap 10 with the value at index end and decrement end.">
            <a:extLst>
              <a:ext uri="{FF2B5EF4-FFF2-40B4-BE49-F238E27FC236}">
                <a16:creationId xmlns:a16="http://schemas.microsoft.com/office/drawing/2014/main" id="{0A74119E-A09F-A8F5-4C0C-D890F6818E1D}"/>
              </a:ext>
            </a:extLst>
          </p:cNvPr>
          <p:cNvGrpSpPr/>
          <p:nvPr/>
        </p:nvGrpSpPr>
        <p:grpSpPr>
          <a:xfrm>
            <a:off x="2649938" y="4449816"/>
            <a:ext cx="6403076" cy="909205"/>
            <a:chOff x="2649938" y="4449816"/>
            <a:chExt cx="6403076" cy="909205"/>
          </a:xfrm>
        </p:grpSpPr>
        <p:grpSp>
          <p:nvGrpSpPr>
            <p:cNvPr id="81" name="Group 80"/>
            <p:cNvGrpSpPr/>
            <p:nvPr/>
          </p:nvGrpSpPr>
          <p:grpSpPr>
            <a:xfrm>
              <a:off x="2649938" y="4825621"/>
              <a:ext cx="6403076" cy="533400"/>
              <a:chOff x="1445524" y="2895600"/>
              <a:chExt cx="6403076" cy="533400"/>
            </a:xfrm>
          </p:grpSpPr>
          <p:sp>
            <p:nvSpPr>
              <p:cNvPr id="82" name="Rectangle 81"/>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83" name="Rectangle 82"/>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4" name="Rectangle 83"/>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85" name="Rectangle 84"/>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6" name="Rectangle 85"/>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7" name="Rectangle 86"/>
              <p:cNvSpPr/>
              <p:nvPr/>
            </p:nvSpPr>
            <p:spPr>
              <a:xfrm>
                <a:off x="41136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88" name="Rectangle 87"/>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9" name="Rectangle 88"/>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0" name="Rectangle 89"/>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1" name="Rectangle 90"/>
              <p:cNvSpPr/>
              <p:nvPr/>
            </p:nvSpPr>
            <p:spPr>
              <a:xfrm>
                <a:off x="62478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2" name="Rectangle 91"/>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93" name="Rectangle 92"/>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94" name="Down Arrow 93"/>
            <p:cNvSpPr/>
            <p:nvPr/>
          </p:nvSpPr>
          <p:spPr>
            <a:xfrm>
              <a:off x="5445058" y="4449816"/>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Down Arrow 94"/>
            <p:cNvSpPr/>
            <p:nvPr/>
          </p:nvSpPr>
          <p:spPr>
            <a:xfrm>
              <a:off x="7585595" y="4459976"/>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descr="Next we compare the value at index begin with the pivot, continuing the process until begin and end meet at the same index.">
            <a:extLst>
              <a:ext uri="{FF2B5EF4-FFF2-40B4-BE49-F238E27FC236}">
                <a16:creationId xmlns:a16="http://schemas.microsoft.com/office/drawing/2014/main" id="{D68431A1-00BD-033F-363E-28FD3B78CDE0}"/>
              </a:ext>
            </a:extLst>
          </p:cNvPr>
          <p:cNvGrpSpPr/>
          <p:nvPr/>
        </p:nvGrpSpPr>
        <p:grpSpPr>
          <a:xfrm>
            <a:off x="2649938" y="5485831"/>
            <a:ext cx="6403076" cy="914969"/>
            <a:chOff x="2649938" y="5485831"/>
            <a:chExt cx="6403076" cy="914969"/>
          </a:xfrm>
        </p:grpSpPr>
        <p:grpSp>
          <p:nvGrpSpPr>
            <p:cNvPr id="96" name="Group 95"/>
            <p:cNvGrpSpPr/>
            <p:nvPr/>
          </p:nvGrpSpPr>
          <p:grpSpPr>
            <a:xfrm>
              <a:off x="2649938" y="5867400"/>
              <a:ext cx="6403076" cy="533400"/>
              <a:chOff x="1445524" y="2895600"/>
              <a:chExt cx="6403076" cy="533400"/>
            </a:xfrm>
          </p:grpSpPr>
          <p:sp>
            <p:nvSpPr>
              <p:cNvPr id="97" name="Rectangle 96"/>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8" name="Rectangle 97"/>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9" name="Rectangle 98"/>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0" name="Rectangle 99"/>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1" name="Rectangle 100"/>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2" name="Rectangle 101"/>
              <p:cNvSpPr/>
              <p:nvPr/>
            </p:nvSpPr>
            <p:spPr>
              <a:xfrm>
                <a:off x="41136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3" name="Rectangle 102"/>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4" name="Rectangle 103"/>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Rectangle 104"/>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Rectangle 105"/>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07" name="Rectangle 106"/>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08" name="Rectangle 107"/>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09" name="Down Arrow 108"/>
            <p:cNvSpPr/>
            <p:nvPr/>
          </p:nvSpPr>
          <p:spPr>
            <a:xfrm>
              <a:off x="5451426" y="5485831"/>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Down Arrow 109"/>
            <p:cNvSpPr/>
            <p:nvPr/>
          </p:nvSpPr>
          <p:spPr>
            <a:xfrm>
              <a:off x="7026795" y="5485831"/>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01ECA215-60EB-C0A9-C44B-B1F8A3864459}"/>
                  </a:ext>
                </a:extLst>
              </p14:cNvPr>
              <p14:cNvContentPartPr/>
              <p14:nvPr/>
            </p14:nvContentPartPr>
            <p14:xfrm>
              <a:off x="4872960" y="2241000"/>
              <a:ext cx="3764520" cy="4149000"/>
            </p14:xfrm>
          </p:contentPart>
        </mc:Choice>
        <mc:Fallback>
          <p:pic>
            <p:nvPicPr>
              <p:cNvPr id="4" name="Ink 3">
                <a:extLst>
                  <a:ext uri="{FF2B5EF4-FFF2-40B4-BE49-F238E27FC236}">
                    <a16:creationId xmlns:a16="http://schemas.microsoft.com/office/drawing/2014/main" id="{01ECA215-60EB-C0A9-C44B-B1F8A3864459}"/>
                  </a:ext>
                </a:extLst>
              </p:cNvPr>
              <p:cNvPicPr/>
              <p:nvPr/>
            </p:nvPicPr>
            <p:blipFill>
              <a:blip r:embed="rId4"/>
              <a:stretch>
                <a:fillRect/>
              </a:stretch>
            </p:blipFill>
            <p:spPr>
              <a:xfrm>
                <a:off x="4863600" y="2231640"/>
                <a:ext cx="3783240" cy="4167720"/>
              </a:xfrm>
              <a:prstGeom prst="rect">
                <a:avLst/>
              </a:prstGeom>
            </p:spPr>
          </p:pic>
        </mc:Fallback>
      </mc:AlternateContent>
    </p:spTree>
    <p:extLst>
      <p:ext uri="{BB962C8B-B14F-4D97-AF65-F5344CB8AC3E}">
        <p14:creationId xmlns:p14="http://schemas.microsoft.com/office/powerpoint/2010/main" val="11318555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D196EAA-752A-A93B-2999-105C81B29669}"/>
              </a:ext>
            </a:extLst>
          </p:cNvPr>
          <p:cNvSpPr>
            <a:spLocks noGrp="1"/>
          </p:cNvSpPr>
          <p:nvPr>
            <p:ph type="title"/>
          </p:nvPr>
        </p:nvSpPr>
        <p:spPr>
          <a:xfrm>
            <a:off x="379293" y="0"/>
            <a:ext cx="10515600" cy="1325563"/>
          </a:xfrm>
        </p:spPr>
        <p:txBody>
          <a:bodyPr/>
          <a:lstStyle/>
          <a:p>
            <a:r>
              <a:rPr lang="en-US" dirty="0"/>
              <a:t>Partition – Begin Meets End (Case 1)</a:t>
            </a:r>
          </a:p>
        </p:txBody>
      </p:sp>
      <mc:AlternateContent xmlns:mc="http://schemas.openxmlformats.org/markup-compatibility/2006" xmlns:a14="http://schemas.microsoft.com/office/drawing/2010/main">
        <mc:Choice Requires="a14">
          <p:sp>
            <p:nvSpPr>
              <p:cNvPr id="36" name="Content Placeholder 2"/>
              <p:cNvSpPr txBox="1">
                <a:spLocks/>
              </p:cNvSpPr>
              <p:nvPr/>
            </p:nvSpPr>
            <p:spPr>
              <a:xfrm>
                <a:off x="1827093" y="990600"/>
                <a:ext cx="7774109" cy="1572904"/>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a:t>
                </a:r>
                <a:r>
                  <a:rPr lang="en-US" dirty="0">
                    <a:solidFill>
                      <a:srgbClr val="FFC000"/>
                    </a:solidFill>
                  </a:rPr>
                  <a:t>Begin</a:t>
                </a:r>
                <a:r>
                  <a:rPr lang="en-US" dirty="0"/>
                  <a:t> value </a:t>
                </a:r>
                <a14:m>
                  <m:oMath xmlns:m="http://schemas.openxmlformats.org/officeDocument/2006/math">
                    <m:r>
                      <a:rPr lang="en-US" i="1" dirty="0">
                        <a:latin typeface="Cambria Math"/>
                      </a:rPr>
                      <m:t>&lt;</m:t>
                    </m:r>
                    <m:r>
                      <a:rPr lang="en-US" i="1" dirty="0">
                        <a:solidFill>
                          <a:srgbClr val="FF33CC"/>
                        </a:solidFill>
                        <a:latin typeface="Cambria Math"/>
                      </a:rPr>
                      <m: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0" indent="0">
                  <a:buNone/>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0" indent="0">
                  <a:buNone/>
                </a:pPr>
                <a:r>
                  <a:rPr lang="en-US" dirty="0"/>
                  <a:t>Done when </a:t>
                </a:r>
                <a:r>
                  <a:rPr lang="en-US" dirty="0">
                    <a:solidFill>
                      <a:srgbClr val="FFC000"/>
                    </a:solidFill>
                  </a:rPr>
                  <a:t>Begin</a:t>
                </a:r>
                <a:r>
                  <a:rPr lang="en-US" dirty="0"/>
                  <a:t> = </a:t>
                </a:r>
                <a:r>
                  <a:rPr lang="en-US" dirty="0">
                    <a:solidFill>
                      <a:srgbClr val="0070C0"/>
                    </a:solidFill>
                  </a:rPr>
                  <a:t>End</a:t>
                </a:r>
              </a:p>
            </p:txBody>
          </p:sp>
        </mc:Choice>
        <mc:Fallback xmlns="">
          <p:sp>
            <p:nvSpPr>
              <p:cNvPr id="36" name="Content Placeholder 2"/>
              <p:cNvSpPr txBox="1">
                <a:spLocks noRot="1" noChangeAspect="1" noMove="1" noResize="1" noEditPoints="1" noAdjustHandles="1" noChangeArrowheads="1" noChangeShapeType="1" noTextEdit="1"/>
              </p:cNvSpPr>
              <p:nvPr/>
            </p:nvSpPr>
            <p:spPr>
              <a:xfrm>
                <a:off x="1827093" y="990600"/>
                <a:ext cx="7774109" cy="1572904"/>
              </a:xfrm>
              <a:prstGeom prst="rect">
                <a:avLst/>
              </a:prstGeom>
              <a:blipFill>
                <a:blip r:embed="rId3"/>
                <a:stretch>
                  <a:fillRect l="-1634" t="-5600"/>
                </a:stretch>
              </a:blipFill>
            </p:spPr>
            <p:txBody>
              <a:bodyPr/>
              <a:lstStyle/>
              <a:p>
                <a:r>
                  <a:rPr lang="en-US">
                    <a:noFill/>
                  </a:rPr>
                  <a:t> </a:t>
                </a:r>
              </a:p>
            </p:txBody>
          </p:sp>
        </mc:Fallback>
      </mc:AlternateContent>
      <p:grpSp>
        <p:nvGrpSpPr>
          <p:cNvPr id="2" name="Group 1" descr="When begin and end meet at the same index we need to make sure the value that the pivot goes between begin and end, and that the value that the met at is on the correct side of the pivot.">
            <a:extLst>
              <a:ext uri="{FF2B5EF4-FFF2-40B4-BE49-F238E27FC236}">
                <a16:creationId xmlns:a16="http://schemas.microsoft.com/office/drawing/2014/main" id="{9222CCFC-3897-D26A-C056-6EFB88752F4E}"/>
              </a:ext>
            </a:extLst>
          </p:cNvPr>
          <p:cNvGrpSpPr/>
          <p:nvPr/>
        </p:nvGrpSpPr>
        <p:grpSpPr>
          <a:xfrm>
            <a:off x="2649938" y="2441812"/>
            <a:ext cx="6403076" cy="919518"/>
            <a:chOff x="2649938" y="2441812"/>
            <a:chExt cx="6403076" cy="919518"/>
          </a:xfrm>
        </p:grpSpPr>
        <p:grpSp>
          <p:nvGrpSpPr>
            <p:cNvPr id="164" name="Group 163"/>
            <p:cNvGrpSpPr/>
            <p:nvPr/>
          </p:nvGrpSpPr>
          <p:grpSpPr>
            <a:xfrm>
              <a:off x="2649938" y="2827930"/>
              <a:ext cx="6403076" cy="533400"/>
              <a:chOff x="1445524" y="2895600"/>
              <a:chExt cx="6403076" cy="533400"/>
            </a:xfrm>
          </p:grpSpPr>
          <p:sp>
            <p:nvSpPr>
              <p:cNvPr id="165" name="Rectangle 164"/>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66" name="Rectangle 165"/>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67" name="Rectangle 166"/>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68" name="Rectangle 167"/>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69" name="Rectangle 168"/>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70" name="Rectangle 169"/>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71" name="Rectangle 170"/>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2" name="Rectangle 171"/>
              <p:cNvSpPr/>
              <p:nvPr/>
            </p:nvSpPr>
            <p:spPr>
              <a:xfrm>
                <a:off x="51804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73" name="Rectangle 172"/>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74" name="Rectangle 173"/>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75" name="Rectangle 174"/>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6" name="Rectangle 175"/>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77" name="Down Arrow 176"/>
            <p:cNvSpPr/>
            <p:nvPr/>
          </p:nvSpPr>
          <p:spPr>
            <a:xfrm>
              <a:off x="6400227" y="2441812"/>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Down Arrow 177"/>
            <p:cNvSpPr/>
            <p:nvPr/>
          </p:nvSpPr>
          <p:spPr>
            <a:xfrm>
              <a:off x="6526186" y="244693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79" name="Content Placeholder 2"/>
              <p:cNvSpPr txBox="1">
                <a:spLocks/>
              </p:cNvSpPr>
              <p:nvPr/>
            </p:nvSpPr>
            <p:spPr>
              <a:xfrm>
                <a:off x="2057400" y="3813412"/>
                <a:ext cx="8257182" cy="1230004"/>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Case 1: meet at element </a:t>
                </a:r>
                <a14:m>
                  <m:oMath xmlns:m="http://schemas.openxmlformats.org/officeDocument/2006/math">
                    <m:r>
                      <a:rPr lang="en-US" dirty="0">
                        <a:solidFill>
                          <a:srgbClr val="FFC000"/>
                        </a:solidFill>
                        <a:latin typeface="Cambria Math"/>
                      </a:rPr>
                      <m:t>&lt;</m:t>
                    </m:r>
                    <m:r>
                      <a:rPr lang="en-US" i="1" dirty="0">
                        <a:solidFill>
                          <a:srgbClr val="FFC000"/>
                        </a:solidFill>
                        <a:latin typeface="Cambria Math"/>
                      </a:rPr>
                      <m:t>𝑝</m:t>
                    </m:r>
                  </m:oMath>
                </a14:m>
                <a:endParaRPr lang="en-US" dirty="0">
                  <a:solidFill>
                    <a:srgbClr val="0070C0"/>
                  </a:solidFill>
                </a:endParaRPr>
              </a:p>
              <a:p>
                <a:pPr marL="0" indent="0">
                  <a:buNone/>
                </a:pPr>
                <a:r>
                  <a:rPr lang="en-US" dirty="0">
                    <a:solidFill>
                      <a:srgbClr val="0070C0"/>
                    </a:solidFill>
                  </a:rPr>
                  <a:t>	</a:t>
                </a:r>
                <a:r>
                  <a:rPr lang="en-US" dirty="0"/>
                  <a:t>Swap </a:t>
                </a:r>
                <a14:m>
                  <m:oMath xmlns:m="http://schemas.openxmlformats.org/officeDocument/2006/math">
                    <m:r>
                      <a:rPr lang="en-US" i="1" dirty="0">
                        <a:solidFill>
                          <a:srgbClr val="FF33CC"/>
                        </a:solidFill>
                        <a:latin typeface="Cambria Math"/>
                      </a:rPr>
                      <m:t>𝑝</m:t>
                    </m:r>
                  </m:oMath>
                </a14:m>
                <a:r>
                  <a:rPr lang="en-US" dirty="0"/>
                  <a:t> with </a:t>
                </a:r>
                <a:r>
                  <a:rPr lang="en-US" dirty="0">
                    <a:solidFill>
                      <a:srgbClr val="FFC000"/>
                    </a:solidFill>
                  </a:rPr>
                  <a:t>pointer position </a:t>
                </a:r>
                <a:r>
                  <a:rPr lang="en-US" dirty="0"/>
                  <a:t>(2 in this case)</a:t>
                </a:r>
              </a:p>
            </p:txBody>
          </p:sp>
        </mc:Choice>
        <mc:Fallback xmlns="">
          <p:sp>
            <p:nvSpPr>
              <p:cNvPr id="179" name="Content Placeholder 2"/>
              <p:cNvSpPr txBox="1">
                <a:spLocks noRot="1" noChangeAspect="1" noMove="1" noResize="1" noEditPoints="1" noAdjustHandles="1" noChangeArrowheads="1" noChangeShapeType="1" noTextEdit="1"/>
              </p:cNvSpPr>
              <p:nvPr/>
            </p:nvSpPr>
            <p:spPr>
              <a:xfrm>
                <a:off x="2057400" y="3813412"/>
                <a:ext cx="8257182" cy="1230004"/>
              </a:xfrm>
              <a:prstGeom prst="rect">
                <a:avLst/>
              </a:prstGeom>
              <a:blipFill>
                <a:blip r:embed="rId2"/>
                <a:stretch>
                  <a:fillRect l="-1536" t="-6186" b="-4124"/>
                </a:stretch>
              </a:blipFill>
            </p:spPr>
            <p:txBody>
              <a:bodyPr/>
              <a:lstStyle/>
              <a:p>
                <a:r>
                  <a:rPr lang="en-US">
                    <a:noFill/>
                  </a:rPr>
                  <a:t> </a:t>
                </a:r>
              </a:p>
            </p:txBody>
          </p:sp>
        </mc:Fallback>
      </mc:AlternateContent>
      <p:grpSp>
        <p:nvGrpSpPr>
          <p:cNvPr id="3" name="Group 2" descr="We have two cases, the first case is when begin and end meet at a value that is less than the pivot. Because the pivot is at index 0, we can just swap the value at index begin with the pivot.">
            <a:extLst>
              <a:ext uri="{FF2B5EF4-FFF2-40B4-BE49-F238E27FC236}">
                <a16:creationId xmlns:a16="http://schemas.microsoft.com/office/drawing/2014/main" id="{75773105-19F6-A6BF-C8A8-032E238B4054}"/>
              </a:ext>
            </a:extLst>
          </p:cNvPr>
          <p:cNvGrpSpPr/>
          <p:nvPr/>
        </p:nvGrpSpPr>
        <p:grpSpPr>
          <a:xfrm>
            <a:off x="2639420" y="4947882"/>
            <a:ext cx="6403076" cy="919518"/>
            <a:chOff x="2639420" y="4947882"/>
            <a:chExt cx="6403076" cy="919518"/>
          </a:xfrm>
        </p:grpSpPr>
        <p:grpSp>
          <p:nvGrpSpPr>
            <p:cNvPr id="180" name="Group 179"/>
            <p:cNvGrpSpPr/>
            <p:nvPr/>
          </p:nvGrpSpPr>
          <p:grpSpPr>
            <a:xfrm>
              <a:off x="2639420" y="5334000"/>
              <a:ext cx="6403076" cy="533400"/>
              <a:chOff x="1445524" y="2895600"/>
              <a:chExt cx="6403076" cy="533400"/>
            </a:xfrm>
          </p:grpSpPr>
          <p:sp>
            <p:nvSpPr>
              <p:cNvPr id="181" name="Rectangle 180"/>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82" name="Rectangle 181"/>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3" name="Rectangle 182"/>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84" name="Rectangle 183"/>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85" name="Rectangle 184"/>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86" name="Rectangle 185"/>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87" name="Rectangle 186"/>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88" name="Rectangle 187"/>
              <p:cNvSpPr/>
              <p:nvPr/>
            </p:nvSpPr>
            <p:spPr>
              <a:xfrm>
                <a:off x="5180462"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89" name="Rectangle 188"/>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90" name="Rectangle 189"/>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91" name="Rectangle 190"/>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92" name="Rectangle 191"/>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93" name="Down Arrow 192"/>
            <p:cNvSpPr/>
            <p:nvPr/>
          </p:nvSpPr>
          <p:spPr>
            <a:xfrm>
              <a:off x="6416723" y="4947882"/>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Down Arrow 193"/>
            <p:cNvSpPr/>
            <p:nvPr/>
          </p:nvSpPr>
          <p:spPr>
            <a:xfrm>
              <a:off x="6542682" y="495300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FC84A329-8CC1-0907-C079-B42020DC0AB7}"/>
                  </a:ext>
                </a:extLst>
              </p14:cNvPr>
              <p14:cNvContentPartPr/>
              <p14:nvPr/>
            </p14:nvContentPartPr>
            <p14:xfrm>
              <a:off x="2811240" y="2305440"/>
              <a:ext cx="5186880" cy="1022760"/>
            </p14:xfrm>
          </p:contentPart>
        </mc:Choice>
        <mc:Fallback>
          <p:pic>
            <p:nvPicPr>
              <p:cNvPr id="4" name="Ink 3">
                <a:extLst>
                  <a:ext uri="{FF2B5EF4-FFF2-40B4-BE49-F238E27FC236}">
                    <a16:creationId xmlns:a16="http://schemas.microsoft.com/office/drawing/2014/main" id="{FC84A329-8CC1-0907-C079-B42020DC0AB7}"/>
                  </a:ext>
                </a:extLst>
              </p:cNvPr>
              <p:cNvPicPr/>
              <p:nvPr/>
            </p:nvPicPr>
            <p:blipFill>
              <a:blip r:embed="rId5"/>
              <a:stretch>
                <a:fillRect/>
              </a:stretch>
            </p:blipFill>
            <p:spPr>
              <a:xfrm>
                <a:off x="2801880" y="2296080"/>
                <a:ext cx="5205600" cy="1041480"/>
              </a:xfrm>
              <a:prstGeom prst="rect">
                <a:avLst/>
              </a:prstGeom>
            </p:spPr>
          </p:pic>
        </mc:Fallback>
      </mc:AlternateContent>
    </p:spTree>
    <p:extLst>
      <p:ext uri="{BB962C8B-B14F-4D97-AF65-F5344CB8AC3E}">
        <p14:creationId xmlns:p14="http://schemas.microsoft.com/office/powerpoint/2010/main" val="3196110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9"/>
                                        </p:tgtEl>
                                        <p:attrNameLst>
                                          <p:attrName>style.visibility</p:attrName>
                                        </p:attrNameLst>
                                      </p:cBhvr>
                                      <p:to>
                                        <p:strVal val="visible"/>
                                      </p:to>
                                    </p:set>
                                    <p:animEffect transition="in" filter="fade">
                                      <p:cBhvr>
                                        <p:cTn id="7" dur="500"/>
                                        <p:tgtEl>
                                          <p:spTgt spid="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DFDB077-B10F-EDCC-4F41-BD481BF34B6D}"/>
              </a:ext>
            </a:extLst>
          </p:cNvPr>
          <p:cNvSpPr>
            <a:spLocks noGrp="1"/>
          </p:cNvSpPr>
          <p:nvPr>
            <p:ph type="title"/>
          </p:nvPr>
        </p:nvSpPr>
        <p:spPr>
          <a:xfrm>
            <a:off x="379293" y="0"/>
            <a:ext cx="10515600" cy="1325563"/>
          </a:xfrm>
        </p:spPr>
        <p:txBody>
          <a:bodyPr/>
          <a:lstStyle/>
          <a:p>
            <a:r>
              <a:rPr lang="en-US" dirty="0"/>
              <a:t>Partition – Begin Meets End (Case 2)</a:t>
            </a:r>
          </a:p>
        </p:txBody>
      </p:sp>
      <mc:AlternateContent xmlns:mc="http://schemas.openxmlformats.org/markup-compatibility/2006" xmlns:a14="http://schemas.microsoft.com/office/drawing/2010/main">
        <mc:Choice Requires="a14">
          <p:sp>
            <p:nvSpPr>
              <p:cNvPr id="36" name="Content Placeholder 2"/>
              <p:cNvSpPr txBox="1">
                <a:spLocks/>
              </p:cNvSpPr>
              <p:nvPr/>
            </p:nvSpPr>
            <p:spPr>
              <a:xfrm>
                <a:off x="1827093" y="990600"/>
                <a:ext cx="7774109" cy="1572904"/>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a:t>
                </a:r>
                <a:r>
                  <a:rPr lang="en-US" dirty="0">
                    <a:solidFill>
                      <a:srgbClr val="FFC000"/>
                    </a:solidFill>
                  </a:rPr>
                  <a:t>Begin</a:t>
                </a:r>
                <a:r>
                  <a:rPr lang="en-US" dirty="0"/>
                  <a:t> value </a:t>
                </a:r>
                <a14:m>
                  <m:oMath xmlns:m="http://schemas.openxmlformats.org/officeDocument/2006/math">
                    <m:r>
                      <a:rPr lang="en-US" i="1" dirty="0">
                        <a:latin typeface="Cambria Math"/>
                      </a:rPr>
                      <m:t>&lt;</m:t>
                    </m:r>
                    <m:r>
                      <a:rPr lang="en-US" i="1" dirty="0">
                        <a:solidFill>
                          <a:srgbClr val="FF33CC"/>
                        </a:solidFill>
                        <a:latin typeface="Cambria Math"/>
                      </a:rPr>
                      <m: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0" indent="0">
                  <a:buNone/>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0" indent="0">
                  <a:buNone/>
                </a:pPr>
                <a:r>
                  <a:rPr lang="en-US" dirty="0"/>
                  <a:t>Done when </a:t>
                </a:r>
                <a:r>
                  <a:rPr lang="en-US" dirty="0">
                    <a:solidFill>
                      <a:srgbClr val="FFC000"/>
                    </a:solidFill>
                  </a:rPr>
                  <a:t>Begin</a:t>
                </a:r>
                <a:r>
                  <a:rPr lang="en-US" dirty="0"/>
                  <a:t> = </a:t>
                </a:r>
                <a:r>
                  <a:rPr lang="en-US" dirty="0">
                    <a:solidFill>
                      <a:srgbClr val="0070C0"/>
                    </a:solidFill>
                  </a:rPr>
                  <a:t>End</a:t>
                </a:r>
              </a:p>
            </p:txBody>
          </p:sp>
        </mc:Choice>
        <mc:Fallback xmlns="">
          <p:sp>
            <p:nvSpPr>
              <p:cNvPr id="36" name="Content Placeholder 2"/>
              <p:cNvSpPr txBox="1">
                <a:spLocks noRot="1" noChangeAspect="1" noMove="1" noResize="1" noEditPoints="1" noAdjustHandles="1" noChangeArrowheads="1" noChangeShapeType="1" noTextEdit="1"/>
              </p:cNvSpPr>
              <p:nvPr/>
            </p:nvSpPr>
            <p:spPr>
              <a:xfrm>
                <a:off x="1827093" y="990600"/>
                <a:ext cx="7774109" cy="1572904"/>
              </a:xfrm>
              <a:prstGeom prst="rect">
                <a:avLst/>
              </a:prstGeom>
              <a:blipFill>
                <a:blip r:embed="rId3"/>
                <a:stretch>
                  <a:fillRect l="-1634" t="-5600"/>
                </a:stretch>
              </a:blipFill>
            </p:spPr>
            <p:txBody>
              <a:bodyPr/>
              <a:lstStyle/>
              <a:p>
                <a:r>
                  <a:rPr lang="en-US">
                    <a:noFill/>
                  </a:rPr>
                  <a:t> </a:t>
                </a:r>
              </a:p>
            </p:txBody>
          </p:sp>
        </mc:Fallback>
      </mc:AlternateContent>
      <p:grpSp>
        <p:nvGrpSpPr>
          <p:cNvPr id="2" name="Group 1" descr="When begin and end meet at the same index we need to make sure the value that the pivot goes between begin and end, and that the value that the met at is on the correct side of the pivot.">
            <a:extLst>
              <a:ext uri="{FF2B5EF4-FFF2-40B4-BE49-F238E27FC236}">
                <a16:creationId xmlns:a16="http://schemas.microsoft.com/office/drawing/2014/main" id="{76F8D6F2-A5ED-2AFB-6265-8BF4FF369250}"/>
              </a:ext>
            </a:extLst>
          </p:cNvPr>
          <p:cNvGrpSpPr/>
          <p:nvPr/>
        </p:nvGrpSpPr>
        <p:grpSpPr>
          <a:xfrm>
            <a:off x="2649938" y="2438400"/>
            <a:ext cx="6403076" cy="919518"/>
            <a:chOff x="2649938" y="2438400"/>
            <a:chExt cx="6403076" cy="919518"/>
          </a:xfrm>
        </p:grpSpPr>
        <p:grpSp>
          <p:nvGrpSpPr>
            <p:cNvPr id="164" name="Group 163"/>
            <p:cNvGrpSpPr/>
            <p:nvPr/>
          </p:nvGrpSpPr>
          <p:grpSpPr>
            <a:xfrm>
              <a:off x="2649938" y="2824518"/>
              <a:ext cx="6403076" cy="533400"/>
              <a:chOff x="1445524" y="2895600"/>
              <a:chExt cx="6403076" cy="533400"/>
            </a:xfrm>
          </p:grpSpPr>
          <p:sp>
            <p:nvSpPr>
              <p:cNvPr id="165" name="Rectangle 164"/>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66" name="Rectangle 165"/>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67" name="Rectangle 166"/>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68" name="Rectangle 167"/>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69" name="Rectangle 168"/>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70" name="Rectangle 169"/>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71" name="Rectangle 170"/>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2" name="Rectangle 171"/>
              <p:cNvSpPr/>
              <p:nvPr/>
            </p:nvSpPr>
            <p:spPr>
              <a:xfrm>
                <a:off x="51804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73" name="Rectangle 172"/>
              <p:cNvSpPr/>
              <p:nvPr/>
            </p:nvSpPr>
            <p:spPr>
              <a:xfrm>
                <a:off x="57144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74" name="Rectangle 173"/>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75" name="Rectangle 174"/>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6" name="Rectangle 175"/>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77" name="Down Arrow 176"/>
            <p:cNvSpPr/>
            <p:nvPr/>
          </p:nvSpPr>
          <p:spPr>
            <a:xfrm>
              <a:off x="6926236" y="2438400"/>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Down Arrow 177"/>
            <p:cNvSpPr/>
            <p:nvPr/>
          </p:nvSpPr>
          <p:spPr>
            <a:xfrm>
              <a:off x="7052195" y="2443518"/>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79" name="Content Placeholder 2"/>
              <p:cNvSpPr txBox="1">
                <a:spLocks/>
              </p:cNvSpPr>
              <p:nvPr/>
            </p:nvSpPr>
            <p:spPr>
              <a:xfrm>
                <a:off x="2057400" y="3810000"/>
                <a:ext cx="8257182" cy="1230004"/>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Case 2: meet at element </a:t>
                </a:r>
                <a14:m>
                  <m:oMath xmlns:m="http://schemas.openxmlformats.org/officeDocument/2006/math">
                    <m:r>
                      <a:rPr lang="en-US" i="1" dirty="0">
                        <a:solidFill>
                          <a:srgbClr val="0070C0"/>
                        </a:solidFill>
                        <a:latin typeface="Cambria Math"/>
                      </a:rPr>
                      <m:t>&gt;</m:t>
                    </m:r>
                    <m:r>
                      <a:rPr lang="en-US" i="1" dirty="0">
                        <a:solidFill>
                          <a:srgbClr val="0070C0"/>
                        </a:solidFill>
                        <a:latin typeface="Cambria Math"/>
                      </a:rPr>
                      <m:t>𝑝</m:t>
                    </m:r>
                  </m:oMath>
                </a14:m>
                <a:endParaRPr lang="en-US" dirty="0">
                  <a:solidFill>
                    <a:srgbClr val="0070C0"/>
                  </a:solidFill>
                </a:endParaRPr>
              </a:p>
              <a:p>
                <a:pPr marL="0" indent="0">
                  <a:buNone/>
                </a:pPr>
                <a:r>
                  <a:rPr lang="en-US" dirty="0">
                    <a:solidFill>
                      <a:srgbClr val="0070C0"/>
                    </a:solidFill>
                  </a:rPr>
                  <a:t>	</a:t>
                </a:r>
                <a:r>
                  <a:rPr lang="en-US" dirty="0"/>
                  <a:t>Swap </a:t>
                </a:r>
                <a14:m>
                  <m:oMath xmlns:m="http://schemas.openxmlformats.org/officeDocument/2006/math">
                    <m:r>
                      <a:rPr lang="en-US" i="1" dirty="0">
                        <a:solidFill>
                          <a:srgbClr val="FF33CC"/>
                        </a:solidFill>
                        <a:latin typeface="Cambria Math"/>
                      </a:rPr>
                      <m:t>𝑝</m:t>
                    </m:r>
                  </m:oMath>
                </a14:m>
                <a:r>
                  <a:rPr lang="en-US" dirty="0"/>
                  <a:t> with </a:t>
                </a:r>
                <a:r>
                  <a:rPr lang="en-US" dirty="0">
                    <a:solidFill>
                      <a:srgbClr val="FFC000"/>
                    </a:solidFill>
                  </a:rPr>
                  <a:t>value to the left </a:t>
                </a:r>
                <a:r>
                  <a:rPr lang="en-US" dirty="0"/>
                  <a:t>(2 in this case)</a:t>
                </a:r>
              </a:p>
            </p:txBody>
          </p:sp>
        </mc:Choice>
        <mc:Fallback xmlns="">
          <p:sp>
            <p:nvSpPr>
              <p:cNvPr id="179" name="Content Placeholder 2"/>
              <p:cNvSpPr txBox="1">
                <a:spLocks noRot="1" noChangeAspect="1" noMove="1" noResize="1" noEditPoints="1" noAdjustHandles="1" noChangeArrowheads="1" noChangeShapeType="1" noTextEdit="1"/>
              </p:cNvSpPr>
              <p:nvPr/>
            </p:nvSpPr>
            <p:spPr>
              <a:xfrm>
                <a:off x="2057400" y="3810000"/>
                <a:ext cx="8257182" cy="1230004"/>
              </a:xfrm>
              <a:prstGeom prst="rect">
                <a:avLst/>
              </a:prstGeom>
              <a:blipFill>
                <a:blip r:embed="rId4"/>
                <a:stretch>
                  <a:fillRect l="-1773" t="-5941" b="-4950"/>
                </a:stretch>
              </a:blipFill>
            </p:spPr>
            <p:txBody>
              <a:bodyPr/>
              <a:lstStyle/>
              <a:p>
                <a:r>
                  <a:rPr lang="en-US">
                    <a:noFill/>
                  </a:rPr>
                  <a:t> </a:t>
                </a:r>
              </a:p>
            </p:txBody>
          </p:sp>
        </mc:Fallback>
      </mc:AlternateContent>
      <p:grpSp>
        <p:nvGrpSpPr>
          <p:cNvPr id="3" name="Group 2" descr="The second case is when begin and end meet at a value that is greater than the pivot. Because the pivot is at index 0, we can just swap the value at index begin-1 with the pivot.">
            <a:extLst>
              <a:ext uri="{FF2B5EF4-FFF2-40B4-BE49-F238E27FC236}">
                <a16:creationId xmlns:a16="http://schemas.microsoft.com/office/drawing/2014/main" id="{F2327318-50EB-1436-48FA-5E67A9F3019C}"/>
              </a:ext>
            </a:extLst>
          </p:cNvPr>
          <p:cNvGrpSpPr/>
          <p:nvPr/>
        </p:nvGrpSpPr>
        <p:grpSpPr>
          <a:xfrm>
            <a:off x="2639420" y="4944470"/>
            <a:ext cx="6403076" cy="919518"/>
            <a:chOff x="2639420" y="4944470"/>
            <a:chExt cx="6403076" cy="919518"/>
          </a:xfrm>
        </p:grpSpPr>
        <p:grpSp>
          <p:nvGrpSpPr>
            <p:cNvPr id="180" name="Group 179" descr="We have two cases, the first case is when begin and end meet at a value that is less than the pivot. Because the pivot is at index 0, we can just swap the value at index begin with the pivot."/>
            <p:cNvGrpSpPr/>
            <p:nvPr/>
          </p:nvGrpSpPr>
          <p:grpSpPr>
            <a:xfrm>
              <a:off x="2639420" y="5330588"/>
              <a:ext cx="6403076" cy="533400"/>
              <a:chOff x="1445524" y="2895600"/>
              <a:chExt cx="6403076" cy="533400"/>
            </a:xfrm>
          </p:grpSpPr>
          <p:sp>
            <p:nvSpPr>
              <p:cNvPr id="181" name="Rectangle 180"/>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82" name="Rectangle 181"/>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3" name="Rectangle 182"/>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84" name="Rectangle 183"/>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85" name="Rectangle 184"/>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86" name="Rectangle 185"/>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87" name="Rectangle 186"/>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88" name="Rectangle 187"/>
              <p:cNvSpPr/>
              <p:nvPr/>
            </p:nvSpPr>
            <p:spPr>
              <a:xfrm>
                <a:off x="5180462"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89" name="Rectangle 188"/>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90" name="Rectangle 189"/>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91" name="Rectangle 190"/>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92" name="Rectangle 191"/>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93" name="Down Arrow 192"/>
            <p:cNvSpPr/>
            <p:nvPr/>
          </p:nvSpPr>
          <p:spPr>
            <a:xfrm>
              <a:off x="6915718" y="4944470"/>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Down Arrow 193"/>
            <p:cNvSpPr/>
            <p:nvPr/>
          </p:nvSpPr>
          <p:spPr>
            <a:xfrm>
              <a:off x="7041677" y="4949588"/>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mc:Choice xmlns:p14="http://schemas.microsoft.com/office/powerpoint/2010/main" Requires="p14">
          <p:contentPart p14:bwMode="auto" r:id="rId5">
            <p14:nvContentPartPr>
              <p14:cNvPr id="4" name="Ink 3">
                <a:extLst>
                  <a:ext uri="{FF2B5EF4-FFF2-40B4-BE49-F238E27FC236}">
                    <a16:creationId xmlns:a16="http://schemas.microsoft.com/office/drawing/2014/main" id="{CFDEE677-49A2-2A8E-35A8-C8EA49A872AF}"/>
                  </a:ext>
                </a:extLst>
              </p14:cNvPr>
              <p14:cNvContentPartPr/>
              <p14:nvPr/>
            </p14:nvContentPartPr>
            <p14:xfrm>
              <a:off x="1695960" y="3278880"/>
              <a:ext cx="5761440" cy="2220120"/>
            </p14:xfrm>
          </p:contentPart>
        </mc:Choice>
        <mc:Fallback>
          <p:pic>
            <p:nvPicPr>
              <p:cNvPr id="4" name="Ink 3">
                <a:extLst>
                  <a:ext uri="{FF2B5EF4-FFF2-40B4-BE49-F238E27FC236}">
                    <a16:creationId xmlns:a16="http://schemas.microsoft.com/office/drawing/2014/main" id="{CFDEE677-49A2-2A8E-35A8-C8EA49A872AF}"/>
                  </a:ext>
                </a:extLst>
              </p:cNvPr>
              <p:cNvPicPr/>
              <p:nvPr/>
            </p:nvPicPr>
            <p:blipFill>
              <a:blip r:embed="rId6"/>
              <a:stretch>
                <a:fillRect/>
              </a:stretch>
            </p:blipFill>
            <p:spPr>
              <a:xfrm>
                <a:off x="1686600" y="3269520"/>
                <a:ext cx="5780160" cy="2238840"/>
              </a:xfrm>
              <a:prstGeom prst="rect">
                <a:avLst/>
              </a:prstGeom>
            </p:spPr>
          </p:pic>
        </mc:Fallback>
      </mc:AlternateContent>
    </p:spTree>
    <p:extLst>
      <p:ext uri="{BB962C8B-B14F-4D97-AF65-F5344CB8AC3E}">
        <p14:creationId xmlns:p14="http://schemas.microsoft.com/office/powerpoint/2010/main" val="3969643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9"/>
                                        </p:tgtEl>
                                        <p:attrNameLst>
                                          <p:attrName>style.visibility</p:attrName>
                                        </p:attrNameLst>
                                      </p:cBhvr>
                                      <p:to>
                                        <p:strVal val="visible"/>
                                      </p:to>
                                    </p:set>
                                    <p:animEffect transition="in" filter="fade">
                                      <p:cBhvr>
                                        <p:cTn id="7" dur="500"/>
                                        <p:tgtEl>
                                          <p:spTgt spid="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Partition Summary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514350" indent="-514350">
                  <a:buFont typeface="+mj-lt"/>
                  <a:buAutoNum type="arabicPeriod"/>
                </a:pPr>
                <a:r>
                  <a:rPr lang="en-US" dirty="0"/>
                  <a:t>Put </a:t>
                </a:r>
                <a14:m>
                  <m:oMath xmlns:m="http://schemas.openxmlformats.org/officeDocument/2006/math">
                    <m:r>
                      <a:rPr lang="en-US" b="0" i="1" smtClean="0">
                        <a:solidFill>
                          <a:srgbClr val="FF33CC"/>
                        </a:solidFill>
                        <a:latin typeface="Cambria Math"/>
                      </a:rPr>
                      <m:t>𝑝</m:t>
                    </m:r>
                  </m:oMath>
                </a14:m>
                <a:r>
                  <a:rPr lang="en-US" dirty="0">
                    <a:solidFill>
                      <a:srgbClr val="FF33CC"/>
                    </a:solidFill>
                  </a:rPr>
                  <a:t> </a:t>
                </a:r>
                <a:r>
                  <a:rPr lang="en-US" dirty="0"/>
                  <a:t>at beginning of list</a:t>
                </a:r>
              </a:p>
              <a:p>
                <a:pPr marL="514350" indent="-514350">
                  <a:buFont typeface="+mj-lt"/>
                  <a:buAutoNum type="arabicPeriod"/>
                </a:pPr>
                <a:r>
                  <a:rPr lang="en-US" dirty="0"/>
                  <a:t>Put a pointer (</a:t>
                </a:r>
                <a:r>
                  <a:rPr lang="en-US" dirty="0">
                    <a:solidFill>
                      <a:srgbClr val="FFC000"/>
                    </a:solidFill>
                  </a:rPr>
                  <a:t>Begin</a:t>
                </a:r>
                <a:r>
                  <a:rPr lang="en-US" dirty="0"/>
                  <a:t>) just after </a:t>
                </a:r>
                <a14:m>
                  <m:oMath xmlns:m="http://schemas.openxmlformats.org/officeDocument/2006/math">
                    <m:r>
                      <a:rPr lang="en-US" b="0" i="1" smtClean="0">
                        <a:solidFill>
                          <a:srgbClr val="FF33CC"/>
                        </a:solidFill>
                        <a:latin typeface="Cambria Math"/>
                      </a:rPr>
                      <m:t>𝑝</m:t>
                    </m:r>
                  </m:oMath>
                </a14:m>
                <a:r>
                  <a:rPr lang="en-US" dirty="0"/>
                  <a:t>, and a pointer (</a:t>
                </a:r>
                <a:r>
                  <a:rPr lang="en-US" dirty="0">
                    <a:solidFill>
                      <a:srgbClr val="0070C0"/>
                    </a:solidFill>
                  </a:rPr>
                  <a:t>End</a:t>
                </a:r>
                <a:r>
                  <a:rPr lang="en-US" dirty="0"/>
                  <a:t>) at the end of the list</a:t>
                </a:r>
              </a:p>
              <a:p>
                <a:pPr marL="514350" indent="-514350">
                  <a:buFont typeface="+mj-lt"/>
                  <a:buAutoNum type="arabicPeriod"/>
                </a:pPr>
                <a:r>
                  <a:rPr lang="en-US" dirty="0"/>
                  <a:t>While </a:t>
                </a:r>
                <a:r>
                  <a:rPr lang="en-US" dirty="0">
                    <a:solidFill>
                      <a:srgbClr val="FFC000"/>
                    </a:solidFill>
                  </a:rPr>
                  <a:t>Begin </a:t>
                </a:r>
                <a:r>
                  <a:rPr lang="en-US" dirty="0"/>
                  <a:t>&lt; </a:t>
                </a:r>
                <a:r>
                  <a:rPr lang="en-US" dirty="0">
                    <a:solidFill>
                      <a:srgbClr val="0070C0"/>
                    </a:solidFill>
                  </a:rPr>
                  <a:t>End:</a:t>
                </a:r>
              </a:p>
              <a:p>
                <a:pPr marL="914400" lvl="1" indent="-514350">
                  <a:buFont typeface="+mj-lt"/>
                  <a:buAutoNum type="arabicPeriod"/>
                </a:pPr>
                <a:r>
                  <a:rPr lang="en-US" dirty="0"/>
                  <a:t>If </a:t>
                </a:r>
                <a:r>
                  <a:rPr lang="en-US" dirty="0">
                    <a:solidFill>
                      <a:srgbClr val="FFC000"/>
                    </a:solidFill>
                  </a:rPr>
                  <a:t>Begin</a:t>
                </a:r>
                <a:r>
                  <a:rPr lang="en-US" dirty="0"/>
                  <a:t> value </a:t>
                </a:r>
                <a14:m>
                  <m:oMath xmlns:m="http://schemas.openxmlformats.org/officeDocument/2006/math">
                    <m:r>
                      <a:rPr lang="en-US" i="1" dirty="0">
                        <a:solidFill>
                          <a:srgbClr val="FF33CC"/>
                        </a:solidFill>
                        <a:latin typeface="Cambria Math"/>
                      </a:rPr>
                      <m:t>&lt;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914400" lvl="1" indent="-514350">
                  <a:buFont typeface="+mj-lt"/>
                  <a:buAutoNum type="arabicPeriod"/>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514350" indent="-514350">
                  <a:buFont typeface="+mj-lt"/>
                  <a:buAutoNum type="arabicPeriod"/>
                </a:pPr>
                <a:r>
                  <a:rPr lang="en-US" dirty="0"/>
                  <a:t>If pointers meet at element </a:t>
                </a:r>
                <a14:m>
                  <m:oMath xmlns:m="http://schemas.openxmlformats.org/officeDocument/2006/math">
                    <m:r>
                      <a:rPr lang="en-US" dirty="0">
                        <a:solidFill>
                          <a:srgbClr val="FFC000"/>
                        </a:solidFill>
                        <a:latin typeface="Cambria Math"/>
                      </a:rPr>
                      <m:t>&lt;</m:t>
                    </m:r>
                    <m:r>
                      <a:rPr lang="en-US" i="1" dirty="0">
                        <a:solidFill>
                          <a:srgbClr val="FFC000"/>
                        </a:solidFill>
                        <a:latin typeface="Cambria Math"/>
                      </a:rPr>
                      <m:t>𝑝</m:t>
                    </m:r>
                  </m:oMath>
                </a14:m>
                <a:r>
                  <a:rPr lang="en-US" dirty="0"/>
                  <a:t>: Swap </a:t>
                </a:r>
                <a14:m>
                  <m:oMath xmlns:m="http://schemas.openxmlformats.org/officeDocument/2006/math">
                    <m:r>
                      <a:rPr lang="en-US" i="1" dirty="0" smtClean="0">
                        <a:solidFill>
                          <a:srgbClr val="FF33CC"/>
                        </a:solidFill>
                        <a:latin typeface="Cambria Math"/>
                      </a:rPr>
                      <m:t>𝑝</m:t>
                    </m:r>
                  </m:oMath>
                </a14:m>
                <a:r>
                  <a:rPr lang="en-US" dirty="0"/>
                  <a:t> with </a:t>
                </a:r>
                <a:r>
                  <a:rPr lang="en-US" dirty="0">
                    <a:solidFill>
                      <a:srgbClr val="FFC000"/>
                    </a:solidFill>
                  </a:rPr>
                  <a:t>pointer position</a:t>
                </a:r>
              </a:p>
              <a:p>
                <a:pPr marL="514350" indent="-514350">
                  <a:buFont typeface="+mj-lt"/>
                  <a:buAutoNum type="arabicPeriod"/>
                </a:pPr>
                <a:r>
                  <a:rPr lang="en-US" dirty="0"/>
                  <a:t>Else If pointers meet at element </a:t>
                </a:r>
                <a14:m>
                  <m:oMath xmlns:m="http://schemas.openxmlformats.org/officeDocument/2006/math">
                    <m:r>
                      <a:rPr lang="en-US" i="1" dirty="0">
                        <a:solidFill>
                          <a:srgbClr val="0070C0"/>
                        </a:solidFill>
                        <a:latin typeface="Cambria Math"/>
                      </a:rPr>
                      <m:t>&gt;</m:t>
                    </m:r>
                    <m:r>
                      <a:rPr lang="en-US" i="1" dirty="0">
                        <a:solidFill>
                          <a:srgbClr val="0070C0"/>
                        </a:solidFill>
                        <a:latin typeface="Cambria Math"/>
                      </a:rPr>
                      <m:t>𝑝</m:t>
                    </m:r>
                  </m:oMath>
                </a14:m>
                <a:r>
                  <a:rPr lang="en-US" dirty="0">
                    <a:solidFill>
                      <a:srgbClr val="0070C0"/>
                    </a:solidFill>
                  </a:rPr>
                  <a:t>: </a:t>
                </a:r>
                <a:r>
                  <a:rPr lang="en-US" dirty="0"/>
                  <a:t>Swap </a:t>
                </a:r>
                <a14:m>
                  <m:oMath xmlns:m="http://schemas.openxmlformats.org/officeDocument/2006/math">
                    <m:r>
                      <a:rPr lang="en-US" i="1" dirty="0" smtClean="0">
                        <a:solidFill>
                          <a:srgbClr val="FF33CC"/>
                        </a:solidFill>
                        <a:latin typeface="Cambria Math"/>
                      </a:rPr>
                      <m:t>𝑝</m:t>
                    </m:r>
                  </m:oMath>
                </a14:m>
                <a:r>
                  <a:rPr lang="en-US" dirty="0"/>
                  <a:t> with </a:t>
                </a:r>
                <a:r>
                  <a:rPr lang="en-US" dirty="0">
                    <a:solidFill>
                      <a:srgbClr val="FFC000"/>
                    </a:solidFill>
                  </a:rPr>
                  <a:t>value to the left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US">
                    <a:noFill/>
                  </a:rPr>
                  <a:t> </a:t>
                </a:r>
              </a:p>
            </p:txBody>
          </p:sp>
        </mc:Fallback>
      </mc:AlternateContent>
      <p:sp>
        <p:nvSpPr>
          <p:cNvPr id="5" name="TextBox 4"/>
          <p:cNvSpPr txBox="1"/>
          <p:nvPr/>
        </p:nvSpPr>
        <p:spPr>
          <a:xfrm>
            <a:off x="8153400" y="6015693"/>
            <a:ext cx="1673856" cy="523220"/>
          </a:xfrm>
          <a:prstGeom prst="rect">
            <a:avLst/>
          </a:prstGeom>
          <a:noFill/>
        </p:spPr>
        <p:txBody>
          <a:bodyPr wrap="none" rtlCol="0">
            <a:spAutoFit/>
          </a:bodyPr>
          <a:lstStyle/>
          <a:p>
            <a:r>
              <a:rPr lang="en-US" sz="2800" dirty="0">
                <a:solidFill>
                  <a:srgbClr val="FF0000"/>
                </a:solidFill>
              </a:rPr>
              <a:t>Run time?</a:t>
            </a:r>
          </a:p>
        </p:txBody>
      </p:sp>
      <mc:AlternateContent xmlns:mc="http://schemas.openxmlformats.org/markup-compatibility/2006" xmlns:a14="http://schemas.microsoft.com/office/drawing/2010/main">
        <mc:Choice Requires="a14">
          <p:sp>
            <p:nvSpPr>
              <p:cNvPr id="6" name="TextBox 5"/>
              <p:cNvSpPr txBox="1"/>
              <p:nvPr/>
            </p:nvSpPr>
            <p:spPr>
              <a:xfrm>
                <a:off x="9982200" y="6015693"/>
                <a:ext cx="102835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𝑂</m:t>
                      </m:r>
                      <m:r>
                        <a:rPr lang="en-US" sz="2800" i="1" dirty="0">
                          <a:solidFill>
                            <a:srgbClr val="FF0000"/>
                          </a:solidFill>
                          <a:latin typeface="Cambria Math"/>
                        </a:rPr>
                        <m:t>(</m:t>
                      </m:r>
                      <m:r>
                        <a:rPr lang="en-US" sz="2800" i="1" dirty="0">
                          <a:solidFill>
                            <a:srgbClr val="FF0000"/>
                          </a:solidFill>
                          <a:latin typeface="Cambria Math"/>
                        </a:rPr>
                        <m:t>𝑛</m:t>
                      </m:r>
                      <m:r>
                        <a:rPr lang="en-US" sz="2800" i="1" dirty="0">
                          <a:solidFill>
                            <a:srgbClr val="FF0000"/>
                          </a:solidFill>
                          <a:latin typeface="Cambria Math"/>
                        </a:rPr>
                        <m:t>)</m:t>
                      </m:r>
                    </m:oMath>
                  </m:oMathPara>
                </a14:m>
                <a:endParaRPr lang="en-US" sz="2800" dirty="0">
                  <a:solidFill>
                    <a:srgbClr val="FF0000"/>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9982200" y="6015693"/>
                <a:ext cx="1028358" cy="523220"/>
              </a:xfrm>
              <a:prstGeom prst="rect">
                <a:avLst/>
              </a:prstGeom>
              <a:blipFill>
                <a:blip r:embed="rId3"/>
                <a:stretch>
                  <a:fillRect r="-2439" b="-16667"/>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03A4894A-D444-B81A-DB70-BA533DDD16DC}"/>
                  </a:ext>
                </a:extLst>
              </p14:cNvPr>
              <p14:cNvContentPartPr/>
              <p14:nvPr/>
            </p14:nvContentPartPr>
            <p14:xfrm>
              <a:off x="362520" y="1662480"/>
              <a:ext cx="931320" cy="3597840"/>
            </p14:xfrm>
          </p:contentPart>
        </mc:Choice>
        <mc:Fallback>
          <p:pic>
            <p:nvPicPr>
              <p:cNvPr id="4" name="Ink 3">
                <a:extLst>
                  <a:ext uri="{FF2B5EF4-FFF2-40B4-BE49-F238E27FC236}">
                    <a16:creationId xmlns:a16="http://schemas.microsoft.com/office/drawing/2014/main" id="{03A4894A-D444-B81A-DB70-BA533DDD16DC}"/>
                  </a:ext>
                </a:extLst>
              </p:cNvPr>
              <p:cNvPicPr/>
              <p:nvPr/>
            </p:nvPicPr>
            <p:blipFill>
              <a:blip r:embed="rId5"/>
              <a:stretch>
                <a:fillRect/>
              </a:stretch>
            </p:blipFill>
            <p:spPr>
              <a:xfrm>
                <a:off x="353160" y="1653120"/>
                <a:ext cx="950040" cy="3616560"/>
              </a:xfrm>
              <a:prstGeom prst="rect">
                <a:avLst/>
              </a:prstGeom>
            </p:spPr>
          </p:pic>
        </mc:Fallback>
      </mc:AlternateContent>
    </p:spTree>
    <p:extLst>
      <p:ext uri="{BB962C8B-B14F-4D97-AF65-F5344CB8AC3E}">
        <p14:creationId xmlns:p14="http://schemas.microsoft.com/office/powerpoint/2010/main" val="1973499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Conquer</a:t>
            </a:r>
          </a:p>
        </p:txBody>
      </p:sp>
      <p:sp>
        <p:nvSpPr>
          <p:cNvPr id="25" name="Content Placeholder 2"/>
          <p:cNvSpPr>
            <a:spLocks noGrp="1"/>
          </p:cNvSpPr>
          <p:nvPr>
            <p:ph idx="1"/>
          </p:nvPr>
        </p:nvSpPr>
        <p:spPr>
          <a:xfrm>
            <a:off x="2514600" y="5229710"/>
            <a:ext cx="8229600" cy="685800"/>
          </a:xfrm>
        </p:spPr>
        <p:txBody>
          <a:bodyPr>
            <a:normAutofit/>
          </a:bodyPr>
          <a:lstStyle/>
          <a:p>
            <a:pPr marL="0" indent="0">
              <a:buNone/>
            </a:pPr>
            <a:r>
              <a:rPr lang="en-US" dirty="0"/>
              <a:t>Recursively sort </a:t>
            </a:r>
            <a:r>
              <a:rPr lang="en-US" dirty="0">
                <a:solidFill>
                  <a:srgbClr val="FFC000"/>
                </a:solidFill>
              </a:rPr>
              <a:t>Left</a:t>
            </a:r>
            <a:r>
              <a:rPr lang="en-US" dirty="0"/>
              <a:t> and </a:t>
            </a:r>
            <a:r>
              <a:rPr lang="en-US" dirty="0">
                <a:solidFill>
                  <a:srgbClr val="0070C0"/>
                </a:solidFill>
              </a:rPr>
              <a:t>Right</a:t>
            </a:r>
            <a:r>
              <a:rPr lang="en-US" dirty="0"/>
              <a:t> </a:t>
            </a:r>
            <a:r>
              <a:rPr lang="en-US" dirty="0" err="1"/>
              <a:t>sublists</a:t>
            </a:r>
            <a:endParaRPr lang="en-US" dirty="0"/>
          </a:p>
        </p:txBody>
      </p:sp>
      <p:grpSp>
        <p:nvGrpSpPr>
          <p:cNvPr id="3" name="Group 2" descr="After partitioning, all elements less than the pivot are to the left, all elements greater than the pivot are to the right, and the pivot is at exactly the index it belongs in for sorting the list.">
            <a:extLst>
              <a:ext uri="{FF2B5EF4-FFF2-40B4-BE49-F238E27FC236}">
                <a16:creationId xmlns:a16="http://schemas.microsoft.com/office/drawing/2014/main" id="{4546323E-26FD-AF3B-B0FC-5EF3A7E60A73}"/>
              </a:ext>
            </a:extLst>
          </p:cNvPr>
          <p:cNvGrpSpPr/>
          <p:nvPr/>
        </p:nvGrpSpPr>
        <p:grpSpPr>
          <a:xfrm>
            <a:off x="2604909" y="1447800"/>
            <a:ext cx="6924151" cy="2339510"/>
            <a:chOff x="2604909" y="1447800"/>
            <a:chExt cx="6924151" cy="2339510"/>
          </a:xfrm>
        </p:grpSpPr>
        <p:grpSp>
          <p:nvGrpSpPr>
            <p:cNvPr id="5" name="Group 4"/>
            <p:cNvGrpSpPr/>
            <p:nvPr/>
          </p:nvGrpSpPr>
          <p:grpSpPr>
            <a:xfrm>
              <a:off x="2604910" y="1447800"/>
              <a:ext cx="6403076" cy="533400"/>
              <a:chOff x="1445524" y="2895600"/>
              <a:chExt cx="6403076" cy="533400"/>
            </a:xfrm>
          </p:grpSpPr>
          <p:sp>
            <p:nvSpPr>
              <p:cNvPr id="6" name="Rectangle 5"/>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Rectangle 6"/>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 name="Rectangle 8"/>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 name="Rectangle 10"/>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3" name="Rectangle 12"/>
              <p:cNvSpPr/>
              <p:nvPr/>
            </p:nvSpPr>
            <p:spPr>
              <a:xfrm>
                <a:off x="5180462"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4" name="Rectangle 13"/>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5" name="Rectangle 14"/>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6" name="Rectangle 15"/>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 name="Rectangle 16"/>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8" name="Right Brace 17"/>
            <p:cNvSpPr/>
            <p:nvPr/>
          </p:nvSpPr>
          <p:spPr>
            <a:xfrm rot="5400000">
              <a:off x="4246480" y="339634"/>
              <a:ext cx="451798" cy="3734939"/>
            </a:xfrm>
            <a:prstGeom prst="rightBrace">
              <a:avLst/>
            </a:prstGeom>
            <a:ln w="381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9" name="TextBox 18"/>
                <p:cNvSpPr txBox="1"/>
                <p:nvPr/>
              </p:nvSpPr>
              <p:spPr>
                <a:xfrm>
                  <a:off x="3176618" y="2433000"/>
                  <a:ext cx="2643481" cy="523220"/>
                </a:xfrm>
                <a:prstGeom prst="rect">
                  <a:avLst/>
                </a:prstGeom>
                <a:noFill/>
              </p:spPr>
              <p:txBody>
                <a:bodyPr wrap="none" rtlCol="0">
                  <a:spAutoFit/>
                </a:bodyPr>
                <a:lstStyle/>
                <a:p>
                  <a:r>
                    <a:rPr lang="en-US" sz="2800" dirty="0"/>
                    <a:t>All elements </a:t>
                  </a:r>
                  <a14:m>
                    <m:oMath xmlns:m="http://schemas.openxmlformats.org/officeDocument/2006/math">
                      <m:r>
                        <a:rPr lang="en-US" sz="2800" i="1" dirty="0">
                          <a:latin typeface="Cambria Math"/>
                        </a:rPr>
                        <m:t>&lt;</m:t>
                      </m:r>
                      <m:r>
                        <a:rPr lang="en-US" sz="2800" i="1" dirty="0">
                          <a:latin typeface="Cambria Math"/>
                        </a:rPr>
                        <m:t>𝑝</m:t>
                      </m:r>
                    </m:oMath>
                  </a14:m>
                  <a:endParaRPr lang="en-US" sz="2800" dirty="0"/>
                </a:p>
              </p:txBody>
            </p:sp>
          </mc:Choice>
          <mc:Fallback xmlns="">
            <p:sp>
              <p:nvSpPr>
                <p:cNvPr id="19" name="TextBox 18"/>
                <p:cNvSpPr txBox="1">
                  <a:spLocks noRot="1" noChangeAspect="1" noMove="1" noResize="1" noEditPoints="1" noAdjustHandles="1" noChangeArrowheads="1" noChangeShapeType="1" noTextEdit="1"/>
                </p:cNvSpPr>
                <p:nvPr/>
              </p:nvSpPr>
              <p:spPr>
                <a:xfrm>
                  <a:off x="3176618" y="2433000"/>
                  <a:ext cx="2643481" cy="523220"/>
                </a:xfrm>
                <a:prstGeom prst="rect">
                  <a:avLst/>
                </a:prstGeom>
                <a:blipFill>
                  <a:blip r:embed="rId2"/>
                  <a:stretch>
                    <a:fillRect l="-4608" t="-10465" b="-32558"/>
                  </a:stretch>
                </a:blipFill>
              </p:spPr>
              <p:txBody>
                <a:bodyPr/>
                <a:lstStyle/>
                <a:p>
                  <a:r>
                    <a:rPr lang="en-US">
                      <a:noFill/>
                    </a:rPr>
                    <a:t> </a:t>
                  </a:r>
                </a:p>
              </p:txBody>
            </p:sp>
          </mc:Fallback>
        </mc:AlternateContent>
        <p:sp>
          <p:nvSpPr>
            <p:cNvPr id="20" name="Right Brace 19"/>
            <p:cNvSpPr/>
            <p:nvPr/>
          </p:nvSpPr>
          <p:spPr>
            <a:xfrm rot="5400000">
              <a:off x="7720885" y="1145894"/>
              <a:ext cx="451797" cy="2122410"/>
            </a:xfrm>
            <a:prstGeom prst="rightBrace">
              <a:avLst/>
            </a:prstGeom>
            <a:ln w="381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1" name="TextBox 20"/>
                <p:cNvSpPr txBox="1"/>
                <p:nvPr/>
              </p:nvSpPr>
              <p:spPr>
                <a:xfrm>
                  <a:off x="6885579" y="2354868"/>
                  <a:ext cx="2643481" cy="523220"/>
                </a:xfrm>
                <a:prstGeom prst="rect">
                  <a:avLst/>
                </a:prstGeom>
                <a:noFill/>
              </p:spPr>
              <p:txBody>
                <a:bodyPr wrap="none" rtlCol="0">
                  <a:spAutoFit/>
                </a:bodyPr>
                <a:lstStyle/>
                <a:p>
                  <a:r>
                    <a:rPr lang="en-US" sz="2800" dirty="0"/>
                    <a:t>All elements </a:t>
                  </a:r>
                  <a14:m>
                    <m:oMath xmlns:m="http://schemas.openxmlformats.org/officeDocument/2006/math">
                      <m:r>
                        <a:rPr lang="en-US" sz="2800" dirty="0">
                          <a:latin typeface="Cambria Math"/>
                        </a:rPr>
                        <m:t>&gt;</m:t>
                      </m:r>
                      <m:r>
                        <a:rPr lang="en-US" sz="2800" i="1" dirty="0">
                          <a:latin typeface="Cambria Math"/>
                        </a:rPr>
                        <m:t>𝑝</m:t>
                      </m:r>
                    </m:oMath>
                  </a14:m>
                  <a:endParaRPr lang="en-US" sz="2800" dirty="0"/>
                </a:p>
              </p:txBody>
            </p:sp>
          </mc:Choice>
          <mc:Fallback xmlns="">
            <p:sp>
              <p:nvSpPr>
                <p:cNvPr id="21" name="TextBox 20"/>
                <p:cNvSpPr txBox="1">
                  <a:spLocks noRot="1" noChangeAspect="1" noMove="1" noResize="1" noEditPoints="1" noAdjustHandles="1" noChangeArrowheads="1" noChangeShapeType="1" noTextEdit="1"/>
                </p:cNvSpPr>
                <p:nvPr/>
              </p:nvSpPr>
              <p:spPr>
                <a:xfrm>
                  <a:off x="6885579" y="2354868"/>
                  <a:ext cx="2643481" cy="523220"/>
                </a:xfrm>
                <a:prstGeom prst="rect">
                  <a:avLst/>
                </a:prstGeom>
                <a:blipFill>
                  <a:blip r:embed="rId3"/>
                  <a:stretch>
                    <a:fillRect l="-4850" t="-10465" b="-32558"/>
                  </a:stretch>
                </a:blipFill>
              </p:spPr>
              <p:txBody>
                <a:bodyPr/>
                <a:lstStyle/>
                <a:p>
                  <a:r>
                    <a:rPr lang="en-US">
                      <a:noFill/>
                    </a:rPr>
                    <a:t> </a:t>
                  </a:r>
                </a:p>
              </p:txBody>
            </p:sp>
          </mc:Fallback>
        </mc:AlternateContent>
        <p:sp>
          <p:nvSpPr>
            <p:cNvPr id="22" name="TextBox 21"/>
            <p:cNvSpPr txBox="1"/>
            <p:nvPr/>
          </p:nvSpPr>
          <p:spPr>
            <a:xfrm>
              <a:off x="4742915" y="3264090"/>
              <a:ext cx="3818674" cy="523220"/>
            </a:xfrm>
            <a:prstGeom prst="rect">
              <a:avLst/>
            </a:prstGeom>
            <a:noFill/>
          </p:spPr>
          <p:txBody>
            <a:bodyPr wrap="none" rtlCol="0">
              <a:spAutoFit/>
            </a:bodyPr>
            <a:lstStyle/>
            <a:p>
              <a:r>
                <a:rPr lang="en-US" sz="2800" dirty="0"/>
                <a:t>Exactly where it belongs!</a:t>
              </a:r>
            </a:p>
          </p:txBody>
        </p:sp>
        <p:cxnSp>
          <p:nvCxnSpPr>
            <p:cNvPr id="24" name="Straight Arrow Connector 23"/>
            <p:cNvCxnSpPr>
              <a:stCxn id="22" idx="0"/>
              <a:endCxn id="13" idx="2"/>
            </p:cNvCxnSpPr>
            <p:nvPr/>
          </p:nvCxnSpPr>
          <p:spPr>
            <a:xfrm flipH="1" flipV="1">
              <a:off x="6606548" y="1981200"/>
              <a:ext cx="45704" cy="1282890"/>
            </a:xfrm>
            <a:prstGeom prst="straightConnector1">
              <a:avLst/>
            </a:prstGeom>
            <a:ln w="38100">
              <a:solidFill>
                <a:srgbClr val="FF33CC"/>
              </a:solidFill>
              <a:tailEnd type="arrow"/>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0A5A7E08-7E05-E342-3748-3FB4A4A41CE6}"/>
                  </a:ext>
                </a:extLst>
              </p14:cNvPr>
              <p14:cNvContentPartPr/>
              <p14:nvPr/>
            </p14:nvContentPartPr>
            <p14:xfrm>
              <a:off x="2095560" y="829800"/>
              <a:ext cx="7829280" cy="2265840"/>
            </p14:xfrm>
          </p:contentPart>
        </mc:Choice>
        <mc:Fallback>
          <p:pic>
            <p:nvPicPr>
              <p:cNvPr id="4" name="Ink 3">
                <a:extLst>
                  <a:ext uri="{FF2B5EF4-FFF2-40B4-BE49-F238E27FC236}">
                    <a16:creationId xmlns:a16="http://schemas.microsoft.com/office/drawing/2014/main" id="{0A5A7E08-7E05-E342-3748-3FB4A4A41CE6}"/>
                  </a:ext>
                </a:extLst>
              </p:cNvPr>
              <p:cNvPicPr/>
              <p:nvPr/>
            </p:nvPicPr>
            <p:blipFill>
              <a:blip r:embed="rId5"/>
              <a:stretch>
                <a:fillRect/>
              </a:stretch>
            </p:blipFill>
            <p:spPr>
              <a:xfrm>
                <a:off x="2086200" y="820440"/>
                <a:ext cx="7848000" cy="2284560"/>
              </a:xfrm>
              <a:prstGeom prst="rect">
                <a:avLst/>
              </a:prstGeom>
            </p:spPr>
          </p:pic>
        </mc:Fallback>
      </mc:AlternateContent>
    </p:spTree>
    <p:extLst>
      <p:ext uri="{BB962C8B-B14F-4D97-AF65-F5344CB8AC3E}">
        <p14:creationId xmlns:p14="http://schemas.microsoft.com/office/powerpoint/2010/main" val="17718212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 Run Time (Best)</a:t>
            </a:r>
          </a:p>
        </p:txBody>
      </p:sp>
      <p:sp>
        <p:nvSpPr>
          <p:cNvPr id="3" name="Content Placeholder 2"/>
          <p:cNvSpPr>
            <a:spLocks noGrp="1"/>
          </p:cNvSpPr>
          <p:nvPr>
            <p:ph idx="1"/>
          </p:nvPr>
        </p:nvSpPr>
        <p:spPr>
          <a:xfrm>
            <a:off x="2209800" y="4343400"/>
            <a:ext cx="8229600" cy="838200"/>
          </a:xfrm>
        </p:spPr>
        <p:txBody>
          <a:bodyPr/>
          <a:lstStyle/>
          <a:p>
            <a:pPr marL="0" indent="0">
              <a:buNone/>
            </a:pPr>
            <a:r>
              <a:rPr lang="en-US" dirty="0"/>
              <a:t>Then we divide in half each time</a:t>
            </a:r>
          </a:p>
        </p:txBody>
      </p:sp>
      <p:grpSp>
        <p:nvGrpSpPr>
          <p:cNvPr id="34" name="Group 33" descr="When the pivot is the median, the two half-lists are of the same size at ever step.">
            <a:extLst>
              <a:ext uri="{FF2B5EF4-FFF2-40B4-BE49-F238E27FC236}">
                <a16:creationId xmlns:a16="http://schemas.microsoft.com/office/drawing/2014/main" id="{273F4CBF-52A4-FDBD-17E0-A4C7F7F6B9E0}"/>
              </a:ext>
            </a:extLst>
          </p:cNvPr>
          <p:cNvGrpSpPr/>
          <p:nvPr/>
        </p:nvGrpSpPr>
        <p:grpSpPr>
          <a:xfrm>
            <a:off x="2619228" y="2438400"/>
            <a:ext cx="6403076" cy="1676400"/>
            <a:chOff x="2619228" y="2438400"/>
            <a:chExt cx="6403076" cy="1676400"/>
          </a:xfrm>
        </p:grpSpPr>
        <p:grpSp>
          <p:nvGrpSpPr>
            <p:cNvPr id="5" name="Group 4" descr="When the pivot is the median, the two half-lists are of the same size at ever step."/>
            <p:cNvGrpSpPr/>
            <p:nvPr/>
          </p:nvGrpSpPr>
          <p:grpSpPr>
            <a:xfrm>
              <a:off x="2619228" y="2438400"/>
              <a:ext cx="6403076" cy="533400"/>
              <a:chOff x="1445524" y="2895600"/>
              <a:chExt cx="6403076" cy="533400"/>
            </a:xfrm>
          </p:grpSpPr>
          <p:sp>
            <p:nvSpPr>
              <p:cNvPr id="6" name="Rectangle 5"/>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Rectangle 6"/>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9" name="Rectangle 8"/>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 name="Rectangle 10"/>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p:cNvSpPr/>
              <p:nvPr/>
            </p:nvSpPr>
            <p:spPr>
              <a:xfrm>
                <a:off x="4647062"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p:cNvSpPr/>
              <p:nvPr/>
            </p:nvSpPr>
            <p:spPr>
              <a:xfrm>
                <a:off x="51804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4" name="Rectangle 13"/>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5" name="Rectangle 14"/>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6" name="Rectangle 15"/>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 name="Rectangle 16"/>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grpSp>
          <p:nvGrpSpPr>
            <p:cNvPr id="18" name="Group 17"/>
            <p:cNvGrpSpPr/>
            <p:nvPr/>
          </p:nvGrpSpPr>
          <p:grpSpPr>
            <a:xfrm>
              <a:off x="2619228" y="3581400"/>
              <a:ext cx="6403076" cy="533400"/>
              <a:chOff x="1445524" y="2895600"/>
              <a:chExt cx="6403076" cy="533400"/>
            </a:xfrm>
          </p:grpSpPr>
          <p:sp>
            <p:nvSpPr>
              <p:cNvPr id="19" name="Rectangle 18"/>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0" name="Rectangle 19"/>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1" name="Rectangle 20"/>
              <p:cNvSpPr/>
              <p:nvPr/>
            </p:nvSpPr>
            <p:spPr>
              <a:xfrm>
                <a:off x="2512893"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2" name="Rectangle 21"/>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3" name="Rectangle 22"/>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4" name="Rectangle 23"/>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5" name="Rectangle 24"/>
              <p:cNvSpPr/>
              <p:nvPr/>
            </p:nvSpPr>
            <p:spPr>
              <a:xfrm>
                <a:off x="4647062" y="2895600"/>
                <a:ext cx="533400" cy="533400"/>
              </a:xfrm>
              <a:prstGeom prst="rect">
                <a:avLst/>
              </a:prstGeom>
              <a:solidFill>
                <a:srgbClr val="FF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6" name="Rectangle 25"/>
              <p:cNvSpPr/>
              <p:nvPr/>
            </p:nvSpPr>
            <p:spPr>
              <a:xfrm>
                <a:off x="51804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7" name="Rectangle 26"/>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28" name="Rectangle 27"/>
              <p:cNvSpPr/>
              <p:nvPr/>
            </p:nvSpPr>
            <p:spPr>
              <a:xfrm>
                <a:off x="6247831"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29" name="Rectangle 28"/>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0" name="Rectangle 29"/>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grpSp>
      <mc:AlternateContent xmlns:mc="http://schemas.openxmlformats.org/markup-compatibility/2006" xmlns:a14="http://schemas.microsoft.com/office/drawing/2010/main">
        <mc:Choice Requires="a14">
          <p:sp>
            <p:nvSpPr>
              <p:cNvPr id="31" name="Content Placeholder 2"/>
              <p:cNvSpPr txBox="1">
                <a:spLocks/>
              </p:cNvSpPr>
              <p:nvPr/>
            </p:nvSpPr>
            <p:spPr>
              <a:xfrm>
                <a:off x="1971531" y="5105400"/>
                <a:ext cx="8229600"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=2</m:t>
                      </m:r>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f>
                            <m:fPr>
                              <m:ctrlPr>
                                <a:rPr lang="en-US" sz="2800" i="1" dirty="0">
                                  <a:solidFill>
                                    <a:srgbClr val="FF0000"/>
                                  </a:solidFill>
                                  <a:latin typeface="Cambria Math" panose="02040503050406030204" pitchFamily="18" charset="0"/>
                                </a:rPr>
                              </m:ctrlPr>
                            </m:fPr>
                            <m:num>
                              <m:r>
                                <a:rPr lang="en-US" sz="2800" i="1" dirty="0">
                                  <a:solidFill>
                                    <a:srgbClr val="FF0000"/>
                                  </a:solidFill>
                                  <a:latin typeface="Cambria Math"/>
                                </a:rPr>
                                <m:t>𝑛</m:t>
                              </m:r>
                            </m:num>
                            <m:den>
                              <m:r>
                                <a:rPr lang="en-US" sz="2800" i="1" dirty="0">
                                  <a:solidFill>
                                    <a:srgbClr val="FF0000"/>
                                  </a:solidFill>
                                  <a:latin typeface="Cambria Math"/>
                                </a:rPr>
                                <m:t>2</m:t>
                              </m:r>
                            </m:den>
                          </m:f>
                        </m:e>
                      </m:d>
                      <m:r>
                        <a:rPr lang="en-US" sz="2800" i="1" dirty="0">
                          <a:solidFill>
                            <a:srgbClr val="FF0000"/>
                          </a:solidFill>
                          <a:latin typeface="Cambria Math"/>
                        </a:rPr>
                        <m:t>+</m:t>
                      </m:r>
                      <m:r>
                        <a:rPr lang="en-US" sz="2800" i="1" dirty="0">
                          <a:solidFill>
                            <a:srgbClr val="FF0000"/>
                          </a:solidFill>
                          <a:latin typeface="Cambria Math"/>
                        </a:rPr>
                        <m:t>𝑛</m:t>
                      </m:r>
                    </m:oMath>
                  </m:oMathPara>
                </a14:m>
                <a:endParaRPr lang="en-US" sz="2800" dirty="0">
                  <a:solidFill>
                    <a:srgbClr val="FF0000"/>
                  </a:solidFill>
                </a:endParaRPr>
              </a:p>
            </p:txBody>
          </p:sp>
        </mc:Choice>
        <mc:Fallback xmlns="">
          <p:sp>
            <p:nvSpPr>
              <p:cNvPr id="31" name="Content Placeholder 2"/>
              <p:cNvSpPr txBox="1">
                <a:spLocks noRot="1" noChangeAspect="1" noMove="1" noResize="1" noEditPoints="1" noAdjustHandles="1" noChangeArrowheads="1" noChangeShapeType="1" noTextEdit="1"/>
              </p:cNvSpPr>
              <p:nvPr/>
            </p:nvSpPr>
            <p:spPr>
              <a:xfrm>
                <a:off x="1971531" y="5105400"/>
                <a:ext cx="8229600" cy="685800"/>
              </a:xfrm>
              <a:prstGeom prst="rect">
                <a:avLst/>
              </a:prstGeom>
              <a:blipFill>
                <a:blip r:embed="rId2"/>
                <a:stretch>
                  <a:fillRect b="-30909"/>
                </a:stretch>
              </a:blipFill>
            </p:spPr>
            <p:txBody>
              <a:bodyPr/>
              <a:lstStyle/>
              <a:p>
                <a:r>
                  <a:rPr lang="en-US">
                    <a:noFill/>
                  </a:rPr>
                  <a:t> </a:t>
                </a:r>
              </a:p>
            </p:txBody>
          </p:sp>
        </mc:Fallback>
      </mc:AlternateContent>
      <p:sp>
        <p:nvSpPr>
          <p:cNvPr id="32" name="Content Placeholder 2"/>
          <p:cNvSpPr txBox="1">
            <a:spLocks/>
          </p:cNvSpPr>
          <p:nvPr/>
        </p:nvSpPr>
        <p:spPr>
          <a:xfrm>
            <a:off x="2133600" y="1752601"/>
            <a:ext cx="8229600" cy="838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the </a:t>
            </a:r>
            <a:r>
              <a:rPr lang="en-US" dirty="0">
                <a:solidFill>
                  <a:srgbClr val="FF33CC"/>
                </a:solidFill>
              </a:rPr>
              <a:t>pivot</a:t>
            </a:r>
            <a:r>
              <a:rPr lang="en-US" dirty="0"/>
              <a:t> is always the median:</a:t>
            </a:r>
          </a:p>
        </p:txBody>
      </p:sp>
      <mc:AlternateContent xmlns:mc="http://schemas.openxmlformats.org/markup-compatibility/2006" xmlns:a14="http://schemas.microsoft.com/office/drawing/2010/main">
        <mc:Choice Requires="a14">
          <p:sp>
            <p:nvSpPr>
              <p:cNvPr id="33" name="Content Placeholder 2"/>
              <p:cNvSpPr txBox="1">
                <a:spLocks/>
              </p:cNvSpPr>
              <p:nvPr/>
            </p:nvSpPr>
            <p:spPr>
              <a:xfrm>
                <a:off x="1971531" y="5943600"/>
                <a:ext cx="8229600"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m:t>
                      </m:r>
                      <m:r>
                        <a:rPr lang="en-US" sz="2800" i="1" dirty="0">
                          <a:solidFill>
                            <a:srgbClr val="FF0000"/>
                          </a:solidFill>
                          <a:latin typeface="Cambria Math"/>
                        </a:rPr>
                        <m:t>𝑂</m:t>
                      </m:r>
                      <m:r>
                        <a:rPr lang="en-US" sz="2800" i="1" dirty="0">
                          <a:solidFill>
                            <a:srgbClr val="FF0000"/>
                          </a:solidFill>
                          <a:latin typeface="Cambria Math"/>
                        </a:rPr>
                        <m:t>(</m:t>
                      </m:r>
                      <m:r>
                        <a:rPr lang="en-US" sz="2800" i="1" dirty="0">
                          <a:solidFill>
                            <a:srgbClr val="FF0000"/>
                          </a:solidFill>
                          <a:latin typeface="Cambria Math"/>
                        </a:rPr>
                        <m:t>𝑛</m:t>
                      </m:r>
                      <m:func>
                        <m:funcPr>
                          <m:ctrlPr>
                            <a:rPr lang="en-US" sz="2800" i="1" dirty="0">
                              <a:solidFill>
                                <a:srgbClr val="FF0000"/>
                              </a:solidFill>
                              <a:latin typeface="Cambria Math" panose="02040503050406030204" pitchFamily="18" charset="0"/>
                            </a:rPr>
                          </m:ctrlPr>
                        </m:funcPr>
                        <m:fName>
                          <m:r>
                            <m:rPr>
                              <m:sty m:val="p"/>
                            </m:rPr>
                            <a:rPr lang="en-US" sz="2800" dirty="0">
                              <a:solidFill>
                                <a:srgbClr val="FF0000"/>
                              </a:solidFill>
                              <a:latin typeface="Cambria Math"/>
                            </a:rPr>
                            <m:t>log</m:t>
                          </m:r>
                        </m:fName>
                        <m:e>
                          <m:r>
                            <a:rPr lang="en-US" sz="2800" i="1" dirty="0">
                              <a:solidFill>
                                <a:srgbClr val="FF0000"/>
                              </a:solidFill>
                              <a:latin typeface="Cambria Math"/>
                            </a:rPr>
                            <m:t>𝑛</m:t>
                          </m:r>
                        </m:e>
                      </m:func>
                      <m:r>
                        <a:rPr lang="en-US" sz="2800" i="1" dirty="0">
                          <a:solidFill>
                            <a:srgbClr val="FF0000"/>
                          </a:solidFill>
                          <a:latin typeface="Cambria Math"/>
                        </a:rPr>
                        <m:t>)</m:t>
                      </m:r>
                    </m:oMath>
                  </m:oMathPara>
                </a14:m>
                <a:endParaRPr lang="en-US" sz="2800" dirty="0">
                  <a:solidFill>
                    <a:srgbClr val="FF0000"/>
                  </a:solidFill>
                </a:endParaRPr>
              </a:p>
            </p:txBody>
          </p:sp>
        </mc:Choice>
        <mc:Fallback xmlns="">
          <p:sp>
            <p:nvSpPr>
              <p:cNvPr id="33" name="Content Placeholder 2"/>
              <p:cNvSpPr txBox="1">
                <a:spLocks noRot="1" noChangeAspect="1" noMove="1" noResize="1" noEditPoints="1" noAdjustHandles="1" noChangeArrowheads="1" noChangeShapeType="1" noTextEdit="1"/>
              </p:cNvSpPr>
              <p:nvPr/>
            </p:nvSpPr>
            <p:spPr>
              <a:xfrm>
                <a:off x="1971531" y="5943600"/>
                <a:ext cx="8229600" cy="68580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2A35AA45-671E-C4D6-83B4-C74781356213}"/>
                  </a:ext>
                </a:extLst>
              </p14:cNvPr>
              <p14:cNvContentPartPr/>
              <p14:nvPr/>
            </p14:nvContentPartPr>
            <p14:xfrm>
              <a:off x="3637800" y="4766760"/>
              <a:ext cx="3312720" cy="664920"/>
            </p14:xfrm>
          </p:contentPart>
        </mc:Choice>
        <mc:Fallback>
          <p:pic>
            <p:nvPicPr>
              <p:cNvPr id="4" name="Ink 3">
                <a:extLst>
                  <a:ext uri="{FF2B5EF4-FFF2-40B4-BE49-F238E27FC236}">
                    <a16:creationId xmlns:a16="http://schemas.microsoft.com/office/drawing/2014/main" id="{2A35AA45-671E-C4D6-83B4-C74781356213}"/>
                  </a:ext>
                </a:extLst>
              </p:cNvPr>
              <p:cNvPicPr/>
              <p:nvPr/>
            </p:nvPicPr>
            <p:blipFill>
              <a:blip r:embed="rId5"/>
              <a:stretch>
                <a:fillRect/>
              </a:stretch>
            </p:blipFill>
            <p:spPr>
              <a:xfrm>
                <a:off x="3628440" y="4757400"/>
                <a:ext cx="3331440" cy="683640"/>
              </a:xfrm>
              <a:prstGeom prst="rect">
                <a:avLst/>
              </a:prstGeom>
            </p:spPr>
          </p:pic>
        </mc:Fallback>
      </mc:AlternateContent>
    </p:spTree>
    <p:extLst>
      <p:ext uri="{BB962C8B-B14F-4D97-AF65-F5344CB8AC3E}">
        <p14:creationId xmlns:p14="http://schemas.microsoft.com/office/powerpoint/2010/main" val="1766592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 Run Time (Worst)</a:t>
            </a:r>
          </a:p>
        </p:txBody>
      </p:sp>
      <p:sp>
        <p:nvSpPr>
          <p:cNvPr id="32" name="Content Placeholder 2"/>
          <p:cNvSpPr txBox="1">
            <a:spLocks/>
          </p:cNvSpPr>
          <p:nvPr/>
        </p:nvSpPr>
        <p:spPr>
          <a:xfrm>
            <a:off x="2133600" y="1752601"/>
            <a:ext cx="8229600" cy="838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the pivot is always at the extreme:</a:t>
            </a:r>
          </a:p>
        </p:txBody>
      </p:sp>
      <p:grpSp>
        <p:nvGrpSpPr>
          <p:cNvPr id="34" name="Group 33" descr="If the pivot is always the minimum element of the list, then the left half-list is of size 0 at each step.">
            <a:extLst>
              <a:ext uri="{FF2B5EF4-FFF2-40B4-BE49-F238E27FC236}">
                <a16:creationId xmlns:a16="http://schemas.microsoft.com/office/drawing/2014/main" id="{36419FAC-ADC4-C02F-047C-A2882A86DFF7}"/>
              </a:ext>
            </a:extLst>
          </p:cNvPr>
          <p:cNvGrpSpPr/>
          <p:nvPr/>
        </p:nvGrpSpPr>
        <p:grpSpPr>
          <a:xfrm>
            <a:off x="2619228" y="2438400"/>
            <a:ext cx="6403076" cy="1676400"/>
            <a:chOff x="2619228" y="2438400"/>
            <a:chExt cx="6403076" cy="1676400"/>
          </a:xfrm>
        </p:grpSpPr>
        <p:grpSp>
          <p:nvGrpSpPr>
            <p:cNvPr id="5" name="Group 4"/>
            <p:cNvGrpSpPr/>
            <p:nvPr/>
          </p:nvGrpSpPr>
          <p:grpSpPr>
            <a:xfrm>
              <a:off x="2619228" y="2438400"/>
              <a:ext cx="6403076" cy="533400"/>
              <a:chOff x="1445524" y="2895600"/>
              <a:chExt cx="6403076" cy="533400"/>
            </a:xfrm>
          </p:grpSpPr>
          <p:sp>
            <p:nvSpPr>
              <p:cNvPr id="6" name="Rectangle 5"/>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 name="Rectangle 6"/>
              <p:cNvSpPr/>
              <p:nvPr/>
            </p:nvSpPr>
            <p:spPr>
              <a:xfrm>
                <a:off x="1978924"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p:cNvSpPr/>
              <p:nvPr/>
            </p:nvSpPr>
            <p:spPr>
              <a:xfrm>
                <a:off x="25128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 name="Rectangle 8"/>
              <p:cNvSpPr/>
              <p:nvPr/>
            </p:nvSpPr>
            <p:spPr>
              <a:xfrm>
                <a:off x="30462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p:cNvSpPr/>
              <p:nvPr/>
            </p:nvSpPr>
            <p:spPr>
              <a:xfrm>
                <a:off x="35796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 name="Rectangle 10"/>
              <p:cNvSpPr/>
              <p:nvPr/>
            </p:nvSpPr>
            <p:spPr>
              <a:xfrm>
                <a:off x="41136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p:cNvSpPr/>
              <p:nvPr/>
            </p:nvSpPr>
            <p:spPr>
              <a:xfrm>
                <a:off x="46470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p:cNvSpPr/>
              <p:nvPr/>
            </p:nvSpPr>
            <p:spPr>
              <a:xfrm>
                <a:off x="51804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4" name="Rectangle 13"/>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5" name="Rectangle 14"/>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6" name="Rectangle 15"/>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 name="Rectangle 16"/>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grpSp>
          <p:nvGrpSpPr>
            <p:cNvPr id="18" name="Group 17"/>
            <p:cNvGrpSpPr/>
            <p:nvPr/>
          </p:nvGrpSpPr>
          <p:grpSpPr>
            <a:xfrm>
              <a:off x="2619228" y="3581400"/>
              <a:ext cx="6403076" cy="533400"/>
              <a:chOff x="1445524" y="2895600"/>
              <a:chExt cx="6403076" cy="533400"/>
            </a:xfrm>
          </p:grpSpPr>
          <p:sp>
            <p:nvSpPr>
              <p:cNvPr id="19" name="Rectangle 18"/>
              <p:cNvSpPr/>
              <p:nvPr/>
            </p:nvSpPr>
            <p:spPr>
              <a:xfrm>
                <a:off x="1445524" y="2895600"/>
                <a:ext cx="533400" cy="533400"/>
              </a:xfrm>
              <a:prstGeom prst="rect">
                <a:avLst/>
              </a:prstGeom>
              <a:solidFill>
                <a:srgbClr val="FF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0" name="Rectangle 19"/>
              <p:cNvSpPr/>
              <p:nvPr/>
            </p:nvSpPr>
            <p:spPr>
              <a:xfrm>
                <a:off x="19789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1" name="Rectangle 20"/>
              <p:cNvSpPr/>
              <p:nvPr/>
            </p:nvSpPr>
            <p:spPr>
              <a:xfrm>
                <a:off x="25128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2" name="Rectangle 21"/>
              <p:cNvSpPr/>
              <p:nvPr/>
            </p:nvSpPr>
            <p:spPr>
              <a:xfrm>
                <a:off x="30462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3" name="Rectangle 22"/>
              <p:cNvSpPr/>
              <p:nvPr/>
            </p:nvSpPr>
            <p:spPr>
              <a:xfrm>
                <a:off x="35796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4" name="Rectangle 23"/>
              <p:cNvSpPr/>
              <p:nvPr/>
            </p:nvSpPr>
            <p:spPr>
              <a:xfrm>
                <a:off x="41136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5" name="Rectangle 24"/>
              <p:cNvSpPr/>
              <p:nvPr/>
            </p:nvSpPr>
            <p:spPr>
              <a:xfrm>
                <a:off x="46470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6" name="Rectangle 25"/>
              <p:cNvSpPr/>
              <p:nvPr/>
            </p:nvSpPr>
            <p:spPr>
              <a:xfrm>
                <a:off x="51804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7" name="Rectangle 26"/>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28" name="Rectangle 27"/>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29" name="Rectangle 28"/>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0" name="Rectangle 29"/>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grpSp>
      <p:sp>
        <p:nvSpPr>
          <p:cNvPr id="3" name="Content Placeholder 2"/>
          <p:cNvSpPr>
            <a:spLocks noGrp="1"/>
          </p:cNvSpPr>
          <p:nvPr>
            <p:ph idx="1"/>
          </p:nvPr>
        </p:nvSpPr>
        <p:spPr>
          <a:xfrm>
            <a:off x="2239366" y="4305300"/>
            <a:ext cx="8229600" cy="838200"/>
          </a:xfrm>
        </p:spPr>
        <p:txBody>
          <a:bodyPr/>
          <a:lstStyle/>
          <a:p>
            <a:pPr marL="0" indent="0">
              <a:buNone/>
            </a:pPr>
            <a:r>
              <a:rPr lang="en-US" dirty="0"/>
              <a:t>Then we shorten by 1 each time</a:t>
            </a:r>
          </a:p>
        </p:txBody>
      </p:sp>
      <mc:AlternateContent xmlns:mc="http://schemas.openxmlformats.org/markup-compatibility/2006" xmlns:a14="http://schemas.microsoft.com/office/drawing/2010/main">
        <mc:Choice Requires="a14">
          <p:sp>
            <p:nvSpPr>
              <p:cNvPr id="31" name="Content Placeholder 2"/>
              <p:cNvSpPr txBox="1">
                <a:spLocks/>
              </p:cNvSpPr>
              <p:nvPr/>
            </p:nvSpPr>
            <p:spPr>
              <a:xfrm>
                <a:off x="1971531" y="5105400"/>
                <a:ext cx="8229600"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m:t>
                      </m:r>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r>
                            <a:rPr lang="en-US" sz="2800" i="1" dirty="0">
                              <a:solidFill>
                                <a:srgbClr val="FF0000"/>
                              </a:solidFill>
                              <a:latin typeface="Cambria Math"/>
                            </a:rPr>
                            <m:t>−1</m:t>
                          </m:r>
                        </m:e>
                      </m:d>
                      <m:r>
                        <a:rPr lang="en-US" sz="2800" i="1" dirty="0">
                          <a:solidFill>
                            <a:srgbClr val="FF0000"/>
                          </a:solidFill>
                          <a:latin typeface="Cambria Math"/>
                        </a:rPr>
                        <m:t>+</m:t>
                      </m:r>
                      <m:r>
                        <a:rPr lang="en-US" sz="2800" i="1" dirty="0">
                          <a:solidFill>
                            <a:srgbClr val="FF0000"/>
                          </a:solidFill>
                          <a:latin typeface="Cambria Math"/>
                        </a:rPr>
                        <m:t>𝑛</m:t>
                      </m:r>
                    </m:oMath>
                  </m:oMathPara>
                </a14:m>
                <a:endParaRPr lang="en-US" sz="2800" dirty="0">
                  <a:solidFill>
                    <a:srgbClr val="FF0000"/>
                  </a:solidFill>
                </a:endParaRPr>
              </a:p>
            </p:txBody>
          </p:sp>
        </mc:Choice>
        <mc:Fallback xmlns="">
          <p:sp>
            <p:nvSpPr>
              <p:cNvPr id="31" name="Content Placeholder 2"/>
              <p:cNvSpPr txBox="1">
                <a:spLocks noRot="1" noChangeAspect="1" noMove="1" noResize="1" noEditPoints="1" noAdjustHandles="1" noChangeArrowheads="1" noChangeShapeType="1" noTextEdit="1"/>
              </p:cNvSpPr>
              <p:nvPr/>
            </p:nvSpPr>
            <p:spPr>
              <a:xfrm>
                <a:off x="1971531" y="5105400"/>
                <a:ext cx="8229600" cy="68580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Content Placeholder 2"/>
              <p:cNvSpPr txBox="1">
                <a:spLocks/>
              </p:cNvSpPr>
              <p:nvPr/>
            </p:nvSpPr>
            <p:spPr>
              <a:xfrm>
                <a:off x="1971531" y="5943600"/>
                <a:ext cx="8229600"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m:t>
                      </m:r>
                      <m:r>
                        <a:rPr lang="en-US" sz="2800" i="1" dirty="0">
                          <a:solidFill>
                            <a:srgbClr val="FF0000"/>
                          </a:solidFill>
                          <a:latin typeface="Cambria Math"/>
                        </a:rPr>
                        <m:t>𝑂</m:t>
                      </m:r>
                      <m:r>
                        <a:rPr lang="en-US" sz="2800" i="1" dirty="0">
                          <a:solidFill>
                            <a:srgbClr val="FF0000"/>
                          </a:solidFill>
                          <a:latin typeface="Cambria Math"/>
                        </a:rPr>
                        <m:t>(</m:t>
                      </m:r>
                      <m:sSup>
                        <m:sSupPr>
                          <m:ctrlPr>
                            <a:rPr lang="en-US" sz="2800" i="1" dirty="0">
                              <a:solidFill>
                                <a:srgbClr val="FF0000"/>
                              </a:solidFill>
                              <a:latin typeface="Cambria Math" panose="02040503050406030204" pitchFamily="18" charset="0"/>
                            </a:rPr>
                          </m:ctrlPr>
                        </m:sSupPr>
                        <m:e>
                          <m:r>
                            <a:rPr lang="en-US" sz="2800" i="1" dirty="0">
                              <a:solidFill>
                                <a:srgbClr val="FF0000"/>
                              </a:solidFill>
                              <a:latin typeface="Cambria Math"/>
                            </a:rPr>
                            <m:t>𝑛</m:t>
                          </m:r>
                        </m:e>
                        <m:sup>
                          <m:r>
                            <a:rPr lang="en-US" sz="2800" i="1" dirty="0">
                              <a:solidFill>
                                <a:srgbClr val="FF0000"/>
                              </a:solidFill>
                              <a:latin typeface="Cambria Math"/>
                            </a:rPr>
                            <m:t>2</m:t>
                          </m:r>
                        </m:sup>
                      </m:sSup>
                      <m:r>
                        <a:rPr lang="en-US" sz="2800" i="1" dirty="0">
                          <a:solidFill>
                            <a:srgbClr val="FF0000"/>
                          </a:solidFill>
                          <a:latin typeface="Cambria Math"/>
                        </a:rPr>
                        <m:t>)</m:t>
                      </m:r>
                    </m:oMath>
                  </m:oMathPara>
                </a14:m>
                <a:endParaRPr lang="en-US" sz="2800" dirty="0">
                  <a:solidFill>
                    <a:srgbClr val="FF0000"/>
                  </a:solidFill>
                </a:endParaRPr>
              </a:p>
            </p:txBody>
          </p:sp>
        </mc:Choice>
        <mc:Fallback xmlns="">
          <p:sp>
            <p:nvSpPr>
              <p:cNvPr id="33" name="Content Placeholder 2"/>
              <p:cNvSpPr txBox="1">
                <a:spLocks noRot="1" noChangeAspect="1" noMove="1" noResize="1" noEditPoints="1" noAdjustHandles="1" noChangeArrowheads="1" noChangeShapeType="1" noTextEdit="1"/>
              </p:cNvSpPr>
              <p:nvPr/>
            </p:nvSpPr>
            <p:spPr>
              <a:xfrm>
                <a:off x="1971531" y="5943600"/>
                <a:ext cx="8229600" cy="68580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70651D5E-7486-2B71-BB94-3D5DDDC00271}"/>
                  </a:ext>
                </a:extLst>
              </p14:cNvPr>
              <p14:cNvContentPartPr/>
              <p14:nvPr/>
            </p14:nvContentPartPr>
            <p14:xfrm>
              <a:off x="1407240" y="3594240"/>
              <a:ext cx="6446520" cy="2131200"/>
            </p14:xfrm>
          </p:contentPart>
        </mc:Choice>
        <mc:Fallback>
          <p:pic>
            <p:nvPicPr>
              <p:cNvPr id="4" name="Ink 3">
                <a:extLst>
                  <a:ext uri="{FF2B5EF4-FFF2-40B4-BE49-F238E27FC236}">
                    <a16:creationId xmlns:a16="http://schemas.microsoft.com/office/drawing/2014/main" id="{70651D5E-7486-2B71-BB94-3D5DDDC00271}"/>
                  </a:ext>
                </a:extLst>
              </p:cNvPr>
              <p:cNvPicPr/>
              <p:nvPr/>
            </p:nvPicPr>
            <p:blipFill>
              <a:blip r:embed="rId5"/>
              <a:stretch>
                <a:fillRect/>
              </a:stretch>
            </p:blipFill>
            <p:spPr>
              <a:xfrm>
                <a:off x="1397880" y="3584880"/>
                <a:ext cx="6465240" cy="2149920"/>
              </a:xfrm>
              <a:prstGeom prst="rect">
                <a:avLst/>
              </a:prstGeom>
            </p:spPr>
          </p:pic>
        </mc:Fallback>
      </mc:AlternateContent>
    </p:spTree>
    <p:extLst>
      <p:ext uri="{BB962C8B-B14F-4D97-AF65-F5344CB8AC3E}">
        <p14:creationId xmlns:p14="http://schemas.microsoft.com/office/powerpoint/2010/main" val="2546143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 Worst Case Tree Method</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BEDEE58-B2C4-E126-BCB6-C2650B438813}"/>
                  </a:ext>
                </a:extLst>
              </p:cNvPr>
              <p:cNvSpPr txBox="1"/>
              <p:nvPr/>
            </p:nvSpPr>
            <p:spPr>
              <a:xfrm>
                <a:off x="718315" y="1825625"/>
                <a:ext cx="384918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𝑇</m:t>
                      </m:r>
                      <m:d>
                        <m:dPr>
                          <m:ctrlPr>
                            <a:rPr lang="en-US" sz="2400" b="0" i="1" smtClean="0">
                              <a:latin typeface="Cambria Math" panose="02040503050406030204" pitchFamily="18" charset="0"/>
                            </a:rPr>
                          </m:ctrlPr>
                        </m:dPr>
                        <m:e>
                          <m:r>
                            <a:rPr lang="en-US" sz="2400" b="0" i="1" smtClean="0">
                              <a:latin typeface="Cambria Math"/>
                            </a:rPr>
                            <m:t>𝑛</m:t>
                          </m:r>
                        </m:e>
                      </m:d>
                      <m:r>
                        <a:rPr lang="en-US" sz="2400" b="0" i="1" smtClean="0">
                          <a:latin typeface="Cambria Math"/>
                        </a:rPr>
                        <m:t>=</m:t>
                      </m:r>
                      <m:r>
                        <a:rPr lang="en-US" sz="2400" b="0" i="1" smtClean="0">
                          <a:latin typeface="Cambria Math"/>
                        </a:rPr>
                        <m:t>𝑇</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−1</m:t>
                          </m:r>
                        </m:e>
                      </m:d>
                      <m:r>
                        <a:rPr lang="en-US" sz="2400" b="0" i="1" smtClean="0">
                          <a:latin typeface="Cambria Math" panose="02040503050406030204" pitchFamily="18" charset="0"/>
                        </a:rPr>
                        <m:t>+</m:t>
                      </m:r>
                      <m:r>
                        <a:rPr lang="en-US" sz="2400" b="0" i="1" smtClean="0">
                          <a:latin typeface="Cambria Math" panose="02040503050406030204" pitchFamily="18" charset="0"/>
                        </a:rPr>
                        <m:t>𝑛</m:t>
                      </m:r>
                    </m:oMath>
                  </m:oMathPara>
                </a14:m>
                <a:endParaRPr lang="en-US" sz="2400" dirty="0"/>
              </a:p>
            </p:txBody>
          </p:sp>
        </mc:Choice>
        <mc:Fallback xmlns="">
          <p:sp>
            <p:nvSpPr>
              <p:cNvPr id="3" name="TextBox 2">
                <a:extLst>
                  <a:ext uri="{FF2B5EF4-FFF2-40B4-BE49-F238E27FC236}">
                    <a16:creationId xmlns:a16="http://schemas.microsoft.com/office/drawing/2014/main" id="{CBEDEE58-B2C4-E126-BCB6-C2650B438813}"/>
                  </a:ext>
                </a:extLst>
              </p:cNvPr>
              <p:cNvSpPr txBox="1">
                <a:spLocks noRot="1" noChangeAspect="1" noMove="1" noResize="1" noEditPoints="1" noAdjustHandles="1" noChangeArrowheads="1" noChangeShapeType="1" noTextEdit="1"/>
              </p:cNvSpPr>
              <p:nvPr/>
            </p:nvSpPr>
            <p:spPr>
              <a:xfrm>
                <a:off x="718315" y="1825625"/>
                <a:ext cx="3849189" cy="461665"/>
              </a:xfrm>
              <a:prstGeom prst="rect">
                <a:avLst/>
              </a:prstGeom>
              <a:blipFill>
                <a:blip r:embed="rId2"/>
                <a:stretch>
                  <a:fillRect/>
                </a:stretch>
              </a:blipFill>
            </p:spPr>
            <p:txBody>
              <a:bodyPr/>
              <a:lstStyle/>
              <a:p>
                <a:r>
                  <a:rPr lang="en-US">
                    <a:noFill/>
                  </a:rPr>
                  <a:t> </a:t>
                </a:r>
              </a:p>
            </p:txBody>
          </p:sp>
        </mc:Fallback>
      </mc:AlternateContent>
      <p:sp>
        <p:nvSpPr>
          <p:cNvPr id="5" name="Left Brace 4" descr="Because we need to make n recursive calls before reaching a base case, the height of this chain of stack frames is n.">
            <a:extLst>
              <a:ext uri="{FF2B5EF4-FFF2-40B4-BE49-F238E27FC236}">
                <a16:creationId xmlns:a16="http://schemas.microsoft.com/office/drawing/2014/main" id="{03DCD9E8-D3A7-5D78-5FBC-F23481E629CB}"/>
              </a:ext>
            </a:extLst>
          </p:cNvPr>
          <p:cNvSpPr/>
          <p:nvPr/>
        </p:nvSpPr>
        <p:spPr>
          <a:xfrm flipH="1" flipV="1">
            <a:off x="4169656" y="2150498"/>
            <a:ext cx="325192" cy="4234101"/>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6" name="Text Box 2">
                <a:extLst>
                  <a:ext uri="{FF2B5EF4-FFF2-40B4-BE49-F238E27FC236}">
                    <a16:creationId xmlns:a16="http://schemas.microsoft.com/office/drawing/2014/main" id="{E31597D2-7F44-6339-C17A-DA58B649A96A}"/>
                  </a:ext>
                </a:extLst>
              </p:cNvPr>
              <p:cNvSpPr txBox="1">
                <a:spLocks noChangeArrowheads="1"/>
              </p:cNvSpPr>
              <p:nvPr/>
            </p:nvSpPr>
            <p:spPr bwMode="auto">
              <a:xfrm>
                <a:off x="4332252" y="3995722"/>
                <a:ext cx="2312388" cy="954107"/>
              </a:xfrm>
              <a:prstGeom prst="rect">
                <a:avLst/>
              </a:prstGeom>
              <a:noFill/>
              <a:ln w="9525">
                <a:noFill/>
                <a:miter lim="800000"/>
                <a:headEnd/>
                <a:tailEnd/>
              </a:ln>
            </p:spPr>
            <p:txBody>
              <a:bodyPr wrap="square">
                <a:spAutoFit/>
              </a:bodyPr>
              <a:lstStyle/>
              <a:p>
                <a:pPr algn="ctr"/>
                <a14:m>
                  <m:oMath xmlns:m="http://schemas.openxmlformats.org/officeDocument/2006/math">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p:txBody>
          </p:sp>
        </mc:Choice>
        <mc:Fallback xmlns="">
          <p:sp>
            <p:nvSpPr>
              <p:cNvPr id="6" name="Text Box 2">
                <a:extLst>
                  <a:ext uri="{FF2B5EF4-FFF2-40B4-BE49-F238E27FC236}">
                    <a16:creationId xmlns:a16="http://schemas.microsoft.com/office/drawing/2014/main" id="{E31597D2-7F44-6339-C17A-DA58B649A96A}"/>
                  </a:ext>
                </a:extLst>
              </p:cNvPr>
              <p:cNvSpPr txBox="1">
                <a:spLocks noRot="1" noChangeAspect="1" noMove="1" noResize="1" noEditPoints="1" noAdjustHandles="1" noChangeArrowheads="1" noChangeShapeType="1" noTextEdit="1"/>
              </p:cNvSpPr>
              <p:nvPr/>
            </p:nvSpPr>
            <p:spPr bwMode="auto">
              <a:xfrm>
                <a:off x="4332252" y="3995722"/>
                <a:ext cx="2312388" cy="954107"/>
              </a:xfrm>
              <a:prstGeom prst="rect">
                <a:avLst/>
              </a:prstGeom>
              <a:blipFill>
                <a:blip r:embed="rId3"/>
                <a:stretch>
                  <a:fillRect t="-5732" b="-17197"/>
                </a:stretch>
              </a:blipFill>
              <a:ln w="9525">
                <a:noFill/>
                <a:miter lim="800000"/>
                <a:headEnd/>
                <a:tailEnd/>
              </a:ln>
            </p:spPr>
            <p:txBody>
              <a:bodyPr/>
              <a:lstStyle/>
              <a:p>
                <a:r>
                  <a:rPr lang="en-US">
                    <a:noFill/>
                  </a:rPr>
                  <a:t> </a:t>
                </a:r>
              </a:p>
            </p:txBody>
          </p:sp>
        </mc:Fallback>
      </mc:AlternateContent>
      <p:grpSp>
        <p:nvGrpSpPr>
          <p:cNvPr id="7" name="Group 6" descr="A picture of the recursion of the worst case of quicksort. We have one box per stack frame in the recursion. Each box is labelled inside with a value that represents the size of the input for that stack frame. Outside each box is labelled with the amount of (non-recursive) work done by that box (in this case it matches the size of the box).&#10;&#10;Each box has an arrow pointing to a box with a smaller input (specifically 1 unit smaller) to represent the larger box recursively invoking linear search with the smaller input.">
            <a:extLst>
              <a:ext uri="{FF2B5EF4-FFF2-40B4-BE49-F238E27FC236}">
                <a16:creationId xmlns:a16="http://schemas.microsoft.com/office/drawing/2014/main" id="{90489735-38B1-5412-7009-2A2F579EF2C3}"/>
              </a:ext>
            </a:extLst>
          </p:cNvPr>
          <p:cNvGrpSpPr/>
          <p:nvPr/>
        </p:nvGrpSpPr>
        <p:grpSpPr>
          <a:xfrm>
            <a:off x="2011925" y="2131196"/>
            <a:ext cx="2107615" cy="4253404"/>
            <a:chOff x="7673338" y="1678247"/>
            <a:chExt cx="2107615" cy="4253404"/>
          </a:xfrm>
        </p:grpSpPr>
        <mc:AlternateContent xmlns:mc="http://schemas.openxmlformats.org/markup-compatibility/2006" xmlns:a14="http://schemas.microsoft.com/office/drawing/2010/main">
          <mc:Choice Requires="a14">
            <p:sp>
              <p:nvSpPr>
                <p:cNvPr id="8" name="Text Box 41">
                  <a:extLst>
                    <a:ext uri="{FF2B5EF4-FFF2-40B4-BE49-F238E27FC236}">
                      <a16:creationId xmlns:a16="http://schemas.microsoft.com/office/drawing/2014/main" id="{CE657F03-EF76-D362-3DE6-4B5DE5FBD482}"/>
                    </a:ext>
                  </a:extLst>
                </p:cNvPr>
                <p:cNvSpPr txBox="1">
                  <a:spLocks noChangeArrowheads="1"/>
                </p:cNvSpPr>
                <p:nvPr/>
              </p:nvSpPr>
              <p:spPr bwMode="auto">
                <a:xfrm>
                  <a:off x="7673338" y="1825625"/>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4" name="Text Box 41">
                  <a:extLst>
                    <a:ext uri="{FF2B5EF4-FFF2-40B4-BE49-F238E27FC236}">
                      <a16:creationId xmlns:a16="http://schemas.microsoft.com/office/drawing/2014/main" id="{E7A861BF-0626-CE47-F3EB-D65BF39B7700}"/>
                    </a:ext>
                  </a:extLst>
                </p:cNvPr>
                <p:cNvSpPr txBox="1">
                  <a:spLocks noRot="1" noChangeAspect="1" noMove="1" noResize="1" noEditPoints="1" noAdjustHandles="1" noChangeArrowheads="1" noChangeShapeType="1" noTextEdit="1"/>
                </p:cNvSpPr>
                <p:nvPr/>
              </p:nvSpPr>
              <p:spPr bwMode="auto">
                <a:xfrm>
                  <a:off x="7673338" y="1825625"/>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41">
                  <a:extLst>
                    <a:ext uri="{FF2B5EF4-FFF2-40B4-BE49-F238E27FC236}">
                      <a16:creationId xmlns:a16="http://schemas.microsoft.com/office/drawing/2014/main" id="{222E2D5C-8E44-2CFA-940D-B3903F7D420D}"/>
                    </a:ext>
                  </a:extLst>
                </p:cNvPr>
                <p:cNvSpPr txBox="1">
                  <a:spLocks noChangeArrowheads="1"/>
                </p:cNvSpPr>
                <p:nvPr/>
              </p:nvSpPr>
              <p:spPr bwMode="auto">
                <a:xfrm>
                  <a:off x="7673338" y="263971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−1</m:t>
                        </m:r>
                      </m:oMath>
                    </m:oMathPara>
                  </a14:m>
                  <a:endParaRPr lang="en-US" sz="2800" dirty="0"/>
                </a:p>
              </p:txBody>
            </p:sp>
          </mc:Choice>
          <mc:Fallback xmlns="">
            <p:sp>
              <p:nvSpPr>
                <p:cNvPr id="5" name="Text Box 41">
                  <a:extLst>
                    <a:ext uri="{FF2B5EF4-FFF2-40B4-BE49-F238E27FC236}">
                      <a16:creationId xmlns:a16="http://schemas.microsoft.com/office/drawing/2014/main" id="{526E2983-A463-A0EE-B0DB-A268A8B8412A}"/>
                    </a:ext>
                  </a:extLst>
                </p:cNvPr>
                <p:cNvSpPr txBox="1">
                  <a:spLocks noRot="1" noChangeAspect="1" noMove="1" noResize="1" noEditPoints="1" noAdjustHandles="1" noChangeArrowheads="1" noChangeShapeType="1" noTextEdit="1"/>
                </p:cNvSpPr>
                <p:nvPr/>
              </p:nvSpPr>
              <p:spPr bwMode="auto">
                <a:xfrm>
                  <a:off x="7673338" y="2639716"/>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 Box 41">
                  <a:extLst>
                    <a:ext uri="{FF2B5EF4-FFF2-40B4-BE49-F238E27FC236}">
                      <a16:creationId xmlns:a16="http://schemas.microsoft.com/office/drawing/2014/main" id="{5E825DF2-56E1-5581-0038-ACC8AE91E36B}"/>
                    </a:ext>
                  </a:extLst>
                </p:cNvPr>
                <p:cNvSpPr txBox="1">
                  <a:spLocks noChangeArrowheads="1"/>
                </p:cNvSpPr>
                <p:nvPr/>
              </p:nvSpPr>
              <p:spPr bwMode="auto">
                <a:xfrm>
                  <a:off x="7673338" y="3453998"/>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−2</m:t>
                        </m:r>
                      </m:oMath>
                    </m:oMathPara>
                  </a14:m>
                  <a:endParaRPr lang="en-US" sz="2800" dirty="0"/>
                </a:p>
              </p:txBody>
            </p:sp>
          </mc:Choice>
          <mc:Fallback xmlns="">
            <p:sp>
              <p:nvSpPr>
                <p:cNvPr id="8" name="Text Box 41">
                  <a:extLst>
                    <a:ext uri="{FF2B5EF4-FFF2-40B4-BE49-F238E27FC236}">
                      <a16:creationId xmlns:a16="http://schemas.microsoft.com/office/drawing/2014/main" id="{2DB49E5C-7AA5-2844-7FEA-F0D4A3178B4D}"/>
                    </a:ext>
                  </a:extLst>
                </p:cNvPr>
                <p:cNvSpPr txBox="1">
                  <a:spLocks noRot="1" noChangeAspect="1" noMove="1" noResize="1" noEditPoints="1" noAdjustHandles="1" noChangeArrowheads="1" noChangeShapeType="1" noTextEdit="1"/>
                </p:cNvSpPr>
                <p:nvPr/>
              </p:nvSpPr>
              <p:spPr bwMode="auto">
                <a:xfrm>
                  <a:off x="7673338" y="3453998"/>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 Box 41">
                  <a:extLst>
                    <a:ext uri="{FF2B5EF4-FFF2-40B4-BE49-F238E27FC236}">
                      <a16:creationId xmlns:a16="http://schemas.microsoft.com/office/drawing/2014/main" id="{17D8FD81-7F4C-AAEC-9E36-50728887EBB4}"/>
                    </a:ext>
                  </a:extLst>
                </p:cNvPr>
                <p:cNvSpPr txBox="1">
                  <a:spLocks noChangeArrowheads="1"/>
                </p:cNvSpPr>
                <p:nvPr/>
              </p:nvSpPr>
              <p:spPr bwMode="auto">
                <a:xfrm>
                  <a:off x="7673338" y="426828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−3</m:t>
                        </m:r>
                      </m:oMath>
                    </m:oMathPara>
                  </a14:m>
                  <a:endParaRPr lang="en-US" sz="2800" dirty="0"/>
                </a:p>
              </p:txBody>
            </p:sp>
          </mc:Choice>
          <mc:Fallback xmlns="">
            <p:sp>
              <p:nvSpPr>
                <p:cNvPr id="9" name="Text Box 41">
                  <a:extLst>
                    <a:ext uri="{FF2B5EF4-FFF2-40B4-BE49-F238E27FC236}">
                      <a16:creationId xmlns:a16="http://schemas.microsoft.com/office/drawing/2014/main" id="{17512E4D-96D0-AC62-9DE6-378647691C59}"/>
                    </a:ext>
                  </a:extLst>
                </p:cNvPr>
                <p:cNvSpPr txBox="1">
                  <a:spLocks noRot="1" noChangeAspect="1" noMove="1" noResize="1" noEditPoints="1" noAdjustHandles="1" noChangeArrowheads="1" noChangeShapeType="1" noTextEdit="1"/>
                </p:cNvSpPr>
                <p:nvPr/>
              </p:nvSpPr>
              <p:spPr bwMode="auto">
                <a:xfrm>
                  <a:off x="7673338" y="4268280"/>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DA9A3315-DE02-B40B-6499-60A5FA49A8B5}"/>
                </a:ext>
              </a:extLst>
            </p:cNvPr>
            <p:cNvCxnSpPr>
              <a:cxnSpLocks/>
              <a:stCxn id="8" idx="2"/>
              <a:endCxn id="9" idx="0"/>
            </p:cNvCxnSpPr>
            <p:nvPr/>
          </p:nvCxnSpPr>
          <p:spPr>
            <a:xfrm>
              <a:off x="8340088" y="2282825"/>
              <a:ext cx="0" cy="356891"/>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F73097D-1F46-4B6B-4724-FBD493B73E93}"/>
                </a:ext>
              </a:extLst>
            </p:cNvPr>
            <p:cNvCxnSpPr>
              <a:cxnSpLocks/>
              <a:stCxn id="9" idx="2"/>
              <a:endCxn id="10" idx="0"/>
            </p:cNvCxnSpPr>
            <p:nvPr/>
          </p:nvCxnSpPr>
          <p:spPr>
            <a:xfrm>
              <a:off x="8340088" y="3096916"/>
              <a:ext cx="0" cy="3570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E6D4514-0E18-7CDC-91B4-4D1CEB374588}"/>
                </a:ext>
              </a:extLst>
            </p:cNvPr>
            <p:cNvCxnSpPr>
              <a:cxnSpLocks/>
              <a:stCxn id="10" idx="2"/>
              <a:endCxn id="11" idx="0"/>
            </p:cNvCxnSpPr>
            <p:nvPr/>
          </p:nvCxnSpPr>
          <p:spPr>
            <a:xfrm>
              <a:off x="8340088" y="3911198"/>
              <a:ext cx="0" cy="3570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 Box 41">
                  <a:extLst>
                    <a:ext uri="{FF2B5EF4-FFF2-40B4-BE49-F238E27FC236}">
                      <a16:creationId xmlns:a16="http://schemas.microsoft.com/office/drawing/2014/main" id="{A2F1D833-111E-2639-CD0C-D984EC73994A}"/>
                    </a:ext>
                  </a:extLst>
                </p:cNvPr>
                <p:cNvSpPr txBox="1">
                  <a:spLocks noChangeArrowheads="1"/>
                </p:cNvSpPr>
                <p:nvPr/>
              </p:nvSpPr>
              <p:spPr bwMode="auto">
                <a:xfrm>
                  <a:off x="7673338" y="5474451"/>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1</m:t>
                        </m:r>
                      </m:oMath>
                    </m:oMathPara>
                  </a14:m>
                  <a:endParaRPr lang="en-US" sz="2800" dirty="0"/>
                </a:p>
              </p:txBody>
            </p:sp>
          </mc:Choice>
          <mc:Fallback xmlns="">
            <p:sp>
              <p:nvSpPr>
                <p:cNvPr id="20" name="Text Box 41">
                  <a:extLst>
                    <a:ext uri="{FF2B5EF4-FFF2-40B4-BE49-F238E27FC236}">
                      <a16:creationId xmlns:a16="http://schemas.microsoft.com/office/drawing/2014/main" id="{BD5DB48A-B532-2E68-E804-2C1AEECBA684}"/>
                    </a:ext>
                  </a:extLst>
                </p:cNvPr>
                <p:cNvSpPr txBox="1">
                  <a:spLocks noRot="1" noChangeAspect="1" noMove="1" noResize="1" noEditPoints="1" noAdjustHandles="1" noChangeArrowheads="1" noChangeShapeType="1" noTextEdit="1"/>
                </p:cNvSpPr>
                <p:nvPr/>
              </p:nvSpPr>
              <p:spPr bwMode="auto">
                <a:xfrm>
                  <a:off x="7673338" y="5474451"/>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5E0F7A06-6D76-F6E9-92CF-289EF67899EC}"/>
                </a:ext>
              </a:extLst>
            </p:cNvPr>
            <p:cNvCxnSpPr>
              <a:cxnSpLocks/>
              <a:stCxn id="11" idx="2"/>
            </p:cNvCxnSpPr>
            <p:nvPr/>
          </p:nvCxnSpPr>
          <p:spPr>
            <a:xfrm>
              <a:off x="8340088" y="4725480"/>
              <a:ext cx="0" cy="255823"/>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859E4F6E-DAF3-49C7-20E5-2931AD0D68DB}"/>
                </a:ext>
              </a:extLst>
            </p:cNvPr>
            <p:cNvSpPr/>
            <p:nvPr/>
          </p:nvSpPr>
          <p:spPr>
            <a:xfrm>
              <a:off x="8052990" y="4660169"/>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BD28A8F9-E3CA-0651-BA6E-27AF093F0F34}"/>
                    </a:ext>
                  </a:extLst>
                </p:cNvPr>
                <p:cNvSpPr txBox="1"/>
                <p:nvPr/>
              </p:nvSpPr>
              <p:spPr>
                <a:xfrm>
                  <a:off x="9002408" y="1678247"/>
                  <a:ext cx="3745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𝑛</m:t>
                        </m:r>
                      </m:oMath>
                    </m:oMathPara>
                  </a14:m>
                  <a:endParaRPr lang="en-US" dirty="0">
                    <a:solidFill>
                      <a:srgbClr val="0070C0"/>
                    </a:solidFill>
                  </a:endParaRPr>
                </a:p>
              </p:txBody>
            </p:sp>
          </mc:Choice>
          <mc:Fallback xmlns="">
            <p:sp>
              <p:nvSpPr>
                <p:cNvPr id="18" name="TextBox 17">
                  <a:extLst>
                    <a:ext uri="{FF2B5EF4-FFF2-40B4-BE49-F238E27FC236}">
                      <a16:creationId xmlns:a16="http://schemas.microsoft.com/office/drawing/2014/main" id="{BD28A8F9-E3CA-0651-BA6E-27AF093F0F34}"/>
                    </a:ext>
                  </a:extLst>
                </p:cNvPr>
                <p:cNvSpPr txBox="1">
                  <a:spLocks noRot="1" noChangeAspect="1" noMove="1" noResize="1" noEditPoints="1" noAdjustHandles="1" noChangeArrowheads="1" noChangeShapeType="1" noTextEdit="1"/>
                </p:cNvSpPr>
                <p:nvPr/>
              </p:nvSpPr>
              <p:spPr>
                <a:xfrm>
                  <a:off x="9002408" y="1678247"/>
                  <a:ext cx="374590"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581E091-EA56-3C45-CCCF-4D8BBC012AC6}"/>
                    </a:ext>
                  </a:extLst>
                </p:cNvPr>
                <p:cNvSpPr txBox="1"/>
                <p:nvPr/>
              </p:nvSpPr>
              <p:spPr>
                <a:xfrm>
                  <a:off x="9002407" y="2525515"/>
                  <a:ext cx="7785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𝑛</m:t>
                        </m:r>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19" name="TextBox 18">
                  <a:extLst>
                    <a:ext uri="{FF2B5EF4-FFF2-40B4-BE49-F238E27FC236}">
                      <a16:creationId xmlns:a16="http://schemas.microsoft.com/office/drawing/2014/main" id="{5581E091-EA56-3C45-CCCF-4D8BBC012AC6}"/>
                    </a:ext>
                  </a:extLst>
                </p:cNvPr>
                <p:cNvSpPr txBox="1">
                  <a:spLocks noRot="1" noChangeAspect="1" noMove="1" noResize="1" noEditPoints="1" noAdjustHandles="1" noChangeArrowheads="1" noChangeShapeType="1" noTextEdit="1"/>
                </p:cNvSpPr>
                <p:nvPr/>
              </p:nvSpPr>
              <p:spPr>
                <a:xfrm>
                  <a:off x="9002407" y="2525515"/>
                  <a:ext cx="778546"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163E501-CBD8-735C-F2BC-DFE17572D485}"/>
                    </a:ext>
                  </a:extLst>
                </p:cNvPr>
                <p:cNvSpPr txBox="1"/>
                <p:nvPr/>
              </p:nvSpPr>
              <p:spPr>
                <a:xfrm>
                  <a:off x="9002407" y="3348473"/>
                  <a:ext cx="7785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𝑛</m:t>
                        </m:r>
                        <m:r>
                          <a:rPr lang="en-US" b="0" i="1" smtClean="0">
                            <a:solidFill>
                              <a:srgbClr val="0070C0"/>
                            </a:solidFill>
                            <a:latin typeface="Cambria Math" panose="02040503050406030204" pitchFamily="18" charset="0"/>
                          </a:rPr>
                          <m:t>−2</m:t>
                        </m:r>
                      </m:oMath>
                    </m:oMathPara>
                  </a14:m>
                  <a:endParaRPr lang="en-US" dirty="0">
                    <a:solidFill>
                      <a:srgbClr val="0070C0"/>
                    </a:solidFill>
                  </a:endParaRPr>
                </a:p>
              </p:txBody>
            </p:sp>
          </mc:Choice>
          <mc:Fallback xmlns="">
            <p:sp>
              <p:nvSpPr>
                <p:cNvPr id="20" name="TextBox 19">
                  <a:extLst>
                    <a:ext uri="{FF2B5EF4-FFF2-40B4-BE49-F238E27FC236}">
                      <a16:creationId xmlns:a16="http://schemas.microsoft.com/office/drawing/2014/main" id="{D163E501-CBD8-735C-F2BC-DFE17572D485}"/>
                    </a:ext>
                  </a:extLst>
                </p:cNvPr>
                <p:cNvSpPr txBox="1">
                  <a:spLocks noRot="1" noChangeAspect="1" noMove="1" noResize="1" noEditPoints="1" noAdjustHandles="1" noChangeArrowheads="1" noChangeShapeType="1" noTextEdit="1"/>
                </p:cNvSpPr>
                <p:nvPr/>
              </p:nvSpPr>
              <p:spPr>
                <a:xfrm>
                  <a:off x="9002407" y="3348473"/>
                  <a:ext cx="778546"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83762653-B1D8-1BB5-0E4D-B719C29E5903}"/>
                    </a:ext>
                  </a:extLst>
                </p:cNvPr>
                <p:cNvSpPr txBox="1"/>
                <p:nvPr/>
              </p:nvSpPr>
              <p:spPr>
                <a:xfrm>
                  <a:off x="9002407" y="4171431"/>
                  <a:ext cx="7785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𝑛</m:t>
                        </m:r>
                        <m:r>
                          <a:rPr lang="en-US" b="0" i="1" smtClean="0">
                            <a:solidFill>
                              <a:srgbClr val="0070C0"/>
                            </a:solidFill>
                            <a:latin typeface="Cambria Math" panose="02040503050406030204" pitchFamily="18" charset="0"/>
                          </a:rPr>
                          <m:t>−3</m:t>
                        </m:r>
                      </m:oMath>
                    </m:oMathPara>
                  </a14:m>
                  <a:endParaRPr lang="en-US" dirty="0">
                    <a:solidFill>
                      <a:srgbClr val="0070C0"/>
                    </a:solidFill>
                  </a:endParaRPr>
                </a:p>
              </p:txBody>
            </p:sp>
          </mc:Choice>
          <mc:Fallback xmlns="">
            <p:sp>
              <p:nvSpPr>
                <p:cNvPr id="21" name="TextBox 20">
                  <a:extLst>
                    <a:ext uri="{FF2B5EF4-FFF2-40B4-BE49-F238E27FC236}">
                      <a16:creationId xmlns:a16="http://schemas.microsoft.com/office/drawing/2014/main" id="{83762653-B1D8-1BB5-0E4D-B719C29E5903}"/>
                    </a:ext>
                  </a:extLst>
                </p:cNvPr>
                <p:cNvSpPr txBox="1">
                  <a:spLocks noRot="1" noChangeAspect="1" noMove="1" noResize="1" noEditPoints="1" noAdjustHandles="1" noChangeArrowheads="1" noChangeShapeType="1" noTextEdit="1"/>
                </p:cNvSpPr>
                <p:nvPr/>
              </p:nvSpPr>
              <p:spPr>
                <a:xfrm>
                  <a:off x="9002407" y="4171431"/>
                  <a:ext cx="778546"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9313200-8A95-58CD-E8D3-1E24A7D13A1E}"/>
                    </a:ext>
                  </a:extLst>
                </p:cNvPr>
                <p:cNvSpPr txBox="1"/>
                <p:nvPr/>
              </p:nvSpPr>
              <p:spPr>
                <a:xfrm>
                  <a:off x="8988938" y="5344243"/>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31" name="TextBox 30">
                  <a:extLst>
                    <a:ext uri="{FF2B5EF4-FFF2-40B4-BE49-F238E27FC236}">
                      <a16:creationId xmlns:a16="http://schemas.microsoft.com/office/drawing/2014/main" id="{9CF95495-3C2E-4DF2-EEBF-4AC317B24405}"/>
                    </a:ext>
                  </a:extLst>
                </p:cNvPr>
                <p:cNvSpPr txBox="1">
                  <a:spLocks noRot="1" noChangeAspect="1" noMove="1" noResize="1" noEditPoints="1" noAdjustHandles="1" noChangeArrowheads="1" noChangeShapeType="1" noTextEdit="1"/>
                </p:cNvSpPr>
                <p:nvPr/>
              </p:nvSpPr>
              <p:spPr>
                <a:xfrm>
                  <a:off x="8988938" y="5344243"/>
                  <a:ext cx="365805"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15">
              <p14:nvContentPartPr>
                <p14:cNvPr id="23" name="Ink 22">
                  <a:extLst>
                    <a:ext uri="{FF2B5EF4-FFF2-40B4-BE49-F238E27FC236}">
                      <a16:creationId xmlns:a16="http://schemas.microsoft.com/office/drawing/2014/main" id="{C126A993-8C69-70F1-F267-F626BD8A8E0F}"/>
                    </a:ext>
                  </a:extLst>
                </p14:cNvPr>
                <p14:cNvContentPartPr/>
                <p14:nvPr/>
              </p14:nvContentPartPr>
              <p14:xfrm>
                <a:off x="9410760" y="4483080"/>
                <a:ext cx="360" cy="360"/>
              </p14:xfrm>
            </p:contentPart>
          </mc:Choice>
          <mc:Fallback xmlns="">
            <p:pic>
              <p:nvPicPr>
                <p:cNvPr id="11" name="Ink 10">
                  <a:extLst>
                    <a:ext uri="{FF2B5EF4-FFF2-40B4-BE49-F238E27FC236}">
                      <a16:creationId xmlns:a16="http://schemas.microsoft.com/office/drawing/2014/main" id="{D7D8E0AF-3481-5748-34FB-8D624C2E516D}"/>
                    </a:ext>
                  </a:extLst>
                </p:cNvPr>
                <p:cNvPicPr/>
                <p:nvPr/>
              </p:nvPicPr>
              <p:blipFill>
                <a:blip r:embed="rId16"/>
                <a:stretch>
                  <a:fillRect/>
                </a:stretch>
              </p:blipFill>
              <p:spPr>
                <a:xfrm>
                  <a:off x="9401400" y="4473720"/>
                  <a:ext cx="19080" cy="19080"/>
                </a:xfrm>
                <a:prstGeom prst="rect">
                  <a:avLst/>
                </a:prstGeom>
              </p:spPr>
            </p:pic>
          </mc:Fallback>
        </mc:AlternateContent>
      </p:grpSp>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31432180-B9BD-BEC0-6BC3-728A974152CA}"/>
                  </a:ext>
                </a:extLst>
              </p:cNvPr>
              <p:cNvSpPr txBox="1"/>
              <p:nvPr/>
            </p:nvSpPr>
            <p:spPr>
              <a:xfrm>
                <a:off x="6624320" y="2131196"/>
                <a:ext cx="4849365" cy="18688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𝑇</m:t>
                      </m:r>
                      <m:d>
                        <m:dPr>
                          <m:ctrlPr>
                            <a:rPr lang="en-US" sz="2400" b="0" i="1" smtClean="0">
                              <a:latin typeface="Cambria Math" panose="02040503050406030204" pitchFamily="18" charset="0"/>
                            </a:rPr>
                          </m:ctrlPr>
                        </m:dPr>
                        <m:e>
                          <m:r>
                            <a:rPr lang="en-US" sz="2400" b="0" i="1" smtClean="0">
                              <a:latin typeface="Cambria Math"/>
                            </a:rPr>
                            <m:t>𝑛</m:t>
                          </m:r>
                        </m:e>
                      </m:d>
                      <m:r>
                        <a:rPr lang="en-US" sz="2400" b="0" i="1" smtClean="0">
                          <a:latin typeface="Cambria Math" panose="02040503050406030204" pitchFamily="18" charset="0"/>
                        </a:rPr>
                        <m:t>=</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=0</m:t>
                          </m:r>
                        </m:sub>
                        <m:sup>
                          <m:r>
                            <a:rPr lang="en-US" sz="2400" b="0" i="1" smtClean="0">
                              <a:latin typeface="Cambria Math" panose="02040503050406030204" pitchFamily="18" charset="0"/>
                            </a:rPr>
                            <m:t>𝑛</m:t>
                          </m:r>
                          <m:r>
                            <a:rPr lang="en-US" sz="2400" b="0" i="1" smtClean="0">
                              <a:latin typeface="Cambria Math" panose="02040503050406030204" pitchFamily="18" charset="0"/>
                            </a:rPr>
                            <m:t>−1</m:t>
                          </m:r>
                        </m:sup>
                        <m:e>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𝑖</m:t>
                          </m:r>
                        </m:e>
                      </m:nary>
                      <m:r>
                        <a:rPr lang="en-US" sz="2400" b="0" i="1" smtClean="0">
                          <a:latin typeface="Cambria Math" panose="02040503050406030204" pitchFamily="18" charset="0"/>
                        </a:rPr>
                        <m:t>=</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=1</m:t>
                          </m:r>
                        </m:sub>
                        <m:sup>
                          <m:r>
                            <a:rPr lang="en-US" sz="2400" b="0" i="1" smtClean="0">
                              <a:latin typeface="Cambria Math" panose="02040503050406030204" pitchFamily="18" charset="0"/>
                            </a:rPr>
                            <m:t>𝑛</m:t>
                          </m:r>
                        </m:sup>
                        <m:e>
                          <m:r>
                            <a:rPr lang="en-US" sz="2400" b="0" i="1" smtClean="0">
                              <a:latin typeface="Cambria Math" panose="02040503050406030204" pitchFamily="18" charset="0"/>
                            </a:rPr>
                            <m:t>𝑖</m:t>
                          </m:r>
                        </m:e>
                      </m:nary>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oMath>
                  </m:oMathPara>
                </a14:m>
                <a:endParaRPr lang="en-US" sz="2400" b="0" i="1" dirty="0">
                  <a:latin typeface="Cambria Math" panose="02040503050406030204" pitchFamily="18" charset="0"/>
                </a:endParaRPr>
              </a:p>
              <a:p>
                <a:endParaRPr lang="en-US" sz="24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r>
                        <m:rPr>
                          <m:sty m:val="p"/>
                        </m:rPr>
                        <a:rPr lang="en-US" sz="2400" b="0" i="0" smtClean="0">
                          <a:latin typeface="Cambria Math" panose="02040503050406030204" pitchFamily="18" charset="0"/>
                        </a:rPr>
                        <m:t>Θ</m:t>
                      </m:r>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e>
                            <m:sup>
                              <m:r>
                                <a:rPr lang="en-US" sz="2400" b="0" i="1" smtClean="0">
                                  <a:latin typeface="Cambria Math" panose="02040503050406030204" pitchFamily="18" charset="0"/>
                                </a:rPr>
                                <m:t>2</m:t>
                              </m:r>
                            </m:sup>
                          </m:sSup>
                        </m:e>
                      </m:d>
                    </m:oMath>
                  </m:oMathPara>
                </a14:m>
                <a:endParaRPr lang="en-US" sz="2400" dirty="0"/>
              </a:p>
            </p:txBody>
          </p:sp>
        </mc:Choice>
        <mc:Fallback xmlns="">
          <p:sp>
            <p:nvSpPr>
              <p:cNvPr id="24" name="TextBox 23">
                <a:extLst>
                  <a:ext uri="{FF2B5EF4-FFF2-40B4-BE49-F238E27FC236}">
                    <a16:creationId xmlns:a16="http://schemas.microsoft.com/office/drawing/2014/main" id="{31432180-B9BD-BEC0-6BC3-728A974152CA}"/>
                  </a:ext>
                </a:extLst>
              </p:cNvPr>
              <p:cNvSpPr txBox="1">
                <a:spLocks noRot="1" noChangeAspect="1" noMove="1" noResize="1" noEditPoints="1" noAdjustHandles="1" noChangeArrowheads="1" noChangeShapeType="1" noTextEdit="1"/>
              </p:cNvSpPr>
              <p:nvPr/>
            </p:nvSpPr>
            <p:spPr>
              <a:xfrm>
                <a:off x="6624320" y="2131196"/>
                <a:ext cx="4849365" cy="1868845"/>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18">
            <p14:nvContentPartPr>
              <p14:cNvPr id="4" name="Ink 3">
                <a:extLst>
                  <a:ext uri="{FF2B5EF4-FFF2-40B4-BE49-F238E27FC236}">
                    <a16:creationId xmlns:a16="http://schemas.microsoft.com/office/drawing/2014/main" id="{32DB55ED-3F10-EAB2-3747-DD29E7ECAB75}"/>
                  </a:ext>
                </a:extLst>
              </p14:cNvPr>
              <p14:cNvContentPartPr/>
              <p14:nvPr/>
            </p14:nvContentPartPr>
            <p14:xfrm>
              <a:off x="1213560" y="2271600"/>
              <a:ext cx="10081440" cy="3732480"/>
            </p14:xfrm>
          </p:contentPart>
        </mc:Choice>
        <mc:Fallback>
          <p:pic>
            <p:nvPicPr>
              <p:cNvPr id="4" name="Ink 3">
                <a:extLst>
                  <a:ext uri="{FF2B5EF4-FFF2-40B4-BE49-F238E27FC236}">
                    <a16:creationId xmlns:a16="http://schemas.microsoft.com/office/drawing/2014/main" id="{32DB55ED-3F10-EAB2-3747-DD29E7ECAB75}"/>
                  </a:ext>
                </a:extLst>
              </p:cNvPr>
              <p:cNvPicPr/>
              <p:nvPr/>
            </p:nvPicPr>
            <p:blipFill>
              <a:blip r:embed="rId19"/>
              <a:stretch>
                <a:fillRect/>
              </a:stretch>
            </p:blipFill>
            <p:spPr>
              <a:xfrm>
                <a:off x="1204200" y="2262240"/>
                <a:ext cx="10100160" cy="3751200"/>
              </a:xfrm>
              <a:prstGeom prst="rect">
                <a:avLst/>
              </a:prstGeom>
            </p:spPr>
          </p:pic>
        </mc:Fallback>
      </mc:AlternateContent>
    </p:spTree>
    <p:extLst>
      <p:ext uri="{BB962C8B-B14F-4D97-AF65-F5344CB8AC3E}">
        <p14:creationId xmlns:p14="http://schemas.microsoft.com/office/powerpoint/2010/main" val="237516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Good Pivot</a:t>
            </a:r>
          </a:p>
        </p:txBody>
      </p:sp>
      <p:sp>
        <p:nvSpPr>
          <p:cNvPr id="3" name="Content Placeholder 2"/>
          <p:cNvSpPr>
            <a:spLocks noGrp="1"/>
          </p:cNvSpPr>
          <p:nvPr>
            <p:ph idx="1"/>
          </p:nvPr>
        </p:nvSpPr>
        <p:spPr/>
        <p:txBody>
          <a:bodyPr/>
          <a:lstStyle/>
          <a:p>
            <a:r>
              <a:rPr lang="en-US" dirty="0"/>
              <a:t>What makes a good Pivot?</a:t>
            </a:r>
          </a:p>
          <a:p>
            <a:pPr lvl="1"/>
            <a:r>
              <a:rPr lang="en-US" dirty="0"/>
              <a:t>Roughly even split between left and right</a:t>
            </a:r>
          </a:p>
          <a:p>
            <a:pPr lvl="1"/>
            <a:r>
              <a:rPr lang="en-US" dirty="0"/>
              <a:t>Ideally: median</a:t>
            </a:r>
          </a:p>
          <a:p>
            <a:r>
              <a:rPr lang="en-US" dirty="0"/>
              <a:t>There are ways to find the median in linear time, but it’s complicated and slow and you’re better off using </a:t>
            </a:r>
            <a:r>
              <a:rPr lang="en-US" dirty="0" err="1"/>
              <a:t>mergesort</a:t>
            </a:r>
            <a:endParaRPr lang="en-US" dirty="0"/>
          </a:p>
          <a:p>
            <a:r>
              <a:rPr lang="en-US" dirty="0"/>
              <a:t>In Practice:</a:t>
            </a:r>
          </a:p>
          <a:p>
            <a:pPr lvl="1"/>
            <a:r>
              <a:rPr lang="en-US" dirty="0"/>
              <a:t>Pick a random value as a pivot</a:t>
            </a:r>
          </a:p>
          <a:p>
            <a:pPr lvl="1"/>
            <a:r>
              <a:rPr lang="en-US" dirty="0"/>
              <a:t>Pick the middle of 3 random values as the pivot</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C5F1D897-A3B3-AB0D-36D6-50F8E1976196}"/>
                  </a:ext>
                </a:extLst>
              </p14:cNvPr>
              <p14:cNvContentPartPr/>
              <p14:nvPr/>
            </p14:nvContentPartPr>
            <p14:xfrm>
              <a:off x="940320" y="707400"/>
              <a:ext cx="10526760" cy="4865040"/>
            </p14:xfrm>
          </p:contentPart>
        </mc:Choice>
        <mc:Fallback>
          <p:pic>
            <p:nvPicPr>
              <p:cNvPr id="4" name="Ink 3">
                <a:extLst>
                  <a:ext uri="{FF2B5EF4-FFF2-40B4-BE49-F238E27FC236}">
                    <a16:creationId xmlns:a16="http://schemas.microsoft.com/office/drawing/2014/main" id="{C5F1D897-A3B3-AB0D-36D6-50F8E1976196}"/>
                  </a:ext>
                </a:extLst>
              </p:cNvPr>
              <p:cNvPicPr/>
              <p:nvPr/>
            </p:nvPicPr>
            <p:blipFill>
              <a:blip r:embed="rId3"/>
              <a:stretch>
                <a:fillRect/>
              </a:stretch>
            </p:blipFill>
            <p:spPr>
              <a:xfrm>
                <a:off x="930960" y="698040"/>
                <a:ext cx="10545480" cy="4883760"/>
              </a:xfrm>
              <a:prstGeom prst="rect">
                <a:avLst/>
              </a:prstGeom>
            </p:spPr>
          </p:pic>
        </mc:Fallback>
      </mc:AlternateContent>
    </p:spTree>
    <p:extLst>
      <p:ext uri="{BB962C8B-B14F-4D97-AF65-F5344CB8AC3E}">
        <p14:creationId xmlns:p14="http://schemas.microsoft.com/office/powerpoint/2010/main" val="34566665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D8608-2504-743C-86F1-72C308611A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EA42D7-01D6-CE56-F5A1-3744AC657ABB}"/>
              </a:ext>
            </a:extLst>
          </p:cNvPr>
          <p:cNvSpPr>
            <a:spLocks noGrp="1"/>
          </p:cNvSpPr>
          <p:nvPr>
            <p:ph type="title"/>
          </p:nvPr>
        </p:nvSpPr>
        <p:spPr/>
        <p:txBody>
          <a:bodyPr/>
          <a:lstStyle/>
          <a:p>
            <a:r>
              <a:rPr lang="en-US" dirty="0"/>
              <a:t>Quick Sort Properties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6D3322-3F80-5D45-0053-1B26325A3B93}"/>
                  </a:ext>
                </a:extLst>
              </p:cNvPr>
              <p:cNvSpPr>
                <a:spLocks noGrp="1"/>
              </p:cNvSpPr>
              <p:nvPr>
                <p:ph idx="1"/>
              </p:nvPr>
            </p:nvSpPr>
            <p:spPr/>
            <p:txBody>
              <a:bodyPr>
                <a:normAutofit fontScale="70000" lnSpcReduction="20000"/>
              </a:bodyPr>
              <a:lstStyle/>
              <a:p>
                <a:r>
                  <a:rPr lang="en-US" dirty="0"/>
                  <a:t>Worst case running time</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r>
                  <a:rPr lang="en-US" dirty="0"/>
                  <a:t>, but “almost always”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r>
                  <a:rPr lang="en-US" dirty="0"/>
                  <a:t> in practice </a:t>
                </a:r>
              </a:p>
              <a:p>
                <a:pPr lvl="1"/>
                <a:r>
                  <a:rPr lang="en-US" dirty="0"/>
                  <a:t>Better constants than merge sort</a:t>
                </a:r>
              </a:p>
              <a:p>
                <a:r>
                  <a:rPr lang="en-US" dirty="0"/>
                  <a:t>In place:</a:t>
                </a:r>
              </a:p>
              <a:p>
                <a:pPr lvl="1"/>
                <a:r>
                  <a:rPr lang="en-US" dirty="0"/>
                  <a:t>Kinda…</a:t>
                </a:r>
              </a:p>
              <a:p>
                <a:pPr lvl="1"/>
                <a:r>
                  <a:rPr lang="en-US" dirty="0"/>
                  <a:t>We swap within the given array, but do so using recursion, so we need space for the stack frames</a:t>
                </a:r>
              </a:p>
              <a:p>
                <a:pPr lvl="1"/>
                <a:r>
                  <a:rPr lang="en-US" dirty="0"/>
                  <a:t>Different textbooks disagree on whether call-stack space “counts” </a:t>
                </a:r>
              </a:p>
              <a:p>
                <a:r>
                  <a:rPr lang="en-US" dirty="0"/>
                  <a:t>Adaptive</a:t>
                </a:r>
              </a:p>
              <a:p>
                <a:pPr lvl="1"/>
                <a:r>
                  <a:rPr lang="en-US" dirty="0"/>
                  <a:t>NO! </a:t>
                </a:r>
              </a:p>
              <a:p>
                <a:r>
                  <a:rPr lang="en-US" dirty="0"/>
                  <a:t>Online</a:t>
                </a:r>
              </a:p>
              <a:p>
                <a:pPr lvl="1"/>
                <a:r>
                  <a:rPr lang="en-US" dirty="0"/>
                  <a:t>NO!</a:t>
                </a:r>
              </a:p>
              <a:p>
                <a:pPr lvl="1"/>
                <a:r>
                  <a:rPr lang="en-US" dirty="0"/>
                  <a:t>We need all elements before we can divide</a:t>
                </a:r>
              </a:p>
              <a:p>
                <a:r>
                  <a:rPr lang="en-US" dirty="0"/>
                  <a:t>Stable</a:t>
                </a:r>
              </a:p>
              <a:p>
                <a:pPr lvl="1"/>
                <a:r>
                  <a:rPr lang="en-US" dirty="0"/>
                  <a:t>NO!</a:t>
                </a:r>
              </a:p>
              <a:p>
                <a:pPr lvl="1"/>
                <a:r>
                  <a:rPr lang="en-US" dirty="0"/>
                  <a:t>Partition procedure may rearrange tied elements</a:t>
                </a:r>
              </a:p>
            </p:txBody>
          </p:sp>
        </mc:Choice>
        <mc:Fallback xmlns="">
          <p:sp>
            <p:nvSpPr>
              <p:cNvPr id="3" name="Content Placeholder 2">
                <a:extLst>
                  <a:ext uri="{FF2B5EF4-FFF2-40B4-BE49-F238E27FC236}">
                    <a16:creationId xmlns:a16="http://schemas.microsoft.com/office/drawing/2014/main" id="{076D3322-3F80-5D45-0053-1B26325A3B93}"/>
                  </a:ext>
                </a:extLst>
              </p:cNvPr>
              <p:cNvSpPr>
                <a:spLocks noGrp="1" noRot="1" noChangeAspect="1" noMove="1" noResize="1" noEditPoints="1" noAdjustHandles="1" noChangeArrowheads="1" noChangeShapeType="1" noTextEdit="1"/>
              </p:cNvSpPr>
              <p:nvPr>
                <p:ph idx="1"/>
              </p:nvPr>
            </p:nvSpPr>
            <p:spPr>
              <a:blipFill>
                <a:blip r:embed="rId2"/>
                <a:stretch>
                  <a:fillRect l="-522" t="-252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F409A642-4C72-5409-F347-76ED606CBB64}"/>
                  </a:ext>
                </a:extLst>
              </p14:cNvPr>
              <p14:cNvContentPartPr/>
              <p14:nvPr/>
            </p14:nvContentPartPr>
            <p14:xfrm>
              <a:off x="276480" y="1589040"/>
              <a:ext cx="6154920" cy="4240440"/>
            </p14:xfrm>
          </p:contentPart>
        </mc:Choice>
        <mc:Fallback>
          <p:pic>
            <p:nvPicPr>
              <p:cNvPr id="4" name="Ink 3">
                <a:extLst>
                  <a:ext uri="{FF2B5EF4-FFF2-40B4-BE49-F238E27FC236}">
                    <a16:creationId xmlns:a16="http://schemas.microsoft.com/office/drawing/2014/main" id="{F409A642-4C72-5409-F347-76ED606CBB64}"/>
                  </a:ext>
                </a:extLst>
              </p:cNvPr>
              <p:cNvPicPr/>
              <p:nvPr/>
            </p:nvPicPr>
            <p:blipFill>
              <a:blip r:embed="rId4"/>
              <a:stretch>
                <a:fillRect/>
              </a:stretch>
            </p:blipFill>
            <p:spPr>
              <a:xfrm>
                <a:off x="267120" y="1579680"/>
                <a:ext cx="6173640" cy="4259160"/>
              </a:xfrm>
              <a:prstGeom prst="rect">
                <a:avLst/>
              </a:prstGeom>
            </p:spPr>
          </p:pic>
        </mc:Fallback>
      </mc:AlternateContent>
    </p:spTree>
    <p:extLst>
      <p:ext uri="{BB962C8B-B14F-4D97-AF65-F5344CB8AC3E}">
        <p14:creationId xmlns:p14="http://schemas.microsoft.com/office/powerpoint/2010/main" val="16579026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0443D-CC80-4223-4973-783A2799D5A0}"/>
              </a:ext>
            </a:extLst>
          </p:cNvPr>
          <p:cNvSpPr>
            <a:spLocks noGrp="1"/>
          </p:cNvSpPr>
          <p:nvPr>
            <p:ph type="title"/>
          </p:nvPr>
        </p:nvSpPr>
        <p:spPr/>
        <p:txBody>
          <a:bodyPr/>
          <a:lstStyle/>
          <a:p>
            <a:r>
              <a:rPr lang="en-US" dirty="0"/>
              <a:t>“Linear Time” Sorting Algorithms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4058D8-9EE1-AE68-B68A-9A002CD5EC46}"/>
                  </a:ext>
                </a:extLst>
              </p:cNvPr>
              <p:cNvSpPr>
                <a:spLocks noGrp="1"/>
              </p:cNvSpPr>
              <p:nvPr>
                <p:ph idx="1"/>
              </p:nvPr>
            </p:nvSpPr>
            <p:spPr/>
            <p:txBody>
              <a:bodyPr/>
              <a:lstStyle/>
              <a:p>
                <a:r>
                  <a:rPr lang="en-US" dirty="0"/>
                  <a:t>Useable when you are able to make additional assumptions about the contents of your list (beyond the ability to compare)</a:t>
                </a:r>
              </a:p>
              <a:p>
                <a:pPr lvl="1"/>
                <a:r>
                  <a:rPr lang="en-US" dirty="0"/>
                  <a:t>Examples:</a:t>
                </a:r>
              </a:p>
              <a:p>
                <a:pPr lvl="2"/>
                <a:r>
                  <a:rPr lang="en-US" dirty="0"/>
                  <a:t>The list contains only positive integers less than </a:t>
                </a:r>
                <a14:m>
                  <m:oMath xmlns:m="http://schemas.openxmlformats.org/officeDocument/2006/math">
                    <m:r>
                      <a:rPr lang="en-US" b="0" i="1" smtClean="0">
                        <a:latin typeface="Cambria Math" panose="02040503050406030204" pitchFamily="18" charset="0"/>
                      </a:rPr>
                      <m:t>𝑘</m:t>
                    </m:r>
                  </m:oMath>
                </a14:m>
                <a:endParaRPr lang="en-US" dirty="0"/>
              </a:p>
              <a:p>
                <a:pPr lvl="2"/>
                <a:r>
                  <a:rPr lang="en-US" dirty="0"/>
                  <a:t>The number of distinct values in the list is much smaller than the length of the list</a:t>
                </a:r>
              </a:p>
              <a:p>
                <a:r>
                  <a:rPr lang="en-US" dirty="0"/>
                  <a:t>The running time expression will always have a term other than the list’s length to account for this assumption</a:t>
                </a:r>
              </a:p>
              <a:p>
                <a:pPr lvl="1"/>
                <a:r>
                  <a:rPr lang="en-US" dirty="0"/>
                  <a:t>Examples:</a:t>
                </a:r>
              </a:p>
              <a:p>
                <a:pPr lvl="2"/>
                <a:r>
                  <a:rPr lang="en-US" dirty="0"/>
                  <a:t>Running time might be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dirty="0"/>
                  <a:t> where </a:t>
                </a:r>
                <a14:m>
                  <m:oMath xmlns:m="http://schemas.openxmlformats.org/officeDocument/2006/math">
                    <m:r>
                      <a:rPr lang="en-US" b="0" i="1" smtClean="0">
                        <a:latin typeface="Cambria Math" panose="02040503050406030204" pitchFamily="18" charset="0"/>
                      </a:rPr>
                      <m:t>𝑘</m:t>
                    </m:r>
                  </m:oMath>
                </a14:m>
                <a:r>
                  <a:rPr lang="en-US" dirty="0"/>
                  <a:t> is the range/count of values</a:t>
                </a:r>
              </a:p>
              <a:p>
                <a:pPr lvl="1"/>
                <a:endParaRPr lang="en-US" dirty="0"/>
              </a:p>
            </p:txBody>
          </p:sp>
        </mc:Choice>
        <mc:Fallback xmlns="">
          <p:sp>
            <p:nvSpPr>
              <p:cNvPr id="3" name="Content Placeholder 2">
                <a:extLst>
                  <a:ext uri="{FF2B5EF4-FFF2-40B4-BE49-F238E27FC236}">
                    <a16:creationId xmlns:a16="http://schemas.microsoft.com/office/drawing/2014/main" id="{614058D8-9EE1-AE68-B68A-9A002CD5EC46}"/>
                  </a:ext>
                </a:extLst>
              </p:cNvPr>
              <p:cNvSpPr>
                <a:spLocks noGrp="1" noRot="1" noChangeAspect="1" noMove="1" noResize="1" noEditPoints="1" noAdjustHandles="1" noChangeArrowheads="1" noChangeShapeType="1" noTextEdit="1"/>
              </p:cNvSpPr>
              <p:nvPr>
                <p:ph idx="1"/>
              </p:nvPr>
            </p:nvSpPr>
            <p:spPr>
              <a:blipFill>
                <a:blip r:embed="rId2"/>
                <a:stretch>
                  <a:fillRect l="-1043" t="-2241" r="-1681"/>
                </a:stretch>
              </a:blipFill>
            </p:spPr>
            <p:txBody>
              <a:bodyPr/>
              <a:lstStyle/>
              <a:p>
                <a:r>
                  <a:rPr lang="en-US">
                    <a:noFill/>
                  </a:rPr>
                  <a:t> </a:t>
                </a:r>
              </a:p>
            </p:txBody>
          </p:sp>
        </mc:Fallback>
      </mc:AlternateContent>
    </p:spTree>
    <p:extLst>
      <p:ext uri="{BB962C8B-B14F-4D97-AF65-F5344CB8AC3E}">
        <p14:creationId xmlns:p14="http://schemas.microsoft.com/office/powerpoint/2010/main" val="24441174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4D522-A643-E0F7-0203-D79E5BF422B6}"/>
              </a:ext>
            </a:extLst>
          </p:cNvPr>
          <p:cNvSpPr>
            <a:spLocks noGrp="1"/>
          </p:cNvSpPr>
          <p:nvPr>
            <p:ph type="title"/>
          </p:nvPr>
        </p:nvSpPr>
        <p:spPr/>
        <p:txBody>
          <a:bodyPr/>
          <a:lstStyle/>
          <a:p>
            <a:r>
              <a:rPr lang="en-US" dirty="0" err="1"/>
              <a:t>BucketSort</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E04AAD-4854-7E00-900E-93F7F0ADE080}"/>
                  </a:ext>
                </a:extLst>
              </p:cNvPr>
              <p:cNvSpPr>
                <a:spLocks noGrp="1"/>
              </p:cNvSpPr>
              <p:nvPr>
                <p:ph idx="1"/>
              </p:nvPr>
            </p:nvSpPr>
            <p:spPr/>
            <p:txBody>
              <a:bodyPr/>
              <a:lstStyle/>
              <a:p>
                <a:r>
                  <a:rPr lang="en-US" dirty="0"/>
                  <a:t>Assumes the array contains integers between </a:t>
                </a:r>
                <a14:m>
                  <m:oMath xmlns:m="http://schemas.openxmlformats.org/officeDocument/2006/math">
                    <m:r>
                      <a:rPr lang="en-US" b="0" i="1" smtClean="0">
                        <a:latin typeface="Cambria Math" panose="02040503050406030204" pitchFamily="18" charset="0"/>
                      </a:rPr>
                      <m:t>0</m:t>
                    </m:r>
                  </m:oMath>
                </a14:m>
                <a:r>
                  <a:rPr lang="en-US" dirty="0"/>
                  <a:t> and </a:t>
                </a:r>
                <a14:m>
                  <m:oMath xmlns:m="http://schemas.openxmlformats.org/officeDocument/2006/math">
                    <m:r>
                      <a:rPr lang="en-US" b="0" i="1" smtClean="0">
                        <a:latin typeface="Cambria Math" panose="02040503050406030204" pitchFamily="18" charset="0"/>
                      </a:rPr>
                      <m:t>𝑘</m:t>
                    </m:r>
                    <m:r>
                      <a:rPr lang="en-US" b="0" i="1" smtClean="0">
                        <a:latin typeface="Cambria Math" panose="02040503050406030204" pitchFamily="18" charset="0"/>
                      </a:rPr>
                      <m:t>−1</m:t>
                    </m:r>
                  </m:oMath>
                </a14:m>
                <a:r>
                  <a:rPr lang="en-US" dirty="0"/>
                  <a:t> (or some other small range)</a:t>
                </a:r>
              </a:p>
              <a:p>
                <a:r>
                  <a:rPr lang="en-US" dirty="0"/>
                  <a:t>Idea:</a:t>
                </a:r>
              </a:p>
              <a:p>
                <a:pPr lvl="1"/>
                <a:r>
                  <a:rPr lang="en-US" dirty="0"/>
                  <a:t>Use each value as an index into an array of size </a:t>
                </a:r>
                <a14:m>
                  <m:oMath xmlns:m="http://schemas.openxmlformats.org/officeDocument/2006/math">
                    <m:r>
                      <a:rPr lang="en-US" b="0" i="1" smtClean="0">
                        <a:latin typeface="Cambria Math" panose="02040503050406030204" pitchFamily="18" charset="0"/>
                      </a:rPr>
                      <m:t>𝑘</m:t>
                    </m:r>
                  </m:oMath>
                </a14:m>
                <a:endParaRPr lang="en-US" dirty="0"/>
              </a:p>
              <a:p>
                <a:pPr lvl="1"/>
                <a:r>
                  <a:rPr lang="en-US" dirty="0"/>
                  <a:t>Add the item into the “bucket” at that index (e.g. linked list)</a:t>
                </a:r>
              </a:p>
              <a:p>
                <a:pPr lvl="1"/>
                <a:r>
                  <a:rPr lang="en-US" dirty="0"/>
                  <a:t>Get sorted array by “appending” all the buckets</a:t>
                </a:r>
              </a:p>
            </p:txBody>
          </p:sp>
        </mc:Choice>
        <mc:Fallback xmlns="">
          <p:sp>
            <p:nvSpPr>
              <p:cNvPr id="3" name="Content Placeholder 2">
                <a:extLst>
                  <a:ext uri="{FF2B5EF4-FFF2-40B4-BE49-F238E27FC236}">
                    <a16:creationId xmlns:a16="http://schemas.microsoft.com/office/drawing/2014/main" id="{13E04AAD-4854-7E00-900E-93F7F0ADE080}"/>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46" name="Group 45" descr="An array of length 12 containing only the keys 0, 1, 2, and 3. In particular, the contents are:&#10;[0,2,3,0,0,1,2,1,3,0,2,0]">
            <a:extLst>
              <a:ext uri="{FF2B5EF4-FFF2-40B4-BE49-F238E27FC236}">
                <a16:creationId xmlns:a16="http://schemas.microsoft.com/office/drawing/2014/main" id="{28D2429C-A2C3-D78D-86E9-11CE8E41D125}"/>
              </a:ext>
            </a:extLst>
          </p:cNvPr>
          <p:cNvGrpSpPr/>
          <p:nvPr/>
        </p:nvGrpSpPr>
        <p:grpSpPr>
          <a:xfrm>
            <a:off x="11911" y="5514575"/>
            <a:ext cx="4386191" cy="365386"/>
            <a:chOff x="1445524" y="2895600"/>
            <a:chExt cx="6403076" cy="533400"/>
          </a:xfrm>
          <a:solidFill>
            <a:schemeClr val="bg1"/>
          </a:solidFill>
        </p:grpSpPr>
        <p:sp>
          <p:nvSpPr>
            <p:cNvPr id="47" name="Rectangle 46">
              <a:extLst>
                <a:ext uri="{FF2B5EF4-FFF2-40B4-BE49-F238E27FC236}">
                  <a16:creationId xmlns:a16="http://schemas.microsoft.com/office/drawing/2014/main" id="{C8991133-53D2-21F2-29C3-E98E7709EE01}"/>
                </a:ext>
              </a:extLst>
            </p:cNvPr>
            <p:cNvSpPr/>
            <p:nvPr/>
          </p:nvSpPr>
          <p:spPr>
            <a:xfrm>
              <a:off x="1445524"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0</a:t>
              </a:r>
            </a:p>
          </p:txBody>
        </p:sp>
        <p:sp>
          <p:nvSpPr>
            <p:cNvPr id="48" name="Rectangle 47">
              <a:extLst>
                <a:ext uri="{FF2B5EF4-FFF2-40B4-BE49-F238E27FC236}">
                  <a16:creationId xmlns:a16="http://schemas.microsoft.com/office/drawing/2014/main" id="{730D66B8-A5F7-07FF-D312-C7AC75751DF1}"/>
                </a:ext>
              </a:extLst>
            </p:cNvPr>
            <p:cNvSpPr/>
            <p:nvPr/>
          </p:nvSpPr>
          <p:spPr>
            <a:xfrm>
              <a:off x="1978924"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2</a:t>
              </a:r>
            </a:p>
          </p:txBody>
        </p:sp>
        <p:sp>
          <p:nvSpPr>
            <p:cNvPr id="49" name="Rectangle 48">
              <a:extLst>
                <a:ext uri="{FF2B5EF4-FFF2-40B4-BE49-F238E27FC236}">
                  <a16:creationId xmlns:a16="http://schemas.microsoft.com/office/drawing/2014/main" id="{5E9E219E-11BF-685D-A6D4-EF356E8C2FA7}"/>
                </a:ext>
              </a:extLst>
            </p:cNvPr>
            <p:cNvSpPr/>
            <p:nvPr/>
          </p:nvSpPr>
          <p:spPr>
            <a:xfrm>
              <a:off x="2512893"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3</a:t>
              </a:r>
            </a:p>
          </p:txBody>
        </p:sp>
        <p:sp>
          <p:nvSpPr>
            <p:cNvPr id="50" name="Rectangle 49">
              <a:extLst>
                <a:ext uri="{FF2B5EF4-FFF2-40B4-BE49-F238E27FC236}">
                  <a16:creationId xmlns:a16="http://schemas.microsoft.com/office/drawing/2014/main" id="{9D87A812-EAA0-D443-7950-C573364609A0}"/>
                </a:ext>
              </a:extLst>
            </p:cNvPr>
            <p:cNvSpPr/>
            <p:nvPr/>
          </p:nvSpPr>
          <p:spPr>
            <a:xfrm>
              <a:off x="3046293"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FF"/>
                  </a:solidFill>
                </a:rPr>
                <a:t>0</a:t>
              </a:r>
            </a:p>
          </p:txBody>
        </p:sp>
        <p:sp>
          <p:nvSpPr>
            <p:cNvPr id="51" name="Rectangle 50">
              <a:extLst>
                <a:ext uri="{FF2B5EF4-FFF2-40B4-BE49-F238E27FC236}">
                  <a16:creationId xmlns:a16="http://schemas.microsoft.com/office/drawing/2014/main" id="{F1707F78-BE73-72CA-F6DC-1515ECE148EE}"/>
                </a:ext>
              </a:extLst>
            </p:cNvPr>
            <p:cNvSpPr/>
            <p:nvPr/>
          </p:nvSpPr>
          <p:spPr>
            <a:xfrm>
              <a:off x="3579693"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0</a:t>
              </a:r>
            </a:p>
          </p:txBody>
        </p:sp>
        <p:sp>
          <p:nvSpPr>
            <p:cNvPr id="52" name="Rectangle 51">
              <a:extLst>
                <a:ext uri="{FF2B5EF4-FFF2-40B4-BE49-F238E27FC236}">
                  <a16:creationId xmlns:a16="http://schemas.microsoft.com/office/drawing/2014/main" id="{361E9614-6CC2-15BD-1F3E-2BE8C9109E3A}"/>
                </a:ext>
              </a:extLst>
            </p:cNvPr>
            <p:cNvSpPr/>
            <p:nvPr/>
          </p:nvSpPr>
          <p:spPr>
            <a:xfrm>
              <a:off x="4113662"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3" name="Rectangle 52">
              <a:extLst>
                <a:ext uri="{FF2B5EF4-FFF2-40B4-BE49-F238E27FC236}">
                  <a16:creationId xmlns:a16="http://schemas.microsoft.com/office/drawing/2014/main" id="{712D61F4-D525-E70B-DDA3-1CA9C95D238A}"/>
                </a:ext>
              </a:extLst>
            </p:cNvPr>
            <p:cNvSpPr/>
            <p:nvPr/>
          </p:nvSpPr>
          <p:spPr>
            <a:xfrm>
              <a:off x="4647062"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4" name="Rectangle 53">
              <a:extLst>
                <a:ext uri="{FF2B5EF4-FFF2-40B4-BE49-F238E27FC236}">
                  <a16:creationId xmlns:a16="http://schemas.microsoft.com/office/drawing/2014/main" id="{A9D0A8A3-E471-716C-E1E2-84F388209D08}"/>
                </a:ext>
              </a:extLst>
            </p:cNvPr>
            <p:cNvSpPr/>
            <p:nvPr/>
          </p:nvSpPr>
          <p:spPr>
            <a:xfrm>
              <a:off x="5180462"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FF"/>
                  </a:solidFill>
                </a:rPr>
                <a:t>1</a:t>
              </a:r>
            </a:p>
          </p:txBody>
        </p:sp>
        <p:sp>
          <p:nvSpPr>
            <p:cNvPr id="55" name="Rectangle 54">
              <a:extLst>
                <a:ext uri="{FF2B5EF4-FFF2-40B4-BE49-F238E27FC236}">
                  <a16:creationId xmlns:a16="http://schemas.microsoft.com/office/drawing/2014/main" id="{39E38520-A7FB-159F-9CCA-D3E7AF2DAAAB}"/>
                </a:ext>
              </a:extLst>
            </p:cNvPr>
            <p:cNvSpPr/>
            <p:nvPr/>
          </p:nvSpPr>
          <p:spPr>
            <a:xfrm>
              <a:off x="5714431"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3</a:t>
              </a:r>
            </a:p>
          </p:txBody>
        </p:sp>
        <p:sp>
          <p:nvSpPr>
            <p:cNvPr id="56" name="Rectangle 55">
              <a:extLst>
                <a:ext uri="{FF2B5EF4-FFF2-40B4-BE49-F238E27FC236}">
                  <a16:creationId xmlns:a16="http://schemas.microsoft.com/office/drawing/2014/main" id="{75A47277-D855-F580-7023-1EC9C825E2D6}"/>
                </a:ext>
              </a:extLst>
            </p:cNvPr>
            <p:cNvSpPr/>
            <p:nvPr/>
          </p:nvSpPr>
          <p:spPr>
            <a:xfrm>
              <a:off x="6247831"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57" name="Rectangle 56">
              <a:extLst>
                <a:ext uri="{FF2B5EF4-FFF2-40B4-BE49-F238E27FC236}">
                  <a16:creationId xmlns:a16="http://schemas.microsoft.com/office/drawing/2014/main" id="{871D4AD6-315C-B84D-7071-065DA90CB2D5}"/>
                </a:ext>
              </a:extLst>
            </p:cNvPr>
            <p:cNvSpPr/>
            <p:nvPr/>
          </p:nvSpPr>
          <p:spPr>
            <a:xfrm>
              <a:off x="6781231"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FF"/>
                  </a:solidFill>
                </a:rPr>
                <a:t>2</a:t>
              </a:r>
            </a:p>
          </p:txBody>
        </p:sp>
        <p:sp>
          <p:nvSpPr>
            <p:cNvPr id="58" name="Rectangle 57">
              <a:extLst>
                <a:ext uri="{FF2B5EF4-FFF2-40B4-BE49-F238E27FC236}">
                  <a16:creationId xmlns:a16="http://schemas.microsoft.com/office/drawing/2014/main" id="{DD60F3EF-76FE-B40C-1312-CAA6D43CD06D}"/>
                </a:ext>
              </a:extLst>
            </p:cNvPr>
            <p:cNvSpPr/>
            <p:nvPr/>
          </p:nvSpPr>
          <p:spPr>
            <a:xfrm>
              <a:off x="7315200"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B050"/>
                  </a:solidFill>
                </a:rPr>
                <a:t>0</a:t>
              </a:r>
            </a:p>
          </p:txBody>
        </p:sp>
      </p:grpSp>
      <p:sp>
        <p:nvSpPr>
          <p:cNvPr id="72" name="Arrow: Right 71">
            <a:extLst>
              <a:ext uri="{FF2B5EF4-FFF2-40B4-BE49-F238E27FC236}">
                <a16:creationId xmlns:a16="http://schemas.microsoft.com/office/drawing/2014/main" id="{1DC3E660-9E6E-B53B-EBBB-B31CCC11C4A0}"/>
              </a:ext>
              <a:ext uri="{C183D7F6-B498-43B3-948B-1728B52AA6E4}">
                <adec:decorative xmlns:adec="http://schemas.microsoft.com/office/drawing/2017/decorative" val="1"/>
              </a:ext>
            </a:extLst>
          </p:cNvPr>
          <p:cNvSpPr/>
          <p:nvPr/>
        </p:nvSpPr>
        <p:spPr>
          <a:xfrm>
            <a:off x="4520023" y="5341155"/>
            <a:ext cx="449486" cy="7721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4" name="Group 23" descr="We have one &quot;bucket&quot; per key in our array, so in this case we have buckets 0, 1, 2, and 3. To sort the first step is to insert each item into a bucket according to its sort key. In this case the bucket 0 has six 0s, bucket 1 has two 1s, bucket 2 has three 2s, and bucket 3 has two 3s.">
            <a:extLst>
              <a:ext uri="{FF2B5EF4-FFF2-40B4-BE49-F238E27FC236}">
                <a16:creationId xmlns:a16="http://schemas.microsoft.com/office/drawing/2014/main" id="{67AF8E09-4807-2868-A48C-6127E71A25DA}"/>
              </a:ext>
            </a:extLst>
          </p:cNvPr>
          <p:cNvGrpSpPr/>
          <p:nvPr/>
        </p:nvGrpSpPr>
        <p:grpSpPr>
          <a:xfrm>
            <a:off x="5029200" y="4971363"/>
            <a:ext cx="2133600" cy="1817195"/>
            <a:chOff x="4876800" y="4493526"/>
            <a:chExt cx="2133600" cy="1817195"/>
          </a:xfrm>
        </p:grpSpPr>
        <p:sp>
          <p:nvSpPr>
            <p:cNvPr id="10" name="Rectangle 9">
              <a:extLst>
                <a:ext uri="{FF2B5EF4-FFF2-40B4-BE49-F238E27FC236}">
                  <a16:creationId xmlns:a16="http://schemas.microsoft.com/office/drawing/2014/main" id="{37195B6B-8F20-1E06-FD24-55448A14BC22}"/>
                </a:ext>
              </a:extLst>
            </p:cNvPr>
            <p:cNvSpPr/>
            <p:nvPr/>
          </p:nvSpPr>
          <p:spPr>
            <a:xfrm>
              <a:off x="64770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3</a:t>
              </a:r>
            </a:p>
            <a:p>
              <a:pPr algn="ctr"/>
              <a:r>
                <a:rPr lang="en-US" dirty="0">
                  <a:solidFill>
                    <a:srgbClr val="0070C0"/>
                  </a:solidFill>
                </a:rPr>
                <a:t>3</a:t>
              </a:r>
            </a:p>
          </p:txBody>
        </p:sp>
        <p:sp>
          <p:nvSpPr>
            <p:cNvPr id="11" name="Rectangle 10">
              <a:extLst>
                <a:ext uri="{FF2B5EF4-FFF2-40B4-BE49-F238E27FC236}">
                  <a16:creationId xmlns:a16="http://schemas.microsoft.com/office/drawing/2014/main" id="{EFCDDC84-F1EE-993E-EAE5-3B0A4221D133}"/>
                </a:ext>
              </a:extLst>
            </p:cNvPr>
            <p:cNvSpPr/>
            <p:nvPr/>
          </p:nvSpPr>
          <p:spPr>
            <a:xfrm>
              <a:off x="59436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FF"/>
                  </a:solidFill>
                </a:rPr>
                <a:t>2</a:t>
              </a:r>
            </a:p>
            <a:p>
              <a:pPr algn="ctr"/>
              <a:r>
                <a:rPr lang="en-US" dirty="0">
                  <a:solidFill>
                    <a:schemeClr val="tx1"/>
                  </a:solidFill>
                </a:rPr>
                <a:t>2</a:t>
              </a:r>
            </a:p>
            <a:p>
              <a:pPr algn="ctr"/>
              <a:r>
                <a:rPr lang="en-US" dirty="0">
                  <a:solidFill>
                    <a:srgbClr val="FF0000"/>
                  </a:solidFill>
                </a:rPr>
                <a:t>2</a:t>
              </a:r>
            </a:p>
          </p:txBody>
        </p:sp>
        <p:sp>
          <p:nvSpPr>
            <p:cNvPr id="12" name="TextBox 11">
              <a:extLst>
                <a:ext uri="{FF2B5EF4-FFF2-40B4-BE49-F238E27FC236}">
                  <a16:creationId xmlns:a16="http://schemas.microsoft.com/office/drawing/2014/main" id="{BCBDC5BF-A788-9BB0-473D-1600DF77A3F1}"/>
                </a:ext>
              </a:extLst>
            </p:cNvPr>
            <p:cNvSpPr txBox="1"/>
            <p:nvPr/>
          </p:nvSpPr>
          <p:spPr>
            <a:xfrm>
              <a:off x="4992657" y="5941389"/>
              <a:ext cx="301686" cy="369332"/>
            </a:xfrm>
            <a:prstGeom prst="rect">
              <a:avLst/>
            </a:prstGeom>
            <a:noFill/>
          </p:spPr>
          <p:txBody>
            <a:bodyPr wrap="none" rtlCol="0">
              <a:spAutoFit/>
            </a:bodyPr>
            <a:lstStyle/>
            <a:p>
              <a:r>
                <a:rPr lang="en-US" dirty="0"/>
                <a:t>0</a:t>
              </a:r>
            </a:p>
          </p:txBody>
        </p:sp>
        <p:sp>
          <p:nvSpPr>
            <p:cNvPr id="13" name="TextBox 12">
              <a:extLst>
                <a:ext uri="{FF2B5EF4-FFF2-40B4-BE49-F238E27FC236}">
                  <a16:creationId xmlns:a16="http://schemas.microsoft.com/office/drawing/2014/main" id="{7FD68542-BB28-5946-6762-7C4484D3871E}"/>
                </a:ext>
              </a:extLst>
            </p:cNvPr>
            <p:cNvSpPr txBox="1"/>
            <p:nvPr/>
          </p:nvSpPr>
          <p:spPr>
            <a:xfrm>
              <a:off x="5526057" y="5941389"/>
              <a:ext cx="301686" cy="369332"/>
            </a:xfrm>
            <a:prstGeom prst="rect">
              <a:avLst/>
            </a:prstGeom>
            <a:noFill/>
          </p:spPr>
          <p:txBody>
            <a:bodyPr wrap="none" rtlCol="0">
              <a:spAutoFit/>
            </a:bodyPr>
            <a:lstStyle/>
            <a:p>
              <a:r>
                <a:rPr lang="en-US" dirty="0"/>
                <a:t>1</a:t>
              </a:r>
            </a:p>
          </p:txBody>
        </p:sp>
        <p:sp>
          <p:nvSpPr>
            <p:cNvPr id="14" name="TextBox 13">
              <a:extLst>
                <a:ext uri="{FF2B5EF4-FFF2-40B4-BE49-F238E27FC236}">
                  <a16:creationId xmlns:a16="http://schemas.microsoft.com/office/drawing/2014/main" id="{6DF4183B-2334-683F-82D4-12D377A07121}"/>
                </a:ext>
              </a:extLst>
            </p:cNvPr>
            <p:cNvSpPr txBox="1"/>
            <p:nvPr/>
          </p:nvSpPr>
          <p:spPr>
            <a:xfrm>
              <a:off x="6060026" y="5941389"/>
              <a:ext cx="301686" cy="369332"/>
            </a:xfrm>
            <a:prstGeom prst="rect">
              <a:avLst/>
            </a:prstGeom>
            <a:noFill/>
          </p:spPr>
          <p:txBody>
            <a:bodyPr wrap="none" rtlCol="0">
              <a:spAutoFit/>
            </a:bodyPr>
            <a:lstStyle/>
            <a:p>
              <a:r>
                <a:rPr lang="en-US" dirty="0"/>
                <a:t>2</a:t>
              </a:r>
            </a:p>
          </p:txBody>
        </p:sp>
        <p:sp>
          <p:nvSpPr>
            <p:cNvPr id="15" name="TextBox 14">
              <a:extLst>
                <a:ext uri="{FF2B5EF4-FFF2-40B4-BE49-F238E27FC236}">
                  <a16:creationId xmlns:a16="http://schemas.microsoft.com/office/drawing/2014/main" id="{E7C120CA-55FF-AB22-BBE5-BF9068E1A493}"/>
                </a:ext>
              </a:extLst>
            </p:cNvPr>
            <p:cNvSpPr txBox="1"/>
            <p:nvPr/>
          </p:nvSpPr>
          <p:spPr>
            <a:xfrm>
              <a:off x="6569800" y="5941389"/>
              <a:ext cx="301686" cy="369332"/>
            </a:xfrm>
            <a:prstGeom prst="rect">
              <a:avLst/>
            </a:prstGeom>
            <a:noFill/>
          </p:spPr>
          <p:txBody>
            <a:bodyPr wrap="none" rtlCol="0">
              <a:spAutoFit/>
            </a:bodyPr>
            <a:lstStyle/>
            <a:p>
              <a:r>
                <a:rPr lang="en-US" dirty="0"/>
                <a:t>3</a:t>
              </a:r>
            </a:p>
          </p:txBody>
        </p:sp>
        <p:sp>
          <p:nvSpPr>
            <p:cNvPr id="20" name="Rectangle 19">
              <a:extLst>
                <a:ext uri="{FF2B5EF4-FFF2-40B4-BE49-F238E27FC236}">
                  <a16:creationId xmlns:a16="http://schemas.microsoft.com/office/drawing/2014/main" id="{6FA4C3E8-9EFE-C9A8-7B7A-F47C950A259C}"/>
                </a:ext>
              </a:extLst>
            </p:cNvPr>
            <p:cNvSpPr/>
            <p:nvPr/>
          </p:nvSpPr>
          <p:spPr>
            <a:xfrm>
              <a:off x="54102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a:p>
              <a:pPr algn="ctr"/>
              <a:r>
                <a:rPr lang="en-US" dirty="0">
                  <a:solidFill>
                    <a:srgbClr val="FF00FF"/>
                  </a:solidFill>
                </a:rPr>
                <a:t>1</a:t>
              </a:r>
            </a:p>
          </p:txBody>
        </p:sp>
        <p:sp>
          <p:nvSpPr>
            <p:cNvPr id="21" name="Rectangle 20">
              <a:extLst>
                <a:ext uri="{FF2B5EF4-FFF2-40B4-BE49-F238E27FC236}">
                  <a16:creationId xmlns:a16="http://schemas.microsoft.com/office/drawing/2014/main" id="{0562214D-E46D-80EC-D18F-6101DF8377CD}"/>
                </a:ext>
              </a:extLst>
            </p:cNvPr>
            <p:cNvSpPr/>
            <p:nvPr/>
          </p:nvSpPr>
          <p:spPr>
            <a:xfrm>
              <a:off x="48768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AA48"/>
                  </a:solidFill>
                </a:rPr>
                <a:t>0</a:t>
              </a:r>
            </a:p>
            <a:p>
              <a:pPr algn="ctr"/>
              <a:r>
                <a:rPr lang="en-US" dirty="0">
                  <a:solidFill>
                    <a:schemeClr val="tx1"/>
                  </a:solidFill>
                </a:rPr>
                <a:t>0</a:t>
              </a:r>
            </a:p>
            <a:p>
              <a:pPr algn="ctr"/>
              <a:r>
                <a:rPr lang="en-US" dirty="0">
                  <a:solidFill>
                    <a:srgbClr val="0070C0"/>
                  </a:solidFill>
                </a:rPr>
                <a:t>0</a:t>
              </a:r>
            </a:p>
            <a:p>
              <a:pPr algn="ctr"/>
              <a:r>
                <a:rPr lang="en-US" dirty="0">
                  <a:solidFill>
                    <a:srgbClr val="FF00FF"/>
                  </a:solidFill>
                </a:rPr>
                <a:t>0</a:t>
              </a:r>
            </a:p>
            <a:p>
              <a:pPr algn="ctr"/>
              <a:r>
                <a:rPr lang="en-US" dirty="0">
                  <a:solidFill>
                    <a:srgbClr val="FF0000"/>
                  </a:solidFill>
                </a:rPr>
                <a:t>0</a:t>
              </a:r>
            </a:p>
          </p:txBody>
        </p:sp>
      </p:grpSp>
      <p:sp>
        <p:nvSpPr>
          <p:cNvPr id="73" name="Arrow: Right 72">
            <a:extLst>
              <a:ext uri="{FF2B5EF4-FFF2-40B4-BE49-F238E27FC236}">
                <a16:creationId xmlns:a16="http://schemas.microsoft.com/office/drawing/2014/main" id="{13A20324-3B66-FEF7-4AD8-FE7A0460A6BD}"/>
              </a:ext>
              <a:ext uri="{C183D7F6-B498-43B3-948B-1728B52AA6E4}">
                <adec:decorative xmlns:adec="http://schemas.microsoft.com/office/drawing/2017/decorative" val="1"/>
              </a:ext>
            </a:extLst>
          </p:cNvPr>
          <p:cNvSpPr/>
          <p:nvPr/>
        </p:nvSpPr>
        <p:spPr>
          <a:xfrm>
            <a:off x="7219147" y="5404803"/>
            <a:ext cx="449486" cy="7721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 name="Group 58" descr="finally we empty the buckets into an output array, going in order of the buckets. Our final output will be an array of six 0s, then two 1s, then three 2s, and finally two 3s.">
            <a:extLst>
              <a:ext uri="{FF2B5EF4-FFF2-40B4-BE49-F238E27FC236}">
                <a16:creationId xmlns:a16="http://schemas.microsoft.com/office/drawing/2014/main" id="{2C37DF3F-683D-C0A4-0917-907B958B84E0}"/>
              </a:ext>
            </a:extLst>
          </p:cNvPr>
          <p:cNvGrpSpPr/>
          <p:nvPr/>
        </p:nvGrpSpPr>
        <p:grpSpPr>
          <a:xfrm>
            <a:off x="7782872" y="5527885"/>
            <a:ext cx="4386191" cy="365386"/>
            <a:chOff x="1445524" y="2895600"/>
            <a:chExt cx="6403076" cy="533400"/>
          </a:xfrm>
          <a:solidFill>
            <a:schemeClr val="bg1"/>
          </a:solidFill>
        </p:grpSpPr>
        <p:sp>
          <p:nvSpPr>
            <p:cNvPr id="60" name="Rectangle 59">
              <a:extLst>
                <a:ext uri="{FF2B5EF4-FFF2-40B4-BE49-F238E27FC236}">
                  <a16:creationId xmlns:a16="http://schemas.microsoft.com/office/drawing/2014/main" id="{168E7DD3-EF08-978F-A4CC-F110D4874DFC}"/>
                </a:ext>
              </a:extLst>
            </p:cNvPr>
            <p:cNvSpPr/>
            <p:nvPr/>
          </p:nvSpPr>
          <p:spPr>
            <a:xfrm>
              <a:off x="1445524"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0</a:t>
              </a:r>
            </a:p>
          </p:txBody>
        </p:sp>
        <p:sp>
          <p:nvSpPr>
            <p:cNvPr id="61" name="Rectangle 60">
              <a:extLst>
                <a:ext uri="{FF2B5EF4-FFF2-40B4-BE49-F238E27FC236}">
                  <a16:creationId xmlns:a16="http://schemas.microsoft.com/office/drawing/2014/main" id="{69B22446-6F01-32A0-2BB0-AEAB907E04D5}"/>
                </a:ext>
              </a:extLst>
            </p:cNvPr>
            <p:cNvSpPr/>
            <p:nvPr/>
          </p:nvSpPr>
          <p:spPr>
            <a:xfrm>
              <a:off x="1978924"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FF"/>
                  </a:solidFill>
                </a:rPr>
                <a:t>0</a:t>
              </a:r>
            </a:p>
          </p:txBody>
        </p:sp>
        <p:sp>
          <p:nvSpPr>
            <p:cNvPr id="62" name="Rectangle 61">
              <a:extLst>
                <a:ext uri="{FF2B5EF4-FFF2-40B4-BE49-F238E27FC236}">
                  <a16:creationId xmlns:a16="http://schemas.microsoft.com/office/drawing/2014/main" id="{002ABD29-384B-723C-6187-14C726F98BDC}"/>
                </a:ext>
              </a:extLst>
            </p:cNvPr>
            <p:cNvSpPr/>
            <p:nvPr/>
          </p:nvSpPr>
          <p:spPr>
            <a:xfrm>
              <a:off x="2512893"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0</a:t>
              </a:r>
              <a:endParaRPr lang="en-US" dirty="0">
                <a:solidFill>
                  <a:schemeClr val="tx1"/>
                </a:solidFill>
              </a:endParaRPr>
            </a:p>
          </p:txBody>
        </p:sp>
        <p:sp>
          <p:nvSpPr>
            <p:cNvPr id="63" name="Rectangle 62">
              <a:extLst>
                <a:ext uri="{FF2B5EF4-FFF2-40B4-BE49-F238E27FC236}">
                  <a16:creationId xmlns:a16="http://schemas.microsoft.com/office/drawing/2014/main" id="{5E9E328F-376B-9281-6918-22FBE538C2AE}"/>
                </a:ext>
              </a:extLst>
            </p:cNvPr>
            <p:cNvSpPr/>
            <p:nvPr/>
          </p:nvSpPr>
          <p:spPr>
            <a:xfrm>
              <a:off x="3046293"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64" name="Rectangle 63">
              <a:extLst>
                <a:ext uri="{FF2B5EF4-FFF2-40B4-BE49-F238E27FC236}">
                  <a16:creationId xmlns:a16="http://schemas.microsoft.com/office/drawing/2014/main" id="{629300FB-CEAE-D3F3-1EEE-A6D4FA6E9460}"/>
                </a:ext>
              </a:extLst>
            </p:cNvPr>
            <p:cNvSpPr/>
            <p:nvPr/>
          </p:nvSpPr>
          <p:spPr>
            <a:xfrm>
              <a:off x="3579693"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B050"/>
                  </a:solidFill>
                </a:rPr>
                <a:t>0</a:t>
              </a:r>
              <a:endParaRPr lang="en-US" dirty="0">
                <a:solidFill>
                  <a:schemeClr val="tx1"/>
                </a:solidFill>
              </a:endParaRPr>
            </a:p>
          </p:txBody>
        </p:sp>
        <p:sp>
          <p:nvSpPr>
            <p:cNvPr id="65" name="Rectangle 64">
              <a:extLst>
                <a:ext uri="{FF2B5EF4-FFF2-40B4-BE49-F238E27FC236}">
                  <a16:creationId xmlns:a16="http://schemas.microsoft.com/office/drawing/2014/main" id="{984D1EB2-7C2B-B887-349D-881E6E9E1109}"/>
                </a:ext>
              </a:extLst>
            </p:cNvPr>
            <p:cNvSpPr/>
            <p:nvPr/>
          </p:nvSpPr>
          <p:spPr>
            <a:xfrm>
              <a:off x="4113662"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FF"/>
                  </a:solidFill>
                </a:rPr>
                <a:t>1</a:t>
              </a:r>
            </a:p>
          </p:txBody>
        </p:sp>
        <p:sp>
          <p:nvSpPr>
            <p:cNvPr id="66" name="Rectangle 65">
              <a:extLst>
                <a:ext uri="{FF2B5EF4-FFF2-40B4-BE49-F238E27FC236}">
                  <a16:creationId xmlns:a16="http://schemas.microsoft.com/office/drawing/2014/main" id="{041EB973-F099-2F63-CFFA-6B4FE1504307}"/>
                </a:ext>
              </a:extLst>
            </p:cNvPr>
            <p:cNvSpPr/>
            <p:nvPr/>
          </p:nvSpPr>
          <p:spPr>
            <a:xfrm>
              <a:off x="4647062"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7" name="Rectangle 66">
              <a:extLst>
                <a:ext uri="{FF2B5EF4-FFF2-40B4-BE49-F238E27FC236}">
                  <a16:creationId xmlns:a16="http://schemas.microsoft.com/office/drawing/2014/main" id="{D16FC5AC-9509-45B7-F650-CED6211C8830}"/>
                </a:ext>
              </a:extLst>
            </p:cNvPr>
            <p:cNvSpPr/>
            <p:nvPr/>
          </p:nvSpPr>
          <p:spPr>
            <a:xfrm>
              <a:off x="5180462"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2</a:t>
              </a:r>
              <a:endParaRPr lang="en-US" dirty="0">
                <a:solidFill>
                  <a:schemeClr val="tx1"/>
                </a:solidFill>
              </a:endParaRPr>
            </a:p>
          </p:txBody>
        </p:sp>
        <p:sp>
          <p:nvSpPr>
            <p:cNvPr id="68" name="Rectangle 67">
              <a:extLst>
                <a:ext uri="{FF2B5EF4-FFF2-40B4-BE49-F238E27FC236}">
                  <a16:creationId xmlns:a16="http://schemas.microsoft.com/office/drawing/2014/main" id="{525304CE-B1AA-C3A7-6873-7110DE44C16E}"/>
                </a:ext>
              </a:extLst>
            </p:cNvPr>
            <p:cNvSpPr/>
            <p:nvPr/>
          </p:nvSpPr>
          <p:spPr>
            <a:xfrm>
              <a:off x="5714431"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9" name="Rectangle 68">
              <a:extLst>
                <a:ext uri="{FF2B5EF4-FFF2-40B4-BE49-F238E27FC236}">
                  <a16:creationId xmlns:a16="http://schemas.microsoft.com/office/drawing/2014/main" id="{D07EFFBC-9B46-C790-EF65-9D92153F102F}"/>
                </a:ext>
              </a:extLst>
            </p:cNvPr>
            <p:cNvSpPr/>
            <p:nvPr/>
          </p:nvSpPr>
          <p:spPr>
            <a:xfrm>
              <a:off x="6247831"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FF"/>
                  </a:solidFill>
                </a:rPr>
                <a:t>2</a:t>
              </a:r>
              <a:endParaRPr lang="en-US" dirty="0">
                <a:solidFill>
                  <a:schemeClr val="tx1"/>
                </a:solidFill>
              </a:endParaRPr>
            </a:p>
          </p:txBody>
        </p:sp>
        <p:sp>
          <p:nvSpPr>
            <p:cNvPr id="70" name="Rectangle 69">
              <a:extLst>
                <a:ext uri="{FF2B5EF4-FFF2-40B4-BE49-F238E27FC236}">
                  <a16:creationId xmlns:a16="http://schemas.microsoft.com/office/drawing/2014/main" id="{3624E2DD-4DD7-4825-D30E-BEAB32059351}"/>
                </a:ext>
              </a:extLst>
            </p:cNvPr>
            <p:cNvSpPr/>
            <p:nvPr/>
          </p:nvSpPr>
          <p:spPr>
            <a:xfrm>
              <a:off x="6781231"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3</a:t>
              </a:r>
            </a:p>
          </p:txBody>
        </p:sp>
        <p:sp>
          <p:nvSpPr>
            <p:cNvPr id="71" name="Rectangle 70">
              <a:extLst>
                <a:ext uri="{FF2B5EF4-FFF2-40B4-BE49-F238E27FC236}">
                  <a16:creationId xmlns:a16="http://schemas.microsoft.com/office/drawing/2014/main" id="{DFEDECB3-6B8A-6D9C-D63C-0945F37563C3}"/>
                </a:ext>
              </a:extLst>
            </p:cNvPr>
            <p:cNvSpPr/>
            <p:nvPr/>
          </p:nvSpPr>
          <p:spPr>
            <a:xfrm>
              <a:off x="7315200" y="2895600"/>
              <a:ext cx="533400" cy="533400"/>
            </a:xfrm>
            <a:prstGeom prst="rect">
              <a:avLst/>
            </a:prstGeom>
            <a:grp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FF0000"/>
                  </a:solidFill>
                </a:rPr>
                <a:t>3</a:t>
              </a:r>
              <a:endParaRPr lang="en-US" dirty="0">
                <a:solidFill>
                  <a:schemeClr val="tx1"/>
                </a:solidFill>
              </a:endParaRPr>
            </a:p>
          </p:txBody>
        </p:sp>
      </p:grpSp>
    </p:spTree>
    <p:extLst>
      <p:ext uri="{BB962C8B-B14F-4D97-AF65-F5344CB8AC3E}">
        <p14:creationId xmlns:p14="http://schemas.microsoft.com/office/powerpoint/2010/main" val="17313389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6691A-165A-A4B2-5211-40C5459F61AF}"/>
              </a:ext>
            </a:extLst>
          </p:cNvPr>
          <p:cNvSpPr>
            <a:spLocks noGrp="1"/>
          </p:cNvSpPr>
          <p:nvPr>
            <p:ph type="title"/>
          </p:nvPr>
        </p:nvSpPr>
        <p:spPr/>
        <p:txBody>
          <a:bodyPr/>
          <a:lstStyle/>
          <a:p>
            <a:r>
              <a:rPr lang="en-US" dirty="0" err="1"/>
              <a:t>BucketSort</a:t>
            </a:r>
            <a:r>
              <a:rPr lang="en-US" dirty="0"/>
              <a:t> Running Time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9708F3-E299-035E-25B6-51CE18AF3A43}"/>
                  </a:ext>
                </a:extLst>
              </p:cNvPr>
              <p:cNvSpPr>
                <a:spLocks noGrp="1"/>
              </p:cNvSpPr>
              <p:nvPr>
                <p:ph idx="1"/>
              </p:nvPr>
            </p:nvSpPr>
            <p:spPr/>
            <p:txBody>
              <a:bodyPr/>
              <a:lstStyle/>
              <a:p>
                <a:r>
                  <a:rPr lang="en-US" dirty="0"/>
                  <a:t>Create array of </a:t>
                </a:r>
                <a14:m>
                  <m:oMath xmlns:m="http://schemas.openxmlformats.org/officeDocument/2006/math">
                    <m:r>
                      <a:rPr lang="en-US" b="0" i="1" smtClean="0">
                        <a:latin typeface="Cambria Math" panose="02040503050406030204" pitchFamily="18" charset="0"/>
                      </a:rPr>
                      <m:t>𝑘</m:t>
                    </m:r>
                  </m:oMath>
                </a14:m>
                <a:r>
                  <a:rPr lang="en-US" dirty="0"/>
                  <a:t> buckets</a:t>
                </a:r>
              </a:p>
              <a:p>
                <a:pPr lvl="1"/>
                <a:r>
                  <a:rPr lang="en-US" dirty="0"/>
                  <a:t>Either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a14:m>
                <a:r>
                  <a:rPr lang="en-US" dirty="0"/>
                  <a:t> or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(1)</m:t>
                    </m:r>
                  </m:oMath>
                </a14:m>
                <a:r>
                  <a:rPr lang="en-US" dirty="0"/>
                  <a:t> depending on some things…</a:t>
                </a:r>
              </a:p>
              <a:p>
                <a:r>
                  <a:rPr lang="en-US" dirty="0"/>
                  <a:t>Insert all </a:t>
                </a:r>
                <a14:m>
                  <m:oMath xmlns:m="http://schemas.openxmlformats.org/officeDocument/2006/math">
                    <m:r>
                      <a:rPr lang="en-US" b="0" i="1" smtClean="0">
                        <a:latin typeface="Cambria Math" panose="02040503050406030204" pitchFamily="18" charset="0"/>
                      </a:rPr>
                      <m:t>𝑛</m:t>
                    </m:r>
                  </m:oMath>
                </a14:m>
                <a:r>
                  <a:rPr lang="en-US" dirty="0"/>
                  <a:t> things into buckets</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a:p>
                <a:r>
                  <a:rPr lang="en-US" dirty="0"/>
                  <a:t>Empty buckets into an array</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a14:m>
                <a:endParaRPr lang="en-US" dirty="0"/>
              </a:p>
              <a:p>
                <a:r>
                  <a:rPr lang="en-US" dirty="0"/>
                  <a:t>Overall:</a:t>
                </a:r>
              </a:p>
              <a:p>
                <a:pPr lvl="1"/>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𝑘</m:t>
                        </m:r>
                      </m:e>
                    </m:d>
                  </m:oMath>
                </a14:m>
                <a:endParaRPr lang="en-US" dirty="0"/>
              </a:p>
              <a:p>
                <a:r>
                  <a:rPr lang="en-US" dirty="0"/>
                  <a:t>When is this better than </a:t>
                </a:r>
                <a:r>
                  <a:rPr lang="en-US" dirty="0" err="1"/>
                  <a:t>mergesort</a:t>
                </a:r>
                <a:r>
                  <a:rPr lang="en-US" dirty="0"/>
                  <a:t>?</a:t>
                </a:r>
              </a:p>
              <a:p>
                <a:pPr lvl="1"/>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849708F3-E299-035E-25B6-51CE18AF3A43}"/>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30089972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B8172-18DF-BF9D-15EE-737B44C98824}"/>
              </a:ext>
            </a:extLst>
          </p:cNvPr>
          <p:cNvSpPr>
            <a:spLocks noGrp="1"/>
          </p:cNvSpPr>
          <p:nvPr>
            <p:ph type="title"/>
          </p:nvPr>
        </p:nvSpPr>
        <p:spPr/>
        <p:txBody>
          <a:bodyPr/>
          <a:lstStyle/>
          <a:p>
            <a:r>
              <a:rPr lang="en-US" dirty="0"/>
              <a:t>Properties of </a:t>
            </a:r>
            <a:r>
              <a:rPr lang="en-US" dirty="0" err="1"/>
              <a:t>BucketSort</a:t>
            </a:r>
            <a:endParaRPr lang="en-US" dirty="0"/>
          </a:p>
        </p:txBody>
      </p:sp>
      <p:sp>
        <p:nvSpPr>
          <p:cNvPr id="3" name="Content Placeholder 2">
            <a:extLst>
              <a:ext uri="{FF2B5EF4-FFF2-40B4-BE49-F238E27FC236}">
                <a16:creationId xmlns:a16="http://schemas.microsoft.com/office/drawing/2014/main" id="{E5F1C77C-A95B-025D-AC30-3008592132B7}"/>
              </a:ext>
            </a:extLst>
          </p:cNvPr>
          <p:cNvSpPr>
            <a:spLocks noGrp="1"/>
          </p:cNvSpPr>
          <p:nvPr>
            <p:ph idx="1"/>
          </p:nvPr>
        </p:nvSpPr>
        <p:spPr/>
        <p:txBody>
          <a:bodyPr>
            <a:normAutofit/>
          </a:bodyPr>
          <a:lstStyle/>
          <a:p>
            <a:r>
              <a:rPr lang="en-US" dirty="0"/>
              <a:t>In-Place?</a:t>
            </a:r>
          </a:p>
          <a:p>
            <a:pPr lvl="1"/>
            <a:r>
              <a:rPr lang="en-US" dirty="0"/>
              <a:t>No</a:t>
            </a:r>
          </a:p>
          <a:p>
            <a:r>
              <a:rPr lang="en-US" dirty="0"/>
              <a:t>Adaptive?</a:t>
            </a:r>
          </a:p>
          <a:p>
            <a:pPr lvl="1"/>
            <a:r>
              <a:rPr lang="en-US" dirty="0"/>
              <a:t>No</a:t>
            </a:r>
          </a:p>
          <a:p>
            <a:r>
              <a:rPr lang="en-US" dirty="0"/>
              <a:t>Stable?</a:t>
            </a:r>
          </a:p>
          <a:p>
            <a:pPr lvl="1"/>
            <a:r>
              <a:rPr lang="en-US" dirty="0"/>
              <a:t>Yes! </a:t>
            </a:r>
          </a:p>
        </p:txBody>
      </p:sp>
    </p:spTree>
    <p:extLst>
      <p:ext uri="{BB962C8B-B14F-4D97-AF65-F5344CB8AC3E}">
        <p14:creationId xmlns:p14="http://schemas.microsoft.com/office/powerpoint/2010/main" val="30281155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4D522-A643-E0F7-0203-D79E5BF422B6}"/>
              </a:ext>
            </a:extLst>
          </p:cNvPr>
          <p:cNvSpPr>
            <a:spLocks noGrp="1"/>
          </p:cNvSpPr>
          <p:nvPr>
            <p:ph type="title"/>
          </p:nvPr>
        </p:nvSpPr>
        <p:spPr/>
        <p:txBody>
          <a:bodyPr/>
          <a:lstStyle/>
          <a:p>
            <a:r>
              <a:rPr lang="en-US" dirty="0" err="1"/>
              <a:t>RadixSort</a:t>
            </a:r>
            <a:endParaRPr lang="en-US" dirty="0"/>
          </a:p>
        </p:txBody>
      </p:sp>
      <p:sp>
        <p:nvSpPr>
          <p:cNvPr id="3" name="Content Placeholder 2">
            <a:extLst>
              <a:ext uri="{FF2B5EF4-FFF2-40B4-BE49-F238E27FC236}">
                <a16:creationId xmlns:a16="http://schemas.microsoft.com/office/drawing/2014/main" id="{13E04AAD-4854-7E00-900E-93F7F0ADE080}"/>
              </a:ext>
            </a:extLst>
          </p:cNvPr>
          <p:cNvSpPr>
            <a:spLocks noGrp="1"/>
          </p:cNvSpPr>
          <p:nvPr>
            <p:ph idx="1"/>
          </p:nvPr>
        </p:nvSpPr>
        <p:spPr>
          <a:xfrm>
            <a:off x="503842" y="1517901"/>
            <a:ext cx="11668760" cy="4351338"/>
          </a:xfrm>
        </p:spPr>
        <p:txBody>
          <a:bodyPr/>
          <a:lstStyle/>
          <a:p>
            <a:r>
              <a:rPr lang="en-US" dirty="0"/>
              <a:t>Radix: The base of a number system</a:t>
            </a:r>
          </a:p>
          <a:p>
            <a:pPr lvl="1"/>
            <a:r>
              <a:rPr lang="en-US" dirty="0"/>
              <a:t>We’ll use base 10, most implementations will use larger bases</a:t>
            </a:r>
          </a:p>
          <a:p>
            <a:r>
              <a:rPr lang="en-US" dirty="0"/>
              <a:t>Idea: </a:t>
            </a:r>
          </a:p>
          <a:p>
            <a:pPr lvl="1"/>
            <a:r>
              <a:rPr lang="en-US" dirty="0" err="1"/>
              <a:t>BucketSort</a:t>
            </a:r>
            <a:r>
              <a:rPr lang="en-US" dirty="0"/>
              <a:t> by each digit, one at a time, from least significant to most significant</a:t>
            </a:r>
          </a:p>
        </p:txBody>
      </p:sp>
      <p:sp>
        <p:nvSpPr>
          <p:cNvPr id="31" name="TextBox 30">
            <a:extLst>
              <a:ext uri="{FF2B5EF4-FFF2-40B4-BE49-F238E27FC236}">
                <a16:creationId xmlns:a16="http://schemas.microsoft.com/office/drawing/2014/main" id="{9F143260-887A-82E5-E7F0-D8C587242AE1}"/>
              </a:ext>
            </a:extLst>
          </p:cNvPr>
          <p:cNvSpPr txBox="1"/>
          <p:nvPr/>
        </p:nvSpPr>
        <p:spPr>
          <a:xfrm>
            <a:off x="1293363" y="5249289"/>
            <a:ext cx="3184788" cy="1200329"/>
          </a:xfrm>
          <a:prstGeom prst="rect">
            <a:avLst/>
          </a:prstGeom>
          <a:noFill/>
        </p:spPr>
        <p:txBody>
          <a:bodyPr wrap="square" rtlCol="0">
            <a:spAutoFit/>
          </a:bodyPr>
          <a:lstStyle/>
          <a:p>
            <a:r>
              <a:rPr lang="en-US" sz="2400" dirty="0"/>
              <a:t>Place each element into a “bucket” according to its 1’s place</a:t>
            </a:r>
          </a:p>
        </p:txBody>
      </p:sp>
      <p:grpSp>
        <p:nvGrpSpPr>
          <p:cNvPr id="98" name="Group 97" descr="An array of three digit numbers of length 16:&#10;[103, 801, 401, 323, 255, 823, 999, 101, 113, 901, 555, 512, 245, 800, 018, 121]">
            <a:extLst>
              <a:ext uri="{FF2B5EF4-FFF2-40B4-BE49-F238E27FC236}">
                <a16:creationId xmlns:a16="http://schemas.microsoft.com/office/drawing/2014/main" id="{30506CD8-5A21-1B48-F376-2B0346B1442F}"/>
              </a:ext>
            </a:extLst>
          </p:cNvPr>
          <p:cNvGrpSpPr/>
          <p:nvPr/>
        </p:nvGrpSpPr>
        <p:grpSpPr>
          <a:xfrm>
            <a:off x="503842" y="3666399"/>
            <a:ext cx="8561464" cy="849868"/>
            <a:chOff x="1752600" y="2743200"/>
            <a:chExt cx="8561464" cy="849868"/>
          </a:xfrm>
        </p:grpSpPr>
        <p:grpSp>
          <p:nvGrpSpPr>
            <p:cNvPr id="4" name="Group 3">
              <a:extLst>
                <a:ext uri="{FF2B5EF4-FFF2-40B4-BE49-F238E27FC236}">
                  <a16:creationId xmlns:a16="http://schemas.microsoft.com/office/drawing/2014/main" id="{668EBC18-C202-3D7E-B926-33134979DB44}"/>
                </a:ext>
              </a:extLst>
            </p:cNvPr>
            <p:cNvGrpSpPr/>
            <p:nvPr/>
          </p:nvGrpSpPr>
          <p:grpSpPr>
            <a:xfrm>
              <a:off x="1752600" y="2743200"/>
              <a:ext cx="4268338" cy="849868"/>
              <a:chOff x="2361062" y="2743200"/>
              <a:chExt cx="4268338" cy="849868"/>
            </a:xfrm>
          </p:grpSpPr>
          <p:grpSp>
            <p:nvGrpSpPr>
              <p:cNvPr id="5" name="Group 4">
                <a:extLst>
                  <a:ext uri="{FF2B5EF4-FFF2-40B4-BE49-F238E27FC236}">
                    <a16:creationId xmlns:a16="http://schemas.microsoft.com/office/drawing/2014/main" id="{B07EEFA4-C5F7-5449-AE1D-C9DCD31AEE37}"/>
                  </a:ext>
                </a:extLst>
              </p:cNvPr>
              <p:cNvGrpSpPr/>
              <p:nvPr/>
            </p:nvGrpSpPr>
            <p:grpSpPr>
              <a:xfrm>
                <a:off x="2361062" y="2743200"/>
                <a:ext cx="4268338" cy="533400"/>
                <a:chOff x="1445524" y="2971800"/>
                <a:chExt cx="4268338" cy="533400"/>
              </a:xfrm>
            </p:grpSpPr>
            <p:sp>
              <p:nvSpPr>
                <p:cNvPr id="22" name="Rectangle 21">
                  <a:extLst>
                    <a:ext uri="{FF2B5EF4-FFF2-40B4-BE49-F238E27FC236}">
                      <a16:creationId xmlns:a16="http://schemas.microsoft.com/office/drawing/2014/main" id="{B772C34B-AE61-051B-E7C0-BD7A0E92C086}"/>
                    </a:ext>
                  </a:extLst>
                </p:cNvPr>
                <p:cNvSpPr/>
                <p:nvPr/>
              </p:nvSpPr>
              <p:spPr>
                <a:xfrm>
                  <a:off x="14455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103</a:t>
                  </a:r>
                </a:p>
              </p:txBody>
            </p:sp>
            <p:sp>
              <p:nvSpPr>
                <p:cNvPr id="23" name="Rectangle 22">
                  <a:extLst>
                    <a:ext uri="{FF2B5EF4-FFF2-40B4-BE49-F238E27FC236}">
                      <a16:creationId xmlns:a16="http://schemas.microsoft.com/office/drawing/2014/main" id="{FA76D77E-9B08-5B17-CAB0-434AA7692468}"/>
                    </a:ext>
                  </a:extLst>
                </p:cNvPr>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801</a:t>
                  </a:r>
                </a:p>
              </p:txBody>
            </p:sp>
            <p:sp>
              <p:nvSpPr>
                <p:cNvPr id="25" name="Rectangle 24">
                  <a:extLst>
                    <a:ext uri="{FF2B5EF4-FFF2-40B4-BE49-F238E27FC236}">
                      <a16:creationId xmlns:a16="http://schemas.microsoft.com/office/drawing/2014/main" id="{14E195B0-311A-9164-AE6C-6CC2E9E46C94}"/>
                    </a:ext>
                  </a:extLst>
                </p:cNvPr>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401</a:t>
                  </a:r>
                </a:p>
              </p:txBody>
            </p:sp>
            <p:sp>
              <p:nvSpPr>
                <p:cNvPr id="26" name="Rectangle 25">
                  <a:extLst>
                    <a:ext uri="{FF2B5EF4-FFF2-40B4-BE49-F238E27FC236}">
                      <a16:creationId xmlns:a16="http://schemas.microsoft.com/office/drawing/2014/main" id="{5E96D355-24F5-F191-E3B1-402061B50FD0}"/>
                    </a:ext>
                  </a:extLst>
                </p:cNvPr>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323</a:t>
                  </a:r>
                </a:p>
              </p:txBody>
            </p:sp>
            <p:sp>
              <p:nvSpPr>
                <p:cNvPr id="27" name="Rectangle 26">
                  <a:extLst>
                    <a:ext uri="{FF2B5EF4-FFF2-40B4-BE49-F238E27FC236}">
                      <a16:creationId xmlns:a16="http://schemas.microsoft.com/office/drawing/2014/main" id="{1B07A61B-7381-B0A9-3D0B-7C9945E1349D}"/>
                    </a:ext>
                  </a:extLst>
                </p:cNvPr>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255</a:t>
                  </a:r>
                </a:p>
              </p:txBody>
            </p:sp>
            <p:sp>
              <p:nvSpPr>
                <p:cNvPr id="28" name="Rectangle 27">
                  <a:extLst>
                    <a:ext uri="{FF2B5EF4-FFF2-40B4-BE49-F238E27FC236}">
                      <a16:creationId xmlns:a16="http://schemas.microsoft.com/office/drawing/2014/main" id="{FDB9E96C-7F87-6C59-7CAB-3D0C04C4A4B9}"/>
                    </a:ext>
                  </a:extLst>
                </p:cNvPr>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823</a:t>
                  </a:r>
                </a:p>
              </p:txBody>
            </p:sp>
            <p:sp>
              <p:nvSpPr>
                <p:cNvPr id="29" name="Rectangle 28">
                  <a:extLst>
                    <a:ext uri="{FF2B5EF4-FFF2-40B4-BE49-F238E27FC236}">
                      <a16:creationId xmlns:a16="http://schemas.microsoft.com/office/drawing/2014/main" id="{639CFBAD-84A8-D35F-518F-ACA2E84658C4}"/>
                    </a:ext>
                  </a:extLst>
                </p:cNvPr>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999</a:t>
                  </a:r>
                </a:p>
              </p:txBody>
            </p:sp>
            <p:sp>
              <p:nvSpPr>
                <p:cNvPr id="30" name="Rectangle 29">
                  <a:extLst>
                    <a:ext uri="{FF2B5EF4-FFF2-40B4-BE49-F238E27FC236}">
                      <a16:creationId xmlns:a16="http://schemas.microsoft.com/office/drawing/2014/main" id="{8D65DD80-C4D2-3900-188B-E4A300D3349C}"/>
                    </a:ext>
                  </a:extLst>
                </p:cNvPr>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101</a:t>
                  </a:r>
                </a:p>
              </p:txBody>
            </p:sp>
          </p:grpSp>
          <p:sp>
            <p:nvSpPr>
              <p:cNvPr id="6" name="TextBox 5">
                <a:extLst>
                  <a:ext uri="{FF2B5EF4-FFF2-40B4-BE49-F238E27FC236}">
                    <a16:creationId xmlns:a16="http://schemas.microsoft.com/office/drawing/2014/main" id="{3335E1F1-0254-0DDD-5734-F8739BDEB8E2}"/>
                  </a:ext>
                </a:extLst>
              </p:cNvPr>
              <p:cNvSpPr txBox="1"/>
              <p:nvPr/>
            </p:nvSpPr>
            <p:spPr>
              <a:xfrm>
                <a:off x="2500545" y="3223736"/>
                <a:ext cx="301686" cy="369332"/>
              </a:xfrm>
              <a:prstGeom prst="rect">
                <a:avLst/>
              </a:prstGeom>
              <a:noFill/>
            </p:spPr>
            <p:txBody>
              <a:bodyPr wrap="none" rtlCol="0">
                <a:spAutoFit/>
              </a:bodyPr>
              <a:lstStyle/>
              <a:p>
                <a:r>
                  <a:rPr lang="en-US" dirty="0">
                    <a:solidFill>
                      <a:srgbClr val="FF33CC"/>
                    </a:solidFill>
                  </a:rPr>
                  <a:t>0</a:t>
                </a:r>
              </a:p>
            </p:txBody>
          </p:sp>
          <p:sp>
            <p:nvSpPr>
              <p:cNvPr id="7" name="TextBox 6">
                <a:extLst>
                  <a:ext uri="{FF2B5EF4-FFF2-40B4-BE49-F238E27FC236}">
                    <a16:creationId xmlns:a16="http://schemas.microsoft.com/office/drawing/2014/main" id="{8738B4C1-48B3-8D43-57B3-DF798D570F2D}"/>
                  </a:ext>
                </a:extLst>
              </p:cNvPr>
              <p:cNvSpPr txBox="1"/>
              <p:nvPr/>
            </p:nvSpPr>
            <p:spPr>
              <a:xfrm>
                <a:off x="3033945" y="3223736"/>
                <a:ext cx="301686" cy="369332"/>
              </a:xfrm>
              <a:prstGeom prst="rect">
                <a:avLst/>
              </a:prstGeom>
              <a:noFill/>
            </p:spPr>
            <p:txBody>
              <a:bodyPr wrap="none" rtlCol="0">
                <a:spAutoFit/>
              </a:bodyPr>
              <a:lstStyle/>
              <a:p>
                <a:r>
                  <a:rPr lang="en-US" dirty="0">
                    <a:solidFill>
                      <a:srgbClr val="FF33CC"/>
                    </a:solidFill>
                  </a:rPr>
                  <a:t>1</a:t>
                </a:r>
              </a:p>
            </p:txBody>
          </p:sp>
          <p:sp>
            <p:nvSpPr>
              <p:cNvPr id="8" name="TextBox 7">
                <a:extLst>
                  <a:ext uri="{FF2B5EF4-FFF2-40B4-BE49-F238E27FC236}">
                    <a16:creationId xmlns:a16="http://schemas.microsoft.com/office/drawing/2014/main" id="{5BCE153C-97D2-2FDC-4F4B-FEDFBB49AE98}"/>
                  </a:ext>
                </a:extLst>
              </p:cNvPr>
              <p:cNvSpPr txBox="1"/>
              <p:nvPr/>
            </p:nvSpPr>
            <p:spPr>
              <a:xfrm>
                <a:off x="3567914" y="3223736"/>
                <a:ext cx="301686" cy="369332"/>
              </a:xfrm>
              <a:prstGeom prst="rect">
                <a:avLst/>
              </a:prstGeom>
              <a:noFill/>
            </p:spPr>
            <p:txBody>
              <a:bodyPr wrap="none" rtlCol="0">
                <a:spAutoFit/>
              </a:bodyPr>
              <a:lstStyle/>
              <a:p>
                <a:r>
                  <a:rPr lang="en-US" dirty="0">
                    <a:solidFill>
                      <a:srgbClr val="FF33CC"/>
                    </a:solidFill>
                  </a:rPr>
                  <a:t>2</a:t>
                </a:r>
              </a:p>
            </p:txBody>
          </p:sp>
          <p:sp>
            <p:nvSpPr>
              <p:cNvPr id="9" name="TextBox 8">
                <a:extLst>
                  <a:ext uri="{FF2B5EF4-FFF2-40B4-BE49-F238E27FC236}">
                    <a16:creationId xmlns:a16="http://schemas.microsoft.com/office/drawing/2014/main" id="{9C2625EF-4B40-86AC-DBF7-AEC4DBAC7920}"/>
                  </a:ext>
                </a:extLst>
              </p:cNvPr>
              <p:cNvSpPr txBox="1"/>
              <p:nvPr/>
            </p:nvSpPr>
            <p:spPr>
              <a:xfrm>
                <a:off x="4077688" y="3223736"/>
                <a:ext cx="301686" cy="369332"/>
              </a:xfrm>
              <a:prstGeom prst="rect">
                <a:avLst/>
              </a:prstGeom>
              <a:noFill/>
            </p:spPr>
            <p:txBody>
              <a:bodyPr wrap="none" rtlCol="0">
                <a:spAutoFit/>
              </a:bodyPr>
              <a:lstStyle/>
              <a:p>
                <a:r>
                  <a:rPr lang="en-US" dirty="0">
                    <a:solidFill>
                      <a:srgbClr val="FF33CC"/>
                    </a:solidFill>
                  </a:rPr>
                  <a:t>3</a:t>
                </a:r>
              </a:p>
            </p:txBody>
          </p:sp>
          <p:sp>
            <p:nvSpPr>
              <p:cNvPr id="16" name="TextBox 15">
                <a:extLst>
                  <a:ext uri="{FF2B5EF4-FFF2-40B4-BE49-F238E27FC236}">
                    <a16:creationId xmlns:a16="http://schemas.microsoft.com/office/drawing/2014/main" id="{EEC37B8A-61E0-DCA9-F6F9-F99C03E50FC5}"/>
                  </a:ext>
                </a:extLst>
              </p:cNvPr>
              <p:cNvSpPr txBox="1"/>
              <p:nvPr/>
            </p:nvSpPr>
            <p:spPr>
              <a:xfrm>
                <a:off x="4611088" y="3223158"/>
                <a:ext cx="301686" cy="369332"/>
              </a:xfrm>
              <a:prstGeom prst="rect">
                <a:avLst/>
              </a:prstGeom>
              <a:noFill/>
            </p:spPr>
            <p:txBody>
              <a:bodyPr wrap="none" rtlCol="0">
                <a:spAutoFit/>
              </a:bodyPr>
              <a:lstStyle/>
              <a:p>
                <a:r>
                  <a:rPr lang="en-US" dirty="0">
                    <a:solidFill>
                      <a:srgbClr val="FF33CC"/>
                    </a:solidFill>
                  </a:rPr>
                  <a:t>4</a:t>
                </a:r>
              </a:p>
            </p:txBody>
          </p:sp>
          <p:sp>
            <p:nvSpPr>
              <p:cNvPr id="17" name="TextBox 16">
                <a:extLst>
                  <a:ext uri="{FF2B5EF4-FFF2-40B4-BE49-F238E27FC236}">
                    <a16:creationId xmlns:a16="http://schemas.microsoft.com/office/drawing/2014/main" id="{751485CC-79A7-5233-BFC5-0C022EE87F6C}"/>
                  </a:ext>
                </a:extLst>
              </p:cNvPr>
              <p:cNvSpPr txBox="1"/>
              <p:nvPr/>
            </p:nvSpPr>
            <p:spPr>
              <a:xfrm>
                <a:off x="5110332" y="3223158"/>
                <a:ext cx="301686" cy="369332"/>
              </a:xfrm>
              <a:prstGeom prst="rect">
                <a:avLst/>
              </a:prstGeom>
              <a:noFill/>
            </p:spPr>
            <p:txBody>
              <a:bodyPr wrap="none" rtlCol="0">
                <a:spAutoFit/>
              </a:bodyPr>
              <a:lstStyle/>
              <a:p>
                <a:r>
                  <a:rPr lang="en-US" dirty="0">
                    <a:solidFill>
                      <a:srgbClr val="FF33CC"/>
                    </a:solidFill>
                  </a:rPr>
                  <a:t>5</a:t>
                </a:r>
              </a:p>
            </p:txBody>
          </p:sp>
          <p:sp>
            <p:nvSpPr>
              <p:cNvPr id="18" name="TextBox 17">
                <a:extLst>
                  <a:ext uri="{FF2B5EF4-FFF2-40B4-BE49-F238E27FC236}">
                    <a16:creationId xmlns:a16="http://schemas.microsoft.com/office/drawing/2014/main" id="{3B272925-512C-C00B-7B35-8DB56343F758}"/>
                  </a:ext>
                </a:extLst>
              </p:cNvPr>
              <p:cNvSpPr txBox="1"/>
              <p:nvPr/>
            </p:nvSpPr>
            <p:spPr>
              <a:xfrm>
                <a:off x="5702083" y="3223736"/>
                <a:ext cx="301686" cy="369332"/>
              </a:xfrm>
              <a:prstGeom prst="rect">
                <a:avLst/>
              </a:prstGeom>
              <a:noFill/>
            </p:spPr>
            <p:txBody>
              <a:bodyPr wrap="none" rtlCol="0">
                <a:spAutoFit/>
              </a:bodyPr>
              <a:lstStyle/>
              <a:p>
                <a:r>
                  <a:rPr lang="en-US" dirty="0">
                    <a:solidFill>
                      <a:srgbClr val="FF33CC"/>
                    </a:solidFill>
                  </a:rPr>
                  <a:t>6</a:t>
                </a:r>
              </a:p>
            </p:txBody>
          </p:sp>
          <p:sp>
            <p:nvSpPr>
              <p:cNvPr id="19" name="TextBox 18">
                <a:extLst>
                  <a:ext uri="{FF2B5EF4-FFF2-40B4-BE49-F238E27FC236}">
                    <a16:creationId xmlns:a16="http://schemas.microsoft.com/office/drawing/2014/main" id="{BC30E54D-BCBB-11D5-CD6E-F0AA8FE92BDD}"/>
                  </a:ext>
                </a:extLst>
              </p:cNvPr>
              <p:cNvSpPr txBox="1"/>
              <p:nvPr/>
            </p:nvSpPr>
            <p:spPr>
              <a:xfrm>
                <a:off x="6235483" y="3223158"/>
                <a:ext cx="301686" cy="369332"/>
              </a:xfrm>
              <a:prstGeom prst="rect">
                <a:avLst/>
              </a:prstGeom>
              <a:noFill/>
            </p:spPr>
            <p:txBody>
              <a:bodyPr wrap="none" rtlCol="0">
                <a:spAutoFit/>
              </a:bodyPr>
              <a:lstStyle/>
              <a:p>
                <a:r>
                  <a:rPr lang="en-US" dirty="0">
                    <a:solidFill>
                      <a:srgbClr val="FF33CC"/>
                    </a:solidFill>
                  </a:rPr>
                  <a:t>7</a:t>
                </a:r>
              </a:p>
            </p:txBody>
          </p:sp>
        </p:grpSp>
        <p:grpSp>
          <p:nvGrpSpPr>
            <p:cNvPr id="40" name="Group 39">
              <a:extLst>
                <a:ext uri="{FF2B5EF4-FFF2-40B4-BE49-F238E27FC236}">
                  <a16:creationId xmlns:a16="http://schemas.microsoft.com/office/drawing/2014/main" id="{6CAA4EA5-FE3D-8D40-0A90-42A1D5AC8ECF}"/>
                </a:ext>
              </a:extLst>
            </p:cNvPr>
            <p:cNvGrpSpPr/>
            <p:nvPr/>
          </p:nvGrpSpPr>
          <p:grpSpPr>
            <a:xfrm>
              <a:off x="6020939" y="2743200"/>
              <a:ext cx="4293125" cy="849868"/>
              <a:chOff x="2361062" y="2743200"/>
              <a:chExt cx="4293125" cy="849868"/>
            </a:xfrm>
          </p:grpSpPr>
          <p:grpSp>
            <p:nvGrpSpPr>
              <p:cNvPr id="41" name="Group 40">
                <a:extLst>
                  <a:ext uri="{FF2B5EF4-FFF2-40B4-BE49-F238E27FC236}">
                    <a16:creationId xmlns:a16="http://schemas.microsoft.com/office/drawing/2014/main" id="{F028159C-F314-68E3-297B-5DE73893EACE}"/>
                  </a:ext>
                </a:extLst>
              </p:cNvPr>
              <p:cNvGrpSpPr/>
              <p:nvPr/>
            </p:nvGrpSpPr>
            <p:grpSpPr>
              <a:xfrm>
                <a:off x="2361062" y="2743200"/>
                <a:ext cx="4268338" cy="533400"/>
                <a:chOff x="1445524" y="2971800"/>
                <a:chExt cx="4268338" cy="533400"/>
              </a:xfrm>
            </p:grpSpPr>
            <p:sp>
              <p:nvSpPr>
                <p:cNvPr id="78" name="Rectangle 77">
                  <a:extLst>
                    <a:ext uri="{FF2B5EF4-FFF2-40B4-BE49-F238E27FC236}">
                      <a16:creationId xmlns:a16="http://schemas.microsoft.com/office/drawing/2014/main" id="{A954409E-4BAF-A95F-544D-B8DF8CE93CEE}"/>
                    </a:ext>
                  </a:extLst>
                </p:cNvPr>
                <p:cNvSpPr/>
                <p:nvPr/>
              </p:nvSpPr>
              <p:spPr>
                <a:xfrm>
                  <a:off x="14455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113</a:t>
                  </a:r>
                </a:p>
              </p:txBody>
            </p:sp>
            <p:sp>
              <p:nvSpPr>
                <p:cNvPr id="79" name="Rectangle 78">
                  <a:extLst>
                    <a:ext uri="{FF2B5EF4-FFF2-40B4-BE49-F238E27FC236}">
                      <a16:creationId xmlns:a16="http://schemas.microsoft.com/office/drawing/2014/main" id="{245B0D8C-0166-3B37-5CF9-01E6616C1DC7}"/>
                    </a:ext>
                  </a:extLst>
                </p:cNvPr>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901</a:t>
                  </a:r>
                </a:p>
              </p:txBody>
            </p:sp>
            <p:sp>
              <p:nvSpPr>
                <p:cNvPr id="80" name="Rectangle 79">
                  <a:extLst>
                    <a:ext uri="{FF2B5EF4-FFF2-40B4-BE49-F238E27FC236}">
                      <a16:creationId xmlns:a16="http://schemas.microsoft.com/office/drawing/2014/main" id="{D8757A04-74EC-52A0-17F3-20B1DEECB0C4}"/>
                    </a:ext>
                  </a:extLst>
                </p:cNvPr>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555</a:t>
                  </a:r>
                </a:p>
              </p:txBody>
            </p:sp>
            <p:sp>
              <p:nvSpPr>
                <p:cNvPr id="81" name="Rectangle 80">
                  <a:extLst>
                    <a:ext uri="{FF2B5EF4-FFF2-40B4-BE49-F238E27FC236}">
                      <a16:creationId xmlns:a16="http://schemas.microsoft.com/office/drawing/2014/main" id="{9D5D8644-3F22-4B90-4575-591E69E6DD1D}"/>
                    </a:ext>
                  </a:extLst>
                </p:cNvPr>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p:txBody>
            </p:sp>
            <p:sp>
              <p:nvSpPr>
                <p:cNvPr id="82" name="Rectangle 81">
                  <a:extLst>
                    <a:ext uri="{FF2B5EF4-FFF2-40B4-BE49-F238E27FC236}">
                      <a16:creationId xmlns:a16="http://schemas.microsoft.com/office/drawing/2014/main" id="{D0FB66AC-257C-A3A7-72A2-9BAA64032154}"/>
                    </a:ext>
                  </a:extLst>
                </p:cNvPr>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245</a:t>
                  </a:r>
                </a:p>
              </p:txBody>
            </p:sp>
            <p:sp>
              <p:nvSpPr>
                <p:cNvPr id="83" name="Rectangle 82">
                  <a:extLst>
                    <a:ext uri="{FF2B5EF4-FFF2-40B4-BE49-F238E27FC236}">
                      <a16:creationId xmlns:a16="http://schemas.microsoft.com/office/drawing/2014/main" id="{B64146E2-4504-A8F1-99F9-D44753821034}"/>
                    </a:ext>
                  </a:extLst>
                </p:cNvPr>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p:txBody>
            </p:sp>
            <p:sp>
              <p:nvSpPr>
                <p:cNvPr id="84" name="Rectangle 83">
                  <a:extLst>
                    <a:ext uri="{FF2B5EF4-FFF2-40B4-BE49-F238E27FC236}">
                      <a16:creationId xmlns:a16="http://schemas.microsoft.com/office/drawing/2014/main" id="{24994ADB-06A8-D4BC-7DB5-3CC06E91FA0C}"/>
                    </a:ext>
                  </a:extLst>
                </p:cNvPr>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018</a:t>
                  </a:r>
                </a:p>
              </p:txBody>
            </p:sp>
            <p:sp>
              <p:nvSpPr>
                <p:cNvPr id="85" name="Rectangle 84">
                  <a:extLst>
                    <a:ext uri="{FF2B5EF4-FFF2-40B4-BE49-F238E27FC236}">
                      <a16:creationId xmlns:a16="http://schemas.microsoft.com/office/drawing/2014/main" id="{A8740905-608B-1F49-6E88-49046DEDE13C}"/>
                    </a:ext>
                  </a:extLst>
                </p:cNvPr>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121</a:t>
                  </a:r>
                </a:p>
              </p:txBody>
            </p:sp>
          </p:grpSp>
          <p:sp>
            <p:nvSpPr>
              <p:cNvPr id="42" name="TextBox 41">
                <a:extLst>
                  <a:ext uri="{FF2B5EF4-FFF2-40B4-BE49-F238E27FC236}">
                    <a16:creationId xmlns:a16="http://schemas.microsoft.com/office/drawing/2014/main" id="{FA4ED3AF-CE5A-B2A9-1793-8C8C2A1B881B}"/>
                  </a:ext>
                </a:extLst>
              </p:cNvPr>
              <p:cNvSpPr txBox="1"/>
              <p:nvPr/>
            </p:nvSpPr>
            <p:spPr>
              <a:xfrm>
                <a:off x="2500545" y="3223736"/>
                <a:ext cx="301686" cy="369332"/>
              </a:xfrm>
              <a:prstGeom prst="rect">
                <a:avLst/>
              </a:prstGeom>
              <a:noFill/>
            </p:spPr>
            <p:txBody>
              <a:bodyPr wrap="none" rtlCol="0">
                <a:spAutoFit/>
              </a:bodyPr>
              <a:lstStyle/>
              <a:p>
                <a:r>
                  <a:rPr lang="en-US" dirty="0">
                    <a:solidFill>
                      <a:srgbClr val="FF33CC"/>
                    </a:solidFill>
                  </a:rPr>
                  <a:t>8</a:t>
                </a:r>
              </a:p>
            </p:txBody>
          </p:sp>
          <p:sp>
            <p:nvSpPr>
              <p:cNvPr id="43" name="TextBox 42">
                <a:extLst>
                  <a:ext uri="{FF2B5EF4-FFF2-40B4-BE49-F238E27FC236}">
                    <a16:creationId xmlns:a16="http://schemas.microsoft.com/office/drawing/2014/main" id="{000116F0-E2BC-4A94-3A2F-68B14E3D9D6D}"/>
                  </a:ext>
                </a:extLst>
              </p:cNvPr>
              <p:cNvSpPr txBox="1"/>
              <p:nvPr/>
            </p:nvSpPr>
            <p:spPr>
              <a:xfrm>
                <a:off x="3033945" y="3223736"/>
                <a:ext cx="301686" cy="369332"/>
              </a:xfrm>
              <a:prstGeom prst="rect">
                <a:avLst/>
              </a:prstGeom>
              <a:noFill/>
            </p:spPr>
            <p:txBody>
              <a:bodyPr wrap="none" rtlCol="0">
                <a:spAutoFit/>
              </a:bodyPr>
              <a:lstStyle/>
              <a:p>
                <a:r>
                  <a:rPr lang="en-US" dirty="0">
                    <a:solidFill>
                      <a:srgbClr val="FF33CC"/>
                    </a:solidFill>
                  </a:rPr>
                  <a:t>9</a:t>
                </a:r>
              </a:p>
            </p:txBody>
          </p:sp>
          <p:sp>
            <p:nvSpPr>
              <p:cNvPr id="44" name="TextBox 43">
                <a:extLst>
                  <a:ext uri="{FF2B5EF4-FFF2-40B4-BE49-F238E27FC236}">
                    <a16:creationId xmlns:a16="http://schemas.microsoft.com/office/drawing/2014/main" id="{58EB4907-B83A-178C-0854-3A1D1D6D8064}"/>
                  </a:ext>
                </a:extLst>
              </p:cNvPr>
              <p:cNvSpPr txBox="1"/>
              <p:nvPr/>
            </p:nvSpPr>
            <p:spPr>
              <a:xfrm>
                <a:off x="3567914" y="3223736"/>
                <a:ext cx="418704" cy="369332"/>
              </a:xfrm>
              <a:prstGeom prst="rect">
                <a:avLst/>
              </a:prstGeom>
              <a:noFill/>
            </p:spPr>
            <p:txBody>
              <a:bodyPr wrap="none" rtlCol="0">
                <a:spAutoFit/>
              </a:bodyPr>
              <a:lstStyle/>
              <a:p>
                <a:r>
                  <a:rPr lang="en-US" dirty="0">
                    <a:solidFill>
                      <a:srgbClr val="FF33CC"/>
                    </a:solidFill>
                  </a:rPr>
                  <a:t>10</a:t>
                </a:r>
              </a:p>
            </p:txBody>
          </p:sp>
          <p:sp>
            <p:nvSpPr>
              <p:cNvPr id="45" name="TextBox 44">
                <a:extLst>
                  <a:ext uri="{FF2B5EF4-FFF2-40B4-BE49-F238E27FC236}">
                    <a16:creationId xmlns:a16="http://schemas.microsoft.com/office/drawing/2014/main" id="{1F29C78F-1BB3-E0F4-23B0-F89C42A85941}"/>
                  </a:ext>
                </a:extLst>
              </p:cNvPr>
              <p:cNvSpPr txBox="1"/>
              <p:nvPr/>
            </p:nvSpPr>
            <p:spPr>
              <a:xfrm>
                <a:off x="4077688" y="3223736"/>
                <a:ext cx="418704" cy="369332"/>
              </a:xfrm>
              <a:prstGeom prst="rect">
                <a:avLst/>
              </a:prstGeom>
              <a:noFill/>
            </p:spPr>
            <p:txBody>
              <a:bodyPr wrap="none" rtlCol="0">
                <a:spAutoFit/>
              </a:bodyPr>
              <a:lstStyle/>
              <a:p>
                <a:r>
                  <a:rPr lang="en-US" dirty="0">
                    <a:solidFill>
                      <a:srgbClr val="FF33CC"/>
                    </a:solidFill>
                  </a:rPr>
                  <a:t>11</a:t>
                </a:r>
              </a:p>
            </p:txBody>
          </p:sp>
          <p:sp>
            <p:nvSpPr>
              <p:cNvPr id="74" name="TextBox 73">
                <a:extLst>
                  <a:ext uri="{FF2B5EF4-FFF2-40B4-BE49-F238E27FC236}">
                    <a16:creationId xmlns:a16="http://schemas.microsoft.com/office/drawing/2014/main" id="{91155CF0-8F3F-B2B6-B4CE-818EC30457F9}"/>
                  </a:ext>
                </a:extLst>
              </p:cNvPr>
              <p:cNvSpPr txBox="1"/>
              <p:nvPr/>
            </p:nvSpPr>
            <p:spPr>
              <a:xfrm>
                <a:off x="4611088" y="3223158"/>
                <a:ext cx="418704" cy="369332"/>
              </a:xfrm>
              <a:prstGeom prst="rect">
                <a:avLst/>
              </a:prstGeom>
              <a:noFill/>
            </p:spPr>
            <p:txBody>
              <a:bodyPr wrap="none" rtlCol="0">
                <a:spAutoFit/>
              </a:bodyPr>
              <a:lstStyle/>
              <a:p>
                <a:r>
                  <a:rPr lang="en-US" dirty="0">
                    <a:solidFill>
                      <a:srgbClr val="FF33CC"/>
                    </a:solidFill>
                  </a:rPr>
                  <a:t>12</a:t>
                </a:r>
              </a:p>
            </p:txBody>
          </p:sp>
          <p:sp>
            <p:nvSpPr>
              <p:cNvPr id="75" name="TextBox 74">
                <a:extLst>
                  <a:ext uri="{FF2B5EF4-FFF2-40B4-BE49-F238E27FC236}">
                    <a16:creationId xmlns:a16="http://schemas.microsoft.com/office/drawing/2014/main" id="{5ABAEC95-3AA8-1977-949A-53F10027BACC}"/>
                  </a:ext>
                </a:extLst>
              </p:cNvPr>
              <p:cNvSpPr txBox="1"/>
              <p:nvPr/>
            </p:nvSpPr>
            <p:spPr>
              <a:xfrm>
                <a:off x="5110332" y="3223158"/>
                <a:ext cx="418704" cy="369332"/>
              </a:xfrm>
              <a:prstGeom prst="rect">
                <a:avLst/>
              </a:prstGeom>
              <a:noFill/>
            </p:spPr>
            <p:txBody>
              <a:bodyPr wrap="none" rtlCol="0">
                <a:spAutoFit/>
              </a:bodyPr>
              <a:lstStyle/>
              <a:p>
                <a:r>
                  <a:rPr lang="en-US" dirty="0">
                    <a:solidFill>
                      <a:srgbClr val="FF33CC"/>
                    </a:solidFill>
                  </a:rPr>
                  <a:t>13</a:t>
                </a:r>
              </a:p>
            </p:txBody>
          </p:sp>
          <p:sp>
            <p:nvSpPr>
              <p:cNvPr id="76" name="TextBox 75">
                <a:extLst>
                  <a:ext uri="{FF2B5EF4-FFF2-40B4-BE49-F238E27FC236}">
                    <a16:creationId xmlns:a16="http://schemas.microsoft.com/office/drawing/2014/main" id="{9F7C5BDB-74C7-EEA9-FD7A-108150ED3D0B}"/>
                  </a:ext>
                </a:extLst>
              </p:cNvPr>
              <p:cNvSpPr txBox="1"/>
              <p:nvPr/>
            </p:nvSpPr>
            <p:spPr>
              <a:xfrm>
                <a:off x="5702083" y="3223736"/>
                <a:ext cx="418704" cy="369332"/>
              </a:xfrm>
              <a:prstGeom prst="rect">
                <a:avLst/>
              </a:prstGeom>
              <a:noFill/>
            </p:spPr>
            <p:txBody>
              <a:bodyPr wrap="none" rtlCol="0">
                <a:spAutoFit/>
              </a:bodyPr>
              <a:lstStyle/>
              <a:p>
                <a:r>
                  <a:rPr lang="en-US" dirty="0">
                    <a:solidFill>
                      <a:srgbClr val="FF33CC"/>
                    </a:solidFill>
                  </a:rPr>
                  <a:t>14</a:t>
                </a:r>
              </a:p>
            </p:txBody>
          </p:sp>
          <p:sp>
            <p:nvSpPr>
              <p:cNvPr id="77" name="TextBox 76">
                <a:extLst>
                  <a:ext uri="{FF2B5EF4-FFF2-40B4-BE49-F238E27FC236}">
                    <a16:creationId xmlns:a16="http://schemas.microsoft.com/office/drawing/2014/main" id="{9C38C609-4A48-7161-25E6-18F44C5174A4}"/>
                  </a:ext>
                </a:extLst>
              </p:cNvPr>
              <p:cNvSpPr txBox="1"/>
              <p:nvPr/>
            </p:nvSpPr>
            <p:spPr>
              <a:xfrm>
                <a:off x="6235483" y="3223158"/>
                <a:ext cx="418704" cy="369332"/>
              </a:xfrm>
              <a:prstGeom prst="rect">
                <a:avLst/>
              </a:prstGeom>
              <a:noFill/>
            </p:spPr>
            <p:txBody>
              <a:bodyPr wrap="none" rtlCol="0">
                <a:spAutoFit/>
              </a:bodyPr>
              <a:lstStyle/>
              <a:p>
                <a:r>
                  <a:rPr lang="en-US" dirty="0">
                    <a:solidFill>
                      <a:srgbClr val="FF33CC"/>
                    </a:solidFill>
                  </a:rPr>
                  <a:t>15</a:t>
                </a:r>
              </a:p>
            </p:txBody>
          </p:sp>
        </p:grpSp>
      </p:grpSp>
      <p:grpSp>
        <p:nvGrpSpPr>
          <p:cNvPr id="99" name="Group 98" descr="We proceed by doing a bucket sort using the least significant digit of the numbers. Because our numbers are represented in base 10, we have buckets 0 through 9, filled in as follows:&#10;bucket 0: 800&#10;bucket 1: 801, 401, 901, 121&#10;bucket 2: 512&#10;bucket 3: 103, 323, 823, 113&#10;bucket 4: empty&#10;bucket 5: 255, 555, 245&#10;bucket 6: empty&#10;bucket 7: empty&#10;bucket 8: 018&#10;bucket 9: 999">
            <a:extLst>
              <a:ext uri="{FF2B5EF4-FFF2-40B4-BE49-F238E27FC236}">
                <a16:creationId xmlns:a16="http://schemas.microsoft.com/office/drawing/2014/main" id="{C4BEB531-3711-E388-CD9E-744269DCB5F9}"/>
              </a:ext>
            </a:extLst>
          </p:cNvPr>
          <p:cNvGrpSpPr/>
          <p:nvPr/>
        </p:nvGrpSpPr>
        <p:grpSpPr>
          <a:xfrm>
            <a:off x="6639080" y="4886764"/>
            <a:ext cx="5334000" cy="1817195"/>
            <a:chOff x="4876800" y="4493526"/>
            <a:chExt cx="5334000" cy="1817195"/>
          </a:xfrm>
        </p:grpSpPr>
        <p:sp>
          <p:nvSpPr>
            <p:cNvPr id="100" name="Rectangle 99">
              <a:extLst>
                <a:ext uri="{FF2B5EF4-FFF2-40B4-BE49-F238E27FC236}">
                  <a16:creationId xmlns:a16="http://schemas.microsoft.com/office/drawing/2014/main" id="{54D98CC9-1ECA-8EC1-D4F2-F5356BD5D74D}"/>
                </a:ext>
              </a:extLst>
            </p:cNvPr>
            <p:cNvSpPr/>
            <p:nvPr/>
          </p:nvSpPr>
          <p:spPr>
            <a:xfrm>
              <a:off x="96774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999</a:t>
              </a:r>
            </a:p>
          </p:txBody>
        </p:sp>
        <p:sp>
          <p:nvSpPr>
            <p:cNvPr id="101" name="Rectangle 100">
              <a:extLst>
                <a:ext uri="{FF2B5EF4-FFF2-40B4-BE49-F238E27FC236}">
                  <a16:creationId xmlns:a16="http://schemas.microsoft.com/office/drawing/2014/main" id="{AA885E00-B68C-F785-3E08-00904AF4E605}"/>
                </a:ext>
              </a:extLst>
            </p:cNvPr>
            <p:cNvSpPr/>
            <p:nvPr/>
          </p:nvSpPr>
          <p:spPr>
            <a:xfrm>
              <a:off x="91440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018</a:t>
              </a:r>
            </a:p>
          </p:txBody>
        </p:sp>
        <p:sp>
          <p:nvSpPr>
            <p:cNvPr id="102" name="Rectangle 101">
              <a:extLst>
                <a:ext uri="{FF2B5EF4-FFF2-40B4-BE49-F238E27FC236}">
                  <a16:creationId xmlns:a16="http://schemas.microsoft.com/office/drawing/2014/main" id="{8E53BF7D-9B29-0146-38F4-473D33D31363}"/>
                </a:ext>
              </a:extLst>
            </p:cNvPr>
            <p:cNvSpPr/>
            <p:nvPr/>
          </p:nvSpPr>
          <p:spPr>
            <a:xfrm>
              <a:off x="86106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3" name="Rectangle 102">
              <a:extLst>
                <a:ext uri="{FF2B5EF4-FFF2-40B4-BE49-F238E27FC236}">
                  <a16:creationId xmlns:a16="http://schemas.microsoft.com/office/drawing/2014/main" id="{26DF8AFB-0BE2-6403-A1E2-1E8D871B2345}"/>
                </a:ext>
              </a:extLst>
            </p:cNvPr>
            <p:cNvSpPr/>
            <p:nvPr/>
          </p:nvSpPr>
          <p:spPr>
            <a:xfrm>
              <a:off x="80772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4" name="Rectangle 103">
              <a:extLst>
                <a:ext uri="{FF2B5EF4-FFF2-40B4-BE49-F238E27FC236}">
                  <a16:creationId xmlns:a16="http://schemas.microsoft.com/office/drawing/2014/main" id="{7989718A-7D33-FB9B-C348-2CC0497D6E02}"/>
                </a:ext>
              </a:extLst>
            </p:cNvPr>
            <p:cNvSpPr/>
            <p:nvPr/>
          </p:nvSpPr>
          <p:spPr>
            <a:xfrm>
              <a:off x="75438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255</a:t>
              </a:r>
            </a:p>
            <a:p>
              <a:pPr algn="ctr"/>
              <a:r>
                <a:rPr lang="en-US" dirty="0">
                  <a:solidFill>
                    <a:schemeClr val="tx1"/>
                  </a:solidFill>
                </a:rPr>
                <a:t>555</a:t>
              </a:r>
            </a:p>
            <a:p>
              <a:pPr algn="ctr"/>
              <a:r>
                <a:rPr lang="en-US" dirty="0">
                  <a:solidFill>
                    <a:schemeClr val="tx1"/>
                  </a:solidFill>
                </a:rPr>
                <a:t>245</a:t>
              </a:r>
            </a:p>
          </p:txBody>
        </p:sp>
        <p:sp>
          <p:nvSpPr>
            <p:cNvPr id="105" name="Rectangle 104">
              <a:extLst>
                <a:ext uri="{FF2B5EF4-FFF2-40B4-BE49-F238E27FC236}">
                  <a16:creationId xmlns:a16="http://schemas.microsoft.com/office/drawing/2014/main" id="{DC242C9B-09A4-6117-C57D-D24450AC01BE}"/>
                </a:ext>
              </a:extLst>
            </p:cNvPr>
            <p:cNvSpPr/>
            <p:nvPr/>
          </p:nvSpPr>
          <p:spPr>
            <a:xfrm>
              <a:off x="70104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6" name="Rectangle 105">
              <a:extLst>
                <a:ext uri="{FF2B5EF4-FFF2-40B4-BE49-F238E27FC236}">
                  <a16:creationId xmlns:a16="http://schemas.microsoft.com/office/drawing/2014/main" id="{015C1621-566D-4D9B-4062-CF55647D2ACB}"/>
                </a:ext>
              </a:extLst>
            </p:cNvPr>
            <p:cNvSpPr/>
            <p:nvPr/>
          </p:nvSpPr>
          <p:spPr>
            <a:xfrm>
              <a:off x="64770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103</a:t>
              </a:r>
            </a:p>
            <a:p>
              <a:pPr algn="ctr"/>
              <a:r>
                <a:rPr lang="en-US" dirty="0">
                  <a:solidFill>
                    <a:schemeClr val="tx1"/>
                  </a:solidFill>
                </a:rPr>
                <a:t>323</a:t>
              </a:r>
            </a:p>
            <a:p>
              <a:pPr algn="ctr"/>
              <a:r>
                <a:rPr lang="en-US" dirty="0">
                  <a:solidFill>
                    <a:schemeClr val="tx1"/>
                  </a:solidFill>
                </a:rPr>
                <a:t>823</a:t>
              </a:r>
            </a:p>
            <a:p>
              <a:pPr algn="ctr"/>
              <a:r>
                <a:rPr lang="en-US" dirty="0">
                  <a:solidFill>
                    <a:schemeClr val="tx1"/>
                  </a:solidFill>
                </a:rPr>
                <a:t>113</a:t>
              </a:r>
            </a:p>
          </p:txBody>
        </p:sp>
        <p:sp>
          <p:nvSpPr>
            <p:cNvPr id="107" name="Rectangle 106">
              <a:extLst>
                <a:ext uri="{FF2B5EF4-FFF2-40B4-BE49-F238E27FC236}">
                  <a16:creationId xmlns:a16="http://schemas.microsoft.com/office/drawing/2014/main" id="{C7A6F8BB-D41D-CFC2-3B83-378EB0BEE6B6}"/>
                </a:ext>
              </a:extLst>
            </p:cNvPr>
            <p:cNvSpPr/>
            <p:nvPr/>
          </p:nvSpPr>
          <p:spPr>
            <a:xfrm>
              <a:off x="59436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p:txBody>
        </p:sp>
        <p:sp>
          <p:nvSpPr>
            <p:cNvPr id="108" name="TextBox 107">
              <a:extLst>
                <a:ext uri="{FF2B5EF4-FFF2-40B4-BE49-F238E27FC236}">
                  <a16:creationId xmlns:a16="http://schemas.microsoft.com/office/drawing/2014/main" id="{F861BB88-9666-9EB5-3623-B2DCEF4360DA}"/>
                </a:ext>
              </a:extLst>
            </p:cNvPr>
            <p:cNvSpPr txBox="1"/>
            <p:nvPr/>
          </p:nvSpPr>
          <p:spPr>
            <a:xfrm>
              <a:off x="4992657" y="5941389"/>
              <a:ext cx="301686" cy="369332"/>
            </a:xfrm>
            <a:prstGeom prst="rect">
              <a:avLst/>
            </a:prstGeom>
            <a:noFill/>
          </p:spPr>
          <p:txBody>
            <a:bodyPr wrap="none" rtlCol="0">
              <a:spAutoFit/>
            </a:bodyPr>
            <a:lstStyle/>
            <a:p>
              <a:r>
                <a:rPr lang="en-US" dirty="0">
                  <a:solidFill>
                    <a:srgbClr val="FF33CC"/>
                  </a:solidFill>
                </a:rPr>
                <a:t>0</a:t>
              </a:r>
            </a:p>
          </p:txBody>
        </p:sp>
        <p:sp>
          <p:nvSpPr>
            <p:cNvPr id="109" name="TextBox 108">
              <a:extLst>
                <a:ext uri="{FF2B5EF4-FFF2-40B4-BE49-F238E27FC236}">
                  <a16:creationId xmlns:a16="http://schemas.microsoft.com/office/drawing/2014/main" id="{7DD2ED4B-3174-CE5F-9623-8FFD23B19965}"/>
                </a:ext>
              </a:extLst>
            </p:cNvPr>
            <p:cNvSpPr txBox="1"/>
            <p:nvPr/>
          </p:nvSpPr>
          <p:spPr>
            <a:xfrm>
              <a:off x="5526057" y="5941389"/>
              <a:ext cx="301686" cy="369332"/>
            </a:xfrm>
            <a:prstGeom prst="rect">
              <a:avLst/>
            </a:prstGeom>
            <a:noFill/>
          </p:spPr>
          <p:txBody>
            <a:bodyPr wrap="none" rtlCol="0">
              <a:spAutoFit/>
            </a:bodyPr>
            <a:lstStyle/>
            <a:p>
              <a:r>
                <a:rPr lang="en-US" dirty="0">
                  <a:solidFill>
                    <a:srgbClr val="FF33CC"/>
                  </a:solidFill>
                </a:rPr>
                <a:t>1</a:t>
              </a:r>
            </a:p>
          </p:txBody>
        </p:sp>
        <p:sp>
          <p:nvSpPr>
            <p:cNvPr id="110" name="TextBox 109">
              <a:extLst>
                <a:ext uri="{FF2B5EF4-FFF2-40B4-BE49-F238E27FC236}">
                  <a16:creationId xmlns:a16="http://schemas.microsoft.com/office/drawing/2014/main" id="{E3A5957B-0255-9C64-F7B4-05DAE01FEE43}"/>
                </a:ext>
              </a:extLst>
            </p:cNvPr>
            <p:cNvSpPr txBox="1"/>
            <p:nvPr/>
          </p:nvSpPr>
          <p:spPr>
            <a:xfrm>
              <a:off x="6060026" y="5941389"/>
              <a:ext cx="301686" cy="369332"/>
            </a:xfrm>
            <a:prstGeom prst="rect">
              <a:avLst/>
            </a:prstGeom>
            <a:noFill/>
          </p:spPr>
          <p:txBody>
            <a:bodyPr wrap="none" rtlCol="0">
              <a:spAutoFit/>
            </a:bodyPr>
            <a:lstStyle/>
            <a:p>
              <a:r>
                <a:rPr lang="en-US" dirty="0">
                  <a:solidFill>
                    <a:srgbClr val="FF33CC"/>
                  </a:solidFill>
                </a:rPr>
                <a:t>2</a:t>
              </a:r>
            </a:p>
          </p:txBody>
        </p:sp>
        <p:sp>
          <p:nvSpPr>
            <p:cNvPr id="111" name="TextBox 110">
              <a:extLst>
                <a:ext uri="{FF2B5EF4-FFF2-40B4-BE49-F238E27FC236}">
                  <a16:creationId xmlns:a16="http://schemas.microsoft.com/office/drawing/2014/main" id="{281CAD29-B3DF-A849-5CE5-4BF69DD53C73}"/>
                </a:ext>
              </a:extLst>
            </p:cNvPr>
            <p:cNvSpPr txBox="1"/>
            <p:nvPr/>
          </p:nvSpPr>
          <p:spPr>
            <a:xfrm>
              <a:off x="6569800" y="5941389"/>
              <a:ext cx="301686" cy="369332"/>
            </a:xfrm>
            <a:prstGeom prst="rect">
              <a:avLst/>
            </a:prstGeom>
            <a:noFill/>
          </p:spPr>
          <p:txBody>
            <a:bodyPr wrap="none" rtlCol="0">
              <a:spAutoFit/>
            </a:bodyPr>
            <a:lstStyle/>
            <a:p>
              <a:r>
                <a:rPr lang="en-US" dirty="0">
                  <a:solidFill>
                    <a:srgbClr val="FF33CC"/>
                  </a:solidFill>
                </a:rPr>
                <a:t>3</a:t>
              </a:r>
            </a:p>
          </p:txBody>
        </p:sp>
        <p:sp>
          <p:nvSpPr>
            <p:cNvPr id="112" name="TextBox 111">
              <a:extLst>
                <a:ext uri="{FF2B5EF4-FFF2-40B4-BE49-F238E27FC236}">
                  <a16:creationId xmlns:a16="http://schemas.microsoft.com/office/drawing/2014/main" id="{DB99E5E6-92D5-F305-7AAD-325721A03303}"/>
                </a:ext>
              </a:extLst>
            </p:cNvPr>
            <p:cNvSpPr txBox="1"/>
            <p:nvPr/>
          </p:nvSpPr>
          <p:spPr>
            <a:xfrm>
              <a:off x="7103200" y="5940811"/>
              <a:ext cx="301686" cy="369332"/>
            </a:xfrm>
            <a:prstGeom prst="rect">
              <a:avLst/>
            </a:prstGeom>
            <a:noFill/>
          </p:spPr>
          <p:txBody>
            <a:bodyPr wrap="none" rtlCol="0">
              <a:spAutoFit/>
            </a:bodyPr>
            <a:lstStyle/>
            <a:p>
              <a:r>
                <a:rPr lang="en-US" dirty="0">
                  <a:solidFill>
                    <a:srgbClr val="FF33CC"/>
                  </a:solidFill>
                </a:rPr>
                <a:t>4</a:t>
              </a:r>
            </a:p>
          </p:txBody>
        </p:sp>
        <p:sp>
          <p:nvSpPr>
            <p:cNvPr id="113" name="TextBox 112">
              <a:extLst>
                <a:ext uri="{FF2B5EF4-FFF2-40B4-BE49-F238E27FC236}">
                  <a16:creationId xmlns:a16="http://schemas.microsoft.com/office/drawing/2014/main" id="{94D8D65B-6701-8B3A-6DF6-D98B1ED9EBFF}"/>
                </a:ext>
              </a:extLst>
            </p:cNvPr>
            <p:cNvSpPr txBox="1"/>
            <p:nvPr/>
          </p:nvSpPr>
          <p:spPr>
            <a:xfrm>
              <a:off x="7602444" y="5940811"/>
              <a:ext cx="301686" cy="369332"/>
            </a:xfrm>
            <a:prstGeom prst="rect">
              <a:avLst/>
            </a:prstGeom>
            <a:noFill/>
          </p:spPr>
          <p:txBody>
            <a:bodyPr wrap="none" rtlCol="0">
              <a:spAutoFit/>
            </a:bodyPr>
            <a:lstStyle/>
            <a:p>
              <a:r>
                <a:rPr lang="en-US" dirty="0">
                  <a:solidFill>
                    <a:srgbClr val="FF33CC"/>
                  </a:solidFill>
                </a:rPr>
                <a:t>5</a:t>
              </a:r>
            </a:p>
          </p:txBody>
        </p:sp>
        <p:sp>
          <p:nvSpPr>
            <p:cNvPr id="114" name="TextBox 113">
              <a:extLst>
                <a:ext uri="{FF2B5EF4-FFF2-40B4-BE49-F238E27FC236}">
                  <a16:creationId xmlns:a16="http://schemas.microsoft.com/office/drawing/2014/main" id="{8BC08D99-04C9-E62B-494D-3A181488A7AA}"/>
                </a:ext>
              </a:extLst>
            </p:cNvPr>
            <p:cNvSpPr txBox="1"/>
            <p:nvPr/>
          </p:nvSpPr>
          <p:spPr>
            <a:xfrm>
              <a:off x="8194195" y="5941389"/>
              <a:ext cx="301686" cy="369332"/>
            </a:xfrm>
            <a:prstGeom prst="rect">
              <a:avLst/>
            </a:prstGeom>
            <a:noFill/>
          </p:spPr>
          <p:txBody>
            <a:bodyPr wrap="none" rtlCol="0">
              <a:spAutoFit/>
            </a:bodyPr>
            <a:lstStyle/>
            <a:p>
              <a:r>
                <a:rPr lang="en-US" dirty="0">
                  <a:solidFill>
                    <a:srgbClr val="FF33CC"/>
                  </a:solidFill>
                </a:rPr>
                <a:t>6</a:t>
              </a:r>
            </a:p>
          </p:txBody>
        </p:sp>
        <p:sp>
          <p:nvSpPr>
            <p:cNvPr id="115" name="TextBox 114">
              <a:extLst>
                <a:ext uri="{FF2B5EF4-FFF2-40B4-BE49-F238E27FC236}">
                  <a16:creationId xmlns:a16="http://schemas.microsoft.com/office/drawing/2014/main" id="{7F614A99-7467-E672-9DB1-AF5A3A8C5BA4}"/>
                </a:ext>
              </a:extLst>
            </p:cNvPr>
            <p:cNvSpPr txBox="1"/>
            <p:nvPr/>
          </p:nvSpPr>
          <p:spPr>
            <a:xfrm>
              <a:off x="8727595" y="5940811"/>
              <a:ext cx="301686" cy="369332"/>
            </a:xfrm>
            <a:prstGeom prst="rect">
              <a:avLst/>
            </a:prstGeom>
            <a:noFill/>
          </p:spPr>
          <p:txBody>
            <a:bodyPr wrap="none" rtlCol="0">
              <a:spAutoFit/>
            </a:bodyPr>
            <a:lstStyle/>
            <a:p>
              <a:r>
                <a:rPr lang="en-US" dirty="0">
                  <a:solidFill>
                    <a:srgbClr val="FF33CC"/>
                  </a:solidFill>
                </a:rPr>
                <a:t>7</a:t>
              </a:r>
            </a:p>
          </p:txBody>
        </p:sp>
        <p:sp>
          <p:nvSpPr>
            <p:cNvPr id="116" name="Rectangle 115">
              <a:extLst>
                <a:ext uri="{FF2B5EF4-FFF2-40B4-BE49-F238E27FC236}">
                  <a16:creationId xmlns:a16="http://schemas.microsoft.com/office/drawing/2014/main" id="{F764E1B5-6D75-87C0-89E3-5D3ABC709EDB}"/>
                </a:ext>
              </a:extLst>
            </p:cNvPr>
            <p:cNvSpPr/>
            <p:nvPr/>
          </p:nvSpPr>
          <p:spPr>
            <a:xfrm>
              <a:off x="54102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801</a:t>
              </a:r>
            </a:p>
            <a:p>
              <a:pPr algn="ctr"/>
              <a:r>
                <a:rPr lang="en-US" dirty="0">
                  <a:solidFill>
                    <a:schemeClr val="tx1"/>
                  </a:solidFill>
                </a:rPr>
                <a:t>401</a:t>
              </a:r>
            </a:p>
            <a:p>
              <a:pPr algn="ctr"/>
              <a:r>
                <a:rPr lang="en-US" dirty="0">
                  <a:solidFill>
                    <a:schemeClr val="tx1"/>
                  </a:solidFill>
                </a:rPr>
                <a:t>101</a:t>
              </a:r>
            </a:p>
            <a:p>
              <a:pPr algn="ctr"/>
              <a:r>
                <a:rPr lang="en-US" dirty="0">
                  <a:solidFill>
                    <a:schemeClr val="tx1"/>
                  </a:solidFill>
                </a:rPr>
                <a:t>901</a:t>
              </a:r>
            </a:p>
            <a:p>
              <a:pPr algn="ctr"/>
              <a:r>
                <a:rPr lang="en-US" dirty="0">
                  <a:solidFill>
                    <a:schemeClr val="tx1"/>
                  </a:solidFill>
                </a:rPr>
                <a:t>121</a:t>
              </a:r>
            </a:p>
          </p:txBody>
        </p:sp>
        <p:sp>
          <p:nvSpPr>
            <p:cNvPr id="117" name="Rectangle 116">
              <a:extLst>
                <a:ext uri="{FF2B5EF4-FFF2-40B4-BE49-F238E27FC236}">
                  <a16:creationId xmlns:a16="http://schemas.microsoft.com/office/drawing/2014/main" id="{69EB4A83-5E3A-A769-DCFB-123F8F10F4A7}"/>
                </a:ext>
              </a:extLst>
            </p:cNvPr>
            <p:cNvSpPr/>
            <p:nvPr/>
          </p:nvSpPr>
          <p:spPr>
            <a:xfrm>
              <a:off x="48768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p:txBody>
        </p:sp>
        <p:sp>
          <p:nvSpPr>
            <p:cNvPr id="118" name="TextBox 117">
              <a:extLst>
                <a:ext uri="{FF2B5EF4-FFF2-40B4-BE49-F238E27FC236}">
                  <a16:creationId xmlns:a16="http://schemas.microsoft.com/office/drawing/2014/main" id="{9C96E0C1-A550-56EC-FD72-2C4BC9F7C7F9}"/>
                </a:ext>
              </a:extLst>
            </p:cNvPr>
            <p:cNvSpPr txBox="1"/>
            <p:nvPr/>
          </p:nvSpPr>
          <p:spPr>
            <a:xfrm>
              <a:off x="9269625" y="5941389"/>
              <a:ext cx="301686" cy="369332"/>
            </a:xfrm>
            <a:prstGeom prst="rect">
              <a:avLst/>
            </a:prstGeom>
            <a:noFill/>
          </p:spPr>
          <p:txBody>
            <a:bodyPr wrap="none" rtlCol="0">
              <a:spAutoFit/>
            </a:bodyPr>
            <a:lstStyle/>
            <a:p>
              <a:r>
                <a:rPr lang="en-US" dirty="0">
                  <a:solidFill>
                    <a:srgbClr val="FF33CC"/>
                  </a:solidFill>
                </a:rPr>
                <a:t>8</a:t>
              </a:r>
            </a:p>
          </p:txBody>
        </p:sp>
        <p:sp>
          <p:nvSpPr>
            <p:cNvPr id="119" name="TextBox 118">
              <a:extLst>
                <a:ext uri="{FF2B5EF4-FFF2-40B4-BE49-F238E27FC236}">
                  <a16:creationId xmlns:a16="http://schemas.microsoft.com/office/drawing/2014/main" id="{6CBA1B4E-2801-0FFF-09AA-4BDE9E2E2705}"/>
                </a:ext>
              </a:extLst>
            </p:cNvPr>
            <p:cNvSpPr txBox="1"/>
            <p:nvPr/>
          </p:nvSpPr>
          <p:spPr>
            <a:xfrm>
              <a:off x="9811805" y="5941389"/>
              <a:ext cx="301686" cy="369332"/>
            </a:xfrm>
            <a:prstGeom prst="rect">
              <a:avLst/>
            </a:prstGeom>
            <a:noFill/>
          </p:spPr>
          <p:txBody>
            <a:bodyPr wrap="none" rtlCol="0">
              <a:spAutoFit/>
            </a:bodyPr>
            <a:lstStyle/>
            <a:p>
              <a:r>
                <a:rPr lang="en-US" dirty="0">
                  <a:solidFill>
                    <a:srgbClr val="FF33CC"/>
                  </a:solidFill>
                </a:rPr>
                <a:t>9</a:t>
              </a:r>
            </a:p>
          </p:txBody>
        </p:sp>
      </p:grpSp>
      <p:sp>
        <p:nvSpPr>
          <p:cNvPr id="120" name="Arrow: Bent-Up 119">
            <a:extLst>
              <a:ext uri="{FF2B5EF4-FFF2-40B4-BE49-F238E27FC236}">
                <a16:creationId xmlns:a16="http://schemas.microsoft.com/office/drawing/2014/main" id="{F8C1EBBC-2D29-3947-2D55-152820918DA0}"/>
              </a:ext>
              <a:ext uri="{C183D7F6-B498-43B3-948B-1728B52AA6E4}">
                <adec:decorative xmlns:adec="http://schemas.microsoft.com/office/drawing/2017/decorative" val="1"/>
              </a:ext>
            </a:extLst>
          </p:cNvPr>
          <p:cNvSpPr/>
          <p:nvPr/>
        </p:nvSpPr>
        <p:spPr>
          <a:xfrm rot="5400000">
            <a:off x="4443829" y="4592010"/>
            <a:ext cx="1128451" cy="1325563"/>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18222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4D522-A643-E0F7-0203-D79E5BF422B6}"/>
              </a:ext>
            </a:extLst>
          </p:cNvPr>
          <p:cNvSpPr>
            <a:spLocks noGrp="1"/>
          </p:cNvSpPr>
          <p:nvPr>
            <p:ph type="title"/>
          </p:nvPr>
        </p:nvSpPr>
        <p:spPr/>
        <p:txBody>
          <a:bodyPr/>
          <a:lstStyle/>
          <a:p>
            <a:r>
              <a:rPr lang="en-US" dirty="0" err="1"/>
              <a:t>RadixSort</a:t>
            </a:r>
            <a:r>
              <a:rPr lang="en-US" dirty="0"/>
              <a:t> – Re-Bucket by 10s</a:t>
            </a:r>
          </a:p>
        </p:txBody>
      </p:sp>
      <p:sp>
        <p:nvSpPr>
          <p:cNvPr id="3" name="Content Placeholder 2">
            <a:extLst>
              <a:ext uri="{FF2B5EF4-FFF2-40B4-BE49-F238E27FC236}">
                <a16:creationId xmlns:a16="http://schemas.microsoft.com/office/drawing/2014/main" id="{13E04AAD-4854-7E00-900E-93F7F0ADE080}"/>
              </a:ext>
            </a:extLst>
          </p:cNvPr>
          <p:cNvSpPr>
            <a:spLocks noGrp="1"/>
          </p:cNvSpPr>
          <p:nvPr>
            <p:ph idx="1"/>
          </p:nvPr>
        </p:nvSpPr>
        <p:spPr>
          <a:xfrm>
            <a:off x="503842" y="1517901"/>
            <a:ext cx="11668760" cy="4351338"/>
          </a:xfrm>
        </p:spPr>
        <p:txBody>
          <a:bodyPr/>
          <a:lstStyle/>
          <a:p>
            <a:r>
              <a:rPr lang="en-US" dirty="0"/>
              <a:t>Radix: The base of a number system</a:t>
            </a:r>
          </a:p>
          <a:p>
            <a:pPr lvl="1"/>
            <a:r>
              <a:rPr lang="en-US" dirty="0"/>
              <a:t>We’ll use base 10, most implementations will use larger bases</a:t>
            </a:r>
          </a:p>
          <a:p>
            <a:r>
              <a:rPr lang="en-US" dirty="0"/>
              <a:t>Idea: </a:t>
            </a:r>
          </a:p>
          <a:p>
            <a:pPr lvl="1"/>
            <a:r>
              <a:rPr lang="en-US" dirty="0" err="1"/>
              <a:t>BucketSort</a:t>
            </a:r>
            <a:r>
              <a:rPr lang="en-US" dirty="0"/>
              <a:t> by each digit, one at a time, from least significant to most significant</a:t>
            </a:r>
          </a:p>
        </p:txBody>
      </p:sp>
      <p:sp>
        <p:nvSpPr>
          <p:cNvPr id="31" name="TextBox 30">
            <a:extLst>
              <a:ext uri="{FF2B5EF4-FFF2-40B4-BE49-F238E27FC236}">
                <a16:creationId xmlns:a16="http://schemas.microsoft.com/office/drawing/2014/main" id="{9F143260-887A-82E5-E7F0-D8C587242AE1}"/>
              </a:ext>
            </a:extLst>
          </p:cNvPr>
          <p:cNvSpPr txBox="1"/>
          <p:nvPr/>
        </p:nvSpPr>
        <p:spPr>
          <a:xfrm>
            <a:off x="1308984" y="5534047"/>
            <a:ext cx="3184788" cy="1200329"/>
          </a:xfrm>
          <a:prstGeom prst="rect">
            <a:avLst/>
          </a:prstGeom>
          <a:noFill/>
        </p:spPr>
        <p:txBody>
          <a:bodyPr wrap="square" rtlCol="0">
            <a:spAutoFit/>
          </a:bodyPr>
          <a:lstStyle/>
          <a:p>
            <a:r>
              <a:rPr lang="en-US" sz="2400" dirty="0"/>
              <a:t>Place each element into a “bucket” according to its 10’s place</a:t>
            </a:r>
          </a:p>
        </p:txBody>
      </p:sp>
      <p:grpSp>
        <p:nvGrpSpPr>
          <p:cNvPr id="99" name="Group 98" descr="All the values bucketed by the 1s place">
            <a:extLst>
              <a:ext uri="{FF2B5EF4-FFF2-40B4-BE49-F238E27FC236}">
                <a16:creationId xmlns:a16="http://schemas.microsoft.com/office/drawing/2014/main" id="{C4BEB531-3711-E388-CD9E-744269DCB5F9}"/>
              </a:ext>
            </a:extLst>
          </p:cNvPr>
          <p:cNvGrpSpPr/>
          <p:nvPr/>
        </p:nvGrpSpPr>
        <p:grpSpPr>
          <a:xfrm>
            <a:off x="452562" y="3381872"/>
            <a:ext cx="5334000" cy="1817195"/>
            <a:chOff x="4876800" y="4493526"/>
            <a:chExt cx="5334000" cy="1817195"/>
          </a:xfrm>
        </p:grpSpPr>
        <p:sp>
          <p:nvSpPr>
            <p:cNvPr id="100" name="Rectangle 99">
              <a:extLst>
                <a:ext uri="{FF2B5EF4-FFF2-40B4-BE49-F238E27FC236}">
                  <a16:creationId xmlns:a16="http://schemas.microsoft.com/office/drawing/2014/main" id="{54D98CC9-1ECA-8EC1-D4F2-F5356BD5D74D}"/>
                </a:ext>
              </a:extLst>
            </p:cNvPr>
            <p:cNvSpPr/>
            <p:nvPr/>
          </p:nvSpPr>
          <p:spPr>
            <a:xfrm>
              <a:off x="96774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999</a:t>
              </a:r>
            </a:p>
          </p:txBody>
        </p:sp>
        <p:sp>
          <p:nvSpPr>
            <p:cNvPr id="101" name="Rectangle 100">
              <a:extLst>
                <a:ext uri="{FF2B5EF4-FFF2-40B4-BE49-F238E27FC236}">
                  <a16:creationId xmlns:a16="http://schemas.microsoft.com/office/drawing/2014/main" id="{AA885E00-B68C-F785-3E08-00904AF4E605}"/>
                </a:ext>
              </a:extLst>
            </p:cNvPr>
            <p:cNvSpPr/>
            <p:nvPr/>
          </p:nvSpPr>
          <p:spPr>
            <a:xfrm>
              <a:off x="91440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018</a:t>
              </a:r>
            </a:p>
          </p:txBody>
        </p:sp>
        <p:sp>
          <p:nvSpPr>
            <p:cNvPr id="102" name="Rectangle 101">
              <a:extLst>
                <a:ext uri="{FF2B5EF4-FFF2-40B4-BE49-F238E27FC236}">
                  <a16:creationId xmlns:a16="http://schemas.microsoft.com/office/drawing/2014/main" id="{8E53BF7D-9B29-0146-38F4-473D33D31363}"/>
                </a:ext>
              </a:extLst>
            </p:cNvPr>
            <p:cNvSpPr/>
            <p:nvPr/>
          </p:nvSpPr>
          <p:spPr>
            <a:xfrm>
              <a:off x="86106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3" name="Rectangle 102">
              <a:extLst>
                <a:ext uri="{FF2B5EF4-FFF2-40B4-BE49-F238E27FC236}">
                  <a16:creationId xmlns:a16="http://schemas.microsoft.com/office/drawing/2014/main" id="{26DF8AFB-0BE2-6403-A1E2-1E8D871B2345}"/>
                </a:ext>
              </a:extLst>
            </p:cNvPr>
            <p:cNvSpPr/>
            <p:nvPr/>
          </p:nvSpPr>
          <p:spPr>
            <a:xfrm>
              <a:off x="80772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4" name="Rectangle 103">
              <a:extLst>
                <a:ext uri="{FF2B5EF4-FFF2-40B4-BE49-F238E27FC236}">
                  <a16:creationId xmlns:a16="http://schemas.microsoft.com/office/drawing/2014/main" id="{7989718A-7D33-FB9B-C348-2CC0497D6E02}"/>
                </a:ext>
              </a:extLst>
            </p:cNvPr>
            <p:cNvSpPr/>
            <p:nvPr/>
          </p:nvSpPr>
          <p:spPr>
            <a:xfrm>
              <a:off x="75438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255</a:t>
              </a:r>
            </a:p>
            <a:p>
              <a:pPr algn="ctr"/>
              <a:r>
                <a:rPr lang="en-US" dirty="0">
                  <a:solidFill>
                    <a:schemeClr val="tx1"/>
                  </a:solidFill>
                </a:rPr>
                <a:t>555</a:t>
              </a:r>
            </a:p>
            <a:p>
              <a:pPr algn="ctr"/>
              <a:r>
                <a:rPr lang="en-US" dirty="0">
                  <a:solidFill>
                    <a:schemeClr val="tx1"/>
                  </a:solidFill>
                </a:rPr>
                <a:t>245</a:t>
              </a:r>
            </a:p>
          </p:txBody>
        </p:sp>
        <p:sp>
          <p:nvSpPr>
            <p:cNvPr id="105" name="Rectangle 104">
              <a:extLst>
                <a:ext uri="{FF2B5EF4-FFF2-40B4-BE49-F238E27FC236}">
                  <a16:creationId xmlns:a16="http://schemas.microsoft.com/office/drawing/2014/main" id="{DC242C9B-09A4-6117-C57D-D24450AC01BE}"/>
                </a:ext>
              </a:extLst>
            </p:cNvPr>
            <p:cNvSpPr/>
            <p:nvPr/>
          </p:nvSpPr>
          <p:spPr>
            <a:xfrm>
              <a:off x="70104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6" name="Rectangle 105">
              <a:extLst>
                <a:ext uri="{FF2B5EF4-FFF2-40B4-BE49-F238E27FC236}">
                  <a16:creationId xmlns:a16="http://schemas.microsoft.com/office/drawing/2014/main" id="{015C1621-566D-4D9B-4062-CF55647D2ACB}"/>
                </a:ext>
              </a:extLst>
            </p:cNvPr>
            <p:cNvSpPr/>
            <p:nvPr/>
          </p:nvSpPr>
          <p:spPr>
            <a:xfrm>
              <a:off x="64770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103</a:t>
              </a:r>
            </a:p>
            <a:p>
              <a:pPr algn="ctr"/>
              <a:r>
                <a:rPr lang="en-US" dirty="0">
                  <a:solidFill>
                    <a:schemeClr val="tx1"/>
                  </a:solidFill>
                </a:rPr>
                <a:t>323</a:t>
              </a:r>
            </a:p>
            <a:p>
              <a:pPr algn="ctr"/>
              <a:r>
                <a:rPr lang="en-US" dirty="0">
                  <a:solidFill>
                    <a:schemeClr val="tx1"/>
                  </a:solidFill>
                </a:rPr>
                <a:t>823</a:t>
              </a:r>
            </a:p>
            <a:p>
              <a:pPr algn="ctr"/>
              <a:r>
                <a:rPr lang="en-US" dirty="0">
                  <a:solidFill>
                    <a:schemeClr val="tx1"/>
                  </a:solidFill>
                </a:rPr>
                <a:t>113</a:t>
              </a:r>
            </a:p>
          </p:txBody>
        </p:sp>
        <p:sp>
          <p:nvSpPr>
            <p:cNvPr id="107" name="Rectangle 106">
              <a:extLst>
                <a:ext uri="{FF2B5EF4-FFF2-40B4-BE49-F238E27FC236}">
                  <a16:creationId xmlns:a16="http://schemas.microsoft.com/office/drawing/2014/main" id="{C7A6F8BB-D41D-CFC2-3B83-378EB0BEE6B6}"/>
                </a:ext>
              </a:extLst>
            </p:cNvPr>
            <p:cNvSpPr/>
            <p:nvPr/>
          </p:nvSpPr>
          <p:spPr>
            <a:xfrm>
              <a:off x="59436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p:txBody>
        </p:sp>
        <p:sp>
          <p:nvSpPr>
            <p:cNvPr id="108" name="TextBox 107">
              <a:extLst>
                <a:ext uri="{FF2B5EF4-FFF2-40B4-BE49-F238E27FC236}">
                  <a16:creationId xmlns:a16="http://schemas.microsoft.com/office/drawing/2014/main" id="{F861BB88-9666-9EB5-3623-B2DCEF4360DA}"/>
                </a:ext>
              </a:extLst>
            </p:cNvPr>
            <p:cNvSpPr txBox="1"/>
            <p:nvPr/>
          </p:nvSpPr>
          <p:spPr>
            <a:xfrm>
              <a:off x="4992657" y="5941389"/>
              <a:ext cx="301686" cy="369332"/>
            </a:xfrm>
            <a:prstGeom prst="rect">
              <a:avLst/>
            </a:prstGeom>
            <a:noFill/>
          </p:spPr>
          <p:txBody>
            <a:bodyPr wrap="none" rtlCol="0">
              <a:spAutoFit/>
            </a:bodyPr>
            <a:lstStyle/>
            <a:p>
              <a:r>
                <a:rPr lang="en-US" dirty="0">
                  <a:solidFill>
                    <a:srgbClr val="FF33CC"/>
                  </a:solidFill>
                </a:rPr>
                <a:t>0</a:t>
              </a:r>
            </a:p>
          </p:txBody>
        </p:sp>
        <p:sp>
          <p:nvSpPr>
            <p:cNvPr id="109" name="TextBox 108">
              <a:extLst>
                <a:ext uri="{FF2B5EF4-FFF2-40B4-BE49-F238E27FC236}">
                  <a16:creationId xmlns:a16="http://schemas.microsoft.com/office/drawing/2014/main" id="{7DD2ED4B-3174-CE5F-9623-8FFD23B19965}"/>
                </a:ext>
              </a:extLst>
            </p:cNvPr>
            <p:cNvSpPr txBox="1"/>
            <p:nvPr/>
          </p:nvSpPr>
          <p:spPr>
            <a:xfrm>
              <a:off x="5526057" y="5941389"/>
              <a:ext cx="301686" cy="369332"/>
            </a:xfrm>
            <a:prstGeom prst="rect">
              <a:avLst/>
            </a:prstGeom>
            <a:noFill/>
          </p:spPr>
          <p:txBody>
            <a:bodyPr wrap="none" rtlCol="0">
              <a:spAutoFit/>
            </a:bodyPr>
            <a:lstStyle/>
            <a:p>
              <a:r>
                <a:rPr lang="en-US" dirty="0">
                  <a:solidFill>
                    <a:srgbClr val="FF33CC"/>
                  </a:solidFill>
                </a:rPr>
                <a:t>1</a:t>
              </a:r>
            </a:p>
          </p:txBody>
        </p:sp>
        <p:sp>
          <p:nvSpPr>
            <p:cNvPr id="110" name="TextBox 109">
              <a:extLst>
                <a:ext uri="{FF2B5EF4-FFF2-40B4-BE49-F238E27FC236}">
                  <a16:creationId xmlns:a16="http://schemas.microsoft.com/office/drawing/2014/main" id="{E3A5957B-0255-9C64-F7B4-05DAE01FEE43}"/>
                </a:ext>
              </a:extLst>
            </p:cNvPr>
            <p:cNvSpPr txBox="1"/>
            <p:nvPr/>
          </p:nvSpPr>
          <p:spPr>
            <a:xfrm>
              <a:off x="6060026" y="5941389"/>
              <a:ext cx="301686" cy="369332"/>
            </a:xfrm>
            <a:prstGeom prst="rect">
              <a:avLst/>
            </a:prstGeom>
            <a:noFill/>
          </p:spPr>
          <p:txBody>
            <a:bodyPr wrap="none" rtlCol="0">
              <a:spAutoFit/>
            </a:bodyPr>
            <a:lstStyle/>
            <a:p>
              <a:r>
                <a:rPr lang="en-US" dirty="0">
                  <a:solidFill>
                    <a:srgbClr val="FF33CC"/>
                  </a:solidFill>
                </a:rPr>
                <a:t>2</a:t>
              </a:r>
            </a:p>
          </p:txBody>
        </p:sp>
        <p:sp>
          <p:nvSpPr>
            <p:cNvPr id="111" name="TextBox 110">
              <a:extLst>
                <a:ext uri="{FF2B5EF4-FFF2-40B4-BE49-F238E27FC236}">
                  <a16:creationId xmlns:a16="http://schemas.microsoft.com/office/drawing/2014/main" id="{281CAD29-B3DF-A849-5CE5-4BF69DD53C73}"/>
                </a:ext>
              </a:extLst>
            </p:cNvPr>
            <p:cNvSpPr txBox="1"/>
            <p:nvPr/>
          </p:nvSpPr>
          <p:spPr>
            <a:xfrm>
              <a:off x="6569800" y="5941389"/>
              <a:ext cx="301686" cy="369332"/>
            </a:xfrm>
            <a:prstGeom prst="rect">
              <a:avLst/>
            </a:prstGeom>
            <a:noFill/>
          </p:spPr>
          <p:txBody>
            <a:bodyPr wrap="none" rtlCol="0">
              <a:spAutoFit/>
            </a:bodyPr>
            <a:lstStyle/>
            <a:p>
              <a:r>
                <a:rPr lang="en-US" dirty="0">
                  <a:solidFill>
                    <a:srgbClr val="FF33CC"/>
                  </a:solidFill>
                </a:rPr>
                <a:t>3</a:t>
              </a:r>
            </a:p>
          </p:txBody>
        </p:sp>
        <p:sp>
          <p:nvSpPr>
            <p:cNvPr id="112" name="TextBox 111">
              <a:extLst>
                <a:ext uri="{FF2B5EF4-FFF2-40B4-BE49-F238E27FC236}">
                  <a16:creationId xmlns:a16="http://schemas.microsoft.com/office/drawing/2014/main" id="{DB99E5E6-92D5-F305-7AAD-325721A03303}"/>
                </a:ext>
              </a:extLst>
            </p:cNvPr>
            <p:cNvSpPr txBox="1"/>
            <p:nvPr/>
          </p:nvSpPr>
          <p:spPr>
            <a:xfrm>
              <a:off x="7103200" y="5940811"/>
              <a:ext cx="301686" cy="369332"/>
            </a:xfrm>
            <a:prstGeom prst="rect">
              <a:avLst/>
            </a:prstGeom>
            <a:noFill/>
          </p:spPr>
          <p:txBody>
            <a:bodyPr wrap="none" rtlCol="0">
              <a:spAutoFit/>
            </a:bodyPr>
            <a:lstStyle/>
            <a:p>
              <a:r>
                <a:rPr lang="en-US" dirty="0">
                  <a:solidFill>
                    <a:srgbClr val="FF33CC"/>
                  </a:solidFill>
                </a:rPr>
                <a:t>4</a:t>
              </a:r>
            </a:p>
          </p:txBody>
        </p:sp>
        <p:sp>
          <p:nvSpPr>
            <p:cNvPr id="113" name="TextBox 112">
              <a:extLst>
                <a:ext uri="{FF2B5EF4-FFF2-40B4-BE49-F238E27FC236}">
                  <a16:creationId xmlns:a16="http://schemas.microsoft.com/office/drawing/2014/main" id="{94D8D65B-6701-8B3A-6DF6-D98B1ED9EBFF}"/>
                </a:ext>
              </a:extLst>
            </p:cNvPr>
            <p:cNvSpPr txBox="1"/>
            <p:nvPr/>
          </p:nvSpPr>
          <p:spPr>
            <a:xfrm>
              <a:off x="7602444" y="5940811"/>
              <a:ext cx="301686" cy="369332"/>
            </a:xfrm>
            <a:prstGeom prst="rect">
              <a:avLst/>
            </a:prstGeom>
            <a:noFill/>
          </p:spPr>
          <p:txBody>
            <a:bodyPr wrap="none" rtlCol="0">
              <a:spAutoFit/>
            </a:bodyPr>
            <a:lstStyle/>
            <a:p>
              <a:r>
                <a:rPr lang="en-US" dirty="0">
                  <a:solidFill>
                    <a:srgbClr val="FF33CC"/>
                  </a:solidFill>
                </a:rPr>
                <a:t>5</a:t>
              </a:r>
            </a:p>
          </p:txBody>
        </p:sp>
        <p:sp>
          <p:nvSpPr>
            <p:cNvPr id="114" name="TextBox 113">
              <a:extLst>
                <a:ext uri="{FF2B5EF4-FFF2-40B4-BE49-F238E27FC236}">
                  <a16:creationId xmlns:a16="http://schemas.microsoft.com/office/drawing/2014/main" id="{8BC08D99-04C9-E62B-494D-3A181488A7AA}"/>
                </a:ext>
              </a:extLst>
            </p:cNvPr>
            <p:cNvSpPr txBox="1"/>
            <p:nvPr/>
          </p:nvSpPr>
          <p:spPr>
            <a:xfrm>
              <a:off x="8194195" y="5941389"/>
              <a:ext cx="301686" cy="369332"/>
            </a:xfrm>
            <a:prstGeom prst="rect">
              <a:avLst/>
            </a:prstGeom>
            <a:noFill/>
          </p:spPr>
          <p:txBody>
            <a:bodyPr wrap="none" rtlCol="0">
              <a:spAutoFit/>
            </a:bodyPr>
            <a:lstStyle/>
            <a:p>
              <a:r>
                <a:rPr lang="en-US" dirty="0">
                  <a:solidFill>
                    <a:srgbClr val="FF33CC"/>
                  </a:solidFill>
                </a:rPr>
                <a:t>6</a:t>
              </a:r>
            </a:p>
          </p:txBody>
        </p:sp>
        <p:sp>
          <p:nvSpPr>
            <p:cNvPr id="115" name="TextBox 114">
              <a:extLst>
                <a:ext uri="{FF2B5EF4-FFF2-40B4-BE49-F238E27FC236}">
                  <a16:creationId xmlns:a16="http://schemas.microsoft.com/office/drawing/2014/main" id="{7F614A99-7467-E672-9DB1-AF5A3A8C5BA4}"/>
                </a:ext>
              </a:extLst>
            </p:cNvPr>
            <p:cNvSpPr txBox="1"/>
            <p:nvPr/>
          </p:nvSpPr>
          <p:spPr>
            <a:xfrm>
              <a:off x="8727595" y="5940811"/>
              <a:ext cx="301686" cy="369332"/>
            </a:xfrm>
            <a:prstGeom prst="rect">
              <a:avLst/>
            </a:prstGeom>
            <a:noFill/>
          </p:spPr>
          <p:txBody>
            <a:bodyPr wrap="none" rtlCol="0">
              <a:spAutoFit/>
            </a:bodyPr>
            <a:lstStyle/>
            <a:p>
              <a:r>
                <a:rPr lang="en-US" dirty="0">
                  <a:solidFill>
                    <a:srgbClr val="FF33CC"/>
                  </a:solidFill>
                </a:rPr>
                <a:t>7</a:t>
              </a:r>
            </a:p>
          </p:txBody>
        </p:sp>
        <p:sp>
          <p:nvSpPr>
            <p:cNvPr id="116" name="Rectangle 115">
              <a:extLst>
                <a:ext uri="{FF2B5EF4-FFF2-40B4-BE49-F238E27FC236}">
                  <a16:creationId xmlns:a16="http://schemas.microsoft.com/office/drawing/2014/main" id="{F764E1B5-6D75-87C0-89E3-5D3ABC709EDB}"/>
                </a:ext>
              </a:extLst>
            </p:cNvPr>
            <p:cNvSpPr/>
            <p:nvPr/>
          </p:nvSpPr>
          <p:spPr>
            <a:xfrm>
              <a:off x="5410200" y="4494663"/>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801</a:t>
              </a:r>
            </a:p>
            <a:p>
              <a:pPr algn="ctr"/>
              <a:r>
                <a:rPr lang="en-US" dirty="0">
                  <a:solidFill>
                    <a:schemeClr val="tx1"/>
                  </a:solidFill>
                </a:rPr>
                <a:t>401</a:t>
              </a:r>
            </a:p>
            <a:p>
              <a:pPr algn="ctr"/>
              <a:r>
                <a:rPr lang="en-US" dirty="0">
                  <a:solidFill>
                    <a:schemeClr val="tx1"/>
                  </a:solidFill>
                </a:rPr>
                <a:t>101</a:t>
              </a:r>
            </a:p>
            <a:p>
              <a:pPr algn="ctr"/>
              <a:r>
                <a:rPr lang="en-US" dirty="0">
                  <a:solidFill>
                    <a:schemeClr val="tx1"/>
                  </a:solidFill>
                </a:rPr>
                <a:t>901</a:t>
              </a:r>
            </a:p>
            <a:p>
              <a:pPr algn="ctr"/>
              <a:r>
                <a:rPr lang="en-US" dirty="0">
                  <a:solidFill>
                    <a:schemeClr val="tx1"/>
                  </a:solidFill>
                </a:rPr>
                <a:t>121</a:t>
              </a:r>
            </a:p>
          </p:txBody>
        </p:sp>
        <p:sp>
          <p:nvSpPr>
            <p:cNvPr id="117" name="Rectangle 116">
              <a:extLst>
                <a:ext uri="{FF2B5EF4-FFF2-40B4-BE49-F238E27FC236}">
                  <a16:creationId xmlns:a16="http://schemas.microsoft.com/office/drawing/2014/main" id="{69EB4A83-5E3A-A769-DCFB-123F8F10F4A7}"/>
                </a:ext>
              </a:extLst>
            </p:cNvPr>
            <p:cNvSpPr/>
            <p:nvPr/>
          </p:nvSpPr>
          <p:spPr>
            <a:xfrm>
              <a:off x="4876800" y="4493526"/>
              <a:ext cx="533400" cy="14434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p:txBody>
        </p:sp>
        <p:sp>
          <p:nvSpPr>
            <p:cNvPr id="118" name="TextBox 117">
              <a:extLst>
                <a:ext uri="{FF2B5EF4-FFF2-40B4-BE49-F238E27FC236}">
                  <a16:creationId xmlns:a16="http://schemas.microsoft.com/office/drawing/2014/main" id="{9C96E0C1-A550-56EC-FD72-2C4BC9F7C7F9}"/>
                </a:ext>
              </a:extLst>
            </p:cNvPr>
            <p:cNvSpPr txBox="1"/>
            <p:nvPr/>
          </p:nvSpPr>
          <p:spPr>
            <a:xfrm>
              <a:off x="9269625" y="5941389"/>
              <a:ext cx="301686" cy="369332"/>
            </a:xfrm>
            <a:prstGeom prst="rect">
              <a:avLst/>
            </a:prstGeom>
            <a:noFill/>
          </p:spPr>
          <p:txBody>
            <a:bodyPr wrap="none" rtlCol="0">
              <a:spAutoFit/>
            </a:bodyPr>
            <a:lstStyle/>
            <a:p>
              <a:r>
                <a:rPr lang="en-US" dirty="0">
                  <a:solidFill>
                    <a:srgbClr val="FF33CC"/>
                  </a:solidFill>
                </a:rPr>
                <a:t>8</a:t>
              </a:r>
            </a:p>
          </p:txBody>
        </p:sp>
        <p:sp>
          <p:nvSpPr>
            <p:cNvPr id="119" name="TextBox 118">
              <a:extLst>
                <a:ext uri="{FF2B5EF4-FFF2-40B4-BE49-F238E27FC236}">
                  <a16:creationId xmlns:a16="http://schemas.microsoft.com/office/drawing/2014/main" id="{6CBA1B4E-2801-0FFF-09AA-4BDE9E2E2705}"/>
                </a:ext>
              </a:extLst>
            </p:cNvPr>
            <p:cNvSpPr txBox="1"/>
            <p:nvPr/>
          </p:nvSpPr>
          <p:spPr>
            <a:xfrm>
              <a:off x="9811805" y="5941389"/>
              <a:ext cx="301686" cy="369332"/>
            </a:xfrm>
            <a:prstGeom prst="rect">
              <a:avLst/>
            </a:prstGeom>
            <a:noFill/>
          </p:spPr>
          <p:txBody>
            <a:bodyPr wrap="none" rtlCol="0">
              <a:spAutoFit/>
            </a:bodyPr>
            <a:lstStyle/>
            <a:p>
              <a:r>
                <a:rPr lang="en-US" dirty="0">
                  <a:solidFill>
                    <a:srgbClr val="FF33CC"/>
                  </a:solidFill>
                </a:rPr>
                <a:t>9</a:t>
              </a:r>
            </a:p>
          </p:txBody>
        </p:sp>
      </p:grpSp>
      <p:sp>
        <p:nvSpPr>
          <p:cNvPr id="120" name="Arrow: Bent-Up 119">
            <a:extLst>
              <a:ext uri="{FF2B5EF4-FFF2-40B4-BE49-F238E27FC236}">
                <a16:creationId xmlns:a16="http://schemas.microsoft.com/office/drawing/2014/main" id="{F8C1EBBC-2D29-3947-2D55-152820918DA0}"/>
              </a:ext>
              <a:ext uri="{C183D7F6-B498-43B3-948B-1728B52AA6E4}">
                <adec:decorative xmlns:adec="http://schemas.microsoft.com/office/drawing/2017/decorative" val="1"/>
              </a:ext>
            </a:extLst>
          </p:cNvPr>
          <p:cNvSpPr/>
          <p:nvPr/>
        </p:nvSpPr>
        <p:spPr>
          <a:xfrm rot="5400000">
            <a:off x="4551618" y="5289479"/>
            <a:ext cx="1128451" cy="1325563"/>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descr="Next we do a bucket sort using the next least significant digit of the numbers. Because our numbers are represented in base 10, we have buckets 0 through 9, filled in as follows:&#10;bucket 0: 800, 801, 401, 101, 901, 103&#10;bucket 1: 512, 113, 018&#10;bucket 2: 121, 323, 823&#10;bucket 3: empty&#10;bucket 4: 245&#10;bucket 5: 255, 555&#10;bucket 6: empty&#10;bucket 7: empty&#10;bucket 8: empty&#10;bucket 9: 999">
            <a:extLst>
              <a:ext uri="{FF2B5EF4-FFF2-40B4-BE49-F238E27FC236}">
                <a16:creationId xmlns:a16="http://schemas.microsoft.com/office/drawing/2014/main" id="{D03E7495-E90F-2D2E-2DC8-D7DB5BFCCBEB}"/>
              </a:ext>
            </a:extLst>
          </p:cNvPr>
          <p:cNvGrpSpPr/>
          <p:nvPr/>
        </p:nvGrpSpPr>
        <p:grpSpPr>
          <a:xfrm>
            <a:off x="6401447" y="4683760"/>
            <a:ext cx="5334000" cy="1969595"/>
            <a:chOff x="4876800" y="4572000"/>
            <a:chExt cx="5334000" cy="1969595"/>
          </a:xfrm>
        </p:grpSpPr>
        <p:sp>
          <p:nvSpPr>
            <p:cNvPr id="10" name="Rectangle 9">
              <a:extLst>
                <a:ext uri="{FF2B5EF4-FFF2-40B4-BE49-F238E27FC236}">
                  <a16:creationId xmlns:a16="http://schemas.microsoft.com/office/drawing/2014/main" id="{A661D6AA-7881-F709-2A3E-E335A463EA74}"/>
                </a:ext>
              </a:extLst>
            </p:cNvPr>
            <p:cNvSpPr/>
            <p:nvPr/>
          </p:nvSpPr>
          <p:spPr>
            <a:xfrm>
              <a:off x="96774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999</a:t>
              </a:r>
            </a:p>
          </p:txBody>
        </p:sp>
        <p:sp>
          <p:nvSpPr>
            <p:cNvPr id="11" name="Rectangle 10">
              <a:extLst>
                <a:ext uri="{FF2B5EF4-FFF2-40B4-BE49-F238E27FC236}">
                  <a16:creationId xmlns:a16="http://schemas.microsoft.com/office/drawing/2014/main" id="{342CC28F-B99B-5CE7-2FB0-4AAFD47CDE15}"/>
                </a:ext>
              </a:extLst>
            </p:cNvPr>
            <p:cNvSpPr/>
            <p:nvPr/>
          </p:nvSpPr>
          <p:spPr>
            <a:xfrm>
              <a:off x="91440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B966A1E3-10C4-8F36-8163-DECE62BFF72C}"/>
                </a:ext>
              </a:extLst>
            </p:cNvPr>
            <p:cNvSpPr/>
            <p:nvPr/>
          </p:nvSpPr>
          <p:spPr>
            <a:xfrm>
              <a:off x="86106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Rectangle 12">
              <a:extLst>
                <a:ext uri="{FF2B5EF4-FFF2-40B4-BE49-F238E27FC236}">
                  <a16:creationId xmlns:a16="http://schemas.microsoft.com/office/drawing/2014/main" id="{44EFCA7D-7C8B-740A-99B9-440328E85B88}"/>
                </a:ext>
              </a:extLst>
            </p:cNvPr>
            <p:cNvSpPr/>
            <p:nvPr/>
          </p:nvSpPr>
          <p:spPr>
            <a:xfrm>
              <a:off x="80772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Rectangle 13">
              <a:extLst>
                <a:ext uri="{FF2B5EF4-FFF2-40B4-BE49-F238E27FC236}">
                  <a16:creationId xmlns:a16="http://schemas.microsoft.com/office/drawing/2014/main" id="{795C9FB0-7648-B3B8-1167-E8E5A5704B01}"/>
                </a:ext>
              </a:extLst>
            </p:cNvPr>
            <p:cNvSpPr/>
            <p:nvPr/>
          </p:nvSpPr>
          <p:spPr>
            <a:xfrm>
              <a:off x="75438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255</a:t>
              </a:r>
            </a:p>
            <a:p>
              <a:pPr algn="ctr"/>
              <a:r>
                <a:rPr lang="en-US" dirty="0">
                  <a:solidFill>
                    <a:schemeClr val="tx1"/>
                  </a:solidFill>
                </a:rPr>
                <a:t>555</a:t>
              </a:r>
            </a:p>
          </p:txBody>
        </p:sp>
        <p:sp>
          <p:nvSpPr>
            <p:cNvPr id="15" name="Rectangle 14">
              <a:extLst>
                <a:ext uri="{FF2B5EF4-FFF2-40B4-BE49-F238E27FC236}">
                  <a16:creationId xmlns:a16="http://schemas.microsoft.com/office/drawing/2014/main" id="{B88BC752-BDCA-AD13-4233-89889A8DAC63}"/>
                </a:ext>
              </a:extLst>
            </p:cNvPr>
            <p:cNvSpPr/>
            <p:nvPr/>
          </p:nvSpPr>
          <p:spPr>
            <a:xfrm>
              <a:off x="70104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245</a:t>
              </a:r>
            </a:p>
          </p:txBody>
        </p:sp>
        <p:sp>
          <p:nvSpPr>
            <p:cNvPr id="20" name="Rectangle 19">
              <a:extLst>
                <a:ext uri="{FF2B5EF4-FFF2-40B4-BE49-F238E27FC236}">
                  <a16:creationId xmlns:a16="http://schemas.microsoft.com/office/drawing/2014/main" id="{45678187-148C-0105-9D7E-192A22C6E036}"/>
                </a:ext>
              </a:extLst>
            </p:cNvPr>
            <p:cNvSpPr/>
            <p:nvPr/>
          </p:nvSpPr>
          <p:spPr>
            <a:xfrm>
              <a:off x="64770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Rectangle 20">
              <a:extLst>
                <a:ext uri="{FF2B5EF4-FFF2-40B4-BE49-F238E27FC236}">
                  <a16:creationId xmlns:a16="http://schemas.microsoft.com/office/drawing/2014/main" id="{FCEEE52B-4C01-5D72-A987-4A97F4C6D2D2}"/>
                </a:ext>
              </a:extLst>
            </p:cNvPr>
            <p:cNvSpPr/>
            <p:nvPr/>
          </p:nvSpPr>
          <p:spPr>
            <a:xfrm>
              <a:off x="59436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121</a:t>
              </a:r>
            </a:p>
            <a:p>
              <a:pPr algn="ctr"/>
              <a:r>
                <a:rPr lang="en-US" dirty="0">
                  <a:solidFill>
                    <a:schemeClr val="tx1"/>
                  </a:solidFill>
                </a:rPr>
                <a:t>323</a:t>
              </a:r>
            </a:p>
            <a:p>
              <a:pPr algn="ctr"/>
              <a:r>
                <a:rPr lang="en-US" dirty="0">
                  <a:solidFill>
                    <a:schemeClr val="tx1"/>
                  </a:solidFill>
                </a:rPr>
                <a:t>823</a:t>
              </a:r>
            </a:p>
          </p:txBody>
        </p:sp>
        <p:sp>
          <p:nvSpPr>
            <p:cNvPr id="24" name="TextBox 23">
              <a:extLst>
                <a:ext uri="{FF2B5EF4-FFF2-40B4-BE49-F238E27FC236}">
                  <a16:creationId xmlns:a16="http://schemas.microsoft.com/office/drawing/2014/main" id="{8779D00F-9272-7C1E-9D41-A93C338DF723}"/>
                </a:ext>
              </a:extLst>
            </p:cNvPr>
            <p:cNvSpPr txBox="1"/>
            <p:nvPr/>
          </p:nvSpPr>
          <p:spPr>
            <a:xfrm>
              <a:off x="4992657" y="6172263"/>
              <a:ext cx="301686" cy="369332"/>
            </a:xfrm>
            <a:prstGeom prst="rect">
              <a:avLst/>
            </a:prstGeom>
            <a:noFill/>
          </p:spPr>
          <p:txBody>
            <a:bodyPr wrap="none" rtlCol="0">
              <a:spAutoFit/>
            </a:bodyPr>
            <a:lstStyle/>
            <a:p>
              <a:r>
                <a:rPr lang="en-US" dirty="0">
                  <a:solidFill>
                    <a:srgbClr val="FF33CC"/>
                  </a:solidFill>
                </a:rPr>
                <a:t>0</a:t>
              </a:r>
            </a:p>
          </p:txBody>
        </p:sp>
        <p:sp>
          <p:nvSpPr>
            <p:cNvPr id="32" name="TextBox 31">
              <a:extLst>
                <a:ext uri="{FF2B5EF4-FFF2-40B4-BE49-F238E27FC236}">
                  <a16:creationId xmlns:a16="http://schemas.microsoft.com/office/drawing/2014/main" id="{47767DD9-39BB-8683-09BF-F85099F5390E}"/>
                </a:ext>
              </a:extLst>
            </p:cNvPr>
            <p:cNvSpPr txBox="1"/>
            <p:nvPr/>
          </p:nvSpPr>
          <p:spPr>
            <a:xfrm>
              <a:off x="5526057" y="6172263"/>
              <a:ext cx="301686" cy="369332"/>
            </a:xfrm>
            <a:prstGeom prst="rect">
              <a:avLst/>
            </a:prstGeom>
            <a:noFill/>
          </p:spPr>
          <p:txBody>
            <a:bodyPr wrap="none" rtlCol="0">
              <a:spAutoFit/>
            </a:bodyPr>
            <a:lstStyle/>
            <a:p>
              <a:r>
                <a:rPr lang="en-US" dirty="0">
                  <a:solidFill>
                    <a:srgbClr val="FF33CC"/>
                  </a:solidFill>
                </a:rPr>
                <a:t>1</a:t>
              </a:r>
            </a:p>
          </p:txBody>
        </p:sp>
        <p:sp>
          <p:nvSpPr>
            <p:cNvPr id="33" name="TextBox 32">
              <a:extLst>
                <a:ext uri="{FF2B5EF4-FFF2-40B4-BE49-F238E27FC236}">
                  <a16:creationId xmlns:a16="http://schemas.microsoft.com/office/drawing/2014/main" id="{4561B223-FD8D-5A03-DA6E-247DED224AB8}"/>
                </a:ext>
              </a:extLst>
            </p:cNvPr>
            <p:cNvSpPr txBox="1"/>
            <p:nvPr/>
          </p:nvSpPr>
          <p:spPr>
            <a:xfrm>
              <a:off x="6060026" y="6172263"/>
              <a:ext cx="301686" cy="369332"/>
            </a:xfrm>
            <a:prstGeom prst="rect">
              <a:avLst/>
            </a:prstGeom>
            <a:noFill/>
          </p:spPr>
          <p:txBody>
            <a:bodyPr wrap="none" rtlCol="0">
              <a:spAutoFit/>
            </a:bodyPr>
            <a:lstStyle/>
            <a:p>
              <a:r>
                <a:rPr lang="en-US" dirty="0">
                  <a:solidFill>
                    <a:srgbClr val="FF33CC"/>
                  </a:solidFill>
                </a:rPr>
                <a:t>2</a:t>
              </a:r>
            </a:p>
          </p:txBody>
        </p:sp>
        <p:sp>
          <p:nvSpPr>
            <p:cNvPr id="34" name="TextBox 33">
              <a:extLst>
                <a:ext uri="{FF2B5EF4-FFF2-40B4-BE49-F238E27FC236}">
                  <a16:creationId xmlns:a16="http://schemas.microsoft.com/office/drawing/2014/main" id="{D6FA6309-8B37-CE8D-E7E5-E5E79AF811D3}"/>
                </a:ext>
              </a:extLst>
            </p:cNvPr>
            <p:cNvSpPr txBox="1"/>
            <p:nvPr/>
          </p:nvSpPr>
          <p:spPr>
            <a:xfrm>
              <a:off x="6569800" y="6172263"/>
              <a:ext cx="301686" cy="369332"/>
            </a:xfrm>
            <a:prstGeom prst="rect">
              <a:avLst/>
            </a:prstGeom>
            <a:noFill/>
          </p:spPr>
          <p:txBody>
            <a:bodyPr wrap="none" rtlCol="0">
              <a:spAutoFit/>
            </a:bodyPr>
            <a:lstStyle/>
            <a:p>
              <a:r>
                <a:rPr lang="en-US" dirty="0">
                  <a:solidFill>
                    <a:srgbClr val="FF33CC"/>
                  </a:solidFill>
                </a:rPr>
                <a:t>3</a:t>
              </a:r>
            </a:p>
          </p:txBody>
        </p:sp>
        <p:sp>
          <p:nvSpPr>
            <p:cNvPr id="35" name="TextBox 34">
              <a:extLst>
                <a:ext uri="{FF2B5EF4-FFF2-40B4-BE49-F238E27FC236}">
                  <a16:creationId xmlns:a16="http://schemas.microsoft.com/office/drawing/2014/main" id="{D759F879-D7EC-6511-A722-BA8C1D510326}"/>
                </a:ext>
              </a:extLst>
            </p:cNvPr>
            <p:cNvSpPr txBox="1"/>
            <p:nvPr/>
          </p:nvSpPr>
          <p:spPr>
            <a:xfrm>
              <a:off x="7103200" y="6171685"/>
              <a:ext cx="301686" cy="369332"/>
            </a:xfrm>
            <a:prstGeom prst="rect">
              <a:avLst/>
            </a:prstGeom>
            <a:noFill/>
          </p:spPr>
          <p:txBody>
            <a:bodyPr wrap="none" rtlCol="0">
              <a:spAutoFit/>
            </a:bodyPr>
            <a:lstStyle/>
            <a:p>
              <a:r>
                <a:rPr lang="en-US" dirty="0">
                  <a:solidFill>
                    <a:srgbClr val="FF33CC"/>
                  </a:solidFill>
                </a:rPr>
                <a:t>4</a:t>
              </a:r>
            </a:p>
          </p:txBody>
        </p:sp>
        <p:sp>
          <p:nvSpPr>
            <p:cNvPr id="36" name="TextBox 35">
              <a:extLst>
                <a:ext uri="{FF2B5EF4-FFF2-40B4-BE49-F238E27FC236}">
                  <a16:creationId xmlns:a16="http://schemas.microsoft.com/office/drawing/2014/main" id="{B1D13815-BC06-EB0C-3AC3-4EEE8B2BE084}"/>
                </a:ext>
              </a:extLst>
            </p:cNvPr>
            <p:cNvSpPr txBox="1"/>
            <p:nvPr/>
          </p:nvSpPr>
          <p:spPr>
            <a:xfrm>
              <a:off x="7602444" y="6171685"/>
              <a:ext cx="301686" cy="369332"/>
            </a:xfrm>
            <a:prstGeom prst="rect">
              <a:avLst/>
            </a:prstGeom>
            <a:noFill/>
          </p:spPr>
          <p:txBody>
            <a:bodyPr wrap="none" rtlCol="0">
              <a:spAutoFit/>
            </a:bodyPr>
            <a:lstStyle/>
            <a:p>
              <a:r>
                <a:rPr lang="en-US" dirty="0">
                  <a:solidFill>
                    <a:srgbClr val="FF33CC"/>
                  </a:solidFill>
                </a:rPr>
                <a:t>5</a:t>
              </a:r>
            </a:p>
          </p:txBody>
        </p:sp>
        <p:sp>
          <p:nvSpPr>
            <p:cNvPr id="37" name="TextBox 36">
              <a:extLst>
                <a:ext uri="{FF2B5EF4-FFF2-40B4-BE49-F238E27FC236}">
                  <a16:creationId xmlns:a16="http://schemas.microsoft.com/office/drawing/2014/main" id="{D4813CA8-C813-EE49-18B2-760E4527EEAE}"/>
                </a:ext>
              </a:extLst>
            </p:cNvPr>
            <p:cNvSpPr txBox="1"/>
            <p:nvPr/>
          </p:nvSpPr>
          <p:spPr>
            <a:xfrm>
              <a:off x="8194195" y="6172263"/>
              <a:ext cx="301686" cy="369332"/>
            </a:xfrm>
            <a:prstGeom prst="rect">
              <a:avLst/>
            </a:prstGeom>
            <a:noFill/>
          </p:spPr>
          <p:txBody>
            <a:bodyPr wrap="none" rtlCol="0">
              <a:spAutoFit/>
            </a:bodyPr>
            <a:lstStyle/>
            <a:p>
              <a:r>
                <a:rPr lang="en-US" dirty="0">
                  <a:solidFill>
                    <a:srgbClr val="FF33CC"/>
                  </a:solidFill>
                </a:rPr>
                <a:t>6</a:t>
              </a:r>
            </a:p>
          </p:txBody>
        </p:sp>
        <p:sp>
          <p:nvSpPr>
            <p:cNvPr id="38" name="TextBox 37">
              <a:extLst>
                <a:ext uri="{FF2B5EF4-FFF2-40B4-BE49-F238E27FC236}">
                  <a16:creationId xmlns:a16="http://schemas.microsoft.com/office/drawing/2014/main" id="{4EFF9DF0-151C-22B5-5D2E-5DF190627837}"/>
                </a:ext>
              </a:extLst>
            </p:cNvPr>
            <p:cNvSpPr txBox="1"/>
            <p:nvPr/>
          </p:nvSpPr>
          <p:spPr>
            <a:xfrm>
              <a:off x="8727595" y="6171685"/>
              <a:ext cx="301686" cy="369332"/>
            </a:xfrm>
            <a:prstGeom prst="rect">
              <a:avLst/>
            </a:prstGeom>
            <a:noFill/>
          </p:spPr>
          <p:txBody>
            <a:bodyPr wrap="none" rtlCol="0">
              <a:spAutoFit/>
            </a:bodyPr>
            <a:lstStyle/>
            <a:p>
              <a:r>
                <a:rPr lang="en-US" dirty="0">
                  <a:solidFill>
                    <a:srgbClr val="FF33CC"/>
                  </a:solidFill>
                </a:rPr>
                <a:t>7</a:t>
              </a:r>
            </a:p>
          </p:txBody>
        </p:sp>
        <p:sp>
          <p:nvSpPr>
            <p:cNvPr id="39" name="Rectangle 38">
              <a:extLst>
                <a:ext uri="{FF2B5EF4-FFF2-40B4-BE49-F238E27FC236}">
                  <a16:creationId xmlns:a16="http://schemas.microsoft.com/office/drawing/2014/main" id="{745609D8-F348-FC00-0758-0607BF897D4D}"/>
                </a:ext>
              </a:extLst>
            </p:cNvPr>
            <p:cNvSpPr/>
            <p:nvPr/>
          </p:nvSpPr>
          <p:spPr>
            <a:xfrm>
              <a:off x="54102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a:p>
              <a:pPr algn="ctr"/>
              <a:r>
                <a:rPr lang="en-US" dirty="0">
                  <a:solidFill>
                    <a:schemeClr val="tx1"/>
                  </a:solidFill>
                </a:rPr>
                <a:t>113</a:t>
              </a:r>
            </a:p>
            <a:p>
              <a:pPr algn="ctr"/>
              <a:r>
                <a:rPr lang="en-US" dirty="0">
                  <a:solidFill>
                    <a:schemeClr val="tx1"/>
                  </a:solidFill>
                </a:rPr>
                <a:t>018</a:t>
              </a:r>
            </a:p>
          </p:txBody>
        </p:sp>
        <p:sp>
          <p:nvSpPr>
            <p:cNvPr id="46" name="Rectangle 45">
              <a:extLst>
                <a:ext uri="{FF2B5EF4-FFF2-40B4-BE49-F238E27FC236}">
                  <a16:creationId xmlns:a16="http://schemas.microsoft.com/office/drawing/2014/main" id="{38EA6627-C543-2DA1-2142-39B063E1F82B}"/>
                </a:ext>
              </a:extLst>
            </p:cNvPr>
            <p:cNvSpPr/>
            <p:nvPr/>
          </p:nvSpPr>
          <p:spPr>
            <a:xfrm>
              <a:off x="4876800" y="4574274"/>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a:p>
              <a:pPr algn="ctr"/>
              <a:r>
                <a:rPr lang="en-US" dirty="0">
                  <a:solidFill>
                    <a:schemeClr val="tx1"/>
                  </a:solidFill>
                </a:rPr>
                <a:t>801</a:t>
              </a:r>
            </a:p>
            <a:p>
              <a:pPr algn="ctr"/>
              <a:r>
                <a:rPr lang="en-US" dirty="0">
                  <a:solidFill>
                    <a:schemeClr val="tx1"/>
                  </a:solidFill>
                </a:rPr>
                <a:t>401</a:t>
              </a:r>
            </a:p>
            <a:p>
              <a:pPr algn="ctr"/>
              <a:r>
                <a:rPr lang="en-US" dirty="0">
                  <a:solidFill>
                    <a:schemeClr val="tx1"/>
                  </a:solidFill>
                </a:rPr>
                <a:t>101</a:t>
              </a:r>
            </a:p>
            <a:p>
              <a:pPr algn="ctr"/>
              <a:r>
                <a:rPr lang="en-US" dirty="0">
                  <a:solidFill>
                    <a:schemeClr val="tx1"/>
                  </a:solidFill>
                </a:rPr>
                <a:t>901</a:t>
              </a:r>
            </a:p>
            <a:p>
              <a:pPr algn="ctr"/>
              <a:r>
                <a:rPr lang="en-US" dirty="0">
                  <a:solidFill>
                    <a:schemeClr val="tx1"/>
                  </a:solidFill>
                </a:rPr>
                <a:t>103</a:t>
              </a:r>
            </a:p>
          </p:txBody>
        </p:sp>
        <p:sp>
          <p:nvSpPr>
            <p:cNvPr id="47" name="TextBox 46">
              <a:extLst>
                <a:ext uri="{FF2B5EF4-FFF2-40B4-BE49-F238E27FC236}">
                  <a16:creationId xmlns:a16="http://schemas.microsoft.com/office/drawing/2014/main" id="{D8ECA832-35E5-A9A8-F60B-961FEC7432B8}"/>
                </a:ext>
              </a:extLst>
            </p:cNvPr>
            <p:cNvSpPr txBox="1"/>
            <p:nvPr/>
          </p:nvSpPr>
          <p:spPr>
            <a:xfrm>
              <a:off x="9269625" y="6172263"/>
              <a:ext cx="301686" cy="369332"/>
            </a:xfrm>
            <a:prstGeom prst="rect">
              <a:avLst/>
            </a:prstGeom>
            <a:noFill/>
          </p:spPr>
          <p:txBody>
            <a:bodyPr wrap="none" rtlCol="0">
              <a:spAutoFit/>
            </a:bodyPr>
            <a:lstStyle/>
            <a:p>
              <a:r>
                <a:rPr lang="en-US" dirty="0">
                  <a:solidFill>
                    <a:srgbClr val="FF33CC"/>
                  </a:solidFill>
                </a:rPr>
                <a:t>8</a:t>
              </a:r>
            </a:p>
          </p:txBody>
        </p:sp>
        <p:sp>
          <p:nvSpPr>
            <p:cNvPr id="48" name="TextBox 47">
              <a:extLst>
                <a:ext uri="{FF2B5EF4-FFF2-40B4-BE49-F238E27FC236}">
                  <a16:creationId xmlns:a16="http://schemas.microsoft.com/office/drawing/2014/main" id="{9FB00CFA-F0FE-1E0A-4521-EB59CC8578C4}"/>
                </a:ext>
              </a:extLst>
            </p:cNvPr>
            <p:cNvSpPr txBox="1"/>
            <p:nvPr/>
          </p:nvSpPr>
          <p:spPr>
            <a:xfrm>
              <a:off x="9811805" y="6172263"/>
              <a:ext cx="301686" cy="369332"/>
            </a:xfrm>
            <a:prstGeom prst="rect">
              <a:avLst/>
            </a:prstGeom>
            <a:noFill/>
          </p:spPr>
          <p:txBody>
            <a:bodyPr wrap="none" rtlCol="0">
              <a:spAutoFit/>
            </a:bodyPr>
            <a:lstStyle/>
            <a:p>
              <a:r>
                <a:rPr lang="en-US" dirty="0">
                  <a:solidFill>
                    <a:srgbClr val="FF33CC"/>
                  </a:solidFill>
                </a:rPr>
                <a:t>9</a:t>
              </a:r>
            </a:p>
          </p:txBody>
        </p:sp>
      </p:grpSp>
    </p:spTree>
    <p:extLst>
      <p:ext uri="{BB962C8B-B14F-4D97-AF65-F5344CB8AC3E}">
        <p14:creationId xmlns:p14="http://schemas.microsoft.com/office/powerpoint/2010/main" val="1643661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4D522-A643-E0F7-0203-D79E5BF422B6}"/>
              </a:ext>
            </a:extLst>
          </p:cNvPr>
          <p:cNvSpPr>
            <a:spLocks noGrp="1"/>
          </p:cNvSpPr>
          <p:nvPr>
            <p:ph type="title"/>
          </p:nvPr>
        </p:nvSpPr>
        <p:spPr/>
        <p:txBody>
          <a:bodyPr/>
          <a:lstStyle/>
          <a:p>
            <a:r>
              <a:rPr lang="en-US" dirty="0" err="1"/>
              <a:t>RadixSort</a:t>
            </a:r>
            <a:r>
              <a:rPr lang="en-US" dirty="0"/>
              <a:t> – Re-Bucket by 100s</a:t>
            </a:r>
          </a:p>
        </p:txBody>
      </p:sp>
      <p:sp>
        <p:nvSpPr>
          <p:cNvPr id="3" name="Content Placeholder 2">
            <a:extLst>
              <a:ext uri="{FF2B5EF4-FFF2-40B4-BE49-F238E27FC236}">
                <a16:creationId xmlns:a16="http://schemas.microsoft.com/office/drawing/2014/main" id="{13E04AAD-4854-7E00-900E-93F7F0ADE080}"/>
              </a:ext>
            </a:extLst>
          </p:cNvPr>
          <p:cNvSpPr>
            <a:spLocks noGrp="1"/>
          </p:cNvSpPr>
          <p:nvPr>
            <p:ph idx="1"/>
          </p:nvPr>
        </p:nvSpPr>
        <p:spPr>
          <a:xfrm>
            <a:off x="503842" y="1517901"/>
            <a:ext cx="11668760" cy="4351338"/>
          </a:xfrm>
        </p:spPr>
        <p:txBody>
          <a:bodyPr/>
          <a:lstStyle/>
          <a:p>
            <a:r>
              <a:rPr lang="en-US" dirty="0"/>
              <a:t>Radix: The base of a number system</a:t>
            </a:r>
          </a:p>
          <a:p>
            <a:pPr lvl="1"/>
            <a:r>
              <a:rPr lang="en-US" dirty="0"/>
              <a:t>We’ll use base 10, most implementations will use larger bases</a:t>
            </a:r>
          </a:p>
          <a:p>
            <a:r>
              <a:rPr lang="en-US" dirty="0"/>
              <a:t>Idea: </a:t>
            </a:r>
          </a:p>
          <a:p>
            <a:pPr lvl="1"/>
            <a:r>
              <a:rPr lang="en-US" dirty="0" err="1"/>
              <a:t>BucketSort</a:t>
            </a:r>
            <a:r>
              <a:rPr lang="en-US" dirty="0"/>
              <a:t> by each digit, one at a time, from least significant to most significant</a:t>
            </a:r>
          </a:p>
        </p:txBody>
      </p:sp>
      <p:sp>
        <p:nvSpPr>
          <p:cNvPr id="31" name="TextBox 30">
            <a:extLst>
              <a:ext uri="{FF2B5EF4-FFF2-40B4-BE49-F238E27FC236}">
                <a16:creationId xmlns:a16="http://schemas.microsoft.com/office/drawing/2014/main" id="{9F143260-887A-82E5-E7F0-D8C587242AE1}"/>
              </a:ext>
            </a:extLst>
          </p:cNvPr>
          <p:cNvSpPr txBox="1"/>
          <p:nvPr/>
        </p:nvSpPr>
        <p:spPr>
          <a:xfrm>
            <a:off x="1308984" y="5534047"/>
            <a:ext cx="3184788" cy="1200329"/>
          </a:xfrm>
          <a:prstGeom prst="rect">
            <a:avLst/>
          </a:prstGeom>
          <a:noFill/>
        </p:spPr>
        <p:txBody>
          <a:bodyPr wrap="square" rtlCol="0">
            <a:spAutoFit/>
          </a:bodyPr>
          <a:lstStyle/>
          <a:p>
            <a:r>
              <a:rPr lang="en-US" sz="2400" dirty="0"/>
              <a:t>Place each element into a “bucket” according to its 100’s place</a:t>
            </a:r>
          </a:p>
        </p:txBody>
      </p:sp>
      <p:sp>
        <p:nvSpPr>
          <p:cNvPr id="120" name="Arrow: Bent-Up 119">
            <a:extLst>
              <a:ext uri="{FF2B5EF4-FFF2-40B4-BE49-F238E27FC236}">
                <a16:creationId xmlns:a16="http://schemas.microsoft.com/office/drawing/2014/main" id="{F8C1EBBC-2D29-3947-2D55-152820918DA0}"/>
              </a:ext>
              <a:ext uri="{C183D7F6-B498-43B3-948B-1728B52AA6E4}">
                <adec:decorative xmlns:adec="http://schemas.microsoft.com/office/drawing/2017/decorative" val="1"/>
              </a:ext>
            </a:extLst>
          </p:cNvPr>
          <p:cNvSpPr/>
          <p:nvPr/>
        </p:nvSpPr>
        <p:spPr>
          <a:xfrm rot="5400000">
            <a:off x="4551618" y="5289479"/>
            <a:ext cx="1128451" cy="1325563"/>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9" name="Group 48" descr="All the values bucketed by the 10s place">
            <a:extLst>
              <a:ext uri="{FF2B5EF4-FFF2-40B4-BE49-F238E27FC236}">
                <a16:creationId xmlns:a16="http://schemas.microsoft.com/office/drawing/2014/main" id="{D03E7495-E90F-2D2E-2DC8-D7DB5BFCCBEB}"/>
              </a:ext>
            </a:extLst>
          </p:cNvPr>
          <p:cNvGrpSpPr/>
          <p:nvPr/>
        </p:nvGrpSpPr>
        <p:grpSpPr>
          <a:xfrm>
            <a:off x="184190" y="3418440"/>
            <a:ext cx="5334000" cy="1969595"/>
            <a:chOff x="4876800" y="4572000"/>
            <a:chExt cx="5334000" cy="1969595"/>
          </a:xfrm>
        </p:grpSpPr>
        <p:sp>
          <p:nvSpPr>
            <p:cNvPr id="10" name="Rectangle 9">
              <a:extLst>
                <a:ext uri="{FF2B5EF4-FFF2-40B4-BE49-F238E27FC236}">
                  <a16:creationId xmlns:a16="http://schemas.microsoft.com/office/drawing/2014/main" id="{A661D6AA-7881-F709-2A3E-E335A463EA74}"/>
                </a:ext>
              </a:extLst>
            </p:cNvPr>
            <p:cNvSpPr/>
            <p:nvPr/>
          </p:nvSpPr>
          <p:spPr>
            <a:xfrm>
              <a:off x="96774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999</a:t>
              </a:r>
            </a:p>
          </p:txBody>
        </p:sp>
        <p:sp>
          <p:nvSpPr>
            <p:cNvPr id="11" name="Rectangle 10">
              <a:extLst>
                <a:ext uri="{FF2B5EF4-FFF2-40B4-BE49-F238E27FC236}">
                  <a16:creationId xmlns:a16="http://schemas.microsoft.com/office/drawing/2014/main" id="{342CC28F-B99B-5CE7-2FB0-4AAFD47CDE15}"/>
                </a:ext>
              </a:extLst>
            </p:cNvPr>
            <p:cNvSpPr/>
            <p:nvPr/>
          </p:nvSpPr>
          <p:spPr>
            <a:xfrm>
              <a:off x="91440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B966A1E3-10C4-8F36-8163-DECE62BFF72C}"/>
                </a:ext>
              </a:extLst>
            </p:cNvPr>
            <p:cNvSpPr/>
            <p:nvPr/>
          </p:nvSpPr>
          <p:spPr>
            <a:xfrm>
              <a:off x="86106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Rectangle 12">
              <a:extLst>
                <a:ext uri="{FF2B5EF4-FFF2-40B4-BE49-F238E27FC236}">
                  <a16:creationId xmlns:a16="http://schemas.microsoft.com/office/drawing/2014/main" id="{44EFCA7D-7C8B-740A-99B9-440328E85B88}"/>
                </a:ext>
              </a:extLst>
            </p:cNvPr>
            <p:cNvSpPr/>
            <p:nvPr/>
          </p:nvSpPr>
          <p:spPr>
            <a:xfrm>
              <a:off x="80772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Rectangle 13">
              <a:extLst>
                <a:ext uri="{FF2B5EF4-FFF2-40B4-BE49-F238E27FC236}">
                  <a16:creationId xmlns:a16="http://schemas.microsoft.com/office/drawing/2014/main" id="{795C9FB0-7648-B3B8-1167-E8E5A5704B01}"/>
                </a:ext>
              </a:extLst>
            </p:cNvPr>
            <p:cNvSpPr/>
            <p:nvPr/>
          </p:nvSpPr>
          <p:spPr>
            <a:xfrm>
              <a:off x="75438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255</a:t>
              </a:r>
            </a:p>
            <a:p>
              <a:pPr algn="ctr"/>
              <a:r>
                <a:rPr lang="en-US" dirty="0">
                  <a:solidFill>
                    <a:schemeClr val="tx1"/>
                  </a:solidFill>
                </a:rPr>
                <a:t>555</a:t>
              </a:r>
            </a:p>
          </p:txBody>
        </p:sp>
        <p:sp>
          <p:nvSpPr>
            <p:cNvPr id="15" name="Rectangle 14">
              <a:extLst>
                <a:ext uri="{FF2B5EF4-FFF2-40B4-BE49-F238E27FC236}">
                  <a16:creationId xmlns:a16="http://schemas.microsoft.com/office/drawing/2014/main" id="{B88BC752-BDCA-AD13-4233-89889A8DAC63}"/>
                </a:ext>
              </a:extLst>
            </p:cNvPr>
            <p:cNvSpPr/>
            <p:nvPr/>
          </p:nvSpPr>
          <p:spPr>
            <a:xfrm>
              <a:off x="70104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245</a:t>
              </a:r>
            </a:p>
          </p:txBody>
        </p:sp>
        <p:sp>
          <p:nvSpPr>
            <p:cNvPr id="20" name="Rectangle 19">
              <a:extLst>
                <a:ext uri="{FF2B5EF4-FFF2-40B4-BE49-F238E27FC236}">
                  <a16:creationId xmlns:a16="http://schemas.microsoft.com/office/drawing/2014/main" id="{45678187-148C-0105-9D7E-192A22C6E036}"/>
                </a:ext>
              </a:extLst>
            </p:cNvPr>
            <p:cNvSpPr/>
            <p:nvPr/>
          </p:nvSpPr>
          <p:spPr>
            <a:xfrm>
              <a:off x="6477000" y="4572000"/>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Rectangle 20">
              <a:extLst>
                <a:ext uri="{FF2B5EF4-FFF2-40B4-BE49-F238E27FC236}">
                  <a16:creationId xmlns:a16="http://schemas.microsoft.com/office/drawing/2014/main" id="{FCEEE52B-4C01-5D72-A987-4A97F4C6D2D2}"/>
                </a:ext>
              </a:extLst>
            </p:cNvPr>
            <p:cNvSpPr/>
            <p:nvPr/>
          </p:nvSpPr>
          <p:spPr>
            <a:xfrm>
              <a:off x="59436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121</a:t>
              </a:r>
            </a:p>
            <a:p>
              <a:pPr algn="ctr"/>
              <a:r>
                <a:rPr lang="en-US" dirty="0">
                  <a:solidFill>
                    <a:schemeClr val="tx1"/>
                  </a:solidFill>
                </a:rPr>
                <a:t>323</a:t>
              </a:r>
            </a:p>
            <a:p>
              <a:pPr algn="ctr"/>
              <a:r>
                <a:rPr lang="en-US" dirty="0">
                  <a:solidFill>
                    <a:schemeClr val="tx1"/>
                  </a:solidFill>
                </a:rPr>
                <a:t>823</a:t>
              </a:r>
            </a:p>
          </p:txBody>
        </p:sp>
        <p:sp>
          <p:nvSpPr>
            <p:cNvPr id="24" name="TextBox 23">
              <a:extLst>
                <a:ext uri="{FF2B5EF4-FFF2-40B4-BE49-F238E27FC236}">
                  <a16:creationId xmlns:a16="http://schemas.microsoft.com/office/drawing/2014/main" id="{8779D00F-9272-7C1E-9D41-A93C338DF723}"/>
                </a:ext>
              </a:extLst>
            </p:cNvPr>
            <p:cNvSpPr txBox="1"/>
            <p:nvPr/>
          </p:nvSpPr>
          <p:spPr>
            <a:xfrm>
              <a:off x="4992657" y="6172263"/>
              <a:ext cx="301686" cy="369332"/>
            </a:xfrm>
            <a:prstGeom prst="rect">
              <a:avLst/>
            </a:prstGeom>
            <a:noFill/>
          </p:spPr>
          <p:txBody>
            <a:bodyPr wrap="none" rtlCol="0">
              <a:spAutoFit/>
            </a:bodyPr>
            <a:lstStyle/>
            <a:p>
              <a:r>
                <a:rPr lang="en-US" dirty="0">
                  <a:solidFill>
                    <a:srgbClr val="FF33CC"/>
                  </a:solidFill>
                </a:rPr>
                <a:t>0</a:t>
              </a:r>
            </a:p>
          </p:txBody>
        </p:sp>
        <p:sp>
          <p:nvSpPr>
            <p:cNvPr id="32" name="TextBox 31">
              <a:extLst>
                <a:ext uri="{FF2B5EF4-FFF2-40B4-BE49-F238E27FC236}">
                  <a16:creationId xmlns:a16="http://schemas.microsoft.com/office/drawing/2014/main" id="{47767DD9-39BB-8683-09BF-F85099F5390E}"/>
                </a:ext>
              </a:extLst>
            </p:cNvPr>
            <p:cNvSpPr txBox="1"/>
            <p:nvPr/>
          </p:nvSpPr>
          <p:spPr>
            <a:xfrm>
              <a:off x="5526057" y="6172263"/>
              <a:ext cx="301686" cy="369332"/>
            </a:xfrm>
            <a:prstGeom prst="rect">
              <a:avLst/>
            </a:prstGeom>
            <a:noFill/>
          </p:spPr>
          <p:txBody>
            <a:bodyPr wrap="none" rtlCol="0">
              <a:spAutoFit/>
            </a:bodyPr>
            <a:lstStyle/>
            <a:p>
              <a:r>
                <a:rPr lang="en-US" dirty="0">
                  <a:solidFill>
                    <a:srgbClr val="FF33CC"/>
                  </a:solidFill>
                </a:rPr>
                <a:t>1</a:t>
              </a:r>
            </a:p>
          </p:txBody>
        </p:sp>
        <p:sp>
          <p:nvSpPr>
            <p:cNvPr id="33" name="TextBox 32">
              <a:extLst>
                <a:ext uri="{FF2B5EF4-FFF2-40B4-BE49-F238E27FC236}">
                  <a16:creationId xmlns:a16="http://schemas.microsoft.com/office/drawing/2014/main" id="{4561B223-FD8D-5A03-DA6E-247DED224AB8}"/>
                </a:ext>
              </a:extLst>
            </p:cNvPr>
            <p:cNvSpPr txBox="1"/>
            <p:nvPr/>
          </p:nvSpPr>
          <p:spPr>
            <a:xfrm>
              <a:off x="6060026" y="6172263"/>
              <a:ext cx="301686" cy="369332"/>
            </a:xfrm>
            <a:prstGeom prst="rect">
              <a:avLst/>
            </a:prstGeom>
            <a:noFill/>
          </p:spPr>
          <p:txBody>
            <a:bodyPr wrap="none" rtlCol="0">
              <a:spAutoFit/>
            </a:bodyPr>
            <a:lstStyle/>
            <a:p>
              <a:r>
                <a:rPr lang="en-US" dirty="0">
                  <a:solidFill>
                    <a:srgbClr val="FF33CC"/>
                  </a:solidFill>
                </a:rPr>
                <a:t>2</a:t>
              </a:r>
            </a:p>
          </p:txBody>
        </p:sp>
        <p:sp>
          <p:nvSpPr>
            <p:cNvPr id="34" name="TextBox 33">
              <a:extLst>
                <a:ext uri="{FF2B5EF4-FFF2-40B4-BE49-F238E27FC236}">
                  <a16:creationId xmlns:a16="http://schemas.microsoft.com/office/drawing/2014/main" id="{D6FA6309-8B37-CE8D-E7E5-E5E79AF811D3}"/>
                </a:ext>
              </a:extLst>
            </p:cNvPr>
            <p:cNvSpPr txBox="1"/>
            <p:nvPr/>
          </p:nvSpPr>
          <p:spPr>
            <a:xfrm>
              <a:off x="6569800" y="6172263"/>
              <a:ext cx="301686" cy="369332"/>
            </a:xfrm>
            <a:prstGeom prst="rect">
              <a:avLst/>
            </a:prstGeom>
            <a:noFill/>
          </p:spPr>
          <p:txBody>
            <a:bodyPr wrap="none" rtlCol="0">
              <a:spAutoFit/>
            </a:bodyPr>
            <a:lstStyle/>
            <a:p>
              <a:r>
                <a:rPr lang="en-US" dirty="0">
                  <a:solidFill>
                    <a:srgbClr val="FF33CC"/>
                  </a:solidFill>
                </a:rPr>
                <a:t>3</a:t>
              </a:r>
            </a:p>
          </p:txBody>
        </p:sp>
        <p:sp>
          <p:nvSpPr>
            <p:cNvPr id="35" name="TextBox 34">
              <a:extLst>
                <a:ext uri="{FF2B5EF4-FFF2-40B4-BE49-F238E27FC236}">
                  <a16:creationId xmlns:a16="http://schemas.microsoft.com/office/drawing/2014/main" id="{D759F879-D7EC-6511-A722-BA8C1D510326}"/>
                </a:ext>
              </a:extLst>
            </p:cNvPr>
            <p:cNvSpPr txBox="1"/>
            <p:nvPr/>
          </p:nvSpPr>
          <p:spPr>
            <a:xfrm>
              <a:off x="7103200" y="6171685"/>
              <a:ext cx="301686" cy="369332"/>
            </a:xfrm>
            <a:prstGeom prst="rect">
              <a:avLst/>
            </a:prstGeom>
            <a:noFill/>
          </p:spPr>
          <p:txBody>
            <a:bodyPr wrap="none" rtlCol="0">
              <a:spAutoFit/>
            </a:bodyPr>
            <a:lstStyle/>
            <a:p>
              <a:r>
                <a:rPr lang="en-US" dirty="0">
                  <a:solidFill>
                    <a:srgbClr val="FF33CC"/>
                  </a:solidFill>
                </a:rPr>
                <a:t>4</a:t>
              </a:r>
            </a:p>
          </p:txBody>
        </p:sp>
        <p:sp>
          <p:nvSpPr>
            <p:cNvPr id="36" name="TextBox 35">
              <a:extLst>
                <a:ext uri="{FF2B5EF4-FFF2-40B4-BE49-F238E27FC236}">
                  <a16:creationId xmlns:a16="http://schemas.microsoft.com/office/drawing/2014/main" id="{B1D13815-BC06-EB0C-3AC3-4EEE8B2BE084}"/>
                </a:ext>
              </a:extLst>
            </p:cNvPr>
            <p:cNvSpPr txBox="1"/>
            <p:nvPr/>
          </p:nvSpPr>
          <p:spPr>
            <a:xfrm>
              <a:off x="7602444" y="6171685"/>
              <a:ext cx="301686" cy="369332"/>
            </a:xfrm>
            <a:prstGeom prst="rect">
              <a:avLst/>
            </a:prstGeom>
            <a:noFill/>
          </p:spPr>
          <p:txBody>
            <a:bodyPr wrap="none" rtlCol="0">
              <a:spAutoFit/>
            </a:bodyPr>
            <a:lstStyle/>
            <a:p>
              <a:r>
                <a:rPr lang="en-US" dirty="0">
                  <a:solidFill>
                    <a:srgbClr val="FF33CC"/>
                  </a:solidFill>
                </a:rPr>
                <a:t>5</a:t>
              </a:r>
            </a:p>
          </p:txBody>
        </p:sp>
        <p:sp>
          <p:nvSpPr>
            <p:cNvPr id="37" name="TextBox 36">
              <a:extLst>
                <a:ext uri="{FF2B5EF4-FFF2-40B4-BE49-F238E27FC236}">
                  <a16:creationId xmlns:a16="http://schemas.microsoft.com/office/drawing/2014/main" id="{D4813CA8-C813-EE49-18B2-760E4527EEAE}"/>
                </a:ext>
              </a:extLst>
            </p:cNvPr>
            <p:cNvSpPr txBox="1"/>
            <p:nvPr/>
          </p:nvSpPr>
          <p:spPr>
            <a:xfrm>
              <a:off x="8194195" y="6172263"/>
              <a:ext cx="301686" cy="369332"/>
            </a:xfrm>
            <a:prstGeom prst="rect">
              <a:avLst/>
            </a:prstGeom>
            <a:noFill/>
          </p:spPr>
          <p:txBody>
            <a:bodyPr wrap="none" rtlCol="0">
              <a:spAutoFit/>
            </a:bodyPr>
            <a:lstStyle/>
            <a:p>
              <a:r>
                <a:rPr lang="en-US" dirty="0">
                  <a:solidFill>
                    <a:srgbClr val="FF33CC"/>
                  </a:solidFill>
                </a:rPr>
                <a:t>6</a:t>
              </a:r>
            </a:p>
          </p:txBody>
        </p:sp>
        <p:sp>
          <p:nvSpPr>
            <p:cNvPr id="38" name="TextBox 37">
              <a:extLst>
                <a:ext uri="{FF2B5EF4-FFF2-40B4-BE49-F238E27FC236}">
                  <a16:creationId xmlns:a16="http://schemas.microsoft.com/office/drawing/2014/main" id="{4EFF9DF0-151C-22B5-5D2E-5DF190627837}"/>
                </a:ext>
              </a:extLst>
            </p:cNvPr>
            <p:cNvSpPr txBox="1"/>
            <p:nvPr/>
          </p:nvSpPr>
          <p:spPr>
            <a:xfrm>
              <a:off x="8727595" y="6171685"/>
              <a:ext cx="301686" cy="369332"/>
            </a:xfrm>
            <a:prstGeom prst="rect">
              <a:avLst/>
            </a:prstGeom>
            <a:noFill/>
          </p:spPr>
          <p:txBody>
            <a:bodyPr wrap="none" rtlCol="0">
              <a:spAutoFit/>
            </a:bodyPr>
            <a:lstStyle/>
            <a:p>
              <a:r>
                <a:rPr lang="en-US" dirty="0">
                  <a:solidFill>
                    <a:srgbClr val="FF33CC"/>
                  </a:solidFill>
                </a:rPr>
                <a:t>7</a:t>
              </a:r>
            </a:p>
          </p:txBody>
        </p:sp>
        <p:sp>
          <p:nvSpPr>
            <p:cNvPr id="39" name="Rectangle 38">
              <a:extLst>
                <a:ext uri="{FF2B5EF4-FFF2-40B4-BE49-F238E27FC236}">
                  <a16:creationId xmlns:a16="http://schemas.microsoft.com/office/drawing/2014/main" id="{745609D8-F348-FC00-0758-0607BF897D4D}"/>
                </a:ext>
              </a:extLst>
            </p:cNvPr>
            <p:cNvSpPr/>
            <p:nvPr/>
          </p:nvSpPr>
          <p:spPr>
            <a:xfrm>
              <a:off x="5410200" y="4573137"/>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a:p>
              <a:pPr algn="ctr"/>
              <a:r>
                <a:rPr lang="en-US" dirty="0">
                  <a:solidFill>
                    <a:schemeClr val="tx1"/>
                  </a:solidFill>
                </a:rPr>
                <a:t>113</a:t>
              </a:r>
            </a:p>
            <a:p>
              <a:pPr algn="ctr"/>
              <a:r>
                <a:rPr lang="en-US" dirty="0">
                  <a:solidFill>
                    <a:schemeClr val="tx1"/>
                  </a:solidFill>
                </a:rPr>
                <a:t>018</a:t>
              </a:r>
            </a:p>
          </p:txBody>
        </p:sp>
        <p:sp>
          <p:nvSpPr>
            <p:cNvPr id="46" name="Rectangle 45">
              <a:extLst>
                <a:ext uri="{FF2B5EF4-FFF2-40B4-BE49-F238E27FC236}">
                  <a16:creationId xmlns:a16="http://schemas.microsoft.com/office/drawing/2014/main" id="{38EA6627-C543-2DA1-2142-39B063E1F82B}"/>
                </a:ext>
              </a:extLst>
            </p:cNvPr>
            <p:cNvSpPr/>
            <p:nvPr/>
          </p:nvSpPr>
          <p:spPr>
            <a:xfrm>
              <a:off x="4876800" y="4574274"/>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a:p>
              <a:pPr algn="ctr"/>
              <a:r>
                <a:rPr lang="en-US" dirty="0">
                  <a:solidFill>
                    <a:schemeClr val="tx1"/>
                  </a:solidFill>
                </a:rPr>
                <a:t>801</a:t>
              </a:r>
            </a:p>
            <a:p>
              <a:pPr algn="ctr"/>
              <a:r>
                <a:rPr lang="en-US" dirty="0">
                  <a:solidFill>
                    <a:schemeClr val="tx1"/>
                  </a:solidFill>
                </a:rPr>
                <a:t>401</a:t>
              </a:r>
            </a:p>
            <a:p>
              <a:pPr algn="ctr"/>
              <a:r>
                <a:rPr lang="en-US" dirty="0">
                  <a:solidFill>
                    <a:schemeClr val="tx1"/>
                  </a:solidFill>
                </a:rPr>
                <a:t>101</a:t>
              </a:r>
            </a:p>
            <a:p>
              <a:pPr algn="ctr"/>
              <a:r>
                <a:rPr lang="en-US" dirty="0">
                  <a:solidFill>
                    <a:schemeClr val="tx1"/>
                  </a:solidFill>
                </a:rPr>
                <a:t>901</a:t>
              </a:r>
            </a:p>
            <a:p>
              <a:pPr algn="ctr"/>
              <a:r>
                <a:rPr lang="en-US" dirty="0">
                  <a:solidFill>
                    <a:schemeClr val="tx1"/>
                  </a:solidFill>
                </a:rPr>
                <a:t>103</a:t>
              </a:r>
            </a:p>
          </p:txBody>
        </p:sp>
        <p:sp>
          <p:nvSpPr>
            <p:cNvPr id="47" name="TextBox 46">
              <a:extLst>
                <a:ext uri="{FF2B5EF4-FFF2-40B4-BE49-F238E27FC236}">
                  <a16:creationId xmlns:a16="http://schemas.microsoft.com/office/drawing/2014/main" id="{D8ECA832-35E5-A9A8-F60B-961FEC7432B8}"/>
                </a:ext>
              </a:extLst>
            </p:cNvPr>
            <p:cNvSpPr txBox="1"/>
            <p:nvPr/>
          </p:nvSpPr>
          <p:spPr>
            <a:xfrm>
              <a:off x="9269625" y="6172263"/>
              <a:ext cx="301686" cy="369332"/>
            </a:xfrm>
            <a:prstGeom prst="rect">
              <a:avLst/>
            </a:prstGeom>
            <a:noFill/>
          </p:spPr>
          <p:txBody>
            <a:bodyPr wrap="none" rtlCol="0">
              <a:spAutoFit/>
            </a:bodyPr>
            <a:lstStyle/>
            <a:p>
              <a:r>
                <a:rPr lang="en-US" dirty="0">
                  <a:solidFill>
                    <a:srgbClr val="FF33CC"/>
                  </a:solidFill>
                </a:rPr>
                <a:t>8</a:t>
              </a:r>
            </a:p>
          </p:txBody>
        </p:sp>
        <p:sp>
          <p:nvSpPr>
            <p:cNvPr id="48" name="TextBox 47">
              <a:extLst>
                <a:ext uri="{FF2B5EF4-FFF2-40B4-BE49-F238E27FC236}">
                  <a16:creationId xmlns:a16="http://schemas.microsoft.com/office/drawing/2014/main" id="{9FB00CFA-F0FE-1E0A-4521-EB59CC8578C4}"/>
                </a:ext>
              </a:extLst>
            </p:cNvPr>
            <p:cNvSpPr txBox="1"/>
            <p:nvPr/>
          </p:nvSpPr>
          <p:spPr>
            <a:xfrm>
              <a:off x="9811805" y="6172263"/>
              <a:ext cx="301686" cy="369332"/>
            </a:xfrm>
            <a:prstGeom prst="rect">
              <a:avLst/>
            </a:prstGeom>
            <a:noFill/>
          </p:spPr>
          <p:txBody>
            <a:bodyPr wrap="none" rtlCol="0">
              <a:spAutoFit/>
            </a:bodyPr>
            <a:lstStyle/>
            <a:p>
              <a:r>
                <a:rPr lang="en-US" dirty="0">
                  <a:solidFill>
                    <a:srgbClr val="FF33CC"/>
                  </a:solidFill>
                </a:rPr>
                <a:t>9</a:t>
              </a:r>
            </a:p>
          </p:txBody>
        </p:sp>
      </p:grpSp>
      <p:grpSp>
        <p:nvGrpSpPr>
          <p:cNvPr id="42" name="Group 41" descr="Next we do a bucket sort using the next least significant digit of the numbers. Because our numbers are represented in base 10, we have buckets 0 through 9, filled in as follows:&#10;bucket 0: 018&#10;bucket 1: 101, 103, 113, 121&#10;bucket 2: 245, 255&#10;bucket 3: 323&#10;bucket 4: 401&#10;bucket 5: 512, 555&#10;bucket 6: empty&#10;bucket 7: empty&#10;bucket 8: 800, 801, 823&#10;bucket 9: 901, 999">
            <a:extLst>
              <a:ext uri="{FF2B5EF4-FFF2-40B4-BE49-F238E27FC236}">
                <a16:creationId xmlns:a16="http://schemas.microsoft.com/office/drawing/2014/main" id="{265A8A20-D2B5-DB28-F722-367EBB815E4D}"/>
              </a:ext>
            </a:extLst>
          </p:cNvPr>
          <p:cNvGrpSpPr/>
          <p:nvPr/>
        </p:nvGrpSpPr>
        <p:grpSpPr>
          <a:xfrm>
            <a:off x="6390963" y="4659805"/>
            <a:ext cx="5334000" cy="1969595"/>
            <a:chOff x="5181600" y="4659805"/>
            <a:chExt cx="5334000" cy="1969595"/>
          </a:xfrm>
        </p:grpSpPr>
        <p:sp>
          <p:nvSpPr>
            <p:cNvPr id="4" name="Rectangle 3">
              <a:extLst>
                <a:ext uri="{FF2B5EF4-FFF2-40B4-BE49-F238E27FC236}">
                  <a16:creationId xmlns:a16="http://schemas.microsoft.com/office/drawing/2014/main" id="{EF532373-E7B4-2EFC-071E-679598070FDA}"/>
                </a:ext>
              </a:extLst>
            </p:cNvPr>
            <p:cNvSpPr/>
            <p:nvPr/>
          </p:nvSpPr>
          <p:spPr>
            <a:xfrm>
              <a:off x="99822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901</a:t>
              </a:r>
            </a:p>
            <a:p>
              <a:pPr algn="ctr"/>
              <a:r>
                <a:rPr lang="en-US" dirty="0">
                  <a:solidFill>
                    <a:schemeClr val="tx1"/>
                  </a:solidFill>
                </a:rPr>
                <a:t>999</a:t>
              </a:r>
            </a:p>
          </p:txBody>
        </p:sp>
        <p:sp>
          <p:nvSpPr>
            <p:cNvPr id="5" name="Rectangle 4">
              <a:extLst>
                <a:ext uri="{FF2B5EF4-FFF2-40B4-BE49-F238E27FC236}">
                  <a16:creationId xmlns:a16="http://schemas.microsoft.com/office/drawing/2014/main" id="{59409103-ADAF-06A2-3DA9-520F41B67426}"/>
                </a:ext>
              </a:extLst>
            </p:cNvPr>
            <p:cNvSpPr/>
            <p:nvPr/>
          </p:nvSpPr>
          <p:spPr>
            <a:xfrm>
              <a:off x="94488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a:p>
              <a:pPr algn="ctr"/>
              <a:r>
                <a:rPr lang="en-US" dirty="0">
                  <a:solidFill>
                    <a:schemeClr val="tx1"/>
                  </a:solidFill>
                </a:rPr>
                <a:t>801</a:t>
              </a:r>
            </a:p>
            <a:p>
              <a:pPr algn="ctr"/>
              <a:r>
                <a:rPr lang="en-US" dirty="0">
                  <a:solidFill>
                    <a:schemeClr val="tx1"/>
                  </a:solidFill>
                </a:rPr>
                <a:t>823</a:t>
              </a:r>
            </a:p>
          </p:txBody>
        </p:sp>
        <p:sp>
          <p:nvSpPr>
            <p:cNvPr id="6" name="Rectangle 5">
              <a:extLst>
                <a:ext uri="{FF2B5EF4-FFF2-40B4-BE49-F238E27FC236}">
                  <a16:creationId xmlns:a16="http://schemas.microsoft.com/office/drawing/2014/main" id="{288D6195-37CE-2DE2-F382-E40AC4FBDE19}"/>
                </a:ext>
              </a:extLst>
            </p:cNvPr>
            <p:cNvSpPr/>
            <p:nvPr/>
          </p:nvSpPr>
          <p:spPr>
            <a:xfrm>
              <a:off x="89154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Rectangle 6">
              <a:extLst>
                <a:ext uri="{FF2B5EF4-FFF2-40B4-BE49-F238E27FC236}">
                  <a16:creationId xmlns:a16="http://schemas.microsoft.com/office/drawing/2014/main" id="{E9B8B052-6C9D-2F21-F4AF-137DC87A16BA}"/>
                </a:ext>
              </a:extLst>
            </p:cNvPr>
            <p:cNvSpPr/>
            <p:nvPr/>
          </p:nvSpPr>
          <p:spPr>
            <a:xfrm>
              <a:off x="83820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0F543091-F86D-2A7A-62E0-72FB4EED00AE}"/>
                </a:ext>
              </a:extLst>
            </p:cNvPr>
            <p:cNvSpPr/>
            <p:nvPr/>
          </p:nvSpPr>
          <p:spPr>
            <a:xfrm>
              <a:off x="78486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a:p>
              <a:pPr algn="ctr"/>
              <a:r>
                <a:rPr lang="en-US" dirty="0">
                  <a:solidFill>
                    <a:schemeClr val="tx1"/>
                  </a:solidFill>
                </a:rPr>
                <a:t>555</a:t>
              </a:r>
            </a:p>
          </p:txBody>
        </p:sp>
        <p:sp>
          <p:nvSpPr>
            <p:cNvPr id="9" name="Rectangle 8">
              <a:extLst>
                <a:ext uri="{FF2B5EF4-FFF2-40B4-BE49-F238E27FC236}">
                  <a16:creationId xmlns:a16="http://schemas.microsoft.com/office/drawing/2014/main" id="{DEC54B84-6150-A55B-306C-B25020DE0933}"/>
                </a:ext>
              </a:extLst>
            </p:cNvPr>
            <p:cNvSpPr/>
            <p:nvPr/>
          </p:nvSpPr>
          <p:spPr>
            <a:xfrm>
              <a:off x="73152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401</a:t>
              </a:r>
            </a:p>
          </p:txBody>
        </p:sp>
        <p:sp>
          <p:nvSpPr>
            <p:cNvPr id="16" name="Rectangle 15">
              <a:extLst>
                <a:ext uri="{FF2B5EF4-FFF2-40B4-BE49-F238E27FC236}">
                  <a16:creationId xmlns:a16="http://schemas.microsoft.com/office/drawing/2014/main" id="{1A7E5AF8-DF4B-8B5D-AB02-D32DC607F5ED}"/>
                </a:ext>
              </a:extLst>
            </p:cNvPr>
            <p:cNvSpPr/>
            <p:nvPr/>
          </p:nvSpPr>
          <p:spPr>
            <a:xfrm>
              <a:off x="67818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323</a:t>
              </a:r>
            </a:p>
          </p:txBody>
        </p:sp>
        <p:sp>
          <p:nvSpPr>
            <p:cNvPr id="17" name="Rectangle 16">
              <a:extLst>
                <a:ext uri="{FF2B5EF4-FFF2-40B4-BE49-F238E27FC236}">
                  <a16:creationId xmlns:a16="http://schemas.microsoft.com/office/drawing/2014/main" id="{69CA04DA-BEA9-9BAE-DFD0-5184E85AC645}"/>
                </a:ext>
              </a:extLst>
            </p:cNvPr>
            <p:cNvSpPr/>
            <p:nvPr/>
          </p:nvSpPr>
          <p:spPr>
            <a:xfrm>
              <a:off x="62484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245</a:t>
              </a:r>
            </a:p>
            <a:p>
              <a:pPr algn="ctr"/>
              <a:r>
                <a:rPr lang="en-US" dirty="0">
                  <a:solidFill>
                    <a:schemeClr val="tx1"/>
                  </a:solidFill>
                </a:rPr>
                <a:t>255</a:t>
              </a:r>
            </a:p>
          </p:txBody>
        </p:sp>
        <p:sp>
          <p:nvSpPr>
            <p:cNvPr id="18" name="TextBox 17">
              <a:extLst>
                <a:ext uri="{FF2B5EF4-FFF2-40B4-BE49-F238E27FC236}">
                  <a16:creationId xmlns:a16="http://schemas.microsoft.com/office/drawing/2014/main" id="{9F1202EA-0602-9D72-2829-CA336835836D}"/>
                </a:ext>
              </a:extLst>
            </p:cNvPr>
            <p:cNvSpPr txBox="1"/>
            <p:nvPr/>
          </p:nvSpPr>
          <p:spPr>
            <a:xfrm>
              <a:off x="5297457" y="6260068"/>
              <a:ext cx="301686" cy="369332"/>
            </a:xfrm>
            <a:prstGeom prst="rect">
              <a:avLst/>
            </a:prstGeom>
            <a:noFill/>
          </p:spPr>
          <p:txBody>
            <a:bodyPr wrap="none" rtlCol="0">
              <a:spAutoFit/>
            </a:bodyPr>
            <a:lstStyle/>
            <a:p>
              <a:r>
                <a:rPr lang="en-US" dirty="0">
                  <a:solidFill>
                    <a:srgbClr val="FF33CC"/>
                  </a:solidFill>
                </a:rPr>
                <a:t>0</a:t>
              </a:r>
            </a:p>
          </p:txBody>
        </p:sp>
        <p:sp>
          <p:nvSpPr>
            <p:cNvPr id="19" name="TextBox 18">
              <a:extLst>
                <a:ext uri="{FF2B5EF4-FFF2-40B4-BE49-F238E27FC236}">
                  <a16:creationId xmlns:a16="http://schemas.microsoft.com/office/drawing/2014/main" id="{E14CB3AD-2265-62FA-CBAC-A400A269E0EC}"/>
                </a:ext>
              </a:extLst>
            </p:cNvPr>
            <p:cNvSpPr txBox="1"/>
            <p:nvPr/>
          </p:nvSpPr>
          <p:spPr>
            <a:xfrm>
              <a:off x="5830857" y="6260068"/>
              <a:ext cx="301686" cy="369332"/>
            </a:xfrm>
            <a:prstGeom prst="rect">
              <a:avLst/>
            </a:prstGeom>
            <a:noFill/>
          </p:spPr>
          <p:txBody>
            <a:bodyPr wrap="none" rtlCol="0">
              <a:spAutoFit/>
            </a:bodyPr>
            <a:lstStyle/>
            <a:p>
              <a:r>
                <a:rPr lang="en-US" dirty="0">
                  <a:solidFill>
                    <a:srgbClr val="FF33CC"/>
                  </a:solidFill>
                </a:rPr>
                <a:t>1</a:t>
              </a:r>
            </a:p>
          </p:txBody>
        </p:sp>
        <p:sp>
          <p:nvSpPr>
            <p:cNvPr id="22" name="TextBox 21">
              <a:extLst>
                <a:ext uri="{FF2B5EF4-FFF2-40B4-BE49-F238E27FC236}">
                  <a16:creationId xmlns:a16="http://schemas.microsoft.com/office/drawing/2014/main" id="{FA289862-1676-90BB-B64A-F5E3668714B1}"/>
                </a:ext>
              </a:extLst>
            </p:cNvPr>
            <p:cNvSpPr txBox="1"/>
            <p:nvPr/>
          </p:nvSpPr>
          <p:spPr>
            <a:xfrm>
              <a:off x="6364826" y="6260068"/>
              <a:ext cx="301686" cy="369332"/>
            </a:xfrm>
            <a:prstGeom prst="rect">
              <a:avLst/>
            </a:prstGeom>
            <a:noFill/>
          </p:spPr>
          <p:txBody>
            <a:bodyPr wrap="none" rtlCol="0">
              <a:spAutoFit/>
            </a:bodyPr>
            <a:lstStyle/>
            <a:p>
              <a:r>
                <a:rPr lang="en-US" dirty="0">
                  <a:solidFill>
                    <a:srgbClr val="FF33CC"/>
                  </a:solidFill>
                </a:rPr>
                <a:t>2</a:t>
              </a:r>
            </a:p>
          </p:txBody>
        </p:sp>
        <p:sp>
          <p:nvSpPr>
            <p:cNvPr id="23" name="TextBox 22">
              <a:extLst>
                <a:ext uri="{FF2B5EF4-FFF2-40B4-BE49-F238E27FC236}">
                  <a16:creationId xmlns:a16="http://schemas.microsoft.com/office/drawing/2014/main" id="{ECD5DA25-C681-B9C5-0B11-EE530F27373E}"/>
                </a:ext>
              </a:extLst>
            </p:cNvPr>
            <p:cNvSpPr txBox="1"/>
            <p:nvPr/>
          </p:nvSpPr>
          <p:spPr>
            <a:xfrm>
              <a:off x="6874600" y="6260068"/>
              <a:ext cx="301686" cy="369332"/>
            </a:xfrm>
            <a:prstGeom prst="rect">
              <a:avLst/>
            </a:prstGeom>
            <a:noFill/>
          </p:spPr>
          <p:txBody>
            <a:bodyPr wrap="none" rtlCol="0">
              <a:spAutoFit/>
            </a:bodyPr>
            <a:lstStyle/>
            <a:p>
              <a:r>
                <a:rPr lang="en-US" dirty="0">
                  <a:solidFill>
                    <a:srgbClr val="FF33CC"/>
                  </a:solidFill>
                </a:rPr>
                <a:t>3</a:t>
              </a:r>
            </a:p>
          </p:txBody>
        </p:sp>
        <p:sp>
          <p:nvSpPr>
            <p:cNvPr id="25" name="TextBox 24">
              <a:extLst>
                <a:ext uri="{FF2B5EF4-FFF2-40B4-BE49-F238E27FC236}">
                  <a16:creationId xmlns:a16="http://schemas.microsoft.com/office/drawing/2014/main" id="{134D126E-A428-30BC-F5BE-FDB235FDBB28}"/>
                </a:ext>
              </a:extLst>
            </p:cNvPr>
            <p:cNvSpPr txBox="1"/>
            <p:nvPr/>
          </p:nvSpPr>
          <p:spPr>
            <a:xfrm>
              <a:off x="7408000" y="6259490"/>
              <a:ext cx="301686" cy="369332"/>
            </a:xfrm>
            <a:prstGeom prst="rect">
              <a:avLst/>
            </a:prstGeom>
            <a:noFill/>
          </p:spPr>
          <p:txBody>
            <a:bodyPr wrap="none" rtlCol="0">
              <a:spAutoFit/>
            </a:bodyPr>
            <a:lstStyle/>
            <a:p>
              <a:r>
                <a:rPr lang="en-US" dirty="0">
                  <a:solidFill>
                    <a:srgbClr val="FF33CC"/>
                  </a:solidFill>
                </a:rPr>
                <a:t>4</a:t>
              </a:r>
            </a:p>
          </p:txBody>
        </p:sp>
        <p:sp>
          <p:nvSpPr>
            <p:cNvPr id="26" name="TextBox 25">
              <a:extLst>
                <a:ext uri="{FF2B5EF4-FFF2-40B4-BE49-F238E27FC236}">
                  <a16:creationId xmlns:a16="http://schemas.microsoft.com/office/drawing/2014/main" id="{D60968AA-7F88-E791-E5F7-88DF4401112E}"/>
                </a:ext>
              </a:extLst>
            </p:cNvPr>
            <p:cNvSpPr txBox="1"/>
            <p:nvPr/>
          </p:nvSpPr>
          <p:spPr>
            <a:xfrm>
              <a:off x="7907244" y="6259490"/>
              <a:ext cx="301686" cy="369332"/>
            </a:xfrm>
            <a:prstGeom prst="rect">
              <a:avLst/>
            </a:prstGeom>
            <a:noFill/>
          </p:spPr>
          <p:txBody>
            <a:bodyPr wrap="none" rtlCol="0">
              <a:spAutoFit/>
            </a:bodyPr>
            <a:lstStyle/>
            <a:p>
              <a:r>
                <a:rPr lang="en-US" dirty="0">
                  <a:solidFill>
                    <a:srgbClr val="FF33CC"/>
                  </a:solidFill>
                </a:rPr>
                <a:t>5</a:t>
              </a:r>
            </a:p>
          </p:txBody>
        </p:sp>
        <p:sp>
          <p:nvSpPr>
            <p:cNvPr id="27" name="TextBox 26">
              <a:extLst>
                <a:ext uri="{FF2B5EF4-FFF2-40B4-BE49-F238E27FC236}">
                  <a16:creationId xmlns:a16="http://schemas.microsoft.com/office/drawing/2014/main" id="{B5929E61-DF41-C186-5CC6-BCCC84AE1B02}"/>
                </a:ext>
              </a:extLst>
            </p:cNvPr>
            <p:cNvSpPr txBox="1"/>
            <p:nvPr/>
          </p:nvSpPr>
          <p:spPr>
            <a:xfrm>
              <a:off x="8498995" y="6260068"/>
              <a:ext cx="301686" cy="369332"/>
            </a:xfrm>
            <a:prstGeom prst="rect">
              <a:avLst/>
            </a:prstGeom>
            <a:noFill/>
          </p:spPr>
          <p:txBody>
            <a:bodyPr wrap="none" rtlCol="0">
              <a:spAutoFit/>
            </a:bodyPr>
            <a:lstStyle/>
            <a:p>
              <a:r>
                <a:rPr lang="en-US" dirty="0">
                  <a:solidFill>
                    <a:srgbClr val="FF33CC"/>
                  </a:solidFill>
                </a:rPr>
                <a:t>6</a:t>
              </a:r>
            </a:p>
          </p:txBody>
        </p:sp>
        <p:sp>
          <p:nvSpPr>
            <p:cNvPr id="28" name="TextBox 27">
              <a:extLst>
                <a:ext uri="{FF2B5EF4-FFF2-40B4-BE49-F238E27FC236}">
                  <a16:creationId xmlns:a16="http://schemas.microsoft.com/office/drawing/2014/main" id="{56E14B2A-1E62-4CA1-FAB8-3A2E770A1080}"/>
                </a:ext>
              </a:extLst>
            </p:cNvPr>
            <p:cNvSpPr txBox="1"/>
            <p:nvPr/>
          </p:nvSpPr>
          <p:spPr>
            <a:xfrm>
              <a:off x="9032395" y="6259490"/>
              <a:ext cx="301686" cy="369332"/>
            </a:xfrm>
            <a:prstGeom prst="rect">
              <a:avLst/>
            </a:prstGeom>
            <a:noFill/>
          </p:spPr>
          <p:txBody>
            <a:bodyPr wrap="none" rtlCol="0">
              <a:spAutoFit/>
            </a:bodyPr>
            <a:lstStyle/>
            <a:p>
              <a:r>
                <a:rPr lang="en-US" dirty="0">
                  <a:solidFill>
                    <a:srgbClr val="FF33CC"/>
                  </a:solidFill>
                </a:rPr>
                <a:t>7</a:t>
              </a:r>
            </a:p>
          </p:txBody>
        </p:sp>
        <p:sp>
          <p:nvSpPr>
            <p:cNvPr id="29" name="Rectangle 28">
              <a:extLst>
                <a:ext uri="{FF2B5EF4-FFF2-40B4-BE49-F238E27FC236}">
                  <a16:creationId xmlns:a16="http://schemas.microsoft.com/office/drawing/2014/main" id="{57F70415-63E3-60D2-602A-0723249F2C7A}"/>
                </a:ext>
              </a:extLst>
            </p:cNvPr>
            <p:cNvSpPr/>
            <p:nvPr/>
          </p:nvSpPr>
          <p:spPr>
            <a:xfrm>
              <a:off x="57150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101</a:t>
              </a:r>
            </a:p>
            <a:p>
              <a:pPr algn="ctr"/>
              <a:r>
                <a:rPr lang="en-US" dirty="0">
                  <a:solidFill>
                    <a:schemeClr val="tx1"/>
                  </a:solidFill>
                </a:rPr>
                <a:t>103</a:t>
              </a:r>
            </a:p>
            <a:p>
              <a:pPr algn="ctr"/>
              <a:r>
                <a:rPr lang="en-US" dirty="0">
                  <a:solidFill>
                    <a:schemeClr val="tx1"/>
                  </a:solidFill>
                </a:rPr>
                <a:t>113</a:t>
              </a:r>
            </a:p>
            <a:p>
              <a:pPr algn="ctr"/>
              <a:r>
                <a:rPr lang="en-US" dirty="0">
                  <a:solidFill>
                    <a:schemeClr val="tx1"/>
                  </a:solidFill>
                </a:rPr>
                <a:t>121</a:t>
              </a:r>
            </a:p>
          </p:txBody>
        </p:sp>
        <p:sp>
          <p:nvSpPr>
            <p:cNvPr id="30" name="Rectangle 29">
              <a:extLst>
                <a:ext uri="{FF2B5EF4-FFF2-40B4-BE49-F238E27FC236}">
                  <a16:creationId xmlns:a16="http://schemas.microsoft.com/office/drawing/2014/main" id="{DD808591-0946-6151-BEE9-DCB1F69336F4}"/>
                </a:ext>
              </a:extLst>
            </p:cNvPr>
            <p:cNvSpPr/>
            <p:nvPr/>
          </p:nvSpPr>
          <p:spPr>
            <a:xfrm>
              <a:off x="5181600" y="4662079"/>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018</a:t>
              </a:r>
            </a:p>
          </p:txBody>
        </p:sp>
        <p:sp>
          <p:nvSpPr>
            <p:cNvPr id="40" name="TextBox 39">
              <a:extLst>
                <a:ext uri="{FF2B5EF4-FFF2-40B4-BE49-F238E27FC236}">
                  <a16:creationId xmlns:a16="http://schemas.microsoft.com/office/drawing/2014/main" id="{A55CB3EC-A71F-D8CE-A8B0-81A8F228A734}"/>
                </a:ext>
              </a:extLst>
            </p:cNvPr>
            <p:cNvSpPr txBox="1"/>
            <p:nvPr/>
          </p:nvSpPr>
          <p:spPr>
            <a:xfrm>
              <a:off x="9574425" y="6260068"/>
              <a:ext cx="301686" cy="369332"/>
            </a:xfrm>
            <a:prstGeom prst="rect">
              <a:avLst/>
            </a:prstGeom>
            <a:noFill/>
          </p:spPr>
          <p:txBody>
            <a:bodyPr wrap="none" rtlCol="0">
              <a:spAutoFit/>
            </a:bodyPr>
            <a:lstStyle/>
            <a:p>
              <a:r>
                <a:rPr lang="en-US" dirty="0">
                  <a:solidFill>
                    <a:srgbClr val="FF33CC"/>
                  </a:solidFill>
                </a:rPr>
                <a:t>8</a:t>
              </a:r>
            </a:p>
          </p:txBody>
        </p:sp>
        <p:sp>
          <p:nvSpPr>
            <p:cNvPr id="41" name="TextBox 40">
              <a:extLst>
                <a:ext uri="{FF2B5EF4-FFF2-40B4-BE49-F238E27FC236}">
                  <a16:creationId xmlns:a16="http://schemas.microsoft.com/office/drawing/2014/main" id="{D480DEBB-C234-71D7-F3E1-DA086A8B5893}"/>
                </a:ext>
              </a:extLst>
            </p:cNvPr>
            <p:cNvSpPr txBox="1"/>
            <p:nvPr/>
          </p:nvSpPr>
          <p:spPr>
            <a:xfrm>
              <a:off x="10116605" y="6260068"/>
              <a:ext cx="301686" cy="369332"/>
            </a:xfrm>
            <a:prstGeom prst="rect">
              <a:avLst/>
            </a:prstGeom>
            <a:noFill/>
          </p:spPr>
          <p:txBody>
            <a:bodyPr wrap="none" rtlCol="0">
              <a:spAutoFit/>
            </a:bodyPr>
            <a:lstStyle/>
            <a:p>
              <a:r>
                <a:rPr lang="en-US" dirty="0">
                  <a:solidFill>
                    <a:srgbClr val="FF33CC"/>
                  </a:solidFill>
                </a:rPr>
                <a:t>9</a:t>
              </a:r>
            </a:p>
          </p:txBody>
        </p:sp>
      </p:grpSp>
    </p:spTree>
    <p:extLst>
      <p:ext uri="{BB962C8B-B14F-4D97-AF65-F5344CB8AC3E}">
        <p14:creationId xmlns:p14="http://schemas.microsoft.com/office/powerpoint/2010/main" val="682324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4D522-A643-E0F7-0203-D79E5BF422B6}"/>
              </a:ext>
            </a:extLst>
          </p:cNvPr>
          <p:cNvSpPr>
            <a:spLocks noGrp="1"/>
          </p:cNvSpPr>
          <p:nvPr>
            <p:ph type="title"/>
          </p:nvPr>
        </p:nvSpPr>
        <p:spPr/>
        <p:txBody>
          <a:bodyPr/>
          <a:lstStyle/>
          <a:p>
            <a:r>
              <a:rPr lang="en-US" dirty="0" err="1"/>
              <a:t>RadixSort</a:t>
            </a:r>
            <a:r>
              <a:rPr lang="en-US" dirty="0"/>
              <a:t> – Empty Buckets into Output Array</a:t>
            </a:r>
          </a:p>
        </p:txBody>
      </p:sp>
      <p:sp>
        <p:nvSpPr>
          <p:cNvPr id="3" name="Content Placeholder 2">
            <a:extLst>
              <a:ext uri="{FF2B5EF4-FFF2-40B4-BE49-F238E27FC236}">
                <a16:creationId xmlns:a16="http://schemas.microsoft.com/office/drawing/2014/main" id="{13E04AAD-4854-7E00-900E-93F7F0ADE080}"/>
              </a:ext>
            </a:extLst>
          </p:cNvPr>
          <p:cNvSpPr>
            <a:spLocks noGrp="1"/>
          </p:cNvSpPr>
          <p:nvPr>
            <p:ph idx="1"/>
          </p:nvPr>
        </p:nvSpPr>
        <p:spPr>
          <a:xfrm>
            <a:off x="503842" y="1517901"/>
            <a:ext cx="11668760" cy="4351338"/>
          </a:xfrm>
        </p:spPr>
        <p:txBody>
          <a:bodyPr/>
          <a:lstStyle/>
          <a:p>
            <a:r>
              <a:rPr lang="en-US" dirty="0"/>
              <a:t>Radix: The base of a number system</a:t>
            </a:r>
          </a:p>
          <a:p>
            <a:pPr lvl="1"/>
            <a:r>
              <a:rPr lang="en-US" dirty="0"/>
              <a:t>We’ll use base 10, most implementations will use larger bases</a:t>
            </a:r>
          </a:p>
          <a:p>
            <a:r>
              <a:rPr lang="en-US" dirty="0"/>
              <a:t>Idea: </a:t>
            </a:r>
          </a:p>
          <a:p>
            <a:pPr lvl="1"/>
            <a:r>
              <a:rPr lang="en-US" dirty="0" err="1"/>
              <a:t>BucketSort</a:t>
            </a:r>
            <a:r>
              <a:rPr lang="en-US" dirty="0"/>
              <a:t> by each digit, one at a time, from least significant to most significant</a:t>
            </a:r>
          </a:p>
        </p:txBody>
      </p:sp>
      <p:sp>
        <p:nvSpPr>
          <p:cNvPr id="31" name="TextBox 30">
            <a:extLst>
              <a:ext uri="{FF2B5EF4-FFF2-40B4-BE49-F238E27FC236}">
                <a16:creationId xmlns:a16="http://schemas.microsoft.com/office/drawing/2014/main" id="{9F143260-887A-82E5-E7F0-D8C587242AE1}"/>
              </a:ext>
            </a:extLst>
          </p:cNvPr>
          <p:cNvSpPr txBox="1"/>
          <p:nvPr/>
        </p:nvSpPr>
        <p:spPr>
          <a:xfrm>
            <a:off x="7438723" y="4078344"/>
            <a:ext cx="3507868" cy="461665"/>
          </a:xfrm>
          <a:prstGeom prst="rect">
            <a:avLst/>
          </a:prstGeom>
          <a:noFill/>
        </p:spPr>
        <p:txBody>
          <a:bodyPr wrap="square" rtlCol="0">
            <a:spAutoFit/>
          </a:bodyPr>
          <a:lstStyle/>
          <a:p>
            <a:r>
              <a:rPr lang="en-US" sz="2400" dirty="0"/>
              <a:t>Convert back into an array</a:t>
            </a:r>
          </a:p>
        </p:txBody>
      </p:sp>
      <p:sp>
        <p:nvSpPr>
          <p:cNvPr id="120" name="Arrow: Bent-Up 119">
            <a:extLst>
              <a:ext uri="{FF2B5EF4-FFF2-40B4-BE49-F238E27FC236}">
                <a16:creationId xmlns:a16="http://schemas.microsoft.com/office/drawing/2014/main" id="{F8C1EBBC-2D29-3947-2D55-152820918DA0}"/>
              </a:ext>
              <a:ext uri="{C183D7F6-B498-43B3-948B-1728B52AA6E4}">
                <adec:decorative xmlns:adec="http://schemas.microsoft.com/office/drawing/2017/decorative" val="1"/>
              </a:ext>
            </a:extLst>
          </p:cNvPr>
          <p:cNvSpPr/>
          <p:nvPr/>
        </p:nvSpPr>
        <p:spPr>
          <a:xfrm flipV="1">
            <a:off x="6027125" y="3877228"/>
            <a:ext cx="1128451" cy="1325563"/>
          </a:xfrm>
          <a:prstGeom prst="ben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2" name="Group 41" descr="All the values bucketed by the 10s place">
            <a:extLst>
              <a:ext uri="{FF2B5EF4-FFF2-40B4-BE49-F238E27FC236}">
                <a16:creationId xmlns:a16="http://schemas.microsoft.com/office/drawing/2014/main" id="{265A8A20-D2B5-DB28-F722-367EBB815E4D}"/>
              </a:ext>
            </a:extLst>
          </p:cNvPr>
          <p:cNvGrpSpPr/>
          <p:nvPr/>
        </p:nvGrpSpPr>
        <p:grpSpPr>
          <a:xfrm>
            <a:off x="34961" y="3418440"/>
            <a:ext cx="5334000" cy="1969595"/>
            <a:chOff x="5181600" y="4659805"/>
            <a:chExt cx="5334000" cy="1969595"/>
          </a:xfrm>
        </p:grpSpPr>
        <p:sp>
          <p:nvSpPr>
            <p:cNvPr id="4" name="Rectangle 3">
              <a:extLst>
                <a:ext uri="{FF2B5EF4-FFF2-40B4-BE49-F238E27FC236}">
                  <a16:creationId xmlns:a16="http://schemas.microsoft.com/office/drawing/2014/main" id="{EF532373-E7B4-2EFC-071E-679598070FDA}"/>
                </a:ext>
              </a:extLst>
            </p:cNvPr>
            <p:cNvSpPr/>
            <p:nvPr/>
          </p:nvSpPr>
          <p:spPr>
            <a:xfrm>
              <a:off x="99822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901</a:t>
              </a:r>
            </a:p>
            <a:p>
              <a:pPr algn="ctr"/>
              <a:r>
                <a:rPr lang="en-US" dirty="0">
                  <a:solidFill>
                    <a:schemeClr val="tx1"/>
                  </a:solidFill>
                </a:rPr>
                <a:t>999</a:t>
              </a:r>
            </a:p>
          </p:txBody>
        </p:sp>
        <p:sp>
          <p:nvSpPr>
            <p:cNvPr id="5" name="Rectangle 4">
              <a:extLst>
                <a:ext uri="{FF2B5EF4-FFF2-40B4-BE49-F238E27FC236}">
                  <a16:creationId xmlns:a16="http://schemas.microsoft.com/office/drawing/2014/main" id="{59409103-ADAF-06A2-3DA9-520F41B67426}"/>
                </a:ext>
              </a:extLst>
            </p:cNvPr>
            <p:cNvSpPr/>
            <p:nvPr/>
          </p:nvSpPr>
          <p:spPr>
            <a:xfrm>
              <a:off x="94488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a:p>
              <a:pPr algn="ctr"/>
              <a:r>
                <a:rPr lang="en-US" dirty="0">
                  <a:solidFill>
                    <a:schemeClr val="tx1"/>
                  </a:solidFill>
                </a:rPr>
                <a:t>801</a:t>
              </a:r>
            </a:p>
            <a:p>
              <a:pPr algn="ctr"/>
              <a:r>
                <a:rPr lang="en-US" dirty="0">
                  <a:solidFill>
                    <a:schemeClr val="tx1"/>
                  </a:solidFill>
                </a:rPr>
                <a:t>823</a:t>
              </a:r>
            </a:p>
          </p:txBody>
        </p:sp>
        <p:sp>
          <p:nvSpPr>
            <p:cNvPr id="6" name="Rectangle 5">
              <a:extLst>
                <a:ext uri="{FF2B5EF4-FFF2-40B4-BE49-F238E27FC236}">
                  <a16:creationId xmlns:a16="http://schemas.microsoft.com/office/drawing/2014/main" id="{288D6195-37CE-2DE2-F382-E40AC4FBDE19}"/>
                </a:ext>
              </a:extLst>
            </p:cNvPr>
            <p:cNvSpPr/>
            <p:nvPr/>
          </p:nvSpPr>
          <p:spPr>
            <a:xfrm>
              <a:off x="89154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Rectangle 6">
              <a:extLst>
                <a:ext uri="{FF2B5EF4-FFF2-40B4-BE49-F238E27FC236}">
                  <a16:creationId xmlns:a16="http://schemas.microsoft.com/office/drawing/2014/main" id="{E9B8B052-6C9D-2F21-F4AF-137DC87A16BA}"/>
                </a:ext>
              </a:extLst>
            </p:cNvPr>
            <p:cNvSpPr/>
            <p:nvPr/>
          </p:nvSpPr>
          <p:spPr>
            <a:xfrm>
              <a:off x="83820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0F543091-F86D-2A7A-62E0-72FB4EED00AE}"/>
                </a:ext>
              </a:extLst>
            </p:cNvPr>
            <p:cNvSpPr/>
            <p:nvPr/>
          </p:nvSpPr>
          <p:spPr>
            <a:xfrm>
              <a:off x="78486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a:p>
              <a:pPr algn="ctr"/>
              <a:r>
                <a:rPr lang="en-US" dirty="0">
                  <a:solidFill>
                    <a:schemeClr val="tx1"/>
                  </a:solidFill>
                </a:rPr>
                <a:t>555</a:t>
              </a:r>
            </a:p>
          </p:txBody>
        </p:sp>
        <p:sp>
          <p:nvSpPr>
            <p:cNvPr id="9" name="Rectangle 8">
              <a:extLst>
                <a:ext uri="{FF2B5EF4-FFF2-40B4-BE49-F238E27FC236}">
                  <a16:creationId xmlns:a16="http://schemas.microsoft.com/office/drawing/2014/main" id="{DEC54B84-6150-A55B-306C-B25020DE0933}"/>
                </a:ext>
              </a:extLst>
            </p:cNvPr>
            <p:cNvSpPr/>
            <p:nvPr/>
          </p:nvSpPr>
          <p:spPr>
            <a:xfrm>
              <a:off x="73152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401</a:t>
              </a:r>
            </a:p>
          </p:txBody>
        </p:sp>
        <p:sp>
          <p:nvSpPr>
            <p:cNvPr id="16" name="Rectangle 15">
              <a:extLst>
                <a:ext uri="{FF2B5EF4-FFF2-40B4-BE49-F238E27FC236}">
                  <a16:creationId xmlns:a16="http://schemas.microsoft.com/office/drawing/2014/main" id="{1A7E5AF8-DF4B-8B5D-AB02-D32DC607F5ED}"/>
                </a:ext>
              </a:extLst>
            </p:cNvPr>
            <p:cNvSpPr/>
            <p:nvPr/>
          </p:nvSpPr>
          <p:spPr>
            <a:xfrm>
              <a:off x="6781800" y="4659805"/>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323</a:t>
              </a:r>
            </a:p>
          </p:txBody>
        </p:sp>
        <p:sp>
          <p:nvSpPr>
            <p:cNvPr id="17" name="Rectangle 16">
              <a:extLst>
                <a:ext uri="{FF2B5EF4-FFF2-40B4-BE49-F238E27FC236}">
                  <a16:creationId xmlns:a16="http://schemas.microsoft.com/office/drawing/2014/main" id="{69CA04DA-BEA9-9BAE-DFD0-5184E85AC645}"/>
                </a:ext>
              </a:extLst>
            </p:cNvPr>
            <p:cNvSpPr/>
            <p:nvPr/>
          </p:nvSpPr>
          <p:spPr>
            <a:xfrm>
              <a:off x="62484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245</a:t>
              </a:r>
            </a:p>
            <a:p>
              <a:pPr algn="ctr"/>
              <a:r>
                <a:rPr lang="en-US" dirty="0">
                  <a:solidFill>
                    <a:schemeClr val="tx1"/>
                  </a:solidFill>
                </a:rPr>
                <a:t>255</a:t>
              </a:r>
            </a:p>
          </p:txBody>
        </p:sp>
        <p:sp>
          <p:nvSpPr>
            <p:cNvPr id="18" name="TextBox 17">
              <a:extLst>
                <a:ext uri="{FF2B5EF4-FFF2-40B4-BE49-F238E27FC236}">
                  <a16:creationId xmlns:a16="http://schemas.microsoft.com/office/drawing/2014/main" id="{9F1202EA-0602-9D72-2829-CA336835836D}"/>
                </a:ext>
              </a:extLst>
            </p:cNvPr>
            <p:cNvSpPr txBox="1"/>
            <p:nvPr/>
          </p:nvSpPr>
          <p:spPr>
            <a:xfrm>
              <a:off x="5297457" y="6260068"/>
              <a:ext cx="301686" cy="369332"/>
            </a:xfrm>
            <a:prstGeom prst="rect">
              <a:avLst/>
            </a:prstGeom>
            <a:noFill/>
          </p:spPr>
          <p:txBody>
            <a:bodyPr wrap="none" rtlCol="0">
              <a:spAutoFit/>
            </a:bodyPr>
            <a:lstStyle/>
            <a:p>
              <a:r>
                <a:rPr lang="en-US" dirty="0">
                  <a:solidFill>
                    <a:srgbClr val="FF33CC"/>
                  </a:solidFill>
                </a:rPr>
                <a:t>0</a:t>
              </a:r>
            </a:p>
          </p:txBody>
        </p:sp>
        <p:sp>
          <p:nvSpPr>
            <p:cNvPr id="19" name="TextBox 18">
              <a:extLst>
                <a:ext uri="{FF2B5EF4-FFF2-40B4-BE49-F238E27FC236}">
                  <a16:creationId xmlns:a16="http://schemas.microsoft.com/office/drawing/2014/main" id="{E14CB3AD-2265-62FA-CBAC-A400A269E0EC}"/>
                </a:ext>
              </a:extLst>
            </p:cNvPr>
            <p:cNvSpPr txBox="1"/>
            <p:nvPr/>
          </p:nvSpPr>
          <p:spPr>
            <a:xfrm>
              <a:off x="5830857" y="6260068"/>
              <a:ext cx="301686" cy="369332"/>
            </a:xfrm>
            <a:prstGeom prst="rect">
              <a:avLst/>
            </a:prstGeom>
            <a:noFill/>
          </p:spPr>
          <p:txBody>
            <a:bodyPr wrap="none" rtlCol="0">
              <a:spAutoFit/>
            </a:bodyPr>
            <a:lstStyle/>
            <a:p>
              <a:r>
                <a:rPr lang="en-US" dirty="0">
                  <a:solidFill>
                    <a:srgbClr val="FF33CC"/>
                  </a:solidFill>
                </a:rPr>
                <a:t>1</a:t>
              </a:r>
            </a:p>
          </p:txBody>
        </p:sp>
        <p:sp>
          <p:nvSpPr>
            <p:cNvPr id="22" name="TextBox 21">
              <a:extLst>
                <a:ext uri="{FF2B5EF4-FFF2-40B4-BE49-F238E27FC236}">
                  <a16:creationId xmlns:a16="http://schemas.microsoft.com/office/drawing/2014/main" id="{FA289862-1676-90BB-B64A-F5E3668714B1}"/>
                </a:ext>
              </a:extLst>
            </p:cNvPr>
            <p:cNvSpPr txBox="1"/>
            <p:nvPr/>
          </p:nvSpPr>
          <p:spPr>
            <a:xfrm>
              <a:off x="6364826" y="6260068"/>
              <a:ext cx="301686" cy="369332"/>
            </a:xfrm>
            <a:prstGeom prst="rect">
              <a:avLst/>
            </a:prstGeom>
            <a:noFill/>
          </p:spPr>
          <p:txBody>
            <a:bodyPr wrap="none" rtlCol="0">
              <a:spAutoFit/>
            </a:bodyPr>
            <a:lstStyle/>
            <a:p>
              <a:r>
                <a:rPr lang="en-US" dirty="0">
                  <a:solidFill>
                    <a:srgbClr val="FF33CC"/>
                  </a:solidFill>
                </a:rPr>
                <a:t>2</a:t>
              </a:r>
            </a:p>
          </p:txBody>
        </p:sp>
        <p:sp>
          <p:nvSpPr>
            <p:cNvPr id="23" name="TextBox 22">
              <a:extLst>
                <a:ext uri="{FF2B5EF4-FFF2-40B4-BE49-F238E27FC236}">
                  <a16:creationId xmlns:a16="http://schemas.microsoft.com/office/drawing/2014/main" id="{ECD5DA25-C681-B9C5-0B11-EE530F27373E}"/>
                </a:ext>
              </a:extLst>
            </p:cNvPr>
            <p:cNvSpPr txBox="1"/>
            <p:nvPr/>
          </p:nvSpPr>
          <p:spPr>
            <a:xfrm>
              <a:off x="6874600" y="6260068"/>
              <a:ext cx="301686" cy="369332"/>
            </a:xfrm>
            <a:prstGeom prst="rect">
              <a:avLst/>
            </a:prstGeom>
            <a:noFill/>
          </p:spPr>
          <p:txBody>
            <a:bodyPr wrap="none" rtlCol="0">
              <a:spAutoFit/>
            </a:bodyPr>
            <a:lstStyle/>
            <a:p>
              <a:r>
                <a:rPr lang="en-US" dirty="0">
                  <a:solidFill>
                    <a:srgbClr val="FF33CC"/>
                  </a:solidFill>
                </a:rPr>
                <a:t>3</a:t>
              </a:r>
            </a:p>
          </p:txBody>
        </p:sp>
        <p:sp>
          <p:nvSpPr>
            <p:cNvPr id="25" name="TextBox 24">
              <a:extLst>
                <a:ext uri="{FF2B5EF4-FFF2-40B4-BE49-F238E27FC236}">
                  <a16:creationId xmlns:a16="http://schemas.microsoft.com/office/drawing/2014/main" id="{134D126E-A428-30BC-F5BE-FDB235FDBB28}"/>
                </a:ext>
              </a:extLst>
            </p:cNvPr>
            <p:cNvSpPr txBox="1"/>
            <p:nvPr/>
          </p:nvSpPr>
          <p:spPr>
            <a:xfrm>
              <a:off x="7408000" y="6259490"/>
              <a:ext cx="301686" cy="369332"/>
            </a:xfrm>
            <a:prstGeom prst="rect">
              <a:avLst/>
            </a:prstGeom>
            <a:noFill/>
          </p:spPr>
          <p:txBody>
            <a:bodyPr wrap="none" rtlCol="0">
              <a:spAutoFit/>
            </a:bodyPr>
            <a:lstStyle/>
            <a:p>
              <a:r>
                <a:rPr lang="en-US" dirty="0">
                  <a:solidFill>
                    <a:srgbClr val="FF33CC"/>
                  </a:solidFill>
                </a:rPr>
                <a:t>4</a:t>
              </a:r>
            </a:p>
          </p:txBody>
        </p:sp>
        <p:sp>
          <p:nvSpPr>
            <p:cNvPr id="26" name="TextBox 25">
              <a:extLst>
                <a:ext uri="{FF2B5EF4-FFF2-40B4-BE49-F238E27FC236}">
                  <a16:creationId xmlns:a16="http://schemas.microsoft.com/office/drawing/2014/main" id="{D60968AA-7F88-E791-E5F7-88DF4401112E}"/>
                </a:ext>
              </a:extLst>
            </p:cNvPr>
            <p:cNvSpPr txBox="1"/>
            <p:nvPr/>
          </p:nvSpPr>
          <p:spPr>
            <a:xfrm>
              <a:off x="7907244" y="6259490"/>
              <a:ext cx="301686" cy="369332"/>
            </a:xfrm>
            <a:prstGeom prst="rect">
              <a:avLst/>
            </a:prstGeom>
            <a:noFill/>
          </p:spPr>
          <p:txBody>
            <a:bodyPr wrap="none" rtlCol="0">
              <a:spAutoFit/>
            </a:bodyPr>
            <a:lstStyle/>
            <a:p>
              <a:r>
                <a:rPr lang="en-US" dirty="0">
                  <a:solidFill>
                    <a:srgbClr val="FF33CC"/>
                  </a:solidFill>
                </a:rPr>
                <a:t>5</a:t>
              </a:r>
            </a:p>
          </p:txBody>
        </p:sp>
        <p:sp>
          <p:nvSpPr>
            <p:cNvPr id="27" name="TextBox 26">
              <a:extLst>
                <a:ext uri="{FF2B5EF4-FFF2-40B4-BE49-F238E27FC236}">
                  <a16:creationId xmlns:a16="http://schemas.microsoft.com/office/drawing/2014/main" id="{B5929E61-DF41-C186-5CC6-BCCC84AE1B02}"/>
                </a:ext>
              </a:extLst>
            </p:cNvPr>
            <p:cNvSpPr txBox="1"/>
            <p:nvPr/>
          </p:nvSpPr>
          <p:spPr>
            <a:xfrm>
              <a:off x="8498995" y="6260068"/>
              <a:ext cx="301686" cy="369332"/>
            </a:xfrm>
            <a:prstGeom prst="rect">
              <a:avLst/>
            </a:prstGeom>
            <a:noFill/>
          </p:spPr>
          <p:txBody>
            <a:bodyPr wrap="none" rtlCol="0">
              <a:spAutoFit/>
            </a:bodyPr>
            <a:lstStyle/>
            <a:p>
              <a:r>
                <a:rPr lang="en-US" dirty="0">
                  <a:solidFill>
                    <a:srgbClr val="FF33CC"/>
                  </a:solidFill>
                </a:rPr>
                <a:t>6</a:t>
              </a:r>
            </a:p>
          </p:txBody>
        </p:sp>
        <p:sp>
          <p:nvSpPr>
            <p:cNvPr id="28" name="TextBox 27">
              <a:extLst>
                <a:ext uri="{FF2B5EF4-FFF2-40B4-BE49-F238E27FC236}">
                  <a16:creationId xmlns:a16="http://schemas.microsoft.com/office/drawing/2014/main" id="{56E14B2A-1E62-4CA1-FAB8-3A2E770A1080}"/>
                </a:ext>
              </a:extLst>
            </p:cNvPr>
            <p:cNvSpPr txBox="1"/>
            <p:nvPr/>
          </p:nvSpPr>
          <p:spPr>
            <a:xfrm>
              <a:off x="9032395" y="6259490"/>
              <a:ext cx="301686" cy="369332"/>
            </a:xfrm>
            <a:prstGeom prst="rect">
              <a:avLst/>
            </a:prstGeom>
            <a:noFill/>
          </p:spPr>
          <p:txBody>
            <a:bodyPr wrap="none" rtlCol="0">
              <a:spAutoFit/>
            </a:bodyPr>
            <a:lstStyle/>
            <a:p>
              <a:r>
                <a:rPr lang="en-US" dirty="0">
                  <a:solidFill>
                    <a:srgbClr val="FF33CC"/>
                  </a:solidFill>
                </a:rPr>
                <a:t>7</a:t>
              </a:r>
            </a:p>
          </p:txBody>
        </p:sp>
        <p:sp>
          <p:nvSpPr>
            <p:cNvPr id="29" name="Rectangle 28">
              <a:extLst>
                <a:ext uri="{FF2B5EF4-FFF2-40B4-BE49-F238E27FC236}">
                  <a16:creationId xmlns:a16="http://schemas.microsoft.com/office/drawing/2014/main" id="{57F70415-63E3-60D2-602A-0723249F2C7A}"/>
                </a:ext>
              </a:extLst>
            </p:cNvPr>
            <p:cNvSpPr/>
            <p:nvPr/>
          </p:nvSpPr>
          <p:spPr>
            <a:xfrm>
              <a:off x="5715000" y="4660942"/>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101</a:t>
              </a:r>
            </a:p>
            <a:p>
              <a:pPr algn="ctr"/>
              <a:r>
                <a:rPr lang="en-US" dirty="0">
                  <a:solidFill>
                    <a:schemeClr val="tx1"/>
                  </a:solidFill>
                </a:rPr>
                <a:t>103</a:t>
              </a:r>
            </a:p>
            <a:p>
              <a:pPr algn="ctr"/>
              <a:r>
                <a:rPr lang="en-US" dirty="0">
                  <a:solidFill>
                    <a:schemeClr val="tx1"/>
                  </a:solidFill>
                </a:rPr>
                <a:t>113</a:t>
              </a:r>
            </a:p>
            <a:p>
              <a:pPr algn="ctr"/>
              <a:r>
                <a:rPr lang="en-US" dirty="0">
                  <a:solidFill>
                    <a:schemeClr val="tx1"/>
                  </a:solidFill>
                </a:rPr>
                <a:t>121</a:t>
              </a:r>
            </a:p>
          </p:txBody>
        </p:sp>
        <p:sp>
          <p:nvSpPr>
            <p:cNvPr id="30" name="Rectangle 29">
              <a:extLst>
                <a:ext uri="{FF2B5EF4-FFF2-40B4-BE49-F238E27FC236}">
                  <a16:creationId xmlns:a16="http://schemas.microsoft.com/office/drawing/2014/main" id="{DD808591-0946-6151-BEE9-DCB1F69336F4}"/>
                </a:ext>
              </a:extLst>
            </p:cNvPr>
            <p:cNvSpPr/>
            <p:nvPr/>
          </p:nvSpPr>
          <p:spPr>
            <a:xfrm>
              <a:off x="5181600" y="4662079"/>
              <a:ext cx="533400" cy="159583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018</a:t>
              </a:r>
            </a:p>
          </p:txBody>
        </p:sp>
        <p:sp>
          <p:nvSpPr>
            <p:cNvPr id="40" name="TextBox 39">
              <a:extLst>
                <a:ext uri="{FF2B5EF4-FFF2-40B4-BE49-F238E27FC236}">
                  <a16:creationId xmlns:a16="http://schemas.microsoft.com/office/drawing/2014/main" id="{A55CB3EC-A71F-D8CE-A8B0-81A8F228A734}"/>
                </a:ext>
              </a:extLst>
            </p:cNvPr>
            <p:cNvSpPr txBox="1"/>
            <p:nvPr/>
          </p:nvSpPr>
          <p:spPr>
            <a:xfrm>
              <a:off x="9574425" y="6260068"/>
              <a:ext cx="301686" cy="369332"/>
            </a:xfrm>
            <a:prstGeom prst="rect">
              <a:avLst/>
            </a:prstGeom>
            <a:noFill/>
          </p:spPr>
          <p:txBody>
            <a:bodyPr wrap="none" rtlCol="0">
              <a:spAutoFit/>
            </a:bodyPr>
            <a:lstStyle/>
            <a:p>
              <a:r>
                <a:rPr lang="en-US" dirty="0">
                  <a:solidFill>
                    <a:srgbClr val="FF33CC"/>
                  </a:solidFill>
                </a:rPr>
                <a:t>8</a:t>
              </a:r>
            </a:p>
          </p:txBody>
        </p:sp>
        <p:sp>
          <p:nvSpPr>
            <p:cNvPr id="41" name="TextBox 40">
              <a:extLst>
                <a:ext uri="{FF2B5EF4-FFF2-40B4-BE49-F238E27FC236}">
                  <a16:creationId xmlns:a16="http://schemas.microsoft.com/office/drawing/2014/main" id="{D480DEBB-C234-71D7-F3E1-DA086A8B5893}"/>
                </a:ext>
              </a:extLst>
            </p:cNvPr>
            <p:cNvSpPr txBox="1"/>
            <p:nvPr/>
          </p:nvSpPr>
          <p:spPr>
            <a:xfrm>
              <a:off x="10116605" y="6260068"/>
              <a:ext cx="301686" cy="369332"/>
            </a:xfrm>
            <a:prstGeom prst="rect">
              <a:avLst/>
            </a:prstGeom>
            <a:noFill/>
          </p:spPr>
          <p:txBody>
            <a:bodyPr wrap="none" rtlCol="0">
              <a:spAutoFit/>
            </a:bodyPr>
            <a:lstStyle/>
            <a:p>
              <a:r>
                <a:rPr lang="en-US" dirty="0">
                  <a:solidFill>
                    <a:srgbClr val="FF33CC"/>
                  </a:solidFill>
                </a:rPr>
                <a:t>9</a:t>
              </a:r>
            </a:p>
          </p:txBody>
        </p:sp>
      </p:grpSp>
      <p:grpSp>
        <p:nvGrpSpPr>
          <p:cNvPr id="43" name="Group 42" descr="Finally we &quot;unbucket&quot; into an array like we did with bucket sort, giving the final sorted array:&#10;[018. 101. 103, 113, 121, 245, 255, 323, 401, 512, 555, 800, 801, 823, 901, 999]">
            <a:extLst>
              <a:ext uri="{FF2B5EF4-FFF2-40B4-BE49-F238E27FC236}">
                <a16:creationId xmlns:a16="http://schemas.microsoft.com/office/drawing/2014/main" id="{068934FF-C8AB-D781-D815-713828A58097}"/>
              </a:ext>
            </a:extLst>
          </p:cNvPr>
          <p:cNvGrpSpPr/>
          <p:nvPr/>
        </p:nvGrpSpPr>
        <p:grpSpPr>
          <a:xfrm>
            <a:off x="503842" y="5962559"/>
            <a:ext cx="8561464" cy="849868"/>
            <a:chOff x="1752600" y="2743200"/>
            <a:chExt cx="8561464" cy="849868"/>
          </a:xfrm>
        </p:grpSpPr>
        <p:grpSp>
          <p:nvGrpSpPr>
            <p:cNvPr id="44" name="Group 43">
              <a:extLst>
                <a:ext uri="{FF2B5EF4-FFF2-40B4-BE49-F238E27FC236}">
                  <a16:creationId xmlns:a16="http://schemas.microsoft.com/office/drawing/2014/main" id="{B6C8016D-7B0B-A436-E8B1-2B87C5834C4D}"/>
                </a:ext>
              </a:extLst>
            </p:cNvPr>
            <p:cNvGrpSpPr/>
            <p:nvPr/>
          </p:nvGrpSpPr>
          <p:grpSpPr>
            <a:xfrm>
              <a:off x="1752600" y="2743200"/>
              <a:ext cx="4268338" cy="849868"/>
              <a:chOff x="2361062" y="2743200"/>
              <a:chExt cx="4268338" cy="849868"/>
            </a:xfrm>
          </p:grpSpPr>
          <p:grpSp>
            <p:nvGrpSpPr>
              <p:cNvPr id="67" name="Group 66">
                <a:extLst>
                  <a:ext uri="{FF2B5EF4-FFF2-40B4-BE49-F238E27FC236}">
                    <a16:creationId xmlns:a16="http://schemas.microsoft.com/office/drawing/2014/main" id="{5755D94F-2867-A4B9-F6AC-E9F1886F3771}"/>
                  </a:ext>
                </a:extLst>
              </p:cNvPr>
              <p:cNvGrpSpPr/>
              <p:nvPr/>
            </p:nvGrpSpPr>
            <p:grpSpPr>
              <a:xfrm>
                <a:off x="2361062" y="2743200"/>
                <a:ext cx="4268338" cy="533400"/>
                <a:chOff x="1445524" y="2971800"/>
                <a:chExt cx="4268338" cy="533400"/>
              </a:xfrm>
            </p:grpSpPr>
            <p:sp>
              <p:nvSpPr>
                <p:cNvPr id="76" name="Rectangle 75">
                  <a:extLst>
                    <a:ext uri="{FF2B5EF4-FFF2-40B4-BE49-F238E27FC236}">
                      <a16:creationId xmlns:a16="http://schemas.microsoft.com/office/drawing/2014/main" id="{A514DDEF-0799-B04F-5B56-64D468AAAEE6}"/>
                    </a:ext>
                  </a:extLst>
                </p:cNvPr>
                <p:cNvSpPr/>
                <p:nvPr/>
              </p:nvSpPr>
              <p:spPr>
                <a:xfrm>
                  <a:off x="14455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018</a:t>
                  </a:r>
                </a:p>
              </p:txBody>
            </p:sp>
            <p:sp>
              <p:nvSpPr>
                <p:cNvPr id="77" name="Rectangle 76">
                  <a:extLst>
                    <a:ext uri="{FF2B5EF4-FFF2-40B4-BE49-F238E27FC236}">
                      <a16:creationId xmlns:a16="http://schemas.microsoft.com/office/drawing/2014/main" id="{AAB3906E-2D52-9AD8-0556-772ABCB5C5D9}"/>
                    </a:ext>
                  </a:extLst>
                </p:cNvPr>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101</a:t>
                  </a:r>
                </a:p>
              </p:txBody>
            </p:sp>
            <p:sp>
              <p:nvSpPr>
                <p:cNvPr id="78" name="Rectangle 77">
                  <a:extLst>
                    <a:ext uri="{FF2B5EF4-FFF2-40B4-BE49-F238E27FC236}">
                      <a16:creationId xmlns:a16="http://schemas.microsoft.com/office/drawing/2014/main" id="{DF0407A3-97AC-D294-9073-A3C5C3C52C0D}"/>
                    </a:ext>
                  </a:extLst>
                </p:cNvPr>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103</a:t>
                  </a:r>
                </a:p>
              </p:txBody>
            </p:sp>
            <p:sp>
              <p:nvSpPr>
                <p:cNvPr id="79" name="Rectangle 78">
                  <a:extLst>
                    <a:ext uri="{FF2B5EF4-FFF2-40B4-BE49-F238E27FC236}">
                      <a16:creationId xmlns:a16="http://schemas.microsoft.com/office/drawing/2014/main" id="{5B1E89E9-CD9C-EDED-9F75-F613D3AB91A0}"/>
                    </a:ext>
                  </a:extLst>
                </p:cNvPr>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113</a:t>
                  </a:r>
                </a:p>
              </p:txBody>
            </p:sp>
            <p:sp>
              <p:nvSpPr>
                <p:cNvPr id="80" name="Rectangle 79">
                  <a:extLst>
                    <a:ext uri="{FF2B5EF4-FFF2-40B4-BE49-F238E27FC236}">
                      <a16:creationId xmlns:a16="http://schemas.microsoft.com/office/drawing/2014/main" id="{4CEFA199-8AEF-A65C-B1DF-DB1BD53B7D4B}"/>
                    </a:ext>
                  </a:extLst>
                </p:cNvPr>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121</a:t>
                  </a:r>
                </a:p>
              </p:txBody>
            </p:sp>
            <p:sp>
              <p:nvSpPr>
                <p:cNvPr id="81" name="Rectangle 80">
                  <a:extLst>
                    <a:ext uri="{FF2B5EF4-FFF2-40B4-BE49-F238E27FC236}">
                      <a16:creationId xmlns:a16="http://schemas.microsoft.com/office/drawing/2014/main" id="{72314B16-133A-0F38-E912-090D0B52981D}"/>
                    </a:ext>
                  </a:extLst>
                </p:cNvPr>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245</a:t>
                  </a:r>
                </a:p>
              </p:txBody>
            </p:sp>
            <p:sp>
              <p:nvSpPr>
                <p:cNvPr id="82" name="Rectangle 81">
                  <a:extLst>
                    <a:ext uri="{FF2B5EF4-FFF2-40B4-BE49-F238E27FC236}">
                      <a16:creationId xmlns:a16="http://schemas.microsoft.com/office/drawing/2014/main" id="{1F53B560-510C-CE26-6FD0-9126FC5E6EE5}"/>
                    </a:ext>
                  </a:extLst>
                </p:cNvPr>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255</a:t>
                  </a:r>
                </a:p>
              </p:txBody>
            </p:sp>
            <p:sp>
              <p:nvSpPr>
                <p:cNvPr id="83" name="Rectangle 82">
                  <a:extLst>
                    <a:ext uri="{FF2B5EF4-FFF2-40B4-BE49-F238E27FC236}">
                      <a16:creationId xmlns:a16="http://schemas.microsoft.com/office/drawing/2014/main" id="{96B9D8C3-45D5-97A3-0477-A8C14C88AA95}"/>
                    </a:ext>
                  </a:extLst>
                </p:cNvPr>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323</a:t>
                  </a:r>
                </a:p>
              </p:txBody>
            </p:sp>
          </p:grpSp>
          <p:sp>
            <p:nvSpPr>
              <p:cNvPr id="68" name="TextBox 67">
                <a:extLst>
                  <a:ext uri="{FF2B5EF4-FFF2-40B4-BE49-F238E27FC236}">
                    <a16:creationId xmlns:a16="http://schemas.microsoft.com/office/drawing/2014/main" id="{8D59D340-F86D-62B2-AE74-933A408B6C2B}"/>
                  </a:ext>
                </a:extLst>
              </p:cNvPr>
              <p:cNvSpPr txBox="1"/>
              <p:nvPr/>
            </p:nvSpPr>
            <p:spPr>
              <a:xfrm>
                <a:off x="2500545" y="3223736"/>
                <a:ext cx="301686" cy="369332"/>
              </a:xfrm>
              <a:prstGeom prst="rect">
                <a:avLst/>
              </a:prstGeom>
              <a:noFill/>
            </p:spPr>
            <p:txBody>
              <a:bodyPr wrap="none" rtlCol="0">
                <a:spAutoFit/>
              </a:bodyPr>
              <a:lstStyle/>
              <a:p>
                <a:r>
                  <a:rPr lang="en-US" dirty="0">
                    <a:solidFill>
                      <a:srgbClr val="FF33CC"/>
                    </a:solidFill>
                  </a:rPr>
                  <a:t>0</a:t>
                </a:r>
              </a:p>
            </p:txBody>
          </p:sp>
          <p:sp>
            <p:nvSpPr>
              <p:cNvPr id="69" name="TextBox 68">
                <a:extLst>
                  <a:ext uri="{FF2B5EF4-FFF2-40B4-BE49-F238E27FC236}">
                    <a16:creationId xmlns:a16="http://schemas.microsoft.com/office/drawing/2014/main" id="{14369803-FF3D-71C4-321A-534AEA695271}"/>
                  </a:ext>
                </a:extLst>
              </p:cNvPr>
              <p:cNvSpPr txBox="1"/>
              <p:nvPr/>
            </p:nvSpPr>
            <p:spPr>
              <a:xfrm>
                <a:off x="3033945" y="3223736"/>
                <a:ext cx="301686" cy="369332"/>
              </a:xfrm>
              <a:prstGeom prst="rect">
                <a:avLst/>
              </a:prstGeom>
              <a:noFill/>
            </p:spPr>
            <p:txBody>
              <a:bodyPr wrap="none" rtlCol="0">
                <a:spAutoFit/>
              </a:bodyPr>
              <a:lstStyle/>
              <a:p>
                <a:r>
                  <a:rPr lang="en-US" dirty="0">
                    <a:solidFill>
                      <a:srgbClr val="FF33CC"/>
                    </a:solidFill>
                  </a:rPr>
                  <a:t>1</a:t>
                </a:r>
              </a:p>
            </p:txBody>
          </p:sp>
          <p:sp>
            <p:nvSpPr>
              <p:cNvPr id="70" name="TextBox 69">
                <a:extLst>
                  <a:ext uri="{FF2B5EF4-FFF2-40B4-BE49-F238E27FC236}">
                    <a16:creationId xmlns:a16="http://schemas.microsoft.com/office/drawing/2014/main" id="{E8CF6890-2735-7463-9DA0-D55F9D0A85CA}"/>
                  </a:ext>
                </a:extLst>
              </p:cNvPr>
              <p:cNvSpPr txBox="1"/>
              <p:nvPr/>
            </p:nvSpPr>
            <p:spPr>
              <a:xfrm>
                <a:off x="3567914" y="3223736"/>
                <a:ext cx="301686" cy="369332"/>
              </a:xfrm>
              <a:prstGeom prst="rect">
                <a:avLst/>
              </a:prstGeom>
              <a:noFill/>
            </p:spPr>
            <p:txBody>
              <a:bodyPr wrap="none" rtlCol="0">
                <a:spAutoFit/>
              </a:bodyPr>
              <a:lstStyle/>
              <a:p>
                <a:r>
                  <a:rPr lang="en-US" dirty="0">
                    <a:solidFill>
                      <a:srgbClr val="FF33CC"/>
                    </a:solidFill>
                  </a:rPr>
                  <a:t>2</a:t>
                </a:r>
              </a:p>
            </p:txBody>
          </p:sp>
          <p:sp>
            <p:nvSpPr>
              <p:cNvPr id="71" name="TextBox 70">
                <a:extLst>
                  <a:ext uri="{FF2B5EF4-FFF2-40B4-BE49-F238E27FC236}">
                    <a16:creationId xmlns:a16="http://schemas.microsoft.com/office/drawing/2014/main" id="{3DE0E5BC-B5BB-CFC8-BC80-B3CEBD2B4439}"/>
                  </a:ext>
                </a:extLst>
              </p:cNvPr>
              <p:cNvSpPr txBox="1"/>
              <p:nvPr/>
            </p:nvSpPr>
            <p:spPr>
              <a:xfrm>
                <a:off x="4077688" y="3223736"/>
                <a:ext cx="301686" cy="369332"/>
              </a:xfrm>
              <a:prstGeom prst="rect">
                <a:avLst/>
              </a:prstGeom>
              <a:noFill/>
            </p:spPr>
            <p:txBody>
              <a:bodyPr wrap="none" rtlCol="0">
                <a:spAutoFit/>
              </a:bodyPr>
              <a:lstStyle/>
              <a:p>
                <a:r>
                  <a:rPr lang="en-US" dirty="0">
                    <a:solidFill>
                      <a:srgbClr val="FF33CC"/>
                    </a:solidFill>
                  </a:rPr>
                  <a:t>3</a:t>
                </a:r>
              </a:p>
            </p:txBody>
          </p:sp>
          <p:sp>
            <p:nvSpPr>
              <p:cNvPr id="72" name="TextBox 71">
                <a:extLst>
                  <a:ext uri="{FF2B5EF4-FFF2-40B4-BE49-F238E27FC236}">
                    <a16:creationId xmlns:a16="http://schemas.microsoft.com/office/drawing/2014/main" id="{CA6340E6-115E-DFF8-F7E4-8EBA440A3683}"/>
                  </a:ext>
                </a:extLst>
              </p:cNvPr>
              <p:cNvSpPr txBox="1"/>
              <p:nvPr/>
            </p:nvSpPr>
            <p:spPr>
              <a:xfrm>
                <a:off x="4611088" y="3223158"/>
                <a:ext cx="301686" cy="369332"/>
              </a:xfrm>
              <a:prstGeom prst="rect">
                <a:avLst/>
              </a:prstGeom>
              <a:noFill/>
            </p:spPr>
            <p:txBody>
              <a:bodyPr wrap="none" rtlCol="0">
                <a:spAutoFit/>
              </a:bodyPr>
              <a:lstStyle/>
              <a:p>
                <a:r>
                  <a:rPr lang="en-US" dirty="0">
                    <a:solidFill>
                      <a:srgbClr val="FF33CC"/>
                    </a:solidFill>
                  </a:rPr>
                  <a:t>4</a:t>
                </a:r>
              </a:p>
            </p:txBody>
          </p:sp>
          <p:sp>
            <p:nvSpPr>
              <p:cNvPr id="73" name="TextBox 72">
                <a:extLst>
                  <a:ext uri="{FF2B5EF4-FFF2-40B4-BE49-F238E27FC236}">
                    <a16:creationId xmlns:a16="http://schemas.microsoft.com/office/drawing/2014/main" id="{B8B0F7F2-8B83-8BD0-81C0-AA08A21A6314}"/>
                  </a:ext>
                </a:extLst>
              </p:cNvPr>
              <p:cNvSpPr txBox="1"/>
              <p:nvPr/>
            </p:nvSpPr>
            <p:spPr>
              <a:xfrm>
                <a:off x="5110332" y="3223158"/>
                <a:ext cx="301686" cy="369332"/>
              </a:xfrm>
              <a:prstGeom prst="rect">
                <a:avLst/>
              </a:prstGeom>
              <a:noFill/>
            </p:spPr>
            <p:txBody>
              <a:bodyPr wrap="none" rtlCol="0">
                <a:spAutoFit/>
              </a:bodyPr>
              <a:lstStyle/>
              <a:p>
                <a:r>
                  <a:rPr lang="en-US" dirty="0">
                    <a:solidFill>
                      <a:srgbClr val="FF33CC"/>
                    </a:solidFill>
                  </a:rPr>
                  <a:t>5</a:t>
                </a:r>
              </a:p>
            </p:txBody>
          </p:sp>
          <p:sp>
            <p:nvSpPr>
              <p:cNvPr id="74" name="TextBox 73">
                <a:extLst>
                  <a:ext uri="{FF2B5EF4-FFF2-40B4-BE49-F238E27FC236}">
                    <a16:creationId xmlns:a16="http://schemas.microsoft.com/office/drawing/2014/main" id="{E4B3C70A-1F9D-1759-D960-6B5816CDF9D2}"/>
                  </a:ext>
                </a:extLst>
              </p:cNvPr>
              <p:cNvSpPr txBox="1"/>
              <p:nvPr/>
            </p:nvSpPr>
            <p:spPr>
              <a:xfrm>
                <a:off x="5702083" y="3223736"/>
                <a:ext cx="301686" cy="369332"/>
              </a:xfrm>
              <a:prstGeom prst="rect">
                <a:avLst/>
              </a:prstGeom>
              <a:noFill/>
            </p:spPr>
            <p:txBody>
              <a:bodyPr wrap="none" rtlCol="0">
                <a:spAutoFit/>
              </a:bodyPr>
              <a:lstStyle/>
              <a:p>
                <a:r>
                  <a:rPr lang="en-US" dirty="0">
                    <a:solidFill>
                      <a:srgbClr val="FF33CC"/>
                    </a:solidFill>
                  </a:rPr>
                  <a:t>6</a:t>
                </a:r>
              </a:p>
            </p:txBody>
          </p:sp>
          <p:sp>
            <p:nvSpPr>
              <p:cNvPr id="75" name="TextBox 74">
                <a:extLst>
                  <a:ext uri="{FF2B5EF4-FFF2-40B4-BE49-F238E27FC236}">
                    <a16:creationId xmlns:a16="http://schemas.microsoft.com/office/drawing/2014/main" id="{0DA49A2D-6D5E-1096-7255-84F4793E32CE}"/>
                  </a:ext>
                </a:extLst>
              </p:cNvPr>
              <p:cNvSpPr txBox="1"/>
              <p:nvPr/>
            </p:nvSpPr>
            <p:spPr>
              <a:xfrm>
                <a:off x="6235483" y="3223158"/>
                <a:ext cx="301686" cy="369332"/>
              </a:xfrm>
              <a:prstGeom prst="rect">
                <a:avLst/>
              </a:prstGeom>
              <a:noFill/>
            </p:spPr>
            <p:txBody>
              <a:bodyPr wrap="none" rtlCol="0">
                <a:spAutoFit/>
              </a:bodyPr>
              <a:lstStyle/>
              <a:p>
                <a:r>
                  <a:rPr lang="en-US" dirty="0">
                    <a:solidFill>
                      <a:srgbClr val="FF33CC"/>
                    </a:solidFill>
                  </a:rPr>
                  <a:t>7</a:t>
                </a:r>
              </a:p>
            </p:txBody>
          </p:sp>
        </p:grpSp>
        <p:grpSp>
          <p:nvGrpSpPr>
            <p:cNvPr id="45" name="Group 44">
              <a:extLst>
                <a:ext uri="{FF2B5EF4-FFF2-40B4-BE49-F238E27FC236}">
                  <a16:creationId xmlns:a16="http://schemas.microsoft.com/office/drawing/2014/main" id="{0D413D70-40DF-D119-7511-B9F9F3C5A188}"/>
                </a:ext>
              </a:extLst>
            </p:cNvPr>
            <p:cNvGrpSpPr/>
            <p:nvPr/>
          </p:nvGrpSpPr>
          <p:grpSpPr>
            <a:xfrm>
              <a:off x="6020939" y="2743200"/>
              <a:ext cx="4293125" cy="849868"/>
              <a:chOff x="2361062" y="2743200"/>
              <a:chExt cx="4293125" cy="849868"/>
            </a:xfrm>
          </p:grpSpPr>
          <p:grpSp>
            <p:nvGrpSpPr>
              <p:cNvPr id="50" name="Group 49">
                <a:extLst>
                  <a:ext uri="{FF2B5EF4-FFF2-40B4-BE49-F238E27FC236}">
                    <a16:creationId xmlns:a16="http://schemas.microsoft.com/office/drawing/2014/main" id="{004D5F06-57C0-9561-8DFB-97B713327871}"/>
                  </a:ext>
                </a:extLst>
              </p:cNvPr>
              <p:cNvGrpSpPr/>
              <p:nvPr/>
            </p:nvGrpSpPr>
            <p:grpSpPr>
              <a:xfrm>
                <a:off x="2361062" y="2743200"/>
                <a:ext cx="4268338" cy="533400"/>
                <a:chOff x="1445524" y="2971800"/>
                <a:chExt cx="4268338" cy="533400"/>
              </a:xfrm>
            </p:grpSpPr>
            <p:sp>
              <p:nvSpPr>
                <p:cNvPr id="59" name="Rectangle 58">
                  <a:extLst>
                    <a:ext uri="{FF2B5EF4-FFF2-40B4-BE49-F238E27FC236}">
                      <a16:creationId xmlns:a16="http://schemas.microsoft.com/office/drawing/2014/main" id="{550AB95D-A4E6-71A1-23FE-1422E35E9DB0}"/>
                    </a:ext>
                  </a:extLst>
                </p:cNvPr>
                <p:cNvSpPr/>
                <p:nvPr/>
              </p:nvSpPr>
              <p:spPr>
                <a:xfrm>
                  <a:off x="14455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401</a:t>
                  </a:r>
                </a:p>
              </p:txBody>
            </p:sp>
            <p:sp>
              <p:nvSpPr>
                <p:cNvPr id="60" name="Rectangle 59">
                  <a:extLst>
                    <a:ext uri="{FF2B5EF4-FFF2-40B4-BE49-F238E27FC236}">
                      <a16:creationId xmlns:a16="http://schemas.microsoft.com/office/drawing/2014/main" id="{6244BB98-1673-3E2D-1F18-41CA51F31C20}"/>
                    </a:ext>
                  </a:extLst>
                </p:cNvPr>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512</a:t>
                  </a:r>
                </a:p>
              </p:txBody>
            </p:sp>
            <p:sp>
              <p:nvSpPr>
                <p:cNvPr id="61" name="Rectangle 60">
                  <a:extLst>
                    <a:ext uri="{FF2B5EF4-FFF2-40B4-BE49-F238E27FC236}">
                      <a16:creationId xmlns:a16="http://schemas.microsoft.com/office/drawing/2014/main" id="{EF048AD2-88EF-B37F-B639-FCDFE3693E59}"/>
                    </a:ext>
                  </a:extLst>
                </p:cNvPr>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555</a:t>
                  </a:r>
                </a:p>
              </p:txBody>
            </p:sp>
            <p:sp>
              <p:nvSpPr>
                <p:cNvPr id="62" name="Rectangle 61">
                  <a:extLst>
                    <a:ext uri="{FF2B5EF4-FFF2-40B4-BE49-F238E27FC236}">
                      <a16:creationId xmlns:a16="http://schemas.microsoft.com/office/drawing/2014/main" id="{999EC23D-1356-7C68-7368-D59878A983F4}"/>
                    </a:ext>
                  </a:extLst>
                </p:cNvPr>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800</a:t>
                  </a:r>
                </a:p>
              </p:txBody>
            </p:sp>
            <p:sp>
              <p:nvSpPr>
                <p:cNvPr id="63" name="Rectangle 62">
                  <a:extLst>
                    <a:ext uri="{FF2B5EF4-FFF2-40B4-BE49-F238E27FC236}">
                      <a16:creationId xmlns:a16="http://schemas.microsoft.com/office/drawing/2014/main" id="{1497E028-C52E-675E-3CD6-CCD3F28302F7}"/>
                    </a:ext>
                  </a:extLst>
                </p:cNvPr>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801</a:t>
                  </a:r>
                </a:p>
              </p:txBody>
            </p:sp>
            <p:sp>
              <p:nvSpPr>
                <p:cNvPr id="64" name="Rectangle 63">
                  <a:extLst>
                    <a:ext uri="{FF2B5EF4-FFF2-40B4-BE49-F238E27FC236}">
                      <a16:creationId xmlns:a16="http://schemas.microsoft.com/office/drawing/2014/main" id="{13F32CD9-19E1-834C-26B7-A8F3D2CEE006}"/>
                    </a:ext>
                  </a:extLst>
                </p:cNvPr>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823</a:t>
                  </a:r>
                </a:p>
              </p:txBody>
            </p:sp>
            <p:sp>
              <p:nvSpPr>
                <p:cNvPr id="65" name="Rectangle 64">
                  <a:extLst>
                    <a:ext uri="{FF2B5EF4-FFF2-40B4-BE49-F238E27FC236}">
                      <a16:creationId xmlns:a16="http://schemas.microsoft.com/office/drawing/2014/main" id="{F675C80F-5B7A-BBA8-130A-B3CF5AD7FC84}"/>
                    </a:ext>
                  </a:extLst>
                </p:cNvPr>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901</a:t>
                  </a:r>
                </a:p>
              </p:txBody>
            </p:sp>
            <p:sp>
              <p:nvSpPr>
                <p:cNvPr id="66" name="Rectangle 65">
                  <a:extLst>
                    <a:ext uri="{FF2B5EF4-FFF2-40B4-BE49-F238E27FC236}">
                      <a16:creationId xmlns:a16="http://schemas.microsoft.com/office/drawing/2014/main" id="{D19F6413-A167-1DFB-2A37-A3D51542BA28}"/>
                    </a:ext>
                  </a:extLst>
                </p:cNvPr>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999</a:t>
                  </a:r>
                </a:p>
              </p:txBody>
            </p:sp>
          </p:grpSp>
          <p:sp>
            <p:nvSpPr>
              <p:cNvPr id="51" name="TextBox 50">
                <a:extLst>
                  <a:ext uri="{FF2B5EF4-FFF2-40B4-BE49-F238E27FC236}">
                    <a16:creationId xmlns:a16="http://schemas.microsoft.com/office/drawing/2014/main" id="{513F22D5-36EF-BD52-DD4A-012D7F9C3B19}"/>
                  </a:ext>
                </a:extLst>
              </p:cNvPr>
              <p:cNvSpPr txBox="1"/>
              <p:nvPr/>
            </p:nvSpPr>
            <p:spPr>
              <a:xfrm>
                <a:off x="2500545" y="3223736"/>
                <a:ext cx="301686" cy="369332"/>
              </a:xfrm>
              <a:prstGeom prst="rect">
                <a:avLst/>
              </a:prstGeom>
              <a:noFill/>
            </p:spPr>
            <p:txBody>
              <a:bodyPr wrap="none" rtlCol="0">
                <a:spAutoFit/>
              </a:bodyPr>
              <a:lstStyle/>
              <a:p>
                <a:r>
                  <a:rPr lang="en-US" dirty="0">
                    <a:solidFill>
                      <a:srgbClr val="FF33CC"/>
                    </a:solidFill>
                  </a:rPr>
                  <a:t>8</a:t>
                </a:r>
              </a:p>
            </p:txBody>
          </p:sp>
          <p:sp>
            <p:nvSpPr>
              <p:cNvPr id="52" name="TextBox 51">
                <a:extLst>
                  <a:ext uri="{FF2B5EF4-FFF2-40B4-BE49-F238E27FC236}">
                    <a16:creationId xmlns:a16="http://schemas.microsoft.com/office/drawing/2014/main" id="{D08AE7A7-92D6-4BF5-76F1-0BA807B9981D}"/>
                  </a:ext>
                </a:extLst>
              </p:cNvPr>
              <p:cNvSpPr txBox="1"/>
              <p:nvPr/>
            </p:nvSpPr>
            <p:spPr>
              <a:xfrm>
                <a:off x="3033945" y="3223736"/>
                <a:ext cx="301686" cy="369332"/>
              </a:xfrm>
              <a:prstGeom prst="rect">
                <a:avLst/>
              </a:prstGeom>
              <a:noFill/>
            </p:spPr>
            <p:txBody>
              <a:bodyPr wrap="none" rtlCol="0">
                <a:spAutoFit/>
              </a:bodyPr>
              <a:lstStyle/>
              <a:p>
                <a:r>
                  <a:rPr lang="en-US" dirty="0">
                    <a:solidFill>
                      <a:srgbClr val="FF33CC"/>
                    </a:solidFill>
                  </a:rPr>
                  <a:t>9</a:t>
                </a:r>
              </a:p>
            </p:txBody>
          </p:sp>
          <p:sp>
            <p:nvSpPr>
              <p:cNvPr id="53" name="TextBox 52">
                <a:extLst>
                  <a:ext uri="{FF2B5EF4-FFF2-40B4-BE49-F238E27FC236}">
                    <a16:creationId xmlns:a16="http://schemas.microsoft.com/office/drawing/2014/main" id="{CB441F66-DC45-EE7B-7A4B-9574148133B9}"/>
                  </a:ext>
                </a:extLst>
              </p:cNvPr>
              <p:cNvSpPr txBox="1"/>
              <p:nvPr/>
            </p:nvSpPr>
            <p:spPr>
              <a:xfrm>
                <a:off x="3567914" y="3223736"/>
                <a:ext cx="418704" cy="369332"/>
              </a:xfrm>
              <a:prstGeom prst="rect">
                <a:avLst/>
              </a:prstGeom>
              <a:noFill/>
            </p:spPr>
            <p:txBody>
              <a:bodyPr wrap="none" rtlCol="0">
                <a:spAutoFit/>
              </a:bodyPr>
              <a:lstStyle/>
              <a:p>
                <a:r>
                  <a:rPr lang="en-US" dirty="0">
                    <a:solidFill>
                      <a:srgbClr val="FF33CC"/>
                    </a:solidFill>
                  </a:rPr>
                  <a:t>10</a:t>
                </a:r>
              </a:p>
            </p:txBody>
          </p:sp>
          <p:sp>
            <p:nvSpPr>
              <p:cNvPr id="54" name="TextBox 53">
                <a:extLst>
                  <a:ext uri="{FF2B5EF4-FFF2-40B4-BE49-F238E27FC236}">
                    <a16:creationId xmlns:a16="http://schemas.microsoft.com/office/drawing/2014/main" id="{E19A5E20-A9BA-2C6A-A149-F0F458A67F9C}"/>
                  </a:ext>
                </a:extLst>
              </p:cNvPr>
              <p:cNvSpPr txBox="1"/>
              <p:nvPr/>
            </p:nvSpPr>
            <p:spPr>
              <a:xfrm>
                <a:off x="4077688" y="3223736"/>
                <a:ext cx="418704" cy="369332"/>
              </a:xfrm>
              <a:prstGeom prst="rect">
                <a:avLst/>
              </a:prstGeom>
              <a:noFill/>
            </p:spPr>
            <p:txBody>
              <a:bodyPr wrap="none" rtlCol="0">
                <a:spAutoFit/>
              </a:bodyPr>
              <a:lstStyle/>
              <a:p>
                <a:r>
                  <a:rPr lang="en-US" dirty="0">
                    <a:solidFill>
                      <a:srgbClr val="FF33CC"/>
                    </a:solidFill>
                  </a:rPr>
                  <a:t>11</a:t>
                </a:r>
              </a:p>
            </p:txBody>
          </p:sp>
          <p:sp>
            <p:nvSpPr>
              <p:cNvPr id="55" name="TextBox 54">
                <a:extLst>
                  <a:ext uri="{FF2B5EF4-FFF2-40B4-BE49-F238E27FC236}">
                    <a16:creationId xmlns:a16="http://schemas.microsoft.com/office/drawing/2014/main" id="{B419C7F8-2A62-E3D0-DAE0-473ABBD1B157}"/>
                  </a:ext>
                </a:extLst>
              </p:cNvPr>
              <p:cNvSpPr txBox="1"/>
              <p:nvPr/>
            </p:nvSpPr>
            <p:spPr>
              <a:xfrm>
                <a:off x="4611088" y="3223158"/>
                <a:ext cx="418704" cy="369332"/>
              </a:xfrm>
              <a:prstGeom prst="rect">
                <a:avLst/>
              </a:prstGeom>
              <a:noFill/>
            </p:spPr>
            <p:txBody>
              <a:bodyPr wrap="none" rtlCol="0">
                <a:spAutoFit/>
              </a:bodyPr>
              <a:lstStyle/>
              <a:p>
                <a:r>
                  <a:rPr lang="en-US" dirty="0">
                    <a:solidFill>
                      <a:srgbClr val="FF33CC"/>
                    </a:solidFill>
                  </a:rPr>
                  <a:t>12</a:t>
                </a:r>
              </a:p>
            </p:txBody>
          </p:sp>
          <p:sp>
            <p:nvSpPr>
              <p:cNvPr id="56" name="TextBox 55">
                <a:extLst>
                  <a:ext uri="{FF2B5EF4-FFF2-40B4-BE49-F238E27FC236}">
                    <a16:creationId xmlns:a16="http://schemas.microsoft.com/office/drawing/2014/main" id="{B3815E93-ACC1-5FFF-BD91-42D18964DD18}"/>
                  </a:ext>
                </a:extLst>
              </p:cNvPr>
              <p:cNvSpPr txBox="1"/>
              <p:nvPr/>
            </p:nvSpPr>
            <p:spPr>
              <a:xfrm>
                <a:off x="5110332" y="3223158"/>
                <a:ext cx="418704" cy="369332"/>
              </a:xfrm>
              <a:prstGeom prst="rect">
                <a:avLst/>
              </a:prstGeom>
              <a:noFill/>
            </p:spPr>
            <p:txBody>
              <a:bodyPr wrap="none" rtlCol="0">
                <a:spAutoFit/>
              </a:bodyPr>
              <a:lstStyle/>
              <a:p>
                <a:r>
                  <a:rPr lang="en-US" dirty="0">
                    <a:solidFill>
                      <a:srgbClr val="FF33CC"/>
                    </a:solidFill>
                  </a:rPr>
                  <a:t>13</a:t>
                </a:r>
              </a:p>
            </p:txBody>
          </p:sp>
          <p:sp>
            <p:nvSpPr>
              <p:cNvPr id="57" name="TextBox 56">
                <a:extLst>
                  <a:ext uri="{FF2B5EF4-FFF2-40B4-BE49-F238E27FC236}">
                    <a16:creationId xmlns:a16="http://schemas.microsoft.com/office/drawing/2014/main" id="{4B69515A-5AB2-AE1D-CB3B-DA3BB84E0EBD}"/>
                  </a:ext>
                </a:extLst>
              </p:cNvPr>
              <p:cNvSpPr txBox="1"/>
              <p:nvPr/>
            </p:nvSpPr>
            <p:spPr>
              <a:xfrm>
                <a:off x="5702083" y="3223736"/>
                <a:ext cx="418704" cy="369332"/>
              </a:xfrm>
              <a:prstGeom prst="rect">
                <a:avLst/>
              </a:prstGeom>
              <a:noFill/>
            </p:spPr>
            <p:txBody>
              <a:bodyPr wrap="none" rtlCol="0">
                <a:spAutoFit/>
              </a:bodyPr>
              <a:lstStyle/>
              <a:p>
                <a:r>
                  <a:rPr lang="en-US" dirty="0">
                    <a:solidFill>
                      <a:srgbClr val="FF33CC"/>
                    </a:solidFill>
                  </a:rPr>
                  <a:t>14</a:t>
                </a:r>
              </a:p>
            </p:txBody>
          </p:sp>
          <p:sp>
            <p:nvSpPr>
              <p:cNvPr id="58" name="TextBox 57">
                <a:extLst>
                  <a:ext uri="{FF2B5EF4-FFF2-40B4-BE49-F238E27FC236}">
                    <a16:creationId xmlns:a16="http://schemas.microsoft.com/office/drawing/2014/main" id="{A1D7BE6C-86B0-F51C-9E53-5ED83D0CFDAD}"/>
                  </a:ext>
                </a:extLst>
              </p:cNvPr>
              <p:cNvSpPr txBox="1"/>
              <p:nvPr/>
            </p:nvSpPr>
            <p:spPr>
              <a:xfrm>
                <a:off x="6235483" y="3223158"/>
                <a:ext cx="418704" cy="369332"/>
              </a:xfrm>
              <a:prstGeom prst="rect">
                <a:avLst/>
              </a:prstGeom>
              <a:noFill/>
            </p:spPr>
            <p:txBody>
              <a:bodyPr wrap="none" rtlCol="0">
                <a:spAutoFit/>
              </a:bodyPr>
              <a:lstStyle/>
              <a:p>
                <a:r>
                  <a:rPr lang="en-US" dirty="0">
                    <a:solidFill>
                      <a:srgbClr val="FF33CC"/>
                    </a:solidFill>
                  </a:rPr>
                  <a:t>15</a:t>
                </a:r>
              </a:p>
            </p:txBody>
          </p:sp>
        </p:grpSp>
      </p:grpSp>
    </p:spTree>
    <p:extLst>
      <p:ext uri="{BB962C8B-B14F-4D97-AF65-F5344CB8AC3E}">
        <p14:creationId xmlns:p14="http://schemas.microsoft.com/office/powerpoint/2010/main" val="1640514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6691A-165A-A4B2-5211-40C5459F61AF}"/>
              </a:ext>
            </a:extLst>
          </p:cNvPr>
          <p:cNvSpPr>
            <a:spLocks noGrp="1"/>
          </p:cNvSpPr>
          <p:nvPr>
            <p:ph type="title"/>
          </p:nvPr>
        </p:nvSpPr>
        <p:spPr/>
        <p:txBody>
          <a:bodyPr/>
          <a:lstStyle/>
          <a:p>
            <a:r>
              <a:rPr lang="en-US" dirty="0" err="1"/>
              <a:t>RadixSort</a:t>
            </a:r>
            <a:r>
              <a:rPr lang="en-US" dirty="0"/>
              <a:t> Running Time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9708F3-E299-035E-25B6-51CE18AF3A43}"/>
                  </a:ext>
                </a:extLst>
              </p:cNvPr>
              <p:cNvSpPr>
                <a:spLocks noGrp="1"/>
              </p:cNvSpPr>
              <p:nvPr>
                <p:ph idx="1"/>
              </p:nvPr>
            </p:nvSpPr>
            <p:spPr/>
            <p:txBody>
              <a:bodyPr>
                <a:normAutofit fontScale="92500" lnSpcReduction="10000"/>
              </a:bodyPr>
              <a:lstStyle/>
              <a:p>
                <a:r>
                  <a:rPr lang="en-US" dirty="0"/>
                  <a:t>Suppose largest value is </a:t>
                </a:r>
                <a14:m>
                  <m:oMath xmlns:m="http://schemas.openxmlformats.org/officeDocument/2006/math">
                    <m:r>
                      <a:rPr lang="en-US" b="0" i="1" smtClean="0">
                        <a:latin typeface="Cambria Math" panose="02040503050406030204" pitchFamily="18" charset="0"/>
                      </a:rPr>
                      <m:t>𝑚</m:t>
                    </m:r>
                  </m:oMath>
                </a14:m>
                <a:endParaRPr lang="en-US" dirty="0"/>
              </a:p>
              <a:p>
                <a:r>
                  <a:rPr lang="en-US" dirty="0"/>
                  <a:t>Choose a radix (base of representation) </a:t>
                </a:r>
                <a14:m>
                  <m:oMath xmlns:m="http://schemas.openxmlformats.org/officeDocument/2006/math">
                    <m:r>
                      <a:rPr lang="en-US" b="0" i="1" smtClean="0">
                        <a:latin typeface="Cambria Math" panose="02040503050406030204" pitchFamily="18" charset="0"/>
                      </a:rPr>
                      <m:t>𝑏</m:t>
                    </m:r>
                  </m:oMath>
                </a14:m>
                <a:endParaRPr lang="en-US" dirty="0"/>
              </a:p>
              <a:p>
                <a:r>
                  <a:rPr lang="en-US" dirty="0" err="1"/>
                  <a:t>BucketSort</a:t>
                </a:r>
                <a:r>
                  <a:rPr lang="en-US" dirty="0"/>
                  <a:t> all </a:t>
                </a:r>
                <a14:m>
                  <m:oMath xmlns:m="http://schemas.openxmlformats.org/officeDocument/2006/math">
                    <m:r>
                      <a:rPr lang="en-US" b="0" i="1" smtClean="0">
                        <a:latin typeface="Cambria Math" panose="02040503050406030204" pitchFamily="18" charset="0"/>
                      </a:rPr>
                      <m:t>𝑛</m:t>
                    </m:r>
                  </m:oMath>
                </a14:m>
                <a:r>
                  <a:rPr lang="en-US" dirty="0"/>
                  <a:t> things using </a:t>
                </a:r>
                <a14:m>
                  <m:oMath xmlns:m="http://schemas.openxmlformats.org/officeDocument/2006/math">
                    <m:r>
                      <a:rPr lang="en-US" b="0" i="1" smtClean="0">
                        <a:latin typeface="Cambria Math" panose="02040503050406030204" pitchFamily="18" charset="0"/>
                      </a:rPr>
                      <m:t>𝑏</m:t>
                    </m:r>
                  </m:oMath>
                </a14:m>
                <a:r>
                  <a:rPr lang="en-US" dirty="0"/>
                  <a:t> buckets</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r>
                      <a:rPr lang="en-US" b="0" i="1" smtClean="0">
                        <a:latin typeface="Cambria Math" panose="02040503050406030204" pitchFamily="18" charset="0"/>
                      </a:rPr>
                      <m:t>𝑘</m:t>
                    </m:r>
                    <m:r>
                      <a:rPr lang="en-US" b="0" i="1" smtClean="0">
                        <a:latin typeface="Cambria Math" panose="02040503050406030204" pitchFamily="18" charset="0"/>
                      </a:rPr>
                      <m:t>)</m:t>
                    </m:r>
                  </m:oMath>
                </a14:m>
                <a:endParaRPr lang="en-US" dirty="0"/>
              </a:p>
              <a:p>
                <a:r>
                  <a:rPr lang="en-US" dirty="0"/>
                  <a:t>Repeat once per each digit</a:t>
                </a:r>
              </a:p>
              <a:p>
                <a:pPr lvl="1"/>
                <a14:m>
                  <m:oMath xmlns:m="http://schemas.openxmlformats.org/officeDocument/2006/math">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𝑏</m:t>
                            </m:r>
                          </m:sub>
                        </m:sSub>
                      </m:fName>
                      <m:e>
                        <m:r>
                          <a:rPr lang="en-US" b="0" i="1" smtClean="0">
                            <a:latin typeface="Cambria Math" panose="02040503050406030204" pitchFamily="18" charset="0"/>
                          </a:rPr>
                          <m:t>𝑚</m:t>
                        </m:r>
                      </m:e>
                    </m:func>
                  </m:oMath>
                </a14:m>
                <a:r>
                  <a:rPr lang="en-US" dirty="0"/>
                  <a:t> iterations</a:t>
                </a:r>
              </a:p>
              <a:p>
                <a:r>
                  <a:rPr lang="en-US" dirty="0"/>
                  <a:t>Overall:</a:t>
                </a:r>
              </a:p>
              <a:p>
                <a:pPr lvl="1"/>
                <a14:m>
                  <m:oMath xmlns:m="http://schemas.openxmlformats.org/officeDocument/2006/math">
                    <m:r>
                      <m:rPr>
                        <m:sty m:val="p"/>
                      </m:rPr>
                      <a:rPr lang="en-US" b="0" i="0" smtClean="0">
                        <a:latin typeface="Cambria Math" panose="02040503050406030204" pitchFamily="18" charset="0"/>
                      </a:rPr>
                      <m:t>Θ</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𝑏</m:t>
                                </m:r>
                              </m:sub>
                            </m:sSub>
                          </m:fName>
                          <m:e>
                            <m:r>
                              <a:rPr lang="en-US" b="0" i="1" smtClean="0">
                                <a:latin typeface="Cambria Math" panose="02040503050406030204" pitchFamily="18" charset="0"/>
                              </a:rPr>
                              <m:t>𝑚</m:t>
                            </m:r>
                          </m:e>
                        </m:func>
                        <m:r>
                          <a:rPr lang="en-US" b="0" i="1" smtClean="0">
                            <a:latin typeface="Cambria Math" panose="02040503050406030204" pitchFamily="18" charset="0"/>
                          </a:rPr>
                          <m:t>+</m:t>
                        </m:r>
                        <m:r>
                          <a:rPr lang="en-US" b="0" i="1" smtClean="0">
                            <a:latin typeface="Cambria Math" panose="02040503050406030204" pitchFamily="18" charset="0"/>
                          </a:rPr>
                          <m:t>𝑏</m:t>
                        </m:r>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𝑏</m:t>
                                </m:r>
                              </m:sub>
                            </m:sSub>
                          </m:fName>
                          <m:e>
                            <m:r>
                              <a:rPr lang="en-US" b="0" i="1" smtClean="0">
                                <a:latin typeface="Cambria Math" panose="02040503050406030204" pitchFamily="18" charset="0"/>
                              </a:rPr>
                              <m:t>𝑚</m:t>
                            </m:r>
                          </m:e>
                        </m:func>
                      </m:e>
                    </m:d>
                  </m:oMath>
                </a14:m>
                <a:endParaRPr lang="en-US" dirty="0"/>
              </a:p>
              <a:p>
                <a:r>
                  <a:rPr lang="en-US" dirty="0"/>
                  <a:t>In practice, you can select the value of </a:t>
                </a:r>
                <a14:m>
                  <m:oMath xmlns:m="http://schemas.openxmlformats.org/officeDocument/2006/math">
                    <m:r>
                      <a:rPr lang="en-US" b="0" i="1" smtClean="0">
                        <a:latin typeface="Cambria Math" panose="02040503050406030204" pitchFamily="18" charset="0"/>
                      </a:rPr>
                      <m:t>𝑏</m:t>
                    </m:r>
                  </m:oMath>
                </a14:m>
                <a:r>
                  <a:rPr lang="en-US" dirty="0"/>
                  <a:t> to optimize running time</a:t>
                </a:r>
              </a:p>
              <a:p>
                <a:r>
                  <a:rPr lang="en-US" dirty="0"/>
                  <a:t>When is this better than </a:t>
                </a:r>
                <a:r>
                  <a:rPr lang="en-US" dirty="0" err="1"/>
                  <a:t>mergesort</a:t>
                </a:r>
                <a:r>
                  <a:rPr lang="en-US" dirty="0"/>
                  <a:t>?</a:t>
                </a:r>
              </a:p>
              <a:p>
                <a:pPr lvl="1"/>
                <a:endParaRPr lang="en-US" dirty="0"/>
              </a:p>
              <a:p>
                <a:pPr marL="0" indent="0">
                  <a:buNone/>
                </a:pPr>
                <a:endParaRPr lang="en-US" dirty="0"/>
              </a:p>
            </p:txBody>
          </p:sp>
        </mc:Choice>
        <mc:Fallback xmlns="">
          <p:sp>
            <p:nvSpPr>
              <p:cNvPr id="3" name="Content Placeholder 2">
                <a:extLst>
                  <a:ext uri="{FF2B5EF4-FFF2-40B4-BE49-F238E27FC236}">
                    <a16:creationId xmlns:a16="http://schemas.microsoft.com/office/drawing/2014/main" id="{849708F3-E299-035E-25B6-51CE18AF3A43}"/>
                  </a:ext>
                </a:extLst>
              </p:cNvPr>
              <p:cNvSpPr>
                <a:spLocks noGrp="1" noRot="1" noChangeAspect="1" noMove="1" noResize="1" noEditPoints="1" noAdjustHandles="1" noChangeArrowheads="1" noChangeShapeType="1" noTextEdit="1"/>
              </p:cNvSpPr>
              <p:nvPr>
                <p:ph idx="1"/>
              </p:nvPr>
            </p:nvSpPr>
            <p:spPr>
              <a:blipFill>
                <a:blip r:embed="rId2"/>
                <a:stretch>
                  <a:fillRect l="-928" t="-2801"/>
                </a:stretch>
              </a:blipFill>
            </p:spPr>
            <p:txBody>
              <a:bodyPr/>
              <a:lstStyle/>
              <a:p>
                <a:r>
                  <a:rPr lang="en-US">
                    <a:noFill/>
                  </a:rPr>
                  <a:t> </a:t>
                </a:r>
              </a:p>
            </p:txBody>
          </p:sp>
        </mc:Fallback>
      </mc:AlternateContent>
    </p:spTree>
    <p:extLst>
      <p:ext uri="{BB962C8B-B14F-4D97-AF65-F5344CB8AC3E}">
        <p14:creationId xmlns:p14="http://schemas.microsoft.com/office/powerpoint/2010/main" val="41169761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40128</TotalTime>
  <Words>2725</Words>
  <Application>Microsoft Office PowerPoint</Application>
  <PresentationFormat>Widescreen</PresentationFormat>
  <Paragraphs>901</Paragraphs>
  <Slides>36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36</vt:i4>
      </vt:variant>
    </vt:vector>
  </HeadingPairs>
  <TitlesOfParts>
    <vt:vector size="43" baseType="lpstr">
      <vt:lpstr>Cambria Math</vt:lpstr>
      <vt:lpstr>Arial</vt:lpstr>
      <vt:lpstr>Aptos</vt:lpstr>
      <vt:lpstr>Symbol</vt:lpstr>
      <vt:lpstr>Calibri Light</vt:lpstr>
      <vt:lpstr>Calibri</vt:lpstr>
      <vt:lpstr>Office Theme</vt:lpstr>
      <vt:lpstr>CSE 332 Spring 2026 Lecture 14: Sorting 3</vt:lpstr>
      <vt:lpstr>Properties To Consider</vt:lpstr>
      <vt:lpstr>Divide And Conquer Sorting</vt:lpstr>
      <vt:lpstr>Divide and Conquer</vt:lpstr>
      <vt:lpstr>Divide and Conquer Template Pseudocode</vt:lpstr>
      <vt:lpstr>Merge Sort</vt:lpstr>
      <vt:lpstr>Merge Sort In Action!</vt:lpstr>
      <vt:lpstr>Merge (the combine part)</vt:lpstr>
      <vt:lpstr>Merge Sort Pseudocode</vt:lpstr>
      <vt:lpstr>Merge Pseudocode</vt:lpstr>
      <vt:lpstr>Analyzing Merge Sort</vt:lpstr>
      <vt:lpstr>Tree Method T(n)=2T(n/2)+n</vt:lpstr>
      <vt:lpstr>Merge Sort Properties</vt:lpstr>
      <vt:lpstr>Quicksort Vs. Mergesort</vt:lpstr>
      <vt:lpstr>Quicksort Overview</vt:lpstr>
      <vt:lpstr>Partition (Divide step)</vt:lpstr>
      <vt:lpstr>Partition Procedure (Slide 1 of 2) </vt:lpstr>
      <vt:lpstr>Partition Procedure (Slide 2 of 2) </vt:lpstr>
      <vt:lpstr>Partition – Begin Meets End (Case 1)</vt:lpstr>
      <vt:lpstr>Partition – Begin Meets End (Case 2)</vt:lpstr>
      <vt:lpstr>Partition Summary</vt:lpstr>
      <vt:lpstr>Conquer</vt:lpstr>
      <vt:lpstr>Quicksort Run Time (Best)</vt:lpstr>
      <vt:lpstr>Quicksort Run Time (Worst)</vt:lpstr>
      <vt:lpstr>Quicksort Worst Case Tree Method</vt:lpstr>
      <vt:lpstr>Good Pivot</vt:lpstr>
      <vt:lpstr>Quick Sort Properties</vt:lpstr>
      <vt:lpstr>“Linear Time” Sorting Algorithms</vt:lpstr>
      <vt:lpstr>BucketSort</vt:lpstr>
      <vt:lpstr>BucketSort Running Time</vt:lpstr>
      <vt:lpstr>Properties of BucketSort</vt:lpstr>
      <vt:lpstr>RadixSort</vt:lpstr>
      <vt:lpstr>RadixSort – Re-Bucket by 10s</vt:lpstr>
      <vt:lpstr>RadixSort – Re-Bucket by 100s</vt:lpstr>
      <vt:lpstr>RadixSort – Empty Buckets into Output Array</vt:lpstr>
      <vt:lpstr>RadixSort Running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1: Intro to ADTs, Stacks, Queues</dc:title>
  <dc:creator>Nathan Brunelle</dc:creator>
  <cp:lastModifiedBy>Nathan Brunelle</cp:lastModifiedBy>
  <cp:revision>165</cp:revision>
  <dcterms:created xsi:type="dcterms:W3CDTF">2023-09-26T20:08:20Z</dcterms:created>
  <dcterms:modified xsi:type="dcterms:W3CDTF">2026-05-01T19:03:08Z</dcterms:modified>
</cp:coreProperties>
</file>