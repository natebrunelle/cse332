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76" r:id="rId11"/>
    <p:sldId id="265" r:id="rId12"/>
    <p:sldId id="266" r:id="rId13"/>
    <p:sldId id="267" r:id="rId14"/>
    <p:sldId id="268" r:id="rId15"/>
    <p:sldId id="279" r:id="rId16"/>
    <p:sldId id="417" r:id="rId17"/>
    <p:sldId id="418" r:id="rId18"/>
    <p:sldId id="419" r:id="rId19"/>
    <p:sldId id="420" r:id="rId20"/>
    <p:sldId id="421" r:id="rId21"/>
    <p:sldId id="42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cs.uw.edu/332/staff.html#ta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1: Intro to ADTs, Stacks,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8AA9-C94F-8609-A901-4BC22630C6F3}"/>
              </a:ext>
              <a:ext uri="{C183D7F6-B498-43B3-948B-1728B52AA6E4}">
                <adec:decorative xmlns:adec="http://schemas.microsoft.com/office/drawing/2017/decorative" val="0"/>
              </a:ext>
            </a:extLst>
          </p:cNvPr>
          <p:cNvSpPr>
            <a:spLocks noGrp="1"/>
          </p:cNvSpPr>
          <p:nvPr>
            <p:ph type="title"/>
          </p:nvPr>
        </p:nvSpPr>
        <p:spPr/>
        <p:txBody>
          <a:bodyPr/>
          <a:lstStyle/>
          <a:p>
            <a:r>
              <a:rPr lang="en-US" dirty="0"/>
              <a:t>Nathan Brunelle</a:t>
            </a:r>
          </a:p>
        </p:txBody>
      </p:sp>
      <p:sp>
        <p:nvSpPr>
          <p:cNvPr id="3" name="Content Placeholder 2">
            <a:extLst>
              <a:ext uri="{FF2B5EF4-FFF2-40B4-BE49-F238E27FC236}">
                <a16:creationId xmlns:a16="http://schemas.microsoft.com/office/drawing/2014/main" id="{7350BEA8-5AF6-9440-1E6A-D3FEC51EB460}"/>
              </a:ext>
              <a:ext uri="{C183D7F6-B498-43B3-948B-1728B52AA6E4}">
                <adec:decorative xmlns:adec="http://schemas.microsoft.com/office/drawing/2017/decorative" val="0"/>
              </a:ext>
            </a:extLst>
          </p:cNvPr>
          <p:cNvSpPr>
            <a:spLocks noGrp="1"/>
          </p:cNvSpPr>
          <p:nvPr>
            <p:ph idx="1"/>
          </p:nvPr>
        </p:nvSpPr>
        <p:spPr>
          <a:xfrm>
            <a:off x="136451" y="1793727"/>
            <a:ext cx="10515600" cy="4699148"/>
          </a:xfrm>
        </p:spPr>
        <p:txBody>
          <a:bodyPr>
            <a:normAutofit fontScale="92500" lnSpcReduction="20000"/>
          </a:bodyPr>
          <a:lstStyle/>
          <a:p>
            <a:r>
              <a:rPr lang="en-US" dirty="0"/>
              <a:t>Born: Virginia Beach, VA</a:t>
            </a:r>
          </a:p>
          <a:p>
            <a:r>
              <a:rPr lang="en-US" dirty="0" err="1"/>
              <a:t>Ugrad</a:t>
            </a:r>
            <a:r>
              <a:rPr lang="en-US" dirty="0"/>
              <a:t>: Math and CS at University of Virginia</a:t>
            </a:r>
          </a:p>
          <a:p>
            <a:r>
              <a:rPr lang="en-US" dirty="0"/>
              <a:t>Grad: CS at University of Virginia</a:t>
            </a:r>
          </a:p>
          <a:p>
            <a:r>
              <a:rPr lang="en-US" dirty="0"/>
              <a:t>Taught at UVA for 6 years</a:t>
            </a:r>
          </a:p>
          <a:p>
            <a:pPr lvl="1"/>
            <a:r>
              <a:rPr lang="en-US" dirty="0"/>
              <a:t>Intro to programming (e.g. 121)</a:t>
            </a:r>
          </a:p>
          <a:p>
            <a:pPr lvl="1"/>
            <a:r>
              <a:rPr lang="en-US" dirty="0"/>
              <a:t>Discrete Math (e.g. 311)</a:t>
            </a:r>
          </a:p>
          <a:p>
            <a:pPr lvl="1"/>
            <a:r>
              <a:rPr lang="en-US" dirty="0"/>
              <a:t>Algorithms (e.g. 421)</a:t>
            </a:r>
          </a:p>
          <a:p>
            <a:pPr lvl="1"/>
            <a:r>
              <a:rPr lang="en-US" dirty="0"/>
              <a:t>Theory of Computation (e.g. 431)</a:t>
            </a:r>
          </a:p>
          <a:p>
            <a:r>
              <a:rPr lang="en-US" dirty="0"/>
              <a:t>Year 3 at UW</a:t>
            </a:r>
          </a:p>
          <a:p>
            <a:pPr lvl="1"/>
            <a:r>
              <a:rPr lang="en-US" dirty="0"/>
              <a:t>CSE123</a:t>
            </a:r>
          </a:p>
          <a:p>
            <a:pPr lvl="1"/>
            <a:r>
              <a:rPr lang="en-US" dirty="0"/>
              <a:t>CSE332</a:t>
            </a:r>
          </a:p>
          <a:p>
            <a:pPr lvl="1"/>
            <a:r>
              <a:rPr lang="en-US" dirty="0"/>
              <a:t>CSE373</a:t>
            </a:r>
          </a:p>
          <a:p>
            <a:pPr lvl="1"/>
            <a:r>
              <a:rPr lang="en-US" dirty="0"/>
              <a:t>CSE417</a:t>
            </a:r>
          </a:p>
          <a:p>
            <a:pPr lvl="1"/>
            <a:r>
              <a:rPr lang="en-US" dirty="0"/>
              <a:t>CSE421</a:t>
            </a:r>
          </a:p>
          <a:p>
            <a:pPr lvl="1"/>
            <a:endParaRPr lang="en-US" dirty="0"/>
          </a:p>
        </p:txBody>
      </p:sp>
      <p:pic>
        <p:nvPicPr>
          <p:cNvPr id="1026" name="Picture 2" descr="A Question of Priorities at the University of Virginia">
            <a:extLst>
              <a:ext uri="{FF2B5EF4-FFF2-40B4-BE49-F238E27FC236}">
                <a16:creationId xmlns:a16="http://schemas.microsoft.com/office/drawing/2014/main" id="{0C99FA16-DA2F-005C-192A-81ED6A61B780}"/>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6317" y="95693"/>
            <a:ext cx="3531765" cy="23618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roll of cookie dough with a green heart">
            <a:extLst>
              <a:ext uri="{FF2B5EF4-FFF2-40B4-BE49-F238E27FC236}">
                <a16:creationId xmlns:a16="http://schemas.microsoft.com/office/drawing/2014/main" id="{484E48A8-C976-1543-2D65-88912CA42409}"/>
              </a:ext>
            </a:extLst>
          </p:cNvPr>
          <p:cNvPicPr>
            <a:picLocks noChangeAspect="1"/>
          </p:cNvPicPr>
          <p:nvPr/>
        </p:nvPicPr>
        <p:blipFill rotWithShape="1">
          <a:blip r:embed="rId3">
            <a:extLst>
              <a:ext uri="{28A0092B-C50C-407E-A947-70E740481C1C}">
                <a14:useLocalDpi xmlns:a14="http://schemas.microsoft.com/office/drawing/2010/main" val="0"/>
              </a:ext>
            </a:extLst>
          </a:blip>
          <a:srcRect l="11008" t="9884" r="16628" b="26667"/>
          <a:stretch/>
        </p:blipFill>
        <p:spPr>
          <a:xfrm>
            <a:off x="4973432" y="95693"/>
            <a:ext cx="3121489" cy="2052692"/>
          </a:xfrm>
          <a:prstGeom prst="rect">
            <a:avLst/>
          </a:prstGeom>
        </p:spPr>
      </p:pic>
      <p:pic>
        <p:nvPicPr>
          <p:cNvPr id="8" name="Picture 7">
            <a:extLst>
              <a:ext uri="{FF2B5EF4-FFF2-40B4-BE49-F238E27FC236}">
                <a16:creationId xmlns:a16="http://schemas.microsoft.com/office/drawing/2014/main" id="{65A92173-4B00-F11C-CF7C-FA7D7A9E99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4919" y="2718520"/>
            <a:ext cx="4917131" cy="3693431"/>
          </a:xfrm>
          <a:prstGeom prst="rect">
            <a:avLst/>
          </a:prstGeom>
        </p:spPr>
      </p:pic>
    </p:spTree>
    <p:extLst>
      <p:ext uri="{BB962C8B-B14F-4D97-AF65-F5344CB8AC3E}">
        <p14:creationId xmlns:p14="http://schemas.microsoft.com/office/powerpoint/2010/main" val="317020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403F-6049-28C1-8A06-B4838DCE0617}"/>
              </a:ext>
            </a:extLst>
          </p:cNvPr>
          <p:cNvSpPr>
            <a:spLocks noGrp="1"/>
          </p:cNvSpPr>
          <p:nvPr>
            <p:ph type="title"/>
          </p:nvPr>
        </p:nvSpPr>
        <p:spPr/>
        <p:txBody>
          <a:bodyPr/>
          <a:lstStyle/>
          <a:p>
            <a:r>
              <a:rPr lang="en-US" dirty="0"/>
              <a:t>About this course</a:t>
            </a:r>
          </a:p>
        </p:txBody>
      </p:sp>
      <p:sp>
        <p:nvSpPr>
          <p:cNvPr id="3" name="Content Placeholder 2">
            <a:extLst>
              <a:ext uri="{FF2B5EF4-FFF2-40B4-BE49-F238E27FC236}">
                <a16:creationId xmlns:a16="http://schemas.microsoft.com/office/drawing/2014/main" id="{CEE5280D-4DB2-A501-42A7-CD23BCB759DA}"/>
              </a:ext>
            </a:extLst>
          </p:cNvPr>
          <p:cNvSpPr>
            <a:spLocks noGrp="1"/>
          </p:cNvSpPr>
          <p:nvPr>
            <p:ph idx="1"/>
          </p:nvPr>
        </p:nvSpPr>
        <p:spPr/>
        <p:txBody>
          <a:bodyPr>
            <a:normAutofit/>
          </a:bodyPr>
          <a:lstStyle/>
          <a:p>
            <a:pPr>
              <a:buFontTx/>
              <a:buNone/>
              <a:defRPr/>
            </a:pPr>
            <a:r>
              <a:rPr lang="en-US" dirty="0"/>
              <a:t>Topics covered:</a:t>
            </a:r>
          </a:p>
          <a:p>
            <a:pPr>
              <a:defRPr/>
            </a:pPr>
            <a:r>
              <a:rPr lang="en-US" sz="2800" dirty="0"/>
              <a:t>Data Structures</a:t>
            </a:r>
          </a:p>
          <a:p>
            <a:pPr lvl="1">
              <a:defRPr/>
            </a:pPr>
            <a:r>
              <a:rPr lang="en-US" dirty="0"/>
              <a:t>Specific “classic” data structures</a:t>
            </a:r>
          </a:p>
          <a:p>
            <a:pPr>
              <a:defRPr/>
            </a:pPr>
            <a:r>
              <a:rPr lang="en-US" dirty="0"/>
              <a:t>Introduction to Algorithms and Analysis</a:t>
            </a:r>
          </a:p>
          <a:p>
            <a:pPr>
              <a:defRPr/>
            </a:pPr>
            <a:r>
              <a:rPr lang="en-US" dirty="0"/>
              <a:t>Parallelism and Concurrency</a:t>
            </a:r>
          </a:p>
          <a:p>
            <a:pPr lvl="1">
              <a:defRPr/>
            </a:pPr>
            <a:r>
              <a:rPr lang="en-US" dirty="0"/>
              <a:t>Parallelism: Use multiple processors to finish sooner</a:t>
            </a:r>
          </a:p>
          <a:p>
            <a:pPr lvl="1">
              <a:defRPr/>
            </a:pPr>
            <a:r>
              <a:rPr lang="en-US" dirty="0"/>
              <a:t>Concurrency: Correct access to shared resources</a:t>
            </a:r>
          </a:p>
        </p:txBody>
      </p:sp>
    </p:spTree>
    <p:extLst>
      <p:ext uri="{BB962C8B-B14F-4D97-AF65-F5344CB8AC3E}">
        <p14:creationId xmlns:p14="http://schemas.microsoft.com/office/powerpoint/2010/main" val="131713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DE7-6AEA-5FDE-3FBC-0AC6FBD67E22}"/>
              </a:ext>
            </a:extLst>
          </p:cNvPr>
          <p:cNvSpPr>
            <a:spLocks noGrp="1"/>
          </p:cNvSpPr>
          <p:nvPr>
            <p:ph type="title"/>
          </p:nvPr>
        </p:nvSpPr>
        <p:spPr/>
        <p:txBody>
          <a:bodyPr/>
          <a:lstStyle/>
          <a:p>
            <a:r>
              <a:rPr lang="en-US" dirty="0"/>
              <a:t>Warm Up!</a:t>
            </a:r>
          </a:p>
        </p:txBody>
      </p:sp>
      <p:sp>
        <p:nvSpPr>
          <p:cNvPr id="3" name="Content Placeholder 2">
            <a:extLst>
              <a:ext uri="{FF2B5EF4-FFF2-40B4-BE49-F238E27FC236}">
                <a16:creationId xmlns:a16="http://schemas.microsoft.com/office/drawing/2014/main" id="{1BDBAF03-1581-155C-B0F0-D99DE6F33E9F}"/>
              </a:ext>
            </a:extLst>
          </p:cNvPr>
          <p:cNvSpPr>
            <a:spLocks noGrp="1"/>
          </p:cNvSpPr>
          <p:nvPr>
            <p:ph idx="1"/>
          </p:nvPr>
        </p:nvSpPr>
        <p:spPr>
          <a:xfrm>
            <a:off x="508000" y="1825625"/>
            <a:ext cx="11409680" cy="4351338"/>
          </a:xfrm>
        </p:spPr>
        <p:txBody>
          <a:bodyPr>
            <a:normAutofit fontScale="92500" lnSpcReduction="20000"/>
          </a:bodyPr>
          <a:lstStyle/>
          <a:p>
            <a:pPr marL="0" indent="0">
              <a:buNone/>
            </a:pPr>
            <a:r>
              <a:rPr lang="en-US" dirty="0"/>
              <a:t>Put up one hand (you can switch if it gets tired)!</a:t>
            </a:r>
          </a:p>
          <a:p>
            <a:pPr marL="0" indent="0">
              <a:buNone/>
            </a:pPr>
            <a:r>
              <a:rPr lang="en-US" dirty="0"/>
              <a:t>Set your counter to 1</a:t>
            </a:r>
          </a:p>
          <a:p>
            <a:pPr marL="0" indent="0">
              <a:buNone/>
            </a:pPr>
            <a:r>
              <a:rPr lang="en-US" dirty="0"/>
              <a:t>While (you and at least one other person have a hand up){</a:t>
            </a:r>
          </a:p>
          <a:p>
            <a:pPr marL="0" indent="0">
              <a:buNone/>
            </a:pPr>
            <a:r>
              <a:rPr lang="en-US" dirty="0"/>
              <a:t>    Make a partnership with someone whose hand is still raised</a:t>
            </a:r>
          </a:p>
          <a:p>
            <a:pPr marL="0" indent="0">
              <a:buNone/>
            </a:pPr>
            <a:r>
              <a:rPr lang="en-US" dirty="0"/>
              <a:t>    Share your name with your partner</a:t>
            </a:r>
          </a:p>
          <a:p>
            <a:pPr marL="0" indent="0">
              <a:buNone/>
            </a:pPr>
            <a:r>
              <a:rPr lang="en-US" dirty="0"/>
              <a:t>    Add together your counter and your partner’s counter</a:t>
            </a:r>
          </a:p>
          <a:p>
            <a:pPr marL="0" indent="0">
              <a:buNone/>
            </a:pPr>
            <a:r>
              <a:rPr lang="en-US" dirty="0"/>
              <a:t>    Identify which of you woke up earliest this morning</a:t>
            </a:r>
          </a:p>
          <a:p>
            <a:pPr marL="0" indent="0">
              <a:buNone/>
            </a:pPr>
            <a:r>
              <a:rPr lang="en-US" dirty="0"/>
              <a:t>    Release partnership</a:t>
            </a:r>
          </a:p>
          <a:p>
            <a:pPr marL="0" indent="0">
              <a:buNone/>
            </a:pPr>
            <a:r>
              <a:rPr lang="en-US" dirty="0"/>
              <a:t>    If you woke up later, then put your hand down and return to your seat</a:t>
            </a:r>
          </a:p>
          <a:p>
            <a:pPr marL="0" indent="0">
              <a:buNone/>
            </a:pPr>
            <a:r>
              <a:rPr lang="en-US" dirty="0"/>
              <a:t>}</a:t>
            </a:r>
          </a:p>
        </p:txBody>
      </p:sp>
    </p:spTree>
    <p:extLst>
      <p:ext uri="{BB962C8B-B14F-4D97-AF65-F5344CB8AC3E}">
        <p14:creationId xmlns:p14="http://schemas.microsoft.com/office/powerpoint/2010/main" val="238818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AA73-51CD-5627-74BA-2AC17AD793A7}"/>
              </a:ext>
            </a:extLst>
          </p:cNvPr>
          <p:cNvSpPr>
            <a:spLocks noGrp="1"/>
          </p:cNvSpPr>
          <p:nvPr>
            <p:ph type="title"/>
          </p:nvPr>
        </p:nvSpPr>
        <p:spPr/>
        <p:txBody>
          <a:bodyPr/>
          <a:lstStyle/>
          <a:p>
            <a:r>
              <a:rPr lang="en-US" dirty="0"/>
              <a:t>Course Staff</a:t>
            </a:r>
          </a:p>
        </p:txBody>
      </p:sp>
      <p:sp>
        <p:nvSpPr>
          <p:cNvPr id="3" name="Content Placeholder 2">
            <a:extLst>
              <a:ext uri="{FF2B5EF4-FFF2-40B4-BE49-F238E27FC236}">
                <a16:creationId xmlns:a16="http://schemas.microsoft.com/office/drawing/2014/main" id="{2102DB9F-49FB-0CB6-90E7-CEDA0FC77CCB}"/>
              </a:ext>
            </a:extLst>
          </p:cNvPr>
          <p:cNvSpPr>
            <a:spLocks noGrp="1"/>
          </p:cNvSpPr>
          <p:nvPr>
            <p:ph idx="1"/>
          </p:nvPr>
        </p:nvSpPr>
        <p:spPr>
          <a:xfrm>
            <a:off x="838200" y="1690688"/>
            <a:ext cx="10515600" cy="5045391"/>
          </a:xfrm>
        </p:spPr>
        <p:txBody>
          <a:bodyPr>
            <a:normAutofit/>
          </a:bodyPr>
          <a:lstStyle/>
          <a:p>
            <a:r>
              <a:rPr lang="en-US" dirty="0"/>
              <a:t>Instructor:</a:t>
            </a:r>
          </a:p>
          <a:p>
            <a:pPr lvl="1"/>
            <a:r>
              <a:rPr lang="en-US" dirty="0"/>
              <a:t>Nathan Brunelle</a:t>
            </a:r>
          </a:p>
          <a:p>
            <a:r>
              <a:rPr lang="en-US" dirty="0"/>
              <a:t>TAs:</a:t>
            </a:r>
          </a:p>
          <a:p>
            <a:pPr lvl="1"/>
            <a:r>
              <a:rPr lang="en-US" dirty="0">
                <a:hlinkClick r:id="rId2"/>
              </a:rPr>
              <a:t>http://www.cs.uw.edu/332/staff.html#tas</a:t>
            </a:r>
            <a:r>
              <a:rPr lang="en-US" dirty="0"/>
              <a:t> </a:t>
            </a:r>
          </a:p>
          <a:p>
            <a:pPr lvl="1"/>
            <a:endParaRPr lang="en-US" dirty="0"/>
          </a:p>
          <a:p>
            <a:pPr lvl="1"/>
            <a:endParaRPr lang="en-US" dirty="0"/>
          </a:p>
        </p:txBody>
      </p:sp>
    </p:spTree>
    <p:extLst>
      <p:ext uri="{BB962C8B-B14F-4D97-AF65-F5344CB8AC3E}">
        <p14:creationId xmlns:p14="http://schemas.microsoft.com/office/powerpoint/2010/main" val="77914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2EEE-E291-81C3-3729-2452DA168590}"/>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4146981-7DD0-33EB-DDDE-67F6CAECD3A4}"/>
              </a:ext>
            </a:extLst>
          </p:cNvPr>
          <p:cNvSpPr>
            <a:spLocks noGrp="1"/>
          </p:cNvSpPr>
          <p:nvPr>
            <p:ph idx="1"/>
          </p:nvPr>
        </p:nvSpPr>
        <p:spPr/>
        <p:txBody>
          <a:bodyPr/>
          <a:lstStyle/>
          <a:p>
            <a:r>
              <a:rPr lang="en-US" dirty="0"/>
              <a:t>Text (optional):</a:t>
            </a:r>
          </a:p>
          <a:p>
            <a:pPr lvl="1"/>
            <a:r>
              <a:rPr lang="en-US" dirty="0"/>
              <a:t>Data Structures &amp; Algorithm Analysis in Java, (Mark Allen Weiss), 3rd edition, 2012</a:t>
            </a:r>
            <a:br>
              <a:rPr lang="en-US" dirty="0"/>
            </a:br>
            <a:r>
              <a:rPr lang="en-US" dirty="0"/>
              <a:t>(2nd edition also o.k.)</a:t>
            </a:r>
          </a:p>
          <a:p>
            <a:r>
              <a:rPr lang="en-US" dirty="0"/>
              <a:t>Course Page:</a:t>
            </a:r>
          </a:p>
          <a:p>
            <a:pPr lvl="1"/>
            <a:r>
              <a:rPr lang="en-US" dirty="0">
                <a:hlinkClick r:id="rId2"/>
              </a:rPr>
              <a:t>http://www.cs.uw.edu/332</a:t>
            </a:r>
            <a:endParaRPr lang="en-US" dirty="0"/>
          </a:p>
          <a:p>
            <a:endParaRPr lang="en-US" dirty="0"/>
          </a:p>
          <a:p>
            <a:pPr lvl="1"/>
            <a:endParaRPr lang="en-US" dirty="0"/>
          </a:p>
        </p:txBody>
      </p:sp>
    </p:spTree>
    <p:extLst>
      <p:ext uri="{BB962C8B-B14F-4D97-AF65-F5344CB8AC3E}">
        <p14:creationId xmlns:p14="http://schemas.microsoft.com/office/powerpoint/2010/main" val="289376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D1C4-32C9-C928-22E1-2D94F8DCF352}"/>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DDC3632C-96D3-A3C3-CE76-2CD5B8CF8642}"/>
              </a:ext>
            </a:extLst>
          </p:cNvPr>
          <p:cNvSpPr>
            <a:spLocks noGrp="1"/>
          </p:cNvSpPr>
          <p:nvPr>
            <p:ph idx="1"/>
          </p:nvPr>
        </p:nvSpPr>
        <p:spPr/>
        <p:txBody>
          <a:bodyPr>
            <a:normAutofit/>
          </a:bodyPr>
          <a:lstStyle/>
          <a:p>
            <a:r>
              <a:rPr lang="en-US" dirty="0"/>
              <a:t>Ed STEM Discussion board</a:t>
            </a:r>
          </a:p>
          <a:p>
            <a:pPr lvl="1"/>
            <a:r>
              <a:rPr lang="en-US" dirty="0"/>
              <a:t>Your first stop for questions about course content &amp; assignments</a:t>
            </a:r>
          </a:p>
          <a:p>
            <a:endParaRPr lang="en-US" dirty="0"/>
          </a:p>
          <a:p>
            <a:endParaRPr lang="en-US" dirty="0"/>
          </a:p>
        </p:txBody>
      </p:sp>
    </p:spTree>
    <p:extLst>
      <p:ext uri="{BB962C8B-B14F-4D97-AF65-F5344CB8AC3E}">
        <p14:creationId xmlns:p14="http://schemas.microsoft.com/office/powerpoint/2010/main" val="3507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B222-7E82-0C93-E214-18245CB550C8}"/>
              </a:ext>
            </a:extLst>
          </p:cNvPr>
          <p:cNvSpPr>
            <a:spLocks noGrp="1"/>
          </p:cNvSpPr>
          <p:nvPr>
            <p:ph type="title"/>
          </p:nvPr>
        </p:nvSpPr>
        <p:spPr/>
        <p:txBody>
          <a:bodyPr/>
          <a:lstStyle/>
          <a:p>
            <a:r>
              <a:rPr lang="en-US" dirty="0"/>
              <a:t>Course Meetings</a:t>
            </a:r>
          </a:p>
        </p:txBody>
      </p:sp>
      <p:sp>
        <p:nvSpPr>
          <p:cNvPr id="3" name="Content Placeholder 2">
            <a:extLst>
              <a:ext uri="{FF2B5EF4-FFF2-40B4-BE49-F238E27FC236}">
                <a16:creationId xmlns:a16="http://schemas.microsoft.com/office/drawing/2014/main" id="{113915B4-B4FD-42EB-71F0-F8AD56CA6577}"/>
              </a:ext>
            </a:extLst>
          </p:cNvPr>
          <p:cNvSpPr>
            <a:spLocks noGrp="1"/>
          </p:cNvSpPr>
          <p:nvPr>
            <p:ph idx="1"/>
          </p:nvPr>
        </p:nvSpPr>
        <p:spPr/>
        <p:txBody>
          <a:bodyPr>
            <a:normAutofit fontScale="92500" lnSpcReduction="10000"/>
          </a:bodyPr>
          <a:lstStyle/>
          <a:p>
            <a:r>
              <a:rPr lang="en-US" altLang="en-US" sz="2400" dirty="0"/>
              <a:t>Lecture</a:t>
            </a:r>
          </a:p>
          <a:p>
            <a:pPr lvl="1"/>
            <a:r>
              <a:rPr lang="en-US" altLang="en-US" dirty="0"/>
              <a:t>Materials posted (slides before class, inked slides after)</a:t>
            </a:r>
          </a:p>
          <a:p>
            <a:pPr lvl="1"/>
            <a:r>
              <a:rPr lang="en-US" altLang="en-US" dirty="0"/>
              <a:t>Recorded using Panopto</a:t>
            </a:r>
          </a:p>
          <a:p>
            <a:pPr lvl="1"/>
            <a:r>
              <a:rPr lang="en-US" altLang="en-US" dirty="0"/>
              <a:t>Ask questions, focus on key ideas (rarely coding details)</a:t>
            </a:r>
          </a:p>
          <a:p>
            <a:endParaRPr lang="en-US" altLang="en-US" sz="800" dirty="0"/>
          </a:p>
          <a:p>
            <a:r>
              <a:rPr lang="en-US" altLang="en-US" sz="2400" dirty="0"/>
              <a:t>Section</a:t>
            </a:r>
          </a:p>
          <a:p>
            <a:pPr lvl="1"/>
            <a:r>
              <a:rPr lang="en-US" altLang="en-US" dirty="0"/>
              <a:t>Practice problems!</a:t>
            </a:r>
          </a:p>
          <a:p>
            <a:pPr lvl="1"/>
            <a:r>
              <a:rPr lang="en-US" altLang="en-US" dirty="0"/>
              <a:t>Answer Java/homework questions, etc.</a:t>
            </a:r>
          </a:p>
          <a:p>
            <a:pPr lvl="1"/>
            <a:r>
              <a:rPr lang="en-US" altLang="en-US" dirty="0"/>
              <a:t>Occasionally may introduce new material</a:t>
            </a:r>
          </a:p>
          <a:p>
            <a:pPr lvl="1"/>
            <a:r>
              <a:rPr lang="en-US" altLang="en-US" dirty="0"/>
              <a:t>An important part of the course (not optional)</a:t>
            </a:r>
          </a:p>
          <a:p>
            <a:pPr lvl="1"/>
            <a:endParaRPr lang="en-US" altLang="en-US" sz="800" dirty="0"/>
          </a:p>
          <a:p>
            <a:r>
              <a:rPr lang="en-US" altLang="en-US" sz="2400" dirty="0"/>
              <a:t>Office hours </a:t>
            </a:r>
          </a:p>
          <a:p>
            <a:pPr lvl="1"/>
            <a:r>
              <a:rPr lang="en-US" altLang="en-US" dirty="0"/>
              <a:t>Use them: </a:t>
            </a:r>
            <a:r>
              <a:rPr lang="en-US" altLang="en-US" i="1" dirty="0"/>
              <a:t>please visit us!</a:t>
            </a:r>
            <a:endParaRPr lang="en-US" altLang="en-US" dirty="0"/>
          </a:p>
          <a:p>
            <a:endParaRPr lang="en-US" dirty="0"/>
          </a:p>
        </p:txBody>
      </p:sp>
    </p:spTree>
    <p:extLst>
      <p:ext uri="{BB962C8B-B14F-4D97-AF65-F5344CB8AC3E}">
        <p14:creationId xmlns:p14="http://schemas.microsoft.com/office/powerpoint/2010/main" val="31599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D1F-DEAC-A74E-A67E-C68017303429}"/>
              </a:ext>
            </a:extLst>
          </p:cNvPr>
          <p:cNvSpPr>
            <a:spLocks noGrp="1"/>
          </p:cNvSpPr>
          <p:nvPr>
            <p:ph type="title"/>
          </p:nvPr>
        </p:nvSpPr>
        <p:spPr/>
        <p:txBody>
          <a:bodyPr/>
          <a:lstStyle/>
          <a:p>
            <a:r>
              <a:rPr lang="en-US" dirty="0"/>
              <a:t>Grading</a:t>
            </a:r>
          </a:p>
        </p:txBody>
      </p:sp>
      <p:sp>
        <p:nvSpPr>
          <p:cNvPr id="3" name="Content Placeholder 2">
            <a:extLst>
              <a:ext uri="{FF2B5EF4-FFF2-40B4-BE49-F238E27FC236}">
                <a16:creationId xmlns:a16="http://schemas.microsoft.com/office/drawing/2014/main" id="{E2ABC400-4330-F5F0-6E31-F9CB391454A7}"/>
              </a:ext>
            </a:extLst>
          </p:cNvPr>
          <p:cNvSpPr>
            <a:spLocks noGrp="1"/>
          </p:cNvSpPr>
          <p:nvPr>
            <p:ph idx="1"/>
          </p:nvPr>
        </p:nvSpPr>
        <p:spPr/>
        <p:txBody>
          <a:bodyPr>
            <a:normAutofit fontScale="85000" lnSpcReduction="20000"/>
          </a:bodyPr>
          <a:lstStyle/>
          <a:p>
            <a:r>
              <a:rPr lang="en-US" dirty="0"/>
              <a:t>13 Weekly homework exercises (4.67% each, 56% total)</a:t>
            </a:r>
          </a:p>
          <a:p>
            <a:pPr lvl="1"/>
            <a:r>
              <a:rPr lang="en-US" dirty="0"/>
              <a:t>The lowest 1 will be dropped</a:t>
            </a:r>
          </a:p>
          <a:p>
            <a:pPr lvl="2"/>
            <a:r>
              <a:rPr lang="en-US" dirty="0"/>
              <a:t>Except for EX12, which cannot be dropped</a:t>
            </a:r>
          </a:p>
          <a:p>
            <a:r>
              <a:rPr lang="en-US" dirty="0"/>
              <a:t>Midterm and final exam (40% total)</a:t>
            </a:r>
          </a:p>
          <a:p>
            <a:pPr lvl="1"/>
            <a:r>
              <a:rPr lang="en-US" dirty="0"/>
              <a:t>Midterm weighted 15%</a:t>
            </a:r>
          </a:p>
          <a:p>
            <a:pPr lvl="1"/>
            <a:r>
              <a:rPr lang="en-US" dirty="0"/>
              <a:t>Final weighted 25%</a:t>
            </a:r>
          </a:p>
          <a:p>
            <a:pPr lvl="1"/>
            <a:r>
              <a:rPr lang="en-US" dirty="0"/>
              <a:t>In-person</a:t>
            </a:r>
          </a:p>
          <a:p>
            <a:pPr lvl="1"/>
            <a:r>
              <a:rPr lang="en-US" dirty="0"/>
              <a:t>Midterm in class on Monday 05/04</a:t>
            </a:r>
          </a:p>
          <a:p>
            <a:pPr lvl="1"/>
            <a:r>
              <a:rPr lang="en-US" dirty="0"/>
              <a:t>Final at 12:30pm on Thursday 06/11</a:t>
            </a:r>
          </a:p>
          <a:p>
            <a:r>
              <a:rPr lang="en-US" dirty="0"/>
              <a:t>17 Concept Checks (0.25% each, 4% total)</a:t>
            </a:r>
          </a:p>
          <a:p>
            <a:pPr lvl="1"/>
            <a:r>
              <a:rPr lang="en-US" dirty="0"/>
              <a:t>The lowest 1 will be dropped</a:t>
            </a:r>
          </a:p>
          <a:p>
            <a:pPr lvl="1"/>
            <a:r>
              <a:rPr lang="en-US" dirty="0"/>
              <a:t>One per “concept” in the course</a:t>
            </a:r>
          </a:p>
          <a:p>
            <a:pPr lvl="1"/>
            <a:r>
              <a:rPr lang="en-US" dirty="0"/>
              <a:t>We instantly tell you whether you got each question correct</a:t>
            </a:r>
          </a:p>
          <a:p>
            <a:pPr lvl="1"/>
            <a:r>
              <a:rPr lang="en-US" dirty="0"/>
              <a:t>Unlimited submissions, so keep at it!</a:t>
            </a:r>
          </a:p>
          <a:p>
            <a:endParaRPr lang="en-US" dirty="0"/>
          </a:p>
        </p:txBody>
      </p:sp>
    </p:spTree>
    <p:extLst>
      <p:ext uri="{BB962C8B-B14F-4D97-AF65-F5344CB8AC3E}">
        <p14:creationId xmlns:p14="http://schemas.microsoft.com/office/powerpoint/2010/main" val="147653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8940-3425-E859-8A0B-CB78D278E854}"/>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A17E27FC-9976-8945-C5D6-5A52E3D3F698}"/>
              </a:ext>
            </a:extLst>
          </p:cNvPr>
          <p:cNvSpPr>
            <a:spLocks noGrp="1"/>
          </p:cNvSpPr>
          <p:nvPr>
            <p:ph idx="1"/>
          </p:nvPr>
        </p:nvSpPr>
        <p:spPr/>
        <p:txBody>
          <a:bodyPr/>
          <a:lstStyle/>
          <a:p>
            <a:r>
              <a:rPr lang="en-US" dirty="0"/>
              <a:t>Try it yourself first</a:t>
            </a:r>
          </a:p>
          <a:p>
            <a:r>
              <a:rPr lang="en-US" dirty="0"/>
              <a:t>Collaborate with classmates (no external interactive help on assignments permitted)</a:t>
            </a:r>
          </a:p>
          <a:p>
            <a:pPr lvl="1"/>
            <a:r>
              <a:rPr lang="en-US" dirty="0"/>
              <a:t>Collaboration is “whiteboard only”</a:t>
            </a:r>
          </a:p>
          <a:p>
            <a:pPr lvl="1"/>
            <a:r>
              <a:rPr lang="en-US" dirty="0"/>
              <a:t>Looking for a collaborator?</a:t>
            </a:r>
          </a:p>
          <a:p>
            <a:pPr lvl="2"/>
            <a:r>
              <a:rPr lang="en-US" dirty="0"/>
              <a:t>Post on the Ed Discussion board</a:t>
            </a:r>
          </a:p>
          <a:p>
            <a:pPr lvl="2"/>
            <a:r>
              <a:rPr lang="en-US" dirty="0"/>
              <a:t>Go to the CSE study room (Allen Center 006, there’s a table specifically for 332!)</a:t>
            </a:r>
          </a:p>
          <a:p>
            <a:r>
              <a:rPr lang="en-US" dirty="0"/>
              <a:t>Cite your sources!</a:t>
            </a:r>
          </a:p>
          <a:p>
            <a:pPr lvl="1"/>
            <a:endParaRPr lang="en-US" dirty="0"/>
          </a:p>
        </p:txBody>
      </p:sp>
    </p:spTree>
    <p:extLst>
      <p:ext uri="{BB962C8B-B14F-4D97-AF65-F5344CB8AC3E}">
        <p14:creationId xmlns:p14="http://schemas.microsoft.com/office/powerpoint/2010/main" val="82042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B6C5-E9B6-14C9-B6AA-D64E467DD309}"/>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B1A0064-B361-39B2-E4BD-57E65EDFE432}"/>
              </a:ext>
            </a:extLst>
          </p:cNvPr>
          <p:cNvSpPr>
            <a:spLocks noGrp="1"/>
          </p:cNvSpPr>
          <p:nvPr>
            <p:ph idx="1"/>
          </p:nvPr>
        </p:nvSpPr>
        <p:spPr/>
        <p:txBody>
          <a:bodyPr>
            <a:normAutofit/>
          </a:bodyPr>
          <a:lstStyle/>
          <a:p>
            <a:r>
              <a:rPr lang="en-US" dirty="0"/>
              <a:t>Abstract Data Type (ADT)</a:t>
            </a:r>
          </a:p>
          <a:p>
            <a:pPr lvl="1"/>
            <a:r>
              <a:rPr lang="en-US" dirty="0"/>
              <a:t>Mathematical description of a “thing” with set of operations on that “thing”</a:t>
            </a:r>
          </a:p>
          <a:p>
            <a:r>
              <a:rPr lang="en-US" dirty="0"/>
              <a:t>Algorithm</a:t>
            </a:r>
          </a:p>
          <a:p>
            <a:pPr lvl="1"/>
            <a:r>
              <a:rPr lang="en-US" dirty="0"/>
              <a:t>A high level, language-independent description of a step-by-step process</a:t>
            </a:r>
          </a:p>
          <a:p>
            <a:r>
              <a:rPr lang="en-US" dirty="0"/>
              <a:t>Data structure</a:t>
            </a:r>
          </a:p>
          <a:p>
            <a:pPr lvl="1"/>
            <a:r>
              <a:rPr lang="en-US" dirty="0"/>
              <a:t>An organization of data and family of algorithms for implementing an ADT</a:t>
            </a:r>
          </a:p>
          <a:p>
            <a:r>
              <a:rPr lang="en-US" dirty="0"/>
              <a:t>Implementation of a data structure</a:t>
            </a:r>
          </a:p>
          <a:p>
            <a:pPr lvl="1"/>
            <a:r>
              <a:rPr lang="en-US" dirty="0"/>
              <a:t>The data organization and algorithms written in a programming language</a:t>
            </a:r>
          </a:p>
          <a:p>
            <a:endParaRPr lang="en-US" dirty="0"/>
          </a:p>
        </p:txBody>
      </p:sp>
    </p:spTree>
    <p:extLst>
      <p:ext uri="{BB962C8B-B14F-4D97-AF65-F5344CB8AC3E}">
        <p14:creationId xmlns:p14="http://schemas.microsoft.com/office/powerpoint/2010/main" val="99106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 </a:t>
            </a:r>
          </a:p>
          <a:p>
            <a:pPr lvl="1"/>
            <a:endParaRPr lang="en-US" dirty="0"/>
          </a:p>
          <a:p>
            <a:r>
              <a:rPr lang="en-US" dirty="0"/>
              <a:t>What operations do we need?</a:t>
            </a:r>
          </a:p>
          <a:p>
            <a:endParaRPr lang="en-US" dirty="0"/>
          </a:p>
          <a:p>
            <a:r>
              <a:rPr lang="en-US" dirty="0"/>
              <a:t>Suggested data structures?</a:t>
            </a:r>
          </a:p>
          <a:p>
            <a:pPr lvl="1"/>
            <a:endParaRPr lang="en-US" dirty="0"/>
          </a:p>
        </p:txBody>
      </p:sp>
    </p:spTree>
    <p:extLst>
      <p:ext uri="{BB962C8B-B14F-4D97-AF65-F5344CB8AC3E}">
        <p14:creationId xmlns:p14="http://schemas.microsoft.com/office/powerpoint/2010/main" val="36355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228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4175234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562382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spTree>
    <p:extLst>
      <p:ext uri="{BB962C8B-B14F-4D97-AF65-F5344CB8AC3E}">
        <p14:creationId xmlns:p14="http://schemas.microsoft.com/office/powerpoint/2010/main" val="2254727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3717972" y="3671711"/>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879046" y="4619018"/>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3413466" y="5976795"/>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8805672" y="4517136"/>
            <a:ext cx="2971326" cy="369332"/>
          </a:xfrm>
          <a:prstGeom prst="rect">
            <a:avLst/>
          </a:prstGeom>
          <a:noFill/>
          <a:ln>
            <a:solidFill>
              <a:srgbClr val="FF0000"/>
            </a:solidFill>
          </a:ln>
        </p:spPr>
        <p:txBody>
          <a:bodyPr wrap="non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116543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2" name="TextBox 31">
            <a:extLst>
              <a:ext uri="{FF2B5EF4-FFF2-40B4-BE49-F238E27FC236}">
                <a16:creationId xmlns:a16="http://schemas.microsoft.com/office/drawing/2014/main" id="{44B77E27-802E-1F52-9A57-028FD4DE4449}"/>
              </a:ext>
            </a:extLst>
          </p:cNvPr>
          <p:cNvSpPr txBox="1"/>
          <p:nvPr/>
        </p:nvSpPr>
        <p:spPr>
          <a:xfrm>
            <a:off x="3717972" y="3671711"/>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90906" y="4772906"/>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3413466" y="5976795"/>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082568" y="2182501"/>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253820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p:txBody>
      </p:sp>
    </p:spTree>
    <p:extLst>
      <p:ext uri="{BB962C8B-B14F-4D97-AF65-F5344CB8AC3E}">
        <p14:creationId xmlns:p14="http://schemas.microsoft.com/office/powerpoint/2010/main" val="1054395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4120428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2907</TotalTime>
  <Words>1446</Words>
  <Application>Microsoft Office PowerPoint</Application>
  <PresentationFormat>Widescreen</PresentationFormat>
  <Paragraphs>332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Cascadia Code</vt:lpstr>
      <vt:lpstr>Office Theme</vt:lpstr>
      <vt:lpstr>CSE 332 Winter 2026 Lecture 1: Intro to ADTs, Stacks, Queues</vt:lpstr>
      <vt:lpstr>Nathan Brunelle</vt:lpstr>
      <vt:lpstr>About this course</vt:lpstr>
      <vt:lpstr>Warm Up!</vt:lpstr>
      <vt:lpstr>Course Staff</vt:lpstr>
      <vt:lpstr>Course Info</vt:lpstr>
      <vt:lpstr>Communication</vt:lpstr>
      <vt:lpstr>Course Meetings</vt:lpstr>
      <vt:lpstr>Grading</vt:lpstr>
      <vt:lpstr>Collaboration</vt:lpstr>
      <vt:lpstr>Terminology</vt:lpstr>
      <vt:lpstr>ADT: Queue (Activity)</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38</cp:revision>
  <dcterms:created xsi:type="dcterms:W3CDTF">2023-09-26T20:08:20Z</dcterms:created>
  <dcterms:modified xsi:type="dcterms:W3CDTF">2026-03-30T17:30:05Z</dcterms:modified>
</cp:coreProperties>
</file>