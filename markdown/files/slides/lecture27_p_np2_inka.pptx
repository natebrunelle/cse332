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7" r:id="rId2"/>
    <p:sldId id="275" r:id="rId3"/>
    <p:sldId id="274" r:id="rId4"/>
    <p:sldId id="276" r:id="rId5"/>
    <p:sldId id="972" r:id="rId6"/>
    <p:sldId id="970" r:id="rId7"/>
    <p:sldId id="913" r:id="rId8"/>
    <p:sldId id="973" r:id="rId9"/>
    <p:sldId id="917" r:id="rId10"/>
    <p:sldId id="974" r:id="rId11"/>
    <p:sldId id="975" r:id="rId12"/>
    <p:sldId id="976" r:id="rId13"/>
    <p:sldId id="977" r:id="rId14"/>
    <p:sldId id="978" r:id="rId15"/>
    <p:sldId id="979" r:id="rId16"/>
    <p:sldId id="980" r:id="rId17"/>
    <p:sldId id="981" r:id="rId18"/>
    <p:sldId id="982" r:id="rId19"/>
    <p:sldId id="983" r:id="rId20"/>
    <p:sldId id="984" r:id="rId21"/>
    <p:sldId id="985" r:id="rId22"/>
    <p:sldId id="986" r:id="rId23"/>
    <p:sldId id="987" r:id="rId24"/>
    <p:sldId id="966" r:id="rId25"/>
    <p:sldId id="967" r:id="rId26"/>
    <p:sldId id="971" r:id="rId27"/>
    <p:sldId id="797" r:id="rId28"/>
  </p:sldIdLst>
  <p:sldSz cx="12192000" cy="6858000"/>
  <p:notesSz cx="6858000" cy="9144000"/>
  <p:embeddedFontLst>
    <p:embeddedFont>
      <p:font typeface="Cambria Math" panose="02040503050406030204" pitchFamily="18" charset="0"/>
      <p:regular r:id="rId30"/>
    </p:embeddedFont>
    <p:embeddedFont>
      <p:font typeface="Ravie" panose="04040805050809020602" pitchFamily="82"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FF00FF"/>
    <a:srgbClr val="BFEBFB"/>
    <a:srgbClr val="00B0F0"/>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19:35:56.008"/>
    </inkml:context>
    <inkml:brush xml:id="br0">
      <inkml:brushProperty name="width" value="0.05292" units="cm"/>
      <inkml:brushProperty name="height" value="0.05292" units="cm"/>
      <inkml:brushProperty name="color" value="#FF0000"/>
    </inkml:brush>
  </inkml:definitions>
  <inkml:trace contextRef="#ctx0" brushRef="#br0">22532 8981 0,'0'0'0,"0"0"0,0 0 0,0 0 0,-8 0 0,8 0 0,-9 17 15,1 0 1,-1 17-16,1 17 15,-1 17 1,-17 8-16,1 18 16,-18-1-1,9-8-15,0-16 16,17-18 0,17-9-16,17-8 15,43 17 1,51-8-16,68-18 15,51-16 1,26-18-16,9-8 16,-1-8-16,-25-1 15,-51 9 1,17 9 0,-17-1-16,-52 9 15,-33 17 1,-35-8-16,-17-1 15,-25 1-15,-9-9 16,-8 0 0,-1-9-1,-16-8-15,-1-25 16,-17-35-16,-8-68 16,-26-152-1</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19:36:49.624"/>
    </inkml:context>
    <inkml:brush xml:id="br0">
      <inkml:brushProperty name="width" value="0.05292" units="cm"/>
      <inkml:brushProperty name="height" value="0.05292" units="cm"/>
      <inkml:brushProperty name="color" value="#FF0000"/>
    </inkml:brush>
  </inkml:definitions>
  <inkml:trace contextRef="#ctx0" brushRef="#br0">18538 3836 0,'0'0'0,"26"0"0,110 17 0,52 0 15,76-9 1,61-8-16,-9-17 15,144-8 1,-16-1-16,-8 0 16,101 9-1,44 26-15,76 16 16,-17 10 0,-94-18-16,-136 0 15</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19:38:17.366"/>
    </inkml:context>
    <inkml:brush xml:id="br0">
      <inkml:brushProperty name="width" value="0.05292" units="cm"/>
      <inkml:brushProperty name="height" value="0.05292" units="cm"/>
      <inkml:brushProperty name="color" value="#FF0000"/>
    </inkml:brush>
  </inkml:definitions>
  <inkml:trace contextRef="#ctx0" brushRef="#br0">8262 9780 0,'8'0'0,"27"0"0,24-8 0,27-9 16,16-9 0,-34 1-1,9 8-15,26 0 16,7 0 0,19 8-16,24 9 0,35-8 15,51-9 1,60-17-1,25 0 1,-8-1-16,34 1 16,34 0-1,17 9-15,26 8 16,34 8-16,59 9 16,-110 0-1</inkml:trace>
  <inkml:trace contextRef="#ctx0" brushRef="#br0" timeOffset="2680.45">15841 7467 0,'0'0'0,"17"-9"0,51-8 15,69-8-15,33 8 16,112 8 0,60 9-16,33 26 15,94 8 1,86 8-1,60 26-15,-206 1 16</inkml:trace>
  <inkml:trace contextRef="#ctx0" brushRef="#br0" timeOffset="7721.35">3004 14356 0,'0'0'0,"0"0"0,0 0 0,17 0 16,35 0-16,24-9 15,44-16 1,76-9-1,26-18-15,60 10 16,68-1 0,0 9-16,111 9 15,-52 8-15</inkml:trace>
  <inkml:trace contextRef="#ctx0" brushRef="#br0" timeOffset="11765.28">10575 14041 0,'0'0'0,"0"0"0,0 0 0,-9 8 16,1 43-16,-18 43 16,1 51-1,-18-1 1,0 52-16,-8 8 16,-9-17-1,-17 43-15,26-69 16,9-67-1,-1-9-15,9-26 16,17-25 0,0-17-16,8-25 15,9-1 1,9-59-16,25-110 16,8-1-16,27-17 15,16-25 1,0 34-1,52-42-15,-9 24 16,0 44 0,0-1-1,0 35-15,-9 33 0,-8 26 16,0 26 0,-25 25-1,-26 17 1,-9 17-16,-17 51 15,-34 59-15,-60 60 16,-42 9 0,-1-34-16,1-52 15,8-33 1,9-43-16,8-17 16,-17-9-1,51-8-15</inkml:trace>
  <inkml:trace contextRef="#ctx0" brushRef="#br0" timeOffset="12143">12342 14653 0,'0'0'0,"0"0"0,25 0 0,43-8 32,26-1-17,17-8-15,0 17 16,9-8 0,-26 8-16,-26 0 0,-43 0 15</inkml:trace>
  <inkml:trace contextRef="#ctx0" brushRef="#br0" timeOffset="12437.2">12333 15402 0,'0'0'0,"0"0"0,9 0 16,25 8-1,17 1 1,34 8-16,26-9 15,51-25 1,154-17-16</inkml:trace>
  <inkml:trace contextRef="#ctx0" brushRef="#br0" timeOffset="13141.47">14151 14679 0,'0'0'0,"0"0"0,0 0 16,8-9-16,10-8 31,16-8-31,17-9 15,17-26-15,18 1 16,-1-9-16,-17 17 16,-25 17-1,-18 17 1,1 0-16,-9 8 16,0 9-1,0 34 1,-8 51-16,-18 51 15,-25 51 1,-17-8-16,0-18 16,8 18-1,26-43-15,0-51 16,17-34 0,0-25-16,17-9 15,17-17-15,51-60 16,61-76-16,24-60 31,-8-16-31,-8 8 0,-17 17 16,-18 25-1,-34 52-15,-8 24 32,-34 35-17,-26 34-15</inkml:trace>
  <inkml:trace contextRef="#ctx0" brushRef="#br0" timeOffset="13704.73">16361 14441 0,'0'0'0,"0"0"0,0 0 0,-8 8 0,-18 26 16,-25 34-16,-26 43 31,-25 33-15,17-16-16,8-18 15,17-16 1,17-26-16,18-17 15,8-25 1,8-1-16,9-16 16,0-9-16,9-17 31,33-52-31,52-75 16,26-52-1,33-8-15,9 17 16,-33 51-16,-10 25 15,-8 9 1,0 26 0,-34 33-16,-18 18 15,-7 8 1,-10 25-16,-16 18 16,-9 33-16,-43 35 31,-42 34-31,-51-1 15,-26-8-15,-35-34 16,18-34-16,0-34 16,-137-42-1</inkml:trace>
  <inkml:trace contextRef="#ctx0" brushRef="#br0" timeOffset="21083.67">23445 13616 0,'0'0'0,"0"0"0,0 8 15,0 18 1,0 25-16,0 25 31,-8 9-31,-1 0 16,-8 26-1,0 42-15,-17 0 16,-9-34 0,-16 43-16,-1 16 15,9-42 1,8-34-16,9-17 0,17-17 16,0-33-1,8-10 1,1-8-1,8-8-15,0-26 16,17-17 0,17-60-16,17-102 15,9 1 1,17-9-16,0-17 16,8 25-1,17-8-15,-8 25 16,0 18-16,8 16 15,9 26 1,-17 34 0,0 34-16,0 25 15,-9 18 1,-8 33-16,0 35 16,-26 16-1,-25 18-15,-52 17 16,-33 16-1,-44-8-15,-33-8 16,-27-26 0,-33-43-16,-128 18 15</inkml:trace>
  <inkml:trace contextRef="#ctx0" brushRef="#br0" timeOffset="21840.52">25810 13624 0,'0'0'0,"0"0"0,-9 0 16,-8 0-16,-34 17 15,-17 0 1,-18 9-1,-25 25-15,9 0 16,8 17 0,9 8-16,25 1 15,17-1 1,26-8-16,26 0 16,25 9-16,51 0 15,60-26 1,69-34-16,42-17 31,-9-26-31,1-8 16,93-25-16</inkml:trace>
  <inkml:trace contextRef="#ctx0" brushRef="#br0" timeOffset="22818.86">27116 15359 0,'0'0'0,"0"0"0,0-8 15,0-9-15,17-17 16,17-26 0,34-68-16,34-50 15,1 8 1,8-9-16,8-16 16,-16 33-1,8 0 1,-9 9-16,-25 43 15,-26 50-15,-25 18 16,-1 25 0,-16 8-1,8 9-15,9 51 16,-9 77-16,-9 67 16,-16 26-1,-9-25-15,17-26 16,0-8-1,8-26 1,9-60-16,0-16 16,9-18-1,8-8-15,0-8 16,17-26-16,35-34 16,25-77-1,17-50 1,-17-9-16,-35 0 15,-16 0 1,0 16-16,-17 10 16,-26 76-16</inkml:trace>
  <inkml:trace contextRef="#ctx0" brushRef="#br0" timeOffset="23404.61">29633 14526 0,'0'8'0,"-17"35"0,-25 59 16,-18 34-16,-17 17 15,0 0 1,9-17-16,8-17 31,18-42-31,16-26 16,9-26-16,8 1 31,9-18-31,0-16 0,9-18 16,42-59-1,43-68 1,17-34-16,-9 8 16,1 1-16,16 8 31,18 25-31,-1 18 16,1 16-1,-9 17-15,-17 43 16,-26 26-1,-16 25-15,-1 25 16,-17 26-16,-17 26 16,-25 25-1,-43 26-15,-52 16 16,-25-16 0,-17-43-1,0-26-15,0-59 16,77-8-1</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19:39:21.343"/>
    </inkml:context>
    <inkml:brush xml:id="br0">
      <inkml:brushProperty name="width" value="0.05292" units="cm"/>
      <inkml:brushProperty name="height" value="0.05292" units="cm"/>
      <inkml:brushProperty name="color" value="#FF0000"/>
    </inkml:brush>
  </inkml:definitions>
  <inkml:trace contextRef="#ctx0" brushRef="#br0">9858 11634 0,'0'0'16,"0"0"-16,0 0 0,179 43 0,52-43 0,76-17 0,17 0 15,26-9-15</inkml:trace>
  <inkml:trace contextRef="#ctx0" brushRef="#br0" timeOffset="793.6">8970 13097 0,'9'-9'0,"68"-8"16,85-25-16,60-9 15,17 0 1,17 17-16,34 17 31,51 8-31,43 9 16</inkml:trace>
  <inkml:trace contextRef="#ctx0" brushRef="#br0" timeOffset="1544.96">13400 14483 0,'51'-17'0,"180"-17"0,195-8 16,103 33-1,214 60-15,-282 9 16</inkml:trace>
  <inkml:trace contextRef="#ctx0" brushRef="#br0" timeOffset="6972.59">16899 3453 0,'0'0'0,"43"17"0,68 34 16,60 8-16,33-8 15,27-17 1,85-8 0,68-1-16</inkml:trace>
  <inkml:trace contextRef="#ctx0" brushRef="#br0" timeOffset="7693.95">15474 4890 0,'8'0'0,"86"9"0,273-1 16,197-50-16,33-35 15,103-34 1,34 9-16,-43-25 15,-273 42 1</inkml:trace>
  <inkml:trace contextRef="#ctx0" brushRef="#br0" timeOffset="9288.54">13861 5877 0,'0'0'0,"42"-9"0,35 1 0,-17-9 16,8 0-16,60-9 16,60 1-1,-9 8 1,60 8-16,17 9 31,69-8-31,67-1 16,9 9-16,69 9 15,33 16 1,78 1 0,59 16-16,85 18 0,-85-9 31,-238-9-31</inkml:trace>
  <inkml:trace contextRef="#ctx0" brushRef="#br0" timeOffset="12496.56">22319 9780 0,'0'0'0,"0"0"0,0 0 0,0 0 15,0 0 1,8 0-1,44-8-15,59-1 16,85-8 0,51 17-16,1 9 15,93 25-15</inkml:trace>
  <inkml:trace contextRef="#ctx0" brushRef="#br0" timeOffset="14193.69">18000 10894 0,'0'0'0,"0"0"16,0 0-16,51 17 31,77 9-31,0-9 16,18-9-1,33 1-15,-34-9 16,0-9-16,9-8 16,8 0-1,0-8-15,34-18 16,52 9-1,-1-8 1,43 8 0,35 8-16,16 9 15,60 9 1,18 8-16,24 25 16,52-8-16,52-17 15,50-17 1,69-8-1,-18 16-15,-238 18 16</inkml:trace>
  <inkml:trace contextRef="#ctx0" brushRef="#br0" timeOffset="17298.29">20194 12255 0,'25'-9'0,"112"-25"0,127-17 16,44 17-16,50 9 16,86 16-1,-43 9 1</inkml:trace>
  <inkml:trace contextRef="#ctx0" brushRef="#br0" timeOffset="25451.29">18674 12638 0,'0'0'0,"0"0"0,-8-9 0,-9 9 16,0-8 0,0-1-1,0 1 1,-9-1-16,0 1 0,-8-9 16,0 8-1,-9 1 1,1 8-1,-18 0 1,0 0-16,-8 0 16,8 8-16,18 9 15,-1 0 1,0 0-16,-16 0 16,7 9-1,1 8-15,-9 8 0,1 9 31,-1 9-31,-8 25 16,16 0-16,18 0 16,0 17-1,0 8 1,0-7-16,-9 7 16,0 9-1,-8 9-15,9 16 16,7-8-1,1 0-15,9 1 16,-1-1-16,9 0 16,0-17-1,17 0 1,0 0-16,8-9 16,1-8-1,8 1-15,0-10 16,0-8-1,17 9-15,1-1 16,16-8 0,8 0-16,10-8 0,16 8 31,9-17-31,25 0 16,-16-9-1,-1-7-15,26 7 16,0-8-1,0 0-15,0 0 0,18-8 32,7 8-32,-8-9 15,-8 9 1,8 9-16,0-1 16,-26-8-1,27-8-15,24 8 16,-25-9-1,26-8-15,17-8 16,0-1 0,16-8-16,-7-8 15,-1 8 1,0-9-16,-25-8 16,25 9-1,9-1-15,-9-16 16,18-1-1,-1-16-15,-8-1 16,17 1 0,-26-9-16,-8-9 15,0-8 1,-43 9-16,17-18 16,0 1-16,-25 8 0,-9 0 31,-9 0-16,-8 0-15,-25 0 16,-27 8 0,-16-16-16,0-1 15,-18-17 1,-16 1-16,-18-9 16,-25-34-1,-34-26-15,-9 9 16,9 34-1,-18-25-15,-16-18 16,-26 9 0,0 17-16,8 17 15,-25-34 1,-25-9-16,8 9 16,-18 17-1,-25-26-15,9 9 16,-51-8-1,8 25-15,-34-9 16,-9-8 0,17 9-16,1 24 15,-26 18 1,-35-17-16,-25-25 16,-51 8-1,17 42-15,9 18 16,-69-1-1,-43 9-15,95 17 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19:40:41.599"/>
    </inkml:context>
    <inkml:brush xml:id="br0">
      <inkml:brushProperty name="width" value="0.05292" units="cm"/>
      <inkml:brushProperty name="height" value="0.05292" units="cm"/>
      <inkml:brushProperty name="color" value="#FF0000"/>
    </inkml:brush>
  </inkml:definitions>
  <inkml:trace contextRef="#ctx0" brushRef="#br0">7135 6370 0,'0'0'0,"-8"0"15,-1 0-15,1 0 0,-1 0 16,9 0 0,-8 0-1,8 0 1,0 0-16,-9 0 16,0 8-1,-8 9-15,-17 9 16,-8 8-1,-35 0-15,-9 0 16,35-9-16,9 9 16,-69 34-16,-103 35 15,44 16 1,50 0 0,-119 85-1,34 17-15,94-26 0,-25 52 16,42-85-1,60-26-15,51 34 16,51-26 0,17-59-1,146 9 1,50-34-16,-7-60 0,16-34 16,-9-77-1,-16-68 1,-35-16-1,-33-1-15,-86 18 16,-43-9 0,-42 8-16,-43 0 15,-77 1-15,-103-86 16</inkml:trace>
  <inkml:trace contextRef="#ctx0" brushRef="#br0" timeOffset="2771.1">20714 7467 0,'0'0'0,"0"0"0,-42 8 16,-112 18 15,-51 42-31,17 9 16,-16 16-1,-44 52-15,-25 50 16,68 18-16,77-1 16,0 52-16,77-43 15,111-34 1,76 51 0,86-59-16,213-68 15,86-60 1,-94-68-1,-18-51-15,-42-51 16,-8-52-16,-77-7 16,-112 8-1,-42-34 1,-59-34-16,-104-86 16,-144-16-1,-68 51-15</inkml:trace>
  <inkml:trace contextRef="#ctx0" brushRef="#br0" timeOffset="3491.41">14023 5604 0,'-9'0'0,"-16"-17"0,-86-25 15,-68-1 1,-52 26 0,-51 43-16,-76 67 15,-111 112-15,-35 84 16,146 0-1,136 17 1,51-8-16,120-35 16,110-25-1,95-25 1,94-26-16,102-68 16,59-102-1,44-102-15,16-51 16,-68-34-1,-119-9 1,-77 1-16,-69 8 0,-102 0 16,-145-111-1,-85-51-15</inkml:trace>
  <inkml:trace contextRef="#ctx0" brushRef="#br0" timeOffset="6098.94">16916 8717 0,'0'0'0,"0"0"0,0 0 16,0 0 0,0 0-1</inkml:trace>
  <inkml:trace contextRef="#ctx0" brushRef="#br0" timeOffset="7121.75">14211 7884 0,'0'0'0,"59"0"0,104 8 15,93 9-15,59 9 16,112 8 0,68 8-16,-17 52 15,17 42 1,-17 0-16,-34-9 16,-60 1-16,-34-9 15,-60-42 1,-85-43-1,-68-17-15,-78-9 16,-25-16-16,-8-1 16,-17-16-1,-35-35-15,-76-42 16,-61 0 0,-101 8-16,-52 1 15,-94-9 1,-110-26-1,-9 9-15,-35 34 16,18 9-16,25-1 16,35-8-1,85 0 1,102 17-16,128 25 16,52 9-1,59 17-15,34 9 16,26 8-16,86-9 15,187 9 1,120 34-16,50 43 16,44 25-1,8 0 1,17-8-16,26 25 16,16 42-1,18 1-15,-51-52 16,-43 1-1,-43 34-15,-93-26 16,-112-60 0,-102-25-16,-68-25 15,-26-1-15,-17 1 16,-8-9 0,-61-26-1,-135-59-15,-180-85 16,-128 17-16,-146-17 15,-152-34 1,-44 42-16,-25 35 31,-68 8-31,136 59 16,376 60 0</inkml:trace>
  <inkml:trace contextRef="#ctx0" brushRef="#br0" timeOffset="8891.49">17420 5154 0,'0'0'0,"0"0"0,0 0 0,0 0 15,0 17 1,0 25-16,42 52 16,78 67-1,51 43-15,93 77 31,9-9-31,35 17 16,7 1-16,10-35 16,-1 0-1,-25-9-15,0-7 16,-18-18 0,-42-17-16,-94-102 15,-68-43 1,-43-25-16,-8-25 15,-18-1 1,-16-8-16,-52-25 16,-119-111-16,-86-68 15,-33-17 1,-52-43 0,-26-17-16,26 9 15,34-8-15,18 7 16,25 35-1,25 17 1,43 68-16,34 9 16,43 16-1,35 26-15,50 42 16,17 26 0,26 26-16,17 8 15,86 42 1,136 77-16,51 43 15,34 76 1,60 51-16,-8-25 16,-69-17-1,0 8-15,-34-26 16,-42-84-16,-35-9 16,-93-51-1,-61-51-15,-25-25 16,-8-1-1,-43-59 1,-197-145 0,-195-135-16,-52-26 15,-26 16-15,-17 10 16,-16 16-16,178 111 31</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19:41:41.064"/>
    </inkml:context>
    <inkml:brush xml:id="br0">
      <inkml:brushProperty name="width" value="0.05292" units="cm"/>
      <inkml:brushProperty name="height" value="0.05292" units="cm"/>
      <inkml:brushProperty name="color" value="#FF0000"/>
    </inkml:brush>
  </inkml:definitions>
  <inkml:trace contextRef="#ctx0" brushRef="#br0">6009 9261 0,'0'0'0,"0"0"0,0 0 0,-9 0 0,1 0 15,-10 0 1,1-8-16,0-1 16,9 9-1,8 0-15,8-8 16,18-1 0,76-16-16,112-26 15,25 0 1,34-9-1,26-16-15,-35 25 16,129-17 0,16 8-16</inkml:trace>
  <inkml:trace contextRef="#ctx0" brushRef="#br0" timeOffset="661.82">20185 9074 0,'0'0'0,"51"43"0,112 67 16,135 18-16,129-18 15,102-41 1,137-44-16,-239-16 16</inkml:trace>
  <inkml:trace contextRef="#ctx0" brushRef="#br0" timeOffset="-25204.22">5744 7552 0,'0'0'0,"0"0"0,0 25 0,-9 52 16,1 51-1,8 8 1,-17-9-16,-9 18 16,1-1-16,8-33 15,17-35 1,0-16-16,17 8 16,17 0-1,26-8-15,25-18 16,17 1-1,43-18 1,35 1-16,16-9 16,26-9-16,8 9 15,26-8 1,26-1-16,25-8 16,18 0-1,-18 17-15,9 9 16,-1 8-1,1 8-15,-9-8 16,-33-8 0,-10-18-16,-25 1 15,-25-1 1,-35-8 0,-51 0-16,-26 0 15,-34 0-15,-16 0 16,-10-8-1,-16-1-15,8-8 16,0-17-16,17-17 16,1-17-1,16-17 1,-8-17 0,-18-8-16,1-10 15,0-7 1,-1-1-16,-16 9 15,0 34-15,-1 9 16,-8 8 0,-8 17-16,-1 17 15,1 17-15,-9 0 16,0 8 0,0 9-1,0 0 1,0 0-16,0 0 0,0 0 31,-9 0-31,-16 0 16,-35 0-1,-59 9-15,-27-18 16,-24-8-16,-52-8 16,-60-35-1,-51-16 1,-68-10-16,-77 27 15,-51 33-15,-17 26 16,-35 26 0,-50 8-1,25 8-15,-111 10 16,290-18-16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19:42:17.794"/>
    </inkml:context>
    <inkml:brush xml:id="br0">
      <inkml:brushProperty name="width" value="0.05292" units="cm"/>
      <inkml:brushProperty name="height" value="0.05292" units="cm"/>
      <inkml:brushProperty name="color" value="#FF0000"/>
    </inkml:brush>
  </inkml:definitions>
  <inkml:trace contextRef="#ctx0" brushRef="#br0">11232 5987 0,'0'0'0,"0"0"0,0 0 0,9 0 0,16 0 16,26 0-16,-8 0 15,-17 0 1,8 0 0,8 9-16,18 8 15,17 0-15,42 17 16,1 0-1,42-9-15,86 9 16,85 0 0,51-8-1,-34-18-15,68 1 16,-17-1 0,-60-8-16,60 0 15,-8 0-15,-26 26 16,0-26-16,9-17 15</inkml:trace>
  <inkml:trace contextRef="#ctx0" brushRef="#br0" timeOffset="5249.03">6461 7586 0,'0'0'0,"0"0"0,17-17 0,17-9 16,60-25 0,60-8-1,-1-1-15,35 1 16,60-1-16,-44 18 15,78-26 1</inkml:trace>
  <inkml:trace contextRef="#ctx0" brushRef="#br0" timeOffset="5819.23">15124 7288 0,'8'0'0,"78"17"0,127 9 15,35-1 1,25-8-16,0-8 16,51-9-16</inkml:trace>
  <inkml:trace contextRef="#ctx0" brushRef="#br0" timeOffset="24663.4">19460 9772 0,'0'0'0,"8"0"0,9-9 0,34 1 16,86-1-16,51-16 15,102 8 17,94 17-32,77 17 15,94 8 1,-146 9-16</inkml:trace>
  <inkml:trace contextRef="#ctx0" brushRef="#br0" timeOffset="31686.07">12256 9619 0,'34'-9'0,"43"1"0,77-9 16,102 0-1,-9 17-15,35-17 16,0 0 0,-18-1-16,61 10 15,-61-1 1,43 1-16,-16 8 16,-1-9-1,-26-8-15,-33 9 16,16-1-1,-76 1-15,-9 8 16,-34-9 0,-51 9-16,-43 0 15,-8 0 1,-18 0-16,-50 0 16,-35 9-1,-94 8-15,-76-9 16,-52 9-1,-17 0-15,-51-17 16,26 0 0,68 9-16,-146-18 15,35-8 1,77 17-16,-111 9 16,85-9-1,60-9-15,42 9 16,78 0-1,-26-8-15,50-9 16,70 8 0,25 9-16,17 0 15,-1-8 1,18-1 0,43-8-16,85-17 15,154 0-15,85 0 16,-17 34-1,128 26 1,25-9-16,-8 8 16,69 26-16,25 0 15,-9-17 1,-170-8-16</inkml:trace>
  <inkml:trace contextRef="#ctx0" brushRef="#br0" timeOffset="53096.9">11676 10835 0,'8'0'0,"52"0"0,34 17 15,43 25 1,50 1-16,52-1 16,69-16-1,67-1 1,69-16-16,59-18 16,52-8-16,102-34 15,-230 0 1</inkml:trace>
  <inkml:trace contextRef="#ctx0" brushRef="#br0" timeOffset="58531.26">3132 5239 0,'0'0'0,"0"0"0,-17 0 16,-42-9-16,-10 1 15,18 8 1,-51 17-1,-52 8 1,9 18-16,34 8 16,0 8-1,-34 43-15,-34 51 16,51-8-16,42 0 16,1 33-1,0-8 1,33-51-16,44 17 0,33 18 15,27-18-15,-10-34 32,18 0-17,51 34-15,17-9 16,-26-16-16,-33-26 0,-27-9 16,-16 1 15,-17 8-31,-18 9 15,-42 25 1,-35 0-16,-16-17 16,0-17-1,8-17-15,-26-17 16,43-17 0,18-17-16,33-9 15,0 1 1,26-1-16,9-8 15,51 26 1,25 8-16,35 34 16,-1 34-16,-25 9 0,-17 59 31,-26 42-15,-42 60-16,-61 52 15,-33-10 1,-9-16-16,34-9 15,77-17 1,77-25-16,154-17 16,68-18-1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19:43:35.222"/>
    </inkml:context>
    <inkml:brush xml:id="br0">
      <inkml:brushProperty name="width" value="0.05292" units="cm"/>
      <inkml:brushProperty name="height" value="0.05292" units="cm"/>
      <inkml:brushProperty name="color" value="#FF0000"/>
    </inkml:brush>
  </inkml:definitions>
  <inkml:trace contextRef="#ctx0" brushRef="#br0">12367 6166 0,'0'0'0,"9"8"0,25 18 0,51 25 16,111 8-1,78-25-15,50-17 16,120-17 0,42 9-16,-33 25 31,-61 0-15</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19:54:59.094"/>
    </inkml:context>
    <inkml:brush xml:id="br0">
      <inkml:brushProperty name="width" value="0.05292" units="cm"/>
      <inkml:brushProperty name="height" value="0.05292" units="cm"/>
      <inkml:brushProperty name="color" value="#FF0000"/>
    </inkml:brush>
  </inkml:definitions>
  <inkml:trace contextRef="#ctx0" brushRef="#br0">7878 6429 0,'-9'9'0,"-8"59"0,-34 111 0,-9 67 16,-8 26 0,8 34-16,0 43 15,18 34 1,25-69-16,34 1 15,17-60-15,0-34 16,0-25 0,0-68-1,0 8-15,35-17 16,50-26-16,18-33 16,51-43-1,59-26 1,35-16-16,-9-9 15,17 17 1,-25 17-16,-18 8 16,9 9-1,-60 17-15,-42-8 16,-34-1 0,-44 1-16,-33-18 15,-17 1 1,-9-9-16,8-43 15,27-101 1,-1-111-16,17-86 16,26-41-1,-9 8-15,-8-18 16,0 10 0,-9 50-16,-34 9 15,-17 17-15,-8 33 16,-18 35-1,-8 34 1,-17 17-16,-8 43 16,-18 25-1,-34-1-15,-26 35 16,-16 26 0,-103 33-16,-77 43 15,-51 77 1,-111 33-16,-25 1 15,-27 34-15,-50 16 16,-9-25 0,9 17-1,25 0-15,-34 26 16,188-60-16</inkml:trace>
  <inkml:trace contextRef="#ctx0" brushRef="#br0" timeOffset="1366.6">11505 8343 0,'17'0'0,"43"17"0,68-9 0,85 9 31,35 0-31,33 0 16,61 9-16,33-18 0,44-8 31,33-8-15,26 8-16,26-9 15,16 9 1,26 0-16,1-8 0,-10-9 16,-16 0-1,-35-9 1,-42 1-1,-17 8-15,-51 8 16,-120-8 0,-69 9-16,-50-1 15,-43-8 1,-26 9-16,-25-9 16,-18 8-1,1-8-15,-18-8 16,1-1-16,-18 1 15,-25-9 1,-8 0-16,-18 8 16,0 1-1,0 8 1,18 8-16,8 1 0,17 8 31,-1 0-31,18 0 16,0 0-1,52 0-15,76 0 16,51 17 0,51 0-16,1 0 15,-60 0 1,-18 0-16,-33-9 16,-69 1-1,-34-9-15,-43 34 16,-213 68-1,-128 34-15,60-26 16,51-8 0,60 1-16,-77 50 15</inkml:trace>
  <inkml:trace contextRef="#ctx0" brushRef="#br0" timeOffset="11066.73">14723 14288 0,'0'0'0,"-9"0"0,-16 17 0,-1 17 16,-17 8 0,9 1-16,9-1 15,8 1 1,-1 8-1,1 17-15,0 17 16,9 17 0,8 0-16,17 17 15,17 8-15,26 10 16,25-10 0,26 1-1,34 8-15,26 8 16,25-8-16,26-8 15,9-35 1,33-7-16,18-1 16,-1-17-1,18-17 1,43-9-16,59-16 16,25-18-16,-24 1 15,-10-18 1,9 1-16,-34-9 15,-68-17 1,8-9 0,-34-16-16,-25 8 15,-26-17-15,-26-26 16,-17 0 0,-25-8-1,-9-17-15,-25 9 16,-52 8-16,-17 0 15,-34-17 1,-25-17 0,-52-26-16,-43 9 15,-33-17-15,-69-26 16,-25 43 0,-35 26-16,-51-1 15,-51-17 1,-34 18-1,-60 33-15,-8 9 16,51 26-16,-52 8 16,-42 8-16,-51 35 15,-60 33 1,-52 26-16,78 17 16,68 9-1,8 59-15,69 0 16,68-51-1</inkml:trace>
  <inkml:trace contextRef="#ctx0" brushRef="#br0" timeOffset="17388.45">9098 14645 0,'26'0'0,"119"0"0,120 8 16,59 1-16,77-9 16,103-17-1,84-9 1,164 1-16,-309 8 16</inkml:trace>
  <inkml:trace contextRef="#ctx0" brushRef="#br0" timeOffset="24481.36">25460 8624 0,'0'0'0,"-9"0"0,-16 25 16,-27 26-16,-33 17 15,-9 9 16,-17 8-31,-8 42 16,-18 35 0,1-1-16,8 27 15,0 7-15,17 18 16,-17 33 0,8 1-16,18-17 15,-1 8 1,18-17-1,17-17-15,8 0 16,26-25-16,8-1 0,18 1 16,8-18-1,17-7-15,8 7 32,18 9-17,34 0-15,8 0 16,35-8-16,16-9 0,9-34 31,43 9-31,51-9 0,0-17 31,-17-17-15,8-9-16,26 1 16,0 8-1,18 9-15,24-1 16,18 1-1,0-18-15,-9 1 16,0-1 0,1 1-16,-10-1 15,10 1 1,-18-18-16,9-8 16,-9-8-1,0-1-15,9-16 16,-9-9-1,-17 0-15,-26-17 16,-8-9 0,-42 1-16,-10-18 15,-7 1 1,-18-18-16,-17-8 16,-17-8-1,-9-18-15,-8 1 16,9-35-1,-26 1-15,-17 16 16,-9-8 0,-17-26-16,-17-25 15,-8 9 1,-18-35-16,-8-25 16,0 17-1,-8-9 1,8-8-16,0 26 0,-9-26 15,1 17 1,-9-1 0,-9-16-16,-8 9 15,-9-26 1,-16-1-16,7 35 16,1-17-1,8 0-15,-8 17 16,-17-9-16,-26 26 15,-34 17 1,-17-17 0,0 9-16,-26 25 15,-25 8-15,-9 9 16,-25 0 0,-18 25-16,-16 18 15,-52 25 1,17 8-1,-8 9-15,8 9 16,-8 25 0,-35 0-16,27 8 15,-52 1 1,51 8-16,-43 25 16,-67 9-1,24 9-15,10 8 16,-35 17-16,-34 8 15,-8-8 1,-9 18 0,-26 24-16,112 1 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19:59:13.981"/>
    </inkml:context>
    <inkml:brush xml:id="br0">
      <inkml:brushProperty name="width" value="0.05292" units="cm"/>
      <inkml:brushProperty name="height" value="0.05292" units="cm"/>
      <inkml:brushProperty name="color" value="#FF0000"/>
    </inkml:brush>
  </inkml:definitions>
  <inkml:trace contextRef="#ctx0" brushRef="#br0">7169 6582 0,'0'0'0,"0"0"0,0 0 0,0 0 16,0 0 0,0 0-1,0 0-15,0 0 16,0 0-16,0 0 15,34-8 1,60-1 0,34-8-16,43-17 15,60 9-15,-1-9 32,18 8-32,33 1 15,43 16-15,9 1 16,26 16-1,33 9-15,10 9 16,33 8 0,43-17-16,42-9 15,10 18-15,7-9 16,-25-17 0,-119 0-16</inkml:trace>
  <inkml:trace contextRef="#ctx0" brushRef="#br0" timeOffset="730.4">15901 6404 0,'0'0'0,"25"-9"0,43 1 15,61 8 1,75-9-16,52 1 16,35-1-1,67-8-15,77 9 16,69-9-1,68 25-15,59 26 16,103 17 0,-8 17-1,-308-25-15</inkml:trace>
  <inkml:trace contextRef="#ctx0" brushRef="#br0" timeOffset="11780.98">9337 8709 0,'0'0'0,"0"0"0,0 0 16,0 0 0,0 17-16,9 0 15,-1 8-15,1 1 16,-1 8-1,-8-9 1,0 9-16,-8-8 16,8-1-1,0 1 1,0-9-16,0 0 0,0 0 16,0 0-1,8 0 1,9 0-16,1 0 15,16 0 1,8-9-16,18 1 16,25-1-1,35 1-15,16-9 16,10 0 0,24 8-1,1 1-15,-17 8 16,33 0-1,1 0-15,-26-9 16,35 9-16,-10-8 16,-24-1-1,41 1-15,1-9 16,-60 17 0,-17-9-16,-8 1 15,-26-9 1,-43 0-16,-17 0 15,-8 8 1,-18-8-16,1 0 16,-1 0-1,1-8-15,-1-1 0,1-16 32,8-26-32,17-17 15,-8 25 1</inkml:trace>
  <inkml:trace contextRef="#ctx0" brushRef="#br0" timeOffset="54894.31">2253 2926 0,'0'0'0,"0"8"0,-8 26 0,-1 34 15,1 0 1,-1-8-16,1 8 16,-10 8-1,-7 35 1,-26 8-16,17-9 15,16-42 1,10-17-16,16 9 16,18-9-16,17-17 15,42-8 1,60-9-16,26-9 16,59-25-1,35 0-15,-9-8 16,26 8-1,8 0 1,9-9-16,76 18 16,-8 16-16,-51 1 15,102 16 1,-17-8-16,-17-25 16,9 16-1,34 9 1,-9 0-16,-77 0 15,26 9 1,0-9-16,-25 0 16,25-9-16,17 1 15,-51-18 1,-26 1-16,-68 8 16,-60 0-1,-42 0 1,-61 0-16,-33 0 0,-17 0 15,-9-9 1,0-8 0,0-25-1,0-18-15,0 1 16,26-52 0,85-161-16</inkml:trace>
  <inkml:trace contextRef="#ctx0" brushRef="#br0" timeOffset="80312.22">2842 10809 0,'0'0'0,"0"0"0,17-8 0,0-1 15,9 1 1,-1-1 0,1 1-16,-9-1 15,9-8-15,8 0 31,0 0-31,9 0 16,-1 0-16,1 0 0,0 0 16,-18 0-1,1 0-15,25-8 16,35-1 0,16 1-16,0 8 31,-16 0-31,-27 8 15,35-8 1,26 0-16,8 0 0,0 8 16,34-8-1,43 0-15,-43 9 16,26-9 0,34 0-1,-17 8 1,42-8-16,-16-8 0,67-9 31</inkml:trace>
  <inkml:trace contextRef="#ctx0" brushRef="#br0" timeOffset="85238.37">3337 9899 0,'0'0'0,"-8"9"0,-1 16 16,1 9 0,-10 9-1,10 8-15,-1 8 16,-8-8-16,0-8 31,17 8-31,0-9 0,17 9 16,0-8-1,0-18-15,-8-8 16,17-8 0,33-1-16,35-8 15,26-8 1,-18-9-16,-16 8 15,42-16 1,25-1 0,-16 9-16,-1 9 15,26-1 1,1 9-16,-1-8 16,8-9-1,35 8-15,9-8 16,16 0-1,-25 0-15,-17 17 16,25 17 0,-34-8-16,-25-9 15,8 8-15,-17 9 16,-17-8 0,9-9-1,-18 8-15,-33 9 16,-18-8-1,-17-1 1,-17 1-16,-8-1 16,-9 1-16,-9-1 15,1 1 1,0-1-16,-9-8 16,0 0-1,0 0-15,0 0 16,0-8-16,0-18 15,0-42 1,8-17 0,9-17-16,9-8 15,-9 67-15</inkml:trace>
  <inkml:trace contextRef="#ctx0" brushRef="#br0" timeOffset="86295.73">14014 10588 0,'0'0'0,"0"0"0,9 0 15,25 17-15,26 9 16,51 8 0,77 17-1,25-17-15,0-26 16,-8 1 0,-17-18-16,25-8 15,-51 0-15,-42 0 16,-18 9-1,-42-9 1,-26 8-16,-8 9 16,-18 0-16,1 0 15,-18 0 1,-25-8-16,-77 8 16,-77 0-1,-33 8 1,-10 9-16,26-8 15,60-1 1,51-8-16,35 0 16,24 0-1,18 0-15,0 0 16,17 0 0,26-8-16,68-26 15,94-9 1,51 18-16,-9 8 15,-25 17 1,-34 17-16,-35 0 16,-51-9-1,-42 1-15,-17-1 16,-18-8 0,-25 0-16,-162 17 15,-248 0 1,-34 0-16,77 9 15</inkml:trace>
  <inkml:trace contextRef="#ctx0" brushRef="#br0" timeOffset="96472.3">22379 10894 0,'0'0'0,"0"0"0,0 0 0,17-8 16,25-1-1,69 1-15,77-26 16,119 8-1,103 9-15,102 0 16,94 17 0,0 0-1,-196 9-15</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20:02:01.429"/>
    </inkml:context>
    <inkml:brush xml:id="br0">
      <inkml:brushProperty name="width" value="0.05292" units="cm"/>
      <inkml:brushProperty name="height" value="0.05292" units="cm"/>
      <inkml:brushProperty name="color" value="#FF0000"/>
    </inkml:brush>
  </inkml:definitions>
  <inkml:trace contextRef="#ctx0" brushRef="#br0">29924 14364 0,'0'0'0,"0"0"0,0 0 0,0 0 16,0 0-16,0 0 16,0-8-1,-9-1-15,0-8 16,-25-8 0,-17-1-1,-9 0-15,-25-8 16,0 0-1,8 17-15,-9-8 16,1 8 0,-9 0-16,0 8 15,-8 1-15,17 8 16,-9 0 0,8 0-1,1 17-15,17-9 16,-1 9-1,1 0-15,17 0 16,0 0 0,-9 0-16,0 0 15,-8 9 1,0 8-16,-1 0 16,18 0-1,0 9 1,0 8-16,8 0 15,9 8-15,17 1 16,0-9 0,8 0-1,9 0-15,0 0 16,0 25 0,17 18-16,18 8 15,7 0 1,9-17-16,18-8 15,-1 8-15,0 0 16,-8-9 0,8 1-16,9-1 15,-9 1 1,9-9-16,17 8 16,0 9-1,8 9-15,9 0 16,-25-26-1,-1-9-15,-8 1 16,-9-18 0,9 9-1,8 17-15,9 9 16,0-9 0,-9 0-16,1-9 15,-1 1-15,9-1 16,0-8-16,0 0 31,8 26-31,1-9 0,-18-8 31,9-1-31,0 1 16,0-9 0,8 0-16,0 0 15,9 0 1,0 8-16,-17-8 15,-8 0 1,-10-8-16,-7-9 16,7 0-1,18 8-15,-17-16 16,-9-1-16,1-8 16,8-8-1,-9-1 1,9 1-16,-1-1 15,-7 1 1,-10-18-16,1 1 16,9-1-1,-1 1-15,-8-18 16,-9-16 0,8 8-16,10-9 15,-9 1 1,-9-9-16,-9 8 15,1-8 1,-17 9-16,-1-26 16,1-9-1,-9-8-15,-9 9 16,1 8 0,0 0-16,-9 8 15,-9 0 1,0-25-16,1-8 15,-9 8 1,0 8-16,-9 26 16,1 0-1,-10-8-15,-7-9 16,-18 0 0,-8-9-16,-1 1 15,10 8 1,8 8-16,-1 9 15,1 0 1,-17 0-16,-35-9 16,-8 1-1,9-18-15,-9 1 16,-8-1 0,-9 1-16,0 16 15,17 1 1,-26-9-16,-17-9 15,1-17 1,8 9-16,-17 0 16,-1 9-1,27 8-15,-9-9 16,-17-16-16,-1-1 16,27 9-1,-43 9-15,-9-1 16,-26 9-1,1 0-15,-77-17 16</inkml:trace>
  <inkml:trace contextRef="#ctx0" brushRef="#br0" timeOffset="8572.7">22882 9636 0,'0'0'0,"0"0"0,9 0 16,33 17-16,95 0 16,34 0-1,102-26-15,8 1 16,-25-1-16,-25 9 16,-35 0-1,26 17 1,-85-8-1,-86-1 1,-25 1-16,-9-9 16,-34 0-16,-94-17 15,-103-9 1,-59 1 0,-34-1-16,8 9 15,-34 9-15,60 16 16,77-8-16,8 0 31,86 0-31,50 0 16,27 0-16,25 0 0,68-8 31,128-1-15,69 1-16,59 8 15,1 17-15,-18-9 16,-68 1-1,-86 8-15,-33 0 16,-60-9-16,-35-8 16,-25 0-1,-145 9-15,-290 16 32,-197 43-32,223 0 15</inkml:trace>
  <inkml:trace contextRef="#ctx0" brushRef="#br0" timeOffset="11172.44">29667 14270 0,'0'0'0,"-17"-17"0,-25-17 15,-18-17 1,9 0-16,-18 9 15,-24-9 1,7 25 0,18 9-16,0 9 15,-1 8-15,10 8 16,-1 18 0,-17 8-16,0 8 15,9 9 1,-9 0-16,0 9 15,1 0 1,7 25-16,1 17 16,8-9-1,9-8-15,8-8 16,9-9 0,0 17-16,17 34 15,0-17-15,8-17 16,9-8-1,18-1-15,7 18 32,9 16-32,0-8 15,18-8-15,24 8 16,18 0 0,26 25-16,-1 10 15,1-18 1,16-17-1,1 17-15,-1 8 16,-16-33 0,-1-9-16,1-17 0,-1-9 31,-16-16-31,-1 8 16,9 0-1,9-8-15,-9 8 0,-9-9 16,9-8-1,26 9-15,8-1 32,-17 1-32,17-1 15,8 9 1,-7-8-16,-44-18 16,-42 1-16,8-1 15,9-16 1,0-1-16,16 9 15,1-8 1,-25-1-16,-1-8 16,26 0-1,-9-8 1,-25-9-16,-9 0 16,-8-9-16,-1 1 15,-7-1-15,7-16 16,-16-18-1,-1 1-15,-16-18 32,-18 9-32,1-8 15,-18-1 1,-16-34-16,-18-16 16,-17 8-1,0 8-15,0 18 0,-16-26 16,-10-17-1,18 16-15,-1 18 16,1 9 0,-9-9-1,0-26-15,-8 1 16,0 25-16,-27 0 31,-33-34-31,-25-9 16,-10 17-1,-8 18-15,-34-9 16,-25-26-16,8 9 0,0 26 16,-9-1 15,-51-25-31</inkml:trace>
  <inkml:trace contextRef="#ctx0" brushRef="#br0" timeOffset="29157.35">15389 6565 0,'0'0'0,"17"0"0,8 0 0,9 17 16,-8 0-1,0 0-15,-1-8 16,-8-1 0,0 1-16,9-18 15,-9 1 1,9-1-16,-9 1 15,0-1 1,0 1 0,8 8-16,-8-9 15,-8 9-15</inkml:trace>
  <inkml:trace contextRef="#ctx0" brushRef="#br0" timeOffset="30265.26">15047 6565 0,'0'0'0,"9"0"0,8 17 15,17 0 1,0 9 0,-8-18-16,-1 1 15,61-18 1,67-8-16,1 0 15,-60 0 1,17-8-16,25 8 16,1 0-16,-35 0 15,-51 17 1,-25 0-16,0 0 16,-9 8-1,-9 9-15,-25 34 16,-85 77-1,-35 34-15,-34-1 32,-33 26-32,41-17 15,61-59-15,25-35 0,17-24 32,18-18-17,25-17-15,8-9 16,9-16-16,17-35 0,34-85 31,35-50-31,25-18 16,-17-25-1,-26 51-15,-17 42 16,-8-8 0,-18 43-1,-7 25-15,-10 25 16,1 9-16,-1 17 15,1 9 1,-1 16-16,26 43 0,35 68 31,-1 77-15,-17 25-16,-34-8 16,-17 8-1,-8-34-15,-1-51 16,1-17-1,8-42-15,0-35 16,0-16 0,0-18-16,-18-16 15,-24-43 1,-52-68-16,-34-69 16,-26-16-1,-16-8-15,7 42 16,18 59-1,-25 18-15,25 33 16,51 34 0,51 18-16</inkml:trace>
  <inkml:trace contextRef="#ctx0" brushRef="#br0" timeOffset="36862.23">15841 7101 0,'0'0'0,"0"0"0,0 0 15,0 0 1,0 0 0,0 0-1,-9 17-15,1 9 16,-18 8 0,9-9-1,0 1-15,0-18 16,8 1-1,-8-1-15,9-8 16,-18-8 0,1-1-16,-1 1 15,0-18-15,-8 1 16,0 8 0,9 0-1,-10 0-15,1 0 16,9 0-16,-1 8 15,0 1-15,1-1 32,-26 1-32,-26 8 0,-9 0 31,-7 8-31,-18 18 16,8 8-1,-25 8-15,-25 18 16,-1-1-1,17 18-15,-25 8 16,0 17 0,8-8-16,-8 8 15,-26 25 1,18-8-16,-1 9 16,-34 8-1,26-9-15,17 1 16,-52 34-1,52-26-15,26-17 16,-9 17 0,8 0-16,18-9 15,25 1 1,8 0-16,18-18 16,8 1-1,9 8-15,17-17 16,17 0-1,17 8-15,0-8 16,26 9 0,25 0-16,8-1 15,10-8-15,25-17 16,25 9 0,9-9-16,-8-17 15,8-9 1,25-8-16,-8-25 15,-25-1 1,8 1 0,-17-1-16,-17 1 15,-9-1-15,-25 1 16,-17-1 0,-18-16-16,-16 0 15,-1-1 1,-8-8-1,0 0-15</inkml:trace>
  <inkml:trace contextRef="#ctx0" brushRef="#br0" timeOffset="37210.23">12598 10903 0,'0'0'0,"0"0"0,0 0 0,0 0 16,0 0-16,0 0 16,8 0-16,18 0 31,25 17-31,34 8 16,18 9-16,-18 17 15,0 9 1,-8-1-16,-26-16 15,-8-9-15,-17 8 16,-9 1 0,-17-9-1,-26 17 1,-68 43-16,-76 33 16,-69 18-1,-17-26 1,34-34-16,-60 25 15</inkml:trace>
  <inkml:trace contextRef="#ctx0" brushRef="#br0" timeOffset="65393.07">11906 8003 0,'0'0'0,"0"0"0,0 17 15,9 8 1,8 9 0,0 0-16,9 17 15,8 17 1,42 17-16,35 9 16,26-18-16,-9-25 15,9 1 1,25-1-1,-26-9-15,-50-16 16,-1-1-16,-8-16 16,-43-9-1</inkml:trace>
  <inkml:trace contextRef="#ctx0" brushRef="#br0" timeOffset="65679.53">13912 8360 0,'0'0'0,"0"0"0,-9 0 16,-25 0-1,-94 0-15,-128 25 16,-60 18 0,-8 16-1,-103 9 1,-85 1-16,103-1 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20:03:47.022"/>
    </inkml:context>
    <inkml:brush xml:id="br0">
      <inkml:brushProperty name="width" value="0.05292" units="cm"/>
      <inkml:brushProperty name="height" value="0.05292" units="cm"/>
      <inkml:brushProperty name="color" value="#FF0000"/>
    </inkml:brush>
  </inkml:definitions>
  <inkml:trace contextRef="#ctx0" brushRef="#br0">2748 3887 0,'0'0'0,"17"-9"0,43-16 15,42-1 1,35 0-16,34 9 15,68 0 1,51 0-16,17 17 16,60 9-1,43-1-15,25 1 16,26-1 0,26 27-16,50 7 15,-127-33 1</inkml:trace>
  <inkml:trace contextRef="#ctx0" brushRef="#br0" timeOffset="7565.21">1545 8709 0,'0'0'0,"0"0"0,-9 0 31,1 0-31,-35 17 16,-25 0 0,17 8-16,16-8 15,10 0 1,8 9-16,0-9 15,8-9-15,1 1 16,-1-1 0,9 1-1,0-1-15,0 1 16,0-9 0,-17 17-16,8 0 15,9 17 1,0 0-16,-8 0 15,8 0 1,-17-9-16,8 1 16,1-1-1,-1-8-15,9-8 16,-17 8 0,17 0-16,0 0 15,0 0 1,0 0-16,17-9 15,-17 1-15,26-1 16,25 1 0,9-1-16,17-8 15,8 0 1,-8 0 0,-9 9-16,43-18 15,51-8-15,-34 9 16,0-1-1,17 1 1,9-9-16,-17 17 16,-26-9-1,8 9-15,18 0 16,-1 0-16,-25 0 16,17 0-1,9 0 1,-1 9-16,-16-9 15,-1-9 1,18 9-16,8 0 16,-17 0-1,0 0-15,17 0 16,0 0-16,-17 0 16,9 9-1,16-9 1,1 0-16,-18-9 15,10-8 1,24 9-16,-25-9 16,-17 0-16,17 8 15,-16-8 1,-1 0 0,-18 17-16,27-8 15,17-1 1,-18 1-16,-8 8 15,17-9 1,18 9-16,-27 0 16,1 0-1,16 9-15,1-9 16,-9 8 0,9-8-16,33 17 15,-16-8 1,8-1-16,35 1 15,-1-1 1,0-8-16,9-8 16,9-1-1,25 1-15,-17-1 16,0 9-16,8 9 16,-8-1-1,-8 1-15,-9-1 16,17 1-1,8-1 1,1 9-16,-18-17 16,9 0-1,9 9-15,-18-1 16,-17 1-16,1 8 31,-18 0-31,17 8 16,18-8-16,-9 0 15,25 0 1,9 0-16,-8 0 16,-1 0-1,-16 0 1,-9-8-16,0-1 0,0 1 31,-18-9-31,10-9 0,-9 9 16,-18 0-1,10 0 1,-27 0-16,-33 0 16,0 0-1,-27 9 1,-24-1-16,-26-8 16,-18 0-16,-16 0 15,-1 0 1,-16 0-16,0 0 0,-1-8 15,9-9 1,0-26-16,17-33 31,18-26-15,-18 51-16</inkml:trace>
  <inkml:trace contextRef="#ctx0" brushRef="#br0" timeOffset="21798.23">7750 10316 0,'0'0'0,"0"0"0,0 0 16,0 0-1,17 0-15,60 0 16,59 8-1,112-16 1,93-1-16,35 1 16,16-1-1</inkml:trace>
  <inkml:trace contextRef="#ctx0" brushRef="#br0" timeOffset="23899.63">11053 11617 0,'0'0'0,"0"-8"0,17-1 16,34-25-16,51-17 15,95-8 1,93-10-1,154 1-15,93 43 16,-135 25-16</inkml:trace>
  <inkml:trace contextRef="#ctx0" brushRef="#br0" timeOffset="37107.35">5898 13624 0,'0'0'0,"0"0"0,0 0 15,0 0 1,17 0-1,8 9-15,61 8 16,76-9 0,60-16-1,102 8-15,52 17 0,67 8 16,61 1 0,-9-9-16,-85-17 15</inkml:trace>
  <inkml:trace contextRef="#ctx0" brushRef="#br0" timeOffset="44651.1">10959 15146 0,'0'0'0,"0"0"0,0-8 31,0-1-31,-9 1 16,1-9-16,-1 8 16,1-8-1,-1 0-15,1 9 16,-1-1-16,1 1 15,8 8-15,0-9 32,0 1-17,17-1-15,25-16 16,10-1-16,24-8 16,27 0-1,50 9 1,35 8-16,-26 8 0,60 18 31,9 8-31,42 0 0,34 8 16,17 1-1,43-9 1,-34-17 0,17 0-16,43 0 15,-69 8 1,9-8-16,17-8 15,-43-1 1,52 1-16</inkml:trace>
  <inkml:trace contextRef="#ctx0" brushRef="#br0" timeOffset="46299.51">6350 15648 0,'0'0'0,"0"0"0,0 0 16,0 0-16,0 0 15,9 17 1,8 26-16,34 16 15,60 1 1,85-35 0,69-76-16,76-68 15</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20:05:03.743"/>
    </inkml:context>
    <inkml:brush xml:id="br0">
      <inkml:brushProperty name="width" value="0.05292" units="cm"/>
      <inkml:brushProperty name="height" value="0.05292" units="cm"/>
      <inkml:brushProperty name="color" value="#FF0000"/>
    </inkml:brush>
  </inkml:definitions>
  <inkml:trace contextRef="#ctx0" brushRef="#br0">21977 4907 0,'0'0'0,"43"0"0,34 9 0,68-1 16,86-8-1,-44 9-15,18-9 16,43 8-1,76 1-15,34-1 16,-25 1 0,43-1-16,-1-8 15,-33 0 1,25-8-16,-26-1 16,-17-8-1,-8-8-15,-51 8 16,-43 0-1,-60-9-15,-8 9 16,-52 0 0,-42 17-1,-26 0-15,-26 0 16,1 0-16,-26-8 16,-51-1-1,-69-8 1,-59 17-16,-43 9 15,-26 8 1,-8 0-16,-43 17 16,-34 17-16,9 8 15,-69-33 1,18-1 0,50 9-16,-93 0 15,51-17-15,68-8 16,-59-9-1,67 8 1,52-8-16,34 0 16,77-8-1,0-1-15,60 1 16,34-1 0,25 1-16,35-9 0,59-26 31,137-33-31,110-1 15,78 18 1,102 25-16,26 42 16,25 9-1,17 0-15,-8 9 0,8 16 16,-153-8 0</inkml:trace>
  <inkml:trace contextRef="#ctx0" brushRef="#br0" timeOffset="2002.55">4455 3861 0,'0'0'0,"0"0"0,0 0 0,0 17 16,0 26-16,0 33 15,0 52 1,-8-1 0,-1 26-16,-8 17 15,-9-34 1,9-42-1,9 0-15,8 8 16,17-9-16,0-25 16,-8-25-1,8-9 1,42 8-16,61-8 16,16-25-16,-42-18 15,34-8 1,94-25-1,-68-1-15,8-8 16,86 9-16,-52 8 16,43 0-1,-17 17 1,42 0-16,27 0 16,16-17-16,9 0 15,-26 0 1,0 0-16,-17 8 15,17 9 1,-25 9 0,-35 8-16,-16 8 15,-44-16 1,-67 8-16,-9 0 16,-26 0-1,-25 8-15,-18-8 16,-16 0-1,-1 0-15,1 0 16,-9-8-16,8-26 16,1-26-1,-9-42 1,8 0-16,1-9 16,8 1-1,9 8-15,-9-9 16,8 9-16,1 17 15,-9 17 1,-8 17 0,-1 17-16,-8 8 15,0 9 1,-8 0-16,-10 9 16,-33-1-1,-17 9-15,-60 17 16,-77 9-1,-77 16-15,-59 27 16,-60 7 0,-69-16-16,-42-43 15,-51-9 1,-17-16-16,-9-9 16,-9 8-1,189 9-15</inkml:trace>
  <inkml:trace contextRef="#ctx0" brushRef="#br0" timeOffset="8001.16">10413 4524 0,'0'0'0,"0"0"0,0 0 0,0 0 15,0 0 1,0-8 0,34-9-16,43-9 15,51 1 1,0-9-16,17-9 15,77-25 1,-43 0-16,34-25 16,35-18-1,50 9-15,27 0 16,16-17-16,52-17 16,-35 25-1,18 18-15,76 16 16,9 18-1,-43 8 1,52 8-16,16 35 0,-16 8 16,-1 8-1,35 9 1,-1 34 0,-50 17-16,-44 26 15,-25-18 1,-8 1-16,-26-1 0,-77-33 31,-43-1-31,-68-16 16,-68-18-1,-34 1-15,-26-1 16,-17 1-16,-8-9 16</inkml:trace>
  <inkml:trace contextRef="#ctx0" brushRef="#br0" timeOffset="8275.24">20168 3427 0,'0'0'15,"0"0"-15,0 0 16,0 0-16,0 0 16,43 26-1,51 8 1,42 0-16,35 0 31,17 0-31,-26-9 0,-43 1 16,-50-1-1,-18 1 1,-26-1-16,-25 9 16,-136 52-1,-410 50-15,127-68 16</inkml:trace>
  <inkml:trace contextRef="#ctx0" brushRef="#br0" timeOffset="10355.74">15303 5324 0,'0'0'0,"9"0"0,42 17 16,94 0-1,85-9 1,61-16-16,50-9 16,-34 0-1,9 8-15,-9 1 16,-42-9-1,-52 8 1,-59 1-16,-18-1 16,-76 9-16,-34 0 15,-9 0-15,-26-8 16,-110-1 0,-205 9-16,-95 0 15,1 9 1,26 16-1,76-8-15,85 0 16,78-8 0,67-1-1,44-8-15,25 0 16,17 0 0,34 0-16,153 0 15,112-8 1,34-9-16,-26 0 15,-51 8-15,-59 9 16,-78 9-16,-42-1 16,-43-8-1,-17 0-15,-51 17 32,-282 85-32,-145 26 15,137-69 1,94-25-16,84-17 15,87-8 1,42-9-16,76 0 16,334-17-1,264 0-15,17 8 16,-247 1 0</inkml:trace>
  <inkml:trace contextRef="#ctx0" brushRef="#br0" timeOffset="13177.72">12581 8300 0,'25'-8'0,"112"-9"0,153-26 16,77-16-1,60-18 1,110 9-16,35-8 16,111-1-1,25 26-15,-25 26 16,-51 33 0,-26 26-16,8 9 15,-93-9 1,-69 8-16,-102-8 15,-111 0-15,68 9 16</inkml:trace>
  <inkml:trace contextRef="#ctx0" brushRef="#br0" timeOffset="13870">21064 13165 0,'0'0'0,"0"0"0,0 0 31,-17-9-31,-60-8 16,-85-34-1,-60-25 17,-94-18-32,-93 1 0,-35 42 0,-17 25 15,-77 9 1,-59 26-16,25 8 16,9 0-16,42-9 31,86 9-31,59-17 15,69-17 1,85 0 0,77-8-16,51-1 15,43 1-15,25-1 16,43-25 0,43-34-16,-17 43 15</inkml:trace>
  <inkml:trace contextRef="#ctx0" brushRef="#br0" timeOffset="13949.42">15295 12025 0,'0'0'0,"0"0"0,0 0 15</inkml:trace>
  <inkml:trace contextRef="#ctx0" brushRef="#br0" timeOffset="26704.32">8578 8419 0,'25'9'16,"78"16"-16,84 9 0,-16-17 0,-68-8 31,-35-1-31,-17 1 15,-25-1 1,-9-8-16,-9 0 16,-42-8-1,-120-9-15,-93-9 16,-35 9-16,-51 9 16,-59 25-1,16 8 1,103 1-16,102-18 15,78 1 1,50-9-16,34 0 16,26-9-1,103-42-15,145-34 0,84 9 16,-33 25 0,-43 34-1,-42 25 1,-86 9-16,-51 0 15,-34 9-15,-35-1 16,-33 26 0,-1-17-1</inkml:trace>
  <inkml:trace contextRef="#ctx0" brushRef="#br0" timeOffset="32238.67">23975 7994 0,'0'0'0,"8"0"0,35-8 16,34-1-1,17-8-15,-1 0 16,27-8 0,68-9-16,-18 0 15,35 8 1,60 9-16,8-8 16,9-1-1,-9 1-15,-9 8 16,-8-9-1,-8-8-15,-60 9 16,-60 7 0,-26 1-16,-51 0 15,-25 17-15,-18 0 16,-8-8-16,-68-1 31,-111-8-31,-111 0 16,-18 17-16,-24 17 15,-44 26 1,1 8 0,33-17-16,35-17 15,34 9 1,42-1-16,78-16 16,76-9-1,34 0-15,35 0 16,25 0-1,94-9-15,153-16 16,78-9 0,42-9-16,17 0 15,-43 26 1,1-8-16,-35 8 16,-34 8-1,-76 9 1,-95 0-16,-59 9 15,-43-9-15,-85 8 16,-342 86 0,-204 42-1,-27 0-15,44 17 16,68-17-16,119-51 16</inkml:trace>
  <inkml:trace contextRef="#ctx0" brushRef="#br0" timeOffset="34072.28">26697 8709 0,'0'0'0,"0"0"0,17-9 0,0 9 16,18 0 0,-1 0-1,17 0-15,17 17 16,26 0-16,26 17 16,8 0-1,-17 17-15,0 9 16,-1 16-1,-7 9-15,-26 17 16,-9 0 0,-17 9-16,-17 8 15,-17 26 1,-17 16 0,-17 9-1,-17 34-15,-26 0 16,-8-8-1,-17 0-15,-18 16 16,1-16 0,-9-1-16,-8 10 0,-1-44 31,1-25-31,8-8 16,0-18-1,17-33-15,17-35 16,9-25-1,16-17-15,-7-42 16,8-43 0,8 0-16,9-51 15,25-60 1,26 69-16,9 76 16,-18 25-1,1 9-15,-1 9 16,1 8-1,-9 25-15,-9 60 16,-8 60 0,-34 50-16,-9 9 15,26-59-15,0-43 16,17-25 0,17-18-1,26-8-15,33-17 16,95-25-16,85-52 15,34-42-15,0 0 32,60-26-32</inkml:trace>
  <inkml:trace contextRef="#ctx0" brushRef="#br0" timeOffset="79285.45">26313 8232 0,'0'0'0,"9"0"0,33 17 0,61 0 15,42 0 1,0 17 0,34 26-16,1-1 15,-35 9 1,17 18-16,17 24 15,0 9-15,-42 17 16,-26 26 0,-9 42-1,-25 17-15,-51 9 0,-43 16 32,-60 43-32,-43 9 15,-50 8 1,-27 0-16,18-25 15,-9-17 1,0-9-16,26-43 16,34-59-16,26-42 15,42-26 1,26-34 0,17-25-16,17-18 15,8-25 1,1 0-16</inkml:trace>
  <inkml:trace contextRef="#ctx0" brushRef="#br0" timeOffset="79506.57">26808 12425 0,'-8'9'0,"-52"50"0,-34 60 0,17 26 16,26-43-1,34-43 1,8-8-16,18 0 0,25 0 31,60 17-31,68-8 16,60-18 0,85-25-16,69-17 0</inkml:trace>
  <inkml:trace contextRef="#ctx0" brushRef="#br0" timeOffset="84014.32">2834 5375 0,'0'0'0,"17"0"0,77 25 0,51 1 15,-51-18 1,-43 1 0,128 8-16,43-17 15,-34-26-15,85-25 16,43 0 0,-52 9-16,129 16 15,-60 18 1,-52 8-16,206-9 15,-129 9 1,-85-17-16,180-8 16,-129 8-1,-51 17 1,51 0-16,-67 17 16,-36 8-1,-7-8-15,-18 9 16,-102-18-16,-60 1 15,-8-9 1,-9 0 0,-9 8-16,-84 1 15,-70 25 1,-93-9-16,-34-8 16,-119-8-1,8 8-15,145 8 0,-222-8 16,51-8-1,103 8-15,-86 0 32,-51 17-32,103 0 15,34 34-15,-18 0 16,69-8-16,77-9 16,68-17-1,17 0 1,60-26-16,26 1 15,16-1-15,188-33 32,129-35-32,16-16 15,129 7-15,144 10 16,18 33 0,-103 26-1,-128 9-15</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20:10:01.130"/>
    </inkml:context>
    <inkml:brush xml:id="br0">
      <inkml:brushProperty name="width" value="0.05292" units="cm"/>
      <inkml:brushProperty name="height" value="0.05292" units="cm"/>
      <inkml:brushProperty name="color" value="#FF0000"/>
    </inkml:brush>
  </inkml:definitions>
  <inkml:trace contextRef="#ctx0" brushRef="#br0">15670 9219 0,'17'-9'0,"69"-8"0,144-25 0,-17-1 15,-42 9-15,60-17 16,-52 17 0,-26 9-16,1 8 15,-43 17 1,-51 0-16,-35 0 15,-16 0 1,-18 0-16,-85 34 16,-136 51-1,-69 0-15,-51-9 16,-17-16 0,43 8-16,25-26 15,43-25 1,103-17-16,76-8 15,34-1 1,18 1-16,42-26 16,102-60-1,120-25-15,68 9 16,69 25 0,-1 42-16,-50 35 15,-35 16 1,-34 9-16,-77 0 15,-76 17 1,-18-8-16,-51-18 16,-17 1-1,-17-9-15,-256 34 16,-418 127-16,-94 52 16,358-102-1</inkml:trace>
  <inkml:trace contextRef="#ctx0" brushRef="#br0" timeOffset="23851.48">15337 9159 0,'9'0'0,"102"-17"0,59 9 0,87 8 16,-1 17-1,-17 8-15,8 9 16,-59-8 0,8 8-16,-34 0 15,-68-9 1,-51-8-1,-18-8-15,-7-1 16,-10 1 0,-16 8-16,-95 17 15,-119 25 1,-77 1-16,-144-9 16,33-17-16,111 0 15,-68-17 1,94-8-1,128-1-15,17-16 16,77 8-16,25 0 16,43-9-1,103-33-15,144-35 16,155-8 0,33 0-1,-42 25-15,-43 18 16,-26-1-16,-68 9 15,-102 17 1,-43 17-16,-77 9 16,-34-1-1,-256 60 1,-614 153-16,-351 120 16,624-137-16</inkml:trace>
  <inkml:trace contextRef="#ctx0" brushRef="#br0" timeOffset="27747.69">27756 4882 0,'0'0'0,"17"8"0,60 18 0,76 25 16,61 8 0,50-8-16,26-17 15,18-8-15,84-1 16,-16-8-1,-52-8-15,94-9 32,-8-9-32,-43-8 15,-17 0 1,-34 9-16,-43-9 16,-43 17-1,-33 8-15,-52-8 16,-60 9-16,-34-9 15,-25 0 1,-18 0-16,-8 0 16,-51-9-1,-103-16 1,-119-18-16,-51 1 0,-26 25 16,-51 0-1,0 8 1,8 18-1,-16-1-15,16-8 16,17 9 0,35-1-16,93-8 15,78-8 1,59-9-16,43 0 16,25 8-1,34 9-15,26-8 16,77-18-1,188 9-15,119 17 16,26 34 0,42 26-16,26-9 15,17 0 1,0 8-16,9 18 0,-9-9 16,-111-17-1</inkml:trace>
  <inkml:trace contextRef="#ctx0" brushRef="#br0" timeOffset="35904.46">15773 9780 0,'0'0'0</inkml:trace>
  <inkml:trace contextRef="#ctx0" brushRef="#br0" timeOffset="36504.76">15525 9491 0,'0'0'0,"0"0"0,0 0 16,0-9-16,0-8 15,17-17 1,17-34 0,43-25-16,43-1 15,110-8-15,18 17 16,-18 43 0,-17 16-16,-25 9 15,8 17 1,-76 9-1,-60-1-15,-26 1 16,-17-9-16,-26 0 16,-76 8-1,-171 9-15,-120 0 16,-8-8 0,60-9-1,42 0-15,69 0 16,85 8-1,60-8-15,34 0 16,16 0-16,18 0 16,26-8-1,128-26 1,85-9-16,68 1 16,17 8-1,-42 25-15,-35 9 16,-33 0-1,-18 17-15,-76-8 16,-61-1 0,-25 1-16,-8-1 15,-17-8-15,-129 0 16,-341 0 0,-128 9-16,-51 8 15,-60 17 1,291-9-16</inkml:trace>
  <inkml:trace contextRef="#ctx0" brushRef="#br0" timeOffset="38119.57">27756 5077 0,'0'0'0,"0"0"0,0 0 16</inkml:trace>
  <inkml:trace contextRef="#ctx0" brushRef="#br0" timeOffset="38717.68">27756 5009 0,'0'0'0,"0"0"0,0 0 16,34 17 0,43 17-1,59 0 1,78 0 0,50-17-16,26-17 0,43 0 31,68 9-31,35-1 15,-10 9 1,18 17-16,-34-8 16,17 8-16,-60-9 15,-120 9 1,-16 9-16,-69-9 16,-77-9-1,-34-16 1,-34-1-16,-8-8 15,-43-17-15,-120-34 16,-153-17 0,-52 17-1,-16 17-15,-18 9 16,1 8 0,25 0-16,34 17 15,8-9 1,61 1-16,50 8 15,44-9 1,59 1-16,68 8 16,18-9-1,33 1-15,103-1 16,179-16 0,111 25-16,26 17 15,25 17 1,35 8-16,-52 1 15,-102-18 1,-102-8-16,-129-8 16,-68-1-1,-34 1-15,-17 8 16</inkml:trace>
  <inkml:trace contextRef="#ctx0" brushRef="#br0" timeOffset="42105.37">31007 8734 0,'0'0'0,"0"0"0,0 0 16,0 0 0,0 0-16,0 0 15,0 0 1,9-8 0,0-9-16,-1-9 31,1 1-31,-1-18 0,-16-8 15,-1 0 1,-17-9-16,-8-16 16,-25-9-1,-10 8-15,1 26 16,8 17-16,-34 0 16,-8 17-1,0 17 1,-9 26-16,-9 25 15,-8 17-15,17 0 16,0 17 0,9 8-1,-1 35-15,9 0 16,1-9 0,-10 34-16,1 25 15,8-33-15,26-9 16,-18 26-1,18-1 1,17-25-16,8 34 0,17 9 16,18-35-1,8 44 1,26 16 0,16-26-16,26 26 15,1-8 1,-10-26-16,18 9 0,17 8 15,0-34 1,43 25 0,16-7-1,1-35-15,8-17 0,34-9 32,-8-25-32,-17-25 15,0-9 1,-35-34-1,1-34-15,-9-17 0,-9-17 16,-8-17 0,9-34-1,-1-34-15,1-34 16,8-18-16,8-33 16,-16-8-16,-18-1 31,-17 9-16,-8-43-15,-17 9 16,-17 17-16,-9-9 16,-9 26-16,-8-17 15,-8 34 1,-26-26 0,-17 18-16,-26 50 15,-25-33 1,-35 8-16,-25 42 15,-17 17 1,-60-16-16,-68 33 0,-60 60 31,-85 43-31,-18 42 16,44 34-16,33 17 16</inkml:trace>
  <inkml:trace contextRef="#ctx0" brushRef="#br0" timeOffset="44894">17428 7220 0,'0'0'0,"0"0"16,0 0-16,0 0 15,0 0 1,9-8-16,16-9 15,10-17 1,33-26 0,34-16-1,61-18-15,24 1 16,-7 16-16,50-25 16,26-9-1,43 9-15,59 0 16,-33 9-1,50 8-15,69-17 16,-9 17 0,-51 25-16,52 9 15,33 17-15,-8 17 16,25 9 0,-50 25-16,-18 17 31,51 17-31,43 42 0,-8 9 31,-26 9-31,-9 8 16,-16 34-16,-61 17 15,44 17-15,24 43 16,-24 8 0,-44 0-16,-16 34 31,68 26-31,-35 8 15,-93-8 1,-51 42-16,-43 8 0,-60-16 16,-34 59-16,-34 1 15,-26-18 17,-42 17-32,-61 9 15,-16-26-15,-34-34 16,-69 9-1,-42-18-15,-35-33 16,-50 0 0,-52-26-16,17-43 0,-34-24 15,-77-1 1,18-51-16,16-43 31,-76 1-15,-35-26-16,1-17 15,-9-34-15,-26-26 0,0-33 16,9-18 0,0-8-1,17 9-15,8-1 32,1-16-32,76 8 15,9-17 1,-35 8-16,27 1 15,24-1 1,61 18-16,34 16 16,42 18-16,103 8 15,8-9 1,52 9-16,59 0 16,26-8-1,17-9 1,9-26-16,42-50 15,43-18-15,8 17 16,-8 9 0,-17 9-16,-17 25 15,-26 8 1,-9 26-16,-16 0 16,0 9-1,-35 8 1,-59 17-16,-129 93 15,-33 35-15,8 8 16,0 26 0,68-43-1,60-43-15,51-16 16,35-18-16,50-8 16,146 17-1,230-25-15,86-60 16,-86-17-1</inkml:trace>
  <inkml:trace contextRef="#ctx0" brushRef="#br0" timeOffset="75626.96">29992 2815 0,'0'0'0,"0"0"15,0 0 1,0 0-16,0 0 15,0 0-15,0 0 16,0 0-16,0 0 31,0 0-15,0 0-16,0-9 16,0 1-16,8-9 15,9-9 1,-8 9-16,-1 0 15,1 9 1,0-1 0,-9 9-16,0 0 15,0 0 1,0 0-16,0 0 16,0 0-1,0 0-15,0 0 0,0 0 31,0 0-31,0 0 16,0 0 0,0 0-16,0 0 15,0 0 1,0 0-16,0 0 16,0 0-16,0 0 15,0 0 1,8 34-16,-8 86 15,-8 67 1,-18 25 0,-8-16-16,17-52 15,0-59 1,8-34-16,1-25 16,8-18-16,0-8 0</inkml:trace>
  <inkml:trace contextRef="#ctx0" brushRef="#br0" timeOffset="75887.75">29804 3121 0,'0'0'0,"-9"34"0,1 26 0,-9 16 15,8 18 16,9-9-31,0 8 16,9-16 0,8-18-16,9-16 15,16-1 1,18-16-16,42-35 0,61-50 31,58-77-31,53-85 16</inkml:trace>
  <inkml:trace contextRef="#ctx0" brushRef="#br0" timeOffset="78584.25">4780 6999 0,'0'0'0,"25"-8"0,43-1 16,43-8-1,52-17 1,-10 0-16,35-8 15,25-9-15,1 17 16,8 0 0,17 0-1,25 0-15,26-9 16,1 9-16,16-9 16,34-16-1,-8 16 1,17 9-16,51 9 15,-17-1 1,9 26-16,34 0 16,8 9-1,-17-9-15,9 17 16,42 0 0,-25 0-16,51-9 15,17 1-15,9-9 16,-9-17-1,-9 0 1,10 0-16,7-9 16,18 1-1,0-9-15,8 8 16,-8-8 0,33 0-16,27 0 15,-1 0 1,-8 9-16,-43-1 15,1 9-15,-18 0 16,-26 0 0,-33 17-1,-35 9-15,26-1 16,34 9-16,-51 9 16,17-1-1,-86 9-15,1 0 16,59 9-1,-25 8 1,-86 0-16,-17 8 16,1 26-1,-35 9-15,-26 0 16,-59-18 0,0 1-16,-26 33 15,-17 18 1,17 33-16,0 35 15,-59-1 1,-18 44-16,-8 33 16,-17 34-1,-9 0-15,9 34 16,8 51 0,-34-16-16,-34 41 15,-43 18-15,-8-17 16,0-17-1,0-18 1,8 1-16,-8-34 16,0-18-1,8-16-15,0-17 16,-34-18 0,-8-33-16,0-9 15,-9-25 1,-17-52-16,-26-8 15,-25-8 1,0-26-16,-34-34 16,-52-17-16,-42-25 15,-77-18 1,17-25 0,-51-25-16,-43-18 15,-8-17 1,-18-16-16,18 8 15,-9 8 1,-25 1-16,-26-1 16,-26 9-16,0 9 31,-17 8-31,-16 0 16,-18 8-16,-17 26 15,-26 0 1,9 0-1,34 0-15,9 0 0,-9 0 16,0-8 0,9-18-1,16 1 1,9-1-16,-8 18 16,-26 16-1,-25 26-15,8 0 0,0 0 31,42 0-31,1-17 16,-17 9 0,-18-1-16,-8 9 15,0 17 1,-17 0-16,-42 0 16,50 9-16,43 25 15,35-17 1,24-34-1,27-17-15,76-25 16,18-44-16,16-16 16</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20:08:55.512"/>
    </inkml:context>
    <inkml:brush xml:id="br0">
      <inkml:brushProperty name="width" value="0.05292" units="cm"/>
      <inkml:brushProperty name="height" value="0.05292" units="cm"/>
      <inkml:brushProperty name="color" value="#FF0000"/>
    </inkml:brush>
  </inkml:definitions>
  <inkml:trace contextRef="#ctx0" brushRef="#br0">973 11906 0,'0'0'0,"0"0"0,34-17 0,9-17 0,51-17 15,51-17 1,17 9-16,0 16 15,51 18-15,26 16 16,43 26 0,34 17-16,17-25 15,76-18 1,52-25 0,43-8-1,25-9-15,-119 0 0</inkml:trace>
  <inkml:trace contextRef="#ctx0" brushRef="#br0" timeOffset="1203.3">7169 11923 0,'0'0'0,"0"0"0,0 0 15,0 0 1,0 0-1,0 0-15,0 0 0,0 0 16,0 0 0,0 0-1,0 0 1,0-8 0,17-1-16,26-8 15,34-8 1,42-18-16,18 9 15,8 9 1,-8 8-16,-18 0 16,1 0-1,-18 17-15,-51 0 16</inkml:trace>
  <inkml:trace contextRef="#ctx0" brushRef="#br0" timeOffset="1707.68">9653 11796 0,'0'0'0,"0"0"0,0 0 16,9 0 15,42 0-31,77 0 15,119 8-15,69-16 16,85-1-16,103 1 16,16 16-1,-110 18-15</inkml:trace>
  <inkml:trace contextRef="#ctx0" brushRef="#br0" timeOffset="-177231.57">7306 9083 0,'68'0'0,"94"0"0,163 25 0,110-8 15,43-8-15,111-26 16,51-9 0,94 9-16,119 9 15,-50 8 1,-377 8-16</inkml:trace>
  <inkml:trace contextRef="#ctx0" brushRef="#br0" timeOffset="-175072.38">15994 9185 0,'0'0'0,"0"0"0,18 0 0,41-9 32,27 1-17,-27-9-15,35-9 0,103-25 16,-18 9 0,-94 25-1,18 0-15,16 0 16,-59 17-1,-26 0 1,-17 0-16,-8 0 16,-35 8-16,-42 18 0,-86 25 31,-34-17-31,60-9 0,17 1 16,9-18-1,34 1-15,33-9 31,18-9-15,26 1-16,17-26 16,42-17-1,60-9-15,34 18 16,-60 16 0,-50 26-16,-27 0 15,-16 0 1,-1 0-16,-33 9 15,-44 8 1,-16 8-16,8-8 16,18-8-1,24-1-15,18 1 16,17-9 0,0 0-16,0 0 15,9 8 1,25 9-16,0 0 15,-8 0 1,-9 17-16,-17-8 16</inkml:trace>
  <inkml:trace contextRef="#ctx0" brushRef="#br0" timeOffset="-174128.02">17241 9193 0,'0'0'0,"0"0"0,0 0 0,0 0 16,34 0-1,68-8 1,154-9-16,69-17 0,-1 17 31,77 0-31,-17 17 0,-128 8 32,-17 9-17,-17 9-15,-77-9 16,-85-9-16,-35 1 15,-7-9 1,-95 0 0,-162 0-16,-94 8 15,-102-8-15,51-17 16,127 9-16,27-9 31,85 0-31,85 8 16,35 9-1,25-8-15,59-1 16,189-25 0,85 9-16,-60 25 15,102 17 1,-67 8-16,-129-8 16,0 0-1,-77-8-15,-59-1 16,-26 1-1,-17-9-15,-94 8 16,-204 9 0,-61-17-16,60-25 15,78 8 1,84 8-16,60-8 16,60 17-1,17 0-15</inkml:trace>
  <inkml:trace contextRef="#ctx0" brushRef="#br0" timeOffset="-173374.61">1144 10409 0,'0'0'0,"8"0"0,95-17 15,93 0-15,69-8 16,67-18 0,52 1-16,111 16 15,1 26 1,-10 9-16,43 33 16,52 26-1,-163-8-15</inkml:trace>
  <inkml:trace contextRef="#ctx0" brushRef="#br0" timeOffset="-166878.53">7528 10478 0,'0'0'0,"-9"0"0,-16 0 16,-18 8-1,-17 1-15,1-1 16,24 9-1,-7 9-15,-18 16 16,-8 18 0,8-9-16,17 8 15,9 26 1,9 43-16,7 8 16,18-17-1,26-17-15,17 34 16,-1-8-1,-16-43-15,17-26 16,25-16 0,43-18-16,17-33 15,-26-43 1,1-34-16,25-17 16,-34 8-1,8-34-15,-17-33 16,-42 25-1,-26 8-15,-42-33 16,-18 8 0,-17 34-16,-34 16 15,-51 27 1,-94 50-16,-94 94 16,-110 188-1,-27 203-15,197-128 16</inkml:trace>
  <inkml:trace contextRef="#ctx0" brushRef="#br0" timeOffset="-165590.22">10165 10044 0,'0'0'0,"0"0"0,0 0 0,-8-9 15,-1 1 1,1-1 0,-27-8-16,-16 9 15,-17 16 1,-17 26-16,-26 34 15,-17 34 1,0 17-16,25 9 16,35 0-16,17-26 15,8 0 1,9-9 0,17-8-16,17-8 15,17-18 1,17 1-16,26 8 15,34-9-15,17 1 16,-9-9 0,9 0-1,25 0-15,27 0 16,-1 0 0,8-25-16,44-1 15,8-16 1,-9-18-16,9-8 15,0 0-15,0 0 16,0-17 0,17-8-16,-17-26 15,-26-9 1,-17-17-16,-34 1 16,-34-1-1,-17-16 1,-26-1-16,-33 9 15,-27-8 1,-34-18-16,-33 0 16,-44 1-16,-93-1 15,-69 26 1,-110 43 0,-86 33-16,-43 26 15,-16 43 1,-18 33-16,-42 43 15,179-17-15</inkml:trace>
  <inkml:trace contextRef="#ctx0" brushRef="#br0" timeOffset="-149253.54">12563 13216 0,'0'0'0,"0"0"0,0-9 0,26-8 15,51-17 1,68-8-1,68 8 1,60 8 0,69 9-16,33 0 0,-8 17 15,35 17-15,-27 0 16,-59 0 0,0-8-1,-52 8 1,-33 8-16,-35-16 15,-68-9 1,-51 0-16,-43 0 16,-17 0-1,-17 0-15,-77-17 16,-145-17-16,-102-17 16,-86 0-1,1 34 1,7 25-16,-7 18 15,-1 25-15,9-9 16,8-8-16,26 0 31,35 0-31,33-8 16,94-18 0,60 1-16,77-1 0,33-8 15,27 0 1,42-17-1,179-59-15,189-35 16,93 18-16,51 25 16,51 51-16,43 25 31,43 43-15,-34-8-16,-239-26 15</inkml:trace>
  <inkml:trace contextRef="#ctx0" brushRef="#br0" timeOffset="-146018.08">2398 14075 0,'0'0'0,"0"0"0,0 0 0,0 0 31,0 0-15,0 0-16,0 0 16,0 0-1,0 0-15,17 0 16,18 0 0,33 0-16,17 0 15,-17-9 1,35 9-1,50 0-15,1 0 16,51-8-16,51-1 16,9-8-1,25 9-15,43-9 16,8 0 0,26 17-16,0 0 15,9 0 1,8 8-16,34-8 15,0 17 1,-8 9-16,25-1 16,9 9-1,-9 0-15,-25-17 16,-9-34 0,-8-17-16,-1 9 15</inkml:trace>
  <inkml:trace contextRef="#ctx0" brushRef="#br0" timeOffset="-142242.42">6085 16456 0,'0'0'0,"0"0"0,9-8 15,42-18 1,52 1-16,8-9 31,25 17-15,18 0-16,33 8 15,44 1-15,34-18 16,42 1 0,51-1-16,9 1 15,0 16 1,9 26-16</inkml:trace>
  <inkml:trace contextRef="#ctx0" brushRef="#br0" timeOffset="-138731.7">12589 17281 0,'0'0'0,"0"0"0,17-8 0,26-1 15,34 9 1,25 0-1,9 9 1,8-1-16,18 1 16,-9 8-1,-8-9-15,-18 1 0,-8-9 32,-26 8-32,-25 1 15,-18-9 1,-16 0-16,-1 0 15,-25 0 1,-42-9-16,-95 9 16,-51 0-1,-17 9-15,0-1 16,18-16 0,41-1-16,10 9 15,25-8 1,42-1-16,44 9 15,16 0 1,18 0 0,33-8-16,129-9 15,136-9-15,51 1 16,18 8 0,-26 8-1,-18 1-15,18-1 16,34 9-1</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20:14:07.563"/>
    </inkml:context>
    <inkml:brush xml:id="br0">
      <inkml:brushProperty name="width" value="0.05292" units="cm"/>
      <inkml:brushProperty name="height" value="0.05292" units="cm"/>
      <inkml:brushProperty name="color" value="#FF0000"/>
    </inkml:brush>
  </inkml:definitions>
  <inkml:trace contextRef="#ctx0" brushRef="#br0">4984 3801 0,'0'0'0,"-8"0"0,-1 18 0,-16 7 16,-9 26-1,-26 43-15,-17 25 16,-25 17-1,-1 0-15,52-17 16,17-9 0,8-16-16,9-26 15,17-8-15,9-18 16,50 1 0,44 8-1,25-9 1,-26-16-16,26-9 0,52-9 15,-27-8 1,44 0-16,59 0 16,-9-8-1,18-1-15,-9 1 16,25 8 0,-8 8-16,1-8 31,16 9-31,-9 8 15,1 0 1,-9 0-16,17 17 16,18-9-1,-10-8-15,10 0 16,-1-8 0,-8-9-16,-26-9 15,-9 9-15,-33-8 0,-18 8 16,-8 0-1,8 8-15,-33-8 32,-44 0-17,-16 0-15,-44-8 0,-24 8 16,-27 0-16,1-9 31,-1 1-15,-7-1-16,16-16 15,0-18 1,0-25-16,-8 0 16,-1-8-16,1 8 15,-18-1 1,1-24 0,-1-26-16,1 17 15,-1 17 1,-16 8-16,-1 26 0,1 0 15,-9 9 1,0 16 0,0 1-1,-9-1-15,-25 1 0,-35-1 32,-42 18-32,-42 8 15,-44 17 1,-33-9-16,-26 9 0,-26-8 31,-17-9-31,-68-17 16,-17-9-1,-9-8-15,-51-25 16,1 8 0,-44 25-16,-25 9 15,-9 0 1,-8 25-16,-26 10 15,-8 7 1,59 18-16,120-18 16</inkml:trace>
  <inkml:trace contextRef="#ctx0" brushRef="#br0" timeOffset="2274.53">22234 3453 0,'0'0'0,"0"0"0,-9 0 16,0 0 0,1 0-16,-1 0 15,1-9-15,-9 1 16,0-1-1,-9-16 1,9 8-16,-9 0 16,9 0-1,0 8-15,0 1 16,0-1 0,-8 1-1,-1 8 1,-8 0-16,0 8 15,8 1-15,0 8 16,1 0 0,-1-9-16,1 9 15,-1 0-15,-8 0 16,0 0 0,0 0-1,-1 0-15,1 0 16,0-8-16,0-1 15,-9 9 1,-8 0-16,17 0 16,0 0-16,-9 0 31,1 17-31,-10 17 16,-16 17-1,-9 26-15,0 8 0,-8-8 16,8-1-16,0 26 15,-8 0 1,25-25 0,18-1-1,16-16-15,18-1 16,25 10 0,17 7-1,8-25-15,35 9 16,34-9-16,0-26 15,-8-8 1,25 0 0,17 0-16,25-25 0,1 8 31,17-9-31,8-16 16,0-9-16,18 8 15,-26-8 1,8 0-16,26 0 15,-26 0 1,9 0 0,17 0-16,0 0 0,17 0 31,-26 0-31,18 9 0,-1-9 16,9 17-1,9 0 1,25 0-16,0 0 15,0 0 1,9-9 0,8 1-16,8-1 15,1-8 1,-17 9-16,-1-1 16,10-8-1,-10 0-15,1 0 16,-26 0-1,-8 0-15,-27-8 16,-24 8 0,-1-9-16,-25 1 15,-1-9 1,-7-1-16,-27 1 16,-25 0-1,-26 0-15,-16 0 16,-27-8-1,-7-9-15,-18-17 16,-26-9 0,-25 1-16,-43-18 15,-34-16 1,-34-9-16,-34 0 16,-26 25-1,-43 26-15,-42 17 16,-43 0-1,9 25-15,-26 9 16,-59 9 0,-10-1-16,-25 9 15,-76-8 1,-43 8-16,-26 8 16,-51-8-1,34 0-15,-43 9 16,-17 8-1,0 17-15,-51 8 16,-51 35 0,-60 68-16,-8 25 15,409-85 1</inkml:trace>
  <inkml:trace contextRef="#ctx0" brushRef="#br0" timeOffset="9806.45">4737 4745 0,'0'0'0,"0"0"0,17 0 0,26 9 31,-1-1-31,27 18 0,67 0 31,43-1-31,52-8 16,50 9 0,52-18-1,34-8-15,0 9 16,43-1-16,8 9 0,-51 17 31,34 0-31,18-17 16,-18 0-1,-51 0 1,34-17-16,-26 9 16,-76-18-16,-26 1 0,-43-9 31,-51 8-15,-59-8-16,-52 0 0,-17 9 15,-8-1 1,-18 9-1,-25-17 1,-77-17-16,-119-17 16,-77 0-16,-69 26 15,-42 7 1,9 18 0,-52 0-16,9 18 15,16-10 1,1 1-16,8-1 15,9 9 1,17 0-16,17 17 0,-17 9 16,60-1-16,42 1 15,60-9 17,103-9-32,25-16 15,43-1 1,25 1-16,18-9 15,16 0 1,112-9-16,84-8 16,129 0-1,60-8-15,-43 16 16,85 1 0,34-9-16,-33 17 15,33 17 1,1-9-16,-9-8 15,-9-8-15,34 8 16,-25 0 0,-68 8-16,-60 1 15,-43-9 1,-51 8 0,-103-16-16,-59-1 15,-26 1 1,-25-1-16,-17 1 15,-44-18-15,-127-50 16,-213-1 0,-137 43-16,-94 17 15,-34 34 1,-112 51 0,326-17-16</inkml:trace>
  <inkml:trace contextRef="#ctx0" brushRef="#br0" timeOffset="14395.48">21773 5111 0,'0'0'0,"0"0"16,0 0-16,0 0 16,0 0-1,34 0 1,34 9-16,26-1 15,17 9 1,51 0-16,69-8 16,33-9-1,18-9-15,42 1 16,43-9-16,34-9 16,60 1-1,0 8 1,-17 8-16,8 18 15,-34-9 1,35 8-16,16 9 16,-59-8-1,-18 16-15,-16-16 16,-60 8 0,-43-9-1,-43 9-15,-42-8 16,-34-9-1,-52 8-15,-51-8 0,-25 0 16,0 0 0,-18 0-16,1 0 15,-44-8 1,-93-18 0,-102-16-1,-77-18-15,-26 9 16,-51 9-1,-43-1-15,9 1 16,-9 16 0,-34 1-16,-25-1 0,16 1 15,-8 16 1,0-17 0,94 18-1,26 8-15,-9-9 16,94 9-1,42 9-15,35-9 0,59 8 16,44 1 0,41-1-1,18-8-15,17 0 16,9 0-16,8 0 16,0 0-1,42 9 1,120 25-1,120 17-15,68-8 16,43-9-16,8-17 16,34-9-1,9 9-15,25 9 16,18-18 0,8 9-1,0 17-15,-26-8 16,-8-9-1,-85-9-15,-26 9 0,-9-17 32,-59-17-32,-35 0 15,78-17-15</inkml:trace>
  <inkml:trace contextRef="#ctx0" brushRef="#br0" timeOffset="17649.83">10268 3504 0,'0'0'0,"0"0"0,0 0 0,0 0 16,0 0-1,0 0-15,0 0 32,0 0-17,0 0-15,8 0 16,26-17 0,60-17-1,51-34-15,9-26 16,34-25-1,16-25-15,18-1 16,43-17-16,51-33 16,34 16-1,25-8-15,35-34 16,8 42 0,17 1-16,77 8 15,9 42 1,-9 26-1,17 26-15,9 33 16,-26-8 0,-17 26-16,17 16 15,-17 18 1,-8 16-16,-26 26 16,0 17-1,-26 26-15,-17 8 16,-25 25-16,-9 43 15,-43 26 1,-8 17 0,-34 25-16,-94-51 15,-26 8-15,-51-33 16,-60-77 0,-17-17-1,-25-25-15,0-18 16,-18 1-16,1-18 15,-1 1 1,1-1-16,-9-8 16,25-25-1,1 8-15</inkml:trace>
  <inkml:trace contextRef="#ctx0" brushRef="#br0" timeOffset="17952.28">23377 2373 0,'9'8'0,"50"35"0,52 33 0,35 18 15,7 16-15,1-8 16,8-8-1,-17 0 1,-17-1 0,-51-25-16,-43-34 15,-17-8-15,-51-1 16,-265 9-16,-221-8 31,-129-43-31,222 8 16</inkml:trace>
  <inkml:trace contextRef="#ctx0" brushRef="#br0" timeOffset="34011.19">28302 8173 0,'0'0'16,"0"0"-16,-9 0 0,1 8 0,-9 1 31,-9 8-15,9-9-16,0 1 15,0-1-15,17 1 0,0-9 32,8 0-17,1 8-15,25-16 16,77-9-1,68 0-15,-17 0 16,86 0 0,-9 8-16,51 1 0,34 8 15,-25 8-15,111 26 32,-26 0-17,-77-17-15,86 9 16,-43 8-1,-52-17-15,-24-9 16,-52 1 0,-35-9-16,-127 0 15</inkml:trace>
  <inkml:trace contextRef="#ctx0" brushRef="#br0" timeOffset="37324.39">871 8675 0,'0'0'0,"42"0"0,27 0 0,101-17 16,86-34-1,103-26-15,-26 17 16,17 1 0,153 8-16,52 34 15,-17 17 1,59 34-16,103 25 16,85-33-1,-358-35-15</inkml:trace>
  <inkml:trace contextRef="#ctx0" brushRef="#br0" timeOffset="44015.39">1579 8487 0,'9'-8'0,"25"-1"0,77-8 15,93-17 1,35 17-1,26-8-15,34-9 16,-18 8-16,52-8 16,60 17-1,-43 9 1,51 16-16,-26 1 16,-101-9-16,16 0 15,-26 0 1,-33-17-16,-52 0 15,-51 0 1,-51 0 0,-26 8-16,-25 9 15,-18 0-15,1 0 16,-18-8 0,-33-9-1,-95-17-15,-119 8 16,-111 43-16,-51 34 15,17 9 1,-52 16 0,-33 1-16,68-1 15,16-8-15,-7 1 16,25-1 0,42-34-1,61-17-15,50-26 16,26 9-16,43 0 15,43 0 1,42 9 0,34-18-16,43 9 15</inkml:trace>
  <inkml:trace contextRef="#ctx0" brushRef="#br0" timeOffset="52177.72">28302 10869 0,'0'0'0,"0"0"0,0 0 16,0 0 0,0 0-1,0 0-15,0 0 16,34 0-16,34 0 31,52 0-31,8-17 16,17 0-1,94 0-15,-26 0 16,26 0-16,9 8 16,16 1-16,27 8 15,16 8 1,0 1-1,-25 8 1,25 17-16,-34-9 16,9 9-1,-9-8-15,-60-1 16,-25-16 0,-51-1-16,-35 1 0,-51-1 15,-25-8-15,-1 0 31,-16 0-15,-1 0-16,-8 0 16,-34-8-1,-77-9 1,-85 0-16,-77 0 16,-26 17-16,9 8 15,-51 1 1,-9-9-16,0 0 15,-17-17 1,34-9-16,-26 9 16,27 0-1,76-8-15,17 8 16,59 0 0,52 0-16,43 0 15,42 8 1,18 9-16,16 0 15,35-8 1,85-18-16,179-8 16,102 0-1,61 9-15,93 8 16,26 17 0,-154 0-16</inkml:trace>
  <inkml:trace contextRef="#ctx0" brushRef="#br0" timeOffset="58023.61">5539 12442 0,'478'9'0,"17"-1"0,-486-8 0</inkml:trace>
  <inkml:trace contextRef="#ctx0" brushRef="#br0" timeOffset="58792.09">990 11881 0,'0'0'0,"26"-9"16,25 1-1,51-18 1,95-8-16,25 9 31,51 8-31,51 8 0,-25 9 0,85 26 16,0 16-1,-43-8-15,69 17 32,-35-8-32,-59-18 15,9 9 1,-35-8-16,-51-9 15,-34-9 1,-77 1-16,-60-9 16,-34 0-16,-17 0 15,-8 0 1,-26-9 0,-86-33-16,-127-26 15,-86 25 1,-51 18-16,-60 42 15,-51 34 1,-25 0-16,-1-17 16,18-17-1,16 17-15,-33 8 16,110-8 0</inkml:trace>
  <inkml:trace contextRef="#ctx0" brushRef="#br0" timeOffset="60838.18">28396 11013 0,'0'0'0,"-9"-17"0,-8-17 15,0-8-15,0-9 31,8 17-31,9 0 16,0 0 0,52-9-16,84-16 15,78 8 1,59 17-16,25 25 16,18 18-1,34-1-15,0 1 16,-17 8-1,8 17-15,-16 0 16,-18 0 0,-34 8-16,-34 1 15,-34-1 1,-51-8-16,-52-17 16,-42-8-1,-26-1-15,-17-8 16,-9 0-1,1 0-15,-43-8 16,-86-26 0,-110-17-16,-69 8 15,-34 18 1,-51 25 0,26 17-16,-1 8 15,-16 18-15,25-9 16,26-9-1,-9 1-15,60-18 16,59 1 0,52-9-16,60 0 15,50 0 1,27 0-16,8 0 16,17 0-1,59 0-15,112 8 16,128 9-1,85-8-15,60-1 16,25-8 0,18 26-16,-26-9 15,-26 0 1,0 8 0,-34-8-16,-42-8 15,-35-18 1,43-16-16</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20:16:33.652"/>
    </inkml:context>
    <inkml:brush xml:id="br0">
      <inkml:brushProperty name="width" value="0.05292" units="cm"/>
      <inkml:brushProperty name="height" value="0.05292" units="cm"/>
      <inkml:brushProperty name="color" value="#FF0000"/>
    </inkml:brush>
  </inkml:definitions>
  <inkml:trace contextRef="#ctx0" brushRef="#br0">13110 6370 0,'0'0'0,"0"0"0,0 0 0,0-9 15,51-8-15,103-25 16,-1-1 0,137 18-16,94-1 15,18 35 1,84 8-16,-85-17 15</inkml:trace>
  <inkml:trace contextRef="#ctx0" brushRef="#br0" timeOffset="9222.15">3371 7399 0,'0'0'0,"0"0"0,0 0 0,9-9 31,42-8-31,69-34 16,8 9-16,25 8 16,69 0-16,-43 17 15,26 0 1,43 17-1,8-9-15,17 1 16,60-1 0,25 1-1,-25-1-15,94 1 16,-9-9 0,-17 0-16,17 17 15,52 8 1,50-8-16,-25 9 15,18 8 1,33 0-16,9 0 16,-18 0-1,-25 0-15,-51 8 16,9-16 0,-44-26-16,-59-26 15</inkml:trace>
  <inkml:trace contextRef="#ctx0" brushRef="#br0" timeOffset="15344.58">9269 8173 0,'0'0'0,"0"0"0,0 0 0,0 0 15,0 8 1,0-8 0,8 9-16,18 8 15,51 0 1,59 0-16,1 0 15,0-9-15,76-16 16,-34-1 0,26 1-16,43 8 15,-9 17 1,34 0 0,-9 17-16,9 0 15,26 8-15,-26-8 16,-17-17-1,9-8 1,-69-1-16,-34-25 16,0-8-1,-51 8-15,-51 0 16,-34 8 0,-9 9-16,-17-8 15,-26-9 1,-68-9-16,-76 9 15,-86 0 1,-26 26-16,-8 8 16,-52 17-16,1-9 15,-9 1 1,60-1 0,17 1-16,-103 25 15</inkml:trace>
  <inkml:trace contextRef="#ctx0" brushRef="#br0" timeOffset="18752.98">21798 8717 0,'0'0'0,"0"0"0,17-8 16,69 8-16,67-9 15,-16-16 1,93-9-16,1 8 15,42-8 1,60 17-16,-17-9 16,153-8-1,-76 26-15,-103-1 16,128 9 0,-51 9-16,-111-1 15,0 9 1,-85 9-16,-26-1 15,-68-16 1,-43 0-16,-26-1 16,-16-8-16,-103-17 15,-256-17 1,-162-9 0,-35 18-16,-101 33 15,25 43 1,119-8-16,120 0 15</inkml:trace>
  <inkml:trace contextRef="#ctx0" brushRef="#br0" timeOffset="36644.98">6751 10741 0,'0'0'0,"0"0"0,0 0 0,0 0 32,9-8-17,16-1-15,26-16 16,18-1-1,-1 9-15,-17 0 16,-25 0 0,8 9-16,34-1 15,35 1 1,25 8-16,-17 8 16,-43 1-1,60-1-15,85-8 16,-50 0-1,7-8-15,61 16 16,-35 9 0,17 9-16,-16-18 15,-27 18 1,61-9-16,-61-9 16,10 1-1,76 8-15,-34-9 16,17 1-1,-26-1-15,-17-16 16,26 8 0,-34-9-16,-17 1 15,16-9 1,-24 8-16,-27 1 16,18-1-16,-9 1 15,-26-9 1,-8 8-1,-8 1-15,-35 8 16,-25 0-16,-18 0 16,-16 0-1,-1 0 1,1 0-16,-1 0 16,-8 0-1,-8-9-15,-35 1 16,-42-9-1,-52 0-15,-59 0 0,-34 0 32,-26 8-32,34 9 15,-9 0-15,-8 0 16,0-8 0,-17-1-1,-25 1-15,-18-1 16,-34 1-1,9-1-15,33 1 16,-7-1 0,33 1-16,-8-1 15,8-8 1,35 8-16,8-16 16,34 8-1,52 0 1,16 0-16,26-9 15,18 9-15,41 9 16</inkml:trace>
  <inkml:trace contextRef="#ctx0" brushRef="#br0" timeOffset="43637.4">14936 11923 0,'0'0'0,"17"0"0,26-8 31,25-9-31,-8 0 16,-17-9-1,-9 9-15,8 0 16,10 0-1,-1-8-15,17-1 16,35 1 0,-1-9-16,35 8 15,50-16 1,-7 8-16,16 8 0,43 1 16,-51 8-1,-18 0 1,-8 8-1,-25 9-15,-35 0 16,-8 0-16,-8 0 16,-35 9-1,-17-9-15,-8 0 16,-18 0 0,1 0-1,-1 0-15,-25 0 16,-94 17-16,-145 8 31,-102 1-31</inkml:trace>
  <inkml:trace contextRef="#ctx0" brushRef="#br0" timeOffset="45754.91">9388 12689 0,'0'0'0,"0"0"0,0 0 0,18 0 31,50-9-15,60 1-16,77-1 16,42-8-1,43 17-15,9 0 16,42-25-16</inkml:trace>
  <inkml:trace contextRef="#ctx0" brushRef="#br0" timeOffset="47806.66">25144 13003 0,'0'0'0,"0"0"0,0 0 15,0 0-15,17-8 31,85-1-15,146-8 0,162 9-16,16 16 15,-50-8-15</inkml:trace>
  <inkml:trace contextRef="#ctx0" brushRef="#br0" timeOffset="55347.44">12572 15385 0,'0'0'0,"0"0"0,0 0 0,9 0 16,33 17-16,9-9 15,35 9 1,25-8-1,0 8-15,25-9 16,35 1 0,-17-1-16,8 9 15,25 0 1,-16-8-16,17-1 0,51 9 16,-9-8-1,1-18-15,8 9 16,-26-8-1,9-1 1,-9 9 0,9-8-16,-25-1 15,-10 1-15,1-9 16,-43 0 0,-94 8-1</inkml:trace>
  <inkml:trace contextRef="#ctx0" brushRef="#br0" timeOffset="57836.58">21056 15257 0,'0'0'0,"0"0"0,0 0 0,17 0 15,25-8 1,86-1-16,77 0 15,-8 1-15,-1-1 16,-8 9 0,-43 9-16,-17 8 31,-26-8-15,-42-1-16,-26 1 15,-8-9-15,-18 0 0,-16 0 31,-43 0-15,-112 0-16,-76-9 16,-25 9-1,8 9-15,34-1 16,17 1-16,60-9 16,60 8-1,42 1 1,26-9-16,17 0 0,60 8 31,68 9-31,102 0 16,18-8-1,8-1-15,0 1 16,-69-1 0,104 1-16</inkml:trace>
  <inkml:trace contextRef="#ctx0" brushRef="#br0" timeOffset="63386.04">24248 15606 0,'0'0'0,"0"0"0,0 0 16,0 0-1,0-9-15,25-16 16,10-18 0,7 9-1,-8 0-15,0 17 16,1 0-1,16 0 1,0 0-16,26 0 0,25 0 16,86 0-1,51-8-15,60 8 16,42 0 0,9 8-1,60 18-15,-1-1 16,-24-16-1,-1 8 1</inkml:trace>
  <inkml:trace contextRef="#ctx0" brushRef="#br0" timeOffset="69053.6">6009 16456 0,'0'0'0,"0"0"0,8 0 16,26 0-16,52 0 15,42 9 1,76-1-1,121-16-15,93-18 16,77-16 0,26-18-16,-112 9 15</inkml:trace>
  <inkml:trace contextRef="#ctx0" brushRef="#br0" timeOffset="69869.13">13391 16635 0,'43'-9'0,"102"-8"0,120-8 15,42-1 1,-8 9 0,25 0-16,17 17 15,9 9 1,-8 8 0,42 0-16,8 0 15,69 17 1,-43 0-16</inkml:trace>
  <inkml:trace contextRef="#ctx0" brushRef="#br0" timeOffset="70832.02">21926 16499 0,'0'0'0,"0"0"0,0 0 15,9 0-15,-1 0 16,9-9-1,0 1-15,26-1 16,43-16 0,84 8-1,78 0 1,59 0-16,69 0 0</inkml:trace>
  <inkml:trace contextRef="#ctx0" brushRef="#br0" timeOffset="77726.94">25144 16499 0,'0'0'0,"8"0"0,44 0 16,42-9 0,68 1-1,34-1-15,9 1 16,8-9-16,18 8 16,-1 9-1,-16 0-15,-27 0 16,1 0-1,-9 0 1,-42 0-16,-43-8 16,-43 8-1,-17 0 1,-8 0-16,-18 0 16,-16 0-16,-44-9 15,-118-16 1,-69-1-16,-34 9 15,0 0 1,17 17-16,25 0 16,60 9-16,18-9 15,33 0 1,61 0 0,16 0-16,26 0 15,0 0-15,17 0 16,17 0-1,111 17 1,145 8-16,94 1 16,43-9-1,42 0-15,26 0 16,-17-9 0,-69-8-1</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20:18:56.067"/>
    </inkml:context>
    <inkml:brush xml:id="br0">
      <inkml:brushProperty name="width" value="0.05292" units="cm"/>
      <inkml:brushProperty name="height" value="0.05292" units="cm"/>
      <inkml:brushProperty name="color" value="#FF0000"/>
    </inkml:brush>
  </inkml:definitions>
  <inkml:trace contextRef="#ctx0" brushRef="#br0">8253 5596 0,'0'0'0,"43"0"0,94 8 15,-1-16 1,-8-1-16,111-8 16,-51 9-1,25-1-15,43 1 32,111-9-32,69 0 15,-1 8-15,128-8 16,103-8-16,-26-1 31,-85 26-31,-137 9 16</inkml:trace>
  <inkml:trace contextRef="#ctx0" brushRef="#br0" timeOffset="1532.67">21124 5826 0,'0'0'0,"0"0"0,9 0 16,16 0 0,60 0-16,112 8 15,50 1 1,61-9-16,127 0 15,51 8 1,52 9-16,85 9 16,43-1-1,25 18-15,-264-9 16</inkml:trace>
  <inkml:trace contextRef="#ctx0" brushRef="#br0" timeOffset="4133.29">7374 6565 0,'0'0'0,"0"0"0,0 0 15,0 0-15,0 0 16,0 0 0,26-25-1,85-60-15,170-68 16,103 34-1,103 68 1,85 17-16,-154 17 16</inkml:trace>
  <inkml:trace contextRef="#ctx0" brushRef="#br0" timeOffset="5637.85">8245 7603 0,'0'0'0,"0"0"0,25 0 16,120-9-16,120 1 31,34-18-31,110 9 0,35 9 31,34 8-15,171 51-16,-222 0 0</inkml:trace>
  <inkml:trace contextRef="#ctx0" brushRef="#br0" timeOffset="18419.72">6444 8445 0,'0'0'0,"8"0"0,35 8 16,85 9-1,111-8-15,77-26 16,76-9 0,95 1-1,59 16-15,69 26 16,110 0-16,-298-8 16</inkml:trace>
  <inkml:trace contextRef="#ctx0" brushRef="#br0" timeOffset="28185.19">8219 9780 0,'0'0'0,"0"0"0,0 0 0,0 0 15,0 0 1,0 0-16,0 0 15,43-8 1,145-43-16,51-9 16,42 1-1,206 8 1,16 34-16,-16-1 16,136-16-16,-196 9 15</inkml:trace>
  <inkml:trace contextRef="#ctx0" brushRef="#br0" timeOffset="29526.85">19084 9772 0,'0'0'0,"0"0"0,0 0 16,0-9-1,0 1-15,0-1 16,0 1-16,0-1 16,9 1-1,102-26 1,51 0-1,60-17-15,42 8 16,129 0-16,-9 18 16,-128 25-1,239 0-15,-77 0 16</inkml:trace>
  <inkml:trace contextRef="#ctx0" brushRef="#br0" timeOffset="30958.97">2945 10307 0,'17'0'0,"77"0"0,68 0 16,145 0-16,68 9 15,10-18 1,75 1-16,-58-1 15</inkml:trace>
  <inkml:trace contextRef="#ctx0" brushRef="#br0" timeOffset="32322.78">2723 8173 0,'0'0'0,"-9"0"0,1 0 0,-18 0 15,0 0-15,-16 0 16,-18-9-1,0 9 1,0 0-16,9 0 16,-8-8-16,-1-1 31,0 1-31,-8-9 0,-9-9 16,-8-8-16,-1-25 31,35-18-31,0 1 15,17-26-15,17-26 32,17-34-32,8 9 15,18 17 1,33-25-16,10-9 16,-9 17-1,8 16-15,9-7 16,-26 25-1,0 8-15,-8 26 16,-18 17-16,1 17 0,0 9 31,-1 8-15,1 0-16,-18 17 16,1 0-1,-1 0-15,1 17 16,-9 0-16,0 0 0,0 0 15,0-9 1,0 9-16,0-8 31,8-1-15,1 9-16,8-8 16,0-1-1,0 1-15,0-1 16</inkml:trace>
  <inkml:trace contextRef="#ctx0" brushRef="#br0" timeOffset="37352.44">666 6523 0,'0'0'0,"25"0"0,35-9 0,77-8 0,-18-17 16,1-8 15,42-26-31,0-9 16,-43 18-16,-59 16 16,8 9-1,-33 17-15,-1 9 16,-34 8-16,0 17 15,-77 85-15,-68 42 32,8 18-17,-25 76-15,17-34 16,17-59-16,26 8 16,59-60-1,26-33-15,-9-26 16,18-9-1,8-16 1,0-1-16,34-59 16,68-68-1,18-42-15,-18-69 16,9 9 0,9 17-16,-27-17 15,-7 85-15,-26 42 16,-18 26-16,-16 26 31,-9 16-31,-17 9 0,8 17 31,-8 9-31,18 33 16,16 69 0,-9 42-16,-8-9 15,-25 9 1,-1 9-16,1-34 15,8-35 1,-17-42-16,8-8 16,-25-18-1,-26-8-15,-76-25 16,-44-43 0,-24-51-16,16-51 15,34-9 1,52 0-16,25 18 15,17-1 1,-34-127-16</inkml:trace>
  <inkml:trace contextRef="#ctx0" brushRef="#br0" timeOffset="66316.05">22208 12025 0,'0'0'0,"0"0"0,0 0 16,0 0-1,8 9-15,1-9 16,0 8-1,-1-8-15,9-8 16,43-18 0,76-8-16,18 0 15,-9 9 1,120-1-16,-18 1 16,18 16-1,42 1 1,-17 16-16,103 1 15,-26-1-15,-43 18 16,120 25 0,-51-17-16,-112-9 15,163 18 1,-60-9 0,-136-17-16,42 8 15,-26 1-15,-101-18 16,-61 1-1,-17-1-15,-33 1 16,-27-9 0,-16 0-1,-18 0-15,-59-9 16,-145-8 0,-69 0-16,-25-8 15,-129 8-15,-42-9 16,69 18-1,-61 8 1,-59-9-16,-34 9 16,-18 0-1,35 0-15,43-8 16,59-1-16,43 9 16,-43-34-1,43-17 1</inkml:trace>
  <inkml:trace contextRef="#ctx0" brushRef="#br0" timeOffset="104538.64">2757 14993 0,'0'0'0,"17"-8"0,34-1 0,359-42 0,-248 51 0,34 9 0,60-9 16,69 0-1,50-26 1,52-8-16,59-8 16,44-1-16,-1 1 15,17-1 1,-8 1-16,-129 8 16</inkml:trace>
  <inkml:trace contextRef="#ctx0" brushRef="#br0" timeOffset="121782.36">2834 16669 0,'0'0'0,"0"0"0,0 0 0,0 0 16,0 0 0,0 0-16,0 0 15,17 0 1,17 0-16,8 0 15,18 0 1,17 0 0,43 8-16,33-8 15,9 0 1,52 0-16,16 0 16,52-8-16,34-26 15,34 0 1,59 8-16,-16 9 15,-1 9 1,52-1 0,34 9-16,-68 0 15,25 0 1,-34-17-16</inkml:trace>
  <inkml:trace contextRef="#ctx0" brushRef="#br0" timeOffset="138887.71">2535 17723 0,'0'0'0,"0"0"0,0 0 0,0 0 15,25-8-15,10-1 16,16 1-1,9 8 1,16 0-16,27 8 16,16-8-1,26-8-15,26-1 16,51 1-16,34-9 16,34-9-1,9 9-15,-9 0 16,52 9-1,42-1 1,25 1-16,35-1 16,51 1-16,-85 8 15</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3T20:21:54.135"/>
    </inkml:context>
    <inkml:brush xml:id="br0">
      <inkml:brushProperty name="width" value="0.05292" units="cm"/>
      <inkml:brushProperty name="height" value="0.05292" units="cm"/>
      <inkml:brushProperty name="color" value="#FF0000"/>
    </inkml:brush>
  </inkml:definitions>
  <inkml:trace contextRef="#ctx0" brushRef="#br0">2339 4363 0,'0'0'0,"0"0"0,-9 0 0,-128 110 0,27 1 0,7-9 0,9-8 16,26 16-1,-26 60 1,-17 0-16,26-17 16,-35 51-1,9 1 1,60 7-16,-17 26 0,-18 17 16,1 9-16,8 42 31,0-25-31,43 8 15,0 0 1,17 0 0,-17 0-16,34-8 15,0 17 1,0-9-16,0 43 16,0-9-16,-9 25 15,-8 10 1,34-18-1,1 26-15,7 8 16,-16-17-16,25 26 16,0-35-1,-8-16-15,-1 34 16,9-69 0,9 1-1,-9-34-15,9-43 16,-1 0-1,-7-68-15,7 8 16,-16 1-16,8-60 16,0-25-1,0-9-15,0 0 16,-25 0 0,0-34-1</inkml:trace>
  <inkml:trace contextRef="#ctx0" brushRef="#br0" timeOffset="394.29">666 15997 0,'0'0'0,"0"0"0,17 25 16,8 9-1,35 9-15,-17-18 16,17 9-1,-1 9-15,1 0 16,-17-9 0,-18-9-16,9-16 15,-25-1 1,17-16-16,25-43 16,60-77-1,8-59-15,26-9 16,69-67-1</inkml:trace>
  <inkml:trace contextRef="#ctx0" brushRef="#br0" timeOffset="23925.68">19280 13505 0,'0'0'0,"0"0"0,0 0 15,0 0 1,0 0-16,-8 0 16,-9 17-16,-17 9 15,-9 33 1,0 18-16,-16 25 16,-10 8-1,1 1-15,0-18 16,17-16-1,-1-26 1,18-17-16,0-8 16,8-18-16,9-16 15,-8-10 1,8-7 0,0 8-16,0 0 15,8 8-15,1 1 16,-10-1-1,10 1-15,-1 8 16,9 0-16,0 0 31,0 17-31,0 34 16,26 34 0,8 26-16,-8-26 15,-1-9 1,-8-25-16,-8-25 15,8-9-15,0-17 16,0-9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87CB2-66CB-454F-85D3-19EE1B79E95D}"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E27D9C-F8C9-4B2B-A91A-E477EB70CE25}" type="slidenum">
              <a:rPr lang="en-US" smtClean="0"/>
              <a:t>‹#›</a:t>
            </a:fld>
            <a:endParaRPr lang="en-US"/>
          </a:p>
        </p:txBody>
      </p:sp>
    </p:spTree>
    <p:extLst>
      <p:ext uri="{BB962C8B-B14F-4D97-AF65-F5344CB8AC3E}">
        <p14:creationId xmlns:p14="http://schemas.microsoft.com/office/powerpoint/2010/main" val="735016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6/3/2026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6/3/2026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6/3/2026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6/3/2026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6/3/2026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6/3/2026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6/3/2026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6/3/2026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6/3/2026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6/3/2026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6/3/2026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6/3/2026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hyperlink" Target="http://www.cs.uw.edu/332"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9.png"/><Relationship Id="rId7" Type="http://schemas.openxmlformats.org/officeDocument/2006/relationships/customXml" Target="../ink/ink4.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31.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11.jpeg"/><Relationship Id="rId13" Type="http://schemas.openxmlformats.org/officeDocument/2006/relationships/image" Target="../media/image16.jpeg"/><Relationship Id="rId3" Type="http://schemas.openxmlformats.org/officeDocument/2006/relationships/image" Target="../media/image6.jpeg"/><Relationship Id="rId7" Type="http://schemas.openxmlformats.org/officeDocument/2006/relationships/image" Target="../media/image10.jpeg"/><Relationship Id="rId12" Type="http://schemas.openxmlformats.org/officeDocument/2006/relationships/image" Target="../media/image15.jpe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eg"/><Relationship Id="rId5" Type="http://schemas.openxmlformats.org/officeDocument/2006/relationships/image" Target="../media/image8.jpeg"/><Relationship Id="rId10" Type="http://schemas.openxmlformats.org/officeDocument/2006/relationships/image" Target="../media/image13.jpeg"/><Relationship Id="rId4" Type="http://schemas.openxmlformats.org/officeDocument/2006/relationships/image" Target="../media/image7.jpeg"/><Relationship Id="rId9" Type="http://schemas.openxmlformats.org/officeDocument/2006/relationships/image" Target="../media/image12.jpeg"/></Relationships>
</file>

<file path=ppt/slides/_rels/slide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jpeg"/><Relationship Id="rId3" Type="http://schemas.openxmlformats.org/officeDocument/2006/relationships/image" Target="../media/image5.jpeg"/><Relationship Id="rId7" Type="http://schemas.openxmlformats.org/officeDocument/2006/relationships/image" Target="../media/image9.jpeg"/><Relationship Id="rId12" Type="http://schemas.openxmlformats.org/officeDocument/2006/relationships/image" Target="../media/image14.jpeg"/><Relationship Id="rId2" Type="http://schemas.openxmlformats.org/officeDocument/2006/relationships/image" Target="../media/image411.png"/><Relationship Id="rId16"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8.jpeg"/><Relationship Id="rId11" Type="http://schemas.openxmlformats.org/officeDocument/2006/relationships/image" Target="../media/image13.jpeg"/><Relationship Id="rId5" Type="http://schemas.openxmlformats.org/officeDocument/2006/relationships/image" Target="../media/image7.jpeg"/><Relationship Id="rId15" Type="http://schemas.openxmlformats.org/officeDocument/2006/relationships/customXml" Target="../ink/ink6.xml"/><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jpeg"/><Relationship Id="rId14" Type="http://schemas.openxmlformats.org/officeDocument/2006/relationships/image" Target="../media/image16.jpeg"/></Relationships>
</file>

<file path=ppt/slides/_rels/slide11.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customXml" Target="../ink/ink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jpeg"/><Relationship Id="rId3" Type="http://schemas.openxmlformats.org/officeDocument/2006/relationships/image" Target="../media/image5.jpeg"/><Relationship Id="rId7" Type="http://schemas.openxmlformats.org/officeDocument/2006/relationships/image" Target="../media/image9.jpeg"/><Relationship Id="rId12" Type="http://schemas.openxmlformats.org/officeDocument/2006/relationships/image" Target="../media/image14.jpeg"/><Relationship Id="rId2" Type="http://schemas.openxmlformats.org/officeDocument/2006/relationships/image" Target="../media/image220.png"/><Relationship Id="rId16"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8.jpeg"/><Relationship Id="rId11" Type="http://schemas.openxmlformats.org/officeDocument/2006/relationships/image" Target="../media/image13.jpeg"/><Relationship Id="rId5" Type="http://schemas.openxmlformats.org/officeDocument/2006/relationships/image" Target="../media/image7.jpeg"/><Relationship Id="rId15" Type="http://schemas.openxmlformats.org/officeDocument/2006/relationships/image" Target="../media/image230.pn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jpeg"/><Relationship Id="rId1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customXml" Target="../ink/ink9.xml"/><Relationship Id="rId3" Type="http://schemas.openxmlformats.org/officeDocument/2006/relationships/image" Target="../media/image30.png"/><Relationship Id="rId7" Type="http://schemas.openxmlformats.org/officeDocument/2006/relationships/image" Target="../media/image31.png"/><Relationship Id="rId12" Type="http://schemas.openxmlformats.org/officeDocument/2006/relationships/image" Target="../media/image40.pn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30.jpeg"/><Relationship Id="rId11" Type="http://schemas.openxmlformats.org/officeDocument/2006/relationships/image" Target="../media/image34.png"/><Relationship Id="rId5" Type="http://schemas.openxmlformats.org/officeDocument/2006/relationships/image" Target="../media/image32.png"/><Relationship Id="rId10" Type="http://schemas.openxmlformats.org/officeDocument/2006/relationships/image" Target="../media/image33.jpeg"/><Relationship Id="rId4" Type="http://schemas.openxmlformats.org/officeDocument/2006/relationships/image" Target="../media/image29.png"/><Relationship Id="rId9" Type="http://schemas.openxmlformats.org/officeDocument/2006/relationships/image" Target="../media/image32.jpeg"/><Relationship Id="rId1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450.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4700.png"/><Relationship Id="rId7" Type="http://schemas.openxmlformats.org/officeDocument/2006/relationships/image" Target="../media/image510.png"/><Relationship Id="rId2" Type="http://schemas.openxmlformats.org/officeDocument/2006/relationships/image" Target="../media/image460.png"/><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4900.png"/><Relationship Id="rId10" Type="http://schemas.openxmlformats.org/officeDocument/2006/relationships/image" Target="../media/image38.png"/><Relationship Id="rId4" Type="http://schemas.openxmlformats.org/officeDocument/2006/relationships/image" Target="../media/image4800.png"/><Relationship Id="rId9" Type="http://schemas.openxmlformats.org/officeDocument/2006/relationships/customXml" Target="../ink/ink11.xml"/></Relationships>
</file>

<file path=ppt/slides/_rels/slide19.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image" Target="../media/image260.png"/><Relationship Id="rId7" Type="http://schemas.openxmlformats.org/officeDocument/2006/relationships/image" Target="../media/image330.png"/><Relationship Id="rId2" Type="http://schemas.openxmlformats.org/officeDocument/2006/relationships/image" Target="../media/image251.png"/><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4900.png"/><Relationship Id="rId9" Type="http://schemas.openxmlformats.org/officeDocument/2006/relationships/image" Target="../media/image39.png"/></Relationships>
</file>

<file path=ppt/slides/_rels/slide2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2.png"/><Relationship Id="rId7" Type="http://schemas.openxmlformats.org/officeDocument/2006/relationships/image" Target="../media/image47.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customXml" Target="../ink/ink13.xml"/><Relationship Id="rId4" Type="http://schemas.openxmlformats.org/officeDocument/2006/relationships/image" Target="../media/image43.png"/><Relationship Id="rId9" Type="http://schemas.openxmlformats.org/officeDocument/2006/relationships/image" Target="../media/image1110.png"/></Relationships>
</file>

<file path=ppt/slides/_rels/slide21.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customXml" Target="../ink/ink14.xml"/><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136.png"/><Relationship Id="rId2" Type="http://schemas.openxmlformats.org/officeDocument/2006/relationships/image" Target="../media/image501.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135.png"/><Relationship Id="rId5" Type="http://schemas.openxmlformats.org/officeDocument/2006/relationships/image" Target="../media/image54.png"/><Relationship Id="rId10" Type="http://schemas.openxmlformats.org/officeDocument/2006/relationships/image" Target="../media/image134.png"/><Relationship Id="rId4" Type="http://schemas.openxmlformats.org/officeDocument/2006/relationships/image" Target="../media/image53.png"/><Relationship Id="rId9" Type="http://schemas.openxmlformats.org/officeDocument/2006/relationships/image" Target="../media/image133.png"/><Relationship Id="rId14" Type="http://schemas.openxmlformats.org/officeDocument/2006/relationships/image" Target="../media/image51.png"/></Relationships>
</file>

<file path=ppt/slides/_rels/slide22.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260.png"/><Relationship Id="rId7" Type="http://schemas.openxmlformats.org/officeDocument/2006/relationships/image" Target="../media/image330.png"/><Relationship Id="rId2" Type="http://schemas.openxmlformats.org/officeDocument/2006/relationships/image" Target="../media/image340.png"/><Relationship Id="rId1" Type="http://schemas.openxmlformats.org/officeDocument/2006/relationships/slideLayout" Target="../slideLayouts/slideLayout2.xml"/><Relationship Id="rId6" Type="http://schemas.openxmlformats.org/officeDocument/2006/relationships/image" Target="../media/image350.png"/><Relationship Id="rId5" Type="http://schemas.openxmlformats.org/officeDocument/2006/relationships/image" Target="../media/image4900.png"/><Relationship Id="rId10" Type="http://schemas.openxmlformats.org/officeDocument/2006/relationships/image" Target="../media/image59.png"/><Relationship Id="rId9" Type="http://schemas.openxmlformats.org/officeDocument/2006/relationships/customXml" Target="../ink/ink15.xml"/></Relationships>
</file>

<file path=ppt/slides/_rels/slide2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1.png"/><Relationship Id="rId7" Type="http://schemas.openxmlformats.org/officeDocument/2006/relationships/image" Target="../media/image47.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5.png"/><Relationship Id="rId10" Type="http://schemas.openxmlformats.org/officeDocument/2006/relationships/image" Target="../media/image60.png"/><Relationship Id="rId4" Type="http://schemas.openxmlformats.org/officeDocument/2006/relationships/image" Target="../media/image42.png"/><Relationship Id="rId9" Type="http://schemas.openxmlformats.org/officeDocument/2006/relationships/customXml" Target="../ink/ink16.xml"/></Relationships>
</file>

<file path=ppt/slides/_rels/slide24.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370.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53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customXml" Target="../ink/ink19.xml"/></Relationships>
</file>

<file path=ppt/slides/_rels/slide27.xml.rels><?xml version="1.0" encoding="UTF-8" standalone="yes"?>
<Relationships xmlns="http://schemas.openxmlformats.org/package/2006/relationships"><Relationship Id="rId3" Type="http://schemas.openxmlformats.org/officeDocument/2006/relationships/hyperlink" Target="https://www.cs.umd.edu/users/gasarch/BLOGPAPERS/pollpaper3.pdf" TargetMode="External"/><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27: P and NP 2</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11C6E71-1D77-3752-455B-47D74D44956E}"/>
                  </a:ext>
                </a:extLst>
              </p14:cNvPr>
              <p14:cNvContentPartPr/>
              <p14:nvPr/>
            </p14:nvContentPartPr>
            <p14:xfrm>
              <a:off x="8028720" y="3233160"/>
              <a:ext cx="943560" cy="309600"/>
            </p14:xfrm>
          </p:contentPart>
        </mc:Choice>
        <mc:Fallback>
          <p:pic>
            <p:nvPicPr>
              <p:cNvPr id="4" name="Ink 3">
                <a:extLst>
                  <a:ext uri="{FF2B5EF4-FFF2-40B4-BE49-F238E27FC236}">
                    <a16:creationId xmlns:a16="http://schemas.microsoft.com/office/drawing/2014/main" id="{A11C6E71-1D77-3752-455B-47D74D44956E}"/>
                  </a:ext>
                </a:extLst>
              </p:cNvPr>
              <p:cNvPicPr/>
              <p:nvPr/>
            </p:nvPicPr>
            <p:blipFill>
              <a:blip r:embed="rId4"/>
              <a:stretch>
                <a:fillRect/>
              </a:stretch>
            </p:blipFill>
            <p:spPr>
              <a:xfrm>
                <a:off x="8019360" y="3223800"/>
                <a:ext cx="962280" cy="328320"/>
              </a:xfrm>
              <a:prstGeom prst="rect">
                <a:avLst/>
              </a:prstGeom>
            </p:spPr>
          </p:pic>
        </mc:Fallback>
      </mc:AlternateContent>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907D8-AFB7-106C-286D-8A15C2C6E18E}"/>
              </a:ext>
            </a:extLst>
          </p:cNvPr>
          <p:cNvSpPr>
            <a:spLocks noGrp="1"/>
          </p:cNvSpPr>
          <p:nvPr>
            <p:ph type="title"/>
          </p:nvPr>
        </p:nvSpPr>
        <p:spPr/>
        <p:txBody>
          <a:bodyPr/>
          <a:lstStyle/>
          <a:p>
            <a:r>
              <a:rPr lang="en-US" dirty="0"/>
              <a:t>Studying Complexity and Tractability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8BC985-1CA7-0F95-E19A-C18AFEB4C462}"/>
                  </a:ext>
                </a:extLst>
              </p:cNvPr>
              <p:cNvSpPr>
                <a:spLocks noGrp="1"/>
              </p:cNvSpPr>
              <p:nvPr>
                <p:ph idx="1"/>
              </p:nvPr>
            </p:nvSpPr>
            <p:spPr>
              <a:xfrm>
                <a:off x="838200" y="1825624"/>
                <a:ext cx="10515600" cy="5032375"/>
              </a:xfrm>
            </p:spPr>
            <p:txBody>
              <a:bodyPr>
                <a:normAutofit lnSpcReduction="10000"/>
              </a:bodyPr>
              <a:lstStyle/>
              <a:p>
                <a:r>
                  <a:rPr lang="en-US" dirty="0"/>
                  <a:t>Organizing problems into complexity classes helps us to reason more carefully and flexibly about tractability</a:t>
                </a:r>
              </a:p>
              <a:p>
                <a:r>
                  <a:rPr lang="en-US" dirty="0"/>
                  <a:t>The goal for each problem is to either</a:t>
                </a:r>
              </a:p>
              <a:p>
                <a:pPr lvl="1"/>
                <a:r>
                  <a:rPr lang="en-US" dirty="0"/>
                  <a:t>Find an efficient algorithm if it exists</a:t>
                </a:r>
              </a:p>
              <a:p>
                <a:pPr lvl="2"/>
                <a:r>
                  <a:rPr lang="en-US" dirty="0"/>
                  <a:t>i.e. show it belongs to </a:t>
                </a:r>
                <a14:m>
                  <m:oMath xmlns:m="http://schemas.openxmlformats.org/officeDocument/2006/math">
                    <m:r>
                      <a:rPr lang="en-US" b="0" i="1" smtClean="0">
                        <a:latin typeface="Cambria Math" panose="02040503050406030204" pitchFamily="18" charset="0"/>
                      </a:rPr>
                      <m:t>𝑃</m:t>
                    </m:r>
                  </m:oMath>
                </a14:m>
                <a:endParaRPr lang="en-US" dirty="0"/>
              </a:p>
              <a:p>
                <a:pPr lvl="1"/>
                <a:r>
                  <a:rPr lang="en-US" dirty="0"/>
                  <a:t>Prove that no efficient algorithm exists</a:t>
                </a:r>
              </a:p>
              <a:p>
                <a:pPr lvl="2"/>
                <a:r>
                  <a:rPr lang="en-US" dirty="0"/>
                  <a:t>i.e. show it does not belong to </a:t>
                </a:r>
                <a14:m>
                  <m:oMath xmlns:m="http://schemas.openxmlformats.org/officeDocument/2006/math">
                    <m:r>
                      <a:rPr lang="en-US" b="0" i="1" smtClean="0">
                        <a:latin typeface="Cambria Math" panose="02040503050406030204" pitchFamily="18" charset="0"/>
                      </a:rPr>
                      <m:t>𝑃</m:t>
                    </m:r>
                  </m:oMath>
                </a14:m>
                <a:endParaRPr lang="en-US" dirty="0"/>
              </a:p>
              <a:p>
                <a:r>
                  <a:rPr lang="en-US" dirty="0"/>
                  <a:t>Complexity classes allow us to reason about sets of problems at a time, rather than each problem individually</a:t>
                </a:r>
              </a:p>
              <a:p>
                <a:pPr lvl="1"/>
                <a:r>
                  <a:rPr lang="en-US" dirty="0"/>
                  <a:t>If we can find more precise classes to organize problems into, we might be able to draw conclusions about the entire class</a:t>
                </a:r>
              </a:p>
              <a:p>
                <a:pPr lvl="1"/>
                <a:r>
                  <a:rPr lang="en-US" dirty="0"/>
                  <a:t>It may be easier to show a problem belongs to class </a:t>
                </a:r>
                <a14:m>
                  <m:oMath xmlns:m="http://schemas.openxmlformats.org/officeDocument/2006/math">
                    <m:r>
                      <a:rPr lang="en-US" b="0" i="1" smtClean="0">
                        <a:latin typeface="Cambria Math" panose="02040503050406030204" pitchFamily="18" charset="0"/>
                      </a:rPr>
                      <m:t>𝐶</m:t>
                    </m:r>
                  </m:oMath>
                </a14:m>
                <a:r>
                  <a:rPr lang="en-US" dirty="0"/>
                  <a:t> than to </a:t>
                </a:r>
                <a14:m>
                  <m:oMath xmlns:m="http://schemas.openxmlformats.org/officeDocument/2006/math">
                    <m:r>
                      <a:rPr lang="en-US" b="0" i="1" smtClean="0">
                        <a:latin typeface="Cambria Math" panose="02040503050406030204" pitchFamily="18" charset="0"/>
                      </a:rPr>
                      <m:t>𝑃</m:t>
                    </m:r>
                  </m:oMath>
                </a14:m>
                <a:r>
                  <a:rPr lang="en-US" dirty="0"/>
                  <a:t>, so it may help to show that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dirty="0"/>
              </a:p>
            </p:txBody>
          </p:sp>
        </mc:Choice>
        <mc:Fallback xmlns="">
          <p:sp>
            <p:nvSpPr>
              <p:cNvPr id="3" name="Content Placeholder 2">
                <a:extLst>
                  <a:ext uri="{FF2B5EF4-FFF2-40B4-BE49-F238E27FC236}">
                    <a16:creationId xmlns:a16="http://schemas.microsoft.com/office/drawing/2014/main" id="{918BC985-1CA7-0F95-E19A-C18AFEB4C46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2663"/>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F1463A9-BD6B-CA7D-A6FF-86F50EEE09CC}"/>
                  </a:ext>
                </a:extLst>
              </p14:cNvPr>
              <p14:cNvContentPartPr/>
              <p14:nvPr/>
            </p14:nvContentPartPr>
            <p14:xfrm>
              <a:off x="6673680" y="1356120"/>
              <a:ext cx="2148120" cy="40320"/>
            </p14:xfrm>
          </p:contentPart>
        </mc:Choice>
        <mc:Fallback>
          <p:pic>
            <p:nvPicPr>
              <p:cNvPr id="4" name="Ink 3">
                <a:extLst>
                  <a:ext uri="{FF2B5EF4-FFF2-40B4-BE49-F238E27FC236}">
                    <a16:creationId xmlns:a16="http://schemas.microsoft.com/office/drawing/2014/main" id="{9F1463A9-BD6B-CA7D-A6FF-86F50EEE09CC}"/>
                  </a:ext>
                </a:extLst>
              </p:cNvPr>
              <p:cNvPicPr/>
              <p:nvPr/>
            </p:nvPicPr>
            <p:blipFill>
              <a:blip r:embed="rId4"/>
              <a:stretch>
                <a:fillRect/>
              </a:stretch>
            </p:blipFill>
            <p:spPr>
              <a:xfrm>
                <a:off x="6664320" y="1346760"/>
                <a:ext cx="2166840" cy="59040"/>
              </a:xfrm>
              <a:prstGeom prst="rect">
                <a:avLst/>
              </a:prstGeom>
            </p:spPr>
          </p:pic>
        </mc:Fallback>
      </mc:AlternateContent>
    </p:spTree>
    <p:extLst>
      <p:ext uri="{BB962C8B-B14F-4D97-AF65-F5344CB8AC3E}">
        <p14:creationId xmlns:p14="http://schemas.microsoft.com/office/powerpoint/2010/main" val="3881304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F2A4056-3B1E-4C93-D4D8-6FC1AE79F22A}"/>
                  </a:ext>
                </a:extLst>
              </p:cNvPr>
              <p:cNvSpPr>
                <a:spLocks noGrp="1"/>
              </p:cNvSpPr>
              <p:nvPr>
                <p:ph type="title"/>
              </p:nvPr>
            </p:nvSpPr>
            <p:spPr/>
            <p:txBody>
              <a:bodyPr/>
              <a:lstStyle/>
              <a:p>
                <a:r>
                  <a:rPr lang="en-US" dirty="0"/>
                  <a:t>Some problems in </a:t>
                </a:r>
                <a14:m>
                  <m:oMath xmlns:m="http://schemas.openxmlformats.org/officeDocument/2006/math">
                    <m:r>
                      <a:rPr lang="en-US" b="0" i="1" smtClean="0">
                        <a:latin typeface="Cambria Math" panose="02040503050406030204" pitchFamily="18" charset="0"/>
                      </a:rPr>
                      <m:t>𝐸𝑋𝑃</m:t>
                    </m:r>
                  </m:oMath>
                </a14:m>
                <a:r>
                  <a:rPr lang="en-US" dirty="0"/>
                  <a:t> seem “easier”</a:t>
                </a:r>
              </a:p>
            </p:txBody>
          </p:sp>
        </mc:Choice>
        <mc:Fallback xmlns="">
          <p:sp>
            <p:nvSpPr>
              <p:cNvPr id="2" name="Title 1">
                <a:extLst>
                  <a:ext uri="{FF2B5EF4-FFF2-40B4-BE49-F238E27FC236}">
                    <a16:creationId xmlns:a16="http://schemas.microsoft.com/office/drawing/2014/main" id="{7F2A4056-3B1E-4C93-D4D8-6FC1AE79F22A}"/>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BCC84F8A-7B34-FBF2-A05D-44DB22992018}"/>
              </a:ext>
            </a:extLst>
          </p:cNvPr>
          <p:cNvSpPr>
            <a:spLocks noGrp="1"/>
          </p:cNvSpPr>
          <p:nvPr>
            <p:ph idx="1"/>
          </p:nvPr>
        </p:nvSpPr>
        <p:spPr/>
        <p:txBody>
          <a:bodyPr/>
          <a:lstStyle/>
          <a:p>
            <a:r>
              <a:rPr lang="en-US" dirty="0"/>
              <a:t>There are some problems that we do not have polynomial time algorithms to solve, but provided answers are easy to check</a:t>
            </a:r>
          </a:p>
          <a:p>
            <a:r>
              <a:rPr lang="en-US" dirty="0"/>
              <a:t>Hamiltonian Path:</a:t>
            </a:r>
          </a:p>
          <a:p>
            <a:pPr lvl="1"/>
            <a:r>
              <a:rPr lang="en-US" dirty="0"/>
              <a:t>It’s “hard” to look at a graph and determine whether it has a Hamiltonian Path</a:t>
            </a:r>
          </a:p>
          <a:p>
            <a:pPr lvl="1"/>
            <a:r>
              <a:rPr lang="en-US" dirty="0"/>
              <a:t>It’s “easy” to look at a graph and a candidate path together and determine whether THAT path is a Hamiltonian Path </a:t>
            </a:r>
          </a:p>
          <a:p>
            <a:pPr lvl="2"/>
            <a:r>
              <a:rPr lang="en-US" dirty="0"/>
              <a:t>It’s easy to </a:t>
            </a:r>
            <a:r>
              <a:rPr lang="en-US" b="1" dirty="0"/>
              <a:t>verify</a:t>
            </a:r>
            <a:r>
              <a:rPr lang="en-US" dirty="0"/>
              <a:t> whether a given path is a Hamiltonian path</a:t>
            </a:r>
          </a:p>
        </p:txBody>
      </p:sp>
    </p:spTree>
    <p:extLst>
      <p:ext uri="{BB962C8B-B14F-4D97-AF65-F5344CB8AC3E}">
        <p14:creationId xmlns:p14="http://schemas.microsoft.com/office/powerpoint/2010/main" val="491663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0C0E09-0E0C-6D5C-E168-D8F5A7163FA1}"/>
                  </a:ext>
                </a:extLst>
              </p:cNvPr>
              <p:cNvSpPr>
                <a:spLocks noGrp="1"/>
              </p:cNvSpPr>
              <p:nvPr>
                <p:ph type="title"/>
              </p:nvPr>
            </p:nvSpPr>
            <p:spPr/>
            <p:txBody>
              <a:bodyPr/>
              <a:lstStyle/>
              <a:p>
                <a:r>
                  <a:rPr lang="en-US" dirty="0"/>
                  <a:t>Class </a:t>
                </a:r>
                <a14:m>
                  <m:oMath xmlns:m="http://schemas.openxmlformats.org/officeDocument/2006/math">
                    <m:r>
                      <a:rPr lang="en-US" b="0" i="1" smtClean="0">
                        <a:latin typeface="Cambria Math" panose="02040503050406030204" pitchFamily="18" charset="0"/>
                      </a:rPr>
                      <m:t>𝑁𝑃</m:t>
                    </m:r>
                  </m:oMath>
                </a14:m>
                <a:endParaRPr lang="en-US" dirty="0"/>
              </a:p>
            </p:txBody>
          </p:sp>
        </mc:Choice>
        <mc:Fallback xmlns="">
          <p:sp>
            <p:nvSpPr>
              <p:cNvPr id="2" name="Title 1">
                <a:extLst>
                  <a:ext uri="{FF2B5EF4-FFF2-40B4-BE49-F238E27FC236}">
                    <a16:creationId xmlns:a16="http://schemas.microsoft.com/office/drawing/2014/main" id="{860C0E09-0E0C-6D5C-E168-D8F5A7163FA1}"/>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68C499-1D0B-7FAA-60A6-A273D22EA83B}"/>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𝑁𝑃</m:t>
                    </m:r>
                  </m:oMath>
                </a14:m>
                <a:endParaRPr lang="en-US" dirty="0"/>
              </a:p>
              <a:p>
                <a:pPr lvl="1"/>
                <a:r>
                  <a:rPr lang="en-US" dirty="0"/>
                  <a:t>The set of problems for which a candidate solution can be verified in polynomial time</a:t>
                </a:r>
              </a:p>
              <a:p>
                <a:pPr lvl="1"/>
                <a:r>
                  <a:rPr lang="en-US" dirty="0"/>
                  <a:t>Stands for “Non-deterministic Polynomial”</a:t>
                </a:r>
              </a:p>
              <a:p>
                <a:pPr lvl="2"/>
                <a:r>
                  <a:rPr lang="en-US" dirty="0"/>
                  <a:t>Corresponds to algorithms that can guess a solution (if it exists), that solution is then verified to be correct in polynomial time</a:t>
                </a:r>
              </a:p>
              <a:p>
                <a:pPr lvl="2"/>
                <a:r>
                  <a:rPr lang="en-US" dirty="0"/>
                  <a:t>Can also think of as allowing a special operation that allows the algorithm to magically guess the right choice at each step of an exhaustive search</a:t>
                </a:r>
              </a:p>
              <a:p>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Why?</a:t>
                </a:r>
              </a:p>
              <a:p>
                <a:pPr lvl="1"/>
                <a:endParaRPr lang="en-US" dirty="0"/>
              </a:p>
            </p:txBody>
          </p:sp>
        </mc:Choice>
        <mc:Fallback xmlns="">
          <p:sp>
            <p:nvSpPr>
              <p:cNvPr id="3" name="Content Placeholder 2">
                <a:extLst>
                  <a:ext uri="{FF2B5EF4-FFF2-40B4-BE49-F238E27FC236}">
                    <a16:creationId xmlns:a16="http://schemas.microsoft.com/office/drawing/2014/main" id="{EB68C499-1D0B-7FAA-60A6-A273D22EA83B}"/>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61C9FBF-F12A-80A3-9D6E-89D1F9C4A6FD}"/>
                  </a:ext>
                </a:extLst>
              </p14:cNvPr>
              <p14:cNvContentPartPr/>
              <p14:nvPr/>
            </p14:nvContentPartPr>
            <p14:xfrm>
              <a:off x="1081440" y="2660400"/>
              <a:ext cx="9968040" cy="3009960"/>
            </p14:xfrm>
          </p:contentPart>
        </mc:Choice>
        <mc:Fallback>
          <p:pic>
            <p:nvPicPr>
              <p:cNvPr id="4" name="Ink 3">
                <a:extLst>
                  <a:ext uri="{FF2B5EF4-FFF2-40B4-BE49-F238E27FC236}">
                    <a16:creationId xmlns:a16="http://schemas.microsoft.com/office/drawing/2014/main" id="{261C9FBF-F12A-80A3-9D6E-89D1F9C4A6FD}"/>
                  </a:ext>
                </a:extLst>
              </p:cNvPr>
              <p:cNvPicPr/>
              <p:nvPr/>
            </p:nvPicPr>
            <p:blipFill>
              <a:blip r:embed="rId5"/>
              <a:stretch>
                <a:fillRect/>
              </a:stretch>
            </p:blipFill>
            <p:spPr>
              <a:xfrm>
                <a:off x="1072080" y="2651040"/>
                <a:ext cx="9986760" cy="3028680"/>
              </a:xfrm>
              <a:prstGeom prst="rect">
                <a:avLst/>
              </a:prstGeom>
            </p:spPr>
          </p:pic>
        </mc:Fallback>
      </mc:AlternateContent>
    </p:spTree>
    <p:extLst>
      <p:ext uri="{BB962C8B-B14F-4D97-AF65-F5344CB8AC3E}">
        <p14:creationId xmlns:p14="http://schemas.microsoft.com/office/powerpoint/2010/main" val="3356534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venn diagram illustrating the relationship between EXP, P, and NP.&#10;&#10;P is known to be a proper subset of EXP. NP is also known to be a proper subset of EXP. P is known to be a subset of NP, but it is unknown whether it is a proper subset.&#10;&#10;Some members we now know are members of each portion of the diagram:&#10;&#10;In P: Sorting, Shortest Path, Euler Path&#10;&#10;in NP but not known to be in P: Vertex Cover, Independent Set, Hamilton Path, Cryptography, Prime Factorization&#10;&#10;In EXP and known to be outside of P: Perfectly playing games like chess, checkers, go.">
            <a:extLst>
              <a:ext uri="{FF2B5EF4-FFF2-40B4-BE49-F238E27FC236}">
                <a16:creationId xmlns:a16="http://schemas.microsoft.com/office/drawing/2014/main" id="{CB65E576-BE73-4EF3-4846-A67D67BB98AE}"/>
              </a:ext>
            </a:extLst>
          </p:cNvPr>
          <p:cNvGrpSpPr/>
          <p:nvPr/>
        </p:nvGrpSpPr>
        <p:grpSpPr>
          <a:xfrm>
            <a:off x="396240" y="733886"/>
            <a:ext cx="11602720" cy="6209178"/>
            <a:chOff x="396240" y="733886"/>
            <a:chExt cx="11602720" cy="6209178"/>
          </a:xfrm>
        </p:grpSpPr>
        <p:sp>
          <p:nvSpPr>
            <p:cNvPr id="5" name="Oval 4">
              <a:extLst>
                <a:ext uri="{FF2B5EF4-FFF2-40B4-BE49-F238E27FC236}">
                  <a16:creationId xmlns:a16="http://schemas.microsoft.com/office/drawing/2014/main" id="{141635B6-F402-1095-4877-EFE866AA1617}"/>
                </a:ext>
              </a:extLst>
            </p:cNvPr>
            <p:cNvSpPr/>
            <p:nvPr/>
          </p:nvSpPr>
          <p:spPr>
            <a:xfrm>
              <a:off x="396240" y="800392"/>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3933289-11A2-E100-3246-E02B39C7AED0}"/>
                    </a:ext>
                  </a:extLst>
                </p:cNvPr>
                <p:cNvSpPr txBox="1"/>
                <p:nvPr/>
              </p:nvSpPr>
              <p:spPr>
                <a:xfrm>
                  <a:off x="3342640" y="733886"/>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Exponential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2</m:t>
                          </m:r>
                        </m:e>
                        <m:sup>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sup>
                      </m:sSup>
                    </m:oMath>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3342640" y="733886"/>
                  <a:ext cx="6096000" cy="1424429"/>
                </a:xfrm>
                <a:prstGeom prst="rect">
                  <a:avLst/>
                </a:prstGeom>
                <a:blipFill>
                  <a:blip r:embed="rId2"/>
                  <a:stretch>
                    <a:fillRect b="-11111"/>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FBAF8506-45D6-1464-2EA9-BAD5C9E44E96}"/>
                </a:ext>
              </a:extLst>
            </p:cNvPr>
            <p:cNvSpPr/>
            <p:nvPr/>
          </p:nvSpPr>
          <p:spPr>
            <a:xfrm>
              <a:off x="995680" y="2158315"/>
              <a:ext cx="9804400" cy="4118917"/>
            </a:xfrm>
            <a:prstGeom prst="ellipse">
              <a:avLst/>
            </a:prstGeom>
            <a:solidFill>
              <a:schemeClr val="accent2">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22CD1BFD-574C-E5F5-667A-A8E28277AD99}"/>
                    </a:ext>
                  </a:extLst>
                </p:cNvPr>
                <p:cNvSpPr/>
                <p:nvPr/>
              </p:nvSpPr>
              <p:spPr>
                <a:xfrm>
                  <a:off x="1391920" y="317612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Polynomial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oMath>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76123"/>
                  <a:ext cx="4998720" cy="2555240"/>
                </a:xfrm>
                <a:prstGeom prst="ellipse">
                  <a:avLst/>
                </a:prstGeom>
                <a:blipFill>
                  <a:blip r:embed="rId3"/>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561229C-901F-E6AA-7760-7159895368CF}"/>
                    </a:ext>
                  </a:extLst>
                </p:cNvPr>
                <p:cNvSpPr txBox="1"/>
                <p:nvPr/>
              </p:nvSpPr>
              <p:spPr>
                <a:xfrm>
                  <a:off x="5303520" y="3004590"/>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Nondeterministic Polynomial</a:t>
                  </a:r>
                </a:p>
                <a:p>
                  <a:pPr algn="ctr"/>
                  <a:r>
                    <a:rPr lang="en-US" sz="2800" dirty="0"/>
                    <a:t>Verified in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𝑝</m:t>
                          </m:r>
                        </m:sup>
                      </m:sSup>
                    </m:oMath>
                  </a14:m>
                  <a:r>
                    <a:rPr lang="en-US" sz="2800" dirty="0">
                      <a:solidFill>
                        <a:schemeClr val="tx1"/>
                      </a:solidFill>
                    </a:rPr>
                    <a:t> time</a:t>
                  </a: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5303520" y="3004590"/>
                  <a:ext cx="6096000" cy="1424429"/>
                </a:xfrm>
                <a:prstGeom prst="rect">
                  <a:avLst/>
                </a:prstGeom>
                <a:blipFill>
                  <a:blip r:embed="rId4"/>
                  <a:stretch>
                    <a:fillRect b="-8547"/>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AC71D22A-C4FD-A562-E8FB-9618A48A76F8}"/>
                </a:ext>
              </a:extLst>
            </p:cNvPr>
            <p:cNvGrpSpPr/>
            <p:nvPr/>
          </p:nvGrpSpPr>
          <p:grpSpPr>
            <a:xfrm rot="1389724">
              <a:off x="6200745" y="5135200"/>
              <a:ext cx="2475158" cy="523220"/>
              <a:chOff x="6197600" y="5013683"/>
              <a:chExt cx="2475158" cy="523220"/>
            </a:xfrm>
          </p:grpSpPr>
          <p:sp>
            <p:nvSpPr>
              <p:cNvPr id="12" name="TextBox 11">
                <a:extLst>
                  <a:ext uri="{FF2B5EF4-FFF2-40B4-BE49-F238E27FC236}">
                    <a16:creationId xmlns:a16="http://schemas.microsoft.com/office/drawing/2014/main" id="{DD281509-7CCC-72FA-5A63-28BAA927617A}"/>
                  </a:ext>
                </a:extLst>
              </p:cNvPr>
              <p:cNvSpPr txBox="1"/>
              <p:nvPr/>
            </p:nvSpPr>
            <p:spPr>
              <a:xfrm>
                <a:off x="7053897" y="5013683"/>
                <a:ext cx="955604" cy="523220"/>
              </a:xfrm>
              <a:prstGeom prst="rect">
                <a:avLst/>
              </a:prstGeom>
              <a:noFill/>
            </p:spPr>
            <p:txBody>
              <a:bodyPr wrap="square">
                <a:spAutoFit/>
              </a:bodyPr>
              <a:lstStyle/>
              <a:p>
                <a:pPr algn="ctr"/>
                <a:r>
                  <a:rPr lang="en-US" sz="2800" dirty="0">
                    <a:solidFill>
                      <a:srgbClr val="FF0000"/>
                    </a:solidFill>
                  </a:rPr>
                  <a:t>Gap?</a:t>
                </a:r>
              </a:p>
            </p:txBody>
          </p:sp>
          <p:cxnSp>
            <p:nvCxnSpPr>
              <p:cNvPr id="14" name="Straight Arrow Connector 13">
                <a:extLst>
                  <a:ext uri="{FF2B5EF4-FFF2-40B4-BE49-F238E27FC236}">
                    <a16:creationId xmlns:a16="http://schemas.microsoft.com/office/drawing/2014/main" id="{B82661DB-8387-2CF0-35D0-C14C37B0B8E7}"/>
                  </a:ext>
                </a:extLst>
              </p:cNvPr>
              <p:cNvCxnSpPr>
                <a:stCxn id="12" idx="1"/>
              </p:cNvCxnSpPr>
              <p:nvPr/>
            </p:nvCxnSpPr>
            <p:spPr>
              <a:xfrm flipH="1">
                <a:off x="6197600" y="5275293"/>
                <a:ext cx="856297" cy="1"/>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5AF750-7ABB-9963-C32B-09B336727927}"/>
                  </a:ext>
                </a:extLst>
              </p:cNvPr>
              <p:cNvCxnSpPr>
                <a:cxnSpLocks/>
                <a:stCxn id="12" idx="3"/>
              </p:cNvCxnSpPr>
              <p:nvPr/>
            </p:nvCxnSpPr>
            <p:spPr>
              <a:xfrm>
                <a:off x="8009501" y="5275293"/>
                <a:ext cx="663257" cy="0"/>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C565268-1DFA-2BDF-B753-888B618F5053}"/>
                </a:ext>
              </a:extLst>
            </p:cNvPr>
            <p:cNvSpPr txBox="1"/>
            <p:nvPr/>
          </p:nvSpPr>
          <p:spPr>
            <a:xfrm rot="1389724">
              <a:off x="6228679" y="5362557"/>
              <a:ext cx="1810649" cy="523220"/>
            </a:xfrm>
            <a:prstGeom prst="rect">
              <a:avLst/>
            </a:prstGeom>
            <a:noFill/>
          </p:spPr>
          <p:txBody>
            <a:bodyPr wrap="square">
              <a:spAutoFit/>
            </a:bodyPr>
            <a:lstStyle/>
            <a:p>
              <a:pPr algn="ctr"/>
              <a:r>
                <a:rPr lang="en-US" sz="2800" dirty="0">
                  <a:solidFill>
                    <a:srgbClr val="FF0000"/>
                  </a:solidFill>
                </a:rPr>
                <a:t>Unknown!</a:t>
              </a:r>
            </a:p>
          </p:txBody>
        </p:sp>
        <p:sp>
          <p:nvSpPr>
            <p:cNvPr id="3" name="TextBox 2">
              <a:extLst>
                <a:ext uri="{FF2B5EF4-FFF2-40B4-BE49-F238E27FC236}">
                  <a16:creationId xmlns:a16="http://schemas.microsoft.com/office/drawing/2014/main" id="{6D8DB62C-26FA-47C4-9CF8-BA550BE15574}"/>
                </a:ext>
              </a:extLst>
            </p:cNvPr>
            <p:cNvSpPr txBox="1"/>
            <p:nvPr/>
          </p:nvSpPr>
          <p:spPr>
            <a:xfrm>
              <a:off x="4599377" y="3391408"/>
              <a:ext cx="1303947" cy="861774"/>
            </a:xfrm>
            <a:prstGeom prst="rect">
              <a:avLst/>
            </a:prstGeom>
            <a:noFill/>
          </p:spPr>
          <p:txBody>
            <a:bodyPr wrap="none" rtlCol="0">
              <a:spAutoFit/>
            </a:bodyPr>
            <a:lstStyle/>
            <a:p>
              <a:r>
                <a:rPr lang="en-US" sz="1600" dirty="0">
                  <a:solidFill>
                    <a:srgbClr val="7030A0"/>
                  </a:solidFill>
                </a:rPr>
                <a:t>Sorting</a:t>
              </a:r>
            </a:p>
            <a:p>
              <a:r>
                <a:rPr lang="en-US" sz="1600" dirty="0">
                  <a:solidFill>
                    <a:srgbClr val="7030A0"/>
                  </a:solidFill>
                </a:rPr>
                <a:t>Shortest Path</a:t>
              </a:r>
            </a:p>
            <a:p>
              <a:r>
                <a:rPr lang="en-US" sz="1600" dirty="0">
                  <a:solidFill>
                    <a:srgbClr val="7030A0"/>
                  </a:solidFill>
                </a:rPr>
                <a:t>Euler Path</a:t>
              </a:r>
            </a:p>
          </p:txBody>
        </p:sp>
        <p:sp>
          <p:nvSpPr>
            <p:cNvPr id="8" name="TextBox 7">
              <a:extLst>
                <a:ext uri="{FF2B5EF4-FFF2-40B4-BE49-F238E27FC236}">
                  <a16:creationId xmlns:a16="http://schemas.microsoft.com/office/drawing/2014/main" id="{13E90524-0054-417F-44E8-4B21DAC3A3E9}"/>
                </a:ext>
              </a:extLst>
            </p:cNvPr>
            <p:cNvSpPr txBox="1"/>
            <p:nvPr/>
          </p:nvSpPr>
          <p:spPr>
            <a:xfrm>
              <a:off x="5396885" y="2134632"/>
              <a:ext cx="1765099" cy="1323439"/>
            </a:xfrm>
            <a:prstGeom prst="rect">
              <a:avLst/>
            </a:prstGeom>
            <a:noFill/>
          </p:spPr>
          <p:txBody>
            <a:bodyPr wrap="none" rtlCol="0">
              <a:spAutoFit/>
            </a:bodyPr>
            <a:lstStyle/>
            <a:p>
              <a:r>
                <a:rPr lang="en-US" sz="1600" dirty="0">
                  <a:solidFill>
                    <a:srgbClr val="7030A0"/>
                  </a:solidFill>
                </a:rPr>
                <a:t>Vertex Cover</a:t>
              </a:r>
            </a:p>
            <a:p>
              <a:r>
                <a:rPr lang="en-US" sz="1600" dirty="0">
                  <a:solidFill>
                    <a:srgbClr val="7030A0"/>
                  </a:solidFill>
                </a:rPr>
                <a:t>Independent Set</a:t>
              </a:r>
            </a:p>
            <a:p>
              <a:r>
                <a:rPr lang="en-US" sz="1600" dirty="0">
                  <a:solidFill>
                    <a:srgbClr val="7030A0"/>
                  </a:solidFill>
                </a:rPr>
                <a:t>Hamiltonian Path</a:t>
              </a:r>
            </a:p>
            <a:p>
              <a:r>
                <a:rPr lang="en-US" sz="1600" dirty="0">
                  <a:solidFill>
                    <a:srgbClr val="7030A0"/>
                  </a:solidFill>
                </a:rPr>
                <a:t>Cryptography</a:t>
              </a:r>
            </a:p>
            <a:p>
              <a:r>
                <a:rPr lang="en-US" sz="1600" dirty="0">
                  <a:solidFill>
                    <a:srgbClr val="7030A0"/>
                  </a:solidFill>
                </a:rPr>
                <a:t>Prime factorization</a:t>
              </a:r>
            </a:p>
          </p:txBody>
        </p:sp>
        <p:sp>
          <p:nvSpPr>
            <p:cNvPr id="9" name="TextBox 8">
              <a:extLst>
                <a:ext uri="{FF2B5EF4-FFF2-40B4-BE49-F238E27FC236}">
                  <a16:creationId xmlns:a16="http://schemas.microsoft.com/office/drawing/2014/main" id="{02FB1F7F-722C-2555-934B-D67F0220B70F}"/>
                </a:ext>
              </a:extLst>
            </p:cNvPr>
            <p:cNvSpPr txBox="1"/>
            <p:nvPr/>
          </p:nvSpPr>
          <p:spPr>
            <a:xfrm>
              <a:off x="8834747" y="1534250"/>
              <a:ext cx="927946" cy="830997"/>
            </a:xfrm>
            <a:prstGeom prst="rect">
              <a:avLst/>
            </a:prstGeom>
            <a:noFill/>
          </p:spPr>
          <p:txBody>
            <a:bodyPr wrap="none" rtlCol="0">
              <a:spAutoFit/>
            </a:bodyPr>
            <a:lstStyle/>
            <a:p>
              <a:r>
                <a:rPr lang="en-US" sz="1600" dirty="0">
                  <a:solidFill>
                    <a:srgbClr val="7030A0"/>
                  </a:solidFill>
                </a:rPr>
                <a:t>Checkers</a:t>
              </a:r>
            </a:p>
            <a:p>
              <a:r>
                <a:rPr lang="en-US" sz="1600" dirty="0">
                  <a:solidFill>
                    <a:srgbClr val="7030A0"/>
                  </a:solidFill>
                </a:rPr>
                <a:t>Go</a:t>
              </a:r>
            </a:p>
            <a:p>
              <a:r>
                <a:rPr lang="en-US" sz="1600" dirty="0">
                  <a:solidFill>
                    <a:srgbClr val="7030A0"/>
                  </a:solidFill>
                </a:rPr>
                <a:t>Chess</a:t>
              </a:r>
            </a:p>
          </p:txBody>
        </p:sp>
      </p:grpSp>
      <mc:AlternateContent xmlns:mc="http://schemas.openxmlformats.org/markup-compatibility/2006" xmlns:a14="http://schemas.microsoft.com/office/drawing/2010/main">
        <mc:Choice Requires="a14">
          <p:sp>
            <p:nvSpPr>
              <p:cNvPr id="26" name="Title 1">
                <a:extLst>
                  <a:ext uri="{FF2B5EF4-FFF2-40B4-BE49-F238E27FC236}">
                    <a16:creationId xmlns:a16="http://schemas.microsoft.com/office/drawing/2014/main" id="{58BD3A92-F435-7C36-5746-4DD8BBD2FA49}"/>
                  </a:ext>
                </a:extLst>
              </p:cNvPr>
              <p:cNvSpPr>
                <a:spLocks noGrp="1"/>
              </p:cNvSpPr>
              <p:nvPr>
                <p:ph type="title"/>
              </p:nvPr>
            </p:nvSpPr>
            <p:spPr>
              <a:xfrm>
                <a:off x="193040" y="-151279"/>
                <a:ext cx="10515600" cy="1325563"/>
              </a:xfrm>
            </p:spPr>
            <p:txBody>
              <a:bodyPr/>
              <a:lstStyle/>
              <a:p>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Example Members </a:t>
                </a:r>
              </a:p>
            </p:txBody>
          </p:sp>
        </mc:Choice>
        <mc:Fallback xmlns="">
          <p:sp>
            <p:nvSpPr>
              <p:cNvPr id="26" name="Title 1">
                <a:extLst>
                  <a:ext uri="{FF2B5EF4-FFF2-40B4-BE49-F238E27FC236}">
                    <a16:creationId xmlns:a16="http://schemas.microsoft.com/office/drawing/2014/main" id="{58BD3A92-F435-7C36-5746-4DD8BBD2FA49}"/>
                  </a:ext>
                </a:extLst>
              </p:cNvPr>
              <p:cNvSpPr>
                <a:spLocks noGrp="1" noRot="1" noChangeAspect="1" noMove="1" noResize="1" noEditPoints="1" noAdjustHandles="1" noChangeArrowheads="1" noChangeShapeType="1" noTextEdit="1"/>
              </p:cNvSpPr>
              <p:nvPr>
                <p:ph type="title"/>
              </p:nvPr>
            </p:nvSpPr>
            <p:spPr>
              <a:xfrm>
                <a:off x="193040" y="-151279"/>
                <a:ext cx="10515600" cy="1325563"/>
              </a:xfr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1DED51-C630-1C05-E13A-1F2DA7629B7A}"/>
                  </a:ext>
                </a:extLst>
              </p:cNvPr>
              <p:cNvSpPr txBox="1"/>
              <p:nvPr/>
            </p:nvSpPr>
            <p:spPr>
              <a:xfrm>
                <a:off x="-1564640" y="844490"/>
                <a:ext cx="6096000" cy="523220"/>
              </a:xfrm>
              <a:prstGeom prst="rect">
                <a:avLst/>
              </a:prstGeom>
              <a:noFill/>
            </p:spPr>
            <p:txBody>
              <a:bodyPr wrap="square">
                <a:spAutoFit/>
              </a:bodyPr>
              <a:lstStyle/>
              <a:p>
                <a:pPr algn="ct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r>
                  <a:rPr lang="en-US" sz="2800" dirty="0">
                    <a:solidFill>
                      <a:srgbClr val="FF0000"/>
                    </a:solidFill>
                  </a:rPr>
                  <a:t> or </a:t>
                </a: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endParaRPr lang="en-US" sz="2800" dirty="0">
                  <a:solidFill>
                    <a:srgbClr val="FF0000"/>
                  </a:solidFill>
                </a:endParaRPr>
              </a:p>
            </p:txBody>
          </p:sp>
        </mc:Choice>
        <mc:Fallback xmlns="">
          <p:sp>
            <p:nvSpPr>
              <p:cNvPr id="27" name="TextBox 26">
                <a:extLst>
                  <a:ext uri="{FF2B5EF4-FFF2-40B4-BE49-F238E27FC236}">
                    <a16:creationId xmlns:a16="http://schemas.microsoft.com/office/drawing/2014/main" id="{A71DED51-C630-1C05-E13A-1F2DA7629B7A}"/>
                  </a:ext>
                </a:extLst>
              </p:cNvPr>
              <p:cNvSpPr txBox="1">
                <a:spLocks noRot="1" noChangeAspect="1" noMove="1" noResize="1" noEditPoints="1" noAdjustHandles="1" noChangeArrowheads="1" noChangeShapeType="1" noTextEdit="1"/>
              </p:cNvSpPr>
              <p:nvPr/>
            </p:nvSpPr>
            <p:spPr>
              <a:xfrm>
                <a:off x="-1564640" y="844490"/>
                <a:ext cx="6096000" cy="523220"/>
              </a:xfrm>
              <a:prstGeom prst="rect">
                <a:avLst/>
              </a:prstGeom>
              <a:blipFill>
                <a:blip r:embed="rId6"/>
                <a:stretch>
                  <a:fillRect t="-11765" b="-34118"/>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95641473-7A13-8E07-C5BC-C7F2CD595306}"/>
                  </a:ext>
                </a:extLst>
              </p14:cNvPr>
              <p14:cNvContentPartPr/>
              <p14:nvPr/>
            </p14:nvContentPartPr>
            <p14:xfrm>
              <a:off x="3229200" y="1243080"/>
              <a:ext cx="6013440" cy="4901760"/>
            </p14:xfrm>
          </p:contentPart>
        </mc:Choice>
        <mc:Fallback>
          <p:pic>
            <p:nvPicPr>
              <p:cNvPr id="10" name="Ink 9">
                <a:extLst>
                  <a:ext uri="{FF2B5EF4-FFF2-40B4-BE49-F238E27FC236}">
                    <a16:creationId xmlns:a16="http://schemas.microsoft.com/office/drawing/2014/main" id="{95641473-7A13-8E07-C5BC-C7F2CD595306}"/>
                  </a:ext>
                </a:extLst>
              </p:cNvPr>
              <p:cNvPicPr/>
              <p:nvPr/>
            </p:nvPicPr>
            <p:blipFill>
              <a:blip r:embed="rId8"/>
              <a:stretch>
                <a:fillRect/>
              </a:stretch>
            </p:blipFill>
            <p:spPr>
              <a:xfrm>
                <a:off x="3219840" y="1233720"/>
                <a:ext cx="6032160" cy="4920480"/>
              </a:xfrm>
              <a:prstGeom prst="rect">
                <a:avLst/>
              </a:prstGeom>
            </p:spPr>
          </p:pic>
        </mc:Fallback>
      </mc:AlternateContent>
    </p:spTree>
    <p:extLst>
      <p:ext uri="{BB962C8B-B14F-4D97-AF65-F5344CB8AC3E}">
        <p14:creationId xmlns:p14="http://schemas.microsoft.com/office/powerpoint/2010/main" val="2572305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Set / Party Problem</a:t>
            </a:r>
          </a:p>
        </p:txBody>
      </p:sp>
      <p:sp>
        <p:nvSpPr>
          <p:cNvPr id="54" name="TextBox 53"/>
          <p:cNvSpPr txBox="1"/>
          <p:nvPr/>
        </p:nvSpPr>
        <p:spPr>
          <a:xfrm>
            <a:off x="4926051" y="1413405"/>
            <a:ext cx="6562309" cy="646331"/>
          </a:xfrm>
          <a:prstGeom prst="rect">
            <a:avLst/>
          </a:prstGeom>
          <a:noFill/>
        </p:spPr>
        <p:txBody>
          <a:bodyPr wrap="none" rtlCol="0">
            <a:spAutoFit/>
          </a:bodyPr>
          <a:lstStyle/>
          <a:p>
            <a:r>
              <a:rPr lang="en-US" dirty="0"/>
              <a:t>Draw Edges between people who don’t get along</a:t>
            </a:r>
          </a:p>
          <a:p>
            <a:r>
              <a:rPr lang="en-US" dirty="0"/>
              <a:t>How many people can I invite to a party if everyone must get along?</a:t>
            </a:r>
          </a:p>
        </p:txBody>
      </p:sp>
      <p:grpSp>
        <p:nvGrpSpPr>
          <p:cNvPr id="18" name="Group 17" descr="A graph depicting several famous people and edges between them.">
            <a:extLst>
              <a:ext uri="{FF2B5EF4-FFF2-40B4-BE49-F238E27FC236}">
                <a16:creationId xmlns:a16="http://schemas.microsoft.com/office/drawing/2014/main" id="{7EBDB391-F091-1846-3790-16198B287E18}"/>
              </a:ext>
            </a:extLst>
          </p:cNvPr>
          <p:cNvGrpSpPr/>
          <p:nvPr/>
        </p:nvGrpSpPr>
        <p:grpSpPr>
          <a:xfrm>
            <a:off x="1822926" y="1377631"/>
            <a:ext cx="7796089" cy="5253107"/>
            <a:chOff x="1822926" y="1377631"/>
            <a:chExt cx="7796089" cy="5253107"/>
          </a:xfrm>
        </p:grpSpPr>
        <p:pic>
          <p:nvPicPr>
            <p:cNvPr id="1026" name="Picture 2" descr="Image result for Prince Harr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meghan markl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Prince Charl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Image result for justin trudeau"/>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Image result for Elton John"/>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Image result for angela merkel"/>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Image result for paul mccartney"/>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Connector 25"/>
            <p:cNvCxnSpPr>
              <a:stCxn id="1028"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026" idx="3"/>
              <a:endCxn id="1060"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1030" idx="1"/>
              <a:endCxn id="1060"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030"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030" idx="1"/>
              <a:endCxn id="1044"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030" idx="1"/>
              <a:endCxn id="1042"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1042" idx="1"/>
            </p:cNvCxnSpPr>
            <p:nvPr/>
          </p:nvCxnSpPr>
          <p:spPr>
            <a:xfrm flipH="1" flipV="1">
              <a:off x="2565838" y="5714723"/>
              <a:ext cx="5437606" cy="49128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1044" idx="1"/>
              <a:endCxn id="1058"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2" descr="Joe Biden - CNBC">
              <a:extLst>
                <a:ext uri="{FF2B5EF4-FFF2-40B4-BE49-F238E27FC236}">
                  <a16:creationId xmlns:a16="http://schemas.microsoft.com/office/drawing/2014/main" id="{962C31A1-6E3C-712B-C18A-F732F7F6D43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Emmanuel Macron - Wikipedia">
              <a:extLst>
                <a:ext uri="{FF2B5EF4-FFF2-40B4-BE49-F238E27FC236}">
                  <a16:creationId xmlns:a16="http://schemas.microsoft.com/office/drawing/2014/main" id="{0482CE18-CEF8-B794-ABC5-C2879D11D55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Taylor Swift set to make her feature directorial debut | CNN">
              <a:extLst>
                <a:ext uri="{FF2B5EF4-FFF2-40B4-BE49-F238E27FC236}">
                  <a16:creationId xmlns:a16="http://schemas.microsoft.com/office/drawing/2014/main" id="{E28D031F-BF6C-DD58-B24E-22BFDE50F7D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56FD067A-CC6D-6D54-0646-E140E9F8138F}"/>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8" descr="Ed Sheeran">
              <a:extLst>
                <a:ext uri="{FF2B5EF4-FFF2-40B4-BE49-F238E27FC236}">
                  <a16:creationId xmlns:a16="http://schemas.microsoft.com/office/drawing/2014/main" id="{34901888-5999-132B-BE71-0D5E65E1A39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harrell Williams - Age, Wife &amp; &quot;Happy&quot;">
              <a:extLst>
                <a:ext uri="{FF2B5EF4-FFF2-40B4-BE49-F238E27FC236}">
                  <a16:creationId xmlns:a16="http://schemas.microsoft.com/office/drawing/2014/main" id="{16115C01-A579-BE4C-699B-5394A062C97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29872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Independent Set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Independent set: </a:t>
                </a:r>
              </a:p>
              <a:p>
                <a:pPr lvl="1"/>
                <a14:m>
                  <m:oMath xmlns:m="http://schemas.openxmlformats.org/officeDocument/2006/math">
                    <m:r>
                      <a:rPr lang="en-US" i="1">
                        <a:latin typeface="Cambria Math"/>
                      </a:rPr>
                      <m:t>𝑆</m:t>
                    </m:r>
                    <m:r>
                      <a:rPr lang="en-US" i="1">
                        <a:latin typeface="Cambria Math"/>
                      </a:rPr>
                      <m:t>⊆</m:t>
                    </m:r>
                    <m:r>
                      <a:rPr lang="en-US" i="1">
                        <a:latin typeface="Cambria Math"/>
                      </a:rPr>
                      <m:t>𝑉</m:t>
                    </m:r>
                  </m:oMath>
                </a14:m>
                <a:r>
                  <a:rPr lang="en-US" dirty="0"/>
                  <a:t> is an independent set if no two nodes in </a:t>
                </a:r>
                <a14:m>
                  <m:oMath xmlns:m="http://schemas.openxmlformats.org/officeDocument/2006/math">
                    <m:r>
                      <a:rPr lang="en-US" i="1">
                        <a:latin typeface="Cambria Math"/>
                      </a:rPr>
                      <m:t>𝑆</m:t>
                    </m:r>
                  </m:oMath>
                </a14:m>
                <a:r>
                  <a:rPr lang="en-US" dirty="0"/>
                  <a:t> share an edge</a:t>
                </a:r>
              </a:p>
              <a:p>
                <a:r>
                  <a:rPr lang="en-US" dirty="0"/>
                  <a:t>Independent Set Problem: </a:t>
                </a:r>
              </a:p>
              <a:p>
                <a:pPr lvl="1"/>
                <a:r>
                  <a:rPr lang="en-US" dirty="0"/>
                  <a:t>Given a graph </a:t>
                </a:r>
                <a14:m>
                  <m:oMath xmlns:m="http://schemas.openxmlformats.org/officeDocument/2006/math">
                    <m:r>
                      <a:rPr lang="en-US" i="1">
                        <a:latin typeface="Cambria Math"/>
                      </a:rPr>
                      <m:t>𝐺</m:t>
                    </m:r>
                    <m:r>
                      <a:rPr lang="en-US" i="1">
                        <a:latin typeface="Cambria Math"/>
                      </a:rPr>
                      <m:t>=(</m:t>
                    </m:r>
                    <m:r>
                      <a:rPr lang="en-US" i="1">
                        <a:latin typeface="Cambria Math"/>
                      </a:rPr>
                      <m:t>𝑉</m:t>
                    </m:r>
                    <m:r>
                      <a:rPr lang="en-US" i="1">
                        <a:latin typeface="Cambria Math"/>
                      </a:rPr>
                      <m:t>,</m:t>
                    </m:r>
                    <m:r>
                      <a:rPr lang="en-US" i="1">
                        <a:latin typeface="Cambria Math"/>
                      </a:rPr>
                      <m:t>𝐸</m:t>
                    </m:r>
                    <m:r>
                      <a:rPr lang="en-US" i="1">
                        <a:latin typeface="Cambria Math"/>
                      </a:rPr>
                      <m:t>)</m:t>
                    </m:r>
                  </m:oMath>
                </a14:m>
                <a:r>
                  <a:rPr lang="en-US" dirty="0"/>
                  <a:t> and a number </a:t>
                </a:r>
                <a14:m>
                  <m:oMath xmlns:m="http://schemas.openxmlformats.org/officeDocument/2006/math">
                    <m:r>
                      <a:rPr lang="en-US" i="1">
                        <a:latin typeface="Cambria Math"/>
                      </a:rPr>
                      <m:t>𝑘</m:t>
                    </m:r>
                  </m:oMath>
                </a14:m>
                <a:r>
                  <a:rPr lang="en-US" dirty="0"/>
                  <a:t>, determine whether there is an independent set </a:t>
                </a:r>
                <a14:m>
                  <m:oMath xmlns:m="http://schemas.openxmlformats.org/officeDocument/2006/math">
                    <m:r>
                      <a:rPr lang="en-US" b="0" i="1">
                        <a:latin typeface="Cambria Math"/>
                      </a:rPr>
                      <m:t>𝑆</m:t>
                    </m:r>
                  </m:oMath>
                </a14:m>
                <a:r>
                  <a:rPr lang="en-US" dirty="0"/>
                  <a:t> of size </a:t>
                </a:r>
                <a14:m>
                  <m:oMath xmlns:m="http://schemas.openxmlformats.org/officeDocument/2006/math">
                    <m:r>
                      <a:rPr lang="en-US" b="0" i="1">
                        <a:latin typeface="Cambria Math"/>
                      </a:rPr>
                      <m:t>𝑘</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7</a:t>
            </a:fld>
            <a:endParaRPr lang="en-US"/>
          </a:p>
        </p:txBody>
      </p:sp>
    </p:spTree>
    <p:extLst>
      <p:ext uri="{BB962C8B-B14F-4D97-AF65-F5344CB8AC3E}">
        <p14:creationId xmlns:p14="http://schemas.microsoft.com/office/powerpoint/2010/main" val="2573119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Vertex Cover / Generalized Baseball</a:t>
            </a:r>
          </a:p>
        </p:txBody>
      </p:sp>
      <p:grpSp>
        <p:nvGrpSpPr>
          <p:cNvPr id="53" name="Group 52" descr="A more general baseball graph. We have many bases connected together in arbitrary ways."/>
          <p:cNvGrpSpPr/>
          <p:nvPr/>
        </p:nvGrpSpPr>
        <p:grpSpPr>
          <a:xfrm>
            <a:off x="2181226" y="1481300"/>
            <a:ext cx="5514975" cy="4914248"/>
            <a:chOff x="657225" y="1481300"/>
            <a:chExt cx="5514975" cy="4914248"/>
          </a:xfrm>
        </p:grpSpPr>
        <p:cxnSp>
          <p:nvCxnSpPr>
            <p:cNvPr id="14" name="Straight Connector 13"/>
            <p:cNvCxnSpPr>
              <a:stCxn id="8" idx="1"/>
              <a:endCxn id="23"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2"/>
              <a:endCxn id="8"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23" idx="1"/>
              <a:endCxn id="10"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28" idx="2"/>
              <a:endCxn id="10"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8" idx="3"/>
              <a:endCxn id="29"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29" idx="3"/>
              <a:endCxn id="26"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29" idx="2"/>
              <a:endCxn id="27"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7" idx="3"/>
              <a:endCxn id="30"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26" idx="2"/>
              <a:endCxn id="30"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29" idx="3"/>
              <a:endCxn id="63"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26" idx="0"/>
              <a:endCxn id="63"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23" idx="0"/>
              <a:endCxn id="30"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23" idx="0"/>
              <a:endCxn id="26"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rot="10800000">
              <a:off x="2657024" y="5938347"/>
              <a:ext cx="530353" cy="457201"/>
              <a:chOff x="2133600" y="4191000"/>
              <a:chExt cx="1060704" cy="914400"/>
            </a:xfrm>
          </p:grpSpPr>
          <p:sp>
            <p:nvSpPr>
              <p:cNvPr id="7" name="Isosceles Triangle 6"/>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 name="Rectangle 7"/>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0" name="Rectangle 9"/>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4258735"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7239000" y="1292170"/>
            <a:ext cx="3429000" cy="646331"/>
          </a:xfrm>
          <a:prstGeom prst="rect">
            <a:avLst/>
          </a:prstGeom>
          <a:noFill/>
        </p:spPr>
        <p:txBody>
          <a:bodyPr wrap="square" rtlCol="0">
            <a:spAutoFit/>
          </a:bodyPr>
          <a:lstStyle/>
          <a:p>
            <a:r>
              <a:rPr lang="en-US" dirty="0"/>
              <a:t>Need to place defenders on bases such that every edge is defended</a:t>
            </a:r>
          </a:p>
        </p:txBody>
      </p:sp>
      <p:sp>
        <p:nvSpPr>
          <p:cNvPr id="90" name="TextBox 89"/>
          <p:cNvSpPr txBox="1"/>
          <p:nvPr/>
        </p:nvSpPr>
        <p:spPr>
          <a:xfrm>
            <a:off x="7430814" y="2075957"/>
            <a:ext cx="3922986" cy="369332"/>
          </a:xfrm>
          <a:prstGeom prst="rect">
            <a:avLst/>
          </a:prstGeom>
          <a:noFill/>
        </p:spPr>
        <p:txBody>
          <a:bodyPr wrap="square" rtlCol="0">
            <a:spAutoFit/>
          </a:bodyPr>
          <a:lstStyle/>
          <a:p>
            <a:r>
              <a:rPr lang="en-US" dirty="0"/>
              <a:t>How many defenders would suffice?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C22992B-2BCC-4E37-9294-F5518BC83271}"/>
                  </a:ext>
                </a:extLst>
              </p14:cNvPr>
              <p14:cNvContentPartPr/>
              <p14:nvPr/>
            </p14:nvContentPartPr>
            <p14:xfrm>
              <a:off x="1905120" y="1855440"/>
              <a:ext cx="6185520" cy="1656720"/>
            </p14:xfrm>
          </p:contentPart>
        </mc:Choice>
        <mc:Fallback>
          <p:pic>
            <p:nvPicPr>
              <p:cNvPr id="3" name="Ink 2">
                <a:extLst>
                  <a:ext uri="{FF2B5EF4-FFF2-40B4-BE49-F238E27FC236}">
                    <a16:creationId xmlns:a16="http://schemas.microsoft.com/office/drawing/2014/main" id="{2C22992B-2BCC-4E37-9294-F5518BC83271}"/>
                  </a:ext>
                </a:extLst>
              </p:cNvPr>
              <p:cNvPicPr/>
              <p:nvPr/>
            </p:nvPicPr>
            <p:blipFill>
              <a:blip r:embed="rId3"/>
              <a:stretch>
                <a:fillRect/>
              </a:stretch>
            </p:blipFill>
            <p:spPr>
              <a:xfrm>
                <a:off x="1895760" y="1846080"/>
                <a:ext cx="6204240" cy="1675440"/>
              </a:xfrm>
              <a:prstGeom prst="rect">
                <a:avLst/>
              </a:prstGeom>
            </p:spPr>
          </p:pic>
        </mc:Fallback>
      </mc:AlternateContent>
    </p:spTree>
    <p:extLst>
      <p:ext uri="{BB962C8B-B14F-4D97-AF65-F5344CB8AC3E}">
        <p14:creationId xmlns:p14="http://schemas.microsoft.com/office/powerpoint/2010/main" val="358277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Vertex Cover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Vertex Cover: </a:t>
                </a:r>
              </a:p>
              <a:p>
                <a:pPr lvl="1"/>
                <a14:m>
                  <m:oMath xmlns:m="http://schemas.openxmlformats.org/officeDocument/2006/math">
                    <m:r>
                      <a:rPr lang="en-US" b="0" i="1" smtClean="0">
                        <a:latin typeface="Cambria Math"/>
                      </a:rPr>
                      <m:t>𝐶</m:t>
                    </m:r>
                    <m:r>
                      <a:rPr lang="en-US" b="0" i="1" smtClean="0">
                        <a:latin typeface="Cambria Math"/>
                      </a:rPr>
                      <m:t>⊆</m:t>
                    </m:r>
                    <m:r>
                      <a:rPr lang="en-US" b="0" i="1" smtClean="0">
                        <a:latin typeface="Cambria Math"/>
                      </a:rPr>
                      <m:t>𝑉</m:t>
                    </m:r>
                  </m:oMath>
                </a14:m>
                <a:r>
                  <a:rPr lang="en-US" dirty="0"/>
                  <a:t> is a vertex cover if every edge in </a:t>
                </a:r>
                <a14:m>
                  <m:oMath xmlns:m="http://schemas.openxmlformats.org/officeDocument/2006/math">
                    <m:r>
                      <a:rPr lang="en-US" b="0" i="1" smtClean="0">
                        <a:latin typeface="Cambria Math"/>
                      </a:rPr>
                      <m:t>𝐸</m:t>
                    </m:r>
                  </m:oMath>
                </a14:m>
                <a:r>
                  <a:rPr lang="en-US" dirty="0"/>
                  <a:t> has one of its endpoints in </a:t>
                </a:r>
                <a14:m>
                  <m:oMath xmlns:m="http://schemas.openxmlformats.org/officeDocument/2006/math">
                    <m:r>
                      <a:rPr lang="en-US" b="0" i="1" smtClean="0">
                        <a:latin typeface="Cambria Math"/>
                      </a:rPr>
                      <m:t>𝐶</m:t>
                    </m:r>
                  </m:oMath>
                </a14:m>
                <a:endParaRPr lang="en-US" dirty="0"/>
              </a:p>
              <a:p>
                <a:r>
                  <a:rPr lang="en-US" dirty="0"/>
                  <a:t>Vertex Cover Problem: </a:t>
                </a:r>
              </a:p>
              <a:p>
                <a:pPr lvl="1"/>
                <a:r>
                  <a:rPr lang="en-US" dirty="0"/>
                  <a:t>Given a graph </a:t>
                </a:r>
                <a14:m>
                  <m:oMath xmlns:m="http://schemas.openxmlformats.org/officeDocument/2006/math">
                    <m:r>
                      <a:rPr lang="en-US" b="0" i="1" smtClean="0">
                        <a:latin typeface="Cambria Math"/>
                      </a:rPr>
                      <m:t>𝐺</m:t>
                    </m:r>
                    <m:r>
                      <a:rPr lang="en-US" b="0" i="1" smtClean="0">
                        <a:latin typeface="Cambria Math"/>
                      </a:rPr>
                      <m:t>=(</m:t>
                    </m:r>
                    <m:r>
                      <a:rPr lang="en-US" b="0" i="1" smtClean="0">
                        <a:latin typeface="Cambria Math"/>
                      </a:rPr>
                      <m:t>𝑉</m:t>
                    </m:r>
                    <m:r>
                      <a:rPr lang="en-US" b="0" i="1" smtClean="0">
                        <a:latin typeface="Cambria Math"/>
                      </a:rPr>
                      <m:t>,</m:t>
                    </m:r>
                    <m:r>
                      <a:rPr lang="en-US" b="0" i="1" smtClean="0">
                        <a:latin typeface="Cambria Math"/>
                      </a:rPr>
                      <m:t>𝐸</m:t>
                    </m:r>
                    <m:r>
                      <a:rPr lang="en-US" b="0" i="1" smtClean="0">
                        <a:latin typeface="Cambria Math"/>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r>
                  <a:rPr lang="en-US" dirty="0"/>
                  <a:t>, determine if there is a vertex cover </a:t>
                </a:r>
                <a14:m>
                  <m:oMath xmlns:m="http://schemas.openxmlformats.org/officeDocument/2006/math">
                    <m:r>
                      <a:rPr lang="en-US" b="0" i="1" smtClean="0">
                        <a:latin typeface="Cambria Math"/>
                      </a:rPr>
                      <m:t>𝐶</m:t>
                    </m:r>
                  </m:oMath>
                </a14:m>
                <a:r>
                  <a:rPr lang="en-US" dirty="0"/>
                  <a:t> of size </a:t>
                </a:r>
                <a14:m>
                  <m:oMath xmlns:m="http://schemas.openxmlformats.org/officeDocument/2006/math">
                    <m:r>
                      <a:rPr lang="en-US" b="0" i="1" smtClean="0">
                        <a:latin typeface="Cambria Math" panose="02040503050406030204" pitchFamily="18" charset="0"/>
                      </a:rPr>
                      <m:t>𝑘</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9</a:t>
            </a:fld>
            <a:endParaRPr lang="en-US"/>
          </a:p>
        </p:txBody>
      </p:sp>
    </p:spTree>
    <p:extLst>
      <p:ext uri="{BB962C8B-B14F-4D97-AF65-F5344CB8AC3E}">
        <p14:creationId xmlns:p14="http://schemas.microsoft.com/office/powerpoint/2010/main" val="2106859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Transforming an IS into a VC</a:t>
            </a:r>
          </a:p>
        </p:txBody>
      </p:sp>
      <mc:AlternateContent xmlns:mc="http://schemas.openxmlformats.org/markup-compatibility/2006" xmlns:a14="http://schemas.microsoft.com/office/drawing/2010/main">
        <mc:Choice Requires="a14">
          <p:sp>
            <p:nvSpPr>
              <p:cNvPr id="70" name="Content Placeholder 2"/>
              <p:cNvSpPr>
                <a:spLocks noGrp="1"/>
              </p:cNvSpPr>
              <p:nvPr>
                <p:ph idx="1"/>
              </p:nvPr>
            </p:nvSpPr>
            <p:spPr>
              <a:xfrm>
                <a:off x="1524000" y="1580483"/>
                <a:ext cx="9144000" cy="609600"/>
              </a:xfrm>
            </p:spPr>
            <p:txBody>
              <a:bodyPr>
                <a:noAutofit/>
              </a:bodyPr>
              <a:lstStyle/>
              <a:p>
                <a:pPr marL="0" indent="0">
                  <a:buNone/>
                </a:pPr>
                <a14:m>
                  <m:oMath xmlns:m="http://schemas.openxmlformats.org/officeDocument/2006/math">
                    <m:r>
                      <a:rPr lang="en-US" sz="2900" i="1">
                        <a:latin typeface="Cambria Math"/>
                      </a:rPr>
                      <m:t>𝑆</m:t>
                    </m:r>
                  </m:oMath>
                </a14:m>
                <a:r>
                  <a:rPr lang="en-US" sz="2900" dirty="0"/>
                  <a:t> is an independent set of </a:t>
                </a:r>
                <a14:m>
                  <m:oMath xmlns:m="http://schemas.openxmlformats.org/officeDocument/2006/math">
                    <m:r>
                      <a:rPr lang="en-US" sz="2900" i="1">
                        <a:latin typeface="Cambria Math"/>
                      </a:rPr>
                      <m:t>𝐺</m:t>
                    </m:r>
                  </m:oMath>
                </a14:m>
                <a:r>
                  <a:rPr lang="en-US" sz="2900" dirty="0"/>
                  <a:t> </a:t>
                </a:r>
                <a:r>
                  <a:rPr lang="en-US" sz="2900" dirty="0" err="1"/>
                  <a:t>iff</a:t>
                </a:r>
                <a:r>
                  <a:rPr lang="en-US" sz="2900" dirty="0"/>
                  <a:t> </a:t>
                </a:r>
                <a14:m>
                  <m:oMath xmlns:m="http://schemas.openxmlformats.org/officeDocument/2006/math">
                    <m:r>
                      <a:rPr lang="en-US" sz="2900" i="1">
                        <a:latin typeface="Cambria Math"/>
                      </a:rPr>
                      <m:t>𝑉</m:t>
                    </m:r>
                    <m:r>
                      <a:rPr lang="en-US" sz="2900" i="1">
                        <a:latin typeface="Cambria Math"/>
                      </a:rPr>
                      <m:t>−</m:t>
                    </m:r>
                    <m:r>
                      <a:rPr lang="en-US" sz="2900" i="1">
                        <a:latin typeface="Cambria Math"/>
                      </a:rPr>
                      <m:t>𝑆</m:t>
                    </m:r>
                  </m:oMath>
                </a14:m>
                <a:r>
                  <a:rPr lang="en-US" sz="2900" dirty="0"/>
                  <a:t> is a vertex cover of </a:t>
                </a:r>
                <a14:m>
                  <m:oMath xmlns:m="http://schemas.openxmlformats.org/officeDocument/2006/math">
                    <m:r>
                      <a:rPr lang="en-US" sz="2900" i="1">
                        <a:latin typeface="Cambria Math"/>
                      </a:rPr>
                      <m:t>𝐺</m:t>
                    </m:r>
                  </m:oMath>
                </a14:m>
                <a:endParaRPr lang="en-US" sz="2900" dirty="0"/>
              </a:p>
            </p:txBody>
          </p:sp>
        </mc:Choice>
        <mc:Fallback xmlns="">
          <p:sp>
            <p:nvSpPr>
              <p:cNvPr id="70" name="Content Placeholder 2"/>
              <p:cNvSpPr>
                <a:spLocks noGrp="1" noRot="1" noChangeAspect="1" noMove="1" noResize="1" noEditPoints="1" noAdjustHandles="1" noChangeArrowheads="1" noChangeShapeType="1" noTextEdit="1"/>
              </p:cNvSpPr>
              <p:nvPr>
                <p:ph idx="1"/>
              </p:nvPr>
            </p:nvSpPr>
            <p:spPr>
              <a:xfrm>
                <a:off x="1524000" y="1580483"/>
                <a:ext cx="9144000" cy="609600"/>
              </a:xfrm>
              <a:blipFill>
                <a:blip r:embed="rId2"/>
                <a:stretch>
                  <a:fillRect t="-18000" b="-9000"/>
                </a:stretch>
              </a:blipFill>
            </p:spPr>
            <p:txBody>
              <a:bodyPr/>
              <a:lstStyle/>
              <a:p>
                <a:r>
                  <a:rPr lang="en-US">
                    <a:noFill/>
                  </a:rPr>
                  <a:t> </a:t>
                </a:r>
              </a:p>
            </p:txBody>
          </p:sp>
        </mc:Fallback>
      </mc:AlternateContent>
      <p:grpSp>
        <p:nvGrpSpPr>
          <p:cNvPr id="3" name="Group 2" descr="Consider an independent set">
            <a:extLst>
              <a:ext uri="{FF2B5EF4-FFF2-40B4-BE49-F238E27FC236}">
                <a16:creationId xmlns:a16="http://schemas.microsoft.com/office/drawing/2014/main" id="{BCDE5919-D49A-C864-2DAE-CE0FB603A420}"/>
              </a:ext>
            </a:extLst>
          </p:cNvPr>
          <p:cNvGrpSpPr/>
          <p:nvPr/>
        </p:nvGrpSpPr>
        <p:grpSpPr>
          <a:xfrm>
            <a:off x="1099871" y="2769693"/>
            <a:ext cx="4342564" cy="3289413"/>
            <a:chOff x="1099871" y="2769693"/>
            <a:chExt cx="4342564" cy="3289413"/>
          </a:xfrm>
        </p:grpSpPr>
        <p:sp>
          <p:nvSpPr>
            <p:cNvPr id="68" name="TextBox 67"/>
            <p:cNvSpPr txBox="1"/>
            <p:nvPr/>
          </p:nvSpPr>
          <p:spPr>
            <a:xfrm>
              <a:off x="2130771" y="2769693"/>
              <a:ext cx="1744260" cy="369332"/>
            </a:xfrm>
            <a:prstGeom prst="rect">
              <a:avLst/>
            </a:prstGeom>
            <a:noFill/>
          </p:spPr>
          <p:txBody>
            <a:bodyPr wrap="none" rtlCol="0">
              <a:spAutoFit/>
            </a:bodyPr>
            <a:lstStyle/>
            <a:p>
              <a:r>
                <a:rPr lang="en-US" dirty="0"/>
                <a:t>Independent Set</a:t>
              </a:r>
            </a:p>
          </p:txBody>
        </p:sp>
        <p:grpSp>
          <p:nvGrpSpPr>
            <p:cNvPr id="6" name="Group 5">
              <a:extLst>
                <a:ext uri="{FF2B5EF4-FFF2-40B4-BE49-F238E27FC236}">
                  <a16:creationId xmlns:a16="http://schemas.microsoft.com/office/drawing/2014/main" id="{A42B52AD-68C2-E41F-0CE5-8299DA5ED942}"/>
                </a:ext>
              </a:extLst>
            </p:cNvPr>
            <p:cNvGrpSpPr/>
            <p:nvPr/>
          </p:nvGrpSpPr>
          <p:grpSpPr>
            <a:xfrm>
              <a:off x="1099871" y="2906046"/>
              <a:ext cx="4342564" cy="3153060"/>
              <a:chOff x="1650264" y="617538"/>
              <a:chExt cx="8281702" cy="6013200"/>
            </a:xfrm>
          </p:grpSpPr>
          <p:sp>
            <p:nvSpPr>
              <p:cNvPr id="7" name="AutoShape 30" descr="Image result for Aaron Bloomfield">
                <a:extLst>
                  <a:ext uri="{FF2B5EF4-FFF2-40B4-BE49-F238E27FC236}">
                    <a16:creationId xmlns:a16="http://schemas.microsoft.com/office/drawing/2014/main" id="{C5543DD9-6B9E-E2E5-D870-E800E7EDB505}"/>
                  </a:ext>
                </a:extLst>
              </p:cNvPr>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8" name="Group 7">
                <a:extLst>
                  <a:ext uri="{FF2B5EF4-FFF2-40B4-BE49-F238E27FC236}">
                    <a16:creationId xmlns:a16="http://schemas.microsoft.com/office/drawing/2014/main" id="{1C0C1BE0-6752-B7FA-045B-C6D026D83C27}"/>
                  </a:ext>
                </a:extLst>
              </p:cNvPr>
              <p:cNvGrpSpPr/>
              <p:nvPr/>
            </p:nvGrpSpPr>
            <p:grpSpPr>
              <a:xfrm>
                <a:off x="1650264" y="1218142"/>
                <a:ext cx="8281702" cy="4725458"/>
                <a:chOff x="1650264" y="1218142"/>
                <a:chExt cx="8281702" cy="4725458"/>
              </a:xfrm>
            </p:grpSpPr>
            <p:sp>
              <p:nvSpPr>
                <p:cNvPr id="93" name="Oval 92">
                  <a:extLst>
                    <a:ext uri="{FF2B5EF4-FFF2-40B4-BE49-F238E27FC236}">
                      <a16:creationId xmlns:a16="http://schemas.microsoft.com/office/drawing/2014/main" id="{1AD892A0-1E87-9FDA-BB48-F676C03BDAA0}"/>
                    </a:ext>
                  </a:extLst>
                </p:cNvPr>
                <p:cNvSpPr/>
                <p:nvPr/>
              </p:nvSpPr>
              <p:spPr>
                <a:xfrm>
                  <a:off x="1650264" y="1218142"/>
                  <a:ext cx="1193396" cy="10851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451BE010-FDE8-0CB4-812A-815C2FD4E7CE}"/>
                    </a:ext>
                  </a:extLst>
                </p:cNvPr>
                <p:cNvSpPr/>
                <p:nvPr/>
              </p:nvSpPr>
              <p:spPr>
                <a:xfrm>
                  <a:off x="1930334" y="238955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A9DA938-2FFE-7805-9612-93F370F8068D}"/>
                    </a:ext>
                  </a:extLst>
                </p:cNvPr>
                <p:cNvSpPr/>
                <p:nvPr/>
              </p:nvSpPr>
              <p:spPr>
                <a:xfrm>
                  <a:off x="3658898" y="308942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A8DE12D-D05E-C221-4AF5-EA83FC29375B}"/>
                    </a:ext>
                  </a:extLst>
                </p:cNvPr>
                <p:cNvSpPr/>
                <p:nvPr/>
              </p:nvSpPr>
              <p:spPr>
                <a:xfrm>
                  <a:off x="4495800" y="4605706"/>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B9A205B8-E7AB-154E-52A7-06CBDDF60B9D}"/>
                    </a:ext>
                  </a:extLst>
                </p:cNvPr>
                <p:cNvSpPr/>
                <p:nvPr/>
              </p:nvSpPr>
              <p:spPr>
                <a:xfrm>
                  <a:off x="8660959" y="3575103"/>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B2176A2C-77C3-CEF5-932A-BEBCBBDBD5D4}"/>
                    </a:ext>
                  </a:extLst>
                </p:cNvPr>
                <p:cNvSpPr/>
                <p:nvPr/>
              </p:nvSpPr>
              <p:spPr>
                <a:xfrm>
                  <a:off x="2593975" y="3638669"/>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3347816A-4C81-5F58-1690-898778670A70}"/>
                  </a:ext>
                </a:extLst>
              </p:cNvPr>
              <p:cNvGrpSpPr/>
              <p:nvPr/>
            </p:nvGrpSpPr>
            <p:grpSpPr>
              <a:xfrm>
                <a:off x="1822926" y="1377631"/>
                <a:ext cx="7796089" cy="5253107"/>
                <a:chOff x="1822926" y="1377631"/>
                <a:chExt cx="7796089" cy="5253107"/>
              </a:xfrm>
            </p:grpSpPr>
            <p:pic>
              <p:nvPicPr>
                <p:cNvPr id="15" name="Picture 2" descr="Image result for Prince Harry">
                  <a:extLst>
                    <a:ext uri="{FF2B5EF4-FFF2-40B4-BE49-F238E27FC236}">
                      <a16:creationId xmlns:a16="http://schemas.microsoft.com/office/drawing/2014/main" id="{881C7F31-F39B-F825-3571-BC133A3F4C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Image result for meghan markle">
                  <a:extLst>
                    <a:ext uri="{FF2B5EF4-FFF2-40B4-BE49-F238E27FC236}">
                      <a16:creationId xmlns:a16="http://schemas.microsoft.com/office/drawing/2014/main" id="{40CA53AC-3357-BF95-B956-02311961D9C3}"/>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6" descr="Image result for Prince Charles">
                  <a:extLst>
                    <a:ext uri="{FF2B5EF4-FFF2-40B4-BE49-F238E27FC236}">
                      <a16:creationId xmlns:a16="http://schemas.microsoft.com/office/drawing/2014/main" id="{14EEB96F-8510-611F-58A4-9FE6F8CF6AF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18" descr="Image result for justin trudeau">
                  <a:extLst>
                    <a:ext uri="{FF2B5EF4-FFF2-40B4-BE49-F238E27FC236}">
                      <a16:creationId xmlns:a16="http://schemas.microsoft.com/office/drawing/2014/main" id="{411354CB-79B6-8CB4-5EBB-378ED1CE823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0" descr="Image result for Elton John">
                  <a:extLst>
                    <a:ext uri="{FF2B5EF4-FFF2-40B4-BE49-F238E27FC236}">
                      <a16:creationId xmlns:a16="http://schemas.microsoft.com/office/drawing/2014/main" id="{206BECB5-B6A3-F3BA-5D3C-CC2B5C40FE70}"/>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34" descr="Image result for angela merkel">
                  <a:extLst>
                    <a:ext uri="{FF2B5EF4-FFF2-40B4-BE49-F238E27FC236}">
                      <a16:creationId xmlns:a16="http://schemas.microsoft.com/office/drawing/2014/main" id="{E5061DD0-0474-AFD7-F2FB-940EA107C883}"/>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36" descr="Image result for paul mccartney">
                  <a:extLst>
                    <a:ext uri="{FF2B5EF4-FFF2-40B4-BE49-F238E27FC236}">
                      <a16:creationId xmlns:a16="http://schemas.microsoft.com/office/drawing/2014/main" id="{C7558E52-426A-E74F-5EE8-EE40E948D7B0}"/>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78" name="Straight Connector 77">
                  <a:extLst>
                    <a:ext uri="{FF2B5EF4-FFF2-40B4-BE49-F238E27FC236}">
                      <a16:creationId xmlns:a16="http://schemas.microsoft.com/office/drawing/2014/main" id="{CE4639A0-99DC-9503-4FD3-4AC1D8BDB346}"/>
                    </a:ext>
                  </a:extLst>
                </p:cNvPr>
                <p:cNvCxnSpPr>
                  <a:stCxn id="44"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FD8247D-DA81-6335-4106-24FED5C9D968}"/>
                    </a:ext>
                  </a:extLst>
                </p:cNvPr>
                <p:cNvCxnSpPr>
                  <a:stCxn id="15" idx="3"/>
                  <a:endCxn id="77"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4FFC2B7-E5A7-CB0B-6E96-EE34EDB824BC}"/>
                    </a:ext>
                  </a:extLst>
                </p:cNvPr>
                <p:cNvCxnSpPr>
                  <a:stCxn id="73" idx="1"/>
                  <a:endCxn id="77"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B2E0F8CF-1675-633A-2ABC-1014DE46EBBD}"/>
                    </a:ext>
                  </a:extLst>
                </p:cNvPr>
                <p:cNvCxnSpPr>
                  <a:stCxn id="73"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DCF8906-21F0-6C3A-BB41-4CDA0AAE7216}"/>
                    </a:ext>
                  </a:extLst>
                </p:cNvPr>
                <p:cNvCxnSpPr>
                  <a:stCxn id="73" idx="1"/>
                  <a:endCxn id="75"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81AB2E3-5341-70D1-1AB6-35746D0D6181}"/>
                    </a:ext>
                  </a:extLst>
                </p:cNvPr>
                <p:cNvCxnSpPr>
                  <a:stCxn id="73" idx="1"/>
                  <a:endCxn id="74"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54DF98B-0CD1-E81C-2789-ACB6BC13DBD8}"/>
                    </a:ext>
                  </a:extLst>
                </p:cNvPr>
                <p:cNvCxnSpPr>
                  <a:stCxn id="74" idx="1"/>
                </p:cNvCxnSpPr>
                <p:nvPr/>
              </p:nvCxnSpPr>
              <p:spPr>
                <a:xfrm flipH="1" flipV="1">
                  <a:off x="2565838" y="5714723"/>
                  <a:ext cx="5437606" cy="49128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D43BD84-F65D-53BE-E645-671438C90F5A}"/>
                    </a:ext>
                  </a:extLst>
                </p:cNvPr>
                <p:cNvCxnSpPr>
                  <a:stCxn id="75" idx="1"/>
                  <a:endCxn id="76"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F8EBFB0-7B69-1B9D-FF7E-D2F53282EEA3}"/>
                    </a:ext>
                  </a:extLst>
                </p:cNvPr>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87" name="Picture 2" descr="Joe Biden - CNBC">
                  <a:extLst>
                    <a:ext uri="{FF2B5EF4-FFF2-40B4-BE49-F238E27FC236}">
                      <a16:creationId xmlns:a16="http://schemas.microsoft.com/office/drawing/2014/main" id="{A7AB5D2B-E376-B2EA-671D-4C0CA17A22C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Emmanuel Macron - Wikipedia">
                  <a:extLst>
                    <a:ext uri="{FF2B5EF4-FFF2-40B4-BE49-F238E27FC236}">
                      <a16:creationId xmlns:a16="http://schemas.microsoft.com/office/drawing/2014/main" id="{61469563-8473-2F5A-5E45-22DD27A9E360}"/>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6" descr="Taylor Swift set to make her feature directorial debut | CNN">
                  <a:extLst>
                    <a:ext uri="{FF2B5EF4-FFF2-40B4-BE49-F238E27FC236}">
                      <a16:creationId xmlns:a16="http://schemas.microsoft.com/office/drawing/2014/main" id="{5841C183-EF5D-0D27-339B-65B5951BD4A1}"/>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90" name="Straight Connector 89">
                  <a:extLst>
                    <a:ext uri="{FF2B5EF4-FFF2-40B4-BE49-F238E27FC236}">
                      <a16:creationId xmlns:a16="http://schemas.microsoft.com/office/drawing/2014/main" id="{BE663900-92CD-1A52-020B-BF0525AF3FB8}"/>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91" name="Picture 8" descr="Ed Sheeran">
                  <a:extLst>
                    <a:ext uri="{FF2B5EF4-FFF2-40B4-BE49-F238E27FC236}">
                      <a16:creationId xmlns:a16="http://schemas.microsoft.com/office/drawing/2014/main" id="{6487516E-48D6-8883-33CE-2094B7E3B5E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10" descr="Pharrell Williams - Age, Wife &amp; &quot;Happy&quot;">
                  <a:extLst>
                    <a:ext uri="{FF2B5EF4-FFF2-40B4-BE49-F238E27FC236}">
                      <a16:creationId xmlns:a16="http://schemas.microsoft.com/office/drawing/2014/main" id="{AC0A8FE5-06B6-4700-A2C2-AB3F060D919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grpSp>
      </p:grpSp>
      <p:grpSp>
        <p:nvGrpSpPr>
          <p:cNvPr id="10" name="Group 9" descr="The complement of that independent set (the set of all unselected nodes) is a vertex cover.">
            <a:extLst>
              <a:ext uri="{FF2B5EF4-FFF2-40B4-BE49-F238E27FC236}">
                <a16:creationId xmlns:a16="http://schemas.microsoft.com/office/drawing/2014/main" id="{0BC57B8C-F353-47C7-E4DD-8E49BD313731}"/>
              </a:ext>
            </a:extLst>
          </p:cNvPr>
          <p:cNvGrpSpPr/>
          <p:nvPr/>
        </p:nvGrpSpPr>
        <p:grpSpPr>
          <a:xfrm>
            <a:off x="6286983" y="2922093"/>
            <a:ext cx="4216112" cy="3482465"/>
            <a:chOff x="6286983" y="2922093"/>
            <a:chExt cx="4216112" cy="3482465"/>
          </a:xfrm>
        </p:grpSpPr>
        <p:grpSp>
          <p:nvGrpSpPr>
            <p:cNvPr id="5" name="Group 4">
              <a:extLst>
                <a:ext uri="{FF2B5EF4-FFF2-40B4-BE49-F238E27FC236}">
                  <a16:creationId xmlns:a16="http://schemas.microsoft.com/office/drawing/2014/main" id="{2102160C-597D-4901-BA01-37E73A1E7D77}"/>
                </a:ext>
              </a:extLst>
            </p:cNvPr>
            <p:cNvGrpSpPr/>
            <p:nvPr/>
          </p:nvGrpSpPr>
          <p:grpSpPr>
            <a:xfrm>
              <a:off x="6286983" y="2922093"/>
              <a:ext cx="4216112" cy="3354671"/>
              <a:chOff x="6286983" y="2922093"/>
              <a:chExt cx="4216112" cy="3354671"/>
            </a:xfrm>
          </p:grpSpPr>
          <p:sp>
            <p:nvSpPr>
              <p:cNvPr id="69" name="TextBox 68"/>
              <p:cNvSpPr txBox="1"/>
              <p:nvPr/>
            </p:nvSpPr>
            <p:spPr>
              <a:xfrm>
                <a:off x="7183471" y="2922093"/>
                <a:ext cx="1380634" cy="369332"/>
              </a:xfrm>
              <a:prstGeom prst="rect">
                <a:avLst/>
              </a:prstGeom>
              <a:noFill/>
            </p:spPr>
            <p:txBody>
              <a:bodyPr wrap="none" rtlCol="0">
                <a:spAutoFit/>
              </a:bodyPr>
              <a:lstStyle/>
              <a:p>
                <a:r>
                  <a:rPr lang="en-US" dirty="0"/>
                  <a:t>Vertex Cover</a:t>
                </a:r>
              </a:p>
            </p:txBody>
          </p:sp>
          <p:grpSp>
            <p:nvGrpSpPr>
              <p:cNvPr id="99" name="Group 98">
                <a:extLst>
                  <a:ext uri="{FF2B5EF4-FFF2-40B4-BE49-F238E27FC236}">
                    <a16:creationId xmlns:a16="http://schemas.microsoft.com/office/drawing/2014/main" id="{182D98A0-3D23-6F5D-22BA-4B115BE23B1F}"/>
                  </a:ext>
                </a:extLst>
              </p:cNvPr>
              <p:cNvGrpSpPr/>
              <p:nvPr/>
            </p:nvGrpSpPr>
            <p:grpSpPr>
              <a:xfrm>
                <a:off x="6286983" y="3123704"/>
                <a:ext cx="4216112" cy="3153060"/>
                <a:chOff x="1578468" y="617538"/>
                <a:chExt cx="8040547" cy="6013200"/>
              </a:xfrm>
            </p:grpSpPr>
            <p:sp>
              <p:nvSpPr>
                <p:cNvPr id="100" name="AutoShape 30" descr="Image result for Aaron Bloomfield">
                  <a:extLst>
                    <a:ext uri="{FF2B5EF4-FFF2-40B4-BE49-F238E27FC236}">
                      <a16:creationId xmlns:a16="http://schemas.microsoft.com/office/drawing/2014/main" id="{F09A3823-DFF2-62AD-30B1-486CC90F210C}"/>
                    </a:ext>
                  </a:extLst>
                </p:cNvPr>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3F6A45F4-1CD4-6AFE-F8E4-79159D2A5078}"/>
                    </a:ext>
                  </a:extLst>
                </p:cNvPr>
                <p:cNvGrpSpPr/>
                <p:nvPr/>
              </p:nvGrpSpPr>
              <p:grpSpPr>
                <a:xfrm>
                  <a:off x="1578468" y="1353774"/>
                  <a:ext cx="7153677" cy="5007580"/>
                  <a:chOff x="1578468" y="1353774"/>
                  <a:chExt cx="7153677" cy="5007580"/>
                </a:xfrm>
              </p:grpSpPr>
              <p:sp>
                <p:nvSpPr>
                  <p:cNvPr id="125" name="Oval 124">
                    <a:extLst>
                      <a:ext uri="{FF2B5EF4-FFF2-40B4-BE49-F238E27FC236}">
                        <a16:creationId xmlns:a16="http://schemas.microsoft.com/office/drawing/2014/main" id="{015710C6-CD58-728D-EF2D-157091A2DE7D}"/>
                      </a:ext>
                    </a:extLst>
                  </p:cNvPr>
                  <p:cNvSpPr/>
                  <p:nvPr/>
                </p:nvSpPr>
                <p:spPr>
                  <a:xfrm>
                    <a:off x="2909710" y="1353774"/>
                    <a:ext cx="1193396" cy="10851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7C959032-6BDC-4B2C-9EEE-262B6883E76E}"/>
                      </a:ext>
                    </a:extLst>
                  </p:cNvPr>
                  <p:cNvSpPr/>
                  <p:nvPr/>
                </p:nvSpPr>
                <p:spPr>
                  <a:xfrm>
                    <a:off x="1578468" y="5023461"/>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2AC7C72E-8AF3-7F28-A398-C485B2305412}"/>
                      </a:ext>
                    </a:extLst>
                  </p:cNvPr>
                  <p:cNvSpPr/>
                  <p:nvPr/>
                </p:nvSpPr>
                <p:spPr>
                  <a:xfrm>
                    <a:off x="5615301" y="3533718"/>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5C741BC5-1C3A-1828-49DC-4508F69A98C0}"/>
                      </a:ext>
                    </a:extLst>
                  </p:cNvPr>
                  <p:cNvSpPr/>
                  <p:nvPr/>
                </p:nvSpPr>
                <p:spPr>
                  <a:xfrm>
                    <a:off x="7461137" y="2378613"/>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62560867-C322-594C-4365-5042EC8BBD04}"/>
                      </a:ext>
                    </a:extLst>
                  </p:cNvPr>
                  <p:cNvSpPr/>
                  <p:nvPr/>
                </p:nvSpPr>
                <p:spPr>
                  <a:xfrm>
                    <a:off x="6755398" y="4411534"/>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4575472B-4B43-4333-6238-FCEBA04DD50E}"/>
                    </a:ext>
                  </a:extLst>
                </p:cNvPr>
                <p:cNvGrpSpPr/>
                <p:nvPr/>
              </p:nvGrpSpPr>
              <p:grpSpPr>
                <a:xfrm>
                  <a:off x="1822926" y="1377631"/>
                  <a:ext cx="7796089" cy="5253107"/>
                  <a:chOff x="1822926" y="1377631"/>
                  <a:chExt cx="7796089" cy="5253107"/>
                </a:xfrm>
              </p:grpSpPr>
              <p:pic>
                <p:nvPicPr>
                  <p:cNvPr id="103" name="Picture 2" descr="Image result for Prince Harry">
                    <a:extLst>
                      <a:ext uri="{FF2B5EF4-FFF2-40B4-BE49-F238E27FC236}">
                        <a16:creationId xmlns:a16="http://schemas.microsoft.com/office/drawing/2014/main" id="{087E9D34-AEA9-D00D-4025-F5C4E639F7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3"/>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4" descr="Image result for meghan markle">
                    <a:extLst>
                      <a:ext uri="{FF2B5EF4-FFF2-40B4-BE49-F238E27FC236}">
                        <a16:creationId xmlns:a16="http://schemas.microsoft.com/office/drawing/2014/main" id="{AE829FE8-3E6D-E98B-6C29-4E1D0963499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6" descr="Image result for Prince Charles">
                    <a:extLst>
                      <a:ext uri="{FF2B5EF4-FFF2-40B4-BE49-F238E27FC236}">
                        <a16:creationId xmlns:a16="http://schemas.microsoft.com/office/drawing/2014/main" id="{BD16CC4C-84B9-B31D-9D21-BCD0BF95BBE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18" descr="Image result for justin trudeau">
                    <a:extLst>
                      <a:ext uri="{FF2B5EF4-FFF2-40B4-BE49-F238E27FC236}">
                        <a16:creationId xmlns:a16="http://schemas.microsoft.com/office/drawing/2014/main" id="{042618E1-BC28-4D07-C094-BEB7AD12A95E}"/>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0" descr="Image result for Elton John">
                    <a:extLst>
                      <a:ext uri="{FF2B5EF4-FFF2-40B4-BE49-F238E27FC236}">
                        <a16:creationId xmlns:a16="http://schemas.microsoft.com/office/drawing/2014/main" id="{B2E217D2-04F9-A76D-7B71-5741FA155442}"/>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34" descr="Image result for angela merkel">
                    <a:extLst>
                      <a:ext uri="{FF2B5EF4-FFF2-40B4-BE49-F238E27FC236}">
                        <a16:creationId xmlns:a16="http://schemas.microsoft.com/office/drawing/2014/main" id="{D4139B12-D505-DA27-0281-6C5DEFAF9E83}"/>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36" descr="Image result for paul mccartney">
                    <a:extLst>
                      <a:ext uri="{FF2B5EF4-FFF2-40B4-BE49-F238E27FC236}">
                        <a16:creationId xmlns:a16="http://schemas.microsoft.com/office/drawing/2014/main" id="{BFB52D9D-F25C-CEDE-4477-E2FEB87BE433}"/>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110" name="Straight Connector 109">
                    <a:extLst>
                      <a:ext uri="{FF2B5EF4-FFF2-40B4-BE49-F238E27FC236}">
                        <a16:creationId xmlns:a16="http://schemas.microsoft.com/office/drawing/2014/main" id="{E85A3CA1-1481-6C2A-2457-0803C69AF57F}"/>
                      </a:ext>
                    </a:extLst>
                  </p:cNvPr>
                  <p:cNvCxnSpPr>
                    <a:stCxn id="104"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DF84ED2D-4D03-04CE-DA21-330988BB980F}"/>
                      </a:ext>
                    </a:extLst>
                  </p:cNvPr>
                  <p:cNvCxnSpPr>
                    <a:stCxn id="103" idx="3"/>
                    <a:endCxn id="109"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C1E35291-882C-79C0-026F-9B58CA6A2E3E}"/>
                      </a:ext>
                    </a:extLst>
                  </p:cNvPr>
                  <p:cNvCxnSpPr>
                    <a:stCxn id="105" idx="1"/>
                    <a:endCxn id="109"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A03C0C4-5D34-A9B0-095F-64DA99D3A4F6}"/>
                      </a:ext>
                    </a:extLst>
                  </p:cNvPr>
                  <p:cNvCxnSpPr>
                    <a:stCxn id="105"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B5FE8A7B-3307-E734-D86B-FC873F04B11B}"/>
                      </a:ext>
                    </a:extLst>
                  </p:cNvPr>
                  <p:cNvCxnSpPr>
                    <a:stCxn id="105" idx="1"/>
                    <a:endCxn id="107"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7A7E4D3C-34B3-F229-D356-6C1C807875CD}"/>
                      </a:ext>
                    </a:extLst>
                  </p:cNvPr>
                  <p:cNvCxnSpPr>
                    <a:stCxn id="105" idx="1"/>
                    <a:endCxn id="106"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0A0A2B9-51AB-18D9-DD92-A1418A64A149}"/>
                      </a:ext>
                    </a:extLst>
                  </p:cNvPr>
                  <p:cNvCxnSpPr>
                    <a:cxnSpLocks/>
                    <a:stCxn id="106" idx="1"/>
                  </p:cNvCxnSpPr>
                  <p:nvPr/>
                </p:nvCxnSpPr>
                <p:spPr>
                  <a:xfrm flipH="1" flipV="1">
                    <a:off x="2565839" y="5714724"/>
                    <a:ext cx="5437605" cy="49128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021450FD-6352-36BD-FC59-87897AD3AA33}"/>
                      </a:ext>
                    </a:extLst>
                  </p:cNvPr>
                  <p:cNvCxnSpPr>
                    <a:stCxn id="107" idx="1"/>
                    <a:endCxn id="108"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2B56EF5-C2F7-778C-3B3C-60AE78B5950D}"/>
                      </a:ext>
                    </a:extLst>
                  </p:cNvPr>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19" name="Picture 2" descr="Joe Biden - CNBC">
                    <a:extLst>
                      <a:ext uri="{FF2B5EF4-FFF2-40B4-BE49-F238E27FC236}">
                        <a16:creationId xmlns:a16="http://schemas.microsoft.com/office/drawing/2014/main" id="{47D3832A-9480-B176-1EC3-391B957454E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4" descr="Emmanuel Macron - Wikipedia">
                    <a:extLst>
                      <a:ext uri="{FF2B5EF4-FFF2-40B4-BE49-F238E27FC236}">
                        <a16:creationId xmlns:a16="http://schemas.microsoft.com/office/drawing/2014/main" id="{A9B4AD52-A8F0-801F-0FFA-D2480794444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6" descr="Taylor Swift set to make her feature directorial debut | CNN">
                    <a:extLst>
                      <a:ext uri="{FF2B5EF4-FFF2-40B4-BE49-F238E27FC236}">
                        <a16:creationId xmlns:a16="http://schemas.microsoft.com/office/drawing/2014/main" id="{04B8BCF3-A237-E31B-546C-7E6C92709333}"/>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122" name="Straight Connector 121">
                    <a:extLst>
                      <a:ext uri="{FF2B5EF4-FFF2-40B4-BE49-F238E27FC236}">
                        <a16:creationId xmlns:a16="http://schemas.microsoft.com/office/drawing/2014/main" id="{53704EFA-0E19-8871-5806-10CC41B1956B}"/>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23" name="Picture 8" descr="Ed Sheeran">
                    <a:extLst>
                      <a:ext uri="{FF2B5EF4-FFF2-40B4-BE49-F238E27FC236}">
                        <a16:creationId xmlns:a16="http://schemas.microsoft.com/office/drawing/2014/main" id="{F1F00C0E-C346-23A9-05D0-C7816979EE1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124" name="Picture 10" descr="Pharrell Williams - Age, Wife &amp; &quot;Happy&quot;">
                    <a:extLst>
                      <a:ext uri="{FF2B5EF4-FFF2-40B4-BE49-F238E27FC236}">
                        <a16:creationId xmlns:a16="http://schemas.microsoft.com/office/drawing/2014/main" id="{AD1CEF02-FE9C-0B57-5515-44C15A2850D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grpSp>
        </p:grpSp>
        <p:sp>
          <p:nvSpPr>
            <p:cNvPr id="132" name="Oval 131">
              <a:extLst>
                <a:ext uri="{FF2B5EF4-FFF2-40B4-BE49-F238E27FC236}">
                  <a16:creationId xmlns:a16="http://schemas.microsoft.com/office/drawing/2014/main" id="{F19EA206-8683-9260-2696-DC9073D7AE8B}"/>
                </a:ext>
              </a:extLst>
            </p:cNvPr>
            <p:cNvSpPr/>
            <p:nvPr/>
          </p:nvSpPr>
          <p:spPr>
            <a:xfrm>
              <a:off x="9461582" y="5703025"/>
              <a:ext cx="666461" cy="7015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15">
            <p14:nvContentPartPr>
              <p14:cNvPr id="4" name="Ink 3">
                <a:extLst>
                  <a:ext uri="{FF2B5EF4-FFF2-40B4-BE49-F238E27FC236}">
                    <a16:creationId xmlns:a16="http://schemas.microsoft.com/office/drawing/2014/main" id="{7957D41E-4D22-5BF7-BABC-66158BA305CE}"/>
                  </a:ext>
                </a:extLst>
              </p14:cNvPr>
              <p14:cNvContentPartPr/>
              <p14:nvPr/>
            </p14:nvContentPartPr>
            <p14:xfrm>
              <a:off x="1994040" y="2697120"/>
              <a:ext cx="6194880" cy="747720"/>
            </p14:xfrm>
          </p:contentPart>
        </mc:Choice>
        <mc:Fallback>
          <p:pic>
            <p:nvPicPr>
              <p:cNvPr id="4" name="Ink 3">
                <a:extLst>
                  <a:ext uri="{FF2B5EF4-FFF2-40B4-BE49-F238E27FC236}">
                    <a16:creationId xmlns:a16="http://schemas.microsoft.com/office/drawing/2014/main" id="{7957D41E-4D22-5BF7-BABC-66158BA305CE}"/>
                  </a:ext>
                </a:extLst>
              </p:cNvPr>
              <p:cNvPicPr/>
              <p:nvPr/>
            </p:nvPicPr>
            <p:blipFill>
              <a:blip r:embed="rId16"/>
              <a:stretch>
                <a:fillRect/>
              </a:stretch>
            </p:blipFill>
            <p:spPr>
              <a:xfrm>
                <a:off x="1984680" y="2687760"/>
                <a:ext cx="6213600" cy="766440"/>
              </a:xfrm>
              <a:prstGeom prst="rect">
                <a:avLst/>
              </a:prstGeom>
            </p:spPr>
          </p:pic>
        </mc:Fallback>
      </mc:AlternateContent>
    </p:spTree>
    <p:extLst>
      <p:ext uri="{BB962C8B-B14F-4D97-AF65-F5344CB8AC3E}">
        <p14:creationId xmlns:p14="http://schemas.microsoft.com/office/powerpoint/2010/main" val="3679794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Transforming a VC into an IS</a:t>
            </a:r>
          </a:p>
        </p:txBody>
      </p:sp>
      <mc:AlternateContent xmlns:mc="http://schemas.openxmlformats.org/markup-compatibility/2006" xmlns:a14="http://schemas.microsoft.com/office/drawing/2010/main">
        <mc:Choice Requires="a14">
          <p:sp>
            <p:nvSpPr>
              <p:cNvPr id="70" name="Content Placeholder 2"/>
              <p:cNvSpPr>
                <a:spLocks noGrp="1"/>
              </p:cNvSpPr>
              <p:nvPr>
                <p:ph idx="1"/>
              </p:nvPr>
            </p:nvSpPr>
            <p:spPr>
              <a:xfrm>
                <a:off x="1524000" y="1762716"/>
                <a:ext cx="9144000" cy="609600"/>
              </a:xfrm>
            </p:spPr>
            <p:txBody>
              <a:bodyPr>
                <a:noAutofit/>
              </a:bodyPr>
              <a:lstStyle/>
              <a:p>
                <a:pPr marL="0" indent="0">
                  <a:buNone/>
                </a:pPr>
                <a14:m>
                  <m:oMath xmlns:m="http://schemas.openxmlformats.org/officeDocument/2006/math">
                    <m:r>
                      <a:rPr lang="en-US" sz="2900" i="1">
                        <a:latin typeface="Cambria Math"/>
                      </a:rPr>
                      <m:t>𝑆</m:t>
                    </m:r>
                  </m:oMath>
                </a14:m>
                <a:r>
                  <a:rPr lang="en-US" sz="2900" dirty="0"/>
                  <a:t> is an independent set of </a:t>
                </a:r>
                <a14:m>
                  <m:oMath xmlns:m="http://schemas.openxmlformats.org/officeDocument/2006/math">
                    <m:r>
                      <a:rPr lang="en-US" sz="2900" i="1">
                        <a:latin typeface="Cambria Math"/>
                      </a:rPr>
                      <m:t>𝐺</m:t>
                    </m:r>
                  </m:oMath>
                </a14:m>
                <a:r>
                  <a:rPr lang="en-US" sz="2900" dirty="0"/>
                  <a:t> </a:t>
                </a:r>
                <a:r>
                  <a:rPr lang="en-US" sz="2900" dirty="0" err="1"/>
                  <a:t>iff</a:t>
                </a:r>
                <a:r>
                  <a:rPr lang="en-US" sz="2900" dirty="0"/>
                  <a:t> </a:t>
                </a:r>
                <a14:m>
                  <m:oMath xmlns:m="http://schemas.openxmlformats.org/officeDocument/2006/math">
                    <m:r>
                      <a:rPr lang="en-US" sz="2900" i="1">
                        <a:latin typeface="Cambria Math"/>
                      </a:rPr>
                      <m:t>𝑉</m:t>
                    </m:r>
                    <m:r>
                      <a:rPr lang="en-US" sz="2900" i="1">
                        <a:latin typeface="Cambria Math"/>
                      </a:rPr>
                      <m:t>−</m:t>
                    </m:r>
                    <m:r>
                      <a:rPr lang="en-US" sz="2900" i="1">
                        <a:latin typeface="Cambria Math"/>
                      </a:rPr>
                      <m:t>𝑆</m:t>
                    </m:r>
                  </m:oMath>
                </a14:m>
                <a:r>
                  <a:rPr lang="en-US" sz="2900" dirty="0"/>
                  <a:t> is a vertex cover of </a:t>
                </a:r>
                <a14:m>
                  <m:oMath xmlns:m="http://schemas.openxmlformats.org/officeDocument/2006/math">
                    <m:r>
                      <a:rPr lang="en-US" sz="2900" i="1">
                        <a:latin typeface="Cambria Math"/>
                      </a:rPr>
                      <m:t>𝐺</m:t>
                    </m:r>
                  </m:oMath>
                </a14:m>
                <a:endParaRPr lang="en-US" sz="2900" dirty="0"/>
              </a:p>
            </p:txBody>
          </p:sp>
        </mc:Choice>
        <mc:Fallback xmlns="">
          <p:sp>
            <p:nvSpPr>
              <p:cNvPr id="70" name="Content Placeholder 2"/>
              <p:cNvSpPr>
                <a:spLocks noGrp="1" noRot="1" noChangeAspect="1" noMove="1" noResize="1" noEditPoints="1" noAdjustHandles="1" noChangeArrowheads="1" noChangeShapeType="1" noTextEdit="1"/>
              </p:cNvSpPr>
              <p:nvPr>
                <p:ph idx="1"/>
              </p:nvPr>
            </p:nvSpPr>
            <p:spPr>
              <a:xfrm>
                <a:off x="1524000" y="1762716"/>
                <a:ext cx="9144000" cy="609600"/>
              </a:xfrm>
              <a:blipFill>
                <a:blip r:embed="rId2"/>
                <a:stretch>
                  <a:fillRect t="-18000" b="-9000"/>
                </a:stretch>
              </a:blipFill>
            </p:spPr>
            <p:txBody>
              <a:bodyPr/>
              <a:lstStyle/>
              <a:p>
                <a:r>
                  <a:rPr lang="en-US">
                    <a:noFill/>
                  </a:rPr>
                  <a:t> </a:t>
                </a:r>
              </a:p>
            </p:txBody>
          </p:sp>
        </mc:Fallback>
      </mc:AlternateContent>
      <p:grpSp>
        <p:nvGrpSpPr>
          <p:cNvPr id="5" name="Group 4" descr="Consider a vertex cover">
            <a:extLst>
              <a:ext uri="{FF2B5EF4-FFF2-40B4-BE49-F238E27FC236}">
                <a16:creationId xmlns:a16="http://schemas.microsoft.com/office/drawing/2014/main" id="{7ADCCFB6-6A8B-49A9-73C3-4255C0DEB767}"/>
              </a:ext>
            </a:extLst>
          </p:cNvPr>
          <p:cNvGrpSpPr/>
          <p:nvPr/>
        </p:nvGrpSpPr>
        <p:grpSpPr>
          <a:xfrm>
            <a:off x="1708698" y="2585027"/>
            <a:ext cx="3733078" cy="3851081"/>
            <a:chOff x="1708698" y="2585027"/>
            <a:chExt cx="3733078" cy="3851081"/>
          </a:xfrm>
        </p:grpSpPr>
        <p:sp>
          <p:nvSpPr>
            <p:cNvPr id="69" name="TextBox 68"/>
            <p:cNvSpPr txBox="1"/>
            <p:nvPr/>
          </p:nvSpPr>
          <p:spPr>
            <a:xfrm>
              <a:off x="2362200" y="2585027"/>
              <a:ext cx="1380634" cy="369332"/>
            </a:xfrm>
            <a:prstGeom prst="rect">
              <a:avLst/>
            </a:prstGeom>
            <a:noFill/>
          </p:spPr>
          <p:txBody>
            <a:bodyPr wrap="none" rtlCol="0">
              <a:spAutoFit/>
            </a:bodyPr>
            <a:lstStyle/>
            <a:p>
              <a:r>
                <a:rPr lang="en-US" dirty="0"/>
                <a:t>Vertex Cover</a:t>
              </a:r>
            </a:p>
          </p:txBody>
        </p:sp>
        <p:grpSp>
          <p:nvGrpSpPr>
            <p:cNvPr id="3" name="Group 2"/>
            <p:cNvGrpSpPr/>
            <p:nvPr/>
          </p:nvGrpSpPr>
          <p:grpSpPr>
            <a:xfrm>
              <a:off x="1708698" y="3109661"/>
              <a:ext cx="3733078" cy="3326447"/>
              <a:chOff x="657225" y="1481300"/>
              <a:chExt cx="5514975" cy="4914248"/>
            </a:xfrm>
          </p:grpSpPr>
          <p:cxnSp>
            <p:nvCxnSpPr>
              <p:cNvPr id="71" name="Straight Connector 70"/>
              <p:cNvCxnSpPr>
                <a:stCxn id="86" idx="1"/>
                <a:endCxn id="88"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87" idx="2"/>
                <a:endCxn id="86"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88" idx="1"/>
                <a:endCxn id="87"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91" idx="2"/>
                <a:endCxn id="87"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91" idx="3"/>
                <a:endCxn id="92"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92" idx="3"/>
                <a:endCxn id="89"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92" idx="2"/>
                <a:endCxn id="90"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90" idx="3"/>
                <a:endCxn id="93"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89" idx="2"/>
                <a:endCxn id="93"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92" idx="3"/>
                <a:endCxn id="94" idx="1"/>
              </p:cNvCxnSpPr>
              <p:nvPr/>
            </p:nvCxnSpPr>
            <p:spPr>
              <a:xfrm flipV="1">
                <a:off x="3306551" y="1709900"/>
                <a:ext cx="909851"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89" idx="0"/>
                <a:endCxn id="94" idx="3"/>
              </p:cNvCxnSpPr>
              <p:nvPr/>
            </p:nvCxnSpPr>
            <p:spPr>
              <a:xfrm flipH="1" flipV="1">
                <a:off x="4673602" y="1709900"/>
                <a:ext cx="1269998"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88" idx="0"/>
                <a:endCxn id="93"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88" idx="0"/>
                <a:endCxn id="89"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4" name="Group 83"/>
              <p:cNvGrpSpPr/>
              <p:nvPr/>
            </p:nvGrpSpPr>
            <p:grpSpPr>
              <a:xfrm rot="10800000">
                <a:off x="2657024" y="5938347"/>
                <a:ext cx="530353" cy="457201"/>
                <a:chOff x="2133600" y="4191000"/>
                <a:chExt cx="1060704" cy="914400"/>
              </a:xfrm>
            </p:grpSpPr>
            <p:sp>
              <p:nvSpPr>
                <p:cNvPr id="85" name="Isosceles Triangle 84"/>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6" name="Rectangle 85"/>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87" name="Rectangle 86"/>
              <p:cNvSpPr/>
              <p:nvPr/>
            </p:nvSpPr>
            <p:spPr>
              <a:xfrm>
                <a:off x="1825487" y="47244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p:cNvSpPr/>
              <p:nvPr/>
            </p:nvSpPr>
            <p:spPr>
              <a:xfrm>
                <a:off x="4529667" y="51054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a:off x="2849351" y="2218504"/>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p:cNvSpPr/>
              <p:nvPr/>
            </p:nvSpPr>
            <p:spPr>
              <a:xfrm>
                <a:off x="3801535" y="3882257"/>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a:off x="4216402" y="14813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 name="Group 5" descr="The complement of that vertex cover (the set of all unselected nodes) is an indepdent set.">
            <a:extLst>
              <a:ext uri="{FF2B5EF4-FFF2-40B4-BE49-F238E27FC236}">
                <a16:creationId xmlns:a16="http://schemas.microsoft.com/office/drawing/2014/main" id="{BE932000-5D42-FB96-73DD-8E0BBC506A62}"/>
              </a:ext>
            </a:extLst>
          </p:cNvPr>
          <p:cNvGrpSpPr/>
          <p:nvPr/>
        </p:nvGrpSpPr>
        <p:grpSpPr>
          <a:xfrm>
            <a:off x="6629400" y="2585027"/>
            <a:ext cx="3733078" cy="3926112"/>
            <a:chOff x="6629400" y="2585027"/>
            <a:chExt cx="3733078" cy="3926112"/>
          </a:xfrm>
        </p:grpSpPr>
        <p:sp>
          <p:nvSpPr>
            <p:cNvPr id="68" name="TextBox 67"/>
            <p:cNvSpPr txBox="1"/>
            <p:nvPr/>
          </p:nvSpPr>
          <p:spPr>
            <a:xfrm>
              <a:off x="7315200" y="2585027"/>
              <a:ext cx="1744260" cy="369332"/>
            </a:xfrm>
            <a:prstGeom prst="rect">
              <a:avLst/>
            </a:prstGeom>
            <a:noFill/>
          </p:spPr>
          <p:txBody>
            <a:bodyPr wrap="none" rtlCol="0">
              <a:spAutoFit/>
            </a:bodyPr>
            <a:lstStyle/>
            <a:p>
              <a:r>
                <a:rPr lang="en-US" dirty="0"/>
                <a:t>Independent Set</a:t>
              </a:r>
            </a:p>
          </p:txBody>
        </p:sp>
        <p:grpSp>
          <p:nvGrpSpPr>
            <p:cNvPr id="95" name="Group 94"/>
            <p:cNvGrpSpPr/>
            <p:nvPr/>
          </p:nvGrpSpPr>
          <p:grpSpPr>
            <a:xfrm>
              <a:off x="6629400" y="3184692"/>
              <a:ext cx="3733078" cy="3326447"/>
              <a:chOff x="657225" y="1481300"/>
              <a:chExt cx="5514975" cy="4914248"/>
            </a:xfrm>
          </p:grpSpPr>
          <p:cxnSp>
            <p:nvCxnSpPr>
              <p:cNvPr id="96" name="Straight Connector 95"/>
              <p:cNvCxnSpPr>
                <a:stCxn id="119" idx="1"/>
                <a:endCxn id="111"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110" idx="2"/>
                <a:endCxn id="119"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111" idx="1"/>
                <a:endCxn id="110"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114" idx="2"/>
                <a:endCxn id="110"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114" idx="3"/>
                <a:endCxn id="115"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115" idx="3"/>
                <a:endCxn id="112"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115" idx="2"/>
                <a:endCxn id="113"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113" idx="3"/>
                <a:endCxn id="116"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stCxn id="112" idx="2"/>
                <a:endCxn id="116"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115" idx="3"/>
                <a:endCxn id="117" idx="1"/>
              </p:cNvCxnSpPr>
              <p:nvPr/>
            </p:nvCxnSpPr>
            <p:spPr>
              <a:xfrm flipV="1">
                <a:off x="3306551" y="1709900"/>
                <a:ext cx="909851"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112" idx="0"/>
                <a:endCxn id="117" idx="3"/>
              </p:cNvCxnSpPr>
              <p:nvPr/>
            </p:nvCxnSpPr>
            <p:spPr>
              <a:xfrm flipH="1" flipV="1">
                <a:off x="4673602" y="1709900"/>
                <a:ext cx="1269998"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a:stCxn id="111" idx="0"/>
                <a:endCxn id="116"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111" idx="0"/>
                <a:endCxn id="112"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9" name="Group 108"/>
              <p:cNvGrpSpPr/>
              <p:nvPr/>
            </p:nvGrpSpPr>
            <p:grpSpPr>
              <a:xfrm rot="10800000">
                <a:off x="2657024" y="5938347"/>
                <a:ext cx="530353" cy="457201"/>
                <a:chOff x="2133600" y="4191000"/>
                <a:chExt cx="1060704" cy="914400"/>
              </a:xfrm>
            </p:grpSpPr>
            <p:sp>
              <p:nvSpPr>
                <p:cNvPr id="118" name="Isosceles Triangle 117"/>
                <p:cNvSpPr/>
                <p:nvPr/>
              </p:nvSpPr>
              <p:spPr>
                <a:xfrm>
                  <a:off x="2133600" y="4191000"/>
                  <a:ext cx="1060704" cy="4572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119" name="Rectangle 118"/>
                <p:cNvSpPr/>
                <p:nvPr/>
              </p:nvSpPr>
              <p:spPr>
                <a:xfrm>
                  <a:off x="2133600" y="4648200"/>
                  <a:ext cx="1060704"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10" name="Rectangle 109"/>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5715000" y="2805277"/>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p:cNvSpPr/>
              <p:nvPr/>
            </p:nvSpPr>
            <p:spPr>
              <a:xfrm>
                <a:off x="2384480" y="3462499"/>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657225" y="2575035"/>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p:cNvSpPr/>
              <p:nvPr/>
            </p:nvSpPr>
            <p:spPr>
              <a:xfrm>
                <a:off x="4216402"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175334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Vertex Cover and Independent Set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lstStyle/>
              <a:p>
                <a:r>
                  <a:rPr lang="en-US" dirty="0"/>
                  <a:t>Algorithm to solve vertex cover</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 vertex cover of size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Check if there is an Independent Set of </a:t>
                </a:r>
                <a14:m>
                  <m:oMath xmlns:m="http://schemas.openxmlformats.org/officeDocument/2006/math">
                    <m:r>
                      <a:rPr lang="en-US" b="0" i="1" smtClean="0">
                        <a:latin typeface="Cambria Math" panose="02040503050406030204" pitchFamily="18" charset="0"/>
                      </a:rPr>
                      <m:t>𝐺</m:t>
                    </m:r>
                  </m:oMath>
                </a14:m>
                <a:r>
                  <a:rPr lang="en-US" dirty="0"/>
                  <a:t> of size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𝑘</m:t>
                    </m:r>
                  </m:oMath>
                </a14:m>
                <a:endParaRPr lang="en-US" dirty="0"/>
              </a:p>
              <a:p>
                <a:r>
                  <a:rPr lang="en-US" dirty="0"/>
                  <a:t>Algorithm to solve independent set</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an independent set of size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Check if there is a Vertex Cover of </a:t>
                </a:r>
                <a14:m>
                  <m:oMath xmlns:m="http://schemas.openxmlformats.org/officeDocument/2006/math">
                    <m:r>
                      <a:rPr lang="en-US" b="0" i="1" smtClean="0">
                        <a:latin typeface="Cambria Math" panose="02040503050406030204" pitchFamily="18" charset="0"/>
                      </a:rPr>
                      <m:t>𝐺</m:t>
                    </m:r>
                  </m:oMath>
                </a14:m>
                <a:r>
                  <a:rPr lang="en-US" dirty="0"/>
                  <a:t> of size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𝑘</m:t>
                    </m:r>
                  </m:oMath>
                </a14:m>
                <a:endParaRPr lang="en-US" dirty="0"/>
              </a:p>
              <a:p>
                <a:endParaRPr lang="en-US" dirty="0"/>
              </a:p>
              <a:p>
                <a:pPr lvl="2"/>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16EF06-5FF7-5632-9927-BCEDD35736D3}"/>
                  </a:ext>
                </a:extLst>
              </p:cNvPr>
              <p:cNvSpPr txBox="1"/>
              <p:nvPr/>
            </p:nvSpPr>
            <p:spPr>
              <a:xfrm>
                <a:off x="7914640" y="5345966"/>
                <a:ext cx="3860800" cy="830997"/>
              </a:xfrm>
              <a:prstGeom prst="rect">
                <a:avLst/>
              </a:prstGeom>
              <a:noFill/>
            </p:spPr>
            <p:txBody>
              <a:bodyPr wrap="square" rtlCol="0">
                <a:spAutoFit/>
              </a:bodyPr>
              <a:lstStyle/>
              <a:p>
                <a:r>
                  <a:rPr lang="en-US" sz="2400" dirty="0">
                    <a:solidFill>
                      <a:srgbClr val="FF0000"/>
                    </a:solidFill>
                  </a:rPr>
                  <a:t>Either both problems belong to </a:t>
                </a:r>
                <a14:m>
                  <m:oMath xmlns:m="http://schemas.openxmlformats.org/officeDocument/2006/math">
                    <m:r>
                      <a:rPr lang="en-US" sz="2400" b="0" i="1" smtClean="0">
                        <a:solidFill>
                          <a:srgbClr val="FF0000"/>
                        </a:solidFill>
                        <a:latin typeface="Cambria Math" panose="02040503050406030204" pitchFamily="18" charset="0"/>
                      </a:rPr>
                      <m:t>𝑃</m:t>
                    </m:r>
                  </m:oMath>
                </a14:m>
                <a:r>
                  <a:rPr lang="en-US" sz="2400" dirty="0">
                    <a:solidFill>
                      <a:srgbClr val="FF0000"/>
                    </a:solidFill>
                  </a:rPr>
                  <a:t>, or else neither does!</a:t>
                </a:r>
              </a:p>
            </p:txBody>
          </p:sp>
        </mc:Choice>
        <mc:Fallback xmlns="">
          <p:sp>
            <p:nvSpPr>
              <p:cNvPr id="4" name="TextBox 3">
                <a:extLst>
                  <a:ext uri="{FF2B5EF4-FFF2-40B4-BE49-F238E27FC236}">
                    <a16:creationId xmlns:a16="http://schemas.microsoft.com/office/drawing/2014/main" id="{9516EF06-5FF7-5632-9927-BCEDD35736D3}"/>
                  </a:ext>
                </a:extLst>
              </p:cNvPr>
              <p:cNvSpPr txBox="1">
                <a:spLocks noRot="1" noChangeAspect="1" noMove="1" noResize="1" noEditPoints="1" noAdjustHandles="1" noChangeArrowheads="1" noChangeShapeType="1" noTextEdit="1"/>
              </p:cNvSpPr>
              <p:nvPr/>
            </p:nvSpPr>
            <p:spPr>
              <a:xfrm>
                <a:off x="7914640" y="5345966"/>
                <a:ext cx="3860800" cy="830997"/>
              </a:xfrm>
              <a:prstGeom prst="rect">
                <a:avLst/>
              </a:prstGeom>
              <a:blipFill>
                <a:blip r:embed="rId3"/>
                <a:stretch>
                  <a:fillRect l="-2366" t="-5882" r="-631" b="-1617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20FEDC78-F518-6481-7D26-4AA1D929A697}"/>
                  </a:ext>
                </a:extLst>
              </p14:cNvPr>
              <p14:cNvContentPartPr/>
              <p14:nvPr/>
            </p14:nvContentPartPr>
            <p14:xfrm>
              <a:off x="525240" y="1879920"/>
              <a:ext cx="7380720" cy="2314800"/>
            </p14:xfrm>
          </p:contentPart>
        </mc:Choice>
        <mc:Fallback>
          <p:pic>
            <p:nvPicPr>
              <p:cNvPr id="5" name="Ink 4">
                <a:extLst>
                  <a:ext uri="{FF2B5EF4-FFF2-40B4-BE49-F238E27FC236}">
                    <a16:creationId xmlns:a16="http://schemas.microsoft.com/office/drawing/2014/main" id="{20FEDC78-F518-6481-7D26-4AA1D929A697}"/>
                  </a:ext>
                </a:extLst>
              </p:cNvPr>
              <p:cNvPicPr/>
              <p:nvPr/>
            </p:nvPicPr>
            <p:blipFill>
              <a:blip r:embed="rId5"/>
              <a:stretch>
                <a:fillRect/>
              </a:stretch>
            </p:blipFill>
            <p:spPr>
              <a:xfrm>
                <a:off x="515880" y="1870560"/>
                <a:ext cx="7399440" cy="2333520"/>
              </a:xfrm>
              <a:prstGeom prst="rect">
                <a:avLst/>
              </a:prstGeom>
            </p:spPr>
          </p:pic>
        </mc:Fallback>
      </mc:AlternateContent>
    </p:spTree>
    <p:extLst>
      <p:ext uri="{BB962C8B-B14F-4D97-AF65-F5344CB8AC3E}">
        <p14:creationId xmlns:p14="http://schemas.microsoft.com/office/powerpoint/2010/main" val="3071438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B5F43-910E-209D-70E7-1977B541F09B}"/>
              </a:ext>
            </a:extLst>
          </p:cNvPr>
          <p:cNvSpPr>
            <a:spLocks noGrp="1"/>
          </p:cNvSpPr>
          <p:nvPr>
            <p:ph type="title"/>
          </p:nvPr>
        </p:nvSpPr>
        <p:spPr/>
        <p:txBody>
          <a:bodyPr/>
          <a:lstStyle/>
          <a:p>
            <a:r>
              <a:rPr lang="en-US" dirty="0"/>
              <a:t>Reduction</a:t>
            </a:r>
          </a:p>
        </p:txBody>
      </p:sp>
      <p:sp>
        <p:nvSpPr>
          <p:cNvPr id="3" name="Content Placeholder 2">
            <a:extLst>
              <a:ext uri="{FF2B5EF4-FFF2-40B4-BE49-F238E27FC236}">
                <a16:creationId xmlns:a16="http://schemas.microsoft.com/office/drawing/2014/main" id="{BE15349E-7800-6569-9B3D-219ECA3E1866}"/>
              </a:ext>
            </a:extLst>
          </p:cNvPr>
          <p:cNvSpPr>
            <a:spLocks noGrp="1"/>
          </p:cNvSpPr>
          <p:nvPr>
            <p:ph idx="1"/>
          </p:nvPr>
        </p:nvSpPr>
        <p:spPr/>
        <p:txBody>
          <a:bodyPr/>
          <a:lstStyle/>
          <a:p>
            <a:r>
              <a:rPr lang="en-US" dirty="0"/>
              <a:t>A strategy for creating algorithms</a:t>
            </a:r>
          </a:p>
          <a:p>
            <a:r>
              <a:rPr lang="en-US" dirty="0"/>
              <a:t>Solve one problem by converting it into a different problem, then using an algorithm for that other problem.</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3146544-38D3-39EC-AC53-13F2ACEE0799}"/>
                  </a:ext>
                </a:extLst>
              </p14:cNvPr>
              <p14:cNvContentPartPr/>
              <p14:nvPr/>
            </p14:nvContentPartPr>
            <p14:xfrm>
              <a:off x="4452120" y="2219760"/>
              <a:ext cx="971280" cy="98280"/>
            </p14:xfrm>
          </p:contentPart>
        </mc:Choice>
        <mc:Fallback>
          <p:pic>
            <p:nvPicPr>
              <p:cNvPr id="4" name="Ink 3">
                <a:extLst>
                  <a:ext uri="{FF2B5EF4-FFF2-40B4-BE49-F238E27FC236}">
                    <a16:creationId xmlns:a16="http://schemas.microsoft.com/office/drawing/2014/main" id="{13146544-38D3-39EC-AC53-13F2ACEE0799}"/>
                  </a:ext>
                </a:extLst>
              </p:cNvPr>
              <p:cNvPicPr/>
              <p:nvPr/>
            </p:nvPicPr>
            <p:blipFill>
              <a:blip r:embed="rId3"/>
              <a:stretch>
                <a:fillRect/>
              </a:stretch>
            </p:blipFill>
            <p:spPr>
              <a:xfrm>
                <a:off x="4442760" y="2210400"/>
                <a:ext cx="990000" cy="117000"/>
              </a:xfrm>
              <a:prstGeom prst="rect">
                <a:avLst/>
              </a:prstGeom>
            </p:spPr>
          </p:pic>
        </mc:Fallback>
      </mc:AlternateContent>
    </p:spTree>
    <p:extLst>
      <p:ext uri="{BB962C8B-B14F-4D97-AF65-F5344CB8AC3E}">
        <p14:creationId xmlns:p14="http://schemas.microsoft.com/office/powerpoint/2010/main" val="3067017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Set Reduces To Vertex Cover</a:t>
            </a:r>
            <a:endParaRPr lang="en-US" dirty="0">
              <a:solidFill>
                <a:srgbClr val="FF33CC"/>
              </a:solidFill>
            </a:endParaRPr>
          </a:p>
        </p:txBody>
      </p:sp>
      <p:grpSp>
        <p:nvGrpSpPr>
          <p:cNvPr id="5" name="Group 4" descr="To reduce independent set to Vertex cover, we begin with an arbitrary instance of the independent set problem (a graph and a value k).">
            <a:extLst>
              <a:ext uri="{FF2B5EF4-FFF2-40B4-BE49-F238E27FC236}">
                <a16:creationId xmlns:a16="http://schemas.microsoft.com/office/drawing/2014/main" id="{F26D9786-DEE8-5D74-FCAD-CE5406D6A5E4}"/>
              </a:ext>
            </a:extLst>
          </p:cNvPr>
          <p:cNvGrpSpPr/>
          <p:nvPr/>
        </p:nvGrpSpPr>
        <p:grpSpPr>
          <a:xfrm>
            <a:off x="1029258" y="1403866"/>
            <a:ext cx="2883738" cy="1721010"/>
            <a:chOff x="1029258" y="1403866"/>
            <a:chExt cx="2883738" cy="1721010"/>
          </a:xfrm>
        </p:grpSpPr>
        <p:sp>
          <p:nvSpPr>
            <p:cNvPr id="132" name="TextBox 131"/>
            <p:cNvSpPr txBox="1"/>
            <p:nvPr/>
          </p:nvSpPr>
          <p:spPr>
            <a:xfrm>
              <a:off x="1615700" y="1403866"/>
              <a:ext cx="2297296" cy="369332"/>
            </a:xfrm>
            <a:prstGeom prst="rect">
              <a:avLst/>
            </a:prstGeom>
            <a:noFill/>
          </p:spPr>
          <p:txBody>
            <a:bodyPr wrap="none" rtlCol="0">
              <a:spAutoFit/>
            </a:bodyPr>
            <a:lstStyle/>
            <a:p>
              <a:r>
                <a:rPr lang="en-US" dirty="0"/>
                <a:t>Independent Set Input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392B7A9-B4E7-AD92-E8FB-65B20C59C2A0}"/>
                    </a:ext>
                  </a:extLst>
                </p:cNvPr>
                <p:cNvSpPr txBox="1"/>
                <p:nvPr/>
              </p:nvSpPr>
              <p:spPr>
                <a:xfrm>
                  <a:off x="1029258" y="2287474"/>
                  <a:ext cx="394652" cy="36933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oMath>
                    </m:oMathPara>
                  </a14:m>
                  <a:endParaRPr lang="en-US" b="1" dirty="0"/>
                </a:p>
              </p:txBody>
            </p:sp>
          </mc:Choice>
          <mc:Fallback xmlns="">
            <p:sp>
              <p:nvSpPr>
                <p:cNvPr id="6" name="TextBox 5">
                  <a:extLst>
                    <a:ext uri="{FF2B5EF4-FFF2-40B4-BE49-F238E27FC236}">
                      <a16:creationId xmlns:a16="http://schemas.microsoft.com/office/drawing/2014/main" id="{D392B7A9-B4E7-AD92-E8FB-65B20C59C2A0}"/>
                    </a:ext>
                  </a:extLst>
                </p:cNvPr>
                <p:cNvSpPr txBox="1">
                  <a:spLocks noRot="1" noChangeAspect="1" noMove="1" noResize="1" noEditPoints="1" noAdjustHandles="1" noChangeArrowheads="1" noChangeShapeType="1" noTextEdit="1"/>
                </p:cNvSpPr>
                <p:nvPr/>
              </p:nvSpPr>
              <p:spPr>
                <a:xfrm>
                  <a:off x="1029258" y="2287474"/>
                  <a:ext cx="394652" cy="369332"/>
                </a:xfrm>
                <a:prstGeom prst="rect">
                  <a:avLst/>
                </a:prstGeom>
                <a:blipFill>
                  <a:blip r:embed="rId2"/>
                  <a:stretch>
                    <a:fillRect/>
                  </a:stretch>
                </a:blipFill>
                <a:ln>
                  <a:solidFill>
                    <a:schemeClr val="tx1"/>
                  </a:solidFill>
                </a:ln>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26CB1476-FF3F-5ACA-7101-9E5454556ACA}"/>
                </a:ext>
              </a:extLst>
            </p:cNvPr>
            <p:cNvGrpSpPr/>
            <p:nvPr/>
          </p:nvGrpSpPr>
          <p:grpSpPr>
            <a:xfrm>
              <a:off x="1908209" y="1934920"/>
              <a:ext cx="1766003" cy="1189956"/>
              <a:chOff x="1822926" y="1377631"/>
              <a:chExt cx="7796089" cy="5253107"/>
            </a:xfrm>
          </p:grpSpPr>
          <p:pic>
            <p:nvPicPr>
              <p:cNvPr id="11" name="Picture 2" descr="Image result for Prince Harry">
                <a:extLst>
                  <a:ext uri="{FF2B5EF4-FFF2-40B4-BE49-F238E27FC236}">
                    <a16:creationId xmlns:a16="http://schemas.microsoft.com/office/drawing/2014/main" id="{5BB8E96A-60AD-CB4D-5A26-AEF7ADF642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2" name="Picture 4" descr="Image result for meghan markle">
                <a:extLst>
                  <a:ext uri="{FF2B5EF4-FFF2-40B4-BE49-F238E27FC236}">
                    <a16:creationId xmlns:a16="http://schemas.microsoft.com/office/drawing/2014/main" id="{5AFCDA04-4AF5-1139-51E8-7B0992EE7DD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3" name="Picture 6" descr="Image result for Prince Charles">
                <a:extLst>
                  <a:ext uri="{FF2B5EF4-FFF2-40B4-BE49-F238E27FC236}">
                    <a16:creationId xmlns:a16="http://schemas.microsoft.com/office/drawing/2014/main" id="{46786F4D-68A0-2CE0-155B-A9AD7D634B3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4" name="Picture 18" descr="Image result for justin trudeau">
                <a:extLst>
                  <a:ext uri="{FF2B5EF4-FFF2-40B4-BE49-F238E27FC236}">
                    <a16:creationId xmlns:a16="http://schemas.microsoft.com/office/drawing/2014/main" id="{9A698084-591C-F3F5-6F94-8987E332B453}"/>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5" name="Picture 20" descr="Image result for Elton John">
                <a:extLst>
                  <a:ext uri="{FF2B5EF4-FFF2-40B4-BE49-F238E27FC236}">
                    <a16:creationId xmlns:a16="http://schemas.microsoft.com/office/drawing/2014/main" id="{EF8077BC-688D-7845-DAAF-F83C8E7709B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 name="Picture 34" descr="Image result for angela merkel">
                <a:extLst>
                  <a:ext uri="{FF2B5EF4-FFF2-40B4-BE49-F238E27FC236}">
                    <a16:creationId xmlns:a16="http://schemas.microsoft.com/office/drawing/2014/main" id="{DC060794-47B9-8495-F30C-66DA62E8E804}"/>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 name="Picture 36" descr="Image result for paul mccartney">
                <a:extLst>
                  <a:ext uri="{FF2B5EF4-FFF2-40B4-BE49-F238E27FC236}">
                    <a16:creationId xmlns:a16="http://schemas.microsoft.com/office/drawing/2014/main" id="{2612C3D0-9DBE-8191-AA9E-1F25025F2625}"/>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8" name="Straight Connector 17">
                <a:extLst>
                  <a:ext uri="{FF2B5EF4-FFF2-40B4-BE49-F238E27FC236}">
                    <a16:creationId xmlns:a16="http://schemas.microsoft.com/office/drawing/2014/main" id="{6E926ABF-B856-91AD-6F08-427E4EE7ACA4}"/>
                  </a:ext>
                </a:extLst>
              </p:cNvPr>
              <p:cNvCxnSpPr>
                <a:stCxn id="12" idx="3"/>
              </p:cNvCxnSpPr>
              <p:nvPr/>
            </p:nvCxnSpPr>
            <p:spPr>
              <a:xfrm>
                <a:off x="4616953" y="3727451"/>
                <a:ext cx="1313486" cy="4137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2031E14-EE0C-A5EA-6CD2-441C78873E83}"/>
                  </a:ext>
                </a:extLst>
              </p:cNvPr>
              <p:cNvCxnSpPr>
                <a:stCxn id="11" idx="3"/>
                <a:endCxn id="17" idx="1"/>
              </p:cNvCxnSpPr>
              <p:nvPr/>
            </p:nvCxnSpPr>
            <p:spPr>
              <a:xfrm flipV="1">
                <a:off x="2989647" y="3034948"/>
                <a:ext cx="4698775" cy="211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10D1A11-B16D-8B08-98E9-8ABF5ED5D3D7}"/>
                  </a:ext>
                </a:extLst>
              </p:cNvPr>
              <p:cNvCxnSpPr>
                <a:stCxn id="13" idx="1"/>
                <a:endCxn id="17" idx="2"/>
              </p:cNvCxnSpPr>
              <p:nvPr/>
            </p:nvCxnSpPr>
            <p:spPr>
              <a:xfrm flipH="1" flipV="1">
                <a:off x="8077575" y="3480168"/>
                <a:ext cx="896336" cy="7854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675B9BE-9A80-77FA-3031-C5258E27797F}"/>
                  </a:ext>
                </a:extLst>
              </p:cNvPr>
              <p:cNvCxnSpPr>
                <a:stCxn id="13" idx="1"/>
              </p:cNvCxnSpPr>
              <p:nvPr/>
            </p:nvCxnSpPr>
            <p:spPr>
              <a:xfrm flipH="1" flipV="1">
                <a:off x="6617443" y="4141234"/>
                <a:ext cx="2356468" cy="1244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E58D6DD-B358-6BF1-51C8-0F0FBD1C644D}"/>
                  </a:ext>
                </a:extLst>
              </p:cNvPr>
              <p:cNvCxnSpPr>
                <a:stCxn id="13" idx="1"/>
                <a:endCxn id="15" idx="3"/>
              </p:cNvCxnSpPr>
              <p:nvPr/>
            </p:nvCxnSpPr>
            <p:spPr>
              <a:xfrm flipH="1">
                <a:off x="7752241" y="4265645"/>
                <a:ext cx="1221671" cy="8253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B59CF1C-81C1-4AEF-1508-6528C4A74AA7}"/>
                  </a:ext>
                </a:extLst>
              </p:cNvPr>
              <p:cNvCxnSpPr>
                <a:stCxn id="13" idx="1"/>
                <a:endCxn id="14" idx="0"/>
              </p:cNvCxnSpPr>
              <p:nvPr/>
            </p:nvCxnSpPr>
            <p:spPr>
              <a:xfrm flipH="1">
                <a:off x="8277849" y="4265644"/>
                <a:ext cx="696063" cy="15156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BB7E783-E414-26BA-1E72-90F9F1D7B6F9}"/>
                  </a:ext>
                </a:extLst>
              </p:cNvPr>
              <p:cNvCxnSpPr>
                <a:stCxn id="14" idx="1"/>
              </p:cNvCxnSpPr>
              <p:nvPr/>
            </p:nvCxnSpPr>
            <p:spPr>
              <a:xfrm flipH="1" flipV="1">
                <a:off x="2565838" y="5714723"/>
                <a:ext cx="5437606" cy="4912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6A8D6D9-C5DB-81CA-D67D-0A0B37A72E5E}"/>
                  </a:ext>
                </a:extLst>
              </p:cNvPr>
              <p:cNvCxnSpPr>
                <a:stCxn id="15" idx="1"/>
                <a:endCxn id="16" idx="3"/>
              </p:cNvCxnSpPr>
              <p:nvPr/>
            </p:nvCxnSpPr>
            <p:spPr>
              <a:xfrm flipH="1">
                <a:off x="5498659" y="5091000"/>
                <a:ext cx="1671374" cy="1425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0A6AAD6-DFB8-6813-87C6-765AA05BAA9D}"/>
                  </a:ext>
                </a:extLst>
              </p:cNvPr>
              <p:cNvCxnSpPr/>
              <p:nvPr/>
            </p:nvCxnSpPr>
            <p:spPr>
              <a:xfrm flipH="1">
                <a:off x="2289175" y="4525894"/>
                <a:ext cx="815802" cy="7742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 descr="Joe Biden - CNBC">
                <a:extLst>
                  <a:ext uri="{FF2B5EF4-FFF2-40B4-BE49-F238E27FC236}">
                    <a16:creationId xmlns:a16="http://schemas.microsoft.com/office/drawing/2014/main" id="{44BAB41E-E75D-EF01-5465-E8C04ADCE1F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3" name="Picture 4" descr="Emmanuel Macron - Wikipedia">
                <a:extLst>
                  <a:ext uri="{FF2B5EF4-FFF2-40B4-BE49-F238E27FC236}">
                    <a16:creationId xmlns:a16="http://schemas.microsoft.com/office/drawing/2014/main" id="{DC272DCB-486D-5267-F24F-05E920E679F4}"/>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6" name="Picture 6" descr="Taylor Swift set to make her feature directorial debut | CNN">
                <a:extLst>
                  <a:ext uri="{FF2B5EF4-FFF2-40B4-BE49-F238E27FC236}">
                    <a16:creationId xmlns:a16="http://schemas.microsoft.com/office/drawing/2014/main" id="{3A912DEF-D9CB-319A-AF20-25A92F3F1F81}"/>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37" name="Straight Connector 36">
                <a:extLst>
                  <a:ext uri="{FF2B5EF4-FFF2-40B4-BE49-F238E27FC236}">
                    <a16:creationId xmlns:a16="http://schemas.microsoft.com/office/drawing/2014/main" id="{4623E717-ACDF-0F34-6CA9-EF5AD7F73D1D}"/>
                  </a:ext>
                </a:extLst>
              </p:cNvPr>
              <p:cNvCxnSpPr/>
              <p:nvPr/>
            </p:nvCxnSpPr>
            <p:spPr>
              <a:xfrm>
                <a:off x="2446445" y="1797566"/>
                <a:ext cx="743692" cy="460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8" name="Picture 8" descr="Ed Sheeran">
                <a:extLst>
                  <a:ext uri="{FF2B5EF4-FFF2-40B4-BE49-F238E27FC236}">
                    <a16:creationId xmlns:a16="http://schemas.microsoft.com/office/drawing/2014/main" id="{30DA5302-7DA4-49DF-6CCD-480432628F1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9" name="Picture 10" descr="Pharrell Williams - Age, Wife &amp; &quot;Happy&quot;">
                <a:extLst>
                  <a:ext uri="{FF2B5EF4-FFF2-40B4-BE49-F238E27FC236}">
                    <a16:creationId xmlns:a16="http://schemas.microsoft.com/office/drawing/2014/main" id="{B491C4C0-4993-7BEF-E8DF-25B1FD73A39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grpSp>
      </p:grpSp>
      <p:grpSp>
        <p:nvGrpSpPr>
          <p:cNvPr id="7" name="Group 6" descr="We then apply an algorithm to translate the independent set instance into a vertex cover instance.&#10;&#10;For a vertex cover instance we need to have a graph and a number. In this case we will use the same graph as we had in the original vertex cover instance, and the number will be |V|-k.">
            <a:extLst>
              <a:ext uri="{FF2B5EF4-FFF2-40B4-BE49-F238E27FC236}">
                <a16:creationId xmlns:a16="http://schemas.microsoft.com/office/drawing/2014/main" id="{554DAEC7-BC3E-5D7A-8A55-4CC26988A0C5}"/>
              </a:ext>
            </a:extLst>
          </p:cNvPr>
          <p:cNvGrpSpPr/>
          <p:nvPr/>
        </p:nvGrpSpPr>
        <p:grpSpPr>
          <a:xfrm>
            <a:off x="4377238" y="1752601"/>
            <a:ext cx="3471362" cy="1519744"/>
            <a:chOff x="4377238" y="1752601"/>
            <a:chExt cx="3471362" cy="1519744"/>
          </a:xfrm>
        </p:grpSpPr>
        <mc:AlternateContent xmlns:mc="http://schemas.openxmlformats.org/markup-compatibility/2006" xmlns:a14="http://schemas.microsoft.com/office/drawing/2010/main">
          <mc:Choice Requires="a14">
            <p:sp>
              <p:nvSpPr>
                <p:cNvPr id="30" name="AutoShape 5"/>
                <p:cNvSpPr>
                  <a:spLocks noChangeArrowheads="1"/>
                </p:cNvSpPr>
                <p:nvPr/>
              </p:nvSpPr>
              <p:spPr bwMode="auto">
                <a:xfrm>
                  <a:off x="4627562" y="2161611"/>
                  <a:ext cx="2840038" cy="1110734"/>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wrap="square" anchor="ctr">
                  <a:spAutoFit/>
                </a:bodyPr>
                <a:lstStyle/>
                <a:p>
                  <a:pPr algn="ctr"/>
                  <a:r>
                    <a:rPr lang="en-US" altLang="en-US" sz="1600" dirty="0">
                      <a:solidFill>
                        <a:schemeClr val="accent2">
                          <a:lumMod val="50000"/>
                        </a:schemeClr>
                      </a:solidFill>
                    </a:rPr>
                    <a:t>Use same graph</a:t>
                  </a:r>
                </a:p>
                <a:p>
                  <a:pPr algn="ctr"/>
                  <a:r>
                    <a:rPr lang="en-US" altLang="en-US" sz="1600" dirty="0">
                      <a:solidFill>
                        <a:schemeClr val="accent2">
                          <a:lumMod val="50000"/>
                        </a:schemeClr>
                      </a:solidFill>
                    </a:rPr>
                    <a:t>Set </a:t>
                  </a:r>
                  <a14:m>
                    <m:oMath xmlns:m="http://schemas.openxmlformats.org/officeDocument/2006/math">
                      <m:r>
                        <a:rPr lang="en-US" altLang="en-US" sz="1600" b="0" i="1" smtClean="0">
                          <a:solidFill>
                            <a:schemeClr val="accent2">
                              <a:lumMod val="50000"/>
                            </a:schemeClr>
                          </a:solidFill>
                          <a:latin typeface="Cambria Math" panose="02040503050406030204" pitchFamily="18" charset="0"/>
                        </a:rPr>
                        <m:t>𝑘</m:t>
                      </m:r>
                      <m:r>
                        <a:rPr lang="en-US" altLang="en-US" sz="1600" b="0" i="1" smtClean="0">
                          <a:solidFill>
                            <a:schemeClr val="accent2">
                              <a:lumMod val="50000"/>
                            </a:schemeClr>
                          </a:solidFill>
                          <a:latin typeface="Cambria Math" panose="02040503050406030204" pitchFamily="18" charset="0"/>
                        </a:rPr>
                        <m:t>=</m:t>
                      </m:r>
                      <m:d>
                        <m:dPr>
                          <m:begChr m:val="|"/>
                          <m:endChr m:val="|"/>
                          <m:ctrlPr>
                            <a:rPr lang="en-US" altLang="en-US" sz="1600" b="0" i="1" smtClean="0">
                              <a:solidFill>
                                <a:schemeClr val="accent2">
                                  <a:lumMod val="50000"/>
                                </a:schemeClr>
                              </a:solidFill>
                              <a:latin typeface="Cambria Math" panose="02040503050406030204" pitchFamily="18" charset="0"/>
                            </a:rPr>
                          </m:ctrlPr>
                        </m:dPr>
                        <m:e>
                          <m:r>
                            <a:rPr lang="en-US" altLang="en-US" sz="1600" b="0" i="1" smtClean="0">
                              <a:solidFill>
                                <a:schemeClr val="accent2">
                                  <a:lumMod val="50000"/>
                                </a:schemeClr>
                              </a:solidFill>
                              <a:latin typeface="Cambria Math" panose="02040503050406030204" pitchFamily="18" charset="0"/>
                            </a:rPr>
                            <m:t>𝑉</m:t>
                          </m:r>
                        </m:e>
                      </m:d>
                      <m:r>
                        <a:rPr lang="en-US" altLang="en-US" sz="1600" b="0" i="1" smtClean="0">
                          <a:solidFill>
                            <a:schemeClr val="accent2">
                              <a:lumMod val="50000"/>
                            </a:schemeClr>
                          </a:solidFill>
                          <a:latin typeface="Cambria Math" panose="02040503050406030204" pitchFamily="18" charset="0"/>
                        </a:rPr>
                        <m:t>−</m:t>
                      </m:r>
                      <m:r>
                        <a:rPr lang="en-US" altLang="en-US" sz="1600" b="0" i="1" smtClean="0">
                          <a:solidFill>
                            <a:schemeClr val="accent2">
                              <a:lumMod val="50000"/>
                            </a:schemeClr>
                          </a:solidFill>
                          <a:latin typeface="Cambria Math" panose="02040503050406030204" pitchFamily="18" charset="0"/>
                        </a:rPr>
                        <m:t>𝑘</m:t>
                      </m:r>
                    </m:oMath>
                  </a14:m>
                  <a:endParaRPr lang="en-US" altLang="en-US" sz="1600" dirty="0">
                    <a:solidFill>
                      <a:schemeClr val="accent2">
                        <a:lumMod val="50000"/>
                      </a:schemeClr>
                    </a:solidFill>
                  </a:endParaRPr>
                </a:p>
              </p:txBody>
            </p:sp>
          </mc:Choice>
          <mc:Fallback xmlns="">
            <p:sp>
              <p:nvSpPr>
                <p:cNvPr id="30" name="AutoShape 5"/>
                <p:cNvSpPr>
                  <a:spLocks noRot="1" noChangeAspect="1" noMove="1" noResize="1" noEditPoints="1" noAdjustHandles="1" noChangeArrowheads="1" noChangeShapeType="1" noTextEdit="1"/>
                </p:cNvSpPr>
                <p:nvPr/>
              </p:nvSpPr>
              <p:spPr bwMode="auto">
                <a:xfrm>
                  <a:off x="4627562" y="2161611"/>
                  <a:ext cx="2840038" cy="1110734"/>
                </a:xfrm>
                <a:prstGeom prst="rightArrow">
                  <a:avLst>
                    <a:gd name="adj1" fmla="val 52315"/>
                    <a:gd name="adj2" fmla="val 59192"/>
                  </a:avLst>
                </a:prstGeom>
                <a:blipFill>
                  <a:blip r:embed="rId15"/>
                  <a:stretch>
                    <a:fillRect/>
                  </a:stretch>
                </a:blip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3" name="TextBox 2"/>
            <p:cNvSpPr txBox="1"/>
            <p:nvPr/>
          </p:nvSpPr>
          <p:spPr>
            <a:xfrm>
              <a:off x="4377238" y="1752601"/>
              <a:ext cx="3471362" cy="646331"/>
            </a:xfrm>
            <a:prstGeom prst="rect">
              <a:avLst/>
            </a:prstGeom>
            <a:noFill/>
          </p:spPr>
          <p:txBody>
            <a:bodyPr wrap="square" rtlCol="0">
              <a:spAutoFit/>
            </a:bodyPr>
            <a:lstStyle/>
            <a:p>
              <a:r>
                <a:rPr lang="en-US" dirty="0"/>
                <a:t>Relate Independent Set input to Vertex Cover output</a:t>
              </a:r>
            </a:p>
          </p:txBody>
        </p:sp>
      </p:grpSp>
      <p:grpSp>
        <p:nvGrpSpPr>
          <p:cNvPr id="8" name="Group 7" descr="Now we have an instance to the vertex cover problem (a graph and a number k).">
            <a:extLst>
              <a:ext uri="{FF2B5EF4-FFF2-40B4-BE49-F238E27FC236}">
                <a16:creationId xmlns:a16="http://schemas.microsoft.com/office/drawing/2014/main" id="{A2467389-5DA8-F3B1-9749-84C2EB045EF2}"/>
              </a:ext>
            </a:extLst>
          </p:cNvPr>
          <p:cNvGrpSpPr/>
          <p:nvPr/>
        </p:nvGrpSpPr>
        <p:grpSpPr>
          <a:xfrm>
            <a:off x="7701040" y="1403866"/>
            <a:ext cx="3477957" cy="1445222"/>
            <a:chOff x="7701040" y="1403866"/>
            <a:chExt cx="3477957" cy="1445222"/>
          </a:xfrm>
        </p:grpSpPr>
        <p:grpSp>
          <p:nvGrpSpPr>
            <p:cNvPr id="52" name="Group 51"/>
            <p:cNvGrpSpPr/>
            <p:nvPr/>
          </p:nvGrpSpPr>
          <p:grpSpPr>
            <a:xfrm>
              <a:off x="8937741" y="1558940"/>
              <a:ext cx="1447858" cy="1290148"/>
              <a:chOff x="657225" y="1481300"/>
              <a:chExt cx="5514975" cy="4914248"/>
            </a:xfrm>
          </p:grpSpPr>
          <p:cxnSp>
            <p:nvCxnSpPr>
              <p:cNvPr id="53" name="Straight Connector 52"/>
              <p:cNvCxnSpPr>
                <a:stCxn id="76" idx="1"/>
                <a:endCxn id="68"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67" idx="2"/>
                <a:endCxn id="76"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68" idx="1"/>
                <a:endCxn id="67"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71" idx="2"/>
                <a:endCxn id="67"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71" idx="3"/>
                <a:endCxn id="72"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72" idx="3"/>
                <a:endCxn id="69"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72" idx="2"/>
                <a:endCxn id="70"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70" idx="3"/>
                <a:endCxn id="73"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69" idx="2"/>
                <a:endCxn id="73"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72" idx="3"/>
                <a:endCxn id="74"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69" idx="0"/>
                <a:endCxn id="74"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68" idx="0"/>
                <a:endCxn id="73"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a:stCxn id="68" idx="0"/>
                <a:endCxn id="69"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 name="Group 65"/>
              <p:cNvGrpSpPr/>
              <p:nvPr/>
            </p:nvGrpSpPr>
            <p:grpSpPr>
              <a:xfrm rot="10800000">
                <a:off x="2657024" y="5938347"/>
                <a:ext cx="530353" cy="457201"/>
                <a:chOff x="2133600" y="4191000"/>
                <a:chExt cx="1060704" cy="914400"/>
              </a:xfrm>
            </p:grpSpPr>
            <p:sp>
              <p:nvSpPr>
                <p:cNvPr id="75" name="Isosceles Triangle 74"/>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76" name="Rectangle 75"/>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67" name="Rectangle 66"/>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4258735"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 name="TextBox 132"/>
            <p:cNvSpPr txBox="1"/>
            <p:nvPr/>
          </p:nvSpPr>
          <p:spPr>
            <a:xfrm>
              <a:off x="7701040" y="1403866"/>
              <a:ext cx="1933671" cy="369332"/>
            </a:xfrm>
            <a:prstGeom prst="rect">
              <a:avLst/>
            </a:prstGeom>
            <a:noFill/>
          </p:spPr>
          <p:txBody>
            <a:bodyPr wrap="none" rtlCol="0">
              <a:spAutoFit/>
            </a:bodyPr>
            <a:lstStyle/>
            <a:p>
              <a:r>
                <a:rPr lang="en-US" dirty="0"/>
                <a:t>Vertex Cover Input</a:t>
              </a:r>
            </a:p>
          </p:txBody>
        </p:sp>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B758E259-36E4-72F4-7A4E-70729A8E4BBA}"/>
                    </a:ext>
                  </a:extLst>
                </p:cNvPr>
                <p:cNvSpPr txBox="1"/>
                <p:nvPr/>
              </p:nvSpPr>
              <p:spPr>
                <a:xfrm>
                  <a:off x="10784345" y="2090883"/>
                  <a:ext cx="394652" cy="36933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oMath>
                    </m:oMathPara>
                  </a14:m>
                  <a:endParaRPr lang="en-US" b="1" dirty="0"/>
                </a:p>
              </p:txBody>
            </p:sp>
          </mc:Choice>
          <mc:Fallback xmlns="">
            <p:sp>
              <p:nvSpPr>
                <p:cNvPr id="186" name="TextBox 185">
                  <a:extLst>
                    <a:ext uri="{FF2B5EF4-FFF2-40B4-BE49-F238E27FC236}">
                      <a16:creationId xmlns:a16="http://schemas.microsoft.com/office/drawing/2014/main" id="{B758E259-36E4-72F4-7A4E-70729A8E4BBA}"/>
                    </a:ext>
                  </a:extLst>
                </p:cNvPr>
                <p:cNvSpPr txBox="1">
                  <a:spLocks noRot="1" noChangeAspect="1" noMove="1" noResize="1" noEditPoints="1" noAdjustHandles="1" noChangeArrowheads="1" noChangeShapeType="1" noTextEdit="1"/>
                </p:cNvSpPr>
                <p:nvPr/>
              </p:nvSpPr>
              <p:spPr>
                <a:xfrm>
                  <a:off x="10784345" y="2090883"/>
                  <a:ext cx="394652" cy="369332"/>
                </a:xfrm>
                <a:prstGeom prst="rect">
                  <a:avLst/>
                </a:prstGeom>
                <a:blipFill>
                  <a:blip r:embed="rId16"/>
                  <a:stretch>
                    <a:fillRect/>
                  </a:stretch>
                </a:blipFill>
                <a:ln>
                  <a:solidFill>
                    <a:schemeClr val="tx1"/>
                  </a:solidFill>
                </a:ln>
              </p:spPr>
              <p:txBody>
                <a:bodyPr/>
                <a:lstStyle/>
                <a:p>
                  <a:r>
                    <a:rPr lang="en-US">
                      <a:noFill/>
                    </a:rPr>
                    <a:t> </a:t>
                  </a:r>
                </a:p>
              </p:txBody>
            </p:sp>
          </mc:Fallback>
        </mc:AlternateContent>
      </p:grpSp>
      <p:grpSp>
        <p:nvGrpSpPr>
          <p:cNvPr id="9" name="Group 8" descr="Suppose we then apply some algorithm to solve vertex cover">
            <a:extLst>
              <a:ext uri="{FF2B5EF4-FFF2-40B4-BE49-F238E27FC236}">
                <a16:creationId xmlns:a16="http://schemas.microsoft.com/office/drawing/2014/main" id="{1113F988-EC3E-222D-A705-96059FC4CC09}"/>
              </a:ext>
            </a:extLst>
          </p:cNvPr>
          <p:cNvGrpSpPr/>
          <p:nvPr/>
        </p:nvGrpSpPr>
        <p:grpSpPr>
          <a:xfrm>
            <a:off x="8917761" y="3273935"/>
            <a:ext cx="2678868" cy="1086255"/>
            <a:chOff x="8917761" y="3273935"/>
            <a:chExt cx="2678868" cy="1086255"/>
          </a:xfrm>
        </p:grpSpPr>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277" name="TextBox 276"/>
            <p:cNvSpPr txBox="1"/>
            <p:nvPr/>
          </p:nvSpPr>
          <p:spPr>
            <a:xfrm>
              <a:off x="9383607" y="3288855"/>
              <a:ext cx="2213022" cy="646331"/>
            </a:xfrm>
            <a:prstGeom prst="rect">
              <a:avLst/>
            </a:prstGeom>
            <a:noFill/>
          </p:spPr>
          <p:txBody>
            <a:bodyPr wrap="square" rtlCol="0">
              <a:spAutoFit/>
            </a:bodyPr>
            <a:lstStyle/>
            <a:p>
              <a:r>
                <a:rPr lang="en-US" dirty="0"/>
                <a:t>Any Algorithm for Vertex Cover</a:t>
              </a:r>
              <a:endParaRPr lang="en-US" b="1" dirty="0"/>
            </a:p>
          </p:txBody>
        </p:sp>
      </p:grpSp>
      <p:grpSp>
        <p:nvGrpSpPr>
          <p:cNvPr id="22" name="Group 21" descr="Now we have a vertex cover output: which will be either true or false indicating whether or not our graph had a subset of k nodes which satisfies the definition of a vertex cover.">
            <a:extLst>
              <a:ext uri="{FF2B5EF4-FFF2-40B4-BE49-F238E27FC236}">
                <a16:creationId xmlns:a16="http://schemas.microsoft.com/office/drawing/2014/main" id="{CBA1850D-27BD-D2D8-658E-DA8F2DACAED4}"/>
              </a:ext>
            </a:extLst>
          </p:cNvPr>
          <p:cNvGrpSpPr/>
          <p:nvPr/>
        </p:nvGrpSpPr>
        <p:grpSpPr>
          <a:xfrm>
            <a:off x="8001000" y="4495800"/>
            <a:ext cx="2362258" cy="1747348"/>
            <a:chOff x="8001000" y="4495800"/>
            <a:chExt cx="2362258" cy="1747348"/>
          </a:xfrm>
        </p:grpSpPr>
        <p:grpSp>
          <p:nvGrpSpPr>
            <p:cNvPr id="77" name="Group 76"/>
            <p:cNvGrpSpPr/>
            <p:nvPr/>
          </p:nvGrpSpPr>
          <p:grpSpPr>
            <a:xfrm>
              <a:off x="8915400" y="4953000"/>
              <a:ext cx="1447858" cy="1290148"/>
              <a:chOff x="657225" y="1481300"/>
              <a:chExt cx="5514975" cy="4914248"/>
            </a:xfrm>
          </p:grpSpPr>
          <p:cxnSp>
            <p:nvCxnSpPr>
              <p:cNvPr id="78" name="Straight Connector 77"/>
              <p:cNvCxnSpPr>
                <a:stCxn id="101" idx="1"/>
                <a:endCxn id="93"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92" idx="2"/>
                <a:endCxn id="101"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93" idx="1"/>
                <a:endCxn id="92"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96" idx="2"/>
                <a:endCxn id="92"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96" idx="3"/>
                <a:endCxn id="97"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97" idx="3"/>
                <a:endCxn id="94"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97" idx="2"/>
                <a:endCxn id="95"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95" idx="3"/>
                <a:endCxn id="98"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94" idx="2"/>
                <a:endCxn id="98"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97" idx="3"/>
                <a:endCxn id="99"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94" idx="0"/>
                <a:endCxn id="99"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93" idx="0"/>
                <a:endCxn id="98"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93" idx="0"/>
                <a:endCxn id="94"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1" name="Group 90"/>
              <p:cNvGrpSpPr/>
              <p:nvPr/>
            </p:nvGrpSpPr>
            <p:grpSpPr>
              <a:xfrm rot="10800000">
                <a:off x="2657024" y="5938347"/>
                <a:ext cx="530353" cy="457201"/>
                <a:chOff x="2133600" y="4191000"/>
                <a:chExt cx="1060704" cy="914400"/>
              </a:xfrm>
            </p:grpSpPr>
            <p:sp>
              <p:nvSpPr>
                <p:cNvPr id="100" name="Isosceles Triangle 99"/>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101" name="Rectangle 100"/>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92" name="Rectangle 91"/>
              <p:cNvSpPr/>
              <p:nvPr/>
            </p:nvSpPr>
            <p:spPr>
              <a:xfrm>
                <a:off x="1825487" y="4724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p:cNvSpPr/>
              <p:nvPr/>
            </p:nvSpPr>
            <p:spPr>
              <a:xfrm>
                <a:off x="4529667" y="5105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2849351" y="2218504"/>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p:cNvSpPr/>
              <p:nvPr/>
            </p:nvSpPr>
            <p:spPr>
              <a:xfrm>
                <a:off x="3801535" y="3882257"/>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p:cNvSpPr/>
              <p:nvPr/>
            </p:nvSpPr>
            <p:spPr>
              <a:xfrm>
                <a:off x="4258735" y="14813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4" name="TextBox 133"/>
            <p:cNvSpPr txBox="1"/>
            <p:nvPr/>
          </p:nvSpPr>
          <p:spPr>
            <a:xfrm>
              <a:off x="8001000" y="4495800"/>
              <a:ext cx="2105192" cy="369332"/>
            </a:xfrm>
            <a:prstGeom prst="rect">
              <a:avLst/>
            </a:prstGeom>
            <a:noFill/>
          </p:spPr>
          <p:txBody>
            <a:bodyPr wrap="none" rtlCol="0">
              <a:spAutoFit/>
            </a:bodyPr>
            <a:lstStyle/>
            <a:p>
              <a:r>
                <a:rPr lang="en-US" dirty="0"/>
                <a:t>Vertex Cover Output</a:t>
              </a:r>
            </a:p>
          </p:txBody>
        </p:sp>
      </p:grpSp>
      <p:grpSp>
        <p:nvGrpSpPr>
          <p:cNvPr id="40" name="Group 39" descr="We then apply an algorithm to translate the vertex cover answer into the correct answer for independent set.&#10;&#10;In this case, because the complement of a vertex cover is an independent set, and vice-versa, we can simply reply with the same answer.">
            <a:extLst>
              <a:ext uri="{FF2B5EF4-FFF2-40B4-BE49-F238E27FC236}">
                <a16:creationId xmlns:a16="http://schemas.microsoft.com/office/drawing/2014/main" id="{A3D12807-27DC-449D-895F-053E4386F003}"/>
              </a:ext>
            </a:extLst>
          </p:cNvPr>
          <p:cNvGrpSpPr/>
          <p:nvPr/>
        </p:nvGrpSpPr>
        <p:grpSpPr>
          <a:xfrm>
            <a:off x="4480837" y="4247821"/>
            <a:ext cx="3333428" cy="1585959"/>
            <a:chOff x="4480837" y="4247821"/>
            <a:chExt cx="3333428" cy="1585959"/>
          </a:xfrm>
        </p:grpSpPr>
        <p:grpSp>
          <p:nvGrpSpPr>
            <p:cNvPr id="23" name="Group 22" descr="Next we apply an algorithm which maps the output from vertex c">
              <a:extLst>
                <a:ext uri="{FF2B5EF4-FFF2-40B4-BE49-F238E27FC236}">
                  <a16:creationId xmlns:a16="http://schemas.microsoft.com/office/drawing/2014/main" id="{DD034C5C-F64A-4D7A-8427-EFD492CE7A8F}"/>
                </a:ext>
              </a:extLst>
            </p:cNvPr>
            <p:cNvGrpSpPr/>
            <p:nvPr/>
          </p:nvGrpSpPr>
          <p:grpSpPr>
            <a:xfrm>
              <a:off x="4480837" y="4247821"/>
              <a:ext cx="3333428" cy="1585959"/>
              <a:chOff x="4480837" y="4247821"/>
              <a:chExt cx="3333428" cy="1585959"/>
            </a:xfrm>
          </p:grpSpPr>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278" name="TextBox 277"/>
              <p:cNvSpPr txBox="1"/>
              <p:nvPr/>
            </p:nvSpPr>
            <p:spPr>
              <a:xfrm>
                <a:off x="4480837" y="4247821"/>
                <a:ext cx="3333428" cy="646331"/>
              </a:xfrm>
              <a:prstGeom prst="rect">
                <a:avLst/>
              </a:prstGeom>
              <a:noFill/>
            </p:spPr>
            <p:txBody>
              <a:bodyPr wrap="square" rtlCol="0">
                <a:spAutoFit/>
              </a:bodyPr>
              <a:lstStyle/>
              <a:p>
                <a:r>
                  <a:rPr lang="en-US" dirty="0"/>
                  <a:t>Relate Independent Set output to Vertex Cover output</a:t>
                </a:r>
              </a:p>
            </p:txBody>
          </p:sp>
        </p:grpSp>
        <p:sp>
          <p:nvSpPr>
            <p:cNvPr id="187" name="TextBox 186">
              <a:extLst>
                <a:ext uri="{FF2B5EF4-FFF2-40B4-BE49-F238E27FC236}">
                  <a16:creationId xmlns:a16="http://schemas.microsoft.com/office/drawing/2014/main" id="{7F72647E-905F-6524-BE7F-93BDA79853DE}"/>
                </a:ext>
              </a:extLst>
            </p:cNvPr>
            <p:cNvSpPr txBox="1"/>
            <p:nvPr/>
          </p:nvSpPr>
          <p:spPr>
            <a:xfrm>
              <a:off x="5442120" y="5164090"/>
              <a:ext cx="2025480" cy="369332"/>
            </a:xfrm>
            <a:prstGeom prst="rect">
              <a:avLst/>
            </a:prstGeom>
            <a:noFill/>
          </p:spPr>
          <p:txBody>
            <a:bodyPr wrap="square" rtlCol="0">
              <a:spAutoFit/>
            </a:bodyPr>
            <a:lstStyle/>
            <a:p>
              <a:r>
                <a:rPr lang="en-US" dirty="0">
                  <a:solidFill>
                    <a:schemeClr val="accent2">
                      <a:lumMod val="50000"/>
                    </a:schemeClr>
                  </a:solidFill>
                </a:rPr>
                <a:t>Give same output</a:t>
              </a:r>
            </a:p>
          </p:txBody>
        </p:sp>
      </p:grpSp>
      <p:grpSp>
        <p:nvGrpSpPr>
          <p:cNvPr id="41" name="Group 40" descr="Now we have our solution to independent set!">
            <a:extLst>
              <a:ext uri="{FF2B5EF4-FFF2-40B4-BE49-F238E27FC236}">
                <a16:creationId xmlns:a16="http://schemas.microsoft.com/office/drawing/2014/main" id="{386F1FF3-81E2-50EA-6D21-688CD3954E4F}"/>
              </a:ext>
            </a:extLst>
          </p:cNvPr>
          <p:cNvGrpSpPr/>
          <p:nvPr/>
        </p:nvGrpSpPr>
        <p:grpSpPr>
          <a:xfrm>
            <a:off x="1652487" y="4509843"/>
            <a:ext cx="2468817" cy="1754299"/>
            <a:chOff x="1652487" y="4509843"/>
            <a:chExt cx="2468817" cy="1754299"/>
          </a:xfrm>
        </p:grpSpPr>
        <p:sp>
          <p:nvSpPr>
            <p:cNvPr id="135" name="TextBox 134"/>
            <p:cNvSpPr txBox="1"/>
            <p:nvPr/>
          </p:nvSpPr>
          <p:spPr>
            <a:xfrm>
              <a:off x="1652487" y="4509843"/>
              <a:ext cx="2468817" cy="369332"/>
            </a:xfrm>
            <a:prstGeom prst="rect">
              <a:avLst/>
            </a:prstGeom>
            <a:noFill/>
          </p:spPr>
          <p:txBody>
            <a:bodyPr wrap="none" rtlCol="0">
              <a:spAutoFit/>
            </a:bodyPr>
            <a:lstStyle/>
            <a:p>
              <a:r>
                <a:rPr lang="en-US" dirty="0"/>
                <a:t>Independent Set Output</a:t>
              </a:r>
            </a:p>
          </p:txBody>
        </p:sp>
        <p:grpSp>
          <p:nvGrpSpPr>
            <p:cNvPr id="46" name="Group 45">
              <a:extLst>
                <a:ext uri="{FF2B5EF4-FFF2-40B4-BE49-F238E27FC236}">
                  <a16:creationId xmlns:a16="http://schemas.microsoft.com/office/drawing/2014/main" id="{E19A87E9-1F6B-18AA-95CD-110C748633FF}"/>
                </a:ext>
              </a:extLst>
            </p:cNvPr>
            <p:cNvGrpSpPr/>
            <p:nvPr/>
          </p:nvGrpSpPr>
          <p:grpSpPr>
            <a:xfrm>
              <a:off x="1888757" y="5038058"/>
              <a:ext cx="1876006" cy="1226084"/>
              <a:chOff x="1650264" y="1218142"/>
              <a:chExt cx="8281702" cy="5412596"/>
            </a:xfrm>
          </p:grpSpPr>
          <p:grpSp>
            <p:nvGrpSpPr>
              <p:cNvPr id="47" name="Group 46">
                <a:extLst>
                  <a:ext uri="{FF2B5EF4-FFF2-40B4-BE49-F238E27FC236}">
                    <a16:creationId xmlns:a16="http://schemas.microsoft.com/office/drawing/2014/main" id="{69A4F974-663B-6C2C-9AA5-1F2DE17BB5C0}"/>
                  </a:ext>
                </a:extLst>
              </p:cNvPr>
              <p:cNvGrpSpPr/>
              <p:nvPr/>
            </p:nvGrpSpPr>
            <p:grpSpPr>
              <a:xfrm>
                <a:off x="1650264" y="1218142"/>
                <a:ext cx="8281702" cy="4725458"/>
                <a:chOff x="1650264" y="1218142"/>
                <a:chExt cx="8281702" cy="4725458"/>
              </a:xfrm>
            </p:grpSpPr>
            <p:sp>
              <p:nvSpPr>
                <p:cNvPr id="179" name="Oval 178">
                  <a:extLst>
                    <a:ext uri="{FF2B5EF4-FFF2-40B4-BE49-F238E27FC236}">
                      <a16:creationId xmlns:a16="http://schemas.microsoft.com/office/drawing/2014/main" id="{16D9E123-632F-933D-8DF8-4955A59E8E45}"/>
                    </a:ext>
                  </a:extLst>
                </p:cNvPr>
                <p:cNvSpPr/>
                <p:nvPr/>
              </p:nvSpPr>
              <p:spPr>
                <a:xfrm>
                  <a:off x="1650264" y="1218142"/>
                  <a:ext cx="1193396" cy="1085135"/>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6663420E-2AEB-CC08-AF83-B002CED52F98}"/>
                    </a:ext>
                  </a:extLst>
                </p:cNvPr>
                <p:cNvSpPr/>
                <p:nvPr/>
              </p:nvSpPr>
              <p:spPr>
                <a:xfrm>
                  <a:off x="1930334" y="2389557"/>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a:extLst>
                    <a:ext uri="{FF2B5EF4-FFF2-40B4-BE49-F238E27FC236}">
                      <a16:creationId xmlns:a16="http://schemas.microsoft.com/office/drawing/2014/main" id="{BDEC8800-9EE3-95D0-82E6-8098B0FEC53D}"/>
                    </a:ext>
                  </a:extLst>
                </p:cNvPr>
                <p:cNvSpPr/>
                <p:nvPr/>
              </p:nvSpPr>
              <p:spPr>
                <a:xfrm>
                  <a:off x="3658898" y="3089427"/>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8124017A-49D4-C005-E7DB-C5CCD89CBE22}"/>
                    </a:ext>
                  </a:extLst>
                </p:cNvPr>
                <p:cNvSpPr/>
                <p:nvPr/>
              </p:nvSpPr>
              <p:spPr>
                <a:xfrm>
                  <a:off x="4495800" y="4605706"/>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DAC7CC1B-781D-0287-FFE2-0E81E6CCC5E3}"/>
                    </a:ext>
                  </a:extLst>
                </p:cNvPr>
                <p:cNvSpPr/>
                <p:nvPr/>
              </p:nvSpPr>
              <p:spPr>
                <a:xfrm>
                  <a:off x="8660959" y="3575103"/>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D7ACB489-D15A-C52F-C2F9-FAC08377A901}"/>
                    </a:ext>
                  </a:extLst>
                </p:cNvPr>
                <p:cNvSpPr/>
                <p:nvPr/>
              </p:nvSpPr>
              <p:spPr>
                <a:xfrm>
                  <a:off x="2593975" y="3638669"/>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17439770-DDCD-AF0B-9138-AFC8C47C10F5}"/>
                  </a:ext>
                </a:extLst>
              </p:cNvPr>
              <p:cNvGrpSpPr/>
              <p:nvPr/>
            </p:nvGrpSpPr>
            <p:grpSpPr>
              <a:xfrm>
                <a:off x="1822926" y="1377631"/>
                <a:ext cx="7796089" cy="5253107"/>
                <a:chOff x="1822926" y="1377631"/>
                <a:chExt cx="7796089" cy="5253107"/>
              </a:xfrm>
            </p:grpSpPr>
            <p:pic>
              <p:nvPicPr>
                <p:cNvPr id="49" name="Picture 2" descr="Image result for Prince Harry">
                  <a:extLst>
                    <a:ext uri="{FF2B5EF4-FFF2-40B4-BE49-F238E27FC236}">
                      <a16:creationId xmlns:a16="http://schemas.microsoft.com/office/drawing/2014/main" id="{CEE9C4FF-1DCA-4381-A2AD-30744335A0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50" name="Picture 4" descr="Image result for meghan markle">
                  <a:extLst>
                    <a:ext uri="{FF2B5EF4-FFF2-40B4-BE49-F238E27FC236}">
                      <a16:creationId xmlns:a16="http://schemas.microsoft.com/office/drawing/2014/main" id="{37F8B372-6617-0FD9-499D-33017E554DB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51" name="Picture 6" descr="Image result for Prince Charles">
                  <a:extLst>
                    <a:ext uri="{FF2B5EF4-FFF2-40B4-BE49-F238E27FC236}">
                      <a16:creationId xmlns:a16="http://schemas.microsoft.com/office/drawing/2014/main" id="{8E034901-689B-E2D9-B567-E4CB2213D36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07" name="Picture 18" descr="Image result for justin trudeau">
                  <a:extLst>
                    <a:ext uri="{FF2B5EF4-FFF2-40B4-BE49-F238E27FC236}">
                      <a16:creationId xmlns:a16="http://schemas.microsoft.com/office/drawing/2014/main" id="{04FA622E-B8A9-8798-9141-FA4D29DB419D}"/>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1" name="Picture 20" descr="Image result for Elton John">
                  <a:extLst>
                    <a:ext uri="{FF2B5EF4-FFF2-40B4-BE49-F238E27FC236}">
                      <a16:creationId xmlns:a16="http://schemas.microsoft.com/office/drawing/2014/main" id="{360124E0-E4A6-1384-E7C7-7BD668405BC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2" name="Picture 34" descr="Image result for angela merkel">
                  <a:extLst>
                    <a:ext uri="{FF2B5EF4-FFF2-40B4-BE49-F238E27FC236}">
                      <a16:creationId xmlns:a16="http://schemas.microsoft.com/office/drawing/2014/main" id="{1B21663A-6BEE-093E-1083-4AC97DCF72A8}"/>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3" name="Picture 36" descr="Image result for paul mccartney">
                  <a:extLst>
                    <a:ext uri="{FF2B5EF4-FFF2-40B4-BE49-F238E27FC236}">
                      <a16:creationId xmlns:a16="http://schemas.microsoft.com/office/drawing/2014/main" id="{CEB7CE71-0E12-887A-5062-AFA91BF0E7FC}"/>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64" name="Straight Connector 163">
                  <a:extLst>
                    <a:ext uri="{FF2B5EF4-FFF2-40B4-BE49-F238E27FC236}">
                      <a16:creationId xmlns:a16="http://schemas.microsoft.com/office/drawing/2014/main" id="{1452ABE7-FF69-0C4C-C9CF-72B683FB36AC}"/>
                    </a:ext>
                  </a:extLst>
                </p:cNvPr>
                <p:cNvCxnSpPr>
                  <a:stCxn id="50" idx="3"/>
                </p:cNvCxnSpPr>
                <p:nvPr/>
              </p:nvCxnSpPr>
              <p:spPr>
                <a:xfrm>
                  <a:off x="4616953" y="3727451"/>
                  <a:ext cx="1313486" cy="4137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00C5D898-8CDC-7E68-E423-33E3B92443E9}"/>
                    </a:ext>
                  </a:extLst>
                </p:cNvPr>
                <p:cNvCxnSpPr>
                  <a:stCxn id="49" idx="3"/>
                  <a:endCxn id="163" idx="1"/>
                </p:cNvCxnSpPr>
                <p:nvPr/>
              </p:nvCxnSpPr>
              <p:spPr>
                <a:xfrm flipV="1">
                  <a:off x="2989647" y="3034948"/>
                  <a:ext cx="4698775" cy="211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D22061D3-46F0-A228-54D7-BB55F0645D6C}"/>
                    </a:ext>
                  </a:extLst>
                </p:cNvPr>
                <p:cNvCxnSpPr>
                  <a:stCxn id="51" idx="1"/>
                  <a:endCxn id="163" idx="2"/>
                </p:cNvCxnSpPr>
                <p:nvPr/>
              </p:nvCxnSpPr>
              <p:spPr>
                <a:xfrm flipH="1" flipV="1">
                  <a:off x="8077575" y="3480168"/>
                  <a:ext cx="896336" cy="7854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9E87279C-FF1B-9DB3-A17B-CEF0043E67AC}"/>
                    </a:ext>
                  </a:extLst>
                </p:cNvPr>
                <p:cNvCxnSpPr>
                  <a:stCxn id="51" idx="1"/>
                </p:cNvCxnSpPr>
                <p:nvPr/>
              </p:nvCxnSpPr>
              <p:spPr>
                <a:xfrm flipH="1" flipV="1">
                  <a:off x="6617443" y="4141234"/>
                  <a:ext cx="2356468" cy="1244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7BC410CD-B196-68B7-549E-D16754BCFCE4}"/>
                    </a:ext>
                  </a:extLst>
                </p:cNvPr>
                <p:cNvCxnSpPr>
                  <a:stCxn id="51" idx="1"/>
                  <a:endCxn id="161" idx="3"/>
                </p:cNvCxnSpPr>
                <p:nvPr/>
              </p:nvCxnSpPr>
              <p:spPr>
                <a:xfrm flipH="1">
                  <a:off x="7752241" y="4265645"/>
                  <a:ext cx="1221671" cy="8253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E4152194-3C0D-445F-4764-9554A1CD25A6}"/>
                    </a:ext>
                  </a:extLst>
                </p:cNvPr>
                <p:cNvCxnSpPr>
                  <a:stCxn id="51" idx="1"/>
                  <a:endCxn id="107" idx="0"/>
                </p:cNvCxnSpPr>
                <p:nvPr/>
              </p:nvCxnSpPr>
              <p:spPr>
                <a:xfrm flipH="1">
                  <a:off x="8277849" y="4265644"/>
                  <a:ext cx="696063" cy="15156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6E38B35-9756-5FFD-6761-8EA6EE44E069}"/>
                    </a:ext>
                  </a:extLst>
                </p:cNvPr>
                <p:cNvCxnSpPr>
                  <a:stCxn id="107" idx="1"/>
                </p:cNvCxnSpPr>
                <p:nvPr/>
              </p:nvCxnSpPr>
              <p:spPr>
                <a:xfrm flipH="1" flipV="1">
                  <a:off x="2565838" y="5714723"/>
                  <a:ext cx="5437606" cy="4912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041C7577-57BD-DB2D-43B9-4AD383D8D87D}"/>
                    </a:ext>
                  </a:extLst>
                </p:cNvPr>
                <p:cNvCxnSpPr>
                  <a:stCxn id="161" idx="1"/>
                  <a:endCxn id="162" idx="3"/>
                </p:cNvCxnSpPr>
                <p:nvPr/>
              </p:nvCxnSpPr>
              <p:spPr>
                <a:xfrm flipH="1">
                  <a:off x="5498659" y="5091000"/>
                  <a:ext cx="1671374" cy="1425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3C740785-0714-00FF-F8A4-3788C9A83620}"/>
                    </a:ext>
                  </a:extLst>
                </p:cNvPr>
                <p:cNvCxnSpPr/>
                <p:nvPr/>
              </p:nvCxnSpPr>
              <p:spPr>
                <a:xfrm flipH="1">
                  <a:off x="2289175" y="4525894"/>
                  <a:ext cx="815802" cy="7742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73" name="Picture 2" descr="Joe Biden - CNBC">
                  <a:extLst>
                    <a:ext uri="{FF2B5EF4-FFF2-40B4-BE49-F238E27FC236}">
                      <a16:creationId xmlns:a16="http://schemas.microsoft.com/office/drawing/2014/main" id="{5ACFECFC-6F66-27BC-C502-D3006972BE19}"/>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4" name="Picture 4" descr="Emmanuel Macron - Wikipedia">
                  <a:extLst>
                    <a:ext uri="{FF2B5EF4-FFF2-40B4-BE49-F238E27FC236}">
                      <a16:creationId xmlns:a16="http://schemas.microsoft.com/office/drawing/2014/main" id="{079D8B1C-5A1F-ADFE-E4EA-860C1823E2DB}"/>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5" name="Picture 6" descr="Taylor Swift set to make her feature directorial debut | CNN">
                  <a:extLst>
                    <a:ext uri="{FF2B5EF4-FFF2-40B4-BE49-F238E27FC236}">
                      <a16:creationId xmlns:a16="http://schemas.microsoft.com/office/drawing/2014/main" id="{EAAE20C6-490B-63B1-E7CB-F16ECE3A20D6}"/>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76" name="Straight Connector 175">
                  <a:extLst>
                    <a:ext uri="{FF2B5EF4-FFF2-40B4-BE49-F238E27FC236}">
                      <a16:creationId xmlns:a16="http://schemas.microsoft.com/office/drawing/2014/main" id="{F0D7C3E0-7523-46AC-53F7-705ED17A9E4B}"/>
                    </a:ext>
                  </a:extLst>
                </p:cNvPr>
                <p:cNvCxnSpPr/>
                <p:nvPr/>
              </p:nvCxnSpPr>
              <p:spPr>
                <a:xfrm>
                  <a:off x="2446445" y="1797566"/>
                  <a:ext cx="743692" cy="460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77" name="Picture 8" descr="Ed Sheeran">
                  <a:extLst>
                    <a:ext uri="{FF2B5EF4-FFF2-40B4-BE49-F238E27FC236}">
                      <a16:creationId xmlns:a16="http://schemas.microsoft.com/office/drawing/2014/main" id="{4EB42BD1-3ED5-FD8C-DF85-27DEBBDA2B8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8" name="Picture 10" descr="Pharrell Williams - Age, Wife &amp; &quot;Happy&quot;">
                  <a:extLst>
                    <a:ext uri="{FF2B5EF4-FFF2-40B4-BE49-F238E27FC236}">
                      <a16:creationId xmlns:a16="http://schemas.microsoft.com/office/drawing/2014/main" id="{C478FD9F-704F-4C8B-DAE9-DBB195B7F3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grpSp>
        </p:grpSp>
      </p:grpSp>
      <p:grpSp>
        <p:nvGrpSpPr>
          <p:cNvPr id="42" name="Group 41" descr="The combination of the two mapping algorithms (from independent set instance of vertex cover instance, from vertex cover answer to independent set answer) is considered to be the reduction.&#10;&#10;The running time of the reduction is the sum of the running times of these two algorithms, which is O(V) in this case.">
            <a:extLst>
              <a:ext uri="{FF2B5EF4-FFF2-40B4-BE49-F238E27FC236}">
                <a16:creationId xmlns:a16="http://schemas.microsoft.com/office/drawing/2014/main" id="{959BAC20-00B1-C122-34FC-FF12E408F591}"/>
              </a:ext>
            </a:extLst>
          </p:cNvPr>
          <p:cNvGrpSpPr/>
          <p:nvPr/>
        </p:nvGrpSpPr>
        <p:grpSpPr>
          <a:xfrm>
            <a:off x="4377238" y="1371601"/>
            <a:ext cx="3326990" cy="5245217"/>
            <a:chOff x="4377238" y="1371601"/>
            <a:chExt cx="3326990" cy="5245217"/>
          </a:xfrm>
        </p:grpSpPr>
        <p:sp>
          <p:nvSpPr>
            <p:cNvPr id="34" name="Rectangle 33"/>
            <p:cNvSpPr/>
            <p:nvPr/>
          </p:nvSpPr>
          <p:spPr>
            <a:xfrm>
              <a:off x="4377238" y="1773199"/>
              <a:ext cx="3326990" cy="4843619"/>
            </a:xfrm>
            <a:prstGeom prst="rect">
              <a:avLst/>
            </a:prstGeom>
            <a:solidFill>
              <a:srgbClr val="FFA7FF">
                <a:alpha val="3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p:sp>
          <p:nvSpPr>
            <p:cNvPr id="131" name="TextBox 130"/>
            <p:cNvSpPr txBox="1"/>
            <p:nvPr/>
          </p:nvSpPr>
          <p:spPr>
            <a:xfrm>
              <a:off x="5114986" y="1371601"/>
              <a:ext cx="1438214" cy="461665"/>
            </a:xfrm>
            <a:prstGeom prst="rect">
              <a:avLst/>
            </a:prstGeom>
            <a:noFill/>
          </p:spPr>
          <p:txBody>
            <a:bodyPr wrap="none" rtlCol="0">
              <a:spAutoFit/>
            </a:bodyPr>
            <a:lstStyle/>
            <a:p>
              <a:r>
                <a:rPr lang="en-US" sz="2400" dirty="0">
                  <a:solidFill>
                    <a:srgbClr val="FF33CC"/>
                  </a:solidFill>
                </a:rPr>
                <a:t>O(V) Time</a:t>
              </a:r>
            </a:p>
          </p:txBody>
        </p:sp>
      </p:grpSp>
    </p:spTree>
    <p:extLst>
      <p:ext uri="{BB962C8B-B14F-4D97-AF65-F5344CB8AC3E}">
        <p14:creationId xmlns:p14="http://schemas.microsoft.com/office/powerpoint/2010/main" val="847280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p:txBody>
          <a:bodyPr/>
          <a:lstStyle/>
          <a:p>
            <a:r>
              <a:rPr lang="en-US" dirty="0"/>
              <a:t>Reduction Analogy</a:t>
            </a:r>
          </a:p>
        </p:txBody>
      </p:sp>
      <p:sp>
        <p:nvSpPr>
          <p:cNvPr id="5" name="Rectangle 3"/>
          <p:cNvSpPr txBox="1">
            <a:spLocks noChangeArrowheads="1"/>
          </p:cNvSpPr>
          <p:nvPr/>
        </p:nvSpPr>
        <p:spPr>
          <a:xfrm>
            <a:off x="612458" y="1143000"/>
            <a:ext cx="10969943" cy="90347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en-US" sz="2800" dirty="0"/>
              <a:t> Shows how two different problems relate to each other</a:t>
            </a:r>
          </a:p>
          <a:p>
            <a:endParaRPr lang="en-US" altLang="en-US" sz="2800" dirty="0"/>
          </a:p>
          <a:p>
            <a:pPr marL="0" indent="0">
              <a:buNone/>
            </a:pPr>
            <a:endParaRPr lang="en-US" altLang="en-US" sz="2800" dirty="0"/>
          </a:p>
          <a:p>
            <a:endParaRPr lang="en-US" altLang="en-US" sz="2800" dirty="0"/>
          </a:p>
          <a:p>
            <a:endParaRPr lang="en-US" altLang="en-US" sz="2800" dirty="0"/>
          </a:p>
          <a:p>
            <a:pPr>
              <a:buFontTx/>
              <a:buNone/>
            </a:pPr>
            <a:endParaRPr lang="en-US" altLang="en-US" sz="2800" dirty="0"/>
          </a:p>
        </p:txBody>
      </p:sp>
      <p:pic>
        <p:nvPicPr>
          <p:cNvPr id="6" name="Picture 2">
            <a:extLst>
              <a:ext uri="{C183D7F6-B498-43B3-948B-1728B52AA6E4}">
                <adec:decorative xmlns:adec="http://schemas.microsoft.com/office/drawing/2017/decorative" val="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3846" y="3533681"/>
            <a:ext cx="2691090" cy="32918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9072" y="2325272"/>
            <a:ext cx="4456528" cy="445652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C183D7F6-B498-43B3-948B-1728B52AA6E4}">
                <adec:decorative xmlns:adec="http://schemas.microsoft.com/office/drawing/2017/decorative" val="1"/>
              </a:ext>
            </a:extLst>
          </p:cNvPr>
          <p:cNvSpPr txBox="1"/>
          <p:nvPr/>
        </p:nvSpPr>
        <p:spPr>
          <a:xfrm rot="20597852">
            <a:off x="1559784" y="2207720"/>
            <a:ext cx="5819668" cy="769441"/>
          </a:xfrm>
          <a:prstGeom prst="rect">
            <a:avLst/>
          </a:prstGeom>
          <a:noFill/>
        </p:spPr>
        <p:txBody>
          <a:bodyPr wrap="square" rtlCol="0">
            <a:spAutoFit/>
          </a:bodyPr>
          <a:lstStyle/>
          <a:p>
            <a:r>
              <a:rPr lang="en-US" sz="4400" b="1" dirty="0">
                <a:solidFill>
                  <a:srgbClr val="FF0000"/>
                </a:solidFill>
                <a:latin typeface="Ravie" panose="04040805050809020602" pitchFamily="82" charset="0"/>
              </a:rPr>
              <a:t>MOVIE TIME!</a:t>
            </a:r>
          </a:p>
        </p:txBody>
      </p:sp>
    </p:spTree>
    <p:extLst>
      <p:ext uri="{BB962C8B-B14F-4D97-AF65-F5344CB8AC3E}">
        <p14:creationId xmlns:p14="http://schemas.microsoft.com/office/powerpoint/2010/main" val="209057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par>
                                <p:cTn id="11" presetID="3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1000" fill="hold"/>
                                        <p:tgtEl>
                                          <p:spTgt spid="6"/>
                                        </p:tgtEl>
                                        <p:attrNameLst>
                                          <p:attrName>ppt_w</p:attrName>
                                        </p:attrNameLst>
                                      </p:cBhvr>
                                      <p:tavLst>
                                        <p:tav tm="0">
                                          <p:val>
                                            <p:fltVal val="0"/>
                                          </p:val>
                                        </p:tav>
                                        <p:tav tm="100000">
                                          <p:val>
                                            <p:strVal val="#ppt_w"/>
                                          </p:val>
                                        </p:tav>
                                      </p:tavLst>
                                    </p:anim>
                                    <p:anim calcmode="lin" valueType="num">
                                      <p:cBhvr>
                                        <p:cTn id="14" dur="1000" fill="hold"/>
                                        <p:tgtEl>
                                          <p:spTgt spid="6"/>
                                        </p:tgtEl>
                                        <p:attrNameLst>
                                          <p:attrName>ppt_h</p:attrName>
                                        </p:attrNameLst>
                                      </p:cBhvr>
                                      <p:tavLst>
                                        <p:tav tm="0">
                                          <p:val>
                                            <p:fltVal val="0"/>
                                          </p:val>
                                        </p:tav>
                                        <p:tav tm="100000">
                                          <p:val>
                                            <p:strVal val="#ppt_h"/>
                                          </p:val>
                                        </p:tav>
                                      </p:tavLst>
                                    </p:anim>
                                    <p:anim calcmode="lin" valueType="num">
                                      <p:cBhvr>
                                        <p:cTn id="15" dur="1000" fill="hold"/>
                                        <p:tgtEl>
                                          <p:spTgt spid="6"/>
                                        </p:tgtEl>
                                        <p:attrNameLst>
                                          <p:attrName>style.rotation</p:attrName>
                                        </p:attrNameLst>
                                      </p:cBhvr>
                                      <p:tavLst>
                                        <p:tav tm="0">
                                          <p:val>
                                            <p:fltVal val="90"/>
                                          </p:val>
                                        </p:tav>
                                        <p:tav tm="100000">
                                          <p:val>
                                            <p:fltVal val="0"/>
                                          </p:val>
                                        </p:tav>
                                      </p:tavLst>
                                    </p:anim>
                                    <p:animEffect transition="in" filter="fade">
                                      <p:cBhvr>
                                        <p:cTn id="16" dur="1000"/>
                                        <p:tgtEl>
                                          <p:spTgt spid="6"/>
                                        </p:tgtEl>
                                      </p:cBhvr>
                                    </p:animEffect>
                                  </p:childTnLst>
                                </p:cTn>
                              </p:par>
                              <p:par>
                                <p:cTn id="17" presetID="3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1000" fill="hold"/>
                                        <p:tgtEl>
                                          <p:spTgt spid="7"/>
                                        </p:tgtEl>
                                        <p:attrNameLst>
                                          <p:attrName>ppt_w</p:attrName>
                                        </p:attrNameLst>
                                      </p:cBhvr>
                                      <p:tavLst>
                                        <p:tav tm="0">
                                          <p:val>
                                            <p:fltVal val="0"/>
                                          </p:val>
                                        </p:tav>
                                        <p:tav tm="100000">
                                          <p:val>
                                            <p:strVal val="#ppt_w"/>
                                          </p:val>
                                        </p:tav>
                                      </p:tavLst>
                                    </p:anim>
                                    <p:anim calcmode="lin" valueType="num">
                                      <p:cBhvr>
                                        <p:cTn id="20" dur="1000" fill="hold"/>
                                        <p:tgtEl>
                                          <p:spTgt spid="7"/>
                                        </p:tgtEl>
                                        <p:attrNameLst>
                                          <p:attrName>ppt_h</p:attrName>
                                        </p:attrNameLst>
                                      </p:cBhvr>
                                      <p:tavLst>
                                        <p:tav tm="0">
                                          <p:val>
                                            <p:fltVal val="0"/>
                                          </p:val>
                                        </p:tav>
                                        <p:tav tm="100000">
                                          <p:val>
                                            <p:strVal val="#ppt_h"/>
                                          </p:val>
                                        </p:tav>
                                      </p:tavLst>
                                    </p:anim>
                                    <p:anim calcmode="lin" valueType="num">
                                      <p:cBhvr>
                                        <p:cTn id="21" dur="1000" fill="hold"/>
                                        <p:tgtEl>
                                          <p:spTgt spid="7"/>
                                        </p:tgtEl>
                                        <p:attrNameLst>
                                          <p:attrName>style.rotation</p:attrName>
                                        </p:attrNameLst>
                                      </p:cBhvr>
                                      <p:tavLst>
                                        <p:tav tm="0">
                                          <p:val>
                                            <p:fltVal val="90"/>
                                          </p:val>
                                        </p:tav>
                                        <p:tav tm="100000">
                                          <p:val>
                                            <p:fltVal val="0"/>
                                          </p:val>
                                        </p:tav>
                                      </p:tavLst>
                                    </p:anim>
                                    <p:animEffect transition="in" filter="fade">
                                      <p:cBhvr>
                                        <p:cTn id="22" dur="1000"/>
                                        <p:tgtEl>
                                          <p:spTgt spid="7"/>
                                        </p:tgtEl>
                                      </p:cBhvr>
                                    </p:animEffect>
                                  </p:childTnLst>
                                </p:cTn>
                              </p:par>
                            </p:childTnLst>
                          </p:cTn>
                        </p:par>
                        <p:par>
                          <p:cTn id="23" fill="hold">
                            <p:stCondLst>
                              <p:cond delay="1000"/>
                            </p:stCondLst>
                            <p:childTnLst>
                              <p:par>
                                <p:cTn id="24" presetID="32" presetClass="emph" presetSubtype="0" repeatCount="3000" fill="hold" grpId="1" nodeType="afterEffect">
                                  <p:stCondLst>
                                    <p:cond delay="0"/>
                                  </p:stCondLst>
                                  <p:childTnLst>
                                    <p:animRot by="120000">
                                      <p:cBhvr>
                                        <p:cTn id="25" dur="100" fill="hold">
                                          <p:stCondLst>
                                            <p:cond delay="0"/>
                                          </p:stCondLst>
                                        </p:cTn>
                                        <p:tgtEl>
                                          <p:spTgt spid="8"/>
                                        </p:tgtEl>
                                        <p:attrNameLst>
                                          <p:attrName>r</p:attrName>
                                        </p:attrNameLst>
                                      </p:cBhvr>
                                    </p:animRot>
                                    <p:animRot by="-240000">
                                      <p:cBhvr>
                                        <p:cTn id="26" dur="200" fill="hold">
                                          <p:stCondLst>
                                            <p:cond delay="200"/>
                                          </p:stCondLst>
                                        </p:cTn>
                                        <p:tgtEl>
                                          <p:spTgt spid="8"/>
                                        </p:tgtEl>
                                        <p:attrNameLst>
                                          <p:attrName>r</p:attrName>
                                        </p:attrNameLst>
                                      </p:cBhvr>
                                    </p:animRot>
                                    <p:animRot by="240000">
                                      <p:cBhvr>
                                        <p:cTn id="27" dur="200" fill="hold">
                                          <p:stCondLst>
                                            <p:cond delay="400"/>
                                          </p:stCondLst>
                                        </p:cTn>
                                        <p:tgtEl>
                                          <p:spTgt spid="8"/>
                                        </p:tgtEl>
                                        <p:attrNameLst>
                                          <p:attrName>r</p:attrName>
                                        </p:attrNameLst>
                                      </p:cBhvr>
                                    </p:animRot>
                                    <p:animRot by="-240000">
                                      <p:cBhvr>
                                        <p:cTn id="28" dur="200" fill="hold">
                                          <p:stCondLst>
                                            <p:cond delay="600"/>
                                          </p:stCondLst>
                                        </p:cTn>
                                        <p:tgtEl>
                                          <p:spTgt spid="8"/>
                                        </p:tgtEl>
                                        <p:attrNameLst>
                                          <p:attrName>r</p:attrName>
                                        </p:attrNameLst>
                                      </p:cBhvr>
                                    </p:animRot>
                                    <p:animRot by="120000">
                                      <p:cBhvr>
                                        <p:cTn id="29" dur="200" fill="hold">
                                          <p:stCondLst>
                                            <p:cond delay="800"/>
                                          </p:stCondLst>
                                        </p:cTn>
                                        <p:tgtEl>
                                          <p:spTgt spid="8"/>
                                        </p:tgtEl>
                                        <p:attrNameLst>
                                          <p:attrName>r</p:attrName>
                                        </p:attrNameLst>
                                      </p:cBhvr>
                                    </p:animRot>
                                  </p:childTnLst>
                                </p:cTn>
                              </p:par>
                              <p:par>
                                <p:cTn id="30" presetID="32" presetClass="emph" presetSubtype="0" repeatCount="3000" fill="hold" nodeType="withEffect">
                                  <p:stCondLst>
                                    <p:cond delay="0"/>
                                  </p:stCondLst>
                                  <p:childTnLst>
                                    <p:animRot by="120000">
                                      <p:cBhvr>
                                        <p:cTn id="31" dur="100" fill="hold">
                                          <p:stCondLst>
                                            <p:cond delay="0"/>
                                          </p:stCondLst>
                                        </p:cTn>
                                        <p:tgtEl>
                                          <p:spTgt spid="6"/>
                                        </p:tgtEl>
                                        <p:attrNameLst>
                                          <p:attrName>r</p:attrName>
                                        </p:attrNameLst>
                                      </p:cBhvr>
                                    </p:animRot>
                                    <p:animRot by="-240000">
                                      <p:cBhvr>
                                        <p:cTn id="32" dur="200" fill="hold">
                                          <p:stCondLst>
                                            <p:cond delay="200"/>
                                          </p:stCondLst>
                                        </p:cTn>
                                        <p:tgtEl>
                                          <p:spTgt spid="6"/>
                                        </p:tgtEl>
                                        <p:attrNameLst>
                                          <p:attrName>r</p:attrName>
                                        </p:attrNameLst>
                                      </p:cBhvr>
                                    </p:animRot>
                                    <p:animRot by="240000">
                                      <p:cBhvr>
                                        <p:cTn id="33" dur="200" fill="hold">
                                          <p:stCondLst>
                                            <p:cond delay="400"/>
                                          </p:stCondLst>
                                        </p:cTn>
                                        <p:tgtEl>
                                          <p:spTgt spid="6"/>
                                        </p:tgtEl>
                                        <p:attrNameLst>
                                          <p:attrName>r</p:attrName>
                                        </p:attrNameLst>
                                      </p:cBhvr>
                                    </p:animRot>
                                    <p:animRot by="-240000">
                                      <p:cBhvr>
                                        <p:cTn id="34" dur="200" fill="hold">
                                          <p:stCondLst>
                                            <p:cond delay="600"/>
                                          </p:stCondLst>
                                        </p:cTn>
                                        <p:tgtEl>
                                          <p:spTgt spid="6"/>
                                        </p:tgtEl>
                                        <p:attrNameLst>
                                          <p:attrName>r</p:attrName>
                                        </p:attrNameLst>
                                      </p:cBhvr>
                                    </p:animRot>
                                    <p:animRot by="120000">
                                      <p:cBhvr>
                                        <p:cTn id="35" dur="200" fill="hold">
                                          <p:stCondLst>
                                            <p:cond delay="800"/>
                                          </p:stCondLst>
                                        </p:cTn>
                                        <p:tgtEl>
                                          <p:spTgt spid="6"/>
                                        </p:tgtEl>
                                        <p:attrNameLst>
                                          <p:attrName>r</p:attrName>
                                        </p:attrNameLst>
                                      </p:cBhvr>
                                    </p:animRot>
                                  </p:childTnLst>
                                </p:cTn>
                              </p:par>
                              <p:par>
                                <p:cTn id="36" presetID="32" presetClass="emph" presetSubtype="0" repeatCount="3000" fill="hold" nodeType="withEffect">
                                  <p:stCondLst>
                                    <p:cond delay="0"/>
                                  </p:stCondLst>
                                  <p:childTnLst>
                                    <p:animRot by="120000">
                                      <p:cBhvr>
                                        <p:cTn id="37" dur="100" fill="hold">
                                          <p:stCondLst>
                                            <p:cond delay="0"/>
                                          </p:stCondLst>
                                        </p:cTn>
                                        <p:tgtEl>
                                          <p:spTgt spid="7"/>
                                        </p:tgtEl>
                                        <p:attrNameLst>
                                          <p:attrName>r</p:attrName>
                                        </p:attrNameLst>
                                      </p:cBhvr>
                                    </p:animRot>
                                    <p:animRot by="-240000">
                                      <p:cBhvr>
                                        <p:cTn id="38" dur="200" fill="hold">
                                          <p:stCondLst>
                                            <p:cond delay="200"/>
                                          </p:stCondLst>
                                        </p:cTn>
                                        <p:tgtEl>
                                          <p:spTgt spid="7"/>
                                        </p:tgtEl>
                                        <p:attrNameLst>
                                          <p:attrName>r</p:attrName>
                                        </p:attrNameLst>
                                      </p:cBhvr>
                                    </p:animRot>
                                    <p:animRot by="240000">
                                      <p:cBhvr>
                                        <p:cTn id="39" dur="200" fill="hold">
                                          <p:stCondLst>
                                            <p:cond delay="400"/>
                                          </p:stCondLst>
                                        </p:cTn>
                                        <p:tgtEl>
                                          <p:spTgt spid="7"/>
                                        </p:tgtEl>
                                        <p:attrNameLst>
                                          <p:attrName>r</p:attrName>
                                        </p:attrNameLst>
                                      </p:cBhvr>
                                    </p:animRot>
                                    <p:animRot by="-240000">
                                      <p:cBhvr>
                                        <p:cTn id="40" dur="200" fill="hold">
                                          <p:stCondLst>
                                            <p:cond delay="600"/>
                                          </p:stCondLst>
                                        </p:cTn>
                                        <p:tgtEl>
                                          <p:spTgt spid="7"/>
                                        </p:tgtEl>
                                        <p:attrNameLst>
                                          <p:attrName>r</p:attrName>
                                        </p:attrNameLst>
                                      </p:cBhvr>
                                    </p:animRot>
                                    <p:animRot by="120000">
                                      <p:cBhvr>
                                        <p:cTn id="41" dur="200" fill="hold">
                                          <p:stCondLst>
                                            <p:cond delay="80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0D9F6BEE-7090-3965-D218-59B1FA88D3AC}"/>
              </a:ext>
              <a:ext uri="{C183D7F6-B498-43B3-948B-1728B52AA6E4}">
                <adec:decorative xmlns:adec="http://schemas.microsoft.com/office/drawing/2017/decorative" val="1"/>
              </a:ext>
            </a:extLst>
          </p:cNvPr>
          <p:cNvGrpSpPr/>
          <p:nvPr/>
        </p:nvGrpSpPr>
        <p:grpSpPr>
          <a:xfrm>
            <a:off x="4488720" y="1773199"/>
            <a:ext cx="3215508" cy="4843619"/>
            <a:chOff x="4488720" y="1773199"/>
            <a:chExt cx="3215508" cy="4843619"/>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p:grpSp>
      <p:sp>
        <p:nvSpPr>
          <p:cNvPr id="2" name="Title 1"/>
          <p:cNvSpPr>
            <a:spLocks noGrp="1"/>
          </p:cNvSpPr>
          <p:nvPr>
            <p:ph type="title"/>
          </p:nvPr>
        </p:nvSpPr>
        <p:spPr/>
        <p:txBody>
          <a:bodyPr/>
          <a:lstStyle/>
          <a:p>
            <a:r>
              <a:rPr lang="en-US" dirty="0"/>
              <a:t>MacGyver’s </a:t>
            </a:r>
            <a:r>
              <a:rPr lang="en-US" dirty="0">
                <a:solidFill>
                  <a:srgbClr val="FF00FF"/>
                </a:solidFill>
              </a:rPr>
              <a:t>Reduction</a:t>
            </a:r>
          </a:p>
        </p:txBody>
      </p:sp>
      <p:grpSp>
        <p:nvGrpSpPr>
          <p:cNvPr id="3" name="Group 2" descr="To reduce some problem A to some other Problem B:&#10;&#10;We begin with an instance of problem A, the one we don't know how to solve. (For MacGyver this was the problem of opening the door.)">
            <a:extLst>
              <a:ext uri="{FF2B5EF4-FFF2-40B4-BE49-F238E27FC236}">
                <a16:creationId xmlns:a16="http://schemas.microsoft.com/office/drawing/2014/main" id="{70D88278-5A1E-20A0-2000-A898A99A4021}"/>
              </a:ext>
            </a:extLst>
          </p:cNvPr>
          <p:cNvGrpSpPr/>
          <p:nvPr/>
        </p:nvGrpSpPr>
        <p:grpSpPr>
          <a:xfrm>
            <a:off x="1615700" y="1403866"/>
            <a:ext cx="3670364" cy="2115766"/>
            <a:chOff x="1615700" y="1403866"/>
            <a:chExt cx="3670364" cy="2115766"/>
          </a:xfrm>
        </p:grpSpPr>
        <p:sp>
          <p:nvSpPr>
            <p:cNvPr id="6" name="TextBox 5"/>
            <p:cNvSpPr txBox="1"/>
            <p:nvPr/>
          </p:nvSpPr>
          <p:spPr>
            <a:xfrm>
              <a:off x="2667001" y="1901865"/>
              <a:ext cx="1630319" cy="369332"/>
            </a:xfrm>
            <a:prstGeom prst="rect">
              <a:avLst/>
            </a:prstGeom>
            <a:noFill/>
          </p:spPr>
          <p:txBody>
            <a:bodyPr wrap="square" rtlCol="0">
              <a:spAutoFit/>
            </a:bodyPr>
            <a:lstStyle/>
            <a:p>
              <a:r>
                <a:rPr lang="en-US" dirty="0"/>
                <a:t>Opening a door</a:t>
              </a:r>
            </a:p>
          </p:txBody>
        </p:sp>
        <p:pic>
          <p:nvPicPr>
            <p:cNvPr id="8" name="Picture 2" descr="Image result for doo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381" r="21968"/>
            <a:stretch/>
          </p:blipFill>
          <p:spPr bwMode="auto">
            <a:xfrm>
              <a:off x="3086682" y="2307490"/>
              <a:ext cx="592555" cy="121214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615700" y="1403866"/>
              <a:ext cx="3670364" cy="369332"/>
            </a:xfrm>
            <a:prstGeom prst="rect">
              <a:avLst/>
            </a:prstGeom>
            <a:noFill/>
          </p:spPr>
          <p:txBody>
            <a:bodyPr wrap="none" rtlCol="0">
              <a:spAutoFit/>
            </a:bodyPr>
            <a:lstStyle/>
            <a:p>
              <a:r>
                <a:rPr lang="en-US" dirty="0"/>
                <a:t>Problem we don’t know how to solve</a:t>
              </a:r>
            </a:p>
          </p:txBody>
        </p:sp>
        <mc:AlternateContent xmlns:mc="http://schemas.openxmlformats.org/markup-compatibility/2006" xmlns:a14="http://schemas.microsoft.com/office/drawing/2010/main">
          <mc:Choice Requires="a14">
            <p:sp>
              <p:nvSpPr>
                <p:cNvPr id="22" name="Flowchart: Magnetic Disk 21"/>
                <p:cNvSpPr/>
                <p:nvPr/>
              </p:nvSpPr>
              <p:spPr>
                <a:xfrm>
                  <a:off x="1752600" y="1973492"/>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xmlns="">
            <p:sp>
              <p:nvSpPr>
                <p:cNvPr id="22" name="Flowchart: Magnetic Disk 21"/>
                <p:cNvSpPr>
                  <a:spLocks noRot="1" noChangeAspect="1" noMove="1" noResize="1" noEditPoints="1" noAdjustHandles="1" noChangeArrowheads="1" noChangeShapeType="1" noTextEdit="1"/>
                </p:cNvSpPr>
                <p:nvPr/>
              </p:nvSpPr>
              <p:spPr>
                <a:xfrm>
                  <a:off x="1752600" y="1973492"/>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11" name="Group 10" descr="Now we have a instance of the problem of lighting a fire (problem B).">
            <a:extLst>
              <a:ext uri="{FF2B5EF4-FFF2-40B4-BE49-F238E27FC236}">
                <a16:creationId xmlns:a16="http://schemas.microsoft.com/office/drawing/2014/main" id="{3CFE25BD-5447-6453-1418-CD03F3C3AF29}"/>
              </a:ext>
            </a:extLst>
          </p:cNvPr>
          <p:cNvGrpSpPr/>
          <p:nvPr/>
        </p:nvGrpSpPr>
        <p:grpSpPr>
          <a:xfrm>
            <a:off x="7239001" y="1371600"/>
            <a:ext cx="3457881" cy="1828801"/>
            <a:chOff x="7239001" y="1371600"/>
            <a:chExt cx="3457881" cy="1828801"/>
          </a:xfrm>
        </p:grpSpPr>
        <p:sp>
          <p:nvSpPr>
            <p:cNvPr id="14" name="TextBox 13"/>
            <p:cNvSpPr txBox="1"/>
            <p:nvPr/>
          </p:nvSpPr>
          <p:spPr>
            <a:xfrm>
              <a:off x="8617696" y="1981200"/>
              <a:ext cx="1531514" cy="369332"/>
            </a:xfrm>
            <a:prstGeom prst="rect">
              <a:avLst/>
            </a:prstGeom>
            <a:noFill/>
          </p:spPr>
          <p:txBody>
            <a:bodyPr wrap="square" rtlCol="0">
              <a:spAutoFit/>
            </a:bodyPr>
            <a:lstStyle/>
            <a:p>
              <a:r>
                <a:rPr lang="en-US" dirty="0"/>
                <a:t>Lighting a fire</a:t>
              </a:r>
            </a:p>
          </p:txBody>
        </p:sp>
        <p:pic>
          <p:nvPicPr>
            <p:cNvPr id="15" name="Picture 4" descr="Image result for fire"/>
            <p:cNvPicPr>
              <a:picLocks noChangeAspect="1" noChangeArrowheads="1"/>
            </p:cNvPicPr>
            <p:nvPr/>
          </p:nvPicPr>
          <p:blipFill rotWithShape="1">
            <a:blip r:embed="rId4">
              <a:extLst>
                <a:ext uri="{28A0092B-C50C-407E-A947-70E740481C1C}">
                  <a14:useLocalDpi xmlns:a14="http://schemas.microsoft.com/office/drawing/2010/main" val="0"/>
                </a:ext>
              </a:extLst>
            </a:blip>
            <a:srcRect t="45780"/>
            <a:stretch/>
          </p:blipFill>
          <p:spPr bwMode="auto">
            <a:xfrm>
              <a:off x="8363286" y="2161900"/>
              <a:ext cx="2333596" cy="103850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7239001" y="1371600"/>
              <a:ext cx="2956002" cy="369332"/>
            </a:xfrm>
            <a:prstGeom prst="rect">
              <a:avLst/>
            </a:prstGeom>
            <a:noFill/>
          </p:spPr>
          <p:txBody>
            <a:bodyPr wrap="none" rtlCol="0">
              <a:spAutoFit/>
            </a:bodyPr>
            <a:lstStyle/>
            <a:p>
              <a:r>
                <a:rPr lang="en-US" dirty="0"/>
                <a:t>Problem we will solve instead</a:t>
              </a:r>
            </a:p>
          </p:txBody>
        </p:sp>
        <mc:AlternateContent xmlns:mc="http://schemas.openxmlformats.org/markup-compatibility/2006" xmlns:a14="http://schemas.microsoft.com/office/drawing/2010/main">
          <mc:Choice Requires="a14">
            <p:sp>
              <p:nvSpPr>
                <p:cNvPr id="23" name="Rectangle 22"/>
                <p:cNvSpPr/>
                <p:nvPr/>
              </p:nvSpPr>
              <p:spPr>
                <a:xfrm>
                  <a:off x="7832276" y="2063144"/>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7832276" y="2063144"/>
                  <a:ext cx="625924" cy="1004887"/>
                </a:xfrm>
                <a:prstGeom prst="rect">
                  <a:avLst/>
                </a:prstGeom>
                <a:blipFill>
                  <a:blip r:embed="rId5"/>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38" name="Group 37" descr="Now we have a solution to problem A (in MacGyver's case, a keg-cannon battering ram).">
            <a:extLst>
              <a:ext uri="{FF2B5EF4-FFF2-40B4-BE49-F238E27FC236}">
                <a16:creationId xmlns:a16="http://schemas.microsoft.com/office/drawing/2014/main" id="{B89F1F0D-9B12-0DDA-859B-25B94D5E57EA}"/>
              </a:ext>
            </a:extLst>
          </p:cNvPr>
          <p:cNvGrpSpPr/>
          <p:nvPr/>
        </p:nvGrpSpPr>
        <p:grpSpPr>
          <a:xfrm>
            <a:off x="2851157" y="4113166"/>
            <a:ext cx="1637563" cy="2741964"/>
            <a:chOff x="2851157" y="4113166"/>
            <a:chExt cx="1637563" cy="2741964"/>
          </a:xfrm>
        </p:grpSpPr>
        <p:grpSp>
          <p:nvGrpSpPr>
            <p:cNvPr id="24" name="Group 23"/>
            <p:cNvGrpSpPr/>
            <p:nvPr/>
          </p:nvGrpSpPr>
          <p:grpSpPr>
            <a:xfrm>
              <a:off x="2895601" y="5134054"/>
              <a:ext cx="1174595" cy="1721076"/>
              <a:chOff x="10154328" y="3614629"/>
              <a:chExt cx="1565720" cy="1721076"/>
            </a:xfrm>
          </p:grpSpPr>
          <p:pic>
            <p:nvPicPr>
              <p:cNvPr id="25" name="Picture 24" descr="Image result for ke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3100970">
                <a:off x="10528567" y="3614629"/>
                <a:ext cx="1191481" cy="119148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6" descr="Image result for flam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13274643">
                <a:off x="10154328" y="4424859"/>
                <a:ext cx="660210" cy="910846"/>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Box 26"/>
            <p:cNvSpPr txBox="1"/>
            <p:nvPr/>
          </p:nvSpPr>
          <p:spPr>
            <a:xfrm>
              <a:off x="2959163" y="4493096"/>
              <a:ext cx="1529557" cy="646331"/>
            </a:xfrm>
            <a:prstGeom prst="rect">
              <a:avLst/>
            </a:prstGeom>
            <a:noFill/>
          </p:spPr>
          <p:txBody>
            <a:bodyPr wrap="square" rtlCol="0">
              <a:spAutoFit/>
            </a:bodyPr>
            <a:lstStyle/>
            <a:p>
              <a:r>
                <a:rPr lang="en-US" dirty="0"/>
                <a:t>Keg cannon battering ram</a:t>
              </a:r>
            </a:p>
          </p:txBody>
        </p:sp>
        <mc:AlternateContent xmlns:mc="http://schemas.openxmlformats.org/markup-compatibility/2006" xmlns:a14="http://schemas.microsoft.com/office/drawing/2010/main">
          <mc:Choice Requires="a14">
            <p:sp>
              <p:nvSpPr>
                <p:cNvPr id="28" name="TextBox 27"/>
                <p:cNvSpPr txBox="1"/>
                <p:nvPr/>
              </p:nvSpPr>
              <p:spPr>
                <a:xfrm>
                  <a:off x="2851157" y="4113166"/>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xmlns="">
            <p:sp>
              <p:nvSpPr>
                <p:cNvPr id="28" name="TextBox 27"/>
                <p:cNvSpPr txBox="1">
                  <a:spLocks noRot="1" noChangeAspect="1" noMove="1" noResize="1" noEditPoints="1" noAdjustHandles="1" noChangeArrowheads="1" noChangeShapeType="1" noTextEdit="1"/>
                </p:cNvSpPr>
                <p:nvPr/>
              </p:nvSpPr>
              <p:spPr>
                <a:xfrm>
                  <a:off x="2851157" y="4113166"/>
                  <a:ext cx="1486241" cy="369332"/>
                </a:xfrm>
                <a:prstGeom prst="rect">
                  <a:avLst/>
                </a:prstGeom>
                <a:blipFill>
                  <a:blip r:embed="rId8"/>
                  <a:stretch>
                    <a:fillRect l="-3689" t="-10000" b="-26667"/>
                  </a:stretch>
                </a:blipFill>
              </p:spPr>
              <p:txBody>
                <a:bodyPr/>
                <a:lstStyle/>
                <a:p>
                  <a:r>
                    <a:rPr lang="en-US">
                      <a:noFill/>
                    </a:rPr>
                    <a:t> </a:t>
                  </a:r>
                </a:p>
              </p:txBody>
            </p:sp>
          </mc:Fallback>
        </mc:AlternateContent>
      </p:grpSp>
      <p:sp>
        <p:nvSpPr>
          <p:cNvPr id="30" name="AutoShape 5" descr="Next we somehow convert problem A into problem B. We will be using a solution to problem B as a solution to problem A&#10;&#10;In MacGyver's case, problem B is the task of lighting a fire. By putting the keg in a tube, and aiming the tube at the door, all that's missing to have a door opening solution is now a fire opening solution."/>
          <p:cNvSpPr>
            <a:spLocks noChangeArrowheads="1"/>
          </p:cNvSpPr>
          <p:nvPr/>
        </p:nvSpPr>
        <p:spPr bwMode="auto">
          <a:xfrm>
            <a:off x="4627562" y="1845186"/>
            <a:ext cx="2840038" cy="1344573"/>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en-US" sz="2000" dirty="0"/>
              <a:t>Aim duct at door, insert keg</a:t>
            </a:r>
          </a:p>
        </p:txBody>
      </p:sp>
      <p:grpSp>
        <p:nvGrpSpPr>
          <p:cNvPr id="29" name="Group 28" descr="Next we apply a hypothetical solution for problem B (in MacGyver's case, using wood, alcohol, and matches).&#10;">
            <a:extLst>
              <a:ext uri="{FF2B5EF4-FFF2-40B4-BE49-F238E27FC236}">
                <a16:creationId xmlns:a16="http://schemas.microsoft.com/office/drawing/2014/main" id="{272BFC59-1149-96B0-CEBC-5F0F55B6E227}"/>
              </a:ext>
            </a:extLst>
          </p:cNvPr>
          <p:cNvGrpSpPr/>
          <p:nvPr/>
        </p:nvGrpSpPr>
        <p:grpSpPr>
          <a:xfrm>
            <a:off x="8917761" y="3273936"/>
            <a:ext cx="3009569" cy="1905298"/>
            <a:chOff x="8917761" y="3273936"/>
            <a:chExt cx="3009569" cy="1905298"/>
          </a:xfrm>
        </p:grpSpPr>
        <p:grpSp>
          <p:nvGrpSpPr>
            <p:cNvPr id="9" name="Group 8">
              <a:extLst>
                <a:ext uri="{FF2B5EF4-FFF2-40B4-BE49-F238E27FC236}">
                  <a16:creationId xmlns:a16="http://schemas.microsoft.com/office/drawing/2014/main" id="{5D4B6C36-41ED-0328-B335-D282AC928933}"/>
                </a:ext>
              </a:extLst>
            </p:cNvPr>
            <p:cNvGrpSpPr/>
            <p:nvPr/>
          </p:nvGrpSpPr>
          <p:grpSpPr>
            <a:xfrm>
              <a:off x="9738287" y="3299157"/>
              <a:ext cx="2189043" cy="1880077"/>
              <a:chOff x="9987551" y="3381101"/>
              <a:chExt cx="2189043" cy="1880077"/>
            </a:xfrm>
          </p:grpSpPr>
          <p:sp>
            <p:nvSpPr>
              <p:cNvPr id="17" name="TextBox 16"/>
              <p:cNvSpPr txBox="1"/>
              <p:nvPr/>
            </p:nvSpPr>
            <p:spPr>
              <a:xfrm>
                <a:off x="9987551" y="3381101"/>
                <a:ext cx="2189043" cy="646331"/>
              </a:xfrm>
              <a:prstGeom prst="rect">
                <a:avLst/>
              </a:prstGeom>
              <a:noFill/>
            </p:spPr>
            <p:txBody>
              <a:bodyPr wrap="square" rtlCol="0">
                <a:spAutoFit/>
              </a:bodyPr>
              <a:lstStyle/>
              <a:p>
                <a:r>
                  <a:rPr lang="en-US" dirty="0"/>
                  <a:t>Alcohol, wood, matches</a:t>
                </a:r>
              </a:p>
            </p:txBody>
          </p:sp>
          <p:grpSp>
            <p:nvGrpSpPr>
              <p:cNvPr id="7" name="Group 6">
                <a:extLst>
                  <a:ext uri="{FF2B5EF4-FFF2-40B4-BE49-F238E27FC236}">
                    <a16:creationId xmlns:a16="http://schemas.microsoft.com/office/drawing/2014/main" id="{CC85A0F3-B698-A8F8-A658-A0219EE9FCC5}"/>
                  </a:ext>
                </a:extLst>
              </p:cNvPr>
              <p:cNvGrpSpPr/>
              <p:nvPr/>
            </p:nvGrpSpPr>
            <p:grpSpPr>
              <a:xfrm>
                <a:off x="10825255" y="3695245"/>
                <a:ext cx="927612" cy="1565933"/>
                <a:chOff x="9355605" y="4832530"/>
                <a:chExt cx="927612" cy="1565933"/>
              </a:xfrm>
            </p:grpSpPr>
            <p:pic>
              <p:nvPicPr>
                <p:cNvPr id="18" name="Picture 6" descr="Image result for whiskey"/>
                <p:cNvPicPr>
                  <a:picLocks noChangeAspect="1" noChangeArrowheads="1"/>
                </p:cNvPicPr>
                <p:nvPr/>
              </p:nvPicPr>
              <p:blipFill rotWithShape="1">
                <a:blip r:embed="rId9">
                  <a:extLst>
                    <a:ext uri="{28A0092B-C50C-407E-A947-70E740481C1C}">
                      <a14:useLocalDpi xmlns:a14="http://schemas.microsoft.com/office/drawing/2010/main" val="0"/>
                    </a:ext>
                  </a:extLst>
                </a:blip>
                <a:srcRect l="28502" r="31074"/>
                <a:stretch/>
              </p:blipFill>
              <p:spPr bwMode="auto">
                <a:xfrm rot="1117477">
                  <a:off x="9355605" y="4832530"/>
                  <a:ext cx="393856" cy="129873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Image result for wood plank"/>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40640" r="39638"/>
                <a:stretch/>
              </p:blipFill>
              <p:spPr bwMode="auto">
                <a:xfrm rot="19068828">
                  <a:off x="10118544" y="5006481"/>
                  <a:ext cx="164673" cy="111302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2" descr="Image result for matches"/>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564510" y="5575503"/>
                  <a:ext cx="629362" cy="82296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1" name="AutoShape 5" descr="Next we apply"/>
            <p:cNvSpPr>
              <a:spLocks noChangeArrowheads="1"/>
            </p:cNvSpPr>
            <p:nvPr/>
          </p:nvSpPr>
          <p:spPr bwMode="auto">
            <a:xfrm rot="5400000">
              <a:off x="8412838" y="3778859"/>
              <a:ext cx="1711361"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en-US" dirty="0"/>
                <a:t>How?</a:t>
              </a:r>
            </a:p>
          </p:txBody>
        </p:sp>
      </p:grpSp>
      <p:grpSp>
        <p:nvGrpSpPr>
          <p:cNvPr id="37" name="Group 36" descr="Now we convert the solution to problem B into a solution for problem A (in MacGyver's case, we just need to put the fire under the keg).">
            <a:extLst>
              <a:ext uri="{FF2B5EF4-FFF2-40B4-BE49-F238E27FC236}">
                <a16:creationId xmlns:a16="http://schemas.microsoft.com/office/drawing/2014/main" id="{8F11682D-F291-A096-807B-83DAB58B930B}"/>
              </a:ext>
            </a:extLst>
          </p:cNvPr>
          <p:cNvGrpSpPr/>
          <p:nvPr/>
        </p:nvGrpSpPr>
        <p:grpSpPr>
          <a:xfrm>
            <a:off x="4779962" y="4839965"/>
            <a:ext cx="2840038" cy="993815"/>
            <a:chOff x="4779962" y="4839965"/>
            <a:chExt cx="2840038" cy="993815"/>
          </a:xfrm>
        </p:grpSpPr>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3" name="TextBox 32"/>
            <p:cNvSpPr txBox="1"/>
            <p:nvPr/>
          </p:nvSpPr>
          <p:spPr>
            <a:xfrm>
              <a:off x="5105400" y="5139426"/>
              <a:ext cx="2470548" cy="400110"/>
            </a:xfrm>
            <a:prstGeom prst="rect">
              <a:avLst/>
            </a:prstGeom>
            <a:noFill/>
          </p:spPr>
          <p:txBody>
            <a:bodyPr wrap="none" rtlCol="0">
              <a:spAutoFit/>
            </a:bodyPr>
            <a:lstStyle/>
            <a:p>
              <a:r>
                <a:rPr lang="en-US" altLang="en-US" sz="2000" dirty="0"/>
                <a:t>Put fire under the Keg</a:t>
              </a:r>
              <a:endParaRPr lang="en-US" sz="2000" dirty="0"/>
            </a:p>
          </p:txBody>
        </p:sp>
      </p:grpSp>
      <p:sp>
        <p:nvSpPr>
          <p:cNvPr id="10" name="TextBox 9">
            <a:extLst>
              <a:ext uri="{FF2B5EF4-FFF2-40B4-BE49-F238E27FC236}">
                <a16:creationId xmlns:a16="http://schemas.microsoft.com/office/drawing/2014/main" id="{F772C382-C5C5-B87E-DBC0-0DFF5445333E}"/>
              </a:ext>
            </a:extLst>
          </p:cNvPr>
          <p:cNvSpPr txBox="1"/>
          <p:nvPr/>
        </p:nvSpPr>
        <p:spPr>
          <a:xfrm>
            <a:off x="9013665" y="2543956"/>
            <a:ext cx="968535" cy="769441"/>
          </a:xfrm>
          <a:prstGeom prst="rect">
            <a:avLst/>
          </a:prstGeom>
          <a:noFill/>
        </p:spPr>
        <p:txBody>
          <a:bodyPr wrap="none" rtlCol="0">
            <a:spAutoFit/>
          </a:bodyPr>
          <a:lstStyle/>
          <a:p>
            <a:r>
              <a:rPr lang="en-US" sz="4400" dirty="0">
                <a:ln>
                  <a:solidFill>
                    <a:schemeClr val="bg1"/>
                  </a:solidFill>
                </a:ln>
                <a:solidFill>
                  <a:sysClr val="windowText" lastClr="000000"/>
                </a:solidFill>
              </a:rPr>
              <a:t>???</a:t>
            </a:r>
          </a:p>
        </p:txBody>
      </p:sp>
      <p:grpSp>
        <p:nvGrpSpPr>
          <p:cNvPr id="36" name="Group 35" descr="Now we have a solution to problem B (in this case a fire).">
            <a:extLst>
              <a:ext uri="{FF2B5EF4-FFF2-40B4-BE49-F238E27FC236}">
                <a16:creationId xmlns:a16="http://schemas.microsoft.com/office/drawing/2014/main" id="{DA9309F5-FC44-8A23-859F-80F0A885C853}"/>
              </a:ext>
            </a:extLst>
          </p:cNvPr>
          <p:cNvGrpSpPr/>
          <p:nvPr/>
        </p:nvGrpSpPr>
        <p:grpSpPr>
          <a:xfrm>
            <a:off x="7856625" y="4896881"/>
            <a:ext cx="2333596" cy="1346628"/>
            <a:chOff x="7856625" y="4896881"/>
            <a:chExt cx="2333596" cy="1346628"/>
          </a:xfrm>
        </p:grpSpPr>
        <mc:AlternateContent xmlns:mc="http://schemas.openxmlformats.org/markup-compatibility/2006" xmlns:a14="http://schemas.microsoft.com/office/drawing/2010/main">
          <mc:Choice Requires="a14">
            <p:sp>
              <p:nvSpPr>
                <p:cNvPr id="21" name="TextBox 20"/>
                <p:cNvSpPr txBox="1"/>
                <p:nvPr/>
              </p:nvSpPr>
              <p:spPr>
                <a:xfrm>
                  <a:off x="8085904" y="4896881"/>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8085904" y="4896881"/>
                  <a:ext cx="1500667" cy="369332"/>
                </a:xfrm>
                <a:prstGeom prst="rect">
                  <a:avLst/>
                </a:prstGeom>
                <a:blipFill>
                  <a:blip r:embed="rId12"/>
                  <a:stretch>
                    <a:fillRect l="-3239" t="-8197" b="-24590"/>
                  </a:stretch>
                </a:blipFill>
              </p:spPr>
              <p:txBody>
                <a:bodyPr/>
                <a:lstStyle/>
                <a:p>
                  <a:r>
                    <a:rPr lang="en-US">
                      <a:noFill/>
                    </a:rPr>
                    <a:t> </a:t>
                  </a:r>
                </a:p>
              </p:txBody>
            </p:sp>
          </mc:Fallback>
        </mc:AlternateContent>
        <p:pic>
          <p:nvPicPr>
            <p:cNvPr id="13" name="Picture 4" descr="Image result for fire">
              <a:extLst>
                <a:ext uri="{FF2B5EF4-FFF2-40B4-BE49-F238E27FC236}">
                  <a16:creationId xmlns:a16="http://schemas.microsoft.com/office/drawing/2014/main" id="{4D44C5BF-A41A-2CAE-ABFB-4CA9B689693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5780"/>
            <a:stretch/>
          </p:blipFill>
          <p:spPr bwMode="auto">
            <a:xfrm>
              <a:off x="7856625" y="5205008"/>
              <a:ext cx="2333596" cy="1038501"/>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mc:Choice xmlns:p14="http://schemas.microsoft.com/office/powerpoint/2010/main" Requires="p14">
          <p:contentPart p14:bwMode="auto" r:id="rId13">
            <p14:nvContentPartPr>
              <p14:cNvPr id="4" name="Ink 3">
                <a:extLst>
                  <a:ext uri="{FF2B5EF4-FFF2-40B4-BE49-F238E27FC236}">
                    <a16:creationId xmlns:a16="http://schemas.microsoft.com/office/drawing/2014/main" id="{CF5A8154-12FA-1DDB-7222-03D5AD359528}"/>
                  </a:ext>
                </a:extLst>
              </p14:cNvPr>
              <p14:cNvContentPartPr/>
              <p14:nvPr/>
            </p14:nvContentPartPr>
            <p14:xfrm>
              <a:off x="1837440" y="1956240"/>
              <a:ext cx="9979920" cy="4008240"/>
            </p14:xfrm>
          </p:contentPart>
        </mc:Choice>
        <mc:Fallback>
          <p:pic>
            <p:nvPicPr>
              <p:cNvPr id="4" name="Ink 3">
                <a:extLst>
                  <a:ext uri="{FF2B5EF4-FFF2-40B4-BE49-F238E27FC236}">
                    <a16:creationId xmlns:a16="http://schemas.microsoft.com/office/drawing/2014/main" id="{CF5A8154-12FA-1DDB-7222-03D5AD359528}"/>
                  </a:ext>
                </a:extLst>
              </p:cNvPr>
              <p:cNvPicPr/>
              <p:nvPr/>
            </p:nvPicPr>
            <p:blipFill>
              <a:blip r:embed="rId14"/>
              <a:stretch>
                <a:fillRect/>
              </a:stretch>
            </p:blipFill>
            <p:spPr>
              <a:xfrm>
                <a:off x="1828080" y="1946880"/>
                <a:ext cx="9998640" cy="4026960"/>
              </a:xfrm>
              <a:prstGeom prst="rect">
                <a:avLst/>
              </a:prstGeom>
            </p:spPr>
          </p:pic>
        </mc:Fallback>
      </mc:AlternateContent>
    </p:spTree>
    <p:extLst>
      <p:ext uri="{BB962C8B-B14F-4D97-AF65-F5344CB8AC3E}">
        <p14:creationId xmlns:p14="http://schemas.microsoft.com/office/powerpoint/2010/main" val="314694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C76BE-F09E-54F2-B299-E6BC5F388C22}"/>
              </a:ext>
            </a:extLst>
          </p:cNvPr>
          <p:cNvSpPr>
            <a:spLocks noGrp="1"/>
          </p:cNvSpPr>
          <p:nvPr>
            <p:ph type="title"/>
          </p:nvPr>
        </p:nvSpPr>
        <p:spPr/>
        <p:txBody>
          <a:bodyPr/>
          <a:lstStyle/>
          <a:p>
            <a:r>
              <a:rPr lang="en-US" dirty="0"/>
              <a:t>NP-Complete – High Level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B07FC-04E6-6CCE-679B-32B6B7AC8E49}"/>
                  </a:ext>
                </a:extLst>
              </p:cNvPr>
              <p:cNvSpPr>
                <a:spLocks noGrp="1"/>
              </p:cNvSpPr>
              <p:nvPr>
                <p:ph idx="1"/>
              </p:nvPr>
            </p:nvSpPr>
            <p:spPr/>
            <p:txBody>
              <a:bodyPr/>
              <a:lstStyle/>
              <a:p>
                <a:r>
                  <a:rPr lang="en-US" dirty="0"/>
                  <a:t>A set of “together they stand, together they fall” problems</a:t>
                </a:r>
              </a:p>
              <a:p>
                <a:r>
                  <a:rPr lang="en-US" dirty="0"/>
                  <a:t>The problems in this set either all belong to </a:t>
                </a:r>
                <a14:m>
                  <m:oMath xmlns:m="http://schemas.openxmlformats.org/officeDocument/2006/math">
                    <m:r>
                      <a:rPr lang="en-US" b="0" i="1" smtClean="0">
                        <a:latin typeface="Cambria Math" panose="02040503050406030204" pitchFamily="18" charset="0"/>
                      </a:rPr>
                      <m:t>𝑃</m:t>
                    </m:r>
                  </m:oMath>
                </a14:m>
                <a:r>
                  <a:rPr lang="en-US" dirty="0"/>
                  <a:t>, or none of them do</a:t>
                </a:r>
              </a:p>
              <a:p>
                <a:r>
                  <a:rPr lang="en-US" dirty="0"/>
                  <a:t>Intuitively, the “hardest” problems in NP</a:t>
                </a:r>
              </a:p>
              <a:p>
                <a:r>
                  <a:rPr lang="en-US" dirty="0"/>
                  <a:t>Collection of problems from </a:t>
                </a:r>
                <a14:m>
                  <m:oMath xmlns:m="http://schemas.openxmlformats.org/officeDocument/2006/math">
                    <m:r>
                      <a:rPr lang="en-US" b="0" i="1" smtClean="0">
                        <a:latin typeface="Cambria Math" panose="02040503050406030204" pitchFamily="18" charset="0"/>
                      </a:rPr>
                      <m:t>𝑁𝑃</m:t>
                    </m:r>
                  </m:oMath>
                </a14:m>
                <a:r>
                  <a:rPr lang="en-US" dirty="0"/>
                  <a:t> that can all be “transformed” into each other in polynomial time</a:t>
                </a:r>
              </a:p>
              <a:p>
                <a:pPr lvl="1"/>
                <a:r>
                  <a:rPr lang="en-US" dirty="0"/>
                  <a:t>Like we could transform independent set to vertex cover, and vice-versa</a:t>
                </a:r>
              </a:p>
              <a:p>
                <a:pPr lvl="1"/>
                <a:r>
                  <a:rPr lang="en-US" dirty="0"/>
                  <a:t>We can also transform vertex cover into Hamiltonian path, and Hamiltonian path into independent set, and …</a:t>
                </a:r>
              </a:p>
            </p:txBody>
          </p:sp>
        </mc:Choice>
        <mc:Fallback xmlns="">
          <p:sp>
            <p:nvSpPr>
              <p:cNvPr id="3" name="Content Placeholder 2">
                <a:extLst>
                  <a:ext uri="{FF2B5EF4-FFF2-40B4-BE49-F238E27FC236}">
                    <a16:creationId xmlns:a16="http://schemas.microsoft.com/office/drawing/2014/main" id="{A5BB07FC-04E6-6CCE-679B-32B6B7AC8E4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60BCCD6-6508-1BC0-994A-3B02C3BE0883}"/>
                  </a:ext>
                </a:extLst>
              </p14:cNvPr>
              <p14:cNvContentPartPr/>
              <p14:nvPr/>
            </p14:nvContentPartPr>
            <p14:xfrm>
              <a:off x="740520" y="1053360"/>
              <a:ext cx="8471520" cy="2868840"/>
            </p14:xfrm>
          </p:contentPart>
        </mc:Choice>
        <mc:Fallback>
          <p:pic>
            <p:nvPicPr>
              <p:cNvPr id="4" name="Ink 3">
                <a:extLst>
                  <a:ext uri="{FF2B5EF4-FFF2-40B4-BE49-F238E27FC236}">
                    <a16:creationId xmlns:a16="http://schemas.microsoft.com/office/drawing/2014/main" id="{E60BCCD6-6508-1BC0-994A-3B02C3BE0883}"/>
                  </a:ext>
                </a:extLst>
              </p:cNvPr>
              <p:cNvPicPr/>
              <p:nvPr/>
            </p:nvPicPr>
            <p:blipFill>
              <a:blip r:embed="rId4"/>
              <a:stretch>
                <a:fillRect/>
              </a:stretch>
            </p:blipFill>
            <p:spPr>
              <a:xfrm>
                <a:off x="731160" y="1044000"/>
                <a:ext cx="8490240" cy="2887560"/>
              </a:xfrm>
              <a:prstGeom prst="rect">
                <a:avLst/>
              </a:prstGeom>
            </p:spPr>
          </p:pic>
        </mc:Fallback>
      </mc:AlternateContent>
    </p:spTree>
    <p:extLst>
      <p:ext uri="{BB962C8B-B14F-4D97-AF65-F5344CB8AC3E}">
        <p14:creationId xmlns:p14="http://schemas.microsoft.com/office/powerpoint/2010/main" val="2903782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Title 1">
                <a:extLst>
                  <a:ext uri="{FF2B5EF4-FFF2-40B4-BE49-F238E27FC236}">
                    <a16:creationId xmlns:a16="http://schemas.microsoft.com/office/drawing/2014/main" id="{58BD3A92-F435-7C36-5746-4DD8BBD2FA49}"/>
                  </a:ext>
                </a:extLst>
              </p:cNvPr>
              <p:cNvSpPr>
                <a:spLocks noGrp="1"/>
              </p:cNvSpPr>
              <p:nvPr>
                <p:ph type="title"/>
              </p:nvPr>
            </p:nvSpPr>
            <p:spPr>
              <a:xfrm>
                <a:off x="193040" y="-160020"/>
                <a:ext cx="10515600" cy="1325563"/>
              </a:xfrm>
            </p:spPr>
            <p:txBody>
              <a:bodyPr/>
              <a:lstStyle/>
              <a:p>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a:t>
                </a:r>
              </a:p>
            </p:txBody>
          </p:sp>
        </mc:Choice>
        <mc:Fallback xmlns="">
          <p:sp>
            <p:nvSpPr>
              <p:cNvPr id="26" name="Title 1">
                <a:extLst>
                  <a:ext uri="{FF2B5EF4-FFF2-40B4-BE49-F238E27FC236}">
                    <a16:creationId xmlns:a16="http://schemas.microsoft.com/office/drawing/2014/main" id="{58BD3A92-F435-7C36-5746-4DD8BBD2FA49}"/>
                  </a:ext>
                </a:extLst>
              </p:cNvPr>
              <p:cNvSpPr>
                <a:spLocks noGrp="1" noRot="1" noChangeAspect="1" noMove="1" noResize="1" noEditPoints="1" noAdjustHandles="1" noChangeArrowheads="1" noChangeShapeType="1" noTextEdit="1"/>
              </p:cNvSpPr>
              <p:nvPr>
                <p:ph type="title"/>
              </p:nvPr>
            </p:nvSpPr>
            <p:spPr>
              <a:xfrm>
                <a:off x="193040" y="-160020"/>
                <a:ext cx="10515600" cy="132556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1DED51-C630-1C05-E13A-1F2DA7629B7A}"/>
                  </a:ext>
                </a:extLst>
              </p:cNvPr>
              <p:cNvSpPr txBox="1"/>
              <p:nvPr/>
            </p:nvSpPr>
            <p:spPr>
              <a:xfrm>
                <a:off x="-188477" y="860026"/>
                <a:ext cx="5212080" cy="954107"/>
              </a:xfrm>
              <a:prstGeom prst="rect">
                <a:avLst/>
              </a:prstGeom>
              <a:noFill/>
            </p:spPr>
            <p:txBody>
              <a:bodyPr wrap="square">
                <a:spAutoFit/>
              </a:bodyPr>
              <a:lstStyle/>
              <a:p>
                <a:pPr algn="ct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r>
                  <a:rPr lang="en-US" sz="2800" dirty="0">
                    <a:solidFill>
                      <a:srgbClr val="FF0000"/>
                    </a:solidFill>
                  </a:rPr>
                  <a:t> </a:t>
                </a:r>
                <a:r>
                  <a:rPr lang="en-US" sz="2800" dirty="0" err="1">
                    <a:solidFill>
                      <a:srgbClr val="FF0000"/>
                    </a:solidFill>
                  </a:rPr>
                  <a:t>iff</a:t>
                </a:r>
                <a:r>
                  <a:rPr lang="en-US" sz="2800" dirty="0">
                    <a:solidFill>
                      <a:srgbClr val="FF0000"/>
                    </a:solidFill>
                  </a:rPr>
                  <a:t> some problem from </a:t>
                </a:r>
                <a14:m>
                  <m:oMath xmlns:m="http://schemas.openxmlformats.org/officeDocument/2006/math">
                    <m:r>
                      <a:rPr lang="en-US" sz="2800" b="0" i="1" smtClean="0">
                        <a:solidFill>
                          <a:srgbClr val="FF0000"/>
                        </a:solidFill>
                        <a:latin typeface="Cambria Math" panose="02040503050406030204" pitchFamily="18" charset="0"/>
                      </a:rPr>
                      <m:t>𝑁𝑃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𝐶𝑜𝑚𝑝𝑙𝑒𝑡𝑒</m:t>
                    </m:r>
                  </m:oMath>
                </a14:m>
                <a:r>
                  <a:rPr lang="en-US" sz="2800" dirty="0">
                    <a:solidFill>
                      <a:srgbClr val="FF0000"/>
                    </a:solidFill>
                  </a:rPr>
                  <a:t> belongs to </a:t>
                </a:r>
                <a14:m>
                  <m:oMath xmlns:m="http://schemas.openxmlformats.org/officeDocument/2006/math">
                    <m:r>
                      <a:rPr lang="en-US" sz="2800" b="0" i="1" smtClean="0">
                        <a:solidFill>
                          <a:srgbClr val="FF0000"/>
                        </a:solidFill>
                        <a:latin typeface="Cambria Math" panose="02040503050406030204" pitchFamily="18" charset="0"/>
                      </a:rPr>
                      <m:t>𝑃</m:t>
                    </m:r>
                  </m:oMath>
                </a14:m>
                <a:r>
                  <a:rPr lang="en-US" sz="2800" dirty="0">
                    <a:solidFill>
                      <a:srgbClr val="FF0000"/>
                    </a:solidFill>
                  </a:rPr>
                  <a:t> </a:t>
                </a:r>
              </a:p>
            </p:txBody>
          </p:sp>
        </mc:Choice>
        <mc:Fallback xmlns="">
          <p:sp>
            <p:nvSpPr>
              <p:cNvPr id="27" name="TextBox 26">
                <a:extLst>
                  <a:ext uri="{FF2B5EF4-FFF2-40B4-BE49-F238E27FC236}">
                    <a16:creationId xmlns:a16="http://schemas.microsoft.com/office/drawing/2014/main" id="{A71DED51-C630-1C05-E13A-1F2DA7629B7A}"/>
                  </a:ext>
                </a:extLst>
              </p:cNvPr>
              <p:cNvSpPr txBox="1">
                <a:spLocks noRot="1" noChangeAspect="1" noMove="1" noResize="1" noEditPoints="1" noAdjustHandles="1" noChangeArrowheads="1" noChangeShapeType="1" noTextEdit="1"/>
              </p:cNvSpPr>
              <p:nvPr/>
            </p:nvSpPr>
            <p:spPr>
              <a:xfrm>
                <a:off x="-188477" y="860026"/>
                <a:ext cx="5212080" cy="954107"/>
              </a:xfrm>
              <a:prstGeom prst="rect">
                <a:avLst/>
              </a:prstGeom>
              <a:blipFill>
                <a:blip r:embed="rId3"/>
                <a:stretch>
                  <a:fillRect t="-5732" b="-17197"/>
                </a:stretch>
              </a:blipFill>
            </p:spPr>
            <p:txBody>
              <a:bodyPr/>
              <a:lstStyle/>
              <a:p>
                <a:r>
                  <a:rPr lang="en-US">
                    <a:noFill/>
                  </a:rPr>
                  <a:t> </a:t>
                </a:r>
              </a:p>
            </p:txBody>
          </p:sp>
        </mc:Fallback>
      </mc:AlternateContent>
      <p:grpSp>
        <p:nvGrpSpPr>
          <p:cNvPr id="19" name="Group 18" descr="A venn diagram illustrating the relationship between EXP, P, and NP, NP-Complete, and NP-hart.&#10;&#10;P is known to be a subset of NP, but it is now known if it is a proper subset.&#10;&#10;NP is known to be a proper subset of EXP.&#10;&#10;NP-Hard contains the &quot;hardest&quot; problems from NP, and all problems harder than that. It is now known to contain any problems from P, but is known to contain problems from within NP and also outside of NP.&#10;&#10;NP-Complete is defined as the intersection of NP and NP Hard, an therefore consists of the hardest problems from among NP.&#10;&#10;Some members of each portion:&#10;&#10;Problems known to be within P: Sorting, Euler Path, Shortest Path.&#10;&#10;Problems known to be within NP but are believed to be outside of both P and NP-Hard: Cryptography and Prime Factorization.&#10;&#10;Problems known to be within NP-Complete: Vertex Cover, Independent Set, Hamiltonian Path&#10;&#10;Problems known to be outside of NP: perfectly playing board games like checkers, chess, and go.">
            <a:extLst>
              <a:ext uri="{FF2B5EF4-FFF2-40B4-BE49-F238E27FC236}">
                <a16:creationId xmlns:a16="http://schemas.microsoft.com/office/drawing/2014/main" id="{0BF2553B-A8E9-2DA3-9BE3-EAEA6EE0D998}"/>
              </a:ext>
            </a:extLst>
          </p:cNvPr>
          <p:cNvGrpSpPr/>
          <p:nvPr/>
        </p:nvGrpSpPr>
        <p:grpSpPr>
          <a:xfrm>
            <a:off x="1879600" y="1411817"/>
            <a:ext cx="11023600" cy="5430287"/>
            <a:chOff x="1879600" y="1411817"/>
            <a:chExt cx="11023600" cy="5430287"/>
          </a:xfrm>
        </p:grpSpPr>
        <p:grpSp>
          <p:nvGrpSpPr>
            <p:cNvPr id="18" name="Group 17">
              <a:extLst>
                <a:ext uri="{FF2B5EF4-FFF2-40B4-BE49-F238E27FC236}">
                  <a16:creationId xmlns:a16="http://schemas.microsoft.com/office/drawing/2014/main" id="{AF96FFB7-6607-6F79-B3BA-77C3C283E189}"/>
                </a:ext>
              </a:extLst>
            </p:cNvPr>
            <p:cNvGrpSpPr/>
            <p:nvPr/>
          </p:nvGrpSpPr>
          <p:grpSpPr>
            <a:xfrm>
              <a:off x="1879600" y="1411817"/>
              <a:ext cx="11023600" cy="5430287"/>
              <a:chOff x="396240" y="715328"/>
              <a:chExt cx="12469756" cy="6142672"/>
            </a:xfrm>
          </p:grpSpPr>
          <p:sp>
            <p:nvSpPr>
              <p:cNvPr id="5" name="Oval 4">
                <a:extLst>
                  <a:ext uri="{FF2B5EF4-FFF2-40B4-BE49-F238E27FC236}">
                    <a16:creationId xmlns:a16="http://schemas.microsoft.com/office/drawing/2014/main" id="{141635B6-F402-1095-4877-EFE866AA1617}"/>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3933289-11A2-E100-3246-E02B39C7AED0}"/>
                      </a:ext>
                    </a:extLst>
                  </p:cNvPr>
                  <p:cNvSpPr txBox="1"/>
                  <p:nvPr/>
                </p:nvSpPr>
                <p:spPr>
                  <a:xfrm>
                    <a:off x="3342640" y="733886"/>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3342640" y="733886"/>
                    <a:ext cx="6096000" cy="523220"/>
                  </a:xfrm>
                  <a:prstGeom prst="rect">
                    <a:avLst/>
                  </a:prstGeom>
                  <a:blipFill>
                    <a:blip r:embed="rId4"/>
                    <a:stretch>
                      <a:fillRect/>
                    </a:stretch>
                  </a:blipFill>
                </p:spPr>
                <p:txBody>
                  <a:bodyPr/>
                  <a:lstStyle/>
                  <a:p>
                    <a:r>
                      <a:rPr lang="en-US">
                        <a:noFill/>
                      </a:rPr>
                      <a:t> </a:t>
                    </a:r>
                  </a:p>
                </p:txBody>
              </p:sp>
            </mc:Fallback>
          </mc:AlternateContent>
          <p:sp>
            <p:nvSpPr>
              <p:cNvPr id="2" name="Oval 1">
                <a:extLst>
                  <a:ext uri="{FF2B5EF4-FFF2-40B4-BE49-F238E27FC236}">
                    <a16:creationId xmlns:a16="http://schemas.microsoft.com/office/drawing/2014/main" id="{8B632667-D7CC-99D1-7608-1CAA4E04D1B4}"/>
                  </a:ext>
                </a:extLst>
              </p:cNvPr>
              <p:cNvSpPr/>
              <p:nvPr/>
            </p:nvSpPr>
            <p:spPr>
              <a:xfrm>
                <a:off x="605530" y="1601802"/>
                <a:ext cx="10590790" cy="4967782"/>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 name="Oval 5">
                <a:extLst>
                  <a:ext uri="{FF2B5EF4-FFF2-40B4-BE49-F238E27FC236}">
                    <a16:creationId xmlns:a16="http://schemas.microsoft.com/office/drawing/2014/main" id="{FBAF8506-45D6-1464-2EA9-BAD5C9E44E96}"/>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22CD1BFD-574C-E5F5-667A-A8E28277AD99}"/>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561229C-901F-E6AA-7760-7159895368CF}"/>
                      </a:ext>
                    </a:extLst>
                  </p:cNvPr>
                  <p:cNvSpPr txBox="1"/>
                  <p:nvPr/>
                </p:nvSpPr>
                <p:spPr>
                  <a:xfrm>
                    <a:off x="4918353" y="2487883"/>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4918353" y="2487883"/>
                    <a:ext cx="6096000" cy="523220"/>
                  </a:xfrm>
                  <a:prstGeom prst="rect">
                    <a:avLst/>
                  </a:prstGeom>
                  <a:blipFill>
                    <a:blip r:embed="rId6"/>
                    <a:stretch>
                      <a:fillRect/>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7871E19D-2C78-C958-C3C5-E54426343C33}"/>
                  </a:ext>
                </a:extLst>
              </p:cNvPr>
              <p:cNvGrpSpPr/>
              <p:nvPr/>
            </p:nvGrpSpPr>
            <p:grpSpPr>
              <a:xfrm>
                <a:off x="5659484" y="5496161"/>
                <a:ext cx="2475158" cy="750577"/>
                <a:chOff x="6200745" y="5135200"/>
                <a:chExt cx="2475158" cy="750577"/>
              </a:xfrm>
            </p:grpSpPr>
            <p:grpSp>
              <p:nvGrpSpPr>
                <p:cNvPr id="20" name="Group 19">
                  <a:extLst>
                    <a:ext uri="{FF2B5EF4-FFF2-40B4-BE49-F238E27FC236}">
                      <a16:creationId xmlns:a16="http://schemas.microsoft.com/office/drawing/2014/main" id="{AC71D22A-C4FD-A562-E8FB-9618A48A76F8}"/>
                    </a:ext>
                  </a:extLst>
                </p:cNvPr>
                <p:cNvGrpSpPr/>
                <p:nvPr/>
              </p:nvGrpSpPr>
              <p:grpSpPr>
                <a:xfrm rot="1389724">
                  <a:off x="6200745" y="5135200"/>
                  <a:ext cx="2475158" cy="523220"/>
                  <a:chOff x="6197600" y="5013683"/>
                  <a:chExt cx="2475158" cy="523220"/>
                </a:xfrm>
              </p:grpSpPr>
              <p:sp>
                <p:nvSpPr>
                  <p:cNvPr id="12" name="TextBox 11">
                    <a:extLst>
                      <a:ext uri="{FF2B5EF4-FFF2-40B4-BE49-F238E27FC236}">
                        <a16:creationId xmlns:a16="http://schemas.microsoft.com/office/drawing/2014/main" id="{DD281509-7CCC-72FA-5A63-28BAA927617A}"/>
                      </a:ext>
                    </a:extLst>
                  </p:cNvPr>
                  <p:cNvSpPr txBox="1"/>
                  <p:nvPr/>
                </p:nvSpPr>
                <p:spPr>
                  <a:xfrm>
                    <a:off x="7053897" y="5013683"/>
                    <a:ext cx="955604" cy="523220"/>
                  </a:xfrm>
                  <a:prstGeom prst="rect">
                    <a:avLst/>
                  </a:prstGeom>
                  <a:noFill/>
                </p:spPr>
                <p:txBody>
                  <a:bodyPr wrap="square">
                    <a:spAutoFit/>
                  </a:bodyPr>
                  <a:lstStyle/>
                  <a:p>
                    <a:pPr algn="ctr"/>
                    <a:r>
                      <a:rPr lang="en-US" sz="2400" dirty="0">
                        <a:solidFill>
                          <a:srgbClr val="FF0000"/>
                        </a:solidFill>
                      </a:rPr>
                      <a:t>Gap?</a:t>
                    </a:r>
                  </a:p>
                </p:txBody>
              </p:sp>
              <p:cxnSp>
                <p:nvCxnSpPr>
                  <p:cNvPr id="14" name="Straight Arrow Connector 13">
                    <a:extLst>
                      <a:ext uri="{FF2B5EF4-FFF2-40B4-BE49-F238E27FC236}">
                        <a16:creationId xmlns:a16="http://schemas.microsoft.com/office/drawing/2014/main" id="{B82661DB-8387-2CF0-35D0-C14C37B0B8E7}"/>
                      </a:ext>
                    </a:extLst>
                  </p:cNvPr>
                  <p:cNvCxnSpPr>
                    <a:stCxn id="12" idx="1"/>
                  </p:cNvCxnSpPr>
                  <p:nvPr/>
                </p:nvCxnSpPr>
                <p:spPr>
                  <a:xfrm flipH="1">
                    <a:off x="6197600" y="5275293"/>
                    <a:ext cx="856297" cy="1"/>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5AF750-7ABB-9963-C32B-09B336727927}"/>
                      </a:ext>
                    </a:extLst>
                  </p:cNvPr>
                  <p:cNvCxnSpPr>
                    <a:cxnSpLocks/>
                    <a:stCxn id="12" idx="3"/>
                  </p:cNvCxnSpPr>
                  <p:nvPr/>
                </p:nvCxnSpPr>
                <p:spPr>
                  <a:xfrm>
                    <a:off x="8009501" y="5275293"/>
                    <a:ext cx="663257" cy="0"/>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C565268-1DFA-2BDF-B753-888B618F5053}"/>
                    </a:ext>
                  </a:extLst>
                </p:cNvPr>
                <p:cNvSpPr txBox="1"/>
                <p:nvPr/>
              </p:nvSpPr>
              <p:spPr>
                <a:xfrm rot="1389724">
                  <a:off x="6228679" y="5362557"/>
                  <a:ext cx="1810649" cy="523220"/>
                </a:xfrm>
                <a:prstGeom prst="rect">
                  <a:avLst/>
                </a:prstGeom>
                <a:noFill/>
              </p:spPr>
              <p:txBody>
                <a:bodyPr wrap="square">
                  <a:spAutoFit/>
                </a:bodyPr>
                <a:lstStyle/>
                <a:p>
                  <a:pPr algn="ctr"/>
                  <a:r>
                    <a:rPr lang="en-US" sz="2400" dirty="0">
                      <a:solidFill>
                        <a:srgbClr val="FF0000"/>
                      </a:solidFill>
                    </a:rPr>
                    <a:t>Unknown!</a:t>
                  </a:r>
                </a:p>
              </p:txBody>
            </p:sp>
          </p:grpSp>
          <p:sp>
            <p:nvSpPr>
              <p:cNvPr id="3" name="TextBox 2">
                <a:extLst>
                  <a:ext uri="{FF2B5EF4-FFF2-40B4-BE49-F238E27FC236}">
                    <a16:creationId xmlns:a16="http://schemas.microsoft.com/office/drawing/2014/main" id="{6D8DB62C-26FA-47C4-9CF8-BA550BE15574}"/>
                  </a:ext>
                </a:extLst>
              </p:cNvPr>
              <p:cNvSpPr txBox="1"/>
              <p:nvPr/>
            </p:nvSpPr>
            <p:spPr>
              <a:xfrm>
                <a:off x="4355537" y="4040747"/>
                <a:ext cx="1303947" cy="861774"/>
              </a:xfrm>
              <a:prstGeom prst="rect">
                <a:avLst/>
              </a:prstGeom>
              <a:noFill/>
            </p:spPr>
            <p:txBody>
              <a:bodyPr wrap="none" rtlCol="0">
                <a:spAutoFit/>
              </a:bodyPr>
              <a:lstStyle/>
              <a:p>
                <a:r>
                  <a:rPr lang="en-US" sz="1600" dirty="0">
                    <a:solidFill>
                      <a:srgbClr val="7030A0"/>
                    </a:solidFill>
                  </a:rPr>
                  <a:t>Sorting</a:t>
                </a:r>
              </a:p>
              <a:p>
                <a:r>
                  <a:rPr lang="en-US" sz="1600" dirty="0">
                    <a:solidFill>
                      <a:srgbClr val="7030A0"/>
                    </a:solidFill>
                  </a:rPr>
                  <a:t>Shortest Path</a:t>
                </a:r>
              </a:p>
              <a:p>
                <a:r>
                  <a:rPr lang="en-US" sz="1600" dirty="0">
                    <a:solidFill>
                      <a:srgbClr val="7030A0"/>
                    </a:solidFill>
                  </a:rPr>
                  <a:t>Euler Path</a:t>
                </a:r>
              </a:p>
            </p:txBody>
          </p:sp>
          <p:sp>
            <p:nvSpPr>
              <p:cNvPr id="8" name="TextBox 7">
                <a:extLst>
                  <a:ext uri="{FF2B5EF4-FFF2-40B4-BE49-F238E27FC236}">
                    <a16:creationId xmlns:a16="http://schemas.microsoft.com/office/drawing/2014/main" id="{13E90524-0054-417F-44E8-4B21DAC3A3E9}"/>
                  </a:ext>
                </a:extLst>
              </p:cNvPr>
              <p:cNvSpPr txBox="1"/>
              <p:nvPr/>
            </p:nvSpPr>
            <p:spPr>
              <a:xfrm>
                <a:off x="6506152" y="3146462"/>
                <a:ext cx="1765099" cy="584775"/>
              </a:xfrm>
              <a:prstGeom prst="rect">
                <a:avLst/>
              </a:prstGeom>
              <a:noFill/>
            </p:spPr>
            <p:txBody>
              <a:bodyPr wrap="none" rtlCol="0">
                <a:spAutoFit/>
              </a:bodyPr>
              <a:lstStyle/>
              <a:p>
                <a:r>
                  <a:rPr lang="en-US" sz="1600" dirty="0">
                    <a:solidFill>
                      <a:srgbClr val="7030A0"/>
                    </a:solidFill>
                  </a:rPr>
                  <a:t>Cryptography</a:t>
                </a:r>
              </a:p>
              <a:p>
                <a:r>
                  <a:rPr lang="en-US" sz="1600" dirty="0">
                    <a:solidFill>
                      <a:srgbClr val="7030A0"/>
                    </a:solidFill>
                  </a:rPr>
                  <a:t>Prime factorization</a:t>
                </a:r>
              </a:p>
            </p:txBody>
          </p:sp>
          <p:sp>
            <p:nvSpPr>
              <p:cNvPr id="9" name="TextBox 8">
                <a:extLst>
                  <a:ext uri="{FF2B5EF4-FFF2-40B4-BE49-F238E27FC236}">
                    <a16:creationId xmlns:a16="http://schemas.microsoft.com/office/drawing/2014/main" id="{02FB1F7F-722C-2555-934B-D67F0220B70F}"/>
                  </a:ext>
                </a:extLst>
              </p:cNvPr>
              <p:cNvSpPr txBox="1"/>
              <p:nvPr/>
            </p:nvSpPr>
            <p:spPr>
              <a:xfrm>
                <a:off x="7834400" y="886339"/>
                <a:ext cx="927946" cy="830997"/>
              </a:xfrm>
              <a:prstGeom prst="rect">
                <a:avLst/>
              </a:prstGeom>
              <a:noFill/>
            </p:spPr>
            <p:txBody>
              <a:bodyPr wrap="none" rtlCol="0">
                <a:spAutoFit/>
              </a:bodyPr>
              <a:lstStyle/>
              <a:p>
                <a:r>
                  <a:rPr lang="en-US" sz="1600" dirty="0">
                    <a:solidFill>
                      <a:srgbClr val="7030A0"/>
                    </a:solidFill>
                  </a:rPr>
                  <a:t>Checkers</a:t>
                </a:r>
              </a:p>
              <a:p>
                <a:r>
                  <a:rPr lang="en-US" sz="1600" dirty="0">
                    <a:solidFill>
                      <a:srgbClr val="7030A0"/>
                    </a:solidFill>
                  </a:rPr>
                  <a:t>Go</a:t>
                </a:r>
              </a:p>
              <a:p>
                <a:r>
                  <a:rPr lang="en-US" sz="1600" dirty="0">
                    <a:solidFill>
                      <a:srgbClr val="7030A0"/>
                    </a:solidFill>
                  </a:rPr>
                  <a:t>Chess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11B5139-FBD7-3531-7C1C-1F1621BA7785}"/>
                      </a:ext>
                    </a:extLst>
                  </p:cNvPr>
                  <p:cNvSpPr txBox="1"/>
                  <p:nvPr/>
                </p:nvSpPr>
                <p:spPr>
                  <a:xfrm rot="2360876">
                    <a:off x="6769996" y="2815137"/>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r>
                            <a:rPr lang="en-US" sz="2800" b="0" i="1" dirty="0" smtClean="0">
                              <a:solidFill>
                                <a:schemeClr val="tx1"/>
                              </a:solidFill>
                              <a:latin typeface="Cambria Math" panose="02040503050406030204" pitchFamily="18" charset="0"/>
                            </a:rPr>
                            <m:t>−</m:t>
                          </m:r>
                          <m:r>
                            <a:rPr lang="en-US" sz="2800" b="0" i="1" dirty="0" smtClean="0">
                              <a:solidFill>
                                <a:schemeClr val="tx1"/>
                              </a:solidFill>
                              <a:latin typeface="Cambria Math" panose="02040503050406030204" pitchFamily="18" charset="0"/>
                            </a:rPr>
                            <m:t>𝐶𝑜𝑚𝑝𝑙𝑒𝑡𝑒</m:t>
                          </m:r>
                        </m:oMath>
                      </m:oMathPara>
                    </a14:m>
                    <a:endParaRPr lang="en-US" sz="2800" dirty="0">
                      <a:solidFill>
                        <a:schemeClr val="tx1"/>
                      </a:solidFill>
                    </a:endParaRPr>
                  </a:p>
                </p:txBody>
              </p:sp>
            </mc:Choice>
            <mc:Fallback xmlns="">
              <p:sp>
                <p:nvSpPr>
                  <p:cNvPr id="13" name="TextBox 12">
                    <a:extLst>
                      <a:ext uri="{FF2B5EF4-FFF2-40B4-BE49-F238E27FC236}">
                        <a16:creationId xmlns:a16="http://schemas.microsoft.com/office/drawing/2014/main" id="{B11B5139-FBD7-3531-7C1C-1F1621BA7785}"/>
                      </a:ext>
                    </a:extLst>
                  </p:cNvPr>
                  <p:cNvSpPr txBox="1">
                    <a:spLocks noRot="1" noChangeAspect="1" noMove="1" noResize="1" noEditPoints="1" noAdjustHandles="1" noChangeArrowheads="1" noChangeShapeType="1" noTextEdit="1"/>
                  </p:cNvSpPr>
                  <p:nvPr/>
                </p:nvSpPr>
                <p:spPr>
                  <a:xfrm rot="2360876">
                    <a:off x="6769996" y="2815137"/>
                    <a:ext cx="6096000" cy="523220"/>
                  </a:xfrm>
                  <a:prstGeom prst="rect">
                    <a:avLst/>
                  </a:prstGeom>
                  <a:blipFill>
                    <a:blip r:embed="rId7"/>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A0F67D4C-CBE9-7144-95D5-AA867D702FFA}"/>
                  </a:ext>
                </a:extLst>
              </p:cNvPr>
              <p:cNvSpPr txBox="1"/>
              <p:nvPr/>
            </p:nvSpPr>
            <p:spPr>
              <a:xfrm>
                <a:off x="5471488" y="1570018"/>
                <a:ext cx="2308598" cy="830997"/>
              </a:xfrm>
              <a:prstGeom prst="rect">
                <a:avLst/>
              </a:prstGeom>
              <a:noFill/>
            </p:spPr>
            <p:txBody>
              <a:bodyPr wrap="square">
                <a:spAutoFit/>
              </a:bodyPr>
              <a:lstStyle/>
              <a:p>
                <a:r>
                  <a:rPr lang="en-US" sz="1600" dirty="0">
                    <a:solidFill>
                      <a:srgbClr val="7030A0"/>
                    </a:solidFill>
                  </a:rPr>
                  <a:t>Vertex Cover</a:t>
                </a:r>
              </a:p>
              <a:p>
                <a:r>
                  <a:rPr lang="en-US" sz="1600" dirty="0">
                    <a:solidFill>
                      <a:srgbClr val="7030A0"/>
                    </a:solidFill>
                  </a:rPr>
                  <a:t>Independent Set</a:t>
                </a:r>
              </a:p>
              <a:p>
                <a:r>
                  <a:rPr lang="en-US" sz="1600" dirty="0">
                    <a:solidFill>
                      <a:srgbClr val="7030A0"/>
                    </a:solidFill>
                  </a:rPr>
                  <a:t>Hamiltonian Path</a:t>
                </a:r>
              </a:p>
            </p:txBody>
          </p:sp>
        </p:grpSp>
        <mc:AlternateContent xmlns:mc="http://schemas.openxmlformats.org/markup-compatibility/2006" xmlns:a14="http://schemas.microsoft.com/office/drawing/2010/main">
          <mc:Choice Requires="a14">
            <p:sp>
              <p:nvSpPr>
                <p:cNvPr id="16" name="Arrow: Right 15">
                  <a:extLst>
                    <a:ext uri="{FF2B5EF4-FFF2-40B4-BE49-F238E27FC236}">
                      <a16:creationId xmlns:a16="http://schemas.microsoft.com/office/drawing/2014/main" id="{26F47A85-59BE-F883-E96D-625BE705A42A}"/>
                    </a:ext>
                  </a:extLst>
                </p:cNvPr>
                <p:cNvSpPr/>
                <p:nvPr/>
              </p:nvSpPr>
              <p:spPr>
                <a:xfrm rot="2172224">
                  <a:off x="9931653" y="5228397"/>
                  <a:ext cx="1995037" cy="988196"/>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16" name="Arrow: Right 15">
                  <a:extLst>
                    <a:ext uri="{FF2B5EF4-FFF2-40B4-BE49-F238E27FC236}">
                      <a16:creationId xmlns:a16="http://schemas.microsoft.com/office/drawing/2014/main" id="{26F47A85-59BE-F883-E96D-625BE705A42A}"/>
                    </a:ext>
                  </a:extLst>
                </p:cNvPr>
                <p:cNvSpPr>
                  <a:spLocks noRot="1" noChangeAspect="1" noMove="1" noResize="1" noEditPoints="1" noAdjustHandles="1" noChangeArrowheads="1" noChangeShapeType="1" noTextEdit="1"/>
                </p:cNvSpPr>
                <p:nvPr/>
              </p:nvSpPr>
              <p:spPr>
                <a:xfrm rot="2172224">
                  <a:off x="9931653" y="5228397"/>
                  <a:ext cx="1995037" cy="988196"/>
                </a:xfrm>
                <a:prstGeom prst="rightArrow">
                  <a:avLst/>
                </a:prstGeom>
                <a:blipFill>
                  <a:blip r:embed="rId8"/>
                  <a:stretch>
                    <a:fillRect/>
                  </a:stretch>
                </a:blipFill>
                <a:ln>
                  <a:solidFill>
                    <a:schemeClr val="tx1"/>
                  </a:solidFill>
                </a:ln>
              </p:spPr>
              <p:txBody>
                <a:bodyPr/>
                <a:lstStyle/>
                <a:p>
                  <a:r>
                    <a:rPr lang="en-US">
                      <a:noFill/>
                    </a:rPr>
                    <a:t> </a:t>
                  </a:r>
                </a:p>
              </p:txBody>
            </p:sp>
          </mc:Fallback>
        </mc:AlternateContent>
      </p:grpSp>
      <mc:AlternateContent xmlns:mc="http://schemas.openxmlformats.org/markup-compatibility/2006">
        <mc:Choice xmlns:p14="http://schemas.microsoft.com/office/powerpoint/2010/main" Requires="p14">
          <p:contentPart p14:bwMode="auto" r:id="rId9">
            <p14:nvContentPartPr>
              <p14:cNvPr id="22" name="Ink 21">
                <a:extLst>
                  <a:ext uri="{FF2B5EF4-FFF2-40B4-BE49-F238E27FC236}">
                    <a16:creationId xmlns:a16="http://schemas.microsoft.com/office/drawing/2014/main" id="{C073A8F7-6EEE-4D23-B28F-20F4C851BAC1}"/>
                  </a:ext>
                </a:extLst>
              </p14:cNvPr>
              <p14:cNvContentPartPr/>
              <p14:nvPr/>
            </p14:nvContentPartPr>
            <p14:xfrm>
              <a:off x="4037400" y="2238120"/>
              <a:ext cx="7838640" cy="4255920"/>
            </p14:xfrm>
          </p:contentPart>
        </mc:Choice>
        <mc:Fallback>
          <p:pic>
            <p:nvPicPr>
              <p:cNvPr id="22" name="Ink 21">
                <a:extLst>
                  <a:ext uri="{FF2B5EF4-FFF2-40B4-BE49-F238E27FC236}">
                    <a16:creationId xmlns:a16="http://schemas.microsoft.com/office/drawing/2014/main" id="{C073A8F7-6EEE-4D23-B28F-20F4C851BAC1}"/>
                  </a:ext>
                </a:extLst>
              </p:cNvPr>
              <p:cNvPicPr/>
              <p:nvPr/>
            </p:nvPicPr>
            <p:blipFill>
              <a:blip r:embed="rId10"/>
              <a:stretch>
                <a:fillRect/>
              </a:stretch>
            </p:blipFill>
            <p:spPr>
              <a:xfrm>
                <a:off x="4028040" y="2228760"/>
                <a:ext cx="7857360" cy="4274640"/>
              </a:xfrm>
              <a:prstGeom prst="rect">
                <a:avLst/>
              </a:prstGeom>
            </p:spPr>
          </p:pic>
        </mc:Fallback>
      </mc:AlternateContent>
    </p:spTree>
    <p:extLst>
      <p:ext uri="{BB962C8B-B14F-4D97-AF65-F5344CB8AC3E}">
        <p14:creationId xmlns:p14="http://schemas.microsoft.com/office/powerpoint/2010/main" val="322590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NP-Hard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9910" y="2407376"/>
                <a:ext cx="7834893" cy="4525963"/>
              </a:xfrm>
            </p:spPr>
            <p:txBody>
              <a:bodyPr>
                <a:normAutofit/>
              </a:bodyPr>
              <a:lstStyle/>
              <a:p>
                <a:r>
                  <a:rPr lang="en-US" dirty="0"/>
                  <a:t>How can we try to figure out if P=NP?</a:t>
                </a:r>
              </a:p>
              <a:p>
                <a:r>
                  <a:rPr lang="en-US" dirty="0"/>
                  <a:t>Identify problems at least as “hard” as NP</a:t>
                </a:r>
              </a:p>
              <a:p>
                <a:pPr lvl="1"/>
                <a:r>
                  <a:rPr lang="en-US" dirty="0"/>
                  <a:t>If any of these “hard” problems can be solved in polynomial time, then all NP problems can be solved in polynomial time.</a:t>
                </a:r>
              </a:p>
              <a:p>
                <a:r>
                  <a:rPr lang="en-US" dirty="0"/>
                  <a:t>Definition: NP-Hard:</a:t>
                </a:r>
              </a:p>
              <a:p>
                <a:pPr lvl="1"/>
                <a14:m>
                  <m:oMath xmlns:m="http://schemas.openxmlformats.org/officeDocument/2006/math">
                    <m:r>
                      <a:rPr lang="en-US" b="0" i="1" smtClean="0">
                        <a:latin typeface="Cambria Math"/>
                      </a:rPr>
                      <m:t>𝐵</m:t>
                    </m:r>
                  </m:oMath>
                </a14:m>
                <a:r>
                  <a:rPr lang="en-US" dirty="0"/>
                  <a:t> is NP-Hard provided EVERY problem within NP reduces to </a:t>
                </a:r>
                <a14:m>
                  <m:oMath xmlns:m="http://schemas.openxmlformats.org/officeDocument/2006/math">
                    <m:r>
                      <a:rPr lang="en-US" i="1" dirty="0" smtClean="0">
                        <a:latin typeface="Cambria Math" panose="02040503050406030204" pitchFamily="18" charset="0"/>
                      </a:rPr>
                      <m:t>𝐵</m:t>
                    </m:r>
                  </m:oMath>
                </a14:m>
                <a:r>
                  <a:rPr lang="en-US" dirty="0"/>
                  <a:t> in polynomial time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9910" y="2407376"/>
                <a:ext cx="7834893" cy="4525963"/>
              </a:xfrm>
              <a:blipFill>
                <a:blip r:embed="rId2"/>
                <a:stretch>
                  <a:fillRect l="-1401" t="-2291"/>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F0F53445-FAF3-55FA-3158-72BDE63F810D}"/>
              </a:ext>
              <a:ext uri="{C183D7F6-B498-43B3-948B-1728B52AA6E4}">
                <adec:decorative xmlns:adec="http://schemas.microsoft.com/office/drawing/2017/decorative" val="1"/>
              </a:ext>
            </a:extLst>
          </p:cNvPr>
          <p:cNvGrpSpPr/>
          <p:nvPr/>
        </p:nvGrpSpPr>
        <p:grpSpPr>
          <a:xfrm>
            <a:off x="6431618" y="365125"/>
            <a:ext cx="5318549" cy="2636366"/>
            <a:chOff x="1879600" y="1306031"/>
            <a:chExt cx="11168359" cy="5536073"/>
          </a:xfrm>
        </p:grpSpPr>
        <p:grpSp>
          <p:nvGrpSpPr>
            <p:cNvPr id="13" name="Group 12">
              <a:extLst>
                <a:ext uri="{FF2B5EF4-FFF2-40B4-BE49-F238E27FC236}">
                  <a16:creationId xmlns:a16="http://schemas.microsoft.com/office/drawing/2014/main" id="{14DA0434-297F-EDAC-265F-E170CC0E9D56}"/>
                </a:ext>
              </a:extLst>
            </p:cNvPr>
            <p:cNvGrpSpPr/>
            <p:nvPr/>
          </p:nvGrpSpPr>
          <p:grpSpPr>
            <a:xfrm>
              <a:off x="1879600" y="1306031"/>
              <a:ext cx="10257117" cy="5536073"/>
              <a:chOff x="396240" y="595664"/>
              <a:chExt cx="11602720" cy="6262336"/>
            </a:xfrm>
          </p:grpSpPr>
          <p:sp>
            <p:nvSpPr>
              <p:cNvPr id="15" name="Oval 14">
                <a:extLst>
                  <a:ext uri="{FF2B5EF4-FFF2-40B4-BE49-F238E27FC236}">
                    <a16:creationId xmlns:a16="http://schemas.microsoft.com/office/drawing/2014/main" id="{DCCFA8EE-2EC1-829A-DC41-28DDBA62D32D}"/>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62A4565-A14C-5F02-5358-EE00317DBF4F}"/>
                      </a:ext>
                    </a:extLst>
                  </p:cNvPr>
                  <p:cNvSpPr txBox="1"/>
                  <p:nvPr/>
                </p:nvSpPr>
                <p:spPr>
                  <a:xfrm>
                    <a:off x="3342640" y="595664"/>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6" name="TextBox 15">
                    <a:extLst>
                      <a:ext uri="{FF2B5EF4-FFF2-40B4-BE49-F238E27FC236}">
                        <a16:creationId xmlns:a16="http://schemas.microsoft.com/office/drawing/2014/main" id="{E62A4565-A14C-5F02-5358-EE00317DBF4F}"/>
                      </a:ext>
                    </a:extLst>
                  </p:cNvPr>
                  <p:cNvSpPr txBox="1">
                    <a:spLocks noRot="1" noChangeAspect="1" noMove="1" noResize="1" noEditPoints="1" noAdjustHandles="1" noChangeArrowheads="1" noChangeShapeType="1" noTextEdit="1"/>
                  </p:cNvSpPr>
                  <p:nvPr/>
                </p:nvSpPr>
                <p:spPr>
                  <a:xfrm>
                    <a:off x="3342640" y="595664"/>
                    <a:ext cx="6095999" cy="523220"/>
                  </a:xfrm>
                  <a:prstGeom prst="rect">
                    <a:avLst/>
                  </a:prstGeom>
                  <a:blipFill>
                    <a:blip r:embed="rId3"/>
                    <a:stretch>
                      <a:fillRect b="-75000"/>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28F03A6E-7CF2-FBE9-409B-B681CCB04C75}"/>
                  </a:ext>
                </a:extLst>
              </p:cNvPr>
              <p:cNvSpPr/>
              <p:nvPr/>
            </p:nvSpPr>
            <p:spPr>
              <a:xfrm>
                <a:off x="605530" y="1601802"/>
                <a:ext cx="10590790" cy="4967782"/>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Oval 17">
                <a:extLst>
                  <a:ext uri="{FF2B5EF4-FFF2-40B4-BE49-F238E27FC236}">
                    <a16:creationId xmlns:a16="http://schemas.microsoft.com/office/drawing/2014/main" id="{2D70E952-52DF-72BC-9B33-4E87FA4183A5}"/>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DE996C53-6C44-655D-9BC1-7794BDB41CFF}"/>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6A1AEB1-2219-1DCD-8807-2194947DF6D1}"/>
                      </a:ext>
                    </a:extLst>
                  </p:cNvPr>
                  <p:cNvSpPr txBox="1"/>
                  <p:nvPr/>
                </p:nvSpPr>
                <p:spPr>
                  <a:xfrm>
                    <a:off x="4918353" y="2487883"/>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4918353" y="2487883"/>
                    <a:ext cx="6096000" cy="523220"/>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 name="Arrow: Right 13">
                  <a:extLst>
                    <a:ext uri="{FF2B5EF4-FFF2-40B4-BE49-F238E27FC236}">
                      <a16:creationId xmlns:a16="http://schemas.microsoft.com/office/drawing/2014/main" id="{F337C3E7-E099-50D2-4917-C5F11ACA2017}"/>
                    </a:ext>
                  </a:extLst>
                </p:cNvPr>
                <p:cNvSpPr/>
                <p:nvPr/>
              </p:nvSpPr>
              <p:spPr>
                <a:xfrm rot="2172224">
                  <a:off x="9811840" y="5594923"/>
                  <a:ext cx="3236119" cy="988195"/>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14" name="Arrow: Right 13">
                  <a:extLst>
                    <a:ext uri="{FF2B5EF4-FFF2-40B4-BE49-F238E27FC236}">
                      <a16:creationId xmlns:a16="http://schemas.microsoft.com/office/drawing/2014/main" id="{F337C3E7-E099-50D2-4917-C5F11ACA2017}"/>
                    </a:ext>
                  </a:extLst>
                </p:cNvPr>
                <p:cNvSpPr>
                  <a:spLocks noRot="1" noChangeAspect="1" noMove="1" noResize="1" noEditPoints="1" noAdjustHandles="1" noChangeArrowheads="1" noChangeShapeType="1" noTextEdit="1"/>
                </p:cNvSpPr>
                <p:nvPr/>
              </p:nvSpPr>
              <p:spPr>
                <a:xfrm rot="2172224">
                  <a:off x="9811840" y="5594923"/>
                  <a:ext cx="3236119" cy="988195"/>
                </a:xfrm>
                <a:prstGeom prst="rightArrow">
                  <a:avLst/>
                </a:prstGeom>
                <a:blipFill>
                  <a:blip r:embed="rId7"/>
                  <a:stretch>
                    <a:fillRect/>
                  </a:stretch>
                </a:blipFill>
                <a:ln>
                  <a:solidFill>
                    <a:schemeClr val="tx1"/>
                  </a:solidFill>
                </a:ln>
              </p:spPr>
              <p:txBody>
                <a:bodyPr/>
                <a:lstStyle/>
                <a:p>
                  <a:r>
                    <a:rPr lang="en-US">
                      <a:noFill/>
                    </a:rPr>
                    <a:t> </a:t>
                  </a:r>
                </a:p>
              </p:txBody>
            </p:sp>
          </mc:Fallback>
        </mc:AlternateContent>
      </p:grpSp>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ECBFEACE-9075-9341-F019-C21EB373FEE9}"/>
                  </a:ext>
                </a:extLst>
              </p14:cNvPr>
              <p14:cNvContentPartPr/>
              <p14:nvPr/>
            </p14:nvContentPartPr>
            <p14:xfrm>
              <a:off x="414720" y="1350000"/>
              <a:ext cx="6194880" cy="4357080"/>
            </p14:xfrm>
          </p:contentPart>
        </mc:Choice>
        <mc:Fallback>
          <p:pic>
            <p:nvPicPr>
              <p:cNvPr id="4" name="Ink 3">
                <a:extLst>
                  <a:ext uri="{FF2B5EF4-FFF2-40B4-BE49-F238E27FC236}">
                    <a16:creationId xmlns:a16="http://schemas.microsoft.com/office/drawing/2014/main" id="{ECBFEACE-9075-9341-F019-C21EB373FEE9}"/>
                  </a:ext>
                </a:extLst>
              </p:cNvPr>
              <p:cNvPicPr/>
              <p:nvPr/>
            </p:nvPicPr>
            <p:blipFill>
              <a:blip r:embed="rId9"/>
              <a:stretch>
                <a:fillRect/>
              </a:stretch>
            </p:blipFill>
            <p:spPr>
              <a:xfrm>
                <a:off x="405360" y="1340640"/>
                <a:ext cx="6213600" cy="4375800"/>
              </a:xfrm>
              <a:prstGeom prst="rect">
                <a:avLst/>
              </a:prstGeom>
            </p:spPr>
          </p:pic>
        </mc:Fallback>
      </mc:AlternateContent>
    </p:spTree>
    <p:extLst>
      <p:ext uri="{BB962C8B-B14F-4D97-AF65-F5344CB8AC3E}">
        <p14:creationId xmlns:p14="http://schemas.microsoft.com/office/powerpoint/2010/main" val="2997441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001" y="-225840"/>
            <a:ext cx="10515600" cy="1325563"/>
          </a:xfrm>
        </p:spPr>
        <p:txBody>
          <a:bodyPr/>
          <a:lstStyle/>
          <a:p>
            <a:r>
              <a:rPr lang="en-US" dirty="0"/>
              <a:t>NP-Hard Idea</a:t>
            </a:r>
          </a:p>
        </p:txBody>
      </p:sp>
      <p:grpSp>
        <p:nvGrpSpPr>
          <p:cNvPr id="9" name="Group 8" descr="The definition of an NP-Hard problem is one where we can reduce EVERY NP problem to that problem in polynomial time. The idea being that if this NP-Hard problem had a polynomial time algorithm to solve it, every NP problem has a polynomial time algorithm to solve it. Therefore P would be equal to NP.">
            <a:extLst>
              <a:ext uri="{FF2B5EF4-FFF2-40B4-BE49-F238E27FC236}">
                <a16:creationId xmlns:a16="http://schemas.microsoft.com/office/drawing/2014/main" id="{1C38BF59-2678-07E2-0CF7-46925D9E8D80}"/>
              </a:ext>
            </a:extLst>
          </p:cNvPr>
          <p:cNvGrpSpPr/>
          <p:nvPr/>
        </p:nvGrpSpPr>
        <p:grpSpPr>
          <a:xfrm>
            <a:off x="1615701" y="1367136"/>
            <a:ext cx="8339945" cy="5249682"/>
            <a:chOff x="1615701" y="1367136"/>
            <a:chExt cx="8339945" cy="5249682"/>
          </a:xfrm>
        </p:grpSpPr>
        <p:grpSp>
          <p:nvGrpSpPr>
            <p:cNvPr id="3" name="Group 2">
              <a:extLst>
                <a:ext uri="{FF2B5EF4-FFF2-40B4-BE49-F238E27FC236}">
                  <a16:creationId xmlns:a16="http://schemas.microsoft.com/office/drawing/2014/main" id="{47CACA1E-7D99-1A72-8817-433C0E3DC080}"/>
                </a:ext>
              </a:extLst>
            </p:cNvPr>
            <p:cNvGrpSpPr/>
            <p:nvPr/>
          </p:nvGrpSpPr>
          <p:grpSpPr>
            <a:xfrm>
              <a:off x="1615701" y="1403866"/>
              <a:ext cx="1751882" cy="1587160"/>
              <a:chOff x="1615701" y="1403866"/>
              <a:chExt cx="1751882" cy="1587160"/>
            </a:xfrm>
          </p:grpSpPr>
          <p:sp>
            <p:nvSpPr>
              <p:cNvPr id="12" name="TextBox 11"/>
              <p:cNvSpPr txBox="1"/>
              <p:nvPr/>
            </p:nvSpPr>
            <p:spPr>
              <a:xfrm>
                <a:off x="1615701" y="1403866"/>
                <a:ext cx="1704313" cy="369332"/>
              </a:xfrm>
              <a:prstGeom prst="rect">
                <a:avLst/>
              </a:prstGeom>
              <a:noFill/>
            </p:spPr>
            <p:txBody>
              <a:bodyPr wrap="none" rtlCol="0">
                <a:spAutoFit/>
              </a:bodyPr>
              <a:lstStyle/>
              <a:p>
                <a:r>
                  <a:rPr lang="en-US" dirty="0"/>
                  <a:t>Any NP Problem</a:t>
                </a:r>
              </a:p>
            </p:txBody>
          </p:sp>
          <mc:AlternateContent xmlns:mc="http://schemas.openxmlformats.org/markup-compatibility/2006" xmlns:a14="http://schemas.microsoft.com/office/drawing/2010/main">
            <mc:Choice Requires="a14">
              <p:sp>
                <p:nvSpPr>
                  <p:cNvPr id="22" name="Flowchart: Magnetic Disk 21"/>
                  <p:cNvSpPr/>
                  <p:nvPr/>
                </p:nvSpPr>
                <p:spPr>
                  <a:xfrm>
                    <a:off x="2741659" y="1806836"/>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xmlns="">
              <p:sp>
                <p:nvSpPr>
                  <p:cNvPr id="22" name="Flowchart: Magnetic Disk 21"/>
                  <p:cNvSpPr>
                    <a:spLocks noRot="1" noChangeAspect="1" noMove="1" noResize="1" noEditPoints="1" noAdjustHandles="1" noChangeArrowheads="1" noChangeShapeType="1" noTextEdit="1"/>
                  </p:cNvSpPr>
                  <p:nvPr/>
                </p:nvSpPr>
                <p:spPr>
                  <a:xfrm>
                    <a:off x="2741659" y="1806836"/>
                    <a:ext cx="625924" cy="1184190"/>
                  </a:xfrm>
                  <a:prstGeom prst="flowChartMagneticDisk">
                    <a:avLst/>
                  </a:prstGeom>
                  <a:blipFill>
                    <a:blip r:embed="rId2"/>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FD6E9CA6-7A62-2454-0401-344E3C81837A}"/>
                </a:ext>
              </a:extLst>
            </p:cNvPr>
            <p:cNvGrpSpPr/>
            <p:nvPr/>
          </p:nvGrpSpPr>
          <p:grpSpPr>
            <a:xfrm>
              <a:off x="7696200" y="1371600"/>
              <a:ext cx="2128660" cy="1525860"/>
              <a:chOff x="7696200" y="1371600"/>
              <a:chExt cx="2128660" cy="1525860"/>
            </a:xfrm>
          </p:grpSpPr>
          <p:sp>
            <p:nvSpPr>
              <p:cNvPr id="16" name="TextBox 15"/>
              <p:cNvSpPr txBox="1"/>
              <p:nvPr/>
            </p:nvSpPr>
            <p:spPr>
              <a:xfrm>
                <a:off x="7696200" y="1371600"/>
                <a:ext cx="2128660" cy="369332"/>
              </a:xfrm>
              <a:prstGeom prst="rect">
                <a:avLst/>
              </a:prstGeom>
              <a:noFill/>
            </p:spPr>
            <p:txBody>
              <a:bodyPr wrap="none" rtlCol="0">
                <a:spAutoFit/>
              </a:bodyPr>
              <a:lstStyle/>
              <a:p>
                <a:r>
                  <a:rPr lang="en-US" dirty="0"/>
                  <a:t>An NP-Hard Problem</a:t>
                </a:r>
              </a:p>
            </p:txBody>
          </p:sp>
          <mc:AlternateContent xmlns:mc="http://schemas.openxmlformats.org/markup-compatibility/2006" xmlns:a14="http://schemas.microsoft.com/office/drawing/2010/main">
            <mc:Choice Requires="a14">
              <p:sp>
                <p:nvSpPr>
                  <p:cNvPr id="23" name="Rectangle 22"/>
                  <p:cNvSpPr/>
                  <p:nvPr/>
                </p:nvSpPr>
                <p:spPr>
                  <a:xfrm>
                    <a:off x="891339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8913392" y="1892573"/>
                    <a:ext cx="625924" cy="1004887"/>
                  </a:xfrm>
                  <a:prstGeom prst="rect">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p:grpSp>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grpSp>
          <p:nvGrpSpPr>
            <p:cNvPr id="6" name="Group 5">
              <a:extLst>
                <a:ext uri="{FF2B5EF4-FFF2-40B4-BE49-F238E27FC236}">
                  <a16:creationId xmlns:a16="http://schemas.microsoft.com/office/drawing/2014/main" id="{92FD62ED-B9AD-1508-115D-0E0F6D77F9A7}"/>
                </a:ext>
              </a:extLst>
            </p:cNvPr>
            <p:cNvGrpSpPr/>
            <p:nvPr/>
          </p:nvGrpSpPr>
          <p:grpSpPr>
            <a:xfrm>
              <a:off x="8454979" y="4873374"/>
              <a:ext cx="1500667" cy="1374220"/>
              <a:chOff x="8454979" y="4873374"/>
              <a:chExt cx="1500667" cy="1374220"/>
            </a:xfrm>
          </p:grpSpPr>
          <mc:AlternateContent xmlns:mc="http://schemas.openxmlformats.org/markup-compatibility/2006" xmlns:a14="http://schemas.microsoft.com/office/drawing/2010/main">
            <mc:Choice Requires="a14">
              <p:sp>
                <p:nvSpPr>
                  <p:cNvPr id="21" name="TextBox 20"/>
                  <p:cNvSpPr txBox="1"/>
                  <p:nvPr/>
                </p:nvSpPr>
                <p:spPr>
                  <a:xfrm>
                    <a:off x="845497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8454979" y="4873374"/>
                    <a:ext cx="1500667" cy="369332"/>
                  </a:xfrm>
                  <a:prstGeom prst="rect">
                    <a:avLst/>
                  </a:prstGeom>
                  <a:blipFill>
                    <a:blip r:embed="rId4"/>
                    <a:stretch>
                      <a:fillRect l="-3659"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9" name="Rectangle 278"/>
                  <p:cNvSpPr/>
                  <p:nvPr/>
                </p:nvSpPr>
                <p:spPr>
                  <a:xfrm>
                    <a:off x="893774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xmlns="">
              <p:sp>
                <p:nvSpPr>
                  <p:cNvPr id="279" name="Rectangle 278"/>
                  <p:cNvSpPr>
                    <a:spLocks noRot="1" noChangeAspect="1" noMove="1" noResize="1" noEditPoints="1" noAdjustHandles="1" noChangeArrowheads="1" noChangeShapeType="1" noTextEdit="1"/>
                  </p:cNvSpPr>
                  <p:nvPr/>
                </p:nvSpPr>
                <p:spPr>
                  <a:xfrm>
                    <a:off x="8937741" y="5242707"/>
                    <a:ext cx="625924" cy="1004887"/>
                  </a:xfrm>
                  <a:prstGeom prst="rect">
                    <a:avLst/>
                  </a:prstGeom>
                  <a:blipFill>
                    <a:blip r:embed="rId5"/>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23C3AB42-A67A-F4D7-8F00-F21F7122C54C}"/>
                </a:ext>
              </a:extLst>
            </p:cNvPr>
            <p:cNvGrpSpPr/>
            <p:nvPr/>
          </p:nvGrpSpPr>
          <p:grpSpPr>
            <a:xfrm>
              <a:off x="2378525" y="4727933"/>
              <a:ext cx="1486241" cy="1596667"/>
              <a:chOff x="2378525" y="4727933"/>
              <a:chExt cx="1486241" cy="1596667"/>
            </a:xfrm>
          </p:grpSpPr>
          <mc:AlternateContent xmlns:mc="http://schemas.openxmlformats.org/markup-compatibility/2006" xmlns:a14="http://schemas.microsoft.com/office/drawing/2010/main">
            <mc:Choice Requires="a14">
              <p:sp>
                <p:nvSpPr>
                  <p:cNvPr id="28" name="TextBox 27"/>
                  <p:cNvSpPr txBox="1"/>
                  <p:nvPr/>
                </p:nvSpPr>
                <p:spPr>
                  <a:xfrm>
                    <a:off x="2378525"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xmlns="">
              <p:sp>
                <p:nvSpPr>
                  <p:cNvPr id="28" name="TextBox 27"/>
                  <p:cNvSpPr txBox="1">
                    <a:spLocks noRot="1" noChangeAspect="1" noMove="1" noResize="1" noEditPoints="1" noAdjustHandles="1" noChangeArrowheads="1" noChangeShapeType="1" noTextEdit="1"/>
                  </p:cNvSpPr>
                  <p:nvPr/>
                </p:nvSpPr>
                <p:spPr>
                  <a:xfrm>
                    <a:off x="2378525" y="4727933"/>
                    <a:ext cx="1486241" cy="369332"/>
                  </a:xfrm>
                  <a:prstGeom prst="rect">
                    <a:avLst/>
                  </a:prstGeom>
                  <a:blipFill>
                    <a:blip r:embed="rId6"/>
                    <a:stretch>
                      <a:fillRect l="-3279"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0" name="Flowchart: Magnetic Disk 279"/>
                  <p:cNvSpPr/>
                  <p:nvPr/>
                </p:nvSpPr>
                <p:spPr>
                  <a:xfrm>
                    <a:off x="2822171"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xmlns="">
              <p:sp>
                <p:nvSpPr>
                  <p:cNvPr id="280" name="Flowchart: Magnetic Disk 279"/>
                  <p:cNvSpPr>
                    <a:spLocks noRot="1" noChangeAspect="1" noMove="1" noResize="1" noEditPoints="1" noAdjustHandles="1" noChangeArrowheads="1" noChangeShapeType="1" noTextEdit="1"/>
                  </p:cNvSpPr>
                  <p:nvPr/>
                </p:nvSpPr>
                <p:spPr>
                  <a:xfrm>
                    <a:off x="2822171"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8" name="Group 7">
              <a:extLst>
                <a:ext uri="{FF2B5EF4-FFF2-40B4-BE49-F238E27FC236}">
                  <a16:creationId xmlns:a16="http://schemas.microsoft.com/office/drawing/2014/main" id="{F0AE9986-7B8B-6951-E3F8-7752EB057A09}"/>
                </a:ext>
              </a:extLst>
            </p:cNvPr>
            <p:cNvGrpSpPr/>
            <p:nvPr/>
          </p:nvGrpSpPr>
          <p:grpSpPr>
            <a:xfrm>
              <a:off x="4488720" y="1367136"/>
              <a:ext cx="3215508" cy="5249682"/>
              <a:chOff x="4488720" y="1367136"/>
              <a:chExt cx="3215508" cy="5249682"/>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AutoShape 5"/>
              <p:cNvSpPr>
                <a:spLocks noChangeArrowheads="1"/>
              </p:cNvSpPr>
              <p:nvPr/>
            </p:nvSpPr>
            <p:spPr bwMode="auto">
              <a:xfrm>
                <a:off x="4627562"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xmlns:a14="http://schemas.microsoft.com/office/drawing/2010/main">
            <mc:Choice Requires="a14">
              <p:sp>
                <p:nvSpPr>
                  <p:cNvPr id="20" name="TextBox 19"/>
                  <p:cNvSpPr txBox="1"/>
                  <p:nvPr/>
                </p:nvSpPr>
                <p:spPr>
                  <a:xfrm>
                    <a:off x="5489064"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5489064"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grpSp>
      <p:sp>
        <p:nvSpPr>
          <p:cNvPr id="26" name="Rounded Rectangular Callout 25">
            <a:extLst>
              <a:ext uri="{FF2B5EF4-FFF2-40B4-BE49-F238E27FC236}">
                <a16:creationId xmlns:a16="http://schemas.microsoft.com/office/drawing/2014/main" id="{EBD3D364-96E8-A14B-8D5D-6D824FA6B43A}"/>
              </a:ext>
            </a:extLst>
          </p:cNvPr>
          <p:cNvSpPr/>
          <p:nvPr/>
        </p:nvSpPr>
        <p:spPr>
          <a:xfrm>
            <a:off x="358401" y="105841"/>
            <a:ext cx="2514600" cy="884759"/>
          </a:xfrm>
          <a:prstGeom prst="wedgeRoundRectCallout">
            <a:avLst>
              <a:gd name="adj1" fmla="val 26844"/>
              <a:gd name="adj2" fmla="val 98345"/>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t>For every NP problem</a:t>
            </a:r>
            <a:endParaRPr lang="en-US" dirty="0"/>
          </a:p>
        </p:txBody>
      </p:sp>
      <p:sp>
        <p:nvSpPr>
          <p:cNvPr id="27" name="Rounded Rectangular Callout 26">
            <a:extLst>
              <a:ext uri="{FF2B5EF4-FFF2-40B4-BE49-F238E27FC236}">
                <a16:creationId xmlns:a16="http://schemas.microsoft.com/office/drawing/2014/main" id="{EBD3D364-96E8-A14B-8D5D-6D824FA6B43A}"/>
              </a:ext>
            </a:extLst>
          </p:cNvPr>
          <p:cNvSpPr/>
          <p:nvPr/>
        </p:nvSpPr>
        <p:spPr>
          <a:xfrm>
            <a:off x="1121225" y="3312877"/>
            <a:ext cx="2514600" cy="1415056"/>
          </a:xfrm>
          <a:prstGeom prst="wedgeRoundRectCallout">
            <a:avLst>
              <a:gd name="adj1" fmla="val 85152"/>
              <a:gd name="adj2" fmla="val 8579"/>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There exists a polynomial-time reduction to each NP-Hard Problem</a:t>
            </a:r>
          </a:p>
        </p:txBody>
      </p:sp>
      <mc:AlternateContent xmlns:mc="http://schemas.openxmlformats.org/markup-compatibility/2006" xmlns:a14="http://schemas.microsoft.com/office/drawing/2010/main">
        <mc:Choice Requires="a14">
          <p:sp>
            <p:nvSpPr>
              <p:cNvPr id="29" name="Rounded Rectangular Callout 28">
                <a:extLst>
                  <a:ext uri="{FF2B5EF4-FFF2-40B4-BE49-F238E27FC236}">
                    <a16:creationId xmlns:a16="http://schemas.microsoft.com/office/drawing/2014/main" id="{EBD3D364-96E8-A14B-8D5D-6D824FA6B43A}"/>
                  </a:ext>
                </a:extLst>
              </p:cNvPr>
              <p:cNvSpPr/>
              <p:nvPr/>
            </p:nvSpPr>
            <p:spPr>
              <a:xfrm>
                <a:off x="9903796" y="2897460"/>
                <a:ext cx="2288204" cy="1415056"/>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So if this was </a:t>
                </a:r>
                <a14:m>
                  <m:oMath xmlns:m="http://schemas.openxmlformats.org/officeDocument/2006/math">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𝑝</m:t>
                            </m:r>
                          </m:sup>
                        </m:sSup>
                      </m:e>
                    </m:d>
                  </m:oMath>
                </a14:m>
                <a:r>
                  <a:rPr lang="en-US" dirty="0"/>
                  <a:t> we can solve any NP problem in polynomial time</a:t>
                </a:r>
              </a:p>
            </p:txBody>
          </p:sp>
        </mc:Choice>
        <mc:Fallback xmlns="">
          <p:sp>
            <p:nvSpPr>
              <p:cNvPr id="29" name="Rounded Rectangular Callout 28">
                <a:extLst>
                  <a:ext uri="{FF2B5EF4-FFF2-40B4-BE49-F238E27FC236}">
                    <a16:creationId xmlns="" xmlns:a16="http://schemas.microsoft.com/office/drawing/2014/main" id="{EBD3D364-96E8-A14B-8D5D-6D824FA6B43A}"/>
                  </a:ext>
                </a:extLst>
              </p:cNvPr>
              <p:cNvSpPr>
                <a:spLocks noRot="1" noChangeAspect="1" noMove="1" noResize="1" noEditPoints="1" noAdjustHandles="1" noChangeArrowheads="1" noChangeShapeType="1" noTextEdit="1"/>
              </p:cNvSpPr>
              <p:nvPr/>
            </p:nvSpPr>
            <p:spPr>
              <a:xfrm>
                <a:off x="9903796" y="2897460"/>
                <a:ext cx="2288204" cy="1415056"/>
              </a:xfrm>
              <a:prstGeom prst="wedgeRoundRectCallout">
                <a:avLst>
                  <a:gd name="adj1" fmla="val -65737"/>
                  <a:gd name="adj2" fmla="val 10807"/>
                  <a:gd name="adj3" fmla="val 16667"/>
                </a:avLst>
              </a:prstGeom>
              <a:blipFill rotWithShape="1">
                <a:blip r:embed="rId9"/>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10">
            <p14:nvContentPartPr>
              <p14:cNvPr id="4" name="Ink 3">
                <a:extLst>
                  <a:ext uri="{FF2B5EF4-FFF2-40B4-BE49-F238E27FC236}">
                    <a16:creationId xmlns:a16="http://schemas.microsoft.com/office/drawing/2014/main" id="{5C560D59-C56A-C995-02B6-9262C2BD815C}"/>
                  </a:ext>
                </a:extLst>
              </p14:cNvPr>
              <p14:cNvContentPartPr/>
              <p14:nvPr/>
            </p14:nvContentPartPr>
            <p14:xfrm>
              <a:off x="1020240" y="1126800"/>
              <a:ext cx="9144360" cy="3646440"/>
            </p14:xfrm>
          </p:contentPart>
        </mc:Choice>
        <mc:Fallback>
          <p:pic>
            <p:nvPicPr>
              <p:cNvPr id="4" name="Ink 3">
                <a:extLst>
                  <a:ext uri="{FF2B5EF4-FFF2-40B4-BE49-F238E27FC236}">
                    <a16:creationId xmlns:a16="http://schemas.microsoft.com/office/drawing/2014/main" id="{5C560D59-C56A-C995-02B6-9262C2BD815C}"/>
                  </a:ext>
                </a:extLst>
              </p:cNvPr>
              <p:cNvPicPr/>
              <p:nvPr/>
            </p:nvPicPr>
            <p:blipFill>
              <a:blip r:embed="rId11"/>
              <a:stretch>
                <a:fillRect/>
              </a:stretch>
            </p:blipFill>
            <p:spPr>
              <a:xfrm>
                <a:off x="1010880" y="1117440"/>
                <a:ext cx="9163080" cy="3665160"/>
              </a:xfrm>
              <a:prstGeom prst="rect">
                <a:avLst/>
              </a:prstGeom>
            </p:spPr>
          </p:pic>
        </mc:Fallback>
      </mc:AlternateContent>
    </p:spTree>
    <p:extLst>
      <p:ext uri="{BB962C8B-B14F-4D97-AF65-F5344CB8AC3E}">
        <p14:creationId xmlns:p14="http://schemas.microsoft.com/office/powerpoint/2010/main" val="237647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Showing NP-Hardness</a:t>
            </a:r>
            <a:endParaRPr lang="en-US" dirty="0"/>
          </a:p>
        </p:txBody>
      </p:sp>
      <p:grpSp>
        <p:nvGrpSpPr>
          <p:cNvPr id="7" name="Group 6" descr="To prove a problem B to be NP-Hard, it sufficient to take some problem already known to be NP-Hard (call this A), and reduce A to B in polynomial time. This way if B has a polynomial time algorithm which solves it then A does as well.">
            <a:extLst>
              <a:ext uri="{FF2B5EF4-FFF2-40B4-BE49-F238E27FC236}">
                <a16:creationId xmlns:a16="http://schemas.microsoft.com/office/drawing/2014/main" id="{7D260722-796E-1F63-9251-FA1BC64D7F54}"/>
              </a:ext>
            </a:extLst>
          </p:cNvPr>
          <p:cNvGrpSpPr/>
          <p:nvPr/>
        </p:nvGrpSpPr>
        <p:grpSpPr>
          <a:xfrm>
            <a:off x="5105400" y="1367136"/>
            <a:ext cx="7010400" cy="5249682"/>
            <a:chOff x="5105400" y="1367136"/>
            <a:chExt cx="7010400" cy="5249682"/>
          </a:xfrm>
        </p:grpSpPr>
        <p:sp>
          <p:nvSpPr>
            <p:cNvPr id="34" name="Rectangle 33"/>
            <p:cNvSpPr/>
            <p:nvPr/>
          </p:nvSpPr>
          <p:spPr>
            <a:xfrm>
              <a:off x="6766692"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5105400" y="1411069"/>
              <a:ext cx="1625253" cy="646331"/>
            </a:xfrm>
            <a:prstGeom prst="rect">
              <a:avLst/>
            </a:prstGeom>
            <a:noFill/>
          </p:spPr>
          <p:txBody>
            <a:bodyPr wrap="none" rtlCol="0">
              <a:spAutoFit/>
            </a:bodyPr>
            <a:lstStyle/>
            <a:p>
              <a:pPr algn="ctr"/>
              <a:r>
                <a:rPr lang="en-US"/>
                <a:t>A </a:t>
              </a:r>
              <a:r>
                <a:rPr lang="en-US" b="1"/>
                <a:t>First</a:t>
              </a:r>
              <a:r>
                <a:rPr lang="en-US"/>
                <a:t> NP-Hard</a:t>
              </a:r>
            </a:p>
            <a:p>
              <a:pPr algn="ctr"/>
              <a:r>
                <a:rPr lang="en-US"/>
                <a:t> Problem</a:t>
              </a:r>
              <a:endParaRPr lang="en-US" dirty="0"/>
            </a:p>
          </p:txBody>
        </p:sp>
        <p:sp>
          <p:nvSpPr>
            <p:cNvPr id="16" name="TextBox 15"/>
            <p:cNvSpPr txBox="1"/>
            <p:nvPr/>
          </p:nvSpPr>
          <p:spPr>
            <a:xfrm>
              <a:off x="9654870" y="1371600"/>
              <a:ext cx="2460930" cy="369332"/>
            </a:xfrm>
            <a:prstGeom prst="rect">
              <a:avLst/>
            </a:prstGeom>
            <a:noFill/>
          </p:spPr>
          <p:txBody>
            <a:bodyPr wrap="none" rtlCol="0">
              <a:spAutoFit/>
            </a:bodyPr>
            <a:lstStyle/>
            <a:p>
              <a:r>
                <a:rPr lang="en-US"/>
                <a:t>A new NP-Hard Problem</a:t>
              </a:r>
              <a:endParaRPr lang="en-US" dirty="0"/>
            </a:p>
          </p:txBody>
        </p:sp>
        <mc:AlternateContent xmlns:mc="http://schemas.openxmlformats.org/markup-compatibility/2006" xmlns:a14="http://schemas.microsoft.com/office/drawing/2010/main">
          <mc:Choice Requires="a14">
            <p:sp>
              <p:nvSpPr>
                <p:cNvPr id="21" name="TextBox 20"/>
                <p:cNvSpPr txBox="1"/>
                <p:nvPr/>
              </p:nvSpPr>
              <p:spPr>
                <a:xfrm>
                  <a:off x="1012919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10129199" y="4873374"/>
                  <a:ext cx="1500667" cy="369332"/>
                </a:xfrm>
                <a:prstGeom prst="rect">
                  <a:avLst/>
                </a:prstGeom>
                <a:blipFill>
                  <a:blip r:embed="rId2"/>
                  <a:stretch>
                    <a:fillRect l="-3659"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Flowchart: Magnetic Disk 21"/>
                <p:cNvSpPr/>
                <p:nvPr/>
              </p:nvSpPr>
              <p:spPr>
                <a:xfrm>
                  <a:off x="5658693" y="20162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xmlns="">
            <p:sp>
              <p:nvSpPr>
                <p:cNvPr id="22" name="Flowchart: Magnetic Disk 21"/>
                <p:cNvSpPr>
                  <a:spLocks noRot="1" noChangeAspect="1" noMove="1" noResize="1" noEditPoints="1" noAdjustHandles="1" noChangeArrowheads="1" noChangeShapeType="1" noTextEdit="1"/>
                </p:cNvSpPr>
                <p:nvPr/>
              </p:nvSpPr>
              <p:spPr>
                <a:xfrm>
                  <a:off x="5658693" y="2016210"/>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1058761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10587612" y="1892573"/>
                  <a:ext cx="625924" cy="1004887"/>
                </a:xfrm>
                <a:prstGeom prst="rect">
                  <a:avLst/>
                </a:prstGeom>
                <a:blipFill>
                  <a:blip r:embed="rId4"/>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295559"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xmlns="">
            <p:sp>
              <p:nvSpPr>
                <p:cNvPr id="28" name="TextBox 27"/>
                <p:cNvSpPr txBox="1">
                  <a:spLocks noRot="1" noChangeAspect="1" noMove="1" noResize="1" noEditPoints="1" noAdjustHandles="1" noChangeArrowheads="1" noChangeShapeType="1" noTextEdit="1"/>
                </p:cNvSpPr>
                <p:nvPr/>
              </p:nvSpPr>
              <p:spPr>
                <a:xfrm>
                  <a:off x="5295559" y="4727933"/>
                  <a:ext cx="1486241" cy="369332"/>
                </a:xfrm>
                <a:prstGeom prst="rect">
                  <a:avLst/>
                </a:prstGeom>
                <a:blipFill>
                  <a:blip r:embed="rId5"/>
                  <a:stretch>
                    <a:fillRect l="-3689" t="-10000" b="-26667"/>
                  </a:stretch>
                </a:blipFill>
              </p:spPr>
              <p:txBody>
                <a:bodyPr/>
                <a:lstStyle/>
                <a:p>
                  <a:r>
                    <a:rPr lang="en-US">
                      <a:noFill/>
                    </a:rPr>
                    <a:t> </a:t>
                  </a:r>
                </a:p>
              </p:txBody>
            </p:sp>
          </mc:Fallback>
        </mc:AlternateContent>
        <p:sp>
          <p:nvSpPr>
            <p:cNvPr id="30" name="AutoShape 5"/>
            <p:cNvSpPr>
              <a:spLocks noChangeArrowheads="1"/>
            </p:cNvSpPr>
            <p:nvPr/>
          </p:nvSpPr>
          <p:spPr bwMode="auto">
            <a:xfrm>
              <a:off x="6905534"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1" name="AutoShape 5"/>
            <p:cNvSpPr>
              <a:spLocks noChangeArrowheads="1"/>
            </p:cNvSpPr>
            <p:nvPr/>
          </p:nvSpPr>
          <p:spPr bwMode="auto">
            <a:xfrm rot="5400000">
              <a:off x="1039961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32" name="AutoShape 5"/>
            <p:cNvSpPr>
              <a:spLocks noChangeArrowheads="1"/>
            </p:cNvSpPr>
            <p:nvPr/>
          </p:nvSpPr>
          <p:spPr bwMode="auto">
            <a:xfrm rot="10800000">
              <a:off x="7057934"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7757545"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xmlns:a14="http://schemas.microsoft.com/office/drawing/2010/main">
          <mc:Choice Requires="a14">
            <p:sp>
              <p:nvSpPr>
                <p:cNvPr id="279" name="Rectangle 278"/>
                <p:cNvSpPr/>
                <p:nvPr/>
              </p:nvSpPr>
              <p:spPr>
                <a:xfrm>
                  <a:off x="1061196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xmlns="">
            <p:sp>
              <p:nvSpPr>
                <p:cNvPr id="279" name="Rectangle 278"/>
                <p:cNvSpPr>
                  <a:spLocks noRot="1" noChangeAspect="1" noMove="1" noResize="1" noEditPoints="1" noAdjustHandles="1" noChangeArrowheads="1" noChangeShapeType="1" noTextEdit="1"/>
                </p:cNvSpPr>
                <p:nvPr/>
              </p:nvSpPr>
              <p:spPr>
                <a:xfrm>
                  <a:off x="10611961" y="5242707"/>
                  <a:ext cx="625924" cy="1004887"/>
                </a:xfrm>
                <a:prstGeom prst="rect">
                  <a:avLst/>
                </a:prstGeom>
                <a:blipFill>
                  <a:blip r:embed="rId6"/>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0" name="Flowchart: Magnetic Disk 279"/>
                <p:cNvSpPr/>
                <p:nvPr/>
              </p:nvSpPr>
              <p:spPr>
                <a:xfrm>
                  <a:off x="5739205"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xmlns="">
            <p:sp>
              <p:nvSpPr>
                <p:cNvPr id="280" name="Flowchart: Magnetic Disk 279"/>
                <p:cNvSpPr>
                  <a:spLocks noRot="1" noChangeAspect="1" noMove="1" noResize="1" noEditPoints="1" noAdjustHandles="1" noChangeArrowheads="1" noChangeShapeType="1" noTextEdit="1"/>
                </p:cNvSpPr>
                <p:nvPr/>
              </p:nvSpPr>
              <p:spPr>
                <a:xfrm>
                  <a:off x="5739205"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7767036"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7767036"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grpSp>
        <p:nvGrpSpPr>
          <p:cNvPr id="5" name="Group 4" descr="This strategy works because we've already shown that every NP problem reduces to A, and so if A has a polynomial time solution then so does every NP problem. B having a polynomial time solution is just one option for how to finding a polynomial time algorithm for A."/>
          <p:cNvGrpSpPr/>
          <p:nvPr/>
        </p:nvGrpSpPr>
        <p:grpSpPr>
          <a:xfrm>
            <a:off x="-13253" y="1330081"/>
            <a:ext cx="5042453" cy="5249682"/>
            <a:chOff x="-13253" y="1330081"/>
            <a:chExt cx="5042453" cy="5249682"/>
          </a:xfrm>
        </p:grpSpPr>
        <p:sp>
          <p:nvSpPr>
            <p:cNvPr id="24" name="Rectangle 23"/>
            <p:cNvSpPr/>
            <p:nvPr/>
          </p:nvSpPr>
          <p:spPr>
            <a:xfrm>
              <a:off x="1813692" y="1736144"/>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AutoShape 5"/>
            <p:cNvSpPr>
              <a:spLocks noChangeArrowheads="1"/>
            </p:cNvSpPr>
            <p:nvPr/>
          </p:nvSpPr>
          <p:spPr bwMode="auto">
            <a:xfrm>
              <a:off x="1952534" y="2100428"/>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3" name="AutoShape 5"/>
            <p:cNvSpPr>
              <a:spLocks noChangeArrowheads="1"/>
            </p:cNvSpPr>
            <p:nvPr/>
          </p:nvSpPr>
          <p:spPr bwMode="auto">
            <a:xfrm rot="10800000">
              <a:off x="2104934" y="4802910"/>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6" name="TextBox 35"/>
            <p:cNvSpPr txBox="1"/>
            <p:nvPr/>
          </p:nvSpPr>
          <p:spPr>
            <a:xfrm>
              <a:off x="2804545" y="6177986"/>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xmlns:a14="http://schemas.microsoft.com/office/drawing/2010/main">
          <mc:Choice Requires="a14">
            <p:sp>
              <p:nvSpPr>
                <p:cNvPr id="37" name="TextBox 36"/>
                <p:cNvSpPr txBox="1"/>
                <p:nvPr/>
              </p:nvSpPr>
              <p:spPr>
                <a:xfrm>
                  <a:off x="2814036" y="1330081"/>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2814036" y="1330081"/>
                  <a:ext cx="1064137" cy="461665"/>
                </a:xfrm>
                <a:prstGeom prst="rect">
                  <a:avLst/>
                </a:prstGeom>
                <a:blipFill rotWithShape="1">
                  <a:blip r:embed="rId9"/>
                  <a:stretch>
                    <a:fillRect r="-1724"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Isosceles Triangle 2"/>
                <p:cNvSpPr/>
                <p:nvPr/>
              </p:nvSpPr>
              <p:spPr>
                <a:xfrm>
                  <a:off x="457200" y="1925266"/>
                  <a:ext cx="1066800" cy="1033984"/>
                </a:xfrm>
                <a:prstGeom prst="triangl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tx1"/>
                            </a:solidFill>
                            <a:latin typeface="Cambria Math"/>
                          </a:rPr>
                          <m:t>𝐶</m:t>
                        </m:r>
                      </m:oMath>
                    </m:oMathPara>
                  </a14:m>
                  <a:endParaRPr lang="en-US" sz="4000">
                    <a:solidFill>
                      <a:schemeClr val="tx1"/>
                    </a:solidFill>
                  </a:endParaRPr>
                </a:p>
              </p:txBody>
            </p:sp>
          </mc:Choice>
          <mc:Fallback xmlns="">
            <p:sp>
              <p:nvSpPr>
                <p:cNvPr id="3" name="Isosceles Triangle 2"/>
                <p:cNvSpPr>
                  <a:spLocks noRot="1" noChangeAspect="1" noMove="1" noResize="1" noEditPoints="1" noAdjustHandles="1" noChangeArrowheads="1" noChangeShapeType="1" noTextEdit="1"/>
                </p:cNvSpPr>
                <p:nvPr/>
              </p:nvSpPr>
              <p:spPr>
                <a:xfrm>
                  <a:off x="457200" y="1925266"/>
                  <a:ext cx="1066800" cy="1033984"/>
                </a:xfrm>
                <a:prstGeom prst="triangle">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p:cNvSpPr/>
                <p:nvPr/>
              </p:nvSpPr>
              <p:spPr>
                <a:xfrm>
                  <a:off x="457200" y="5037607"/>
                  <a:ext cx="1066800" cy="1033984"/>
                </a:xfrm>
                <a:prstGeom prst="triangl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tx1"/>
                            </a:solidFill>
                            <a:latin typeface="Cambria Math"/>
                          </a:rPr>
                          <m:t>𝑍</m:t>
                        </m:r>
                      </m:oMath>
                    </m:oMathPara>
                  </a14:m>
                  <a:endParaRPr lang="en-US" sz="4000">
                    <a:solidFill>
                      <a:schemeClr val="tx1"/>
                    </a:solidFill>
                  </a:endParaRPr>
                </a:p>
              </p:txBody>
            </p:sp>
          </mc:Choice>
          <mc:Fallback xmlns="">
            <p:sp>
              <p:nvSpPr>
                <p:cNvPr id="38" name="Isosceles Triangle 37"/>
                <p:cNvSpPr>
                  <a:spLocks noRot="1" noChangeAspect="1" noMove="1" noResize="1" noEditPoints="1" noAdjustHandles="1" noChangeArrowheads="1" noChangeShapeType="1" noTextEdit="1"/>
                </p:cNvSpPr>
                <p:nvPr/>
              </p:nvSpPr>
              <p:spPr>
                <a:xfrm>
                  <a:off x="457200" y="5037607"/>
                  <a:ext cx="1066800" cy="1033984"/>
                </a:xfrm>
                <a:prstGeom prst="triangle">
                  <a:avLst/>
                </a:prstGeom>
                <a:blipFill rotWithShape="1">
                  <a:blip r:embed="rId11"/>
                  <a:stretch>
                    <a:fillRect/>
                  </a:stretch>
                </a:blipFill>
              </p:spPr>
              <p:txBody>
                <a:bodyPr/>
                <a:lstStyle/>
                <a:p>
                  <a:r>
                    <a:rPr lang="en-US">
                      <a:noFill/>
                    </a:rPr>
                    <a:t> </a:t>
                  </a:r>
                </a:p>
              </p:txBody>
            </p:sp>
          </mc:Fallback>
        </mc:AlternateContent>
        <p:sp>
          <p:nvSpPr>
            <p:cNvPr id="39" name="TextBox 38"/>
            <p:cNvSpPr txBox="1"/>
            <p:nvPr/>
          </p:nvSpPr>
          <p:spPr>
            <a:xfrm>
              <a:off x="-13253" y="1459468"/>
              <a:ext cx="1704314" cy="369332"/>
            </a:xfrm>
            <a:prstGeom prst="rect">
              <a:avLst/>
            </a:prstGeom>
            <a:noFill/>
          </p:spPr>
          <p:txBody>
            <a:bodyPr wrap="none" rtlCol="0">
              <a:spAutoFit/>
            </a:bodyPr>
            <a:lstStyle/>
            <a:p>
              <a:pPr algn="ctr"/>
              <a:r>
                <a:rPr lang="en-US"/>
                <a:t>Any NP Problem</a:t>
              </a:r>
              <a:endParaRPr lang="en-US" dirty="0"/>
            </a:p>
          </p:txBody>
        </p:sp>
        <mc:AlternateContent xmlns:mc="http://schemas.openxmlformats.org/markup-compatibility/2006" xmlns:a14="http://schemas.microsoft.com/office/drawing/2010/main">
          <mc:Choice Requires="a14">
            <p:sp>
              <p:nvSpPr>
                <p:cNvPr id="40" name="TextBox 39"/>
                <p:cNvSpPr txBox="1"/>
                <p:nvPr/>
              </p:nvSpPr>
              <p:spPr>
                <a:xfrm>
                  <a:off x="142720" y="4655299"/>
                  <a:ext cx="1481944" cy="369332"/>
                </a:xfrm>
                <a:prstGeom prst="rect">
                  <a:avLst/>
                </a:prstGeom>
                <a:noFill/>
              </p:spPr>
              <p:txBody>
                <a:bodyPr wrap="none" rtlCol="0">
                  <a:spAutoFit/>
                </a:bodyPr>
                <a:lstStyle/>
                <a:p>
                  <a:pPr algn="ctr"/>
                  <a:r>
                    <a:rPr lang="en-US"/>
                    <a:t>Solution for </a:t>
                  </a:r>
                  <a14:m>
                    <m:oMath xmlns:m="http://schemas.openxmlformats.org/officeDocument/2006/math">
                      <m:r>
                        <a:rPr lang="en-US" b="1" i="1" smtClean="0">
                          <a:latin typeface="Cambria Math"/>
                        </a:rPr>
                        <m:t>𝑪</m:t>
                      </m:r>
                    </m:oMath>
                  </a14:m>
                  <a:endParaRPr lang="en-US" b="1" dirty="0"/>
                </a:p>
              </p:txBody>
            </p:sp>
          </mc:Choice>
          <mc:Fallback xmlns="">
            <p:sp>
              <p:nvSpPr>
                <p:cNvPr id="40" name="TextBox 39"/>
                <p:cNvSpPr txBox="1">
                  <a:spLocks noRot="1" noChangeAspect="1" noMove="1" noResize="1" noEditPoints="1" noAdjustHandles="1" noChangeArrowheads="1" noChangeShapeType="1" noTextEdit="1"/>
                </p:cNvSpPr>
                <p:nvPr/>
              </p:nvSpPr>
              <p:spPr>
                <a:xfrm>
                  <a:off x="142720" y="4655299"/>
                  <a:ext cx="1481944" cy="369332"/>
                </a:xfrm>
                <a:prstGeom prst="rect">
                  <a:avLst/>
                </a:prstGeom>
                <a:blipFill rotWithShape="1">
                  <a:blip r:embed="rId12"/>
                  <a:stretch>
                    <a:fillRect l="-2869" t="-8333" b="-26667"/>
                  </a:stretch>
                </a:blipFill>
              </p:spPr>
              <p:txBody>
                <a:bodyPr/>
                <a:lstStyle/>
                <a:p>
                  <a:r>
                    <a:rPr lang="en-US">
                      <a:noFill/>
                    </a:rPr>
                    <a:t> </a:t>
                  </a:r>
                </a:p>
              </p:txBody>
            </p:sp>
          </mc:Fallback>
        </mc:AlternateContent>
      </p:grpSp>
      <mc:AlternateContent xmlns:mc="http://schemas.openxmlformats.org/markup-compatibility/2006">
        <mc:Choice xmlns:p14="http://schemas.microsoft.com/office/powerpoint/2010/main" Requires="p14">
          <p:contentPart p14:bwMode="auto" r:id="rId13">
            <p14:nvContentPartPr>
              <p14:cNvPr id="4" name="Ink 3">
                <a:extLst>
                  <a:ext uri="{FF2B5EF4-FFF2-40B4-BE49-F238E27FC236}">
                    <a16:creationId xmlns:a16="http://schemas.microsoft.com/office/drawing/2014/main" id="{1F087075-993C-4810-5F60-66DBDAEC229A}"/>
                  </a:ext>
                </a:extLst>
              </p14:cNvPr>
              <p14:cNvContentPartPr/>
              <p14:nvPr/>
            </p14:nvContentPartPr>
            <p14:xfrm>
              <a:off x="1109160" y="973440"/>
              <a:ext cx="10834200" cy="4550040"/>
            </p14:xfrm>
          </p:contentPart>
        </mc:Choice>
        <mc:Fallback>
          <p:pic>
            <p:nvPicPr>
              <p:cNvPr id="4" name="Ink 3">
                <a:extLst>
                  <a:ext uri="{FF2B5EF4-FFF2-40B4-BE49-F238E27FC236}">
                    <a16:creationId xmlns:a16="http://schemas.microsoft.com/office/drawing/2014/main" id="{1F087075-993C-4810-5F60-66DBDAEC229A}"/>
                  </a:ext>
                </a:extLst>
              </p:cNvPr>
              <p:cNvPicPr/>
              <p:nvPr/>
            </p:nvPicPr>
            <p:blipFill>
              <a:blip r:embed="rId14"/>
              <a:stretch>
                <a:fillRect/>
              </a:stretch>
            </p:blipFill>
            <p:spPr>
              <a:xfrm>
                <a:off x="1099800" y="964080"/>
                <a:ext cx="10852920" cy="4568760"/>
              </a:xfrm>
              <a:prstGeom prst="rect">
                <a:avLst/>
              </a:prstGeom>
            </p:spPr>
          </p:pic>
        </mc:Fallback>
      </mc:AlternateContent>
    </p:spTree>
    <p:extLst>
      <p:ext uri="{BB962C8B-B14F-4D97-AF65-F5344CB8AC3E}">
        <p14:creationId xmlns:p14="http://schemas.microsoft.com/office/powerpoint/2010/main" val="245776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NP-Complete - Definition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2332037"/>
                <a:ext cx="8548500" cy="4525963"/>
              </a:xfrm>
            </p:spPr>
            <p:txBody>
              <a:bodyPr>
                <a:normAutofit/>
              </a:bodyPr>
              <a:lstStyle/>
              <a:p>
                <a:r>
                  <a:rPr lang="en-US" dirty="0"/>
                  <a:t>“Together they stand, together they fall”</a:t>
                </a:r>
              </a:p>
              <a:p>
                <a:r>
                  <a:rPr lang="en-US" dirty="0"/>
                  <a:t>Problems solvable in polynomial time </a:t>
                </a:r>
                <a:r>
                  <a:rPr lang="en-US" dirty="0" err="1"/>
                  <a:t>iff</a:t>
                </a:r>
                <a:r>
                  <a:rPr lang="en-US" dirty="0"/>
                  <a:t> ALL NP problems are</a:t>
                </a:r>
              </a:p>
              <a:p>
                <a:r>
                  <a:rPr lang="en-US" dirty="0"/>
                  <a:t>NP-Complete = NP </a:t>
                </a:r>
                <a14:m>
                  <m:oMath xmlns:m="http://schemas.openxmlformats.org/officeDocument/2006/math">
                    <m:r>
                      <a:rPr lang="en-US" b="0" i="1" smtClean="0">
                        <a:latin typeface="Cambria Math"/>
                      </a:rPr>
                      <m:t>∩</m:t>
                    </m:r>
                  </m:oMath>
                </a14:m>
                <a:r>
                  <a:rPr lang="en-US" dirty="0"/>
                  <a:t> NP-Hard</a:t>
                </a:r>
              </a:p>
              <a:p>
                <a:r>
                  <a:rPr lang="en-US" b="1" dirty="0"/>
                  <a:t>How to show a problem is NP-Complete?</a:t>
                </a:r>
              </a:p>
              <a:p>
                <a:pPr lvl="1"/>
                <a:r>
                  <a:rPr lang="en-US" dirty="0"/>
                  <a:t>Show it belongs to NP</a:t>
                </a:r>
              </a:p>
              <a:p>
                <a:pPr lvl="2"/>
                <a:r>
                  <a:rPr lang="en-US" dirty="0"/>
                  <a:t>Give a polynomial time verifier</a:t>
                </a:r>
              </a:p>
              <a:p>
                <a:pPr lvl="1"/>
                <a:r>
                  <a:rPr lang="en-US" dirty="0"/>
                  <a:t>Show it is NP-Hard</a:t>
                </a:r>
              </a:p>
              <a:p>
                <a:pPr lvl="2"/>
                <a:r>
                  <a:rPr lang="en-US" dirty="0"/>
                  <a:t>Give a reduction from another NP-H problem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2332037"/>
                <a:ext cx="8548500" cy="4525963"/>
              </a:xfrm>
              <a:blipFill>
                <a:blip r:embed="rId2"/>
                <a:stretch>
                  <a:fillRect l="-1284" t="-2291"/>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B2CDBFF3-E85D-EA6A-D3FB-B51CEA446A46}"/>
              </a:ext>
              <a:ext uri="{C183D7F6-B498-43B3-948B-1728B52AA6E4}">
                <adec:decorative xmlns:adec="http://schemas.microsoft.com/office/drawing/2017/decorative" val="1"/>
              </a:ext>
            </a:extLst>
          </p:cNvPr>
          <p:cNvGrpSpPr/>
          <p:nvPr/>
        </p:nvGrpSpPr>
        <p:grpSpPr>
          <a:xfrm>
            <a:off x="6431618" y="365125"/>
            <a:ext cx="5318549" cy="2636366"/>
            <a:chOff x="1879600" y="1306031"/>
            <a:chExt cx="11168359" cy="5536073"/>
          </a:xfrm>
        </p:grpSpPr>
        <p:grpSp>
          <p:nvGrpSpPr>
            <p:cNvPr id="6" name="Group 5">
              <a:extLst>
                <a:ext uri="{FF2B5EF4-FFF2-40B4-BE49-F238E27FC236}">
                  <a16:creationId xmlns:a16="http://schemas.microsoft.com/office/drawing/2014/main" id="{1FB0C6A3-2672-4B14-7D3B-BEE0949E0F2F}"/>
                </a:ext>
              </a:extLst>
            </p:cNvPr>
            <p:cNvGrpSpPr/>
            <p:nvPr/>
          </p:nvGrpSpPr>
          <p:grpSpPr>
            <a:xfrm>
              <a:off x="1879600" y="1306031"/>
              <a:ext cx="10257117" cy="5536073"/>
              <a:chOff x="396240" y="595664"/>
              <a:chExt cx="11602720" cy="6262336"/>
            </a:xfrm>
          </p:grpSpPr>
          <p:sp>
            <p:nvSpPr>
              <p:cNvPr id="8" name="Oval 7">
                <a:extLst>
                  <a:ext uri="{FF2B5EF4-FFF2-40B4-BE49-F238E27FC236}">
                    <a16:creationId xmlns:a16="http://schemas.microsoft.com/office/drawing/2014/main" id="{316D442D-50BF-E4D1-B1C9-D65776F6C362}"/>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806BEEA-FBDF-B62E-2C8F-5EA4D0F0E82A}"/>
                      </a:ext>
                    </a:extLst>
                  </p:cNvPr>
                  <p:cNvSpPr txBox="1"/>
                  <p:nvPr/>
                </p:nvSpPr>
                <p:spPr>
                  <a:xfrm>
                    <a:off x="3342640" y="595664"/>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9" name="TextBox 8">
                    <a:extLst>
                      <a:ext uri="{FF2B5EF4-FFF2-40B4-BE49-F238E27FC236}">
                        <a16:creationId xmlns:a16="http://schemas.microsoft.com/office/drawing/2014/main" id="{8806BEEA-FBDF-B62E-2C8F-5EA4D0F0E82A}"/>
                      </a:ext>
                    </a:extLst>
                  </p:cNvPr>
                  <p:cNvSpPr txBox="1">
                    <a:spLocks noRot="1" noChangeAspect="1" noMove="1" noResize="1" noEditPoints="1" noAdjustHandles="1" noChangeArrowheads="1" noChangeShapeType="1" noTextEdit="1"/>
                  </p:cNvSpPr>
                  <p:nvPr/>
                </p:nvSpPr>
                <p:spPr>
                  <a:xfrm>
                    <a:off x="3342640" y="595664"/>
                    <a:ext cx="6095999" cy="523220"/>
                  </a:xfrm>
                  <a:prstGeom prst="rect">
                    <a:avLst/>
                  </a:prstGeom>
                  <a:blipFill>
                    <a:blip r:embed="rId3"/>
                    <a:stretch>
                      <a:fillRect b="-75000"/>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52BF586D-67E4-9D63-F9B4-38F29C057C58}"/>
                  </a:ext>
                </a:extLst>
              </p:cNvPr>
              <p:cNvSpPr/>
              <p:nvPr/>
            </p:nvSpPr>
            <p:spPr>
              <a:xfrm>
                <a:off x="605529" y="1601803"/>
                <a:ext cx="10590790" cy="4967783"/>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1" name="Oval 10">
                <a:extLst>
                  <a:ext uri="{FF2B5EF4-FFF2-40B4-BE49-F238E27FC236}">
                    <a16:creationId xmlns:a16="http://schemas.microsoft.com/office/drawing/2014/main" id="{F208F89D-EDDE-F874-7592-85060B08251D}"/>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59956194-81F0-C6BF-684A-E7078D316ABB}"/>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6DD3DDF-613E-A3AA-4CA6-077356E9382C}"/>
                      </a:ext>
                    </a:extLst>
                  </p:cNvPr>
                  <p:cNvSpPr txBox="1"/>
                  <p:nvPr/>
                </p:nvSpPr>
                <p:spPr>
                  <a:xfrm>
                    <a:off x="3149599" y="1914059"/>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22" name="TextBox 21">
                    <a:extLst>
                      <a:ext uri="{FF2B5EF4-FFF2-40B4-BE49-F238E27FC236}">
                        <a16:creationId xmlns:a16="http://schemas.microsoft.com/office/drawing/2014/main" id="{B6DD3DDF-613E-A3AA-4CA6-077356E9382C}"/>
                      </a:ext>
                    </a:extLst>
                  </p:cNvPr>
                  <p:cNvSpPr txBox="1">
                    <a:spLocks noRot="1" noChangeAspect="1" noMove="1" noResize="1" noEditPoints="1" noAdjustHandles="1" noChangeArrowheads="1" noChangeShapeType="1" noTextEdit="1"/>
                  </p:cNvSpPr>
                  <p:nvPr/>
                </p:nvSpPr>
                <p:spPr>
                  <a:xfrm>
                    <a:off x="3149599" y="1914059"/>
                    <a:ext cx="6095999" cy="523220"/>
                  </a:xfrm>
                  <a:prstGeom prst="rect">
                    <a:avLst/>
                  </a:prstGeom>
                  <a:blipFill>
                    <a:blip r:embed="rId6"/>
                    <a:stretch>
                      <a:fillRect b="-750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 name="Arrow: Right 6">
                  <a:extLst>
                    <a:ext uri="{FF2B5EF4-FFF2-40B4-BE49-F238E27FC236}">
                      <a16:creationId xmlns:a16="http://schemas.microsoft.com/office/drawing/2014/main" id="{CEF98193-ED76-C70D-679D-05D1A9230D94}"/>
                    </a:ext>
                  </a:extLst>
                </p:cNvPr>
                <p:cNvSpPr/>
                <p:nvPr/>
              </p:nvSpPr>
              <p:spPr>
                <a:xfrm rot="2172224">
                  <a:off x="9811840" y="5594923"/>
                  <a:ext cx="3236119" cy="988195"/>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7" name="Arrow: Right 6">
                  <a:extLst>
                    <a:ext uri="{FF2B5EF4-FFF2-40B4-BE49-F238E27FC236}">
                      <a16:creationId xmlns:a16="http://schemas.microsoft.com/office/drawing/2014/main" id="{CEF98193-ED76-C70D-679D-05D1A9230D94}"/>
                    </a:ext>
                  </a:extLst>
                </p:cNvPr>
                <p:cNvSpPr>
                  <a:spLocks noRot="1" noChangeAspect="1" noMove="1" noResize="1" noEditPoints="1" noAdjustHandles="1" noChangeArrowheads="1" noChangeShapeType="1" noTextEdit="1"/>
                </p:cNvSpPr>
                <p:nvPr/>
              </p:nvSpPr>
              <p:spPr>
                <a:xfrm rot="2172224">
                  <a:off x="9811840" y="5594923"/>
                  <a:ext cx="3236119" cy="988195"/>
                </a:xfrm>
                <a:prstGeom prst="rightArrow">
                  <a:avLst/>
                </a:prstGeom>
                <a:blipFill>
                  <a:blip r:embed="rId7"/>
                  <a:stretch>
                    <a:fillRect/>
                  </a:stretch>
                </a:blipFill>
                <a:ln>
                  <a:solidFill>
                    <a:schemeClr val="tx1"/>
                  </a:solid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4685EA8-FD93-0B7E-D670-EDE04381766B}"/>
                  </a:ext>
                </a:extLst>
              </p:cNvPr>
              <p:cNvSpPr txBox="1"/>
              <p:nvPr/>
            </p:nvSpPr>
            <p:spPr>
              <a:xfrm rot="1721236">
                <a:off x="8919555" y="1221472"/>
                <a:ext cx="2566340"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chemeClr val="tx1"/>
                          </a:solidFill>
                          <a:latin typeface="Cambria Math" panose="02040503050406030204" pitchFamily="18" charset="0"/>
                        </a:rPr>
                        <m:t>𝑁</m:t>
                      </m:r>
                      <m:r>
                        <a:rPr lang="en-US" sz="2000" i="1" dirty="0" smtClean="0">
                          <a:solidFill>
                            <a:schemeClr val="tx1"/>
                          </a:solidFill>
                          <a:latin typeface="Cambria Math" panose="02040503050406030204" pitchFamily="18" charset="0"/>
                        </a:rPr>
                        <m:t>𝑃</m:t>
                      </m:r>
                      <m:r>
                        <a:rPr lang="en-US" sz="2000" b="0" i="1" dirty="0" smtClean="0">
                          <a:solidFill>
                            <a:schemeClr val="tx1"/>
                          </a:solidFill>
                          <a:latin typeface="Cambria Math" panose="02040503050406030204" pitchFamily="18" charset="0"/>
                        </a:rPr>
                        <m:t>−</m:t>
                      </m:r>
                      <m:r>
                        <a:rPr lang="en-US" sz="2000" b="0" i="1" dirty="0" smtClean="0">
                          <a:solidFill>
                            <a:schemeClr val="tx1"/>
                          </a:solidFill>
                          <a:latin typeface="Cambria Math" panose="02040503050406030204" pitchFamily="18" charset="0"/>
                        </a:rPr>
                        <m:t>𝐶𝑜𝑚𝑝𝑙𝑒𝑡𝑒</m:t>
                      </m:r>
                    </m:oMath>
                  </m:oMathPara>
                </a14:m>
                <a:endParaRPr lang="en-US" sz="2000" dirty="0">
                  <a:solidFill>
                    <a:schemeClr val="tx1"/>
                  </a:solidFill>
                </a:endParaRPr>
              </a:p>
            </p:txBody>
          </p:sp>
        </mc:Choice>
        <mc:Fallback xmlns="">
          <p:sp>
            <p:nvSpPr>
              <p:cNvPr id="23" name="TextBox 22">
                <a:extLst>
                  <a:ext uri="{FF2B5EF4-FFF2-40B4-BE49-F238E27FC236}">
                    <a16:creationId xmlns:a16="http://schemas.microsoft.com/office/drawing/2014/main" id="{E4685EA8-FD93-0B7E-D670-EDE04381766B}"/>
                  </a:ext>
                </a:extLst>
              </p:cNvPr>
              <p:cNvSpPr txBox="1">
                <a:spLocks noRot="1" noChangeAspect="1" noMove="1" noResize="1" noEditPoints="1" noAdjustHandles="1" noChangeArrowheads="1" noChangeShapeType="1" noTextEdit="1"/>
              </p:cNvSpPr>
              <p:nvPr/>
            </p:nvSpPr>
            <p:spPr>
              <a:xfrm rot="1721236">
                <a:off x="8919555" y="1221472"/>
                <a:ext cx="2566340" cy="40011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3FA2CC5F-75BA-CC35-85E2-4C180871D97C}"/>
                  </a:ext>
                </a:extLst>
              </p14:cNvPr>
              <p14:cNvContentPartPr/>
              <p14:nvPr/>
            </p14:nvContentPartPr>
            <p14:xfrm>
              <a:off x="350280" y="3217680"/>
              <a:ext cx="6861600" cy="3028320"/>
            </p14:xfrm>
          </p:contentPart>
        </mc:Choice>
        <mc:Fallback>
          <p:pic>
            <p:nvPicPr>
              <p:cNvPr id="4" name="Ink 3">
                <a:extLst>
                  <a:ext uri="{FF2B5EF4-FFF2-40B4-BE49-F238E27FC236}">
                    <a16:creationId xmlns:a16="http://schemas.microsoft.com/office/drawing/2014/main" id="{3FA2CC5F-75BA-CC35-85E2-4C180871D97C}"/>
                  </a:ext>
                </a:extLst>
              </p:cNvPr>
              <p:cNvPicPr/>
              <p:nvPr/>
            </p:nvPicPr>
            <p:blipFill>
              <a:blip r:embed="rId10"/>
              <a:stretch>
                <a:fillRect/>
              </a:stretch>
            </p:blipFill>
            <p:spPr>
              <a:xfrm>
                <a:off x="340920" y="3208320"/>
                <a:ext cx="6880320" cy="3047040"/>
              </a:xfrm>
              <a:prstGeom prst="rect">
                <a:avLst/>
              </a:prstGeom>
            </p:spPr>
          </p:pic>
        </mc:Fallback>
      </mc:AlternateContent>
    </p:spTree>
    <p:extLst>
      <p:ext uri="{BB962C8B-B14F-4D97-AF65-F5344CB8AC3E}">
        <p14:creationId xmlns:p14="http://schemas.microsoft.com/office/powerpoint/2010/main" val="1463031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Using NP-Completeness</a:t>
            </a:r>
          </a:p>
        </p:txBody>
      </p:sp>
      <p:grpSp>
        <p:nvGrpSpPr>
          <p:cNvPr id="8" name="Group 7" descr="Because NP-Complete problems belong to both NP and NP-Hard, every NP-Complete problem reduces in polynomial time to every other NP-Complete problem.&#10;&#10;This means that either ALL NP-Complete problems have a polynomial time solution, or else none of them do.">
            <a:extLst>
              <a:ext uri="{FF2B5EF4-FFF2-40B4-BE49-F238E27FC236}">
                <a16:creationId xmlns:a16="http://schemas.microsoft.com/office/drawing/2014/main" id="{255AB2B4-0350-DC05-2FC8-EE556469E162}"/>
              </a:ext>
            </a:extLst>
          </p:cNvPr>
          <p:cNvGrpSpPr/>
          <p:nvPr/>
        </p:nvGrpSpPr>
        <p:grpSpPr>
          <a:xfrm>
            <a:off x="183373" y="1367136"/>
            <a:ext cx="12008627" cy="5249682"/>
            <a:chOff x="183373" y="1367136"/>
            <a:chExt cx="12008627" cy="5249682"/>
          </a:xfrm>
        </p:grpSpPr>
        <p:grpSp>
          <p:nvGrpSpPr>
            <p:cNvPr id="3" name="Group 2">
              <a:extLst>
                <a:ext uri="{FF2B5EF4-FFF2-40B4-BE49-F238E27FC236}">
                  <a16:creationId xmlns:a16="http://schemas.microsoft.com/office/drawing/2014/main" id="{965F0091-43D3-B8D9-5785-DA96A72D4713}"/>
                </a:ext>
              </a:extLst>
            </p:cNvPr>
            <p:cNvGrpSpPr/>
            <p:nvPr/>
          </p:nvGrpSpPr>
          <p:grpSpPr>
            <a:xfrm>
              <a:off x="1615701" y="1367136"/>
              <a:ext cx="9104201" cy="5249682"/>
              <a:chOff x="1615701" y="1367136"/>
              <a:chExt cx="9104201" cy="5249682"/>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1615701" y="1403866"/>
                <a:ext cx="2683235" cy="369332"/>
              </a:xfrm>
              <a:prstGeom prst="rect">
                <a:avLst/>
              </a:prstGeom>
              <a:noFill/>
            </p:spPr>
            <p:txBody>
              <a:bodyPr wrap="none" rtlCol="0">
                <a:spAutoFit/>
              </a:bodyPr>
              <a:lstStyle/>
              <a:p>
                <a:r>
                  <a:rPr lang="en-US" dirty="0"/>
                  <a:t>Any NP-Complete Problem</a:t>
                </a:r>
              </a:p>
            </p:txBody>
          </p:sp>
          <p:sp>
            <p:nvSpPr>
              <p:cNvPr id="16" name="TextBox 15"/>
              <p:cNvSpPr txBox="1"/>
              <p:nvPr/>
            </p:nvSpPr>
            <p:spPr>
              <a:xfrm>
                <a:off x="7467601" y="1371600"/>
                <a:ext cx="3252301" cy="369332"/>
              </a:xfrm>
              <a:prstGeom prst="rect">
                <a:avLst/>
              </a:prstGeom>
              <a:noFill/>
            </p:spPr>
            <p:txBody>
              <a:bodyPr wrap="none" rtlCol="0">
                <a:spAutoFit/>
              </a:bodyPr>
              <a:lstStyle/>
              <a:p>
                <a:r>
                  <a:rPr lang="en-US" dirty="0"/>
                  <a:t>Any other NP-Complete Problem</a:t>
                </a:r>
              </a:p>
            </p:txBody>
          </p:sp>
          <mc:AlternateContent xmlns:mc="http://schemas.openxmlformats.org/markup-compatibility/2006" xmlns:a14="http://schemas.microsoft.com/office/drawing/2010/main">
            <mc:Choice Requires="a14">
              <p:sp>
                <p:nvSpPr>
                  <p:cNvPr id="21" name="TextBox 20"/>
                  <p:cNvSpPr txBox="1"/>
                  <p:nvPr/>
                </p:nvSpPr>
                <p:spPr>
                  <a:xfrm>
                    <a:off x="845497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8454979" y="4873374"/>
                    <a:ext cx="1500667" cy="369332"/>
                  </a:xfrm>
                  <a:prstGeom prst="rect">
                    <a:avLst/>
                  </a:prstGeom>
                  <a:blipFill>
                    <a:blip r:embed="rId2"/>
                    <a:stretch>
                      <a:fillRect l="-3659"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Flowchart: Magnetic Disk 21"/>
                  <p:cNvSpPr/>
                  <p:nvPr/>
                </p:nvSpPr>
                <p:spPr>
                  <a:xfrm>
                    <a:off x="2741659" y="1806836"/>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xmlns="">
              <p:sp>
                <p:nvSpPr>
                  <p:cNvPr id="22" name="Flowchart: Magnetic Disk 21"/>
                  <p:cNvSpPr>
                    <a:spLocks noRot="1" noChangeAspect="1" noMove="1" noResize="1" noEditPoints="1" noAdjustHandles="1" noChangeArrowheads="1" noChangeShapeType="1" noTextEdit="1"/>
                  </p:cNvSpPr>
                  <p:nvPr/>
                </p:nvSpPr>
                <p:spPr>
                  <a:xfrm>
                    <a:off x="2741659" y="1806836"/>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891339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8913392" y="1892573"/>
                    <a:ext cx="625924" cy="1004887"/>
                  </a:xfrm>
                  <a:prstGeom prst="rect">
                    <a:avLst/>
                  </a:prstGeom>
                  <a:blipFill>
                    <a:blip r:embed="rId4"/>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2378525"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xmlns="">
              <p:sp>
                <p:nvSpPr>
                  <p:cNvPr id="28" name="TextBox 27"/>
                  <p:cNvSpPr txBox="1">
                    <a:spLocks noRot="1" noChangeAspect="1" noMove="1" noResize="1" noEditPoints="1" noAdjustHandles="1" noChangeArrowheads="1" noChangeShapeType="1" noTextEdit="1"/>
                  </p:cNvSpPr>
                  <p:nvPr/>
                </p:nvSpPr>
                <p:spPr>
                  <a:xfrm>
                    <a:off x="2378525" y="4727933"/>
                    <a:ext cx="1486241" cy="369332"/>
                  </a:xfrm>
                  <a:prstGeom prst="rect">
                    <a:avLst/>
                  </a:prstGeom>
                  <a:blipFill>
                    <a:blip r:embed="rId5"/>
                    <a:stretch>
                      <a:fillRect l="-3279" t="-10000" b="-26667"/>
                    </a:stretch>
                  </a:blipFill>
                </p:spPr>
                <p:txBody>
                  <a:bodyPr/>
                  <a:lstStyle/>
                  <a:p>
                    <a:r>
                      <a:rPr lang="en-US">
                        <a:noFill/>
                      </a:rPr>
                      <a:t> </a:t>
                    </a:r>
                  </a:p>
                </p:txBody>
              </p:sp>
            </mc:Fallback>
          </mc:AlternateContent>
          <p:sp>
            <p:nvSpPr>
              <p:cNvPr id="30" name="AutoShape 5"/>
              <p:cNvSpPr>
                <a:spLocks noChangeArrowheads="1"/>
              </p:cNvSpPr>
              <p:nvPr/>
            </p:nvSpPr>
            <p:spPr bwMode="auto">
              <a:xfrm>
                <a:off x="4627562"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xmlns:a14="http://schemas.microsoft.com/office/drawing/2010/main">
            <mc:Choice Requires="a14">
              <p:sp>
                <p:nvSpPr>
                  <p:cNvPr id="279" name="Rectangle 278"/>
                  <p:cNvSpPr/>
                  <p:nvPr/>
                </p:nvSpPr>
                <p:spPr>
                  <a:xfrm>
                    <a:off x="893774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xmlns="">
              <p:sp>
                <p:nvSpPr>
                  <p:cNvPr id="279" name="Rectangle 278"/>
                  <p:cNvSpPr>
                    <a:spLocks noRot="1" noChangeAspect="1" noMove="1" noResize="1" noEditPoints="1" noAdjustHandles="1" noChangeArrowheads="1" noChangeShapeType="1" noTextEdit="1"/>
                  </p:cNvSpPr>
                  <p:nvPr/>
                </p:nvSpPr>
                <p:spPr>
                  <a:xfrm>
                    <a:off x="8937741" y="5242707"/>
                    <a:ext cx="625924" cy="1004887"/>
                  </a:xfrm>
                  <a:prstGeom prst="rect">
                    <a:avLst/>
                  </a:prstGeom>
                  <a:blipFill>
                    <a:blip r:embed="rId6"/>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0" name="Flowchart: Magnetic Disk 279"/>
                  <p:cNvSpPr/>
                  <p:nvPr/>
                </p:nvSpPr>
                <p:spPr>
                  <a:xfrm>
                    <a:off x="2822171"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xmlns="">
              <p:sp>
                <p:nvSpPr>
                  <p:cNvPr id="280" name="Flowchart: Magnetic Disk 279"/>
                  <p:cNvSpPr>
                    <a:spLocks noRot="1" noChangeAspect="1" noMove="1" noResize="1" noEditPoints="1" noAdjustHandles="1" noChangeArrowheads="1" noChangeShapeType="1" noTextEdit="1"/>
                  </p:cNvSpPr>
                  <p:nvPr/>
                </p:nvSpPr>
                <p:spPr>
                  <a:xfrm>
                    <a:off x="2822171"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5489064"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5489064"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sp>
          <p:nvSpPr>
            <p:cNvPr id="26" name="Rounded Rectangular Callout 25">
              <a:extLst>
                <a:ext uri="{FF2B5EF4-FFF2-40B4-BE49-F238E27FC236}">
                  <a16:creationId xmlns:a16="http://schemas.microsoft.com/office/drawing/2014/main" id="{EBD3D364-96E8-A14B-8D5D-6D824FA6B43A}"/>
                </a:ext>
              </a:extLst>
            </p:cNvPr>
            <p:cNvSpPr/>
            <p:nvPr/>
          </p:nvSpPr>
          <p:spPr>
            <a:xfrm>
              <a:off x="9903796" y="2604086"/>
              <a:ext cx="2288204" cy="707528"/>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If this could be done in polynomial time</a:t>
              </a:r>
            </a:p>
          </p:txBody>
        </p:sp>
        <p:sp>
          <p:nvSpPr>
            <p:cNvPr id="27" name="Rounded Rectangular Callout 26">
              <a:extLst>
                <a:ext uri="{FF2B5EF4-FFF2-40B4-BE49-F238E27FC236}">
                  <a16:creationId xmlns:a16="http://schemas.microsoft.com/office/drawing/2014/main" id="{EBD3D364-96E8-A14B-8D5D-6D824FA6B43A}"/>
                </a:ext>
              </a:extLst>
            </p:cNvPr>
            <p:cNvSpPr/>
            <p:nvPr/>
          </p:nvSpPr>
          <p:spPr>
            <a:xfrm>
              <a:off x="183373" y="2759151"/>
              <a:ext cx="2288204" cy="813192"/>
            </a:xfrm>
            <a:prstGeom prst="wedgeRoundRectCallout">
              <a:avLst>
                <a:gd name="adj1" fmla="val 69305"/>
                <a:gd name="adj2" fmla="val 3086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Then this could be done in polynomial time</a:t>
              </a:r>
            </a:p>
          </p:txBody>
        </p:sp>
        <p:sp>
          <p:nvSpPr>
            <p:cNvPr id="6" name="Rounded Rectangular Callout 25">
              <a:extLst>
                <a:ext uri="{FF2B5EF4-FFF2-40B4-BE49-F238E27FC236}">
                  <a16:creationId xmlns:a16="http://schemas.microsoft.com/office/drawing/2014/main" id="{EBD3D364-96E8-A14B-8D5D-6D824FA6B43A}"/>
                </a:ext>
              </a:extLst>
            </p:cNvPr>
            <p:cNvSpPr/>
            <p:nvPr/>
          </p:nvSpPr>
          <p:spPr>
            <a:xfrm>
              <a:off x="10056196" y="3595580"/>
              <a:ext cx="2135804" cy="857263"/>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t>Then this cannot be done in polynomial time</a:t>
              </a:r>
              <a:endParaRPr lang="en-US" dirty="0"/>
            </a:p>
          </p:txBody>
        </p:sp>
        <p:sp>
          <p:nvSpPr>
            <p:cNvPr id="7" name="Rounded Rectangular Callout 26">
              <a:extLst>
                <a:ext uri="{FF2B5EF4-FFF2-40B4-BE49-F238E27FC236}">
                  <a16:creationId xmlns:a16="http://schemas.microsoft.com/office/drawing/2014/main" id="{EBD3D364-96E8-A14B-8D5D-6D824FA6B43A}"/>
                </a:ext>
              </a:extLst>
            </p:cNvPr>
            <p:cNvSpPr/>
            <p:nvPr/>
          </p:nvSpPr>
          <p:spPr>
            <a:xfrm>
              <a:off x="335773" y="3900380"/>
              <a:ext cx="2288204" cy="813192"/>
            </a:xfrm>
            <a:prstGeom prst="wedgeRoundRectCallout">
              <a:avLst>
                <a:gd name="adj1" fmla="val 69305"/>
                <a:gd name="adj2" fmla="val 3086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If this cannot be done in polynomial time</a:t>
              </a:r>
            </a:p>
          </p:txBody>
        </p:sp>
      </p:grpSp>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4777F56A-0E3F-C850-2462-835A3A0D623A}"/>
                  </a:ext>
                </a:extLst>
              </p14:cNvPr>
              <p14:cNvContentPartPr/>
              <p14:nvPr/>
            </p14:nvContentPartPr>
            <p14:xfrm>
              <a:off x="276480" y="352080"/>
              <a:ext cx="11774520" cy="4133520"/>
            </p14:xfrm>
          </p:contentPart>
        </mc:Choice>
        <mc:Fallback>
          <p:pic>
            <p:nvPicPr>
              <p:cNvPr id="4" name="Ink 3">
                <a:extLst>
                  <a:ext uri="{FF2B5EF4-FFF2-40B4-BE49-F238E27FC236}">
                    <a16:creationId xmlns:a16="http://schemas.microsoft.com/office/drawing/2014/main" id="{4777F56A-0E3F-C850-2462-835A3A0D623A}"/>
                  </a:ext>
                </a:extLst>
              </p:cNvPr>
              <p:cNvPicPr/>
              <p:nvPr/>
            </p:nvPicPr>
            <p:blipFill>
              <a:blip r:embed="rId10"/>
              <a:stretch>
                <a:fillRect/>
              </a:stretch>
            </p:blipFill>
            <p:spPr>
              <a:xfrm>
                <a:off x="267120" y="342720"/>
                <a:ext cx="11793240" cy="4152240"/>
              </a:xfrm>
              <a:prstGeom prst="rect">
                <a:avLst/>
              </a:prstGeom>
            </p:spPr>
          </p:pic>
        </mc:Fallback>
      </mc:AlternateContent>
    </p:spTree>
    <p:extLst>
      <p:ext uri="{BB962C8B-B14F-4D97-AF65-F5344CB8AC3E}">
        <p14:creationId xmlns:p14="http://schemas.microsoft.com/office/powerpoint/2010/main" val="2580299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CFCE-257D-55FB-890F-6FBF726B2150}"/>
              </a:ext>
            </a:extLst>
          </p:cNvPr>
          <p:cNvSpPr>
            <a:spLocks noGrp="1"/>
          </p:cNvSpPr>
          <p:nvPr>
            <p:ph type="title"/>
          </p:nvPr>
        </p:nvSpPr>
        <p:spPr/>
        <p:txBody>
          <a:bodyPr/>
          <a:lstStyle/>
          <a:p>
            <a:r>
              <a:rPr lang="en-US" dirty="0"/>
              <a:t>Overview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60B87B-178B-B5AA-6696-DACBFA74D960}"/>
                  </a:ext>
                </a:extLst>
              </p:cNvPr>
              <p:cNvSpPr>
                <a:spLocks noGrp="1"/>
              </p:cNvSpPr>
              <p:nvPr>
                <p:ph idx="1"/>
              </p:nvPr>
            </p:nvSpPr>
            <p:spPr/>
            <p:txBody>
              <a:bodyPr>
                <a:normAutofit lnSpcReduction="10000"/>
              </a:bodyPr>
              <a:lstStyle/>
              <a:p>
                <a:r>
                  <a:rPr lang="en-US" dirty="0"/>
                  <a:t>Problems not belonging to </a:t>
                </a:r>
                <a14:m>
                  <m:oMath xmlns:m="http://schemas.openxmlformats.org/officeDocument/2006/math">
                    <m:r>
                      <a:rPr lang="en-US" b="0" i="1" smtClean="0">
                        <a:latin typeface="Cambria Math" panose="02040503050406030204" pitchFamily="18" charset="0"/>
                      </a:rPr>
                      <m:t>𝑃</m:t>
                    </m:r>
                  </m:oMath>
                </a14:m>
                <a:r>
                  <a:rPr lang="en-US" dirty="0"/>
                  <a:t> are considered intractable</a:t>
                </a:r>
              </a:p>
              <a:p>
                <a:r>
                  <a:rPr lang="en-US" dirty="0"/>
                  <a:t>The problems within </a:t>
                </a:r>
                <a14:m>
                  <m:oMath xmlns:m="http://schemas.openxmlformats.org/officeDocument/2006/math">
                    <m:r>
                      <a:rPr lang="en-US" b="0" i="1" smtClean="0">
                        <a:latin typeface="Cambria Math" panose="02040503050406030204" pitchFamily="18" charset="0"/>
                      </a:rPr>
                      <m:t>𝑁𝑃</m:t>
                    </m:r>
                  </m:oMath>
                </a14:m>
                <a:r>
                  <a:rPr lang="en-US" dirty="0"/>
                  <a:t> have some properties that make them seem like they might be tractable, but we’ve been unsuccessful with finding polynomial time algorithms for many</a:t>
                </a:r>
              </a:p>
              <a:p>
                <a:r>
                  <a:rPr lang="en-US" dirty="0"/>
                  <a:t>The class </a:t>
                </a:r>
                <a14:m>
                  <m:oMath xmlns:m="http://schemas.openxmlformats.org/officeDocument/2006/math">
                    <m:r>
                      <a:rPr lang="en-US" i="1" dirty="0" smtClean="0">
                        <a:latin typeface="Cambria Math" panose="02040503050406030204" pitchFamily="18" charset="0"/>
                      </a:rPr>
                      <m:t>𝑁𝑃</m:t>
                    </m:r>
                    <m:r>
                      <a:rPr lang="en-US" i="1" dirty="0" smtClean="0">
                        <a:latin typeface="Cambria Math" panose="02040503050406030204" pitchFamily="18" charset="0"/>
                      </a:rPr>
                      <m:t>−</m:t>
                    </m:r>
                    <m:r>
                      <a:rPr lang="en-US" i="1" dirty="0" smtClean="0">
                        <a:latin typeface="Cambria Math" panose="02040503050406030204" pitchFamily="18" charset="0"/>
                      </a:rPr>
                      <m:t>𝐶𝑜𝑚𝑝𝑙𝑒𝑡𝑒</m:t>
                    </m:r>
                  </m:oMath>
                </a14:m>
                <a:r>
                  <a:rPr lang="en-US" dirty="0"/>
                  <a:t> contains problems with the properties:</a:t>
                </a:r>
              </a:p>
              <a:p>
                <a:pPr lvl="1"/>
                <a:r>
                  <a:rPr lang="en-US" dirty="0"/>
                  <a:t>All members are also members of </a:t>
                </a:r>
                <a14:m>
                  <m:oMath xmlns:m="http://schemas.openxmlformats.org/officeDocument/2006/math">
                    <m:r>
                      <a:rPr lang="en-US" b="0" i="1" smtClean="0">
                        <a:latin typeface="Cambria Math" panose="02040503050406030204" pitchFamily="18" charset="0"/>
                      </a:rPr>
                      <m:t>𝑁𝑃</m:t>
                    </m:r>
                  </m:oMath>
                </a14:m>
                <a:endParaRPr lang="en-US" dirty="0"/>
              </a:p>
              <a:p>
                <a:pPr lvl="1"/>
                <a:r>
                  <a:rPr lang="en-US" dirty="0"/>
                  <a:t>All members of </a:t>
                </a:r>
                <a14:m>
                  <m:oMath xmlns:m="http://schemas.openxmlformats.org/officeDocument/2006/math">
                    <m:r>
                      <a:rPr lang="en-US" b="0" i="1" smtClean="0">
                        <a:latin typeface="Cambria Math" panose="02040503050406030204" pitchFamily="18" charset="0"/>
                      </a:rPr>
                      <m:t>𝑁𝑃</m:t>
                    </m:r>
                  </m:oMath>
                </a14:m>
                <a:r>
                  <a:rPr lang="en-US" dirty="0"/>
                  <a:t> can be transformed into every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endParaRPr lang="en-US" b="0" dirty="0"/>
              </a:p>
              <a:p>
                <a:pPr lvl="2"/>
                <a:r>
                  <a:rPr lang="en-US" dirty="0"/>
                  <a:t>Because they are both </a:t>
                </a:r>
                <a14:m>
                  <m:oMath xmlns:m="http://schemas.openxmlformats.org/officeDocument/2006/math">
                    <m:r>
                      <a:rPr lang="en-US" i="1" dirty="0" smtClean="0">
                        <a:latin typeface="Cambria Math" panose="02040503050406030204" pitchFamily="18" charset="0"/>
                      </a:rPr>
                      <m:t>𝑁𝑃</m:t>
                    </m:r>
                  </m:oMath>
                </a14:m>
                <a:r>
                  <a:rPr lang="en-US" dirty="0"/>
                  <a:t> and </a:t>
                </a:r>
                <a14:m>
                  <m:oMath xmlns:m="http://schemas.openxmlformats.org/officeDocument/2006/math">
                    <m:r>
                      <a:rPr lang="en-US" i="1" dirty="0" smtClean="0">
                        <a:latin typeface="Cambria Math" panose="02040503050406030204" pitchFamily="18" charset="0"/>
                      </a:rPr>
                      <m:t>𝑁𝑃</m:t>
                    </m:r>
                    <m:r>
                      <a:rPr lang="en-US" i="1" dirty="0" smtClean="0">
                        <a:latin typeface="Cambria Math" panose="02040503050406030204" pitchFamily="18" charset="0"/>
                      </a:rPr>
                      <m:t>−</m:t>
                    </m:r>
                    <m:r>
                      <a:rPr lang="en-US" i="1" dirty="0" smtClean="0">
                        <a:latin typeface="Cambria Math" panose="02040503050406030204" pitchFamily="18" charset="0"/>
                      </a:rPr>
                      <m:t>𝐻𝑎𝑟𝑑</m:t>
                    </m:r>
                  </m:oMath>
                </a14:m>
                <a:endParaRPr lang="en-US" b="0" dirty="0"/>
              </a:p>
              <a:p>
                <a:pPr lvl="1"/>
                <a:r>
                  <a:rPr lang="en-US" dirty="0"/>
                  <a:t>If any one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belongs to </a:t>
                </a:r>
                <a14:m>
                  <m:oMath xmlns:m="http://schemas.openxmlformats.org/officeDocument/2006/math">
                    <m:r>
                      <a:rPr lang="en-US" b="0" i="1" smtClean="0">
                        <a:latin typeface="Cambria Math" panose="02040503050406030204" pitchFamily="18" charset="0"/>
                      </a:rPr>
                      <m:t>𝑃</m:t>
                    </m:r>
                  </m:oMath>
                </a14:m>
                <a:r>
                  <a:rPr lang="en-US" dirty="0"/>
                  <a:t>, then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If any one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is outside of </a:t>
                </a:r>
                <a14:m>
                  <m:oMath xmlns:m="http://schemas.openxmlformats.org/officeDocument/2006/math">
                    <m:r>
                      <a:rPr lang="en-US" b="0" i="1" smtClean="0">
                        <a:latin typeface="Cambria Math" panose="02040503050406030204" pitchFamily="18" charset="0"/>
                      </a:rPr>
                      <m:t>𝑃</m:t>
                    </m:r>
                  </m:oMath>
                </a14:m>
                <a:r>
                  <a:rPr lang="en-US" dirty="0"/>
                  <a:t>, then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p:txBody>
          </p:sp>
        </mc:Choice>
        <mc:Fallback xmlns="">
          <p:sp>
            <p:nvSpPr>
              <p:cNvPr id="3" name="Content Placeholder 2">
                <a:extLst>
                  <a:ext uri="{FF2B5EF4-FFF2-40B4-BE49-F238E27FC236}">
                    <a16:creationId xmlns:a16="http://schemas.microsoft.com/office/drawing/2014/main" id="{6660B87B-178B-B5AA-6696-DACBFA74D960}"/>
                  </a:ext>
                </a:extLst>
              </p:cNvPr>
              <p:cNvSpPr>
                <a:spLocks noGrp="1" noRot="1" noChangeAspect="1" noMove="1" noResize="1" noEditPoints="1" noAdjustHandles="1" noChangeArrowheads="1" noChangeShapeType="1" noTextEdit="1"/>
              </p:cNvSpPr>
              <p:nvPr>
                <p:ph idx="1"/>
              </p:nvPr>
            </p:nvSpPr>
            <p:spPr>
              <a:blipFill>
                <a:blip r:embed="rId2"/>
                <a:stretch>
                  <a:fillRect l="-1043" t="-3081" r="-1449"/>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ADBB463-6F27-C669-ED35-E89209C138CD}"/>
                  </a:ext>
                </a:extLst>
              </p14:cNvPr>
              <p14:cNvContentPartPr/>
              <p14:nvPr/>
            </p14:nvContentPartPr>
            <p14:xfrm>
              <a:off x="1213560" y="2234880"/>
              <a:ext cx="9064440" cy="3760200"/>
            </p14:xfrm>
          </p:contentPart>
        </mc:Choice>
        <mc:Fallback>
          <p:pic>
            <p:nvPicPr>
              <p:cNvPr id="4" name="Ink 3">
                <a:extLst>
                  <a:ext uri="{FF2B5EF4-FFF2-40B4-BE49-F238E27FC236}">
                    <a16:creationId xmlns:a16="http://schemas.microsoft.com/office/drawing/2014/main" id="{FADBB463-6F27-C669-ED35-E89209C138CD}"/>
                  </a:ext>
                </a:extLst>
              </p:cNvPr>
              <p:cNvPicPr/>
              <p:nvPr/>
            </p:nvPicPr>
            <p:blipFill>
              <a:blip r:embed="rId4"/>
              <a:stretch>
                <a:fillRect/>
              </a:stretch>
            </p:blipFill>
            <p:spPr>
              <a:xfrm>
                <a:off x="1204200" y="2225520"/>
                <a:ext cx="9083160" cy="3778920"/>
              </a:xfrm>
              <a:prstGeom prst="rect">
                <a:avLst/>
              </a:prstGeom>
            </p:spPr>
          </p:pic>
        </mc:Fallback>
      </mc:AlternateContent>
    </p:spTree>
    <p:extLst>
      <p:ext uri="{BB962C8B-B14F-4D97-AF65-F5344CB8AC3E}">
        <p14:creationId xmlns:p14="http://schemas.microsoft.com/office/powerpoint/2010/main" val="287723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9095-7562-ED1C-FDFC-5B04880CA7C1}"/>
              </a:ext>
            </a:extLst>
          </p:cNvPr>
          <p:cNvSpPr>
            <a:spLocks noGrp="1"/>
          </p:cNvSpPr>
          <p:nvPr>
            <p:ph type="title"/>
          </p:nvPr>
        </p:nvSpPr>
        <p:spPr/>
        <p:txBody>
          <a:bodyPr/>
          <a:lstStyle/>
          <a:p>
            <a:r>
              <a:rPr lang="en-US" dirty="0"/>
              <a:t>Why should YOU care?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D492D-9C9F-4FF0-674D-8E0A5C6D0D50}"/>
                  </a:ext>
                </a:extLst>
              </p:cNvPr>
              <p:cNvSpPr>
                <a:spLocks noGrp="1"/>
              </p:cNvSpPr>
              <p:nvPr>
                <p:ph idx="1"/>
              </p:nvPr>
            </p:nvSpPr>
            <p:spPr>
              <a:xfrm>
                <a:off x="355600" y="1562100"/>
                <a:ext cx="11836400" cy="4930775"/>
              </a:xfrm>
            </p:spPr>
            <p:txBody>
              <a:bodyPr>
                <a:normAutofit fontScale="92500"/>
              </a:bodyPr>
              <a:lstStyle/>
              <a:p>
                <a:r>
                  <a:rPr lang="en-US" dirty="0"/>
                  <a:t>If you can find a polynomial time algorithm for any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problem then:</a:t>
                </a:r>
              </a:p>
              <a:p>
                <a:pPr lvl="1"/>
                <a:r>
                  <a:rPr lang="en-US" dirty="0"/>
                  <a:t>You will win $1million</a:t>
                </a:r>
              </a:p>
              <a:p>
                <a:pPr lvl="1"/>
                <a:r>
                  <a:rPr lang="en-US" dirty="0"/>
                  <a:t>You will win a Turing Award</a:t>
                </a:r>
              </a:p>
              <a:p>
                <a:pPr lvl="1"/>
                <a:r>
                  <a:rPr lang="en-US" dirty="0"/>
                  <a:t>You will be world famous</a:t>
                </a:r>
              </a:p>
              <a:p>
                <a:pPr lvl="1"/>
                <a:r>
                  <a:rPr lang="en-US" dirty="0"/>
                  <a:t>You will have done something that no one else on Earth has been able to do in spite of the above!</a:t>
                </a:r>
              </a:p>
              <a:p>
                <a:r>
                  <a:rPr lang="en-US" dirty="0"/>
                  <a:t>If you are told to write an algorithm a problem that is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endParaRPr lang="en-US" dirty="0"/>
              </a:p>
              <a:p>
                <a:pPr lvl="1"/>
                <a:r>
                  <a:rPr lang="en-US" dirty="0"/>
                  <a:t>You can tell that person everything above to set expectations</a:t>
                </a:r>
              </a:p>
              <a:p>
                <a:pPr lvl="1"/>
                <a:r>
                  <a:rPr lang="en-US" dirty="0"/>
                  <a:t>Change the requirements!</a:t>
                </a:r>
              </a:p>
              <a:p>
                <a:pPr lvl="1"/>
                <a:r>
                  <a:rPr lang="en-US" b="1" dirty="0"/>
                  <a:t>Approximate the solution</a:t>
                </a:r>
                <a:r>
                  <a:rPr lang="en-US" dirty="0"/>
                  <a:t>: Instead of finding a path that visits every node, find a path that visits at least 75% of the nodes</a:t>
                </a:r>
              </a:p>
              <a:p>
                <a:pPr lvl="1"/>
                <a:r>
                  <a:rPr lang="en-US" b="1" dirty="0"/>
                  <a:t>Add Assumptions</a:t>
                </a:r>
                <a:r>
                  <a:rPr lang="en-US" dirty="0"/>
                  <a:t>: problem might be tractable if we can assume the graph is acyclic, a tree</a:t>
                </a:r>
              </a:p>
              <a:p>
                <a:pPr lvl="1"/>
                <a:r>
                  <a:rPr lang="en-US" b="1" dirty="0"/>
                  <a:t>Use Heuristics</a:t>
                </a:r>
                <a:r>
                  <a:rPr lang="en-US" dirty="0"/>
                  <a:t>: Write an algorithm that’s “good enough” for small inputs, ignore edge cases</a:t>
                </a:r>
              </a:p>
              <a:p>
                <a:pPr lvl="1"/>
                <a:endParaRPr lang="en-US" dirty="0"/>
              </a:p>
            </p:txBody>
          </p:sp>
        </mc:Choice>
        <mc:Fallback xmlns="">
          <p:sp>
            <p:nvSpPr>
              <p:cNvPr id="3" name="Content Placeholder 2">
                <a:extLst>
                  <a:ext uri="{FF2B5EF4-FFF2-40B4-BE49-F238E27FC236}">
                    <a16:creationId xmlns:a16="http://schemas.microsoft.com/office/drawing/2014/main" id="{F51D492D-9C9F-4FF0-674D-8E0A5C6D0D50}"/>
                  </a:ext>
                </a:extLst>
              </p:cNvPr>
              <p:cNvSpPr>
                <a:spLocks noGrp="1" noRot="1" noChangeAspect="1" noMove="1" noResize="1" noEditPoints="1" noAdjustHandles="1" noChangeArrowheads="1" noChangeShapeType="1" noTextEdit="1"/>
              </p:cNvSpPr>
              <p:nvPr>
                <p:ph idx="1"/>
              </p:nvPr>
            </p:nvSpPr>
            <p:spPr>
              <a:xfrm>
                <a:off x="355600" y="1562100"/>
                <a:ext cx="11836400" cy="4930775"/>
              </a:xfrm>
              <a:blipFill>
                <a:blip r:embed="rId2"/>
                <a:stretch>
                  <a:fillRect l="-772" t="-1854" r="-206" b="-37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0492DB0-E614-777D-6C9F-3E7C14E87330}"/>
                  </a:ext>
                </a:extLst>
              </p14:cNvPr>
              <p14:cNvContentPartPr/>
              <p14:nvPr/>
            </p14:nvContentPartPr>
            <p14:xfrm>
              <a:off x="162720" y="1956240"/>
              <a:ext cx="10060200" cy="4424400"/>
            </p14:xfrm>
          </p:contentPart>
        </mc:Choice>
        <mc:Fallback>
          <p:pic>
            <p:nvPicPr>
              <p:cNvPr id="4" name="Ink 3">
                <a:extLst>
                  <a:ext uri="{FF2B5EF4-FFF2-40B4-BE49-F238E27FC236}">
                    <a16:creationId xmlns:a16="http://schemas.microsoft.com/office/drawing/2014/main" id="{F0492DB0-E614-777D-6C9F-3E7C14E87330}"/>
                  </a:ext>
                </a:extLst>
              </p:cNvPr>
              <p:cNvPicPr/>
              <p:nvPr/>
            </p:nvPicPr>
            <p:blipFill>
              <a:blip r:embed="rId4"/>
              <a:stretch>
                <a:fillRect/>
              </a:stretch>
            </p:blipFill>
            <p:spPr>
              <a:xfrm>
                <a:off x="153360" y="1946880"/>
                <a:ext cx="10078920" cy="4443120"/>
              </a:xfrm>
              <a:prstGeom prst="rect">
                <a:avLst/>
              </a:prstGeom>
            </p:spPr>
          </p:pic>
        </mc:Fallback>
      </mc:AlternateContent>
    </p:spTree>
    <p:extLst>
      <p:ext uri="{BB962C8B-B14F-4D97-AF65-F5344CB8AC3E}">
        <p14:creationId xmlns:p14="http://schemas.microsoft.com/office/powerpoint/2010/main" val="4031155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80CD5-2E75-101B-3BF0-3D75E9E0E965}"/>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BF0E441D-1D5A-8457-5F47-FF8B84B4ACA4}"/>
                  </a:ext>
                </a:extLst>
              </p:cNvPr>
              <p:cNvSpPr>
                <a:spLocks noGrp="1"/>
              </p:cNvSpPr>
              <p:nvPr>
                <p:ph type="title"/>
              </p:nvPr>
            </p:nvSpPr>
            <p:spPr/>
            <p:txBody>
              <a:bodyPr/>
              <a:lstStyle/>
              <a:p>
                <a:r>
                  <a:rPr lang="en-US" dirty="0"/>
                  <a:t>Public Key Crypto Requires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p:txBody>
          </p:sp>
        </mc:Choice>
        <mc:Fallback>
          <p:sp>
            <p:nvSpPr>
              <p:cNvPr id="2" name="Title 1">
                <a:extLst>
                  <a:ext uri="{FF2B5EF4-FFF2-40B4-BE49-F238E27FC236}">
                    <a16:creationId xmlns:a16="http://schemas.microsoft.com/office/drawing/2014/main" id="{BF0E441D-1D5A-8457-5F47-FF8B84B4ACA4}"/>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9F7E387-7697-8C08-6752-44D48BEF33ED}"/>
                  </a:ext>
                </a:extLst>
              </p:cNvPr>
              <p:cNvSpPr>
                <a:spLocks noGrp="1"/>
              </p:cNvSpPr>
              <p:nvPr>
                <p:ph idx="1"/>
              </p:nvPr>
            </p:nvSpPr>
            <p:spPr/>
            <p:txBody>
              <a:bodyPr>
                <a:normAutofit/>
              </a:bodyPr>
              <a:lstStyle/>
              <a:p>
                <a:r>
                  <a:rPr lang="en-US" dirty="0"/>
                  <a:t>Public key cryptography involves two keys:</a:t>
                </a:r>
              </a:p>
              <a:p>
                <a:pPr lvl="1"/>
                <a:r>
                  <a:rPr lang="en-US" dirty="0"/>
                  <a:t>A “public key”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𝑝𝑢𝑏</m:t>
                        </m:r>
                      </m:sub>
                    </m:sSub>
                  </m:oMath>
                </a14:m>
                <a:r>
                  <a:rPr lang="en-US" dirty="0"/>
                  <a:t> used for encryption</a:t>
                </a:r>
              </a:p>
              <a:p>
                <a:pPr lvl="2"/>
                <a:r>
                  <a:rPr lang="en-US" dirty="0"/>
                  <a:t>To encrypt </a:t>
                </a:r>
                <a14:m>
                  <m:oMath xmlns:m="http://schemas.openxmlformats.org/officeDocument/2006/math">
                    <m:r>
                      <a:rPr lang="en-US" b="0" i="1" smtClean="0">
                        <a:latin typeface="Cambria Math" panose="02040503050406030204" pitchFamily="18" charset="0"/>
                      </a:rPr>
                      <m:t>𝑚</m:t>
                    </m:r>
                  </m:oMath>
                </a14:m>
                <a:r>
                  <a:rPr lang="en-US" dirty="0"/>
                  <a:t> we compute </a:t>
                </a:r>
                <a14:m>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𝑝𝑢𝑏</m:t>
                            </m:r>
                          </m:sub>
                        </m:sSub>
                      </m:e>
                    </m:d>
                    <m:r>
                      <a:rPr lang="en-US" b="0" i="1" smtClean="0">
                        <a:latin typeface="Cambria Math" panose="02040503050406030204" pitchFamily="18" charset="0"/>
                      </a:rPr>
                      <m:t>=</m:t>
                    </m:r>
                    <m:r>
                      <a:rPr lang="en-US" b="0" i="1" smtClean="0">
                        <a:latin typeface="Cambria Math" panose="02040503050406030204" pitchFamily="18" charset="0"/>
                      </a:rPr>
                      <m:t>𝑐</m:t>
                    </m:r>
                  </m:oMath>
                </a14:m>
                <a:endParaRPr lang="en-US" dirty="0"/>
              </a:p>
              <a:p>
                <a:pPr lvl="1"/>
                <a:r>
                  <a:rPr lang="en-US" dirty="0"/>
                  <a:t>A “private key”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𝑝𝑟𝑖𝑣</m:t>
                        </m:r>
                      </m:sub>
                    </m:sSub>
                  </m:oMath>
                </a14:m>
                <a:r>
                  <a:rPr lang="en-US" dirty="0"/>
                  <a:t> used for decryption</a:t>
                </a:r>
              </a:p>
              <a:p>
                <a:pPr lvl="2"/>
                <a:r>
                  <a:rPr lang="en-US" dirty="0"/>
                  <a:t>To decrypt </a:t>
                </a:r>
                <a14:m>
                  <m:oMath xmlns:m="http://schemas.openxmlformats.org/officeDocument/2006/math">
                    <m:r>
                      <a:rPr lang="en-US" b="0" i="1" smtClean="0">
                        <a:latin typeface="Cambria Math" panose="02040503050406030204" pitchFamily="18" charset="0"/>
                      </a:rPr>
                      <m:t>𝑐</m:t>
                    </m:r>
                  </m:oMath>
                </a14:m>
                <a:r>
                  <a:rPr lang="en-US" dirty="0"/>
                  <a:t> we compute </a:t>
                </a:r>
                <a14:m>
                  <m:oMath xmlns:m="http://schemas.openxmlformats.org/officeDocument/2006/math">
                    <m:r>
                      <a:rPr lang="en-US" b="0" i="1" smtClean="0">
                        <a:latin typeface="Cambria Math" panose="02040503050406030204" pitchFamily="18" charset="0"/>
                      </a:rPr>
                      <m:t>𝐷</m:t>
                    </m:r>
                    <m:d>
                      <m:dPr>
                        <m:ctrlPr>
                          <a:rPr lang="en-US" b="0" i="1" smtClean="0">
                            <a:latin typeface="Cambria Math" panose="02040503050406030204" pitchFamily="18" charset="0"/>
                          </a:rPr>
                        </m:ctrlPr>
                      </m:dPr>
                      <m:e>
                        <m:r>
                          <a:rPr lang="en-US" b="0" i="1" smtClean="0">
                            <a:latin typeface="Cambria Math" panose="02040503050406030204" pitchFamily="18" charset="0"/>
                          </a:rPr>
                          <m:t>𝑐</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𝑝𝑟𝑖𝑣</m:t>
                            </m:r>
                          </m:sub>
                        </m:sSub>
                      </m:e>
                    </m:d>
                    <m:r>
                      <a:rPr lang="en-US" b="0" i="1" smtClean="0">
                        <a:latin typeface="Cambria Math" panose="02040503050406030204" pitchFamily="18" charset="0"/>
                      </a:rPr>
                      <m:t>=</m:t>
                    </m:r>
                    <m:r>
                      <a:rPr lang="en-US" b="0" i="1" smtClean="0">
                        <a:latin typeface="Cambria Math" panose="02040503050406030204" pitchFamily="18" charset="0"/>
                      </a:rPr>
                      <m:t>𝑚</m:t>
                    </m:r>
                  </m:oMath>
                </a14:m>
                <a:endParaRPr lang="en-US" dirty="0"/>
              </a:p>
              <a:p>
                <a:r>
                  <a:rPr lang="en-US" dirty="0"/>
                  <a:t>To be secure we need:</a:t>
                </a:r>
              </a:p>
              <a:p>
                <a:pPr lvl="1"/>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𝑝𝑢𝑏</m:t>
                        </m:r>
                      </m:sub>
                    </m:sSub>
                    <m:r>
                      <a:rPr lang="en-US" b="0" i="1" smtClean="0">
                        <a:latin typeface="Cambria Math" panose="02040503050406030204" pitchFamily="18" charset="0"/>
                      </a:rPr>
                      <m:t>)</m:t>
                    </m:r>
                  </m:oMath>
                </a14:m>
                <a:r>
                  <a:rPr lang="en-US" dirty="0"/>
                  <a:t> to belong to </a:t>
                </a:r>
                <a14:m>
                  <m:oMath xmlns:m="http://schemas.openxmlformats.org/officeDocument/2006/math">
                    <m:r>
                      <a:rPr lang="en-US" b="0" i="1" smtClean="0">
                        <a:latin typeface="Cambria Math" panose="02040503050406030204" pitchFamily="18" charset="0"/>
                      </a:rPr>
                      <m:t>𝑃</m:t>
                    </m:r>
                  </m:oMath>
                </a14:m>
                <a:endParaRPr lang="en-US" dirty="0"/>
              </a:p>
              <a:p>
                <a:pPr lvl="1"/>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𝑝𝑢𝑏</m:t>
                        </m:r>
                      </m:sub>
                    </m:sSub>
                    <m:r>
                      <a:rPr lang="en-US" b="0" i="1" smtClean="0">
                        <a:latin typeface="Cambria Math" panose="02040503050406030204" pitchFamily="18" charset="0"/>
                      </a:rPr>
                      <m:t>)</m:t>
                    </m:r>
                  </m:oMath>
                </a14:m>
                <a:r>
                  <a:rPr lang="en-US" dirty="0"/>
                  <a:t> to not belong to </a:t>
                </a:r>
                <a14:m>
                  <m:oMath xmlns:m="http://schemas.openxmlformats.org/officeDocument/2006/math">
                    <m:r>
                      <a:rPr lang="en-US" b="0" i="1" smtClean="0">
                        <a:latin typeface="Cambria Math" panose="02040503050406030204" pitchFamily="18" charset="0"/>
                      </a:rPr>
                      <m:t>𝑃</m:t>
                    </m:r>
                  </m:oMath>
                </a14:m>
                <a:endParaRPr lang="en-US" dirty="0"/>
              </a:p>
              <a:p>
                <a:pPr lvl="1"/>
                <a:r>
                  <a:rPr lang="en-US" dirty="0"/>
                  <a:t>However,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𝑝𝑢𝑏</m:t>
                        </m:r>
                      </m:sub>
                    </m:sSub>
                    <m:r>
                      <a:rPr lang="en-US" b="0" i="1" smtClean="0">
                        <a:latin typeface="Cambria Math" panose="02040503050406030204" pitchFamily="18" charset="0"/>
                      </a:rPr>
                      <m:t>)</m:t>
                    </m:r>
                  </m:oMath>
                </a14:m>
                <a:r>
                  <a:rPr lang="en-US" dirty="0"/>
                  <a:t> must belong to </a:t>
                </a:r>
                <a14:m>
                  <m:oMath xmlns:m="http://schemas.openxmlformats.org/officeDocument/2006/math">
                    <m:r>
                      <a:rPr lang="en-US" b="0" i="1" smtClean="0">
                        <a:latin typeface="Cambria Math" panose="02040503050406030204" pitchFamily="18" charset="0"/>
                      </a:rPr>
                      <m:t>𝑁𝑃</m:t>
                    </m:r>
                  </m:oMath>
                </a14:m>
                <a:endParaRPr lang="en-US" dirty="0"/>
              </a:p>
              <a:p>
                <a:pPr lvl="2"/>
                <a:r>
                  <a:rPr lang="en-US" dirty="0"/>
                  <a:t>Given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𝑝𝑢𝑏</m:t>
                        </m:r>
                      </m:sub>
                    </m:sSub>
                    <m:r>
                      <a:rPr lang="en-US" b="0" i="1" smtClean="0">
                        <a:latin typeface="Cambria Math" panose="02040503050406030204" pitchFamily="18" charset="0"/>
                      </a:rPr>
                      <m:t>,</m:t>
                    </m:r>
                    <m:r>
                      <a:rPr lang="en-US" b="0" i="1" smtClean="0">
                        <a:latin typeface="Cambria Math" panose="02040503050406030204" pitchFamily="18" charset="0"/>
                      </a:rPr>
                      <m:t>𝑚</m:t>
                    </m:r>
                  </m:oMath>
                </a14:m>
                <a:r>
                  <a:rPr lang="en-US" dirty="0"/>
                  <a:t> we can verify if </a:t>
                </a:r>
                <a14:m>
                  <m:oMath xmlns:m="http://schemas.openxmlformats.org/officeDocument/2006/math">
                    <m:r>
                      <a:rPr lang="en-US" b="0" i="1" smtClean="0">
                        <a:latin typeface="Cambria Math" panose="02040503050406030204" pitchFamily="18" charset="0"/>
                      </a:rPr>
                      <m:t>𝐷</m:t>
                    </m:r>
                    <m:d>
                      <m:dPr>
                        <m:ctrlPr>
                          <a:rPr lang="en-US" b="0" i="1" smtClean="0">
                            <a:latin typeface="Cambria Math" panose="02040503050406030204" pitchFamily="18" charset="0"/>
                          </a:rPr>
                        </m:ctrlPr>
                      </m:dPr>
                      <m:e>
                        <m:r>
                          <a:rPr lang="en-US" b="0" i="1" smtClean="0">
                            <a:latin typeface="Cambria Math" panose="02040503050406030204" pitchFamily="18" charset="0"/>
                          </a:rPr>
                          <m:t>𝑐</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𝑝𝑢𝑏</m:t>
                            </m:r>
                          </m:sub>
                        </m:sSub>
                      </m:e>
                    </m:d>
                    <m:r>
                      <a:rPr lang="en-US" b="0" i="1" smtClean="0">
                        <a:latin typeface="Cambria Math" panose="02040503050406030204" pitchFamily="18" charset="0"/>
                      </a:rPr>
                      <m:t>=</m:t>
                    </m:r>
                    <m:r>
                      <a:rPr lang="en-US" b="0" i="1" smtClean="0">
                        <a:latin typeface="Cambria Math" panose="02040503050406030204" pitchFamily="18" charset="0"/>
                      </a:rPr>
                      <m:t>𝑚</m:t>
                    </m:r>
                  </m:oMath>
                </a14:m>
                <a:r>
                  <a:rPr lang="en-US" dirty="0"/>
                  <a:t> by checking if </a:t>
                </a:r>
                <a14:m>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𝑝𝑢𝑏</m:t>
                            </m:r>
                          </m:sub>
                        </m:sSub>
                      </m:e>
                    </m:d>
                    <m:r>
                      <a:rPr lang="en-US" b="0" i="1" smtClean="0">
                        <a:latin typeface="Cambria Math" panose="02040503050406030204" pitchFamily="18" charset="0"/>
                      </a:rPr>
                      <m:t>=</m:t>
                    </m:r>
                    <m:r>
                      <a:rPr lang="en-US" b="0" i="1" smtClean="0">
                        <a:latin typeface="Cambria Math" panose="02040503050406030204" pitchFamily="18" charset="0"/>
                      </a:rPr>
                      <m:t>𝑐</m:t>
                    </m:r>
                  </m:oMath>
                </a14:m>
                <a:endParaRPr lang="en-US" dirty="0"/>
              </a:p>
              <a:p>
                <a:pPr lvl="1"/>
                <a:endParaRPr lang="en-US" dirty="0"/>
              </a:p>
            </p:txBody>
          </p:sp>
        </mc:Choice>
        <mc:Fallback>
          <p:sp>
            <p:nvSpPr>
              <p:cNvPr id="3" name="Content Placeholder 2">
                <a:extLst>
                  <a:ext uri="{FF2B5EF4-FFF2-40B4-BE49-F238E27FC236}">
                    <a16:creationId xmlns:a16="http://schemas.microsoft.com/office/drawing/2014/main" id="{29F7E387-7697-8C08-6752-44D48BEF33ED}"/>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F42D71EF-E90B-1FF1-8D05-082687906E74}"/>
                  </a:ext>
                </a:extLst>
              </p14:cNvPr>
              <p14:cNvContentPartPr/>
              <p14:nvPr/>
            </p14:nvContentPartPr>
            <p14:xfrm>
              <a:off x="239760" y="1570680"/>
              <a:ext cx="6701400" cy="4304880"/>
            </p14:xfrm>
          </p:contentPart>
        </mc:Choice>
        <mc:Fallback>
          <p:pic>
            <p:nvPicPr>
              <p:cNvPr id="4" name="Ink 3">
                <a:extLst>
                  <a:ext uri="{FF2B5EF4-FFF2-40B4-BE49-F238E27FC236}">
                    <a16:creationId xmlns:a16="http://schemas.microsoft.com/office/drawing/2014/main" id="{F42D71EF-E90B-1FF1-8D05-082687906E74}"/>
                  </a:ext>
                </a:extLst>
              </p:cNvPr>
              <p:cNvPicPr/>
              <p:nvPr/>
            </p:nvPicPr>
            <p:blipFill>
              <a:blip r:embed="rId5"/>
              <a:stretch>
                <a:fillRect/>
              </a:stretch>
            </p:blipFill>
            <p:spPr>
              <a:xfrm>
                <a:off x="230400" y="1561320"/>
                <a:ext cx="6720120" cy="4323600"/>
              </a:xfrm>
              <a:prstGeom prst="rect">
                <a:avLst/>
              </a:prstGeom>
            </p:spPr>
          </p:pic>
        </mc:Fallback>
      </mc:AlternateContent>
    </p:spTree>
    <p:extLst>
      <p:ext uri="{BB962C8B-B14F-4D97-AF65-F5344CB8AC3E}">
        <p14:creationId xmlns:p14="http://schemas.microsoft.com/office/powerpoint/2010/main" val="1506187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Does P=NP?</a:t>
            </a: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4C8AE358-F7E7-6C93-5C64-5220C15841F2}"/>
                  </a:ext>
                </a:extLst>
              </p:cNvPr>
              <p:cNvGraphicFramePr>
                <a:graphicFrameLocks noGrp="1"/>
              </p:cNvGraphicFramePr>
              <p:nvPr>
                <p:extLst>
                  <p:ext uri="{D42A27DB-BD31-4B8C-83A1-F6EECF244321}">
                    <p14:modId xmlns:p14="http://schemas.microsoft.com/office/powerpoint/2010/main" val="3929160930"/>
                  </p:ext>
                </p:extLst>
              </p:nvPr>
            </p:nvGraphicFramePr>
            <p:xfrm>
              <a:off x="297180" y="2349455"/>
              <a:ext cx="11440392" cy="1752600"/>
            </p:xfrm>
            <a:graphic>
              <a:graphicData uri="http://schemas.openxmlformats.org/drawingml/2006/table">
                <a:tbl>
                  <a:tblPr firstRow="1" bandRow="1">
                    <a:tableStyleId>{5C22544A-7EE6-4342-B048-85BDC9FD1C3A}</a:tableStyleId>
                  </a:tblPr>
                  <a:tblGrid>
                    <a:gridCol w="1430049">
                      <a:extLst>
                        <a:ext uri="{9D8B030D-6E8A-4147-A177-3AD203B41FA5}">
                          <a16:colId xmlns:a16="http://schemas.microsoft.com/office/drawing/2014/main" val="2918348885"/>
                        </a:ext>
                      </a:extLst>
                    </a:gridCol>
                    <a:gridCol w="1430049">
                      <a:extLst>
                        <a:ext uri="{9D8B030D-6E8A-4147-A177-3AD203B41FA5}">
                          <a16:colId xmlns:a16="http://schemas.microsoft.com/office/drawing/2014/main" val="4102585134"/>
                        </a:ext>
                      </a:extLst>
                    </a:gridCol>
                    <a:gridCol w="1430049">
                      <a:extLst>
                        <a:ext uri="{9D8B030D-6E8A-4147-A177-3AD203B41FA5}">
                          <a16:colId xmlns:a16="http://schemas.microsoft.com/office/drawing/2014/main" val="1662433480"/>
                        </a:ext>
                      </a:extLst>
                    </a:gridCol>
                    <a:gridCol w="1430049">
                      <a:extLst>
                        <a:ext uri="{9D8B030D-6E8A-4147-A177-3AD203B41FA5}">
                          <a16:colId xmlns:a16="http://schemas.microsoft.com/office/drawing/2014/main" val="2919723958"/>
                        </a:ext>
                      </a:extLst>
                    </a:gridCol>
                    <a:gridCol w="1430049">
                      <a:extLst>
                        <a:ext uri="{9D8B030D-6E8A-4147-A177-3AD203B41FA5}">
                          <a16:colId xmlns:a16="http://schemas.microsoft.com/office/drawing/2014/main" val="2835635317"/>
                        </a:ext>
                      </a:extLst>
                    </a:gridCol>
                    <a:gridCol w="1430049">
                      <a:extLst>
                        <a:ext uri="{9D8B030D-6E8A-4147-A177-3AD203B41FA5}">
                          <a16:colId xmlns:a16="http://schemas.microsoft.com/office/drawing/2014/main" val="491599055"/>
                        </a:ext>
                      </a:extLst>
                    </a:gridCol>
                    <a:gridCol w="1430049">
                      <a:extLst>
                        <a:ext uri="{9D8B030D-6E8A-4147-A177-3AD203B41FA5}">
                          <a16:colId xmlns:a16="http://schemas.microsoft.com/office/drawing/2014/main" val="4264937806"/>
                        </a:ext>
                      </a:extLst>
                    </a:gridCol>
                    <a:gridCol w="1430049">
                      <a:extLst>
                        <a:ext uri="{9D8B030D-6E8A-4147-A177-3AD203B41FA5}">
                          <a16:colId xmlns:a16="http://schemas.microsoft.com/office/drawing/2014/main" val="4255534367"/>
                        </a:ext>
                      </a:extLst>
                    </a:gridCol>
                  </a:tblGrid>
                  <a:tr h="370840">
                    <a:tc>
                      <a:txBody>
                        <a:bodyPr/>
                        <a:lstStyle/>
                        <a:p>
                          <a:r>
                            <a:rPr lang="en-US" dirty="0"/>
                            <a:t>Poll Year</a:t>
                          </a:r>
                        </a:p>
                      </a:txBody>
                      <a:tcPr/>
                    </a:tc>
                    <a:tc>
                      <a:txBody>
                        <a:bodyPr/>
                        <a:lstStyle/>
                        <a:p>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𝑷</m:t>
                                </m:r>
                                <m:r>
                                  <a:rPr lang="en-US" b="1" i="1" smtClean="0">
                                    <a:latin typeface="Cambria Math" panose="02040503050406030204" pitchFamily="18" charset="0"/>
                                  </a:rPr>
                                  <m:t>≠</m:t>
                                </m:r>
                                <m:r>
                                  <a:rPr lang="en-US" b="1" i="1" smtClean="0">
                                    <a:latin typeface="Cambria Math" panose="02040503050406030204" pitchFamily="18" charset="0"/>
                                  </a:rPr>
                                  <m:t>𝑵𝑷</m:t>
                                </m:r>
                              </m:oMath>
                            </m:oMathPara>
                          </a14:m>
                          <a:endParaRPr lang="en-US" dirty="0"/>
                        </a:p>
                      </a:txBody>
                      <a:tcPr/>
                    </a:tc>
                    <a:tc>
                      <a:txBody>
                        <a:bodyPr/>
                        <a:lstStyle/>
                        <a:p>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𝑷</m:t>
                                </m:r>
                                <m:r>
                                  <a:rPr lang="en-US" b="1" i="1" smtClean="0">
                                    <a:latin typeface="Cambria Math" panose="02040503050406030204" pitchFamily="18" charset="0"/>
                                  </a:rPr>
                                  <m:t>=</m:t>
                                </m:r>
                                <m:r>
                                  <a:rPr lang="en-US" b="1" i="1" smtClean="0">
                                    <a:latin typeface="Cambria Math" panose="02040503050406030204" pitchFamily="18" charset="0"/>
                                  </a:rPr>
                                  <m:t>𝑵𝑷</m:t>
                                </m:r>
                              </m:oMath>
                            </m:oMathPara>
                          </a14:m>
                          <a:endParaRPr lang="en-US" dirty="0"/>
                        </a:p>
                      </a:txBody>
                      <a:tcPr/>
                    </a:tc>
                    <a:tc>
                      <a:txBody>
                        <a:bodyPr/>
                        <a:lstStyle/>
                        <a:p>
                          <a:r>
                            <a:rPr lang="en-US" dirty="0"/>
                            <a:t>Unprovable</a:t>
                          </a:r>
                        </a:p>
                      </a:txBody>
                      <a:tcPr/>
                    </a:tc>
                    <a:tc>
                      <a:txBody>
                        <a:bodyPr/>
                        <a:lstStyle/>
                        <a:p>
                          <a:r>
                            <a:rPr lang="en-US" dirty="0"/>
                            <a:t>Don’t Care</a:t>
                          </a:r>
                        </a:p>
                      </a:txBody>
                      <a:tcPr/>
                    </a:tc>
                    <a:tc>
                      <a:txBody>
                        <a:bodyPr/>
                        <a:lstStyle/>
                        <a:p>
                          <a:r>
                            <a:rPr lang="en-US" dirty="0"/>
                            <a:t>Don’t Know</a:t>
                          </a:r>
                        </a:p>
                      </a:txBody>
                      <a:tcPr/>
                    </a:tc>
                    <a:tc>
                      <a:txBody>
                        <a:bodyPr/>
                        <a:lstStyle/>
                        <a:p>
                          <a:r>
                            <a:rPr lang="en-US" dirty="0"/>
                            <a:t>Don’t Know &amp; Don’t Care</a:t>
                          </a:r>
                        </a:p>
                      </a:txBody>
                      <a:tcPr/>
                    </a:tc>
                    <a:tc>
                      <a:txBody>
                        <a:bodyPr/>
                        <a:lstStyle/>
                        <a:p>
                          <a:r>
                            <a:rPr lang="en-US" dirty="0"/>
                            <a:t>Other</a:t>
                          </a:r>
                        </a:p>
                      </a:txBody>
                      <a:tcPr/>
                    </a:tc>
                    <a:extLst>
                      <a:ext uri="{0D108BD9-81ED-4DB2-BD59-A6C34878D82A}">
                        <a16:rowId xmlns:a16="http://schemas.microsoft.com/office/drawing/2014/main" val="2839597029"/>
                      </a:ext>
                    </a:extLst>
                  </a:tr>
                  <a:tr h="370840">
                    <a:tc>
                      <a:txBody>
                        <a:bodyPr/>
                        <a:lstStyle/>
                        <a:p>
                          <a:r>
                            <a:rPr lang="en-US" dirty="0"/>
                            <a:t>2002</a:t>
                          </a:r>
                        </a:p>
                      </a:txBody>
                      <a:tcPr/>
                    </a:tc>
                    <a:tc>
                      <a:txBody>
                        <a:bodyPr/>
                        <a:lstStyle/>
                        <a:p>
                          <a:r>
                            <a:rPr lang="en-US" dirty="0"/>
                            <a:t>61%</a:t>
                          </a:r>
                        </a:p>
                      </a:txBody>
                      <a:tcPr/>
                    </a:tc>
                    <a:tc>
                      <a:txBody>
                        <a:bodyPr/>
                        <a:lstStyle/>
                        <a:p>
                          <a:r>
                            <a:rPr lang="en-US" dirty="0"/>
                            <a:t>9%</a:t>
                          </a:r>
                        </a:p>
                      </a:txBody>
                      <a:tcPr/>
                    </a:tc>
                    <a:tc>
                      <a:txBody>
                        <a:bodyPr/>
                        <a:lstStyle/>
                        <a:p>
                          <a:r>
                            <a:rPr lang="en-US" dirty="0"/>
                            <a:t>4%</a:t>
                          </a:r>
                        </a:p>
                      </a:txBody>
                      <a:tcPr/>
                    </a:tc>
                    <a:tc>
                      <a:txBody>
                        <a:bodyPr/>
                        <a:lstStyle/>
                        <a:p>
                          <a:r>
                            <a:rPr lang="en-US" dirty="0"/>
                            <a:t>1%</a:t>
                          </a:r>
                        </a:p>
                      </a:txBody>
                      <a:tcPr/>
                    </a:tc>
                    <a:tc>
                      <a:txBody>
                        <a:bodyPr/>
                        <a:lstStyle/>
                        <a:p>
                          <a:r>
                            <a:rPr lang="en-US" dirty="0"/>
                            <a:t>22%</a:t>
                          </a:r>
                        </a:p>
                      </a:txBody>
                      <a:tcPr/>
                    </a:tc>
                    <a:tc>
                      <a:txBody>
                        <a:bodyPr/>
                        <a:lstStyle/>
                        <a:p>
                          <a:r>
                            <a:rPr lang="en-US" dirty="0"/>
                            <a:t>0%</a:t>
                          </a:r>
                        </a:p>
                      </a:txBody>
                      <a:tcPr/>
                    </a:tc>
                    <a:tc>
                      <a:txBody>
                        <a:bodyPr/>
                        <a:lstStyle/>
                        <a:p>
                          <a:r>
                            <a:rPr lang="en-US" dirty="0"/>
                            <a:t>3%</a:t>
                          </a:r>
                        </a:p>
                      </a:txBody>
                      <a:tcPr/>
                    </a:tc>
                    <a:extLst>
                      <a:ext uri="{0D108BD9-81ED-4DB2-BD59-A6C34878D82A}">
                        <a16:rowId xmlns:a16="http://schemas.microsoft.com/office/drawing/2014/main" val="457017540"/>
                      </a:ext>
                    </a:extLst>
                  </a:tr>
                  <a:tr h="370840">
                    <a:tc>
                      <a:txBody>
                        <a:bodyPr/>
                        <a:lstStyle/>
                        <a:p>
                          <a:r>
                            <a:rPr lang="en-US" dirty="0"/>
                            <a:t>2012</a:t>
                          </a:r>
                        </a:p>
                      </a:txBody>
                      <a:tcPr/>
                    </a:tc>
                    <a:tc>
                      <a:txBody>
                        <a:bodyPr/>
                        <a:lstStyle/>
                        <a:p>
                          <a:r>
                            <a:rPr lang="en-US" dirty="0"/>
                            <a:t>83%</a:t>
                          </a:r>
                        </a:p>
                      </a:txBody>
                      <a:tcPr/>
                    </a:tc>
                    <a:tc>
                      <a:txBody>
                        <a:bodyPr/>
                        <a:lstStyle/>
                        <a:p>
                          <a:r>
                            <a:rPr lang="en-US" dirty="0"/>
                            <a:t>9%</a:t>
                          </a:r>
                        </a:p>
                      </a:txBody>
                      <a:tcPr/>
                    </a:tc>
                    <a:tc>
                      <a:txBody>
                        <a:bodyPr/>
                        <a:lstStyle/>
                        <a:p>
                          <a:r>
                            <a:rPr lang="en-US" dirty="0"/>
                            <a:t>3%</a:t>
                          </a:r>
                        </a:p>
                      </a:txBody>
                      <a:tcPr/>
                    </a:tc>
                    <a:tc>
                      <a:txBody>
                        <a:bodyPr/>
                        <a:lstStyle/>
                        <a:p>
                          <a:r>
                            <a:rPr lang="en-US" dirty="0"/>
                            <a:t>3%</a:t>
                          </a:r>
                        </a:p>
                      </a:txBody>
                      <a:tcPr/>
                    </a:tc>
                    <a:tc>
                      <a:txBody>
                        <a:bodyPr/>
                        <a:lstStyle/>
                        <a:p>
                          <a:r>
                            <a:rPr lang="en-US" dirty="0"/>
                            <a:t>0.66%</a:t>
                          </a:r>
                        </a:p>
                      </a:txBody>
                      <a:tcPr/>
                    </a:tc>
                    <a:tc>
                      <a:txBody>
                        <a:bodyPr/>
                        <a:lstStyle/>
                        <a:p>
                          <a:r>
                            <a:rPr lang="en-US" dirty="0"/>
                            <a:t>0.66%</a:t>
                          </a:r>
                        </a:p>
                      </a:txBody>
                      <a:tcPr/>
                    </a:tc>
                    <a:tc>
                      <a:txBody>
                        <a:bodyPr/>
                        <a:lstStyle/>
                        <a:p>
                          <a:r>
                            <a:rPr lang="en-US" dirty="0"/>
                            <a:t>0.66%</a:t>
                          </a:r>
                        </a:p>
                      </a:txBody>
                      <a:tcPr/>
                    </a:tc>
                    <a:extLst>
                      <a:ext uri="{0D108BD9-81ED-4DB2-BD59-A6C34878D82A}">
                        <a16:rowId xmlns:a16="http://schemas.microsoft.com/office/drawing/2014/main" val="604010827"/>
                      </a:ext>
                    </a:extLst>
                  </a:tr>
                  <a:tr h="370840">
                    <a:tc>
                      <a:txBody>
                        <a:bodyPr/>
                        <a:lstStyle/>
                        <a:p>
                          <a:r>
                            <a:rPr lang="en-US" dirty="0"/>
                            <a:t>2019</a:t>
                          </a:r>
                        </a:p>
                      </a:txBody>
                      <a:tcPr/>
                    </a:tc>
                    <a:tc>
                      <a:txBody>
                        <a:bodyPr/>
                        <a:lstStyle/>
                        <a:p>
                          <a:r>
                            <a:rPr lang="en-US" dirty="0"/>
                            <a:t>88%</a:t>
                          </a:r>
                        </a:p>
                      </a:txBody>
                      <a:tcPr/>
                    </a:tc>
                    <a:tc>
                      <a:txBody>
                        <a:bodyPr/>
                        <a:lstStyle/>
                        <a:p>
                          <a:r>
                            <a:rPr lang="en-US" dirty="0"/>
                            <a:t>12%</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2557184190"/>
                      </a:ext>
                    </a:extLst>
                  </a:tr>
                </a:tbl>
              </a:graphicData>
            </a:graphic>
          </p:graphicFrame>
        </mc:Choice>
        <mc:Fallback>
          <p:graphicFrame>
            <p:nvGraphicFramePr>
              <p:cNvPr id="3" name="Table 2">
                <a:extLst>
                  <a:ext uri="{FF2B5EF4-FFF2-40B4-BE49-F238E27FC236}">
                    <a16:creationId xmlns:a16="http://schemas.microsoft.com/office/drawing/2014/main" id="{4C8AE358-F7E7-6C93-5C64-5220C15841F2}"/>
                  </a:ext>
                </a:extLst>
              </p:cNvPr>
              <p:cNvGraphicFramePr>
                <a:graphicFrameLocks noGrp="1"/>
              </p:cNvGraphicFramePr>
              <p:nvPr>
                <p:extLst>
                  <p:ext uri="{D42A27DB-BD31-4B8C-83A1-F6EECF244321}">
                    <p14:modId xmlns:p14="http://schemas.microsoft.com/office/powerpoint/2010/main" val="3929160930"/>
                  </p:ext>
                </p:extLst>
              </p:nvPr>
            </p:nvGraphicFramePr>
            <p:xfrm>
              <a:off x="297180" y="2349455"/>
              <a:ext cx="11440392" cy="1752600"/>
            </p:xfrm>
            <a:graphic>
              <a:graphicData uri="http://schemas.openxmlformats.org/drawingml/2006/table">
                <a:tbl>
                  <a:tblPr firstRow="1" bandRow="1">
                    <a:tableStyleId>{5C22544A-7EE6-4342-B048-85BDC9FD1C3A}</a:tableStyleId>
                  </a:tblPr>
                  <a:tblGrid>
                    <a:gridCol w="1430049">
                      <a:extLst>
                        <a:ext uri="{9D8B030D-6E8A-4147-A177-3AD203B41FA5}">
                          <a16:colId xmlns:a16="http://schemas.microsoft.com/office/drawing/2014/main" val="2918348885"/>
                        </a:ext>
                      </a:extLst>
                    </a:gridCol>
                    <a:gridCol w="1430049">
                      <a:extLst>
                        <a:ext uri="{9D8B030D-6E8A-4147-A177-3AD203B41FA5}">
                          <a16:colId xmlns:a16="http://schemas.microsoft.com/office/drawing/2014/main" val="4102585134"/>
                        </a:ext>
                      </a:extLst>
                    </a:gridCol>
                    <a:gridCol w="1430049">
                      <a:extLst>
                        <a:ext uri="{9D8B030D-6E8A-4147-A177-3AD203B41FA5}">
                          <a16:colId xmlns:a16="http://schemas.microsoft.com/office/drawing/2014/main" val="1662433480"/>
                        </a:ext>
                      </a:extLst>
                    </a:gridCol>
                    <a:gridCol w="1430049">
                      <a:extLst>
                        <a:ext uri="{9D8B030D-6E8A-4147-A177-3AD203B41FA5}">
                          <a16:colId xmlns:a16="http://schemas.microsoft.com/office/drawing/2014/main" val="2919723958"/>
                        </a:ext>
                      </a:extLst>
                    </a:gridCol>
                    <a:gridCol w="1430049">
                      <a:extLst>
                        <a:ext uri="{9D8B030D-6E8A-4147-A177-3AD203B41FA5}">
                          <a16:colId xmlns:a16="http://schemas.microsoft.com/office/drawing/2014/main" val="2835635317"/>
                        </a:ext>
                      </a:extLst>
                    </a:gridCol>
                    <a:gridCol w="1430049">
                      <a:extLst>
                        <a:ext uri="{9D8B030D-6E8A-4147-A177-3AD203B41FA5}">
                          <a16:colId xmlns:a16="http://schemas.microsoft.com/office/drawing/2014/main" val="491599055"/>
                        </a:ext>
                      </a:extLst>
                    </a:gridCol>
                    <a:gridCol w="1430049">
                      <a:extLst>
                        <a:ext uri="{9D8B030D-6E8A-4147-A177-3AD203B41FA5}">
                          <a16:colId xmlns:a16="http://schemas.microsoft.com/office/drawing/2014/main" val="4264937806"/>
                        </a:ext>
                      </a:extLst>
                    </a:gridCol>
                    <a:gridCol w="1430049">
                      <a:extLst>
                        <a:ext uri="{9D8B030D-6E8A-4147-A177-3AD203B41FA5}">
                          <a16:colId xmlns:a16="http://schemas.microsoft.com/office/drawing/2014/main" val="4255534367"/>
                        </a:ext>
                      </a:extLst>
                    </a:gridCol>
                  </a:tblGrid>
                  <a:tr h="640080">
                    <a:tc>
                      <a:txBody>
                        <a:bodyPr/>
                        <a:lstStyle/>
                        <a:p>
                          <a:r>
                            <a:rPr lang="en-US" dirty="0"/>
                            <a:t>Poll Year</a:t>
                          </a:r>
                        </a:p>
                      </a:txBody>
                      <a:tcPr/>
                    </a:tc>
                    <a:tc>
                      <a:txBody>
                        <a:bodyPr/>
                        <a:lstStyle/>
                        <a:p>
                          <a:endParaRPr lang="en-US"/>
                        </a:p>
                      </a:txBody>
                      <a:tcPr>
                        <a:blipFill>
                          <a:blip r:embed="rId2"/>
                          <a:stretch>
                            <a:fillRect l="-100426" t="-4762" r="-600851" b="-188571"/>
                          </a:stretch>
                        </a:blipFill>
                      </a:tcPr>
                    </a:tc>
                    <a:tc>
                      <a:txBody>
                        <a:bodyPr/>
                        <a:lstStyle/>
                        <a:p>
                          <a:endParaRPr lang="en-US"/>
                        </a:p>
                      </a:txBody>
                      <a:tcPr>
                        <a:blipFill>
                          <a:blip r:embed="rId2"/>
                          <a:stretch>
                            <a:fillRect l="-201282" t="-4762" r="-503419" b="-188571"/>
                          </a:stretch>
                        </a:blipFill>
                      </a:tcPr>
                    </a:tc>
                    <a:tc>
                      <a:txBody>
                        <a:bodyPr/>
                        <a:lstStyle/>
                        <a:p>
                          <a:r>
                            <a:rPr lang="en-US" dirty="0"/>
                            <a:t>Unprovable</a:t>
                          </a:r>
                        </a:p>
                      </a:txBody>
                      <a:tcPr/>
                    </a:tc>
                    <a:tc>
                      <a:txBody>
                        <a:bodyPr/>
                        <a:lstStyle/>
                        <a:p>
                          <a:r>
                            <a:rPr lang="en-US" dirty="0"/>
                            <a:t>Don’t Care</a:t>
                          </a:r>
                        </a:p>
                      </a:txBody>
                      <a:tcPr/>
                    </a:tc>
                    <a:tc>
                      <a:txBody>
                        <a:bodyPr/>
                        <a:lstStyle/>
                        <a:p>
                          <a:r>
                            <a:rPr lang="en-US" dirty="0"/>
                            <a:t>Don’t Know</a:t>
                          </a:r>
                        </a:p>
                      </a:txBody>
                      <a:tcPr/>
                    </a:tc>
                    <a:tc>
                      <a:txBody>
                        <a:bodyPr/>
                        <a:lstStyle/>
                        <a:p>
                          <a:r>
                            <a:rPr lang="en-US" dirty="0"/>
                            <a:t>Don’t Know &amp; Don’t Care</a:t>
                          </a:r>
                        </a:p>
                      </a:txBody>
                      <a:tcPr/>
                    </a:tc>
                    <a:tc>
                      <a:txBody>
                        <a:bodyPr/>
                        <a:lstStyle/>
                        <a:p>
                          <a:r>
                            <a:rPr lang="en-US" dirty="0"/>
                            <a:t>Other</a:t>
                          </a:r>
                        </a:p>
                      </a:txBody>
                      <a:tcPr/>
                    </a:tc>
                    <a:extLst>
                      <a:ext uri="{0D108BD9-81ED-4DB2-BD59-A6C34878D82A}">
                        <a16:rowId xmlns:a16="http://schemas.microsoft.com/office/drawing/2014/main" val="2839597029"/>
                      </a:ext>
                    </a:extLst>
                  </a:tr>
                  <a:tr h="370840">
                    <a:tc>
                      <a:txBody>
                        <a:bodyPr/>
                        <a:lstStyle/>
                        <a:p>
                          <a:r>
                            <a:rPr lang="en-US" dirty="0"/>
                            <a:t>2002</a:t>
                          </a:r>
                        </a:p>
                      </a:txBody>
                      <a:tcPr/>
                    </a:tc>
                    <a:tc>
                      <a:txBody>
                        <a:bodyPr/>
                        <a:lstStyle/>
                        <a:p>
                          <a:r>
                            <a:rPr lang="en-US" dirty="0"/>
                            <a:t>61%</a:t>
                          </a:r>
                        </a:p>
                      </a:txBody>
                      <a:tcPr/>
                    </a:tc>
                    <a:tc>
                      <a:txBody>
                        <a:bodyPr/>
                        <a:lstStyle/>
                        <a:p>
                          <a:r>
                            <a:rPr lang="en-US" dirty="0"/>
                            <a:t>9%</a:t>
                          </a:r>
                        </a:p>
                      </a:txBody>
                      <a:tcPr/>
                    </a:tc>
                    <a:tc>
                      <a:txBody>
                        <a:bodyPr/>
                        <a:lstStyle/>
                        <a:p>
                          <a:r>
                            <a:rPr lang="en-US" dirty="0"/>
                            <a:t>4%</a:t>
                          </a:r>
                        </a:p>
                      </a:txBody>
                      <a:tcPr/>
                    </a:tc>
                    <a:tc>
                      <a:txBody>
                        <a:bodyPr/>
                        <a:lstStyle/>
                        <a:p>
                          <a:r>
                            <a:rPr lang="en-US" dirty="0"/>
                            <a:t>1%</a:t>
                          </a:r>
                        </a:p>
                      </a:txBody>
                      <a:tcPr/>
                    </a:tc>
                    <a:tc>
                      <a:txBody>
                        <a:bodyPr/>
                        <a:lstStyle/>
                        <a:p>
                          <a:r>
                            <a:rPr lang="en-US" dirty="0"/>
                            <a:t>22%</a:t>
                          </a:r>
                        </a:p>
                      </a:txBody>
                      <a:tcPr/>
                    </a:tc>
                    <a:tc>
                      <a:txBody>
                        <a:bodyPr/>
                        <a:lstStyle/>
                        <a:p>
                          <a:r>
                            <a:rPr lang="en-US" dirty="0"/>
                            <a:t>0%</a:t>
                          </a:r>
                        </a:p>
                      </a:txBody>
                      <a:tcPr/>
                    </a:tc>
                    <a:tc>
                      <a:txBody>
                        <a:bodyPr/>
                        <a:lstStyle/>
                        <a:p>
                          <a:r>
                            <a:rPr lang="en-US" dirty="0"/>
                            <a:t>3%</a:t>
                          </a:r>
                        </a:p>
                      </a:txBody>
                      <a:tcPr/>
                    </a:tc>
                    <a:extLst>
                      <a:ext uri="{0D108BD9-81ED-4DB2-BD59-A6C34878D82A}">
                        <a16:rowId xmlns:a16="http://schemas.microsoft.com/office/drawing/2014/main" val="457017540"/>
                      </a:ext>
                    </a:extLst>
                  </a:tr>
                  <a:tr h="370840">
                    <a:tc>
                      <a:txBody>
                        <a:bodyPr/>
                        <a:lstStyle/>
                        <a:p>
                          <a:r>
                            <a:rPr lang="en-US" dirty="0"/>
                            <a:t>2012</a:t>
                          </a:r>
                        </a:p>
                      </a:txBody>
                      <a:tcPr/>
                    </a:tc>
                    <a:tc>
                      <a:txBody>
                        <a:bodyPr/>
                        <a:lstStyle/>
                        <a:p>
                          <a:r>
                            <a:rPr lang="en-US" dirty="0"/>
                            <a:t>83%</a:t>
                          </a:r>
                        </a:p>
                      </a:txBody>
                      <a:tcPr/>
                    </a:tc>
                    <a:tc>
                      <a:txBody>
                        <a:bodyPr/>
                        <a:lstStyle/>
                        <a:p>
                          <a:r>
                            <a:rPr lang="en-US" dirty="0"/>
                            <a:t>9%</a:t>
                          </a:r>
                        </a:p>
                      </a:txBody>
                      <a:tcPr/>
                    </a:tc>
                    <a:tc>
                      <a:txBody>
                        <a:bodyPr/>
                        <a:lstStyle/>
                        <a:p>
                          <a:r>
                            <a:rPr lang="en-US" dirty="0"/>
                            <a:t>3%</a:t>
                          </a:r>
                        </a:p>
                      </a:txBody>
                      <a:tcPr/>
                    </a:tc>
                    <a:tc>
                      <a:txBody>
                        <a:bodyPr/>
                        <a:lstStyle/>
                        <a:p>
                          <a:r>
                            <a:rPr lang="en-US" dirty="0"/>
                            <a:t>3%</a:t>
                          </a:r>
                        </a:p>
                      </a:txBody>
                      <a:tcPr/>
                    </a:tc>
                    <a:tc>
                      <a:txBody>
                        <a:bodyPr/>
                        <a:lstStyle/>
                        <a:p>
                          <a:r>
                            <a:rPr lang="en-US" dirty="0"/>
                            <a:t>0.66%</a:t>
                          </a:r>
                        </a:p>
                      </a:txBody>
                      <a:tcPr/>
                    </a:tc>
                    <a:tc>
                      <a:txBody>
                        <a:bodyPr/>
                        <a:lstStyle/>
                        <a:p>
                          <a:r>
                            <a:rPr lang="en-US" dirty="0"/>
                            <a:t>0.66%</a:t>
                          </a:r>
                        </a:p>
                      </a:txBody>
                      <a:tcPr/>
                    </a:tc>
                    <a:tc>
                      <a:txBody>
                        <a:bodyPr/>
                        <a:lstStyle/>
                        <a:p>
                          <a:r>
                            <a:rPr lang="en-US" dirty="0"/>
                            <a:t>0.66%</a:t>
                          </a:r>
                        </a:p>
                      </a:txBody>
                      <a:tcPr/>
                    </a:tc>
                    <a:extLst>
                      <a:ext uri="{0D108BD9-81ED-4DB2-BD59-A6C34878D82A}">
                        <a16:rowId xmlns:a16="http://schemas.microsoft.com/office/drawing/2014/main" val="604010827"/>
                      </a:ext>
                    </a:extLst>
                  </a:tr>
                  <a:tr h="370840">
                    <a:tc>
                      <a:txBody>
                        <a:bodyPr/>
                        <a:lstStyle/>
                        <a:p>
                          <a:r>
                            <a:rPr lang="en-US" dirty="0"/>
                            <a:t>2019</a:t>
                          </a:r>
                        </a:p>
                      </a:txBody>
                      <a:tcPr/>
                    </a:tc>
                    <a:tc>
                      <a:txBody>
                        <a:bodyPr/>
                        <a:lstStyle/>
                        <a:p>
                          <a:r>
                            <a:rPr lang="en-US" dirty="0"/>
                            <a:t>88%</a:t>
                          </a:r>
                        </a:p>
                      </a:txBody>
                      <a:tcPr/>
                    </a:tc>
                    <a:tc>
                      <a:txBody>
                        <a:bodyPr/>
                        <a:lstStyle/>
                        <a:p>
                          <a:r>
                            <a:rPr lang="en-US" dirty="0"/>
                            <a:t>12%</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2557184190"/>
                      </a:ext>
                    </a:extLst>
                  </a:tr>
                </a:tbl>
              </a:graphicData>
            </a:graphic>
          </p:graphicFrame>
        </mc:Fallback>
      </mc:AlternateContent>
      <p:sp>
        <p:nvSpPr>
          <p:cNvPr id="7" name="TextBox 6">
            <a:extLst>
              <a:ext uri="{FF2B5EF4-FFF2-40B4-BE49-F238E27FC236}">
                <a16:creationId xmlns:a16="http://schemas.microsoft.com/office/drawing/2014/main" id="{D4C86B13-74DA-663E-312E-A3FD172FC316}"/>
              </a:ext>
            </a:extLst>
          </p:cNvPr>
          <p:cNvSpPr txBox="1"/>
          <p:nvPr/>
        </p:nvSpPr>
        <p:spPr>
          <a:xfrm>
            <a:off x="205740" y="6169709"/>
            <a:ext cx="6885015" cy="369332"/>
          </a:xfrm>
          <a:prstGeom prst="rect">
            <a:avLst/>
          </a:prstGeom>
          <a:noFill/>
        </p:spPr>
        <p:txBody>
          <a:bodyPr wrap="square">
            <a:spAutoFit/>
          </a:bodyPr>
          <a:lstStyle/>
          <a:p>
            <a:r>
              <a:rPr lang="en-US" dirty="0">
                <a:hlinkClick r:id="rId3"/>
              </a:rPr>
              <a:t>https://www.cs.umd.edu/users/gasarch/BLOGPAPERS/pollpaper3.pdf</a:t>
            </a:r>
            <a:endParaRPr lang="en-US" dirty="0"/>
          </a:p>
        </p:txBody>
      </p:sp>
    </p:spTree>
    <p:extLst>
      <p:ext uri="{BB962C8B-B14F-4D97-AF65-F5344CB8AC3E}">
        <p14:creationId xmlns:p14="http://schemas.microsoft.com/office/powerpoint/2010/main" val="1048858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55356</TotalTime>
  <Words>1719</Words>
  <Application>Microsoft Office PowerPoint</Application>
  <PresentationFormat>Widescreen</PresentationFormat>
  <Paragraphs>291</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Ravie</vt:lpstr>
      <vt:lpstr>Arial</vt:lpstr>
      <vt:lpstr>Cambria Math</vt:lpstr>
      <vt:lpstr>Calibri</vt:lpstr>
      <vt:lpstr>Calibri Light</vt:lpstr>
      <vt:lpstr>Office Theme</vt:lpstr>
      <vt:lpstr>CSE 332 Spring 2026 Lecture 27: P and NP 2</vt:lpstr>
      <vt:lpstr>Studying Complexity and Tractability</vt:lpstr>
      <vt:lpstr>Some problems in EXP seem “easier”</vt:lpstr>
      <vt:lpstr>Class NP</vt:lpstr>
      <vt:lpstr>EXP⊃NP⊇P Example Members </vt:lpstr>
      <vt:lpstr>Independent Set / Party Problem</vt:lpstr>
      <vt:lpstr>Independent Set</vt:lpstr>
      <vt:lpstr>Vertex Cover / Generalized Baseball</vt:lpstr>
      <vt:lpstr>Vertex Cover</vt:lpstr>
      <vt:lpstr>Transforming an IS into a VC</vt:lpstr>
      <vt:lpstr>Transforming a VC into an IS</vt:lpstr>
      <vt:lpstr>Solving Vertex Cover and Independent Set</vt:lpstr>
      <vt:lpstr>Reduction</vt:lpstr>
      <vt:lpstr>Independent Set Reduces To Vertex Cover</vt:lpstr>
      <vt:lpstr>Reduction Analogy</vt:lpstr>
      <vt:lpstr>MacGyver’s Reduction</vt:lpstr>
      <vt:lpstr>NP-Complete – High Level</vt:lpstr>
      <vt:lpstr>EXP⊃NP-Complete⊇NP⊇P </vt:lpstr>
      <vt:lpstr>NP-Hard</vt:lpstr>
      <vt:lpstr>NP-Hard Idea</vt:lpstr>
      <vt:lpstr>Showing NP-Hardness</vt:lpstr>
      <vt:lpstr>NP-Complete - Definition</vt:lpstr>
      <vt:lpstr>Using NP-Completeness</vt:lpstr>
      <vt:lpstr>Overview</vt:lpstr>
      <vt:lpstr>Why should YOU care?</vt:lpstr>
      <vt:lpstr>Public Key Crypto Requires P≠NP</vt:lpstr>
      <vt:lpstr>Does P=NP?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391</cp:revision>
  <dcterms:created xsi:type="dcterms:W3CDTF">2023-10-13T16:06:42Z</dcterms:created>
  <dcterms:modified xsi:type="dcterms:W3CDTF">2026-06-03T20:37:00Z</dcterms:modified>
</cp:coreProperties>
</file>