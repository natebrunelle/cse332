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386" r:id="rId3"/>
    <p:sldId id="430" r:id="rId4"/>
    <p:sldId id="424" r:id="rId5"/>
    <p:sldId id="397" r:id="rId6"/>
    <p:sldId id="435" r:id="rId7"/>
    <p:sldId id="398" r:id="rId8"/>
    <p:sldId id="434" r:id="rId9"/>
    <p:sldId id="431" r:id="rId10"/>
    <p:sldId id="432" r:id="rId11"/>
    <p:sldId id="413" r:id="rId12"/>
    <p:sldId id="414" r:id="rId13"/>
    <p:sldId id="415" r:id="rId14"/>
    <p:sldId id="429" r:id="rId15"/>
    <p:sldId id="416" r:id="rId16"/>
    <p:sldId id="417" r:id="rId17"/>
    <p:sldId id="418" r:id="rId18"/>
    <p:sldId id="419" r:id="rId19"/>
    <p:sldId id="420" r:id="rId20"/>
    <p:sldId id="421" r:id="rId21"/>
    <p:sldId id="422" r:id="rId22"/>
    <p:sldId id="423" r:id="rId23"/>
    <p:sldId id="409" r:id="rId24"/>
    <p:sldId id="410" r:id="rId25"/>
    <p:sldId id="428" r:id="rId26"/>
  </p:sldIdLst>
  <p:sldSz cx="12192000" cy="6858000"/>
  <p:notesSz cx="6858000" cy="9144000"/>
  <p:embeddedFontLst>
    <p:embeddedFont>
      <p:font typeface="Cambria Math" panose="02040503050406030204" pitchFamily="18" charset="0"/>
      <p:regular r:id="rId28"/>
    </p:embeddedFont>
    <p:embeddedFont>
      <p:font typeface="Consolas" panose="020B0609020204030204" pitchFamily="49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Amortized: “running average”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A50AE-6676-4050-BB67-AE6E697DAE8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00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09D29-1373-6246-9F8A-DDFD735F706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17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3: Algorithm Analysis pt.2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70037"/>
            <a:ext cx="10972800" cy="4525963"/>
          </a:xfrm>
        </p:spPr>
        <p:txBody>
          <a:bodyPr anchor="t">
            <a:normAutofit/>
          </a:bodyPr>
          <a:lstStyle/>
          <a:p>
            <a:r>
              <a:rPr lang="en-US" dirty="0"/>
              <a:t>Units of “time”</a:t>
            </a:r>
          </a:p>
          <a:p>
            <a:pPr lvl="1"/>
            <a:r>
              <a:rPr lang="en-US" dirty="0"/>
              <a:t>Operations</a:t>
            </a:r>
          </a:p>
          <a:p>
            <a:pPr lvl="2"/>
            <a:r>
              <a:rPr lang="en-US" dirty="0"/>
              <a:t>Whichever operations we pick</a:t>
            </a:r>
          </a:p>
          <a:p>
            <a:r>
              <a:rPr lang="en-US" dirty="0"/>
              <a:t>How do we express running time?</a:t>
            </a:r>
          </a:p>
          <a:p>
            <a:pPr lvl="1"/>
            <a:r>
              <a:rPr lang="en-US" dirty="0"/>
              <a:t>Function</a:t>
            </a:r>
          </a:p>
          <a:p>
            <a:pPr lvl="2"/>
            <a:r>
              <a:rPr lang="en-US" dirty="0"/>
              <a:t>Domain (input): size of the input</a:t>
            </a:r>
          </a:p>
          <a:p>
            <a:pPr lvl="2"/>
            <a:r>
              <a:rPr lang="en-US" dirty="0"/>
              <a:t>Range: count of operations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D1330-4380-45F9-8B45-6212445A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04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106B-E7F2-6AC4-0CEB-263B34D0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your running time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B7D0D-89C1-85CB-26AE-4351C262A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Worst-case complexity: </a:t>
            </a:r>
          </a:p>
          <a:p>
            <a:pPr lvl="1"/>
            <a:r>
              <a:rPr lang="en-US" dirty="0"/>
              <a:t>max number of steps algorithm takes on “most challenging” input </a:t>
            </a:r>
          </a:p>
          <a:p>
            <a:r>
              <a:rPr lang="en-US" dirty="0"/>
              <a:t>Best-case complexity: </a:t>
            </a:r>
          </a:p>
          <a:p>
            <a:pPr lvl="1"/>
            <a:r>
              <a:rPr lang="en-US" dirty="0"/>
              <a:t>min number of steps algorithm takes on “easiest” input </a:t>
            </a:r>
          </a:p>
          <a:p>
            <a:r>
              <a:rPr lang="en-US" dirty="0"/>
              <a:t>Average/expected complexity: </a:t>
            </a:r>
          </a:p>
          <a:p>
            <a:pPr lvl="1"/>
            <a:r>
              <a:rPr lang="en-US" dirty="0"/>
              <a:t>avg number of steps algorithm takes on random inputs (context-dependent) </a:t>
            </a:r>
          </a:p>
          <a:p>
            <a:r>
              <a:rPr lang="en-US" dirty="0"/>
              <a:t>Amortized complexity: </a:t>
            </a:r>
          </a:p>
          <a:p>
            <a:pPr lvl="1"/>
            <a:r>
              <a:rPr lang="en-US" dirty="0"/>
              <a:t>max total number of steps algorithm takes on M “most challenging” consecutive inputs, divided by M (i.e., divide the max total sum by M).</a:t>
            </a:r>
          </a:p>
        </p:txBody>
      </p:sp>
    </p:spTree>
    <p:extLst>
      <p:ext uri="{BB962C8B-B14F-4D97-AF65-F5344CB8AC3E}">
        <p14:creationId xmlns:p14="http://schemas.microsoft.com/office/powerpoint/2010/main" val="2528176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AB2E5-E7E4-2DD3-AA25-FF7C6C288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 Running 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CEBC22-87E4-6333-D94C-B591DE7121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If an algorithm has a worst case </a:t>
                </a:r>
                <a:r>
                  <a:rPr lang="en-US" b="1" dirty="0"/>
                  <a:t>running time</a:t>
                </a:r>
                <a:r>
                  <a:rPr lang="en-US" b="0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Among all possible size-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inputs, the “worst” one will 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“</a:t>
                </a:r>
                <a:r>
                  <a:rPr lang="en-US" b="1" dirty="0"/>
                  <a:t>operations</a:t>
                </a:r>
                <a:r>
                  <a:rPr lang="en-US" dirty="0"/>
                  <a:t>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gives the maximum count of </a:t>
                </a:r>
                <a:r>
                  <a:rPr lang="en-US" b="1" dirty="0"/>
                  <a:t>operations</a:t>
                </a:r>
                <a:r>
                  <a:rPr lang="en-US" dirty="0"/>
                  <a:t> needed from among all inputs of size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CEBC22-87E4-6333-D94C-B591DE7121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151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CBC43-DD63-2B24-550B-B08D8456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 Running Time – General Guide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06B4E2-CD04-DDD0-E33D-A4B22AE7A8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Add together the time of consecutive statements</a:t>
                </a:r>
              </a:p>
              <a:p>
                <a:r>
                  <a:rPr lang="en-US" dirty="0"/>
                  <a:t>Loops: Sum up the time required through each iteration of the loop</a:t>
                </a:r>
              </a:p>
              <a:p>
                <a:pPr lvl="1"/>
                <a:r>
                  <a:rPr lang="en-US" dirty="0"/>
                  <a:t>If each takes the same time, then [time per loop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number of iterations]</a:t>
                </a:r>
              </a:p>
              <a:p>
                <a:r>
                  <a:rPr lang="en-US" dirty="0"/>
                  <a:t>Conditionals: Sum together the time to check the condition and time of the slowest branch</a:t>
                </a:r>
              </a:p>
              <a:p>
                <a:r>
                  <a:rPr lang="en-US" dirty="0"/>
                  <a:t>Function Calls: Time of the function’s body</a:t>
                </a:r>
              </a:p>
              <a:p>
                <a:r>
                  <a:rPr lang="en-US" dirty="0"/>
                  <a:t>Recursion: Solve a </a:t>
                </a:r>
                <a:r>
                  <a:rPr lang="en-US" dirty="0">
                    <a:solidFill>
                      <a:srgbClr val="FF0000"/>
                    </a:solidFill>
                  </a:rPr>
                  <a:t>recurrence relation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06B4E2-CD04-DDD0-E33D-A4B22AE7A8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398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33A1F-2F28-72B9-7893-6E4BD4508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E26A-C2F5-7B5B-4759-C1446F452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Running Time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E1733-8A24-7197-0553-9AFFD2032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609600"/>
            <a:ext cx="10515600" cy="64515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myFunction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b = 55 + 5; </a:t>
            </a:r>
          </a:p>
          <a:p>
            <a:pPr marL="0" indent="0">
              <a:buNone/>
            </a:pPr>
            <a:r>
              <a:rPr lang="en-US" dirty="0"/>
              <a:t>    c = b / 3;  </a:t>
            </a:r>
          </a:p>
          <a:p>
            <a:pPr marL="0" indent="0">
              <a:buNone/>
            </a:pPr>
            <a:r>
              <a:rPr lang="en-US" dirty="0"/>
              <a:t>    b = c + 100;  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</a:t>
            </a:r>
          </a:p>
          <a:p>
            <a:pPr marL="0" indent="0">
              <a:buNone/>
            </a:pPr>
            <a:r>
              <a:rPr lang="en-US" dirty="0"/>
              <a:t>        b++; </a:t>
            </a:r>
          </a:p>
          <a:p>
            <a:pPr marL="0" indent="0">
              <a:buNone/>
            </a:pPr>
            <a:r>
              <a:rPr lang="en-US" dirty="0"/>
              <a:t>   } </a:t>
            </a:r>
          </a:p>
          <a:p>
            <a:pPr marL="0" indent="0">
              <a:buNone/>
            </a:pPr>
            <a:r>
              <a:rPr lang="en-US" dirty="0"/>
              <a:t>    if (b % 2 == 0) {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c++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 </a:t>
            </a:r>
          </a:p>
          <a:p>
            <a:pPr marL="0" indent="0">
              <a:buNone/>
            </a:pPr>
            <a:r>
              <a:rPr lang="en-US" dirty="0"/>
              <a:t>    else { </a:t>
            </a:r>
          </a:p>
          <a:p>
            <a:pPr marL="0" indent="0">
              <a:buNone/>
            </a:pPr>
            <a:r>
              <a:rPr lang="en-US" dirty="0"/>
              <a:t>    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c++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c;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FE405-21FA-86BC-EF0B-7959FD174D9C}"/>
              </a:ext>
            </a:extLst>
          </p:cNvPr>
          <p:cNvSpPr txBox="1"/>
          <p:nvPr/>
        </p:nvSpPr>
        <p:spPr>
          <a:xfrm>
            <a:off x="6096000" y="1223466"/>
            <a:ext cx="581665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Questions to ask: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are the units of the input size?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are the operations we’re counting?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each line: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 many times will it run?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 long does it take to run?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Does this change with different inputs?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Answer: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10548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16DD-36F5-8C12-841E-7550A341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Running Time –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7DF6-6456-9C6C-709D-BEBF2D0F5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1044654"/>
            <a:ext cx="10515600" cy="6451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beAnnoying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List m = [];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++){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m.add</a:t>
            </a:r>
            <a:r>
              <a:rPr lang="en-US" dirty="0"/>
              <a:t>(n[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        for (j=0; j&lt;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j++</a:t>
            </a:r>
            <a:r>
              <a:rPr lang="en-US" dirty="0"/>
              <a:t>){ </a:t>
            </a:r>
          </a:p>
          <a:p>
            <a:pPr marL="0" indent="0">
              <a:buNone/>
            </a:pPr>
            <a:r>
              <a:rPr lang="en-US" dirty="0"/>
              <a:t>            print (“Hi, I’m annoying”); 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C7F58-306D-E658-69EC-00881D5C09AB}"/>
              </a:ext>
            </a:extLst>
          </p:cNvPr>
          <p:cNvSpPr txBox="1"/>
          <p:nvPr/>
        </p:nvSpPr>
        <p:spPr>
          <a:xfrm>
            <a:off x="6096000" y="1223466"/>
            <a:ext cx="5595058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Questions to ask: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are the units of the input size?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are the operations we’re counting?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each line: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 many times will it run?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 long does it take to run?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Does this change with the input size?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1999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7711-2C9F-C400-7B2E-F7113BCC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Analysis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5483E-FA76-F83C-AF97-9517E9B1D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I’d like to park in a lot where they charge $10 per day to park</a:t>
            </a:r>
          </a:p>
          <a:p>
            <a:r>
              <a:rPr lang="en-US" dirty="0"/>
              <a:t>If you are caught in the lot without paying you are given a warning</a:t>
            </a:r>
          </a:p>
          <a:p>
            <a:r>
              <a:rPr lang="en-US" dirty="0"/>
              <a:t>If you get 3 warnings, you are charged a $25 fine, and your warnings reset.</a:t>
            </a:r>
          </a:p>
          <a:p>
            <a:r>
              <a:rPr lang="en-US" dirty="0"/>
              <a:t>Should you actually pay to park?</a:t>
            </a:r>
          </a:p>
          <a:p>
            <a:pPr lvl="1"/>
            <a:r>
              <a:rPr lang="en-US" dirty="0"/>
              <a:t>If you pay every day then you pay an average of $10 per day</a:t>
            </a:r>
          </a:p>
          <a:p>
            <a:pPr lvl="1"/>
            <a:r>
              <a:rPr lang="en-US" dirty="0"/>
              <a:t>If you do not pay then for every three days parking costs $0+$0+$25, for an average of $8.33 per day</a:t>
            </a:r>
          </a:p>
          <a:p>
            <a:pPr lvl="2"/>
            <a:r>
              <a:rPr lang="en-US" dirty="0"/>
              <a:t>Worst case analysis: parking costs $25</a:t>
            </a:r>
          </a:p>
          <a:p>
            <a:pPr lvl="2"/>
            <a:r>
              <a:rPr lang="en-US" dirty="0"/>
              <a:t>Amortized analysis: parking costs $8.33</a:t>
            </a:r>
          </a:p>
        </p:txBody>
      </p:sp>
    </p:spTree>
    <p:extLst>
      <p:ext uri="{BB962C8B-B14F-4D97-AF65-F5344CB8AC3E}">
        <p14:creationId xmlns:p14="http://schemas.microsoft.com/office/powerpoint/2010/main" val="94873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9A94-1220-2804-63AB-870822DBD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Complexity Example - </a:t>
            </a:r>
            <a:r>
              <a:rPr lang="en-US" dirty="0" err="1"/>
              <a:t>ArrayList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is the worst case running time of add?</a:t>
                </a:r>
              </a:p>
              <a:p>
                <a:pPr lvl="1"/>
                <a:r>
                  <a:rPr lang="en-US" dirty="0"/>
                  <a:t>Input size: size of “this”</a:t>
                </a:r>
              </a:p>
              <a:p>
                <a:pPr lvl="1"/>
                <a:r>
                  <a:rPr lang="en-US" dirty="0"/>
                  <a:t>Operations counted: indexing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BE0DF2B-2C50-08CC-5BA6-B5A1FBAD4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135" y="1825625"/>
            <a:ext cx="5670665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add(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value){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data.length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size)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resize();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data[size] = value;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size++;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resize(){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data;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data =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 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data.length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oldData.length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data[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58566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9D7957-B208-5E47-448C-922F4E817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135" y="1825625"/>
            <a:ext cx="5670665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add(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value){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data.length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size)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resize();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data[size] = value;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size++;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resize(){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data;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data =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 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data.length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oldData.length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data[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69A94-1220-2804-63AB-870822DBD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Complexity Example - </a:t>
            </a:r>
            <a:r>
              <a:rPr lang="en-US" dirty="0" err="1"/>
              <a:t>ArrayList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Amortized Analysis Idea:</a:t>
                </a:r>
              </a:p>
              <a:p>
                <a:pPr lvl="1"/>
                <a:r>
                  <a:rPr lang="en-US" dirty="0"/>
                  <a:t>Suppose we have a program that in total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adds.</a:t>
                </a:r>
              </a:p>
              <a:p>
                <a:pPr lvl="1"/>
                <a:r>
                  <a:rPr lang="en-US" dirty="0"/>
                  <a:t>How much time was spent “on average” across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be the initial size of </a:t>
                </a:r>
                <a:r>
                  <a:rPr lang="en-US" dirty="0">
                    <a:latin typeface="Consolas" panose="020B0609020204030204" pitchFamily="49" charset="0"/>
                  </a:rPr>
                  <a:t>data</a:t>
                </a:r>
              </a:p>
              <a:p>
                <a:pPr lvl="1"/>
                <a:r>
                  <a:rPr lang="en-US" dirty="0"/>
                  <a:t>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adds take: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next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adds: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next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adds: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Overall: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adds take an average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time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18" t="-2241" r="-118" b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6D5D4F1-8370-387D-F6D8-21C5C80D4F42}"/>
              </a:ext>
            </a:extLst>
          </p:cNvPr>
          <p:cNvSpPr txBox="1"/>
          <p:nvPr/>
        </p:nvSpPr>
        <p:spPr>
          <a:xfrm>
            <a:off x="3394362" y="2766559"/>
            <a:ext cx="2975957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Every time we resize, we earn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data.length</a:t>
            </a:r>
            <a:r>
              <a:rPr lang="en-US" dirty="0">
                <a:solidFill>
                  <a:srgbClr val="FF0000"/>
                </a:solidFill>
              </a:rPr>
              <a:t> more adds guaranteed to not resize!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A4A632-C2AC-7864-4F4E-4A5F61D15BA8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4339244" y="3689889"/>
            <a:ext cx="543097" cy="9070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62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42A1-F3AE-5E9B-5D67-C317DC46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Running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10524-FA66-B677-DB0A-E879D6F9F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I have these algorithms, all of which have the same input/output behavior:</a:t>
                </a:r>
              </a:p>
              <a:p>
                <a:pPr lvl="1"/>
                <a:r>
                  <a:rPr lang="en-US" dirty="0"/>
                  <a:t>Algorithm A’s worst case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+900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Algorithm B’s worst case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Algorithm C’s worst case running time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Which algorithm is best?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10524-FA66-B677-DB0A-E879D6F9F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5629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721600" y="1676400"/>
                <a:ext cx="23730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𝑓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𝑛</m:t>
                      </m:r>
                      <m:r>
                        <a:rPr lang="en-US" sz="2400" b="0" i="1" smtClean="0">
                          <a:latin typeface="Cambria Math"/>
                        </a:rPr>
                        <m:t>)=</m:t>
                      </m:r>
                      <m:r>
                        <a:rPr lang="en-US" sz="2400" b="0" i="1" smtClean="0">
                          <a:latin typeface="Cambria Math"/>
                        </a:rPr>
                        <m:t>𝑂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1600" y="1676400"/>
                <a:ext cx="2373022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514" r="-51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735490" y="2438400"/>
                <a:ext cx="23575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𝑓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𝑛</m:t>
                      </m:r>
                      <m:r>
                        <a:rPr lang="en-US" sz="2400" b="0" i="1" smtClean="0">
                          <a:latin typeface="Cambria Math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/>
                        </a:rPr>
                        <m:t>Θ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490" y="2438400"/>
                <a:ext cx="2357505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517" r="-258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719381" y="3195935"/>
                <a:ext cx="23655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𝑓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𝑛</m:t>
                      </m:r>
                      <m:r>
                        <a:rPr lang="en-US" sz="2400" b="0" i="1" smtClean="0">
                          <a:latin typeface="Cambria Math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/>
                        </a:rPr>
                        <m:t>Ω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381" y="3195935"/>
                <a:ext cx="2365519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258" r="-515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990"/>
          <a:stretch/>
        </p:blipFill>
        <p:spPr bwMode="auto">
          <a:xfrm>
            <a:off x="821900" y="640875"/>
            <a:ext cx="6884343" cy="5640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2497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set of functions</a:t>
                </a:r>
                <a:r>
                  <a:rPr lang="en-US" dirty="0"/>
                  <a:t> with asymptotic behavior less than or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33CC"/>
                    </a:solidFill>
                  </a:rPr>
                  <a:t>Upper-bounded </a:t>
                </a:r>
                <a:r>
                  <a:rPr lang="en-US" dirty="0"/>
                  <a:t>by a constant times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enough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endParaRPr lang="en-US" b="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&gt;0. 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&gt;0.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Ω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set of functions</a:t>
                </a:r>
                <a:r>
                  <a:rPr lang="en-US" dirty="0"/>
                  <a:t> with asymptotic behavior greater than or equal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33CC"/>
                    </a:solidFill>
                  </a:rPr>
                  <a:t>Lower-bounded </a:t>
                </a:r>
                <a:r>
                  <a:rPr lang="en-US" dirty="0"/>
                  <a:t>by a constant times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enough values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≡∃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&gt;0. ∃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&gt;0.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“</a:t>
                </a:r>
                <a:r>
                  <a:rPr lang="en-US" dirty="0">
                    <a:solidFill>
                      <a:srgbClr val="FF33CC"/>
                    </a:solidFill>
                  </a:rPr>
                  <a:t>Tightly</a:t>
                </a:r>
                <a:r>
                  <a:rPr lang="en-US" dirty="0"/>
                  <a:t>” within constant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/>
                      </a:rPr>
                      <m:t>∩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3758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64C020-2384-061C-18C1-14BB89BF209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Idea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64C020-2384-061C-18C1-14BB89BF20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09C80-61B9-4DC9-01AB-659ECF1BCC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09C80-61B9-4DC9-01AB-659ECF1BC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1222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	</a:t>
                </a:r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178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	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dirty="0"/>
                  <a:t>. Show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≥6.10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+100≤10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+100≤10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≡10≤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≡10≤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	This is True because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/>
                  <a:t> is strictly increasing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011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	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  <a:blipFill>
                <a:blip r:embed="rId2"/>
                <a:stretch>
                  <a:fillRect l="-96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9960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	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US" dirty="0"/>
                  <a:t>. Show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≥50. 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r>
                  <a:rPr lang="en-US" dirty="0"/>
                  <a:t>                This is certainly true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lvl="1" indent="0">
                  <a:buNone/>
                </a:pPr>
                <a:r>
                  <a:rPr lang="en-US" dirty="0"/>
                  <a:t>                 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  <a:blipFill>
                <a:blip r:embed="rId2"/>
                <a:stretch>
                  <a:fillRect l="-96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2280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Want to show that there does not exist a pair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3740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To Show: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Contradiction</a:t>
                </a:r>
              </a:p>
              <a:p>
                <a:pPr lvl="1"/>
                <a:r>
                  <a:rPr lang="en-US" b="1" dirty="0"/>
                  <a:t>Proof:</a:t>
                </a:r>
                <a:r>
                  <a:rPr lang="en-US" dirty="0"/>
                  <a:t> 	Assume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 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𝑐𝑛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	Let us derive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. 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we know: </a:t>
                </a:r>
                <a:br>
                  <a:rPr lang="en-US" dirty="0"/>
                </a:b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	</a:t>
                </a:r>
                <a:br>
                  <a:rPr lang="en-US" dirty="0"/>
                </a:br>
                <a:r>
                  <a:rPr lang="en-US" dirty="0"/>
                  <a:t>	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	</a:t>
                </a:r>
                <a:br>
                  <a:rPr lang="en-US" dirty="0"/>
                </a:br>
                <a:r>
                  <a:rPr lang="en-US" dirty="0"/>
                  <a:t>		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is lower bounded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cannot be a constant and make this        		True.</a:t>
                </a:r>
                <a:br>
                  <a:rPr lang="en-US" dirty="0"/>
                </a:br>
                <a:r>
                  <a:rPr lang="en-US" dirty="0"/>
                  <a:t>		Contradiction.  Therefore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DE9E742-86D9-924A-813D-0470A2EDFFFC}"/>
              </a:ext>
            </a:extLst>
          </p:cNvPr>
          <p:cNvSpPr txBox="1"/>
          <p:nvPr/>
        </p:nvSpPr>
        <p:spPr>
          <a:xfrm>
            <a:off x="9144000" y="1504146"/>
            <a:ext cx="2743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Proof by Contradiction!</a:t>
            </a:r>
          </a:p>
        </p:txBody>
      </p:sp>
    </p:spTree>
    <p:extLst>
      <p:ext uri="{BB962C8B-B14F-4D97-AF65-F5344CB8AC3E}">
        <p14:creationId xmlns:p14="http://schemas.microsoft.com/office/powerpoint/2010/main" val="309123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5DF01-CB08-62DC-1215-866A0F10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Gaining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0356D-0C36-B454-54CF-5259710738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6125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When doing asymptotic analysis of functions:</a:t>
                </a:r>
              </a:p>
              <a:p>
                <a:pPr lvl="1"/>
                <a:r>
                  <a:rPr lang="en-US" dirty="0"/>
                  <a:t>If multiple expressions are added together, ignore all but the “biggest”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grows asymptotically faster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Ignore all multiplicative constants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for any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Ignore bases of logarithms</a:t>
                </a:r>
              </a:p>
              <a:p>
                <a:pPr lvl="1"/>
                <a:r>
                  <a:rPr lang="en-US" dirty="0"/>
                  <a:t>Do NOT ignore:</a:t>
                </a:r>
              </a:p>
              <a:p>
                <a:pPr lvl="2"/>
                <a:r>
                  <a:rPr lang="en-US" dirty="0"/>
                  <a:t>Non-multiplicative and non-additive constants (e.g. in exponents, bases of exponents)</a:t>
                </a:r>
              </a:p>
              <a:p>
                <a:pPr lvl="2"/>
                <a:r>
                  <a:rPr lang="en-US" dirty="0"/>
                  <a:t>Logarithms themselves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+ 5 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0.5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pt-BR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+ 2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+ 7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+ 3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pt-BR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(10</m:t>
                    </m:r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0356D-0C36-B454-54CF-5259710738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61256"/>
              </a:xfrm>
              <a:blipFill>
                <a:blip r:embed="rId2"/>
                <a:stretch>
                  <a:fillRect l="-928" t="-2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4660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8004-4521-2990-7545-99E7189B8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D13FC-5562-5001-9E77-3F64F87265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Is each of the following True or False?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4+3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+2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pt-BR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1.1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D13FC-5562-5001-9E77-3F64F87265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767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66FAC-3CF1-21C8-D24E-C2A51388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Categories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529C92-55F1-90A3-C1FE-36A88CEA9C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	“constant”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b="0" dirty="0"/>
                  <a:t> 	“logarithmic”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	“linear”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	“log-linear”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“quadratic”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“cubic”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“polynomial”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“exponential”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529C92-55F1-90A3-C1FE-36A88CEA9C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072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106B-E7F2-6AC4-0CEB-263B34D0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your running time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B7D0D-89C1-85CB-26AE-4351C262A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Worst-case complexity: </a:t>
            </a:r>
          </a:p>
          <a:p>
            <a:pPr lvl="1"/>
            <a:r>
              <a:rPr lang="en-US" dirty="0"/>
              <a:t>max number of steps algorithm takes on “most challenging” input </a:t>
            </a:r>
          </a:p>
          <a:p>
            <a:r>
              <a:rPr lang="en-US" dirty="0"/>
              <a:t>Best-case complexity: </a:t>
            </a:r>
          </a:p>
          <a:p>
            <a:pPr lvl="1"/>
            <a:r>
              <a:rPr lang="en-US" dirty="0"/>
              <a:t>min number of steps algorithm takes on “easiest” input </a:t>
            </a:r>
          </a:p>
          <a:p>
            <a:r>
              <a:rPr lang="en-US" dirty="0"/>
              <a:t>Average/expected complexity: </a:t>
            </a:r>
          </a:p>
          <a:p>
            <a:pPr lvl="1"/>
            <a:r>
              <a:rPr lang="en-US" dirty="0"/>
              <a:t>avg number of steps algorithm takes on random inputs (context-dependent) </a:t>
            </a:r>
          </a:p>
          <a:p>
            <a:r>
              <a:rPr lang="en-US" dirty="0"/>
              <a:t>Amortized complexity: </a:t>
            </a:r>
          </a:p>
          <a:p>
            <a:pPr lvl="1"/>
            <a:r>
              <a:rPr lang="en-US" dirty="0"/>
              <a:t>max total number of steps algorithm takes on M “most challenging” consecutive inputs, divided by M (i.e., divide the max total sum by M).</a:t>
            </a:r>
          </a:p>
        </p:txBody>
      </p:sp>
    </p:spTree>
    <p:extLst>
      <p:ext uri="{BB962C8B-B14F-4D97-AF65-F5344CB8AC3E}">
        <p14:creationId xmlns:p14="http://schemas.microsoft.com/office/powerpoint/2010/main" val="545482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0072-AB08-4A0C-5E2D-26E006D92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Beware!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8D91F2-5C48-7245-42C5-5BA66D8E1D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Worst case, Best case, amortized are ways to select a function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are ways to compare functions</a:t>
                </a:r>
              </a:p>
              <a:p>
                <a:r>
                  <a:rPr lang="en-US" dirty="0"/>
                  <a:t>You can mix and match!</a:t>
                </a:r>
              </a:p>
              <a:p>
                <a:r>
                  <a:rPr lang="en-US" dirty="0"/>
                  <a:t>The following statements totally make sense!</a:t>
                </a:r>
              </a:p>
              <a:p>
                <a:pPr lvl="1"/>
                <a:r>
                  <a:rPr lang="en-US" dirty="0"/>
                  <a:t>The worst case running time of my algorithm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best case running time of my algorithm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best case running time of my algorithm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8D91F2-5C48-7245-42C5-5BA66D8E1D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558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8370</TotalTime>
  <Words>2027</Words>
  <Application>Microsoft Office PowerPoint</Application>
  <PresentationFormat>Widescreen</PresentationFormat>
  <Paragraphs>241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Calibri Light</vt:lpstr>
      <vt:lpstr>Consolas</vt:lpstr>
      <vt:lpstr>Cambria Math</vt:lpstr>
      <vt:lpstr>Calibri</vt:lpstr>
      <vt:lpstr>Arial</vt:lpstr>
      <vt:lpstr>Office Theme</vt:lpstr>
      <vt:lpstr>CSE 332 Winter 2026 Lecture 3: Algorithm Analysis pt.2</vt:lpstr>
      <vt:lpstr>Running Time Analysis</vt:lpstr>
      <vt:lpstr>Defining your running time function</vt:lpstr>
      <vt:lpstr>Worst Case Running Time Analysis</vt:lpstr>
      <vt:lpstr>Worst Case Running Time – General Guide</vt:lpstr>
      <vt:lpstr>Worst Case Running Time - Example</vt:lpstr>
      <vt:lpstr>Worst Case Running Time – Example 2</vt:lpstr>
      <vt:lpstr>Amortized Analysis Analogy</vt:lpstr>
      <vt:lpstr>Amortized Complexity Example - ArrayList</vt:lpstr>
      <vt:lpstr>Amortized Complexity Example - ArrayList</vt:lpstr>
      <vt:lpstr>Comparing Running Times</vt:lpstr>
      <vt:lpstr>PowerPoint Presentation</vt:lpstr>
      <vt:lpstr>Asymptotic Notation</vt:lpstr>
      <vt:lpstr>Idea of Θ</vt:lpstr>
      <vt:lpstr>Asymptotic Notation Example</vt:lpstr>
      <vt:lpstr>Asymptotic Notation Example</vt:lpstr>
      <vt:lpstr>Asymptotic Notation Example</vt:lpstr>
      <vt:lpstr>Asymptotic Notation Example</vt:lpstr>
      <vt:lpstr>Asymptotic Notation Example</vt:lpstr>
      <vt:lpstr>Asymptotic Notation Example</vt:lpstr>
      <vt:lpstr>Gaining Intuition</vt:lpstr>
      <vt:lpstr>More Examples</vt:lpstr>
      <vt:lpstr>Common Categories</vt:lpstr>
      <vt:lpstr>Defining your running time function</vt:lpstr>
      <vt:lpstr>Beware!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Nathan Brunelle</cp:lastModifiedBy>
  <cp:revision>61</cp:revision>
  <dcterms:created xsi:type="dcterms:W3CDTF">2023-09-26T20:08:20Z</dcterms:created>
  <dcterms:modified xsi:type="dcterms:W3CDTF">2026-01-09T23:14:28Z</dcterms:modified>
</cp:coreProperties>
</file>