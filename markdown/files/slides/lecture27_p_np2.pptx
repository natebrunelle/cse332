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7" r:id="rId2"/>
    <p:sldId id="275" r:id="rId3"/>
    <p:sldId id="274" r:id="rId4"/>
    <p:sldId id="276" r:id="rId5"/>
    <p:sldId id="972" r:id="rId6"/>
    <p:sldId id="970" r:id="rId7"/>
    <p:sldId id="913" r:id="rId8"/>
    <p:sldId id="973" r:id="rId9"/>
    <p:sldId id="917" r:id="rId10"/>
    <p:sldId id="974" r:id="rId11"/>
    <p:sldId id="975" r:id="rId12"/>
    <p:sldId id="976" r:id="rId13"/>
    <p:sldId id="977" r:id="rId14"/>
    <p:sldId id="978" r:id="rId15"/>
    <p:sldId id="979" r:id="rId16"/>
    <p:sldId id="980" r:id="rId17"/>
    <p:sldId id="981" r:id="rId18"/>
    <p:sldId id="982" r:id="rId19"/>
    <p:sldId id="983" r:id="rId20"/>
    <p:sldId id="984" r:id="rId21"/>
    <p:sldId id="985" r:id="rId22"/>
    <p:sldId id="986" r:id="rId23"/>
    <p:sldId id="987" r:id="rId24"/>
    <p:sldId id="966" r:id="rId25"/>
    <p:sldId id="967" r:id="rId26"/>
    <p:sldId id="971" r:id="rId27"/>
    <p:sldId id="797" r:id="rId28"/>
  </p:sldIdLst>
  <p:sldSz cx="12192000" cy="6858000"/>
  <p:notesSz cx="6858000" cy="9144000"/>
  <p:embeddedFontLst>
    <p:embeddedFont>
      <p:font typeface="Cambria Math" panose="02040503050406030204" pitchFamily="18" charset="0"/>
      <p:regular r:id="rId30"/>
    </p:embeddedFont>
    <p:embeddedFont>
      <p:font typeface="Ravie" panose="04040805050809020602" pitchFamily="82"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0021"/>
    <a:srgbClr val="FF00FF"/>
    <a:srgbClr val="BFEBFB"/>
    <a:srgbClr val="00B0F0"/>
    <a:srgbClr val="FF9900"/>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1" autoAdjust="0"/>
  </p:normalViewPr>
  <p:slideViewPr>
    <p:cSldViewPr snapToGrid="0">
      <p:cViewPr varScale="1">
        <p:scale>
          <a:sx n="73" d="100"/>
          <a:sy n="73" d="100"/>
        </p:scale>
        <p:origin x="404"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B87CB2-66CB-454F-85D3-19EE1B79E95D}"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E27D9C-F8C9-4B2B-A91A-E477EB70CE25}" type="slidenum">
              <a:rPr lang="en-US" smtClean="0"/>
              <a:t>‹#›</a:t>
            </a:fld>
            <a:endParaRPr lang="en-US"/>
          </a:p>
        </p:txBody>
      </p:sp>
    </p:spTree>
    <p:extLst>
      <p:ext uri="{BB962C8B-B14F-4D97-AF65-F5344CB8AC3E}">
        <p14:creationId xmlns:p14="http://schemas.microsoft.com/office/powerpoint/2010/main" val="735016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31.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8" Type="http://schemas.openxmlformats.org/officeDocument/2006/relationships/image" Target="../media/image7.jpeg"/><Relationship Id="rId13" Type="http://schemas.openxmlformats.org/officeDocument/2006/relationships/image" Target="../media/image12.jpeg"/><Relationship Id="rId3" Type="http://schemas.openxmlformats.org/officeDocument/2006/relationships/image" Target="../media/image2.jpeg"/><Relationship Id="rId7" Type="http://schemas.openxmlformats.org/officeDocument/2006/relationships/image" Target="../media/image6.jpeg"/><Relationship Id="rId12" Type="http://schemas.openxmlformats.org/officeDocument/2006/relationships/image" Target="../media/image11.jpe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jpeg"/><Relationship Id="rId5" Type="http://schemas.openxmlformats.org/officeDocument/2006/relationships/image" Target="../media/image4.jpeg"/><Relationship Id="rId10" Type="http://schemas.openxmlformats.org/officeDocument/2006/relationships/image" Target="../media/image9.jpeg"/><Relationship Id="rId4" Type="http://schemas.openxmlformats.org/officeDocument/2006/relationships/image" Target="../media/image3.jpeg"/><Relationship Id="rId9" Type="http://schemas.openxmlformats.org/officeDocument/2006/relationships/image" Target="../media/image8.jpeg"/></Relationships>
</file>

<file path=ppt/slides/_rels/slide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6.jpeg"/><Relationship Id="rId13" Type="http://schemas.openxmlformats.org/officeDocument/2006/relationships/image" Target="../media/image11.jpeg"/><Relationship Id="rId3" Type="http://schemas.openxmlformats.org/officeDocument/2006/relationships/image" Target="../media/image1.jpeg"/><Relationship Id="rId7" Type="http://schemas.openxmlformats.org/officeDocument/2006/relationships/image" Target="../media/image5.jpeg"/><Relationship Id="rId12" Type="http://schemas.openxmlformats.org/officeDocument/2006/relationships/image" Target="../media/image10.jpe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image" Target="../media/image3.jpe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jpeg"/><Relationship Id="rId14" Type="http://schemas.openxmlformats.org/officeDocument/2006/relationships/image" Target="../media/image12.jpeg"/></Relationships>
</file>

<file path=ppt/slides/_rels/slide11.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6.jpeg"/><Relationship Id="rId13" Type="http://schemas.openxmlformats.org/officeDocument/2006/relationships/image" Target="../media/image11.jpeg"/><Relationship Id="rId3" Type="http://schemas.openxmlformats.org/officeDocument/2006/relationships/image" Target="../media/image1.jpeg"/><Relationship Id="rId7" Type="http://schemas.openxmlformats.org/officeDocument/2006/relationships/image" Target="../media/image5.jpeg"/><Relationship Id="rId12" Type="http://schemas.openxmlformats.org/officeDocument/2006/relationships/image" Target="../media/image10.jpeg"/><Relationship Id="rId2" Type="http://schemas.openxmlformats.org/officeDocument/2006/relationships/image" Target="../media/image22.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image" Target="../media/image3.jpeg"/><Relationship Id="rId15" Type="http://schemas.openxmlformats.org/officeDocument/2006/relationships/image" Target="../media/image23.pn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jpeg"/><Relationship Id="rId14" Type="http://schemas.openxmlformats.org/officeDocument/2006/relationships/image" Target="../media/image12.jpe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0.png"/><Relationship Id="rId7" Type="http://schemas.openxmlformats.org/officeDocument/2006/relationships/image" Target="../media/image25.png"/><Relationship Id="rId12" Type="http://schemas.openxmlformats.org/officeDocument/2006/relationships/image" Target="../media/image40.png"/><Relationship Id="rId2" Type="http://schemas.openxmlformats.org/officeDocument/2006/relationships/image" Target="../media/image15.jpeg"/><Relationship Id="rId1" Type="http://schemas.openxmlformats.org/officeDocument/2006/relationships/slideLayout" Target="../slideLayouts/slideLayout2.xml"/><Relationship Id="rId6" Type="http://schemas.openxmlformats.org/officeDocument/2006/relationships/image" Target="../media/image17.jpeg"/><Relationship Id="rId11" Type="http://schemas.openxmlformats.org/officeDocument/2006/relationships/image" Target="../media/image29.png"/><Relationship Id="rId5" Type="http://schemas.openxmlformats.org/officeDocument/2006/relationships/image" Target="../media/image32.png"/><Relationship Id="rId10" Type="http://schemas.openxmlformats.org/officeDocument/2006/relationships/image" Target="../media/image27.jpeg"/><Relationship Id="rId4" Type="http://schemas.openxmlformats.org/officeDocument/2006/relationships/image" Target="../media/image16.png"/><Relationship Id="rId9" Type="http://schemas.openxmlformats.org/officeDocument/2006/relationships/image" Target="../media/image26.jpeg"/></Relationships>
</file>

<file path=ppt/slides/_rels/slide17.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4700.png"/><Relationship Id="rId7" Type="http://schemas.openxmlformats.org/officeDocument/2006/relationships/image" Target="../media/image510.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0.png"/><Relationship Id="rId4" Type="http://schemas.openxmlformats.org/officeDocument/2006/relationships/image" Target="../media/image4800.png"/></Relationships>
</file>

<file path=ppt/slides/_rels/slide19.xml.rels><?xml version="1.0" encoding="UTF-8" standalone="yes"?>
<Relationships xmlns="http://schemas.openxmlformats.org/package/2006/relationships"><Relationship Id="rId3" Type="http://schemas.openxmlformats.org/officeDocument/2006/relationships/image" Target="../media/image260.png"/><Relationship Id="rId7" Type="http://schemas.openxmlformats.org/officeDocument/2006/relationships/image" Target="../media/image330.png"/><Relationship Id="rId2" Type="http://schemas.openxmlformats.org/officeDocument/2006/relationships/image" Target="../media/image251.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0.png"/></Relationships>
</file>

<file path=ppt/slides/_rels/slide2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2.png"/><Relationship Id="rId7" Type="http://schemas.openxmlformats.org/officeDocument/2006/relationships/image" Target="../media/image47.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1110.png"/></Relationships>
</file>

<file path=ppt/slides/_rels/slide21.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2.png"/><Relationship Id="rId7" Type="http://schemas.openxmlformats.org/officeDocument/2006/relationships/image" Target="../media/image56.png"/><Relationship Id="rId12" Type="http://schemas.openxmlformats.org/officeDocument/2006/relationships/image" Target="../media/image136.pn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135.png"/><Relationship Id="rId5" Type="http://schemas.openxmlformats.org/officeDocument/2006/relationships/image" Target="../media/image54.png"/><Relationship Id="rId10" Type="http://schemas.openxmlformats.org/officeDocument/2006/relationships/image" Target="../media/image134.png"/><Relationship Id="rId4" Type="http://schemas.openxmlformats.org/officeDocument/2006/relationships/image" Target="../media/image53.png"/><Relationship Id="rId9" Type="http://schemas.openxmlformats.org/officeDocument/2006/relationships/image" Target="../media/image133.png"/></Relationships>
</file>

<file path=ppt/slides/_rels/slide2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260.png"/><Relationship Id="rId7" Type="http://schemas.openxmlformats.org/officeDocument/2006/relationships/image" Target="../media/image330.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50.png"/><Relationship Id="rId5" Type="http://schemas.openxmlformats.org/officeDocument/2006/relationships/image" Target="../media/image4900.png"/></Relationships>
</file>

<file path=ppt/slides/_rels/slide23.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1.png"/><Relationship Id="rId7" Type="http://schemas.openxmlformats.org/officeDocument/2006/relationships/image" Target="../media/image47.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5.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cs.umd.edu/users/gasarch/BLOGPAPERS/pollpaper3.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332 Winter 2026</a:t>
            </a:r>
            <a:br>
              <a:rPr lang="en-US" dirty="0"/>
            </a:br>
            <a:r>
              <a:rPr lang="en-US"/>
              <a:t>Lecture 26: </a:t>
            </a:r>
            <a:r>
              <a:rPr lang="en-US" dirty="0"/>
              <a:t>P </a:t>
            </a:r>
            <a:r>
              <a:rPr lang="en-US"/>
              <a:t>and NP 2</a:t>
            </a:r>
            <a:endParaRPr lang="en-US" dirty="0"/>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907D8-AFB7-106C-286D-8A15C2C6E18E}"/>
              </a:ext>
            </a:extLst>
          </p:cNvPr>
          <p:cNvSpPr>
            <a:spLocks noGrp="1"/>
          </p:cNvSpPr>
          <p:nvPr>
            <p:ph type="title"/>
          </p:nvPr>
        </p:nvSpPr>
        <p:spPr/>
        <p:txBody>
          <a:bodyPr/>
          <a:lstStyle/>
          <a:p>
            <a:r>
              <a:rPr lang="en-US" dirty="0"/>
              <a:t>Studying Complexity and Tractability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18BC985-1CA7-0F95-E19A-C18AFEB4C462}"/>
                  </a:ext>
                </a:extLst>
              </p:cNvPr>
              <p:cNvSpPr>
                <a:spLocks noGrp="1"/>
              </p:cNvSpPr>
              <p:nvPr>
                <p:ph idx="1"/>
              </p:nvPr>
            </p:nvSpPr>
            <p:spPr>
              <a:xfrm>
                <a:off x="838200" y="1825624"/>
                <a:ext cx="10515600" cy="5032375"/>
              </a:xfrm>
            </p:spPr>
            <p:txBody>
              <a:bodyPr>
                <a:normAutofit lnSpcReduction="10000"/>
              </a:bodyPr>
              <a:lstStyle/>
              <a:p>
                <a:r>
                  <a:rPr lang="en-US" dirty="0"/>
                  <a:t>Organizing problems into complexity classes helps us to reason more carefully and flexibly about tractability</a:t>
                </a:r>
              </a:p>
              <a:p>
                <a:r>
                  <a:rPr lang="en-US" dirty="0"/>
                  <a:t>The goal for each problem is to either</a:t>
                </a:r>
              </a:p>
              <a:p>
                <a:pPr lvl="1"/>
                <a:r>
                  <a:rPr lang="en-US" dirty="0"/>
                  <a:t>Find an efficient algorithm if it exists</a:t>
                </a:r>
              </a:p>
              <a:p>
                <a:pPr lvl="2"/>
                <a:r>
                  <a:rPr lang="en-US" dirty="0"/>
                  <a:t>i.e. show it belongs to </a:t>
                </a:r>
                <a14:m>
                  <m:oMath xmlns:m="http://schemas.openxmlformats.org/officeDocument/2006/math">
                    <m:r>
                      <a:rPr lang="en-US" b="0" i="1" smtClean="0">
                        <a:latin typeface="Cambria Math" panose="02040503050406030204" pitchFamily="18" charset="0"/>
                      </a:rPr>
                      <m:t>𝑃</m:t>
                    </m:r>
                  </m:oMath>
                </a14:m>
                <a:endParaRPr lang="en-US" dirty="0"/>
              </a:p>
              <a:p>
                <a:pPr lvl="1"/>
                <a:r>
                  <a:rPr lang="en-US" dirty="0"/>
                  <a:t>Prove that no efficient algorithm exists</a:t>
                </a:r>
              </a:p>
              <a:p>
                <a:pPr lvl="2"/>
                <a:r>
                  <a:rPr lang="en-US" dirty="0"/>
                  <a:t>i.e. show it does not belong to </a:t>
                </a:r>
                <a14:m>
                  <m:oMath xmlns:m="http://schemas.openxmlformats.org/officeDocument/2006/math">
                    <m:r>
                      <a:rPr lang="en-US" b="0" i="1" smtClean="0">
                        <a:latin typeface="Cambria Math" panose="02040503050406030204" pitchFamily="18" charset="0"/>
                      </a:rPr>
                      <m:t>𝑃</m:t>
                    </m:r>
                  </m:oMath>
                </a14:m>
                <a:endParaRPr lang="en-US" dirty="0"/>
              </a:p>
              <a:p>
                <a:r>
                  <a:rPr lang="en-US" dirty="0"/>
                  <a:t>Complexity classes allow us to reason about sets of problems at a time, rather than each problem individually</a:t>
                </a:r>
              </a:p>
              <a:p>
                <a:pPr lvl="1"/>
                <a:r>
                  <a:rPr lang="en-US" dirty="0"/>
                  <a:t>If we can find more precise classes to organize problems into, we might be able to draw conclusions about the entire class</a:t>
                </a:r>
              </a:p>
              <a:p>
                <a:pPr lvl="1"/>
                <a:r>
                  <a:rPr lang="en-US" dirty="0"/>
                  <a:t>It may be easier to show a problem belongs to class </a:t>
                </a:r>
                <a14:m>
                  <m:oMath xmlns:m="http://schemas.openxmlformats.org/officeDocument/2006/math">
                    <m:r>
                      <a:rPr lang="en-US" b="0" i="1" smtClean="0">
                        <a:latin typeface="Cambria Math" panose="02040503050406030204" pitchFamily="18" charset="0"/>
                      </a:rPr>
                      <m:t>𝐶</m:t>
                    </m:r>
                  </m:oMath>
                </a14:m>
                <a:r>
                  <a:rPr lang="en-US" dirty="0"/>
                  <a:t> than to </a:t>
                </a:r>
                <a14:m>
                  <m:oMath xmlns:m="http://schemas.openxmlformats.org/officeDocument/2006/math">
                    <m:r>
                      <a:rPr lang="en-US" b="0" i="1" smtClean="0">
                        <a:latin typeface="Cambria Math" panose="02040503050406030204" pitchFamily="18" charset="0"/>
                      </a:rPr>
                      <m:t>𝑃</m:t>
                    </m:r>
                  </m:oMath>
                </a14:m>
                <a:r>
                  <a:rPr lang="en-US" dirty="0"/>
                  <a:t>, so it may help to show that </a:t>
                </a:r>
                <a14:m>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𝑃</m:t>
                    </m:r>
                  </m:oMath>
                </a14:m>
                <a:endParaRPr lang="en-US" dirty="0"/>
              </a:p>
            </p:txBody>
          </p:sp>
        </mc:Choice>
        <mc:Fallback xmlns="">
          <p:sp>
            <p:nvSpPr>
              <p:cNvPr id="3" name="Content Placeholder 2">
                <a:extLst>
                  <a:ext uri="{FF2B5EF4-FFF2-40B4-BE49-F238E27FC236}">
                    <a16:creationId xmlns:a16="http://schemas.microsoft.com/office/drawing/2014/main" id="{918BC985-1CA7-0F95-E19A-C18AFEB4C46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2663"/>
                </a:stretch>
              </a:blipFill>
            </p:spPr>
            <p:txBody>
              <a:bodyPr/>
              <a:lstStyle/>
              <a:p>
                <a:r>
                  <a:rPr lang="en-US">
                    <a:noFill/>
                  </a:rPr>
                  <a:t> </a:t>
                </a:r>
              </a:p>
            </p:txBody>
          </p:sp>
        </mc:Fallback>
      </mc:AlternateContent>
    </p:spTree>
    <p:extLst>
      <p:ext uri="{BB962C8B-B14F-4D97-AF65-F5344CB8AC3E}">
        <p14:creationId xmlns:p14="http://schemas.microsoft.com/office/powerpoint/2010/main" val="38813043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F2A4056-3B1E-4C93-D4D8-6FC1AE79F22A}"/>
                  </a:ext>
                </a:extLst>
              </p:cNvPr>
              <p:cNvSpPr>
                <a:spLocks noGrp="1"/>
              </p:cNvSpPr>
              <p:nvPr>
                <p:ph type="title"/>
              </p:nvPr>
            </p:nvSpPr>
            <p:spPr/>
            <p:txBody>
              <a:bodyPr/>
              <a:lstStyle/>
              <a:p>
                <a:r>
                  <a:rPr lang="en-US" dirty="0"/>
                  <a:t>Some problems in </a:t>
                </a:r>
                <a14:m>
                  <m:oMath xmlns:m="http://schemas.openxmlformats.org/officeDocument/2006/math">
                    <m:r>
                      <a:rPr lang="en-US" b="0" i="1" smtClean="0">
                        <a:latin typeface="Cambria Math" panose="02040503050406030204" pitchFamily="18" charset="0"/>
                      </a:rPr>
                      <m:t>𝐸𝑋𝑃</m:t>
                    </m:r>
                  </m:oMath>
                </a14:m>
                <a:r>
                  <a:rPr lang="en-US" dirty="0"/>
                  <a:t> seem “easier”</a:t>
                </a:r>
              </a:p>
            </p:txBody>
          </p:sp>
        </mc:Choice>
        <mc:Fallback xmlns="">
          <p:sp>
            <p:nvSpPr>
              <p:cNvPr id="2" name="Title 1">
                <a:extLst>
                  <a:ext uri="{FF2B5EF4-FFF2-40B4-BE49-F238E27FC236}">
                    <a16:creationId xmlns:a16="http://schemas.microsoft.com/office/drawing/2014/main" id="{7F2A4056-3B1E-4C93-D4D8-6FC1AE79F22A}"/>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BCC84F8A-7B34-FBF2-A05D-44DB22992018}"/>
              </a:ext>
            </a:extLst>
          </p:cNvPr>
          <p:cNvSpPr>
            <a:spLocks noGrp="1"/>
          </p:cNvSpPr>
          <p:nvPr>
            <p:ph idx="1"/>
          </p:nvPr>
        </p:nvSpPr>
        <p:spPr/>
        <p:txBody>
          <a:bodyPr/>
          <a:lstStyle/>
          <a:p>
            <a:r>
              <a:rPr lang="en-US" dirty="0"/>
              <a:t>There are some problems that we do not have polynomial time algorithms to solve, but provided answers are easy to check</a:t>
            </a:r>
          </a:p>
          <a:p>
            <a:r>
              <a:rPr lang="en-US" dirty="0"/>
              <a:t>Hamiltonian Path:</a:t>
            </a:r>
          </a:p>
          <a:p>
            <a:pPr lvl="1"/>
            <a:r>
              <a:rPr lang="en-US" dirty="0"/>
              <a:t>It’s “hard” to look at a graph and determine whether it has a Hamiltonian Path</a:t>
            </a:r>
          </a:p>
          <a:p>
            <a:pPr lvl="1"/>
            <a:r>
              <a:rPr lang="en-US" dirty="0"/>
              <a:t>It’s “easy” to look at a graph and a candidate path together and determine whether THAT path is a Hamiltonian Path </a:t>
            </a:r>
          </a:p>
          <a:p>
            <a:pPr lvl="2"/>
            <a:r>
              <a:rPr lang="en-US" dirty="0"/>
              <a:t>It’s easy to </a:t>
            </a:r>
            <a:r>
              <a:rPr lang="en-US" b="1" dirty="0"/>
              <a:t>verify</a:t>
            </a:r>
            <a:r>
              <a:rPr lang="en-US" dirty="0"/>
              <a:t> whether a given path is a Hamiltonian path</a:t>
            </a:r>
          </a:p>
        </p:txBody>
      </p:sp>
    </p:spTree>
    <p:extLst>
      <p:ext uri="{BB962C8B-B14F-4D97-AF65-F5344CB8AC3E}">
        <p14:creationId xmlns:p14="http://schemas.microsoft.com/office/powerpoint/2010/main" val="4916637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60C0E09-0E0C-6D5C-E168-D8F5A7163FA1}"/>
                  </a:ext>
                </a:extLst>
              </p:cNvPr>
              <p:cNvSpPr>
                <a:spLocks noGrp="1"/>
              </p:cNvSpPr>
              <p:nvPr>
                <p:ph type="title"/>
              </p:nvPr>
            </p:nvSpPr>
            <p:spPr/>
            <p:txBody>
              <a:bodyPr/>
              <a:lstStyle/>
              <a:p>
                <a:r>
                  <a:rPr lang="en-US" dirty="0"/>
                  <a:t>Class </a:t>
                </a:r>
                <a14:m>
                  <m:oMath xmlns:m="http://schemas.openxmlformats.org/officeDocument/2006/math">
                    <m:r>
                      <a:rPr lang="en-US" b="0" i="1" smtClean="0">
                        <a:latin typeface="Cambria Math" panose="02040503050406030204" pitchFamily="18" charset="0"/>
                      </a:rPr>
                      <m:t>𝑁𝑃</m:t>
                    </m:r>
                  </m:oMath>
                </a14:m>
                <a:endParaRPr lang="en-US" dirty="0"/>
              </a:p>
            </p:txBody>
          </p:sp>
        </mc:Choice>
        <mc:Fallback xmlns="">
          <p:sp>
            <p:nvSpPr>
              <p:cNvPr id="2" name="Title 1">
                <a:extLst>
                  <a:ext uri="{FF2B5EF4-FFF2-40B4-BE49-F238E27FC236}">
                    <a16:creationId xmlns:a16="http://schemas.microsoft.com/office/drawing/2014/main" id="{860C0E09-0E0C-6D5C-E168-D8F5A7163FA1}"/>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68C499-1D0B-7FAA-60A6-A273D22EA83B}"/>
                  </a:ext>
                </a:extLst>
              </p:cNvPr>
              <p:cNvSpPr>
                <a:spLocks noGrp="1"/>
              </p:cNvSpPr>
              <p:nvPr>
                <p:ph idx="1"/>
              </p:nvPr>
            </p:nvSpPr>
            <p:spPr/>
            <p:txBody>
              <a:bodyPr/>
              <a:lstStyle/>
              <a:p>
                <a14:m>
                  <m:oMath xmlns:m="http://schemas.openxmlformats.org/officeDocument/2006/math">
                    <m:r>
                      <a:rPr lang="en-US" b="0" i="1" smtClean="0">
                        <a:latin typeface="Cambria Math" panose="02040503050406030204" pitchFamily="18" charset="0"/>
                      </a:rPr>
                      <m:t>𝑁𝑃</m:t>
                    </m:r>
                  </m:oMath>
                </a14:m>
                <a:endParaRPr lang="en-US" dirty="0"/>
              </a:p>
              <a:p>
                <a:pPr lvl="1"/>
                <a:r>
                  <a:rPr lang="en-US" dirty="0"/>
                  <a:t>The set of problems for which a candidate solution can be verified in polynomial time</a:t>
                </a:r>
              </a:p>
              <a:p>
                <a:pPr lvl="1"/>
                <a:r>
                  <a:rPr lang="en-US" dirty="0"/>
                  <a:t>Stands for “Non-deterministic Polynomial”</a:t>
                </a:r>
              </a:p>
              <a:p>
                <a:pPr lvl="2"/>
                <a:r>
                  <a:rPr lang="en-US" dirty="0"/>
                  <a:t>Corresponds to algorithms that can guess a solution (if it exists), that solution is then verified to be correct in polynomial time</a:t>
                </a:r>
              </a:p>
              <a:p>
                <a:pPr lvl="2"/>
                <a:r>
                  <a:rPr lang="en-US" dirty="0"/>
                  <a:t>Can also think of as allowing a special operation that allows the algorithm to magically guess the right choice at each step of an exhaustive search</a:t>
                </a:r>
              </a:p>
              <a:p>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a:p>
                <a:pPr lvl="1"/>
                <a:r>
                  <a:rPr lang="en-US" dirty="0"/>
                  <a:t>Why?</a:t>
                </a:r>
              </a:p>
              <a:p>
                <a:pPr lvl="1"/>
                <a:endParaRPr lang="en-US" dirty="0"/>
              </a:p>
            </p:txBody>
          </p:sp>
        </mc:Choice>
        <mc:Fallback xmlns="">
          <p:sp>
            <p:nvSpPr>
              <p:cNvPr id="3" name="Content Placeholder 2">
                <a:extLst>
                  <a:ext uri="{FF2B5EF4-FFF2-40B4-BE49-F238E27FC236}">
                    <a16:creationId xmlns:a16="http://schemas.microsoft.com/office/drawing/2014/main" id="{EB68C499-1D0B-7FAA-60A6-A273D22EA83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356534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venn diagram illustrating the relationship between EXP, P, and NP.&#10;&#10;P is known to be a proper subset of EXP. NP is also known to be a proper subset of EXP. P is known to be a subset of NP, but it is unknown whether it is a proper subset.&#10;&#10;Some members we now know are members of each portion of the diagram:&#10;&#10;In P: Sorting, Shortest Path, Euler Path&#10;&#10;in NP but not known to be in P: Vertex Cover, Independent Set, Hamilton Path, Cryptography, Prime Factorization&#10;&#10;In EXP and known to be outside of P: Perfectly playing games like chess, checkers, go.">
            <a:extLst>
              <a:ext uri="{FF2B5EF4-FFF2-40B4-BE49-F238E27FC236}">
                <a16:creationId xmlns:a16="http://schemas.microsoft.com/office/drawing/2014/main" id="{CB65E576-BE73-4EF3-4846-A67D67BB98AE}"/>
              </a:ext>
            </a:extLst>
          </p:cNvPr>
          <p:cNvGrpSpPr/>
          <p:nvPr/>
        </p:nvGrpSpPr>
        <p:grpSpPr>
          <a:xfrm>
            <a:off x="396240" y="733886"/>
            <a:ext cx="11602720" cy="6209178"/>
            <a:chOff x="396240" y="733886"/>
            <a:chExt cx="11602720" cy="6209178"/>
          </a:xfrm>
        </p:grpSpPr>
        <p:sp>
          <p:nvSpPr>
            <p:cNvPr id="5" name="Oval 4">
              <a:extLst>
                <a:ext uri="{FF2B5EF4-FFF2-40B4-BE49-F238E27FC236}">
                  <a16:creationId xmlns:a16="http://schemas.microsoft.com/office/drawing/2014/main" id="{141635B6-F402-1095-4877-EFE866AA1617}"/>
                </a:ext>
              </a:extLst>
            </p:cNvPr>
            <p:cNvSpPr/>
            <p:nvPr/>
          </p:nvSpPr>
          <p:spPr>
            <a:xfrm>
              <a:off x="396240" y="800392"/>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3933289-11A2-E100-3246-E02B39C7AED0}"/>
                    </a:ext>
                  </a:extLst>
                </p:cNvPr>
                <p:cNvSpPr txBox="1"/>
                <p:nvPr/>
              </p:nvSpPr>
              <p:spPr>
                <a:xfrm>
                  <a:off x="3342640" y="733886"/>
                  <a:ext cx="6096000" cy="14244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Exponential</a:t>
                  </a:r>
                </a:p>
                <a:p>
                  <a:pPr algn="ctr"/>
                  <a:r>
                    <a:rPr lang="en-US" sz="2800" dirty="0">
                      <a:solidFill>
                        <a:schemeClr val="tx1"/>
                      </a:solidFill>
                    </a:rPr>
                    <a:t>Upper bounded by </a:t>
                  </a:r>
                  <a14:m>
                    <m:oMath xmlns:m="http://schemas.openxmlformats.org/officeDocument/2006/math">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2</m:t>
                          </m:r>
                        </m:e>
                        <m:sup>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𝑛</m:t>
                              </m:r>
                            </m:e>
                            <m:sup>
                              <m:r>
                                <a:rPr lang="en-US" sz="2800" b="0" i="1" smtClean="0">
                                  <a:solidFill>
                                    <a:schemeClr val="tx1"/>
                                  </a:solidFill>
                                  <a:latin typeface="Cambria Math" panose="02040503050406030204" pitchFamily="18" charset="0"/>
                                </a:rPr>
                                <m:t>𝑝</m:t>
                              </m:r>
                            </m:sup>
                          </m:sSup>
                        </m:sup>
                      </m:sSup>
                    </m:oMath>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F3933289-11A2-E100-3246-E02B39C7AED0}"/>
                    </a:ext>
                  </a:extLst>
                </p:cNvPr>
                <p:cNvSpPr txBox="1">
                  <a:spLocks noRot="1" noChangeAspect="1" noMove="1" noResize="1" noEditPoints="1" noAdjustHandles="1" noChangeArrowheads="1" noChangeShapeType="1" noTextEdit="1"/>
                </p:cNvSpPr>
                <p:nvPr/>
              </p:nvSpPr>
              <p:spPr>
                <a:xfrm>
                  <a:off x="3342640" y="733886"/>
                  <a:ext cx="6096000" cy="1424429"/>
                </a:xfrm>
                <a:prstGeom prst="rect">
                  <a:avLst/>
                </a:prstGeom>
                <a:blipFill>
                  <a:blip r:embed="rId2"/>
                  <a:stretch>
                    <a:fillRect b="-11111"/>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FBAF8506-45D6-1464-2EA9-BAD5C9E44E96}"/>
                </a:ext>
              </a:extLst>
            </p:cNvPr>
            <p:cNvSpPr/>
            <p:nvPr/>
          </p:nvSpPr>
          <p:spPr>
            <a:xfrm>
              <a:off x="995680" y="2158315"/>
              <a:ext cx="9804400" cy="4118917"/>
            </a:xfrm>
            <a:prstGeom prst="ellipse">
              <a:avLst/>
            </a:prstGeom>
            <a:solidFill>
              <a:schemeClr val="accent2">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2CD1BFD-574C-E5F5-667A-A8E28277AD99}"/>
                    </a:ext>
                  </a:extLst>
                </p:cNvPr>
                <p:cNvSpPr/>
                <p:nvPr/>
              </p:nvSpPr>
              <p:spPr>
                <a:xfrm>
                  <a:off x="1391920" y="317612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Polynomial</a:t>
                  </a:r>
                </a:p>
                <a:p>
                  <a:pPr algn="ctr"/>
                  <a:r>
                    <a:rPr lang="en-US" sz="2800" dirty="0">
                      <a:solidFill>
                        <a:schemeClr val="tx1"/>
                      </a:solidFill>
                    </a:rPr>
                    <a:t>Upper bounded by </a:t>
                  </a:r>
                  <a14:m>
                    <m:oMath xmlns:m="http://schemas.openxmlformats.org/officeDocument/2006/math">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𝑛</m:t>
                          </m:r>
                        </m:e>
                        <m:sup>
                          <m:r>
                            <a:rPr lang="en-US" sz="2800" b="0" i="1" smtClean="0">
                              <a:solidFill>
                                <a:schemeClr val="tx1"/>
                              </a:solidFill>
                              <a:latin typeface="Cambria Math" panose="02040503050406030204" pitchFamily="18" charset="0"/>
                            </a:rPr>
                            <m:t>𝑝</m:t>
                          </m:r>
                        </m:sup>
                      </m:sSup>
                    </m:oMath>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76123"/>
                  <a:ext cx="4998720" cy="2555240"/>
                </a:xfrm>
                <a:prstGeom prst="ellipse">
                  <a:avLst/>
                </a:prstGeom>
                <a:blipFill>
                  <a:blip r:embed="rId3"/>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561229C-901F-E6AA-7760-7159895368CF}"/>
                    </a:ext>
                  </a:extLst>
                </p:cNvPr>
                <p:cNvSpPr txBox="1"/>
                <p:nvPr/>
              </p:nvSpPr>
              <p:spPr>
                <a:xfrm>
                  <a:off x="5303520" y="3004590"/>
                  <a:ext cx="6096000" cy="14244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Nondeterministic Polynomial</a:t>
                  </a:r>
                </a:p>
                <a:p>
                  <a:pPr algn="ctr"/>
                  <a:r>
                    <a:rPr lang="en-US" sz="2800" dirty="0"/>
                    <a:t>Verified in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𝑛</m:t>
                          </m:r>
                        </m:e>
                        <m:sup>
                          <m:r>
                            <a:rPr lang="en-US" sz="2800" b="0" i="1" smtClean="0">
                              <a:latin typeface="Cambria Math" panose="02040503050406030204" pitchFamily="18" charset="0"/>
                            </a:rPr>
                            <m:t>𝑝</m:t>
                          </m:r>
                        </m:sup>
                      </m:sSup>
                    </m:oMath>
                  </a14:m>
                  <a:r>
                    <a:rPr lang="en-US" sz="2800" dirty="0">
                      <a:solidFill>
                        <a:schemeClr val="tx1"/>
                      </a:solidFill>
                    </a:rPr>
                    <a:t> time</a:t>
                  </a: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5303520" y="3004590"/>
                  <a:ext cx="6096000" cy="1424429"/>
                </a:xfrm>
                <a:prstGeom prst="rect">
                  <a:avLst/>
                </a:prstGeom>
                <a:blipFill>
                  <a:blip r:embed="rId4"/>
                  <a:stretch>
                    <a:fillRect b="-8547"/>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AC71D22A-C4FD-A562-E8FB-9618A48A76F8}"/>
                </a:ext>
              </a:extLst>
            </p:cNvPr>
            <p:cNvGrpSpPr/>
            <p:nvPr/>
          </p:nvGrpSpPr>
          <p:grpSpPr>
            <a:xfrm rot="1389724">
              <a:off x="6200745" y="5135200"/>
              <a:ext cx="2475158" cy="523220"/>
              <a:chOff x="6197600" y="5013683"/>
              <a:chExt cx="2475158" cy="523220"/>
            </a:xfrm>
          </p:grpSpPr>
          <p:sp>
            <p:nvSpPr>
              <p:cNvPr id="12" name="TextBox 11">
                <a:extLst>
                  <a:ext uri="{FF2B5EF4-FFF2-40B4-BE49-F238E27FC236}">
                    <a16:creationId xmlns:a16="http://schemas.microsoft.com/office/drawing/2014/main" id="{DD281509-7CCC-72FA-5A63-28BAA927617A}"/>
                  </a:ext>
                </a:extLst>
              </p:cNvPr>
              <p:cNvSpPr txBox="1"/>
              <p:nvPr/>
            </p:nvSpPr>
            <p:spPr>
              <a:xfrm>
                <a:off x="7053897" y="5013683"/>
                <a:ext cx="955604" cy="523220"/>
              </a:xfrm>
              <a:prstGeom prst="rect">
                <a:avLst/>
              </a:prstGeom>
              <a:noFill/>
            </p:spPr>
            <p:txBody>
              <a:bodyPr wrap="square">
                <a:spAutoFit/>
              </a:bodyPr>
              <a:lstStyle/>
              <a:p>
                <a:pPr algn="ctr"/>
                <a:r>
                  <a:rPr lang="en-US" sz="2800" dirty="0">
                    <a:solidFill>
                      <a:srgbClr val="FF0000"/>
                    </a:solidFill>
                  </a:rPr>
                  <a:t>Gap?</a:t>
                </a:r>
              </a:p>
            </p:txBody>
          </p:sp>
          <p:cxnSp>
            <p:nvCxnSpPr>
              <p:cNvPr id="14" name="Straight Arrow Connector 13">
                <a:extLst>
                  <a:ext uri="{FF2B5EF4-FFF2-40B4-BE49-F238E27FC236}">
                    <a16:creationId xmlns:a16="http://schemas.microsoft.com/office/drawing/2014/main" id="{B82661DB-8387-2CF0-35D0-C14C37B0B8E7}"/>
                  </a:ext>
                </a:extLst>
              </p:cNvPr>
              <p:cNvCxnSpPr>
                <a:stCxn id="12" idx="1"/>
              </p:cNvCxnSpPr>
              <p:nvPr/>
            </p:nvCxnSpPr>
            <p:spPr>
              <a:xfrm flipH="1">
                <a:off x="6197600" y="5275293"/>
                <a:ext cx="856297" cy="1"/>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15AF750-7ABB-9963-C32B-09B336727927}"/>
                  </a:ext>
                </a:extLst>
              </p:cNvPr>
              <p:cNvCxnSpPr>
                <a:cxnSpLocks/>
                <a:stCxn id="12" idx="3"/>
              </p:cNvCxnSpPr>
              <p:nvPr/>
            </p:nvCxnSpPr>
            <p:spPr>
              <a:xfrm>
                <a:off x="8009501" y="5275293"/>
                <a:ext cx="663257" cy="0"/>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C565268-1DFA-2BDF-B753-888B618F5053}"/>
                </a:ext>
              </a:extLst>
            </p:cNvPr>
            <p:cNvSpPr txBox="1"/>
            <p:nvPr/>
          </p:nvSpPr>
          <p:spPr>
            <a:xfrm rot="1389724">
              <a:off x="6228679" y="5362557"/>
              <a:ext cx="1810649" cy="523220"/>
            </a:xfrm>
            <a:prstGeom prst="rect">
              <a:avLst/>
            </a:prstGeom>
            <a:noFill/>
          </p:spPr>
          <p:txBody>
            <a:bodyPr wrap="square">
              <a:spAutoFit/>
            </a:bodyPr>
            <a:lstStyle/>
            <a:p>
              <a:pPr algn="ctr"/>
              <a:r>
                <a:rPr lang="en-US" sz="2800" dirty="0">
                  <a:solidFill>
                    <a:srgbClr val="FF0000"/>
                  </a:solidFill>
                </a:rPr>
                <a:t>Unknown!</a:t>
              </a:r>
            </a:p>
          </p:txBody>
        </p:sp>
        <p:sp>
          <p:nvSpPr>
            <p:cNvPr id="3" name="TextBox 2">
              <a:extLst>
                <a:ext uri="{FF2B5EF4-FFF2-40B4-BE49-F238E27FC236}">
                  <a16:creationId xmlns:a16="http://schemas.microsoft.com/office/drawing/2014/main" id="{6D8DB62C-26FA-47C4-9CF8-BA550BE15574}"/>
                </a:ext>
              </a:extLst>
            </p:cNvPr>
            <p:cNvSpPr txBox="1"/>
            <p:nvPr/>
          </p:nvSpPr>
          <p:spPr>
            <a:xfrm>
              <a:off x="4599377" y="3391408"/>
              <a:ext cx="1303947" cy="861774"/>
            </a:xfrm>
            <a:prstGeom prst="rect">
              <a:avLst/>
            </a:prstGeom>
            <a:noFill/>
          </p:spPr>
          <p:txBody>
            <a:bodyPr wrap="none" rtlCol="0">
              <a:spAutoFit/>
            </a:bodyPr>
            <a:lstStyle/>
            <a:p>
              <a:r>
                <a:rPr lang="en-US" sz="1600" dirty="0">
                  <a:solidFill>
                    <a:srgbClr val="7030A0"/>
                  </a:solidFill>
                </a:rPr>
                <a:t>Sorting</a:t>
              </a:r>
            </a:p>
            <a:p>
              <a:r>
                <a:rPr lang="en-US" sz="1600" dirty="0">
                  <a:solidFill>
                    <a:srgbClr val="7030A0"/>
                  </a:solidFill>
                </a:rPr>
                <a:t>Shortest Path</a:t>
              </a:r>
            </a:p>
            <a:p>
              <a:r>
                <a:rPr lang="en-US" sz="1600" dirty="0">
                  <a:solidFill>
                    <a:srgbClr val="7030A0"/>
                  </a:solidFill>
                </a:rPr>
                <a:t>Euler Path</a:t>
              </a:r>
            </a:p>
          </p:txBody>
        </p:sp>
        <p:sp>
          <p:nvSpPr>
            <p:cNvPr id="8" name="TextBox 7">
              <a:extLst>
                <a:ext uri="{FF2B5EF4-FFF2-40B4-BE49-F238E27FC236}">
                  <a16:creationId xmlns:a16="http://schemas.microsoft.com/office/drawing/2014/main" id="{13E90524-0054-417F-44E8-4B21DAC3A3E9}"/>
                </a:ext>
              </a:extLst>
            </p:cNvPr>
            <p:cNvSpPr txBox="1"/>
            <p:nvPr/>
          </p:nvSpPr>
          <p:spPr>
            <a:xfrm>
              <a:off x="5396885" y="2134632"/>
              <a:ext cx="1765099" cy="1323439"/>
            </a:xfrm>
            <a:prstGeom prst="rect">
              <a:avLst/>
            </a:prstGeom>
            <a:noFill/>
          </p:spPr>
          <p:txBody>
            <a:bodyPr wrap="none" rtlCol="0">
              <a:spAutoFit/>
            </a:bodyPr>
            <a:lstStyle/>
            <a:p>
              <a:r>
                <a:rPr lang="en-US" sz="1600" dirty="0">
                  <a:solidFill>
                    <a:srgbClr val="7030A0"/>
                  </a:solidFill>
                </a:rPr>
                <a:t>Vertex Cover</a:t>
              </a:r>
            </a:p>
            <a:p>
              <a:r>
                <a:rPr lang="en-US" sz="1600" dirty="0">
                  <a:solidFill>
                    <a:srgbClr val="7030A0"/>
                  </a:solidFill>
                </a:rPr>
                <a:t>Independent Set</a:t>
              </a:r>
            </a:p>
            <a:p>
              <a:r>
                <a:rPr lang="en-US" sz="1600" dirty="0">
                  <a:solidFill>
                    <a:srgbClr val="7030A0"/>
                  </a:solidFill>
                </a:rPr>
                <a:t>Hamiltonian Path</a:t>
              </a:r>
            </a:p>
            <a:p>
              <a:r>
                <a:rPr lang="en-US" sz="1600" dirty="0">
                  <a:solidFill>
                    <a:srgbClr val="7030A0"/>
                  </a:solidFill>
                </a:rPr>
                <a:t>Cryptography</a:t>
              </a:r>
            </a:p>
            <a:p>
              <a:r>
                <a:rPr lang="en-US" sz="1600" dirty="0">
                  <a:solidFill>
                    <a:srgbClr val="7030A0"/>
                  </a:solidFill>
                </a:rPr>
                <a:t>Prime factorization</a:t>
              </a:r>
            </a:p>
          </p:txBody>
        </p:sp>
        <p:sp>
          <p:nvSpPr>
            <p:cNvPr id="9" name="TextBox 8">
              <a:extLst>
                <a:ext uri="{FF2B5EF4-FFF2-40B4-BE49-F238E27FC236}">
                  <a16:creationId xmlns:a16="http://schemas.microsoft.com/office/drawing/2014/main" id="{02FB1F7F-722C-2555-934B-D67F0220B70F}"/>
                </a:ext>
              </a:extLst>
            </p:cNvPr>
            <p:cNvSpPr txBox="1"/>
            <p:nvPr/>
          </p:nvSpPr>
          <p:spPr>
            <a:xfrm>
              <a:off x="8834747" y="1534250"/>
              <a:ext cx="927946" cy="830997"/>
            </a:xfrm>
            <a:prstGeom prst="rect">
              <a:avLst/>
            </a:prstGeom>
            <a:noFill/>
          </p:spPr>
          <p:txBody>
            <a:bodyPr wrap="none" rtlCol="0">
              <a:spAutoFit/>
            </a:bodyPr>
            <a:lstStyle/>
            <a:p>
              <a:r>
                <a:rPr lang="en-US" sz="1600" dirty="0">
                  <a:solidFill>
                    <a:srgbClr val="7030A0"/>
                  </a:solidFill>
                </a:rPr>
                <a:t>Checkers</a:t>
              </a:r>
            </a:p>
            <a:p>
              <a:r>
                <a:rPr lang="en-US" sz="1600" dirty="0">
                  <a:solidFill>
                    <a:srgbClr val="7030A0"/>
                  </a:solidFill>
                </a:rPr>
                <a:t>Go</a:t>
              </a:r>
            </a:p>
            <a:p>
              <a:r>
                <a:rPr lang="en-US" sz="1600" dirty="0">
                  <a:solidFill>
                    <a:srgbClr val="7030A0"/>
                  </a:solidFill>
                </a:rPr>
                <a:t>Chess</a:t>
              </a:r>
            </a:p>
          </p:txBody>
        </p:sp>
      </p:grpSp>
      <mc:AlternateContent xmlns:mc="http://schemas.openxmlformats.org/markup-compatibility/2006" xmlns:a14="http://schemas.microsoft.com/office/drawing/2010/main">
        <mc:Choice Requires="a14">
          <p:sp>
            <p:nvSpPr>
              <p:cNvPr id="26" name="Title 1">
                <a:extLst>
                  <a:ext uri="{FF2B5EF4-FFF2-40B4-BE49-F238E27FC236}">
                    <a16:creationId xmlns:a16="http://schemas.microsoft.com/office/drawing/2014/main" id="{58BD3A92-F435-7C36-5746-4DD8BBD2FA49}"/>
                  </a:ext>
                </a:extLst>
              </p:cNvPr>
              <p:cNvSpPr>
                <a:spLocks noGrp="1"/>
              </p:cNvSpPr>
              <p:nvPr>
                <p:ph type="title"/>
              </p:nvPr>
            </p:nvSpPr>
            <p:spPr>
              <a:xfrm>
                <a:off x="193040" y="-151279"/>
                <a:ext cx="10515600" cy="1325563"/>
              </a:xfrm>
            </p:spPr>
            <p:txBody>
              <a:bodyPr/>
              <a:lstStyle/>
              <a:p>
                <a14:m>
                  <m:oMath xmlns:m="http://schemas.openxmlformats.org/officeDocument/2006/math">
                    <m:r>
                      <a:rPr lang="en-US" b="0" i="1" smtClean="0">
                        <a:latin typeface="Cambria Math" panose="02040503050406030204" pitchFamily="18" charset="0"/>
                      </a:rPr>
                      <m:t>𝐸𝑋𝑃</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 Example Members </a:t>
                </a:r>
              </a:p>
            </p:txBody>
          </p:sp>
        </mc:Choice>
        <mc:Fallback xmlns="">
          <p:sp>
            <p:nvSpPr>
              <p:cNvPr id="26" name="Title 1">
                <a:extLst>
                  <a:ext uri="{FF2B5EF4-FFF2-40B4-BE49-F238E27FC236}">
                    <a16:creationId xmlns:a16="http://schemas.microsoft.com/office/drawing/2014/main" id="{58BD3A92-F435-7C36-5746-4DD8BBD2FA49}"/>
                  </a:ext>
                </a:extLst>
              </p:cNvPr>
              <p:cNvSpPr>
                <a:spLocks noGrp="1" noRot="1" noChangeAspect="1" noMove="1" noResize="1" noEditPoints="1" noAdjustHandles="1" noChangeArrowheads="1" noChangeShapeType="1" noTextEdit="1"/>
              </p:cNvSpPr>
              <p:nvPr>
                <p:ph type="title"/>
              </p:nvPr>
            </p:nvSpPr>
            <p:spPr>
              <a:xfrm>
                <a:off x="193040" y="-151279"/>
                <a:ext cx="10515600" cy="1325563"/>
              </a:xfr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71DED51-C630-1C05-E13A-1F2DA7629B7A}"/>
                  </a:ext>
                </a:extLst>
              </p:cNvPr>
              <p:cNvSpPr txBox="1"/>
              <p:nvPr/>
            </p:nvSpPr>
            <p:spPr>
              <a:xfrm>
                <a:off x="-1564640" y="844490"/>
                <a:ext cx="6096000" cy="523220"/>
              </a:xfrm>
              <a:prstGeom prst="rect">
                <a:avLst/>
              </a:prstGeom>
              <a:noFill/>
            </p:spPr>
            <p:txBody>
              <a:bodyPr wrap="square">
                <a:spAutoFit/>
              </a:bodyPr>
              <a:lstStyle/>
              <a:p>
                <a:pPr algn="ct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r>
                  <a:rPr lang="en-US" sz="2800" dirty="0">
                    <a:solidFill>
                      <a:srgbClr val="FF0000"/>
                    </a:solidFill>
                  </a:rPr>
                  <a:t> or </a:t>
                </a: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endParaRPr lang="en-US" sz="2800" dirty="0">
                  <a:solidFill>
                    <a:srgbClr val="FF0000"/>
                  </a:solidFill>
                </a:endParaRPr>
              </a:p>
            </p:txBody>
          </p:sp>
        </mc:Choice>
        <mc:Fallback xmlns="">
          <p:sp>
            <p:nvSpPr>
              <p:cNvPr id="27" name="TextBox 26">
                <a:extLst>
                  <a:ext uri="{FF2B5EF4-FFF2-40B4-BE49-F238E27FC236}">
                    <a16:creationId xmlns:a16="http://schemas.microsoft.com/office/drawing/2014/main" id="{A71DED51-C630-1C05-E13A-1F2DA7629B7A}"/>
                  </a:ext>
                </a:extLst>
              </p:cNvPr>
              <p:cNvSpPr txBox="1">
                <a:spLocks noRot="1" noChangeAspect="1" noMove="1" noResize="1" noEditPoints="1" noAdjustHandles="1" noChangeArrowheads="1" noChangeShapeType="1" noTextEdit="1"/>
              </p:cNvSpPr>
              <p:nvPr/>
            </p:nvSpPr>
            <p:spPr>
              <a:xfrm>
                <a:off x="-1564640" y="844490"/>
                <a:ext cx="6096000" cy="523220"/>
              </a:xfrm>
              <a:prstGeom prst="rect">
                <a:avLst/>
              </a:prstGeom>
              <a:blipFill>
                <a:blip r:embed="rId6"/>
                <a:stretch>
                  <a:fillRect t="-11765" b="-34118"/>
                </a:stretch>
              </a:blipFill>
            </p:spPr>
            <p:txBody>
              <a:bodyPr/>
              <a:lstStyle/>
              <a:p>
                <a:r>
                  <a:rPr lang="en-US">
                    <a:noFill/>
                  </a:rPr>
                  <a:t> </a:t>
                </a:r>
              </a:p>
            </p:txBody>
          </p:sp>
        </mc:Fallback>
      </mc:AlternateContent>
    </p:spTree>
    <p:extLst>
      <p:ext uri="{BB962C8B-B14F-4D97-AF65-F5344CB8AC3E}">
        <p14:creationId xmlns:p14="http://schemas.microsoft.com/office/powerpoint/2010/main" val="25723055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Independent Set / Party Problem</a:t>
            </a:r>
          </a:p>
        </p:txBody>
      </p:sp>
      <p:sp>
        <p:nvSpPr>
          <p:cNvPr id="54" name="TextBox 53"/>
          <p:cNvSpPr txBox="1"/>
          <p:nvPr/>
        </p:nvSpPr>
        <p:spPr>
          <a:xfrm>
            <a:off x="4926051" y="1413405"/>
            <a:ext cx="6562309" cy="646331"/>
          </a:xfrm>
          <a:prstGeom prst="rect">
            <a:avLst/>
          </a:prstGeom>
          <a:noFill/>
        </p:spPr>
        <p:txBody>
          <a:bodyPr wrap="none" rtlCol="0">
            <a:spAutoFit/>
          </a:bodyPr>
          <a:lstStyle/>
          <a:p>
            <a:r>
              <a:rPr lang="en-US" dirty="0"/>
              <a:t>Draw Edges between people who don’t get along</a:t>
            </a:r>
          </a:p>
          <a:p>
            <a:r>
              <a:rPr lang="en-US" dirty="0"/>
              <a:t>How many people can I invite to a party if everyone must get along?</a:t>
            </a:r>
          </a:p>
        </p:txBody>
      </p:sp>
      <p:grpSp>
        <p:nvGrpSpPr>
          <p:cNvPr id="18" name="Group 17" descr="A graph depicting several famous people and edges between them.">
            <a:extLst>
              <a:ext uri="{FF2B5EF4-FFF2-40B4-BE49-F238E27FC236}">
                <a16:creationId xmlns:a16="http://schemas.microsoft.com/office/drawing/2014/main" id="{7EBDB391-F091-1846-3790-16198B287E18}"/>
              </a:ext>
            </a:extLst>
          </p:cNvPr>
          <p:cNvGrpSpPr/>
          <p:nvPr/>
        </p:nvGrpSpPr>
        <p:grpSpPr>
          <a:xfrm>
            <a:off x="1822926" y="1377631"/>
            <a:ext cx="7796089" cy="5253107"/>
            <a:chOff x="1822926" y="1377631"/>
            <a:chExt cx="7796089" cy="5253107"/>
          </a:xfrm>
        </p:grpSpPr>
        <p:pic>
          <p:nvPicPr>
            <p:cNvPr id="1026" name="Picture 2" descr="Image result for Prince Harr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eghan markle"/>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Prince Charl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Image result for justin trudeau"/>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Image result for Elton John"/>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Image result for angela merkel"/>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Image result for paul mccartney"/>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Connector 25"/>
            <p:cNvCxnSpPr>
              <a:stCxn id="1028"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026" idx="3"/>
              <a:endCxn id="1060"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1030" idx="1"/>
              <a:endCxn id="1060"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1030"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1030" idx="1"/>
              <a:endCxn id="1044"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1030" idx="1"/>
              <a:endCxn id="1042"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1042" idx="1"/>
            </p:cNvCxnSpPr>
            <p:nvPr/>
          </p:nvCxnSpPr>
          <p:spPr>
            <a:xfrm flipH="1" flipV="1">
              <a:off x="2565838" y="5714723"/>
              <a:ext cx="5437606" cy="49128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a:stCxn id="1044" idx="1"/>
              <a:endCxn id="1058"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3" name="Picture 2" descr="Joe Biden - CNBC">
              <a:extLst>
                <a:ext uri="{FF2B5EF4-FFF2-40B4-BE49-F238E27FC236}">
                  <a16:creationId xmlns:a16="http://schemas.microsoft.com/office/drawing/2014/main" id="{962C31A1-6E3C-712B-C18A-F732F7F6D434}"/>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Emmanuel Macron - Wikipedia">
              <a:extLst>
                <a:ext uri="{FF2B5EF4-FFF2-40B4-BE49-F238E27FC236}">
                  <a16:creationId xmlns:a16="http://schemas.microsoft.com/office/drawing/2014/main" id="{0482CE18-CEF8-B794-ABC5-C2879D11D556}"/>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Taylor Swift set to make her feature directorial debut | CNN">
              <a:extLst>
                <a:ext uri="{FF2B5EF4-FFF2-40B4-BE49-F238E27FC236}">
                  <a16:creationId xmlns:a16="http://schemas.microsoft.com/office/drawing/2014/main" id="{E28D031F-BF6C-DD58-B24E-22BFDE50F7D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Connector 15">
              <a:extLst>
                <a:ext uri="{FF2B5EF4-FFF2-40B4-BE49-F238E27FC236}">
                  <a16:creationId xmlns:a16="http://schemas.microsoft.com/office/drawing/2014/main" id="{56FD067A-CC6D-6D54-0646-E140E9F8138F}"/>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7" name="Picture 8" descr="Ed Sheeran">
              <a:extLst>
                <a:ext uri="{FF2B5EF4-FFF2-40B4-BE49-F238E27FC236}">
                  <a16:creationId xmlns:a16="http://schemas.microsoft.com/office/drawing/2014/main" id="{34901888-5999-132B-BE71-0D5E65E1A39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Pharrell Williams - Age, Wife &amp; &quot;Happy&quot;">
              <a:extLst>
                <a:ext uri="{FF2B5EF4-FFF2-40B4-BE49-F238E27FC236}">
                  <a16:creationId xmlns:a16="http://schemas.microsoft.com/office/drawing/2014/main" id="{16115C01-A579-BE4C-699B-5394A062C97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29872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Independent Set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Independent set: </a:t>
                </a:r>
              </a:p>
              <a:p>
                <a:pPr lvl="1"/>
                <a14:m>
                  <m:oMath xmlns:m="http://schemas.openxmlformats.org/officeDocument/2006/math">
                    <m:r>
                      <a:rPr lang="en-US" i="1">
                        <a:latin typeface="Cambria Math"/>
                      </a:rPr>
                      <m:t>𝑆</m:t>
                    </m:r>
                    <m:r>
                      <a:rPr lang="en-US" i="1">
                        <a:latin typeface="Cambria Math"/>
                      </a:rPr>
                      <m:t>⊆</m:t>
                    </m:r>
                    <m:r>
                      <a:rPr lang="en-US" i="1">
                        <a:latin typeface="Cambria Math"/>
                      </a:rPr>
                      <m:t>𝑉</m:t>
                    </m:r>
                  </m:oMath>
                </a14:m>
                <a:r>
                  <a:rPr lang="en-US" dirty="0"/>
                  <a:t> is an independent set if no two nodes in </a:t>
                </a:r>
                <a14:m>
                  <m:oMath xmlns:m="http://schemas.openxmlformats.org/officeDocument/2006/math">
                    <m:r>
                      <a:rPr lang="en-US" i="1">
                        <a:latin typeface="Cambria Math"/>
                      </a:rPr>
                      <m:t>𝑆</m:t>
                    </m:r>
                  </m:oMath>
                </a14:m>
                <a:r>
                  <a:rPr lang="en-US" dirty="0"/>
                  <a:t> share an edge</a:t>
                </a:r>
              </a:p>
              <a:p>
                <a:r>
                  <a:rPr lang="en-US" dirty="0"/>
                  <a:t>Independent Set Problem: </a:t>
                </a:r>
              </a:p>
              <a:p>
                <a:pPr lvl="1"/>
                <a:r>
                  <a:rPr lang="en-US" dirty="0"/>
                  <a:t>Given a graph </a:t>
                </a:r>
                <a14:m>
                  <m:oMath xmlns:m="http://schemas.openxmlformats.org/officeDocument/2006/math">
                    <m:r>
                      <a:rPr lang="en-US" i="1">
                        <a:latin typeface="Cambria Math"/>
                      </a:rPr>
                      <m:t>𝐺</m:t>
                    </m:r>
                    <m:r>
                      <a:rPr lang="en-US" i="1">
                        <a:latin typeface="Cambria Math"/>
                      </a:rPr>
                      <m:t>=(</m:t>
                    </m:r>
                    <m:r>
                      <a:rPr lang="en-US" i="1">
                        <a:latin typeface="Cambria Math"/>
                      </a:rPr>
                      <m:t>𝑉</m:t>
                    </m:r>
                    <m:r>
                      <a:rPr lang="en-US" i="1">
                        <a:latin typeface="Cambria Math"/>
                      </a:rPr>
                      <m:t>,</m:t>
                    </m:r>
                    <m:r>
                      <a:rPr lang="en-US" i="1">
                        <a:latin typeface="Cambria Math"/>
                      </a:rPr>
                      <m:t>𝐸</m:t>
                    </m:r>
                    <m:r>
                      <a:rPr lang="en-US" i="1">
                        <a:latin typeface="Cambria Math"/>
                      </a:rPr>
                      <m:t>)</m:t>
                    </m:r>
                  </m:oMath>
                </a14:m>
                <a:r>
                  <a:rPr lang="en-US" dirty="0"/>
                  <a:t> and a number </a:t>
                </a:r>
                <a14:m>
                  <m:oMath xmlns:m="http://schemas.openxmlformats.org/officeDocument/2006/math">
                    <m:r>
                      <a:rPr lang="en-US" i="1">
                        <a:latin typeface="Cambria Math"/>
                      </a:rPr>
                      <m:t>𝑘</m:t>
                    </m:r>
                  </m:oMath>
                </a14:m>
                <a:r>
                  <a:rPr lang="en-US" dirty="0"/>
                  <a:t>, determine whether there is an independent set </a:t>
                </a:r>
                <a14:m>
                  <m:oMath xmlns:m="http://schemas.openxmlformats.org/officeDocument/2006/math">
                    <m:r>
                      <a:rPr lang="en-US" b="0" i="1">
                        <a:latin typeface="Cambria Math"/>
                      </a:rPr>
                      <m:t>𝑆</m:t>
                    </m:r>
                  </m:oMath>
                </a14:m>
                <a:r>
                  <a:rPr lang="en-US" dirty="0"/>
                  <a:t> of size </a:t>
                </a:r>
                <a14:m>
                  <m:oMath xmlns:m="http://schemas.openxmlformats.org/officeDocument/2006/math">
                    <m:r>
                      <a:rPr lang="en-US" b="0" i="1">
                        <a:latin typeface="Cambria Math"/>
                      </a:rPr>
                      <m:t>𝑘</m:t>
                    </m:r>
                  </m:oMath>
                </a14:m>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fld id="{86BADE50-950A-4D58-BFB2-FA2C6A8B385D}" type="slidenum">
              <a:rPr lang="en-US" smtClean="0"/>
              <a:t>7</a:t>
            </a:fld>
            <a:endParaRPr lang="en-US"/>
          </a:p>
        </p:txBody>
      </p:sp>
    </p:spTree>
    <p:extLst>
      <p:ext uri="{BB962C8B-B14F-4D97-AF65-F5344CB8AC3E}">
        <p14:creationId xmlns:p14="http://schemas.microsoft.com/office/powerpoint/2010/main" val="2573119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Vertex Cover / Generalized Baseball</a:t>
            </a:r>
          </a:p>
        </p:txBody>
      </p:sp>
      <p:grpSp>
        <p:nvGrpSpPr>
          <p:cNvPr id="53" name="Group 52" descr="A more general baseball graph. We have many bases connected together in arbitrary ways."/>
          <p:cNvGrpSpPr/>
          <p:nvPr/>
        </p:nvGrpSpPr>
        <p:grpSpPr>
          <a:xfrm>
            <a:off x="2181226" y="1481300"/>
            <a:ext cx="5514975" cy="4914248"/>
            <a:chOff x="657225" y="1481300"/>
            <a:chExt cx="5514975" cy="4914248"/>
          </a:xfrm>
        </p:grpSpPr>
        <p:cxnSp>
          <p:nvCxnSpPr>
            <p:cNvPr id="14" name="Straight Connector 13"/>
            <p:cNvCxnSpPr>
              <a:stCxn id="8" idx="1"/>
              <a:endCxn id="23"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a:stCxn id="10" idx="2"/>
              <a:endCxn id="8"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23" idx="1"/>
              <a:endCxn id="10"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28" idx="2"/>
              <a:endCxn id="10"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8" idx="3"/>
              <a:endCxn id="29"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29" idx="3"/>
              <a:endCxn id="26"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29" idx="2"/>
              <a:endCxn id="27"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27" idx="3"/>
              <a:endCxn id="30"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26" idx="2"/>
              <a:endCxn id="30"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a:stCxn id="29" idx="3"/>
              <a:endCxn id="63"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a:stCxn id="26" idx="0"/>
              <a:endCxn id="63"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23" idx="0"/>
              <a:endCxn id="30"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a:stCxn id="23" idx="0"/>
              <a:endCxn id="26"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rot="10800000">
              <a:off x="2657024" y="5938347"/>
              <a:ext cx="530353" cy="457201"/>
              <a:chOff x="2133600" y="4191000"/>
              <a:chExt cx="1060704" cy="914400"/>
            </a:xfrm>
          </p:grpSpPr>
          <p:sp>
            <p:nvSpPr>
              <p:cNvPr id="7" name="Isosceles Triangle 6"/>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8" name="Rectangle 7"/>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10" name="Rectangle 9"/>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4258735"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TextBox 51"/>
          <p:cNvSpPr txBox="1"/>
          <p:nvPr/>
        </p:nvSpPr>
        <p:spPr>
          <a:xfrm>
            <a:off x="7239000" y="1292170"/>
            <a:ext cx="3429000" cy="646331"/>
          </a:xfrm>
          <a:prstGeom prst="rect">
            <a:avLst/>
          </a:prstGeom>
          <a:noFill/>
        </p:spPr>
        <p:txBody>
          <a:bodyPr wrap="square" rtlCol="0">
            <a:spAutoFit/>
          </a:bodyPr>
          <a:lstStyle/>
          <a:p>
            <a:r>
              <a:rPr lang="en-US" dirty="0"/>
              <a:t>Need to place defenders on bases such that every edge is defended</a:t>
            </a:r>
          </a:p>
        </p:txBody>
      </p:sp>
      <p:sp>
        <p:nvSpPr>
          <p:cNvPr id="90" name="TextBox 89"/>
          <p:cNvSpPr txBox="1"/>
          <p:nvPr/>
        </p:nvSpPr>
        <p:spPr>
          <a:xfrm>
            <a:off x="7430814" y="2075957"/>
            <a:ext cx="3922986" cy="369332"/>
          </a:xfrm>
          <a:prstGeom prst="rect">
            <a:avLst/>
          </a:prstGeom>
          <a:noFill/>
        </p:spPr>
        <p:txBody>
          <a:bodyPr wrap="square" rtlCol="0">
            <a:spAutoFit/>
          </a:bodyPr>
          <a:lstStyle/>
          <a:p>
            <a:r>
              <a:rPr lang="en-US" dirty="0"/>
              <a:t>How many defenders would suffice?</a:t>
            </a:r>
          </a:p>
        </p:txBody>
      </p:sp>
    </p:spTree>
    <p:extLst>
      <p:ext uri="{BB962C8B-B14F-4D97-AF65-F5344CB8AC3E}">
        <p14:creationId xmlns:p14="http://schemas.microsoft.com/office/powerpoint/2010/main" val="358277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Vertex Cover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Vertex Cover: </a:t>
                </a:r>
              </a:p>
              <a:p>
                <a:pPr lvl="1"/>
                <a14:m>
                  <m:oMath xmlns:m="http://schemas.openxmlformats.org/officeDocument/2006/math">
                    <m:r>
                      <a:rPr lang="en-US" b="0" i="1" smtClean="0">
                        <a:latin typeface="Cambria Math"/>
                      </a:rPr>
                      <m:t>𝐶</m:t>
                    </m:r>
                    <m:r>
                      <a:rPr lang="en-US" b="0" i="1" smtClean="0">
                        <a:latin typeface="Cambria Math"/>
                      </a:rPr>
                      <m:t>⊆</m:t>
                    </m:r>
                    <m:r>
                      <a:rPr lang="en-US" b="0" i="1" smtClean="0">
                        <a:latin typeface="Cambria Math"/>
                      </a:rPr>
                      <m:t>𝑉</m:t>
                    </m:r>
                  </m:oMath>
                </a14:m>
                <a:r>
                  <a:rPr lang="en-US" dirty="0"/>
                  <a:t> is a vertex cover if every edge in </a:t>
                </a:r>
                <a14:m>
                  <m:oMath xmlns:m="http://schemas.openxmlformats.org/officeDocument/2006/math">
                    <m:r>
                      <a:rPr lang="en-US" b="0" i="1" smtClean="0">
                        <a:latin typeface="Cambria Math"/>
                      </a:rPr>
                      <m:t>𝐸</m:t>
                    </m:r>
                  </m:oMath>
                </a14:m>
                <a:r>
                  <a:rPr lang="en-US" dirty="0"/>
                  <a:t> has one of its endpoints in </a:t>
                </a:r>
                <a14:m>
                  <m:oMath xmlns:m="http://schemas.openxmlformats.org/officeDocument/2006/math">
                    <m:r>
                      <a:rPr lang="en-US" b="0" i="1" smtClean="0">
                        <a:latin typeface="Cambria Math"/>
                      </a:rPr>
                      <m:t>𝐶</m:t>
                    </m:r>
                  </m:oMath>
                </a14:m>
                <a:endParaRPr lang="en-US" dirty="0"/>
              </a:p>
              <a:p>
                <a:r>
                  <a:rPr lang="en-US" dirty="0"/>
                  <a:t>Vertex Cover Problem: </a:t>
                </a:r>
              </a:p>
              <a:p>
                <a:pPr lvl="1"/>
                <a:r>
                  <a:rPr lang="en-US" dirty="0"/>
                  <a:t>Given a graph </a:t>
                </a:r>
                <a14:m>
                  <m:oMath xmlns:m="http://schemas.openxmlformats.org/officeDocument/2006/math">
                    <m:r>
                      <a:rPr lang="en-US" b="0" i="1" smtClean="0">
                        <a:latin typeface="Cambria Math"/>
                      </a:rPr>
                      <m:t>𝐺</m:t>
                    </m:r>
                    <m:r>
                      <a:rPr lang="en-US" b="0" i="1" smtClean="0">
                        <a:latin typeface="Cambria Math"/>
                      </a:rPr>
                      <m:t>=(</m:t>
                    </m:r>
                    <m:r>
                      <a:rPr lang="en-US" b="0" i="1" smtClean="0">
                        <a:latin typeface="Cambria Math"/>
                      </a:rPr>
                      <m:t>𝑉</m:t>
                    </m:r>
                    <m:r>
                      <a:rPr lang="en-US" b="0" i="1" smtClean="0">
                        <a:latin typeface="Cambria Math"/>
                      </a:rPr>
                      <m:t>,</m:t>
                    </m:r>
                    <m:r>
                      <a:rPr lang="en-US" b="0" i="1" smtClean="0">
                        <a:latin typeface="Cambria Math"/>
                      </a:rPr>
                      <m:t>𝐸</m:t>
                    </m:r>
                    <m:r>
                      <a:rPr lang="en-US" b="0" i="1" smtClean="0">
                        <a:latin typeface="Cambria Math"/>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r>
                  <a:rPr lang="en-US" dirty="0"/>
                  <a:t>, determine if there is a vertex cover </a:t>
                </a:r>
                <a14:m>
                  <m:oMath xmlns:m="http://schemas.openxmlformats.org/officeDocument/2006/math">
                    <m:r>
                      <a:rPr lang="en-US" b="0" i="1" smtClean="0">
                        <a:latin typeface="Cambria Math"/>
                      </a:rPr>
                      <m:t>𝐶</m:t>
                    </m:r>
                  </m:oMath>
                </a14:m>
                <a:r>
                  <a:rPr lang="en-US" dirty="0"/>
                  <a:t> of size </a:t>
                </a:r>
                <a14:m>
                  <m:oMath xmlns:m="http://schemas.openxmlformats.org/officeDocument/2006/math">
                    <m:r>
                      <a:rPr lang="en-US" b="0" i="1" smtClean="0">
                        <a:latin typeface="Cambria Math" panose="02040503050406030204" pitchFamily="18" charset="0"/>
                      </a:rPr>
                      <m:t>𝑘</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fld id="{86BADE50-950A-4D58-BFB2-FA2C6A8B385D}" type="slidenum">
              <a:rPr lang="en-US" smtClean="0"/>
              <a:t>9</a:t>
            </a:fld>
            <a:endParaRPr lang="en-US"/>
          </a:p>
        </p:txBody>
      </p:sp>
    </p:spTree>
    <p:extLst>
      <p:ext uri="{BB962C8B-B14F-4D97-AF65-F5344CB8AC3E}">
        <p14:creationId xmlns:p14="http://schemas.microsoft.com/office/powerpoint/2010/main" val="2106859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Transforming an IS into a VC</a:t>
            </a:r>
          </a:p>
        </p:txBody>
      </p:sp>
      <mc:AlternateContent xmlns:mc="http://schemas.openxmlformats.org/markup-compatibility/2006" xmlns:a14="http://schemas.microsoft.com/office/drawing/2010/main">
        <mc:Choice Requires="a14">
          <p:sp>
            <p:nvSpPr>
              <p:cNvPr id="70" name="Content Placeholder 2"/>
              <p:cNvSpPr>
                <a:spLocks noGrp="1"/>
              </p:cNvSpPr>
              <p:nvPr>
                <p:ph idx="1"/>
              </p:nvPr>
            </p:nvSpPr>
            <p:spPr>
              <a:xfrm>
                <a:off x="1524000" y="1580483"/>
                <a:ext cx="9144000" cy="609600"/>
              </a:xfrm>
            </p:spPr>
            <p:txBody>
              <a:bodyPr>
                <a:noAutofit/>
              </a:bodyPr>
              <a:lstStyle/>
              <a:p>
                <a:pPr marL="0" indent="0">
                  <a:buNone/>
                </a:pPr>
                <a14:m>
                  <m:oMath xmlns:m="http://schemas.openxmlformats.org/officeDocument/2006/math">
                    <m:r>
                      <a:rPr lang="en-US" sz="2900" i="1">
                        <a:latin typeface="Cambria Math"/>
                      </a:rPr>
                      <m:t>𝑆</m:t>
                    </m:r>
                  </m:oMath>
                </a14:m>
                <a:r>
                  <a:rPr lang="en-US" sz="2900" dirty="0"/>
                  <a:t> is an independent set of </a:t>
                </a:r>
                <a14:m>
                  <m:oMath xmlns:m="http://schemas.openxmlformats.org/officeDocument/2006/math">
                    <m:r>
                      <a:rPr lang="en-US" sz="2900" i="1">
                        <a:latin typeface="Cambria Math"/>
                      </a:rPr>
                      <m:t>𝐺</m:t>
                    </m:r>
                  </m:oMath>
                </a14:m>
                <a:r>
                  <a:rPr lang="en-US" sz="2900" dirty="0"/>
                  <a:t> </a:t>
                </a:r>
                <a:r>
                  <a:rPr lang="en-US" sz="2900" dirty="0" err="1"/>
                  <a:t>iff</a:t>
                </a:r>
                <a:r>
                  <a:rPr lang="en-US" sz="2900" dirty="0"/>
                  <a:t> </a:t>
                </a:r>
                <a14:m>
                  <m:oMath xmlns:m="http://schemas.openxmlformats.org/officeDocument/2006/math">
                    <m:r>
                      <a:rPr lang="en-US" sz="2900" i="1">
                        <a:latin typeface="Cambria Math"/>
                      </a:rPr>
                      <m:t>𝑉</m:t>
                    </m:r>
                    <m:r>
                      <a:rPr lang="en-US" sz="2900" i="1">
                        <a:latin typeface="Cambria Math"/>
                      </a:rPr>
                      <m:t>−</m:t>
                    </m:r>
                    <m:r>
                      <a:rPr lang="en-US" sz="2900" i="1">
                        <a:latin typeface="Cambria Math"/>
                      </a:rPr>
                      <m:t>𝑆</m:t>
                    </m:r>
                  </m:oMath>
                </a14:m>
                <a:r>
                  <a:rPr lang="en-US" sz="2900" dirty="0"/>
                  <a:t> is a vertex cover of </a:t>
                </a:r>
                <a14:m>
                  <m:oMath xmlns:m="http://schemas.openxmlformats.org/officeDocument/2006/math">
                    <m:r>
                      <a:rPr lang="en-US" sz="2900" i="1">
                        <a:latin typeface="Cambria Math"/>
                      </a:rPr>
                      <m:t>𝐺</m:t>
                    </m:r>
                  </m:oMath>
                </a14:m>
                <a:endParaRPr lang="en-US" sz="2900" dirty="0"/>
              </a:p>
            </p:txBody>
          </p:sp>
        </mc:Choice>
        <mc:Fallback xmlns="">
          <p:sp>
            <p:nvSpPr>
              <p:cNvPr id="70" name="Content Placeholder 2"/>
              <p:cNvSpPr>
                <a:spLocks noGrp="1" noRot="1" noChangeAspect="1" noMove="1" noResize="1" noEditPoints="1" noAdjustHandles="1" noChangeArrowheads="1" noChangeShapeType="1" noTextEdit="1"/>
              </p:cNvSpPr>
              <p:nvPr>
                <p:ph idx="1"/>
              </p:nvPr>
            </p:nvSpPr>
            <p:spPr>
              <a:xfrm>
                <a:off x="1524000" y="1580483"/>
                <a:ext cx="9144000" cy="609600"/>
              </a:xfrm>
              <a:blipFill>
                <a:blip r:embed="rId2"/>
                <a:stretch>
                  <a:fillRect t="-18000" b="-9000"/>
                </a:stretch>
              </a:blipFill>
            </p:spPr>
            <p:txBody>
              <a:bodyPr/>
              <a:lstStyle/>
              <a:p>
                <a:r>
                  <a:rPr lang="en-US">
                    <a:noFill/>
                  </a:rPr>
                  <a:t> </a:t>
                </a:r>
              </a:p>
            </p:txBody>
          </p:sp>
        </mc:Fallback>
      </mc:AlternateContent>
      <p:grpSp>
        <p:nvGrpSpPr>
          <p:cNvPr id="3" name="Group 2" descr="Consider an independent set">
            <a:extLst>
              <a:ext uri="{FF2B5EF4-FFF2-40B4-BE49-F238E27FC236}">
                <a16:creationId xmlns:a16="http://schemas.microsoft.com/office/drawing/2014/main" id="{BCDE5919-D49A-C864-2DAE-CE0FB603A420}"/>
              </a:ext>
            </a:extLst>
          </p:cNvPr>
          <p:cNvGrpSpPr/>
          <p:nvPr/>
        </p:nvGrpSpPr>
        <p:grpSpPr>
          <a:xfrm>
            <a:off x="1099871" y="2769693"/>
            <a:ext cx="4342564" cy="3289413"/>
            <a:chOff x="1099871" y="2769693"/>
            <a:chExt cx="4342564" cy="3289413"/>
          </a:xfrm>
        </p:grpSpPr>
        <p:sp>
          <p:nvSpPr>
            <p:cNvPr id="68" name="TextBox 67"/>
            <p:cNvSpPr txBox="1"/>
            <p:nvPr/>
          </p:nvSpPr>
          <p:spPr>
            <a:xfrm>
              <a:off x="2130771" y="2769693"/>
              <a:ext cx="1744260" cy="369332"/>
            </a:xfrm>
            <a:prstGeom prst="rect">
              <a:avLst/>
            </a:prstGeom>
            <a:noFill/>
          </p:spPr>
          <p:txBody>
            <a:bodyPr wrap="none" rtlCol="0">
              <a:spAutoFit/>
            </a:bodyPr>
            <a:lstStyle/>
            <a:p>
              <a:r>
                <a:rPr lang="en-US" dirty="0"/>
                <a:t>Independent Set</a:t>
              </a:r>
            </a:p>
          </p:txBody>
        </p:sp>
        <p:grpSp>
          <p:nvGrpSpPr>
            <p:cNvPr id="6" name="Group 5">
              <a:extLst>
                <a:ext uri="{FF2B5EF4-FFF2-40B4-BE49-F238E27FC236}">
                  <a16:creationId xmlns:a16="http://schemas.microsoft.com/office/drawing/2014/main" id="{A42B52AD-68C2-E41F-0CE5-8299DA5ED942}"/>
                </a:ext>
              </a:extLst>
            </p:cNvPr>
            <p:cNvGrpSpPr/>
            <p:nvPr/>
          </p:nvGrpSpPr>
          <p:grpSpPr>
            <a:xfrm>
              <a:off x="1099871" y="2906046"/>
              <a:ext cx="4342564" cy="3153060"/>
              <a:chOff x="1650264" y="617538"/>
              <a:chExt cx="8281702" cy="6013200"/>
            </a:xfrm>
          </p:grpSpPr>
          <p:sp>
            <p:nvSpPr>
              <p:cNvPr id="7" name="AutoShape 30" descr="Image result for Aaron Bloomfield">
                <a:extLst>
                  <a:ext uri="{FF2B5EF4-FFF2-40B4-BE49-F238E27FC236}">
                    <a16:creationId xmlns:a16="http://schemas.microsoft.com/office/drawing/2014/main" id="{C5543DD9-6B9E-E2E5-D870-E800E7EDB505}"/>
                  </a:ext>
                </a:extLst>
              </p:cNvPr>
              <p:cNvSpPr>
                <a:spLocks noChangeAspect="1" noChangeArrowheads="1"/>
              </p:cNvSpPr>
              <p:nvPr/>
            </p:nvSpPr>
            <p:spPr bwMode="auto">
              <a:xfrm>
                <a:off x="2441575" y="6175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 name="Group 7">
                <a:extLst>
                  <a:ext uri="{FF2B5EF4-FFF2-40B4-BE49-F238E27FC236}">
                    <a16:creationId xmlns:a16="http://schemas.microsoft.com/office/drawing/2014/main" id="{1C0C1BE0-6752-B7FA-045B-C6D026D83C27}"/>
                  </a:ext>
                </a:extLst>
              </p:cNvPr>
              <p:cNvGrpSpPr/>
              <p:nvPr/>
            </p:nvGrpSpPr>
            <p:grpSpPr>
              <a:xfrm>
                <a:off x="1650264" y="1218142"/>
                <a:ext cx="8281702" cy="4725458"/>
                <a:chOff x="1650264" y="1218142"/>
                <a:chExt cx="8281702" cy="4725458"/>
              </a:xfrm>
            </p:grpSpPr>
            <p:sp>
              <p:nvSpPr>
                <p:cNvPr id="93" name="Oval 92">
                  <a:extLst>
                    <a:ext uri="{FF2B5EF4-FFF2-40B4-BE49-F238E27FC236}">
                      <a16:creationId xmlns:a16="http://schemas.microsoft.com/office/drawing/2014/main" id="{1AD892A0-1E87-9FDA-BB48-F676C03BDAA0}"/>
                    </a:ext>
                  </a:extLst>
                </p:cNvPr>
                <p:cNvSpPr/>
                <p:nvPr/>
              </p:nvSpPr>
              <p:spPr>
                <a:xfrm>
                  <a:off x="1650264" y="1218142"/>
                  <a:ext cx="1193396" cy="108513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451BE010-FDE8-0CB4-812A-815C2FD4E7CE}"/>
                    </a:ext>
                  </a:extLst>
                </p:cNvPr>
                <p:cNvSpPr/>
                <p:nvPr/>
              </p:nvSpPr>
              <p:spPr>
                <a:xfrm>
                  <a:off x="1930334" y="2389557"/>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6A9DA938-2FFE-7805-9612-93F370F8068D}"/>
                    </a:ext>
                  </a:extLst>
                </p:cNvPr>
                <p:cNvSpPr/>
                <p:nvPr/>
              </p:nvSpPr>
              <p:spPr>
                <a:xfrm>
                  <a:off x="3658898" y="3089427"/>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A8DE12D-D05E-C221-4AF5-EA83FC29375B}"/>
                    </a:ext>
                  </a:extLst>
                </p:cNvPr>
                <p:cNvSpPr/>
                <p:nvPr/>
              </p:nvSpPr>
              <p:spPr>
                <a:xfrm>
                  <a:off x="4495800" y="4605706"/>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B9A205B8-E7AB-154E-52A7-06CBDDF60B9D}"/>
                    </a:ext>
                  </a:extLst>
                </p:cNvPr>
                <p:cNvSpPr/>
                <p:nvPr/>
              </p:nvSpPr>
              <p:spPr>
                <a:xfrm>
                  <a:off x="8660959" y="3575103"/>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B2176A2C-77C3-CEF5-932A-BEBCBBDBD5D4}"/>
                    </a:ext>
                  </a:extLst>
                </p:cNvPr>
                <p:cNvSpPr/>
                <p:nvPr/>
              </p:nvSpPr>
              <p:spPr>
                <a:xfrm>
                  <a:off x="2593975" y="3638669"/>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3347816A-4C81-5F58-1690-898778670A70}"/>
                  </a:ext>
                </a:extLst>
              </p:cNvPr>
              <p:cNvGrpSpPr/>
              <p:nvPr/>
            </p:nvGrpSpPr>
            <p:grpSpPr>
              <a:xfrm>
                <a:off x="1822926" y="1377631"/>
                <a:ext cx="7796089" cy="5253107"/>
                <a:chOff x="1822926" y="1377631"/>
                <a:chExt cx="7796089" cy="5253107"/>
              </a:xfrm>
            </p:grpSpPr>
            <p:pic>
              <p:nvPicPr>
                <p:cNvPr id="15" name="Picture 2" descr="Image result for Prince Harry">
                  <a:extLst>
                    <a:ext uri="{FF2B5EF4-FFF2-40B4-BE49-F238E27FC236}">
                      <a16:creationId xmlns:a16="http://schemas.microsoft.com/office/drawing/2014/main" id="{881C7F31-F39B-F825-3571-BC133A3F4C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 descr="Image result for meghan markle">
                  <a:extLst>
                    <a:ext uri="{FF2B5EF4-FFF2-40B4-BE49-F238E27FC236}">
                      <a16:creationId xmlns:a16="http://schemas.microsoft.com/office/drawing/2014/main" id="{40CA53AC-3357-BF95-B956-02311961D9C3}"/>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6" descr="Image result for Prince Charles">
                  <a:extLst>
                    <a:ext uri="{FF2B5EF4-FFF2-40B4-BE49-F238E27FC236}">
                      <a16:creationId xmlns:a16="http://schemas.microsoft.com/office/drawing/2014/main" id="{14EEB96F-8510-611F-58A4-9FE6F8CF6AF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18" descr="Image result for justin trudeau">
                  <a:extLst>
                    <a:ext uri="{FF2B5EF4-FFF2-40B4-BE49-F238E27FC236}">
                      <a16:creationId xmlns:a16="http://schemas.microsoft.com/office/drawing/2014/main" id="{411354CB-79B6-8CB4-5EBB-378ED1CE823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0" descr="Image result for Elton John">
                  <a:extLst>
                    <a:ext uri="{FF2B5EF4-FFF2-40B4-BE49-F238E27FC236}">
                      <a16:creationId xmlns:a16="http://schemas.microsoft.com/office/drawing/2014/main" id="{206BECB5-B6A3-F3BA-5D3C-CC2B5C40FE70}"/>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34" descr="Image result for angela merkel">
                  <a:extLst>
                    <a:ext uri="{FF2B5EF4-FFF2-40B4-BE49-F238E27FC236}">
                      <a16:creationId xmlns:a16="http://schemas.microsoft.com/office/drawing/2014/main" id="{E5061DD0-0474-AFD7-F2FB-940EA107C88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36" descr="Image result for paul mccartney">
                  <a:extLst>
                    <a:ext uri="{FF2B5EF4-FFF2-40B4-BE49-F238E27FC236}">
                      <a16:creationId xmlns:a16="http://schemas.microsoft.com/office/drawing/2014/main" id="{C7558E52-426A-E74F-5EE8-EE40E948D7B0}"/>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78" name="Straight Connector 77">
                  <a:extLst>
                    <a:ext uri="{FF2B5EF4-FFF2-40B4-BE49-F238E27FC236}">
                      <a16:creationId xmlns:a16="http://schemas.microsoft.com/office/drawing/2014/main" id="{CE4639A0-99DC-9503-4FD3-4AC1D8BDB346}"/>
                    </a:ext>
                  </a:extLst>
                </p:cNvPr>
                <p:cNvCxnSpPr>
                  <a:stCxn id="44"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8FD8247D-DA81-6335-4106-24FED5C9D968}"/>
                    </a:ext>
                  </a:extLst>
                </p:cNvPr>
                <p:cNvCxnSpPr>
                  <a:stCxn id="15" idx="3"/>
                  <a:endCxn id="77"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74FFC2B7-E5A7-CB0B-6E96-EE34EDB824BC}"/>
                    </a:ext>
                  </a:extLst>
                </p:cNvPr>
                <p:cNvCxnSpPr>
                  <a:stCxn id="73" idx="1"/>
                  <a:endCxn id="77"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B2E0F8CF-1675-633A-2ABC-1014DE46EBBD}"/>
                    </a:ext>
                  </a:extLst>
                </p:cNvPr>
                <p:cNvCxnSpPr>
                  <a:stCxn id="73"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0DCF8906-21F0-6C3A-BB41-4CDA0AAE7216}"/>
                    </a:ext>
                  </a:extLst>
                </p:cNvPr>
                <p:cNvCxnSpPr>
                  <a:stCxn id="73" idx="1"/>
                  <a:endCxn id="75"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F81AB2E3-5341-70D1-1AB6-35746D0D6181}"/>
                    </a:ext>
                  </a:extLst>
                </p:cNvPr>
                <p:cNvCxnSpPr>
                  <a:stCxn id="73" idx="1"/>
                  <a:endCxn id="74"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E54DF98B-0CD1-E81C-2789-ACB6BC13DBD8}"/>
                    </a:ext>
                  </a:extLst>
                </p:cNvPr>
                <p:cNvCxnSpPr>
                  <a:stCxn id="74" idx="1"/>
                </p:cNvCxnSpPr>
                <p:nvPr/>
              </p:nvCxnSpPr>
              <p:spPr>
                <a:xfrm flipH="1" flipV="1">
                  <a:off x="2565838" y="5714723"/>
                  <a:ext cx="5437606" cy="49128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CD43BD84-F65D-53BE-E645-671438C90F5A}"/>
                    </a:ext>
                  </a:extLst>
                </p:cNvPr>
                <p:cNvCxnSpPr>
                  <a:stCxn id="75" idx="1"/>
                  <a:endCxn id="76"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F8EBFB0-7B69-1B9D-FF7E-D2F53282EEA3}"/>
                    </a:ext>
                  </a:extLst>
                </p:cNvPr>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87" name="Picture 2" descr="Joe Biden - CNBC">
                  <a:extLst>
                    <a:ext uri="{FF2B5EF4-FFF2-40B4-BE49-F238E27FC236}">
                      <a16:creationId xmlns:a16="http://schemas.microsoft.com/office/drawing/2014/main" id="{A7AB5D2B-E376-B2EA-671D-4C0CA17A22C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4" descr="Emmanuel Macron - Wikipedia">
                  <a:extLst>
                    <a:ext uri="{FF2B5EF4-FFF2-40B4-BE49-F238E27FC236}">
                      <a16:creationId xmlns:a16="http://schemas.microsoft.com/office/drawing/2014/main" id="{61469563-8473-2F5A-5E45-22DD27A9E360}"/>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6" descr="Taylor Swift set to make her feature directorial debut | CNN">
                  <a:extLst>
                    <a:ext uri="{FF2B5EF4-FFF2-40B4-BE49-F238E27FC236}">
                      <a16:creationId xmlns:a16="http://schemas.microsoft.com/office/drawing/2014/main" id="{5841C183-EF5D-0D27-339B-65B5951BD4A1}"/>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90" name="Straight Connector 89">
                  <a:extLst>
                    <a:ext uri="{FF2B5EF4-FFF2-40B4-BE49-F238E27FC236}">
                      <a16:creationId xmlns:a16="http://schemas.microsoft.com/office/drawing/2014/main" id="{BE663900-92CD-1A52-020B-BF0525AF3FB8}"/>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91" name="Picture 8" descr="Ed Sheeran">
                  <a:extLst>
                    <a:ext uri="{FF2B5EF4-FFF2-40B4-BE49-F238E27FC236}">
                      <a16:creationId xmlns:a16="http://schemas.microsoft.com/office/drawing/2014/main" id="{6487516E-48D6-8883-33CE-2094B7E3B5E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10" descr="Pharrell Williams - Age, Wife &amp; &quot;Happy&quot;">
                  <a:extLst>
                    <a:ext uri="{FF2B5EF4-FFF2-40B4-BE49-F238E27FC236}">
                      <a16:creationId xmlns:a16="http://schemas.microsoft.com/office/drawing/2014/main" id="{AC0A8FE5-06B6-4700-A2C2-AB3F060D919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10" name="Group 9" descr="The complement of that independent set (the set of all unselected nodes) is a vertex cover.">
            <a:extLst>
              <a:ext uri="{FF2B5EF4-FFF2-40B4-BE49-F238E27FC236}">
                <a16:creationId xmlns:a16="http://schemas.microsoft.com/office/drawing/2014/main" id="{0BC57B8C-F353-47C7-E4DD-8E49BD313731}"/>
              </a:ext>
            </a:extLst>
          </p:cNvPr>
          <p:cNvGrpSpPr/>
          <p:nvPr/>
        </p:nvGrpSpPr>
        <p:grpSpPr>
          <a:xfrm>
            <a:off x="6286983" y="2922093"/>
            <a:ext cx="4216112" cy="3482465"/>
            <a:chOff x="6286983" y="2922093"/>
            <a:chExt cx="4216112" cy="3482465"/>
          </a:xfrm>
        </p:grpSpPr>
        <p:grpSp>
          <p:nvGrpSpPr>
            <p:cNvPr id="5" name="Group 4">
              <a:extLst>
                <a:ext uri="{FF2B5EF4-FFF2-40B4-BE49-F238E27FC236}">
                  <a16:creationId xmlns:a16="http://schemas.microsoft.com/office/drawing/2014/main" id="{2102160C-597D-4901-BA01-37E73A1E7D77}"/>
                </a:ext>
              </a:extLst>
            </p:cNvPr>
            <p:cNvGrpSpPr/>
            <p:nvPr/>
          </p:nvGrpSpPr>
          <p:grpSpPr>
            <a:xfrm>
              <a:off x="6286983" y="2922093"/>
              <a:ext cx="4216112" cy="3354671"/>
              <a:chOff x="6286983" y="2922093"/>
              <a:chExt cx="4216112" cy="3354671"/>
            </a:xfrm>
          </p:grpSpPr>
          <p:sp>
            <p:nvSpPr>
              <p:cNvPr id="69" name="TextBox 68"/>
              <p:cNvSpPr txBox="1"/>
              <p:nvPr/>
            </p:nvSpPr>
            <p:spPr>
              <a:xfrm>
                <a:off x="7183471" y="2922093"/>
                <a:ext cx="1380634" cy="369332"/>
              </a:xfrm>
              <a:prstGeom prst="rect">
                <a:avLst/>
              </a:prstGeom>
              <a:noFill/>
            </p:spPr>
            <p:txBody>
              <a:bodyPr wrap="none" rtlCol="0">
                <a:spAutoFit/>
              </a:bodyPr>
              <a:lstStyle/>
              <a:p>
                <a:r>
                  <a:rPr lang="en-US" dirty="0"/>
                  <a:t>Vertex Cover</a:t>
                </a:r>
              </a:p>
            </p:txBody>
          </p:sp>
          <p:grpSp>
            <p:nvGrpSpPr>
              <p:cNvPr id="99" name="Group 98">
                <a:extLst>
                  <a:ext uri="{FF2B5EF4-FFF2-40B4-BE49-F238E27FC236}">
                    <a16:creationId xmlns:a16="http://schemas.microsoft.com/office/drawing/2014/main" id="{182D98A0-3D23-6F5D-22BA-4B115BE23B1F}"/>
                  </a:ext>
                </a:extLst>
              </p:cNvPr>
              <p:cNvGrpSpPr/>
              <p:nvPr/>
            </p:nvGrpSpPr>
            <p:grpSpPr>
              <a:xfrm>
                <a:off x="6286983" y="3123704"/>
                <a:ext cx="4216112" cy="3153060"/>
                <a:chOff x="1578468" y="617538"/>
                <a:chExt cx="8040547" cy="6013200"/>
              </a:xfrm>
            </p:grpSpPr>
            <p:sp>
              <p:nvSpPr>
                <p:cNvPr id="100" name="AutoShape 30" descr="Image result for Aaron Bloomfield">
                  <a:extLst>
                    <a:ext uri="{FF2B5EF4-FFF2-40B4-BE49-F238E27FC236}">
                      <a16:creationId xmlns:a16="http://schemas.microsoft.com/office/drawing/2014/main" id="{F09A3823-DFF2-62AD-30B1-486CC90F210C}"/>
                    </a:ext>
                  </a:extLst>
                </p:cNvPr>
                <p:cNvSpPr>
                  <a:spLocks noChangeAspect="1" noChangeArrowheads="1"/>
                </p:cNvSpPr>
                <p:nvPr/>
              </p:nvSpPr>
              <p:spPr bwMode="auto">
                <a:xfrm>
                  <a:off x="2441575" y="6175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3F6A45F4-1CD4-6AFE-F8E4-79159D2A5078}"/>
                    </a:ext>
                  </a:extLst>
                </p:cNvPr>
                <p:cNvGrpSpPr/>
                <p:nvPr/>
              </p:nvGrpSpPr>
              <p:grpSpPr>
                <a:xfrm>
                  <a:off x="1578468" y="1353774"/>
                  <a:ext cx="7153677" cy="5007580"/>
                  <a:chOff x="1578468" y="1353774"/>
                  <a:chExt cx="7153677" cy="5007580"/>
                </a:xfrm>
              </p:grpSpPr>
              <p:sp>
                <p:nvSpPr>
                  <p:cNvPr id="125" name="Oval 124">
                    <a:extLst>
                      <a:ext uri="{FF2B5EF4-FFF2-40B4-BE49-F238E27FC236}">
                        <a16:creationId xmlns:a16="http://schemas.microsoft.com/office/drawing/2014/main" id="{015710C6-CD58-728D-EF2D-157091A2DE7D}"/>
                      </a:ext>
                    </a:extLst>
                  </p:cNvPr>
                  <p:cNvSpPr/>
                  <p:nvPr/>
                </p:nvSpPr>
                <p:spPr>
                  <a:xfrm>
                    <a:off x="2909710" y="1353774"/>
                    <a:ext cx="1193396" cy="108513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7C959032-6BDC-4B2C-9EEE-262B6883E76E}"/>
                      </a:ext>
                    </a:extLst>
                  </p:cNvPr>
                  <p:cNvSpPr/>
                  <p:nvPr/>
                </p:nvSpPr>
                <p:spPr>
                  <a:xfrm>
                    <a:off x="1578468" y="5023461"/>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2AC7C72E-8AF3-7F28-A398-C485B2305412}"/>
                      </a:ext>
                    </a:extLst>
                  </p:cNvPr>
                  <p:cNvSpPr/>
                  <p:nvPr/>
                </p:nvSpPr>
                <p:spPr>
                  <a:xfrm>
                    <a:off x="5615301" y="3533718"/>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5C741BC5-1C3A-1828-49DC-4508F69A98C0}"/>
                      </a:ext>
                    </a:extLst>
                  </p:cNvPr>
                  <p:cNvSpPr/>
                  <p:nvPr/>
                </p:nvSpPr>
                <p:spPr>
                  <a:xfrm>
                    <a:off x="7461137" y="2378613"/>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62560867-C322-594C-4365-5042EC8BBD04}"/>
                      </a:ext>
                    </a:extLst>
                  </p:cNvPr>
                  <p:cNvSpPr/>
                  <p:nvPr/>
                </p:nvSpPr>
                <p:spPr>
                  <a:xfrm>
                    <a:off x="6755398" y="4411534"/>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a:extLst>
                    <a:ext uri="{FF2B5EF4-FFF2-40B4-BE49-F238E27FC236}">
                      <a16:creationId xmlns:a16="http://schemas.microsoft.com/office/drawing/2014/main" id="{4575472B-4B43-4333-6238-FCEBA04DD50E}"/>
                    </a:ext>
                  </a:extLst>
                </p:cNvPr>
                <p:cNvGrpSpPr/>
                <p:nvPr/>
              </p:nvGrpSpPr>
              <p:grpSpPr>
                <a:xfrm>
                  <a:off x="1822926" y="1377631"/>
                  <a:ext cx="7796089" cy="5253107"/>
                  <a:chOff x="1822926" y="1377631"/>
                  <a:chExt cx="7796089" cy="5253107"/>
                </a:xfrm>
              </p:grpSpPr>
              <p:pic>
                <p:nvPicPr>
                  <p:cNvPr id="103" name="Picture 2" descr="Image result for Prince Harry">
                    <a:extLst>
                      <a:ext uri="{FF2B5EF4-FFF2-40B4-BE49-F238E27FC236}">
                        <a16:creationId xmlns:a16="http://schemas.microsoft.com/office/drawing/2014/main" id="{087E9D34-AEA9-D00D-4025-F5C4E639F7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3"/>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4" descr="Image result for meghan markle">
                    <a:extLst>
                      <a:ext uri="{FF2B5EF4-FFF2-40B4-BE49-F238E27FC236}">
                        <a16:creationId xmlns:a16="http://schemas.microsoft.com/office/drawing/2014/main" id="{AE829FE8-3E6D-E98B-6C29-4E1D09634995}"/>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6" descr="Image result for Prince Charles">
                    <a:extLst>
                      <a:ext uri="{FF2B5EF4-FFF2-40B4-BE49-F238E27FC236}">
                        <a16:creationId xmlns:a16="http://schemas.microsoft.com/office/drawing/2014/main" id="{BD16CC4C-84B9-B31D-9D21-BCD0BF95BB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18" descr="Image result for justin trudeau">
                    <a:extLst>
                      <a:ext uri="{FF2B5EF4-FFF2-40B4-BE49-F238E27FC236}">
                        <a16:creationId xmlns:a16="http://schemas.microsoft.com/office/drawing/2014/main" id="{042618E1-BC28-4D07-C094-BEB7AD12A95E}"/>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0" descr="Image result for Elton John">
                    <a:extLst>
                      <a:ext uri="{FF2B5EF4-FFF2-40B4-BE49-F238E27FC236}">
                        <a16:creationId xmlns:a16="http://schemas.microsoft.com/office/drawing/2014/main" id="{B2E217D2-04F9-A76D-7B71-5741FA155442}"/>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34" descr="Image result for angela merkel">
                    <a:extLst>
                      <a:ext uri="{FF2B5EF4-FFF2-40B4-BE49-F238E27FC236}">
                        <a16:creationId xmlns:a16="http://schemas.microsoft.com/office/drawing/2014/main" id="{D4139B12-D505-DA27-0281-6C5DEFAF9E8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36" descr="Image result for paul mccartney">
                    <a:extLst>
                      <a:ext uri="{FF2B5EF4-FFF2-40B4-BE49-F238E27FC236}">
                        <a16:creationId xmlns:a16="http://schemas.microsoft.com/office/drawing/2014/main" id="{BFB52D9D-F25C-CEDE-4477-E2FEB87BE433}"/>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110" name="Straight Connector 109">
                    <a:extLst>
                      <a:ext uri="{FF2B5EF4-FFF2-40B4-BE49-F238E27FC236}">
                        <a16:creationId xmlns:a16="http://schemas.microsoft.com/office/drawing/2014/main" id="{E85A3CA1-1481-6C2A-2457-0803C69AF57F}"/>
                      </a:ext>
                    </a:extLst>
                  </p:cNvPr>
                  <p:cNvCxnSpPr>
                    <a:stCxn id="104"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F84ED2D-4D03-04CE-DA21-330988BB980F}"/>
                      </a:ext>
                    </a:extLst>
                  </p:cNvPr>
                  <p:cNvCxnSpPr>
                    <a:stCxn id="103" idx="3"/>
                    <a:endCxn id="109"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C1E35291-882C-79C0-026F-9B58CA6A2E3E}"/>
                      </a:ext>
                    </a:extLst>
                  </p:cNvPr>
                  <p:cNvCxnSpPr>
                    <a:stCxn id="105" idx="1"/>
                    <a:endCxn id="109"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03C0C4-5D34-A9B0-095F-64DA99D3A4F6}"/>
                      </a:ext>
                    </a:extLst>
                  </p:cNvPr>
                  <p:cNvCxnSpPr>
                    <a:stCxn id="105"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B5FE8A7B-3307-E734-D86B-FC873F04B11B}"/>
                      </a:ext>
                    </a:extLst>
                  </p:cNvPr>
                  <p:cNvCxnSpPr>
                    <a:stCxn id="105" idx="1"/>
                    <a:endCxn id="107"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7A7E4D3C-34B3-F229-D356-6C1C807875CD}"/>
                      </a:ext>
                    </a:extLst>
                  </p:cNvPr>
                  <p:cNvCxnSpPr>
                    <a:stCxn id="105" idx="1"/>
                    <a:endCxn id="106"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0A0A2B9-51AB-18D9-DD92-A1418A64A149}"/>
                      </a:ext>
                    </a:extLst>
                  </p:cNvPr>
                  <p:cNvCxnSpPr>
                    <a:cxnSpLocks/>
                    <a:stCxn id="106" idx="1"/>
                  </p:cNvCxnSpPr>
                  <p:nvPr/>
                </p:nvCxnSpPr>
                <p:spPr>
                  <a:xfrm flipH="1" flipV="1">
                    <a:off x="2565839" y="5714724"/>
                    <a:ext cx="5437605" cy="49128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021450FD-6352-36BD-FC59-87897AD3AA33}"/>
                      </a:ext>
                    </a:extLst>
                  </p:cNvPr>
                  <p:cNvCxnSpPr>
                    <a:stCxn id="107" idx="1"/>
                    <a:endCxn id="108"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12B56EF5-C2F7-778C-3B3C-60AE78B5950D}"/>
                      </a:ext>
                    </a:extLst>
                  </p:cNvPr>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19" name="Picture 2" descr="Joe Biden - CNBC">
                    <a:extLst>
                      <a:ext uri="{FF2B5EF4-FFF2-40B4-BE49-F238E27FC236}">
                        <a16:creationId xmlns:a16="http://schemas.microsoft.com/office/drawing/2014/main" id="{47D3832A-9480-B176-1EC3-391B957454E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4" descr="Emmanuel Macron - Wikipedia">
                    <a:extLst>
                      <a:ext uri="{FF2B5EF4-FFF2-40B4-BE49-F238E27FC236}">
                        <a16:creationId xmlns:a16="http://schemas.microsoft.com/office/drawing/2014/main" id="{A9B4AD52-A8F0-801F-0FFA-D2480794444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121" name="Picture 6" descr="Taylor Swift set to make her feature directorial debut | CNN">
                    <a:extLst>
                      <a:ext uri="{FF2B5EF4-FFF2-40B4-BE49-F238E27FC236}">
                        <a16:creationId xmlns:a16="http://schemas.microsoft.com/office/drawing/2014/main" id="{04B8BCF3-A237-E31B-546C-7E6C92709333}"/>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122" name="Straight Connector 121">
                    <a:extLst>
                      <a:ext uri="{FF2B5EF4-FFF2-40B4-BE49-F238E27FC236}">
                        <a16:creationId xmlns:a16="http://schemas.microsoft.com/office/drawing/2014/main" id="{53704EFA-0E19-8871-5806-10CC41B1956B}"/>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23" name="Picture 8" descr="Ed Sheeran">
                    <a:extLst>
                      <a:ext uri="{FF2B5EF4-FFF2-40B4-BE49-F238E27FC236}">
                        <a16:creationId xmlns:a16="http://schemas.microsoft.com/office/drawing/2014/main" id="{F1F00C0E-C346-23A9-05D0-C7816979EE1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124" name="Picture 10" descr="Pharrell Williams - Age, Wife &amp; &quot;Happy&quot;">
                    <a:extLst>
                      <a:ext uri="{FF2B5EF4-FFF2-40B4-BE49-F238E27FC236}">
                        <a16:creationId xmlns:a16="http://schemas.microsoft.com/office/drawing/2014/main" id="{AD1CEF02-FE9C-0B57-5515-44C15A2850D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grpSp>
        </p:grpSp>
        <p:sp>
          <p:nvSpPr>
            <p:cNvPr id="132" name="Oval 131">
              <a:extLst>
                <a:ext uri="{FF2B5EF4-FFF2-40B4-BE49-F238E27FC236}">
                  <a16:creationId xmlns:a16="http://schemas.microsoft.com/office/drawing/2014/main" id="{F19EA206-8683-9260-2696-DC9073D7AE8B}"/>
                </a:ext>
              </a:extLst>
            </p:cNvPr>
            <p:cNvSpPr/>
            <p:nvPr/>
          </p:nvSpPr>
          <p:spPr>
            <a:xfrm>
              <a:off x="9461582" y="5703025"/>
              <a:ext cx="666461" cy="70153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797949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Transforming a VC into an IS</a:t>
            </a:r>
          </a:p>
        </p:txBody>
      </p:sp>
      <mc:AlternateContent xmlns:mc="http://schemas.openxmlformats.org/markup-compatibility/2006" xmlns:a14="http://schemas.microsoft.com/office/drawing/2010/main">
        <mc:Choice Requires="a14">
          <p:sp>
            <p:nvSpPr>
              <p:cNvPr id="70" name="Content Placeholder 2"/>
              <p:cNvSpPr>
                <a:spLocks noGrp="1"/>
              </p:cNvSpPr>
              <p:nvPr>
                <p:ph idx="1"/>
              </p:nvPr>
            </p:nvSpPr>
            <p:spPr>
              <a:xfrm>
                <a:off x="1524000" y="1762716"/>
                <a:ext cx="9144000" cy="609600"/>
              </a:xfrm>
            </p:spPr>
            <p:txBody>
              <a:bodyPr>
                <a:noAutofit/>
              </a:bodyPr>
              <a:lstStyle/>
              <a:p>
                <a:pPr marL="0" indent="0">
                  <a:buNone/>
                </a:pPr>
                <a14:m>
                  <m:oMath xmlns:m="http://schemas.openxmlformats.org/officeDocument/2006/math">
                    <m:r>
                      <a:rPr lang="en-US" sz="2900" i="1">
                        <a:latin typeface="Cambria Math"/>
                      </a:rPr>
                      <m:t>𝑆</m:t>
                    </m:r>
                  </m:oMath>
                </a14:m>
                <a:r>
                  <a:rPr lang="en-US" sz="2900" dirty="0"/>
                  <a:t> is an independent set of </a:t>
                </a:r>
                <a14:m>
                  <m:oMath xmlns:m="http://schemas.openxmlformats.org/officeDocument/2006/math">
                    <m:r>
                      <a:rPr lang="en-US" sz="2900" i="1">
                        <a:latin typeface="Cambria Math"/>
                      </a:rPr>
                      <m:t>𝐺</m:t>
                    </m:r>
                  </m:oMath>
                </a14:m>
                <a:r>
                  <a:rPr lang="en-US" sz="2900" dirty="0"/>
                  <a:t> </a:t>
                </a:r>
                <a:r>
                  <a:rPr lang="en-US" sz="2900" dirty="0" err="1"/>
                  <a:t>iff</a:t>
                </a:r>
                <a:r>
                  <a:rPr lang="en-US" sz="2900" dirty="0"/>
                  <a:t> </a:t>
                </a:r>
                <a14:m>
                  <m:oMath xmlns:m="http://schemas.openxmlformats.org/officeDocument/2006/math">
                    <m:r>
                      <a:rPr lang="en-US" sz="2900" i="1">
                        <a:latin typeface="Cambria Math"/>
                      </a:rPr>
                      <m:t>𝑉</m:t>
                    </m:r>
                    <m:r>
                      <a:rPr lang="en-US" sz="2900" i="1">
                        <a:latin typeface="Cambria Math"/>
                      </a:rPr>
                      <m:t>−</m:t>
                    </m:r>
                    <m:r>
                      <a:rPr lang="en-US" sz="2900" i="1">
                        <a:latin typeface="Cambria Math"/>
                      </a:rPr>
                      <m:t>𝑆</m:t>
                    </m:r>
                  </m:oMath>
                </a14:m>
                <a:r>
                  <a:rPr lang="en-US" sz="2900" dirty="0"/>
                  <a:t> is a vertex cover of </a:t>
                </a:r>
                <a14:m>
                  <m:oMath xmlns:m="http://schemas.openxmlformats.org/officeDocument/2006/math">
                    <m:r>
                      <a:rPr lang="en-US" sz="2900" i="1">
                        <a:latin typeface="Cambria Math"/>
                      </a:rPr>
                      <m:t>𝐺</m:t>
                    </m:r>
                  </m:oMath>
                </a14:m>
                <a:endParaRPr lang="en-US" sz="2900" dirty="0"/>
              </a:p>
            </p:txBody>
          </p:sp>
        </mc:Choice>
        <mc:Fallback xmlns="">
          <p:sp>
            <p:nvSpPr>
              <p:cNvPr id="70" name="Content Placeholder 2"/>
              <p:cNvSpPr>
                <a:spLocks noGrp="1" noRot="1" noChangeAspect="1" noMove="1" noResize="1" noEditPoints="1" noAdjustHandles="1" noChangeArrowheads="1" noChangeShapeType="1" noTextEdit="1"/>
              </p:cNvSpPr>
              <p:nvPr>
                <p:ph idx="1"/>
              </p:nvPr>
            </p:nvSpPr>
            <p:spPr>
              <a:xfrm>
                <a:off x="1524000" y="1762716"/>
                <a:ext cx="9144000" cy="609600"/>
              </a:xfrm>
              <a:blipFill>
                <a:blip r:embed="rId2"/>
                <a:stretch>
                  <a:fillRect t="-18000" b="-9000"/>
                </a:stretch>
              </a:blipFill>
            </p:spPr>
            <p:txBody>
              <a:bodyPr/>
              <a:lstStyle/>
              <a:p>
                <a:r>
                  <a:rPr lang="en-US">
                    <a:noFill/>
                  </a:rPr>
                  <a:t> </a:t>
                </a:r>
              </a:p>
            </p:txBody>
          </p:sp>
        </mc:Fallback>
      </mc:AlternateContent>
      <p:grpSp>
        <p:nvGrpSpPr>
          <p:cNvPr id="5" name="Group 4" descr="Consider a vertex cover">
            <a:extLst>
              <a:ext uri="{FF2B5EF4-FFF2-40B4-BE49-F238E27FC236}">
                <a16:creationId xmlns:a16="http://schemas.microsoft.com/office/drawing/2014/main" id="{7ADCCFB6-6A8B-49A9-73C3-4255C0DEB767}"/>
              </a:ext>
            </a:extLst>
          </p:cNvPr>
          <p:cNvGrpSpPr/>
          <p:nvPr/>
        </p:nvGrpSpPr>
        <p:grpSpPr>
          <a:xfrm>
            <a:off x="1708698" y="2585027"/>
            <a:ext cx="3733078" cy="3851081"/>
            <a:chOff x="1708698" y="2585027"/>
            <a:chExt cx="3733078" cy="3851081"/>
          </a:xfrm>
        </p:grpSpPr>
        <p:sp>
          <p:nvSpPr>
            <p:cNvPr id="69" name="TextBox 68"/>
            <p:cNvSpPr txBox="1"/>
            <p:nvPr/>
          </p:nvSpPr>
          <p:spPr>
            <a:xfrm>
              <a:off x="2362200" y="2585027"/>
              <a:ext cx="1380634" cy="369332"/>
            </a:xfrm>
            <a:prstGeom prst="rect">
              <a:avLst/>
            </a:prstGeom>
            <a:noFill/>
          </p:spPr>
          <p:txBody>
            <a:bodyPr wrap="none" rtlCol="0">
              <a:spAutoFit/>
            </a:bodyPr>
            <a:lstStyle/>
            <a:p>
              <a:r>
                <a:rPr lang="en-US" dirty="0"/>
                <a:t>Vertex Cover</a:t>
              </a:r>
            </a:p>
          </p:txBody>
        </p:sp>
        <p:grpSp>
          <p:nvGrpSpPr>
            <p:cNvPr id="3" name="Group 2"/>
            <p:cNvGrpSpPr/>
            <p:nvPr/>
          </p:nvGrpSpPr>
          <p:grpSpPr>
            <a:xfrm>
              <a:off x="1708698" y="3109661"/>
              <a:ext cx="3733078" cy="3326447"/>
              <a:chOff x="657225" y="1481300"/>
              <a:chExt cx="5514975" cy="4914248"/>
            </a:xfrm>
          </p:grpSpPr>
          <p:cxnSp>
            <p:nvCxnSpPr>
              <p:cNvPr id="71" name="Straight Connector 70"/>
              <p:cNvCxnSpPr>
                <a:stCxn id="86" idx="1"/>
                <a:endCxn id="88"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a:stCxn id="87" idx="2"/>
                <a:endCxn id="86"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a:stCxn id="88" idx="1"/>
                <a:endCxn id="87"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a:stCxn id="91" idx="2"/>
                <a:endCxn id="87"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a:stCxn id="91" idx="3"/>
                <a:endCxn id="92"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a:stCxn id="92" idx="3"/>
                <a:endCxn id="89"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a:stCxn id="92" idx="2"/>
                <a:endCxn id="90"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a:stCxn id="90" idx="3"/>
                <a:endCxn id="93"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a:stCxn id="89" idx="2"/>
                <a:endCxn id="93"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a:stCxn id="92" idx="3"/>
                <a:endCxn id="94" idx="1"/>
              </p:cNvCxnSpPr>
              <p:nvPr/>
            </p:nvCxnSpPr>
            <p:spPr>
              <a:xfrm flipV="1">
                <a:off x="3306551" y="1709900"/>
                <a:ext cx="909851"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89" idx="0"/>
                <a:endCxn id="94" idx="3"/>
              </p:cNvCxnSpPr>
              <p:nvPr/>
            </p:nvCxnSpPr>
            <p:spPr>
              <a:xfrm flipH="1" flipV="1">
                <a:off x="4673602" y="1709900"/>
                <a:ext cx="1269998"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a:stCxn id="88" idx="0"/>
                <a:endCxn id="93"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a:stCxn id="88" idx="0"/>
                <a:endCxn id="89"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4" name="Group 83"/>
              <p:cNvGrpSpPr/>
              <p:nvPr/>
            </p:nvGrpSpPr>
            <p:grpSpPr>
              <a:xfrm rot="10800000">
                <a:off x="2657024" y="5938347"/>
                <a:ext cx="530353" cy="457201"/>
                <a:chOff x="2133600" y="4191000"/>
                <a:chExt cx="1060704" cy="914400"/>
              </a:xfrm>
            </p:grpSpPr>
            <p:sp>
              <p:nvSpPr>
                <p:cNvPr id="85" name="Isosceles Triangle 84"/>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86" name="Rectangle 85"/>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87" name="Rectangle 86"/>
              <p:cNvSpPr/>
              <p:nvPr/>
            </p:nvSpPr>
            <p:spPr>
              <a:xfrm>
                <a:off x="1825487" y="47244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p:cNvSpPr/>
              <p:nvPr/>
            </p:nvSpPr>
            <p:spPr>
              <a:xfrm>
                <a:off x="4529667" y="51054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p:cNvSpPr/>
              <p:nvPr/>
            </p:nvSpPr>
            <p:spPr>
              <a:xfrm>
                <a:off x="2849351" y="2218504"/>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p:cNvSpPr/>
              <p:nvPr/>
            </p:nvSpPr>
            <p:spPr>
              <a:xfrm>
                <a:off x="3801535" y="3882257"/>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a:off x="4216402" y="14813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descr="The complement of that vertex cover (the set of all unselected nodes) is an indepdent set.">
            <a:extLst>
              <a:ext uri="{FF2B5EF4-FFF2-40B4-BE49-F238E27FC236}">
                <a16:creationId xmlns:a16="http://schemas.microsoft.com/office/drawing/2014/main" id="{BE932000-5D42-FB96-73DD-8E0BBC506A62}"/>
              </a:ext>
            </a:extLst>
          </p:cNvPr>
          <p:cNvGrpSpPr/>
          <p:nvPr/>
        </p:nvGrpSpPr>
        <p:grpSpPr>
          <a:xfrm>
            <a:off x="6629400" y="2585027"/>
            <a:ext cx="3733078" cy="3926112"/>
            <a:chOff x="6629400" y="2585027"/>
            <a:chExt cx="3733078" cy="3926112"/>
          </a:xfrm>
        </p:grpSpPr>
        <p:sp>
          <p:nvSpPr>
            <p:cNvPr id="68" name="TextBox 67"/>
            <p:cNvSpPr txBox="1"/>
            <p:nvPr/>
          </p:nvSpPr>
          <p:spPr>
            <a:xfrm>
              <a:off x="7315200" y="2585027"/>
              <a:ext cx="1744260" cy="369332"/>
            </a:xfrm>
            <a:prstGeom prst="rect">
              <a:avLst/>
            </a:prstGeom>
            <a:noFill/>
          </p:spPr>
          <p:txBody>
            <a:bodyPr wrap="none" rtlCol="0">
              <a:spAutoFit/>
            </a:bodyPr>
            <a:lstStyle/>
            <a:p>
              <a:r>
                <a:rPr lang="en-US" dirty="0"/>
                <a:t>Independent Set</a:t>
              </a:r>
            </a:p>
          </p:txBody>
        </p:sp>
        <p:grpSp>
          <p:nvGrpSpPr>
            <p:cNvPr id="95" name="Group 94"/>
            <p:cNvGrpSpPr/>
            <p:nvPr/>
          </p:nvGrpSpPr>
          <p:grpSpPr>
            <a:xfrm>
              <a:off x="6629400" y="3184692"/>
              <a:ext cx="3733078" cy="3326447"/>
              <a:chOff x="657225" y="1481300"/>
              <a:chExt cx="5514975" cy="4914248"/>
            </a:xfrm>
          </p:grpSpPr>
          <p:cxnSp>
            <p:nvCxnSpPr>
              <p:cNvPr id="96" name="Straight Connector 95"/>
              <p:cNvCxnSpPr>
                <a:stCxn id="119" idx="1"/>
                <a:endCxn id="111"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p:cNvCxnSpPr>
                <a:stCxn id="110" idx="2"/>
                <a:endCxn id="119"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Straight Connector 97"/>
              <p:cNvCxnSpPr>
                <a:stCxn id="111" idx="1"/>
                <a:endCxn id="110"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p:cNvCxnSpPr>
                <a:stCxn id="114" idx="2"/>
                <a:endCxn id="110"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a:stCxn id="114" idx="3"/>
                <a:endCxn id="115"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a:stCxn id="115" idx="3"/>
                <a:endCxn id="112"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p:cNvCxnSpPr>
                <a:stCxn id="115" idx="2"/>
                <a:endCxn id="113"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a:stCxn id="113" idx="3"/>
                <a:endCxn id="116"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a:stCxn id="112" idx="2"/>
                <a:endCxn id="116"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a:stCxn id="115" idx="3"/>
                <a:endCxn id="117" idx="1"/>
              </p:cNvCxnSpPr>
              <p:nvPr/>
            </p:nvCxnSpPr>
            <p:spPr>
              <a:xfrm flipV="1">
                <a:off x="3306551" y="1709900"/>
                <a:ext cx="909851"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p:cNvCxnSpPr>
                <a:stCxn id="112" idx="0"/>
                <a:endCxn id="117" idx="3"/>
              </p:cNvCxnSpPr>
              <p:nvPr/>
            </p:nvCxnSpPr>
            <p:spPr>
              <a:xfrm flipH="1" flipV="1">
                <a:off x="4673602" y="1709900"/>
                <a:ext cx="1269998"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p:cNvCxnSpPr>
                <a:stCxn id="111" idx="0"/>
                <a:endCxn id="116"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a:stCxn id="111" idx="0"/>
                <a:endCxn id="112"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9" name="Group 108"/>
              <p:cNvGrpSpPr/>
              <p:nvPr/>
            </p:nvGrpSpPr>
            <p:grpSpPr>
              <a:xfrm rot="10800000">
                <a:off x="2657024" y="5938347"/>
                <a:ext cx="530353" cy="457201"/>
                <a:chOff x="2133600" y="4191000"/>
                <a:chExt cx="1060704" cy="914400"/>
              </a:xfrm>
            </p:grpSpPr>
            <p:sp>
              <p:nvSpPr>
                <p:cNvPr id="118" name="Isosceles Triangle 117"/>
                <p:cNvSpPr/>
                <p:nvPr/>
              </p:nvSpPr>
              <p:spPr>
                <a:xfrm>
                  <a:off x="2133600" y="4191000"/>
                  <a:ext cx="1060704" cy="4572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119" name="Rectangle 118"/>
                <p:cNvSpPr/>
                <p:nvPr/>
              </p:nvSpPr>
              <p:spPr>
                <a:xfrm>
                  <a:off x="2133600" y="4648200"/>
                  <a:ext cx="1060704"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110" name="Rectangle 109"/>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p:cNvSpPr/>
              <p:nvPr/>
            </p:nvSpPr>
            <p:spPr>
              <a:xfrm>
                <a:off x="5715000" y="2805277"/>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p:cNvSpPr/>
              <p:nvPr/>
            </p:nvSpPr>
            <p:spPr>
              <a:xfrm>
                <a:off x="2384480" y="3462499"/>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p:cNvSpPr/>
              <p:nvPr/>
            </p:nvSpPr>
            <p:spPr>
              <a:xfrm>
                <a:off x="657225" y="2575035"/>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p:cNvSpPr/>
              <p:nvPr/>
            </p:nvSpPr>
            <p:spPr>
              <a:xfrm>
                <a:off x="4216402"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175334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AA065-6CD0-9F5B-7974-C2A75C541B67}"/>
              </a:ext>
            </a:extLst>
          </p:cNvPr>
          <p:cNvSpPr>
            <a:spLocks noGrp="1"/>
          </p:cNvSpPr>
          <p:nvPr>
            <p:ph type="title"/>
          </p:nvPr>
        </p:nvSpPr>
        <p:spPr/>
        <p:txBody>
          <a:bodyPr/>
          <a:lstStyle/>
          <a:p>
            <a:r>
              <a:rPr lang="en-US" dirty="0"/>
              <a:t>Solving Vertex Cover and Independent Set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F4D0EF-7C00-6F14-9DB2-CA7C1A2A7E0D}"/>
                  </a:ext>
                </a:extLst>
              </p:cNvPr>
              <p:cNvSpPr>
                <a:spLocks noGrp="1"/>
              </p:cNvSpPr>
              <p:nvPr>
                <p:ph idx="1"/>
              </p:nvPr>
            </p:nvSpPr>
            <p:spPr/>
            <p:txBody>
              <a:bodyPr/>
              <a:lstStyle/>
              <a:p>
                <a:r>
                  <a:rPr lang="en-US" dirty="0"/>
                  <a:t>Algorithm to solve vertex cover</a:t>
                </a:r>
              </a:p>
              <a:p>
                <a:pPr lvl="1"/>
                <a:r>
                  <a:rPr lang="en-US" dirty="0"/>
                  <a:t>Input: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endParaRPr lang="en-US" dirty="0"/>
              </a:p>
              <a:p>
                <a:pPr lvl="1"/>
                <a:r>
                  <a:rPr lang="en-US" dirty="0"/>
                  <a:t>Output: True if </a:t>
                </a:r>
                <a14:m>
                  <m:oMath xmlns:m="http://schemas.openxmlformats.org/officeDocument/2006/math">
                    <m:r>
                      <a:rPr lang="en-US" b="0" i="1" smtClean="0">
                        <a:latin typeface="Cambria Math" panose="02040503050406030204" pitchFamily="18" charset="0"/>
                      </a:rPr>
                      <m:t>𝐺</m:t>
                    </m:r>
                  </m:oMath>
                </a14:m>
                <a:r>
                  <a:rPr lang="en-US" dirty="0"/>
                  <a:t> has a vertex cover of size </a:t>
                </a:r>
                <a14:m>
                  <m:oMath xmlns:m="http://schemas.openxmlformats.org/officeDocument/2006/math">
                    <m:r>
                      <a:rPr lang="en-US" b="0" i="1" smtClean="0">
                        <a:latin typeface="Cambria Math" panose="02040503050406030204" pitchFamily="18" charset="0"/>
                      </a:rPr>
                      <m:t>𝑘</m:t>
                    </m:r>
                  </m:oMath>
                </a14:m>
                <a:endParaRPr lang="en-US" dirty="0"/>
              </a:p>
              <a:p>
                <a:pPr lvl="2"/>
                <a:r>
                  <a:rPr lang="en-US" dirty="0"/>
                  <a:t>Check if there is an Independent Set of </a:t>
                </a:r>
                <a14:m>
                  <m:oMath xmlns:m="http://schemas.openxmlformats.org/officeDocument/2006/math">
                    <m:r>
                      <a:rPr lang="en-US" b="0" i="1" smtClean="0">
                        <a:latin typeface="Cambria Math" panose="02040503050406030204" pitchFamily="18" charset="0"/>
                      </a:rPr>
                      <m:t>𝐺</m:t>
                    </m:r>
                  </m:oMath>
                </a14:m>
                <a:r>
                  <a:rPr lang="en-US" dirty="0"/>
                  <a:t> of size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𝑘</m:t>
                    </m:r>
                  </m:oMath>
                </a14:m>
                <a:endParaRPr lang="en-US" dirty="0"/>
              </a:p>
              <a:p>
                <a:r>
                  <a:rPr lang="en-US" dirty="0"/>
                  <a:t>Algorithm to solve independent set</a:t>
                </a:r>
              </a:p>
              <a:p>
                <a:pPr lvl="1"/>
                <a:r>
                  <a:rPr lang="en-US" dirty="0"/>
                  <a:t>Input: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endParaRPr lang="en-US" dirty="0"/>
              </a:p>
              <a:p>
                <a:pPr lvl="1"/>
                <a:r>
                  <a:rPr lang="en-US" dirty="0"/>
                  <a:t>Output: True if </a:t>
                </a:r>
                <a14:m>
                  <m:oMath xmlns:m="http://schemas.openxmlformats.org/officeDocument/2006/math">
                    <m:r>
                      <a:rPr lang="en-US" b="0" i="1" smtClean="0">
                        <a:latin typeface="Cambria Math" panose="02040503050406030204" pitchFamily="18" charset="0"/>
                      </a:rPr>
                      <m:t>𝐺</m:t>
                    </m:r>
                  </m:oMath>
                </a14:m>
                <a:r>
                  <a:rPr lang="en-US" dirty="0"/>
                  <a:t> has an independent set of size </a:t>
                </a:r>
                <a14:m>
                  <m:oMath xmlns:m="http://schemas.openxmlformats.org/officeDocument/2006/math">
                    <m:r>
                      <a:rPr lang="en-US" b="0" i="1" smtClean="0">
                        <a:latin typeface="Cambria Math" panose="02040503050406030204" pitchFamily="18" charset="0"/>
                      </a:rPr>
                      <m:t>𝑘</m:t>
                    </m:r>
                  </m:oMath>
                </a14:m>
                <a:endParaRPr lang="en-US" dirty="0"/>
              </a:p>
              <a:p>
                <a:pPr lvl="2"/>
                <a:r>
                  <a:rPr lang="en-US" dirty="0"/>
                  <a:t>Check if there is a Vertex Cover of </a:t>
                </a:r>
                <a14:m>
                  <m:oMath xmlns:m="http://schemas.openxmlformats.org/officeDocument/2006/math">
                    <m:r>
                      <a:rPr lang="en-US" b="0" i="1" smtClean="0">
                        <a:latin typeface="Cambria Math" panose="02040503050406030204" pitchFamily="18" charset="0"/>
                      </a:rPr>
                      <m:t>𝐺</m:t>
                    </m:r>
                  </m:oMath>
                </a14:m>
                <a:r>
                  <a:rPr lang="en-US" dirty="0"/>
                  <a:t> of size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𝑘</m:t>
                    </m:r>
                  </m:oMath>
                </a14:m>
                <a:endParaRPr lang="en-US" dirty="0"/>
              </a:p>
              <a:p>
                <a:endParaRPr lang="en-US" dirty="0"/>
              </a:p>
              <a:p>
                <a:pPr lvl="2"/>
                <a:endParaRPr lang="en-US" dirty="0"/>
              </a:p>
            </p:txBody>
          </p:sp>
        </mc:Choice>
        <mc:Fallback xmlns="">
          <p:sp>
            <p:nvSpPr>
              <p:cNvPr id="3" name="Content Placeholder 2">
                <a:extLst>
                  <a:ext uri="{FF2B5EF4-FFF2-40B4-BE49-F238E27FC236}">
                    <a16:creationId xmlns:a16="http://schemas.microsoft.com/office/drawing/2014/main" id="{1FF4D0EF-7C00-6F14-9DB2-CA7C1A2A7E0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516EF06-5FF7-5632-9927-BCEDD35736D3}"/>
                  </a:ext>
                </a:extLst>
              </p:cNvPr>
              <p:cNvSpPr txBox="1"/>
              <p:nvPr/>
            </p:nvSpPr>
            <p:spPr>
              <a:xfrm>
                <a:off x="7914640" y="5345966"/>
                <a:ext cx="3860800" cy="830997"/>
              </a:xfrm>
              <a:prstGeom prst="rect">
                <a:avLst/>
              </a:prstGeom>
              <a:noFill/>
            </p:spPr>
            <p:txBody>
              <a:bodyPr wrap="square" rtlCol="0">
                <a:spAutoFit/>
              </a:bodyPr>
              <a:lstStyle/>
              <a:p>
                <a:r>
                  <a:rPr lang="en-US" sz="2400" dirty="0">
                    <a:solidFill>
                      <a:srgbClr val="FF0000"/>
                    </a:solidFill>
                  </a:rPr>
                  <a:t>Either both problems belong to </a:t>
                </a:r>
                <a14:m>
                  <m:oMath xmlns:m="http://schemas.openxmlformats.org/officeDocument/2006/math">
                    <m:r>
                      <a:rPr lang="en-US" sz="2400" b="0" i="1" smtClean="0">
                        <a:solidFill>
                          <a:srgbClr val="FF0000"/>
                        </a:solidFill>
                        <a:latin typeface="Cambria Math" panose="02040503050406030204" pitchFamily="18" charset="0"/>
                      </a:rPr>
                      <m:t>𝑃</m:t>
                    </m:r>
                  </m:oMath>
                </a14:m>
                <a:r>
                  <a:rPr lang="en-US" sz="2400" dirty="0">
                    <a:solidFill>
                      <a:srgbClr val="FF0000"/>
                    </a:solidFill>
                  </a:rPr>
                  <a:t>, or else neither does!</a:t>
                </a:r>
              </a:p>
            </p:txBody>
          </p:sp>
        </mc:Choice>
        <mc:Fallback xmlns="">
          <p:sp>
            <p:nvSpPr>
              <p:cNvPr id="4" name="TextBox 3">
                <a:extLst>
                  <a:ext uri="{FF2B5EF4-FFF2-40B4-BE49-F238E27FC236}">
                    <a16:creationId xmlns:a16="http://schemas.microsoft.com/office/drawing/2014/main" id="{9516EF06-5FF7-5632-9927-BCEDD35736D3}"/>
                  </a:ext>
                </a:extLst>
              </p:cNvPr>
              <p:cNvSpPr txBox="1">
                <a:spLocks noRot="1" noChangeAspect="1" noMove="1" noResize="1" noEditPoints="1" noAdjustHandles="1" noChangeArrowheads="1" noChangeShapeType="1" noTextEdit="1"/>
              </p:cNvSpPr>
              <p:nvPr/>
            </p:nvSpPr>
            <p:spPr>
              <a:xfrm>
                <a:off x="7914640" y="5345966"/>
                <a:ext cx="3860800" cy="830997"/>
              </a:xfrm>
              <a:prstGeom prst="rect">
                <a:avLst/>
              </a:prstGeom>
              <a:blipFill>
                <a:blip r:embed="rId3"/>
                <a:stretch>
                  <a:fillRect l="-2366" t="-5882" r="-631" b="-16176"/>
                </a:stretch>
              </a:blipFill>
            </p:spPr>
            <p:txBody>
              <a:bodyPr/>
              <a:lstStyle/>
              <a:p>
                <a:r>
                  <a:rPr lang="en-US">
                    <a:noFill/>
                  </a:rPr>
                  <a:t> </a:t>
                </a:r>
              </a:p>
            </p:txBody>
          </p:sp>
        </mc:Fallback>
      </mc:AlternateContent>
    </p:spTree>
    <p:extLst>
      <p:ext uri="{BB962C8B-B14F-4D97-AF65-F5344CB8AC3E}">
        <p14:creationId xmlns:p14="http://schemas.microsoft.com/office/powerpoint/2010/main" val="3071438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B5F43-910E-209D-70E7-1977B541F09B}"/>
              </a:ext>
            </a:extLst>
          </p:cNvPr>
          <p:cNvSpPr>
            <a:spLocks noGrp="1"/>
          </p:cNvSpPr>
          <p:nvPr>
            <p:ph type="title"/>
          </p:nvPr>
        </p:nvSpPr>
        <p:spPr/>
        <p:txBody>
          <a:bodyPr/>
          <a:lstStyle/>
          <a:p>
            <a:r>
              <a:rPr lang="en-US" dirty="0"/>
              <a:t>Reduction</a:t>
            </a:r>
          </a:p>
        </p:txBody>
      </p:sp>
      <p:sp>
        <p:nvSpPr>
          <p:cNvPr id="3" name="Content Placeholder 2">
            <a:extLst>
              <a:ext uri="{FF2B5EF4-FFF2-40B4-BE49-F238E27FC236}">
                <a16:creationId xmlns:a16="http://schemas.microsoft.com/office/drawing/2014/main" id="{BE15349E-7800-6569-9B3D-219ECA3E1866}"/>
              </a:ext>
            </a:extLst>
          </p:cNvPr>
          <p:cNvSpPr>
            <a:spLocks noGrp="1"/>
          </p:cNvSpPr>
          <p:nvPr>
            <p:ph idx="1"/>
          </p:nvPr>
        </p:nvSpPr>
        <p:spPr/>
        <p:txBody>
          <a:bodyPr/>
          <a:lstStyle/>
          <a:p>
            <a:r>
              <a:rPr lang="en-US" dirty="0"/>
              <a:t>A strategy for creating algorithms</a:t>
            </a:r>
          </a:p>
          <a:p>
            <a:r>
              <a:rPr lang="en-US" dirty="0"/>
              <a:t>Solve one problem by converting it into a different problem, then using an algorithm for that other problem.</a:t>
            </a:r>
          </a:p>
          <a:p>
            <a:endParaRPr lang="en-US" dirty="0"/>
          </a:p>
        </p:txBody>
      </p:sp>
    </p:spTree>
    <p:extLst>
      <p:ext uri="{BB962C8B-B14F-4D97-AF65-F5344CB8AC3E}">
        <p14:creationId xmlns:p14="http://schemas.microsoft.com/office/powerpoint/2010/main" val="3067017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Independent Set Reduces To Vertex Cover</a:t>
            </a:r>
            <a:endParaRPr lang="en-US" dirty="0">
              <a:solidFill>
                <a:srgbClr val="FF33CC"/>
              </a:solidFill>
            </a:endParaRPr>
          </a:p>
        </p:txBody>
      </p:sp>
      <p:grpSp>
        <p:nvGrpSpPr>
          <p:cNvPr id="5" name="Group 4" descr="To reduce independent set to Vertex cover, we begin with an arbitrary instance of the independent set problem (a graph and a value k).">
            <a:extLst>
              <a:ext uri="{FF2B5EF4-FFF2-40B4-BE49-F238E27FC236}">
                <a16:creationId xmlns:a16="http://schemas.microsoft.com/office/drawing/2014/main" id="{F26D9786-DEE8-5D74-FCAD-CE5406D6A5E4}"/>
              </a:ext>
            </a:extLst>
          </p:cNvPr>
          <p:cNvGrpSpPr/>
          <p:nvPr/>
        </p:nvGrpSpPr>
        <p:grpSpPr>
          <a:xfrm>
            <a:off x="1029258" y="1403866"/>
            <a:ext cx="2883738" cy="1721010"/>
            <a:chOff x="1029258" y="1403866"/>
            <a:chExt cx="2883738" cy="1721010"/>
          </a:xfrm>
        </p:grpSpPr>
        <p:sp>
          <p:nvSpPr>
            <p:cNvPr id="132" name="TextBox 131"/>
            <p:cNvSpPr txBox="1"/>
            <p:nvPr/>
          </p:nvSpPr>
          <p:spPr>
            <a:xfrm>
              <a:off x="1615700" y="1403866"/>
              <a:ext cx="2297296" cy="369332"/>
            </a:xfrm>
            <a:prstGeom prst="rect">
              <a:avLst/>
            </a:prstGeom>
            <a:noFill/>
          </p:spPr>
          <p:txBody>
            <a:bodyPr wrap="none" rtlCol="0">
              <a:spAutoFit/>
            </a:bodyPr>
            <a:lstStyle/>
            <a:p>
              <a:r>
                <a:rPr lang="en-US" dirty="0"/>
                <a:t>Independent Set Input</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92B7A9-B4E7-AD92-E8FB-65B20C59C2A0}"/>
                    </a:ext>
                  </a:extLst>
                </p:cNvPr>
                <p:cNvSpPr txBox="1"/>
                <p:nvPr/>
              </p:nvSpPr>
              <p:spPr>
                <a:xfrm>
                  <a:off x="1029258" y="2287474"/>
                  <a:ext cx="394652" cy="369332"/>
                </a:xfrm>
                <a:prstGeom prst="rect">
                  <a:avLst/>
                </a:prstGeom>
                <a:no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oMath>
                    </m:oMathPara>
                  </a14:m>
                  <a:endParaRPr lang="en-US" b="1" dirty="0"/>
                </a:p>
              </p:txBody>
            </p:sp>
          </mc:Choice>
          <mc:Fallback xmlns="">
            <p:sp>
              <p:nvSpPr>
                <p:cNvPr id="6" name="TextBox 5">
                  <a:extLst>
                    <a:ext uri="{FF2B5EF4-FFF2-40B4-BE49-F238E27FC236}">
                      <a16:creationId xmlns:a16="http://schemas.microsoft.com/office/drawing/2014/main" id="{D392B7A9-B4E7-AD92-E8FB-65B20C59C2A0}"/>
                    </a:ext>
                  </a:extLst>
                </p:cNvPr>
                <p:cNvSpPr txBox="1">
                  <a:spLocks noRot="1" noChangeAspect="1" noMove="1" noResize="1" noEditPoints="1" noAdjustHandles="1" noChangeArrowheads="1" noChangeShapeType="1" noTextEdit="1"/>
                </p:cNvSpPr>
                <p:nvPr/>
              </p:nvSpPr>
              <p:spPr>
                <a:xfrm>
                  <a:off x="1029258" y="2287474"/>
                  <a:ext cx="394652" cy="369332"/>
                </a:xfrm>
                <a:prstGeom prst="rect">
                  <a:avLst/>
                </a:prstGeom>
                <a:blipFill>
                  <a:blip r:embed="rId2"/>
                  <a:stretch>
                    <a:fillRect/>
                  </a:stretch>
                </a:blipFill>
                <a:ln>
                  <a:solidFill>
                    <a:schemeClr val="tx1"/>
                  </a:solidFill>
                </a:ln>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26CB1476-FF3F-5ACA-7101-9E5454556ACA}"/>
                </a:ext>
              </a:extLst>
            </p:cNvPr>
            <p:cNvGrpSpPr/>
            <p:nvPr/>
          </p:nvGrpSpPr>
          <p:grpSpPr>
            <a:xfrm>
              <a:off x="1908209" y="1934920"/>
              <a:ext cx="1766003" cy="1189956"/>
              <a:chOff x="1822926" y="1377631"/>
              <a:chExt cx="7796089" cy="5253107"/>
            </a:xfrm>
          </p:grpSpPr>
          <p:pic>
            <p:nvPicPr>
              <p:cNvPr id="11" name="Picture 2" descr="Image result for Prince Harry">
                <a:extLst>
                  <a:ext uri="{FF2B5EF4-FFF2-40B4-BE49-F238E27FC236}">
                    <a16:creationId xmlns:a16="http://schemas.microsoft.com/office/drawing/2014/main" id="{5BB8E96A-60AD-CB4D-5A26-AEF7ADF642C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2" name="Picture 4" descr="Image result for meghan markle">
                <a:extLst>
                  <a:ext uri="{FF2B5EF4-FFF2-40B4-BE49-F238E27FC236}">
                    <a16:creationId xmlns:a16="http://schemas.microsoft.com/office/drawing/2014/main" id="{5AFCDA04-4AF5-1139-51E8-7B0992EE7DD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3" name="Picture 6" descr="Image result for Prince Charles">
                <a:extLst>
                  <a:ext uri="{FF2B5EF4-FFF2-40B4-BE49-F238E27FC236}">
                    <a16:creationId xmlns:a16="http://schemas.microsoft.com/office/drawing/2014/main" id="{46786F4D-68A0-2CE0-155B-A9AD7D634B3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4" name="Picture 18" descr="Image result for justin trudeau">
                <a:extLst>
                  <a:ext uri="{FF2B5EF4-FFF2-40B4-BE49-F238E27FC236}">
                    <a16:creationId xmlns:a16="http://schemas.microsoft.com/office/drawing/2014/main" id="{9A698084-591C-F3F5-6F94-8987E332B453}"/>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5" name="Picture 20" descr="Image result for Elton John">
                <a:extLst>
                  <a:ext uri="{FF2B5EF4-FFF2-40B4-BE49-F238E27FC236}">
                    <a16:creationId xmlns:a16="http://schemas.microsoft.com/office/drawing/2014/main" id="{EF8077BC-688D-7845-DAAF-F83C8E7709B1}"/>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 name="Picture 34" descr="Image result for angela merkel">
                <a:extLst>
                  <a:ext uri="{FF2B5EF4-FFF2-40B4-BE49-F238E27FC236}">
                    <a16:creationId xmlns:a16="http://schemas.microsoft.com/office/drawing/2014/main" id="{DC060794-47B9-8495-F30C-66DA62E8E804}"/>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 name="Picture 36" descr="Image result for paul mccartney">
                <a:extLst>
                  <a:ext uri="{FF2B5EF4-FFF2-40B4-BE49-F238E27FC236}">
                    <a16:creationId xmlns:a16="http://schemas.microsoft.com/office/drawing/2014/main" id="{2612C3D0-9DBE-8191-AA9E-1F25025F2625}"/>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8" name="Straight Connector 17">
                <a:extLst>
                  <a:ext uri="{FF2B5EF4-FFF2-40B4-BE49-F238E27FC236}">
                    <a16:creationId xmlns:a16="http://schemas.microsoft.com/office/drawing/2014/main" id="{6E926ABF-B856-91AD-6F08-427E4EE7ACA4}"/>
                  </a:ext>
                </a:extLst>
              </p:cNvPr>
              <p:cNvCxnSpPr>
                <a:stCxn id="12" idx="3"/>
              </p:cNvCxnSpPr>
              <p:nvPr/>
            </p:nvCxnSpPr>
            <p:spPr>
              <a:xfrm>
                <a:off x="4616953" y="3727451"/>
                <a:ext cx="1313486" cy="41378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31E14-EE0C-A5EA-6CD2-441C78873E83}"/>
                  </a:ext>
                </a:extLst>
              </p:cNvPr>
              <p:cNvCxnSpPr>
                <a:stCxn id="11" idx="3"/>
                <a:endCxn id="17" idx="1"/>
              </p:cNvCxnSpPr>
              <p:nvPr/>
            </p:nvCxnSpPr>
            <p:spPr>
              <a:xfrm flipV="1">
                <a:off x="2989647" y="3034948"/>
                <a:ext cx="4698775" cy="2116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10D1A11-B16D-8B08-98E9-8ABF5ED5D3D7}"/>
                  </a:ext>
                </a:extLst>
              </p:cNvPr>
              <p:cNvCxnSpPr>
                <a:stCxn id="13" idx="1"/>
                <a:endCxn id="17" idx="2"/>
              </p:cNvCxnSpPr>
              <p:nvPr/>
            </p:nvCxnSpPr>
            <p:spPr>
              <a:xfrm flipH="1" flipV="1">
                <a:off x="8077575" y="3480168"/>
                <a:ext cx="896336" cy="7854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675B9BE-9A80-77FA-3031-C5258E27797F}"/>
                  </a:ext>
                </a:extLst>
              </p:cNvPr>
              <p:cNvCxnSpPr>
                <a:stCxn id="13" idx="1"/>
              </p:cNvCxnSpPr>
              <p:nvPr/>
            </p:nvCxnSpPr>
            <p:spPr>
              <a:xfrm flipH="1" flipV="1">
                <a:off x="6617443" y="4141234"/>
                <a:ext cx="2356468" cy="12441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E58D6DD-B358-6BF1-51C8-0F0FBD1C644D}"/>
                  </a:ext>
                </a:extLst>
              </p:cNvPr>
              <p:cNvCxnSpPr>
                <a:stCxn id="13" idx="1"/>
                <a:endCxn id="15" idx="3"/>
              </p:cNvCxnSpPr>
              <p:nvPr/>
            </p:nvCxnSpPr>
            <p:spPr>
              <a:xfrm flipH="1">
                <a:off x="7752241" y="4265645"/>
                <a:ext cx="1221671" cy="82535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1B59CF1C-81C1-4AEF-1508-6528C4A74AA7}"/>
                  </a:ext>
                </a:extLst>
              </p:cNvPr>
              <p:cNvCxnSpPr>
                <a:stCxn id="13" idx="1"/>
                <a:endCxn id="14" idx="0"/>
              </p:cNvCxnSpPr>
              <p:nvPr/>
            </p:nvCxnSpPr>
            <p:spPr>
              <a:xfrm flipH="1">
                <a:off x="8277849" y="4265644"/>
                <a:ext cx="696063" cy="151563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BB7E783-E414-26BA-1E72-90F9F1D7B6F9}"/>
                  </a:ext>
                </a:extLst>
              </p:cNvPr>
              <p:cNvCxnSpPr>
                <a:stCxn id="14" idx="1"/>
              </p:cNvCxnSpPr>
              <p:nvPr/>
            </p:nvCxnSpPr>
            <p:spPr>
              <a:xfrm flipH="1" flipV="1">
                <a:off x="2565838" y="5714723"/>
                <a:ext cx="5437606" cy="49128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6A8D6D9-C5DB-81CA-D67D-0A0B37A72E5E}"/>
                  </a:ext>
                </a:extLst>
              </p:cNvPr>
              <p:cNvCxnSpPr>
                <a:stCxn id="15" idx="1"/>
                <a:endCxn id="16" idx="3"/>
              </p:cNvCxnSpPr>
              <p:nvPr/>
            </p:nvCxnSpPr>
            <p:spPr>
              <a:xfrm flipH="1">
                <a:off x="5498659" y="5091000"/>
                <a:ext cx="1671374" cy="14254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0A6AAD6-DFB8-6813-87C6-765AA05BAA9D}"/>
                  </a:ext>
                </a:extLst>
              </p:cNvPr>
              <p:cNvCxnSpPr/>
              <p:nvPr/>
            </p:nvCxnSpPr>
            <p:spPr>
              <a:xfrm flipH="1">
                <a:off x="2289175" y="4525894"/>
                <a:ext cx="815802" cy="77420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9" name="Picture 2" descr="Joe Biden - CNBC">
                <a:extLst>
                  <a:ext uri="{FF2B5EF4-FFF2-40B4-BE49-F238E27FC236}">
                    <a16:creationId xmlns:a16="http://schemas.microsoft.com/office/drawing/2014/main" id="{44BAB41E-E75D-EF01-5465-E8C04ADCE1F5}"/>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3" name="Picture 4" descr="Emmanuel Macron - Wikipedia">
                <a:extLst>
                  <a:ext uri="{FF2B5EF4-FFF2-40B4-BE49-F238E27FC236}">
                    <a16:creationId xmlns:a16="http://schemas.microsoft.com/office/drawing/2014/main" id="{DC272DCB-486D-5267-F24F-05E920E679F4}"/>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6" name="Picture 6" descr="Taylor Swift set to make her feature directorial debut | CNN">
                <a:extLst>
                  <a:ext uri="{FF2B5EF4-FFF2-40B4-BE49-F238E27FC236}">
                    <a16:creationId xmlns:a16="http://schemas.microsoft.com/office/drawing/2014/main" id="{3A912DEF-D9CB-319A-AF20-25A92F3F1F81}"/>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37" name="Straight Connector 36">
                <a:extLst>
                  <a:ext uri="{FF2B5EF4-FFF2-40B4-BE49-F238E27FC236}">
                    <a16:creationId xmlns:a16="http://schemas.microsoft.com/office/drawing/2014/main" id="{4623E717-ACDF-0F34-6CA9-EF5AD7F73D1D}"/>
                  </a:ext>
                </a:extLst>
              </p:cNvPr>
              <p:cNvCxnSpPr/>
              <p:nvPr/>
            </p:nvCxnSpPr>
            <p:spPr>
              <a:xfrm>
                <a:off x="2446445" y="1797566"/>
                <a:ext cx="743692" cy="460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38" name="Picture 8" descr="Ed Sheeran">
                <a:extLst>
                  <a:ext uri="{FF2B5EF4-FFF2-40B4-BE49-F238E27FC236}">
                    <a16:creationId xmlns:a16="http://schemas.microsoft.com/office/drawing/2014/main" id="{30DA5302-7DA4-49DF-6CCD-480432628F1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9" name="Picture 10" descr="Pharrell Williams - Age, Wife &amp; &quot;Happy&quot;">
                <a:extLst>
                  <a:ext uri="{FF2B5EF4-FFF2-40B4-BE49-F238E27FC236}">
                    <a16:creationId xmlns:a16="http://schemas.microsoft.com/office/drawing/2014/main" id="{B491C4C0-4993-7BEF-E8DF-25B1FD73A394}"/>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grpSp>
      </p:grpSp>
      <p:grpSp>
        <p:nvGrpSpPr>
          <p:cNvPr id="7" name="Group 6" descr="We then apply an algorithm to translate the independent set instance into a vertex cover instance.&#10;&#10;For a vertex cover instance we need to have a graph and a number. In this case we will use the same graph as we had in the original vertex cover instance, and the number will be |V|-k.">
            <a:extLst>
              <a:ext uri="{FF2B5EF4-FFF2-40B4-BE49-F238E27FC236}">
                <a16:creationId xmlns:a16="http://schemas.microsoft.com/office/drawing/2014/main" id="{554DAEC7-BC3E-5D7A-8A55-4CC26988A0C5}"/>
              </a:ext>
            </a:extLst>
          </p:cNvPr>
          <p:cNvGrpSpPr/>
          <p:nvPr/>
        </p:nvGrpSpPr>
        <p:grpSpPr>
          <a:xfrm>
            <a:off x="4377238" y="1752601"/>
            <a:ext cx="3471362" cy="1519744"/>
            <a:chOff x="4377238" y="1752601"/>
            <a:chExt cx="3471362" cy="1519744"/>
          </a:xfrm>
        </p:grpSpPr>
        <mc:AlternateContent xmlns:mc="http://schemas.openxmlformats.org/markup-compatibility/2006" xmlns:a14="http://schemas.microsoft.com/office/drawing/2010/main">
          <mc:Choice Requires="a14">
            <p:sp>
              <p:nvSpPr>
                <p:cNvPr id="30" name="AutoShape 5"/>
                <p:cNvSpPr>
                  <a:spLocks noChangeArrowheads="1"/>
                </p:cNvSpPr>
                <p:nvPr/>
              </p:nvSpPr>
              <p:spPr bwMode="auto">
                <a:xfrm>
                  <a:off x="4627562" y="2161611"/>
                  <a:ext cx="2840038" cy="1110734"/>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a:solidFill>
                        <a:schemeClr val="accent1"/>
                      </a:solidFill>
                    </a14:hiddenFill>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gn="ctr"/>
                  <a:r>
                    <a:rPr lang="en-US" altLang="en-US" sz="1600" dirty="0">
                      <a:solidFill>
                        <a:schemeClr val="accent2">
                          <a:lumMod val="50000"/>
                        </a:schemeClr>
                      </a:solidFill>
                    </a:rPr>
                    <a:t>Use same graph</a:t>
                  </a:r>
                </a:p>
                <a:p>
                  <a:pPr algn="ctr"/>
                  <a:r>
                    <a:rPr lang="en-US" altLang="en-US" sz="1600" dirty="0">
                      <a:solidFill>
                        <a:schemeClr val="accent2">
                          <a:lumMod val="50000"/>
                        </a:schemeClr>
                      </a:solidFill>
                    </a:rPr>
                    <a:t>Set </a:t>
                  </a:r>
                  <a14:m>
                    <m:oMath xmlns:m="http://schemas.openxmlformats.org/officeDocument/2006/math">
                      <m:r>
                        <a:rPr lang="en-US" altLang="en-US" sz="1600" b="0" i="1" smtClean="0">
                          <a:solidFill>
                            <a:schemeClr val="accent2">
                              <a:lumMod val="50000"/>
                            </a:schemeClr>
                          </a:solidFill>
                          <a:latin typeface="Cambria Math" panose="02040503050406030204" pitchFamily="18" charset="0"/>
                        </a:rPr>
                        <m:t>𝑘</m:t>
                      </m:r>
                      <m:r>
                        <a:rPr lang="en-US" altLang="en-US" sz="1600" b="0" i="1" smtClean="0">
                          <a:solidFill>
                            <a:schemeClr val="accent2">
                              <a:lumMod val="50000"/>
                            </a:schemeClr>
                          </a:solidFill>
                          <a:latin typeface="Cambria Math" panose="02040503050406030204" pitchFamily="18" charset="0"/>
                        </a:rPr>
                        <m:t>=</m:t>
                      </m:r>
                      <m:d>
                        <m:dPr>
                          <m:begChr m:val="|"/>
                          <m:endChr m:val="|"/>
                          <m:ctrlPr>
                            <a:rPr lang="en-US" altLang="en-US" sz="1600" b="0" i="1" smtClean="0">
                              <a:solidFill>
                                <a:schemeClr val="accent2">
                                  <a:lumMod val="50000"/>
                                </a:schemeClr>
                              </a:solidFill>
                              <a:latin typeface="Cambria Math" panose="02040503050406030204" pitchFamily="18" charset="0"/>
                            </a:rPr>
                          </m:ctrlPr>
                        </m:dPr>
                        <m:e>
                          <m:r>
                            <a:rPr lang="en-US" altLang="en-US" sz="1600" b="0" i="1" smtClean="0">
                              <a:solidFill>
                                <a:schemeClr val="accent2">
                                  <a:lumMod val="50000"/>
                                </a:schemeClr>
                              </a:solidFill>
                              <a:latin typeface="Cambria Math" panose="02040503050406030204" pitchFamily="18" charset="0"/>
                            </a:rPr>
                            <m:t>𝑉</m:t>
                          </m:r>
                        </m:e>
                      </m:d>
                      <m:r>
                        <a:rPr lang="en-US" altLang="en-US" sz="1600" b="0" i="1" smtClean="0">
                          <a:solidFill>
                            <a:schemeClr val="accent2">
                              <a:lumMod val="50000"/>
                            </a:schemeClr>
                          </a:solidFill>
                          <a:latin typeface="Cambria Math" panose="02040503050406030204" pitchFamily="18" charset="0"/>
                        </a:rPr>
                        <m:t>−</m:t>
                      </m:r>
                      <m:r>
                        <a:rPr lang="en-US" altLang="en-US" sz="1600" b="0" i="1" smtClean="0">
                          <a:solidFill>
                            <a:schemeClr val="accent2">
                              <a:lumMod val="50000"/>
                            </a:schemeClr>
                          </a:solidFill>
                          <a:latin typeface="Cambria Math" panose="02040503050406030204" pitchFamily="18" charset="0"/>
                        </a:rPr>
                        <m:t>𝑘</m:t>
                      </m:r>
                    </m:oMath>
                  </a14:m>
                  <a:endParaRPr lang="en-US" altLang="en-US" sz="1600" dirty="0">
                    <a:solidFill>
                      <a:schemeClr val="accent2">
                        <a:lumMod val="50000"/>
                      </a:schemeClr>
                    </a:solidFill>
                  </a:endParaRPr>
                </a:p>
              </p:txBody>
            </p:sp>
          </mc:Choice>
          <mc:Fallback xmlns="">
            <p:sp>
              <p:nvSpPr>
                <p:cNvPr id="30" name="AutoShape 5"/>
                <p:cNvSpPr>
                  <a:spLocks noRot="1" noChangeAspect="1" noMove="1" noResize="1" noEditPoints="1" noAdjustHandles="1" noChangeArrowheads="1" noChangeShapeType="1" noTextEdit="1"/>
                </p:cNvSpPr>
                <p:nvPr/>
              </p:nvSpPr>
              <p:spPr bwMode="auto">
                <a:xfrm>
                  <a:off x="4627562" y="2161611"/>
                  <a:ext cx="2840038" cy="1110734"/>
                </a:xfrm>
                <a:prstGeom prst="rightArrow">
                  <a:avLst>
                    <a:gd name="adj1" fmla="val 52315"/>
                    <a:gd name="adj2" fmla="val 59192"/>
                  </a:avLst>
                </a:prstGeom>
                <a:blipFill>
                  <a:blip r:embed="rId15"/>
                  <a:stretch>
                    <a:fillRect/>
                  </a:stretch>
                </a:blip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3" name="TextBox 2"/>
            <p:cNvSpPr txBox="1"/>
            <p:nvPr/>
          </p:nvSpPr>
          <p:spPr>
            <a:xfrm>
              <a:off x="4377238" y="1752601"/>
              <a:ext cx="3471362" cy="646331"/>
            </a:xfrm>
            <a:prstGeom prst="rect">
              <a:avLst/>
            </a:prstGeom>
            <a:noFill/>
          </p:spPr>
          <p:txBody>
            <a:bodyPr wrap="square" rtlCol="0">
              <a:spAutoFit/>
            </a:bodyPr>
            <a:lstStyle/>
            <a:p>
              <a:r>
                <a:rPr lang="en-US" dirty="0"/>
                <a:t>Relate Independent Set input to Vertex Cover output</a:t>
              </a:r>
            </a:p>
          </p:txBody>
        </p:sp>
      </p:grpSp>
      <p:grpSp>
        <p:nvGrpSpPr>
          <p:cNvPr id="8" name="Group 7" descr="Now we have an instance to the vertex cover problem (a graph and a number k).">
            <a:extLst>
              <a:ext uri="{FF2B5EF4-FFF2-40B4-BE49-F238E27FC236}">
                <a16:creationId xmlns:a16="http://schemas.microsoft.com/office/drawing/2014/main" id="{A2467389-5DA8-F3B1-9749-84C2EB045EF2}"/>
              </a:ext>
            </a:extLst>
          </p:cNvPr>
          <p:cNvGrpSpPr/>
          <p:nvPr/>
        </p:nvGrpSpPr>
        <p:grpSpPr>
          <a:xfrm>
            <a:off x="7701040" y="1403866"/>
            <a:ext cx="3477957" cy="1445222"/>
            <a:chOff x="7701040" y="1403866"/>
            <a:chExt cx="3477957" cy="1445222"/>
          </a:xfrm>
        </p:grpSpPr>
        <p:grpSp>
          <p:nvGrpSpPr>
            <p:cNvPr id="52" name="Group 51"/>
            <p:cNvGrpSpPr/>
            <p:nvPr/>
          </p:nvGrpSpPr>
          <p:grpSpPr>
            <a:xfrm>
              <a:off x="8937741" y="1558940"/>
              <a:ext cx="1447858" cy="1290148"/>
              <a:chOff x="657225" y="1481300"/>
              <a:chExt cx="5514975" cy="4914248"/>
            </a:xfrm>
          </p:grpSpPr>
          <p:cxnSp>
            <p:nvCxnSpPr>
              <p:cNvPr id="53" name="Straight Connector 52"/>
              <p:cNvCxnSpPr>
                <a:stCxn id="76" idx="1"/>
                <a:endCxn id="68"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a:stCxn id="67" idx="2"/>
                <a:endCxn id="76"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a:stCxn id="68" idx="1"/>
                <a:endCxn id="67"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a:stCxn id="71" idx="2"/>
                <a:endCxn id="67"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a:stCxn id="71" idx="3"/>
                <a:endCxn id="72"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a:stCxn id="72" idx="3"/>
                <a:endCxn id="69"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a:stCxn id="72" idx="2"/>
                <a:endCxn id="70"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70" idx="3"/>
                <a:endCxn id="73"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stCxn id="69" idx="2"/>
                <a:endCxn id="73"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a:stCxn id="72" idx="3"/>
                <a:endCxn id="74"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a:stCxn id="69" idx="0"/>
                <a:endCxn id="74"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a:stCxn id="68" idx="0"/>
                <a:endCxn id="73"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a:stCxn id="68" idx="0"/>
                <a:endCxn id="69"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6" name="Group 65"/>
              <p:cNvGrpSpPr/>
              <p:nvPr/>
            </p:nvGrpSpPr>
            <p:grpSpPr>
              <a:xfrm rot="10800000">
                <a:off x="2657024" y="5938347"/>
                <a:ext cx="530353" cy="457201"/>
                <a:chOff x="2133600" y="4191000"/>
                <a:chExt cx="1060704" cy="914400"/>
              </a:xfrm>
            </p:grpSpPr>
            <p:sp>
              <p:nvSpPr>
                <p:cNvPr id="75" name="Isosceles Triangle 74"/>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76" name="Rectangle 75"/>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67" name="Rectangle 66"/>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p:cNvSpPr/>
              <p:nvPr/>
            </p:nvSpPr>
            <p:spPr>
              <a:xfrm>
                <a:off x="4258735"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 name="TextBox 132"/>
            <p:cNvSpPr txBox="1"/>
            <p:nvPr/>
          </p:nvSpPr>
          <p:spPr>
            <a:xfrm>
              <a:off x="7701040" y="1403866"/>
              <a:ext cx="1933671" cy="369332"/>
            </a:xfrm>
            <a:prstGeom prst="rect">
              <a:avLst/>
            </a:prstGeom>
            <a:noFill/>
          </p:spPr>
          <p:txBody>
            <a:bodyPr wrap="none" rtlCol="0">
              <a:spAutoFit/>
            </a:bodyPr>
            <a:lstStyle/>
            <a:p>
              <a:r>
                <a:rPr lang="en-US" dirty="0"/>
                <a:t>Vertex Cover Input</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B758E259-36E4-72F4-7A4E-70729A8E4BBA}"/>
                    </a:ext>
                  </a:extLst>
                </p:cNvPr>
                <p:cNvSpPr txBox="1"/>
                <p:nvPr/>
              </p:nvSpPr>
              <p:spPr>
                <a:xfrm>
                  <a:off x="10784345" y="2090883"/>
                  <a:ext cx="394652" cy="369332"/>
                </a:xfrm>
                <a:prstGeom prst="rect">
                  <a:avLst/>
                </a:prstGeom>
                <a:no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oMath>
                    </m:oMathPara>
                  </a14:m>
                  <a:endParaRPr lang="en-US" b="1" dirty="0"/>
                </a:p>
              </p:txBody>
            </p:sp>
          </mc:Choice>
          <mc:Fallback xmlns="">
            <p:sp>
              <p:nvSpPr>
                <p:cNvPr id="186" name="TextBox 185">
                  <a:extLst>
                    <a:ext uri="{FF2B5EF4-FFF2-40B4-BE49-F238E27FC236}">
                      <a16:creationId xmlns:a16="http://schemas.microsoft.com/office/drawing/2014/main" id="{B758E259-36E4-72F4-7A4E-70729A8E4BBA}"/>
                    </a:ext>
                  </a:extLst>
                </p:cNvPr>
                <p:cNvSpPr txBox="1">
                  <a:spLocks noRot="1" noChangeAspect="1" noMove="1" noResize="1" noEditPoints="1" noAdjustHandles="1" noChangeArrowheads="1" noChangeShapeType="1" noTextEdit="1"/>
                </p:cNvSpPr>
                <p:nvPr/>
              </p:nvSpPr>
              <p:spPr>
                <a:xfrm>
                  <a:off x="10784345" y="2090883"/>
                  <a:ext cx="394652" cy="369332"/>
                </a:xfrm>
                <a:prstGeom prst="rect">
                  <a:avLst/>
                </a:prstGeom>
                <a:blipFill>
                  <a:blip r:embed="rId16"/>
                  <a:stretch>
                    <a:fillRect/>
                  </a:stretch>
                </a:blipFill>
                <a:ln>
                  <a:solidFill>
                    <a:schemeClr val="tx1"/>
                  </a:solidFill>
                </a:ln>
              </p:spPr>
              <p:txBody>
                <a:bodyPr/>
                <a:lstStyle/>
                <a:p>
                  <a:r>
                    <a:rPr lang="en-US">
                      <a:noFill/>
                    </a:rPr>
                    <a:t> </a:t>
                  </a:r>
                </a:p>
              </p:txBody>
            </p:sp>
          </mc:Fallback>
        </mc:AlternateContent>
      </p:grpSp>
      <p:grpSp>
        <p:nvGrpSpPr>
          <p:cNvPr id="9" name="Group 8" descr="Suppose we then apply some algorithm to solve vertex cover">
            <a:extLst>
              <a:ext uri="{FF2B5EF4-FFF2-40B4-BE49-F238E27FC236}">
                <a16:creationId xmlns:a16="http://schemas.microsoft.com/office/drawing/2014/main" id="{1113F988-EC3E-222D-A705-96059FC4CC09}"/>
              </a:ext>
            </a:extLst>
          </p:cNvPr>
          <p:cNvGrpSpPr/>
          <p:nvPr/>
        </p:nvGrpSpPr>
        <p:grpSpPr>
          <a:xfrm>
            <a:off x="8917761" y="3273935"/>
            <a:ext cx="2678868" cy="1086255"/>
            <a:chOff x="8917761" y="3273935"/>
            <a:chExt cx="2678868" cy="1086255"/>
          </a:xfrm>
        </p:grpSpPr>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277" name="TextBox 276"/>
            <p:cNvSpPr txBox="1"/>
            <p:nvPr/>
          </p:nvSpPr>
          <p:spPr>
            <a:xfrm>
              <a:off x="9383607" y="3288855"/>
              <a:ext cx="2213022" cy="646331"/>
            </a:xfrm>
            <a:prstGeom prst="rect">
              <a:avLst/>
            </a:prstGeom>
            <a:noFill/>
          </p:spPr>
          <p:txBody>
            <a:bodyPr wrap="square" rtlCol="0">
              <a:spAutoFit/>
            </a:bodyPr>
            <a:lstStyle/>
            <a:p>
              <a:r>
                <a:rPr lang="en-US" dirty="0"/>
                <a:t>Any Algorithm for Vertex Cover</a:t>
              </a:r>
              <a:endParaRPr lang="en-US" b="1" dirty="0"/>
            </a:p>
          </p:txBody>
        </p:sp>
      </p:grpSp>
      <p:grpSp>
        <p:nvGrpSpPr>
          <p:cNvPr id="22" name="Group 21" descr="Now we have a vertex cover output: which will be either true or false indicating whether or not our graph had a subset of k nodes which satisfies the definition of a vertex cover.">
            <a:extLst>
              <a:ext uri="{FF2B5EF4-FFF2-40B4-BE49-F238E27FC236}">
                <a16:creationId xmlns:a16="http://schemas.microsoft.com/office/drawing/2014/main" id="{CBA1850D-27BD-D2D8-658E-DA8F2DACAED4}"/>
              </a:ext>
            </a:extLst>
          </p:cNvPr>
          <p:cNvGrpSpPr/>
          <p:nvPr/>
        </p:nvGrpSpPr>
        <p:grpSpPr>
          <a:xfrm>
            <a:off x="8001000" y="4495800"/>
            <a:ext cx="2362258" cy="1747348"/>
            <a:chOff x="8001000" y="4495800"/>
            <a:chExt cx="2362258" cy="1747348"/>
          </a:xfrm>
        </p:grpSpPr>
        <p:grpSp>
          <p:nvGrpSpPr>
            <p:cNvPr id="77" name="Group 76"/>
            <p:cNvGrpSpPr/>
            <p:nvPr/>
          </p:nvGrpSpPr>
          <p:grpSpPr>
            <a:xfrm>
              <a:off x="8915400" y="4953000"/>
              <a:ext cx="1447858" cy="1290148"/>
              <a:chOff x="657225" y="1481300"/>
              <a:chExt cx="5514975" cy="4914248"/>
            </a:xfrm>
          </p:grpSpPr>
          <p:cxnSp>
            <p:nvCxnSpPr>
              <p:cNvPr id="78" name="Straight Connector 77"/>
              <p:cNvCxnSpPr>
                <a:stCxn id="101" idx="1"/>
                <a:endCxn id="93"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a:stCxn id="92" idx="2"/>
                <a:endCxn id="101"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a:stCxn id="93" idx="1"/>
                <a:endCxn id="92"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96" idx="2"/>
                <a:endCxn id="92"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a:stCxn id="96" idx="3"/>
                <a:endCxn id="97"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a:stCxn id="97" idx="3"/>
                <a:endCxn id="94"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a:stCxn id="97" idx="2"/>
                <a:endCxn id="95"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a:stCxn id="95" idx="3"/>
                <a:endCxn id="98"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a:stCxn id="94" idx="2"/>
                <a:endCxn id="98"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a:stCxn id="97" idx="3"/>
                <a:endCxn id="99"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a:stCxn id="94" idx="0"/>
                <a:endCxn id="99"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93" idx="0"/>
                <a:endCxn id="98"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3" idx="0"/>
                <a:endCxn id="94"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1" name="Group 90"/>
              <p:cNvGrpSpPr/>
              <p:nvPr/>
            </p:nvGrpSpPr>
            <p:grpSpPr>
              <a:xfrm rot="10800000">
                <a:off x="2657024" y="5938347"/>
                <a:ext cx="530353" cy="457201"/>
                <a:chOff x="2133600" y="4191000"/>
                <a:chExt cx="1060704" cy="914400"/>
              </a:xfrm>
            </p:grpSpPr>
            <p:sp>
              <p:nvSpPr>
                <p:cNvPr id="100" name="Isosceles Triangle 99"/>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101" name="Rectangle 100"/>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92" name="Rectangle 91"/>
              <p:cNvSpPr/>
              <p:nvPr/>
            </p:nvSpPr>
            <p:spPr>
              <a:xfrm>
                <a:off x="1825487" y="47244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p:cNvSpPr/>
              <p:nvPr/>
            </p:nvSpPr>
            <p:spPr>
              <a:xfrm>
                <a:off x="4529667" y="51054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p:cNvSpPr/>
              <p:nvPr/>
            </p:nvSpPr>
            <p:spPr>
              <a:xfrm>
                <a:off x="2849351" y="2218504"/>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p:cNvSpPr/>
              <p:nvPr/>
            </p:nvSpPr>
            <p:spPr>
              <a:xfrm>
                <a:off x="3801535" y="3882257"/>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p:cNvSpPr/>
              <p:nvPr/>
            </p:nvSpPr>
            <p:spPr>
              <a:xfrm>
                <a:off x="4258735" y="14813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4" name="TextBox 133"/>
            <p:cNvSpPr txBox="1"/>
            <p:nvPr/>
          </p:nvSpPr>
          <p:spPr>
            <a:xfrm>
              <a:off x="8001000" y="4495800"/>
              <a:ext cx="2105192" cy="369332"/>
            </a:xfrm>
            <a:prstGeom prst="rect">
              <a:avLst/>
            </a:prstGeom>
            <a:noFill/>
          </p:spPr>
          <p:txBody>
            <a:bodyPr wrap="none" rtlCol="0">
              <a:spAutoFit/>
            </a:bodyPr>
            <a:lstStyle/>
            <a:p>
              <a:r>
                <a:rPr lang="en-US" dirty="0"/>
                <a:t>Vertex Cover Output</a:t>
              </a:r>
            </a:p>
          </p:txBody>
        </p:sp>
      </p:grpSp>
      <p:grpSp>
        <p:nvGrpSpPr>
          <p:cNvPr id="40" name="Group 39" descr="We then apply an algorithm to translate the vertex cover answer into the correct answer for independent set.&#10;&#10;In this case, because the complement of a vertex cover is an independent set, and vice-versa, we can simply reply with the same answer.">
            <a:extLst>
              <a:ext uri="{FF2B5EF4-FFF2-40B4-BE49-F238E27FC236}">
                <a16:creationId xmlns:a16="http://schemas.microsoft.com/office/drawing/2014/main" id="{A3D12807-27DC-449D-895F-053E4386F003}"/>
              </a:ext>
            </a:extLst>
          </p:cNvPr>
          <p:cNvGrpSpPr/>
          <p:nvPr/>
        </p:nvGrpSpPr>
        <p:grpSpPr>
          <a:xfrm>
            <a:off x="4480837" y="4247821"/>
            <a:ext cx="3333428" cy="1585959"/>
            <a:chOff x="4480837" y="4247821"/>
            <a:chExt cx="3333428" cy="1585959"/>
          </a:xfrm>
        </p:grpSpPr>
        <p:grpSp>
          <p:nvGrpSpPr>
            <p:cNvPr id="23" name="Group 22" descr="Next we apply an algorithm which maps the output from vertex c">
              <a:extLst>
                <a:ext uri="{FF2B5EF4-FFF2-40B4-BE49-F238E27FC236}">
                  <a16:creationId xmlns:a16="http://schemas.microsoft.com/office/drawing/2014/main" id="{DD034C5C-F64A-4D7A-8427-EFD492CE7A8F}"/>
                </a:ext>
              </a:extLst>
            </p:cNvPr>
            <p:cNvGrpSpPr/>
            <p:nvPr/>
          </p:nvGrpSpPr>
          <p:grpSpPr>
            <a:xfrm>
              <a:off x="4480837" y="4247821"/>
              <a:ext cx="3333428" cy="1585959"/>
              <a:chOff x="4480837" y="4247821"/>
              <a:chExt cx="3333428" cy="1585959"/>
            </a:xfrm>
          </p:grpSpPr>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278" name="TextBox 277"/>
              <p:cNvSpPr txBox="1"/>
              <p:nvPr/>
            </p:nvSpPr>
            <p:spPr>
              <a:xfrm>
                <a:off x="4480837" y="4247821"/>
                <a:ext cx="3333428" cy="646331"/>
              </a:xfrm>
              <a:prstGeom prst="rect">
                <a:avLst/>
              </a:prstGeom>
              <a:noFill/>
            </p:spPr>
            <p:txBody>
              <a:bodyPr wrap="square" rtlCol="0">
                <a:spAutoFit/>
              </a:bodyPr>
              <a:lstStyle/>
              <a:p>
                <a:r>
                  <a:rPr lang="en-US" dirty="0"/>
                  <a:t>Relate Independent Set output to Vertex Cover output</a:t>
                </a:r>
              </a:p>
            </p:txBody>
          </p:sp>
        </p:grpSp>
        <p:sp>
          <p:nvSpPr>
            <p:cNvPr id="187" name="TextBox 186">
              <a:extLst>
                <a:ext uri="{FF2B5EF4-FFF2-40B4-BE49-F238E27FC236}">
                  <a16:creationId xmlns:a16="http://schemas.microsoft.com/office/drawing/2014/main" id="{7F72647E-905F-6524-BE7F-93BDA79853DE}"/>
                </a:ext>
              </a:extLst>
            </p:cNvPr>
            <p:cNvSpPr txBox="1"/>
            <p:nvPr/>
          </p:nvSpPr>
          <p:spPr>
            <a:xfrm>
              <a:off x="5442120" y="5164090"/>
              <a:ext cx="2025480" cy="369332"/>
            </a:xfrm>
            <a:prstGeom prst="rect">
              <a:avLst/>
            </a:prstGeom>
            <a:noFill/>
          </p:spPr>
          <p:txBody>
            <a:bodyPr wrap="square" rtlCol="0">
              <a:spAutoFit/>
            </a:bodyPr>
            <a:lstStyle/>
            <a:p>
              <a:r>
                <a:rPr lang="en-US" dirty="0">
                  <a:solidFill>
                    <a:schemeClr val="accent2">
                      <a:lumMod val="50000"/>
                    </a:schemeClr>
                  </a:solidFill>
                </a:rPr>
                <a:t>Give same output</a:t>
              </a:r>
            </a:p>
          </p:txBody>
        </p:sp>
      </p:grpSp>
      <p:grpSp>
        <p:nvGrpSpPr>
          <p:cNvPr id="41" name="Group 40" descr="Now we have our solution to independent set!">
            <a:extLst>
              <a:ext uri="{FF2B5EF4-FFF2-40B4-BE49-F238E27FC236}">
                <a16:creationId xmlns:a16="http://schemas.microsoft.com/office/drawing/2014/main" id="{386F1FF3-81E2-50EA-6D21-688CD3954E4F}"/>
              </a:ext>
            </a:extLst>
          </p:cNvPr>
          <p:cNvGrpSpPr/>
          <p:nvPr/>
        </p:nvGrpSpPr>
        <p:grpSpPr>
          <a:xfrm>
            <a:off x="1652487" y="4509843"/>
            <a:ext cx="2468817" cy="1754299"/>
            <a:chOff x="1652487" y="4509843"/>
            <a:chExt cx="2468817" cy="1754299"/>
          </a:xfrm>
        </p:grpSpPr>
        <p:sp>
          <p:nvSpPr>
            <p:cNvPr id="135" name="TextBox 134"/>
            <p:cNvSpPr txBox="1"/>
            <p:nvPr/>
          </p:nvSpPr>
          <p:spPr>
            <a:xfrm>
              <a:off x="1652487" y="4509843"/>
              <a:ext cx="2468817" cy="369332"/>
            </a:xfrm>
            <a:prstGeom prst="rect">
              <a:avLst/>
            </a:prstGeom>
            <a:noFill/>
          </p:spPr>
          <p:txBody>
            <a:bodyPr wrap="none" rtlCol="0">
              <a:spAutoFit/>
            </a:bodyPr>
            <a:lstStyle/>
            <a:p>
              <a:r>
                <a:rPr lang="en-US" dirty="0"/>
                <a:t>Independent Set Output</a:t>
              </a:r>
            </a:p>
          </p:txBody>
        </p:sp>
        <p:grpSp>
          <p:nvGrpSpPr>
            <p:cNvPr id="46" name="Group 45">
              <a:extLst>
                <a:ext uri="{FF2B5EF4-FFF2-40B4-BE49-F238E27FC236}">
                  <a16:creationId xmlns:a16="http://schemas.microsoft.com/office/drawing/2014/main" id="{E19A87E9-1F6B-18AA-95CD-110C748633FF}"/>
                </a:ext>
              </a:extLst>
            </p:cNvPr>
            <p:cNvGrpSpPr/>
            <p:nvPr/>
          </p:nvGrpSpPr>
          <p:grpSpPr>
            <a:xfrm>
              <a:off x="1888757" y="5038058"/>
              <a:ext cx="1876006" cy="1226084"/>
              <a:chOff x="1650264" y="1218142"/>
              <a:chExt cx="8281702" cy="5412596"/>
            </a:xfrm>
          </p:grpSpPr>
          <p:grpSp>
            <p:nvGrpSpPr>
              <p:cNvPr id="47" name="Group 46">
                <a:extLst>
                  <a:ext uri="{FF2B5EF4-FFF2-40B4-BE49-F238E27FC236}">
                    <a16:creationId xmlns:a16="http://schemas.microsoft.com/office/drawing/2014/main" id="{69A4F974-663B-6C2C-9AA5-1F2DE17BB5C0}"/>
                  </a:ext>
                </a:extLst>
              </p:cNvPr>
              <p:cNvGrpSpPr/>
              <p:nvPr/>
            </p:nvGrpSpPr>
            <p:grpSpPr>
              <a:xfrm>
                <a:off x="1650264" y="1218142"/>
                <a:ext cx="8281702" cy="4725458"/>
                <a:chOff x="1650264" y="1218142"/>
                <a:chExt cx="8281702" cy="4725458"/>
              </a:xfrm>
            </p:grpSpPr>
            <p:sp>
              <p:nvSpPr>
                <p:cNvPr id="179" name="Oval 178">
                  <a:extLst>
                    <a:ext uri="{FF2B5EF4-FFF2-40B4-BE49-F238E27FC236}">
                      <a16:creationId xmlns:a16="http://schemas.microsoft.com/office/drawing/2014/main" id="{16D9E123-632F-933D-8DF8-4955A59E8E45}"/>
                    </a:ext>
                  </a:extLst>
                </p:cNvPr>
                <p:cNvSpPr/>
                <p:nvPr/>
              </p:nvSpPr>
              <p:spPr>
                <a:xfrm>
                  <a:off x="1650264" y="1218142"/>
                  <a:ext cx="1193396" cy="1085135"/>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Oval 179">
                  <a:extLst>
                    <a:ext uri="{FF2B5EF4-FFF2-40B4-BE49-F238E27FC236}">
                      <a16:creationId xmlns:a16="http://schemas.microsoft.com/office/drawing/2014/main" id="{6663420E-2AEB-CC08-AF83-B002CED52F98}"/>
                    </a:ext>
                  </a:extLst>
                </p:cNvPr>
                <p:cNvSpPr/>
                <p:nvPr/>
              </p:nvSpPr>
              <p:spPr>
                <a:xfrm>
                  <a:off x="1930334" y="2389557"/>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Oval 180">
                  <a:extLst>
                    <a:ext uri="{FF2B5EF4-FFF2-40B4-BE49-F238E27FC236}">
                      <a16:creationId xmlns:a16="http://schemas.microsoft.com/office/drawing/2014/main" id="{BDEC8800-9EE3-95D0-82E6-8098B0FEC53D}"/>
                    </a:ext>
                  </a:extLst>
                </p:cNvPr>
                <p:cNvSpPr/>
                <p:nvPr/>
              </p:nvSpPr>
              <p:spPr>
                <a:xfrm>
                  <a:off x="3658898" y="3089427"/>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8124017A-49D4-C005-E7DB-C5CCD89CBE22}"/>
                    </a:ext>
                  </a:extLst>
                </p:cNvPr>
                <p:cNvSpPr/>
                <p:nvPr/>
              </p:nvSpPr>
              <p:spPr>
                <a:xfrm>
                  <a:off x="4495800" y="4605706"/>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DAC7CC1B-781D-0287-FFE2-0E81E6CCC5E3}"/>
                    </a:ext>
                  </a:extLst>
                </p:cNvPr>
                <p:cNvSpPr/>
                <p:nvPr/>
              </p:nvSpPr>
              <p:spPr>
                <a:xfrm>
                  <a:off x="8660959" y="3575103"/>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D7ACB489-D15A-C52F-C2F9-FAC08377A901}"/>
                    </a:ext>
                  </a:extLst>
                </p:cNvPr>
                <p:cNvSpPr/>
                <p:nvPr/>
              </p:nvSpPr>
              <p:spPr>
                <a:xfrm>
                  <a:off x="2593975" y="3638669"/>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17439770-DDCD-AF0B-9138-AFC8C47C10F5}"/>
                  </a:ext>
                </a:extLst>
              </p:cNvPr>
              <p:cNvGrpSpPr/>
              <p:nvPr/>
            </p:nvGrpSpPr>
            <p:grpSpPr>
              <a:xfrm>
                <a:off x="1822926" y="1377631"/>
                <a:ext cx="7796089" cy="5253107"/>
                <a:chOff x="1822926" y="1377631"/>
                <a:chExt cx="7796089" cy="5253107"/>
              </a:xfrm>
            </p:grpSpPr>
            <p:pic>
              <p:nvPicPr>
                <p:cNvPr id="49" name="Picture 2" descr="Image result for Prince Harry">
                  <a:extLst>
                    <a:ext uri="{FF2B5EF4-FFF2-40B4-BE49-F238E27FC236}">
                      <a16:creationId xmlns:a16="http://schemas.microsoft.com/office/drawing/2014/main" id="{CEE9C4FF-1DCA-4381-A2AD-30744335A0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50" name="Picture 4" descr="Image result for meghan markle">
                  <a:extLst>
                    <a:ext uri="{FF2B5EF4-FFF2-40B4-BE49-F238E27FC236}">
                      <a16:creationId xmlns:a16="http://schemas.microsoft.com/office/drawing/2014/main" id="{37F8B372-6617-0FD9-499D-33017E554DBD}"/>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51" name="Picture 6" descr="Image result for Prince Charles">
                  <a:extLst>
                    <a:ext uri="{FF2B5EF4-FFF2-40B4-BE49-F238E27FC236}">
                      <a16:creationId xmlns:a16="http://schemas.microsoft.com/office/drawing/2014/main" id="{8E034901-689B-E2D9-B567-E4CB2213D36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7" name="Picture 18" descr="Image result for justin trudeau">
                  <a:extLst>
                    <a:ext uri="{FF2B5EF4-FFF2-40B4-BE49-F238E27FC236}">
                      <a16:creationId xmlns:a16="http://schemas.microsoft.com/office/drawing/2014/main" id="{04FA622E-B8A9-8798-9141-FA4D29DB419D}"/>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1" name="Picture 20" descr="Image result for Elton John">
                  <a:extLst>
                    <a:ext uri="{FF2B5EF4-FFF2-40B4-BE49-F238E27FC236}">
                      <a16:creationId xmlns:a16="http://schemas.microsoft.com/office/drawing/2014/main" id="{360124E0-E4A6-1384-E7C7-7BD668405BC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2" name="Picture 34" descr="Image result for angela merkel">
                  <a:extLst>
                    <a:ext uri="{FF2B5EF4-FFF2-40B4-BE49-F238E27FC236}">
                      <a16:creationId xmlns:a16="http://schemas.microsoft.com/office/drawing/2014/main" id="{1B21663A-6BEE-093E-1083-4AC97DCF72A8}"/>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3" name="Picture 36" descr="Image result for paul mccartney">
                  <a:extLst>
                    <a:ext uri="{FF2B5EF4-FFF2-40B4-BE49-F238E27FC236}">
                      <a16:creationId xmlns:a16="http://schemas.microsoft.com/office/drawing/2014/main" id="{CEB7CE71-0E12-887A-5062-AFA91BF0E7FC}"/>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64" name="Straight Connector 163">
                  <a:extLst>
                    <a:ext uri="{FF2B5EF4-FFF2-40B4-BE49-F238E27FC236}">
                      <a16:creationId xmlns:a16="http://schemas.microsoft.com/office/drawing/2014/main" id="{1452ABE7-FF69-0C4C-C9CF-72B683FB36AC}"/>
                    </a:ext>
                  </a:extLst>
                </p:cNvPr>
                <p:cNvCxnSpPr>
                  <a:stCxn id="50" idx="3"/>
                </p:cNvCxnSpPr>
                <p:nvPr/>
              </p:nvCxnSpPr>
              <p:spPr>
                <a:xfrm>
                  <a:off x="4616953" y="3727451"/>
                  <a:ext cx="1313486" cy="41378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00C5D898-8CDC-7E68-E423-33E3B92443E9}"/>
                    </a:ext>
                  </a:extLst>
                </p:cNvPr>
                <p:cNvCxnSpPr>
                  <a:stCxn id="49" idx="3"/>
                  <a:endCxn id="163" idx="1"/>
                </p:cNvCxnSpPr>
                <p:nvPr/>
              </p:nvCxnSpPr>
              <p:spPr>
                <a:xfrm flipV="1">
                  <a:off x="2989647" y="3034948"/>
                  <a:ext cx="4698775" cy="2116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D22061D3-46F0-A228-54D7-BB55F0645D6C}"/>
                    </a:ext>
                  </a:extLst>
                </p:cNvPr>
                <p:cNvCxnSpPr>
                  <a:stCxn id="51" idx="1"/>
                  <a:endCxn id="163" idx="2"/>
                </p:cNvCxnSpPr>
                <p:nvPr/>
              </p:nvCxnSpPr>
              <p:spPr>
                <a:xfrm flipH="1" flipV="1">
                  <a:off x="8077575" y="3480168"/>
                  <a:ext cx="896336" cy="7854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9E87279C-FF1B-9DB3-A17B-CEF0043E67AC}"/>
                    </a:ext>
                  </a:extLst>
                </p:cNvPr>
                <p:cNvCxnSpPr>
                  <a:stCxn id="51" idx="1"/>
                </p:cNvCxnSpPr>
                <p:nvPr/>
              </p:nvCxnSpPr>
              <p:spPr>
                <a:xfrm flipH="1" flipV="1">
                  <a:off x="6617443" y="4141234"/>
                  <a:ext cx="2356468" cy="12441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7BC410CD-B196-68B7-549E-D16754BCFCE4}"/>
                    </a:ext>
                  </a:extLst>
                </p:cNvPr>
                <p:cNvCxnSpPr>
                  <a:stCxn id="51" idx="1"/>
                  <a:endCxn id="161" idx="3"/>
                </p:cNvCxnSpPr>
                <p:nvPr/>
              </p:nvCxnSpPr>
              <p:spPr>
                <a:xfrm flipH="1">
                  <a:off x="7752241" y="4265645"/>
                  <a:ext cx="1221671" cy="82535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E4152194-3C0D-445F-4764-9554A1CD25A6}"/>
                    </a:ext>
                  </a:extLst>
                </p:cNvPr>
                <p:cNvCxnSpPr>
                  <a:stCxn id="51" idx="1"/>
                  <a:endCxn id="107" idx="0"/>
                </p:cNvCxnSpPr>
                <p:nvPr/>
              </p:nvCxnSpPr>
              <p:spPr>
                <a:xfrm flipH="1">
                  <a:off x="8277849" y="4265644"/>
                  <a:ext cx="696063" cy="151563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6E38B35-9756-5FFD-6761-8EA6EE44E069}"/>
                    </a:ext>
                  </a:extLst>
                </p:cNvPr>
                <p:cNvCxnSpPr>
                  <a:stCxn id="107" idx="1"/>
                </p:cNvCxnSpPr>
                <p:nvPr/>
              </p:nvCxnSpPr>
              <p:spPr>
                <a:xfrm flipH="1" flipV="1">
                  <a:off x="2565838" y="5714723"/>
                  <a:ext cx="5437606" cy="49128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041C7577-57BD-DB2D-43B9-4AD383D8D87D}"/>
                    </a:ext>
                  </a:extLst>
                </p:cNvPr>
                <p:cNvCxnSpPr>
                  <a:stCxn id="161" idx="1"/>
                  <a:endCxn id="162" idx="3"/>
                </p:cNvCxnSpPr>
                <p:nvPr/>
              </p:nvCxnSpPr>
              <p:spPr>
                <a:xfrm flipH="1">
                  <a:off x="5498659" y="5091000"/>
                  <a:ext cx="1671374" cy="14254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3C740785-0714-00FF-F8A4-3788C9A83620}"/>
                    </a:ext>
                  </a:extLst>
                </p:cNvPr>
                <p:cNvCxnSpPr/>
                <p:nvPr/>
              </p:nvCxnSpPr>
              <p:spPr>
                <a:xfrm flipH="1">
                  <a:off x="2289175" y="4525894"/>
                  <a:ext cx="815802" cy="77420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73" name="Picture 2" descr="Joe Biden - CNBC">
                  <a:extLst>
                    <a:ext uri="{FF2B5EF4-FFF2-40B4-BE49-F238E27FC236}">
                      <a16:creationId xmlns:a16="http://schemas.microsoft.com/office/drawing/2014/main" id="{5ACFECFC-6F66-27BC-C502-D3006972BE19}"/>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4" name="Picture 4" descr="Emmanuel Macron - Wikipedia">
                  <a:extLst>
                    <a:ext uri="{FF2B5EF4-FFF2-40B4-BE49-F238E27FC236}">
                      <a16:creationId xmlns:a16="http://schemas.microsoft.com/office/drawing/2014/main" id="{079D8B1C-5A1F-ADFE-E4EA-860C1823E2DB}"/>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5" name="Picture 6" descr="Taylor Swift set to make her feature directorial debut | CNN">
                  <a:extLst>
                    <a:ext uri="{FF2B5EF4-FFF2-40B4-BE49-F238E27FC236}">
                      <a16:creationId xmlns:a16="http://schemas.microsoft.com/office/drawing/2014/main" id="{EAAE20C6-490B-63B1-E7CB-F16ECE3A20D6}"/>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76" name="Straight Connector 175">
                  <a:extLst>
                    <a:ext uri="{FF2B5EF4-FFF2-40B4-BE49-F238E27FC236}">
                      <a16:creationId xmlns:a16="http://schemas.microsoft.com/office/drawing/2014/main" id="{F0D7C3E0-7523-46AC-53F7-705ED17A9E4B}"/>
                    </a:ext>
                  </a:extLst>
                </p:cNvPr>
                <p:cNvCxnSpPr/>
                <p:nvPr/>
              </p:nvCxnSpPr>
              <p:spPr>
                <a:xfrm>
                  <a:off x="2446445" y="1797566"/>
                  <a:ext cx="743692" cy="460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77" name="Picture 8" descr="Ed Sheeran">
                  <a:extLst>
                    <a:ext uri="{FF2B5EF4-FFF2-40B4-BE49-F238E27FC236}">
                      <a16:creationId xmlns:a16="http://schemas.microsoft.com/office/drawing/2014/main" id="{4EB42BD1-3ED5-FD8C-DF85-27DEBBDA2B80}"/>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8" name="Picture 10" descr="Pharrell Williams - Age, Wife &amp; &quot;Happy&quot;">
                  <a:extLst>
                    <a:ext uri="{FF2B5EF4-FFF2-40B4-BE49-F238E27FC236}">
                      <a16:creationId xmlns:a16="http://schemas.microsoft.com/office/drawing/2014/main" id="{C478FD9F-704F-4C8B-DAE9-DBB195B7F3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grpSp>
        </p:grpSp>
      </p:grpSp>
      <p:grpSp>
        <p:nvGrpSpPr>
          <p:cNvPr id="42" name="Group 41" descr="The combination of the two mapping algorithms (from independent set instance of vertex cover instance, from vertex cover answer to independent set answer) is considered to be the reduction.&#10;&#10;The running time of the reduction is the sum of the running times of these two algorithms, which is O(V) in this case.">
            <a:extLst>
              <a:ext uri="{FF2B5EF4-FFF2-40B4-BE49-F238E27FC236}">
                <a16:creationId xmlns:a16="http://schemas.microsoft.com/office/drawing/2014/main" id="{959BAC20-00B1-C122-34FC-FF12E408F591}"/>
              </a:ext>
            </a:extLst>
          </p:cNvPr>
          <p:cNvGrpSpPr/>
          <p:nvPr/>
        </p:nvGrpSpPr>
        <p:grpSpPr>
          <a:xfrm>
            <a:off x="4377238" y="1371601"/>
            <a:ext cx="3326990" cy="5245217"/>
            <a:chOff x="4377238" y="1371601"/>
            <a:chExt cx="3326990" cy="5245217"/>
          </a:xfrm>
        </p:grpSpPr>
        <p:sp>
          <p:nvSpPr>
            <p:cNvPr id="34" name="Rectangle 33"/>
            <p:cNvSpPr/>
            <p:nvPr/>
          </p:nvSpPr>
          <p:spPr>
            <a:xfrm>
              <a:off x="4377238" y="1773199"/>
              <a:ext cx="3326990" cy="4843619"/>
            </a:xfrm>
            <a:prstGeom prst="rect">
              <a:avLst/>
            </a:prstGeom>
            <a:solidFill>
              <a:srgbClr val="FFA7FF">
                <a:alpha val="30196"/>
              </a:srgb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p:sp>
          <p:nvSpPr>
            <p:cNvPr id="131" name="TextBox 130"/>
            <p:cNvSpPr txBox="1"/>
            <p:nvPr/>
          </p:nvSpPr>
          <p:spPr>
            <a:xfrm>
              <a:off x="5114986" y="1371601"/>
              <a:ext cx="1438214" cy="461665"/>
            </a:xfrm>
            <a:prstGeom prst="rect">
              <a:avLst/>
            </a:prstGeom>
            <a:noFill/>
          </p:spPr>
          <p:txBody>
            <a:bodyPr wrap="none" rtlCol="0">
              <a:spAutoFit/>
            </a:bodyPr>
            <a:lstStyle/>
            <a:p>
              <a:r>
                <a:rPr lang="en-US" sz="2400" dirty="0">
                  <a:solidFill>
                    <a:srgbClr val="FF33CC"/>
                  </a:solidFill>
                </a:rPr>
                <a:t>O(V) Time</a:t>
              </a:r>
            </a:p>
          </p:txBody>
        </p:sp>
      </p:grpSp>
    </p:spTree>
    <p:extLst>
      <p:ext uri="{BB962C8B-B14F-4D97-AF65-F5344CB8AC3E}">
        <p14:creationId xmlns:p14="http://schemas.microsoft.com/office/powerpoint/2010/main" val="847280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p:cNvSpPr>
            <a:spLocks noGrp="1"/>
          </p:cNvSpPr>
          <p:nvPr>
            <p:ph type="title"/>
          </p:nvPr>
        </p:nvSpPr>
        <p:spPr/>
        <p:txBody>
          <a:bodyPr/>
          <a:lstStyle/>
          <a:p>
            <a:r>
              <a:rPr lang="en-US" dirty="0"/>
              <a:t>Reduction Analogy</a:t>
            </a:r>
          </a:p>
        </p:txBody>
      </p:sp>
      <p:sp>
        <p:nvSpPr>
          <p:cNvPr id="5" name="Rectangle 3"/>
          <p:cNvSpPr txBox="1">
            <a:spLocks noChangeArrowheads="1"/>
          </p:cNvSpPr>
          <p:nvPr/>
        </p:nvSpPr>
        <p:spPr>
          <a:xfrm>
            <a:off x="612458" y="1143000"/>
            <a:ext cx="10969943" cy="90347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altLang="en-US" sz="2800" dirty="0"/>
              <a:t> Shows how two different problems relate to each other</a:t>
            </a:r>
          </a:p>
          <a:p>
            <a:endParaRPr lang="en-US" altLang="en-US" sz="2800" dirty="0"/>
          </a:p>
          <a:p>
            <a:pPr marL="0" indent="0">
              <a:buNone/>
            </a:pPr>
            <a:endParaRPr lang="en-US" altLang="en-US" sz="2800" dirty="0"/>
          </a:p>
          <a:p>
            <a:endParaRPr lang="en-US" altLang="en-US" sz="2800" dirty="0"/>
          </a:p>
          <a:p>
            <a:endParaRPr lang="en-US" altLang="en-US" sz="2800" dirty="0"/>
          </a:p>
          <a:p>
            <a:pPr>
              <a:buFontTx/>
              <a:buNone/>
            </a:pPr>
            <a:endParaRPr lang="en-US" altLang="en-US" sz="2800" dirty="0"/>
          </a:p>
        </p:txBody>
      </p:sp>
      <p:pic>
        <p:nvPicPr>
          <p:cNvPr id="6" name="Picture 2">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3846" y="3533681"/>
            <a:ext cx="2691090" cy="329184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59072" y="2325272"/>
            <a:ext cx="4456528" cy="445652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C183D7F6-B498-43B3-948B-1728B52AA6E4}">
                <adec:decorative xmlns:adec="http://schemas.microsoft.com/office/drawing/2017/decorative" val="1"/>
              </a:ext>
            </a:extLst>
          </p:cNvPr>
          <p:cNvSpPr txBox="1"/>
          <p:nvPr/>
        </p:nvSpPr>
        <p:spPr>
          <a:xfrm rot="20597852">
            <a:off x="1559784" y="2207720"/>
            <a:ext cx="5819668" cy="769441"/>
          </a:xfrm>
          <a:prstGeom prst="rect">
            <a:avLst/>
          </a:prstGeom>
          <a:noFill/>
        </p:spPr>
        <p:txBody>
          <a:bodyPr wrap="square" rtlCol="0">
            <a:spAutoFit/>
          </a:bodyPr>
          <a:lstStyle/>
          <a:p>
            <a:r>
              <a:rPr lang="en-US" sz="4400" b="1" dirty="0">
                <a:solidFill>
                  <a:srgbClr val="FF0000"/>
                </a:solidFill>
                <a:latin typeface="Ravie" panose="04040805050809020602" pitchFamily="82" charset="0"/>
              </a:rPr>
              <a:t>MOVIE TIME!</a:t>
            </a:r>
          </a:p>
        </p:txBody>
      </p:sp>
    </p:spTree>
    <p:extLst>
      <p:ext uri="{BB962C8B-B14F-4D97-AF65-F5344CB8AC3E}">
        <p14:creationId xmlns:p14="http://schemas.microsoft.com/office/powerpoint/2010/main" val="2090578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1000" fill="hold"/>
                                        <p:tgtEl>
                                          <p:spTgt spid="8"/>
                                        </p:tgtEl>
                                        <p:attrNameLst>
                                          <p:attrName>ppt_w</p:attrName>
                                        </p:attrNameLst>
                                      </p:cBhvr>
                                      <p:tavLst>
                                        <p:tav tm="0">
                                          <p:val>
                                            <p:fltVal val="0"/>
                                          </p:val>
                                        </p:tav>
                                        <p:tav tm="100000">
                                          <p:val>
                                            <p:strVal val="#ppt_w"/>
                                          </p:val>
                                        </p:tav>
                                      </p:tavLst>
                                    </p:anim>
                                    <p:anim calcmode="lin" valueType="num">
                                      <p:cBhvr>
                                        <p:cTn id="8" dur="1000" fill="hold"/>
                                        <p:tgtEl>
                                          <p:spTgt spid="8"/>
                                        </p:tgtEl>
                                        <p:attrNameLst>
                                          <p:attrName>ppt_h</p:attrName>
                                        </p:attrNameLst>
                                      </p:cBhvr>
                                      <p:tavLst>
                                        <p:tav tm="0">
                                          <p:val>
                                            <p:fltVal val="0"/>
                                          </p:val>
                                        </p:tav>
                                        <p:tav tm="100000">
                                          <p:val>
                                            <p:strVal val="#ppt_h"/>
                                          </p:val>
                                        </p:tav>
                                      </p:tavLst>
                                    </p:anim>
                                    <p:anim calcmode="lin" valueType="num">
                                      <p:cBhvr>
                                        <p:cTn id="9" dur="1000" fill="hold"/>
                                        <p:tgtEl>
                                          <p:spTgt spid="8"/>
                                        </p:tgtEl>
                                        <p:attrNameLst>
                                          <p:attrName>style.rotation</p:attrName>
                                        </p:attrNameLst>
                                      </p:cBhvr>
                                      <p:tavLst>
                                        <p:tav tm="0">
                                          <p:val>
                                            <p:fltVal val="90"/>
                                          </p:val>
                                        </p:tav>
                                        <p:tav tm="100000">
                                          <p:val>
                                            <p:fltVal val="0"/>
                                          </p:val>
                                        </p:tav>
                                      </p:tavLst>
                                    </p:anim>
                                    <p:animEffect transition="in" filter="fade">
                                      <p:cBhvr>
                                        <p:cTn id="10" dur="1000"/>
                                        <p:tgtEl>
                                          <p:spTgt spid="8"/>
                                        </p:tgtEl>
                                      </p:cBhvr>
                                    </p:animEffect>
                                  </p:childTnLst>
                                </p:cTn>
                              </p:par>
                              <p:par>
                                <p:cTn id="11" presetID="3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p:cTn id="13" dur="1000" fill="hold"/>
                                        <p:tgtEl>
                                          <p:spTgt spid="6"/>
                                        </p:tgtEl>
                                        <p:attrNameLst>
                                          <p:attrName>ppt_w</p:attrName>
                                        </p:attrNameLst>
                                      </p:cBhvr>
                                      <p:tavLst>
                                        <p:tav tm="0">
                                          <p:val>
                                            <p:fltVal val="0"/>
                                          </p:val>
                                        </p:tav>
                                        <p:tav tm="100000">
                                          <p:val>
                                            <p:strVal val="#ppt_w"/>
                                          </p:val>
                                        </p:tav>
                                      </p:tavLst>
                                    </p:anim>
                                    <p:anim calcmode="lin" valueType="num">
                                      <p:cBhvr>
                                        <p:cTn id="14" dur="1000" fill="hold"/>
                                        <p:tgtEl>
                                          <p:spTgt spid="6"/>
                                        </p:tgtEl>
                                        <p:attrNameLst>
                                          <p:attrName>ppt_h</p:attrName>
                                        </p:attrNameLst>
                                      </p:cBhvr>
                                      <p:tavLst>
                                        <p:tav tm="0">
                                          <p:val>
                                            <p:fltVal val="0"/>
                                          </p:val>
                                        </p:tav>
                                        <p:tav tm="100000">
                                          <p:val>
                                            <p:strVal val="#ppt_h"/>
                                          </p:val>
                                        </p:tav>
                                      </p:tavLst>
                                    </p:anim>
                                    <p:anim calcmode="lin" valueType="num">
                                      <p:cBhvr>
                                        <p:cTn id="15" dur="1000" fill="hold"/>
                                        <p:tgtEl>
                                          <p:spTgt spid="6"/>
                                        </p:tgtEl>
                                        <p:attrNameLst>
                                          <p:attrName>style.rotation</p:attrName>
                                        </p:attrNameLst>
                                      </p:cBhvr>
                                      <p:tavLst>
                                        <p:tav tm="0">
                                          <p:val>
                                            <p:fltVal val="90"/>
                                          </p:val>
                                        </p:tav>
                                        <p:tav tm="100000">
                                          <p:val>
                                            <p:fltVal val="0"/>
                                          </p:val>
                                        </p:tav>
                                      </p:tavLst>
                                    </p:anim>
                                    <p:animEffect transition="in" filter="fade">
                                      <p:cBhvr>
                                        <p:cTn id="16" dur="1000"/>
                                        <p:tgtEl>
                                          <p:spTgt spid="6"/>
                                        </p:tgtEl>
                                      </p:cBhvr>
                                    </p:animEffect>
                                  </p:childTnLst>
                                </p:cTn>
                              </p:par>
                              <p:par>
                                <p:cTn id="17" presetID="3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1000" fill="hold"/>
                                        <p:tgtEl>
                                          <p:spTgt spid="7"/>
                                        </p:tgtEl>
                                        <p:attrNameLst>
                                          <p:attrName>ppt_w</p:attrName>
                                        </p:attrNameLst>
                                      </p:cBhvr>
                                      <p:tavLst>
                                        <p:tav tm="0">
                                          <p:val>
                                            <p:fltVal val="0"/>
                                          </p:val>
                                        </p:tav>
                                        <p:tav tm="100000">
                                          <p:val>
                                            <p:strVal val="#ppt_w"/>
                                          </p:val>
                                        </p:tav>
                                      </p:tavLst>
                                    </p:anim>
                                    <p:anim calcmode="lin" valueType="num">
                                      <p:cBhvr>
                                        <p:cTn id="20" dur="1000" fill="hold"/>
                                        <p:tgtEl>
                                          <p:spTgt spid="7"/>
                                        </p:tgtEl>
                                        <p:attrNameLst>
                                          <p:attrName>ppt_h</p:attrName>
                                        </p:attrNameLst>
                                      </p:cBhvr>
                                      <p:tavLst>
                                        <p:tav tm="0">
                                          <p:val>
                                            <p:fltVal val="0"/>
                                          </p:val>
                                        </p:tav>
                                        <p:tav tm="100000">
                                          <p:val>
                                            <p:strVal val="#ppt_h"/>
                                          </p:val>
                                        </p:tav>
                                      </p:tavLst>
                                    </p:anim>
                                    <p:anim calcmode="lin" valueType="num">
                                      <p:cBhvr>
                                        <p:cTn id="21" dur="1000" fill="hold"/>
                                        <p:tgtEl>
                                          <p:spTgt spid="7"/>
                                        </p:tgtEl>
                                        <p:attrNameLst>
                                          <p:attrName>style.rotation</p:attrName>
                                        </p:attrNameLst>
                                      </p:cBhvr>
                                      <p:tavLst>
                                        <p:tav tm="0">
                                          <p:val>
                                            <p:fltVal val="90"/>
                                          </p:val>
                                        </p:tav>
                                        <p:tav tm="100000">
                                          <p:val>
                                            <p:fltVal val="0"/>
                                          </p:val>
                                        </p:tav>
                                      </p:tavLst>
                                    </p:anim>
                                    <p:animEffect transition="in" filter="fade">
                                      <p:cBhvr>
                                        <p:cTn id="22" dur="1000"/>
                                        <p:tgtEl>
                                          <p:spTgt spid="7"/>
                                        </p:tgtEl>
                                      </p:cBhvr>
                                    </p:animEffect>
                                  </p:childTnLst>
                                </p:cTn>
                              </p:par>
                            </p:childTnLst>
                          </p:cTn>
                        </p:par>
                        <p:par>
                          <p:cTn id="23" fill="hold">
                            <p:stCondLst>
                              <p:cond delay="1000"/>
                            </p:stCondLst>
                            <p:childTnLst>
                              <p:par>
                                <p:cTn id="24" presetID="32" presetClass="emph" presetSubtype="0" repeatCount="3000" fill="hold" grpId="1" nodeType="afterEffect">
                                  <p:stCondLst>
                                    <p:cond delay="0"/>
                                  </p:stCondLst>
                                  <p:childTnLst>
                                    <p:animRot by="120000">
                                      <p:cBhvr>
                                        <p:cTn id="25" dur="100" fill="hold">
                                          <p:stCondLst>
                                            <p:cond delay="0"/>
                                          </p:stCondLst>
                                        </p:cTn>
                                        <p:tgtEl>
                                          <p:spTgt spid="8"/>
                                        </p:tgtEl>
                                        <p:attrNameLst>
                                          <p:attrName>r</p:attrName>
                                        </p:attrNameLst>
                                      </p:cBhvr>
                                    </p:animRot>
                                    <p:animRot by="-240000">
                                      <p:cBhvr>
                                        <p:cTn id="26" dur="200" fill="hold">
                                          <p:stCondLst>
                                            <p:cond delay="200"/>
                                          </p:stCondLst>
                                        </p:cTn>
                                        <p:tgtEl>
                                          <p:spTgt spid="8"/>
                                        </p:tgtEl>
                                        <p:attrNameLst>
                                          <p:attrName>r</p:attrName>
                                        </p:attrNameLst>
                                      </p:cBhvr>
                                    </p:animRot>
                                    <p:animRot by="240000">
                                      <p:cBhvr>
                                        <p:cTn id="27" dur="200" fill="hold">
                                          <p:stCondLst>
                                            <p:cond delay="400"/>
                                          </p:stCondLst>
                                        </p:cTn>
                                        <p:tgtEl>
                                          <p:spTgt spid="8"/>
                                        </p:tgtEl>
                                        <p:attrNameLst>
                                          <p:attrName>r</p:attrName>
                                        </p:attrNameLst>
                                      </p:cBhvr>
                                    </p:animRot>
                                    <p:animRot by="-240000">
                                      <p:cBhvr>
                                        <p:cTn id="28" dur="200" fill="hold">
                                          <p:stCondLst>
                                            <p:cond delay="600"/>
                                          </p:stCondLst>
                                        </p:cTn>
                                        <p:tgtEl>
                                          <p:spTgt spid="8"/>
                                        </p:tgtEl>
                                        <p:attrNameLst>
                                          <p:attrName>r</p:attrName>
                                        </p:attrNameLst>
                                      </p:cBhvr>
                                    </p:animRot>
                                    <p:animRot by="120000">
                                      <p:cBhvr>
                                        <p:cTn id="29" dur="200" fill="hold">
                                          <p:stCondLst>
                                            <p:cond delay="800"/>
                                          </p:stCondLst>
                                        </p:cTn>
                                        <p:tgtEl>
                                          <p:spTgt spid="8"/>
                                        </p:tgtEl>
                                        <p:attrNameLst>
                                          <p:attrName>r</p:attrName>
                                        </p:attrNameLst>
                                      </p:cBhvr>
                                    </p:animRot>
                                  </p:childTnLst>
                                </p:cTn>
                              </p:par>
                              <p:par>
                                <p:cTn id="30" presetID="32" presetClass="emph" presetSubtype="0" repeatCount="3000" fill="hold" nodeType="withEffect">
                                  <p:stCondLst>
                                    <p:cond delay="0"/>
                                  </p:stCondLst>
                                  <p:childTnLst>
                                    <p:animRot by="120000">
                                      <p:cBhvr>
                                        <p:cTn id="31" dur="100" fill="hold">
                                          <p:stCondLst>
                                            <p:cond delay="0"/>
                                          </p:stCondLst>
                                        </p:cTn>
                                        <p:tgtEl>
                                          <p:spTgt spid="6"/>
                                        </p:tgtEl>
                                        <p:attrNameLst>
                                          <p:attrName>r</p:attrName>
                                        </p:attrNameLst>
                                      </p:cBhvr>
                                    </p:animRot>
                                    <p:animRot by="-240000">
                                      <p:cBhvr>
                                        <p:cTn id="32" dur="200" fill="hold">
                                          <p:stCondLst>
                                            <p:cond delay="200"/>
                                          </p:stCondLst>
                                        </p:cTn>
                                        <p:tgtEl>
                                          <p:spTgt spid="6"/>
                                        </p:tgtEl>
                                        <p:attrNameLst>
                                          <p:attrName>r</p:attrName>
                                        </p:attrNameLst>
                                      </p:cBhvr>
                                    </p:animRot>
                                    <p:animRot by="240000">
                                      <p:cBhvr>
                                        <p:cTn id="33" dur="200" fill="hold">
                                          <p:stCondLst>
                                            <p:cond delay="400"/>
                                          </p:stCondLst>
                                        </p:cTn>
                                        <p:tgtEl>
                                          <p:spTgt spid="6"/>
                                        </p:tgtEl>
                                        <p:attrNameLst>
                                          <p:attrName>r</p:attrName>
                                        </p:attrNameLst>
                                      </p:cBhvr>
                                    </p:animRot>
                                    <p:animRot by="-240000">
                                      <p:cBhvr>
                                        <p:cTn id="34" dur="200" fill="hold">
                                          <p:stCondLst>
                                            <p:cond delay="600"/>
                                          </p:stCondLst>
                                        </p:cTn>
                                        <p:tgtEl>
                                          <p:spTgt spid="6"/>
                                        </p:tgtEl>
                                        <p:attrNameLst>
                                          <p:attrName>r</p:attrName>
                                        </p:attrNameLst>
                                      </p:cBhvr>
                                    </p:animRot>
                                    <p:animRot by="120000">
                                      <p:cBhvr>
                                        <p:cTn id="35" dur="200" fill="hold">
                                          <p:stCondLst>
                                            <p:cond delay="800"/>
                                          </p:stCondLst>
                                        </p:cTn>
                                        <p:tgtEl>
                                          <p:spTgt spid="6"/>
                                        </p:tgtEl>
                                        <p:attrNameLst>
                                          <p:attrName>r</p:attrName>
                                        </p:attrNameLst>
                                      </p:cBhvr>
                                    </p:animRot>
                                  </p:childTnLst>
                                </p:cTn>
                              </p:par>
                              <p:par>
                                <p:cTn id="36" presetID="32" presetClass="emph" presetSubtype="0" repeatCount="3000" fill="hold" nodeType="withEffect">
                                  <p:stCondLst>
                                    <p:cond delay="0"/>
                                  </p:stCondLst>
                                  <p:childTnLst>
                                    <p:animRot by="120000">
                                      <p:cBhvr>
                                        <p:cTn id="37" dur="100" fill="hold">
                                          <p:stCondLst>
                                            <p:cond delay="0"/>
                                          </p:stCondLst>
                                        </p:cTn>
                                        <p:tgtEl>
                                          <p:spTgt spid="7"/>
                                        </p:tgtEl>
                                        <p:attrNameLst>
                                          <p:attrName>r</p:attrName>
                                        </p:attrNameLst>
                                      </p:cBhvr>
                                    </p:animRot>
                                    <p:animRot by="-240000">
                                      <p:cBhvr>
                                        <p:cTn id="38" dur="200" fill="hold">
                                          <p:stCondLst>
                                            <p:cond delay="200"/>
                                          </p:stCondLst>
                                        </p:cTn>
                                        <p:tgtEl>
                                          <p:spTgt spid="7"/>
                                        </p:tgtEl>
                                        <p:attrNameLst>
                                          <p:attrName>r</p:attrName>
                                        </p:attrNameLst>
                                      </p:cBhvr>
                                    </p:animRot>
                                    <p:animRot by="240000">
                                      <p:cBhvr>
                                        <p:cTn id="39" dur="200" fill="hold">
                                          <p:stCondLst>
                                            <p:cond delay="400"/>
                                          </p:stCondLst>
                                        </p:cTn>
                                        <p:tgtEl>
                                          <p:spTgt spid="7"/>
                                        </p:tgtEl>
                                        <p:attrNameLst>
                                          <p:attrName>r</p:attrName>
                                        </p:attrNameLst>
                                      </p:cBhvr>
                                    </p:animRot>
                                    <p:animRot by="-240000">
                                      <p:cBhvr>
                                        <p:cTn id="40" dur="200" fill="hold">
                                          <p:stCondLst>
                                            <p:cond delay="600"/>
                                          </p:stCondLst>
                                        </p:cTn>
                                        <p:tgtEl>
                                          <p:spTgt spid="7"/>
                                        </p:tgtEl>
                                        <p:attrNameLst>
                                          <p:attrName>r</p:attrName>
                                        </p:attrNameLst>
                                      </p:cBhvr>
                                    </p:animRot>
                                    <p:animRot by="120000">
                                      <p:cBhvr>
                                        <p:cTn id="41" dur="200" fill="hold">
                                          <p:stCondLst>
                                            <p:cond delay="800"/>
                                          </p:stCondLst>
                                        </p:cTn>
                                        <p:tgtEl>
                                          <p:spTgt spid="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 name="Group 38">
            <a:extLst>
              <a:ext uri="{FF2B5EF4-FFF2-40B4-BE49-F238E27FC236}">
                <a16:creationId xmlns:a16="http://schemas.microsoft.com/office/drawing/2014/main" id="{0D9F6BEE-7090-3965-D218-59B1FA88D3AC}"/>
              </a:ext>
              <a:ext uri="{C183D7F6-B498-43B3-948B-1728B52AA6E4}">
                <adec:decorative xmlns:adec="http://schemas.microsoft.com/office/drawing/2017/decorative" val="1"/>
              </a:ext>
            </a:extLst>
          </p:cNvPr>
          <p:cNvGrpSpPr/>
          <p:nvPr/>
        </p:nvGrpSpPr>
        <p:grpSpPr>
          <a:xfrm>
            <a:off x="4488720" y="1773199"/>
            <a:ext cx="3215508" cy="4843619"/>
            <a:chOff x="4488720" y="1773199"/>
            <a:chExt cx="3215508" cy="4843619"/>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p:grpSp>
      <p:sp>
        <p:nvSpPr>
          <p:cNvPr id="2" name="Title 1"/>
          <p:cNvSpPr>
            <a:spLocks noGrp="1"/>
          </p:cNvSpPr>
          <p:nvPr>
            <p:ph type="title"/>
          </p:nvPr>
        </p:nvSpPr>
        <p:spPr/>
        <p:txBody>
          <a:bodyPr/>
          <a:lstStyle/>
          <a:p>
            <a:r>
              <a:rPr lang="en-US" dirty="0"/>
              <a:t>MacGyver’s </a:t>
            </a:r>
            <a:r>
              <a:rPr lang="en-US" dirty="0">
                <a:solidFill>
                  <a:srgbClr val="FF00FF"/>
                </a:solidFill>
              </a:rPr>
              <a:t>Reduction</a:t>
            </a:r>
          </a:p>
        </p:txBody>
      </p:sp>
      <p:grpSp>
        <p:nvGrpSpPr>
          <p:cNvPr id="3" name="Group 2" descr="To reduce some problem A to some other Problem B:&#10;&#10;We begin with an instance of problem A, the one we don't know how to solve. (For MacGyver this was the problem of opening the door.)">
            <a:extLst>
              <a:ext uri="{FF2B5EF4-FFF2-40B4-BE49-F238E27FC236}">
                <a16:creationId xmlns:a16="http://schemas.microsoft.com/office/drawing/2014/main" id="{70D88278-5A1E-20A0-2000-A898A99A4021}"/>
              </a:ext>
            </a:extLst>
          </p:cNvPr>
          <p:cNvGrpSpPr/>
          <p:nvPr/>
        </p:nvGrpSpPr>
        <p:grpSpPr>
          <a:xfrm>
            <a:off x="1615700" y="1403866"/>
            <a:ext cx="3670364" cy="2115766"/>
            <a:chOff x="1615700" y="1403866"/>
            <a:chExt cx="3670364" cy="2115766"/>
          </a:xfrm>
        </p:grpSpPr>
        <p:sp>
          <p:nvSpPr>
            <p:cNvPr id="6" name="TextBox 5"/>
            <p:cNvSpPr txBox="1"/>
            <p:nvPr/>
          </p:nvSpPr>
          <p:spPr>
            <a:xfrm>
              <a:off x="2667001" y="1901865"/>
              <a:ext cx="1630319" cy="369332"/>
            </a:xfrm>
            <a:prstGeom prst="rect">
              <a:avLst/>
            </a:prstGeom>
            <a:noFill/>
          </p:spPr>
          <p:txBody>
            <a:bodyPr wrap="square" rtlCol="0">
              <a:spAutoFit/>
            </a:bodyPr>
            <a:lstStyle/>
            <a:p>
              <a:r>
                <a:rPr lang="en-US" dirty="0"/>
                <a:t>Opening a door</a:t>
              </a:r>
            </a:p>
          </p:txBody>
        </p:sp>
        <p:pic>
          <p:nvPicPr>
            <p:cNvPr id="8" name="Picture 2" descr="Image result for doo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5381" r="21968"/>
            <a:stretch/>
          </p:blipFill>
          <p:spPr bwMode="auto">
            <a:xfrm>
              <a:off x="3086682" y="2307490"/>
              <a:ext cx="592555" cy="121214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1615700" y="1403866"/>
              <a:ext cx="3670364" cy="369332"/>
            </a:xfrm>
            <a:prstGeom prst="rect">
              <a:avLst/>
            </a:prstGeom>
            <a:noFill/>
          </p:spPr>
          <p:txBody>
            <a:bodyPr wrap="none" rtlCol="0">
              <a:spAutoFit/>
            </a:bodyPr>
            <a:lstStyle/>
            <a:p>
              <a:r>
                <a:rPr lang="en-US" dirty="0"/>
                <a:t>Problem we don’t know how to solve</a:t>
              </a:r>
            </a:p>
          </p:txBody>
        </p:sp>
        <mc:AlternateContent xmlns:mc="http://schemas.openxmlformats.org/markup-compatibility/2006" xmlns:a14="http://schemas.microsoft.com/office/drawing/2010/main">
          <mc:Choice Requires="a14">
            <p:sp>
              <p:nvSpPr>
                <p:cNvPr id="22" name="Flowchart: Magnetic Disk 21"/>
                <p:cNvSpPr/>
                <p:nvPr/>
              </p:nvSpPr>
              <p:spPr>
                <a:xfrm>
                  <a:off x="1752600" y="1973492"/>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1752600" y="1973492"/>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11" name="Group 10" descr="Now we have a instance of the problem of lighting a fire (problem B).">
            <a:extLst>
              <a:ext uri="{FF2B5EF4-FFF2-40B4-BE49-F238E27FC236}">
                <a16:creationId xmlns:a16="http://schemas.microsoft.com/office/drawing/2014/main" id="{3CFE25BD-5447-6453-1418-CD03F3C3AF29}"/>
              </a:ext>
            </a:extLst>
          </p:cNvPr>
          <p:cNvGrpSpPr/>
          <p:nvPr/>
        </p:nvGrpSpPr>
        <p:grpSpPr>
          <a:xfrm>
            <a:off x="7239001" y="1371600"/>
            <a:ext cx="3457881" cy="1828801"/>
            <a:chOff x="7239001" y="1371600"/>
            <a:chExt cx="3457881" cy="1828801"/>
          </a:xfrm>
        </p:grpSpPr>
        <p:sp>
          <p:nvSpPr>
            <p:cNvPr id="14" name="TextBox 13"/>
            <p:cNvSpPr txBox="1"/>
            <p:nvPr/>
          </p:nvSpPr>
          <p:spPr>
            <a:xfrm>
              <a:off x="8617696" y="1981200"/>
              <a:ext cx="1531514" cy="369332"/>
            </a:xfrm>
            <a:prstGeom prst="rect">
              <a:avLst/>
            </a:prstGeom>
            <a:noFill/>
          </p:spPr>
          <p:txBody>
            <a:bodyPr wrap="square" rtlCol="0">
              <a:spAutoFit/>
            </a:bodyPr>
            <a:lstStyle/>
            <a:p>
              <a:r>
                <a:rPr lang="en-US" dirty="0"/>
                <a:t>Lighting a fire</a:t>
              </a:r>
            </a:p>
          </p:txBody>
        </p:sp>
        <p:pic>
          <p:nvPicPr>
            <p:cNvPr id="15" name="Picture 4" descr="Image result for fire"/>
            <p:cNvPicPr>
              <a:picLocks noChangeAspect="1" noChangeArrowheads="1"/>
            </p:cNvPicPr>
            <p:nvPr/>
          </p:nvPicPr>
          <p:blipFill rotWithShape="1">
            <a:blip r:embed="rId4">
              <a:extLst>
                <a:ext uri="{28A0092B-C50C-407E-A947-70E740481C1C}">
                  <a14:useLocalDpi xmlns:a14="http://schemas.microsoft.com/office/drawing/2010/main" val="0"/>
                </a:ext>
              </a:extLst>
            </a:blip>
            <a:srcRect t="45780"/>
            <a:stretch/>
          </p:blipFill>
          <p:spPr bwMode="auto">
            <a:xfrm>
              <a:off x="8363286" y="2161900"/>
              <a:ext cx="2333596" cy="1038501"/>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p:cNvSpPr txBox="1"/>
            <p:nvPr/>
          </p:nvSpPr>
          <p:spPr>
            <a:xfrm>
              <a:off x="7239001" y="1371600"/>
              <a:ext cx="2956002" cy="369332"/>
            </a:xfrm>
            <a:prstGeom prst="rect">
              <a:avLst/>
            </a:prstGeom>
            <a:noFill/>
          </p:spPr>
          <p:txBody>
            <a:bodyPr wrap="none" rtlCol="0">
              <a:spAutoFit/>
            </a:bodyPr>
            <a:lstStyle/>
            <a:p>
              <a:r>
                <a:rPr lang="en-US" dirty="0"/>
                <a:t>Problem we will solve instead</a:t>
              </a:r>
            </a:p>
          </p:txBody>
        </p:sp>
        <mc:AlternateContent xmlns:mc="http://schemas.openxmlformats.org/markup-compatibility/2006" xmlns:a14="http://schemas.microsoft.com/office/drawing/2010/main">
          <mc:Choice Requires="a14">
            <p:sp>
              <p:nvSpPr>
                <p:cNvPr id="23" name="Rectangle 22"/>
                <p:cNvSpPr/>
                <p:nvPr/>
              </p:nvSpPr>
              <p:spPr>
                <a:xfrm>
                  <a:off x="7832276" y="2063144"/>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7832276" y="2063144"/>
                  <a:ext cx="625924" cy="1004887"/>
                </a:xfrm>
                <a:prstGeom prst="rect">
                  <a:avLst/>
                </a:prstGeom>
                <a:blipFill>
                  <a:blip r:embed="rId5"/>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38" name="Group 37" descr="Now we have a solution to problem A (in MacGyver's case, a keg-cannon battering ram).">
            <a:extLst>
              <a:ext uri="{FF2B5EF4-FFF2-40B4-BE49-F238E27FC236}">
                <a16:creationId xmlns:a16="http://schemas.microsoft.com/office/drawing/2014/main" id="{B89F1F0D-9B12-0DDA-859B-25B94D5E57EA}"/>
              </a:ext>
            </a:extLst>
          </p:cNvPr>
          <p:cNvGrpSpPr/>
          <p:nvPr/>
        </p:nvGrpSpPr>
        <p:grpSpPr>
          <a:xfrm>
            <a:off x="2851157" y="4113166"/>
            <a:ext cx="1637563" cy="2741964"/>
            <a:chOff x="2851157" y="4113166"/>
            <a:chExt cx="1637563" cy="2741964"/>
          </a:xfrm>
        </p:grpSpPr>
        <p:grpSp>
          <p:nvGrpSpPr>
            <p:cNvPr id="24" name="Group 23"/>
            <p:cNvGrpSpPr/>
            <p:nvPr/>
          </p:nvGrpSpPr>
          <p:grpSpPr>
            <a:xfrm>
              <a:off x="2895601" y="5134054"/>
              <a:ext cx="1174595" cy="1721076"/>
              <a:chOff x="10154328" y="3614629"/>
              <a:chExt cx="1565720" cy="1721076"/>
            </a:xfrm>
          </p:grpSpPr>
          <p:pic>
            <p:nvPicPr>
              <p:cNvPr id="25" name="Picture 24" descr="Image result for ke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13100970">
                <a:off x="10528567" y="3614629"/>
                <a:ext cx="1191481" cy="119148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6" descr="Image result for flame"/>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rot="13274643">
                <a:off x="10154328" y="4424859"/>
                <a:ext cx="660210" cy="910846"/>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TextBox 26"/>
            <p:cNvSpPr txBox="1"/>
            <p:nvPr/>
          </p:nvSpPr>
          <p:spPr>
            <a:xfrm>
              <a:off x="2959163" y="4493096"/>
              <a:ext cx="1529557" cy="646331"/>
            </a:xfrm>
            <a:prstGeom prst="rect">
              <a:avLst/>
            </a:prstGeom>
            <a:noFill/>
          </p:spPr>
          <p:txBody>
            <a:bodyPr wrap="square" rtlCol="0">
              <a:spAutoFit/>
            </a:bodyPr>
            <a:lstStyle/>
            <a:p>
              <a:r>
                <a:rPr lang="en-US" dirty="0"/>
                <a:t>Keg cannon battering ram</a:t>
              </a:r>
            </a:p>
          </p:txBody>
        </p:sp>
        <mc:AlternateContent xmlns:mc="http://schemas.openxmlformats.org/markup-compatibility/2006" xmlns:a14="http://schemas.microsoft.com/office/drawing/2010/main">
          <mc:Choice Requires="a14">
            <p:sp>
              <p:nvSpPr>
                <p:cNvPr id="28" name="TextBox 27"/>
                <p:cNvSpPr txBox="1"/>
                <p:nvPr/>
              </p:nvSpPr>
              <p:spPr>
                <a:xfrm>
                  <a:off x="2851157" y="4113166"/>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851157" y="4113166"/>
                  <a:ext cx="1486241" cy="369332"/>
                </a:xfrm>
                <a:prstGeom prst="rect">
                  <a:avLst/>
                </a:prstGeom>
                <a:blipFill>
                  <a:blip r:embed="rId8"/>
                  <a:stretch>
                    <a:fillRect l="-3689" t="-10000" b="-26667"/>
                  </a:stretch>
                </a:blipFill>
              </p:spPr>
              <p:txBody>
                <a:bodyPr/>
                <a:lstStyle/>
                <a:p>
                  <a:r>
                    <a:rPr lang="en-US">
                      <a:noFill/>
                    </a:rPr>
                    <a:t> </a:t>
                  </a:r>
                </a:p>
              </p:txBody>
            </p:sp>
          </mc:Fallback>
        </mc:AlternateContent>
      </p:grpSp>
      <p:sp>
        <p:nvSpPr>
          <p:cNvPr id="30" name="AutoShape 5" descr="Next we somehow convert problem A into problem B. We will be using a solution to problem B as a solution to problem A&#10;&#10;In MacGyver's case, problem B is the task of lighting a fire. By putting the keg in a tube, and aiming the tube at the door, all that's missing to have a door opening solution is now a fire opening solution."/>
          <p:cNvSpPr>
            <a:spLocks noChangeArrowheads="1"/>
          </p:cNvSpPr>
          <p:nvPr/>
        </p:nvSpPr>
        <p:spPr bwMode="auto">
          <a:xfrm>
            <a:off x="4627562" y="1845186"/>
            <a:ext cx="2840038" cy="1344573"/>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en-US" sz="2000" dirty="0"/>
              <a:t>Aim duct at door, insert keg</a:t>
            </a:r>
          </a:p>
        </p:txBody>
      </p:sp>
      <p:grpSp>
        <p:nvGrpSpPr>
          <p:cNvPr id="29" name="Group 28" descr="Next we apply a hypothetical solution for problem B (in MacGyver's case, using wood, alcohol, and matches).&#10;">
            <a:extLst>
              <a:ext uri="{FF2B5EF4-FFF2-40B4-BE49-F238E27FC236}">
                <a16:creationId xmlns:a16="http://schemas.microsoft.com/office/drawing/2014/main" id="{272BFC59-1149-96B0-CEBC-5F0F55B6E227}"/>
              </a:ext>
            </a:extLst>
          </p:cNvPr>
          <p:cNvGrpSpPr/>
          <p:nvPr/>
        </p:nvGrpSpPr>
        <p:grpSpPr>
          <a:xfrm>
            <a:off x="8917761" y="3273936"/>
            <a:ext cx="3009569" cy="1905298"/>
            <a:chOff x="8917761" y="3273936"/>
            <a:chExt cx="3009569" cy="1905298"/>
          </a:xfrm>
        </p:grpSpPr>
        <p:grpSp>
          <p:nvGrpSpPr>
            <p:cNvPr id="9" name="Group 8">
              <a:extLst>
                <a:ext uri="{FF2B5EF4-FFF2-40B4-BE49-F238E27FC236}">
                  <a16:creationId xmlns:a16="http://schemas.microsoft.com/office/drawing/2014/main" id="{5D4B6C36-41ED-0328-B335-D282AC928933}"/>
                </a:ext>
              </a:extLst>
            </p:cNvPr>
            <p:cNvGrpSpPr/>
            <p:nvPr/>
          </p:nvGrpSpPr>
          <p:grpSpPr>
            <a:xfrm>
              <a:off x="9738287" y="3299157"/>
              <a:ext cx="2189043" cy="1880077"/>
              <a:chOff x="9987551" y="3381101"/>
              <a:chExt cx="2189043" cy="1880077"/>
            </a:xfrm>
          </p:grpSpPr>
          <p:sp>
            <p:nvSpPr>
              <p:cNvPr id="17" name="TextBox 16"/>
              <p:cNvSpPr txBox="1"/>
              <p:nvPr/>
            </p:nvSpPr>
            <p:spPr>
              <a:xfrm>
                <a:off x="9987551" y="3381101"/>
                <a:ext cx="2189043" cy="646331"/>
              </a:xfrm>
              <a:prstGeom prst="rect">
                <a:avLst/>
              </a:prstGeom>
              <a:noFill/>
            </p:spPr>
            <p:txBody>
              <a:bodyPr wrap="square" rtlCol="0">
                <a:spAutoFit/>
              </a:bodyPr>
              <a:lstStyle/>
              <a:p>
                <a:r>
                  <a:rPr lang="en-US" dirty="0"/>
                  <a:t>Alcohol, wood, matches</a:t>
                </a:r>
              </a:p>
            </p:txBody>
          </p:sp>
          <p:grpSp>
            <p:nvGrpSpPr>
              <p:cNvPr id="7" name="Group 6">
                <a:extLst>
                  <a:ext uri="{FF2B5EF4-FFF2-40B4-BE49-F238E27FC236}">
                    <a16:creationId xmlns:a16="http://schemas.microsoft.com/office/drawing/2014/main" id="{CC85A0F3-B698-A8F8-A658-A0219EE9FCC5}"/>
                  </a:ext>
                </a:extLst>
              </p:cNvPr>
              <p:cNvGrpSpPr/>
              <p:nvPr/>
            </p:nvGrpSpPr>
            <p:grpSpPr>
              <a:xfrm>
                <a:off x="10825255" y="3695245"/>
                <a:ext cx="927612" cy="1565933"/>
                <a:chOff x="9355605" y="4832530"/>
                <a:chExt cx="927612" cy="1565933"/>
              </a:xfrm>
            </p:grpSpPr>
            <p:pic>
              <p:nvPicPr>
                <p:cNvPr id="18" name="Picture 6" descr="Image result for whiskey"/>
                <p:cNvPicPr>
                  <a:picLocks noChangeAspect="1" noChangeArrowheads="1"/>
                </p:cNvPicPr>
                <p:nvPr/>
              </p:nvPicPr>
              <p:blipFill rotWithShape="1">
                <a:blip r:embed="rId9">
                  <a:extLst>
                    <a:ext uri="{28A0092B-C50C-407E-A947-70E740481C1C}">
                      <a14:useLocalDpi xmlns:a14="http://schemas.microsoft.com/office/drawing/2010/main" val="0"/>
                    </a:ext>
                  </a:extLst>
                </a:blip>
                <a:srcRect l="28502" r="31074"/>
                <a:stretch/>
              </p:blipFill>
              <p:spPr bwMode="auto">
                <a:xfrm rot="1117477">
                  <a:off x="9355605" y="4832530"/>
                  <a:ext cx="393856" cy="1298734"/>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Image result for wood plank"/>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40640" r="39638"/>
                <a:stretch/>
              </p:blipFill>
              <p:spPr bwMode="auto">
                <a:xfrm rot="19068828">
                  <a:off x="10118544" y="5006481"/>
                  <a:ext cx="164673" cy="111302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2" descr="Image result for matches"/>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9564510" y="5575503"/>
                  <a:ext cx="629362" cy="822960"/>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1" name="AutoShape 5" descr="Next we apply"/>
            <p:cNvSpPr>
              <a:spLocks noChangeArrowheads="1"/>
            </p:cNvSpPr>
            <p:nvPr/>
          </p:nvSpPr>
          <p:spPr bwMode="auto">
            <a:xfrm rot="5400000">
              <a:off x="8412838" y="3778859"/>
              <a:ext cx="1711361"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en-US" dirty="0"/>
                <a:t>How?</a:t>
              </a:r>
            </a:p>
          </p:txBody>
        </p:sp>
      </p:grpSp>
      <p:grpSp>
        <p:nvGrpSpPr>
          <p:cNvPr id="37" name="Group 36" descr="Now we convert the solution to problem B into a solution for problem A (in MacGyver's case, we just need to put the fire under the keg).">
            <a:extLst>
              <a:ext uri="{FF2B5EF4-FFF2-40B4-BE49-F238E27FC236}">
                <a16:creationId xmlns:a16="http://schemas.microsoft.com/office/drawing/2014/main" id="{8F11682D-F291-A096-807B-83DAB58B930B}"/>
              </a:ext>
            </a:extLst>
          </p:cNvPr>
          <p:cNvGrpSpPr/>
          <p:nvPr/>
        </p:nvGrpSpPr>
        <p:grpSpPr>
          <a:xfrm>
            <a:off x="4779962" y="4839965"/>
            <a:ext cx="2840038" cy="993815"/>
            <a:chOff x="4779962" y="4839965"/>
            <a:chExt cx="2840038" cy="993815"/>
          </a:xfrm>
        </p:grpSpPr>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3" name="TextBox 32"/>
            <p:cNvSpPr txBox="1"/>
            <p:nvPr/>
          </p:nvSpPr>
          <p:spPr>
            <a:xfrm>
              <a:off x="5105400" y="5139426"/>
              <a:ext cx="2470548" cy="400110"/>
            </a:xfrm>
            <a:prstGeom prst="rect">
              <a:avLst/>
            </a:prstGeom>
            <a:noFill/>
          </p:spPr>
          <p:txBody>
            <a:bodyPr wrap="none" rtlCol="0">
              <a:spAutoFit/>
            </a:bodyPr>
            <a:lstStyle/>
            <a:p>
              <a:r>
                <a:rPr lang="en-US" altLang="en-US" sz="2000" dirty="0"/>
                <a:t>Put fire under the Keg</a:t>
              </a:r>
              <a:endParaRPr lang="en-US" sz="2000" dirty="0"/>
            </a:p>
          </p:txBody>
        </p:sp>
      </p:grpSp>
      <p:sp>
        <p:nvSpPr>
          <p:cNvPr id="10" name="TextBox 9">
            <a:extLst>
              <a:ext uri="{FF2B5EF4-FFF2-40B4-BE49-F238E27FC236}">
                <a16:creationId xmlns:a16="http://schemas.microsoft.com/office/drawing/2014/main" id="{F772C382-C5C5-B87E-DBC0-0DFF5445333E}"/>
              </a:ext>
            </a:extLst>
          </p:cNvPr>
          <p:cNvSpPr txBox="1"/>
          <p:nvPr/>
        </p:nvSpPr>
        <p:spPr>
          <a:xfrm>
            <a:off x="9013665" y="2543956"/>
            <a:ext cx="968535" cy="769441"/>
          </a:xfrm>
          <a:prstGeom prst="rect">
            <a:avLst/>
          </a:prstGeom>
          <a:noFill/>
        </p:spPr>
        <p:txBody>
          <a:bodyPr wrap="none" rtlCol="0">
            <a:spAutoFit/>
          </a:bodyPr>
          <a:lstStyle/>
          <a:p>
            <a:r>
              <a:rPr lang="en-US" sz="4400" dirty="0">
                <a:ln>
                  <a:solidFill>
                    <a:schemeClr val="bg1"/>
                  </a:solidFill>
                </a:ln>
                <a:solidFill>
                  <a:sysClr val="windowText" lastClr="000000"/>
                </a:solidFill>
              </a:rPr>
              <a:t>???</a:t>
            </a:r>
          </a:p>
        </p:txBody>
      </p:sp>
      <p:grpSp>
        <p:nvGrpSpPr>
          <p:cNvPr id="36" name="Group 35" descr="Now we have a solution to problem B (in this case a fire).">
            <a:extLst>
              <a:ext uri="{FF2B5EF4-FFF2-40B4-BE49-F238E27FC236}">
                <a16:creationId xmlns:a16="http://schemas.microsoft.com/office/drawing/2014/main" id="{DA9309F5-FC44-8A23-859F-80F0A885C853}"/>
              </a:ext>
            </a:extLst>
          </p:cNvPr>
          <p:cNvGrpSpPr/>
          <p:nvPr/>
        </p:nvGrpSpPr>
        <p:grpSpPr>
          <a:xfrm>
            <a:off x="7856625" y="4896881"/>
            <a:ext cx="2333596" cy="1346628"/>
            <a:chOff x="7856625" y="4896881"/>
            <a:chExt cx="2333596" cy="1346628"/>
          </a:xfrm>
        </p:grpSpPr>
        <mc:AlternateContent xmlns:mc="http://schemas.openxmlformats.org/markup-compatibility/2006" xmlns:a14="http://schemas.microsoft.com/office/drawing/2010/main">
          <mc:Choice Requires="a14">
            <p:sp>
              <p:nvSpPr>
                <p:cNvPr id="21" name="TextBox 20"/>
                <p:cNvSpPr txBox="1"/>
                <p:nvPr/>
              </p:nvSpPr>
              <p:spPr>
                <a:xfrm>
                  <a:off x="8085904" y="4896881"/>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085904" y="4896881"/>
                  <a:ext cx="1500667" cy="369332"/>
                </a:xfrm>
                <a:prstGeom prst="rect">
                  <a:avLst/>
                </a:prstGeom>
                <a:blipFill>
                  <a:blip r:embed="rId12"/>
                  <a:stretch>
                    <a:fillRect l="-3239" t="-8197" b="-24590"/>
                  </a:stretch>
                </a:blipFill>
              </p:spPr>
              <p:txBody>
                <a:bodyPr/>
                <a:lstStyle/>
                <a:p>
                  <a:r>
                    <a:rPr lang="en-US">
                      <a:noFill/>
                    </a:rPr>
                    <a:t> </a:t>
                  </a:r>
                </a:p>
              </p:txBody>
            </p:sp>
          </mc:Fallback>
        </mc:AlternateContent>
        <p:pic>
          <p:nvPicPr>
            <p:cNvPr id="13" name="Picture 4" descr="Image result for fire">
              <a:extLst>
                <a:ext uri="{FF2B5EF4-FFF2-40B4-BE49-F238E27FC236}">
                  <a16:creationId xmlns:a16="http://schemas.microsoft.com/office/drawing/2014/main" id="{4D44C5BF-A41A-2CAE-ABFB-4CA9B689693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5780"/>
            <a:stretch/>
          </p:blipFill>
          <p:spPr bwMode="auto">
            <a:xfrm>
              <a:off x="7856625" y="5205008"/>
              <a:ext cx="2333596" cy="103850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4694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C76BE-F09E-54F2-B299-E6BC5F388C22}"/>
              </a:ext>
            </a:extLst>
          </p:cNvPr>
          <p:cNvSpPr>
            <a:spLocks noGrp="1"/>
          </p:cNvSpPr>
          <p:nvPr>
            <p:ph type="title"/>
          </p:nvPr>
        </p:nvSpPr>
        <p:spPr/>
        <p:txBody>
          <a:bodyPr/>
          <a:lstStyle/>
          <a:p>
            <a:r>
              <a:rPr lang="en-US" dirty="0"/>
              <a:t>NP-Complete – High Level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BB07FC-04E6-6CCE-679B-32B6B7AC8E49}"/>
                  </a:ext>
                </a:extLst>
              </p:cNvPr>
              <p:cNvSpPr>
                <a:spLocks noGrp="1"/>
              </p:cNvSpPr>
              <p:nvPr>
                <p:ph idx="1"/>
              </p:nvPr>
            </p:nvSpPr>
            <p:spPr/>
            <p:txBody>
              <a:bodyPr/>
              <a:lstStyle/>
              <a:p>
                <a:r>
                  <a:rPr lang="en-US" dirty="0"/>
                  <a:t>A set of “together they stand, together they fall” problems</a:t>
                </a:r>
              </a:p>
              <a:p>
                <a:r>
                  <a:rPr lang="en-US" dirty="0"/>
                  <a:t>The problems in this set either all belong to </a:t>
                </a:r>
                <a14:m>
                  <m:oMath xmlns:m="http://schemas.openxmlformats.org/officeDocument/2006/math">
                    <m:r>
                      <a:rPr lang="en-US" b="0" i="1" smtClean="0">
                        <a:latin typeface="Cambria Math" panose="02040503050406030204" pitchFamily="18" charset="0"/>
                      </a:rPr>
                      <m:t>𝑃</m:t>
                    </m:r>
                  </m:oMath>
                </a14:m>
                <a:r>
                  <a:rPr lang="en-US" dirty="0"/>
                  <a:t>, or none of them do</a:t>
                </a:r>
              </a:p>
              <a:p>
                <a:r>
                  <a:rPr lang="en-US" dirty="0"/>
                  <a:t>Intuitively, the “hardest” problems in NP</a:t>
                </a:r>
              </a:p>
              <a:p>
                <a:r>
                  <a:rPr lang="en-US" dirty="0"/>
                  <a:t>Collection of problems from </a:t>
                </a:r>
                <a14:m>
                  <m:oMath xmlns:m="http://schemas.openxmlformats.org/officeDocument/2006/math">
                    <m:r>
                      <a:rPr lang="en-US" b="0" i="1" smtClean="0">
                        <a:latin typeface="Cambria Math" panose="02040503050406030204" pitchFamily="18" charset="0"/>
                      </a:rPr>
                      <m:t>𝑁𝑃</m:t>
                    </m:r>
                  </m:oMath>
                </a14:m>
                <a:r>
                  <a:rPr lang="en-US" dirty="0"/>
                  <a:t> that can all be “transformed” into each other in polynomial time</a:t>
                </a:r>
              </a:p>
              <a:p>
                <a:pPr lvl="1"/>
                <a:r>
                  <a:rPr lang="en-US" dirty="0"/>
                  <a:t>Like we could transform independent set to vertex cover, and vice-versa</a:t>
                </a:r>
              </a:p>
              <a:p>
                <a:pPr lvl="1"/>
                <a:r>
                  <a:rPr lang="en-US" dirty="0"/>
                  <a:t>We can also transform vertex cover into Hamiltonian path, and Hamiltonian path into independent set, and …</a:t>
                </a:r>
              </a:p>
            </p:txBody>
          </p:sp>
        </mc:Choice>
        <mc:Fallback xmlns="">
          <p:sp>
            <p:nvSpPr>
              <p:cNvPr id="3" name="Content Placeholder 2">
                <a:extLst>
                  <a:ext uri="{FF2B5EF4-FFF2-40B4-BE49-F238E27FC236}">
                    <a16:creationId xmlns:a16="http://schemas.microsoft.com/office/drawing/2014/main" id="{A5BB07FC-04E6-6CCE-679B-32B6B7AC8E49}"/>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9037825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 name="Title 1">
                <a:extLst>
                  <a:ext uri="{FF2B5EF4-FFF2-40B4-BE49-F238E27FC236}">
                    <a16:creationId xmlns:a16="http://schemas.microsoft.com/office/drawing/2014/main" id="{58BD3A92-F435-7C36-5746-4DD8BBD2FA49}"/>
                  </a:ext>
                </a:extLst>
              </p:cNvPr>
              <p:cNvSpPr>
                <a:spLocks noGrp="1"/>
              </p:cNvSpPr>
              <p:nvPr>
                <p:ph type="title"/>
              </p:nvPr>
            </p:nvSpPr>
            <p:spPr>
              <a:xfrm>
                <a:off x="193040" y="-160020"/>
                <a:ext cx="10515600" cy="1325563"/>
              </a:xfrm>
            </p:spPr>
            <p:txBody>
              <a:bodyPr/>
              <a:lstStyle/>
              <a:p>
                <a14:m>
                  <m:oMath xmlns:m="http://schemas.openxmlformats.org/officeDocument/2006/math">
                    <m:r>
                      <a:rPr lang="en-US" b="0" i="1" smtClean="0">
                        <a:latin typeface="Cambria Math" panose="02040503050406030204" pitchFamily="18" charset="0"/>
                      </a:rPr>
                      <m:t>𝐸𝑋𝑃</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 </a:t>
                </a:r>
              </a:p>
            </p:txBody>
          </p:sp>
        </mc:Choice>
        <mc:Fallback xmlns="">
          <p:sp>
            <p:nvSpPr>
              <p:cNvPr id="26" name="Title 1">
                <a:extLst>
                  <a:ext uri="{FF2B5EF4-FFF2-40B4-BE49-F238E27FC236}">
                    <a16:creationId xmlns:a16="http://schemas.microsoft.com/office/drawing/2014/main" id="{58BD3A92-F435-7C36-5746-4DD8BBD2FA49}"/>
                  </a:ext>
                </a:extLst>
              </p:cNvPr>
              <p:cNvSpPr>
                <a:spLocks noGrp="1" noRot="1" noChangeAspect="1" noMove="1" noResize="1" noEditPoints="1" noAdjustHandles="1" noChangeArrowheads="1" noChangeShapeType="1" noTextEdit="1"/>
              </p:cNvSpPr>
              <p:nvPr>
                <p:ph type="title"/>
              </p:nvPr>
            </p:nvSpPr>
            <p:spPr>
              <a:xfrm>
                <a:off x="193040" y="-160020"/>
                <a:ext cx="10515600" cy="1325563"/>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71DED51-C630-1C05-E13A-1F2DA7629B7A}"/>
                  </a:ext>
                </a:extLst>
              </p:cNvPr>
              <p:cNvSpPr txBox="1"/>
              <p:nvPr/>
            </p:nvSpPr>
            <p:spPr>
              <a:xfrm>
                <a:off x="-188477" y="860026"/>
                <a:ext cx="5212080" cy="954107"/>
              </a:xfrm>
              <a:prstGeom prst="rect">
                <a:avLst/>
              </a:prstGeom>
              <a:noFill/>
            </p:spPr>
            <p:txBody>
              <a:bodyPr wrap="square">
                <a:spAutoFit/>
              </a:bodyPr>
              <a:lstStyle/>
              <a:p>
                <a:pPr algn="ct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r>
                  <a:rPr lang="en-US" sz="2800" dirty="0">
                    <a:solidFill>
                      <a:srgbClr val="FF0000"/>
                    </a:solidFill>
                  </a:rPr>
                  <a:t> </a:t>
                </a:r>
                <a:r>
                  <a:rPr lang="en-US" sz="2800" dirty="0" err="1">
                    <a:solidFill>
                      <a:srgbClr val="FF0000"/>
                    </a:solidFill>
                  </a:rPr>
                  <a:t>iff</a:t>
                </a:r>
                <a:r>
                  <a:rPr lang="en-US" sz="2800" dirty="0">
                    <a:solidFill>
                      <a:srgbClr val="FF0000"/>
                    </a:solidFill>
                  </a:rPr>
                  <a:t> some problem from </a:t>
                </a:r>
                <a14:m>
                  <m:oMath xmlns:m="http://schemas.openxmlformats.org/officeDocument/2006/math">
                    <m:r>
                      <a:rPr lang="en-US" sz="2800" b="0" i="1" smtClean="0">
                        <a:solidFill>
                          <a:srgbClr val="FF0000"/>
                        </a:solidFill>
                        <a:latin typeface="Cambria Math" panose="02040503050406030204" pitchFamily="18" charset="0"/>
                      </a:rPr>
                      <m:t>𝑁𝑃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𝐶𝑜𝑚𝑝𝑙𝑒𝑡𝑒</m:t>
                    </m:r>
                  </m:oMath>
                </a14:m>
                <a:r>
                  <a:rPr lang="en-US" sz="2800" dirty="0">
                    <a:solidFill>
                      <a:srgbClr val="FF0000"/>
                    </a:solidFill>
                  </a:rPr>
                  <a:t> belongs to </a:t>
                </a:r>
                <a14:m>
                  <m:oMath xmlns:m="http://schemas.openxmlformats.org/officeDocument/2006/math">
                    <m:r>
                      <a:rPr lang="en-US" sz="2800" b="0" i="1" smtClean="0">
                        <a:solidFill>
                          <a:srgbClr val="FF0000"/>
                        </a:solidFill>
                        <a:latin typeface="Cambria Math" panose="02040503050406030204" pitchFamily="18" charset="0"/>
                      </a:rPr>
                      <m:t>𝑃</m:t>
                    </m:r>
                  </m:oMath>
                </a14:m>
                <a:r>
                  <a:rPr lang="en-US" sz="2800" dirty="0">
                    <a:solidFill>
                      <a:srgbClr val="FF0000"/>
                    </a:solidFill>
                  </a:rPr>
                  <a:t> </a:t>
                </a:r>
              </a:p>
            </p:txBody>
          </p:sp>
        </mc:Choice>
        <mc:Fallback xmlns="">
          <p:sp>
            <p:nvSpPr>
              <p:cNvPr id="27" name="TextBox 26">
                <a:extLst>
                  <a:ext uri="{FF2B5EF4-FFF2-40B4-BE49-F238E27FC236}">
                    <a16:creationId xmlns:a16="http://schemas.microsoft.com/office/drawing/2014/main" id="{A71DED51-C630-1C05-E13A-1F2DA7629B7A}"/>
                  </a:ext>
                </a:extLst>
              </p:cNvPr>
              <p:cNvSpPr txBox="1">
                <a:spLocks noRot="1" noChangeAspect="1" noMove="1" noResize="1" noEditPoints="1" noAdjustHandles="1" noChangeArrowheads="1" noChangeShapeType="1" noTextEdit="1"/>
              </p:cNvSpPr>
              <p:nvPr/>
            </p:nvSpPr>
            <p:spPr>
              <a:xfrm>
                <a:off x="-188477" y="860026"/>
                <a:ext cx="5212080" cy="954107"/>
              </a:xfrm>
              <a:prstGeom prst="rect">
                <a:avLst/>
              </a:prstGeom>
              <a:blipFill>
                <a:blip r:embed="rId3"/>
                <a:stretch>
                  <a:fillRect t="-5732" b="-17197"/>
                </a:stretch>
              </a:blipFill>
            </p:spPr>
            <p:txBody>
              <a:bodyPr/>
              <a:lstStyle/>
              <a:p>
                <a:r>
                  <a:rPr lang="en-US">
                    <a:noFill/>
                  </a:rPr>
                  <a:t> </a:t>
                </a:r>
              </a:p>
            </p:txBody>
          </p:sp>
        </mc:Fallback>
      </mc:AlternateContent>
      <p:grpSp>
        <p:nvGrpSpPr>
          <p:cNvPr id="19" name="Group 18" descr="A venn diagram illustrating the relationship between EXP, P, and NP, NP-Complete, and NP-hart.&#10;&#10;P is known to be a subset of NP, but it is now known if it is a proper subset.&#10;&#10;NP is known to be a proper subset of EXP.&#10;&#10;NP-Hard contains the &quot;hardest&quot; problems from NP, and all problems harder than that. It is now known to contain any problems from P, but is known to contain problems from within NP and also outside of NP.&#10;&#10;NP-Complete is defined as the intersection of NP and NP Hard, an therefore consists of the hardest problems from among NP.&#10;&#10;Some members of each portion:&#10;&#10;Problems known to be within P: Sorting, Euler Path, Shortest Path.&#10;&#10;Problems known to be within NP but are believed to be outside of both P and NP-Hard: Cryptography and Prime Factorization.&#10;&#10;Problems known to be within NP-Complete: Vertex Cover, Independent Set, Hamiltonian Path&#10;&#10;Problems known to be outside of NP: perfectly playing board games like checkers, chess, and go.">
            <a:extLst>
              <a:ext uri="{FF2B5EF4-FFF2-40B4-BE49-F238E27FC236}">
                <a16:creationId xmlns:a16="http://schemas.microsoft.com/office/drawing/2014/main" id="{0BF2553B-A8E9-2DA3-9BE3-EAEA6EE0D998}"/>
              </a:ext>
            </a:extLst>
          </p:cNvPr>
          <p:cNvGrpSpPr/>
          <p:nvPr/>
        </p:nvGrpSpPr>
        <p:grpSpPr>
          <a:xfrm>
            <a:off x="1879600" y="1411817"/>
            <a:ext cx="11023600" cy="5430287"/>
            <a:chOff x="1879600" y="1411817"/>
            <a:chExt cx="11023600" cy="5430287"/>
          </a:xfrm>
        </p:grpSpPr>
        <p:grpSp>
          <p:nvGrpSpPr>
            <p:cNvPr id="18" name="Group 17">
              <a:extLst>
                <a:ext uri="{FF2B5EF4-FFF2-40B4-BE49-F238E27FC236}">
                  <a16:creationId xmlns:a16="http://schemas.microsoft.com/office/drawing/2014/main" id="{AF96FFB7-6607-6F79-B3BA-77C3C283E189}"/>
                </a:ext>
              </a:extLst>
            </p:cNvPr>
            <p:cNvGrpSpPr/>
            <p:nvPr/>
          </p:nvGrpSpPr>
          <p:grpSpPr>
            <a:xfrm>
              <a:off x="1879600" y="1411817"/>
              <a:ext cx="11023600" cy="5430287"/>
              <a:chOff x="396240" y="715328"/>
              <a:chExt cx="12469756" cy="6142672"/>
            </a:xfrm>
          </p:grpSpPr>
          <p:sp>
            <p:nvSpPr>
              <p:cNvPr id="5" name="Oval 4">
                <a:extLst>
                  <a:ext uri="{FF2B5EF4-FFF2-40B4-BE49-F238E27FC236}">
                    <a16:creationId xmlns:a16="http://schemas.microsoft.com/office/drawing/2014/main" id="{141635B6-F402-1095-4877-EFE866AA1617}"/>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3933289-11A2-E100-3246-E02B39C7AED0}"/>
                      </a:ext>
                    </a:extLst>
                  </p:cNvPr>
                  <p:cNvSpPr txBox="1"/>
                  <p:nvPr/>
                </p:nvSpPr>
                <p:spPr>
                  <a:xfrm>
                    <a:off x="3342640" y="733886"/>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F3933289-11A2-E100-3246-E02B39C7AED0}"/>
                      </a:ext>
                    </a:extLst>
                  </p:cNvPr>
                  <p:cNvSpPr txBox="1">
                    <a:spLocks noRot="1" noChangeAspect="1" noMove="1" noResize="1" noEditPoints="1" noAdjustHandles="1" noChangeArrowheads="1" noChangeShapeType="1" noTextEdit="1"/>
                  </p:cNvSpPr>
                  <p:nvPr/>
                </p:nvSpPr>
                <p:spPr>
                  <a:xfrm>
                    <a:off x="3342640" y="733886"/>
                    <a:ext cx="6096000" cy="523220"/>
                  </a:xfrm>
                  <a:prstGeom prst="rect">
                    <a:avLst/>
                  </a:prstGeom>
                  <a:blipFill>
                    <a:blip r:embed="rId4"/>
                    <a:stretch>
                      <a:fillRect/>
                    </a:stretch>
                  </a:blipFill>
                </p:spPr>
                <p:txBody>
                  <a:bodyPr/>
                  <a:lstStyle/>
                  <a:p>
                    <a:r>
                      <a:rPr lang="en-US">
                        <a:noFill/>
                      </a:rPr>
                      <a:t> </a:t>
                    </a:r>
                  </a:p>
                </p:txBody>
              </p:sp>
            </mc:Fallback>
          </mc:AlternateContent>
          <p:sp>
            <p:nvSpPr>
              <p:cNvPr id="2" name="Oval 1">
                <a:extLst>
                  <a:ext uri="{FF2B5EF4-FFF2-40B4-BE49-F238E27FC236}">
                    <a16:creationId xmlns:a16="http://schemas.microsoft.com/office/drawing/2014/main" id="{8B632667-D7CC-99D1-7608-1CAA4E04D1B4}"/>
                  </a:ext>
                </a:extLst>
              </p:cNvPr>
              <p:cNvSpPr/>
              <p:nvPr/>
            </p:nvSpPr>
            <p:spPr>
              <a:xfrm>
                <a:off x="605530" y="1601802"/>
                <a:ext cx="10590790" cy="4967782"/>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6" name="Oval 5">
                <a:extLst>
                  <a:ext uri="{FF2B5EF4-FFF2-40B4-BE49-F238E27FC236}">
                    <a16:creationId xmlns:a16="http://schemas.microsoft.com/office/drawing/2014/main" id="{FBAF8506-45D6-1464-2EA9-BAD5C9E44E96}"/>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2CD1BFD-574C-E5F5-667A-A8E28277AD99}"/>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561229C-901F-E6AA-7760-7159895368CF}"/>
                      </a:ext>
                    </a:extLst>
                  </p:cNvPr>
                  <p:cNvSpPr txBox="1"/>
                  <p:nvPr/>
                </p:nvSpPr>
                <p:spPr>
                  <a:xfrm>
                    <a:off x="4918353" y="2487883"/>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4918353" y="2487883"/>
                    <a:ext cx="6096000" cy="523220"/>
                  </a:xfrm>
                  <a:prstGeom prst="rect">
                    <a:avLst/>
                  </a:prstGeom>
                  <a:blipFill>
                    <a:blip r:embed="rId6"/>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7871E19D-2C78-C958-C3C5-E54426343C33}"/>
                  </a:ext>
                </a:extLst>
              </p:cNvPr>
              <p:cNvGrpSpPr/>
              <p:nvPr/>
            </p:nvGrpSpPr>
            <p:grpSpPr>
              <a:xfrm>
                <a:off x="5659484" y="5496161"/>
                <a:ext cx="2475158" cy="750577"/>
                <a:chOff x="6200745" y="5135200"/>
                <a:chExt cx="2475158" cy="750577"/>
              </a:xfrm>
            </p:grpSpPr>
            <p:grpSp>
              <p:nvGrpSpPr>
                <p:cNvPr id="20" name="Group 19">
                  <a:extLst>
                    <a:ext uri="{FF2B5EF4-FFF2-40B4-BE49-F238E27FC236}">
                      <a16:creationId xmlns:a16="http://schemas.microsoft.com/office/drawing/2014/main" id="{AC71D22A-C4FD-A562-E8FB-9618A48A76F8}"/>
                    </a:ext>
                  </a:extLst>
                </p:cNvPr>
                <p:cNvGrpSpPr/>
                <p:nvPr/>
              </p:nvGrpSpPr>
              <p:grpSpPr>
                <a:xfrm rot="1389724">
                  <a:off x="6200745" y="5135200"/>
                  <a:ext cx="2475158" cy="523220"/>
                  <a:chOff x="6197600" y="5013683"/>
                  <a:chExt cx="2475158" cy="523220"/>
                </a:xfrm>
              </p:grpSpPr>
              <p:sp>
                <p:nvSpPr>
                  <p:cNvPr id="12" name="TextBox 11">
                    <a:extLst>
                      <a:ext uri="{FF2B5EF4-FFF2-40B4-BE49-F238E27FC236}">
                        <a16:creationId xmlns:a16="http://schemas.microsoft.com/office/drawing/2014/main" id="{DD281509-7CCC-72FA-5A63-28BAA927617A}"/>
                      </a:ext>
                    </a:extLst>
                  </p:cNvPr>
                  <p:cNvSpPr txBox="1"/>
                  <p:nvPr/>
                </p:nvSpPr>
                <p:spPr>
                  <a:xfrm>
                    <a:off x="7053897" y="5013683"/>
                    <a:ext cx="955604" cy="523220"/>
                  </a:xfrm>
                  <a:prstGeom prst="rect">
                    <a:avLst/>
                  </a:prstGeom>
                  <a:noFill/>
                </p:spPr>
                <p:txBody>
                  <a:bodyPr wrap="square">
                    <a:spAutoFit/>
                  </a:bodyPr>
                  <a:lstStyle/>
                  <a:p>
                    <a:pPr algn="ctr"/>
                    <a:r>
                      <a:rPr lang="en-US" sz="2400" dirty="0">
                        <a:solidFill>
                          <a:srgbClr val="FF0000"/>
                        </a:solidFill>
                      </a:rPr>
                      <a:t>Gap?</a:t>
                    </a:r>
                  </a:p>
                </p:txBody>
              </p:sp>
              <p:cxnSp>
                <p:nvCxnSpPr>
                  <p:cNvPr id="14" name="Straight Arrow Connector 13">
                    <a:extLst>
                      <a:ext uri="{FF2B5EF4-FFF2-40B4-BE49-F238E27FC236}">
                        <a16:creationId xmlns:a16="http://schemas.microsoft.com/office/drawing/2014/main" id="{B82661DB-8387-2CF0-35D0-C14C37B0B8E7}"/>
                      </a:ext>
                    </a:extLst>
                  </p:cNvPr>
                  <p:cNvCxnSpPr>
                    <a:stCxn id="12" idx="1"/>
                  </p:cNvCxnSpPr>
                  <p:nvPr/>
                </p:nvCxnSpPr>
                <p:spPr>
                  <a:xfrm flipH="1">
                    <a:off x="6197600" y="5275293"/>
                    <a:ext cx="856297" cy="1"/>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15AF750-7ABB-9963-C32B-09B336727927}"/>
                      </a:ext>
                    </a:extLst>
                  </p:cNvPr>
                  <p:cNvCxnSpPr>
                    <a:cxnSpLocks/>
                    <a:stCxn id="12" idx="3"/>
                  </p:cNvCxnSpPr>
                  <p:nvPr/>
                </p:nvCxnSpPr>
                <p:spPr>
                  <a:xfrm>
                    <a:off x="8009501" y="5275293"/>
                    <a:ext cx="663257" cy="0"/>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C565268-1DFA-2BDF-B753-888B618F5053}"/>
                    </a:ext>
                  </a:extLst>
                </p:cNvPr>
                <p:cNvSpPr txBox="1"/>
                <p:nvPr/>
              </p:nvSpPr>
              <p:spPr>
                <a:xfrm rot="1389724">
                  <a:off x="6228679" y="5362557"/>
                  <a:ext cx="1810649" cy="523220"/>
                </a:xfrm>
                <a:prstGeom prst="rect">
                  <a:avLst/>
                </a:prstGeom>
                <a:noFill/>
              </p:spPr>
              <p:txBody>
                <a:bodyPr wrap="square">
                  <a:spAutoFit/>
                </a:bodyPr>
                <a:lstStyle/>
                <a:p>
                  <a:pPr algn="ctr"/>
                  <a:r>
                    <a:rPr lang="en-US" sz="2400" dirty="0">
                      <a:solidFill>
                        <a:srgbClr val="FF0000"/>
                      </a:solidFill>
                    </a:rPr>
                    <a:t>Unknown!</a:t>
                  </a:r>
                </a:p>
              </p:txBody>
            </p:sp>
          </p:grpSp>
          <p:sp>
            <p:nvSpPr>
              <p:cNvPr id="3" name="TextBox 2">
                <a:extLst>
                  <a:ext uri="{FF2B5EF4-FFF2-40B4-BE49-F238E27FC236}">
                    <a16:creationId xmlns:a16="http://schemas.microsoft.com/office/drawing/2014/main" id="{6D8DB62C-26FA-47C4-9CF8-BA550BE15574}"/>
                  </a:ext>
                </a:extLst>
              </p:cNvPr>
              <p:cNvSpPr txBox="1"/>
              <p:nvPr/>
            </p:nvSpPr>
            <p:spPr>
              <a:xfrm>
                <a:off x="4355537" y="4040747"/>
                <a:ext cx="1303947" cy="861774"/>
              </a:xfrm>
              <a:prstGeom prst="rect">
                <a:avLst/>
              </a:prstGeom>
              <a:noFill/>
            </p:spPr>
            <p:txBody>
              <a:bodyPr wrap="none" rtlCol="0">
                <a:spAutoFit/>
              </a:bodyPr>
              <a:lstStyle/>
              <a:p>
                <a:r>
                  <a:rPr lang="en-US" sz="1600" dirty="0">
                    <a:solidFill>
                      <a:srgbClr val="7030A0"/>
                    </a:solidFill>
                  </a:rPr>
                  <a:t>Sorting</a:t>
                </a:r>
              </a:p>
              <a:p>
                <a:r>
                  <a:rPr lang="en-US" sz="1600" dirty="0">
                    <a:solidFill>
                      <a:srgbClr val="7030A0"/>
                    </a:solidFill>
                  </a:rPr>
                  <a:t>Shortest Path</a:t>
                </a:r>
              </a:p>
              <a:p>
                <a:r>
                  <a:rPr lang="en-US" sz="1600" dirty="0">
                    <a:solidFill>
                      <a:srgbClr val="7030A0"/>
                    </a:solidFill>
                  </a:rPr>
                  <a:t>Euler Path</a:t>
                </a:r>
              </a:p>
            </p:txBody>
          </p:sp>
          <p:sp>
            <p:nvSpPr>
              <p:cNvPr id="8" name="TextBox 7">
                <a:extLst>
                  <a:ext uri="{FF2B5EF4-FFF2-40B4-BE49-F238E27FC236}">
                    <a16:creationId xmlns:a16="http://schemas.microsoft.com/office/drawing/2014/main" id="{13E90524-0054-417F-44E8-4B21DAC3A3E9}"/>
                  </a:ext>
                </a:extLst>
              </p:cNvPr>
              <p:cNvSpPr txBox="1"/>
              <p:nvPr/>
            </p:nvSpPr>
            <p:spPr>
              <a:xfrm>
                <a:off x="6506152" y="3146462"/>
                <a:ext cx="1765099" cy="584775"/>
              </a:xfrm>
              <a:prstGeom prst="rect">
                <a:avLst/>
              </a:prstGeom>
              <a:noFill/>
            </p:spPr>
            <p:txBody>
              <a:bodyPr wrap="none" rtlCol="0">
                <a:spAutoFit/>
              </a:bodyPr>
              <a:lstStyle/>
              <a:p>
                <a:r>
                  <a:rPr lang="en-US" sz="1600" dirty="0">
                    <a:solidFill>
                      <a:srgbClr val="7030A0"/>
                    </a:solidFill>
                  </a:rPr>
                  <a:t>Cryptography</a:t>
                </a:r>
              </a:p>
              <a:p>
                <a:r>
                  <a:rPr lang="en-US" sz="1600" dirty="0">
                    <a:solidFill>
                      <a:srgbClr val="7030A0"/>
                    </a:solidFill>
                  </a:rPr>
                  <a:t>Prime factorization</a:t>
                </a:r>
              </a:p>
            </p:txBody>
          </p:sp>
          <p:sp>
            <p:nvSpPr>
              <p:cNvPr id="9" name="TextBox 8">
                <a:extLst>
                  <a:ext uri="{FF2B5EF4-FFF2-40B4-BE49-F238E27FC236}">
                    <a16:creationId xmlns:a16="http://schemas.microsoft.com/office/drawing/2014/main" id="{02FB1F7F-722C-2555-934B-D67F0220B70F}"/>
                  </a:ext>
                </a:extLst>
              </p:cNvPr>
              <p:cNvSpPr txBox="1"/>
              <p:nvPr/>
            </p:nvSpPr>
            <p:spPr>
              <a:xfrm>
                <a:off x="7834400" y="886339"/>
                <a:ext cx="927946" cy="830997"/>
              </a:xfrm>
              <a:prstGeom prst="rect">
                <a:avLst/>
              </a:prstGeom>
              <a:noFill/>
            </p:spPr>
            <p:txBody>
              <a:bodyPr wrap="none" rtlCol="0">
                <a:spAutoFit/>
              </a:bodyPr>
              <a:lstStyle/>
              <a:p>
                <a:r>
                  <a:rPr lang="en-US" sz="1600" dirty="0">
                    <a:solidFill>
                      <a:srgbClr val="7030A0"/>
                    </a:solidFill>
                  </a:rPr>
                  <a:t>Checkers</a:t>
                </a:r>
              </a:p>
              <a:p>
                <a:r>
                  <a:rPr lang="en-US" sz="1600" dirty="0">
                    <a:solidFill>
                      <a:srgbClr val="7030A0"/>
                    </a:solidFill>
                  </a:rPr>
                  <a:t>Go</a:t>
                </a:r>
              </a:p>
              <a:p>
                <a:r>
                  <a:rPr lang="en-US" sz="1600" dirty="0">
                    <a:solidFill>
                      <a:srgbClr val="7030A0"/>
                    </a:solidFill>
                  </a:rPr>
                  <a:t>Chess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11B5139-FBD7-3531-7C1C-1F1621BA7785}"/>
                      </a:ext>
                    </a:extLst>
                  </p:cNvPr>
                  <p:cNvSpPr txBox="1"/>
                  <p:nvPr/>
                </p:nvSpPr>
                <p:spPr>
                  <a:xfrm rot="2360876">
                    <a:off x="6769996" y="2815137"/>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r>
                            <a:rPr lang="en-US" sz="2800" b="0" i="1" dirty="0" smtClean="0">
                              <a:solidFill>
                                <a:schemeClr val="tx1"/>
                              </a:solidFill>
                              <a:latin typeface="Cambria Math" panose="02040503050406030204" pitchFamily="18" charset="0"/>
                            </a:rPr>
                            <m:t>−</m:t>
                          </m:r>
                          <m:r>
                            <a:rPr lang="en-US" sz="2800" b="0" i="1" dirty="0" smtClean="0">
                              <a:solidFill>
                                <a:schemeClr val="tx1"/>
                              </a:solidFill>
                              <a:latin typeface="Cambria Math" panose="02040503050406030204" pitchFamily="18" charset="0"/>
                            </a:rPr>
                            <m:t>𝐶𝑜𝑚𝑝𝑙𝑒𝑡𝑒</m:t>
                          </m:r>
                        </m:oMath>
                      </m:oMathPara>
                    </a14:m>
                    <a:endParaRPr lang="en-US" sz="2800" dirty="0">
                      <a:solidFill>
                        <a:schemeClr val="tx1"/>
                      </a:solidFill>
                    </a:endParaRPr>
                  </a:p>
                </p:txBody>
              </p:sp>
            </mc:Choice>
            <mc:Fallback xmlns="">
              <p:sp>
                <p:nvSpPr>
                  <p:cNvPr id="13" name="TextBox 12">
                    <a:extLst>
                      <a:ext uri="{FF2B5EF4-FFF2-40B4-BE49-F238E27FC236}">
                        <a16:creationId xmlns:a16="http://schemas.microsoft.com/office/drawing/2014/main" id="{B11B5139-FBD7-3531-7C1C-1F1621BA7785}"/>
                      </a:ext>
                    </a:extLst>
                  </p:cNvPr>
                  <p:cNvSpPr txBox="1">
                    <a:spLocks noRot="1" noChangeAspect="1" noMove="1" noResize="1" noEditPoints="1" noAdjustHandles="1" noChangeArrowheads="1" noChangeShapeType="1" noTextEdit="1"/>
                  </p:cNvSpPr>
                  <p:nvPr/>
                </p:nvSpPr>
                <p:spPr>
                  <a:xfrm rot="2360876">
                    <a:off x="6769996" y="2815137"/>
                    <a:ext cx="6096000" cy="523220"/>
                  </a:xfrm>
                  <a:prstGeom prst="rect">
                    <a:avLst/>
                  </a:prstGeom>
                  <a:blipFill>
                    <a:blip r:embed="rId7"/>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A0F67D4C-CBE9-7144-95D5-AA867D702FFA}"/>
                  </a:ext>
                </a:extLst>
              </p:cNvPr>
              <p:cNvSpPr txBox="1"/>
              <p:nvPr/>
            </p:nvSpPr>
            <p:spPr>
              <a:xfrm>
                <a:off x="5471488" y="1570018"/>
                <a:ext cx="2308598" cy="830997"/>
              </a:xfrm>
              <a:prstGeom prst="rect">
                <a:avLst/>
              </a:prstGeom>
              <a:noFill/>
            </p:spPr>
            <p:txBody>
              <a:bodyPr wrap="square">
                <a:spAutoFit/>
              </a:bodyPr>
              <a:lstStyle/>
              <a:p>
                <a:r>
                  <a:rPr lang="en-US" sz="1600" dirty="0">
                    <a:solidFill>
                      <a:srgbClr val="7030A0"/>
                    </a:solidFill>
                  </a:rPr>
                  <a:t>Vertex Cover</a:t>
                </a:r>
              </a:p>
              <a:p>
                <a:r>
                  <a:rPr lang="en-US" sz="1600" dirty="0">
                    <a:solidFill>
                      <a:srgbClr val="7030A0"/>
                    </a:solidFill>
                  </a:rPr>
                  <a:t>Independent Set</a:t>
                </a:r>
              </a:p>
              <a:p>
                <a:r>
                  <a:rPr lang="en-US" sz="1600" dirty="0">
                    <a:solidFill>
                      <a:srgbClr val="7030A0"/>
                    </a:solidFill>
                  </a:rPr>
                  <a:t>Hamiltonian Path</a:t>
                </a:r>
              </a:p>
            </p:txBody>
          </p:sp>
        </p:grpSp>
        <mc:AlternateContent xmlns:mc="http://schemas.openxmlformats.org/markup-compatibility/2006" xmlns:a14="http://schemas.microsoft.com/office/drawing/2010/main">
          <mc:Choice Requires="a14">
            <p:sp>
              <p:nvSpPr>
                <p:cNvPr id="16" name="Arrow: Right 15">
                  <a:extLst>
                    <a:ext uri="{FF2B5EF4-FFF2-40B4-BE49-F238E27FC236}">
                      <a16:creationId xmlns:a16="http://schemas.microsoft.com/office/drawing/2014/main" id="{26F47A85-59BE-F883-E96D-625BE705A42A}"/>
                    </a:ext>
                  </a:extLst>
                </p:cNvPr>
                <p:cNvSpPr/>
                <p:nvPr/>
              </p:nvSpPr>
              <p:spPr>
                <a:xfrm rot="2172224">
                  <a:off x="9931653" y="5228397"/>
                  <a:ext cx="1995037" cy="988196"/>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16" name="Arrow: Right 15">
                  <a:extLst>
                    <a:ext uri="{FF2B5EF4-FFF2-40B4-BE49-F238E27FC236}">
                      <a16:creationId xmlns:a16="http://schemas.microsoft.com/office/drawing/2014/main" id="{26F47A85-59BE-F883-E96D-625BE705A42A}"/>
                    </a:ext>
                  </a:extLst>
                </p:cNvPr>
                <p:cNvSpPr>
                  <a:spLocks noRot="1" noChangeAspect="1" noMove="1" noResize="1" noEditPoints="1" noAdjustHandles="1" noChangeArrowheads="1" noChangeShapeType="1" noTextEdit="1"/>
                </p:cNvSpPr>
                <p:nvPr/>
              </p:nvSpPr>
              <p:spPr>
                <a:xfrm rot="2172224">
                  <a:off x="9931653" y="5228397"/>
                  <a:ext cx="1995037" cy="988196"/>
                </a:xfrm>
                <a:prstGeom prst="rightArrow">
                  <a:avLst/>
                </a:prstGeom>
                <a:blipFill>
                  <a:blip r:embed="rId8"/>
                  <a:stretch>
                    <a:fillRect/>
                  </a:stretch>
                </a:blipFill>
                <a:ln>
                  <a:solidFill>
                    <a:schemeClr val="tx1"/>
                  </a:solidFill>
                </a:ln>
              </p:spPr>
              <p:txBody>
                <a:bodyPr/>
                <a:lstStyle/>
                <a:p>
                  <a:r>
                    <a:rPr lang="en-US">
                      <a:noFill/>
                    </a:rPr>
                    <a:t> </a:t>
                  </a:r>
                </a:p>
              </p:txBody>
            </p:sp>
          </mc:Fallback>
        </mc:AlternateContent>
      </p:grpSp>
    </p:spTree>
    <p:extLst>
      <p:ext uri="{BB962C8B-B14F-4D97-AF65-F5344CB8AC3E}">
        <p14:creationId xmlns:p14="http://schemas.microsoft.com/office/powerpoint/2010/main" val="322590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NP-Hard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9910" y="2407376"/>
                <a:ext cx="7834893" cy="4525963"/>
              </a:xfrm>
            </p:spPr>
            <p:txBody>
              <a:bodyPr>
                <a:normAutofit/>
              </a:bodyPr>
              <a:lstStyle/>
              <a:p>
                <a:r>
                  <a:rPr lang="en-US" dirty="0"/>
                  <a:t>How can we try to figure out if P=NP?</a:t>
                </a:r>
              </a:p>
              <a:p>
                <a:r>
                  <a:rPr lang="en-US" dirty="0"/>
                  <a:t>Identify problems at least as “hard” as NP</a:t>
                </a:r>
              </a:p>
              <a:p>
                <a:pPr lvl="1"/>
                <a:r>
                  <a:rPr lang="en-US" dirty="0"/>
                  <a:t>If any of these “hard” problems can be solved in polynomial time, then all NP problems can be solved in polynomial time.</a:t>
                </a:r>
              </a:p>
              <a:p>
                <a:r>
                  <a:rPr lang="en-US" dirty="0"/>
                  <a:t>Definition: NP-Hard:</a:t>
                </a:r>
              </a:p>
              <a:p>
                <a:pPr lvl="1"/>
                <a14:m>
                  <m:oMath xmlns:m="http://schemas.openxmlformats.org/officeDocument/2006/math">
                    <m:r>
                      <a:rPr lang="en-US" b="0" i="1" smtClean="0">
                        <a:latin typeface="Cambria Math"/>
                      </a:rPr>
                      <m:t>𝐵</m:t>
                    </m:r>
                  </m:oMath>
                </a14:m>
                <a:r>
                  <a:rPr lang="en-US" dirty="0"/>
                  <a:t> is NP-Hard provided EVERY problem within NP reduces to </a:t>
                </a:r>
                <a14:m>
                  <m:oMath xmlns:m="http://schemas.openxmlformats.org/officeDocument/2006/math">
                    <m:r>
                      <a:rPr lang="en-US" i="1" dirty="0" smtClean="0">
                        <a:latin typeface="Cambria Math" panose="02040503050406030204" pitchFamily="18" charset="0"/>
                      </a:rPr>
                      <m:t>𝐵</m:t>
                    </m:r>
                  </m:oMath>
                </a14:m>
                <a:r>
                  <a:rPr lang="en-US" dirty="0"/>
                  <a:t> in polynomial time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9910" y="2407376"/>
                <a:ext cx="7834893" cy="4525963"/>
              </a:xfrm>
              <a:blipFill>
                <a:blip r:embed="rId2"/>
                <a:stretch>
                  <a:fillRect l="-1401" t="-2291"/>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F0F53445-FAF3-55FA-3158-72BDE63F810D}"/>
              </a:ext>
              <a:ext uri="{C183D7F6-B498-43B3-948B-1728B52AA6E4}">
                <adec:decorative xmlns:adec="http://schemas.microsoft.com/office/drawing/2017/decorative" val="1"/>
              </a:ext>
            </a:extLst>
          </p:cNvPr>
          <p:cNvGrpSpPr/>
          <p:nvPr/>
        </p:nvGrpSpPr>
        <p:grpSpPr>
          <a:xfrm>
            <a:off x="6431618" y="365125"/>
            <a:ext cx="5318549" cy="2636366"/>
            <a:chOff x="1879600" y="1306031"/>
            <a:chExt cx="11168359" cy="5536073"/>
          </a:xfrm>
        </p:grpSpPr>
        <p:grpSp>
          <p:nvGrpSpPr>
            <p:cNvPr id="13" name="Group 12">
              <a:extLst>
                <a:ext uri="{FF2B5EF4-FFF2-40B4-BE49-F238E27FC236}">
                  <a16:creationId xmlns:a16="http://schemas.microsoft.com/office/drawing/2014/main" id="{14DA0434-297F-EDAC-265F-E170CC0E9D56}"/>
                </a:ext>
              </a:extLst>
            </p:cNvPr>
            <p:cNvGrpSpPr/>
            <p:nvPr/>
          </p:nvGrpSpPr>
          <p:grpSpPr>
            <a:xfrm>
              <a:off x="1879600" y="1306031"/>
              <a:ext cx="10257117" cy="5536073"/>
              <a:chOff x="396240" y="595664"/>
              <a:chExt cx="11602720" cy="6262336"/>
            </a:xfrm>
          </p:grpSpPr>
          <p:sp>
            <p:nvSpPr>
              <p:cNvPr id="15" name="Oval 14">
                <a:extLst>
                  <a:ext uri="{FF2B5EF4-FFF2-40B4-BE49-F238E27FC236}">
                    <a16:creationId xmlns:a16="http://schemas.microsoft.com/office/drawing/2014/main" id="{DCCFA8EE-2EC1-829A-DC41-28DDBA62D32D}"/>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62A4565-A14C-5F02-5358-EE00317DBF4F}"/>
                      </a:ext>
                    </a:extLst>
                  </p:cNvPr>
                  <p:cNvSpPr txBox="1"/>
                  <p:nvPr/>
                </p:nvSpPr>
                <p:spPr>
                  <a:xfrm>
                    <a:off x="3342640" y="595664"/>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6" name="TextBox 15">
                    <a:extLst>
                      <a:ext uri="{FF2B5EF4-FFF2-40B4-BE49-F238E27FC236}">
                        <a16:creationId xmlns:a16="http://schemas.microsoft.com/office/drawing/2014/main" id="{E62A4565-A14C-5F02-5358-EE00317DBF4F}"/>
                      </a:ext>
                    </a:extLst>
                  </p:cNvPr>
                  <p:cNvSpPr txBox="1">
                    <a:spLocks noRot="1" noChangeAspect="1" noMove="1" noResize="1" noEditPoints="1" noAdjustHandles="1" noChangeArrowheads="1" noChangeShapeType="1" noTextEdit="1"/>
                  </p:cNvSpPr>
                  <p:nvPr/>
                </p:nvSpPr>
                <p:spPr>
                  <a:xfrm>
                    <a:off x="3342640" y="595664"/>
                    <a:ext cx="6095999" cy="523220"/>
                  </a:xfrm>
                  <a:prstGeom prst="rect">
                    <a:avLst/>
                  </a:prstGeom>
                  <a:blipFill>
                    <a:blip r:embed="rId3"/>
                    <a:stretch>
                      <a:fillRect b="-75000"/>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28F03A6E-7CF2-FBE9-409B-B681CCB04C75}"/>
                  </a:ext>
                </a:extLst>
              </p:cNvPr>
              <p:cNvSpPr/>
              <p:nvPr/>
            </p:nvSpPr>
            <p:spPr>
              <a:xfrm>
                <a:off x="605530" y="1601802"/>
                <a:ext cx="10590790" cy="4967782"/>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8" name="Oval 17">
                <a:extLst>
                  <a:ext uri="{FF2B5EF4-FFF2-40B4-BE49-F238E27FC236}">
                    <a16:creationId xmlns:a16="http://schemas.microsoft.com/office/drawing/2014/main" id="{2D70E952-52DF-72BC-9B33-4E87FA4183A5}"/>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DE996C53-6C44-655D-9BC1-7794BDB41CFF}"/>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6A1AEB1-2219-1DCD-8807-2194947DF6D1}"/>
                      </a:ext>
                    </a:extLst>
                  </p:cNvPr>
                  <p:cNvSpPr txBox="1"/>
                  <p:nvPr/>
                </p:nvSpPr>
                <p:spPr>
                  <a:xfrm>
                    <a:off x="4918353" y="2487883"/>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4918353" y="2487883"/>
                    <a:ext cx="6096000" cy="523220"/>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 name="Arrow: Right 13">
                  <a:extLst>
                    <a:ext uri="{FF2B5EF4-FFF2-40B4-BE49-F238E27FC236}">
                      <a16:creationId xmlns:a16="http://schemas.microsoft.com/office/drawing/2014/main" id="{F337C3E7-E099-50D2-4917-C5F11ACA2017}"/>
                    </a:ext>
                  </a:extLst>
                </p:cNvPr>
                <p:cNvSpPr/>
                <p:nvPr/>
              </p:nvSpPr>
              <p:spPr>
                <a:xfrm rot="2172224">
                  <a:off x="9811840" y="5594923"/>
                  <a:ext cx="3236119" cy="988195"/>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14" name="Arrow: Right 13">
                  <a:extLst>
                    <a:ext uri="{FF2B5EF4-FFF2-40B4-BE49-F238E27FC236}">
                      <a16:creationId xmlns:a16="http://schemas.microsoft.com/office/drawing/2014/main" id="{F337C3E7-E099-50D2-4917-C5F11ACA2017}"/>
                    </a:ext>
                  </a:extLst>
                </p:cNvPr>
                <p:cNvSpPr>
                  <a:spLocks noRot="1" noChangeAspect="1" noMove="1" noResize="1" noEditPoints="1" noAdjustHandles="1" noChangeArrowheads="1" noChangeShapeType="1" noTextEdit="1"/>
                </p:cNvSpPr>
                <p:nvPr/>
              </p:nvSpPr>
              <p:spPr>
                <a:xfrm rot="2172224">
                  <a:off x="9811840" y="5594923"/>
                  <a:ext cx="3236119" cy="988195"/>
                </a:xfrm>
                <a:prstGeom prst="rightArrow">
                  <a:avLst/>
                </a:prstGeom>
                <a:blipFill>
                  <a:blip r:embed="rId7"/>
                  <a:stretch>
                    <a:fillRect/>
                  </a:stretch>
                </a:blipFill>
                <a:ln>
                  <a:solidFill>
                    <a:schemeClr val="tx1"/>
                  </a:solidFill>
                </a:ln>
              </p:spPr>
              <p:txBody>
                <a:bodyPr/>
                <a:lstStyle/>
                <a:p>
                  <a:r>
                    <a:rPr lang="en-US">
                      <a:noFill/>
                    </a:rPr>
                    <a:t> </a:t>
                  </a:r>
                </a:p>
              </p:txBody>
            </p:sp>
          </mc:Fallback>
        </mc:AlternateContent>
      </p:grpSp>
    </p:spTree>
    <p:extLst>
      <p:ext uri="{BB962C8B-B14F-4D97-AF65-F5344CB8AC3E}">
        <p14:creationId xmlns:p14="http://schemas.microsoft.com/office/powerpoint/2010/main" val="29974415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3001" y="-225840"/>
            <a:ext cx="10515600" cy="1325563"/>
          </a:xfrm>
        </p:spPr>
        <p:txBody>
          <a:bodyPr/>
          <a:lstStyle/>
          <a:p>
            <a:r>
              <a:rPr lang="en-US" dirty="0"/>
              <a:t>NP-Hard Idea</a:t>
            </a:r>
          </a:p>
        </p:txBody>
      </p:sp>
      <p:grpSp>
        <p:nvGrpSpPr>
          <p:cNvPr id="9" name="Group 8" descr="The definition of an NP-Hard problem is one where we can reduce EVERY NP problem to that problem in polynomial time. The idea being that if this NP-Hard problem had a polynomial time algorithm to solve it, every NP problem has a polynomial time algorithm to solve it. Therefore P would be equal to NP.">
            <a:extLst>
              <a:ext uri="{FF2B5EF4-FFF2-40B4-BE49-F238E27FC236}">
                <a16:creationId xmlns:a16="http://schemas.microsoft.com/office/drawing/2014/main" id="{1C38BF59-2678-07E2-0CF7-46925D9E8D80}"/>
              </a:ext>
            </a:extLst>
          </p:cNvPr>
          <p:cNvGrpSpPr/>
          <p:nvPr/>
        </p:nvGrpSpPr>
        <p:grpSpPr>
          <a:xfrm>
            <a:off x="1615701" y="1367136"/>
            <a:ext cx="8339945" cy="5249682"/>
            <a:chOff x="1615701" y="1367136"/>
            <a:chExt cx="8339945" cy="5249682"/>
          </a:xfrm>
        </p:grpSpPr>
        <p:grpSp>
          <p:nvGrpSpPr>
            <p:cNvPr id="3" name="Group 2">
              <a:extLst>
                <a:ext uri="{FF2B5EF4-FFF2-40B4-BE49-F238E27FC236}">
                  <a16:creationId xmlns:a16="http://schemas.microsoft.com/office/drawing/2014/main" id="{47CACA1E-7D99-1A72-8817-433C0E3DC080}"/>
                </a:ext>
              </a:extLst>
            </p:cNvPr>
            <p:cNvGrpSpPr/>
            <p:nvPr/>
          </p:nvGrpSpPr>
          <p:grpSpPr>
            <a:xfrm>
              <a:off x="1615701" y="1403866"/>
              <a:ext cx="1751882" cy="1587160"/>
              <a:chOff x="1615701" y="1403866"/>
              <a:chExt cx="1751882" cy="1587160"/>
            </a:xfrm>
          </p:grpSpPr>
          <p:sp>
            <p:nvSpPr>
              <p:cNvPr id="12" name="TextBox 11"/>
              <p:cNvSpPr txBox="1"/>
              <p:nvPr/>
            </p:nvSpPr>
            <p:spPr>
              <a:xfrm>
                <a:off x="1615701" y="1403866"/>
                <a:ext cx="1704313" cy="369332"/>
              </a:xfrm>
              <a:prstGeom prst="rect">
                <a:avLst/>
              </a:prstGeom>
              <a:noFill/>
            </p:spPr>
            <p:txBody>
              <a:bodyPr wrap="none" rtlCol="0">
                <a:spAutoFit/>
              </a:bodyPr>
              <a:lstStyle/>
              <a:p>
                <a:r>
                  <a:rPr lang="en-US" dirty="0"/>
                  <a:t>Any NP Problem</a:t>
                </a:r>
              </a:p>
            </p:txBody>
          </p:sp>
          <mc:AlternateContent xmlns:mc="http://schemas.openxmlformats.org/markup-compatibility/2006" xmlns:a14="http://schemas.microsoft.com/office/drawing/2010/main">
            <mc:Choice Requires="a14">
              <p:sp>
                <p:nvSpPr>
                  <p:cNvPr id="22" name="Flowchart: Magnetic Disk 21"/>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2"/>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5" name="Group 4">
              <a:extLst>
                <a:ext uri="{FF2B5EF4-FFF2-40B4-BE49-F238E27FC236}">
                  <a16:creationId xmlns:a16="http://schemas.microsoft.com/office/drawing/2014/main" id="{FD6E9CA6-7A62-2454-0401-344E3C81837A}"/>
                </a:ext>
              </a:extLst>
            </p:cNvPr>
            <p:cNvGrpSpPr/>
            <p:nvPr/>
          </p:nvGrpSpPr>
          <p:grpSpPr>
            <a:xfrm>
              <a:off x="7696200" y="1371600"/>
              <a:ext cx="2128660" cy="1525860"/>
              <a:chOff x="7696200" y="1371600"/>
              <a:chExt cx="2128660" cy="1525860"/>
            </a:xfrm>
          </p:grpSpPr>
          <p:sp>
            <p:nvSpPr>
              <p:cNvPr id="16" name="TextBox 15"/>
              <p:cNvSpPr txBox="1"/>
              <p:nvPr/>
            </p:nvSpPr>
            <p:spPr>
              <a:xfrm>
                <a:off x="7696200" y="1371600"/>
                <a:ext cx="2128660" cy="369332"/>
              </a:xfrm>
              <a:prstGeom prst="rect">
                <a:avLst/>
              </a:prstGeom>
              <a:noFill/>
            </p:spPr>
            <p:txBody>
              <a:bodyPr wrap="none" rtlCol="0">
                <a:spAutoFit/>
              </a:bodyPr>
              <a:lstStyle/>
              <a:p>
                <a:r>
                  <a:rPr lang="en-US" dirty="0"/>
                  <a:t>An NP-Hard Problem</a:t>
                </a:r>
              </a:p>
            </p:txBody>
          </p:sp>
          <mc:AlternateContent xmlns:mc="http://schemas.openxmlformats.org/markup-compatibility/2006" xmlns:a14="http://schemas.microsoft.com/office/drawing/2010/main">
            <mc:Choice Requires="a14">
              <p:sp>
                <p:nvSpPr>
                  <p:cNvPr id="23" name="Rectangle 22"/>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p:grpSp>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grpSp>
          <p:nvGrpSpPr>
            <p:cNvPr id="6" name="Group 5">
              <a:extLst>
                <a:ext uri="{FF2B5EF4-FFF2-40B4-BE49-F238E27FC236}">
                  <a16:creationId xmlns:a16="http://schemas.microsoft.com/office/drawing/2014/main" id="{92FD62ED-B9AD-1508-115D-0E0F6D77F9A7}"/>
                </a:ext>
              </a:extLst>
            </p:cNvPr>
            <p:cNvGrpSpPr/>
            <p:nvPr/>
          </p:nvGrpSpPr>
          <p:grpSpPr>
            <a:xfrm>
              <a:off x="8454979" y="4873374"/>
              <a:ext cx="1500667" cy="1374220"/>
              <a:chOff x="8454979" y="4873374"/>
              <a:chExt cx="1500667" cy="1374220"/>
            </a:xfrm>
          </p:grpSpPr>
          <mc:AlternateContent xmlns:mc="http://schemas.openxmlformats.org/markup-compatibility/2006" xmlns:a14="http://schemas.microsoft.com/office/drawing/2010/main">
            <mc:Choice Requires="a14">
              <p:sp>
                <p:nvSpPr>
                  <p:cNvPr id="21" name="TextBox 20"/>
                  <p:cNvSpPr txBox="1"/>
                  <p:nvPr/>
                </p:nvSpPr>
                <p:spPr>
                  <a:xfrm>
                    <a:off x="845497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454979" y="4873374"/>
                    <a:ext cx="1500667" cy="369332"/>
                  </a:xfrm>
                  <a:prstGeom prst="rect">
                    <a:avLst/>
                  </a:prstGeom>
                  <a:blipFill>
                    <a:blip r:embed="rId4"/>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9" name="Rectangle 278"/>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5"/>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7" name="Group 6">
              <a:extLst>
                <a:ext uri="{FF2B5EF4-FFF2-40B4-BE49-F238E27FC236}">
                  <a16:creationId xmlns:a16="http://schemas.microsoft.com/office/drawing/2014/main" id="{23C3AB42-A67A-F4D7-8F00-F21F7122C54C}"/>
                </a:ext>
              </a:extLst>
            </p:cNvPr>
            <p:cNvGrpSpPr/>
            <p:nvPr/>
          </p:nvGrpSpPr>
          <p:grpSpPr>
            <a:xfrm>
              <a:off x="2378525" y="4727933"/>
              <a:ext cx="1486241" cy="1596667"/>
              <a:chOff x="2378525" y="4727933"/>
              <a:chExt cx="1486241" cy="1596667"/>
            </a:xfrm>
          </p:grpSpPr>
          <mc:AlternateContent xmlns:mc="http://schemas.openxmlformats.org/markup-compatibility/2006" xmlns:a14="http://schemas.microsoft.com/office/drawing/2010/main">
            <mc:Choice Requires="a14">
              <p:sp>
                <p:nvSpPr>
                  <p:cNvPr id="28" name="TextBox 27"/>
                  <p:cNvSpPr txBox="1"/>
                  <p:nvPr/>
                </p:nvSpPr>
                <p:spPr>
                  <a:xfrm>
                    <a:off x="2378525"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6"/>
                    <a:stretch>
                      <a:fillRect l="-327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F0AE9986-7B8B-6951-E3F8-7752EB057A09}"/>
                </a:ext>
              </a:extLst>
            </p:cNvPr>
            <p:cNvGrpSpPr/>
            <p:nvPr/>
          </p:nvGrpSpPr>
          <p:grpSpPr>
            <a:xfrm>
              <a:off x="4488720" y="1367136"/>
              <a:ext cx="3215508" cy="5249682"/>
              <a:chOff x="4488720" y="1367136"/>
              <a:chExt cx="3215508" cy="5249682"/>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AutoShape 5"/>
              <p:cNvSpPr>
                <a:spLocks noChangeArrowheads="1"/>
              </p:cNvSpPr>
              <p:nvPr/>
            </p:nvSpPr>
            <p:spPr bwMode="auto">
              <a:xfrm>
                <a:off x="4627562"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0" name="TextBox 19"/>
                  <p:cNvSpPr txBox="1"/>
                  <p:nvPr/>
                </p:nvSpPr>
                <p:spPr>
                  <a:xfrm>
                    <a:off x="5489064"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5489064"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grpSp>
      <p:sp>
        <p:nvSpPr>
          <p:cNvPr id="26" name="Rounded Rectangular Callout 25">
            <a:extLst>
              <a:ext uri="{FF2B5EF4-FFF2-40B4-BE49-F238E27FC236}">
                <a16:creationId xmlns:a16="http://schemas.microsoft.com/office/drawing/2014/main" id="{EBD3D364-96E8-A14B-8D5D-6D824FA6B43A}"/>
              </a:ext>
            </a:extLst>
          </p:cNvPr>
          <p:cNvSpPr/>
          <p:nvPr/>
        </p:nvSpPr>
        <p:spPr>
          <a:xfrm>
            <a:off x="358401" y="105841"/>
            <a:ext cx="2514600" cy="884759"/>
          </a:xfrm>
          <a:prstGeom prst="wedgeRoundRectCallout">
            <a:avLst>
              <a:gd name="adj1" fmla="val 26844"/>
              <a:gd name="adj2" fmla="val 98345"/>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a:t>For every NP problem</a:t>
            </a:r>
            <a:endParaRPr lang="en-US" dirty="0"/>
          </a:p>
        </p:txBody>
      </p:sp>
      <p:sp>
        <p:nvSpPr>
          <p:cNvPr id="27" name="Rounded Rectangular Callout 26">
            <a:extLst>
              <a:ext uri="{FF2B5EF4-FFF2-40B4-BE49-F238E27FC236}">
                <a16:creationId xmlns:a16="http://schemas.microsoft.com/office/drawing/2014/main" id="{EBD3D364-96E8-A14B-8D5D-6D824FA6B43A}"/>
              </a:ext>
            </a:extLst>
          </p:cNvPr>
          <p:cNvSpPr/>
          <p:nvPr/>
        </p:nvSpPr>
        <p:spPr>
          <a:xfrm>
            <a:off x="1121225" y="3312877"/>
            <a:ext cx="2514600" cy="1415056"/>
          </a:xfrm>
          <a:prstGeom prst="wedgeRoundRectCallout">
            <a:avLst>
              <a:gd name="adj1" fmla="val 85152"/>
              <a:gd name="adj2" fmla="val 8579"/>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There exists a polynomial-time reduction to each NP-Hard Problem</a:t>
            </a:r>
          </a:p>
        </p:txBody>
      </p:sp>
      <mc:AlternateContent xmlns:mc="http://schemas.openxmlformats.org/markup-compatibility/2006" xmlns:a14="http://schemas.microsoft.com/office/drawing/2010/main">
        <mc:Choice Requires="a14">
          <p:sp>
            <p:nvSpPr>
              <p:cNvPr id="29" name="Rounded Rectangular Callout 28">
                <a:extLst>
                  <a:ext uri="{FF2B5EF4-FFF2-40B4-BE49-F238E27FC236}">
                    <a16:creationId xmlns:a16="http://schemas.microsoft.com/office/drawing/2014/main" id="{EBD3D364-96E8-A14B-8D5D-6D824FA6B43A}"/>
                  </a:ext>
                </a:extLst>
              </p:cNvPr>
              <p:cNvSpPr/>
              <p:nvPr/>
            </p:nvSpPr>
            <p:spPr>
              <a:xfrm>
                <a:off x="9903796" y="2897460"/>
                <a:ext cx="2288204" cy="1415056"/>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So if this was </a:t>
                </a:r>
                <a14:m>
                  <m:oMath xmlns:m="http://schemas.openxmlformats.org/officeDocument/2006/math">
                    <m:r>
                      <a:rPr lang="en-US" b="0" i="1" smtClean="0">
                        <a:latin typeface="Cambria Math"/>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a:rPr>
                              <m:t>𝑛</m:t>
                            </m:r>
                          </m:e>
                          <m:sup>
                            <m:r>
                              <a:rPr lang="en-US" b="0" i="1" smtClean="0">
                                <a:latin typeface="Cambria Math"/>
                              </a:rPr>
                              <m:t>𝑝</m:t>
                            </m:r>
                          </m:sup>
                        </m:sSup>
                      </m:e>
                    </m:d>
                  </m:oMath>
                </a14:m>
                <a:r>
                  <a:rPr lang="en-US" dirty="0"/>
                  <a:t> we can solve any NP problem in polynomial time</a:t>
                </a:r>
              </a:p>
            </p:txBody>
          </p:sp>
        </mc:Choice>
        <mc:Fallback xmlns="">
          <p:sp>
            <p:nvSpPr>
              <p:cNvPr id="29" name="Rounded Rectangular Callout 28">
                <a:extLst>
                  <a:ext uri="{FF2B5EF4-FFF2-40B4-BE49-F238E27FC236}">
                    <a16:creationId xmlns="" xmlns:a16="http://schemas.microsoft.com/office/drawing/2014/main" id="{EBD3D364-96E8-A14B-8D5D-6D824FA6B43A}"/>
                  </a:ext>
                </a:extLst>
              </p:cNvPr>
              <p:cNvSpPr>
                <a:spLocks noRot="1" noChangeAspect="1" noMove="1" noResize="1" noEditPoints="1" noAdjustHandles="1" noChangeArrowheads="1" noChangeShapeType="1" noTextEdit="1"/>
              </p:cNvSpPr>
              <p:nvPr/>
            </p:nvSpPr>
            <p:spPr>
              <a:xfrm>
                <a:off x="9903796" y="2897460"/>
                <a:ext cx="2288204" cy="1415056"/>
              </a:xfrm>
              <a:prstGeom prst="wedgeRoundRectCallout">
                <a:avLst>
                  <a:gd name="adj1" fmla="val -65737"/>
                  <a:gd name="adj2" fmla="val 10807"/>
                  <a:gd name="adj3" fmla="val 16667"/>
                </a:avLst>
              </a:prstGeom>
              <a:blipFill rotWithShape="1">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76477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Showing NP-Hardness</a:t>
            </a:r>
            <a:endParaRPr lang="en-US" dirty="0"/>
          </a:p>
        </p:txBody>
      </p:sp>
      <p:grpSp>
        <p:nvGrpSpPr>
          <p:cNvPr id="7" name="Group 6" descr="To prove a problem B to be NP-Hard, it sufficient to take some problem already known to be NP-Hard (call this A), and reduce A to B in polynomial time. This way if B has a polynomial time algorithm which solves it then A does as well.">
            <a:extLst>
              <a:ext uri="{FF2B5EF4-FFF2-40B4-BE49-F238E27FC236}">
                <a16:creationId xmlns:a16="http://schemas.microsoft.com/office/drawing/2014/main" id="{7D260722-796E-1F63-9251-FA1BC64D7F54}"/>
              </a:ext>
            </a:extLst>
          </p:cNvPr>
          <p:cNvGrpSpPr/>
          <p:nvPr/>
        </p:nvGrpSpPr>
        <p:grpSpPr>
          <a:xfrm>
            <a:off x="5105400" y="1367136"/>
            <a:ext cx="7010400" cy="5249682"/>
            <a:chOff x="5105400" y="1367136"/>
            <a:chExt cx="7010400" cy="5249682"/>
          </a:xfrm>
        </p:grpSpPr>
        <p:sp>
          <p:nvSpPr>
            <p:cNvPr id="34" name="Rectangle 33"/>
            <p:cNvSpPr/>
            <p:nvPr/>
          </p:nvSpPr>
          <p:spPr>
            <a:xfrm>
              <a:off x="6766692"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p:cNvSpPr txBox="1"/>
            <p:nvPr/>
          </p:nvSpPr>
          <p:spPr>
            <a:xfrm>
              <a:off x="5105400" y="1411069"/>
              <a:ext cx="1625253" cy="646331"/>
            </a:xfrm>
            <a:prstGeom prst="rect">
              <a:avLst/>
            </a:prstGeom>
            <a:noFill/>
          </p:spPr>
          <p:txBody>
            <a:bodyPr wrap="none" rtlCol="0">
              <a:spAutoFit/>
            </a:bodyPr>
            <a:lstStyle/>
            <a:p>
              <a:pPr algn="ctr"/>
              <a:r>
                <a:rPr lang="en-US"/>
                <a:t>A </a:t>
              </a:r>
              <a:r>
                <a:rPr lang="en-US" b="1"/>
                <a:t>First</a:t>
              </a:r>
              <a:r>
                <a:rPr lang="en-US"/>
                <a:t> NP-Hard</a:t>
              </a:r>
            </a:p>
            <a:p>
              <a:pPr algn="ctr"/>
              <a:r>
                <a:rPr lang="en-US"/>
                <a:t> Problem</a:t>
              </a:r>
              <a:endParaRPr lang="en-US" dirty="0"/>
            </a:p>
          </p:txBody>
        </p:sp>
        <p:sp>
          <p:nvSpPr>
            <p:cNvPr id="16" name="TextBox 15"/>
            <p:cNvSpPr txBox="1"/>
            <p:nvPr/>
          </p:nvSpPr>
          <p:spPr>
            <a:xfrm>
              <a:off x="9654870" y="1371600"/>
              <a:ext cx="2460930" cy="369332"/>
            </a:xfrm>
            <a:prstGeom prst="rect">
              <a:avLst/>
            </a:prstGeom>
            <a:noFill/>
          </p:spPr>
          <p:txBody>
            <a:bodyPr wrap="none" rtlCol="0">
              <a:spAutoFit/>
            </a:bodyPr>
            <a:lstStyle/>
            <a:p>
              <a:r>
                <a:rPr lang="en-US"/>
                <a:t>A new NP-Hard Problem</a:t>
              </a:r>
              <a:endParaRPr lang="en-US" dirty="0"/>
            </a:p>
          </p:txBody>
        </p:sp>
        <mc:AlternateContent xmlns:mc="http://schemas.openxmlformats.org/markup-compatibility/2006" xmlns:a14="http://schemas.microsoft.com/office/drawing/2010/main">
          <mc:Choice Requires="a14">
            <p:sp>
              <p:nvSpPr>
                <p:cNvPr id="21" name="TextBox 20"/>
                <p:cNvSpPr txBox="1"/>
                <p:nvPr/>
              </p:nvSpPr>
              <p:spPr>
                <a:xfrm>
                  <a:off x="1012919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10129199" y="4873374"/>
                  <a:ext cx="1500667" cy="369332"/>
                </a:xfrm>
                <a:prstGeom prst="rect">
                  <a:avLst/>
                </a:prstGeom>
                <a:blipFill>
                  <a:blip r:embed="rId2"/>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Flowchart: Magnetic Disk 21"/>
                <p:cNvSpPr/>
                <p:nvPr/>
              </p:nvSpPr>
              <p:spPr>
                <a:xfrm>
                  <a:off x="5658693" y="20162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5658693" y="2016210"/>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1058761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10587612" y="1892573"/>
                  <a:ext cx="625924" cy="1004887"/>
                </a:xfrm>
                <a:prstGeom prst="rect">
                  <a:avLst/>
                </a:prstGeom>
                <a:blipFill>
                  <a:blip r:embed="rId4"/>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5295559"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5295559" y="4727933"/>
                  <a:ext cx="1486241" cy="369332"/>
                </a:xfrm>
                <a:prstGeom prst="rect">
                  <a:avLst/>
                </a:prstGeom>
                <a:blipFill>
                  <a:blip r:embed="rId5"/>
                  <a:stretch>
                    <a:fillRect l="-3689" t="-10000" b="-26667"/>
                  </a:stretch>
                </a:blipFill>
              </p:spPr>
              <p:txBody>
                <a:bodyPr/>
                <a:lstStyle/>
                <a:p>
                  <a:r>
                    <a:rPr lang="en-US">
                      <a:noFill/>
                    </a:rPr>
                    <a:t> </a:t>
                  </a:r>
                </a:p>
              </p:txBody>
            </p:sp>
          </mc:Fallback>
        </mc:AlternateContent>
        <p:sp>
          <p:nvSpPr>
            <p:cNvPr id="30" name="AutoShape 5"/>
            <p:cNvSpPr>
              <a:spLocks noChangeArrowheads="1"/>
            </p:cNvSpPr>
            <p:nvPr/>
          </p:nvSpPr>
          <p:spPr bwMode="auto">
            <a:xfrm>
              <a:off x="6905534"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1" name="AutoShape 5"/>
            <p:cNvSpPr>
              <a:spLocks noChangeArrowheads="1"/>
            </p:cNvSpPr>
            <p:nvPr/>
          </p:nvSpPr>
          <p:spPr bwMode="auto">
            <a:xfrm rot="5400000">
              <a:off x="1039961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32" name="AutoShape 5"/>
            <p:cNvSpPr>
              <a:spLocks noChangeArrowheads="1"/>
            </p:cNvSpPr>
            <p:nvPr/>
          </p:nvSpPr>
          <p:spPr bwMode="auto">
            <a:xfrm rot="10800000">
              <a:off x="7057934"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7757545"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79" name="Rectangle 278"/>
                <p:cNvSpPr/>
                <p:nvPr/>
              </p:nvSpPr>
              <p:spPr>
                <a:xfrm>
                  <a:off x="1061196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10611961" y="5242707"/>
                  <a:ext cx="625924" cy="1004887"/>
                </a:xfrm>
                <a:prstGeom prst="rect">
                  <a:avLst/>
                </a:prstGeom>
                <a:blipFill>
                  <a:blip r:embed="rId6"/>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5739205"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5739205"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7767036"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7767036"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grpSp>
        <p:nvGrpSpPr>
          <p:cNvPr id="5" name="Group 4" descr="This strategy works because we've already shown that every NP problem reduces to A, and so if A has a polynomial time solution then so does every NP problem. B having a polynomial time solution is just one option for how to finding a polynomial time algorithm for A."/>
          <p:cNvGrpSpPr/>
          <p:nvPr/>
        </p:nvGrpSpPr>
        <p:grpSpPr>
          <a:xfrm>
            <a:off x="-13253" y="1330081"/>
            <a:ext cx="5042453" cy="5249682"/>
            <a:chOff x="-13253" y="1330081"/>
            <a:chExt cx="5042453" cy="5249682"/>
          </a:xfrm>
        </p:grpSpPr>
        <p:sp>
          <p:nvSpPr>
            <p:cNvPr id="24" name="Rectangle 23"/>
            <p:cNvSpPr/>
            <p:nvPr/>
          </p:nvSpPr>
          <p:spPr>
            <a:xfrm>
              <a:off x="1813692" y="1736144"/>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AutoShape 5"/>
            <p:cNvSpPr>
              <a:spLocks noChangeArrowheads="1"/>
            </p:cNvSpPr>
            <p:nvPr/>
          </p:nvSpPr>
          <p:spPr bwMode="auto">
            <a:xfrm>
              <a:off x="1952534" y="210042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3" name="AutoShape 5"/>
            <p:cNvSpPr>
              <a:spLocks noChangeArrowheads="1"/>
            </p:cNvSpPr>
            <p:nvPr/>
          </p:nvSpPr>
          <p:spPr bwMode="auto">
            <a:xfrm rot="10800000">
              <a:off x="2104934" y="4802910"/>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6" name="TextBox 35"/>
            <p:cNvSpPr txBox="1"/>
            <p:nvPr/>
          </p:nvSpPr>
          <p:spPr>
            <a:xfrm>
              <a:off x="2804545" y="6177986"/>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37" name="TextBox 36"/>
                <p:cNvSpPr txBox="1"/>
                <p:nvPr/>
              </p:nvSpPr>
              <p:spPr>
                <a:xfrm>
                  <a:off x="2814036" y="1330081"/>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37" name="TextBox 36"/>
                <p:cNvSpPr txBox="1">
                  <a:spLocks noRot="1" noChangeAspect="1" noMove="1" noResize="1" noEditPoints="1" noAdjustHandles="1" noChangeArrowheads="1" noChangeShapeType="1" noTextEdit="1"/>
                </p:cNvSpPr>
                <p:nvPr/>
              </p:nvSpPr>
              <p:spPr>
                <a:xfrm>
                  <a:off x="2814036" y="1330081"/>
                  <a:ext cx="1064137" cy="461665"/>
                </a:xfrm>
                <a:prstGeom prst="rect">
                  <a:avLst/>
                </a:prstGeom>
                <a:blipFill rotWithShape="1">
                  <a:blip r:embed="rId9"/>
                  <a:stretch>
                    <a:fillRect r="-1724"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Isosceles Triangle 2"/>
                <p:cNvSpPr/>
                <p:nvPr/>
              </p:nvSpPr>
              <p:spPr>
                <a:xfrm>
                  <a:off x="457200" y="1925266"/>
                  <a:ext cx="1066800" cy="1033984"/>
                </a:xfrm>
                <a:prstGeom prst="triangl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smtClean="0">
                            <a:solidFill>
                              <a:schemeClr val="tx1"/>
                            </a:solidFill>
                            <a:latin typeface="Cambria Math"/>
                          </a:rPr>
                          <m:t>𝐶</m:t>
                        </m:r>
                      </m:oMath>
                    </m:oMathPara>
                  </a14:m>
                  <a:endParaRPr lang="en-US" sz="4000">
                    <a:solidFill>
                      <a:schemeClr val="tx1"/>
                    </a:solidFill>
                  </a:endParaRPr>
                </a:p>
              </p:txBody>
            </p:sp>
          </mc:Choice>
          <mc:Fallback xmlns="">
            <p:sp>
              <p:nvSpPr>
                <p:cNvPr id="3" name="Isosceles Triangle 2"/>
                <p:cNvSpPr>
                  <a:spLocks noRot="1" noChangeAspect="1" noMove="1" noResize="1" noEditPoints="1" noAdjustHandles="1" noChangeArrowheads="1" noChangeShapeType="1" noTextEdit="1"/>
                </p:cNvSpPr>
                <p:nvPr/>
              </p:nvSpPr>
              <p:spPr>
                <a:xfrm>
                  <a:off x="457200" y="1925266"/>
                  <a:ext cx="1066800" cy="1033984"/>
                </a:xfrm>
                <a:prstGeom prst="triangle">
                  <a:avLst/>
                </a:prstGeom>
                <a:blipFill rotWithShape="1">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Isosceles Triangle 37"/>
                <p:cNvSpPr/>
                <p:nvPr/>
              </p:nvSpPr>
              <p:spPr>
                <a:xfrm>
                  <a:off x="457200" y="5037607"/>
                  <a:ext cx="1066800" cy="1033984"/>
                </a:xfrm>
                <a:prstGeom prst="triangl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smtClean="0">
                            <a:solidFill>
                              <a:schemeClr val="tx1"/>
                            </a:solidFill>
                            <a:latin typeface="Cambria Math"/>
                          </a:rPr>
                          <m:t>𝑍</m:t>
                        </m:r>
                      </m:oMath>
                    </m:oMathPara>
                  </a14:m>
                  <a:endParaRPr lang="en-US" sz="4000">
                    <a:solidFill>
                      <a:schemeClr val="tx1"/>
                    </a:solidFill>
                  </a:endParaRPr>
                </a:p>
              </p:txBody>
            </p:sp>
          </mc:Choice>
          <mc:Fallback xmlns="">
            <p:sp>
              <p:nvSpPr>
                <p:cNvPr id="38" name="Isosceles Triangle 37"/>
                <p:cNvSpPr>
                  <a:spLocks noRot="1" noChangeAspect="1" noMove="1" noResize="1" noEditPoints="1" noAdjustHandles="1" noChangeArrowheads="1" noChangeShapeType="1" noTextEdit="1"/>
                </p:cNvSpPr>
                <p:nvPr/>
              </p:nvSpPr>
              <p:spPr>
                <a:xfrm>
                  <a:off x="457200" y="5037607"/>
                  <a:ext cx="1066800" cy="1033984"/>
                </a:xfrm>
                <a:prstGeom prst="triangle">
                  <a:avLst/>
                </a:prstGeom>
                <a:blipFill rotWithShape="1">
                  <a:blip r:embed="rId11"/>
                  <a:stretch>
                    <a:fillRect/>
                  </a:stretch>
                </a:blipFill>
              </p:spPr>
              <p:txBody>
                <a:bodyPr/>
                <a:lstStyle/>
                <a:p>
                  <a:r>
                    <a:rPr lang="en-US">
                      <a:noFill/>
                    </a:rPr>
                    <a:t> </a:t>
                  </a:r>
                </a:p>
              </p:txBody>
            </p:sp>
          </mc:Fallback>
        </mc:AlternateContent>
        <p:sp>
          <p:nvSpPr>
            <p:cNvPr id="39" name="TextBox 38"/>
            <p:cNvSpPr txBox="1"/>
            <p:nvPr/>
          </p:nvSpPr>
          <p:spPr>
            <a:xfrm>
              <a:off x="-13253" y="1459468"/>
              <a:ext cx="1704314" cy="369332"/>
            </a:xfrm>
            <a:prstGeom prst="rect">
              <a:avLst/>
            </a:prstGeom>
            <a:noFill/>
          </p:spPr>
          <p:txBody>
            <a:bodyPr wrap="none" rtlCol="0">
              <a:spAutoFit/>
            </a:bodyPr>
            <a:lstStyle/>
            <a:p>
              <a:pPr algn="ctr"/>
              <a:r>
                <a:rPr lang="en-US"/>
                <a:t>Any NP Problem</a:t>
              </a:r>
              <a:endParaRPr lang="en-US" dirty="0"/>
            </a:p>
          </p:txBody>
        </p:sp>
        <mc:AlternateContent xmlns:mc="http://schemas.openxmlformats.org/markup-compatibility/2006" xmlns:a14="http://schemas.microsoft.com/office/drawing/2010/main">
          <mc:Choice Requires="a14">
            <p:sp>
              <p:nvSpPr>
                <p:cNvPr id="40" name="TextBox 39"/>
                <p:cNvSpPr txBox="1"/>
                <p:nvPr/>
              </p:nvSpPr>
              <p:spPr>
                <a:xfrm>
                  <a:off x="142720" y="4655299"/>
                  <a:ext cx="1481944" cy="369332"/>
                </a:xfrm>
                <a:prstGeom prst="rect">
                  <a:avLst/>
                </a:prstGeom>
                <a:noFill/>
              </p:spPr>
              <p:txBody>
                <a:bodyPr wrap="none" rtlCol="0">
                  <a:spAutoFit/>
                </a:bodyPr>
                <a:lstStyle/>
                <a:p>
                  <a:pPr algn="ctr"/>
                  <a:r>
                    <a:rPr lang="en-US"/>
                    <a:t>Solution for </a:t>
                  </a:r>
                  <a14:m>
                    <m:oMath xmlns:m="http://schemas.openxmlformats.org/officeDocument/2006/math">
                      <m:r>
                        <a:rPr lang="en-US" b="1" i="1" smtClean="0">
                          <a:latin typeface="Cambria Math"/>
                        </a:rPr>
                        <m:t>𝑪</m:t>
                      </m:r>
                    </m:oMath>
                  </a14:m>
                  <a:endParaRPr lang="en-US" b="1" dirty="0"/>
                </a:p>
              </p:txBody>
            </p:sp>
          </mc:Choice>
          <mc:Fallback xmlns="">
            <p:sp>
              <p:nvSpPr>
                <p:cNvPr id="40" name="TextBox 39"/>
                <p:cNvSpPr txBox="1">
                  <a:spLocks noRot="1" noChangeAspect="1" noMove="1" noResize="1" noEditPoints="1" noAdjustHandles="1" noChangeArrowheads="1" noChangeShapeType="1" noTextEdit="1"/>
                </p:cNvSpPr>
                <p:nvPr/>
              </p:nvSpPr>
              <p:spPr>
                <a:xfrm>
                  <a:off x="142720" y="4655299"/>
                  <a:ext cx="1481944" cy="369332"/>
                </a:xfrm>
                <a:prstGeom prst="rect">
                  <a:avLst/>
                </a:prstGeom>
                <a:blipFill rotWithShape="1">
                  <a:blip r:embed="rId12"/>
                  <a:stretch>
                    <a:fillRect l="-2869" t="-8333" b="-26667"/>
                  </a:stretch>
                </a:blipFill>
              </p:spPr>
              <p:txBody>
                <a:bodyPr/>
                <a:lstStyle/>
                <a:p>
                  <a:r>
                    <a:rPr lang="en-US">
                      <a:noFill/>
                    </a:rPr>
                    <a:t> </a:t>
                  </a:r>
                </a:p>
              </p:txBody>
            </p:sp>
          </mc:Fallback>
        </mc:AlternateContent>
      </p:grpSp>
    </p:spTree>
    <p:extLst>
      <p:ext uri="{BB962C8B-B14F-4D97-AF65-F5344CB8AC3E}">
        <p14:creationId xmlns:p14="http://schemas.microsoft.com/office/powerpoint/2010/main" val="245776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NP-Complete - Definition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0" y="2332037"/>
                <a:ext cx="8548500" cy="4525963"/>
              </a:xfrm>
            </p:spPr>
            <p:txBody>
              <a:bodyPr>
                <a:normAutofit/>
              </a:bodyPr>
              <a:lstStyle/>
              <a:p>
                <a:r>
                  <a:rPr lang="en-US" dirty="0"/>
                  <a:t>“Together they stand, together they fall”</a:t>
                </a:r>
              </a:p>
              <a:p>
                <a:r>
                  <a:rPr lang="en-US" dirty="0"/>
                  <a:t>Problems solvable in polynomial time </a:t>
                </a:r>
                <a:r>
                  <a:rPr lang="en-US" dirty="0" err="1"/>
                  <a:t>iff</a:t>
                </a:r>
                <a:r>
                  <a:rPr lang="en-US" dirty="0"/>
                  <a:t> ALL NP problems are</a:t>
                </a:r>
              </a:p>
              <a:p>
                <a:r>
                  <a:rPr lang="en-US" dirty="0"/>
                  <a:t>NP-Complete = NP </a:t>
                </a:r>
                <a14:m>
                  <m:oMath xmlns:m="http://schemas.openxmlformats.org/officeDocument/2006/math">
                    <m:r>
                      <a:rPr lang="en-US" b="0" i="1" smtClean="0">
                        <a:latin typeface="Cambria Math"/>
                      </a:rPr>
                      <m:t>∩</m:t>
                    </m:r>
                  </m:oMath>
                </a14:m>
                <a:r>
                  <a:rPr lang="en-US" dirty="0"/>
                  <a:t> NP-Hard</a:t>
                </a:r>
              </a:p>
              <a:p>
                <a:r>
                  <a:rPr lang="en-US" b="1" dirty="0"/>
                  <a:t>How to show a problem is NP-Complete?</a:t>
                </a:r>
              </a:p>
              <a:p>
                <a:pPr lvl="1"/>
                <a:r>
                  <a:rPr lang="en-US" dirty="0"/>
                  <a:t>Show it belongs to NP</a:t>
                </a:r>
              </a:p>
              <a:p>
                <a:pPr lvl="2"/>
                <a:r>
                  <a:rPr lang="en-US" dirty="0"/>
                  <a:t>Give a polynomial time verifier</a:t>
                </a:r>
              </a:p>
              <a:p>
                <a:pPr lvl="1"/>
                <a:r>
                  <a:rPr lang="en-US" dirty="0"/>
                  <a:t>Show it is NP-Hard</a:t>
                </a:r>
              </a:p>
              <a:p>
                <a:pPr lvl="2"/>
                <a:r>
                  <a:rPr lang="en-US" dirty="0"/>
                  <a:t>Give a reduction from another NP-H problem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0" y="2332037"/>
                <a:ext cx="8548500" cy="4525963"/>
              </a:xfrm>
              <a:blipFill>
                <a:blip r:embed="rId2"/>
                <a:stretch>
                  <a:fillRect l="-1284" t="-2291"/>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B2CDBFF3-E85D-EA6A-D3FB-B51CEA446A46}"/>
              </a:ext>
              <a:ext uri="{C183D7F6-B498-43B3-948B-1728B52AA6E4}">
                <adec:decorative xmlns:adec="http://schemas.microsoft.com/office/drawing/2017/decorative" val="1"/>
              </a:ext>
            </a:extLst>
          </p:cNvPr>
          <p:cNvGrpSpPr/>
          <p:nvPr/>
        </p:nvGrpSpPr>
        <p:grpSpPr>
          <a:xfrm>
            <a:off x="6431618" y="365125"/>
            <a:ext cx="5318549" cy="2636366"/>
            <a:chOff x="1879600" y="1306031"/>
            <a:chExt cx="11168359" cy="5536073"/>
          </a:xfrm>
        </p:grpSpPr>
        <p:grpSp>
          <p:nvGrpSpPr>
            <p:cNvPr id="6" name="Group 5">
              <a:extLst>
                <a:ext uri="{FF2B5EF4-FFF2-40B4-BE49-F238E27FC236}">
                  <a16:creationId xmlns:a16="http://schemas.microsoft.com/office/drawing/2014/main" id="{1FB0C6A3-2672-4B14-7D3B-BEE0949E0F2F}"/>
                </a:ext>
              </a:extLst>
            </p:cNvPr>
            <p:cNvGrpSpPr/>
            <p:nvPr/>
          </p:nvGrpSpPr>
          <p:grpSpPr>
            <a:xfrm>
              <a:off x="1879600" y="1306031"/>
              <a:ext cx="10257117" cy="5536073"/>
              <a:chOff x="396240" y="595664"/>
              <a:chExt cx="11602720" cy="6262336"/>
            </a:xfrm>
          </p:grpSpPr>
          <p:sp>
            <p:nvSpPr>
              <p:cNvPr id="8" name="Oval 7">
                <a:extLst>
                  <a:ext uri="{FF2B5EF4-FFF2-40B4-BE49-F238E27FC236}">
                    <a16:creationId xmlns:a16="http://schemas.microsoft.com/office/drawing/2014/main" id="{316D442D-50BF-E4D1-B1C9-D65776F6C362}"/>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806BEEA-FBDF-B62E-2C8F-5EA4D0F0E82A}"/>
                      </a:ext>
                    </a:extLst>
                  </p:cNvPr>
                  <p:cNvSpPr txBox="1"/>
                  <p:nvPr/>
                </p:nvSpPr>
                <p:spPr>
                  <a:xfrm>
                    <a:off x="3342640" y="595664"/>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9" name="TextBox 8">
                    <a:extLst>
                      <a:ext uri="{FF2B5EF4-FFF2-40B4-BE49-F238E27FC236}">
                        <a16:creationId xmlns:a16="http://schemas.microsoft.com/office/drawing/2014/main" id="{8806BEEA-FBDF-B62E-2C8F-5EA4D0F0E82A}"/>
                      </a:ext>
                    </a:extLst>
                  </p:cNvPr>
                  <p:cNvSpPr txBox="1">
                    <a:spLocks noRot="1" noChangeAspect="1" noMove="1" noResize="1" noEditPoints="1" noAdjustHandles="1" noChangeArrowheads="1" noChangeShapeType="1" noTextEdit="1"/>
                  </p:cNvSpPr>
                  <p:nvPr/>
                </p:nvSpPr>
                <p:spPr>
                  <a:xfrm>
                    <a:off x="3342640" y="595664"/>
                    <a:ext cx="6095999" cy="523220"/>
                  </a:xfrm>
                  <a:prstGeom prst="rect">
                    <a:avLst/>
                  </a:prstGeom>
                  <a:blipFill>
                    <a:blip r:embed="rId3"/>
                    <a:stretch>
                      <a:fillRect b="-75000"/>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52BF586D-67E4-9D63-F9B4-38F29C057C58}"/>
                  </a:ext>
                </a:extLst>
              </p:cNvPr>
              <p:cNvSpPr/>
              <p:nvPr/>
            </p:nvSpPr>
            <p:spPr>
              <a:xfrm>
                <a:off x="605529" y="1601803"/>
                <a:ext cx="10590790" cy="4967783"/>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1" name="Oval 10">
                <a:extLst>
                  <a:ext uri="{FF2B5EF4-FFF2-40B4-BE49-F238E27FC236}">
                    <a16:creationId xmlns:a16="http://schemas.microsoft.com/office/drawing/2014/main" id="{F208F89D-EDDE-F874-7592-85060B08251D}"/>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59956194-81F0-C6BF-684A-E7078D316ABB}"/>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DD3DDF-613E-A3AA-4CA6-077356E9382C}"/>
                      </a:ext>
                    </a:extLst>
                  </p:cNvPr>
                  <p:cNvSpPr txBox="1"/>
                  <p:nvPr/>
                </p:nvSpPr>
                <p:spPr>
                  <a:xfrm>
                    <a:off x="3149599" y="1914059"/>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22" name="TextBox 21">
                    <a:extLst>
                      <a:ext uri="{FF2B5EF4-FFF2-40B4-BE49-F238E27FC236}">
                        <a16:creationId xmlns:a16="http://schemas.microsoft.com/office/drawing/2014/main" id="{B6DD3DDF-613E-A3AA-4CA6-077356E9382C}"/>
                      </a:ext>
                    </a:extLst>
                  </p:cNvPr>
                  <p:cNvSpPr txBox="1">
                    <a:spLocks noRot="1" noChangeAspect="1" noMove="1" noResize="1" noEditPoints="1" noAdjustHandles="1" noChangeArrowheads="1" noChangeShapeType="1" noTextEdit="1"/>
                  </p:cNvSpPr>
                  <p:nvPr/>
                </p:nvSpPr>
                <p:spPr>
                  <a:xfrm>
                    <a:off x="3149599" y="1914059"/>
                    <a:ext cx="6095999" cy="523220"/>
                  </a:xfrm>
                  <a:prstGeom prst="rect">
                    <a:avLst/>
                  </a:prstGeom>
                  <a:blipFill>
                    <a:blip r:embed="rId6"/>
                    <a:stretch>
                      <a:fillRect b="-750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 name="Arrow: Right 6">
                  <a:extLst>
                    <a:ext uri="{FF2B5EF4-FFF2-40B4-BE49-F238E27FC236}">
                      <a16:creationId xmlns:a16="http://schemas.microsoft.com/office/drawing/2014/main" id="{CEF98193-ED76-C70D-679D-05D1A9230D94}"/>
                    </a:ext>
                  </a:extLst>
                </p:cNvPr>
                <p:cNvSpPr/>
                <p:nvPr/>
              </p:nvSpPr>
              <p:spPr>
                <a:xfrm rot="2172224">
                  <a:off x="9811840" y="5594923"/>
                  <a:ext cx="3236119" cy="988195"/>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7" name="Arrow: Right 6">
                  <a:extLst>
                    <a:ext uri="{FF2B5EF4-FFF2-40B4-BE49-F238E27FC236}">
                      <a16:creationId xmlns:a16="http://schemas.microsoft.com/office/drawing/2014/main" id="{CEF98193-ED76-C70D-679D-05D1A9230D94}"/>
                    </a:ext>
                  </a:extLst>
                </p:cNvPr>
                <p:cNvSpPr>
                  <a:spLocks noRot="1" noChangeAspect="1" noMove="1" noResize="1" noEditPoints="1" noAdjustHandles="1" noChangeArrowheads="1" noChangeShapeType="1" noTextEdit="1"/>
                </p:cNvSpPr>
                <p:nvPr/>
              </p:nvSpPr>
              <p:spPr>
                <a:xfrm rot="2172224">
                  <a:off x="9811840" y="5594923"/>
                  <a:ext cx="3236119" cy="988195"/>
                </a:xfrm>
                <a:prstGeom prst="rightArrow">
                  <a:avLst/>
                </a:prstGeom>
                <a:blipFill>
                  <a:blip r:embed="rId7"/>
                  <a:stretch>
                    <a:fillRect/>
                  </a:stretch>
                </a:blipFill>
                <a:ln>
                  <a:solidFill>
                    <a:schemeClr val="tx1"/>
                  </a:solidFill>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4685EA8-FD93-0B7E-D670-EDE04381766B}"/>
                  </a:ext>
                </a:extLst>
              </p:cNvPr>
              <p:cNvSpPr txBox="1"/>
              <p:nvPr/>
            </p:nvSpPr>
            <p:spPr>
              <a:xfrm rot="1721236">
                <a:off x="8919555" y="1221472"/>
                <a:ext cx="2566340" cy="4001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000" b="0" i="1" dirty="0" smtClean="0">
                          <a:solidFill>
                            <a:schemeClr val="tx1"/>
                          </a:solidFill>
                          <a:latin typeface="Cambria Math" panose="02040503050406030204" pitchFamily="18" charset="0"/>
                        </a:rPr>
                        <m:t>𝑁</m:t>
                      </m:r>
                      <m:r>
                        <a:rPr lang="en-US" sz="2000" i="1" dirty="0" smtClean="0">
                          <a:solidFill>
                            <a:schemeClr val="tx1"/>
                          </a:solidFill>
                          <a:latin typeface="Cambria Math" panose="02040503050406030204" pitchFamily="18" charset="0"/>
                        </a:rPr>
                        <m:t>𝑃</m:t>
                      </m:r>
                      <m:r>
                        <a:rPr lang="en-US" sz="2000" b="0" i="1" dirty="0" smtClean="0">
                          <a:solidFill>
                            <a:schemeClr val="tx1"/>
                          </a:solidFill>
                          <a:latin typeface="Cambria Math" panose="02040503050406030204" pitchFamily="18" charset="0"/>
                        </a:rPr>
                        <m:t>−</m:t>
                      </m:r>
                      <m:r>
                        <a:rPr lang="en-US" sz="2000" b="0" i="1" dirty="0" smtClean="0">
                          <a:solidFill>
                            <a:schemeClr val="tx1"/>
                          </a:solidFill>
                          <a:latin typeface="Cambria Math" panose="02040503050406030204" pitchFamily="18" charset="0"/>
                        </a:rPr>
                        <m:t>𝐶𝑜𝑚𝑝𝑙𝑒𝑡𝑒</m:t>
                      </m:r>
                    </m:oMath>
                  </m:oMathPara>
                </a14:m>
                <a:endParaRPr lang="en-US" sz="2000" dirty="0">
                  <a:solidFill>
                    <a:schemeClr val="tx1"/>
                  </a:solidFill>
                </a:endParaRPr>
              </a:p>
            </p:txBody>
          </p:sp>
        </mc:Choice>
        <mc:Fallback xmlns="">
          <p:sp>
            <p:nvSpPr>
              <p:cNvPr id="23" name="TextBox 22">
                <a:extLst>
                  <a:ext uri="{FF2B5EF4-FFF2-40B4-BE49-F238E27FC236}">
                    <a16:creationId xmlns:a16="http://schemas.microsoft.com/office/drawing/2014/main" id="{E4685EA8-FD93-0B7E-D670-EDE04381766B}"/>
                  </a:ext>
                </a:extLst>
              </p:cNvPr>
              <p:cNvSpPr txBox="1">
                <a:spLocks noRot="1" noChangeAspect="1" noMove="1" noResize="1" noEditPoints="1" noAdjustHandles="1" noChangeArrowheads="1" noChangeShapeType="1" noTextEdit="1"/>
              </p:cNvSpPr>
              <p:nvPr/>
            </p:nvSpPr>
            <p:spPr>
              <a:xfrm rot="1721236">
                <a:off x="8919555" y="1221472"/>
                <a:ext cx="2566340" cy="400110"/>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63031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Using NP-Completeness</a:t>
            </a:r>
          </a:p>
        </p:txBody>
      </p:sp>
      <p:grpSp>
        <p:nvGrpSpPr>
          <p:cNvPr id="8" name="Group 7" descr="Because NP-Complete problems belong to both NP and NP-Hard, every NP-Complete problem reduces in polynomial time to every other NP-Complete problem.&#10;&#10;This means that either ALL NP-Complete problems have a polynomial time solution, or else none of them do.">
            <a:extLst>
              <a:ext uri="{FF2B5EF4-FFF2-40B4-BE49-F238E27FC236}">
                <a16:creationId xmlns:a16="http://schemas.microsoft.com/office/drawing/2014/main" id="{255AB2B4-0350-DC05-2FC8-EE556469E162}"/>
              </a:ext>
            </a:extLst>
          </p:cNvPr>
          <p:cNvGrpSpPr/>
          <p:nvPr/>
        </p:nvGrpSpPr>
        <p:grpSpPr>
          <a:xfrm>
            <a:off x="183373" y="1367136"/>
            <a:ext cx="12008627" cy="5249682"/>
            <a:chOff x="183373" y="1367136"/>
            <a:chExt cx="12008627" cy="5249682"/>
          </a:xfrm>
        </p:grpSpPr>
        <p:grpSp>
          <p:nvGrpSpPr>
            <p:cNvPr id="3" name="Group 2">
              <a:extLst>
                <a:ext uri="{FF2B5EF4-FFF2-40B4-BE49-F238E27FC236}">
                  <a16:creationId xmlns:a16="http://schemas.microsoft.com/office/drawing/2014/main" id="{965F0091-43D3-B8D9-5785-DA96A72D4713}"/>
                </a:ext>
              </a:extLst>
            </p:cNvPr>
            <p:cNvGrpSpPr/>
            <p:nvPr/>
          </p:nvGrpSpPr>
          <p:grpSpPr>
            <a:xfrm>
              <a:off x="1615701" y="1367136"/>
              <a:ext cx="9104201" cy="5249682"/>
              <a:chOff x="1615701" y="1367136"/>
              <a:chExt cx="9104201" cy="5249682"/>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p:cNvSpPr txBox="1"/>
              <p:nvPr/>
            </p:nvSpPr>
            <p:spPr>
              <a:xfrm>
                <a:off x="1615701" y="1403866"/>
                <a:ext cx="2683235" cy="369332"/>
              </a:xfrm>
              <a:prstGeom prst="rect">
                <a:avLst/>
              </a:prstGeom>
              <a:noFill/>
            </p:spPr>
            <p:txBody>
              <a:bodyPr wrap="none" rtlCol="0">
                <a:spAutoFit/>
              </a:bodyPr>
              <a:lstStyle/>
              <a:p>
                <a:r>
                  <a:rPr lang="en-US" dirty="0"/>
                  <a:t>Any NP-Complete Problem</a:t>
                </a:r>
              </a:p>
            </p:txBody>
          </p:sp>
          <p:sp>
            <p:nvSpPr>
              <p:cNvPr id="16" name="TextBox 15"/>
              <p:cNvSpPr txBox="1"/>
              <p:nvPr/>
            </p:nvSpPr>
            <p:spPr>
              <a:xfrm>
                <a:off x="7467601" y="1371600"/>
                <a:ext cx="3252301" cy="369332"/>
              </a:xfrm>
              <a:prstGeom prst="rect">
                <a:avLst/>
              </a:prstGeom>
              <a:noFill/>
            </p:spPr>
            <p:txBody>
              <a:bodyPr wrap="none" rtlCol="0">
                <a:spAutoFit/>
              </a:bodyPr>
              <a:lstStyle/>
              <a:p>
                <a:r>
                  <a:rPr lang="en-US" dirty="0"/>
                  <a:t>Any other NP-Complete Problem</a:t>
                </a:r>
              </a:p>
            </p:txBody>
          </p:sp>
          <mc:AlternateContent xmlns:mc="http://schemas.openxmlformats.org/markup-compatibility/2006" xmlns:a14="http://schemas.microsoft.com/office/drawing/2010/main">
            <mc:Choice Requires="a14">
              <p:sp>
                <p:nvSpPr>
                  <p:cNvPr id="21" name="TextBox 20"/>
                  <p:cNvSpPr txBox="1"/>
                  <p:nvPr/>
                </p:nvSpPr>
                <p:spPr>
                  <a:xfrm>
                    <a:off x="845497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454979" y="4873374"/>
                    <a:ext cx="1500667" cy="369332"/>
                  </a:xfrm>
                  <a:prstGeom prst="rect">
                    <a:avLst/>
                  </a:prstGeom>
                  <a:blipFill>
                    <a:blip r:embed="rId2"/>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Flowchart: Magnetic Disk 21"/>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4"/>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2378525"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5"/>
                    <a:stretch>
                      <a:fillRect l="-3279" t="-10000" b="-26667"/>
                    </a:stretch>
                  </a:blipFill>
                </p:spPr>
                <p:txBody>
                  <a:bodyPr/>
                  <a:lstStyle/>
                  <a:p>
                    <a:r>
                      <a:rPr lang="en-US">
                        <a:noFill/>
                      </a:rPr>
                      <a:t> </a:t>
                    </a:r>
                  </a:p>
                </p:txBody>
              </p:sp>
            </mc:Fallback>
          </mc:AlternateContent>
          <p:sp>
            <p:nvSpPr>
              <p:cNvPr id="30" name="AutoShape 5"/>
              <p:cNvSpPr>
                <a:spLocks noChangeArrowheads="1"/>
              </p:cNvSpPr>
              <p:nvPr/>
            </p:nvSpPr>
            <p:spPr bwMode="auto">
              <a:xfrm>
                <a:off x="4627562"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79" name="Rectangle 278"/>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6"/>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5489064"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5489064"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sp>
          <p:nvSpPr>
            <p:cNvPr id="26" name="Rounded Rectangular Callout 25">
              <a:extLst>
                <a:ext uri="{FF2B5EF4-FFF2-40B4-BE49-F238E27FC236}">
                  <a16:creationId xmlns:a16="http://schemas.microsoft.com/office/drawing/2014/main" id="{EBD3D364-96E8-A14B-8D5D-6D824FA6B43A}"/>
                </a:ext>
              </a:extLst>
            </p:cNvPr>
            <p:cNvSpPr/>
            <p:nvPr/>
          </p:nvSpPr>
          <p:spPr>
            <a:xfrm>
              <a:off x="9903796" y="2604086"/>
              <a:ext cx="2288204" cy="707528"/>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If this could be done in polynomial time</a:t>
              </a:r>
            </a:p>
          </p:txBody>
        </p:sp>
        <p:sp>
          <p:nvSpPr>
            <p:cNvPr id="27" name="Rounded Rectangular Callout 26">
              <a:extLst>
                <a:ext uri="{FF2B5EF4-FFF2-40B4-BE49-F238E27FC236}">
                  <a16:creationId xmlns:a16="http://schemas.microsoft.com/office/drawing/2014/main" id="{EBD3D364-96E8-A14B-8D5D-6D824FA6B43A}"/>
                </a:ext>
              </a:extLst>
            </p:cNvPr>
            <p:cNvSpPr/>
            <p:nvPr/>
          </p:nvSpPr>
          <p:spPr>
            <a:xfrm>
              <a:off x="183373" y="2759151"/>
              <a:ext cx="2288204" cy="813192"/>
            </a:xfrm>
            <a:prstGeom prst="wedgeRoundRectCallout">
              <a:avLst>
                <a:gd name="adj1" fmla="val 69305"/>
                <a:gd name="adj2" fmla="val 3086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Then this could be done in polynomial time</a:t>
              </a:r>
            </a:p>
          </p:txBody>
        </p:sp>
        <p:sp>
          <p:nvSpPr>
            <p:cNvPr id="6" name="Rounded Rectangular Callout 25">
              <a:extLst>
                <a:ext uri="{FF2B5EF4-FFF2-40B4-BE49-F238E27FC236}">
                  <a16:creationId xmlns:a16="http://schemas.microsoft.com/office/drawing/2014/main" id="{EBD3D364-96E8-A14B-8D5D-6D824FA6B43A}"/>
                </a:ext>
              </a:extLst>
            </p:cNvPr>
            <p:cNvSpPr/>
            <p:nvPr/>
          </p:nvSpPr>
          <p:spPr>
            <a:xfrm>
              <a:off x="10056196" y="3595580"/>
              <a:ext cx="2135804" cy="857263"/>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a:t>Then this cannot be done in polynomial time</a:t>
              </a:r>
              <a:endParaRPr lang="en-US" dirty="0"/>
            </a:p>
          </p:txBody>
        </p:sp>
        <p:sp>
          <p:nvSpPr>
            <p:cNvPr id="7" name="Rounded Rectangular Callout 26">
              <a:extLst>
                <a:ext uri="{FF2B5EF4-FFF2-40B4-BE49-F238E27FC236}">
                  <a16:creationId xmlns:a16="http://schemas.microsoft.com/office/drawing/2014/main" id="{EBD3D364-96E8-A14B-8D5D-6D824FA6B43A}"/>
                </a:ext>
              </a:extLst>
            </p:cNvPr>
            <p:cNvSpPr/>
            <p:nvPr/>
          </p:nvSpPr>
          <p:spPr>
            <a:xfrm>
              <a:off x="335773" y="3900380"/>
              <a:ext cx="2288204" cy="813192"/>
            </a:xfrm>
            <a:prstGeom prst="wedgeRoundRectCallout">
              <a:avLst>
                <a:gd name="adj1" fmla="val 69305"/>
                <a:gd name="adj2" fmla="val 3086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If this cannot be done in polynomial time</a:t>
              </a:r>
            </a:p>
          </p:txBody>
        </p:sp>
      </p:grpSp>
    </p:spTree>
    <p:extLst>
      <p:ext uri="{BB962C8B-B14F-4D97-AF65-F5344CB8AC3E}">
        <p14:creationId xmlns:p14="http://schemas.microsoft.com/office/powerpoint/2010/main" val="25802997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6ECFCE-257D-55FB-890F-6FBF726B2150}"/>
              </a:ext>
            </a:extLst>
          </p:cNvPr>
          <p:cNvSpPr>
            <a:spLocks noGrp="1"/>
          </p:cNvSpPr>
          <p:nvPr>
            <p:ph type="title"/>
          </p:nvPr>
        </p:nvSpPr>
        <p:spPr/>
        <p:txBody>
          <a:bodyPr/>
          <a:lstStyle/>
          <a:p>
            <a:r>
              <a:rPr lang="en-US" dirty="0"/>
              <a:t>Overview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60B87B-178B-B5AA-6696-DACBFA74D960}"/>
                  </a:ext>
                </a:extLst>
              </p:cNvPr>
              <p:cNvSpPr>
                <a:spLocks noGrp="1"/>
              </p:cNvSpPr>
              <p:nvPr>
                <p:ph idx="1"/>
              </p:nvPr>
            </p:nvSpPr>
            <p:spPr/>
            <p:txBody>
              <a:bodyPr>
                <a:normAutofit lnSpcReduction="10000"/>
              </a:bodyPr>
              <a:lstStyle/>
              <a:p>
                <a:r>
                  <a:rPr lang="en-US" dirty="0"/>
                  <a:t>Problems not belonging to </a:t>
                </a:r>
                <a14:m>
                  <m:oMath xmlns:m="http://schemas.openxmlformats.org/officeDocument/2006/math">
                    <m:r>
                      <a:rPr lang="en-US" b="0" i="1" smtClean="0">
                        <a:latin typeface="Cambria Math" panose="02040503050406030204" pitchFamily="18" charset="0"/>
                      </a:rPr>
                      <m:t>𝑃</m:t>
                    </m:r>
                  </m:oMath>
                </a14:m>
                <a:r>
                  <a:rPr lang="en-US" dirty="0"/>
                  <a:t> are considered intractable</a:t>
                </a:r>
              </a:p>
              <a:p>
                <a:r>
                  <a:rPr lang="en-US" dirty="0"/>
                  <a:t>The problems within </a:t>
                </a:r>
                <a14:m>
                  <m:oMath xmlns:m="http://schemas.openxmlformats.org/officeDocument/2006/math">
                    <m:r>
                      <a:rPr lang="en-US" b="0" i="1" smtClean="0">
                        <a:latin typeface="Cambria Math" panose="02040503050406030204" pitchFamily="18" charset="0"/>
                      </a:rPr>
                      <m:t>𝑁𝑃</m:t>
                    </m:r>
                  </m:oMath>
                </a14:m>
                <a:r>
                  <a:rPr lang="en-US" dirty="0"/>
                  <a:t> have some properties that make them seem like they might be tractable, but we’ve been unsuccessful with finding polynomial time algorithms for many</a:t>
                </a:r>
              </a:p>
              <a:p>
                <a:r>
                  <a:rPr lang="en-US" dirty="0"/>
                  <a:t>The class </a:t>
                </a:r>
                <a14:m>
                  <m:oMath xmlns:m="http://schemas.openxmlformats.org/officeDocument/2006/math">
                    <m:r>
                      <a:rPr lang="en-US" i="1" dirty="0" smtClean="0">
                        <a:latin typeface="Cambria Math" panose="02040503050406030204" pitchFamily="18" charset="0"/>
                      </a:rPr>
                      <m:t>𝑁𝑃</m:t>
                    </m:r>
                    <m:r>
                      <a:rPr lang="en-US" i="1" dirty="0" smtClean="0">
                        <a:latin typeface="Cambria Math" panose="02040503050406030204" pitchFamily="18" charset="0"/>
                      </a:rPr>
                      <m:t>−</m:t>
                    </m:r>
                    <m:r>
                      <a:rPr lang="en-US" i="1" dirty="0" smtClean="0">
                        <a:latin typeface="Cambria Math" panose="02040503050406030204" pitchFamily="18" charset="0"/>
                      </a:rPr>
                      <m:t>𝐶𝑜𝑚𝑝𝑙𝑒𝑡𝑒</m:t>
                    </m:r>
                  </m:oMath>
                </a14:m>
                <a:r>
                  <a:rPr lang="en-US" dirty="0"/>
                  <a:t> contains problems with the properties:</a:t>
                </a:r>
              </a:p>
              <a:p>
                <a:pPr lvl="1"/>
                <a:r>
                  <a:rPr lang="en-US" dirty="0"/>
                  <a:t>All members are also members of </a:t>
                </a:r>
                <a14:m>
                  <m:oMath xmlns:m="http://schemas.openxmlformats.org/officeDocument/2006/math">
                    <m:r>
                      <a:rPr lang="en-US" b="0" i="1" smtClean="0">
                        <a:latin typeface="Cambria Math" panose="02040503050406030204" pitchFamily="18" charset="0"/>
                      </a:rPr>
                      <m:t>𝑁𝑃</m:t>
                    </m:r>
                  </m:oMath>
                </a14:m>
                <a:endParaRPr lang="en-US" dirty="0"/>
              </a:p>
              <a:p>
                <a:pPr lvl="1"/>
                <a:r>
                  <a:rPr lang="en-US" dirty="0"/>
                  <a:t>All members of </a:t>
                </a:r>
                <a14:m>
                  <m:oMath xmlns:m="http://schemas.openxmlformats.org/officeDocument/2006/math">
                    <m:r>
                      <a:rPr lang="en-US" b="0" i="1" smtClean="0">
                        <a:latin typeface="Cambria Math" panose="02040503050406030204" pitchFamily="18" charset="0"/>
                      </a:rPr>
                      <m:t>𝑁𝑃</m:t>
                    </m:r>
                  </m:oMath>
                </a14:m>
                <a:r>
                  <a:rPr lang="en-US" dirty="0"/>
                  <a:t> can be transformed into every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endParaRPr lang="en-US" b="0" dirty="0"/>
              </a:p>
              <a:p>
                <a:pPr lvl="2"/>
                <a:r>
                  <a:rPr lang="en-US" dirty="0"/>
                  <a:t>Because they are both </a:t>
                </a:r>
                <a14:m>
                  <m:oMath xmlns:m="http://schemas.openxmlformats.org/officeDocument/2006/math">
                    <m:r>
                      <a:rPr lang="en-US" i="1" dirty="0" smtClean="0">
                        <a:latin typeface="Cambria Math" panose="02040503050406030204" pitchFamily="18" charset="0"/>
                      </a:rPr>
                      <m:t>𝑁𝑃</m:t>
                    </m:r>
                  </m:oMath>
                </a14:m>
                <a:r>
                  <a:rPr lang="en-US" dirty="0"/>
                  <a:t> and </a:t>
                </a:r>
                <a14:m>
                  <m:oMath xmlns:m="http://schemas.openxmlformats.org/officeDocument/2006/math">
                    <m:r>
                      <a:rPr lang="en-US" i="1" dirty="0" smtClean="0">
                        <a:latin typeface="Cambria Math" panose="02040503050406030204" pitchFamily="18" charset="0"/>
                      </a:rPr>
                      <m:t>𝑁𝑃</m:t>
                    </m:r>
                    <m:r>
                      <a:rPr lang="en-US" i="1" dirty="0" smtClean="0">
                        <a:latin typeface="Cambria Math" panose="02040503050406030204" pitchFamily="18" charset="0"/>
                      </a:rPr>
                      <m:t>−</m:t>
                    </m:r>
                    <m:r>
                      <a:rPr lang="en-US" i="1" dirty="0" smtClean="0">
                        <a:latin typeface="Cambria Math" panose="02040503050406030204" pitchFamily="18" charset="0"/>
                      </a:rPr>
                      <m:t>𝐻𝑎𝑟𝑑</m:t>
                    </m:r>
                  </m:oMath>
                </a14:m>
                <a:endParaRPr lang="en-US" b="0" dirty="0"/>
              </a:p>
              <a:p>
                <a:pPr lvl="1"/>
                <a:r>
                  <a:rPr lang="en-US" dirty="0"/>
                  <a:t>If any one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belongs to </a:t>
                </a:r>
                <a14:m>
                  <m:oMath xmlns:m="http://schemas.openxmlformats.org/officeDocument/2006/math">
                    <m:r>
                      <a:rPr lang="en-US" b="0" i="1" smtClean="0">
                        <a:latin typeface="Cambria Math" panose="02040503050406030204" pitchFamily="18" charset="0"/>
                      </a:rPr>
                      <m:t>𝑃</m:t>
                    </m:r>
                  </m:oMath>
                </a14:m>
                <a:r>
                  <a:rPr lang="en-US" dirty="0"/>
                  <a:t>, then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a:p>
                <a:pPr lvl="1"/>
                <a:r>
                  <a:rPr lang="en-US" dirty="0"/>
                  <a:t>If any one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is outside of </a:t>
                </a:r>
                <a14:m>
                  <m:oMath xmlns:m="http://schemas.openxmlformats.org/officeDocument/2006/math">
                    <m:r>
                      <a:rPr lang="en-US" b="0" i="1" smtClean="0">
                        <a:latin typeface="Cambria Math" panose="02040503050406030204" pitchFamily="18" charset="0"/>
                      </a:rPr>
                      <m:t>𝑃</m:t>
                    </m:r>
                  </m:oMath>
                </a14:m>
                <a:r>
                  <a:rPr lang="en-US" dirty="0"/>
                  <a:t>, then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p:txBody>
          </p:sp>
        </mc:Choice>
        <mc:Fallback xmlns="">
          <p:sp>
            <p:nvSpPr>
              <p:cNvPr id="3" name="Content Placeholder 2">
                <a:extLst>
                  <a:ext uri="{FF2B5EF4-FFF2-40B4-BE49-F238E27FC236}">
                    <a16:creationId xmlns:a16="http://schemas.microsoft.com/office/drawing/2014/main" id="{6660B87B-178B-B5AA-6696-DACBFA74D960}"/>
                  </a:ext>
                </a:extLst>
              </p:cNvPr>
              <p:cNvSpPr>
                <a:spLocks noGrp="1" noRot="1" noChangeAspect="1" noMove="1" noResize="1" noEditPoints="1" noAdjustHandles="1" noChangeArrowheads="1" noChangeShapeType="1" noTextEdit="1"/>
              </p:cNvSpPr>
              <p:nvPr>
                <p:ph idx="1"/>
              </p:nvPr>
            </p:nvSpPr>
            <p:spPr>
              <a:blipFill>
                <a:blip r:embed="rId2"/>
                <a:stretch>
                  <a:fillRect l="-1043" t="-3081" r="-1449"/>
                </a:stretch>
              </a:blipFill>
            </p:spPr>
            <p:txBody>
              <a:bodyPr/>
              <a:lstStyle/>
              <a:p>
                <a:r>
                  <a:rPr lang="en-US">
                    <a:noFill/>
                  </a:rPr>
                  <a:t> </a:t>
                </a:r>
              </a:p>
            </p:txBody>
          </p:sp>
        </mc:Fallback>
      </mc:AlternateContent>
    </p:spTree>
    <p:extLst>
      <p:ext uri="{BB962C8B-B14F-4D97-AF65-F5344CB8AC3E}">
        <p14:creationId xmlns:p14="http://schemas.microsoft.com/office/powerpoint/2010/main" val="287723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9095-7562-ED1C-FDFC-5B04880CA7C1}"/>
              </a:ext>
            </a:extLst>
          </p:cNvPr>
          <p:cNvSpPr>
            <a:spLocks noGrp="1"/>
          </p:cNvSpPr>
          <p:nvPr>
            <p:ph type="title"/>
          </p:nvPr>
        </p:nvSpPr>
        <p:spPr/>
        <p:txBody>
          <a:bodyPr/>
          <a:lstStyle/>
          <a:p>
            <a:r>
              <a:rPr lang="en-US" dirty="0"/>
              <a:t>Why should YOU care?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1D492D-9C9F-4FF0-674D-8E0A5C6D0D50}"/>
                  </a:ext>
                </a:extLst>
              </p:cNvPr>
              <p:cNvSpPr>
                <a:spLocks noGrp="1"/>
              </p:cNvSpPr>
              <p:nvPr>
                <p:ph idx="1"/>
              </p:nvPr>
            </p:nvSpPr>
            <p:spPr>
              <a:xfrm>
                <a:off x="355600" y="1562100"/>
                <a:ext cx="11836400" cy="4930775"/>
              </a:xfrm>
            </p:spPr>
            <p:txBody>
              <a:bodyPr>
                <a:normAutofit fontScale="92500"/>
              </a:bodyPr>
              <a:lstStyle/>
              <a:p>
                <a:r>
                  <a:rPr lang="en-US" dirty="0"/>
                  <a:t>If you can find a polynomial time algorithm for any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problem then:</a:t>
                </a:r>
              </a:p>
              <a:p>
                <a:pPr lvl="1"/>
                <a:r>
                  <a:rPr lang="en-US" dirty="0"/>
                  <a:t>You will win $1million</a:t>
                </a:r>
              </a:p>
              <a:p>
                <a:pPr lvl="1"/>
                <a:r>
                  <a:rPr lang="en-US" dirty="0"/>
                  <a:t>You will win a Turing Award</a:t>
                </a:r>
              </a:p>
              <a:p>
                <a:pPr lvl="1"/>
                <a:r>
                  <a:rPr lang="en-US" dirty="0"/>
                  <a:t>You will be world famous</a:t>
                </a:r>
              </a:p>
              <a:p>
                <a:pPr lvl="1"/>
                <a:r>
                  <a:rPr lang="en-US" dirty="0"/>
                  <a:t>You will have done something that no one else on Earth has been able to do in spite of the above!</a:t>
                </a:r>
              </a:p>
              <a:p>
                <a:r>
                  <a:rPr lang="en-US" dirty="0"/>
                  <a:t>If you are told to write an algorithm a problem that is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endParaRPr lang="en-US" dirty="0"/>
              </a:p>
              <a:p>
                <a:pPr lvl="1"/>
                <a:r>
                  <a:rPr lang="en-US" dirty="0"/>
                  <a:t>You can tell that person everything above to set expectations</a:t>
                </a:r>
              </a:p>
              <a:p>
                <a:pPr lvl="1"/>
                <a:r>
                  <a:rPr lang="en-US" dirty="0"/>
                  <a:t>Change the requirements!</a:t>
                </a:r>
              </a:p>
              <a:p>
                <a:pPr lvl="1"/>
                <a:r>
                  <a:rPr lang="en-US" b="1" dirty="0"/>
                  <a:t>Approximate the solution</a:t>
                </a:r>
                <a:r>
                  <a:rPr lang="en-US" dirty="0"/>
                  <a:t>: Instead of finding a path that visits every node, find a path that visits at least 75% of the nodes</a:t>
                </a:r>
              </a:p>
              <a:p>
                <a:pPr lvl="1"/>
                <a:r>
                  <a:rPr lang="en-US" b="1" dirty="0"/>
                  <a:t>Add Assumptions</a:t>
                </a:r>
                <a:r>
                  <a:rPr lang="en-US" dirty="0"/>
                  <a:t>: problem might be tractable if we can assume the graph is acyclic, a tree</a:t>
                </a:r>
              </a:p>
              <a:p>
                <a:pPr lvl="1"/>
                <a:r>
                  <a:rPr lang="en-US" b="1" dirty="0"/>
                  <a:t>Use Heuristics</a:t>
                </a:r>
                <a:r>
                  <a:rPr lang="en-US" dirty="0"/>
                  <a:t>: Write an algorithm that’s “good enough” for small inputs, ignore edge cases</a:t>
                </a:r>
              </a:p>
              <a:p>
                <a:pPr lvl="1"/>
                <a:endParaRPr lang="en-US" dirty="0"/>
              </a:p>
            </p:txBody>
          </p:sp>
        </mc:Choice>
        <mc:Fallback xmlns="">
          <p:sp>
            <p:nvSpPr>
              <p:cNvPr id="3" name="Content Placeholder 2">
                <a:extLst>
                  <a:ext uri="{FF2B5EF4-FFF2-40B4-BE49-F238E27FC236}">
                    <a16:creationId xmlns:a16="http://schemas.microsoft.com/office/drawing/2014/main" id="{F51D492D-9C9F-4FF0-674D-8E0A5C6D0D50}"/>
                  </a:ext>
                </a:extLst>
              </p:cNvPr>
              <p:cNvSpPr>
                <a:spLocks noGrp="1" noRot="1" noChangeAspect="1" noMove="1" noResize="1" noEditPoints="1" noAdjustHandles="1" noChangeArrowheads="1" noChangeShapeType="1" noTextEdit="1"/>
              </p:cNvSpPr>
              <p:nvPr>
                <p:ph idx="1"/>
              </p:nvPr>
            </p:nvSpPr>
            <p:spPr>
              <a:xfrm>
                <a:off x="355600" y="1562100"/>
                <a:ext cx="11836400" cy="4930775"/>
              </a:xfrm>
              <a:blipFill>
                <a:blip r:embed="rId2"/>
                <a:stretch>
                  <a:fillRect l="-772" t="-1854" r="-206" b="-371"/>
                </a:stretch>
              </a:blipFill>
            </p:spPr>
            <p:txBody>
              <a:bodyPr/>
              <a:lstStyle/>
              <a:p>
                <a:r>
                  <a:rPr lang="en-US">
                    <a:noFill/>
                  </a:rPr>
                  <a:t> </a:t>
                </a:r>
              </a:p>
            </p:txBody>
          </p:sp>
        </mc:Fallback>
      </mc:AlternateContent>
    </p:spTree>
    <p:extLst>
      <p:ext uri="{BB962C8B-B14F-4D97-AF65-F5344CB8AC3E}">
        <p14:creationId xmlns:p14="http://schemas.microsoft.com/office/powerpoint/2010/main" val="40311550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80CD5-2E75-101B-3BF0-3D75E9E0E96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BF0E441D-1D5A-8457-5F47-FF8B84B4ACA4}"/>
                  </a:ext>
                </a:extLst>
              </p:cNvPr>
              <p:cNvSpPr>
                <a:spLocks noGrp="1"/>
              </p:cNvSpPr>
              <p:nvPr>
                <p:ph type="title"/>
              </p:nvPr>
            </p:nvSpPr>
            <p:spPr/>
            <p:txBody>
              <a:bodyPr/>
              <a:lstStyle/>
              <a:p>
                <a:r>
                  <a:rPr lang="en-US" dirty="0"/>
                  <a:t>Public Key Crypto Requires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p:txBody>
          </p:sp>
        </mc:Choice>
        <mc:Fallback>
          <p:sp>
            <p:nvSpPr>
              <p:cNvPr id="2" name="Title 1">
                <a:extLst>
                  <a:ext uri="{FF2B5EF4-FFF2-40B4-BE49-F238E27FC236}">
                    <a16:creationId xmlns:a16="http://schemas.microsoft.com/office/drawing/2014/main" id="{BF0E441D-1D5A-8457-5F47-FF8B84B4ACA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9F7E387-7697-8C08-6752-44D48BEF33ED}"/>
                  </a:ext>
                </a:extLst>
              </p:cNvPr>
              <p:cNvSpPr>
                <a:spLocks noGrp="1"/>
              </p:cNvSpPr>
              <p:nvPr>
                <p:ph idx="1"/>
              </p:nvPr>
            </p:nvSpPr>
            <p:spPr/>
            <p:txBody>
              <a:bodyPr>
                <a:normAutofit/>
              </a:bodyPr>
              <a:lstStyle/>
              <a:p>
                <a:r>
                  <a:rPr lang="en-US" dirty="0"/>
                  <a:t>Public key cryptography involves two keys:</a:t>
                </a:r>
              </a:p>
              <a:p>
                <a:pPr lvl="1"/>
                <a:r>
                  <a:rPr lang="en-US" dirty="0"/>
                  <a:t>A “public key”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oMath>
                </a14:m>
                <a:r>
                  <a:rPr lang="en-US" dirty="0"/>
                  <a:t> used for encryption</a:t>
                </a:r>
              </a:p>
              <a:p>
                <a:pPr lvl="2"/>
                <a:r>
                  <a:rPr lang="en-US" dirty="0"/>
                  <a:t>To encrypt </a:t>
                </a:r>
                <a14:m>
                  <m:oMath xmlns:m="http://schemas.openxmlformats.org/officeDocument/2006/math">
                    <m:r>
                      <a:rPr lang="en-US" b="0" i="1" smtClean="0">
                        <a:latin typeface="Cambria Math" panose="02040503050406030204" pitchFamily="18" charset="0"/>
                      </a:rPr>
                      <m:t>𝑚</m:t>
                    </m:r>
                  </m:oMath>
                </a14:m>
                <a:r>
                  <a:rPr lang="en-US" dirty="0"/>
                  <a:t> we compute </a:t>
                </a:r>
                <a14:m>
                  <m:oMath xmlns:m="http://schemas.openxmlformats.org/officeDocument/2006/math">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𝑐</m:t>
                    </m:r>
                  </m:oMath>
                </a14:m>
                <a:endParaRPr lang="en-US" dirty="0"/>
              </a:p>
              <a:p>
                <a:pPr lvl="1"/>
                <a:r>
                  <a:rPr lang="en-US" dirty="0"/>
                  <a:t>A “private key”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𝑝𝑟𝑖𝑣</m:t>
                        </m:r>
                      </m:sub>
                    </m:sSub>
                  </m:oMath>
                </a14:m>
                <a:r>
                  <a:rPr lang="en-US" dirty="0"/>
                  <a:t> used for decryption</a:t>
                </a:r>
              </a:p>
              <a:p>
                <a:pPr lvl="2"/>
                <a:r>
                  <a:rPr lang="en-US" dirty="0"/>
                  <a:t>To decrypt </a:t>
                </a:r>
                <a14:m>
                  <m:oMath xmlns:m="http://schemas.openxmlformats.org/officeDocument/2006/math">
                    <m:r>
                      <a:rPr lang="en-US" b="0" i="1" smtClean="0">
                        <a:latin typeface="Cambria Math" panose="02040503050406030204" pitchFamily="18" charset="0"/>
                      </a:rPr>
                      <m:t>𝑐</m:t>
                    </m:r>
                  </m:oMath>
                </a14:m>
                <a:r>
                  <a:rPr lang="en-US" dirty="0"/>
                  <a:t> we compute </a:t>
                </a:r>
                <a14:m>
                  <m:oMath xmlns:m="http://schemas.openxmlformats.org/officeDocument/2006/math">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𝑝𝑟𝑖𝑣</m:t>
                            </m:r>
                          </m:sub>
                        </m:sSub>
                      </m:e>
                    </m:d>
                    <m:r>
                      <a:rPr lang="en-US" b="0" i="1" smtClean="0">
                        <a:latin typeface="Cambria Math" panose="02040503050406030204" pitchFamily="18" charset="0"/>
                      </a:rPr>
                      <m:t>=</m:t>
                    </m:r>
                    <m:r>
                      <a:rPr lang="en-US" b="0" i="1" smtClean="0">
                        <a:latin typeface="Cambria Math" panose="02040503050406030204" pitchFamily="18" charset="0"/>
                      </a:rPr>
                      <m:t>𝑚</m:t>
                    </m:r>
                  </m:oMath>
                </a14:m>
                <a:endParaRPr lang="en-US" dirty="0"/>
              </a:p>
              <a:p>
                <a:r>
                  <a:rPr lang="en-US" dirty="0"/>
                  <a:t>To be secure we need:</a:t>
                </a:r>
              </a:p>
              <a:p>
                <a:pPr lvl="1"/>
                <a14:m>
                  <m:oMath xmlns:m="http://schemas.openxmlformats.org/officeDocument/2006/math">
                    <m:r>
                      <a:rPr lang="en-US" b="0" i="1" smtClean="0">
                        <a:latin typeface="Cambria Math" panose="02040503050406030204" pitchFamily="18" charset="0"/>
                      </a:rPr>
                      <m:t>𝐸</m:t>
                    </m:r>
                    <m:r>
                      <a:rPr lang="en-US" b="0" i="1" smtClean="0">
                        <a:latin typeface="Cambria Math" panose="02040503050406030204" pitchFamily="18" charset="0"/>
                      </a:rPr>
                      <m:t>(</m:t>
                    </m:r>
                    <m:r>
                      <a:rPr lang="en-US" b="0" i="1" smtClean="0">
                        <a:latin typeface="Cambria Math" panose="02040503050406030204" pitchFamily="18" charset="0"/>
                      </a:rPr>
                      <m:t>𝑚</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to belong to </a:t>
                </a:r>
                <a14:m>
                  <m:oMath xmlns:m="http://schemas.openxmlformats.org/officeDocument/2006/math">
                    <m:r>
                      <a:rPr lang="en-US" b="0" i="1" smtClean="0">
                        <a:latin typeface="Cambria Math" panose="02040503050406030204" pitchFamily="18" charset="0"/>
                      </a:rPr>
                      <m:t>𝑃</m:t>
                    </m:r>
                  </m:oMath>
                </a14:m>
                <a:endParaRPr lang="en-US" dirty="0"/>
              </a:p>
              <a:p>
                <a:pPr lvl="1"/>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to not belong to </a:t>
                </a:r>
                <a14:m>
                  <m:oMath xmlns:m="http://schemas.openxmlformats.org/officeDocument/2006/math">
                    <m:r>
                      <a:rPr lang="en-US" b="0" i="1" smtClean="0">
                        <a:latin typeface="Cambria Math" panose="02040503050406030204" pitchFamily="18" charset="0"/>
                      </a:rPr>
                      <m:t>𝑃</m:t>
                    </m:r>
                  </m:oMath>
                </a14:m>
                <a:endParaRPr lang="en-US" dirty="0"/>
              </a:p>
              <a:p>
                <a:pPr lvl="1"/>
                <a:r>
                  <a:rPr lang="en-US" dirty="0"/>
                  <a:t>However,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must belong to </a:t>
                </a:r>
                <a14:m>
                  <m:oMath xmlns:m="http://schemas.openxmlformats.org/officeDocument/2006/math">
                    <m:r>
                      <a:rPr lang="en-US" b="0" i="1" smtClean="0">
                        <a:latin typeface="Cambria Math" panose="02040503050406030204" pitchFamily="18" charset="0"/>
                      </a:rPr>
                      <m:t>𝑁𝑃</m:t>
                    </m:r>
                  </m:oMath>
                </a14:m>
                <a:endParaRPr lang="en-US" dirty="0"/>
              </a:p>
              <a:p>
                <a:pPr lvl="2"/>
                <a:r>
                  <a:rPr lang="en-US" dirty="0"/>
                  <a:t>Given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r>
                      <a:rPr lang="en-US" b="0" i="1" smtClean="0">
                        <a:latin typeface="Cambria Math" panose="02040503050406030204" pitchFamily="18" charset="0"/>
                      </a:rPr>
                      <m:t>𝑚</m:t>
                    </m:r>
                  </m:oMath>
                </a14:m>
                <a:r>
                  <a:rPr lang="en-US" dirty="0"/>
                  <a:t> we can verify if </a:t>
                </a:r>
                <a14:m>
                  <m:oMath xmlns:m="http://schemas.openxmlformats.org/officeDocument/2006/math">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𝑚</m:t>
                    </m:r>
                  </m:oMath>
                </a14:m>
                <a:r>
                  <a:rPr lang="en-US" dirty="0"/>
                  <a:t> by checking if </a:t>
                </a:r>
                <a14:m>
                  <m:oMath xmlns:m="http://schemas.openxmlformats.org/officeDocument/2006/math">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𝑐</m:t>
                    </m:r>
                  </m:oMath>
                </a14:m>
                <a:endParaRPr lang="en-US" dirty="0"/>
              </a:p>
              <a:p>
                <a:pPr lvl="1"/>
                <a:endParaRPr lang="en-US" dirty="0"/>
              </a:p>
            </p:txBody>
          </p:sp>
        </mc:Choice>
        <mc:Fallback>
          <p:sp>
            <p:nvSpPr>
              <p:cNvPr id="3" name="Content Placeholder 2">
                <a:extLst>
                  <a:ext uri="{FF2B5EF4-FFF2-40B4-BE49-F238E27FC236}">
                    <a16:creationId xmlns:a16="http://schemas.microsoft.com/office/drawing/2014/main" id="{29F7E387-7697-8C08-6752-44D48BEF33ED}"/>
                  </a:ext>
                </a:extLst>
              </p:cNvPr>
              <p:cNvSpPr>
                <a:spLocks noGrp="1" noRot="1" noChangeAspect="1" noMove="1" noResize="1" noEditPoints="1" noAdjustHandles="1" noChangeArrowheads="1" noChangeShapeType="1" noTextEdit="1"/>
              </p:cNvSpPr>
              <p:nvPr>
                <p:ph idx="1"/>
              </p:nvPr>
            </p:nvSpPr>
            <p:spPr>
              <a:blipFill>
                <a:blip r:embed="rId3"/>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1506187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Does P=NP?</a:t>
            </a:r>
          </a:p>
        </p:txBody>
      </p:sp>
      <mc:AlternateContent xmlns:mc="http://schemas.openxmlformats.org/markup-compatibility/2006">
        <mc:Choice xmlns:a14="http://schemas.microsoft.com/office/drawing/2010/main" Requires="a14">
          <p:graphicFrame>
            <p:nvGraphicFramePr>
              <p:cNvPr id="3" name="Table 2">
                <a:extLst>
                  <a:ext uri="{FF2B5EF4-FFF2-40B4-BE49-F238E27FC236}">
                    <a16:creationId xmlns:a16="http://schemas.microsoft.com/office/drawing/2014/main" id="{4C8AE358-F7E7-6C93-5C64-5220C15841F2}"/>
                  </a:ext>
                </a:extLst>
              </p:cNvPr>
              <p:cNvGraphicFramePr>
                <a:graphicFrameLocks noGrp="1"/>
              </p:cNvGraphicFramePr>
              <p:nvPr>
                <p:extLst>
                  <p:ext uri="{D42A27DB-BD31-4B8C-83A1-F6EECF244321}">
                    <p14:modId xmlns:p14="http://schemas.microsoft.com/office/powerpoint/2010/main" val="3929160930"/>
                  </p:ext>
                </p:extLst>
              </p:nvPr>
            </p:nvGraphicFramePr>
            <p:xfrm>
              <a:off x="297180" y="2349455"/>
              <a:ext cx="11440392" cy="1752600"/>
            </p:xfrm>
            <a:graphic>
              <a:graphicData uri="http://schemas.openxmlformats.org/drawingml/2006/table">
                <a:tbl>
                  <a:tblPr firstRow="1" bandRow="1">
                    <a:tableStyleId>{5C22544A-7EE6-4342-B048-85BDC9FD1C3A}</a:tableStyleId>
                  </a:tblPr>
                  <a:tblGrid>
                    <a:gridCol w="1430049">
                      <a:extLst>
                        <a:ext uri="{9D8B030D-6E8A-4147-A177-3AD203B41FA5}">
                          <a16:colId xmlns:a16="http://schemas.microsoft.com/office/drawing/2014/main" val="2918348885"/>
                        </a:ext>
                      </a:extLst>
                    </a:gridCol>
                    <a:gridCol w="1430049">
                      <a:extLst>
                        <a:ext uri="{9D8B030D-6E8A-4147-A177-3AD203B41FA5}">
                          <a16:colId xmlns:a16="http://schemas.microsoft.com/office/drawing/2014/main" val="4102585134"/>
                        </a:ext>
                      </a:extLst>
                    </a:gridCol>
                    <a:gridCol w="1430049">
                      <a:extLst>
                        <a:ext uri="{9D8B030D-6E8A-4147-A177-3AD203B41FA5}">
                          <a16:colId xmlns:a16="http://schemas.microsoft.com/office/drawing/2014/main" val="1662433480"/>
                        </a:ext>
                      </a:extLst>
                    </a:gridCol>
                    <a:gridCol w="1430049">
                      <a:extLst>
                        <a:ext uri="{9D8B030D-6E8A-4147-A177-3AD203B41FA5}">
                          <a16:colId xmlns:a16="http://schemas.microsoft.com/office/drawing/2014/main" val="2919723958"/>
                        </a:ext>
                      </a:extLst>
                    </a:gridCol>
                    <a:gridCol w="1430049">
                      <a:extLst>
                        <a:ext uri="{9D8B030D-6E8A-4147-A177-3AD203B41FA5}">
                          <a16:colId xmlns:a16="http://schemas.microsoft.com/office/drawing/2014/main" val="2835635317"/>
                        </a:ext>
                      </a:extLst>
                    </a:gridCol>
                    <a:gridCol w="1430049">
                      <a:extLst>
                        <a:ext uri="{9D8B030D-6E8A-4147-A177-3AD203B41FA5}">
                          <a16:colId xmlns:a16="http://schemas.microsoft.com/office/drawing/2014/main" val="491599055"/>
                        </a:ext>
                      </a:extLst>
                    </a:gridCol>
                    <a:gridCol w="1430049">
                      <a:extLst>
                        <a:ext uri="{9D8B030D-6E8A-4147-A177-3AD203B41FA5}">
                          <a16:colId xmlns:a16="http://schemas.microsoft.com/office/drawing/2014/main" val="4264937806"/>
                        </a:ext>
                      </a:extLst>
                    </a:gridCol>
                    <a:gridCol w="1430049">
                      <a:extLst>
                        <a:ext uri="{9D8B030D-6E8A-4147-A177-3AD203B41FA5}">
                          <a16:colId xmlns:a16="http://schemas.microsoft.com/office/drawing/2014/main" val="4255534367"/>
                        </a:ext>
                      </a:extLst>
                    </a:gridCol>
                  </a:tblGrid>
                  <a:tr h="370840">
                    <a:tc>
                      <a:txBody>
                        <a:bodyPr/>
                        <a:lstStyle/>
                        <a:p>
                          <a:r>
                            <a:rPr lang="en-US" dirty="0"/>
                            <a:t>Poll Year</a:t>
                          </a:r>
                        </a:p>
                      </a:txBody>
                      <a:tcPr/>
                    </a:tc>
                    <a:tc>
                      <a:txBody>
                        <a:bodyPr/>
                        <a:lstStyle/>
                        <a:p>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𝑷</m:t>
                                </m:r>
                                <m:r>
                                  <a:rPr lang="en-US" b="1" i="1" smtClean="0">
                                    <a:latin typeface="Cambria Math" panose="02040503050406030204" pitchFamily="18" charset="0"/>
                                  </a:rPr>
                                  <m:t>≠</m:t>
                                </m:r>
                                <m:r>
                                  <a:rPr lang="en-US" b="1" i="1" smtClean="0">
                                    <a:latin typeface="Cambria Math" panose="02040503050406030204" pitchFamily="18" charset="0"/>
                                  </a:rPr>
                                  <m:t>𝑵𝑷</m:t>
                                </m:r>
                              </m:oMath>
                            </m:oMathPara>
                          </a14:m>
                          <a:endParaRPr lang="en-US" dirty="0"/>
                        </a:p>
                      </a:txBody>
                      <a:tcPr/>
                    </a:tc>
                    <a:tc>
                      <a:txBody>
                        <a:bodyPr/>
                        <a:lstStyle/>
                        <a:p>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𝑷</m:t>
                                </m:r>
                                <m:r>
                                  <a:rPr lang="en-US" b="1" i="1" smtClean="0">
                                    <a:latin typeface="Cambria Math" panose="02040503050406030204" pitchFamily="18" charset="0"/>
                                  </a:rPr>
                                  <m:t>=</m:t>
                                </m:r>
                                <m:r>
                                  <a:rPr lang="en-US" b="1" i="1" smtClean="0">
                                    <a:latin typeface="Cambria Math" panose="02040503050406030204" pitchFamily="18" charset="0"/>
                                  </a:rPr>
                                  <m:t>𝑵𝑷</m:t>
                                </m:r>
                              </m:oMath>
                            </m:oMathPara>
                          </a14:m>
                          <a:endParaRPr lang="en-US" dirty="0"/>
                        </a:p>
                      </a:txBody>
                      <a:tcPr/>
                    </a:tc>
                    <a:tc>
                      <a:txBody>
                        <a:bodyPr/>
                        <a:lstStyle/>
                        <a:p>
                          <a:r>
                            <a:rPr lang="en-US" dirty="0"/>
                            <a:t>Unprovable</a:t>
                          </a:r>
                        </a:p>
                      </a:txBody>
                      <a:tcPr/>
                    </a:tc>
                    <a:tc>
                      <a:txBody>
                        <a:bodyPr/>
                        <a:lstStyle/>
                        <a:p>
                          <a:r>
                            <a:rPr lang="en-US" dirty="0"/>
                            <a:t>Don’t Care</a:t>
                          </a:r>
                        </a:p>
                      </a:txBody>
                      <a:tcPr/>
                    </a:tc>
                    <a:tc>
                      <a:txBody>
                        <a:bodyPr/>
                        <a:lstStyle/>
                        <a:p>
                          <a:r>
                            <a:rPr lang="en-US" dirty="0"/>
                            <a:t>Don’t Know</a:t>
                          </a:r>
                        </a:p>
                      </a:txBody>
                      <a:tcPr/>
                    </a:tc>
                    <a:tc>
                      <a:txBody>
                        <a:bodyPr/>
                        <a:lstStyle/>
                        <a:p>
                          <a:r>
                            <a:rPr lang="en-US" dirty="0"/>
                            <a:t>Don’t Know &amp; Don’t Care</a:t>
                          </a:r>
                        </a:p>
                      </a:txBody>
                      <a:tcPr/>
                    </a:tc>
                    <a:tc>
                      <a:txBody>
                        <a:bodyPr/>
                        <a:lstStyle/>
                        <a:p>
                          <a:r>
                            <a:rPr lang="en-US" dirty="0"/>
                            <a:t>Other</a:t>
                          </a:r>
                        </a:p>
                      </a:txBody>
                      <a:tcPr/>
                    </a:tc>
                    <a:extLst>
                      <a:ext uri="{0D108BD9-81ED-4DB2-BD59-A6C34878D82A}">
                        <a16:rowId xmlns:a16="http://schemas.microsoft.com/office/drawing/2014/main" val="2839597029"/>
                      </a:ext>
                    </a:extLst>
                  </a:tr>
                  <a:tr h="370840">
                    <a:tc>
                      <a:txBody>
                        <a:bodyPr/>
                        <a:lstStyle/>
                        <a:p>
                          <a:r>
                            <a:rPr lang="en-US" dirty="0"/>
                            <a:t>2002</a:t>
                          </a:r>
                        </a:p>
                      </a:txBody>
                      <a:tcPr/>
                    </a:tc>
                    <a:tc>
                      <a:txBody>
                        <a:bodyPr/>
                        <a:lstStyle/>
                        <a:p>
                          <a:r>
                            <a:rPr lang="en-US" dirty="0"/>
                            <a:t>61%</a:t>
                          </a:r>
                        </a:p>
                      </a:txBody>
                      <a:tcPr/>
                    </a:tc>
                    <a:tc>
                      <a:txBody>
                        <a:bodyPr/>
                        <a:lstStyle/>
                        <a:p>
                          <a:r>
                            <a:rPr lang="en-US" dirty="0"/>
                            <a:t>9%</a:t>
                          </a:r>
                        </a:p>
                      </a:txBody>
                      <a:tcPr/>
                    </a:tc>
                    <a:tc>
                      <a:txBody>
                        <a:bodyPr/>
                        <a:lstStyle/>
                        <a:p>
                          <a:r>
                            <a:rPr lang="en-US" dirty="0"/>
                            <a:t>4%</a:t>
                          </a:r>
                        </a:p>
                      </a:txBody>
                      <a:tcPr/>
                    </a:tc>
                    <a:tc>
                      <a:txBody>
                        <a:bodyPr/>
                        <a:lstStyle/>
                        <a:p>
                          <a:r>
                            <a:rPr lang="en-US" dirty="0"/>
                            <a:t>1%</a:t>
                          </a:r>
                        </a:p>
                      </a:txBody>
                      <a:tcPr/>
                    </a:tc>
                    <a:tc>
                      <a:txBody>
                        <a:bodyPr/>
                        <a:lstStyle/>
                        <a:p>
                          <a:r>
                            <a:rPr lang="en-US" dirty="0"/>
                            <a:t>22%</a:t>
                          </a:r>
                        </a:p>
                      </a:txBody>
                      <a:tcPr/>
                    </a:tc>
                    <a:tc>
                      <a:txBody>
                        <a:bodyPr/>
                        <a:lstStyle/>
                        <a:p>
                          <a:r>
                            <a:rPr lang="en-US" dirty="0"/>
                            <a:t>0%</a:t>
                          </a:r>
                        </a:p>
                      </a:txBody>
                      <a:tcPr/>
                    </a:tc>
                    <a:tc>
                      <a:txBody>
                        <a:bodyPr/>
                        <a:lstStyle/>
                        <a:p>
                          <a:r>
                            <a:rPr lang="en-US" dirty="0"/>
                            <a:t>3%</a:t>
                          </a:r>
                        </a:p>
                      </a:txBody>
                      <a:tcPr/>
                    </a:tc>
                    <a:extLst>
                      <a:ext uri="{0D108BD9-81ED-4DB2-BD59-A6C34878D82A}">
                        <a16:rowId xmlns:a16="http://schemas.microsoft.com/office/drawing/2014/main" val="457017540"/>
                      </a:ext>
                    </a:extLst>
                  </a:tr>
                  <a:tr h="370840">
                    <a:tc>
                      <a:txBody>
                        <a:bodyPr/>
                        <a:lstStyle/>
                        <a:p>
                          <a:r>
                            <a:rPr lang="en-US" dirty="0"/>
                            <a:t>2012</a:t>
                          </a:r>
                        </a:p>
                      </a:txBody>
                      <a:tcPr/>
                    </a:tc>
                    <a:tc>
                      <a:txBody>
                        <a:bodyPr/>
                        <a:lstStyle/>
                        <a:p>
                          <a:r>
                            <a:rPr lang="en-US" dirty="0"/>
                            <a:t>83%</a:t>
                          </a:r>
                        </a:p>
                      </a:txBody>
                      <a:tcPr/>
                    </a:tc>
                    <a:tc>
                      <a:txBody>
                        <a:bodyPr/>
                        <a:lstStyle/>
                        <a:p>
                          <a:r>
                            <a:rPr lang="en-US" dirty="0"/>
                            <a:t>9%</a:t>
                          </a:r>
                        </a:p>
                      </a:txBody>
                      <a:tcPr/>
                    </a:tc>
                    <a:tc>
                      <a:txBody>
                        <a:bodyPr/>
                        <a:lstStyle/>
                        <a:p>
                          <a:r>
                            <a:rPr lang="en-US" dirty="0"/>
                            <a:t>3%</a:t>
                          </a:r>
                        </a:p>
                      </a:txBody>
                      <a:tcPr/>
                    </a:tc>
                    <a:tc>
                      <a:txBody>
                        <a:bodyPr/>
                        <a:lstStyle/>
                        <a:p>
                          <a:r>
                            <a:rPr lang="en-US" dirty="0"/>
                            <a:t>3%</a:t>
                          </a:r>
                        </a:p>
                      </a:txBody>
                      <a:tcPr/>
                    </a:tc>
                    <a:tc>
                      <a:txBody>
                        <a:bodyPr/>
                        <a:lstStyle/>
                        <a:p>
                          <a:r>
                            <a:rPr lang="en-US" dirty="0"/>
                            <a:t>0.66%</a:t>
                          </a:r>
                        </a:p>
                      </a:txBody>
                      <a:tcPr/>
                    </a:tc>
                    <a:tc>
                      <a:txBody>
                        <a:bodyPr/>
                        <a:lstStyle/>
                        <a:p>
                          <a:r>
                            <a:rPr lang="en-US" dirty="0"/>
                            <a:t>0.66%</a:t>
                          </a:r>
                        </a:p>
                      </a:txBody>
                      <a:tcPr/>
                    </a:tc>
                    <a:tc>
                      <a:txBody>
                        <a:bodyPr/>
                        <a:lstStyle/>
                        <a:p>
                          <a:r>
                            <a:rPr lang="en-US" dirty="0"/>
                            <a:t>0.66%</a:t>
                          </a:r>
                        </a:p>
                      </a:txBody>
                      <a:tcPr/>
                    </a:tc>
                    <a:extLst>
                      <a:ext uri="{0D108BD9-81ED-4DB2-BD59-A6C34878D82A}">
                        <a16:rowId xmlns:a16="http://schemas.microsoft.com/office/drawing/2014/main" val="604010827"/>
                      </a:ext>
                    </a:extLst>
                  </a:tr>
                  <a:tr h="370840">
                    <a:tc>
                      <a:txBody>
                        <a:bodyPr/>
                        <a:lstStyle/>
                        <a:p>
                          <a:r>
                            <a:rPr lang="en-US" dirty="0"/>
                            <a:t>2019</a:t>
                          </a:r>
                        </a:p>
                      </a:txBody>
                      <a:tcPr/>
                    </a:tc>
                    <a:tc>
                      <a:txBody>
                        <a:bodyPr/>
                        <a:lstStyle/>
                        <a:p>
                          <a:r>
                            <a:rPr lang="en-US" dirty="0"/>
                            <a:t>88%</a:t>
                          </a:r>
                        </a:p>
                      </a:txBody>
                      <a:tcPr/>
                    </a:tc>
                    <a:tc>
                      <a:txBody>
                        <a:bodyPr/>
                        <a:lstStyle/>
                        <a:p>
                          <a:r>
                            <a:rPr lang="en-US" dirty="0"/>
                            <a:t>12%</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2557184190"/>
                      </a:ext>
                    </a:extLst>
                  </a:tr>
                </a:tbl>
              </a:graphicData>
            </a:graphic>
          </p:graphicFrame>
        </mc:Choice>
        <mc:Fallback>
          <p:graphicFrame>
            <p:nvGraphicFramePr>
              <p:cNvPr id="3" name="Table 2">
                <a:extLst>
                  <a:ext uri="{FF2B5EF4-FFF2-40B4-BE49-F238E27FC236}">
                    <a16:creationId xmlns:a16="http://schemas.microsoft.com/office/drawing/2014/main" id="{4C8AE358-F7E7-6C93-5C64-5220C15841F2}"/>
                  </a:ext>
                </a:extLst>
              </p:cNvPr>
              <p:cNvGraphicFramePr>
                <a:graphicFrameLocks noGrp="1"/>
              </p:cNvGraphicFramePr>
              <p:nvPr>
                <p:extLst>
                  <p:ext uri="{D42A27DB-BD31-4B8C-83A1-F6EECF244321}">
                    <p14:modId xmlns:p14="http://schemas.microsoft.com/office/powerpoint/2010/main" val="3929160930"/>
                  </p:ext>
                </p:extLst>
              </p:nvPr>
            </p:nvGraphicFramePr>
            <p:xfrm>
              <a:off x="297180" y="2349455"/>
              <a:ext cx="11440392" cy="1752600"/>
            </p:xfrm>
            <a:graphic>
              <a:graphicData uri="http://schemas.openxmlformats.org/drawingml/2006/table">
                <a:tbl>
                  <a:tblPr firstRow="1" bandRow="1">
                    <a:tableStyleId>{5C22544A-7EE6-4342-B048-85BDC9FD1C3A}</a:tableStyleId>
                  </a:tblPr>
                  <a:tblGrid>
                    <a:gridCol w="1430049">
                      <a:extLst>
                        <a:ext uri="{9D8B030D-6E8A-4147-A177-3AD203B41FA5}">
                          <a16:colId xmlns:a16="http://schemas.microsoft.com/office/drawing/2014/main" val="2918348885"/>
                        </a:ext>
                      </a:extLst>
                    </a:gridCol>
                    <a:gridCol w="1430049">
                      <a:extLst>
                        <a:ext uri="{9D8B030D-6E8A-4147-A177-3AD203B41FA5}">
                          <a16:colId xmlns:a16="http://schemas.microsoft.com/office/drawing/2014/main" val="4102585134"/>
                        </a:ext>
                      </a:extLst>
                    </a:gridCol>
                    <a:gridCol w="1430049">
                      <a:extLst>
                        <a:ext uri="{9D8B030D-6E8A-4147-A177-3AD203B41FA5}">
                          <a16:colId xmlns:a16="http://schemas.microsoft.com/office/drawing/2014/main" val="1662433480"/>
                        </a:ext>
                      </a:extLst>
                    </a:gridCol>
                    <a:gridCol w="1430049">
                      <a:extLst>
                        <a:ext uri="{9D8B030D-6E8A-4147-A177-3AD203B41FA5}">
                          <a16:colId xmlns:a16="http://schemas.microsoft.com/office/drawing/2014/main" val="2919723958"/>
                        </a:ext>
                      </a:extLst>
                    </a:gridCol>
                    <a:gridCol w="1430049">
                      <a:extLst>
                        <a:ext uri="{9D8B030D-6E8A-4147-A177-3AD203B41FA5}">
                          <a16:colId xmlns:a16="http://schemas.microsoft.com/office/drawing/2014/main" val="2835635317"/>
                        </a:ext>
                      </a:extLst>
                    </a:gridCol>
                    <a:gridCol w="1430049">
                      <a:extLst>
                        <a:ext uri="{9D8B030D-6E8A-4147-A177-3AD203B41FA5}">
                          <a16:colId xmlns:a16="http://schemas.microsoft.com/office/drawing/2014/main" val="491599055"/>
                        </a:ext>
                      </a:extLst>
                    </a:gridCol>
                    <a:gridCol w="1430049">
                      <a:extLst>
                        <a:ext uri="{9D8B030D-6E8A-4147-A177-3AD203B41FA5}">
                          <a16:colId xmlns:a16="http://schemas.microsoft.com/office/drawing/2014/main" val="4264937806"/>
                        </a:ext>
                      </a:extLst>
                    </a:gridCol>
                    <a:gridCol w="1430049">
                      <a:extLst>
                        <a:ext uri="{9D8B030D-6E8A-4147-A177-3AD203B41FA5}">
                          <a16:colId xmlns:a16="http://schemas.microsoft.com/office/drawing/2014/main" val="4255534367"/>
                        </a:ext>
                      </a:extLst>
                    </a:gridCol>
                  </a:tblGrid>
                  <a:tr h="640080">
                    <a:tc>
                      <a:txBody>
                        <a:bodyPr/>
                        <a:lstStyle/>
                        <a:p>
                          <a:r>
                            <a:rPr lang="en-US" dirty="0"/>
                            <a:t>Poll Year</a:t>
                          </a:r>
                        </a:p>
                      </a:txBody>
                      <a:tcPr/>
                    </a:tc>
                    <a:tc>
                      <a:txBody>
                        <a:bodyPr/>
                        <a:lstStyle/>
                        <a:p>
                          <a:endParaRPr lang="en-US"/>
                        </a:p>
                      </a:txBody>
                      <a:tcPr>
                        <a:blipFill>
                          <a:blip r:embed="rId2"/>
                          <a:stretch>
                            <a:fillRect l="-100426" t="-4762" r="-600851" b="-188571"/>
                          </a:stretch>
                        </a:blipFill>
                      </a:tcPr>
                    </a:tc>
                    <a:tc>
                      <a:txBody>
                        <a:bodyPr/>
                        <a:lstStyle/>
                        <a:p>
                          <a:endParaRPr lang="en-US"/>
                        </a:p>
                      </a:txBody>
                      <a:tcPr>
                        <a:blipFill>
                          <a:blip r:embed="rId2"/>
                          <a:stretch>
                            <a:fillRect l="-201282" t="-4762" r="-503419" b="-188571"/>
                          </a:stretch>
                        </a:blipFill>
                      </a:tcPr>
                    </a:tc>
                    <a:tc>
                      <a:txBody>
                        <a:bodyPr/>
                        <a:lstStyle/>
                        <a:p>
                          <a:r>
                            <a:rPr lang="en-US" dirty="0"/>
                            <a:t>Unprovable</a:t>
                          </a:r>
                        </a:p>
                      </a:txBody>
                      <a:tcPr/>
                    </a:tc>
                    <a:tc>
                      <a:txBody>
                        <a:bodyPr/>
                        <a:lstStyle/>
                        <a:p>
                          <a:r>
                            <a:rPr lang="en-US" dirty="0"/>
                            <a:t>Don’t Care</a:t>
                          </a:r>
                        </a:p>
                      </a:txBody>
                      <a:tcPr/>
                    </a:tc>
                    <a:tc>
                      <a:txBody>
                        <a:bodyPr/>
                        <a:lstStyle/>
                        <a:p>
                          <a:r>
                            <a:rPr lang="en-US" dirty="0"/>
                            <a:t>Don’t Know</a:t>
                          </a:r>
                        </a:p>
                      </a:txBody>
                      <a:tcPr/>
                    </a:tc>
                    <a:tc>
                      <a:txBody>
                        <a:bodyPr/>
                        <a:lstStyle/>
                        <a:p>
                          <a:r>
                            <a:rPr lang="en-US" dirty="0"/>
                            <a:t>Don’t Know &amp; Don’t Care</a:t>
                          </a:r>
                        </a:p>
                      </a:txBody>
                      <a:tcPr/>
                    </a:tc>
                    <a:tc>
                      <a:txBody>
                        <a:bodyPr/>
                        <a:lstStyle/>
                        <a:p>
                          <a:r>
                            <a:rPr lang="en-US" dirty="0"/>
                            <a:t>Other</a:t>
                          </a:r>
                        </a:p>
                      </a:txBody>
                      <a:tcPr/>
                    </a:tc>
                    <a:extLst>
                      <a:ext uri="{0D108BD9-81ED-4DB2-BD59-A6C34878D82A}">
                        <a16:rowId xmlns:a16="http://schemas.microsoft.com/office/drawing/2014/main" val="2839597029"/>
                      </a:ext>
                    </a:extLst>
                  </a:tr>
                  <a:tr h="370840">
                    <a:tc>
                      <a:txBody>
                        <a:bodyPr/>
                        <a:lstStyle/>
                        <a:p>
                          <a:r>
                            <a:rPr lang="en-US" dirty="0"/>
                            <a:t>2002</a:t>
                          </a:r>
                        </a:p>
                      </a:txBody>
                      <a:tcPr/>
                    </a:tc>
                    <a:tc>
                      <a:txBody>
                        <a:bodyPr/>
                        <a:lstStyle/>
                        <a:p>
                          <a:r>
                            <a:rPr lang="en-US" dirty="0"/>
                            <a:t>61%</a:t>
                          </a:r>
                        </a:p>
                      </a:txBody>
                      <a:tcPr/>
                    </a:tc>
                    <a:tc>
                      <a:txBody>
                        <a:bodyPr/>
                        <a:lstStyle/>
                        <a:p>
                          <a:r>
                            <a:rPr lang="en-US" dirty="0"/>
                            <a:t>9%</a:t>
                          </a:r>
                        </a:p>
                      </a:txBody>
                      <a:tcPr/>
                    </a:tc>
                    <a:tc>
                      <a:txBody>
                        <a:bodyPr/>
                        <a:lstStyle/>
                        <a:p>
                          <a:r>
                            <a:rPr lang="en-US" dirty="0"/>
                            <a:t>4%</a:t>
                          </a:r>
                        </a:p>
                      </a:txBody>
                      <a:tcPr/>
                    </a:tc>
                    <a:tc>
                      <a:txBody>
                        <a:bodyPr/>
                        <a:lstStyle/>
                        <a:p>
                          <a:r>
                            <a:rPr lang="en-US" dirty="0"/>
                            <a:t>1%</a:t>
                          </a:r>
                        </a:p>
                      </a:txBody>
                      <a:tcPr/>
                    </a:tc>
                    <a:tc>
                      <a:txBody>
                        <a:bodyPr/>
                        <a:lstStyle/>
                        <a:p>
                          <a:r>
                            <a:rPr lang="en-US" dirty="0"/>
                            <a:t>22%</a:t>
                          </a:r>
                        </a:p>
                      </a:txBody>
                      <a:tcPr/>
                    </a:tc>
                    <a:tc>
                      <a:txBody>
                        <a:bodyPr/>
                        <a:lstStyle/>
                        <a:p>
                          <a:r>
                            <a:rPr lang="en-US" dirty="0"/>
                            <a:t>0%</a:t>
                          </a:r>
                        </a:p>
                      </a:txBody>
                      <a:tcPr/>
                    </a:tc>
                    <a:tc>
                      <a:txBody>
                        <a:bodyPr/>
                        <a:lstStyle/>
                        <a:p>
                          <a:r>
                            <a:rPr lang="en-US" dirty="0"/>
                            <a:t>3%</a:t>
                          </a:r>
                        </a:p>
                      </a:txBody>
                      <a:tcPr/>
                    </a:tc>
                    <a:extLst>
                      <a:ext uri="{0D108BD9-81ED-4DB2-BD59-A6C34878D82A}">
                        <a16:rowId xmlns:a16="http://schemas.microsoft.com/office/drawing/2014/main" val="457017540"/>
                      </a:ext>
                    </a:extLst>
                  </a:tr>
                  <a:tr h="370840">
                    <a:tc>
                      <a:txBody>
                        <a:bodyPr/>
                        <a:lstStyle/>
                        <a:p>
                          <a:r>
                            <a:rPr lang="en-US" dirty="0"/>
                            <a:t>2012</a:t>
                          </a:r>
                        </a:p>
                      </a:txBody>
                      <a:tcPr/>
                    </a:tc>
                    <a:tc>
                      <a:txBody>
                        <a:bodyPr/>
                        <a:lstStyle/>
                        <a:p>
                          <a:r>
                            <a:rPr lang="en-US" dirty="0"/>
                            <a:t>83%</a:t>
                          </a:r>
                        </a:p>
                      </a:txBody>
                      <a:tcPr/>
                    </a:tc>
                    <a:tc>
                      <a:txBody>
                        <a:bodyPr/>
                        <a:lstStyle/>
                        <a:p>
                          <a:r>
                            <a:rPr lang="en-US" dirty="0"/>
                            <a:t>9%</a:t>
                          </a:r>
                        </a:p>
                      </a:txBody>
                      <a:tcPr/>
                    </a:tc>
                    <a:tc>
                      <a:txBody>
                        <a:bodyPr/>
                        <a:lstStyle/>
                        <a:p>
                          <a:r>
                            <a:rPr lang="en-US" dirty="0"/>
                            <a:t>3%</a:t>
                          </a:r>
                        </a:p>
                      </a:txBody>
                      <a:tcPr/>
                    </a:tc>
                    <a:tc>
                      <a:txBody>
                        <a:bodyPr/>
                        <a:lstStyle/>
                        <a:p>
                          <a:r>
                            <a:rPr lang="en-US" dirty="0"/>
                            <a:t>3%</a:t>
                          </a:r>
                        </a:p>
                      </a:txBody>
                      <a:tcPr/>
                    </a:tc>
                    <a:tc>
                      <a:txBody>
                        <a:bodyPr/>
                        <a:lstStyle/>
                        <a:p>
                          <a:r>
                            <a:rPr lang="en-US" dirty="0"/>
                            <a:t>0.66%</a:t>
                          </a:r>
                        </a:p>
                      </a:txBody>
                      <a:tcPr/>
                    </a:tc>
                    <a:tc>
                      <a:txBody>
                        <a:bodyPr/>
                        <a:lstStyle/>
                        <a:p>
                          <a:r>
                            <a:rPr lang="en-US" dirty="0"/>
                            <a:t>0.66%</a:t>
                          </a:r>
                        </a:p>
                      </a:txBody>
                      <a:tcPr/>
                    </a:tc>
                    <a:tc>
                      <a:txBody>
                        <a:bodyPr/>
                        <a:lstStyle/>
                        <a:p>
                          <a:r>
                            <a:rPr lang="en-US" dirty="0"/>
                            <a:t>0.66%</a:t>
                          </a:r>
                        </a:p>
                      </a:txBody>
                      <a:tcPr/>
                    </a:tc>
                    <a:extLst>
                      <a:ext uri="{0D108BD9-81ED-4DB2-BD59-A6C34878D82A}">
                        <a16:rowId xmlns:a16="http://schemas.microsoft.com/office/drawing/2014/main" val="604010827"/>
                      </a:ext>
                    </a:extLst>
                  </a:tr>
                  <a:tr h="370840">
                    <a:tc>
                      <a:txBody>
                        <a:bodyPr/>
                        <a:lstStyle/>
                        <a:p>
                          <a:r>
                            <a:rPr lang="en-US" dirty="0"/>
                            <a:t>2019</a:t>
                          </a:r>
                        </a:p>
                      </a:txBody>
                      <a:tcPr/>
                    </a:tc>
                    <a:tc>
                      <a:txBody>
                        <a:bodyPr/>
                        <a:lstStyle/>
                        <a:p>
                          <a:r>
                            <a:rPr lang="en-US" dirty="0"/>
                            <a:t>88%</a:t>
                          </a:r>
                        </a:p>
                      </a:txBody>
                      <a:tcPr/>
                    </a:tc>
                    <a:tc>
                      <a:txBody>
                        <a:bodyPr/>
                        <a:lstStyle/>
                        <a:p>
                          <a:r>
                            <a:rPr lang="en-US" dirty="0"/>
                            <a:t>12%</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2557184190"/>
                      </a:ext>
                    </a:extLst>
                  </a:tr>
                </a:tbl>
              </a:graphicData>
            </a:graphic>
          </p:graphicFrame>
        </mc:Fallback>
      </mc:AlternateContent>
      <p:sp>
        <p:nvSpPr>
          <p:cNvPr id="7" name="TextBox 6">
            <a:extLst>
              <a:ext uri="{FF2B5EF4-FFF2-40B4-BE49-F238E27FC236}">
                <a16:creationId xmlns:a16="http://schemas.microsoft.com/office/drawing/2014/main" id="{D4C86B13-74DA-663E-312E-A3FD172FC316}"/>
              </a:ext>
            </a:extLst>
          </p:cNvPr>
          <p:cNvSpPr txBox="1"/>
          <p:nvPr/>
        </p:nvSpPr>
        <p:spPr>
          <a:xfrm>
            <a:off x="205740" y="6169709"/>
            <a:ext cx="6885015" cy="369332"/>
          </a:xfrm>
          <a:prstGeom prst="rect">
            <a:avLst/>
          </a:prstGeom>
          <a:noFill/>
        </p:spPr>
        <p:txBody>
          <a:bodyPr wrap="square">
            <a:spAutoFit/>
          </a:bodyPr>
          <a:lstStyle/>
          <a:p>
            <a:r>
              <a:rPr lang="en-US" dirty="0">
                <a:hlinkClick r:id="rId3"/>
              </a:rPr>
              <a:t>https://www.cs.umd.edu/users/gasarch/BLOGPAPERS/pollpaper3.pdf</a:t>
            </a:r>
            <a:endParaRPr lang="en-US" dirty="0"/>
          </a:p>
        </p:txBody>
      </p:sp>
    </p:spTree>
    <p:extLst>
      <p:ext uri="{BB962C8B-B14F-4D97-AF65-F5344CB8AC3E}">
        <p14:creationId xmlns:p14="http://schemas.microsoft.com/office/powerpoint/2010/main" val="1048858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55256</TotalTime>
  <Words>1719</Words>
  <Application>Microsoft Office PowerPoint</Application>
  <PresentationFormat>Widescreen</PresentationFormat>
  <Paragraphs>291</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Ravie</vt:lpstr>
      <vt:lpstr>Arial</vt:lpstr>
      <vt:lpstr>Cambria Math</vt:lpstr>
      <vt:lpstr>Calibri</vt:lpstr>
      <vt:lpstr>Calibri Light</vt:lpstr>
      <vt:lpstr>Office Theme</vt:lpstr>
      <vt:lpstr>CSE 332 Winter 2026 Lecture 26: P and NP 2</vt:lpstr>
      <vt:lpstr>Studying Complexity and Tractability</vt:lpstr>
      <vt:lpstr>Some problems in EXP seem “easier”</vt:lpstr>
      <vt:lpstr>Class NP</vt:lpstr>
      <vt:lpstr>EXP⊃NP⊇P Example Members </vt:lpstr>
      <vt:lpstr>Independent Set / Party Problem</vt:lpstr>
      <vt:lpstr>Independent Set</vt:lpstr>
      <vt:lpstr>Vertex Cover / Generalized Baseball</vt:lpstr>
      <vt:lpstr>Vertex Cover</vt:lpstr>
      <vt:lpstr>Transforming an IS into a VC</vt:lpstr>
      <vt:lpstr>Transforming a VC into an IS</vt:lpstr>
      <vt:lpstr>Solving Vertex Cover and Independent Set</vt:lpstr>
      <vt:lpstr>Reduction</vt:lpstr>
      <vt:lpstr>Independent Set Reduces To Vertex Cover</vt:lpstr>
      <vt:lpstr>Reduction Analogy</vt:lpstr>
      <vt:lpstr>MacGyver’s Reduction</vt:lpstr>
      <vt:lpstr>NP-Complete – High Level</vt:lpstr>
      <vt:lpstr>EXP⊃NP-Complete⊇NP⊇P </vt:lpstr>
      <vt:lpstr>NP-Hard</vt:lpstr>
      <vt:lpstr>NP-Hard Idea</vt:lpstr>
      <vt:lpstr>Showing NP-Hardness</vt:lpstr>
      <vt:lpstr>NP-Complete - Definition</vt:lpstr>
      <vt:lpstr>Using NP-Completeness</vt:lpstr>
      <vt:lpstr>Overview</vt:lpstr>
      <vt:lpstr>Why should YOU care?</vt:lpstr>
      <vt:lpstr>Public Key Crypto Requires P≠NP</vt:lpstr>
      <vt:lpstr>Does P=NP?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389</cp:revision>
  <dcterms:created xsi:type="dcterms:W3CDTF">2023-10-13T16:06:42Z</dcterms:created>
  <dcterms:modified xsi:type="dcterms:W3CDTF">2026-06-03T18:57:20Z</dcterms:modified>
</cp:coreProperties>
</file>