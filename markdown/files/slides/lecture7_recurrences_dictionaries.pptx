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34"/>
  </p:notesMasterIdLst>
  <p:sldIdLst>
    <p:sldId id="257" r:id="rId4"/>
    <p:sldId id="453" r:id="rId5"/>
    <p:sldId id="457" r:id="rId6"/>
    <p:sldId id="385" r:id="rId7"/>
    <p:sldId id="465" r:id="rId8"/>
    <p:sldId id="466" r:id="rId9"/>
    <p:sldId id="459" r:id="rId10"/>
    <p:sldId id="460" r:id="rId11"/>
    <p:sldId id="461" r:id="rId12"/>
    <p:sldId id="462" r:id="rId13"/>
    <p:sldId id="463" r:id="rId14"/>
    <p:sldId id="464" r:id="rId15"/>
    <p:sldId id="358" r:id="rId16"/>
    <p:sldId id="357" r:id="rId17"/>
    <p:sldId id="258" r:id="rId18"/>
    <p:sldId id="263" r:id="rId19"/>
    <p:sldId id="262" r:id="rId20"/>
    <p:sldId id="267" r:id="rId21"/>
    <p:sldId id="268" r:id="rId22"/>
    <p:sldId id="269" r:id="rId23"/>
    <p:sldId id="454" r:id="rId24"/>
    <p:sldId id="271" r:id="rId25"/>
    <p:sldId id="270" r:id="rId26"/>
    <p:sldId id="272" r:id="rId27"/>
    <p:sldId id="455" r:id="rId28"/>
    <p:sldId id="274" r:id="rId29"/>
    <p:sldId id="275" r:id="rId30"/>
    <p:sldId id="276" r:id="rId31"/>
    <p:sldId id="277" r:id="rId32"/>
    <p:sldId id="46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712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7T00:08:59.5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20714 3921 0,'0'0'0,"0"0"16,0 17-16,0 0 0,0 17 15,0 0-15,-8 8 16,-1 1-16,1-1 16,-1 9-1,-8 9 1,0 8-16,0 0 15,-9 0 1,9 17-16,0 0 16,0 0-1,0-17-15,9-8 16,8-18 0,0-16-1,0-18-15,0 1 0,0-1 16,-9-16-1,-17-18 1,1-42 0,-18-51-16,9-26 15,17-16 1,8 8-16,9 8 16,9 26-1,-1 43-15,1 8 16,0 25-16,-9 9 15,0 8 1,0 9-16,0 9 16,0-1-1,0 9-15,0 0 16,-9 26-16,9 68 16,-9 25-1,1 8-15,-1 9 31,1 9-31,-1-26 16,1-17 0,-1-34-16,9-9 15,0-16 1,0-9-16,0-8 16,0-18-1,0 1-15,0-9 16,0 0-1,0-17-15,17-26 0,0-51 16,9-33 0,-9-1-1,9 1 1,-9-1-16,0 1 16,0 25-1,-9 25-15,1 26 16,-1 17-1,1 17-15,-9 0 16,0 8 0,0 9-16,0 0 15,0 43 1,9 59-16,-1 34 16,-8 26-1,-8 25-15,-1-26 16,-8-25-1,8-25-15,1-17 16,-1-43 0,9-17-16,0-9 15,0-16 1,0-1-16,-8-25 16,8-34-1,0-51-15,0-68 16,0-17-1,8 25-15,1-33 16,-1 25 0,1 51-1,8 16-15,-8 27 16,-1 25-16,-8 17 16,0 17-1,0 0 1,0 17-16,0 0 15,0 8-15,9 52 16,-9 84 0,-9 35-16,1-9 15,-10 9 1,10-26 0,-9-43-16,0-33 15,0-26 1,8-17-16,9-9 15,0-16 1,0-1-16,0 1 16,0-9-1,0-17-15,-8-51 16,-1-43 0,1-33-16,-1 8 0,1-17 15,-1 17 1,9 42-1,0 26 1,0 25-16,0 9 16,0 17-1,0 0-15,0 9 16,0 8 0,-9 8-16,1 60 15,-9 69 1,0 33-16,17 34 15,8-17 1,-8-43-16,9-25 16,-1-8-16,1-43 15,-9-34 1,0-8 0,0-18-16,0 1 15,0-18-15,0-25 16,-9-42-1,1-44 1,-1-33-16,1-8 16,8-1-16,0-8 15,0 9 1,0 33 0,17 26-16,0 17 15,0 8 1,-8 26-16,-1 17 15,1 17-15,-9 17 16,0 0 0,17 34-16,0 34 15,8 85 1,9 43 0,-16-17-16,7-1 15,-8-33 1,-8-43-16,-9-26 15,0-42-15,0-8 16,0-1 0,0-16-16,0-1 15,0-8 1,-9-8 0,-8-35-16,0-67 15,26-77-15,25-136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AFC52-F46C-4845-B64D-0DCC1AECCCC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D97389-0441-4D4C-B013-3AC3B3367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64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D97389-0441-4D4C-B013-3AC3B33670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67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EEDFD-05A3-AB2C-28EA-1F10E5D212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A4A9E-A38E-8FAD-4725-63270224CC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024BA-3F6E-B600-8DEF-F5B8815A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B921-02AB-A8AB-A0C8-655556AFE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ED915-48D5-56D7-32CC-399EFE7F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80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F38B-CB5A-B13E-F5D7-2DA1A6B9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2621-C1D2-6EA5-9C00-AD4D21D6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B215E-AE4B-9861-F145-FDA28262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EC039-B059-ECCC-530A-3AB6CB0A1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EA18-99AF-5466-77A2-2ED025B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8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A553B-F670-1604-5051-C69575AB0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F92DB-5E7F-F49E-F5A2-4CD71172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1753E-851C-6254-0D25-2F887273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8AB3-1264-7FDE-D829-8552CB0E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85CDF-C478-A7EF-68E9-A9B03181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93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64F7-D59E-B01A-8BD5-00384E22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F09C-F9B9-2C50-7C6F-29C125516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A614B-6667-7695-5A04-2F636199B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CB1E8-E8EC-EC48-AC56-00B0294D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72EA3-CE48-C170-7657-2D913ED3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736BE-3261-CE4F-7435-03969F8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54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765F-128C-5F4B-4E20-D385D2B4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B8912-9AF9-E09C-E9BF-C1A235440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7D6C8-55A2-957D-7F4E-CC7BCF01E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C7549B-8BC6-6148-ACAA-049554DFE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C1610D-E8FB-B2C8-5980-6848B27C49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F98579-8216-620D-1649-3AF68889B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7186D-AE3C-BCC2-5CC7-DFDB1E9C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3C042-93EE-DFEB-EB11-59AE48DB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84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93B1-B34F-DEF0-36F0-9044F5D7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52A602-329F-B48E-59DF-A750E7867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3EDF7-DE2E-A73E-8F31-9D5E4D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12E61-B33E-641F-586B-71558099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96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A244B7-1B24-A316-4AE0-092CD30B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AF25EA-9B44-0E03-1033-8525546E0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25D09-469B-22B7-3367-45C141A2F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67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21B2F-B9E6-9510-4D05-E3D54924E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FE975-5B17-DA24-6CEB-DC943E8B8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5A351-A381-B7DE-629A-344A18790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DD2EF-7CF7-DD3F-F641-183E8B2B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85405-E07D-ACE1-4750-3CCE6C35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E168D-7644-1D4C-5394-64379655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4801B-B60C-BB23-B536-10DDE66C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6861CE-32FE-1378-773F-41832B9FF6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2144C-D26D-D14D-26EE-59C3FC1E59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EF677-D138-7015-213C-2BB3F4A73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190E5-FB64-35C9-62D3-131BE331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729FB-47F6-106B-7BD5-F02031036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15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77187-FA0C-1996-5F4B-01C6D21D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32157-1E29-206A-A4D1-E079FFF5C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ED6E6-27DC-9868-8ED6-B497F666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E3647-A949-3CDF-67EE-AB590ED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6DF69-C102-21BC-88B3-80F4E212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13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9C123A-D9AF-475A-C065-C2FA15964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27EB4-E58B-3FD3-E171-2FF9248A2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A4642-AEF9-1A45-F614-49CABD0DF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41C59-45AB-EDDF-36FA-E3E263F9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2C6A-7AA0-08EE-B17B-CA0D2FF9E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872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56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43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650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04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94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071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11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6578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53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646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545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055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497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644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781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8232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646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113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90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690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6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7B289-BD5E-5EED-C530-FE49EC1FB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5310A-CDE1-6296-A6C7-FAD4EBB46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30977-A77A-05DC-ACE8-6F1D91538C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C77BE-A1DA-9A34-23FB-D1B3BF2A8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4270-8225-31C5-8BCA-531C6C5C8B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159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3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413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uw.edu/33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210.png"/><Relationship Id="rId26" Type="http://schemas.openxmlformats.org/officeDocument/2006/relationships/image" Target="../media/image2.png"/><Relationship Id="rId3" Type="http://schemas.openxmlformats.org/officeDocument/2006/relationships/image" Target="../media/image261.png"/><Relationship Id="rId21" Type="http://schemas.openxmlformats.org/officeDocument/2006/relationships/image" Target="../media/image2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200.png"/><Relationship Id="rId25" Type="http://schemas.openxmlformats.org/officeDocument/2006/relationships/customXml" Target="../ink/ink1.xml"/><Relationship Id="rId2" Type="http://schemas.openxmlformats.org/officeDocument/2006/relationships/image" Target="../media/image1000.png"/><Relationship Id="rId16" Type="http://schemas.openxmlformats.org/officeDocument/2006/relationships/image" Target="../media/image190.png"/><Relationship Id="rId20" Type="http://schemas.openxmlformats.org/officeDocument/2006/relationships/image" Target="../media/image23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0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170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22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27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7.png"/><Relationship Id="rId3" Type="http://schemas.openxmlformats.org/officeDocument/2006/relationships/image" Target="../media/image261.png"/><Relationship Id="rId21" Type="http://schemas.openxmlformats.org/officeDocument/2006/relationships/image" Target="../media/image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44.png"/><Relationship Id="rId2" Type="http://schemas.openxmlformats.org/officeDocument/2006/relationships/image" Target="../media/image40.png"/><Relationship Id="rId16" Type="http://schemas.openxmlformats.org/officeDocument/2006/relationships/image" Target="../media/image43.png"/><Relationship Id="rId20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2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41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48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590.png"/><Relationship Id="rId3" Type="http://schemas.openxmlformats.org/officeDocument/2006/relationships/image" Target="../media/image54.png"/><Relationship Id="rId21" Type="http://schemas.openxmlformats.org/officeDocument/2006/relationships/image" Target="../media/image62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58.png"/><Relationship Id="rId2" Type="http://schemas.openxmlformats.org/officeDocument/2006/relationships/image" Target="../media/image53.png"/><Relationship Id="rId16" Type="http://schemas.openxmlformats.org/officeDocument/2006/relationships/image" Target="../media/image57.png"/><Relationship Id="rId20" Type="http://schemas.openxmlformats.org/officeDocument/2006/relationships/image" Target="../media/image6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6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55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60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350.png"/><Relationship Id="rId18" Type="http://schemas.openxmlformats.org/officeDocument/2006/relationships/image" Target="../media/image78.png"/><Relationship Id="rId3" Type="http://schemas.openxmlformats.org/officeDocument/2006/relationships/image" Target="../media/image68.png"/><Relationship Id="rId21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77.png"/><Relationship Id="rId25" Type="http://schemas.openxmlformats.org/officeDocument/2006/relationships/image" Target="../media/image46.png"/><Relationship Id="rId2" Type="http://schemas.openxmlformats.org/officeDocument/2006/relationships/image" Target="../media/image67.png"/><Relationship Id="rId16" Type="http://schemas.openxmlformats.org/officeDocument/2006/relationships/image" Target="../media/image38.png"/><Relationship Id="rId20" Type="http://schemas.openxmlformats.org/officeDocument/2006/relationships/image" Target="../media/image8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45.png"/><Relationship Id="rId5" Type="http://schemas.openxmlformats.org/officeDocument/2006/relationships/image" Target="../media/image69.png"/><Relationship Id="rId15" Type="http://schemas.openxmlformats.org/officeDocument/2006/relationships/image" Target="../media/image370.png"/><Relationship Id="rId23" Type="http://schemas.openxmlformats.org/officeDocument/2006/relationships/image" Target="../media/image83.png"/><Relationship Id="rId10" Type="http://schemas.openxmlformats.org/officeDocument/2006/relationships/image" Target="../media/image74.png"/><Relationship Id="rId19" Type="http://schemas.openxmlformats.org/officeDocument/2006/relationships/image" Target="../media/image79.png"/><Relationship Id="rId4" Type="http://schemas.openxmlformats.org/officeDocument/2006/relationships/image" Target="../media/image271.png"/><Relationship Id="rId9" Type="http://schemas.openxmlformats.org/officeDocument/2006/relationships/image" Target="../media/image73.png"/><Relationship Id="rId14" Type="http://schemas.openxmlformats.org/officeDocument/2006/relationships/image" Target="../media/image360.png"/><Relationship Id="rId22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3" Type="http://schemas.openxmlformats.org/officeDocument/2006/relationships/image" Target="../media/image910.png"/><Relationship Id="rId7" Type="http://schemas.openxmlformats.org/officeDocument/2006/relationships/image" Target="../media/image1110.png"/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710.png"/><Relationship Id="rId11" Type="http://schemas.openxmlformats.org/officeDocument/2006/relationships/image" Target="../media/image163.png"/><Relationship Id="rId5" Type="http://schemas.openxmlformats.org/officeDocument/2006/relationships/image" Target="../media/image1700.png"/><Relationship Id="rId10" Type="http://schemas.openxmlformats.org/officeDocument/2006/relationships/image" Target="../media/image1410.png"/><Relationship Id="rId4" Type="http://schemas.openxmlformats.org/officeDocument/2006/relationships/image" Target="../media/image1010.png"/><Relationship Id="rId9" Type="http://schemas.openxmlformats.org/officeDocument/2006/relationships/image" Target="../media/image13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811.png"/><Relationship Id="rId7" Type="http://schemas.openxmlformats.org/officeDocument/2006/relationships/image" Target="../media/image12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110.png"/><Relationship Id="rId11" Type="http://schemas.openxmlformats.org/officeDocument/2006/relationships/image" Target="../media/image163.png"/><Relationship Id="rId5" Type="http://schemas.openxmlformats.org/officeDocument/2006/relationships/image" Target="../media/image1010.png"/><Relationship Id="rId10" Type="http://schemas.openxmlformats.org/officeDocument/2006/relationships/image" Target="../media/image155.png"/><Relationship Id="rId4" Type="http://schemas.openxmlformats.org/officeDocument/2006/relationships/image" Target="../media/image910.png"/><Relationship Id="rId9" Type="http://schemas.openxmlformats.org/officeDocument/2006/relationships/image" Target="../media/image14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CSE 332 Winter 2026</a:t>
            </a:r>
            <a:b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Lecture 7: Recurrences, Dictionaries, BSTs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3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13A8-F389-D526-27E0-2C577B791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Recursive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Overall structure of recursion: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non-recursive “work”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Do one or more recursive calls on some portion of your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more non-recursive “work”</a:t>
                </a:r>
              </a:p>
              <a:p>
                <a:pPr lvl="1"/>
                <a:r>
                  <a:rPr lang="en-US" dirty="0"/>
                  <a:t>Repeat until you reach a base case</a:t>
                </a:r>
              </a:p>
              <a:p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time it takes to run the algorithm on an input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The sum of how long it takes to run the same algorithm on each smaller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Plus the total amount of non-recursive work done in that stack frame</a:t>
                </a:r>
              </a:p>
              <a:p>
                <a:r>
                  <a:rPr lang="en-US" dirty="0"/>
                  <a:t>Usually: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Called “divide and conquer”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Called “chip and conquer”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  <a:blipFill>
                <a:blip r:embed="rId2"/>
                <a:stretch>
                  <a:fillRect l="-928" t="-2387" b="-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9594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B12C-1484-4384-0A8A-F40C8F089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list.size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low,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high){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high-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list[low];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middle = (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high+low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)/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low, middle) +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middle, high);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56711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DB51FF6-5A72-E840-01B3-5698028859AE}"/>
                  </a:ext>
                </a:extLst>
              </p14:cNvPr>
              <p14:cNvContentPartPr/>
              <p14:nvPr/>
            </p14:nvContentPartPr>
            <p14:xfrm>
              <a:off x="7318800" y="1239840"/>
              <a:ext cx="138600" cy="557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DB51FF6-5A72-E840-01B3-5698028859AE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309440" y="1230480"/>
                <a:ext cx="157320" cy="57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3FB1-2024-3C2F-82C7-A570445A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Chip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from the parent’s input size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0?”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  <a:blipFill>
                <a:blip r:embed="rId2"/>
                <a:stretch>
                  <a:fillRect l="-928" t="-3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3540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150C5-7F4C-B114-9C6D-551C73509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44591-7216-6863-6ED7-569C0FEEC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Divide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Divide the parent’s input size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divide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1?”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  <a:blipFill>
                <a:blip r:embed="rId2"/>
                <a:stretch>
                  <a:fillRect l="-928" t="-1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027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52AD-3F4C-DE42-5E30-D2A783A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some more!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each, assume the base case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7975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2539101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??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??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722489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962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b="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2970216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71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39" name="Rectangle 38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34" name="Rectangle 33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7316513" y="1473029"/>
            <a:ext cx="2286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24" name="Rectangle 23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42" name="Rectangle 41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Rectangle 45"/>
          <p:cNvSpPr/>
          <p:nvPr/>
        </p:nvSpPr>
        <p:spPr>
          <a:xfrm>
            <a:off x="9373913" y="4978229"/>
            <a:ext cx="2286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&gt;1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blipFill rotWithShape="1">
                <a:blip r:embed="rId5"/>
                <a:stretch>
                  <a:fillRect l="-1056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6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66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6" grpId="0" animBg="1"/>
      <p:bldP spid="20" grpId="0"/>
      <p:bldP spid="55" grpId="0"/>
      <p:bldP spid="58" grpId="0"/>
      <p:bldP spid="59" grpId="0"/>
      <p:bldP spid="6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46" name="Rectangle 45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2057400" y="3279706"/>
            <a:ext cx="1143000" cy="1828800"/>
            <a:chOff x="762000" y="3301829"/>
            <a:chExt cx="1143000" cy="1828800"/>
          </a:xfrm>
        </p:grpSpPr>
        <p:sp>
          <p:nvSpPr>
            <p:cNvPr id="40" name="Rectangle 39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2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/>
          <p:cNvGrpSpPr/>
          <p:nvPr/>
        </p:nvGrpSpPr>
        <p:grpSpPr>
          <a:xfrm>
            <a:off x="2057400" y="3276600"/>
            <a:ext cx="1143000" cy="1828800"/>
            <a:chOff x="762000" y="3301829"/>
            <a:chExt cx="1143000" cy="1828800"/>
          </a:xfrm>
        </p:grpSpPr>
        <p:sp>
          <p:nvSpPr>
            <p:cNvPr id="34" name="Rectangle 33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52" name="Rectangle 51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8" name="Rectangle 57"/>
          <p:cNvSpPr/>
          <p:nvPr/>
        </p:nvSpPr>
        <p:spPr>
          <a:xfrm>
            <a:off x="7391400" y="5011757"/>
            <a:ext cx="228600" cy="118872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372600" y="1447800"/>
            <a:ext cx="228600" cy="36576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&lt;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blipFill rotWithShape="1">
                <a:blip r:embed="rId10"/>
                <a:stretch>
                  <a:fillRect l="-10526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/>
          <p:cNvSpPr/>
          <p:nvPr/>
        </p:nvSpPr>
        <p:spPr>
          <a:xfrm rot="16200000">
            <a:off x="5329359" y="2124934"/>
            <a:ext cx="437983" cy="822771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586700" y="6488668"/>
            <a:ext cx="1966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for the series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7851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20" grpId="0"/>
      <p:bldP spid="30" grpId="0"/>
      <p:bldP spid="31" grpId="0"/>
      <p:bldP spid="58" grpId="0" animBg="1"/>
      <p:bldP spid="59" grpId="0" animBg="1"/>
      <p:bldP spid="6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attempts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1485900" y="1988820"/>
              <a:ext cx="9220199" cy="3931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  <a:p>
                          <a:r>
                            <a:rPr lang="en-US" sz="2100" dirty="0"/>
                            <a:t>(worst)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(expected)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845640191"/>
                  </p:ext>
                </p:extLst>
              </p:nvPr>
            </p:nvGraphicFramePr>
            <p:xfrm>
              <a:off x="1485900" y="1988820"/>
              <a:ext cx="9220199" cy="3931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910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910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910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7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89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89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895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808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05882" r="-223975" b="-3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05882" r="-139865" b="-3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05882" r="-976" b="-3808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  <a:p>
                          <a:r>
                            <a:rPr lang="en-US" sz="2100" dirty="0"/>
                            <a:t>(worst)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43333" r="-223975" b="-1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43333" r="-139865" b="-1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43333" r="-976" b="-11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(expected)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43333" r="-223975" b="-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43333" r="-139865" b="-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43333" r="-976" b="-1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4AF19-ADB0-CEDA-E499-060E3A41C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Tree “Vocab”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F1423-9B9F-8928-7B3D-7CF5E1C30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98" y="1804594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Traversal:</a:t>
            </a:r>
          </a:p>
          <a:p>
            <a:pPr lvl="1"/>
            <a:r>
              <a:rPr lang="en-US" dirty="0"/>
              <a:t>An algorithm for “visiting/processing” every node in a tree</a:t>
            </a:r>
          </a:p>
          <a:p>
            <a:r>
              <a:rPr lang="en-US" dirty="0"/>
              <a:t>Pre-Order Traversal:</a:t>
            </a:r>
          </a:p>
          <a:p>
            <a:pPr lvl="1"/>
            <a:r>
              <a:rPr lang="en-US" dirty="0"/>
              <a:t>Root, Left Subtree, Right Subtree</a:t>
            </a:r>
          </a:p>
          <a:p>
            <a:pPr lvl="1"/>
            <a:endParaRPr lang="en-US" dirty="0"/>
          </a:p>
          <a:p>
            <a:r>
              <a:rPr lang="en-US" dirty="0"/>
              <a:t>In-Order Traversal:</a:t>
            </a:r>
          </a:p>
          <a:p>
            <a:pPr lvl="1"/>
            <a:r>
              <a:rPr lang="en-US" dirty="0"/>
              <a:t>Left Subtree, Root, Right Subtree</a:t>
            </a:r>
          </a:p>
          <a:p>
            <a:pPr lvl="1"/>
            <a:endParaRPr lang="en-US" dirty="0"/>
          </a:p>
          <a:p>
            <a:r>
              <a:rPr lang="en-US" dirty="0"/>
              <a:t>Post-Order Traversal</a:t>
            </a:r>
          </a:p>
          <a:p>
            <a:pPr lvl="1"/>
            <a:r>
              <a:rPr lang="en-US" dirty="0"/>
              <a:t>Left Subtree, Right Subtree, Root</a:t>
            </a:r>
          </a:p>
          <a:p>
            <a:pPr lvl="1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871AA27-B709-68DB-ED61-5CFC34EE7535}"/>
              </a:ext>
            </a:extLst>
          </p:cNvPr>
          <p:cNvSpPr/>
          <p:nvPr/>
        </p:nvSpPr>
        <p:spPr>
          <a:xfrm>
            <a:off x="9921241" y="681037"/>
            <a:ext cx="688077" cy="6880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90F0F4-CCA6-1F0F-2E8C-1EA305114FE8}"/>
              </a:ext>
            </a:extLst>
          </p:cNvPr>
          <p:cNvSpPr/>
          <p:nvPr/>
        </p:nvSpPr>
        <p:spPr>
          <a:xfrm>
            <a:off x="8930641" y="138225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07A1F2-30F9-729B-1528-91EAFB4D1467}"/>
              </a:ext>
            </a:extLst>
          </p:cNvPr>
          <p:cNvSpPr/>
          <p:nvPr/>
        </p:nvSpPr>
        <p:spPr>
          <a:xfrm>
            <a:off x="10941446" y="1424116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53BEA08-669E-B443-72F8-BA5F0CEEB896}"/>
              </a:ext>
            </a:extLst>
          </p:cNvPr>
          <p:cNvSpPr/>
          <p:nvPr/>
        </p:nvSpPr>
        <p:spPr>
          <a:xfrm>
            <a:off x="8321041" y="235149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1BE23D9-06E9-66F6-B04D-AE64602081C5}"/>
              </a:ext>
            </a:extLst>
          </p:cNvPr>
          <p:cNvSpPr/>
          <p:nvPr/>
        </p:nvSpPr>
        <p:spPr>
          <a:xfrm>
            <a:off x="9464041" y="235149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00C509-5697-D96D-ED44-6AF53EE8DA7A}"/>
              </a:ext>
            </a:extLst>
          </p:cNvPr>
          <p:cNvCxnSpPr>
            <a:stCxn id="6" idx="1"/>
            <a:endCxn id="4" idx="5"/>
          </p:cNvCxnSpPr>
          <p:nvPr/>
        </p:nvCxnSpPr>
        <p:spPr>
          <a:xfrm flipH="1" flipV="1">
            <a:off x="10508550" y="1268346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22C071-DF0C-D512-68A9-B941D1228586}"/>
              </a:ext>
            </a:extLst>
          </p:cNvPr>
          <p:cNvCxnSpPr>
            <a:stCxn id="5" idx="7"/>
            <a:endCxn id="4" idx="3"/>
          </p:cNvCxnSpPr>
          <p:nvPr/>
        </p:nvCxnSpPr>
        <p:spPr>
          <a:xfrm flipV="1">
            <a:off x="9517951" y="1268346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9E9506-B816-4FDB-6488-95FEF0DA2885}"/>
              </a:ext>
            </a:extLst>
          </p:cNvPr>
          <p:cNvCxnSpPr>
            <a:stCxn id="8" idx="0"/>
            <a:endCxn id="5" idx="5"/>
          </p:cNvCxnSpPr>
          <p:nvPr/>
        </p:nvCxnSpPr>
        <p:spPr>
          <a:xfrm flipH="1" flipV="1">
            <a:off x="9517951" y="1969561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8CC884B-01B4-13C8-F936-0590B4EE303A}"/>
              </a:ext>
            </a:extLst>
          </p:cNvPr>
          <p:cNvCxnSpPr>
            <a:stCxn id="7" idx="0"/>
            <a:endCxn id="5" idx="3"/>
          </p:cNvCxnSpPr>
          <p:nvPr/>
        </p:nvCxnSpPr>
        <p:spPr>
          <a:xfrm flipV="1">
            <a:off x="8665079" y="1969561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7747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A41BB-3D3E-2892-1138-23936D22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Traversal!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185F3B-810A-B300-B3D1-DB07A7B7626D}"/>
              </a:ext>
            </a:extLst>
          </p:cNvPr>
          <p:cNvSpPr txBox="1"/>
          <p:nvPr/>
        </p:nvSpPr>
        <p:spPr>
          <a:xfrm>
            <a:off x="0" y="1828800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D21AD2-233A-B15D-281E-50F6C7B8EB57}"/>
              </a:ext>
            </a:extLst>
          </p:cNvPr>
          <p:cNvSpPr txBox="1"/>
          <p:nvPr/>
        </p:nvSpPr>
        <p:spPr>
          <a:xfrm>
            <a:off x="4045337" y="1822768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1AC02A-AE8D-56FD-438A-B6623B7BE486}"/>
              </a:ext>
            </a:extLst>
          </p:cNvPr>
          <p:cNvSpPr txBox="1"/>
          <p:nvPr/>
        </p:nvSpPr>
        <p:spPr>
          <a:xfrm>
            <a:off x="8146664" y="1822768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76215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2B5E9-06A8-32A2-7716-F22B52B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B297E-7EE5-3C68-FD59-6C568325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7763"/>
            <a:ext cx="10515600" cy="4351338"/>
          </a:xfrm>
        </p:spPr>
        <p:txBody>
          <a:bodyPr/>
          <a:lstStyle/>
          <a:p>
            <a:r>
              <a:rPr lang="en-US" dirty="0"/>
              <a:t>Binary Tree</a:t>
            </a:r>
          </a:p>
          <a:p>
            <a:pPr lvl="1"/>
            <a:r>
              <a:rPr lang="en-US" dirty="0"/>
              <a:t>Definition:</a:t>
            </a:r>
          </a:p>
          <a:p>
            <a:pPr lvl="2"/>
            <a:r>
              <a:rPr lang="en-US" dirty="0"/>
              <a:t>Tree where each node has at most 2 children</a:t>
            </a:r>
          </a:p>
          <a:p>
            <a:r>
              <a:rPr lang="en-US" dirty="0"/>
              <a:t>Order Property</a:t>
            </a:r>
          </a:p>
          <a:p>
            <a:pPr lvl="1"/>
            <a:r>
              <a:rPr lang="en-US" dirty="0"/>
              <a:t>All keys in the left subtree are smaller than the root</a:t>
            </a:r>
          </a:p>
          <a:p>
            <a:pPr lvl="1"/>
            <a:r>
              <a:rPr lang="en-US" dirty="0"/>
              <a:t>All keys in the right subtree are larger than the root</a:t>
            </a:r>
          </a:p>
          <a:p>
            <a:pPr lvl="1"/>
            <a:r>
              <a:rPr lang="en-US" dirty="0"/>
              <a:t>Consequence: cannot have repeated values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71E9C4-A101-FA4C-0659-721A14214FB9}"/>
              </a:ext>
            </a:extLst>
          </p:cNvPr>
          <p:cNvGrpSpPr/>
          <p:nvPr/>
        </p:nvGrpSpPr>
        <p:grpSpPr>
          <a:xfrm>
            <a:off x="5719609" y="-50800"/>
            <a:ext cx="6172672" cy="2998788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790789-87A7-46C0-EA6C-2277D13D78EE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A295B32-4297-8096-ECFD-F8DF78979C08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B6D470-F748-CAA2-B85B-F5670795C1A8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D716C2-27E6-7E2D-7139-2D180A5286B4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18C3C5-E267-10AD-79B8-85A8152A145D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E710BDE-CE64-A054-63A0-910654063B2A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D2F92E-73DC-0C75-E9E1-B514E3CDE03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B0BCFA-A5E6-EA50-A0E5-4E556987C546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4C1969-2C20-D8A3-AF4D-89148C62640C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44E483-8BEE-9320-2C66-83FC9EA0B1AE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371AA0-D30E-E312-E5A8-C884765372F5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3C3A7-61D8-70EC-4EEE-3D6FE811705B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F9A90-2C43-EFB7-CB66-282BFFEA2185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EEC53A-1AFB-D890-5A14-FFCEFA2A15B8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BA74E8D-B454-F5F2-6149-D711F44D4890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2211060-D69A-92CF-3F0C-77A1BD53CDBE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0372726-C603-E467-D286-87E153C707A7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9884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F6548-9D98-39FE-74B0-AE28060A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these BSTs?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5AD0C-4A2B-9A16-4E21-6AB1559EA083}"/>
              </a:ext>
            </a:extLst>
          </p:cNvPr>
          <p:cNvGrpSpPr/>
          <p:nvPr/>
        </p:nvGrpSpPr>
        <p:grpSpPr>
          <a:xfrm>
            <a:off x="200248" y="1567009"/>
            <a:ext cx="4036614" cy="2762801"/>
            <a:chOff x="131609" y="2379747"/>
            <a:chExt cx="4036614" cy="27628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16A6EC8-5DF8-4AA2-99AA-01038135CE44}"/>
                </a:ext>
              </a:extLst>
            </p:cNvPr>
            <p:cNvSpPr/>
            <p:nvPr/>
          </p:nvSpPr>
          <p:spPr>
            <a:xfrm>
              <a:off x="2259363" y="237974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9805804-F2DC-C6FD-B8E9-574ACB44AD21}"/>
                </a:ext>
              </a:extLst>
            </p:cNvPr>
            <p:cNvSpPr/>
            <p:nvPr/>
          </p:nvSpPr>
          <p:spPr>
            <a:xfrm>
              <a:off x="1556072" y="3043035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B2B5938-265F-ABFC-25F4-5D8918243D7E}"/>
                </a:ext>
              </a:extLst>
            </p:cNvPr>
            <p:cNvSpPr/>
            <p:nvPr/>
          </p:nvSpPr>
          <p:spPr>
            <a:xfrm>
              <a:off x="2943201" y="300747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F0C916-C4B6-92D6-8494-EA5DFFA91B3D}"/>
                </a:ext>
              </a:extLst>
            </p:cNvPr>
            <p:cNvSpPr/>
            <p:nvPr/>
          </p:nvSpPr>
          <p:spPr>
            <a:xfrm>
              <a:off x="820352" y="379936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91AC77-7F7D-F3E6-C149-208F5C5970A9}"/>
                </a:ext>
              </a:extLst>
            </p:cNvPr>
            <p:cNvSpPr/>
            <p:nvPr/>
          </p:nvSpPr>
          <p:spPr>
            <a:xfrm>
              <a:off x="3555712" y="369755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1FA898-5F86-702E-BACF-23EAF0ED22D9}"/>
                </a:ext>
              </a:extLst>
            </p:cNvPr>
            <p:cNvSpPr/>
            <p:nvPr/>
          </p:nvSpPr>
          <p:spPr>
            <a:xfrm>
              <a:off x="131609" y="453003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BF02345-0F06-9D9F-427F-6826149A089F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2078883" y="2902558"/>
              <a:ext cx="270180" cy="2301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FF37D10-ECAB-4C4B-8186-21080F7EB02A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2782174" y="2902558"/>
              <a:ext cx="250727" cy="1946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3B40EF5-F8EE-E10F-696D-062B8556F3FC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1343163" y="3565846"/>
              <a:ext cx="302609" cy="323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4C5E63E-B3AA-4E99-B718-95F43830258A}"/>
                </a:ext>
              </a:extLst>
            </p:cNvPr>
            <p:cNvCxnSpPr>
              <a:cxnSpLocks/>
              <a:stCxn id="12" idx="7"/>
              <a:endCxn id="8" idx="3"/>
            </p:cNvCxnSpPr>
            <p:nvPr/>
          </p:nvCxnSpPr>
          <p:spPr>
            <a:xfrm flipV="1">
              <a:off x="654420" y="4322171"/>
              <a:ext cx="255632" cy="297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5BC7B60-9565-522D-D281-1C17537B9FCE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3466012" y="3530286"/>
              <a:ext cx="179400" cy="2569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0884F94-B209-66BE-9805-70530BB7643C}"/>
              </a:ext>
            </a:extLst>
          </p:cNvPr>
          <p:cNvGrpSpPr/>
          <p:nvPr/>
        </p:nvGrpSpPr>
        <p:grpSpPr>
          <a:xfrm>
            <a:off x="6758024" y="2938268"/>
            <a:ext cx="3877904" cy="3796337"/>
            <a:chOff x="41909" y="1095926"/>
            <a:chExt cx="3877904" cy="3796337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48C104B-2AC3-76E9-2B47-DAB7FCAFA33F}"/>
                </a:ext>
              </a:extLst>
            </p:cNvPr>
            <p:cNvSpPr/>
            <p:nvPr/>
          </p:nvSpPr>
          <p:spPr>
            <a:xfrm>
              <a:off x="2032627" y="237198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9204F87-3913-03CF-D0FF-35DB4BAA0656}"/>
                </a:ext>
              </a:extLst>
            </p:cNvPr>
            <p:cNvSpPr/>
            <p:nvPr/>
          </p:nvSpPr>
          <p:spPr>
            <a:xfrm>
              <a:off x="1339516" y="302554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7C5F20C-29FD-AE0D-F4C5-50410235796D}"/>
                </a:ext>
              </a:extLst>
            </p:cNvPr>
            <p:cNvSpPr/>
            <p:nvPr/>
          </p:nvSpPr>
          <p:spPr>
            <a:xfrm>
              <a:off x="2694793" y="172896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8EF4C2-E99D-433A-7E38-FD10C7AE2AA5}"/>
                </a:ext>
              </a:extLst>
            </p:cNvPr>
            <p:cNvSpPr/>
            <p:nvPr/>
          </p:nvSpPr>
          <p:spPr>
            <a:xfrm>
              <a:off x="674261" y="3667241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766E27F-8D6C-3E0B-4F79-2A655295B958}"/>
                </a:ext>
              </a:extLst>
            </p:cNvPr>
            <p:cNvSpPr/>
            <p:nvPr/>
          </p:nvSpPr>
          <p:spPr>
            <a:xfrm>
              <a:off x="3307302" y="1095926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54C4440-F81A-3A7F-27E9-725F1CAA06F4}"/>
                </a:ext>
              </a:extLst>
            </p:cNvPr>
            <p:cNvSpPr/>
            <p:nvPr/>
          </p:nvSpPr>
          <p:spPr>
            <a:xfrm>
              <a:off x="41909" y="427975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7012BB1-0ABB-B4AD-2F57-9C1110B619BB}"/>
                </a:ext>
              </a:extLst>
            </p:cNvPr>
            <p:cNvCxnSpPr>
              <a:cxnSpLocks/>
              <a:stCxn id="25" idx="3"/>
              <a:endCxn id="26" idx="7"/>
            </p:cNvCxnSpPr>
            <p:nvPr/>
          </p:nvCxnSpPr>
          <p:spPr>
            <a:xfrm flipH="1">
              <a:off x="1862327" y="2894791"/>
              <a:ext cx="260000" cy="220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783DAE3-3D5D-15E4-B689-776BBAEF2CA2}"/>
                </a:ext>
              </a:extLst>
            </p:cNvPr>
            <p:cNvCxnSpPr>
              <a:cxnSpLocks/>
              <a:stCxn id="25" idx="7"/>
              <a:endCxn id="27" idx="3"/>
            </p:cNvCxnSpPr>
            <p:nvPr/>
          </p:nvCxnSpPr>
          <p:spPr>
            <a:xfrm flipV="1">
              <a:off x="2555438" y="2251773"/>
              <a:ext cx="229055" cy="209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5E6B326-F8D7-83A0-7746-675AF1939561}"/>
                </a:ext>
              </a:extLst>
            </p:cNvPr>
            <p:cNvCxnSpPr>
              <a:stCxn id="28" idx="7"/>
              <a:endCxn id="26" idx="3"/>
            </p:cNvCxnSpPr>
            <p:nvPr/>
          </p:nvCxnSpPr>
          <p:spPr>
            <a:xfrm flipV="1">
              <a:off x="1197072" y="3548353"/>
              <a:ext cx="232144" cy="208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325648F-1B77-2F45-09C7-4D83E88B0D3C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564720" y="4190052"/>
              <a:ext cx="199241" cy="179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18FA16-BC35-AB0B-3154-ED1E47669354}"/>
                </a:ext>
              </a:extLst>
            </p:cNvPr>
            <p:cNvCxnSpPr>
              <a:cxnSpLocks/>
              <a:stCxn id="29" idx="3"/>
              <a:endCxn id="27" idx="7"/>
            </p:cNvCxnSpPr>
            <p:nvPr/>
          </p:nvCxnSpPr>
          <p:spPr>
            <a:xfrm flipH="1">
              <a:off x="3217604" y="1618737"/>
              <a:ext cx="179398" cy="1999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DE8E303-07A5-0FEA-D6A9-AA75413C8B43}"/>
              </a:ext>
            </a:extLst>
          </p:cNvPr>
          <p:cNvGrpSpPr/>
          <p:nvPr/>
        </p:nvGrpSpPr>
        <p:grpSpPr>
          <a:xfrm>
            <a:off x="5894880" y="334374"/>
            <a:ext cx="4036614" cy="2762801"/>
            <a:chOff x="5413263" y="1203158"/>
            <a:chExt cx="4036614" cy="2762801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DE93E5E-47AF-DA70-5553-9B15F4248E19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0D95083-1032-E089-E0A6-2DDC0645E5CD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40CD5BB-759D-9930-59D7-E866E894F84D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AFB0B45-1D09-7FB3-2584-B1C055243DC8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E7364C8-CE67-2CDD-F323-1DB8BA6ED0FC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7B236FA-64A2-FF24-C027-2E1851FDA694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469DE87-EE49-BE73-3F23-F86634871488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93B9DA36-B4DF-1C20-A4FD-670899389501}"/>
                  </a:ext>
                </a:extLst>
              </p:cNvPr>
              <p:cNvCxnSpPr>
                <a:cxnSpLocks/>
                <a:stCxn id="58" idx="3"/>
                <a:endCxn id="5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5C94700-070A-B561-8ADC-5D4F8C148F03}"/>
                  </a:ext>
                </a:extLst>
              </p:cNvPr>
              <p:cNvCxnSpPr>
                <a:cxnSpLocks/>
                <a:stCxn id="58" idx="5"/>
                <a:endCxn id="6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A3319A1F-7FEA-B5E1-183D-B46A7BD98F7A}"/>
                  </a:ext>
                </a:extLst>
              </p:cNvPr>
              <p:cNvCxnSpPr>
                <a:stCxn id="61" idx="7"/>
                <a:endCxn id="5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FDEE638-D040-5710-1D02-39AA593813D4}"/>
                  </a:ext>
                </a:extLst>
              </p:cNvPr>
              <p:cNvCxnSpPr>
                <a:cxnSpLocks/>
                <a:stCxn id="63" idx="7"/>
                <a:endCxn id="6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4BFAE1A-394A-A2F5-3B40-B82D2E654900}"/>
                  </a:ext>
                </a:extLst>
              </p:cNvPr>
              <p:cNvCxnSpPr>
                <a:stCxn id="62" idx="1"/>
                <a:endCxn id="6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FA0846D-5821-0C57-9E29-76E3C1337D8F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250BAC-0A03-1B48-1E20-909F0F10479D}"/>
                </a:ext>
              </a:extLst>
            </p:cNvPr>
            <p:cNvCxnSpPr>
              <a:cxnSpLocks/>
              <a:stCxn id="69" idx="1"/>
              <a:endCxn id="5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BACDE4A-98B0-022C-87D8-15AEA4022316}"/>
              </a:ext>
            </a:extLst>
          </p:cNvPr>
          <p:cNvGrpSpPr/>
          <p:nvPr/>
        </p:nvGrpSpPr>
        <p:grpSpPr>
          <a:xfrm>
            <a:off x="2376685" y="3800627"/>
            <a:ext cx="4036614" cy="2762801"/>
            <a:chOff x="5413263" y="1203158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CEFED0A-5C34-B6F0-549E-4E88321F4178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1714744-621D-F5E0-3846-0DE7B9124DEE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E982F01-E273-B8BE-B119-E2CC24AD004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860A6C0-91DB-9D6E-4E29-D2DA63F0461F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A5ED5B8-C63A-1E80-38DD-8981EBB048FF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801A08-6C6E-24D9-1F1A-23D7CC5BB202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A063D3F-1277-6121-2D74-062102099201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621B54F0-6F9E-6234-A5A1-BF7815089EA1}"/>
                  </a:ext>
                </a:extLst>
              </p:cNvPr>
              <p:cNvCxnSpPr>
                <a:cxnSpLocks/>
                <a:stCxn id="13" idx="3"/>
                <a:endCxn id="16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5AF691C-C423-88A5-793D-69792CD41AA7}"/>
                  </a:ext>
                </a:extLst>
              </p:cNvPr>
              <p:cNvCxnSpPr>
                <a:cxnSpLocks/>
                <a:stCxn id="13" idx="5"/>
                <a:endCxn id="18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50A1733-3E9B-E375-CD65-075CED3234CA}"/>
                  </a:ext>
                </a:extLst>
              </p:cNvPr>
              <p:cNvCxnSpPr>
                <a:stCxn id="20" idx="7"/>
                <a:endCxn id="16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97CF2A-3C8F-10A1-2382-29256DF9A85E}"/>
                  </a:ext>
                </a:extLst>
              </p:cNvPr>
              <p:cNvCxnSpPr>
                <a:cxnSpLocks/>
                <a:stCxn id="36" idx="7"/>
                <a:endCxn id="20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EDE9409-B167-DA3A-92F3-63FF2E4C3C11}"/>
                  </a:ext>
                </a:extLst>
              </p:cNvPr>
              <p:cNvCxnSpPr>
                <a:stCxn id="22" idx="1"/>
                <a:endCxn id="18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9CB6E68-1D64-B8A9-6FEF-CE6C62F71FBC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59C2F0-D084-076D-73BD-249FCD714F8D}"/>
                </a:ext>
              </a:extLst>
            </p:cNvPr>
            <p:cNvCxnSpPr>
              <a:cxnSpLocks/>
              <a:stCxn id="9" idx="1"/>
              <a:endCxn id="16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5263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B08E2-751D-F879-3C45-BB45A603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Why not use an array?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represented a heap using an array, finding children/parents by index</a:t>
                </a:r>
              </a:p>
              <a:p>
                <a:r>
                  <a:rPr lang="en-US" dirty="0"/>
                  <a:t>We will represent BSTs with nodes and references. Why?</a:t>
                </a:r>
              </a:p>
              <a:p>
                <a:pPr lvl="1"/>
                <a:r>
                  <a:rPr lang="en-US" dirty="0"/>
                  <a:t>We might have “gaps” in our tree</a:t>
                </a:r>
              </a:p>
              <a:p>
                <a:pPr lvl="1"/>
                <a:r>
                  <a:rPr lang="en-US" dirty="0"/>
                  <a:t>Memory!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9920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{</a:t>
            </a:r>
          </a:p>
          <a:p>
            <a:pPr marL="0" indent="0">
              <a:buNone/>
            </a:pPr>
            <a:r>
              <a:rPr lang="en-US" dirty="0"/>
              <a:t>	if (key ==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 </a:t>
            </a:r>
          </a:p>
          <a:p>
            <a:pPr marL="0" indent="0">
              <a:buNone/>
            </a:pPr>
            <a:r>
              <a:rPr lang="en-US" dirty="0"/>
              <a:t>	return Null;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0917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6835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2267298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if (root == Null){ </a:t>
            </a:r>
            <a:r>
              <a:rPr lang="en-US" dirty="0" err="1"/>
              <a:t>this.root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parent = Null;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parent = root;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!= Null){ </a:t>
            </a:r>
            <a:r>
              <a:rPr lang="en-US" dirty="0" err="1"/>
              <a:t>root.value</a:t>
            </a:r>
            <a:r>
              <a:rPr lang="en-US" dirty="0"/>
              <a:t> = value; }</a:t>
            </a:r>
          </a:p>
          <a:p>
            <a:pPr marL="0" indent="0">
              <a:buNone/>
            </a:pPr>
            <a:r>
              <a:rPr lang="en-US" dirty="0"/>
              <a:t>	else if (key &lt; </a:t>
            </a:r>
            <a:r>
              <a:rPr lang="en-US" dirty="0" err="1"/>
              <a:t>parent.key</a:t>
            </a:r>
            <a:r>
              <a:rPr lang="en-US" dirty="0"/>
              <a:t>){ </a:t>
            </a:r>
            <a:r>
              <a:rPr lang="en-US" dirty="0" err="1"/>
              <a:t>parent.left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else{ </a:t>
            </a:r>
            <a:r>
              <a:rPr lang="en-US" dirty="0" err="1"/>
              <a:t>parent.right</a:t>
            </a:r>
            <a:r>
              <a:rPr lang="en-US" dirty="0"/>
              <a:t> = new Node (key, value);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32353473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// Now root is the node to delete, what happens next?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258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6AF61-C0E9-5358-15F9-71C3896E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– 3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CEAC8-3204-C998-083A-0CA3CB38D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0 Children (i.e. it’s a leaf)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1 Child</a:t>
            </a:r>
          </a:p>
          <a:p>
            <a:pPr lvl="1"/>
            <a:r>
              <a:rPr lang="en-US" dirty="0"/>
              <a:t>Replace the deleted node with its child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2 Children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Replace the deleted with the largest node to its left or else the smallest node to its right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AC3D59-3E05-191D-A7BF-6AC36E848F5B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33A002-A754-52F5-FA72-68624BE2C8D0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08219CE-3255-59E4-61D6-419B3BAFB9D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2142312F-4523-0F4A-18D6-D202467C630B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EB78B0BF-9986-AD99-C54F-D7B175C1C6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7B86446-8709-F970-19FA-1560746A8F8B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12845EA2-0AD9-0332-93AD-E32D492ACF75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5DC21F3-A9FD-FEF7-D158-D2B83E668A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2595E8C-ACCE-26C0-95A6-DF31D51FB63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B09B76C-5533-8CEE-1C8E-C13D430D6C0A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C6BA5A95-4800-75BA-5CE6-E383F92011EB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AC4D699-B4C5-E5A7-F3D0-4965AD3CEF52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BE01189-9D86-9F73-E90F-C51F6D57DB47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6CAF12A-D2DF-12A3-D54E-B3E2AADBEE87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D0412F1-A696-4E74-5C2D-01D272BC7D1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0FEBA68-EB7A-A625-123F-3DFEFE9705FD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46FB638-874C-F8CE-DA66-D385D2D1E61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rgbClr val="FF646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C35A3DD-4BC9-7373-F046-80248E667B84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A20141-63E4-638D-8E70-95A8CD7079FC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9F92928-0AF8-46E7-0CF2-997221C964DA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2148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DD992-8A3B-FA6D-C215-0B6ED397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 and 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04EE-D13B-45D9-058D-3DB66EC3D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 of a BST:</a:t>
            </a:r>
          </a:p>
          <a:p>
            <a:pPr lvl="1"/>
            <a:r>
              <a:rPr lang="en-US" dirty="0"/>
              <a:t>Right-most Thing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Min of a BST:</a:t>
            </a:r>
          </a:p>
          <a:p>
            <a:pPr lvl="1"/>
            <a:r>
              <a:rPr lang="en-US" dirty="0"/>
              <a:t>Left-most Thing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BF0BCB-E919-4887-EA0E-2950E757CB98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9003D4F-20EE-2715-9BC2-D19DE4581AEE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8D83DF-C06D-6B78-1A7C-F817960D477A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A2EDFBE-0A1B-19F2-557F-3B1A84B931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5E32266-34D1-3723-EBDF-C9A36280C46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1D17E1C-7320-E465-2AF6-0DFBD16C3748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82C6223-5B81-9C2F-51F0-9A31796FD9C1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DE529F80-9D8C-AD5B-0003-47F0052FA1C6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3DB1C023-75B2-F46B-74A7-E401043679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B93E87A-6C9B-1D2C-C84A-2AA38EABAC4D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DE72BA0-DEC4-4371-557B-FD0A27B58A1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14E1AA9-03DC-F6A2-880E-44E821AD716D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46D2F62-F574-C773-B0F2-218AD20D8DB1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265655F-9185-06A5-BD36-032DE2A30AAE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2F28718-ABD4-67D4-B846-AEAE833BCF68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F8DDC98-3F89-07C7-160A-648B352778FE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676F51E-8B90-CBD3-7E71-086AF7DF6FD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BD72FE-0A5E-9EC8-90AC-E805731A3D95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A2F8EA-25C5-E8CC-7AA6-AA386BB59595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D5ECE53-FA8D-7B43-2013-D57B557F7DCC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317041B-3D3A-8B57-9A2C-1609D76990ED}"/>
              </a:ext>
            </a:extLst>
          </p:cNvPr>
          <p:cNvSpPr txBox="1"/>
          <p:nvPr/>
        </p:nvSpPr>
        <p:spPr>
          <a:xfrm>
            <a:off x="4450489" y="1515664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maxNode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(root == Null){ return Null;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while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root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return root;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A3E0CB-96F1-9F4E-AA9E-AFD3225402CD}"/>
              </a:ext>
            </a:extLst>
          </p:cNvPr>
          <p:cNvSpPr txBox="1"/>
          <p:nvPr/>
        </p:nvSpPr>
        <p:spPr>
          <a:xfrm>
            <a:off x="4450489" y="4145638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minNode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(root == Null){ return Null;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while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root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return root;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2177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if (root has no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Null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one child){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that child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two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either the max from the left or min from the right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1729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8D2-3B25-68DF-253C-F021135B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0637-A613-A9E7-519E-9AD94EB6A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87991-6266-62EE-BEE3-DDCD294DF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if (root == Null){ return; } // key not present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== key){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FF0000"/>
                </a:solidFill>
              </a:rPr>
              <a:t>if (root has no children) { return Null;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one child) { return that child;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two children) {return </a:t>
            </a:r>
            <a:r>
              <a:rPr lang="en-US" dirty="0" err="1">
                <a:solidFill>
                  <a:srgbClr val="FF0000"/>
                </a:solidFill>
              </a:rPr>
              <a:t>removeMax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root.left</a:t>
            </a:r>
            <a:r>
              <a:rPr lang="en-US" dirty="0">
                <a:solidFill>
                  <a:srgbClr val="FF0000"/>
                </a:solidFill>
              </a:rPr>
              <a:t>);}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 { </a:t>
            </a:r>
            <a:r>
              <a:rPr lang="en-US" dirty="0" err="1"/>
              <a:t>root.right</a:t>
            </a:r>
            <a:r>
              <a:rPr lang="en-US" dirty="0"/>
              <a:t> = delete(key, </a:t>
            </a:r>
            <a:r>
              <a:rPr lang="en-US" dirty="0" err="1"/>
              <a:t>root.right</a:t>
            </a:r>
            <a:r>
              <a:rPr lang="en-US" dirty="0"/>
              <a:t>); }</a:t>
            </a:r>
          </a:p>
          <a:p>
            <a:pPr marL="0" indent="0">
              <a:buNone/>
            </a:pPr>
            <a:r>
              <a:rPr lang="en-US" dirty="0"/>
              <a:t>	else { </a:t>
            </a:r>
            <a:r>
              <a:rPr lang="en-US" dirty="0" err="1"/>
              <a:t>root.left</a:t>
            </a:r>
            <a:r>
              <a:rPr lang="en-US" dirty="0"/>
              <a:t> = delete(key, </a:t>
            </a:r>
            <a:r>
              <a:rPr lang="en-US" dirty="0" err="1"/>
              <a:t>root.left</a:t>
            </a:r>
            <a:r>
              <a:rPr lang="en-US" dirty="0"/>
              <a:t>); }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3061E36-B68E-3844-0FB4-D07CB8A59E36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C00FB46-1775-1E8D-BA80-A93F1F121BF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3E2A454-89C6-127B-EEDC-99911058E492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C3DFA3AD-01DB-A6BE-8B5E-EA3CB1053BA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C4C4165-1130-AEE5-61C5-4DE2D95EA5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A39E2EB3-E5B7-3DE3-3F62-F2B09ABA2673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E9FB5A6-B0C6-BAFA-8D92-7609CFD2317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42CFA475-7883-AB14-A0D1-C3DF86F38D5D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B72759D-0EAB-AFEF-0BB4-FA089BCB030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A019D8E7-3242-85A5-59A4-389BF853E2D0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4F23168-F205-C5B7-7E6A-14F06968361F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1FE7DCC-114A-9A06-B5EE-CECB8ED7F293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1A82CAD-1880-2C4B-0C5A-19B5669309F8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B96F06EA-B6F9-E0D8-313A-EBB0BD27F9F7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E69FDC4-D3A5-1174-0261-BE45E67AE3E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7285EB2-EF93-8085-1F22-7AE90F8D0C74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5B8BB4-D860-4551-F696-A573D5767851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EB9E36-AE08-FB14-D41D-B0E6DF9762B3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10FEEE-2316-3BA5-CD0A-B7FE0EB615E7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AA4587B-2D59-D07E-BF69-10F62C0E0D85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352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7335</TotalTime>
  <Words>2595</Words>
  <Application>Microsoft Office PowerPoint</Application>
  <PresentationFormat>Widescreen</PresentationFormat>
  <Paragraphs>602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Calibri Light</vt:lpstr>
      <vt:lpstr>Cambria Math</vt:lpstr>
      <vt:lpstr>Consolas</vt:lpstr>
      <vt:lpstr>Symbol</vt:lpstr>
      <vt:lpstr>Office Theme</vt:lpstr>
      <vt:lpstr>1_Office Theme</vt:lpstr>
      <vt:lpstr>2_Office Theme</vt:lpstr>
      <vt:lpstr>CSE 332 Winter 2026 Lecture 7: Recurrences, Dictionaries, BSTs</vt:lpstr>
      <vt:lpstr>Analysis of Recursive Algorithms</vt:lpstr>
      <vt:lpstr>Recursive List Summation</vt:lpstr>
      <vt:lpstr>Tree Method</vt:lpstr>
      <vt:lpstr>Tree Method Summary: Chip and Conquer</vt:lpstr>
      <vt:lpstr>Tree Method Summary: Divide and Conquer</vt:lpstr>
      <vt:lpstr>Let’s do some more!</vt:lpstr>
      <vt:lpstr>Tree Method</vt:lpstr>
      <vt:lpstr>Tree Method</vt:lpstr>
      <vt:lpstr>Solving T(n)=2T(n/2)+n^2</vt:lpstr>
      <vt:lpstr>Tree Method</vt:lpstr>
      <vt:lpstr>Solving T(n)=2T(n/8)+1</vt:lpstr>
      <vt:lpstr>Finite Geometric Series</vt:lpstr>
      <vt:lpstr>Finite Geometric Series</vt:lpstr>
      <vt:lpstr>Dictionary (Map) ADT</vt:lpstr>
      <vt:lpstr>Naïve attempts</vt:lpstr>
      <vt:lpstr>More Tree “Vocab”</vt:lpstr>
      <vt:lpstr>Name that Traversal!</vt:lpstr>
      <vt:lpstr>Binary Search Tree</vt:lpstr>
      <vt:lpstr>Are these BSTs?</vt:lpstr>
      <vt:lpstr>Aside: Why not use an array?</vt:lpstr>
      <vt:lpstr>Find Operation (recursive)</vt:lpstr>
      <vt:lpstr>Find Operation (iterative)</vt:lpstr>
      <vt:lpstr>Insert Operation (recursive)</vt:lpstr>
      <vt:lpstr>Insert Operation (iterative)</vt:lpstr>
      <vt:lpstr>Delete Operation (iterative)</vt:lpstr>
      <vt:lpstr>Delete – 3 Cases</vt:lpstr>
      <vt:lpstr>Finding the Max and Min</vt:lpstr>
      <vt:lpstr>Delete Operation (iterative)</vt:lpstr>
      <vt:lpstr>Delete Operation (recursive)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Brunelle, Nathan J (njb2b)</dc:creator>
  <cp:lastModifiedBy>Nathan Brunelle</cp:lastModifiedBy>
  <cp:revision>29</cp:revision>
  <dcterms:created xsi:type="dcterms:W3CDTF">2024-06-26T12:44:42Z</dcterms:created>
  <dcterms:modified xsi:type="dcterms:W3CDTF">2026-01-21T14:51:32Z</dcterms:modified>
</cp:coreProperties>
</file>