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35"/>
  </p:notesMasterIdLst>
  <p:sldIdLst>
    <p:sldId id="257" r:id="rId4"/>
    <p:sldId id="453" r:id="rId5"/>
    <p:sldId id="457" r:id="rId6"/>
    <p:sldId id="385" r:id="rId7"/>
    <p:sldId id="465" r:id="rId8"/>
    <p:sldId id="466" r:id="rId9"/>
    <p:sldId id="459" r:id="rId10"/>
    <p:sldId id="460" r:id="rId11"/>
    <p:sldId id="461" r:id="rId12"/>
    <p:sldId id="462" r:id="rId13"/>
    <p:sldId id="463" r:id="rId14"/>
    <p:sldId id="464" r:id="rId15"/>
    <p:sldId id="358" r:id="rId16"/>
    <p:sldId id="357" r:id="rId17"/>
    <p:sldId id="258" r:id="rId18"/>
    <p:sldId id="263" r:id="rId19"/>
    <p:sldId id="262" r:id="rId20"/>
    <p:sldId id="267" r:id="rId21"/>
    <p:sldId id="468" r:id="rId22"/>
    <p:sldId id="268" r:id="rId23"/>
    <p:sldId id="269" r:id="rId24"/>
    <p:sldId id="454" r:id="rId25"/>
    <p:sldId id="271" r:id="rId26"/>
    <p:sldId id="270" r:id="rId27"/>
    <p:sldId id="272" r:id="rId28"/>
    <p:sldId id="455" r:id="rId29"/>
    <p:sldId id="274" r:id="rId30"/>
    <p:sldId id="275" r:id="rId31"/>
    <p:sldId id="276" r:id="rId32"/>
    <p:sldId id="277" r:id="rId33"/>
    <p:sldId id="46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AFC52-F46C-4845-B64D-0DCC1AECCCC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D97389-0441-4D4C-B013-3AC3B3367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64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97389-0441-4D4C-B013-3AC3B33670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67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EDFD-05A3-AB2C-28EA-1F10E5D21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A4A9E-A38E-8FAD-4725-63270224C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024BA-3F6E-B600-8DEF-F5B8815A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1B921-02AB-A8AB-A0C8-655556AF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ED915-48D5-56D7-32CC-399EFE7FE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8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F38B-CB5A-B13E-F5D7-2DA1A6B91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E2621-C1D2-6EA5-9C00-AD4D21D63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B215E-AE4B-9861-F145-FDA28262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EC039-B059-ECCC-530A-3AB6CB0A1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BEA18-99AF-5466-77A2-2ED025B81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A553B-F670-1604-5051-C69575AB0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F92DB-5E7F-F49E-F5A2-4CD71172F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1753E-851C-6254-0D25-2F887273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E8AB3-1264-7FDE-D829-8552CB0E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85CDF-C478-A7EF-68E9-A9B03181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9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64F7-D59E-B01A-8BD5-00384E22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F09C-F9B9-2C50-7C6F-29C125516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A614B-6667-7695-5A04-2F636199B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CB1E8-E8EC-EC48-AC56-00B0294D4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72EA3-CE48-C170-7657-2D913ED3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736BE-3261-CE4F-7435-03969F8E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4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765F-128C-5F4B-4E20-D385D2B40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B8912-9AF9-E09C-E9BF-C1A235440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7D6C8-55A2-957D-7F4E-CC7BCF01E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7549B-8BC6-6148-ACAA-049554DFE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1610D-E8FB-B2C8-5980-6848B27C49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F98579-8216-620D-1649-3AF68889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7186D-AE3C-BCC2-5CC7-DFDB1E9C0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3C042-93EE-DFEB-EB11-59AE48DB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84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93B1-B34F-DEF0-36F0-9044F5D7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2A602-329F-B48E-59DF-A750E786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3EDF7-DE2E-A73E-8F31-9D5E4D89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12E61-B33E-641F-586B-71558099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9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244B7-1B24-A316-4AE0-092CD30B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AF25EA-9B44-0E03-1033-8525546E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25D09-469B-22B7-3367-45C141A2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6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1B2F-B9E6-9510-4D05-E3D54924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FE975-5B17-DA24-6CEB-DC943E8B8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5A351-A381-B7DE-629A-344A18790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DD2EF-7CF7-DD3F-F641-183E8B2B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85405-E07D-ACE1-4750-3CCE6C35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E168D-7644-1D4C-5394-64379655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801B-B60C-BB23-B536-10DDE66CB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6861CE-32FE-1378-773F-41832B9FF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2144C-D26D-D14D-26EE-59C3FC1E5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EF677-D138-7015-213C-2BB3F4A73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190E5-FB64-35C9-62D3-131BE331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729FB-47F6-106B-7BD5-F0203103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1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7187-FA0C-1996-5F4B-01C6D21D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32157-1E29-206A-A4D1-E079FFF5C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ED6E6-27DC-9868-8ED6-B497F666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E3647-A949-3CDF-67EE-AB590EDC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6DF69-C102-21BC-88B3-80F4E212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1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9C123A-D9AF-475A-C065-C2FA15964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27EB4-E58B-3FD3-E171-2FF9248A2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A4642-AEF9-1A45-F614-49CABD0DF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41C59-45AB-EDDF-36FA-E3E263F9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2C6A-7AA0-08EE-B17B-CA0D2FF9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72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56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43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50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40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94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71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11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57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4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53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646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54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05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973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644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781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232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460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113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90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690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68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7B289-BD5E-5EED-C530-FE49EC1FB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5310A-CDE1-6296-A6C7-FAD4EBB46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30977-A77A-05DC-ACE8-6F1D91538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B5B7B-F51D-4CAE-B141-34246E39C0D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C77BE-A1DA-9A34-23FB-D1B3BF2A8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A4270-8225-31C5-8BCA-531C6C5C8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5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3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28AD1-28C6-4DBC-B0D5-638143145F9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13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w.edu/33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8.png"/><Relationship Id="rId3" Type="http://schemas.openxmlformats.org/officeDocument/2006/relationships/image" Target="../media/image261.png"/><Relationship Id="rId21" Type="http://schemas.openxmlformats.org/officeDocument/2006/relationships/image" Target="../media/image11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7.png"/><Relationship Id="rId2" Type="http://schemas.openxmlformats.org/officeDocument/2006/relationships/image" Target="../media/image3.png"/><Relationship Id="rId16" Type="http://schemas.openxmlformats.org/officeDocument/2006/relationships/image" Target="../media/image6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11" Type="http://schemas.openxmlformats.org/officeDocument/2006/relationships/image" Target="../media/image340.png"/><Relationship Id="rId24" Type="http://schemas.openxmlformats.org/officeDocument/2006/relationships/image" Target="../media/image46.png"/><Relationship Id="rId5" Type="http://schemas.openxmlformats.org/officeDocument/2006/relationships/image" Target="../media/image4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10" Type="http://schemas.openxmlformats.org/officeDocument/2006/relationships/image" Target="../media/image330.png"/><Relationship Id="rId19" Type="http://schemas.openxmlformats.org/officeDocument/2006/relationships/image" Target="../media/image9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47.png"/><Relationship Id="rId3" Type="http://schemas.openxmlformats.org/officeDocument/2006/relationships/image" Target="../media/image261.png"/><Relationship Id="rId21" Type="http://schemas.openxmlformats.org/officeDocument/2006/relationships/image" Target="../media/image50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44.png"/><Relationship Id="rId2" Type="http://schemas.openxmlformats.org/officeDocument/2006/relationships/image" Target="../media/image40.png"/><Relationship Id="rId16" Type="http://schemas.openxmlformats.org/officeDocument/2006/relationships/image" Target="../media/image43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11" Type="http://schemas.openxmlformats.org/officeDocument/2006/relationships/image" Target="../media/image340.png"/><Relationship Id="rId24" Type="http://schemas.openxmlformats.org/officeDocument/2006/relationships/image" Target="../media/image46.png"/><Relationship Id="rId5" Type="http://schemas.openxmlformats.org/officeDocument/2006/relationships/image" Target="../media/image41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10" Type="http://schemas.openxmlformats.org/officeDocument/2006/relationships/image" Target="../media/image330.png"/><Relationship Id="rId19" Type="http://schemas.openxmlformats.org/officeDocument/2006/relationships/image" Target="../media/image48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590.png"/><Relationship Id="rId3" Type="http://schemas.openxmlformats.org/officeDocument/2006/relationships/image" Target="../media/image54.png"/><Relationship Id="rId21" Type="http://schemas.openxmlformats.org/officeDocument/2006/relationships/image" Target="../media/image620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58.png"/><Relationship Id="rId2" Type="http://schemas.openxmlformats.org/officeDocument/2006/relationships/image" Target="../media/image53.png"/><Relationship Id="rId16" Type="http://schemas.openxmlformats.org/officeDocument/2006/relationships/image" Target="../media/image57.png"/><Relationship Id="rId20" Type="http://schemas.openxmlformats.org/officeDocument/2006/relationships/image" Target="../media/image61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11" Type="http://schemas.openxmlformats.org/officeDocument/2006/relationships/image" Target="../media/image340.png"/><Relationship Id="rId24" Type="http://schemas.openxmlformats.org/officeDocument/2006/relationships/image" Target="../media/image46.png"/><Relationship Id="rId5" Type="http://schemas.openxmlformats.org/officeDocument/2006/relationships/image" Target="../media/image55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10" Type="http://schemas.openxmlformats.org/officeDocument/2006/relationships/image" Target="../media/image330.png"/><Relationship Id="rId19" Type="http://schemas.openxmlformats.org/officeDocument/2006/relationships/image" Target="../media/image600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350.png"/><Relationship Id="rId18" Type="http://schemas.openxmlformats.org/officeDocument/2006/relationships/image" Target="../media/image78.png"/><Relationship Id="rId3" Type="http://schemas.openxmlformats.org/officeDocument/2006/relationships/image" Target="../media/image68.png"/><Relationship Id="rId21" Type="http://schemas.openxmlformats.org/officeDocument/2006/relationships/image" Target="../media/image81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77.png"/><Relationship Id="rId25" Type="http://schemas.openxmlformats.org/officeDocument/2006/relationships/image" Target="../media/image46.png"/><Relationship Id="rId2" Type="http://schemas.openxmlformats.org/officeDocument/2006/relationships/image" Target="../media/image67.png"/><Relationship Id="rId16" Type="http://schemas.openxmlformats.org/officeDocument/2006/relationships/image" Target="../media/image38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png"/><Relationship Id="rId11" Type="http://schemas.openxmlformats.org/officeDocument/2006/relationships/image" Target="../media/image75.png"/><Relationship Id="rId24" Type="http://schemas.openxmlformats.org/officeDocument/2006/relationships/image" Target="../media/image45.png"/><Relationship Id="rId5" Type="http://schemas.openxmlformats.org/officeDocument/2006/relationships/image" Target="../media/image69.png"/><Relationship Id="rId15" Type="http://schemas.openxmlformats.org/officeDocument/2006/relationships/image" Target="../media/image370.png"/><Relationship Id="rId23" Type="http://schemas.openxmlformats.org/officeDocument/2006/relationships/image" Target="../media/image83.png"/><Relationship Id="rId10" Type="http://schemas.openxmlformats.org/officeDocument/2006/relationships/image" Target="../media/image74.png"/><Relationship Id="rId19" Type="http://schemas.openxmlformats.org/officeDocument/2006/relationships/image" Target="../media/image79.png"/><Relationship Id="rId4" Type="http://schemas.openxmlformats.org/officeDocument/2006/relationships/image" Target="../media/image271.png"/><Relationship Id="rId9" Type="http://schemas.openxmlformats.org/officeDocument/2006/relationships/image" Target="../media/image73.png"/><Relationship Id="rId14" Type="http://schemas.openxmlformats.org/officeDocument/2006/relationships/image" Target="../media/image360.png"/><Relationship Id="rId22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0.png"/><Relationship Id="rId3" Type="http://schemas.openxmlformats.org/officeDocument/2006/relationships/image" Target="../media/image910.png"/><Relationship Id="rId7" Type="http://schemas.openxmlformats.org/officeDocument/2006/relationships/image" Target="../media/image1110.png"/><Relationship Id="rId2" Type="http://schemas.openxmlformats.org/officeDocument/2006/relationships/image" Target="../media/image81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10.png"/><Relationship Id="rId11" Type="http://schemas.openxmlformats.org/officeDocument/2006/relationships/image" Target="../media/image163.png"/><Relationship Id="rId5" Type="http://schemas.openxmlformats.org/officeDocument/2006/relationships/image" Target="../media/image1700.png"/><Relationship Id="rId10" Type="http://schemas.openxmlformats.org/officeDocument/2006/relationships/image" Target="../media/image1410.png"/><Relationship Id="rId4" Type="http://schemas.openxmlformats.org/officeDocument/2006/relationships/image" Target="../media/image1010.png"/><Relationship Id="rId9" Type="http://schemas.openxmlformats.org/officeDocument/2006/relationships/image" Target="../media/image13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3" Type="http://schemas.openxmlformats.org/officeDocument/2006/relationships/image" Target="../media/image811.png"/><Relationship Id="rId7" Type="http://schemas.openxmlformats.org/officeDocument/2006/relationships/image" Target="../media/image121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10.png"/><Relationship Id="rId11" Type="http://schemas.openxmlformats.org/officeDocument/2006/relationships/image" Target="../media/image163.png"/><Relationship Id="rId5" Type="http://schemas.openxmlformats.org/officeDocument/2006/relationships/image" Target="../media/image1010.png"/><Relationship Id="rId10" Type="http://schemas.openxmlformats.org/officeDocument/2006/relationships/image" Target="../media/image155.png"/><Relationship Id="rId4" Type="http://schemas.openxmlformats.org/officeDocument/2006/relationships/image" Target="../media/image910.png"/><Relationship Id="rId9" Type="http://schemas.openxmlformats.org/officeDocument/2006/relationships/image" Target="../media/image14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CSE 332 Winter 2026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Lecture 7: Recurrences, Dictionaries, BSTs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3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13A8-F389-D526-27E0-2C577B79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Recursive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1F9DB-B627-51B1-AE8B-61E829E3EE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1480" y="1551304"/>
                <a:ext cx="10515600" cy="510349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Overall structure of recursion: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Do some non-recursive “work”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Do one or more recursive calls on some portion of your input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Do some more non-recursive “work”</a:t>
                </a:r>
              </a:p>
              <a:p>
                <a:pPr lvl="1"/>
                <a:r>
                  <a:rPr lang="en-US" dirty="0"/>
                  <a:t>Repeat until you reach a base case</a:t>
                </a:r>
              </a:p>
              <a:p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time it takes to run the algorithm on an input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is: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The sum of how long it takes to run the same algorithm on each smaller input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Plus the total amount of non-recursive work done in that stack frame</a:t>
                </a:r>
              </a:p>
              <a:p>
                <a:r>
                  <a:rPr lang="en-US" dirty="0"/>
                  <a:t>Usually: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Called “divide and conquer”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Called “chip and conquer”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1F9DB-B627-51B1-AE8B-61E829E3EE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1480" y="1551304"/>
                <a:ext cx="10515600" cy="5103495"/>
              </a:xfrm>
              <a:blipFill>
                <a:blip r:embed="rId2"/>
                <a:stretch>
                  <a:fillRect l="-928" t="-2387" b="-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9594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E782-C07E-8C9D-F03B-E1555654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List Summation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CB12C-1484-4384-0A8A-F40C8F089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list){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(list,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list.size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list,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low,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high){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(low == high){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(low == high-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list[low]; 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middle = 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high+low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(list, low, middle) +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(list, middle, high);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6711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2048" b="-3012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6579" b="-157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241721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241721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6580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6580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6580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6580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6580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6580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</p:spTree>
    <p:extLst>
      <p:ext uri="{BB962C8B-B14F-4D97-AF65-F5344CB8AC3E}">
        <p14:creationId xmlns:p14="http://schemas.microsoft.com/office/powerpoint/2010/main" val="9937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3" grpId="0"/>
      <p:bldP spid="44" grpId="0" animBg="1"/>
      <p:bldP spid="46" grpId="0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3" grpId="0" animBg="1"/>
      <p:bldP spid="64" grpId="0"/>
      <p:bldP spid="66" grpId="0"/>
      <p:bldP spid="67" grpId="0"/>
      <p:bldP spid="68" grpId="0"/>
      <p:bldP spid="70" grpId="0"/>
      <p:bldP spid="71" grpId="0"/>
      <p:bldP spid="72" grpId="0"/>
      <p:bldP spid="74" grpId="0"/>
      <p:bldP spid="75" grpId="0"/>
      <p:bldP spid="77" grpId="0"/>
      <p:bldP spid="78" grpId="0"/>
      <p:bldP spid="80" grpId="0"/>
      <p:bldP spid="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63FB1-2024-3C2F-82C7-A570445A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 Summary: Chip and Conquer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1F56D-397B-4864-2127-448D2A1008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1371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Recurrence looks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Use the recurrence to draw a tree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branching factor of the tree (e.g.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then it’s a binary tree)</a:t>
                </a:r>
              </a:p>
              <a:p>
                <a:pPr lvl="1"/>
                <a:r>
                  <a:rPr lang="en-US" dirty="0"/>
                  <a:t>Subtract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from the parent’s input size to get children’s input size</a:t>
                </a:r>
              </a:p>
              <a:p>
                <a:pPr lvl="1"/>
                <a:r>
                  <a:rPr lang="en-US" dirty="0"/>
                  <a:t>Work done per node is given by applying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to that node’s input size</a:t>
                </a:r>
              </a:p>
              <a:p>
                <a:pPr lvl="1"/>
                <a:r>
                  <a:rPr lang="en-US" dirty="0"/>
                  <a:t>Height of the tree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Because that is the number of times we must subtract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reaching a base case</a:t>
                </a:r>
              </a:p>
              <a:p>
                <a:pPr lvl="2"/>
                <a:r>
                  <a:rPr lang="en-US" dirty="0"/>
                  <a:t>Answer to the question “how many times must we subtract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we reach 0?”</a:t>
                </a:r>
              </a:p>
              <a:p>
                <a:pPr lvl="3"/>
                <a:r>
                  <a:rPr lang="en-US" dirty="0"/>
                  <a:t>Any base case is a constant, so to reach a larger value would just be a constant change</a:t>
                </a:r>
              </a:p>
              <a:p>
                <a:r>
                  <a:rPr lang="en-US" dirty="0"/>
                  <a:t>Use the tree to express running time as a series</a:t>
                </a:r>
              </a:p>
              <a:p>
                <a:pPr lvl="1"/>
                <a:r>
                  <a:rPr lang="en-US" dirty="0"/>
                  <a:t>Adding work done for each node level-by-level</a:t>
                </a:r>
              </a:p>
              <a:p>
                <a:pPr lvl="1"/>
                <a:r>
                  <a:rPr lang="en-US" dirty="0"/>
                  <a:t>Identify a pattern to express work done at level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as a function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Write a series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up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Solve the series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1F56D-397B-4864-2127-448D2A1008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13714"/>
              </a:xfrm>
              <a:blipFill>
                <a:blip r:embed="rId2"/>
                <a:stretch>
                  <a:fillRect l="-928" t="-3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540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150C5-7F4C-B114-9C6D-551C73509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4591-7216-6863-6ED7-569C0FEEC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 Summary: Divide and Conquer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3A40D-EE5F-5E3C-882C-C1065A9985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2365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Recurrence looks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Use the recurrence to draw a tree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branching factor of the tree (e.g.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then it’s a binary tree)</a:t>
                </a:r>
              </a:p>
              <a:p>
                <a:pPr lvl="1"/>
                <a:r>
                  <a:rPr lang="en-US" dirty="0"/>
                  <a:t>Divide the parent’s input size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to get children’s input size</a:t>
                </a:r>
              </a:p>
              <a:p>
                <a:pPr lvl="1"/>
                <a:r>
                  <a:rPr lang="en-US" dirty="0"/>
                  <a:t>Work done per node is given by applying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to that node’s input size</a:t>
                </a:r>
              </a:p>
              <a:p>
                <a:pPr lvl="1"/>
                <a:r>
                  <a:rPr lang="en-US" dirty="0"/>
                  <a:t>Height of the tree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Because that is the number of times we must divide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reaching a base case</a:t>
                </a:r>
              </a:p>
              <a:p>
                <a:pPr lvl="2"/>
                <a:r>
                  <a:rPr lang="en-US" dirty="0"/>
                  <a:t>Answer to the question “how many times must we divide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we reach 1?”</a:t>
                </a:r>
              </a:p>
              <a:p>
                <a:pPr lvl="3"/>
                <a:r>
                  <a:rPr lang="en-US" dirty="0"/>
                  <a:t>Any base case is a constant, so to reach a larger value would just be a constant change</a:t>
                </a:r>
              </a:p>
              <a:p>
                <a:r>
                  <a:rPr lang="en-US" dirty="0"/>
                  <a:t>Use the tree to express running time as a series</a:t>
                </a:r>
              </a:p>
              <a:p>
                <a:pPr lvl="1"/>
                <a:r>
                  <a:rPr lang="en-US" dirty="0"/>
                  <a:t>Adding work done for each node level-by-level</a:t>
                </a:r>
              </a:p>
              <a:p>
                <a:pPr lvl="1"/>
                <a:r>
                  <a:rPr lang="en-US" dirty="0"/>
                  <a:t>Identify a pattern to express work done at level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as a function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Write a series using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up to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Solve the series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3A40D-EE5F-5E3C-882C-C1065A9985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23653"/>
              </a:xfrm>
              <a:blipFill>
                <a:blip r:embed="rId2"/>
                <a:stretch>
                  <a:fillRect l="-928" t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027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52AD-3F4C-DE42-5E30-D2A783AB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do some more!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C023E-2A8A-B7C5-6C27-1E2A5B41D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each, assume the base case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C023E-2A8A-B7C5-6C27-1E2A5B41D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975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4458" b="-2771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6579" b="-157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253391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253391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</p:spTree>
    <p:extLst>
      <p:ext uri="{BB962C8B-B14F-4D97-AF65-F5344CB8AC3E}">
        <p14:creationId xmlns:p14="http://schemas.microsoft.com/office/powerpoint/2010/main" val="2539101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4458" b="-2771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395065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395994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395994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??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4819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48192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4819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481927" cy="64633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4819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481927" cy="64633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494046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494046" cy="64812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494046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494046" cy="64812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494046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494046" cy="64812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494045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494045" cy="64812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48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Solving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4962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2048" b="-3012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395065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241721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241721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6580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6580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6580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6580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6580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</p:spTree>
    <p:extLst>
      <p:ext uri="{BB962C8B-B14F-4D97-AF65-F5344CB8AC3E}">
        <p14:creationId xmlns:p14="http://schemas.microsoft.com/office/powerpoint/2010/main" val="2970216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Solving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4371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4759872" y="3301829"/>
            <a:ext cx="918341" cy="1828800"/>
            <a:chOff x="2434459" y="1295400"/>
            <a:chExt cx="918341" cy="3657600"/>
          </a:xfrm>
        </p:grpSpPr>
        <p:sp>
          <p:nvSpPr>
            <p:cNvPr id="39" name="Rectangle 38"/>
            <p:cNvSpPr/>
            <p:nvPr/>
          </p:nvSpPr>
          <p:spPr>
            <a:xfrm>
              <a:off x="2434459" y="4495800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476500" y="1473029"/>
            <a:ext cx="914400" cy="3657600"/>
            <a:chOff x="2667000" y="-2362200"/>
            <a:chExt cx="914400" cy="7315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4" name="Rectangle 33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352800" y="-2362200"/>
              <a:ext cx="228600" cy="73152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7316513" y="1473029"/>
            <a:ext cx="228600" cy="3657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Geometric 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BADE50-950A-4D58-BFB2-FA2C6A8B38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759872" y="3301829"/>
            <a:ext cx="918341" cy="1828800"/>
            <a:chOff x="2434459" y="1295400"/>
            <a:chExt cx="918341" cy="3657600"/>
          </a:xfrm>
        </p:grpSpPr>
        <p:sp>
          <p:nvSpPr>
            <p:cNvPr id="24" name="Rectangle 23"/>
            <p:cNvSpPr/>
            <p:nvPr/>
          </p:nvSpPr>
          <p:spPr>
            <a:xfrm>
              <a:off x="2434459" y="4495800"/>
              <a:ext cx="228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476500" y="1473029"/>
            <a:ext cx="914400" cy="3657600"/>
            <a:chOff x="2667000" y="-2362200"/>
            <a:chExt cx="914400" cy="7315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2" name="Rectangle 41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352800" y="-2362200"/>
              <a:ext cx="228600" cy="73152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9373913" y="4978229"/>
            <a:ext cx="228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79733" y="1463695"/>
                <a:ext cx="14998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&gt;1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33" y="1463695"/>
                <a:ext cx="1499898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10569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series multiplied by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blipFill>
                <a:blip r:embed="rId6"/>
                <a:stretch>
                  <a:fillRect l="-2516" t="-192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>
            <a:off x="4616448" y="5345328"/>
            <a:ext cx="201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series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86537" y="5359229"/>
            <a:ext cx="157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first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/>
          <p:cNvSpPr txBox="1"/>
          <p:nvPr/>
        </p:nvSpPr>
        <p:spPr>
          <a:xfrm>
            <a:off x="6783114" y="5283030"/>
            <a:ext cx="1522686" cy="66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next term in the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166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6" grpId="0" animBg="1"/>
      <p:bldP spid="20" grpId="0"/>
      <p:bldP spid="55" grpId="0"/>
      <p:bldP spid="58" grpId="0"/>
      <p:bldP spid="59" grpId="0"/>
      <p:bldP spid="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4630082" y="1438616"/>
            <a:ext cx="1143000" cy="3657600"/>
            <a:chOff x="533400" y="1473029"/>
            <a:chExt cx="1143000" cy="3657600"/>
          </a:xfrm>
        </p:grpSpPr>
        <p:sp>
          <p:nvSpPr>
            <p:cNvPr id="46" name="Rectangle 45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33400" y="1473029"/>
              <a:ext cx="228600" cy="3657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057400" y="3279706"/>
            <a:ext cx="1143000" cy="1828800"/>
            <a:chOff x="762000" y="3301829"/>
            <a:chExt cx="1143000" cy="1828800"/>
          </a:xfrm>
        </p:grpSpPr>
        <p:sp>
          <p:nvSpPr>
            <p:cNvPr id="40" name="Rectangle 39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676400" y="5009033"/>
              <a:ext cx="228600" cy="1188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Geometric 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BADE50-950A-4D58-BFB2-FA2C6A8B38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series multiplied by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blipFill>
                <a:blip r:embed="rId2"/>
                <a:stretch>
                  <a:fillRect l="-2516" t="-192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4616448" y="5345328"/>
            <a:ext cx="201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series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6537" y="5359229"/>
            <a:ext cx="157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first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/>
          <p:cNvGrpSpPr/>
          <p:nvPr/>
        </p:nvGrpSpPr>
        <p:grpSpPr>
          <a:xfrm>
            <a:off x="2057400" y="3276600"/>
            <a:ext cx="1143000" cy="1828800"/>
            <a:chOff x="762000" y="3301829"/>
            <a:chExt cx="1143000" cy="1828800"/>
          </a:xfrm>
        </p:grpSpPr>
        <p:sp>
          <p:nvSpPr>
            <p:cNvPr id="34" name="Rectangle 33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676400" y="5009033"/>
              <a:ext cx="228600" cy="1188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630082" y="1438616"/>
            <a:ext cx="1143000" cy="3657600"/>
            <a:chOff x="533400" y="1473029"/>
            <a:chExt cx="1143000" cy="3657600"/>
          </a:xfrm>
        </p:grpSpPr>
        <p:sp>
          <p:nvSpPr>
            <p:cNvPr id="52" name="Rectangle 51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33400" y="1473029"/>
              <a:ext cx="228600" cy="36576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8" name="Rectangle 57"/>
          <p:cNvSpPr/>
          <p:nvPr/>
        </p:nvSpPr>
        <p:spPr>
          <a:xfrm>
            <a:off x="7391400" y="5011757"/>
            <a:ext cx="228600" cy="1188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372600" y="1447800"/>
            <a:ext cx="228600" cy="36576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783114" y="5283030"/>
            <a:ext cx="1522686" cy="66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next term in the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679733" y="1463695"/>
                <a:ext cx="150951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1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33" y="1463695"/>
                <a:ext cx="1509516" cy="584775"/>
              </a:xfrm>
              <a:prstGeom prst="rect">
                <a:avLst/>
              </a:prstGeom>
              <a:blipFill rotWithShape="1">
                <a:blip r:embed="rId10"/>
                <a:stretch>
                  <a:fillRect l="-10526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/>
          <p:cNvSpPr/>
          <p:nvPr/>
        </p:nvSpPr>
        <p:spPr>
          <a:xfrm rot="16200000">
            <a:off x="5329359" y="2124934"/>
            <a:ext cx="437983" cy="82277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586700" y="6488668"/>
            <a:ext cx="196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 for the series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785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20" grpId="0"/>
      <p:bldP spid="30" grpId="0"/>
      <p:bldP spid="31" grpId="0"/>
      <p:bldP spid="58" grpId="0" animBg="1"/>
      <p:bldP spid="59" grpId="0" animBg="1"/>
      <p:bldP spid="6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dirty="0"/>
              <a:t>Keys must be comparable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</p:spTree>
    <p:extLst>
      <p:ext uri="{BB962C8B-B14F-4D97-AF65-F5344CB8AC3E}">
        <p14:creationId xmlns:p14="http://schemas.microsoft.com/office/powerpoint/2010/main" val="3568956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CFD5-6174-1FD7-60B7-64E10B65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attempts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31404319"/>
                  </p:ext>
                </p:extLst>
              </p:nvPr>
            </p:nvGraphicFramePr>
            <p:xfrm>
              <a:off x="1485900" y="1988820"/>
              <a:ext cx="9220199" cy="3931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</a:t>
                          </a:r>
                        </a:p>
                        <a:p>
                          <a:r>
                            <a:rPr lang="en-US" sz="2100" dirty="0"/>
                            <a:t>(worst)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(expected)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31404319"/>
                  </p:ext>
                </p:extLst>
              </p:nvPr>
            </p:nvGraphicFramePr>
            <p:xfrm>
              <a:off x="1485900" y="1988820"/>
              <a:ext cx="9220199" cy="3931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791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791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7910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6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6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67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5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5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5895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48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48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480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05882" r="-223975" b="-38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05882" r="-139865" b="-38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05882" r="-976" b="-380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</a:t>
                          </a:r>
                        </a:p>
                        <a:p>
                          <a:r>
                            <a:rPr lang="en-US" sz="2100" dirty="0"/>
                            <a:t>(worst)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43333" r="-223975" b="-11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43333" r="-139865" b="-11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43333" r="-976" b="-11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(expected)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43333" r="-223975" b="-1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43333" r="-139865" b="-1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43333" r="-976" b="-1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79687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AF19-ADB0-CEDA-E499-060E3A41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Tree “Vocab”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F1423-9B9F-8928-7B3D-7CF5E1C30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398" y="180459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Traversal:</a:t>
            </a:r>
          </a:p>
          <a:p>
            <a:pPr lvl="1"/>
            <a:r>
              <a:rPr lang="en-US" dirty="0"/>
              <a:t>An algorithm for “visiting/processing” every node in a tree</a:t>
            </a:r>
          </a:p>
          <a:p>
            <a:r>
              <a:rPr lang="en-US" dirty="0"/>
              <a:t>Pre-Order Traversal:</a:t>
            </a:r>
          </a:p>
          <a:p>
            <a:pPr lvl="1"/>
            <a:r>
              <a:rPr lang="en-US" dirty="0"/>
              <a:t>Root, Left Subtree, Right Subtree</a:t>
            </a:r>
          </a:p>
          <a:p>
            <a:pPr lvl="1"/>
            <a:r>
              <a:rPr lang="en-US" dirty="0"/>
              <a:t>D U S 2 B</a:t>
            </a:r>
          </a:p>
          <a:p>
            <a:r>
              <a:rPr lang="en-US" dirty="0"/>
              <a:t>In-Order Traversal:</a:t>
            </a:r>
          </a:p>
          <a:p>
            <a:pPr lvl="1"/>
            <a:r>
              <a:rPr lang="en-US" dirty="0"/>
              <a:t>Left Subtree, Root, Right Subtree</a:t>
            </a:r>
          </a:p>
          <a:p>
            <a:pPr lvl="1"/>
            <a:r>
              <a:rPr lang="en-US" dirty="0"/>
              <a:t>S U 2 D B</a:t>
            </a:r>
          </a:p>
          <a:p>
            <a:r>
              <a:rPr lang="en-US" dirty="0"/>
              <a:t>Post-Order Traversal</a:t>
            </a:r>
          </a:p>
          <a:p>
            <a:pPr lvl="1"/>
            <a:r>
              <a:rPr lang="en-US" dirty="0"/>
              <a:t>Left Subtree, Right Subtree, Root</a:t>
            </a:r>
          </a:p>
          <a:p>
            <a:pPr lvl="1"/>
            <a:r>
              <a:rPr lang="en-US" dirty="0"/>
              <a:t>S 2 U B D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871AA27-B709-68DB-ED61-5CFC34EE7535}"/>
              </a:ext>
            </a:extLst>
          </p:cNvPr>
          <p:cNvSpPr/>
          <p:nvPr/>
        </p:nvSpPr>
        <p:spPr>
          <a:xfrm>
            <a:off x="9921241" y="681037"/>
            <a:ext cx="688077" cy="688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90F0F4-CCA6-1F0F-2E8C-1EA305114FE8}"/>
              </a:ext>
            </a:extLst>
          </p:cNvPr>
          <p:cNvSpPr/>
          <p:nvPr/>
        </p:nvSpPr>
        <p:spPr>
          <a:xfrm>
            <a:off x="8930641" y="1382252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07A1F2-30F9-729B-1528-91EAFB4D1467}"/>
              </a:ext>
            </a:extLst>
          </p:cNvPr>
          <p:cNvSpPr/>
          <p:nvPr/>
        </p:nvSpPr>
        <p:spPr>
          <a:xfrm>
            <a:off x="10941446" y="1424116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3BEA08-669E-B443-72F8-BA5F0CEEB896}"/>
              </a:ext>
            </a:extLst>
          </p:cNvPr>
          <p:cNvSpPr/>
          <p:nvPr/>
        </p:nvSpPr>
        <p:spPr>
          <a:xfrm>
            <a:off x="8321041" y="2351492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1BE23D9-06E9-66F6-B04D-AE64602081C5}"/>
              </a:ext>
            </a:extLst>
          </p:cNvPr>
          <p:cNvSpPr/>
          <p:nvPr/>
        </p:nvSpPr>
        <p:spPr>
          <a:xfrm>
            <a:off x="9464041" y="2351492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00C509-5697-D96D-ED44-6AF53EE8DA7A}"/>
              </a:ext>
            </a:extLst>
          </p:cNvPr>
          <p:cNvCxnSpPr>
            <a:stCxn id="6" idx="1"/>
            <a:endCxn id="4" idx="5"/>
          </p:cNvCxnSpPr>
          <p:nvPr/>
        </p:nvCxnSpPr>
        <p:spPr>
          <a:xfrm flipH="1" flipV="1">
            <a:off x="10508550" y="1268346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22C071-DF0C-D512-68A9-B941D1228586}"/>
              </a:ext>
            </a:extLst>
          </p:cNvPr>
          <p:cNvCxnSpPr>
            <a:stCxn id="5" idx="7"/>
            <a:endCxn id="4" idx="3"/>
          </p:cNvCxnSpPr>
          <p:nvPr/>
        </p:nvCxnSpPr>
        <p:spPr>
          <a:xfrm flipV="1">
            <a:off x="9517951" y="1268346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9E9506-B816-4FDB-6488-95FEF0DA2885}"/>
              </a:ext>
            </a:extLst>
          </p:cNvPr>
          <p:cNvCxnSpPr>
            <a:stCxn id="8" idx="0"/>
            <a:endCxn id="5" idx="5"/>
          </p:cNvCxnSpPr>
          <p:nvPr/>
        </p:nvCxnSpPr>
        <p:spPr>
          <a:xfrm flipH="1" flipV="1">
            <a:off x="9517951" y="1969561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CC884B-01B4-13C8-F936-0590B4EE303A}"/>
              </a:ext>
            </a:extLst>
          </p:cNvPr>
          <p:cNvCxnSpPr>
            <a:stCxn id="7" idx="0"/>
            <a:endCxn id="5" idx="3"/>
          </p:cNvCxnSpPr>
          <p:nvPr/>
        </p:nvCxnSpPr>
        <p:spPr>
          <a:xfrm flipV="1">
            <a:off x="8665079" y="1969561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747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A41BB-3D3E-2892-1138-23936D22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that Traversal!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185F3B-810A-B300-B3D1-DB07A7B7626D}"/>
              </a:ext>
            </a:extLst>
          </p:cNvPr>
          <p:cNvSpPr txBox="1"/>
          <p:nvPr/>
        </p:nvSpPr>
        <p:spPr>
          <a:xfrm>
            <a:off x="0" y="1828800"/>
            <a:ext cx="40453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/>
              </a:rPr>
              <a:t>aO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aOrder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aOrder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process(root);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D21AD2-233A-B15D-281E-50F6C7B8EB57}"/>
              </a:ext>
            </a:extLst>
          </p:cNvPr>
          <p:cNvSpPr txBox="1"/>
          <p:nvPr/>
        </p:nvSpPr>
        <p:spPr>
          <a:xfrm>
            <a:off x="4045337" y="1822768"/>
            <a:ext cx="40453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/>
              </a:rPr>
              <a:t>bO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process(root);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bOrder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bOrder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1AC02A-AE8D-56FD-438A-B6623B7BE486}"/>
              </a:ext>
            </a:extLst>
          </p:cNvPr>
          <p:cNvSpPr txBox="1"/>
          <p:nvPr/>
        </p:nvSpPr>
        <p:spPr>
          <a:xfrm>
            <a:off x="8146664" y="1822768"/>
            <a:ext cx="40453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/>
              </a:rPr>
              <a:t>cO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cOrder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process(root)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cOrder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6215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48BB-B56B-36E0-7326-ADA3ADE2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4A80B-311C-19A6-D18C-3A100EA2E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that Traversal!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73BAB-BB1B-BF4D-750F-E30327D374F1}"/>
              </a:ext>
            </a:extLst>
          </p:cNvPr>
          <p:cNvSpPr txBox="1"/>
          <p:nvPr/>
        </p:nvSpPr>
        <p:spPr>
          <a:xfrm>
            <a:off x="0" y="1828800"/>
            <a:ext cx="437164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/>
              </a:rPr>
              <a:t>postOrder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postOrder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postOrder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process(root);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7933E-EFBA-7E93-1FBD-2601BF5A7842}"/>
              </a:ext>
            </a:extLst>
          </p:cNvPr>
          <p:cNvSpPr txBox="1"/>
          <p:nvPr/>
        </p:nvSpPr>
        <p:spPr>
          <a:xfrm>
            <a:off x="4045337" y="1822768"/>
            <a:ext cx="426693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/>
              </a:rPr>
              <a:t>preO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process(root);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preOrder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preOrder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07ED3-A022-F7B3-179D-AD8F23CB6DF1}"/>
              </a:ext>
            </a:extLst>
          </p:cNvPr>
          <p:cNvSpPr txBox="1"/>
          <p:nvPr/>
        </p:nvSpPr>
        <p:spPr>
          <a:xfrm>
            <a:off x="8146664" y="1822768"/>
            <a:ext cx="41116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/>
              </a:rPr>
              <a:t>inO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inOrder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process(root)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inOrder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4413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2B5E9-06A8-32A2-7716-F22B52B4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B297E-7EE5-3C68-FD59-6C568325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7763"/>
            <a:ext cx="10515600" cy="4351338"/>
          </a:xfrm>
        </p:spPr>
        <p:txBody>
          <a:bodyPr/>
          <a:lstStyle/>
          <a:p>
            <a:r>
              <a:rPr lang="en-US" dirty="0"/>
              <a:t>Binary Tree</a:t>
            </a:r>
          </a:p>
          <a:p>
            <a:pPr lvl="1"/>
            <a:r>
              <a:rPr lang="en-US" dirty="0"/>
              <a:t>Definition:</a:t>
            </a:r>
          </a:p>
          <a:p>
            <a:pPr lvl="2"/>
            <a:r>
              <a:rPr lang="en-US" dirty="0"/>
              <a:t>Tree where each node has at most 2 children</a:t>
            </a:r>
          </a:p>
          <a:p>
            <a:r>
              <a:rPr lang="en-US" dirty="0"/>
              <a:t>Order Property</a:t>
            </a:r>
          </a:p>
          <a:p>
            <a:pPr lvl="1"/>
            <a:r>
              <a:rPr lang="en-US" dirty="0"/>
              <a:t>All keys in the left subtree are smaller than the root</a:t>
            </a:r>
          </a:p>
          <a:p>
            <a:pPr lvl="1"/>
            <a:r>
              <a:rPr lang="en-US" dirty="0"/>
              <a:t>All keys in the right subtree are larger than the root</a:t>
            </a:r>
          </a:p>
          <a:p>
            <a:pPr lvl="1"/>
            <a:r>
              <a:rPr lang="en-US" dirty="0"/>
              <a:t>Consequence: cannot have repeated values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71E9C4-A101-FA4C-0659-721A14214FB9}"/>
              </a:ext>
            </a:extLst>
          </p:cNvPr>
          <p:cNvGrpSpPr/>
          <p:nvPr/>
        </p:nvGrpSpPr>
        <p:grpSpPr>
          <a:xfrm>
            <a:off x="5719609" y="-50800"/>
            <a:ext cx="6172672" cy="2998788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7790789-87A7-46C0-EA6C-2277D13D78EE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A295B32-4297-8096-ECFD-F8DF78979C08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BB6D470-F748-CAA2-B85B-F5670795C1A8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D716C2-27E6-7E2D-7139-2D180A5286B4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18C3C5-E267-10AD-79B8-85A8152A145D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E710BDE-CE64-A054-63A0-910654063B2A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3D2F92E-73DC-0C75-E9E1-B514E3CDE03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CB0BCFA-A5E6-EA50-A0E5-4E556987C546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F4C1969-2C20-D8A3-AF4D-89148C62640C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A44E483-8BEE-9320-2C66-83FC9EA0B1AE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371AA0-D30E-E312-E5A8-C884765372F5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3C3A7-61D8-70EC-4EEE-3D6FE811705B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13F9A90-2C43-EFB7-CB66-282BFFEA2185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EEC53A-1AFB-D890-5A14-FFCEFA2A15B8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BA74E8D-B454-F5F2-6149-D711F44D4890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2211060-D69A-92CF-3F0C-77A1BD53CDBE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0372726-C603-E467-D286-87E153C707A7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9884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F6548-9D98-39FE-74B0-AE28060A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these BSTs?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E5AD0C-4A2B-9A16-4E21-6AB1559EA083}"/>
              </a:ext>
            </a:extLst>
          </p:cNvPr>
          <p:cNvGrpSpPr/>
          <p:nvPr/>
        </p:nvGrpSpPr>
        <p:grpSpPr>
          <a:xfrm>
            <a:off x="200248" y="1567009"/>
            <a:ext cx="4036614" cy="2762801"/>
            <a:chOff x="131609" y="2379747"/>
            <a:chExt cx="4036614" cy="276280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16A6EC8-5DF8-4AA2-99AA-01038135CE44}"/>
                </a:ext>
              </a:extLst>
            </p:cNvPr>
            <p:cNvSpPr/>
            <p:nvPr/>
          </p:nvSpPr>
          <p:spPr>
            <a:xfrm>
              <a:off x="2259363" y="2379747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9805804-F2DC-C6FD-B8E9-574ACB44AD21}"/>
                </a:ext>
              </a:extLst>
            </p:cNvPr>
            <p:cNvSpPr/>
            <p:nvPr/>
          </p:nvSpPr>
          <p:spPr>
            <a:xfrm>
              <a:off x="1556072" y="3043035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2B5938-265F-ABFC-25F4-5D8918243D7E}"/>
                </a:ext>
              </a:extLst>
            </p:cNvPr>
            <p:cNvSpPr/>
            <p:nvPr/>
          </p:nvSpPr>
          <p:spPr>
            <a:xfrm>
              <a:off x="2943201" y="3007475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FF0C916-C4B6-92D6-8494-EA5DFFA91B3D}"/>
                </a:ext>
              </a:extLst>
            </p:cNvPr>
            <p:cNvSpPr/>
            <p:nvPr/>
          </p:nvSpPr>
          <p:spPr>
            <a:xfrm>
              <a:off x="820352" y="379936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91AC77-7F7D-F3E6-C149-208F5C5970A9}"/>
                </a:ext>
              </a:extLst>
            </p:cNvPr>
            <p:cNvSpPr/>
            <p:nvPr/>
          </p:nvSpPr>
          <p:spPr>
            <a:xfrm>
              <a:off x="3555712" y="3697555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C1FA898-5F86-702E-BACF-23EAF0ED22D9}"/>
                </a:ext>
              </a:extLst>
            </p:cNvPr>
            <p:cNvSpPr/>
            <p:nvPr/>
          </p:nvSpPr>
          <p:spPr>
            <a:xfrm>
              <a:off x="131609" y="4530037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BF02345-0F06-9D9F-427F-6826149A089F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2078883" y="2902558"/>
              <a:ext cx="270180" cy="230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FF37D10-ECAB-4C4B-8186-21080F7EB02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2782174" y="2902558"/>
              <a:ext cx="250727" cy="1946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3B40EF5-F8EE-E10F-696D-062B8556F3FC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1343163" y="3565846"/>
              <a:ext cx="302609" cy="3232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4C5E63E-B3AA-4E99-B718-95F43830258A}"/>
                </a:ext>
              </a:extLst>
            </p:cNvPr>
            <p:cNvCxnSpPr>
              <a:cxnSpLocks/>
              <a:stCxn id="12" idx="7"/>
              <a:endCxn id="8" idx="3"/>
            </p:cNvCxnSpPr>
            <p:nvPr/>
          </p:nvCxnSpPr>
          <p:spPr>
            <a:xfrm flipV="1">
              <a:off x="654420" y="4322171"/>
              <a:ext cx="255632" cy="2975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5BC7B60-9565-522D-D281-1C17537B9FCE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3466012" y="3530286"/>
              <a:ext cx="179400" cy="2569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0884F94-B209-66BE-9805-70530BB7643C}"/>
              </a:ext>
            </a:extLst>
          </p:cNvPr>
          <p:cNvGrpSpPr/>
          <p:nvPr/>
        </p:nvGrpSpPr>
        <p:grpSpPr>
          <a:xfrm>
            <a:off x="6758024" y="2938268"/>
            <a:ext cx="3877904" cy="3796337"/>
            <a:chOff x="41909" y="1095926"/>
            <a:chExt cx="3877904" cy="379633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48C104B-2AC3-76E9-2B47-DAB7FCAFA33F}"/>
                </a:ext>
              </a:extLst>
            </p:cNvPr>
            <p:cNvSpPr/>
            <p:nvPr/>
          </p:nvSpPr>
          <p:spPr>
            <a:xfrm>
              <a:off x="2032627" y="237198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9204F87-3913-03CF-D0FF-35DB4BAA0656}"/>
                </a:ext>
              </a:extLst>
            </p:cNvPr>
            <p:cNvSpPr/>
            <p:nvPr/>
          </p:nvSpPr>
          <p:spPr>
            <a:xfrm>
              <a:off x="1339516" y="302554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7C5F20C-29FD-AE0D-F4C5-50410235796D}"/>
                </a:ext>
              </a:extLst>
            </p:cNvPr>
            <p:cNvSpPr/>
            <p:nvPr/>
          </p:nvSpPr>
          <p:spPr>
            <a:xfrm>
              <a:off x="2694793" y="1728962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8EF4C2-E99D-433A-7E38-FD10C7AE2AA5}"/>
                </a:ext>
              </a:extLst>
            </p:cNvPr>
            <p:cNvSpPr/>
            <p:nvPr/>
          </p:nvSpPr>
          <p:spPr>
            <a:xfrm>
              <a:off x="674261" y="3667241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766E27F-8D6C-3E0B-4F79-2A655295B958}"/>
                </a:ext>
              </a:extLst>
            </p:cNvPr>
            <p:cNvSpPr/>
            <p:nvPr/>
          </p:nvSpPr>
          <p:spPr>
            <a:xfrm>
              <a:off x="3307302" y="1095926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4C4440-F81A-3A7F-27E9-725F1CAA06F4}"/>
                </a:ext>
              </a:extLst>
            </p:cNvPr>
            <p:cNvSpPr/>
            <p:nvPr/>
          </p:nvSpPr>
          <p:spPr>
            <a:xfrm>
              <a:off x="41909" y="4279752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7012BB1-0ABB-B4AD-2F57-9C1110B619BB}"/>
                </a:ext>
              </a:extLst>
            </p:cNvPr>
            <p:cNvCxnSpPr>
              <a:cxnSpLocks/>
              <a:stCxn id="25" idx="3"/>
              <a:endCxn id="26" idx="7"/>
            </p:cNvCxnSpPr>
            <p:nvPr/>
          </p:nvCxnSpPr>
          <p:spPr>
            <a:xfrm flipH="1">
              <a:off x="1862327" y="2894791"/>
              <a:ext cx="260000" cy="220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783DAE3-3D5D-15E4-B689-776BBAEF2CA2}"/>
                </a:ext>
              </a:extLst>
            </p:cNvPr>
            <p:cNvCxnSpPr>
              <a:cxnSpLocks/>
              <a:stCxn id="25" idx="7"/>
              <a:endCxn id="27" idx="3"/>
            </p:cNvCxnSpPr>
            <p:nvPr/>
          </p:nvCxnSpPr>
          <p:spPr>
            <a:xfrm flipV="1">
              <a:off x="2555438" y="2251773"/>
              <a:ext cx="229055" cy="20990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5E6B326-F8D7-83A0-7746-675AF1939561}"/>
                </a:ext>
              </a:extLst>
            </p:cNvPr>
            <p:cNvCxnSpPr>
              <a:stCxn id="28" idx="7"/>
              <a:endCxn id="26" idx="3"/>
            </p:cNvCxnSpPr>
            <p:nvPr/>
          </p:nvCxnSpPr>
          <p:spPr>
            <a:xfrm flipV="1">
              <a:off x="1197072" y="3548353"/>
              <a:ext cx="232144" cy="208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325648F-1B77-2F45-09C7-4D83E88B0D3C}"/>
                </a:ext>
              </a:extLst>
            </p:cNvPr>
            <p:cNvCxnSpPr>
              <a:cxnSpLocks/>
              <a:stCxn id="30" idx="7"/>
              <a:endCxn id="28" idx="3"/>
            </p:cNvCxnSpPr>
            <p:nvPr/>
          </p:nvCxnSpPr>
          <p:spPr>
            <a:xfrm flipV="1">
              <a:off x="564720" y="4190052"/>
              <a:ext cx="199241" cy="179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518FA16-BC35-AB0B-3154-ED1E47669354}"/>
                </a:ext>
              </a:extLst>
            </p:cNvPr>
            <p:cNvCxnSpPr>
              <a:cxnSpLocks/>
              <a:stCxn id="29" idx="3"/>
              <a:endCxn id="27" idx="7"/>
            </p:cNvCxnSpPr>
            <p:nvPr/>
          </p:nvCxnSpPr>
          <p:spPr>
            <a:xfrm flipH="1">
              <a:off x="3217604" y="1618737"/>
              <a:ext cx="179398" cy="1999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DE8E303-07A5-0FEA-D6A9-AA75413C8B43}"/>
              </a:ext>
            </a:extLst>
          </p:cNvPr>
          <p:cNvGrpSpPr/>
          <p:nvPr/>
        </p:nvGrpSpPr>
        <p:grpSpPr>
          <a:xfrm>
            <a:off x="5894880" y="334374"/>
            <a:ext cx="4036614" cy="2762801"/>
            <a:chOff x="5413263" y="1203158"/>
            <a:chExt cx="4036614" cy="2762801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DE93E5E-47AF-DA70-5553-9B15F4248E19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0D95083-1032-E089-E0A6-2DDC0645E5CD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540CD5BB-759D-9930-59D7-E866E894F84D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AFB0B45-1D09-7FB3-2584-B1C055243DC8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E7364C8-CE67-2CDD-F323-1DB8BA6ED0FC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7B236FA-64A2-FF24-C027-2E1851FDA694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469DE87-EE49-BE73-3F23-F86634871488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3B9DA36-B4DF-1C20-A4FD-670899389501}"/>
                  </a:ext>
                </a:extLst>
              </p:cNvPr>
              <p:cNvCxnSpPr>
                <a:cxnSpLocks/>
                <a:stCxn id="58" idx="3"/>
                <a:endCxn id="5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5C94700-070A-B561-8ADC-5D4F8C148F03}"/>
                  </a:ext>
                </a:extLst>
              </p:cNvPr>
              <p:cNvCxnSpPr>
                <a:cxnSpLocks/>
                <a:stCxn id="58" idx="5"/>
                <a:endCxn id="6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A3319A1F-7FEA-B5E1-183D-B46A7BD98F7A}"/>
                  </a:ext>
                </a:extLst>
              </p:cNvPr>
              <p:cNvCxnSpPr>
                <a:stCxn id="61" idx="7"/>
                <a:endCxn id="5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FDEE638-D040-5710-1D02-39AA593813D4}"/>
                  </a:ext>
                </a:extLst>
              </p:cNvPr>
              <p:cNvCxnSpPr>
                <a:cxnSpLocks/>
                <a:stCxn id="63" idx="7"/>
                <a:endCxn id="6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4BFAE1A-394A-A2F5-3B40-B82D2E654900}"/>
                  </a:ext>
                </a:extLst>
              </p:cNvPr>
              <p:cNvCxnSpPr>
                <a:stCxn id="62" idx="1"/>
                <a:endCxn id="6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FA0846D-5821-0C57-9E29-76E3C1337D8F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250BAC-0A03-1B48-1E20-909F0F10479D}"/>
                </a:ext>
              </a:extLst>
            </p:cNvPr>
            <p:cNvCxnSpPr>
              <a:cxnSpLocks/>
              <a:stCxn id="69" idx="1"/>
              <a:endCxn id="5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BACDE4A-98B0-022C-87D8-15AEA4022316}"/>
              </a:ext>
            </a:extLst>
          </p:cNvPr>
          <p:cNvGrpSpPr/>
          <p:nvPr/>
        </p:nvGrpSpPr>
        <p:grpSpPr>
          <a:xfrm>
            <a:off x="2376685" y="3800627"/>
            <a:ext cx="4036614" cy="2762801"/>
            <a:chOff x="5413263" y="1203158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CEFED0A-5C34-B6F0-549E-4E88321F4178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1714744-621D-F5E0-3846-0DE7B9124DEE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E982F01-E273-B8BE-B119-E2CC24AD004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860A6C0-91DB-9D6E-4E29-D2DA63F0461F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5ED5B8-C63A-1E80-38DD-8981EBB048FF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1801A08-6C6E-24D9-1F1A-23D7CC5BB202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A063D3F-1277-6121-2D74-062102099201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21B54F0-6F9E-6234-A5A1-BF7815089EA1}"/>
                  </a:ext>
                </a:extLst>
              </p:cNvPr>
              <p:cNvCxnSpPr>
                <a:cxnSpLocks/>
                <a:stCxn id="13" idx="3"/>
                <a:endCxn id="16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5AF691C-C423-88A5-793D-69792CD41AA7}"/>
                  </a:ext>
                </a:extLst>
              </p:cNvPr>
              <p:cNvCxnSpPr>
                <a:cxnSpLocks/>
                <a:stCxn id="13" idx="5"/>
                <a:endCxn id="18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50A1733-3E9B-E375-CD65-075CED3234CA}"/>
                  </a:ext>
                </a:extLst>
              </p:cNvPr>
              <p:cNvCxnSpPr>
                <a:stCxn id="20" idx="7"/>
                <a:endCxn id="16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397CF2A-3C8F-10A1-2382-29256DF9A85E}"/>
                  </a:ext>
                </a:extLst>
              </p:cNvPr>
              <p:cNvCxnSpPr>
                <a:cxnSpLocks/>
                <a:stCxn id="36" idx="7"/>
                <a:endCxn id="20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EDE9409-B167-DA3A-92F3-63FF2E4C3C11}"/>
                  </a:ext>
                </a:extLst>
              </p:cNvPr>
              <p:cNvCxnSpPr>
                <a:stCxn id="22" idx="1"/>
                <a:endCxn id="18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9CB6E68-1D64-B8A9-6FEF-CE6C62F71FBC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59C2F0-D084-076D-73BD-249FCD714F8D}"/>
                </a:ext>
              </a:extLst>
            </p:cNvPr>
            <p:cNvCxnSpPr>
              <a:cxnSpLocks/>
              <a:stCxn id="9" idx="1"/>
              <a:endCxn id="16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5263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B08E2-751D-F879-3C45-BB45A6036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Why not use an array?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5E47A-18BE-FF51-7E6C-F3393F2D65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represented a heap using an array, finding children/parents by index</a:t>
                </a:r>
              </a:p>
              <a:p>
                <a:r>
                  <a:rPr lang="en-US" dirty="0"/>
                  <a:t>We will represent BSTs with nodes and references. Why?</a:t>
                </a:r>
              </a:p>
              <a:p>
                <a:pPr lvl="1"/>
                <a:r>
                  <a:rPr lang="en-US" dirty="0"/>
                  <a:t>We might have “gaps” in our tree</a:t>
                </a:r>
              </a:p>
              <a:p>
                <a:pPr lvl="1"/>
                <a:r>
                  <a:rPr lang="en-US" dirty="0"/>
                  <a:t>Memory!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5E47A-18BE-FF51-7E6C-F3393F2D65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920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Operation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4863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find(key, root){</a:t>
            </a:r>
          </a:p>
          <a:p>
            <a:pPr marL="0" indent="0">
              <a:buNone/>
            </a:pPr>
            <a:r>
              <a:rPr lang="en-US" dirty="0"/>
              <a:t>	if (root == Null){</a:t>
            </a:r>
          </a:p>
          <a:p>
            <a:pPr marL="0" indent="0">
              <a:buNone/>
            </a:pPr>
            <a:r>
              <a:rPr lang="en-US" dirty="0"/>
              <a:t>		return Null;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if (key ==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</a:t>
            </a:r>
            <a:r>
              <a:rPr lang="en-US" dirty="0" err="1"/>
              <a:t>root.value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(key &lt;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find(key,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(key &gt;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find(key,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return Null;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771352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0917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4863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find(key, root){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root = </a:t>
            </a:r>
            <a:r>
              <a:rPr lang="en-US" dirty="0" err="1"/>
              <a:t>root.left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root = </a:t>
            </a:r>
            <a:r>
              <a:rPr lang="en-US" dirty="0" err="1"/>
              <a:t>root.right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== Null){</a:t>
            </a:r>
          </a:p>
          <a:p>
            <a:pPr marL="0" indent="0">
              <a:buNone/>
            </a:pPr>
            <a:r>
              <a:rPr lang="en-US" dirty="0"/>
              <a:t>		return Null;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root.value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771352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6835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Insert Operation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insert(key, value, root){</a:t>
            </a:r>
          </a:p>
          <a:p>
            <a:pPr marL="0" indent="0">
              <a:buNone/>
            </a:pPr>
            <a:r>
              <a:rPr lang="en-US" dirty="0"/>
              <a:t>	root = </a:t>
            </a:r>
            <a:r>
              <a:rPr lang="en-US" dirty="0" err="1"/>
              <a:t>insertHelper</a:t>
            </a:r>
            <a:r>
              <a:rPr lang="en-US" dirty="0"/>
              <a:t>(key, value, root);	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insertHelper</a:t>
            </a:r>
            <a:r>
              <a:rPr lang="en-US" dirty="0"/>
              <a:t>(key, value, root){</a:t>
            </a:r>
          </a:p>
          <a:p>
            <a:pPr marL="0" indent="0">
              <a:buNone/>
            </a:pPr>
            <a:r>
              <a:rPr lang="en-US" dirty="0"/>
              <a:t>	if(root == null)</a:t>
            </a:r>
          </a:p>
          <a:p>
            <a:pPr marL="0" indent="0">
              <a:buNone/>
            </a:pPr>
            <a:r>
              <a:rPr lang="en-US" dirty="0"/>
              <a:t>		return new Node(key, value);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&lt; key)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root.right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else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root.left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return root;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28BCDDF-B493-4857-C77E-F1CA84F2DE5D}"/>
              </a:ext>
            </a:extLst>
          </p:cNvPr>
          <p:cNvSpPr txBox="1"/>
          <p:nvPr/>
        </p:nvSpPr>
        <p:spPr>
          <a:xfrm>
            <a:off x="6956564" y="6312842"/>
            <a:ext cx="516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Insert happens only at the leaves!</a:t>
            </a:r>
          </a:p>
        </p:txBody>
      </p:sp>
    </p:spTree>
    <p:extLst>
      <p:ext uri="{BB962C8B-B14F-4D97-AF65-F5344CB8AC3E}">
        <p14:creationId xmlns:p14="http://schemas.microsoft.com/office/powerpoint/2010/main" val="2267298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Insert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insert(key, value, root){</a:t>
            </a:r>
          </a:p>
          <a:p>
            <a:pPr marL="0" indent="0">
              <a:buNone/>
            </a:pPr>
            <a:r>
              <a:rPr lang="en-US" dirty="0"/>
              <a:t>	if (root == Null){ </a:t>
            </a:r>
            <a:r>
              <a:rPr lang="en-US" dirty="0" err="1"/>
              <a:t>this.root</a:t>
            </a:r>
            <a:r>
              <a:rPr lang="en-US" dirty="0"/>
              <a:t> = new Node(key, value); }</a:t>
            </a:r>
          </a:p>
          <a:p>
            <a:pPr marL="0" indent="0">
              <a:buNone/>
            </a:pPr>
            <a:r>
              <a:rPr lang="en-US" dirty="0"/>
              <a:t>	parent = Null;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parent = root;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root.left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root.right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!= Null){ </a:t>
            </a:r>
            <a:r>
              <a:rPr lang="en-US" dirty="0" err="1"/>
              <a:t>root.value</a:t>
            </a:r>
            <a:r>
              <a:rPr lang="en-US" dirty="0"/>
              <a:t> = value; }</a:t>
            </a:r>
          </a:p>
          <a:p>
            <a:pPr marL="0" indent="0">
              <a:buNone/>
            </a:pPr>
            <a:r>
              <a:rPr lang="en-US" dirty="0"/>
              <a:t>	else if (key &lt; </a:t>
            </a:r>
            <a:r>
              <a:rPr lang="en-US" dirty="0" err="1"/>
              <a:t>parent.key</a:t>
            </a:r>
            <a:r>
              <a:rPr lang="en-US" dirty="0"/>
              <a:t>){ </a:t>
            </a:r>
            <a:r>
              <a:rPr lang="en-US" dirty="0" err="1"/>
              <a:t>parent.left</a:t>
            </a:r>
            <a:r>
              <a:rPr lang="en-US" dirty="0"/>
              <a:t> = new Node(key, value); }</a:t>
            </a:r>
          </a:p>
          <a:p>
            <a:pPr marL="0" indent="0">
              <a:buNone/>
            </a:pPr>
            <a:r>
              <a:rPr lang="en-US" dirty="0"/>
              <a:t>	else{ </a:t>
            </a:r>
            <a:r>
              <a:rPr lang="en-US" dirty="0" err="1"/>
              <a:t>parent.right</a:t>
            </a:r>
            <a:r>
              <a:rPr lang="en-US" dirty="0"/>
              <a:t> = new Node (key, value);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28BCDDF-B493-4857-C77E-F1CA84F2DE5D}"/>
              </a:ext>
            </a:extLst>
          </p:cNvPr>
          <p:cNvSpPr txBox="1"/>
          <p:nvPr/>
        </p:nvSpPr>
        <p:spPr>
          <a:xfrm>
            <a:off x="6956564" y="6312842"/>
            <a:ext cx="516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Insert happens only at the leaves!</a:t>
            </a:r>
          </a:p>
        </p:txBody>
      </p:sp>
    </p:spTree>
    <p:extLst>
      <p:ext uri="{BB962C8B-B14F-4D97-AF65-F5344CB8AC3E}">
        <p14:creationId xmlns:p14="http://schemas.microsoft.com/office/powerpoint/2010/main" val="3235347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Delete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delete(key, root){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root.left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root.right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== Null){ return; 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// Now root is the node to delete, what happens next?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4246F8-D514-89E9-07BE-E764FD3DDE5E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170735B-03F0-160D-23CF-0D614E00B4D4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1F936-94E3-B970-9075-7FDD968CD1F3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950B02B1-9B98-2BBC-8CE2-98986D25F159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375DB836-C24D-B0D7-C861-32998C858A21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0170677-49FE-DA4D-C375-3C8BA0C66CFA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434C13F0-4203-47AB-2431-B2ED32886F93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AFBCF91-BBF7-4271-9169-45F56648DD71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AC532E5-2A85-D663-8446-585A13F92E62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09125AD-9B5C-7493-9272-2F1DA89CE01F}"/>
                    </a:ext>
                  </a:extLst>
                </p:cNvPr>
                <p:cNvCxnSpPr>
                  <a:cxnSpLocks/>
                  <a:stCxn id="8" idx="3"/>
                  <a:endCxn id="9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593D686-AF2B-E9E1-76F6-D11031779EE4}"/>
                    </a:ext>
                  </a:extLst>
                </p:cNvPr>
                <p:cNvCxnSpPr>
                  <a:cxnSpLocks/>
                  <a:stCxn id="8" idx="5"/>
                  <a:endCxn id="10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7955860-35DB-B2E4-DCE1-B378FA7BC357}"/>
                    </a:ext>
                  </a:extLst>
                </p:cNvPr>
                <p:cNvCxnSpPr>
                  <a:stCxn id="11" idx="7"/>
                  <a:endCxn id="9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D523286C-EC12-D977-43D0-51802A0AC727}"/>
                    </a:ext>
                  </a:extLst>
                </p:cNvPr>
                <p:cNvCxnSpPr>
                  <a:cxnSpLocks/>
                  <a:stCxn id="13" idx="7"/>
                  <a:endCxn id="11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3623BC4-097B-A907-A1CC-F4A3083684DE}"/>
                    </a:ext>
                  </a:extLst>
                </p:cNvPr>
                <p:cNvCxnSpPr>
                  <a:stCxn id="12" idx="1"/>
                  <a:endCxn id="10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F637BB8-2207-4532-477F-45453B8D7C43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3B42508-3220-7F2F-F806-D6A321054F05}"/>
                  </a:ext>
                </a:extLst>
              </p:cNvPr>
              <p:cNvCxnSpPr>
                <a:cxnSpLocks/>
                <a:stCxn id="6" idx="1"/>
                <a:endCxn id="9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E3A21A5-2643-9862-95E7-21A8A8044617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A649D9-8400-9565-121B-970C2A8B192B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1C5561-F71C-BB55-B723-357F94648CC6}"/>
                </a:ext>
              </a:extLst>
            </p:cNvPr>
            <p:cNvCxnSpPr>
              <a:cxnSpLocks/>
              <a:stCxn id="20" idx="7"/>
              <a:endCxn id="6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E5CEB3B-8BE4-AFAA-1FF9-30DE6145E6CA}"/>
                </a:ext>
              </a:extLst>
            </p:cNvPr>
            <p:cNvCxnSpPr>
              <a:cxnSpLocks/>
              <a:stCxn id="21" idx="1"/>
              <a:endCxn id="6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5258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AF61-C0E9-5358-15F9-71C3896E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– 3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CEAC8-3204-C998-083A-0CA3CB38D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0 Children (i.e. it’s a leaf)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1 Child</a:t>
            </a:r>
          </a:p>
          <a:p>
            <a:pPr lvl="1"/>
            <a:r>
              <a:rPr lang="en-US" dirty="0"/>
              <a:t>Replace the deleted node with its child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 Children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Replace the deleted with the largest node to its left or else the smallest node to its right</a:t>
            </a: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AC3D59-3E05-191D-A7BF-6AC36E848F5B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333A002-A754-52F5-FA72-68624BE2C8D0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08219CE-3255-59E4-61D6-419B3BAFB9D7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2142312F-4523-0F4A-18D6-D202467C630B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EB78B0BF-9986-AD99-C54F-D7B175C1C6D9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7B86446-8709-F970-19FA-1560746A8F8B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12845EA2-0AD9-0332-93AD-E32D492ACF75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45DC21F3-A9FD-FEF7-D158-D2B83E668A9A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C2595E8C-ACCE-26C0-95A6-DF31D51FB635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B09B76C-5533-8CEE-1C8E-C13D430D6C0A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C6BA5A95-4800-75BA-5CE6-E383F92011EB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9AC4D699-B4C5-E5A7-F3D0-4965AD3CEF52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DBE01189-9D86-9F73-E90F-C51F6D57DB47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6CAF12A-D2DF-12A3-D54E-B3E2AADBEE87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D0412F1-A696-4E74-5C2D-01D272BC7D13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0FEBA68-EB7A-A625-123F-3DFEFE9705FD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46FB638-874C-F8CE-DA66-D385D2D1E610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rgbClr val="FF646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C35A3DD-4BC9-7373-F046-80248E667B84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A20141-63E4-638D-8E70-95A8CD7079FC}"/>
                </a:ext>
              </a:extLst>
            </p:cNvPr>
            <p:cNvCxnSpPr>
              <a:cxnSpLocks/>
              <a:stCxn id="6" idx="7"/>
              <a:endCxn id="11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9F92928-0AF8-46E7-0CF2-997221C964DA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2148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DD992-8A3B-FA6D-C215-0B6ED397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 and 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004EE-D13B-45D9-058D-3DB66EC3D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 of a BST:</a:t>
            </a:r>
          </a:p>
          <a:p>
            <a:pPr lvl="1"/>
            <a:r>
              <a:rPr lang="en-US" dirty="0"/>
              <a:t>Right-most Thing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Min of a BST:</a:t>
            </a:r>
          </a:p>
          <a:p>
            <a:pPr lvl="1"/>
            <a:r>
              <a:rPr lang="en-US" dirty="0"/>
              <a:t>Left-most Thing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BF0BCB-E919-4887-EA0E-2950E757CB98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9003D4F-20EE-2715-9BC2-D19DE4581AEE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68D83DF-C06D-6B78-1A7C-F817960D477A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CA2EDFBE-0A1B-19F2-557F-3B1A84B93183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55E32266-34D1-3723-EBDF-C9A36280C466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1D17E1C-7320-E465-2AF6-0DFBD16C3748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582C6223-5B81-9C2F-51F0-9A31796FD9C1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DE529F80-9D8C-AD5B-0003-47F0052FA1C6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3DB1C023-75B2-F46B-74A7-E40104367967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9B93E87A-6C9B-1D2C-C84A-2AA38EABAC4D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DE72BA0-DEC4-4371-557B-FD0A27B58A15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14E1AA9-03DC-F6A2-880E-44E821AD716D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146D2F62-F574-C773-B0F2-218AD20D8DB1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265655F-9185-06A5-BD36-032DE2A30AAE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2F28718-ABD4-67D4-B846-AEAE833BCF68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F8DDC98-3F89-07C7-160A-648B352778FE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76F51E-8B90-CBD3-7E71-086AF7DF6FD7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D72FE-0A5E-9EC8-90AC-E805731A3D95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5A2F8EA-25C5-E8CC-7AA6-AA386BB59595}"/>
                </a:ext>
              </a:extLst>
            </p:cNvPr>
            <p:cNvCxnSpPr>
              <a:cxnSpLocks/>
              <a:stCxn id="6" idx="7"/>
              <a:endCxn id="11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D5ECE53-FA8D-7B43-2013-D57B557F7DCC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317041B-3D3A-8B57-9A2C-1609D76990ED}"/>
              </a:ext>
            </a:extLst>
          </p:cNvPr>
          <p:cNvSpPr txBox="1"/>
          <p:nvPr/>
        </p:nvSpPr>
        <p:spPr>
          <a:xfrm>
            <a:off x="4450489" y="1515664"/>
            <a:ext cx="38700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maxNode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(root == Null){ return Null;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while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root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return 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A3E0CB-96F1-9F4E-AA9E-AFD3225402CD}"/>
              </a:ext>
            </a:extLst>
          </p:cNvPr>
          <p:cNvSpPr txBox="1"/>
          <p:nvPr/>
        </p:nvSpPr>
        <p:spPr>
          <a:xfrm>
            <a:off x="4450489" y="4145638"/>
            <a:ext cx="38700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minNode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(root == Null){ return Null;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while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root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return 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2177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Delete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delete(key, root){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root.left</a:t>
            </a:r>
            <a:r>
              <a:rPr lang="en-US" dirty="0"/>
              <a:t>; 	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root.right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== Null){ return; 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if (root has no children){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make parent point to Null Instead;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if (root has one child){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make parent point to that child instead;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if (root has two children){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make parent point to either the max from the left or min from the right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4246F8-D514-89E9-07BE-E764FD3DDE5E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170735B-03F0-160D-23CF-0D614E00B4D4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1F936-94E3-B970-9075-7FDD968CD1F3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950B02B1-9B98-2BBC-8CE2-98986D25F159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375DB836-C24D-B0D7-C861-32998C858A21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0170677-49FE-DA4D-C375-3C8BA0C66CFA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434C13F0-4203-47AB-2431-B2ED32886F93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AFBCF91-BBF7-4271-9169-45F56648DD71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AC532E5-2A85-D663-8446-585A13F92E62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09125AD-9B5C-7493-9272-2F1DA89CE01F}"/>
                    </a:ext>
                  </a:extLst>
                </p:cNvPr>
                <p:cNvCxnSpPr>
                  <a:cxnSpLocks/>
                  <a:stCxn id="8" idx="3"/>
                  <a:endCxn id="9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593D686-AF2B-E9E1-76F6-D11031779EE4}"/>
                    </a:ext>
                  </a:extLst>
                </p:cNvPr>
                <p:cNvCxnSpPr>
                  <a:cxnSpLocks/>
                  <a:stCxn id="8" idx="5"/>
                  <a:endCxn id="10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7955860-35DB-B2E4-DCE1-B378FA7BC357}"/>
                    </a:ext>
                  </a:extLst>
                </p:cNvPr>
                <p:cNvCxnSpPr>
                  <a:stCxn id="11" idx="7"/>
                  <a:endCxn id="9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D523286C-EC12-D977-43D0-51802A0AC727}"/>
                    </a:ext>
                  </a:extLst>
                </p:cNvPr>
                <p:cNvCxnSpPr>
                  <a:cxnSpLocks/>
                  <a:stCxn id="13" idx="7"/>
                  <a:endCxn id="11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3623BC4-097B-A907-A1CC-F4A3083684DE}"/>
                    </a:ext>
                  </a:extLst>
                </p:cNvPr>
                <p:cNvCxnSpPr>
                  <a:stCxn id="12" idx="1"/>
                  <a:endCxn id="10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F637BB8-2207-4532-477F-45453B8D7C43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3B42508-3220-7F2F-F806-D6A321054F05}"/>
                  </a:ext>
                </a:extLst>
              </p:cNvPr>
              <p:cNvCxnSpPr>
                <a:cxnSpLocks/>
                <a:stCxn id="6" idx="1"/>
                <a:endCxn id="9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E3A21A5-2643-9862-95E7-21A8A8044617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A649D9-8400-9565-121B-970C2A8B192B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1C5561-F71C-BB55-B723-357F94648CC6}"/>
                </a:ext>
              </a:extLst>
            </p:cNvPr>
            <p:cNvCxnSpPr>
              <a:cxnSpLocks/>
              <a:stCxn id="20" idx="7"/>
              <a:endCxn id="6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E5CEB3B-8BE4-AFAA-1FF9-30DE6145E6CA}"/>
                </a:ext>
              </a:extLst>
            </p:cNvPr>
            <p:cNvCxnSpPr>
              <a:cxnSpLocks/>
              <a:stCxn id="21" idx="1"/>
              <a:endCxn id="6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1729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768D2-3B25-68DF-253C-F021135BA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40637-A613-A9E7-519E-9AD94EB6A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Delete Operation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87991-6266-62EE-BEE3-DDCD294DF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delete(key, root){</a:t>
            </a:r>
          </a:p>
          <a:p>
            <a:pPr marL="0" indent="0">
              <a:buNone/>
            </a:pPr>
            <a:r>
              <a:rPr lang="en-US" dirty="0"/>
              <a:t>	if (root == Null){ return; } // key not present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== key){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if (root has no children) { return Null;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if (root has one child) { return that child;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if (root has two children) {return </a:t>
            </a:r>
            <a:r>
              <a:rPr lang="en-US" dirty="0" err="1">
                <a:solidFill>
                  <a:srgbClr val="FF0000"/>
                </a:solidFill>
              </a:rPr>
              <a:t>removeMax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root.left</a:t>
            </a:r>
            <a:r>
              <a:rPr lang="en-US" dirty="0">
                <a:solidFill>
                  <a:srgbClr val="FF0000"/>
                </a:solidFill>
              </a:rPr>
              <a:t>);}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&lt; key) { </a:t>
            </a:r>
            <a:r>
              <a:rPr lang="en-US" dirty="0" err="1"/>
              <a:t>root.right</a:t>
            </a:r>
            <a:r>
              <a:rPr lang="en-US" dirty="0"/>
              <a:t> = delete(key, </a:t>
            </a:r>
            <a:r>
              <a:rPr lang="en-US" dirty="0" err="1"/>
              <a:t>root.right</a:t>
            </a:r>
            <a:r>
              <a:rPr lang="en-US" dirty="0"/>
              <a:t>); }</a:t>
            </a:r>
          </a:p>
          <a:p>
            <a:pPr marL="0" indent="0">
              <a:buNone/>
            </a:pPr>
            <a:r>
              <a:rPr lang="en-US" dirty="0"/>
              <a:t>	else { </a:t>
            </a:r>
            <a:r>
              <a:rPr lang="en-US" dirty="0" err="1"/>
              <a:t>root.left</a:t>
            </a:r>
            <a:r>
              <a:rPr lang="en-US" dirty="0"/>
              <a:t> = delete(key, </a:t>
            </a:r>
            <a:r>
              <a:rPr lang="en-US" dirty="0" err="1"/>
              <a:t>root.left</a:t>
            </a:r>
            <a:r>
              <a:rPr lang="en-US" dirty="0"/>
              <a:t>); }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3061E36-B68E-3844-0FB4-D07CB8A59E36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C00FB46-1775-1E8D-BA80-A93F1F121BF6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13E2A454-89C6-127B-EEDC-99911058E492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3DFA3AD-01DB-A6BE-8B5E-EA3CB1053BAE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C4C4165-1130-AEE5-61C5-4DE2D95EA573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39E2EB3-E5B7-3DE3-3F62-F2B09ABA2673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DE9FB5A6-B0C6-BAFA-8D92-7609CFD23173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42CFA475-7883-AB14-A0D1-C3DF86F38D5D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AB72759D-0EAB-AFEF-0BB4-FA089BCB0305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A019D8E7-3242-85A5-59A4-389BF853E2D0}"/>
                    </a:ext>
                  </a:extLst>
                </p:cNvPr>
                <p:cNvCxnSpPr>
                  <a:cxnSpLocks/>
                  <a:stCxn id="8" idx="3"/>
                  <a:endCxn id="9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74F23168-F205-C5B7-7E6A-14F06968361F}"/>
                    </a:ext>
                  </a:extLst>
                </p:cNvPr>
                <p:cNvCxnSpPr>
                  <a:cxnSpLocks/>
                  <a:stCxn id="8" idx="5"/>
                  <a:endCxn id="10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01FE7DCC-114A-9A06-B5EE-CECB8ED7F293}"/>
                    </a:ext>
                  </a:extLst>
                </p:cNvPr>
                <p:cNvCxnSpPr>
                  <a:stCxn id="11" idx="7"/>
                  <a:endCxn id="9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41A82CAD-1880-2C4B-0C5A-19B5669309F8}"/>
                    </a:ext>
                  </a:extLst>
                </p:cNvPr>
                <p:cNvCxnSpPr>
                  <a:cxnSpLocks/>
                  <a:stCxn id="13" idx="7"/>
                  <a:endCxn id="11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B96F06EA-B6F9-E0D8-313A-EBB0BD27F9F7}"/>
                    </a:ext>
                  </a:extLst>
                </p:cNvPr>
                <p:cNvCxnSpPr>
                  <a:stCxn id="12" idx="1"/>
                  <a:endCxn id="10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E69FDC4-D3A5-1174-0261-BE45E67AE3EB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7285EB2-EF93-8085-1F22-7AE90F8D0C74}"/>
                  </a:ext>
                </a:extLst>
              </p:cNvPr>
              <p:cNvCxnSpPr>
                <a:cxnSpLocks/>
                <a:stCxn id="6" idx="1"/>
                <a:endCxn id="9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15B8BB4-D860-4551-F696-A573D5767851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0EB9E36-AE08-FB14-D41D-B0E6DF9762B3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110FEEE-2316-3BA5-CD0A-B7FE0EB615E7}"/>
                </a:ext>
              </a:extLst>
            </p:cNvPr>
            <p:cNvCxnSpPr>
              <a:cxnSpLocks/>
              <a:stCxn id="20" idx="7"/>
              <a:endCxn id="6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AA4587B-2D59-D07E-BF69-10F62C0E0D85}"/>
                </a:ext>
              </a:extLst>
            </p:cNvPr>
            <p:cNvCxnSpPr>
              <a:cxnSpLocks/>
              <a:stCxn id="21" idx="1"/>
              <a:endCxn id="6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9352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7451</TotalTime>
  <Words>2759</Words>
  <Application>Microsoft Office PowerPoint</Application>
  <PresentationFormat>Widescreen</PresentationFormat>
  <Paragraphs>630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Calibri Light</vt:lpstr>
      <vt:lpstr>Cambria Math</vt:lpstr>
      <vt:lpstr>Consolas</vt:lpstr>
      <vt:lpstr>Symbol</vt:lpstr>
      <vt:lpstr>Office Theme</vt:lpstr>
      <vt:lpstr>1_Office Theme</vt:lpstr>
      <vt:lpstr>2_Office Theme</vt:lpstr>
      <vt:lpstr>CSE 332 Winter 2026 Lecture 7: Recurrences, Dictionaries, BSTs</vt:lpstr>
      <vt:lpstr>Analysis of Recursive Algorithms</vt:lpstr>
      <vt:lpstr>Recursive List Summation</vt:lpstr>
      <vt:lpstr>Tree Method</vt:lpstr>
      <vt:lpstr>Tree Method Summary: Chip and Conquer</vt:lpstr>
      <vt:lpstr>Tree Method Summary: Divide and Conquer</vt:lpstr>
      <vt:lpstr>Let’s do some more!</vt:lpstr>
      <vt:lpstr>Tree Method</vt:lpstr>
      <vt:lpstr>Tree Method</vt:lpstr>
      <vt:lpstr>Solving T(n)=2T(n/2)+n^2</vt:lpstr>
      <vt:lpstr>Tree Method</vt:lpstr>
      <vt:lpstr>Solving T(n)=2T(n/8)+1</vt:lpstr>
      <vt:lpstr>Finite Geometric Series</vt:lpstr>
      <vt:lpstr>Finite Geometric Series</vt:lpstr>
      <vt:lpstr>Dictionary (Map) ADT</vt:lpstr>
      <vt:lpstr>Naïve attempts</vt:lpstr>
      <vt:lpstr>More Tree “Vocab”</vt:lpstr>
      <vt:lpstr>Name that Traversal!</vt:lpstr>
      <vt:lpstr>Name that Traversal!</vt:lpstr>
      <vt:lpstr>Binary Search Tree</vt:lpstr>
      <vt:lpstr>Are these BSTs?</vt:lpstr>
      <vt:lpstr>Aside: Why not use an array?</vt:lpstr>
      <vt:lpstr>Find Operation (recursive)</vt:lpstr>
      <vt:lpstr>Find Operation (iterative)</vt:lpstr>
      <vt:lpstr>Insert Operation (recursive)</vt:lpstr>
      <vt:lpstr>Insert Operation (iterative)</vt:lpstr>
      <vt:lpstr>Delete Operation (iterative)</vt:lpstr>
      <vt:lpstr>Delete – 3 Cases</vt:lpstr>
      <vt:lpstr>Finding the Max and Min</vt:lpstr>
      <vt:lpstr>Delete Operation (iterative)</vt:lpstr>
      <vt:lpstr>Delete Operation (recursive)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Brunelle, Nathan J (njb2b)</dc:creator>
  <cp:lastModifiedBy>Nathan Brunelle</cp:lastModifiedBy>
  <cp:revision>34</cp:revision>
  <dcterms:created xsi:type="dcterms:W3CDTF">2024-06-26T12:44:42Z</dcterms:created>
  <dcterms:modified xsi:type="dcterms:W3CDTF">2026-03-04T22:52:45Z</dcterms:modified>
</cp:coreProperties>
</file>