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7" r:id="rId2"/>
    <p:sldId id="758" r:id="rId3"/>
    <p:sldId id="834" r:id="rId4"/>
    <p:sldId id="759" r:id="rId5"/>
    <p:sldId id="760" r:id="rId6"/>
    <p:sldId id="777" r:id="rId7"/>
    <p:sldId id="778" r:id="rId8"/>
    <p:sldId id="779" r:id="rId9"/>
    <p:sldId id="780" r:id="rId10"/>
    <p:sldId id="781" r:id="rId11"/>
    <p:sldId id="888" r:id="rId12"/>
    <p:sldId id="889" r:id="rId13"/>
    <p:sldId id="892" r:id="rId14"/>
    <p:sldId id="894" r:id="rId15"/>
    <p:sldId id="891" r:id="rId16"/>
    <p:sldId id="893" r:id="rId17"/>
    <p:sldId id="886" r:id="rId18"/>
    <p:sldId id="768" r:id="rId19"/>
    <p:sldId id="770" r:id="rId20"/>
    <p:sldId id="842" r:id="rId21"/>
    <p:sldId id="877" r:id="rId22"/>
    <p:sldId id="878" r:id="rId23"/>
    <p:sldId id="845" r:id="rId24"/>
    <p:sldId id="885" r:id="rId25"/>
    <p:sldId id="775" r:id="rId26"/>
    <p:sldId id="776" r:id="rId27"/>
    <p:sldId id="762" r:id="rId28"/>
    <p:sldId id="763" r:id="rId29"/>
    <p:sldId id="764" r:id="rId30"/>
    <p:sldId id="765" r:id="rId31"/>
    <p:sldId id="766" r:id="rId32"/>
    <p:sldId id="767" r:id="rId33"/>
    <p:sldId id="887" r:id="rId34"/>
    <p:sldId id="774" r:id="rId35"/>
    <p:sldId id="881" r:id="rId36"/>
  </p:sldIdLst>
  <p:sldSz cx="12192000" cy="6858000"/>
  <p:notesSz cx="6858000" cy="9144000"/>
  <p:embeddedFontLst>
    <p:embeddedFont>
      <p:font typeface="Cambria Math" panose="02040503050406030204" pitchFamily="18" charset="0"/>
      <p:regular r:id="rId38"/>
    </p:embeddedFont>
    <p:embeddedFont>
      <p:font typeface="Consolas" panose="020B0609020204030204" pitchFamily="49"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75DE9E-3E2B-49A4-BE4E-F3618449E8DE}"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A3574-2292-4E4A-AB4C-8C6FBD4B38BE}" type="slidenum">
              <a:rPr lang="en-US" smtClean="0"/>
              <a:t>‹#›</a:t>
            </a:fld>
            <a:endParaRPr lang="en-US"/>
          </a:p>
        </p:txBody>
      </p:sp>
    </p:spTree>
    <p:extLst>
      <p:ext uri="{BB962C8B-B14F-4D97-AF65-F5344CB8AC3E}">
        <p14:creationId xmlns:p14="http://schemas.microsoft.com/office/powerpoint/2010/main" val="4153027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set of edges from the graph, which forms a tree with all of the nodes in a graph. Subset of the edges, which has no cycles, and connects all the nodes.</a:t>
            </a:r>
          </a:p>
        </p:txBody>
      </p:sp>
      <p:sp>
        <p:nvSpPr>
          <p:cNvPr id="4" name="Slide Number Placeholder 3"/>
          <p:cNvSpPr>
            <a:spLocks noGrp="1"/>
          </p:cNvSpPr>
          <p:nvPr>
            <p:ph type="sldNum" sz="quarter" idx="5"/>
          </p:nvPr>
        </p:nvSpPr>
        <p:spPr/>
        <p:txBody>
          <a:bodyPr/>
          <a:lstStyle/>
          <a:p>
            <a:fld id="{528D9EFC-C18D-9343-8FAC-BB521FE639CB}" type="slidenum">
              <a:rPr lang="en-US" smtClean="0"/>
              <a:t>4</a:t>
            </a:fld>
            <a:endParaRPr lang="en-US"/>
          </a:p>
        </p:txBody>
      </p:sp>
    </p:spTree>
    <p:extLst>
      <p:ext uri="{BB962C8B-B14F-4D97-AF65-F5344CB8AC3E}">
        <p14:creationId xmlns:p14="http://schemas.microsoft.com/office/powerpoint/2010/main" val="6539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some examples of edges that cross the cut and edges that do not</a:t>
            </a:r>
          </a:p>
        </p:txBody>
      </p:sp>
      <p:sp>
        <p:nvSpPr>
          <p:cNvPr id="4" name="Slide Number Placeholder 3"/>
          <p:cNvSpPr>
            <a:spLocks noGrp="1"/>
          </p:cNvSpPr>
          <p:nvPr>
            <p:ph type="sldNum" sz="quarter" idx="5"/>
          </p:nvPr>
        </p:nvSpPr>
        <p:spPr/>
        <p:txBody>
          <a:bodyPr/>
          <a:lstStyle/>
          <a:p>
            <a:fld id="{528D9EFC-C18D-9343-8FAC-BB521FE639CB}" type="slidenum">
              <a:rPr lang="en-US" smtClean="0"/>
              <a:t>18</a:t>
            </a:fld>
            <a:endParaRPr lang="en-US"/>
          </a:p>
        </p:txBody>
      </p:sp>
    </p:spTree>
    <p:extLst>
      <p:ext uri="{BB962C8B-B14F-4D97-AF65-F5344CB8AC3E}">
        <p14:creationId xmlns:p14="http://schemas.microsoft.com/office/powerpoint/2010/main" val="1779161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19</a:t>
            </a:fld>
            <a:endParaRPr lang="en-US"/>
          </a:p>
        </p:txBody>
      </p:sp>
    </p:spTree>
    <p:extLst>
      <p:ext uri="{BB962C8B-B14F-4D97-AF65-F5344CB8AC3E}">
        <p14:creationId xmlns:p14="http://schemas.microsoft.com/office/powerpoint/2010/main" val="3775140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20</a:t>
            </a:fld>
            <a:endParaRPr lang="en-US"/>
          </a:p>
        </p:txBody>
      </p:sp>
    </p:spTree>
    <p:extLst>
      <p:ext uri="{BB962C8B-B14F-4D97-AF65-F5344CB8AC3E}">
        <p14:creationId xmlns:p14="http://schemas.microsoft.com/office/powerpoint/2010/main" val="996569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21</a:t>
            </a:fld>
            <a:endParaRPr lang="en-US"/>
          </a:p>
        </p:txBody>
      </p:sp>
    </p:spTree>
    <p:extLst>
      <p:ext uri="{BB962C8B-B14F-4D97-AF65-F5344CB8AC3E}">
        <p14:creationId xmlns:p14="http://schemas.microsoft.com/office/powerpoint/2010/main" val="795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22</a:t>
            </a:fld>
            <a:endParaRPr lang="en-US"/>
          </a:p>
        </p:txBody>
      </p:sp>
    </p:spTree>
    <p:extLst>
      <p:ext uri="{BB962C8B-B14F-4D97-AF65-F5344CB8AC3E}">
        <p14:creationId xmlns:p14="http://schemas.microsoft.com/office/powerpoint/2010/main" val="2062189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23</a:t>
            </a:fld>
            <a:endParaRPr lang="en-US"/>
          </a:p>
        </p:txBody>
      </p:sp>
    </p:spTree>
    <p:extLst>
      <p:ext uri="{BB962C8B-B14F-4D97-AF65-F5344CB8AC3E}">
        <p14:creationId xmlns:p14="http://schemas.microsoft.com/office/powerpoint/2010/main" val="3492717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8D9EFC-C18D-9343-8FAC-BB521FE639CB}" type="slidenum">
              <a:rPr lang="en-US" smtClean="0"/>
              <a:t>35</a:t>
            </a:fld>
            <a:endParaRPr lang="en-US"/>
          </a:p>
        </p:txBody>
      </p:sp>
    </p:spTree>
    <p:extLst>
      <p:ext uri="{BB962C8B-B14F-4D97-AF65-F5344CB8AC3E}">
        <p14:creationId xmlns:p14="http://schemas.microsoft.com/office/powerpoint/2010/main" val="2052700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0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14.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Autumn 2024</a:t>
            </a:r>
            <a:br>
              <a:rPr lang="en-US" dirty="0"/>
            </a:br>
            <a:r>
              <a:rPr lang="en-US" dirty="0"/>
              <a:t>Lecture 26: Minimum Spanning Trees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2</a:t>
            </a:fld>
            <a:endParaRPr lang="en-US"/>
          </a:p>
        </p:txBody>
      </p:sp>
      <p:sp>
        <p:nvSpPr>
          <p:cNvPr id="81" name="TextBox 80"/>
          <p:cNvSpPr txBox="1"/>
          <p:nvPr/>
        </p:nvSpPr>
        <p:spPr>
          <a:xfrm>
            <a:off x="3826554" y="1981200"/>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1524000" y="2954679"/>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
        <p:nvSpPr>
          <p:cNvPr id="3" name="TextBox 2">
            <a:extLst>
              <a:ext uri="{FF2B5EF4-FFF2-40B4-BE49-F238E27FC236}">
                <a16:creationId xmlns:a16="http://schemas.microsoft.com/office/drawing/2014/main" id="{82C49112-775C-40F3-328C-7074B0D9E178}"/>
              </a:ext>
            </a:extLst>
          </p:cNvPr>
          <p:cNvSpPr txBox="1"/>
          <p:nvPr/>
        </p:nvSpPr>
        <p:spPr>
          <a:xfrm>
            <a:off x="7391400" y="3651896"/>
            <a:ext cx="3733800" cy="830997"/>
          </a:xfrm>
          <a:prstGeom prst="rect">
            <a:avLst/>
          </a:prstGeom>
          <a:noFill/>
        </p:spPr>
        <p:txBody>
          <a:bodyPr wrap="square" rtlCol="0">
            <a:spAutoFit/>
          </a:bodyPr>
          <a:lstStyle/>
          <a:p>
            <a:r>
              <a:rPr lang="en-US" sz="2400" dirty="0"/>
              <a:t>Note: A tree does not need a root, but they often do!</a:t>
            </a:r>
          </a:p>
        </p:txBody>
      </p:sp>
    </p:spTree>
    <p:extLst>
      <p:ext uri="{BB962C8B-B14F-4D97-AF65-F5344CB8AC3E}">
        <p14:creationId xmlns:p14="http://schemas.microsoft.com/office/powerpoint/2010/main" val="139321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3</a:t>
            </a:fld>
            <a:endParaRPr lang="en-US"/>
          </a:p>
        </p:txBody>
      </p:sp>
      <p:sp>
        <p:nvSpPr>
          <p:cNvPr id="81" name="TextBox 80"/>
          <p:cNvSpPr txBox="1"/>
          <p:nvPr/>
        </p:nvSpPr>
        <p:spPr>
          <a:xfrm>
            <a:off x="3572922" y="1767131"/>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838200" y="3037502"/>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6" name="Straight Arrow Connector 5">
            <a:extLst>
              <a:ext uri="{FF2B5EF4-FFF2-40B4-BE49-F238E27FC236}">
                <a16:creationId xmlns:a16="http://schemas.microsoft.com/office/drawing/2014/main" id="{814B9351-8123-8F52-4CD4-6C6B823CF5F8}"/>
              </a:ext>
            </a:extLst>
          </p:cNvPr>
          <p:cNvCxnSpPr>
            <a:cxnSpLocks/>
          </p:cNvCxnSpPr>
          <p:nvPr/>
        </p:nvCxnSpPr>
        <p:spPr>
          <a:xfrm>
            <a:off x="5715000" y="4393443"/>
            <a:ext cx="2380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DFC8856-E9CC-3DCF-3EF8-487736D9AFEF}"/>
              </a:ext>
            </a:extLst>
          </p:cNvPr>
          <p:cNvSpPr txBox="1"/>
          <p:nvPr/>
        </p:nvSpPr>
        <p:spPr>
          <a:xfrm>
            <a:off x="5795923" y="4505528"/>
            <a:ext cx="2218490" cy="1015663"/>
          </a:xfrm>
          <a:prstGeom prst="rect">
            <a:avLst/>
          </a:prstGeom>
          <a:noFill/>
        </p:spPr>
        <p:txBody>
          <a:bodyPr wrap="square" rtlCol="0">
            <a:spAutoFit/>
          </a:bodyPr>
          <a:lstStyle/>
          <a:p>
            <a:pPr algn="ctr"/>
            <a:r>
              <a:rPr lang="en-US" sz="2000" dirty="0"/>
              <a:t>Pick some arbitrary root node and rearrange tree</a:t>
            </a:r>
          </a:p>
        </p:txBody>
      </p:sp>
      <p:grpSp>
        <p:nvGrpSpPr>
          <p:cNvPr id="10" name="Group 9">
            <a:extLst>
              <a:ext uri="{FF2B5EF4-FFF2-40B4-BE49-F238E27FC236}">
                <a16:creationId xmlns:a16="http://schemas.microsoft.com/office/drawing/2014/main" id="{E62074AB-04E0-874F-A8BE-823B71612508}"/>
              </a:ext>
            </a:extLst>
          </p:cNvPr>
          <p:cNvGrpSpPr/>
          <p:nvPr/>
        </p:nvGrpSpPr>
        <p:grpSpPr>
          <a:xfrm>
            <a:off x="7938409" y="2385230"/>
            <a:ext cx="3392183" cy="3583802"/>
            <a:chOff x="103797" y="2167861"/>
            <a:chExt cx="5194652" cy="5488089"/>
          </a:xfrm>
        </p:grpSpPr>
        <p:cxnSp>
          <p:nvCxnSpPr>
            <p:cNvPr id="11" name="Straight Connector 10">
              <a:extLst>
                <a:ext uri="{FF2B5EF4-FFF2-40B4-BE49-F238E27FC236}">
                  <a16:creationId xmlns:a16="http://schemas.microsoft.com/office/drawing/2014/main" id="{295B5E48-0E06-F87B-090A-FDE7E46A4CAA}"/>
                </a:ext>
              </a:extLst>
            </p:cNvPr>
            <p:cNvCxnSpPr>
              <a:cxnSpLocks/>
              <a:stCxn id="27" idx="4"/>
              <a:endCxn id="28" idx="0"/>
            </p:cNvCxnSpPr>
            <p:nvPr/>
          </p:nvCxnSpPr>
          <p:spPr>
            <a:xfrm flipH="1">
              <a:off x="360432" y="6006802"/>
              <a:ext cx="620681" cy="110863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1362F6B-F9FB-52AE-7686-8AE895BA8A35}"/>
                </a:ext>
              </a:extLst>
            </p:cNvPr>
            <p:cNvCxnSpPr>
              <a:cxnSpLocks/>
              <a:stCxn id="27" idx="0"/>
              <a:endCxn id="29" idx="4"/>
            </p:cNvCxnSpPr>
            <p:nvPr/>
          </p:nvCxnSpPr>
          <p:spPr>
            <a:xfrm flipV="1">
              <a:off x="981113" y="4326957"/>
              <a:ext cx="1215769" cy="116657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DB70C2-DA5E-2134-DCCC-E1D4FCFCDDFC}"/>
                </a:ext>
              </a:extLst>
            </p:cNvPr>
            <p:cNvCxnSpPr>
              <a:cxnSpLocks/>
              <a:stCxn id="30" idx="4"/>
              <a:endCxn id="29" idx="0"/>
            </p:cNvCxnSpPr>
            <p:nvPr/>
          </p:nvCxnSpPr>
          <p:spPr>
            <a:xfrm flipH="1">
              <a:off x="2196882" y="2681130"/>
              <a:ext cx="959580" cy="113256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B839841-D580-E180-8587-AED2C70B575D}"/>
                </a:ext>
              </a:extLst>
            </p:cNvPr>
            <p:cNvCxnSpPr>
              <a:cxnSpLocks/>
              <a:stCxn id="30" idx="4"/>
              <a:endCxn id="32" idx="0"/>
            </p:cNvCxnSpPr>
            <p:nvPr/>
          </p:nvCxnSpPr>
          <p:spPr>
            <a:xfrm flipH="1">
              <a:off x="3107177" y="2681130"/>
              <a:ext cx="49285" cy="11803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AD3250-E015-BFB4-E91B-676D01E146A2}"/>
                </a:ext>
              </a:extLst>
            </p:cNvPr>
            <p:cNvCxnSpPr>
              <a:cxnSpLocks/>
              <a:stCxn id="30" idx="4"/>
              <a:endCxn id="31" idx="0"/>
            </p:cNvCxnSpPr>
            <p:nvPr/>
          </p:nvCxnSpPr>
          <p:spPr>
            <a:xfrm>
              <a:off x="3156463" y="2681130"/>
              <a:ext cx="1423562" cy="124029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B8DEE96-852B-0FF1-467D-FE1E85A3DFF8}"/>
                </a:ext>
              </a:extLst>
            </p:cNvPr>
            <p:cNvCxnSpPr>
              <a:cxnSpLocks/>
              <a:stCxn id="33" idx="0"/>
              <a:endCxn id="31" idx="4"/>
            </p:cNvCxnSpPr>
            <p:nvPr/>
          </p:nvCxnSpPr>
          <p:spPr>
            <a:xfrm flipV="1">
              <a:off x="3778501" y="4434694"/>
              <a:ext cx="801524" cy="121383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5E383C4-D12A-3AF6-ACB6-522536DB4186}"/>
                </a:ext>
              </a:extLst>
            </p:cNvPr>
            <p:cNvCxnSpPr>
              <a:stCxn id="33" idx="0"/>
              <a:endCxn id="35" idx="3"/>
            </p:cNvCxnSpPr>
            <p:nvPr/>
          </p:nvCxnSpPr>
          <p:spPr>
            <a:xfrm flipH="1">
              <a:off x="2674817" y="5648524"/>
              <a:ext cx="1103685" cy="191270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D6442A-2062-9578-AE99-09AB7ADA60EA}"/>
                </a:ext>
              </a:extLst>
            </p:cNvPr>
            <p:cNvCxnSpPr>
              <a:cxnSpLocks/>
              <a:stCxn id="34" idx="0"/>
              <a:endCxn id="33" idx="6"/>
            </p:cNvCxnSpPr>
            <p:nvPr/>
          </p:nvCxnSpPr>
          <p:spPr>
            <a:xfrm flipH="1" flipV="1">
              <a:off x="4035134" y="5905159"/>
              <a:ext cx="1006682" cy="123752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68DCA50-D24A-A8D4-2B98-3E0134926F96}"/>
                </a:ext>
              </a:extLst>
            </p:cNvPr>
            <p:cNvSpPr txBox="1"/>
            <p:nvPr/>
          </p:nvSpPr>
          <p:spPr>
            <a:xfrm>
              <a:off x="679833" y="6418769"/>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1ECCEE7-4267-DFB3-3DFE-EF9576FF5DCC}"/>
                </a:ext>
              </a:extLst>
            </p:cNvPr>
            <p:cNvSpPr txBox="1"/>
            <p:nvPr/>
          </p:nvSpPr>
          <p:spPr>
            <a:xfrm>
              <a:off x="4538475" y="5950391"/>
              <a:ext cx="641186" cy="565580"/>
            </a:xfrm>
            <a:prstGeom prst="rect">
              <a:avLst/>
            </a:prstGeom>
            <a:noFill/>
          </p:spPr>
          <p:txBody>
            <a:bodyPr wrap="none" rtlCol="0">
              <a:spAutoFit/>
            </a:bodyPr>
            <a:lstStyle/>
            <a:p>
              <a:r>
                <a:rPr lang="en-US" dirty="0">
                  <a:solidFill>
                    <a:srgbClr val="00B050"/>
                  </a:solidFill>
                </a:rPr>
                <a:t>11</a:t>
              </a:r>
            </a:p>
          </p:txBody>
        </p:sp>
        <p:sp>
          <p:nvSpPr>
            <p:cNvPr id="21" name="TextBox 20">
              <a:extLst>
                <a:ext uri="{FF2B5EF4-FFF2-40B4-BE49-F238E27FC236}">
                  <a16:creationId xmlns:a16="http://schemas.microsoft.com/office/drawing/2014/main" id="{FDE59403-12BF-EC74-8F44-0C2FA5923758}"/>
                </a:ext>
              </a:extLst>
            </p:cNvPr>
            <p:cNvSpPr txBox="1"/>
            <p:nvPr/>
          </p:nvSpPr>
          <p:spPr>
            <a:xfrm>
              <a:off x="3274857" y="6462052"/>
              <a:ext cx="461990" cy="565580"/>
            </a:xfrm>
            <a:prstGeom prst="rect">
              <a:avLst/>
            </a:prstGeom>
            <a:noFill/>
          </p:spPr>
          <p:txBody>
            <a:bodyPr wrap="none" rtlCol="0">
              <a:spAutoFit/>
            </a:bodyPr>
            <a:lstStyle/>
            <a:p>
              <a:r>
                <a:rPr lang="en-US" dirty="0">
                  <a:solidFill>
                    <a:srgbClr val="00B050"/>
                  </a:solidFill>
                </a:rPr>
                <a:t>9</a:t>
              </a:r>
            </a:p>
          </p:txBody>
        </p:sp>
        <p:sp>
          <p:nvSpPr>
            <p:cNvPr id="22" name="TextBox 21">
              <a:extLst>
                <a:ext uri="{FF2B5EF4-FFF2-40B4-BE49-F238E27FC236}">
                  <a16:creationId xmlns:a16="http://schemas.microsoft.com/office/drawing/2014/main" id="{B5CBC42B-2460-448F-0BE9-18789810EB5A}"/>
                </a:ext>
              </a:extLst>
            </p:cNvPr>
            <p:cNvSpPr txBox="1"/>
            <p:nvPr/>
          </p:nvSpPr>
          <p:spPr>
            <a:xfrm>
              <a:off x="4323391" y="4794118"/>
              <a:ext cx="461990" cy="565580"/>
            </a:xfrm>
            <a:prstGeom prst="rect">
              <a:avLst/>
            </a:prstGeom>
            <a:noFill/>
          </p:spPr>
          <p:txBody>
            <a:bodyPr wrap="none" rtlCol="0">
              <a:spAutoFit/>
            </a:bodyPr>
            <a:lstStyle/>
            <a:p>
              <a:r>
                <a:rPr lang="en-US" dirty="0">
                  <a:solidFill>
                    <a:srgbClr val="00B050"/>
                  </a:solidFill>
                </a:rPr>
                <a:t>5</a:t>
              </a:r>
            </a:p>
          </p:txBody>
        </p:sp>
        <p:sp>
          <p:nvSpPr>
            <p:cNvPr id="23" name="TextBox 22">
              <a:extLst>
                <a:ext uri="{FF2B5EF4-FFF2-40B4-BE49-F238E27FC236}">
                  <a16:creationId xmlns:a16="http://schemas.microsoft.com/office/drawing/2014/main" id="{4783BDEE-3D41-BDBE-702B-F9854CD60C79}"/>
                </a:ext>
              </a:extLst>
            </p:cNvPr>
            <p:cNvSpPr txBox="1"/>
            <p:nvPr/>
          </p:nvSpPr>
          <p:spPr>
            <a:xfrm>
              <a:off x="3247983" y="3220315"/>
              <a:ext cx="461990" cy="565580"/>
            </a:xfrm>
            <a:prstGeom prst="rect">
              <a:avLst/>
            </a:prstGeom>
            <a:noFill/>
          </p:spPr>
          <p:txBody>
            <a:bodyPr wrap="none" rtlCol="0">
              <a:spAutoFit/>
            </a:bodyPr>
            <a:lstStyle/>
            <a:p>
              <a:r>
                <a:rPr lang="en-US" dirty="0">
                  <a:solidFill>
                    <a:srgbClr val="00B050"/>
                  </a:solidFill>
                </a:rPr>
                <a:t>3</a:t>
              </a:r>
            </a:p>
          </p:txBody>
        </p:sp>
        <p:sp>
          <p:nvSpPr>
            <p:cNvPr id="24" name="TextBox 23">
              <a:extLst>
                <a:ext uri="{FF2B5EF4-FFF2-40B4-BE49-F238E27FC236}">
                  <a16:creationId xmlns:a16="http://schemas.microsoft.com/office/drawing/2014/main" id="{56652F18-D776-0CDA-C04D-4BD6556CC684}"/>
                </a:ext>
              </a:extLst>
            </p:cNvPr>
            <p:cNvSpPr txBox="1"/>
            <p:nvPr/>
          </p:nvSpPr>
          <p:spPr>
            <a:xfrm>
              <a:off x="3914004" y="2713654"/>
              <a:ext cx="461990" cy="565580"/>
            </a:xfrm>
            <a:prstGeom prst="rect">
              <a:avLst/>
            </a:prstGeom>
            <a:noFill/>
          </p:spPr>
          <p:txBody>
            <a:bodyPr wrap="none" rtlCol="0">
              <a:spAutoFit/>
            </a:bodyPr>
            <a:lstStyle/>
            <a:p>
              <a:r>
                <a:rPr lang="en-US" dirty="0">
                  <a:solidFill>
                    <a:srgbClr val="00B050"/>
                  </a:solidFill>
                </a:rPr>
                <a:t>7</a:t>
              </a:r>
            </a:p>
          </p:txBody>
        </p:sp>
        <p:sp>
          <p:nvSpPr>
            <p:cNvPr id="25" name="TextBox 24">
              <a:extLst>
                <a:ext uri="{FF2B5EF4-FFF2-40B4-BE49-F238E27FC236}">
                  <a16:creationId xmlns:a16="http://schemas.microsoft.com/office/drawing/2014/main" id="{52734CC1-30ED-56B3-D51A-8048D93905C0}"/>
                </a:ext>
              </a:extLst>
            </p:cNvPr>
            <p:cNvSpPr txBox="1"/>
            <p:nvPr/>
          </p:nvSpPr>
          <p:spPr>
            <a:xfrm>
              <a:off x="2215026" y="2822995"/>
              <a:ext cx="592661" cy="565580"/>
            </a:xfrm>
            <a:prstGeom prst="rect">
              <a:avLst/>
            </a:prstGeom>
            <a:noFill/>
          </p:spPr>
          <p:txBody>
            <a:bodyPr wrap="squar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0201C03-F000-EC0B-C871-FB48390AE8BF}"/>
                </a:ext>
              </a:extLst>
            </p:cNvPr>
            <p:cNvSpPr txBox="1"/>
            <p:nvPr/>
          </p:nvSpPr>
          <p:spPr>
            <a:xfrm>
              <a:off x="917153" y="4492406"/>
              <a:ext cx="641186" cy="565580"/>
            </a:xfrm>
            <a:prstGeom prst="rect">
              <a:avLst/>
            </a:prstGeom>
            <a:noFill/>
          </p:spPr>
          <p:txBody>
            <a:bodyPr wrap="none" rtlCol="0">
              <a:spAutoFit/>
            </a:bodyPr>
            <a:lstStyle/>
            <a:p>
              <a:r>
                <a:rPr lang="en-US" dirty="0">
                  <a:solidFill>
                    <a:srgbClr val="00B050"/>
                  </a:solidFill>
                </a:rPr>
                <a:t>12</a:t>
              </a:r>
            </a:p>
          </p:txBody>
        </p:sp>
        <p:sp>
          <p:nvSpPr>
            <p:cNvPr id="27" name="Oval 26">
              <a:extLst>
                <a:ext uri="{FF2B5EF4-FFF2-40B4-BE49-F238E27FC236}">
                  <a16:creationId xmlns:a16="http://schemas.microsoft.com/office/drawing/2014/main" id="{1B9386D4-A998-E36B-4B06-03BFE29CA068}"/>
                </a:ext>
              </a:extLst>
            </p:cNvPr>
            <p:cNvSpPr/>
            <p:nvPr/>
          </p:nvSpPr>
          <p:spPr>
            <a:xfrm>
              <a:off x="724479" y="5493534"/>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8" name="Oval 27">
              <a:extLst>
                <a:ext uri="{FF2B5EF4-FFF2-40B4-BE49-F238E27FC236}">
                  <a16:creationId xmlns:a16="http://schemas.microsoft.com/office/drawing/2014/main" id="{AD3770A0-E51C-2735-6C5F-075C6FA8C4DF}"/>
                </a:ext>
              </a:extLst>
            </p:cNvPr>
            <p:cNvSpPr/>
            <p:nvPr/>
          </p:nvSpPr>
          <p:spPr>
            <a:xfrm>
              <a:off x="103797" y="7115438"/>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9" name="Oval 28">
              <a:extLst>
                <a:ext uri="{FF2B5EF4-FFF2-40B4-BE49-F238E27FC236}">
                  <a16:creationId xmlns:a16="http://schemas.microsoft.com/office/drawing/2014/main" id="{8BCEF2AC-0734-215E-2611-177DC96C1691}"/>
                </a:ext>
              </a:extLst>
            </p:cNvPr>
            <p:cNvSpPr/>
            <p:nvPr/>
          </p:nvSpPr>
          <p:spPr>
            <a:xfrm>
              <a:off x="1940248" y="38136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0" name="Oval 29">
              <a:extLst>
                <a:ext uri="{FF2B5EF4-FFF2-40B4-BE49-F238E27FC236}">
                  <a16:creationId xmlns:a16="http://schemas.microsoft.com/office/drawing/2014/main" id="{BCBA3BF1-43E4-45B3-CD6D-622F188094D8}"/>
                </a:ext>
              </a:extLst>
            </p:cNvPr>
            <p:cNvSpPr/>
            <p:nvPr/>
          </p:nvSpPr>
          <p:spPr>
            <a:xfrm>
              <a:off x="2899828" y="216786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1" name="Oval 30">
              <a:extLst>
                <a:ext uri="{FF2B5EF4-FFF2-40B4-BE49-F238E27FC236}">
                  <a16:creationId xmlns:a16="http://schemas.microsoft.com/office/drawing/2014/main" id="{A88DFC64-437F-BCD3-4159-7007D4F96B90}"/>
                </a:ext>
              </a:extLst>
            </p:cNvPr>
            <p:cNvSpPr/>
            <p:nvPr/>
          </p:nvSpPr>
          <p:spPr>
            <a:xfrm>
              <a:off x="4323391" y="392142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2" name="Oval 31">
              <a:extLst>
                <a:ext uri="{FF2B5EF4-FFF2-40B4-BE49-F238E27FC236}">
                  <a16:creationId xmlns:a16="http://schemas.microsoft.com/office/drawing/2014/main" id="{B2EBDBD4-5B95-24EF-04DA-F85558A87E99}"/>
                </a:ext>
              </a:extLst>
            </p:cNvPr>
            <p:cNvSpPr/>
            <p:nvPr/>
          </p:nvSpPr>
          <p:spPr>
            <a:xfrm>
              <a:off x="2850543" y="3861502"/>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33" name="Oval 32">
              <a:extLst>
                <a:ext uri="{FF2B5EF4-FFF2-40B4-BE49-F238E27FC236}">
                  <a16:creationId xmlns:a16="http://schemas.microsoft.com/office/drawing/2014/main" id="{64570069-DAA7-3158-8209-3C31A8642835}"/>
                </a:ext>
              </a:extLst>
            </p:cNvPr>
            <p:cNvSpPr/>
            <p:nvPr/>
          </p:nvSpPr>
          <p:spPr>
            <a:xfrm>
              <a:off x="3521867" y="5648524"/>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34" name="Oval 33">
              <a:extLst>
                <a:ext uri="{FF2B5EF4-FFF2-40B4-BE49-F238E27FC236}">
                  <a16:creationId xmlns:a16="http://schemas.microsoft.com/office/drawing/2014/main" id="{C1D510CD-21FF-979D-ABAD-69F10C1CF1F4}"/>
                </a:ext>
              </a:extLst>
            </p:cNvPr>
            <p:cNvSpPr/>
            <p:nvPr/>
          </p:nvSpPr>
          <p:spPr>
            <a:xfrm>
              <a:off x="4785182" y="714268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35" name="Oval 34">
              <a:extLst>
                <a:ext uri="{FF2B5EF4-FFF2-40B4-BE49-F238E27FC236}">
                  <a16:creationId xmlns:a16="http://schemas.microsoft.com/office/drawing/2014/main" id="{70514C6D-660F-465B-78B4-1C10ADEDA1CF}"/>
                </a:ext>
              </a:extLst>
            </p:cNvPr>
            <p:cNvSpPr/>
            <p:nvPr/>
          </p:nvSpPr>
          <p:spPr>
            <a:xfrm>
              <a:off x="2599650" y="712313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7611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4</a:t>
            </a:fld>
            <a:endParaRPr lang="en-US"/>
          </a:p>
        </p:txBody>
      </p:sp>
      <p:grpSp>
        <p:nvGrpSpPr>
          <p:cNvPr id="5" name="Group 4"/>
          <p:cNvGrpSpPr/>
          <p:nvPr/>
        </p:nvGrpSpPr>
        <p:grpSpPr>
          <a:xfrm>
            <a:off x="762000" y="2679355"/>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Tree</a:t>
                </a:r>
                <a:r>
                  <a:rPr lang="en-US" sz="2800" dirty="0">
                    <a:solidFill>
                      <a:srgbClr val="7030A0"/>
                    </a:solidFill>
                  </a:rPr>
                  <a:t>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723" t="-5732" b="-17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6495239" y="2528745"/>
                <a:ext cx="5105399" cy="461665"/>
              </a:xfrm>
              <a:prstGeom prst="rect">
                <a:avLst/>
              </a:prstGeom>
              <a:noFill/>
            </p:spPr>
            <p:txBody>
              <a:bodyPr wrap="square" rtlCol="0">
                <a:spAutoFit/>
              </a:bodyPr>
              <a:lstStyle/>
              <a:p>
                <a:r>
                  <a:rPr lang="en-US" sz="2400" dirty="0"/>
                  <a:t>How many edges does </a:t>
                </a:r>
                <a14:m>
                  <m:oMath xmlns:m="http://schemas.openxmlformats.org/officeDocument/2006/math">
                    <m:r>
                      <a:rPr lang="en-US" sz="2400" i="1" smtClean="0">
                        <a:solidFill>
                          <a:srgbClr val="7030A0"/>
                        </a:solidFill>
                        <a:latin typeface="Cambria Math" panose="02040503050406030204" pitchFamily="18" charset="0"/>
                      </a:rPr>
                      <m:t>𝑇</m:t>
                    </m:r>
                  </m:oMath>
                </a14:m>
                <a:r>
                  <a:rPr lang="en-US" sz="2400" dirty="0"/>
                  <a:t> have?</a:t>
                </a:r>
              </a:p>
            </p:txBody>
          </p:sp>
        </mc:Choice>
        <mc:Fallback xmlns="">
          <p:sp>
            <p:nvSpPr>
              <p:cNvPr id="45" name="TextBox 44"/>
              <p:cNvSpPr txBox="1">
                <a:spLocks noRot="1" noChangeAspect="1" noMove="1" noResize="1" noEditPoints="1" noAdjustHandles="1" noChangeArrowheads="1" noChangeShapeType="1" noTextEdit="1"/>
              </p:cNvSpPr>
              <p:nvPr/>
            </p:nvSpPr>
            <p:spPr>
              <a:xfrm>
                <a:off x="6495239" y="2528745"/>
                <a:ext cx="5105399" cy="461665"/>
              </a:xfrm>
              <a:prstGeom prst="rect">
                <a:avLst/>
              </a:prstGeom>
              <a:blipFill>
                <a:blip r:embed="rId4"/>
                <a:stretch>
                  <a:fillRect l="-1790"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6515197" y="2955790"/>
                <a:ext cx="9916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rPr>
                        <m:t>𝑉</m:t>
                      </m:r>
                      <m:r>
                        <a:rPr lang="en-US" sz="2400" i="1" smtClean="0">
                          <a:latin typeface="Cambria Math"/>
                        </a:rPr>
                        <m:t>−1</m:t>
                      </m:r>
                    </m:oMath>
                  </m:oMathPara>
                </a14:m>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6515197" y="2955790"/>
                <a:ext cx="991682" cy="461665"/>
              </a:xfrm>
              <a:prstGeom prst="rect">
                <a:avLst/>
              </a:prstGeom>
              <a:blipFill>
                <a:blip r:embed="rId5"/>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B246D666-609F-D15B-7C0C-7CF1070E52BC}"/>
              </a:ext>
            </a:extLst>
          </p:cNvPr>
          <p:cNvSpPr txBox="1"/>
          <p:nvPr/>
        </p:nvSpPr>
        <p:spPr>
          <a:xfrm>
            <a:off x="590843" y="5522096"/>
            <a:ext cx="4940126" cy="1200329"/>
          </a:xfrm>
          <a:prstGeom prst="rect">
            <a:avLst/>
          </a:prstGeom>
          <a:noFill/>
          <a:ln w="57150">
            <a:solidFill>
              <a:schemeClr val="accent6"/>
            </a:solidFill>
          </a:ln>
        </p:spPr>
        <p:txBody>
          <a:bodyPr wrap="square" rtlCol="0">
            <a:spAutoFit/>
          </a:bodyPr>
          <a:lstStyle/>
          <a:p>
            <a:r>
              <a:rPr lang="en-US" sz="2400" dirty="0"/>
              <a:t>Any set of V-1 edges in the graph that doesn’t have any cycles is guaranteed to be a spanning tree!</a:t>
            </a:r>
          </a:p>
        </p:txBody>
      </p:sp>
      <p:sp>
        <p:nvSpPr>
          <p:cNvPr id="47" name="TextBox 46">
            <a:extLst>
              <a:ext uri="{FF2B5EF4-FFF2-40B4-BE49-F238E27FC236}">
                <a16:creationId xmlns:a16="http://schemas.microsoft.com/office/drawing/2014/main" id="{133E7E20-EA93-8035-694F-E8CD7FC041CD}"/>
              </a:ext>
            </a:extLst>
          </p:cNvPr>
          <p:cNvSpPr txBox="1"/>
          <p:nvPr/>
        </p:nvSpPr>
        <p:spPr>
          <a:xfrm>
            <a:off x="6752341" y="5530248"/>
            <a:ext cx="5247534" cy="1200329"/>
          </a:xfrm>
          <a:prstGeom prst="rect">
            <a:avLst/>
          </a:prstGeom>
          <a:noFill/>
          <a:ln w="57150">
            <a:solidFill>
              <a:schemeClr val="accent6"/>
            </a:solidFill>
          </a:ln>
        </p:spPr>
        <p:txBody>
          <a:bodyPr wrap="square" rtlCol="0">
            <a:spAutoFit/>
          </a:bodyPr>
          <a:lstStyle/>
          <a:p>
            <a:r>
              <a:rPr lang="en-US" sz="2400" dirty="0"/>
              <a:t>Any set of V-1 edges that connects all the nodes in the graph is guaranteed to be a spanning tree!</a:t>
            </a:r>
          </a:p>
        </p:txBody>
      </p:sp>
      <p:grpSp>
        <p:nvGrpSpPr>
          <p:cNvPr id="48" name="Group 47">
            <a:extLst>
              <a:ext uri="{FF2B5EF4-FFF2-40B4-BE49-F238E27FC236}">
                <a16:creationId xmlns:a16="http://schemas.microsoft.com/office/drawing/2014/main" id="{4732E8A7-037B-299E-EC21-146EAA9F2D88}"/>
              </a:ext>
            </a:extLst>
          </p:cNvPr>
          <p:cNvGrpSpPr/>
          <p:nvPr/>
        </p:nvGrpSpPr>
        <p:grpSpPr>
          <a:xfrm>
            <a:off x="7826703" y="3036374"/>
            <a:ext cx="2958368" cy="2356017"/>
            <a:chOff x="1432702" y="2862182"/>
            <a:chExt cx="5611644" cy="4115955"/>
          </a:xfrm>
        </p:grpSpPr>
        <p:cxnSp>
          <p:nvCxnSpPr>
            <p:cNvPr id="49" name="Straight Connector 48">
              <a:extLst>
                <a:ext uri="{FF2B5EF4-FFF2-40B4-BE49-F238E27FC236}">
                  <a16:creationId xmlns:a16="http://schemas.microsoft.com/office/drawing/2014/main" id="{BB1FCFD3-C026-5AAC-D60C-83FF379DE935}"/>
                </a:ext>
              </a:extLst>
            </p:cNvPr>
            <p:cNvCxnSpPr>
              <a:stCxn id="77" idx="7"/>
              <a:endCxn id="78" idx="2"/>
            </p:cNvCxnSpPr>
            <p:nvPr/>
          </p:nvCxnSpPr>
          <p:spPr>
            <a:xfrm flipV="1">
              <a:off x="1915935" y="4084623"/>
              <a:ext cx="860255" cy="67622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7A50C1-9A37-A27F-9C2F-363F3EDF672D}"/>
                </a:ext>
              </a:extLst>
            </p:cNvPr>
            <p:cNvCxnSpPr>
              <a:cxnSpLocks/>
              <a:stCxn id="78" idx="0"/>
              <a:endCxn id="81" idx="2"/>
            </p:cNvCxnSpPr>
            <p:nvPr/>
          </p:nvCxnSpPr>
          <p:spPr>
            <a:xfrm flipV="1">
              <a:off x="3032824" y="3329118"/>
              <a:ext cx="921675" cy="49887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CA9C25D-6CEA-61D1-6AB4-B1C80269C912}"/>
                </a:ext>
              </a:extLst>
            </p:cNvPr>
            <p:cNvCxnSpPr>
              <a:cxnSpLocks/>
              <a:stCxn id="82" idx="2"/>
              <a:endCxn id="79" idx="0"/>
            </p:cNvCxnSpPr>
            <p:nvPr/>
          </p:nvCxnSpPr>
          <p:spPr>
            <a:xfrm flipH="1">
              <a:off x="3078045" y="5895825"/>
              <a:ext cx="619819" cy="48474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1986DD-D33F-E38A-309A-5D0E2B885B60}"/>
                </a:ext>
              </a:extLst>
            </p:cNvPr>
            <p:cNvCxnSpPr>
              <a:stCxn id="80" idx="5"/>
              <a:endCxn id="82" idx="0"/>
            </p:cNvCxnSpPr>
            <p:nvPr/>
          </p:nvCxnSpPr>
          <p:spPr>
            <a:xfrm flipH="1" flipV="1">
              <a:off x="3954499" y="5639190"/>
              <a:ext cx="911556" cy="126378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1AFA3C-C91A-CDEA-ACAA-3352375B4A59}"/>
                </a:ext>
              </a:extLst>
            </p:cNvPr>
            <p:cNvCxnSpPr>
              <a:cxnSpLocks/>
              <a:stCxn id="82" idx="0"/>
              <a:endCxn id="83" idx="3"/>
            </p:cNvCxnSpPr>
            <p:nvPr/>
          </p:nvCxnSpPr>
          <p:spPr>
            <a:xfrm flipV="1">
              <a:off x="3954498" y="5198948"/>
              <a:ext cx="687764" cy="44024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745BA8-4A73-452A-9E27-DF08ED825568}"/>
                </a:ext>
              </a:extLst>
            </p:cNvPr>
            <p:cNvCxnSpPr>
              <a:cxnSpLocks/>
              <a:stCxn id="83" idx="0"/>
              <a:endCxn id="81" idx="4"/>
            </p:cNvCxnSpPr>
            <p:nvPr/>
          </p:nvCxnSpPr>
          <p:spPr>
            <a:xfrm flipH="1" flipV="1">
              <a:off x="4211133" y="3585751"/>
              <a:ext cx="612597" cy="117509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8D2F75-FF97-A6FD-7227-0DCB98A33297}"/>
                </a:ext>
              </a:extLst>
            </p:cNvPr>
            <p:cNvCxnSpPr>
              <a:stCxn id="85" idx="2"/>
              <a:endCxn id="81"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FCD1DC2-563F-2AED-163C-335329BD4AE1}"/>
                </a:ext>
              </a:extLst>
            </p:cNvPr>
            <p:cNvCxnSpPr>
              <a:stCxn id="84" idx="1"/>
              <a:endCxn id="85"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9035A85-5020-B35B-AD20-9E681E5CA401}"/>
                </a:ext>
              </a:extLst>
            </p:cNvPr>
            <p:cNvSpPr txBox="1"/>
            <p:nvPr/>
          </p:nvSpPr>
          <p:spPr>
            <a:xfrm>
              <a:off x="1432702" y="3694097"/>
              <a:ext cx="641186" cy="565580"/>
            </a:xfrm>
            <a:prstGeom prst="rect">
              <a:avLst/>
            </a:prstGeom>
            <a:noFill/>
          </p:spPr>
          <p:txBody>
            <a:bodyPr wrap="none" rtlCol="0">
              <a:spAutoFit/>
            </a:bodyPr>
            <a:lstStyle/>
            <a:p>
              <a:r>
                <a:rPr lang="en-US" dirty="0">
                  <a:solidFill>
                    <a:srgbClr val="00B050"/>
                  </a:solidFill>
                </a:rPr>
                <a:t>10</a:t>
              </a:r>
            </a:p>
          </p:txBody>
        </p:sp>
        <p:sp>
          <p:nvSpPr>
            <p:cNvPr id="63" name="TextBox 62">
              <a:extLst>
                <a:ext uri="{FF2B5EF4-FFF2-40B4-BE49-F238E27FC236}">
                  <a16:creationId xmlns:a16="http://schemas.microsoft.com/office/drawing/2014/main" id="{72230D9B-D3FF-72D2-7566-8CE0A951D8E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4" name="TextBox 63">
              <a:extLst>
                <a:ext uri="{FF2B5EF4-FFF2-40B4-BE49-F238E27FC236}">
                  <a16:creationId xmlns:a16="http://schemas.microsoft.com/office/drawing/2014/main" id="{E97089D1-DF55-1B4D-80F6-9E14ECEAC5A0}"/>
                </a:ext>
              </a:extLst>
            </p:cNvPr>
            <p:cNvSpPr txBox="1"/>
            <p:nvPr/>
          </p:nvSpPr>
          <p:spPr>
            <a:xfrm>
              <a:off x="4536221" y="5277579"/>
              <a:ext cx="461991" cy="565580"/>
            </a:xfrm>
            <a:prstGeom prst="rect">
              <a:avLst/>
            </a:prstGeom>
            <a:noFill/>
          </p:spPr>
          <p:txBody>
            <a:bodyPr wrap="none" rtlCol="0">
              <a:spAutoFit/>
            </a:bodyPr>
            <a:lstStyle/>
            <a:p>
              <a:r>
                <a:rPr lang="en-US" dirty="0">
                  <a:solidFill>
                    <a:srgbClr val="00B050"/>
                  </a:solidFill>
                </a:rPr>
                <a:t>6</a:t>
              </a:r>
            </a:p>
          </p:txBody>
        </p:sp>
        <p:sp>
          <p:nvSpPr>
            <p:cNvPr id="67" name="TextBox 66">
              <a:extLst>
                <a:ext uri="{FF2B5EF4-FFF2-40B4-BE49-F238E27FC236}">
                  <a16:creationId xmlns:a16="http://schemas.microsoft.com/office/drawing/2014/main" id="{6896A68C-DC18-069D-8EF1-BF1CAAF70828}"/>
                </a:ext>
              </a:extLst>
            </p:cNvPr>
            <p:cNvSpPr txBox="1"/>
            <p:nvPr/>
          </p:nvSpPr>
          <p:spPr>
            <a:xfrm>
              <a:off x="3909734" y="4009737"/>
              <a:ext cx="461991" cy="565580"/>
            </a:xfrm>
            <a:prstGeom prst="rect">
              <a:avLst/>
            </a:prstGeom>
            <a:noFill/>
          </p:spPr>
          <p:txBody>
            <a:bodyPr wrap="none" rtlCol="0">
              <a:spAutoFit/>
            </a:bodyPr>
            <a:lstStyle/>
            <a:p>
              <a:r>
                <a:rPr lang="en-US" dirty="0">
                  <a:solidFill>
                    <a:srgbClr val="00B050"/>
                  </a:solidFill>
                </a:rPr>
                <a:t>5</a:t>
              </a:r>
            </a:p>
          </p:txBody>
        </p:sp>
        <p:sp>
          <p:nvSpPr>
            <p:cNvPr id="68" name="TextBox 67">
              <a:extLst>
                <a:ext uri="{FF2B5EF4-FFF2-40B4-BE49-F238E27FC236}">
                  <a16:creationId xmlns:a16="http://schemas.microsoft.com/office/drawing/2014/main" id="{91C82AF7-EEF1-367B-4071-91228A4BA732}"/>
                </a:ext>
              </a:extLst>
            </p:cNvPr>
            <p:cNvSpPr txBox="1"/>
            <p:nvPr/>
          </p:nvSpPr>
          <p:spPr>
            <a:xfrm>
              <a:off x="4738592" y="3105602"/>
              <a:ext cx="461991" cy="565580"/>
            </a:xfrm>
            <a:prstGeom prst="rect">
              <a:avLst/>
            </a:prstGeom>
            <a:noFill/>
          </p:spPr>
          <p:txBody>
            <a:bodyPr wrap="none" rtlCol="0">
              <a:spAutoFit/>
            </a:bodyPr>
            <a:lstStyle/>
            <a:p>
              <a:r>
                <a:rPr lang="en-US" dirty="0">
                  <a:solidFill>
                    <a:srgbClr val="00B050"/>
                  </a:solidFill>
                </a:rPr>
                <a:t>8</a:t>
              </a:r>
            </a:p>
          </p:txBody>
        </p:sp>
        <p:sp>
          <p:nvSpPr>
            <p:cNvPr id="69" name="TextBox 68">
              <a:extLst>
                <a:ext uri="{FF2B5EF4-FFF2-40B4-BE49-F238E27FC236}">
                  <a16:creationId xmlns:a16="http://schemas.microsoft.com/office/drawing/2014/main" id="{DF100153-71BB-201E-DD9B-1B83D7288D68}"/>
                </a:ext>
              </a:extLst>
            </p:cNvPr>
            <p:cNvSpPr txBox="1"/>
            <p:nvPr/>
          </p:nvSpPr>
          <p:spPr>
            <a:xfrm>
              <a:off x="3854912" y="6131659"/>
              <a:ext cx="461991" cy="565580"/>
            </a:xfrm>
            <a:prstGeom prst="rect">
              <a:avLst/>
            </a:prstGeom>
            <a:noFill/>
          </p:spPr>
          <p:txBody>
            <a:bodyPr wrap="none" rtlCol="0">
              <a:spAutoFit/>
            </a:bodyPr>
            <a:lstStyle/>
            <a:p>
              <a:r>
                <a:rPr lang="en-US" dirty="0">
                  <a:solidFill>
                    <a:srgbClr val="00B050"/>
                  </a:solidFill>
                </a:rPr>
                <a:t>3</a:t>
              </a:r>
            </a:p>
          </p:txBody>
        </p:sp>
        <p:sp>
          <p:nvSpPr>
            <p:cNvPr id="72" name="TextBox 71">
              <a:extLst>
                <a:ext uri="{FF2B5EF4-FFF2-40B4-BE49-F238E27FC236}">
                  <a16:creationId xmlns:a16="http://schemas.microsoft.com/office/drawing/2014/main" id="{B7D3B4F1-3D28-4241-4D3D-ACC1D26EF3ED}"/>
                </a:ext>
              </a:extLst>
            </p:cNvPr>
            <p:cNvSpPr txBox="1"/>
            <p:nvPr/>
          </p:nvSpPr>
          <p:spPr>
            <a:xfrm>
              <a:off x="2710541" y="5534614"/>
              <a:ext cx="461991" cy="565580"/>
            </a:xfrm>
            <a:prstGeom prst="rect">
              <a:avLst/>
            </a:prstGeom>
            <a:noFill/>
          </p:spPr>
          <p:txBody>
            <a:bodyPr wrap="none" rtlCol="0">
              <a:spAutoFit/>
            </a:bodyPr>
            <a:lstStyle/>
            <a:p>
              <a:r>
                <a:rPr lang="en-US" dirty="0">
                  <a:solidFill>
                    <a:srgbClr val="00B050"/>
                  </a:solidFill>
                </a:rPr>
                <a:t>1</a:t>
              </a:r>
            </a:p>
          </p:txBody>
        </p:sp>
        <p:sp>
          <p:nvSpPr>
            <p:cNvPr id="73" name="TextBox 72">
              <a:extLst>
                <a:ext uri="{FF2B5EF4-FFF2-40B4-BE49-F238E27FC236}">
                  <a16:creationId xmlns:a16="http://schemas.microsoft.com/office/drawing/2014/main" id="{3FC12340-5B23-53AD-68B9-3680DE43A75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7" name="Oval 76">
              <a:extLst>
                <a:ext uri="{FF2B5EF4-FFF2-40B4-BE49-F238E27FC236}">
                  <a16:creationId xmlns:a16="http://schemas.microsoft.com/office/drawing/2014/main" id="{D9736B80-672C-C04B-9780-CA42CA5B6B80}"/>
                </a:ext>
              </a:extLst>
            </p:cNvPr>
            <p:cNvSpPr/>
            <p:nvPr/>
          </p:nvSpPr>
          <p:spPr>
            <a:xfrm>
              <a:off x="1477834" y="468568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8" name="Oval 77">
              <a:extLst>
                <a:ext uri="{FF2B5EF4-FFF2-40B4-BE49-F238E27FC236}">
                  <a16:creationId xmlns:a16="http://schemas.microsoft.com/office/drawing/2014/main" id="{40E8B5E5-D8AF-9E8D-0807-7036E6AB40A8}"/>
                </a:ext>
              </a:extLst>
            </p:cNvPr>
            <p:cNvSpPr/>
            <p:nvPr/>
          </p:nvSpPr>
          <p:spPr>
            <a:xfrm>
              <a:off x="2776190" y="38279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9" name="Oval 78">
              <a:extLst>
                <a:ext uri="{FF2B5EF4-FFF2-40B4-BE49-F238E27FC236}">
                  <a16:creationId xmlns:a16="http://schemas.microsoft.com/office/drawing/2014/main" id="{1C702440-AE84-0B68-ADB0-B32BC6A29136}"/>
                </a:ext>
              </a:extLst>
            </p:cNvPr>
            <p:cNvSpPr/>
            <p:nvPr/>
          </p:nvSpPr>
          <p:spPr>
            <a:xfrm>
              <a:off x="2821411" y="638056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0" name="Oval 79">
              <a:extLst>
                <a:ext uri="{FF2B5EF4-FFF2-40B4-BE49-F238E27FC236}">
                  <a16:creationId xmlns:a16="http://schemas.microsoft.com/office/drawing/2014/main" id="{312E0FF9-FFA2-AE93-FB5F-F5FF6F537C6A}"/>
                </a:ext>
              </a:extLst>
            </p:cNvPr>
            <p:cNvSpPr/>
            <p:nvPr/>
          </p:nvSpPr>
          <p:spPr>
            <a:xfrm>
              <a:off x="4427954" y="646487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1" name="Oval 80">
              <a:extLst>
                <a:ext uri="{FF2B5EF4-FFF2-40B4-BE49-F238E27FC236}">
                  <a16:creationId xmlns:a16="http://schemas.microsoft.com/office/drawing/2014/main" id="{B79F8115-BE43-37A0-9FF2-7B4FA47DB6F1}"/>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2" name="Oval 81">
              <a:extLst>
                <a:ext uri="{FF2B5EF4-FFF2-40B4-BE49-F238E27FC236}">
                  <a16:creationId xmlns:a16="http://schemas.microsoft.com/office/drawing/2014/main" id="{72A56ACB-13B5-892C-2F2F-A7DC5A3F0B05}"/>
                </a:ext>
              </a:extLst>
            </p:cNvPr>
            <p:cNvSpPr/>
            <p:nvPr/>
          </p:nvSpPr>
          <p:spPr>
            <a:xfrm>
              <a:off x="3697864" y="563919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3" name="Oval 82">
              <a:extLst>
                <a:ext uri="{FF2B5EF4-FFF2-40B4-BE49-F238E27FC236}">
                  <a16:creationId xmlns:a16="http://schemas.microsoft.com/office/drawing/2014/main" id="{BDA74340-C69D-11B5-05AA-510AD29F8B7F}"/>
                </a:ext>
              </a:extLst>
            </p:cNvPr>
            <p:cNvSpPr/>
            <p:nvPr/>
          </p:nvSpPr>
          <p:spPr>
            <a:xfrm>
              <a:off x="4567096" y="476084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4" name="Oval 83">
              <a:extLst>
                <a:ext uri="{FF2B5EF4-FFF2-40B4-BE49-F238E27FC236}">
                  <a16:creationId xmlns:a16="http://schemas.microsoft.com/office/drawing/2014/main" id="{2907B891-FA67-28DA-A775-33D2EB4072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BC402565-3583-0D56-D32B-78A89581E3A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102" name="Straight Arrow Connector 101">
            <a:extLst>
              <a:ext uri="{FF2B5EF4-FFF2-40B4-BE49-F238E27FC236}">
                <a16:creationId xmlns:a16="http://schemas.microsoft.com/office/drawing/2014/main" id="{A0D96096-B668-BCED-AFCA-D174D94FAD09}"/>
              </a:ext>
            </a:extLst>
          </p:cNvPr>
          <p:cNvCxnSpPr>
            <a:cxnSpLocks/>
          </p:cNvCxnSpPr>
          <p:nvPr/>
        </p:nvCxnSpPr>
        <p:spPr>
          <a:xfrm>
            <a:off x="5678896" y="4180475"/>
            <a:ext cx="156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178988F-28B9-6EB1-7F46-3F25C3DD6855}"/>
              </a:ext>
            </a:extLst>
          </p:cNvPr>
          <p:cNvSpPr txBox="1"/>
          <p:nvPr/>
        </p:nvSpPr>
        <p:spPr>
          <a:xfrm>
            <a:off x="5399973" y="4348596"/>
            <a:ext cx="2015433" cy="923330"/>
          </a:xfrm>
          <a:prstGeom prst="rect">
            <a:avLst/>
          </a:prstGeom>
          <a:noFill/>
        </p:spPr>
        <p:txBody>
          <a:bodyPr wrap="square" rtlCol="0">
            <a:spAutoFit/>
          </a:bodyPr>
          <a:lstStyle/>
          <a:p>
            <a:pPr algn="ctr"/>
            <a:r>
              <a:rPr lang="en-US" dirty="0"/>
              <a:t>Pick some arbitrary root node and rearrange tree</a:t>
            </a:r>
          </a:p>
        </p:txBody>
      </p:sp>
    </p:spTree>
    <p:extLst>
      <p:ext uri="{BB962C8B-B14F-4D97-AF65-F5344CB8AC3E}">
        <p14:creationId xmlns:p14="http://schemas.microsoft.com/office/powerpoint/2010/main" val="226818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4" grpId="0" animBg="1"/>
      <p:bldP spid="47" grpId="0" animBg="1"/>
      <p:bldP spid="1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Minimum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5</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A Tree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that has minimal </a:t>
                </a:r>
                <a:r>
                  <a:rPr lang="en-US" sz="2800" dirty="0">
                    <a:solidFill>
                      <a:srgbClr val="0070C0"/>
                    </a:solidFill>
                  </a:rPr>
                  <a:t>cost</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b="-118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6553200" y="3015806"/>
                <a:ext cx="4285143" cy="10323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70C0"/>
                          </a:solidFill>
                          <a:latin typeface="Cambria Math"/>
                        </a:rPr>
                        <m:t>𝐶𝑜𝑠𝑡</m:t>
                      </m:r>
                      <m:d>
                        <m:dPr>
                          <m:ctrlPr>
                            <a:rPr lang="en-US" sz="2400" i="1">
                              <a:solidFill>
                                <a:srgbClr val="0070C0"/>
                              </a:solidFill>
                              <a:latin typeface="Cambria Math" panose="02040503050406030204" pitchFamily="18" charset="0"/>
                            </a:rPr>
                          </m:ctrlPr>
                        </m:dPr>
                        <m:e>
                          <m:r>
                            <a:rPr lang="en-US" sz="2400" i="1">
                              <a:solidFill>
                                <a:srgbClr val="0070C0"/>
                              </a:solidFill>
                              <a:latin typeface="Cambria Math"/>
                            </a:rPr>
                            <m:t>𝑇</m:t>
                          </m:r>
                        </m:e>
                      </m:d>
                      <m:r>
                        <a:rPr lang="en-US" sz="2400" i="1">
                          <a:solidFill>
                            <a:srgbClr val="0070C0"/>
                          </a:solidFill>
                          <a:latin typeface="Cambria Math"/>
                        </a:rPr>
                        <m:t>=</m:t>
                      </m:r>
                      <m:nary>
                        <m:naryPr>
                          <m:chr m:val="∑"/>
                          <m:supHide m:val="on"/>
                          <m:ctrlPr>
                            <a:rPr lang="en-US" sz="2400" i="1">
                              <a:solidFill>
                                <a:srgbClr val="0070C0"/>
                              </a:solidFill>
                              <a:latin typeface="Cambria Math" panose="02040503050406030204" pitchFamily="18" charset="0"/>
                            </a:rPr>
                          </m:ctrlPr>
                        </m:naryPr>
                        <m:sub>
                          <m:r>
                            <a:rPr lang="en-US" sz="2400" i="1">
                              <a:solidFill>
                                <a:srgbClr val="0070C0"/>
                              </a:solidFill>
                              <a:latin typeface="Cambria Math"/>
                            </a:rPr>
                            <m:t>𝑒</m:t>
                          </m:r>
                          <m:r>
                            <a:rPr lang="en-US" sz="2400" i="1">
                              <a:solidFill>
                                <a:srgbClr val="0070C0"/>
                              </a:solidFill>
                              <a:latin typeface="Cambria Math"/>
                            </a:rPr>
                            <m:t>∈</m:t>
                          </m:r>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a:rPr>
                                <m:t>𝐸</m:t>
                              </m:r>
                            </m:e>
                            <m:sub>
                              <m:r>
                                <a:rPr lang="en-US" sz="2400" i="1">
                                  <a:solidFill>
                                    <a:srgbClr val="0070C0"/>
                                  </a:solidFill>
                                  <a:latin typeface="Cambria Math"/>
                                </a:rPr>
                                <m:t>𝑇</m:t>
                              </m:r>
                            </m:sub>
                          </m:sSub>
                        </m:sub>
                        <m:sup/>
                        <m:e>
                          <m:r>
                            <a:rPr lang="en-US" sz="2400" i="1">
                              <a:solidFill>
                                <a:srgbClr val="0070C0"/>
                              </a:solidFill>
                              <a:latin typeface="Cambria Math"/>
                            </a:rPr>
                            <m:t>𝑤</m:t>
                          </m:r>
                          <m:r>
                            <a:rPr lang="en-US" sz="2400" i="1">
                              <a:solidFill>
                                <a:srgbClr val="0070C0"/>
                              </a:solidFill>
                              <a:latin typeface="Cambria Math"/>
                            </a:rPr>
                            <m:t>(</m:t>
                          </m:r>
                          <m:r>
                            <a:rPr lang="en-US" sz="2400" i="1">
                              <a:solidFill>
                                <a:srgbClr val="0070C0"/>
                              </a:solidFill>
                              <a:latin typeface="Cambria Math"/>
                            </a:rPr>
                            <m:t>𝑒</m:t>
                          </m:r>
                          <m:r>
                            <a:rPr lang="en-US" sz="2400" i="1">
                              <a:solidFill>
                                <a:srgbClr val="0070C0"/>
                              </a:solidFill>
                              <a:latin typeface="Cambria Math"/>
                            </a:rPr>
                            <m:t>)</m:t>
                          </m:r>
                        </m:e>
                      </m:nary>
                    </m:oMath>
                  </m:oMathPara>
                </a14:m>
                <a:endParaRPr lang="en-US" sz="2400" dirty="0">
                  <a:solidFill>
                    <a:srgbClr val="0070C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6553200" y="3015806"/>
                <a:ext cx="4285143" cy="1032334"/>
              </a:xfrm>
              <a:prstGeom prst="rect">
                <a:avLst/>
              </a:prstGeom>
              <a:blipFill>
                <a:blip r:embed="rId3"/>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22F159F-B80A-C157-4C96-C4642078A9E5}"/>
              </a:ext>
            </a:extLst>
          </p:cNvPr>
          <p:cNvGrpSpPr/>
          <p:nvPr/>
        </p:nvGrpSpPr>
        <p:grpSpPr>
          <a:xfrm>
            <a:off x="762000" y="2679355"/>
            <a:ext cx="4600060" cy="2787240"/>
            <a:chOff x="0" y="2862182"/>
            <a:chExt cx="7044346" cy="4268266"/>
          </a:xfrm>
        </p:grpSpPr>
        <p:cxnSp>
          <p:nvCxnSpPr>
            <p:cNvPr id="45" name="Straight Connector 44">
              <a:extLst>
                <a:ext uri="{FF2B5EF4-FFF2-40B4-BE49-F238E27FC236}">
                  <a16:creationId xmlns:a16="http://schemas.microsoft.com/office/drawing/2014/main" id="{46FED863-865D-634E-ECB4-98C9421DCEDE}"/>
                </a:ext>
              </a:extLst>
            </p:cNvPr>
            <p:cNvCxnSpPr>
              <a:stCxn id="73" idx="7"/>
              <a:endCxn id="74"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C478A7B-4AF0-4466-8C46-32CA092757FF}"/>
                </a:ext>
              </a:extLst>
            </p:cNvPr>
            <p:cNvCxnSpPr>
              <a:stCxn id="74" idx="6"/>
              <a:endCxn id="77"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4D0174-2F50-6989-7D9D-8E42553A4399}"/>
                </a:ext>
              </a:extLst>
            </p:cNvPr>
            <p:cNvCxnSpPr>
              <a:stCxn id="73" idx="4"/>
              <a:endCxn id="75"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61DFCEE-5B37-42E7-E069-80A51075AB07}"/>
                </a:ext>
              </a:extLst>
            </p:cNvPr>
            <p:cNvCxnSpPr>
              <a:stCxn id="76" idx="3"/>
              <a:endCxn id="75"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238A83-2035-0A88-D168-55BEAC018F0F}"/>
                </a:ext>
              </a:extLst>
            </p:cNvPr>
            <p:cNvCxnSpPr>
              <a:stCxn id="78" idx="2"/>
              <a:endCxn id="75"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23DD847-FC1A-3342-87DF-099C5B727BED}"/>
                </a:ext>
              </a:extLst>
            </p:cNvPr>
            <p:cNvCxnSpPr>
              <a:stCxn id="76" idx="5"/>
              <a:endCxn id="78"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A1DD3D6-370A-4B71-567E-21A14FC24BA6}"/>
                </a:ext>
              </a:extLst>
            </p:cNvPr>
            <p:cNvCxnSpPr>
              <a:stCxn id="76" idx="7"/>
              <a:endCxn id="77"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899F5F0-0B4D-6AFB-6EED-E566CADE2301}"/>
                </a:ext>
              </a:extLst>
            </p:cNvPr>
            <p:cNvCxnSpPr>
              <a:stCxn id="78" idx="6"/>
              <a:endCxn id="79"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25F6022-9090-6527-1F59-0D333B0A25F8}"/>
                </a:ext>
              </a:extLst>
            </p:cNvPr>
            <p:cNvCxnSpPr>
              <a:stCxn id="79" idx="1"/>
              <a:endCxn id="77"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364D8E9-F116-78BE-D38D-FB6DF5360082}"/>
                </a:ext>
              </a:extLst>
            </p:cNvPr>
            <p:cNvCxnSpPr>
              <a:stCxn id="81" idx="2"/>
              <a:endCxn id="77"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A99EBB7-705E-2A11-7ECF-BB31578054FE}"/>
                </a:ext>
              </a:extLst>
            </p:cNvPr>
            <p:cNvCxnSpPr>
              <a:stCxn id="79" idx="0"/>
              <a:endCxn id="81"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7882B70-80F0-4A51-62D8-EF4AA5C73C39}"/>
                </a:ext>
              </a:extLst>
            </p:cNvPr>
            <p:cNvCxnSpPr>
              <a:stCxn id="80" idx="1"/>
              <a:endCxn id="81"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0252944-E4E9-DA1B-75B1-987F6F2CB6C1}"/>
                </a:ext>
              </a:extLst>
            </p:cNvPr>
            <p:cNvCxnSpPr>
              <a:stCxn id="80" idx="3"/>
              <a:endCxn id="79"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0EDE33B-051E-D674-2540-CFC844E09C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59" name="TextBox 58">
              <a:extLst>
                <a:ext uri="{FF2B5EF4-FFF2-40B4-BE49-F238E27FC236}">
                  <a16:creationId xmlns:a16="http://schemas.microsoft.com/office/drawing/2014/main" id="{CEE2EC90-E981-0328-C8DE-22E6D940675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0" name="TextBox 59">
              <a:extLst>
                <a:ext uri="{FF2B5EF4-FFF2-40B4-BE49-F238E27FC236}">
                  <a16:creationId xmlns:a16="http://schemas.microsoft.com/office/drawing/2014/main" id="{5CB8DBC3-E8FF-0D9C-4968-E47053F336F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1" name="TextBox 60">
              <a:extLst>
                <a:ext uri="{FF2B5EF4-FFF2-40B4-BE49-F238E27FC236}">
                  <a16:creationId xmlns:a16="http://schemas.microsoft.com/office/drawing/2014/main" id="{BDCB4CC3-8507-9F62-0297-09F77BC88F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2" name="TextBox 61">
              <a:extLst>
                <a:ext uri="{FF2B5EF4-FFF2-40B4-BE49-F238E27FC236}">
                  <a16:creationId xmlns:a16="http://schemas.microsoft.com/office/drawing/2014/main" id="{3ADE5CD5-1BDB-E7B6-914C-5F441D4C3F80}"/>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3" name="TextBox 62">
              <a:extLst>
                <a:ext uri="{FF2B5EF4-FFF2-40B4-BE49-F238E27FC236}">
                  <a16:creationId xmlns:a16="http://schemas.microsoft.com/office/drawing/2014/main" id="{39E9679D-7B96-B7C7-137B-CA41C79C3B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4" name="TextBox 63">
              <a:extLst>
                <a:ext uri="{FF2B5EF4-FFF2-40B4-BE49-F238E27FC236}">
                  <a16:creationId xmlns:a16="http://schemas.microsoft.com/office/drawing/2014/main" id="{B7C697DA-259D-BCEA-08FE-3BFC2E1AC16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5" name="TextBox 64">
              <a:extLst>
                <a:ext uri="{FF2B5EF4-FFF2-40B4-BE49-F238E27FC236}">
                  <a16:creationId xmlns:a16="http://schemas.microsoft.com/office/drawing/2014/main" id="{8F86308A-B00B-9267-CFA2-0C2B85CD1CD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6" name="TextBox 65">
              <a:extLst>
                <a:ext uri="{FF2B5EF4-FFF2-40B4-BE49-F238E27FC236}">
                  <a16:creationId xmlns:a16="http://schemas.microsoft.com/office/drawing/2014/main" id="{41FD4E8A-F90E-0EA8-704A-4B6220CDE1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7" name="TextBox 66">
              <a:extLst>
                <a:ext uri="{FF2B5EF4-FFF2-40B4-BE49-F238E27FC236}">
                  <a16:creationId xmlns:a16="http://schemas.microsoft.com/office/drawing/2014/main" id="{8BC87590-037E-7C03-A0FE-91AE65BF9C0B}"/>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68" name="TextBox 67">
              <a:extLst>
                <a:ext uri="{FF2B5EF4-FFF2-40B4-BE49-F238E27FC236}">
                  <a16:creationId xmlns:a16="http://schemas.microsoft.com/office/drawing/2014/main" id="{7D0A64C3-F7E0-BD6E-D6D6-FAD32C8C54E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69" name="TextBox 68">
              <a:extLst>
                <a:ext uri="{FF2B5EF4-FFF2-40B4-BE49-F238E27FC236}">
                  <a16:creationId xmlns:a16="http://schemas.microsoft.com/office/drawing/2014/main" id="{2B91F130-BC99-801D-8458-0598E9B827B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0" name="TextBox 69">
              <a:extLst>
                <a:ext uri="{FF2B5EF4-FFF2-40B4-BE49-F238E27FC236}">
                  <a16:creationId xmlns:a16="http://schemas.microsoft.com/office/drawing/2014/main" id="{492BC1B4-7483-FAE3-C9EC-5D858D3C84A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1" name="Straight Connector 70">
              <a:extLst>
                <a:ext uri="{FF2B5EF4-FFF2-40B4-BE49-F238E27FC236}">
                  <a16:creationId xmlns:a16="http://schemas.microsoft.com/office/drawing/2014/main" id="{34E69527-8A64-CDC1-7747-4FCEC7E90A1B}"/>
                </a:ext>
              </a:extLst>
            </p:cNvPr>
            <p:cNvCxnSpPr>
              <a:stCxn id="74" idx="4"/>
              <a:endCxn id="75"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362DECE-9B41-6D2A-F78F-CCECC7131A7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3" name="Oval 72">
              <a:extLst>
                <a:ext uri="{FF2B5EF4-FFF2-40B4-BE49-F238E27FC236}">
                  <a16:creationId xmlns:a16="http://schemas.microsoft.com/office/drawing/2014/main" id="{A0D895B5-75B7-FDAE-7DC6-D295D5E88DD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4" name="Oval 73">
              <a:extLst>
                <a:ext uri="{FF2B5EF4-FFF2-40B4-BE49-F238E27FC236}">
                  <a16:creationId xmlns:a16="http://schemas.microsoft.com/office/drawing/2014/main" id="{3A2C20D9-7FBD-186E-5E72-62EBF462D797}"/>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5" name="Oval 74">
              <a:extLst>
                <a:ext uri="{FF2B5EF4-FFF2-40B4-BE49-F238E27FC236}">
                  <a16:creationId xmlns:a16="http://schemas.microsoft.com/office/drawing/2014/main" id="{EA639342-9B38-ADD3-E106-BFA65EE12E2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6" name="Oval 75">
              <a:extLst>
                <a:ext uri="{FF2B5EF4-FFF2-40B4-BE49-F238E27FC236}">
                  <a16:creationId xmlns:a16="http://schemas.microsoft.com/office/drawing/2014/main" id="{1D14E2C0-32C5-7FE2-FD84-A373B21D99A8}"/>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7" name="Oval 76">
              <a:extLst>
                <a:ext uri="{FF2B5EF4-FFF2-40B4-BE49-F238E27FC236}">
                  <a16:creationId xmlns:a16="http://schemas.microsoft.com/office/drawing/2014/main" id="{85DD393A-165C-0060-66E3-46AB174E78F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8" name="Oval 77">
              <a:extLst>
                <a:ext uri="{FF2B5EF4-FFF2-40B4-BE49-F238E27FC236}">
                  <a16:creationId xmlns:a16="http://schemas.microsoft.com/office/drawing/2014/main" id="{013A770A-FB03-FDC5-C62C-287C2FB74BF9}"/>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79" name="Oval 78">
              <a:extLst>
                <a:ext uri="{FF2B5EF4-FFF2-40B4-BE49-F238E27FC236}">
                  <a16:creationId xmlns:a16="http://schemas.microsoft.com/office/drawing/2014/main" id="{55C51BB6-D0BF-D410-A63F-8FB7811AAE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0" name="Oval 79">
              <a:extLst>
                <a:ext uri="{FF2B5EF4-FFF2-40B4-BE49-F238E27FC236}">
                  <a16:creationId xmlns:a16="http://schemas.microsoft.com/office/drawing/2014/main" id="{2C82F691-9E7B-8D7D-A04C-8A2990C0BBC9}"/>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1" name="Oval 80">
              <a:extLst>
                <a:ext uri="{FF2B5EF4-FFF2-40B4-BE49-F238E27FC236}">
                  <a16:creationId xmlns:a16="http://schemas.microsoft.com/office/drawing/2014/main" id="{FCEFCA23-34BA-5342-172D-BB0D2DDC2D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257209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9379-55B1-C6C5-8AC3-7C78A1BA728D}"/>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A62FB211-6695-3630-37C2-92A9DEA17590}"/>
              </a:ext>
            </a:extLst>
          </p:cNvPr>
          <p:cNvSpPr/>
          <p:nvPr/>
        </p:nvSpPr>
        <p:spPr>
          <a:xfrm>
            <a:off x="3636579" y="4776952"/>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FF01B-9795-DC59-DD7D-8C00D4C86F15}"/>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4D3D091E-565F-F4D6-F024-01794E236D13}"/>
              </a:ext>
            </a:extLst>
          </p:cNvPr>
          <p:cNvSpPr>
            <a:spLocks noGrp="1"/>
          </p:cNvSpPr>
          <p:nvPr>
            <p:ph type="sldNum" sz="quarter" idx="12"/>
          </p:nvPr>
        </p:nvSpPr>
        <p:spPr/>
        <p:txBody>
          <a:bodyPr/>
          <a:lstStyle/>
          <a:p>
            <a:fld id="{86BADE50-950A-4D58-BFB2-FA2C6A8B385D}" type="slidenum">
              <a:rPr lang="en-US" smtClean="0"/>
              <a:t>6</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DBDD76-7E22-466A-EEE6-06F7D50FBC83}"/>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D6B8FD34-AE1A-6C6F-610D-CAA355705C97}"/>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E4A157BF-D34E-D5B3-2EDC-10004CF2CF09}"/>
                </a:ext>
              </a:extLst>
            </p:cNvPr>
            <p:cNvCxnSpPr>
              <a:stCxn id="34" idx="7"/>
              <a:endCxn id="35" idx="2"/>
            </p:cNvCxnSpPr>
            <p:nvPr/>
          </p:nvCxnSpPr>
          <p:spPr>
            <a:xfrm flipV="1">
              <a:off x="438102" y="3276727"/>
              <a:ext cx="1492916" cy="96260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922D61E-B1E6-228B-8F73-358DA7F56867}"/>
                </a:ext>
              </a:extLst>
            </p:cNvPr>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11F375-A57F-6878-06F6-0405CC12EDC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A0B742-76F2-E9C5-D004-1CD9060BFDE0}"/>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BB37A2-B1EF-83FB-1C2B-4CE4720B89EE}"/>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7C51C2-4322-1639-AA13-88326B143148}"/>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366AD3-760A-6888-2598-DD3287886AAB}"/>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13E6E-96C4-A8DE-5880-8DE375A658F0}"/>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5183CBA-2A94-60CA-AC29-CE8DAFA4BA1D}"/>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BE8D14-00B4-629E-107D-5330B9B7F5B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1B6D3A-F5F1-986D-F9F3-B373721357F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B61119-A5F2-EA4F-EB95-9F2480230C6B}"/>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580797-F9C0-FCC5-587D-6C863870CC5E}"/>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F171CCA-AD9A-1A63-278F-E1847BF0FF41}"/>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53E8B6F-5AFC-16CE-64C4-1A1AA590940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376FA79F-6287-1CC1-B552-5A4E287ED55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89A81195-F73C-E7CC-A451-0FD0F72AD913}"/>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B94CFC74-12BB-2AB7-2F15-B960D998496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3028016-9133-1710-068B-022595324BD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60FEEA6-A5C9-9C7F-9086-32A33E0BC3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ED7BE86-EF50-62EF-354B-9AEBD28A94B0}"/>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55708E66-B2BC-F0F4-DC2D-696D8842C27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7D57B577-B418-30B6-8385-8101D8784D3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67D43F3-8388-82FB-9441-38457CC2463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F7F61D3-7769-C3EC-B588-B4CB6176C1B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90C962FC-BF0B-495B-046E-C5B542CF96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7EB2F0E4-0EED-EBE5-DFBA-FFCE339DDD45}"/>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4F49258-08DA-5AEE-2466-E1179CF2C52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B89C64DA-0950-A812-F9D4-E9F7C38E3DD0}"/>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8E530A2F-8EA7-AF82-FCD1-0901E1D6336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174634-64BC-6A5E-0674-8D5E93712E4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6E50DC42-9CCF-632E-DABE-3B6E501B11A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A3F762D-D90B-74C4-90C9-C8B0BF6B8FC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B0520969-E5B9-E85C-D3BD-68254F497E3E}"/>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8A4CAC2-4ABC-5134-90C0-65AE3B7070A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53716B23-D302-590B-FEDD-8EBE8EECACB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CDCEBD1-2513-38EC-02EB-CC1B546CA16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815271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6B3A-FB12-9673-2942-BF499C52CD17}"/>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7637F661-72CF-AD91-48DD-4B391BFCB08C}"/>
              </a:ext>
            </a:extLst>
          </p:cNvPr>
          <p:cNvSpPr/>
          <p:nvPr/>
        </p:nvSpPr>
        <p:spPr>
          <a:xfrm>
            <a:off x="3510456" y="3831021"/>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8FB889-4BC9-AF49-59D0-CACBAB2A0952}"/>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FA5B3AD7-74E3-FDD2-D7F0-501EAD6ABDEF}"/>
              </a:ext>
            </a:extLst>
          </p:cNvPr>
          <p:cNvSpPr>
            <a:spLocks noGrp="1"/>
          </p:cNvSpPr>
          <p:nvPr>
            <p:ph type="sldNum" sz="quarter" idx="12"/>
          </p:nvPr>
        </p:nvSpPr>
        <p:spPr/>
        <p:txBody>
          <a:bodyPr/>
          <a:lstStyle/>
          <a:p>
            <a:fld id="{86BADE50-950A-4D58-BFB2-FA2C6A8B385D}" type="slidenum">
              <a:rPr lang="en-US" smtClean="0"/>
              <a:t>7</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A04EA69-7676-04A0-3A22-47B6FD334A8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93D6B4EA-97F0-3AAA-38B3-A69E900B0C89}"/>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6B955C67-583B-74F3-55D7-B443229EE83E}"/>
                </a:ext>
              </a:extLst>
            </p:cNvPr>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4EFBDD-010E-633B-9C10-C19DF84F19A8}"/>
                </a:ext>
              </a:extLst>
            </p:cNvPr>
            <p:cNvCxnSpPr>
              <a:stCxn id="35" idx="6"/>
              <a:endCxn id="38"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ADFFAE-DF0A-57C1-CE3F-3AF45FE3427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177313-8AFE-3EE4-F412-C7F0DF2EF16B}"/>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44CE75-C896-A21B-73EA-94CA06307858}"/>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F0AF391-BC47-1AF6-D0C3-7122AE314E21}"/>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C72C22-10B8-2804-1175-9C7C914C7465}"/>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8CA3BA-39F2-15AF-4988-985A595D4589}"/>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BAD995-8386-1A30-74F2-1411A23A5B06}"/>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390925-0118-0DCC-3A3C-9BDE3C1DA04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3C4568-64BB-6169-D29E-3C9C2EC1C37F}"/>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2E9F0B4-8994-5C50-02B0-9AF4DD9F1F1A}"/>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7FFFE2-E689-2C91-62DE-98EF2DA3BCC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6EEF6E1-B09D-FE40-A4CC-0B6A61A8402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2EFB4BF1-7F3D-893C-065C-2063B03712D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0634D4F-71D0-FDC2-7CD2-70A72B8F8BB6}"/>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019084B3-921E-B79B-C572-53A08661AA1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740BFAE0-47B9-993E-B744-DC1ACE6F805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D958BDF2-125D-87C7-D8B3-D3C2B901413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C10B9FF0-F018-E3BE-BB4F-F92C12F73C0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0CA2FD1-A70E-D9F9-2DBE-4EB6A2D385D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33547589-5AB3-A594-B0F9-80594AA365A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1FD08752-5858-A092-580D-0534AA17DBF6}"/>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F5B2B57-AF0F-DDAC-0548-63383DA6988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705A132-4480-5B97-78D6-7D2F6623B2C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67785FF-D980-27F5-1A98-5476034F695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5C41CAD6-21C5-2597-4B0A-21B0325E0E80}"/>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7F7E608-269E-C7F5-B2CF-D1EC1933455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EDC9ABC0-C986-6C78-B579-C1DCFCE213E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12AE299-0C97-FE7C-A216-5503ADCD8BB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826ACB86-E61C-102E-1340-12EDF8769790}"/>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50BDC01-DA5D-CE82-0B9F-4A75C08EABD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BD75A885-9A2A-4006-2862-D3D919A4AB90}"/>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81B528-52B4-9D2A-34DD-BE8902D19E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8E95E5A6-0D57-9957-9DD4-F45C35AC755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32065C39-E10C-D55F-AD3B-D20DEB47DE8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FE7FDB1-9776-78D0-1CD4-277C6CD1BB2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72608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FA47-3D4B-727B-16B7-F2BE9B7DA9F8}"/>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2F4AA011-DA7C-1C84-C76F-02743A877CFA}"/>
              </a:ext>
            </a:extLst>
          </p:cNvPr>
          <p:cNvSpPr/>
          <p:nvPr/>
        </p:nvSpPr>
        <p:spPr>
          <a:xfrm>
            <a:off x="3447394" y="3783724"/>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7A177B-7D96-DB29-D16B-3812AE844494}"/>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F3785D1-864D-324D-D9D6-2052A1F533D4}"/>
              </a:ext>
            </a:extLst>
          </p:cNvPr>
          <p:cNvSpPr>
            <a:spLocks noGrp="1"/>
          </p:cNvSpPr>
          <p:nvPr>
            <p:ph type="sldNum" sz="quarter" idx="12"/>
          </p:nvPr>
        </p:nvSpPr>
        <p:spPr/>
        <p:txBody>
          <a:bodyPr/>
          <a:lstStyle/>
          <a:p>
            <a:fld id="{86BADE50-950A-4D58-BFB2-FA2C6A8B385D}" type="slidenum">
              <a:rPr lang="en-US" smtClean="0"/>
              <a:t>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25A981-F1A2-8D80-8445-6388E8FBD438}"/>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68A7C54E-AF56-57FA-338F-2510ED8AB64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0CD668E-10B8-777D-872D-DB77BD398487}"/>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755100F8-6BD4-A51D-6F9E-647C31926DC8}"/>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7CAA160-AD84-3E6E-58C1-69F47DC278F8}"/>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283B65-721A-E0BD-13BA-859C01E6EB75}"/>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68526-4FB6-AD66-C0FD-8EB0D1BF67C1}"/>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7753B1-EADA-7E57-0FC0-1F948D7BD622}"/>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5A8D86-1786-FB84-4439-7DD31E6B50C2}"/>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79F14F-1E49-D115-FE0B-01C5C95AE7BE}"/>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3A10FD-E687-3E0F-1252-9107DC62BCE2}"/>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7FB216-42EB-3865-EC05-19A40D861604}"/>
                </a:ext>
              </a:extLst>
            </p:cNvPr>
            <p:cNvCxnSpPr>
              <a:stCxn id="41" idx="1"/>
              <a:endCxn id="39"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43F46F-170B-E228-C896-09C326B8B2D2}"/>
                </a:ext>
              </a:extLst>
            </p:cNvPr>
            <p:cNvCxnSpPr>
              <a:stCxn id="44" idx="2"/>
              <a:endCxn id="39"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EDA2DE-B788-D498-BBB4-7DD16EB90926}"/>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0F4ADF-E4DA-77C3-3C93-F3C1B2C84173}"/>
                </a:ext>
              </a:extLst>
            </p:cNvPr>
            <p:cNvCxnSpPr>
              <a:stCxn id="42" idx="1"/>
              <a:endCxn id="4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947D76-FF45-3ABA-D87F-1592A5F6EDB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DFE052-87DC-E40A-C514-3D116797C77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16732F1D-EADF-D485-5212-CFE3E9257A2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5F401493-DA0A-FD32-809D-58FE59B6560E}"/>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D850A0C0-DF95-64B4-5DF7-DF526F38C77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17229C4D-C526-DF27-F7C6-D6C27B9DA88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9661C32B-7A00-1E08-FDBB-1B4153735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8A4A34EF-3BAF-1BBA-168C-E85116C2BE75}"/>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CFE8BD36-BB8A-DE23-26F3-F0E107B953F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F5BA23A5-5C01-9C95-A926-A141809981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09ECED86-1DCE-07AE-62C7-197AFA47B57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4CE9505D-C54E-2F4B-4154-424C4E2DD6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FDB77C59-55FC-B378-4E3C-C27559AC5DC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68712624-38BC-AD3D-A15D-8F7804CAB35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80408005-038D-F1EB-2C95-15B7F6A8B966}"/>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1303496-60F2-AF01-C637-EEBCB688DC4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334C8BA9-526F-C026-4B09-DB3275B696CD}"/>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4531FB89-7FDE-9A29-AFB8-5A6EE1F85A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D8809ACA-16C4-A0D6-C7FD-7A1DAE695BB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DACCD3C1-7424-EA4F-ECAF-40E78AE4564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7D5A061E-21B8-F9F9-1889-646A3ABE781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E4228F3A-CEA9-B10C-9689-4DBD25A539F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335C304E-98CB-ADCF-3E2F-684A5EE02F3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BEA69499-62D3-0264-B925-5048DDFE21F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D61B8BE7-7A60-6BB0-CA63-3152F5281C6E}"/>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86886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8880E-C27C-7714-FFDE-4B5D9F99ACBB}"/>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452F6D43-4E7D-4E8B-6A77-604ADC17CBFC}"/>
              </a:ext>
            </a:extLst>
          </p:cNvPr>
          <p:cNvSpPr/>
          <p:nvPr/>
        </p:nvSpPr>
        <p:spPr>
          <a:xfrm>
            <a:off x="3589284" y="3997189"/>
            <a:ext cx="4256689" cy="2822027"/>
          </a:xfrm>
          <a:custGeom>
            <a:avLst/>
            <a:gdLst>
              <a:gd name="connsiteX0" fmla="*/ 0 w 4256689"/>
              <a:gd name="connsiteY0" fmla="*/ 945931 h 2822027"/>
              <a:gd name="connsiteX1" fmla="*/ 0 w 4256689"/>
              <a:gd name="connsiteY1" fmla="*/ 1371600 h 2822027"/>
              <a:gd name="connsiteX2" fmla="*/ 315310 w 4256689"/>
              <a:gd name="connsiteY2" fmla="*/ 1576551 h 2822027"/>
              <a:gd name="connsiteX3" fmla="*/ 725214 w 4256689"/>
              <a:gd name="connsiteY3" fmla="*/ 1387365 h 2822027"/>
              <a:gd name="connsiteX4" fmla="*/ 1466193 w 4256689"/>
              <a:gd name="connsiteY4" fmla="*/ 804041 h 2822027"/>
              <a:gd name="connsiteX5" fmla="*/ 2364827 w 4256689"/>
              <a:gd name="connsiteY5" fmla="*/ 646386 h 2822027"/>
              <a:gd name="connsiteX6" fmla="*/ 2743200 w 4256689"/>
              <a:gd name="connsiteY6" fmla="*/ 772510 h 2822027"/>
              <a:gd name="connsiteX7" fmla="*/ 2932386 w 4256689"/>
              <a:gd name="connsiteY7" fmla="*/ 1434662 h 2822027"/>
              <a:gd name="connsiteX8" fmla="*/ 3515710 w 4256689"/>
              <a:gd name="connsiteY8" fmla="*/ 2743200 h 2822027"/>
              <a:gd name="connsiteX9" fmla="*/ 3862551 w 4256689"/>
              <a:gd name="connsiteY9" fmla="*/ 2822027 h 2822027"/>
              <a:gd name="connsiteX10" fmla="*/ 4256689 w 4256689"/>
              <a:gd name="connsiteY10" fmla="*/ 2506717 h 2822027"/>
              <a:gd name="connsiteX11" fmla="*/ 3909848 w 4256689"/>
              <a:gd name="connsiteY11" fmla="*/ 1765738 h 2822027"/>
              <a:gd name="connsiteX12" fmla="*/ 3310758 w 4256689"/>
              <a:gd name="connsiteY12" fmla="*/ 189186 h 2822027"/>
              <a:gd name="connsiteX13" fmla="*/ 2569779 w 4256689"/>
              <a:gd name="connsiteY13" fmla="*/ 0 h 2822027"/>
              <a:gd name="connsiteX14" fmla="*/ 1340069 w 4256689"/>
              <a:gd name="connsiteY14" fmla="*/ 31531 h 2822027"/>
              <a:gd name="connsiteX15" fmla="*/ 457200 w 4256689"/>
              <a:gd name="connsiteY15" fmla="*/ 315310 h 2822027"/>
              <a:gd name="connsiteX16" fmla="*/ 78827 w 4256689"/>
              <a:gd name="connsiteY16" fmla="*/ 898634 h 2822027"/>
              <a:gd name="connsiteX17" fmla="*/ 0 w 4256689"/>
              <a:gd name="connsiteY17" fmla="*/ 945931 h 2822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56689" h="2822027">
                <a:moveTo>
                  <a:pt x="0" y="945931"/>
                </a:moveTo>
                <a:lnTo>
                  <a:pt x="0" y="1371600"/>
                </a:lnTo>
                <a:lnTo>
                  <a:pt x="315310" y="1576551"/>
                </a:lnTo>
                <a:lnTo>
                  <a:pt x="725214" y="1387365"/>
                </a:lnTo>
                <a:lnTo>
                  <a:pt x="1466193" y="804041"/>
                </a:lnTo>
                <a:lnTo>
                  <a:pt x="2364827" y="646386"/>
                </a:lnTo>
                <a:lnTo>
                  <a:pt x="2743200" y="772510"/>
                </a:lnTo>
                <a:lnTo>
                  <a:pt x="2932386" y="1434662"/>
                </a:lnTo>
                <a:lnTo>
                  <a:pt x="3515710" y="2743200"/>
                </a:lnTo>
                <a:lnTo>
                  <a:pt x="3862551" y="2822027"/>
                </a:lnTo>
                <a:lnTo>
                  <a:pt x="4256689" y="2506717"/>
                </a:lnTo>
                <a:lnTo>
                  <a:pt x="3909848" y="1765738"/>
                </a:lnTo>
                <a:lnTo>
                  <a:pt x="3310758" y="189186"/>
                </a:lnTo>
                <a:lnTo>
                  <a:pt x="2569779" y="0"/>
                </a:lnTo>
                <a:lnTo>
                  <a:pt x="1340069" y="31531"/>
                </a:lnTo>
                <a:lnTo>
                  <a:pt x="457200" y="315310"/>
                </a:lnTo>
                <a:lnTo>
                  <a:pt x="78827" y="898634"/>
                </a:lnTo>
                <a:lnTo>
                  <a:pt x="0" y="9459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F554F-FCB2-0E04-5AA9-257DF4050C9F}"/>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983352B9-1AD7-8161-B664-B1752691D9C1}"/>
              </a:ext>
            </a:extLst>
          </p:cNvPr>
          <p:cNvSpPr>
            <a:spLocks noGrp="1"/>
          </p:cNvSpPr>
          <p:nvPr>
            <p:ph type="sldNum" sz="quarter" idx="12"/>
          </p:nvPr>
        </p:nvSpPr>
        <p:spPr/>
        <p:txBody>
          <a:bodyPr/>
          <a:lstStyle/>
          <a:p>
            <a:fld id="{86BADE50-950A-4D58-BFB2-FA2C6A8B385D}" type="slidenum">
              <a:rPr lang="en-US" smtClean="0"/>
              <a:t>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F231CB9-27C9-DCA8-FC2C-E9B9626751D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9FEDDE88-BC67-D05D-573D-C71900537B98}"/>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048E75D6-F81C-C45F-CF03-7C9A7853D9B8}"/>
              </a:ext>
            </a:extLst>
          </p:cNvPr>
          <p:cNvGrpSpPr/>
          <p:nvPr/>
        </p:nvGrpSpPr>
        <p:grpSpPr>
          <a:xfrm>
            <a:off x="3826554" y="4146960"/>
            <a:ext cx="4600060" cy="2787240"/>
            <a:chOff x="0" y="2862182"/>
            <a:chExt cx="7044346" cy="4268266"/>
          </a:xfrm>
        </p:grpSpPr>
        <p:cxnSp>
          <p:nvCxnSpPr>
            <p:cNvPr id="46" name="Straight Connector 45">
              <a:extLst>
                <a:ext uri="{FF2B5EF4-FFF2-40B4-BE49-F238E27FC236}">
                  <a16:creationId xmlns:a16="http://schemas.microsoft.com/office/drawing/2014/main" id="{E1621A3B-8EDE-9315-8D71-DF027A116BA4}"/>
                </a:ext>
              </a:extLst>
            </p:cNvPr>
            <p:cNvCxnSpPr>
              <a:stCxn id="112" idx="7"/>
              <a:endCxn id="113"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36CB39C-50B0-6AFB-7393-461F906B7F7E}"/>
                </a:ext>
              </a:extLst>
            </p:cNvPr>
            <p:cNvCxnSpPr>
              <a:stCxn id="113" idx="6"/>
              <a:endCxn id="116"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A79305-4AA6-A6B9-2F42-071521AB997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E11836F-586F-AD3E-A130-3DCF2CDF025E}"/>
                </a:ext>
              </a:extLst>
            </p:cNvPr>
            <p:cNvCxnSpPr>
              <a:stCxn id="115" idx="3"/>
              <a:endCxn id="114"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E600066-25F2-2BA6-8CF8-242E8A2A1729}"/>
                </a:ext>
              </a:extLst>
            </p:cNvPr>
            <p:cNvCxnSpPr>
              <a:stCxn id="117" idx="2"/>
              <a:endCxn id="114"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3CD5D51-398A-1134-3246-7DBCAE5AA942}"/>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FD18D6-75A4-B89C-1BFA-0DC6F05151B0}"/>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EFE62CC-D330-4CF6-5E64-AD640B30BA6F}"/>
                </a:ext>
              </a:extLst>
            </p:cNvPr>
            <p:cNvCxnSpPr>
              <a:stCxn id="117" idx="6"/>
              <a:endCxn id="118"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9911AC4-B26A-8C46-9816-DD0219B27E51}"/>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BA2DFEB-D195-93FB-E257-CADC6D268541}"/>
                </a:ext>
              </a:extLst>
            </p:cNvPr>
            <p:cNvCxnSpPr>
              <a:stCxn id="120" idx="2"/>
              <a:endCxn id="116" idx="5"/>
            </p:cNvCxnSpPr>
            <p:nvPr/>
          </p:nvCxnSpPr>
          <p:spPr>
            <a:xfrm flipH="1" flipV="1">
              <a:off x="4392601" y="3510585"/>
              <a:ext cx="913997" cy="495205"/>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5A89267-C6AD-9D49-C3A1-AA0F884103D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29E6588-AFD9-2B62-DE15-9F6154A467CF}"/>
                </a:ext>
              </a:extLst>
            </p:cNvPr>
            <p:cNvCxnSpPr>
              <a:stCxn id="119" idx="1"/>
              <a:endCxn id="120"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BE6EEA3-5DF5-55AA-EFC7-709F3820107F}"/>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FD77C20-B6E2-EECE-F45F-883A49565FE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307ADDB6-B973-F1BC-41B2-2290A24010A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4BAC7015-974D-A22A-9172-BAEA840A5F0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00" name="TextBox 99">
              <a:extLst>
                <a:ext uri="{FF2B5EF4-FFF2-40B4-BE49-F238E27FC236}">
                  <a16:creationId xmlns:a16="http://schemas.microsoft.com/office/drawing/2014/main" id="{F059E0CF-B7FA-B54D-22A2-176D9AD3D85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11E584FF-E1FE-59CA-9ED7-8C1CE3E1D81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B2C42AED-7A34-9BE1-C246-EDB1F7B6556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46CE9B6-74B5-A647-AE67-8C97F20D93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4" name="TextBox 103">
              <a:extLst>
                <a:ext uri="{FF2B5EF4-FFF2-40B4-BE49-F238E27FC236}">
                  <a16:creationId xmlns:a16="http://schemas.microsoft.com/office/drawing/2014/main" id="{D54E17CA-7EA2-D534-021F-8B8054EA581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B9516FB7-EE9B-807D-9437-48E7E5B014F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DE946B88-B030-F896-25E4-2AC3A21F097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D6EA57FB-574B-6475-D978-F31B2E87E07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955E34DB-F892-F7E4-5A52-D2C1A689C86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27176125-5F84-C5F9-A580-DC41288587C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DF276D47-2FC3-395A-9965-BF4C5D247462}"/>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DDC12B3-8F0C-AE5B-6F82-FF8EDCADAC3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25B96F0B-BBB3-AA45-8697-05A6858CB95F}"/>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124E142E-E2C9-041E-2E42-5D1527F75D8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776B3CA0-D49A-2C6D-B734-29BE5D5E0C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7E22201C-24F6-1753-C89C-3CCE3D690C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51C5E526-F845-9B74-CCB0-6D163717E21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0EDE3343-C294-7536-9306-AF98E9CBDE28}"/>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06E2697B-D96D-11D9-A0C7-0F04807C0CB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392E6C0E-B33C-A431-38B3-217CCDAA86B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7FFE3F34-3A16-FD1B-B249-41DEC29C0CDD}"/>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51240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EF41-79C0-3A35-61F9-F605B67B7510}"/>
            </a:ext>
          </a:extLst>
        </p:cNvPr>
        <p:cNvGrpSpPr/>
        <p:nvPr/>
      </p:nvGrpSpPr>
      <p:grpSpPr>
        <a:xfrm>
          <a:off x="0" y="0"/>
          <a:ext cx="0" cy="0"/>
          <a:chOff x="0" y="0"/>
          <a:chExt cx="0" cy="0"/>
        </a:xfrm>
      </p:grpSpPr>
      <p:sp>
        <p:nvSpPr>
          <p:cNvPr id="5" name="Freeform 4">
            <a:extLst>
              <a:ext uri="{FF2B5EF4-FFF2-40B4-BE49-F238E27FC236}">
                <a16:creationId xmlns:a16="http://schemas.microsoft.com/office/drawing/2014/main" id="{58BE0161-8235-EB6B-2021-FBA86A0B1D04}"/>
              </a:ext>
            </a:extLst>
          </p:cNvPr>
          <p:cNvSpPr/>
          <p:nvPr/>
        </p:nvSpPr>
        <p:spPr>
          <a:xfrm>
            <a:off x="3557752" y="4038600"/>
            <a:ext cx="4303986" cy="2822028"/>
          </a:xfrm>
          <a:custGeom>
            <a:avLst/>
            <a:gdLst>
              <a:gd name="connsiteX0" fmla="*/ 0 w 4303986"/>
              <a:gd name="connsiteY0" fmla="*/ 898635 h 2822028"/>
              <a:gd name="connsiteX1" fmla="*/ 15765 w 4303986"/>
              <a:gd name="connsiteY1" fmla="*/ 1434662 h 2822028"/>
              <a:gd name="connsiteX2" fmla="*/ 204951 w 4303986"/>
              <a:gd name="connsiteY2" fmla="*/ 1576552 h 2822028"/>
              <a:gd name="connsiteX3" fmla="*/ 756745 w 4303986"/>
              <a:gd name="connsiteY3" fmla="*/ 1403131 h 2822028"/>
              <a:gd name="connsiteX4" fmla="*/ 1576551 w 4303986"/>
              <a:gd name="connsiteY4" fmla="*/ 804041 h 2822028"/>
              <a:gd name="connsiteX5" fmla="*/ 2380593 w 4303986"/>
              <a:gd name="connsiteY5" fmla="*/ 614855 h 2822028"/>
              <a:gd name="connsiteX6" fmla="*/ 2885089 w 4303986"/>
              <a:gd name="connsiteY6" fmla="*/ 867104 h 2822028"/>
              <a:gd name="connsiteX7" fmla="*/ 3042745 w 4303986"/>
              <a:gd name="connsiteY7" fmla="*/ 1592317 h 2822028"/>
              <a:gd name="connsiteX8" fmla="*/ 3452648 w 4303986"/>
              <a:gd name="connsiteY8" fmla="*/ 2680138 h 2822028"/>
              <a:gd name="connsiteX9" fmla="*/ 3909848 w 4303986"/>
              <a:gd name="connsiteY9" fmla="*/ 2822028 h 2822028"/>
              <a:gd name="connsiteX10" fmla="*/ 4146331 w 4303986"/>
              <a:gd name="connsiteY10" fmla="*/ 2412124 h 2822028"/>
              <a:gd name="connsiteX11" fmla="*/ 4303986 w 4303986"/>
              <a:gd name="connsiteY11" fmla="*/ 709448 h 2822028"/>
              <a:gd name="connsiteX12" fmla="*/ 3216165 w 4303986"/>
              <a:gd name="connsiteY12" fmla="*/ 78828 h 2822028"/>
              <a:gd name="connsiteX13" fmla="*/ 1655379 w 4303986"/>
              <a:gd name="connsiteY13" fmla="*/ 0 h 2822028"/>
              <a:gd name="connsiteX14" fmla="*/ 630620 w 4303986"/>
              <a:gd name="connsiteY14" fmla="*/ 362607 h 2822028"/>
              <a:gd name="connsiteX15" fmla="*/ 0 w 4303986"/>
              <a:gd name="connsiteY15" fmla="*/ 898635 h 28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03986" h="2822028">
                <a:moveTo>
                  <a:pt x="0" y="898635"/>
                </a:moveTo>
                <a:lnTo>
                  <a:pt x="15765" y="1434662"/>
                </a:lnTo>
                <a:lnTo>
                  <a:pt x="204951" y="1576552"/>
                </a:lnTo>
                <a:lnTo>
                  <a:pt x="756745" y="1403131"/>
                </a:lnTo>
                <a:lnTo>
                  <a:pt x="1576551" y="804041"/>
                </a:lnTo>
                <a:lnTo>
                  <a:pt x="2380593" y="614855"/>
                </a:lnTo>
                <a:lnTo>
                  <a:pt x="2885089" y="867104"/>
                </a:lnTo>
                <a:lnTo>
                  <a:pt x="3042745" y="1592317"/>
                </a:lnTo>
                <a:lnTo>
                  <a:pt x="3452648" y="2680138"/>
                </a:lnTo>
                <a:lnTo>
                  <a:pt x="3909848" y="2822028"/>
                </a:lnTo>
                <a:lnTo>
                  <a:pt x="4146331" y="2412124"/>
                </a:lnTo>
                <a:lnTo>
                  <a:pt x="4303986" y="709448"/>
                </a:lnTo>
                <a:lnTo>
                  <a:pt x="3216165" y="78828"/>
                </a:lnTo>
                <a:lnTo>
                  <a:pt x="1655379" y="0"/>
                </a:lnTo>
                <a:lnTo>
                  <a:pt x="630620" y="362607"/>
                </a:lnTo>
                <a:lnTo>
                  <a:pt x="0" y="898635"/>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CC20E-AB2F-6B69-46CD-C5AD91499820}"/>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0F9AD8FA-776E-46FA-45BF-406058B73283}"/>
              </a:ext>
            </a:extLst>
          </p:cNvPr>
          <p:cNvSpPr>
            <a:spLocks noGrp="1"/>
          </p:cNvSpPr>
          <p:nvPr>
            <p:ph type="sldNum" sz="quarter" idx="12"/>
          </p:nvPr>
        </p:nvSpPr>
        <p:spPr>
          <a:xfrm>
            <a:off x="8737600" y="6356351"/>
            <a:ext cx="2844800" cy="365125"/>
          </a:xfrm>
        </p:spPr>
        <p:txBody>
          <a:bodyPr/>
          <a:lstStyle/>
          <a:p>
            <a:fld id="{86BADE50-950A-4D58-BFB2-FA2C6A8B385D}" type="slidenum">
              <a:rPr lang="en-US" smtClean="0"/>
              <a:t>10</a:t>
            </a:fld>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FDF0456-6A42-6E15-60A5-41D20A497322}"/>
                  </a:ext>
                </a:extLst>
              </p:cNvPr>
              <p:cNvSpPr txBox="1"/>
              <p:nvPr/>
            </p:nvSpPr>
            <p:spPr>
              <a:xfrm>
                <a:off x="7739866" y="1343799"/>
                <a:ext cx="2851935" cy="830997"/>
              </a:xfrm>
              <a:prstGeom prst="rect">
                <a:avLst/>
              </a:prstGeom>
              <a:noFill/>
            </p:spPr>
            <p:txBody>
              <a:bodyPr wrap="none" rtlCol="0">
                <a:spAutoFit/>
              </a:bodyPr>
              <a:lstStyle/>
              <a:p>
                <a:r>
                  <a:rPr lang="en-US" sz="2400" dirty="0">
                    <a:solidFill>
                      <a:schemeClr val="accent6">
                        <a:lumMod val="75000"/>
                      </a:schemeClr>
                    </a:solidFill>
                  </a:rPr>
                  <a:t>Keep edges in a Heap</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solidFill>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7739866" y="1343799"/>
                <a:ext cx="2851935" cy="830997"/>
              </a:xfrm>
              <a:prstGeom prst="rect">
                <a:avLst/>
              </a:prstGeom>
              <a:blipFill>
                <a:blip r:embed="rId3"/>
                <a:stretch>
                  <a:fillRect l="-3419" t="-5839" r="-2137" b="-8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32FD98-4DDC-8855-3813-2C9D8FE31F24}"/>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3" name="TextBox 2">
                <a:extLst>
                  <a:ext uri="{FF2B5EF4-FFF2-40B4-BE49-F238E27FC236}">
                    <a16:creationId xmlns:a16="http://schemas.microsoft.com/office/drawing/2014/main" id="{2951A940-9E49-531C-7109-C02D303F578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4"/>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D611104-56E3-D6EC-D98F-C2E6A36F86BD}"/>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5BFC5715-7633-84BA-0609-A1F85057716E}"/>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19A237-7C93-56D7-9EC9-1FB9A08932E5}"/>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CBD063-7998-297B-885F-CDED66500322}"/>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6AB8EA-26EA-4AB5-2147-69719EFE280D}"/>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78D4C2-3011-6A47-3909-6534D306816C}"/>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2FC8CA-19B3-9D5D-C94F-63C215F61927}"/>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F7EAA0B-5FEB-8D17-C27B-82896D850A88}"/>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D94FF0-72E5-C704-DD9B-FE90D012C5A3}"/>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D400A6-D31A-5E00-FADA-939AC81D288A}"/>
                </a:ext>
              </a:extLst>
            </p:cNvPr>
            <p:cNvCxnSpPr>
              <a:stCxn id="41" idx="1"/>
              <a:endCxn id="39"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0FFD32-6FEF-6047-4633-782CD5BEE747}"/>
                </a:ext>
              </a:extLst>
            </p:cNvPr>
            <p:cNvCxnSpPr>
              <a:stCxn id="44" idx="2"/>
              <a:endCxn id="39"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2EFA22-B947-55AF-5F6A-8AC88DB4E4FD}"/>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AD4232-C3EC-59BD-B424-C347E68B4767}"/>
                </a:ext>
              </a:extLst>
            </p:cNvPr>
            <p:cNvCxnSpPr>
              <a:stCxn id="42" idx="1"/>
              <a:endCxn id="44"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B597CD-4834-1B5A-3657-CE5662B435C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D97D68-415A-6746-9242-DCE101A97B3E}"/>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4601EA00-0332-9BA4-6724-31DCBAB24E5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C68AEBBB-DC30-6F12-FFF7-18240B54759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966A226C-F394-FBD4-1486-FED875CA2EA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FD17AE7F-5AD4-C414-7C5D-9DDEFEFD9E5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147BB0A3-79D6-FA4D-0E54-E49F9988379B}"/>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DDB13256-86BA-EC21-5889-483CF73A656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F18D999B-610C-63DA-B246-A596005C1C6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2A528698-A24E-12F7-292C-1090C8E8739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52325999-CCA1-3E38-ECA1-56D8BDF05B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8EA5FE6B-79D4-5A20-F1B4-48C8FA88875A}"/>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C37C97D2-E371-54D6-CD29-73560691DAD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7DB56940-7CD3-16E1-FBAB-B345D2BE85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241749AC-8A69-37AF-5CF4-F725DC4FBC1C}"/>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6EE7EE-A133-9828-714C-68C8849092AD}"/>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858B37D2-0662-4503-4380-F890725C6B99}"/>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B643364E-E1BC-46BF-8258-0CAE5DD42C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26BB4E72-EEC9-32B2-F566-A63005C8795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3FF128E7-A0C9-7ED7-F67C-86DA946D0F4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47293C51-FB98-DC86-735B-2DC157B0617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C707FE17-E627-2205-9FDB-59EFA5A9ABE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2FBD0E08-D127-C5D4-6D20-833993CA45F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ADE17290-2606-75B8-1DEB-0AC3E01563A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0179F7B1-0F6D-2650-2065-68F00F273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7757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EAC9-7C37-ECB7-A7CD-AF4E61E1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32D87-37A2-ABCD-B0BE-550810A1DABC}"/>
              </a:ext>
            </a:extLst>
          </p:cNvPr>
          <p:cNvSpPr>
            <a:spLocks noGrp="1"/>
          </p:cNvSpPr>
          <p:nvPr>
            <p:ph type="title"/>
          </p:nvPr>
        </p:nvSpPr>
        <p:spPr>
          <a:xfrm>
            <a:off x="609600" y="-198120"/>
            <a:ext cx="10972800" cy="1143000"/>
          </a:xfrm>
        </p:spPr>
        <p:txBody>
          <a:bodyPr>
            <a:normAutofit/>
          </a:bodyPr>
          <a:lstStyle/>
          <a:p>
            <a:r>
              <a:rPr lang="en-US" dirty="0"/>
              <a:t>Dijkstra’s Algorithm</a:t>
            </a:r>
          </a:p>
        </p:txBody>
      </p:sp>
      <p:sp>
        <p:nvSpPr>
          <p:cNvPr id="4" name="Slide Number Placeholder 3">
            <a:extLst>
              <a:ext uri="{FF2B5EF4-FFF2-40B4-BE49-F238E27FC236}">
                <a16:creationId xmlns:a16="http://schemas.microsoft.com/office/drawing/2014/main" id="{1B65BC2E-BE3F-FA30-9DA8-5136E5F49844}"/>
              </a:ext>
            </a:extLst>
          </p:cNvPr>
          <p:cNvSpPr>
            <a:spLocks noGrp="1"/>
          </p:cNvSpPr>
          <p:nvPr>
            <p:ph type="sldNum" sz="quarter" idx="12"/>
          </p:nvPr>
        </p:nvSpPr>
        <p:spPr/>
        <p:txBody>
          <a:bodyPr/>
          <a:lstStyle/>
          <a:p>
            <a:fld id="{86BADE50-950A-4D58-BFB2-FA2C6A8B385D}" type="slidenum">
              <a:rPr lang="en-US" smtClean="0"/>
              <a:t>11</a:t>
            </a:fld>
            <a:endParaRPr lang="en-US"/>
          </a:p>
        </p:txBody>
      </p:sp>
      <p:grpSp>
        <p:nvGrpSpPr>
          <p:cNvPr id="3" name="Group 2">
            <a:extLst>
              <a:ext uri="{FF2B5EF4-FFF2-40B4-BE49-F238E27FC236}">
                <a16:creationId xmlns:a16="http://schemas.microsoft.com/office/drawing/2014/main" id="{660771EA-9555-915E-18A1-84B830B5B5E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9D8A28DD-F046-2F16-E3CB-F5FFBC43D14B}"/>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2BCEA3-7668-EA7C-8451-8BE0D2B3E76B}"/>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369E16-3C7F-C15C-7F8C-A5A6C421F3E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B03473D-50D9-FB23-4627-9EF7FDEED44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FD6E70-3227-A3A4-62F6-7948BE537BFD}"/>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C8D6E0-BFC6-34EC-E413-4A04E6584D85}"/>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C0B3B8-AA7C-54F3-A8DC-0A220FC0C6C4}"/>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2D5ED5-A07C-B892-6541-F048B8E2266E}"/>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B3E76D-3F5C-2713-6E78-970C8636CE38}"/>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632B3B-003A-06BD-5208-2765B72CDB79}"/>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BCCFAEE-E7C9-96C7-CD4C-8CAB63E6BBDA}"/>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C89944-951F-A183-A031-C6C8393083D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959F07-0D51-011D-9199-96A3AE8F584B}"/>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E396D2-4CF4-498C-73B5-43C23C17719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192031BB-66FE-D133-D12D-4DFCDDC70AF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061FF86D-9794-C0D6-19A1-FCCBAE75071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B84D2F38-884A-6005-7DC4-9132F5DDAEB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43C6F790-EBF8-CA34-35AA-CE47BFFEF09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2AAC142A-5621-553A-71B0-FFA5B28EE77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A9D920DA-F52A-5CEE-074F-07CE166D3FE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BA7D339D-54CD-C459-0779-823A456FE22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C79FF19-98E0-1CF7-DCF5-4832FD1D3F7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A27FF1E8-0947-C6C3-28FF-18C99790CBC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895CD2E6-C331-4EEF-5E4E-CC37659A4D0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3A559C74-41A8-B38F-65F4-5B2CCC4526B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FA451BC6-4EEA-E3FF-AF8A-E8A33DBB24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F25D40E5-EB7F-11B2-25F2-803D795594C3}"/>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F7FEA7-D62D-CE9A-96EE-FE20D99F37B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62051064-3A9F-3BD5-DEB1-4621DCAE3BD5}"/>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65E4E37B-D1F8-8901-41D8-ADE0A02E6A58}"/>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8DB42B10-C0C6-5CB6-BFF3-11434B890466}"/>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014481ED-B260-6315-B70E-4F516C40EB25}"/>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B3BA9212-9E23-6761-00FE-EC47E3825280}"/>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5438F902-30F5-13E8-DC36-810BFE6FFC8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A01579D5-4AF3-80CF-5106-CB0CCA808784}"/>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68F5B6BC-173F-8912-B198-491F8E97A33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439D44B0-EEC1-8B67-BCF1-69FB43B57D42}"/>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2" name="TextBox 41">
            <a:extLst>
              <a:ext uri="{FF2B5EF4-FFF2-40B4-BE49-F238E27FC236}">
                <a16:creationId xmlns:a16="http://schemas.microsoft.com/office/drawing/2014/main" id="{B8A2039D-C121-2B94-2EB4-1CE224AAB7F8}"/>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25671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F2B6-E911-8AC4-E6C2-F5C5D6170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C9725-5009-BCD0-D0FD-EF0FA5066E19}"/>
              </a:ext>
            </a:extLst>
          </p:cNvPr>
          <p:cNvSpPr>
            <a:spLocks noGrp="1"/>
          </p:cNvSpPr>
          <p:nvPr>
            <p:ph type="title"/>
          </p:nvPr>
        </p:nvSpPr>
        <p:spPr>
          <a:xfrm>
            <a:off x="609600" y="-198120"/>
            <a:ext cx="10972800" cy="1143000"/>
          </a:xfrm>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721E9D79-D609-3D43-2D0C-9201505D6D9F}"/>
              </a:ext>
            </a:extLst>
          </p:cNvPr>
          <p:cNvSpPr>
            <a:spLocks noGrp="1"/>
          </p:cNvSpPr>
          <p:nvPr>
            <p:ph type="sldNum" sz="quarter" idx="12"/>
          </p:nvPr>
        </p:nvSpPr>
        <p:spPr/>
        <p:txBody>
          <a:bodyPr/>
          <a:lstStyle/>
          <a:p>
            <a:fld id="{86BADE50-950A-4D58-BFB2-FA2C6A8B385D}" type="slidenum">
              <a:rPr lang="en-US" smtClean="0"/>
              <a:t>12</a:t>
            </a:fld>
            <a:endParaRPr lang="en-US"/>
          </a:p>
        </p:txBody>
      </p:sp>
      <p:grpSp>
        <p:nvGrpSpPr>
          <p:cNvPr id="3" name="Group 2">
            <a:extLst>
              <a:ext uri="{FF2B5EF4-FFF2-40B4-BE49-F238E27FC236}">
                <a16:creationId xmlns:a16="http://schemas.microsoft.com/office/drawing/2014/main" id="{ABA253AE-7449-FAB9-3C14-D35D03327A6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634BBEEB-D42F-4990-4464-2FE480DEF944}"/>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D082B11-BD72-5482-AAA5-3518090B1491}"/>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7984F8-9FE9-7F03-A096-7C7F0E7FB4F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03ED5C-056A-77F9-3240-002A2038DCF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A43CBF-EDE6-3C7C-AF31-76F32C78B737}"/>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E71EA1-B6A7-7367-C6EF-CA9B97151083}"/>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2A29C2-275D-4AD4-0101-F970C2B21386}"/>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1C6779-A509-5008-6BC8-351109619FDD}"/>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562459-9AB6-4E0A-B0A6-B5826797740E}"/>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462442-E820-86CF-53A6-0A07A50E87E0}"/>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D182A4-121C-F469-BC80-164721FCFE67}"/>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A61C89-9FD7-2DF2-7592-0284084A0C3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48E01-FF94-099F-43F2-C9E62CAB1184}"/>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445A10-541D-87E4-4EAC-D6057DBB88B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E12D6C41-BE90-6984-BCAB-9CAF7B573B9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BE76FD0D-7125-8CD1-450B-4D14D002B944}"/>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EC6DF776-22FD-6BA0-F44A-9B20F3E1E23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5F0CC144-CAEE-E010-2EA5-97B0A42D497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A50CC49B-B843-58B2-4928-ADE1020A5FC7}"/>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DF77FA66-B397-6D38-E8A0-63B0B5F20C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7256408E-B471-B412-DABC-FC24C2DB587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54E3C01A-E518-7339-36E5-F6FE9164414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709754EE-F58C-979F-12E0-81091A1B21E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AD7FEE29-F0BB-71C5-1EB9-E6DA93E302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20A90759-165E-8371-F4C1-B2BF957992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66985C5F-C30F-CC93-7765-A9DA58DE51A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A40ABF01-778F-E7CE-8275-962C780BA75D}"/>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D59429-1311-DD86-71EE-23F015713A32}"/>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0D5162D0-ACFD-A74C-29C2-D5EBDE5D814D}"/>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50E7F335-B379-17F2-920E-9D2162C62B8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41D93219-8B72-A2B7-4821-D9B4743CEC45}"/>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40114479-37F8-BB39-88E2-80F7AC75AD5D}"/>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304D8C8A-7A1D-6AB2-EC38-7F5F8BF2844D}"/>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B8FBFF4B-6404-2153-8FD0-67DC37EEF7C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0F09029D-DBB1-AE11-9C17-302A1A033CC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09A38885-B8D9-A62C-AECE-E9987C566B90}"/>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ED252027-A702-199B-9ABF-6122EF9C4F8E}"/>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3" name="TextBox 42">
            <a:extLst>
              <a:ext uri="{FF2B5EF4-FFF2-40B4-BE49-F238E27FC236}">
                <a16:creationId xmlns:a16="http://schemas.microsoft.com/office/drawing/2014/main" id="{C8D35DA3-4696-FC62-3C1D-9E261A57FBC5}"/>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637401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B82F-5885-568B-1066-4E1F37FC2816}"/>
              </a:ext>
            </a:extLst>
          </p:cNvPr>
          <p:cNvSpPr>
            <a:spLocks noGrp="1"/>
          </p:cNvSpPr>
          <p:nvPr>
            <p:ph type="title"/>
          </p:nvPr>
        </p:nvSpPr>
        <p:spPr/>
        <p:txBody>
          <a:bodyPr/>
          <a:lstStyle/>
          <a:p>
            <a:r>
              <a:rPr lang="en-US" dirty="0"/>
              <a:t>Avoiding Decrease Key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A23939E-BE69-6AE0-B047-10E54D08E711}"/>
                  </a:ext>
                </a:extLst>
              </p:cNvPr>
              <p:cNvSpPr>
                <a:spLocks noGrp="1"/>
              </p:cNvSpPr>
              <p:nvPr>
                <p:ph idx="1"/>
              </p:nvPr>
            </p:nvSpPr>
            <p:spPr/>
            <p:txBody>
              <a:bodyPr>
                <a:normAutofit/>
              </a:bodyPr>
              <a:lstStyle/>
              <a:p>
                <a:r>
                  <a:rPr lang="en-US" dirty="0"/>
                  <a:t>Java’s </a:t>
                </a:r>
                <a:r>
                  <a:rPr lang="en-US" dirty="0" err="1">
                    <a:latin typeface="Consolas" panose="020B0609020204030204" pitchFamily="49" charset="0"/>
                  </a:rPr>
                  <a:t>PriorityQueue</a:t>
                </a:r>
                <a:r>
                  <a:rPr lang="en-US" dirty="0"/>
                  <a:t> interface does not have </a:t>
                </a:r>
                <a:r>
                  <a:rPr lang="en-US" dirty="0" err="1">
                    <a:latin typeface="Consolas" panose="020B0609020204030204" pitchFamily="49" charset="0"/>
                  </a:rPr>
                  <a:t>decreaseKey</a:t>
                </a:r>
                <a:endParaRPr lang="en-US" dirty="0">
                  <a:latin typeface="Consolas" panose="020B0609020204030204" pitchFamily="49" charset="0"/>
                </a:endParaRPr>
              </a:p>
              <a:p>
                <a:r>
                  <a:rPr lang="en-US" dirty="0"/>
                  <a:t>Two strategies to avoid this:</a:t>
                </a:r>
              </a:p>
              <a:p>
                <a:pPr lvl="1"/>
                <a:r>
                  <a:rPr lang="en-US" dirty="0"/>
                  <a:t>Allow copies of nodes to be on the PQ:</a:t>
                </a:r>
              </a:p>
              <a:p>
                <a:pPr lvl="2"/>
                <a:r>
                  <a:rPr lang="en-US" dirty="0"/>
                  <a:t>Every time we would want to decrease the key, instead add the node again, then make sure we skip “done” nodes when extracting.</a:t>
                </a:r>
              </a:p>
              <a:p>
                <a:pPr lvl="1"/>
                <a:r>
                  <a:rPr lang="en-US" dirty="0"/>
                  <a:t>Store edges on the priority queue instead of nodes. </a:t>
                </a:r>
              </a:p>
              <a:p>
                <a:pPr lvl="2"/>
                <a:r>
                  <a:rPr lang="en-US" dirty="0"/>
                  <a:t>If the destination of the edge has already been extracted, ignore that edge. Also avoids keeping track of previous nodes.</a:t>
                </a:r>
              </a:p>
              <a:p>
                <a:r>
                  <a:rPr lang="en-US" dirty="0"/>
                  <a:t>Both change the running time from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𝑉</m:t>
                            </m:r>
                          </m:e>
                        </m:func>
                      </m:e>
                    </m:d>
                  </m:oMath>
                </a14:m>
                <a:r>
                  <a:rPr lang="en-US" dirty="0"/>
                  <a:t> to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𝐸</m:t>
                            </m:r>
                          </m:e>
                        </m:func>
                      </m:e>
                    </m:d>
                  </m:oMath>
                </a14:m>
                <a:endParaRPr lang="en-US" dirty="0"/>
              </a:p>
              <a:p>
                <a:pPr lvl="1"/>
                <a:r>
                  <a:rPr lang="en-US" dirty="0"/>
                  <a:t>Since the maximum size of the priority queue is </a:t>
                </a:r>
                <a14:m>
                  <m:oMath xmlns:m="http://schemas.openxmlformats.org/officeDocument/2006/math">
                    <m:r>
                      <a:rPr lang="en-US" b="0" i="1" smtClean="0">
                        <a:latin typeface="Cambria Math" panose="02040503050406030204" pitchFamily="18" charset="0"/>
                      </a:rPr>
                      <m:t>𝐸</m:t>
                    </m:r>
                  </m:oMath>
                </a14:m>
                <a:endParaRPr lang="en-US" dirty="0"/>
              </a:p>
              <a:p>
                <a:pPr lvl="1"/>
                <a:r>
                  <a:rPr lang="en-US" dirty="0"/>
                  <a:t>Because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r>
                  <a:rPr lang="en-US" dirty="0"/>
                  <a:t>, the worst case asymptotic running time does not change</a:t>
                </a:r>
              </a:p>
            </p:txBody>
          </p:sp>
        </mc:Choice>
        <mc:Fallback>
          <p:sp>
            <p:nvSpPr>
              <p:cNvPr id="3" name="Content Placeholder 2">
                <a:extLst>
                  <a:ext uri="{FF2B5EF4-FFF2-40B4-BE49-F238E27FC236}">
                    <a16:creationId xmlns:a16="http://schemas.microsoft.com/office/drawing/2014/main" id="{EA23939E-BE69-6AE0-B047-10E54D08E711}"/>
                  </a:ext>
                </a:extLst>
              </p:cNvPr>
              <p:cNvSpPr>
                <a:spLocks noGrp="1" noRot="1" noChangeAspect="1" noMove="1" noResize="1" noEditPoints="1" noAdjustHandles="1" noChangeArrowheads="1" noChangeShapeType="1" noTextEdit="1"/>
              </p:cNvSpPr>
              <p:nvPr>
                <p:ph idx="1"/>
              </p:nvPr>
            </p:nvSpPr>
            <p:spPr>
              <a:blipFill>
                <a:blip r:embed="rId2"/>
                <a:stretch>
                  <a:fillRect l="-1043" t="-2381" b="-1821"/>
                </a:stretch>
              </a:blipFill>
            </p:spPr>
            <p:txBody>
              <a:bodyPr/>
              <a:lstStyle/>
              <a:p>
                <a:r>
                  <a:rPr lang="en-US">
                    <a:noFill/>
                  </a:rPr>
                  <a:t> </a:t>
                </a:r>
              </a:p>
            </p:txBody>
          </p:sp>
        </mc:Fallback>
      </mc:AlternateContent>
    </p:spTree>
    <p:extLst>
      <p:ext uri="{BB962C8B-B14F-4D97-AF65-F5344CB8AC3E}">
        <p14:creationId xmlns:p14="http://schemas.microsoft.com/office/powerpoint/2010/main" val="3249974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4778-2718-564F-2FA1-1E9AC1827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72579-663A-3D5E-F455-8EC5C0F373E8}"/>
              </a:ext>
            </a:extLst>
          </p:cNvPr>
          <p:cNvSpPr>
            <a:spLocks noGrp="1"/>
          </p:cNvSpPr>
          <p:nvPr>
            <p:ph type="title"/>
          </p:nvPr>
        </p:nvSpPr>
        <p:spPr>
          <a:xfrm>
            <a:off x="609600" y="-198120"/>
            <a:ext cx="10972800" cy="1143000"/>
          </a:xfrm>
        </p:spPr>
        <p:txBody>
          <a:bodyPr>
            <a:normAutofit/>
          </a:bodyPr>
          <a:lstStyle/>
          <a:p>
            <a:r>
              <a:rPr lang="en-US" dirty="0"/>
              <a:t>Prim’s Algorithm – Original Recipe</a:t>
            </a:r>
          </a:p>
        </p:txBody>
      </p:sp>
      <p:sp>
        <p:nvSpPr>
          <p:cNvPr id="4" name="Slide Number Placeholder 3">
            <a:extLst>
              <a:ext uri="{FF2B5EF4-FFF2-40B4-BE49-F238E27FC236}">
                <a16:creationId xmlns:a16="http://schemas.microsoft.com/office/drawing/2014/main" id="{BCDE8714-4EB5-2A27-84C1-BDF9ADFF3D2D}"/>
              </a:ext>
            </a:extLst>
          </p:cNvPr>
          <p:cNvSpPr>
            <a:spLocks noGrp="1"/>
          </p:cNvSpPr>
          <p:nvPr>
            <p:ph type="sldNum" sz="quarter" idx="12"/>
          </p:nvPr>
        </p:nvSpPr>
        <p:spPr/>
        <p:txBody>
          <a:bodyPr/>
          <a:lstStyle/>
          <a:p>
            <a:fld id="{86BADE50-950A-4D58-BFB2-FA2C6A8B385D}" type="slidenum">
              <a:rPr lang="en-US" smtClean="0"/>
              <a:t>14</a:t>
            </a:fld>
            <a:endParaRPr lang="en-US"/>
          </a:p>
        </p:txBody>
      </p:sp>
      <p:sp>
        <p:nvSpPr>
          <p:cNvPr id="43" name="TextBox 42">
            <a:extLst>
              <a:ext uri="{FF2B5EF4-FFF2-40B4-BE49-F238E27FC236}">
                <a16:creationId xmlns:a16="http://schemas.microsoft.com/office/drawing/2014/main" id="{86022BA4-0035-46FA-EF75-7DF5D61A02E6}"/>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500998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5886-B435-B1C3-5229-DAF9B69A8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4C04D-1A07-8F44-4184-31A06266BF98}"/>
              </a:ext>
            </a:extLst>
          </p:cNvPr>
          <p:cNvSpPr>
            <a:spLocks noGrp="1"/>
          </p:cNvSpPr>
          <p:nvPr>
            <p:ph type="title"/>
          </p:nvPr>
        </p:nvSpPr>
        <p:spPr>
          <a:xfrm>
            <a:off x="609600" y="-198120"/>
            <a:ext cx="10972800" cy="1143000"/>
          </a:xfrm>
        </p:spPr>
        <p:txBody>
          <a:bodyPr>
            <a:normAutofit/>
          </a:bodyPr>
          <a:lstStyle/>
          <a:p>
            <a:r>
              <a:rPr lang="en-US" dirty="0"/>
              <a:t>Prim’s Algorithm – Duplicate Nodes on the PQ</a:t>
            </a:r>
          </a:p>
        </p:txBody>
      </p:sp>
      <p:sp>
        <p:nvSpPr>
          <p:cNvPr id="4" name="Slide Number Placeholder 3">
            <a:extLst>
              <a:ext uri="{FF2B5EF4-FFF2-40B4-BE49-F238E27FC236}">
                <a16:creationId xmlns:a16="http://schemas.microsoft.com/office/drawing/2014/main" id="{068F7CE0-8871-A9B6-7ADD-AAFE9F422028}"/>
              </a:ext>
            </a:extLst>
          </p:cNvPr>
          <p:cNvSpPr>
            <a:spLocks noGrp="1"/>
          </p:cNvSpPr>
          <p:nvPr>
            <p:ph type="sldNum" sz="quarter" idx="12"/>
          </p:nvPr>
        </p:nvSpPr>
        <p:spPr/>
        <p:txBody>
          <a:bodyPr/>
          <a:lstStyle/>
          <a:p>
            <a:fld id="{86BADE50-950A-4D58-BFB2-FA2C6A8B385D}" type="slidenum">
              <a:rPr lang="en-US" smtClean="0"/>
              <a:t>15</a:t>
            </a:fld>
            <a:endParaRPr lang="en-US"/>
          </a:p>
        </p:txBody>
      </p:sp>
      <p:sp>
        <p:nvSpPr>
          <p:cNvPr id="43" name="TextBox 42">
            <a:extLst>
              <a:ext uri="{FF2B5EF4-FFF2-40B4-BE49-F238E27FC236}">
                <a16:creationId xmlns:a16="http://schemas.microsoft.com/office/drawing/2014/main" id="{0E962202-3295-86E4-6880-FF78CC91E046}"/>
              </a:ext>
            </a:extLst>
          </p:cNvPr>
          <p:cNvSpPr txBox="1"/>
          <p:nvPr/>
        </p:nvSpPr>
        <p:spPr>
          <a:xfrm>
            <a:off x="524257" y="642847"/>
            <a:ext cx="6572343" cy="6247864"/>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t>
            </a:r>
            <a:r>
              <a:rPr lang="en-US" sz="2000" b="1" dirty="0" err="1"/>
              <a:t>add</a:t>
            </a:r>
            <a:r>
              <a:rPr lang="en-US" sz="2000" dirty="0"/>
              <a:t>(v, d)</a:t>
            </a:r>
          </a:p>
          <a:p>
            <a:r>
              <a:rPr lang="en-US" sz="2000" dirty="0"/>
              <a:t>Return the spanning tree</a:t>
            </a:r>
          </a:p>
        </p:txBody>
      </p:sp>
    </p:spTree>
    <p:extLst>
      <p:ext uri="{BB962C8B-B14F-4D97-AF65-F5344CB8AC3E}">
        <p14:creationId xmlns:p14="http://schemas.microsoft.com/office/powerpoint/2010/main" val="1323105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73BB-F0F6-8229-6271-E81E6C027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3FB1-E420-9807-D48C-2B63EAAA9FFA}"/>
              </a:ext>
            </a:extLst>
          </p:cNvPr>
          <p:cNvSpPr>
            <a:spLocks noGrp="1"/>
          </p:cNvSpPr>
          <p:nvPr>
            <p:ph type="title"/>
          </p:nvPr>
        </p:nvSpPr>
        <p:spPr>
          <a:xfrm>
            <a:off x="609600" y="-198120"/>
            <a:ext cx="10972800" cy="1143000"/>
          </a:xfrm>
        </p:spPr>
        <p:txBody>
          <a:bodyPr>
            <a:normAutofit/>
          </a:bodyPr>
          <a:lstStyle/>
          <a:p>
            <a:r>
              <a:rPr lang="en-US" dirty="0"/>
              <a:t>Prim’s Algorithm – Edges on the PQ</a:t>
            </a:r>
          </a:p>
        </p:txBody>
      </p:sp>
      <p:sp>
        <p:nvSpPr>
          <p:cNvPr id="4" name="Slide Number Placeholder 3">
            <a:extLst>
              <a:ext uri="{FF2B5EF4-FFF2-40B4-BE49-F238E27FC236}">
                <a16:creationId xmlns:a16="http://schemas.microsoft.com/office/drawing/2014/main" id="{ED4C4148-3B12-13D8-EC02-4E9655B69E92}"/>
              </a:ext>
            </a:extLst>
          </p:cNvPr>
          <p:cNvSpPr>
            <a:spLocks noGrp="1"/>
          </p:cNvSpPr>
          <p:nvPr>
            <p:ph type="sldNum" sz="quarter" idx="12"/>
          </p:nvPr>
        </p:nvSpPr>
        <p:spPr/>
        <p:txBody>
          <a:bodyPr/>
          <a:lstStyle/>
          <a:p>
            <a:fld id="{86BADE50-950A-4D58-BFB2-FA2C6A8B385D}" type="slidenum">
              <a:rPr lang="en-US" smtClean="0"/>
              <a:t>16</a:t>
            </a:fld>
            <a:endParaRPr lang="en-US"/>
          </a:p>
        </p:txBody>
      </p:sp>
      <p:sp>
        <p:nvSpPr>
          <p:cNvPr id="43" name="TextBox 42">
            <a:extLst>
              <a:ext uri="{FF2B5EF4-FFF2-40B4-BE49-F238E27FC236}">
                <a16:creationId xmlns:a16="http://schemas.microsoft.com/office/drawing/2014/main" id="{A88799A6-2F3B-739D-0464-93E9FDD60B3F}"/>
              </a:ext>
            </a:extLst>
          </p:cNvPr>
          <p:cNvSpPr txBox="1"/>
          <p:nvPr/>
        </p:nvSpPr>
        <p:spPr>
          <a:xfrm>
            <a:off x="524257" y="64284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currEdge</a:t>
            </a:r>
            <a:r>
              <a:rPr lang="en-US" sz="2000" dirty="0"/>
              <a:t> = </a:t>
            </a:r>
            <a:r>
              <a:rPr lang="en-US" sz="2000" dirty="0" err="1"/>
              <a:t>PQ.extract</a:t>
            </a:r>
            <a:r>
              <a:rPr lang="en-US" sz="2000" dirty="0"/>
              <a:t>()</a:t>
            </a:r>
          </a:p>
          <a:p>
            <a:r>
              <a:rPr lang="en-US" sz="2000" dirty="0"/>
              <a:t>    </a:t>
            </a:r>
            <a:r>
              <a:rPr lang="en-US" sz="2000" dirty="0" err="1"/>
              <a:t>curr</a:t>
            </a:r>
            <a:r>
              <a:rPr lang="en-US" sz="2000" dirty="0"/>
              <a:t> = </a:t>
            </a:r>
            <a:r>
              <a:rPr lang="en-US" sz="2000" dirty="0" err="1"/>
              <a:t>currEdge.destination</a:t>
            </a:r>
            <a:endParaRPr lang="en-US" sz="2000" dirty="0"/>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a:t>
            </a:r>
            <a:r>
              <a:rPr lang="en-US" sz="2000" b="1" dirty="0" err="1"/>
              <a:t>currEdge</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a:t>
            </a:r>
            <a:r>
              <a:rPr lang="en-US" sz="2000" b="1" dirty="0"/>
              <a:t>(</a:t>
            </a:r>
            <a:r>
              <a:rPr lang="en-US" sz="2000" b="1" dirty="0" err="1"/>
              <a:t>curr,v</a:t>
            </a:r>
            <a:r>
              <a:rPr lang="en-US" sz="2000" b="1" dirty="0"/>
              <a:t>)</a:t>
            </a:r>
            <a:r>
              <a:rPr lang="en-US" sz="2000" dirty="0"/>
              <a:t>,d);</a:t>
            </a:r>
          </a:p>
          <a:p>
            <a:r>
              <a:rPr lang="en-US" sz="2000" dirty="0"/>
              <a:t>        if v is not “done” &amp;&amp; d &lt; distance to v:</a:t>
            </a:r>
          </a:p>
          <a:p>
            <a:r>
              <a:rPr lang="en-US" sz="2000" dirty="0"/>
              <a:t>            distance to v = d</a:t>
            </a:r>
          </a:p>
          <a:p>
            <a:r>
              <a:rPr lang="en-US" sz="2000" dirty="0"/>
              <a:t>            </a:t>
            </a:r>
            <a:r>
              <a:rPr lang="en-US" sz="2000" dirty="0" err="1"/>
              <a:t>PQ.</a:t>
            </a:r>
            <a:r>
              <a:rPr lang="en-US" sz="2000" b="1" dirty="0" err="1"/>
              <a:t>add</a:t>
            </a:r>
            <a:r>
              <a:rPr lang="en-US" sz="2000" dirty="0"/>
              <a:t>(</a:t>
            </a:r>
            <a:r>
              <a:rPr lang="en-US" sz="2000" b="1" dirty="0"/>
              <a:t>(</a:t>
            </a:r>
            <a:r>
              <a:rPr lang="en-US" sz="2000" b="1" dirty="0" err="1"/>
              <a:t>curr,v</a:t>
            </a:r>
            <a:r>
              <a:rPr lang="en-US" sz="2000" b="1" dirty="0"/>
              <a:t>)</a:t>
            </a:r>
            <a:r>
              <a:rPr lang="en-US" sz="2000" dirty="0"/>
              <a:t>, d)</a:t>
            </a:r>
          </a:p>
          <a:p>
            <a:r>
              <a:rPr lang="en-US" sz="2000" dirty="0"/>
              <a:t>Return the spanning tree</a:t>
            </a:r>
          </a:p>
        </p:txBody>
      </p:sp>
    </p:spTree>
    <p:extLst>
      <p:ext uri="{BB962C8B-B14F-4D97-AF65-F5344CB8AC3E}">
        <p14:creationId xmlns:p14="http://schemas.microsoft.com/office/powerpoint/2010/main" val="3898898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7F98B-4537-5463-5334-DCF48319548F}"/>
              </a:ext>
            </a:extLst>
          </p:cNvPr>
          <p:cNvSpPr>
            <a:spLocks noGrp="1"/>
          </p:cNvSpPr>
          <p:nvPr>
            <p:ph type="title"/>
          </p:nvPr>
        </p:nvSpPr>
        <p:spPr/>
        <p:txBody>
          <a:bodyPr/>
          <a:lstStyle/>
          <a:p>
            <a:r>
              <a:rPr lang="en-US" dirty="0"/>
              <a:t>Why does this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1A5609-D041-D5BA-BAE1-FE38219A5DDE}"/>
                  </a:ext>
                </a:extLst>
              </p:cNvPr>
              <p:cNvSpPr>
                <a:spLocks noGrp="1"/>
              </p:cNvSpPr>
              <p:nvPr>
                <p:ph idx="1"/>
              </p:nvPr>
            </p:nvSpPr>
            <p:spPr/>
            <p:txBody>
              <a:bodyPr/>
              <a:lstStyle/>
              <a:p>
                <a:r>
                  <a:rPr lang="en-US" dirty="0"/>
                  <a:t>To argue that Prim’s produces a minimum spanning tree:</a:t>
                </a:r>
              </a:p>
              <a:p>
                <a:pPr lvl="1"/>
                <a:r>
                  <a:rPr lang="en-US" dirty="0"/>
                  <a:t>First we show that Prim’s produces a spanning tree</a:t>
                </a:r>
              </a:p>
              <a:p>
                <a:pPr lvl="2"/>
                <a:r>
                  <a:rPr lang="en-US" dirty="0"/>
                  <a:t>Show two of:</a:t>
                </a:r>
              </a:p>
              <a:p>
                <a:pPr lvl="3"/>
                <a:r>
                  <a:rPr lang="en-US" dirty="0"/>
                  <a:t>Connected</a:t>
                </a:r>
              </a:p>
              <a:p>
                <a:pPr lvl="3"/>
                <a:r>
                  <a:rPr lang="en-US" dirty="0"/>
                  <a:t>Acyclic</a:t>
                </a:r>
              </a:p>
              <a:p>
                <a:pPr lvl="3"/>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oMath>
                </a14:m>
                <a:r>
                  <a:rPr lang="en-US" dirty="0"/>
                  <a:t> edges</a:t>
                </a:r>
              </a:p>
              <a:p>
                <a:pPr lvl="1"/>
                <a:r>
                  <a:rPr lang="en-US" dirty="0"/>
                  <a:t>Then we show that it is a minimum spanning tree</a:t>
                </a:r>
              </a:p>
              <a:p>
                <a:pPr lvl="2"/>
                <a:r>
                  <a:rPr lang="en-US" dirty="0"/>
                  <a:t>Show all edges chosen are MST edges</a:t>
                </a:r>
              </a:p>
              <a:p>
                <a:pPr lvl="3"/>
                <a:r>
                  <a:rPr lang="en-US" dirty="0"/>
                  <a:t>Using the “Cut Theorem”</a:t>
                </a:r>
              </a:p>
            </p:txBody>
          </p:sp>
        </mc:Choice>
        <mc:Fallback xmlns="">
          <p:sp>
            <p:nvSpPr>
              <p:cNvPr id="3" name="Content Placeholder 2">
                <a:extLst>
                  <a:ext uri="{FF2B5EF4-FFF2-40B4-BE49-F238E27FC236}">
                    <a16:creationId xmlns:a16="http://schemas.microsoft.com/office/drawing/2014/main" id="{3F1A5609-D041-D5BA-BAE1-FE38219A5DD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581086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p:nvPr/>
        </p:nvSpPr>
        <p:spPr>
          <a:xfrm>
            <a:off x="3093493" y="2374710"/>
            <a:ext cx="5813946" cy="1951630"/>
          </a:xfrm>
          <a:custGeom>
            <a:avLst/>
            <a:gdLst>
              <a:gd name="connsiteX0" fmla="*/ 0 w 5813946"/>
              <a:gd name="connsiteY0" fmla="*/ 818866 h 1951630"/>
              <a:gd name="connsiteX1" fmla="*/ 341194 w 5813946"/>
              <a:gd name="connsiteY1" fmla="*/ 1665027 h 1951630"/>
              <a:gd name="connsiteX2" fmla="*/ 4299044 w 5813946"/>
              <a:gd name="connsiteY2" fmla="*/ 1951630 h 1951630"/>
              <a:gd name="connsiteX3" fmla="*/ 5813946 w 5813946"/>
              <a:gd name="connsiteY3" fmla="*/ 1624084 h 1951630"/>
              <a:gd name="connsiteX4" fmla="*/ 4135271 w 5813946"/>
              <a:gd name="connsiteY4" fmla="*/ 232012 h 1951630"/>
              <a:gd name="connsiteX5" fmla="*/ 2961564 w 5813946"/>
              <a:gd name="connsiteY5" fmla="*/ 900753 h 1951630"/>
              <a:gd name="connsiteX6" fmla="*/ 1746913 w 5813946"/>
              <a:gd name="connsiteY6" fmla="*/ 0 h 1951630"/>
              <a:gd name="connsiteX7" fmla="*/ 0 w 5813946"/>
              <a:gd name="connsiteY7" fmla="*/ 818866 h 195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13946" h="1951630">
                <a:moveTo>
                  <a:pt x="0" y="818866"/>
                </a:moveTo>
                <a:lnTo>
                  <a:pt x="341194" y="1665027"/>
                </a:lnTo>
                <a:lnTo>
                  <a:pt x="4299044" y="1951630"/>
                </a:lnTo>
                <a:lnTo>
                  <a:pt x="5813946" y="1624084"/>
                </a:lnTo>
                <a:lnTo>
                  <a:pt x="4135271" y="232012"/>
                </a:lnTo>
                <a:lnTo>
                  <a:pt x="2961564" y="900753"/>
                </a:lnTo>
                <a:lnTo>
                  <a:pt x="1746913" y="0"/>
                </a:lnTo>
                <a:lnTo>
                  <a:pt x="0" y="818866"/>
                </a:lnTo>
                <a:close/>
              </a:path>
            </a:pathLst>
          </a:custGeom>
          <a:solidFill>
            <a:srgbClr val="00B0F0">
              <a:alpha val="2588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Definition: Cut</a:t>
            </a:r>
          </a:p>
        </p:txBody>
      </p:sp>
      <p:sp>
        <p:nvSpPr>
          <p:cNvPr id="4" name="Slide Number Placeholder 3"/>
          <p:cNvSpPr>
            <a:spLocks noGrp="1"/>
          </p:cNvSpPr>
          <p:nvPr>
            <p:ph type="sldNum" sz="quarter" idx="12"/>
          </p:nvPr>
        </p:nvSpPr>
        <p:spPr/>
        <p:txBody>
          <a:bodyPr/>
          <a:lstStyle/>
          <a:p>
            <a:fld id="{86BADE50-950A-4D58-BFB2-FA2C6A8B385D}" type="slidenum">
              <a:rPr lang="en-US" smtClean="0"/>
              <a:t>18</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Cut of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partition of the nodes into two sets,  </a:t>
                </a:r>
                <a14:m>
                  <m:oMath xmlns:m="http://schemas.openxmlformats.org/officeDocument/2006/math">
                    <m:r>
                      <a:rPr lang="en-US" sz="2800" i="1">
                        <a:solidFill>
                          <a:srgbClr val="0070C0"/>
                        </a:solidFill>
                        <a:latin typeface="Cambria Math"/>
                      </a:rPr>
                      <m:t>𝑆</m:t>
                    </m:r>
                  </m:oMath>
                </a14:m>
                <a:r>
                  <a:rPr lang="en-US" sz="2800" dirty="0">
                    <a:solidFill>
                      <a:srgbClr val="7030A0"/>
                    </a:solidFill>
                  </a:rPr>
                  <a:t> </a:t>
                </a:r>
                <a:r>
                  <a:rPr lang="en-US" sz="2800" dirty="0"/>
                  <a:t>and</a:t>
                </a:r>
                <a:r>
                  <a:rPr lang="en-US" sz="2800" dirty="0">
                    <a:solidFill>
                      <a:srgbClr val="7030A0"/>
                    </a:solidFill>
                  </a:rPr>
                  <a:t> </a:t>
                </a:r>
                <a14:m>
                  <m:oMath xmlns:m="http://schemas.openxmlformats.org/officeDocument/2006/math">
                    <m:r>
                      <a:rPr lang="en-US" sz="2800" i="1">
                        <a:solidFill>
                          <a:srgbClr val="FF33CC"/>
                        </a:solidFill>
                        <a:latin typeface="Cambria Math"/>
                      </a:rPr>
                      <m:t>𝑉</m:t>
                    </m:r>
                    <m:r>
                      <a:rPr lang="en-US" sz="2800" i="1">
                        <a:solidFill>
                          <a:srgbClr val="FF33CC"/>
                        </a:solidFill>
                        <a:latin typeface="Cambria Math"/>
                      </a:rPr>
                      <m:t>−</m:t>
                    </m:r>
                    <m:r>
                      <a:rPr lang="en-US" sz="2800" i="1">
                        <a:solidFill>
                          <a:srgbClr val="FF33CC"/>
                        </a:solidFill>
                        <a:latin typeface="Cambria Math"/>
                      </a:rPr>
                      <m:t>𝑆</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613" t="-6579" b="-15789"/>
                </a:stretch>
              </a:blipFill>
            </p:spPr>
            <p:txBody>
              <a:bodyPr/>
              <a:lstStyle/>
              <a:p>
                <a:r>
                  <a:rPr lang="en-US">
                    <a:noFill/>
                  </a:rPr>
                  <a:t> </a:t>
                </a:r>
              </a:p>
            </p:txBody>
          </p:sp>
        </mc:Fallback>
      </mc:AlternateContent>
      <p:grpSp>
        <p:nvGrpSpPr>
          <p:cNvPr id="44" name="Group 43"/>
          <p:cNvGrpSpPr/>
          <p:nvPr/>
        </p:nvGrpSpPr>
        <p:grpSpPr>
          <a:xfrm>
            <a:off x="3532127" y="2450286"/>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p:cNvSpPr/>
            <p:nvPr/>
          </p:nvSpPr>
          <p:spPr>
            <a:xfrm>
              <a:off x="1931018" y="3020093"/>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p:cNvSpPr/>
            <p:nvPr/>
          </p:nvSpPr>
          <p:spPr>
            <a:xfrm>
              <a:off x="1039367" y="5648524"/>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p:cNvSpPr/>
            <p:nvPr/>
          </p:nvSpPr>
          <p:spPr>
            <a:xfrm>
              <a:off x="2574345" y="449251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p:cNvSpPr/>
            <p:nvPr/>
          </p:nvSpPr>
          <p:spPr>
            <a:xfrm>
              <a:off x="3954499" y="307248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p:cNvSpPr/>
            <p:nvPr/>
          </p:nvSpPr>
          <p:spPr>
            <a:xfrm>
              <a:off x="2846880" y="639530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p:cNvSpPr/>
            <p:nvPr/>
          </p:nvSpPr>
          <p:spPr>
            <a:xfrm>
              <a:off x="5001167" y="6138669"/>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p:cNvSpPr/>
            <p:nvPr/>
          </p:nvSpPr>
          <p:spPr>
            <a:xfrm>
              <a:off x="6531078" y="4786960"/>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p:cNvSpPr/>
            <p:nvPr/>
          </p:nvSpPr>
          <p:spPr>
            <a:xfrm>
              <a:off x="5306598" y="3749156"/>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6" name="Rectangle 5"/>
              <p:cNvSpPr/>
              <p:nvPr/>
            </p:nvSpPr>
            <p:spPr>
              <a:xfrm>
                <a:off x="3005872" y="3657601"/>
                <a:ext cx="4231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70C0"/>
                          </a:solidFill>
                          <a:latin typeface="Cambria Math"/>
                        </a:rPr>
                        <m:t>𝑆</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3005872" y="3657601"/>
                <a:ext cx="423128"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p:cNvSpPr txBox="1"/>
              <p:nvPr/>
            </p:nvSpPr>
            <p:spPr>
              <a:xfrm>
                <a:off x="1219200" y="5244406"/>
                <a:ext cx="4387812" cy="1384995"/>
              </a:xfrm>
              <a:prstGeom prst="rect">
                <a:avLst/>
              </a:prstGeom>
              <a:noFill/>
            </p:spPr>
            <p:txBody>
              <a:bodyPr wrap="square" rtlCol="0">
                <a:spAutoFit/>
              </a:bodyPr>
              <a:lstStyle/>
              <a:p>
                <a:r>
                  <a:rPr lang="en-US" sz="2800" dirty="0"/>
                  <a:t>Edge </a:t>
                </a:r>
                <a14:m>
                  <m:oMath xmlns:m="http://schemas.openxmlformats.org/officeDocument/2006/math">
                    <m:d>
                      <m:dPr>
                        <m:ctrlPr>
                          <a:rPr lang="en-US" sz="2800" i="1" smtClean="0">
                            <a:solidFill>
                              <a:schemeClr val="accent6"/>
                            </a:solidFill>
                            <a:latin typeface="Cambria Math" panose="02040503050406030204" pitchFamily="18" charset="0"/>
                          </a:rPr>
                        </m:ctrlPr>
                      </m:dPr>
                      <m:e>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1</m:t>
                            </m:r>
                          </m:sub>
                        </m:sSub>
                        <m:r>
                          <a:rPr lang="en-US" sz="2800" i="1">
                            <a:solidFill>
                              <a:schemeClr val="accent6"/>
                            </a:solidFill>
                            <a:latin typeface="Cambria Math"/>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2</m:t>
                            </m:r>
                          </m:sub>
                        </m:sSub>
                      </m:e>
                    </m:d>
                    <m:r>
                      <a:rPr lang="en-US" sz="2800" i="1">
                        <a:solidFill>
                          <a:schemeClr val="accent6"/>
                        </a:solidFill>
                        <a:latin typeface="Cambria Math"/>
                      </a:rPr>
                      <m:t>∈</m:t>
                    </m:r>
                    <m:r>
                      <a:rPr lang="en-US" sz="2800" i="1">
                        <a:solidFill>
                          <a:schemeClr val="accent6"/>
                        </a:solidFill>
                        <a:latin typeface="Cambria Math"/>
                      </a:rPr>
                      <m:t>𝐸</m:t>
                    </m:r>
                  </m:oMath>
                </a14:m>
                <a:r>
                  <a:rPr lang="en-US" sz="2800" dirty="0">
                    <a:solidFill>
                      <a:schemeClr val="accent6"/>
                    </a:solidFill>
                  </a:rPr>
                  <a:t> crosses </a:t>
                </a:r>
                <a:r>
                  <a:rPr lang="en-US" sz="2800" dirty="0"/>
                  <a:t>a cut if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r>
                      <a:rPr lang="en-US" sz="2800" i="1">
                        <a:latin typeface="Cambria Math"/>
                      </a:rPr>
                      <m:t>𝑆</m:t>
                    </m:r>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oMath>
                </a14:m>
                <a:r>
                  <a:rPr lang="en-US" sz="2800" dirty="0"/>
                  <a:t> (or opposite), e.g. </a:t>
                </a:r>
                <a14:m>
                  <m:oMath xmlns:m="http://schemas.openxmlformats.org/officeDocument/2006/math">
                    <m:r>
                      <a:rPr lang="en-US" sz="2800" i="1">
                        <a:latin typeface="Cambria Math"/>
                      </a:rPr>
                      <m:t>(</m:t>
                    </m:r>
                    <m:r>
                      <a:rPr lang="en-US" sz="2800" i="1">
                        <a:latin typeface="Cambria Math"/>
                      </a:rPr>
                      <m:t>𝐴</m:t>
                    </m:r>
                    <m:r>
                      <a:rPr lang="en-US" sz="2800" i="1">
                        <a:latin typeface="Cambria Math"/>
                      </a:rPr>
                      <m:t>,</m:t>
                    </m:r>
                    <m:r>
                      <a:rPr lang="en-US" sz="2800" i="1">
                        <a:latin typeface="Cambria Math"/>
                      </a:rPr>
                      <m:t>𝐶</m:t>
                    </m:r>
                    <m:r>
                      <a:rPr lang="en-US" sz="2800" i="1">
                        <a:latin typeface="Cambria Math"/>
                      </a:rPr>
                      <m:t>)</m:t>
                    </m:r>
                  </m:oMath>
                </a14:m>
                <a:r>
                  <a:rPr lang="en-US" sz="2800" dirty="0"/>
                  <a:t> </a:t>
                </a:r>
              </a:p>
            </p:txBody>
          </p:sp>
        </mc:Choice>
        <mc:Fallback xmlns="">
          <p:sp>
            <p:nvSpPr>
              <p:cNvPr id="120" name="TextBox 119"/>
              <p:cNvSpPr txBox="1">
                <a:spLocks noRot="1" noChangeAspect="1" noMove="1" noResize="1" noEditPoints="1" noAdjustHandles="1" noChangeArrowheads="1" noChangeShapeType="1" noTextEdit="1"/>
              </p:cNvSpPr>
              <p:nvPr/>
            </p:nvSpPr>
            <p:spPr>
              <a:xfrm>
                <a:off x="1219200" y="5244406"/>
                <a:ext cx="4387812" cy="1384995"/>
              </a:xfrm>
              <a:prstGeom prst="rect">
                <a:avLst/>
              </a:prstGeom>
              <a:blipFill>
                <a:blip r:embed="rId5"/>
                <a:stretch>
                  <a:fillRect l="-3188" t="-363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p:cNvSpPr txBox="1"/>
              <p:nvPr/>
            </p:nvSpPr>
            <p:spPr>
              <a:xfrm>
                <a:off x="6229065" y="5257800"/>
                <a:ext cx="4819935" cy="1384995"/>
              </a:xfrm>
              <a:prstGeom prst="rect">
                <a:avLst/>
              </a:prstGeom>
              <a:noFill/>
            </p:spPr>
            <p:txBody>
              <a:bodyPr wrap="square" rtlCol="0">
                <a:spAutoFit/>
              </a:bodyPr>
              <a:lstStyle/>
              <a:p>
                <a:r>
                  <a:rPr lang="en-US" sz="2800" dirty="0"/>
                  <a:t>A set of edges </a:t>
                </a:r>
                <a14:m>
                  <m:oMath xmlns:m="http://schemas.openxmlformats.org/officeDocument/2006/math">
                    <m:r>
                      <a:rPr lang="en-US" sz="2800" i="1">
                        <a:solidFill>
                          <a:srgbClr val="009900"/>
                        </a:solidFill>
                        <a:latin typeface="Cambria Math"/>
                      </a:rPr>
                      <m:t>𝑅</m:t>
                    </m:r>
                  </m:oMath>
                </a14:m>
                <a:r>
                  <a:rPr lang="en-US" sz="2800" dirty="0">
                    <a:solidFill>
                      <a:srgbClr val="009900"/>
                    </a:solidFill>
                  </a:rPr>
                  <a:t> Respects a cut</a:t>
                </a:r>
                <a:r>
                  <a:rPr lang="en-US" sz="2800" dirty="0"/>
                  <a:t> if no edges cross the cut</a:t>
                </a:r>
              </a:p>
              <a:p>
                <a:r>
                  <a:rPr lang="en-US" sz="2800" dirty="0"/>
                  <a:t>e.g. </a:t>
                </a:r>
                <a14:m>
                  <m:oMath xmlns:m="http://schemas.openxmlformats.org/officeDocument/2006/math">
                    <m:r>
                      <a:rPr lang="en-US" sz="2800" i="1">
                        <a:latin typeface="Cambria Math"/>
                      </a:rPr>
                      <m:t>𝑅</m:t>
                    </m:r>
                    <m:r>
                      <a:rPr lang="en-US" sz="2800" i="1">
                        <a:latin typeface="Cambria Math"/>
                      </a:rPr>
                      <m:t>={</m:t>
                    </m:r>
                    <m:d>
                      <m:dPr>
                        <m:ctrlPr>
                          <a:rPr lang="en-US" sz="2800" i="1">
                            <a:latin typeface="Cambria Math" panose="02040503050406030204" pitchFamily="18" charset="0"/>
                          </a:rPr>
                        </m:ctrlPr>
                      </m:dPr>
                      <m:e>
                        <m:r>
                          <a:rPr lang="en-US" sz="2800" i="1">
                            <a:latin typeface="Cambria Math"/>
                          </a:rPr>
                          <m:t>𝐴</m:t>
                        </m:r>
                        <m:r>
                          <a:rPr lang="en-US" sz="2800" i="1">
                            <a:latin typeface="Cambria Math"/>
                          </a:rPr>
                          <m:t>,</m:t>
                        </m:r>
                        <m:r>
                          <a:rPr lang="en-US" sz="2800" i="1">
                            <a:latin typeface="Cambria Math"/>
                          </a:rPr>
                          <m:t>𝐵</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𝐸</m:t>
                        </m:r>
                        <m:r>
                          <a:rPr lang="en-US" sz="2800" i="1">
                            <a:latin typeface="Cambria Math"/>
                          </a:rPr>
                          <m:t>,</m:t>
                        </m:r>
                        <m:r>
                          <a:rPr lang="en-US" sz="2800" i="1">
                            <a:latin typeface="Cambria Math"/>
                          </a:rPr>
                          <m:t>𝐺</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𝐹</m:t>
                        </m:r>
                        <m:r>
                          <a:rPr lang="en-US" sz="2800" i="1">
                            <a:latin typeface="Cambria Math"/>
                          </a:rPr>
                          <m:t>,</m:t>
                        </m:r>
                        <m:r>
                          <a:rPr lang="en-US" sz="2800" i="1">
                            <a:latin typeface="Cambria Math"/>
                          </a:rPr>
                          <m:t>𝐺</m:t>
                        </m:r>
                      </m:e>
                    </m:d>
                    <m:r>
                      <a:rPr lang="en-US" sz="2800" i="1">
                        <a:latin typeface="Cambria Math"/>
                      </a:rPr>
                      <m:t>}</m:t>
                    </m:r>
                  </m:oMath>
                </a14:m>
                <a:endParaRPr lang="en-US" sz="2800" dirty="0"/>
              </a:p>
            </p:txBody>
          </p:sp>
        </mc:Choice>
        <mc:Fallback xmlns="">
          <p:sp>
            <p:nvSpPr>
              <p:cNvPr id="121" name="TextBox 120"/>
              <p:cNvSpPr txBox="1">
                <a:spLocks noRot="1" noChangeAspect="1" noMove="1" noResize="1" noEditPoints="1" noAdjustHandles="1" noChangeArrowheads="1" noChangeShapeType="1" noTextEdit="1"/>
              </p:cNvSpPr>
              <p:nvPr/>
            </p:nvSpPr>
            <p:spPr>
              <a:xfrm>
                <a:off x="6229065" y="5257800"/>
                <a:ext cx="4819935" cy="1384995"/>
              </a:xfrm>
              <a:prstGeom prst="rect">
                <a:avLst/>
              </a:prstGeom>
              <a:blipFill>
                <a:blip r:embed="rId6"/>
                <a:stretch>
                  <a:fillRect l="-2362" t="-4545" b="-10000"/>
                </a:stretch>
              </a:blipFill>
            </p:spPr>
            <p:txBody>
              <a:bodyPr/>
              <a:lstStyle/>
              <a:p>
                <a:r>
                  <a:rPr lang="en-US">
                    <a:noFill/>
                  </a:rPr>
                  <a:t> </a:t>
                </a:r>
              </a:p>
            </p:txBody>
          </p:sp>
        </mc:Fallback>
      </mc:AlternateContent>
    </p:spTree>
    <p:extLst>
      <p:ext uri="{BB962C8B-B14F-4D97-AF65-F5344CB8AC3E}">
        <p14:creationId xmlns:p14="http://schemas.microsoft.com/office/powerpoint/2010/main" val="355962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19</a:t>
            </a:fld>
            <a:endParaRPr lang="en-US"/>
          </a:p>
        </p:txBody>
      </p:sp>
    </p:spTree>
    <p:extLst>
      <p:ext uri="{BB962C8B-B14F-4D97-AF65-F5344CB8AC3E}">
        <p14:creationId xmlns:p14="http://schemas.microsoft.com/office/powerpoint/2010/main" val="2545427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highlight>
                      <a:srgbClr val="FFFF00"/>
                    </a:highlight>
                  </a:rPr>
                  <a:t>If a set of edges </a:t>
                </a:r>
                <a14:m>
                  <m:oMath xmlns:m="http://schemas.openxmlformats.org/officeDocument/2006/math">
                    <m:r>
                      <a:rPr lang="en-US" b="0" i="1" smtClean="0">
                        <a:solidFill>
                          <a:schemeClr val="accent2">
                            <a:lumMod val="75000"/>
                          </a:schemeClr>
                        </a:solidFill>
                        <a:highlight>
                          <a:srgbClr val="FFFF00"/>
                        </a:highlight>
                        <a:latin typeface="Cambria Math"/>
                      </a:rPr>
                      <m:t>𝐴</m:t>
                    </m:r>
                  </m:oMath>
                </a14:m>
                <a:r>
                  <a:rPr lang="en-US" dirty="0">
                    <a:highlight>
                      <a:srgbClr val="FFFF00"/>
                    </a:highlight>
                  </a:rPr>
                  <a:t> is a subset of a minimum spanning tree </a:t>
                </a:r>
                <a14:m>
                  <m:oMath xmlns:m="http://schemas.openxmlformats.org/officeDocument/2006/math">
                    <m:r>
                      <a:rPr lang="en-US" b="0" i="1" smtClean="0">
                        <a:solidFill>
                          <a:srgbClr val="7030A0"/>
                        </a:solidFill>
                        <a:highlight>
                          <a:srgbClr val="FFFF00"/>
                        </a:highlight>
                        <a:latin typeface="Cambria Math"/>
                      </a:rPr>
                      <m:t>𝑇</m:t>
                    </m:r>
                  </m:oMath>
                </a14:m>
                <a:r>
                  <a:rPr lang="en-US" dirty="0">
                    <a:highlight>
                      <a:srgbClr val="FFFF00"/>
                    </a:highlight>
                  </a:rPr>
                  <a:t>, </a:t>
                </a:r>
                <a:r>
                  <a:rPr lang="en-US" dirty="0"/>
                  <a:t>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chemeClr val="accent2">
                            <a:lumMod val="75000"/>
                          </a:schemeClr>
                        </a:solidFill>
                        <a:latin typeface="Cambria Math"/>
                      </a:rPr>
                      <m:t>𝐴</m:t>
                    </m:r>
                  </m:oMath>
                </a14:m>
                <a:r>
                  <a:rPr lang="en-US" dirty="0"/>
                  <a:t> respects. Let </a:t>
                </a:r>
                <a14:m>
                  <m:oMath xmlns:m="http://schemas.openxmlformats.org/officeDocument/2006/math">
                    <m:r>
                      <a:rPr lang="en-US" b="0" i="1" smtClean="0">
                        <a:solidFill>
                          <a:srgbClr val="FF00FF"/>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chemeClr val="accent2">
                            <a:lumMod val="75000"/>
                          </a:schemeClr>
                        </a:solidFill>
                        <a:latin typeface="Cambria Math"/>
                      </a:rPr>
                      <m:t>𝐴</m:t>
                    </m:r>
                    <m:r>
                      <a:rPr lang="en-US" b="0" i="1" dirty="0" smtClean="0">
                        <a:latin typeface="Cambria Math"/>
                      </a:rPr>
                      <m:t>∪</m:t>
                    </m:r>
                    <m:r>
                      <a:rPr lang="en-US" b="0" i="1" dirty="0" smtClean="0">
                        <a:solidFill>
                          <a:srgbClr val="FF00FF"/>
                        </a:solidFill>
                        <a:latin typeface="Cambria Math"/>
                      </a:rPr>
                      <m:t>{</m:t>
                    </m:r>
                    <m:r>
                      <a:rPr lang="en-US" b="0" i="1" dirty="0" smtClean="0">
                        <a:solidFill>
                          <a:srgbClr val="FF00FF"/>
                        </a:solidFill>
                        <a:latin typeface="Cambria Math"/>
                      </a:rPr>
                      <m:t>𝑒</m:t>
                    </m:r>
                    <m:r>
                      <a:rPr lang="en-US" b="0" i="1" dirty="0" smtClean="0">
                        <a:solidFill>
                          <a:srgbClr val="FF00FF"/>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20</a:t>
            </a:fld>
            <a:endParaRPr lang="en-US"/>
          </a:p>
        </p:txBody>
      </p:sp>
      <p:grpSp>
        <p:nvGrpSpPr>
          <p:cNvPr id="5" name="Group 4"/>
          <p:cNvGrpSpPr/>
          <p:nvPr/>
        </p:nvGrpSpPr>
        <p:grpSpPr>
          <a:xfrm>
            <a:off x="3811391" y="3810000"/>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074757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a:t>
                </a:r>
                <a:r>
                  <a:rPr lang="en-US" dirty="0">
                    <a:highlight>
                      <a:srgbClr val="FFFF00"/>
                    </a:highlight>
                  </a:rPr>
                  <a:t>let </a:t>
                </a:r>
                <a14:m>
                  <m:oMath xmlns:m="http://schemas.openxmlformats.org/officeDocument/2006/math">
                    <m:r>
                      <a:rPr lang="en-US" b="0" i="0"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 </m:t>
                    </m:r>
                    <m:r>
                      <a:rPr lang="en-US" b="0" i="1" smtClean="0">
                        <a:solidFill>
                          <a:srgbClr val="0070C0"/>
                        </a:solidFill>
                        <a:highlight>
                          <a:srgbClr val="FFFF00"/>
                        </a:highlight>
                        <a:latin typeface="Cambria Math"/>
                      </a:rPr>
                      <m:t>𝑉</m:t>
                    </m:r>
                    <m:r>
                      <a:rPr lang="en-US" b="0" i="1"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m:t>
                    </m:r>
                  </m:oMath>
                </a14:m>
                <a:r>
                  <a:rPr lang="en-US" dirty="0">
                    <a:highlight>
                      <a:srgbClr val="FFFF00"/>
                    </a:highlight>
                  </a:rPr>
                  <a:t> be any cut which </a:t>
                </a:r>
                <a14:m>
                  <m:oMath xmlns:m="http://schemas.openxmlformats.org/officeDocument/2006/math">
                    <m:r>
                      <a:rPr lang="en-US" b="0" i="1" smtClean="0">
                        <a:solidFill>
                          <a:srgbClr val="009900"/>
                        </a:solidFill>
                        <a:highlight>
                          <a:srgbClr val="FFFF00"/>
                        </a:highlight>
                        <a:latin typeface="Cambria Math"/>
                      </a:rPr>
                      <m:t>𝐴</m:t>
                    </m:r>
                  </m:oMath>
                </a14:m>
                <a:r>
                  <a:rPr lang="en-US" dirty="0">
                    <a:highlight>
                      <a:srgbClr val="FFFF00"/>
                    </a:highlight>
                  </a:rPr>
                  <a:t> respects. </a:t>
                </a:r>
                <a:r>
                  <a:rPr lang="en-US" dirty="0"/>
                  <a:t>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21</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 name="Group 81">
            <a:extLst>
              <a:ext uri="{FF2B5EF4-FFF2-40B4-BE49-F238E27FC236}">
                <a16:creationId xmlns:a16="http://schemas.microsoft.com/office/drawing/2014/main" id="{08A5621E-F231-62DA-B139-EC78FD1DB0BF}"/>
              </a:ext>
            </a:extLst>
          </p:cNvPr>
          <p:cNvGrpSpPr/>
          <p:nvPr/>
        </p:nvGrpSpPr>
        <p:grpSpPr>
          <a:xfrm>
            <a:off x="3811391" y="3810000"/>
            <a:ext cx="4600060" cy="2787240"/>
            <a:chOff x="0" y="2862182"/>
            <a:chExt cx="7044346" cy="4268266"/>
          </a:xfrm>
        </p:grpSpPr>
        <p:cxnSp>
          <p:nvCxnSpPr>
            <p:cNvPr id="83" name="Straight Connector 82">
              <a:extLst>
                <a:ext uri="{FF2B5EF4-FFF2-40B4-BE49-F238E27FC236}">
                  <a16:creationId xmlns:a16="http://schemas.microsoft.com/office/drawing/2014/main" id="{E25D65D0-971A-40A7-75C7-3EE1CA5E06E3}"/>
                </a:ext>
              </a:extLst>
            </p:cNvPr>
            <p:cNvCxnSpPr>
              <a:stCxn id="111" idx="7"/>
              <a:endCxn id="112"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63D5CD1-3CCD-70A3-89F5-78F4DC5F2C6C}"/>
                </a:ext>
              </a:extLst>
            </p:cNvPr>
            <p:cNvCxnSpPr>
              <a:stCxn id="112" idx="6"/>
              <a:endCxn id="115"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1096541-4BA0-D83C-2B6E-38E0DE7554A6}"/>
                </a:ext>
              </a:extLst>
            </p:cNvPr>
            <p:cNvCxnSpPr>
              <a:stCxn id="111" idx="4"/>
              <a:endCxn id="113"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58CA366-7BD0-EF40-699B-9042551BAC1D}"/>
                </a:ext>
              </a:extLst>
            </p:cNvPr>
            <p:cNvCxnSpPr>
              <a:stCxn id="114" idx="3"/>
              <a:endCxn id="113"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E25253-987B-C90F-8D48-7C36AC0D5105}"/>
                </a:ext>
              </a:extLst>
            </p:cNvPr>
            <p:cNvCxnSpPr>
              <a:stCxn id="116" idx="2"/>
              <a:endCxn id="113"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0B9773E-8571-7D16-817B-37E7251E04CD}"/>
                </a:ext>
              </a:extLst>
            </p:cNvPr>
            <p:cNvCxnSpPr>
              <a:stCxn id="114" idx="5"/>
              <a:endCxn id="116"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8FE1AAA-1DD5-FACA-1E64-5BF37B3DCAE0}"/>
                </a:ext>
              </a:extLst>
            </p:cNvPr>
            <p:cNvCxnSpPr>
              <a:stCxn id="114" idx="7"/>
              <a:endCxn id="115"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0CAE26-84AB-A25E-4FB0-8CAD565F1442}"/>
                </a:ext>
              </a:extLst>
            </p:cNvPr>
            <p:cNvCxnSpPr>
              <a:stCxn id="116" idx="6"/>
              <a:endCxn id="117"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45D3D9B-082A-6F24-BDFC-74EC8D9A5704}"/>
                </a:ext>
              </a:extLst>
            </p:cNvPr>
            <p:cNvCxnSpPr>
              <a:stCxn id="117" idx="1"/>
              <a:endCxn id="115"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D02D20A-BFF4-54DD-0C40-F50D4C625411}"/>
                </a:ext>
              </a:extLst>
            </p:cNvPr>
            <p:cNvCxnSpPr>
              <a:stCxn id="119" idx="2"/>
              <a:endCxn id="115"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8F96E25-979F-D846-F35E-7EBB22116E6E}"/>
                </a:ext>
              </a:extLst>
            </p:cNvPr>
            <p:cNvCxnSpPr>
              <a:stCxn id="117" idx="0"/>
              <a:endCxn id="119"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E162F88-188E-8B07-DBA1-0CB8EEBCBD86}"/>
                </a:ext>
              </a:extLst>
            </p:cNvPr>
            <p:cNvCxnSpPr>
              <a:stCxn id="118" idx="1"/>
              <a:endCxn id="119"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2787CE5-4F68-9932-72EC-3B58249B5443}"/>
                </a:ext>
              </a:extLst>
            </p:cNvPr>
            <p:cNvCxnSpPr>
              <a:stCxn id="118" idx="3"/>
              <a:endCxn id="117"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3795D95-2EC9-715E-D54A-0618E96E30A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05B5B168-41BE-33D7-5038-774443CA983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C0B69B4A-AE37-07F6-D734-5800B662224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a:extLst>
                <a:ext uri="{FF2B5EF4-FFF2-40B4-BE49-F238E27FC236}">
                  <a16:creationId xmlns:a16="http://schemas.microsoft.com/office/drawing/2014/main" id="{9A4EC48A-61D0-7138-1059-A0125D9470E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53E763E-2FF0-4120-3B24-288D092524F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02B8DBF4-4163-38A4-8CE3-FCDD6BA7265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B658C8E2-E23F-DE21-AC69-10AB76E467A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a:extLst>
                <a:ext uri="{FF2B5EF4-FFF2-40B4-BE49-F238E27FC236}">
                  <a16:creationId xmlns:a16="http://schemas.microsoft.com/office/drawing/2014/main" id="{E7BCC272-212A-86CF-9D17-455658D49D78}"/>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32169CA7-F9E5-33B9-A7DD-B2CD3343962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a:extLst>
                <a:ext uri="{FF2B5EF4-FFF2-40B4-BE49-F238E27FC236}">
                  <a16:creationId xmlns:a16="http://schemas.microsoft.com/office/drawing/2014/main" id="{A042E8CC-DEF3-3AE5-987A-17198333FDA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3A08EAD-22B8-70CB-28A2-4B4E36C470F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C0CA4916-9195-C899-D2E1-63326529C9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2195A8E5-2B33-9235-CA35-F7C57CD9112A}"/>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D5C59C26-C777-04DF-74BA-29958701CBD7}"/>
                </a:ext>
              </a:extLst>
            </p:cNvPr>
            <p:cNvCxnSpPr>
              <a:stCxn id="112" idx="4"/>
              <a:endCxn id="113"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2CB29B37-C5C6-9F7B-D8C7-88D66C91C4F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3B5220F6-1BCD-7FBA-56B6-8CC0AC74727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a:extLst>
                <a:ext uri="{FF2B5EF4-FFF2-40B4-BE49-F238E27FC236}">
                  <a16:creationId xmlns:a16="http://schemas.microsoft.com/office/drawing/2014/main" id="{8DF66582-3FCB-9731-D241-97919889C32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a:extLst>
                <a:ext uri="{FF2B5EF4-FFF2-40B4-BE49-F238E27FC236}">
                  <a16:creationId xmlns:a16="http://schemas.microsoft.com/office/drawing/2014/main" id="{90343102-510A-CA9D-2125-ECA6C8A69BD8}"/>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a:extLst>
                <a:ext uri="{FF2B5EF4-FFF2-40B4-BE49-F238E27FC236}">
                  <a16:creationId xmlns:a16="http://schemas.microsoft.com/office/drawing/2014/main" id="{1FA7461C-A2FB-6F8D-B6A9-8825A969092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a:extLst>
                <a:ext uri="{FF2B5EF4-FFF2-40B4-BE49-F238E27FC236}">
                  <a16:creationId xmlns:a16="http://schemas.microsoft.com/office/drawing/2014/main" id="{5DA39FAC-5A88-A220-9769-2A45AB1BF4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a:extLst>
                <a:ext uri="{FF2B5EF4-FFF2-40B4-BE49-F238E27FC236}">
                  <a16:creationId xmlns:a16="http://schemas.microsoft.com/office/drawing/2014/main" id="{231FF2A7-3A6E-A08A-79BD-AC89821E07A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a:extLst>
                <a:ext uri="{FF2B5EF4-FFF2-40B4-BE49-F238E27FC236}">
                  <a16:creationId xmlns:a16="http://schemas.microsoft.com/office/drawing/2014/main" id="{DA1F752D-3789-58C2-1B45-DF3F5F1A9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a:extLst>
                <a:ext uri="{FF2B5EF4-FFF2-40B4-BE49-F238E27FC236}">
                  <a16:creationId xmlns:a16="http://schemas.microsoft.com/office/drawing/2014/main" id="{E5CA036B-1AC6-A846-4F20-A549339FB35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a:extLst>
                <a:ext uri="{FF2B5EF4-FFF2-40B4-BE49-F238E27FC236}">
                  <a16:creationId xmlns:a16="http://schemas.microsoft.com/office/drawing/2014/main" id="{3013F3A0-5AFD-ACAC-E994-E2E040F2500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26916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a:t>
                </a:r>
                <a:r>
                  <a:rPr lang="en-US" dirty="0">
                    <a:highlight>
                      <a:srgbClr val="FFFF00"/>
                    </a:highlight>
                  </a:rPr>
                  <a:t>Let </a:t>
                </a:r>
                <a14:m>
                  <m:oMath xmlns:m="http://schemas.openxmlformats.org/officeDocument/2006/math">
                    <m:r>
                      <a:rPr lang="en-US" b="0" i="1" smtClean="0">
                        <a:solidFill>
                          <a:schemeClr val="accent6"/>
                        </a:solidFill>
                        <a:highlight>
                          <a:srgbClr val="FFFF00"/>
                        </a:highlight>
                        <a:latin typeface="Cambria Math"/>
                      </a:rPr>
                      <m:t>𝑒</m:t>
                    </m:r>
                  </m:oMath>
                </a14:m>
                <a:r>
                  <a:rPr lang="en-US" dirty="0">
                    <a:highlight>
                      <a:srgbClr val="FFFF00"/>
                    </a:highlight>
                  </a:rPr>
                  <a:t> be the least-weight edge which crosses </a:t>
                </a:r>
                <a14:m>
                  <m:oMath xmlns:m="http://schemas.openxmlformats.org/officeDocument/2006/math">
                    <m:r>
                      <a:rPr lang="en-US" smtClean="0">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 </m:t>
                    </m:r>
                    <m:r>
                      <a:rPr lang="en-US" i="1">
                        <a:solidFill>
                          <a:srgbClr val="0070C0"/>
                        </a:solidFill>
                        <a:highlight>
                          <a:srgbClr val="FFFF00"/>
                        </a:highlight>
                        <a:latin typeface="Cambria Math"/>
                      </a:rPr>
                      <m:t>𝑉</m:t>
                    </m:r>
                    <m:r>
                      <a:rPr lang="en-US" i="1">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m:t>
                    </m:r>
                  </m:oMath>
                </a14:m>
                <a:r>
                  <a:rPr lang="en-US" dirty="0">
                    <a:highlight>
                      <a:srgbClr val="FFFF00"/>
                    </a:highlight>
                  </a:rPr>
                  <a:t>.</a:t>
                </a:r>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22</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29198E55-6F42-0FA1-AB6D-7F901B1B1E3D}"/>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BB0E06C9-37D5-43C2-D10D-EA2243A63806}"/>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110772-2492-C02B-4310-5D9CC40C034C}"/>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AA26F86-1E80-4433-A93E-500D91786BC1}"/>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0F5829-36E1-93B9-1023-B4CE872F5040}"/>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7E0130-1049-692C-97B0-39F9B2A67C97}"/>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100C636-6300-261A-D3C1-5BA4508FFAAE}"/>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09C0422-82ED-C933-B089-587208D05813}"/>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CA4EAA3-EE9B-5FAC-1175-E1FD6BAF4D14}"/>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5E5BA0C-9E52-4E96-1B91-A5880AFAC78D}"/>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8DE9CC3-339A-8383-B3F4-EC0DBB282861}"/>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472BB70-F9A1-0994-9ADA-AD09EAD5F674}"/>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9F04EFA-F215-1E7A-9941-38A40A8CDEEE}"/>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7326BD7-941A-5B6A-7211-F9DC6B744DA4}"/>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CBD08D3-AF52-7042-E74E-01EF32B14B97}"/>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8C049DBC-3422-0A37-CB72-099103AA9DB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D165F027-E404-46B2-D0EA-93D0CCA2247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3FBBE0D5-C0B1-D739-11E2-1644D84D214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A007F4A6-3D60-0077-57F1-D653AB71340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E8D41F80-DAD5-43C5-02E9-69AD937BF4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96641B5-9E3B-E579-54DF-FCA2645F4A2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3E477480-EDEF-8037-83F3-A74EB25A498C}"/>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C49DC063-9A25-1942-E7E6-E4732AD74DF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B4B6B344-6A56-12D2-BF05-9B8F10E0C3D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B221352B-3758-359E-0CB1-88051947193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D18E2766-6CC3-F313-E9EF-E0FE786BA5E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0D2942C2-419B-F804-3AC0-3DF4ADA03A1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26CBC85E-0A14-5BFD-014A-B37F8F352453}"/>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3C2CECED-E758-56DB-7EAE-66D116E12F1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641085D1-E5B4-63EF-7A5E-B016CFF7C6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EE2E7BF6-A814-794C-3064-3BB36174D2BD}"/>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F8CFDD61-B27F-57E5-F7EC-EB92985B857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AD2D2FE8-F573-148E-F38E-42134A010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631AA3F4-2138-4ABF-8843-F7444A48838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704C0BD1-DE02-FA8A-1D35-832C1B9943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118CD315-BF24-B776-1334-9FC783FEDF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96E0FEB5-1D3D-831B-2050-6C401C0E749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62FC4322-2D35-65AB-D3FA-8132A5094D3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015451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highlight>
                          <a:srgbClr val="FFFF00"/>
                        </a:highlight>
                        <a:latin typeface="Cambria Math"/>
                      </a:rPr>
                      <m:t>𝐴</m:t>
                    </m:r>
                    <m:r>
                      <a:rPr lang="en-US" b="0" i="1" dirty="0" smtClean="0">
                        <a:highlight>
                          <a:srgbClr val="FFFF00"/>
                        </a:highlight>
                        <a:latin typeface="Cambria Math"/>
                      </a:rPr>
                      <m:t>∪</m:t>
                    </m:r>
                    <m:r>
                      <a:rPr lang="en-US" b="0" i="1" dirty="0" smtClean="0">
                        <a:solidFill>
                          <a:schemeClr val="accent6"/>
                        </a:solidFill>
                        <a:highlight>
                          <a:srgbClr val="FFFF00"/>
                        </a:highlight>
                        <a:latin typeface="Cambria Math"/>
                      </a:rPr>
                      <m:t>{</m:t>
                    </m:r>
                    <m:r>
                      <a:rPr lang="en-US" b="0" i="1" dirty="0" smtClean="0">
                        <a:solidFill>
                          <a:schemeClr val="accent6"/>
                        </a:solidFill>
                        <a:highlight>
                          <a:srgbClr val="FFFF00"/>
                        </a:highlight>
                        <a:latin typeface="Cambria Math"/>
                      </a:rPr>
                      <m:t>𝑒</m:t>
                    </m:r>
                    <m:r>
                      <a:rPr lang="en-US" b="0" i="1" dirty="0" smtClean="0">
                        <a:solidFill>
                          <a:schemeClr val="accent6"/>
                        </a:solidFill>
                        <a:highlight>
                          <a:srgbClr val="FFFF00"/>
                        </a:highlight>
                        <a:latin typeface="Cambria Math"/>
                      </a:rPr>
                      <m:t>}</m:t>
                    </m:r>
                  </m:oMath>
                </a14:m>
                <a:r>
                  <a:rPr lang="en-US" dirty="0">
                    <a:solidFill>
                      <a:schemeClr val="accent6"/>
                    </a:solidFill>
                    <a:highlight>
                      <a:srgbClr val="FFFF00"/>
                    </a:highlight>
                  </a:rPr>
                  <a:t> </a:t>
                </a:r>
                <a:r>
                  <a:rPr lang="en-US" dirty="0">
                    <a:highlight>
                      <a:srgbClr val="FFFF00"/>
                    </a:highlight>
                  </a:rPr>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23</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0F2EAC53-DFD4-4BBA-7531-4962D42D278A}"/>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8CEFCCDE-9FE4-B0D1-0ED3-F6C1100A0DDC}"/>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816800-6FCD-690D-386F-E28B411A6BF5}"/>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1E34618-651A-3C4F-B1D9-A465341271C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405D5F1-2AA6-A603-FFDD-16E3CE8A497A}"/>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BB87ACB-01DD-7ED4-CE7F-15DC9F4CB24C}"/>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F429E40-AFB3-D3AF-839C-2F0FDDCA8E6C}"/>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382E72-A6AC-43B7-9E54-D488F2BFF039}"/>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E8F0648-DB17-6A41-B62A-DC6B2FF9940D}"/>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AEC97B9-7C46-AC16-4FF8-46969C130079}"/>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2878952-73B0-2A6B-43DB-1C9CF18AB60E}"/>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B681C72-F0F5-8A24-3031-423A36170E6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3966A-1EAB-43CD-F4D9-C868A3149ED6}"/>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A0620FA-1A20-DE0E-A00C-3AF50F6EC5C7}"/>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ACEF1C3-41F0-5961-C143-6DDC14FDB26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C90C5354-7797-C3E5-BEBF-441D2DC9FD9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F7596B4F-095D-69F7-D81E-CF8AF22367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C7EC9331-CFE5-92EB-1BBC-FF644D01D124}"/>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592181C7-1341-324B-86FD-2D115D2E9BA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A7A6B5CA-9A3D-5337-C343-69E050D43F1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335B4AB-D2F6-C4D6-5992-A396C467F50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16C41094-C55E-A301-C3C5-67806E8A7530}"/>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748B98D0-7EE0-E22B-3BCC-C681BD2ADB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55AD4CD2-DC16-8D2B-C62E-5D290E91BFA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5BC656BE-F3E8-E01E-54E2-7845CF31B12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21173EF3-27BE-8319-3634-8114232E57A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EEAE141E-A769-70F2-63BC-DD88A6E462D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C28835EF-632B-B851-85EF-848F07992844}"/>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479D6BEB-1FFE-1A94-9736-41AEC7F00F3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44C8A243-AA44-1AD4-8D08-E9956D2C923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2E7C3A5F-D718-7DF2-5D18-A9739746DF8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92353ED4-E128-966C-E9D4-AA776F8251B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52FD719E-55D4-7229-981A-EAC67C63C0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FCAE1762-1309-E4A2-FB17-9558DD9E707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927001B2-E5FD-DC3C-2202-B3220AD842F6}"/>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9B513570-17A7-75FF-733F-67C7D330AC4E}"/>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0EB1A036-17B1-2249-347A-AB91BC9EAA2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325B238E-106C-ADF4-E86A-730D74A8510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9406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17F5-6F5E-C241-2623-B4B91EAD9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A175C-50F6-D8D0-354E-4C6E824E706A}"/>
              </a:ext>
            </a:extLst>
          </p:cNvPr>
          <p:cNvSpPr>
            <a:spLocks noGrp="1"/>
          </p:cNvSpPr>
          <p:nvPr>
            <p:ph type="title"/>
          </p:nvPr>
        </p:nvSpPr>
        <p:spPr/>
        <p:txBody>
          <a:bodyPr>
            <a:normAutofit/>
          </a:bodyPr>
          <a:lstStyle/>
          <a:p>
            <a:r>
              <a:rPr lang="en-US" dirty="0"/>
              <a:t>Proof of Prim’s Algorithm</a:t>
            </a:r>
          </a:p>
        </p:txBody>
      </p:sp>
      <p:sp>
        <p:nvSpPr>
          <p:cNvPr id="4" name="Slide Number Placeholder 3">
            <a:extLst>
              <a:ext uri="{FF2B5EF4-FFF2-40B4-BE49-F238E27FC236}">
                <a16:creationId xmlns:a16="http://schemas.microsoft.com/office/drawing/2014/main" id="{EE921EE0-FB0A-2AE2-CB9B-FC741C110E38}"/>
              </a:ext>
            </a:extLst>
          </p:cNvPr>
          <p:cNvSpPr>
            <a:spLocks noGrp="1"/>
          </p:cNvSpPr>
          <p:nvPr>
            <p:ph type="sldNum" sz="quarter" idx="12"/>
          </p:nvPr>
        </p:nvSpPr>
        <p:spPr/>
        <p:txBody>
          <a:bodyPr/>
          <a:lstStyle/>
          <a:p>
            <a:fld id="{86BADE50-950A-4D58-BFB2-FA2C6A8B385D}" type="slidenum">
              <a:rPr lang="en-US" smtClean="0"/>
              <a:t>24</a:t>
            </a:fld>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EB23D58-9BB2-6485-A4EB-6B5646DD817D}"/>
                  </a:ext>
                </a:extLst>
              </p:cNvPr>
              <p:cNvSpPr txBox="1"/>
              <p:nvPr/>
            </p:nvSpPr>
            <p:spPr>
              <a:xfrm>
                <a:off x="174566" y="1376502"/>
                <a:ext cx="6284423"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connects </a:t>
                </a:r>
              </a:p>
              <a:p>
                <a:r>
                  <a:rPr lang="en-US" sz="2400" dirty="0"/>
                  <a:t>	to a node not currently in the tree</a:t>
                </a:r>
              </a:p>
            </p:txBody>
          </p:sp>
        </mc:Choice>
        <mc:Fallback xmlns="">
          <p:sp>
            <p:nvSpPr>
              <p:cNvPr id="44" name="TextBox 43">
                <a:extLst>
                  <a:ext uri="{FF2B5EF4-FFF2-40B4-BE49-F238E27FC236}">
                    <a16:creationId xmlns:a16="http://schemas.microsoft.com/office/drawing/2014/main" id="{BEB23D58-9BB2-6485-A4EB-6B5646DD817D}"/>
                  </a:ext>
                </a:extLst>
              </p:cNvPr>
              <p:cNvSpPr txBox="1">
                <a:spLocks noRot="1" noChangeAspect="1" noMove="1" noResize="1" noEditPoints="1" noAdjustHandles="1" noChangeArrowheads="1" noChangeShapeType="1" noTextEdit="1"/>
              </p:cNvSpPr>
              <p:nvPr/>
            </p:nvSpPr>
            <p:spPr>
              <a:xfrm>
                <a:off x="174566" y="1376502"/>
                <a:ext cx="6284423" cy="1569660"/>
              </a:xfrm>
              <a:prstGeom prst="rect">
                <a:avLst/>
              </a:prstGeom>
              <a:blipFill>
                <a:blip r:embed="rId2"/>
                <a:stretch>
                  <a:fillRect l="-1552"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8CEB06-CEF3-59DF-EE80-F2F720365DCB}"/>
                  </a:ext>
                </a:extLst>
              </p:cNvPr>
              <p:cNvSpPr txBox="1"/>
              <p:nvPr/>
            </p:nvSpPr>
            <p:spPr>
              <a:xfrm>
                <a:off x="2318729" y="3127866"/>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a:extLst>
                  <a:ext uri="{FF2B5EF4-FFF2-40B4-BE49-F238E27FC236}">
                    <a16:creationId xmlns:a16="http://schemas.microsoft.com/office/drawing/2014/main" id="{9C8CEB06-CEF3-59DF-EE80-F2F720365DCB}"/>
                  </a:ext>
                </a:extLst>
              </p:cNvPr>
              <p:cNvSpPr txBox="1">
                <a:spLocks noRot="1" noChangeAspect="1" noMove="1" noResize="1" noEditPoints="1" noAdjustHandles="1" noChangeArrowheads="1" noChangeShapeType="1" noTextEdit="1"/>
              </p:cNvSpPr>
              <p:nvPr/>
            </p:nvSpPr>
            <p:spPr>
              <a:xfrm>
                <a:off x="2318729" y="3127866"/>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A9502B-E010-0A06-1643-BFB603C8607F}"/>
                  </a:ext>
                </a:extLst>
              </p:cNvPr>
              <p:cNvSpPr txBox="1"/>
              <p:nvPr/>
            </p:nvSpPr>
            <p:spPr>
              <a:xfrm>
                <a:off x="7016163" y="881383"/>
                <a:ext cx="5210772" cy="5940088"/>
              </a:xfrm>
              <a:prstGeom prst="rect">
                <a:avLst/>
              </a:prstGeom>
              <a:noFill/>
            </p:spPr>
            <p:txBody>
              <a:bodyPr wrap="square" rtlCol="0">
                <a:spAutoFit/>
              </a:bodyPr>
              <a:lstStyle/>
              <a:p>
                <a:r>
                  <a:rPr lang="en-US" sz="2000" b="1" dirty="0"/>
                  <a:t>Proof: By Structural Induction</a:t>
                </a:r>
              </a:p>
              <a:p>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a:t>
                </a:r>
                <a:r>
                  <a:rPr lang="en-US" sz="2000" dirty="0" err="1"/>
                  <a:t>Prims’s</a:t>
                </a:r>
                <a:r>
                  <a:rPr lang="en-US" sz="2000" dirty="0"/>
                  <a:t>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𝐸</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a:t>
                </a:r>
                <a:r>
                  <a:rPr lang="en-US" sz="2000" dirty="0" err="1"/>
                  <a:t>Prims’s</a:t>
                </a:r>
                <a:r>
                  <a:rPr lang="en-US" sz="2000" dirty="0"/>
                  <a:t>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𝐸</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b="0" i="1" smtClean="0">
                        <a:latin typeface="Cambria Math" panose="02040503050406030204" pitchFamily="18" charset="0"/>
                      </a:rPr>
                      <m:t>𝐺</m:t>
                    </m:r>
                  </m:oMath>
                </a14:m>
                <a:r>
                  <a:rPr lang="en-US" sz="2000" dirty="0"/>
                  <a:t> has not been removed from the priority queue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that have been removed from the priority queue</a:t>
                </a:r>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Prim’s only selects MST edges!</a:t>
                </a:r>
              </a:p>
            </p:txBody>
          </p:sp>
        </mc:Choice>
        <mc:Fallback xmlns="">
          <p:sp>
            <p:nvSpPr>
              <p:cNvPr id="8" name="TextBox 7">
                <a:extLst>
                  <a:ext uri="{FF2B5EF4-FFF2-40B4-BE49-F238E27FC236}">
                    <a16:creationId xmlns:a16="http://schemas.microsoft.com/office/drawing/2014/main" id="{F2A9502B-E010-0A06-1643-BFB603C8607F}"/>
                  </a:ext>
                </a:extLst>
              </p:cNvPr>
              <p:cNvSpPr txBox="1">
                <a:spLocks noRot="1" noChangeAspect="1" noMove="1" noResize="1" noEditPoints="1" noAdjustHandles="1" noChangeArrowheads="1" noChangeShapeType="1" noTextEdit="1"/>
              </p:cNvSpPr>
              <p:nvPr/>
            </p:nvSpPr>
            <p:spPr>
              <a:xfrm>
                <a:off x="7016163" y="881383"/>
                <a:ext cx="5210772" cy="5940088"/>
              </a:xfrm>
              <a:prstGeom prst="rect">
                <a:avLst/>
              </a:prstGeom>
              <a:blipFill>
                <a:blip r:embed="rId4"/>
                <a:stretch>
                  <a:fillRect l="-1287" t="-616" r="-1988" b="-924"/>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A501FC1E-0DAC-835E-28DC-9B23B8BC695E}"/>
              </a:ext>
            </a:extLst>
          </p:cNvPr>
          <p:cNvSpPr/>
          <p:nvPr/>
        </p:nvSpPr>
        <p:spPr>
          <a:xfrm>
            <a:off x="595137" y="3183276"/>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782CE26-76C7-7F28-827D-A74E43150264}"/>
              </a:ext>
            </a:extLst>
          </p:cNvPr>
          <p:cNvGrpSpPr/>
          <p:nvPr/>
        </p:nvGrpSpPr>
        <p:grpSpPr>
          <a:xfrm>
            <a:off x="974297" y="3546512"/>
            <a:ext cx="4600060" cy="2787240"/>
            <a:chOff x="0" y="2862182"/>
            <a:chExt cx="7044346" cy="4268266"/>
          </a:xfrm>
        </p:grpSpPr>
        <p:cxnSp>
          <p:nvCxnSpPr>
            <p:cNvPr id="10" name="Straight Connector 9">
              <a:extLst>
                <a:ext uri="{FF2B5EF4-FFF2-40B4-BE49-F238E27FC236}">
                  <a16:creationId xmlns:a16="http://schemas.microsoft.com/office/drawing/2014/main" id="{FF8E8C5E-E7B5-DEF0-AA2E-64CF3A3842B3}"/>
                </a:ext>
              </a:extLst>
            </p:cNvPr>
            <p:cNvCxnSpPr>
              <a:stCxn id="38" idx="7"/>
              <a:endCxn id="39"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2EA59D8-AEF9-A743-9625-88A8622ADFF0}"/>
                </a:ext>
              </a:extLst>
            </p:cNvPr>
            <p:cNvCxnSpPr>
              <a:stCxn id="39" idx="6"/>
              <a:endCxn id="42"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DD05D1-6499-AAF1-0B80-AD2AB5943165}"/>
                </a:ext>
              </a:extLst>
            </p:cNvPr>
            <p:cNvCxnSpPr>
              <a:stCxn id="38" idx="4"/>
              <a:endCxn id="40"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A677229-4D8F-AD14-2D5B-6A116CF15BD0}"/>
                </a:ext>
              </a:extLst>
            </p:cNvPr>
            <p:cNvCxnSpPr>
              <a:stCxn id="41" idx="3"/>
              <a:endCxn id="40"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404FAAD-8725-2D0F-FE39-07DB672968EB}"/>
                </a:ext>
              </a:extLst>
            </p:cNvPr>
            <p:cNvCxnSpPr>
              <a:stCxn id="43" idx="2"/>
              <a:endCxn id="40"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A7FD0F-9546-64A9-34E1-5BB4B53A82C0}"/>
                </a:ext>
              </a:extLst>
            </p:cNvPr>
            <p:cNvCxnSpPr>
              <a:stCxn id="41" idx="5"/>
              <a:endCxn id="43"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E55A5C-EBC1-5DC1-BFF9-1AD067EF8436}"/>
                </a:ext>
              </a:extLst>
            </p:cNvPr>
            <p:cNvCxnSpPr>
              <a:stCxn id="41" idx="7"/>
              <a:endCxn id="42"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5B566B-8D61-7E27-6D82-747ECE9DAB1E}"/>
                </a:ext>
              </a:extLst>
            </p:cNvPr>
            <p:cNvCxnSpPr>
              <a:stCxn id="43" idx="6"/>
              <a:endCxn id="45"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C905D2-EB4A-0052-11FF-E8682388BC6D}"/>
                </a:ext>
              </a:extLst>
            </p:cNvPr>
            <p:cNvCxnSpPr>
              <a:stCxn id="45" idx="1"/>
              <a:endCxn id="42"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BD4824-270D-0671-F1BE-C6A847C1D7E5}"/>
                </a:ext>
              </a:extLst>
            </p:cNvPr>
            <p:cNvCxnSpPr>
              <a:stCxn id="85" idx="2"/>
              <a:endCxn id="42"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490F8C-588C-6FDC-B8BB-FD06AD58F62C}"/>
                </a:ext>
              </a:extLst>
            </p:cNvPr>
            <p:cNvCxnSpPr>
              <a:stCxn id="45" idx="0"/>
              <a:endCxn id="85"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DB8FE34-ACC7-B70D-DF0E-CA2C322E80A5}"/>
                </a:ext>
              </a:extLst>
            </p:cNvPr>
            <p:cNvCxnSpPr>
              <a:stCxn id="46" idx="1"/>
              <a:endCxn id="85"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249CFE-A96B-CEED-BD1B-DAE21A641F4F}"/>
                </a:ext>
              </a:extLst>
            </p:cNvPr>
            <p:cNvCxnSpPr>
              <a:stCxn id="46" idx="3"/>
              <a:endCxn id="45"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DC0612-D89B-0176-8B80-BF715E376C3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4" name="TextBox 23">
              <a:extLst>
                <a:ext uri="{FF2B5EF4-FFF2-40B4-BE49-F238E27FC236}">
                  <a16:creationId xmlns:a16="http://schemas.microsoft.com/office/drawing/2014/main" id="{6F01F0E4-1752-3FDA-A2EA-A21D040F65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5" name="TextBox 24">
              <a:extLst>
                <a:ext uri="{FF2B5EF4-FFF2-40B4-BE49-F238E27FC236}">
                  <a16:creationId xmlns:a16="http://schemas.microsoft.com/office/drawing/2014/main" id="{41549FB6-C3CB-2F02-CDC1-84E380CC023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6" name="TextBox 25">
              <a:extLst>
                <a:ext uri="{FF2B5EF4-FFF2-40B4-BE49-F238E27FC236}">
                  <a16:creationId xmlns:a16="http://schemas.microsoft.com/office/drawing/2014/main" id="{30F96CCA-2B74-84BC-8CD1-1A988105FB1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7" name="TextBox 26">
              <a:extLst>
                <a:ext uri="{FF2B5EF4-FFF2-40B4-BE49-F238E27FC236}">
                  <a16:creationId xmlns:a16="http://schemas.microsoft.com/office/drawing/2014/main" id="{BF3B598C-1539-FF2C-4F12-7F1C321B3D2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8" name="TextBox 27">
              <a:extLst>
                <a:ext uri="{FF2B5EF4-FFF2-40B4-BE49-F238E27FC236}">
                  <a16:creationId xmlns:a16="http://schemas.microsoft.com/office/drawing/2014/main" id="{9F063FEE-22B8-49C3-ED21-1E8E722EF9B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9" name="TextBox 28">
              <a:extLst>
                <a:ext uri="{FF2B5EF4-FFF2-40B4-BE49-F238E27FC236}">
                  <a16:creationId xmlns:a16="http://schemas.microsoft.com/office/drawing/2014/main" id="{74FE809D-C4DE-0BFF-4AC1-E78C6B4E7B8A}"/>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30" name="TextBox 29">
              <a:extLst>
                <a:ext uri="{FF2B5EF4-FFF2-40B4-BE49-F238E27FC236}">
                  <a16:creationId xmlns:a16="http://schemas.microsoft.com/office/drawing/2014/main" id="{B4F15D19-219C-6072-9474-02770DFA9A06}"/>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1" name="TextBox 30">
              <a:extLst>
                <a:ext uri="{FF2B5EF4-FFF2-40B4-BE49-F238E27FC236}">
                  <a16:creationId xmlns:a16="http://schemas.microsoft.com/office/drawing/2014/main" id="{91EE7E1B-5320-496C-C30C-0C3F91064F0C}"/>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2" name="TextBox 31">
              <a:extLst>
                <a:ext uri="{FF2B5EF4-FFF2-40B4-BE49-F238E27FC236}">
                  <a16:creationId xmlns:a16="http://schemas.microsoft.com/office/drawing/2014/main" id="{75C1CCBC-D255-DB48-666D-39B95CDBE79A}"/>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3" name="TextBox 32">
              <a:extLst>
                <a:ext uri="{FF2B5EF4-FFF2-40B4-BE49-F238E27FC236}">
                  <a16:creationId xmlns:a16="http://schemas.microsoft.com/office/drawing/2014/main" id="{FBE6A953-BB8C-76AF-AA1C-48442EAF074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4" name="TextBox 33">
              <a:extLst>
                <a:ext uri="{FF2B5EF4-FFF2-40B4-BE49-F238E27FC236}">
                  <a16:creationId xmlns:a16="http://schemas.microsoft.com/office/drawing/2014/main" id="{80B2C5DF-6888-7A19-7AE6-99E7016C47C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5" name="TextBox 34">
              <a:extLst>
                <a:ext uri="{FF2B5EF4-FFF2-40B4-BE49-F238E27FC236}">
                  <a16:creationId xmlns:a16="http://schemas.microsoft.com/office/drawing/2014/main" id="{BDBAF3CC-0E77-C734-8E7F-5C115CDAF4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6" name="Straight Connector 35">
              <a:extLst>
                <a:ext uri="{FF2B5EF4-FFF2-40B4-BE49-F238E27FC236}">
                  <a16:creationId xmlns:a16="http://schemas.microsoft.com/office/drawing/2014/main" id="{91293E25-EB14-F181-C01C-8FC0DE59E008}"/>
                </a:ext>
              </a:extLst>
            </p:cNvPr>
            <p:cNvCxnSpPr>
              <a:stCxn id="39" idx="4"/>
              <a:endCxn id="40"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C1956F4-B9E8-E58B-C2BE-3742F7A2132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8" name="Oval 37">
              <a:extLst>
                <a:ext uri="{FF2B5EF4-FFF2-40B4-BE49-F238E27FC236}">
                  <a16:creationId xmlns:a16="http://schemas.microsoft.com/office/drawing/2014/main" id="{42839D0F-618E-DEFE-B1B8-00D728889BB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Oval 38">
              <a:extLst>
                <a:ext uri="{FF2B5EF4-FFF2-40B4-BE49-F238E27FC236}">
                  <a16:creationId xmlns:a16="http://schemas.microsoft.com/office/drawing/2014/main" id="{2549E62B-7837-0E6E-C18E-E6D73188E89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40" name="Oval 39">
              <a:extLst>
                <a:ext uri="{FF2B5EF4-FFF2-40B4-BE49-F238E27FC236}">
                  <a16:creationId xmlns:a16="http://schemas.microsoft.com/office/drawing/2014/main" id="{C1D8A0D1-2FCC-B56E-85EF-11FB9400D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1" name="Oval 40">
              <a:extLst>
                <a:ext uri="{FF2B5EF4-FFF2-40B4-BE49-F238E27FC236}">
                  <a16:creationId xmlns:a16="http://schemas.microsoft.com/office/drawing/2014/main" id="{1CEE7DFC-63CF-3BB3-05EE-75FD3C06FCD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2" name="Oval 41">
              <a:extLst>
                <a:ext uri="{FF2B5EF4-FFF2-40B4-BE49-F238E27FC236}">
                  <a16:creationId xmlns:a16="http://schemas.microsoft.com/office/drawing/2014/main" id="{4FF37358-19F8-B639-7607-FB0D76EA4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3" name="Oval 42">
              <a:extLst>
                <a:ext uri="{FF2B5EF4-FFF2-40B4-BE49-F238E27FC236}">
                  <a16:creationId xmlns:a16="http://schemas.microsoft.com/office/drawing/2014/main" id="{61C2D8A9-B191-BACF-3AE6-E8FDE6453B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5" name="Oval 44">
              <a:extLst>
                <a:ext uri="{FF2B5EF4-FFF2-40B4-BE49-F238E27FC236}">
                  <a16:creationId xmlns:a16="http://schemas.microsoft.com/office/drawing/2014/main" id="{80D01D7C-8270-5B39-B189-6E8F2B7CDB9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6" name="Oval 45">
              <a:extLst>
                <a:ext uri="{FF2B5EF4-FFF2-40B4-BE49-F238E27FC236}">
                  <a16:creationId xmlns:a16="http://schemas.microsoft.com/office/drawing/2014/main" id="{50AE759C-B4E6-9767-AF32-59A718A6BDD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4B32089C-CACD-2878-3488-B78A322F791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6B2F075-C52D-379F-5E31-053C238567D9}"/>
                  </a:ext>
                </a:extLst>
              </p:cNvPr>
              <p:cNvSpPr txBox="1"/>
              <p:nvPr/>
            </p:nvSpPr>
            <p:spPr>
              <a:xfrm>
                <a:off x="3871012" y="4411806"/>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86" name="TextBox 85">
                <a:extLst>
                  <a:ext uri="{FF2B5EF4-FFF2-40B4-BE49-F238E27FC236}">
                    <a16:creationId xmlns:a16="http://schemas.microsoft.com/office/drawing/2014/main" id="{F6B2F075-C52D-379F-5E31-053C238567D9}"/>
                  </a:ext>
                </a:extLst>
              </p:cNvPr>
              <p:cNvSpPr txBox="1">
                <a:spLocks noRot="1" noChangeAspect="1" noMove="1" noResize="1" noEditPoints="1" noAdjustHandles="1" noChangeArrowheads="1" noChangeShapeType="1" noTextEdit="1"/>
              </p:cNvSpPr>
              <p:nvPr/>
            </p:nvSpPr>
            <p:spPr>
              <a:xfrm>
                <a:off x="3871012" y="4411806"/>
                <a:ext cx="412613" cy="46166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49669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3505201" y="3513084"/>
            <a:ext cx="2191407" cy="2049517"/>
          </a:xfrm>
          <a:custGeom>
            <a:avLst/>
            <a:gdLst>
              <a:gd name="connsiteX0" fmla="*/ 220717 w 2191407"/>
              <a:gd name="connsiteY0" fmla="*/ 2049517 h 2049517"/>
              <a:gd name="connsiteX1" fmla="*/ 1734207 w 2191407"/>
              <a:gd name="connsiteY1" fmla="*/ 1103586 h 2049517"/>
              <a:gd name="connsiteX2" fmla="*/ 2191407 w 2191407"/>
              <a:gd name="connsiteY2" fmla="*/ 268014 h 2049517"/>
              <a:gd name="connsiteX3" fmla="*/ 1939158 w 2191407"/>
              <a:gd name="connsiteY3" fmla="*/ 0 h 2049517"/>
              <a:gd name="connsiteX4" fmla="*/ 1387365 w 2191407"/>
              <a:gd name="connsiteY4" fmla="*/ 0 h 2049517"/>
              <a:gd name="connsiteX5" fmla="*/ 362607 w 2191407"/>
              <a:gd name="connsiteY5" fmla="*/ 756745 h 2049517"/>
              <a:gd name="connsiteX6" fmla="*/ 0 w 2191407"/>
              <a:gd name="connsiteY6" fmla="*/ 1340069 h 2049517"/>
              <a:gd name="connsiteX7" fmla="*/ 31531 w 2191407"/>
              <a:gd name="connsiteY7" fmla="*/ 1781504 h 2049517"/>
              <a:gd name="connsiteX8" fmla="*/ 220717 w 2191407"/>
              <a:gd name="connsiteY8" fmla="*/ 2049517 h 20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407" h="2049517">
                <a:moveTo>
                  <a:pt x="220717" y="2049517"/>
                </a:moveTo>
                <a:lnTo>
                  <a:pt x="1734207" y="1103586"/>
                </a:lnTo>
                <a:lnTo>
                  <a:pt x="2191407" y="268014"/>
                </a:lnTo>
                <a:lnTo>
                  <a:pt x="1939158" y="0"/>
                </a:lnTo>
                <a:lnTo>
                  <a:pt x="1387365" y="0"/>
                </a:lnTo>
                <a:lnTo>
                  <a:pt x="362607" y="756745"/>
                </a:lnTo>
                <a:lnTo>
                  <a:pt x="0" y="1340069"/>
                </a:lnTo>
                <a:lnTo>
                  <a:pt x="31531" y="1781504"/>
                </a:lnTo>
                <a:lnTo>
                  <a:pt x="220717" y="20495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General MST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25</a:t>
            </a:fld>
            <a:endParaRPr lang="en-US"/>
          </a:p>
        </p:txBody>
      </p:sp>
      <p:grpSp>
        <p:nvGrpSpPr>
          <p:cNvPr id="47" name="Group 46"/>
          <p:cNvGrpSpPr/>
          <p:nvPr/>
        </p:nvGrpSpPr>
        <p:grpSpPr>
          <a:xfrm>
            <a:off x="3826554" y="3537360"/>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1905000" y="1378424"/>
                <a:ext cx="9768839"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r>
                  <a:rPr lang="en-US" sz="2800" dirty="0"/>
                  <a:t> which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t> respects (typically implicitly)</a:t>
                </a:r>
              </a:p>
              <a:p>
                <a:r>
                  <a:rPr lang="en-US" sz="2800" dirty="0"/>
                  <a:t>	Add the </a:t>
                </a:r>
                <a:r>
                  <a:rPr lang="en-US" sz="2800" dirty="0">
                    <a:solidFill>
                      <a:srgbClr val="FF00FF"/>
                    </a:solidFill>
                  </a:rPr>
                  <a:t>min-weight edge which crosses</a:t>
                </a:r>
                <a:r>
                  <a:rPr lang="en-US" sz="2800" dirty="0">
                    <a:solidFill>
                      <a:schemeClr val="accent6"/>
                    </a:solidFill>
                  </a:rPr>
                  <a: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endParaRPr lang="en-US" sz="28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905000" y="1378424"/>
                <a:ext cx="9768839" cy="1815882"/>
              </a:xfrm>
              <a:prstGeom prst="rect">
                <a:avLst/>
              </a:prstGeom>
              <a:blipFill>
                <a:blip r:embed="rId2"/>
                <a:stretch>
                  <a:fillRect l="-1311" t="-3020" b="-8725"/>
                </a:stretch>
              </a:blipFill>
            </p:spPr>
            <p:txBody>
              <a:bodyPr/>
              <a:lstStyle/>
              <a:p>
                <a:r>
                  <a:rPr lang="en-US">
                    <a:noFill/>
                  </a:rPr>
                  <a:t> </a:t>
                </a:r>
              </a:p>
            </p:txBody>
          </p:sp>
        </mc:Fallback>
      </mc:AlternateContent>
    </p:spTree>
    <p:extLst>
      <p:ext uri="{BB962C8B-B14F-4D97-AF65-F5344CB8AC3E}">
        <p14:creationId xmlns:p14="http://schemas.microsoft.com/office/powerpoint/2010/main" val="2185320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D583-B9C0-908E-6EA6-D9D0C8E4D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7EFA7-5A05-2F96-F4AB-82C37741B688}"/>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6842CE7-8F07-05AA-85EE-D6F4127164B7}"/>
              </a:ext>
            </a:extLst>
          </p:cNvPr>
          <p:cNvSpPr>
            <a:spLocks noGrp="1"/>
          </p:cNvSpPr>
          <p:nvPr>
            <p:ph type="sldNum" sz="quarter" idx="12"/>
          </p:nvPr>
        </p:nvSpPr>
        <p:spPr/>
        <p:txBody>
          <a:bodyPr/>
          <a:lstStyle/>
          <a:p>
            <a:fld id="{86BADE50-950A-4D58-BFB2-FA2C6A8B385D}" type="slidenum">
              <a:rPr lang="en-US" smtClean="0"/>
              <a:t>26</a:t>
            </a:fld>
            <a:endParaRPr lang="en-US"/>
          </a:p>
        </p:txBody>
      </p:sp>
      <p:grpSp>
        <p:nvGrpSpPr>
          <p:cNvPr id="47" name="Group 46">
            <a:extLst>
              <a:ext uri="{FF2B5EF4-FFF2-40B4-BE49-F238E27FC236}">
                <a16:creationId xmlns:a16="http://schemas.microsoft.com/office/drawing/2014/main" id="{12DF9C19-CC14-5423-B6D4-72B4C00EA096}"/>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95E19283-1E03-C62E-AD57-74C492D8C31C}"/>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A30882-95BC-1C31-24A0-19CC18C2B58A}"/>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2D6454-52E4-D4ED-B833-C48B84B55E45}"/>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DC5352A-138E-705F-3B7A-7B7AC2500052}"/>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71CDDBF-C839-6F9A-37E9-7339FC127EEE}"/>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95139C-622C-4617-D903-D2EE7CD0BB4E}"/>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05F1B8-C2A6-7741-68DE-509AE61F2F85}"/>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6FDB016-1FA4-5570-5B78-8B0FB428978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2CF5D87-FABD-F052-828F-7920EF7ED6A4}"/>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44668FA-5E0A-DC62-A263-05F3BF286076}"/>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0D45450-9B15-0B06-4457-EBDF211670E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54CBD0B-F2F2-4DA9-9CE4-9BDB9147CC5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1993B48-521B-008D-9BF4-F544F822ECFA}"/>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6913C5F-2064-71E6-FEFB-15806560C0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A6E2E96B-A0E3-71AB-BCF2-9EB03E66C22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29E8C659-384F-D3C1-EE85-BCE15E80ADA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AE3A631C-B38B-22F7-5AA2-DD4FE837CD0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F8AB4D3C-9803-C126-3159-081093971A5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0F4E5D2-FFFE-0D4C-2FDB-CEF5A11693F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6D28E203-26F3-4CEC-4700-97DE417C208F}"/>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3018392E-E84B-E357-B676-A03C5AD49393}"/>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9C545E8F-54CD-BF2B-38CC-2A41EB0CCE7E}"/>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35BFB62-D8C3-4F2F-600A-17D22C805A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E6B9DAF9-C880-C2CC-747B-D1CEA4FC10D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F6B5ADDB-EC17-1203-1AE7-253ECFDAC28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1CF91206-A52A-0584-2703-0FCC834FB58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77B9160-79B2-5068-EF0A-20E765636218}"/>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5B95291-9A8A-8198-4E42-C9808C4006A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2FBCFBBC-746B-3A41-3704-30EC49B4C9E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DA9B143F-A5B4-8034-3768-BF340CC969F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5FCD9876-1288-1C3D-F72B-D7C81ECA1637}"/>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9881D7B2-D9C0-AD55-4E83-BD6A9D80951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8AC863D7-62DB-FF54-D077-CF606528F63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2979CB70-2B3C-48C7-AE95-0A9AB5B35A8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3E0F9DC-C93C-3613-3DB6-C13244DDB29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6801B159-AEB5-FF19-37FB-6713A4915A1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2DBC57E-4FE8-5B43-99D3-2BD600ED5D9C}"/>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F54924-C26C-1F60-9567-2B5C9B2C01CB}"/>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endpoint of edges in </a:t>
                </a:r>
                <a14:m>
                  <m:oMath xmlns:m="http://schemas.openxmlformats.org/officeDocument/2006/math">
                    <m:r>
                      <a:rPr lang="en-US" sz="2800" i="1" dirty="0" smtClean="0">
                        <a:solidFill>
                          <a:srgbClr val="FF9900"/>
                        </a:solidFill>
                        <a:latin typeface="Cambria Math"/>
                      </a:rPr>
                      <m:t>𝐴</m:t>
                    </m:r>
                  </m:oMath>
                </a14:m>
                <a:endParaRPr lang="en-US" sz="2800" dirty="0">
                  <a:solidFill>
                    <a:srgbClr val="7030A0"/>
                  </a:solidFill>
                </a:endParaRPr>
              </a:p>
              <a:p>
                <a14:m>
                  <m:oMath xmlns:m="http://schemas.openxmlformats.org/officeDocument/2006/math">
                    <m:r>
                      <a:rPr lang="en-US" sz="2800" i="1" dirty="0" smtClean="0">
                        <a:solidFill>
                          <a:srgbClr val="FF00FF"/>
                        </a:solidFill>
                        <a:latin typeface="Cambria Math"/>
                      </a:rPr>
                      <m:t>𝑒</m:t>
                    </m:r>
                  </m:oMath>
                </a14:m>
                <a:r>
                  <a:rPr lang="en-US" sz="2800" dirty="0"/>
                  <a:t> is the min-weight edge that grows the </a:t>
                </a:r>
                <a:r>
                  <a:rPr lang="en-US" sz="2800" dirty="0">
                    <a:solidFill>
                      <a:srgbClr val="FF9900"/>
                    </a:solidFill>
                  </a:rPr>
                  <a:t>tree</a:t>
                </a: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1167751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27</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47" name="Group 46"/>
          <p:cNvGrpSpPr/>
          <p:nvPr/>
        </p:nvGrpSpPr>
        <p:grpSpPr>
          <a:xfrm>
            <a:off x="3826554" y="2988890"/>
            <a:ext cx="4600060" cy="2787240"/>
            <a:chOff x="0" y="2862182"/>
            <a:chExt cx="7044346" cy="4268266"/>
          </a:xfrm>
        </p:grpSpPr>
        <p:cxnSp>
          <p:nvCxnSpPr>
            <p:cNvPr id="48" name="Straight Connector 47"/>
            <p:cNvCxnSpPr>
              <a:cxnSpLocks/>
              <a:stCxn id="76" idx="7"/>
              <a:endCxn id="77"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cxnSpLocks/>
              <a:stCxn id="77" idx="6"/>
              <a:endCxn id="80"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cxnSpLocks/>
              <a:stCxn id="79" idx="7"/>
              <a:endCxn id="80"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cxnSpLocks/>
              <a:stCxn id="77" idx="4"/>
              <a:endCxn id="78"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592365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28</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E79DB7-E929-A736-9B9F-0C97448A45C2}"/>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B2E79DB7-E929-A736-9B9F-0C97448A45C2}"/>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8CD03B2-E35E-5829-5062-63424CE04592}"/>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4DF535B-8B7C-50E9-3B17-AB5F5ED1021C}"/>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8D9DF4B-495F-7877-37A3-24C3AB1B589E}"/>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3845C7C-535A-101D-F94D-045E23922E3E}"/>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14F4BA-54FF-FD69-0117-2AF39221CD79}"/>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7F46536-A9CC-558D-CB8F-7992B9D186A3}"/>
                </a:ext>
              </a:extLst>
            </p:cNvPr>
            <p:cNvCxnSpPr>
              <a:stCxn id="39" idx="2"/>
              <a:endCxn id="36" idx="5"/>
            </p:cNvCxnSpPr>
            <p:nvPr/>
          </p:nvCxnSpPr>
          <p:spPr>
            <a:xfrm flipH="1" flipV="1">
              <a:off x="1477469" y="6086626"/>
              <a:ext cx="1369411" cy="565311"/>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8C0499-A5F2-2F48-2AE0-D82B792C8089}"/>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721A20-4F51-C700-9E79-937818B26741}"/>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1C78FBE-81AB-5C9A-3A9D-5106AC0F194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208EF4-4F04-7BB6-8F0F-228678852CD1}"/>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D7223E-38C3-9A15-87F8-604047CC7C8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658522-4C9D-BB5C-CFED-BCCE8ECC25E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1920811-4C3B-097E-A12A-BE6EA00B2181}"/>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E6B8860-B79A-FE0A-326E-7601FDA487B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DA7DB8A-A8F2-9FEA-B535-3CD31FDB516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EE94DEFC-961D-00E3-F54E-37AE1C7560DC}"/>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EE443A1-4920-D2A0-1778-929159E28E7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1C2754D-F561-8CED-2397-3683424ED1FF}"/>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3F9F2575-CFB3-7B20-EFC0-CC3B1F4DC6F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6C95BEB0-231B-1CD4-30E2-4C9B5803835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9E7042E2-70C4-9FA4-E781-623BC9292D46}"/>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4B057C2C-D58C-5783-E515-F0B9C6F1D93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DF8CAFB-35BD-2627-F868-A94D47CA82E3}"/>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FC404C2B-31DC-15CA-31DF-3E5E54DB851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36F4CDF4-7887-BD6B-D7DD-E802D9BE434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66D69EEE-A5A2-31C3-F151-1D77A7A2604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D2CC2DD-3C29-03A6-A78C-75B1356B87EB}"/>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CCD0205D-7BEB-9F8D-CA0F-443D07A9FC10}"/>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BA1795F-9268-FE46-D84B-F9003BCF6DCE}"/>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A8CDE96D-FED8-F3B0-1865-08026CC50D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24592C7B-9B03-CAC6-BFC4-69DE83C1997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475AB00F-DCB3-D82D-F38F-E752D0E2FDD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DF9BE55B-F3A1-4C48-1697-6D1039159C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54DE304D-A193-2721-4964-C8C9769F04A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00E5B77C-D8B7-99FB-261F-F13D6D1247C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7687A341-5414-2B8B-2FBA-476F8A70469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6F559764-D7B8-72F5-9896-6C4646815FC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E30BB390-B5A8-74B5-7B5C-B41D822C9A7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928450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29</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385FD1-611D-F083-5838-37577C27B65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9385FD1-611D-F083-5838-37577C27B65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1F9377AE-8EEF-436F-D05F-66007B5EBC9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7CD9B95-94D3-07F7-94DD-4992E0E340D5}"/>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1A553B-DB38-58DB-51D3-AAEA2F9FAC23}"/>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974A5FB-1A1F-777F-F33D-2B62F6522B08}"/>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85A647-1A66-3366-468B-31891716924E}"/>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39AB73F-51B0-EDD6-39C5-CD1751C40047}"/>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1A5C45C-CD73-3EC8-9A6B-CB4EFF58D15C}"/>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6172D13-F2A5-45CA-C8AD-E9AE3417F48A}"/>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63FA25-9817-DB5F-F164-AB9971AFC918}"/>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A29A9C-EA2D-AE4A-64F0-323C9B2786B8}"/>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9B8EA1C-E594-449F-DD12-B8CC7AF98C7C}"/>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F07FBB-75E9-88AB-82A1-7148771ECBC4}"/>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DB66C8-CE7D-02F7-2482-F7C51A9B210C}"/>
                </a:ext>
              </a:extLst>
            </p:cNvPr>
            <p:cNvCxnSpPr>
              <a:stCxn id="41" idx="1"/>
              <a:endCxn id="42"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798CFAB-C630-E1A3-8C73-7C67BB41A33C}"/>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87214CE-A90C-71BA-B15A-83A919EDA9B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82CFF9FE-FDCD-4DF8-DA2F-FF80A922E52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DAE18296-FAF2-85F8-7D7B-E9A1B61E7D3A}"/>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9322598-DDE7-0190-020A-49C9E75A5EA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26820625-07E1-5AE9-5D91-B15F908B5E6A}"/>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459D47C6-AA36-1847-F3E9-1DC92971201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784B587E-825E-DE0B-6035-1E0C23BEE8E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8076AEC-A8E4-5C81-E47A-2484871E6F4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0E6D821-A520-5959-12CB-397949EEF4E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B340E19F-1638-5424-38B2-E08B6FCAFEE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7E57AD65-EED6-7BFF-B633-C90AA207D80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9E5D73C-C30F-BAF5-DDC7-037F7FB1EF72}"/>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C3EF1375-DD75-27CC-20B9-5C0970298AF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44B870A-EB0C-9EA8-2144-8E74C6CA1AB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533904-594F-55F8-0B7E-F667ECE76F8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09FA5395-9253-FAFB-898B-BDE52F83FA5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A5DAE6D6-B337-8334-7298-6C6526E762B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FEA68540-B191-57C1-5A77-202C1FD30F8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E472F004-FE53-7F8E-15E7-2465F7AABEA0}"/>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C817CF0-A2B3-F786-8C42-D4BC84661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AAC17C6D-E688-99C7-AD30-18E5A010C68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DD8307A5-0FC0-7CC9-21B3-46BE0AB7D6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0B7B6ACB-6643-D7BE-AABD-CFA5E6593BD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DD7F9B6-C51D-F23B-ADCF-039296BFFD0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71690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30</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6E68DE-75DC-FA16-0256-FF11F6BA5AD1}"/>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76E68DE-75DC-FA16-0256-FF11F6BA5AD1}"/>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DD1E701-555A-0BA3-DCBA-47A41E63A7ED}"/>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691C668C-2873-62C5-8F03-5E80B99BBE80}"/>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CB17F74-22D3-B9BE-EFE3-C9C4A27B108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167407F-D344-AA40-0125-D5F8D05B0E57}"/>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525E997-FBFB-01E2-E217-80D8944B701A}"/>
                </a:ext>
              </a:extLst>
            </p:cNvPr>
            <p:cNvCxnSpPr>
              <a:stCxn id="37" idx="3"/>
              <a:endCxn id="36" idx="7"/>
            </p:cNvCxnSpPr>
            <p:nvPr/>
          </p:nvCxnSpPr>
          <p:spPr>
            <a:xfrm flipH="1">
              <a:off x="1477469" y="4930617"/>
              <a:ext cx="1172042" cy="793073"/>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20B73C-7EAA-95CB-1803-156B32014089}"/>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2D60C6-7C00-E8F5-44E6-38B0BE6A0E3D}"/>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53F1809-12DF-C878-F53E-A24578E55D3B}"/>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CC9A28-3702-172F-48D5-D73CEB233A2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09D42C-C048-1B74-C4EE-E4A28C20B0A9}"/>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CB527A-9EF1-5175-33AB-1937362313DE}"/>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00589A0-CE39-580A-2081-C4A479A190B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1131D38-B9C5-2166-C994-854FE19CCEF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4D6F622-9DEC-2247-141E-BFC9E7659150}"/>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7401B04-4089-641B-1BA5-48438633BE6F}"/>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681CE17-29B7-A27B-268D-323D971BC6D3}"/>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FAEBF0D3-EA76-478F-6E82-E393259CE80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E0554AE6-6F2E-5904-9CD9-3E6CBAD1644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C59C001C-9A2F-4C67-4F8D-B5B70AD9128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28FB1709-9F3C-F6E0-A9EF-2841577F37D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07C6790-7E1C-83C3-04B1-936260AA262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917ECD0-8E62-2D7D-C280-E05B73A5DC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70040FB0-F7AB-086D-69C2-2E6A90EACE6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7FC066B-9D5B-222D-96B8-5EB21C4E307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D4A597D0-CF7C-E7F7-3CF9-3724DC8D0EA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E1955133-A9B2-B2DE-50B9-94448396C1D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2E30DC21-C497-A2C0-1BB4-4828E03238C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865900C5-4F7B-CD13-5487-8793611F9C3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C384C19-E181-5740-039C-3E9D7187BD0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870339FA-2C48-F022-BFA2-ECFFDF971CD6}"/>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3A46F7A6-F11B-E29B-556C-D776754198F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1D13C1B8-1767-D08B-14B2-B65BE2BE8FB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926592D4-A441-2DBB-137C-5C5F8C1585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F96E06A8-7559-26FB-A75C-53F594EBA63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CD23B269-3EF3-06CC-D41A-52B48DB2E27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5B9CFD88-04C4-D351-2108-1ED879ECFB7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8D25C125-7E46-66B4-DF7D-D4FF9E816EA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8C29C85C-9D28-BBB2-DEE5-B0FAC4AD2DE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048119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31</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00AF085-92FF-369A-34CE-E6FE15C2C8D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500AF085-92FF-369A-34CE-E6FE15C2C8D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C96872AA-144F-8C60-CC47-17FA8A8E2CC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709329D7-51C4-54CF-419B-FFCA1D7DA04A}"/>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27630D0-96AD-6AB3-B9D8-4096865419C0}"/>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CD664EC-B58E-F868-D7BC-73AB0D38C00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F560E50-C2F3-E0BF-A8B6-BEF4D41AB947}"/>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C57E6C-65A1-DD94-B049-9C65CD34253A}"/>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C30A07-B393-07A2-AAD0-34E8D5A0FCFE}"/>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7ECE68-21D8-26C8-5FB6-79B0EEFF2EA4}"/>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DDC489-2122-CBCA-929D-B06703D93E52}"/>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401EFF8-69BD-20DE-1E5F-54EBEE82025F}"/>
                </a:ext>
              </a:extLst>
            </p:cNvPr>
            <p:cNvCxnSpPr>
              <a:cxnSpLocks/>
              <a:stCxn id="40" idx="1"/>
              <a:endCxn id="38"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E550EA0-8C2E-4889-51E1-EFA5CF593C22}"/>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16CB0-ED01-6B15-D990-A80E33B5FD3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4412895-9C71-4E40-520A-DE9929B0839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00A9426-F5F7-E746-54FA-0947F1428D39}"/>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6159B5-9A07-526E-0186-51772DCC2A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531F2BEB-061A-330D-3A68-5BA85E61129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46BDDF39-E59E-2AA9-7C57-1E347E69B18B}"/>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085D115-EBEB-85D8-F68D-D5003714D7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D0B09A8B-C19A-2B0D-3D0C-B8C4ACE2104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C94C7522-6D1A-73EB-212C-C8318CA47B88}"/>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EFC7A2AD-6F48-D34F-3EDF-1C25158D4D7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C6998F7-3AFD-8B4A-4A7D-2E06761537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EE8D6CCF-7413-CB37-E19E-AAD6C25C97C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C010B3B-6988-80BB-5920-9F2978EB90A6}"/>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C0E0B98B-4AE1-DD4E-BC1B-D3B62CC47A3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6DFDECB-37AF-DFA6-DD96-81FFA9959A61}"/>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6FC31FA-9F92-9F3C-7B6B-FE8FB154C792}"/>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4F179521-D120-F662-2F15-BF1ECEF1286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F3CBC88-6234-1113-D186-DC2C667F4E4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9DD6F450-AEC0-0FC4-15DE-3545704D2F9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5FFCA9F-5331-F108-B305-59482DE4CDB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5B5FF919-B977-73E4-7CF4-5B87A78D8EA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567A1B40-FF0F-CB24-D083-E7F304F43BF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DBB05E5-201B-A3B1-9D3C-B476CA1104F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23DB8648-D0BF-BE9D-2718-3A66DB7D525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003C71CF-FB1E-0941-2194-5E60DEA44C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A3AA6042-CA18-0D05-73E3-977593BCAF7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F42E533B-DFE8-F43F-A0C6-B8729D1945AA}"/>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278507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32</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DE1AA1-E035-373C-7F0E-0FD7CF0B0823}"/>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3ADE1AA1-E035-373C-7F0E-0FD7CF0B0823}"/>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24AFBB07-135F-9A25-3017-C12F7CE2AA2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8C97CD7D-1C11-D0C9-EC16-FC021A3B41CE}"/>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2EFA558-C439-6F07-FFB6-ED0568C106D1}"/>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4472E43-C503-7B8C-2218-866F9921D1C9}"/>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151349-F17F-69A3-E800-9123223CCEFE}"/>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1DB0247-2B4C-F5C2-BE35-EA19D7F38871}"/>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9E4CA6-E697-2A2A-2FCF-C2C071E12F07}"/>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5E1D61-610C-6058-7E5B-3CBFD0912125}"/>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06E15D8-6615-86C3-B8A4-8E73213EA7FD}"/>
                </a:ext>
              </a:extLst>
            </p:cNvPr>
            <p:cNvCxnSpPr>
              <a:stCxn id="39" idx="6"/>
              <a:endCxn id="40"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B82E192-8511-E53D-4D5B-697DA24B1B49}"/>
                </a:ext>
              </a:extLst>
            </p:cNvPr>
            <p:cNvCxnSpPr>
              <a:cxnSpLocks/>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FA2F1D6-131B-BDD2-DDDC-889D30BB3AD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056D66-0CFF-49CD-F54D-6EA41BAB32B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CED648-FA76-9C24-35A5-551B6C657B8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1B952C-9DDA-72FF-E118-4550F528C3ED}"/>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7085DBC-19CC-3D23-F0E6-9912610EE46B}"/>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EF7E69A-D521-2F46-6710-6D04A0308A0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80A4B4C4-4F39-280A-37C9-800B84F2912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A9606BF-9E7B-BEF9-431D-41A6BFDB2A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9D4F33EC-0524-972F-613D-E7D1AA70C3E1}"/>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F26B6FA1-8307-300B-6382-1122D72C857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2B229179-4F05-EA99-516E-FF7FFA9A65D2}"/>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9D75E26E-08F0-5697-E95C-50A1CFEF913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BB0C7C04-9080-C4F4-664F-0E6309EE372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2F309E75-593B-D646-D4DC-24CF7D6E584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14425C54-DADA-98F7-A17F-CD141554707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92266B43-9ED0-67C3-5764-5FCB000DFA78}"/>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7058DE3B-7A27-489A-218A-6627A5998B87}"/>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32BEEAE-23B5-E56E-79F7-CA137299DC8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8BF66DE-5F29-EEE0-5694-477A14139EEC}"/>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28065CCE-8329-9D31-59C3-29331C40CBB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0E969BE-925D-00EE-163A-25A9FBA78D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B5223BE0-245C-B582-7B61-757A046257C9}"/>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FB3412C6-EAB5-1562-4A36-2B456E3ED0E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8BBC8780-F583-FCFC-777D-8CB77060B5D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8DDF98B2-96D1-A876-50B5-76753E1058F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E42F507-1ACA-CF98-B7CB-BC4EFD1950C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97AB6A15-A1F2-2C8A-E5E2-E54BA45AB2B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C2E59C4F-8624-4625-CF9F-419863224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980706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CF2E1-BEFD-5725-B25A-C1E68B94FF9A}"/>
              </a:ext>
            </a:extLst>
          </p:cNvPr>
          <p:cNvSpPr>
            <a:spLocks noGrp="1"/>
          </p:cNvSpPr>
          <p:nvPr>
            <p:ph type="title"/>
          </p:nvPr>
        </p:nvSpPr>
        <p:spPr/>
        <p:txBody>
          <a:bodyPr/>
          <a:lstStyle/>
          <a:p>
            <a:r>
              <a:rPr lang="en-US" dirty="0"/>
              <a:t>Correctness of Kruskal’s Algorithm</a:t>
            </a:r>
          </a:p>
        </p:txBody>
      </p:sp>
      <p:sp>
        <p:nvSpPr>
          <p:cNvPr id="3" name="Content Placeholder 2">
            <a:extLst>
              <a:ext uri="{FF2B5EF4-FFF2-40B4-BE49-F238E27FC236}">
                <a16:creationId xmlns:a16="http://schemas.microsoft.com/office/drawing/2014/main" id="{83C573EA-C085-E3EC-ED94-ACFD4D8F7CBF}"/>
              </a:ext>
            </a:extLst>
          </p:cNvPr>
          <p:cNvSpPr>
            <a:spLocks noGrp="1"/>
          </p:cNvSpPr>
          <p:nvPr>
            <p:ph idx="1"/>
          </p:nvPr>
        </p:nvSpPr>
        <p:spPr/>
        <p:txBody>
          <a:bodyPr/>
          <a:lstStyle/>
          <a:p>
            <a:r>
              <a:rPr lang="en-US" dirty="0"/>
              <a:t>It’s sufficient to just show that it follows the template of our “General MST Algorithm”</a:t>
            </a:r>
          </a:p>
          <a:p>
            <a:pPr lvl="1"/>
            <a:r>
              <a:rPr lang="en-US" dirty="0"/>
              <a:t>Show that for every edge chosen, it is the least-weight edge which crosses some cut that respects all already-chosen edges.</a:t>
            </a:r>
          </a:p>
        </p:txBody>
      </p:sp>
    </p:spTree>
    <p:extLst>
      <p:ext uri="{BB962C8B-B14F-4D97-AF65-F5344CB8AC3E}">
        <p14:creationId xmlns:p14="http://schemas.microsoft.com/office/powerpoint/2010/main" val="997385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4725B319-DD00-44D1-E794-5A351AE79045}"/>
              </a:ext>
            </a:extLst>
          </p:cNvPr>
          <p:cNvSpPr/>
          <p:nvPr/>
        </p:nvSpPr>
        <p:spPr>
          <a:xfrm rot="20582944">
            <a:off x="3518844" y="3364566"/>
            <a:ext cx="1084490" cy="3270354"/>
          </a:xfrm>
          <a:prstGeom prst="roundRect">
            <a:avLst/>
          </a:prstGeom>
          <a:solidFill>
            <a:srgbClr val="BFEBFB"/>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Proof of Kruskal’s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34</a:t>
            </a:fld>
            <a:endParaRPr lang="en-US"/>
          </a:p>
        </p:txBody>
      </p:sp>
      <p:grpSp>
        <p:nvGrpSpPr>
          <p:cNvPr id="47" name="Group 46"/>
          <p:cNvGrpSpPr/>
          <p:nvPr/>
        </p:nvGrpSpPr>
        <p:grpSpPr>
          <a:xfrm>
            <a:off x="952562" y="3559821"/>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709131" y="1376502"/>
                <a:ext cx="6682270"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1" y="1376502"/>
                <a:ext cx="6682270" cy="1569660"/>
              </a:xfrm>
              <a:prstGeom prst="rect">
                <a:avLst/>
              </a:prstGeom>
              <a:blipFill>
                <a:blip r:embed="rId2"/>
                <a:stretch>
                  <a:fillRect l="-1367"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666211" y="611774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666211" y="6117748"/>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50691"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350691" y="5600132"/>
                <a:ext cx="412613"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4CE1E9-7A86-7C9E-C64B-238BAC41E6A5}"/>
                  </a:ext>
                </a:extLst>
              </p:cNvPr>
              <p:cNvSpPr txBox="1"/>
              <p:nvPr/>
            </p:nvSpPr>
            <p:spPr>
              <a:xfrm>
                <a:off x="6697090" y="1322145"/>
                <a:ext cx="5210772" cy="5016758"/>
              </a:xfrm>
              <a:prstGeom prst="rect">
                <a:avLst/>
              </a:prstGeom>
              <a:noFill/>
            </p:spPr>
            <p:txBody>
              <a:bodyPr wrap="square" rtlCol="0">
                <a:spAutoFit/>
              </a:bodyPr>
              <a:lstStyle/>
              <a:p>
                <a:r>
                  <a:rPr lang="en-US" sz="2000" b="1" dirty="0"/>
                  <a:t>Proof: </a:t>
                </a:r>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Kruskal’s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𝐹</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Kruskal’s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𝐹</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i="1" smtClean="0">
                        <a:solidFill>
                          <a:srgbClr val="FF00FF"/>
                        </a:solidFill>
                        <a:latin typeface="Cambria Math"/>
                      </a:rPr>
                      <m:t>𝑒</m:t>
                    </m:r>
                  </m:oMath>
                </a14:m>
                <a:r>
                  <a:rPr lang="en-US" sz="2000" dirty="0"/>
                  <a:t> does not cause a cycle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reachable from G using edges in </a:t>
                </a:r>
                <a14:m>
                  <m:oMath xmlns:m="http://schemas.openxmlformats.org/officeDocument/2006/math">
                    <m:r>
                      <a:rPr lang="en-US" sz="2000" b="0" i="1" smtClean="0">
                        <a:solidFill>
                          <a:srgbClr val="0070C0"/>
                        </a:solidFill>
                        <a:latin typeface="Cambria Math" panose="02040503050406030204" pitchFamily="18" charset="0"/>
                      </a:rPr>
                      <m:t>𝐴</m:t>
                    </m:r>
                  </m:oMath>
                </a14:m>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Kruskal’s is optimal!</a:t>
                </a:r>
              </a:p>
            </p:txBody>
          </p:sp>
        </mc:Choice>
        <mc:Fallback xmlns="">
          <p:sp>
            <p:nvSpPr>
              <p:cNvPr id="8" name="TextBox 7">
                <a:extLst>
                  <a:ext uri="{FF2B5EF4-FFF2-40B4-BE49-F238E27FC236}">
                    <a16:creationId xmlns:a16="http://schemas.microsoft.com/office/drawing/2014/main" id="{514CE1E9-7A86-7C9E-C64B-238BAC41E6A5}"/>
                  </a:ext>
                </a:extLst>
              </p:cNvPr>
              <p:cNvSpPr txBox="1">
                <a:spLocks noRot="1" noChangeAspect="1" noMove="1" noResize="1" noEditPoints="1" noAdjustHandles="1" noChangeArrowheads="1" noChangeShapeType="1" noTextEdit="1"/>
              </p:cNvSpPr>
              <p:nvPr/>
            </p:nvSpPr>
            <p:spPr>
              <a:xfrm>
                <a:off x="6697090" y="1322145"/>
                <a:ext cx="5210772" cy="5016758"/>
              </a:xfrm>
              <a:prstGeom prst="rect">
                <a:avLst/>
              </a:prstGeom>
              <a:blipFill>
                <a:blip r:embed="rId5"/>
                <a:stretch>
                  <a:fillRect l="-1288" t="-729" r="-2108" b="-1215"/>
                </a:stretch>
              </a:blipFill>
            </p:spPr>
            <p:txBody>
              <a:bodyPr/>
              <a:lstStyle/>
              <a:p>
                <a:r>
                  <a:rPr lang="en-US">
                    <a:noFill/>
                  </a:rPr>
                  <a:t> </a:t>
                </a:r>
              </a:p>
            </p:txBody>
          </p:sp>
        </mc:Fallback>
      </mc:AlternateContent>
    </p:spTree>
    <p:extLst>
      <p:ext uri="{BB962C8B-B14F-4D97-AF65-F5344CB8AC3E}">
        <p14:creationId xmlns:p14="http://schemas.microsoft.com/office/powerpoint/2010/main" val="274126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4642513" y="3505200"/>
            <a:ext cx="2906973" cy="2934268"/>
          </a:xfrm>
          <a:custGeom>
            <a:avLst/>
            <a:gdLst>
              <a:gd name="connsiteX0" fmla="*/ 0 w 2906973"/>
              <a:gd name="connsiteY0" fmla="*/ 0 h 2934268"/>
              <a:gd name="connsiteX1" fmla="*/ 614149 w 2906973"/>
              <a:gd name="connsiteY1" fmla="*/ 2934268 h 2934268"/>
              <a:gd name="connsiteX2" fmla="*/ 1937982 w 2906973"/>
              <a:gd name="connsiteY2" fmla="*/ 2825086 h 2934268"/>
              <a:gd name="connsiteX3" fmla="*/ 2906973 w 2906973"/>
              <a:gd name="connsiteY3" fmla="*/ 1596788 h 2934268"/>
              <a:gd name="connsiteX4" fmla="*/ 1405719 w 2906973"/>
              <a:gd name="connsiteY4" fmla="*/ 68238 h 2934268"/>
              <a:gd name="connsiteX5" fmla="*/ 0 w 2906973"/>
              <a:gd name="connsiteY5" fmla="*/ 0 h 2934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6973" h="2934268">
                <a:moveTo>
                  <a:pt x="0" y="0"/>
                </a:moveTo>
                <a:lnTo>
                  <a:pt x="614149" y="2934268"/>
                </a:lnTo>
                <a:lnTo>
                  <a:pt x="1937982" y="2825086"/>
                </a:lnTo>
                <a:lnTo>
                  <a:pt x="2906973" y="1596788"/>
                </a:lnTo>
                <a:lnTo>
                  <a:pt x="1405719" y="68238"/>
                </a:lnTo>
                <a:lnTo>
                  <a:pt x="0" y="0"/>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Kruskal’s Algorithm Runtime</a:t>
            </a:r>
          </a:p>
        </p:txBody>
      </p:sp>
      <p:sp>
        <p:nvSpPr>
          <p:cNvPr id="4" name="Slide Number Placeholder 3"/>
          <p:cNvSpPr>
            <a:spLocks noGrp="1"/>
          </p:cNvSpPr>
          <p:nvPr>
            <p:ph type="sldNum" sz="quarter" idx="12"/>
          </p:nvPr>
        </p:nvSpPr>
        <p:spPr/>
        <p:txBody>
          <a:bodyPr/>
          <a:lstStyle/>
          <a:p>
            <a:fld id="{86BADE50-950A-4D58-BFB2-FA2C6A8B385D}" type="slidenum">
              <a:rPr lang="en-US" smtClean="0"/>
              <a:t>35</a:t>
            </a:fld>
            <a:endParaRPr lang="en-US"/>
          </a:p>
        </p:txBody>
      </p:sp>
      <mc:AlternateContent xmlns:mc="http://schemas.openxmlformats.org/markup-compatibility/2006" xmlns:a14="http://schemas.microsoft.com/office/drawing/2010/main">
        <mc:Choice Requires="a14">
          <p:sp>
            <p:nvSpPr>
              <p:cNvPr id="44" name="TextBox 43"/>
              <p:cNvSpPr txBox="1"/>
              <p:nvPr/>
            </p:nvSpPr>
            <p:spPr>
              <a:xfrm>
                <a:off x="709130" y="1376502"/>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7030A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0" y="1376502"/>
                <a:ext cx="7075065" cy="1815882"/>
              </a:xfrm>
              <a:prstGeom prst="rect">
                <a:avLst/>
              </a:prstGeom>
              <a:blipFill>
                <a:blip r:embed="rId3"/>
                <a:stretch>
                  <a:fillRect l="-1723" t="-3356" b="-8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275964" y="597550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275964" y="5975508"/>
                <a:ext cx="36388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716604"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716604" y="5600132"/>
                <a:ext cx="4126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998521" y="2450205"/>
                <a:ext cx="3960291" cy="1200329"/>
              </a:xfrm>
              <a:prstGeom prst="rect">
                <a:avLst/>
              </a:prstGeom>
              <a:noFill/>
            </p:spPr>
            <p:txBody>
              <a:bodyPr wrap="square" rtlCol="0">
                <a:spAutoFit/>
              </a:bodyPr>
              <a:lstStyle/>
              <a:p>
                <a:r>
                  <a:rPr lang="en-US" sz="2400" dirty="0">
                    <a:solidFill>
                      <a:schemeClr val="accent6">
                        <a:lumMod val="75000"/>
                      </a:schemeClr>
                    </a:solidFill>
                  </a:rPr>
                  <a:t>Keep edges in a Disjoint-set data structure (very fancy)</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lumMod val="7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998521" y="2450205"/>
                <a:ext cx="3960291" cy="1200329"/>
              </a:xfrm>
              <a:prstGeom prst="rect">
                <a:avLst/>
              </a:prstGeom>
              <a:blipFill>
                <a:blip r:embed="rId6"/>
                <a:stretch>
                  <a:fillRect l="-2308" t="-4061" b="-609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30A89299-D1E7-0674-CB93-3AE7B8388A53}"/>
              </a:ext>
            </a:extLst>
          </p:cNvPr>
          <p:cNvGrpSpPr/>
          <p:nvPr/>
        </p:nvGrpSpPr>
        <p:grpSpPr>
          <a:xfrm>
            <a:off x="2342483" y="3578714"/>
            <a:ext cx="4600060" cy="2787240"/>
            <a:chOff x="0" y="2862182"/>
            <a:chExt cx="7044346" cy="4268266"/>
          </a:xfrm>
        </p:grpSpPr>
        <p:cxnSp>
          <p:nvCxnSpPr>
            <p:cNvPr id="9" name="Straight Connector 8">
              <a:extLst>
                <a:ext uri="{FF2B5EF4-FFF2-40B4-BE49-F238E27FC236}">
                  <a16:creationId xmlns:a16="http://schemas.microsoft.com/office/drawing/2014/main" id="{8906F559-3E37-C08E-5663-4FC40B309D0A}"/>
                </a:ext>
              </a:extLst>
            </p:cNvPr>
            <p:cNvCxnSpPr>
              <a:stCxn id="37" idx="7"/>
              <a:endCxn id="38"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D237B2-319E-266D-BF25-7FD2425D0E62}"/>
                </a:ext>
              </a:extLst>
            </p:cNvPr>
            <p:cNvCxnSpPr>
              <a:stCxn id="38" idx="6"/>
              <a:endCxn id="41"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4588AC2-B796-D9B3-2DB3-BDBE20246951}"/>
                </a:ext>
              </a:extLst>
            </p:cNvPr>
            <p:cNvCxnSpPr>
              <a:stCxn id="37" idx="4"/>
              <a:endCxn id="39"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B1FD62-A36E-363C-E317-09978D63B045}"/>
                </a:ext>
              </a:extLst>
            </p:cNvPr>
            <p:cNvCxnSpPr>
              <a:stCxn id="40" idx="3"/>
              <a:endCxn id="39"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638F63D-DE08-5CBA-09F8-F2DF696C2E83}"/>
                </a:ext>
              </a:extLst>
            </p:cNvPr>
            <p:cNvCxnSpPr>
              <a:stCxn id="42" idx="2"/>
              <a:endCxn id="39"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A80EC71-A61D-CFBC-D63C-0276932B60A4}"/>
                </a:ext>
              </a:extLst>
            </p:cNvPr>
            <p:cNvCxnSpPr>
              <a:stCxn id="40" idx="5"/>
              <a:endCxn id="42"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12562-A79F-79BA-4CE8-12256652237C}"/>
                </a:ext>
              </a:extLst>
            </p:cNvPr>
            <p:cNvCxnSpPr>
              <a:stCxn id="40" idx="7"/>
              <a:endCxn id="41"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7AE868-9150-F2A2-76C9-C605E0489F02}"/>
                </a:ext>
              </a:extLst>
            </p:cNvPr>
            <p:cNvCxnSpPr>
              <a:stCxn id="42" idx="6"/>
              <a:endCxn id="43"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6E9F626-3286-C123-A843-A71A4CD54ABC}"/>
                </a:ext>
              </a:extLst>
            </p:cNvPr>
            <p:cNvCxnSpPr>
              <a:stCxn id="43" idx="1"/>
              <a:endCxn id="41"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DBFF1F-CBD6-F01F-1B7C-5E555A95F6C2}"/>
                </a:ext>
              </a:extLst>
            </p:cNvPr>
            <p:cNvCxnSpPr>
              <a:stCxn id="46" idx="2"/>
              <a:endCxn id="41"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7446360-6687-2651-601F-DE486A7009D7}"/>
                </a:ext>
              </a:extLst>
            </p:cNvPr>
            <p:cNvCxnSpPr>
              <a:stCxn id="43" idx="0"/>
              <a:endCxn id="46"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7C6DEB8-5ECF-3371-B51E-3069D2935E25}"/>
                </a:ext>
              </a:extLst>
            </p:cNvPr>
            <p:cNvCxnSpPr>
              <a:stCxn id="45" idx="1"/>
              <a:endCxn id="46"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7BF3B57-BCDD-2B54-925C-A37FACCFF84D}"/>
                </a:ext>
              </a:extLst>
            </p:cNvPr>
            <p:cNvCxnSpPr>
              <a:stCxn id="45" idx="3"/>
              <a:endCxn id="43"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2291279-E2AF-93E3-B3BE-70277D606C90}"/>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3" name="TextBox 22">
              <a:extLst>
                <a:ext uri="{FF2B5EF4-FFF2-40B4-BE49-F238E27FC236}">
                  <a16:creationId xmlns:a16="http://schemas.microsoft.com/office/drawing/2014/main" id="{533D8137-48D6-160C-9042-A30469576AC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4" name="TextBox 23">
              <a:extLst>
                <a:ext uri="{FF2B5EF4-FFF2-40B4-BE49-F238E27FC236}">
                  <a16:creationId xmlns:a16="http://schemas.microsoft.com/office/drawing/2014/main" id="{854A8F65-F8C9-045F-C267-F0823C987EC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603C1DFD-968C-9C38-EE6E-001663278E47}"/>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6" name="TextBox 25">
              <a:extLst>
                <a:ext uri="{FF2B5EF4-FFF2-40B4-BE49-F238E27FC236}">
                  <a16:creationId xmlns:a16="http://schemas.microsoft.com/office/drawing/2014/main" id="{4E0B706C-253A-460B-DA6F-77573298B6D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7" name="TextBox 26">
              <a:extLst>
                <a:ext uri="{FF2B5EF4-FFF2-40B4-BE49-F238E27FC236}">
                  <a16:creationId xmlns:a16="http://schemas.microsoft.com/office/drawing/2014/main" id="{8B7CFE76-53CC-06C8-16D0-CA33A36789E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8" name="TextBox 27">
              <a:extLst>
                <a:ext uri="{FF2B5EF4-FFF2-40B4-BE49-F238E27FC236}">
                  <a16:creationId xmlns:a16="http://schemas.microsoft.com/office/drawing/2014/main" id="{741E7349-890C-AEE8-2E6E-1D552D883FC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9" name="TextBox 28">
              <a:extLst>
                <a:ext uri="{FF2B5EF4-FFF2-40B4-BE49-F238E27FC236}">
                  <a16:creationId xmlns:a16="http://schemas.microsoft.com/office/drawing/2014/main" id="{E36EA8CF-BFEC-724F-E5BA-CD0A520CE9F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22F43A2B-13C3-030A-43C8-F74014FDF05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1" name="TextBox 30">
              <a:extLst>
                <a:ext uri="{FF2B5EF4-FFF2-40B4-BE49-F238E27FC236}">
                  <a16:creationId xmlns:a16="http://schemas.microsoft.com/office/drawing/2014/main" id="{9FAB9643-C79B-739D-7B6A-3A0F54C43A2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32" name="TextBox 31">
              <a:extLst>
                <a:ext uri="{FF2B5EF4-FFF2-40B4-BE49-F238E27FC236}">
                  <a16:creationId xmlns:a16="http://schemas.microsoft.com/office/drawing/2014/main" id="{B313470F-23FF-E3EF-6018-B34228E9675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3" name="TextBox 32">
              <a:extLst>
                <a:ext uri="{FF2B5EF4-FFF2-40B4-BE49-F238E27FC236}">
                  <a16:creationId xmlns:a16="http://schemas.microsoft.com/office/drawing/2014/main" id="{7BB77780-578C-ECA0-5DDB-FAD86F8C310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4" name="TextBox 33">
              <a:extLst>
                <a:ext uri="{FF2B5EF4-FFF2-40B4-BE49-F238E27FC236}">
                  <a16:creationId xmlns:a16="http://schemas.microsoft.com/office/drawing/2014/main" id="{439D5070-23D1-77FF-BC24-50914A5FB9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5" name="Straight Connector 34">
              <a:extLst>
                <a:ext uri="{FF2B5EF4-FFF2-40B4-BE49-F238E27FC236}">
                  <a16:creationId xmlns:a16="http://schemas.microsoft.com/office/drawing/2014/main" id="{36E71AF4-61A2-B32F-1360-9E74E08CF1A2}"/>
                </a:ext>
              </a:extLst>
            </p:cNvPr>
            <p:cNvCxnSpPr>
              <a:stCxn id="38" idx="4"/>
              <a:endCxn id="39"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3E1F7BE-6E71-8FC1-1BDA-6836E12281F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7" name="Oval 36">
              <a:extLst>
                <a:ext uri="{FF2B5EF4-FFF2-40B4-BE49-F238E27FC236}">
                  <a16:creationId xmlns:a16="http://schemas.microsoft.com/office/drawing/2014/main" id="{901C590A-BC76-FDB5-B8EF-809E6690405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8" name="Oval 37">
              <a:extLst>
                <a:ext uri="{FF2B5EF4-FFF2-40B4-BE49-F238E27FC236}">
                  <a16:creationId xmlns:a16="http://schemas.microsoft.com/office/drawing/2014/main" id="{686F68E6-B255-9328-9B0A-C77BAA12F73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9" name="Oval 38">
              <a:extLst>
                <a:ext uri="{FF2B5EF4-FFF2-40B4-BE49-F238E27FC236}">
                  <a16:creationId xmlns:a16="http://schemas.microsoft.com/office/drawing/2014/main" id="{41A9FFA7-7275-148C-4604-525062B09D4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0" name="Oval 39">
              <a:extLst>
                <a:ext uri="{FF2B5EF4-FFF2-40B4-BE49-F238E27FC236}">
                  <a16:creationId xmlns:a16="http://schemas.microsoft.com/office/drawing/2014/main" id="{6D745206-45D4-2AFC-7DED-E4069E84824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Oval 40">
              <a:extLst>
                <a:ext uri="{FF2B5EF4-FFF2-40B4-BE49-F238E27FC236}">
                  <a16:creationId xmlns:a16="http://schemas.microsoft.com/office/drawing/2014/main" id="{632D2336-DD33-3415-C503-01DB63E07C8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2" name="Oval 41">
              <a:extLst>
                <a:ext uri="{FF2B5EF4-FFF2-40B4-BE49-F238E27FC236}">
                  <a16:creationId xmlns:a16="http://schemas.microsoft.com/office/drawing/2014/main" id="{96B6C5BD-B641-4819-A698-43026CD7E8A2}"/>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3" name="Oval 42">
              <a:extLst>
                <a:ext uri="{FF2B5EF4-FFF2-40B4-BE49-F238E27FC236}">
                  <a16:creationId xmlns:a16="http://schemas.microsoft.com/office/drawing/2014/main" id="{FBD596A2-4E8F-C2B2-993F-5653C1E4620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5" name="Oval 44">
              <a:extLst>
                <a:ext uri="{FF2B5EF4-FFF2-40B4-BE49-F238E27FC236}">
                  <a16:creationId xmlns:a16="http://schemas.microsoft.com/office/drawing/2014/main" id="{FDE420EF-112E-8919-360D-601908DD7EF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6" name="Oval 45">
              <a:extLst>
                <a:ext uri="{FF2B5EF4-FFF2-40B4-BE49-F238E27FC236}">
                  <a16:creationId xmlns:a16="http://schemas.microsoft.com/office/drawing/2014/main" id="{05FA8AC5-474E-3627-3A36-278663E1D51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21326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36110</TotalTime>
  <Words>3920</Words>
  <Application>Microsoft Office PowerPoint</Application>
  <PresentationFormat>Widescreen</PresentationFormat>
  <Paragraphs>976</Paragraphs>
  <Slides>35</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Calibri</vt:lpstr>
      <vt:lpstr>Cambria Math</vt:lpstr>
      <vt:lpstr>Consolas</vt:lpstr>
      <vt:lpstr>Calibri Light</vt:lpstr>
      <vt:lpstr>Office Theme</vt:lpstr>
      <vt:lpstr>CSE 332 Autumn 2024 Lecture 26: Minimum Spanning Trees</vt:lpstr>
      <vt:lpstr>Definition: Tree</vt:lpstr>
      <vt:lpstr>Definition: Tree</vt:lpstr>
      <vt:lpstr>Definition: Spanning Tree</vt:lpstr>
      <vt:lpstr>Definition: Minimum Spanning Tree</vt:lpstr>
      <vt:lpstr>Prim’s Algorithm</vt:lpstr>
      <vt:lpstr>Prim’s Algorithm</vt:lpstr>
      <vt:lpstr>Prim’s Algorithm</vt:lpstr>
      <vt:lpstr>Prim’s Algorithm</vt:lpstr>
      <vt:lpstr>Prim’s Algorithm</vt:lpstr>
      <vt:lpstr>Dijkstra’s Algorithm</vt:lpstr>
      <vt:lpstr>Prim’s Algorithm</vt:lpstr>
      <vt:lpstr>Avoiding Decrease Key</vt:lpstr>
      <vt:lpstr>Prim’s Algorithm – Original Recipe</vt:lpstr>
      <vt:lpstr>Prim’s Algorithm – Duplicate Nodes on the PQ</vt:lpstr>
      <vt:lpstr>Prim’s Algorithm – Edges on the PQ</vt:lpstr>
      <vt:lpstr>Why does this work?</vt:lpstr>
      <vt:lpstr>Definition: Cut</vt:lpstr>
      <vt:lpstr>Cut Theorem</vt:lpstr>
      <vt:lpstr>Cut Theorem</vt:lpstr>
      <vt:lpstr>Cut Theorem</vt:lpstr>
      <vt:lpstr>Cut Theorem</vt:lpstr>
      <vt:lpstr>Cut Theorem</vt:lpstr>
      <vt:lpstr>Proof of Prim’s Algorithm</vt:lpstr>
      <vt:lpstr>General MST Algorithm</vt:lpstr>
      <vt:lpstr>Prim’s Algorithm</vt:lpstr>
      <vt:lpstr>Kruskal’s Algorithm</vt:lpstr>
      <vt:lpstr>Kruskal’s Algorithm</vt:lpstr>
      <vt:lpstr>Kruskal’s Algorithm</vt:lpstr>
      <vt:lpstr>Kruskal’s Algorithm</vt:lpstr>
      <vt:lpstr>Kruskal’s Algorithm</vt:lpstr>
      <vt:lpstr>Kruskal’s Algorithm</vt:lpstr>
      <vt:lpstr>Correctness of Kruskal’s Algorithm</vt:lpstr>
      <vt:lpstr>Proof of Kruskal’s Algorithm</vt:lpstr>
      <vt:lpstr>Kruskal’s Algorithm Runtime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304</cp:revision>
  <dcterms:created xsi:type="dcterms:W3CDTF">2023-10-13T16:06:42Z</dcterms:created>
  <dcterms:modified xsi:type="dcterms:W3CDTF">2026-03-04T14:46:05Z</dcterms:modified>
</cp:coreProperties>
</file>