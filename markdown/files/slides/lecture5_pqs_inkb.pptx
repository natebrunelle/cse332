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38"/>
  </p:notesMasterIdLst>
  <p:sldIdLst>
    <p:sldId id="256" r:id="rId2"/>
    <p:sldId id="412" r:id="rId3"/>
    <p:sldId id="415" r:id="rId4"/>
    <p:sldId id="454" r:id="rId5"/>
    <p:sldId id="455" r:id="rId6"/>
    <p:sldId id="456" r:id="rId7"/>
    <p:sldId id="457" r:id="rId8"/>
    <p:sldId id="423" r:id="rId9"/>
    <p:sldId id="459" r:id="rId10"/>
    <p:sldId id="425" r:id="rId11"/>
    <p:sldId id="426" r:id="rId12"/>
    <p:sldId id="427" r:id="rId13"/>
    <p:sldId id="428" r:id="rId14"/>
    <p:sldId id="429" r:id="rId15"/>
    <p:sldId id="430" r:id="rId16"/>
    <p:sldId id="431" r:id="rId17"/>
    <p:sldId id="432" r:id="rId18"/>
    <p:sldId id="433" r:id="rId19"/>
    <p:sldId id="434" r:id="rId20"/>
    <p:sldId id="435" r:id="rId21"/>
    <p:sldId id="436" r:id="rId22"/>
    <p:sldId id="460" r:id="rId23"/>
    <p:sldId id="437" r:id="rId24"/>
    <p:sldId id="438" r:id="rId25"/>
    <p:sldId id="439" r:id="rId26"/>
    <p:sldId id="440" r:id="rId27"/>
    <p:sldId id="441" r:id="rId28"/>
    <p:sldId id="443" r:id="rId29"/>
    <p:sldId id="444" r:id="rId30"/>
    <p:sldId id="445" r:id="rId31"/>
    <p:sldId id="446" r:id="rId32"/>
    <p:sldId id="447" r:id="rId33"/>
    <p:sldId id="448" r:id="rId34"/>
    <p:sldId id="449" r:id="rId35"/>
    <p:sldId id="450" r:id="rId36"/>
    <p:sldId id="451" r:id="rId37"/>
  </p:sldIdLst>
  <p:sldSz cx="12192000" cy="6858000"/>
  <p:notesSz cx="6858000" cy="9144000"/>
  <p:embeddedFontLst>
    <p:embeddedFont>
      <p:font typeface="Cambria Math" panose="02040503050406030204" pitchFamily="18" charset="0"/>
      <p:regular r:id="rId3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1DCB46A9-AC64-2107-0D04-23C3E6A0A637}" name="Sarah Brunelle" initials="SB" userId="S::sarah.bland@TNC.ORG::0841f992-6401-4fcf-8797-7495e84da307"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940000"/>
    <a:srgbClr val="9D0000"/>
    <a:srgbClr val="CC66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01" autoAdjust="0"/>
  </p:normalViewPr>
  <p:slideViewPr>
    <p:cSldViewPr snapToGrid="0">
      <p:cViewPr varScale="1">
        <p:scale>
          <a:sx n="64" d="100"/>
          <a:sy n="64" d="100"/>
        </p:scale>
        <p:origin x="748" y="2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1.fntdata"/><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microsoft.com/office/2018/10/relationships/authors" Target="author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notesMaster" Target="notesMasters/notesMaster1.xml"/></Relationships>
</file>

<file path=ppt/ink/ink1.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4-08T22:33:36.076"/>
    </inkml:context>
    <inkml:brush xml:id="br0">
      <inkml:brushProperty name="width" value="0.05292" units="cm"/>
      <inkml:brushProperty name="height" value="0.05292" units="cm"/>
      <inkml:brushProperty name="color" value="#FF0000"/>
    </inkml:brush>
  </inkml:definitions>
  <inkml:trace contextRef="#ctx0" brushRef="#br0">1212 10316 0,'0'0'0,"0"0"16,0 0-1,0 0-15,0-9 16,0 1-16,0-18 16,0 1-1,0 8-15,0 0 16,0 0 0,0 8-16,8 1 15,18-9 1,17 0-16,17 0 15,42-9 1,-8 9-16,8-8 16,43-1-1,26-8-15,0 9 16,-1-1 0,27 9-16,-18 0 15,-17 0 1,9 9-16,-43-1 15,-60 1 1,-25-1-16,-9 1 16,-17 8-1</inkml:trace>
  <inkml:trace contextRef="#ctx0" brushRef="#br0" timeOffset="335.7">3021 9780 0,'0'0'0,"0"0"16,35-8 0,24 8-16,1 0 15,0 0 1,-1 8-16,10-8 15,8 9 1,-18-1-16,1 1 16,-17-1-1,-18 1-15,-8-9 16,-8 0 0,-9 8-16,-51 52 15,-69 33 1,-8-8-16,68-51 15</inkml:trace>
  <inkml:trace contextRef="#ctx0" brushRef="#br0" timeOffset="5194.25">1178 11923 0,'0'0'0,"0"0"16,-9 0-16,9-8 15,-25 8 1,8-9-16,-18 9 16,10 0-16,8 0 15,0 0 1,8 0-1,9 0-15,0 0 16,26 9-16,8-1 16,26 9-1,51 0 1,42 0-16,9-8 16,-8-18-1,59-8-15,-25-8 16,-9 8-1,18 0-15,-35 8 16,-43 9 0,-8 9-1,-34 8-15,-26-9 16,-16 1 0,-18-1-16,-34-16 15,-1 8-15</inkml:trace>
  <inkml:trace contextRef="#ctx0" brushRef="#br0" timeOffset="5509.21">2270 11694 0,'0'0'0,"-8"0"32,8 0-32,0 0 15,0 0-15,0 0 16,25 0-1,44 17-15,67 0 16,18-9 0,-18 9-1,1 9-15,-26-1 16,-17 9 0,-34-8-16,-26-1 0,-9 1 31,-16-18-31,-1 9 0,-33 17 31,-86 51-31,-68 43 16,-77 67-1</inkml:trace>
  <inkml:trace contextRef="#ctx0" brushRef="#br0" timeOffset="9387.71">1212 13786 0,'0'0'0,"0"0"0,0 0 16,0 0-16,0 0 16,0 0-1,0 0 1,0 0-16,0 0 16,8 8-16,18 1 31,42-1-31,52 1 15,34-9 1,25-9-16,9-8 16,-9 0-16,-9 9 15,10-1-15,-27 1 16,-25-1 0,9 1-1,-9-9 1,-17 8-16,-43-8 15,-17 0-15,-17 0 16,-16 9 0,-10-1-1</inkml:trace>
  <inkml:trace contextRef="#ctx0" brushRef="#br0" timeOffset="9674.24">3004 13497 0,'0'0'0,"0"0"15,0 0-15,0 0 16,9 8 0,25 9-16,9 9 15,8-1 1,26 1-16,25-1 15,-8 1 1,0-1-16,-26-8 16,-25 0-1,-18-8-15,-25 16 16,-85 128 0,-154 179-16,0-9 15</inkml:trace>
  <inkml:trace contextRef="#ctx0" brushRef="#br0" timeOffset="32241.46">13127 9772 0,'0'0'0,"0"0"0,0 0 16,0 0-1,-9 0-15,-25 0 16,-43 8-1,-51 9 1,26 9-16,25 8 16,-60 17-1,-59 8-15,60-25 16,84-8 0,-7-1-16,-10-16 15,1-1-15,17-8 16,8-17-16,18-25 15,16-9 1,9 25 0</inkml:trace>
  <inkml:trace contextRef="#ctx0" brushRef="#br0" timeOffset="32528.57">11838 9585 0,'0'0'0,"0"0"16,-9 0-1,-16 8 1,-9 9-16,-35 9 16,10 25-16,7 0 15,18 8 1,0-8 0,9 0-16,8-8 15,17-9-15,0 0 31,42 17-31,78 42 16,16 1 0,-50-18-16,-61-50 15</inkml:trace>
</inkml:ink>
</file>

<file path=ppt/ink/ink2.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4-08T22:43:37.724"/>
    </inkml:context>
    <inkml:brush xml:id="br0">
      <inkml:brushProperty name="width" value="0.05292" units="cm"/>
      <inkml:brushProperty name="height" value="0.05292" units="cm"/>
      <inkml:brushProperty name="color" value="#FF0000"/>
    </inkml:brush>
  </inkml:definitions>
  <inkml:trace contextRef="#ctx0" brushRef="#br0">14364 6404 0,'0'0'0,"0"0"15,0 0-15,0 0 32,0 0-17,0 0-15,0 17 16,0 8-1,0 26-15,0 9 0,-8 8 16,-1 0 0,9-8-1,-8 8 1,8-34-16</inkml:trace>
  <inkml:trace contextRef="#ctx0" brushRef="#br0" timeOffset="58130.84">24751 6319 0,'0'0'0,"0"0"16,0 0-16,0 0 0,0 0 16,0 17-1,0 0-15,0 8 16,0 9 0,9 0-1,-1 9-15,-8 16 16,-8 26-16,-1 35 15,-8-1 1,0-17-16,0-34 31,0-9-31,9-16 16,-1-9 0,9-17-16,0-9 15,0 1-15,0-18 16,17-8-1,17-51 1,43-59-16,34-26 16,8 8-1,-8 17-15,0 9 16,-8 26-16,-1 42 16,-8 42-1,-17 26 1,-9 34-16,9 51 15,-26 43 1,-17 17-16,-25-18 16,-18-42-1,1-59-15</inkml:trace>
  <inkml:trace contextRef="#ctx0" brushRef="#br0" timeOffset="187456.5">1212 10529 0,'0'0'0,"0"0"0,17 0 16,43 0-16,17 0 15,8 0 1,0 0 0,-25 0-16,17 0 15,17 0-15,-9 0 16,9 0-1,8-17 1,-50 8-16</inkml:trace>
  <inkml:trace contextRef="#ctx0" brushRef="#br0" timeOffset="187829.09">1792 10112 0,'0'0'0,"0"0"16,26 8 0,17 9-1,25 0-15,0 0 16,9 9-16,-26-1 16,-8 1-1,-26 8-15,0 0 16,-51 34-1,-111 68 1,-111 77-16</inkml:trace>
  <inkml:trace contextRef="#ctx0" brushRef="#br0" timeOffset="-83457.73">14211 7637 0,'0'0'0,"0"0"16,0 0-16,8 17 0,1-8 31,-1-1-15,1 1-16,-1-1 15,1 1 1,-1-1-16,1 9 15,0 0 1,-9 17-16,-9 9 16,-17 42-1,-16 34-15,-10 0 16,18-17 0,17-34-16,26-51 15,-1-17 1</inkml:trace>
  <inkml:trace contextRef="#ctx0" brushRef="#br0" timeOffset="-38130.75">24948 7952 0,'0'0'0,"-9"8"0,1 26 16,-9 9-1,-1-1-15,-7 35 16,-1 16 0,1 18-1,8-18 1,-1-25-16,10-17 15,-1-25-15,9 0 16,0-18 0,17 1-16,18-26 15,24-26 1,35-42 0,0 0-16,-17 0 15,8-9 1,1-16-16,25-26 15,0 8 1,-9 26-16,-17 17 16,-8 25-1,17 18-15,0 16 16,-17 26-16,-9 26 16,0 34-1,-8 42 1,-9 25-16,-25 18 15,-18-9 1,-8-17-16,0-43 16,-8-25-1,8-25-15</inkml:trace>
  <inkml:trace contextRef="#ctx0" brushRef="#br0" timeOffset="57401.03">13869 8768 0,'0'0'0,"0"0"16,0 0-1,0 0-15,0 17 16,0 9-16,0 8 15,-8 17 1,-1 8-16,1 18 16,-9 8-1,0 8-15,-9 1 16,9-9 0,8-26-1,1-25-15,-1-8 16,9-9-16,0-8 15,0-18 1,26-25 0,25-17-16,17-26 15,26 1-15,9-1 16,-1 9 0,-8 9-1,-26 16-15,-8 26 16,0 0-1,-9 17-15,9 9 16,-9 8-16,-8 34 16,-18 68-1,-33 68 1,-35 34-16,-8-34 16,-26 111-1</inkml:trace>
  <inkml:trace contextRef="#ctx0" brushRef="#br0" timeOffset="90721.76">25460 8879 0,'0'0'0,"0"17"0,0 17 0,-17 127 0,17-110 16,0-17 0,8-25-16</inkml:trace>
  <inkml:trace contextRef="#ctx0" brushRef="#br0" timeOffset="123077.74">13656 9780 0,'0'0'0,"0"0"0,0 0 31,0 0-31,0 0 15,-9 17 1,1 0-16,-1 9 16,1 16-16,-9 9 15,8 0 1,-8 9 0,0-1-16,8-8 15,-8-8 1,9-1-16,-1 1 15,1-1 1,-1-16-16,1-1 16,8-16-16,0-1 15,0 1 1,0-9-16,0 0 16,34-17-1,26-17-15,25-26 16,0 1-1,9-9-15,-8 8 16,-1 18 0,-8 16-1,-9 26-15,-8 17 16,0 43 0,-1 50-16,-16 35 15,-26 8-15,-17-25 16,-9-69-1,9-42-15</inkml:trace>
  <inkml:trace contextRef="#ctx0" brushRef="#br0" timeOffset="166605.69">26151 10103 0,'0'0'16,"0"0"-16,0 0 16,0 0-16,0 0 15,9 9-15,-1 8 16,-8 34-1,-17 34 1,0 42-16,8 27 16,18 143-1</inkml:trace>
  <inkml:trace contextRef="#ctx0" brushRef="#br0" timeOffset="-132286.54">24478 12519 0,'0'0'0,"0"0"0,-17 0 0,-162 34 0,77-17 16,42 0-1,-17 0-15,-34 8 16,-9 9 0,1 9-16,34-1 0,16 9 15,10 26 1,-10 16-1,10 9-15,16 9 16,34-1 0,26-16-16,9-9 15,25 0 1,52 9 0,50-1-16,-16-42 0,8-25 31,68-9-31,-42-26 15,-17-33-15,25-26 16,-43-17 0,-33-9-1,-43-8-15,-26-9 16,-26-8 0,-25-25-16,-34-9 0,-17-9 15,-18 18 1,-7 25-1,41 76-15</inkml:trace>
  <inkml:trace contextRef="#ctx0" brushRef="#br0" timeOffset="-129034.59">23608 13913 0,'0'0'0,"0"0"0,0 0 15,0 0-15,0 0 16,0 0 0,0 0-1,-9 0 1,-8-8-16,-43 8 15,-17 0 1,1 17-16,-10 0 16,10 17-1,-18 8-15,-26 18 16,18-1 0,-1 9-16,9-8 15,26-17 1,17-9-16,8-17 15,26-9 1</inkml:trace>
  <inkml:trace contextRef="#ctx0" brushRef="#br0" timeOffset="-128204.35">22285 14585 0,'0'0'0,"0"0"0,-9-8 16,9 8-1,-8 0-15,-18 0 16,-34 25 0,-16 18-16,-44 8 15,-17 17 1,9 8-16,0 9 15,-59 60 1,-18 34-16,43-1 16,-18 26-1,10-17-15,67-42 16,26-35 0,26-33-16,26-43 15,8-26 1,17-8-16</inkml:trace>
  <inkml:trace contextRef="#ctx0" brushRef="#br0" timeOffset="-127179.36">22447 14211 0,'0'0'0,"0"0"0,0 0 16,0 0 0,0 0-16,0 0 15,0 0 1,0 0-16,0 17 15,0 8 1,8 18-16,10 34 16,16 16-1,8 9-15,1-8 16,0-1 0,-9-8-16,0 26 15,17-1 1,0 1-1,9 0-15,-9-9 16,1 0 0,-1 17-16,8-17 15,-7-17 1,-1-17-16,9 0 16,16 8-1,-7 1-15,-10-9 16,-16-8-1,-9-9-15,9 0 0,0 0 16,-18-9 0,1-16-1,-9-1-15,-9-8 16,1-8 0,0-1-16,-1 1 15,-8-9 1,0 0-1,0 0-15,0 0 16,0 0 0,0 0-16,0 0 15,0 0-15,0 0 16,-8 0 0,-10 0-1,-33-9-15,-68 1 16,-18-9-1,1 0-15,-69 0 0,-17 17 32,-17-9-32,-17 9 0,-34 0 15,-9 0 1,0 9 0,-59-1-1,51-8-15,25-25 16,68-26-1,-76-43-15</inkml:trace>
  <inkml:trace contextRef="#ctx0" brushRef="#br0" timeOffset="-125104.7">22336 15172 0,'0'0'0,"0"0"0,0 0 15,0 0 1,0 0-16,0 0 15,0 0 1,-9 0-16,1 8 16,-1 1-1,-8 8-15,-8 0 16,-9 17 0,-18 0-16,-7 9 15,-1 8 1,9-9-16,-9 1 15,-8-1 1,8-16-16,26-1 16,17-16-1,0-1-15,0 1 16,8-1-16,9 1 16,0-9-1,0 0-15,9 8 16,33 9-1,35 17 1,34 9-16,43-1 16,33 9-16,1-8 15,119 8 1</inkml:trace>
  <inkml:trace contextRef="#ctx0" brushRef="#br0" timeOffset="-122798.54">24939 13667 0,'0'0'0,"0"0"0,0 0 16,0 0 0,0 0-1,0 0-15,0 0 16,0 0-1,17 8 1,43 9-16,34 17 16,17 0-1,8 0-15,-8 17 16,-8-8-16,-18-1 16,9 9-1,-17 0 1,-9-8-16,0-18 15,-25-16-15,-26-9 16</inkml:trace>
  <inkml:trace contextRef="#ctx0" brushRef="#br0" timeOffset="-122320.18">26441 14313 0,'0'0'0,"-8"9"16,-9 16 0,-17 9-16,-18 26 15,-25 25-15,-8 8 16,0-8 0,-18 17-16,1 9 15,-35 25 1,-25 17-16,26-8 15,-1 8 1,-17 8 0,18-8-1,42-34-15,26-34 16,25-25 0,26-18-16,17-25 15,9-8-15,42-26 16,-17 8-16</inkml:trace>
  <inkml:trace contextRef="#ctx0" brushRef="#br0" timeOffset="-121481.68">26347 14270 0,'0'0'0,"0"0"15,0 0 1,0 0-16,0 0 16,0 0 15,17 26-31,26 17 15,34 25 1,25 25-16,1 1 16,-9-9-1,0 8-15,8 1 16,26 16 0,-9 18-16,-8-1 15,0 1 1,9 25-16,8 0 15,-26-17 1,-16-25-16,-10-1 16,-7-8-1,-9-16-15,8-10 16,-8-8 0,-9-17-16,-17-17 15,-9-8 1,-7-1-16,-10-16 15,1-1 1,-1 1-16,1-1 16,-1 1-1,-8-9-15,0 0 16,0 0 0,0 0-16,0 0 15,-8 0 1,-26 0-16,-26 0 15,-34 0 1,-34 0-16,-43 8 16,-34 1-1,-34-1-15,-8 1 16,-18-18 0,-16 9-16,-10-8 15,10-1 1,25-8-1,25 0-15,103-8 16,26-1-16,25 1 16,17-18-16,43 18 15</inkml:trace>
  <inkml:trace contextRef="#ctx0" brushRef="#br0" timeOffset="-120736.96">26211 15223 0,'0'0'0,"0"0"16,0 0-16,0 0 31,0 0-16,0 0-15,8 8 16,9 10 0,18 7-16,16 1 0,-9-1 31,10 9-31,16 0 16,9 9-16,-9-9 0,-25-9 31,-18 1-31,1-1 15,0 1 1,-9-1-16,-9-8 16,1-8-1,-1-1 1,1 1-16,-1-1 16,-16 9-1,-35 17-15,-25-8 16,-9-1-1,-8 1-15,-26-9 16,-9 0 0,26-9-16,52 1 15,33-9 1</inkml:trace>
  <inkml:trace contextRef="#ctx0" brushRef="#br0" timeOffset="-106970.8">15875 12348 0,'0'0'0,"0"0"0,-9 9 15,1 8 1,-26 17-16,-17 26 16,-18 33-1,1 26-15,8-8 16,9-18-1,17 18-15,25-1 16,44-16 0,50-1-16,26-33 15,25-43 1,61-34-16,8-43 16,-18-33-1,-16 8-15,-43 0 16,-26-34-1,-16 0-15,-35 8 16,-34 18 0,-17 25-16,-43 0 15,-33 8 1,-61 43-16,0 25 16,86 10-1</inkml:trace>
  <inkml:trace contextRef="#ctx0" brushRef="#br0" timeOffset="-106487.03">15525 13471 0,'0'0'0,"0"0"16,-8 0 0,-1 0-16,-25 0 15,-34 17-15,-9 9 16,8 8-16,-7 0 31,-1 0-31,9 0 16,8 0-1,0-9-15,17-8 16,35-8-16</inkml:trace>
  <inkml:trace contextRef="#ctx0" brushRef="#br0" timeOffset="-106065.78">14723 13760 0,'-9'0'0,"-25"26"0,-17 8 31,-17 17-31,-9 0 0,-9 17 16,10 0 15,24-9-31,18-8 16,9-8 0,16-1-16,18-16 15,25 0-15,34-26 0,26-17 31,17-26-15,-9-17-16,-16 1 16,-27 8-1,-24-9-15,-10-8 0,-16 17 16,-18 0 0,-16 0-1,-10 9-15,10 16 16</inkml:trace>
  <inkml:trace contextRef="#ctx0" brushRef="#br0" timeOffset="-105716.72">14194 14313 0,'0'0'0,"0"0"0,-9 0 15,-8 0 1,-34 17-16,-26 9 15,-8 8 1,-26 17-16,-17 0 16,8-9-1,-16 1-15,25-9 16,68-26 0</inkml:trace>
  <inkml:trace contextRef="#ctx0" brushRef="#br0" timeOffset="-105257.24">13349 14602 0,'0'0'0,"-9"0"0,1 0 16,-18 9-1,-8 8-15,-17 0 16,-9 17 0,-8 0-16,8 8 15,9 1 1,17-1-16,16-8 0,10 0 31,8-8-31,26-1 16,25 1-1,8-18-15,-16 1 16,8-18 0,1-16-16,-10-18 15,-8-8 1,-8-17-16,-17 0 15,-18 9-15,-8 8 16,-17 17 0,17 25-1</inkml:trace>
  <inkml:trace contextRef="#ctx0" brushRef="#br0" timeOffset="-104891.47">12691 14934 0,'0'0'0,"0"0"0,0 0 0,0 0 31,-17-9-15,-17 9-16,-25 9 15,-27 8-15,-16 17 16,-35 25 0,1 1-16,42-18 0,25 1 31,18-18-31,17-16 15,17-1 1,17-8 0</inkml:trace>
  <inkml:trace contextRef="#ctx0" brushRef="#br0" timeOffset="-104439.09">11821 15223 0,'0'0'0,"0"0"0,-9 0 15,1 0 1,-18 8 0,1-8-16,-18 18 15,-17 16 1,0 0-16,18 0 16,8 0-16,17 0 15,17 0 1,8 0-16,26-9 15,17 1 1,26-26-16,26-34 16,-9-17-1,-35 0 1,-16 0-16,-17 17 16,-26 8-1,-17 1 1,-77-10-16,-188-50 0</inkml:trace>
  <inkml:trace contextRef="#ctx0" brushRef="#br0" timeOffset="-104080.39">11531 15665 0,'0'0'0,"0"0"15,-9 0-15,-16 0 16,-18 0-16,-17 17 15,-25 9 17,-18 8-17,-16 8-15,8 1 16,26-9-16,16-9 16,-16 1-1,42-18-15</inkml:trace>
  <inkml:trace contextRef="#ctx0" brushRef="#br0" timeOffset="-103651.23">10745 15674 0,'0'0'0,"-8"0"16,-18 17 0,-8 0-16,-8 17 15,-10 17 1,1-9-16,8 9 16,9 9-1,9 16-15,25-16 16,8-18-1,18 1-15,8 0 16,0-18-16,17 1 16,1-18-1,7-16 1,-8-18-16,9-25 16,-9-26-1,-25 1-15,-17 8 16,-18 0-1,1 34-15</inkml:trace>
  <inkml:trace contextRef="#ctx0" brushRef="#br0" timeOffset="-103333.81">10396 15759 0,'0'0'0,"0"0"16,0 0-1,0 0-15,0 0 16,-18 0-1,-16 17 1,-34 25-16,-34 9 16,-26 17-1,-9 9-15,26-1 0,34-25 16,9-17 0,17-17-1,34-8-15</inkml:trace>
  <inkml:trace contextRef="#ctx0" brushRef="#br0" timeOffset="-102936.2">9798 15691 0,'0'0'0,"-8"0"15,-1 0 1,-17 17-16,-25 0 16,-17 25-1,-26 26-15,-17 17 16,26-8 0,34-26-16,25-26 15,9 1 1,8-1-16,18-8 15,25-8 1,26-1-16,8-16 16,17-18-1,-8-16-15,-17-18 16,-17-16 0,-18-9-16,-25-9 15,0 52 1</inkml:trace>
  <inkml:trace contextRef="#ctx0" brushRef="#br0" timeOffset="-97225.64">13630 11396 0,'0'0'0,"0"0"15,0 0-15,0 0 16,0 0 0,0 0-16,-8 0 15,-1 0 1,-8 0 0,-8 8-1,-1 9-15,0 1 16,-8-1-1,0 17-15,0 0 16,17-9 0,0 1-16,0-18 15,8 1-15,1-1 16,8 1 0,0-9-16,0-9 15,17-8 1,17-8-1,9-26-15,25-9 0,9 0 32,-18 18-32,1 8 0,8 17 31,-8 0-31,0 8 16,8 18-16,26 16 15,-9 35-15,-16 17 31,-18 16-31,-8 18 16,-26-26 0,-9-26-16,1-16 15,-1-26-15,1-9 16</inkml:trace>
  <inkml:trace contextRef="#ctx0" brushRef="#br0" timeOffset="-73707.84">26151 10886 0,'0'0'0,"0"0"16,0 0-16,0 17 16,0 25-1,0 9-15,0 9 16,0-9 15,-8 8-31,-1 9 0,-8 0 31,-9 0-31,9-8 16,0-17-16,9 8 16,-9-9-16,0-8 15,8-8 1,9-18-1,0 1 1,0-1-16,0-8 0,0-8 16,17-18-1,34-42 1,26-17-16,17-9 16,0 9-1,17 17-15,0 26 16,-9 16-1,-25 18-15,0 25 16,-9 17-16,-8 25 31,0 26-31,-18 9 16,-8 17 0,-17 25-16,-17 144 15</inkml:trace>
</inkml:ink>
</file>

<file path=ppt/ink/ink3.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4-08T23:24:00.309"/>
    </inkml:context>
    <inkml:brush xml:id="br0">
      <inkml:brushProperty name="width" value="0.05292" units="cm"/>
      <inkml:brushProperty name="height" value="0.05292" units="cm"/>
      <inkml:brushProperty name="color" value="#FF0000"/>
    </inkml:brush>
  </inkml:definitions>
  <inkml:trace contextRef="#ctx0" brushRef="#br0">22882 11353 0,'9'-8'0,"8"8"0</inkml:trace>
</inkml:ink>
</file>

<file path=ppt/ink/ink4.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4-08T22:57:47.506"/>
    </inkml:context>
    <inkml:brush xml:id="br0">
      <inkml:brushProperty name="width" value="0.05292" units="cm"/>
      <inkml:brushProperty name="height" value="0.05292" units="cm"/>
      <inkml:brushProperty name="color" value="#FF0000"/>
    </inkml:brush>
  </inkml:definitions>
  <inkml:trace contextRef="#ctx0" brushRef="#br0">2868 6565 0,'0'0'0,"0"0"0,0-8 16,8-1-1,1 1 1,-1-1-16,1 1 0,-1 8 15,-8-9 17,17 1-32,18-9 15,59-17-15,8-9 16,-34 9 0,43 0-1,85 0-15,-25 17 16,17 0-16,51 0 0,77 0 15,17 0 17,25 0-32,43-25 15,-17 8 1,-8 8-16,76 1 16,94-9-16,-136 8 0</inkml:trace>
  <inkml:trace contextRef="#ctx0" brushRef="#br0" timeOffset="1216.01">23966 10409 0,'0'0'0,"0"0"16,0 0 0,9 0-16,16-8 15,9-1-15,1 1 16,7 8 0,18 0-1,25 0-15,-16 8 16,42 1-16,42 16 15,9-8 1,9 0 0,42-8-16,120-9 15</inkml:trace>
  <inkml:trace contextRef="#ctx0" brushRef="#br0" timeOffset="7249.74">9849 8675 0,'0'0'0,"34"0"15,86 25 1,42 9-16,60 0 16,34-8-1,51-9-15,-34-34 16,9-51 0</inkml:trace>
  <inkml:trace contextRef="#ctx0" brushRef="#br0" timeOffset="97666.43">14475 16728 0,'0'0'0,"0"0"31,0 0-31,0 0 16,0 0 0,0 0-16,-8 0 0,-26 9 31,-26 16-31,-17 26 15,-25 17 1,-18 17 0,-8 0-16,9-17 0,-9 1 15,-9 7 1,0 1 0,9-1-1,26-16 1,17-9-16,25-17 0,9-9 15,34-16-15</inkml:trace>
  <inkml:trace contextRef="#ctx0" brushRef="#br0" timeOffset="98354.73">12709 17068 0,'0'0'0,"-9"0"0,-8 0 15,-26 17 1,-8 0-1,0 0-15,-9 9 16,-17 17 0,-17 16-16,9 9 15,17 17 1,17 0-16,16 0 16,18-17-16,17-8 15,26-9 1,17 0-16,25-9 15,26-25 1,8-17-16,26-17 16,-8-17-1,-18-8 1,-8-9-16,-9-17 16,-33 0-1,-18 8-15,-17-8 16,-34-17-1,-26-8-15,-42-9 16,-35 16 0,-42 27-16,-26 33 15,-8 18 1,-9 25-16,-119 8 16</inkml:trace>
</inkml:ink>
</file>

<file path=ppt/ink/ink5.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4-08T23:00:40.297"/>
    </inkml:context>
    <inkml:brush xml:id="br0">
      <inkml:brushProperty name="width" value="0.05292" units="cm"/>
      <inkml:brushProperty name="height" value="0.05292" units="cm"/>
      <inkml:brushProperty name="color" value="#FF0000"/>
    </inkml:brush>
  </inkml:definitions>
  <inkml:trace contextRef="#ctx0" brushRef="#br0">25101 7203 0,'0'0'0,"0"0"0,0 0 0,-42 17 15,7-8 1,-24 8-16,-27 8 16,-16 1-1,8-1-15,43 1 16,-9 8 0,-25 0-16,-9 0 15,0-9 1,0 9-1,17 9-15,26 8 16,-26 17 0,-34 43-16,9 16 15,-1-16-15,10 8 16,24 17 0,27 8-1,7-8-15,18 1 16,0 24-1,9-16-15,-1 16 16,9 26 0,9-34-16,-1-33 15,-8-10-15,34 26 16,52 0 0,59-25-16,-17-60 0,77-26 31,25-25-31,60-51 15,-8-17-15,17-34 32,25-25-32,-25-9 15,-52 0-15,-93-1 0,85-58 16,-77 33 15,-85 1-31,0-9 16,-43-9-1,-34-17-15,-26 18 16,-51-9 0,-85-9-16,-43 26 15,-76 42 1,-26 52-16,33 50 16,-33 52-1,43 16-15,50 18 16,18 16-1,25-7-15,-102 58 16</inkml:trace>
  <inkml:trace contextRef="#ctx0" brushRef="#br0" timeOffset="1076.38">23659 9721 0,'0'0'0,"0"0"15,0 0 1,0 0-16,0 0 16,-9 0-16,-8 0 15,-25 0 1,-1 0-16,-8 8 16,-26 1-1,-17-1 1,-8 9-16,-9 9 15,8-1 1,-25 9-16,-68 9 16,8-1-1,26 18-15,-34-9 16,42-9-16,0 9 16,1 9-1,-1 16-15,26 1 16,34-9-1,0-8 1,26-18-16,25-16 16,26-18-1,9 1-15,8-18 16,25-16-16,-8-1 16</inkml:trace>
  <inkml:trace contextRef="#ctx0" brushRef="#br0" timeOffset="1349.66">21124 10256 0,'-9'0'0,"-8"34"0,-25 43 15,-1-1 1,9-7-16,17-18 15,0-26-15,17 1 16,8-9-16,44-9 31,41-16-31,52-26 16,60 0-16,-17 0 16,17-17-16,128-43 15</inkml:trace>
  <inkml:trace contextRef="#ctx0" brushRef="#br0" timeOffset="2182.4">26134 9457 0,'0'0'0,"0"0"0,0 0 16,0 0 0,0 0-1,0 0-15,0 0 16,0 0-16,26 25 16,59 18-16,52 8 15,-18-8 1,26-1-1,77 26 1,-34-8-16,8-1 16,26-8-1,-34-17-15,34 0 0,-52-17 16,-50-17 0,16 0-1,-25-8-15,-25-1 16,-35 1-1,-25-1 1,-18-8-16,-8-8 16,-8 16-1</inkml:trace>
  <inkml:trace contextRef="#ctx0" brushRef="#br0" timeOffset="2464.42">28293 9474 0,'0'0'0,"0"0"0,0 0 16,0 0 0,0 0-1,0 17-15,17 26 16,26 25 0,25 17-16,26 0 15,9 8 1,-27-16-16,-33-26 15,0 8 1,8 18 0,-8-1-16,-26-16 15,-26-9-15,-50 8 16,-129 26 0,-188-8-16,-25-26 15</inkml:trace>
  <inkml:trace contextRef="#ctx0" brushRef="#br0" timeOffset="28097.05">13127 7101 0,'0'0'0,"0"0"0,0 0 15</inkml:trace>
  <inkml:trace contextRef="#ctx0" brushRef="#br0" timeOffset="29028.78">13127 6863 0,'0'0'0,"0"0"0,0 0 15,0 0-15,8 0 16,26 0-1,26-8 1,43-9 0,16 0-16,-34 8 15,95-8 1,24 9-16,27 8 16,42 8-16,9-8 15,-18 0-15,35-8 31,-26-9-31,34-26 16,18 9 0,-1 9-16,-34-10 15,-102 1-15,0 26 16,-77-1-16,-69 9 31,-16 0-31,0 0 16,-18 0-1,1 0-15,-1 0 16,-50 0-16,-112 9 16,-187 8-1,-44 8 1,53 10-16,-70-27 16,44 1-1,76 8-15,-25-9 0,25-8 31,18-25-31,16-1 16,69-17 0,34 1-16,34-1 15,51 18-15,18 8 16,25 0 0,-1 8-1,27 1-15,34-18 16,93 1-1,112 8-15,42 17 16,9 17 0,85 51-16,-17 8 0,-94-33 15,85 8 1,-16-25 0,-1-9-1,-42 0-15,-60-26 16,-68 9-1,-61-8-15,-24-1 0,-35 9 32,-34-8-32,-8-1 15,-44-8 1,-152-43-16,-163 9 16,-120 34-1,-153 51-15,-42 60 16,-35 42-1,51-8-15,120 8 16,145-9 0</inkml:trace>
  <inkml:trace contextRef="#ctx0" brushRef="#br0" timeOffset="39821.28">3371 9244 0,'0'0'0,"0"9"16,43 25-1,34 17-15,51-9 16,-9-25 0,35-34-16,76-17 15,-16 9-15,16-1 16,-16 1 0,25 16-1,8 9-15,18 17 16,-18 9-1,-42 8 1,8-9-16,-59 1 16,-43-9-16,-17 0 15,-17 0 1,-26-9-16,-26 1 16,-16-9-16,-18 0 15,-33-9 1,-95 1-1,-93-9-15,-95-17 16,-16 0 0,34 17-16,-9-26 15,17-8 1,18 9 0,8-1-16,25 9 15,35 0-15,50 9 16,35 8-1,26 0-15,42 0 16,18 8-16,25 1 31,8 8-31,26-9 16,85-16 0,137-1-16,94 9 15,26 26 1,25 16-16,17 18 0,-8 8 15,-18 0 1,35 8-16,-9-8 16,-43-8-1,27-35-15,-10-25 16</inkml:trace>
  <inkml:trace contextRef="#ctx0" brushRef="#br0" timeOffset="69107.81">16925 8862 0,'0'0'0,"0"0"0,0 0 16,0 0-1,0-17 1,0 0-16,0 0 16,0 8-1,-154-186 1,137 186-16,-26 1 0,-8-10 15,17 1 1,0 9-16,8-1 16,-8 1-1,-8 8 1,-18 0-16,-34 8 16,-9 9-16,-7-8 15,-1 8-15,-26 34 16,-25 34-1,-9 17-15,-34 34 32,-25 43-32,42 8 15,17-9 1,9 10 0,0-1-16,17 17 15,25 8-15,27-42 16,41-8-1,35-9-15,34 0 16,35-17-16,7-25 16,27-9-1,33 8-15,9 1 16,-8-9 0,-52-25-1,-17 8-15,-8 17 0,-9 17 16,-25 0 15,-27 25-31,-41 27 0,-78 24 31,-8-25-31,-9-42 16,-33-9-16,16-26 0,43-16 16,0-9-1,8-17-15,27-17 31,24-17-15,27-8-16,25-1 16,-1 1-1,18-1-15,9 9 16,34 17-16,33 17 16,1 0-1,0 26 1,17 42-16,-9 42 15,-33 60 1,-78 52-16,-51 50 16,-68 68-1,-26-42-15,77-120 16,52-42 0,50 0-16,95 18 15,42-27 1,154-16-16,76-9 15</inkml:trace>
  <inkml:trace contextRef="#ctx0" brushRef="#br0" timeOffset="70660.53">7878 10818 0,'0'0'0,"0"0"16,0 0-16,0 0 16,-9 8-1,-25 26-15,-26 51 16,-25 43 0,8 16-16,17-25 15,9 1 1,9 7-16,7-8 15,10-8 1,-1-1 0,9-8-16,9-51 15</inkml:trace>
  <inkml:trace contextRef="#ctx0" brushRef="#br0" timeOffset="71084.22">8433 11473 0,'-9'0'0,"-17"51"0,-33 59 15,-10 35 1,18-1-1,17-8-15,8-34 0,26-34 32,0-25-32,17-18 15,9-16 1,34-18-16,42-42 16,26-42-16,0-26 15,-42 0 1,-10-17-1,-24 0-15,-27 25 16,-25 26-16,-17 42 16,-34 26-1,-43 43-15,-51 59 16,-128 102 0</inkml:trace>
  <inkml:trace contextRef="#ctx0" brushRef="#br0" timeOffset="71641.58">9414 11881 0,'0'0'0,"0"0"15,9 0-15,-1 0 16,1 0-16,-1 17 15,-16 17 1,-9 17-16,-18 8 16,10 1-1,8-9 1,0-9-16,17 1 0,0-18 31,0-8-31,17 0 16,8 0-1,10-8-15,-1-9 16,-9-9-16,1-16 16,-1-1-16,-16 9 15,0 0 1,-1 9 0,1 8-16,-9 0 15,0 17 1,0 34-16,8 34 15,-16 34 1,-1 34 0,1-25-16,-18-26 15,-17 25 1,-8 9-16,-9-17 16,-8-33-1,0-27 1,-18-16-16,-25-9 15,-8-17-15,8-9 16,60-8 0</inkml:trace>
  <inkml:trace contextRef="#ctx0" brushRef="#br0" timeOffset="72269.11">10967 11404 0,'0'0'0,"0"0"16,-8 9 0,-9 34-16,-17 67 15,-9 35 1,0 8 0,1-34-16,-1-26 15,9-33-15,17-26 16,8-17-1,9-9 1,0-25-16,34-59 16,52-77-16,50-34 15,26 17 1,1 34 0,-18 59-16,-43 34 15,-8 43-15,-17 51 16,-9 103-1,-59 152-15,-52 17 16,-42 17 0</inkml:trace>
</inkml:ink>
</file>

<file path=ppt/ink/ink6.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4-08T23:02:51.895"/>
    </inkml:context>
    <inkml:brush xml:id="br0">
      <inkml:brushProperty name="width" value="0.05292" units="cm"/>
      <inkml:brushProperty name="height" value="0.05292" units="cm"/>
      <inkml:brushProperty name="color" value="#FF0000"/>
    </inkml:brush>
  </inkml:definitions>
  <inkml:trace contextRef="#ctx0" brushRef="#br0">28558 918 0,'0'0'0,"-9"0"0,1 34 16,-1 1-16,1 7 15,-1 18 1,-8 8-16,0 8 15,0 9 1,17-8 0,0-18-16,0-16 15,0-9-15,0-9 16,0 1 0,0-18-16,0 1 15,17-1 1,9-16-16,16-35 15,18-16 1,-17-18 0,-1 1-16,-16-9 15,0 17 1,-18 0-16,1 8 16,-9 1-1,-9 16-15,1 9 16,-1 25-16,1-16 15,-1 25 1,1 8 0,-27 43-16,10 60 15,16 25 1,18 17-16,33-8 16,1-52-1,-26-67-15</inkml:trace>
  <inkml:trace contextRef="#ctx0" brushRef="#br0" timeOffset="2745.13">28831 995 0,'0'0'0,"-8"-8"16,-18-1-1,0 1-15,9 8 16,0 0 0,0 0-16,9 0 15,-1 0 1,9 0-1,-9 0-15,1 17 0,-1 25 16,-8 9 0,9 26-1,-9 25 1,8 34-16,-8-26 0,9-25 16,-1-8-16,1-18 31,-1-16-31,0-9 0,9-9 31,0-8-15,0-8-16,0-1 15,0-16-15,18-26 16,-1-51 0,17-60-16,0-8 15,0 0 1,-8-8-1,-1 16-15,1 17 16,-1 18 0,-16 50-16,0 18 0,-1 16 31,-8 9-31,0 9 16,0 8-1,0 0-15,0 0 16,0 8-1,-8 60-15,-1 26 16,-25 67 0,0 18-16,0 17 15,-1-1 1,18-42-16,0-8 16,0-9-16,9-34 15,8-25 1,0-26-1,0-17-15,0-9 16,0-16 0,0-18-16,-9-42 15,-8-76 1,9-27-16,-1-16 16,0-136-1</inkml:trace>
  <inkml:trace contextRef="#ctx0" brushRef="#br0" timeOffset="11342.91">28302 2687 0,'0'0'0,"0"0"15,0 0-15,0 0 16,17 0 0,26 17-16,33 0 15,44 0 1,-35 0 0,1-8-16,16 8 15,-8 0 1,-17 8-16,-18-8 15,-7-8-15,-27 0 16,-16-1 0,-1 9-16,-16 0 15,-18 9 1,-34 8-16,-8-9 16,-9 1-1,-8-1 1,17-16-16,25-1 15,17 1 1,9-9-16,17 0 16,9 8-1,17 1-15,16 8 16,18 17-16,17 0 16,-17 8-1,-9 1-15,-17-1 16,-9 1-1,-16 8 1,-26 8-16,-34 1 16,-26-9-16,-51-9 15,-60-42 1,-42-68-16,-78-85 16</inkml:trace>
  <inkml:trace contextRef="#ctx0" brushRef="#br0" timeOffset="19808.68">28609 4414 0,'0'0'0,"0"0"0,0 0 0,0 0 16,0 0 0,0 0-1,0 0 1,-8 0-16,-1 0 16,-8 0-1,-9 17-15,9 0 16,0 0-1,9 0-15,8 8 16,0 1 0,0-1-16,17 9 15,8 17 1,10-8-16,-1-1 16,-9-8-16,1-8 15,-1 0 1,1 8-1,0-9-15,-9 9 16,-9 0 0,1 9-16,-9 16 15,-17 18 1,-26-1-16,-8-8 16,-9-8-1,0-1-15,1-8 16,-10-8-1,27-18-15,16-16 16,18-9 0</inkml:trace>
  <inkml:trace contextRef="#ctx0" brushRef="#br0" timeOffset="21230.48">28182 4286 0,'0'0'0,"0"0"16,0 0-1,0 0 1,0 0-16,0 0 15,0 0-15,0 0 16,0 0 0,9-8-16,17-1 0,16 1 31,26-9-15,18 17-16,8-9 15,-9 9 1,-8 0-16,0 17 15,-18 0-15,1 0 0,-9 0 32,9 9-17,-17-1-15,-9-8 16,-8-8 0,-18-1-16,1 1 15,-1-1 1,1 1-16,-9-9 15,8 8 1,-8-8-16,0 0 16,0 0-1,0 0-15,0 0 16,0 9 0,-17 25-16,-17 34 15,-17 25 1,-43 43-16,-17 9 15,26-43 1,16-17-16,18-34 16,17-8-1,17-18-15,0-16 16,17-1 0,0-8-16</inkml:trace>
  <inkml:trace contextRef="#ctx0" brushRef="#br0" timeOffset="28994.54">28566 6115 0,'0'0'0,"0"0"16,-8 8-16,-1 9 15,1 0 1,-1 0-16,1 17 16,-18 26-1,1 16-15,-27 18 16,1-9-1,17-26-15,8-8 16,9-25 0,0 0-16,9-18 15,8 1 1,0-18-16,0 9 16</inkml:trace>
  <inkml:trace contextRef="#ctx0" brushRef="#br0" timeOffset="29686.7">29130 6208 0,'0'0'0,"0"0"0,0 0 16,0 0 0,0 0-1,0 0-15,0 0 16,-9 0-16,1 9 31,-9 8-31,0 0 16,-9 0-1,0 8-15,9-8 16,0-8-16,9-1 16,-1 1-16,1-1 31,8 1-31,0-1 16,0-8-1,8 9-15,26-1 16,26 9-1,8 0-15,1 0 16,-27 0 0,-16 0-16,-1 26 15,-16 8 1,-26 25-16,-26 1 0,-8 0 16,-9-26-1,1-9 1,-27-8-16,-8-8 31,9-9-31,17-17 16,25-9-16,26 1 0</inkml:trace>
  <inkml:trace contextRef="#ctx0" brushRef="#br0" timeOffset="29943.55">29292 5962 0,'0'0'0,"17"17"15,68 34-15,43 17 31,35 0-15,-10-26-16,-8-25 16,145-17-1</inkml:trace>
  <inkml:trace contextRef="#ctx0" brushRef="#br0" timeOffset="40904.67">4455 6906 0,'0'0'0,"0"0"0,0 0 16,0 0-1,0 0-15,0 0 16,0 0 0,0 0-16,-8 0 15,-1 8 1,1 1-16,-1-1 15,1 1 1,8-1-16,0 1 16,0-1-1,-9 1-15,9-1 16,0-8 0,0 9-16,0-9 15,0 8 1,0-8-16,0 9 15,0-1 1,0-8 0,0 0-16,0 0 15,0 0-15,0 0 16,0 0 0,0 0-16,0 0 15,0 0 1,0 0-16,0 0 15,9 9 1</inkml:trace>
  <inkml:trace contextRef="#ctx0" brushRef="#br0" timeOffset="41789.36">4370 6744 0,'0'0'0,"0"0"15,0 17-15,0 0 16,-9 17-1,1 0 1,-1 17-16,1 9 16,-1-1-1,1-16-15,-1-1 16,1 1-16,8-18 31,0 1-31,0-9 16,0-9-1,0 1-15,0 8 16,8-9-16,9 1 16,0-1-1,0 1 1,26-1-16,8-8 16,9-8-1,17-1-15,8-8 16,18 9-1,8-1-15,8-8 16,-8 9-16,26-9 16,16 0-1,1 0-15,-9-9 16,17-8-16,9 0 16,-26 9-1,26-1-15,-1 9 31,-25 9-31,0-9 16,18 0 0,7 8-16,-25-8 15,9-8-15,8 8 16,-25 0 0,-1 8-1,-8 9-15,-17 0 16,-34 0-16,-26 0 15,-8 0 1,-17 0 0,-9 0-16,-9 0 15,1 0 1,-1 0-16,-8 0 16,0 0-1,-8-17-15,-9-17 16,-35-34-1,1-43-15,9-16 16,7-162-16</inkml:trace>
  <inkml:trace contextRef="#ctx0" brushRef="#br0" timeOffset="51614.12">4165 7637 0,'0'0'0,"0"0"0,0 0 15,0 0 1,0 0-16,0 0 16,0 0-16,0 17 15,9 9 1,-1 25-16,-16 25 15,-9 1 1,-9-1 0,0 1-16,1-1 15,-9 9-15,-1-8 16,18-18 0,9-16-1,8-9-15,0-9 16,0 1-16,0-9 15,8-9 1,9 1 0,9-1-16,25-8 15,43-17-15,9 0 16,7-8 0,10-1-1,-1 1-15,9 8 16,1 0-16,-1 17 15,8 0 1,9 8 0,9 9-16,8 0 15,-8 9 1,-18-9-16,1 8 16,-9-8-1,-17-8-15,-17-1 16,-26 1-16,-17-9 15,-25 0 1,-1 0-16,-16-9 16,-1-8-1,1-17 1,8-25-16,0-43 16,-17-17-1,0 59-15</inkml:trace>
  <inkml:trace contextRef="#ctx0" brushRef="#br0" timeOffset="72424.84">13579 10384 0,'0'0'0,"0"0"0,0 0 31,0 0-31,0 0 16,0 0-1,0 0-15,0 0 16,0 0 0,0 0-16,34 8 0,52 1 15,50-9 1,1 0-16,25 0 15,17 8 1,-25-8 0,127-17-16</inkml:trace>
  <inkml:trace contextRef="#ctx0" brushRef="#br0" timeOffset="75798.92">15389 10299 0,'0'0'0,"0"0"0,0 8 16,17 26-1,0 17 1,0 17-16,0-8 16,0 0-16,0-9 15,-9-9 1,10-8 0,-1 0-16,0-8 15,0-1 1,-9 1-16,1-9 15,-1-9-15,1 1 16,-1-1 0,1 1-16,8-1 15,0 1 1,17-1-16,0-16 16,26-1-1,17-8 1,17 0-16,34 0 15,17-8 1,-17 8-16,9-9 16,42 1-16,9-9 15,16 8 1,1 9-16,-17 9 16,17 8-1,-26 0 1,-34 8-16,-8 9 15,-9 0 1,0-8-16,-26 8 16,-16 0-16,-18 0 15,-8 0 1,-9-9-16,-26 1 16,1-1-1,-18 1-15,1-9 16,-9-9-1,0-8 1,-9-51-16,1 9 16</inkml:trace>
  <inkml:trace contextRef="#ctx0" brushRef="#br0" timeOffset="98399.68">7972 10979 0,'0'0'0,"0"0"0,0 0 15,0 0-15,0 0 16,0 0-16,0 0 15,0 0 1,0 0-16,0 0 16,0 0-1,0 0 1,0 17-16,-9 9 16,1 16-1,-1 9 1,-8-8-16,8-1 15,9-16-15,0-1 16,0 1-16,0-1 16,0-8-1,9 0-15,8 0 16,0 0 0,9 0-1,8 0 1,34 9-16,17-17 15,1-1-15,-1-8 0,9 9 16,8 8 15,18 0-31,-9 0 16,0 17 0,25-9-16,18 9 15,0-8-15,-18-1 0,26-8 31,18-8-15,-27-1-16,27-16 0,7 8 31,-33 0-31,0 0 16,16 0 0,-8 0-16,-17 8 15,43 9 1,17-8-16,-9-1 15,18-8 1,-18 0-16,0 0 16,1 0-1,-44 0-15,1-8 16,0 8 0,-9 0-16,-17 0 15,17 0 1,17-9-16,-34 1 15,-17-1 1,-26-8-16,1 0 16,-10 0-1,-16 0-15,-26 0 16,-8 9 0,-18-1-16,1 1 15,0-1 1,-18-16-16,0-18 15,9 18 1</inkml:trace>
  <inkml:trace contextRef="#ctx0" brushRef="#br0" timeOffset="102583.04">7579 12646 0,'0'0'0,"-9"-8"0,1-1 16,-1 1 0,1-1-1,8 9-15,0 0 16,0 0 0,0 0-16,8 0 15,44 26 1,84 8-16,103-9 15,94-25-15,102-34 16,77 0 0,-8-25-1,-94-1 1</inkml:trace>
  <inkml:trace contextRef="#ctx0" brushRef="#br0" timeOffset="114253.74">10421 13539 0,'0'0'0,"0"0"16,0 0-16,0 0 16,0 0-1,0 0-15,0 0 16</inkml:trace>
  <inkml:trace contextRef="#ctx0" brushRef="#br0" timeOffset="114857.28">10421 13497 0,'0'0'0,"0"0"15,0 0-15,0 0 16,0 0-1,0 0 1,0-9-16,9 1 16,8-1-1,0-8-15,0 0 16,-9 9-16,1 8 16,-9 0-1,0 0-15,0-9 16,0 1-1,-9-1-15,1-8 16,-1 9 0,1-9-1,-1 8-15,1 1 0,-9-1 32,-26 0-32,-34 1 15,0-1-15,-16 1 16,7-1-1,26 1 1,-16-1-16,-10 9 16,9-8-1,18-1-15,7 1 16,10-9-16,-1 8 16,9-8-1,17 9 1,0-9-16,17-9 15,8 1 1,9-1-16,9 9 0,8 0 16,17 0-1,-8 0 1,-17 9 0,-1 8-16,-16 0 15</inkml:trace>
  <inkml:trace contextRef="#ctx0" brushRef="#br0" timeOffset="115211.63">9320 13471 0,'0'0'0,"0"0"16,0 0-1,0 0-15,-8-8 16,-1-18-1,1-25-15,-1-17 16,-8 0 0,0 8-1,8 18-15,1-1 0,8 9 32,0 9-32,-9 8 15,9 0 1,0 8-16,0 1 15,17-1 1,17 1-16,18-1 16,16 9-1,26 0-15,34 0 16,17 0 0,145-8-16</inkml:trace>
</inkml:ink>
</file>

<file path=ppt/ink/ink7.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4-08T23:05:27.648"/>
    </inkml:context>
    <inkml:brush xml:id="br0">
      <inkml:brushProperty name="width" value="0.05292" units="cm"/>
      <inkml:brushProperty name="height" value="0.05292" units="cm"/>
      <inkml:brushProperty name="color" value="#FF0000"/>
    </inkml:brush>
  </inkml:definitions>
  <inkml:trace contextRef="#ctx0" brushRef="#br0">11189 7050 0,'0'0'0,"0"0"0,0 0 0,26 43 0,-18-26 16,10 25-1,-10 9-15,1 17 16,-1 17-16,-8 9 15,9 8 1,-1-17 0,1-17-1,-1-8-15,9-18 16,9-8-16,17 0 16,8-8-1,17-9 1,9-9-16,8 1 0,35-9 31,25 0-31,0 0 16,34 0-16,35 8 15,-18 1-15,51 8 16,26-9 0,1 1-16,7-9 31,18-9-31,0 1 0,-9-1 15,9 9 1,-26 17-16,-9-8 16,-25 8-1,-17 8 1,26-8-16,-26 0 16,-60-8-1,0-1-15,-25-8 16,-35-8-1,-17-1 1,-16 1-16,-27-1 16,-16-8-1,-1-8-15,-7-18 16,-10-16-16,-25-60 16,-9-9-1,1-25 1,-9-153-16</inkml:trace>
  <inkml:trace contextRef="#ctx0" brushRef="#br0" timeOffset="6008.61">8791 7611 0,'0'0'0,"0"0"0,0 0 16,0 0 0,0 0-1,17 0-15,0 9 16,0 0-16,9 8 16,-1 0-1,10 0 1,-1-9-16,17 9 15,17 0 1,0-8-16,18-1 16,25 1-16,8-9 15,18 0 1,-1-9-16,9 1 16,1-1-1,-10 9-15,-16 0 16,8 0-1,-9 9-15,9 8 16,-34-9 0,-17 9-1,-9-8-15,-17-1 16,-17 1-16,-8-1 16,-17 1-1,-1-9-15,1 0 16,-9 0-1,-9 0 1,-25 0-16,-17 0 16,-35-9-16,-25 1 15,-34-18 1,9 1-16,25-9 16,0 0-1,-26 0-15,-8-1 16,9 18-16,8 0 15,-26 17 1,18 0-16,42-8 31,8 8-31,27 0 16,16 0-16,17 0 16,9 0-1,17-9 1,43-8-16,0 9 15</inkml:trace>
  <inkml:trace contextRef="#ctx0" brushRef="#br0" timeOffset="78509.84">26475 5655 0,'0'0'0,"-8"26"0,-18 25 0,-247 400 0,111-222 16,-9-16-16,35-43 16,25-42-1,42-43-15,27-34 16,25-26 0,0-16-16,-9-9 15,0-26 1,1-33-1,-1-18-15,9 1 16,0 25-16,9 17 16,-1 17-1,9 0 1,0 8-16,0 9 16,0 0-16,-8 0 15,-1 17 1,0 26-1,1 33-15,-1 35 16,-25 25 0,-8 8-16,-10 18 15,1-26-15,26-42 16,25-26 0,8-9-16,35-16 15,102-26 1,128-77-16,85-50 15</inkml:trace>
  <inkml:trace contextRef="#ctx0" brushRef="#br0" timeOffset="89516.77">11215 9780 0,'0'0'0,"0"0"16,0 0-1,8 9-15,1 8 16,0 0 0,8 0-16,0 0 15,-9 8-15,1 9 16,-1 17 0,-8 17-1,-8 9-15,-26 16 16,-26 43-16,-34 35 15,-8-27 1,8-16-16,25-18 16,18-16-1,17-35 1,17-25-16,8-17 16,1-8-1,8-1-15,0-25 16,0-17-16,17-25 15,9-35 1,16-76 0,18 0-16,25 8 15,1 1 1,-1 8-16,9 42 16,25 9-1,9 26-15,-42 42 16,8 8-1,0 26-15,17 26 16,-9 25 0,-34 17-1,-25 42-15,-35 26 16,-50 17-16,-18-8 16,-8-26-1,-1-25-15,18-26 16,0-17-1,8-9-15,-8-16 16,0-18 0,8 1-16,9-9 0,17 0 31,0-9-31,0 1 16,8-1-1,1 1-15,8 8 16,0 0-1,0 0-15,0 17 16,0 34-16,25 51 31,27 17-31,-10-9 16,1 1 0,8-18-16,-8-16 15,0-26-15,16-8 16,1-18-1,-34-16-15</inkml:trace>
  <inkml:trace contextRef="#ctx0" brushRef="#br0" timeOffset="89976.61">12521 10996 0,'0'0'0,"0"0"0,0 0 16,-9 0-1,1 0 1,-1 17-16,-8 0 0,0 17 31,0 9-31,8 8 0,18 8 16,34-8-1,16-8 1,18-9 0,17-9-1,8-16-15,9-26 16,-34-17 0,-17-26-16,-9-16 15,-25 8 1,-26 8-16,-17 1 15,-26 8 1,-8 0-16,-9 8 16,9 18-1,0 8-15,8 8 16,-8 9 0,34 0-16</inkml:trace>
  <inkml:trace contextRef="#ctx0" brushRef="#br0" timeOffset="90352.4">13767 10937 0,'-9'8'0,"-42"35"0,-26 25 15,9 8 1,8-16-16,9-1 16,17-8-16,17-8 15,17-18 1,17 1 0,34-18-16,43-8 15,26-17 1,8-34-16,-9-25 15,-25-9 1,-34 0-16,-35 17 16,-25-9-16,-25 1 15,-9 16 1,-9 18-16,-34 25 16,26 17-1</inkml:trace>
  <inkml:trace contextRef="#ctx0" brushRef="#br0" timeOffset="90645.7">15090 10699 0,'0'0'0,"-9"8"16,-8 26-16,-25 34 16,-10 34-1,-7 26 1,-27-1-16,18-33 16,17-43-16,17-17 15,-1-9 1,18-16-16,0-1 15,9-8 1</inkml:trace>
  <inkml:trace contextRef="#ctx0" brushRef="#br0" timeOffset="90802.61">14125 10954 0,'0'0'0,"9"0"16,34 8-1,76 18 1,86-1-16,34-8 16,85-25-16</inkml:trace>
  <inkml:trace contextRef="#ctx0" brushRef="#br0" timeOffset="117431.56">8424 15691 0,'0'0'0,"9"8"16,8 1-16,25-1 15,18 1 1,17-1-16,42-8 16,43 0-1,1-8-15,24-9 16,52 0 0,-25-9-16,-18 9 15,9 0 1,-9 9-16,-17 8 15,-8 0 1,-17 0-16,-18 17 16,-16 0-1,-26 0-15,-17 8 16,-35-16 0,-16-1-16,-18-8 15,1 0 1,-26-8-1,-43-9-15,-59-26 16,-44 1-16,-24-9 16,-35 17-1,-17 8-15,0 18 16,-9 16 0,9 9-16,-8 9 15,33 8 1,18 8-16,34-8 15,51-17 1,26-8-16,25-1 16,26-8-1,17 0-15,8 0 16,9 0 0,34 17-1,94 9-15,145-18 16,77-25-1,34-17-15,35 9 0,76 8 16,59 17 0,-144 8-1</inkml:trace>
</inkml:ink>
</file>

<file path=ppt/ink/ink8.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4-08T23:08:02.787"/>
    </inkml:context>
    <inkml:brush xml:id="br0">
      <inkml:brushProperty name="width" value="0.05292" units="cm"/>
      <inkml:brushProperty name="height" value="0.05292" units="cm"/>
      <inkml:brushProperty name="color" value="#FF0000"/>
    </inkml:brush>
  </inkml:definitions>
  <inkml:trace contextRef="#ctx0" brushRef="#br0">21798 8879 0,'0'0'0,"0"0"0,0 0 0,26 8 0,-18-8 16,1 0-1,-9 0-15,0 9 16,-9 16-1,-25 26-15,-17 17 16,-17 17-16,-9 9 31,-25 8-31,-9 8 0,0-7 32,8-10-32,18-16 15,8-18-15,26-16 16,-9-18-16,34-16 15</inkml:trace>
  <inkml:trace contextRef="#ctx0" brushRef="#br0" timeOffset="591.98">20740 9789 0,'-9'0'0,"1"0"0,-18 0 15,1 0 1,-18 0-16,-25 25 16,-18 9-1,-33 34-15,-26 34 16,17 26 0,17 8-16,34 8 15,26-16 1,25 0-16,35-1 15,42-16 1,51-1-16,52-25 16,51-42-16,42-43 15,-25-34 1,0-34-16,-17-26 16,-51 1-1,-26-18-15,-35 9 16,-33 9-1,-43-18-15,-42-8 16,-61 0 0,-101-9-1,-87 26-15,-101 51 16,-26 17 0</inkml:trace>
  <inkml:trace contextRef="#ctx0" brushRef="#br0" timeOffset="29526.18">20168 10316 0,'0'0'0,"0"0"15,0 0 1,0 0-16,0 0 15,0 0 1,0 0-16,0 0 16</inkml:trace>
  <inkml:trace contextRef="#ctx0" brushRef="#br0" timeOffset="29703.77">20689 10316 0,'0'0'0,"0"0"0,0 0 16,0 0 0,0 0-1,0 0-15,0 0 0,0 0 32,0 0-32</inkml:trace>
  <inkml:trace contextRef="#ctx0" brushRef="#br0" timeOffset="30048.42">20527 10129 0,'0'0'0,"0"0"0,0 0 16,0 17-1,17 17-15,0 17 16,8 0 0,-8-9-16,-8 9 15,-1 0 1,-16 1-16,-1 7 15,1-8 1,-1-8-16,1-1 16,8-8-1,8-17-15</inkml:trace>
  <inkml:trace contextRef="#ctx0" brushRef="#br0" timeOffset="30454.14">20723 10656 0,'0'0'0,"0"0"0,-9 17 16,1 17-1,-1 0-15,9-8 16,0-1 0,0-8-16,0-8 15,0-1-15,0 1 16,0-9-1,17-9-15,17 1 16,1-1 0,-1-16-1,-17 16-15</inkml:trace>
  <inkml:trace contextRef="#ctx0" brushRef="#br0" timeOffset="31010.57">21252 10358 0,'0'0'0,"0"0"0,0 0 16,0 0-16,0 0 16,0 0-1,0 0 1,0 0-16,0 0 16,0 0-1,-9 17 1,1 0-16,-1 9 15,1 8 1,-1 9-16,1-1 16,8-16-1,0-1-15,0-16 16,0-1 0,8 1-16,-8-9 15,0 0 1,17 0-16,0 0 15,1 0-15,-1 8 16,0 9 0,0 17-1,-9 0 1,-16 9-16,-1-9 0,-8 8 16,-8-8-1,-18 0 1,-17-8-16,0-26 0,35 0 31</inkml:trace>
  <inkml:trace contextRef="#ctx0" brushRef="#br0" timeOffset="31229.16">21312 10367 0,'0'0'0,"8"0"16,26 17-1,26 17 1,17 0-16,17-8 16,-43-9-1</inkml:trace>
</inkml:ink>
</file>

<file path=ppt/ink/ink9.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4-08T23:09:40.991"/>
    </inkml:context>
    <inkml:brush xml:id="br0">
      <inkml:brushProperty name="width" value="0.05292" units="cm"/>
      <inkml:brushProperty name="height" value="0.05292" units="cm"/>
      <inkml:brushProperty name="color" value="#FF0000"/>
    </inkml:brush>
  </inkml:definitions>
  <inkml:trace contextRef="#ctx0" brushRef="#br0">25135 12731 0,'0'0'0,"0"0"16,0 0-16,0 0 0,-8 0 15,-1 0 1,-33 0 0,-52 17-1,-60 9-15,1 16 16,16 18-1,-25 16-15,8 1 16,1-1-16,-1 1 16,26-18-16,43-8 15,25-25 1,26-18 0,17 1-1,17-9-15,0-9 16,17-16-1,0-9-15,-9 17 16,1 0 0,-1 0-16,-8 17 15,0 0-15,0 0 16,-17 0 0,-8 0-1,-9 8-15,-1 1 16,-7 16-1,-1 18-15,9 25 16,25 9-16,43-1 16,95 18-1,84-9-15,103-60 16,59-33 0</inkml:trace>
</inkml:ink>
</file>

<file path=ppt/ink/ink10.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4-08T23:11:26.234"/>
    </inkml:context>
    <inkml:brush xml:id="br0">
      <inkml:brushProperty name="width" value="0.05292" units="cm"/>
      <inkml:brushProperty name="height" value="0.05292" units="cm"/>
      <inkml:brushProperty name="color" value="#FF0000"/>
    </inkml:brush>
  </inkml:definitions>
  <inkml:trace contextRef="#ctx0" brushRef="#br0">20168 6855 0,'0'0'0,"0"0"0,-8 0 16,-1 17-1,0 8-15,-16 35 16,-9 16 0,8 18-16,-8 42 15,-9 42 1,9 35-16,0 8 16,0 17-1,-9 17-15,-17 43 16,-8-17-1,-17-35-15,8-25 16,34-76 0,18-60-16,8-34 15,17-34 1,0-8-16,8-9 16</inkml:trace>
  <inkml:trace contextRef="#ctx0" brushRef="#br0" timeOffset="892.31">19750 6727 0,'0'0'0,"0"9"16,17 25-1,26 25-15,16 1 16,10-1 0,33 1-1,18-1-15,16-16 16,77-9-16,35 0 16,17-26-16,8 1 15,17-9 1,-17 0-16,-17-9 15,-8 9 1,-44 0-16,-24 0 16,-35 0-1,-34 0 1,-43 17-16,-25 0 16,-18 0-1,1 0 1,-9 17-16,-9 17 15,1 34 1,-26 26-16,-17 25 16,0 34-16,-1 9 15,10 8 1,8-9-16,17 1 0,0 17 31,17 16-15,17-16-16,0-18 15,9-33 1,-18-43-16,1-34 16,-17-17-16,-1-17 0,-8-8 15,0-1 1,0-16 0,0-1-1,0 1-15,-8-9 16,-27-9-16,-58-25 31,-87-17-31,-50 17 16,-103 17-1,-94 26-15,-51-1 16,-34-16-16,17-26 16,94-9-1</inkml:trace>
  <inkml:trace contextRef="#ctx0" brushRef="#br0" timeOffset="13234.05">22882 1072 0,'0'0'0,"0"0"0,0 0 16,0 0 0,0 0-1,-8 0-15,-9 17 16,-9 8-16,-8 9 16,0 17-1,17 17-15,0 26 31,17 8-31,0 17 16,0 8-16,17 9 16,0 1-1,17-10-15,-9-16 16,1-26-16,0-17 16,8-9-1,0-8 1,17-8-1,17-9-15,35 0 0,42-26 16,34-8 0,9-17-1,25-25-15,26-1 16,0-8 0,-8 0-16,-9 9 15,-9-1-15,-8 35 31,-9 8-31,-25 17 16,-35 8 0,-33 1-16,-35-9 15,-25-9-15,-18 1 16,1-18 0,8-25-16,17-34 15,1-34 1,-1-42-1,0-44-15,9-24 0,8-26 16,9 17 0,-17 59-1,-9 17 1,0 1-16,-17 33 16,-17 52-1,-8 16-15,-1 18 0,1 8 16,-1-9-1,-16 18 1,-9-1 0,-26 9-16,-17 9 15,-17-1-15,-16 18 16,-1 8-16,-26 0 31,26-34-31,-8 0 16,-77-26-1,-26 1-15,17 8 16,-8-17 0,-26 0-16,-17 25 15,-9-8 1,-16 17-16,-9 17 16,-9 17-1,-17 9-15,1 8 16,-104 42-16,52-8 0,103-25 31,17-18-15,59-8-16,17-17 15,18 0 1,59-17-16,34 0 16,18 0-1,7 0-15,10 0 16,8 0-1,0 0-15,26 0 16,42 0 0,26 9-16,25 16 0,1-8 31,-9 26-15,17 42-16,-17 26 15,-17 8-15,-9 51 16,-25 17-1,-18-9-15,-25 10 16,-8-44 0,-1-93-16</inkml:trace>
  <inkml:trace contextRef="#ctx0" brushRef="#br0" timeOffset="42456.37">20168 6753 0,'0'0'0,"0"-9"0,0-16 15,17-1-15,9 1 16,-1 7 15,-16 10-31,-1 8 16,-8 0-16,0 0 0,-8 0 15,-18 17 1,-16 17-16,-1 0 31,0 17-15,1 17-16,-1 9 16,0 8-1,1 17-15,-1 25 0,9-8 16,0 0-16,-1 9 15,10 17 1,-1 16 0,1-8-1,8 9-15,8 25 16,1-8-16,-1 8 31,0 8-31,-16 1 16,-9-1-1,-9-7-15,0-61 16,9-25 0,9-17-16,8-34 15,8-25-15,0-1 0,9-16 32,0-1-17,0 1-15,43 8 0,60-9 31,42-8-31,51-17 16,17-17 0,9 0-16,26-17 15,-1 0 1,1 9-16,25-1 16,9 18-1,25-1-15,-17 9 16,-34 0-1,-26 17-15,-42 9 16,-60-9 0,-51 0-16,-26 0 15,-25 0 1,0 0-16,-18 0 16,1 0-1,-1-9-15,9-8 16,0-42-1,0-52-15,0-42 16,-8-9 0,-9 1-16,0-26 15,0 8 1,-9 26-16,9-34 16,0 0-1,0 34-15,17-17 16,-8 17-1,0 42-15,-1 26 16,-8 25 0,9 18-16,-9 8 15,8 17-15,-8 0 16,0 8 0,0 9-1,0 0-15,-8-8 16,-1 8-1,-8 0-15,-43 8 16,-85 1 0,-51-1-16,-35-8 15,-76-25-15,-60-1 16,-34-25 0,0 0-1,-94 0-15,-43 17 16,-17 26-1,137 16-15</inkml:trace>
  <inkml:trace contextRef="#ctx0" brushRef="#br0" timeOffset="46969.27">23420 612 0,'0'0'0,"0"0"16,17 17-16,0 51 15,17 68 1,-17 35 0,-25-1-16,-18-17 15,-17 8-15,1-33 16,8-35-1,17-16-15,25 8 16,18 0 0,25-8-16,0 8 15,26-9 1,17-8 0,34-17-16,60-8 15,16-26 1,35-9-16,26-16 15,-26-1 1,-17 9-16,-34 0 16,-9 9-16,0 16 15,-59 1 1,-44-9-16,-41-9 16,-10 1-1,-16-1-15,-1-8 16,1-8-1,16-52-15,18-93 16,25-85 0,9-26-1,8 9-15,-8 9 16,-8 42-16,-10-9 16,-16 26-1,-9 68-15,-17 25 16,-8 43-1,-1 26 1,-8 16-16,0 9 16,-8 0-1,-35 0-15,-34 0 16,-51 17-16,-25 9 16,-18-1-1,-60-8-15,-67 9 16,-44 8-1,-59 0 1,-94 8-16,-358 60 0,281-51 31</inkml:trace>
  <inkml:trace contextRef="#ctx0" brushRef="#br0" timeOffset="53480.8">21525 8887 0,'0'0'0,"0"0"16,0 9-16,0 16 15,9 18 1,-1 16-16,9 35 16,0 8-1,0-9-15,26 26 16,25 1-1,1-18-15,7 8 16,27 1 0,8-9-16,8-17 15,1-9 1,16-8-16,1 0 16,17-8-1,8-18-15,0-8 16,-8-8-1,8-18-15,8-8 16,-16-17 0,8-25-1,-34-1-15,-34 1 16,9-26-16,-10-34 16,10-34-1,-9-9-15,-9-25 16,0-26-1,-8-16 1,0-26-16,-17-9 0,-9-8 16,-17 8-1,-8-33 1,-1-9 0,1-1-16,-9-7 15,9 8 1,-9-9-16,8 9 15,1-17-15,-9 8 16,0-8 0,-8 8-1,-1 9-15,-8 0 16,0-17 0,9 25-16,-1 17 15,1 9-15,-1 43 16,1-1-1,-1 26 1,9 25-16,-8 9 16,-9 26-16,0 33 15,0 18-15,0 33 16,0 9 0,0 17-1,0 0-15,0 17 16,-9 0-1,-25 34 1,-51 77-16,-18 42 16,18 34-1,8 25-15,26-33 0,8-51 32,9-9-32,17-17 15,0-34 1,9-26-16,8-16 15,0-9 1,0-9-16,0 1 16,0-18-1,8-25-15,18-59 16,16-69 0,1-25-16,-9 0 15,-8 34 1,17-9-16,-1 18 15,1 33 1,0 18-16,-1 25 16,-16 8-1,-1 18-15,-8 16 16,26 9 0,8 17-16,35 25 15,33 27 1,1 16-16,-18 17 15,1 25 1,-35-8-16,-8-8 16,16 25-1,78 136-15</inkml:trace>
</inkml:ink>
</file>

<file path=ppt/ink/ink11.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4-08T23:12:52.852"/>
    </inkml:context>
    <inkml:brush xml:id="br0">
      <inkml:brushProperty name="width" value="0.05292" units="cm"/>
      <inkml:brushProperty name="height" value="0.05292" units="cm"/>
      <inkml:brushProperty name="color" value="#FF0000"/>
    </inkml:brush>
  </inkml:definitions>
  <inkml:trace contextRef="#ctx0" brushRef="#br0">23454 1471 0,'0'0'0,"0"9"15,17 16 1,0 18-16,0 25 16,-8 25-16,-1 18 15,-16 8 1,-43 34 0,-18-8-16,18-26 15,17-9 1,0-25-16,17-17 15,17-8 1,0-18-16,51-8 16,51-17-1,52-17-15,93-25 16,18-9 0,8 0-16,0 17 15,-17 0 1,0 8-16,-17 9 15,-17 17-15,0 0 16,-34 0 0,-43 9-1,-51-9 1,-34-9-16,-26 1 16,-9-1-1,-16-16-15,0-18 16,-1-59-1,-8-110-15,-8-69 16,-1 1 0,0 24-16,1 35 15,-1-110 1</inkml:trace>
  <inkml:trace contextRef="#ctx0" brushRef="#br0" timeOffset="35399.55">24760 1709 0,'0'0'0,"0"0"0,0 0 0,68 26 0,-42-9 15,-1 8 1,1 9-16,-17 17 16,-18 26-1,-17 34-15,-16 25 16,-18 0 0,-17-9-16,-34 35 15,-25 8 1,-1-34-16,-42 0 15,-17 0 1,-9-25-16,-9-26 16,18-9-1,8-16-15,0-1 16,9-8 0,34-17-16,17-25 15,0-1 1,9 1-16,8-1 15,17-16 1,34-1-16,17-8 16,9-8-1,9-9-15,8-9 16,17 1 0,8-1-16,1 1 15,-1 25 1,1 0-16,-1 0 15,-8 17 1,-17 8-16,-26 18 16,-25 33-1,-26 26-15,9 0 16,17-25-16,25-9 16,17-9-1,9-16 1,17 0-16,26-1 15,51 1 1,68-1-16,51-16 16,-34-9-16,-25-9 15,-9 9 1,-17 0-16,-17 9 16,-52-9-1</inkml:trace>
  <inkml:trace contextRef="#ctx0" brushRef="#br0" timeOffset="35986.18">23975 2611 0,'0'0'0,"0"0"16,0 0-1,0 0-15,0 0 16,0 0 0,0 0-1,0 0 1,17-9-16,8-8 16,18-17-16,8-34 15,9-17 1,25-8-16,1-18 15,8 9 1,17 0-16,-1 26 16,1 16-16,-17 17 15,-34 18 1,-9 16 0,0 18-1,9 25-15,0 51 16,0 51-1,-26 26-15,-17 16 16,0-16-16,9 118 16</inkml:trace>
</inkml:ink>
</file>

<file path=ppt/ink/ink12.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4-08T23:14:19.646"/>
    </inkml:context>
    <inkml:brush xml:id="br0">
      <inkml:brushProperty name="width" value="0.05292" units="cm"/>
      <inkml:brushProperty name="height" value="0.05292" units="cm"/>
      <inkml:brushProperty name="color" value="#FF0000"/>
    </inkml:brush>
  </inkml:definitions>
  <inkml:trace contextRef="#ctx0" brushRef="#br0">20586 10750 0,'0'0'0,"-8"-9"16,-1 1 0,1 8-16,8 0 15,0 0 1,0 0-16,0 0 15,-9 0 1,1 0-16,-18 17 16,-8 8-1,-51 43-15,-18 26 16,-8 16 0,-34 9-16,-9 0 15,26-8 1,52-17-16,-1-18 15,-9 1 1,27-26-16,16-17 16,26-17-1,8-9-15,9-16 16,17-26 0,18-26-16,7 1 15,1-9 1,-17 17-16,-18 17 15,1 16 1,-1 1-16,-8 17 16,0 0-1,-8 0-15,-1 0 16,-8 9-16,0-1 16,0 1-1,0 0-15,8-1 16,9 1-1,0-9 1,9 0-16,85 17 16,102-9-1,60-8-15,17 0 16,-94 0-16,-136 0 16</inkml:trace>
</inkml:ink>
</file>

<file path=ppt/ink/ink13.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4-08T23:15:16.430"/>
    </inkml:context>
    <inkml:brush xml:id="br0">
      <inkml:brushProperty name="width" value="0.05292" units="cm"/>
      <inkml:brushProperty name="height" value="0.05292" units="cm"/>
      <inkml:brushProperty name="color" value="#FF0000"/>
    </inkml:brush>
  </inkml:definitions>
  <inkml:trace contextRef="#ctx0" brushRef="#br0">3149 7101 0,'0'0'0,"0"0"0,0 0 31,0 17-31,0 9 16,0 16-16,9 18 15,-9 8-15,0 8 16,0-8 0,-9-34-16,1 0 15,8-8 17,0-1-32,0-8 15,0 0 1,0-8-16,0 0 15,17-1 1,0 9-16,9-8 16,-1-1-1,1 1-15,-9-1 0,26 1 16,25-1 0,0-8-1,0 9-15,26-1 16,-8 1-1,-10-1 1,27 1-16,25 8 16,17 0-1,-17 8-15,9-8 16,50 0 0,-25-8-16,-16-9 15,58 8 1,-41-16-16,7-9 15,69 8 1,-68-8-16,0 9 16,59 8-1,-59-9-15,8 1 16,34-1 0,-59 1-16,-17 8 15,33-9 1,-33 9-16,-1-8 15,1-1 1,-9 9-16,-17 0 16,-9-8-1,-25-1-15,-17 1 16,0-1-16,-18 1 16,1-1-1,0-8-15,-9-8 16,0-18-1,17-25 1,-17 25-16</inkml:trace>
  <inkml:trace contextRef="#ctx0" brushRef="#br0" timeOffset="15602.49">3192 10350 0,'0'0'16,"0"0"-16,0 0 15,0 8-15,0 1 16,0-1-1,0 9-15,-8 0 16,-1 26 0,0 8-16,-8 9 15,0-1 1,0 9-16,9 9 16,-1-9-1,9 0-15,0 0 16,9-9-1,-1-8-15,1-8 16,8-9 0,8 0-16,18 0 15,17-9 1,17-8-16,0 0 16,16-8-1,27-18-15,34-8 16,8-8-1,17-9-15,26-9 16,25 1 0,26-9-16,0 8 15,9 18 1,25 8-16,26 0 16,-17 17-1,-9 17-15,17-9 16,-17 9-1,9-8-15,-17-18 16,-9 1 0,-9 8-1,-42 0-15,9-9 16,-44 1-16,-33 8 16,-9-9-1,-25 9-15,-35-8 16,-25-1-1,-18 1-15,1-1 16,-17-8 0,8-17-1,-9-8-15,1-18 16,-17 1 0,-1-9-16,1-34 15,-1 42 1</inkml:trace>
  <inkml:trace contextRef="#ctx0" brushRef="#br0" timeOffset="32277.89">3440 14781 0,'0'0'0,"0"0"15,0 17 1,0 34-16,-9 25 16,-25 35-1,-9 25 1,9 17-16,0-17 16,17-34-1,0 0-15,0 9 16,8 8-1,1-17-15,8-34 0,0 0 16,8 0 15,9-8-31,9-9 16,17-9-16,8-8 16,34-25-1,35-9-15,25-26 0,34-16 31,26-1-15,8 9-16,1 0 16,7-9-1,18 1-15,0 8 16,-17 17-16,0 8 16,-17 9-1,-17 9 1,34-1-16,-17 1 15,-26-18-15,17-16 16,-34-9 0,-17 8-16,-8 1 15,-26 8 1,-26 0-16,-25 0 16,8-9-1,18-8-15,-10-8 16,-24 8-1,-10-9-15,1-25 16,0-17 0,-9-25-1,-9-9-15,1 25 16,0 0 0,-9 9-16,0 0 15,-9 17 1,1 17-16,-9 0 0,0 9 15,0-1 1,0 1 0,8-9-1,-8 8-15,0 9 16,0 17 0,0 0-16,0 0 15,-8 9-15,-9-9 16,-34 0-1,-35-9-15,-33 1 16,-35 8 0,9 8-1,-43 1-15,-8-1 16,0 1 0,-35-1-16,-25-16 15,-34-1 1,-34-16-16,-1-10 15,-8 10 1,-51-1-16,9 1 16</inkml:trace>
</inkml:ink>
</file>

<file path=ppt/ink/ink14.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4-08T23:18:17.325"/>
    </inkml:context>
    <inkml:brush xml:id="br0">
      <inkml:brushProperty name="width" value="0.05292" units="cm"/>
      <inkml:brushProperty name="height" value="0.05292" units="cm"/>
      <inkml:brushProperty name="color" value="#FF0000"/>
    </inkml:brush>
  </inkml:definitions>
  <inkml:trace contextRef="#ctx0" brushRef="#br0">8066 9270 0,'0'0'0,"-18"8"0,-24 43 16,-26 68 0,-26 43-16,17 42 15,9 9 1,25-69-16,26-50 15,17-9 1,8-34-16,1-34 0,-9-17 31</inkml:trace>
  <inkml:trace contextRef="#ctx0" brushRef="#br0" timeOffset="15035.49">9371 10205 0,'0'0'0,"0"0"15,0 0-15,0 17 16,0 0-1,-8 9-15,-1-1 16,1 9 0,-1 9-16,-8 8 15,0 9 1,0 8-16,0 0 16,0-9-16,0-16 15,0-1 1,17-8-1,0-8-15,17-1 16,8 1-16,44-18 16,8-16-1,8-1 1,9-8-16,-35 0 16</inkml:trace>
  <inkml:trace contextRef="#ctx0" brushRef="#br0" timeOffset="15374.31">9431 9695 0,'0'9'0,"-8"25"15,-18 34-15,9-9 32,8-8-17,9-25-15</inkml:trace>
  <inkml:trace contextRef="#ctx0" brushRef="#br0" timeOffset="16228.88">8791 11200 0,'0'0'0,"0"0"16,0 0 0,0 0-16,17 0 15,0 0 1,17 0-16,17-8 15,9-1 1,9-16-16,33-9 16,17 0-16,-8 0 15,-8 17 1,16 0 0,18 17-16,-1 0 15,-25 0 1,0-9-16,-17 1 15,-26-9 1,-42 0-16</inkml:trace>
  <inkml:trace contextRef="#ctx0" brushRef="#br0" timeOffset="17146.27">9149 11379 0,'0'0'0,"0"0"15,0 0 1,0 0-16,0 0 16,0 0-1,18 0 1,7-9-16,9 1 16,0 8-1,1 0-15,-10 0 16,1 8-16,-1 9 15,1 17 1,0 9-16,-9 34 16,-9 8-1,-16-9 1,-18 1-16,-17-1 16,1-8-16,-10-8 15,1-18 1,17-16-1,0-18-15,0 1 16,17-18 0,0 1-16,8-1 15,9-8-15,0 0 16,9 9 0,8-1-1,17-8-15,17 0 16,17 17-16,18 17 15,8 0-15,17 17 16,-9-8 0,-17-18-1,1-16 1,-44-1-16</inkml:trace>
  <inkml:trace contextRef="#ctx0" brushRef="#br0" timeOffset="18016.99">8629 9891 0,'0'0'0,"0"0"15,0 0 1,0 0-16,0 17 16,0 8-1,0 35-15,0 25 16,-9 25-1,1-8-15,-1 0 16,-16 9-16,-10 25 16,-7 9-1,-1 16 1,9 9-16,8-17 16,9-8-16,9-17 15,8-26 1,0-26-1,0-16-15,-9-9 16,9-9 0,0 1-16,0-9 15,0-9-15,0-8 16,0-8 0,0-1-1,0-8-15,0 0 16,0 0-1,17 9-15,17-9 16,9-9-16,17 1 16,8-1-1,-34 9-15</inkml:trace>
  <inkml:trace contextRef="#ctx0" brushRef="#br0" timeOffset="18692.39">11112 9874 0,'0'0'0,"0"0"0,0 25 15,-8 43 1,-1 34-16,-8 34 16,17 26-1,0-9 1,0 9-16,9 16 15,-9-16-15,-9 8 16,1 0 0,-1-17-16,1-17 15,-1-17 1,-8-8-16,17-26 16,0-34-1,0-9 1,-8-16-16,-1-9 15,-8 0-15,-17 0 16,0 8 0,-9-8-16,-17 9 15,-8-1 1,0-8 0,-52-8-16,1-1 15,33-8 1,44 0-16</inkml:trace>
  <inkml:trace contextRef="#ctx0" brushRef="#br0" timeOffset="33774.26">30470 7101 0,'0'0'0,"-9"0"16,-25 0-16,-9 17 0,-16 0 15,-1 0 1,0 0-16,9 0 31,0 0-15,0 0-16,8 0 16,-25 17-1,-9 17-15,-17 9 0,9 8 31,-26 34-31,0 9 16,34-9 0,34-9-16,26-8 15,34 0 1,43 0-16,68-17 16,26-25-16,25-18 15,9-25 1,-26-25-1,-26-35-15,-33-16 16,-18-18 0,-25-42-16,-43-8 15,-51-1 1,-77-136-16</inkml:trace>
  <inkml:trace contextRef="#ctx0" brushRef="#br0" timeOffset="34810.26">29889 8334 0,'0'0'0,"0"0"0,0 0 31,0 0-31,0 0 16,0 0-1,0 0-15,0 0 0,0 0 31,0 17-31,0 0 16,-8 17 0,-1 26-16,-16 16 15,-9 18-15,-9-9 16,0-8 0,-17 8-16,-8-9 15,-17-8 1,-18 9-1,-8-1-15,9-25 16,25-8 0,0-18-16,18-8 15,16-8 1,9-18-16,8-8 16,1-25-16,8-26 15,0 0 1,-1 0-1,1 8-15,9 26 16,8 17 0,0 0-16,0 17 0,0 0 31,-9 9-31,-16 16 16,-1 35-1,-17 25-15,-8 17 16,17-9-16,0-16 15,17-18-15,17-8 16,0-8 0,25-9-16,35 9 31,60-9-31,67-9 16,155 1-16</inkml:trace>
  <inkml:trace contextRef="#ctx0" brushRef="#br0" timeOffset="36370.67">19810 7110 0,'0'0'0,"-9"0"16,1 17-16,-27 8 16,-7 18-1,-18 8-15,0 17 16,0 25 0,-8 18-16,17 0 15,8-9 1,18 8-16,25 9 15,42-17 1,44-8-16,50-18 16,35-50-1,25-35-15,9-42 16,-9-34 0,1-25-16,-44-1 15,-50-8 1,-35 9-16,-42 16 15,-69-17 1,0 52 0</inkml:trace>
  <inkml:trace contextRef="#ctx0" brushRef="#br0" timeOffset="37346.32">19912 8300 0,'0'0'0,"0"0"15,0 9 1,-9 8 0,1 17-16,-1 17 15,-16 17 1,-1 17-1,1 17-15,-27 0 0,-24 0 32,-1-8-32,8 8 15,1-9-15,0-8 16,-17-25 0,-26-1-16,0-25 15,17-17-15,0-8 31,-9-18-31,-16-8 0,17 0 32,25 9-32,8-18 15,1 1 1,17-9-16,8 0 16,-8-9-1,8 9-15,18-17 16,16-17-16,26 26 15,9 16-15,0 9 16,-9 9-16,-9 8 16,1 0 15,-1 0-31,-8 0 16,9 17-1,-18 34-15,-8 34 16,-8 17-16,-1-9 0,9-8 15,0-17 17,17-17-32,0-16 15,0-10 1,0 1-16,17-1 16,26 9-16,25 9 0,17-9 31,-42-9-16</inkml:trace>
  <inkml:trace contextRef="#ctx0" brushRef="#br0" timeOffset="40693.26">16720 9329 0,'0'0'0,"0"0"0,-9 0 16,1 17-16,-18 26 15,-16 25 1,-1 26 0,0 16-16,9 18 15,34 8 1,34-17-16,52-26 16,59-33-1,25-35-15,35-42 16,17-42-16,-8-43 15,-61-17 1,-33 0 0,-35-34-16,-42-1 15,-43 27 1,-43 8-16,-51 25 16,-51 35-1,-34 67-15,-120 69 16</inkml:trace>
  <inkml:trace contextRef="#ctx0" brushRef="#br0" timeOffset="41419.46">17155 10231 0,'0'0'0,"0"0"0,0 0 16,0 0-1,17 8-15,0 18 16,9 8-16,0 25 15,-1 9 1,-16 9 0,-1 34-16,-16 8 15,-26 17 1,-26 17-16,-43 17 16,-33 8-1,8-33-15,8-26 16,9-34-1,-8-8-15,25-26 16,34-26-16,26-8 16,9-8-1,-1-1 1,9-16-16,0-1 16,8-8-1,1-8-15,-1-1 16,9 9-16,0 0 15,0 0-15,0 17 16,-8 0 0,-1 17-1,-16 26 1,-18 33-16,-17 26 0,9-8 31,8-35-15,18-25-16,16-8 15,9-9 1,17-9-16,51-16 0,78-26 16,50 0-16,26 8 15,111 1 1</inkml:trace>
  <inkml:trace contextRef="#ctx0" brushRef="#br0" timeOffset="43936.06">10088 12459 0,'0'0'0,"0"0"16,0 0 0,0 0-16,0 0 15,0 0-15,0 0 16,17 0-1,0 0 1,1 0 0,7 17-16,1 0 15,-9 17 1,0 9-16,-9 33 0,-16 26 16,-18 0-1,-25 0 1,-26 9-16,-17-18 15,18-33 1,7-26-16,18-17 16,17-17-1,0-9 1,8-16-16,9 8 16,17-9-16,0 9 15,9 0-15,-1 17 16,18 0-1,16 0-15,27 17 32,8 0-32,8 17 15,-8-8 1,0-9-16,8 0 16,-25-9-1,-35-8-15</inkml:trace>
  <inkml:trace contextRef="#ctx0" brushRef="#br0" timeOffset="44283.33">11095 12697 0,'0'0'0,"0"0"16,-8 9 0,-1 25-16,1 17 15,-26 25 1,-26 18-16,9-1 16,0-8-1,16-8-15,18-1 16,9-16-1,16 0-15,35-18 16,17-8-16,25-25 16,17-9-1,18-17-15,-60 0 16</inkml:trace>
  <inkml:trace contextRef="#ctx0" brushRef="#br0" timeOffset="44461.47">11275 12212 0,'0'0'0,"0"0"0,0 9 16,8 33-1,1-8-15</inkml:trace>
  <inkml:trace contextRef="#ctx0" brushRef="#br0" timeOffset="51578.72">10524 13743 0,'0'0'0,"0"0"16,0 0 0,8 0-16,9 9 31,0 8-31,17 0 15,9 17-15,8 8 16,-8 9 0,0 0-16,-9 9 15,-9 25 1,-16 42-16,-26 1 16,-17-9-1,-18 0 1,-16-17-16,0-25 15,8-35 1,9-25-16,0-17 16,17-25-16,-1-18 15,18 9 1,17-8 0,9-9-16,8 0 0,9 25 15,-1 9-15,9 17 16,1 9 15,7 16-31,9 18 16,1 16-16,16 18 15,0-1 1,-8-16-16,0-18 16,8-16-1,-34-9 1</inkml:trace>
  <inkml:trace contextRef="#ctx0" brushRef="#br0" timeOffset="51942.45">11906 14245 0,'0'0'0,"0"0"0,-8 0 16,-1 17-1,-8 9-15,-17 16 16,-9 9-16,-16 26 16,-10-1-1,10-8-15,16-17 16,26 0-1,17 9-15,17-1 16,17-16 0,9-18-1,33-16-15,27-35 16,-18-33-16,-42 25 16</inkml:trace>
  <inkml:trace contextRef="#ctx0" brushRef="#br0" timeOffset="52127.46">12248 13395 0,'0'0'0,"0"0"16,-9 25-16,1 26 31,8 9-31,0-18 16,0-25-1</inkml:trace>
  <inkml:trace contextRef="#ctx0" brushRef="#br0" timeOffset="52459.75">13391 14253 0,'0'0'0,"-8"9"0,-9 42 16,-17 17-1,-1 0 1,-7 9 0,-9 8-16,8-17 15,9-17 1,0-9-16,25-25 15</inkml:trace>
  <inkml:trace contextRef="#ctx0" brushRef="#br0" timeOffset="52703.25">12777 14305 0,'0'0'0,"0"0"15,8 8 1,18 35-16,42 33 16,35 1-1,25-1 1,0-25-16,0-8 16,8-26-16,9-34 15,9-9 1,128-16-1</inkml:trace>
  <inkml:trace contextRef="#ctx0" brushRef="#br0" timeOffset="52945.66">14569 14245 0,'-8'25'0,"-27"129"0,1 58 16,51-25 0,43 119-1</inkml:trace>
  <inkml:trace contextRef="#ctx0" brushRef="#br0" timeOffset="56492.88">10216 15971 0,'0'0'0,"0"0"0,0 0 15,0 0 1,0 0 0,0 0-16,0 0 15,0 0 1,-8 17-1,-1 9-15,1 25 0,-18 34 16,1 9 0,7 8-16,1 0 15,0-26 1,17-16 0,0-18-16,0-16 15,0-1 1,17-16-1,0-1-15,43-25 16,51-8-16,0-9 16,-8 8-16,25-16 15,34-1 1,8 9-16,-25 0 16,60-8-1,26 8 1,25-9-1,17 9-15,9 9 16,-9 16 0,8 26-16,1 9 0,-17 8 15,-1 8-15,-8 9 16,-8-8 0,-43-18-1,-9 1 1,-25-18-16,-1 1 15,1-9 1,-34 8 0,-35-8-16,-34 0 15,-17 0 1,-25 0-16,-9 0 16,-8 0-16,-1 0 0,-8-8 31,-8-18-16,-18-25-15,0-42 16,-42-60 0,-68-137-16</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70D1F59-0C63-44D8-BE72-2266A9516CA1}" type="datetimeFigureOut">
              <a:rPr lang="en-US" smtClean="0"/>
              <a:t>4/8/2026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29C3430-04EA-4E2B-840E-2DAFF95C6F71}" type="slidenum">
              <a:rPr lang="en-US" smtClean="0"/>
              <a:t>‹#›</a:t>
            </a:fld>
            <a:endParaRPr lang="en-US"/>
          </a:p>
        </p:txBody>
      </p:sp>
    </p:spTree>
    <p:extLst>
      <p:ext uri="{BB962C8B-B14F-4D97-AF65-F5344CB8AC3E}">
        <p14:creationId xmlns:p14="http://schemas.microsoft.com/office/powerpoint/2010/main" val="221223169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441DCF-5FA9-3BBE-A6DC-4C4767E77E2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57D8AAD4-9F4E-2546-4A20-345BE6926F6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7EB68BC9-B242-D863-6297-36224D351B7D}"/>
              </a:ext>
            </a:extLst>
          </p:cNvPr>
          <p:cNvSpPr>
            <a:spLocks noGrp="1"/>
          </p:cNvSpPr>
          <p:nvPr>
            <p:ph type="dt" sz="half" idx="10"/>
          </p:nvPr>
        </p:nvSpPr>
        <p:spPr/>
        <p:txBody>
          <a:bodyPr/>
          <a:lstStyle/>
          <a:p>
            <a:fld id="{2DB93FBE-67AC-4C5C-B62E-CFFDEAF9BE53}" type="datetimeFigureOut">
              <a:rPr lang="en-US" smtClean="0"/>
              <a:t>4/8/2026</a:t>
            </a:fld>
            <a:endParaRPr lang="en-US"/>
          </a:p>
        </p:txBody>
      </p:sp>
      <p:sp>
        <p:nvSpPr>
          <p:cNvPr id="5" name="Footer Placeholder 4">
            <a:extLst>
              <a:ext uri="{FF2B5EF4-FFF2-40B4-BE49-F238E27FC236}">
                <a16:creationId xmlns:a16="http://schemas.microsoft.com/office/drawing/2014/main" id="{7B6D43E7-A090-881E-D908-BB9CC53DDD4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E2DFBC9-B9F9-85A6-26A1-9D7E515D0331}"/>
              </a:ext>
            </a:extLst>
          </p:cNvPr>
          <p:cNvSpPr>
            <a:spLocks noGrp="1"/>
          </p:cNvSpPr>
          <p:nvPr>
            <p:ph type="sldNum" sz="quarter" idx="12"/>
          </p:nvPr>
        </p:nvSpPr>
        <p:spPr/>
        <p:txBody>
          <a:bodyPr/>
          <a:lstStyle/>
          <a:p>
            <a:fld id="{A94D5A7D-FFFE-410B-BEE5-702232F4B148}" type="slidenum">
              <a:rPr lang="en-US" smtClean="0"/>
              <a:t>‹#›</a:t>
            </a:fld>
            <a:endParaRPr lang="en-US"/>
          </a:p>
        </p:txBody>
      </p:sp>
    </p:spTree>
    <p:extLst>
      <p:ext uri="{BB962C8B-B14F-4D97-AF65-F5344CB8AC3E}">
        <p14:creationId xmlns:p14="http://schemas.microsoft.com/office/powerpoint/2010/main" val="135430954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8BB011-50E5-247E-0EB3-D47C59C4FF2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BA71371-A022-A3A5-E49C-D2CCEC4E252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28F92F8-B436-FF4B-567C-6CF9F3F68596}"/>
              </a:ext>
            </a:extLst>
          </p:cNvPr>
          <p:cNvSpPr>
            <a:spLocks noGrp="1"/>
          </p:cNvSpPr>
          <p:nvPr>
            <p:ph type="dt" sz="half" idx="10"/>
          </p:nvPr>
        </p:nvSpPr>
        <p:spPr/>
        <p:txBody>
          <a:bodyPr/>
          <a:lstStyle/>
          <a:p>
            <a:fld id="{2DB93FBE-67AC-4C5C-B62E-CFFDEAF9BE53}" type="datetimeFigureOut">
              <a:rPr lang="en-US" smtClean="0"/>
              <a:t>4/8/2026</a:t>
            </a:fld>
            <a:endParaRPr lang="en-US"/>
          </a:p>
        </p:txBody>
      </p:sp>
      <p:sp>
        <p:nvSpPr>
          <p:cNvPr id="5" name="Footer Placeholder 4">
            <a:extLst>
              <a:ext uri="{FF2B5EF4-FFF2-40B4-BE49-F238E27FC236}">
                <a16:creationId xmlns:a16="http://schemas.microsoft.com/office/drawing/2014/main" id="{09C755B9-83BE-E117-954F-A47925F5BF5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7E45716-8D01-8E2F-8276-3A903E607C10}"/>
              </a:ext>
            </a:extLst>
          </p:cNvPr>
          <p:cNvSpPr>
            <a:spLocks noGrp="1"/>
          </p:cNvSpPr>
          <p:nvPr>
            <p:ph type="sldNum" sz="quarter" idx="12"/>
          </p:nvPr>
        </p:nvSpPr>
        <p:spPr/>
        <p:txBody>
          <a:bodyPr/>
          <a:lstStyle/>
          <a:p>
            <a:fld id="{A94D5A7D-FFFE-410B-BEE5-702232F4B148}" type="slidenum">
              <a:rPr lang="en-US" smtClean="0"/>
              <a:t>‹#›</a:t>
            </a:fld>
            <a:endParaRPr lang="en-US"/>
          </a:p>
        </p:txBody>
      </p:sp>
    </p:spTree>
    <p:extLst>
      <p:ext uri="{BB962C8B-B14F-4D97-AF65-F5344CB8AC3E}">
        <p14:creationId xmlns:p14="http://schemas.microsoft.com/office/powerpoint/2010/main" val="133167834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0264CF-1BBA-680C-4F96-017144A15A2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5089E9BE-1B28-C587-A2C5-253ECF74E1D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33E3E68-CE19-CACB-1EDD-351F4F9C9466}"/>
              </a:ext>
            </a:extLst>
          </p:cNvPr>
          <p:cNvSpPr>
            <a:spLocks noGrp="1"/>
          </p:cNvSpPr>
          <p:nvPr>
            <p:ph type="dt" sz="half" idx="10"/>
          </p:nvPr>
        </p:nvSpPr>
        <p:spPr/>
        <p:txBody>
          <a:bodyPr/>
          <a:lstStyle/>
          <a:p>
            <a:fld id="{2DB93FBE-67AC-4C5C-B62E-CFFDEAF9BE53}" type="datetimeFigureOut">
              <a:rPr lang="en-US" smtClean="0"/>
              <a:t>4/8/2026</a:t>
            </a:fld>
            <a:endParaRPr lang="en-US"/>
          </a:p>
        </p:txBody>
      </p:sp>
      <p:sp>
        <p:nvSpPr>
          <p:cNvPr id="5" name="Footer Placeholder 4">
            <a:extLst>
              <a:ext uri="{FF2B5EF4-FFF2-40B4-BE49-F238E27FC236}">
                <a16:creationId xmlns:a16="http://schemas.microsoft.com/office/drawing/2014/main" id="{5DE49855-AB14-5CF9-EE88-AB42D1DF4D8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7DE2C96-8A85-4C99-39A1-9B9DB31D7A55}"/>
              </a:ext>
            </a:extLst>
          </p:cNvPr>
          <p:cNvSpPr>
            <a:spLocks noGrp="1"/>
          </p:cNvSpPr>
          <p:nvPr>
            <p:ph type="sldNum" sz="quarter" idx="12"/>
          </p:nvPr>
        </p:nvSpPr>
        <p:spPr/>
        <p:txBody>
          <a:bodyPr/>
          <a:lstStyle/>
          <a:p>
            <a:fld id="{A94D5A7D-FFFE-410B-BEE5-702232F4B148}" type="slidenum">
              <a:rPr lang="en-US" smtClean="0"/>
              <a:t>‹#›</a:t>
            </a:fld>
            <a:endParaRPr lang="en-US"/>
          </a:p>
        </p:txBody>
      </p:sp>
    </p:spTree>
    <p:extLst>
      <p:ext uri="{BB962C8B-B14F-4D97-AF65-F5344CB8AC3E}">
        <p14:creationId xmlns:p14="http://schemas.microsoft.com/office/powerpoint/2010/main" val="217726400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E89EEC-003E-DFFB-2D04-A2E70FE13DC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7BFE0F4-58A0-D6D9-6AAC-CD97965C20C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877E4C68-9C36-2696-B323-CF0642D6DBE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349713B3-5A96-0F1A-CFE7-8563FD24B87E}"/>
              </a:ext>
            </a:extLst>
          </p:cNvPr>
          <p:cNvSpPr>
            <a:spLocks noGrp="1"/>
          </p:cNvSpPr>
          <p:nvPr>
            <p:ph type="dt" sz="half" idx="10"/>
          </p:nvPr>
        </p:nvSpPr>
        <p:spPr/>
        <p:txBody>
          <a:bodyPr/>
          <a:lstStyle/>
          <a:p>
            <a:fld id="{2DB93FBE-67AC-4C5C-B62E-CFFDEAF9BE53}" type="datetimeFigureOut">
              <a:rPr lang="en-US" smtClean="0"/>
              <a:t>4/8/2026</a:t>
            </a:fld>
            <a:endParaRPr lang="en-US"/>
          </a:p>
        </p:txBody>
      </p:sp>
      <p:sp>
        <p:nvSpPr>
          <p:cNvPr id="6" name="Footer Placeholder 5">
            <a:extLst>
              <a:ext uri="{FF2B5EF4-FFF2-40B4-BE49-F238E27FC236}">
                <a16:creationId xmlns:a16="http://schemas.microsoft.com/office/drawing/2014/main" id="{818D724B-C264-2548-CAFF-305FE7D37BD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B193A13-EBDF-17F2-DF34-5BA3D79328AA}"/>
              </a:ext>
            </a:extLst>
          </p:cNvPr>
          <p:cNvSpPr>
            <a:spLocks noGrp="1"/>
          </p:cNvSpPr>
          <p:nvPr>
            <p:ph type="sldNum" sz="quarter" idx="12"/>
          </p:nvPr>
        </p:nvSpPr>
        <p:spPr/>
        <p:txBody>
          <a:bodyPr/>
          <a:lstStyle/>
          <a:p>
            <a:fld id="{A94D5A7D-FFFE-410B-BEE5-702232F4B148}" type="slidenum">
              <a:rPr lang="en-US" smtClean="0"/>
              <a:t>‹#›</a:t>
            </a:fld>
            <a:endParaRPr lang="en-US"/>
          </a:p>
        </p:txBody>
      </p:sp>
    </p:spTree>
    <p:extLst>
      <p:ext uri="{BB962C8B-B14F-4D97-AF65-F5344CB8AC3E}">
        <p14:creationId xmlns:p14="http://schemas.microsoft.com/office/powerpoint/2010/main" val="136591498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519F2D-6C68-B3F6-3BC7-2A9EE6BE2B42}"/>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632A2B36-9CB6-0E61-D14F-48AD642FCA8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E551B63-A4A2-BD66-BF76-72528E69BA7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23EF4911-72D8-7120-897F-434F05D8DA2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1354135-3D54-9447-778A-86081F0473D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7F52A4A-AE91-8A3A-8DE2-74205F39FDCF}"/>
              </a:ext>
            </a:extLst>
          </p:cNvPr>
          <p:cNvSpPr>
            <a:spLocks noGrp="1"/>
          </p:cNvSpPr>
          <p:nvPr>
            <p:ph type="dt" sz="half" idx="10"/>
          </p:nvPr>
        </p:nvSpPr>
        <p:spPr/>
        <p:txBody>
          <a:bodyPr/>
          <a:lstStyle/>
          <a:p>
            <a:fld id="{2DB93FBE-67AC-4C5C-B62E-CFFDEAF9BE53}" type="datetimeFigureOut">
              <a:rPr lang="en-US" smtClean="0"/>
              <a:t>4/8/2026</a:t>
            </a:fld>
            <a:endParaRPr lang="en-US"/>
          </a:p>
        </p:txBody>
      </p:sp>
      <p:sp>
        <p:nvSpPr>
          <p:cNvPr id="8" name="Footer Placeholder 7">
            <a:extLst>
              <a:ext uri="{FF2B5EF4-FFF2-40B4-BE49-F238E27FC236}">
                <a16:creationId xmlns:a16="http://schemas.microsoft.com/office/drawing/2014/main" id="{38FC667D-AA9E-21BF-66F2-755D86E708B6}"/>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4D8E628E-2723-30DA-D22D-BFF79CE056C7}"/>
              </a:ext>
            </a:extLst>
          </p:cNvPr>
          <p:cNvSpPr>
            <a:spLocks noGrp="1"/>
          </p:cNvSpPr>
          <p:nvPr>
            <p:ph type="sldNum" sz="quarter" idx="12"/>
          </p:nvPr>
        </p:nvSpPr>
        <p:spPr/>
        <p:txBody>
          <a:bodyPr/>
          <a:lstStyle/>
          <a:p>
            <a:fld id="{A94D5A7D-FFFE-410B-BEE5-702232F4B148}" type="slidenum">
              <a:rPr lang="en-US" smtClean="0"/>
              <a:t>‹#›</a:t>
            </a:fld>
            <a:endParaRPr lang="en-US"/>
          </a:p>
        </p:txBody>
      </p:sp>
    </p:spTree>
    <p:extLst>
      <p:ext uri="{BB962C8B-B14F-4D97-AF65-F5344CB8AC3E}">
        <p14:creationId xmlns:p14="http://schemas.microsoft.com/office/powerpoint/2010/main" val="41973780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F41984-7865-CBC1-7E39-27325050C703}"/>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5D341811-B828-6912-5458-2BC9266D21E5}"/>
              </a:ext>
            </a:extLst>
          </p:cNvPr>
          <p:cNvSpPr>
            <a:spLocks noGrp="1"/>
          </p:cNvSpPr>
          <p:nvPr>
            <p:ph type="dt" sz="half" idx="10"/>
          </p:nvPr>
        </p:nvSpPr>
        <p:spPr/>
        <p:txBody>
          <a:bodyPr/>
          <a:lstStyle/>
          <a:p>
            <a:fld id="{2DB93FBE-67AC-4C5C-B62E-CFFDEAF9BE53}" type="datetimeFigureOut">
              <a:rPr lang="en-US" smtClean="0"/>
              <a:t>4/8/2026</a:t>
            </a:fld>
            <a:endParaRPr lang="en-US"/>
          </a:p>
        </p:txBody>
      </p:sp>
      <p:sp>
        <p:nvSpPr>
          <p:cNvPr id="4" name="Footer Placeholder 3">
            <a:extLst>
              <a:ext uri="{FF2B5EF4-FFF2-40B4-BE49-F238E27FC236}">
                <a16:creationId xmlns:a16="http://schemas.microsoft.com/office/drawing/2014/main" id="{DA1DF831-0A64-24F5-806E-B3EBA559140C}"/>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FCEFD212-56D6-B7F8-FC27-BC4BF7386DD8}"/>
              </a:ext>
            </a:extLst>
          </p:cNvPr>
          <p:cNvSpPr>
            <a:spLocks noGrp="1"/>
          </p:cNvSpPr>
          <p:nvPr>
            <p:ph type="sldNum" sz="quarter" idx="12"/>
          </p:nvPr>
        </p:nvSpPr>
        <p:spPr/>
        <p:txBody>
          <a:bodyPr/>
          <a:lstStyle/>
          <a:p>
            <a:fld id="{A94D5A7D-FFFE-410B-BEE5-702232F4B148}" type="slidenum">
              <a:rPr lang="en-US" smtClean="0"/>
              <a:t>‹#›</a:t>
            </a:fld>
            <a:endParaRPr lang="en-US"/>
          </a:p>
        </p:txBody>
      </p:sp>
    </p:spTree>
    <p:extLst>
      <p:ext uri="{BB962C8B-B14F-4D97-AF65-F5344CB8AC3E}">
        <p14:creationId xmlns:p14="http://schemas.microsoft.com/office/powerpoint/2010/main" val="214996303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5903B13-E121-53F2-65F9-41E383C574E5}"/>
              </a:ext>
            </a:extLst>
          </p:cNvPr>
          <p:cNvSpPr>
            <a:spLocks noGrp="1"/>
          </p:cNvSpPr>
          <p:nvPr>
            <p:ph type="dt" sz="half" idx="10"/>
          </p:nvPr>
        </p:nvSpPr>
        <p:spPr/>
        <p:txBody>
          <a:bodyPr/>
          <a:lstStyle/>
          <a:p>
            <a:fld id="{2DB93FBE-67AC-4C5C-B62E-CFFDEAF9BE53}" type="datetimeFigureOut">
              <a:rPr lang="en-US" smtClean="0"/>
              <a:t>4/8/2026</a:t>
            </a:fld>
            <a:endParaRPr lang="en-US"/>
          </a:p>
        </p:txBody>
      </p:sp>
      <p:sp>
        <p:nvSpPr>
          <p:cNvPr id="3" name="Footer Placeholder 2">
            <a:extLst>
              <a:ext uri="{FF2B5EF4-FFF2-40B4-BE49-F238E27FC236}">
                <a16:creationId xmlns:a16="http://schemas.microsoft.com/office/drawing/2014/main" id="{D2814793-9D7D-32F8-795A-31644DBAB342}"/>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DD76B231-FE15-2561-B700-2506AC71310D}"/>
              </a:ext>
            </a:extLst>
          </p:cNvPr>
          <p:cNvSpPr>
            <a:spLocks noGrp="1"/>
          </p:cNvSpPr>
          <p:nvPr>
            <p:ph type="sldNum" sz="quarter" idx="12"/>
          </p:nvPr>
        </p:nvSpPr>
        <p:spPr/>
        <p:txBody>
          <a:bodyPr/>
          <a:lstStyle/>
          <a:p>
            <a:fld id="{A94D5A7D-FFFE-410B-BEE5-702232F4B148}" type="slidenum">
              <a:rPr lang="en-US" smtClean="0"/>
              <a:t>‹#›</a:t>
            </a:fld>
            <a:endParaRPr lang="en-US"/>
          </a:p>
        </p:txBody>
      </p:sp>
    </p:spTree>
    <p:extLst>
      <p:ext uri="{BB962C8B-B14F-4D97-AF65-F5344CB8AC3E}">
        <p14:creationId xmlns:p14="http://schemas.microsoft.com/office/powerpoint/2010/main" val="85635657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CB5398-EEBA-42F4-3948-4DF36A153ED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12E000E0-12D7-545A-0B4A-64A8B51A9F1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69585510-3798-210C-EC55-29C449719B8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CE698E8-2EE7-873D-A608-9A260F5DDDE7}"/>
              </a:ext>
            </a:extLst>
          </p:cNvPr>
          <p:cNvSpPr>
            <a:spLocks noGrp="1"/>
          </p:cNvSpPr>
          <p:nvPr>
            <p:ph type="dt" sz="half" idx="10"/>
          </p:nvPr>
        </p:nvSpPr>
        <p:spPr/>
        <p:txBody>
          <a:bodyPr/>
          <a:lstStyle/>
          <a:p>
            <a:fld id="{2DB93FBE-67AC-4C5C-B62E-CFFDEAF9BE53}" type="datetimeFigureOut">
              <a:rPr lang="en-US" smtClean="0"/>
              <a:t>4/8/2026</a:t>
            </a:fld>
            <a:endParaRPr lang="en-US"/>
          </a:p>
        </p:txBody>
      </p:sp>
      <p:sp>
        <p:nvSpPr>
          <p:cNvPr id="6" name="Footer Placeholder 5">
            <a:extLst>
              <a:ext uri="{FF2B5EF4-FFF2-40B4-BE49-F238E27FC236}">
                <a16:creationId xmlns:a16="http://schemas.microsoft.com/office/drawing/2014/main" id="{F8D5F347-CF7A-10E6-8DC6-FA1E5DB6DB3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85E452D-F82A-718F-94C2-C889F622E545}"/>
              </a:ext>
            </a:extLst>
          </p:cNvPr>
          <p:cNvSpPr>
            <a:spLocks noGrp="1"/>
          </p:cNvSpPr>
          <p:nvPr>
            <p:ph type="sldNum" sz="quarter" idx="12"/>
          </p:nvPr>
        </p:nvSpPr>
        <p:spPr/>
        <p:txBody>
          <a:bodyPr/>
          <a:lstStyle/>
          <a:p>
            <a:fld id="{A94D5A7D-FFFE-410B-BEE5-702232F4B148}" type="slidenum">
              <a:rPr lang="en-US" smtClean="0"/>
              <a:t>‹#›</a:t>
            </a:fld>
            <a:endParaRPr lang="en-US"/>
          </a:p>
        </p:txBody>
      </p:sp>
    </p:spTree>
    <p:extLst>
      <p:ext uri="{BB962C8B-B14F-4D97-AF65-F5344CB8AC3E}">
        <p14:creationId xmlns:p14="http://schemas.microsoft.com/office/powerpoint/2010/main" val="116215649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DE1DDD-DB8D-6429-4235-465780A7B8B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D042B9E5-6756-3695-C94E-93A464783ED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7A170C60-CA85-5E67-14F6-3176093E55F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3325D70-D5F0-5123-66A9-63D9B82E929A}"/>
              </a:ext>
            </a:extLst>
          </p:cNvPr>
          <p:cNvSpPr>
            <a:spLocks noGrp="1"/>
          </p:cNvSpPr>
          <p:nvPr>
            <p:ph type="dt" sz="half" idx="10"/>
          </p:nvPr>
        </p:nvSpPr>
        <p:spPr/>
        <p:txBody>
          <a:bodyPr/>
          <a:lstStyle/>
          <a:p>
            <a:fld id="{2DB93FBE-67AC-4C5C-B62E-CFFDEAF9BE53}" type="datetimeFigureOut">
              <a:rPr lang="en-US" smtClean="0"/>
              <a:t>4/8/2026</a:t>
            </a:fld>
            <a:endParaRPr lang="en-US"/>
          </a:p>
        </p:txBody>
      </p:sp>
      <p:sp>
        <p:nvSpPr>
          <p:cNvPr id="6" name="Footer Placeholder 5">
            <a:extLst>
              <a:ext uri="{FF2B5EF4-FFF2-40B4-BE49-F238E27FC236}">
                <a16:creationId xmlns:a16="http://schemas.microsoft.com/office/drawing/2014/main" id="{E977B62A-8600-7CE9-095E-82CDE4E1767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558F328-EF42-0E10-9C29-12A53381D4AB}"/>
              </a:ext>
            </a:extLst>
          </p:cNvPr>
          <p:cNvSpPr>
            <a:spLocks noGrp="1"/>
          </p:cNvSpPr>
          <p:nvPr>
            <p:ph type="sldNum" sz="quarter" idx="12"/>
          </p:nvPr>
        </p:nvSpPr>
        <p:spPr/>
        <p:txBody>
          <a:bodyPr/>
          <a:lstStyle/>
          <a:p>
            <a:fld id="{A94D5A7D-FFFE-410B-BEE5-702232F4B148}" type="slidenum">
              <a:rPr lang="en-US" smtClean="0"/>
              <a:t>‹#›</a:t>
            </a:fld>
            <a:endParaRPr lang="en-US"/>
          </a:p>
        </p:txBody>
      </p:sp>
    </p:spTree>
    <p:extLst>
      <p:ext uri="{BB962C8B-B14F-4D97-AF65-F5344CB8AC3E}">
        <p14:creationId xmlns:p14="http://schemas.microsoft.com/office/powerpoint/2010/main" val="140534015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424705-3181-4743-BF72-E5B55E6278E9}"/>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88D9669D-6765-7CD2-C040-D4C5E44BAB3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8E5E7B0-5065-8FAA-2D02-01DC4905B366}"/>
              </a:ext>
            </a:extLst>
          </p:cNvPr>
          <p:cNvSpPr>
            <a:spLocks noGrp="1"/>
          </p:cNvSpPr>
          <p:nvPr>
            <p:ph type="dt" sz="half" idx="10"/>
          </p:nvPr>
        </p:nvSpPr>
        <p:spPr/>
        <p:txBody>
          <a:bodyPr/>
          <a:lstStyle/>
          <a:p>
            <a:fld id="{2DB93FBE-67AC-4C5C-B62E-CFFDEAF9BE53}" type="datetimeFigureOut">
              <a:rPr lang="en-US" smtClean="0"/>
              <a:t>4/8/2026</a:t>
            </a:fld>
            <a:endParaRPr lang="en-US"/>
          </a:p>
        </p:txBody>
      </p:sp>
      <p:sp>
        <p:nvSpPr>
          <p:cNvPr id="5" name="Footer Placeholder 4">
            <a:extLst>
              <a:ext uri="{FF2B5EF4-FFF2-40B4-BE49-F238E27FC236}">
                <a16:creationId xmlns:a16="http://schemas.microsoft.com/office/drawing/2014/main" id="{CA487F4E-481E-5CA4-5AC0-EF15EBAF8DC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305C81A-1EC7-F85E-A5DB-0F7CA62EC06F}"/>
              </a:ext>
            </a:extLst>
          </p:cNvPr>
          <p:cNvSpPr>
            <a:spLocks noGrp="1"/>
          </p:cNvSpPr>
          <p:nvPr>
            <p:ph type="sldNum" sz="quarter" idx="12"/>
          </p:nvPr>
        </p:nvSpPr>
        <p:spPr/>
        <p:txBody>
          <a:bodyPr/>
          <a:lstStyle/>
          <a:p>
            <a:fld id="{A94D5A7D-FFFE-410B-BEE5-702232F4B148}" type="slidenum">
              <a:rPr lang="en-US" smtClean="0"/>
              <a:t>‹#›</a:t>
            </a:fld>
            <a:endParaRPr lang="en-US"/>
          </a:p>
        </p:txBody>
      </p:sp>
    </p:spTree>
    <p:extLst>
      <p:ext uri="{BB962C8B-B14F-4D97-AF65-F5344CB8AC3E}">
        <p14:creationId xmlns:p14="http://schemas.microsoft.com/office/powerpoint/2010/main" val="365317245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0F8F565-D4D2-A972-147D-1A41777B264E}"/>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C8813695-1D6C-4A4F-7F94-13466638117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76AEB8A-EA17-E1E1-8CD3-B7AF8E3F2803}"/>
              </a:ext>
            </a:extLst>
          </p:cNvPr>
          <p:cNvSpPr>
            <a:spLocks noGrp="1"/>
          </p:cNvSpPr>
          <p:nvPr>
            <p:ph type="dt" sz="half" idx="10"/>
          </p:nvPr>
        </p:nvSpPr>
        <p:spPr/>
        <p:txBody>
          <a:bodyPr/>
          <a:lstStyle/>
          <a:p>
            <a:fld id="{2DB93FBE-67AC-4C5C-B62E-CFFDEAF9BE53}" type="datetimeFigureOut">
              <a:rPr lang="en-US" smtClean="0"/>
              <a:t>4/8/2026</a:t>
            </a:fld>
            <a:endParaRPr lang="en-US"/>
          </a:p>
        </p:txBody>
      </p:sp>
      <p:sp>
        <p:nvSpPr>
          <p:cNvPr id="5" name="Footer Placeholder 4">
            <a:extLst>
              <a:ext uri="{FF2B5EF4-FFF2-40B4-BE49-F238E27FC236}">
                <a16:creationId xmlns:a16="http://schemas.microsoft.com/office/drawing/2014/main" id="{AB6AF905-A88D-ED4C-DD07-098840D4AB1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D1A03B8-DD10-B6B6-6B59-3EB669F3776F}"/>
              </a:ext>
            </a:extLst>
          </p:cNvPr>
          <p:cNvSpPr>
            <a:spLocks noGrp="1"/>
          </p:cNvSpPr>
          <p:nvPr>
            <p:ph type="sldNum" sz="quarter" idx="12"/>
          </p:nvPr>
        </p:nvSpPr>
        <p:spPr/>
        <p:txBody>
          <a:bodyPr/>
          <a:lstStyle/>
          <a:p>
            <a:fld id="{A94D5A7D-FFFE-410B-BEE5-702232F4B148}" type="slidenum">
              <a:rPr lang="en-US" smtClean="0"/>
              <a:t>‹#›</a:t>
            </a:fld>
            <a:endParaRPr lang="en-US"/>
          </a:p>
        </p:txBody>
      </p:sp>
    </p:spTree>
    <p:extLst>
      <p:ext uri="{BB962C8B-B14F-4D97-AF65-F5344CB8AC3E}">
        <p14:creationId xmlns:p14="http://schemas.microsoft.com/office/powerpoint/2010/main" val="178788730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BBC2B57-F2EC-C92D-BAFA-C36FE7F31CA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940AE8E8-3549-4143-3C3F-38529FA5532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162DEB0-3161-B686-27DF-345950BFF04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DB93FBE-67AC-4C5C-B62E-CFFDEAF9BE53}" type="datetimeFigureOut">
              <a:rPr lang="en-US" smtClean="0"/>
              <a:t>4/8/2026</a:t>
            </a:fld>
            <a:endParaRPr lang="en-US"/>
          </a:p>
        </p:txBody>
      </p:sp>
      <p:sp>
        <p:nvSpPr>
          <p:cNvPr id="5" name="Footer Placeholder 4">
            <a:extLst>
              <a:ext uri="{FF2B5EF4-FFF2-40B4-BE49-F238E27FC236}">
                <a16:creationId xmlns:a16="http://schemas.microsoft.com/office/drawing/2014/main" id="{B7B5E12D-E358-B346-0620-4D8545C52B8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DEB1C4BA-D22A-5462-8F71-6F616DC8FA2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94D5A7D-FFFE-410B-BEE5-702232F4B148}" type="slidenum">
              <a:rPr lang="en-US" smtClean="0"/>
              <a:t>‹#›</a:t>
            </a:fld>
            <a:endParaRPr lang="en-US"/>
          </a:p>
        </p:txBody>
      </p:sp>
    </p:spTree>
    <p:extLst>
      <p:ext uri="{BB962C8B-B14F-4D97-AF65-F5344CB8AC3E}">
        <p14:creationId xmlns:p14="http://schemas.microsoft.com/office/powerpoint/2010/main" val="309650794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http://www.cs.uw.edu/332"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customXml" Target="../ink/ink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customXml" Target="../ink/ink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customXml" Target="../ink/ink3.xml"/><Relationship Id="rId2" Type="http://schemas.openxmlformats.org/officeDocument/2006/relationships/image" Target="../media/image10.pn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customXml" Target="../ink/ink4.xml"/><Relationship Id="rId2" Type="http://schemas.openxmlformats.org/officeDocument/2006/relationships/image" Target="../media/image20.pn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customXml" Target="../ink/ink5.xml"/><Relationship Id="rId2" Type="http://schemas.openxmlformats.org/officeDocument/2006/relationships/image" Target="../media/image30.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21.png"/><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customXml" Target="../ink/ink6.xml"/></Relationships>
</file>

<file path=ppt/slides/_rels/slide9.xml.rels><?xml version="1.0" encoding="UTF-8" standalone="yes"?>
<Relationships xmlns="http://schemas.openxmlformats.org/package/2006/relationships"><Relationship Id="rId3" Type="http://schemas.openxmlformats.org/officeDocument/2006/relationships/customXml" Target="../ink/ink7.xml"/><Relationship Id="rId2" Type="http://schemas.openxmlformats.org/officeDocument/2006/relationships/image" Target="../media/image50.png"/><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customXml" Target="../ink/ink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customXml" Target="../ink/ink9.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customXml" Target="../ink/ink10.xml"/><Relationship Id="rId2" Type="http://schemas.openxmlformats.org/officeDocument/2006/relationships/image" Target="../media/image60.png"/><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16.xml.rels><?xml version="1.0" encoding="UTF-8" standalone="yes"?>
<Relationships xmlns="http://schemas.openxmlformats.org/package/2006/relationships"><Relationship Id="rId3" Type="http://schemas.openxmlformats.org/officeDocument/2006/relationships/customXml" Target="../ink/ink11.xml"/><Relationship Id="rId2" Type="http://schemas.openxmlformats.org/officeDocument/2006/relationships/image" Target="../media/image70.png"/><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17.xml.rels><?xml version="1.0" encoding="UTF-8" standalone="yes"?>
<Relationships xmlns="http://schemas.openxmlformats.org/package/2006/relationships"><Relationship Id="rId2" Type="http://schemas.openxmlformats.org/officeDocument/2006/relationships/image" Target="../media/image80.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customXml" Target="../ink/ink12.xml"/><Relationship Id="rId2" Type="http://schemas.openxmlformats.org/officeDocument/2006/relationships/image" Target="../media/image80.png"/><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19.xml.rels><?xml version="1.0" encoding="UTF-8" standalone="yes"?>
<Relationships xmlns="http://schemas.openxmlformats.org/package/2006/relationships"><Relationship Id="rId2" Type="http://schemas.openxmlformats.org/officeDocument/2006/relationships/image" Target="../media/image90.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customXml" Target="../ink/ink13.xml"/><Relationship Id="rId2" Type="http://schemas.openxmlformats.org/officeDocument/2006/relationships/image" Target="../media/image111.png"/><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21.xml.rels><?xml version="1.0" encoding="UTF-8" standalone="yes"?>
<Relationships xmlns="http://schemas.openxmlformats.org/package/2006/relationships"><Relationship Id="rId3" Type="http://schemas.openxmlformats.org/officeDocument/2006/relationships/customXml" Target="../ink/ink14.xml"/><Relationship Id="rId2" Type="http://schemas.openxmlformats.org/officeDocument/2006/relationships/image" Target="../media/image16.png"/><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22.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30.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30.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30.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30.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30.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30.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130.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02029F-F4C6-FDAD-6A00-4E30C8EE848F}"/>
              </a:ext>
            </a:extLst>
          </p:cNvPr>
          <p:cNvSpPr>
            <a:spLocks noGrp="1"/>
          </p:cNvSpPr>
          <p:nvPr>
            <p:ph type="ctrTitle"/>
          </p:nvPr>
        </p:nvSpPr>
        <p:spPr/>
        <p:txBody>
          <a:bodyPr>
            <a:normAutofit/>
          </a:bodyPr>
          <a:lstStyle/>
          <a:p>
            <a:r>
              <a:rPr lang="en-US" dirty="0"/>
              <a:t>CSE 332 Spring 2026</a:t>
            </a:r>
            <a:br>
              <a:rPr lang="en-US" dirty="0"/>
            </a:br>
            <a:r>
              <a:rPr lang="en-US" dirty="0"/>
              <a:t>Lecture 5: Priority Queues</a:t>
            </a:r>
          </a:p>
        </p:txBody>
      </p:sp>
      <p:sp>
        <p:nvSpPr>
          <p:cNvPr id="3" name="Subtitle 2">
            <a:extLst>
              <a:ext uri="{FF2B5EF4-FFF2-40B4-BE49-F238E27FC236}">
                <a16:creationId xmlns:a16="http://schemas.microsoft.com/office/drawing/2014/main" id="{AB96019E-F067-13A3-DC5B-9F49CCFEF437}"/>
              </a:ext>
            </a:extLst>
          </p:cNvPr>
          <p:cNvSpPr>
            <a:spLocks noGrp="1"/>
          </p:cNvSpPr>
          <p:nvPr>
            <p:ph type="subTitle" idx="1"/>
          </p:nvPr>
        </p:nvSpPr>
        <p:spPr/>
        <p:txBody>
          <a:bodyPr/>
          <a:lstStyle/>
          <a:p>
            <a:r>
              <a:rPr lang="en-US" dirty="0"/>
              <a:t>Nathan Brunelle</a:t>
            </a:r>
          </a:p>
          <a:p>
            <a:r>
              <a:rPr lang="en-US" dirty="0">
                <a:hlinkClick r:id="rId2"/>
              </a:rPr>
              <a:t>http://www.cs.uw.edu/332</a:t>
            </a:r>
            <a:endParaRPr lang="en-US" dirty="0"/>
          </a:p>
          <a:p>
            <a:endParaRPr lang="en-US" dirty="0"/>
          </a:p>
          <a:p>
            <a:endParaRPr lang="en-US" dirty="0"/>
          </a:p>
        </p:txBody>
      </p:sp>
    </p:spTree>
    <p:extLst>
      <p:ext uri="{BB962C8B-B14F-4D97-AF65-F5344CB8AC3E}">
        <p14:creationId xmlns:p14="http://schemas.microsoft.com/office/powerpoint/2010/main" val="39733039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0D41E5-465C-EBB5-E9CD-029376B833DF}"/>
              </a:ext>
            </a:extLst>
          </p:cNvPr>
          <p:cNvSpPr>
            <a:spLocks noGrp="1"/>
          </p:cNvSpPr>
          <p:nvPr>
            <p:ph type="title"/>
          </p:nvPr>
        </p:nvSpPr>
        <p:spPr/>
        <p:txBody>
          <a:bodyPr/>
          <a:lstStyle/>
          <a:p>
            <a:r>
              <a:rPr lang="en-US" dirty="0"/>
              <a:t>ADT: Priority Queue</a:t>
            </a:r>
          </a:p>
        </p:txBody>
      </p:sp>
      <p:sp>
        <p:nvSpPr>
          <p:cNvPr id="3" name="Content Placeholder 2">
            <a:extLst>
              <a:ext uri="{FF2B5EF4-FFF2-40B4-BE49-F238E27FC236}">
                <a16:creationId xmlns:a16="http://schemas.microsoft.com/office/drawing/2014/main" id="{B5EF048E-DA88-5227-7793-0EE138E7390F}"/>
              </a:ext>
            </a:extLst>
          </p:cNvPr>
          <p:cNvSpPr>
            <a:spLocks noGrp="1"/>
          </p:cNvSpPr>
          <p:nvPr>
            <p:ph idx="1"/>
          </p:nvPr>
        </p:nvSpPr>
        <p:spPr/>
        <p:txBody>
          <a:bodyPr>
            <a:normAutofit fontScale="92500" lnSpcReduction="20000"/>
          </a:bodyPr>
          <a:lstStyle/>
          <a:p>
            <a:r>
              <a:rPr lang="en-US" dirty="0"/>
              <a:t>What is it?</a:t>
            </a:r>
          </a:p>
          <a:p>
            <a:pPr lvl="1"/>
            <a:r>
              <a:rPr lang="en-US" dirty="0"/>
              <a:t>A collection of items and their “priorities”</a:t>
            </a:r>
          </a:p>
          <a:p>
            <a:pPr lvl="1"/>
            <a:r>
              <a:rPr lang="en-US" dirty="0"/>
              <a:t>Allows quick access/removal to the “top priority” thing</a:t>
            </a:r>
          </a:p>
          <a:p>
            <a:pPr lvl="2"/>
            <a:r>
              <a:rPr lang="en-US" dirty="0"/>
              <a:t>Usually a smaller priority value means the item is “more important”</a:t>
            </a:r>
          </a:p>
          <a:p>
            <a:r>
              <a:rPr lang="en-US" dirty="0"/>
              <a:t>What Operations do we need?</a:t>
            </a:r>
          </a:p>
          <a:p>
            <a:pPr lvl="1"/>
            <a:r>
              <a:rPr lang="en-US" dirty="0"/>
              <a:t>insert(item, priority)</a:t>
            </a:r>
          </a:p>
          <a:p>
            <a:pPr lvl="2"/>
            <a:r>
              <a:rPr lang="en-US" dirty="0"/>
              <a:t>Add a new item to the PQ with indicated priority</a:t>
            </a:r>
          </a:p>
          <a:p>
            <a:pPr lvl="1"/>
            <a:r>
              <a:rPr lang="en-US" dirty="0"/>
              <a:t>extract</a:t>
            </a:r>
          </a:p>
          <a:p>
            <a:pPr lvl="2"/>
            <a:r>
              <a:rPr lang="en-US" dirty="0"/>
              <a:t>Remove and return the “top priority” item from the queue</a:t>
            </a:r>
          </a:p>
          <a:p>
            <a:pPr lvl="3"/>
            <a:r>
              <a:rPr lang="en-US" dirty="0"/>
              <a:t>Usually the item with the smallest priority value</a:t>
            </a:r>
          </a:p>
          <a:p>
            <a:pPr lvl="1"/>
            <a:r>
              <a:rPr lang="en-US" dirty="0" err="1"/>
              <a:t>IsEmpty</a:t>
            </a:r>
            <a:endParaRPr lang="en-US" dirty="0"/>
          </a:p>
          <a:p>
            <a:pPr lvl="2"/>
            <a:r>
              <a:rPr lang="en-US" dirty="0"/>
              <a:t>Indicate whether or not there are items still on the queue</a:t>
            </a:r>
          </a:p>
          <a:p>
            <a:r>
              <a:rPr lang="en-US" dirty="0"/>
              <a:t>Note: the “priority” value can be any type/class so long as it’s comparable (i.e. you can use “&lt;“ or “</a:t>
            </a:r>
            <a:r>
              <a:rPr lang="en-US" dirty="0" err="1"/>
              <a:t>compareTo</a:t>
            </a:r>
            <a:r>
              <a:rPr lang="en-US" dirty="0"/>
              <a:t>” with it)</a:t>
            </a:r>
          </a:p>
        </p:txBody>
      </p:sp>
      <mc:AlternateContent xmlns:mc="http://schemas.openxmlformats.org/markup-compatibility/2006">
        <mc:Choice xmlns:p14="http://schemas.microsoft.com/office/powerpoint/2010/main" Requires="p14">
          <p:contentPart p14:bwMode="auto" r:id="rId2">
            <p14:nvContentPartPr>
              <p14:cNvPr id="4" name="Ink 3">
                <a:extLst>
                  <a:ext uri="{FF2B5EF4-FFF2-40B4-BE49-F238E27FC236}">
                    <a16:creationId xmlns:a16="http://schemas.microsoft.com/office/drawing/2014/main" id="{B6FE62B9-A92E-E185-3B2D-43229D8D84AD}"/>
                  </a:ext>
                </a:extLst>
              </p14:cNvPr>
              <p14:cNvContentPartPr/>
              <p14:nvPr/>
            </p14:nvContentPartPr>
            <p14:xfrm>
              <a:off x="368640" y="3450600"/>
              <a:ext cx="4357440" cy="1788120"/>
            </p14:xfrm>
          </p:contentPart>
        </mc:Choice>
        <mc:Fallback>
          <p:pic>
            <p:nvPicPr>
              <p:cNvPr id="4" name="Ink 3">
                <a:extLst>
                  <a:ext uri="{FF2B5EF4-FFF2-40B4-BE49-F238E27FC236}">
                    <a16:creationId xmlns:a16="http://schemas.microsoft.com/office/drawing/2014/main" id="{B6FE62B9-A92E-E185-3B2D-43229D8D84AD}"/>
                  </a:ext>
                </a:extLst>
              </p:cNvPr>
              <p:cNvPicPr/>
              <p:nvPr/>
            </p:nvPicPr>
            <p:blipFill>
              <a:blip r:embed="rId3"/>
              <a:stretch>
                <a:fillRect/>
              </a:stretch>
            </p:blipFill>
            <p:spPr>
              <a:xfrm>
                <a:off x="359280" y="3441240"/>
                <a:ext cx="4376160" cy="1806840"/>
              </a:xfrm>
              <a:prstGeom prst="rect">
                <a:avLst/>
              </a:prstGeom>
            </p:spPr>
          </p:pic>
        </mc:Fallback>
      </mc:AlternateContent>
    </p:spTree>
    <p:extLst>
      <p:ext uri="{BB962C8B-B14F-4D97-AF65-F5344CB8AC3E}">
        <p14:creationId xmlns:p14="http://schemas.microsoft.com/office/powerpoint/2010/main" val="28469909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CACA63-A283-2B9A-141D-40EDAC372513}"/>
              </a:ext>
            </a:extLst>
          </p:cNvPr>
          <p:cNvSpPr>
            <a:spLocks noGrp="1"/>
          </p:cNvSpPr>
          <p:nvPr>
            <p:ph type="title"/>
          </p:nvPr>
        </p:nvSpPr>
        <p:spPr/>
        <p:txBody>
          <a:bodyPr/>
          <a:lstStyle/>
          <a:p>
            <a:r>
              <a:rPr lang="en-US" dirty="0"/>
              <a:t>Applications?</a:t>
            </a:r>
          </a:p>
        </p:txBody>
      </p:sp>
      <p:sp>
        <p:nvSpPr>
          <p:cNvPr id="3" name="Content Placeholder 2">
            <a:extLst>
              <a:ext uri="{FF2B5EF4-FFF2-40B4-BE49-F238E27FC236}">
                <a16:creationId xmlns:a16="http://schemas.microsoft.com/office/drawing/2014/main" id="{AF75ED34-AF75-C4E8-5894-C0401FAABBE9}"/>
              </a:ext>
            </a:extLst>
          </p:cNvPr>
          <p:cNvSpPr>
            <a:spLocks noGrp="1"/>
          </p:cNvSpPr>
          <p:nvPr>
            <p:ph idx="1"/>
          </p:nvPr>
        </p:nvSpPr>
        <p:spPr/>
        <p:txBody>
          <a:bodyPr>
            <a:normAutofit lnSpcReduction="10000"/>
          </a:bodyPr>
          <a:lstStyle/>
          <a:p>
            <a:r>
              <a:rPr lang="en-US" dirty="0"/>
              <a:t>Course registration</a:t>
            </a:r>
          </a:p>
          <a:p>
            <a:r>
              <a:rPr lang="en-US" dirty="0"/>
              <a:t>Todo list</a:t>
            </a:r>
          </a:p>
          <a:p>
            <a:r>
              <a:rPr lang="en-US" dirty="0"/>
              <a:t>Elevator scheduler</a:t>
            </a:r>
          </a:p>
          <a:p>
            <a:r>
              <a:rPr lang="en-US" dirty="0"/>
              <a:t>Task scheduler</a:t>
            </a:r>
          </a:p>
          <a:p>
            <a:r>
              <a:rPr lang="en-US" dirty="0"/>
              <a:t>Google search</a:t>
            </a:r>
          </a:p>
          <a:p>
            <a:r>
              <a:rPr lang="en-US" dirty="0"/>
              <a:t>Airplane boarding</a:t>
            </a:r>
          </a:p>
          <a:p>
            <a:r>
              <a:rPr lang="en-US" dirty="0"/>
              <a:t>Algorithms	</a:t>
            </a:r>
          </a:p>
          <a:p>
            <a:pPr lvl="1"/>
            <a:r>
              <a:rPr lang="en-US" dirty="0"/>
              <a:t>Dijkstra’s</a:t>
            </a:r>
          </a:p>
          <a:p>
            <a:pPr lvl="1"/>
            <a:r>
              <a:rPr lang="en-US" dirty="0"/>
              <a:t>Sorting</a:t>
            </a:r>
          </a:p>
          <a:p>
            <a:pPr lvl="1"/>
            <a:r>
              <a:rPr lang="en-US" dirty="0"/>
              <a:t>Huffman coding</a:t>
            </a:r>
          </a:p>
        </p:txBody>
      </p:sp>
    </p:spTree>
    <p:extLst>
      <p:ext uri="{BB962C8B-B14F-4D97-AF65-F5344CB8AC3E}">
        <p14:creationId xmlns:p14="http://schemas.microsoft.com/office/powerpoint/2010/main" val="159056279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0C6CB2-21FD-58F8-0744-75D5A27E3903}"/>
              </a:ext>
            </a:extLst>
          </p:cNvPr>
          <p:cNvSpPr>
            <a:spLocks noGrp="1"/>
          </p:cNvSpPr>
          <p:nvPr>
            <p:ph type="title"/>
          </p:nvPr>
        </p:nvSpPr>
        <p:spPr/>
        <p:txBody>
          <a:bodyPr/>
          <a:lstStyle/>
          <a:p>
            <a:r>
              <a:rPr lang="en-US" dirty="0"/>
              <a:t>Thinking through implementations</a:t>
            </a:r>
          </a:p>
        </p:txBody>
      </p:sp>
      <p:graphicFrame>
        <p:nvGraphicFramePr>
          <p:cNvPr id="4" name="Content Placeholder 3">
            <a:extLst>
              <a:ext uri="{FF2B5EF4-FFF2-40B4-BE49-F238E27FC236}">
                <a16:creationId xmlns:a16="http://schemas.microsoft.com/office/drawing/2014/main" id="{A5DE81BF-64A3-93DD-75E1-1B8B7ADAA44B}"/>
              </a:ext>
            </a:extLst>
          </p:cNvPr>
          <p:cNvGraphicFramePr>
            <a:graphicFrameLocks noGrp="1"/>
          </p:cNvGraphicFramePr>
          <p:nvPr>
            <p:ph idx="1"/>
          </p:nvPr>
        </p:nvGraphicFramePr>
        <p:xfrm>
          <a:off x="838200" y="1825625"/>
          <a:ext cx="10515597" cy="2468880"/>
        </p:xfrm>
        <a:graphic>
          <a:graphicData uri="http://schemas.openxmlformats.org/drawingml/2006/table">
            <a:tbl>
              <a:tblPr firstRow="1" bandRow="1">
                <a:tableStyleId>{5C22544A-7EE6-4342-B048-85BDC9FD1C3A}</a:tableStyleId>
              </a:tblPr>
              <a:tblGrid>
                <a:gridCol w="2626360">
                  <a:extLst>
                    <a:ext uri="{9D8B030D-6E8A-4147-A177-3AD203B41FA5}">
                      <a16:colId xmlns:a16="http://schemas.microsoft.com/office/drawing/2014/main" val="3859037791"/>
                    </a:ext>
                  </a:extLst>
                </a:gridCol>
                <a:gridCol w="3789680">
                  <a:extLst>
                    <a:ext uri="{9D8B030D-6E8A-4147-A177-3AD203B41FA5}">
                      <a16:colId xmlns:a16="http://schemas.microsoft.com/office/drawing/2014/main" val="1986166423"/>
                    </a:ext>
                  </a:extLst>
                </a:gridCol>
                <a:gridCol w="4099557">
                  <a:extLst>
                    <a:ext uri="{9D8B030D-6E8A-4147-A177-3AD203B41FA5}">
                      <a16:colId xmlns:a16="http://schemas.microsoft.com/office/drawing/2014/main" val="3667104526"/>
                    </a:ext>
                  </a:extLst>
                </a:gridCol>
              </a:tblGrid>
              <a:tr h="370840">
                <a:tc>
                  <a:txBody>
                    <a:bodyPr/>
                    <a:lstStyle/>
                    <a:p>
                      <a:r>
                        <a:rPr lang="en-US" sz="2100" dirty="0"/>
                        <a:t>Data Structure</a:t>
                      </a:r>
                    </a:p>
                  </a:txBody>
                  <a:tcPr/>
                </a:tc>
                <a:tc>
                  <a:txBody>
                    <a:bodyPr/>
                    <a:lstStyle/>
                    <a:p>
                      <a:r>
                        <a:rPr lang="en-US" sz="2100" dirty="0"/>
                        <a:t>Worst case time to insert</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100" dirty="0"/>
                        <a:t>Worst case time to extract</a:t>
                      </a:r>
                    </a:p>
                  </a:txBody>
                  <a:tcPr/>
                </a:tc>
                <a:extLst>
                  <a:ext uri="{0D108BD9-81ED-4DB2-BD59-A6C34878D82A}">
                    <a16:rowId xmlns:a16="http://schemas.microsoft.com/office/drawing/2014/main" val="1526940656"/>
                  </a:ext>
                </a:extLst>
              </a:tr>
              <a:tr h="370840">
                <a:tc>
                  <a:txBody>
                    <a:bodyPr/>
                    <a:lstStyle/>
                    <a:p>
                      <a:r>
                        <a:rPr lang="en-US" sz="2100" dirty="0"/>
                        <a:t>Unsorted Array</a:t>
                      </a:r>
                    </a:p>
                  </a:txBody>
                  <a:tcPr/>
                </a:tc>
                <a:tc>
                  <a:txBody>
                    <a:bodyPr/>
                    <a:lstStyle/>
                    <a:p>
                      <a:endParaRPr lang="en-US" sz="2100"/>
                    </a:p>
                  </a:txBody>
                  <a:tcPr/>
                </a:tc>
                <a:tc>
                  <a:txBody>
                    <a:bodyPr/>
                    <a:lstStyle/>
                    <a:p>
                      <a:endParaRPr lang="en-US" sz="2100"/>
                    </a:p>
                  </a:txBody>
                  <a:tcPr/>
                </a:tc>
                <a:extLst>
                  <a:ext uri="{0D108BD9-81ED-4DB2-BD59-A6C34878D82A}">
                    <a16:rowId xmlns:a16="http://schemas.microsoft.com/office/drawing/2014/main" val="999218032"/>
                  </a:ext>
                </a:extLst>
              </a:tr>
              <a:tr h="370840">
                <a:tc>
                  <a:txBody>
                    <a:bodyPr/>
                    <a:lstStyle/>
                    <a:p>
                      <a:r>
                        <a:rPr lang="en-US" sz="2100" dirty="0"/>
                        <a:t>Unsorted Linked List</a:t>
                      </a:r>
                    </a:p>
                  </a:txBody>
                  <a:tcPr/>
                </a:tc>
                <a:tc>
                  <a:txBody>
                    <a:bodyPr/>
                    <a:lstStyle/>
                    <a:p>
                      <a:endParaRPr lang="en-US" sz="2100"/>
                    </a:p>
                  </a:txBody>
                  <a:tcPr/>
                </a:tc>
                <a:tc>
                  <a:txBody>
                    <a:bodyPr/>
                    <a:lstStyle/>
                    <a:p>
                      <a:endParaRPr lang="en-US" sz="2100"/>
                    </a:p>
                  </a:txBody>
                  <a:tcPr/>
                </a:tc>
                <a:extLst>
                  <a:ext uri="{0D108BD9-81ED-4DB2-BD59-A6C34878D82A}">
                    <a16:rowId xmlns:a16="http://schemas.microsoft.com/office/drawing/2014/main" val="2237532272"/>
                  </a:ext>
                </a:extLst>
              </a:tr>
              <a:tr h="370840">
                <a:tc>
                  <a:txBody>
                    <a:bodyPr/>
                    <a:lstStyle/>
                    <a:p>
                      <a:r>
                        <a:rPr lang="en-US" sz="2100" dirty="0"/>
                        <a:t>Sorted Array</a:t>
                      </a:r>
                    </a:p>
                  </a:txBody>
                  <a:tcPr/>
                </a:tc>
                <a:tc>
                  <a:txBody>
                    <a:bodyPr/>
                    <a:lstStyle/>
                    <a:p>
                      <a:endParaRPr lang="en-US" sz="2100"/>
                    </a:p>
                  </a:txBody>
                  <a:tcPr/>
                </a:tc>
                <a:tc>
                  <a:txBody>
                    <a:bodyPr/>
                    <a:lstStyle/>
                    <a:p>
                      <a:endParaRPr lang="en-US" sz="2100"/>
                    </a:p>
                  </a:txBody>
                  <a:tcPr/>
                </a:tc>
                <a:extLst>
                  <a:ext uri="{0D108BD9-81ED-4DB2-BD59-A6C34878D82A}">
                    <a16:rowId xmlns:a16="http://schemas.microsoft.com/office/drawing/2014/main" val="1851548857"/>
                  </a:ext>
                </a:extLst>
              </a:tr>
              <a:tr h="370840">
                <a:tc>
                  <a:txBody>
                    <a:bodyPr/>
                    <a:lstStyle/>
                    <a:p>
                      <a:r>
                        <a:rPr lang="en-US" sz="2100" dirty="0"/>
                        <a:t>Sorted Linked List</a:t>
                      </a:r>
                    </a:p>
                  </a:txBody>
                  <a:tcPr/>
                </a:tc>
                <a:tc>
                  <a:txBody>
                    <a:bodyPr/>
                    <a:lstStyle/>
                    <a:p>
                      <a:endParaRPr lang="en-US" sz="2100"/>
                    </a:p>
                  </a:txBody>
                  <a:tcPr/>
                </a:tc>
                <a:tc>
                  <a:txBody>
                    <a:bodyPr/>
                    <a:lstStyle/>
                    <a:p>
                      <a:endParaRPr lang="en-US" sz="2100"/>
                    </a:p>
                  </a:txBody>
                  <a:tcPr/>
                </a:tc>
                <a:extLst>
                  <a:ext uri="{0D108BD9-81ED-4DB2-BD59-A6C34878D82A}">
                    <a16:rowId xmlns:a16="http://schemas.microsoft.com/office/drawing/2014/main" val="2877379023"/>
                  </a:ext>
                </a:extLst>
              </a:tr>
              <a:tr h="370840">
                <a:tc>
                  <a:txBody>
                    <a:bodyPr/>
                    <a:lstStyle/>
                    <a:p>
                      <a:r>
                        <a:rPr lang="en-US" sz="2100" dirty="0"/>
                        <a:t>Binary Search Tree</a:t>
                      </a:r>
                    </a:p>
                  </a:txBody>
                  <a:tcPr/>
                </a:tc>
                <a:tc>
                  <a:txBody>
                    <a:bodyPr/>
                    <a:lstStyle/>
                    <a:p>
                      <a:endParaRPr lang="en-US" sz="2100"/>
                    </a:p>
                  </a:txBody>
                  <a:tcPr/>
                </a:tc>
                <a:tc>
                  <a:txBody>
                    <a:bodyPr/>
                    <a:lstStyle/>
                    <a:p>
                      <a:endParaRPr lang="en-US" sz="2100" dirty="0"/>
                    </a:p>
                  </a:txBody>
                  <a:tcPr/>
                </a:tc>
                <a:extLst>
                  <a:ext uri="{0D108BD9-81ED-4DB2-BD59-A6C34878D82A}">
                    <a16:rowId xmlns:a16="http://schemas.microsoft.com/office/drawing/2014/main" val="911959055"/>
                  </a:ext>
                </a:extLst>
              </a:tr>
            </a:tbl>
          </a:graphicData>
        </a:graphic>
      </p:graphicFrame>
      <p:sp>
        <p:nvSpPr>
          <p:cNvPr id="5" name="TextBox 4">
            <a:extLst>
              <a:ext uri="{FF2B5EF4-FFF2-40B4-BE49-F238E27FC236}">
                <a16:creationId xmlns:a16="http://schemas.microsoft.com/office/drawing/2014/main" id="{95DC9A6B-441D-32AF-47B4-F4888F339B90}"/>
              </a:ext>
            </a:extLst>
          </p:cNvPr>
          <p:cNvSpPr txBox="1"/>
          <p:nvPr/>
        </p:nvSpPr>
        <p:spPr>
          <a:xfrm>
            <a:off x="838200" y="5852160"/>
            <a:ext cx="9707880" cy="830997"/>
          </a:xfrm>
          <a:prstGeom prst="rect">
            <a:avLst/>
          </a:prstGeom>
          <a:noFill/>
        </p:spPr>
        <p:txBody>
          <a:bodyPr wrap="square" rtlCol="0">
            <a:spAutoFit/>
          </a:bodyPr>
          <a:lstStyle/>
          <a:p>
            <a:r>
              <a:rPr lang="en-US" sz="2400" dirty="0"/>
              <a:t>For simplicity,  Assume we know the maximum size of the PQ in advance (otherwise we’d do an amortized analysis, but get the same answers…)</a:t>
            </a:r>
          </a:p>
        </p:txBody>
      </p:sp>
      <mc:AlternateContent xmlns:mc="http://schemas.openxmlformats.org/markup-compatibility/2006">
        <mc:Choice xmlns:p14="http://schemas.microsoft.com/office/powerpoint/2010/main" Requires="p14">
          <p:contentPart p14:bwMode="auto" r:id="rId2">
            <p14:nvContentPartPr>
              <p14:cNvPr id="3" name="Ink 2">
                <a:extLst>
                  <a:ext uri="{FF2B5EF4-FFF2-40B4-BE49-F238E27FC236}">
                    <a16:creationId xmlns:a16="http://schemas.microsoft.com/office/drawing/2014/main" id="{00AC6B96-AAC6-E7CE-FD55-BEB85BA95BBD}"/>
                  </a:ext>
                </a:extLst>
              </p14:cNvPr>
              <p14:cNvContentPartPr/>
              <p14:nvPr/>
            </p14:nvContentPartPr>
            <p14:xfrm>
              <a:off x="436320" y="2265480"/>
              <a:ext cx="9783360" cy="3699000"/>
            </p14:xfrm>
          </p:contentPart>
        </mc:Choice>
        <mc:Fallback>
          <p:pic>
            <p:nvPicPr>
              <p:cNvPr id="3" name="Ink 2">
                <a:extLst>
                  <a:ext uri="{FF2B5EF4-FFF2-40B4-BE49-F238E27FC236}">
                    <a16:creationId xmlns:a16="http://schemas.microsoft.com/office/drawing/2014/main" id="{00AC6B96-AAC6-E7CE-FD55-BEB85BA95BBD}"/>
                  </a:ext>
                </a:extLst>
              </p:cNvPr>
              <p:cNvPicPr/>
              <p:nvPr/>
            </p:nvPicPr>
            <p:blipFill>
              <a:blip r:embed="rId3"/>
              <a:stretch>
                <a:fillRect/>
              </a:stretch>
            </p:blipFill>
            <p:spPr>
              <a:xfrm>
                <a:off x="426960" y="2256120"/>
                <a:ext cx="9802080" cy="3717720"/>
              </a:xfrm>
              <a:prstGeom prst="rect">
                <a:avLst/>
              </a:prstGeom>
            </p:spPr>
          </p:pic>
        </mc:Fallback>
      </mc:AlternateContent>
    </p:spTree>
    <p:extLst>
      <p:ext uri="{BB962C8B-B14F-4D97-AF65-F5344CB8AC3E}">
        <p14:creationId xmlns:p14="http://schemas.microsoft.com/office/powerpoint/2010/main" val="131899609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0C6CB2-21FD-58F8-0744-75D5A27E3903}"/>
              </a:ext>
            </a:extLst>
          </p:cNvPr>
          <p:cNvSpPr>
            <a:spLocks noGrp="1"/>
          </p:cNvSpPr>
          <p:nvPr>
            <p:ph type="title"/>
          </p:nvPr>
        </p:nvSpPr>
        <p:spPr/>
        <p:txBody>
          <a:bodyPr/>
          <a:lstStyle/>
          <a:p>
            <a:r>
              <a:rPr lang="en-US" dirty="0"/>
              <a:t>Thinking through implementations (solutions)</a:t>
            </a:r>
          </a:p>
        </p:txBody>
      </p:sp>
      <mc:AlternateContent xmlns:mc="http://schemas.openxmlformats.org/markup-compatibility/2006" xmlns:a14="http://schemas.microsoft.com/office/drawing/2010/main">
        <mc:Choice Requires="a14">
          <p:graphicFrame>
            <p:nvGraphicFramePr>
              <p:cNvPr id="4" name="Content Placeholder 3">
                <a:extLst>
                  <a:ext uri="{FF2B5EF4-FFF2-40B4-BE49-F238E27FC236}">
                    <a16:creationId xmlns:a16="http://schemas.microsoft.com/office/drawing/2014/main" id="{A5DE81BF-64A3-93DD-75E1-1B8B7ADAA44B}"/>
                  </a:ext>
                </a:extLst>
              </p:cNvPr>
              <p:cNvGraphicFramePr>
                <a:graphicFrameLocks noGrp="1"/>
              </p:cNvGraphicFramePr>
              <p:nvPr>
                <p:ph idx="1"/>
              </p:nvPr>
            </p:nvGraphicFramePr>
            <p:xfrm>
              <a:off x="838200" y="1825625"/>
              <a:ext cx="10515597" cy="2880360"/>
            </p:xfrm>
            <a:graphic>
              <a:graphicData uri="http://schemas.openxmlformats.org/drawingml/2006/table">
                <a:tbl>
                  <a:tblPr firstRow="1" bandRow="1">
                    <a:tableStyleId>{5C22544A-7EE6-4342-B048-85BDC9FD1C3A}</a:tableStyleId>
                  </a:tblPr>
                  <a:tblGrid>
                    <a:gridCol w="2626360">
                      <a:extLst>
                        <a:ext uri="{9D8B030D-6E8A-4147-A177-3AD203B41FA5}">
                          <a16:colId xmlns:a16="http://schemas.microsoft.com/office/drawing/2014/main" val="3859037791"/>
                        </a:ext>
                      </a:extLst>
                    </a:gridCol>
                    <a:gridCol w="3789680">
                      <a:extLst>
                        <a:ext uri="{9D8B030D-6E8A-4147-A177-3AD203B41FA5}">
                          <a16:colId xmlns:a16="http://schemas.microsoft.com/office/drawing/2014/main" val="1986166423"/>
                        </a:ext>
                      </a:extLst>
                    </a:gridCol>
                    <a:gridCol w="4099557">
                      <a:extLst>
                        <a:ext uri="{9D8B030D-6E8A-4147-A177-3AD203B41FA5}">
                          <a16:colId xmlns:a16="http://schemas.microsoft.com/office/drawing/2014/main" val="3667104526"/>
                        </a:ext>
                      </a:extLst>
                    </a:gridCol>
                  </a:tblGrid>
                  <a:tr h="370840">
                    <a:tc>
                      <a:txBody>
                        <a:bodyPr/>
                        <a:lstStyle/>
                        <a:p>
                          <a:r>
                            <a:rPr lang="en-US" sz="2100" dirty="0"/>
                            <a:t>Data Structure</a:t>
                          </a:r>
                        </a:p>
                      </a:txBody>
                      <a:tcPr/>
                    </a:tc>
                    <a:tc>
                      <a:txBody>
                        <a:bodyPr/>
                        <a:lstStyle/>
                        <a:p>
                          <a:r>
                            <a:rPr lang="en-US" sz="2100" dirty="0"/>
                            <a:t>Worst case time to insert</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100" dirty="0"/>
                            <a:t>Worst case time to extract</a:t>
                          </a:r>
                        </a:p>
                      </a:txBody>
                      <a:tcPr/>
                    </a:tc>
                    <a:extLst>
                      <a:ext uri="{0D108BD9-81ED-4DB2-BD59-A6C34878D82A}">
                        <a16:rowId xmlns:a16="http://schemas.microsoft.com/office/drawing/2014/main" val="1526940656"/>
                      </a:ext>
                    </a:extLst>
                  </a:tr>
                  <a:tr h="370840">
                    <a:tc>
                      <a:txBody>
                        <a:bodyPr/>
                        <a:lstStyle/>
                        <a:p>
                          <a:r>
                            <a:rPr lang="en-US" sz="2100" dirty="0"/>
                            <a:t>Unsorted Array</a:t>
                          </a:r>
                        </a:p>
                      </a:txBody>
                      <a:tcPr/>
                    </a:tc>
                    <a:tc>
                      <a:txBody>
                        <a:bodyPr/>
                        <a:lstStyle/>
                        <a:p>
                          <a:pPr/>
                          <a14:m>
                            <m:oMathPara xmlns:m="http://schemas.openxmlformats.org/officeDocument/2006/math">
                              <m:oMathParaPr>
                                <m:jc m:val="centerGroup"/>
                              </m:oMathParaPr>
                              <m:oMath xmlns:m="http://schemas.openxmlformats.org/officeDocument/2006/math">
                                <m:r>
                                  <m:rPr>
                                    <m:sty m:val="p"/>
                                  </m:rPr>
                                  <a:rPr lang="en-US" sz="2100" b="0" i="0" smtClean="0">
                                    <a:latin typeface="Cambria Math" panose="02040503050406030204" pitchFamily="18" charset="0"/>
                                  </a:rPr>
                                  <m:t>Θ</m:t>
                                </m:r>
                                <m:r>
                                  <a:rPr lang="en-US" sz="2100" b="0" i="1" smtClean="0">
                                    <a:latin typeface="Cambria Math" panose="02040503050406030204" pitchFamily="18" charset="0"/>
                                  </a:rPr>
                                  <m:t>(1)</m:t>
                                </m:r>
                              </m:oMath>
                            </m:oMathPara>
                          </a14:m>
                          <a:endParaRPr lang="en-US" sz="2100" dirty="0"/>
                        </a:p>
                      </a:txBody>
                      <a:tcPr/>
                    </a:tc>
                    <a:tc>
                      <a:txBody>
                        <a:bodyPr/>
                        <a:lstStyle/>
                        <a:p>
                          <a:pPr/>
                          <a14:m>
                            <m:oMathPara xmlns:m="http://schemas.openxmlformats.org/officeDocument/2006/math">
                              <m:oMathParaPr>
                                <m:jc m:val="centerGroup"/>
                              </m:oMathParaPr>
                              <m:oMath xmlns:m="http://schemas.openxmlformats.org/officeDocument/2006/math">
                                <m:r>
                                  <m:rPr>
                                    <m:sty m:val="p"/>
                                  </m:rPr>
                                  <a:rPr lang="en-US" sz="2100" b="0" i="0" smtClean="0">
                                    <a:latin typeface="Cambria Math" panose="02040503050406030204" pitchFamily="18" charset="0"/>
                                  </a:rPr>
                                  <m:t>Θ</m:t>
                                </m:r>
                                <m:r>
                                  <a:rPr lang="en-US" sz="2100" b="0" i="1" smtClean="0">
                                    <a:latin typeface="Cambria Math" panose="02040503050406030204" pitchFamily="18" charset="0"/>
                                  </a:rPr>
                                  <m:t>(</m:t>
                                </m:r>
                                <m:r>
                                  <a:rPr lang="en-US" sz="2100" b="0" i="1" smtClean="0">
                                    <a:latin typeface="Cambria Math" panose="02040503050406030204" pitchFamily="18" charset="0"/>
                                  </a:rPr>
                                  <m:t>𝑛</m:t>
                                </m:r>
                                <m:r>
                                  <a:rPr lang="en-US" sz="2100" b="0" i="1" smtClean="0">
                                    <a:latin typeface="Cambria Math" panose="02040503050406030204" pitchFamily="18" charset="0"/>
                                  </a:rPr>
                                  <m:t>)</m:t>
                                </m:r>
                              </m:oMath>
                            </m:oMathPara>
                          </a14:m>
                          <a:endParaRPr lang="en-US" sz="2100" dirty="0"/>
                        </a:p>
                      </a:txBody>
                      <a:tcPr/>
                    </a:tc>
                    <a:extLst>
                      <a:ext uri="{0D108BD9-81ED-4DB2-BD59-A6C34878D82A}">
                        <a16:rowId xmlns:a16="http://schemas.microsoft.com/office/drawing/2014/main" val="999218032"/>
                      </a:ext>
                    </a:extLst>
                  </a:tr>
                  <a:tr h="370840">
                    <a:tc>
                      <a:txBody>
                        <a:bodyPr/>
                        <a:lstStyle/>
                        <a:p>
                          <a:r>
                            <a:rPr lang="en-US" sz="2100" dirty="0"/>
                            <a:t>Unsorted Linked List</a:t>
                          </a:r>
                        </a:p>
                      </a:txBody>
                      <a:tcPr/>
                    </a:tc>
                    <a:tc>
                      <a:txBody>
                        <a:bodyPr/>
                        <a:lstStyle/>
                        <a:p>
                          <a:pPr/>
                          <a14:m>
                            <m:oMathPara xmlns:m="http://schemas.openxmlformats.org/officeDocument/2006/math">
                              <m:oMathParaPr>
                                <m:jc m:val="centerGroup"/>
                              </m:oMathParaPr>
                              <m:oMath xmlns:m="http://schemas.openxmlformats.org/officeDocument/2006/math">
                                <m:r>
                                  <m:rPr>
                                    <m:sty m:val="p"/>
                                  </m:rPr>
                                  <a:rPr lang="en-US" sz="2100" b="0" i="0" smtClean="0">
                                    <a:latin typeface="Cambria Math" panose="02040503050406030204" pitchFamily="18" charset="0"/>
                                  </a:rPr>
                                  <m:t>Θ</m:t>
                                </m:r>
                                <m:r>
                                  <a:rPr lang="en-US" sz="2100" b="0" i="1" smtClean="0">
                                    <a:latin typeface="Cambria Math" panose="02040503050406030204" pitchFamily="18" charset="0"/>
                                  </a:rPr>
                                  <m:t>(1)</m:t>
                                </m:r>
                              </m:oMath>
                            </m:oMathPara>
                          </a14:m>
                          <a:endParaRPr lang="en-US" sz="2100" dirty="0"/>
                        </a:p>
                      </a:txBody>
                      <a:tcPr/>
                    </a:tc>
                    <a:tc>
                      <a:txBody>
                        <a:bodyPr/>
                        <a:lstStyle/>
                        <a:p>
                          <a:pPr/>
                          <a14:m>
                            <m:oMathPara xmlns:m="http://schemas.openxmlformats.org/officeDocument/2006/math">
                              <m:oMathParaPr>
                                <m:jc m:val="centerGroup"/>
                              </m:oMathParaPr>
                              <m:oMath xmlns:m="http://schemas.openxmlformats.org/officeDocument/2006/math">
                                <m:r>
                                  <m:rPr>
                                    <m:sty m:val="p"/>
                                  </m:rPr>
                                  <a:rPr lang="en-US" sz="2100" b="0" i="0" smtClean="0">
                                    <a:latin typeface="Cambria Math" panose="02040503050406030204" pitchFamily="18" charset="0"/>
                                  </a:rPr>
                                  <m:t>Θ</m:t>
                                </m:r>
                                <m:r>
                                  <a:rPr lang="en-US" sz="2100" b="0" i="1" smtClean="0">
                                    <a:latin typeface="Cambria Math" panose="02040503050406030204" pitchFamily="18" charset="0"/>
                                  </a:rPr>
                                  <m:t>(</m:t>
                                </m:r>
                                <m:r>
                                  <a:rPr lang="en-US" sz="2100" b="0" i="1" smtClean="0">
                                    <a:latin typeface="Cambria Math" panose="02040503050406030204" pitchFamily="18" charset="0"/>
                                  </a:rPr>
                                  <m:t>𝑛</m:t>
                                </m:r>
                                <m:r>
                                  <a:rPr lang="en-US" sz="2100" b="0" i="1" smtClean="0">
                                    <a:latin typeface="Cambria Math" panose="02040503050406030204" pitchFamily="18" charset="0"/>
                                  </a:rPr>
                                  <m:t>)</m:t>
                                </m:r>
                              </m:oMath>
                            </m:oMathPara>
                          </a14:m>
                          <a:endParaRPr lang="en-US" sz="2100" dirty="0"/>
                        </a:p>
                      </a:txBody>
                      <a:tcPr/>
                    </a:tc>
                    <a:extLst>
                      <a:ext uri="{0D108BD9-81ED-4DB2-BD59-A6C34878D82A}">
                        <a16:rowId xmlns:a16="http://schemas.microsoft.com/office/drawing/2014/main" val="2237532272"/>
                      </a:ext>
                    </a:extLst>
                  </a:tr>
                  <a:tr h="370840">
                    <a:tc>
                      <a:txBody>
                        <a:bodyPr/>
                        <a:lstStyle/>
                        <a:p>
                          <a:r>
                            <a:rPr lang="en-US" sz="2100" dirty="0"/>
                            <a:t>Sorted Array</a:t>
                          </a:r>
                        </a:p>
                      </a:txBody>
                      <a:tcPr/>
                    </a:tc>
                    <a:tc>
                      <a:txBody>
                        <a:bodyPr/>
                        <a:lstStyle/>
                        <a:p>
                          <a:pPr/>
                          <a14:m>
                            <m:oMathPara xmlns:m="http://schemas.openxmlformats.org/officeDocument/2006/math">
                              <m:oMathParaPr>
                                <m:jc m:val="centerGroup"/>
                              </m:oMathParaPr>
                              <m:oMath xmlns:m="http://schemas.openxmlformats.org/officeDocument/2006/math">
                                <m:r>
                                  <m:rPr>
                                    <m:sty m:val="p"/>
                                  </m:rPr>
                                  <a:rPr lang="en-US" sz="2100" b="0" i="0" smtClean="0">
                                    <a:latin typeface="Cambria Math" panose="02040503050406030204" pitchFamily="18" charset="0"/>
                                  </a:rPr>
                                  <m:t>Θ</m:t>
                                </m:r>
                                <m:d>
                                  <m:dPr>
                                    <m:ctrlPr>
                                      <a:rPr lang="en-US" sz="2100" b="0" i="1" smtClean="0">
                                        <a:latin typeface="Cambria Math" panose="02040503050406030204" pitchFamily="18" charset="0"/>
                                      </a:rPr>
                                    </m:ctrlPr>
                                  </m:dPr>
                                  <m:e>
                                    <m:r>
                                      <a:rPr lang="en-US" sz="2100" b="0" i="1" smtClean="0">
                                        <a:latin typeface="Cambria Math" panose="02040503050406030204" pitchFamily="18" charset="0"/>
                                      </a:rPr>
                                      <m:t>𝑛</m:t>
                                    </m:r>
                                  </m:e>
                                </m:d>
                              </m:oMath>
                            </m:oMathPara>
                          </a14:m>
                          <a:endParaRPr lang="en-US" sz="2100" dirty="0"/>
                        </a:p>
                      </a:txBody>
                      <a:tcPr/>
                    </a:tc>
                    <a:tc>
                      <a:txBody>
                        <a:bodyPr/>
                        <a:lstStyle/>
                        <a:p>
                          <a:pPr/>
                          <a14:m>
                            <m:oMathPara xmlns:m="http://schemas.openxmlformats.org/officeDocument/2006/math">
                              <m:oMathParaPr>
                                <m:jc m:val="centerGroup"/>
                              </m:oMathParaPr>
                              <m:oMath xmlns:m="http://schemas.openxmlformats.org/officeDocument/2006/math">
                                <m:r>
                                  <m:rPr>
                                    <m:sty m:val="p"/>
                                  </m:rPr>
                                  <a:rPr lang="en-US" sz="2100" b="0" i="0" smtClean="0">
                                    <a:latin typeface="Cambria Math" panose="02040503050406030204" pitchFamily="18" charset="0"/>
                                  </a:rPr>
                                  <m:t>Θ</m:t>
                                </m:r>
                                <m:r>
                                  <a:rPr lang="en-US" sz="2100" b="0" i="1" smtClean="0">
                                    <a:latin typeface="Cambria Math" panose="02040503050406030204" pitchFamily="18" charset="0"/>
                                  </a:rPr>
                                  <m:t>(1)</m:t>
                                </m:r>
                              </m:oMath>
                            </m:oMathPara>
                          </a14:m>
                          <a:endParaRPr lang="en-US" sz="2100" dirty="0"/>
                        </a:p>
                      </a:txBody>
                      <a:tcPr/>
                    </a:tc>
                    <a:extLst>
                      <a:ext uri="{0D108BD9-81ED-4DB2-BD59-A6C34878D82A}">
                        <a16:rowId xmlns:a16="http://schemas.microsoft.com/office/drawing/2014/main" val="1851548857"/>
                      </a:ext>
                    </a:extLst>
                  </a:tr>
                  <a:tr h="370840">
                    <a:tc>
                      <a:txBody>
                        <a:bodyPr/>
                        <a:lstStyle/>
                        <a:p>
                          <a:r>
                            <a:rPr lang="en-US" sz="2100" dirty="0"/>
                            <a:t>Sorted Linked List</a:t>
                          </a:r>
                        </a:p>
                      </a:txBody>
                      <a:tcPr/>
                    </a:tc>
                    <a:tc>
                      <a:txBody>
                        <a:bodyPr/>
                        <a:lstStyle/>
                        <a:p>
                          <a:pPr/>
                          <a14:m>
                            <m:oMathPara xmlns:m="http://schemas.openxmlformats.org/officeDocument/2006/math">
                              <m:oMathParaPr>
                                <m:jc m:val="centerGroup"/>
                              </m:oMathParaPr>
                              <m:oMath xmlns:m="http://schemas.openxmlformats.org/officeDocument/2006/math">
                                <m:r>
                                  <m:rPr>
                                    <m:sty m:val="p"/>
                                  </m:rPr>
                                  <a:rPr lang="en-US" sz="2100" b="0" i="0" smtClean="0">
                                    <a:latin typeface="Cambria Math" panose="02040503050406030204" pitchFamily="18" charset="0"/>
                                  </a:rPr>
                                  <m:t>Θ</m:t>
                                </m:r>
                                <m:d>
                                  <m:dPr>
                                    <m:ctrlPr>
                                      <a:rPr lang="en-US" sz="2100" b="0" i="1" smtClean="0">
                                        <a:latin typeface="Cambria Math" panose="02040503050406030204" pitchFamily="18" charset="0"/>
                                      </a:rPr>
                                    </m:ctrlPr>
                                  </m:dPr>
                                  <m:e>
                                    <m:r>
                                      <a:rPr lang="en-US" sz="2100" b="0" i="1" smtClean="0">
                                        <a:latin typeface="Cambria Math" panose="02040503050406030204" pitchFamily="18" charset="0"/>
                                      </a:rPr>
                                      <m:t>𝑛</m:t>
                                    </m:r>
                                  </m:e>
                                </m:d>
                              </m:oMath>
                            </m:oMathPara>
                          </a14:m>
                          <a:endParaRPr lang="en-US" sz="2100" dirty="0"/>
                        </a:p>
                      </a:txBody>
                      <a:tcPr/>
                    </a:tc>
                    <a:tc>
                      <a:txBody>
                        <a:bodyPr/>
                        <a:lstStyle/>
                        <a:p>
                          <a:pPr/>
                          <a14:m>
                            <m:oMathPara xmlns:m="http://schemas.openxmlformats.org/officeDocument/2006/math">
                              <m:oMathParaPr>
                                <m:jc m:val="centerGroup"/>
                              </m:oMathParaPr>
                              <m:oMath xmlns:m="http://schemas.openxmlformats.org/officeDocument/2006/math">
                                <m:r>
                                  <m:rPr>
                                    <m:sty m:val="p"/>
                                  </m:rPr>
                                  <a:rPr lang="en-US" sz="2100" b="0" i="0" smtClean="0">
                                    <a:latin typeface="Cambria Math" panose="02040503050406030204" pitchFamily="18" charset="0"/>
                                  </a:rPr>
                                  <m:t>Θ</m:t>
                                </m:r>
                                <m:d>
                                  <m:dPr>
                                    <m:ctrlPr>
                                      <a:rPr lang="en-US" sz="2100" b="0" i="1" smtClean="0">
                                        <a:latin typeface="Cambria Math" panose="02040503050406030204" pitchFamily="18" charset="0"/>
                                      </a:rPr>
                                    </m:ctrlPr>
                                  </m:dPr>
                                  <m:e>
                                    <m:r>
                                      <a:rPr lang="en-US" sz="2100" b="0" i="1" smtClean="0">
                                        <a:latin typeface="Cambria Math" panose="02040503050406030204" pitchFamily="18" charset="0"/>
                                      </a:rPr>
                                      <m:t>1</m:t>
                                    </m:r>
                                  </m:e>
                                </m:d>
                              </m:oMath>
                            </m:oMathPara>
                          </a14:m>
                          <a:endParaRPr lang="en-US" sz="2100" dirty="0"/>
                        </a:p>
                      </a:txBody>
                      <a:tcPr/>
                    </a:tc>
                    <a:extLst>
                      <a:ext uri="{0D108BD9-81ED-4DB2-BD59-A6C34878D82A}">
                        <a16:rowId xmlns:a16="http://schemas.microsoft.com/office/drawing/2014/main" val="2877379023"/>
                      </a:ext>
                    </a:extLst>
                  </a:tr>
                  <a:tr h="370840">
                    <a:tc>
                      <a:txBody>
                        <a:bodyPr/>
                        <a:lstStyle/>
                        <a:p>
                          <a:r>
                            <a:rPr lang="en-US" sz="2100" dirty="0"/>
                            <a:t>Binary Search Tree</a:t>
                          </a:r>
                        </a:p>
                      </a:txBody>
                      <a:tcPr/>
                    </a:tc>
                    <a:tc>
                      <a:txBody>
                        <a:bodyPr/>
                        <a:lstStyle/>
                        <a:p>
                          <a:pPr/>
                          <a14:m>
                            <m:oMathPara xmlns:m="http://schemas.openxmlformats.org/officeDocument/2006/math">
                              <m:oMathParaPr>
                                <m:jc m:val="centerGroup"/>
                              </m:oMathParaPr>
                              <m:oMath xmlns:m="http://schemas.openxmlformats.org/officeDocument/2006/math">
                                <m:r>
                                  <m:rPr>
                                    <m:sty m:val="p"/>
                                  </m:rPr>
                                  <a:rPr lang="en-US" sz="2100" b="0" i="0" smtClean="0">
                                    <a:latin typeface="Cambria Math" panose="02040503050406030204" pitchFamily="18" charset="0"/>
                                  </a:rPr>
                                  <m:t>Θ</m:t>
                                </m:r>
                                <m:d>
                                  <m:dPr>
                                    <m:ctrlPr>
                                      <a:rPr lang="en-US" sz="2100" b="0" i="1" smtClean="0">
                                        <a:latin typeface="Cambria Math" panose="02040503050406030204" pitchFamily="18" charset="0"/>
                                      </a:rPr>
                                    </m:ctrlPr>
                                  </m:dPr>
                                  <m:e>
                                    <m:r>
                                      <a:rPr lang="en-US" sz="2100" b="0" i="1" smtClean="0">
                                        <a:latin typeface="Cambria Math" panose="02040503050406030204" pitchFamily="18" charset="0"/>
                                      </a:rPr>
                                      <m:t>𝑛</m:t>
                                    </m:r>
                                  </m:e>
                                </m:d>
                              </m:oMath>
                            </m:oMathPara>
                          </a14:m>
                          <a:endParaRPr lang="en-US" sz="2100" dirty="0"/>
                        </a:p>
                      </a:txBody>
                      <a:tcPr/>
                    </a:tc>
                    <a:tc>
                      <a:txBody>
                        <a:bodyPr/>
                        <a:lstStyle/>
                        <a:p>
                          <a:pPr/>
                          <a14:m>
                            <m:oMathPara xmlns:m="http://schemas.openxmlformats.org/officeDocument/2006/math">
                              <m:oMathParaPr>
                                <m:jc m:val="centerGroup"/>
                              </m:oMathParaPr>
                              <m:oMath xmlns:m="http://schemas.openxmlformats.org/officeDocument/2006/math">
                                <m:r>
                                  <m:rPr>
                                    <m:sty m:val="p"/>
                                  </m:rPr>
                                  <a:rPr lang="en-US" sz="2100" b="0" i="0" smtClean="0">
                                    <a:latin typeface="Cambria Math" panose="02040503050406030204" pitchFamily="18" charset="0"/>
                                  </a:rPr>
                                  <m:t>Θ</m:t>
                                </m:r>
                                <m:d>
                                  <m:dPr>
                                    <m:ctrlPr>
                                      <a:rPr lang="en-US" sz="2100" b="0" i="1" smtClean="0">
                                        <a:latin typeface="Cambria Math" panose="02040503050406030204" pitchFamily="18" charset="0"/>
                                      </a:rPr>
                                    </m:ctrlPr>
                                  </m:dPr>
                                  <m:e>
                                    <m:r>
                                      <a:rPr lang="en-US" sz="2100" b="0" i="1" smtClean="0">
                                        <a:latin typeface="Cambria Math" panose="02040503050406030204" pitchFamily="18" charset="0"/>
                                      </a:rPr>
                                      <m:t>𝑛</m:t>
                                    </m:r>
                                  </m:e>
                                </m:d>
                              </m:oMath>
                            </m:oMathPara>
                          </a14:m>
                          <a:endParaRPr lang="en-US" sz="2100" dirty="0"/>
                        </a:p>
                      </a:txBody>
                      <a:tcPr/>
                    </a:tc>
                    <a:extLst>
                      <a:ext uri="{0D108BD9-81ED-4DB2-BD59-A6C34878D82A}">
                        <a16:rowId xmlns:a16="http://schemas.microsoft.com/office/drawing/2014/main" val="911959055"/>
                      </a:ext>
                    </a:extLst>
                  </a:tr>
                  <a:tr h="370840">
                    <a:tc>
                      <a:txBody>
                        <a:bodyPr/>
                        <a:lstStyle/>
                        <a:p>
                          <a:r>
                            <a:rPr lang="en-US" sz="2100" dirty="0"/>
                            <a:t>Binary Heap</a:t>
                          </a:r>
                        </a:p>
                      </a:txBody>
                      <a:tcPr>
                        <a:solidFill>
                          <a:schemeClr val="accent2">
                            <a:lumMod val="60000"/>
                            <a:lumOff val="40000"/>
                          </a:schemeClr>
                        </a:solidFill>
                      </a:tcPr>
                    </a:tc>
                    <a:tc>
                      <a:txBody>
                        <a:bodyPr/>
                        <a:lstStyle/>
                        <a:p>
                          <a:pPr/>
                          <a14:m>
                            <m:oMathPara xmlns:m="http://schemas.openxmlformats.org/officeDocument/2006/math">
                              <m:oMathParaPr>
                                <m:jc m:val="centerGroup"/>
                              </m:oMathParaPr>
                              <m:oMath xmlns:m="http://schemas.openxmlformats.org/officeDocument/2006/math">
                                <m:r>
                                  <m:rPr>
                                    <m:sty m:val="p"/>
                                  </m:rPr>
                                  <a:rPr lang="en-US" sz="2100" b="0" i="0" smtClean="0">
                                    <a:latin typeface="Cambria Math" panose="02040503050406030204" pitchFamily="18" charset="0"/>
                                  </a:rPr>
                                  <m:t>Θ</m:t>
                                </m:r>
                                <m:d>
                                  <m:dPr>
                                    <m:ctrlPr>
                                      <a:rPr lang="en-US" sz="2100" b="0" i="1" smtClean="0">
                                        <a:latin typeface="Cambria Math" panose="02040503050406030204" pitchFamily="18" charset="0"/>
                                      </a:rPr>
                                    </m:ctrlPr>
                                  </m:dPr>
                                  <m:e>
                                    <m:func>
                                      <m:funcPr>
                                        <m:ctrlPr>
                                          <a:rPr lang="en-US" sz="2100" b="0" i="1" smtClean="0">
                                            <a:latin typeface="Cambria Math" panose="02040503050406030204" pitchFamily="18" charset="0"/>
                                          </a:rPr>
                                        </m:ctrlPr>
                                      </m:funcPr>
                                      <m:fName>
                                        <m:r>
                                          <m:rPr>
                                            <m:sty m:val="p"/>
                                          </m:rPr>
                                          <a:rPr lang="en-US" sz="2100" b="0" i="0" smtClean="0">
                                            <a:latin typeface="Cambria Math" panose="02040503050406030204" pitchFamily="18" charset="0"/>
                                          </a:rPr>
                                          <m:t>log</m:t>
                                        </m:r>
                                      </m:fName>
                                      <m:e>
                                        <m:r>
                                          <a:rPr lang="en-US" sz="2100" b="0" i="1" smtClean="0">
                                            <a:latin typeface="Cambria Math" panose="02040503050406030204" pitchFamily="18" charset="0"/>
                                          </a:rPr>
                                          <m:t>𝑛</m:t>
                                        </m:r>
                                      </m:e>
                                    </m:func>
                                  </m:e>
                                </m:d>
                              </m:oMath>
                            </m:oMathPara>
                          </a14:m>
                          <a:endParaRPr lang="en-US" sz="2100" dirty="0"/>
                        </a:p>
                      </a:txBody>
                      <a:tcPr>
                        <a:solidFill>
                          <a:schemeClr val="accent2">
                            <a:lumMod val="60000"/>
                            <a:lumOff val="40000"/>
                          </a:schemeClr>
                        </a:solidFill>
                      </a:tcPr>
                    </a:tc>
                    <a:tc>
                      <a:txBody>
                        <a:bodyPr/>
                        <a:lstStyle/>
                        <a:p>
                          <a:pPr/>
                          <a14:m>
                            <m:oMathPara xmlns:m="http://schemas.openxmlformats.org/officeDocument/2006/math">
                              <m:oMathParaPr>
                                <m:jc m:val="centerGroup"/>
                              </m:oMathParaPr>
                              <m:oMath xmlns:m="http://schemas.openxmlformats.org/officeDocument/2006/math">
                                <m:r>
                                  <m:rPr>
                                    <m:sty m:val="p"/>
                                  </m:rPr>
                                  <a:rPr lang="en-US" sz="2100" b="0" i="0" smtClean="0">
                                    <a:latin typeface="Cambria Math" panose="02040503050406030204" pitchFamily="18" charset="0"/>
                                  </a:rPr>
                                  <m:t>Θ</m:t>
                                </m:r>
                                <m:d>
                                  <m:dPr>
                                    <m:ctrlPr>
                                      <a:rPr lang="en-US" sz="2100" b="0" i="1" smtClean="0">
                                        <a:latin typeface="Cambria Math" panose="02040503050406030204" pitchFamily="18" charset="0"/>
                                      </a:rPr>
                                    </m:ctrlPr>
                                  </m:dPr>
                                  <m:e>
                                    <m:func>
                                      <m:funcPr>
                                        <m:ctrlPr>
                                          <a:rPr lang="en-US" sz="2100" b="0" i="1" smtClean="0">
                                            <a:latin typeface="Cambria Math" panose="02040503050406030204" pitchFamily="18" charset="0"/>
                                          </a:rPr>
                                        </m:ctrlPr>
                                      </m:funcPr>
                                      <m:fName>
                                        <m:r>
                                          <m:rPr>
                                            <m:sty m:val="p"/>
                                          </m:rPr>
                                          <a:rPr lang="en-US" sz="2100" b="0" i="0" smtClean="0">
                                            <a:latin typeface="Cambria Math" panose="02040503050406030204" pitchFamily="18" charset="0"/>
                                          </a:rPr>
                                          <m:t>log</m:t>
                                        </m:r>
                                      </m:fName>
                                      <m:e>
                                        <m:r>
                                          <a:rPr lang="en-US" sz="2100" b="0" i="1" smtClean="0">
                                            <a:latin typeface="Cambria Math" panose="02040503050406030204" pitchFamily="18" charset="0"/>
                                          </a:rPr>
                                          <m:t>𝑛</m:t>
                                        </m:r>
                                      </m:e>
                                    </m:func>
                                  </m:e>
                                </m:d>
                              </m:oMath>
                            </m:oMathPara>
                          </a14:m>
                          <a:endParaRPr lang="en-US" sz="2100" dirty="0"/>
                        </a:p>
                      </a:txBody>
                      <a:tcPr>
                        <a:solidFill>
                          <a:schemeClr val="accent2">
                            <a:lumMod val="60000"/>
                            <a:lumOff val="40000"/>
                          </a:schemeClr>
                        </a:solidFill>
                      </a:tcPr>
                    </a:tc>
                    <a:extLst>
                      <a:ext uri="{0D108BD9-81ED-4DB2-BD59-A6C34878D82A}">
                        <a16:rowId xmlns:a16="http://schemas.microsoft.com/office/drawing/2014/main" val="2607651751"/>
                      </a:ext>
                    </a:extLst>
                  </a:tr>
                </a:tbl>
              </a:graphicData>
            </a:graphic>
          </p:graphicFrame>
        </mc:Choice>
        <mc:Fallback xmlns="">
          <p:graphicFrame>
            <p:nvGraphicFramePr>
              <p:cNvPr id="4" name="Content Placeholder 3">
                <a:extLst>
                  <a:ext uri="{FF2B5EF4-FFF2-40B4-BE49-F238E27FC236}">
                    <a16:creationId xmlns:a16="http://schemas.microsoft.com/office/drawing/2014/main" id="{A5DE81BF-64A3-93DD-75E1-1B8B7ADAA44B}"/>
                  </a:ext>
                </a:extLst>
              </p:cNvPr>
              <p:cNvGraphicFramePr>
                <a:graphicFrameLocks noGrp="1"/>
              </p:cNvGraphicFramePr>
              <p:nvPr>
                <p:ph idx="1"/>
                <p:extLst>
                  <p:ext uri="{D42A27DB-BD31-4B8C-83A1-F6EECF244321}">
                    <p14:modId xmlns:p14="http://schemas.microsoft.com/office/powerpoint/2010/main" val="2513853333"/>
                  </p:ext>
                </p:extLst>
              </p:nvPr>
            </p:nvGraphicFramePr>
            <p:xfrm>
              <a:off x="838200" y="1825625"/>
              <a:ext cx="10515597" cy="2880360"/>
            </p:xfrm>
            <a:graphic>
              <a:graphicData uri="http://schemas.openxmlformats.org/drawingml/2006/table">
                <a:tbl>
                  <a:tblPr firstRow="1" bandRow="1">
                    <a:tableStyleId>{5C22544A-7EE6-4342-B048-85BDC9FD1C3A}</a:tableStyleId>
                  </a:tblPr>
                  <a:tblGrid>
                    <a:gridCol w="2626360">
                      <a:extLst>
                        <a:ext uri="{9D8B030D-6E8A-4147-A177-3AD203B41FA5}">
                          <a16:colId xmlns:a16="http://schemas.microsoft.com/office/drawing/2014/main" val="3859037791"/>
                        </a:ext>
                      </a:extLst>
                    </a:gridCol>
                    <a:gridCol w="3789680">
                      <a:extLst>
                        <a:ext uri="{9D8B030D-6E8A-4147-A177-3AD203B41FA5}">
                          <a16:colId xmlns:a16="http://schemas.microsoft.com/office/drawing/2014/main" val="1986166423"/>
                        </a:ext>
                      </a:extLst>
                    </a:gridCol>
                    <a:gridCol w="4099557">
                      <a:extLst>
                        <a:ext uri="{9D8B030D-6E8A-4147-A177-3AD203B41FA5}">
                          <a16:colId xmlns:a16="http://schemas.microsoft.com/office/drawing/2014/main" val="3667104526"/>
                        </a:ext>
                      </a:extLst>
                    </a:gridCol>
                  </a:tblGrid>
                  <a:tr h="411480">
                    <a:tc>
                      <a:txBody>
                        <a:bodyPr/>
                        <a:lstStyle/>
                        <a:p>
                          <a:r>
                            <a:rPr lang="en-US" sz="2100" dirty="0"/>
                            <a:t>Data Structure</a:t>
                          </a:r>
                        </a:p>
                      </a:txBody>
                      <a:tcPr/>
                    </a:tc>
                    <a:tc>
                      <a:txBody>
                        <a:bodyPr/>
                        <a:lstStyle/>
                        <a:p>
                          <a:r>
                            <a:rPr lang="en-US" sz="2100" dirty="0"/>
                            <a:t>Worst case time to insert</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100" dirty="0"/>
                            <a:t>Worst case time to extract</a:t>
                          </a:r>
                        </a:p>
                      </a:txBody>
                      <a:tcPr/>
                    </a:tc>
                    <a:extLst>
                      <a:ext uri="{0D108BD9-81ED-4DB2-BD59-A6C34878D82A}">
                        <a16:rowId xmlns:a16="http://schemas.microsoft.com/office/drawing/2014/main" val="1526940656"/>
                      </a:ext>
                    </a:extLst>
                  </a:tr>
                  <a:tr h="411480">
                    <a:tc>
                      <a:txBody>
                        <a:bodyPr/>
                        <a:lstStyle/>
                        <a:p>
                          <a:r>
                            <a:rPr lang="en-US" sz="2100" dirty="0"/>
                            <a:t>Unsorted Array</a:t>
                          </a:r>
                        </a:p>
                      </a:txBody>
                      <a:tcPr/>
                    </a:tc>
                    <a:tc>
                      <a:txBody>
                        <a:bodyPr/>
                        <a:lstStyle/>
                        <a:p>
                          <a:endParaRPr lang="en-US"/>
                        </a:p>
                      </a:txBody>
                      <a:tcPr>
                        <a:blipFill>
                          <a:blip r:embed="rId2"/>
                          <a:stretch>
                            <a:fillRect l="-69453" t="-110448" r="-108842" b="-534328"/>
                          </a:stretch>
                        </a:blipFill>
                      </a:tcPr>
                    </a:tc>
                    <a:tc>
                      <a:txBody>
                        <a:bodyPr/>
                        <a:lstStyle/>
                        <a:p>
                          <a:endParaRPr lang="en-US"/>
                        </a:p>
                      </a:txBody>
                      <a:tcPr>
                        <a:blipFill>
                          <a:blip r:embed="rId2"/>
                          <a:stretch>
                            <a:fillRect l="-156612" t="-110448" r="-594" b="-534328"/>
                          </a:stretch>
                        </a:blipFill>
                      </a:tcPr>
                    </a:tc>
                    <a:extLst>
                      <a:ext uri="{0D108BD9-81ED-4DB2-BD59-A6C34878D82A}">
                        <a16:rowId xmlns:a16="http://schemas.microsoft.com/office/drawing/2014/main" val="999218032"/>
                      </a:ext>
                    </a:extLst>
                  </a:tr>
                  <a:tr h="411480">
                    <a:tc>
                      <a:txBody>
                        <a:bodyPr/>
                        <a:lstStyle/>
                        <a:p>
                          <a:r>
                            <a:rPr lang="en-US" sz="2100" dirty="0"/>
                            <a:t>Unsorted Linked List</a:t>
                          </a:r>
                        </a:p>
                      </a:txBody>
                      <a:tcPr/>
                    </a:tc>
                    <a:tc>
                      <a:txBody>
                        <a:bodyPr/>
                        <a:lstStyle/>
                        <a:p>
                          <a:endParaRPr lang="en-US"/>
                        </a:p>
                      </a:txBody>
                      <a:tcPr>
                        <a:blipFill>
                          <a:blip r:embed="rId2"/>
                          <a:stretch>
                            <a:fillRect l="-69453" t="-207353" r="-108842" b="-426471"/>
                          </a:stretch>
                        </a:blipFill>
                      </a:tcPr>
                    </a:tc>
                    <a:tc>
                      <a:txBody>
                        <a:bodyPr/>
                        <a:lstStyle/>
                        <a:p>
                          <a:endParaRPr lang="en-US"/>
                        </a:p>
                      </a:txBody>
                      <a:tcPr>
                        <a:blipFill>
                          <a:blip r:embed="rId2"/>
                          <a:stretch>
                            <a:fillRect l="-156612" t="-207353" r="-594" b="-426471"/>
                          </a:stretch>
                        </a:blipFill>
                      </a:tcPr>
                    </a:tc>
                    <a:extLst>
                      <a:ext uri="{0D108BD9-81ED-4DB2-BD59-A6C34878D82A}">
                        <a16:rowId xmlns:a16="http://schemas.microsoft.com/office/drawing/2014/main" val="2237532272"/>
                      </a:ext>
                    </a:extLst>
                  </a:tr>
                  <a:tr h="411480">
                    <a:tc>
                      <a:txBody>
                        <a:bodyPr/>
                        <a:lstStyle/>
                        <a:p>
                          <a:r>
                            <a:rPr lang="en-US" sz="2100" dirty="0"/>
                            <a:t>Sorted Array</a:t>
                          </a:r>
                        </a:p>
                      </a:txBody>
                      <a:tcPr/>
                    </a:tc>
                    <a:tc>
                      <a:txBody>
                        <a:bodyPr/>
                        <a:lstStyle/>
                        <a:p>
                          <a:endParaRPr lang="en-US"/>
                        </a:p>
                      </a:txBody>
                      <a:tcPr>
                        <a:blipFill>
                          <a:blip r:embed="rId2"/>
                          <a:stretch>
                            <a:fillRect l="-69453" t="-311940" r="-108842" b="-332836"/>
                          </a:stretch>
                        </a:blipFill>
                      </a:tcPr>
                    </a:tc>
                    <a:tc>
                      <a:txBody>
                        <a:bodyPr/>
                        <a:lstStyle/>
                        <a:p>
                          <a:endParaRPr lang="en-US"/>
                        </a:p>
                      </a:txBody>
                      <a:tcPr>
                        <a:blipFill>
                          <a:blip r:embed="rId2"/>
                          <a:stretch>
                            <a:fillRect l="-156612" t="-311940" r="-594" b="-332836"/>
                          </a:stretch>
                        </a:blipFill>
                      </a:tcPr>
                    </a:tc>
                    <a:extLst>
                      <a:ext uri="{0D108BD9-81ED-4DB2-BD59-A6C34878D82A}">
                        <a16:rowId xmlns:a16="http://schemas.microsoft.com/office/drawing/2014/main" val="1851548857"/>
                      </a:ext>
                    </a:extLst>
                  </a:tr>
                  <a:tr h="411480">
                    <a:tc>
                      <a:txBody>
                        <a:bodyPr/>
                        <a:lstStyle/>
                        <a:p>
                          <a:r>
                            <a:rPr lang="en-US" sz="2100" dirty="0"/>
                            <a:t>Sorted Linked List</a:t>
                          </a:r>
                        </a:p>
                      </a:txBody>
                      <a:tcPr/>
                    </a:tc>
                    <a:tc>
                      <a:txBody>
                        <a:bodyPr/>
                        <a:lstStyle/>
                        <a:p>
                          <a:endParaRPr lang="en-US"/>
                        </a:p>
                      </a:txBody>
                      <a:tcPr>
                        <a:blipFill>
                          <a:blip r:embed="rId2"/>
                          <a:stretch>
                            <a:fillRect l="-69453" t="-405882" r="-108842" b="-227941"/>
                          </a:stretch>
                        </a:blipFill>
                      </a:tcPr>
                    </a:tc>
                    <a:tc>
                      <a:txBody>
                        <a:bodyPr/>
                        <a:lstStyle/>
                        <a:p>
                          <a:endParaRPr lang="en-US"/>
                        </a:p>
                      </a:txBody>
                      <a:tcPr>
                        <a:blipFill>
                          <a:blip r:embed="rId2"/>
                          <a:stretch>
                            <a:fillRect l="-156612" t="-405882" r="-594" b="-227941"/>
                          </a:stretch>
                        </a:blipFill>
                      </a:tcPr>
                    </a:tc>
                    <a:extLst>
                      <a:ext uri="{0D108BD9-81ED-4DB2-BD59-A6C34878D82A}">
                        <a16:rowId xmlns:a16="http://schemas.microsoft.com/office/drawing/2014/main" val="2877379023"/>
                      </a:ext>
                    </a:extLst>
                  </a:tr>
                  <a:tr h="411480">
                    <a:tc>
                      <a:txBody>
                        <a:bodyPr/>
                        <a:lstStyle/>
                        <a:p>
                          <a:r>
                            <a:rPr lang="en-US" sz="2100" dirty="0"/>
                            <a:t>Binary Search Tree</a:t>
                          </a:r>
                        </a:p>
                      </a:txBody>
                      <a:tcPr/>
                    </a:tc>
                    <a:tc>
                      <a:txBody>
                        <a:bodyPr/>
                        <a:lstStyle/>
                        <a:p>
                          <a:endParaRPr lang="en-US"/>
                        </a:p>
                      </a:txBody>
                      <a:tcPr>
                        <a:blipFill>
                          <a:blip r:embed="rId2"/>
                          <a:stretch>
                            <a:fillRect l="-69453" t="-513433" r="-108842" b="-131343"/>
                          </a:stretch>
                        </a:blipFill>
                      </a:tcPr>
                    </a:tc>
                    <a:tc>
                      <a:txBody>
                        <a:bodyPr/>
                        <a:lstStyle/>
                        <a:p>
                          <a:endParaRPr lang="en-US"/>
                        </a:p>
                      </a:txBody>
                      <a:tcPr>
                        <a:blipFill>
                          <a:blip r:embed="rId2"/>
                          <a:stretch>
                            <a:fillRect l="-156612" t="-513433" r="-594" b="-131343"/>
                          </a:stretch>
                        </a:blipFill>
                      </a:tcPr>
                    </a:tc>
                    <a:extLst>
                      <a:ext uri="{0D108BD9-81ED-4DB2-BD59-A6C34878D82A}">
                        <a16:rowId xmlns:a16="http://schemas.microsoft.com/office/drawing/2014/main" val="911959055"/>
                      </a:ext>
                    </a:extLst>
                  </a:tr>
                  <a:tr h="411480">
                    <a:tc>
                      <a:txBody>
                        <a:bodyPr/>
                        <a:lstStyle/>
                        <a:p>
                          <a:r>
                            <a:rPr lang="en-US" sz="2100" dirty="0"/>
                            <a:t>Binary Heap</a:t>
                          </a:r>
                        </a:p>
                      </a:txBody>
                      <a:tcPr>
                        <a:solidFill>
                          <a:schemeClr val="accent2">
                            <a:lumMod val="60000"/>
                            <a:lumOff val="40000"/>
                          </a:schemeClr>
                        </a:solidFill>
                      </a:tcPr>
                    </a:tc>
                    <a:tc>
                      <a:txBody>
                        <a:bodyPr/>
                        <a:lstStyle/>
                        <a:p>
                          <a:endParaRPr lang="en-US"/>
                        </a:p>
                      </a:txBody>
                      <a:tcPr>
                        <a:blipFill>
                          <a:blip r:embed="rId2"/>
                          <a:stretch>
                            <a:fillRect l="-69453" t="-604412" r="-108842" b="-29412"/>
                          </a:stretch>
                        </a:blipFill>
                      </a:tcPr>
                    </a:tc>
                    <a:tc>
                      <a:txBody>
                        <a:bodyPr/>
                        <a:lstStyle/>
                        <a:p>
                          <a:endParaRPr lang="en-US"/>
                        </a:p>
                      </a:txBody>
                      <a:tcPr>
                        <a:blipFill>
                          <a:blip r:embed="rId2"/>
                          <a:stretch>
                            <a:fillRect l="-156612" t="-604412" r="-594" b="-29412"/>
                          </a:stretch>
                        </a:blipFill>
                      </a:tcPr>
                    </a:tc>
                    <a:extLst>
                      <a:ext uri="{0D108BD9-81ED-4DB2-BD59-A6C34878D82A}">
                        <a16:rowId xmlns:a16="http://schemas.microsoft.com/office/drawing/2014/main" val="2607651751"/>
                      </a:ext>
                    </a:extLst>
                  </a:tr>
                </a:tbl>
              </a:graphicData>
            </a:graphic>
          </p:graphicFrame>
        </mc:Fallback>
      </mc:AlternateContent>
      <p:sp>
        <p:nvSpPr>
          <p:cNvPr id="3" name="TextBox 2">
            <a:extLst>
              <a:ext uri="{FF2B5EF4-FFF2-40B4-BE49-F238E27FC236}">
                <a16:creationId xmlns:a16="http://schemas.microsoft.com/office/drawing/2014/main" id="{B5A04C30-28A0-45BD-0DCC-6FE722E39D48}"/>
              </a:ext>
            </a:extLst>
          </p:cNvPr>
          <p:cNvSpPr txBox="1"/>
          <p:nvPr/>
        </p:nvSpPr>
        <p:spPr>
          <a:xfrm>
            <a:off x="838200" y="5852160"/>
            <a:ext cx="9707880" cy="830997"/>
          </a:xfrm>
          <a:prstGeom prst="rect">
            <a:avLst/>
          </a:prstGeom>
          <a:noFill/>
        </p:spPr>
        <p:txBody>
          <a:bodyPr wrap="square" rtlCol="0">
            <a:spAutoFit/>
          </a:bodyPr>
          <a:lstStyle/>
          <a:p>
            <a:r>
              <a:rPr lang="en-US" sz="2400" dirty="0"/>
              <a:t>For simplicity,  Assume we know the maximum size of the PQ in advance (otherwise we’d do an amortized analysis, but get the same answers…)</a:t>
            </a:r>
          </a:p>
        </p:txBody>
      </p:sp>
      <mc:AlternateContent xmlns:mc="http://schemas.openxmlformats.org/markup-compatibility/2006">
        <mc:Choice xmlns:p14="http://schemas.microsoft.com/office/powerpoint/2010/main" Requires="p14">
          <p:contentPart p14:bwMode="auto" r:id="rId3">
            <p14:nvContentPartPr>
              <p14:cNvPr id="5" name="Ink 4">
                <a:extLst>
                  <a:ext uri="{FF2B5EF4-FFF2-40B4-BE49-F238E27FC236}">
                    <a16:creationId xmlns:a16="http://schemas.microsoft.com/office/drawing/2014/main" id="{CA7FAB45-FAD2-C5B6-17D5-B22DBCCD8AED}"/>
                  </a:ext>
                </a:extLst>
              </p14:cNvPr>
              <p14:cNvContentPartPr/>
              <p14:nvPr/>
            </p14:nvContentPartPr>
            <p14:xfrm>
              <a:off x="8237520" y="4084200"/>
              <a:ext cx="9720" cy="3240"/>
            </p14:xfrm>
          </p:contentPart>
        </mc:Choice>
        <mc:Fallback>
          <p:pic>
            <p:nvPicPr>
              <p:cNvPr id="5" name="Ink 4">
                <a:extLst>
                  <a:ext uri="{FF2B5EF4-FFF2-40B4-BE49-F238E27FC236}">
                    <a16:creationId xmlns:a16="http://schemas.microsoft.com/office/drawing/2014/main" id="{CA7FAB45-FAD2-C5B6-17D5-B22DBCCD8AED}"/>
                  </a:ext>
                </a:extLst>
              </p:cNvPr>
              <p:cNvPicPr/>
              <p:nvPr/>
            </p:nvPicPr>
            <p:blipFill>
              <a:blip r:embed="rId4"/>
              <a:stretch>
                <a:fillRect/>
              </a:stretch>
            </p:blipFill>
            <p:spPr>
              <a:xfrm>
                <a:off x="8228160" y="4074840"/>
                <a:ext cx="28440" cy="21960"/>
              </a:xfrm>
              <a:prstGeom prst="rect">
                <a:avLst/>
              </a:prstGeom>
            </p:spPr>
          </p:pic>
        </mc:Fallback>
      </mc:AlternateContent>
    </p:spTree>
    <p:extLst>
      <p:ext uri="{BB962C8B-B14F-4D97-AF65-F5344CB8AC3E}">
        <p14:creationId xmlns:p14="http://schemas.microsoft.com/office/powerpoint/2010/main" val="268880674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467FF0-73B3-18E1-1353-1FC326B05A0A}"/>
              </a:ext>
            </a:extLst>
          </p:cNvPr>
          <p:cNvSpPr>
            <a:spLocks noGrp="1"/>
          </p:cNvSpPr>
          <p:nvPr>
            <p:ph type="title"/>
          </p:nvPr>
        </p:nvSpPr>
        <p:spPr/>
        <p:txBody>
          <a:bodyPr/>
          <a:lstStyle/>
          <a:p>
            <a:r>
              <a:rPr lang="en-US" dirty="0"/>
              <a:t>Trees for Heaps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50FACA28-A63F-17B5-D7E2-8052BDD1DCC7}"/>
                  </a:ext>
                </a:extLst>
              </p:cNvPr>
              <p:cNvSpPr>
                <a:spLocks noGrp="1"/>
              </p:cNvSpPr>
              <p:nvPr>
                <p:ph idx="1"/>
              </p:nvPr>
            </p:nvSpPr>
            <p:spPr/>
            <p:txBody>
              <a:bodyPr>
                <a:normAutofit/>
              </a:bodyPr>
              <a:lstStyle/>
              <a:p>
                <a:r>
                  <a:rPr lang="en-US" dirty="0"/>
                  <a:t>Binary Trees:</a:t>
                </a:r>
              </a:p>
              <a:p>
                <a:pPr lvl="1"/>
                <a:r>
                  <a:rPr lang="en-US" dirty="0"/>
                  <a:t>The branching factor is 2</a:t>
                </a:r>
              </a:p>
              <a:p>
                <a:pPr lvl="1"/>
                <a:r>
                  <a:rPr lang="en-US" dirty="0"/>
                  <a:t>Every node has </a:t>
                </a:r>
                <a14:m>
                  <m:oMath xmlns:m="http://schemas.openxmlformats.org/officeDocument/2006/math">
                    <m:r>
                      <a:rPr lang="en-US" b="0" i="1" smtClean="0">
                        <a:latin typeface="Cambria Math" panose="02040503050406030204" pitchFamily="18" charset="0"/>
                      </a:rPr>
                      <m:t>≤</m:t>
                    </m:r>
                  </m:oMath>
                </a14:m>
                <a:r>
                  <a:rPr lang="en-US" dirty="0"/>
                  <a:t> 2 children</a:t>
                </a:r>
              </a:p>
              <a:p>
                <a:r>
                  <a:rPr lang="en-US" dirty="0"/>
                  <a:t>Complete Tree:</a:t>
                </a:r>
              </a:p>
              <a:p>
                <a:pPr lvl="1"/>
                <a:r>
                  <a:rPr lang="en-US" dirty="0"/>
                  <a:t>All “layers” are full, except the bottom</a:t>
                </a:r>
              </a:p>
              <a:p>
                <a:pPr lvl="1"/>
                <a:r>
                  <a:rPr lang="en-US" dirty="0"/>
                  <a:t>Bottom layer filled left-to-right</a:t>
                </a:r>
              </a:p>
            </p:txBody>
          </p:sp>
        </mc:Choice>
        <mc:Fallback xmlns="">
          <p:sp>
            <p:nvSpPr>
              <p:cNvPr id="3" name="Content Placeholder 2">
                <a:extLst>
                  <a:ext uri="{FF2B5EF4-FFF2-40B4-BE49-F238E27FC236}">
                    <a16:creationId xmlns:a16="http://schemas.microsoft.com/office/drawing/2014/main" id="{50FACA28-A63F-17B5-D7E2-8052BDD1DCC7}"/>
                  </a:ext>
                </a:extLst>
              </p:cNvPr>
              <p:cNvSpPr>
                <a:spLocks noGrp="1" noRot="1" noChangeAspect="1" noMove="1" noResize="1" noEditPoints="1" noAdjustHandles="1" noChangeArrowheads="1" noChangeShapeType="1" noTextEdit="1"/>
              </p:cNvSpPr>
              <p:nvPr>
                <p:ph idx="1"/>
              </p:nvPr>
            </p:nvSpPr>
            <p:spPr>
              <a:blipFill>
                <a:blip r:embed="rId2"/>
                <a:stretch>
                  <a:fillRect l="-1043" t="-2241"/>
                </a:stretch>
              </a:blipFill>
            </p:spPr>
            <p:txBody>
              <a:bodyPr/>
              <a:lstStyle/>
              <a:p>
                <a:r>
                  <a:rPr lang="en-US">
                    <a:noFill/>
                  </a:rPr>
                  <a:t> </a:t>
                </a:r>
              </a:p>
            </p:txBody>
          </p:sp>
        </mc:Fallback>
      </mc:AlternateContent>
      <p:grpSp>
        <p:nvGrpSpPr>
          <p:cNvPr id="4" name="Group 3" descr="Depiction of a Heap as a tree. For this slide, we're paying attention to the shape. Every level is completely full, except for the last. The last level must then be filled from left-to-right, meaning we cannot add a node if the there are any &quot;gaps&quot; to its left.">
            <a:extLst>
              <a:ext uri="{FF2B5EF4-FFF2-40B4-BE49-F238E27FC236}">
                <a16:creationId xmlns:a16="http://schemas.microsoft.com/office/drawing/2014/main" id="{745763F0-6769-2287-CC78-BCD511A25F3D}"/>
              </a:ext>
            </a:extLst>
          </p:cNvPr>
          <p:cNvGrpSpPr/>
          <p:nvPr/>
        </p:nvGrpSpPr>
        <p:grpSpPr>
          <a:xfrm>
            <a:off x="5161281" y="2808212"/>
            <a:ext cx="6934200" cy="3368751"/>
            <a:chOff x="2590801" y="2672070"/>
            <a:chExt cx="6934200" cy="3368751"/>
          </a:xfrm>
        </p:grpSpPr>
        <p:sp>
          <p:nvSpPr>
            <p:cNvPr id="5" name="Oval 4">
              <a:extLst>
                <a:ext uri="{FF2B5EF4-FFF2-40B4-BE49-F238E27FC236}">
                  <a16:creationId xmlns:a16="http://schemas.microsoft.com/office/drawing/2014/main" id="{1F7E31A0-3D28-578F-5A14-F09AA762C56B}"/>
                </a:ext>
              </a:extLst>
            </p:cNvPr>
            <p:cNvSpPr/>
            <p:nvPr/>
          </p:nvSpPr>
          <p:spPr>
            <a:xfrm>
              <a:off x="5996855" y="2672070"/>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6" name="Oval 5">
              <a:extLst>
                <a:ext uri="{FF2B5EF4-FFF2-40B4-BE49-F238E27FC236}">
                  <a16:creationId xmlns:a16="http://schemas.microsoft.com/office/drawing/2014/main" id="{18E57D9C-90AC-1E4D-B4B2-6035E42D446F}"/>
                </a:ext>
              </a:extLst>
            </p:cNvPr>
            <p:cNvSpPr/>
            <p:nvPr/>
          </p:nvSpPr>
          <p:spPr>
            <a:xfrm>
              <a:off x="4191001" y="3682289"/>
              <a:ext cx="688077" cy="688077"/>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7" name="Oval 6">
              <a:extLst>
                <a:ext uri="{FF2B5EF4-FFF2-40B4-BE49-F238E27FC236}">
                  <a16:creationId xmlns:a16="http://schemas.microsoft.com/office/drawing/2014/main" id="{8B69181F-C6C8-0F25-3774-618748080A5E}"/>
                </a:ext>
              </a:extLst>
            </p:cNvPr>
            <p:cNvSpPr/>
            <p:nvPr/>
          </p:nvSpPr>
          <p:spPr>
            <a:xfrm>
              <a:off x="7858499" y="3653913"/>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8" name="Oval 7">
              <a:extLst>
                <a:ext uri="{FF2B5EF4-FFF2-40B4-BE49-F238E27FC236}">
                  <a16:creationId xmlns:a16="http://schemas.microsoft.com/office/drawing/2014/main" id="{C4E7A57F-281D-14D1-8FD1-B7676D989C3C}"/>
                </a:ext>
              </a:extLst>
            </p:cNvPr>
            <p:cNvSpPr/>
            <p:nvPr/>
          </p:nvSpPr>
          <p:spPr>
            <a:xfrm>
              <a:off x="3200401" y="4383504"/>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9" name="Oval 8">
              <a:extLst>
                <a:ext uri="{FF2B5EF4-FFF2-40B4-BE49-F238E27FC236}">
                  <a16:creationId xmlns:a16="http://schemas.microsoft.com/office/drawing/2014/main" id="{B69DA9B6-1EB5-447B-ED91-6211BEDDA0F2}"/>
                </a:ext>
              </a:extLst>
            </p:cNvPr>
            <p:cNvSpPr/>
            <p:nvPr/>
          </p:nvSpPr>
          <p:spPr>
            <a:xfrm>
              <a:off x="5211206" y="4425368"/>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10" name="Oval 9">
              <a:extLst>
                <a:ext uri="{FF2B5EF4-FFF2-40B4-BE49-F238E27FC236}">
                  <a16:creationId xmlns:a16="http://schemas.microsoft.com/office/drawing/2014/main" id="{865DDE04-CC29-E791-DD6A-810566C87691}"/>
                </a:ext>
              </a:extLst>
            </p:cNvPr>
            <p:cNvSpPr/>
            <p:nvPr/>
          </p:nvSpPr>
          <p:spPr>
            <a:xfrm>
              <a:off x="6934201" y="4341990"/>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11" name="Oval 10">
              <a:extLst>
                <a:ext uri="{FF2B5EF4-FFF2-40B4-BE49-F238E27FC236}">
                  <a16:creationId xmlns:a16="http://schemas.microsoft.com/office/drawing/2014/main" id="{0C1B6C2F-9FFB-4EEB-3096-46005109CDE9}"/>
                </a:ext>
              </a:extLst>
            </p:cNvPr>
            <p:cNvSpPr/>
            <p:nvPr/>
          </p:nvSpPr>
          <p:spPr>
            <a:xfrm>
              <a:off x="8836924" y="4341990"/>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12" name="Oval 11">
              <a:extLst>
                <a:ext uri="{FF2B5EF4-FFF2-40B4-BE49-F238E27FC236}">
                  <a16:creationId xmlns:a16="http://schemas.microsoft.com/office/drawing/2014/main" id="{8F5AC253-EE0F-A59C-CD48-00D35FA98918}"/>
                </a:ext>
              </a:extLst>
            </p:cNvPr>
            <p:cNvSpPr/>
            <p:nvPr/>
          </p:nvSpPr>
          <p:spPr>
            <a:xfrm>
              <a:off x="2590801" y="5352744"/>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13" name="Oval 12">
              <a:extLst>
                <a:ext uri="{FF2B5EF4-FFF2-40B4-BE49-F238E27FC236}">
                  <a16:creationId xmlns:a16="http://schemas.microsoft.com/office/drawing/2014/main" id="{B694BE88-313B-BF69-CC7B-CDB41993619D}"/>
                </a:ext>
              </a:extLst>
            </p:cNvPr>
            <p:cNvSpPr/>
            <p:nvPr/>
          </p:nvSpPr>
          <p:spPr>
            <a:xfrm>
              <a:off x="3733801" y="5352744"/>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a:t>
              </a:r>
            </a:p>
          </p:txBody>
        </p:sp>
        <p:cxnSp>
          <p:nvCxnSpPr>
            <p:cNvPr id="14" name="Straight Connector 13">
              <a:extLst>
                <a:ext uri="{FF2B5EF4-FFF2-40B4-BE49-F238E27FC236}">
                  <a16:creationId xmlns:a16="http://schemas.microsoft.com/office/drawing/2014/main" id="{3F5BEC51-2B81-F5B1-3172-D2C934522EE8}"/>
                </a:ext>
              </a:extLst>
            </p:cNvPr>
            <p:cNvCxnSpPr>
              <a:cxnSpLocks/>
              <a:stCxn id="5" idx="3"/>
              <a:endCxn id="6" idx="7"/>
            </p:cNvCxnSpPr>
            <p:nvPr/>
          </p:nvCxnSpPr>
          <p:spPr>
            <a:xfrm flipH="1">
              <a:off x="4778311" y="3259380"/>
              <a:ext cx="1319311" cy="52367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376CC7CC-AE23-0FD3-CE5F-8504F07C64B7}"/>
                </a:ext>
              </a:extLst>
            </p:cNvPr>
            <p:cNvCxnSpPr>
              <a:cxnSpLocks/>
              <a:stCxn id="5" idx="5"/>
              <a:endCxn id="7" idx="1"/>
            </p:cNvCxnSpPr>
            <p:nvPr/>
          </p:nvCxnSpPr>
          <p:spPr>
            <a:xfrm>
              <a:off x="6584165" y="3259380"/>
              <a:ext cx="1375101" cy="4953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8E5647F1-AB09-5E14-4D54-F9A40B1E0C28}"/>
                </a:ext>
              </a:extLst>
            </p:cNvPr>
            <p:cNvCxnSpPr>
              <a:stCxn id="9" idx="1"/>
              <a:endCxn id="6" idx="5"/>
            </p:cNvCxnSpPr>
            <p:nvPr/>
          </p:nvCxnSpPr>
          <p:spPr>
            <a:xfrm flipH="1" flipV="1">
              <a:off x="4778310" y="4269598"/>
              <a:ext cx="533662" cy="25653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77D23AFF-4086-7B95-E87D-F527D08A1AD3}"/>
                </a:ext>
              </a:extLst>
            </p:cNvPr>
            <p:cNvCxnSpPr>
              <a:stCxn id="8" idx="7"/>
              <a:endCxn id="6" idx="3"/>
            </p:cNvCxnSpPr>
            <p:nvPr/>
          </p:nvCxnSpPr>
          <p:spPr>
            <a:xfrm flipV="1">
              <a:off x="3787711" y="4269598"/>
              <a:ext cx="504057" cy="21467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0D427BB4-6F03-67AA-C1CC-7E6FCA3D63F4}"/>
                </a:ext>
              </a:extLst>
            </p:cNvPr>
            <p:cNvCxnSpPr>
              <a:stCxn id="13" idx="0"/>
              <a:endCxn id="8" idx="5"/>
            </p:cNvCxnSpPr>
            <p:nvPr/>
          </p:nvCxnSpPr>
          <p:spPr>
            <a:xfrm flipH="1" flipV="1">
              <a:off x="3787711" y="4970813"/>
              <a:ext cx="290129" cy="38193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AB0041F5-7180-BE30-B46A-30863B150E6E}"/>
                </a:ext>
              </a:extLst>
            </p:cNvPr>
            <p:cNvCxnSpPr>
              <a:stCxn id="12" idx="0"/>
              <a:endCxn id="8" idx="3"/>
            </p:cNvCxnSpPr>
            <p:nvPr/>
          </p:nvCxnSpPr>
          <p:spPr>
            <a:xfrm flipV="1">
              <a:off x="2934839" y="4970813"/>
              <a:ext cx="366328" cy="38193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A952D87F-314D-CE71-4735-6CB05C141444}"/>
                </a:ext>
              </a:extLst>
            </p:cNvPr>
            <p:cNvCxnSpPr>
              <a:stCxn id="10" idx="7"/>
              <a:endCxn id="7" idx="3"/>
            </p:cNvCxnSpPr>
            <p:nvPr/>
          </p:nvCxnSpPr>
          <p:spPr>
            <a:xfrm flipV="1">
              <a:off x="7521511" y="4241222"/>
              <a:ext cx="437755" cy="20153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AB2EEED4-A26A-7898-FCF1-C0AA68E4D5B5}"/>
                </a:ext>
              </a:extLst>
            </p:cNvPr>
            <p:cNvCxnSpPr>
              <a:stCxn id="11" idx="1"/>
              <a:endCxn id="7" idx="5"/>
            </p:cNvCxnSpPr>
            <p:nvPr/>
          </p:nvCxnSpPr>
          <p:spPr>
            <a:xfrm flipH="1" flipV="1">
              <a:off x="8445808" y="4241222"/>
              <a:ext cx="491882" cy="20153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mc:Choice xmlns:p14="http://schemas.microsoft.com/office/powerpoint/2010/main" Requires="p14">
          <p:contentPart p14:bwMode="auto" r:id="rId3">
            <p14:nvContentPartPr>
              <p14:cNvPr id="22" name="Ink 21">
                <a:extLst>
                  <a:ext uri="{FF2B5EF4-FFF2-40B4-BE49-F238E27FC236}">
                    <a16:creationId xmlns:a16="http://schemas.microsoft.com/office/drawing/2014/main" id="{3B8A2C8B-652C-36E1-918F-83B16CE658AC}"/>
                  </a:ext>
                </a:extLst>
              </p14:cNvPr>
              <p14:cNvContentPartPr/>
              <p14:nvPr/>
            </p14:nvContentPartPr>
            <p14:xfrm>
              <a:off x="1032480" y="2167560"/>
              <a:ext cx="8136360" cy="4262040"/>
            </p14:xfrm>
          </p:contentPart>
        </mc:Choice>
        <mc:Fallback>
          <p:pic>
            <p:nvPicPr>
              <p:cNvPr id="22" name="Ink 21">
                <a:extLst>
                  <a:ext uri="{FF2B5EF4-FFF2-40B4-BE49-F238E27FC236}">
                    <a16:creationId xmlns:a16="http://schemas.microsoft.com/office/drawing/2014/main" id="{3B8A2C8B-652C-36E1-918F-83B16CE658AC}"/>
                  </a:ext>
                </a:extLst>
              </p:cNvPr>
              <p:cNvPicPr/>
              <p:nvPr/>
            </p:nvPicPr>
            <p:blipFill>
              <a:blip r:embed="rId4"/>
              <a:stretch>
                <a:fillRect/>
              </a:stretch>
            </p:blipFill>
            <p:spPr>
              <a:xfrm>
                <a:off x="1023120" y="2158200"/>
                <a:ext cx="8155080" cy="4280760"/>
              </a:xfrm>
              <a:prstGeom prst="rect">
                <a:avLst/>
              </a:prstGeom>
            </p:spPr>
          </p:pic>
        </mc:Fallback>
      </mc:AlternateContent>
    </p:spTree>
    <p:extLst>
      <p:ext uri="{BB962C8B-B14F-4D97-AF65-F5344CB8AC3E}">
        <p14:creationId xmlns:p14="http://schemas.microsoft.com/office/powerpoint/2010/main" val="132153198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BFA069-E0AF-EBEE-3120-4318DF25C837}"/>
              </a:ext>
            </a:extLst>
          </p:cNvPr>
          <p:cNvSpPr>
            <a:spLocks noGrp="1"/>
          </p:cNvSpPr>
          <p:nvPr>
            <p:ph type="title"/>
          </p:nvPr>
        </p:nvSpPr>
        <p:spPr/>
        <p:txBody>
          <a:bodyPr/>
          <a:lstStyle/>
          <a:p>
            <a:r>
              <a:rPr lang="en-US" dirty="0"/>
              <a:t>Heap – Priority Queue Data Structure</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99CD4E4A-D376-CCD8-BF06-19D9E2D50515}"/>
                  </a:ext>
                </a:extLst>
              </p:cNvPr>
              <p:cNvSpPr>
                <a:spLocks noGrp="1"/>
              </p:cNvSpPr>
              <p:nvPr>
                <p:ph idx="1"/>
              </p:nvPr>
            </p:nvSpPr>
            <p:spPr/>
            <p:txBody>
              <a:bodyPr/>
              <a:lstStyle/>
              <a:p>
                <a:r>
                  <a:rPr lang="en-US" dirty="0"/>
                  <a:t>Idea: We need to keep some ordering, but it doesn’t need to be entirely sorted</a:t>
                </a:r>
              </a:p>
              <a:p>
                <a14:m>
                  <m:oMath xmlns:m="http://schemas.openxmlformats.org/officeDocument/2006/math">
                    <m:r>
                      <m:rPr>
                        <m:sty m:val="p"/>
                      </m:rPr>
                      <a:rPr lang="en-US" b="0" i="0" smtClean="0">
                        <a:latin typeface="Cambria Math" panose="02040503050406030204" pitchFamily="18" charset="0"/>
                      </a:rPr>
                      <m:t>Θ</m:t>
                    </m:r>
                    <m:r>
                      <a:rPr lang="en-US" b="0" i="1" smtClean="0">
                        <a:latin typeface="Cambria Math" panose="02040503050406030204" pitchFamily="18" charset="0"/>
                      </a:rPr>
                      <m:t>(</m:t>
                    </m:r>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log</m:t>
                        </m:r>
                      </m:fName>
                      <m:e>
                        <m:r>
                          <a:rPr lang="en-US" b="0" i="1" smtClean="0">
                            <a:latin typeface="Cambria Math" panose="02040503050406030204" pitchFamily="18" charset="0"/>
                          </a:rPr>
                          <m:t>𝑛</m:t>
                        </m:r>
                      </m:e>
                    </m:func>
                    <m:r>
                      <a:rPr lang="en-US" b="0" i="1" smtClean="0">
                        <a:latin typeface="Cambria Math" panose="02040503050406030204" pitchFamily="18" charset="0"/>
                      </a:rPr>
                      <m:t>)</m:t>
                    </m:r>
                  </m:oMath>
                </a14:m>
                <a:r>
                  <a:rPr lang="en-US" dirty="0"/>
                  <a:t> worst case for extract and insert</a:t>
                </a:r>
              </a:p>
              <a:p>
                <a:endParaRPr lang="en-US" dirty="0"/>
              </a:p>
            </p:txBody>
          </p:sp>
        </mc:Choice>
        <mc:Fallback xmlns="">
          <p:sp>
            <p:nvSpPr>
              <p:cNvPr id="3" name="Content Placeholder 2">
                <a:extLst>
                  <a:ext uri="{FF2B5EF4-FFF2-40B4-BE49-F238E27FC236}">
                    <a16:creationId xmlns:a16="http://schemas.microsoft.com/office/drawing/2014/main" id="{99CD4E4A-D376-CCD8-BF06-19D9E2D50515}"/>
                  </a:ext>
                </a:extLst>
              </p:cNvPr>
              <p:cNvSpPr>
                <a:spLocks noGrp="1" noRot="1" noChangeAspect="1" noMove="1" noResize="1" noEditPoints="1" noAdjustHandles="1" noChangeArrowheads="1" noChangeShapeType="1" noTextEdit="1"/>
              </p:cNvSpPr>
              <p:nvPr>
                <p:ph idx="1"/>
              </p:nvPr>
            </p:nvSpPr>
            <p:spPr>
              <a:blipFill>
                <a:blip r:embed="rId2"/>
                <a:stretch>
                  <a:fillRect l="-1043" t="-2241"/>
                </a:stretch>
              </a:blipFill>
            </p:spPr>
            <p:txBody>
              <a:bodyPr/>
              <a:lstStyle/>
              <a:p>
                <a:r>
                  <a:rPr lang="en-US">
                    <a:noFill/>
                  </a:rPr>
                  <a:t> </a:t>
                </a:r>
              </a:p>
            </p:txBody>
          </p:sp>
        </mc:Fallback>
      </mc:AlternateContent>
      <p:grpSp>
        <p:nvGrpSpPr>
          <p:cNvPr id="30" name="Group 29" descr="There are two advantages to the heap structure required. This image demonstrates the first. It guarantees that the number of levels in the tree is logarithmic in its size since every node has the maximum number of children (until the last 2 levels)">
            <a:extLst>
              <a:ext uri="{FF2B5EF4-FFF2-40B4-BE49-F238E27FC236}">
                <a16:creationId xmlns:a16="http://schemas.microsoft.com/office/drawing/2014/main" id="{860A17D2-D1DC-EB90-0F1F-B576ACAA6D5B}"/>
              </a:ext>
            </a:extLst>
          </p:cNvPr>
          <p:cNvGrpSpPr/>
          <p:nvPr/>
        </p:nvGrpSpPr>
        <p:grpSpPr>
          <a:xfrm>
            <a:off x="5161281" y="2808212"/>
            <a:ext cx="6934200" cy="3368751"/>
            <a:chOff x="2590801" y="2672070"/>
            <a:chExt cx="6934200" cy="3368751"/>
          </a:xfrm>
        </p:grpSpPr>
        <p:sp>
          <p:nvSpPr>
            <p:cNvPr id="4" name="Oval 3">
              <a:extLst>
                <a:ext uri="{FF2B5EF4-FFF2-40B4-BE49-F238E27FC236}">
                  <a16:creationId xmlns:a16="http://schemas.microsoft.com/office/drawing/2014/main" id="{C0E16EF1-E0DE-F370-E581-946E72846104}"/>
                </a:ext>
              </a:extLst>
            </p:cNvPr>
            <p:cNvSpPr/>
            <p:nvPr/>
          </p:nvSpPr>
          <p:spPr>
            <a:xfrm>
              <a:off x="5996855" y="2672070"/>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5" name="Oval 4">
              <a:extLst>
                <a:ext uri="{FF2B5EF4-FFF2-40B4-BE49-F238E27FC236}">
                  <a16:creationId xmlns:a16="http://schemas.microsoft.com/office/drawing/2014/main" id="{245C3EBE-556C-5377-E6B8-DD961CEA7DFD}"/>
                </a:ext>
              </a:extLst>
            </p:cNvPr>
            <p:cNvSpPr/>
            <p:nvPr/>
          </p:nvSpPr>
          <p:spPr>
            <a:xfrm>
              <a:off x="4191001" y="3682289"/>
              <a:ext cx="688077" cy="688077"/>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6" name="Oval 5">
              <a:extLst>
                <a:ext uri="{FF2B5EF4-FFF2-40B4-BE49-F238E27FC236}">
                  <a16:creationId xmlns:a16="http://schemas.microsoft.com/office/drawing/2014/main" id="{60B45233-474B-D142-219F-3E2B3AC692B9}"/>
                </a:ext>
              </a:extLst>
            </p:cNvPr>
            <p:cNvSpPr/>
            <p:nvPr/>
          </p:nvSpPr>
          <p:spPr>
            <a:xfrm>
              <a:off x="7858499" y="3653913"/>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7" name="Oval 6">
              <a:extLst>
                <a:ext uri="{FF2B5EF4-FFF2-40B4-BE49-F238E27FC236}">
                  <a16:creationId xmlns:a16="http://schemas.microsoft.com/office/drawing/2014/main" id="{AE202AD5-FD55-ED1F-2E5A-AA6DE5FB534F}"/>
                </a:ext>
              </a:extLst>
            </p:cNvPr>
            <p:cNvSpPr/>
            <p:nvPr/>
          </p:nvSpPr>
          <p:spPr>
            <a:xfrm>
              <a:off x="3200401" y="4383504"/>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8" name="Oval 7">
              <a:extLst>
                <a:ext uri="{FF2B5EF4-FFF2-40B4-BE49-F238E27FC236}">
                  <a16:creationId xmlns:a16="http://schemas.microsoft.com/office/drawing/2014/main" id="{B55CF38E-7DC0-6240-8663-B411669B6536}"/>
                </a:ext>
              </a:extLst>
            </p:cNvPr>
            <p:cNvSpPr/>
            <p:nvPr/>
          </p:nvSpPr>
          <p:spPr>
            <a:xfrm>
              <a:off x="5211206" y="4425368"/>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9" name="Oval 8">
              <a:extLst>
                <a:ext uri="{FF2B5EF4-FFF2-40B4-BE49-F238E27FC236}">
                  <a16:creationId xmlns:a16="http://schemas.microsoft.com/office/drawing/2014/main" id="{7F4CC478-74A8-998F-9A93-3856DF9C77CF}"/>
                </a:ext>
              </a:extLst>
            </p:cNvPr>
            <p:cNvSpPr/>
            <p:nvPr/>
          </p:nvSpPr>
          <p:spPr>
            <a:xfrm>
              <a:off x="6934201" y="4341990"/>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10" name="Oval 9">
              <a:extLst>
                <a:ext uri="{FF2B5EF4-FFF2-40B4-BE49-F238E27FC236}">
                  <a16:creationId xmlns:a16="http://schemas.microsoft.com/office/drawing/2014/main" id="{E0E3CC96-BBE6-289E-ED25-7D583BF06E09}"/>
                </a:ext>
              </a:extLst>
            </p:cNvPr>
            <p:cNvSpPr/>
            <p:nvPr/>
          </p:nvSpPr>
          <p:spPr>
            <a:xfrm>
              <a:off x="8836924" y="4341990"/>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11" name="Oval 10">
              <a:extLst>
                <a:ext uri="{FF2B5EF4-FFF2-40B4-BE49-F238E27FC236}">
                  <a16:creationId xmlns:a16="http://schemas.microsoft.com/office/drawing/2014/main" id="{1E4DD672-6BA5-032B-AF77-D37A27D159F3}"/>
                </a:ext>
              </a:extLst>
            </p:cNvPr>
            <p:cNvSpPr/>
            <p:nvPr/>
          </p:nvSpPr>
          <p:spPr>
            <a:xfrm>
              <a:off x="2590801" y="5352744"/>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12" name="Oval 11">
              <a:extLst>
                <a:ext uri="{FF2B5EF4-FFF2-40B4-BE49-F238E27FC236}">
                  <a16:creationId xmlns:a16="http://schemas.microsoft.com/office/drawing/2014/main" id="{201B6D2E-E2AA-4C8C-1EAD-8C12D7FF3633}"/>
                </a:ext>
              </a:extLst>
            </p:cNvPr>
            <p:cNvSpPr/>
            <p:nvPr/>
          </p:nvSpPr>
          <p:spPr>
            <a:xfrm>
              <a:off x="3733801" y="5352744"/>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a:t>
              </a:r>
            </a:p>
          </p:txBody>
        </p:sp>
        <p:cxnSp>
          <p:nvCxnSpPr>
            <p:cNvPr id="13" name="Straight Connector 12">
              <a:extLst>
                <a:ext uri="{FF2B5EF4-FFF2-40B4-BE49-F238E27FC236}">
                  <a16:creationId xmlns:a16="http://schemas.microsoft.com/office/drawing/2014/main" id="{3248F384-51C8-527F-7FB4-5BBB372B6677}"/>
                </a:ext>
              </a:extLst>
            </p:cNvPr>
            <p:cNvCxnSpPr>
              <a:cxnSpLocks/>
              <a:stCxn id="4" idx="3"/>
              <a:endCxn id="5" idx="7"/>
            </p:cNvCxnSpPr>
            <p:nvPr/>
          </p:nvCxnSpPr>
          <p:spPr>
            <a:xfrm flipH="1">
              <a:off x="4778311" y="3259380"/>
              <a:ext cx="1319311" cy="52367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1002DF07-0E13-B858-3BA7-5900F9516216}"/>
                </a:ext>
              </a:extLst>
            </p:cNvPr>
            <p:cNvCxnSpPr>
              <a:cxnSpLocks/>
              <a:stCxn id="4" idx="5"/>
              <a:endCxn id="6" idx="1"/>
            </p:cNvCxnSpPr>
            <p:nvPr/>
          </p:nvCxnSpPr>
          <p:spPr>
            <a:xfrm>
              <a:off x="6584165" y="3259380"/>
              <a:ext cx="1375101" cy="4953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C184EDD4-811C-EDDD-E685-8BB995834CA3}"/>
                </a:ext>
              </a:extLst>
            </p:cNvPr>
            <p:cNvCxnSpPr>
              <a:stCxn id="8" idx="1"/>
              <a:endCxn id="5" idx="5"/>
            </p:cNvCxnSpPr>
            <p:nvPr/>
          </p:nvCxnSpPr>
          <p:spPr>
            <a:xfrm flipH="1" flipV="1">
              <a:off x="4778310" y="4269598"/>
              <a:ext cx="533662" cy="25653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8D010E68-C147-D53D-76FA-0AC012CD9A6F}"/>
                </a:ext>
              </a:extLst>
            </p:cNvPr>
            <p:cNvCxnSpPr>
              <a:stCxn id="7" idx="7"/>
              <a:endCxn id="5" idx="3"/>
            </p:cNvCxnSpPr>
            <p:nvPr/>
          </p:nvCxnSpPr>
          <p:spPr>
            <a:xfrm flipV="1">
              <a:off x="3787711" y="4269598"/>
              <a:ext cx="504057" cy="21467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9C35A445-FC36-61C2-4F6B-88DF180C943C}"/>
                </a:ext>
              </a:extLst>
            </p:cNvPr>
            <p:cNvCxnSpPr>
              <a:stCxn id="12" idx="0"/>
              <a:endCxn id="7" idx="5"/>
            </p:cNvCxnSpPr>
            <p:nvPr/>
          </p:nvCxnSpPr>
          <p:spPr>
            <a:xfrm flipH="1" flipV="1">
              <a:off x="3787711" y="4970813"/>
              <a:ext cx="290129" cy="38193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16173BE8-0C63-61AC-C82D-DA0736EC7C33}"/>
                </a:ext>
              </a:extLst>
            </p:cNvPr>
            <p:cNvCxnSpPr>
              <a:stCxn id="11" idx="0"/>
              <a:endCxn id="7" idx="3"/>
            </p:cNvCxnSpPr>
            <p:nvPr/>
          </p:nvCxnSpPr>
          <p:spPr>
            <a:xfrm flipV="1">
              <a:off x="2934839" y="4970813"/>
              <a:ext cx="366328" cy="38193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5859FA23-DDB5-C437-52D4-C8687D34BF71}"/>
                </a:ext>
              </a:extLst>
            </p:cNvPr>
            <p:cNvCxnSpPr>
              <a:stCxn id="9" idx="7"/>
              <a:endCxn id="6" idx="3"/>
            </p:cNvCxnSpPr>
            <p:nvPr/>
          </p:nvCxnSpPr>
          <p:spPr>
            <a:xfrm flipV="1">
              <a:off x="7521511" y="4241222"/>
              <a:ext cx="437755" cy="20153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9F0309B5-D192-7F29-3E8C-A9BE86027085}"/>
                </a:ext>
              </a:extLst>
            </p:cNvPr>
            <p:cNvCxnSpPr>
              <a:stCxn id="10" idx="1"/>
              <a:endCxn id="6" idx="5"/>
            </p:cNvCxnSpPr>
            <p:nvPr/>
          </p:nvCxnSpPr>
          <p:spPr>
            <a:xfrm flipH="1" flipV="1">
              <a:off x="8445808" y="4241222"/>
              <a:ext cx="491882" cy="20153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31" name="Group 30" descr="This demonstrates the second advantage. We can easily represent the tree in an array by labelling the nodes with indices following a level-order traversal (so the root has value 1, its left child is value 2, its right child is 3, etc.)">
            <a:extLst>
              <a:ext uri="{FF2B5EF4-FFF2-40B4-BE49-F238E27FC236}">
                <a16:creationId xmlns:a16="http://schemas.microsoft.com/office/drawing/2014/main" id="{49F8F235-A831-9627-1314-311769E6820F}"/>
              </a:ext>
            </a:extLst>
          </p:cNvPr>
          <p:cNvGrpSpPr/>
          <p:nvPr/>
        </p:nvGrpSpPr>
        <p:grpSpPr>
          <a:xfrm>
            <a:off x="5354476" y="3530219"/>
            <a:ext cx="6547808" cy="2962656"/>
            <a:chOff x="5354476" y="3530219"/>
            <a:chExt cx="6547808" cy="2962656"/>
          </a:xfrm>
        </p:grpSpPr>
        <p:sp>
          <p:nvSpPr>
            <p:cNvPr id="21" name="TextBox 20">
              <a:extLst>
                <a:ext uri="{FF2B5EF4-FFF2-40B4-BE49-F238E27FC236}">
                  <a16:creationId xmlns:a16="http://schemas.microsoft.com/office/drawing/2014/main" id="{AE60BECB-F493-D718-723F-93EFBCB2CADD}"/>
                </a:ext>
              </a:extLst>
            </p:cNvPr>
            <p:cNvSpPr txBox="1"/>
            <p:nvPr/>
          </p:nvSpPr>
          <p:spPr>
            <a:xfrm>
              <a:off x="8760529" y="3530219"/>
              <a:ext cx="301686" cy="369332"/>
            </a:xfrm>
            <a:prstGeom prst="rect">
              <a:avLst/>
            </a:prstGeom>
            <a:noFill/>
          </p:spPr>
          <p:txBody>
            <a:bodyPr wrap="none" rtlCol="0">
              <a:spAutoFit/>
            </a:bodyPr>
            <a:lstStyle/>
            <a:p>
              <a:r>
                <a:rPr lang="en-US" dirty="0">
                  <a:solidFill>
                    <a:srgbClr val="FF33CC"/>
                  </a:solidFill>
                </a:rPr>
                <a:t>1</a:t>
              </a:r>
            </a:p>
          </p:txBody>
        </p:sp>
        <p:sp>
          <p:nvSpPr>
            <p:cNvPr id="22" name="TextBox 21">
              <a:extLst>
                <a:ext uri="{FF2B5EF4-FFF2-40B4-BE49-F238E27FC236}">
                  <a16:creationId xmlns:a16="http://schemas.microsoft.com/office/drawing/2014/main" id="{F55FA8D7-584A-3D92-2374-D4D9B039A1F0}"/>
                </a:ext>
              </a:extLst>
            </p:cNvPr>
            <p:cNvSpPr txBox="1"/>
            <p:nvPr/>
          </p:nvSpPr>
          <p:spPr>
            <a:xfrm>
              <a:off x="6954675" y="4536014"/>
              <a:ext cx="301686" cy="369332"/>
            </a:xfrm>
            <a:prstGeom prst="rect">
              <a:avLst/>
            </a:prstGeom>
            <a:noFill/>
          </p:spPr>
          <p:txBody>
            <a:bodyPr wrap="none" rtlCol="0">
              <a:spAutoFit/>
            </a:bodyPr>
            <a:lstStyle/>
            <a:p>
              <a:r>
                <a:rPr lang="en-US" dirty="0">
                  <a:solidFill>
                    <a:srgbClr val="FF33CC"/>
                  </a:solidFill>
                </a:rPr>
                <a:t>2</a:t>
              </a:r>
            </a:p>
          </p:txBody>
        </p:sp>
        <p:sp>
          <p:nvSpPr>
            <p:cNvPr id="23" name="TextBox 22">
              <a:extLst>
                <a:ext uri="{FF2B5EF4-FFF2-40B4-BE49-F238E27FC236}">
                  <a16:creationId xmlns:a16="http://schemas.microsoft.com/office/drawing/2014/main" id="{A074B26C-2E4B-B7B4-53B8-684267F34C93}"/>
                </a:ext>
              </a:extLst>
            </p:cNvPr>
            <p:cNvSpPr txBox="1"/>
            <p:nvPr/>
          </p:nvSpPr>
          <p:spPr>
            <a:xfrm>
              <a:off x="10622173" y="4475618"/>
              <a:ext cx="301686" cy="369332"/>
            </a:xfrm>
            <a:prstGeom prst="rect">
              <a:avLst/>
            </a:prstGeom>
            <a:noFill/>
          </p:spPr>
          <p:txBody>
            <a:bodyPr wrap="none" rtlCol="0">
              <a:spAutoFit/>
            </a:bodyPr>
            <a:lstStyle/>
            <a:p>
              <a:r>
                <a:rPr lang="en-US" dirty="0">
                  <a:solidFill>
                    <a:srgbClr val="FF33CC"/>
                  </a:solidFill>
                </a:rPr>
                <a:t>3</a:t>
              </a:r>
            </a:p>
          </p:txBody>
        </p:sp>
        <p:sp>
          <p:nvSpPr>
            <p:cNvPr id="24" name="TextBox 23">
              <a:extLst>
                <a:ext uri="{FF2B5EF4-FFF2-40B4-BE49-F238E27FC236}">
                  <a16:creationId xmlns:a16="http://schemas.microsoft.com/office/drawing/2014/main" id="{7736FF71-9127-2B32-CF43-58B262D44B28}"/>
                </a:ext>
              </a:extLst>
            </p:cNvPr>
            <p:cNvSpPr txBox="1"/>
            <p:nvPr/>
          </p:nvSpPr>
          <p:spPr>
            <a:xfrm>
              <a:off x="5922561" y="5230503"/>
              <a:ext cx="301686" cy="369332"/>
            </a:xfrm>
            <a:prstGeom prst="rect">
              <a:avLst/>
            </a:prstGeom>
            <a:noFill/>
          </p:spPr>
          <p:txBody>
            <a:bodyPr wrap="none" rtlCol="0">
              <a:spAutoFit/>
            </a:bodyPr>
            <a:lstStyle/>
            <a:p>
              <a:r>
                <a:rPr lang="en-US" dirty="0">
                  <a:solidFill>
                    <a:srgbClr val="FF33CC"/>
                  </a:solidFill>
                </a:rPr>
                <a:t>4</a:t>
              </a:r>
            </a:p>
          </p:txBody>
        </p:sp>
        <p:sp>
          <p:nvSpPr>
            <p:cNvPr id="25" name="TextBox 24">
              <a:extLst>
                <a:ext uri="{FF2B5EF4-FFF2-40B4-BE49-F238E27FC236}">
                  <a16:creationId xmlns:a16="http://schemas.microsoft.com/office/drawing/2014/main" id="{7EE074B9-88F8-F18E-08DC-F75747103A96}"/>
                </a:ext>
              </a:extLst>
            </p:cNvPr>
            <p:cNvSpPr txBox="1"/>
            <p:nvPr/>
          </p:nvSpPr>
          <p:spPr>
            <a:xfrm>
              <a:off x="9692485" y="5171600"/>
              <a:ext cx="301686" cy="369332"/>
            </a:xfrm>
            <a:prstGeom prst="rect">
              <a:avLst/>
            </a:prstGeom>
            <a:noFill/>
          </p:spPr>
          <p:txBody>
            <a:bodyPr wrap="none" rtlCol="0">
              <a:spAutoFit/>
            </a:bodyPr>
            <a:lstStyle/>
            <a:p>
              <a:r>
                <a:rPr lang="en-US" dirty="0">
                  <a:solidFill>
                    <a:srgbClr val="FF33CC"/>
                  </a:solidFill>
                </a:rPr>
                <a:t>6</a:t>
              </a:r>
            </a:p>
          </p:txBody>
        </p:sp>
        <p:sp>
          <p:nvSpPr>
            <p:cNvPr id="26" name="TextBox 25">
              <a:extLst>
                <a:ext uri="{FF2B5EF4-FFF2-40B4-BE49-F238E27FC236}">
                  <a16:creationId xmlns:a16="http://schemas.microsoft.com/office/drawing/2014/main" id="{BFC00382-10D4-B39D-2D3C-D7507FF529ED}"/>
                </a:ext>
              </a:extLst>
            </p:cNvPr>
            <p:cNvSpPr txBox="1"/>
            <p:nvPr/>
          </p:nvSpPr>
          <p:spPr>
            <a:xfrm>
              <a:off x="7974880" y="5267825"/>
              <a:ext cx="301686" cy="369332"/>
            </a:xfrm>
            <a:prstGeom prst="rect">
              <a:avLst/>
            </a:prstGeom>
            <a:noFill/>
          </p:spPr>
          <p:txBody>
            <a:bodyPr wrap="none" rtlCol="0">
              <a:spAutoFit/>
            </a:bodyPr>
            <a:lstStyle/>
            <a:p>
              <a:r>
                <a:rPr lang="en-US" dirty="0">
                  <a:solidFill>
                    <a:srgbClr val="FF33CC"/>
                  </a:solidFill>
                </a:rPr>
                <a:t>5</a:t>
              </a:r>
            </a:p>
          </p:txBody>
        </p:sp>
        <p:sp>
          <p:nvSpPr>
            <p:cNvPr id="27" name="TextBox 26">
              <a:extLst>
                <a:ext uri="{FF2B5EF4-FFF2-40B4-BE49-F238E27FC236}">
                  <a16:creationId xmlns:a16="http://schemas.microsoft.com/office/drawing/2014/main" id="{C405E667-1185-441D-DD92-CD75408C8AE1}"/>
                </a:ext>
              </a:extLst>
            </p:cNvPr>
            <p:cNvSpPr txBox="1"/>
            <p:nvPr/>
          </p:nvSpPr>
          <p:spPr>
            <a:xfrm>
              <a:off x="11600598" y="5188989"/>
              <a:ext cx="301686" cy="369332"/>
            </a:xfrm>
            <a:prstGeom prst="rect">
              <a:avLst/>
            </a:prstGeom>
            <a:noFill/>
          </p:spPr>
          <p:txBody>
            <a:bodyPr wrap="none" rtlCol="0">
              <a:spAutoFit/>
            </a:bodyPr>
            <a:lstStyle/>
            <a:p>
              <a:r>
                <a:rPr lang="en-US" dirty="0">
                  <a:solidFill>
                    <a:srgbClr val="FF33CC"/>
                  </a:solidFill>
                </a:rPr>
                <a:t>7</a:t>
              </a:r>
            </a:p>
          </p:txBody>
        </p:sp>
        <p:sp>
          <p:nvSpPr>
            <p:cNvPr id="28" name="TextBox 27">
              <a:extLst>
                <a:ext uri="{FF2B5EF4-FFF2-40B4-BE49-F238E27FC236}">
                  <a16:creationId xmlns:a16="http://schemas.microsoft.com/office/drawing/2014/main" id="{5C176F8B-5318-0EBC-E447-A87986A92571}"/>
                </a:ext>
              </a:extLst>
            </p:cNvPr>
            <p:cNvSpPr txBox="1"/>
            <p:nvPr/>
          </p:nvSpPr>
          <p:spPr>
            <a:xfrm>
              <a:off x="5354476" y="6123543"/>
              <a:ext cx="301686" cy="369332"/>
            </a:xfrm>
            <a:prstGeom prst="rect">
              <a:avLst/>
            </a:prstGeom>
            <a:noFill/>
          </p:spPr>
          <p:txBody>
            <a:bodyPr wrap="none" rtlCol="0">
              <a:spAutoFit/>
            </a:bodyPr>
            <a:lstStyle/>
            <a:p>
              <a:r>
                <a:rPr lang="en-US" dirty="0">
                  <a:solidFill>
                    <a:srgbClr val="FF33CC"/>
                  </a:solidFill>
                </a:rPr>
                <a:t>8</a:t>
              </a:r>
            </a:p>
          </p:txBody>
        </p:sp>
        <p:sp>
          <p:nvSpPr>
            <p:cNvPr id="29" name="TextBox 28">
              <a:extLst>
                <a:ext uri="{FF2B5EF4-FFF2-40B4-BE49-F238E27FC236}">
                  <a16:creationId xmlns:a16="http://schemas.microsoft.com/office/drawing/2014/main" id="{483F1FB1-D52E-6857-07D9-7BB2E4A44120}"/>
                </a:ext>
              </a:extLst>
            </p:cNvPr>
            <p:cNvSpPr txBox="1"/>
            <p:nvPr/>
          </p:nvSpPr>
          <p:spPr>
            <a:xfrm>
              <a:off x="6490947" y="6123543"/>
              <a:ext cx="301686" cy="369332"/>
            </a:xfrm>
            <a:prstGeom prst="rect">
              <a:avLst/>
            </a:prstGeom>
            <a:noFill/>
          </p:spPr>
          <p:txBody>
            <a:bodyPr wrap="none" rtlCol="0">
              <a:spAutoFit/>
            </a:bodyPr>
            <a:lstStyle/>
            <a:p>
              <a:r>
                <a:rPr lang="en-US" dirty="0">
                  <a:solidFill>
                    <a:srgbClr val="FF33CC"/>
                  </a:solidFill>
                </a:rPr>
                <a:t>9</a:t>
              </a:r>
            </a:p>
          </p:txBody>
        </p:sp>
      </p:grpSp>
      <mc:AlternateContent xmlns:mc="http://schemas.openxmlformats.org/markup-compatibility/2006">
        <mc:Choice xmlns:p14="http://schemas.microsoft.com/office/powerpoint/2010/main" Requires="p14">
          <p:contentPart p14:bwMode="auto" r:id="rId3">
            <p14:nvContentPartPr>
              <p14:cNvPr id="32" name="Ink 31">
                <a:extLst>
                  <a:ext uri="{FF2B5EF4-FFF2-40B4-BE49-F238E27FC236}">
                    <a16:creationId xmlns:a16="http://schemas.microsoft.com/office/drawing/2014/main" id="{EE160BC2-C1DB-1F2F-35E6-BC7882558A64}"/>
                  </a:ext>
                </a:extLst>
              </p14:cNvPr>
              <p14:cNvContentPartPr/>
              <p14:nvPr/>
            </p14:nvContentPartPr>
            <p14:xfrm>
              <a:off x="1143000" y="2299320"/>
              <a:ext cx="9258120" cy="3738600"/>
            </p14:xfrm>
          </p:contentPart>
        </mc:Choice>
        <mc:Fallback>
          <p:pic>
            <p:nvPicPr>
              <p:cNvPr id="32" name="Ink 31">
                <a:extLst>
                  <a:ext uri="{FF2B5EF4-FFF2-40B4-BE49-F238E27FC236}">
                    <a16:creationId xmlns:a16="http://schemas.microsoft.com/office/drawing/2014/main" id="{EE160BC2-C1DB-1F2F-35E6-BC7882558A64}"/>
                  </a:ext>
                </a:extLst>
              </p:cNvPr>
              <p:cNvPicPr/>
              <p:nvPr/>
            </p:nvPicPr>
            <p:blipFill>
              <a:blip r:embed="rId4"/>
              <a:stretch>
                <a:fillRect/>
              </a:stretch>
            </p:blipFill>
            <p:spPr>
              <a:xfrm>
                <a:off x="1133640" y="2289960"/>
                <a:ext cx="9276840" cy="3757320"/>
              </a:xfrm>
              <a:prstGeom prst="rect">
                <a:avLst/>
              </a:prstGeom>
            </p:spPr>
          </p:pic>
        </mc:Fallback>
      </mc:AlternateContent>
    </p:spTree>
    <p:extLst>
      <p:ext uri="{BB962C8B-B14F-4D97-AF65-F5344CB8AC3E}">
        <p14:creationId xmlns:p14="http://schemas.microsoft.com/office/powerpoint/2010/main" val="21436941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7CEA206E-E4F0-F25D-7FB9-EC12CCD00DB7}"/>
                  </a:ext>
                </a:extLst>
              </p:cNvPr>
              <p:cNvSpPr>
                <a:spLocks noGrp="1"/>
              </p:cNvSpPr>
              <p:nvPr>
                <p:ph type="title"/>
              </p:nvPr>
            </p:nvSpPr>
            <p:spPr/>
            <p:txBody>
              <a:bodyPr/>
              <a:lstStyle/>
              <a:p>
                <a:r>
                  <a:rPr lang="en-US" dirty="0"/>
                  <a:t>Achieving </a:t>
                </a:r>
                <a14:m>
                  <m:oMath xmlns:m="http://schemas.openxmlformats.org/officeDocument/2006/math">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log</m:t>
                        </m:r>
                      </m:fName>
                      <m:e>
                        <m:r>
                          <a:rPr lang="en-US" b="0" i="1" smtClean="0">
                            <a:latin typeface="Cambria Math" panose="02040503050406030204" pitchFamily="18" charset="0"/>
                          </a:rPr>
                          <m:t>𝑛</m:t>
                        </m:r>
                      </m:e>
                    </m:func>
                  </m:oMath>
                </a14:m>
                <a:r>
                  <a:rPr lang="en-US" dirty="0"/>
                  <a:t> Running Time</a:t>
                </a:r>
              </a:p>
            </p:txBody>
          </p:sp>
        </mc:Choice>
        <mc:Fallback xmlns="">
          <p:sp>
            <p:nvSpPr>
              <p:cNvPr id="2" name="Title 1">
                <a:extLst>
                  <a:ext uri="{FF2B5EF4-FFF2-40B4-BE49-F238E27FC236}">
                    <a16:creationId xmlns:a16="http://schemas.microsoft.com/office/drawing/2014/main" id="{7CEA206E-E4F0-F25D-7FB9-EC12CCD00DB7}"/>
                  </a:ext>
                </a:extLst>
              </p:cNvPr>
              <p:cNvSpPr>
                <a:spLocks noGrp="1" noRot="1" noChangeAspect="1" noMove="1" noResize="1" noEditPoints="1" noAdjustHandles="1" noChangeArrowheads="1" noChangeShapeType="1" noTextEdit="1"/>
              </p:cNvSpPr>
              <p:nvPr>
                <p:ph type="title"/>
              </p:nvPr>
            </p:nvSpPr>
            <p:spPr>
              <a:blipFill>
                <a:blip r:embed="rId2"/>
                <a:stretch>
                  <a:fillRect l="-237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B18C1EDC-77CF-F245-8CDE-E3968F223C83}"/>
                  </a:ext>
                </a:extLst>
              </p:cNvPr>
              <p:cNvSpPr>
                <a:spLocks noGrp="1"/>
              </p:cNvSpPr>
              <p:nvPr>
                <p:ph idx="1"/>
              </p:nvPr>
            </p:nvSpPr>
            <p:spPr/>
            <p:txBody>
              <a:bodyPr>
                <a:normAutofit fontScale="92500" lnSpcReduction="10000"/>
              </a:bodyPr>
              <a:lstStyle/>
              <a:p>
                <a:r>
                  <a:rPr lang="en-US" dirty="0"/>
                  <a:t>What is the maximum number of total nodes in a binary tree of height </a:t>
                </a:r>
                <a14:m>
                  <m:oMath xmlns:m="http://schemas.openxmlformats.org/officeDocument/2006/math">
                    <m:r>
                      <a:rPr lang="en-US" b="0" i="1" smtClean="0">
                        <a:latin typeface="Cambria Math" panose="02040503050406030204" pitchFamily="18" charset="0"/>
                      </a:rPr>
                      <m:t>h</m:t>
                    </m:r>
                  </m:oMath>
                </a14:m>
                <a:r>
                  <a:rPr lang="en-US" dirty="0"/>
                  <a:t>?</a:t>
                </a:r>
              </a:p>
              <a:p>
                <a:pPr lvl="1"/>
                <a14:m>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panose="02040503050406030204" pitchFamily="18" charset="0"/>
                          </a:rPr>
                          <m:t>2</m:t>
                        </m:r>
                      </m:e>
                      <m:sup>
                        <m:r>
                          <a:rPr lang="en-US" b="0" i="1" smtClean="0">
                            <a:latin typeface="Cambria Math" panose="02040503050406030204" pitchFamily="18" charset="0"/>
                          </a:rPr>
                          <m:t>h</m:t>
                        </m:r>
                        <m:r>
                          <a:rPr lang="en-US" b="0" i="1" smtClean="0">
                            <a:latin typeface="Cambria Math" panose="02040503050406030204" pitchFamily="18" charset="0"/>
                          </a:rPr>
                          <m:t>+1</m:t>
                        </m:r>
                      </m:sup>
                    </m:sSup>
                    <m:r>
                      <a:rPr lang="en-US" b="0" i="1" smtClean="0">
                        <a:latin typeface="Cambria Math" panose="02040503050406030204" pitchFamily="18" charset="0"/>
                      </a:rPr>
                      <m:t>−1</m:t>
                    </m:r>
                  </m:oMath>
                </a14:m>
                <a:endParaRPr lang="en-US" dirty="0"/>
              </a:p>
              <a:p>
                <a:pPr lvl="1"/>
                <a14:m>
                  <m:oMath xmlns:m="http://schemas.openxmlformats.org/officeDocument/2006/math">
                    <m:r>
                      <m:rPr>
                        <m:sty m:val="p"/>
                      </m:rPr>
                      <a:rPr lang="en-US" b="0" i="0" smtClean="0">
                        <a:latin typeface="Cambria Math" panose="02040503050406030204" pitchFamily="18" charset="0"/>
                      </a:rPr>
                      <m:t>Θ</m:t>
                    </m:r>
                    <m:d>
                      <m:dPr>
                        <m:ctrlPr>
                          <a:rPr lang="en-US" b="0" i="1" smtClean="0">
                            <a:latin typeface="Cambria Math" panose="02040503050406030204" pitchFamily="18" charset="0"/>
                          </a:rPr>
                        </m:ctrlPr>
                      </m:dPr>
                      <m:e>
                        <m:sSup>
                          <m:sSupPr>
                            <m:ctrlPr>
                              <a:rPr lang="en-US" b="0" i="1" smtClean="0">
                                <a:latin typeface="Cambria Math" panose="02040503050406030204" pitchFamily="18" charset="0"/>
                              </a:rPr>
                            </m:ctrlPr>
                          </m:sSupPr>
                          <m:e>
                            <m:r>
                              <a:rPr lang="en-US" b="0" i="1" smtClean="0">
                                <a:latin typeface="Cambria Math" panose="02040503050406030204" pitchFamily="18" charset="0"/>
                              </a:rPr>
                              <m:t>2</m:t>
                            </m:r>
                          </m:e>
                          <m:sup>
                            <m:r>
                              <a:rPr lang="en-US" b="0" i="1" smtClean="0">
                                <a:latin typeface="Cambria Math" panose="02040503050406030204" pitchFamily="18" charset="0"/>
                              </a:rPr>
                              <m:t>h</m:t>
                            </m:r>
                          </m:sup>
                        </m:sSup>
                      </m:e>
                    </m:d>
                  </m:oMath>
                </a14:m>
                <a:endParaRPr lang="en-US" dirty="0"/>
              </a:p>
              <a:p>
                <a:r>
                  <a:rPr lang="en-US" dirty="0"/>
                  <a:t>If I have </a:t>
                </a:r>
                <a14:m>
                  <m:oMath xmlns:m="http://schemas.openxmlformats.org/officeDocument/2006/math">
                    <m:r>
                      <a:rPr lang="en-US" b="0" i="1" smtClean="0">
                        <a:latin typeface="Cambria Math" panose="02040503050406030204" pitchFamily="18" charset="0"/>
                      </a:rPr>
                      <m:t>𝑛</m:t>
                    </m:r>
                  </m:oMath>
                </a14:m>
                <a:r>
                  <a:rPr lang="en-US" dirty="0"/>
                  <a:t> nodes in a binary tree, what is its minimum height?</a:t>
                </a:r>
                <a:endParaRPr lang="en-US" b="0" dirty="0"/>
              </a:p>
              <a:p>
                <a:pPr lvl="1"/>
                <a:r>
                  <a:rPr lang="en-US" b="0" dirty="0"/>
                  <a:t>Find the smallest </a:t>
                </a:r>
                <a14:m>
                  <m:oMath xmlns:m="http://schemas.openxmlformats.org/officeDocument/2006/math">
                    <m:r>
                      <a:rPr lang="en-US" b="0" i="1" dirty="0" smtClean="0">
                        <a:latin typeface="Cambria Math" panose="02040503050406030204" pitchFamily="18" charset="0"/>
                      </a:rPr>
                      <m:t>h</m:t>
                    </m:r>
                  </m:oMath>
                </a14:m>
                <a:r>
                  <a:rPr lang="en-US" b="0" dirty="0"/>
                  <a:t> such that: </a:t>
                </a:r>
                <a14:m>
                  <m:oMath xmlns:m="http://schemas.openxmlformats.org/officeDocument/2006/math">
                    <m:r>
                      <a:rPr lang="en-US" b="0" i="1" smtClean="0">
                        <a:latin typeface="Cambria Math" panose="02040503050406030204" pitchFamily="18" charset="0"/>
                      </a:rPr>
                      <m:t>𝑛</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2</m:t>
                        </m:r>
                      </m:e>
                      <m:sup>
                        <m:r>
                          <a:rPr lang="en-US" b="0" i="1" smtClean="0">
                            <a:latin typeface="Cambria Math" panose="02040503050406030204" pitchFamily="18" charset="0"/>
                          </a:rPr>
                          <m:t>h</m:t>
                        </m:r>
                        <m:r>
                          <a:rPr lang="en-US" b="0" i="1" smtClean="0">
                            <a:latin typeface="Cambria Math" panose="02040503050406030204" pitchFamily="18" charset="0"/>
                          </a:rPr>
                          <m:t>+1</m:t>
                        </m:r>
                      </m:sup>
                    </m:sSup>
                    <m:r>
                      <a:rPr lang="en-US" b="0" i="1" smtClean="0">
                        <a:latin typeface="Cambria Math" panose="02040503050406030204" pitchFamily="18" charset="0"/>
                      </a:rPr>
                      <m:t>−1</m:t>
                    </m:r>
                  </m:oMath>
                </a14:m>
                <a:endParaRPr lang="en-US" b="0" i="0" dirty="0">
                  <a:latin typeface="Cambria Math" panose="02040503050406030204" pitchFamily="18" charset="0"/>
                </a:endParaRPr>
              </a:p>
              <a:p>
                <a:pPr lvl="1"/>
                <a:r>
                  <a:rPr lang="en-US" b="0" dirty="0"/>
                  <a:t>Solve for </a:t>
                </a:r>
                <a14:m>
                  <m:oMath xmlns:m="http://schemas.openxmlformats.org/officeDocument/2006/math">
                    <m:r>
                      <a:rPr lang="en-US" b="0" i="1" dirty="0" smtClean="0">
                        <a:latin typeface="Cambria Math" panose="02040503050406030204" pitchFamily="18" charset="0"/>
                      </a:rPr>
                      <m:t>h</m:t>
                    </m:r>
                  </m:oMath>
                </a14:m>
                <a:r>
                  <a:rPr lang="en-US" b="0" dirty="0"/>
                  <a:t>: </a:t>
                </a:r>
                <a14:m>
                  <m:oMath xmlns:m="http://schemas.openxmlformats.org/officeDocument/2006/math">
                    <m:r>
                      <a:rPr lang="en-US" b="0" i="1" smtClean="0">
                        <a:latin typeface="Cambria Math" panose="02040503050406030204" pitchFamily="18" charset="0"/>
                      </a:rPr>
                      <m:t>⌈</m:t>
                    </m:r>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log</m:t>
                        </m:r>
                      </m:fName>
                      <m:e>
                        <m:d>
                          <m:dPr>
                            <m:ctrlPr>
                              <a:rPr lang="en-US" b="0" i="1" smtClean="0">
                                <a:latin typeface="Cambria Math" panose="02040503050406030204" pitchFamily="18" charset="0"/>
                              </a:rPr>
                            </m:ctrlPr>
                          </m:dPr>
                          <m:e>
                            <m:r>
                              <a:rPr lang="en-US" b="0" i="1" smtClean="0">
                                <a:latin typeface="Cambria Math" panose="02040503050406030204" pitchFamily="18" charset="0"/>
                              </a:rPr>
                              <m:t>𝑛</m:t>
                            </m:r>
                            <m:r>
                              <a:rPr lang="en-US" b="0" i="1" smtClean="0">
                                <a:latin typeface="Cambria Math" panose="02040503050406030204" pitchFamily="18" charset="0"/>
                              </a:rPr>
                              <m:t>+1</m:t>
                            </m:r>
                          </m:e>
                        </m:d>
                      </m:e>
                    </m:func>
                    <m:r>
                      <a:rPr lang="en-US" b="0" i="1" smtClean="0">
                        <a:latin typeface="Cambria Math" panose="02040503050406030204" pitchFamily="18" charset="0"/>
                      </a:rPr>
                      <m:t>−1⌉=</m:t>
                    </m:r>
                    <m:r>
                      <a:rPr lang="en-US" b="0" i="1" smtClean="0">
                        <a:latin typeface="Cambria Math" panose="02040503050406030204" pitchFamily="18" charset="0"/>
                      </a:rPr>
                      <m:t>h</m:t>
                    </m:r>
                  </m:oMath>
                </a14:m>
                <a:endParaRPr lang="en-US" b="0" i="0" dirty="0">
                  <a:latin typeface="Cambria Math" panose="02040503050406030204" pitchFamily="18" charset="0"/>
                </a:endParaRPr>
              </a:p>
              <a:p>
                <a:pPr lvl="1"/>
                <a:r>
                  <a:rPr lang="en-US" dirty="0"/>
                  <a:t>H</a:t>
                </a:r>
                <a:r>
                  <a:rPr lang="en-US" b="0" dirty="0"/>
                  <a:t>eight is </a:t>
                </a:r>
                <a14:m>
                  <m:oMath xmlns:m="http://schemas.openxmlformats.org/officeDocument/2006/math">
                    <m:r>
                      <m:rPr>
                        <m:sty m:val="p"/>
                      </m:rPr>
                      <a:rPr lang="en-US" b="0" i="0" smtClean="0">
                        <a:latin typeface="Cambria Math" panose="02040503050406030204" pitchFamily="18" charset="0"/>
                      </a:rPr>
                      <m:t>Θ</m:t>
                    </m:r>
                    <m:d>
                      <m:dPr>
                        <m:ctrlPr>
                          <a:rPr lang="en-US" b="0" i="1" smtClean="0">
                            <a:latin typeface="Cambria Math" panose="02040503050406030204" pitchFamily="18" charset="0"/>
                          </a:rPr>
                        </m:ctrlPr>
                      </m:dPr>
                      <m:e>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log</m:t>
                            </m:r>
                          </m:fName>
                          <m:e>
                            <m:r>
                              <a:rPr lang="en-US" b="0" i="1" smtClean="0">
                                <a:latin typeface="Cambria Math" panose="02040503050406030204" pitchFamily="18" charset="0"/>
                              </a:rPr>
                              <m:t>𝑛</m:t>
                            </m:r>
                          </m:e>
                        </m:func>
                      </m:e>
                    </m:d>
                  </m:oMath>
                </a14:m>
                <a:endParaRPr lang="en-US" dirty="0"/>
              </a:p>
              <a:p>
                <a:pPr lvl="1"/>
                <a:endParaRPr lang="en-US" dirty="0"/>
              </a:p>
              <a:p>
                <a:r>
                  <a:rPr lang="en-US" dirty="0">
                    <a:solidFill>
                      <a:srgbClr val="FF0000"/>
                    </a:solidFill>
                  </a:rPr>
                  <a:t>Heap Idea:</a:t>
                </a:r>
              </a:p>
              <a:p>
                <a:pPr lvl="1"/>
                <a:r>
                  <a:rPr lang="en-US" dirty="0">
                    <a:solidFill>
                      <a:srgbClr val="FF0000"/>
                    </a:solidFill>
                  </a:rPr>
                  <a:t>If </a:t>
                </a:r>
                <a14:m>
                  <m:oMath xmlns:m="http://schemas.openxmlformats.org/officeDocument/2006/math">
                    <m:r>
                      <a:rPr lang="en-US" b="0" i="1" smtClean="0">
                        <a:solidFill>
                          <a:srgbClr val="FF0000"/>
                        </a:solidFill>
                        <a:latin typeface="Cambria Math" panose="02040503050406030204" pitchFamily="18" charset="0"/>
                      </a:rPr>
                      <m:t>𝑛</m:t>
                    </m:r>
                  </m:oMath>
                </a14:m>
                <a:r>
                  <a:rPr lang="en-US" dirty="0">
                    <a:solidFill>
                      <a:srgbClr val="FF0000"/>
                    </a:solidFill>
                  </a:rPr>
                  <a:t> values are inserted into a complete tree, the height will be roughly </a:t>
                </a:r>
                <a14:m>
                  <m:oMath xmlns:m="http://schemas.openxmlformats.org/officeDocument/2006/math">
                    <m:func>
                      <m:funcPr>
                        <m:ctrlPr>
                          <a:rPr lang="en-US" b="0" i="1" smtClean="0">
                            <a:solidFill>
                              <a:srgbClr val="FF0000"/>
                            </a:solidFill>
                            <a:latin typeface="Cambria Math" panose="02040503050406030204" pitchFamily="18" charset="0"/>
                          </a:rPr>
                        </m:ctrlPr>
                      </m:funcPr>
                      <m:fName>
                        <m:r>
                          <m:rPr>
                            <m:sty m:val="p"/>
                          </m:rPr>
                          <a:rPr lang="en-US" b="0" i="0" smtClean="0">
                            <a:solidFill>
                              <a:srgbClr val="FF0000"/>
                            </a:solidFill>
                            <a:latin typeface="Cambria Math" panose="02040503050406030204" pitchFamily="18" charset="0"/>
                          </a:rPr>
                          <m:t>log</m:t>
                        </m:r>
                      </m:fName>
                      <m:e>
                        <m:r>
                          <a:rPr lang="en-US" b="0" i="1" smtClean="0">
                            <a:solidFill>
                              <a:srgbClr val="FF0000"/>
                            </a:solidFill>
                            <a:latin typeface="Cambria Math" panose="02040503050406030204" pitchFamily="18" charset="0"/>
                          </a:rPr>
                          <m:t>𝑛</m:t>
                        </m:r>
                      </m:e>
                    </m:func>
                  </m:oMath>
                </a14:m>
                <a:endParaRPr lang="en-US" b="0" dirty="0">
                  <a:solidFill>
                    <a:srgbClr val="FF0000"/>
                  </a:solidFill>
                </a:endParaRPr>
              </a:p>
              <a:p>
                <a:pPr lvl="1"/>
                <a:r>
                  <a:rPr lang="en-US" dirty="0">
                    <a:solidFill>
                      <a:srgbClr val="FF0000"/>
                    </a:solidFill>
                  </a:rPr>
                  <a:t>Ensure each insert and extract requires just one “trip” from root to leaf</a:t>
                </a:r>
              </a:p>
            </p:txBody>
          </p:sp>
        </mc:Choice>
        <mc:Fallback xmlns="">
          <p:sp>
            <p:nvSpPr>
              <p:cNvPr id="3" name="Content Placeholder 2">
                <a:extLst>
                  <a:ext uri="{FF2B5EF4-FFF2-40B4-BE49-F238E27FC236}">
                    <a16:creationId xmlns:a16="http://schemas.microsoft.com/office/drawing/2014/main" id="{B18C1EDC-77CF-F245-8CDE-E3968F223C83}"/>
                  </a:ext>
                </a:extLst>
              </p:cNvPr>
              <p:cNvSpPr>
                <a:spLocks noGrp="1" noRot="1" noChangeAspect="1" noMove="1" noResize="1" noEditPoints="1" noAdjustHandles="1" noChangeArrowheads="1" noChangeShapeType="1" noTextEdit="1"/>
              </p:cNvSpPr>
              <p:nvPr>
                <p:ph idx="1"/>
              </p:nvPr>
            </p:nvSpPr>
            <p:spPr>
              <a:blipFill>
                <a:blip r:embed="rId3"/>
                <a:stretch>
                  <a:fillRect l="-928" t="-2801"/>
                </a:stretch>
              </a:blipFill>
            </p:spPr>
            <p:txBody>
              <a:bodyPr/>
              <a:lstStyle/>
              <a:p>
                <a:r>
                  <a:rPr lang="en-US">
                    <a:noFill/>
                  </a:rPr>
                  <a:t> </a:t>
                </a:r>
              </a:p>
            </p:txBody>
          </p:sp>
        </mc:Fallback>
      </mc:AlternateContent>
      <mc:AlternateContent xmlns:mc="http://schemas.openxmlformats.org/markup-compatibility/2006">
        <mc:Choice xmlns:p14="http://schemas.microsoft.com/office/powerpoint/2010/main" Requires="p14">
          <p:contentPart p14:bwMode="auto" r:id="rId4">
            <p14:nvContentPartPr>
              <p14:cNvPr id="4" name="Ink 3">
                <a:extLst>
                  <a:ext uri="{FF2B5EF4-FFF2-40B4-BE49-F238E27FC236}">
                    <a16:creationId xmlns:a16="http://schemas.microsoft.com/office/drawing/2014/main" id="{46FBD232-D7DA-E030-1E88-CB27F5E0008D}"/>
                  </a:ext>
                </a:extLst>
              </p14:cNvPr>
              <p14:cNvContentPartPr/>
              <p14:nvPr/>
            </p14:nvContentPartPr>
            <p14:xfrm>
              <a:off x="1434960" y="211320"/>
              <a:ext cx="9463680" cy="4663080"/>
            </p14:xfrm>
          </p:contentPart>
        </mc:Choice>
        <mc:Fallback>
          <p:pic>
            <p:nvPicPr>
              <p:cNvPr id="4" name="Ink 3">
                <a:extLst>
                  <a:ext uri="{FF2B5EF4-FFF2-40B4-BE49-F238E27FC236}">
                    <a16:creationId xmlns:a16="http://schemas.microsoft.com/office/drawing/2014/main" id="{46FBD232-D7DA-E030-1E88-CB27F5E0008D}"/>
                  </a:ext>
                </a:extLst>
              </p:cNvPr>
              <p:cNvPicPr/>
              <p:nvPr/>
            </p:nvPicPr>
            <p:blipFill>
              <a:blip r:embed="rId5"/>
              <a:stretch>
                <a:fillRect/>
              </a:stretch>
            </p:blipFill>
            <p:spPr>
              <a:xfrm>
                <a:off x="1425600" y="201960"/>
                <a:ext cx="9482400" cy="4681800"/>
              </a:xfrm>
              <a:prstGeom prst="rect">
                <a:avLst/>
              </a:prstGeom>
            </p:spPr>
          </p:pic>
        </mc:Fallback>
      </mc:AlternateContent>
    </p:spTree>
    <p:extLst>
      <p:ext uri="{BB962C8B-B14F-4D97-AF65-F5344CB8AC3E}">
        <p14:creationId xmlns:p14="http://schemas.microsoft.com/office/powerpoint/2010/main" val="15389022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10BF59-083A-CA08-93EA-90DDC967B0F2}"/>
              </a:ext>
            </a:extLst>
          </p:cNvPr>
          <p:cNvSpPr>
            <a:spLocks noGrp="1"/>
          </p:cNvSpPr>
          <p:nvPr>
            <p:ph type="title"/>
          </p:nvPr>
        </p:nvSpPr>
        <p:spPr/>
        <p:txBody>
          <a:bodyPr/>
          <a:lstStyle/>
          <a:p>
            <a:r>
              <a:rPr lang="en-US" dirty="0"/>
              <a:t>(Min) Heap Data Structure</a:t>
            </a:r>
          </a:p>
        </p:txBody>
      </p:sp>
      <p:grpSp>
        <p:nvGrpSpPr>
          <p:cNvPr id="50" name="Group 49" descr="In addition to requiring a specific shape, we also require specific positions of values in the heap. Specifically, for a min heap, each value must be less than or equal to both of its children.&#10;&#10;For a max heap, each value must be greater than or equal to both of its children.">
            <a:extLst>
              <a:ext uri="{FF2B5EF4-FFF2-40B4-BE49-F238E27FC236}">
                <a16:creationId xmlns:a16="http://schemas.microsoft.com/office/drawing/2014/main" id="{D1E79A52-4366-7D86-3CE5-487CC7504B28}"/>
              </a:ext>
            </a:extLst>
          </p:cNvPr>
          <p:cNvGrpSpPr/>
          <p:nvPr/>
        </p:nvGrpSpPr>
        <p:grpSpPr>
          <a:xfrm>
            <a:off x="5161281" y="2808212"/>
            <a:ext cx="6934200" cy="3684663"/>
            <a:chOff x="5161281" y="2808212"/>
            <a:chExt cx="6934200" cy="3684663"/>
          </a:xfrm>
        </p:grpSpPr>
        <p:grpSp>
          <p:nvGrpSpPr>
            <p:cNvPr id="22" name="Group 21">
              <a:extLst>
                <a:ext uri="{FF2B5EF4-FFF2-40B4-BE49-F238E27FC236}">
                  <a16:creationId xmlns:a16="http://schemas.microsoft.com/office/drawing/2014/main" id="{77DE7DEC-D96B-EA41-522E-BACB5E00AF5A}"/>
                </a:ext>
              </a:extLst>
            </p:cNvPr>
            <p:cNvGrpSpPr/>
            <p:nvPr/>
          </p:nvGrpSpPr>
          <p:grpSpPr>
            <a:xfrm>
              <a:off x="5161281" y="2808212"/>
              <a:ext cx="6934200" cy="3368751"/>
              <a:chOff x="2590801" y="2672070"/>
              <a:chExt cx="6934200" cy="3368751"/>
            </a:xfrm>
          </p:grpSpPr>
          <p:sp>
            <p:nvSpPr>
              <p:cNvPr id="23" name="Oval 22">
                <a:extLst>
                  <a:ext uri="{FF2B5EF4-FFF2-40B4-BE49-F238E27FC236}">
                    <a16:creationId xmlns:a16="http://schemas.microsoft.com/office/drawing/2014/main" id="{2475AFEA-0931-6A2D-AF3A-1048A17212EC}"/>
                  </a:ext>
                </a:extLst>
              </p:cNvPr>
              <p:cNvSpPr/>
              <p:nvPr/>
            </p:nvSpPr>
            <p:spPr>
              <a:xfrm>
                <a:off x="5996855" y="2672070"/>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24" name="Oval 23">
                <a:extLst>
                  <a:ext uri="{FF2B5EF4-FFF2-40B4-BE49-F238E27FC236}">
                    <a16:creationId xmlns:a16="http://schemas.microsoft.com/office/drawing/2014/main" id="{A11B07D2-2321-6A39-64B5-7E4060F5628F}"/>
                  </a:ext>
                </a:extLst>
              </p:cNvPr>
              <p:cNvSpPr/>
              <p:nvPr/>
            </p:nvSpPr>
            <p:spPr>
              <a:xfrm>
                <a:off x="4191001" y="3682289"/>
                <a:ext cx="688077" cy="688077"/>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25" name="Oval 24">
                <a:extLst>
                  <a:ext uri="{FF2B5EF4-FFF2-40B4-BE49-F238E27FC236}">
                    <a16:creationId xmlns:a16="http://schemas.microsoft.com/office/drawing/2014/main" id="{AC64FF64-4C5D-0195-15DC-5CC3F33E01F8}"/>
                  </a:ext>
                </a:extLst>
              </p:cNvPr>
              <p:cNvSpPr/>
              <p:nvPr/>
            </p:nvSpPr>
            <p:spPr>
              <a:xfrm>
                <a:off x="7858499" y="3653913"/>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26" name="Oval 25">
                <a:extLst>
                  <a:ext uri="{FF2B5EF4-FFF2-40B4-BE49-F238E27FC236}">
                    <a16:creationId xmlns:a16="http://schemas.microsoft.com/office/drawing/2014/main" id="{A8680C63-48A1-9F3A-E873-3CFB11C41C10}"/>
                  </a:ext>
                </a:extLst>
              </p:cNvPr>
              <p:cNvSpPr/>
              <p:nvPr/>
            </p:nvSpPr>
            <p:spPr>
              <a:xfrm>
                <a:off x="3200401" y="4383504"/>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27" name="Oval 26">
                <a:extLst>
                  <a:ext uri="{FF2B5EF4-FFF2-40B4-BE49-F238E27FC236}">
                    <a16:creationId xmlns:a16="http://schemas.microsoft.com/office/drawing/2014/main" id="{0B08D0B6-30D1-F36D-0D42-060172D3E554}"/>
                  </a:ext>
                </a:extLst>
              </p:cNvPr>
              <p:cNvSpPr/>
              <p:nvPr/>
            </p:nvSpPr>
            <p:spPr>
              <a:xfrm>
                <a:off x="5211206" y="4425368"/>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28" name="Oval 27">
                <a:extLst>
                  <a:ext uri="{FF2B5EF4-FFF2-40B4-BE49-F238E27FC236}">
                    <a16:creationId xmlns:a16="http://schemas.microsoft.com/office/drawing/2014/main" id="{CDB46187-C49D-84CB-3705-F2FECBC945CC}"/>
                  </a:ext>
                </a:extLst>
              </p:cNvPr>
              <p:cNvSpPr/>
              <p:nvPr/>
            </p:nvSpPr>
            <p:spPr>
              <a:xfrm>
                <a:off x="6934201" y="4341990"/>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29" name="Oval 28">
                <a:extLst>
                  <a:ext uri="{FF2B5EF4-FFF2-40B4-BE49-F238E27FC236}">
                    <a16:creationId xmlns:a16="http://schemas.microsoft.com/office/drawing/2014/main" id="{63D4311F-94D9-551A-B1F6-662661120A5D}"/>
                  </a:ext>
                </a:extLst>
              </p:cNvPr>
              <p:cNvSpPr/>
              <p:nvPr/>
            </p:nvSpPr>
            <p:spPr>
              <a:xfrm>
                <a:off x="8836924" y="4341990"/>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30" name="Oval 29">
                <a:extLst>
                  <a:ext uri="{FF2B5EF4-FFF2-40B4-BE49-F238E27FC236}">
                    <a16:creationId xmlns:a16="http://schemas.microsoft.com/office/drawing/2014/main" id="{3A8F24A6-E2DB-4341-0DB5-BA34B56A8895}"/>
                  </a:ext>
                </a:extLst>
              </p:cNvPr>
              <p:cNvSpPr/>
              <p:nvPr/>
            </p:nvSpPr>
            <p:spPr>
              <a:xfrm>
                <a:off x="2590801" y="5352744"/>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31" name="Oval 30">
                <a:extLst>
                  <a:ext uri="{FF2B5EF4-FFF2-40B4-BE49-F238E27FC236}">
                    <a16:creationId xmlns:a16="http://schemas.microsoft.com/office/drawing/2014/main" id="{EC61B993-9CD0-8625-DF18-74174DEC3ABA}"/>
                  </a:ext>
                </a:extLst>
              </p:cNvPr>
              <p:cNvSpPr/>
              <p:nvPr/>
            </p:nvSpPr>
            <p:spPr>
              <a:xfrm>
                <a:off x="3733801" y="5352744"/>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a:t>
                </a:r>
              </a:p>
            </p:txBody>
          </p:sp>
          <p:cxnSp>
            <p:nvCxnSpPr>
              <p:cNvPr id="32" name="Straight Connector 31">
                <a:extLst>
                  <a:ext uri="{FF2B5EF4-FFF2-40B4-BE49-F238E27FC236}">
                    <a16:creationId xmlns:a16="http://schemas.microsoft.com/office/drawing/2014/main" id="{9E7D69A5-5A86-7A51-A55B-5A89054C7F51}"/>
                  </a:ext>
                </a:extLst>
              </p:cNvPr>
              <p:cNvCxnSpPr>
                <a:cxnSpLocks/>
                <a:stCxn id="23" idx="3"/>
                <a:endCxn id="24" idx="7"/>
              </p:cNvCxnSpPr>
              <p:nvPr/>
            </p:nvCxnSpPr>
            <p:spPr>
              <a:xfrm flipH="1">
                <a:off x="4778311" y="3259380"/>
                <a:ext cx="1319311" cy="52367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DAD8578C-B772-0CF0-2221-FA48116C5E3F}"/>
                  </a:ext>
                </a:extLst>
              </p:cNvPr>
              <p:cNvCxnSpPr>
                <a:cxnSpLocks/>
                <a:stCxn id="23" idx="5"/>
                <a:endCxn id="25" idx="1"/>
              </p:cNvCxnSpPr>
              <p:nvPr/>
            </p:nvCxnSpPr>
            <p:spPr>
              <a:xfrm>
                <a:off x="6584165" y="3259380"/>
                <a:ext cx="1375101" cy="4953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0EBC3F6B-5E8C-1A95-9457-18748CB390A2}"/>
                  </a:ext>
                </a:extLst>
              </p:cNvPr>
              <p:cNvCxnSpPr>
                <a:stCxn id="27" idx="1"/>
                <a:endCxn id="24" idx="5"/>
              </p:cNvCxnSpPr>
              <p:nvPr/>
            </p:nvCxnSpPr>
            <p:spPr>
              <a:xfrm flipH="1" flipV="1">
                <a:off x="4778310" y="4269598"/>
                <a:ext cx="533662" cy="25653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0CE2C5E6-9899-1E12-31DA-A5C96CF085C5}"/>
                  </a:ext>
                </a:extLst>
              </p:cNvPr>
              <p:cNvCxnSpPr>
                <a:stCxn id="26" idx="7"/>
                <a:endCxn id="24" idx="3"/>
              </p:cNvCxnSpPr>
              <p:nvPr/>
            </p:nvCxnSpPr>
            <p:spPr>
              <a:xfrm flipV="1">
                <a:off x="3787711" y="4269598"/>
                <a:ext cx="504057" cy="21467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D51A26A1-A320-0572-06B2-66651FCD7E43}"/>
                  </a:ext>
                </a:extLst>
              </p:cNvPr>
              <p:cNvCxnSpPr>
                <a:stCxn id="31" idx="0"/>
                <a:endCxn id="26" idx="5"/>
              </p:cNvCxnSpPr>
              <p:nvPr/>
            </p:nvCxnSpPr>
            <p:spPr>
              <a:xfrm flipH="1" flipV="1">
                <a:off x="3787711" y="4970813"/>
                <a:ext cx="290129" cy="38193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D230AC82-8D99-6D22-802C-82C87F06B4A2}"/>
                  </a:ext>
                </a:extLst>
              </p:cNvPr>
              <p:cNvCxnSpPr>
                <a:stCxn id="30" idx="0"/>
                <a:endCxn id="26" idx="3"/>
              </p:cNvCxnSpPr>
              <p:nvPr/>
            </p:nvCxnSpPr>
            <p:spPr>
              <a:xfrm flipV="1">
                <a:off x="2934839" y="4970813"/>
                <a:ext cx="366328" cy="38193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6693A2C1-03E3-32FF-44D2-FAA12A5CFFAB}"/>
                  </a:ext>
                </a:extLst>
              </p:cNvPr>
              <p:cNvCxnSpPr>
                <a:stCxn id="28" idx="7"/>
                <a:endCxn id="25" idx="3"/>
              </p:cNvCxnSpPr>
              <p:nvPr/>
            </p:nvCxnSpPr>
            <p:spPr>
              <a:xfrm flipV="1">
                <a:off x="7521511" y="4241222"/>
                <a:ext cx="437755" cy="20153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BEF33365-DA32-2345-F43C-A08C1DFFC492}"/>
                  </a:ext>
                </a:extLst>
              </p:cNvPr>
              <p:cNvCxnSpPr>
                <a:stCxn id="29" idx="1"/>
                <a:endCxn id="25" idx="5"/>
              </p:cNvCxnSpPr>
              <p:nvPr/>
            </p:nvCxnSpPr>
            <p:spPr>
              <a:xfrm flipH="1" flipV="1">
                <a:off x="8445808" y="4241222"/>
                <a:ext cx="491882" cy="20153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40" name="Group 39">
              <a:extLst>
                <a:ext uri="{FF2B5EF4-FFF2-40B4-BE49-F238E27FC236}">
                  <a16:creationId xmlns:a16="http://schemas.microsoft.com/office/drawing/2014/main" id="{EA20ECDB-BDE0-3336-879C-79A076150515}"/>
                </a:ext>
              </a:extLst>
            </p:cNvPr>
            <p:cNvGrpSpPr/>
            <p:nvPr/>
          </p:nvGrpSpPr>
          <p:grpSpPr>
            <a:xfrm>
              <a:off x="5354476" y="3530219"/>
              <a:ext cx="6547808" cy="2962656"/>
              <a:chOff x="5354476" y="3530219"/>
              <a:chExt cx="6547808" cy="2962656"/>
            </a:xfrm>
          </p:grpSpPr>
          <p:sp>
            <p:nvSpPr>
              <p:cNvPr id="41" name="TextBox 40">
                <a:extLst>
                  <a:ext uri="{FF2B5EF4-FFF2-40B4-BE49-F238E27FC236}">
                    <a16:creationId xmlns:a16="http://schemas.microsoft.com/office/drawing/2014/main" id="{01BEA433-7BF0-F973-0EDD-8FB8710A55DF}"/>
                  </a:ext>
                </a:extLst>
              </p:cNvPr>
              <p:cNvSpPr txBox="1"/>
              <p:nvPr/>
            </p:nvSpPr>
            <p:spPr>
              <a:xfrm>
                <a:off x="8760529" y="3530219"/>
                <a:ext cx="301686" cy="369332"/>
              </a:xfrm>
              <a:prstGeom prst="rect">
                <a:avLst/>
              </a:prstGeom>
              <a:noFill/>
            </p:spPr>
            <p:txBody>
              <a:bodyPr wrap="none" rtlCol="0">
                <a:spAutoFit/>
              </a:bodyPr>
              <a:lstStyle/>
              <a:p>
                <a:r>
                  <a:rPr lang="en-US" dirty="0">
                    <a:solidFill>
                      <a:srgbClr val="FF33CC"/>
                    </a:solidFill>
                  </a:rPr>
                  <a:t>1</a:t>
                </a:r>
              </a:p>
            </p:txBody>
          </p:sp>
          <p:sp>
            <p:nvSpPr>
              <p:cNvPr id="42" name="TextBox 41">
                <a:extLst>
                  <a:ext uri="{FF2B5EF4-FFF2-40B4-BE49-F238E27FC236}">
                    <a16:creationId xmlns:a16="http://schemas.microsoft.com/office/drawing/2014/main" id="{40EB1A8B-6BAA-704C-95A9-877342ED11FD}"/>
                  </a:ext>
                </a:extLst>
              </p:cNvPr>
              <p:cNvSpPr txBox="1"/>
              <p:nvPr/>
            </p:nvSpPr>
            <p:spPr>
              <a:xfrm>
                <a:off x="6954675" y="4536014"/>
                <a:ext cx="301686" cy="369332"/>
              </a:xfrm>
              <a:prstGeom prst="rect">
                <a:avLst/>
              </a:prstGeom>
              <a:noFill/>
            </p:spPr>
            <p:txBody>
              <a:bodyPr wrap="none" rtlCol="0">
                <a:spAutoFit/>
              </a:bodyPr>
              <a:lstStyle/>
              <a:p>
                <a:r>
                  <a:rPr lang="en-US" dirty="0">
                    <a:solidFill>
                      <a:srgbClr val="FF33CC"/>
                    </a:solidFill>
                  </a:rPr>
                  <a:t>2</a:t>
                </a:r>
              </a:p>
            </p:txBody>
          </p:sp>
          <p:sp>
            <p:nvSpPr>
              <p:cNvPr id="43" name="TextBox 42">
                <a:extLst>
                  <a:ext uri="{FF2B5EF4-FFF2-40B4-BE49-F238E27FC236}">
                    <a16:creationId xmlns:a16="http://schemas.microsoft.com/office/drawing/2014/main" id="{AAC2C075-19EE-2E4F-9776-70B96778F046}"/>
                  </a:ext>
                </a:extLst>
              </p:cNvPr>
              <p:cNvSpPr txBox="1"/>
              <p:nvPr/>
            </p:nvSpPr>
            <p:spPr>
              <a:xfrm>
                <a:off x="10622173" y="4475618"/>
                <a:ext cx="301686" cy="369332"/>
              </a:xfrm>
              <a:prstGeom prst="rect">
                <a:avLst/>
              </a:prstGeom>
              <a:noFill/>
            </p:spPr>
            <p:txBody>
              <a:bodyPr wrap="none" rtlCol="0">
                <a:spAutoFit/>
              </a:bodyPr>
              <a:lstStyle/>
              <a:p>
                <a:r>
                  <a:rPr lang="en-US" dirty="0">
                    <a:solidFill>
                      <a:srgbClr val="FF33CC"/>
                    </a:solidFill>
                  </a:rPr>
                  <a:t>3</a:t>
                </a:r>
              </a:p>
            </p:txBody>
          </p:sp>
          <p:sp>
            <p:nvSpPr>
              <p:cNvPr id="44" name="TextBox 43">
                <a:extLst>
                  <a:ext uri="{FF2B5EF4-FFF2-40B4-BE49-F238E27FC236}">
                    <a16:creationId xmlns:a16="http://schemas.microsoft.com/office/drawing/2014/main" id="{399CD9B6-0AEF-13B9-E116-1137DE1D9BC6}"/>
                  </a:ext>
                </a:extLst>
              </p:cNvPr>
              <p:cNvSpPr txBox="1"/>
              <p:nvPr/>
            </p:nvSpPr>
            <p:spPr>
              <a:xfrm>
                <a:off x="5922561" y="5230503"/>
                <a:ext cx="301686" cy="369332"/>
              </a:xfrm>
              <a:prstGeom prst="rect">
                <a:avLst/>
              </a:prstGeom>
              <a:noFill/>
            </p:spPr>
            <p:txBody>
              <a:bodyPr wrap="none" rtlCol="0">
                <a:spAutoFit/>
              </a:bodyPr>
              <a:lstStyle/>
              <a:p>
                <a:r>
                  <a:rPr lang="en-US" dirty="0">
                    <a:solidFill>
                      <a:srgbClr val="FF33CC"/>
                    </a:solidFill>
                  </a:rPr>
                  <a:t>4</a:t>
                </a:r>
              </a:p>
            </p:txBody>
          </p:sp>
          <p:sp>
            <p:nvSpPr>
              <p:cNvPr id="45" name="TextBox 44">
                <a:extLst>
                  <a:ext uri="{FF2B5EF4-FFF2-40B4-BE49-F238E27FC236}">
                    <a16:creationId xmlns:a16="http://schemas.microsoft.com/office/drawing/2014/main" id="{733A190F-37F3-1B69-A083-FC70FD325130}"/>
                  </a:ext>
                </a:extLst>
              </p:cNvPr>
              <p:cNvSpPr txBox="1"/>
              <p:nvPr/>
            </p:nvSpPr>
            <p:spPr>
              <a:xfrm>
                <a:off x="9692485" y="5171600"/>
                <a:ext cx="301686" cy="369332"/>
              </a:xfrm>
              <a:prstGeom prst="rect">
                <a:avLst/>
              </a:prstGeom>
              <a:noFill/>
            </p:spPr>
            <p:txBody>
              <a:bodyPr wrap="none" rtlCol="0">
                <a:spAutoFit/>
              </a:bodyPr>
              <a:lstStyle/>
              <a:p>
                <a:r>
                  <a:rPr lang="en-US" dirty="0">
                    <a:solidFill>
                      <a:srgbClr val="FF33CC"/>
                    </a:solidFill>
                  </a:rPr>
                  <a:t>6</a:t>
                </a:r>
              </a:p>
            </p:txBody>
          </p:sp>
          <p:sp>
            <p:nvSpPr>
              <p:cNvPr id="46" name="TextBox 45">
                <a:extLst>
                  <a:ext uri="{FF2B5EF4-FFF2-40B4-BE49-F238E27FC236}">
                    <a16:creationId xmlns:a16="http://schemas.microsoft.com/office/drawing/2014/main" id="{C51A7115-0D3D-16F1-8AE1-00E7BBC584CA}"/>
                  </a:ext>
                </a:extLst>
              </p:cNvPr>
              <p:cNvSpPr txBox="1"/>
              <p:nvPr/>
            </p:nvSpPr>
            <p:spPr>
              <a:xfrm>
                <a:off x="7974880" y="5267825"/>
                <a:ext cx="301686" cy="369332"/>
              </a:xfrm>
              <a:prstGeom prst="rect">
                <a:avLst/>
              </a:prstGeom>
              <a:noFill/>
            </p:spPr>
            <p:txBody>
              <a:bodyPr wrap="none" rtlCol="0">
                <a:spAutoFit/>
              </a:bodyPr>
              <a:lstStyle/>
              <a:p>
                <a:r>
                  <a:rPr lang="en-US" dirty="0">
                    <a:solidFill>
                      <a:srgbClr val="FF33CC"/>
                    </a:solidFill>
                  </a:rPr>
                  <a:t>5</a:t>
                </a:r>
              </a:p>
            </p:txBody>
          </p:sp>
          <p:sp>
            <p:nvSpPr>
              <p:cNvPr id="47" name="TextBox 46">
                <a:extLst>
                  <a:ext uri="{FF2B5EF4-FFF2-40B4-BE49-F238E27FC236}">
                    <a16:creationId xmlns:a16="http://schemas.microsoft.com/office/drawing/2014/main" id="{24451D89-D646-660D-7FEE-A019C1769785}"/>
                  </a:ext>
                </a:extLst>
              </p:cNvPr>
              <p:cNvSpPr txBox="1"/>
              <p:nvPr/>
            </p:nvSpPr>
            <p:spPr>
              <a:xfrm>
                <a:off x="11600598" y="5188989"/>
                <a:ext cx="301686" cy="369332"/>
              </a:xfrm>
              <a:prstGeom prst="rect">
                <a:avLst/>
              </a:prstGeom>
              <a:noFill/>
            </p:spPr>
            <p:txBody>
              <a:bodyPr wrap="none" rtlCol="0">
                <a:spAutoFit/>
              </a:bodyPr>
              <a:lstStyle/>
              <a:p>
                <a:r>
                  <a:rPr lang="en-US" dirty="0">
                    <a:solidFill>
                      <a:srgbClr val="FF33CC"/>
                    </a:solidFill>
                  </a:rPr>
                  <a:t>7</a:t>
                </a:r>
              </a:p>
            </p:txBody>
          </p:sp>
          <p:sp>
            <p:nvSpPr>
              <p:cNvPr id="48" name="TextBox 47">
                <a:extLst>
                  <a:ext uri="{FF2B5EF4-FFF2-40B4-BE49-F238E27FC236}">
                    <a16:creationId xmlns:a16="http://schemas.microsoft.com/office/drawing/2014/main" id="{72FFA396-78AA-8813-DEC6-7638EC91BB55}"/>
                  </a:ext>
                </a:extLst>
              </p:cNvPr>
              <p:cNvSpPr txBox="1"/>
              <p:nvPr/>
            </p:nvSpPr>
            <p:spPr>
              <a:xfrm>
                <a:off x="5354476" y="6123543"/>
                <a:ext cx="301686" cy="369332"/>
              </a:xfrm>
              <a:prstGeom prst="rect">
                <a:avLst/>
              </a:prstGeom>
              <a:noFill/>
            </p:spPr>
            <p:txBody>
              <a:bodyPr wrap="none" rtlCol="0">
                <a:spAutoFit/>
              </a:bodyPr>
              <a:lstStyle/>
              <a:p>
                <a:r>
                  <a:rPr lang="en-US" dirty="0">
                    <a:solidFill>
                      <a:srgbClr val="FF33CC"/>
                    </a:solidFill>
                  </a:rPr>
                  <a:t>8</a:t>
                </a:r>
              </a:p>
            </p:txBody>
          </p:sp>
          <p:sp>
            <p:nvSpPr>
              <p:cNvPr id="49" name="TextBox 48">
                <a:extLst>
                  <a:ext uri="{FF2B5EF4-FFF2-40B4-BE49-F238E27FC236}">
                    <a16:creationId xmlns:a16="http://schemas.microsoft.com/office/drawing/2014/main" id="{1E8F17B1-2132-5641-026F-5AE327A5125F}"/>
                  </a:ext>
                </a:extLst>
              </p:cNvPr>
              <p:cNvSpPr txBox="1"/>
              <p:nvPr/>
            </p:nvSpPr>
            <p:spPr>
              <a:xfrm>
                <a:off x="6490947" y="6123543"/>
                <a:ext cx="301686" cy="369332"/>
              </a:xfrm>
              <a:prstGeom prst="rect">
                <a:avLst/>
              </a:prstGeom>
              <a:noFill/>
            </p:spPr>
            <p:txBody>
              <a:bodyPr wrap="none" rtlCol="0">
                <a:spAutoFit/>
              </a:bodyPr>
              <a:lstStyle/>
              <a:p>
                <a:r>
                  <a:rPr lang="en-US" dirty="0">
                    <a:solidFill>
                      <a:srgbClr val="FF33CC"/>
                    </a:solidFill>
                  </a:rPr>
                  <a:t>9</a:t>
                </a:r>
              </a:p>
            </p:txBody>
          </p:sp>
        </p:grpSp>
      </p:gr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0A97669B-CBB0-4757-983B-3F44485761DF}"/>
                  </a:ext>
                </a:extLst>
              </p:cNvPr>
              <p:cNvSpPr>
                <a:spLocks noGrp="1"/>
              </p:cNvSpPr>
              <p:nvPr>
                <p:ph idx="1"/>
              </p:nvPr>
            </p:nvSpPr>
            <p:spPr/>
            <p:txBody>
              <a:bodyPr/>
              <a:lstStyle/>
              <a:p>
                <a:r>
                  <a:rPr lang="en-US" dirty="0"/>
                  <a:t>Keep items in a complete binary tree</a:t>
                </a:r>
              </a:p>
              <a:p>
                <a:r>
                  <a:rPr lang="en-US" dirty="0"/>
                  <a:t>Maintain the “(Min) Heap Property” of the tree</a:t>
                </a:r>
              </a:p>
              <a:p>
                <a:pPr lvl="1"/>
                <a:r>
                  <a:rPr lang="en-US" dirty="0"/>
                  <a:t>Every node’s priority is </a:t>
                </a:r>
                <a14:m>
                  <m:oMath xmlns:m="http://schemas.openxmlformats.org/officeDocument/2006/math">
                    <m:r>
                      <a:rPr lang="en-US" b="0" i="1" smtClean="0">
                        <a:latin typeface="Cambria Math" panose="02040503050406030204" pitchFamily="18" charset="0"/>
                      </a:rPr>
                      <m:t>≤</m:t>
                    </m:r>
                  </m:oMath>
                </a14:m>
                <a:r>
                  <a:rPr lang="en-US" dirty="0"/>
                  <a:t> its children’s priority</a:t>
                </a:r>
              </a:p>
              <a:p>
                <a:pPr lvl="1"/>
                <a:r>
                  <a:rPr lang="en-US" sz="2000" dirty="0"/>
                  <a:t>Max Heap Property: every node’s priority is </a:t>
                </a:r>
                <a14:m>
                  <m:oMath xmlns:m="http://schemas.openxmlformats.org/officeDocument/2006/math">
                    <m:r>
                      <a:rPr lang="en-US" sz="2000" b="0" i="1" smtClean="0">
                        <a:latin typeface="Cambria Math" panose="02040503050406030204" pitchFamily="18" charset="0"/>
                      </a:rPr>
                      <m:t>≥</m:t>
                    </m:r>
                  </m:oMath>
                </a14:m>
                <a:r>
                  <a:rPr lang="en-US" sz="2000" dirty="0"/>
                  <a:t> its children</a:t>
                </a:r>
                <a:endParaRPr lang="en-US" dirty="0"/>
              </a:p>
              <a:p>
                <a:r>
                  <a:rPr lang="en-US" dirty="0"/>
                  <a:t>Where is the min?</a:t>
                </a:r>
              </a:p>
              <a:p>
                <a:r>
                  <a:rPr lang="en-US" dirty="0"/>
                  <a:t>How do I insert?</a:t>
                </a:r>
              </a:p>
              <a:p>
                <a:r>
                  <a:rPr lang="en-US" dirty="0"/>
                  <a:t>How do I extract?</a:t>
                </a:r>
              </a:p>
              <a:p>
                <a:r>
                  <a:rPr lang="en-US" dirty="0"/>
                  <a:t>How to do it in Java?</a:t>
                </a:r>
              </a:p>
            </p:txBody>
          </p:sp>
        </mc:Choice>
        <mc:Fallback xmlns="">
          <p:sp>
            <p:nvSpPr>
              <p:cNvPr id="3" name="Content Placeholder 2">
                <a:extLst>
                  <a:ext uri="{FF2B5EF4-FFF2-40B4-BE49-F238E27FC236}">
                    <a16:creationId xmlns:a16="http://schemas.microsoft.com/office/drawing/2014/main" id="{0A97669B-CBB0-4757-983B-3F44485761DF}"/>
                  </a:ext>
                </a:extLst>
              </p:cNvPr>
              <p:cNvSpPr>
                <a:spLocks noGrp="1" noRot="1" noChangeAspect="1" noMove="1" noResize="1" noEditPoints="1" noAdjustHandles="1" noChangeArrowheads="1" noChangeShapeType="1" noTextEdit="1"/>
              </p:cNvSpPr>
              <p:nvPr>
                <p:ph idx="1"/>
              </p:nvPr>
            </p:nvSpPr>
            <p:spPr>
              <a:blipFill>
                <a:blip r:embed="rId2"/>
                <a:stretch>
                  <a:fillRect l="-1043" t="-2241"/>
                </a:stretch>
              </a:blipFill>
            </p:spPr>
            <p:txBody>
              <a:bodyPr/>
              <a:lstStyle/>
              <a:p>
                <a:r>
                  <a:rPr lang="en-US">
                    <a:noFill/>
                  </a:rPr>
                  <a:t> </a:t>
                </a:r>
              </a:p>
            </p:txBody>
          </p:sp>
        </mc:Fallback>
      </mc:AlternateContent>
      <mc:AlternateContent xmlns:mc="http://schemas.openxmlformats.org/markup-compatibility/2006">
        <mc:Choice xmlns:p14="http://schemas.microsoft.com/office/powerpoint/2010/main" Requires="p14">
          <p:contentPart p14:bwMode="auto" r:id="rId3">
            <p14:nvContentPartPr>
              <p14:cNvPr id="4" name="Ink 3">
                <a:extLst>
                  <a:ext uri="{FF2B5EF4-FFF2-40B4-BE49-F238E27FC236}">
                    <a16:creationId xmlns:a16="http://schemas.microsoft.com/office/drawing/2014/main" id="{F4709911-6A51-E96B-6ED6-EB9F0C72AC02}"/>
                  </a:ext>
                </a:extLst>
              </p14:cNvPr>
              <p14:cNvContentPartPr/>
              <p14:nvPr/>
            </p14:nvContentPartPr>
            <p14:xfrm>
              <a:off x="3032640" y="2035800"/>
              <a:ext cx="6498720" cy="3628440"/>
            </p14:xfrm>
          </p:contentPart>
        </mc:Choice>
        <mc:Fallback>
          <p:pic>
            <p:nvPicPr>
              <p:cNvPr id="4" name="Ink 3">
                <a:extLst>
                  <a:ext uri="{FF2B5EF4-FFF2-40B4-BE49-F238E27FC236}">
                    <a16:creationId xmlns:a16="http://schemas.microsoft.com/office/drawing/2014/main" id="{F4709911-6A51-E96B-6ED6-EB9F0C72AC02}"/>
                  </a:ext>
                </a:extLst>
              </p:cNvPr>
              <p:cNvPicPr/>
              <p:nvPr/>
            </p:nvPicPr>
            <p:blipFill>
              <a:blip r:embed="rId4"/>
              <a:stretch>
                <a:fillRect/>
              </a:stretch>
            </p:blipFill>
            <p:spPr>
              <a:xfrm>
                <a:off x="3023280" y="2026440"/>
                <a:ext cx="6517440" cy="3647160"/>
              </a:xfrm>
              <a:prstGeom prst="rect">
                <a:avLst/>
              </a:prstGeom>
            </p:spPr>
          </p:pic>
        </mc:Fallback>
      </mc:AlternateContent>
    </p:spTree>
    <p:extLst>
      <p:ext uri="{BB962C8B-B14F-4D97-AF65-F5344CB8AC3E}">
        <p14:creationId xmlns:p14="http://schemas.microsoft.com/office/powerpoint/2010/main" val="271696965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6B7BEE-83FC-6A92-8C72-922983C3E767}"/>
              </a:ext>
            </a:extLst>
          </p:cNvPr>
          <p:cNvSpPr>
            <a:spLocks noGrp="1"/>
          </p:cNvSpPr>
          <p:nvPr>
            <p:ph type="title"/>
          </p:nvPr>
        </p:nvSpPr>
        <p:spPr>
          <a:xfrm>
            <a:off x="637784" y="9665"/>
            <a:ext cx="10515600" cy="1325563"/>
          </a:xfrm>
        </p:spPr>
        <p:txBody>
          <a:bodyPr/>
          <a:lstStyle/>
          <a:p>
            <a:r>
              <a:rPr lang="en-US" dirty="0"/>
              <a:t>Heap Insert Example</a:t>
            </a:r>
          </a:p>
        </p:txBody>
      </p:sp>
      <p:sp>
        <p:nvSpPr>
          <p:cNvPr id="24" name="Oval 23" descr="We will insert the value 1.5 into the heap, so we begin by creating a new node containing 1.5">
            <a:extLst>
              <a:ext uri="{FF2B5EF4-FFF2-40B4-BE49-F238E27FC236}">
                <a16:creationId xmlns:a16="http://schemas.microsoft.com/office/drawing/2014/main" id="{BDE845EB-2C74-AFA6-612A-2B277A969486}"/>
              </a:ext>
            </a:extLst>
          </p:cNvPr>
          <p:cNvSpPr/>
          <p:nvPr/>
        </p:nvSpPr>
        <p:spPr>
          <a:xfrm>
            <a:off x="3037533" y="1739835"/>
            <a:ext cx="688077" cy="688077"/>
          </a:xfrm>
          <a:prstGeom prst="ellipse">
            <a:avLst/>
          </a:prstGeom>
          <a:solidFill>
            <a:schemeClr val="accent3">
              <a:lumMod val="40000"/>
              <a:lumOff val="60000"/>
            </a:scheme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9D0000"/>
                </a:solidFill>
              </a:rPr>
              <a:t>1.5</a:t>
            </a:r>
          </a:p>
        </p:txBody>
      </p:sp>
      <p:grpSp>
        <p:nvGrpSpPr>
          <p:cNvPr id="4" name="Group 3" descr="We will be adding a new nod to this heap. It has 9 items in it, making for a binary tree of 4 levels. The last level has 2 nodes in it. The nodes are as follows:&#10;&#10;- The root node is 1&#10;- the left child of 1 is 3, the right child is 2&#10;- the left child of 3 is 4, the right child is 7&#10;- the left child of 2 is 5, the right child is 6&#10;- the left child of 4 is 5, the right child is 9&#10;- nodes 7, 5, 6, 5, and 9 are all leaves">
            <a:extLst>
              <a:ext uri="{FF2B5EF4-FFF2-40B4-BE49-F238E27FC236}">
                <a16:creationId xmlns:a16="http://schemas.microsoft.com/office/drawing/2014/main" id="{F5FEEAE4-5947-43BB-33F3-0E2F7A27D58C}"/>
              </a:ext>
              <a:ext uri="{C183D7F6-B498-43B3-948B-1728B52AA6E4}">
                <adec:decorative xmlns:adec="http://schemas.microsoft.com/office/drawing/2017/decorative" val="0"/>
              </a:ext>
            </a:extLst>
          </p:cNvPr>
          <p:cNvGrpSpPr/>
          <p:nvPr/>
        </p:nvGrpSpPr>
        <p:grpSpPr>
          <a:xfrm>
            <a:off x="5104831" y="830384"/>
            <a:ext cx="6934200" cy="3368751"/>
            <a:chOff x="2590801" y="2672070"/>
            <a:chExt cx="6934200" cy="3368751"/>
          </a:xfrm>
        </p:grpSpPr>
        <p:sp>
          <p:nvSpPr>
            <p:cNvPr id="5" name="Oval 4">
              <a:extLst>
                <a:ext uri="{FF2B5EF4-FFF2-40B4-BE49-F238E27FC236}">
                  <a16:creationId xmlns:a16="http://schemas.microsoft.com/office/drawing/2014/main" id="{F33A0E13-4996-116D-FFBB-C9C47C84D55C}"/>
                </a:ext>
              </a:extLst>
            </p:cNvPr>
            <p:cNvSpPr/>
            <p:nvPr/>
          </p:nvSpPr>
          <p:spPr>
            <a:xfrm>
              <a:off x="5996855" y="2672070"/>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6" name="Oval 5">
              <a:extLst>
                <a:ext uri="{FF2B5EF4-FFF2-40B4-BE49-F238E27FC236}">
                  <a16:creationId xmlns:a16="http://schemas.microsoft.com/office/drawing/2014/main" id="{3C2A72B8-1FD3-516D-A021-E2075712D6CB}"/>
                </a:ext>
              </a:extLst>
            </p:cNvPr>
            <p:cNvSpPr/>
            <p:nvPr/>
          </p:nvSpPr>
          <p:spPr>
            <a:xfrm>
              <a:off x="4191001" y="3682289"/>
              <a:ext cx="688077" cy="688077"/>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7" name="Oval 6">
              <a:extLst>
                <a:ext uri="{FF2B5EF4-FFF2-40B4-BE49-F238E27FC236}">
                  <a16:creationId xmlns:a16="http://schemas.microsoft.com/office/drawing/2014/main" id="{392D9E01-B220-E093-6B95-A68C0266A5BC}"/>
                </a:ext>
              </a:extLst>
            </p:cNvPr>
            <p:cNvSpPr/>
            <p:nvPr/>
          </p:nvSpPr>
          <p:spPr>
            <a:xfrm>
              <a:off x="7858499" y="3653913"/>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8" name="Oval 7">
              <a:extLst>
                <a:ext uri="{FF2B5EF4-FFF2-40B4-BE49-F238E27FC236}">
                  <a16:creationId xmlns:a16="http://schemas.microsoft.com/office/drawing/2014/main" id="{31620859-F5B3-EB2D-7626-028B1D551DC8}"/>
                </a:ext>
              </a:extLst>
            </p:cNvPr>
            <p:cNvSpPr/>
            <p:nvPr/>
          </p:nvSpPr>
          <p:spPr>
            <a:xfrm>
              <a:off x="3200401" y="4383504"/>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9" name="Oval 8">
              <a:extLst>
                <a:ext uri="{FF2B5EF4-FFF2-40B4-BE49-F238E27FC236}">
                  <a16:creationId xmlns:a16="http://schemas.microsoft.com/office/drawing/2014/main" id="{EDDB63C5-2978-A1A0-5B7C-21B3C85ED8F3}"/>
                </a:ext>
              </a:extLst>
            </p:cNvPr>
            <p:cNvSpPr/>
            <p:nvPr/>
          </p:nvSpPr>
          <p:spPr>
            <a:xfrm>
              <a:off x="5211206" y="4425368"/>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10" name="Oval 9">
              <a:extLst>
                <a:ext uri="{FF2B5EF4-FFF2-40B4-BE49-F238E27FC236}">
                  <a16:creationId xmlns:a16="http://schemas.microsoft.com/office/drawing/2014/main" id="{9246EA45-DB59-3189-5133-E09D0AC67BEF}"/>
                </a:ext>
              </a:extLst>
            </p:cNvPr>
            <p:cNvSpPr/>
            <p:nvPr/>
          </p:nvSpPr>
          <p:spPr>
            <a:xfrm>
              <a:off x="6934201" y="4341990"/>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11" name="Oval 10">
              <a:extLst>
                <a:ext uri="{FF2B5EF4-FFF2-40B4-BE49-F238E27FC236}">
                  <a16:creationId xmlns:a16="http://schemas.microsoft.com/office/drawing/2014/main" id="{9ACF96E3-806B-71A4-4206-D4D7C31A2F2D}"/>
                </a:ext>
              </a:extLst>
            </p:cNvPr>
            <p:cNvSpPr/>
            <p:nvPr/>
          </p:nvSpPr>
          <p:spPr>
            <a:xfrm>
              <a:off x="8836924" y="4341990"/>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12" name="Oval 11">
              <a:extLst>
                <a:ext uri="{FF2B5EF4-FFF2-40B4-BE49-F238E27FC236}">
                  <a16:creationId xmlns:a16="http://schemas.microsoft.com/office/drawing/2014/main" id="{014F5CF9-E0BE-AD30-CAF0-6FB68446C0CD}"/>
                </a:ext>
              </a:extLst>
            </p:cNvPr>
            <p:cNvSpPr/>
            <p:nvPr/>
          </p:nvSpPr>
          <p:spPr>
            <a:xfrm>
              <a:off x="2590801" y="5352744"/>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13" name="Oval 12">
              <a:extLst>
                <a:ext uri="{FF2B5EF4-FFF2-40B4-BE49-F238E27FC236}">
                  <a16:creationId xmlns:a16="http://schemas.microsoft.com/office/drawing/2014/main" id="{497C9AA5-DB9B-1AFC-012D-B3D8743427A8}"/>
                </a:ext>
              </a:extLst>
            </p:cNvPr>
            <p:cNvSpPr/>
            <p:nvPr/>
          </p:nvSpPr>
          <p:spPr>
            <a:xfrm>
              <a:off x="3733801" y="5352744"/>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a:t>
              </a:r>
            </a:p>
          </p:txBody>
        </p:sp>
        <p:cxnSp>
          <p:nvCxnSpPr>
            <p:cNvPr id="14" name="Straight Connector 13">
              <a:extLst>
                <a:ext uri="{FF2B5EF4-FFF2-40B4-BE49-F238E27FC236}">
                  <a16:creationId xmlns:a16="http://schemas.microsoft.com/office/drawing/2014/main" id="{3F9925F6-573D-F6E3-2D20-9939C39C8CC4}"/>
                </a:ext>
              </a:extLst>
            </p:cNvPr>
            <p:cNvCxnSpPr>
              <a:cxnSpLocks/>
              <a:stCxn id="5" idx="3"/>
              <a:endCxn id="6" idx="7"/>
            </p:cNvCxnSpPr>
            <p:nvPr/>
          </p:nvCxnSpPr>
          <p:spPr>
            <a:xfrm flipH="1">
              <a:off x="4778311" y="3259380"/>
              <a:ext cx="1319311" cy="52367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9690E6CF-81A5-AEED-23C1-2A785442C5F3}"/>
                </a:ext>
              </a:extLst>
            </p:cNvPr>
            <p:cNvCxnSpPr>
              <a:cxnSpLocks/>
              <a:stCxn id="5" idx="5"/>
              <a:endCxn id="7" idx="1"/>
            </p:cNvCxnSpPr>
            <p:nvPr/>
          </p:nvCxnSpPr>
          <p:spPr>
            <a:xfrm>
              <a:off x="6584165" y="3259380"/>
              <a:ext cx="1375101" cy="4953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0918949D-E91F-514C-8942-A55A0B1C1B96}"/>
                </a:ext>
              </a:extLst>
            </p:cNvPr>
            <p:cNvCxnSpPr>
              <a:stCxn id="9" idx="1"/>
              <a:endCxn id="6" idx="5"/>
            </p:cNvCxnSpPr>
            <p:nvPr/>
          </p:nvCxnSpPr>
          <p:spPr>
            <a:xfrm flipH="1" flipV="1">
              <a:off x="4778310" y="4269598"/>
              <a:ext cx="533662" cy="25653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3AEC8F07-B67E-32B1-8194-36206CBAE1C1}"/>
                </a:ext>
              </a:extLst>
            </p:cNvPr>
            <p:cNvCxnSpPr>
              <a:stCxn id="8" idx="7"/>
              <a:endCxn id="6" idx="3"/>
            </p:cNvCxnSpPr>
            <p:nvPr/>
          </p:nvCxnSpPr>
          <p:spPr>
            <a:xfrm flipV="1">
              <a:off x="3787711" y="4269598"/>
              <a:ext cx="504057" cy="21467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ECB303E5-4C0F-E3C1-6C40-D63CB81862DA}"/>
                </a:ext>
              </a:extLst>
            </p:cNvPr>
            <p:cNvCxnSpPr>
              <a:stCxn id="13" idx="0"/>
              <a:endCxn id="8" idx="5"/>
            </p:cNvCxnSpPr>
            <p:nvPr/>
          </p:nvCxnSpPr>
          <p:spPr>
            <a:xfrm flipH="1" flipV="1">
              <a:off x="3787711" y="4970813"/>
              <a:ext cx="290129" cy="38193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2F69F648-6942-5A93-5A23-499C2EB8C9E2}"/>
                </a:ext>
              </a:extLst>
            </p:cNvPr>
            <p:cNvCxnSpPr>
              <a:stCxn id="12" idx="0"/>
              <a:endCxn id="8" idx="3"/>
            </p:cNvCxnSpPr>
            <p:nvPr/>
          </p:nvCxnSpPr>
          <p:spPr>
            <a:xfrm flipV="1">
              <a:off x="2934839" y="4970813"/>
              <a:ext cx="366328" cy="38193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543FFFFF-CF30-2E14-4603-BCEC3E407EB6}"/>
                </a:ext>
              </a:extLst>
            </p:cNvPr>
            <p:cNvCxnSpPr>
              <a:stCxn id="10" idx="7"/>
              <a:endCxn id="7" idx="3"/>
            </p:cNvCxnSpPr>
            <p:nvPr/>
          </p:nvCxnSpPr>
          <p:spPr>
            <a:xfrm flipV="1">
              <a:off x="7521511" y="4241222"/>
              <a:ext cx="437755" cy="20153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5DD9F7F4-FC58-103B-8500-D893D1F68143}"/>
                </a:ext>
              </a:extLst>
            </p:cNvPr>
            <p:cNvCxnSpPr>
              <a:stCxn id="11" idx="1"/>
              <a:endCxn id="7" idx="5"/>
            </p:cNvCxnSpPr>
            <p:nvPr/>
          </p:nvCxnSpPr>
          <p:spPr>
            <a:xfrm flipH="1" flipV="1">
              <a:off x="8445808" y="4241222"/>
              <a:ext cx="491882" cy="20153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3" name="Content Placeholder 2">
            <a:extLst>
              <a:ext uri="{FF2B5EF4-FFF2-40B4-BE49-F238E27FC236}">
                <a16:creationId xmlns:a16="http://schemas.microsoft.com/office/drawing/2014/main" id="{28CF168B-C22F-1B48-82E7-F81CD4DCA565}"/>
              </a:ext>
            </a:extLst>
          </p:cNvPr>
          <p:cNvSpPr>
            <a:spLocks noGrp="1"/>
          </p:cNvSpPr>
          <p:nvPr>
            <p:ph idx="1"/>
          </p:nvPr>
        </p:nvSpPr>
        <p:spPr>
          <a:xfrm>
            <a:off x="156079" y="3847124"/>
            <a:ext cx="10515600" cy="4351338"/>
          </a:xfrm>
        </p:spPr>
        <p:txBody>
          <a:bodyPr/>
          <a:lstStyle/>
          <a:p>
            <a:pPr marL="0" indent="0">
              <a:buNone/>
            </a:pPr>
            <a:r>
              <a:rPr lang="en-US" dirty="0"/>
              <a:t>insert(item, priority){</a:t>
            </a:r>
          </a:p>
          <a:p>
            <a:pPr marL="0" indent="0">
              <a:buNone/>
            </a:pPr>
            <a:r>
              <a:rPr lang="en-US" dirty="0"/>
              <a:t>    put item in the “next open” spot (keep tree complete)</a:t>
            </a:r>
          </a:p>
          <a:p>
            <a:pPr marL="0" indent="0">
              <a:buNone/>
            </a:pPr>
            <a:r>
              <a:rPr lang="en-US" dirty="0"/>
              <a:t>    while (priority &lt; parent’s priority){</a:t>
            </a:r>
          </a:p>
          <a:p>
            <a:pPr marL="0" indent="0">
              <a:buNone/>
            </a:pPr>
            <a:r>
              <a:rPr lang="en-US" dirty="0"/>
              <a:t>        swap item with parent</a:t>
            </a:r>
          </a:p>
          <a:p>
            <a:pPr marL="0" indent="0">
              <a:buNone/>
            </a:pPr>
            <a:r>
              <a:rPr lang="en-US" dirty="0"/>
              <a:t>    }</a:t>
            </a:r>
          </a:p>
          <a:p>
            <a:pPr marL="0" indent="0">
              <a:buNone/>
            </a:pPr>
            <a:r>
              <a:rPr lang="en-US" dirty="0"/>
              <a:t>}</a:t>
            </a:r>
          </a:p>
        </p:txBody>
      </p:sp>
      <mc:AlternateContent xmlns:mc="http://schemas.openxmlformats.org/markup-compatibility/2006">
        <mc:Choice xmlns:p14="http://schemas.microsoft.com/office/powerpoint/2010/main" Requires="p14">
          <p:contentPart p14:bwMode="auto" r:id="rId2">
            <p14:nvContentPartPr>
              <p14:cNvPr id="22" name="Ink 21">
                <a:extLst>
                  <a:ext uri="{FF2B5EF4-FFF2-40B4-BE49-F238E27FC236}">
                    <a16:creationId xmlns:a16="http://schemas.microsoft.com/office/drawing/2014/main" id="{CE56F0F9-9581-59A1-D014-72D702E88168}"/>
                  </a:ext>
                </a:extLst>
              </p14:cNvPr>
              <p14:cNvContentPartPr/>
              <p14:nvPr/>
            </p14:nvContentPartPr>
            <p14:xfrm>
              <a:off x="7134480" y="3196440"/>
              <a:ext cx="728640" cy="820800"/>
            </p14:xfrm>
          </p:contentPart>
        </mc:Choice>
        <mc:Fallback>
          <p:pic>
            <p:nvPicPr>
              <p:cNvPr id="22" name="Ink 21">
                <a:extLst>
                  <a:ext uri="{FF2B5EF4-FFF2-40B4-BE49-F238E27FC236}">
                    <a16:creationId xmlns:a16="http://schemas.microsoft.com/office/drawing/2014/main" id="{CE56F0F9-9581-59A1-D014-72D702E88168}"/>
                  </a:ext>
                </a:extLst>
              </p:cNvPr>
              <p:cNvPicPr/>
              <p:nvPr/>
            </p:nvPicPr>
            <p:blipFill>
              <a:blip r:embed="rId3"/>
              <a:stretch>
                <a:fillRect/>
              </a:stretch>
            </p:blipFill>
            <p:spPr>
              <a:xfrm>
                <a:off x="7125120" y="3187080"/>
                <a:ext cx="747360" cy="839520"/>
              </a:xfrm>
              <a:prstGeom prst="rect">
                <a:avLst/>
              </a:prstGeom>
            </p:spPr>
          </p:pic>
        </mc:Fallback>
      </mc:AlternateContent>
    </p:spTree>
    <p:extLst>
      <p:ext uri="{BB962C8B-B14F-4D97-AF65-F5344CB8AC3E}">
        <p14:creationId xmlns:p14="http://schemas.microsoft.com/office/powerpoint/2010/main" val="59522304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6B7BEE-83FC-6A92-8C72-922983C3E767}"/>
              </a:ext>
            </a:extLst>
          </p:cNvPr>
          <p:cNvSpPr>
            <a:spLocks noGrp="1"/>
          </p:cNvSpPr>
          <p:nvPr>
            <p:ph type="title"/>
          </p:nvPr>
        </p:nvSpPr>
        <p:spPr/>
        <p:txBody>
          <a:bodyPr/>
          <a:lstStyle/>
          <a:p>
            <a:r>
              <a:rPr lang="en-US" dirty="0"/>
              <a:t>Heap Insert (New Node)</a:t>
            </a:r>
          </a:p>
        </p:txBody>
      </p:sp>
      <p:grpSp>
        <p:nvGrpSpPr>
          <p:cNvPr id="4" name="Group 3" descr="This is the same tree depicted on the previous slide">
            <a:extLst>
              <a:ext uri="{FF2B5EF4-FFF2-40B4-BE49-F238E27FC236}">
                <a16:creationId xmlns:a16="http://schemas.microsoft.com/office/drawing/2014/main" id="{F5FEEAE4-5947-43BB-33F3-0E2F7A27D58C}"/>
              </a:ext>
            </a:extLst>
          </p:cNvPr>
          <p:cNvGrpSpPr/>
          <p:nvPr/>
        </p:nvGrpSpPr>
        <p:grpSpPr>
          <a:xfrm>
            <a:off x="5161281" y="73781"/>
            <a:ext cx="6934200" cy="3368751"/>
            <a:chOff x="2590801" y="2672070"/>
            <a:chExt cx="6934200" cy="3368751"/>
          </a:xfrm>
        </p:grpSpPr>
        <p:sp>
          <p:nvSpPr>
            <p:cNvPr id="5" name="Oval 4">
              <a:extLst>
                <a:ext uri="{FF2B5EF4-FFF2-40B4-BE49-F238E27FC236}">
                  <a16:creationId xmlns:a16="http://schemas.microsoft.com/office/drawing/2014/main" id="{F33A0E13-4996-116D-FFBB-C9C47C84D55C}"/>
                </a:ext>
              </a:extLst>
            </p:cNvPr>
            <p:cNvSpPr/>
            <p:nvPr/>
          </p:nvSpPr>
          <p:spPr>
            <a:xfrm>
              <a:off x="5996855" y="2672070"/>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6" name="Oval 5">
              <a:extLst>
                <a:ext uri="{FF2B5EF4-FFF2-40B4-BE49-F238E27FC236}">
                  <a16:creationId xmlns:a16="http://schemas.microsoft.com/office/drawing/2014/main" id="{3C2A72B8-1FD3-516D-A021-E2075712D6CB}"/>
                </a:ext>
              </a:extLst>
            </p:cNvPr>
            <p:cNvSpPr/>
            <p:nvPr/>
          </p:nvSpPr>
          <p:spPr>
            <a:xfrm>
              <a:off x="4191001" y="3682289"/>
              <a:ext cx="688077" cy="688077"/>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7" name="Oval 6">
              <a:extLst>
                <a:ext uri="{FF2B5EF4-FFF2-40B4-BE49-F238E27FC236}">
                  <a16:creationId xmlns:a16="http://schemas.microsoft.com/office/drawing/2014/main" id="{392D9E01-B220-E093-6B95-A68C0266A5BC}"/>
                </a:ext>
              </a:extLst>
            </p:cNvPr>
            <p:cNvSpPr/>
            <p:nvPr/>
          </p:nvSpPr>
          <p:spPr>
            <a:xfrm>
              <a:off x="7858499" y="3653913"/>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8" name="Oval 7">
              <a:extLst>
                <a:ext uri="{FF2B5EF4-FFF2-40B4-BE49-F238E27FC236}">
                  <a16:creationId xmlns:a16="http://schemas.microsoft.com/office/drawing/2014/main" id="{31620859-F5B3-EB2D-7626-028B1D551DC8}"/>
                </a:ext>
              </a:extLst>
            </p:cNvPr>
            <p:cNvSpPr/>
            <p:nvPr/>
          </p:nvSpPr>
          <p:spPr>
            <a:xfrm>
              <a:off x="3200401" y="4383504"/>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9" name="Oval 8">
              <a:extLst>
                <a:ext uri="{FF2B5EF4-FFF2-40B4-BE49-F238E27FC236}">
                  <a16:creationId xmlns:a16="http://schemas.microsoft.com/office/drawing/2014/main" id="{EDDB63C5-2978-A1A0-5B7C-21B3C85ED8F3}"/>
                </a:ext>
              </a:extLst>
            </p:cNvPr>
            <p:cNvSpPr/>
            <p:nvPr/>
          </p:nvSpPr>
          <p:spPr>
            <a:xfrm>
              <a:off x="5211206" y="4425368"/>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10" name="Oval 9">
              <a:extLst>
                <a:ext uri="{FF2B5EF4-FFF2-40B4-BE49-F238E27FC236}">
                  <a16:creationId xmlns:a16="http://schemas.microsoft.com/office/drawing/2014/main" id="{9246EA45-DB59-3189-5133-E09D0AC67BEF}"/>
                </a:ext>
              </a:extLst>
            </p:cNvPr>
            <p:cNvSpPr/>
            <p:nvPr/>
          </p:nvSpPr>
          <p:spPr>
            <a:xfrm>
              <a:off x="6934201" y="4341990"/>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11" name="Oval 10">
              <a:extLst>
                <a:ext uri="{FF2B5EF4-FFF2-40B4-BE49-F238E27FC236}">
                  <a16:creationId xmlns:a16="http://schemas.microsoft.com/office/drawing/2014/main" id="{9ACF96E3-806B-71A4-4206-D4D7C31A2F2D}"/>
                </a:ext>
              </a:extLst>
            </p:cNvPr>
            <p:cNvSpPr/>
            <p:nvPr/>
          </p:nvSpPr>
          <p:spPr>
            <a:xfrm>
              <a:off x="8836924" y="4341990"/>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12" name="Oval 11">
              <a:extLst>
                <a:ext uri="{FF2B5EF4-FFF2-40B4-BE49-F238E27FC236}">
                  <a16:creationId xmlns:a16="http://schemas.microsoft.com/office/drawing/2014/main" id="{014F5CF9-E0BE-AD30-CAF0-6FB68446C0CD}"/>
                </a:ext>
              </a:extLst>
            </p:cNvPr>
            <p:cNvSpPr/>
            <p:nvPr/>
          </p:nvSpPr>
          <p:spPr>
            <a:xfrm>
              <a:off x="2590801" y="5352744"/>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13" name="Oval 12">
              <a:extLst>
                <a:ext uri="{FF2B5EF4-FFF2-40B4-BE49-F238E27FC236}">
                  <a16:creationId xmlns:a16="http://schemas.microsoft.com/office/drawing/2014/main" id="{497C9AA5-DB9B-1AFC-012D-B3D8743427A8}"/>
                </a:ext>
              </a:extLst>
            </p:cNvPr>
            <p:cNvSpPr/>
            <p:nvPr/>
          </p:nvSpPr>
          <p:spPr>
            <a:xfrm>
              <a:off x="3733801" y="5352744"/>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a:t>
              </a:r>
            </a:p>
          </p:txBody>
        </p:sp>
        <p:cxnSp>
          <p:nvCxnSpPr>
            <p:cNvPr id="14" name="Straight Connector 13">
              <a:extLst>
                <a:ext uri="{FF2B5EF4-FFF2-40B4-BE49-F238E27FC236}">
                  <a16:creationId xmlns:a16="http://schemas.microsoft.com/office/drawing/2014/main" id="{3F9925F6-573D-F6E3-2D20-9939C39C8CC4}"/>
                </a:ext>
              </a:extLst>
            </p:cNvPr>
            <p:cNvCxnSpPr>
              <a:cxnSpLocks/>
              <a:stCxn id="5" idx="3"/>
              <a:endCxn id="6" idx="7"/>
            </p:cNvCxnSpPr>
            <p:nvPr/>
          </p:nvCxnSpPr>
          <p:spPr>
            <a:xfrm flipH="1">
              <a:off x="4778311" y="3259380"/>
              <a:ext cx="1319311" cy="52367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9690E6CF-81A5-AEED-23C1-2A785442C5F3}"/>
                </a:ext>
              </a:extLst>
            </p:cNvPr>
            <p:cNvCxnSpPr>
              <a:cxnSpLocks/>
              <a:stCxn id="5" idx="5"/>
              <a:endCxn id="7" idx="1"/>
            </p:cNvCxnSpPr>
            <p:nvPr/>
          </p:nvCxnSpPr>
          <p:spPr>
            <a:xfrm>
              <a:off x="6584165" y="3259380"/>
              <a:ext cx="1375101" cy="4953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0918949D-E91F-514C-8942-A55A0B1C1B96}"/>
                </a:ext>
              </a:extLst>
            </p:cNvPr>
            <p:cNvCxnSpPr>
              <a:stCxn id="9" idx="1"/>
              <a:endCxn id="6" idx="5"/>
            </p:cNvCxnSpPr>
            <p:nvPr/>
          </p:nvCxnSpPr>
          <p:spPr>
            <a:xfrm flipH="1" flipV="1">
              <a:off x="4778310" y="4269598"/>
              <a:ext cx="533662" cy="25653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3AEC8F07-B67E-32B1-8194-36206CBAE1C1}"/>
                </a:ext>
              </a:extLst>
            </p:cNvPr>
            <p:cNvCxnSpPr>
              <a:stCxn id="8" idx="7"/>
              <a:endCxn id="6" idx="3"/>
            </p:cNvCxnSpPr>
            <p:nvPr/>
          </p:nvCxnSpPr>
          <p:spPr>
            <a:xfrm flipV="1">
              <a:off x="3787711" y="4269598"/>
              <a:ext cx="504057" cy="21467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ECB303E5-4C0F-E3C1-6C40-D63CB81862DA}"/>
                </a:ext>
              </a:extLst>
            </p:cNvPr>
            <p:cNvCxnSpPr>
              <a:stCxn id="13" idx="0"/>
              <a:endCxn id="8" idx="5"/>
            </p:cNvCxnSpPr>
            <p:nvPr/>
          </p:nvCxnSpPr>
          <p:spPr>
            <a:xfrm flipH="1" flipV="1">
              <a:off x="3787711" y="4970813"/>
              <a:ext cx="290129" cy="38193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2F69F648-6942-5A93-5A23-499C2EB8C9E2}"/>
                </a:ext>
              </a:extLst>
            </p:cNvPr>
            <p:cNvCxnSpPr>
              <a:stCxn id="12" idx="0"/>
              <a:endCxn id="8" idx="3"/>
            </p:cNvCxnSpPr>
            <p:nvPr/>
          </p:nvCxnSpPr>
          <p:spPr>
            <a:xfrm flipV="1">
              <a:off x="2934839" y="4970813"/>
              <a:ext cx="366328" cy="38193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543FFFFF-CF30-2E14-4603-BCEC3E407EB6}"/>
                </a:ext>
              </a:extLst>
            </p:cNvPr>
            <p:cNvCxnSpPr>
              <a:stCxn id="10" idx="7"/>
              <a:endCxn id="7" idx="3"/>
            </p:cNvCxnSpPr>
            <p:nvPr/>
          </p:nvCxnSpPr>
          <p:spPr>
            <a:xfrm flipV="1">
              <a:off x="7521511" y="4241222"/>
              <a:ext cx="437755" cy="20153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5DD9F7F4-FC58-103B-8500-D893D1F68143}"/>
                </a:ext>
              </a:extLst>
            </p:cNvPr>
            <p:cNvCxnSpPr>
              <a:stCxn id="11" idx="1"/>
              <a:endCxn id="7" idx="5"/>
            </p:cNvCxnSpPr>
            <p:nvPr/>
          </p:nvCxnSpPr>
          <p:spPr>
            <a:xfrm flipH="1" flipV="1">
              <a:off x="8445808" y="4241222"/>
              <a:ext cx="491882" cy="20153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3" name="Group 22" descr="The new node 1.5 needs to go into the bottom-right spot in the tree. Since the last level of the tree has 2 nodes, the new node 1.5 should be the third node in that level. This makes it the left child of the node 7.">
            <a:extLst>
              <a:ext uri="{FF2B5EF4-FFF2-40B4-BE49-F238E27FC236}">
                <a16:creationId xmlns:a16="http://schemas.microsoft.com/office/drawing/2014/main" id="{25E26435-52E5-5E43-6E95-B27D054D3E66}"/>
              </a:ext>
            </a:extLst>
          </p:cNvPr>
          <p:cNvGrpSpPr/>
          <p:nvPr/>
        </p:nvGrpSpPr>
        <p:grpSpPr>
          <a:xfrm>
            <a:off x="7332895" y="2414389"/>
            <a:ext cx="688077" cy="1027705"/>
            <a:chOff x="7332895" y="2414389"/>
            <a:chExt cx="688077" cy="1027705"/>
          </a:xfrm>
        </p:grpSpPr>
        <p:sp>
          <p:nvSpPr>
            <p:cNvPr id="24" name="Oval 23">
              <a:extLst>
                <a:ext uri="{FF2B5EF4-FFF2-40B4-BE49-F238E27FC236}">
                  <a16:creationId xmlns:a16="http://schemas.microsoft.com/office/drawing/2014/main" id="{BDE845EB-2C74-AFA6-612A-2B277A969486}"/>
                </a:ext>
              </a:extLst>
            </p:cNvPr>
            <p:cNvSpPr/>
            <p:nvPr/>
          </p:nvSpPr>
          <p:spPr>
            <a:xfrm>
              <a:off x="7332895" y="2754017"/>
              <a:ext cx="688077" cy="688077"/>
            </a:xfrm>
            <a:prstGeom prst="ellipse">
              <a:avLst/>
            </a:prstGeom>
            <a:solidFill>
              <a:schemeClr val="accent3">
                <a:lumMod val="40000"/>
                <a:lumOff val="60000"/>
              </a:scheme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9D0000"/>
                  </a:solidFill>
                </a:rPr>
                <a:t>1.5</a:t>
              </a:r>
            </a:p>
          </p:txBody>
        </p:sp>
        <p:cxnSp>
          <p:nvCxnSpPr>
            <p:cNvPr id="22" name="Straight Connector 21">
              <a:extLst>
                <a:ext uri="{FF2B5EF4-FFF2-40B4-BE49-F238E27FC236}">
                  <a16:creationId xmlns:a16="http://schemas.microsoft.com/office/drawing/2014/main" id="{808EB998-8774-511E-D2B0-C8A8B01CF9C0}"/>
                </a:ext>
              </a:extLst>
            </p:cNvPr>
            <p:cNvCxnSpPr>
              <a:cxnSpLocks/>
              <a:stCxn id="24" idx="0"/>
              <a:endCxn id="9" idx="3"/>
            </p:cNvCxnSpPr>
            <p:nvPr/>
          </p:nvCxnSpPr>
          <p:spPr>
            <a:xfrm flipV="1">
              <a:off x="7676934" y="2414389"/>
              <a:ext cx="205519" cy="339628"/>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grpSp>
      <p:sp>
        <p:nvSpPr>
          <p:cNvPr id="3" name="Content Placeholder 2">
            <a:extLst>
              <a:ext uri="{FF2B5EF4-FFF2-40B4-BE49-F238E27FC236}">
                <a16:creationId xmlns:a16="http://schemas.microsoft.com/office/drawing/2014/main" id="{28CF168B-C22F-1B48-82E7-F81CD4DCA565}"/>
              </a:ext>
            </a:extLst>
          </p:cNvPr>
          <p:cNvSpPr>
            <a:spLocks noGrp="1"/>
          </p:cNvSpPr>
          <p:nvPr>
            <p:ph idx="1"/>
          </p:nvPr>
        </p:nvSpPr>
        <p:spPr>
          <a:xfrm>
            <a:off x="156079" y="3722818"/>
            <a:ext cx="10515600" cy="4351338"/>
          </a:xfrm>
        </p:spPr>
        <p:txBody>
          <a:bodyPr/>
          <a:lstStyle/>
          <a:p>
            <a:pPr marL="0" indent="0">
              <a:buNone/>
            </a:pPr>
            <a:r>
              <a:rPr lang="en-US" dirty="0"/>
              <a:t>insert(item, priority){</a:t>
            </a:r>
          </a:p>
          <a:p>
            <a:pPr marL="0" indent="0">
              <a:buNone/>
            </a:pPr>
            <a:r>
              <a:rPr lang="en-US" dirty="0"/>
              <a:t>    </a:t>
            </a:r>
            <a:r>
              <a:rPr lang="en-US" dirty="0">
                <a:solidFill>
                  <a:srgbClr val="FF0000"/>
                </a:solidFill>
              </a:rPr>
              <a:t>put item in the “next open” spot (keep tree complete)</a:t>
            </a:r>
          </a:p>
          <a:p>
            <a:pPr marL="0" indent="0">
              <a:buNone/>
            </a:pPr>
            <a:r>
              <a:rPr lang="en-US" dirty="0"/>
              <a:t>    while (priority &lt; parent’s priority){</a:t>
            </a:r>
          </a:p>
          <a:p>
            <a:pPr marL="0" indent="0">
              <a:buNone/>
            </a:pPr>
            <a:r>
              <a:rPr lang="en-US" dirty="0"/>
              <a:t>        swap item with parent</a:t>
            </a:r>
          </a:p>
          <a:p>
            <a:pPr marL="0" indent="0">
              <a:buNone/>
            </a:pPr>
            <a:r>
              <a:rPr lang="en-US" dirty="0"/>
              <a:t>    }</a:t>
            </a:r>
          </a:p>
          <a:p>
            <a:pPr marL="0" indent="0">
              <a:buNone/>
            </a:pPr>
            <a:r>
              <a:rPr lang="en-US" dirty="0"/>
              <a:t>}</a:t>
            </a:r>
          </a:p>
        </p:txBody>
      </p:sp>
    </p:spTree>
    <p:extLst>
      <p:ext uri="{BB962C8B-B14F-4D97-AF65-F5344CB8AC3E}">
        <p14:creationId xmlns:p14="http://schemas.microsoft.com/office/powerpoint/2010/main" val="217823785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6B7BEE-83FC-6A92-8C72-922983C3E767}"/>
              </a:ext>
            </a:extLst>
          </p:cNvPr>
          <p:cNvSpPr>
            <a:spLocks noGrp="1"/>
          </p:cNvSpPr>
          <p:nvPr>
            <p:ph type="title"/>
          </p:nvPr>
        </p:nvSpPr>
        <p:spPr/>
        <p:txBody>
          <a:bodyPr/>
          <a:lstStyle/>
          <a:p>
            <a:r>
              <a:rPr lang="en-US" dirty="0"/>
              <a:t>Heap Insert (Percolate 1)</a:t>
            </a:r>
          </a:p>
        </p:txBody>
      </p:sp>
      <p:grpSp>
        <p:nvGrpSpPr>
          <p:cNvPr id="26" name="Group 25" descr="After adding the node 1.5 to the location that the new node must go for the shape requirements of a heap, we must move nodes around to satisfy the heap property (that every node is less than or equal to its children).&#10;&#10;Because 1.5 is smaller than its parent (7) we will swap 1.5 with its parent, so now 7 is the left child of 1.5, and 1.5 is the right child of 3.">
            <a:extLst>
              <a:ext uri="{FF2B5EF4-FFF2-40B4-BE49-F238E27FC236}">
                <a16:creationId xmlns:a16="http://schemas.microsoft.com/office/drawing/2014/main" id="{94C97EA0-3418-11A4-2725-4E4E3A7DAAC3}"/>
              </a:ext>
            </a:extLst>
          </p:cNvPr>
          <p:cNvGrpSpPr/>
          <p:nvPr/>
        </p:nvGrpSpPr>
        <p:grpSpPr>
          <a:xfrm>
            <a:off x="5161281" y="73781"/>
            <a:ext cx="6934200" cy="3368751"/>
            <a:chOff x="5161281" y="73781"/>
            <a:chExt cx="6934200" cy="3368751"/>
          </a:xfrm>
        </p:grpSpPr>
        <p:grpSp>
          <p:nvGrpSpPr>
            <p:cNvPr id="4" name="Group 3" descr="After adding the node 1.5 to the location that the new node must go for the shape requirements of a heap, we must move nodes around to satisfy the heap property (that every node is less than or equal to its children).&#10;&#10;Because 1.5 is smaller than its parent (7) we will swap 1.5 with its parent, so now 7 is the left child of 1.5, and 1.5 is the right child of 3.">
              <a:extLst>
                <a:ext uri="{FF2B5EF4-FFF2-40B4-BE49-F238E27FC236}">
                  <a16:creationId xmlns:a16="http://schemas.microsoft.com/office/drawing/2014/main" id="{F5FEEAE4-5947-43BB-33F3-0E2F7A27D58C}"/>
                </a:ext>
              </a:extLst>
            </p:cNvPr>
            <p:cNvGrpSpPr/>
            <p:nvPr/>
          </p:nvGrpSpPr>
          <p:grpSpPr>
            <a:xfrm>
              <a:off x="5161281" y="73781"/>
              <a:ext cx="6934200" cy="3368751"/>
              <a:chOff x="2590801" y="2672070"/>
              <a:chExt cx="6934200" cy="3368751"/>
            </a:xfrm>
          </p:grpSpPr>
          <p:sp>
            <p:nvSpPr>
              <p:cNvPr id="5" name="Oval 4">
                <a:extLst>
                  <a:ext uri="{FF2B5EF4-FFF2-40B4-BE49-F238E27FC236}">
                    <a16:creationId xmlns:a16="http://schemas.microsoft.com/office/drawing/2014/main" id="{F33A0E13-4996-116D-FFBB-C9C47C84D55C}"/>
                  </a:ext>
                </a:extLst>
              </p:cNvPr>
              <p:cNvSpPr/>
              <p:nvPr/>
            </p:nvSpPr>
            <p:spPr>
              <a:xfrm>
                <a:off x="5996855" y="2672070"/>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6" name="Oval 5">
                <a:extLst>
                  <a:ext uri="{FF2B5EF4-FFF2-40B4-BE49-F238E27FC236}">
                    <a16:creationId xmlns:a16="http://schemas.microsoft.com/office/drawing/2014/main" id="{3C2A72B8-1FD3-516D-A021-E2075712D6CB}"/>
                  </a:ext>
                </a:extLst>
              </p:cNvPr>
              <p:cNvSpPr/>
              <p:nvPr/>
            </p:nvSpPr>
            <p:spPr>
              <a:xfrm>
                <a:off x="4191001" y="3682289"/>
                <a:ext cx="688077" cy="688077"/>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7" name="Oval 6">
                <a:extLst>
                  <a:ext uri="{FF2B5EF4-FFF2-40B4-BE49-F238E27FC236}">
                    <a16:creationId xmlns:a16="http://schemas.microsoft.com/office/drawing/2014/main" id="{392D9E01-B220-E093-6B95-A68C0266A5BC}"/>
                  </a:ext>
                </a:extLst>
              </p:cNvPr>
              <p:cNvSpPr/>
              <p:nvPr/>
            </p:nvSpPr>
            <p:spPr>
              <a:xfrm>
                <a:off x="7858499" y="3653913"/>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8" name="Oval 7">
                <a:extLst>
                  <a:ext uri="{FF2B5EF4-FFF2-40B4-BE49-F238E27FC236}">
                    <a16:creationId xmlns:a16="http://schemas.microsoft.com/office/drawing/2014/main" id="{31620859-F5B3-EB2D-7626-028B1D551DC8}"/>
                  </a:ext>
                </a:extLst>
              </p:cNvPr>
              <p:cNvSpPr/>
              <p:nvPr/>
            </p:nvSpPr>
            <p:spPr>
              <a:xfrm>
                <a:off x="3200401" y="4383504"/>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9" name="Oval 8">
                <a:extLst>
                  <a:ext uri="{FF2B5EF4-FFF2-40B4-BE49-F238E27FC236}">
                    <a16:creationId xmlns:a16="http://schemas.microsoft.com/office/drawing/2014/main" id="{EDDB63C5-2978-A1A0-5B7C-21B3C85ED8F3}"/>
                  </a:ext>
                </a:extLst>
              </p:cNvPr>
              <p:cNvSpPr/>
              <p:nvPr/>
            </p:nvSpPr>
            <p:spPr>
              <a:xfrm>
                <a:off x="5211206" y="4425368"/>
                <a:ext cx="688077" cy="688077"/>
              </a:xfrm>
              <a:prstGeom prst="ellipse">
                <a:avLst/>
              </a:prstGeom>
              <a:solidFill>
                <a:schemeClr val="accent3">
                  <a:lumMod val="40000"/>
                  <a:lumOff val="60000"/>
                </a:scheme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9D0000"/>
                    </a:solidFill>
                  </a:rPr>
                  <a:t>1.5</a:t>
                </a:r>
              </a:p>
            </p:txBody>
          </p:sp>
          <p:sp>
            <p:nvSpPr>
              <p:cNvPr id="10" name="Oval 9">
                <a:extLst>
                  <a:ext uri="{FF2B5EF4-FFF2-40B4-BE49-F238E27FC236}">
                    <a16:creationId xmlns:a16="http://schemas.microsoft.com/office/drawing/2014/main" id="{9246EA45-DB59-3189-5133-E09D0AC67BEF}"/>
                  </a:ext>
                </a:extLst>
              </p:cNvPr>
              <p:cNvSpPr/>
              <p:nvPr/>
            </p:nvSpPr>
            <p:spPr>
              <a:xfrm>
                <a:off x="6934201" y="4341990"/>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11" name="Oval 10">
                <a:extLst>
                  <a:ext uri="{FF2B5EF4-FFF2-40B4-BE49-F238E27FC236}">
                    <a16:creationId xmlns:a16="http://schemas.microsoft.com/office/drawing/2014/main" id="{9ACF96E3-806B-71A4-4206-D4D7C31A2F2D}"/>
                  </a:ext>
                </a:extLst>
              </p:cNvPr>
              <p:cNvSpPr/>
              <p:nvPr/>
            </p:nvSpPr>
            <p:spPr>
              <a:xfrm>
                <a:off x="8836924" y="4341990"/>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12" name="Oval 11">
                <a:extLst>
                  <a:ext uri="{FF2B5EF4-FFF2-40B4-BE49-F238E27FC236}">
                    <a16:creationId xmlns:a16="http://schemas.microsoft.com/office/drawing/2014/main" id="{014F5CF9-E0BE-AD30-CAF0-6FB68446C0CD}"/>
                  </a:ext>
                </a:extLst>
              </p:cNvPr>
              <p:cNvSpPr/>
              <p:nvPr/>
            </p:nvSpPr>
            <p:spPr>
              <a:xfrm>
                <a:off x="2590801" y="5352744"/>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13" name="Oval 12">
                <a:extLst>
                  <a:ext uri="{FF2B5EF4-FFF2-40B4-BE49-F238E27FC236}">
                    <a16:creationId xmlns:a16="http://schemas.microsoft.com/office/drawing/2014/main" id="{497C9AA5-DB9B-1AFC-012D-B3D8743427A8}"/>
                  </a:ext>
                </a:extLst>
              </p:cNvPr>
              <p:cNvSpPr/>
              <p:nvPr/>
            </p:nvSpPr>
            <p:spPr>
              <a:xfrm>
                <a:off x="3733801" y="5352744"/>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a:t>
                </a:r>
              </a:p>
            </p:txBody>
          </p:sp>
          <p:cxnSp>
            <p:nvCxnSpPr>
              <p:cNvPr id="14" name="Straight Connector 13">
                <a:extLst>
                  <a:ext uri="{FF2B5EF4-FFF2-40B4-BE49-F238E27FC236}">
                    <a16:creationId xmlns:a16="http://schemas.microsoft.com/office/drawing/2014/main" id="{3F9925F6-573D-F6E3-2D20-9939C39C8CC4}"/>
                  </a:ext>
                </a:extLst>
              </p:cNvPr>
              <p:cNvCxnSpPr>
                <a:cxnSpLocks/>
                <a:stCxn id="5" idx="3"/>
                <a:endCxn id="6" idx="7"/>
              </p:cNvCxnSpPr>
              <p:nvPr/>
            </p:nvCxnSpPr>
            <p:spPr>
              <a:xfrm flipH="1">
                <a:off x="4778311" y="3259380"/>
                <a:ext cx="1319311" cy="52367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9690E6CF-81A5-AEED-23C1-2A785442C5F3}"/>
                  </a:ext>
                </a:extLst>
              </p:cNvPr>
              <p:cNvCxnSpPr>
                <a:cxnSpLocks/>
                <a:stCxn id="5" idx="5"/>
                <a:endCxn id="7" idx="1"/>
              </p:cNvCxnSpPr>
              <p:nvPr/>
            </p:nvCxnSpPr>
            <p:spPr>
              <a:xfrm>
                <a:off x="6584165" y="3259380"/>
                <a:ext cx="1375101" cy="4953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0918949D-E91F-514C-8942-A55A0B1C1B96}"/>
                  </a:ext>
                </a:extLst>
              </p:cNvPr>
              <p:cNvCxnSpPr>
                <a:stCxn id="9" idx="1"/>
                <a:endCxn id="6" idx="5"/>
              </p:cNvCxnSpPr>
              <p:nvPr/>
            </p:nvCxnSpPr>
            <p:spPr>
              <a:xfrm flipH="1" flipV="1">
                <a:off x="4778310" y="4269598"/>
                <a:ext cx="533662" cy="25653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3AEC8F07-B67E-32B1-8194-36206CBAE1C1}"/>
                  </a:ext>
                </a:extLst>
              </p:cNvPr>
              <p:cNvCxnSpPr>
                <a:stCxn id="8" idx="7"/>
                <a:endCxn id="6" idx="3"/>
              </p:cNvCxnSpPr>
              <p:nvPr/>
            </p:nvCxnSpPr>
            <p:spPr>
              <a:xfrm flipV="1">
                <a:off x="3787711" y="4269598"/>
                <a:ext cx="504057" cy="21467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ECB303E5-4C0F-E3C1-6C40-D63CB81862DA}"/>
                  </a:ext>
                </a:extLst>
              </p:cNvPr>
              <p:cNvCxnSpPr>
                <a:stCxn id="13" idx="0"/>
                <a:endCxn id="8" idx="5"/>
              </p:cNvCxnSpPr>
              <p:nvPr/>
            </p:nvCxnSpPr>
            <p:spPr>
              <a:xfrm flipH="1" flipV="1">
                <a:off x="3787711" y="4970813"/>
                <a:ext cx="290129" cy="38193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2F69F648-6942-5A93-5A23-499C2EB8C9E2}"/>
                  </a:ext>
                </a:extLst>
              </p:cNvPr>
              <p:cNvCxnSpPr>
                <a:stCxn id="12" idx="0"/>
                <a:endCxn id="8" idx="3"/>
              </p:cNvCxnSpPr>
              <p:nvPr/>
            </p:nvCxnSpPr>
            <p:spPr>
              <a:xfrm flipV="1">
                <a:off x="2934839" y="4970813"/>
                <a:ext cx="366328" cy="38193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543FFFFF-CF30-2E14-4603-BCEC3E407EB6}"/>
                  </a:ext>
                </a:extLst>
              </p:cNvPr>
              <p:cNvCxnSpPr>
                <a:stCxn id="10" idx="7"/>
                <a:endCxn id="7" idx="3"/>
              </p:cNvCxnSpPr>
              <p:nvPr/>
            </p:nvCxnSpPr>
            <p:spPr>
              <a:xfrm flipV="1">
                <a:off x="7521511" y="4241222"/>
                <a:ext cx="437755" cy="20153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5DD9F7F4-FC58-103B-8500-D893D1F68143}"/>
                  </a:ext>
                </a:extLst>
              </p:cNvPr>
              <p:cNvCxnSpPr>
                <a:stCxn id="11" idx="1"/>
                <a:endCxn id="7" idx="5"/>
              </p:cNvCxnSpPr>
              <p:nvPr/>
            </p:nvCxnSpPr>
            <p:spPr>
              <a:xfrm flipH="1" flipV="1">
                <a:off x="8445808" y="4241222"/>
                <a:ext cx="491882" cy="20153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24" name="Oval 23">
              <a:extLst>
                <a:ext uri="{FF2B5EF4-FFF2-40B4-BE49-F238E27FC236}">
                  <a16:creationId xmlns:a16="http://schemas.microsoft.com/office/drawing/2014/main" id="{BDE845EB-2C74-AFA6-612A-2B277A969486}"/>
                </a:ext>
              </a:extLst>
            </p:cNvPr>
            <p:cNvSpPr/>
            <p:nvPr/>
          </p:nvSpPr>
          <p:spPr>
            <a:xfrm>
              <a:off x="7332895" y="2754017"/>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cxnSp>
          <p:nvCxnSpPr>
            <p:cNvPr id="22" name="Straight Connector 21">
              <a:extLst>
                <a:ext uri="{FF2B5EF4-FFF2-40B4-BE49-F238E27FC236}">
                  <a16:creationId xmlns:a16="http://schemas.microsoft.com/office/drawing/2014/main" id="{808EB998-8774-511E-D2B0-C8A8B01CF9C0}"/>
                </a:ext>
              </a:extLst>
            </p:cNvPr>
            <p:cNvCxnSpPr>
              <a:cxnSpLocks/>
              <a:stCxn id="24" idx="0"/>
              <a:endCxn id="9" idx="3"/>
            </p:cNvCxnSpPr>
            <p:nvPr/>
          </p:nvCxnSpPr>
          <p:spPr>
            <a:xfrm flipV="1">
              <a:off x="7676934" y="2414389"/>
              <a:ext cx="205519" cy="33962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3" name="Content Placeholder 2">
            <a:extLst>
              <a:ext uri="{FF2B5EF4-FFF2-40B4-BE49-F238E27FC236}">
                <a16:creationId xmlns:a16="http://schemas.microsoft.com/office/drawing/2014/main" id="{28CF168B-C22F-1B48-82E7-F81CD4DCA565}"/>
              </a:ext>
            </a:extLst>
          </p:cNvPr>
          <p:cNvSpPr>
            <a:spLocks noGrp="1"/>
          </p:cNvSpPr>
          <p:nvPr>
            <p:ph idx="1"/>
          </p:nvPr>
        </p:nvSpPr>
        <p:spPr>
          <a:xfrm>
            <a:off x="156079" y="3722818"/>
            <a:ext cx="10515600" cy="4351338"/>
          </a:xfrm>
        </p:spPr>
        <p:txBody>
          <a:bodyPr/>
          <a:lstStyle/>
          <a:p>
            <a:pPr marL="0" indent="0">
              <a:buNone/>
            </a:pPr>
            <a:r>
              <a:rPr lang="en-US" dirty="0"/>
              <a:t>insert(item, priority){</a:t>
            </a:r>
          </a:p>
          <a:p>
            <a:pPr marL="0" indent="0">
              <a:buNone/>
            </a:pPr>
            <a:r>
              <a:rPr lang="en-US" dirty="0"/>
              <a:t>    put item in the “next open” spot (keep tree complete)</a:t>
            </a:r>
          </a:p>
          <a:p>
            <a:pPr marL="0" indent="0">
              <a:buNone/>
            </a:pPr>
            <a:r>
              <a:rPr lang="en-US" dirty="0"/>
              <a:t>    </a:t>
            </a:r>
            <a:r>
              <a:rPr lang="en-US" dirty="0">
                <a:solidFill>
                  <a:srgbClr val="FF0000"/>
                </a:solidFill>
              </a:rPr>
              <a:t>while (priority &lt; parent’s priority){</a:t>
            </a:r>
          </a:p>
          <a:p>
            <a:pPr marL="0" indent="0">
              <a:buNone/>
            </a:pPr>
            <a:r>
              <a:rPr lang="en-US" dirty="0">
                <a:solidFill>
                  <a:srgbClr val="FF0000"/>
                </a:solidFill>
              </a:rPr>
              <a:t>        swap item with parent</a:t>
            </a:r>
          </a:p>
          <a:p>
            <a:pPr marL="0" indent="0">
              <a:buNone/>
            </a:pPr>
            <a:r>
              <a:rPr lang="en-US" dirty="0">
                <a:solidFill>
                  <a:srgbClr val="FF0000"/>
                </a:solidFill>
              </a:rPr>
              <a:t>    }</a:t>
            </a:r>
          </a:p>
          <a:p>
            <a:pPr marL="0" indent="0">
              <a:buNone/>
            </a:pPr>
            <a:r>
              <a:rPr lang="en-US" dirty="0"/>
              <a:t>}</a:t>
            </a:r>
          </a:p>
        </p:txBody>
      </p:sp>
      <p:grpSp>
        <p:nvGrpSpPr>
          <p:cNvPr id="27" name="Group 26" descr="The lines which state:&#10;while (priority &lt; parent’s priority){&#10;    swap item with parent&#10;}&#10;represent a subroutine that we refer to as &quot;percolate up&quot;">
            <a:extLst>
              <a:ext uri="{FF2B5EF4-FFF2-40B4-BE49-F238E27FC236}">
                <a16:creationId xmlns:a16="http://schemas.microsoft.com/office/drawing/2014/main" id="{007FC3D2-F20F-6C27-A13F-EFE9927EEBC2}"/>
              </a:ext>
            </a:extLst>
          </p:cNvPr>
          <p:cNvGrpSpPr/>
          <p:nvPr/>
        </p:nvGrpSpPr>
        <p:grpSpPr>
          <a:xfrm>
            <a:off x="7676934" y="4754880"/>
            <a:ext cx="2367441" cy="1442029"/>
            <a:chOff x="7676934" y="4754880"/>
            <a:chExt cx="2367441" cy="1442029"/>
          </a:xfrm>
        </p:grpSpPr>
        <p:sp>
          <p:nvSpPr>
            <p:cNvPr id="23" name="Right Brace 22">
              <a:extLst>
                <a:ext uri="{FF2B5EF4-FFF2-40B4-BE49-F238E27FC236}">
                  <a16:creationId xmlns:a16="http://schemas.microsoft.com/office/drawing/2014/main" id="{10EC7529-FAB5-F76E-AB09-333DBBED8344}"/>
                </a:ext>
              </a:extLst>
            </p:cNvPr>
            <p:cNvSpPr/>
            <p:nvPr/>
          </p:nvSpPr>
          <p:spPr>
            <a:xfrm>
              <a:off x="7676934" y="4754880"/>
              <a:ext cx="603466" cy="1442029"/>
            </a:xfrm>
            <a:prstGeom prst="rightBrace">
              <a:avLst/>
            </a:prstGeom>
            <a:ln>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5" name="TextBox 24">
              <a:extLst>
                <a:ext uri="{FF2B5EF4-FFF2-40B4-BE49-F238E27FC236}">
                  <a16:creationId xmlns:a16="http://schemas.microsoft.com/office/drawing/2014/main" id="{CCA71E33-531C-6794-787C-EEC71906132F}"/>
                </a:ext>
              </a:extLst>
            </p:cNvPr>
            <p:cNvSpPr txBox="1"/>
            <p:nvPr/>
          </p:nvSpPr>
          <p:spPr>
            <a:xfrm>
              <a:off x="8264914" y="5245061"/>
              <a:ext cx="1779461" cy="461665"/>
            </a:xfrm>
            <a:prstGeom prst="rect">
              <a:avLst/>
            </a:prstGeom>
            <a:noFill/>
          </p:spPr>
          <p:txBody>
            <a:bodyPr wrap="none" rtlCol="0">
              <a:spAutoFit/>
            </a:bodyPr>
            <a:lstStyle/>
            <a:p>
              <a:r>
                <a:rPr lang="en-US" sz="2400" dirty="0">
                  <a:solidFill>
                    <a:srgbClr val="FF0000"/>
                  </a:solidFill>
                </a:rPr>
                <a:t>Percolate Up</a:t>
              </a:r>
            </a:p>
          </p:txBody>
        </p:sp>
      </p:grpSp>
    </p:spTree>
    <p:extLst>
      <p:ext uri="{BB962C8B-B14F-4D97-AF65-F5344CB8AC3E}">
        <p14:creationId xmlns:p14="http://schemas.microsoft.com/office/powerpoint/2010/main" val="86345743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6B7BEE-83FC-6A92-8C72-922983C3E767}"/>
              </a:ext>
            </a:extLst>
          </p:cNvPr>
          <p:cNvSpPr>
            <a:spLocks noGrp="1"/>
          </p:cNvSpPr>
          <p:nvPr>
            <p:ph type="title"/>
          </p:nvPr>
        </p:nvSpPr>
        <p:spPr/>
        <p:txBody>
          <a:bodyPr/>
          <a:lstStyle/>
          <a:p>
            <a:r>
              <a:rPr lang="en-US" dirty="0"/>
              <a:t>Heap Insert (Percolate 2)</a:t>
            </a:r>
          </a:p>
        </p:txBody>
      </p:sp>
      <p:grpSp>
        <p:nvGrpSpPr>
          <p:cNvPr id="26" name="Group 25" descr="Because 1.5 is smaller than its new parent (3) we will swap 1.5 with its parent, so now 3 is the right child of 1.5, and 1.5 is the left child of 1.">
            <a:extLst>
              <a:ext uri="{FF2B5EF4-FFF2-40B4-BE49-F238E27FC236}">
                <a16:creationId xmlns:a16="http://schemas.microsoft.com/office/drawing/2014/main" id="{C3A54F0D-9A43-CEAD-2F1E-A1A05C36E84C}"/>
              </a:ext>
            </a:extLst>
          </p:cNvPr>
          <p:cNvGrpSpPr/>
          <p:nvPr/>
        </p:nvGrpSpPr>
        <p:grpSpPr>
          <a:xfrm>
            <a:off x="5161281" y="73781"/>
            <a:ext cx="6934200" cy="3368751"/>
            <a:chOff x="5161281" y="73781"/>
            <a:chExt cx="6934200" cy="3368751"/>
          </a:xfrm>
        </p:grpSpPr>
        <p:grpSp>
          <p:nvGrpSpPr>
            <p:cNvPr id="4" name="Group 3" descr="Because 1.5 is smaller than its new parent (3) we will swap 1.5 with its parent, so now 3 is the right child of 1.5, and 1.5 is the left child of 1.">
              <a:extLst>
                <a:ext uri="{FF2B5EF4-FFF2-40B4-BE49-F238E27FC236}">
                  <a16:creationId xmlns:a16="http://schemas.microsoft.com/office/drawing/2014/main" id="{F5FEEAE4-5947-43BB-33F3-0E2F7A27D58C}"/>
                </a:ext>
              </a:extLst>
            </p:cNvPr>
            <p:cNvGrpSpPr/>
            <p:nvPr/>
          </p:nvGrpSpPr>
          <p:grpSpPr>
            <a:xfrm>
              <a:off x="5161281" y="73781"/>
              <a:ext cx="6934200" cy="3368751"/>
              <a:chOff x="2590801" y="2672070"/>
              <a:chExt cx="6934200" cy="3368751"/>
            </a:xfrm>
          </p:grpSpPr>
          <p:sp>
            <p:nvSpPr>
              <p:cNvPr id="5" name="Oval 4">
                <a:extLst>
                  <a:ext uri="{FF2B5EF4-FFF2-40B4-BE49-F238E27FC236}">
                    <a16:creationId xmlns:a16="http://schemas.microsoft.com/office/drawing/2014/main" id="{F33A0E13-4996-116D-FFBB-C9C47C84D55C}"/>
                  </a:ext>
                </a:extLst>
              </p:cNvPr>
              <p:cNvSpPr/>
              <p:nvPr/>
            </p:nvSpPr>
            <p:spPr>
              <a:xfrm>
                <a:off x="5996855" y="2672070"/>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6" name="Oval 5">
                <a:extLst>
                  <a:ext uri="{FF2B5EF4-FFF2-40B4-BE49-F238E27FC236}">
                    <a16:creationId xmlns:a16="http://schemas.microsoft.com/office/drawing/2014/main" id="{3C2A72B8-1FD3-516D-A021-E2075712D6CB}"/>
                  </a:ext>
                </a:extLst>
              </p:cNvPr>
              <p:cNvSpPr/>
              <p:nvPr/>
            </p:nvSpPr>
            <p:spPr>
              <a:xfrm>
                <a:off x="4191001" y="3682289"/>
                <a:ext cx="688077" cy="688077"/>
              </a:xfrm>
              <a:prstGeom prst="ellipse">
                <a:avLst/>
              </a:prstGeom>
              <a:solidFill>
                <a:schemeClr val="accent3">
                  <a:lumMod val="40000"/>
                  <a:lumOff val="60000"/>
                </a:scheme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9D0000"/>
                    </a:solidFill>
                  </a:rPr>
                  <a:t>1.5</a:t>
                </a:r>
              </a:p>
            </p:txBody>
          </p:sp>
          <p:sp>
            <p:nvSpPr>
              <p:cNvPr id="7" name="Oval 6">
                <a:extLst>
                  <a:ext uri="{FF2B5EF4-FFF2-40B4-BE49-F238E27FC236}">
                    <a16:creationId xmlns:a16="http://schemas.microsoft.com/office/drawing/2014/main" id="{392D9E01-B220-E093-6B95-A68C0266A5BC}"/>
                  </a:ext>
                </a:extLst>
              </p:cNvPr>
              <p:cNvSpPr/>
              <p:nvPr/>
            </p:nvSpPr>
            <p:spPr>
              <a:xfrm>
                <a:off x="7858499" y="3653913"/>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8" name="Oval 7">
                <a:extLst>
                  <a:ext uri="{FF2B5EF4-FFF2-40B4-BE49-F238E27FC236}">
                    <a16:creationId xmlns:a16="http://schemas.microsoft.com/office/drawing/2014/main" id="{31620859-F5B3-EB2D-7626-028B1D551DC8}"/>
                  </a:ext>
                </a:extLst>
              </p:cNvPr>
              <p:cNvSpPr/>
              <p:nvPr/>
            </p:nvSpPr>
            <p:spPr>
              <a:xfrm>
                <a:off x="3200401" y="4383504"/>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9" name="Oval 8">
                <a:extLst>
                  <a:ext uri="{FF2B5EF4-FFF2-40B4-BE49-F238E27FC236}">
                    <a16:creationId xmlns:a16="http://schemas.microsoft.com/office/drawing/2014/main" id="{EDDB63C5-2978-A1A0-5B7C-21B3C85ED8F3}"/>
                  </a:ext>
                </a:extLst>
              </p:cNvPr>
              <p:cNvSpPr/>
              <p:nvPr/>
            </p:nvSpPr>
            <p:spPr>
              <a:xfrm>
                <a:off x="5211206" y="4425368"/>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10" name="Oval 9">
                <a:extLst>
                  <a:ext uri="{FF2B5EF4-FFF2-40B4-BE49-F238E27FC236}">
                    <a16:creationId xmlns:a16="http://schemas.microsoft.com/office/drawing/2014/main" id="{9246EA45-DB59-3189-5133-E09D0AC67BEF}"/>
                  </a:ext>
                </a:extLst>
              </p:cNvPr>
              <p:cNvSpPr/>
              <p:nvPr/>
            </p:nvSpPr>
            <p:spPr>
              <a:xfrm>
                <a:off x="6934201" y="4341990"/>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11" name="Oval 10">
                <a:extLst>
                  <a:ext uri="{FF2B5EF4-FFF2-40B4-BE49-F238E27FC236}">
                    <a16:creationId xmlns:a16="http://schemas.microsoft.com/office/drawing/2014/main" id="{9ACF96E3-806B-71A4-4206-D4D7C31A2F2D}"/>
                  </a:ext>
                </a:extLst>
              </p:cNvPr>
              <p:cNvSpPr/>
              <p:nvPr/>
            </p:nvSpPr>
            <p:spPr>
              <a:xfrm>
                <a:off x="8836924" y="4341990"/>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12" name="Oval 11">
                <a:extLst>
                  <a:ext uri="{FF2B5EF4-FFF2-40B4-BE49-F238E27FC236}">
                    <a16:creationId xmlns:a16="http://schemas.microsoft.com/office/drawing/2014/main" id="{014F5CF9-E0BE-AD30-CAF0-6FB68446C0CD}"/>
                  </a:ext>
                </a:extLst>
              </p:cNvPr>
              <p:cNvSpPr/>
              <p:nvPr/>
            </p:nvSpPr>
            <p:spPr>
              <a:xfrm>
                <a:off x="2590801" y="5352744"/>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13" name="Oval 12">
                <a:extLst>
                  <a:ext uri="{FF2B5EF4-FFF2-40B4-BE49-F238E27FC236}">
                    <a16:creationId xmlns:a16="http://schemas.microsoft.com/office/drawing/2014/main" id="{497C9AA5-DB9B-1AFC-012D-B3D8743427A8}"/>
                  </a:ext>
                </a:extLst>
              </p:cNvPr>
              <p:cNvSpPr/>
              <p:nvPr/>
            </p:nvSpPr>
            <p:spPr>
              <a:xfrm>
                <a:off x="3733801" y="5352744"/>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a:t>
                </a:r>
              </a:p>
            </p:txBody>
          </p:sp>
          <p:cxnSp>
            <p:nvCxnSpPr>
              <p:cNvPr id="14" name="Straight Connector 13">
                <a:extLst>
                  <a:ext uri="{FF2B5EF4-FFF2-40B4-BE49-F238E27FC236}">
                    <a16:creationId xmlns:a16="http://schemas.microsoft.com/office/drawing/2014/main" id="{3F9925F6-573D-F6E3-2D20-9939C39C8CC4}"/>
                  </a:ext>
                </a:extLst>
              </p:cNvPr>
              <p:cNvCxnSpPr>
                <a:cxnSpLocks/>
                <a:stCxn id="5" idx="3"/>
                <a:endCxn id="6" idx="7"/>
              </p:cNvCxnSpPr>
              <p:nvPr/>
            </p:nvCxnSpPr>
            <p:spPr>
              <a:xfrm flipH="1">
                <a:off x="4778311" y="3259380"/>
                <a:ext cx="1319311" cy="52367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9690E6CF-81A5-AEED-23C1-2A785442C5F3}"/>
                  </a:ext>
                </a:extLst>
              </p:cNvPr>
              <p:cNvCxnSpPr>
                <a:cxnSpLocks/>
                <a:stCxn id="5" idx="5"/>
                <a:endCxn id="7" idx="1"/>
              </p:cNvCxnSpPr>
              <p:nvPr/>
            </p:nvCxnSpPr>
            <p:spPr>
              <a:xfrm>
                <a:off x="6584165" y="3259380"/>
                <a:ext cx="1375101" cy="4953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0918949D-E91F-514C-8942-A55A0B1C1B96}"/>
                  </a:ext>
                </a:extLst>
              </p:cNvPr>
              <p:cNvCxnSpPr>
                <a:stCxn id="9" idx="1"/>
                <a:endCxn id="6" idx="5"/>
              </p:cNvCxnSpPr>
              <p:nvPr/>
            </p:nvCxnSpPr>
            <p:spPr>
              <a:xfrm flipH="1" flipV="1">
                <a:off x="4778310" y="4269598"/>
                <a:ext cx="533662" cy="25653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3AEC8F07-B67E-32B1-8194-36206CBAE1C1}"/>
                  </a:ext>
                </a:extLst>
              </p:cNvPr>
              <p:cNvCxnSpPr>
                <a:stCxn id="8" idx="7"/>
                <a:endCxn id="6" idx="3"/>
              </p:cNvCxnSpPr>
              <p:nvPr/>
            </p:nvCxnSpPr>
            <p:spPr>
              <a:xfrm flipV="1">
                <a:off x="3787711" y="4269598"/>
                <a:ext cx="504057" cy="21467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ECB303E5-4C0F-E3C1-6C40-D63CB81862DA}"/>
                  </a:ext>
                </a:extLst>
              </p:cNvPr>
              <p:cNvCxnSpPr>
                <a:stCxn id="13" idx="0"/>
                <a:endCxn id="8" idx="5"/>
              </p:cNvCxnSpPr>
              <p:nvPr/>
            </p:nvCxnSpPr>
            <p:spPr>
              <a:xfrm flipH="1" flipV="1">
                <a:off x="3787711" y="4970813"/>
                <a:ext cx="290129" cy="38193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2F69F648-6942-5A93-5A23-499C2EB8C9E2}"/>
                  </a:ext>
                </a:extLst>
              </p:cNvPr>
              <p:cNvCxnSpPr>
                <a:stCxn id="12" idx="0"/>
                <a:endCxn id="8" idx="3"/>
              </p:cNvCxnSpPr>
              <p:nvPr/>
            </p:nvCxnSpPr>
            <p:spPr>
              <a:xfrm flipV="1">
                <a:off x="2934839" y="4970813"/>
                <a:ext cx="366328" cy="38193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543FFFFF-CF30-2E14-4603-BCEC3E407EB6}"/>
                  </a:ext>
                </a:extLst>
              </p:cNvPr>
              <p:cNvCxnSpPr>
                <a:stCxn id="10" idx="7"/>
                <a:endCxn id="7" idx="3"/>
              </p:cNvCxnSpPr>
              <p:nvPr/>
            </p:nvCxnSpPr>
            <p:spPr>
              <a:xfrm flipV="1">
                <a:off x="7521511" y="4241222"/>
                <a:ext cx="437755" cy="20153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5DD9F7F4-FC58-103B-8500-D893D1F68143}"/>
                  </a:ext>
                </a:extLst>
              </p:cNvPr>
              <p:cNvCxnSpPr>
                <a:stCxn id="11" idx="1"/>
                <a:endCxn id="7" idx="5"/>
              </p:cNvCxnSpPr>
              <p:nvPr/>
            </p:nvCxnSpPr>
            <p:spPr>
              <a:xfrm flipH="1" flipV="1">
                <a:off x="8445808" y="4241222"/>
                <a:ext cx="491882" cy="20153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24" name="Oval 23">
              <a:extLst>
                <a:ext uri="{FF2B5EF4-FFF2-40B4-BE49-F238E27FC236}">
                  <a16:creationId xmlns:a16="http://schemas.microsoft.com/office/drawing/2014/main" id="{BDE845EB-2C74-AFA6-612A-2B277A969486}"/>
                </a:ext>
              </a:extLst>
            </p:cNvPr>
            <p:cNvSpPr/>
            <p:nvPr/>
          </p:nvSpPr>
          <p:spPr>
            <a:xfrm>
              <a:off x="7332895" y="2754017"/>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cxnSp>
          <p:nvCxnSpPr>
            <p:cNvPr id="22" name="Straight Connector 21">
              <a:extLst>
                <a:ext uri="{FF2B5EF4-FFF2-40B4-BE49-F238E27FC236}">
                  <a16:creationId xmlns:a16="http://schemas.microsoft.com/office/drawing/2014/main" id="{808EB998-8774-511E-D2B0-C8A8B01CF9C0}"/>
                </a:ext>
              </a:extLst>
            </p:cNvPr>
            <p:cNvCxnSpPr>
              <a:cxnSpLocks/>
              <a:stCxn id="24" idx="0"/>
              <a:endCxn id="9" idx="3"/>
            </p:cNvCxnSpPr>
            <p:nvPr/>
          </p:nvCxnSpPr>
          <p:spPr>
            <a:xfrm flipV="1">
              <a:off x="7676934" y="2414389"/>
              <a:ext cx="205519" cy="33962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3" name="Content Placeholder 2">
            <a:extLst>
              <a:ext uri="{FF2B5EF4-FFF2-40B4-BE49-F238E27FC236}">
                <a16:creationId xmlns:a16="http://schemas.microsoft.com/office/drawing/2014/main" id="{28CF168B-C22F-1B48-82E7-F81CD4DCA565}"/>
              </a:ext>
            </a:extLst>
          </p:cNvPr>
          <p:cNvSpPr>
            <a:spLocks noGrp="1"/>
          </p:cNvSpPr>
          <p:nvPr>
            <p:ph idx="1"/>
          </p:nvPr>
        </p:nvSpPr>
        <p:spPr>
          <a:xfrm>
            <a:off x="156079" y="3722818"/>
            <a:ext cx="10515600" cy="4351338"/>
          </a:xfrm>
        </p:spPr>
        <p:txBody>
          <a:bodyPr/>
          <a:lstStyle/>
          <a:p>
            <a:pPr marL="0" indent="0">
              <a:buNone/>
            </a:pPr>
            <a:r>
              <a:rPr lang="en-US" dirty="0"/>
              <a:t>insert(item, priority){</a:t>
            </a:r>
          </a:p>
          <a:p>
            <a:pPr marL="0" indent="0">
              <a:buNone/>
            </a:pPr>
            <a:r>
              <a:rPr lang="en-US" dirty="0"/>
              <a:t>    put item in the “next open” spot (keep tree complete)</a:t>
            </a:r>
          </a:p>
          <a:p>
            <a:pPr marL="0" indent="0">
              <a:buNone/>
            </a:pPr>
            <a:r>
              <a:rPr lang="en-US" dirty="0"/>
              <a:t>    </a:t>
            </a:r>
            <a:r>
              <a:rPr lang="en-US" dirty="0">
                <a:solidFill>
                  <a:srgbClr val="FF0000"/>
                </a:solidFill>
              </a:rPr>
              <a:t>while (priority &lt; parent’s priority){</a:t>
            </a:r>
          </a:p>
          <a:p>
            <a:pPr marL="0" indent="0">
              <a:buNone/>
            </a:pPr>
            <a:r>
              <a:rPr lang="en-US" dirty="0">
                <a:solidFill>
                  <a:srgbClr val="FF0000"/>
                </a:solidFill>
              </a:rPr>
              <a:t>        swap item with parent</a:t>
            </a:r>
          </a:p>
          <a:p>
            <a:pPr marL="0" indent="0">
              <a:buNone/>
            </a:pPr>
            <a:r>
              <a:rPr lang="en-US" dirty="0">
                <a:solidFill>
                  <a:srgbClr val="FF0000"/>
                </a:solidFill>
              </a:rPr>
              <a:t>    }</a:t>
            </a:r>
          </a:p>
          <a:p>
            <a:pPr marL="0" indent="0">
              <a:buNone/>
            </a:pPr>
            <a:r>
              <a:rPr lang="en-US" dirty="0"/>
              <a:t>}</a:t>
            </a:r>
          </a:p>
        </p:txBody>
      </p:sp>
      <p:grpSp>
        <p:nvGrpSpPr>
          <p:cNvPr id="27" name="Group 26" descr="The lines which state:&#10;while (priority &lt; parent’s priority){&#10;    swap item with parent&#10;}&#10;represent a subroutine that we refer to as &quot;percolate up&quot;">
            <a:extLst>
              <a:ext uri="{FF2B5EF4-FFF2-40B4-BE49-F238E27FC236}">
                <a16:creationId xmlns:a16="http://schemas.microsoft.com/office/drawing/2014/main" id="{2E24301B-EA30-FFEC-EB8C-200A2DB99581}"/>
              </a:ext>
            </a:extLst>
          </p:cNvPr>
          <p:cNvGrpSpPr/>
          <p:nvPr/>
        </p:nvGrpSpPr>
        <p:grpSpPr>
          <a:xfrm>
            <a:off x="7676934" y="4754880"/>
            <a:ext cx="2367441" cy="1442029"/>
            <a:chOff x="7676934" y="4754880"/>
            <a:chExt cx="2367441" cy="1442029"/>
          </a:xfrm>
        </p:grpSpPr>
        <p:sp>
          <p:nvSpPr>
            <p:cNvPr id="28" name="Right Brace 27">
              <a:extLst>
                <a:ext uri="{FF2B5EF4-FFF2-40B4-BE49-F238E27FC236}">
                  <a16:creationId xmlns:a16="http://schemas.microsoft.com/office/drawing/2014/main" id="{278B25D4-CADC-B719-E782-5E864AF9446B}"/>
                </a:ext>
              </a:extLst>
            </p:cNvPr>
            <p:cNvSpPr/>
            <p:nvPr/>
          </p:nvSpPr>
          <p:spPr>
            <a:xfrm>
              <a:off x="7676934" y="4754880"/>
              <a:ext cx="603466" cy="1442029"/>
            </a:xfrm>
            <a:prstGeom prst="rightBrace">
              <a:avLst/>
            </a:prstGeom>
            <a:ln>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9" name="TextBox 28">
              <a:extLst>
                <a:ext uri="{FF2B5EF4-FFF2-40B4-BE49-F238E27FC236}">
                  <a16:creationId xmlns:a16="http://schemas.microsoft.com/office/drawing/2014/main" id="{FF953D80-FE96-29D4-5355-B342D269D707}"/>
                </a:ext>
              </a:extLst>
            </p:cNvPr>
            <p:cNvSpPr txBox="1"/>
            <p:nvPr/>
          </p:nvSpPr>
          <p:spPr>
            <a:xfrm>
              <a:off x="8264914" y="5245061"/>
              <a:ext cx="1779461" cy="461665"/>
            </a:xfrm>
            <a:prstGeom prst="rect">
              <a:avLst/>
            </a:prstGeom>
            <a:noFill/>
          </p:spPr>
          <p:txBody>
            <a:bodyPr wrap="none" rtlCol="0">
              <a:spAutoFit/>
            </a:bodyPr>
            <a:lstStyle/>
            <a:p>
              <a:r>
                <a:rPr lang="en-US" sz="2400" dirty="0">
                  <a:solidFill>
                    <a:srgbClr val="FF0000"/>
                  </a:solidFill>
                </a:rPr>
                <a:t>Percolate Up</a:t>
              </a:r>
            </a:p>
          </p:txBody>
        </p:sp>
      </p:grpSp>
      <mc:AlternateContent xmlns:mc="http://schemas.openxmlformats.org/markup-compatibility/2006">
        <mc:Choice xmlns:p14="http://schemas.microsoft.com/office/powerpoint/2010/main" Requires="p14">
          <p:contentPart p14:bwMode="auto" r:id="rId2">
            <p14:nvContentPartPr>
              <p14:cNvPr id="23" name="Ink 22">
                <a:extLst>
                  <a:ext uri="{FF2B5EF4-FFF2-40B4-BE49-F238E27FC236}">
                    <a16:creationId xmlns:a16="http://schemas.microsoft.com/office/drawing/2014/main" id="{ABE4E176-9D8B-ED49-54C8-1A6468DA9702}"/>
                  </a:ext>
                </a:extLst>
              </p14:cNvPr>
              <p14:cNvContentPartPr/>
              <p14:nvPr/>
            </p14:nvContentPartPr>
            <p14:xfrm>
              <a:off x="8427960" y="4583160"/>
              <a:ext cx="621000" cy="358560"/>
            </p14:xfrm>
          </p:contentPart>
        </mc:Choice>
        <mc:Fallback>
          <p:pic>
            <p:nvPicPr>
              <p:cNvPr id="23" name="Ink 22">
                <a:extLst>
                  <a:ext uri="{FF2B5EF4-FFF2-40B4-BE49-F238E27FC236}">
                    <a16:creationId xmlns:a16="http://schemas.microsoft.com/office/drawing/2014/main" id="{ABE4E176-9D8B-ED49-54C8-1A6468DA9702}"/>
                  </a:ext>
                </a:extLst>
              </p:cNvPr>
              <p:cNvPicPr/>
              <p:nvPr/>
            </p:nvPicPr>
            <p:blipFill>
              <a:blip r:embed="rId3"/>
              <a:stretch>
                <a:fillRect/>
              </a:stretch>
            </p:blipFill>
            <p:spPr>
              <a:xfrm>
                <a:off x="8418600" y="4573800"/>
                <a:ext cx="639720" cy="377280"/>
              </a:xfrm>
              <a:prstGeom prst="rect">
                <a:avLst/>
              </a:prstGeom>
            </p:spPr>
          </p:pic>
        </mc:Fallback>
      </mc:AlternateContent>
    </p:spTree>
    <p:extLst>
      <p:ext uri="{BB962C8B-B14F-4D97-AF65-F5344CB8AC3E}">
        <p14:creationId xmlns:p14="http://schemas.microsoft.com/office/powerpoint/2010/main" val="93821825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6B7BEE-83FC-6A92-8C72-922983C3E767}"/>
              </a:ext>
            </a:extLst>
          </p:cNvPr>
          <p:cNvSpPr>
            <a:spLocks noGrp="1"/>
          </p:cNvSpPr>
          <p:nvPr>
            <p:ph type="title"/>
          </p:nvPr>
        </p:nvSpPr>
        <p:spPr/>
        <p:txBody>
          <a:bodyPr/>
          <a:lstStyle/>
          <a:p>
            <a:r>
              <a:rPr lang="en-US" dirty="0"/>
              <a:t>Heap Insert (Done)</a:t>
            </a:r>
          </a:p>
        </p:txBody>
      </p:sp>
      <p:grpSp>
        <p:nvGrpSpPr>
          <p:cNvPr id="23" name="Group 22" descr="Because 1.5 is now greater than or equal to its parent (1), we satisfy the heap property, so our insert is complete.">
            <a:extLst>
              <a:ext uri="{FF2B5EF4-FFF2-40B4-BE49-F238E27FC236}">
                <a16:creationId xmlns:a16="http://schemas.microsoft.com/office/drawing/2014/main" id="{0FA6017A-C016-4FAB-64DF-E1836A4BD801}"/>
              </a:ext>
            </a:extLst>
          </p:cNvPr>
          <p:cNvGrpSpPr/>
          <p:nvPr/>
        </p:nvGrpSpPr>
        <p:grpSpPr>
          <a:xfrm>
            <a:off x="5161281" y="73781"/>
            <a:ext cx="6934200" cy="3368751"/>
            <a:chOff x="5161281" y="73781"/>
            <a:chExt cx="6934200" cy="3368751"/>
          </a:xfrm>
        </p:grpSpPr>
        <p:grpSp>
          <p:nvGrpSpPr>
            <p:cNvPr id="4" name="Group 3" descr="Because 1.5 is now greater than or equal to its parent (1), we satisfy the heap property, so our insert is complete.">
              <a:extLst>
                <a:ext uri="{FF2B5EF4-FFF2-40B4-BE49-F238E27FC236}">
                  <a16:creationId xmlns:a16="http://schemas.microsoft.com/office/drawing/2014/main" id="{F5FEEAE4-5947-43BB-33F3-0E2F7A27D58C}"/>
                </a:ext>
              </a:extLst>
            </p:cNvPr>
            <p:cNvGrpSpPr/>
            <p:nvPr/>
          </p:nvGrpSpPr>
          <p:grpSpPr>
            <a:xfrm>
              <a:off x="5161281" y="73781"/>
              <a:ext cx="6934200" cy="3368751"/>
              <a:chOff x="2590801" y="2672070"/>
              <a:chExt cx="6934200" cy="3368751"/>
            </a:xfrm>
            <a:solidFill>
              <a:schemeClr val="bg1"/>
            </a:solidFill>
          </p:grpSpPr>
          <p:sp>
            <p:nvSpPr>
              <p:cNvPr id="5" name="Oval 4">
                <a:extLst>
                  <a:ext uri="{FF2B5EF4-FFF2-40B4-BE49-F238E27FC236}">
                    <a16:creationId xmlns:a16="http://schemas.microsoft.com/office/drawing/2014/main" id="{F33A0E13-4996-116D-FFBB-C9C47C84D55C}"/>
                  </a:ext>
                </a:extLst>
              </p:cNvPr>
              <p:cNvSpPr/>
              <p:nvPr/>
            </p:nvSpPr>
            <p:spPr>
              <a:xfrm>
                <a:off x="5996855" y="2672070"/>
                <a:ext cx="688077" cy="688077"/>
              </a:xfrm>
              <a:prstGeom prst="ellipse">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6" name="Oval 5">
                <a:extLst>
                  <a:ext uri="{FF2B5EF4-FFF2-40B4-BE49-F238E27FC236}">
                    <a16:creationId xmlns:a16="http://schemas.microsoft.com/office/drawing/2014/main" id="{3C2A72B8-1FD3-516D-A021-E2075712D6CB}"/>
                  </a:ext>
                </a:extLst>
              </p:cNvPr>
              <p:cNvSpPr/>
              <p:nvPr/>
            </p:nvSpPr>
            <p:spPr>
              <a:xfrm>
                <a:off x="4191001" y="3682289"/>
                <a:ext cx="688077" cy="688077"/>
              </a:xfrm>
              <a:prstGeom prst="ellipse">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1.5</a:t>
                </a:r>
              </a:p>
            </p:txBody>
          </p:sp>
          <p:sp>
            <p:nvSpPr>
              <p:cNvPr id="7" name="Oval 6">
                <a:extLst>
                  <a:ext uri="{FF2B5EF4-FFF2-40B4-BE49-F238E27FC236}">
                    <a16:creationId xmlns:a16="http://schemas.microsoft.com/office/drawing/2014/main" id="{392D9E01-B220-E093-6B95-A68C0266A5BC}"/>
                  </a:ext>
                </a:extLst>
              </p:cNvPr>
              <p:cNvSpPr/>
              <p:nvPr/>
            </p:nvSpPr>
            <p:spPr>
              <a:xfrm>
                <a:off x="7858499" y="3653913"/>
                <a:ext cx="688077" cy="688077"/>
              </a:xfrm>
              <a:prstGeom prst="ellipse">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8" name="Oval 7">
                <a:extLst>
                  <a:ext uri="{FF2B5EF4-FFF2-40B4-BE49-F238E27FC236}">
                    <a16:creationId xmlns:a16="http://schemas.microsoft.com/office/drawing/2014/main" id="{31620859-F5B3-EB2D-7626-028B1D551DC8}"/>
                  </a:ext>
                </a:extLst>
              </p:cNvPr>
              <p:cNvSpPr/>
              <p:nvPr/>
            </p:nvSpPr>
            <p:spPr>
              <a:xfrm>
                <a:off x="3200401" y="4383504"/>
                <a:ext cx="688077" cy="688077"/>
              </a:xfrm>
              <a:prstGeom prst="ellipse">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9" name="Oval 8">
                <a:extLst>
                  <a:ext uri="{FF2B5EF4-FFF2-40B4-BE49-F238E27FC236}">
                    <a16:creationId xmlns:a16="http://schemas.microsoft.com/office/drawing/2014/main" id="{EDDB63C5-2978-A1A0-5B7C-21B3C85ED8F3}"/>
                  </a:ext>
                </a:extLst>
              </p:cNvPr>
              <p:cNvSpPr/>
              <p:nvPr/>
            </p:nvSpPr>
            <p:spPr>
              <a:xfrm>
                <a:off x="5211206" y="4425368"/>
                <a:ext cx="688077" cy="688077"/>
              </a:xfrm>
              <a:prstGeom prst="ellipse">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10" name="Oval 9">
                <a:extLst>
                  <a:ext uri="{FF2B5EF4-FFF2-40B4-BE49-F238E27FC236}">
                    <a16:creationId xmlns:a16="http://schemas.microsoft.com/office/drawing/2014/main" id="{9246EA45-DB59-3189-5133-E09D0AC67BEF}"/>
                  </a:ext>
                </a:extLst>
              </p:cNvPr>
              <p:cNvSpPr/>
              <p:nvPr/>
            </p:nvSpPr>
            <p:spPr>
              <a:xfrm>
                <a:off x="6934201" y="4341990"/>
                <a:ext cx="688077" cy="688077"/>
              </a:xfrm>
              <a:prstGeom prst="ellipse">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11" name="Oval 10">
                <a:extLst>
                  <a:ext uri="{FF2B5EF4-FFF2-40B4-BE49-F238E27FC236}">
                    <a16:creationId xmlns:a16="http://schemas.microsoft.com/office/drawing/2014/main" id="{9ACF96E3-806B-71A4-4206-D4D7C31A2F2D}"/>
                  </a:ext>
                </a:extLst>
              </p:cNvPr>
              <p:cNvSpPr/>
              <p:nvPr/>
            </p:nvSpPr>
            <p:spPr>
              <a:xfrm>
                <a:off x="8836924" y="4341990"/>
                <a:ext cx="688077" cy="688077"/>
              </a:xfrm>
              <a:prstGeom prst="ellipse">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12" name="Oval 11">
                <a:extLst>
                  <a:ext uri="{FF2B5EF4-FFF2-40B4-BE49-F238E27FC236}">
                    <a16:creationId xmlns:a16="http://schemas.microsoft.com/office/drawing/2014/main" id="{014F5CF9-E0BE-AD30-CAF0-6FB68446C0CD}"/>
                  </a:ext>
                </a:extLst>
              </p:cNvPr>
              <p:cNvSpPr/>
              <p:nvPr/>
            </p:nvSpPr>
            <p:spPr>
              <a:xfrm>
                <a:off x="2590801" y="5352744"/>
                <a:ext cx="688077" cy="688077"/>
              </a:xfrm>
              <a:prstGeom prst="ellipse">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13" name="Oval 12">
                <a:extLst>
                  <a:ext uri="{FF2B5EF4-FFF2-40B4-BE49-F238E27FC236}">
                    <a16:creationId xmlns:a16="http://schemas.microsoft.com/office/drawing/2014/main" id="{497C9AA5-DB9B-1AFC-012D-B3D8743427A8}"/>
                  </a:ext>
                </a:extLst>
              </p:cNvPr>
              <p:cNvSpPr/>
              <p:nvPr/>
            </p:nvSpPr>
            <p:spPr>
              <a:xfrm>
                <a:off x="3733801" y="5352744"/>
                <a:ext cx="688077" cy="688077"/>
              </a:xfrm>
              <a:prstGeom prst="ellipse">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a:t>
                </a:r>
              </a:p>
            </p:txBody>
          </p:sp>
          <p:cxnSp>
            <p:nvCxnSpPr>
              <p:cNvPr id="14" name="Straight Connector 13">
                <a:extLst>
                  <a:ext uri="{FF2B5EF4-FFF2-40B4-BE49-F238E27FC236}">
                    <a16:creationId xmlns:a16="http://schemas.microsoft.com/office/drawing/2014/main" id="{3F9925F6-573D-F6E3-2D20-9939C39C8CC4}"/>
                  </a:ext>
                </a:extLst>
              </p:cNvPr>
              <p:cNvCxnSpPr>
                <a:cxnSpLocks/>
                <a:stCxn id="5" idx="3"/>
                <a:endCxn id="6" idx="7"/>
              </p:cNvCxnSpPr>
              <p:nvPr/>
            </p:nvCxnSpPr>
            <p:spPr>
              <a:xfrm flipH="1">
                <a:off x="4778311" y="3259380"/>
                <a:ext cx="1319311" cy="523676"/>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9690E6CF-81A5-AEED-23C1-2A785442C5F3}"/>
                  </a:ext>
                </a:extLst>
              </p:cNvPr>
              <p:cNvCxnSpPr>
                <a:cxnSpLocks/>
                <a:stCxn id="5" idx="5"/>
                <a:endCxn id="7" idx="1"/>
              </p:cNvCxnSpPr>
              <p:nvPr/>
            </p:nvCxnSpPr>
            <p:spPr>
              <a:xfrm>
                <a:off x="6584165" y="3259380"/>
                <a:ext cx="1375101" cy="495300"/>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0918949D-E91F-514C-8942-A55A0B1C1B96}"/>
                  </a:ext>
                </a:extLst>
              </p:cNvPr>
              <p:cNvCxnSpPr>
                <a:stCxn id="9" idx="1"/>
                <a:endCxn id="6" idx="5"/>
              </p:cNvCxnSpPr>
              <p:nvPr/>
            </p:nvCxnSpPr>
            <p:spPr>
              <a:xfrm flipH="1" flipV="1">
                <a:off x="4778310" y="4269598"/>
                <a:ext cx="533662" cy="256536"/>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3AEC8F07-B67E-32B1-8194-36206CBAE1C1}"/>
                  </a:ext>
                </a:extLst>
              </p:cNvPr>
              <p:cNvCxnSpPr>
                <a:stCxn id="8" idx="7"/>
                <a:endCxn id="6" idx="3"/>
              </p:cNvCxnSpPr>
              <p:nvPr/>
            </p:nvCxnSpPr>
            <p:spPr>
              <a:xfrm flipV="1">
                <a:off x="3787711" y="4269598"/>
                <a:ext cx="504057" cy="214672"/>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ECB303E5-4C0F-E3C1-6C40-D63CB81862DA}"/>
                  </a:ext>
                </a:extLst>
              </p:cNvPr>
              <p:cNvCxnSpPr>
                <a:stCxn id="13" idx="0"/>
                <a:endCxn id="8" idx="5"/>
              </p:cNvCxnSpPr>
              <p:nvPr/>
            </p:nvCxnSpPr>
            <p:spPr>
              <a:xfrm flipH="1" flipV="1">
                <a:off x="3787711" y="4970813"/>
                <a:ext cx="290129" cy="381930"/>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2F69F648-6942-5A93-5A23-499C2EB8C9E2}"/>
                  </a:ext>
                </a:extLst>
              </p:cNvPr>
              <p:cNvCxnSpPr>
                <a:stCxn id="12" idx="0"/>
                <a:endCxn id="8" idx="3"/>
              </p:cNvCxnSpPr>
              <p:nvPr/>
            </p:nvCxnSpPr>
            <p:spPr>
              <a:xfrm flipV="1">
                <a:off x="2934839" y="4970813"/>
                <a:ext cx="366328" cy="381930"/>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543FFFFF-CF30-2E14-4603-BCEC3E407EB6}"/>
                  </a:ext>
                </a:extLst>
              </p:cNvPr>
              <p:cNvCxnSpPr>
                <a:stCxn id="10" idx="7"/>
                <a:endCxn id="7" idx="3"/>
              </p:cNvCxnSpPr>
              <p:nvPr/>
            </p:nvCxnSpPr>
            <p:spPr>
              <a:xfrm flipV="1">
                <a:off x="7521511" y="4241222"/>
                <a:ext cx="437755" cy="201534"/>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5DD9F7F4-FC58-103B-8500-D893D1F68143}"/>
                  </a:ext>
                </a:extLst>
              </p:cNvPr>
              <p:cNvCxnSpPr>
                <a:stCxn id="11" idx="1"/>
                <a:endCxn id="7" idx="5"/>
              </p:cNvCxnSpPr>
              <p:nvPr/>
            </p:nvCxnSpPr>
            <p:spPr>
              <a:xfrm flipH="1" flipV="1">
                <a:off x="8445808" y="4241222"/>
                <a:ext cx="491882" cy="201534"/>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24" name="Oval 23">
              <a:extLst>
                <a:ext uri="{FF2B5EF4-FFF2-40B4-BE49-F238E27FC236}">
                  <a16:creationId xmlns:a16="http://schemas.microsoft.com/office/drawing/2014/main" id="{BDE845EB-2C74-AFA6-612A-2B277A969486}"/>
                </a:ext>
              </a:extLst>
            </p:cNvPr>
            <p:cNvSpPr/>
            <p:nvPr/>
          </p:nvSpPr>
          <p:spPr>
            <a:xfrm>
              <a:off x="7332895" y="2754017"/>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cxnSp>
          <p:nvCxnSpPr>
            <p:cNvPr id="22" name="Straight Connector 21">
              <a:extLst>
                <a:ext uri="{FF2B5EF4-FFF2-40B4-BE49-F238E27FC236}">
                  <a16:creationId xmlns:a16="http://schemas.microsoft.com/office/drawing/2014/main" id="{808EB998-8774-511E-D2B0-C8A8B01CF9C0}"/>
                </a:ext>
              </a:extLst>
            </p:cNvPr>
            <p:cNvCxnSpPr>
              <a:cxnSpLocks/>
              <a:stCxn id="24" idx="0"/>
              <a:endCxn id="9" idx="3"/>
            </p:cNvCxnSpPr>
            <p:nvPr/>
          </p:nvCxnSpPr>
          <p:spPr>
            <a:xfrm flipV="1">
              <a:off x="7676934" y="2414389"/>
              <a:ext cx="205519" cy="33962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3" name="Content Placeholder 2">
            <a:extLst>
              <a:ext uri="{FF2B5EF4-FFF2-40B4-BE49-F238E27FC236}">
                <a16:creationId xmlns:a16="http://schemas.microsoft.com/office/drawing/2014/main" id="{28CF168B-C22F-1B48-82E7-F81CD4DCA565}"/>
              </a:ext>
            </a:extLst>
          </p:cNvPr>
          <p:cNvSpPr>
            <a:spLocks noGrp="1"/>
          </p:cNvSpPr>
          <p:nvPr>
            <p:ph idx="1"/>
          </p:nvPr>
        </p:nvSpPr>
        <p:spPr>
          <a:xfrm>
            <a:off x="156079" y="3722818"/>
            <a:ext cx="10515600" cy="4351338"/>
          </a:xfrm>
        </p:spPr>
        <p:txBody>
          <a:bodyPr/>
          <a:lstStyle/>
          <a:p>
            <a:pPr marL="0" indent="0">
              <a:buNone/>
            </a:pPr>
            <a:r>
              <a:rPr lang="en-US" dirty="0"/>
              <a:t>insert(item, priority){</a:t>
            </a:r>
          </a:p>
          <a:p>
            <a:pPr marL="0" indent="0">
              <a:buNone/>
            </a:pPr>
            <a:r>
              <a:rPr lang="en-US" dirty="0"/>
              <a:t>    put item in the “next open” spot (keep tree complete)</a:t>
            </a:r>
          </a:p>
          <a:p>
            <a:pPr marL="0" indent="0">
              <a:buNone/>
            </a:pPr>
            <a:r>
              <a:rPr lang="en-US" dirty="0"/>
              <a:t>    while (priority &lt; parent’s priority){</a:t>
            </a:r>
          </a:p>
          <a:p>
            <a:pPr marL="0" indent="0">
              <a:buNone/>
            </a:pPr>
            <a:r>
              <a:rPr lang="en-US" dirty="0"/>
              <a:t>        swap item with parent</a:t>
            </a:r>
          </a:p>
          <a:p>
            <a:pPr marL="0" indent="0">
              <a:buNone/>
            </a:pPr>
            <a:r>
              <a:rPr lang="en-US" dirty="0"/>
              <a:t>    }</a:t>
            </a:r>
          </a:p>
          <a:p>
            <a:pPr marL="0" indent="0">
              <a:buNone/>
            </a:pPr>
            <a:r>
              <a:rPr lang="en-US" dirty="0"/>
              <a:t>}</a:t>
            </a:r>
          </a:p>
        </p:txBody>
      </p:sp>
    </p:spTree>
    <p:extLst>
      <p:ext uri="{BB962C8B-B14F-4D97-AF65-F5344CB8AC3E}">
        <p14:creationId xmlns:p14="http://schemas.microsoft.com/office/powerpoint/2010/main" val="194817388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6B7BEE-83FC-6A92-8C72-922983C3E767}"/>
              </a:ext>
            </a:extLst>
          </p:cNvPr>
          <p:cNvSpPr>
            <a:spLocks noGrp="1"/>
          </p:cNvSpPr>
          <p:nvPr>
            <p:ph type="title"/>
          </p:nvPr>
        </p:nvSpPr>
        <p:spPr/>
        <p:txBody>
          <a:bodyPr/>
          <a:lstStyle/>
          <a:p>
            <a:r>
              <a:rPr lang="en-US" dirty="0"/>
              <a:t>Heap extract Example</a:t>
            </a:r>
          </a:p>
        </p:txBody>
      </p:sp>
      <p:grpSp>
        <p:nvGrpSpPr>
          <p:cNvPr id="23" name="Group 22" descr="Next we're going to show an example of an extract operation, which should remove the smallest value from the heap. The smallest value of this heap is 1, so that will be the value removed and returned by the operation.&#10;&#10;We begin with the heap that resulted from our insert operation, so this tree has 10 nodes and therefore 4 levels. The last level has 3 nodes in it. The nodes are as follows:&#10;&#10;- The root node is 1&#10;- the left child of 1 is 1.5, the right child is 2&#10;- the left child of 1.5 is 4, the right child is 3&#10;- the left child of 2 is 5, the right child is 6&#10;- the left child of 4 is 5, the right child is 9&#10;- the left child of 3 is 7, it has no right child&#10;- nodes 5, 6, 5, 9 and 7 are all leaves">
            <a:extLst>
              <a:ext uri="{FF2B5EF4-FFF2-40B4-BE49-F238E27FC236}">
                <a16:creationId xmlns:a16="http://schemas.microsoft.com/office/drawing/2014/main" id="{1256EEAD-E84F-5EBC-8FC4-90AC513EEF9D}"/>
              </a:ext>
            </a:extLst>
          </p:cNvPr>
          <p:cNvGrpSpPr/>
          <p:nvPr/>
        </p:nvGrpSpPr>
        <p:grpSpPr>
          <a:xfrm>
            <a:off x="5161281" y="73781"/>
            <a:ext cx="6934200" cy="3368751"/>
            <a:chOff x="5161281" y="73781"/>
            <a:chExt cx="6934200" cy="3368751"/>
          </a:xfrm>
        </p:grpSpPr>
        <p:grpSp>
          <p:nvGrpSpPr>
            <p:cNvPr id="4" name="Group 3" descr="Next we're going to show an example of an extract operation, which should remove the smallest value from the heap. The smallest value of this heap is 1, so that will be the value removed and returned by the operation.&#10;&#10;We begin with the heap that resulted from our insert operation, so this tree has 10 nodes and therefore 4 levels. The last level has 3 nodes in it. The nodes are as follows:&#10;&#10;- The root node is 1&#10;- the left child of 1 is 1.5, the right child is 2&#10;- the left child of 1.5 is 4, the right child is 3&#10;- the left child of 2 is 5, the right child is 6&#10;- the left child of 4 is 5, the right child is 9&#10;- the left child of 3 is 7, it has no right child&#10;- nodes 5, 6, 5, 9 and 7 are all leaves">
              <a:extLst>
                <a:ext uri="{FF2B5EF4-FFF2-40B4-BE49-F238E27FC236}">
                  <a16:creationId xmlns:a16="http://schemas.microsoft.com/office/drawing/2014/main" id="{F5FEEAE4-5947-43BB-33F3-0E2F7A27D58C}"/>
                </a:ext>
              </a:extLst>
            </p:cNvPr>
            <p:cNvGrpSpPr/>
            <p:nvPr/>
          </p:nvGrpSpPr>
          <p:grpSpPr>
            <a:xfrm>
              <a:off x="5161281" y="73781"/>
              <a:ext cx="6934200" cy="3368751"/>
              <a:chOff x="2590801" y="2672070"/>
              <a:chExt cx="6934200" cy="3368751"/>
            </a:xfrm>
            <a:solidFill>
              <a:schemeClr val="bg1"/>
            </a:solidFill>
          </p:grpSpPr>
          <p:sp>
            <p:nvSpPr>
              <p:cNvPr id="5" name="Oval 4">
                <a:extLst>
                  <a:ext uri="{FF2B5EF4-FFF2-40B4-BE49-F238E27FC236}">
                    <a16:creationId xmlns:a16="http://schemas.microsoft.com/office/drawing/2014/main" id="{F33A0E13-4996-116D-FFBB-C9C47C84D55C}"/>
                  </a:ext>
                </a:extLst>
              </p:cNvPr>
              <p:cNvSpPr/>
              <p:nvPr/>
            </p:nvSpPr>
            <p:spPr>
              <a:xfrm>
                <a:off x="5996855" y="2672070"/>
                <a:ext cx="688077" cy="688077"/>
              </a:xfrm>
              <a:prstGeom prst="ellipse">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6" name="Oval 5">
                <a:extLst>
                  <a:ext uri="{FF2B5EF4-FFF2-40B4-BE49-F238E27FC236}">
                    <a16:creationId xmlns:a16="http://schemas.microsoft.com/office/drawing/2014/main" id="{3C2A72B8-1FD3-516D-A021-E2075712D6CB}"/>
                  </a:ext>
                </a:extLst>
              </p:cNvPr>
              <p:cNvSpPr/>
              <p:nvPr/>
            </p:nvSpPr>
            <p:spPr>
              <a:xfrm>
                <a:off x="4191001" y="3682289"/>
                <a:ext cx="688077" cy="688077"/>
              </a:xfrm>
              <a:prstGeom prst="ellipse">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1.5</a:t>
                </a:r>
              </a:p>
            </p:txBody>
          </p:sp>
          <p:sp>
            <p:nvSpPr>
              <p:cNvPr id="7" name="Oval 6">
                <a:extLst>
                  <a:ext uri="{FF2B5EF4-FFF2-40B4-BE49-F238E27FC236}">
                    <a16:creationId xmlns:a16="http://schemas.microsoft.com/office/drawing/2014/main" id="{392D9E01-B220-E093-6B95-A68C0266A5BC}"/>
                  </a:ext>
                </a:extLst>
              </p:cNvPr>
              <p:cNvSpPr/>
              <p:nvPr/>
            </p:nvSpPr>
            <p:spPr>
              <a:xfrm>
                <a:off x="7858499" y="3653913"/>
                <a:ext cx="688077" cy="688077"/>
              </a:xfrm>
              <a:prstGeom prst="ellipse">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8" name="Oval 7">
                <a:extLst>
                  <a:ext uri="{FF2B5EF4-FFF2-40B4-BE49-F238E27FC236}">
                    <a16:creationId xmlns:a16="http://schemas.microsoft.com/office/drawing/2014/main" id="{31620859-F5B3-EB2D-7626-028B1D551DC8}"/>
                  </a:ext>
                </a:extLst>
              </p:cNvPr>
              <p:cNvSpPr/>
              <p:nvPr/>
            </p:nvSpPr>
            <p:spPr>
              <a:xfrm>
                <a:off x="3200401" y="4383504"/>
                <a:ext cx="688077" cy="688077"/>
              </a:xfrm>
              <a:prstGeom prst="ellipse">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9" name="Oval 8">
                <a:extLst>
                  <a:ext uri="{FF2B5EF4-FFF2-40B4-BE49-F238E27FC236}">
                    <a16:creationId xmlns:a16="http://schemas.microsoft.com/office/drawing/2014/main" id="{EDDB63C5-2978-A1A0-5B7C-21B3C85ED8F3}"/>
                  </a:ext>
                </a:extLst>
              </p:cNvPr>
              <p:cNvSpPr/>
              <p:nvPr/>
            </p:nvSpPr>
            <p:spPr>
              <a:xfrm>
                <a:off x="5211206" y="4425368"/>
                <a:ext cx="688077" cy="688077"/>
              </a:xfrm>
              <a:prstGeom prst="ellipse">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10" name="Oval 9">
                <a:extLst>
                  <a:ext uri="{FF2B5EF4-FFF2-40B4-BE49-F238E27FC236}">
                    <a16:creationId xmlns:a16="http://schemas.microsoft.com/office/drawing/2014/main" id="{9246EA45-DB59-3189-5133-E09D0AC67BEF}"/>
                  </a:ext>
                </a:extLst>
              </p:cNvPr>
              <p:cNvSpPr/>
              <p:nvPr/>
            </p:nvSpPr>
            <p:spPr>
              <a:xfrm>
                <a:off x="6934201" y="4341990"/>
                <a:ext cx="688077" cy="688077"/>
              </a:xfrm>
              <a:prstGeom prst="ellipse">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11" name="Oval 10">
                <a:extLst>
                  <a:ext uri="{FF2B5EF4-FFF2-40B4-BE49-F238E27FC236}">
                    <a16:creationId xmlns:a16="http://schemas.microsoft.com/office/drawing/2014/main" id="{9ACF96E3-806B-71A4-4206-D4D7C31A2F2D}"/>
                  </a:ext>
                </a:extLst>
              </p:cNvPr>
              <p:cNvSpPr/>
              <p:nvPr/>
            </p:nvSpPr>
            <p:spPr>
              <a:xfrm>
                <a:off x="8836924" y="4341990"/>
                <a:ext cx="688077" cy="688077"/>
              </a:xfrm>
              <a:prstGeom prst="ellipse">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12" name="Oval 11">
                <a:extLst>
                  <a:ext uri="{FF2B5EF4-FFF2-40B4-BE49-F238E27FC236}">
                    <a16:creationId xmlns:a16="http://schemas.microsoft.com/office/drawing/2014/main" id="{014F5CF9-E0BE-AD30-CAF0-6FB68446C0CD}"/>
                  </a:ext>
                </a:extLst>
              </p:cNvPr>
              <p:cNvSpPr/>
              <p:nvPr/>
            </p:nvSpPr>
            <p:spPr>
              <a:xfrm>
                <a:off x="2590801" y="5352744"/>
                <a:ext cx="688077" cy="688077"/>
              </a:xfrm>
              <a:prstGeom prst="ellipse">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13" name="Oval 12">
                <a:extLst>
                  <a:ext uri="{FF2B5EF4-FFF2-40B4-BE49-F238E27FC236}">
                    <a16:creationId xmlns:a16="http://schemas.microsoft.com/office/drawing/2014/main" id="{497C9AA5-DB9B-1AFC-012D-B3D8743427A8}"/>
                  </a:ext>
                </a:extLst>
              </p:cNvPr>
              <p:cNvSpPr/>
              <p:nvPr/>
            </p:nvSpPr>
            <p:spPr>
              <a:xfrm>
                <a:off x="3733801" y="5352744"/>
                <a:ext cx="688077" cy="688077"/>
              </a:xfrm>
              <a:prstGeom prst="ellipse">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a:t>
                </a:r>
              </a:p>
            </p:txBody>
          </p:sp>
          <p:cxnSp>
            <p:nvCxnSpPr>
              <p:cNvPr id="14" name="Straight Connector 13">
                <a:extLst>
                  <a:ext uri="{FF2B5EF4-FFF2-40B4-BE49-F238E27FC236}">
                    <a16:creationId xmlns:a16="http://schemas.microsoft.com/office/drawing/2014/main" id="{3F9925F6-573D-F6E3-2D20-9939C39C8CC4}"/>
                  </a:ext>
                </a:extLst>
              </p:cNvPr>
              <p:cNvCxnSpPr>
                <a:cxnSpLocks/>
                <a:stCxn id="5" idx="3"/>
                <a:endCxn id="6" idx="7"/>
              </p:cNvCxnSpPr>
              <p:nvPr/>
            </p:nvCxnSpPr>
            <p:spPr>
              <a:xfrm flipH="1">
                <a:off x="4778311" y="3259380"/>
                <a:ext cx="1319311" cy="523676"/>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9690E6CF-81A5-AEED-23C1-2A785442C5F3}"/>
                  </a:ext>
                </a:extLst>
              </p:cNvPr>
              <p:cNvCxnSpPr>
                <a:cxnSpLocks/>
                <a:stCxn id="5" idx="5"/>
                <a:endCxn id="7" idx="1"/>
              </p:cNvCxnSpPr>
              <p:nvPr/>
            </p:nvCxnSpPr>
            <p:spPr>
              <a:xfrm>
                <a:off x="6584165" y="3259380"/>
                <a:ext cx="1375101" cy="495300"/>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0918949D-E91F-514C-8942-A55A0B1C1B96}"/>
                  </a:ext>
                </a:extLst>
              </p:cNvPr>
              <p:cNvCxnSpPr>
                <a:stCxn id="9" idx="1"/>
                <a:endCxn id="6" idx="5"/>
              </p:cNvCxnSpPr>
              <p:nvPr/>
            </p:nvCxnSpPr>
            <p:spPr>
              <a:xfrm flipH="1" flipV="1">
                <a:off x="4778310" y="4269598"/>
                <a:ext cx="533662" cy="256536"/>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3AEC8F07-B67E-32B1-8194-36206CBAE1C1}"/>
                  </a:ext>
                </a:extLst>
              </p:cNvPr>
              <p:cNvCxnSpPr>
                <a:stCxn id="8" idx="7"/>
                <a:endCxn id="6" idx="3"/>
              </p:cNvCxnSpPr>
              <p:nvPr/>
            </p:nvCxnSpPr>
            <p:spPr>
              <a:xfrm flipV="1">
                <a:off x="3787711" y="4269598"/>
                <a:ext cx="504057" cy="214672"/>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ECB303E5-4C0F-E3C1-6C40-D63CB81862DA}"/>
                  </a:ext>
                </a:extLst>
              </p:cNvPr>
              <p:cNvCxnSpPr>
                <a:stCxn id="13" idx="0"/>
                <a:endCxn id="8" idx="5"/>
              </p:cNvCxnSpPr>
              <p:nvPr/>
            </p:nvCxnSpPr>
            <p:spPr>
              <a:xfrm flipH="1" flipV="1">
                <a:off x="3787711" y="4970813"/>
                <a:ext cx="290129" cy="381930"/>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2F69F648-6942-5A93-5A23-499C2EB8C9E2}"/>
                  </a:ext>
                </a:extLst>
              </p:cNvPr>
              <p:cNvCxnSpPr>
                <a:stCxn id="12" idx="0"/>
                <a:endCxn id="8" idx="3"/>
              </p:cNvCxnSpPr>
              <p:nvPr/>
            </p:nvCxnSpPr>
            <p:spPr>
              <a:xfrm flipV="1">
                <a:off x="2934839" y="4970813"/>
                <a:ext cx="366328" cy="381930"/>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543FFFFF-CF30-2E14-4603-BCEC3E407EB6}"/>
                  </a:ext>
                </a:extLst>
              </p:cNvPr>
              <p:cNvCxnSpPr>
                <a:stCxn id="10" idx="7"/>
                <a:endCxn id="7" idx="3"/>
              </p:cNvCxnSpPr>
              <p:nvPr/>
            </p:nvCxnSpPr>
            <p:spPr>
              <a:xfrm flipV="1">
                <a:off x="7521511" y="4241222"/>
                <a:ext cx="437755" cy="201534"/>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5DD9F7F4-FC58-103B-8500-D893D1F68143}"/>
                  </a:ext>
                </a:extLst>
              </p:cNvPr>
              <p:cNvCxnSpPr>
                <a:stCxn id="11" idx="1"/>
                <a:endCxn id="7" idx="5"/>
              </p:cNvCxnSpPr>
              <p:nvPr/>
            </p:nvCxnSpPr>
            <p:spPr>
              <a:xfrm flipH="1" flipV="1">
                <a:off x="8445808" y="4241222"/>
                <a:ext cx="491882" cy="201534"/>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24" name="Oval 23">
              <a:extLst>
                <a:ext uri="{FF2B5EF4-FFF2-40B4-BE49-F238E27FC236}">
                  <a16:creationId xmlns:a16="http://schemas.microsoft.com/office/drawing/2014/main" id="{BDE845EB-2C74-AFA6-612A-2B277A969486}"/>
                </a:ext>
              </a:extLst>
            </p:cNvPr>
            <p:cNvSpPr/>
            <p:nvPr/>
          </p:nvSpPr>
          <p:spPr>
            <a:xfrm>
              <a:off x="7332895" y="2754017"/>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cxnSp>
          <p:nvCxnSpPr>
            <p:cNvPr id="22" name="Straight Connector 21">
              <a:extLst>
                <a:ext uri="{FF2B5EF4-FFF2-40B4-BE49-F238E27FC236}">
                  <a16:creationId xmlns:a16="http://schemas.microsoft.com/office/drawing/2014/main" id="{808EB998-8774-511E-D2B0-C8A8B01CF9C0}"/>
                </a:ext>
              </a:extLst>
            </p:cNvPr>
            <p:cNvCxnSpPr>
              <a:cxnSpLocks/>
              <a:stCxn id="24" idx="0"/>
              <a:endCxn id="9" idx="3"/>
            </p:cNvCxnSpPr>
            <p:nvPr/>
          </p:nvCxnSpPr>
          <p:spPr>
            <a:xfrm flipV="1">
              <a:off x="7676934" y="2414389"/>
              <a:ext cx="205519" cy="33962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28CF168B-C22F-1B48-82E7-F81CD4DCA565}"/>
                  </a:ext>
                </a:extLst>
              </p:cNvPr>
              <p:cNvSpPr>
                <a:spLocks noGrp="1"/>
              </p:cNvSpPr>
              <p:nvPr>
                <p:ph idx="1"/>
              </p:nvPr>
            </p:nvSpPr>
            <p:spPr>
              <a:xfrm>
                <a:off x="156079" y="2452818"/>
                <a:ext cx="10515600" cy="4351338"/>
              </a:xfrm>
            </p:spPr>
            <p:txBody>
              <a:bodyPr>
                <a:normAutofit lnSpcReduction="10000"/>
              </a:bodyPr>
              <a:lstStyle/>
              <a:p>
                <a:pPr marL="0" indent="0">
                  <a:buNone/>
                </a:pPr>
                <a:r>
                  <a:rPr lang="en-US" dirty="0"/>
                  <a:t>extract(){</a:t>
                </a:r>
              </a:p>
              <a:p>
                <a:pPr marL="0" indent="0">
                  <a:buNone/>
                </a:pPr>
                <a:r>
                  <a:rPr lang="en-US" dirty="0"/>
                  <a:t>    min = root</a:t>
                </a:r>
              </a:p>
              <a:p>
                <a:pPr marL="0" indent="0">
                  <a:buNone/>
                </a:pPr>
                <a:r>
                  <a:rPr lang="en-US" dirty="0"/>
                  <a:t>    </a:t>
                </a:r>
                <a:r>
                  <a:rPr lang="en-US" dirty="0" err="1"/>
                  <a:t>curr</a:t>
                </a:r>
                <a:r>
                  <a:rPr lang="en-US" dirty="0"/>
                  <a:t> = bottom-right item</a:t>
                </a:r>
              </a:p>
              <a:p>
                <a:pPr marL="0" indent="0">
                  <a:buNone/>
                </a:pPr>
                <a:r>
                  <a:rPr lang="en-US" dirty="0"/>
                  <a:t>    move </a:t>
                </a:r>
                <a:r>
                  <a:rPr lang="en-US" dirty="0" err="1"/>
                  <a:t>curr</a:t>
                </a:r>
                <a:r>
                  <a:rPr lang="en-US" dirty="0"/>
                  <a:t> to the root</a:t>
                </a:r>
              </a:p>
              <a:p>
                <a:pPr marL="0" indent="0">
                  <a:buNone/>
                </a:pPr>
                <a:r>
                  <a:rPr lang="en-US" dirty="0"/>
                  <a:t>    while(</a:t>
                </a:r>
                <a:r>
                  <a:rPr lang="en-US" dirty="0" err="1"/>
                  <a:t>curr</a:t>
                </a:r>
                <a:r>
                  <a:rPr lang="en-US" dirty="0"/>
                  <a:t> </a:t>
                </a:r>
                <a14:m>
                  <m:oMath xmlns:m="http://schemas.openxmlformats.org/officeDocument/2006/math">
                    <m:r>
                      <a:rPr lang="en-US" b="0" i="1" smtClean="0">
                        <a:latin typeface="Cambria Math" panose="02040503050406030204" pitchFamily="18" charset="0"/>
                      </a:rPr>
                      <m:t>&gt;</m:t>
                    </m:r>
                  </m:oMath>
                </a14:m>
                <a:r>
                  <a:rPr lang="en-US" dirty="0"/>
                  <a:t> </a:t>
                </a:r>
                <a:r>
                  <a:rPr lang="en-US" dirty="0" err="1"/>
                  <a:t>curr.left</a:t>
                </a:r>
                <a:r>
                  <a:rPr lang="en-US" dirty="0"/>
                  <a:t> || </a:t>
                </a:r>
                <a:r>
                  <a:rPr lang="en-US" dirty="0" err="1"/>
                  <a:t>curr</a:t>
                </a:r>
                <a:r>
                  <a:rPr lang="en-US" dirty="0"/>
                  <a:t> &gt; </a:t>
                </a:r>
                <a:r>
                  <a:rPr lang="en-US" dirty="0" err="1"/>
                  <a:t>curr.right</a:t>
                </a:r>
                <a:r>
                  <a:rPr lang="en-US" dirty="0"/>
                  <a:t>){</a:t>
                </a:r>
              </a:p>
              <a:p>
                <a:pPr marL="0" indent="0">
                  <a:buNone/>
                </a:pPr>
                <a:r>
                  <a:rPr lang="en-US" dirty="0"/>
                  <a:t>        swap </a:t>
                </a:r>
                <a:r>
                  <a:rPr lang="en-US" dirty="0" err="1"/>
                  <a:t>curr</a:t>
                </a:r>
                <a:r>
                  <a:rPr lang="en-US" dirty="0"/>
                  <a:t> with its smallest child</a:t>
                </a:r>
              </a:p>
              <a:p>
                <a:pPr marL="0" indent="0">
                  <a:buNone/>
                </a:pPr>
                <a:r>
                  <a:rPr lang="en-US" dirty="0"/>
                  <a:t>    }</a:t>
                </a:r>
              </a:p>
              <a:p>
                <a:pPr marL="0" indent="0">
                  <a:buNone/>
                </a:pPr>
                <a:r>
                  <a:rPr lang="en-US" dirty="0"/>
                  <a:t>    return min</a:t>
                </a:r>
              </a:p>
              <a:p>
                <a:pPr marL="0" indent="0">
                  <a:buNone/>
                </a:pPr>
                <a:r>
                  <a:rPr lang="en-US" dirty="0"/>
                  <a:t>}</a:t>
                </a:r>
              </a:p>
            </p:txBody>
          </p:sp>
        </mc:Choice>
        <mc:Fallback xmlns="">
          <p:sp>
            <p:nvSpPr>
              <p:cNvPr id="3" name="Content Placeholder 2">
                <a:extLst>
                  <a:ext uri="{FF2B5EF4-FFF2-40B4-BE49-F238E27FC236}">
                    <a16:creationId xmlns:a16="http://schemas.microsoft.com/office/drawing/2014/main" id="{28CF168B-C22F-1B48-82E7-F81CD4DCA565}"/>
                  </a:ext>
                </a:extLst>
              </p:cNvPr>
              <p:cNvSpPr>
                <a:spLocks noGrp="1" noRot="1" noChangeAspect="1" noMove="1" noResize="1" noEditPoints="1" noAdjustHandles="1" noChangeArrowheads="1" noChangeShapeType="1" noTextEdit="1"/>
              </p:cNvSpPr>
              <p:nvPr>
                <p:ph idx="1"/>
              </p:nvPr>
            </p:nvSpPr>
            <p:spPr>
              <a:xfrm>
                <a:off x="156079" y="2452818"/>
                <a:ext cx="10515600" cy="4351338"/>
              </a:xfrm>
              <a:blipFill>
                <a:blip r:embed="rId2"/>
                <a:stretch>
                  <a:fillRect l="-1217" t="-3081" b="-280"/>
                </a:stretch>
              </a:blipFill>
            </p:spPr>
            <p:txBody>
              <a:bodyPr/>
              <a:lstStyle/>
              <a:p>
                <a:r>
                  <a:rPr lang="en-US">
                    <a:noFill/>
                  </a:rPr>
                  <a:t> </a:t>
                </a:r>
              </a:p>
            </p:txBody>
          </p:sp>
        </mc:Fallback>
      </mc:AlternateContent>
      <mc:AlternateContent xmlns:mc="http://schemas.openxmlformats.org/markup-compatibility/2006">
        <mc:Choice xmlns:p14="http://schemas.microsoft.com/office/powerpoint/2010/main" Requires="p14">
          <p:contentPart p14:bwMode="auto" r:id="rId3">
            <p14:nvContentPartPr>
              <p14:cNvPr id="25" name="Ink 24">
                <a:extLst>
                  <a:ext uri="{FF2B5EF4-FFF2-40B4-BE49-F238E27FC236}">
                    <a16:creationId xmlns:a16="http://schemas.microsoft.com/office/drawing/2014/main" id="{B528EB1A-7A07-6C25-AFEA-5664ACC1743E}"/>
                  </a:ext>
                </a:extLst>
              </p14:cNvPr>
              <p14:cNvContentPartPr/>
              <p14:nvPr/>
            </p14:nvContentPartPr>
            <p14:xfrm>
              <a:off x="6916320" y="122400"/>
              <a:ext cx="2694960" cy="3637440"/>
            </p14:xfrm>
          </p:contentPart>
        </mc:Choice>
        <mc:Fallback>
          <p:pic>
            <p:nvPicPr>
              <p:cNvPr id="25" name="Ink 24">
                <a:extLst>
                  <a:ext uri="{FF2B5EF4-FFF2-40B4-BE49-F238E27FC236}">
                    <a16:creationId xmlns:a16="http://schemas.microsoft.com/office/drawing/2014/main" id="{B528EB1A-7A07-6C25-AFEA-5664ACC1743E}"/>
                  </a:ext>
                </a:extLst>
              </p:cNvPr>
              <p:cNvPicPr/>
              <p:nvPr/>
            </p:nvPicPr>
            <p:blipFill>
              <a:blip r:embed="rId4"/>
              <a:stretch>
                <a:fillRect/>
              </a:stretch>
            </p:blipFill>
            <p:spPr>
              <a:xfrm>
                <a:off x="6906960" y="113040"/>
                <a:ext cx="2713680" cy="3656160"/>
              </a:xfrm>
              <a:prstGeom prst="rect">
                <a:avLst/>
              </a:prstGeom>
            </p:spPr>
          </p:pic>
        </mc:Fallback>
      </mc:AlternateContent>
    </p:spTree>
    <p:extLst>
      <p:ext uri="{BB962C8B-B14F-4D97-AF65-F5344CB8AC3E}">
        <p14:creationId xmlns:p14="http://schemas.microsoft.com/office/powerpoint/2010/main" val="179562807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6B7BEE-83FC-6A92-8C72-922983C3E767}"/>
              </a:ext>
            </a:extLst>
          </p:cNvPr>
          <p:cNvSpPr>
            <a:spLocks noGrp="1"/>
          </p:cNvSpPr>
          <p:nvPr>
            <p:ph type="title"/>
          </p:nvPr>
        </p:nvSpPr>
        <p:spPr/>
        <p:txBody>
          <a:bodyPr/>
          <a:lstStyle/>
          <a:p>
            <a:r>
              <a:rPr lang="en-US" dirty="0"/>
              <a:t>Heap extract (Move Node)</a:t>
            </a:r>
          </a:p>
        </p:txBody>
      </p:sp>
      <p:grpSp>
        <p:nvGrpSpPr>
          <p:cNvPr id="23" name="Group 22" descr="While the value 1 should be removed, the position of the tree that should be removed is the bottom-right.&#10;&#10;To get the right combination of position and value removed, we replace the root of the tree (which had value 1) with the last value in the heap (the third value on the last level), making 7 the new root. ">
            <a:extLst>
              <a:ext uri="{FF2B5EF4-FFF2-40B4-BE49-F238E27FC236}">
                <a16:creationId xmlns:a16="http://schemas.microsoft.com/office/drawing/2014/main" id="{1EA56D9E-28E0-DBDF-951C-F8D6B348A687}"/>
              </a:ext>
            </a:extLst>
          </p:cNvPr>
          <p:cNvGrpSpPr/>
          <p:nvPr/>
        </p:nvGrpSpPr>
        <p:grpSpPr>
          <a:xfrm>
            <a:off x="5161281" y="73781"/>
            <a:ext cx="6934200" cy="3368751"/>
            <a:chOff x="5161281" y="73781"/>
            <a:chExt cx="6934200" cy="3368751"/>
          </a:xfrm>
        </p:grpSpPr>
        <p:grpSp>
          <p:nvGrpSpPr>
            <p:cNvPr id="4" name="Group 3" descr="While the value 1 should be removed, the position of the tree that should be removed is the bottom-right.&#10;&#10;To get the right combination of position and value removed, we replace the root of the tree (which had value 1) with the last value in the heap (the third value on the last level), making 7 the new root. ">
              <a:extLst>
                <a:ext uri="{FF2B5EF4-FFF2-40B4-BE49-F238E27FC236}">
                  <a16:creationId xmlns:a16="http://schemas.microsoft.com/office/drawing/2014/main" id="{F5FEEAE4-5947-43BB-33F3-0E2F7A27D58C}"/>
                </a:ext>
              </a:extLst>
            </p:cNvPr>
            <p:cNvGrpSpPr/>
            <p:nvPr/>
          </p:nvGrpSpPr>
          <p:grpSpPr>
            <a:xfrm>
              <a:off x="5161281" y="73781"/>
              <a:ext cx="6934200" cy="3368751"/>
              <a:chOff x="2590801" y="2672070"/>
              <a:chExt cx="6934200" cy="3368751"/>
            </a:xfrm>
            <a:solidFill>
              <a:schemeClr val="bg1"/>
            </a:solidFill>
          </p:grpSpPr>
          <p:sp>
            <p:nvSpPr>
              <p:cNvPr id="5" name="Oval 4">
                <a:extLst>
                  <a:ext uri="{FF2B5EF4-FFF2-40B4-BE49-F238E27FC236}">
                    <a16:creationId xmlns:a16="http://schemas.microsoft.com/office/drawing/2014/main" id="{F33A0E13-4996-116D-FFBB-C9C47C84D55C}"/>
                  </a:ext>
                </a:extLst>
              </p:cNvPr>
              <p:cNvSpPr/>
              <p:nvPr/>
            </p:nvSpPr>
            <p:spPr>
              <a:xfrm>
                <a:off x="5996855" y="2672070"/>
                <a:ext cx="688077" cy="688077"/>
              </a:xfrm>
              <a:prstGeom prst="ellipse">
                <a:avLst/>
              </a:prstGeom>
              <a:grp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7</a:t>
                </a:r>
              </a:p>
            </p:txBody>
          </p:sp>
          <p:sp>
            <p:nvSpPr>
              <p:cNvPr id="6" name="Oval 5">
                <a:extLst>
                  <a:ext uri="{FF2B5EF4-FFF2-40B4-BE49-F238E27FC236}">
                    <a16:creationId xmlns:a16="http://schemas.microsoft.com/office/drawing/2014/main" id="{3C2A72B8-1FD3-516D-A021-E2075712D6CB}"/>
                  </a:ext>
                </a:extLst>
              </p:cNvPr>
              <p:cNvSpPr/>
              <p:nvPr/>
            </p:nvSpPr>
            <p:spPr>
              <a:xfrm>
                <a:off x="4191001" y="3682289"/>
                <a:ext cx="688077" cy="688077"/>
              </a:xfrm>
              <a:prstGeom prst="ellipse">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1.5</a:t>
                </a:r>
              </a:p>
            </p:txBody>
          </p:sp>
          <p:sp>
            <p:nvSpPr>
              <p:cNvPr id="7" name="Oval 6">
                <a:extLst>
                  <a:ext uri="{FF2B5EF4-FFF2-40B4-BE49-F238E27FC236}">
                    <a16:creationId xmlns:a16="http://schemas.microsoft.com/office/drawing/2014/main" id="{392D9E01-B220-E093-6B95-A68C0266A5BC}"/>
                  </a:ext>
                </a:extLst>
              </p:cNvPr>
              <p:cNvSpPr/>
              <p:nvPr/>
            </p:nvSpPr>
            <p:spPr>
              <a:xfrm>
                <a:off x="7858499" y="3653913"/>
                <a:ext cx="688077" cy="688077"/>
              </a:xfrm>
              <a:prstGeom prst="ellipse">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8" name="Oval 7">
                <a:extLst>
                  <a:ext uri="{FF2B5EF4-FFF2-40B4-BE49-F238E27FC236}">
                    <a16:creationId xmlns:a16="http://schemas.microsoft.com/office/drawing/2014/main" id="{31620859-F5B3-EB2D-7626-028B1D551DC8}"/>
                  </a:ext>
                </a:extLst>
              </p:cNvPr>
              <p:cNvSpPr/>
              <p:nvPr/>
            </p:nvSpPr>
            <p:spPr>
              <a:xfrm>
                <a:off x="3200401" y="4383504"/>
                <a:ext cx="688077" cy="688077"/>
              </a:xfrm>
              <a:prstGeom prst="ellipse">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9" name="Oval 8">
                <a:extLst>
                  <a:ext uri="{FF2B5EF4-FFF2-40B4-BE49-F238E27FC236}">
                    <a16:creationId xmlns:a16="http://schemas.microsoft.com/office/drawing/2014/main" id="{EDDB63C5-2978-A1A0-5B7C-21B3C85ED8F3}"/>
                  </a:ext>
                </a:extLst>
              </p:cNvPr>
              <p:cNvSpPr/>
              <p:nvPr/>
            </p:nvSpPr>
            <p:spPr>
              <a:xfrm>
                <a:off x="5211206" y="4425368"/>
                <a:ext cx="688077" cy="688077"/>
              </a:xfrm>
              <a:prstGeom prst="ellipse">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10" name="Oval 9">
                <a:extLst>
                  <a:ext uri="{FF2B5EF4-FFF2-40B4-BE49-F238E27FC236}">
                    <a16:creationId xmlns:a16="http://schemas.microsoft.com/office/drawing/2014/main" id="{9246EA45-DB59-3189-5133-E09D0AC67BEF}"/>
                  </a:ext>
                </a:extLst>
              </p:cNvPr>
              <p:cNvSpPr/>
              <p:nvPr/>
            </p:nvSpPr>
            <p:spPr>
              <a:xfrm>
                <a:off x="6934201" y="4341990"/>
                <a:ext cx="688077" cy="688077"/>
              </a:xfrm>
              <a:prstGeom prst="ellipse">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11" name="Oval 10">
                <a:extLst>
                  <a:ext uri="{FF2B5EF4-FFF2-40B4-BE49-F238E27FC236}">
                    <a16:creationId xmlns:a16="http://schemas.microsoft.com/office/drawing/2014/main" id="{9ACF96E3-806B-71A4-4206-D4D7C31A2F2D}"/>
                  </a:ext>
                </a:extLst>
              </p:cNvPr>
              <p:cNvSpPr/>
              <p:nvPr/>
            </p:nvSpPr>
            <p:spPr>
              <a:xfrm>
                <a:off x="8836924" y="4341990"/>
                <a:ext cx="688077" cy="688077"/>
              </a:xfrm>
              <a:prstGeom prst="ellipse">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12" name="Oval 11">
                <a:extLst>
                  <a:ext uri="{FF2B5EF4-FFF2-40B4-BE49-F238E27FC236}">
                    <a16:creationId xmlns:a16="http://schemas.microsoft.com/office/drawing/2014/main" id="{014F5CF9-E0BE-AD30-CAF0-6FB68446C0CD}"/>
                  </a:ext>
                </a:extLst>
              </p:cNvPr>
              <p:cNvSpPr/>
              <p:nvPr/>
            </p:nvSpPr>
            <p:spPr>
              <a:xfrm>
                <a:off x="2590801" y="5352744"/>
                <a:ext cx="688077" cy="688077"/>
              </a:xfrm>
              <a:prstGeom prst="ellipse">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13" name="Oval 12">
                <a:extLst>
                  <a:ext uri="{FF2B5EF4-FFF2-40B4-BE49-F238E27FC236}">
                    <a16:creationId xmlns:a16="http://schemas.microsoft.com/office/drawing/2014/main" id="{497C9AA5-DB9B-1AFC-012D-B3D8743427A8}"/>
                  </a:ext>
                </a:extLst>
              </p:cNvPr>
              <p:cNvSpPr/>
              <p:nvPr/>
            </p:nvSpPr>
            <p:spPr>
              <a:xfrm>
                <a:off x="3733801" y="5352744"/>
                <a:ext cx="688077" cy="688077"/>
              </a:xfrm>
              <a:prstGeom prst="ellipse">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a:t>
                </a:r>
              </a:p>
            </p:txBody>
          </p:sp>
          <p:cxnSp>
            <p:nvCxnSpPr>
              <p:cNvPr id="14" name="Straight Connector 13">
                <a:extLst>
                  <a:ext uri="{FF2B5EF4-FFF2-40B4-BE49-F238E27FC236}">
                    <a16:creationId xmlns:a16="http://schemas.microsoft.com/office/drawing/2014/main" id="{3F9925F6-573D-F6E3-2D20-9939C39C8CC4}"/>
                  </a:ext>
                </a:extLst>
              </p:cNvPr>
              <p:cNvCxnSpPr>
                <a:cxnSpLocks/>
                <a:stCxn id="5" idx="3"/>
                <a:endCxn id="6" idx="7"/>
              </p:cNvCxnSpPr>
              <p:nvPr/>
            </p:nvCxnSpPr>
            <p:spPr>
              <a:xfrm flipH="1">
                <a:off x="4778311" y="3259380"/>
                <a:ext cx="1319311" cy="523676"/>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9690E6CF-81A5-AEED-23C1-2A785442C5F3}"/>
                  </a:ext>
                </a:extLst>
              </p:cNvPr>
              <p:cNvCxnSpPr>
                <a:cxnSpLocks/>
                <a:stCxn id="5" idx="5"/>
                <a:endCxn id="7" idx="1"/>
              </p:cNvCxnSpPr>
              <p:nvPr/>
            </p:nvCxnSpPr>
            <p:spPr>
              <a:xfrm>
                <a:off x="6584165" y="3259380"/>
                <a:ext cx="1375101" cy="495300"/>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0918949D-E91F-514C-8942-A55A0B1C1B96}"/>
                  </a:ext>
                </a:extLst>
              </p:cNvPr>
              <p:cNvCxnSpPr>
                <a:stCxn id="9" idx="1"/>
                <a:endCxn id="6" idx="5"/>
              </p:cNvCxnSpPr>
              <p:nvPr/>
            </p:nvCxnSpPr>
            <p:spPr>
              <a:xfrm flipH="1" flipV="1">
                <a:off x="4778310" y="4269598"/>
                <a:ext cx="533662" cy="256536"/>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3AEC8F07-B67E-32B1-8194-36206CBAE1C1}"/>
                  </a:ext>
                </a:extLst>
              </p:cNvPr>
              <p:cNvCxnSpPr>
                <a:stCxn id="8" idx="7"/>
                <a:endCxn id="6" idx="3"/>
              </p:cNvCxnSpPr>
              <p:nvPr/>
            </p:nvCxnSpPr>
            <p:spPr>
              <a:xfrm flipV="1">
                <a:off x="3787711" y="4269598"/>
                <a:ext cx="504057" cy="214672"/>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ECB303E5-4C0F-E3C1-6C40-D63CB81862DA}"/>
                  </a:ext>
                </a:extLst>
              </p:cNvPr>
              <p:cNvCxnSpPr>
                <a:stCxn id="13" idx="0"/>
                <a:endCxn id="8" idx="5"/>
              </p:cNvCxnSpPr>
              <p:nvPr/>
            </p:nvCxnSpPr>
            <p:spPr>
              <a:xfrm flipH="1" flipV="1">
                <a:off x="3787711" y="4970813"/>
                <a:ext cx="290129" cy="381930"/>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2F69F648-6942-5A93-5A23-499C2EB8C9E2}"/>
                  </a:ext>
                </a:extLst>
              </p:cNvPr>
              <p:cNvCxnSpPr>
                <a:stCxn id="12" idx="0"/>
                <a:endCxn id="8" idx="3"/>
              </p:cNvCxnSpPr>
              <p:nvPr/>
            </p:nvCxnSpPr>
            <p:spPr>
              <a:xfrm flipV="1">
                <a:off x="2934839" y="4970813"/>
                <a:ext cx="366328" cy="381930"/>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543FFFFF-CF30-2E14-4603-BCEC3E407EB6}"/>
                  </a:ext>
                </a:extLst>
              </p:cNvPr>
              <p:cNvCxnSpPr>
                <a:stCxn id="10" idx="7"/>
                <a:endCxn id="7" idx="3"/>
              </p:cNvCxnSpPr>
              <p:nvPr/>
            </p:nvCxnSpPr>
            <p:spPr>
              <a:xfrm flipV="1">
                <a:off x="7521511" y="4241222"/>
                <a:ext cx="437755" cy="201534"/>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5DD9F7F4-FC58-103B-8500-D893D1F68143}"/>
                  </a:ext>
                </a:extLst>
              </p:cNvPr>
              <p:cNvCxnSpPr>
                <a:stCxn id="11" idx="1"/>
                <a:endCxn id="7" idx="5"/>
              </p:cNvCxnSpPr>
              <p:nvPr/>
            </p:nvCxnSpPr>
            <p:spPr>
              <a:xfrm flipH="1" flipV="1">
                <a:off x="8445808" y="4241222"/>
                <a:ext cx="491882" cy="201534"/>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24" name="Oval 23">
              <a:extLst>
                <a:ext uri="{FF2B5EF4-FFF2-40B4-BE49-F238E27FC236}">
                  <a16:creationId xmlns:a16="http://schemas.microsoft.com/office/drawing/2014/main" id="{BDE845EB-2C74-AFA6-612A-2B277A969486}"/>
                </a:ext>
              </a:extLst>
            </p:cNvPr>
            <p:cNvSpPr/>
            <p:nvPr/>
          </p:nvSpPr>
          <p:spPr>
            <a:xfrm>
              <a:off x="7332895" y="2754017"/>
              <a:ext cx="688077" cy="688077"/>
            </a:xfrm>
            <a:prstGeom prst="ellipse">
              <a:avLst/>
            </a:prstGeom>
            <a:solidFill>
              <a:schemeClr val="bg1"/>
            </a:solidFill>
            <a:ln>
              <a:solidFill>
                <a:schemeClr val="accent3">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accent3">
                      <a:lumMod val="50000"/>
                    </a:schemeClr>
                  </a:solidFill>
                </a:rPr>
                <a:t>7</a:t>
              </a:r>
            </a:p>
          </p:txBody>
        </p:sp>
        <p:cxnSp>
          <p:nvCxnSpPr>
            <p:cNvPr id="22" name="Straight Connector 21">
              <a:extLst>
                <a:ext uri="{FF2B5EF4-FFF2-40B4-BE49-F238E27FC236}">
                  <a16:creationId xmlns:a16="http://schemas.microsoft.com/office/drawing/2014/main" id="{808EB998-8774-511E-D2B0-C8A8B01CF9C0}"/>
                </a:ext>
              </a:extLst>
            </p:cNvPr>
            <p:cNvCxnSpPr>
              <a:cxnSpLocks/>
              <a:stCxn id="24" idx="0"/>
              <a:endCxn id="9" idx="3"/>
            </p:cNvCxnSpPr>
            <p:nvPr/>
          </p:nvCxnSpPr>
          <p:spPr>
            <a:xfrm flipV="1">
              <a:off x="7676934" y="2414389"/>
              <a:ext cx="205519" cy="339628"/>
            </a:xfrm>
            <a:prstGeom prst="line">
              <a:avLst/>
            </a:prstGeom>
            <a:ln>
              <a:solidFill>
                <a:schemeClr val="accent3">
                  <a:lumMod val="60000"/>
                  <a:lumOff val="40000"/>
                </a:schemeClr>
              </a:solidFill>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28CF168B-C22F-1B48-82E7-F81CD4DCA565}"/>
                  </a:ext>
                </a:extLst>
              </p:cNvPr>
              <p:cNvSpPr>
                <a:spLocks noGrp="1"/>
              </p:cNvSpPr>
              <p:nvPr>
                <p:ph idx="1"/>
              </p:nvPr>
            </p:nvSpPr>
            <p:spPr>
              <a:xfrm>
                <a:off x="156079" y="2452818"/>
                <a:ext cx="10515600" cy="4351338"/>
              </a:xfrm>
            </p:spPr>
            <p:txBody>
              <a:bodyPr>
                <a:normAutofit lnSpcReduction="10000"/>
              </a:bodyPr>
              <a:lstStyle/>
              <a:p>
                <a:pPr marL="0" indent="0">
                  <a:buNone/>
                </a:pPr>
                <a:r>
                  <a:rPr lang="en-US" dirty="0"/>
                  <a:t>extract(){</a:t>
                </a:r>
              </a:p>
              <a:p>
                <a:pPr marL="0" indent="0">
                  <a:buNone/>
                </a:pPr>
                <a:r>
                  <a:rPr lang="en-US" dirty="0"/>
                  <a:t>    min = root</a:t>
                </a:r>
              </a:p>
              <a:p>
                <a:pPr marL="0" indent="0">
                  <a:buNone/>
                </a:pPr>
                <a:r>
                  <a:rPr lang="en-US" dirty="0"/>
                  <a:t>    </a:t>
                </a:r>
                <a:r>
                  <a:rPr lang="en-US" dirty="0" err="1"/>
                  <a:t>curr</a:t>
                </a:r>
                <a:r>
                  <a:rPr lang="en-US" dirty="0"/>
                  <a:t> = bottom-right item</a:t>
                </a:r>
              </a:p>
              <a:p>
                <a:pPr marL="0" indent="0">
                  <a:buNone/>
                </a:pPr>
                <a:r>
                  <a:rPr lang="en-US" dirty="0"/>
                  <a:t>    </a:t>
                </a:r>
                <a:r>
                  <a:rPr lang="en-US" dirty="0">
                    <a:solidFill>
                      <a:srgbClr val="FF0000"/>
                    </a:solidFill>
                  </a:rPr>
                  <a:t>move </a:t>
                </a:r>
                <a:r>
                  <a:rPr lang="en-US" dirty="0" err="1">
                    <a:solidFill>
                      <a:srgbClr val="FF0000"/>
                    </a:solidFill>
                  </a:rPr>
                  <a:t>curr</a:t>
                </a:r>
                <a:r>
                  <a:rPr lang="en-US" dirty="0">
                    <a:solidFill>
                      <a:srgbClr val="FF0000"/>
                    </a:solidFill>
                  </a:rPr>
                  <a:t> to the root</a:t>
                </a:r>
              </a:p>
              <a:p>
                <a:pPr marL="0" indent="0">
                  <a:buNone/>
                </a:pPr>
                <a:r>
                  <a:rPr lang="en-US" dirty="0"/>
                  <a:t>    while(</a:t>
                </a:r>
                <a:r>
                  <a:rPr lang="en-US" dirty="0" err="1"/>
                  <a:t>curr</a:t>
                </a:r>
                <a:r>
                  <a:rPr lang="en-US" dirty="0"/>
                  <a:t> </a:t>
                </a:r>
                <a14:m>
                  <m:oMath xmlns:m="http://schemas.openxmlformats.org/officeDocument/2006/math">
                    <m:r>
                      <a:rPr lang="en-US" b="0" i="1" smtClean="0">
                        <a:latin typeface="Cambria Math" panose="02040503050406030204" pitchFamily="18" charset="0"/>
                      </a:rPr>
                      <m:t>&gt;</m:t>
                    </m:r>
                  </m:oMath>
                </a14:m>
                <a:r>
                  <a:rPr lang="en-US" dirty="0"/>
                  <a:t> </a:t>
                </a:r>
                <a:r>
                  <a:rPr lang="en-US" dirty="0" err="1"/>
                  <a:t>curr.left</a:t>
                </a:r>
                <a:r>
                  <a:rPr lang="en-US" dirty="0"/>
                  <a:t> || </a:t>
                </a:r>
                <a:r>
                  <a:rPr lang="en-US" dirty="0" err="1"/>
                  <a:t>curr</a:t>
                </a:r>
                <a:r>
                  <a:rPr lang="en-US" dirty="0"/>
                  <a:t> &gt; </a:t>
                </a:r>
                <a:r>
                  <a:rPr lang="en-US" dirty="0" err="1"/>
                  <a:t>curr.right</a:t>
                </a:r>
                <a:r>
                  <a:rPr lang="en-US" dirty="0"/>
                  <a:t>){</a:t>
                </a:r>
              </a:p>
              <a:p>
                <a:pPr marL="0" indent="0">
                  <a:buNone/>
                </a:pPr>
                <a:r>
                  <a:rPr lang="en-US" dirty="0"/>
                  <a:t>        swap </a:t>
                </a:r>
                <a:r>
                  <a:rPr lang="en-US" dirty="0" err="1"/>
                  <a:t>curr</a:t>
                </a:r>
                <a:r>
                  <a:rPr lang="en-US" dirty="0"/>
                  <a:t> with its smallest child</a:t>
                </a:r>
              </a:p>
              <a:p>
                <a:pPr marL="0" indent="0">
                  <a:buNone/>
                </a:pPr>
                <a:r>
                  <a:rPr lang="en-US" dirty="0"/>
                  <a:t>    }</a:t>
                </a:r>
              </a:p>
              <a:p>
                <a:pPr marL="0" indent="0">
                  <a:buNone/>
                </a:pPr>
                <a:r>
                  <a:rPr lang="en-US" dirty="0"/>
                  <a:t>    return min</a:t>
                </a:r>
              </a:p>
              <a:p>
                <a:pPr marL="0" indent="0">
                  <a:buNone/>
                </a:pPr>
                <a:r>
                  <a:rPr lang="en-US" dirty="0"/>
                  <a:t>}</a:t>
                </a:r>
              </a:p>
            </p:txBody>
          </p:sp>
        </mc:Choice>
        <mc:Fallback xmlns="">
          <p:sp>
            <p:nvSpPr>
              <p:cNvPr id="3" name="Content Placeholder 2">
                <a:extLst>
                  <a:ext uri="{FF2B5EF4-FFF2-40B4-BE49-F238E27FC236}">
                    <a16:creationId xmlns:a16="http://schemas.microsoft.com/office/drawing/2014/main" id="{28CF168B-C22F-1B48-82E7-F81CD4DCA565}"/>
                  </a:ext>
                </a:extLst>
              </p:cNvPr>
              <p:cNvSpPr>
                <a:spLocks noGrp="1" noRot="1" noChangeAspect="1" noMove="1" noResize="1" noEditPoints="1" noAdjustHandles="1" noChangeArrowheads="1" noChangeShapeType="1" noTextEdit="1"/>
              </p:cNvSpPr>
              <p:nvPr>
                <p:ph idx="1"/>
              </p:nvPr>
            </p:nvSpPr>
            <p:spPr>
              <a:xfrm>
                <a:off x="156079" y="2452818"/>
                <a:ext cx="10515600" cy="4351338"/>
              </a:xfrm>
              <a:blipFill>
                <a:blip r:embed="rId2"/>
                <a:stretch>
                  <a:fillRect l="-1217" t="-3081" b="-280"/>
                </a:stretch>
              </a:blipFill>
            </p:spPr>
            <p:txBody>
              <a:bodyPr/>
              <a:lstStyle/>
              <a:p>
                <a:r>
                  <a:rPr lang="en-US">
                    <a:noFill/>
                  </a:rPr>
                  <a:t> </a:t>
                </a:r>
              </a:p>
            </p:txBody>
          </p:sp>
        </mc:Fallback>
      </mc:AlternateContent>
      <mc:AlternateContent xmlns:mc="http://schemas.openxmlformats.org/markup-compatibility/2006">
        <mc:Choice xmlns:p14="http://schemas.microsoft.com/office/powerpoint/2010/main" Requires="p14">
          <p:contentPart p14:bwMode="auto" r:id="rId3">
            <p14:nvContentPartPr>
              <p14:cNvPr id="25" name="Ink 24">
                <a:extLst>
                  <a:ext uri="{FF2B5EF4-FFF2-40B4-BE49-F238E27FC236}">
                    <a16:creationId xmlns:a16="http://schemas.microsoft.com/office/drawing/2014/main" id="{FC85A0BD-27C2-5706-9252-5720973CFA49}"/>
                  </a:ext>
                </a:extLst>
              </p14:cNvPr>
              <p14:cNvContentPartPr/>
              <p14:nvPr/>
            </p14:nvContentPartPr>
            <p14:xfrm>
              <a:off x="7721280" y="416520"/>
              <a:ext cx="1779480" cy="1001520"/>
            </p14:xfrm>
          </p:contentPart>
        </mc:Choice>
        <mc:Fallback>
          <p:pic>
            <p:nvPicPr>
              <p:cNvPr id="25" name="Ink 24">
                <a:extLst>
                  <a:ext uri="{FF2B5EF4-FFF2-40B4-BE49-F238E27FC236}">
                    <a16:creationId xmlns:a16="http://schemas.microsoft.com/office/drawing/2014/main" id="{FC85A0BD-27C2-5706-9252-5720973CFA49}"/>
                  </a:ext>
                </a:extLst>
              </p:cNvPr>
              <p:cNvPicPr/>
              <p:nvPr/>
            </p:nvPicPr>
            <p:blipFill>
              <a:blip r:embed="rId4"/>
              <a:stretch>
                <a:fillRect/>
              </a:stretch>
            </p:blipFill>
            <p:spPr>
              <a:xfrm>
                <a:off x="7711920" y="407160"/>
                <a:ext cx="1798200" cy="1020240"/>
              </a:xfrm>
              <a:prstGeom prst="rect">
                <a:avLst/>
              </a:prstGeom>
            </p:spPr>
          </p:pic>
        </mc:Fallback>
      </mc:AlternateContent>
    </p:spTree>
    <p:extLst>
      <p:ext uri="{BB962C8B-B14F-4D97-AF65-F5344CB8AC3E}">
        <p14:creationId xmlns:p14="http://schemas.microsoft.com/office/powerpoint/2010/main" val="262260115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6B7BEE-83FC-6A92-8C72-922983C3E767}"/>
              </a:ext>
            </a:extLst>
          </p:cNvPr>
          <p:cNvSpPr>
            <a:spLocks noGrp="1"/>
          </p:cNvSpPr>
          <p:nvPr>
            <p:ph type="title"/>
          </p:nvPr>
        </p:nvSpPr>
        <p:spPr/>
        <p:txBody>
          <a:bodyPr/>
          <a:lstStyle/>
          <a:p>
            <a:r>
              <a:rPr lang="en-US" dirty="0"/>
              <a:t>Heap extract (Percolate 1)</a:t>
            </a:r>
          </a:p>
        </p:txBody>
      </p:sp>
      <p:grpSp>
        <p:nvGrpSpPr>
          <p:cNvPr id="4" name="Group 3" descr="We now have a tree with the correct shape, but we need to move values around to repair the heap property. To do this we will swap 7 with its smallest child so long as it is larger than at least one child.&#10;&#10;To begin, 7 is larger than both of its children (1.5 and 2) and so we swap 7 with its smallest child (1.5).">
            <a:extLst>
              <a:ext uri="{FF2B5EF4-FFF2-40B4-BE49-F238E27FC236}">
                <a16:creationId xmlns:a16="http://schemas.microsoft.com/office/drawing/2014/main" id="{F5FEEAE4-5947-43BB-33F3-0E2F7A27D58C}"/>
              </a:ext>
            </a:extLst>
          </p:cNvPr>
          <p:cNvGrpSpPr/>
          <p:nvPr/>
        </p:nvGrpSpPr>
        <p:grpSpPr>
          <a:xfrm>
            <a:off x="5161281" y="73781"/>
            <a:ext cx="6934200" cy="3368751"/>
            <a:chOff x="2590801" y="2672070"/>
            <a:chExt cx="6934200" cy="3368751"/>
          </a:xfrm>
          <a:solidFill>
            <a:schemeClr val="bg1"/>
          </a:solidFill>
        </p:grpSpPr>
        <p:sp>
          <p:nvSpPr>
            <p:cNvPr id="5" name="Oval 4">
              <a:extLst>
                <a:ext uri="{FF2B5EF4-FFF2-40B4-BE49-F238E27FC236}">
                  <a16:creationId xmlns:a16="http://schemas.microsoft.com/office/drawing/2014/main" id="{F33A0E13-4996-116D-FFBB-C9C47C84D55C}"/>
                </a:ext>
              </a:extLst>
            </p:cNvPr>
            <p:cNvSpPr/>
            <p:nvPr/>
          </p:nvSpPr>
          <p:spPr>
            <a:xfrm>
              <a:off x="5996855" y="2672070"/>
              <a:ext cx="688077" cy="688077"/>
            </a:xfrm>
            <a:prstGeom prst="ellipse">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1.5</a:t>
              </a:r>
            </a:p>
          </p:txBody>
        </p:sp>
        <p:sp>
          <p:nvSpPr>
            <p:cNvPr id="6" name="Oval 5">
              <a:extLst>
                <a:ext uri="{FF2B5EF4-FFF2-40B4-BE49-F238E27FC236}">
                  <a16:creationId xmlns:a16="http://schemas.microsoft.com/office/drawing/2014/main" id="{3C2A72B8-1FD3-516D-A021-E2075712D6CB}"/>
                </a:ext>
              </a:extLst>
            </p:cNvPr>
            <p:cNvSpPr/>
            <p:nvPr/>
          </p:nvSpPr>
          <p:spPr>
            <a:xfrm>
              <a:off x="4191001" y="3682289"/>
              <a:ext cx="688077" cy="688077"/>
            </a:xfrm>
            <a:prstGeom prst="ellipse">
              <a:avLst/>
            </a:prstGeom>
            <a:grp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7</a:t>
              </a:r>
            </a:p>
          </p:txBody>
        </p:sp>
        <p:sp>
          <p:nvSpPr>
            <p:cNvPr id="7" name="Oval 6">
              <a:extLst>
                <a:ext uri="{FF2B5EF4-FFF2-40B4-BE49-F238E27FC236}">
                  <a16:creationId xmlns:a16="http://schemas.microsoft.com/office/drawing/2014/main" id="{392D9E01-B220-E093-6B95-A68C0266A5BC}"/>
                </a:ext>
              </a:extLst>
            </p:cNvPr>
            <p:cNvSpPr/>
            <p:nvPr/>
          </p:nvSpPr>
          <p:spPr>
            <a:xfrm>
              <a:off x="7858499" y="3653913"/>
              <a:ext cx="688077" cy="688077"/>
            </a:xfrm>
            <a:prstGeom prst="ellipse">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8" name="Oval 7">
              <a:extLst>
                <a:ext uri="{FF2B5EF4-FFF2-40B4-BE49-F238E27FC236}">
                  <a16:creationId xmlns:a16="http://schemas.microsoft.com/office/drawing/2014/main" id="{31620859-F5B3-EB2D-7626-028B1D551DC8}"/>
                </a:ext>
              </a:extLst>
            </p:cNvPr>
            <p:cNvSpPr/>
            <p:nvPr/>
          </p:nvSpPr>
          <p:spPr>
            <a:xfrm>
              <a:off x="3200401" y="4383504"/>
              <a:ext cx="688077" cy="688077"/>
            </a:xfrm>
            <a:prstGeom prst="ellipse">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9" name="Oval 8">
              <a:extLst>
                <a:ext uri="{FF2B5EF4-FFF2-40B4-BE49-F238E27FC236}">
                  <a16:creationId xmlns:a16="http://schemas.microsoft.com/office/drawing/2014/main" id="{EDDB63C5-2978-A1A0-5B7C-21B3C85ED8F3}"/>
                </a:ext>
              </a:extLst>
            </p:cNvPr>
            <p:cNvSpPr/>
            <p:nvPr/>
          </p:nvSpPr>
          <p:spPr>
            <a:xfrm>
              <a:off x="5211206" y="4425368"/>
              <a:ext cx="688077" cy="688077"/>
            </a:xfrm>
            <a:prstGeom prst="ellipse">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10" name="Oval 9">
              <a:extLst>
                <a:ext uri="{FF2B5EF4-FFF2-40B4-BE49-F238E27FC236}">
                  <a16:creationId xmlns:a16="http://schemas.microsoft.com/office/drawing/2014/main" id="{9246EA45-DB59-3189-5133-E09D0AC67BEF}"/>
                </a:ext>
              </a:extLst>
            </p:cNvPr>
            <p:cNvSpPr/>
            <p:nvPr/>
          </p:nvSpPr>
          <p:spPr>
            <a:xfrm>
              <a:off x="6934201" y="4341990"/>
              <a:ext cx="688077" cy="688077"/>
            </a:xfrm>
            <a:prstGeom prst="ellipse">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11" name="Oval 10">
              <a:extLst>
                <a:ext uri="{FF2B5EF4-FFF2-40B4-BE49-F238E27FC236}">
                  <a16:creationId xmlns:a16="http://schemas.microsoft.com/office/drawing/2014/main" id="{9ACF96E3-806B-71A4-4206-D4D7C31A2F2D}"/>
                </a:ext>
              </a:extLst>
            </p:cNvPr>
            <p:cNvSpPr/>
            <p:nvPr/>
          </p:nvSpPr>
          <p:spPr>
            <a:xfrm>
              <a:off x="8836924" y="4341990"/>
              <a:ext cx="688077" cy="688077"/>
            </a:xfrm>
            <a:prstGeom prst="ellipse">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12" name="Oval 11">
              <a:extLst>
                <a:ext uri="{FF2B5EF4-FFF2-40B4-BE49-F238E27FC236}">
                  <a16:creationId xmlns:a16="http://schemas.microsoft.com/office/drawing/2014/main" id="{014F5CF9-E0BE-AD30-CAF0-6FB68446C0CD}"/>
                </a:ext>
              </a:extLst>
            </p:cNvPr>
            <p:cNvSpPr/>
            <p:nvPr/>
          </p:nvSpPr>
          <p:spPr>
            <a:xfrm>
              <a:off x="2590801" y="5352744"/>
              <a:ext cx="688077" cy="688077"/>
            </a:xfrm>
            <a:prstGeom prst="ellipse">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13" name="Oval 12">
              <a:extLst>
                <a:ext uri="{FF2B5EF4-FFF2-40B4-BE49-F238E27FC236}">
                  <a16:creationId xmlns:a16="http://schemas.microsoft.com/office/drawing/2014/main" id="{497C9AA5-DB9B-1AFC-012D-B3D8743427A8}"/>
                </a:ext>
              </a:extLst>
            </p:cNvPr>
            <p:cNvSpPr/>
            <p:nvPr/>
          </p:nvSpPr>
          <p:spPr>
            <a:xfrm>
              <a:off x="3733801" y="5352744"/>
              <a:ext cx="688077" cy="688077"/>
            </a:xfrm>
            <a:prstGeom prst="ellipse">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a:t>
              </a:r>
            </a:p>
          </p:txBody>
        </p:sp>
        <p:cxnSp>
          <p:nvCxnSpPr>
            <p:cNvPr id="14" name="Straight Connector 13">
              <a:extLst>
                <a:ext uri="{FF2B5EF4-FFF2-40B4-BE49-F238E27FC236}">
                  <a16:creationId xmlns:a16="http://schemas.microsoft.com/office/drawing/2014/main" id="{3F9925F6-573D-F6E3-2D20-9939C39C8CC4}"/>
                </a:ext>
              </a:extLst>
            </p:cNvPr>
            <p:cNvCxnSpPr>
              <a:cxnSpLocks/>
              <a:stCxn id="5" idx="3"/>
              <a:endCxn id="6" idx="7"/>
            </p:cNvCxnSpPr>
            <p:nvPr/>
          </p:nvCxnSpPr>
          <p:spPr>
            <a:xfrm flipH="1">
              <a:off x="4778311" y="3259380"/>
              <a:ext cx="1319311" cy="523676"/>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9690E6CF-81A5-AEED-23C1-2A785442C5F3}"/>
                </a:ext>
              </a:extLst>
            </p:cNvPr>
            <p:cNvCxnSpPr>
              <a:cxnSpLocks/>
              <a:stCxn id="5" idx="5"/>
              <a:endCxn id="7" idx="1"/>
            </p:cNvCxnSpPr>
            <p:nvPr/>
          </p:nvCxnSpPr>
          <p:spPr>
            <a:xfrm>
              <a:off x="6584165" y="3259380"/>
              <a:ext cx="1375101" cy="495300"/>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0918949D-E91F-514C-8942-A55A0B1C1B96}"/>
                </a:ext>
              </a:extLst>
            </p:cNvPr>
            <p:cNvCxnSpPr>
              <a:stCxn id="9" idx="1"/>
              <a:endCxn id="6" idx="5"/>
            </p:cNvCxnSpPr>
            <p:nvPr/>
          </p:nvCxnSpPr>
          <p:spPr>
            <a:xfrm flipH="1" flipV="1">
              <a:off x="4778310" y="4269598"/>
              <a:ext cx="533662" cy="256536"/>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3AEC8F07-B67E-32B1-8194-36206CBAE1C1}"/>
                </a:ext>
              </a:extLst>
            </p:cNvPr>
            <p:cNvCxnSpPr>
              <a:stCxn id="8" idx="7"/>
              <a:endCxn id="6" idx="3"/>
            </p:cNvCxnSpPr>
            <p:nvPr/>
          </p:nvCxnSpPr>
          <p:spPr>
            <a:xfrm flipV="1">
              <a:off x="3787711" y="4269598"/>
              <a:ext cx="504057" cy="214672"/>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ECB303E5-4C0F-E3C1-6C40-D63CB81862DA}"/>
                </a:ext>
              </a:extLst>
            </p:cNvPr>
            <p:cNvCxnSpPr>
              <a:stCxn id="13" idx="0"/>
              <a:endCxn id="8" idx="5"/>
            </p:cNvCxnSpPr>
            <p:nvPr/>
          </p:nvCxnSpPr>
          <p:spPr>
            <a:xfrm flipH="1" flipV="1">
              <a:off x="3787711" y="4970813"/>
              <a:ext cx="290129" cy="381930"/>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2F69F648-6942-5A93-5A23-499C2EB8C9E2}"/>
                </a:ext>
              </a:extLst>
            </p:cNvPr>
            <p:cNvCxnSpPr>
              <a:stCxn id="12" idx="0"/>
              <a:endCxn id="8" idx="3"/>
            </p:cNvCxnSpPr>
            <p:nvPr/>
          </p:nvCxnSpPr>
          <p:spPr>
            <a:xfrm flipV="1">
              <a:off x="2934839" y="4970813"/>
              <a:ext cx="366328" cy="381930"/>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543FFFFF-CF30-2E14-4603-BCEC3E407EB6}"/>
                </a:ext>
              </a:extLst>
            </p:cNvPr>
            <p:cNvCxnSpPr>
              <a:stCxn id="10" idx="7"/>
              <a:endCxn id="7" idx="3"/>
            </p:cNvCxnSpPr>
            <p:nvPr/>
          </p:nvCxnSpPr>
          <p:spPr>
            <a:xfrm flipV="1">
              <a:off x="7521511" y="4241222"/>
              <a:ext cx="437755" cy="201534"/>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5DD9F7F4-FC58-103B-8500-D893D1F68143}"/>
                </a:ext>
              </a:extLst>
            </p:cNvPr>
            <p:cNvCxnSpPr>
              <a:stCxn id="11" idx="1"/>
              <a:endCxn id="7" idx="5"/>
            </p:cNvCxnSpPr>
            <p:nvPr/>
          </p:nvCxnSpPr>
          <p:spPr>
            <a:xfrm flipH="1" flipV="1">
              <a:off x="8445808" y="4241222"/>
              <a:ext cx="491882" cy="201534"/>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28CF168B-C22F-1B48-82E7-F81CD4DCA565}"/>
                  </a:ext>
                </a:extLst>
              </p:cNvPr>
              <p:cNvSpPr>
                <a:spLocks noGrp="1"/>
              </p:cNvSpPr>
              <p:nvPr>
                <p:ph idx="1"/>
              </p:nvPr>
            </p:nvSpPr>
            <p:spPr>
              <a:xfrm>
                <a:off x="156079" y="2452818"/>
                <a:ext cx="10515600" cy="4351338"/>
              </a:xfrm>
            </p:spPr>
            <p:txBody>
              <a:bodyPr>
                <a:normAutofit lnSpcReduction="10000"/>
              </a:bodyPr>
              <a:lstStyle/>
              <a:p>
                <a:pPr marL="0" indent="0">
                  <a:buNone/>
                </a:pPr>
                <a:r>
                  <a:rPr lang="en-US" dirty="0"/>
                  <a:t>extract(){</a:t>
                </a:r>
              </a:p>
              <a:p>
                <a:pPr marL="0" indent="0">
                  <a:buNone/>
                </a:pPr>
                <a:r>
                  <a:rPr lang="en-US" dirty="0"/>
                  <a:t>    min = root</a:t>
                </a:r>
              </a:p>
              <a:p>
                <a:pPr marL="0" indent="0">
                  <a:buNone/>
                </a:pPr>
                <a:r>
                  <a:rPr lang="en-US" dirty="0"/>
                  <a:t>    </a:t>
                </a:r>
                <a:r>
                  <a:rPr lang="en-US" dirty="0" err="1"/>
                  <a:t>curr</a:t>
                </a:r>
                <a:r>
                  <a:rPr lang="en-US" dirty="0"/>
                  <a:t> = bottom-right item</a:t>
                </a:r>
              </a:p>
              <a:p>
                <a:pPr marL="0" indent="0">
                  <a:buNone/>
                </a:pPr>
                <a:r>
                  <a:rPr lang="en-US" dirty="0"/>
                  <a:t>    move </a:t>
                </a:r>
                <a:r>
                  <a:rPr lang="en-US" dirty="0" err="1"/>
                  <a:t>curr</a:t>
                </a:r>
                <a:r>
                  <a:rPr lang="en-US" dirty="0"/>
                  <a:t> to the root</a:t>
                </a:r>
              </a:p>
              <a:p>
                <a:pPr marL="0" indent="0">
                  <a:buNone/>
                </a:pPr>
                <a:r>
                  <a:rPr lang="en-US" dirty="0"/>
                  <a:t>    </a:t>
                </a:r>
                <a:r>
                  <a:rPr lang="en-US" dirty="0">
                    <a:solidFill>
                      <a:srgbClr val="FF0000"/>
                    </a:solidFill>
                  </a:rPr>
                  <a:t>while(</a:t>
                </a:r>
                <a:r>
                  <a:rPr lang="en-US" dirty="0" err="1">
                    <a:solidFill>
                      <a:srgbClr val="FF0000"/>
                    </a:solidFill>
                  </a:rPr>
                  <a:t>curr</a:t>
                </a:r>
                <a:r>
                  <a:rPr lang="en-US" dirty="0">
                    <a:solidFill>
                      <a:srgbClr val="FF0000"/>
                    </a:solidFill>
                  </a:rPr>
                  <a:t> </a:t>
                </a:r>
                <a14:m>
                  <m:oMath xmlns:m="http://schemas.openxmlformats.org/officeDocument/2006/math">
                    <m:r>
                      <a:rPr lang="en-US" b="0" i="1" smtClean="0">
                        <a:solidFill>
                          <a:srgbClr val="FF0000"/>
                        </a:solidFill>
                        <a:latin typeface="Cambria Math" panose="02040503050406030204" pitchFamily="18" charset="0"/>
                      </a:rPr>
                      <m:t>&gt;</m:t>
                    </m:r>
                  </m:oMath>
                </a14:m>
                <a:r>
                  <a:rPr lang="en-US" dirty="0">
                    <a:solidFill>
                      <a:srgbClr val="FF0000"/>
                    </a:solidFill>
                  </a:rPr>
                  <a:t> </a:t>
                </a:r>
                <a:r>
                  <a:rPr lang="en-US" dirty="0" err="1">
                    <a:solidFill>
                      <a:srgbClr val="FF0000"/>
                    </a:solidFill>
                  </a:rPr>
                  <a:t>curr.left</a:t>
                </a:r>
                <a:r>
                  <a:rPr lang="en-US" dirty="0">
                    <a:solidFill>
                      <a:srgbClr val="FF0000"/>
                    </a:solidFill>
                  </a:rPr>
                  <a:t> || </a:t>
                </a:r>
                <a:r>
                  <a:rPr lang="en-US" dirty="0" err="1">
                    <a:solidFill>
                      <a:srgbClr val="FF0000"/>
                    </a:solidFill>
                  </a:rPr>
                  <a:t>curr</a:t>
                </a:r>
                <a:r>
                  <a:rPr lang="en-US" dirty="0">
                    <a:solidFill>
                      <a:srgbClr val="FF0000"/>
                    </a:solidFill>
                  </a:rPr>
                  <a:t> &gt; </a:t>
                </a:r>
                <a:r>
                  <a:rPr lang="en-US" dirty="0" err="1">
                    <a:solidFill>
                      <a:srgbClr val="FF0000"/>
                    </a:solidFill>
                  </a:rPr>
                  <a:t>curr.right</a:t>
                </a:r>
                <a:r>
                  <a:rPr lang="en-US" dirty="0">
                    <a:solidFill>
                      <a:srgbClr val="FF0000"/>
                    </a:solidFill>
                  </a:rPr>
                  <a:t>){</a:t>
                </a:r>
              </a:p>
              <a:p>
                <a:pPr marL="0" indent="0">
                  <a:buNone/>
                </a:pPr>
                <a:r>
                  <a:rPr lang="en-US" dirty="0">
                    <a:solidFill>
                      <a:srgbClr val="FF0000"/>
                    </a:solidFill>
                  </a:rPr>
                  <a:t>        swap </a:t>
                </a:r>
                <a:r>
                  <a:rPr lang="en-US" dirty="0" err="1">
                    <a:solidFill>
                      <a:srgbClr val="FF0000"/>
                    </a:solidFill>
                  </a:rPr>
                  <a:t>curr</a:t>
                </a:r>
                <a:r>
                  <a:rPr lang="en-US" dirty="0">
                    <a:solidFill>
                      <a:srgbClr val="FF0000"/>
                    </a:solidFill>
                  </a:rPr>
                  <a:t> with its smallest child</a:t>
                </a:r>
              </a:p>
              <a:p>
                <a:pPr marL="0" indent="0">
                  <a:buNone/>
                </a:pPr>
                <a:r>
                  <a:rPr lang="en-US" dirty="0">
                    <a:solidFill>
                      <a:srgbClr val="FF0000"/>
                    </a:solidFill>
                  </a:rPr>
                  <a:t>    }</a:t>
                </a:r>
                <a:endParaRPr lang="en-US" dirty="0"/>
              </a:p>
              <a:p>
                <a:pPr marL="0" indent="0">
                  <a:buNone/>
                </a:pPr>
                <a:r>
                  <a:rPr lang="en-US" dirty="0"/>
                  <a:t>    return min</a:t>
                </a:r>
              </a:p>
              <a:p>
                <a:pPr marL="0" indent="0">
                  <a:buNone/>
                </a:pPr>
                <a:r>
                  <a:rPr lang="en-US" dirty="0"/>
                  <a:t>}</a:t>
                </a:r>
              </a:p>
            </p:txBody>
          </p:sp>
        </mc:Choice>
        <mc:Fallback xmlns="">
          <p:sp>
            <p:nvSpPr>
              <p:cNvPr id="3" name="Content Placeholder 2">
                <a:extLst>
                  <a:ext uri="{FF2B5EF4-FFF2-40B4-BE49-F238E27FC236}">
                    <a16:creationId xmlns:a16="http://schemas.microsoft.com/office/drawing/2014/main" id="{28CF168B-C22F-1B48-82E7-F81CD4DCA565}"/>
                  </a:ext>
                </a:extLst>
              </p:cNvPr>
              <p:cNvSpPr>
                <a:spLocks noGrp="1" noRot="1" noChangeAspect="1" noMove="1" noResize="1" noEditPoints="1" noAdjustHandles="1" noChangeArrowheads="1" noChangeShapeType="1" noTextEdit="1"/>
              </p:cNvSpPr>
              <p:nvPr>
                <p:ph idx="1"/>
              </p:nvPr>
            </p:nvSpPr>
            <p:spPr>
              <a:xfrm>
                <a:off x="156079" y="2452818"/>
                <a:ext cx="10515600" cy="4351338"/>
              </a:xfrm>
              <a:blipFill>
                <a:blip r:embed="rId2"/>
                <a:stretch>
                  <a:fillRect l="-1217" t="-3081" b="-280"/>
                </a:stretch>
              </a:blipFill>
            </p:spPr>
            <p:txBody>
              <a:bodyPr/>
              <a:lstStyle/>
              <a:p>
                <a:r>
                  <a:rPr lang="en-US">
                    <a:noFill/>
                  </a:rPr>
                  <a:t> </a:t>
                </a:r>
              </a:p>
            </p:txBody>
          </p:sp>
        </mc:Fallback>
      </mc:AlternateContent>
      <p:grpSp>
        <p:nvGrpSpPr>
          <p:cNvPr id="22" name="Group 21" descr="The lines which state:&#10;while(curr &gt; curr.left || curr &gt; curr.right){&#10;    swap curr with its smallest child&#10;}&#10;represent a subroutine that we refer to as &quot;percolate down&quot;">
            <a:extLst>
              <a:ext uri="{FF2B5EF4-FFF2-40B4-BE49-F238E27FC236}">
                <a16:creationId xmlns:a16="http://schemas.microsoft.com/office/drawing/2014/main" id="{741987BA-A253-D60C-2124-C16FB24E4BDB}"/>
              </a:ext>
            </a:extLst>
          </p:cNvPr>
          <p:cNvGrpSpPr/>
          <p:nvPr/>
        </p:nvGrpSpPr>
        <p:grpSpPr>
          <a:xfrm>
            <a:off x="6473436" y="4342845"/>
            <a:ext cx="2739723" cy="1336595"/>
            <a:chOff x="6473436" y="4342845"/>
            <a:chExt cx="2739723" cy="1336595"/>
          </a:xfrm>
        </p:grpSpPr>
        <p:sp>
          <p:nvSpPr>
            <p:cNvPr id="23" name="Right Brace 22">
              <a:extLst>
                <a:ext uri="{FF2B5EF4-FFF2-40B4-BE49-F238E27FC236}">
                  <a16:creationId xmlns:a16="http://schemas.microsoft.com/office/drawing/2014/main" id="{C1092552-4B03-D299-B7EC-307EEA28C766}"/>
                </a:ext>
              </a:extLst>
            </p:cNvPr>
            <p:cNvSpPr/>
            <p:nvPr/>
          </p:nvSpPr>
          <p:spPr>
            <a:xfrm>
              <a:off x="6473436" y="4342845"/>
              <a:ext cx="603466" cy="1336595"/>
            </a:xfrm>
            <a:prstGeom prst="rightBrace">
              <a:avLst/>
            </a:prstGeom>
            <a:ln>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5" name="TextBox 24">
              <a:extLst>
                <a:ext uri="{FF2B5EF4-FFF2-40B4-BE49-F238E27FC236}">
                  <a16:creationId xmlns:a16="http://schemas.microsoft.com/office/drawing/2014/main" id="{B2F50038-C91B-579B-E5E2-7D3A87CAD21E}"/>
                </a:ext>
              </a:extLst>
            </p:cNvPr>
            <p:cNvSpPr txBox="1"/>
            <p:nvPr/>
          </p:nvSpPr>
          <p:spPr>
            <a:xfrm>
              <a:off x="7061416" y="4833026"/>
              <a:ext cx="2151743" cy="461665"/>
            </a:xfrm>
            <a:prstGeom prst="rect">
              <a:avLst/>
            </a:prstGeom>
            <a:noFill/>
          </p:spPr>
          <p:txBody>
            <a:bodyPr wrap="none" rtlCol="0">
              <a:spAutoFit/>
            </a:bodyPr>
            <a:lstStyle/>
            <a:p>
              <a:r>
                <a:rPr lang="en-US" sz="2400" dirty="0">
                  <a:solidFill>
                    <a:srgbClr val="FF0000"/>
                  </a:solidFill>
                </a:rPr>
                <a:t>Percolate Down</a:t>
              </a:r>
            </a:p>
          </p:txBody>
        </p:sp>
      </p:grpSp>
    </p:spTree>
    <p:extLst>
      <p:ext uri="{BB962C8B-B14F-4D97-AF65-F5344CB8AC3E}">
        <p14:creationId xmlns:p14="http://schemas.microsoft.com/office/powerpoint/2010/main" val="251411824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6B7BEE-83FC-6A92-8C72-922983C3E767}"/>
              </a:ext>
            </a:extLst>
          </p:cNvPr>
          <p:cNvSpPr>
            <a:spLocks noGrp="1"/>
          </p:cNvSpPr>
          <p:nvPr>
            <p:ph type="title"/>
          </p:nvPr>
        </p:nvSpPr>
        <p:spPr/>
        <p:txBody>
          <a:bodyPr/>
          <a:lstStyle/>
          <a:p>
            <a:r>
              <a:rPr lang="en-US" dirty="0"/>
              <a:t>Heap extract (Percolate 2)</a:t>
            </a:r>
          </a:p>
        </p:txBody>
      </p:sp>
      <p:grpSp>
        <p:nvGrpSpPr>
          <p:cNvPr id="4" name="Group 3" descr="7 is again larger than both of its children (4 and 3) and so we swap 7 with its smallest child (3).">
            <a:extLst>
              <a:ext uri="{FF2B5EF4-FFF2-40B4-BE49-F238E27FC236}">
                <a16:creationId xmlns:a16="http://schemas.microsoft.com/office/drawing/2014/main" id="{F5FEEAE4-5947-43BB-33F3-0E2F7A27D58C}"/>
              </a:ext>
            </a:extLst>
          </p:cNvPr>
          <p:cNvGrpSpPr/>
          <p:nvPr/>
        </p:nvGrpSpPr>
        <p:grpSpPr>
          <a:xfrm>
            <a:off x="5161281" y="73781"/>
            <a:ext cx="6934200" cy="3368751"/>
            <a:chOff x="2590801" y="2672070"/>
            <a:chExt cx="6934200" cy="3368751"/>
          </a:xfrm>
          <a:solidFill>
            <a:schemeClr val="bg1"/>
          </a:solidFill>
        </p:grpSpPr>
        <p:sp>
          <p:nvSpPr>
            <p:cNvPr id="5" name="Oval 4">
              <a:extLst>
                <a:ext uri="{FF2B5EF4-FFF2-40B4-BE49-F238E27FC236}">
                  <a16:creationId xmlns:a16="http://schemas.microsoft.com/office/drawing/2014/main" id="{F33A0E13-4996-116D-FFBB-C9C47C84D55C}"/>
                </a:ext>
              </a:extLst>
            </p:cNvPr>
            <p:cNvSpPr/>
            <p:nvPr/>
          </p:nvSpPr>
          <p:spPr>
            <a:xfrm>
              <a:off x="5996855" y="2672070"/>
              <a:ext cx="688077" cy="688077"/>
            </a:xfrm>
            <a:prstGeom prst="ellipse">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1.5</a:t>
              </a:r>
            </a:p>
          </p:txBody>
        </p:sp>
        <p:sp>
          <p:nvSpPr>
            <p:cNvPr id="6" name="Oval 5">
              <a:extLst>
                <a:ext uri="{FF2B5EF4-FFF2-40B4-BE49-F238E27FC236}">
                  <a16:creationId xmlns:a16="http://schemas.microsoft.com/office/drawing/2014/main" id="{3C2A72B8-1FD3-516D-A021-E2075712D6CB}"/>
                </a:ext>
              </a:extLst>
            </p:cNvPr>
            <p:cNvSpPr/>
            <p:nvPr/>
          </p:nvSpPr>
          <p:spPr>
            <a:xfrm>
              <a:off x="4191001" y="3682289"/>
              <a:ext cx="688077" cy="688077"/>
            </a:xfrm>
            <a:prstGeom prst="ellipse">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7" name="Oval 6">
              <a:extLst>
                <a:ext uri="{FF2B5EF4-FFF2-40B4-BE49-F238E27FC236}">
                  <a16:creationId xmlns:a16="http://schemas.microsoft.com/office/drawing/2014/main" id="{392D9E01-B220-E093-6B95-A68C0266A5BC}"/>
                </a:ext>
              </a:extLst>
            </p:cNvPr>
            <p:cNvSpPr/>
            <p:nvPr/>
          </p:nvSpPr>
          <p:spPr>
            <a:xfrm>
              <a:off x="7858499" y="3653913"/>
              <a:ext cx="688077" cy="688077"/>
            </a:xfrm>
            <a:prstGeom prst="ellipse">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8" name="Oval 7">
              <a:extLst>
                <a:ext uri="{FF2B5EF4-FFF2-40B4-BE49-F238E27FC236}">
                  <a16:creationId xmlns:a16="http://schemas.microsoft.com/office/drawing/2014/main" id="{31620859-F5B3-EB2D-7626-028B1D551DC8}"/>
                </a:ext>
              </a:extLst>
            </p:cNvPr>
            <p:cNvSpPr/>
            <p:nvPr/>
          </p:nvSpPr>
          <p:spPr>
            <a:xfrm>
              <a:off x="3200401" y="4383504"/>
              <a:ext cx="688077" cy="688077"/>
            </a:xfrm>
            <a:prstGeom prst="ellipse">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9" name="Oval 8">
              <a:extLst>
                <a:ext uri="{FF2B5EF4-FFF2-40B4-BE49-F238E27FC236}">
                  <a16:creationId xmlns:a16="http://schemas.microsoft.com/office/drawing/2014/main" id="{EDDB63C5-2978-A1A0-5B7C-21B3C85ED8F3}"/>
                </a:ext>
              </a:extLst>
            </p:cNvPr>
            <p:cNvSpPr/>
            <p:nvPr/>
          </p:nvSpPr>
          <p:spPr>
            <a:xfrm>
              <a:off x="5211206" y="4425368"/>
              <a:ext cx="688077" cy="688077"/>
            </a:xfrm>
            <a:prstGeom prst="ellipse">
              <a:avLst/>
            </a:prstGeom>
            <a:grp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7</a:t>
              </a:r>
            </a:p>
          </p:txBody>
        </p:sp>
        <p:sp>
          <p:nvSpPr>
            <p:cNvPr id="10" name="Oval 9">
              <a:extLst>
                <a:ext uri="{FF2B5EF4-FFF2-40B4-BE49-F238E27FC236}">
                  <a16:creationId xmlns:a16="http://schemas.microsoft.com/office/drawing/2014/main" id="{9246EA45-DB59-3189-5133-E09D0AC67BEF}"/>
                </a:ext>
              </a:extLst>
            </p:cNvPr>
            <p:cNvSpPr/>
            <p:nvPr/>
          </p:nvSpPr>
          <p:spPr>
            <a:xfrm>
              <a:off x="6934201" y="4341990"/>
              <a:ext cx="688077" cy="688077"/>
            </a:xfrm>
            <a:prstGeom prst="ellipse">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11" name="Oval 10">
              <a:extLst>
                <a:ext uri="{FF2B5EF4-FFF2-40B4-BE49-F238E27FC236}">
                  <a16:creationId xmlns:a16="http://schemas.microsoft.com/office/drawing/2014/main" id="{9ACF96E3-806B-71A4-4206-D4D7C31A2F2D}"/>
                </a:ext>
              </a:extLst>
            </p:cNvPr>
            <p:cNvSpPr/>
            <p:nvPr/>
          </p:nvSpPr>
          <p:spPr>
            <a:xfrm>
              <a:off x="8836924" y="4341990"/>
              <a:ext cx="688077" cy="688077"/>
            </a:xfrm>
            <a:prstGeom prst="ellipse">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12" name="Oval 11">
              <a:extLst>
                <a:ext uri="{FF2B5EF4-FFF2-40B4-BE49-F238E27FC236}">
                  <a16:creationId xmlns:a16="http://schemas.microsoft.com/office/drawing/2014/main" id="{014F5CF9-E0BE-AD30-CAF0-6FB68446C0CD}"/>
                </a:ext>
              </a:extLst>
            </p:cNvPr>
            <p:cNvSpPr/>
            <p:nvPr/>
          </p:nvSpPr>
          <p:spPr>
            <a:xfrm>
              <a:off x="2590801" y="5352744"/>
              <a:ext cx="688077" cy="688077"/>
            </a:xfrm>
            <a:prstGeom prst="ellipse">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13" name="Oval 12">
              <a:extLst>
                <a:ext uri="{FF2B5EF4-FFF2-40B4-BE49-F238E27FC236}">
                  <a16:creationId xmlns:a16="http://schemas.microsoft.com/office/drawing/2014/main" id="{497C9AA5-DB9B-1AFC-012D-B3D8743427A8}"/>
                </a:ext>
              </a:extLst>
            </p:cNvPr>
            <p:cNvSpPr/>
            <p:nvPr/>
          </p:nvSpPr>
          <p:spPr>
            <a:xfrm>
              <a:off x="3733801" y="5352744"/>
              <a:ext cx="688077" cy="688077"/>
            </a:xfrm>
            <a:prstGeom prst="ellipse">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a:t>
              </a:r>
            </a:p>
          </p:txBody>
        </p:sp>
        <p:cxnSp>
          <p:nvCxnSpPr>
            <p:cNvPr id="14" name="Straight Connector 13">
              <a:extLst>
                <a:ext uri="{FF2B5EF4-FFF2-40B4-BE49-F238E27FC236}">
                  <a16:creationId xmlns:a16="http://schemas.microsoft.com/office/drawing/2014/main" id="{3F9925F6-573D-F6E3-2D20-9939C39C8CC4}"/>
                </a:ext>
              </a:extLst>
            </p:cNvPr>
            <p:cNvCxnSpPr>
              <a:cxnSpLocks/>
              <a:stCxn id="5" idx="3"/>
              <a:endCxn id="6" idx="7"/>
            </p:cNvCxnSpPr>
            <p:nvPr/>
          </p:nvCxnSpPr>
          <p:spPr>
            <a:xfrm flipH="1">
              <a:off x="4778311" y="3259380"/>
              <a:ext cx="1319311" cy="523676"/>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9690E6CF-81A5-AEED-23C1-2A785442C5F3}"/>
                </a:ext>
              </a:extLst>
            </p:cNvPr>
            <p:cNvCxnSpPr>
              <a:cxnSpLocks/>
              <a:stCxn id="5" idx="5"/>
              <a:endCxn id="7" idx="1"/>
            </p:cNvCxnSpPr>
            <p:nvPr/>
          </p:nvCxnSpPr>
          <p:spPr>
            <a:xfrm>
              <a:off x="6584165" y="3259380"/>
              <a:ext cx="1375101" cy="495300"/>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0918949D-E91F-514C-8942-A55A0B1C1B96}"/>
                </a:ext>
              </a:extLst>
            </p:cNvPr>
            <p:cNvCxnSpPr>
              <a:stCxn id="9" idx="1"/>
              <a:endCxn id="6" idx="5"/>
            </p:cNvCxnSpPr>
            <p:nvPr/>
          </p:nvCxnSpPr>
          <p:spPr>
            <a:xfrm flipH="1" flipV="1">
              <a:off x="4778310" y="4269598"/>
              <a:ext cx="533662" cy="256536"/>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3AEC8F07-B67E-32B1-8194-36206CBAE1C1}"/>
                </a:ext>
              </a:extLst>
            </p:cNvPr>
            <p:cNvCxnSpPr>
              <a:stCxn id="8" idx="7"/>
              <a:endCxn id="6" idx="3"/>
            </p:cNvCxnSpPr>
            <p:nvPr/>
          </p:nvCxnSpPr>
          <p:spPr>
            <a:xfrm flipV="1">
              <a:off x="3787711" y="4269598"/>
              <a:ext cx="504057" cy="214672"/>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ECB303E5-4C0F-E3C1-6C40-D63CB81862DA}"/>
                </a:ext>
              </a:extLst>
            </p:cNvPr>
            <p:cNvCxnSpPr>
              <a:stCxn id="13" idx="0"/>
              <a:endCxn id="8" idx="5"/>
            </p:cNvCxnSpPr>
            <p:nvPr/>
          </p:nvCxnSpPr>
          <p:spPr>
            <a:xfrm flipH="1" flipV="1">
              <a:off x="3787711" y="4970813"/>
              <a:ext cx="290129" cy="381930"/>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2F69F648-6942-5A93-5A23-499C2EB8C9E2}"/>
                </a:ext>
              </a:extLst>
            </p:cNvPr>
            <p:cNvCxnSpPr>
              <a:stCxn id="12" idx="0"/>
              <a:endCxn id="8" idx="3"/>
            </p:cNvCxnSpPr>
            <p:nvPr/>
          </p:nvCxnSpPr>
          <p:spPr>
            <a:xfrm flipV="1">
              <a:off x="2934839" y="4970813"/>
              <a:ext cx="366328" cy="381930"/>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543FFFFF-CF30-2E14-4603-BCEC3E407EB6}"/>
                </a:ext>
              </a:extLst>
            </p:cNvPr>
            <p:cNvCxnSpPr>
              <a:stCxn id="10" idx="7"/>
              <a:endCxn id="7" idx="3"/>
            </p:cNvCxnSpPr>
            <p:nvPr/>
          </p:nvCxnSpPr>
          <p:spPr>
            <a:xfrm flipV="1">
              <a:off x="7521511" y="4241222"/>
              <a:ext cx="437755" cy="201534"/>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5DD9F7F4-FC58-103B-8500-D893D1F68143}"/>
                </a:ext>
              </a:extLst>
            </p:cNvPr>
            <p:cNvCxnSpPr>
              <a:stCxn id="11" idx="1"/>
              <a:endCxn id="7" idx="5"/>
            </p:cNvCxnSpPr>
            <p:nvPr/>
          </p:nvCxnSpPr>
          <p:spPr>
            <a:xfrm flipH="1" flipV="1">
              <a:off x="8445808" y="4241222"/>
              <a:ext cx="491882" cy="201534"/>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xmlns:a14="http://schemas.microsoft.com/office/drawing/2010/main">
        <mc:Choice Requires="a14">
          <p:sp>
            <p:nvSpPr>
              <p:cNvPr id="26" name="Content Placeholder 2">
                <a:extLst>
                  <a:ext uri="{FF2B5EF4-FFF2-40B4-BE49-F238E27FC236}">
                    <a16:creationId xmlns:a16="http://schemas.microsoft.com/office/drawing/2014/main" id="{E2D8F465-972E-702A-2E2F-AEE91909A575}"/>
                  </a:ext>
                </a:extLst>
              </p:cNvPr>
              <p:cNvSpPr>
                <a:spLocks noGrp="1"/>
              </p:cNvSpPr>
              <p:nvPr>
                <p:ph idx="1"/>
              </p:nvPr>
            </p:nvSpPr>
            <p:spPr>
              <a:xfrm>
                <a:off x="156079" y="2452818"/>
                <a:ext cx="10515600" cy="4351338"/>
              </a:xfrm>
            </p:spPr>
            <p:txBody>
              <a:bodyPr>
                <a:normAutofit lnSpcReduction="10000"/>
              </a:bodyPr>
              <a:lstStyle/>
              <a:p>
                <a:pPr marL="0" indent="0">
                  <a:buNone/>
                </a:pPr>
                <a:r>
                  <a:rPr lang="en-US" dirty="0"/>
                  <a:t>extract(){</a:t>
                </a:r>
              </a:p>
              <a:p>
                <a:pPr marL="0" indent="0">
                  <a:buNone/>
                </a:pPr>
                <a:r>
                  <a:rPr lang="en-US" dirty="0"/>
                  <a:t>    min = root</a:t>
                </a:r>
              </a:p>
              <a:p>
                <a:pPr marL="0" indent="0">
                  <a:buNone/>
                </a:pPr>
                <a:r>
                  <a:rPr lang="en-US" dirty="0"/>
                  <a:t>    </a:t>
                </a:r>
                <a:r>
                  <a:rPr lang="en-US" dirty="0" err="1"/>
                  <a:t>curr</a:t>
                </a:r>
                <a:r>
                  <a:rPr lang="en-US" dirty="0"/>
                  <a:t> = bottom-right item</a:t>
                </a:r>
              </a:p>
              <a:p>
                <a:pPr marL="0" indent="0">
                  <a:buNone/>
                </a:pPr>
                <a:r>
                  <a:rPr lang="en-US" dirty="0"/>
                  <a:t>    move </a:t>
                </a:r>
                <a:r>
                  <a:rPr lang="en-US" dirty="0" err="1"/>
                  <a:t>curr</a:t>
                </a:r>
                <a:r>
                  <a:rPr lang="en-US" dirty="0"/>
                  <a:t> to the root</a:t>
                </a:r>
              </a:p>
              <a:p>
                <a:pPr marL="0" indent="0">
                  <a:buNone/>
                </a:pPr>
                <a:r>
                  <a:rPr lang="en-US" dirty="0"/>
                  <a:t>    </a:t>
                </a:r>
                <a:r>
                  <a:rPr lang="en-US" dirty="0">
                    <a:solidFill>
                      <a:srgbClr val="FF0000"/>
                    </a:solidFill>
                  </a:rPr>
                  <a:t>while(</a:t>
                </a:r>
                <a:r>
                  <a:rPr lang="en-US" dirty="0" err="1">
                    <a:solidFill>
                      <a:srgbClr val="FF0000"/>
                    </a:solidFill>
                  </a:rPr>
                  <a:t>curr</a:t>
                </a:r>
                <a:r>
                  <a:rPr lang="en-US" dirty="0">
                    <a:solidFill>
                      <a:srgbClr val="FF0000"/>
                    </a:solidFill>
                  </a:rPr>
                  <a:t> </a:t>
                </a:r>
                <a14:m>
                  <m:oMath xmlns:m="http://schemas.openxmlformats.org/officeDocument/2006/math">
                    <m:r>
                      <a:rPr lang="en-US" b="0" i="1" smtClean="0">
                        <a:solidFill>
                          <a:srgbClr val="FF0000"/>
                        </a:solidFill>
                        <a:latin typeface="Cambria Math" panose="02040503050406030204" pitchFamily="18" charset="0"/>
                      </a:rPr>
                      <m:t>&gt;</m:t>
                    </m:r>
                  </m:oMath>
                </a14:m>
                <a:r>
                  <a:rPr lang="en-US" dirty="0">
                    <a:solidFill>
                      <a:srgbClr val="FF0000"/>
                    </a:solidFill>
                  </a:rPr>
                  <a:t> </a:t>
                </a:r>
                <a:r>
                  <a:rPr lang="en-US" dirty="0" err="1">
                    <a:solidFill>
                      <a:srgbClr val="FF0000"/>
                    </a:solidFill>
                  </a:rPr>
                  <a:t>curr.left</a:t>
                </a:r>
                <a:r>
                  <a:rPr lang="en-US" dirty="0">
                    <a:solidFill>
                      <a:srgbClr val="FF0000"/>
                    </a:solidFill>
                  </a:rPr>
                  <a:t> || </a:t>
                </a:r>
                <a:r>
                  <a:rPr lang="en-US" dirty="0" err="1">
                    <a:solidFill>
                      <a:srgbClr val="FF0000"/>
                    </a:solidFill>
                  </a:rPr>
                  <a:t>curr</a:t>
                </a:r>
                <a:r>
                  <a:rPr lang="en-US" dirty="0">
                    <a:solidFill>
                      <a:srgbClr val="FF0000"/>
                    </a:solidFill>
                  </a:rPr>
                  <a:t> &gt; </a:t>
                </a:r>
                <a:r>
                  <a:rPr lang="en-US" dirty="0" err="1">
                    <a:solidFill>
                      <a:srgbClr val="FF0000"/>
                    </a:solidFill>
                  </a:rPr>
                  <a:t>curr.right</a:t>
                </a:r>
                <a:r>
                  <a:rPr lang="en-US" dirty="0">
                    <a:solidFill>
                      <a:srgbClr val="FF0000"/>
                    </a:solidFill>
                  </a:rPr>
                  <a:t>){</a:t>
                </a:r>
              </a:p>
              <a:p>
                <a:pPr marL="0" indent="0">
                  <a:buNone/>
                </a:pPr>
                <a:r>
                  <a:rPr lang="en-US" dirty="0">
                    <a:solidFill>
                      <a:srgbClr val="FF0000"/>
                    </a:solidFill>
                  </a:rPr>
                  <a:t>        swap </a:t>
                </a:r>
                <a:r>
                  <a:rPr lang="en-US" dirty="0" err="1">
                    <a:solidFill>
                      <a:srgbClr val="FF0000"/>
                    </a:solidFill>
                  </a:rPr>
                  <a:t>curr</a:t>
                </a:r>
                <a:r>
                  <a:rPr lang="en-US" dirty="0">
                    <a:solidFill>
                      <a:srgbClr val="FF0000"/>
                    </a:solidFill>
                  </a:rPr>
                  <a:t> with its smallest child</a:t>
                </a:r>
              </a:p>
              <a:p>
                <a:pPr marL="0" indent="0">
                  <a:buNone/>
                </a:pPr>
                <a:r>
                  <a:rPr lang="en-US" dirty="0">
                    <a:solidFill>
                      <a:srgbClr val="FF0000"/>
                    </a:solidFill>
                  </a:rPr>
                  <a:t>    }</a:t>
                </a:r>
                <a:endParaRPr lang="en-US" dirty="0"/>
              </a:p>
              <a:p>
                <a:pPr marL="0" indent="0">
                  <a:buNone/>
                </a:pPr>
                <a:r>
                  <a:rPr lang="en-US" dirty="0"/>
                  <a:t>    return min</a:t>
                </a:r>
              </a:p>
              <a:p>
                <a:pPr marL="0" indent="0">
                  <a:buNone/>
                </a:pPr>
                <a:r>
                  <a:rPr lang="en-US" dirty="0"/>
                  <a:t>}</a:t>
                </a:r>
              </a:p>
            </p:txBody>
          </p:sp>
        </mc:Choice>
        <mc:Fallback xmlns="">
          <p:sp>
            <p:nvSpPr>
              <p:cNvPr id="26" name="Content Placeholder 2">
                <a:extLst>
                  <a:ext uri="{FF2B5EF4-FFF2-40B4-BE49-F238E27FC236}">
                    <a16:creationId xmlns:a16="http://schemas.microsoft.com/office/drawing/2014/main" id="{E2D8F465-972E-702A-2E2F-AEE91909A575}"/>
                  </a:ext>
                </a:extLst>
              </p:cNvPr>
              <p:cNvSpPr>
                <a:spLocks noGrp="1" noRot="1" noChangeAspect="1" noMove="1" noResize="1" noEditPoints="1" noAdjustHandles="1" noChangeArrowheads="1" noChangeShapeType="1" noTextEdit="1"/>
              </p:cNvSpPr>
              <p:nvPr>
                <p:ph idx="1"/>
              </p:nvPr>
            </p:nvSpPr>
            <p:spPr>
              <a:xfrm>
                <a:off x="156079" y="2452818"/>
                <a:ext cx="10515600" cy="4351338"/>
              </a:xfrm>
              <a:blipFill>
                <a:blip r:embed="rId2"/>
                <a:stretch>
                  <a:fillRect l="-1217" t="-3081" b="-280"/>
                </a:stretch>
              </a:blipFill>
            </p:spPr>
            <p:txBody>
              <a:bodyPr/>
              <a:lstStyle/>
              <a:p>
                <a:r>
                  <a:rPr lang="en-US">
                    <a:noFill/>
                  </a:rPr>
                  <a:t> </a:t>
                </a:r>
              </a:p>
            </p:txBody>
          </p:sp>
        </mc:Fallback>
      </mc:AlternateContent>
      <p:grpSp>
        <p:nvGrpSpPr>
          <p:cNvPr id="3" name="Group 2" descr="The lines which state:&#10;while(curr &gt; curr.left || curr &gt; curr.right){&#10;    swap curr with its smallest child&#10;}&#10;represent a subroutine that we refer to as &quot;percolate down&quot;">
            <a:extLst>
              <a:ext uri="{FF2B5EF4-FFF2-40B4-BE49-F238E27FC236}">
                <a16:creationId xmlns:a16="http://schemas.microsoft.com/office/drawing/2014/main" id="{2BE24C3B-C061-3FD7-FCCA-7B1D789B47A4}"/>
              </a:ext>
            </a:extLst>
          </p:cNvPr>
          <p:cNvGrpSpPr/>
          <p:nvPr/>
        </p:nvGrpSpPr>
        <p:grpSpPr>
          <a:xfrm>
            <a:off x="6473436" y="4342845"/>
            <a:ext cx="2739723" cy="1336595"/>
            <a:chOff x="6473436" y="4342845"/>
            <a:chExt cx="2739723" cy="1336595"/>
          </a:xfrm>
        </p:grpSpPr>
        <p:sp>
          <p:nvSpPr>
            <p:cNvPr id="22" name="Right Brace 21">
              <a:extLst>
                <a:ext uri="{FF2B5EF4-FFF2-40B4-BE49-F238E27FC236}">
                  <a16:creationId xmlns:a16="http://schemas.microsoft.com/office/drawing/2014/main" id="{5147F7B6-709F-C49E-D1B7-013896CB6EF8}"/>
                </a:ext>
              </a:extLst>
            </p:cNvPr>
            <p:cNvSpPr/>
            <p:nvPr/>
          </p:nvSpPr>
          <p:spPr>
            <a:xfrm>
              <a:off x="6473436" y="4342845"/>
              <a:ext cx="603466" cy="1336595"/>
            </a:xfrm>
            <a:prstGeom prst="rightBrace">
              <a:avLst/>
            </a:prstGeom>
            <a:ln>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3" name="TextBox 22">
              <a:extLst>
                <a:ext uri="{FF2B5EF4-FFF2-40B4-BE49-F238E27FC236}">
                  <a16:creationId xmlns:a16="http://schemas.microsoft.com/office/drawing/2014/main" id="{03318690-8D9F-53A0-49C1-DC4B6BBF3DEB}"/>
                </a:ext>
              </a:extLst>
            </p:cNvPr>
            <p:cNvSpPr txBox="1"/>
            <p:nvPr/>
          </p:nvSpPr>
          <p:spPr>
            <a:xfrm>
              <a:off x="7061416" y="4833026"/>
              <a:ext cx="2151743" cy="461665"/>
            </a:xfrm>
            <a:prstGeom prst="rect">
              <a:avLst/>
            </a:prstGeom>
            <a:noFill/>
          </p:spPr>
          <p:txBody>
            <a:bodyPr wrap="none" rtlCol="0">
              <a:spAutoFit/>
            </a:bodyPr>
            <a:lstStyle/>
            <a:p>
              <a:r>
                <a:rPr lang="en-US" sz="2400" dirty="0">
                  <a:solidFill>
                    <a:srgbClr val="FF0000"/>
                  </a:solidFill>
                </a:rPr>
                <a:t>Percolate Down</a:t>
              </a:r>
            </a:p>
          </p:txBody>
        </p:sp>
      </p:grpSp>
      <mc:AlternateContent xmlns:mc="http://schemas.openxmlformats.org/markup-compatibility/2006">
        <mc:Choice xmlns:p14="http://schemas.microsoft.com/office/powerpoint/2010/main" Requires="p14">
          <p:contentPart p14:bwMode="auto" r:id="rId3">
            <p14:nvContentPartPr>
              <p14:cNvPr id="24" name="Ink 23">
                <a:extLst>
                  <a:ext uri="{FF2B5EF4-FFF2-40B4-BE49-F238E27FC236}">
                    <a16:creationId xmlns:a16="http://schemas.microsoft.com/office/drawing/2014/main" id="{3E26A779-A1DC-4DDB-D481-63237386F288}"/>
                  </a:ext>
                </a:extLst>
              </p14:cNvPr>
              <p14:cNvContentPartPr/>
              <p14:nvPr/>
            </p14:nvContentPartPr>
            <p14:xfrm>
              <a:off x="6980760" y="3863880"/>
              <a:ext cx="430560" cy="367560"/>
            </p14:xfrm>
          </p:contentPart>
        </mc:Choice>
        <mc:Fallback>
          <p:pic>
            <p:nvPicPr>
              <p:cNvPr id="24" name="Ink 23">
                <a:extLst>
                  <a:ext uri="{FF2B5EF4-FFF2-40B4-BE49-F238E27FC236}">
                    <a16:creationId xmlns:a16="http://schemas.microsoft.com/office/drawing/2014/main" id="{3E26A779-A1DC-4DDB-D481-63237386F288}"/>
                  </a:ext>
                </a:extLst>
              </p:cNvPr>
              <p:cNvPicPr/>
              <p:nvPr/>
            </p:nvPicPr>
            <p:blipFill>
              <a:blip r:embed="rId4"/>
              <a:stretch>
                <a:fillRect/>
              </a:stretch>
            </p:blipFill>
            <p:spPr>
              <a:xfrm>
                <a:off x="6971400" y="3854520"/>
                <a:ext cx="449280" cy="386280"/>
              </a:xfrm>
              <a:prstGeom prst="rect">
                <a:avLst/>
              </a:prstGeom>
            </p:spPr>
          </p:pic>
        </mc:Fallback>
      </mc:AlternateContent>
    </p:spTree>
    <p:extLst>
      <p:ext uri="{BB962C8B-B14F-4D97-AF65-F5344CB8AC3E}">
        <p14:creationId xmlns:p14="http://schemas.microsoft.com/office/powerpoint/2010/main" val="349793428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6B7BEE-83FC-6A92-8C72-922983C3E767}"/>
              </a:ext>
            </a:extLst>
          </p:cNvPr>
          <p:cNvSpPr>
            <a:spLocks noGrp="1"/>
          </p:cNvSpPr>
          <p:nvPr>
            <p:ph type="title"/>
          </p:nvPr>
        </p:nvSpPr>
        <p:spPr/>
        <p:txBody>
          <a:bodyPr/>
          <a:lstStyle/>
          <a:p>
            <a:r>
              <a:rPr lang="en-US" dirty="0"/>
              <a:t>Heap extract (Done)</a:t>
            </a:r>
          </a:p>
        </p:txBody>
      </p:sp>
      <p:grpSp>
        <p:nvGrpSpPr>
          <p:cNvPr id="4" name="Group 3" descr="At this point 7 is now a leaf, and so we have repaired the heap property, and the extract is complete. We finally return the value that was originally in the root node (1).">
            <a:extLst>
              <a:ext uri="{FF2B5EF4-FFF2-40B4-BE49-F238E27FC236}">
                <a16:creationId xmlns:a16="http://schemas.microsoft.com/office/drawing/2014/main" id="{F5FEEAE4-5947-43BB-33F3-0E2F7A27D58C}"/>
              </a:ext>
            </a:extLst>
          </p:cNvPr>
          <p:cNvGrpSpPr/>
          <p:nvPr/>
        </p:nvGrpSpPr>
        <p:grpSpPr>
          <a:xfrm>
            <a:off x="5161281" y="73781"/>
            <a:ext cx="6934200" cy="3368751"/>
            <a:chOff x="2590801" y="2672070"/>
            <a:chExt cx="6934200" cy="3368751"/>
          </a:xfrm>
          <a:solidFill>
            <a:schemeClr val="bg1"/>
          </a:solidFill>
        </p:grpSpPr>
        <p:sp>
          <p:nvSpPr>
            <p:cNvPr id="5" name="Oval 4">
              <a:extLst>
                <a:ext uri="{FF2B5EF4-FFF2-40B4-BE49-F238E27FC236}">
                  <a16:creationId xmlns:a16="http://schemas.microsoft.com/office/drawing/2014/main" id="{F33A0E13-4996-116D-FFBB-C9C47C84D55C}"/>
                </a:ext>
              </a:extLst>
            </p:cNvPr>
            <p:cNvSpPr/>
            <p:nvPr/>
          </p:nvSpPr>
          <p:spPr>
            <a:xfrm>
              <a:off x="5996855" y="2672070"/>
              <a:ext cx="688077" cy="688077"/>
            </a:xfrm>
            <a:prstGeom prst="ellipse">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1.5</a:t>
              </a:r>
            </a:p>
          </p:txBody>
        </p:sp>
        <p:sp>
          <p:nvSpPr>
            <p:cNvPr id="6" name="Oval 5">
              <a:extLst>
                <a:ext uri="{FF2B5EF4-FFF2-40B4-BE49-F238E27FC236}">
                  <a16:creationId xmlns:a16="http://schemas.microsoft.com/office/drawing/2014/main" id="{3C2A72B8-1FD3-516D-A021-E2075712D6CB}"/>
                </a:ext>
              </a:extLst>
            </p:cNvPr>
            <p:cNvSpPr/>
            <p:nvPr/>
          </p:nvSpPr>
          <p:spPr>
            <a:xfrm>
              <a:off x="4191001" y="3682289"/>
              <a:ext cx="688077" cy="688077"/>
            </a:xfrm>
            <a:prstGeom prst="ellipse">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7" name="Oval 6">
              <a:extLst>
                <a:ext uri="{FF2B5EF4-FFF2-40B4-BE49-F238E27FC236}">
                  <a16:creationId xmlns:a16="http://schemas.microsoft.com/office/drawing/2014/main" id="{392D9E01-B220-E093-6B95-A68C0266A5BC}"/>
                </a:ext>
              </a:extLst>
            </p:cNvPr>
            <p:cNvSpPr/>
            <p:nvPr/>
          </p:nvSpPr>
          <p:spPr>
            <a:xfrm>
              <a:off x="7858499" y="3653913"/>
              <a:ext cx="688077" cy="688077"/>
            </a:xfrm>
            <a:prstGeom prst="ellipse">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8" name="Oval 7">
              <a:extLst>
                <a:ext uri="{FF2B5EF4-FFF2-40B4-BE49-F238E27FC236}">
                  <a16:creationId xmlns:a16="http://schemas.microsoft.com/office/drawing/2014/main" id="{31620859-F5B3-EB2D-7626-028B1D551DC8}"/>
                </a:ext>
              </a:extLst>
            </p:cNvPr>
            <p:cNvSpPr/>
            <p:nvPr/>
          </p:nvSpPr>
          <p:spPr>
            <a:xfrm>
              <a:off x="3200401" y="4383504"/>
              <a:ext cx="688077" cy="688077"/>
            </a:xfrm>
            <a:prstGeom prst="ellipse">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9" name="Oval 8">
              <a:extLst>
                <a:ext uri="{FF2B5EF4-FFF2-40B4-BE49-F238E27FC236}">
                  <a16:creationId xmlns:a16="http://schemas.microsoft.com/office/drawing/2014/main" id="{EDDB63C5-2978-A1A0-5B7C-21B3C85ED8F3}"/>
                </a:ext>
              </a:extLst>
            </p:cNvPr>
            <p:cNvSpPr/>
            <p:nvPr/>
          </p:nvSpPr>
          <p:spPr>
            <a:xfrm>
              <a:off x="5211206" y="4425368"/>
              <a:ext cx="688077" cy="688077"/>
            </a:xfrm>
            <a:prstGeom prst="ellipse">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10" name="Oval 9">
              <a:extLst>
                <a:ext uri="{FF2B5EF4-FFF2-40B4-BE49-F238E27FC236}">
                  <a16:creationId xmlns:a16="http://schemas.microsoft.com/office/drawing/2014/main" id="{9246EA45-DB59-3189-5133-E09D0AC67BEF}"/>
                </a:ext>
              </a:extLst>
            </p:cNvPr>
            <p:cNvSpPr/>
            <p:nvPr/>
          </p:nvSpPr>
          <p:spPr>
            <a:xfrm>
              <a:off x="6934201" y="4341990"/>
              <a:ext cx="688077" cy="688077"/>
            </a:xfrm>
            <a:prstGeom prst="ellipse">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11" name="Oval 10">
              <a:extLst>
                <a:ext uri="{FF2B5EF4-FFF2-40B4-BE49-F238E27FC236}">
                  <a16:creationId xmlns:a16="http://schemas.microsoft.com/office/drawing/2014/main" id="{9ACF96E3-806B-71A4-4206-D4D7C31A2F2D}"/>
                </a:ext>
              </a:extLst>
            </p:cNvPr>
            <p:cNvSpPr/>
            <p:nvPr/>
          </p:nvSpPr>
          <p:spPr>
            <a:xfrm>
              <a:off x="8836924" y="4341990"/>
              <a:ext cx="688077" cy="688077"/>
            </a:xfrm>
            <a:prstGeom prst="ellipse">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12" name="Oval 11">
              <a:extLst>
                <a:ext uri="{FF2B5EF4-FFF2-40B4-BE49-F238E27FC236}">
                  <a16:creationId xmlns:a16="http://schemas.microsoft.com/office/drawing/2014/main" id="{014F5CF9-E0BE-AD30-CAF0-6FB68446C0CD}"/>
                </a:ext>
              </a:extLst>
            </p:cNvPr>
            <p:cNvSpPr/>
            <p:nvPr/>
          </p:nvSpPr>
          <p:spPr>
            <a:xfrm>
              <a:off x="2590801" y="5352744"/>
              <a:ext cx="688077" cy="688077"/>
            </a:xfrm>
            <a:prstGeom prst="ellipse">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13" name="Oval 12">
              <a:extLst>
                <a:ext uri="{FF2B5EF4-FFF2-40B4-BE49-F238E27FC236}">
                  <a16:creationId xmlns:a16="http://schemas.microsoft.com/office/drawing/2014/main" id="{497C9AA5-DB9B-1AFC-012D-B3D8743427A8}"/>
                </a:ext>
              </a:extLst>
            </p:cNvPr>
            <p:cNvSpPr/>
            <p:nvPr/>
          </p:nvSpPr>
          <p:spPr>
            <a:xfrm>
              <a:off x="3733801" y="5352744"/>
              <a:ext cx="688077" cy="688077"/>
            </a:xfrm>
            <a:prstGeom prst="ellipse">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a:t>
              </a:r>
            </a:p>
          </p:txBody>
        </p:sp>
        <p:cxnSp>
          <p:nvCxnSpPr>
            <p:cNvPr id="14" name="Straight Connector 13">
              <a:extLst>
                <a:ext uri="{FF2B5EF4-FFF2-40B4-BE49-F238E27FC236}">
                  <a16:creationId xmlns:a16="http://schemas.microsoft.com/office/drawing/2014/main" id="{3F9925F6-573D-F6E3-2D20-9939C39C8CC4}"/>
                </a:ext>
              </a:extLst>
            </p:cNvPr>
            <p:cNvCxnSpPr>
              <a:cxnSpLocks/>
              <a:stCxn id="5" idx="3"/>
              <a:endCxn id="6" idx="7"/>
            </p:cNvCxnSpPr>
            <p:nvPr/>
          </p:nvCxnSpPr>
          <p:spPr>
            <a:xfrm flipH="1">
              <a:off x="4778311" y="3259380"/>
              <a:ext cx="1319311" cy="523676"/>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9690E6CF-81A5-AEED-23C1-2A785442C5F3}"/>
                </a:ext>
              </a:extLst>
            </p:cNvPr>
            <p:cNvCxnSpPr>
              <a:cxnSpLocks/>
              <a:stCxn id="5" idx="5"/>
              <a:endCxn id="7" idx="1"/>
            </p:cNvCxnSpPr>
            <p:nvPr/>
          </p:nvCxnSpPr>
          <p:spPr>
            <a:xfrm>
              <a:off x="6584165" y="3259380"/>
              <a:ext cx="1375101" cy="495300"/>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0918949D-E91F-514C-8942-A55A0B1C1B96}"/>
                </a:ext>
              </a:extLst>
            </p:cNvPr>
            <p:cNvCxnSpPr>
              <a:stCxn id="9" idx="1"/>
              <a:endCxn id="6" idx="5"/>
            </p:cNvCxnSpPr>
            <p:nvPr/>
          </p:nvCxnSpPr>
          <p:spPr>
            <a:xfrm flipH="1" flipV="1">
              <a:off x="4778310" y="4269598"/>
              <a:ext cx="533662" cy="256536"/>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3AEC8F07-B67E-32B1-8194-36206CBAE1C1}"/>
                </a:ext>
              </a:extLst>
            </p:cNvPr>
            <p:cNvCxnSpPr>
              <a:stCxn id="8" idx="7"/>
              <a:endCxn id="6" idx="3"/>
            </p:cNvCxnSpPr>
            <p:nvPr/>
          </p:nvCxnSpPr>
          <p:spPr>
            <a:xfrm flipV="1">
              <a:off x="3787711" y="4269598"/>
              <a:ext cx="504057" cy="214672"/>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ECB303E5-4C0F-E3C1-6C40-D63CB81862DA}"/>
                </a:ext>
              </a:extLst>
            </p:cNvPr>
            <p:cNvCxnSpPr>
              <a:stCxn id="13" idx="0"/>
              <a:endCxn id="8" idx="5"/>
            </p:cNvCxnSpPr>
            <p:nvPr/>
          </p:nvCxnSpPr>
          <p:spPr>
            <a:xfrm flipH="1" flipV="1">
              <a:off x="3787711" y="4970813"/>
              <a:ext cx="290129" cy="381930"/>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2F69F648-6942-5A93-5A23-499C2EB8C9E2}"/>
                </a:ext>
              </a:extLst>
            </p:cNvPr>
            <p:cNvCxnSpPr>
              <a:stCxn id="12" idx="0"/>
              <a:endCxn id="8" idx="3"/>
            </p:cNvCxnSpPr>
            <p:nvPr/>
          </p:nvCxnSpPr>
          <p:spPr>
            <a:xfrm flipV="1">
              <a:off x="2934839" y="4970813"/>
              <a:ext cx="366328" cy="381930"/>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543FFFFF-CF30-2E14-4603-BCEC3E407EB6}"/>
                </a:ext>
              </a:extLst>
            </p:cNvPr>
            <p:cNvCxnSpPr>
              <a:stCxn id="10" idx="7"/>
              <a:endCxn id="7" idx="3"/>
            </p:cNvCxnSpPr>
            <p:nvPr/>
          </p:nvCxnSpPr>
          <p:spPr>
            <a:xfrm flipV="1">
              <a:off x="7521511" y="4241222"/>
              <a:ext cx="437755" cy="201534"/>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5DD9F7F4-FC58-103B-8500-D893D1F68143}"/>
                </a:ext>
              </a:extLst>
            </p:cNvPr>
            <p:cNvCxnSpPr>
              <a:stCxn id="11" idx="1"/>
              <a:endCxn id="7" idx="5"/>
            </p:cNvCxnSpPr>
            <p:nvPr/>
          </p:nvCxnSpPr>
          <p:spPr>
            <a:xfrm flipH="1" flipV="1">
              <a:off x="8445808" y="4241222"/>
              <a:ext cx="491882" cy="201534"/>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28CF168B-C22F-1B48-82E7-F81CD4DCA565}"/>
                  </a:ext>
                </a:extLst>
              </p:cNvPr>
              <p:cNvSpPr>
                <a:spLocks noGrp="1"/>
              </p:cNvSpPr>
              <p:nvPr>
                <p:ph idx="1"/>
              </p:nvPr>
            </p:nvSpPr>
            <p:spPr>
              <a:xfrm>
                <a:off x="156079" y="2452818"/>
                <a:ext cx="10515600" cy="4351338"/>
              </a:xfrm>
            </p:spPr>
            <p:txBody>
              <a:bodyPr>
                <a:normAutofit lnSpcReduction="10000"/>
              </a:bodyPr>
              <a:lstStyle/>
              <a:p>
                <a:pPr marL="0" indent="0">
                  <a:buNone/>
                </a:pPr>
                <a:r>
                  <a:rPr lang="en-US" dirty="0"/>
                  <a:t>extract(){</a:t>
                </a:r>
              </a:p>
              <a:p>
                <a:pPr marL="0" indent="0">
                  <a:buNone/>
                </a:pPr>
                <a:r>
                  <a:rPr lang="en-US" dirty="0"/>
                  <a:t>    min = root</a:t>
                </a:r>
              </a:p>
              <a:p>
                <a:pPr marL="0" indent="0">
                  <a:buNone/>
                </a:pPr>
                <a:r>
                  <a:rPr lang="en-US" dirty="0"/>
                  <a:t>    </a:t>
                </a:r>
                <a:r>
                  <a:rPr lang="en-US" dirty="0" err="1"/>
                  <a:t>curr</a:t>
                </a:r>
                <a:r>
                  <a:rPr lang="en-US" dirty="0"/>
                  <a:t> = bottom-right item</a:t>
                </a:r>
              </a:p>
              <a:p>
                <a:pPr marL="0" indent="0">
                  <a:buNone/>
                </a:pPr>
                <a:r>
                  <a:rPr lang="en-US" dirty="0"/>
                  <a:t>    move </a:t>
                </a:r>
                <a:r>
                  <a:rPr lang="en-US" dirty="0" err="1"/>
                  <a:t>curr</a:t>
                </a:r>
                <a:r>
                  <a:rPr lang="en-US" dirty="0"/>
                  <a:t> to the root</a:t>
                </a:r>
              </a:p>
              <a:p>
                <a:pPr marL="0" indent="0">
                  <a:buNone/>
                </a:pPr>
                <a:r>
                  <a:rPr lang="en-US" dirty="0"/>
                  <a:t>    while(</a:t>
                </a:r>
                <a:r>
                  <a:rPr lang="en-US" dirty="0" err="1"/>
                  <a:t>curr</a:t>
                </a:r>
                <a:r>
                  <a:rPr lang="en-US" dirty="0"/>
                  <a:t> </a:t>
                </a:r>
                <a14:m>
                  <m:oMath xmlns:m="http://schemas.openxmlformats.org/officeDocument/2006/math">
                    <m:r>
                      <a:rPr lang="en-US" b="0" i="1" smtClean="0">
                        <a:latin typeface="Cambria Math" panose="02040503050406030204" pitchFamily="18" charset="0"/>
                      </a:rPr>
                      <m:t>&gt;</m:t>
                    </m:r>
                  </m:oMath>
                </a14:m>
                <a:r>
                  <a:rPr lang="en-US" dirty="0"/>
                  <a:t> </a:t>
                </a:r>
                <a:r>
                  <a:rPr lang="en-US" dirty="0" err="1"/>
                  <a:t>curr.left</a:t>
                </a:r>
                <a:r>
                  <a:rPr lang="en-US" dirty="0"/>
                  <a:t> || </a:t>
                </a:r>
                <a:r>
                  <a:rPr lang="en-US" dirty="0" err="1"/>
                  <a:t>curr</a:t>
                </a:r>
                <a:r>
                  <a:rPr lang="en-US" dirty="0"/>
                  <a:t> &gt; </a:t>
                </a:r>
                <a:r>
                  <a:rPr lang="en-US" dirty="0" err="1"/>
                  <a:t>curr.right</a:t>
                </a:r>
                <a:r>
                  <a:rPr lang="en-US" dirty="0"/>
                  <a:t>){</a:t>
                </a:r>
              </a:p>
              <a:p>
                <a:pPr marL="0" indent="0">
                  <a:buNone/>
                </a:pPr>
                <a:r>
                  <a:rPr lang="en-US" dirty="0"/>
                  <a:t>        swap </a:t>
                </a:r>
                <a:r>
                  <a:rPr lang="en-US" dirty="0" err="1"/>
                  <a:t>curr</a:t>
                </a:r>
                <a:r>
                  <a:rPr lang="en-US" dirty="0"/>
                  <a:t> with its smallest child</a:t>
                </a:r>
              </a:p>
              <a:p>
                <a:pPr marL="0" indent="0">
                  <a:buNone/>
                </a:pPr>
                <a:r>
                  <a:rPr lang="en-US" dirty="0"/>
                  <a:t>    }</a:t>
                </a:r>
              </a:p>
              <a:p>
                <a:pPr marL="0" indent="0">
                  <a:buNone/>
                </a:pPr>
                <a:r>
                  <a:rPr lang="en-US" dirty="0"/>
                  <a:t>    </a:t>
                </a:r>
                <a:r>
                  <a:rPr lang="en-US" dirty="0">
                    <a:solidFill>
                      <a:srgbClr val="FF0000"/>
                    </a:solidFill>
                  </a:rPr>
                  <a:t>return min</a:t>
                </a:r>
              </a:p>
              <a:p>
                <a:pPr marL="0" indent="0">
                  <a:buNone/>
                </a:pPr>
                <a:r>
                  <a:rPr lang="en-US" dirty="0"/>
                  <a:t>}</a:t>
                </a:r>
              </a:p>
            </p:txBody>
          </p:sp>
        </mc:Choice>
        <mc:Fallback xmlns="">
          <p:sp>
            <p:nvSpPr>
              <p:cNvPr id="3" name="Content Placeholder 2">
                <a:extLst>
                  <a:ext uri="{FF2B5EF4-FFF2-40B4-BE49-F238E27FC236}">
                    <a16:creationId xmlns:a16="http://schemas.microsoft.com/office/drawing/2014/main" id="{28CF168B-C22F-1B48-82E7-F81CD4DCA565}"/>
                  </a:ext>
                </a:extLst>
              </p:cNvPr>
              <p:cNvSpPr>
                <a:spLocks noGrp="1" noRot="1" noChangeAspect="1" noMove="1" noResize="1" noEditPoints="1" noAdjustHandles="1" noChangeArrowheads="1" noChangeShapeType="1" noTextEdit="1"/>
              </p:cNvSpPr>
              <p:nvPr>
                <p:ph idx="1"/>
              </p:nvPr>
            </p:nvSpPr>
            <p:spPr>
              <a:xfrm>
                <a:off x="156079" y="2452818"/>
                <a:ext cx="10515600" cy="4351338"/>
              </a:xfrm>
              <a:blipFill>
                <a:blip r:embed="rId2"/>
                <a:stretch>
                  <a:fillRect l="-1217" t="-3081" b="-280"/>
                </a:stretch>
              </a:blipFill>
            </p:spPr>
            <p:txBody>
              <a:bodyPr/>
              <a:lstStyle/>
              <a:p>
                <a:r>
                  <a:rPr lang="en-US">
                    <a:noFill/>
                  </a:rPr>
                  <a:t> </a:t>
                </a:r>
              </a:p>
            </p:txBody>
          </p:sp>
        </mc:Fallback>
      </mc:AlternateContent>
    </p:spTree>
    <p:extLst>
      <p:ext uri="{BB962C8B-B14F-4D97-AF65-F5344CB8AC3E}">
        <p14:creationId xmlns:p14="http://schemas.microsoft.com/office/powerpoint/2010/main" val="157942897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F65775-ECF5-263D-D86C-2666D0E601CC}"/>
              </a:ext>
            </a:extLst>
          </p:cNvPr>
          <p:cNvSpPr>
            <a:spLocks noGrp="1"/>
          </p:cNvSpPr>
          <p:nvPr>
            <p:ph type="title"/>
          </p:nvPr>
        </p:nvSpPr>
        <p:spPr/>
        <p:txBody>
          <a:bodyPr/>
          <a:lstStyle/>
          <a:p>
            <a:r>
              <a:rPr lang="en-US" dirty="0"/>
              <a:t>Percolate Up and Down (for a Min Heap)</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4400E82E-8B91-3DBC-BE69-2D72AD7E8558}"/>
                  </a:ext>
                </a:extLst>
              </p:cNvPr>
              <p:cNvSpPr>
                <a:spLocks noGrp="1"/>
              </p:cNvSpPr>
              <p:nvPr>
                <p:ph idx="1"/>
              </p:nvPr>
            </p:nvSpPr>
            <p:spPr/>
            <p:txBody>
              <a:bodyPr/>
              <a:lstStyle/>
              <a:p>
                <a:r>
                  <a:rPr lang="en-US" dirty="0"/>
                  <a:t>Goal: restore the “Heap Property”</a:t>
                </a:r>
              </a:p>
              <a:p>
                <a:r>
                  <a:rPr lang="en-US" dirty="0"/>
                  <a:t>Percolate Up:</a:t>
                </a:r>
              </a:p>
              <a:p>
                <a:pPr lvl="1"/>
                <a:r>
                  <a:rPr lang="en-US" dirty="0"/>
                  <a:t>Take a node that may be smaller than a parent, repeatedly swap with a parent until it is larger than its parent</a:t>
                </a:r>
              </a:p>
              <a:p>
                <a:r>
                  <a:rPr lang="en-US" dirty="0"/>
                  <a:t>Percolate Down:</a:t>
                </a:r>
              </a:p>
              <a:p>
                <a:pPr lvl="1"/>
                <a:r>
                  <a:rPr lang="en-US" dirty="0"/>
                  <a:t>Take a node that may be larger than one of its children, repeatedly swap with smallest child until both children are larger</a:t>
                </a:r>
              </a:p>
              <a:p>
                <a:r>
                  <a:rPr lang="en-US" dirty="0"/>
                  <a:t>Worst case running time of each:</a:t>
                </a:r>
              </a:p>
              <a:p>
                <a:pPr lvl="1"/>
                <a14:m>
                  <m:oMath xmlns:m="http://schemas.openxmlformats.org/officeDocument/2006/math">
                    <m:r>
                      <m:rPr>
                        <m:sty m:val="p"/>
                      </m:rPr>
                      <a:rPr lang="en-US" b="0" i="0" smtClean="0">
                        <a:latin typeface="Cambria Math" panose="02040503050406030204" pitchFamily="18" charset="0"/>
                      </a:rPr>
                      <m:t>Θ</m:t>
                    </m:r>
                    <m:d>
                      <m:dPr>
                        <m:ctrlPr>
                          <a:rPr lang="en-US" b="0" i="1" smtClean="0">
                            <a:latin typeface="Cambria Math" panose="02040503050406030204" pitchFamily="18" charset="0"/>
                          </a:rPr>
                        </m:ctrlPr>
                      </m:dPr>
                      <m:e>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log</m:t>
                            </m:r>
                          </m:fName>
                          <m:e>
                            <m:r>
                              <a:rPr lang="en-US" b="0" i="1" smtClean="0">
                                <a:latin typeface="Cambria Math" panose="02040503050406030204" pitchFamily="18" charset="0"/>
                              </a:rPr>
                              <m:t>𝑛</m:t>
                            </m:r>
                          </m:e>
                        </m:func>
                      </m:e>
                    </m:d>
                  </m:oMath>
                </a14:m>
                <a:endParaRPr lang="en-US" dirty="0"/>
              </a:p>
              <a:p>
                <a:pPr lvl="1"/>
                <a:endParaRPr lang="en-US" dirty="0"/>
              </a:p>
            </p:txBody>
          </p:sp>
        </mc:Choice>
        <mc:Fallback xmlns="">
          <p:sp>
            <p:nvSpPr>
              <p:cNvPr id="3" name="Content Placeholder 2">
                <a:extLst>
                  <a:ext uri="{FF2B5EF4-FFF2-40B4-BE49-F238E27FC236}">
                    <a16:creationId xmlns:a16="http://schemas.microsoft.com/office/drawing/2014/main" id="{4400E82E-8B91-3DBC-BE69-2D72AD7E8558}"/>
                  </a:ext>
                </a:extLst>
              </p:cNvPr>
              <p:cNvSpPr>
                <a:spLocks noGrp="1" noRot="1" noChangeAspect="1" noMove="1" noResize="1" noEditPoints="1" noAdjustHandles="1" noChangeArrowheads="1" noChangeShapeType="1" noTextEdit="1"/>
              </p:cNvSpPr>
              <p:nvPr>
                <p:ph idx="1"/>
              </p:nvPr>
            </p:nvSpPr>
            <p:spPr>
              <a:blipFill>
                <a:blip r:embed="rId2"/>
                <a:stretch>
                  <a:fillRect l="-1043" t="-2241" r="-1391"/>
                </a:stretch>
              </a:blipFill>
            </p:spPr>
            <p:txBody>
              <a:bodyPr/>
              <a:lstStyle/>
              <a:p>
                <a:r>
                  <a:rPr lang="en-US">
                    <a:noFill/>
                  </a:rPr>
                  <a:t> </a:t>
                </a:r>
              </a:p>
            </p:txBody>
          </p:sp>
        </mc:Fallback>
      </mc:AlternateContent>
      <mc:AlternateContent xmlns:mc="http://schemas.openxmlformats.org/markup-compatibility/2006">
        <mc:Choice xmlns:p14="http://schemas.microsoft.com/office/powerpoint/2010/main" Requires="p14">
          <p:contentPart p14:bwMode="auto" r:id="rId3">
            <p14:nvContentPartPr>
              <p14:cNvPr id="4" name="Ink 3">
                <a:extLst>
                  <a:ext uri="{FF2B5EF4-FFF2-40B4-BE49-F238E27FC236}">
                    <a16:creationId xmlns:a16="http://schemas.microsoft.com/office/drawing/2014/main" id="{672DBCC4-5447-D57C-B22D-2F2162DE7657}"/>
                  </a:ext>
                </a:extLst>
              </p14:cNvPr>
              <p14:cNvContentPartPr/>
              <p14:nvPr/>
            </p14:nvContentPartPr>
            <p14:xfrm>
              <a:off x="1115280" y="2556360"/>
              <a:ext cx="2372400" cy="3346920"/>
            </p14:xfrm>
          </p:contentPart>
        </mc:Choice>
        <mc:Fallback>
          <p:pic>
            <p:nvPicPr>
              <p:cNvPr id="4" name="Ink 3">
                <a:extLst>
                  <a:ext uri="{FF2B5EF4-FFF2-40B4-BE49-F238E27FC236}">
                    <a16:creationId xmlns:a16="http://schemas.microsoft.com/office/drawing/2014/main" id="{672DBCC4-5447-D57C-B22D-2F2162DE7657}"/>
                  </a:ext>
                </a:extLst>
              </p:cNvPr>
              <p:cNvPicPr/>
              <p:nvPr/>
            </p:nvPicPr>
            <p:blipFill>
              <a:blip r:embed="rId4"/>
              <a:stretch>
                <a:fillRect/>
              </a:stretch>
            </p:blipFill>
            <p:spPr>
              <a:xfrm>
                <a:off x="1105920" y="2547000"/>
                <a:ext cx="2391120" cy="3365640"/>
              </a:xfrm>
              <a:prstGeom prst="rect">
                <a:avLst/>
              </a:prstGeom>
            </p:spPr>
          </p:pic>
        </mc:Fallback>
      </mc:AlternateContent>
    </p:spTree>
    <p:extLst>
      <p:ext uri="{BB962C8B-B14F-4D97-AF65-F5344CB8AC3E}">
        <p14:creationId xmlns:p14="http://schemas.microsoft.com/office/powerpoint/2010/main" val="90158295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40A239-AB83-588B-7F8C-A378F624E838}"/>
              </a:ext>
            </a:extLst>
          </p:cNvPr>
          <p:cNvSpPr>
            <a:spLocks noGrp="1"/>
          </p:cNvSpPr>
          <p:nvPr>
            <p:ph type="title"/>
          </p:nvPr>
        </p:nvSpPr>
        <p:spPr/>
        <p:txBody>
          <a:bodyPr/>
          <a:lstStyle/>
          <a:p>
            <a:r>
              <a:rPr lang="en-US" dirty="0"/>
              <a:t>Representing a Heap (Questions)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A979323D-7A04-F49B-C2B4-877B56453F7D}"/>
                  </a:ext>
                </a:extLst>
              </p:cNvPr>
              <p:cNvSpPr>
                <a:spLocks noGrp="1"/>
              </p:cNvSpPr>
              <p:nvPr>
                <p:ph idx="1"/>
              </p:nvPr>
            </p:nvSpPr>
            <p:spPr>
              <a:xfrm>
                <a:off x="80918" y="1545386"/>
                <a:ext cx="6938093" cy="4351338"/>
              </a:xfrm>
            </p:spPr>
            <p:txBody>
              <a:bodyPr/>
              <a:lstStyle/>
              <a:p>
                <a:r>
                  <a:rPr lang="en-US" dirty="0"/>
                  <a:t>Every complete binary tree with the same number of nodes uses the same positions and edges</a:t>
                </a:r>
              </a:p>
              <a:p>
                <a:r>
                  <a:rPr lang="en-US" dirty="0"/>
                  <a:t>Use an array to represent the heap</a:t>
                </a:r>
              </a:p>
              <a:p>
                <a:r>
                  <a:rPr lang="en-US" dirty="0"/>
                  <a:t>Index of root: </a:t>
                </a:r>
              </a:p>
              <a:p>
                <a:r>
                  <a:rPr lang="en-US" dirty="0"/>
                  <a:t>Parent of node </a:t>
                </a:r>
                <a14:m>
                  <m:oMath xmlns:m="http://schemas.openxmlformats.org/officeDocument/2006/math">
                    <m:r>
                      <a:rPr lang="en-US" b="0" i="1" smtClean="0">
                        <a:latin typeface="Cambria Math" panose="02040503050406030204" pitchFamily="18" charset="0"/>
                      </a:rPr>
                      <m:t>𝑖</m:t>
                    </m:r>
                  </m:oMath>
                </a14:m>
                <a:r>
                  <a:rPr lang="en-US" dirty="0"/>
                  <a:t>:</a:t>
                </a:r>
              </a:p>
              <a:p>
                <a:r>
                  <a:rPr lang="en-US" dirty="0"/>
                  <a:t>Left child of node </a:t>
                </a:r>
                <a14:m>
                  <m:oMath xmlns:m="http://schemas.openxmlformats.org/officeDocument/2006/math">
                    <m:r>
                      <a:rPr lang="en-US" b="0" i="1" smtClean="0">
                        <a:latin typeface="Cambria Math" panose="02040503050406030204" pitchFamily="18" charset="0"/>
                      </a:rPr>
                      <m:t>𝑖</m:t>
                    </m:r>
                  </m:oMath>
                </a14:m>
                <a:r>
                  <a:rPr lang="en-US" dirty="0"/>
                  <a:t>:</a:t>
                </a:r>
              </a:p>
              <a:p>
                <a:r>
                  <a:rPr lang="en-US" dirty="0"/>
                  <a:t>Right child of node </a:t>
                </a:r>
                <a14:m>
                  <m:oMath xmlns:m="http://schemas.openxmlformats.org/officeDocument/2006/math">
                    <m:r>
                      <a:rPr lang="en-US" b="0" i="1" smtClean="0">
                        <a:latin typeface="Cambria Math" panose="02040503050406030204" pitchFamily="18" charset="0"/>
                      </a:rPr>
                      <m:t>𝑖</m:t>
                    </m:r>
                  </m:oMath>
                </a14:m>
                <a:r>
                  <a:rPr lang="en-US" dirty="0"/>
                  <a:t>:</a:t>
                </a:r>
              </a:p>
              <a:p>
                <a:r>
                  <a:rPr lang="en-US" dirty="0"/>
                  <a:t>Location of the leaves: </a:t>
                </a:r>
              </a:p>
            </p:txBody>
          </p:sp>
        </mc:Choice>
        <mc:Fallback xmlns="">
          <p:sp>
            <p:nvSpPr>
              <p:cNvPr id="3" name="Content Placeholder 2">
                <a:extLst>
                  <a:ext uri="{FF2B5EF4-FFF2-40B4-BE49-F238E27FC236}">
                    <a16:creationId xmlns:a16="http://schemas.microsoft.com/office/drawing/2014/main" id="{A979323D-7A04-F49B-C2B4-877B56453F7D}"/>
                  </a:ext>
                </a:extLst>
              </p:cNvPr>
              <p:cNvSpPr>
                <a:spLocks noGrp="1" noRot="1" noChangeAspect="1" noMove="1" noResize="1" noEditPoints="1" noAdjustHandles="1" noChangeArrowheads="1" noChangeShapeType="1" noTextEdit="1"/>
              </p:cNvSpPr>
              <p:nvPr>
                <p:ph idx="1"/>
              </p:nvPr>
            </p:nvSpPr>
            <p:spPr>
              <a:xfrm>
                <a:off x="80918" y="1545386"/>
                <a:ext cx="6938093" cy="4351338"/>
              </a:xfrm>
              <a:blipFill>
                <a:blip r:embed="rId2"/>
                <a:stretch>
                  <a:fillRect l="-1582" t="-2384" b="-3226"/>
                </a:stretch>
              </a:blipFill>
            </p:spPr>
            <p:txBody>
              <a:bodyPr/>
              <a:lstStyle/>
              <a:p>
                <a:r>
                  <a:rPr lang="en-US">
                    <a:noFill/>
                  </a:rPr>
                  <a:t> </a:t>
                </a:r>
              </a:p>
            </p:txBody>
          </p:sp>
        </mc:Fallback>
      </mc:AlternateContent>
      <p:grpSp>
        <p:nvGrpSpPr>
          <p:cNvPr id="4" name="Group 3" descr="A heap containing 9 items, making for a binary tree of 4 levels. The last level has 2 nodes in it. The nodes are as follows:&#10;&#10;- The root node is 1&#10;- the left child of 1 is 3, the right child is 2&#10;- the left child of 3 is 4, the right child is 7&#10;- the left child of 2 is 5, the right child is 6&#10;- the left child of 4 is 5, the right child is 9&#10;- nodes 7, 5, 6, 5, and 9 are all leaves">
            <a:extLst>
              <a:ext uri="{FF2B5EF4-FFF2-40B4-BE49-F238E27FC236}">
                <a16:creationId xmlns:a16="http://schemas.microsoft.com/office/drawing/2014/main" id="{2F432A6F-3B38-F5E7-01DD-DAEA463B2720}"/>
              </a:ext>
            </a:extLst>
          </p:cNvPr>
          <p:cNvGrpSpPr/>
          <p:nvPr/>
        </p:nvGrpSpPr>
        <p:grpSpPr>
          <a:xfrm>
            <a:off x="5196247" y="936224"/>
            <a:ext cx="6934200" cy="3661882"/>
            <a:chOff x="2590801" y="2672070"/>
            <a:chExt cx="6934200" cy="3661882"/>
          </a:xfrm>
        </p:grpSpPr>
        <p:sp>
          <p:nvSpPr>
            <p:cNvPr id="5" name="Oval 4">
              <a:extLst>
                <a:ext uri="{FF2B5EF4-FFF2-40B4-BE49-F238E27FC236}">
                  <a16:creationId xmlns:a16="http://schemas.microsoft.com/office/drawing/2014/main" id="{8CCDFAF7-D087-A729-16FC-1A4A848DC165}"/>
                </a:ext>
              </a:extLst>
            </p:cNvPr>
            <p:cNvSpPr/>
            <p:nvPr/>
          </p:nvSpPr>
          <p:spPr>
            <a:xfrm>
              <a:off x="5996855" y="2672070"/>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6" name="Oval 5">
              <a:extLst>
                <a:ext uri="{FF2B5EF4-FFF2-40B4-BE49-F238E27FC236}">
                  <a16:creationId xmlns:a16="http://schemas.microsoft.com/office/drawing/2014/main" id="{266556C7-28BB-27CE-2453-438EB9B5729C}"/>
                </a:ext>
              </a:extLst>
            </p:cNvPr>
            <p:cNvSpPr/>
            <p:nvPr/>
          </p:nvSpPr>
          <p:spPr>
            <a:xfrm>
              <a:off x="4191001" y="3682289"/>
              <a:ext cx="688077" cy="688077"/>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7" name="Oval 6">
              <a:extLst>
                <a:ext uri="{FF2B5EF4-FFF2-40B4-BE49-F238E27FC236}">
                  <a16:creationId xmlns:a16="http://schemas.microsoft.com/office/drawing/2014/main" id="{F1F22AA6-3A2C-0E0F-6770-5E4814A3A9BA}"/>
                </a:ext>
              </a:extLst>
            </p:cNvPr>
            <p:cNvSpPr/>
            <p:nvPr/>
          </p:nvSpPr>
          <p:spPr>
            <a:xfrm>
              <a:off x="7858499" y="3653913"/>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8" name="Oval 7">
              <a:extLst>
                <a:ext uri="{FF2B5EF4-FFF2-40B4-BE49-F238E27FC236}">
                  <a16:creationId xmlns:a16="http://schemas.microsoft.com/office/drawing/2014/main" id="{1D3EFC98-7E2D-1466-6EEA-85788B9C4879}"/>
                </a:ext>
              </a:extLst>
            </p:cNvPr>
            <p:cNvSpPr/>
            <p:nvPr/>
          </p:nvSpPr>
          <p:spPr>
            <a:xfrm>
              <a:off x="3200401" y="4383504"/>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9" name="Oval 8">
              <a:extLst>
                <a:ext uri="{FF2B5EF4-FFF2-40B4-BE49-F238E27FC236}">
                  <a16:creationId xmlns:a16="http://schemas.microsoft.com/office/drawing/2014/main" id="{F754F5A3-A2CA-ABC5-C1BD-653DE632FCB2}"/>
                </a:ext>
              </a:extLst>
            </p:cNvPr>
            <p:cNvSpPr/>
            <p:nvPr/>
          </p:nvSpPr>
          <p:spPr>
            <a:xfrm>
              <a:off x="5211206" y="4425368"/>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10" name="Oval 9">
              <a:extLst>
                <a:ext uri="{FF2B5EF4-FFF2-40B4-BE49-F238E27FC236}">
                  <a16:creationId xmlns:a16="http://schemas.microsoft.com/office/drawing/2014/main" id="{3395B23C-4819-8F19-E006-45A28A32E0F3}"/>
                </a:ext>
              </a:extLst>
            </p:cNvPr>
            <p:cNvSpPr/>
            <p:nvPr/>
          </p:nvSpPr>
          <p:spPr>
            <a:xfrm>
              <a:off x="6934201" y="4341990"/>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11" name="Oval 10">
              <a:extLst>
                <a:ext uri="{FF2B5EF4-FFF2-40B4-BE49-F238E27FC236}">
                  <a16:creationId xmlns:a16="http://schemas.microsoft.com/office/drawing/2014/main" id="{21FD7AE4-5789-4301-9D43-66F98E658620}"/>
                </a:ext>
              </a:extLst>
            </p:cNvPr>
            <p:cNvSpPr/>
            <p:nvPr/>
          </p:nvSpPr>
          <p:spPr>
            <a:xfrm>
              <a:off x="8836924" y="4341990"/>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12" name="Oval 11">
              <a:extLst>
                <a:ext uri="{FF2B5EF4-FFF2-40B4-BE49-F238E27FC236}">
                  <a16:creationId xmlns:a16="http://schemas.microsoft.com/office/drawing/2014/main" id="{1577DA87-3AA4-A9F6-0603-B50AB8AA521F}"/>
                </a:ext>
              </a:extLst>
            </p:cNvPr>
            <p:cNvSpPr/>
            <p:nvPr/>
          </p:nvSpPr>
          <p:spPr>
            <a:xfrm>
              <a:off x="2590801" y="5352744"/>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13" name="Oval 12">
              <a:extLst>
                <a:ext uri="{FF2B5EF4-FFF2-40B4-BE49-F238E27FC236}">
                  <a16:creationId xmlns:a16="http://schemas.microsoft.com/office/drawing/2014/main" id="{115D83AD-A4F9-DDA6-7C9B-D5E2FB999159}"/>
                </a:ext>
              </a:extLst>
            </p:cNvPr>
            <p:cNvSpPr/>
            <p:nvPr/>
          </p:nvSpPr>
          <p:spPr>
            <a:xfrm>
              <a:off x="3733801" y="5352744"/>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a:t>
              </a:r>
            </a:p>
          </p:txBody>
        </p:sp>
        <p:cxnSp>
          <p:nvCxnSpPr>
            <p:cNvPr id="14" name="Straight Connector 13">
              <a:extLst>
                <a:ext uri="{FF2B5EF4-FFF2-40B4-BE49-F238E27FC236}">
                  <a16:creationId xmlns:a16="http://schemas.microsoft.com/office/drawing/2014/main" id="{14C678B9-8376-E641-03A3-B9B5AC01DD5A}"/>
                </a:ext>
              </a:extLst>
            </p:cNvPr>
            <p:cNvCxnSpPr>
              <a:cxnSpLocks/>
              <a:stCxn id="5" idx="3"/>
              <a:endCxn id="6" idx="7"/>
            </p:cNvCxnSpPr>
            <p:nvPr/>
          </p:nvCxnSpPr>
          <p:spPr>
            <a:xfrm flipH="1">
              <a:off x="4778311" y="3259380"/>
              <a:ext cx="1319311" cy="52367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573A3D15-A765-6F5D-FF62-8AFF371E1C9F}"/>
                </a:ext>
              </a:extLst>
            </p:cNvPr>
            <p:cNvCxnSpPr>
              <a:cxnSpLocks/>
              <a:stCxn id="5" idx="5"/>
              <a:endCxn id="7" idx="1"/>
            </p:cNvCxnSpPr>
            <p:nvPr/>
          </p:nvCxnSpPr>
          <p:spPr>
            <a:xfrm>
              <a:off x="6584165" y="3259380"/>
              <a:ext cx="1375101" cy="4953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15A8FFAB-D84B-85B8-58B8-1B00F7CCA551}"/>
                </a:ext>
              </a:extLst>
            </p:cNvPr>
            <p:cNvCxnSpPr>
              <a:stCxn id="9" idx="1"/>
              <a:endCxn id="6" idx="5"/>
            </p:cNvCxnSpPr>
            <p:nvPr/>
          </p:nvCxnSpPr>
          <p:spPr>
            <a:xfrm flipH="1" flipV="1">
              <a:off x="4778310" y="4269598"/>
              <a:ext cx="533662" cy="25653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05B82966-89E3-2B46-3D38-374AFBCC160F}"/>
                </a:ext>
              </a:extLst>
            </p:cNvPr>
            <p:cNvCxnSpPr>
              <a:stCxn id="8" idx="7"/>
              <a:endCxn id="6" idx="3"/>
            </p:cNvCxnSpPr>
            <p:nvPr/>
          </p:nvCxnSpPr>
          <p:spPr>
            <a:xfrm flipV="1">
              <a:off x="3787711" y="4269598"/>
              <a:ext cx="504057" cy="21467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35158B6C-4AAC-11E8-A5FA-CBD2F7589363}"/>
                </a:ext>
              </a:extLst>
            </p:cNvPr>
            <p:cNvCxnSpPr>
              <a:stCxn id="13" idx="0"/>
              <a:endCxn id="8" idx="5"/>
            </p:cNvCxnSpPr>
            <p:nvPr/>
          </p:nvCxnSpPr>
          <p:spPr>
            <a:xfrm flipH="1" flipV="1">
              <a:off x="3787711" y="4970813"/>
              <a:ext cx="290129" cy="38193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1B16B0B2-C57D-A089-16C8-D9A40F63D872}"/>
                </a:ext>
              </a:extLst>
            </p:cNvPr>
            <p:cNvCxnSpPr>
              <a:stCxn id="12" idx="0"/>
              <a:endCxn id="8" idx="3"/>
            </p:cNvCxnSpPr>
            <p:nvPr/>
          </p:nvCxnSpPr>
          <p:spPr>
            <a:xfrm flipV="1">
              <a:off x="2934839" y="4970813"/>
              <a:ext cx="366328" cy="38193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ECD70709-CC17-AFBD-F517-918800E04B01}"/>
                </a:ext>
              </a:extLst>
            </p:cNvPr>
            <p:cNvCxnSpPr>
              <a:stCxn id="10" idx="7"/>
              <a:endCxn id="7" idx="3"/>
            </p:cNvCxnSpPr>
            <p:nvPr/>
          </p:nvCxnSpPr>
          <p:spPr>
            <a:xfrm flipV="1">
              <a:off x="7521511" y="4241222"/>
              <a:ext cx="437755" cy="20153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1EC3F72F-4633-2DB2-15C6-8744989B9052}"/>
                </a:ext>
              </a:extLst>
            </p:cNvPr>
            <p:cNvCxnSpPr>
              <a:stCxn id="11" idx="1"/>
              <a:endCxn id="7" idx="5"/>
            </p:cNvCxnSpPr>
            <p:nvPr/>
          </p:nvCxnSpPr>
          <p:spPr>
            <a:xfrm flipH="1" flipV="1">
              <a:off x="8445808" y="4241222"/>
              <a:ext cx="491882" cy="20153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2" name="TextBox 21">
              <a:extLst>
                <a:ext uri="{FF2B5EF4-FFF2-40B4-BE49-F238E27FC236}">
                  <a16:creationId xmlns:a16="http://schemas.microsoft.com/office/drawing/2014/main" id="{B2D58420-FDF0-2F8C-6D16-5DCE4CECFFFE}"/>
                </a:ext>
              </a:extLst>
            </p:cNvPr>
            <p:cNvSpPr txBox="1"/>
            <p:nvPr/>
          </p:nvSpPr>
          <p:spPr>
            <a:xfrm>
              <a:off x="6190049" y="3371296"/>
              <a:ext cx="301686" cy="369332"/>
            </a:xfrm>
            <a:prstGeom prst="rect">
              <a:avLst/>
            </a:prstGeom>
            <a:noFill/>
          </p:spPr>
          <p:txBody>
            <a:bodyPr wrap="none" rtlCol="0">
              <a:spAutoFit/>
            </a:bodyPr>
            <a:lstStyle/>
            <a:p>
              <a:r>
                <a:rPr lang="en-US" dirty="0">
                  <a:solidFill>
                    <a:srgbClr val="FF33CC"/>
                  </a:solidFill>
                </a:rPr>
                <a:t>1</a:t>
              </a:r>
            </a:p>
          </p:txBody>
        </p:sp>
        <p:sp>
          <p:nvSpPr>
            <p:cNvPr id="23" name="TextBox 22">
              <a:extLst>
                <a:ext uri="{FF2B5EF4-FFF2-40B4-BE49-F238E27FC236}">
                  <a16:creationId xmlns:a16="http://schemas.microsoft.com/office/drawing/2014/main" id="{5D3FC88C-CCA1-260D-94E2-E82E0014B50F}"/>
                </a:ext>
              </a:extLst>
            </p:cNvPr>
            <p:cNvSpPr txBox="1"/>
            <p:nvPr/>
          </p:nvSpPr>
          <p:spPr>
            <a:xfrm>
              <a:off x="4384195" y="4377091"/>
              <a:ext cx="301686" cy="369332"/>
            </a:xfrm>
            <a:prstGeom prst="rect">
              <a:avLst/>
            </a:prstGeom>
            <a:noFill/>
          </p:spPr>
          <p:txBody>
            <a:bodyPr wrap="none" rtlCol="0">
              <a:spAutoFit/>
            </a:bodyPr>
            <a:lstStyle/>
            <a:p>
              <a:r>
                <a:rPr lang="en-US" dirty="0">
                  <a:solidFill>
                    <a:srgbClr val="FF33CC"/>
                  </a:solidFill>
                </a:rPr>
                <a:t>2</a:t>
              </a:r>
            </a:p>
          </p:txBody>
        </p:sp>
        <p:sp>
          <p:nvSpPr>
            <p:cNvPr id="24" name="TextBox 23">
              <a:extLst>
                <a:ext uri="{FF2B5EF4-FFF2-40B4-BE49-F238E27FC236}">
                  <a16:creationId xmlns:a16="http://schemas.microsoft.com/office/drawing/2014/main" id="{5823466E-9014-5708-3F67-1E2739A939F2}"/>
                </a:ext>
              </a:extLst>
            </p:cNvPr>
            <p:cNvSpPr txBox="1"/>
            <p:nvPr/>
          </p:nvSpPr>
          <p:spPr>
            <a:xfrm>
              <a:off x="8051693" y="4316695"/>
              <a:ext cx="301686" cy="369332"/>
            </a:xfrm>
            <a:prstGeom prst="rect">
              <a:avLst/>
            </a:prstGeom>
            <a:noFill/>
          </p:spPr>
          <p:txBody>
            <a:bodyPr wrap="none" rtlCol="0">
              <a:spAutoFit/>
            </a:bodyPr>
            <a:lstStyle/>
            <a:p>
              <a:r>
                <a:rPr lang="en-US" dirty="0">
                  <a:solidFill>
                    <a:srgbClr val="FF33CC"/>
                  </a:solidFill>
                </a:rPr>
                <a:t>3</a:t>
              </a:r>
            </a:p>
          </p:txBody>
        </p:sp>
        <p:sp>
          <p:nvSpPr>
            <p:cNvPr id="25" name="TextBox 24">
              <a:extLst>
                <a:ext uri="{FF2B5EF4-FFF2-40B4-BE49-F238E27FC236}">
                  <a16:creationId xmlns:a16="http://schemas.microsoft.com/office/drawing/2014/main" id="{C9F29237-8A0E-5878-6C02-03A9050EA055}"/>
                </a:ext>
              </a:extLst>
            </p:cNvPr>
            <p:cNvSpPr txBox="1"/>
            <p:nvPr/>
          </p:nvSpPr>
          <p:spPr>
            <a:xfrm>
              <a:off x="3352081" y="5071580"/>
              <a:ext cx="301686" cy="369332"/>
            </a:xfrm>
            <a:prstGeom prst="rect">
              <a:avLst/>
            </a:prstGeom>
            <a:noFill/>
          </p:spPr>
          <p:txBody>
            <a:bodyPr wrap="none" rtlCol="0">
              <a:spAutoFit/>
            </a:bodyPr>
            <a:lstStyle/>
            <a:p>
              <a:r>
                <a:rPr lang="en-US" dirty="0">
                  <a:solidFill>
                    <a:srgbClr val="FF33CC"/>
                  </a:solidFill>
                </a:rPr>
                <a:t>4</a:t>
              </a:r>
            </a:p>
          </p:txBody>
        </p:sp>
        <p:sp>
          <p:nvSpPr>
            <p:cNvPr id="26" name="TextBox 25">
              <a:extLst>
                <a:ext uri="{FF2B5EF4-FFF2-40B4-BE49-F238E27FC236}">
                  <a16:creationId xmlns:a16="http://schemas.microsoft.com/office/drawing/2014/main" id="{09F9AA81-2F4E-7699-571D-B616367A4776}"/>
                </a:ext>
              </a:extLst>
            </p:cNvPr>
            <p:cNvSpPr txBox="1"/>
            <p:nvPr/>
          </p:nvSpPr>
          <p:spPr>
            <a:xfrm>
              <a:off x="7122005" y="5012677"/>
              <a:ext cx="301686" cy="369332"/>
            </a:xfrm>
            <a:prstGeom prst="rect">
              <a:avLst/>
            </a:prstGeom>
            <a:noFill/>
          </p:spPr>
          <p:txBody>
            <a:bodyPr wrap="none" rtlCol="0">
              <a:spAutoFit/>
            </a:bodyPr>
            <a:lstStyle/>
            <a:p>
              <a:r>
                <a:rPr lang="en-US" dirty="0">
                  <a:solidFill>
                    <a:srgbClr val="FF33CC"/>
                  </a:solidFill>
                </a:rPr>
                <a:t>6</a:t>
              </a:r>
            </a:p>
          </p:txBody>
        </p:sp>
        <p:sp>
          <p:nvSpPr>
            <p:cNvPr id="27" name="TextBox 26">
              <a:extLst>
                <a:ext uri="{FF2B5EF4-FFF2-40B4-BE49-F238E27FC236}">
                  <a16:creationId xmlns:a16="http://schemas.microsoft.com/office/drawing/2014/main" id="{57FA733E-267C-B6B7-35AE-6CB4C124A4C6}"/>
                </a:ext>
              </a:extLst>
            </p:cNvPr>
            <p:cNvSpPr txBox="1"/>
            <p:nvPr/>
          </p:nvSpPr>
          <p:spPr>
            <a:xfrm>
              <a:off x="5404400" y="5108902"/>
              <a:ext cx="301686" cy="369332"/>
            </a:xfrm>
            <a:prstGeom prst="rect">
              <a:avLst/>
            </a:prstGeom>
            <a:noFill/>
          </p:spPr>
          <p:txBody>
            <a:bodyPr wrap="none" rtlCol="0">
              <a:spAutoFit/>
            </a:bodyPr>
            <a:lstStyle/>
            <a:p>
              <a:r>
                <a:rPr lang="en-US" dirty="0">
                  <a:solidFill>
                    <a:srgbClr val="FF33CC"/>
                  </a:solidFill>
                </a:rPr>
                <a:t>5</a:t>
              </a:r>
            </a:p>
          </p:txBody>
        </p:sp>
        <p:sp>
          <p:nvSpPr>
            <p:cNvPr id="28" name="TextBox 27">
              <a:extLst>
                <a:ext uri="{FF2B5EF4-FFF2-40B4-BE49-F238E27FC236}">
                  <a16:creationId xmlns:a16="http://schemas.microsoft.com/office/drawing/2014/main" id="{F2074F7B-90C0-2766-0C59-F8D7C3963C3B}"/>
                </a:ext>
              </a:extLst>
            </p:cNvPr>
            <p:cNvSpPr txBox="1"/>
            <p:nvPr/>
          </p:nvSpPr>
          <p:spPr>
            <a:xfrm>
              <a:off x="9030118" y="5030066"/>
              <a:ext cx="301686" cy="369332"/>
            </a:xfrm>
            <a:prstGeom prst="rect">
              <a:avLst/>
            </a:prstGeom>
            <a:noFill/>
          </p:spPr>
          <p:txBody>
            <a:bodyPr wrap="none" rtlCol="0">
              <a:spAutoFit/>
            </a:bodyPr>
            <a:lstStyle/>
            <a:p>
              <a:r>
                <a:rPr lang="en-US" dirty="0">
                  <a:solidFill>
                    <a:srgbClr val="FF33CC"/>
                  </a:solidFill>
                </a:rPr>
                <a:t>7</a:t>
              </a:r>
            </a:p>
          </p:txBody>
        </p:sp>
        <p:sp>
          <p:nvSpPr>
            <p:cNvPr id="29" name="TextBox 28">
              <a:extLst>
                <a:ext uri="{FF2B5EF4-FFF2-40B4-BE49-F238E27FC236}">
                  <a16:creationId xmlns:a16="http://schemas.microsoft.com/office/drawing/2014/main" id="{081AE260-19E9-58C5-CE3F-E1C5B23C297D}"/>
                </a:ext>
              </a:extLst>
            </p:cNvPr>
            <p:cNvSpPr txBox="1"/>
            <p:nvPr/>
          </p:nvSpPr>
          <p:spPr>
            <a:xfrm>
              <a:off x="2783996" y="5964620"/>
              <a:ext cx="301686" cy="369332"/>
            </a:xfrm>
            <a:prstGeom prst="rect">
              <a:avLst/>
            </a:prstGeom>
            <a:noFill/>
          </p:spPr>
          <p:txBody>
            <a:bodyPr wrap="none" rtlCol="0">
              <a:spAutoFit/>
            </a:bodyPr>
            <a:lstStyle/>
            <a:p>
              <a:r>
                <a:rPr lang="en-US" dirty="0">
                  <a:solidFill>
                    <a:srgbClr val="FF33CC"/>
                  </a:solidFill>
                </a:rPr>
                <a:t>8</a:t>
              </a:r>
            </a:p>
          </p:txBody>
        </p:sp>
        <p:sp>
          <p:nvSpPr>
            <p:cNvPr id="30" name="TextBox 29">
              <a:extLst>
                <a:ext uri="{FF2B5EF4-FFF2-40B4-BE49-F238E27FC236}">
                  <a16:creationId xmlns:a16="http://schemas.microsoft.com/office/drawing/2014/main" id="{22DD3AF9-8C64-BB8A-8916-179191C830E1}"/>
                </a:ext>
              </a:extLst>
            </p:cNvPr>
            <p:cNvSpPr txBox="1"/>
            <p:nvPr/>
          </p:nvSpPr>
          <p:spPr>
            <a:xfrm>
              <a:off x="3920467" y="5964620"/>
              <a:ext cx="301686" cy="369332"/>
            </a:xfrm>
            <a:prstGeom prst="rect">
              <a:avLst/>
            </a:prstGeom>
            <a:noFill/>
          </p:spPr>
          <p:txBody>
            <a:bodyPr wrap="none" rtlCol="0">
              <a:spAutoFit/>
            </a:bodyPr>
            <a:lstStyle/>
            <a:p>
              <a:r>
                <a:rPr lang="en-US" dirty="0">
                  <a:solidFill>
                    <a:srgbClr val="FF33CC"/>
                  </a:solidFill>
                </a:rPr>
                <a:t>9</a:t>
              </a:r>
            </a:p>
          </p:txBody>
        </p:sp>
      </p:grpSp>
      <p:grpSp>
        <p:nvGrpSpPr>
          <p:cNvPr id="55" name="Group 54" descr="An the given heap represented as an array. The items in the heap appear in the array beginning with index 1, and so the array has length 10 and contains 9 items. The order of the items follows a level-order traversal of the heap (which matches the order that the nodes' positions would have been created while adding).&#10;&#10;The array is populated as follows:&#10;index 0: empty&#10;index 1: 1&#10;index 2: 3&#10;index 3: 2&#10;index 4: 4&#10;index 5: 7&#10;index 6: 5&#10;index 7: 6&#10;index 8: 5&#10;index 9: 9">
            <a:extLst>
              <a:ext uri="{FF2B5EF4-FFF2-40B4-BE49-F238E27FC236}">
                <a16:creationId xmlns:a16="http://schemas.microsoft.com/office/drawing/2014/main" id="{C034A460-2586-8D84-2404-1DC6F3C7CF2C}"/>
              </a:ext>
            </a:extLst>
          </p:cNvPr>
          <p:cNvGrpSpPr/>
          <p:nvPr/>
        </p:nvGrpSpPr>
        <p:grpSpPr>
          <a:xfrm>
            <a:off x="5836875" y="4960724"/>
            <a:ext cx="5335707" cy="942725"/>
            <a:chOff x="2969525" y="2137541"/>
            <a:chExt cx="5335707" cy="942725"/>
          </a:xfrm>
        </p:grpSpPr>
        <p:grpSp>
          <p:nvGrpSpPr>
            <p:cNvPr id="32" name="Group 31">
              <a:extLst>
                <a:ext uri="{FF2B5EF4-FFF2-40B4-BE49-F238E27FC236}">
                  <a16:creationId xmlns:a16="http://schemas.microsoft.com/office/drawing/2014/main" id="{A12067B8-0F65-635F-EB27-A65C8C91F307}"/>
                </a:ext>
              </a:extLst>
            </p:cNvPr>
            <p:cNvGrpSpPr/>
            <p:nvPr/>
          </p:nvGrpSpPr>
          <p:grpSpPr>
            <a:xfrm>
              <a:off x="2969525" y="2137541"/>
              <a:ext cx="5335707" cy="533400"/>
              <a:chOff x="1445524" y="2971800"/>
              <a:chExt cx="5335707" cy="533400"/>
            </a:xfrm>
          </p:grpSpPr>
          <p:sp>
            <p:nvSpPr>
              <p:cNvPr id="34" name="Rectangle 33">
                <a:extLst>
                  <a:ext uri="{FF2B5EF4-FFF2-40B4-BE49-F238E27FC236}">
                    <a16:creationId xmlns:a16="http://schemas.microsoft.com/office/drawing/2014/main" id="{A6CF93A6-5138-3AA8-571B-124F87F53452}"/>
                  </a:ext>
                </a:extLst>
              </p:cNvPr>
              <p:cNvSpPr/>
              <p:nvPr/>
            </p:nvSpPr>
            <p:spPr>
              <a:xfrm>
                <a:off x="1445524" y="2971800"/>
                <a:ext cx="533400" cy="5334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35" name="Rectangle 34">
                <a:extLst>
                  <a:ext uri="{FF2B5EF4-FFF2-40B4-BE49-F238E27FC236}">
                    <a16:creationId xmlns:a16="http://schemas.microsoft.com/office/drawing/2014/main" id="{01D61B2B-B935-40A6-9785-DC28D35F85B1}"/>
                  </a:ext>
                </a:extLst>
              </p:cNvPr>
              <p:cNvSpPr/>
              <p:nvPr/>
            </p:nvSpPr>
            <p:spPr>
              <a:xfrm>
                <a:off x="1978924" y="2971800"/>
                <a:ext cx="533400" cy="5334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36" name="Rectangle 35">
                <a:extLst>
                  <a:ext uri="{FF2B5EF4-FFF2-40B4-BE49-F238E27FC236}">
                    <a16:creationId xmlns:a16="http://schemas.microsoft.com/office/drawing/2014/main" id="{C5E4A36F-69C2-8FEF-04C8-448BCBC24C3A}"/>
                  </a:ext>
                </a:extLst>
              </p:cNvPr>
              <p:cNvSpPr/>
              <p:nvPr/>
            </p:nvSpPr>
            <p:spPr>
              <a:xfrm>
                <a:off x="2512893" y="29718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37" name="Rectangle 36">
                <a:extLst>
                  <a:ext uri="{FF2B5EF4-FFF2-40B4-BE49-F238E27FC236}">
                    <a16:creationId xmlns:a16="http://schemas.microsoft.com/office/drawing/2014/main" id="{78311943-7B02-92AD-C0E0-1A1570965454}"/>
                  </a:ext>
                </a:extLst>
              </p:cNvPr>
              <p:cNvSpPr/>
              <p:nvPr/>
            </p:nvSpPr>
            <p:spPr>
              <a:xfrm>
                <a:off x="3046293" y="29718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38" name="Rectangle 37">
                <a:extLst>
                  <a:ext uri="{FF2B5EF4-FFF2-40B4-BE49-F238E27FC236}">
                    <a16:creationId xmlns:a16="http://schemas.microsoft.com/office/drawing/2014/main" id="{C446B978-1048-2DFC-8915-A3E1343D6252}"/>
                  </a:ext>
                </a:extLst>
              </p:cNvPr>
              <p:cNvSpPr/>
              <p:nvPr/>
            </p:nvSpPr>
            <p:spPr>
              <a:xfrm>
                <a:off x="3579693" y="29718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39" name="Rectangle 38">
                <a:extLst>
                  <a:ext uri="{FF2B5EF4-FFF2-40B4-BE49-F238E27FC236}">
                    <a16:creationId xmlns:a16="http://schemas.microsoft.com/office/drawing/2014/main" id="{508363A7-7B23-DEEC-7E4C-07E98FC32C12}"/>
                  </a:ext>
                </a:extLst>
              </p:cNvPr>
              <p:cNvSpPr/>
              <p:nvPr/>
            </p:nvSpPr>
            <p:spPr>
              <a:xfrm>
                <a:off x="4113662" y="29718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40" name="Rectangle 39">
                <a:extLst>
                  <a:ext uri="{FF2B5EF4-FFF2-40B4-BE49-F238E27FC236}">
                    <a16:creationId xmlns:a16="http://schemas.microsoft.com/office/drawing/2014/main" id="{36D8F0EE-99AB-9979-A652-B1E990B6B685}"/>
                  </a:ext>
                </a:extLst>
              </p:cNvPr>
              <p:cNvSpPr/>
              <p:nvPr/>
            </p:nvSpPr>
            <p:spPr>
              <a:xfrm>
                <a:off x="4647062" y="29718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41" name="Rectangle 40">
                <a:extLst>
                  <a:ext uri="{FF2B5EF4-FFF2-40B4-BE49-F238E27FC236}">
                    <a16:creationId xmlns:a16="http://schemas.microsoft.com/office/drawing/2014/main" id="{8E298803-4CF9-44C4-65A9-22FA36AE083F}"/>
                  </a:ext>
                </a:extLst>
              </p:cNvPr>
              <p:cNvSpPr/>
              <p:nvPr/>
            </p:nvSpPr>
            <p:spPr>
              <a:xfrm>
                <a:off x="5180462" y="29718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42" name="Rectangle 41">
                <a:extLst>
                  <a:ext uri="{FF2B5EF4-FFF2-40B4-BE49-F238E27FC236}">
                    <a16:creationId xmlns:a16="http://schemas.microsoft.com/office/drawing/2014/main" id="{54E192E8-3C35-79F3-9BEF-6DBE322A6E6B}"/>
                  </a:ext>
                </a:extLst>
              </p:cNvPr>
              <p:cNvSpPr/>
              <p:nvPr/>
            </p:nvSpPr>
            <p:spPr>
              <a:xfrm>
                <a:off x="5714431" y="29718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43" name="Rectangle 42">
                <a:extLst>
                  <a:ext uri="{FF2B5EF4-FFF2-40B4-BE49-F238E27FC236}">
                    <a16:creationId xmlns:a16="http://schemas.microsoft.com/office/drawing/2014/main" id="{176A0CF5-494E-36C1-2E0E-37D540346774}"/>
                  </a:ext>
                </a:extLst>
              </p:cNvPr>
              <p:cNvSpPr/>
              <p:nvPr/>
            </p:nvSpPr>
            <p:spPr>
              <a:xfrm>
                <a:off x="6247831" y="29718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a:t>
                </a:r>
              </a:p>
            </p:txBody>
          </p:sp>
        </p:grpSp>
        <p:sp>
          <p:nvSpPr>
            <p:cNvPr id="44" name="TextBox 43">
              <a:extLst>
                <a:ext uri="{FF2B5EF4-FFF2-40B4-BE49-F238E27FC236}">
                  <a16:creationId xmlns:a16="http://schemas.microsoft.com/office/drawing/2014/main" id="{BF94BD7F-DFB9-3F7B-F409-F969572D5CFC}"/>
                </a:ext>
              </a:extLst>
            </p:cNvPr>
            <p:cNvSpPr txBox="1"/>
            <p:nvPr/>
          </p:nvSpPr>
          <p:spPr>
            <a:xfrm>
              <a:off x="3085381" y="2710934"/>
              <a:ext cx="301686" cy="369332"/>
            </a:xfrm>
            <a:prstGeom prst="rect">
              <a:avLst/>
            </a:prstGeom>
            <a:noFill/>
          </p:spPr>
          <p:txBody>
            <a:bodyPr wrap="none" rtlCol="0">
              <a:spAutoFit/>
            </a:bodyPr>
            <a:lstStyle/>
            <a:p>
              <a:r>
                <a:rPr lang="en-US" dirty="0">
                  <a:solidFill>
                    <a:srgbClr val="FF33CC"/>
                  </a:solidFill>
                </a:rPr>
                <a:t>0</a:t>
              </a:r>
            </a:p>
          </p:txBody>
        </p:sp>
        <p:sp>
          <p:nvSpPr>
            <p:cNvPr id="45" name="TextBox 44">
              <a:extLst>
                <a:ext uri="{FF2B5EF4-FFF2-40B4-BE49-F238E27FC236}">
                  <a16:creationId xmlns:a16="http://schemas.microsoft.com/office/drawing/2014/main" id="{5B9141C7-12C6-27DA-EA35-667DF41CF456}"/>
                </a:ext>
              </a:extLst>
            </p:cNvPr>
            <p:cNvSpPr txBox="1"/>
            <p:nvPr/>
          </p:nvSpPr>
          <p:spPr>
            <a:xfrm>
              <a:off x="3618781" y="2710934"/>
              <a:ext cx="301686" cy="369332"/>
            </a:xfrm>
            <a:prstGeom prst="rect">
              <a:avLst/>
            </a:prstGeom>
            <a:noFill/>
          </p:spPr>
          <p:txBody>
            <a:bodyPr wrap="none" rtlCol="0">
              <a:spAutoFit/>
            </a:bodyPr>
            <a:lstStyle/>
            <a:p>
              <a:r>
                <a:rPr lang="en-US" dirty="0">
                  <a:solidFill>
                    <a:srgbClr val="FF33CC"/>
                  </a:solidFill>
                </a:rPr>
                <a:t>1</a:t>
              </a:r>
            </a:p>
          </p:txBody>
        </p:sp>
        <p:sp>
          <p:nvSpPr>
            <p:cNvPr id="46" name="TextBox 45">
              <a:extLst>
                <a:ext uri="{FF2B5EF4-FFF2-40B4-BE49-F238E27FC236}">
                  <a16:creationId xmlns:a16="http://schemas.microsoft.com/office/drawing/2014/main" id="{99345D1E-2ECC-D61F-6990-8586D482B42B}"/>
                </a:ext>
              </a:extLst>
            </p:cNvPr>
            <p:cNvSpPr txBox="1"/>
            <p:nvPr/>
          </p:nvSpPr>
          <p:spPr>
            <a:xfrm>
              <a:off x="4152750" y="2710934"/>
              <a:ext cx="301686" cy="369332"/>
            </a:xfrm>
            <a:prstGeom prst="rect">
              <a:avLst/>
            </a:prstGeom>
            <a:noFill/>
          </p:spPr>
          <p:txBody>
            <a:bodyPr wrap="none" rtlCol="0">
              <a:spAutoFit/>
            </a:bodyPr>
            <a:lstStyle/>
            <a:p>
              <a:r>
                <a:rPr lang="en-US" dirty="0">
                  <a:solidFill>
                    <a:srgbClr val="FF33CC"/>
                  </a:solidFill>
                </a:rPr>
                <a:t>2</a:t>
              </a:r>
            </a:p>
          </p:txBody>
        </p:sp>
        <p:sp>
          <p:nvSpPr>
            <p:cNvPr id="47" name="TextBox 46">
              <a:extLst>
                <a:ext uri="{FF2B5EF4-FFF2-40B4-BE49-F238E27FC236}">
                  <a16:creationId xmlns:a16="http://schemas.microsoft.com/office/drawing/2014/main" id="{EBA1BA49-7BD4-1661-2F4D-774C17D9A52D}"/>
                </a:ext>
              </a:extLst>
            </p:cNvPr>
            <p:cNvSpPr txBox="1"/>
            <p:nvPr/>
          </p:nvSpPr>
          <p:spPr>
            <a:xfrm>
              <a:off x="4686150" y="2710934"/>
              <a:ext cx="301686" cy="369332"/>
            </a:xfrm>
            <a:prstGeom prst="rect">
              <a:avLst/>
            </a:prstGeom>
            <a:noFill/>
          </p:spPr>
          <p:txBody>
            <a:bodyPr wrap="none" rtlCol="0">
              <a:spAutoFit/>
            </a:bodyPr>
            <a:lstStyle/>
            <a:p>
              <a:r>
                <a:rPr lang="en-US" dirty="0">
                  <a:solidFill>
                    <a:srgbClr val="FF33CC"/>
                  </a:solidFill>
                </a:rPr>
                <a:t>3</a:t>
              </a:r>
            </a:p>
          </p:txBody>
        </p:sp>
        <p:sp>
          <p:nvSpPr>
            <p:cNvPr id="48" name="TextBox 47">
              <a:extLst>
                <a:ext uri="{FF2B5EF4-FFF2-40B4-BE49-F238E27FC236}">
                  <a16:creationId xmlns:a16="http://schemas.microsoft.com/office/drawing/2014/main" id="{82E61923-18C0-5991-9ED1-C98F41FC6780}"/>
                </a:ext>
              </a:extLst>
            </p:cNvPr>
            <p:cNvSpPr txBox="1"/>
            <p:nvPr/>
          </p:nvSpPr>
          <p:spPr>
            <a:xfrm>
              <a:off x="5217138" y="2710934"/>
              <a:ext cx="301686" cy="369332"/>
            </a:xfrm>
            <a:prstGeom prst="rect">
              <a:avLst/>
            </a:prstGeom>
            <a:noFill/>
          </p:spPr>
          <p:txBody>
            <a:bodyPr wrap="none" rtlCol="0">
              <a:spAutoFit/>
            </a:bodyPr>
            <a:lstStyle/>
            <a:p>
              <a:r>
                <a:rPr lang="en-US" dirty="0">
                  <a:solidFill>
                    <a:srgbClr val="FF33CC"/>
                  </a:solidFill>
                </a:rPr>
                <a:t>4</a:t>
              </a:r>
            </a:p>
          </p:txBody>
        </p:sp>
        <p:sp>
          <p:nvSpPr>
            <p:cNvPr id="49" name="TextBox 48">
              <a:extLst>
                <a:ext uri="{FF2B5EF4-FFF2-40B4-BE49-F238E27FC236}">
                  <a16:creationId xmlns:a16="http://schemas.microsoft.com/office/drawing/2014/main" id="{FB578BBA-E437-9237-E1A7-A7A9590EF9B9}"/>
                </a:ext>
              </a:extLst>
            </p:cNvPr>
            <p:cNvSpPr txBox="1"/>
            <p:nvPr/>
          </p:nvSpPr>
          <p:spPr>
            <a:xfrm>
              <a:off x="5695168" y="2710934"/>
              <a:ext cx="301686" cy="369332"/>
            </a:xfrm>
            <a:prstGeom prst="rect">
              <a:avLst/>
            </a:prstGeom>
            <a:noFill/>
          </p:spPr>
          <p:txBody>
            <a:bodyPr wrap="none" rtlCol="0">
              <a:spAutoFit/>
            </a:bodyPr>
            <a:lstStyle/>
            <a:p>
              <a:r>
                <a:rPr lang="en-US" dirty="0">
                  <a:solidFill>
                    <a:srgbClr val="FF33CC"/>
                  </a:solidFill>
                </a:rPr>
                <a:t>5</a:t>
              </a:r>
            </a:p>
          </p:txBody>
        </p:sp>
        <p:sp>
          <p:nvSpPr>
            <p:cNvPr id="50" name="TextBox 49">
              <a:extLst>
                <a:ext uri="{FF2B5EF4-FFF2-40B4-BE49-F238E27FC236}">
                  <a16:creationId xmlns:a16="http://schemas.microsoft.com/office/drawing/2014/main" id="{7113EA20-51DB-7222-044F-DA2A93E26892}"/>
                </a:ext>
              </a:extLst>
            </p:cNvPr>
            <p:cNvSpPr txBox="1"/>
            <p:nvPr/>
          </p:nvSpPr>
          <p:spPr>
            <a:xfrm>
              <a:off x="6286919" y="2710934"/>
              <a:ext cx="301686" cy="369332"/>
            </a:xfrm>
            <a:prstGeom prst="rect">
              <a:avLst/>
            </a:prstGeom>
            <a:noFill/>
          </p:spPr>
          <p:txBody>
            <a:bodyPr wrap="none" rtlCol="0">
              <a:spAutoFit/>
            </a:bodyPr>
            <a:lstStyle/>
            <a:p>
              <a:r>
                <a:rPr lang="en-US" dirty="0">
                  <a:solidFill>
                    <a:srgbClr val="FF33CC"/>
                  </a:solidFill>
                </a:rPr>
                <a:t>6</a:t>
              </a:r>
            </a:p>
          </p:txBody>
        </p:sp>
        <p:sp>
          <p:nvSpPr>
            <p:cNvPr id="51" name="TextBox 50">
              <a:extLst>
                <a:ext uri="{FF2B5EF4-FFF2-40B4-BE49-F238E27FC236}">
                  <a16:creationId xmlns:a16="http://schemas.microsoft.com/office/drawing/2014/main" id="{3116FF36-472F-232B-3424-BF9419CED2B9}"/>
                </a:ext>
              </a:extLst>
            </p:cNvPr>
            <p:cNvSpPr txBox="1"/>
            <p:nvPr/>
          </p:nvSpPr>
          <p:spPr>
            <a:xfrm>
              <a:off x="6820319" y="2710934"/>
              <a:ext cx="301686" cy="369332"/>
            </a:xfrm>
            <a:prstGeom prst="rect">
              <a:avLst/>
            </a:prstGeom>
            <a:noFill/>
          </p:spPr>
          <p:txBody>
            <a:bodyPr wrap="none" rtlCol="0">
              <a:spAutoFit/>
            </a:bodyPr>
            <a:lstStyle/>
            <a:p>
              <a:r>
                <a:rPr lang="en-US" dirty="0">
                  <a:solidFill>
                    <a:srgbClr val="FF33CC"/>
                  </a:solidFill>
                </a:rPr>
                <a:t>7</a:t>
              </a:r>
            </a:p>
          </p:txBody>
        </p:sp>
        <p:sp>
          <p:nvSpPr>
            <p:cNvPr id="52" name="TextBox 51">
              <a:extLst>
                <a:ext uri="{FF2B5EF4-FFF2-40B4-BE49-F238E27FC236}">
                  <a16:creationId xmlns:a16="http://schemas.microsoft.com/office/drawing/2014/main" id="{ED02C096-1D8C-C0F5-9993-B189511233E0}"/>
                </a:ext>
              </a:extLst>
            </p:cNvPr>
            <p:cNvSpPr txBox="1"/>
            <p:nvPr/>
          </p:nvSpPr>
          <p:spPr>
            <a:xfrm>
              <a:off x="7354288" y="2710934"/>
              <a:ext cx="301686" cy="369332"/>
            </a:xfrm>
            <a:prstGeom prst="rect">
              <a:avLst/>
            </a:prstGeom>
            <a:noFill/>
          </p:spPr>
          <p:txBody>
            <a:bodyPr wrap="none" rtlCol="0">
              <a:spAutoFit/>
            </a:bodyPr>
            <a:lstStyle/>
            <a:p>
              <a:r>
                <a:rPr lang="en-US" dirty="0">
                  <a:solidFill>
                    <a:srgbClr val="FF33CC"/>
                  </a:solidFill>
                </a:rPr>
                <a:t>8</a:t>
              </a:r>
            </a:p>
          </p:txBody>
        </p:sp>
        <p:sp>
          <p:nvSpPr>
            <p:cNvPr id="53" name="TextBox 52">
              <a:extLst>
                <a:ext uri="{FF2B5EF4-FFF2-40B4-BE49-F238E27FC236}">
                  <a16:creationId xmlns:a16="http://schemas.microsoft.com/office/drawing/2014/main" id="{858A9836-1411-4CA9-818E-52538A1A8A8A}"/>
                </a:ext>
              </a:extLst>
            </p:cNvPr>
            <p:cNvSpPr txBox="1"/>
            <p:nvPr/>
          </p:nvSpPr>
          <p:spPr>
            <a:xfrm>
              <a:off x="7887688" y="2710934"/>
              <a:ext cx="301686" cy="369332"/>
            </a:xfrm>
            <a:prstGeom prst="rect">
              <a:avLst/>
            </a:prstGeom>
            <a:noFill/>
          </p:spPr>
          <p:txBody>
            <a:bodyPr wrap="none" rtlCol="0">
              <a:spAutoFit/>
            </a:bodyPr>
            <a:lstStyle/>
            <a:p>
              <a:r>
                <a:rPr lang="en-US" dirty="0">
                  <a:solidFill>
                    <a:srgbClr val="FF33CC"/>
                  </a:solidFill>
                </a:rPr>
                <a:t>9</a:t>
              </a:r>
            </a:p>
          </p:txBody>
        </p:sp>
      </p:grpSp>
      <mc:AlternateContent xmlns:mc="http://schemas.openxmlformats.org/markup-compatibility/2006">
        <mc:Choice xmlns:p14="http://schemas.microsoft.com/office/powerpoint/2010/main" Requires="p14">
          <p:contentPart p14:bwMode="auto" r:id="rId3">
            <p14:nvContentPartPr>
              <p14:cNvPr id="31" name="Ink 30">
                <a:extLst>
                  <a:ext uri="{FF2B5EF4-FFF2-40B4-BE49-F238E27FC236}">
                    <a16:creationId xmlns:a16="http://schemas.microsoft.com/office/drawing/2014/main" id="{C5F03582-24FA-9E3F-D8AF-A51BCBD06134}"/>
                  </a:ext>
                </a:extLst>
              </p14:cNvPr>
              <p14:cNvContentPartPr/>
              <p14:nvPr/>
            </p14:nvContentPartPr>
            <p14:xfrm>
              <a:off x="2750040" y="2556360"/>
              <a:ext cx="8271720" cy="3453840"/>
            </p14:xfrm>
          </p:contentPart>
        </mc:Choice>
        <mc:Fallback>
          <p:pic>
            <p:nvPicPr>
              <p:cNvPr id="31" name="Ink 30">
                <a:extLst>
                  <a:ext uri="{FF2B5EF4-FFF2-40B4-BE49-F238E27FC236}">
                    <a16:creationId xmlns:a16="http://schemas.microsoft.com/office/drawing/2014/main" id="{C5F03582-24FA-9E3F-D8AF-A51BCBD06134}"/>
                  </a:ext>
                </a:extLst>
              </p:cNvPr>
              <p:cNvPicPr/>
              <p:nvPr/>
            </p:nvPicPr>
            <p:blipFill>
              <a:blip r:embed="rId4"/>
              <a:stretch>
                <a:fillRect/>
              </a:stretch>
            </p:blipFill>
            <p:spPr>
              <a:xfrm>
                <a:off x="2740680" y="2547000"/>
                <a:ext cx="8290440" cy="3472560"/>
              </a:xfrm>
              <a:prstGeom prst="rect">
                <a:avLst/>
              </a:prstGeom>
            </p:spPr>
          </p:pic>
        </mc:Fallback>
      </mc:AlternateContent>
    </p:spTree>
    <p:extLst>
      <p:ext uri="{BB962C8B-B14F-4D97-AF65-F5344CB8AC3E}">
        <p14:creationId xmlns:p14="http://schemas.microsoft.com/office/powerpoint/2010/main" val="286500449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39760C-8230-0963-6C69-92C870CE715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0BBA420-E3FD-6EFD-10BE-48F2E32B59C9}"/>
              </a:ext>
            </a:extLst>
          </p:cNvPr>
          <p:cNvSpPr>
            <a:spLocks noGrp="1"/>
          </p:cNvSpPr>
          <p:nvPr>
            <p:ph type="title"/>
          </p:nvPr>
        </p:nvSpPr>
        <p:spPr/>
        <p:txBody>
          <a:bodyPr/>
          <a:lstStyle/>
          <a:p>
            <a:r>
              <a:rPr lang="en-US" dirty="0"/>
              <a:t>Representing a Heap (Answers)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27252E7B-93B6-AAE5-2BB0-37D70582703A}"/>
                  </a:ext>
                </a:extLst>
              </p:cNvPr>
              <p:cNvSpPr>
                <a:spLocks noGrp="1"/>
              </p:cNvSpPr>
              <p:nvPr>
                <p:ph idx="1"/>
              </p:nvPr>
            </p:nvSpPr>
            <p:spPr>
              <a:xfrm>
                <a:off x="256282" y="1570438"/>
                <a:ext cx="6938093" cy="4351338"/>
              </a:xfrm>
            </p:spPr>
            <p:txBody>
              <a:bodyPr>
                <a:normAutofit lnSpcReduction="10000"/>
              </a:bodyPr>
              <a:lstStyle/>
              <a:p>
                <a:r>
                  <a:rPr lang="en-US" dirty="0"/>
                  <a:t>Every complete binary tree with the same number of nodes uses the same positions and edges</a:t>
                </a:r>
              </a:p>
              <a:p>
                <a:r>
                  <a:rPr lang="en-US" dirty="0"/>
                  <a:t>Use an array to represent the heap</a:t>
                </a:r>
              </a:p>
              <a:p>
                <a:r>
                  <a:rPr lang="en-US" dirty="0"/>
                  <a:t>Index of root: 1</a:t>
                </a:r>
              </a:p>
              <a:p>
                <a:r>
                  <a:rPr lang="en-US" dirty="0"/>
                  <a:t>Parent of node </a:t>
                </a:r>
                <a14:m>
                  <m:oMath xmlns:m="http://schemas.openxmlformats.org/officeDocument/2006/math">
                    <m:r>
                      <a:rPr lang="en-US" b="0" i="1" smtClean="0">
                        <a:latin typeface="Cambria Math" panose="02040503050406030204" pitchFamily="18" charset="0"/>
                      </a:rPr>
                      <m:t>𝑖</m:t>
                    </m:r>
                  </m:oMath>
                </a14:m>
                <a:r>
                  <a:rPr lang="en-US" dirty="0"/>
                  <a:t>: </a:t>
                </a:r>
                <a14:m>
                  <m:oMath xmlns:m="http://schemas.openxmlformats.org/officeDocument/2006/math">
                    <m:d>
                      <m:dPr>
                        <m:begChr m:val="⌊"/>
                        <m:endChr m:val="⌋"/>
                        <m:ctrlPr>
                          <a:rPr lang="en-US" b="0" i="1" smtClean="0">
                            <a:latin typeface="Cambria Math" panose="02040503050406030204" pitchFamily="18" charset="0"/>
                          </a:rPr>
                        </m:ctrlPr>
                      </m:dPr>
                      <m:e>
                        <m:f>
                          <m:fPr>
                            <m:ctrlPr>
                              <a:rPr lang="en-US" b="0" i="1" smtClean="0">
                                <a:latin typeface="Cambria Math" panose="02040503050406030204" pitchFamily="18" charset="0"/>
                              </a:rPr>
                            </m:ctrlPr>
                          </m:fPr>
                          <m:num>
                            <m:r>
                              <a:rPr lang="en-US" b="0" i="1" smtClean="0">
                                <a:latin typeface="Cambria Math" panose="02040503050406030204" pitchFamily="18" charset="0"/>
                              </a:rPr>
                              <m:t>𝑖</m:t>
                            </m:r>
                          </m:num>
                          <m:den>
                            <m:r>
                              <a:rPr lang="en-US" b="0" i="1" smtClean="0">
                                <a:latin typeface="Cambria Math" panose="02040503050406030204" pitchFamily="18" charset="0"/>
                              </a:rPr>
                              <m:t>2</m:t>
                            </m:r>
                          </m:den>
                        </m:f>
                      </m:e>
                    </m:d>
                  </m:oMath>
                </a14:m>
                <a:endParaRPr lang="en-US" dirty="0"/>
              </a:p>
              <a:p>
                <a:r>
                  <a:rPr lang="en-US" dirty="0"/>
                  <a:t>Left child of node </a:t>
                </a:r>
                <a14:m>
                  <m:oMath xmlns:m="http://schemas.openxmlformats.org/officeDocument/2006/math">
                    <m:r>
                      <a:rPr lang="en-US" b="0" i="1" smtClean="0">
                        <a:latin typeface="Cambria Math" panose="02040503050406030204" pitchFamily="18" charset="0"/>
                      </a:rPr>
                      <m:t>𝑖</m:t>
                    </m:r>
                  </m:oMath>
                </a14:m>
                <a:r>
                  <a:rPr lang="en-US" dirty="0"/>
                  <a:t>: </a:t>
                </a:r>
                <a14:m>
                  <m:oMath xmlns:m="http://schemas.openxmlformats.org/officeDocument/2006/math">
                    <m:r>
                      <a:rPr lang="en-US" b="0" i="1" smtClean="0">
                        <a:latin typeface="Cambria Math" panose="02040503050406030204" pitchFamily="18" charset="0"/>
                      </a:rPr>
                      <m:t>2</m:t>
                    </m:r>
                    <m:r>
                      <a:rPr lang="en-US" b="0" i="1" smtClean="0">
                        <a:latin typeface="Cambria Math" panose="02040503050406030204" pitchFamily="18" charset="0"/>
                      </a:rPr>
                      <m:t>𝑖</m:t>
                    </m:r>
                  </m:oMath>
                </a14:m>
                <a:endParaRPr lang="en-US" dirty="0"/>
              </a:p>
              <a:p>
                <a:r>
                  <a:rPr lang="en-US" dirty="0"/>
                  <a:t>Right child of node </a:t>
                </a:r>
                <a14:m>
                  <m:oMath xmlns:m="http://schemas.openxmlformats.org/officeDocument/2006/math">
                    <m:r>
                      <a:rPr lang="en-US" b="0" i="1" smtClean="0">
                        <a:latin typeface="Cambria Math" panose="02040503050406030204" pitchFamily="18" charset="0"/>
                      </a:rPr>
                      <m:t>𝑖</m:t>
                    </m:r>
                  </m:oMath>
                </a14:m>
                <a:r>
                  <a:rPr lang="en-US" dirty="0"/>
                  <a:t>: </a:t>
                </a:r>
                <a14:m>
                  <m:oMath xmlns:m="http://schemas.openxmlformats.org/officeDocument/2006/math">
                    <m:r>
                      <a:rPr lang="en-US" b="0" i="1" smtClean="0">
                        <a:latin typeface="Cambria Math" panose="02040503050406030204" pitchFamily="18" charset="0"/>
                      </a:rPr>
                      <m:t>2</m:t>
                    </m:r>
                    <m:r>
                      <a:rPr lang="en-US" b="0" i="1" smtClean="0">
                        <a:latin typeface="Cambria Math" panose="02040503050406030204" pitchFamily="18" charset="0"/>
                      </a:rPr>
                      <m:t>𝑖</m:t>
                    </m:r>
                    <m:r>
                      <a:rPr lang="en-US" b="0" i="1" smtClean="0">
                        <a:latin typeface="Cambria Math" panose="02040503050406030204" pitchFamily="18" charset="0"/>
                      </a:rPr>
                      <m:t>+1</m:t>
                    </m:r>
                  </m:oMath>
                </a14:m>
                <a:endParaRPr lang="en-US" dirty="0"/>
              </a:p>
              <a:p>
                <a:r>
                  <a:rPr lang="en-US" dirty="0"/>
                  <a:t>Location of the leaves: </a:t>
                </a:r>
                <a14:m>
                  <m:oMath xmlns:m="http://schemas.openxmlformats.org/officeDocument/2006/math">
                    <m:d>
                      <m:dPr>
                        <m:begChr m:val="⌊"/>
                        <m:endChr m:val="⌋"/>
                        <m:ctrlPr>
                          <a:rPr lang="en-US" b="0" i="1" smtClean="0">
                            <a:latin typeface="Cambria Math" panose="02040503050406030204" pitchFamily="18" charset="0"/>
                          </a:rPr>
                        </m:ctrlPr>
                      </m:dPr>
                      <m:e>
                        <m:f>
                          <m:fPr>
                            <m:ctrlPr>
                              <a:rPr lang="en-US" b="0" i="1" smtClean="0">
                                <a:latin typeface="Cambria Math" panose="02040503050406030204" pitchFamily="18" charset="0"/>
                              </a:rPr>
                            </m:ctrlPr>
                          </m:fPr>
                          <m:num>
                            <m:r>
                              <a:rPr lang="en-US" b="0" i="1" smtClean="0">
                                <a:latin typeface="Cambria Math" panose="02040503050406030204" pitchFamily="18" charset="0"/>
                              </a:rPr>
                              <m:t>𝑛</m:t>
                            </m:r>
                          </m:num>
                          <m:den>
                            <m:r>
                              <a:rPr lang="en-US" b="0" i="1" smtClean="0">
                                <a:latin typeface="Cambria Math" panose="02040503050406030204" pitchFamily="18" charset="0"/>
                              </a:rPr>
                              <m:t>2</m:t>
                            </m:r>
                          </m:den>
                        </m:f>
                      </m:e>
                    </m:d>
                    <m:r>
                      <a:rPr lang="en-US" b="0" i="1" smtClean="0">
                        <a:latin typeface="Cambria Math" panose="02040503050406030204" pitchFamily="18" charset="0"/>
                      </a:rPr>
                      <m:t>+1</m:t>
                    </m:r>
                  </m:oMath>
                </a14:m>
                <a:r>
                  <a:rPr lang="en-US" dirty="0"/>
                  <a:t> to </a:t>
                </a:r>
                <a14:m>
                  <m:oMath xmlns:m="http://schemas.openxmlformats.org/officeDocument/2006/math">
                    <m:r>
                      <a:rPr lang="en-US" b="0" i="1" smtClean="0">
                        <a:latin typeface="Cambria Math" panose="02040503050406030204" pitchFamily="18" charset="0"/>
                      </a:rPr>
                      <m:t>𝑛</m:t>
                    </m:r>
                  </m:oMath>
                </a14:m>
                <a:endParaRPr lang="en-US" dirty="0"/>
              </a:p>
            </p:txBody>
          </p:sp>
        </mc:Choice>
        <mc:Fallback xmlns="">
          <p:sp>
            <p:nvSpPr>
              <p:cNvPr id="3" name="Content Placeholder 2">
                <a:extLst>
                  <a:ext uri="{FF2B5EF4-FFF2-40B4-BE49-F238E27FC236}">
                    <a16:creationId xmlns:a16="http://schemas.microsoft.com/office/drawing/2014/main" id="{27252E7B-93B6-AAE5-2BB0-37D70582703A}"/>
                  </a:ext>
                </a:extLst>
              </p:cNvPr>
              <p:cNvSpPr>
                <a:spLocks noGrp="1" noRot="1" noChangeAspect="1" noMove="1" noResize="1" noEditPoints="1" noAdjustHandles="1" noChangeArrowheads="1" noChangeShapeType="1" noTextEdit="1"/>
              </p:cNvSpPr>
              <p:nvPr>
                <p:ph idx="1"/>
              </p:nvPr>
            </p:nvSpPr>
            <p:spPr>
              <a:xfrm>
                <a:off x="256282" y="1570438"/>
                <a:ext cx="6938093" cy="4351338"/>
              </a:xfrm>
              <a:blipFill>
                <a:blip r:embed="rId2"/>
                <a:stretch>
                  <a:fillRect l="-1582" t="-3226" b="-561"/>
                </a:stretch>
              </a:blipFill>
            </p:spPr>
            <p:txBody>
              <a:bodyPr/>
              <a:lstStyle/>
              <a:p>
                <a:r>
                  <a:rPr lang="en-US">
                    <a:noFill/>
                  </a:rPr>
                  <a:t> </a:t>
                </a:r>
              </a:p>
            </p:txBody>
          </p:sp>
        </mc:Fallback>
      </mc:AlternateContent>
      <p:grpSp>
        <p:nvGrpSpPr>
          <p:cNvPr id="4" name="Group 3" descr="A heap containing 9 items, making for a binary tree of 4 levels. The last level has 2 nodes in it. The nodes are as follows:&#10;&#10;- The root node is 1&#10;- the left child of 1 is 3, the right child is 2&#10;- the left child of 3 is 4, the right child is 7&#10;- the left child of 2 is 5, the right child is 6&#10;- the left child of 4 is 5, the right child is 9&#10;- nodes 7, 5, 6, 5, and 9 are all leaves">
            <a:extLst>
              <a:ext uri="{FF2B5EF4-FFF2-40B4-BE49-F238E27FC236}">
                <a16:creationId xmlns:a16="http://schemas.microsoft.com/office/drawing/2014/main" id="{5E777D30-E738-E072-97FA-FFB11BCA03FF}"/>
              </a:ext>
            </a:extLst>
          </p:cNvPr>
          <p:cNvGrpSpPr/>
          <p:nvPr/>
        </p:nvGrpSpPr>
        <p:grpSpPr>
          <a:xfrm>
            <a:off x="5196247" y="936224"/>
            <a:ext cx="6934200" cy="3661882"/>
            <a:chOff x="2590801" y="2672070"/>
            <a:chExt cx="6934200" cy="3661882"/>
          </a:xfrm>
        </p:grpSpPr>
        <p:sp>
          <p:nvSpPr>
            <p:cNvPr id="5" name="Oval 4">
              <a:extLst>
                <a:ext uri="{FF2B5EF4-FFF2-40B4-BE49-F238E27FC236}">
                  <a16:creationId xmlns:a16="http://schemas.microsoft.com/office/drawing/2014/main" id="{FCDD22C6-DA74-B13C-ADB3-63D3B5AF79A2}"/>
                </a:ext>
              </a:extLst>
            </p:cNvPr>
            <p:cNvSpPr/>
            <p:nvPr/>
          </p:nvSpPr>
          <p:spPr>
            <a:xfrm>
              <a:off x="5996855" y="2672070"/>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6" name="Oval 5">
              <a:extLst>
                <a:ext uri="{FF2B5EF4-FFF2-40B4-BE49-F238E27FC236}">
                  <a16:creationId xmlns:a16="http://schemas.microsoft.com/office/drawing/2014/main" id="{E3B929FF-F6C6-EC24-92AF-0B0E4B04E553}"/>
                </a:ext>
              </a:extLst>
            </p:cNvPr>
            <p:cNvSpPr/>
            <p:nvPr/>
          </p:nvSpPr>
          <p:spPr>
            <a:xfrm>
              <a:off x="4191001" y="3682289"/>
              <a:ext cx="688077" cy="688077"/>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7" name="Oval 6">
              <a:extLst>
                <a:ext uri="{FF2B5EF4-FFF2-40B4-BE49-F238E27FC236}">
                  <a16:creationId xmlns:a16="http://schemas.microsoft.com/office/drawing/2014/main" id="{F8228E14-FA8B-4A13-0249-A52A7A1A4DD2}"/>
                </a:ext>
              </a:extLst>
            </p:cNvPr>
            <p:cNvSpPr/>
            <p:nvPr/>
          </p:nvSpPr>
          <p:spPr>
            <a:xfrm>
              <a:off x="7858499" y="3653913"/>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8" name="Oval 7">
              <a:extLst>
                <a:ext uri="{FF2B5EF4-FFF2-40B4-BE49-F238E27FC236}">
                  <a16:creationId xmlns:a16="http://schemas.microsoft.com/office/drawing/2014/main" id="{FD3C7D9F-9F7E-F62C-004B-42ED10795993}"/>
                </a:ext>
              </a:extLst>
            </p:cNvPr>
            <p:cNvSpPr/>
            <p:nvPr/>
          </p:nvSpPr>
          <p:spPr>
            <a:xfrm>
              <a:off x="3200401" y="4383504"/>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9" name="Oval 8">
              <a:extLst>
                <a:ext uri="{FF2B5EF4-FFF2-40B4-BE49-F238E27FC236}">
                  <a16:creationId xmlns:a16="http://schemas.microsoft.com/office/drawing/2014/main" id="{01765ABC-57FF-81AB-167B-A7DB264EF4E0}"/>
                </a:ext>
              </a:extLst>
            </p:cNvPr>
            <p:cNvSpPr/>
            <p:nvPr/>
          </p:nvSpPr>
          <p:spPr>
            <a:xfrm>
              <a:off x="5211206" y="4425368"/>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10" name="Oval 9">
              <a:extLst>
                <a:ext uri="{FF2B5EF4-FFF2-40B4-BE49-F238E27FC236}">
                  <a16:creationId xmlns:a16="http://schemas.microsoft.com/office/drawing/2014/main" id="{E38FBD18-2DD2-2D5B-F890-3A4D027D55CE}"/>
                </a:ext>
              </a:extLst>
            </p:cNvPr>
            <p:cNvSpPr/>
            <p:nvPr/>
          </p:nvSpPr>
          <p:spPr>
            <a:xfrm>
              <a:off x="6934201" y="4341990"/>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11" name="Oval 10">
              <a:extLst>
                <a:ext uri="{FF2B5EF4-FFF2-40B4-BE49-F238E27FC236}">
                  <a16:creationId xmlns:a16="http://schemas.microsoft.com/office/drawing/2014/main" id="{E86BC3CF-4410-45E3-E25F-3C588F513ED5}"/>
                </a:ext>
              </a:extLst>
            </p:cNvPr>
            <p:cNvSpPr/>
            <p:nvPr/>
          </p:nvSpPr>
          <p:spPr>
            <a:xfrm>
              <a:off x="8836924" y="4341990"/>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12" name="Oval 11">
              <a:extLst>
                <a:ext uri="{FF2B5EF4-FFF2-40B4-BE49-F238E27FC236}">
                  <a16:creationId xmlns:a16="http://schemas.microsoft.com/office/drawing/2014/main" id="{75CEAE67-1F89-1384-33FC-D923C88F67B9}"/>
                </a:ext>
              </a:extLst>
            </p:cNvPr>
            <p:cNvSpPr/>
            <p:nvPr/>
          </p:nvSpPr>
          <p:spPr>
            <a:xfrm>
              <a:off x="2590801" y="5352744"/>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13" name="Oval 12">
              <a:extLst>
                <a:ext uri="{FF2B5EF4-FFF2-40B4-BE49-F238E27FC236}">
                  <a16:creationId xmlns:a16="http://schemas.microsoft.com/office/drawing/2014/main" id="{2FA7D486-940E-B6F5-8FCF-132D506FDC0E}"/>
                </a:ext>
              </a:extLst>
            </p:cNvPr>
            <p:cNvSpPr/>
            <p:nvPr/>
          </p:nvSpPr>
          <p:spPr>
            <a:xfrm>
              <a:off x="3733801" y="5352744"/>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a:t>
              </a:r>
            </a:p>
          </p:txBody>
        </p:sp>
        <p:cxnSp>
          <p:nvCxnSpPr>
            <p:cNvPr id="14" name="Straight Connector 13">
              <a:extLst>
                <a:ext uri="{FF2B5EF4-FFF2-40B4-BE49-F238E27FC236}">
                  <a16:creationId xmlns:a16="http://schemas.microsoft.com/office/drawing/2014/main" id="{39CCABB7-0649-E2F3-6200-7360DCAEF4E7}"/>
                </a:ext>
              </a:extLst>
            </p:cNvPr>
            <p:cNvCxnSpPr>
              <a:cxnSpLocks/>
              <a:stCxn id="5" idx="3"/>
              <a:endCxn id="6" idx="7"/>
            </p:cNvCxnSpPr>
            <p:nvPr/>
          </p:nvCxnSpPr>
          <p:spPr>
            <a:xfrm flipH="1">
              <a:off x="4778311" y="3259380"/>
              <a:ext cx="1319311" cy="52367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4F1AAAA6-687D-9D33-8399-AF729EA60920}"/>
                </a:ext>
              </a:extLst>
            </p:cNvPr>
            <p:cNvCxnSpPr>
              <a:cxnSpLocks/>
              <a:stCxn id="5" idx="5"/>
              <a:endCxn id="7" idx="1"/>
            </p:cNvCxnSpPr>
            <p:nvPr/>
          </p:nvCxnSpPr>
          <p:spPr>
            <a:xfrm>
              <a:off x="6584165" y="3259380"/>
              <a:ext cx="1375101" cy="4953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89A7DEFE-E5D8-DCF2-680A-69580F25CE3A}"/>
                </a:ext>
              </a:extLst>
            </p:cNvPr>
            <p:cNvCxnSpPr>
              <a:stCxn id="9" idx="1"/>
              <a:endCxn id="6" idx="5"/>
            </p:cNvCxnSpPr>
            <p:nvPr/>
          </p:nvCxnSpPr>
          <p:spPr>
            <a:xfrm flipH="1" flipV="1">
              <a:off x="4778310" y="4269598"/>
              <a:ext cx="533662" cy="25653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32797F3D-55AB-34EF-9DE0-CC620E2A27AA}"/>
                </a:ext>
              </a:extLst>
            </p:cNvPr>
            <p:cNvCxnSpPr>
              <a:stCxn id="8" idx="7"/>
              <a:endCxn id="6" idx="3"/>
            </p:cNvCxnSpPr>
            <p:nvPr/>
          </p:nvCxnSpPr>
          <p:spPr>
            <a:xfrm flipV="1">
              <a:off x="3787711" y="4269598"/>
              <a:ext cx="504057" cy="21467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BA6DE887-5D1C-778A-2000-1E0AC8F7B405}"/>
                </a:ext>
              </a:extLst>
            </p:cNvPr>
            <p:cNvCxnSpPr>
              <a:stCxn id="13" idx="0"/>
              <a:endCxn id="8" idx="5"/>
            </p:cNvCxnSpPr>
            <p:nvPr/>
          </p:nvCxnSpPr>
          <p:spPr>
            <a:xfrm flipH="1" flipV="1">
              <a:off x="3787711" y="4970813"/>
              <a:ext cx="290129" cy="38193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D5CE1F60-73F4-EA1D-D13A-831A15038C3D}"/>
                </a:ext>
              </a:extLst>
            </p:cNvPr>
            <p:cNvCxnSpPr>
              <a:stCxn id="12" idx="0"/>
              <a:endCxn id="8" idx="3"/>
            </p:cNvCxnSpPr>
            <p:nvPr/>
          </p:nvCxnSpPr>
          <p:spPr>
            <a:xfrm flipV="1">
              <a:off x="2934839" y="4970813"/>
              <a:ext cx="366328" cy="38193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4B53268-93BE-AAF0-A651-190CADDE87F0}"/>
                </a:ext>
              </a:extLst>
            </p:cNvPr>
            <p:cNvCxnSpPr>
              <a:stCxn id="10" idx="7"/>
              <a:endCxn id="7" idx="3"/>
            </p:cNvCxnSpPr>
            <p:nvPr/>
          </p:nvCxnSpPr>
          <p:spPr>
            <a:xfrm flipV="1">
              <a:off x="7521511" y="4241222"/>
              <a:ext cx="437755" cy="20153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8E8A1C20-9AB4-AA89-52C0-1F6BDBE58660}"/>
                </a:ext>
              </a:extLst>
            </p:cNvPr>
            <p:cNvCxnSpPr>
              <a:stCxn id="11" idx="1"/>
              <a:endCxn id="7" idx="5"/>
            </p:cNvCxnSpPr>
            <p:nvPr/>
          </p:nvCxnSpPr>
          <p:spPr>
            <a:xfrm flipH="1" flipV="1">
              <a:off x="8445808" y="4241222"/>
              <a:ext cx="491882" cy="20153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2" name="TextBox 21">
              <a:extLst>
                <a:ext uri="{FF2B5EF4-FFF2-40B4-BE49-F238E27FC236}">
                  <a16:creationId xmlns:a16="http://schemas.microsoft.com/office/drawing/2014/main" id="{02345B14-0F45-1DFB-CBD7-5608305E6B09}"/>
                </a:ext>
              </a:extLst>
            </p:cNvPr>
            <p:cNvSpPr txBox="1"/>
            <p:nvPr/>
          </p:nvSpPr>
          <p:spPr>
            <a:xfrm>
              <a:off x="6190049" y="3371296"/>
              <a:ext cx="301686" cy="369332"/>
            </a:xfrm>
            <a:prstGeom prst="rect">
              <a:avLst/>
            </a:prstGeom>
            <a:noFill/>
          </p:spPr>
          <p:txBody>
            <a:bodyPr wrap="none" rtlCol="0">
              <a:spAutoFit/>
            </a:bodyPr>
            <a:lstStyle/>
            <a:p>
              <a:r>
                <a:rPr lang="en-US" dirty="0">
                  <a:solidFill>
                    <a:srgbClr val="FF33CC"/>
                  </a:solidFill>
                </a:rPr>
                <a:t>1</a:t>
              </a:r>
            </a:p>
          </p:txBody>
        </p:sp>
        <p:sp>
          <p:nvSpPr>
            <p:cNvPr id="23" name="TextBox 22">
              <a:extLst>
                <a:ext uri="{FF2B5EF4-FFF2-40B4-BE49-F238E27FC236}">
                  <a16:creationId xmlns:a16="http://schemas.microsoft.com/office/drawing/2014/main" id="{395C2C05-8B47-F33F-6BDD-97EE76D61F01}"/>
                </a:ext>
              </a:extLst>
            </p:cNvPr>
            <p:cNvSpPr txBox="1"/>
            <p:nvPr/>
          </p:nvSpPr>
          <p:spPr>
            <a:xfrm>
              <a:off x="4384195" y="4377091"/>
              <a:ext cx="301686" cy="369332"/>
            </a:xfrm>
            <a:prstGeom prst="rect">
              <a:avLst/>
            </a:prstGeom>
            <a:noFill/>
          </p:spPr>
          <p:txBody>
            <a:bodyPr wrap="none" rtlCol="0">
              <a:spAutoFit/>
            </a:bodyPr>
            <a:lstStyle/>
            <a:p>
              <a:r>
                <a:rPr lang="en-US" dirty="0">
                  <a:solidFill>
                    <a:srgbClr val="FF33CC"/>
                  </a:solidFill>
                </a:rPr>
                <a:t>2</a:t>
              </a:r>
            </a:p>
          </p:txBody>
        </p:sp>
        <p:sp>
          <p:nvSpPr>
            <p:cNvPr id="24" name="TextBox 23">
              <a:extLst>
                <a:ext uri="{FF2B5EF4-FFF2-40B4-BE49-F238E27FC236}">
                  <a16:creationId xmlns:a16="http://schemas.microsoft.com/office/drawing/2014/main" id="{AF559B2E-23CE-FF17-0BE9-EED9128098F1}"/>
                </a:ext>
              </a:extLst>
            </p:cNvPr>
            <p:cNvSpPr txBox="1"/>
            <p:nvPr/>
          </p:nvSpPr>
          <p:spPr>
            <a:xfrm>
              <a:off x="8051693" y="4316695"/>
              <a:ext cx="301686" cy="369332"/>
            </a:xfrm>
            <a:prstGeom prst="rect">
              <a:avLst/>
            </a:prstGeom>
            <a:noFill/>
          </p:spPr>
          <p:txBody>
            <a:bodyPr wrap="none" rtlCol="0">
              <a:spAutoFit/>
            </a:bodyPr>
            <a:lstStyle/>
            <a:p>
              <a:r>
                <a:rPr lang="en-US" dirty="0">
                  <a:solidFill>
                    <a:srgbClr val="FF33CC"/>
                  </a:solidFill>
                </a:rPr>
                <a:t>3</a:t>
              </a:r>
            </a:p>
          </p:txBody>
        </p:sp>
        <p:sp>
          <p:nvSpPr>
            <p:cNvPr id="25" name="TextBox 24">
              <a:extLst>
                <a:ext uri="{FF2B5EF4-FFF2-40B4-BE49-F238E27FC236}">
                  <a16:creationId xmlns:a16="http://schemas.microsoft.com/office/drawing/2014/main" id="{44103156-11CC-E2AB-11EC-2805FE66AACD}"/>
                </a:ext>
              </a:extLst>
            </p:cNvPr>
            <p:cNvSpPr txBox="1"/>
            <p:nvPr/>
          </p:nvSpPr>
          <p:spPr>
            <a:xfrm>
              <a:off x="3352081" y="5071580"/>
              <a:ext cx="301686" cy="369332"/>
            </a:xfrm>
            <a:prstGeom prst="rect">
              <a:avLst/>
            </a:prstGeom>
            <a:noFill/>
          </p:spPr>
          <p:txBody>
            <a:bodyPr wrap="none" rtlCol="0">
              <a:spAutoFit/>
            </a:bodyPr>
            <a:lstStyle/>
            <a:p>
              <a:r>
                <a:rPr lang="en-US" dirty="0">
                  <a:solidFill>
                    <a:srgbClr val="FF33CC"/>
                  </a:solidFill>
                </a:rPr>
                <a:t>4</a:t>
              </a:r>
            </a:p>
          </p:txBody>
        </p:sp>
        <p:sp>
          <p:nvSpPr>
            <p:cNvPr id="26" name="TextBox 25">
              <a:extLst>
                <a:ext uri="{FF2B5EF4-FFF2-40B4-BE49-F238E27FC236}">
                  <a16:creationId xmlns:a16="http://schemas.microsoft.com/office/drawing/2014/main" id="{74947369-72E8-2101-1EAF-D46374223E33}"/>
                </a:ext>
              </a:extLst>
            </p:cNvPr>
            <p:cNvSpPr txBox="1"/>
            <p:nvPr/>
          </p:nvSpPr>
          <p:spPr>
            <a:xfrm>
              <a:off x="7122005" y="5012677"/>
              <a:ext cx="301686" cy="369332"/>
            </a:xfrm>
            <a:prstGeom prst="rect">
              <a:avLst/>
            </a:prstGeom>
            <a:noFill/>
          </p:spPr>
          <p:txBody>
            <a:bodyPr wrap="none" rtlCol="0">
              <a:spAutoFit/>
            </a:bodyPr>
            <a:lstStyle/>
            <a:p>
              <a:r>
                <a:rPr lang="en-US" dirty="0">
                  <a:solidFill>
                    <a:srgbClr val="FF33CC"/>
                  </a:solidFill>
                </a:rPr>
                <a:t>6</a:t>
              </a:r>
            </a:p>
          </p:txBody>
        </p:sp>
        <p:sp>
          <p:nvSpPr>
            <p:cNvPr id="27" name="TextBox 26">
              <a:extLst>
                <a:ext uri="{FF2B5EF4-FFF2-40B4-BE49-F238E27FC236}">
                  <a16:creationId xmlns:a16="http://schemas.microsoft.com/office/drawing/2014/main" id="{A696132C-5CD7-637E-E423-86B3CC054866}"/>
                </a:ext>
              </a:extLst>
            </p:cNvPr>
            <p:cNvSpPr txBox="1"/>
            <p:nvPr/>
          </p:nvSpPr>
          <p:spPr>
            <a:xfrm>
              <a:off x="5404400" y="5108902"/>
              <a:ext cx="301686" cy="369332"/>
            </a:xfrm>
            <a:prstGeom prst="rect">
              <a:avLst/>
            </a:prstGeom>
            <a:noFill/>
          </p:spPr>
          <p:txBody>
            <a:bodyPr wrap="none" rtlCol="0">
              <a:spAutoFit/>
            </a:bodyPr>
            <a:lstStyle/>
            <a:p>
              <a:r>
                <a:rPr lang="en-US" dirty="0">
                  <a:solidFill>
                    <a:srgbClr val="FF33CC"/>
                  </a:solidFill>
                </a:rPr>
                <a:t>5</a:t>
              </a:r>
            </a:p>
          </p:txBody>
        </p:sp>
        <p:sp>
          <p:nvSpPr>
            <p:cNvPr id="28" name="TextBox 27">
              <a:extLst>
                <a:ext uri="{FF2B5EF4-FFF2-40B4-BE49-F238E27FC236}">
                  <a16:creationId xmlns:a16="http://schemas.microsoft.com/office/drawing/2014/main" id="{3E4AE738-D6E6-43F1-8E46-CF3B42F2EA8F}"/>
                </a:ext>
              </a:extLst>
            </p:cNvPr>
            <p:cNvSpPr txBox="1"/>
            <p:nvPr/>
          </p:nvSpPr>
          <p:spPr>
            <a:xfrm>
              <a:off x="9030118" y="5030066"/>
              <a:ext cx="301686" cy="369332"/>
            </a:xfrm>
            <a:prstGeom prst="rect">
              <a:avLst/>
            </a:prstGeom>
            <a:noFill/>
          </p:spPr>
          <p:txBody>
            <a:bodyPr wrap="none" rtlCol="0">
              <a:spAutoFit/>
            </a:bodyPr>
            <a:lstStyle/>
            <a:p>
              <a:r>
                <a:rPr lang="en-US" dirty="0">
                  <a:solidFill>
                    <a:srgbClr val="FF33CC"/>
                  </a:solidFill>
                </a:rPr>
                <a:t>7</a:t>
              </a:r>
            </a:p>
          </p:txBody>
        </p:sp>
        <p:sp>
          <p:nvSpPr>
            <p:cNvPr id="29" name="TextBox 28">
              <a:extLst>
                <a:ext uri="{FF2B5EF4-FFF2-40B4-BE49-F238E27FC236}">
                  <a16:creationId xmlns:a16="http://schemas.microsoft.com/office/drawing/2014/main" id="{F9FB8F73-6F92-16CA-9ECE-0CD3A5D03442}"/>
                </a:ext>
              </a:extLst>
            </p:cNvPr>
            <p:cNvSpPr txBox="1"/>
            <p:nvPr/>
          </p:nvSpPr>
          <p:spPr>
            <a:xfrm>
              <a:off x="2783996" y="5964620"/>
              <a:ext cx="301686" cy="369332"/>
            </a:xfrm>
            <a:prstGeom prst="rect">
              <a:avLst/>
            </a:prstGeom>
            <a:noFill/>
          </p:spPr>
          <p:txBody>
            <a:bodyPr wrap="none" rtlCol="0">
              <a:spAutoFit/>
            </a:bodyPr>
            <a:lstStyle/>
            <a:p>
              <a:r>
                <a:rPr lang="en-US" dirty="0">
                  <a:solidFill>
                    <a:srgbClr val="FF33CC"/>
                  </a:solidFill>
                </a:rPr>
                <a:t>8</a:t>
              </a:r>
            </a:p>
          </p:txBody>
        </p:sp>
        <p:sp>
          <p:nvSpPr>
            <p:cNvPr id="30" name="TextBox 29">
              <a:extLst>
                <a:ext uri="{FF2B5EF4-FFF2-40B4-BE49-F238E27FC236}">
                  <a16:creationId xmlns:a16="http://schemas.microsoft.com/office/drawing/2014/main" id="{7FC15267-F2F9-BFFA-A02C-7338BCCBF093}"/>
                </a:ext>
              </a:extLst>
            </p:cNvPr>
            <p:cNvSpPr txBox="1"/>
            <p:nvPr/>
          </p:nvSpPr>
          <p:spPr>
            <a:xfrm>
              <a:off x="3920467" y="5964620"/>
              <a:ext cx="301686" cy="369332"/>
            </a:xfrm>
            <a:prstGeom prst="rect">
              <a:avLst/>
            </a:prstGeom>
            <a:noFill/>
          </p:spPr>
          <p:txBody>
            <a:bodyPr wrap="none" rtlCol="0">
              <a:spAutoFit/>
            </a:bodyPr>
            <a:lstStyle/>
            <a:p>
              <a:r>
                <a:rPr lang="en-US" dirty="0">
                  <a:solidFill>
                    <a:srgbClr val="FF33CC"/>
                  </a:solidFill>
                </a:rPr>
                <a:t>9</a:t>
              </a:r>
            </a:p>
          </p:txBody>
        </p:sp>
      </p:grpSp>
      <p:grpSp>
        <p:nvGrpSpPr>
          <p:cNvPr id="55" name="Group 54" descr="An the given heap represented as an array. The items in the heap appear in the array beginning with index 1, and so the array has length 10 and contains 9 items. The order of the items follows a level-order traversal of the heap (which matches the order that the nodes' positions would have been created while adding).&#10;&#10;The array is populated as follows:&#10;index 0: empty&#10;index 1: 1&#10;index 2: 3&#10;index 3: 2&#10;index 4: 4&#10;index 5: 7&#10;index 6: 5&#10;index 7: 6&#10;index 8: 5&#10;index 9: 9">
            <a:extLst>
              <a:ext uri="{FF2B5EF4-FFF2-40B4-BE49-F238E27FC236}">
                <a16:creationId xmlns:a16="http://schemas.microsoft.com/office/drawing/2014/main" id="{0355E5A4-3187-779C-00C2-237238A01D7D}"/>
              </a:ext>
            </a:extLst>
          </p:cNvPr>
          <p:cNvGrpSpPr/>
          <p:nvPr/>
        </p:nvGrpSpPr>
        <p:grpSpPr>
          <a:xfrm>
            <a:off x="5805847" y="5234806"/>
            <a:ext cx="5335707" cy="942725"/>
            <a:chOff x="2969525" y="2137541"/>
            <a:chExt cx="5335707" cy="942725"/>
          </a:xfrm>
        </p:grpSpPr>
        <p:grpSp>
          <p:nvGrpSpPr>
            <p:cNvPr id="32" name="Group 31">
              <a:extLst>
                <a:ext uri="{FF2B5EF4-FFF2-40B4-BE49-F238E27FC236}">
                  <a16:creationId xmlns:a16="http://schemas.microsoft.com/office/drawing/2014/main" id="{6EAEB57A-DD90-9DC3-15B4-623CF76E46EB}"/>
                </a:ext>
              </a:extLst>
            </p:cNvPr>
            <p:cNvGrpSpPr/>
            <p:nvPr/>
          </p:nvGrpSpPr>
          <p:grpSpPr>
            <a:xfrm>
              <a:off x="2969525" y="2137541"/>
              <a:ext cx="5335707" cy="533400"/>
              <a:chOff x="1445524" y="2971800"/>
              <a:chExt cx="5335707" cy="533400"/>
            </a:xfrm>
          </p:grpSpPr>
          <p:sp>
            <p:nvSpPr>
              <p:cNvPr id="34" name="Rectangle 33">
                <a:extLst>
                  <a:ext uri="{FF2B5EF4-FFF2-40B4-BE49-F238E27FC236}">
                    <a16:creationId xmlns:a16="http://schemas.microsoft.com/office/drawing/2014/main" id="{0726282A-9F3A-B873-9958-F3CBC4754B5C}"/>
                  </a:ext>
                </a:extLst>
              </p:cNvPr>
              <p:cNvSpPr/>
              <p:nvPr/>
            </p:nvSpPr>
            <p:spPr>
              <a:xfrm>
                <a:off x="1445524" y="2971800"/>
                <a:ext cx="533400" cy="5334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35" name="Rectangle 34">
                <a:extLst>
                  <a:ext uri="{FF2B5EF4-FFF2-40B4-BE49-F238E27FC236}">
                    <a16:creationId xmlns:a16="http://schemas.microsoft.com/office/drawing/2014/main" id="{42FCD815-7268-0D69-83D6-554BAC785D4E}"/>
                  </a:ext>
                </a:extLst>
              </p:cNvPr>
              <p:cNvSpPr/>
              <p:nvPr/>
            </p:nvSpPr>
            <p:spPr>
              <a:xfrm>
                <a:off x="1978924" y="2971800"/>
                <a:ext cx="533400" cy="5334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36" name="Rectangle 35">
                <a:extLst>
                  <a:ext uri="{FF2B5EF4-FFF2-40B4-BE49-F238E27FC236}">
                    <a16:creationId xmlns:a16="http://schemas.microsoft.com/office/drawing/2014/main" id="{60802369-A834-74A8-4679-3F4096F52744}"/>
                  </a:ext>
                </a:extLst>
              </p:cNvPr>
              <p:cNvSpPr/>
              <p:nvPr/>
            </p:nvSpPr>
            <p:spPr>
              <a:xfrm>
                <a:off x="2512893" y="29718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37" name="Rectangle 36">
                <a:extLst>
                  <a:ext uri="{FF2B5EF4-FFF2-40B4-BE49-F238E27FC236}">
                    <a16:creationId xmlns:a16="http://schemas.microsoft.com/office/drawing/2014/main" id="{4F940BBA-87BC-A0BF-0127-20420EECF92C}"/>
                  </a:ext>
                </a:extLst>
              </p:cNvPr>
              <p:cNvSpPr/>
              <p:nvPr/>
            </p:nvSpPr>
            <p:spPr>
              <a:xfrm>
                <a:off x="3046293" y="29718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38" name="Rectangle 37">
                <a:extLst>
                  <a:ext uri="{FF2B5EF4-FFF2-40B4-BE49-F238E27FC236}">
                    <a16:creationId xmlns:a16="http://schemas.microsoft.com/office/drawing/2014/main" id="{D546CDBC-8ADC-1458-CD20-8DEEC2AF7EDF}"/>
                  </a:ext>
                </a:extLst>
              </p:cNvPr>
              <p:cNvSpPr/>
              <p:nvPr/>
            </p:nvSpPr>
            <p:spPr>
              <a:xfrm>
                <a:off x="3579693" y="29718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39" name="Rectangle 38">
                <a:extLst>
                  <a:ext uri="{FF2B5EF4-FFF2-40B4-BE49-F238E27FC236}">
                    <a16:creationId xmlns:a16="http://schemas.microsoft.com/office/drawing/2014/main" id="{F4E15C6D-CEC2-5FE9-834F-043C30A9614A}"/>
                  </a:ext>
                </a:extLst>
              </p:cNvPr>
              <p:cNvSpPr/>
              <p:nvPr/>
            </p:nvSpPr>
            <p:spPr>
              <a:xfrm>
                <a:off x="4113662" y="29718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40" name="Rectangle 39">
                <a:extLst>
                  <a:ext uri="{FF2B5EF4-FFF2-40B4-BE49-F238E27FC236}">
                    <a16:creationId xmlns:a16="http://schemas.microsoft.com/office/drawing/2014/main" id="{FFC0C587-904B-0D72-44A7-3387D7003781}"/>
                  </a:ext>
                </a:extLst>
              </p:cNvPr>
              <p:cNvSpPr/>
              <p:nvPr/>
            </p:nvSpPr>
            <p:spPr>
              <a:xfrm>
                <a:off x="4647062" y="29718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41" name="Rectangle 40">
                <a:extLst>
                  <a:ext uri="{FF2B5EF4-FFF2-40B4-BE49-F238E27FC236}">
                    <a16:creationId xmlns:a16="http://schemas.microsoft.com/office/drawing/2014/main" id="{C8701E03-2902-4A33-1EBD-4BC24B5A0D49}"/>
                  </a:ext>
                </a:extLst>
              </p:cNvPr>
              <p:cNvSpPr/>
              <p:nvPr/>
            </p:nvSpPr>
            <p:spPr>
              <a:xfrm>
                <a:off x="5180462" y="29718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42" name="Rectangle 41">
                <a:extLst>
                  <a:ext uri="{FF2B5EF4-FFF2-40B4-BE49-F238E27FC236}">
                    <a16:creationId xmlns:a16="http://schemas.microsoft.com/office/drawing/2014/main" id="{F68ABD59-C3CE-F0E9-84D7-EC04226371A7}"/>
                  </a:ext>
                </a:extLst>
              </p:cNvPr>
              <p:cNvSpPr/>
              <p:nvPr/>
            </p:nvSpPr>
            <p:spPr>
              <a:xfrm>
                <a:off x="5714431" y="29718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43" name="Rectangle 42">
                <a:extLst>
                  <a:ext uri="{FF2B5EF4-FFF2-40B4-BE49-F238E27FC236}">
                    <a16:creationId xmlns:a16="http://schemas.microsoft.com/office/drawing/2014/main" id="{AAF3D9F5-9D84-6980-E272-967F78AC4F59}"/>
                  </a:ext>
                </a:extLst>
              </p:cNvPr>
              <p:cNvSpPr/>
              <p:nvPr/>
            </p:nvSpPr>
            <p:spPr>
              <a:xfrm>
                <a:off x="6247831" y="29718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a:t>
                </a:r>
              </a:p>
            </p:txBody>
          </p:sp>
        </p:grpSp>
        <p:sp>
          <p:nvSpPr>
            <p:cNvPr id="44" name="TextBox 43">
              <a:extLst>
                <a:ext uri="{FF2B5EF4-FFF2-40B4-BE49-F238E27FC236}">
                  <a16:creationId xmlns:a16="http://schemas.microsoft.com/office/drawing/2014/main" id="{5C2A756F-92C8-A7A7-5A8F-3E91419E85D5}"/>
                </a:ext>
              </a:extLst>
            </p:cNvPr>
            <p:cNvSpPr txBox="1"/>
            <p:nvPr/>
          </p:nvSpPr>
          <p:spPr>
            <a:xfrm>
              <a:off x="3085381" y="2710934"/>
              <a:ext cx="301686" cy="369332"/>
            </a:xfrm>
            <a:prstGeom prst="rect">
              <a:avLst/>
            </a:prstGeom>
            <a:noFill/>
          </p:spPr>
          <p:txBody>
            <a:bodyPr wrap="none" rtlCol="0">
              <a:spAutoFit/>
            </a:bodyPr>
            <a:lstStyle/>
            <a:p>
              <a:r>
                <a:rPr lang="en-US" dirty="0">
                  <a:solidFill>
                    <a:srgbClr val="FF33CC"/>
                  </a:solidFill>
                </a:rPr>
                <a:t>0</a:t>
              </a:r>
            </a:p>
          </p:txBody>
        </p:sp>
        <p:sp>
          <p:nvSpPr>
            <p:cNvPr id="45" name="TextBox 44">
              <a:extLst>
                <a:ext uri="{FF2B5EF4-FFF2-40B4-BE49-F238E27FC236}">
                  <a16:creationId xmlns:a16="http://schemas.microsoft.com/office/drawing/2014/main" id="{DE6541BD-1387-DC36-9AB0-CB03D4731145}"/>
                </a:ext>
              </a:extLst>
            </p:cNvPr>
            <p:cNvSpPr txBox="1"/>
            <p:nvPr/>
          </p:nvSpPr>
          <p:spPr>
            <a:xfrm>
              <a:off x="3618781" y="2710934"/>
              <a:ext cx="301686" cy="369332"/>
            </a:xfrm>
            <a:prstGeom prst="rect">
              <a:avLst/>
            </a:prstGeom>
            <a:noFill/>
          </p:spPr>
          <p:txBody>
            <a:bodyPr wrap="none" rtlCol="0">
              <a:spAutoFit/>
            </a:bodyPr>
            <a:lstStyle/>
            <a:p>
              <a:r>
                <a:rPr lang="en-US" dirty="0">
                  <a:solidFill>
                    <a:srgbClr val="FF33CC"/>
                  </a:solidFill>
                </a:rPr>
                <a:t>1</a:t>
              </a:r>
            </a:p>
          </p:txBody>
        </p:sp>
        <p:sp>
          <p:nvSpPr>
            <p:cNvPr id="46" name="TextBox 45">
              <a:extLst>
                <a:ext uri="{FF2B5EF4-FFF2-40B4-BE49-F238E27FC236}">
                  <a16:creationId xmlns:a16="http://schemas.microsoft.com/office/drawing/2014/main" id="{6DE3183A-718F-0B00-49D1-87B92182305B}"/>
                </a:ext>
              </a:extLst>
            </p:cNvPr>
            <p:cNvSpPr txBox="1"/>
            <p:nvPr/>
          </p:nvSpPr>
          <p:spPr>
            <a:xfrm>
              <a:off x="4152750" y="2710934"/>
              <a:ext cx="301686" cy="369332"/>
            </a:xfrm>
            <a:prstGeom prst="rect">
              <a:avLst/>
            </a:prstGeom>
            <a:noFill/>
          </p:spPr>
          <p:txBody>
            <a:bodyPr wrap="none" rtlCol="0">
              <a:spAutoFit/>
            </a:bodyPr>
            <a:lstStyle/>
            <a:p>
              <a:r>
                <a:rPr lang="en-US" dirty="0">
                  <a:solidFill>
                    <a:srgbClr val="FF33CC"/>
                  </a:solidFill>
                </a:rPr>
                <a:t>2</a:t>
              </a:r>
            </a:p>
          </p:txBody>
        </p:sp>
        <p:sp>
          <p:nvSpPr>
            <p:cNvPr id="47" name="TextBox 46">
              <a:extLst>
                <a:ext uri="{FF2B5EF4-FFF2-40B4-BE49-F238E27FC236}">
                  <a16:creationId xmlns:a16="http://schemas.microsoft.com/office/drawing/2014/main" id="{5364A0C5-4570-64B0-E778-75E9444838F1}"/>
                </a:ext>
              </a:extLst>
            </p:cNvPr>
            <p:cNvSpPr txBox="1"/>
            <p:nvPr/>
          </p:nvSpPr>
          <p:spPr>
            <a:xfrm>
              <a:off x="4686150" y="2710934"/>
              <a:ext cx="301686" cy="369332"/>
            </a:xfrm>
            <a:prstGeom prst="rect">
              <a:avLst/>
            </a:prstGeom>
            <a:noFill/>
          </p:spPr>
          <p:txBody>
            <a:bodyPr wrap="none" rtlCol="0">
              <a:spAutoFit/>
            </a:bodyPr>
            <a:lstStyle/>
            <a:p>
              <a:r>
                <a:rPr lang="en-US" dirty="0">
                  <a:solidFill>
                    <a:srgbClr val="FF33CC"/>
                  </a:solidFill>
                </a:rPr>
                <a:t>3</a:t>
              </a:r>
            </a:p>
          </p:txBody>
        </p:sp>
        <p:sp>
          <p:nvSpPr>
            <p:cNvPr id="48" name="TextBox 47">
              <a:extLst>
                <a:ext uri="{FF2B5EF4-FFF2-40B4-BE49-F238E27FC236}">
                  <a16:creationId xmlns:a16="http://schemas.microsoft.com/office/drawing/2014/main" id="{C7CB4DAA-4AA4-C0B3-0A9B-4806DDE6560A}"/>
                </a:ext>
              </a:extLst>
            </p:cNvPr>
            <p:cNvSpPr txBox="1"/>
            <p:nvPr/>
          </p:nvSpPr>
          <p:spPr>
            <a:xfrm>
              <a:off x="5217138" y="2710934"/>
              <a:ext cx="301686" cy="369332"/>
            </a:xfrm>
            <a:prstGeom prst="rect">
              <a:avLst/>
            </a:prstGeom>
            <a:noFill/>
          </p:spPr>
          <p:txBody>
            <a:bodyPr wrap="none" rtlCol="0">
              <a:spAutoFit/>
            </a:bodyPr>
            <a:lstStyle/>
            <a:p>
              <a:r>
                <a:rPr lang="en-US" dirty="0">
                  <a:solidFill>
                    <a:srgbClr val="FF33CC"/>
                  </a:solidFill>
                </a:rPr>
                <a:t>4</a:t>
              </a:r>
            </a:p>
          </p:txBody>
        </p:sp>
        <p:sp>
          <p:nvSpPr>
            <p:cNvPr id="49" name="TextBox 48">
              <a:extLst>
                <a:ext uri="{FF2B5EF4-FFF2-40B4-BE49-F238E27FC236}">
                  <a16:creationId xmlns:a16="http://schemas.microsoft.com/office/drawing/2014/main" id="{606B10B7-BA0D-D040-7B3F-6CC353DABD24}"/>
                </a:ext>
              </a:extLst>
            </p:cNvPr>
            <p:cNvSpPr txBox="1"/>
            <p:nvPr/>
          </p:nvSpPr>
          <p:spPr>
            <a:xfrm>
              <a:off x="5695168" y="2710934"/>
              <a:ext cx="301686" cy="369332"/>
            </a:xfrm>
            <a:prstGeom prst="rect">
              <a:avLst/>
            </a:prstGeom>
            <a:noFill/>
          </p:spPr>
          <p:txBody>
            <a:bodyPr wrap="none" rtlCol="0">
              <a:spAutoFit/>
            </a:bodyPr>
            <a:lstStyle/>
            <a:p>
              <a:r>
                <a:rPr lang="en-US" dirty="0">
                  <a:solidFill>
                    <a:srgbClr val="FF33CC"/>
                  </a:solidFill>
                </a:rPr>
                <a:t>5</a:t>
              </a:r>
            </a:p>
          </p:txBody>
        </p:sp>
        <p:sp>
          <p:nvSpPr>
            <p:cNvPr id="50" name="TextBox 49">
              <a:extLst>
                <a:ext uri="{FF2B5EF4-FFF2-40B4-BE49-F238E27FC236}">
                  <a16:creationId xmlns:a16="http://schemas.microsoft.com/office/drawing/2014/main" id="{7267D70D-F20F-C59C-F7CB-E792E52FD7C4}"/>
                </a:ext>
              </a:extLst>
            </p:cNvPr>
            <p:cNvSpPr txBox="1"/>
            <p:nvPr/>
          </p:nvSpPr>
          <p:spPr>
            <a:xfrm>
              <a:off x="6286919" y="2710934"/>
              <a:ext cx="301686" cy="369332"/>
            </a:xfrm>
            <a:prstGeom prst="rect">
              <a:avLst/>
            </a:prstGeom>
            <a:noFill/>
          </p:spPr>
          <p:txBody>
            <a:bodyPr wrap="none" rtlCol="0">
              <a:spAutoFit/>
            </a:bodyPr>
            <a:lstStyle/>
            <a:p>
              <a:r>
                <a:rPr lang="en-US" dirty="0">
                  <a:solidFill>
                    <a:srgbClr val="FF33CC"/>
                  </a:solidFill>
                </a:rPr>
                <a:t>6</a:t>
              </a:r>
            </a:p>
          </p:txBody>
        </p:sp>
        <p:sp>
          <p:nvSpPr>
            <p:cNvPr id="51" name="TextBox 50">
              <a:extLst>
                <a:ext uri="{FF2B5EF4-FFF2-40B4-BE49-F238E27FC236}">
                  <a16:creationId xmlns:a16="http://schemas.microsoft.com/office/drawing/2014/main" id="{C000F29E-0F89-5912-7A86-6BFB5900C438}"/>
                </a:ext>
              </a:extLst>
            </p:cNvPr>
            <p:cNvSpPr txBox="1"/>
            <p:nvPr/>
          </p:nvSpPr>
          <p:spPr>
            <a:xfrm>
              <a:off x="6820319" y="2710934"/>
              <a:ext cx="301686" cy="369332"/>
            </a:xfrm>
            <a:prstGeom prst="rect">
              <a:avLst/>
            </a:prstGeom>
            <a:noFill/>
          </p:spPr>
          <p:txBody>
            <a:bodyPr wrap="none" rtlCol="0">
              <a:spAutoFit/>
            </a:bodyPr>
            <a:lstStyle/>
            <a:p>
              <a:r>
                <a:rPr lang="en-US" dirty="0">
                  <a:solidFill>
                    <a:srgbClr val="FF33CC"/>
                  </a:solidFill>
                </a:rPr>
                <a:t>7</a:t>
              </a:r>
            </a:p>
          </p:txBody>
        </p:sp>
        <p:sp>
          <p:nvSpPr>
            <p:cNvPr id="52" name="TextBox 51">
              <a:extLst>
                <a:ext uri="{FF2B5EF4-FFF2-40B4-BE49-F238E27FC236}">
                  <a16:creationId xmlns:a16="http://schemas.microsoft.com/office/drawing/2014/main" id="{C702541C-6483-291A-FD61-120C06F372F2}"/>
                </a:ext>
              </a:extLst>
            </p:cNvPr>
            <p:cNvSpPr txBox="1"/>
            <p:nvPr/>
          </p:nvSpPr>
          <p:spPr>
            <a:xfrm>
              <a:off x="7354288" y="2710934"/>
              <a:ext cx="301686" cy="369332"/>
            </a:xfrm>
            <a:prstGeom prst="rect">
              <a:avLst/>
            </a:prstGeom>
            <a:noFill/>
          </p:spPr>
          <p:txBody>
            <a:bodyPr wrap="none" rtlCol="0">
              <a:spAutoFit/>
            </a:bodyPr>
            <a:lstStyle/>
            <a:p>
              <a:r>
                <a:rPr lang="en-US" dirty="0">
                  <a:solidFill>
                    <a:srgbClr val="FF33CC"/>
                  </a:solidFill>
                </a:rPr>
                <a:t>8</a:t>
              </a:r>
            </a:p>
          </p:txBody>
        </p:sp>
        <p:sp>
          <p:nvSpPr>
            <p:cNvPr id="53" name="TextBox 52">
              <a:extLst>
                <a:ext uri="{FF2B5EF4-FFF2-40B4-BE49-F238E27FC236}">
                  <a16:creationId xmlns:a16="http://schemas.microsoft.com/office/drawing/2014/main" id="{3AA1CDC7-5C71-BDBE-7E23-44FBC0325929}"/>
                </a:ext>
              </a:extLst>
            </p:cNvPr>
            <p:cNvSpPr txBox="1"/>
            <p:nvPr/>
          </p:nvSpPr>
          <p:spPr>
            <a:xfrm>
              <a:off x="7887688" y="2710934"/>
              <a:ext cx="301686" cy="369332"/>
            </a:xfrm>
            <a:prstGeom prst="rect">
              <a:avLst/>
            </a:prstGeom>
            <a:noFill/>
          </p:spPr>
          <p:txBody>
            <a:bodyPr wrap="none" rtlCol="0">
              <a:spAutoFit/>
            </a:bodyPr>
            <a:lstStyle/>
            <a:p>
              <a:r>
                <a:rPr lang="en-US" dirty="0">
                  <a:solidFill>
                    <a:srgbClr val="FF33CC"/>
                  </a:solidFill>
                </a:rPr>
                <a:t>9</a:t>
              </a:r>
            </a:p>
          </p:txBody>
        </p:sp>
      </p:grpSp>
    </p:spTree>
    <p:extLst>
      <p:ext uri="{BB962C8B-B14F-4D97-AF65-F5344CB8AC3E}">
        <p14:creationId xmlns:p14="http://schemas.microsoft.com/office/powerpoint/2010/main" val="210873658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5B0ABD-0BFF-6D08-9E5A-671AB107983A}"/>
              </a:ext>
            </a:extLst>
          </p:cNvPr>
          <p:cNvSpPr>
            <a:spLocks noGrp="1"/>
          </p:cNvSpPr>
          <p:nvPr>
            <p:ph type="title"/>
          </p:nvPr>
        </p:nvSpPr>
        <p:spPr/>
        <p:txBody>
          <a:bodyPr/>
          <a:lstStyle/>
          <a:p>
            <a:r>
              <a:rPr lang="en-US" dirty="0"/>
              <a:t>Insert Pseudocode</a:t>
            </a:r>
          </a:p>
        </p:txBody>
      </p:sp>
      <p:sp>
        <p:nvSpPr>
          <p:cNvPr id="4" name="TextBox 3">
            <a:extLst>
              <a:ext uri="{FF2B5EF4-FFF2-40B4-BE49-F238E27FC236}">
                <a16:creationId xmlns:a16="http://schemas.microsoft.com/office/drawing/2014/main" id="{E98E7CE2-4D86-D71A-4271-B238C78C2B3D}"/>
              </a:ext>
            </a:extLst>
          </p:cNvPr>
          <p:cNvSpPr txBox="1"/>
          <p:nvPr/>
        </p:nvSpPr>
        <p:spPr>
          <a:xfrm>
            <a:off x="82024" y="1332747"/>
            <a:ext cx="4901726" cy="369332"/>
          </a:xfrm>
          <a:prstGeom prst="rect">
            <a:avLst/>
          </a:prstGeom>
          <a:noFill/>
          <a:ln>
            <a:solidFill>
              <a:srgbClr val="FF0000"/>
            </a:solidFill>
          </a:ln>
        </p:spPr>
        <p:txBody>
          <a:bodyPr wrap="none" rtlCol="0">
            <a:spAutoFit/>
          </a:bodyPr>
          <a:lstStyle/>
          <a:p>
            <a:r>
              <a:rPr lang="en-US" dirty="0">
                <a:solidFill>
                  <a:srgbClr val="FF0000"/>
                </a:solidFill>
              </a:rPr>
              <a:t>For simplicity, assume value is the same as priority</a:t>
            </a:r>
          </a:p>
        </p:txBody>
      </p:sp>
      <p:grpSp>
        <p:nvGrpSpPr>
          <p:cNvPr id="32" name="Group 31" descr="A heap containing 9 items, making for a binary tree of 4 levels. The last level has 2 nodes in it. The nodes are as follows:&#10;&#10;- The root node is 1&#10;- the left child of 1 is 3, the right child is 2&#10;- the left child of 3 is 4, the right child is 7&#10;- the left child of 2 is 5, the right child is 6&#10;- the left child of 4 is 5, the right child is 9&#10;- nodes 7, 5, 6, 5, and 9 are all leaves">
            <a:extLst>
              <a:ext uri="{FF2B5EF4-FFF2-40B4-BE49-F238E27FC236}">
                <a16:creationId xmlns:a16="http://schemas.microsoft.com/office/drawing/2014/main" id="{E4330713-3A95-1D86-6170-13940DC22995}"/>
              </a:ext>
            </a:extLst>
          </p:cNvPr>
          <p:cNvGrpSpPr/>
          <p:nvPr/>
        </p:nvGrpSpPr>
        <p:grpSpPr>
          <a:xfrm>
            <a:off x="5196247" y="936224"/>
            <a:ext cx="6934200" cy="3661882"/>
            <a:chOff x="2590801" y="2672070"/>
            <a:chExt cx="6934200" cy="3661882"/>
          </a:xfrm>
        </p:grpSpPr>
        <p:sp>
          <p:nvSpPr>
            <p:cNvPr id="33" name="Oval 32">
              <a:extLst>
                <a:ext uri="{FF2B5EF4-FFF2-40B4-BE49-F238E27FC236}">
                  <a16:creationId xmlns:a16="http://schemas.microsoft.com/office/drawing/2014/main" id="{DC2EEFE6-F294-416D-0067-D00B32173F36}"/>
                </a:ext>
              </a:extLst>
            </p:cNvPr>
            <p:cNvSpPr/>
            <p:nvPr/>
          </p:nvSpPr>
          <p:spPr>
            <a:xfrm>
              <a:off x="5996855" y="2672070"/>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57" name="Oval 56">
              <a:extLst>
                <a:ext uri="{FF2B5EF4-FFF2-40B4-BE49-F238E27FC236}">
                  <a16:creationId xmlns:a16="http://schemas.microsoft.com/office/drawing/2014/main" id="{F38B1AFE-5073-C2FC-2646-80A268D01743}"/>
                </a:ext>
              </a:extLst>
            </p:cNvPr>
            <p:cNvSpPr/>
            <p:nvPr/>
          </p:nvSpPr>
          <p:spPr>
            <a:xfrm>
              <a:off x="4191001" y="3682289"/>
              <a:ext cx="688077" cy="688077"/>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58" name="Oval 57">
              <a:extLst>
                <a:ext uri="{FF2B5EF4-FFF2-40B4-BE49-F238E27FC236}">
                  <a16:creationId xmlns:a16="http://schemas.microsoft.com/office/drawing/2014/main" id="{DFB0B73E-1CAC-25B2-9234-BF3393B9E1B1}"/>
                </a:ext>
              </a:extLst>
            </p:cNvPr>
            <p:cNvSpPr/>
            <p:nvPr/>
          </p:nvSpPr>
          <p:spPr>
            <a:xfrm>
              <a:off x="7858499" y="3653913"/>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59" name="Oval 58">
              <a:extLst>
                <a:ext uri="{FF2B5EF4-FFF2-40B4-BE49-F238E27FC236}">
                  <a16:creationId xmlns:a16="http://schemas.microsoft.com/office/drawing/2014/main" id="{ADAD4AF4-997D-5FD9-EFD6-00F5F89278B2}"/>
                </a:ext>
              </a:extLst>
            </p:cNvPr>
            <p:cNvSpPr/>
            <p:nvPr/>
          </p:nvSpPr>
          <p:spPr>
            <a:xfrm>
              <a:off x="3200401" y="4383504"/>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60" name="Oval 59">
              <a:extLst>
                <a:ext uri="{FF2B5EF4-FFF2-40B4-BE49-F238E27FC236}">
                  <a16:creationId xmlns:a16="http://schemas.microsoft.com/office/drawing/2014/main" id="{92677646-2085-1284-7271-963D25E03E69}"/>
                </a:ext>
              </a:extLst>
            </p:cNvPr>
            <p:cNvSpPr/>
            <p:nvPr/>
          </p:nvSpPr>
          <p:spPr>
            <a:xfrm>
              <a:off x="5211206" y="4425368"/>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61" name="Oval 60">
              <a:extLst>
                <a:ext uri="{FF2B5EF4-FFF2-40B4-BE49-F238E27FC236}">
                  <a16:creationId xmlns:a16="http://schemas.microsoft.com/office/drawing/2014/main" id="{1860F0DA-A140-3621-D659-7AEB50781E64}"/>
                </a:ext>
              </a:extLst>
            </p:cNvPr>
            <p:cNvSpPr/>
            <p:nvPr/>
          </p:nvSpPr>
          <p:spPr>
            <a:xfrm>
              <a:off x="6934201" y="4341990"/>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62" name="Oval 61">
              <a:extLst>
                <a:ext uri="{FF2B5EF4-FFF2-40B4-BE49-F238E27FC236}">
                  <a16:creationId xmlns:a16="http://schemas.microsoft.com/office/drawing/2014/main" id="{B0EFECE9-54B5-299D-0EDD-38B73E848A0B}"/>
                </a:ext>
              </a:extLst>
            </p:cNvPr>
            <p:cNvSpPr/>
            <p:nvPr/>
          </p:nvSpPr>
          <p:spPr>
            <a:xfrm>
              <a:off x="8836924" y="4341990"/>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63" name="Oval 62">
              <a:extLst>
                <a:ext uri="{FF2B5EF4-FFF2-40B4-BE49-F238E27FC236}">
                  <a16:creationId xmlns:a16="http://schemas.microsoft.com/office/drawing/2014/main" id="{E0C727D9-6B6F-2D95-D25A-875761218E8A}"/>
                </a:ext>
              </a:extLst>
            </p:cNvPr>
            <p:cNvSpPr/>
            <p:nvPr/>
          </p:nvSpPr>
          <p:spPr>
            <a:xfrm>
              <a:off x="2590801" y="5352744"/>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64" name="Oval 63">
              <a:extLst>
                <a:ext uri="{FF2B5EF4-FFF2-40B4-BE49-F238E27FC236}">
                  <a16:creationId xmlns:a16="http://schemas.microsoft.com/office/drawing/2014/main" id="{66BC4814-5ABE-8B3C-F5C2-B9E4301D513B}"/>
                </a:ext>
              </a:extLst>
            </p:cNvPr>
            <p:cNvSpPr/>
            <p:nvPr/>
          </p:nvSpPr>
          <p:spPr>
            <a:xfrm>
              <a:off x="3733801" y="5352744"/>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a:t>
              </a:r>
            </a:p>
          </p:txBody>
        </p:sp>
        <p:cxnSp>
          <p:nvCxnSpPr>
            <p:cNvPr id="65" name="Straight Connector 64">
              <a:extLst>
                <a:ext uri="{FF2B5EF4-FFF2-40B4-BE49-F238E27FC236}">
                  <a16:creationId xmlns:a16="http://schemas.microsoft.com/office/drawing/2014/main" id="{7EBF08BD-EE06-F904-A3C8-6FA7AF068E99}"/>
                </a:ext>
              </a:extLst>
            </p:cNvPr>
            <p:cNvCxnSpPr>
              <a:cxnSpLocks/>
              <a:stCxn id="33" idx="3"/>
              <a:endCxn id="57" idx="7"/>
            </p:cNvCxnSpPr>
            <p:nvPr/>
          </p:nvCxnSpPr>
          <p:spPr>
            <a:xfrm flipH="1">
              <a:off x="4778311" y="3259380"/>
              <a:ext cx="1319311" cy="52367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6" name="Straight Connector 65">
              <a:extLst>
                <a:ext uri="{FF2B5EF4-FFF2-40B4-BE49-F238E27FC236}">
                  <a16:creationId xmlns:a16="http://schemas.microsoft.com/office/drawing/2014/main" id="{15547543-919A-59E8-3F41-83DD50CBF03A}"/>
                </a:ext>
              </a:extLst>
            </p:cNvPr>
            <p:cNvCxnSpPr>
              <a:cxnSpLocks/>
              <a:stCxn id="33" idx="5"/>
              <a:endCxn id="58" idx="1"/>
            </p:cNvCxnSpPr>
            <p:nvPr/>
          </p:nvCxnSpPr>
          <p:spPr>
            <a:xfrm>
              <a:off x="6584165" y="3259380"/>
              <a:ext cx="1375101" cy="4953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7" name="Straight Connector 66">
              <a:extLst>
                <a:ext uri="{FF2B5EF4-FFF2-40B4-BE49-F238E27FC236}">
                  <a16:creationId xmlns:a16="http://schemas.microsoft.com/office/drawing/2014/main" id="{C14B7C3E-A618-DD64-4759-983A729EF80C}"/>
                </a:ext>
              </a:extLst>
            </p:cNvPr>
            <p:cNvCxnSpPr>
              <a:stCxn id="60" idx="1"/>
              <a:endCxn id="57" idx="5"/>
            </p:cNvCxnSpPr>
            <p:nvPr/>
          </p:nvCxnSpPr>
          <p:spPr>
            <a:xfrm flipH="1" flipV="1">
              <a:off x="4778310" y="4269598"/>
              <a:ext cx="533662" cy="25653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8" name="Straight Connector 67">
              <a:extLst>
                <a:ext uri="{FF2B5EF4-FFF2-40B4-BE49-F238E27FC236}">
                  <a16:creationId xmlns:a16="http://schemas.microsoft.com/office/drawing/2014/main" id="{4D86F18D-4053-6321-C1D5-4060B29BF939}"/>
                </a:ext>
              </a:extLst>
            </p:cNvPr>
            <p:cNvCxnSpPr>
              <a:stCxn id="59" idx="7"/>
              <a:endCxn id="57" idx="3"/>
            </p:cNvCxnSpPr>
            <p:nvPr/>
          </p:nvCxnSpPr>
          <p:spPr>
            <a:xfrm flipV="1">
              <a:off x="3787711" y="4269598"/>
              <a:ext cx="504057" cy="21467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9" name="Straight Connector 68">
              <a:extLst>
                <a:ext uri="{FF2B5EF4-FFF2-40B4-BE49-F238E27FC236}">
                  <a16:creationId xmlns:a16="http://schemas.microsoft.com/office/drawing/2014/main" id="{249597CE-29ED-ADA5-6E33-1CE9A42EBA12}"/>
                </a:ext>
              </a:extLst>
            </p:cNvPr>
            <p:cNvCxnSpPr>
              <a:stCxn id="64" idx="0"/>
              <a:endCxn id="59" idx="5"/>
            </p:cNvCxnSpPr>
            <p:nvPr/>
          </p:nvCxnSpPr>
          <p:spPr>
            <a:xfrm flipH="1" flipV="1">
              <a:off x="3787711" y="4970813"/>
              <a:ext cx="290129" cy="38193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0" name="Straight Connector 69">
              <a:extLst>
                <a:ext uri="{FF2B5EF4-FFF2-40B4-BE49-F238E27FC236}">
                  <a16:creationId xmlns:a16="http://schemas.microsoft.com/office/drawing/2014/main" id="{BDD7A7E1-4335-A2B1-4792-F1A912FA94C1}"/>
                </a:ext>
              </a:extLst>
            </p:cNvPr>
            <p:cNvCxnSpPr>
              <a:stCxn id="63" idx="0"/>
              <a:endCxn id="59" idx="3"/>
            </p:cNvCxnSpPr>
            <p:nvPr/>
          </p:nvCxnSpPr>
          <p:spPr>
            <a:xfrm flipV="1">
              <a:off x="2934839" y="4970813"/>
              <a:ext cx="366328" cy="38193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1" name="Straight Connector 70">
              <a:extLst>
                <a:ext uri="{FF2B5EF4-FFF2-40B4-BE49-F238E27FC236}">
                  <a16:creationId xmlns:a16="http://schemas.microsoft.com/office/drawing/2014/main" id="{7995FA3D-D4D2-E379-0F1D-47DB842168FB}"/>
                </a:ext>
              </a:extLst>
            </p:cNvPr>
            <p:cNvCxnSpPr>
              <a:stCxn id="61" idx="7"/>
              <a:endCxn id="58" idx="3"/>
            </p:cNvCxnSpPr>
            <p:nvPr/>
          </p:nvCxnSpPr>
          <p:spPr>
            <a:xfrm flipV="1">
              <a:off x="7521511" y="4241222"/>
              <a:ext cx="437755" cy="20153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2" name="Straight Connector 71">
              <a:extLst>
                <a:ext uri="{FF2B5EF4-FFF2-40B4-BE49-F238E27FC236}">
                  <a16:creationId xmlns:a16="http://schemas.microsoft.com/office/drawing/2014/main" id="{00738DC4-B02F-B7B5-A519-FB6BDEA3CF0F}"/>
                </a:ext>
              </a:extLst>
            </p:cNvPr>
            <p:cNvCxnSpPr>
              <a:stCxn id="62" idx="1"/>
              <a:endCxn id="58" idx="5"/>
            </p:cNvCxnSpPr>
            <p:nvPr/>
          </p:nvCxnSpPr>
          <p:spPr>
            <a:xfrm flipH="1" flipV="1">
              <a:off x="8445808" y="4241222"/>
              <a:ext cx="491882" cy="20153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73" name="TextBox 72">
              <a:extLst>
                <a:ext uri="{FF2B5EF4-FFF2-40B4-BE49-F238E27FC236}">
                  <a16:creationId xmlns:a16="http://schemas.microsoft.com/office/drawing/2014/main" id="{7DE02A64-F6E8-355D-170A-462053A2390E}"/>
                </a:ext>
              </a:extLst>
            </p:cNvPr>
            <p:cNvSpPr txBox="1"/>
            <p:nvPr/>
          </p:nvSpPr>
          <p:spPr>
            <a:xfrm>
              <a:off x="6190049" y="3371296"/>
              <a:ext cx="301686" cy="369332"/>
            </a:xfrm>
            <a:prstGeom prst="rect">
              <a:avLst/>
            </a:prstGeom>
            <a:noFill/>
          </p:spPr>
          <p:txBody>
            <a:bodyPr wrap="none" rtlCol="0">
              <a:spAutoFit/>
            </a:bodyPr>
            <a:lstStyle/>
            <a:p>
              <a:r>
                <a:rPr lang="en-US" dirty="0">
                  <a:solidFill>
                    <a:srgbClr val="FF33CC"/>
                  </a:solidFill>
                </a:rPr>
                <a:t>1</a:t>
              </a:r>
            </a:p>
          </p:txBody>
        </p:sp>
        <p:sp>
          <p:nvSpPr>
            <p:cNvPr id="74" name="TextBox 73">
              <a:extLst>
                <a:ext uri="{FF2B5EF4-FFF2-40B4-BE49-F238E27FC236}">
                  <a16:creationId xmlns:a16="http://schemas.microsoft.com/office/drawing/2014/main" id="{86B7B628-FE10-A087-6C34-93272F3EBA8E}"/>
                </a:ext>
              </a:extLst>
            </p:cNvPr>
            <p:cNvSpPr txBox="1"/>
            <p:nvPr/>
          </p:nvSpPr>
          <p:spPr>
            <a:xfrm>
              <a:off x="4384195" y="4377091"/>
              <a:ext cx="301686" cy="369332"/>
            </a:xfrm>
            <a:prstGeom prst="rect">
              <a:avLst/>
            </a:prstGeom>
            <a:noFill/>
          </p:spPr>
          <p:txBody>
            <a:bodyPr wrap="none" rtlCol="0">
              <a:spAutoFit/>
            </a:bodyPr>
            <a:lstStyle/>
            <a:p>
              <a:r>
                <a:rPr lang="en-US" dirty="0">
                  <a:solidFill>
                    <a:srgbClr val="FF33CC"/>
                  </a:solidFill>
                </a:rPr>
                <a:t>2</a:t>
              </a:r>
            </a:p>
          </p:txBody>
        </p:sp>
        <p:sp>
          <p:nvSpPr>
            <p:cNvPr id="75" name="TextBox 74">
              <a:extLst>
                <a:ext uri="{FF2B5EF4-FFF2-40B4-BE49-F238E27FC236}">
                  <a16:creationId xmlns:a16="http://schemas.microsoft.com/office/drawing/2014/main" id="{E7BCC75B-26BA-5A20-3C3D-E068B27A8A29}"/>
                </a:ext>
              </a:extLst>
            </p:cNvPr>
            <p:cNvSpPr txBox="1"/>
            <p:nvPr/>
          </p:nvSpPr>
          <p:spPr>
            <a:xfrm>
              <a:off x="8051693" y="4316695"/>
              <a:ext cx="301686" cy="369332"/>
            </a:xfrm>
            <a:prstGeom prst="rect">
              <a:avLst/>
            </a:prstGeom>
            <a:noFill/>
          </p:spPr>
          <p:txBody>
            <a:bodyPr wrap="none" rtlCol="0">
              <a:spAutoFit/>
            </a:bodyPr>
            <a:lstStyle/>
            <a:p>
              <a:r>
                <a:rPr lang="en-US" dirty="0">
                  <a:solidFill>
                    <a:srgbClr val="FF33CC"/>
                  </a:solidFill>
                </a:rPr>
                <a:t>3</a:t>
              </a:r>
            </a:p>
          </p:txBody>
        </p:sp>
        <p:sp>
          <p:nvSpPr>
            <p:cNvPr id="76" name="TextBox 75">
              <a:extLst>
                <a:ext uri="{FF2B5EF4-FFF2-40B4-BE49-F238E27FC236}">
                  <a16:creationId xmlns:a16="http://schemas.microsoft.com/office/drawing/2014/main" id="{81C7F060-7406-284B-16BD-5BD17B4093AF}"/>
                </a:ext>
              </a:extLst>
            </p:cNvPr>
            <p:cNvSpPr txBox="1"/>
            <p:nvPr/>
          </p:nvSpPr>
          <p:spPr>
            <a:xfrm>
              <a:off x="3352081" y="5071580"/>
              <a:ext cx="301686" cy="369332"/>
            </a:xfrm>
            <a:prstGeom prst="rect">
              <a:avLst/>
            </a:prstGeom>
            <a:noFill/>
          </p:spPr>
          <p:txBody>
            <a:bodyPr wrap="none" rtlCol="0">
              <a:spAutoFit/>
            </a:bodyPr>
            <a:lstStyle/>
            <a:p>
              <a:r>
                <a:rPr lang="en-US" dirty="0">
                  <a:solidFill>
                    <a:srgbClr val="FF33CC"/>
                  </a:solidFill>
                </a:rPr>
                <a:t>4</a:t>
              </a:r>
            </a:p>
          </p:txBody>
        </p:sp>
        <p:sp>
          <p:nvSpPr>
            <p:cNvPr id="77" name="TextBox 76">
              <a:extLst>
                <a:ext uri="{FF2B5EF4-FFF2-40B4-BE49-F238E27FC236}">
                  <a16:creationId xmlns:a16="http://schemas.microsoft.com/office/drawing/2014/main" id="{9BB497D9-2B27-7717-C54E-CE29B2986EA6}"/>
                </a:ext>
              </a:extLst>
            </p:cNvPr>
            <p:cNvSpPr txBox="1"/>
            <p:nvPr/>
          </p:nvSpPr>
          <p:spPr>
            <a:xfrm>
              <a:off x="7122005" y="5012677"/>
              <a:ext cx="301686" cy="369332"/>
            </a:xfrm>
            <a:prstGeom prst="rect">
              <a:avLst/>
            </a:prstGeom>
            <a:noFill/>
          </p:spPr>
          <p:txBody>
            <a:bodyPr wrap="none" rtlCol="0">
              <a:spAutoFit/>
            </a:bodyPr>
            <a:lstStyle/>
            <a:p>
              <a:r>
                <a:rPr lang="en-US" dirty="0">
                  <a:solidFill>
                    <a:srgbClr val="FF33CC"/>
                  </a:solidFill>
                </a:rPr>
                <a:t>6</a:t>
              </a:r>
            </a:p>
          </p:txBody>
        </p:sp>
        <p:sp>
          <p:nvSpPr>
            <p:cNvPr id="78" name="TextBox 77">
              <a:extLst>
                <a:ext uri="{FF2B5EF4-FFF2-40B4-BE49-F238E27FC236}">
                  <a16:creationId xmlns:a16="http://schemas.microsoft.com/office/drawing/2014/main" id="{294BB09F-149B-80AD-F501-31CED69585D8}"/>
                </a:ext>
              </a:extLst>
            </p:cNvPr>
            <p:cNvSpPr txBox="1"/>
            <p:nvPr/>
          </p:nvSpPr>
          <p:spPr>
            <a:xfrm>
              <a:off x="5404400" y="5108902"/>
              <a:ext cx="301686" cy="369332"/>
            </a:xfrm>
            <a:prstGeom prst="rect">
              <a:avLst/>
            </a:prstGeom>
            <a:noFill/>
          </p:spPr>
          <p:txBody>
            <a:bodyPr wrap="none" rtlCol="0">
              <a:spAutoFit/>
            </a:bodyPr>
            <a:lstStyle/>
            <a:p>
              <a:r>
                <a:rPr lang="en-US" dirty="0">
                  <a:solidFill>
                    <a:srgbClr val="FF33CC"/>
                  </a:solidFill>
                </a:rPr>
                <a:t>5</a:t>
              </a:r>
            </a:p>
          </p:txBody>
        </p:sp>
        <p:sp>
          <p:nvSpPr>
            <p:cNvPr id="79" name="TextBox 78">
              <a:extLst>
                <a:ext uri="{FF2B5EF4-FFF2-40B4-BE49-F238E27FC236}">
                  <a16:creationId xmlns:a16="http://schemas.microsoft.com/office/drawing/2014/main" id="{9EC2D6FC-2BB5-D72C-FB84-C583F5A4966A}"/>
                </a:ext>
              </a:extLst>
            </p:cNvPr>
            <p:cNvSpPr txBox="1"/>
            <p:nvPr/>
          </p:nvSpPr>
          <p:spPr>
            <a:xfrm>
              <a:off x="9030118" y="5030066"/>
              <a:ext cx="301686" cy="369332"/>
            </a:xfrm>
            <a:prstGeom prst="rect">
              <a:avLst/>
            </a:prstGeom>
            <a:noFill/>
          </p:spPr>
          <p:txBody>
            <a:bodyPr wrap="none" rtlCol="0">
              <a:spAutoFit/>
            </a:bodyPr>
            <a:lstStyle/>
            <a:p>
              <a:r>
                <a:rPr lang="en-US" dirty="0">
                  <a:solidFill>
                    <a:srgbClr val="FF33CC"/>
                  </a:solidFill>
                </a:rPr>
                <a:t>7</a:t>
              </a:r>
            </a:p>
          </p:txBody>
        </p:sp>
        <p:sp>
          <p:nvSpPr>
            <p:cNvPr id="80" name="TextBox 79">
              <a:extLst>
                <a:ext uri="{FF2B5EF4-FFF2-40B4-BE49-F238E27FC236}">
                  <a16:creationId xmlns:a16="http://schemas.microsoft.com/office/drawing/2014/main" id="{C1C49D93-261C-D13E-CE8B-FC45D81FA465}"/>
                </a:ext>
              </a:extLst>
            </p:cNvPr>
            <p:cNvSpPr txBox="1"/>
            <p:nvPr/>
          </p:nvSpPr>
          <p:spPr>
            <a:xfrm>
              <a:off x="2783996" y="5964620"/>
              <a:ext cx="301686" cy="369332"/>
            </a:xfrm>
            <a:prstGeom prst="rect">
              <a:avLst/>
            </a:prstGeom>
            <a:noFill/>
          </p:spPr>
          <p:txBody>
            <a:bodyPr wrap="none" rtlCol="0">
              <a:spAutoFit/>
            </a:bodyPr>
            <a:lstStyle/>
            <a:p>
              <a:r>
                <a:rPr lang="en-US" dirty="0">
                  <a:solidFill>
                    <a:srgbClr val="FF33CC"/>
                  </a:solidFill>
                </a:rPr>
                <a:t>8</a:t>
              </a:r>
            </a:p>
          </p:txBody>
        </p:sp>
        <p:sp>
          <p:nvSpPr>
            <p:cNvPr id="81" name="TextBox 80">
              <a:extLst>
                <a:ext uri="{FF2B5EF4-FFF2-40B4-BE49-F238E27FC236}">
                  <a16:creationId xmlns:a16="http://schemas.microsoft.com/office/drawing/2014/main" id="{E009879C-7FFC-D915-7AB8-B6A2E3003431}"/>
                </a:ext>
              </a:extLst>
            </p:cNvPr>
            <p:cNvSpPr txBox="1"/>
            <p:nvPr/>
          </p:nvSpPr>
          <p:spPr>
            <a:xfrm>
              <a:off x="3920467" y="5964620"/>
              <a:ext cx="301686" cy="369332"/>
            </a:xfrm>
            <a:prstGeom prst="rect">
              <a:avLst/>
            </a:prstGeom>
            <a:noFill/>
          </p:spPr>
          <p:txBody>
            <a:bodyPr wrap="none" rtlCol="0">
              <a:spAutoFit/>
            </a:bodyPr>
            <a:lstStyle/>
            <a:p>
              <a:r>
                <a:rPr lang="en-US" dirty="0">
                  <a:solidFill>
                    <a:srgbClr val="FF33CC"/>
                  </a:solidFill>
                </a:rPr>
                <a:t>9</a:t>
              </a:r>
            </a:p>
          </p:txBody>
        </p:sp>
      </p:grpSp>
      <p:grpSp>
        <p:nvGrpSpPr>
          <p:cNvPr id="82" name="Group 81" descr="An the given heap represented as an array. The items in the heap appear in the array beginning with index 1, and so the array has length 10 and contains 9 items. The order of the items follows a level-order traversal of the heap (which matches the order that the nodes' positions would have been created while adding).&#10;&#10;The array is populated as follows:&#10;index 0: empty&#10;index 1: 1&#10;index 2: 3&#10;index 3: 2&#10;index 4: 4&#10;index 5: 7&#10;index 6: 5&#10;index 7: 6&#10;index 8: 5&#10;index 9: 9">
            <a:extLst>
              <a:ext uri="{FF2B5EF4-FFF2-40B4-BE49-F238E27FC236}">
                <a16:creationId xmlns:a16="http://schemas.microsoft.com/office/drawing/2014/main" id="{C9F53F1E-2476-0556-0230-BDB8B87683B9}"/>
              </a:ext>
            </a:extLst>
          </p:cNvPr>
          <p:cNvGrpSpPr/>
          <p:nvPr/>
        </p:nvGrpSpPr>
        <p:grpSpPr>
          <a:xfrm>
            <a:off x="5805847" y="5234806"/>
            <a:ext cx="5335707" cy="942725"/>
            <a:chOff x="2969525" y="2137541"/>
            <a:chExt cx="5335707" cy="942725"/>
          </a:xfrm>
        </p:grpSpPr>
        <p:grpSp>
          <p:nvGrpSpPr>
            <p:cNvPr id="83" name="Group 82">
              <a:extLst>
                <a:ext uri="{FF2B5EF4-FFF2-40B4-BE49-F238E27FC236}">
                  <a16:creationId xmlns:a16="http://schemas.microsoft.com/office/drawing/2014/main" id="{E0D625BA-D56A-6048-DE7F-F9198B2BB70E}"/>
                </a:ext>
              </a:extLst>
            </p:cNvPr>
            <p:cNvGrpSpPr/>
            <p:nvPr/>
          </p:nvGrpSpPr>
          <p:grpSpPr>
            <a:xfrm>
              <a:off x="2969525" y="2137541"/>
              <a:ext cx="5335707" cy="533400"/>
              <a:chOff x="1445524" y="2971800"/>
              <a:chExt cx="5335707" cy="533400"/>
            </a:xfrm>
          </p:grpSpPr>
          <p:sp>
            <p:nvSpPr>
              <p:cNvPr id="94" name="Rectangle 93">
                <a:extLst>
                  <a:ext uri="{FF2B5EF4-FFF2-40B4-BE49-F238E27FC236}">
                    <a16:creationId xmlns:a16="http://schemas.microsoft.com/office/drawing/2014/main" id="{787CC559-1505-C7B6-E822-2447A0E2D1FC}"/>
                  </a:ext>
                </a:extLst>
              </p:cNvPr>
              <p:cNvSpPr/>
              <p:nvPr/>
            </p:nvSpPr>
            <p:spPr>
              <a:xfrm>
                <a:off x="1445524" y="2971800"/>
                <a:ext cx="533400" cy="5334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95" name="Rectangle 94">
                <a:extLst>
                  <a:ext uri="{FF2B5EF4-FFF2-40B4-BE49-F238E27FC236}">
                    <a16:creationId xmlns:a16="http://schemas.microsoft.com/office/drawing/2014/main" id="{02C3D2DD-D9D0-BE71-EC17-8CA71AEB89A4}"/>
                  </a:ext>
                </a:extLst>
              </p:cNvPr>
              <p:cNvSpPr/>
              <p:nvPr/>
            </p:nvSpPr>
            <p:spPr>
              <a:xfrm>
                <a:off x="1978924" y="2971800"/>
                <a:ext cx="533400" cy="5334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96" name="Rectangle 95">
                <a:extLst>
                  <a:ext uri="{FF2B5EF4-FFF2-40B4-BE49-F238E27FC236}">
                    <a16:creationId xmlns:a16="http://schemas.microsoft.com/office/drawing/2014/main" id="{47889846-AA5C-E69B-6F4D-639D01856CC5}"/>
                  </a:ext>
                </a:extLst>
              </p:cNvPr>
              <p:cNvSpPr/>
              <p:nvPr/>
            </p:nvSpPr>
            <p:spPr>
              <a:xfrm>
                <a:off x="2512893" y="29718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97" name="Rectangle 96">
                <a:extLst>
                  <a:ext uri="{FF2B5EF4-FFF2-40B4-BE49-F238E27FC236}">
                    <a16:creationId xmlns:a16="http://schemas.microsoft.com/office/drawing/2014/main" id="{0E5A5B2C-D158-ABE1-303F-FB262F935087}"/>
                  </a:ext>
                </a:extLst>
              </p:cNvPr>
              <p:cNvSpPr/>
              <p:nvPr/>
            </p:nvSpPr>
            <p:spPr>
              <a:xfrm>
                <a:off x="3046293" y="29718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98" name="Rectangle 97">
                <a:extLst>
                  <a:ext uri="{FF2B5EF4-FFF2-40B4-BE49-F238E27FC236}">
                    <a16:creationId xmlns:a16="http://schemas.microsoft.com/office/drawing/2014/main" id="{05EDF0F2-D631-6EAE-5265-BB717670BE2D}"/>
                  </a:ext>
                </a:extLst>
              </p:cNvPr>
              <p:cNvSpPr/>
              <p:nvPr/>
            </p:nvSpPr>
            <p:spPr>
              <a:xfrm>
                <a:off x="3579693" y="29718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99" name="Rectangle 98">
                <a:extLst>
                  <a:ext uri="{FF2B5EF4-FFF2-40B4-BE49-F238E27FC236}">
                    <a16:creationId xmlns:a16="http://schemas.microsoft.com/office/drawing/2014/main" id="{3C3C1695-5831-7CE5-2F73-F58FDA6C806E}"/>
                  </a:ext>
                </a:extLst>
              </p:cNvPr>
              <p:cNvSpPr/>
              <p:nvPr/>
            </p:nvSpPr>
            <p:spPr>
              <a:xfrm>
                <a:off x="4113662" y="29718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100" name="Rectangle 99">
                <a:extLst>
                  <a:ext uri="{FF2B5EF4-FFF2-40B4-BE49-F238E27FC236}">
                    <a16:creationId xmlns:a16="http://schemas.microsoft.com/office/drawing/2014/main" id="{D42CFC4F-C2D3-8C44-AC95-D855C645A9E1}"/>
                  </a:ext>
                </a:extLst>
              </p:cNvPr>
              <p:cNvSpPr/>
              <p:nvPr/>
            </p:nvSpPr>
            <p:spPr>
              <a:xfrm>
                <a:off x="4647062" y="29718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101" name="Rectangle 100">
                <a:extLst>
                  <a:ext uri="{FF2B5EF4-FFF2-40B4-BE49-F238E27FC236}">
                    <a16:creationId xmlns:a16="http://schemas.microsoft.com/office/drawing/2014/main" id="{600D4F9E-7A83-4EE1-C7FE-470D9ED0D187}"/>
                  </a:ext>
                </a:extLst>
              </p:cNvPr>
              <p:cNvSpPr/>
              <p:nvPr/>
            </p:nvSpPr>
            <p:spPr>
              <a:xfrm>
                <a:off x="5180462" y="29718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102" name="Rectangle 101">
                <a:extLst>
                  <a:ext uri="{FF2B5EF4-FFF2-40B4-BE49-F238E27FC236}">
                    <a16:creationId xmlns:a16="http://schemas.microsoft.com/office/drawing/2014/main" id="{0180F7A1-B865-8BF4-AF4B-6443FD508E81}"/>
                  </a:ext>
                </a:extLst>
              </p:cNvPr>
              <p:cNvSpPr/>
              <p:nvPr/>
            </p:nvSpPr>
            <p:spPr>
              <a:xfrm>
                <a:off x="5714431" y="29718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103" name="Rectangle 102">
                <a:extLst>
                  <a:ext uri="{FF2B5EF4-FFF2-40B4-BE49-F238E27FC236}">
                    <a16:creationId xmlns:a16="http://schemas.microsoft.com/office/drawing/2014/main" id="{1EED77B9-117F-08A0-2B80-2E63BECA68DA}"/>
                  </a:ext>
                </a:extLst>
              </p:cNvPr>
              <p:cNvSpPr/>
              <p:nvPr/>
            </p:nvSpPr>
            <p:spPr>
              <a:xfrm>
                <a:off x="6247831" y="29718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a:t>
                </a:r>
              </a:p>
            </p:txBody>
          </p:sp>
        </p:grpSp>
        <p:sp>
          <p:nvSpPr>
            <p:cNvPr id="84" name="TextBox 83">
              <a:extLst>
                <a:ext uri="{FF2B5EF4-FFF2-40B4-BE49-F238E27FC236}">
                  <a16:creationId xmlns:a16="http://schemas.microsoft.com/office/drawing/2014/main" id="{F53075DD-B113-81B2-EE5F-19C81A52D183}"/>
                </a:ext>
              </a:extLst>
            </p:cNvPr>
            <p:cNvSpPr txBox="1"/>
            <p:nvPr/>
          </p:nvSpPr>
          <p:spPr>
            <a:xfrm>
              <a:off x="3085381" y="2710934"/>
              <a:ext cx="301686" cy="369332"/>
            </a:xfrm>
            <a:prstGeom prst="rect">
              <a:avLst/>
            </a:prstGeom>
            <a:noFill/>
          </p:spPr>
          <p:txBody>
            <a:bodyPr wrap="none" rtlCol="0">
              <a:spAutoFit/>
            </a:bodyPr>
            <a:lstStyle/>
            <a:p>
              <a:r>
                <a:rPr lang="en-US" dirty="0">
                  <a:solidFill>
                    <a:srgbClr val="FF33CC"/>
                  </a:solidFill>
                </a:rPr>
                <a:t>0</a:t>
              </a:r>
            </a:p>
          </p:txBody>
        </p:sp>
        <p:sp>
          <p:nvSpPr>
            <p:cNvPr id="85" name="TextBox 84">
              <a:extLst>
                <a:ext uri="{FF2B5EF4-FFF2-40B4-BE49-F238E27FC236}">
                  <a16:creationId xmlns:a16="http://schemas.microsoft.com/office/drawing/2014/main" id="{38E942C2-4D46-5EC9-6128-526722A86ECC}"/>
                </a:ext>
              </a:extLst>
            </p:cNvPr>
            <p:cNvSpPr txBox="1"/>
            <p:nvPr/>
          </p:nvSpPr>
          <p:spPr>
            <a:xfrm>
              <a:off x="3618781" y="2710934"/>
              <a:ext cx="301686" cy="369332"/>
            </a:xfrm>
            <a:prstGeom prst="rect">
              <a:avLst/>
            </a:prstGeom>
            <a:noFill/>
          </p:spPr>
          <p:txBody>
            <a:bodyPr wrap="none" rtlCol="0">
              <a:spAutoFit/>
            </a:bodyPr>
            <a:lstStyle/>
            <a:p>
              <a:r>
                <a:rPr lang="en-US" dirty="0">
                  <a:solidFill>
                    <a:srgbClr val="FF33CC"/>
                  </a:solidFill>
                </a:rPr>
                <a:t>1</a:t>
              </a:r>
            </a:p>
          </p:txBody>
        </p:sp>
        <p:sp>
          <p:nvSpPr>
            <p:cNvPr id="86" name="TextBox 85">
              <a:extLst>
                <a:ext uri="{FF2B5EF4-FFF2-40B4-BE49-F238E27FC236}">
                  <a16:creationId xmlns:a16="http://schemas.microsoft.com/office/drawing/2014/main" id="{CA8ADE9F-3DA7-880A-729E-BB96A52BAF1E}"/>
                </a:ext>
              </a:extLst>
            </p:cNvPr>
            <p:cNvSpPr txBox="1"/>
            <p:nvPr/>
          </p:nvSpPr>
          <p:spPr>
            <a:xfrm>
              <a:off x="4152750" y="2710934"/>
              <a:ext cx="301686" cy="369332"/>
            </a:xfrm>
            <a:prstGeom prst="rect">
              <a:avLst/>
            </a:prstGeom>
            <a:noFill/>
          </p:spPr>
          <p:txBody>
            <a:bodyPr wrap="none" rtlCol="0">
              <a:spAutoFit/>
            </a:bodyPr>
            <a:lstStyle/>
            <a:p>
              <a:r>
                <a:rPr lang="en-US" dirty="0">
                  <a:solidFill>
                    <a:srgbClr val="FF33CC"/>
                  </a:solidFill>
                </a:rPr>
                <a:t>2</a:t>
              </a:r>
            </a:p>
          </p:txBody>
        </p:sp>
        <p:sp>
          <p:nvSpPr>
            <p:cNvPr id="87" name="TextBox 86">
              <a:extLst>
                <a:ext uri="{FF2B5EF4-FFF2-40B4-BE49-F238E27FC236}">
                  <a16:creationId xmlns:a16="http://schemas.microsoft.com/office/drawing/2014/main" id="{FF2AEC04-BDE6-F9F1-582F-4D23A0BAD9BD}"/>
                </a:ext>
              </a:extLst>
            </p:cNvPr>
            <p:cNvSpPr txBox="1"/>
            <p:nvPr/>
          </p:nvSpPr>
          <p:spPr>
            <a:xfrm>
              <a:off x="4686150" y="2710934"/>
              <a:ext cx="301686" cy="369332"/>
            </a:xfrm>
            <a:prstGeom prst="rect">
              <a:avLst/>
            </a:prstGeom>
            <a:noFill/>
          </p:spPr>
          <p:txBody>
            <a:bodyPr wrap="none" rtlCol="0">
              <a:spAutoFit/>
            </a:bodyPr>
            <a:lstStyle/>
            <a:p>
              <a:r>
                <a:rPr lang="en-US" dirty="0">
                  <a:solidFill>
                    <a:srgbClr val="FF33CC"/>
                  </a:solidFill>
                </a:rPr>
                <a:t>3</a:t>
              </a:r>
            </a:p>
          </p:txBody>
        </p:sp>
        <p:sp>
          <p:nvSpPr>
            <p:cNvPr id="88" name="TextBox 87">
              <a:extLst>
                <a:ext uri="{FF2B5EF4-FFF2-40B4-BE49-F238E27FC236}">
                  <a16:creationId xmlns:a16="http://schemas.microsoft.com/office/drawing/2014/main" id="{B3AB8C65-3780-75F3-DE8D-FC236CDF0AB8}"/>
                </a:ext>
              </a:extLst>
            </p:cNvPr>
            <p:cNvSpPr txBox="1"/>
            <p:nvPr/>
          </p:nvSpPr>
          <p:spPr>
            <a:xfrm>
              <a:off x="5217138" y="2710934"/>
              <a:ext cx="301686" cy="369332"/>
            </a:xfrm>
            <a:prstGeom prst="rect">
              <a:avLst/>
            </a:prstGeom>
            <a:noFill/>
          </p:spPr>
          <p:txBody>
            <a:bodyPr wrap="none" rtlCol="0">
              <a:spAutoFit/>
            </a:bodyPr>
            <a:lstStyle/>
            <a:p>
              <a:r>
                <a:rPr lang="en-US" dirty="0">
                  <a:solidFill>
                    <a:srgbClr val="FF33CC"/>
                  </a:solidFill>
                </a:rPr>
                <a:t>4</a:t>
              </a:r>
            </a:p>
          </p:txBody>
        </p:sp>
        <p:sp>
          <p:nvSpPr>
            <p:cNvPr id="89" name="TextBox 88">
              <a:extLst>
                <a:ext uri="{FF2B5EF4-FFF2-40B4-BE49-F238E27FC236}">
                  <a16:creationId xmlns:a16="http://schemas.microsoft.com/office/drawing/2014/main" id="{EB29DE64-F367-CF74-042C-10420D79F148}"/>
                </a:ext>
              </a:extLst>
            </p:cNvPr>
            <p:cNvSpPr txBox="1"/>
            <p:nvPr/>
          </p:nvSpPr>
          <p:spPr>
            <a:xfrm>
              <a:off x="5695168" y="2710934"/>
              <a:ext cx="301686" cy="369332"/>
            </a:xfrm>
            <a:prstGeom prst="rect">
              <a:avLst/>
            </a:prstGeom>
            <a:noFill/>
          </p:spPr>
          <p:txBody>
            <a:bodyPr wrap="none" rtlCol="0">
              <a:spAutoFit/>
            </a:bodyPr>
            <a:lstStyle/>
            <a:p>
              <a:r>
                <a:rPr lang="en-US" dirty="0">
                  <a:solidFill>
                    <a:srgbClr val="FF33CC"/>
                  </a:solidFill>
                </a:rPr>
                <a:t>5</a:t>
              </a:r>
            </a:p>
          </p:txBody>
        </p:sp>
        <p:sp>
          <p:nvSpPr>
            <p:cNvPr id="90" name="TextBox 89">
              <a:extLst>
                <a:ext uri="{FF2B5EF4-FFF2-40B4-BE49-F238E27FC236}">
                  <a16:creationId xmlns:a16="http://schemas.microsoft.com/office/drawing/2014/main" id="{44DB7B8A-7CEA-1DE4-A8B9-68B2EF3CAE2A}"/>
                </a:ext>
              </a:extLst>
            </p:cNvPr>
            <p:cNvSpPr txBox="1"/>
            <p:nvPr/>
          </p:nvSpPr>
          <p:spPr>
            <a:xfrm>
              <a:off x="6286919" y="2710934"/>
              <a:ext cx="301686" cy="369332"/>
            </a:xfrm>
            <a:prstGeom prst="rect">
              <a:avLst/>
            </a:prstGeom>
            <a:noFill/>
          </p:spPr>
          <p:txBody>
            <a:bodyPr wrap="none" rtlCol="0">
              <a:spAutoFit/>
            </a:bodyPr>
            <a:lstStyle/>
            <a:p>
              <a:r>
                <a:rPr lang="en-US" dirty="0">
                  <a:solidFill>
                    <a:srgbClr val="FF33CC"/>
                  </a:solidFill>
                </a:rPr>
                <a:t>6</a:t>
              </a:r>
            </a:p>
          </p:txBody>
        </p:sp>
        <p:sp>
          <p:nvSpPr>
            <p:cNvPr id="91" name="TextBox 90">
              <a:extLst>
                <a:ext uri="{FF2B5EF4-FFF2-40B4-BE49-F238E27FC236}">
                  <a16:creationId xmlns:a16="http://schemas.microsoft.com/office/drawing/2014/main" id="{7AB5C4EC-FBC5-B6A4-32A6-0F3A67313E99}"/>
                </a:ext>
              </a:extLst>
            </p:cNvPr>
            <p:cNvSpPr txBox="1"/>
            <p:nvPr/>
          </p:nvSpPr>
          <p:spPr>
            <a:xfrm>
              <a:off x="6820319" y="2710934"/>
              <a:ext cx="301686" cy="369332"/>
            </a:xfrm>
            <a:prstGeom prst="rect">
              <a:avLst/>
            </a:prstGeom>
            <a:noFill/>
          </p:spPr>
          <p:txBody>
            <a:bodyPr wrap="none" rtlCol="0">
              <a:spAutoFit/>
            </a:bodyPr>
            <a:lstStyle/>
            <a:p>
              <a:r>
                <a:rPr lang="en-US" dirty="0">
                  <a:solidFill>
                    <a:srgbClr val="FF33CC"/>
                  </a:solidFill>
                </a:rPr>
                <a:t>7</a:t>
              </a:r>
            </a:p>
          </p:txBody>
        </p:sp>
        <p:sp>
          <p:nvSpPr>
            <p:cNvPr id="92" name="TextBox 91">
              <a:extLst>
                <a:ext uri="{FF2B5EF4-FFF2-40B4-BE49-F238E27FC236}">
                  <a16:creationId xmlns:a16="http://schemas.microsoft.com/office/drawing/2014/main" id="{38A48468-902E-83B9-029D-4A18623BC507}"/>
                </a:ext>
              </a:extLst>
            </p:cNvPr>
            <p:cNvSpPr txBox="1"/>
            <p:nvPr/>
          </p:nvSpPr>
          <p:spPr>
            <a:xfrm>
              <a:off x="7354288" y="2710934"/>
              <a:ext cx="301686" cy="369332"/>
            </a:xfrm>
            <a:prstGeom prst="rect">
              <a:avLst/>
            </a:prstGeom>
            <a:noFill/>
          </p:spPr>
          <p:txBody>
            <a:bodyPr wrap="none" rtlCol="0">
              <a:spAutoFit/>
            </a:bodyPr>
            <a:lstStyle/>
            <a:p>
              <a:r>
                <a:rPr lang="en-US" dirty="0">
                  <a:solidFill>
                    <a:srgbClr val="FF33CC"/>
                  </a:solidFill>
                </a:rPr>
                <a:t>8</a:t>
              </a:r>
            </a:p>
          </p:txBody>
        </p:sp>
        <p:sp>
          <p:nvSpPr>
            <p:cNvPr id="93" name="TextBox 92">
              <a:extLst>
                <a:ext uri="{FF2B5EF4-FFF2-40B4-BE49-F238E27FC236}">
                  <a16:creationId xmlns:a16="http://schemas.microsoft.com/office/drawing/2014/main" id="{26943C51-AEFD-0564-330A-F869E75C02E3}"/>
                </a:ext>
              </a:extLst>
            </p:cNvPr>
            <p:cNvSpPr txBox="1"/>
            <p:nvPr/>
          </p:nvSpPr>
          <p:spPr>
            <a:xfrm>
              <a:off x="7887688" y="2710934"/>
              <a:ext cx="301686" cy="369332"/>
            </a:xfrm>
            <a:prstGeom prst="rect">
              <a:avLst/>
            </a:prstGeom>
            <a:noFill/>
          </p:spPr>
          <p:txBody>
            <a:bodyPr wrap="none" rtlCol="0">
              <a:spAutoFit/>
            </a:bodyPr>
            <a:lstStyle/>
            <a:p>
              <a:r>
                <a:rPr lang="en-US" dirty="0">
                  <a:solidFill>
                    <a:srgbClr val="FF33CC"/>
                  </a:solidFill>
                </a:rPr>
                <a:t>9</a:t>
              </a:r>
            </a:p>
          </p:txBody>
        </p:sp>
      </p:grpSp>
      <p:sp>
        <p:nvSpPr>
          <p:cNvPr id="3" name="Content Placeholder 2">
            <a:extLst>
              <a:ext uri="{FF2B5EF4-FFF2-40B4-BE49-F238E27FC236}">
                <a16:creationId xmlns:a16="http://schemas.microsoft.com/office/drawing/2014/main" id="{7F9F30F0-7D06-DAC8-8BF6-ECA17E7C262A}"/>
              </a:ext>
            </a:extLst>
          </p:cNvPr>
          <p:cNvSpPr>
            <a:spLocks noGrp="1"/>
          </p:cNvSpPr>
          <p:nvPr>
            <p:ph idx="1"/>
          </p:nvPr>
        </p:nvSpPr>
        <p:spPr/>
        <p:txBody>
          <a:bodyPr>
            <a:normAutofit/>
          </a:bodyPr>
          <a:lstStyle/>
          <a:p>
            <a:pPr marL="0" indent="0">
              <a:buNone/>
            </a:pPr>
            <a:r>
              <a:rPr lang="en-US" dirty="0"/>
              <a:t>insert(item){</a:t>
            </a:r>
          </a:p>
          <a:p>
            <a:pPr marL="0" indent="0">
              <a:buNone/>
            </a:pPr>
            <a:r>
              <a:rPr lang="en-US" dirty="0"/>
              <a:t>    if(size == </a:t>
            </a:r>
            <a:r>
              <a:rPr lang="en-US" dirty="0" err="1"/>
              <a:t>arr.length</a:t>
            </a:r>
            <a:r>
              <a:rPr lang="en-US" dirty="0"/>
              <a:t> – 1){resize();}</a:t>
            </a:r>
          </a:p>
          <a:p>
            <a:pPr marL="0" indent="0">
              <a:buNone/>
            </a:pPr>
            <a:r>
              <a:rPr lang="en-US" dirty="0"/>
              <a:t>    size++;</a:t>
            </a:r>
          </a:p>
          <a:p>
            <a:pPr marL="0" indent="0">
              <a:buNone/>
            </a:pPr>
            <a:r>
              <a:rPr lang="en-US" dirty="0"/>
              <a:t>    </a:t>
            </a:r>
            <a:r>
              <a:rPr lang="en-US" dirty="0" err="1"/>
              <a:t>arr</a:t>
            </a:r>
            <a:r>
              <a:rPr lang="en-US" dirty="0"/>
              <a:t>[size] = item;</a:t>
            </a:r>
          </a:p>
          <a:p>
            <a:pPr marL="0" indent="0">
              <a:buNone/>
            </a:pPr>
            <a:r>
              <a:rPr lang="en-US" dirty="0"/>
              <a:t>    </a:t>
            </a:r>
            <a:r>
              <a:rPr lang="en-US" dirty="0" err="1"/>
              <a:t>percolateUp</a:t>
            </a:r>
            <a:r>
              <a:rPr lang="en-US" dirty="0"/>
              <a:t>(size)</a:t>
            </a:r>
          </a:p>
          <a:p>
            <a:pPr marL="0" indent="0">
              <a:buNone/>
            </a:pPr>
            <a:r>
              <a:rPr lang="en-US" dirty="0"/>
              <a:t>} </a:t>
            </a:r>
          </a:p>
          <a:p>
            <a:pPr marL="0" indent="0">
              <a:buNone/>
            </a:pPr>
            <a:endParaRPr lang="en-US" dirty="0"/>
          </a:p>
        </p:txBody>
      </p:sp>
    </p:spTree>
    <p:extLst>
      <p:ext uri="{BB962C8B-B14F-4D97-AF65-F5344CB8AC3E}">
        <p14:creationId xmlns:p14="http://schemas.microsoft.com/office/powerpoint/2010/main" val="197788288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0F483F-F26E-8B20-8083-CCF4901F7150}"/>
              </a:ext>
            </a:extLst>
          </p:cNvPr>
          <p:cNvSpPr>
            <a:spLocks noGrp="1"/>
          </p:cNvSpPr>
          <p:nvPr>
            <p:ph type="title"/>
          </p:nvPr>
        </p:nvSpPr>
        <p:spPr/>
        <p:txBody>
          <a:bodyPr/>
          <a:lstStyle/>
          <a:p>
            <a:r>
              <a:rPr lang="en-US" dirty="0"/>
              <a:t>Percolate Up</a:t>
            </a:r>
          </a:p>
        </p:txBody>
      </p:sp>
      <p:sp>
        <p:nvSpPr>
          <p:cNvPr id="3" name="Content Placeholder 2">
            <a:extLst>
              <a:ext uri="{FF2B5EF4-FFF2-40B4-BE49-F238E27FC236}">
                <a16:creationId xmlns:a16="http://schemas.microsoft.com/office/drawing/2014/main" id="{DB35A154-B79D-608E-BDA4-B50687714B59}"/>
              </a:ext>
            </a:extLst>
          </p:cNvPr>
          <p:cNvSpPr>
            <a:spLocks noGrp="1"/>
          </p:cNvSpPr>
          <p:nvPr>
            <p:ph idx="1"/>
          </p:nvPr>
        </p:nvSpPr>
        <p:spPr>
          <a:xfrm>
            <a:off x="304800" y="1825625"/>
            <a:ext cx="11887200" cy="4351338"/>
          </a:xfrm>
        </p:spPr>
        <p:txBody>
          <a:bodyPr>
            <a:normAutofit lnSpcReduction="10000"/>
          </a:bodyPr>
          <a:lstStyle/>
          <a:p>
            <a:pPr marL="0" indent="0">
              <a:buNone/>
            </a:pPr>
            <a:r>
              <a:rPr lang="en-US" sz="2400" dirty="0" err="1"/>
              <a:t>percolateUp</a:t>
            </a:r>
            <a:r>
              <a:rPr lang="en-US" sz="2400" dirty="0"/>
              <a:t>(int </a:t>
            </a:r>
            <a:r>
              <a:rPr lang="en-US" sz="2400" dirty="0" err="1"/>
              <a:t>i</a:t>
            </a:r>
            <a:r>
              <a:rPr lang="en-US" sz="2400" dirty="0"/>
              <a:t>){</a:t>
            </a:r>
          </a:p>
          <a:p>
            <a:pPr marL="0" indent="0">
              <a:buNone/>
            </a:pPr>
            <a:r>
              <a:rPr lang="en-US" sz="2400" dirty="0"/>
              <a:t>    int parent = </a:t>
            </a:r>
            <a:r>
              <a:rPr lang="en-US" sz="2400" dirty="0" err="1"/>
              <a:t>i</a:t>
            </a:r>
            <a:r>
              <a:rPr lang="en-US" sz="2400" dirty="0"/>
              <a:t>/2;  </a:t>
            </a:r>
            <a:r>
              <a:rPr lang="en-US" sz="2400" dirty="0">
                <a:solidFill>
                  <a:srgbClr val="00B0F0"/>
                </a:solidFill>
              </a:rPr>
              <a:t>\\ index of parent</a:t>
            </a:r>
          </a:p>
          <a:p>
            <a:pPr marL="0" indent="0">
              <a:buNone/>
            </a:pPr>
            <a:r>
              <a:rPr lang="en-US" sz="2400" dirty="0"/>
              <a:t>    Item </a:t>
            </a:r>
            <a:r>
              <a:rPr lang="en-US" sz="2400" dirty="0" err="1"/>
              <a:t>val</a:t>
            </a:r>
            <a:r>
              <a:rPr lang="en-US" sz="2400" dirty="0"/>
              <a:t> = </a:t>
            </a:r>
            <a:r>
              <a:rPr lang="en-US" sz="2400" dirty="0" err="1"/>
              <a:t>arr</a:t>
            </a:r>
            <a:r>
              <a:rPr lang="en-US" sz="2400" dirty="0"/>
              <a:t>[</a:t>
            </a:r>
            <a:r>
              <a:rPr lang="en-US" sz="2400" dirty="0" err="1"/>
              <a:t>i</a:t>
            </a:r>
            <a:r>
              <a:rPr lang="en-US" sz="2400" dirty="0"/>
              <a:t>];  </a:t>
            </a:r>
            <a:r>
              <a:rPr lang="en-US" sz="2400" dirty="0">
                <a:solidFill>
                  <a:srgbClr val="00B0F0"/>
                </a:solidFill>
              </a:rPr>
              <a:t>\\ value at current location</a:t>
            </a:r>
          </a:p>
          <a:p>
            <a:pPr marL="0" indent="0">
              <a:buNone/>
            </a:pPr>
            <a:r>
              <a:rPr lang="en-US" sz="2400" dirty="0"/>
              <a:t>    while(</a:t>
            </a:r>
            <a:r>
              <a:rPr lang="en-US" sz="2400" dirty="0" err="1"/>
              <a:t>i</a:t>
            </a:r>
            <a:r>
              <a:rPr lang="en-US" sz="2400" dirty="0"/>
              <a:t> &gt; 1 &amp;&amp; </a:t>
            </a:r>
            <a:r>
              <a:rPr lang="en-US" sz="2400" dirty="0" err="1"/>
              <a:t>arr</a:t>
            </a:r>
            <a:r>
              <a:rPr lang="en-US" sz="2400" dirty="0"/>
              <a:t>[</a:t>
            </a:r>
            <a:r>
              <a:rPr lang="en-US" sz="2400" dirty="0" err="1"/>
              <a:t>i</a:t>
            </a:r>
            <a:r>
              <a:rPr lang="en-US" sz="2400" dirty="0"/>
              <a:t>] &lt; </a:t>
            </a:r>
            <a:r>
              <a:rPr lang="en-US" sz="2400" dirty="0" err="1"/>
              <a:t>arr</a:t>
            </a:r>
            <a:r>
              <a:rPr lang="en-US" sz="2400" dirty="0"/>
              <a:t>[parent]){  </a:t>
            </a:r>
            <a:r>
              <a:rPr lang="en-US" sz="2400" dirty="0">
                <a:solidFill>
                  <a:srgbClr val="00B0F0"/>
                </a:solidFill>
              </a:rPr>
              <a:t>\\ until location is root or heap property holds</a:t>
            </a:r>
          </a:p>
          <a:p>
            <a:pPr marL="0" indent="0">
              <a:buNone/>
            </a:pPr>
            <a:r>
              <a:rPr lang="en-US" sz="2400" dirty="0"/>
              <a:t>        </a:t>
            </a:r>
            <a:r>
              <a:rPr lang="en-US" sz="2400" dirty="0" err="1"/>
              <a:t>arr</a:t>
            </a:r>
            <a:r>
              <a:rPr lang="en-US" sz="2400" dirty="0"/>
              <a:t>[</a:t>
            </a:r>
            <a:r>
              <a:rPr lang="en-US" sz="2400" dirty="0" err="1"/>
              <a:t>i</a:t>
            </a:r>
            <a:r>
              <a:rPr lang="en-US" sz="2400" dirty="0"/>
              <a:t>] = </a:t>
            </a:r>
            <a:r>
              <a:rPr lang="en-US" sz="2400" dirty="0" err="1"/>
              <a:t>arr</a:t>
            </a:r>
            <a:r>
              <a:rPr lang="en-US" sz="2400" dirty="0"/>
              <a:t>[parent];  </a:t>
            </a:r>
            <a:r>
              <a:rPr lang="en-US" sz="2400" dirty="0">
                <a:solidFill>
                  <a:srgbClr val="00B0F0"/>
                </a:solidFill>
              </a:rPr>
              <a:t>\\ move parent value to this location</a:t>
            </a:r>
          </a:p>
          <a:p>
            <a:pPr marL="0" indent="0">
              <a:buNone/>
            </a:pPr>
            <a:r>
              <a:rPr lang="en-US" sz="2400" dirty="0"/>
              <a:t>        </a:t>
            </a:r>
            <a:r>
              <a:rPr lang="en-US" sz="2400" dirty="0" err="1"/>
              <a:t>arr</a:t>
            </a:r>
            <a:r>
              <a:rPr lang="en-US" sz="2400" dirty="0"/>
              <a:t>[parent] = </a:t>
            </a:r>
            <a:r>
              <a:rPr lang="en-US" sz="2400" dirty="0" err="1"/>
              <a:t>val</a:t>
            </a:r>
            <a:r>
              <a:rPr lang="en-US" sz="2400" dirty="0"/>
              <a:t>; </a:t>
            </a:r>
            <a:r>
              <a:rPr lang="en-US" sz="2400" dirty="0">
                <a:solidFill>
                  <a:srgbClr val="00B0F0"/>
                </a:solidFill>
              </a:rPr>
              <a:t>\\ put current value into parent’s location </a:t>
            </a:r>
          </a:p>
          <a:p>
            <a:pPr marL="0" indent="0">
              <a:buNone/>
            </a:pPr>
            <a:r>
              <a:rPr lang="en-US" sz="2400" dirty="0"/>
              <a:t>        </a:t>
            </a:r>
            <a:r>
              <a:rPr lang="en-US" sz="2400" dirty="0" err="1"/>
              <a:t>i</a:t>
            </a:r>
            <a:r>
              <a:rPr lang="en-US" sz="2400" dirty="0"/>
              <a:t> = parent;  </a:t>
            </a:r>
            <a:r>
              <a:rPr lang="en-US" sz="2400" dirty="0">
                <a:solidFill>
                  <a:srgbClr val="00B0F0"/>
                </a:solidFill>
              </a:rPr>
              <a:t>\\ make current location the parent</a:t>
            </a:r>
          </a:p>
          <a:p>
            <a:pPr marL="0" indent="0">
              <a:buNone/>
            </a:pPr>
            <a:r>
              <a:rPr lang="en-US" sz="2400" dirty="0"/>
              <a:t>        parent = </a:t>
            </a:r>
            <a:r>
              <a:rPr lang="en-US" sz="2400" dirty="0" err="1"/>
              <a:t>i</a:t>
            </a:r>
            <a:r>
              <a:rPr lang="en-US" sz="2400" dirty="0"/>
              <a:t>/2;  </a:t>
            </a:r>
            <a:r>
              <a:rPr lang="en-US" sz="2400" dirty="0">
                <a:solidFill>
                  <a:srgbClr val="00B0F0"/>
                </a:solidFill>
              </a:rPr>
              <a:t>\\ update new parent</a:t>
            </a:r>
          </a:p>
          <a:p>
            <a:pPr marL="0" indent="0">
              <a:buNone/>
            </a:pPr>
            <a:r>
              <a:rPr lang="en-US" sz="2400" dirty="0"/>
              <a:t>    }</a:t>
            </a:r>
          </a:p>
          <a:p>
            <a:pPr marL="0" indent="0">
              <a:buNone/>
            </a:pPr>
            <a:r>
              <a:rPr lang="en-US" sz="2400" dirty="0"/>
              <a:t>}</a:t>
            </a:r>
          </a:p>
        </p:txBody>
      </p:sp>
    </p:spTree>
    <p:extLst>
      <p:ext uri="{BB962C8B-B14F-4D97-AF65-F5344CB8AC3E}">
        <p14:creationId xmlns:p14="http://schemas.microsoft.com/office/powerpoint/2010/main" val="77640111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5B0ABD-0BFF-6D08-9E5A-671AB107983A}"/>
              </a:ext>
            </a:extLst>
          </p:cNvPr>
          <p:cNvSpPr>
            <a:spLocks noGrp="1"/>
          </p:cNvSpPr>
          <p:nvPr>
            <p:ph type="title"/>
          </p:nvPr>
        </p:nvSpPr>
        <p:spPr/>
        <p:txBody>
          <a:bodyPr/>
          <a:lstStyle/>
          <a:p>
            <a:r>
              <a:rPr lang="en-US" dirty="0"/>
              <a:t>extract Pseudocode</a:t>
            </a:r>
          </a:p>
        </p:txBody>
      </p:sp>
      <p:sp>
        <p:nvSpPr>
          <p:cNvPr id="3" name="Content Placeholder 2">
            <a:extLst>
              <a:ext uri="{FF2B5EF4-FFF2-40B4-BE49-F238E27FC236}">
                <a16:creationId xmlns:a16="http://schemas.microsoft.com/office/drawing/2014/main" id="{7F9F30F0-7D06-DAC8-8BF6-ECA17E7C262A}"/>
              </a:ext>
            </a:extLst>
          </p:cNvPr>
          <p:cNvSpPr>
            <a:spLocks noGrp="1"/>
          </p:cNvSpPr>
          <p:nvPr>
            <p:ph idx="1"/>
          </p:nvPr>
        </p:nvSpPr>
        <p:spPr/>
        <p:txBody>
          <a:bodyPr>
            <a:normAutofit/>
          </a:bodyPr>
          <a:lstStyle/>
          <a:p>
            <a:pPr marL="0" indent="0">
              <a:buNone/>
            </a:pPr>
            <a:r>
              <a:rPr lang="en-US" dirty="0"/>
              <a:t>extract(){</a:t>
            </a:r>
          </a:p>
          <a:p>
            <a:pPr marL="0" indent="0">
              <a:buNone/>
            </a:pPr>
            <a:r>
              <a:rPr lang="en-US" dirty="0"/>
              <a:t>    </a:t>
            </a:r>
            <a:r>
              <a:rPr lang="en-US" dirty="0" err="1"/>
              <a:t>theMin</a:t>
            </a:r>
            <a:r>
              <a:rPr lang="en-US" dirty="0"/>
              <a:t> = </a:t>
            </a:r>
            <a:r>
              <a:rPr lang="en-US" dirty="0" err="1"/>
              <a:t>arr</a:t>
            </a:r>
            <a:r>
              <a:rPr lang="en-US" dirty="0"/>
              <a:t>[1];</a:t>
            </a:r>
          </a:p>
          <a:p>
            <a:pPr marL="0" indent="0">
              <a:buNone/>
            </a:pPr>
            <a:r>
              <a:rPr lang="en-US" dirty="0"/>
              <a:t>    </a:t>
            </a:r>
            <a:r>
              <a:rPr lang="en-US" dirty="0" err="1"/>
              <a:t>arr</a:t>
            </a:r>
            <a:r>
              <a:rPr lang="en-US" dirty="0"/>
              <a:t>[1] = </a:t>
            </a:r>
            <a:r>
              <a:rPr lang="en-US" dirty="0" err="1"/>
              <a:t>arr</a:t>
            </a:r>
            <a:r>
              <a:rPr lang="en-US" dirty="0"/>
              <a:t>[size];</a:t>
            </a:r>
          </a:p>
          <a:p>
            <a:pPr marL="0" indent="0">
              <a:buNone/>
            </a:pPr>
            <a:r>
              <a:rPr lang="en-US" dirty="0"/>
              <a:t>    size--;</a:t>
            </a:r>
          </a:p>
          <a:p>
            <a:pPr marL="0" indent="0">
              <a:buNone/>
            </a:pPr>
            <a:r>
              <a:rPr lang="en-US" dirty="0"/>
              <a:t>    </a:t>
            </a:r>
            <a:r>
              <a:rPr lang="en-US" dirty="0" err="1"/>
              <a:t>percolateDown</a:t>
            </a:r>
            <a:r>
              <a:rPr lang="en-US" dirty="0"/>
              <a:t>(1);</a:t>
            </a:r>
          </a:p>
          <a:p>
            <a:pPr marL="0" indent="0">
              <a:buNone/>
            </a:pPr>
            <a:r>
              <a:rPr lang="en-US" dirty="0"/>
              <a:t>    return </a:t>
            </a:r>
            <a:r>
              <a:rPr lang="en-US" dirty="0" err="1"/>
              <a:t>theMin</a:t>
            </a:r>
            <a:r>
              <a:rPr lang="en-US" dirty="0"/>
              <a:t>;</a:t>
            </a:r>
          </a:p>
          <a:p>
            <a:pPr marL="0" indent="0">
              <a:buNone/>
            </a:pPr>
            <a:r>
              <a:rPr lang="en-US" dirty="0"/>
              <a:t>} </a:t>
            </a:r>
          </a:p>
          <a:p>
            <a:pPr marL="0" indent="0">
              <a:buNone/>
            </a:pPr>
            <a:endParaRPr lang="en-US" dirty="0"/>
          </a:p>
        </p:txBody>
      </p:sp>
    </p:spTree>
    <p:extLst>
      <p:ext uri="{BB962C8B-B14F-4D97-AF65-F5344CB8AC3E}">
        <p14:creationId xmlns:p14="http://schemas.microsoft.com/office/powerpoint/2010/main" val="320156216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0F483F-F26E-8B20-8083-CCF4901F7150}"/>
              </a:ext>
            </a:extLst>
          </p:cNvPr>
          <p:cNvSpPr>
            <a:spLocks noGrp="1"/>
          </p:cNvSpPr>
          <p:nvPr>
            <p:ph type="title"/>
          </p:nvPr>
        </p:nvSpPr>
        <p:spPr>
          <a:xfrm>
            <a:off x="838200" y="-285115"/>
            <a:ext cx="10515600" cy="1325563"/>
          </a:xfrm>
        </p:spPr>
        <p:txBody>
          <a:bodyPr/>
          <a:lstStyle/>
          <a:p>
            <a:r>
              <a:rPr lang="en-US" dirty="0"/>
              <a:t>Percolate Down</a:t>
            </a:r>
          </a:p>
        </p:txBody>
      </p:sp>
      <p:sp>
        <p:nvSpPr>
          <p:cNvPr id="3" name="Content Placeholder 2">
            <a:extLst>
              <a:ext uri="{FF2B5EF4-FFF2-40B4-BE49-F238E27FC236}">
                <a16:creationId xmlns:a16="http://schemas.microsoft.com/office/drawing/2014/main" id="{DB35A154-B79D-608E-BDA4-B50687714B59}"/>
              </a:ext>
            </a:extLst>
          </p:cNvPr>
          <p:cNvSpPr>
            <a:spLocks noGrp="1"/>
          </p:cNvSpPr>
          <p:nvPr>
            <p:ph idx="1"/>
          </p:nvPr>
        </p:nvSpPr>
        <p:spPr>
          <a:xfrm>
            <a:off x="304800" y="609600"/>
            <a:ext cx="11887200" cy="6248400"/>
          </a:xfrm>
        </p:spPr>
        <p:txBody>
          <a:bodyPr>
            <a:normAutofit fontScale="62500" lnSpcReduction="20000"/>
          </a:bodyPr>
          <a:lstStyle/>
          <a:p>
            <a:pPr marL="0" indent="0">
              <a:buNone/>
            </a:pPr>
            <a:r>
              <a:rPr lang="en-US" dirty="0" err="1"/>
              <a:t>percolateDown</a:t>
            </a:r>
            <a:r>
              <a:rPr lang="en-US" dirty="0"/>
              <a:t>(int </a:t>
            </a:r>
            <a:r>
              <a:rPr lang="en-US" dirty="0" err="1"/>
              <a:t>i</a:t>
            </a:r>
            <a:r>
              <a:rPr lang="en-US" dirty="0"/>
              <a:t>){</a:t>
            </a:r>
          </a:p>
          <a:p>
            <a:pPr marL="0" indent="0">
              <a:buNone/>
            </a:pPr>
            <a:r>
              <a:rPr lang="en-US" dirty="0"/>
              <a:t>    int left = </a:t>
            </a:r>
            <a:r>
              <a:rPr lang="en-US" dirty="0" err="1"/>
              <a:t>i</a:t>
            </a:r>
            <a:r>
              <a:rPr lang="en-US" dirty="0"/>
              <a:t>*2;  </a:t>
            </a:r>
            <a:r>
              <a:rPr lang="en-US" dirty="0">
                <a:solidFill>
                  <a:srgbClr val="00B0F0"/>
                </a:solidFill>
              </a:rPr>
              <a:t>\\ index of left child</a:t>
            </a:r>
          </a:p>
          <a:p>
            <a:pPr marL="0" indent="0">
              <a:buNone/>
            </a:pPr>
            <a:r>
              <a:rPr lang="en-US" dirty="0">
                <a:solidFill>
                  <a:srgbClr val="00B0F0"/>
                </a:solidFill>
              </a:rPr>
              <a:t>    </a:t>
            </a:r>
            <a:r>
              <a:rPr lang="en-US" dirty="0"/>
              <a:t>int right = </a:t>
            </a:r>
            <a:r>
              <a:rPr lang="en-US" dirty="0" err="1"/>
              <a:t>i</a:t>
            </a:r>
            <a:r>
              <a:rPr lang="en-US" dirty="0"/>
              <a:t>*2+1;  </a:t>
            </a:r>
            <a:r>
              <a:rPr lang="en-US" dirty="0">
                <a:solidFill>
                  <a:srgbClr val="00B0F0"/>
                </a:solidFill>
              </a:rPr>
              <a:t>\\ index of right child</a:t>
            </a:r>
          </a:p>
          <a:p>
            <a:pPr marL="0" indent="0">
              <a:buNone/>
            </a:pPr>
            <a:r>
              <a:rPr lang="en-US" dirty="0"/>
              <a:t>    Item </a:t>
            </a:r>
            <a:r>
              <a:rPr lang="en-US" dirty="0" err="1"/>
              <a:t>val</a:t>
            </a:r>
            <a:r>
              <a:rPr lang="en-US" dirty="0"/>
              <a:t> = </a:t>
            </a:r>
            <a:r>
              <a:rPr lang="en-US" dirty="0" err="1"/>
              <a:t>arr</a:t>
            </a:r>
            <a:r>
              <a:rPr lang="en-US" dirty="0"/>
              <a:t>[</a:t>
            </a:r>
            <a:r>
              <a:rPr lang="en-US" dirty="0" err="1"/>
              <a:t>i</a:t>
            </a:r>
            <a:r>
              <a:rPr lang="en-US" dirty="0"/>
              <a:t>];  </a:t>
            </a:r>
            <a:r>
              <a:rPr lang="en-US" dirty="0">
                <a:solidFill>
                  <a:srgbClr val="00B0F0"/>
                </a:solidFill>
              </a:rPr>
              <a:t>\\ value at location</a:t>
            </a:r>
          </a:p>
          <a:p>
            <a:pPr marL="0" indent="0">
              <a:buNone/>
            </a:pPr>
            <a:r>
              <a:rPr lang="en-US" dirty="0"/>
              <a:t>    while(left &lt;= size){  </a:t>
            </a:r>
            <a:r>
              <a:rPr lang="en-US" dirty="0">
                <a:solidFill>
                  <a:srgbClr val="00B0F0"/>
                </a:solidFill>
              </a:rPr>
              <a:t>\\ until location is leaf</a:t>
            </a:r>
          </a:p>
          <a:p>
            <a:pPr marL="0" indent="0">
              <a:buNone/>
            </a:pPr>
            <a:r>
              <a:rPr lang="en-US" dirty="0">
                <a:solidFill>
                  <a:srgbClr val="00B0F0"/>
                </a:solidFill>
              </a:rPr>
              <a:t>        </a:t>
            </a:r>
            <a:r>
              <a:rPr lang="en-US" dirty="0"/>
              <a:t>int </a:t>
            </a:r>
            <a:r>
              <a:rPr lang="en-US" dirty="0" err="1"/>
              <a:t>toSwap</a:t>
            </a:r>
            <a:r>
              <a:rPr lang="en-US" dirty="0"/>
              <a:t> = right;</a:t>
            </a:r>
          </a:p>
          <a:p>
            <a:pPr marL="0" indent="0">
              <a:buNone/>
            </a:pPr>
            <a:r>
              <a:rPr lang="en-US" dirty="0">
                <a:solidFill>
                  <a:srgbClr val="00B0F0"/>
                </a:solidFill>
              </a:rPr>
              <a:t>        </a:t>
            </a:r>
            <a:r>
              <a:rPr lang="en-US" dirty="0"/>
              <a:t>if(right &gt; size || </a:t>
            </a:r>
            <a:r>
              <a:rPr lang="en-US" dirty="0" err="1"/>
              <a:t>arr</a:t>
            </a:r>
            <a:r>
              <a:rPr lang="en-US" dirty="0"/>
              <a:t>[left] &lt; </a:t>
            </a:r>
            <a:r>
              <a:rPr lang="en-US" dirty="0" err="1"/>
              <a:t>arr</a:t>
            </a:r>
            <a:r>
              <a:rPr lang="en-US" dirty="0"/>
              <a:t>[right]){  </a:t>
            </a:r>
            <a:r>
              <a:rPr lang="en-US" dirty="0">
                <a:solidFill>
                  <a:srgbClr val="00B0F0"/>
                </a:solidFill>
              </a:rPr>
              <a:t>\\ if there is no right child or if left child is smaller</a:t>
            </a:r>
          </a:p>
          <a:p>
            <a:pPr marL="0" indent="0">
              <a:buNone/>
            </a:pPr>
            <a:r>
              <a:rPr lang="en-US" dirty="0">
                <a:solidFill>
                  <a:srgbClr val="00B0F0"/>
                </a:solidFill>
              </a:rPr>
              <a:t>            </a:t>
            </a:r>
            <a:r>
              <a:rPr lang="en-US" dirty="0" err="1"/>
              <a:t>toSwap</a:t>
            </a:r>
            <a:r>
              <a:rPr lang="en-US" dirty="0"/>
              <a:t> = left;  </a:t>
            </a:r>
            <a:r>
              <a:rPr lang="en-US" dirty="0">
                <a:solidFill>
                  <a:srgbClr val="00B0F0"/>
                </a:solidFill>
              </a:rPr>
              <a:t>\\ swap with left</a:t>
            </a:r>
          </a:p>
          <a:p>
            <a:pPr marL="0" indent="0">
              <a:buNone/>
            </a:pPr>
            <a:r>
              <a:rPr lang="en-US" dirty="0"/>
              <a:t>        } </a:t>
            </a:r>
            <a:r>
              <a:rPr lang="en-US" dirty="0">
                <a:solidFill>
                  <a:srgbClr val="00B0F0"/>
                </a:solidFill>
              </a:rPr>
              <a:t>\\ now </a:t>
            </a:r>
            <a:r>
              <a:rPr lang="en-US" dirty="0" err="1">
                <a:solidFill>
                  <a:srgbClr val="00B0F0"/>
                </a:solidFill>
              </a:rPr>
              <a:t>toSwap</a:t>
            </a:r>
            <a:r>
              <a:rPr lang="en-US" dirty="0">
                <a:solidFill>
                  <a:srgbClr val="00B0F0"/>
                </a:solidFill>
              </a:rPr>
              <a:t> has the smaller of left/right, or left if right does not exist</a:t>
            </a:r>
          </a:p>
          <a:p>
            <a:pPr marL="0" indent="0">
              <a:buNone/>
            </a:pPr>
            <a:r>
              <a:rPr lang="en-US" dirty="0"/>
              <a:t>        if (</a:t>
            </a:r>
            <a:r>
              <a:rPr lang="en-US" dirty="0" err="1"/>
              <a:t>arr</a:t>
            </a:r>
            <a:r>
              <a:rPr lang="en-US" dirty="0"/>
              <a:t>[</a:t>
            </a:r>
            <a:r>
              <a:rPr lang="en-US" dirty="0" err="1"/>
              <a:t>toSwap</a:t>
            </a:r>
            <a:r>
              <a:rPr lang="en-US" dirty="0"/>
              <a:t>] &lt; </a:t>
            </a:r>
            <a:r>
              <a:rPr lang="en-US" dirty="0" err="1"/>
              <a:t>val</a:t>
            </a:r>
            <a:r>
              <a:rPr lang="en-US" dirty="0"/>
              <a:t>){  </a:t>
            </a:r>
            <a:r>
              <a:rPr lang="en-US" dirty="0">
                <a:solidFill>
                  <a:srgbClr val="00B0F0"/>
                </a:solidFill>
              </a:rPr>
              <a:t>\\ if the smaller child is less than the current value</a:t>
            </a:r>
          </a:p>
          <a:p>
            <a:pPr marL="0" indent="0">
              <a:buNone/>
            </a:pPr>
            <a:r>
              <a:rPr lang="en-US" dirty="0"/>
              <a:t>            </a:t>
            </a:r>
            <a:r>
              <a:rPr lang="en-US" dirty="0" err="1"/>
              <a:t>arr</a:t>
            </a:r>
            <a:r>
              <a:rPr lang="en-US" dirty="0"/>
              <a:t>[</a:t>
            </a:r>
            <a:r>
              <a:rPr lang="en-US" dirty="0" err="1"/>
              <a:t>i</a:t>
            </a:r>
            <a:r>
              <a:rPr lang="en-US" dirty="0"/>
              <a:t>] = </a:t>
            </a:r>
            <a:r>
              <a:rPr lang="en-US" dirty="0" err="1"/>
              <a:t>arr</a:t>
            </a:r>
            <a:r>
              <a:rPr lang="en-US" dirty="0"/>
              <a:t>[</a:t>
            </a:r>
            <a:r>
              <a:rPr lang="en-US" dirty="0" err="1"/>
              <a:t>toSwap</a:t>
            </a:r>
            <a:r>
              <a:rPr lang="en-US" dirty="0"/>
              <a:t>];</a:t>
            </a:r>
          </a:p>
          <a:p>
            <a:pPr marL="0" indent="0">
              <a:buNone/>
            </a:pPr>
            <a:r>
              <a:rPr lang="en-US" dirty="0"/>
              <a:t>            </a:t>
            </a:r>
            <a:r>
              <a:rPr lang="en-US" dirty="0" err="1"/>
              <a:t>arr</a:t>
            </a:r>
            <a:r>
              <a:rPr lang="en-US" dirty="0"/>
              <a:t>[</a:t>
            </a:r>
            <a:r>
              <a:rPr lang="en-US" dirty="0" err="1"/>
              <a:t>toSwap</a:t>
            </a:r>
            <a:r>
              <a:rPr lang="en-US" dirty="0"/>
              <a:t>] = </a:t>
            </a:r>
            <a:r>
              <a:rPr lang="en-US" dirty="0" err="1"/>
              <a:t>val</a:t>
            </a:r>
            <a:r>
              <a:rPr lang="en-US" dirty="0"/>
              <a:t>; </a:t>
            </a:r>
            <a:r>
              <a:rPr lang="en-US" dirty="0">
                <a:solidFill>
                  <a:srgbClr val="00B0F0"/>
                </a:solidFill>
              </a:rPr>
              <a:t>\\ swap parent with smaller child</a:t>
            </a:r>
            <a:endParaRPr lang="en-US" dirty="0"/>
          </a:p>
          <a:p>
            <a:pPr marL="0" indent="0">
              <a:buNone/>
            </a:pPr>
            <a:r>
              <a:rPr lang="en-US" dirty="0"/>
              <a:t>            </a:t>
            </a:r>
            <a:r>
              <a:rPr lang="en-US" dirty="0" err="1"/>
              <a:t>i</a:t>
            </a:r>
            <a:r>
              <a:rPr lang="en-US" dirty="0"/>
              <a:t> = </a:t>
            </a:r>
            <a:r>
              <a:rPr lang="en-US" dirty="0" err="1"/>
              <a:t>toSwap</a:t>
            </a:r>
            <a:r>
              <a:rPr lang="en-US" dirty="0"/>
              <a:t>; </a:t>
            </a:r>
            <a:r>
              <a:rPr lang="en-US" dirty="0">
                <a:solidFill>
                  <a:srgbClr val="00B0F0"/>
                </a:solidFill>
              </a:rPr>
              <a:t>\\ update current node to be smaller child</a:t>
            </a:r>
            <a:endParaRPr lang="en-US" dirty="0"/>
          </a:p>
          <a:p>
            <a:pPr marL="0" indent="0">
              <a:buNone/>
            </a:pPr>
            <a:r>
              <a:rPr lang="en-US" dirty="0"/>
              <a:t>            left = </a:t>
            </a:r>
            <a:r>
              <a:rPr lang="en-US" dirty="0" err="1"/>
              <a:t>i</a:t>
            </a:r>
            <a:r>
              <a:rPr lang="en-US" dirty="0"/>
              <a:t>*2;</a:t>
            </a:r>
          </a:p>
          <a:p>
            <a:pPr marL="0" indent="0">
              <a:buNone/>
            </a:pPr>
            <a:r>
              <a:rPr lang="en-US" dirty="0"/>
              <a:t>            right = </a:t>
            </a:r>
            <a:r>
              <a:rPr lang="en-US" dirty="0" err="1"/>
              <a:t>i</a:t>
            </a:r>
            <a:r>
              <a:rPr lang="en-US" dirty="0"/>
              <a:t>*2+1;</a:t>
            </a:r>
          </a:p>
          <a:p>
            <a:pPr marL="0" indent="0">
              <a:buNone/>
            </a:pPr>
            <a:r>
              <a:rPr lang="en-US" dirty="0"/>
              <a:t>        }</a:t>
            </a:r>
          </a:p>
          <a:p>
            <a:pPr marL="0" indent="0">
              <a:buNone/>
            </a:pPr>
            <a:r>
              <a:rPr lang="en-US" dirty="0"/>
              <a:t>        else{ return;} </a:t>
            </a:r>
            <a:r>
              <a:rPr lang="en-US" dirty="0">
                <a:solidFill>
                  <a:srgbClr val="00B0F0"/>
                </a:solidFill>
              </a:rPr>
              <a:t>\\ if we don’t swap, then heap property holds</a:t>
            </a:r>
            <a:endParaRPr lang="en-US" dirty="0"/>
          </a:p>
          <a:p>
            <a:pPr marL="0" indent="0">
              <a:buNone/>
            </a:pPr>
            <a:r>
              <a:rPr lang="en-US" dirty="0"/>
              <a:t>    }</a:t>
            </a:r>
          </a:p>
          <a:p>
            <a:pPr marL="0" indent="0">
              <a:buNone/>
            </a:pPr>
            <a:r>
              <a:rPr lang="en-US" dirty="0"/>
              <a:t>}</a:t>
            </a:r>
          </a:p>
        </p:txBody>
      </p:sp>
    </p:spTree>
    <p:extLst>
      <p:ext uri="{BB962C8B-B14F-4D97-AF65-F5344CB8AC3E}">
        <p14:creationId xmlns:p14="http://schemas.microsoft.com/office/powerpoint/2010/main" val="150183302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EB6229-ED81-992D-D556-83FFFB64464A}"/>
              </a:ext>
            </a:extLst>
          </p:cNvPr>
          <p:cNvSpPr>
            <a:spLocks noGrp="1"/>
          </p:cNvSpPr>
          <p:nvPr>
            <p:ph type="title"/>
          </p:nvPr>
        </p:nvSpPr>
        <p:spPr/>
        <p:txBody>
          <a:bodyPr/>
          <a:lstStyle/>
          <a:p>
            <a:r>
              <a:rPr lang="en-US" dirty="0"/>
              <a:t>Other Operations</a:t>
            </a:r>
          </a:p>
        </p:txBody>
      </p:sp>
      <p:sp>
        <p:nvSpPr>
          <p:cNvPr id="3" name="Content Placeholder 2">
            <a:extLst>
              <a:ext uri="{FF2B5EF4-FFF2-40B4-BE49-F238E27FC236}">
                <a16:creationId xmlns:a16="http://schemas.microsoft.com/office/drawing/2014/main" id="{A96A08C9-D1CE-6668-4633-5375FE66C3A8}"/>
              </a:ext>
            </a:extLst>
          </p:cNvPr>
          <p:cNvSpPr>
            <a:spLocks noGrp="1"/>
          </p:cNvSpPr>
          <p:nvPr>
            <p:ph idx="1"/>
          </p:nvPr>
        </p:nvSpPr>
        <p:spPr/>
        <p:txBody>
          <a:bodyPr>
            <a:normAutofit/>
          </a:bodyPr>
          <a:lstStyle/>
          <a:p>
            <a:r>
              <a:rPr lang="en-US" dirty="0"/>
              <a:t>Update Key</a:t>
            </a:r>
          </a:p>
          <a:p>
            <a:pPr lvl="1"/>
            <a:r>
              <a:rPr lang="en-US" dirty="0"/>
              <a:t>Increase Key</a:t>
            </a:r>
          </a:p>
          <a:p>
            <a:pPr lvl="2"/>
            <a:r>
              <a:rPr lang="en-US" dirty="0"/>
              <a:t>Given the index of an item in the PQ, make its priority value larger</a:t>
            </a:r>
          </a:p>
          <a:p>
            <a:pPr lvl="3"/>
            <a:r>
              <a:rPr lang="en-US" dirty="0"/>
              <a:t>Min Heap: Then percolate down</a:t>
            </a:r>
          </a:p>
          <a:p>
            <a:pPr lvl="3"/>
            <a:r>
              <a:rPr lang="en-US" dirty="0"/>
              <a:t>Max Heap: Then percolate up</a:t>
            </a:r>
          </a:p>
          <a:p>
            <a:pPr lvl="1"/>
            <a:r>
              <a:rPr lang="en-US" dirty="0"/>
              <a:t>Decrease Key</a:t>
            </a:r>
          </a:p>
          <a:p>
            <a:pPr lvl="2"/>
            <a:r>
              <a:rPr lang="en-US" dirty="0"/>
              <a:t>Given the index of an item in the PQ, make its priority value smaller</a:t>
            </a:r>
          </a:p>
          <a:p>
            <a:pPr lvl="3"/>
            <a:r>
              <a:rPr lang="en-US" dirty="0"/>
              <a:t>Min Heap: Then percolate up</a:t>
            </a:r>
          </a:p>
          <a:p>
            <a:pPr lvl="3"/>
            <a:r>
              <a:rPr lang="en-US" dirty="0"/>
              <a:t>Max Heap: Then percolate down</a:t>
            </a:r>
          </a:p>
          <a:p>
            <a:r>
              <a:rPr lang="en-US" dirty="0"/>
              <a:t>Remove</a:t>
            </a:r>
          </a:p>
          <a:p>
            <a:pPr lvl="1"/>
            <a:r>
              <a:rPr lang="en-US" dirty="0"/>
              <a:t>Given the item at the given index from the PQ</a:t>
            </a:r>
          </a:p>
        </p:txBody>
      </p:sp>
    </p:spTree>
    <p:extLst>
      <p:ext uri="{BB962C8B-B14F-4D97-AF65-F5344CB8AC3E}">
        <p14:creationId xmlns:p14="http://schemas.microsoft.com/office/powerpoint/2010/main" val="302107310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0F2A4A-E8D3-7F93-AD14-D6B2FD99DD01}"/>
              </a:ext>
            </a:extLst>
          </p:cNvPr>
          <p:cNvSpPr>
            <a:spLocks noGrp="1"/>
          </p:cNvSpPr>
          <p:nvPr>
            <p:ph type="title"/>
          </p:nvPr>
        </p:nvSpPr>
        <p:spPr/>
        <p:txBody>
          <a:bodyPr/>
          <a:lstStyle/>
          <a:p>
            <a:r>
              <a:rPr lang="en-US" dirty="0"/>
              <a:t>Building a Heap From “Scratch”</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81AF3C39-C718-C590-CB20-0AC3D97ADFB4}"/>
                  </a:ext>
                </a:extLst>
              </p:cNvPr>
              <p:cNvSpPr>
                <a:spLocks noGrp="1"/>
              </p:cNvSpPr>
              <p:nvPr>
                <p:ph idx="1"/>
              </p:nvPr>
            </p:nvSpPr>
            <p:spPr/>
            <p:txBody>
              <a:bodyPr/>
              <a:lstStyle/>
              <a:p>
                <a:r>
                  <a:rPr lang="en-US" dirty="0"/>
                  <a:t>Suppose we had </a:t>
                </a:r>
                <a14:m>
                  <m:oMath xmlns:m="http://schemas.openxmlformats.org/officeDocument/2006/math">
                    <m:r>
                      <a:rPr lang="en-US" b="0" i="1" smtClean="0">
                        <a:latin typeface="Cambria Math" panose="02040503050406030204" pitchFamily="18" charset="0"/>
                      </a:rPr>
                      <m:t>𝑛</m:t>
                    </m:r>
                  </m:oMath>
                </a14:m>
                <a:r>
                  <a:rPr lang="en-US" dirty="0"/>
                  <a:t> items and wanted to “</a:t>
                </a:r>
                <a:r>
                  <a:rPr lang="en-US" dirty="0" err="1"/>
                  <a:t>heapify</a:t>
                </a:r>
                <a:r>
                  <a:rPr lang="en-US" dirty="0"/>
                  <a:t>” them</a:t>
                </a:r>
              </a:p>
            </p:txBody>
          </p:sp>
        </mc:Choice>
        <mc:Fallback xmlns="">
          <p:sp>
            <p:nvSpPr>
              <p:cNvPr id="3" name="Content Placeholder 2">
                <a:extLst>
                  <a:ext uri="{FF2B5EF4-FFF2-40B4-BE49-F238E27FC236}">
                    <a16:creationId xmlns:a16="http://schemas.microsoft.com/office/drawing/2014/main" id="{81AF3C39-C718-C590-CB20-0AC3D97ADFB4}"/>
                  </a:ext>
                </a:extLst>
              </p:cNvPr>
              <p:cNvSpPr>
                <a:spLocks noGrp="1" noRot="1" noChangeAspect="1" noMove="1" noResize="1" noEditPoints="1" noAdjustHandles="1" noChangeArrowheads="1" noChangeShapeType="1" noTextEdit="1"/>
              </p:cNvSpPr>
              <p:nvPr>
                <p:ph idx="1"/>
              </p:nvPr>
            </p:nvSpPr>
            <p:spPr>
              <a:blipFill>
                <a:blip r:embed="rId2"/>
                <a:stretch>
                  <a:fillRect l="-1043" t="-2241"/>
                </a:stretch>
              </a:blipFill>
            </p:spPr>
            <p:txBody>
              <a:bodyPr/>
              <a:lstStyle/>
              <a:p>
                <a:r>
                  <a:rPr lang="en-US">
                    <a:noFill/>
                  </a:rPr>
                  <a:t> </a:t>
                </a:r>
              </a:p>
            </p:txBody>
          </p:sp>
        </mc:Fallback>
      </mc:AlternateContent>
      <p:grpSp>
        <p:nvGrpSpPr>
          <p:cNvPr id="4" name="Group 3" descr="An unordered array. It contains 10 items and has 11 indices. The index 0 is empty so that the array's contents match the shape of a heap.&#10;&#10;The items are, in order: 5, 6, 10, 3, 15, 8, 7, 14, 2, 1">
            <a:extLst>
              <a:ext uri="{FF2B5EF4-FFF2-40B4-BE49-F238E27FC236}">
                <a16:creationId xmlns:a16="http://schemas.microsoft.com/office/drawing/2014/main" id="{D2C070FD-E606-FE96-DBE1-D6B50F960BB6}"/>
              </a:ext>
            </a:extLst>
          </p:cNvPr>
          <p:cNvGrpSpPr/>
          <p:nvPr/>
        </p:nvGrpSpPr>
        <p:grpSpPr>
          <a:xfrm>
            <a:off x="5813477" y="2423531"/>
            <a:ext cx="5875588" cy="945155"/>
            <a:chOff x="5470854" y="754688"/>
            <a:chExt cx="5875588" cy="945155"/>
          </a:xfrm>
        </p:grpSpPr>
        <p:sp>
          <p:nvSpPr>
            <p:cNvPr id="5" name="Rectangle 4">
              <a:extLst>
                <a:ext uri="{FF2B5EF4-FFF2-40B4-BE49-F238E27FC236}">
                  <a16:creationId xmlns:a16="http://schemas.microsoft.com/office/drawing/2014/main" id="{B82E85FD-4B9F-2A0B-306D-32BA73343EB3}"/>
                </a:ext>
              </a:extLst>
            </p:cNvPr>
            <p:cNvSpPr/>
            <p:nvPr/>
          </p:nvSpPr>
          <p:spPr>
            <a:xfrm>
              <a:off x="5470854" y="754688"/>
              <a:ext cx="533400" cy="5334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6" name="Rectangle 5">
              <a:extLst>
                <a:ext uri="{FF2B5EF4-FFF2-40B4-BE49-F238E27FC236}">
                  <a16:creationId xmlns:a16="http://schemas.microsoft.com/office/drawing/2014/main" id="{633CD6EB-1593-D211-04E7-2CDD96133A79}"/>
                </a:ext>
              </a:extLst>
            </p:cNvPr>
            <p:cNvSpPr/>
            <p:nvPr/>
          </p:nvSpPr>
          <p:spPr>
            <a:xfrm>
              <a:off x="6004254" y="754688"/>
              <a:ext cx="533400" cy="5334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7" name="Rectangle 6">
              <a:extLst>
                <a:ext uri="{FF2B5EF4-FFF2-40B4-BE49-F238E27FC236}">
                  <a16:creationId xmlns:a16="http://schemas.microsoft.com/office/drawing/2014/main" id="{D6A20C82-14BA-14B7-33D2-B02F05244D80}"/>
                </a:ext>
              </a:extLst>
            </p:cNvPr>
            <p:cNvSpPr/>
            <p:nvPr/>
          </p:nvSpPr>
          <p:spPr>
            <a:xfrm>
              <a:off x="6538223" y="754688"/>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8" name="Rectangle 7">
              <a:extLst>
                <a:ext uri="{FF2B5EF4-FFF2-40B4-BE49-F238E27FC236}">
                  <a16:creationId xmlns:a16="http://schemas.microsoft.com/office/drawing/2014/main" id="{56678D84-16F3-310C-AADC-7A181CCDF23C}"/>
                </a:ext>
              </a:extLst>
            </p:cNvPr>
            <p:cNvSpPr/>
            <p:nvPr/>
          </p:nvSpPr>
          <p:spPr>
            <a:xfrm>
              <a:off x="7071623" y="754688"/>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10</a:t>
              </a:r>
            </a:p>
          </p:txBody>
        </p:sp>
        <p:sp>
          <p:nvSpPr>
            <p:cNvPr id="9" name="Rectangle 8">
              <a:extLst>
                <a:ext uri="{FF2B5EF4-FFF2-40B4-BE49-F238E27FC236}">
                  <a16:creationId xmlns:a16="http://schemas.microsoft.com/office/drawing/2014/main" id="{5BBF6A4D-F237-D175-3581-18514FECFB50}"/>
                </a:ext>
              </a:extLst>
            </p:cNvPr>
            <p:cNvSpPr/>
            <p:nvPr/>
          </p:nvSpPr>
          <p:spPr>
            <a:xfrm>
              <a:off x="7605023" y="754688"/>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10" name="Rectangle 9">
              <a:extLst>
                <a:ext uri="{FF2B5EF4-FFF2-40B4-BE49-F238E27FC236}">
                  <a16:creationId xmlns:a16="http://schemas.microsoft.com/office/drawing/2014/main" id="{5EA7CA55-613D-E569-F87A-36A82B8A4197}"/>
                </a:ext>
              </a:extLst>
            </p:cNvPr>
            <p:cNvSpPr/>
            <p:nvPr/>
          </p:nvSpPr>
          <p:spPr>
            <a:xfrm>
              <a:off x="8138992" y="754688"/>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15</a:t>
              </a:r>
            </a:p>
          </p:txBody>
        </p:sp>
        <p:sp>
          <p:nvSpPr>
            <p:cNvPr id="11" name="Rectangle 10">
              <a:extLst>
                <a:ext uri="{FF2B5EF4-FFF2-40B4-BE49-F238E27FC236}">
                  <a16:creationId xmlns:a16="http://schemas.microsoft.com/office/drawing/2014/main" id="{C4DBAC75-85FF-A5C5-3308-0652E69855B9}"/>
                </a:ext>
              </a:extLst>
            </p:cNvPr>
            <p:cNvSpPr/>
            <p:nvPr/>
          </p:nvSpPr>
          <p:spPr>
            <a:xfrm>
              <a:off x="8672392" y="754688"/>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12" name="Rectangle 11">
              <a:extLst>
                <a:ext uri="{FF2B5EF4-FFF2-40B4-BE49-F238E27FC236}">
                  <a16:creationId xmlns:a16="http://schemas.microsoft.com/office/drawing/2014/main" id="{1AC49C1D-E65A-E283-D242-407C87FCEAD3}"/>
                </a:ext>
              </a:extLst>
            </p:cNvPr>
            <p:cNvSpPr/>
            <p:nvPr/>
          </p:nvSpPr>
          <p:spPr>
            <a:xfrm>
              <a:off x="9205792" y="754688"/>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13" name="Rectangle 12">
              <a:extLst>
                <a:ext uri="{FF2B5EF4-FFF2-40B4-BE49-F238E27FC236}">
                  <a16:creationId xmlns:a16="http://schemas.microsoft.com/office/drawing/2014/main" id="{2F643AEB-4040-07BB-03F1-A04A08EE1D6F}"/>
                </a:ext>
              </a:extLst>
            </p:cNvPr>
            <p:cNvSpPr/>
            <p:nvPr/>
          </p:nvSpPr>
          <p:spPr>
            <a:xfrm>
              <a:off x="9739761" y="754688"/>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14</a:t>
              </a:r>
            </a:p>
          </p:txBody>
        </p:sp>
        <p:sp>
          <p:nvSpPr>
            <p:cNvPr id="14" name="Rectangle 13">
              <a:extLst>
                <a:ext uri="{FF2B5EF4-FFF2-40B4-BE49-F238E27FC236}">
                  <a16:creationId xmlns:a16="http://schemas.microsoft.com/office/drawing/2014/main" id="{A8FEEA45-B71F-DF2F-C447-4203F387203B}"/>
                </a:ext>
              </a:extLst>
            </p:cNvPr>
            <p:cNvSpPr/>
            <p:nvPr/>
          </p:nvSpPr>
          <p:spPr>
            <a:xfrm>
              <a:off x="10273161" y="754688"/>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15" name="TextBox 14">
              <a:extLst>
                <a:ext uri="{FF2B5EF4-FFF2-40B4-BE49-F238E27FC236}">
                  <a16:creationId xmlns:a16="http://schemas.microsoft.com/office/drawing/2014/main" id="{EA6253EB-D23C-949B-D5E8-FECD830DEDBA}"/>
                </a:ext>
              </a:extLst>
            </p:cNvPr>
            <p:cNvSpPr txBox="1"/>
            <p:nvPr/>
          </p:nvSpPr>
          <p:spPr>
            <a:xfrm>
              <a:off x="5586710" y="1328081"/>
              <a:ext cx="301686" cy="369332"/>
            </a:xfrm>
            <a:prstGeom prst="rect">
              <a:avLst/>
            </a:prstGeom>
            <a:noFill/>
          </p:spPr>
          <p:txBody>
            <a:bodyPr wrap="none" rtlCol="0">
              <a:spAutoFit/>
            </a:bodyPr>
            <a:lstStyle/>
            <a:p>
              <a:r>
                <a:rPr lang="en-US" dirty="0">
                  <a:solidFill>
                    <a:srgbClr val="FF33CC"/>
                  </a:solidFill>
                </a:rPr>
                <a:t>0</a:t>
              </a:r>
            </a:p>
          </p:txBody>
        </p:sp>
        <p:sp>
          <p:nvSpPr>
            <p:cNvPr id="16" name="TextBox 15">
              <a:extLst>
                <a:ext uri="{FF2B5EF4-FFF2-40B4-BE49-F238E27FC236}">
                  <a16:creationId xmlns:a16="http://schemas.microsoft.com/office/drawing/2014/main" id="{C8F8A93E-79B2-8F25-0DCC-1F3278F661BB}"/>
                </a:ext>
              </a:extLst>
            </p:cNvPr>
            <p:cNvSpPr txBox="1"/>
            <p:nvPr/>
          </p:nvSpPr>
          <p:spPr>
            <a:xfrm>
              <a:off x="6120110" y="1328081"/>
              <a:ext cx="301686" cy="369332"/>
            </a:xfrm>
            <a:prstGeom prst="rect">
              <a:avLst/>
            </a:prstGeom>
            <a:noFill/>
          </p:spPr>
          <p:txBody>
            <a:bodyPr wrap="none" rtlCol="0">
              <a:spAutoFit/>
            </a:bodyPr>
            <a:lstStyle/>
            <a:p>
              <a:r>
                <a:rPr lang="en-US" dirty="0">
                  <a:solidFill>
                    <a:srgbClr val="FF33CC"/>
                  </a:solidFill>
                </a:rPr>
                <a:t>1</a:t>
              </a:r>
            </a:p>
          </p:txBody>
        </p:sp>
        <p:sp>
          <p:nvSpPr>
            <p:cNvPr id="17" name="TextBox 16">
              <a:extLst>
                <a:ext uri="{FF2B5EF4-FFF2-40B4-BE49-F238E27FC236}">
                  <a16:creationId xmlns:a16="http://schemas.microsoft.com/office/drawing/2014/main" id="{82E633D5-64EB-6BAD-3A62-C08FF0C32E94}"/>
                </a:ext>
              </a:extLst>
            </p:cNvPr>
            <p:cNvSpPr txBox="1"/>
            <p:nvPr/>
          </p:nvSpPr>
          <p:spPr>
            <a:xfrm>
              <a:off x="6654079" y="1328081"/>
              <a:ext cx="301686" cy="369332"/>
            </a:xfrm>
            <a:prstGeom prst="rect">
              <a:avLst/>
            </a:prstGeom>
            <a:noFill/>
          </p:spPr>
          <p:txBody>
            <a:bodyPr wrap="none" rtlCol="0">
              <a:spAutoFit/>
            </a:bodyPr>
            <a:lstStyle/>
            <a:p>
              <a:r>
                <a:rPr lang="en-US" dirty="0">
                  <a:solidFill>
                    <a:srgbClr val="FF33CC"/>
                  </a:solidFill>
                </a:rPr>
                <a:t>2</a:t>
              </a:r>
            </a:p>
          </p:txBody>
        </p:sp>
        <p:sp>
          <p:nvSpPr>
            <p:cNvPr id="18" name="TextBox 17">
              <a:extLst>
                <a:ext uri="{FF2B5EF4-FFF2-40B4-BE49-F238E27FC236}">
                  <a16:creationId xmlns:a16="http://schemas.microsoft.com/office/drawing/2014/main" id="{94AC8395-5F6E-19CD-15DE-29D1887AD4A5}"/>
                </a:ext>
              </a:extLst>
            </p:cNvPr>
            <p:cNvSpPr txBox="1"/>
            <p:nvPr/>
          </p:nvSpPr>
          <p:spPr>
            <a:xfrm>
              <a:off x="7187479" y="1328081"/>
              <a:ext cx="301686" cy="369332"/>
            </a:xfrm>
            <a:prstGeom prst="rect">
              <a:avLst/>
            </a:prstGeom>
            <a:noFill/>
          </p:spPr>
          <p:txBody>
            <a:bodyPr wrap="none" rtlCol="0">
              <a:spAutoFit/>
            </a:bodyPr>
            <a:lstStyle/>
            <a:p>
              <a:r>
                <a:rPr lang="en-US" dirty="0">
                  <a:solidFill>
                    <a:srgbClr val="FF33CC"/>
                  </a:solidFill>
                </a:rPr>
                <a:t>3</a:t>
              </a:r>
            </a:p>
          </p:txBody>
        </p:sp>
        <p:sp>
          <p:nvSpPr>
            <p:cNvPr id="19" name="TextBox 18">
              <a:extLst>
                <a:ext uri="{FF2B5EF4-FFF2-40B4-BE49-F238E27FC236}">
                  <a16:creationId xmlns:a16="http://schemas.microsoft.com/office/drawing/2014/main" id="{419110CD-D76E-CFDF-A6D5-AB20E69C641D}"/>
                </a:ext>
              </a:extLst>
            </p:cNvPr>
            <p:cNvSpPr txBox="1"/>
            <p:nvPr/>
          </p:nvSpPr>
          <p:spPr>
            <a:xfrm>
              <a:off x="7718467" y="1328081"/>
              <a:ext cx="301686" cy="369332"/>
            </a:xfrm>
            <a:prstGeom prst="rect">
              <a:avLst/>
            </a:prstGeom>
            <a:noFill/>
          </p:spPr>
          <p:txBody>
            <a:bodyPr wrap="none" rtlCol="0">
              <a:spAutoFit/>
            </a:bodyPr>
            <a:lstStyle/>
            <a:p>
              <a:r>
                <a:rPr lang="en-US" dirty="0">
                  <a:solidFill>
                    <a:srgbClr val="FF33CC"/>
                  </a:solidFill>
                </a:rPr>
                <a:t>4</a:t>
              </a:r>
            </a:p>
          </p:txBody>
        </p:sp>
        <p:sp>
          <p:nvSpPr>
            <p:cNvPr id="20" name="TextBox 19">
              <a:extLst>
                <a:ext uri="{FF2B5EF4-FFF2-40B4-BE49-F238E27FC236}">
                  <a16:creationId xmlns:a16="http://schemas.microsoft.com/office/drawing/2014/main" id="{DC3B8112-0CF7-5516-F41D-84C801CEBEE1}"/>
                </a:ext>
              </a:extLst>
            </p:cNvPr>
            <p:cNvSpPr txBox="1"/>
            <p:nvPr/>
          </p:nvSpPr>
          <p:spPr>
            <a:xfrm>
              <a:off x="8196497" y="1328081"/>
              <a:ext cx="301686" cy="369332"/>
            </a:xfrm>
            <a:prstGeom prst="rect">
              <a:avLst/>
            </a:prstGeom>
            <a:noFill/>
          </p:spPr>
          <p:txBody>
            <a:bodyPr wrap="none" rtlCol="0">
              <a:spAutoFit/>
            </a:bodyPr>
            <a:lstStyle/>
            <a:p>
              <a:r>
                <a:rPr lang="en-US" dirty="0">
                  <a:solidFill>
                    <a:srgbClr val="FF33CC"/>
                  </a:solidFill>
                </a:rPr>
                <a:t>5</a:t>
              </a:r>
            </a:p>
          </p:txBody>
        </p:sp>
        <p:sp>
          <p:nvSpPr>
            <p:cNvPr id="21" name="TextBox 20">
              <a:extLst>
                <a:ext uri="{FF2B5EF4-FFF2-40B4-BE49-F238E27FC236}">
                  <a16:creationId xmlns:a16="http://schemas.microsoft.com/office/drawing/2014/main" id="{88D6E652-F5FC-4920-F20E-32A2AA0FEAE2}"/>
                </a:ext>
              </a:extLst>
            </p:cNvPr>
            <p:cNvSpPr txBox="1"/>
            <p:nvPr/>
          </p:nvSpPr>
          <p:spPr>
            <a:xfrm>
              <a:off x="8788248" y="1328081"/>
              <a:ext cx="301686" cy="369332"/>
            </a:xfrm>
            <a:prstGeom prst="rect">
              <a:avLst/>
            </a:prstGeom>
            <a:noFill/>
          </p:spPr>
          <p:txBody>
            <a:bodyPr wrap="none" rtlCol="0">
              <a:spAutoFit/>
            </a:bodyPr>
            <a:lstStyle/>
            <a:p>
              <a:r>
                <a:rPr lang="en-US" dirty="0">
                  <a:solidFill>
                    <a:srgbClr val="FF33CC"/>
                  </a:solidFill>
                </a:rPr>
                <a:t>6</a:t>
              </a:r>
            </a:p>
          </p:txBody>
        </p:sp>
        <p:sp>
          <p:nvSpPr>
            <p:cNvPr id="22" name="TextBox 21">
              <a:extLst>
                <a:ext uri="{FF2B5EF4-FFF2-40B4-BE49-F238E27FC236}">
                  <a16:creationId xmlns:a16="http://schemas.microsoft.com/office/drawing/2014/main" id="{819347C4-D38D-06D5-33DF-2A348A5382FE}"/>
                </a:ext>
              </a:extLst>
            </p:cNvPr>
            <p:cNvSpPr txBox="1"/>
            <p:nvPr/>
          </p:nvSpPr>
          <p:spPr>
            <a:xfrm>
              <a:off x="9321648" y="1328081"/>
              <a:ext cx="301686" cy="369332"/>
            </a:xfrm>
            <a:prstGeom prst="rect">
              <a:avLst/>
            </a:prstGeom>
            <a:noFill/>
          </p:spPr>
          <p:txBody>
            <a:bodyPr wrap="none" rtlCol="0">
              <a:spAutoFit/>
            </a:bodyPr>
            <a:lstStyle/>
            <a:p>
              <a:r>
                <a:rPr lang="en-US" dirty="0">
                  <a:solidFill>
                    <a:srgbClr val="FF33CC"/>
                  </a:solidFill>
                </a:rPr>
                <a:t>7</a:t>
              </a:r>
            </a:p>
          </p:txBody>
        </p:sp>
        <p:sp>
          <p:nvSpPr>
            <p:cNvPr id="23" name="TextBox 22">
              <a:extLst>
                <a:ext uri="{FF2B5EF4-FFF2-40B4-BE49-F238E27FC236}">
                  <a16:creationId xmlns:a16="http://schemas.microsoft.com/office/drawing/2014/main" id="{360923D4-A058-7D06-904A-8CC0ECE807D7}"/>
                </a:ext>
              </a:extLst>
            </p:cNvPr>
            <p:cNvSpPr txBox="1"/>
            <p:nvPr/>
          </p:nvSpPr>
          <p:spPr>
            <a:xfrm>
              <a:off x="9855617" y="1328081"/>
              <a:ext cx="301686" cy="369332"/>
            </a:xfrm>
            <a:prstGeom prst="rect">
              <a:avLst/>
            </a:prstGeom>
            <a:noFill/>
          </p:spPr>
          <p:txBody>
            <a:bodyPr wrap="none" rtlCol="0">
              <a:spAutoFit/>
            </a:bodyPr>
            <a:lstStyle/>
            <a:p>
              <a:r>
                <a:rPr lang="en-US" dirty="0">
                  <a:solidFill>
                    <a:srgbClr val="FF33CC"/>
                  </a:solidFill>
                </a:rPr>
                <a:t>8</a:t>
              </a:r>
            </a:p>
          </p:txBody>
        </p:sp>
        <p:sp>
          <p:nvSpPr>
            <p:cNvPr id="24" name="TextBox 23">
              <a:extLst>
                <a:ext uri="{FF2B5EF4-FFF2-40B4-BE49-F238E27FC236}">
                  <a16:creationId xmlns:a16="http://schemas.microsoft.com/office/drawing/2014/main" id="{90CFED6D-86F5-D958-E923-2CC18DA518C3}"/>
                </a:ext>
              </a:extLst>
            </p:cNvPr>
            <p:cNvSpPr txBox="1"/>
            <p:nvPr/>
          </p:nvSpPr>
          <p:spPr>
            <a:xfrm>
              <a:off x="10389017" y="1328081"/>
              <a:ext cx="301686" cy="369332"/>
            </a:xfrm>
            <a:prstGeom prst="rect">
              <a:avLst/>
            </a:prstGeom>
            <a:noFill/>
          </p:spPr>
          <p:txBody>
            <a:bodyPr wrap="none" rtlCol="0">
              <a:spAutoFit/>
            </a:bodyPr>
            <a:lstStyle/>
            <a:p>
              <a:r>
                <a:rPr lang="en-US" dirty="0">
                  <a:solidFill>
                    <a:srgbClr val="FF33CC"/>
                  </a:solidFill>
                </a:rPr>
                <a:t>9</a:t>
              </a:r>
            </a:p>
          </p:txBody>
        </p:sp>
        <p:sp>
          <p:nvSpPr>
            <p:cNvPr id="25" name="Rectangle 24">
              <a:extLst>
                <a:ext uri="{FF2B5EF4-FFF2-40B4-BE49-F238E27FC236}">
                  <a16:creationId xmlns:a16="http://schemas.microsoft.com/office/drawing/2014/main" id="{2FC2E6EC-062F-A161-9D0A-D10BDBA2450A}"/>
                </a:ext>
              </a:extLst>
            </p:cNvPr>
            <p:cNvSpPr/>
            <p:nvPr/>
          </p:nvSpPr>
          <p:spPr>
            <a:xfrm>
              <a:off x="10813042" y="754688"/>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26" name="TextBox 25">
              <a:extLst>
                <a:ext uri="{FF2B5EF4-FFF2-40B4-BE49-F238E27FC236}">
                  <a16:creationId xmlns:a16="http://schemas.microsoft.com/office/drawing/2014/main" id="{85E124AE-511C-1167-F084-AF9166C40BF1}"/>
                </a:ext>
              </a:extLst>
            </p:cNvPr>
            <p:cNvSpPr txBox="1"/>
            <p:nvPr/>
          </p:nvSpPr>
          <p:spPr>
            <a:xfrm>
              <a:off x="10870777" y="1330511"/>
              <a:ext cx="418704" cy="369332"/>
            </a:xfrm>
            <a:prstGeom prst="rect">
              <a:avLst/>
            </a:prstGeom>
            <a:noFill/>
          </p:spPr>
          <p:txBody>
            <a:bodyPr wrap="none" rtlCol="0">
              <a:spAutoFit/>
            </a:bodyPr>
            <a:lstStyle/>
            <a:p>
              <a:r>
                <a:rPr lang="en-US" dirty="0">
                  <a:solidFill>
                    <a:srgbClr val="FF33CC"/>
                  </a:solidFill>
                </a:rPr>
                <a:t>10</a:t>
              </a:r>
            </a:p>
          </p:txBody>
        </p:sp>
      </p:grpSp>
      <p:grpSp>
        <p:nvGrpSpPr>
          <p:cNvPr id="61" name="Group 60" descr="The heap that the array implicitly represents. This tree itself follows the shape property of the heap because the proper indices are occupied in the array. The tree does satisfy the heap property, because the items are in an arbitrary order in the array. Our goal is to move values around so that the heap property holds.&#10;&#10;The binary tree has 10 nodes and therefore 4 levels. The last level has 3 nodes in it. The nodes are as follows:&#10;&#10;- The root node is 5&#10;- the left child of 5 is 6, the right child is 10&#10;- the left child of 6 is 3, the right child is 15&#10;- the left child of 10 is 8, the right child is 7&#10;- the left child of 3 is 14, the right child is 2&#10;- the left child of 15 is 1, it has no right child&#10;- nodes 8, 7, 14, 2, and 1 are all leaves&#10;&#10;We highlight all nodes that violate the heap property (meaning they are larger than at least one child). Those nodes are: 6, 10, 3, and 15">
            <a:extLst>
              <a:ext uri="{FF2B5EF4-FFF2-40B4-BE49-F238E27FC236}">
                <a16:creationId xmlns:a16="http://schemas.microsoft.com/office/drawing/2014/main" id="{863756C4-FFEE-45CE-C290-81DC657DB3F1}"/>
              </a:ext>
            </a:extLst>
          </p:cNvPr>
          <p:cNvGrpSpPr/>
          <p:nvPr/>
        </p:nvGrpSpPr>
        <p:grpSpPr>
          <a:xfrm>
            <a:off x="201742" y="2956422"/>
            <a:ext cx="6934200" cy="3661882"/>
            <a:chOff x="201742" y="2956422"/>
            <a:chExt cx="6934200" cy="3661882"/>
          </a:xfrm>
        </p:grpSpPr>
        <p:grpSp>
          <p:nvGrpSpPr>
            <p:cNvPr id="27" name="Group 26">
              <a:extLst>
                <a:ext uri="{FF2B5EF4-FFF2-40B4-BE49-F238E27FC236}">
                  <a16:creationId xmlns:a16="http://schemas.microsoft.com/office/drawing/2014/main" id="{B87E5112-EE0A-A568-FB0C-800B49EAA828}"/>
                </a:ext>
              </a:extLst>
            </p:cNvPr>
            <p:cNvGrpSpPr/>
            <p:nvPr/>
          </p:nvGrpSpPr>
          <p:grpSpPr>
            <a:xfrm>
              <a:off x="201742" y="2956422"/>
              <a:ext cx="6934200" cy="3661882"/>
              <a:chOff x="2590801" y="2672070"/>
              <a:chExt cx="6934200" cy="3661882"/>
            </a:xfrm>
          </p:grpSpPr>
          <p:sp>
            <p:nvSpPr>
              <p:cNvPr id="28" name="Oval 27">
                <a:extLst>
                  <a:ext uri="{FF2B5EF4-FFF2-40B4-BE49-F238E27FC236}">
                    <a16:creationId xmlns:a16="http://schemas.microsoft.com/office/drawing/2014/main" id="{3A30E535-E151-7B10-2482-D4C18A271CB8}"/>
                  </a:ext>
                </a:extLst>
              </p:cNvPr>
              <p:cNvSpPr/>
              <p:nvPr/>
            </p:nvSpPr>
            <p:spPr>
              <a:xfrm>
                <a:off x="5996855" y="2672070"/>
                <a:ext cx="688077" cy="688077"/>
              </a:xfrm>
              <a:prstGeom prst="ellipse">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5</a:t>
                </a:r>
              </a:p>
            </p:txBody>
          </p:sp>
          <p:sp>
            <p:nvSpPr>
              <p:cNvPr id="29" name="Oval 28">
                <a:extLst>
                  <a:ext uri="{FF2B5EF4-FFF2-40B4-BE49-F238E27FC236}">
                    <a16:creationId xmlns:a16="http://schemas.microsoft.com/office/drawing/2014/main" id="{316155D8-6880-CAC9-337D-0F3B5F0C2BBB}"/>
                  </a:ext>
                </a:extLst>
              </p:cNvPr>
              <p:cNvSpPr/>
              <p:nvPr/>
            </p:nvSpPr>
            <p:spPr>
              <a:xfrm>
                <a:off x="4191001" y="3682289"/>
                <a:ext cx="688077" cy="688077"/>
              </a:xfrm>
              <a:prstGeom prst="ellipse">
                <a:avLst/>
              </a:prstGeom>
              <a:solidFill>
                <a:schemeClr val="accent2">
                  <a:lumMod val="40000"/>
                  <a:lumOff val="60000"/>
                </a:schemeClr>
              </a:solid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940000"/>
                    </a:solidFill>
                  </a:rPr>
                  <a:t>6</a:t>
                </a:r>
              </a:p>
            </p:txBody>
          </p:sp>
          <p:sp>
            <p:nvSpPr>
              <p:cNvPr id="30" name="Oval 29">
                <a:extLst>
                  <a:ext uri="{FF2B5EF4-FFF2-40B4-BE49-F238E27FC236}">
                    <a16:creationId xmlns:a16="http://schemas.microsoft.com/office/drawing/2014/main" id="{63701FD1-D85F-35B3-CE7C-6CFF8DCBAC09}"/>
                  </a:ext>
                </a:extLst>
              </p:cNvPr>
              <p:cNvSpPr/>
              <p:nvPr/>
            </p:nvSpPr>
            <p:spPr>
              <a:xfrm>
                <a:off x="7858499" y="3653913"/>
                <a:ext cx="688077" cy="688077"/>
              </a:xfrm>
              <a:prstGeom prst="ellipse">
                <a:avLst/>
              </a:prstGeom>
              <a:solidFill>
                <a:schemeClr val="accent2">
                  <a:lumMod val="40000"/>
                  <a:lumOff val="60000"/>
                </a:schemeClr>
              </a:solid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940000"/>
                    </a:solidFill>
                  </a:rPr>
                  <a:t>10</a:t>
                </a:r>
              </a:p>
            </p:txBody>
          </p:sp>
          <p:sp>
            <p:nvSpPr>
              <p:cNvPr id="31" name="Oval 30">
                <a:extLst>
                  <a:ext uri="{FF2B5EF4-FFF2-40B4-BE49-F238E27FC236}">
                    <a16:creationId xmlns:a16="http://schemas.microsoft.com/office/drawing/2014/main" id="{03A6BB66-2DDC-8C2E-6AB0-DA31FC02453E}"/>
                  </a:ext>
                </a:extLst>
              </p:cNvPr>
              <p:cNvSpPr/>
              <p:nvPr/>
            </p:nvSpPr>
            <p:spPr>
              <a:xfrm>
                <a:off x="3200401" y="4383504"/>
                <a:ext cx="688077" cy="688077"/>
              </a:xfrm>
              <a:prstGeom prst="ellipse">
                <a:avLst/>
              </a:prstGeom>
              <a:solidFill>
                <a:schemeClr val="accent2">
                  <a:lumMod val="40000"/>
                  <a:lumOff val="60000"/>
                </a:schemeClr>
              </a:solid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940000"/>
                    </a:solidFill>
                  </a:rPr>
                  <a:t>3</a:t>
                </a:r>
              </a:p>
            </p:txBody>
          </p:sp>
          <p:sp>
            <p:nvSpPr>
              <p:cNvPr id="32" name="Oval 31">
                <a:extLst>
                  <a:ext uri="{FF2B5EF4-FFF2-40B4-BE49-F238E27FC236}">
                    <a16:creationId xmlns:a16="http://schemas.microsoft.com/office/drawing/2014/main" id="{E219BA91-50E2-9B4F-817E-664706C652CC}"/>
                  </a:ext>
                </a:extLst>
              </p:cNvPr>
              <p:cNvSpPr/>
              <p:nvPr/>
            </p:nvSpPr>
            <p:spPr>
              <a:xfrm>
                <a:off x="5211206" y="4425368"/>
                <a:ext cx="688077" cy="688077"/>
              </a:xfrm>
              <a:prstGeom prst="ellipse">
                <a:avLst/>
              </a:prstGeom>
              <a:solidFill>
                <a:schemeClr val="accent2">
                  <a:lumMod val="40000"/>
                  <a:lumOff val="60000"/>
                </a:schemeClr>
              </a:solid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940000"/>
                    </a:solidFill>
                  </a:rPr>
                  <a:t>15</a:t>
                </a:r>
              </a:p>
            </p:txBody>
          </p:sp>
          <p:sp>
            <p:nvSpPr>
              <p:cNvPr id="33" name="Oval 32">
                <a:extLst>
                  <a:ext uri="{FF2B5EF4-FFF2-40B4-BE49-F238E27FC236}">
                    <a16:creationId xmlns:a16="http://schemas.microsoft.com/office/drawing/2014/main" id="{C3B38612-C965-1385-57E2-DB495D63D40C}"/>
                  </a:ext>
                </a:extLst>
              </p:cNvPr>
              <p:cNvSpPr/>
              <p:nvPr/>
            </p:nvSpPr>
            <p:spPr>
              <a:xfrm>
                <a:off x="6934201" y="4341990"/>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34" name="Oval 33">
                <a:extLst>
                  <a:ext uri="{FF2B5EF4-FFF2-40B4-BE49-F238E27FC236}">
                    <a16:creationId xmlns:a16="http://schemas.microsoft.com/office/drawing/2014/main" id="{C32BE3EF-F957-D7BD-78A2-BE2188A515E4}"/>
                  </a:ext>
                </a:extLst>
              </p:cNvPr>
              <p:cNvSpPr/>
              <p:nvPr/>
            </p:nvSpPr>
            <p:spPr>
              <a:xfrm>
                <a:off x="8836924" y="4341990"/>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35" name="Oval 34">
                <a:extLst>
                  <a:ext uri="{FF2B5EF4-FFF2-40B4-BE49-F238E27FC236}">
                    <a16:creationId xmlns:a16="http://schemas.microsoft.com/office/drawing/2014/main" id="{67A0923A-D958-A1BA-1015-3E54B06E39E1}"/>
                  </a:ext>
                </a:extLst>
              </p:cNvPr>
              <p:cNvSpPr/>
              <p:nvPr/>
            </p:nvSpPr>
            <p:spPr>
              <a:xfrm>
                <a:off x="2590801" y="5352744"/>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14</a:t>
                </a:r>
              </a:p>
            </p:txBody>
          </p:sp>
          <p:sp>
            <p:nvSpPr>
              <p:cNvPr id="36" name="Oval 35">
                <a:extLst>
                  <a:ext uri="{FF2B5EF4-FFF2-40B4-BE49-F238E27FC236}">
                    <a16:creationId xmlns:a16="http://schemas.microsoft.com/office/drawing/2014/main" id="{2B9709BB-64D4-3FBE-7884-D1B0484114A6}"/>
                  </a:ext>
                </a:extLst>
              </p:cNvPr>
              <p:cNvSpPr/>
              <p:nvPr/>
            </p:nvSpPr>
            <p:spPr>
              <a:xfrm>
                <a:off x="3733801" y="5352744"/>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cxnSp>
            <p:nvCxnSpPr>
              <p:cNvPr id="37" name="Straight Connector 36">
                <a:extLst>
                  <a:ext uri="{FF2B5EF4-FFF2-40B4-BE49-F238E27FC236}">
                    <a16:creationId xmlns:a16="http://schemas.microsoft.com/office/drawing/2014/main" id="{8A089308-EAB4-3DF6-2168-FA9078D82274}"/>
                  </a:ext>
                </a:extLst>
              </p:cNvPr>
              <p:cNvCxnSpPr>
                <a:cxnSpLocks/>
                <a:stCxn id="28" idx="3"/>
                <a:endCxn id="29" idx="7"/>
              </p:cNvCxnSpPr>
              <p:nvPr/>
            </p:nvCxnSpPr>
            <p:spPr>
              <a:xfrm flipH="1">
                <a:off x="4778311" y="3259380"/>
                <a:ext cx="1319311" cy="52367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483BDF66-84DB-ABCB-4020-11642646E088}"/>
                  </a:ext>
                </a:extLst>
              </p:cNvPr>
              <p:cNvCxnSpPr>
                <a:cxnSpLocks/>
                <a:stCxn id="28" idx="5"/>
                <a:endCxn id="30" idx="1"/>
              </p:cNvCxnSpPr>
              <p:nvPr/>
            </p:nvCxnSpPr>
            <p:spPr>
              <a:xfrm>
                <a:off x="6584165" y="3259380"/>
                <a:ext cx="1375101" cy="4953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C220F70A-FDDC-7762-B33A-06720ADD3AF7}"/>
                  </a:ext>
                </a:extLst>
              </p:cNvPr>
              <p:cNvCxnSpPr>
                <a:stCxn id="32" idx="1"/>
                <a:endCxn id="29" idx="5"/>
              </p:cNvCxnSpPr>
              <p:nvPr/>
            </p:nvCxnSpPr>
            <p:spPr>
              <a:xfrm flipH="1" flipV="1">
                <a:off x="4778310" y="4269598"/>
                <a:ext cx="533662" cy="25653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E56022E8-594C-5224-728B-F2FC6AA874BE}"/>
                  </a:ext>
                </a:extLst>
              </p:cNvPr>
              <p:cNvCxnSpPr>
                <a:stCxn id="31" idx="7"/>
                <a:endCxn id="29" idx="3"/>
              </p:cNvCxnSpPr>
              <p:nvPr/>
            </p:nvCxnSpPr>
            <p:spPr>
              <a:xfrm flipV="1">
                <a:off x="3787711" y="4269598"/>
                <a:ext cx="504057" cy="21467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F3D94FFD-BC02-5F5A-FF9E-9C49B907172F}"/>
                  </a:ext>
                </a:extLst>
              </p:cNvPr>
              <p:cNvCxnSpPr>
                <a:stCxn id="36" idx="0"/>
                <a:endCxn id="31" idx="5"/>
              </p:cNvCxnSpPr>
              <p:nvPr/>
            </p:nvCxnSpPr>
            <p:spPr>
              <a:xfrm flipH="1" flipV="1">
                <a:off x="3787711" y="4970813"/>
                <a:ext cx="290129" cy="38193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65735856-C128-C713-C639-DB1757598AE1}"/>
                  </a:ext>
                </a:extLst>
              </p:cNvPr>
              <p:cNvCxnSpPr>
                <a:stCxn id="35" idx="0"/>
                <a:endCxn id="31" idx="3"/>
              </p:cNvCxnSpPr>
              <p:nvPr/>
            </p:nvCxnSpPr>
            <p:spPr>
              <a:xfrm flipV="1">
                <a:off x="2934839" y="4970813"/>
                <a:ext cx="366328" cy="38193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A8E5DDDC-1F60-E1BD-ED97-8C6BDFE31483}"/>
                  </a:ext>
                </a:extLst>
              </p:cNvPr>
              <p:cNvCxnSpPr>
                <a:stCxn id="33" idx="7"/>
                <a:endCxn id="30" idx="3"/>
              </p:cNvCxnSpPr>
              <p:nvPr/>
            </p:nvCxnSpPr>
            <p:spPr>
              <a:xfrm flipV="1">
                <a:off x="7521511" y="4241222"/>
                <a:ext cx="437755" cy="20153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202118E8-FE37-1B94-60E7-FF8DC87A02DF}"/>
                  </a:ext>
                </a:extLst>
              </p:cNvPr>
              <p:cNvCxnSpPr>
                <a:stCxn id="34" idx="1"/>
                <a:endCxn id="30" idx="5"/>
              </p:cNvCxnSpPr>
              <p:nvPr/>
            </p:nvCxnSpPr>
            <p:spPr>
              <a:xfrm flipH="1" flipV="1">
                <a:off x="8445808" y="4241222"/>
                <a:ext cx="491882" cy="20153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45" name="TextBox 44">
                <a:extLst>
                  <a:ext uri="{FF2B5EF4-FFF2-40B4-BE49-F238E27FC236}">
                    <a16:creationId xmlns:a16="http://schemas.microsoft.com/office/drawing/2014/main" id="{A3F51C00-7BE4-C71B-CEC9-78F3E393B278}"/>
                  </a:ext>
                </a:extLst>
              </p:cNvPr>
              <p:cNvSpPr txBox="1"/>
              <p:nvPr/>
            </p:nvSpPr>
            <p:spPr>
              <a:xfrm>
                <a:off x="6190049" y="3371296"/>
                <a:ext cx="301686" cy="369332"/>
              </a:xfrm>
              <a:prstGeom prst="rect">
                <a:avLst/>
              </a:prstGeom>
              <a:noFill/>
            </p:spPr>
            <p:txBody>
              <a:bodyPr wrap="none" rtlCol="0">
                <a:spAutoFit/>
              </a:bodyPr>
              <a:lstStyle/>
              <a:p>
                <a:r>
                  <a:rPr lang="en-US" dirty="0">
                    <a:solidFill>
                      <a:srgbClr val="FF33CC"/>
                    </a:solidFill>
                  </a:rPr>
                  <a:t>1</a:t>
                </a:r>
              </a:p>
            </p:txBody>
          </p:sp>
          <p:sp>
            <p:nvSpPr>
              <p:cNvPr id="46" name="TextBox 45">
                <a:extLst>
                  <a:ext uri="{FF2B5EF4-FFF2-40B4-BE49-F238E27FC236}">
                    <a16:creationId xmlns:a16="http://schemas.microsoft.com/office/drawing/2014/main" id="{CE00191F-101E-453F-E05F-F79326EF7FFB}"/>
                  </a:ext>
                </a:extLst>
              </p:cNvPr>
              <p:cNvSpPr txBox="1"/>
              <p:nvPr/>
            </p:nvSpPr>
            <p:spPr>
              <a:xfrm>
                <a:off x="4384195" y="4377091"/>
                <a:ext cx="301686" cy="369332"/>
              </a:xfrm>
              <a:prstGeom prst="rect">
                <a:avLst/>
              </a:prstGeom>
              <a:noFill/>
            </p:spPr>
            <p:txBody>
              <a:bodyPr wrap="none" rtlCol="0">
                <a:spAutoFit/>
              </a:bodyPr>
              <a:lstStyle/>
              <a:p>
                <a:r>
                  <a:rPr lang="en-US" dirty="0">
                    <a:solidFill>
                      <a:srgbClr val="FF33CC"/>
                    </a:solidFill>
                  </a:rPr>
                  <a:t>2</a:t>
                </a:r>
              </a:p>
            </p:txBody>
          </p:sp>
          <p:sp>
            <p:nvSpPr>
              <p:cNvPr id="47" name="TextBox 46">
                <a:extLst>
                  <a:ext uri="{FF2B5EF4-FFF2-40B4-BE49-F238E27FC236}">
                    <a16:creationId xmlns:a16="http://schemas.microsoft.com/office/drawing/2014/main" id="{9B19AC53-E3AB-F92F-CA0A-7EC078433879}"/>
                  </a:ext>
                </a:extLst>
              </p:cNvPr>
              <p:cNvSpPr txBox="1"/>
              <p:nvPr/>
            </p:nvSpPr>
            <p:spPr>
              <a:xfrm>
                <a:off x="8051693" y="4316695"/>
                <a:ext cx="301686" cy="369332"/>
              </a:xfrm>
              <a:prstGeom prst="rect">
                <a:avLst/>
              </a:prstGeom>
              <a:noFill/>
            </p:spPr>
            <p:txBody>
              <a:bodyPr wrap="none" rtlCol="0">
                <a:spAutoFit/>
              </a:bodyPr>
              <a:lstStyle/>
              <a:p>
                <a:r>
                  <a:rPr lang="en-US" dirty="0">
                    <a:solidFill>
                      <a:srgbClr val="FF33CC"/>
                    </a:solidFill>
                  </a:rPr>
                  <a:t>3</a:t>
                </a:r>
              </a:p>
            </p:txBody>
          </p:sp>
          <p:sp>
            <p:nvSpPr>
              <p:cNvPr id="48" name="TextBox 47">
                <a:extLst>
                  <a:ext uri="{FF2B5EF4-FFF2-40B4-BE49-F238E27FC236}">
                    <a16:creationId xmlns:a16="http://schemas.microsoft.com/office/drawing/2014/main" id="{BA690ADD-9D72-5CFC-ABA4-CFD3482C08B4}"/>
                  </a:ext>
                </a:extLst>
              </p:cNvPr>
              <p:cNvSpPr txBox="1"/>
              <p:nvPr/>
            </p:nvSpPr>
            <p:spPr>
              <a:xfrm>
                <a:off x="3352081" y="5071580"/>
                <a:ext cx="301686" cy="369332"/>
              </a:xfrm>
              <a:prstGeom prst="rect">
                <a:avLst/>
              </a:prstGeom>
              <a:noFill/>
            </p:spPr>
            <p:txBody>
              <a:bodyPr wrap="none" rtlCol="0">
                <a:spAutoFit/>
              </a:bodyPr>
              <a:lstStyle/>
              <a:p>
                <a:r>
                  <a:rPr lang="en-US" dirty="0">
                    <a:solidFill>
                      <a:srgbClr val="FF33CC"/>
                    </a:solidFill>
                  </a:rPr>
                  <a:t>4</a:t>
                </a:r>
              </a:p>
            </p:txBody>
          </p:sp>
          <p:sp>
            <p:nvSpPr>
              <p:cNvPr id="49" name="TextBox 48">
                <a:extLst>
                  <a:ext uri="{FF2B5EF4-FFF2-40B4-BE49-F238E27FC236}">
                    <a16:creationId xmlns:a16="http://schemas.microsoft.com/office/drawing/2014/main" id="{525CA634-CACD-54BE-4661-54DEF3A780C5}"/>
                  </a:ext>
                </a:extLst>
              </p:cNvPr>
              <p:cNvSpPr txBox="1"/>
              <p:nvPr/>
            </p:nvSpPr>
            <p:spPr>
              <a:xfrm>
                <a:off x="7122005" y="5012677"/>
                <a:ext cx="301686" cy="369332"/>
              </a:xfrm>
              <a:prstGeom prst="rect">
                <a:avLst/>
              </a:prstGeom>
              <a:noFill/>
            </p:spPr>
            <p:txBody>
              <a:bodyPr wrap="none" rtlCol="0">
                <a:spAutoFit/>
              </a:bodyPr>
              <a:lstStyle/>
              <a:p>
                <a:r>
                  <a:rPr lang="en-US" dirty="0">
                    <a:solidFill>
                      <a:srgbClr val="FF33CC"/>
                    </a:solidFill>
                  </a:rPr>
                  <a:t>6</a:t>
                </a:r>
              </a:p>
            </p:txBody>
          </p:sp>
          <p:sp>
            <p:nvSpPr>
              <p:cNvPr id="50" name="TextBox 49">
                <a:extLst>
                  <a:ext uri="{FF2B5EF4-FFF2-40B4-BE49-F238E27FC236}">
                    <a16:creationId xmlns:a16="http://schemas.microsoft.com/office/drawing/2014/main" id="{ABF6D568-E05C-26F2-EBD8-57839FC7687F}"/>
                  </a:ext>
                </a:extLst>
              </p:cNvPr>
              <p:cNvSpPr txBox="1"/>
              <p:nvPr/>
            </p:nvSpPr>
            <p:spPr>
              <a:xfrm>
                <a:off x="5404400" y="5108902"/>
                <a:ext cx="301686" cy="369332"/>
              </a:xfrm>
              <a:prstGeom prst="rect">
                <a:avLst/>
              </a:prstGeom>
              <a:noFill/>
            </p:spPr>
            <p:txBody>
              <a:bodyPr wrap="none" rtlCol="0">
                <a:spAutoFit/>
              </a:bodyPr>
              <a:lstStyle/>
              <a:p>
                <a:r>
                  <a:rPr lang="en-US" dirty="0">
                    <a:solidFill>
                      <a:srgbClr val="FF33CC"/>
                    </a:solidFill>
                  </a:rPr>
                  <a:t>5</a:t>
                </a:r>
              </a:p>
            </p:txBody>
          </p:sp>
          <p:sp>
            <p:nvSpPr>
              <p:cNvPr id="51" name="TextBox 50">
                <a:extLst>
                  <a:ext uri="{FF2B5EF4-FFF2-40B4-BE49-F238E27FC236}">
                    <a16:creationId xmlns:a16="http://schemas.microsoft.com/office/drawing/2014/main" id="{3E1DFACA-646B-2F3B-1F0D-554B10C6DCB7}"/>
                  </a:ext>
                </a:extLst>
              </p:cNvPr>
              <p:cNvSpPr txBox="1"/>
              <p:nvPr/>
            </p:nvSpPr>
            <p:spPr>
              <a:xfrm>
                <a:off x="9030118" y="5030066"/>
                <a:ext cx="301686" cy="369332"/>
              </a:xfrm>
              <a:prstGeom prst="rect">
                <a:avLst/>
              </a:prstGeom>
              <a:noFill/>
            </p:spPr>
            <p:txBody>
              <a:bodyPr wrap="none" rtlCol="0">
                <a:spAutoFit/>
              </a:bodyPr>
              <a:lstStyle/>
              <a:p>
                <a:r>
                  <a:rPr lang="en-US" dirty="0">
                    <a:solidFill>
                      <a:srgbClr val="FF33CC"/>
                    </a:solidFill>
                  </a:rPr>
                  <a:t>7</a:t>
                </a:r>
              </a:p>
            </p:txBody>
          </p:sp>
          <p:sp>
            <p:nvSpPr>
              <p:cNvPr id="52" name="TextBox 51">
                <a:extLst>
                  <a:ext uri="{FF2B5EF4-FFF2-40B4-BE49-F238E27FC236}">
                    <a16:creationId xmlns:a16="http://schemas.microsoft.com/office/drawing/2014/main" id="{B96EE955-07B4-4EE0-219A-7BF193FD11F3}"/>
                  </a:ext>
                </a:extLst>
              </p:cNvPr>
              <p:cNvSpPr txBox="1"/>
              <p:nvPr/>
            </p:nvSpPr>
            <p:spPr>
              <a:xfrm>
                <a:off x="2783996" y="5964620"/>
                <a:ext cx="301686" cy="369332"/>
              </a:xfrm>
              <a:prstGeom prst="rect">
                <a:avLst/>
              </a:prstGeom>
              <a:noFill/>
            </p:spPr>
            <p:txBody>
              <a:bodyPr wrap="none" rtlCol="0">
                <a:spAutoFit/>
              </a:bodyPr>
              <a:lstStyle/>
              <a:p>
                <a:r>
                  <a:rPr lang="en-US" dirty="0">
                    <a:solidFill>
                      <a:srgbClr val="FF33CC"/>
                    </a:solidFill>
                  </a:rPr>
                  <a:t>8</a:t>
                </a:r>
              </a:p>
            </p:txBody>
          </p:sp>
          <p:sp>
            <p:nvSpPr>
              <p:cNvPr id="53" name="TextBox 52">
                <a:extLst>
                  <a:ext uri="{FF2B5EF4-FFF2-40B4-BE49-F238E27FC236}">
                    <a16:creationId xmlns:a16="http://schemas.microsoft.com/office/drawing/2014/main" id="{6AE0ABF5-B591-93A9-75F6-25B4A6AB23BE}"/>
                  </a:ext>
                </a:extLst>
              </p:cNvPr>
              <p:cNvSpPr txBox="1"/>
              <p:nvPr/>
            </p:nvSpPr>
            <p:spPr>
              <a:xfrm>
                <a:off x="3920467" y="5964620"/>
                <a:ext cx="301686" cy="369332"/>
              </a:xfrm>
              <a:prstGeom prst="rect">
                <a:avLst/>
              </a:prstGeom>
              <a:noFill/>
            </p:spPr>
            <p:txBody>
              <a:bodyPr wrap="none" rtlCol="0">
                <a:spAutoFit/>
              </a:bodyPr>
              <a:lstStyle/>
              <a:p>
                <a:r>
                  <a:rPr lang="en-US" dirty="0">
                    <a:solidFill>
                      <a:srgbClr val="FF33CC"/>
                    </a:solidFill>
                  </a:rPr>
                  <a:t>9</a:t>
                </a:r>
              </a:p>
            </p:txBody>
          </p:sp>
        </p:grpSp>
        <p:sp>
          <p:nvSpPr>
            <p:cNvPr id="54" name="Oval 53">
              <a:extLst>
                <a:ext uri="{FF2B5EF4-FFF2-40B4-BE49-F238E27FC236}">
                  <a16:creationId xmlns:a16="http://schemas.microsoft.com/office/drawing/2014/main" id="{76035EC9-3610-8FDE-B3D0-38593B0EF572}"/>
                </a:ext>
              </a:extLst>
            </p:cNvPr>
            <p:cNvSpPr/>
            <p:nvPr/>
          </p:nvSpPr>
          <p:spPr>
            <a:xfrm>
              <a:off x="2330369" y="5636036"/>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cxnSp>
          <p:nvCxnSpPr>
            <p:cNvPr id="55" name="Straight Connector 54">
              <a:extLst>
                <a:ext uri="{FF2B5EF4-FFF2-40B4-BE49-F238E27FC236}">
                  <a16:creationId xmlns:a16="http://schemas.microsoft.com/office/drawing/2014/main" id="{0001DADF-BD70-7B05-56C0-31B3799F72C0}"/>
                </a:ext>
              </a:extLst>
            </p:cNvPr>
            <p:cNvCxnSpPr>
              <a:cxnSpLocks/>
              <a:stCxn id="54" idx="0"/>
              <a:endCxn id="32" idx="3"/>
            </p:cNvCxnSpPr>
            <p:nvPr/>
          </p:nvCxnSpPr>
          <p:spPr>
            <a:xfrm flipV="1">
              <a:off x="2674408" y="5297030"/>
              <a:ext cx="248506" cy="33900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59" name="TextBox 58">
              <a:extLst>
                <a:ext uri="{FF2B5EF4-FFF2-40B4-BE49-F238E27FC236}">
                  <a16:creationId xmlns:a16="http://schemas.microsoft.com/office/drawing/2014/main" id="{04CC9DA3-E3B4-4532-1F70-7E2BF83F9167}"/>
                </a:ext>
              </a:extLst>
            </p:cNvPr>
            <p:cNvSpPr txBox="1"/>
            <p:nvPr/>
          </p:nvSpPr>
          <p:spPr>
            <a:xfrm>
              <a:off x="2446730" y="6243373"/>
              <a:ext cx="418704" cy="369332"/>
            </a:xfrm>
            <a:prstGeom prst="rect">
              <a:avLst/>
            </a:prstGeom>
            <a:noFill/>
          </p:spPr>
          <p:txBody>
            <a:bodyPr wrap="none" rtlCol="0">
              <a:spAutoFit/>
            </a:bodyPr>
            <a:lstStyle/>
            <a:p>
              <a:r>
                <a:rPr lang="en-US" dirty="0">
                  <a:solidFill>
                    <a:srgbClr val="FF33CC"/>
                  </a:solidFill>
                </a:rPr>
                <a:t>10</a:t>
              </a:r>
            </a:p>
          </p:txBody>
        </p:sp>
      </p:grpSp>
      <p:sp>
        <p:nvSpPr>
          <p:cNvPr id="62" name="TextBox 61">
            <a:extLst>
              <a:ext uri="{FF2B5EF4-FFF2-40B4-BE49-F238E27FC236}">
                <a16:creationId xmlns:a16="http://schemas.microsoft.com/office/drawing/2014/main" id="{B43941B0-86D8-D533-366D-B46802C30744}"/>
              </a:ext>
              <a:ext uri="{C183D7F6-B498-43B3-948B-1728B52AA6E4}">
                <adec:decorative xmlns:adec="http://schemas.microsoft.com/office/drawing/2017/decorative" val="1"/>
              </a:ext>
            </a:extLst>
          </p:cNvPr>
          <p:cNvSpPr txBox="1"/>
          <p:nvPr/>
        </p:nvSpPr>
        <p:spPr>
          <a:xfrm>
            <a:off x="737595" y="3266383"/>
            <a:ext cx="2376228" cy="369332"/>
          </a:xfrm>
          <a:prstGeom prst="rect">
            <a:avLst/>
          </a:prstGeom>
          <a:noFill/>
        </p:spPr>
        <p:txBody>
          <a:bodyPr wrap="none" rtlCol="0">
            <a:spAutoFit/>
          </a:bodyPr>
          <a:lstStyle/>
          <a:p>
            <a:r>
              <a:rPr lang="en-US" b="1" u="sng" dirty="0">
                <a:solidFill>
                  <a:srgbClr val="FF0000"/>
                </a:solidFill>
              </a:rPr>
              <a:t>Violate Heap Property!</a:t>
            </a:r>
          </a:p>
        </p:txBody>
      </p:sp>
      <p:sp>
        <p:nvSpPr>
          <p:cNvPr id="64" name="TextBox 63">
            <a:extLst>
              <a:ext uri="{FF2B5EF4-FFF2-40B4-BE49-F238E27FC236}">
                <a16:creationId xmlns:a16="http://schemas.microsoft.com/office/drawing/2014/main" id="{69DE40CB-E466-39F7-D8B8-04BB5635AAE6}"/>
              </a:ext>
            </a:extLst>
          </p:cNvPr>
          <p:cNvSpPr txBox="1"/>
          <p:nvPr/>
        </p:nvSpPr>
        <p:spPr>
          <a:xfrm>
            <a:off x="7936205" y="5053758"/>
            <a:ext cx="3121688" cy="1015663"/>
          </a:xfrm>
          <a:prstGeom prst="rect">
            <a:avLst/>
          </a:prstGeom>
          <a:noFill/>
        </p:spPr>
        <p:txBody>
          <a:bodyPr wrap="none" rtlCol="0">
            <a:spAutoFit/>
          </a:bodyPr>
          <a:lstStyle/>
          <a:p>
            <a:r>
              <a:rPr lang="en-US" sz="2000" dirty="0"/>
              <a:t>Two ways for “fix” the heap:</a:t>
            </a:r>
          </a:p>
          <a:p>
            <a:pPr marL="342900" indent="-342900">
              <a:buAutoNum type="arabicParenR"/>
            </a:pPr>
            <a:r>
              <a:rPr lang="en-US" sz="2000" dirty="0"/>
              <a:t>Percolate Up</a:t>
            </a:r>
          </a:p>
          <a:p>
            <a:pPr marL="342900" indent="-342900">
              <a:buAutoNum type="arabicParenR"/>
            </a:pPr>
            <a:r>
              <a:rPr lang="en-US" sz="2000" dirty="0"/>
              <a:t>Percolate Down</a:t>
            </a:r>
          </a:p>
        </p:txBody>
      </p:sp>
    </p:spTree>
    <p:extLst>
      <p:ext uri="{BB962C8B-B14F-4D97-AF65-F5344CB8AC3E}">
        <p14:creationId xmlns:p14="http://schemas.microsoft.com/office/powerpoint/2010/main" val="30180861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141EFF-DC2E-DD10-0292-33AAADA21D1C}"/>
              </a:ext>
            </a:extLst>
          </p:cNvPr>
          <p:cNvSpPr>
            <a:spLocks noGrp="1"/>
          </p:cNvSpPr>
          <p:nvPr>
            <p:ph type="title"/>
          </p:nvPr>
        </p:nvSpPr>
        <p:spPr/>
        <p:txBody>
          <a:bodyPr/>
          <a:lstStyle/>
          <a:p>
            <a:r>
              <a:rPr lang="en-US" dirty="0"/>
              <a:t>Floyd’s </a:t>
            </a:r>
            <a:r>
              <a:rPr lang="en-US" dirty="0" err="1"/>
              <a:t>buildHeap</a:t>
            </a:r>
            <a:r>
              <a:rPr lang="en-US" dirty="0"/>
              <a:t> method</a:t>
            </a:r>
          </a:p>
        </p:txBody>
      </p:sp>
      <p:sp>
        <p:nvSpPr>
          <p:cNvPr id="3" name="Content Placeholder 2">
            <a:extLst>
              <a:ext uri="{FF2B5EF4-FFF2-40B4-BE49-F238E27FC236}">
                <a16:creationId xmlns:a16="http://schemas.microsoft.com/office/drawing/2014/main" id="{98CD70E1-83BF-D071-92AA-72F7671FE765}"/>
              </a:ext>
            </a:extLst>
          </p:cNvPr>
          <p:cNvSpPr>
            <a:spLocks noGrp="1"/>
          </p:cNvSpPr>
          <p:nvPr>
            <p:ph idx="1"/>
          </p:nvPr>
        </p:nvSpPr>
        <p:spPr/>
        <p:txBody>
          <a:bodyPr/>
          <a:lstStyle/>
          <a:p>
            <a:r>
              <a:rPr lang="en-US" dirty="0"/>
              <a:t>Working towards the root, one row at a time, percolate down</a:t>
            </a:r>
          </a:p>
          <a:p>
            <a:endParaRPr lang="en-US" dirty="0"/>
          </a:p>
        </p:txBody>
      </p:sp>
      <p:sp>
        <p:nvSpPr>
          <p:cNvPr id="4" name="TextBox 3">
            <a:extLst>
              <a:ext uri="{FF2B5EF4-FFF2-40B4-BE49-F238E27FC236}">
                <a16:creationId xmlns:a16="http://schemas.microsoft.com/office/drawing/2014/main" id="{0AD2E5B4-7285-3ACB-0CCF-7D5C84D8A06C}"/>
              </a:ext>
            </a:extLst>
          </p:cNvPr>
          <p:cNvSpPr txBox="1"/>
          <p:nvPr/>
        </p:nvSpPr>
        <p:spPr>
          <a:xfrm>
            <a:off x="1188720" y="3262630"/>
            <a:ext cx="3263779" cy="1938992"/>
          </a:xfrm>
          <a:prstGeom prst="rect">
            <a:avLst/>
          </a:prstGeom>
          <a:noFill/>
        </p:spPr>
        <p:txBody>
          <a:bodyPr wrap="none" rtlCol="0">
            <a:spAutoFit/>
          </a:bodyPr>
          <a:lstStyle/>
          <a:p>
            <a:r>
              <a:rPr lang="en-US" sz="2400" dirty="0" err="1"/>
              <a:t>buildHeap</a:t>
            </a:r>
            <a:r>
              <a:rPr lang="en-US" sz="2400" dirty="0"/>
              <a:t>(){</a:t>
            </a:r>
          </a:p>
          <a:p>
            <a:r>
              <a:rPr lang="en-US" sz="2400" dirty="0"/>
              <a:t>    for(int </a:t>
            </a:r>
            <a:r>
              <a:rPr lang="en-US" sz="2400" dirty="0" err="1"/>
              <a:t>i</a:t>
            </a:r>
            <a:r>
              <a:rPr lang="en-US" sz="2400" dirty="0"/>
              <a:t> = size; </a:t>
            </a:r>
            <a:r>
              <a:rPr lang="en-US" sz="2400" dirty="0" err="1"/>
              <a:t>i</a:t>
            </a:r>
            <a:r>
              <a:rPr lang="en-US" sz="2400" dirty="0"/>
              <a:t>&gt;0; </a:t>
            </a:r>
            <a:r>
              <a:rPr lang="en-US" sz="2400" dirty="0" err="1"/>
              <a:t>i</a:t>
            </a:r>
            <a:r>
              <a:rPr lang="en-US" sz="2400" dirty="0"/>
              <a:t>--){</a:t>
            </a:r>
          </a:p>
          <a:p>
            <a:r>
              <a:rPr lang="en-US" sz="2400" dirty="0"/>
              <a:t>        </a:t>
            </a:r>
            <a:r>
              <a:rPr lang="en-US" sz="2400" dirty="0" err="1"/>
              <a:t>percolateDown</a:t>
            </a:r>
            <a:r>
              <a:rPr lang="en-US" sz="2400" dirty="0"/>
              <a:t>(</a:t>
            </a:r>
            <a:r>
              <a:rPr lang="en-US" sz="2400" dirty="0" err="1"/>
              <a:t>i</a:t>
            </a:r>
            <a:r>
              <a:rPr lang="en-US" sz="2400" dirty="0"/>
              <a:t>);</a:t>
            </a:r>
          </a:p>
          <a:p>
            <a:r>
              <a:rPr lang="en-US" sz="2400" dirty="0"/>
              <a:t>    }</a:t>
            </a:r>
          </a:p>
          <a:p>
            <a:r>
              <a:rPr lang="en-US" sz="2400" dirty="0"/>
              <a:t>}</a:t>
            </a:r>
          </a:p>
        </p:txBody>
      </p:sp>
    </p:spTree>
    <p:extLst>
      <p:ext uri="{BB962C8B-B14F-4D97-AF65-F5344CB8AC3E}">
        <p14:creationId xmlns:p14="http://schemas.microsoft.com/office/powerpoint/2010/main" val="2175988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0F2A4A-E8D3-7F93-AD14-D6B2FD99DD01}"/>
              </a:ext>
            </a:extLst>
          </p:cNvPr>
          <p:cNvSpPr>
            <a:spLocks noGrp="1"/>
          </p:cNvSpPr>
          <p:nvPr>
            <p:ph type="title"/>
          </p:nvPr>
        </p:nvSpPr>
        <p:spPr/>
        <p:txBody>
          <a:bodyPr/>
          <a:lstStyle/>
          <a:p>
            <a:r>
              <a:rPr lang="en-US" dirty="0"/>
              <a:t>Floyd’s </a:t>
            </a:r>
            <a:r>
              <a:rPr lang="en-US" dirty="0" err="1"/>
              <a:t>buildHeap</a:t>
            </a:r>
            <a:r>
              <a:rPr lang="en-US" dirty="0"/>
              <a:t> method (Percolate 15) </a:t>
            </a:r>
          </a:p>
        </p:txBody>
      </p:sp>
      <p:grpSp>
        <p:nvGrpSpPr>
          <p:cNvPr id="4" name="Group 3" descr="The array representation of the heap.&#10;&#10;The items are, in order: 5, 6, 10, 3, 15, 8, 7, 14, 2, 1">
            <a:extLst>
              <a:ext uri="{FF2B5EF4-FFF2-40B4-BE49-F238E27FC236}">
                <a16:creationId xmlns:a16="http://schemas.microsoft.com/office/drawing/2014/main" id="{D2C070FD-E606-FE96-DBE1-D6B50F960BB6}"/>
              </a:ext>
            </a:extLst>
          </p:cNvPr>
          <p:cNvGrpSpPr/>
          <p:nvPr/>
        </p:nvGrpSpPr>
        <p:grpSpPr>
          <a:xfrm>
            <a:off x="5822251" y="2504716"/>
            <a:ext cx="5875588" cy="945155"/>
            <a:chOff x="5470854" y="754688"/>
            <a:chExt cx="5875588" cy="945155"/>
          </a:xfrm>
        </p:grpSpPr>
        <p:sp>
          <p:nvSpPr>
            <p:cNvPr id="5" name="Rectangle 4">
              <a:extLst>
                <a:ext uri="{FF2B5EF4-FFF2-40B4-BE49-F238E27FC236}">
                  <a16:creationId xmlns:a16="http://schemas.microsoft.com/office/drawing/2014/main" id="{B82E85FD-4B9F-2A0B-306D-32BA73343EB3}"/>
                </a:ext>
              </a:extLst>
            </p:cNvPr>
            <p:cNvSpPr/>
            <p:nvPr/>
          </p:nvSpPr>
          <p:spPr>
            <a:xfrm>
              <a:off x="5470854" y="754688"/>
              <a:ext cx="533400" cy="5334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6" name="Rectangle 5">
              <a:extLst>
                <a:ext uri="{FF2B5EF4-FFF2-40B4-BE49-F238E27FC236}">
                  <a16:creationId xmlns:a16="http://schemas.microsoft.com/office/drawing/2014/main" id="{633CD6EB-1593-D211-04E7-2CDD96133A79}"/>
                </a:ext>
              </a:extLst>
            </p:cNvPr>
            <p:cNvSpPr/>
            <p:nvPr/>
          </p:nvSpPr>
          <p:spPr>
            <a:xfrm>
              <a:off x="6004254" y="754688"/>
              <a:ext cx="533400" cy="5334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7" name="Rectangle 6">
              <a:extLst>
                <a:ext uri="{FF2B5EF4-FFF2-40B4-BE49-F238E27FC236}">
                  <a16:creationId xmlns:a16="http://schemas.microsoft.com/office/drawing/2014/main" id="{D6A20C82-14BA-14B7-33D2-B02F05244D80}"/>
                </a:ext>
              </a:extLst>
            </p:cNvPr>
            <p:cNvSpPr/>
            <p:nvPr/>
          </p:nvSpPr>
          <p:spPr>
            <a:xfrm>
              <a:off x="6538223" y="754688"/>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8" name="Rectangle 7">
              <a:extLst>
                <a:ext uri="{FF2B5EF4-FFF2-40B4-BE49-F238E27FC236}">
                  <a16:creationId xmlns:a16="http://schemas.microsoft.com/office/drawing/2014/main" id="{56678D84-16F3-310C-AADC-7A181CCDF23C}"/>
                </a:ext>
              </a:extLst>
            </p:cNvPr>
            <p:cNvSpPr/>
            <p:nvPr/>
          </p:nvSpPr>
          <p:spPr>
            <a:xfrm>
              <a:off x="7071623" y="754688"/>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10</a:t>
              </a:r>
            </a:p>
          </p:txBody>
        </p:sp>
        <p:sp>
          <p:nvSpPr>
            <p:cNvPr id="9" name="Rectangle 8">
              <a:extLst>
                <a:ext uri="{FF2B5EF4-FFF2-40B4-BE49-F238E27FC236}">
                  <a16:creationId xmlns:a16="http://schemas.microsoft.com/office/drawing/2014/main" id="{5BBF6A4D-F237-D175-3581-18514FECFB50}"/>
                </a:ext>
              </a:extLst>
            </p:cNvPr>
            <p:cNvSpPr/>
            <p:nvPr/>
          </p:nvSpPr>
          <p:spPr>
            <a:xfrm>
              <a:off x="7605023" y="754688"/>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10" name="Rectangle 9">
              <a:extLst>
                <a:ext uri="{FF2B5EF4-FFF2-40B4-BE49-F238E27FC236}">
                  <a16:creationId xmlns:a16="http://schemas.microsoft.com/office/drawing/2014/main" id="{5EA7CA55-613D-E569-F87A-36A82B8A4197}"/>
                </a:ext>
              </a:extLst>
            </p:cNvPr>
            <p:cNvSpPr/>
            <p:nvPr/>
          </p:nvSpPr>
          <p:spPr>
            <a:xfrm>
              <a:off x="8138992" y="754688"/>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15</a:t>
              </a:r>
            </a:p>
          </p:txBody>
        </p:sp>
        <p:sp>
          <p:nvSpPr>
            <p:cNvPr id="11" name="Rectangle 10">
              <a:extLst>
                <a:ext uri="{FF2B5EF4-FFF2-40B4-BE49-F238E27FC236}">
                  <a16:creationId xmlns:a16="http://schemas.microsoft.com/office/drawing/2014/main" id="{C4DBAC75-85FF-A5C5-3308-0652E69855B9}"/>
                </a:ext>
              </a:extLst>
            </p:cNvPr>
            <p:cNvSpPr/>
            <p:nvPr/>
          </p:nvSpPr>
          <p:spPr>
            <a:xfrm>
              <a:off x="8672392" y="754688"/>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12" name="Rectangle 11">
              <a:extLst>
                <a:ext uri="{FF2B5EF4-FFF2-40B4-BE49-F238E27FC236}">
                  <a16:creationId xmlns:a16="http://schemas.microsoft.com/office/drawing/2014/main" id="{1AC49C1D-E65A-E283-D242-407C87FCEAD3}"/>
                </a:ext>
              </a:extLst>
            </p:cNvPr>
            <p:cNvSpPr/>
            <p:nvPr/>
          </p:nvSpPr>
          <p:spPr>
            <a:xfrm>
              <a:off x="9205792" y="754688"/>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13" name="Rectangle 12">
              <a:extLst>
                <a:ext uri="{FF2B5EF4-FFF2-40B4-BE49-F238E27FC236}">
                  <a16:creationId xmlns:a16="http://schemas.microsoft.com/office/drawing/2014/main" id="{2F643AEB-4040-07BB-03F1-A04A08EE1D6F}"/>
                </a:ext>
              </a:extLst>
            </p:cNvPr>
            <p:cNvSpPr/>
            <p:nvPr/>
          </p:nvSpPr>
          <p:spPr>
            <a:xfrm>
              <a:off x="9739761" y="754688"/>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14</a:t>
              </a:r>
            </a:p>
          </p:txBody>
        </p:sp>
        <p:sp>
          <p:nvSpPr>
            <p:cNvPr id="14" name="Rectangle 13">
              <a:extLst>
                <a:ext uri="{FF2B5EF4-FFF2-40B4-BE49-F238E27FC236}">
                  <a16:creationId xmlns:a16="http://schemas.microsoft.com/office/drawing/2014/main" id="{A8FEEA45-B71F-DF2F-C447-4203F387203B}"/>
                </a:ext>
              </a:extLst>
            </p:cNvPr>
            <p:cNvSpPr/>
            <p:nvPr/>
          </p:nvSpPr>
          <p:spPr>
            <a:xfrm>
              <a:off x="10273161" y="754688"/>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15" name="TextBox 14">
              <a:extLst>
                <a:ext uri="{FF2B5EF4-FFF2-40B4-BE49-F238E27FC236}">
                  <a16:creationId xmlns:a16="http://schemas.microsoft.com/office/drawing/2014/main" id="{EA6253EB-D23C-949B-D5E8-FECD830DEDBA}"/>
                </a:ext>
              </a:extLst>
            </p:cNvPr>
            <p:cNvSpPr txBox="1"/>
            <p:nvPr/>
          </p:nvSpPr>
          <p:spPr>
            <a:xfrm>
              <a:off x="5586710" y="1328081"/>
              <a:ext cx="301686" cy="369332"/>
            </a:xfrm>
            <a:prstGeom prst="rect">
              <a:avLst/>
            </a:prstGeom>
            <a:noFill/>
          </p:spPr>
          <p:txBody>
            <a:bodyPr wrap="none" rtlCol="0">
              <a:spAutoFit/>
            </a:bodyPr>
            <a:lstStyle/>
            <a:p>
              <a:r>
                <a:rPr lang="en-US" dirty="0">
                  <a:solidFill>
                    <a:srgbClr val="FF33CC"/>
                  </a:solidFill>
                </a:rPr>
                <a:t>0</a:t>
              </a:r>
            </a:p>
          </p:txBody>
        </p:sp>
        <p:sp>
          <p:nvSpPr>
            <p:cNvPr id="16" name="TextBox 15">
              <a:extLst>
                <a:ext uri="{FF2B5EF4-FFF2-40B4-BE49-F238E27FC236}">
                  <a16:creationId xmlns:a16="http://schemas.microsoft.com/office/drawing/2014/main" id="{C8F8A93E-79B2-8F25-0DCC-1F3278F661BB}"/>
                </a:ext>
              </a:extLst>
            </p:cNvPr>
            <p:cNvSpPr txBox="1"/>
            <p:nvPr/>
          </p:nvSpPr>
          <p:spPr>
            <a:xfrm>
              <a:off x="6120110" y="1328081"/>
              <a:ext cx="301686" cy="369332"/>
            </a:xfrm>
            <a:prstGeom prst="rect">
              <a:avLst/>
            </a:prstGeom>
            <a:noFill/>
          </p:spPr>
          <p:txBody>
            <a:bodyPr wrap="none" rtlCol="0">
              <a:spAutoFit/>
            </a:bodyPr>
            <a:lstStyle/>
            <a:p>
              <a:r>
                <a:rPr lang="en-US" dirty="0">
                  <a:solidFill>
                    <a:srgbClr val="FF33CC"/>
                  </a:solidFill>
                </a:rPr>
                <a:t>1</a:t>
              </a:r>
            </a:p>
          </p:txBody>
        </p:sp>
        <p:sp>
          <p:nvSpPr>
            <p:cNvPr id="17" name="TextBox 16">
              <a:extLst>
                <a:ext uri="{FF2B5EF4-FFF2-40B4-BE49-F238E27FC236}">
                  <a16:creationId xmlns:a16="http://schemas.microsoft.com/office/drawing/2014/main" id="{82E633D5-64EB-6BAD-3A62-C08FF0C32E94}"/>
                </a:ext>
              </a:extLst>
            </p:cNvPr>
            <p:cNvSpPr txBox="1"/>
            <p:nvPr/>
          </p:nvSpPr>
          <p:spPr>
            <a:xfrm>
              <a:off x="6654079" y="1328081"/>
              <a:ext cx="301686" cy="369332"/>
            </a:xfrm>
            <a:prstGeom prst="rect">
              <a:avLst/>
            </a:prstGeom>
            <a:noFill/>
          </p:spPr>
          <p:txBody>
            <a:bodyPr wrap="none" rtlCol="0">
              <a:spAutoFit/>
            </a:bodyPr>
            <a:lstStyle/>
            <a:p>
              <a:r>
                <a:rPr lang="en-US" dirty="0">
                  <a:solidFill>
                    <a:srgbClr val="FF33CC"/>
                  </a:solidFill>
                </a:rPr>
                <a:t>2</a:t>
              </a:r>
            </a:p>
          </p:txBody>
        </p:sp>
        <p:sp>
          <p:nvSpPr>
            <p:cNvPr id="18" name="TextBox 17">
              <a:extLst>
                <a:ext uri="{FF2B5EF4-FFF2-40B4-BE49-F238E27FC236}">
                  <a16:creationId xmlns:a16="http://schemas.microsoft.com/office/drawing/2014/main" id="{94AC8395-5F6E-19CD-15DE-29D1887AD4A5}"/>
                </a:ext>
              </a:extLst>
            </p:cNvPr>
            <p:cNvSpPr txBox="1"/>
            <p:nvPr/>
          </p:nvSpPr>
          <p:spPr>
            <a:xfrm>
              <a:off x="7187479" y="1328081"/>
              <a:ext cx="301686" cy="369332"/>
            </a:xfrm>
            <a:prstGeom prst="rect">
              <a:avLst/>
            </a:prstGeom>
            <a:noFill/>
          </p:spPr>
          <p:txBody>
            <a:bodyPr wrap="none" rtlCol="0">
              <a:spAutoFit/>
            </a:bodyPr>
            <a:lstStyle/>
            <a:p>
              <a:r>
                <a:rPr lang="en-US" dirty="0">
                  <a:solidFill>
                    <a:srgbClr val="FF33CC"/>
                  </a:solidFill>
                </a:rPr>
                <a:t>3</a:t>
              </a:r>
            </a:p>
          </p:txBody>
        </p:sp>
        <p:sp>
          <p:nvSpPr>
            <p:cNvPr id="19" name="TextBox 18">
              <a:extLst>
                <a:ext uri="{FF2B5EF4-FFF2-40B4-BE49-F238E27FC236}">
                  <a16:creationId xmlns:a16="http://schemas.microsoft.com/office/drawing/2014/main" id="{419110CD-D76E-CFDF-A6D5-AB20E69C641D}"/>
                </a:ext>
              </a:extLst>
            </p:cNvPr>
            <p:cNvSpPr txBox="1"/>
            <p:nvPr/>
          </p:nvSpPr>
          <p:spPr>
            <a:xfrm>
              <a:off x="7718467" y="1328081"/>
              <a:ext cx="301686" cy="369332"/>
            </a:xfrm>
            <a:prstGeom prst="rect">
              <a:avLst/>
            </a:prstGeom>
            <a:noFill/>
          </p:spPr>
          <p:txBody>
            <a:bodyPr wrap="none" rtlCol="0">
              <a:spAutoFit/>
            </a:bodyPr>
            <a:lstStyle/>
            <a:p>
              <a:r>
                <a:rPr lang="en-US" dirty="0">
                  <a:solidFill>
                    <a:srgbClr val="FF33CC"/>
                  </a:solidFill>
                </a:rPr>
                <a:t>4</a:t>
              </a:r>
            </a:p>
          </p:txBody>
        </p:sp>
        <p:sp>
          <p:nvSpPr>
            <p:cNvPr id="20" name="TextBox 19">
              <a:extLst>
                <a:ext uri="{FF2B5EF4-FFF2-40B4-BE49-F238E27FC236}">
                  <a16:creationId xmlns:a16="http://schemas.microsoft.com/office/drawing/2014/main" id="{DC3B8112-0CF7-5516-F41D-84C801CEBEE1}"/>
                </a:ext>
              </a:extLst>
            </p:cNvPr>
            <p:cNvSpPr txBox="1"/>
            <p:nvPr/>
          </p:nvSpPr>
          <p:spPr>
            <a:xfrm>
              <a:off x="8196497" y="1328081"/>
              <a:ext cx="301686" cy="369332"/>
            </a:xfrm>
            <a:prstGeom prst="rect">
              <a:avLst/>
            </a:prstGeom>
            <a:noFill/>
          </p:spPr>
          <p:txBody>
            <a:bodyPr wrap="none" rtlCol="0">
              <a:spAutoFit/>
            </a:bodyPr>
            <a:lstStyle/>
            <a:p>
              <a:r>
                <a:rPr lang="en-US" dirty="0">
                  <a:solidFill>
                    <a:srgbClr val="FF33CC"/>
                  </a:solidFill>
                </a:rPr>
                <a:t>5</a:t>
              </a:r>
            </a:p>
          </p:txBody>
        </p:sp>
        <p:sp>
          <p:nvSpPr>
            <p:cNvPr id="21" name="TextBox 20">
              <a:extLst>
                <a:ext uri="{FF2B5EF4-FFF2-40B4-BE49-F238E27FC236}">
                  <a16:creationId xmlns:a16="http://schemas.microsoft.com/office/drawing/2014/main" id="{88D6E652-F5FC-4920-F20E-32A2AA0FEAE2}"/>
                </a:ext>
              </a:extLst>
            </p:cNvPr>
            <p:cNvSpPr txBox="1"/>
            <p:nvPr/>
          </p:nvSpPr>
          <p:spPr>
            <a:xfrm>
              <a:off x="8788248" y="1328081"/>
              <a:ext cx="301686" cy="369332"/>
            </a:xfrm>
            <a:prstGeom prst="rect">
              <a:avLst/>
            </a:prstGeom>
            <a:noFill/>
          </p:spPr>
          <p:txBody>
            <a:bodyPr wrap="none" rtlCol="0">
              <a:spAutoFit/>
            </a:bodyPr>
            <a:lstStyle/>
            <a:p>
              <a:r>
                <a:rPr lang="en-US" dirty="0">
                  <a:solidFill>
                    <a:srgbClr val="FF33CC"/>
                  </a:solidFill>
                </a:rPr>
                <a:t>6</a:t>
              </a:r>
            </a:p>
          </p:txBody>
        </p:sp>
        <p:sp>
          <p:nvSpPr>
            <p:cNvPr id="22" name="TextBox 21">
              <a:extLst>
                <a:ext uri="{FF2B5EF4-FFF2-40B4-BE49-F238E27FC236}">
                  <a16:creationId xmlns:a16="http://schemas.microsoft.com/office/drawing/2014/main" id="{819347C4-D38D-06D5-33DF-2A348A5382FE}"/>
                </a:ext>
              </a:extLst>
            </p:cNvPr>
            <p:cNvSpPr txBox="1"/>
            <p:nvPr/>
          </p:nvSpPr>
          <p:spPr>
            <a:xfrm>
              <a:off x="9321648" y="1328081"/>
              <a:ext cx="301686" cy="369332"/>
            </a:xfrm>
            <a:prstGeom prst="rect">
              <a:avLst/>
            </a:prstGeom>
            <a:noFill/>
          </p:spPr>
          <p:txBody>
            <a:bodyPr wrap="none" rtlCol="0">
              <a:spAutoFit/>
            </a:bodyPr>
            <a:lstStyle/>
            <a:p>
              <a:r>
                <a:rPr lang="en-US" dirty="0">
                  <a:solidFill>
                    <a:srgbClr val="FF33CC"/>
                  </a:solidFill>
                </a:rPr>
                <a:t>7</a:t>
              </a:r>
            </a:p>
          </p:txBody>
        </p:sp>
        <p:sp>
          <p:nvSpPr>
            <p:cNvPr id="23" name="TextBox 22">
              <a:extLst>
                <a:ext uri="{FF2B5EF4-FFF2-40B4-BE49-F238E27FC236}">
                  <a16:creationId xmlns:a16="http://schemas.microsoft.com/office/drawing/2014/main" id="{360923D4-A058-7D06-904A-8CC0ECE807D7}"/>
                </a:ext>
              </a:extLst>
            </p:cNvPr>
            <p:cNvSpPr txBox="1"/>
            <p:nvPr/>
          </p:nvSpPr>
          <p:spPr>
            <a:xfrm>
              <a:off x="9855617" y="1328081"/>
              <a:ext cx="301686" cy="369332"/>
            </a:xfrm>
            <a:prstGeom prst="rect">
              <a:avLst/>
            </a:prstGeom>
            <a:noFill/>
          </p:spPr>
          <p:txBody>
            <a:bodyPr wrap="none" rtlCol="0">
              <a:spAutoFit/>
            </a:bodyPr>
            <a:lstStyle/>
            <a:p>
              <a:r>
                <a:rPr lang="en-US" dirty="0">
                  <a:solidFill>
                    <a:srgbClr val="FF33CC"/>
                  </a:solidFill>
                </a:rPr>
                <a:t>8</a:t>
              </a:r>
            </a:p>
          </p:txBody>
        </p:sp>
        <p:sp>
          <p:nvSpPr>
            <p:cNvPr id="24" name="TextBox 23">
              <a:extLst>
                <a:ext uri="{FF2B5EF4-FFF2-40B4-BE49-F238E27FC236}">
                  <a16:creationId xmlns:a16="http://schemas.microsoft.com/office/drawing/2014/main" id="{90CFED6D-86F5-D958-E923-2CC18DA518C3}"/>
                </a:ext>
              </a:extLst>
            </p:cNvPr>
            <p:cNvSpPr txBox="1"/>
            <p:nvPr/>
          </p:nvSpPr>
          <p:spPr>
            <a:xfrm>
              <a:off x="10389017" y="1328081"/>
              <a:ext cx="301686" cy="369332"/>
            </a:xfrm>
            <a:prstGeom prst="rect">
              <a:avLst/>
            </a:prstGeom>
            <a:noFill/>
          </p:spPr>
          <p:txBody>
            <a:bodyPr wrap="none" rtlCol="0">
              <a:spAutoFit/>
            </a:bodyPr>
            <a:lstStyle/>
            <a:p>
              <a:r>
                <a:rPr lang="en-US" dirty="0">
                  <a:solidFill>
                    <a:srgbClr val="FF33CC"/>
                  </a:solidFill>
                </a:rPr>
                <a:t>9</a:t>
              </a:r>
            </a:p>
          </p:txBody>
        </p:sp>
        <p:sp>
          <p:nvSpPr>
            <p:cNvPr id="25" name="Rectangle 24">
              <a:extLst>
                <a:ext uri="{FF2B5EF4-FFF2-40B4-BE49-F238E27FC236}">
                  <a16:creationId xmlns:a16="http://schemas.microsoft.com/office/drawing/2014/main" id="{2FC2E6EC-062F-A161-9D0A-D10BDBA2450A}"/>
                </a:ext>
              </a:extLst>
            </p:cNvPr>
            <p:cNvSpPr/>
            <p:nvPr/>
          </p:nvSpPr>
          <p:spPr>
            <a:xfrm>
              <a:off x="10813042" y="754688"/>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26" name="TextBox 25">
              <a:extLst>
                <a:ext uri="{FF2B5EF4-FFF2-40B4-BE49-F238E27FC236}">
                  <a16:creationId xmlns:a16="http://schemas.microsoft.com/office/drawing/2014/main" id="{85E124AE-511C-1167-F084-AF9166C40BF1}"/>
                </a:ext>
              </a:extLst>
            </p:cNvPr>
            <p:cNvSpPr txBox="1"/>
            <p:nvPr/>
          </p:nvSpPr>
          <p:spPr>
            <a:xfrm>
              <a:off x="10870777" y="1330511"/>
              <a:ext cx="418704" cy="369332"/>
            </a:xfrm>
            <a:prstGeom prst="rect">
              <a:avLst/>
            </a:prstGeom>
            <a:noFill/>
          </p:spPr>
          <p:txBody>
            <a:bodyPr wrap="none" rtlCol="0">
              <a:spAutoFit/>
            </a:bodyPr>
            <a:lstStyle/>
            <a:p>
              <a:r>
                <a:rPr lang="en-US" dirty="0">
                  <a:solidFill>
                    <a:srgbClr val="FF33CC"/>
                  </a:solidFill>
                </a:rPr>
                <a:t>10</a:t>
              </a:r>
            </a:p>
          </p:txBody>
        </p:sp>
      </p:gr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81AF3C39-C718-C590-CB20-0AC3D97ADFB4}"/>
                  </a:ext>
                </a:extLst>
              </p:cNvPr>
              <p:cNvSpPr>
                <a:spLocks noGrp="1"/>
              </p:cNvSpPr>
              <p:nvPr>
                <p:ph idx="1"/>
              </p:nvPr>
            </p:nvSpPr>
            <p:spPr/>
            <p:txBody>
              <a:bodyPr/>
              <a:lstStyle/>
              <a:p>
                <a:r>
                  <a:rPr lang="en-US" dirty="0"/>
                  <a:t>Suppose we had </a:t>
                </a:r>
                <a14:m>
                  <m:oMath xmlns:m="http://schemas.openxmlformats.org/officeDocument/2006/math">
                    <m:r>
                      <a:rPr lang="en-US" b="0" i="1" smtClean="0">
                        <a:latin typeface="Cambria Math" panose="02040503050406030204" pitchFamily="18" charset="0"/>
                      </a:rPr>
                      <m:t>𝑛</m:t>
                    </m:r>
                  </m:oMath>
                </a14:m>
                <a:r>
                  <a:rPr lang="en-US" dirty="0"/>
                  <a:t> items and wanted to “</a:t>
                </a:r>
                <a:r>
                  <a:rPr lang="en-US" dirty="0" err="1"/>
                  <a:t>heapify</a:t>
                </a:r>
                <a:r>
                  <a:rPr lang="en-US" dirty="0"/>
                  <a:t>” them</a:t>
                </a:r>
              </a:p>
            </p:txBody>
          </p:sp>
        </mc:Choice>
        <mc:Fallback xmlns="">
          <p:sp>
            <p:nvSpPr>
              <p:cNvPr id="3" name="Content Placeholder 2">
                <a:extLst>
                  <a:ext uri="{FF2B5EF4-FFF2-40B4-BE49-F238E27FC236}">
                    <a16:creationId xmlns:a16="http://schemas.microsoft.com/office/drawing/2014/main" id="{81AF3C39-C718-C590-CB20-0AC3D97ADFB4}"/>
                  </a:ext>
                </a:extLst>
              </p:cNvPr>
              <p:cNvSpPr>
                <a:spLocks noGrp="1" noRot="1" noChangeAspect="1" noMove="1" noResize="1" noEditPoints="1" noAdjustHandles="1" noChangeArrowheads="1" noChangeShapeType="1" noTextEdit="1"/>
              </p:cNvSpPr>
              <p:nvPr>
                <p:ph idx="1"/>
              </p:nvPr>
            </p:nvSpPr>
            <p:spPr>
              <a:blipFill>
                <a:blip r:embed="rId2"/>
                <a:stretch>
                  <a:fillRect l="-1043" t="-2241"/>
                </a:stretch>
              </a:blipFill>
            </p:spPr>
            <p:txBody>
              <a:bodyPr/>
              <a:lstStyle/>
              <a:p>
                <a:r>
                  <a:rPr lang="en-US">
                    <a:noFill/>
                  </a:rPr>
                  <a:t> </a:t>
                </a:r>
              </a:p>
            </p:txBody>
          </p:sp>
        </mc:Fallback>
      </mc:AlternateContent>
      <p:grpSp>
        <p:nvGrpSpPr>
          <p:cNvPr id="61" name="Group 60" descr="Beginning from the end of the array, we will percolate all of our nodes down. Leaves cannot violate the heap property, so we skip those, and instead begin with the first non-leaf, in this case 15.">
            <a:extLst>
              <a:ext uri="{FF2B5EF4-FFF2-40B4-BE49-F238E27FC236}">
                <a16:creationId xmlns:a16="http://schemas.microsoft.com/office/drawing/2014/main" id="{863756C4-FFEE-45CE-C290-81DC657DB3F1}"/>
              </a:ext>
            </a:extLst>
          </p:cNvPr>
          <p:cNvGrpSpPr/>
          <p:nvPr/>
        </p:nvGrpSpPr>
        <p:grpSpPr>
          <a:xfrm>
            <a:off x="214268" y="2956422"/>
            <a:ext cx="6934200" cy="3661882"/>
            <a:chOff x="201742" y="2956422"/>
            <a:chExt cx="6934200" cy="3661882"/>
          </a:xfrm>
        </p:grpSpPr>
        <p:grpSp>
          <p:nvGrpSpPr>
            <p:cNvPr id="27" name="Group 26">
              <a:extLst>
                <a:ext uri="{FF2B5EF4-FFF2-40B4-BE49-F238E27FC236}">
                  <a16:creationId xmlns:a16="http://schemas.microsoft.com/office/drawing/2014/main" id="{B87E5112-EE0A-A568-FB0C-800B49EAA828}"/>
                </a:ext>
              </a:extLst>
            </p:cNvPr>
            <p:cNvGrpSpPr/>
            <p:nvPr/>
          </p:nvGrpSpPr>
          <p:grpSpPr>
            <a:xfrm>
              <a:off x="201742" y="2956422"/>
              <a:ext cx="6934200" cy="3661882"/>
              <a:chOff x="2590801" y="2672070"/>
              <a:chExt cx="6934200" cy="3661882"/>
            </a:xfrm>
          </p:grpSpPr>
          <p:sp>
            <p:nvSpPr>
              <p:cNvPr id="28" name="Oval 27">
                <a:extLst>
                  <a:ext uri="{FF2B5EF4-FFF2-40B4-BE49-F238E27FC236}">
                    <a16:creationId xmlns:a16="http://schemas.microsoft.com/office/drawing/2014/main" id="{3A30E535-E151-7B10-2482-D4C18A271CB8}"/>
                  </a:ext>
                </a:extLst>
              </p:cNvPr>
              <p:cNvSpPr/>
              <p:nvPr/>
            </p:nvSpPr>
            <p:spPr>
              <a:xfrm>
                <a:off x="5996855" y="2672070"/>
                <a:ext cx="688077" cy="688077"/>
              </a:xfrm>
              <a:prstGeom prst="ellipse">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5</a:t>
                </a:r>
              </a:p>
            </p:txBody>
          </p:sp>
          <p:sp>
            <p:nvSpPr>
              <p:cNvPr id="29" name="Oval 28">
                <a:extLst>
                  <a:ext uri="{FF2B5EF4-FFF2-40B4-BE49-F238E27FC236}">
                    <a16:creationId xmlns:a16="http://schemas.microsoft.com/office/drawing/2014/main" id="{316155D8-6880-CAC9-337D-0F3B5F0C2BBB}"/>
                  </a:ext>
                </a:extLst>
              </p:cNvPr>
              <p:cNvSpPr/>
              <p:nvPr/>
            </p:nvSpPr>
            <p:spPr>
              <a:xfrm>
                <a:off x="4191001" y="3682289"/>
                <a:ext cx="688077" cy="688077"/>
              </a:xfrm>
              <a:prstGeom prst="ellipse">
                <a:avLst/>
              </a:prstGeom>
              <a:solidFill>
                <a:schemeClr val="accent2">
                  <a:lumMod val="40000"/>
                  <a:lumOff val="60000"/>
                </a:schemeClr>
              </a:solid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940000"/>
                    </a:solidFill>
                  </a:rPr>
                  <a:t>6</a:t>
                </a:r>
              </a:p>
            </p:txBody>
          </p:sp>
          <p:sp>
            <p:nvSpPr>
              <p:cNvPr id="30" name="Oval 29">
                <a:extLst>
                  <a:ext uri="{FF2B5EF4-FFF2-40B4-BE49-F238E27FC236}">
                    <a16:creationId xmlns:a16="http://schemas.microsoft.com/office/drawing/2014/main" id="{63701FD1-D85F-35B3-CE7C-6CFF8DCBAC09}"/>
                  </a:ext>
                </a:extLst>
              </p:cNvPr>
              <p:cNvSpPr/>
              <p:nvPr/>
            </p:nvSpPr>
            <p:spPr>
              <a:xfrm>
                <a:off x="7858499" y="3653913"/>
                <a:ext cx="688077" cy="688077"/>
              </a:xfrm>
              <a:prstGeom prst="ellipse">
                <a:avLst/>
              </a:prstGeom>
              <a:solidFill>
                <a:schemeClr val="accent2">
                  <a:lumMod val="40000"/>
                  <a:lumOff val="60000"/>
                </a:schemeClr>
              </a:solid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940000"/>
                    </a:solidFill>
                  </a:rPr>
                  <a:t>10</a:t>
                </a:r>
              </a:p>
            </p:txBody>
          </p:sp>
          <p:sp>
            <p:nvSpPr>
              <p:cNvPr id="31" name="Oval 30">
                <a:extLst>
                  <a:ext uri="{FF2B5EF4-FFF2-40B4-BE49-F238E27FC236}">
                    <a16:creationId xmlns:a16="http://schemas.microsoft.com/office/drawing/2014/main" id="{03A6BB66-2DDC-8C2E-6AB0-DA31FC02453E}"/>
                  </a:ext>
                </a:extLst>
              </p:cNvPr>
              <p:cNvSpPr/>
              <p:nvPr/>
            </p:nvSpPr>
            <p:spPr>
              <a:xfrm>
                <a:off x="3200401" y="4383504"/>
                <a:ext cx="688077" cy="688077"/>
              </a:xfrm>
              <a:prstGeom prst="ellipse">
                <a:avLst/>
              </a:prstGeom>
              <a:solidFill>
                <a:schemeClr val="accent2">
                  <a:lumMod val="40000"/>
                  <a:lumOff val="60000"/>
                </a:schemeClr>
              </a:solid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940000"/>
                    </a:solidFill>
                  </a:rPr>
                  <a:t>3</a:t>
                </a:r>
              </a:p>
            </p:txBody>
          </p:sp>
          <p:sp>
            <p:nvSpPr>
              <p:cNvPr id="32" name="Oval 31">
                <a:extLst>
                  <a:ext uri="{FF2B5EF4-FFF2-40B4-BE49-F238E27FC236}">
                    <a16:creationId xmlns:a16="http://schemas.microsoft.com/office/drawing/2014/main" id="{E219BA91-50E2-9B4F-817E-664706C652CC}"/>
                  </a:ext>
                </a:extLst>
              </p:cNvPr>
              <p:cNvSpPr/>
              <p:nvPr/>
            </p:nvSpPr>
            <p:spPr>
              <a:xfrm>
                <a:off x="5211206" y="4425368"/>
                <a:ext cx="688077" cy="688077"/>
              </a:xfrm>
              <a:prstGeom prst="ellipse">
                <a:avLst/>
              </a:prstGeom>
              <a:solidFill>
                <a:schemeClr val="accent2">
                  <a:lumMod val="40000"/>
                  <a:lumOff val="60000"/>
                </a:schemeClr>
              </a:solid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940000"/>
                    </a:solidFill>
                  </a:rPr>
                  <a:t>15</a:t>
                </a:r>
              </a:p>
            </p:txBody>
          </p:sp>
          <p:sp>
            <p:nvSpPr>
              <p:cNvPr id="33" name="Oval 32">
                <a:extLst>
                  <a:ext uri="{FF2B5EF4-FFF2-40B4-BE49-F238E27FC236}">
                    <a16:creationId xmlns:a16="http://schemas.microsoft.com/office/drawing/2014/main" id="{C3B38612-C965-1385-57E2-DB495D63D40C}"/>
                  </a:ext>
                </a:extLst>
              </p:cNvPr>
              <p:cNvSpPr/>
              <p:nvPr/>
            </p:nvSpPr>
            <p:spPr>
              <a:xfrm>
                <a:off x="6934201" y="4341990"/>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34" name="Oval 33">
                <a:extLst>
                  <a:ext uri="{FF2B5EF4-FFF2-40B4-BE49-F238E27FC236}">
                    <a16:creationId xmlns:a16="http://schemas.microsoft.com/office/drawing/2014/main" id="{C32BE3EF-F957-D7BD-78A2-BE2188A515E4}"/>
                  </a:ext>
                </a:extLst>
              </p:cNvPr>
              <p:cNvSpPr/>
              <p:nvPr/>
            </p:nvSpPr>
            <p:spPr>
              <a:xfrm>
                <a:off x="8836924" y="4341990"/>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35" name="Oval 34">
                <a:extLst>
                  <a:ext uri="{FF2B5EF4-FFF2-40B4-BE49-F238E27FC236}">
                    <a16:creationId xmlns:a16="http://schemas.microsoft.com/office/drawing/2014/main" id="{67A0923A-D958-A1BA-1015-3E54B06E39E1}"/>
                  </a:ext>
                </a:extLst>
              </p:cNvPr>
              <p:cNvSpPr/>
              <p:nvPr/>
            </p:nvSpPr>
            <p:spPr>
              <a:xfrm>
                <a:off x="2590801" y="5352744"/>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14</a:t>
                </a:r>
              </a:p>
            </p:txBody>
          </p:sp>
          <p:sp>
            <p:nvSpPr>
              <p:cNvPr id="36" name="Oval 35">
                <a:extLst>
                  <a:ext uri="{FF2B5EF4-FFF2-40B4-BE49-F238E27FC236}">
                    <a16:creationId xmlns:a16="http://schemas.microsoft.com/office/drawing/2014/main" id="{2B9709BB-64D4-3FBE-7884-D1B0484114A6}"/>
                  </a:ext>
                </a:extLst>
              </p:cNvPr>
              <p:cNvSpPr/>
              <p:nvPr/>
            </p:nvSpPr>
            <p:spPr>
              <a:xfrm>
                <a:off x="3733801" y="5352744"/>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cxnSp>
            <p:nvCxnSpPr>
              <p:cNvPr id="37" name="Straight Connector 36">
                <a:extLst>
                  <a:ext uri="{FF2B5EF4-FFF2-40B4-BE49-F238E27FC236}">
                    <a16:creationId xmlns:a16="http://schemas.microsoft.com/office/drawing/2014/main" id="{8A089308-EAB4-3DF6-2168-FA9078D82274}"/>
                  </a:ext>
                </a:extLst>
              </p:cNvPr>
              <p:cNvCxnSpPr>
                <a:cxnSpLocks/>
                <a:stCxn id="28" idx="3"/>
                <a:endCxn id="29" idx="7"/>
              </p:cNvCxnSpPr>
              <p:nvPr/>
            </p:nvCxnSpPr>
            <p:spPr>
              <a:xfrm flipH="1">
                <a:off x="4778311" y="3259380"/>
                <a:ext cx="1319311" cy="52367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483BDF66-84DB-ABCB-4020-11642646E088}"/>
                  </a:ext>
                </a:extLst>
              </p:cNvPr>
              <p:cNvCxnSpPr>
                <a:cxnSpLocks/>
                <a:stCxn id="28" idx="5"/>
                <a:endCxn id="30" idx="1"/>
              </p:cNvCxnSpPr>
              <p:nvPr/>
            </p:nvCxnSpPr>
            <p:spPr>
              <a:xfrm>
                <a:off x="6584165" y="3259380"/>
                <a:ext cx="1375101" cy="4953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C220F70A-FDDC-7762-B33A-06720ADD3AF7}"/>
                  </a:ext>
                </a:extLst>
              </p:cNvPr>
              <p:cNvCxnSpPr>
                <a:stCxn id="32" idx="1"/>
                <a:endCxn id="29" idx="5"/>
              </p:cNvCxnSpPr>
              <p:nvPr/>
            </p:nvCxnSpPr>
            <p:spPr>
              <a:xfrm flipH="1" flipV="1">
                <a:off x="4778310" y="4269598"/>
                <a:ext cx="533662" cy="25653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E56022E8-594C-5224-728B-F2FC6AA874BE}"/>
                  </a:ext>
                </a:extLst>
              </p:cNvPr>
              <p:cNvCxnSpPr>
                <a:stCxn id="31" idx="7"/>
                <a:endCxn id="29" idx="3"/>
              </p:cNvCxnSpPr>
              <p:nvPr/>
            </p:nvCxnSpPr>
            <p:spPr>
              <a:xfrm flipV="1">
                <a:off x="3787711" y="4269598"/>
                <a:ext cx="504057" cy="21467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F3D94FFD-BC02-5F5A-FF9E-9C49B907172F}"/>
                  </a:ext>
                </a:extLst>
              </p:cNvPr>
              <p:cNvCxnSpPr>
                <a:stCxn id="36" idx="0"/>
                <a:endCxn id="31" idx="5"/>
              </p:cNvCxnSpPr>
              <p:nvPr/>
            </p:nvCxnSpPr>
            <p:spPr>
              <a:xfrm flipH="1" flipV="1">
                <a:off x="3787711" y="4970813"/>
                <a:ext cx="290129" cy="38193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65735856-C128-C713-C639-DB1757598AE1}"/>
                  </a:ext>
                </a:extLst>
              </p:cNvPr>
              <p:cNvCxnSpPr>
                <a:stCxn id="35" idx="0"/>
                <a:endCxn id="31" idx="3"/>
              </p:cNvCxnSpPr>
              <p:nvPr/>
            </p:nvCxnSpPr>
            <p:spPr>
              <a:xfrm flipV="1">
                <a:off x="2934839" y="4970813"/>
                <a:ext cx="366328" cy="38193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A8E5DDDC-1F60-E1BD-ED97-8C6BDFE31483}"/>
                  </a:ext>
                </a:extLst>
              </p:cNvPr>
              <p:cNvCxnSpPr>
                <a:stCxn id="33" idx="7"/>
                <a:endCxn id="30" idx="3"/>
              </p:cNvCxnSpPr>
              <p:nvPr/>
            </p:nvCxnSpPr>
            <p:spPr>
              <a:xfrm flipV="1">
                <a:off x="7521511" y="4241222"/>
                <a:ext cx="437755" cy="20153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202118E8-FE37-1B94-60E7-FF8DC87A02DF}"/>
                  </a:ext>
                </a:extLst>
              </p:cNvPr>
              <p:cNvCxnSpPr>
                <a:stCxn id="34" idx="1"/>
                <a:endCxn id="30" idx="5"/>
              </p:cNvCxnSpPr>
              <p:nvPr/>
            </p:nvCxnSpPr>
            <p:spPr>
              <a:xfrm flipH="1" flipV="1">
                <a:off x="8445808" y="4241222"/>
                <a:ext cx="491882" cy="20153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45" name="TextBox 44">
                <a:extLst>
                  <a:ext uri="{FF2B5EF4-FFF2-40B4-BE49-F238E27FC236}">
                    <a16:creationId xmlns:a16="http://schemas.microsoft.com/office/drawing/2014/main" id="{A3F51C00-7BE4-C71B-CEC9-78F3E393B278}"/>
                  </a:ext>
                </a:extLst>
              </p:cNvPr>
              <p:cNvSpPr txBox="1"/>
              <p:nvPr/>
            </p:nvSpPr>
            <p:spPr>
              <a:xfrm>
                <a:off x="6190049" y="3371296"/>
                <a:ext cx="301686" cy="369332"/>
              </a:xfrm>
              <a:prstGeom prst="rect">
                <a:avLst/>
              </a:prstGeom>
              <a:noFill/>
            </p:spPr>
            <p:txBody>
              <a:bodyPr wrap="none" rtlCol="0">
                <a:spAutoFit/>
              </a:bodyPr>
              <a:lstStyle/>
              <a:p>
                <a:r>
                  <a:rPr lang="en-US" dirty="0">
                    <a:solidFill>
                      <a:srgbClr val="FF33CC"/>
                    </a:solidFill>
                  </a:rPr>
                  <a:t>1</a:t>
                </a:r>
              </a:p>
            </p:txBody>
          </p:sp>
          <p:sp>
            <p:nvSpPr>
              <p:cNvPr id="46" name="TextBox 45">
                <a:extLst>
                  <a:ext uri="{FF2B5EF4-FFF2-40B4-BE49-F238E27FC236}">
                    <a16:creationId xmlns:a16="http://schemas.microsoft.com/office/drawing/2014/main" id="{CE00191F-101E-453F-E05F-F79326EF7FFB}"/>
                  </a:ext>
                </a:extLst>
              </p:cNvPr>
              <p:cNvSpPr txBox="1"/>
              <p:nvPr/>
            </p:nvSpPr>
            <p:spPr>
              <a:xfrm>
                <a:off x="4384195" y="4377091"/>
                <a:ext cx="301686" cy="369332"/>
              </a:xfrm>
              <a:prstGeom prst="rect">
                <a:avLst/>
              </a:prstGeom>
              <a:noFill/>
            </p:spPr>
            <p:txBody>
              <a:bodyPr wrap="none" rtlCol="0">
                <a:spAutoFit/>
              </a:bodyPr>
              <a:lstStyle/>
              <a:p>
                <a:r>
                  <a:rPr lang="en-US" dirty="0">
                    <a:solidFill>
                      <a:srgbClr val="FF33CC"/>
                    </a:solidFill>
                  </a:rPr>
                  <a:t>2</a:t>
                </a:r>
              </a:p>
            </p:txBody>
          </p:sp>
          <p:sp>
            <p:nvSpPr>
              <p:cNvPr id="47" name="TextBox 46">
                <a:extLst>
                  <a:ext uri="{FF2B5EF4-FFF2-40B4-BE49-F238E27FC236}">
                    <a16:creationId xmlns:a16="http://schemas.microsoft.com/office/drawing/2014/main" id="{9B19AC53-E3AB-F92F-CA0A-7EC078433879}"/>
                  </a:ext>
                </a:extLst>
              </p:cNvPr>
              <p:cNvSpPr txBox="1"/>
              <p:nvPr/>
            </p:nvSpPr>
            <p:spPr>
              <a:xfrm>
                <a:off x="8051693" y="4316695"/>
                <a:ext cx="301686" cy="369332"/>
              </a:xfrm>
              <a:prstGeom prst="rect">
                <a:avLst/>
              </a:prstGeom>
              <a:noFill/>
            </p:spPr>
            <p:txBody>
              <a:bodyPr wrap="none" rtlCol="0">
                <a:spAutoFit/>
              </a:bodyPr>
              <a:lstStyle/>
              <a:p>
                <a:r>
                  <a:rPr lang="en-US" dirty="0">
                    <a:solidFill>
                      <a:srgbClr val="FF33CC"/>
                    </a:solidFill>
                  </a:rPr>
                  <a:t>3</a:t>
                </a:r>
              </a:p>
            </p:txBody>
          </p:sp>
          <p:sp>
            <p:nvSpPr>
              <p:cNvPr id="48" name="TextBox 47">
                <a:extLst>
                  <a:ext uri="{FF2B5EF4-FFF2-40B4-BE49-F238E27FC236}">
                    <a16:creationId xmlns:a16="http://schemas.microsoft.com/office/drawing/2014/main" id="{BA690ADD-9D72-5CFC-ABA4-CFD3482C08B4}"/>
                  </a:ext>
                </a:extLst>
              </p:cNvPr>
              <p:cNvSpPr txBox="1"/>
              <p:nvPr/>
            </p:nvSpPr>
            <p:spPr>
              <a:xfrm>
                <a:off x="3352081" y="5071580"/>
                <a:ext cx="301686" cy="369332"/>
              </a:xfrm>
              <a:prstGeom prst="rect">
                <a:avLst/>
              </a:prstGeom>
              <a:noFill/>
            </p:spPr>
            <p:txBody>
              <a:bodyPr wrap="none" rtlCol="0">
                <a:spAutoFit/>
              </a:bodyPr>
              <a:lstStyle/>
              <a:p>
                <a:r>
                  <a:rPr lang="en-US" dirty="0">
                    <a:solidFill>
                      <a:srgbClr val="FF33CC"/>
                    </a:solidFill>
                  </a:rPr>
                  <a:t>4</a:t>
                </a:r>
              </a:p>
            </p:txBody>
          </p:sp>
          <p:sp>
            <p:nvSpPr>
              <p:cNvPr id="49" name="TextBox 48">
                <a:extLst>
                  <a:ext uri="{FF2B5EF4-FFF2-40B4-BE49-F238E27FC236}">
                    <a16:creationId xmlns:a16="http://schemas.microsoft.com/office/drawing/2014/main" id="{525CA634-CACD-54BE-4661-54DEF3A780C5}"/>
                  </a:ext>
                </a:extLst>
              </p:cNvPr>
              <p:cNvSpPr txBox="1"/>
              <p:nvPr/>
            </p:nvSpPr>
            <p:spPr>
              <a:xfrm>
                <a:off x="7122005" y="5012677"/>
                <a:ext cx="301686" cy="369332"/>
              </a:xfrm>
              <a:prstGeom prst="rect">
                <a:avLst/>
              </a:prstGeom>
              <a:noFill/>
            </p:spPr>
            <p:txBody>
              <a:bodyPr wrap="none" rtlCol="0">
                <a:spAutoFit/>
              </a:bodyPr>
              <a:lstStyle/>
              <a:p>
                <a:r>
                  <a:rPr lang="en-US" dirty="0">
                    <a:solidFill>
                      <a:srgbClr val="FF33CC"/>
                    </a:solidFill>
                  </a:rPr>
                  <a:t>6</a:t>
                </a:r>
              </a:p>
            </p:txBody>
          </p:sp>
          <p:sp>
            <p:nvSpPr>
              <p:cNvPr id="50" name="TextBox 49">
                <a:extLst>
                  <a:ext uri="{FF2B5EF4-FFF2-40B4-BE49-F238E27FC236}">
                    <a16:creationId xmlns:a16="http://schemas.microsoft.com/office/drawing/2014/main" id="{ABF6D568-E05C-26F2-EBD8-57839FC7687F}"/>
                  </a:ext>
                </a:extLst>
              </p:cNvPr>
              <p:cNvSpPr txBox="1"/>
              <p:nvPr/>
            </p:nvSpPr>
            <p:spPr>
              <a:xfrm>
                <a:off x="5404400" y="5108902"/>
                <a:ext cx="301686" cy="369332"/>
              </a:xfrm>
              <a:prstGeom prst="rect">
                <a:avLst/>
              </a:prstGeom>
              <a:noFill/>
            </p:spPr>
            <p:txBody>
              <a:bodyPr wrap="none" rtlCol="0">
                <a:spAutoFit/>
              </a:bodyPr>
              <a:lstStyle/>
              <a:p>
                <a:r>
                  <a:rPr lang="en-US" dirty="0">
                    <a:solidFill>
                      <a:srgbClr val="FF33CC"/>
                    </a:solidFill>
                  </a:rPr>
                  <a:t>5</a:t>
                </a:r>
              </a:p>
            </p:txBody>
          </p:sp>
          <p:sp>
            <p:nvSpPr>
              <p:cNvPr id="51" name="TextBox 50">
                <a:extLst>
                  <a:ext uri="{FF2B5EF4-FFF2-40B4-BE49-F238E27FC236}">
                    <a16:creationId xmlns:a16="http://schemas.microsoft.com/office/drawing/2014/main" id="{3E1DFACA-646B-2F3B-1F0D-554B10C6DCB7}"/>
                  </a:ext>
                </a:extLst>
              </p:cNvPr>
              <p:cNvSpPr txBox="1"/>
              <p:nvPr/>
            </p:nvSpPr>
            <p:spPr>
              <a:xfrm>
                <a:off x="9030118" y="5030066"/>
                <a:ext cx="301686" cy="369332"/>
              </a:xfrm>
              <a:prstGeom prst="rect">
                <a:avLst/>
              </a:prstGeom>
              <a:noFill/>
            </p:spPr>
            <p:txBody>
              <a:bodyPr wrap="none" rtlCol="0">
                <a:spAutoFit/>
              </a:bodyPr>
              <a:lstStyle/>
              <a:p>
                <a:r>
                  <a:rPr lang="en-US" dirty="0">
                    <a:solidFill>
                      <a:srgbClr val="FF33CC"/>
                    </a:solidFill>
                  </a:rPr>
                  <a:t>7</a:t>
                </a:r>
              </a:p>
            </p:txBody>
          </p:sp>
          <p:sp>
            <p:nvSpPr>
              <p:cNvPr id="52" name="TextBox 51">
                <a:extLst>
                  <a:ext uri="{FF2B5EF4-FFF2-40B4-BE49-F238E27FC236}">
                    <a16:creationId xmlns:a16="http://schemas.microsoft.com/office/drawing/2014/main" id="{B96EE955-07B4-4EE0-219A-7BF193FD11F3}"/>
                  </a:ext>
                </a:extLst>
              </p:cNvPr>
              <p:cNvSpPr txBox="1"/>
              <p:nvPr/>
            </p:nvSpPr>
            <p:spPr>
              <a:xfrm>
                <a:off x="2783996" y="5964620"/>
                <a:ext cx="301686" cy="369332"/>
              </a:xfrm>
              <a:prstGeom prst="rect">
                <a:avLst/>
              </a:prstGeom>
              <a:noFill/>
            </p:spPr>
            <p:txBody>
              <a:bodyPr wrap="none" rtlCol="0">
                <a:spAutoFit/>
              </a:bodyPr>
              <a:lstStyle/>
              <a:p>
                <a:r>
                  <a:rPr lang="en-US" dirty="0">
                    <a:solidFill>
                      <a:srgbClr val="FF33CC"/>
                    </a:solidFill>
                  </a:rPr>
                  <a:t>8</a:t>
                </a:r>
              </a:p>
            </p:txBody>
          </p:sp>
          <p:sp>
            <p:nvSpPr>
              <p:cNvPr id="53" name="TextBox 52">
                <a:extLst>
                  <a:ext uri="{FF2B5EF4-FFF2-40B4-BE49-F238E27FC236}">
                    <a16:creationId xmlns:a16="http://schemas.microsoft.com/office/drawing/2014/main" id="{6AE0ABF5-B591-93A9-75F6-25B4A6AB23BE}"/>
                  </a:ext>
                </a:extLst>
              </p:cNvPr>
              <p:cNvSpPr txBox="1"/>
              <p:nvPr/>
            </p:nvSpPr>
            <p:spPr>
              <a:xfrm>
                <a:off x="3920467" y="5964620"/>
                <a:ext cx="301686" cy="369332"/>
              </a:xfrm>
              <a:prstGeom prst="rect">
                <a:avLst/>
              </a:prstGeom>
              <a:noFill/>
            </p:spPr>
            <p:txBody>
              <a:bodyPr wrap="none" rtlCol="0">
                <a:spAutoFit/>
              </a:bodyPr>
              <a:lstStyle/>
              <a:p>
                <a:r>
                  <a:rPr lang="en-US" dirty="0">
                    <a:solidFill>
                      <a:srgbClr val="FF33CC"/>
                    </a:solidFill>
                  </a:rPr>
                  <a:t>9</a:t>
                </a:r>
              </a:p>
            </p:txBody>
          </p:sp>
        </p:grpSp>
        <p:sp>
          <p:nvSpPr>
            <p:cNvPr id="54" name="Oval 53">
              <a:extLst>
                <a:ext uri="{FF2B5EF4-FFF2-40B4-BE49-F238E27FC236}">
                  <a16:creationId xmlns:a16="http://schemas.microsoft.com/office/drawing/2014/main" id="{76035EC9-3610-8FDE-B3D0-38593B0EF572}"/>
                </a:ext>
              </a:extLst>
            </p:cNvPr>
            <p:cNvSpPr/>
            <p:nvPr/>
          </p:nvSpPr>
          <p:spPr>
            <a:xfrm>
              <a:off x="2330369" y="5636036"/>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cxnSp>
          <p:nvCxnSpPr>
            <p:cNvPr id="55" name="Straight Connector 54">
              <a:extLst>
                <a:ext uri="{FF2B5EF4-FFF2-40B4-BE49-F238E27FC236}">
                  <a16:creationId xmlns:a16="http://schemas.microsoft.com/office/drawing/2014/main" id="{0001DADF-BD70-7B05-56C0-31B3799F72C0}"/>
                </a:ext>
              </a:extLst>
            </p:cNvPr>
            <p:cNvCxnSpPr>
              <a:cxnSpLocks/>
              <a:stCxn id="54" idx="0"/>
              <a:endCxn id="32" idx="3"/>
            </p:cNvCxnSpPr>
            <p:nvPr/>
          </p:nvCxnSpPr>
          <p:spPr>
            <a:xfrm flipV="1">
              <a:off x="2674408" y="5297030"/>
              <a:ext cx="248506" cy="33900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59" name="TextBox 58">
              <a:extLst>
                <a:ext uri="{FF2B5EF4-FFF2-40B4-BE49-F238E27FC236}">
                  <a16:creationId xmlns:a16="http://schemas.microsoft.com/office/drawing/2014/main" id="{04CC9DA3-E3B4-4532-1F70-7E2BF83F9167}"/>
                </a:ext>
              </a:extLst>
            </p:cNvPr>
            <p:cNvSpPr txBox="1"/>
            <p:nvPr/>
          </p:nvSpPr>
          <p:spPr>
            <a:xfrm>
              <a:off x="2446730" y="6243373"/>
              <a:ext cx="418704" cy="369332"/>
            </a:xfrm>
            <a:prstGeom prst="rect">
              <a:avLst/>
            </a:prstGeom>
            <a:noFill/>
          </p:spPr>
          <p:txBody>
            <a:bodyPr wrap="none" rtlCol="0">
              <a:spAutoFit/>
            </a:bodyPr>
            <a:lstStyle/>
            <a:p>
              <a:r>
                <a:rPr lang="en-US" dirty="0">
                  <a:solidFill>
                    <a:srgbClr val="FF33CC"/>
                  </a:solidFill>
                </a:rPr>
                <a:t>10</a:t>
              </a:r>
            </a:p>
          </p:txBody>
        </p:sp>
      </p:grpSp>
      <p:sp>
        <p:nvSpPr>
          <p:cNvPr id="56" name="TextBox 55">
            <a:extLst>
              <a:ext uri="{FF2B5EF4-FFF2-40B4-BE49-F238E27FC236}">
                <a16:creationId xmlns:a16="http://schemas.microsoft.com/office/drawing/2014/main" id="{ED4902B8-F5AB-50D9-18C4-FF07B8E03412}"/>
              </a:ext>
            </a:extLst>
          </p:cNvPr>
          <p:cNvSpPr txBox="1"/>
          <p:nvPr/>
        </p:nvSpPr>
        <p:spPr>
          <a:xfrm>
            <a:off x="8156993" y="4237971"/>
            <a:ext cx="3263779" cy="1938992"/>
          </a:xfrm>
          <a:prstGeom prst="rect">
            <a:avLst/>
          </a:prstGeom>
          <a:noFill/>
        </p:spPr>
        <p:txBody>
          <a:bodyPr wrap="none" rtlCol="0">
            <a:spAutoFit/>
          </a:bodyPr>
          <a:lstStyle/>
          <a:p>
            <a:r>
              <a:rPr lang="en-US" sz="2400" dirty="0" err="1"/>
              <a:t>buildHeap</a:t>
            </a:r>
            <a:r>
              <a:rPr lang="en-US" sz="2400" dirty="0"/>
              <a:t>(){</a:t>
            </a:r>
          </a:p>
          <a:p>
            <a:r>
              <a:rPr lang="en-US" sz="2400" dirty="0"/>
              <a:t>    for(int </a:t>
            </a:r>
            <a:r>
              <a:rPr lang="en-US" sz="2400" dirty="0" err="1"/>
              <a:t>i</a:t>
            </a:r>
            <a:r>
              <a:rPr lang="en-US" sz="2400" dirty="0"/>
              <a:t> = size; </a:t>
            </a:r>
            <a:r>
              <a:rPr lang="en-US" sz="2400" dirty="0" err="1"/>
              <a:t>i</a:t>
            </a:r>
            <a:r>
              <a:rPr lang="en-US" sz="2400" dirty="0"/>
              <a:t>&gt;0; </a:t>
            </a:r>
            <a:r>
              <a:rPr lang="en-US" sz="2400" dirty="0" err="1"/>
              <a:t>i</a:t>
            </a:r>
            <a:r>
              <a:rPr lang="en-US" sz="2400" dirty="0"/>
              <a:t>--){</a:t>
            </a:r>
          </a:p>
          <a:p>
            <a:r>
              <a:rPr lang="en-US" sz="2400" dirty="0"/>
              <a:t>        </a:t>
            </a:r>
            <a:r>
              <a:rPr lang="en-US" sz="2400" dirty="0" err="1"/>
              <a:t>percolateDown</a:t>
            </a:r>
            <a:r>
              <a:rPr lang="en-US" sz="2400" dirty="0"/>
              <a:t>(</a:t>
            </a:r>
            <a:r>
              <a:rPr lang="en-US" sz="2400" dirty="0" err="1"/>
              <a:t>i</a:t>
            </a:r>
            <a:r>
              <a:rPr lang="en-US" sz="2400" dirty="0"/>
              <a:t>);</a:t>
            </a:r>
          </a:p>
          <a:p>
            <a:r>
              <a:rPr lang="en-US" sz="2400" dirty="0"/>
              <a:t>    }</a:t>
            </a:r>
          </a:p>
          <a:p>
            <a:r>
              <a:rPr lang="en-US" sz="2400" dirty="0"/>
              <a:t>}</a:t>
            </a:r>
          </a:p>
        </p:txBody>
      </p:sp>
      <p:sp>
        <p:nvSpPr>
          <p:cNvPr id="62" name="TextBox 61">
            <a:extLst>
              <a:ext uri="{FF2B5EF4-FFF2-40B4-BE49-F238E27FC236}">
                <a16:creationId xmlns:a16="http://schemas.microsoft.com/office/drawing/2014/main" id="{B43941B0-86D8-D533-366D-B46802C30744}"/>
              </a:ext>
              <a:ext uri="{C183D7F6-B498-43B3-948B-1728B52AA6E4}">
                <adec:decorative xmlns:adec="http://schemas.microsoft.com/office/drawing/2017/decorative" val="1"/>
              </a:ext>
            </a:extLst>
          </p:cNvPr>
          <p:cNvSpPr txBox="1"/>
          <p:nvPr/>
        </p:nvSpPr>
        <p:spPr>
          <a:xfrm>
            <a:off x="301792" y="2977294"/>
            <a:ext cx="2571730" cy="646331"/>
          </a:xfrm>
          <a:prstGeom prst="rect">
            <a:avLst/>
          </a:prstGeom>
          <a:noFill/>
        </p:spPr>
        <p:txBody>
          <a:bodyPr wrap="none" rtlCol="0">
            <a:spAutoFit/>
          </a:bodyPr>
          <a:lstStyle/>
          <a:p>
            <a:r>
              <a:rPr lang="en-US" b="1" u="sng" dirty="0">
                <a:solidFill>
                  <a:srgbClr val="FF0000"/>
                </a:solidFill>
              </a:rPr>
              <a:t>Violate Heap Property!</a:t>
            </a:r>
          </a:p>
          <a:p>
            <a:r>
              <a:rPr lang="en-US" dirty="0">
                <a:solidFill>
                  <a:srgbClr val="FF0000"/>
                </a:solidFill>
              </a:rPr>
              <a:t>Nodes bigger than a child</a:t>
            </a:r>
          </a:p>
        </p:txBody>
      </p:sp>
    </p:spTree>
    <p:extLst>
      <p:ext uri="{BB962C8B-B14F-4D97-AF65-F5344CB8AC3E}">
        <p14:creationId xmlns:p14="http://schemas.microsoft.com/office/powerpoint/2010/main" val="361609947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0F2A4A-E8D3-7F93-AD14-D6B2FD99DD01}"/>
              </a:ext>
            </a:extLst>
          </p:cNvPr>
          <p:cNvSpPr>
            <a:spLocks noGrp="1"/>
          </p:cNvSpPr>
          <p:nvPr>
            <p:ph type="title"/>
          </p:nvPr>
        </p:nvSpPr>
        <p:spPr/>
        <p:txBody>
          <a:bodyPr/>
          <a:lstStyle/>
          <a:p>
            <a:r>
              <a:rPr lang="en-US" dirty="0"/>
              <a:t>Floyd’s </a:t>
            </a:r>
            <a:r>
              <a:rPr lang="en-US" dirty="0" err="1"/>
              <a:t>buildHeap</a:t>
            </a:r>
            <a:r>
              <a:rPr lang="en-US" dirty="0"/>
              <a:t> method (Percolate 3) </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81AF3C39-C718-C590-CB20-0AC3D97ADFB4}"/>
                  </a:ext>
                </a:extLst>
              </p:cNvPr>
              <p:cNvSpPr>
                <a:spLocks noGrp="1"/>
              </p:cNvSpPr>
              <p:nvPr>
                <p:ph idx="1"/>
              </p:nvPr>
            </p:nvSpPr>
            <p:spPr/>
            <p:txBody>
              <a:bodyPr/>
              <a:lstStyle/>
              <a:p>
                <a:r>
                  <a:rPr lang="en-US" dirty="0"/>
                  <a:t>Suppose we had </a:t>
                </a:r>
                <a14:m>
                  <m:oMath xmlns:m="http://schemas.openxmlformats.org/officeDocument/2006/math">
                    <m:r>
                      <a:rPr lang="en-US" b="0" i="1" smtClean="0">
                        <a:latin typeface="Cambria Math" panose="02040503050406030204" pitchFamily="18" charset="0"/>
                      </a:rPr>
                      <m:t>𝑛</m:t>
                    </m:r>
                  </m:oMath>
                </a14:m>
                <a:r>
                  <a:rPr lang="en-US" dirty="0"/>
                  <a:t> items and wanted to “</a:t>
                </a:r>
                <a:r>
                  <a:rPr lang="en-US" dirty="0" err="1"/>
                  <a:t>heapify</a:t>
                </a:r>
                <a:r>
                  <a:rPr lang="en-US" dirty="0"/>
                  <a:t>” them</a:t>
                </a:r>
              </a:p>
            </p:txBody>
          </p:sp>
        </mc:Choice>
        <mc:Fallback xmlns="">
          <p:sp>
            <p:nvSpPr>
              <p:cNvPr id="3" name="Content Placeholder 2">
                <a:extLst>
                  <a:ext uri="{FF2B5EF4-FFF2-40B4-BE49-F238E27FC236}">
                    <a16:creationId xmlns:a16="http://schemas.microsoft.com/office/drawing/2014/main" id="{81AF3C39-C718-C590-CB20-0AC3D97ADFB4}"/>
                  </a:ext>
                </a:extLst>
              </p:cNvPr>
              <p:cNvSpPr>
                <a:spLocks noGrp="1" noRot="1" noChangeAspect="1" noMove="1" noResize="1" noEditPoints="1" noAdjustHandles="1" noChangeArrowheads="1" noChangeShapeType="1" noTextEdit="1"/>
              </p:cNvSpPr>
              <p:nvPr>
                <p:ph idx="1"/>
              </p:nvPr>
            </p:nvSpPr>
            <p:spPr>
              <a:blipFill>
                <a:blip r:embed="rId2"/>
                <a:stretch>
                  <a:fillRect l="-1043" t="-2241"/>
                </a:stretch>
              </a:blipFill>
            </p:spPr>
            <p:txBody>
              <a:bodyPr/>
              <a:lstStyle/>
              <a:p>
                <a:r>
                  <a:rPr lang="en-US">
                    <a:noFill/>
                  </a:rPr>
                  <a:t> </a:t>
                </a:r>
              </a:p>
            </p:txBody>
          </p:sp>
        </mc:Fallback>
      </mc:AlternateContent>
      <p:grpSp>
        <p:nvGrpSpPr>
          <p:cNvPr id="61" name="Group 60" descr="The node 15 was larger than its left child (1), and so we swap 15 with the left child. Now 15 is a leaf and so it no longer violates the heap property. 1 is smaller than its child (now 15), and so it does not violate the heap property either.&#10;&#10;We will next percolate the node 3 down.">
            <a:extLst>
              <a:ext uri="{FF2B5EF4-FFF2-40B4-BE49-F238E27FC236}">
                <a16:creationId xmlns:a16="http://schemas.microsoft.com/office/drawing/2014/main" id="{863756C4-FFEE-45CE-C290-81DC657DB3F1}"/>
              </a:ext>
            </a:extLst>
          </p:cNvPr>
          <p:cNvGrpSpPr/>
          <p:nvPr/>
        </p:nvGrpSpPr>
        <p:grpSpPr>
          <a:xfrm>
            <a:off x="201742" y="2956422"/>
            <a:ext cx="6934200" cy="3661882"/>
            <a:chOff x="201742" y="2956422"/>
            <a:chExt cx="6934200" cy="3661882"/>
          </a:xfrm>
        </p:grpSpPr>
        <p:grpSp>
          <p:nvGrpSpPr>
            <p:cNvPr id="27" name="Group 26">
              <a:extLst>
                <a:ext uri="{FF2B5EF4-FFF2-40B4-BE49-F238E27FC236}">
                  <a16:creationId xmlns:a16="http://schemas.microsoft.com/office/drawing/2014/main" id="{B87E5112-EE0A-A568-FB0C-800B49EAA828}"/>
                </a:ext>
              </a:extLst>
            </p:cNvPr>
            <p:cNvGrpSpPr/>
            <p:nvPr/>
          </p:nvGrpSpPr>
          <p:grpSpPr>
            <a:xfrm>
              <a:off x="201742" y="2956422"/>
              <a:ext cx="6934200" cy="3661882"/>
              <a:chOff x="2590801" y="2672070"/>
              <a:chExt cx="6934200" cy="3661882"/>
            </a:xfrm>
          </p:grpSpPr>
          <p:sp>
            <p:nvSpPr>
              <p:cNvPr id="28" name="Oval 27">
                <a:extLst>
                  <a:ext uri="{FF2B5EF4-FFF2-40B4-BE49-F238E27FC236}">
                    <a16:creationId xmlns:a16="http://schemas.microsoft.com/office/drawing/2014/main" id="{3A30E535-E151-7B10-2482-D4C18A271CB8}"/>
                  </a:ext>
                </a:extLst>
              </p:cNvPr>
              <p:cNvSpPr/>
              <p:nvPr/>
            </p:nvSpPr>
            <p:spPr>
              <a:xfrm>
                <a:off x="5996855" y="2672070"/>
                <a:ext cx="688077" cy="688077"/>
              </a:xfrm>
              <a:prstGeom prst="ellipse">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5</a:t>
                </a:r>
              </a:p>
            </p:txBody>
          </p:sp>
          <p:sp>
            <p:nvSpPr>
              <p:cNvPr id="29" name="Oval 28">
                <a:extLst>
                  <a:ext uri="{FF2B5EF4-FFF2-40B4-BE49-F238E27FC236}">
                    <a16:creationId xmlns:a16="http://schemas.microsoft.com/office/drawing/2014/main" id="{316155D8-6880-CAC9-337D-0F3B5F0C2BBB}"/>
                  </a:ext>
                </a:extLst>
              </p:cNvPr>
              <p:cNvSpPr/>
              <p:nvPr/>
            </p:nvSpPr>
            <p:spPr>
              <a:xfrm>
                <a:off x="4191001" y="3682289"/>
                <a:ext cx="688077" cy="688077"/>
              </a:xfrm>
              <a:prstGeom prst="ellipse">
                <a:avLst/>
              </a:prstGeom>
              <a:solidFill>
                <a:schemeClr val="accent2">
                  <a:lumMod val="40000"/>
                  <a:lumOff val="60000"/>
                </a:schemeClr>
              </a:solid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940000"/>
                    </a:solidFill>
                  </a:rPr>
                  <a:t>6</a:t>
                </a:r>
              </a:p>
            </p:txBody>
          </p:sp>
          <p:sp>
            <p:nvSpPr>
              <p:cNvPr id="30" name="Oval 29">
                <a:extLst>
                  <a:ext uri="{FF2B5EF4-FFF2-40B4-BE49-F238E27FC236}">
                    <a16:creationId xmlns:a16="http://schemas.microsoft.com/office/drawing/2014/main" id="{63701FD1-D85F-35B3-CE7C-6CFF8DCBAC09}"/>
                  </a:ext>
                </a:extLst>
              </p:cNvPr>
              <p:cNvSpPr/>
              <p:nvPr/>
            </p:nvSpPr>
            <p:spPr>
              <a:xfrm>
                <a:off x="7858499" y="3653913"/>
                <a:ext cx="688077" cy="688077"/>
              </a:xfrm>
              <a:prstGeom prst="ellipse">
                <a:avLst/>
              </a:prstGeom>
              <a:solidFill>
                <a:schemeClr val="accent2">
                  <a:lumMod val="40000"/>
                  <a:lumOff val="60000"/>
                </a:schemeClr>
              </a:solid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940000"/>
                    </a:solidFill>
                  </a:rPr>
                  <a:t>10</a:t>
                </a:r>
              </a:p>
            </p:txBody>
          </p:sp>
          <p:sp>
            <p:nvSpPr>
              <p:cNvPr id="31" name="Oval 30">
                <a:extLst>
                  <a:ext uri="{FF2B5EF4-FFF2-40B4-BE49-F238E27FC236}">
                    <a16:creationId xmlns:a16="http://schemas.microsoft.com/office/drawing/2014/main" id="{03A6BB66-2DDC-8C2E-6AB0-DA31FC02453E}"/>
                  </a:ext>
                </a:extLst>
              </p:cNvPr>
              <p:cNvSpPr/>
              <p:nvPr/>
            </p:nvSpPr>
            <p:spPr>
              <a:xfrm>
                <a:off x="3200401" y="4383504"/>
                <a:ext cx="688077" cy="688077"/>
              </a:xfrm>
              <a:prstGeom prst="ellipse">
                <a:avLst/>
              </a:prstGeom>
              <a:solidFill>
                <a:schemeClr val="accent2">
                  <a:lumMod val="40000"/>
                  <a:lumOff val="60000"/>
                </a:schemeClr>
              </a:solid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940000"/>
                    </a:solidFill>
                  </a:rPr>
                  <a:t>3</a:t>
                </a:r>
              </a:p>
            </p:txBody>
          </p:sp>
          <p:sp>
            <p:nvSpPr>
              <p:cNvPr id="32" name="Oval 31">
                <a:extLst>
                  <a:ext uri="{FF2B5EF4-FFF2-40B4-BE49-F238E27FC236}">
                    <a16:creationId xmlns:a16="http://schemas.microsoft.com/office/drawing/2014/main" id="{E219BA91-50E2-9B4F-817E-664706C652CC}"/>
                  </a:ext>
                </a:extLst>
              </p:cNvPr>
              <p:cNvSpPr/>
              <p:nvPr/>
            </p:nvSpPr>
            <p:spPr>
              <a:xfrm>
                <a:off x="5211206" y="4425368"/>
                <a:ext cx="688077" cy="688077"/>
              </a:xfrm>
              <a:prstGeom prst="ellipse">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1</a:t>
                </a:r>
              </a:p>
            </p:txBody>
          </p:sp>
          <p:sp>
            <p:nvSpPr>
              <p:cNvPr id="33" name="Oval 32">
                <a:extLst>
                  <a:ext uri="{FF2B5EF4-FFF2-40B4-BE49-F238E27FC236}">
                    <a16:creationId xmlns:a16="http://schemas.microsoft.com/office/drawing/2014/main" id="{C3B38612-C965-1385-57E2-DB495D63D40C}"/>
                  </a:ext>
                </a:extLst>
              </p:cNvPr>
              <p:cNvSpPr/>
              <p:nvPr/>
            </p:nvSpPr>
            <p:spPr>
              <a:xfrm>
                <a:off x="6934201" y="4341990"/>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34" name="Oval 33">
                <a:extLst>
                  <a:ext uri="{FF2B5EF4-FFF2-40B4-BE49-F238E27FC236}">
                    <a16:creationId xmlns:a16="http://schemas.microsoft.com/office/drawing/2014/main" id="{C32BE3EF-F957-D7BD-78A2-BE2188A515E4}"/>
                  </a:ext>
                </a:extLst>
              </p:cNvPr>
              <p:cNvSpPr/>
              <p:nvPr/>
            </p:nvSpPr>
            <p:spPr>
              <a:xfrm>
                <a:off x="8836924" y="4341990"/>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35" name="Oval 34">
                <a:extLst>
                  <a:ext uri="{FF2B5EF4-FFF2-40B4-BE49-F238E27FC236}">
                    <a16:creationId xmlns:a16="http://schemas.microsoft.com/office/drawing/2014/main" id="{67A0923A-D958-A1BA-1015-3E54B06E39E1}"/>
                  </a:ext>
                </a:extLst>
              </p:cNvPr>
              <p:cNvSpPr/>
              <p:nvPr/>
            </p:nvSpPr>
            <p:spPr>
              <a:xfrm>
                <a:off x="2590801" y="5352744"/>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14</a:t>
                </a:r>
              </a:p>
            </p:txBody>
          </p:sp>
          <p:sp>
            <p:nvSpPr>
              <p:cNvPr id="36" name="Oval 35">
                <a:extLst>
                  <a:ext uri="{FF2B5EF4-FFF2-40B4-BE49-F238E27FC236}">
                    <a16:creationId xmlns:a16="http://schemas.microsoft.com/office/drawing/2014/main" id="{2B9709BB-64D4-3FBE-7884-D1B0484114A6}"/>
                  </a:ext>
                </a:extLst>
              </p:cNvPr>
              <p:cNvSpPr/>
              <p:nvPr/>
            </p:nvSpPr>
            <p:spPr>
              <a:xfrm>
                <a:off x="3733801" y="5352744"/>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cxnSp>
            <p:nvCxnSpPr>
              <p:cNvPr id="37" name="Straight Connector 36">
                <a:extLst>
                  <a:ext uri="{FF2B5EF4-FFF2-40B4-BE49-F238E27FC236}">
                    <a16:creationId xmlns:a16="http://schemas.microsoft.com/office/drawing/2014/main" id="{8A089308-EAB4-3DF6-2168-FA9078D82274}"/>
                  </a:ext>
                </a:extLst>
              </p:cNvPr>
              <p:cNvCxnSpPr>
                <a:cxnSpLocks/>
                <a:stCxn id="28" idx="3"/>
                <a:endCxn id="29" idx="7"/>
              </p:cNvCxnSpPr>
              <p:nvPr/>
            </p:nvCxnSpPr>
            <p:spPr>
              <a:xfrm flipH="1">
                <a:off x="4778311" y="3259380"/>
                <a:ext cx="1319311" cy="52367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483BDF66-84DB-ABCB-4020-11642646E088}"/>
                  </a:ext>
                </a:extLst>
              </p:cNvPr>
              <p:cNvCxnSpPr>
                <a:cxnSpLocks/>
                <a:stCxn id="28" idx="5"/>
                <a:endCxn id="30" idx="1"/>
              </p:cNvCxnSpPr>
              <p:nvPr/>
            </p:nvCxnSpPr>
            <p:spPr>
              <a:xfrm>
                <a:off x="6584165" y="3259380"/>
                <a:ext cx="1375101" cy="4953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C220F70A-FDDC-7762-B33A-06720ADD3AF7}"/>
                  </a:ext>
                </a:extLst>
              </p:cNvPr>
              <p:cNvCxnSpPr>
                <a:stCxn id="32" idx="1"/>
                <a:endCxn id="29" idx="5"/>
              </p:cNvCxnSpPr>
              <p:nvPr/>
            </p:nvCxnSpPr>
            <p:spPr>
              <a:xfrm flipH="1" flipV="1">
                <a:off x="4778310" y="4269598"/>
                <a:ext cx="533662" cy="25653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E56022E8-594C-5224-728B-F2FC6AA874BE}"/>
                  </a:ext>
                </a:extLst>
              </p:cNvPr>
              <p:cNvCxnSpPr>
                <a:stCxn id="31" idx="7"/>
                <a:endCxn id="29" idx="3"/>
              </p:cNvCxnSpPr>
              <p:nvPr/>
            </p:nvCxnSpPr>
            <p:spPr>
              <a:xfrm flipV="1">
                <a:off x="3787711" y="4269598"/>
                <a:ext cx="504057" cy="21467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F3D94FFD-BC02-5F5A-FF9E-9C49B907172F}"/>
                  </a:ext>
                </a:extLst>
              </p:cNvPr>
              <p:cNvCxnSpPr>
                <a:stCxn id="36" idx="0"/>
                <a:endCxn id="31" idx="5"/>
              </p:cNvCxnSpPr>
              <p:nvPr/>
            </p:nvCxnSpPr>
            <p:spPr>
              <a:xfrm flipH="1" flipV="1">
                <a:off x="3787711" y="4970813"/>
                <a:ext cx="290129" cy="38193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65735856-C128-C713-C639-DB1757598AE1}"/>
                  </a:ext>
                </a:extLst>
              </p:cNvPr>
              <p:cNvCxnSpPr>
                <a:stCxn id="35" idx="0"/>
                <a:endCxn id="31" idx="3"/>
              </p:cNvCxnSpPr>
              <p:nvPr/>
            </p:nvCxnSpPr>
            <p:spPr>
              <a:xfrm flipV="1">
                <a:off x="2934839" y="4970813"/>
                <a:ext cx="366328" cy="38193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A8E5DDDC-1F60-E1BD-ED97-8C6BDFE31483}"/>
                  </a:ext>
                </a:extLst>
              </p:cNvPr>
              <p:cNvCxnSpPr>
                <a:stCxn id="33" idx="7"/>
                <a:endCxn id="30" idx="3"/>
              </p:cNvCxnSpPr>
              <p:nvPr/>
            </p:nvCxnSpPr>
            <p:spPr>
              <a:xfrm flipV="1">
                <a:off x="7521511" y="4241222"/>
                <a:ext cx="437755" cy="20153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202118E8-FE37-1B94-60E7-FF8DC87A02DF}"/>
                  </a:ext>
                </a:extLst>
              </p:cNvPr>
              <p:cNvCxnSpPr>
                <a:stCxn id="34" idx="1"/>
                <a:endCxn id="30" idx="5"/>
              </p:cNvCxnSpPr>
              <p:nvPr/>
            </p:nvCxnSpPr>
            <p:spPr>
              <a:xfrm flipH="1" flipV="1">
                <a:off x="8445808" y="4241222"/>
                <a:ext cx="491882" cy="20153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45" name="TextBox 44">
                <a:extLst>
                  <a:ext uri="{FF2B5EF4-FFF2-40B4-BE49-F238E27FC236}">
                    <a16:creationId xmlns:a16="http://schemas.microsoft.com/office/drawing/2014/main" id="{A3F51C00-7BE4-C71B-CEC9-78F3E393B278}"/>
                  </a:ext>
                </a:extLst>
              </p:cNvPr>
              <p:cNvSpPr txBox="1"/>
              <p:nvPr/>
            </p:nvSpPr>
            <p:spPr>
              <a:xfrm>
                <a:off x="6190049" y="3371296"/>
                <a:ext cx="301686" cy="369332"/>
              </a:xfrm>
              <a:prstGeom prst="rect">
                <a:avLst/>
              </a:prstGeom>
              <a:noFill/>
            </p:spPr>
            <p:txBody>
              <a:bodyPr wrap="none" rtlCol="0">
                <a:spAutoFit/>
              </a:bodyPr>
              <a:lstStyle/>
              <a:p>
                <a:r>
                  <a:rPr lang="en-US" dirty="0">
                    <a:solidFill>
                      <a:srgbClr val="FF33CC"/>
                    </a:solidFill>
                  </a:rPr>
                  <a:t>1</a:t>
                </a:r>
              </a:p>
            </p:txBody>
          </p:sp>
          <p:sp>
            <p:nvSpPr>
              <p:cNvPr id="46" name="TextBox 45">
                <a:extLst>
                  <a:ext uri="{FF2B5EF4-FFF2-40B4-BE49-F238E27FC236}">
                    <a16:creationId xmlns:a16="http://schemas.microsoft.com/office/drawing/2014/main" id="{CE00191F-101E-453F-E05F-F79326EF7FFB}"/>
                  </a:ext>
                </a:extLst>
              </p:cNvPr>
              <p:cNvSpPr txBox="1"/>
              <p:nvPr/>
            </p:nvSpPr>
            <p:spPr>
              <a:xfrm>
                <a:off x="4384195" y="4377091"/>
                <a:ext cx="301686" cy="369332"/>
              </a:xfrm>
              <a:prstGeom prst="rect">
                <a:avLst/>
              </a:prstGeom>
              <a:noFill/>
            </p:spPr>
            <p:txBody>
              <a:bodyPr wrap="none" rtlCol="0">
                <a:spAutoFit/>
              </a:bodyPr>
              <a:lstStyle/>
              <a:p>
                <a:r>
                  <a:rPr lang="en-US" dirty="0">
                    <a:solidFill>
                      <a:srgbClr val="FF33CC"/>
                    </a:solidFill>
                  </a:rPr>
                  <a:t>2</a:t>
                </a:r>
              </a:p>
            </p:txBody>
          </p:sp>
          <p:sp>
            <p:nvSpPr>
              <p:cNvPr id="47" name="TextBox 46">
                <a:extLst>
                  <a:ext uri="{FF2B5EF4-FFF2-40B4-BE49-F238E27FC236}">
                    <a16:creationId xmlns:a16="http://schemas.microsoft.com/office/drawing/2014/main" id="{9B19AC53-E3AB-F92F-CA0A-7EC078433879}"/>
                  </a:ext>
                </a:extLst>
              </p:cNvPr>
              <p:cNvSpPr txBox="1"/>
              <p:nvPr/>
            </p:nvSpPr>
            <p:spPr>
              <a:xfrm>
                <a:off x="8051693" y="4316695"/>
                <a:ext cx="301686" cy="369332"/>
              </a:xfrm>
              <a:prstGeom prst="rect">
                <a:avLst/>
              </a:prstGeom>
              <a:noFill/>
            </p:spPr>
            <p:txBody>
              <a:bodyPr wrap="none" rtlCol="0">
                <a:spAutoFit/>
              </a:bodyPr>
              <a:lstStyle/>
              <a:p>
                <a:r>
                  <a:rPr lang="en-US" dirty="0">
                    <a:solidFill>
                      <a:srgbClr val="FF33CC"/>
                    </a:solidFill>
                  </a:rPr>
                  <a:t>3</a:t>
                </a:r>
              </a:p>
            </p:txBody>
          </p:sp>
          <p:sp>
            <p:nvSpPr>
              <p:cNvPr id="48" name="TextBox 47">
                <a:extLst>
                  <a:ext uri="{FF2B5EF4-FFF2-40B4-BE49-F238E27FC236}">
                    <a16:creationId xmlns:a16="http://schemas.microsoft.com/office/drawing/2014/main" id="{BA690ADD-9D72-5CFC-ABA4-CFD3482C08B4}"/>
                  </a:ext>
                </a:extLst>
              </p:cNvPr>
              <p:cNvSpPr txBox="1"/>
              <p:nvPr/>
            </p:nvSpPr>
            <p:spPr>
              <a:xfrm>
                <a:off x="3352081" y="5071580"/>
                <a:ext cx="301686" cy="369332"/>
              </a:xfrm>
              <a:prstGeom prst="rect">
                <a:avLst/>
              </a:prstGeom>
              <a:noFill/>
            </p:spPr>
            <p:txBody>
              <a:bodyPr wrap="none" rtlCol="0">
                <a:spAutoFit/>
              </a:bodyPr>
              <a:lstStyle/>
              <a:p>
                <a:r>
                  <a:rPr lang="en-US" dirty="0">
                    <a:solidFill>
                      <a:srgbClr val="FF33CC"/>
                    </a:solidFill>
                  </a:rPr>
                  <a:t>4</a:t>
                </a:r>
              </a:p>
            </p:txBody>
          </p:sp>
          <p:sp>
            <p:nvSpPr>
              <p:cNvPr id="49" name="TextBox 48">
                <a:extLst>
                  <a:ext uri="{FF2B5EF4-FFF2-40B4-BE49-F238E27FC236}">
                    <a16:creationId xmlns:a16="http://schemas.microsoft.com/office/drawing/2014/main" id="{525CA634-CACD-54BE-4661-54DEF3A780C5}"/>
                  </a:ext>
                </a:extLst>
              </p:cNvPr>
              <p:cNvSpPr txBox="1"/>
              <p:nvPr/>
            </p:nvSpPr>
            <p:spPr>
              <a:xfrm>
                <a:off x="7122005" y="5012677"/>
                <a:ext cx="301686" cy="369332"/>
              </a:xfrm>
              <a:prstGeom prst="rect">
                <a:avLst/>
              </a:prstGeom>
              <a:noFill/>
            </p:spPr>
            <p:txBody>
              <a:bodyPr wrap="none" rtlCol="0">
                <a:spAutoFit/>
              </a:bodyPr>
              <a:lstStyle/>
              <a:p>
                <a:r>
                  <a:rPr lang="en-US" dirty="0">
                    <a:solidFill>
                      <a:srgbClr val="FF33CC"/>
                    </a:solidFill>
                  </a:rPr>
                  <a:t>6</a:t>
                </a:r>
              </a:p>
            </p:txBody>
          </p:sp>
          <p:sp>
            <p:nvSpPr>
              <p:cNvPr id="50" name="TextBox 49">
                <a:extLst>
                  <a:ext uri="{FF2B5EF4-FFF2-40B4-BE49-F238E27FC236}">
                    <a16:creationId xmlns:a16="http://schemas.microsoft.com/office/drawing/2014/main" id="{ABF6D568-E05C-26F2-EBD8-57839FC7687F}"/>
                  </a:ext>
                </a:extLst>
              </p:cNvPr>
              <p:cNvSpPr txBox="1"/>
              <p:nvPr/>
            </p:nvSpPr>
            <p:spPr>
              <a:xfrm>
                <a:off x="5404400" y="5108902"/>
                <a:ext cx="301686" cy="369332"/>
              </a:xfrm>
              <a:prstGeom prst="rect">
                <a:avLst/>
              </a:prstGeom>
              <a:noFill/>
            </p:spPr>
            <p:txBody>
              <a:bodyPr wrap="none" rtlCol="0">
                <a:spAutoFit/>
              </a:bodyPr>
              <a:lstStyle/>
              <a:p>
                <a:r>
                  <a:rPr lang="en-US" dirty="0">
                    <a:solidFill>
                      <a:srgbClr val="FF33CC"/>
                    </a:solidFill>
                  </a:rPr>
                  <a:t>5</a:t>
                </a:r>
              </a:p>
            </p:txBody>
          </p:sp>
          <p:sp>
            <p:nvSpPr>
              <p:cNvPr id="51" name="TextBox 50">
                <a:extLst>
                  <a:ext uri="{FF2B5EF4-FFF2-40B4-BE49-F238E27FC236}">
                    <a16:creationId xmlns:a16="http://schemas.microsoft.com/office/drawing/2014/main" id="{3E1DFACA-646B-2F3B-1F0D-554B10C6DCB7}"/>
                  </a:ext>
                </a:extLst>
              </p:cNvPr>
              <p:cNvSpPr txBox="1"/>
              <p:nvPr/>
            </p:nvSpPr>
            <p:spPr>
              <a:xfrm>
                <a:off x="9030118" y="5030066"/>
                <a:ext cx="301686" cy="369332"/>
              </a:xfrm>
              <a:prstGeom prst="rect">
                <a:avLst/>
              </a:prstGeom>
              <a:noFill/>
            </p:spPr>
            <p:txBody>
              <a:bodyPr wrap="none" rtlCol="0">
                <a:spAutoFit/>
              </a:bodyPr>
              <a:lstStyle/>
              <a:p>
                <a:r>
                  <a:rPr lang="en-US" dirty="0">
                    <a:solidFill>
                      <a:srgbClr val="FF33CC"/>
                    </a:solidFill>
                  </a:rPr>
                  <a:t>7</a:t>
                </a:r>
              </a:p>
            </p:txBody>
          </p:sp>
          <p:sp>
            <p:nvSpPr>
              <p:cNvPr id="52" name="TextBox 51">
                <a:extLst>
                  <a:ext uri="{FF2B5EF4-FFF2-40B4-BE49-F238E27FC236}">
                    <a16:creationId xmlns:a16="http://schemas.microsoft.com/office/drawing/2014/main" id="{B96EE955-07B4-4EE0-219A-7BF193FD11F3}"/>
                  </a:ext>
                </a:extLst>
              </p:cNvPr>
              <p:cNvSpPr txBox="1"/>
              <p:nvPr/>
            </p:nvSpPr>
            <p:spPr>
              <a:xfrm>
                <a:off x="2783996" y="5964620"/>
                <a:ext cx="301686" cy="369332"/>
              </a:xfrm>
              <a:prstGeom prst="rect">
                <a:avLst/>
              </a:prstGeom>
              <a:noFill/>
            </p:spPr>
            <p:txBody>
              <a:bodyPr wrap="none" rtlCol="0">
                <a:spAutoFit/>
              </a:bodyPr>
              <a:lstStyle/>
              <a:p>
                <a:r>
                  <a:rPr lang="en-US" dirty="0">
                    <a:solidFill>
                      <a:srgbClr val="FF33CC"/>
                    </a:solidFill>
                  </a:rPr>
                  <a:t>8</a:t>
                </a:r>
              </a:p>
            </p:txBody>
          </p:sp>
          <p:sp>
            <p:nvSpPr>
              <p:cNvPr id="53" name="TextBox 52">
                <a:extLst>
                  <a:ext uri="{FF2B5EF4-FFF2-40B4-BE49-F238E27FC236}">
                    <a16:creationId xmlns:a16="http://schemas.microsoft.com/office/drawing/2014/main" id="{6AE0ABF5-B591-93A9-75F6-25B4A6AB23BE}"/>
                  </a:ext>
                </a:extLst>
              </p:cNvPr>
              <p:cNvSpPr txBox="1"/>
              <p:nvPr/>
            </p:nvSpPr>
            <p:spPr>
              <a:xfrm>
                <a:off x="3920467" y="5964620"/>
                <a:ext cx="301686" cy="369332"/>
              </a:xfrm>
              <a:prstGeom prst="rect">
                <a:avLst/>
              </a:prstGeom>
              <a:noFill/>
            </p:spPr>
            <p:txBody>
              <a:bodyPr wrap="none" rtlCol="0">
                <a:spAutoFit/>
              </a:bodyPr>
              <a:lstStyle/>
              <a:p>
                <a:r>
                  <a:rPr lang="en-US" dirty="0">
                    <a:solidFill>
                      <a:srgbClr val="FF33CC"/>
                    </a:solidFill>
                  </a:rPr>
                  <a:t>9</a:t>
                </a:r>
              </a:p>
            </p:txBody>
          </p:sp>
        </p:grpSp>
        <p:sp>
          <p:nvSpPr>
            <p:cNvPr id="54" name="Oval 53">
              <a:extLst>
                <a:ext uri="{FF2B5EF4-FFF2-40B4-BE49-F238E27FC236}">
                  <a16:creationId xmlns:a16="http://schemas.microsoft.com/office/drawing/2014/main" id="{76035EC9-3610-8FDE-B3D0-38593B0EF572}"/>
                </a:ext>
              </a:extLst>
            </p:cNvPr>
            <p:cNvSpPr/>
            <p:nvPr/>
          </p:nvSpPr>
          <p:spPr>
            <a:xfrm>
              <a:off x="2330369" y="5636036"/>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15</a:t>
              </a:r>
            </a:p>
          </p:txBody>
        </p:sp>
        <p:cxnSp>
          <p:nvCxnSpPr>
            <p:cNvPr id="55" name="Straight Connector 54">
              <a:extLst>
                <a:ext uri="{FF2B5EF4-FFF2-40B4-BE49-F238E27FC236}">
                  <a16:creationId xmlns:a16="http://schemas.microsoft.com/office/drawing/2014/main" id="{0001DADF-BD70-7B05-56C0-31B3799F72C0}"/>
                </a:ext>
              </a:extLst>
            </p:cNvPr>
            <p:cNvCxnSpPr>
              <a:cxnSpLocks/>
              <a:stCxn id="54" idx="0"/>
              <a:endCxn id="32" idx="3"/>
            </p:cNvCxnSpPr>
            <p:nvPr/>
          </p:nvCxnSpPr>
          <p:spPr>
            <a:xfrm flipV="1">
              <a:off x="2674408" y="5297030"/>
              <a:ext cx="248506" cy="33900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59" name="TextBox 58">
              <a:extLst>
                <a:ext uri="{FF2B5EF4-FFF2-40B4-BE49-F238E27FC236}">
                  <a16:creationId xmlns:a16="http://schemas.microsoft.com/office/drawing/2014/main" id="{04CC9DA3-E3B4-4532-1F70-7E2BF83F9167}"/>
                </a:ext>
              </a:extLst>
            </p:cNvPr>
            <p:cNvSpPr txBox="1"/>
            <p:nvPr/>
          </p:nvSpPr>
          <p:spPr>
            <a:xfrm>
              <a:off x="2446730" y="6243373"/>
              <a:ext cx="418704" cy="369332"/>
            </a:xfrm>
            <a:prstGeom prst="rect">
              <a:avLst/>
            </a:prstGeom>
            <a:noFill/>
          </p:spPr>
          <p:txBody>
            <a:bodyPr wrap="none" rtlCol="0">
              <a:spAutoFit/>
            </a:bodyPr>
            <a:lstStyle/>
            <a:p>
              <a:r>
                <a:rPr lang="en-US" dirty="0">
                  <a:solidFill>
                    <a:srgbClr val="FF33CC"/>
                  </a:solidFill>
                </a:rPr>
                <a:t>10</a:t>
              </a:r>
            </a:p>
          </p:txBody>
        </p:sp>
      </p:grpSp>
      <p:grpSp>
        <p:nvGrpSpPr>
          <p:cNvPr id="4" name="Group 3" descr="The array representation of the heap.&#10;&#10;The items are, in order: 5, 6, 10, 3, 1, 8, 7, 14, 2, 15">
            <a:extLst>
              <a:ext uri="{FF2B5EF4-FFF2-40B4-BE49-F238E27FC236}">
                <a16:creationId xmlns:a16="http://schemas.microsoft.com/office/drawing/2014/main" id="{D2C070FD-E606-FE96-DBE1-D6B50F960BB6}"/>
              </a:ext>
            </a:extLst>
          </p:cNvPr>
          <p:cNvGrpSpPr/>
          <p:nvPr/>
        </p:nvGrpSpPr>
        <p:grpSpPr>
          <a:xfrm>
            <a:off x="5917894" y="2956422"/>
            <a:ext cx="5875588" cy="945155"/>
            <a:chOff x="5470854" y="754688"/>
            <a:chExt cx="5875588" cy="945155"/>
          </a:xfrm>
        </p:grpSpPr>
        <p:sp>
          <p:nvSpPr>
            <p:cNvPr id="5" name="Rectangle 4">
              <a:extLst>
                <a:ext uri="{FF2B5EF4-FFF2-40B4-BE49-F238E27FC236}">
                  <a16:creationId xmlns:a16="http://schemas.microsoft.com/office/drawing/2014/main" id="{B82E85FD-4B9F-2A0B-306D-32BA73343EB3}"/>
                </a:ext>
              </a:extLst>
            </p:cNvPr>
            <p:cNvSpPr/>
            <p:nvPr/>
          </p:nvSpPr>
          <p:spPr>
            <a:xfrm>
              <a:off x="5470854" y="754688"/>
              <a:ext cx="533400" cy="5334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6" name="Rectangle 5">
              <a:extLst>
                <a:ext uri="{FF2B5EF4-FFF2-40B4-BE49-F238E27FC236}">
                  <a16:creationId xmlns:a16="http://schemas.microsoft.com/office/drawing/2014/main" id="{633CD6EB-1593-D211-04E7-2CDD96133A79}"/>
                </a:ext>
              </a:extLst>
            </p:cNvPr>
            <p:cNvSpPr/>
            <p:nvPr/>
          </p:nvSpPr>
          <p:spPr>
            <a:xfrm>
              <a:off x="6004254" y="754688"/>
              <a:ext cx="533400" cy="5334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7" name="Rectangle 6">
              <a:extLst>
                <a:ext uri="{FF2B5EF4-FFF2-40B4-BE49-F238E27FC236}">
                  <a16:creationId xmlns:a16="http://schemas.microsoft.com/office/drawing/2014/main" id="{D6A20C82-14BA-14B7-33D2-B02F05244D80}"/>
                </a:ext>
              </a:extLst>
            </p:cNvPr>
            <p:cNvSpPr/>
            <p:nvPr/>
          </p:nvSpPr>
          <p:spPr>
            <a:xfrm>
              <a:off x="6538223" y="754688"/>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8" name="Rectangle 7">
              <a:extLst>
                <a:ext uri="{FF2B5EF4-FFF2-40B4-BE49-F238E27FC236}">
                  <a16:creationId xmlns:a16="http://schemas.microsoft.com/office/drawing/2014/main" id="{56678D84-16F3-310C-AADC-7A181CCDF23C}"/>
                </a:ext>
              </a:extLst>
            </p:cNvPr>
            <p:cNvSpPr/>
            <p:nvPr/>
          </p:nvSpPr>
          <p:spPr>
            <a:xfrm>
              <a:off x="7071623" y="754688"/>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10</a:t>
              </a:r>
            </a:p>
          </p:txBody>
        </p:sp>
        <p:sp>
          <p:nvSpPr>
            <p:cNvPr id="9" name="Rectangle 8">
              <a:extLst>
                <a:ext uri="{FF2B5EF4-FFF2-40B4-BE49-F238E27FC236}">
                  <a16:creationId xmlns:a16="http://schemas.microsoft.com/office/drawing/2014/main" id="{5BBF6A4D-F237-D175-3581-18514FECFB50}"/>
                </a:ext>
              </a:extLst>
            </p:cNvPr>
            <p:cNvSpPr/>
            <p:nvPr/>
          </p:nvSpPr>
          <p:spPr>
            <a:xfrm>
              <a:off x="7605023" y="754688"/>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10" name="Rectangle 9">
              <a:extLst>
                <a:ext uri="{FF2B5EF4-FFF2-40B4-BE49-F238E27FC236}">
                  <a16:creationId xmlns:a16="http://schemas.microsoft.com/office/drawing/2014/main" id="{5EA7CA55-613D-E569-F87A-36A82B8A4197}"/>
                </a:ext>
              </a:extLst>
            </p:cNvPr>
            <p:cNvSpPr/>
            <p:nvPr/>
          </p:nvSpPr>
          <p:spPr>
            <a:xfrm>
              <a:off x="8138992" y="754688"/>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11" name="Rectangle 10">
              <a:extLst>
                <a:ext uri="{FF2B5EF4-FFF2-40B4-BE49-F238E27FC236}">
                  <a16:creationId xmlns:a16="http://schemas.microsoft.com/office/drawing/2014/main" id="{C4DBAC75-85FF-A5C5-3308-0652E69855B9}"/>
                </a:ext>
              </a:extLst>
            </p:cNvPr>
            <p:cNvSpPr/>
            <p:nvPr/>
          </p:nvSpPr>
          <p:spPr>
            <a:xfrm>
              <a:off x="8672392" y="754688"/>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12" name="Rectangle 11">
              <a:extLst>
                <a:ext uri="{FF2B5EF4-FFF2-40B4-BE49-F238E27FC236}">
                  <a16:creationId xmlns:a16="http://schemas.microsoft.com/office/drawing/2014/main" id="{1AC49C1D-E65A-E283-D242-407C87FCEAD3}"/>
                </a:ext>
              </a:extLst>
            </p:cNvPr>
            <p:cNvSpPr/>
            <p:nvPr/>
          </p:nvSpPr>
          <p:spPr>
            <a:xfrm>
              <a:off x="9205792" y="754688"/>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13" name="Rectangle 12">
              <a:extLst>
                <a:ext uri="{FF2B5EF4-FFF2-40B4-BE49-F238E27FC236}">
                  <a16:creationId xmlns:a16="http://schemas.microsoft.com/office/drawing/2014/main" id="{2F643AEB-4040-07BB-03F1-A04A08EE1D6F}"/>
                </a:ext>
              </a:extLst>
            </p:cNvPr>
            <p:cNvSpPr/>
            <p:nvPr/>
          </p:nvSpPr>
          <p:spPr>
            <a:xfrm>
              <a:off x="9739761" y="754688"/>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14</a:t>
              </a:r>
            </a:p>
          </p:txBody>
        </p:sp>
        <p:sp>
          <p:nvSpPr>
            <p:cNvPr id="14" name="Rectangle 13">
              <a:extLst>
                <a:ext uri="{FF2B5EF4-FFF2-40B4-BE49-F238E27FC236}">
                  <a16:creationId xmlns:a16="http://schemas.microsoft.com/office/drawing/2014/main" id="{A8FEEA45-B71F-DF2F-C447-4203F387203B}"/>
                </a:ext>
              </a:extLst>
            </p:cNvPr>
            <p:cNvSpPr/>
            <p:nvPr/>
          </p:nvSpPr>
          <p:spPr>
            <a:xfrm>
              <a:off x="10273161" y="754688"/>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15" name="TextBox 14">
              <a:extLst>
                <a:ext uri="{FF2B5EF4-FFF2-40B4-BE49-F238E27FC236}">
                  <a16:creationId xmlns:a16="http://schemas.microsoft.com/office/drawing/2014/main" id="{EA6253EB-D23C-949B-D5E8-FECD830DEDBA}"/>
                </a:ext>
              </a:extLst>
            </p:cNvPr>
            <p:cNvSpPr txBox="1"/>
            <p:nvPr/>
          </p:nvSpPr>
          <p:spPr>
            <a:xfrm>
              <a:off x="5586710" y="1328081"/>
              <a:ext cx="301686" cy="369332"/>
            </a:xfrm>
            <a:prstGeom prst="rect">
              <a:avLst/>
            </a:prstGeom>
            <a:noFill/>
          </p:spPr>
          <p:txBody>
            <a:bodyPr wrap="none" rtlCol="0">
              <a:spAutoFit/>
            </a:bodyPr>
            <a:lstStyle/>
            <a:p>
              <a:r>
                <a:rPr lang="en-US" dirty="0">
                  <a:solidFill>
                    <a:srgbClr val="FF33CC"/>
                  </a:solidFill>
                </a:rPr>
                <a:t>0</a:t>
              </a:r>
            </a:p>
          </p:txBody>
        </p:sp>
        <p:sp>
          <p:nvSpPr>
            <p:cNvPr id="16" name="TextBox 15">
              <a:extLst>
                <a:ext uri="{FF2B5EF4-FFF2-40B4-BE49-F238E27FC236}">
                  <a16:creationId xmlns:a16="http://schemas.microsoft.com/office/drawing/2014/main" id="{C8F8A93E-79B2-8F25-0DCC-1F3278F661BB}"/>
                </a:ext>
              </a:extLst>
            </p:cNvPr>
            <p:cNvSpPr txBox="1"/>
            <p:nvPr/>
          </p:nvSpPr>
          <p:spPr>
            <a:xfrm>
              <a:off x="6120110" y="1328081"/>
              <a:ext cx="301686" cy="369332"/>
            </a:xfrm>
            <a:prstGeom prst="rect">
              <a:avLst/>
            </a:prstGeom>
            <a:noFill/>
          </p:spPr>
          <p:txBody>
            <a:bodyPr wrap="none" rtlCol="0">
              <a:spAutoFit/>
            </a:bodyPr>
            <a:lstStyle/>
            <a:p>
              <a:r>
                <a:rPr lang="en-US" dirty="0">
                  <a:solidFill>
                    <a:srgbClr val="FF33CC"/>
                  </a:solidFill>
                </a:rPr>
                <a:t>1</a:t>
              </a:r>
            </a:p>
          </p:txBody>
        </p:sp>
        <p:sp>
          <p:nvSpPr>
            <p:cNvPr id="17" name="TextBox 16">
              <a:extLst>
                <a:ext uri="{FF2B5EF4-FFF2-40B4-BE49-F238E27FC236}">
                  <a16:creationId xmlns:a16="http://schemas.microsoft.com/office/drawing/2014/main" id="{82E633D5-64EB-6BAD-3A62-C08FF0C32E94}"/>
                </a:ext>
              </a:extLst>
            </p:cNvPr>
            <p:cNvSpPr txBox="1"/>
            <p:nvPr/>
          </p:nvSpPr>
          <p:spPr>
            <a:xfrm>
              <a:off x="6654079" y="1328081"/>
              <a:ext cx="301686" cy="369332"/>
            </a:xfrm>
            <a:prstGeom prst="rect">
              <a:avLst/>
            </a:prstGeom>
            <a:noFill/>
          </p:spPr>
          <p:txBody>
            <a:bodyPr wrap="none" rtlCol="0">
              <a:spAutoFit/>
            </a:bodyPr>
            <a:lstStyle/>
            <a:p>
              <a:r>
                <a:rPr lang="en-US" dirty="0">
                  <a:solidFill>
                    <a:srgbClr val="FF33CC"/>
                  </a:solidFill>
                </a:rPr>
                <a:t>2</a:t>
              </a:r>
            </a:p>
          </p:txBody>
        </p:sp>
        <p:sp>
          <p:nvSpPr>
            <p:cNvPr id="18" name="TextBox 17">
              <a:extLst>
                <a:ext uri="{FF2B5EF4-FFF2-40B4-BE49-F238E27FC236}">
                  <a16:creationId xmlns:a16="http://schemas.microsoft.com/office/drawing/2014/main" id="{94AC8395-5F6E-19CD-15DE-29D1887AD4A5}"/>
                </a:ext>
              </a:extLst>
            </p:cNvPr>
            <p:cNvSpPr txBox="1"/>
            <p:nvPr/>
          </p:nvSpPr>
          <p:spPr>
            <a:xfrm>
              <a:off x="7187479" y="1328081"/>
              <a:ext cx="301686" cy="369332"/>
            </a:xfrm>
            <a:prstGeom prst="rect">
              <a:avLst/>
            </a:prstGeom>
            <a:noFill/>
          </p:spPr>
          <p:txBody>
            <a:bodyPr wrap="none" rtlCol="0">
              <a:spAutoFit/>
            </a:bodyPr>
            <a:lstStyle/>
            <a:p>
              <a:r>
                <a:rPr lang="en-US" dirty="0">
                  <a:solidFill>
                    <a:srgbClr val="FF33CC"/>
                  </a:solidFill>
                </a:rPr>
                <a:t>3</a:t>
              </a:r>
            </a:p>
          </p:txBody>
        </p:sp>
        <p:sp>
          <p:nvSpPr>
            <p:cNvPr id="19" name="TextBox 18">
              <a:extLst>
                <a:ext uri="{FF2B5EF4-FFF2-40B4-BE49-F238E27FC236}">
                  <a16:creationId xmlns:a16="http://schemas.microsoft.com/office/drawing/2014/main" id="{419110CD-D76E-CFDF-A6D5-AB20E69C641D}"/>
                </a:ext>
              </a:extLst>
            </p:cNvPr>
            <p:cNvSpPr txBox="1"/>
            <p:nvPr/>
          </p:nvSpPr>
          <p:spPr>
            <a:xfrm>
              <a:off x="7718467" y="1328081"/>
              <a:ext cx="301686" cy="369332"/>
            </a:xfrm>
            <a:prstGeom prst="rect">
              <a:avLst/>
            </a:prstGeom>
            <a:noFill/>
          </p:spPr>
          <p:txBody>
            <a:bodyPr wrap="none" rtlCol="0">
              <a:spAutoFit/>
            </a:bodyPr>
            <a:lstStyle/>
            <a:p>
              <a:r>
                <a:rPr lang="en-US" dirty="0">
                  <a:solidFill>
                    <a:srgbClr val="FF33CC"/>
                  </a:solidFill>
                </a:rPr>
                <a:t>4</a:t>
              </a:r>
            </a:p>
          </p:txBody>
        </p:sp>
        <p:sp>
          <p:nvSpPr>
            <p:cNvPr id="20" name="TextBox 19">
              <a:extLst>
                <a:ext uri="{FF2B5EF4-FFF2-40B4-BE49-F238E27FC236}">
                  <a16:creationId xmlns:a16="http://schemas.microsoft.com/office/drawing/2014/main" id="{DC3B8112-0CF7-5516-F41D-84C801CEBEE1}"/>
                </a:ext>
              </a:extLst>
            </p:cNvPr>
            <p:cNvSpPr txBox="1"/>
            <p:nvPr/>
          </p:nvSpPr>
          <p:spPr>
            <a:xfrm>
              <a:off x="8196497" y="1328081"/>
              <a:ext cx="301686" cy="369332"/>
            </a:xfrm>
            <a:prstGeom prst="rect">
              <a:avLst/>
            </a:prstGeom>
            <a:noFill/>
          </p:spPr>
          <p:txBody>
            <a:bodyPr wrap="none" rtlCol="0">
              <a:spAutoFit/>
            </a:bodyPr>
            <a:lstStyle/>
            <a:p>
              <a:r>
                <a:rPr lang="en-US" dirty="0">
                  <a:solidFill>
                    <a:srgbClr val="FF33CC"/>
                  </a:solidFill>
                </a:rPr>
                <a:t>5</a:t>
              </a:r>
            </a:p>
          </p:txBody>
        </p:sp>
        <p:sp>
          <p:nvSpPr>
            <p:cNvPr id="21" name="TextBox 20">
              <a:extLst>
                <a:ext uri="{FF2B5EF4-FFF2-40B4-BE49-F238E27FC236}">
                  <a16:creationId xmlns:a16="http://schemas.microsoft.com/office/drawing/2014/main" id="{88D6E652-F5FC-4920-F20E-32A2AA0FEAE2}"/>
                </a:ext>
              </a:extLst>
            </p:cNvPr>
            <p:cNvSpPr txBox="1"/>
            <p:nvPr/>
          </p:nvSpPr>
          <p:spPr>
            <a:xfrm>
              <a:off x="8788248" y="1328081"/>
              <a:ext cx="301686" cy="369332"/>
            </a:xfrm>
            <a:prstGeom prst="rect">
              <a:avLst/>
            </a:prstGeom>
            <a:noFill/>
          </p:spPr>
          <p:txBody>
            <a:bodyPr wrap="none" rtlCol="0">
              <a:spAutoFit/>
            </a:bodyPr>
            <a:lstStyle/>
            <a:p>
              <a:r>
                <a:rPr lang="en-US" dirty="0">
                  <a:solidFill>
                    <a:srgbClr val="FF33CC"/>
                  </a:solidFill>
                </a:rPr>
                <a:t>6</a:t>
              </a:r>
            </a:p>
          </p:txBody>
        </p:sp>
        <p:sp>
          <p:nvSpPr>
            <p:cNvPr id="22" name="TextBox 21">
              <a:extLst>
                <a:ext uri="{FF2B5EF4-FFF2-40B4-BE49-F238E27FC236}">
                  <a16:creationId xmlns:a16="http://schemas.microsoft.com/office/drawing/2014/main" id="{819347C4-D38D-06D5-33DF-2A348A5382FE}"/>
                </a:ext>
              </a:extLst>
            </p:cNvPr>
            <p:cNvSpPr txBox="1"/>
            <p:nvPr/>
          </p:nvSpPr>
          <p:spPr>
            <a:xfrm>
              <a:off x="9321648" y="1328081"/>
              <a:ext cx="301686" cy="369332"/>
            </a:xfrm>
            <a:prstGeom prst="rect">
              <a:avLst/>
            </a:prstGeom>
            <a:noFill/>
          </p:spPr>
          <p:txBody>
            <a:bodyPr wrap="none" rtlCol="0">
              <a:spAutoFit/>
            </a:bodyPr>
            <a:lstStyle/>
            <a:p>
              <a:r>
                <a:rPr lang="en-US" dirty="0">
                  <a:solidFill>
                    <a:srgbClr val="FF33CC"/>
                  </a:solidFill>
                </a:rPr>
                <a:t>7</a:t>
              </a:r>
            </a:p>
          </p:txBody>
        </p:sp>
        <p:sp>
          <p:nvSpPr>
            <p:cNvPr id="23" name="TextBox 22">
              <a:extLst>
                <a:ext uri="{FF2B5EF4-FFF2-40B4-BE49-F238E27FC236}">
                  <a16:creationId xmlns:a16="http://schemas.microsoft.com/office/drawing/2014/main" id="{360923D4-A058-7D06-904A-8CC0ECE807D7}"/>
                </a:ext>
              </a:extLst>
            </p:cNvPr>
            <p:cNvSpPr txBox="1"/>
            <p:nvPr/>
          </p:nvSpPr>
          <p:spPr>
            <a:xfrm>
              <a:off x="9855617" y="1328081"/>
              <a:ext cx="301686" cy="369332"/>
            </a:xfrm>
            <a:prstGeom prst="rect">
              <a:avLst/>
            </a:prstGeom>
            <a:noFill/>
          </p:spPr>
          <p:txBody>
            <a:bodyPr wrap="none" rtlCol="0">
              <a:spAutoFit/>
            </a:bodyPr>
            <a:lstStyle/>
            <a:p>
              <a:r>
                <a:rPr lang="en-US" dirty="0">
                  <a:solidFill>
                    <a:srgbClr val="FF33CC"/>
                  </a:solidFill>
                </a:rPr>
                <a:t>8</a:t>
              </a:r>
            </a:p>
          </p:txBody>
        </p:sp>
        <p:sp>
          <p:nvSpPr>
            <p:cNvPr id="24" name="TextBox 23">
              <a:extLst>
                <a:ext uri="{FF2B5EF4-FFF2-40B4-BE49-F238E27FC236}">
                  <a16:creationId xmlns:a16="http://schemas.microsoft.com/office/drawing/2014/main" id="{90CFED6D-86F5-D958-E923-2CC18DA518C3}"/>
                </a:ext>
              </a:extLst>
            </p:cNvPr>
            <p:cNvSpPr txBox="1"/>
            <p:nvPr/>
          </p:nvSpPr>
          <p:spPr>
            <a:xfrm>
              <a:off x="10389017" y="1328081"/>
              <a:ext cx="301686" cy="369332"/>
            </a:xfrm>
            <a:prstGeom prst="rect">
              <a:avLst/>
            </a:prstGeom>
            <a:noFill/>
          </p:spPr>
          <p:txBody>
            <a:bodyPr wrap="none" rtlCol="0">
              <a:spAutoFit/>
            </a:bodyPr>
            <a:lstStyle/>
            <a:p>
              <a:r>
                <a:rPr lang="en-US" dirty="0">
                  <a:solidFill>
                    <a:srgbClr val="FF33CC"/>
                  </a:solidFill>
                </a:rPr>
                <a:t>9</a:t>
              </a:r>
            </a:p>
          </p:txBody>
        </p:sp>
        <p:sp>
          <p:nvSpPr>
            <p:cNvPr id="25" name="Rectangle 24">
              <a:extLst>
                <a:ext uri="{FF2B5EF4-FFF2-40B4-BE49-F238E27FC236}">
                  <a16:creationId xmlns:a16="http://schemas.microsoft.com/office/drawing/2014/main" id="{2FC2E6EC-062F-A161-9D0A-D10BDBA2450A}"/>
                </a:ext>
              </a:extLst>
            </p:cNvPr>
            <p:cNvSpPr/>
            <p:nvPr/>
          </p:nvSpPr>
          <p:spPr>
            <a:xfrm>
              <a:off x="10813042" y="754688"/>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15</a:t>
              </a:r>
            </a:p>
          </p:txBody>
        </p:sp>
        <p:sp>
          <p:nvSpPr>
            <p:cNvPr id="26" name="TextBox 25">
              <a:extLst>
                <a:ext uri="{FF2B5EF4-FFF2-40B4-BE49-F238E27FC236}">
                  <a16:creationId xmlns:a16="http://schemas.microsoft.com/office/drawing/2014/main" id="{85E124AE-511C-1167-F084-AF9166C40BF1}"/>
                </a:ext>
              </a:extLst>
            </p:cNvPr>
            <p:cNvSpPr txBox="1"/>
            <p:nvPr/>
          </p:nvSpPr>
          <p:spPr>
            <a:xfrm>
              <a:off x="10870777" y="1330511"/>
              <a:ext cx="418704" cy="369332"/>
            </a:xfrm>
            <a:prstGeom prst="rect">
              <a:avLst/>
            </a:prstGeom>
            <a:noFill/>
          </p:spPr>
          <p:txBody>
            <a:bodyPr wrap="none" rtlCol="0">
              <a:spAutoFit/>
            </a:bodyPr>
            <a:lstStyle/>
            <a:p>
              <a:r>
                <a:rPr lang="en-US" dirty="0">
                  <a:solidFill>
                    <a:srgbClr val="FF33CC"/>
                  </a:solidFill>
                </a:rPr>
                <a:t>10</a:t>
              </a:r>
            </a:p>
          </p:txBody>
        </p:sp>
      </p:grpSp>
      <p:sp>
        <p:nvSpPr>
          <p:cNvPr id="56" name="TextBox 55">
            <a:extLst>
              <a:ext uri="{FF2B5EF4-FFF2-40B4-BE49-F238E27FC236}">
                <a16:creationId xmlns:a16="http://schemas.microsoft.com/office/drawing/2014/main" id="{ED4902B8-F5AB-50D9-18C4-FF07B8E03412}"/>
              </a:ext>
            </a:extLst>
          </p:cNvPr>
          <p:cNvSpPr txBox="1"/>
          <p:nvPr/>
        </p:nvSpPr>
        <p:spPr>
          <a:xfrm>
            <a:off x="8434060" y="4571102"/>
            <a:ext cx="3263779" cy="1938992"/>
          </a:xfrm>
          <a:prstGeom prst="rect">
            <a:avLst/>
          </a:prstGeom>
          <a:noFill/>
        </p:spPr>
        <p:txBody>
          <a:bodyPr wrap="none" rtlCol="0">
            <a:spAutoFit/>
          </a:bodyPr>
          <a:lstStyle/>
          <a:p>
            <a:r>
              <a:rPr lang="en-US" sz="2400" dirty="0" err="1"/>
              <a:t>buildHeap</a:t>
            </a:r>
            <a:r>
              <a:rPr lang="en-US" sz="2400" dirty="0"/>
              <a:t>(){</a:t>
            </a:r>
          </a:p>
          <a:p>
            <a:r>
              <a:rPr lang="en-US" sz="2400" dirty="0"/>
              <a:t>    for(int </a:t>
            </a:r>
            <a:r>
              <a:rPr lang="en-US" sz="2400" dirty="0" err="1"/>
              <a:t>i</a:t>
            </a:r>
            <a:r>
              <a:rPr lang="en-US" sz="2400" dirty="0"/>
              <a:t> = size; </a:t>
            </a:r>
            <a:r>
              <a:rPr lang="en-US" sz="2400" dirty="0" err="1"/>
              <a:t>i</a:t>
            </a:r>
            <a:r>
              <a:rPr lang="en-US" sz="2400" dirty="0"/>
              <a:t>&gt;0; </a:t>
            </a:r>
            <a:r>
              <a:rPr lang="en-US" sz="2400" dirty="0" err="1"/>
              <a:t>i</a:t>
            </a:r>
            <a:r>
              <a:rPr lang="en-US" sz="2400" dirty="0"/>
              <a:t>--){</a:t>
            </a:r>
          </a:p>
          <a:p>
            <a:r>
              <a:rPr lang="en-US" sz="2400" dirty="0"/>
              <a:t>        </a:t>
            </a:r>
            <a:r>
              <a:rPr lang="en-US" sz="2400" dirty="0" err="1"/>
              <a:t>percolateDown</a:t>
            </a:r>
            <a:r>
              <a:rPr lang="en-US" sz="2400" dirty="0"/>
              <a:t>(</a:t>
            </a:r>
            <a:r>
              <a:rPr lang="en-US" sz="2400" dirty="0" err="1"/>
              <a:t>i</a:t>
            </a:r>
            <a:r>
              <a:rPr lang="en-US" sz="2400" dirty="0"/>
              <a:t>);</a:t>
            </a:r>
          </a:p>
          <a:p>
            <a:r>
              <a:rPr lang="en-US" sz="2400" dirty="0"/>
              <a:t>    }</a:t>
            </a:r>
          </a:p>
          <a:p>
            <a:r>
              <a:rPr lang="en-US" sz="2400" dirty="0"/>
              <a:t>}</a:t>
            </a:r>
          </a:p>
        </p:txBody>
      </p:sp>
      <p:sp>
        <p:nvSpPr>
          <p:cNvPr id="57" name="TextBox 56">
            <a:extLst>
              <a:ext uri="{FF2B5EF4-FFF2-40B4-BE49-F238E27FC236}">
                <a16:creationId xmlns:a16="http://schemas.microsoft.com/office/drawing/2014/main" id="{9E8440DB-C25F-EEF0-74F8-E305D893D7FF}"/>
              </a:ext>
              <a:ext uri="{C183D7F6-B498-43B3-948B-1728B52AA6E4}">
                <adec:decorative xmlns:adec="http://schemas.microsoft.com/office/drawing/2017/decorative" val="1"/>
              </a:ext>
            </a:extLst>
          </p:cNvPr>
          <p:cNvSpPr txBox="1"/>
          <p:nvPr/>
        </p:nvSpPr>
        <p:spPr>
          <a:xfrm>
            <a:off x="301792" y="2977294"/>
            <a:ext cx="2571730" cy="646331"/>
          </a:xfrm>
          <a:prstGeom prst="rect">
            <a:avLst/>
          </a:prstGeom>
          <a:noFill/>
        </p:spPr>
        <p:txBody>
          <a:bodyPr wrap="none" rtlCol="0">
            <a:spAutoFit/>
          </a:bodyPr>
          <a:lstStyle/>
          <a:p>
            <a:r>
              <a:rPr lang="en-US" b="1" u="sng" dirty="0">
                <a:solidFill>
                  <a:srgbClr val="FF0000"/>
                </a:solidFill>
              </a:rPr>
              <a:t>Violate Heap Property!</a:t>
            </a:r>
          </a:p>
          <a:p>
            <a:r>
              <a:rPr lang="en-US" dirty="0">
                <a:solidFill>
                  <a:srgbClr val="FF0000"/>
                </a:solidFill>
              </a:rPr>
              <a:t>Nodes bigger than a child</a:t>
            </a:r>
          </a:p>
        </p:txBody>
      </p:sp>
    </p:spTree>
    <p:extLst>
      <p:ext uri="{BB962C8B-B14F-4D97-AF65-F5344CB8AC3E}">
        <p14:creationId xmlns:p14="http://schemas.microsoft.com/office/powerpoint/2010/main" val="200829679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0F2A4A-E8D3-7F93-AD14-D6B2FD99DD01}"/>
              </a:ext>
            </a:extLst>
          </p:cNvPr>
          <p:cNvSpPr>
            <a:spLocks noGrp="1"/>
          </p:cNvSpPr>
          <p:nvPr>
            <p:ph type="title"/>
          </p:nvPr>
        </p:nvSpPr>
        <p:spPr/>
        <p:txBody>
          <a:bodyPr/>
          <a:lstStyle/>
          <a:p>
            <a:r>
              <a:rPr lang="en-US" dirty="0"/>
              <a:t>Floyd’s </a:t>
            </a:r>
            <a:r>
              <a:rPr lang="en-US" dirty="0" err="1"/>
              <a:t>buildHeap</a:t>
            </a:r>
            <a:r>
              <a:rPr lang="en-US" dirty="0"/>
              <a:t> method (Percolate 10) </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81AF3C39-C718-C590-CB20-0AC3D97ADFB4}"/>
                  </a:ext>
                </a:extLst>
              </p:cNvPr>
              <p:cNvSpPr>
                <a:spLocks noGrp="1"/>
              </p:cNvSpPr>
              <p:nvPr>
                <p:ph idx="1"/>
              </p:nvPr>
            </p:nvSpPr>
            <p:spPr/>
            <p:txBody>
              <a:bodyPr/>
              <a:lstStyle/>
              <a:p>
                <a:r>
                  <a:rPr lang="en-US" dirty="0"/>
                  <a:t>Suppose we had </a:t>
                </a:r>
                <a14:m>
                  <m:oMath xmlns:m="http://schemas.openxmlformats.org/officeDocument/2006/math">
                    <m:r>
                      <a:rPr lang="en-US" b="0" i="1" smtClean="0">
                        <a:latin typeface="Cambria Math" panose="02040503050406030204" pitchFamily="18" charset="0"/>
                      </a:rPr>
                      <m:t>𝑛</m:t>
                    </m:r>
                  </m:oMath>
                </a14:m>
                <a:r>
                  <a:rPr lang="en-US" dirty="0"/>
                  <a:t> items and wanted to “</a:t>
                </a:r>
                <a:r>
                  <a:rPr lang="en-US" dirty="0" err="1"/>
                  <a:t>heapify</a:t>
                </a:r>
                <a:r>
                  <a:rPr lang="en-US" dirty="0"/>
                  <a:t>” them</a:t>
                </a:r>
              </a:p>
            </p:txBody>
          </p:sp>
        </mc:Choice>
        <mc:Fallback xmlns="">
          <p:sp>
            <p:nvSpPr>
              <p:cNvPr id="3" name="Content Placeholder 2">
                <a:extLst>
                  <a:ext uri="{FF2B5EF4-FFF2-40B4-BE49-F238E27FC236}">
                    <a16:creationId xmlns:a16="http://schemas.microsoft.com/office/drawing/2014/main" id="{81AF3C39-C718-C590-CB20-0AC3D97ADFB4}"/>
                  </a:ext>
                </a:extLst>
              </p:cNvPr>
              <p:cNvSpPr>
                <a:spLocks noGrp="1" noRot="1" noChangeAspect="1" noMove="1" noResize="1" noEditPoints="1" noAdjustHandles="1" noChangeArrowheads="1" noChangeShapeType="1" noTextEdit="1"/>
              </p:cNvSpPr>
              <p:nvPr>
                <p:ph idx="1"/>
              </p:nvPr>
            </p:nvSpPr>
            <p:spPr>
              <a:blipFill>
                <a:blip r:embed="rId2"/>
                <a:stretch>
                  <a:fillRect l="-1043" t="-2241"/>
                </a:stretch>
              </a:blipFill>
            </p:spPr>
            <p:txBody>
              <a:bodyPr/>
              <a:lstStyle/>
              <a:p>
                <a:r>
                  <a:rPr lang="en-US">
                    <a:noFill/>
                  </a:rPr>
                  <a:t> </a:t>
                </a:r>
              </a:p>
            </p:txBody>
          </p:sp>
        </mc:Fallback>
      </mc:AlternateContent>
      <p:grpSp>
        <p:nvGrpSpPr>
          <p:cNvPr id="61" name="Group 60" descr="3 is larger than its right child (2) and so we swap 3 with 2. Now 3 is a leaf and so it does not violate the heap property. 2 is smaller than both of its children, so it does not violate the heap property either.&#10;&#10;We will next percolate down on the node 10.">
            <a:extLst>
              <a:ext uri="{FF2B5EF4-FFF2-40B4-BE49-F238E27FC236}">
                <a16:creationId xmlns:a16="http://schemas.microsoft.com/office/drawing/2014/main" id="{863756C4-FFEE-45CE-C290-81DC657DB3F1}"/>
              </a:ext>
            </a:extLst>
          </p:cNvPr>
          <p:cNvGrpSpPr/>
          <p:nvPr/>
        </p:nvGrpSpPr>
        <p:grpSpPr>
          <a:xfrm>
            <a:off x="201742" y="2956422"/>
            <a:ext cx="6934200" cy="3661882"/>
            <a:chOff x="201742" y="2956422"/>
            <a:chExt cx="6934200" cy="3661882"/>
          </a:xfrm>
        </p:grpSpPr>
        <p:grpSp>
          <p:nvGrpSpPr>
            <p:cNvPr id="27" name="Group 26">
              <a:extLst>
                <a:ext uri="{FF2B5EF4-FFF2-40B4-BE49-F238E27FC236}">
                  <a16:creationId xmlns:a16="http://schemas.microsoft.com/office/drawing/2014/main" id="{B87E5112-EE0A-A568-FB0C-800B49EAA828}"/>
                </a:ext>
              </a:extLst>
            </p:cNvPr>
            <p:cNvGrpSpPr/>
            <p:nvPr/>
          </p:nvGrpSpPr>
          <p:grpSpPr>
            <a:xfrm>
              <a:off x="201742" y="2956422"/>
              <a:ext cx="6934200" cy="3661882"/>
              <a:chOff x="2590801" y="2672070"/>
              <a:chExt cx="6934200" cy="3661882"/>
            </a:xfrm>
          </p:grpSpPr>
          <p:sp>
            <p:nvSpPr>
              <p:cNvPr id="28" name="Oval 27">
                <a:extLst>
                  <a:ext uri="{FF2B5EF4-FFF2-40B4-BE49-F238E27FC236}">
                    <a16:creationId xmlns:a16="http://schemas.microsoft.com/office/drawing/2014/main" id="{3A30E535-E151-7B10-2482-D4C18A271CB8}"/>
                  </a:ext>
                </a:extLst>
              </p:cNvPr>
              <p:cNvSpPr/>
              <p:nvPr/>
            </p:nvSpPr>
            <p:spPr>
              <a:xfrm>
                <a:off x="5996855" y="2672070"/>
                <a:ext cx="688077" cy="688077"/>
              </a:xfrm>
              <a:prstGeom prst="ellipse">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5</a:t>
                </a:r>
              </a:p>
            </p:txBody>
          </p:sp>
          <p:sp>
            <p:nvSpPr>
              <p:cNvPr id="29" name="Oval 28">
                <a:extLst>
                  <a:ext uri="{FF2B5EF4-FFF2-40B4-BE49-F238E27FC236}">
                    <a16:creationId xmlns:a16="http://schemas.microsoft.com/office/drawing/2014/main" id="{316155D8-6880-CAC9-337D-0F3B5F0C2BBB}"/>
                  </a:ext>
                </a:extLst>
              </p:cNvPr>
              <p:cNvSpPr/>
              <p:nvPr/>
            </p:nvSpPr>
            <p:spPr>
              <a:xfrm>
                <a:off x="4191001" y="3682289"/>
                <a:ext cx="688077" cy="688077"/>
              </a:xfrm>
              <a:prstGeom prst="ellipse">
                <a:avLst/>
              </a:prstGeom>
              <a:solidFill>
                <a:schemeClr val="accent2">
                  <a:lumMod val="40000"/>
                  <a:lumOff val="60000"/>
                </a:schemeClr>
              </a:solid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940000"/>
                    </a:solidFill>
                  </a:rPr>
                  <a:t>6</a:t>
                </a:r>
              </a:p>
            </p:txBody>
          </p:sp>
          <p:sp>
            <p:nvSpPr>
              <p:cNvPr id="30" name="Oval 29">
                <a:extLst>
                  <a:ext uri="{FF2B5EF4-FFF2-40B4-BE49-F238E27FC236}">
                    <a16:creationId xmlns:a16="http://schemas.microsoft.com/office/drawing/2014/main" id="{63701FD1-D85F-35B3-CE7C-6CFF8DCBAC09}"/>
                  </a:ext>
                </a:extLst>
              </p:cNvPr>
              <p:cNvSpPr/>
              <p:nvPr/>
            </p:nvSpPr>
            <p:spPr>
              <a:xfrm>
                <a:off x="7858499" y="3653913"/>
                <a:ext cx="688077" cy="688077"/>
              </a:xfrm>
              <a:prstGeom prst="ellipse">
                <a:avLst/>
              </a:prstGeom>
              <a:solidFill>
                <a:schemeClr val="accent2">
                  <a:lumMod val="40000"/>
                  <a:lumOff val="60000"/>
                </a:schemeClr>
              </a:solid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940000"/>
                    </a:solidFill>
                  </a:rPr>
                  <a:t>10</a:t>
                </a:r>
              </a:p>
            </p:txBody>
          </p:sp>
          <p:sp>
            <p:nvSpPr>
              <p:cNvPr id="31" name="Oval 30">
                <a:extLst>
                  <a:ext uri="{FF2B5EF4-FFF2-40B4-BE49-F238E27FC236}">
                    <a16:creationId xmlns:a16="http://schemas.microsoft.com/office/drawing/2014/main" id="{03A6BB66-2DDC-8C2E-6AB0-DA31FC02453E}"/>
                  </a:ext>
                </a:extLst>
              </p:cNvPr>
              <p:cNvSpPr/>
              <p:nvPr/>
            </p:nvSpPr>
            <p:spPr>
              <a:xfrm>
                <a:off x="3200401" y="4383504"/>
                <a:ext cx="688077" cy="688077"/>
              </a:xfrm>
              <a:prstGeom prst="ellipse">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2</a:t>
                </a:r>
              </a:p>
            </p:txBody>
          </p:sp>
          <p:sp>
            <p:nvSpPr>
              <p:cNvPr id="32" name="Oval 31">
                <a:extLst>
                  <a:ext uri="{FF2B5EF4-FFF2-40B4-BE49-F238E27FC236}">
                    <a16:creationId xmlns:a16="http://schemas.microsoft.com/office/drawing/2014/main" id="{E219BA91-50E2-9B4F-817E-664706C652CC}"/>
                  </a:ext>
                </a:extLst>
              </p:cNvPr>
              <p:cNvSpPr/>
              <p:nvPr/>
            </p:nvSpPr>
            <p:spPr>
              <a:xfrm>
                <a:off x="5211206" y="4425368"/>
                <a:ext cx="688077" cy="688077"/>
              </a:xfrm>
              <a:prstGeom prst="ellipse">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1</a:t>
                </a:r>
              </a:p>
            </p:txBody>
          </p:sp>
          <p:sp>
            <p:nvSpPr>
              <p:cNvPr id="33" name="Oval 32">
                <a:extLst>
                  <a:ext uri="{FF2B5EF4-FFF2-40B4-BE49-F238E27FC236}">
                    <a16:creationId xmlns:a16="http://schemas.microsoft.com/office/drawing/2014/main" id="{C3B38612-C965-1385-57E2-DB495D63D40C}"/>
                  </a:ext>
                </a:extLst>
              </p:cNvPr>
              <p:cNvSpPr/>
              <p:nvPr/>
            </p:nvSpPr>
            <p:spPr>
              <a:xfrm>
                <a:off x="6934201" y="4341990"/>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34" name="Oval 33">
                <a:extLst>
                  <a:ext uri="{FF2B5EF4-FFF2-40B4-BE49-F238E27FC236}">
                    <a16:creationId xmlns:a16="http://schemas.microsoft.com/office/drawing/2014/main" id="{C32BE3EF-F957-D7BD-78A2-BE2188A515E4}"/>
                  </a:ext>
                </a:extLst>
              </p:cNvPr>
              <p:cNvSpPr/>
              <p:nvPr/>
            </p:nvSpPr>
            <p:spPr>
              <a:xfrm>
                <a:off x="8836924" y="4341990"/>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35" name="Oval 34">
                <a:extLst>
                  <a:ext uri="{FF2B5EF4-FFF2-40B4-BE49-F238E27FC236}">
                    <a16:creationId xmlns:a16="http://schemas.microsoft.com/office/drawing/2014/main" id="{67A0923A-D958-A1BA-1015-3E54B06E39E1}"/>
                  </a:ext>
                </a:extLst>
              </p:cNvPr>
              <p:cNvSpPr/>
              <p:nvPr/>
            </p:nvSpPr>
            <p:spPr>
              <a:xfrm>
                <a:off x="2590801" y="5352744"/>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14</a:t>
                </a:r>
              </a:p>
            </p:txBody>
          </p:sp>
          <p:sp>
            <p:nvSpPr>
              <p:cNvPr id="36" name="Oval 35">
                <a:extLst>
                  <a:ext uri="{FF2B5EF4-FFF2-40B4-BE49-F238E27FC236}">
                    <a16:creationId xmlns:a16="http://schemas.microsoft.com/office/drawing/2014/main" id="{2B9709BB-64D4-3FBE-7884-D1B0484114A6}"/>
                  </a:ext>
                </a:extLst>
              </p:cNvPr>
              <p:cNvSpPr/>
              <p:nvPr/>
            </p:nvSpPr>
            <p:spPr>
              <a:xfrm>
                <a:off x="3733801" y="5352744"/>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cxnSp>
            <p:nvCxnSpPr>
              <p:cNvPr id="37" name="Straight Connector 36">
                <a:extLst>
                  <a:ext uri="{FF2B5EF4-FFF2-40B4-BE49-F238E27FC236}">
                    <a16:creationId xmlns:a16="http://schemas.microsoft.com/office/drawing/2014/main" id="{8A089308-EAB4-3DF6-2168-FA9078D82274}"/>
                  </a:ext>
                </a:extLst>
              </p:cNvPr>
              <p:cNvCxnSpPr>
                <a:cxnSpLocks/>
                <a:stCxn id="28" idx="3"/>
                <a:endCxn id="29" idx="7"/>
              </p:cNvCxnSpPr>
              <p:nvPr/>
            </p:nvCxnSpPr>
            <p:spPr>
              <a:xfrm flipH="1">
                <a:off x="4778311" y="3259380"/>
                <a:ext cx="1319311" cy="52367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483BDF66-84DB-ABCB-4020-11642646E088}"/>
                  </a:ext>
                </a:extLst>
              </p:cNvPr>
              <p:cNvCxnSpPr>
                <a:cxnSpLocks/>
                <a:stCxn id="28" idx="5"/>
                <a:endCxn id="30" idx="1"/>
              </p:cNvCxnSpPr>
              <p:nvPr/>
            </p:nvCxnSpPr>
            <p:spPr>
              <a:xfrm>
                <a:off x="6584165" y="3259380"/>
                <a:ext cx="1375101" cy="4953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C220F70A-FDDC-7762-B33A-06720ADD3AF7}"/>
                  </a:ext>
                </a:extLst>
              </p:cNvPr>
              <p:cNvCxnSpPr>
                <a:stCxn id="32" idx="1"/>
                <a:endCxn id="29" idx="5"/>
              </p:cNvCxnSpPr>
              <p:nvPr/>
            </p:nvCxnSpPr>
            <p:spPr>
              <a:xfrm flipH="1" flipV="1">
                <a:off x="4778310" y="4269598"/>
                <a:ext cx="533662" cy="25653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E56022E8-594C-5224-728B-F2FC6AA874BE}"/>
                  </a:ext>
                </a:extLst>
              </p:cNvPr>
              <p:cNvCxnSpPr>
                <a:stCxn id="31" idx="7"/>
                <a:endCxn id="29" idx="3"/>
              </p:cNvCxnSpPr>
              <p:nvPr/>
            </p:nvCxnSpPr>
            <p:spPr>
              <a:xfrm flipV="1">
                <a:off x="3787711" y="4269598"/>
                <a:ext cx="504057" cy="21467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F3D94FFD-BC02-5F5A-FF9E-9C49B907172F}"/>
                  </a:ext>
                </a:extLst>
              </p:cNvPr>
              <p:cNvCxnSpPr>
                <a:stCxn id="36" idx="0"/>
                <a:endCxn id="31" idx="5"/>
              </p:cNvCxnSpPr>
              <p:nvPr/>
            </p:nvCxnSpPr>
            <p:spPr>
              <a:xfrm flipH="1" flipV="1">
                <a:off x="3787711" y="4970813"/>
                <a:ext cx="290129" cy="38193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65735856-C128-C713-C639-DB1757598AE1}"/>
                  </a:ext>
                </a:extLst>
              </p:cNvPr>
              <p:cNvCxnSpPr>
                <a:stCxn id="35" idx="0"/>
                <a:endCxn id="31" idx="3"/>
              </p:cNvCxnSpPr>
              <p:nvPr/>
            </p:nvCxnSpPr>
            <p:spPr>
              <a:xfrm flipV="1">
                <a:off x="2934839" y="4970813"/>
                <a:ext cx="366328" cy="38193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A8E5DDDC-1F60-E1BD-ED97-8C6BDFE31483}"/>
                  </a:ext>
                </a:extLst>
              </p:cNvPr>
              <p:cNvCxnSpPr>
                <a:stCxn id="33" idx="7"/>
                <a:endCxn id="30" idx="3"/>
              </p:cNvCxnSpPr>
              <p:nvPr/>
            </p:nvCxnSpPr>
            <p:spPr>
              <a:xfrm flipV="1">
                <a:off x="7521511" y="4241222"/>
                <a:ext cx="437755" cy="20153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202118E8-FE37-1B94-60E7-FF8DC87A02DF}"/>
                  </a:ext>
                </a:extLst>
              </p:cNvPr>
              <p:cNvCxnSpPr>
                <a:stCxn id="34" idx="1"/>
                <a:endCxn id="30" idx="5"/>
              </p:cNvCxnSpPr>
              <p:nvPr/>
            </p:nvCxnSpPr>
            <p:spPr>
              <a:xfrm flipH="1" flipV="1">
                <a:off x="8445808" y="4241222"/>
                <a:ext cx="491882" cy="20153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45" name="TextBox 44">
                <a:extLst>
                  <a:ext uri="{FF2B5EF4-FFF2-40B4-BE49-F238E27FC236}">
                    <a16:creationId xmlns:a16="http://schemas.microsoft.com/office/drawing/2014/main" id="{A3F51C00-7BE4-C71B-CEC9-78F3E393B278}"/>
                  </a:ext>
                </a:extLst>
              </p:cNvPr>
              <p:cNvSpPr txBox="1"/>
              <p:nvPr/>
            </p:nvSpPr>
            <p:spPr>
              <a:xfrm>
                <a:off x="6190049" y="3371296"/>
                <a:ext cx="301686" cy="369332"/>
              </a:xfrm>
              <a:prstGeom prst="rect">
                <a:avLst/>
              </a:prstGeom>
              <a:noFill/>
            </p:spPr>
            <p:txBody>
              <a:bodyPr wrap="none" rtlCol="0">
                <a:spAutoFit/>
              </a:bodyPr>
              <a:lstStyle/>
              <a:p>
                <a:r>
                  <a:rPr lang="en-US" dirty="0">
                    <a:solidFill>
                      <a:srgbClr val="FF33CC"/>
                    </a:solidFill>
                  </a:rPr>
                  <a:t>1</a:t>
                </a:r>
              </a:p>
            </p:txBody>
          </p:sp>
          <p:sp>
            <p:nvSpPr>
              <p:cNvPr id="46" name="TextBox 45">
                <a:extLst>
                  <a:ext uri="{FF2B5EF4-FFF2-40B4-BE49-F238E27FC236}">
                    <a16:creationId xmlns:a16="http://schemas.microsoft.com/office/drawing/2014/main" id="{CE00191F-101E-453F-E05F-F79326EF7FFB}"/>
                  </a:ext>
                </a:extLst>
              </p:cNvPr>
              <p:cNvSpPr txBox="1"/>
              <p:nvPr/>
            </p:nvSpPr>
            <p:spPr>
              <a:xfrm>
                <a:off x="4384195" y="4377091"/>
                <a:ext cx="301686" cy="369332"/>
              </a:xfrm>
              <a:prstGeom prst="rect">
                <a:avLst/>
              </a:prstGeom>
              <a:noFill/>
            </p:spPr>
            <p:txBody>
              <a:bodyPr wrap="none" rtlCol="0">
                <a:spAutoFit/>
              </a:bodyPr>
              <a:lstStyle/>
              <a:p>
                <a:r>
                  <a:rPr lang="en-US" dirty="0">
                    <a:solidFill>
                      <a:srgbClr val="FF33CC"/>
                    </a:solidFill>
                  </a:rPr>
                  <a:t>2</a:t>
                </a:r>
              </a:p>
            </p:txBody>
          </p:sp>
          <p:sp>
            <p:nvSpPr>
              <p:cNvPr id="47" name="TextBox 46">
                <a:extLst>
                  <a:ext uri="{FF2B5EF4-FFF2-40B4-BE49-F238E27FC236}">
                    <a16:creationId xmlns:a16="http://schemas.microsoft.com/office/drawing/2014/main" id="{9B19AC53-E3AB-F92F-CA0A-7EC078433879}"/>
                  </a:ext>
                </a:extLst>
              </p:cNvPr>
              <p:cNvSpPr txBox="1"/>
              <p:nvPr/>
            </p:nvSpPr>
            <p:spPr>
              <a:xfrm>
                <a:off x="8051693" y="4316695"/>
                <a:ext cx="301686" cy="369332"/>
              </a:xfrm>
              <a:prstGeom prst="rect">
                <a:avLst/>
              </a:prstGeom>
              <a:noFill/>
            </p:spPr>
            <p:txBody>
              <a:bodyPr wrap="none" rtlCol="0">
                <a:spAutoFit/>
              </a:bodyPr>
              <a:lstStyle/>
              <a:p>
                <a:r>
                  <a:rPr lang="en-US" dirty="0">
                    <a:solidFill>
                      <a:srgbClr val="FF33CC"/>
                    </a:solidFill>
                  </a:rPr>
                  <a:t>3</a:t>
                </a:r>
              </a:p>
            </p:txBody>
          </p:sp>
          <p:sp>
            <p:nvSpPr>
              <p:cNvPr id="48" name="TextBox 47">
                <a:extLst>
                  <a:ext uri="{FF2B5EF4-FFF2-40B4-BE49-F238E27FC236}">
                    <a16:creationId xmlns:a16="http://schemas.microsoft.com/office/drawing/2014/main" id="{BA690ADD-9D72-5CFC-ABA4-CFD3482C08B4}"/>
                  </a:ext>
                </a:extLst>
              </p:cNvPr>
              <p:cNvSpPr txBox="1"/>
              <p:nvPr/>
            </p:nvSpPr>
            <p:spPr>
              <a:xfrm>
                <a:off x="3352081" y="5071580"/>
                <a:ext cx="301686" cy="369332"/>
              </a:xfrm>
              <a:prstGeom prst="rect">
                <a:avLst/>
              </a:prstGeom>
              <a:noFill/>
            </p:spPr>
            <p:txBody>
              <a:bodyPr wrap="none" rtlCol="0">
                <a:spAutoFit/>
              </a:bodyPr>
              <a:lstStyle/>
              <a:p>
                <a:r>
                  <a:rPr lang="en-US" dirty="0">
                    <a:solidFill>
                      <a:srgbClr val="FF33CC"/>
                    </a:solidFill>
                  </a:rPr>
                  <a:t>4</a:t>
                </a:r>
              </a:p>
            </p:txBody>
          </p:sp>
          <p:sp>
            <p:nvSpPr>
              <p:cNvPr id="49" name="TextBox 48">
                <a:extLst>
                  <a:ext uri="{FF2B5EF4-FFF2-40B4-BE49-F238E27FC236}">
                    <a16:creationId xmlns:a16="http://schemas.microsoft.com/office/drawing/2014/main" id="{525CA634-CACD-54BE-4661-54DEF3A780C5}"/>
                  </a:ext>
                </a:extLst>
              </p:cNvPr>
              <p:cNvSpPr txBox="1"/>
              <p:nvPr/>
            </p:nvSpPr>
            <p:spPr>
              <a:xfrm>
                <a:off x="7122005" y="5012677"/>
                <a:ext cx="301686" cy="369332"/>
              </a:xfrm>
              <a:prstGeom prst="rect">
                <a:avLst/>
              </a:prstGeom>
              <a:noFill/>
            </p:spPr>
            <p:txBody>
              <a:bodyPr wrap="none" rtlCol="0">
                <a:spAutoFit/>
              </a:bodyPr>
              <a:lstStyle/>
              <a:p>
                <a:r>
                  <a:rPr lang="en-US" dirty="0">
                    <a:solidFill>
                      <a:srgbClr val="FF33CC"/>
                    </a:solidFill>
                  </a:rPr>
                  <a:t>6</a:t>
                </a:r>
              </a:p>
            </p:txBody>
          </p:sp>
          <p:sp>
            <p:nvSpPr>
              <p:cNvPr id="50" name="TextBox 49">
                <a:extLst>
                  <a:ext uri="{FF2B5EF4-FFF2-40B4-BE49-F238E27FC236}">
                    <a16:creationId xmlns:a16="http://schemas.microsoft.com/office/drawing/2014/main" id="{ABF6D568-E05C-26F2-EBD8-57839FC7687F}"/>
                  </a:ext>
                </a:extLst>
              </p:cNvPr>
              <p:cNvSpPr txBox="1"/>
              <p:nvPr/>
            </p:nvSpPr>
            <p:spPr>
              <a:xfrm>
                <a:off x="5404400" y="5108902"/>
                <a:ext cx="301686" cy="369332"/>
              </a:xfrm>
              <a:prstGeom prst="rect">
                <a:avLst/>
              </a:prstGeom>
              <a:noFill/>
            </p:spPr>
            <p:txBody>
              <a:bodyPr wrap="none" rtlCol="0">
                <a:spAutoFit/>
              </a:bodyPr>
              <a:lstStyle/>
              <a:p>
                <a:r>
                  <a:rPr lang="en-US" dirty="0">
                    <a:solidFill>
                      <a:srgbClr val="FF33CC"/>
                    </a:solidFill>
                  </a:rPr>
                  <a:t>5</a:t>
                </a:r>
              </a:p>
            </p:txBody>
          </p:sp>
          <p:sp>
            <p:nvSpPr>
              <p:cNvPr id="51" name="TextBox 50">
                <a:extLst>
                  <a:ext uri="{FF2B5EF4-FFF2-40B4-BE49-F238E27FC236}">
                    <a16:creationId xmlns:a16="http://schemas.microsoft.com/office/drawing/2014/main" id="{3E1DFACA-646B-2F3B-1F0D-554B10C6DCB7}"/>
                  </a:ext>
                </a:extLst>
              </p:cNvPr>
              <p:cNvSpPr txBox="1"/>
              <p:nvPr/>
            </p:nvSpPr>
            <p:spPr>
              <a:xfrm>
                <a:off x="9030118" y="5030066"/>
                <a:ext cx="301686" cy="369332"/>
              </a:xfrm>
              <a:prstGeom prst="rect">
                <a:avLst/>
              </a:prstGeom>
              <a:noFill/>
            </p:spPr>
            <p:txBody>
              <a:bodyPr wrap="none" rtlCol="0">
                <a:spAutoFit/>
              </a:bodyPr>
              <a:lstStyle/>
              <a:p>
                <a:r>
                  <a:rPr lang="en-US" dirty="0">
                    <a:solidFill>
                      <a:srgbClr val="FF33CC"/>
                    </a:solidFill>
                  </a:rPr>
                  <a:t>7</a:t>
                </a:r>
              </a:p>
            </p:txBody>
          </p:sp>
          <p:sp>
            <p:nvSpPr>
              <p:cNvPr id="52" name="TextBox 51">
                <a:extLst>
                  <a:ext uri="{FF2B5EF4-FFF2-40B4-BE49-F238E27FC236}">
                    <a16:creationId xmlns:a16="http://schemas.microsoft.com/office/drawing/2014/main" id="{B96EE955-07B4-4EE0-219A-7BF193FD11F3}"/>
                  </a:ext>
                </a:extLst>
              </p:cNvPr>
              <p:cNvSpPr txBox="1"/>
              <p:nvPr/>
            </p:nvSpPr>
            <p:spPr>
              <a:xfrm>
                <a:off x="2783996" y="5964620"/>
                <a:ext cx="301686" cy="369332"/>
              </a:xfrm>
              <a:prstGeom prst="rect">
                <a:avLst/>
              </a:prstGeom>
              <a:noFill/>
            </p:spPr>
            <p:txBody>
              <a:bodyPr wrap="none" rtlCol="0">
                <a:spAutoFit/>
              </a:bodyPr>
              <a:lstStyle/>
              <a:p>
                <a:r>
                  <a:rPr lang="en-US" dirty="0">
                    <a:solidFill>
                      <a:srgbClr val="FF33CC"/>
                    </a:solidFill>
                  </a:rPr>
                  <a:t>8</a:t>
                </a:r>
              </a:p>
            </p:txBody>
          </p:sp>
          <p:sp>
            <p:nvSpPr>
              <p:cNvPr id="53" name="TextBox 52">
                <a:extLst>
                  <a:ext uri="{FF2B5EF4-FFF2-40B4-BE49-F238E27FC236}">
                    <a16:creationId xmlns:a16="http://schemas.microsoft.com/office/drawing/2014/main" id="{6AE0ABF5-B591-93A9-75F6-25B4A6AB23BE}"/>
                  </a:ext>
                </a:extLst>
              </p:cNvPr>
              <p:cNvSpPr txBox="1"/>
              <p:nvPr/>
            </p:nvSpPr>
            <p:spPr>
              <a:xfrm>
                <a:off x="3920467" y="5964620"/>
                <a:ext cx="301686" cy="369332"/>
              </a:xfrm>
              <a:prstGeom prst="rect">
                <a:avLst/>
              </a:prstGeom>
              <a:noFill/>
            </p:spPr>
            <p:txBody>
              <a:bodyPr wrap="none" rtlCol="0">
                <a:spAutoFit/>
              </a:bodyPr>
              <a:lstStyle/>
              <a:p>
                <a:r>
                  <a:rPr lang="en-US" dirty="0">
                    <a:solidFill>
                      <a:srgbClr val="FF33CC"/>
                    </a:solidFill>
                  </a:rPr>
                  <a:t>9</a:t>
                </a:r>
              </a:p>
            </p:txBody>
          </p:sp>
        </p:grpSp>
        <p:sp>
          <p:nvSpPr>
            <p:cNvPr id="54" name="Oval 53">
              <a:extLst>
                <a:ext uri="{FF2B5EF4-FFF2-40B4-BE49-F238E27FC236}">
                  <a16:creationId xmlns:a16="http://schemas.microsoft.com/office/drawing/2014/main" id="{76035EC9-3610-8FDE-B3D0-38593B0EF572}"/>
                </a:ext>
              </a:extLst>
            </p:cNvPr>
            <p:cNvSpPr/>
            <p:nvPr/>
          </p:nvSpPr>
          <p:spPr>
            <a:xfrm>
              <a:off x="2330369" y="5636036"/>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15</a:t>
              </a:r>
            </a:p>
          </p:txBody>
        </p:sp>
        <p:cxnSp>
          <p:nvCxnSpPr>
            <p:cNvPr id="55" name="Straight Connector 54">
              <a:extLst>
                <a:ext uri="{FF2B5EF4-FFF2-40B4-BE49-F238E27FC236}">
                  <a16:creationId xmlns:a16="http://schemas.microsoft.com/office/drawing/2014/main" id="{0001DADF-BD70-7B05-56C0-31B3799F72C0}"/>
                </a:ext>
              </a:extLst>
            </p:cNvPr>
            <p:cNvCxnSpPr>
              <a:cxnSpLocks/>
              <a:stCxn id="54" idx="0"/>
              <a:endCxn id="32" idx="3"/>
            </p:cNvCxnSpPr>
            <p:nvPr/>
          </p:nvCxnSpPr>
          <p:spPr>
            <a:xfrm flipV="1">
              <a:off x="2674408" y="5297030"/>
              <a:ext cx="248506" cy="33900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59" name="TextBox 58">
              <a:extLst>
                <a:ext uri="{FF2B5EF4-FFF2-40B4-BE49-F238E27FC236}">
                  <a16:creationId xmlns:a16="http://schemas.microsoft.com/office/drawing/2014/main" id="{04CC9DA3-E3B4-4532-1F70-7E2BF83F9167}"/>
                </a:ext>
              </a:extLst>
            </p:cNvPr>
            <p:cNvSpPr txBox="1"/>
            <p:nvPr/>
          </p:nvSpPr>
          <p:spPr>
            <a:xfrm>
              <a:off x="2446730" y="6243373"/>
              <a:ext cx="418704" cy="369332"/>
            </a:xfrm>
            <a:prstGeom prst="rect">
              <a:avLst/>
            </a:prstGeom>
            <a:noFill/>
          </p:spPr>
          <p:txBody>
            <a:bodyPr wrap="none" rtlCol="0">
              <a:spAutoFit/>
            </a:bodyPr>
            <a:lstStyle/>
            <a:p>
              <a:r>
                <a:rPr lang="en-US" dirty="0">
                  <a:solidFill>
                    <a:srgbClr val="FF33CC"/>
                  </a:solidFill>
                </a:rPr>
                <a:t>10</a:t>
              </a:r>
            </a:p>
          </p:txBody>
        </p:sp>
      </p:grpSp>
      <p:grpSp>
        <p:nvGrpSpPr>
          <p:cNvPr id="4" name="Group 3" descr="The array representation of the heap.&#10;&#10;The items are, in order: 5, 6, 10, 2, 1, 8, 7, 14, 3, 15">
            <a:extLst>
              <a:ext uri="{FF2B5EF4-FFF2-40B4-BE49-F238E27FC236}">
                <a16:creationId xmlns:a16="http://schemas.microsoft.com/office/drawing/2014/main" id="{D2C070FD-E606-FE96-DBE1-D6B50F960BB6}"/>
              </a:ext>
            </a:extLst>
          </p:cNvPr>
          <p:cNvGrpSpPr/>
          <p:nvPr/>
        </p:nvGrpSpPr>
        <p:grpSpPr>
          <a:xfrm>
            <a:off x="5917894" y="2956422"/>
            <a:ext cx="5875588" cy="945155"/>
            <a:chOff x="5470854" y="754688"/>
            <a:chExt cx="5875588" cy="945155"/>
          </a:xfrm>
        </p:grpSpPr>
        <p:sp>
          <p:nvSpPr>
            <p:cNvPr id="5" name="Rectangle 4">
              <a:extLst>
                <a:ext uri="{FF2B5EF4-FFF2-40B4-BE49-F238E27FC236}">
                  <a16:creationId xmlns:a16="http://schemas.microsoft.com/office/drawing/2014/main" id="{B82E85FD-4B9F-2A0B-306D-32BA73343EB3}"/>
                </a:ext>
              </a:extLst>
            </p:cNvPr>
            <p:cNvSpPr/>
            <p:nvPr/>
          </p:nvSpPr>
          <p:spPr>
            <a:xfrm>
              <a:off x="5470854" y="754688"/>
              <a:ext cx="533400" cy="5334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6" name="Rectangle 5">
              <a:extLst>
                <a:ext uri="{FF2B5EF4-FFF2-40B4-BE49-F238E27FC236}">
                  <a16:creationId xmlns:a16="http://schemas.microsoft.com/office/drawing/2014/main" id="{633CD6EB-1593-D211-04E7-2CDD96133A79}"/>
                </a:ext>
              </a:extLst>
            </p:cNvPr>
            <p:cNvSpPr/>
            <p:nvPr/>
          </p:nvSpPr>
          <p:spPr>
            <a:xfrm>
              <a:off x="6004254" y="754688"/>
              <a:ext cx="533400" cy="5334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7" name="Rectangle 6">
              <a:extLst>
                <a:ext uri="{FF2B5EF4-FFF2-40B4-BE49-F238E27FC236}">
                  <a16:creationId xmlns:a16="http://schemas.microsoft.com/office/drawing/2014/main" id="{D6A20C82-14BA-14B7-33D2-B02F05244D80}"/>
                </a:ext>
              </a:extLst>
            </p:cNvPr>
            <p:cNvSpPr/>
            <p:nvPr/>
          </p:nvSpPr>
          <p:spPr>
            <a:xfrm>
              <a:off x="6538223" y="754688"/>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8" name="Rectangle 7">
              <a:extLst>
                <a:ext uri="{FF2B5EF4-FFF2-40B4-BE49-F238E27FC236}">
                  <a16:creationId xmlns:a16="http://schemas.microsoft.com/office/drawing/2014/main" id="{56678D84-16F3-310C-AADC-7A181CCDF23C}"/>
                </a:ext>
              </a:extLst>
            </p:cNvPr>
            <p:cNvSpPr/>
            <p:nvPr/>
          </p:nvSpPr>
          <p:spPr>
            <a:xfrm>
              <a:off x="7071623" y="754688"/>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10</a:t>
              </a:r>
            </a:p>
          </p:txBody>
        </p:sp>
        <p:sp>
          <p:nvSpPr>
            <p:cNvPr id="9" name="Rectangle 8">
              <a:extLst>
                <a:ext uri="{FF2B5EF4-FFF2-40B4-BE49-F238E27FC236}">
                  <a16:creationId xmlns:a16="http://schemas.microsoft.com/office/drawing/2014/main" id="{5BBF6A4D-F237-D175-3581-18514FECFB50}"/>
                </a:ext>
              </a:extLst>
            </p:cNvPr>
            <p:cNvSpPr/>
            <p:nvPr/>
          </p:nvSpPr>
          <p:spPr>
            <a:xfrm>
              <a:off x="7605023" y="754688"/>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10" name="Rectangle 9">
              <a:extLst>
                <a:ext uri="{FF2B5EF4-FFF2-40B4-BE49-F238E27FC236}">
                  <a16:creationId xmlns:a16="http://schemas.microsoft.com/office/drawing/2014/main" id="{5EA7CA55-613D-E569-F87A-36A82B8A4197}"/>
                </a:ext>
              </a:extLst>
            </p:cNvPr>
            <p:cNvSpPr/>
            <p:nvPr/>
          </p:nvSpPr>
          <p:spPr>
            <a:xfrm>
              <a:off x="8138992" y="754688"/>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11" name="Rectangle 10">
              <a:extLst>
                <a:ext uri="{FF2B5EF4-FFF2-40B4-BE49-F238E27FC236}">
                  <a16:creationId xmlns:a16="http://schemas.microsoft.com/office/drawing/2014/main" id="{C4DBAC75-85FF-A5C5-3308-0652E69855B9}"/>
                </a:ext>
              </a:extLst>
            </p:cNvPr>
            <p:cNvSpPr/>
            <p:nvPr/>
          </p:nvSpPr>
          <p:spPr>
            <a:xfrm>
              <a:off x="8672392" y="754688"/>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12" name="Rectangle 11">
              <a:extLst>
                <a:ext uri="{FF2B5EF4-FFF2-40B4-BE49-F238E27FC236}">
                  <a16:creationId xmlns:a16="http://schemas.microsoft.com/office/drawing/2014/main" id="{1AC49C1D-E65A-E283-D242-407C87FCEAD3}"/>
                </a:ext>
              </a:extLst>
            </p:cNvPr>
            <p:cNvSpPr/>
            <p:nvPr/>
          </p:nvSpPr>
          <p:spPr>
            <a:xfrm>
              <a:off x="9205792" y="754688"/>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13" name="Rectangle 12">
              <a:extLst>
                <a:ext uri="{FF2B5EF4-FFF2-40B4-BE49-F238E27FC236}">
                  <a16:creationId xmlns:a16="http://schemas.microsoft.com/office/drawing/2014/main" id="{2F643AEB-4040-07BB-03F1-A04A08EE1D6F}"/>
                </a:ext>
              </a:extLst>
            </p:cNvPr>
            <p:cNvSpPr/>
            <p:nvPr/>
          </p:nvSpPr>
          <p:spPr>
            <a:xfrm>
              <a:off x="9739761" y="754688"/>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14</a:t>
              </a:r>
            </a:p>
          </p:txBody>
        </p:sp>
        <p:sp>
          <p:nvSpPr>
            <p:cNvPr id="14" name="Rectangle 13">
              <a:extLst>
                <a:ext uri="{FF2B5EF4-FFF2-40B4-BE49-F238E27FC236}">
                  <a16:creationId xmlns:a16="http://schemas.microsoft.com/office/drawing/2014/main" id="{A8FEEA45-B71F-DF2F-C447-4203F387203B}"/>
                </a:ext>
              </a:extLst>
            </p:cNvPr>
            <p:cNvSpPr/>
            <p:nvPr/>
          </p:nvSpPr>
          <p:spPr>
            <a:xfrm>
              <a:off x="10273161" y="754688"/>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15" name="TextBox 14">
              <a:extLst>
                <a:ext uri="{FF2B5EF4-FFF2-40B4-BE49-F238E27FC236}">
                  <a16:creationId xmlns:a16="http://schemas.microsoft.com/office/drawing/2014/main" id="{EA6253EB-D23C-949B-D5E8-FECD830DEDBA}"/>
                </a:ext>
              </a:extLst>
            </p:cNvPr>
            <p:cNvSpPr txBox="1"/>
            <p:nvPr/>
          </p:nvSpPr>
          <p:spPr>
            <a:xfrm>
              <a:off x="5586710" y="1328081"/>
              <a:ext cx="301686" cy="369332"/>
            </a:xfrm>
            <a:prstGeom prst="rect">
              <a:avLst/>
            </a:prstGeom>
            <a:noFill/>
          </p:spPr>
          <p:txBody>
            <a:bodyPr wrap="none" rtlCol="0">
              <a:spAutoFit/>
            </a:bodyPr>
            <a:lstStyle/>
            <a:p>
              <a:r>
                <a:rPr lang="en-US" dirty="0">
                  <a:solidFill>
                    <a:srgbClr val="FF33CC"/>
                  </a:solidFill>
                </a:rPr>
                <a:t>0</a:t>
              </a:r>
            </a:p>
          </p:txBody>
        </p:sp>
        <p:sp>
          <p:nvSpPr>
            <p:cNvPr id="16" name="TextBox 15">
              <a:extLst>
                <a:ext uri="{FF2B5EF4-FFF2-40B4-BE49-F238E27FC236}">
                  <a16:creationId xmlns:a16="http://schemas.microsoft.com/office/drawing/2014/main" id="{C8F8A93E-79B2-8F25-0DCC-1F3278F661BB}"/>
                </a:ext>
              </a:extLst>
            </p:cNvPr>
            <p:cNvSpPr txBox="1"/>
            <p:nvPr/>
          </p:nvSpPr>
          <p:spPr>
            <a:xfrm>
              <a:off x="6120110" y="1328081"/>
              <a:ext cx="301686" cy="369332"/>
            </a:xfrm>
            <a:prstGeom prst="rect">
              <a:avLst/>
            </a:prstGeom>
            <a:noFill/>
          </p:spPr>
          <p:txBody>
            <a:bodyPr wrap="none" rtlCol="0">
              <a:spAutoFit/>
            </a:bodyPr>
            <a:lstStyle/>
            <a:p>
              <a:r>
                <a:rPr lang="en-US" dirty="0">
                  <a:solidFill>
                    <a:srgbClr val="FF33CC"/>
                  </a:solidFill>
                </a:rPr>
                <a:t>1</a:t>
              </a:r>
            </a:p>
          </p:txBody>
        </p:sp>
        <p:sp>
          <p:nvSpPr>
            <p:cNvPr id="17" name="TextBox 16">
              <a:extLst>
                <a:ext uri="{FF2B5EF4-FFF2-40B4-BE49-F238E27FC236}">
                  <a16:creationId xmlns:a16="http://schemas.microsoft.com/office/drawing/2014/main" id="{82E633D5-64EB-6BAD-3A62-C08FF0C32E94}"/>
                </a:ext>
              </a:extLst>
            </p:cNvPr>
            <p:cNvSpPr txBox="1"/>
            <p:nvPr/>
          </p:nvSpPr>
          <p:spPr>
            <a:xfrm>
              <a:off x="6654079" y="1328081"/>
              <a:ext cx="301686" cy="369332"/>
            </a:xfrm>
            <a:prstGeom prst="rect">
              <a:avLst/>
            </a:prstGeom>
            <a:noFill/>
          </p:spPr>
          <p:txBody>
            <a:bodyPr wrap="none" rtlCol="0">
              <a:spAutoFit/>
            </a:bodyPr>
            <a:lstStyle/>
            <a:p>
              <a:r>
                <a:rPr lang="en-US" dirty="0">
                  <a:solidFill>
                    <a:srgbClr val="FF33CC"/>
                  </a:solidFill>
                </a:rPr>
                <a:t>2</a:t>
              </a:r>
            </a:p>
          </p:txBody>
        </p:sp>
        <p:sp>
          <p:nvSpPr>
            <p:cNvPr id="18" name="TextBox 17">
              <a:extLst>
                <a:ext uri="{FF2B5EF4-FFF2-40B4-BE49-F238E27FC236}">
                  <a16:creationId xmlns:a16="http://schemas.microsoft.com/office/drawing/2014/main" id="{94AC8395-5F6E-19CD-15DE-29D1887AD4A5}"/>
                </a:ext>
              </a:extLst>
            </p:cNvPr>
            <p:cNvSpPr txBox="1"/>
            <p:nvPr/>
          </p:nvSpPr>
          <p:spPr>
            <a:xfrm>
              <a:off x="7187479" y="1328081"/>
              <a:ext cx="301686" cy="369332"/>
            </a:xfrm>
            <a:prstGeom prst="rect">
              <a:avLst/>
            </a:prstGeom>
            <a:noFill/>
          </p:spPr>
          <p:txBody>
            <a:bodyPr wrap="none" rtlCol="0">
              <a:spAutoFit/>
            </a:bodyPr>
            <a:lstStyle/>
            <a:p>
              <a:r>
                <a:rPr lang="en-US" dirty="0">
                  <a:solidFill>
                    <a:srgbClr val="FF33CC"/>
                  </a:solidFill>
                </a:rPr>
                <a:t>3</a:t>
              </a:r>
            </a:p>
          </p:txBody>
        </p:sp>
        <p:sp>
          <p:nvSpPr>
            <p:cNvPr id="19" name="TextBox 18">
              <a:extLst>
                <a:ext uri="{FF2B5EF4-FFF2-40B4-BE49-F238E27FC236}">
                  <a16:creationId xmlns:a16="http://schemas.microsoft.com/office/drawing/2014/main" id="{419110CD-D76E-CFDF-A6D5-AB20E69C641D}"/>
                </a:ext>
              </a:extLst>
            </p:cNvPr>
            <p:cNvSpPr txBox="1"/>
            <p:nvPr/>
          </p:nvSpPr>
          <p:spPr>
            <a:xfrm>
              <a:off x="7718467" y="1328081"/>
              <a:ext cx="301686" cy="369332"/>
            </a:xfrm>
            <a:prstGeom prst="rect">
              <a:avLst/>
            </a:prstGeom>
            <a:noFill/>
          </p:spPr>
          <p:txBody>
            <a:bodyPr wrap="none" rtlCol="0">
              <a:spAutoFit/>
            </a:bodyPr>
            <a:lstStyle/>
            <a:p>
              <a:r>
                <a:rPr lang="en-US" dirty="0">
                  <a:solidFill>
                    <a:srgbClr val="FF33CC"/>
                  </a:solidFill>
                </a:rPr>
                <a:t>4</a:t>
              </a:r>
            </a:p>
          </p:txBody>
        </p:sp>
        <p:sp>
          <p:nvSpPr>
            <p:cNvPr id="20" name="TextBox 19">
              <a:extLst>
                <a:ext uri="{FF2B5EF4-FFF2-40B4-BE49-F238E27FC236}">
                  <a16:creationId xmlns:a16="http://schemas.microsoft.com/office/drawing/2014/main" id="{DC3B8112-0CF7-5516-F41D-84C801CEBEE1}"/>
                </a:ext>
              </a:extLst>
            </p:cNvPr>
            <p:cNvSpPr txBox="1"/>
            <p:nvPr/>
          </p:nvSpPr>
          <p:spPr>
            <a:xfrm>
              <a:off x="8196497" y="1328081"/>
              <a:ext cx="301686" cy="369332"/>
            </a:xfrm>
            <a:prstGeom prst="rect">
              <a:avLst/>
            </a:prstGeom>
            <a:noFill/>
          </p:spPr>
          <p:txBody>
            <a:bodyPr wrap="none" rtlCol="0">
              <a:spAutoFit/>
            </a:bodyPr>
            <a:lstStyle/>
            <a:p>
              <a:r>
                <a:rPr lang="en-US" dirty="0">
                  <a:solidFill>
                    <a:srgbClr val="FF33CC"/>
                  </a:solidFill>
                </a:rPr>
                <a:t>5</a:t>
              </a:r>
            </a:p>
          </p:txBody>
        </p:sp>
        <p:sp>
          <p:nvSpPr>
            <p:cNvPr id="21" name="TextBox 20">
              <a:extLst>
                <a:ext uri="{FF2B5EF4-FFF2-40B4-BE49-F238E27FC236}">
                  <a16:creationId xmlns:a16="http://schemas.microsoft.com/office/drawing/2014/main" id="{88D6E652-F5FC-4920-F20E-32A2AA0FEAE2}"/>
                </a:ext>
              </a:extLst>
            </p:cNvPr>
            <p:cNvSpPr txBox="1"/>
            <p:nvPr/>
          </p:nvSpPr>
          <p:spPr>
            <a:xfrm>
              <a:off x="8788248" y="1328081"/>
              <a:ext cx="301686" cy="369332"/>
            </a:xfrm>
            <a:prstGeom prst="rect">
              <a:avLst/>
            </a:prstGeom>
            <a:noFill/>
          </p:spPr>
          <p:txBody>
            <a:bodyPr wrap="none" rtlCol="0">
              <a:spAutoFit/>
            </a:bodyPr>
            <a:lstStyle/>
            <a:p>
              <a:r>
                <a:rPr lang="en-US" dirty="0">
                  <a:solidFill>
                    <a:srgbClr val="FF33CC"/>
                  </a:solidFill>
                </a:rPr>
                <a:t>6</a:t>
              </a:r>
            </a:p>
          </p:txBody>
        </p:sp>
        <p:sp>
          <p:nvSpPr>
            <p:cNvPr id="22" name="TextBox 21">
              <a:extLst>
                <a:ext uri="{FF2B5EF4-FFF2-40B4-BE49-F238E27FC236}">
                  <a16:creationId xmlns:a16="http://schemas.microsoft.com/office/drawing/2014/main" id="{819347C4-D38D-06D5-33DF-2A348A5382FE}"/>
                </a:ext>
              </a:extLst>
            </p:cNvPr>
            <p:cNvSpPr txBox="1"/>
            <p:nvPr/>
          </p:nvSpPr>
          <p:spPr>
            <a:xfrm>
              <a:off x="9321648" y="1328081"/>
              <a:ext cx="301686" cy="369332"/>
            </a:xfrm>
            <a:prstGeom prst="rect">
              <a:avLst/>
            </a:prstGeom>
            <a:noFill/>
          </p:spPr>
          <p:txBody>
            <a:bodyPr wrap="none" rtlCol="0">
              <a:spAutoFit/>
            </a:bodyPr>
            <a:lstStyle/>
            <a:p>
              <a:r>
                <a:rPr lang="en-US" dirty="0">
                  <a:solidFill>
                    <a:srgbClr val="FF33CC"/>
                  </a:solidFill>
                </a:rPr>
                <a:t>7</a:t>
              </a:r>
            </a:p>
          </p:txBody>
        </p:sp>
        <p:sp>
          <p:nvSpPr>
            <p:cNvPr id="23" name="TextBox 22">
              <a:extLst>
                <a:ext uri="{FF2B5EF4-FFF2-40B4-BE49-F238E27FC236}">
                  <a16:creationId xmlns:a16="http://schemas.microsoft.com/office/drawing/2014/main" id="{360923D4-A058-7D06-904A-8CC0ECE807D7}"/>
                </a:ext>
              </a:extLst>
            </p:cNvPr>
            <p:cNvSpPr txBox="1"/>
            <p:nvPr/>
          </p:nvSpPr>
          <p:spPr>
            <a:xfrm>
              <a:off x="9855617" y="1328081"/>
              <a:ext cx="301686" cy="369332"/>
            </a:xfrm>
            <a:prstGeom prst="rect">
              <a:avLst/>
            </a:prstGeom>
            <a:noFill/>
          </p:spPr>
          <p:txBody>
            <a:bodyPr wrap="none" rtlCol="0">
              <a:spAutoFit/>
            </a:bodyPr>
            <a:lstStyle/>
            <a:p>
              <a:r>
                <a:rPr lang="en-US" dirty="0">
                  <a:solidFill>
                    <a:srgbClr val="FF33CC"/>
                  </a:solidFill>
                </a:rPr>
                <a:t>8</a:t>
              </a:r>
            </a:p>
          </p:txBody>
        </p:sp>
        <p:sp>
          <p:nvSpPr>
            <p:cNvPr id="24" name="TextBox 23">
              <a:extLst>
                <a:ext uri="{FF2B5EF4-FFF2-40B4-BE49-F238E27FC236}">
                  <a16:creationId xmlns:a16="http://schemas.microsoft.com/office/drawing/2014/main" id="{90CFED6D-86F5-D958-E923-2CC18DA518C3}"/>
                </a:ext>
              </a:extLst>
            </p:cNvPr>
            <p:cNvSpPr txBox="1"/>
            <p:nvPr/>
          </p:nvSpPr>
          <p:spPr>
            <a:xfrm>
              <a:off x="10389017" y="1328081"/>
              <a:ext cx="301686" cy="369332"/>
            </a:xfrm>
            <a:prstGeom prst="rect">
              <a:avLst/>
            </a:prstGeom>
            <a:noFill/>
          </p:spPr>
          <p:txBody>
            <a:bodyPr wrap="none" rtlCol="0">
              <a:spAutoFit/>
            </a:bodyPr>
            <a:lstStyle/>
            <a:p>
              <a:r>
                <a:rPr lang="en-US" dirty="0">
                  <a:solidFill>
                    <a:srgbClr val="FF33CC"/>
                  </a:solidFill>
                </a:rPr>
                <a:t>9</a:t>
              </a:r>
            </a:p>
          </p:txBody>
        </p:sp>
        <p:sp>
          <p:nvSpPr>
            <p:cNvPr id="25" name="Rectangle 24">
              <a:extLst>
                <a:ext uri="{FF2B5EF4-FFF2-40B4-BE49-F238E27FC236}">
                  <a16:creationId xmlns:a16="http://schemas.microsoft.com/office/drawing/2014/main" id="{2FC2E6EC-062F-A161-9D0A-D10BDBA2450A}"/>
                </a:ext>
              </a:extLst>
            </p:cNvPr>
            <p:cNvSpPr/>
            <p:nvPr/>
          </p:nvSpPr>
          <p:spPr>
            <a:xfrm>
              <a:off x="10813042" y="754688"/>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15</a:t>
              </a:r>
            </a:p>
          </p:txBody>
        </p:sp>
        <p:sp>
          <p:nvSpPr>
            <p:cNvPr id="26" name="TextBox 25">
              <a:extLst>
                <a:ext uri="{FF2B5EF4-FFF2-40B4-BE49-F238E27FC236}">
                  <a16:creationId xmlns:a16="http://schemas.microsoft.com/office/drawing/2014/main" id="{85E124AE-511C-1167-F084-AF9166C40BF1}"/>
                </a:ext>
              </a:extLst>
            </p:cNvPr>
            <p:cNvSpPr txBox="1"/>
            <p:nvPr/>
          </p:nvSpPr>
          <p:spPr>
            <a:xfrm>
              <a:off x="10870777" y="1330511"/>
              <a:ext cx="418704" cy="369332"/>
            </a:xfrm>
            <a:prstGeom prst="rect">
              <a:avLst/>
            </a:prstGeom>
            <a:noFill/>
          </p:spPr>
          <p:txBody>
            <a:bodyPr wrap="none" rtlCol="0">
              <a:spAutoFit/>
            </a:bodyPr>
            <a:lstStyle/>
            <a:p>
              <a:r>
                <a:rPr lang="en-US" dirty="0">
                  <a:solidFill>
                    <a:srgbClr val="FF33CC"/>
                  </a:solidFill>
                </a:rPr>
                <a:t>10</a:t>
              </a:r>
            </a:p>
          </p:txBody>
        </p:sp>
      </p:grpSp>
      <p:sp>
        <p:nvSpPr>
          <p:cNvPr id="62" name="TextBox 61">
            <a:extLst>
              <a:ext uri="{FF2B5EF4-FFF2-40B4-BE49-F238E27FC236}">
                <a16:creationId xmlns:a16="http://schemas.microsoft.com/office/drawing/2014/main" id="{B43941B0-86D8-D533-366D-B46802C30744}"/>
              </a:ext>
              <a:ext uri="{C183D7F6-B498-43B3-948B-1728B52AA6E4}">
                <adec:decorative xmlns:adec="http://schemas.microsoft.com/office/drawing/2017/decorative" val="1"/>
              </a:ext>
            </a:extLst>
          </p:cNvPr>
          <p:cNvSpPr txBox="1"/>
          <p:nvPr/>
        </p:nvSpPr>
        <p:spPr>
          <a:xfrm>
            <a:off x="737595" y="3266383"/>
            <a:ext cx="2376228" cy="369332"/>
          </a:xfrm>
          <a:prstGeom prst="rect">
            <a:avLst/>
          </a:prstGeom>
          <a:noFill/>
        </p:spPr>
        <p:txBody>
          <a:bodyPr wrap="none" rtlCol="0">
            <a:spAutoFit/>
          </a:bodyPr>
          <a:lstStyle/>
          <a:p>
            <a:r>
              <a:rPr lang="en-US" b="1" u="sng" dirty="0">
                <a:solidFill>
                  <a:srgbClr val="FF0000"/>
                </a:solidFill>
              </a:rPr>
              <a:t>Violate Heap Property!</a:t>
            </a:r>
          </a:p>
        </p:txBody>
      </p:sp>
      <p:sp>
        <p:nvSpPr>
          <p:cNvPr id="56" name="TextBox 55">
            <a:extLst>
              <a:ext uri="{FF2B5EF4-FFF2-40B4-BE49-F238E27FC236}">
                <a16:creationId xmlns:a16="http://schemas.microsoft.com/office/drawing/2014/main" id="{ED4902B8-F5AB-50D9-18C4-FF07B8E03412}"/>
              </a:ext>
            </a:extLst>
          </p:cNvPr>
          <p:cNvSpPr txBox="1"/>
          <p:nvPr/>
        </p:nvSpPr>
        <p:spPr>
          <a:xfrm>
            <a:off x="8434060" y="4571102"/>
            <a:ext cx="3263779" cy="1938992"/>
          </a:xfrm>
          <a:prstGeom prst="rect">
            <a:avLst/>
          </a:prstGeom>
          <a:noFill/>
        </p:spPr>
        <p:txBody>
          <a:bodyPr wrap="none" rtlCol="0">
            <a:spAutoFit/>
          </a:bodyPr>
          <a:lstStyle/>
          <a:p>
            <a:r>
              <a:rPr lang="en-US" sz="2400" dirty="0" err="1"/>
              <a:t>buildHeap</a:t>
            </a:r>
            <a:r>
              <a:rPr lang="en-US" sz="2400" dirty="0"/>
              <a:t>(){</a:t>
            </a:r>
          </a:p>
          <a:p>
            <a:r>
              <a:rPr lang="en-US" sz="2400" dirty="0"/>
              <a:t>    for(int </a:t>
            </a:r>
            <a:r>
              <a:rPr lang="en-US" sz="2400" dirty="0" err="1"/>
              <a:t>i</a:t>
            </a:r>
            <a:r>
              <a:rPr lang="en-US" sz="2400" dirty="0"/>
              <a:t> = size; </a:t>
            </a:r>
            <a:r>
              <a:rPr lang="en-US" sz="2400" dirty="0" err="1"/>
              <a:t>i</a:t>
            </a:r>
            <a:r>
              <a:rPr lang="en-US" sz="2400" dirty="0"/>
              <a:t>&gt;0; </a:t>
            </a:r>
            <a:r>
              <a:rPr lang="en-US" sz="2400" dirty="0" err="1"/>
              <a:t>i</a:t>
            </a:r>
            <a:r>
              <a:rPr lang="en-US" sz="2400" dirty="0"/>
              <a:t>--){</a:t>
            </a:r>
          </a:p>
          <a:p>
            <a:r>
              <a:rPr lang="en-US" sz="2400" dirty="0"/>
              <a:t>        </a:t>
            </a:r>
            <a:r>
              <a:rPr lang="en-US" sz="2400" dirty="0" err="1"/>
              <a:t>percolateDown</a:t>
            </a:r>
            <a:r>
              <a:rPr lang="en-US" sz="2400" dirty="0"/>
              <a:t>(</a:t>
            </a:r>
            <a:r>
              <a:rPr lang="en-US" sz="2400" dirty="0" err="1"/>
              <a:t>i</a:t>
            </a:r>
            <a:r>
              <a:rPr lang="en-US" sz="2400" dirty="0"/>
              <a:t>);</a:t>
            </a:r>
          </a:p>
          <a:p>
            <a:r>
              <a:rPr lang="en-US" sz="2400" dirty="0"/>
              <a:t>    }</a:t>
            </a:r>
          </a:p>
          <a:p>
            <a:r>
              <a:rPr lang="en-US" sz="2400" dirty="0"/>
              <a:t>}</a:t>
            </a:r>
          </a:p>
        </p:txBody>
      </p:sp>
    </p:spTree>
    <p:extLst>
      <p:ext uri="{BB962C8B-B14F-4D97-AF65-F5344CB8AC3E}">
        <p14:creationId xmlns:p14="http://schemas.microsoft.com/office/powerpoint/2010/main" val="378440015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0F2A4A-E8D3-7F93-AD14-D6B2FD99DD01}"/>
              </a:ext>
            </a:extLst>
          </p:cNvPr>
          <p:cNvSpPr>
            <a:spLocks noGrp="1"/>
          </p:cNvSpPr>
          <p:nvPr>
            <p:ph type="title"/>
          </p:nvPr>
        </p:nvSpPr>
        <p:spPr/>
        <p:txBody>
          <a:bodyPr/>
          <a:lstStyle/>
          <a:p>
            <a:r>
              <a:rPr lang="en-US" dirty="0"/>
              <a:t>Floyd’s </a:t>
            </a:r>
            <a:r>
              <a:rPr lang="en-US" dirty="0" err="1"/>
              <a:t>buildHeap</a:t>
            </a:r>
            <a:r>
              <a:rPr lang="en-US" dirty="0"/>
              <a:t> method (Percolate 6) </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81AF3C39-C718-C590-CB20-0AC3D97ADFB4}"/>
                  </a:ext>
                </a:extLst>
              </p:cNvPr>
              <p:cNvSpPr>
                <a:spLocks noGrp="1"/>
              </p:cNvSpPr>
              <p:nvPr>
                <p:ph idx="1"/>
              </p:nvPr>
            </p:nvSpPr>
            <p:spPr/>
            <p:txBody>
              <a:bodyPr/>
              <a:lstStyle/>
              <a:p>
                <a:r>
                  <a:rPr lang="en-US" dirty="0"/>
                  <a:t>Suppose we had </a:t>
                </a:r>
                <a14:m>
                  <m:oMath xmlns:m="http://schemas.openxmlformats.org/officeDocument/2006/math">
                    <m:r>
                      <a:rPr lang="en-US" b="0" i="1" smtClean="0">
                        <a:latin typeface="Cambria Math" panose="02040503050406030204" pitchFamily="18" charset="0"/>
                      </a:rPr>
                      <m:t>𝑛</m:t>
                    </m:r>
                  </m:oMath>
                </a14:m>
                <a:r>
                  <a:rPr lang="en-US" dirty="0"/>
                  <a:t> items and wanted to “</a:t>
                </a:r>
                <a:r>
                  <a:rPr lang="en-US" dirty="0" err="1"/>
                  <a:t>heapify</a:t>
                </a:r>
                <a:r>
                  <a:rPr lang="en-US" dirty="0"/>
                  <a:t>” them</a:t>
                </a:r>
              </a:p>
            </p:txBody>
          </p:sp>
        </mc:Choice>
        <mc:Fallback xmlns="">
          <p:sp>
            <p:nvSpPr>
              <p:cNvPr id="3" name="Content Placeholder 2">
                <a:extLst>
                  <a:ext uri="{FF2B5EF4-FFF2-40B4-BE49-F238E27FC236}">
                    <a16:creationId xmlns:a16="http://schemas.microsoft.com/office/drawing/2014/main" id="{81AF3C39-C718-C590-CB20-0AC3D97ADFB4}"/>
                  </a:ext>
                </a:extLst>
              </p:cNvPr>
              <p:cNvSpPr>
                <a:spLocks noGrp="1" noRot="1" noChangeAspect="1" noMove="1" noResize="1" noEditPoints="1" noAdjustHandles="1" noChangeArrowheads="1" noChangeShapeType="1" noTextEdit="1"/>
              </p:cNvSpPr>
              <p:nvPr>
                <p:ph idx="1"/>
              </p:nvPr>
            </p:nvSpPr>
            <p:spPr>
              <a:blipFill>
                <a:blip r:embed="rId2"/>
                <a:stretch>
                  <a:fillRect l="-1043" t="-2241"/>
                </a:stretch>
              </a:blipFill>
            </p:spPr>
            <p:txBody>
              <a:bodyPr/>
              <a:lstStyle/>
              <a:p>
                <a:r>
                  <a:rPr lang="en-US">
                    <a:noFill/>
                  </a:rPr>
                  <a:t> </a:t>
                </a:r>
              </a:p>
            </p:txBody>
          </p:sp>
        </mc:Fallback>
      </mc:AlternateContent>
      <p:grpSp>
        <p:nvGrpSpPr>
          <p:cNvPr id="61" name="Group 60" descr="10 is larger than both of its child (8 and 7) and so we swap with the smallest child (7). Now 10 is a leaf and so it does not violate the heap property. 7 is smaller than both of its children, so it does not violate the heap property either.&#10;&#10;We will next percolate down on the node 6.">
            <a:extLst>
              <a:ext uri="{FF2B5EF4-FFF2-40B4-BE49-F238E27FC236}">
                <a16:creationId xmlns:a16="http://schemas.microsoft.com/office/drawing/2014/main" id="{863756C4-FFEE-45CE-C290-81DC657DB3F1}"/>
              </a:ext>
            </a:extLst>
          </p:cNvPr>
          <p:cNvGrpSpPr/>
          <p:nvPr/>
        </p:nvGrpSpPr>
        <p:grpSpPr>
          <a:xfrm>
            <a:off x="201742" y="2956422"/>
            <a:ext cx="6934200" cy="3661882"/>
            <a:chOff x="201742" y="2956422"/>
            <a:chExt cx="6934200" cy="3661882"/>
          </a:xfrm>
        </p:grpSpPr>
        <p:grpSp>
          <p:nvGrpSpPr>
            <p:cNvPr id="27" name="Group 26">
              <a:extLst>
                <a:ext uri="{FF2B5EF4-FFF2-40B4-BE49-F238E27FC236}">
                  <a16:creationId xmlns:a16="http://schemas.microsoft.com/office/drawing/2014/main" id="{B87E5112-EE0A-A568-FB0C-800B49EAA828}"/>
                </a:ext>
              </a:extLst>
            </p:cNvPr>
            <p:cNvGrpSpPr/>
            <p:nvPr/>
          </p:nvGrpSpPr>
          <p:grpSpPr>
            <a:xfrm>
              <a:off x="201742" y="2956422"/>
              <a:ext cx="6934200" cy="3661882"/>
              <a:chOff x="2590801" y="2672070"/>
              <a:chExt cx="6934200" cy="3661882"/>
            </a:xfrm>
          </p:grpSpPr>
          <p:sp>
            <p:nvSpPr>
              <p:cNvPr id="28" name="Oval 27">
                <a:extLst>
                  <a:ext uri="{FF2B5EF4-FFF2-40B4-BE49-F238E27FC236}">
                    <a16:creationId xmlns:a16="http://schemas.microsoft.com/office/drawing/2014/main" id="{3A30E535-E151-7B10-2482-D4C18A271CB8}"/>
                  </a:ext>
                </a:extLst>
              </p:cNvPr>
              <p:cNvSpPr/>
              <p:nvPr/>
            </p:nvSpPr>
            <p:spPr>
              <a:xfrm>
                <a:off x="5996855" y="2672070"/>
                <a:ext cx="688077" cy="688077"/>
              </a:xfrm>
              <a:prstGeom prst="ellipse">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5</a:t>
                </a:r>
              </a:p>
            </p:txBody>
          </p:sp>
          <p:sp>
            <p:nvSpPr>
              <p:cNvPr id="29" name="Oval 28">
                <a:extLst>
                  <a:ext uri="{FF2B5EF4-FFF2-40B4-BE49-F238E27FC236}">
                    <a16:creationId xmlns:a16="http://schemas.microsoft.com/office/drawing/2014/main" id="{316155D8-6880-CAC9-337D-0F3B5F0C2BBB}"/>
                  </a:ext>
                </a:extLst>
              </p:cNvPr>
              <p:cNvSpPr/>
              <p:nvPr/>
            </p:nvSpPr>
            <p:spPr>
              <a:xfrm>
                <a:off x="4191001" y="3682289"/>
                <a:ext cx="688077" cy="688077"/>
              </a:xfrm>
              <a:prstGeom prst="ellipse">
                <a:avLst/>
              </a:prstGeom>
              <a:solidFill>
                <a:schemeClr val="accent2">
                  <a:lumMod val="40000"/>
                  <a:lumOff val="60000"/>
                </a:schemeClr>
              </a:solid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940000"/>
                    </a:solidFill>
                  </a:rPr>
                  <a:t>6</a:t>
                </a:r>
              </a:p>
            </p:txBody>
          </p:sp>
          <p:sp>
            <p:nvSpPr>
              <p:cNvPr id="30" name="Oval 29">
                <a:extLst>
                  <a:ext uri="{FF2B5EF4-FFF2-40B4-BE49-F238E27FC236}">
                    <a16:creationId xmlns:a16="http://schemas.microsoft.com/office/drawing/2014/main" id="{63701FD1-D85F-35B3-CE7C-6CFF8DCBAC09}"/>
                  </a:ext>
                </a:extLst>
              </p:cNvPr>
              <p:cNvSpPr/>
              <p:nvPr/>
            </p:nvSpPr>
            <p:spPr>
              <a:xfrm>
                <a:off x="7858499" y="3653913"/>
                <a:ext cx="688077" cy="688077"/>
              </a:xfrm>
              <a:prstGeom prst="ellipse">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7</a:t>
                </a:r>
              </a:p>
            </p:txBody>
          </p:sp>
          <p:sp>
            <p:nvSpPr>
              <p:cNvPr id="31" name="Oval 30">
                <a:extLst>
                  <a:ext uri="{FF2B5EF4-FFF2-40B4-BE49-F238E27FC236}">
                    <a16:creationId xmlns:a16="http://schemas.microsoft.com/office/drawing/2014/main" id="{03A6BB66-2DDC-8C2E-6AB0-DA31FC02453E}"/>
                  </a:ext>
                </a:extLst>
              </p:cNvPr>
              <p:cNvSpPr/>
              <p:nvPr/>
            </p:nvSpPr>
            <p:spPr>
              <a:xfrm>
                <a:off x="3200401" y="4383504"/>
                <a:ext cx="688077" cy="688077"/>
              </a:xfrm>
              <a:prstGeom prst="ellipse">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2</a:t>
                </a:r>
              </a:p>
            </p:txBody>
          </p:sp>
          <p:sp>
            <p:nvSpPr>
              <p:cNvPr id="32" name="Oval 31">
                <a:extLst>
                  <a:ext uri="{FF2B5EF4-FFF2-40B4-BE49-F238E27FC236}">
                    <a16:creationId xmlns:a16="http://schemas.microsoft.com/office/drawing/2014/main" id="{E219BA91-50E2-9B4F-817E-664706C652CC}"/>
                  </a:ext>
                </a:extLst>
              </p:cNvPr>
              <p:cNvSpPr/>
              <p:nvPr/>
            </p:nvSpPr>
            <p:spPr>
              <a:xfrm>
                <a:off x="5211206" y="4425368"/>
                <a:ext cx="688077" cy="688077"/>
              </a:xfrm>
              <a:prstGeom prst="ellipse">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1</a:t>
                </a:r>
              </a:p>
            </p:txBody>
          </p:sp>
          <p:sp>
            <p:nvSpPr>
              <p:cNvPr id="33" name="Oval 32">
                <a:extLst>
                  <a:ext uri="{FF2B5EF4-FFF2-40B4-BE49-F238E27FC236}">
                    <a16:creationId xmlns:a16="http://schemas.microsoft.com/office/drawing/2014/main" id="{C3B38612-C965-1385-57E2-DB495D63D40C}"/>
                  </a:ext>
                </a:extLst>
              </p:cNvPr>
              <p:cNvSpPr/>
              <p:nvPr/>
            </p:nvSpPr>
            <p:spPr>
              <a:xfrm>
                <a:off x="6934201" y="4341990"/>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34" name="Oval 33">
                <a:extLst>
                  <a:ext uri="{FF2B5EF4-FFF2-40B4-BE49-F238E27FC236}">
                    <a16:creationId xmlns:a16="http://schemas.microsoft.com/office/drawing/2014/main" id="{C32BE3EF-F957-D7BD-78A2-BE2188A515E4}"/>
                  </a:ext>
                </a:extLst>
              </p:cNvPr>
              <p:cNvSpPr/>
              <p:nvPr/>
            </p:nvSpPr>
            <p:spPr>
              <a:xfrm>
                <a:off x="8836924" y="4341990"/>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10</a:t>
                </a:r>
              </a:p>
            </p:txBody>
          </p:sp>
          <p:sp>
            <p:nvSpPr>
              <p:cNvPr id="35" name="Oval 34">
                <a:extLst>
                  <a:ext uri="{FF2B5EF4-FFF2-40B4-BE49-F238E27FC236}">
                    <a16:creationId xmlns:a16="http://schemas.microsoft.com/office/drawing/2014/main" id="{67A0923A-D958-A1BA-1015-3E54B06E39E1}"/>
                  </a:ext>
                </a:extLst>
              </p:cNvPr>
              <p:cNvSpPr/>
              <p:nvPr/>
            </p:nvSpPr>
            <p:spPr>
              <a:xfrm>
                <a:off x="2590801" y="5352744"/>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14</a:t>
                </a:r>
              </a:p>
            </p:txBody>
          </p:sp>
          <p:sp>
            <p:nvSpPr>
              <p:cNvPr id="36" name="Oval 35">
                <a:extLst>
                  <a:ext uri="{FF2B5EF4-FFF2-40B4-BE49-F238E27FC236}">
                    <a16:creationId xmlns:a16="http://schemas.microsoft.com/office/drawing/2014/main" id="{2B9709BB-64D4-3FBE-7884-D1B0484114A6}"/>
                  </a:ext>
                </a:extLst>
              </p:cNvPr>
              <p:cNvSpPr/>
              <p:nvPr/>
            </p:nvSpPr>
            <p:spPr>
              <a:xfrm>
                <a:off x="3733801" y="5352744"/>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cxnSp>
            <p:nvCxnSpPr>
              <p:cNvPr id="37" name="Straight Connector 36">
                <a:extLst>
                  <a:ext uri="{FF2B5EF4-FFF2-40B4-BE49-F238E27FC236}">
                    <a16:creationId xmlns:a16="http://schemas.microsoft.com/office/drawing/2014/main" id="{8A089308-EAB4-3DF6-2168-FA9078D82274}"/>
                  </a:ext>
                </a:extLst>
              </p:cNvPr>
              <p:cNvCxnSpPr>
                <a:cxnSpLocks/>
                <a:stCxn id="28" idx="3"/>
                <a:endCxn id="29" idx="7"/>
              </p:cNvCxnSpPr>
              <p:nvPr/>
            </p:nvCxnSpPr>
            <p:spPr>
              <a:xfrm flipH="1">
                <a:off x="4778311" y="3259380"/>
                <a:ext cx="1319311" cy="52367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483BDF66-84DB-ABCB-4020-11642646E088}"/>
                  </a:ext>
                </a:extLst>
              </p:cNvPr>
              <p:cNvCxnSpPr>
                <a:cxnSpLocks/>
                <a:stCxn id="28" idx="5"/>
                <a:endCxn id="30" idx="1"/>
              </p:cNvCxnSpPr>
              <p:nvPr/>
            </p:nvCxnSpPr>
            <p:spPr>
              <a:xfrm>
                <a:off x="6584165" y="3259380"/>
                <a:ext cx="1375101" cy="4953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C220F70A-FDDC-7762-B33A-06720ADD3AF7}"/>
                  </a:ext>
                </a:extLst>
              </p:cNvPr>
              <p:cNvCxnSpPr>
                <a:stCxn id="32" idx="1"/>
                <a:endCxn id="29" idx="5"/>
              </p:cNvCxnSpPr>
              <p:nvPr/>
            </p:nvCxnSpPr>
            <p:spPr>
              <a:xfrm flipH="1" flipV="1">
                <a:off x="4778310" y="4269598"/>
                <a:ext cx="533662" cy="25653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E56022E8-594C-5224-728B-F2FC6AA874BE}"/>
                  </a:ext>
                </a:extLst>
              </p:cNvPr>
              <p:cNvCxnSpPr>
                <a:stCxn id="31" idx="7"/>
                <a:endCxn id="29" idx="3"/>
              </p:cNvCxnSpPr>
              <p:nvPr/>
            </p:nvCxnSpPr>
            <p:spPr>
              <a:xfrm flipV="1">
                <a:off x="3787711" y="4269598"/>
                <a:ext cx="504057" cy="21467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F3D94FFD-BC02-5F5A-FF9E-9C49B907172F}"/>
                  </a:ext>
                </a:extLst>
              </p:cNvPr>
              <p:cNvCxnSpPr>
                <a:stCxn id="36" idx="0"/>
                <a:endCxn id="31" idx="5"/>
              </p:cNvCxnSpPr>
              <p:nvPr/>
            </p:nvCxnSpPr>
            <p:spPr>
              <a:xfrm flipH="1" flipV="1">
                <a:off x="3787711" y="4970813"/>
                <a:ext cx="290129" cy="38193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65735856-C128-C713-C639-DB1757598AE1}"/>
                  </a:ext>
                </a:extLst>
              </p:cNvPr>
              <p:cNvCxnSpPr>
                <a:stCxn id="35" idx="0"/>
                <a:endCxn id="31" idx="3"/>
              </p:cNvCxnSpPr>
              <p:nvPr/>
            </p:nvCxnSpPr>
            <p:spPr>
              <a:xfrm flipV="1">
                <a:off x="2934839" y="4970813"/>
                <a:ext cx="366328" cy="38193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A8E5DDDC-1F60-E1BD-ED97-8C6BDFE31483}"/>
                  </a:ext>
                </a:extLst>
              </p:cNvPr>
              <p:cNvCxnSpPr>
                <a:stCxn id="33" idx="7"/>
                <a:endCxn id="30" idx="3"/>
              </p:cNvCxnSpPr>
              <p:nvPr/>
            </p:nvCxnSpPr>
            <p:spPr>
              <a:xfrm flipV="1">
                <a:off x="7521511" y="4241222"/>
                <a:ext cx="437755" cy="20153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202118E8-FE37-1B94-60E7-FF8DC87A02DF}"/>
                  </a:ext>
                </a:extLst>
              </p:cNvPr>
              <p:cNvCxnSpPr>
                <a:stCxn id="34" idx="1"/>
                <a:endCxn id="30" idx="5"/>
              </p:cNvCxnSpPr>
              <p:nvPr/>
            </p:nvCxnSpPr>
            <p:spPr>
              <a:xfrm flipH="1" flipV="1">
                <a:off x="8445808" y="4241222"/>
                <a:ext cx="491882" cy="20153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45" name="TextBox 44">
                <a:extLst>
                  <a:ext uri="{FF2B5EF4-FFF2-40B4-BE49-F238E27FC236}">
                    <a16:creationId xmlns:a16="http://schemas.microsoft.com/office/drawing/2014/main" id="{A3F51C00-7BE4-C71B-CEC9-78F3E393B278}"/>
                  </a:ext>
                </a:extLst>
              </p:cNvPr>
              <p:cNvSpPr txBox="1"/>
              <p:nvPr/>
            </p:nvSpPr>
            <p:spPr>
              <a:xfrm>
                <a:off x="6190049" y="3371296"/>
                <a:ext cx="301686" cy="369332"/>
              </a:xfrm>
              <a:prstGeom prst="rect">
                <a:avLst/>
              </a:prstGeom>
              <a:noFill/>
            </p:spPr>
            <p:txBody>
              <a:bodyPr wrap="none" rtlCol="0">
                <a:spAutoFit/>
              </a:bodyPr>
              <a:lstStyle/>
              <a:p>
                <a:r>
                  <a:rPr lang="en-US" dirty="0">
                    <a:solidFill>
                      <a:srgbClr val="FF33CC"/>
                    </a:solidFill>
                  </a:rPr>
                  <a:t>1</a:t>
                </a:r>
              </a:p>
            </p:txBody>
          </p:sp>
          <p:sp>
            <p:nvSpPr>
              <p:cNvPr id="46" name="TextBox 45">
                <a:extLst>
                  <a:ext uri="{FF2B5EF4-FFF2-40B4-BE49-F238E27FC236}">
                    <a16:creationId xmlns:a16="http://schemas.microsoft.com/office/drawing/2014/main" id="{CE00191F-101E-453F-E05F-F79326EF7FFB}"/>
                  </a:ext>
                </a:extLst>
              </p:cNvPr>
              <p:cNvSpPr txBox="1"/>
              <p:nvPr/>
            </p:nvSpPr>
            <p:spPr>
              <a:xfrm>
                <a:off x="4384195" y="4377091"/>
                <a:ext cx="301686" cy="369332"/>
              </a:xfrm>
              <a:prstGeom prst="rect">
                <a:avLst/>
              </a:prstGeom>
              <a:noFill/>
            </p:spPr>
            <p:txBody>
              <a:bodyPr wrap="none" rtlCol="0">
                <a:spAutoFit/>
              </a:bodyPr>
              <a:lstStyle/>
              <a:p>
                <a:r>
                  <a:rPr lang="en-US" dirty="0">
                    <a:solidFill>
                      <a:srgbClr val="FF33CC"/>
                    </a:solidFill>
                  </a:rPr>
                  <a:t>2</a:t>
                </a:r>
              </a:p>
            </p:txBody>
          </p:sp>
          <p:sp>
            <p:nvSpPr>
              <p:cNvPr id="47" name="TextBox 46">
                <a:extLst>
                  <a:ext uri="{FF2B5EF4-FFF2-40B4-BE49-F238E27FC236}">
                    <a16:creationId xmlns:a16="http://schemas.microsoft.com/office/drawing/2014/main" id="{9B19AC53-E3AB-F92F-CA0A-7EC078433879}"/>
                  </a:ext>
                </a:extLst>
              </p:cNvPr>
              <p:cNvSpPr txBox="1"/>
              <p:nvPr/>
            </p:nvSpPr>
            <p:spPr>
              <a:xfrm>
                <a:off x="8051693" y="4316695"/>
                <a:ext cx="301686" cy="369332"/>
              </a:xfrm>
              <a:prstGeom prst="rect">
                <a:avLst/>
              </a:prstGeom>
              <a:noFill/>
            </p:spPr>
            <p:txBody>
              <a:bodyPr wrap="none" rtlCol="0">
                <a:spAutoFit/>
              </a:bodyPr>
              <a:lstStyle/>
              <a:p>
                <a:r>
                  <a:rPr lang="en-US" dirty="0">
                    <a:solidFill>
                      <a:srgbClr val="FF33CC"/>
                    </a:solidFill>
                  </a:rPr>
                  <a:t>3</a:t>
                </a:r>
              </a:p>
            </p:txBody>
          </p:sp>
          <p:sp>
            <p:nvSpPr>
              <p:cNvPr id="48" name="TextBox 47">
                <a:extLst>
                  <a:ext uri="{FF2B5EF4-FFF2-40B4-BE49-F238E27FC236}">
                    <a16:creationId xmlns:a16="http://schemas.microsoft.com/office/drawing/2014/main" id="{BA690ADD-9D72-5CFC-ABA4-CFD3482C08B4}"/>
                  </a:ext>
                </a:extLst>
              </p:cNvPr>
              <p:cNvSpPr txBox="1"/>
              <p:nvPr/>
            </p:nvSpPr>
            <p:spPr>
              <a:xfrm>
                <a:off x="3352081" y="5071580"/>
                <a:ext cx="301686" cy="369332"/>
              </a:xfrm>
              <a:prstGeom prst="rect">
                <a:avLst/>
              </a:prstGeom>
              <a:noFill/>
            </p:spPr>
            <p:txBody>
              <a:bodyPr wrap="none" rtlCol="0">
                <a:spAutoFit/>
              </a:bodyPr>
              <a:lstStyle/>
              <a:p>
                <a:r>
                  <a:rPr lang="en-US" dirty="0">
                    <a:solidFill>
                      <a:srgbClr val="FF33CC"/>
                    </a:solidFill>
                  </a:rPr>
                  <a:t>4</a:t>
                </a:r>
              </a:p>
            </p:txBody>
          </p:sp>
          <p:sp>
            <p:nvSpPr>
              <p:cNvPr id="49" name="TextBox 48">
                <a:extLst>
                  <a:ext uri="{FF2B5EF4-FFF2-40B4-BE49-F238E27FC236}">
                    <a16:creationId xmlns:a16="http://schemas.microsoft.com/office/drawing/2014/main" id="{525CA634-CACD-54BE-4661-54DEF3A780C5}"/>
                  </a:ext>
                </a:extLst>
              </p:cNvPr>
              <p:cNvSpPr txBox="1"/>
              <p:nvPr/>
            </p:nvSpPr>
            <p:spPr>
              <a:xfrm>
                <a:off x="7122005" y="5012677"/>
                <a:ext cx="301686" cy="369332"/>
              </a:xfrm>
              <a:prstGeom prst="rect">
                <a:avLst/>
              </a:prstGeom>
              <a:noFill/>
            </p:spPr>
            <p:txBody>
              <a:bodyPr wrap="none" rtlCol="0">
                <a:spAutoFit/>
              </a:bodyPr>
              <a:lstStyle/>
              <a:p>
                <a:r>
                  <a:rPr lang="en-US" dirty="0">
                    <a:solidFill>
                      <a:srgbClr val="FF33CC"/>
                    </a:solidFill>
                  </a:rPr>
                  <a:t>6</a:t>
                </a:r>
              </a:p>
            </p:txBody>
          </p:sp>
          <p:sp>
            <p:nvSpPr>
              <p:cNvPr id="50" name="TextBox 49">
                <a:extLst>
                  <a:ext uri="{FF2B5EF4-FFF2-40B4-BE49-F238E27FC236}">
                    <a16:creationId xmlns:a16="http://schemas.microsoft.com/office/drawing/2014/main" id="{ABF6D568-E05C-26F2-EBD8-57839FC7687F}"/>
                  </a:ext>
                </a:extLst>
              </p:cNvPr>
              <p:cNvSpPr txBox="1"/>
              <p:nvPr/>
            </p:nvSpPr>
            <p:spPr>
              <a:xfrm>
                <a:off x="5404400" y="5108902"/>
                <a:ext cx="301686" cy="369332"/>
              </a:xfrm>
              <a:prstGeom prst="rect">
                <a:avLst/>
              </a:prstGeom>
              <a:noFill/>
            </p:spPr>
            <p:txBody>
              <a:bodyPr wrap="none" rtlCol="0">
                <a:spAutoFit/>
              </a:bodyPr>
              <a:lstStyle/>
              <a:p>
                <a:r>
                  <a:rPr lang="en-US" dirty="0">
                    <a:solidFill>
                      <a:srgbClr val="FF33CC"/>
                    </a:solidFill>
                  </a:rPr>
                  <a:t>5</a:t>
                </a:r>
              </a:p>
            </p:txBody>
          </p:sp>
          <p:sp>
            <p:nvSpPr>
              <p:cNvPr id="51" name="TextBox 50">
                <a:extLst>
                  <a:ext uri="{FF2B5EF4-FFF2-40B4-BE49-F238E27FC236}">
                    <a16:creationId xmlns:a16="http://schemas.microsoft.com/office/drawing/2014/main" id="{3E1DFACA-646B-2F3B-1F0D-554B10C6DCB7}"/>
                  </a:ext>
                </a:extLst>
              </p:cNvPr>
              <p:cNvSpPr txBox="1"/>
              <p:nvPr/>
            </p:nvSpPr>
            <p:spPr>
              <a:xfrm>
                <a:off x="9030118" y="5030066"/>
                <a:ext cx="301686" cy="369332"/>
              </a:xfrm>
              <a:prstGeom prst="rect">
                <a:avLst/>
              </a:prstGeom>
              <a:noFill/>
            </p:spPr>
            <p:txBody>
              <a:bodyPr wrap="none" rtlCol="0">
                <a:spAutoFit/>
              </a:bodyPr>
              <a:lstStyle/>
              <a:p>
                <a:r>
                  <a:rPr lang="en-US" dirty="0">
                    <a:solidFill>
                      <a:srgbClr val="FF33CC"/>
                    </a:solidFill>
                  </a:rPr>
                  <a:t>7</a:t>
                </a:r>
              </a:p>
            </p:txBody>
          </p:sp>
          <p:sp>
            <p:nvSpPr>
              <p:cNvPr id="52" name="TextBox 51">
                <a:extLst>
                  <a:ext uri="{FF2B5EF4-FFF2-40B4-BE49-F238E27FC236}">
                    <a16:creationId xmlns:a16="http://schemas.microsoft.com/office/drawing/2014/main" id="{B96EE955-07B4-4EE0-219A-7BF193FD11F3}"/>
                  </a:ext>
                </a:extLst>
              </p:cNvPr>
              <p:cNvSpPr txBox="1"/>
              <p:nvPr/>
            </p:nvSpPr>
            <p:spPr>
              <a:xfrm>
                <a:off x="2783996" y="5964620"/>
                <a:ext cx="301686" cy="369332"/>
              </a:xfrm>
              <a:prstGeom prst="rect">
                <a:avLst/>
              </a:prstGeom>
              <a:noFill/>
            </p:spPr>
            <p:txBody>
              <a:bodyPr wrap="none" rtlCol="0">
                <a:spAutoFit/>
              </a:bodyPr>
              <a:lstStyle/>
              <a:p>
                <a:r>
                  <a:rPr lang="en-US" dirty="0">
                    <a:solidFill>
                      <a:srgbClr val="FF33CC"/>
                    </a:solidFill>
                  </a:rPr>
                  <a:t>8</a:t>
                </a:r>
              </a:p>
            </p:txBody>
          </p:sp>
          <p:sp>
            <p:nvSpPr>
              <p:cNvPr id="53" name="TextBox 52">
                <a:extLst>
                  <a:ext uri="{FF2B5EF4-FFF2-40B4-BE49-F238E27FC236}">
                    <a16:creationId xmlns:a16="http://schemas.microsoft.com/office/drawing/2014/main" id="{6AE0ABF5-B591-93A9-75F6-25B4A6AB23BE}"/>
                  </a:ext>
                </a:extLst>
              </p:cNvPr>
              <p:cNvSpPr txBox="1"/>
              <p:nvPr/>
            </p:nvSpPr>
            <p:spPr>
              <a:xfrm>
                <a:off x="3920467" y="5964620"/>
                <a:ext cx="301686" cy="369332"/>
              </a:xfrm>
              <a:prstGeom prst="rect">
                <a:avLst/>
              </a:prstGeom>
              <a:noFill/>
            </p:spPr>
            <p:txBody>
              <a:bodyPr wrap="none" rtlCol="0">
                <a:spAutoFit/>
              </a:bodyPr>
              <a:lstStyle/>
              <a:p>
                <a:r>
                  <a:rPr lang="en-US" dirty="0">
                    <a:solidFill>
                      <a:srgbClr val="FF33CC"/>
                    </a:solidFill>
                  </a:rPr>
                  <a:t>9</a:t>
                </a:r>
              </a:p>
            </p:txBody>
          </p:sp>
        </p:grpSp>
        <p:sp>
          <p:nvSpPr>
            <p:cNvPr id="54" name="Oval 53">
              <a:extLst>
                <a:ext uri="{FF2B5EF4-FFF2-40B4-BE49-F238E27FC236}">
                  <a16:creationId xmlns:a16="http://schemas.microsoft.com/office/drawing/2014/main" id="{76035EC9-3610-8FDE-B3D0-38593B0EF572}"/>
                </a:ext>
              </a:extLst>
            </p:cNvPr>
            <p:cNvSpPr/>
            <p:nvPr/>
          </p:nvSpPr>
          <p:spPr>
            <a:xfrm>
              <a:off x="2330369" y="5636036"/>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15</a:t>
              </a:r>
            </a:p>
          </p:txBody>
        </p:sp>
        <p:cxnSp>
          <p:nvCxnSpPr>
            <p:cNvPr id="55" name="Straight Connector 54">
              <a:extLst>
                <a:ext uri="{FF2B5EF4-FFF2-40B4-BE49-F238E27FC236}">
                  <a16:creationId xmlns:a16="http://schemas.microsoft.com/office/drawing/2014/main" id="{0001DADF-BD70-7B05-56C0-31B3799F72C0}"/>
                </a:ext>
              </a:extLst>
            </p:cNvPr>
            <p:cNvCxnSpPr>
              <a:cxnSpLocks/>
              <a:stCxn id="54" idx="0"/>
              <a:endCxn id="32" idx="3"/>
            </p:cNvCxnSpPr>
            <p:nvPr/>
          </p:nvCxnSpPr>
          <p:spPr>
            <a:xfrm flipV="1">
              <a:off x="2674408" y="5297030"/>
              <a:ext cx="248506" cy="33900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59" name="TextBox 58">
              <a:extLst>
                <a:ext uri="{FF2B5EF4-FFF2-40B4-BE49-F238E27FC236}">
                  <a16:creationId xmlns:a16="http://schemas.microsoft.com/office/drawing/2014/main" id="{04CC9DA3-E3B4-4532-1F70-7E2BF83F9167}"/>
                </a:ext>
              </a:extLst>
            </p:cNvPr>
            <p:cNvSpPr txBox="1"/>
            <p:nvPr/>
          </p:nvSpPr>
          <p:spPr>
            <a:xfrm>
              <a:off x="2446730" y="6243373"/>
              <a:ext cx="418704" cy="369332"/>
            </a:xfrm>
            <a:prstGeom prst="rect">
              <a:avLst/>
            </a:prstGeom>
            <a:noFill/>
          </p:spPr>
          <p:txBody>
            <a:bodyPr wrap="none" rtlCol="0">
              <a:spAutoFit/>
            </a:bodyPr>
            <a:lstStyle/>
            <a:p>
              <a:r>
                <a:rPr lang="en-US" dirty="0">
                  <a:solidFill>
                    <a:srgbClr val="FF33CC"/>
                  </a:solidFill>
                </a:rPr>
                <a:t>10</a:t>
              </a:r>
            </a:p>
          </p:txBody>
        </p:sp>
      </p:grpSp>
      <p:sp>
        <p:nvSpPr>
          <p:cNvPr id="62" name="TextBox 61">
            <a:extLst>
              <a:ext uri="{FF2B5EF4-FFF2-40B4-BE49-F238E27FC236}">
                <a16:creationId xmlns:a16="http://schemas.microsoft.com/office/drawing/2014/main" id="{B43941B0-86D8-D533-366D-B46802C30744}"/>
              </a:ext>
              <a:ext uri="{C183D7F6-B498-43B3-948B-1728B52AA6E4}">
                <adec:decorative xmlns:adec="http://schemas.microsoft.com/office/drawing/2017/decorative" val="1"/>
              </a:ext>
            </a:extLst>
          </p:cNvPr>
          <p:cNvSpPr txBox="1"/>
          <p:nvPr/>
        </p:nvSpPr>
        <p:spPr>
          <a:xfrm>
            <a:off x="737595" y="3266383"/>
            <a:ext cx="2376228" cy="369332"/>
          </a:xfrm>
          <a:prstGeom prst="rect">
            <a:avLst/>
          </a:prstGeom>
          <a:noFill/>
        </p:spPr>
        <p:txBody>
          <a:bodyPr wrap="none" rtlCol="0">
            <a:spAutoFit/>
          </a:bodyPr>
          <a:lstStyle/>
          <a:p>
            <a:r>
              <a:rPr lang="en-US" b="1" u="sng" dirty="0">
                <a:solidFill>
                  <a:srgbClr val="FF0000"/>
                </a:solidFill>
              </a:rPr>
              <a:t>Violate Heap Property!</a:t>
            </a:r>
          </a:p>
        </p:txBody>
      </p:sp>
      <p:grpSp>
        <p:nvGrpSpPr>
          <p:cNvPr id="57" name="Group 56" descr="The array representation of the heap.&#10;&#10;The items are, in order: 5, 6, 7, 2, 1, 8, 10, 14, 3, 15">
            <a:extLst>
              <a:ext uri="{FF2B5EF4-FFF2-40B4-BE49-F238E27FC236}">
                <a16:creationId xmlns:a16="http://schemas.microsoft.com/office/drawing/2014/main" id="{A692BF09-9625-2CD5-D834-9D411C339FC6}"/>
              </a:ext>
            </a:extLst>
          </p:cNvPr>
          <p:cNvGrpSpPr/>
          <p:nvPr/>
        </p:nvGrpSpPr>
        <p:grpSpPr>
          <a:xfrm>
            <a:off x="5917894" y="2956422"/>
            <a:ext cx="5875588" cy="945155"/>
            <a:chOff x="5470854" y="754688"/>
            <a:chExt cx="5875588" cy="945155"/>
          </a:xfrm>
        </p:grpSpPr>
        <p:sp>
          <p:nvSpPr>
            <p:cNvPr id="58" name="Rectangle 57">
              <a:extLst>
                <a:ext uri="{FF2B5EF4-FFF2-40B4-BE49-F238E27FC236}">
                  <a16:creationId xmlns:a16="http://schemas.microsoft.com/office/drawing/2014/main" id="{54A00ED4-F536-0AB9-0E08-0E85A7AF5CA0}"/>
                </a:ext>
              </a:extLst>
            </p:cNvPr>
            <p:cNvSpPr/>
            <p:nvPr/>
          </p:nvSpPr>
          <p:spPr>
            <a:xfrm>
              <a:off x="5470854" y="754688"/>
              <a:ext cx="533400" cy="5334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60" name="Rectangle 59">
              <a:extLst>
                <a:ext uri="{FF2B5EF4-FFF2-40B4-BE49-F238E27FC236}">
                  <a16:creationId xmlns:a16="http://schemas.microsoft.com/office/drawing/2014/main" id="{07054BCB-17D4-6145-EE81-94D54751CF60}"/>
                </a:ext>
              </a:extLst>
            </p:cNvPr>
            <p:cNvSpPr/>
            <p:nvPr/>
          </p:nvSpPr>
          <p:spPr>
            <a:xfrm>
              <a:off x="6004254" y="754688"/>
              <a:ext cx="533400" cy="5334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63" name="Rectangle 62">
              <a:extLst>
                <a:ext uri="{FF2B5EF4-FFF2-40B4-BE49-F238E27FC236}">
                  <a16:creationId xmlns:a16="http://schemas.microsoft.com/office/drawing/2014/main" id="{8263B86A-D779-E005-441F-E68D5D169718}"/>
                </a:ext>
              </a:extLst>
            </p:cNvPr>
            <p:cNvSpPr/>
            <p:nvPr/>
          </p:nvSpPr>
          <p:spPr>
            <a:xfrm>
              <a:off x="6538223" y="754688"/>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64" name="Rectangle 63">
              <a:extLst>
                <a:ext uri="{FF2B5EF4-FFF2-40B4-BE49-F238E27FC236}">
                  <a16:creationId xmlns:a16="http://schemas.microsoft.com/office/drawing/2014/main" id="{565D459C-DD46-DA9D-AE73-A0F8E35141F7}"/>
                </a:ext>
              </a:extLst>
            </p:cNvPr>
            <p:cNvSpPr/>
            <p:nvPr/>
          </p:nvSpPr>
          <p:spPr>
            <a:xfrm>
              <a:off x="7071623" y="754688"/>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65" name="Rectangle 64">
              <a:extLst>
                <a:ext uri="{FF2B5EF4-FFF2-40B4-BE49-F238E27FC236}">
                  <a16:creationId xmlns:a16="http://schemas.microsoft.com/office/drawing/2014/main" id="{A45FA4E8-AB40-20D6-E6C4-BBBFC90E84CA}"/>
                </a:ext>
              </a:extLst>
            </p:cNvPr>
            <p:cNvSpPr/>
            <p:nvPr/>
          </p:nvSpPr>
          <p:spPr>
            <a:xfrm>
              <a:off x="7605023" y="754688"/>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66" name="Rectangle 65">
              <a:extLst>
                <a:ext uri="{FF2B5EF4-FFF2-40B4-BE49-F238E27FC236}">
                  <a16:creationId xmlns:a16="http://schemas.microsoft.com/office/drawing/2014/main" id="{32705A64-E13C-C7DC-7ADD-C52FE171C058}"/>
                </a:ext>
              </a:extLst>
            </p:cNvPr>
            <p:cNvSpPr/>
            <p:nvPr/>
          </p:nvSpPr>
          <p:spPr>
            <a:xfrm>
              <a:off x="8138992" y="754688"/>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67" name="Rectangle 66">
              <a:extLst>
                <a:ext uri="{FF2B5EF4-FFF2-40B4-BE49-F238E27FC236}">
                  <a16:creationId xmlns:a16="http://schemas.microsoft.com/office/drawing/2014/main" id="{6745DEED-26FF-1618-3199-A90AF1E0C7C0}"/>
                </a:ext>
              </a:extLst>
            </p:cNvPr>
            <p:cNvSpPr/>
            <p:nvPr/>
          </p:nvSpPr>
          <p:spPr>
            <a:xfrm>
              <a:off x="8672392" y="754688"/>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68" name="Rectangle 67">
              <a:extLst>
                <a:ext uri="{FF2B5EF4-FFF2-40B4-BE49-F238E27FC236}">
                  <a16:creationId xmlns:a16="http://schemas.microsoft.com/office/drawing/2014/main" id="{6144B196-7789-325D-C2B9-BD9A19D30603}"/>
                </a:ext>
              </a:extLst>
            </p:cNvPr>
            <p:cNvSpPr/>
            <p:nvPr/>
          </p:nvSpPr>
          <p:spPr>
            <a:xfrm>
              <a:off x="9205792" y="754688"/>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10</a:t>
              </a:r>
            </a:p>
          </p:txBody>
        </p:sp>
        <p:sp>
          <p:nvSpPr>
            <p:cNvPr id="69" name="Rectangle 68">
              <a:extLst>
                <a:ext uri="{FF2B5EF4-FFF2-40B4-BE49-F238E27FC236}">
                  <a16:creationId xmlns:a16="http://schemas.microsoft.com/office/drawing/2014/main" id="{7543B239-41C1-D902-500E-FED3B49ADB8A}"/>
                </a:ext>
              </a:extLst>
            </p:cNvPr>
            <p:cNvSpPr/>
            <p:nvPr/>
          </p:nvSpPr>
          <p:spPr>
            <a:xfrm>
              <a:off x="9739761" y="754688"/>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14</a:t>
              </a:r>
            </a:p>
          </p:txBody>
        </p:sp>
        <p:sp>
          <p:nvSpPr>
            <p:cNvPr id="70" name="Rectangle 69">
              <a:extLst>
                <a:ext uri="{FF2B5EF4-FFF2-40B4-BE49-F238E27FC236}">
                  <a16:creationId xmlns:a16="http://schemas.microsoft.com/office/drawing/2014/main" id="{B1F76C89-6568-BD34-1E5A-0DEDAB50A571}"/>
                </a:ext>
              </a:extLst>
            </p:cNvPr>
            <p:cNvSpPr/>
            <p:nvPr/>
          </p:nvSpPr>
          <p:spPr>
            <a:xfrm>
              <a:off x="10273161" y="754688"/>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71" name="TextBox 70">
              <a:extLst>
                <a:ext uri="{FF2B5EF4-FFF2-40B4-BE49-F238E27FC236}">
                  <a16:creationId xmlns:a16="http://schemas.microsoft.com/office/drawing/2014/main" id="{02604A12-E1BE-7831-AE05-E6FE4B4C25D0}"/>
                </a:ext>
              </a:extLst>
            </p:cNvPr>
            <p:cNvSpPr txBox="1"/>
            <p:nvPr/>
          </p:nvSpPr>
          <p:spPr>
            <a:xfrm>
              <a:off x="5586710" y="1328081"/>
              <a:ext cx="301686" cy="369332"/>
            </a:xfrm>
            <a:prstGeom prst="rect">
              <a:avLst/>
            </a:prstGeom>
            <a:noFill/>
          </p:spPr>
          <p:txBody>
            <a:bodyPr wrap="none" rtlCol="0">
              <a:spAutoFit/>
            </a:bodyPr>
            <a:lstStyle/>
            <a:p>
              <a:r>
                <a:rPr lang="en-US" dirty="0">
                  <a:solidFill>
                    <a:srgbClr val="FF33CC"/>
                  </a:solidFill>
                </a:rPr>
                <a:t>0</a:t>
              </a:r>
            </a:p>
          </p:txBody>
        </p:sp>
        <p:sp>
          <p:nvSpPr>
            <p:cNvPr id="72" name="TextBox 71">
              <a:extLst>
                <a:ext uri="{FF2B5EF4-FFF2-40B4-BE49-F238E27FC236}">
                  <a16:creationId xmlns:a16="http://schemas.microsoft.com/office/drawing/2014/main" id="{6C9BFA12-ACCF-83AF-7E1A-3A3E00F0B886}"/>
                </a:ext>
              </a:extLst>
            </p:cNvPr>
            <p:cNvSpPr txBox="1"/>
            <p:nvPr/>
          </p:nvSpPr>
          <p:spPr>
            <a:xfrm>
              <a:off x="6120110" y="1328081"/>
              <a:ext cx="301686" cy="369332"/>
            </a:xfrm>
            <a:prstGeom prst="rect">
              <a:avLst/>
            </a:prstGeom>
            <a:noFill/>
          </p:spPr>
          <p:txBody>
            <a:bodyPr wrap="none" rtlCol="0">
              <a:spAutoFit/>
            </a:bodyPr>
            <a:lstStyle/>
            <a:p>
              <a:r>
                <a:rPr lang="en-US" dirty="0">
                  <a:solidFill>
                    <a:srgbClr val="FF33CC"/>
                  </a:solidFill>
                </a:rPr>
                <a:t>1</a:t>
              </a:r>
            </a:p>
          </p:txBody>
        </p:sp>
        <p:sp>
          <p:nvSpPr>
            <p:cNvPr id="73" name="TextBox 72">
              <a:extLst>
                <a:ext uri="{FF2B5EF4-FFF2-40B4-BE49-F238E27FC236}">
                  <a16:creationId xmlns:a16="http://schemas.microsoft.com/office/drawing/2014/main" id="{D85337A7-BCB6-7AD7-78A7-C1021D2744B3}"/>
                </a:ext>
              </a:extLst>
            </p:cNvPr>
            <p:cNvSpPr txBox="1"/>
            <p:nvPr/>
          </p:nvSpPr>
          <p:spPr>
            <a:xfrm>
              <a:off x="6654079" y="1328081"/>
              <a:ext cx="301686" cy="369332"/>
            </a:xfrm>
            <a:prstGeom prst="rect">
              <a:avLst/>
            </a:prstGeom>
            <a:noFill/>
          </p:spPr>
          <p:txBody>
            <a:bodyPr wrap="none" rtlCol="0">
              <a:spAutoFit/>
            </a:bodyPr>
            <a:lstStyle/>
            <a:p>
              <a:r>
                <a:rPr lang="en-US" dirty="0">
                  <a:solidFill>
                    <a:srgbClr val="FF33CC"/>
                  </a:solidFill>
                </a:rPr>
                <a:t>2</a:t>
              </a:r>
            </a:p>
          </p:txBody>
        </p:sp>
        <p:sp>
          <p:nvSpPr>
            <p:cNvPr id="74" name="TextBox 73">
              <a:extLst>
                <a:ext uri="{FF2B5EF4-FFF2-40B4-BE49-F238E27FC236}">
                  <a16:creationId xmlns:a16="http://schemas.microsoft.com/office/drawing/2014/main" id="{F392E97B-2C88-19F6-9204-7B4229516B15}"/>
                </a:ext>
              </a:extLst>
            </p:cNvPr>
            <p:cNvSpPr txBox="1"/>
            <p:nvPr/>
          </p:nvSpPr>
          <p:spPr>
            <a:xfrm>
              <a:off x="7187479" y="1328081"/>
              <a:ext cx="301686" cy="369332"/>
            </a:xfrm>
            <a:prstGeom prst="rect">
              <a:avLst/>
            </a:prstGeom>
            <a:noFill/>
          </p:spPr>
          <p:txBody>
            <a:bodyPr wrap="none" rtlCol="0">
              <a:spAutoFit/>
            </a:bodyPr>
            <a:lstStyle/>
            <a:p>
              <a:r>
                <a:rPr lang="en-US" dirty="0">
                  <a:solidFill>
                    <a:srgbClr val="FF33CC"/>
                  </a:solidFill>
                </a:rPr>
                <a:t>3</a:t>
              </a:r>
            </a:p>
          </p:txBody>
        </p:sp>
        <p:sp>
          <p:nvSpPr>
            <p:cNvPr id="75" name="TextBox 74">
              <a:extLst>
                <a:ext uri="{FF2B5EF4-FFF2-40B4-BE49-F238E27FC236}">
                  <a16:creationId xmlns:a16="http://schemas.microsoft.com/office/drawing/2014/main" id="{FE187CF5-9349-3571-E6B1-FE7BEF78FF76}"/>
                </a:ext>
              </a:extLst>
            </p:cNvPr>
            <p:cNvSpPr txBox="1"/>
            <p:nvPr/>
          </p:nvSpPr>
          <p:spPr>
            <a:xfrm>
              <a:off x="7718467" y="1328081"/>
              <a:ext cx="301686" cy="369332"/>
            </a:xfrm>
            <a:prstGeom prst="rect">
              <a:avLst/>
            </a:prstGeom>
            <a:noFill/>
          </p:spPr>
          <p:txBody>
            <a:bodyPr wrap="none" rtlCol="0">
              <a:spAutoFit/>
            </a:bodyPr>
            <a:lstStyle/>
            <a:p>
              <a:r>
                <a:rPr lang="en-US" dirty="0">
                  <a:solidFill>
                    <a:srgbClr val="FF33CC"/>
                  </a:solidFill>
                </a:rPr>
                <a:t>4</a:t>
              </a:r>
            </a:p>
          </p:txBody>
        </p:sp>
        <p:sp>
          <p:nvSpPr>
            <p:cNvPr id="76" name="TextBox 75">
              <a:extLst>
                <a:ext uri="{FF2B5EF4-FFF2-40B4-BE49-F238E27FC236}">
                  <a16:creationId xmlns:a16="http://schemas.microsoft.com/office/drawing/2014/main" id="{2157D87E-2045-9A7E-6F88-F7D351EB35AC}"/>
                </a:ext>
              </a:extLst>
            </p:cNvPr>
            <p:cNvSpPr txBox="1"/>
            <p:nvPr/>
          </p:nvSpPr>
          <p:spPr>
            <a:xfrm>
              <a:off x="8196497" y="1328081"/>
              <a:ext cx="301686" cy="369332"/>
            </a:xfrm>
            <a:prstGeom prst="rect">
              <a:avLst/>
            </a:prstGeom>
            <a:noFill/>
          </p:spPr>
          <p:txBody>
            <a:bodyPr wrap="none" rtlCol="0">
              <a:spAutoFit/>
            </a:bodyPr>
            <a:lstStyle/>
            <a:p>
              <a:r>
                <a:rPr lang="en-US" dirty="0">
                  <a:solidFill>
                    <a:srgbClr val="FF33CC"/>
                  </a:solidFill>
                </a:rPr>
                <a:t>5</a:t>
              </a:r>
            </a:p>
          </p:txBody>
        </p:sp>
        <p:sp>
          <p:nvSpPr>
            <p:cNvPr id="77" name="TextBox 76">
              <a:extLst>
                <a:ext uri="{FF2B5EF4-FFF2-40B4-BE49-F238E27FC236}">
                  <a16:creationId xmlns:a16="http://schemas.microsoft.com/office/drawing/2014/main" id="{26D2F156-7B5A-83F2-D1B5-FDF2229AF94F}"/>
                </a:ext>
              </a:extLst>
            </p:cNvPr>
            <p:cNvSpPr txBox="1"/>
            <p:nvPr/>
          </p:nvSpPr>
          <p:spPr>
            <a:xfrm>
              <a:off x="8788248" y="1328081"/>
              <a:ext cx="301686" cy="369332"/>
            </a:xfrm>
            <a:prstGeom prst="rect">
              <a:avLst/>
            </a:prstGeom>
            <a:noFill/>
          </p:spPr>
          <p:txBody>
            <a:bodyPr wrap="none" rtlCol="0">
              <a:spAutoFit/>
            </a:bodyPr>
            <a:lstStyle/>
            <a:p>
              <a:r>
                <a:rPr lang="en-US" dirty="0">
                  <a:solidFill>
                    <a:srgbClr val="FF33CC"/>
                  </a:solidFill>
                </a:rPr>
                <a:t>6</a:t>
              </a:r>
            </a:p>
          </p:txBody>
        </p:sp>
        <p:sp>
          <p:nvSpPr>
            <p:cNvPr id="78" name="TextBox 77">
              <a:extLst>
                <a:ext uri="{FF2B5EF4-FFF2-40B4-BE49-F238E27FC236}">
                  <a16:creationId xmlns:a16="http://schemas.microsoft.com/office/drawing/2014/main" id="{2204989F-3585-1CBC-29E4-44BD3B0F92D1}"/>
                </a:ext>
              </a:extLst>
            </p:cNvPr>
            <p:cNvSpPr txBox="1"/>
            <p:nvPr/>
          </p:nvSpPr>
          <p:spPr>
            <a:xfrm>
              <a:off x="9321648" y="1328081"/>
              <a:ext cx="301686" cy="369332"/>
            </a:xfrm>
            <a:prstGeom prst="rect">
              <a:avLst/>
            </a:prstGeom>
            <a:noFill/>
          </p:spPr>
          <p:txBody>
            <a:bodyPr wrap="none" rtlCol="0">
              <a:spAutoFit/>
            </a:bodyPr>
            <a:lstStyle/>
            <a:p>
              <a:r>
                <a:rPr lang="en-US" dirty="0">
                  <a:solidFill>
                    <a:srgbClr val="FF33CC"/>
                  </a:solidFill>
                </a:rPr>
                <a:t>7</a:t>
              </a:r>
            </a:p>
          </p:txBody>
        </p:sp>
        <p:sp>
          <p:nvSpPr>
            <p:cNvPr id="79" name="TextBox 78">
              <a:extLst>
                <a:ext uri="{FF2B5EF4-FFF2-40B4-BE49-F238E27FC236}">
                  <a16:creationId xmlns:a16="http://schemas.microsoft.com/office/drawing/2014/main" id="{6B464C4E-7DA9-B615-1058-C4E700278BB9}"/>
                </a:ext>
              </a:extLst>
            </p:cNvPr>
            <p:cNvSpPr txBox="1"/>
            <p:nvPr/>
          </p:nvSpPr>
          <p:spPr>
            <a:xfrm>
              <a:off x="9855617" y="1328081"/>
              <a:ext cx="301686" cy="369332"/>
            </a:xfrm>
            <a:prstGeom prst="rect">
              <a:avLst/>
            </a:prstGeom>
            <a:noFill/>
          </p:spPr>
          <p:txBody>
            <a:bodyPr wrap="none" rtlCol="0">
              <a:spAutoFit/>
            </a:bodyPr>
            <a:lstStyle/>
            <a:p>
              <a:r>
                <a:rPr lang="en-US" dirty="0">
                  <a:solidFill>
                    <a:srgbClr val="FF33CC"/>
                  </a:solidFill>
                </a:rPr>
                <a:t>8</a:t>
              </a:r>
            </a:p>
          </p:txBody>
        </p:sp>
        <p:sp>
          <p:nvSpPr>
            <p:cNvPr id="80" name="TextBox 79">
              <a:extLst>
                <a:ext uri="{FF2B5EF4-FFF2-40B4-BE49-F238E27FC236}">
                  <a16:creationId xmlns:a16="http://schemas.microsoft.com/office/drawing/2014/main" id="{9E3BAF1E-0135-FE78-65E5-36F94453EB84}"/>
                </a:ext>
              </a:extLst>
            </p:cNvPr>
            <p:cNvSpPr txBox="1"/>
            <p:nvPr/>
          </p:nvSpPr>
          <p:spPr>
            <a:xfrm>
              <a:off x="10389017" y="1328081"/>
              <a:ext cx="301686" cy="369332"/>
            </a:xfrm>
            <a:prstGeom prst="rect">
              <a:avLst/>
            </a:prstGeom>
            <a:noFill/>
          </p:spPr>
          <p:txBody>
            <a:bodyPr wrap="none" rtlCol="0">
              <a:spAutoFit/>
            </a:bodyPr>
            <a:lstStyle/>
            <a:p>
              <a:r>
                <a:rPr lang="en-US" dirty="0">
                  <a:solidFill>
                    <a:srgbClr val="FF33CC"/>
                  </a:solidFill>
                </a:rPr>
                <a:t>9</a:t>
              </a:r>
            </a:p>
          </p:txBody>
        </p:sp>
        <p:sp>
          <p:nvSpPr>
            <p:cNvPr id="81" name="Rectangle 80">
              <a:extLst>
                <a:ext uri="{FF2B5EF4-FFF2-40B4-BE49-F238E27FC236}">
                  <a16:creationId xmlns:a16="http://schemas.microsoft.com/office/drawing/2014/main" id="{2DFD8513-19E2-27AE-A56D-B4E733BA5CE5}"/>
                </a:ext>
              </a:extLst>
            </p:cNvPr>
            <p:cNvSpPr/>
            <p:nvPr/>
          </p:nvSpPr>
          <p:spPr>
            <a:xfrm>
              <a:off x="10813042" y="754688"/>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15</a:t>
              </a:r>
            </a:p>
          </p:txBody>
        </p:sp>
        <p:sp>
          <p:nvSpPr>
            <p:cNvPr id="82" name="TextBox 81">
              <a:extLst>
                <a:ext uri="{FF2B5EF4-FFF2-40B4-BE49-F238E27FC236}">
                  <a16:creationId xmlns:a16="http://schemas.microsoft.com/office/drawing/2014/main" id="{DC24E26C-88F3-9783-2C3F-A1DAAA8A430E}"/>
                </a:ext>
              </a:extLst>
            </p:cNvPr>
            <p:cNvSpPr txBox="1"/>
            <p:nvPr/>
          </p:nvSpPr>
          <p:spPr>
            <a:xfrm>
              <a:off x="10870777" y="1330511"/>
              <a:ext cx="418704" cy="369332"/>
            </a:xfrm>
            <a:prstGeom prst="rect">
              <a:avLst/>
            </a:prstGeom>
            <a:noFill/>
          </p:spPr>
          <p:txBody>
            <a:bodyPr wrap="none" rtlCol="0">
              <a:spAutoFit/>
            </a:bodyPr>
            <a:lstStyle/>
            <a:p>
              <a:r>
                <a:rPr lang="en-US" dirty="0">
                  <a:solidFill>
                    <a:srgbClr val="FF33CC"/>
                  </a:solidFill>
                </a:rPr>
                <a:t>10</a:t>
              </a:r>
            </a:p>
          </p:txBody>
        </p:sp>
      </p:grpSp>
      <p:sp>
        <p:nvSpPr>
          <p:cNvPr id="56" name="TextBox 55">
            <a:extLst>
              <a:ext uri="{FF2B5EF4-FFF2-40B4-BE49-F238E27FC236}">
                <a16:creationId xmlns:a16="http://schemas.microsoft.com/office/drawing/2014/main" id="{ED4902B8-F5AB-50D9-18C4-FF07B8E03412}"/>
              </a:ext>
            </a:extLst>
          </p:cNvPr>
          <p:cNvSpPr txBox="1"/>
          <p:nvPr/>
        </p:nvSpPr>
        <p:spPr>
          <a:xfrm>
            <a:off x="8434060" y="4571102"/>
            <a:ext cx="3263779" cy="1938992"/>
          </a:xfrm>
          <a:prstGeom prst="rect">
            <a:avLst/>
          </a:prstGeom>
          <a:noFill/>
        </p:spPr>
        <p:txBody>
          <a:bodyPr wrap="none" rtlCol="0">
            <a:spAutoFit/>
          </a:bodyPr>
          <a:lstStyle/>
          <a:p>
            <a:r>
              <a:rPr lang="en-US" sz="2400" dirty="0" err="1"/>
              <a:t>buildHeap</a:t>
            </a:r>
            <a:r>
              <a:rPr lang="en-US" sz="2400" dirty="0"/>
              <a:t>(){</a:t>
            </a:r>
          </a:p>
          <a:p>
            <a:r>
              <a:rPr lang="en-US" sz="2400" dirty="0"/>
              <a:t>    for(int </a:t>
            </a:r>
            <a:r>
              <a:rPr lang="en-US" sz="2400" dirty="0" err="1"/>
              <a:t>i</a:t>
            </a:r>
            <a:r>
              <a:rPr lang="en-US" sz="2400" dirty="0"/>
              <a:t> = size; </a:t>
            </a:r>
            <a:r>
              <a:rPr lang="en-US" sz="2400" dirty="0" err="1"/>
              <a:t>i</a:t>
            </a:r>
            <a:r>
              <a:rPr lang="en-US" sz="2400" dirty="0"/>
              <a:t>&gt;0; </a:t>
            </a:r>
            <a:r>
              <a:rPr lang="en-US" sz="2400" dirty="0" err="1"/>
              <a:t>i</a:t>
            </a:r>
            <a:r>
              <a:rPr lang="en-US" sz="2400" dirty="0"/>
              <a:t>--){</a:t>
            </a:r>
          </a:p>
          <a:p>
            <a:r>
              <a:rPr lang="en-US" sz="2400" dirty="0"/>
              <a:t>        </a:t>
            </a:r>
            <a:r>
              <a:rPr lang="en-US" sz="2400" dirty="0" err="1"/>
              <a:t>percolateDown</a:t>
            </a:r>
            <a:r>
              <a:rPr lang="en-US" sz="2400" dirty="0"/>
              <a:t>(</a:t>
            </a:r>
            <a:r>
              <a:rPr lang="en-US" sz="2400" dirty="0" err="1"/>
              <a:t>i</a:t>
            </a:r>
            <a:r>
              <a:rPr lang="en-US" sz="2400" dirty="0"/>
              <a:t>);</a:t>
            </a:r>
          </a:p>
          <a:p>
            <a:r>
              <a:rPr lang="en-US" sz="2400" dirty="0"/>
              <a:t>    }</a:t>
            </a:r>
          </a:p>
          <a:p>
            <a:r>
              <a:rPr lang="en-US" sz="2400" dirty="0"/>
              <a:t>}</a:t>
            </a:r>
          </a:p>
        </p:txBody>
      </p:sp>
    </p:spTree>
    <p:extLst>
      <p:ext uri="{BB962C8B-B14F-4D97-AF65-F5344CB8AC3E}">
        <p14:creationId xmlns:p14="http://schemas.microsoft.com/office/powerpoint/2010/main" val="371499317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0F2A4A-E8D3-7F93-AD14-D6B2FD99DD01}"/>
              </a:ext>
            </a:extLst>
          </p:cNvPr>
          <p:cNvSpPr>
            <a:spLocks noGrp="1"/>
          </p:cNvSpPr>
          <p:nvPr>
            <p:ph type="title"/>
          </p:nvPr>
        </p:nvSpPr>
        <p:spPr/>
        <p:txBody>
          <a:bodyPr/>
          <a:lstStyle/>
          <a:p>
            <a:r>
              <a:rPr lang="en-US" dirty="0"/>
              <a:t>Floyd’s </a:t>
            </a:r>
            <a:r>
              <a:rPr lang="en-US" dirty="0" err="1"/>
              <a:t>buildHeap</a:t>
            </a:r>
            <a:r>
              <a:rPr lang="en-US" dirty="0"/>
              <a:t> method (Percolate 5) </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81AF3C39-C718-C590-CB20-0AC3D97ADFB4}"/>
                  </a:ext>
                </a:extLst>
              </p:cNvPr>
              <p:cNvSpPr>
                <a:spLocks noGrp="1"/>
              </p:cNvSpPr>
              <p:nvPr>
                <p:ph idx="1"/>
              </p:nvPr>
            </p:nvSpPr>
            <p:spPr/>
            <p:txBody>
              <a:bodyPr/>
              <a:lstStyle/>
              <a:p>
                <a:r>
                  <a:rPr lang="en-US" dirty="0"/>
                  <a:t>Suppose we had </a:t>
                </a:r>
                <a14:m>
                  <m:oMath xmlns:m="http://schemas.openxmlformats.org/officeDocument/2006/math">
                    <m:r>
                      <a:rPr lang="en-US" b="0" i="1" smtClean="0">
                        <a:latin typeface="Cambria Math" panose="02040503050406030204" pitchFamily="18" charset="0"/>
                      </a:rPr>
                      <m:t>𝑛</m:t>
                    </m:r>
                  </m:oMath>
                </a14:m>
                <a:r>
                  <a:rPr lang="en-US" dirty="0"/>
                  <a:t> items and wanted to “</a:t>
                </a:r>
                <a:r>
                  <a:rPr lang="en-US" dirty="0" err="1"/>
                  <a:t>heapify</a:t>
                </a:r>
                <a:r>
                  <a:rPr lang="en-US" dirty="0"/>
                  <a:t>” them</a:t>
                </a:r>
              </a:p>
            </p:txBody>
          </p:sp>
        </mc:Choice>
        <mc:Fallback xmlns="">
          <p:sp>
            <p:nvSpPr>
              <p:cNvPr id="3" name="Content Placeholder 2">
                <a:extLst>
                  <a:ext uri="{FF2B5EF4-FFF2-40B4-BE49-F238E27FC236}">
                    <a16:creationId xmlns:a16="http://schemas.microsoft.com/office/drawing/2014/main" id="{81AF3C39-C718-C590-CB20-0AC3D97ADFB4}"/>
                  </a:ext>
                </a:extLst>
              </p:cNvPr>
              <p:cNvSpPr>
                <a:spLocks noGrp="1" noRot="1" noChangeAspect="1" noMove="1" noResize="1" noEditPoints="1" noAdjustHandles="1" noChangeArrowheads="1" noChangeShapeType="1" noTextEdit="1"/>
              </p:cNvSpPr>
              <p:nvPr>
                <p:ph idx="1"/>
              </p:nvPr>
            </p:nvSpPr>
            <p:spPr>
              <a:blipFill>
                <a:blip r:embed="rId2"/>
                <a:stretch>
                  <a:fillRect l="-1043" t="-2241"/>
                </a:stretch>
              </a:blipFill>
            </p:spPr>
            <p:txBody>
              <a:bodyPr/>
              <a:lstStyle/>
              <a:p>
                <a:r>
                  <a:rPr lang="en-US">
                    <a:noFill/>
                  </a:rPr>
                  <a:t> </a:t>
                </a:r>
              </a:p>
            </p:txBody>
          </p:sp>
        </mc:Fallback>
      </mc:AlternateContent>
      <p:grpSp>
        <p:nvGrpSpPr>
          <p:cNvPr id="61" name="Group 60" descr="6 is larger than both of its children (2 and 1) and so we swap with the smallest child (1). Now 6 is a leaf and so it does not violate the heap property. 1 is smaller than both of its children, so it does not violate the heap property either. However, now the parent of 1 (5) is larger, and so it now violates the heap property.&#10;&#10;We will next percolate down on the node 5.">
            <a:extLst>
              <a:ext uri="{FF2B5EF4-FFF2-40B4-BE49-F238E27FC236}">
                <a16:creationId xmlns:a16="http://schemas.microsoft.com/office/drawing/2014/main" id="{863756C4-FFEE-45CE-C290-81DC657DB3F1}"/>
              </a:ext>
            </a:extLst>
          </p:cNvPr>
          <p:cNvGrpSpPr/>
          <p:nvPr/>
        </p:nvGrpSpPr>
        <p:grpSpPr>
          <a:xfrm>
            <a:off x="201742" y="2956422"/>
            <a:ext cx="6934200" cy="3661882"/>
            <a:chOff x="201742" y="2956422"/>
            <a:chExt cx="6934200" cy="3661882"/>
          </a:xfrm>
        </p:grpSpPr>
        <p:grpSp>
          <p:nvGrpSpPr>
            <p:cNvPr id="27" name="Group 26">
              <a:extLst>
                <a:ext uri="{FF2B5EF4-FFF2-40B4-BE49-F238E27FC236}">
                  <a16:creationId xmlns:a16="http://schemas.microsoft.com/office/drawing/2014/main" id="{B87E5112-EE0A-A568-FB0C-800B49EAA828}"/>
                </a:ext>
              </a:extLst>
            </p:cNvPr>
            <p:cNvGrpSpPr/>
            <p:nvPr/>
          </p:nvGrpSpPr>
          <p:grpSpPr>
            <a:xfrm>
              <a:off x="201742" y="2956422"/>
              <a:ext cx="6934200" cy="3661882"/>
              <a:chOff x="2590801" y="2672070"/>
              <a:chExt cx="6934200" cy="3661882"/>
            </a:xfrm>
          </p:grpSpPr>
          <p:sp>
            <p:nvSpPr>
              <p:cNvPr id="28" name="Oval 27">
                <a:extLst>
                  <a:ext uri="{FF2B5EF4-FFF2-40B4-BE49-F238E27FC236}">
                    <a16:creationId xmlns:a16="http://schemas.microsoft.com/office/drawing/2014/main" id="{3A30E535-E151-7B10-2482-D4C18A271CB8}"/>
                  </a:ext>
                </a:extLst>
              </p:cNvPr>
              <p:cNvSpPr/>
              <p:nvPr/>
            </p:nvSpPr>
            <p:spPr>
              <a:xfrm>
                <a:off x="5996855" y="2672070"/>
                <a:ext cx="688077" cy="688077"/>
              </a:xfrm>
              <a:prstGeom prst="ellipse">
                <a:avLst/>
              </a:prstGeom>
              <a:solidFill>
                <a:schemeClr val="accent2">
                  <a:lumMod val="40000"/>
                  <a:lumOff val="60000"/>
                </a:schemeClr>
              </a:solid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940000"/>
                    </a:solidFill>
                  </a:rPr>
                  <a:t>5</a:t>
                </a:r>
              </a:p>
            </p:txBody>
          </p:sp>
          <p:sp>
            <p:nvSpPr>
              <p:cNvPr id="29" name="Oval 28">
                <a:extLst>
                  <a:ext uri="{FF2B5EF4-FFF2-40B4-BE49-F238E27FC236}">
                    <a16:creationId xmlns:a16="http://schemas.microsoft.com/office/drawing/2014/main" id="{316155D8-6880-CAC9-337D-0F3B5F0C2BBB}"/>
                  </a:ext>
                </a:extLst>
              </p:cNvPr>
              <p:cNvSpPr/>
              <p:nvPr/>
            </p:nvSpPr>
            <p:spPr>
              <a:xfrm>
                <a:off x="4191001" y="3682289"/>
                <a:ext cx="688077" cy="688077"/>
              </a:xfrm>
              <a:prstGeom prst="ellipse">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1</a:t>
                </a:r>
              </a:p>
            </p:txBody>
          </p:sp>
          <p:sp>
            <p:nvSpPr>
              <p:cNvPr id="30" name="Oval 29">
                <a:extLst>
                  <a:ext uri="{FF2B5EF4-FFF2-40B4-BE49-F238E27FC236}">
                    <a16:creationId xmlns:a16="http://schemas.microsoft.com/office/drawing/2014/main" id="{63701FD1-D85F-35B3-CE7C-6CFF8DCBAC09}"/>
                  </a:ext>
                </a:extLst>
              </p:cNvPr>
              <p:cNvSpPr/>
              <p:nvPr/>
            </p:nvSpPr>
            <p:spPr>
              <a:xfrm>
                <a:off x="7858499" y="3653913"/>
                <a:ext cx="688077" cy="688077"/>
              </a:xfrm>
              <a:prstGeom prst="ellipse">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7</a:t>
                </a:r>
              </a:p>
            </p:txBody>
          </p:sp>
          <p:sp>
            <p:nvSpPr>
              <p:cNvPr id="31" name="Oval 30">
                <a:extLst>
                  <a:ext uri="{FF2B5EF4-FFF2-40B4-BE49-F238E27FC236}">
                    <a16:creationId xmlns:a16="http://schemas.microsoft.com/office/drawing/2014/main" id="{03A6BB66-2DDC-8C2E-6AB0-DA31FC02453E}"/>
                  </a:ext>
                </a:extLst>
              </p:cNvPr>
              <p:cNvSpPr/>
              <p:nvPr/>
            </p:nvSpPr>
            <p:spPr>
              <a:xfrm>
                <a:off x="3200401" y="4383504"/>
                <a:ext cx="688077" cy="688077"/>
              </a:xfrm>
              <a:prstGeom prst="ellipse">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2</a:t>
                </a:r>
              </a:p>
            </p:txBody>
          </p:sp>
          <p:sp>
            <p:nvSpPr>
              <p:cNvPr id="32" name="Oval 31">
                <a:extLst>
                  <a:ext uri="{FF2B5EF4-FFF2-40B4-BE49-F238E27FC236}">
                    <a16:creationId xmlns:a16="http://schemas.microsoft.com/office/drawing/2014/main" id="{E219BA91-50E2-9B4F-817E-664706C652CC}"/>
                  </a:ext>
                </a:extLst>
              </p:cNvPr>
              <p:cNvSpPr/>
              <p:nvPr/>
            </p:nvSpPr>
            <p:spPr>
              <a:xfrm>
                <a:off x="5211206" y="4425368"/>
                <a:ext cx="688077" cy="688077"/>
              </a:xfrm>
              <a:prstGeom prst="ellipse">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6</a:t>
                </a:r>
              </a:p>
            </p:txBody>
          </p:sp>
          <p:sp>
            <p:nvSpPr>
              <p:cNvPr id="33" name="Oval 32">
                <a:extLst>
                  <a:ext uri="{FF2B5EF4-FFF2-40B4-BE49-F238E27FC236}">
                    <a16:creationId xmlns:a16="http://schemas.microsoft.com/office/drawing/2014/main" id="{C3B38612-C965-1385-57E2-DB495D63D40C}"/>
                  </a:ext>
                </a:extLst>
              </p:cNvPr>
              <p:cNvSpPr/>
              <p:nvPr/>
            </p:nvSpPr>
            <p:spPr>
              <a:xfrm>
                <a:off x="6934201" y="4341990"/>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34" name="Oval 33">
                <a:extLst>
                  <a:ext uri="{FF2B5EF4-FFF2-40B4-BE49-F238E27FC236}">
                    <a16:creationId xmlns:a16="http://schemas.microsoft.com/office/drawing/2014/main" id="{C32BE3EF-F957-D7BD-78A2-BE2188A515E4}"/>
                  </a:ext>
                </a:extLst>
              </p:cNvPr>
              <p:cNvSpPr/>
              <p:nvPr/>
            </p:nvSpPr>
            <p:spPr>
              <a:xfrm>
                <a:off x="8836924" y="4341990"/>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10</a:t>
                </a:r>
              </a:p>
            </p:txBody>
          </p:sp>
          <p:sp>
            <p:nvSpPr>
              <p:cNvPr id="35" name="Oval 34">
                <a:extLst>
                  <a:ext uri="{FF2B5EF4-FFF2-40B4-BE49-F238E27FC236}">
                    <a16:creationId xmlns:a16="http://schemas.microsoft.com/office/drawing/2014/main" id="{67A0923A-D958-A1BA-1015-3E54B06E39E1}"/>
                  </a:ext>
                </a:extLst>
              </p:cNvPr>
              <p:cNvSpPr/>
              <p:nvPr/>
            </p:nvSpPr>
            <p:spPr>
              <a:xfrm>
                <a:off x="2590801" y="5352744"/>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14</a:t>
                </a:r>
              </a:p>
            </p:txBody>
          </p:sp>
          <p:sp>
            <p:nvSpPr>
              <p:cNvPr id="36" name="Oval 35">
                <a:extLst>
                  <a:ext uri="{FF2B5EF4-FFF2-40B4-BE49-F238E27FC236}">
                    <a16:creationId xmlns:a16="http://schemas.microsoft.com/office/drawing/2014/main" id="{2B9709BB-64D4-3FBE-7884-D1B0484114A6}"/>
                  </a:ext>
                </a:extLst>
              </p:cNvPr>
              <p:cNvSpPr/>
              <p:nvPr/>
            </p:nvSpPr>
            <p:spPr>
              <a:xfrm>
                <a:off x="3733801" y="5352744"/>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cxnSp>
            <p:nvCxnSpPr>
              <p:cNvPr id="37" name="Straight Connector 36">
                <a:extLst>
                  <a:ext uri="{FF2B5EF4-FFF2-40B4-BE49-F238E27FC236}">
                    <a16:creationId xmlns:a16="http://schemas.microsoft.com/office/drawing/2014/main" id="{8A089308-EAB4-3DF6-2168-FA9078D82274}"/>
                  </a:ext>
                </a:extLst>
              </p:cNvPr>
              <p:cNvCxnSpPr>
                <a:cxnSpLocks/>
                <a:stCxn id="28" idx="3"/>
                <a:endCxn id="29" idx="7"/>
              </p:cNvCxnSpPr>
              <p:nvPr/>
            </p:nvCxnSpPr>
            <p:spPr>
              <a:xfrm flipH="1">
                <a:off x="4778311" y="3259380"/>
                <a:ext cx="1319311" cy="52367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483BDF66-84DB-ABCB-4020-11642646E088}"/>
                  </a:ext>
                </a:extLst>
              </p:cNvPr>
              <p:cNvCxnSpPr>
                <a:cxnSpLocks/>
                <a:stCxn id="28" idx="5"/>
                <a:endCxn id="30" idx="1"/>
              </p:cNvCxnSpPr>
              <p:nvPr/>
            </p:nvCxnSpPr>
            <p:spPr>
              <a:xfrm>
                <a:off x="6584165" y="3259380"/>
                <a:ext cx="1375101" cy="4953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C220F70A-FDDC-7762-B33A-06720ADD3AF7}"/>
                  </a:ext>
                </a:extLst>
              </p:cNvPr>
              <p:cNvCxnSpPr>
                <a:stCxn id="32" idx="1"/>
                <a:endCxn id="29" idx="5"/>
              </p:cNvCxnSpPr>
              <p:nvPr/>
            </p:nvCxnSpPr>
            <p:spPr>
              <a:xfrm flipH="1" flipV="1">
                <a:off x="4778310" y="4269598"/>
                <a:ext cx="533662" cy="25653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E56022E8-594C-5224-728B-F2FC6AA874BE}"/>
                  </a:ext>
                </a:extLst>
              </p:cNvPr>
              <p:cNvCxnSpPr>
                <a:stCxn id="31" idx="7"/>
                <a:endCxn id="29" idx="3"/>
              </p:cNvCxnSpPr>
              <p:nvPr/>
            </p:nvCxnSpPr>
            <p:spPr>
              <a:xfrm flipV="1">
                <a:off x="3787711" y="4269598"/>
                <a:ext cx="504057" cy="21467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F3D94FFD-BC02-5F5A-FF9E-9C49B907172F}"/>
                  </a:ext>
                </a:extLst>
              </p:cNvPr>
              <p:cNvCxnSpPr>
                <a:stCxn id="36" idx="0"/>
                <a:endCxn id="31" idx="5"/>
              </p:cNvCxnSpPr>
              <p:nvPr/>
            </p:nvCxnSpPr>
            <p:spPr>
              <a:xfrm flipH="1" flipV="1">
                <a:off x="3787711" y="4970813"/>
                <a:ext cx="290129" cy="38193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65735856-C128-C713-C639-DB1757598AE1}"/>
                  </a:ext>
                </a:extLst>
              </p:cNvPr>
              <p:cNvCxnSpPr>
                <a:stCxn id="35" idx="0"/>
                <a:endCxn id="31" idx="3"/>
              </p:cNvCxnSpPr>
              <p:nvPr/>
            </p:nvCxnSpPr>
            <p:spPr>
              <a:xfrm flipV="1">
                <a:off x="2934839" y="4970813"/>
                <a:ext cx="366328" cy="38193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A8E5DDDC-1F60-E1BD-ED97-8C6BDFE31483}"/>
                  </a:ext>
                </a:extLst>
              </p:cNvPr>
              <p:cNvCxnSpPr>
                <a:stCxn id="33" idx="7"/>
                <a:endCxn id="30" idx="3"/>
              </p:cNvCxnSpPr>
              <p:nvPr/>
            </p:nvCxnSpPr>
            <p:spPr>
              <a:xfrm flipV="1">
                <a:off x="7521511" y="4241222"/>
                <a:ext cx="437755" cy="20153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202118E8-FE37-1B94-60E7-FF8DC87A02DF}"/>
                  </a:ext>
                </a:extLst>
              </p:cNvPr>
              <p:cNvCxnSpPr>
                <a:stCxn id="34" idx="1"/>
                <a:endCxn id="30" idx="5"/>
              </p:cNvCxnSpPr>
              <p:nvPr/>
            </p:nvCxnSpPr>
            <p:spPr>
              <a:xfrm flipH="1" flipV="1">
                <a:off x="8445808" y="4241222"/>
                <a:ext cx="491882" cy="20153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45" name="TextBox 44">
                <a:extLst>
                  <a:ext uri="{FF2B5EF4-FFF2-40B4-BE49-F238E27FC236}">
                    <a16:creationId xmlns:a16="http://schemas.microsoft.com/office/drawing/2014/main" id="{A3F51C00-7BE4-C71B-CEC9-78F3E393B278}"/>
                  </a:ext>
                </a:extLst>
              </p:cNvPr>
              <p:cNvSpPr txBox="1"/>
              <p:nvPr/>
            </p:nvSpPr>
            <p:spPr>
              <a:xfrm>
                <a:off x="6190049" y="3371296"/>
                <a:ext cx="301686" cy="369332"/>
              </a:xfrm>
              <a:prstGeom prst="rect">
                <a:avLst/>
              </a:prstGeom>
              <a:noFill/>
            </p:spPr>
            <p:txBody>
              <a:bodyPr wrap="none" rtlCol="0">
                <a:spAutoFit/>
              </a:bodyPr>
              <a:lstStyle/>
              <a:p>
                <a:r>
                  <a:rPr lang="en-US" dirty="0">
                    <a:solidFill>
                      <a:srgbClr val="FF33CC"/>
                    </a:solidFill>
                  </a:rPr>
                  <a:t>1</a:t>
                </a:r>
              </a:p>
            </p:txBody>
          </p:sp>
          <p:sp>
            <p:nvSpPr>
              <p:cNvPr id="46" name="TextBox 45">
                <a:extLst>
                  <a:ext uri="{FF2B5EF4-FFF2-40B4-BE49-F238E27FC236}">
                    <a16:creationId xmlns:a16="http://schemas.microsoft.com/office/drawing/2014/main" id="{CE00191F-101E-453F-E05F-F79326EF7FFB}"/>
                  </a:ext>
                </a:extLst>
              </p:cNvPr>
              <p:cNvSpPr txBox="1"/>
              <p:nvPr/>
            </p:nvSpPr>
            <p:spPr>
              <a:xfrm>
                <a:off x="4384195" y="4377091"/>
                <a:ext cx="301686" cy="369332"/>
              </a:xfrm>
              <a:prstGeom prst="rect">
                <a:avLst/>
              </a:prstGeom>
              <a:noFill/>
            </p:spPr>
            <p:txBody>
              <a:bodyPr wrap="none" rtlCol="0">
                <a:spAutoFit/>
              </a:bodyPr>
              <a:lstStyle/>
              <a:p>
                <a:r>
                  <a:rPr lang="en-US" dirty="0">
                    <a:solidFill>
                      <a:srgbClr val="FF33CC"/>
                    </a:solidFill>
                  </a:rPr>
                  <a:t>2</a:t>
                </a:r>
              </a:p>
            </p:txBody>
          </p:sp>
          <p:sp>
            <p:nvSpPr>
              <p:cNvPr id="47" name="TextBox 46">
                <a:extLst>
                  <a:ext uri="{FF2B5EF4-FFF2-40B4-BE49-F238E27FC236}">
                    <a16:creationId xmlns:a16="http://schemas.microsoft.com/office/drawing/2014/main" id="{9B19AC53-E3AB-F92F-CA0A-7EC078433879}"/>
                  </a:ext>
                </a:extLst>
              </p:cNvPr>
              <p:cNvSpPr txBox="1"/>
              <p:nvPr/>
            </p:nvSpPr>
            <p:spPr>
              <a:xfrm>
                <a:off x="8051693" y="4316695"/>
                <a:ext cx="301686" cy="369332"/>
              </a:xfrm>
              <a:prstGeom prst="rect">
                <a:avLst/>
              </a:prstGeom>
              <a:noFill/>
            </p:spPr>
            <p:txBody>
              <a:bodyPr wrap="none" rtlCol="0">
                <a:spAutoFit/>
              </a:bodyPr>
              <a:lstStyle/>
              <a:p>
                <a:r>
                  <a:rPr lang="en-US" dirty="0">
                    <a:solidFill>
                      <a:srgbClr val="FF33CC"/>
                    </a:solidFill>
                  </a:rPr>
                  <a:t>3</a:t>
                </a:r>
              </a:p>
            </p:txBody>
          </p:sp>
          <p:sp>
            <p:nvSpPr>
              <p:cNvPr id="48" name="TextBox 47">
                <a:extLst>
                  <a:ext uri="{FF2B5EF4-FFF2-40B4-BE49-F238E27FC236}">
                    <a16:creationId xmlns:a16="http://schemas.microsoft.com/office/drawing/2014/main" id="{BA690ADD-9D72-5CFC-ABA4-CFD3482C08B4}"/>
                  </a:ext>
                </a:extLst>
              </p:cNvPr>
              <p:cNvSpPr txBox="1"/>
              <p:nvPr/>
            </p:nvSpPr>
            <p:spPr>
              <a:xfrm>
                <a:off x="3352081" y="5071580"/>
                <a:ext cx="301686" cy="369332"/>
              </a:xfrm>
              <a:prstGeom prst="rect">
                <a:avLst/>
              </a:prstGeom>
              <a:noFill/>
            </p:spPr>
            <p:txBody>
              <a:bodyPr wrap="none" rtlCol="0">
                <a:spAutoFit/>
              </a:bodyPr>
              <a:lstStyle/>
              <a:p>
                <a:r>
                  <a:rPr lang="en-US" dirty="0">
                    <a:solidFill>
                      <a:srgbClr val="FF33CC"/>
                    </a:solidFill>
                  </a:rPr>
                  <a:t>4</a:t>
                </a:r>
              </a:p>
            </p:txBody>
          </p:sp>
          <p:sp>
            <p:nvSpPr>
              <p:cNvPr id="49" name="TextBox 48">
                <a:extLst>
                  <a:ext uri="{FF2B5EF4-FFF2-40B4-BE49-F238E27FC236}">
                    <a16:creationId xmlns:a16="http://schemas.microsoft.com/office/drawing/2014/main" id="{525CA634-CACD-54BE-4661-54DEF3A780C5}"/>
                  </a:ext>
                </a:extLst>
              </p:cNvPr>
              <p:cNvSpPr txBox="1"/>
              <p:nvPr/>
            </p:nvSpPr>
            <p:spPr>
              <a:xfrm>
                <a:off x="7122005" y="5012677"/>
                <a:ext cx="301686" cy="369332"/>
              </a:xfrm>
              <a:prstGeom prst="rect">
                <a:avLst/>
              </a:prstGeom>
              <a:noFill/>
            </p:spPr>
            <p:txBody>
              <a:bodyPr wrap="none" rtlCol="0">
                <a:spAutoFit/>
              </a:bodyPr>
              <a:lstStyle/>
              <a:p>
                <a:r>
                  <a:rPr lang="en-US" dirty="0">
                    <a:solidFill>
                      <a:srgbClr val="FF33CC"/>
                    </a:solidFill>
                  </a:rPr>
                  <a:t>6</a:t>
                </a:r>
              </a:p>
            </p:txBody>
          </p:sp>
          <p:sp>
            <p:nvSpPr>
              <p:cNvPr id="50" name="TextBox 49">
                <a:extLst>
                  <a:ext uri="{FF2B5EF4-FFF2-40B4-BE49-F238E27FC236}">
                    <a16:creationId xmlns:a16="http://schemas.microsoft.com/office/drawing/2014/main" id="{ABF6D568-E05C-26F2-EBD8-57839FC7687F}"/>
                  </a:ext>
                </a:extLst>
              </p:cNvPr>
              <p:cNvSpPr txBox="1"/>
              <p:nvPr/>
            </p:nvSpPr>
            <p:spPr>
              <a:xfrm>
                <a:off x="5404400" y="5108902"/>
                <a:ext cx="301686" cy="369332"/>
              </a:xfrm>
              <a:prstGeom prst="rect">
                <a:avLst/>
              </a:prstGeom>
              <a:noFill/>
            </p:spPr>
            <p:txBody>
              <a:bodyPr wrap="none" rtlCol="0">
                <a:spAutoFit/>
              </a:bodyPr>
              <a:lstStyle/>
              <a:p>
                <a:r>
                  <a:rPr lang="en-US" dirty="0">
                    <a:solidFill>
                      <a:srgbClr val="FF33CC"/>
                    </a:solidFill>
                  </a:rPr>
                  <a:t>5</a:t>
                </a:r>
              </a:p>
            </p:txBody>
          </p:sp>
          <p:sp>
            <p:nvSpPr>
              <p:cNvPr id="51" name="TextBox 50">
                <a:extLst>
                  <a:ext uri="{FF2B5EF4-FFF2-40B4-BE49-F238E27FC236}">
                    <a16:creationId xmlns:a16="http://schemas.microsoft.com/office/drawing/2014/main" id="{3E1DFACA-646B-2F3B-1F0D-554B10C6DCB7}"/>
                  </a:ext>
                </a:extLst>
              </p:cNvPr>
              <p:cNvSpPr txBox="1"/>
              <p:nvPr/>
            </p:nvSpPr>
            <p:spPr>
              <a:xfrm>
                <a:off x="9030118" y="5030066"/>
                <a:ext cx="301686" cy="369332"/>
              </a:xfrm>
              <a:prstGeom prst="rect">
                <a:avLst/>
              </a:prstGeom>
              <a:noFill/>
            </p:spPr>
            <p:txBody>
              <a:bodyPr wrap="none" rtlCol="0">
                <a:spAutoFit/>
              </a:bodyPr>
              <a:lstStyle/>
              <a:p>
                <a:r>
                  <a:rPr lang="en-US" dirty="0">
                    <a:solidFill>
                      <a:srgbClr val="FF33CC"/>
                    </a:solidFill>
                  </a:rPr>
                  <a:t>7</a:t>
                </a:r>
              </a:p>
            </p:txBody>
          </p:sp>
          <p:sp>
            <p:nvSpPr>
              <p:cNvPr id="52" name="TextBox 51">
                <a:extLst>
                  <a:ext uri="{FF2B5EF4-FFF2-40B4-BE49-F238E27FC236}">
                    <a16:creationId xmlns:a16="http://schemas.microsoft.com/office/drawing/2014/main" id="{B96EE955-07B4-4EE0-219A-7BF193FD11F3}"/>
                  </a:ext>
                </a:extLst>
              </p:cNvPr>
              <p:cNvSpPr txBox="1"/>
              <p:nvPr/>
            </p:nvSpPr>
            <p:spPr>
              <a:xfrm>
                <a:off x="2783996" y="5964620"/>
                <a:ext cx="301686" cy="369332"/>
              </a:xfrm>
              <a:prstGeom prst="rect">
                <a:avLst/>
              </a:prstGeom>
              <a:noFill/>
            </p:spPr>
            <p:txBody>
              <a:bodyPr wrap="none" rtlCol="0">
                <a:spAutoFit/>
              </a:bodyPr>
              <a:lstStyle/>
              <a:p>
                <a:r>
                  <a:rPr lang="en-US" dirty="0">
                    <a:solidFill>
                      <a:srgbClr val="FF33CC"/>
                    </a:solidFill>
                  </a:rPr>
                  <a:t>8</a:t>
                </a:r>
              </a:p>
            </p:txBody>
          </p:sp>
          <p:sp>
            <p:nvSpPr>
              <p:cNvPr id="53" name="TextBox 52">
                <a:extLst>
                  <a:ext uri="{FF2B5EF4-FFF2-40B4-BE49-F238E27FC236}">
                    <a16:creationId xmlns:a16="http://schemas.microsoft.com/office/drawing/2014/main" id="{6AE0ABF5-B591-93A9-75F6-25B4A6AB23BE}"/>
                  </a:ext>
                </a:extLst>
              </p:cNvPr>
              <p:cNvSpPr txBox="1"/>
              <p:nvPr/>
            </p:nvSpPr>
            <p:spPr>
              <a:xfrm>
                <a:off x="3920467" y="5964620"/>
                <a:ext cx="301686" cy="369332"/>
              </a:xfrm>
              <a:prstGeom prst="rect">
                <a:avLst/>
              </a:prstGeom>
              <a:noFill/>
            </p:spPr>
            <p:txBody>
              <a:bodyPr wrap="none" rtlCol="0">
                <a:spAutoFit/>
              </a:bodyPr>
              <a:lstStyle/>
              <a:p>
                <a:r>
                  <a:rPr lang="en-US" dirty="0">
                    <a:solidFill>
                      <a:srgbClr val="FF33CC"/>
                    </a:solidFill>
                  </a:rPr>
                  <a:t>9</a:t>
                </a:r>
              </a:p>
            </p:txBody>
          </p:sp>
        </p:grpSp>
        <p:sp>
          <p:nvSpPr>
            <p:cNvPr id="54" name="Oval 53">
              <a:extLst>
                <a:ext uri="{FF2B5EF4-FFF2-40B4-BE49-F238E27FC236}">
                  <a16:creationId xmlns:a16="http://schemas.microsoft.com/office/drawing/2014/main" id="{76035EC9-3610-8FDE-B3D0-38593B0EF572}"/>
                </a:ext>
              </a:extLst>
            </p:cNvPr>
            <p:cNvSpPr/>
            <p:nvPr/>
          </p:nvSpPr>
          <p:spPr>
            <a:xfrm>
              <a:off x="2330369" y="5636036"/>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15</a:t>
              </a:r>
            </a:p>
          </p:txBody>
        </p:sp>
        <p:cxnSp>
          <p:nvCxnSpPr>
            <p:cNvPr id="55" name="Straight Connector 54">
              <a:extLst>
                <a:ext uri="{FF2B5EF4-FFF2-40B4-BE49-F238E27FC236}">
                  <a16:creationId xmlns:a16="http://schemas.microsoft.com/office/drawing/2014/main" id="{0001DADF-BD70-7B05-56C0-31B3799F72C0}"/>
                </a:ext>
              </a:extLst>
            </p:cNvPr>
            <p:cNvCxnSpPr>
              <a:cxnSpLocks/>
              <a:stCxn id="54" idx="0"/>
              <a:endCxn id="32" idx="3"/>
            </p:cNvCxnSpPr>
            <p:nvPr/>
          </p:nvCxnSpPr>
          <p:spPr>
            <a:xfrm flipV="1">
              <a:off x="2674408" y="5297030"/>
              <a:ext cx="248506" cy="33900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59" name="TextBox 58">
              <a:extLst>
                <a:ext uri="{FF2B5EF4-FFF2-40B4-BE49-F238E27FC236}">
                  <a16:creationId xmlns:a16="http://schemas.microsoft.com/office/drawing/2014/main" id="{04CC9DA3-E3B4-4532-1F70-7E2BF83F9167}"/>
                </a:ext>
              </a:extLst>
            </p:cNvPr>
            <p:cNvSpPr txBox="1"/>
            <p:nvPr/>
          </p:nvSpPr>
          <p:spPr>
            <a:xfrm>
              <a:off x="2446730" y="6243373"/>
              <a:ext cx="418704" cy="369332"/>
            </a:xfrm>
            <a:prstGeom prst="rect">
              <a:avLst/>
            </a:prstGeom>
            <a:noFill/>
          </p:spPr>
          <p:txBody>
            <a:bodyPr wrap="none" rtlCol="0">
              <a:spAutoFit/>
            </a:bodyPr>
            <a:lstStyle/>
            <a:p>
              <a:r>
                <a:rPr lang="en-US" dirty="0">
                  <a:solidFill>
                    <a:srgbClr val="FF33CC"/>
                  </a:solidFill>
                </a:rPr>
                <a:t>10</a:t>
              </a:r>
            </a:p>
          </p:txBody>
        </p:sp>
      </p:grpSp>
      <p:sp>
        <p:nvSpPr>
          <p:cNvPr id="62" name="TextBox 61">
            <a:extLst>
              <a:ext uri="{FF2B5EF4-FFF2-40B4-BE49-F238E27FC236}">
                <a16:creationId xmlns:a16="http://schemas.microsoft.com/office/drawing/2014/main" id="{B43941B0-86D8-D533-366D-B46802C30744}"/>
              </a:ext>
              <a:ext uri="{C183D7F6-B498-43B3-948B-1728B52AA6E4}">
                <adec:decorative xmlns:adec="http://schemas.microsoft.com/office/drawing/2017/decorative" val="1"/>
              </a:ext>
            </a:extLst>
          </p:cNvPr>
          <p:cNvSpPr txBox="1"/>
          <p:nvPr/>
        </p:nvSpPr>
        <p:spPr>
          <a:xfrm>
            <a:off x="737595" y="3266383"/>
            <a:ext cx="2376228" cy="369332"/>
          </a:xfrm>
          <a:prstGeom prst="rect">
            <a:avLst/>
          </a:prstGeom>
          <a:noFill/>
        </p:spPr>
        <p:txBody>
          <a:bodyPr wrap="none" rtlCol="0">
            <a:spAutoFit/>
          </a:bodyPr>
          <a:lstStyle/>
          <a:p>
            <a:r>
              <a:rPr lang="en-US" b="1" u="sng" dirty="0">
                <a:solidFill>
                  <a:srgbClr val="FF0000"/>
                </a:solidFill>
              </a:rPr>
              <a:t>Violate Heap Property!</a:t>
            </a:r>
          </a:p>
        </p:txBody>
      </p:sp>
      <p:grpSp>
        <p:nvGrpSpPr>
          <p:cNvPr id="57" name="Group 56" descr="The array representation of the heap.&#10;&#10;The items are, in order: 5, 1, 7, 2, 6, 8, 10, 14, 3, 15">
            <a:extLst>
              <a:ext uri="{FF2B5EF4-FFF2-40B4-BE49-F238E27FC236}">
                <a16:creationId xmlns:a16="http://schemas.microsoft.com/office/drawing/2014/main" id="{2C5774DF-B400-48EA-E75C-977B776A9E43}"/>
              </a:ext>
            </a:extLst>
          </p:cNvPr>
          <p:cNvGrpSpPr/>
          <p:nvPr/>
        </p:nvGrpSpPr>
        <p:grpSpPr>
          <a:xfrm>
            <a:off x="5917894" y="2956422"/>
            <a:ext cx="5875588" cy="945155"/>
            <a:chOff x="5470854" y="754688"/>
            <a:chExt cx="5875588" cy="945155"/>
          </a:xfrm>
        </p:grpSpPr>
        <p:sp>
          <p:nvSpPr>
            <p:cNvPr id="58" name="Rectangle 57">
              <a:extLst>
                <a:ext uri="{FF2B5EF4-FFF2-40B4-BE49-F238E27FC236}">
                  <a16:creationId xmlns:a16="http://schemas.microsoft.com/office/drawing/2014/main" id="{B3150A3B-9022-42A2-5B2E-1CE5227C0E90}"/>
                </a:ext>
              </a:extLst>
            </p:cNvPr>
            <p:cNvSpPr/>
            <p:nvPr/>
          </p:nvSpPr>
          <p:spPr>
            <a:xfrm>
              <a:off x="5470854" y="754688"/>
              <a:ext cx="533400" cy="5334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60" name="Rectangle 59">
              <a:extLst>
                <a:ext uri="{FF2B5EF4-FFF2-40B4-BE49-F238E27FC236}">
                  <a16:creationId xmlns:a16="http://schemas.microsoft.com/office/drawing/2014/main" id="{A0D457F5-B8FC-9B1B-CF59-267AA7C6CAD1}"/>
                </a:ext>
              </a:extLst>
            </p:cNvPr>
            <p:cNvSpPr/>
            <p:nvPr/>
          </p:nvSpPr>
          <p:spPr>
            <a:xfrm>
              <a:off x="6004254" y="754688"/>
              <a:ext cx="533400" cy="5334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63" name="Rectangle 62">
              <a:extLst>
                <a:ext uri="{FF2B5EF4-FFF2-40B4-BE49-F238E27FC236}">
                  <a16:creationId xmlns:a16="http://schemas.microsoft.com/office/drawing/2014/main" id="{F37F99C7-D197-80FC-CE2A-9749ACEA5F32}"/>
                </a:ext>
              </a:extLst>
            </p:cNvPr>
            <p:cNvSpPr/>
            <p:nvPr/>
          </p:nvSpPr>
          <p:spPr>
            <a:xfrm>
              <a:off x="6538223" y="754688"/>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64" name="Rectangle 63">
              <a:extLst>
                <a:ext uri="{FF2B5EF4-FFF2-40B4-BE49-F238E27FC236}">
                  <a16:creationId xmlns:a16="http://schemas.microsoft.com/office/drawing/2014/main" id="{AC3A7B59-3F4B-780B-A5B7-379EEE352714}"/>
                </a:ext>
              </a:extLst>
            </p:cNvPr>
            <p:cNvSpPr/>
            <p:nvPr/>
          </p:nvSpPr>
          <p:spPr>
            <a:xfrm>
              <a:off x="7071623" y="754688"/>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65" name="Rectangle 64">
              <a:extLst>
                <a:ext uri="{FF2B5EF4-FFF2-40B4-BE49-F238E27FC236}">
                  <a16:creationId xmlns:a16="http://schemas.microsoft.com/office/drawing/2014/main" id="{7A796C1D-1F8C-B898-946D-41A9E859458F}"/>
                </a:ext>
              </a:extLst>
            </p:cNvPr>
            <p:cNvSpPr/>
            <p:nvPr/>
          </p:nvSpPr>
          <p:spPr>
            <a:xfrm>
              <a:off x="7605023" y="754688"/>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66" name="Rectangle 65">
              <a:extLst>
                <a:ext uri="{FF2B5EF4-FFF2-40B4-BE49-F238E27FC236}">
                  <a16:creationId xmlns:a16="http://schemas.microsoft.com/office/drawing/2014/main" id="{B07FAD7A-E9FD-3C85-76FF-28922CDBEFDF}"/>
                </a:ext>
              </a:extLst>
            </p:cNvPr>
            <p:cNvSpPr/>
            <p:nvPr/>
          </p:nvSpPr>
          <p:spPr>
            <a:xfrm>
              <a:off x="8138992" y="754688"/>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67" name="Rectangle 66">
              <a:extLst>
                <a:ext uri="{FF2B5EF4-FFF2-40B4-BE49-F238E27FC236}">
                  <a16:creationId xmlns:a16="http://schemas.microsoft.com/office/drawing/2014/main" id="{1D71125A-94A9-4B26-2D5A-F26E11E1BB96}"/>
                </a:ext>
              </a:extLst>
            </p:cNvPr>
            <p:cNvSpPr/>
            <p:nvPr/>
          </p:nvSpPr>
          <p:spPr>
            <a:xfrm>
              <a:off x="8672392" y="754688"/>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68" name="Rectangle 67">
              <a:extLst>
                <a:ext uri="{FF2B5EF4-FFF2-40B4-BE49-F238E27FC236}">
                  <a16:creationId xmlns:a16="http://schemas.microsoft.com/office/drawing/2014/main" id="{5DBF9675-314C-9C27-6D45-9FC984ECA75E}"/>
                </a:ext>
              </a:extLst>
            </p:cNvPr>
            <p:cNvSpPr/>
            <p:nvPr/>
          </p:nvSpPr>
          <p:spPr>
            <a:xfrm>
              <a:off x="9205792" y="754688"/>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10</a:t>
              </a:r>
            </a:p>
          </p:txBody>
        </p:sp>
        <p:sp>
          <p:nvSpPr>
            <p:cNvPr id="69" name="Rectangle 68">
              <a:extLst>
                <a:ext uri="{FF2B5EF4-FFF2-40B4-BE49-F238E27FC236}">
                  <a16:creationId xmlns:a16="http://schemas.microsoft.com/office/drawing/2014/main" id="{30828B16-7A28-F6FE-9E8E-EE9E59949BA2}"/>
                </a:ext>
              </a:extLst>
            </p:cNvPr>
            <p:cNvSpPr/>
            <p:nvPr/>
          </p:nvSpPr>
          <p:spPr>
            <a:xfrm>
              <a:off x="9739761" y="754688"/>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14</a:t>
              </a:r>
            </a:p>
          </p:txBody>
        </p:sp>
        <p:sp>
          <p:nvSpPr>
            <p:cNvPr id="70" name="Rectangle 69">
              <a:extLst>
                <a:ext uri="{FF2B5EF4-FFF2-40B4-BE49-F238E27FC236}">
                  <a16:creationId xmlns:a16="http://schemas.microsoft.com/office/drawing/2014/main" id="{21FFB6FE-84B1-863E-0CF8-7F493D5370BE}"/>
                </a:ext>
              </a:extLst>
            </p:cNvPr>
            <p:cNvSpPr/>
            <p:nvPr/>
          </p:nvSpPr>
          <p:spPr>
            <a:xfrm>
              <a:off x="10273161" y="754688"/>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71" name="TextBox 70">
              <a:extLst>
                <a:ext uri="{FF2B5EF4-FFF2-40B4-BE49-F238E27FC236}">
                  <a16:creationId xmlns:a16="http://schemas.microsoft.com/office/drawing/2014/main" id="{8FD3811F-4ED0-ABC2-4194-6A5AA32130C6}"/>
                </a:ext>
              </a:extLst>
            </p:cNvPr>
            <p:cNvSpPr txBox="1"/>
            <p:nvPr/>
          </p:nvSpPr>
          <p:spPr>
            <a:xfrm>
              <a:off x="5586710" y="1328081"/>
              <a:ext cx="301686" cy="369332"/>
            </a:xfrm>
            <a:prstGeom prst="rect">
              <a:avLst/>
            </a:prstGeom>
            <a:noFill/>
          </p:spPr>
          <p:txBody>
            <a:bodyPr wrap="none" rtlCol="0">
              <a:spAutoFit/>
            </a:bodyPr>
            <a:lstStyle/>
            <a:p>
              <a:r>
                <a:rPr lang="en-US" dirty="0">
                  <a:solidFill>
                    <a:srgbClr val="FF33CC"/>
                  </a:solidFill>
                </a:rPr>
                <a:t>0</a:t>
              </a:r>
            </a:p>
          </p:txBody>
        </p:sp>
        <p:sp>
          <p:nvSpPr>
            <p:cNvPr id="72" name="TextBox 71">
              <a:extLst>
                <a:ext uri="{FF2B5EF4-FFF2-40B4-BE49-F238E27FC236}">
                  <a16:creationId xmlns:a16="http://schemas.microsoft.com/office/drawing/2014/main" id="{927C8162-90B3-6C28-B2BD-05383D4765B4}"/>
                </a:ext>
              </a:extLst>
            </p:cNvPr>
            <p:cNvSpPr txBox="1"/>
            <p:nvPr/>
          </p:nvSpPr>
          <p:spPr>
            <a:xfrm>
              <a:off x="6120110" y="1328081"/>
              <a:ext cx="301686" cy="369332"/>
            </a:xfrm>
            <a:prstGeom prst="rect">
              <a:avLst/>
            </a:prstGeom>
            <a:noFill/>
          </p:spPr>
          <p:txBody>
            <a:bodyPr wrap="none" rtlCol="0">
              <a:spAutoFit/>
            </a:bodyPr>
            <a:lstStyle/>
            <a:p>
              <a:r>
                <a:rPr lang="en-US" dirty="0">
                  <a:solidFill>
                    <a:srgbClr val="FF33CC"/>
                  </a:solidFill>
                </a:rPr>
                <a:t>1</a:t>
              </a:r>
            </a:p>
          </p:txBody>
        </p:sp>
        <p:sp>
          <p:nvSpPr>
            <p:cNvPr id="73" name="TextBox 72">
              <a:extLst>
                <a:ext uri="{FF2B5EF4-FFF2-40B4-BE49-F238E27FC236}">
                  <a16:creationId xmlns:a16="http://schemas.microsoft.com/office/drawing/2014/main" id="{5B4DA89A-7C4F-781A-AE68-A2BB348EACF1}"/>
                </a:ext>
              </a:extLst>
            </p:cNvPr>
            <p:cNvSpPr txBox="1"/>
            <p:nvPr/>
          </p:nvSpPr>
          <p:spPr>
            <a:xfrm>
              <a:off x="6654079" y="1328081"/>
              <a:ext cx="301686" cy="369332"/>
            </a:xfrm>
            <a:prstGeom prst="rect">
              <a:avLst/>
            </a:prstGeom>
            <a:noFill/>
          </p:spPr>
          <p:txBody>
            <a:bodyPr wrap="none" rtlCol="0">
              <a:spAutoFit/>
            </a:bodyPr>
            <a:lstStyle/>
            <a:p>
              <a:r>
                <a:rPr lang="en-US" dirty="0">
                  <a:solidFill>
                    <a:srgbClr val="FF33CC"/>
                  </a:solidFill>
                </a:rPr>
                <a:t>2</a:t>
              </a:r>
            </a:p>
          </p:txBody>
        </p:sp>
        <p:sp>
          <p:nvSpPr>
            <p:cNvPr id="74" name="TextBox 73">
              <a:extLst>
                <a:ext uri="{FF2B5EF4-FFF2-40B4-BE49-F238E27FC236}">
                  <a16:creationId xmlns:a16="http://schemas.microsoft.com/office/drawing/2014/main" id="{D0347F87-1FB4-4E6C-6F02-2BB9DCF28E8F}"/>
                </a:ext>
              </a:extLst>
            </p:cNvPr>
            <p:cNvSpPr txBox="1"/>
            <p:nvPr/>
          </p:nvSpPr>
          <p:spPr>
            <a:xfrm>
              <a:off x="7187479" y="1328081"/>
              <a:ext cx="301686" cy="369332"/>
            </a:xfrm>
            <a:prstGeom prst="rect">
              <a:avLst/>
            </a:prstGeom>
            <a:noFill/>
          </p:spPr>
          <p:txBody>
            <a:bodyPr wrap="none" rtlCol="0">
              <a:spAutoFit/>
            </a:bodyPr>
            <a:lstStyle/>
            <a:p>
              <a:r>
                <a:rPr lang="en-US" dirty="0">
                  <a:solidFill>
                    <a:srgbClr val="FF33CC"/>
                  </a:solidFill>
                </a:rPr>
                <a:t>3</a:t>
              </a:r>
            </a:p>
          </p:txBody>
        </p:sp>
        <p:sp>
          <p:nvSpPr>
            <p:cNvPr id="75" name="TextBox 74">
              <a:extLst>
                <a:ext uri="{FF2B5EF4-FFF2-40B4-BE49-F238E27FC236}">
                  <a16:creationId xmlns:a16="http://schemas.microsoft.com/office/drawing/2014/main" id="{4F8A5E1B-480C-911A-4330-65F59C820E6D}"/>
                </a:ext>
              </a:extLst>
            </p:cNvPr>
            <p:cNvSpPr txBox="1"/>
            <p:nvPr/>
          </p:nvSpPr>
          <p:spPr>
            <a:xfrm>
              <a:off x="7718467" y="1328081"/>
              <a:ext cx="301686" cy="369332"/>
            </a:xfrm>
            <a:prstGeom prst="rect">
              <a:avLst/>
            </a:prstGeom>
            <a:noFill/>
          </p:spPr>
          <p:txBody>
            <a:bodyPr wrap="none" rtlCol="0">
              <a:spAutoFit/>
            </a:bodyPr>
            <a:lstStyle/>
            <a:p>
              <a:r>
                <a:rPr lang="en-US" dirty="0">
                  <a:solidFill>
                    <a:srgbClr val="FF33CC"/>
                  </a:solidFill>
                </a:rPr>
                <a:t>4</a:t>
              </a:r>
            </a:p>
          </p:txBody>
        </p:sp>
        <p:sp>
          <p:nvSpPr>
            <p:cNvPr id="76" name="TextBox 75">
              <a:extLst>
                <a:ext uri="{FF2B5EF4-FFF2-40B4-BE49-F238E27FC236}">
                  <a16:creationId xmlns:a16="http://schemas.microsoft.com/office/drawing/2014/main" id="{EB447A05-9A11-01B3-34A0-EE5CDA0375BD}"/>
                </a:ext>
              </a:extLst>
            </p:cNvPr>
            <p:cNvSpPr txBox="1"/>
            <p:nvPr/>
          </p:nvSpPr>
          <p:spPr>
            <a:xfrm>
              <a:off x="8196497" y="1328081"/>
              <a:ext cx="301686" cy="369332"/>
            </a:xfrm>
            <a:prstGeom prst="rect">
              <a:avLst/>
            </a:prstGeom>
            <a:noFill/>
          </p:spPr>
          <p:txBody>
            <a:bodyPr wrap="none" rtlCol="0">
              <a:spAutoFit/>
            </a:bodyPr>
            <a:lstStyle/>
            <a:p>
              <a:r>
                <a:rPr lang="en-US" dirty="0">
                  <a:solidFill>
                    <a:srgbClr val="FF33CC"/>
                  </a:solidFill>
                </a:rPr>
                <a:t>5</a:t>
              </a:r>
            </a:p>
          </p:txBody>
        </p:sp>
        <p:sp>
          <p:nvSpPr>
            <p:cNvPr id="77" name="TextBox 76">
              <a:extLst>
                <a:ext uri="{FF2B5EF4-FFF2-40B4-BE49-F238E27FC236}">
                  <a16:creationId xmlns:a16="http://schemas.microsoft.com/office/drawing/2014/main" id="{026542B8-2871-AF35-B676-609089C5179C}"/>
                </a:ext>
              </a:extLst>
            </p:cNvPr>
            <p:cNvSpPr txBox="1"/>
            <p:nvPr/>
          </p:nvSpPr>
          <p:spPr>
            <a:xfrm>
              <a:off x="8788248" y="1328081"/>
              <a:ext cx="301686" cy="369332"/>
            </a:xfrm>
            <a:prstGeom prst="rect">
              <a:avLst/>
            </a:prstGeom>
            <a:noFill/>
          </p:spPr>
          <p:txBody>
            <a:bodyPr wrap="none" rtlCol="0">
              <a:spAutoFit/>
            </a:bodyPr>
            <a:lstStyle/>
            <a:p>
              <a:r>
                <a:rPr lang="en-US" dirty="0">
                  <a:solidFill>
                    <a:srgbClr val="FF33CC"/>
                  </a:solidFill>
                </a:rPr>
                <a:t>6</a:t>
              </a:r>
            </a:p>
          </p:txBody>
        </p:sp>
        <p:sp>
          <p:nvSpPr>
            <p:cNvPr id="78" name="TextBox 77">
              <a:extLst>
                <a:ext uri="{FF2B5EF4-FFF2-40B4-BE49-F238E27FC236}">
                  <a16:creationId xmlns:a16="http://schemas.microsoft.com/office/drawing/2014/main" id="{C0A290D2-48CB-E842-F9D8-A827F3B94AE9}"/>
                </a:ext>
              </a:extLst>
            </p:cNvPr>
            <p:cNvSpPr txBox="1"/>
            <p:nvPr/>
          </p:nvSpPr>
          <p:spPr>
            <a:xfrm>
              <a:off x="9321648" y="1328081"/>
              <a:ext cx="301686" cy="369332"/>
            </a:xfrm>
            <a:prstGeom prst="rect">
              <a:avLst/>
            </a:prstGeom>
            <a:noFill/>
          </p:spPr>
          <p:txBody>
            <a:bodyPr wrap="none" rtlCol="0">
              <a:spAutoFit/>
            </a:bodyPr>
            <a:lstStyle/>
            <a:p>
              <a:r>
                <a:rPr lang="en-US" dirty="0">
                  <a:solidFill>
                    <a:srgbClr val="FF33CC"/>
                  </a:solidFill>
                </a:rPr>
                <a:t>7</a:t>
              </a:r>
            </a:p>
          </p:txBody>
        </p:sp>
        <p:sp>
          <p:nvSpPr>
            <p:cNvPr id="79" name="TextBox 78">
              <a:extLst>
                <a:ext uri="{FF2B5EF4-FFF2-40B4-BE49-F238E27FC236}">
                  <a16:creationId xmlns:a16="http://schemas.microsoft.com/office/drawing/2014/main" id="{771DE41D-7C99-168E-4134-F479AEF76DB0}"/>
                </a:ext>
              </a:extLst>
            </p:cNvPr>
            <p:cNvSpPr txBox="1"/>
            <p:nvPr/>
          </p:nvSpPr>
          <p:spPr>
            <a:xfrm>
              <a:off x="9855617" y="1328081"/>
              <a:ext cx="301686" cy="369332"/>
            </a:xfrm>
            <a:prstGeom prst="rect">
              <a:avLst/>
            </a:prstGeom>
            <a:noFill/>
          </p:spPr>
          <p:txBody>
            <a:bodyPr wrap="none" rtlCol="0">
              <a:spAutoFit/>
            </a:bodyPr>
            <a:lstStyle/>
            <a:p>
              <a:r>
                <a:rPr lang="en-US" dirty="0">
                  <a:solidFill>
                    <a:srgbClr val="FF33CC"/>
                  </a:solidFill>
                </a:rPr>
                <a:t>8</a:t>
              </a:r>
            </a:p>
          </p:txBody>
        </p:sp>
        <p:sp>
          <p:nvSpPr>
            <p:cNvPr id="80" name="TextBox 79">
              <a:extLst>
                <a:ext uri="{FF2B5EF4-FFF2-40B4-BE49-F238E27FC236}">
                  <a16:creationId xmlns:a16="http://schemas.microsoft.com/office/drawing/2014/main" id="{082306F1-A92C-7C94-B354-96ABE646216D}"/>
                </a:ext>
              </a:extLst>
            </p:cNvPr>
            <p:cNvSpPr txBox="1"/>
            <p:nvPr/>
          </p:nvSpPr>
          <p:spPr>
            <a:xfrm>
              <a:off x="10389017" y="1328081"/>
              <a:ext cx="301686" cy="369332"/>
            </a:xfrm>
            <a:prstGeom prst="rect">
              <a:avLst/>
            </a:prstGeom>
            <a:noFill/>
          </p:spPr>
          <p:txBody>
            <a:bodyPr wrap="none" rtlCol="0">
              <a:spAutoFit/>
            </a:bodyPr>
            <a:lstStyle/>
            <a:p>
              <a:r>
                <a:rPr lang="en-US" dirty="0">
                  <a:solidFill>
                    <a:srgbClr val="FF33CC"/>
                  </a:solidFill>
                </a:rPr>
                <a:t>9</a:t>
              </a:r>
            </a:p>
          </p:txBody>
        </p:sp>
        <p:sp>
          <p:nvSpPr>
            <p:cNvPr id="81" name="Rectangle 80">
              <a:extLst>
                <a:ext uri="{FF2B5EF4-FFF2-40B4-BE49-F238E27FC236}">
                  <a16:creationId xmlns:a16="http://schemas.microsoft.com/office/drawing/2014/main" id="{28409E0E-C3DC-0906-7FD0-82479DCE3EC5}"/>
                </a:ext>
              </a:extLst>
            </p:cNvPr>
            <p:cNvSpPr/>
            <p:nvPr/>
          </p:nvSpPr>
          <p:spPr>
            <a:xfrm>
              <a:off x="10813042" y="754688"/>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15</a:t>
              </a:r>
            </a:p>
          </p:txBody>
        </p:sp>
        <p:sp>
          <p:nvSpPr>
            <p:cNvPr id="82" name="TextBox 81">
              <a:extLst>
                <a:ext uri="{FF2B5EF4-FFF2-40B4-BE49-F238E27FC236}">
                  <a16:creationId xmlns:a16="http://schemas.microsoft.com/office/drawing/2014/main" id="{71FE915F-7366-1A19-8F64-4F375491EE2B}"/>
                </a:ext>
              </a:extLst>
            </p:cNvPr>
            <p:cNvSpPr txBox="1"/>
            <p:nvPr/>
          </p:nvSpPr>
          <p:spPr>
            <a:xfrm>
              <a:off x="10870777" y="1330511"/>
              <a:ext cx="418704" cy="369332"/>
            </a:xfrm>
            <a:prstGeom prst="rect">
              <a:avLst/>
            </a:prstGeom>
            <a:noFill/>
          </p:spPr>
          <p:txBody>
            <a:bodyPr wrap="none" rtlCol="0">
              <a:spAutoFit/>
            </a:bodyPr>
            <a:lstStyle/>
            <a:p>
              <a:r>
                <a:rPr lang="en-US" dirty="0">
                  <a:solidFill>
                    <a:srgbClr val="FF33CC"/>
                  </a:solidFill>
                </a:rPr>
                <a:t>10</a:t>
              </a:r>
            </a:p>
          </p:txBody>
        </p:sp>
      </p:grpSp>
      <p:sp>
        <p:nvSpPr>
          <p:cNvPr id="56" name="TextBox 55">
            <a:extLst>
              <a:ext uri="{FF2B5EF4-FFF2-40B4-BE49-F238E27FC236}">
                <a16:creationId xmlns:a16="http://schemas.microsoft.com/office/drawing/2014/main" id="{ED4902B8-F5AB-50D9-18C4-FF07B8E03412}"/>
              </a:ext>
            </a:extLst>
          </p:cNvPr>
          <p:cNvSpPr txBox="1"/>
          <p:nvPr/>
        </p:nvSpPr>
        <p:spPr>
          <a:xfrm>
            <a:off x="8434060" y="4571102"/>
            <a:ext cx="3263779" cy="1938992"/>
          </a:xfrm>
          <a:prstGeom prst="rect">
            <a:avLst/>
          </a:prstGeom>
          <a:noFill/>
        </p:spPr>
        <p:txBody>
          <a:bodyPr wrap="none" rtlCol="0">
            <a:spAutoFit/>
          </a:bodyPr>
          <a:lstStyle/>
          <a:p>
            <a:r>
              <a:rPr lang="en-US" sz="2400" dirty="0" err="1"/>
              <a:t>buildHeap</a:t>
            </a:r>
            <a:r>
              <a:rPr lang="en-US" sz="2400" dirty="0"/>
              <a:t>(){</a:t>
            </a:r>
          </a:p>
          <a:p>
            <a:r>
              <a:rPr lang="en-US" sz="2400" dirty="0"/>
              <a:t>    for(int </a:t>
            </a:r>
            <a:r>
              <a:rPr lang="en-US" sz="2400" dirty="0" err="1"/>
              <a:t>i</a:t>
            </a:r>
            <a:r>
              <a:rPr lang="en-US" sz="2400" dirty="0"/>
              <a:t> = size; </a:t>
            </a:r>
            <a:r>
              <a:rPr lang="en-US" sz="2400" dirty="0" err="1"/>
              <a:t>i</a:t>
            </a:r>
            <a:r>
              <a:rPr lang="en-US" sz="2400" dirty="0"/>
              <a:t>&gt;0; </a:t>
            </a:r>
            <a:r>
              <a:rPr lang="en-US" sz="2400" dirty="0" err="1"/>
              <a:t>i</a:t>
            </a:r>
            <a:r>
              <a:rPr lang="en-US" sz="2400" dirty="0"/>
              <a:t>--){</a:t>
            </a:r>
          </a:p>
          <a:p>
            <a:r>
              <a:rPr lang="en-US" sz="2400" dirty="0"/>
              <a:t>        </a:t>
            </a:r>
            <a:r>
              <a:rPr lang="en-US" sz="2400" dirty="0" err="1"/>
              <a:t>percolateDown</a:t>
            </a:r>
            <a:r>
              <a:rPr lang="en-US" sz="2400" dirty="0"/>
              <a:t>(</a:t>
            </a:r>
            <a:r>
              <a:rPr lang="en-US" sz="2400" dirty="0" err="1"/>
              <a:t>i</a:t>
            </a:r>
            <a:r>
              <a:rPr lang="en-US" sz="2400" dirty="0"/>
              <a:t>);</a:t>
            </a:r>
          </a:p>
          <a:p>
            <a:r>
              <a:rPr lang="en-US" sz="2400" dirty="0"/>
              <a:t>    }</a:t>
            </a:r>
          </a:p>
          <a:p>
            <a:r>
              <a:rPr lang="en-US" sz="2400" dirty="0"/>
              <a:t>}</a:t>
            </a:r>
          </a:p>
        </p:txBody>
      </p:sp>
    </p:spTree>
    <p:extLst>
      <p:ext uri="{BB962C8B-B14F-4D97-AF65-F5344CB8AC3E}">
        <p14:creationId xmlns:p14="http://schemas.microsoft.com/office/powerpoint/2010/main" val="149615315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0F2A4A-E8D3-7F93-AD14-D6B2FD99DD01}"/>
              </a:ext>
            </a:extLst>
          </p:cNvPr>
          <p:cNvSpPr>
            <a:spLocks noGrp="1"/>
          </p:cNvSpPr>
          <p:nvPr>
            <p:ph type="title"/>
          </p:nvPr>
        </p:nvSpPr>
        <p:spPr/>
        <p:txBody>
          <a:bodyPr/>
          <a:lstStyle/>
          <a:p>
            <a:r>
              <a:rPr lang="en-US" dirty="0"/>
              <a:t>Floyd’s </a:t>
            </a:r>
            <a:r>
              <a:rPr lang="en-US" dirty="0" err="1"/>
              <a:t>buildHeap</a:t>
            </a:r>
            <a:r>
              <a:rPr lang="en-US" dirty="0"/>
              <a:t> method (Done)</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81AF3C39-C718-C590-CB20-0AC3D97ADFB4}"/>
                  </a:ext>
                </a:extLst>
              </p:cNvPr>
              <p:cNvSpPr>
                <a:spLocks noGrp="1"/>
              </p:cNvSpPr>
              <p:nvPr>
                <p:ph idx="1"/>
              </p:nvPr>
            </p:nvSpPr>
            <p:spPr/>
            <p:txBody>
              <a:bodyPr/>
              <a:lstStyle/>
              <a:p>
                <a:r>
                  <a:rPr lang="en-US" dirty="0"/>
                  <a:t>Suppose we had </a:t>
                </a:r>
                <a14:m>
                  <m:oMath xmlns:m="http://schemas.openxmlformats.org/officeDocument/2006/math">
                    <m:r>
                      <a:rPr lang="en-US" b="0" i="1" smtClean="0">
                        <a:latin typeface="Cambria Math" panose="02040503050406030204" pitchFamily="18" charset="0"/>
                      </a:rPr>
                      <m:t>𝑛</m:t>
                    </m:r>
                  </m:oMath>
                </a14:m>
                <a:r>
                  <a:rPr lang="en-US" dirty="0"/>
                  <a:t> items and wanted to “</a:t>
                </a:r>
                <a:r>
                  <a:rPr lang="en-US" dirty="0" err="1"/>
                  <a:t>heapify</a:t>
                </a:r>
                <a:r>
                  <a:rPr lang="en-US" dirty="0"/>
                  <a:t>” them</a:t>
                </a:r>
              </a:p>
            </p:txBody>
          </p:sp>
        </mc:Choice>
        <mc:Fallback xmlns="">
          <p:sp>
            <p:nvSpPr>
              <p:cNvPr id="3" name="Content Placeholder 2">
                <a:extLst>
                  <a:ext uri="{FF2B5EF4-FFF2-40B4-BE49-F238E27FC236}">
                    <a16:creationId xmlns:a16="http://schemas.microsoft.com/office/drawing/2014/main" id="{81AF3C39-C718-C590-CB20-0AC3D97ADFB4}"/>
                  </a:ext>
                </a:extLst>
              </p:cNvPr>
              <p:cNvSpPr>
                <a:spLocks noGrp="1" noRot="1" noChangeAspect="1" noMove="1" noResize="1" noEditPoints="1" noAdjustHandles="1" noChangeArrowheads="1" noChangeShapeType="1" noTextEdit="1"/>
              </p:cNvSpPr>
              <p:nvPr>
                <p:ph idx="1"/>
              </p:nvPr>
            </p:nvSpPr>
            <p:spPr>
              <a:blipFill>
                <a:blip r:embed="rId2"/>
                <a:stretch>
                  <a:fillRect l="-1043" t="-2241"/>
                </a:stretch>
              </a:blipFill>
            </p:spPr>
            <p:txBody>
              <a:bodyPr/>
              <a:lstStyle/>
              <a:p>
                <a:r>
                  <a:rPr lang="en-US">
                    <a:noFill/>
                  </a:rPr>
                  <a:t> </a:t>
                </a:r>
              </a:p>
            </p:txBody>
          </p:sp>
        </mc:Fallback>
      </mc:AlternateContent>
      <p:grpSp>
        <p:nvGrpSpPr>
          <p:cNvPr id="61" name="Group 60" descr="5 is larger than both of its child (1 and 7) and so we swap with the smallest child (1). Now 5 is larger than its left child (2) so it still violates the heap property, therefore we continue percolating. We swap 5 with 2, and so 2 does not violate the heap property. 5 still violates the heap property because it is larger than its right child (3), and so we swap again. Now 3 is smaller than both children and 5 is a leaf, so neither violate the heap property. 1 is now the root and is smaller than both of its children, so it does not violate the heap property either.  Because no nodes violate the heap property, we have a valid heap, so the procedure is done.">
            <a:extLst>
              <a:ext uri="{FF2B5EF4-FFF2-40B4-BE49-F238E27FC236}">
                <a16:creationId xmlns:a16="http://schemas.microsoft.com/office/drawing/2014/main" id="{863756C4-FFEE-45CE-C290-81DC657DB3F1}"/>
              </a:ext>
            </a:extLst>
          </p:cNvPr>
          <p:cNvGrpSpPr/>
          <p:nvPr/>
        </p:nvGrpSpPr>
        <p:grpSpPr>
          <a:xfrm>
            <a:off x="201742" y="2956422"/>
            <a:ext cx="6934200" cy="3661882"/>
            <a:chOff x="201742" y="2956422"/>
            <a:chExt cx="6934200" cy="3661882"/>
          </a:xfrm>
        </p:grpSpPr>
        <p:grpSp>
          <p:nvGrpSpPr>
            <p:cNvPr id="27" name="Group 26">
              <a:extLst>
                <a:ext uri="{FF2B5EF4-FFF2-40B4-BE49-F238E27FC236}">
                  <a16:creationId xmlns:a16="http://schemas.microsoft.com/office/drawing/2014/main" id="{B87E5112-EE0A-A568-FB0C-800B49EAA828}"/>
                </a:ext>
              </a:extLst>
            </p:cNvPr>
            <p:cNvGrpSpPr/>
            <p:nvPr/>
          </p:nvGrpSpPr>
          <p:grpSpPr>
            <a:xfrm>
              <a:off x="201742" y="2956422"/>
              <a:ext cx="6934200" cy="3661882"/>
              <a:chOff x="2590801" y="2672070"/>
              <a:chExt cx="6934200" cy="3661882"/>
            </a:xfrm>
          </p:grpSpPr>
          <p:sp>
            <p:nvSpPr>
              <p:cNvPr id="28" name="Oval 27">
                <a:extLst>
                  <a:ext uri="{FF2B5EF4-FFF2-40B4-BE49-F238E27FC236}">
                    <a16:creationId xmlns:a16="http://schemas.microsoft.com/office/drawing/2014/main" id="{3A30E535-E151-7B10-2482-D4C18A271CB8}"/>
                  </a:ext>
                </a:extLst>
              </p:cNvPr>
              <p:cNvSpPr/>
              <p:nvPr/>
            </p:nvSpPr>
            <p:spPr>
              <a:xfrm>
                <a:off x="5996855" y="2672070"/>
                <a:ext cx="688077" cy="688077"/>
              </a:xfrm>
              <a:prstGeom prst="ellipse">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1</a:t>
                </a:r>
              </a:p>
            </p:txBody>
          </p:sp>
          <p:sp>
            <p:nvSpPr>
              <p:cNvPr id="29" name="Oval 28">
                <a:extLst>
                  <a:ext uri="{FF2B5EF4-FFF2-40B4-BE49-F238E27FC236}">
                    <a16:creationId xmlns:a16="http://schemas.microsoft.com/office/drawing/2014/main" id="{316155D8-6880-CAC9-337D-0F3B5F0C2BBB}"/>
                  </a:ext>
                </a:extLst>
              </p:cNvPr>
              <p:cNvSpPr/>
              <p:nvPr/>
            </p:nvSpPr>
            <p:spPr>
              <a:xfrm>
                <a:off x="4191001" y="3682289"/>
                <a:ext cx="688077" cy="688077"/>
              </a:xfrm>
              <a:prstGeom prst="ellipse">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2</a:t>
                </a:r>
              </a:p>
            </p:txBody>
          </p:sp>
          <p:sp>
            <p:nvSpPr>
              <p:cNvPr id="30" name="Oval 29">
                <a:extLst>
                  <a:ext uri="{FF2B5EF4-FFF2-40B4-BE49-F238E27FC236}">
                    <a16:creationId xmlns:a16="http://schemas.microsoft.com/office/drawing/2014/main" id="{63701FD1-D85F-35B3-CE7C-6CFF8DCBAC09}"/>
                  </a:ext>
                </a:extLst>
              </p:cNvPr>
              <p:cNvSpPr/>
              <p:nvPr/>
            </p:nvSpPr>
            <p:spPr>
              <a:xfrm>
                <a:off x="7858499" y="3653913"/>
                <a:ext cx="688077" cy="688077"/>
              </a:xfrm>
              <a:prstGeom prst="ellipse">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7</a:t>
                </a:r>
              </a:p>
            </p:txBody>
          </p:sp>
          <p:sp>
            <p:nvSpPr>
              <p:cNvPr id="31" name="Oval 30">
                <a:extLst>
                  <a:ext uri="{FF2B5EF4-FFF2-40B4-BE49-F238E27FC236}">
                    <a16:creationId xmlns:a16="http://schemas.microsoft.com/office/drawing/2014/main" id="{03A6BB66-2DDC-8C2E-6AB0-DA31FC02453E}"/>
                  </a:ext>
                </a:extLst>
              </p:cNvPr>
              <p:cNvSpPr/>
              <p:nvPr/>
            </p:nvSpPr>
            <p:spPr>
              <a:xfrm>
                <a:off x="3200401" y="4383504"/>
                <a:ext cx="688077" cy="688077"/>
              </a:xfrm>
              <a:prstGeom prst="ellipse">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3</a:t>
                </a:r>
              </a:p>
            </p:txBody>
          </p:sp>
          <p:sp>
            <p:nvSpPr>
              <p:cNvPr id="32" name="Oval 31">
                <a:extLst>
                  <a:ext uri="{FF2B5EF4-FFF2-40B4-BE49-F238E27FC236}">
                    <a16:creationId xmlns:a16="http://schemas.microsoft.com/office/drawing/2014/main" id="{E219BA91-50E2-9B4F-817E-664706C652CC}"/>
                  </a:ext>
                </a:extLst>
              </p:cNvPr>
              <p:cNvSpPr/>
              <p:nvPr/>
            </p:nvSpPr>
            <p:spPr>
              <a:xfrm>
                <a:off x="5211206" y="4425368"/>
                <a:ext cx="688077" cy="688077"/>
              </a:xfrm>
              <a:prstGeom prst="ellipse">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6</a:t>
                </a:r>
              </a:p>
            </p:txBody>
          </p:sp>
          <p:sp>
            <p:nvSpPr>
              <p:cNvPr id="33" name="Oval 32">
                <a:extLst>
                  <a:ext uri="{FF2B5EF4-FFF2-40B4-BE49-F238E27FC236}">
                    <a16:creationId xmlns:a16="http://schemas.microsoft.com/office/drawing/2014/main" id="{C3B38612-C965-1385-57E2-DB495D63D40C}"/>
                  </a:ext>
                </a:extLst>
              </p:cNvPr>
              <p:cNvSpPr/>
              <p:nvPr/>
            </p:nvSpPr>
            <p:spPr>
              <a:xfrm>
                <a:off x="6934201" y="4341990"/>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34" name="Oval 33">
                <a:extLst>
                  <a:ext uri="{FF2B5EF4-FFF2-40B4-BE49-F238E27FC236}">
                    <a16:creationId xmlns:a16="http://schemas.microsoft.com/office/drawing/2014/main" id="{C32BE3EF-F957-D7BD-78A2-BE2188A515E4}"/>
                  </a:ext>
                </a:extLst>
              </p:cNvPr>
              <p:cNvSpPr/>
              <p:nvPr/>
            </p:nvSpPr>
            <p:spPr>
              <a:xfrm>
                <a:off x="8836924" y="4341990"/>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10</a:t>
                </a:r>
              </a:p>
            </p:txBody>
          </p:sp>
          <p:sp>
            <p:nvSpPr>
              <p:cNvPr id="35" name="Oval 34">
                <a:extLst>
                  <a:ext uri="{FF2B5EF4-FFF2-40B4-BE49-F238E27FC236}">
                    <a16:creationId xmlns:a16="http://schemas.microsoft.com/office/drawing/2014/main" id="{67A0923A-D958-A1BA-1015-3E54B06E39E1}"/>
                  </a:ext>
                </a:extLst>
              </p:cNvPr>
              <p:cNvSpPr/>
              <p:nvPr/>
            </p:nvSpPr>
            <p:spPr>
              <a:xfrm>
                <a:off x="2590801" y="5352744"/>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14</a:t>
                </a:r>
              </a:p>
            </p:txBody>
          </p:sp>
          <p:sp>
            <p:nvSpPr>
              <p:cNvPr id="36" name="Oval 35">
                <a:extLst>
                  <a:ext uri="{FF2B5EF4-FFF2-40B4-BE49-F238E27FC236}">
                    <a16:creationId xmlns:a16="http://schemas.microsoft.com/office/drawing/2014/main" id="{2B9709BB-64D4-3FBE-7884-D1B0484114A6}"/>
                  </a:ext>
                </a:extLst>
              </p:cNvPr>
              <p:cNvSpPr/>
              <p:nvPr/>
            </p:nvSpPr>
            <p:spPr>
              <a:xfrm>
                <a:off x="3733801" y="5352744"/>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cxnSp>
            <p:nvCxnSpPr>
              <p:cNvPr id="37" name="Straight Connector 36">
                <a:extLst>
                  <a:ext uri="{FF2B5EF4-FFF2-40B4-BE49-F238E27FC236}">
                    <a16:creationId xmlns:a16="http://schemas.microsoft.com/office/drawing/2014/main" id="{8A089308-EAB4-3DF6-2168-FA9078D82274}"/>
                  </a:ext>
                </a:extLst>
              </p:cNvPr>
              <p:cNvCxnSpPr>
                <a:cxnSpLocks/>
                <a:stCxn id="28" idx="3"/>
                <a:endCxn id="29" idx="7"/>
              </p:cNvCxnSpPr>
              <p:nvPr/>
            </p:nvCxnSpPr>
            <p:spPr>
              <a:xfrm flipH="1">
                <a:off x="4778311" y="3259380"/>
                <a:ext cx="1319311" cy="52367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483BDF66-84DB-ABCB-4020-11642646E088}"/>
                  </a:ext>
                </a:extLst>
              </p:cNvPr>
              <p:cNvCxnSpPr>
                <a:cxnSpLocks/>
                <a:stCxn id="28" idx="5"/>
                <a:endCxn id="30" idx="1"/>
              </p:cNvCxnSpPr>
              <p:nvPr/>
            </p:nvCxnSpPr>
            <p:spPr>
              <a:xfrm>
                <a:off x="6584165" y="3259380"/>
                <a:ext cx="1375101" cy="4953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C220F70A-FDDC-7762-B33A-06720ADD3AF7}"/>
                  </a:ext>
                </a:extLst>
              </p:cNvPr>
              <p:cNvCxnSpPr>
                <a:stCxn id="32" idx="1"/>
                <a:endCxn id="29" idx="5"/>
              </p:cNvCxnSpPr>
              <p:nvPr/>
            </p:nvCxnSpPr>
            <p:spPr>
              <a:xfrm flipH="1" flipV="1">
                <a:off x="4778310" y="4269598"/>
                <a:ext cx="533662" cy="25653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E56022E8-594C-5224-728B-F2FC6AA874BE}"/>
                  </a:ext>
                </a:extLst>
              </p:cNvPr>
              <p:cNvCxnSpPr>
                <a:stCxn id="31" idx="7"/>
                <a:endCxn id="29" idx="3"/>
              </p:cNvCxnSpPr>
              <p:nvPr/>
            </p:nvCxnSpPr>
            <p:spPr>
              <a:xfrm flipV="1">
                <a:off x="3787711" y="4269598"/>
                <a:ext cx="504057" cy="21467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F3D94FFD-BC02-5F5A-FF9E-9C49B907172F}"/>
                  </a:ext>
                </a:extLst>
              </p:cNvPr>
              <p:cNvCxnSpPr>
                <a:stCxn id="36" idx="0"/>
                <a:endCxn id="31" idx="5"/>
              </p:cNvCxnSpPr>
              <p:nvPr/>
            </p:nvCxnSpPr>
            <p:spPr>
              <a:xfrm flipH="1" flipV="1">
                <a:off x="3787711" y="4970813"/>
                <a:ext cx="290129" cy="38193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65735856-C128-C713-C639-DB1757598AE1}"/>
                  </a:ext>
                </a:extLst>
              </p:cNvPr>
              <p:cNvCxnSpPr>
                <a:stCxn id="35" idx="0"/>
                <a:endCxn id="31" idx="3"/>
              </p:cNvCxnSpPr>
              <p:nvPr/>
            </p:nvCxnSpPr>
            <p:spPr>
              <a:xfrm flipV="1">
                <a:off x="2934839" y="4970813"/>
                <a:ext cx="366328" cy="38193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A8E5DDDC-1F60-E1BD-ED97-8C6BDFE31483}"/>
                  </a:ext>
                </a:extLst>
              </p:cNvPr>
              <p:cNvCxnSpPr>
                <a:stCxn id="33" idx="7"/>
                <a:endCxn id="30" idx="3"/>
              </p:cNvCxnSpPr>
              <p:nvPr/>
            </p:nvCxnSpPr>
            <p:spPr>
              <a:xfrm flipV="1">
                <a:off x="7521511" y="4241222"/>
                <a:ext cx="437755" cy="20153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202118E8-FE37-1B94-60E7-FF8DC87A02DF}"/>
                  </a:ext>
                </a:extLst>
              </p:cNvPr>
              <p:cNvCxnSpPr>
                <a:stCxn id="34" idx="1"/>
                <a:endCxn id="30" idx="5"/>
              </p:cNvCxnSpPr>
              <p:nvPr/>
            </p:nvCxnSpPr>
            <p:spPr>
              <a:xfrm flipH="1" flipV="1">
                <a:off x="8445808" y="4241222"/>
                <a:ext cx="491882" cy="20153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45" name="TextBox 44">
                <a:extLst>
                  <a:ext uri="{FF2B5EF4-FFF2-40B4-BE49-F238E27FC236}">
                    <a16:creationId xmlns:a16="http://schemas.microsoft.com/office/drawing/2014/main" id="{A3F51C00-7BE4-C71B-CEC9-78F3E393B278}"/>
                  </a:ext>
                </a:extLst>
              </p:cNvPr>
              <p:cNvSpPr txBox="1"/>
              <p:nvPr/>
            </p:nvSpPr>
            <p:spPr>
              <a:xfrm>
                <a:off x="6190049" y="3371296"/>
                <a:ext cx="301686" cy="369332"/>
              </a:xfrm>
              <a:prstGeom prst="rect">
                <a:avLst/>
              </a:prstGeom>
              <a:noFill/>
            </p:spPr>
            <p:txBody>
              <a:bodyPr wrap="none" rtlCol="0">
                <a:spAutoFit/>
              </a:bodyPr>
              <a:lstStyle/>
              <a:p>
                <a:r>
                  <a:rPr lang="en-US" dirty="0">
                    <a:solidFill>
                      <a:srgbClr val="FF33CC"/>
                    </a:solidFill>
                  </a:rPr>
                  <a:t>1</a:t>
                </a:r>
              </a:p>
            </p:txBody>
          </p:sp>
          <p:sp>
            <p:nvSpPr>
              <p:cNvPr id="46" name="TextBox 45">
                <a:extLst>
                  <a:ext uri="{FF2B5EF4-FFF2-40B4-BE49-F238E27FC236}">
                    <a16:creationId xmlns:a16="http://schemas.microsoft.com/office/drawing/2014/main" id="{CE00191F-101E-453F-E05F-F79326EF7FFB}"/>
                  </a:ext>
                </a:extLst>
              </p:cNvPr>
              <p:cNvSpPr txBox="1"/>
              <p:nvPr/>
            </p:nvSpPr>
            <p:spPr>
              <a:xfrm>
                <a:off x="4384195" y="4377091"/>
                <a:ext cx="301686" cy="369332"/>
              </a:xfrm>
              <a:prstGeom prst="rect">
                <a:avLst/>
              </a:prstGeom>
              <a:noFill/>
            </p:spPr>
            <p:txBody>
              <a:bodyPr wrap="none" rtlCol="0">
                <a:spAutoFit/>
              </a:bodyPr>
              <a:lstStyle/>
              <a:p>
                <a:r>
                  <a:rPr lang="en-US" dirty="0">
                    <a:solidFill>
                      <a:srgbClr val="FF33CC"/>
                    </a:solidFill>
                  </a:rPr>
                  <a:t>2</a:t>
                </a:r>
              </a:p>
            </p:txBody>
          </p:sp>
          <p:sp>
            <p:nvSpPr>
              <p:cNvPr id="47" name="TextBox 46">
                <a:extLst>
                  <a:ext uri="{FF2B5EF4-FFF2-40B4-BE49-F238E27FC236}">
                    <a16:creationId xmlns:a16="http://schemas.microsoft.com/office/drawing/2014/main" id="{9B19AC53-E3AB-F92F-CA0A-7EC078433879}"/>
                  </a:ext>
                </a:extLst>
              </p:cNvPr>
              <p:cNvSpPr txBox="1"/>
              <p:nvPr/>
            </p:nvSpPr>
            <p:spPr>
              <a:xfrm>
                <a:off x="8051693" y="4316695"/>
                <a:ext cx="301686" cy="369332"/>
              </a:xfrm>
              <a:prstGeom prst="rect">
                <a:avLst/>
              </a:prstGeom>
              <a:noFill/>
            </p:spPr>
            <p:txBody>
              <a:bodyPr wrap="none" rtlCol="0">
                <a:spAutoFit/>
              </a:bodyPr>
              <a:lstStyle/>
              <a:p>
                <a:r>
                  <a:rPr lang="en-US" dirty="0">
                    <a:solidFill>
                      <a:srgbClr val="FF33CC"/>
                    </a:solidFill>
                  </a:rPr>
                  <a:t>3</a:t>
                </a:r>
              </a:p>
            </p:txBody>
          </p:sp>
          <p:sp>
            <p:nvSpPr>
              <p:cNvPr id="48" name="TextBox 47">
                <a:extLst>
                  <a:ext uri="{FF2B5EF4-FFF2-40B4-BE49-F238E27FC236}">
                    <a16:creationId xmlns:a16="http://schemas.microsoft.com/office/drawing/2014/main" id="{BA690ADD-9D72-5CFC-ABA4-CFD3482C08B4}"/>
                  </a:ext>
                </a:extLst>
              </p:cNvPr>
              <p:cNvSpPr txBox="1"/>
              <p:nvPr/>
            </p:nvSpPr>
            <p:spPr>
              <a:xfrm>
                <a:off x="3352081" y="5071580"/>
                <a:ext cx="301686" cy="369332"/>
              </a:xfrm>
              <a:prstGeom prst="rect">
                <a:avLst/>
              </a:prstGeom>
              <a:noFill/>
            </p:spPr>
            <p:txBody>
              <a:bodyPr wrap="none" rtlCol="0">
                <a:spAutoFit/>
              </a:bodyPr>
              <a:lstStyle/>
              <a:p>
                <a:r>
                  <a:rPr lang="en-US" dirty="0">
                    <a:solidFill>
                      <a:srgbClr val="FF33CC"/>
                    </a:solidFill>
                  </a:rPr>
                  <a:t>4</a:t>
                </a:r>
              </a:p>
            </p:txBody>
          </p:sp>
          <p:sp>
            <p:nvSpPr>
              <p:cNvPr id="49" name="TextBox 48">
                <a:extLst>
                  <a:ext uri="{FF2B5EF4-FFF2-40B4-BE49-F238E27FC236}">
                    <a16:creationId xmlns:a16="http://schemas.microsoft.com/office/drawing/2014/main" id="{525CA634-CACD-54BE-4661-54DEF3A780C5}"/>
                  </a:ext>
                </a:extLst>
              </p:cNvPr>
              <p:cNvSpPr txBox="1"/>
              <p:nvPr/>
            </p:nvSpPr>
            <p:spPr>
              <a:xfrm>
                <a:off x="7122005" y="5012677"/>
                <a:ext cx="301686" cy="369332"/>
              </a:xfrm>
              <a:prstGeom prst="rect">
                <a:avLst/>
              </a:prstGeom>
              <a:noFill/>
            </p:spPr>
            <p:txBody>
              <a:bodyPr wrap="none" rtlCol="0">
                <a:spAutoFit/>
              </a:bodyPr>
              <a:lstStyle/>
              <a:p>
                <a:r>
                  <a:rPr lang="en-US" dirty="0">
                    <a:solidFill>
                      <a:srgbClr val="FF33CC"/>
                    </a:solidFill>
                  </a:rPr>
                  <a:t>6</a:t>
                </a:r>
              </a:p>
            </p:txBody>
          </p:sp>
          <p:sp>
            <p:nvSpPr>
              <p:cNvPr id="50" name="TextBox 49">
                <a:extLst>
                  <a:ext uri="{FF2B5EF4-FFF2-40B4-BE49-F238E27FC236}">
                    <a16:creationId xmlns:a16="http://schemas.microsoft.com/office/drawing/2014/main" id="{ABF6D568-E05C-26F2-EBD8-57839FC7687F}"/>
                  </a:ext>
                </a:extLst>
              </p:cNvPr>
              <p:cNvSpPr txBox="1"/>
              <p:nvPr/>
            </p:nvSpPr>
            <p:spPr>
              <a:xfrm>
                <a:off x="5404400" y="5108902"/>
                <a:ext cx="301686" cy="369332"/>
              </a:xfrm>
              <a:prstGeom prst="rect">
                <a:avLst/>
              </a:prstGeom>
              <a:noFill/>
            </p:spPr>
            <p:txBody>
              <a:bodyPr wrap="none" rtlCol="0">
                <a:spAutoFit/>
              </a:bodyPr>
              <a:lstStyle/>
              <a:p>
                <a:r>
                  <a:rPr lang="en-US" dirty="0">
                    <a:solidFill>
                      <a:srgbClr val="FF33CC"/>
                    </a:solidFill>
                  </a:rPr>
                  <a:t>5</a:t>
                </a:r>
              </a:p>
            </p:txBody>
          </p:sp>
          <p:sp>
            <p:nvSpPr>
              <p:cNvPr id="51" name="TextBox 50">
                <a:extLst>
                  <a:ext uri="{FF2B5EF4-FFF2-40B4-BE49-F238E27FC236}">
                    <a16:creationId xmlns:a16="http://schemas.microsoft.com/office/drawing/2014/main" id="{3E1DFACA-646B-2F3B-1F0D-554B10C6DCB7}"/>
                  </a:ext>
                </a:extLst>
              </p:cNvPr>
              <p:cNvSpPr txBox="1"/>
              <p:nvPr/>
            </p:nvSpPr>
            <p:spPr>
              <a:xfrm>
                <a:off x="9030118" y="5030066"/>
                <a:ext cx="301686" cy="369332"/>
              </a:xfrm>
              <a:prstGeom prst="rect">
                <a:avLst/>
              </a:prstGeom>
              <a:noFill/>
            </p:spPr>
            <p:txBody>
              <a:bodyPr wrap="none" rtlCol="0">
                <a:spAutoFit/>
              </a:bodyPr>
              <a:lstStyle/>
              <a:p>
                <a:r>
                  <a:rPr lang="en-US" dirty="0">
                    <a:solidFill>
                      <a:srgbClr val="FF33CC"/>
                    </a:solidFill>
                  </a:rPr>
                  <a:t>7</a:t>
                </a:r>
              </a:p>
            </p:txBody>
          </p:sp>
          <p:sp>
            <p:nvSpPr>
              <p:cNvPr id="52" name="TextBox 51">
                <a:extLst>
                  <a:ext uri="{FF2B5EF4-FFF2-40B4-BE49-F238E27FC236}">
                    <a16:creationId xmlns:a16="http://schemas.microsoft.com/office/drawing/2014/main" id="{B96EE955-07B4-4EE0-219A-7BF193FD11F3}"/>
                  </a:ext>
                </a:extLst>
              </p:cNvPr>
              <p:cNvSpPr txBox="1"/>
              <p:nvPr/>
            </p:nvSpPr>
            <p:spPr>
              <a:xfrm>
                <a:off x="2783996" y="5964620"/>
                <a:ext cx="301686" cy="369332"/>
              </a:xfrm>
              <a:prstGeom prst="rect">
                <a:avLst/>
              </a:prstGeom>
              <a:noFill/>
            </p:spPr>
            <p:txBody>
              <a:bodyPr wrap="none" rtlCol="0">
                <a:spAutoFit/>
              </a:bodyPr>
              <a:lstStyle/>
              <a:p>
                <a:r>
                  <a:rPr lang="en-US" dirty="0">
                    <a:solidFill>
                      <a:srgbClr val="FF33CC"/>
                    </a:solidFill>
                  </a:rPr>
                  <a:t>8</a:t>
                </a:r>
              </a:p>
            </p:txBody>
          </p:sp>
          <p:sp>
            <p:nvSpPr>
              <p:cNvPr id="53" name="TextBox 52">
                <a:extLst>
                  <a:ext uri="{FF2B5EF4-FFF2-40B4-BE49-F238E27FC236}">
                    <a16:creationId xmlns:a16="http://schemas.microsoft.com/office/drawing/2014/main" id="{6AE0ABF5-B591-93A9-75F6-25B4A6AB23BE}"/>
                  </a:ext>
                </a:extLst>
              </p:cNvPr>
              <p:cNvSpPr txBox="1"/>
              <p:nvPr/>
            </p:nvSpPr>
            <p:spPr>
              <a:xfrm>
                <a:off x="3920467" y="5964620"/>
                <a:ext cx="301686" cy="369332"/>
              </a:xfrm>
              <a:prstGeom prst="rect">
                <a:avLst/>
              </a:prstGeom>
              <a:noFill/>
            </p:spPr>
            <p:txBody>
              <a:bodyPr wrap="none" rtlCol="0">
                <a:spAutoFit/>
              </a:bodyPr>
              <a:lstStyle/>
              <a:p>
                <a:r>
                  <a:rPr lang="en-US" dirty="0">
                    <a:solidFill>
                      <a:srgbClr val="FF33CC"/>
                    </a:solidFill>
                  </a:rPr>
                  <a:t>9</a:t>
                </a:r>
              </a:p>
            </p:txBody>
          </p:sp>
        </p:grpSp>
        <p:sp>
          <p:nvSpPr>
            <p:cNvPr id="54" name="Oval 53">
              <a:extLst>
                <a:ext uri="{FF2B5EF4-FFF2-40B4-BE49-F238E27FC236}">
                  <a16:creationId xmlns:a16="http://schemas.microsoft.com/office/drawing/2014/main" id="{76035EC9-3610-8FDE-B3D0-38593B0EF572}"/>
                </a:ext>
              </a:extLst>
            </p:cNvPr>
            <p:cNvSpPr/>
            <p:nvPr/>
          </p:nvSpPr>
          <p:spPr>
            <a:xfrm>
              <a:off x="2330369" y="5636036"/>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15</a:t>
              </a:r>
            </a:p>
          </p:txBody>
        </p:sp>
        <p:cxnSp>
          <p:nvCxnSpPr>
            <p:cNvPr id="55" name="Straight Connector 54">
              <a:extLst>
                <a:ext uri="{FF2B5EF4-FFF2-40B4-BE49-F238E27FC236}">
                  <a16:creationId xmlns:a16="http://schemas.microsoft.com/office/drawing/2014/main" id="{0001DADF-BD70-7B05-56C0-31B3799F72C0}"/>
                </a:ext>
              </a:extLst>
            </p:cNvPr>
            <p:cNvCxnSpPr>
              <a:cxnSpLocks/>
              <a:stCxn id="54" idx="0"/>
              <a:endCxn id="32" idx="3"/>
            </p:cNvCxnSpPr>
            <p:nvPr/>
          </p:nvCxnSpPr>
          <p:spPr>
            <a:xfrm flipV="1">
              <a:off x="2674408" y="5297030"/>
              <a:ext cx="248506" cy="33900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59" name="TextBox 58">
              <a:extLst>
                <a:ext uri="{FF2B5EF4-FFF2-40B4-BE49-F238E27FC236}">
                  <a16:creationId xmlns:a16="http://schemas.microsoft.com/office/drawing/2014/main" id="{04CC9DA3-E3B4-4532-1F70-7E2BF83F9167}"/>
                </a:ext>
              </a:extLst>
            </p:cNvPr>
            <p:cNvSpPr txBox="1"/>
            <p:nvPr/>
          </p:nvSpPr>
          <p:spPr>
            <a:xfrm>
              <a:off x="2446730" y="6243373"/>
              <a:ext cx="418704" cy="369332"/>
            </a:xfrm>
            <a:prstGeom prst="rect">
              <a:avLst/>
            </a:prstGeom>
            <a:noFill/>
          </p:spPr>
          <p:txBody>
            <a:bodyPr wrap="none" rtlCol="0">
              <a:spAutoFit/>
            </a:bodyPr>
            <a:lstStyle/>
            <a:p>
              <a:r>
                <a:rPr lang="en-US" dirty="0">
                  <a:solidFill>
                    <a:srgbClr val="FF33CC"/>
                  </a:solidFill>
                </a:rPr>
                <a:t>10</a:t>
              </a:r>
            </a:p>
          </p:txBody>
        </p:sp>
      </p:grpSp>
      <p:sp>
        <p:nvSpPr>
          <p:cNvPr id="62" name="TextBox 61">
            <a:extLst>
              <a:ext uri="{FF2B5EF4-FFF2-40B4-BE49-F238E27FC236}">
                <a16:creationId xmlns:a16="http://schemas.microsoft.com/office/drawing/2014/main" id="{B43941B0-86D8-D533-366D-B46802C30744}"/>
              </a:ext>
              <a:ext uri="{C183D7F6-B498-43B3-948B-1728B52AA6E4}">
                <adec:decorative xmlns:adec="http://schemas.microsoft.com/office/drawing/2017/decorative" val="1"/>
              </a:ext>
            </a:extLst>
          </p:cNvPr>
          <p:cNvSpPr txBox="1"/>
          <p:nvPr/>
        </p:nvSpPr>
        <p:spPr>
          <a:xfrm>
            <a:off x="737595" y="3266383"/>
            <a:ext cx="2376228" cy="369332"/>
          </a:xfrm>
          <a:prstGeom prst="rect">
            <a:avLst/>
          </a:prstGeom>
          <a:noFill/>
        </p:spPr>
        <p:txBody>
          <a:bodyPr wrap="none" rtlCol="0">
            <a:spAutoFit/>
          </a:bodyPr>
          <a:lstStyle/>
          <a:p>
            <a:r>
              <a:rPr lang="en-US" b="1" u="sng" dirty="0">
                <a:solidFill>
                  <a:srgbClr val="FF0000"/>
                </a:solidFill>
              </a:rPr>
              <a:t>Violate Heap Property!</a:t>
            </a:r>
          </a:p>
        </p:txBody>
      </p:sp>
      <p:grpSp>
        <p:nvGrpSpPr>
          <p:cNvPr id="57" name="Group 56" descr="The array representation of the heap.&#10;&#10;The items are, in order: 1, 2, 7, 3, 6, 8, 10, 14, 5, 15">
            <a:extLst>
              <a:ext uri="{FF2B5EF4-FFF2-40B4-BE49-F238E27FC236}">
                <a16:creationId xmlns:a16="http://schemas.microsoft.com/office/drawing/2014/main" id="{FE59EB5D-9E80-A8D8-2B9B-CA62E5A09D8C}"/>
              </a:ext>
            </a:extLst>
          </p:cNvPr>
          <p:cNvGrpSpPr/>
          <p:nvPr/>
        </p:nvGrpSpPr>
        <p:grpSpPr>
          <a:xfrm>
            <a:off x="5917894" y="2956422"/>
            <a:ext cx="5875588" cy="945155"/>
            <a:chOff x="5470854" y="754688"/>
            <a:chExt cx="5875588" cy="945155"/>
          </a:xfrm>
        </p:grpSpPr>
        <p:sp>
          <p:nvSpPr>
            <p:cNvPr id="58" name="Rectangle 57">
              <a:extLst>
                <a:ext uri="{FF2B5EF4-FFF2-40B4-BE49-F238E27FC236}">
                  <a16:creationId xmlns:a16="http://schemas.microsoft.com/office/drawing/2014/main" id="{CA4DDF67-AED8-513D-046C-4585812BD0B2}"/>
                </a:ext>
              </a:extLst>
            </p:cNvPr>
            <p:cNvSpPr/>
            <p:nvPr/>
          </p:nvSpPr>
          <p:spPr>
            <a:xfrm>
              <a:off x="5470854" y="754688"/>
              <a:ext cx="533400" cy="5334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60" name="Rectangle 59">
              <a:extLst>
                <a:ext uri="{FF2B5EF4-FFF2-40B4-BE49-F238E27FC236}">
                  <a16:creationId xmlns:a16="http://schemas.microsoft.com/office/drawing/2014/main" id="{3B753B21-108E-09BD-1B45-F8D3D4105FE8}"/>
                </a:ext>
              </a:extLst>
            </p:cNvPr>
            <p:cNvSpPr/>
            <p:nvPr/>
          </p:nvSpPr>
          <p:spPr>
            <a:xfrm>
              <a:off x="6004254" y="754688"/>
              <a:ext cx="533400" cy="5334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63" name="Rectangle 62">
              <a:extLst>
                <a:ext uri="{FF2B5EF4-FFF2-40B4-BE49-F238E27FC236}">
                  <a16:creationId xmlns:a16="http://schemas.microsoft.com/office/drawing/2014/main" id="{4E531248-F7BE-20C3-200A-F127BCA3C42F}"/>
                </a:ext>
              </a:extLst>
            </p:cNvPr>
            <p:cNvSpPr/>
            <p:nvPr/>
          </p:nvSpPr>
          <p:spPr>
            <a:xfrm>
              <a:off x="6538223" y="754688"/>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64" name="Rectangle 63">
              <a:extLst>
                <a:ext uri="{FF2B5EF4-FFF2-40B4-BE49-F238E27FC236}">
                  <a16:creationId xmlns:a16="http://schemas.microsoft.com/office/drawing/2014/main" id="{DEC847A7-FCAF-9D7D-E9C8-9E37BF63664A}"/>
                </a:ext>
              </a:extLst>
            </p:cNvPr>
            <p:cNvSpPr/>
            <p:nvPr/>
          </p:nvSpPr>
          <p:spPr>
            <a:xfrm>
              <a:off x="7071623" y="754688"/>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65" name="Rectangle 64">
              <a:extLst>
                <a:ext uri="{FF2B5EF4-FFF2-40B4-BE49-F238E27FC236}">
                  <a16:creationId xmlns:a16="http://schemas.microsoft.com/office/drawing/2014/main" id="{931E3229-1790-27C1-6AD7-024D4A248DB6}"/>
                </a:ext>
              </a:extLst>
            </p:cNvPr>
            <p:cNvSpPr/>
            <p:nvPr/>
          </p:nvSpPr>
          <p:spPr>
            <a:xfrm>
              <a:off x="7605023" y="754688"/>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66" name="Rectangle 65">
              <a:extLst>
                <a:ext uri="{FF2B5EF4-FFF2-40B4-BE49-F238E27FC236}">
                  <a16:creationId xmlns:a16="http://schemas.microsoft.com/office/drawing/2014/main" id="{8F556F96-6DB4-B588-259C-DB09D6FAD427}"/>
                </a:ext>
              </a:extLst>
            </p:cNvPr>
            <p:cNvSpPr/>
            <p:nvPr/>
          </p:nvSpPr>
          <p:spPr>
            <a:xfrm>
              <a:off x="8138992" y="754688"/>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67" name="Rectangle 66">
              <a:extLst>
                <a:ext uri="{FF2B5EF4-FFF2-40B4-BE49-F238E27FC236}">
                  <a16:creationId xmlns:a16="http://schemas.microsoft.com/office/drawing/2014/main" id="{038F08CD-D7CF-BAAF-B8B7-71620769B2CD}"/>
                </a:ext>
              </a:extLst>
            </p:cNvPr>
            <p:cNvSpPr/>
            <p:nvPr/>
          </p:nvSpPr>
          <p:spPr>
            <a:xfrm>
              <a:off x="8672392" y="754688"/>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68" name="Rectangle 67">
              <a:extLst>
                <a:ext uri="{FF2B5EF4-FFF2-40B4-BE49-F238E27FC236}">
                  <a16:creationId xmlns:a16="http://schemas.microsoft.com/office/drawing/2014/main" id="{10472D42-ADFF-01A4-D930-59B138CBF86A}"/>
                </a:ext>
              </a:extLst>
            </p:cNvPr>
            <p:cNvSpPr/>
            <p:nvPr/>
          </p:nvSpPr>
          <p:spPr>
            <a:xfrm>
              <a:off x="9205792" y="754688"/>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10</a:t>
              </a:r>
            </a:p>
          </p:txBody>
        </p:sp>
        <p:sp>
          <p:nvSpPr>
            <p:cNvPr id="69" name="Rectangle 68">
              <a:extLst>
                <a:ext uri="{FF2B5EF4-FFF2-40B4-BE49-F238E27FC236}">
                  <a16:creationId xmlns:a16="http://schemas.microsoft.com/office/drawing/2014/main" id="{A9E88FF7-0C2E-BEF1-B1EA-D0DA2F2FCDAA}"/>
                </a:ext>
              </a:extLst>
            </p:cNvPr>
            <p:cNvSpPr/>
            <p:nvPr/>
          </p:nvSpPr>
          <p:spPr>
            <a:xfrm>
              <a:off x="9739761" y="754688"/>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14</a:t>
              </a:r>
            </a:p>
          </p:txBody>
        </p:sp>
        <p:sp>
          <p:nvSpPr>
            <p:cNvPr id="70" name="Rectangle 69">
              <a:extLst>
                <a:ext uri="{FF2B5EF4-FFF2-40B4-BE49-F238E27FC236}">
                  <a16:creationId xmlns:a16="http://schemas.microsoft.com/office/drawing/2014/main" id="{E6D13558-906F-DECF-F466-9574D6C41049}"/>
                </a:ext>
              </a:extLst>
            </p:cNvPr>
            <p:cNvSpPr/>
            <p:nvPr/>
          </p:nvSpPr>
          <p:spPr>
            <a:xfrm>
              <a:off x="10273161" y="754688"/>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71" name="TextBox 70">
              <a:extLst>
                <a:ext uri="{FF2B5EF4-FFF2-40B4-BE49-F238E27FC236}">
                  <a16:creationId xmlns:a16="http://schemas.microsoft.com/office/drawing/2014/main" id="{51B4D8C7-FBBB-4D70-8990-C4B4059F9C9E}"/>
                </a:ext>
              </a:extLst>
            </p:cNvPr>
            <p:cNvSpPr txBox="1"/>
            <p:nvPr/>
          </p:nvSpPr>
          <p:spPr>
            <a:xfrm>
              <a:off x="5586710" y="1328081"/>
              <a:ext cx="301686" cy="369332"/>
            </a:xfrm>
            <a:prstGeom prst="rect">
              <a:avLst/>
            </a:prstGeom>
            <a:noFill/>
          </p:spPr>
          <p:txBody>
            <a:bodyPr wrap="none" rtlCol="0">
              <a:spAutoFit/>
            </a:bodyPr>
            <a:lstStyle/>
            <a:p>
              <a:r>
                <a:rPr lang="en-US" dirty="0">
                  <a:solidFill>
                    <a:srgbClr val="FF33CC"/>
                  </a:solidFill>
                </a:rPr>
                <a:t>0</a:t>
              </a:r>
            </a:p>
          </p:txBody>
        </p:sp>
        <p:sp>
          <p:nvSpPr>
            <p:cNvPr id="72" name="TextBox 71">
              <a:extLst>
                <a:ext uri="{FF2B5EF4-FFF2-40B4-BE49-F238E27FC236}">
                  <a16:creationId xmlns:a16="http://schemas.microsoft.com/office/drawing/2014/main" id="{BAB1D9E0-6950-BAC5-8236-67A29BAF74C7}"/>
                </a:ext>
              </a:extLst>
            </p:cNvPr>
            <p:cNvSpPr txBox="1"/>
            <p:nvPr/>
          </p:nvSpPr>
          <p:spPr>
            <a:xfrm>
              <a:off x="6120110" y="1328081"/>
              <a:ext cx="301686" cy="369332"/>
            </a:xfrm>
            <a:prstGeom prst="rect">
              <a:avLst/>
            </a:prstGeom>
            <a:noFill/>
          </p:spPr>
          <p:txBody>
            <a:bodyPr wrap="none" rtlCol="0">
              <a:spAutoFit/>
            </a:bodyPr>
            <a:lstStyle/>
            <a:p>
              <a:r>
                <a:rPr lang="en-US" dirty="0">
                  <a:solidFill>
                    <a:srgbClr val="FF33CC"/>
                  </a:solidFill>
                </a:rPr>
                <a:t>1</a:t>
              </a:r>
            </a:p>
          </p:txBody>
        </p:sp>
        <p:sp>
          <p:nvSpPr>
            <p:cNvPr id="73" name="TextBox 72">
              <a:extLst>
                <a:ext uri="{FF2B5EF4-FFF2-40B4-BE49-F238E27FC236}">
                  <a16:creationId xmlns:a16="http://schemas.microsoft.com/office/drawing/2014/main" id="{66EBBF63-ED6E-B389-C926-BB09C4007840}"/>
                </a:ext>
              </a:extLst>
            </p:cNvPr>
            <p:cNvSpPr txBox="1"/>
            <p:nvPr/>
          </p:nvSpPr>
          <p:spPr>
            <a:xfrm>
              <a:off x="6654079" y="1328081"/>
              <a:ext cx="301686" cy="369332"/>
            </a:xfrm>
            <a:prstGeom prst="rect">
              <a:avLst/>
            </a:prstGeom>
            <a:noFill/>
          </p:spPr>
          <p:txBody>
            <a:bodyPr wrap="none" rtlCol="0">
              <a:spAutoFit/>
            </a:bodyPr>
            <a:lstStyle/>
            <a:p>
              <a:r>
                <a:rPr lang="en-US" dirty="0">
                  <a:solidFill>
                    <a:srgbClr val="FF33CC"/>
                  </a:solidFill>
                </a:rPr>
                <a:t>2</a:t>
              </a:r>
            </a:p>
          </p:txBody>
        </p:sp>
        <p:sp>
          <p:nvSpPr>
            <p:cNvPr id="74" name="TextBox 73">
              <a:extLst>
                <a:ext uri="{FF2B5EF4-FFF2-40B4-BE49-F238E27FC236}">
                  <a16:creationId xmlns:a16="http://schemas.microsoft.com/office/drawing/2014/main" id="{20074EAD-9235-1150-2541-BD2167D5D0FD}"/>
                </a:ext>
              </a:extLst>
            </p:cNvPr>
            <p:cNvSpPr txBox="1"/>
            <p:nvPr/>
          </p:nvSpPr>
          <p:spPr>
            <a:xfrm>
              <a:off x="7187479" y="1328081"/>
              <a:ext cx="301686" cy="369332"/>
            </a:xfrm>
            <a:prstGeom prst="rect">
              <a:avLst/>
            </a:prstGeom>
            <a:noFill/>
          </p:spPr>
          <p:txBody>
            <a:bodyPr wrap="none" rtlCol="0">
              <a:spAutoFit/>
            </a:bodyPr>
            <a:lstStyle/>
            <a:p>
              <a:r>
                <a:rPr lang="en-US" dirty="0">
                  <a:solidFill>
                    <a:srgbClr val="FF33CC"/>
                  </a:solidFill>
                </a:rPr>
                <a:t>3</a:t>
              </a:r>
            </a:p>
          </p:txBody>
        </p:sp>
        <p:sp>
          <p:nvSpPr>
            <p:cNvPr id="75" name="TextBox 74">
              <a:extLst>
                <a:ext uri="{FF2B5EF4-FFF2-40B4-BE49-F238E27FC236}">
                  <a16:creationId xmlns:a16="http://schemas.microsoft.com/office/drawing/2014/main" id="{7F4969F4-B33F-56D3-C047-5C32882A309B}"/>
                </a:ext>
              </a:extLst>
            </p:cNvPr>
            <p:cNvSpPr txBox="1"/>
            <p:nvPr/>
          </p:nvSpPr>
          <p:spPr>
            <a:xfrm>
              <a:off x="7718467" y="1328081"/>
              <a:ext cx="301686" cy="369332"/>
            </a:xfrm>
            <a:prstGeom prst="rect">
              <a:avLst/>
            </a:prstGeom>
            <a:noFill/>
          </p:spPr>
          <p:txBody>
            <a:bodyPr wrap="none" rtlCol="0">
              <a:spAutoFit/>
            </a:bodyPr>
            <a:lstStyle/>
            <a:p>
              <a:r>
                <a:rPr lang="en-US" dirty="0">
                  <a:solidFill>
                    <a:srgbClr val="FF33CC"/>
                  </a:solidFill>
                </a:rPr>
                <a:t>4</a:t>
              </a:r>
            </a:p>
          </p:txBody>
        </p:sp>
        <p:sp>
          <p:nvSpPr>
            <p:cNvPr id="76" name="TextBox 75">
              <a:extLst>
                <a:ext uri="{FF2B5EF4-FFF2-40B4-BE49-F238E27FC236}">
                  <a16:creationId xmlns:a16="http://schemas.microsoft.com/office/drawing/2014/main" id="{7DC6D51E-E5F7-C9E1-383D-F70C34B9885B}"/>
                </a:ext>
              </a:extLst>
            </p:cNvPr>
            <p:cNvSpPr txBox="1"/>
            <p:nvPr/>
          </p:nvSpPr>
          <p:spPr>
            <a:xfrm>
              <a:off x="8196497" y="1328081"/>
              <a:ext cx="301686" cy="369332"/>
            </a:xfrm>
            <a:prstGeom prst="rect">
              <a:avLst/>
            </a:prstGeom>
            <a:noFill/>
          </p:spPr>
          <p:txBody>
            <a:bodyPr wrap="none" rtlCol="0">
              <a:spAutoFit/>
            </a:bodyPr>
            <a:lstStyle/>
            <a:p>
              <a:r>
                <a:rPr lang="en-US" dirty="0">
                  <a:solidFill>
                    <a:srgbClr val="FF33CC"/>
                  </a:solidFill>
                </a:rPr>
                <a:t>5</a:t>
              </a:r>
            </a:p>
          </p:txBody>
        </p:sp>
        <p:sp>
          <p:nvSpPr>
            <p:cNvPr id="77" name="TextBox 76">
              <a:extLst>
                <a:ext uri="{FF2B5EF4-FFF2-40B4-BE49-F238E27FC236}">
                  <a16:creationId xmlns:a16="http://schemas.microsoft.com/office/drawing/2014/main" id="{4406418E-138D-0497-A5A3-44E14EA787CB}"/>
                </a:ext>
              </a:extLst>
            </p:cNvPr>
            <p:cNvSpPr txBox="1"/>
            <p:nvPr/>
          </p:nvSpPr>
          <p:spPr>
            <a:xfrm>
              <a:off x="8788248" y="1328081"/>
              <a:ext cx="301686" cy="369332"/>
            </a:xfrm>
            <a:prstGeom prst="rect">
              <a:avLst/>
            </a:prstGeom>
            <a:noFill/>
          </p:spPr>
          <p:txBody>
            <a:bodyPr wrap="none" rtlCol="0">
              <a:spAutoFit/>
            </a:bodyPr>
            <a:lstStyle/>
            <a:p>
              <a:r>
                <a:rPr lang="en-US" dirty="0">
                  <a:solidFill>
                    <a:srgbClr val="FF33CC"/>
                  </a:solidFill>
                </a:rPr>
                <a:t>6</a:t>
              </a:r>
            </a:p>
          </p:txBody>
        </p:sp>
        <p:sp>
          <p:nvSpPr>
            <p:cNvPr id="78" name="TextBox 77">
              <a:extLst>
                <a:ext uri="{FF2B5EF4-FFF2-40B4-BE49-F238E27FC236}">
                  <a16:creationId xmlns:a16="http://schemas.microsoft.com/office/drawing/2014/main" id="{FB4E8D37-EB35-9327-D7C1-C7AEAD8E45F4}"/>
                </a:ext>
              </a:extLst>
            </p:cNvPr>
            <p:cNvSpPr txBox="1"/>
            <p:nvPr/>
          </p:nvSpPr>
          <p:spPr>
            <a:xfrm>
              <a:off x="9321648" y="1328081"/>
              <a:ext cx="301686" cy="369332"/>
            </a:xfrm>
            <a:prstGeom prst="rect">
              <a:avLst/>
            </a:prstGeom>
            <a:noFill/>
          </p:spPr>
          <p:txBody>
            <a:bodyPr wrap="none" rtlCol="0">
              <a:spAutoFit/>
            </a:bodyPr>
            <a:lstStyle/>
            <a:p>
              <a:r>
                <a:rPr lang="en-US" dirty="0">
                  <a:solidFill>
                    <a:srgbClr val="FF33CC"/>
                  </a:solidFill>
                </a:rPr>
                <a:t>7</a:t>
              </a:r>
            </a:p>
          </p:txBody>
        </p:sp>
        <p:sp>
          <p:nvSpPr>
            <p:cNvPr id="79" name="TextBox 78">
              <a:extLst>
                <a:ext uri="{FF2B5EF4-FFF2-40B4-BE49-F238E27FC236}">
                  <a16:creationId xmlns:a16="http://schemas.microsoft.com/office/drawing/2014/main" id="{D5ECD707-5460-E6BD-86CC-D83A48AF15BA}"/>
                </a:ext>
              </a:extLst>
            </p:cNvPr>
            <p:cNvSpPr txBox="1"/>
            <p:nvPr/>
          </p:nvSpPr>
          <p:spPr>
            <a:xfrm>
              <a:off x="9855617" y="1328081"/>
              <a:ext cx="301686" cy="369332"/>
            </a:xfrm>
            <a:prstGeom prst="rect">
              <a:avLst/>
            </a:prstGeom>
            <a:noFill/>
          </p:spPr>
          <p:txBody>
            <a:bodyPr wrap="none" rtlCol="0">
              <a:spAutoFit/>
            </a:bodyPr>
            <a:lstStyle/>
            <a:p>
              <a:r>
                <a:rPr lang="en-US" dirty="0">
                  <a:solidFill>
                    <a:srgbClr val="FF33CC"/>
                  </a:solidFill>
                </a:rPr>
                <a:t>8</a:t>
              </a:r>
            </a:p>
          </p:txBody>
        </p:sp>
        <p:sp>
          <p:nvSpPr>
            <p:cNvPr id="80" name="TextBox 79">
              <a:extLst>
                <a:ext uri="{FF2B5EF4-FFF2-40B4-BE49-F238E27FC236}">
                  <a16:creationId xmlns:a16="http://schemas.microsoft.com/office/drawing/2014/main" id="{A15246D9-289A-2D23-676F-132998365B7A}"/>
                </a:ext>
              </a:extLst>
            </p:cNvPr>
            <p:cNvSpPr txBox="1"/>
            <p:nvPr/>
          </p:nvSpPr>
          <p:spPr>
            <a:xfrm>
              <a:off x="10389017" y="1328081"/>
              <a:ext cx="301686" cy="369332"/>
            </a:xfrm>
            <a:prstGeom prst="rect">
              <a:avLst/>
            </a:prstGeom>
            <a:noFill/>
          </p:spPr>
          <p:txBody>
            <a:bodyPr wrap="none" rtlCol="0">
              <a:spAutoFit/>
            </a:bodyPr>
            <a:lstStyle/>
            <a:p>
              <a:r>
                <a:rPr lang="en-US" dirty="0">
                  <a:solidFill>
                    <a:srgbClr val="FF33CC"/>
                  </a:solidFill>
                </a:rPr>
                <a:t>9</a:t>
              </a:r>
            </a:p>
          </p:txBody>
        </p:sp>
        <p:sp>
          <p:nvSpPr>
            <p:cNvPr id="81" name="Rectangle 80">
              <a:extLst>
                <a:ext uri="{FF2B5EF4-FFF2-40B4-BE49-F238E27FC236}">
                  <a16:creationId xmlns:a16="http://schemas.microsoft.com/office/drawing/2014/main" id="{2385051A-8B5B-CAD2-BC18-2BE866C54EC8}"/>
                </a:ext>
              </a:extLst>
            </p:cNvPr>
            <p:cNvSpPr/>
            <p:nvPr/>
          </p:nvSpPr>
          <p:spPr>
            <a:xfrm>
              <a:off x="10813042" y="754688"/>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15</a:t>
              </a:r>
            </a:p>
          </p:txBody>
        </p:sp>
        <p:sp>
          <p:nvSpPr>
            <p:cNvPr id="82" name="TextBox 81">
              <a:extLst>
                <a:ext uri="{FF2B5EF4-FFF2-40B4-BE49-F238E27FC236}">
                  <a16:creationId xmlns:a16="http://schemas.microsoft.com/office/drawing/2014/main" id="{437CFE15-372B-20CD-FDA1-BFC4030CEA8D}"/>
                </a:ext>
              </a:extLst>
            </p:cNvPr>
            <p:cNvSpPr txBox="1"/>
            <p:nvPr/>
          </p:nvSpPr>
          <p:spPr>
            <a:xfrm>
              <a:off x="10870777" y="1330511"/>
              <a:ext cx="418704" cy="369332"/>
            </a:xfrm>
            <a:prstGeom prst="rect">
              <a:avLst/>
            </a:prstGeom>
            <a:noFill/>
          </p:spPr>
          <p:txBody>
            <a:bodyPr wrap="none" rtlCol="0">
              <a:spAutoFit/>
            </a:bodyPr>
            <a:lstStyle/>
            <a:p>
              <a:r>
                <a:rPr lang="en-US" dirty="0">
                  <a:solidFill>
                    <a:srgbClr val="FF33CC"/>
                  </a:solidFill>
                </a:rPr>
                <a:t>10</a:t>
              </a:r>
            </a:p>
          </p:txBody>
        </p:sp>
      </p:grpSp>
      <p:sp>
        <p:nvSpPr>
          <p:cNvPr id="56" name="TextBox 55">
            <a:extLst>
              <a:ext uri="{FF2B5EF4-FFF2-40B4-BE49-F238E27FC236}">
                <a16:creationId xmlns:a16="http://schemas.microsoft.com/office/drawing/2014/main" id="{ED4902B8-F5AB-50D9-18C4-FF07B8E03412}"/>
              </a:ext>
            </a:extLst>
          </p:cNvPr>
          <p:cNvSpPr txBox="1"/>
          <p:nvPr/>
        </p:nvSpPr>
        <p:spPr>
          <a:xfrm>
            <a:off x="8434060" y="4571102"/>
            <a:ext cx="3263779" cy="1938992"/>
          </a:xfrm>
          <a:prstGeom prst="rect">
            <a:avLst/>
          </a:prstGeom>
          <a:noFill/>
        </p:spPr>
        <p:txBody>
          <a:bodyPr wrap="none" rtlCol="0">
            <a:spAutoFit/>
          </a:bodyPr>
          <a:lstStyle/>
          <a:p>
            <a:r>
              <a:rPr lang="en-US" sz="2400" dirty="0" err="1"/>
              <a:t>buildHeap</a:t>
            </a:r>
            <a:r>
              <a:rPr lang="en-US" sz="2400" dirty="0"/>
              <a:t>(){</a:t>
            </a:r>
          </a:p>
          <a:p>
            <a:r>
              <a:rPr lang="en-US" sz="2400" dirty="0"/>
              <a:t>    for(int </a:t>
            </a:r>
            <a:r>
              <a:rPr lang="en-US" sz="2400" dirty="0" err="1"/>
              <a:t>i</a:t>
            </a:r>
            <a:r>
              <a:rPr lang="en-US" sz="2400" dirty="0"/>
              <a:t> = size; </a:t>
            </a:r>
            <a:r>
              <a:rPr lang="en-US" sz="2400" dirty="0" err="1"/>
              <a:t>i</a:t>
            </a:r>
            <a:r>
              <a:rPr lang="en-US" sz="2400" dirty="0"/>
              <a:t>&gt;0; </a:t>
            </a:r>
            <a:r>
              <a:rPr lang="en-US" sz="2400" dirty="0" err="1"/>
              <a:t>i</a:t>
            </a:r>
            <a:r>
              <a:rPr lang="en-US" sz="2400" dirty="0"/>
              <a:t>--){</a:t>
            </a:r>
          </a:p>
          <a:p>
            <a:r>
              <a:rPr lang="en-US" sz="2400" dirty="0"/>
              <a:t>        </a:t>
            </a:r>
            <a:r>
              <a:rPr lang="en-US" sz="2400" dirty="0" err="1"/>
              <a:t>percolateDown</a:t>
            </a:r>
            <a:r>
              <a:rPr lang="en-US" sz="2400" dirty="0"/>
              <a:t>(</a:t>
            </a:r>
            <a:r>
              <a:rPr lang="en-US" sz="2400" dirty="0" err="1"/>
              <a:t>i</a:t>
            </a:r>
            <a:r>
              <a:rPr lang="en-US" sz="2400" dirty="0"/>
              <a:t>);</a:t>
            </a:r>
          </a:p>
          <a:p>
            <a:r>
              <a:rPr lang="en-US" sz="2400" dirty="0"/>
              <a:t>    }</a:t>
            </a:r>
          </a:p>
          <a:p>
            <a:r>
              <a:rPr lang="en-US" sz="2400" dirty="0"/>
              <a:t>}</a:t>
            </a:r>
          </a:p>
        </p:txBody>
      </p:sp>
    </p:spTree>
    <p:extLst>
      <p:ext uri="{BB962C8B-B14F-4D97-AF65-F5344CB8AC3E}">
        <p14:creationId xmlns:p14="http://schemas.microsoft.com/office/powerpoint/2010/main" val="28903944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9905CF-DEFE-FCCE-A8B5-E5D05FB4125C}"/>
              </a:ext>
            </a:extLst>
          </p:cNvPr>
          <p:cNvSpPr>
            <a:spLocks noGrp="1"/>
          </p:cNvSpPr>
          <p:nvPr>
            <p:ph type="title"/>
          </p:nvPr>
        </p:nvSpPr>
        <p:spPr/>
        <p:txBody>
          <a:bodyPr/>
          <a:lstStyle/>
          <a:p>
            <a:r>
              <a:rPr lang="en-US" dirty="0"/>
              <a:t>How long did this take?</a:t>
            </a:r>
          </a:p>
        </p:txBody>
      </p:sp>
      <p:sp>
        <p:nvSpPr>
          <p:cNvPr id="3" name="Content Placeholder 2">
            <a:extLst>
              <a:ext uri="{FF2B5EF4-FFF2-40B4-BE49-F238E27FC236}">
                <a16:creationId xmlns:a16="http://schemas.microsoft.com/office/drawing/2014/main" id="{B23365F4-D608-38F3-EE98-2E277D48B81B}"/>
              </a:ext>
            </a:extLst>
          </p:cNvPr>
          <p:cNvSpPr>
            <a:spLocks noGrp="1"/>
          </p:cNvSpPr>
          <p:nvPr>
            <p:ph idx="1"/>
          </p:nvPr>
        </p:nvSpPr>
        <p:spPr/>
        <p:txBody>
          <a:bodyPr/>
          <a:lstStyle/>
          <a:p>
            <a:r>
              <a:rPr lang="en-US" dirty="0"/>
              <a:t>Worst case running time of </a:t>
            </a:r>
            <a:r>
              <a:rPr lang="en-US" dirty="0" err="1"/>
              <a:t>buildHeap</a:t>
            </a:r>
            <a:r>
              <a:rPr lang="en-US" dirty="0"/>
              <a:t>:</a:t>
            </a:r>
          </a:p>
          <a:p>
            <a:r>
              <a:rPr lang="en-US" dirty="0"/>
              <a:t>No node can percolate down more than the height of its subtree</a:t>
            </a:r>
          </a:p>
          <a:p>
            <a:pPr lvl="1"/>
            <a:r>
              <a:rPr lang="en-US" dirty="0"/>
              <a:t>When </a:t>
            </a:r>
            <a:r>
              <a:rPr lang="en-US" dirty="0" err="1"/>
              <a:t>i</a:t>
            </a:r>
            <a:r>
              <a:rPr lang="en-US" dirty="0"/>
              <a:t> is a leaf:</a:t>
            </a:r>
          </a:p>
          <a:p>
            <a:pPr lvl="1"/>
            <a:r>
              <a:rPr lang="en-US" dirty="0"/>
              <a:t>When </a:t>
            </a:r>
            <a:r>
              <a:rPr lang="en-US" dirty="0" err="1"/>
              <a:t>i</a:t>
            </a:r>
            <a:r>
              <a:rPr lang="en-US" dirty="0"/>
              <a:t> is second-from-last level:</a:t>
            </a:r>
          </a:p>
          <a:p>
            <a:pPr lvl="1"/>
            <a:r>
              <a:rPr lang="en-US" dirty="0"/>
              <a:t>When i is third-from-last level:</a:t>
            </a:r>
          </a:p>
          <a:p>
            <a:r>
              <a:rPr lang="en-US" dirty="0"/>
              <a:t>Overall Running time:</a:t>
            </a:r>
          </a:p>
        </p:txBody>
      </p:sp>
      <p:sp>
        <p:nvSpPr>
          <p:cNvPr id="4" name="TextBox 3">
            <a:extLst>
              <a:ext uri="{FF2B5EF4-FFF2-40B4-BE49-F238E27FC236}">
                <a16:creationId xmlns:a16="http://schemas.microsoft.com/office/drawing/2014/main" id="{C79625AA-3486-326F-E75E-91F40D9AD6A6}"/>
              </a:ext>
            </a:extLst>
          </p:cNvPr>
          <p:cNvSpPr txBox="1"/>
          <p:nvPr/>
        </p:nvSpPr>
        <p:spPr>
          <a:xfrm>
            <a:off x="8342620" y="4372908"/>
            <a:ext cx="3263779" cy="1938992"/>
          </a:xfrm>
          <a:prstGeom prst="rect">
            <a:avLst/>
          </a:prstGeom>
          <a:noFill/>
        </p:spPr>
        <p:txBody>
          <a:bodyPr wrap="none" rtlCol="0">
            <a:spAutoFit/>
          </a:bodyPr>
          <a:lstStyle/>
          <a:p>
            <a:r>
              <a:rPr lang="en-US" sz="2400" dirty="0" err="1"/>
              <a:t>buildHeap</a:t>
            </a:r>
            <a:r>
              <a:rPr lang="en-US" sz="2400" dirty="0"/>
              <a:t>(){</a:t>
            </a:r>
          </a:p>
          <a:p>
            <a:r>
              <a:rPr lang="en-US" sz="2400" dirty="0"/>
              <a:t>    for(int </a:t>
            </a:r>
            <a:r>
              <a:rPr lang="en-US" sz="2400" dirty="0" err="1"/>
              <a:t>i</a:t>
            </a:r>
            <a:r>
              <a:rPr lang="en-US" sz="2400" dirty="0"/>
              <a:t> = size; </a:t>
            </a:r>
            <a:r>
              <a:rPr lang="en-US" sz="2400" dirty="0" err="1"/>
              <a:t>i</a:t>
            </a:r>
            <a:r>
              <a:rPr lang="en-US" sz="2400" dirty="0"/>
              <a:t>&gt;0; </a:t>
            </a:r>
            <a:r>
              <a:rPr lang="en-US" sz="2400" dirty="0" err="1"/>
              <a:t>i</a:t>
            </a:r>
            <a:r>
              <a:rPr lang="en-US" sz="2400" dirty="0"/>
              <a:t>--){</a:t>
            </a:r>
          </a:p>
          <a:p>
            <a:r>
              <a:rPr lang="en-US" sz="2400" dirty="0"/>
              <a:t>        </a:t>
            </a:r>
            <a:r>
              <a:rPr lang="en-US" sz="2400" dirty="0" err="1"/>
              <a:t>percolateDown</a:t>
            </a:r>
            <a:r>
              <a:rPr lang="en-US" sz="2400" dirty="0"/>
              <a:t>(</a:t>
            </a:r>
            <a:r>
              <a:rPr lang="en-US" sz="2400" dirty="0" err="1"/>
              <a:t>i</a:t>
            </a:r>
            <a:r>
              <a:rPr lang="en-US" sz="2400" dirty="0"/>
              <a:t>);</a:t>
            </a:r>
          </a:p>
          <a:p>
            <a:r>
              <a:rPr lang="en-US" sz="2400" dirty="0"/>
              <a:t>    }</a:t>
            </a:r>
          </a:p>
          <a:p>
            <a:r>
              <a:rPr lang="en-US" sz="2400" dirty="0"/>
              <a:t>}</a:t>
            </a:r>
          </a:p>
        </p:txBody>
      </p:sp>
    </p:spTree>
    <p:extLst>
      <p:ext uri="{BB962C8B-B14F-4D97-AF65-F5344CB8AC3E}">
        <p14:creationId xmlns:p14="http://schemas.microsoft.com/office/powerpoint/2010/main" val="204634861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12788</TotalTime>
  <Words>2689</Words>
  <Application>Microsoft Office PowerPoint</Application>
  <PresentationFormat>Widescreen</PresentationFormat>
  <Paragraphs>879</Paragraphs>
  <Slides>36</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36</vt:i4>
      </vt:variant>
    </vt:vector>
  </HeadingPairs>
  <TitlesOfParts>
    <vt:vector size="41" baseType="lpstr">
      <vt:lpstr>Arial</vt:lpstr>
      <vt:lpstr>Calibri</vt:lpstr>
      <vt:lpstr>Cambria Math</vt:lpstr>
      <vt:lpstr>Calibri Light</vt:lpstr>
      <vt:lpstr>Office Theme</vt:lpstr>
      <vt:lpstr>CSE 332 Spring 2026 Lecture 5: Priority Queues</vt:lpstr>
      <vt:lpstr>ADT: Priority Queue</vt:lpstr>
      <vt:lpstr>Applications?</vt:lpstr>
      <vt:lpstr>Thinking through implementations</vt:lpstr>
      <vt:lpstr>Thinking through implementations (solutions)</vt:lpstr>
      <vt:lpstr>Trees for Heaps</vt:lpstr>
      <vt:lpstr>Heap – Priority Queue Data Structure</vt:lpstr>
      <vt:lpstr>Achieving log⁡n Running Time</vt:lpstr>
      <vt:lpstr>(Min) Heap Data Structure</vt:lpstr>
      <vt:lpstr>Heap Insert Example</vt:lpstr>
      <vt:lpstr>Heap Insert (New Node)</vt:lpstr>
      <vt:lpstr>Heap Insert (Percolate 1)</vt:lpstr>
      <vt:lpstr>Heap Insert (Percolate 2)</vt:lpstr>
      <vt:lpstr>Heap Insert (Done)</vt:lpstr>
      <vt:lpstr>Heap extract Example</vt:lpstr>
      <vt:lpstr>Heap extract (Move Node)</vt:lpstr>
      <vt:lpstr>Heap extract (Percolate 1)</vt:lpstr>
      <vt:lpstr>Heap extract (Percolate 2)</vt:lpstr>
      <vt:lpstr>Heap extract (Done)</vt:lpstr>
      <vt:lpstr>Percolate Up and Down (for a Min Heap)</vt:lpstr>
      <vt:lpstr>Representing a Heap (Questions)</vt:lpstr>
      <vt:lpstr>Representing a Heap (Answers)</vt:lpstr>
      <vt:lpstr>Insert Pseudocode</vt:lpstr>
      <vt:lpstr>Percolate Up</vt:lpstr>
      <vt:lpstr>extract Pseudocode</vt:lpstr>
      <vt:lpstr>Percolate Down</vt:lpstr>
      <vt:lpstr>Other Operations</vt:lpstr>
      <vt:lpstr>Building a Heap From “Scratch”</vt:lpstr>
      <vt:lpstr>Floyd’s buildHeap method</vt:lpstr>
      <vt:lpstr>Floyd’s buildHeap method (Percolate 15) </vt:lpstr>
      <vt:lpstr>Floyd’s buildHeap method (Percolate 3) </vt:lpstr>
      <vt:lpstr>Floyd’s buildHeap method (Percolate 10) </vt:lpstr>
      <vt:lpstr>Floyd’s buildHeap method (Percolate 6) </vt:lpstr>
      <vt:lpstr>Floyd’s buildHeap method (Percolate 5) </vt:lpstr>
      <vt:lpstr>Floyd’s buildHeap method (Done)</vt:lpstr>
      <vt:lpstr>How long did this take?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CSE 332 Spring 2026 Lecture 5</dc:title>
  <dc:creator>Nathan Brunelle</dc:creator>
  <cp:lastModifiedBy>Nathan Brunelle</cp:lastModifiedBy>
  <cp:revision>126</cp:revision>
  <dcterms:created xsi:type="dcterms:W3CDTF">2023-09-26T20:08:20Z</dcterms:created>
  <dcterms:modified xsi:type="dcterms:W3CDTF">2026-04-10T02:51:47Z</dcterms:modified>
</cp:coreProperties>
</file>