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3"/>
  </p:notesMasterIdLst>
  <p:sldIdLst>
    <p:sldId id="257" r:id="rId2"/>
    <p:sldId id="267" r:id="rId3"/>
    <p:sldId id="268" r:id="rId4"/>
    <p:sldId id="269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70" r:id="rId15"/>
    <p:sldId id="271" r:id="rId16"/>
    <p:sldId id="272" r:id="rId17"/>
    <p:sldId id="273" r:id="rId18"/>
    <p:sldId id="275" r:id="rId19"/>
    <p:sldId id="274" r:id="rId20"/>
    <p:sldId id="276" r:id="rId21"/>
    <p:sldId id="277" r:id="rId22"/>
    <p:sldId id="921" r:id="rId23"/>
    <p:sldId id="912" r:id="rId24"/>
    <p:sldId id="913" r:id="rId25"/>
    <p:sldId id="914" r:id="rId26"/>
    <p:sldId id="919" r:id="rId27"/>
    <p:sldId id="915" r:id="rId28"/>
    <p:sldId id="916" r:id="rId29"/>
    <p:sldId id="917" r:id="rId30"/>
    <p:sldId id="918" r:id="rId31"/>
    <p:sldId id="920" r:id="rId32"/>
  </p:sldIdLst>
  <p:sldSz cx="12192000" cy="6858000"/>
  <p:notesSz cx="6858000" cy="9144000"/>
  <p:embeddedFontLst>
    <p:embeddedFont>
      <p:font typeface="Cambria Math" panose="02040503050406030204" pitchFamily="18" charset="0"/>
      <p:regular r:id="rId3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50021"/>
    <a:srgbClr val="FF00FF"/>
    <a:srgbClr val="BFEBFB"/>
    <a:srgbClr val="00B0F0"/>
    <a:srgbClr val="FF9900"/>
    <a:srgbClr val="FF9797"/>
    <a:srgbClr val="FF6464"/>
    <a:srgbClr val="FF99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7" d="100"/>
          <a:sy n="77" d="100"/>
        </p:scale>
        <p:origin x="26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B87CB2-66CB-454F-85D3-19EE1B79E95D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5E27D9C-F8C9-4B2B-A91A-E477EB70CE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0161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A8D94-701F-50B7-FF63-2391449835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1BD39A-A942-599F-149A-747401D546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35134E-8798-2A87-98AE-0B134785D2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803DE-E5A1-A42D-17E0-52D8A15F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08009D-BD52-D020-26A4-CCFF2596A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53084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D3513-3DBF-F295-0635-A76FAD8F7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3A398C-CAEC-53AA-8A8B-28B4B6EFE8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42AEDF-9628-E07A-C6FB-A23F1B37D3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AD4231-DF5D-E75E-40A2-4490E3864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461DB8-8E9A-0329-3CC7-DD8BE3960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280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B190C-5088-0FD4-FA3D-07D222B9F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E2422D-2D16-CCA8-2A1C-E13A1E0646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6C9900-661D-64EA-83FB-0318C266A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AF216F-818C-AE83-8D4F-42EC3C942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1494A3-F80F-EC41-DDC0-726FC63A8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9102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F6897-8ADC-82FB-24C1-148BB152C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607461-A71F-ECE6-AE85-5EA3DB5E18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D9E8EA-550B-F0DB-2472-AE2D0456E7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BA28DD-EC75-9F30-A7D3-C90A8D02DC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3D4F3C-0167-D8D5-E58E-83645CE37A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96DDF0-EBE9-4CB3-A532-8F8C26FCF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6489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EBC21-07E8-90D6-8FD3-4B7809D35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8688B1-01DC-A6B4-1C44-C73416EC04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4004C5-4EEE-C9A3-0FFF-B154F5B9A8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C95CA1-99E7-80CC-FF66-5C2F259046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21CBD4-5851-D78F-5249-59CDD8C9BC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92F86E-5D21-865D-53AE-77B5C57EA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F5E5A8-7D51-605B-E276-A7A5B93FE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9E01F4-D4D9-E56F-9035-05E605811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87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23237B-2CFD-F0AF-D3E6-2FDD100A8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D614118-0522-CF53-601D-265A3261E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CC46D9-B22E-C768-B35E-20DA33956A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5D07EE-0E9C-EC8E-BAC0-7B8C9EFB5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6162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BA0918-E285-61F1-EDAF-6B7FD149C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AFD855-6290-493F-81E4-A89E8DDED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CBAA96-146F-BEF1-15D5-935C1B8E9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843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691D78-E109-DF5D-A589-413429D2A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E91868-FB59-5D14-1BCA-C7C43F068C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A2F535-BC7E-F5E2-864B-461F8404D0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CFCF40-365C-13EE-4DB1-CC7C58586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858AA7-3077-1807-CEB8-2C0F27B4C6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F74C30-07C1-3F35-E57B-30BFA71AB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3163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A81C30-49BA-398C-2DF8-B0736590C2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5C7B813-1595-60AF-F5B3-A0DAE66536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6402F2-AF70-21FD-1449-18CBF4C170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1982EC-DE32-4452-40AB-762F386AF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E76A50-D174-12CE-9CCD-74569685B7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D79484-4128-5F97-59B5-3CF00D561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1233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C0788-F665-F0AA-D34E-18CDC381E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D25BE1-D418-6610-B976-595A42D78D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6C710E-4740-E186-8004-9F098E4B8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D57D91-6BF0-5F67-0BAA-BA3B5985E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4EB95B-64CF-ED1B-895D-0C15FB84A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60711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6B0D1A-0325-047A-3C56-DB7DC37D1F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2D4EC8-DF7A-722B-0985-B7E8ED8800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9F5D96-5B5D-A0E1-6B7E-F894B33DE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21D02-69CC-42C9-85CE-4F8B68ED22B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41E58B-FD1B-5158-9002-DB7909020E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26E6E6-5DB2-B08C-E98E-4CE4CABAB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9401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FDEBFE-9C54-D45A-111D-948735AB4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F582E-F84E-411A-7F7A-D8EF87E1F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DCE3F9-A152-FD27-1D1D-64A1C313F3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421D02-69CC-42C9-85CE-4F8B68ED22B8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5F318D-9BE5-6E4A-1795-F02EED65F8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04FB82-C81E-722D-F23A-4047C60DB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6B0C1-9E0A-4C4A-808A-34C0E77FF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621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://www.cs.uw.edu/332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1.png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jpeg"/><Relationship Id="rId13" Type="http://schemas.openxmlformats.org/officeDocument/2006/relationships/image" Target="../media/image29.jpeg"/><Relationship Id="rId3" Type="http://schemas.openxmlformats.org/officeDocument/2006/relationships/image" Target="../media/image19.jpeg"/><Relationship Id="rId7" Type="http://schemas.openxmlformats.org/officeDocument/2006/relationships/image" Target="../media/image23.jpeg"/><Relationship Id="rId12" Type="http://schemas.openxmlformats.org/officeDocument/2006/relationships/image" Target="../media/image28.jpe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jpeg"/><Relationship Id="rId11" Type="http://schemas.openxmlformats.org/officeDocument/2006/relationships/image" Target="../media/image27.jpeg"/><Relationship Id="rId5" Type="http://schemas.openxmlformats.org/officeDocument/2006/relationships/image" Target="../media/image21.jpeg"/><Relationship Id="rId10" Type="http://schemas.openxmlformats.org/officeDocument/2006/relationships/image" Target="../media/image26.jpeg"/><Relationship Id="rId4" Type="http://schemas.openxmlformats.org/officeDocument/2006/relationships/image" Target="../media/image20.jpeg"/><Relationship Id="rId9" Type="http://schemas.openxmlformats.org/officeDocument/2006/relationships/image" Target="../media/image25.jpe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jpeg"/><Relationship Id="rId13" Type="http://schemas.openxmlformats.org/officeDocument/2006/relationships/image" Target="../media/image29.jpeg"/><Relationship Id="rId3" Type="http://schemas.openxmlformats.org/officeDocument/2006/relationships/image" Target="../media/image19.jpeg"/><Relationship Id="rId7" Type="http://schemas.openxmlformats.org/officeDocument/2006/relationships/image" Target="../media/image23.jpeg"/><Relationship Id="rId12" Type="http://schemas.openxmlformats.org/officeDocument/2006/relationships/image" Target="../media/image28.jpe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jpeg"/><Relationship Id="rId11" Type="http://schemas.openxmlformats.org/officeDocument/2006/relationships/image" Target="../media/image27.jpeg"/><Relationship Id="rId5" Type="http://schemas.openxmlformats.org/officeDocument/2006/relationships/image" Target="../media/image21.jpeg"/><Relationship Id="rId10" Type="http://schemas.openxmlformats.org/officeDocument/2006/relationships/image" Target="../media/image26.jpeg"/><Relationship Id="rId4" Type="http://schemas.openxmlformats.org/officeDocument/2006/relationships/image" Target="../media/image20.jpeg"/><Relationship Id="rId9" Type="http://schemas.openxmlformats.org/officeDocument/2006/relationships/image" Target="../media/image25.jpe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2029F-F4C6-FDAD-6A00-4E30C8EE84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CSE </a:t>
            </a:r>
            <a:r>
              <a:rPr lang="en-US"/>
              <a:t>332 Winter 2026</a:t>
            </a:r>
            <a:br>
              <a:rPr lang="en-US" dirty="0"/>
            </a:br>
            <a:r>
              <a:rPr lang="en-US"/>
              <a:t>Lecture 25: </a:t>
            </a:r>
            <a:r>
              <a:rPr lang="en-US" dirty="0"/>
              <a:t>Complexity and Tractability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96019E-F067-13A3-DC5B-9F49CCFEF4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Nathan Brunelle</a:t>
            </a:r>
          </a:p>
          <a:p>
            <a:r>
              <a:rPr lang="en-US" dirty="0">
                <a:hlinkClick r:id="rId2"/>
              </a:rPr>
              <a:t>http://www.cs.uw.edu/332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330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90124-7687-E8A1-27C9-2EB190A78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Times - Graph</a:t>
            </a:r>
          </a:p>
        </p:txBody>
      </p:sp>
      <p:grpSp>
        <p:nvGrpSpPr>
          <p:cNvPr id="3" name="Group 2" descr="A chart illustrating the relative growth of various functions. Most importantly, 2^n grows substantially more quickly than all others.">
            <a:extLst>
              <a:ext uri="{FF2B5EF4-FFF2-40B4-BE49-F238E27FC236}">
                <a16:creationId xmlns:a16="http://schemas.microsoft.com/office/drawing/2014/main" id="{2E4B1117-C450-2E15-C4D2-21C372AC1899}"/>
              </a:ext>
            </a:extLst>
          </p:cNvPr>
          <p:cNvGrpSpPr/>
          <p:nvPr/>
        </p:nvGrpSpPr>
        <p:grpSpPr>
          <a:xfrm>
            <a:off x="444880" y="2204720"/>
            <a:ext cx="7418960" cy="4260612"/>
            <a:chOff x="444880" y="2204720"/>
            <a:chExt cx="7418960" cy="426061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24AB139-464C-EEAF-FF94-EBB070AB743A}"/>
                </a:ext>
              </a:extLst>
            </p:cNvPr>
            <p:cNvCxnSpPr>
              <a:cxnSpLocks/>
            </p:cNvCxnSpPr>
            <p:nvPr/>
          </p:nvCxnSpPr>
          <p:spPr>
            <a:xfrm>
              <a:off x="1666240" y="2204720"/>
              <a:ext cx="0" cy="374904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A5BD756-EAE1-8786-D378-046E6A19BB7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66240" y="5953760"/>
              <a:ext cx="61976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FF71D7A-1DF7-7C84-2E86-EC040CC20D8A}"/>
                </a:ext>
              </a:extLst>
            </p:cNvPr>
            <p:cNvSpPr txBox="1"/>
            <p:nvPr/>
          </p:nvSpPr>
          <p:spPr>
            <a:xfrm>
              <a:off x="4216043" y="6096000"/>
              <a:ext cx="109799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Input Size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C1C3829-4746-C684-B0A5-8ED0DB40755C}"/>
                </a:ext>
              </a:extLst>
            </p:cNvPr>
            <p:cNvSpPr txBox="1"/>
            <p:nvPr/>
          </p:nvSpPr>
          <p:spPr>
            <a:xfrm>
              <a:off x="444880" y="3709908"/>
              <a:ext cx="12213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Operations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0177397-E72C-F617-BA07-42C701FFABB9}"/>
                  </a:ext>
                </a:extLst>
              </p:cNvPr>
              <p:cNvSpPr txBox="1"/>
              <p:nvPr/>
            </p:nvSpPr>
            <p:spPr>
              <a:xfrm>
                <a:off x="8707120" y="847655"/>
                <a:ext cx="2967351" cy="22467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Running times we’ve seen: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en-US" sz="2000" b="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000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endParaRPr lang="en-US" sz="2000" b="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sz="2000" b="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func>
                          <m:func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000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endParaRPr lang="en-US" sz="2000" b="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sz="20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0177397-E72C-F617-BA07-42C701FFAB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07120" y="847655"/>
                <a:ext cx="2967351" cy="2246769"/>
              </a:xfrm>
              <a:prstGeom prst="rect">
                <a:avLst/>
              </a:prstGeom>
              <a:blipFill>
                <a:blip r:embed="rId2"/>
                <a:stretch>
                  <a:fillRect l="-2053" t="-1355" r="-1232" b="-29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61551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E009E-71A6-B920-FDB5-43EF4672C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Times - 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FE118AE8-B0F7-D707-6518-9A26C734367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13746673"/>
                  </p:ext>
                </p:extLst>
              </p:nvPr>
            </p:nvGraphicFramePr>
            <p:xfrm>
              <a:off x="638004" y="1758207"/>
              <a:ext cx="10915992" cy="336778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64499">
                      <a:extLst>
                        <a:ext uri="{9D8B030D-6E8A-4147-A177-3AD203B41FA5}">
                          <a16:colId xmlns:a16="http://schemas.microsoft.com/office/drawing/2014/main" val="2176825612"/>
                        </a:ext>
                      </a:extLst>
                    </a:gridCol>
                    <a:gridCol w="1364499">
                      <a:extLst>
                        <a:ext uri="{9D8B030D-6E8A-4147-A177-3AD203B41FA5}">
                          <a16:colId xmlns:a16="http://schemas.microsoft.com/office/drawing/2014/main" val="4212495060"/>
                        </a:ext>
                      </a:extLst>
                    </a:gridCol>
                    <a:gridCol w="1364499">
                      <a:extLst>
                        <a:ext uri="{9D8B030D-6E8A-4147-A177-3AD203B41FA5}">
                          <a16:colId xmlns:a16="http://schemas.microsoft.com/office/drawing/2014/main" val="563957222"/>
                        </a:ext>
                      </a:extLst>
                    </a:gridCol>
                    <a:gridCol w="1364499">
                      <a:extLst>
                        <a:ext uri="{9D8B030D-6E8A-4147-A177-3AD203B41FA5}">
                          <a16:colId xmlns:a16="http://schemas.microsoft.com/office/drawing/2014/main" val="4123938220"/>
                        </a:ext>
                      </a:extLst>
                    </a:gridCol>
                    <a:gridCol w="1364499">
                      <a:extLst>
                        <a:ext uri="{9D8B030D-6E8A-4147-A177-3AD203B41FA5}">
                          <a16:colId xmlns:a16="http://schemas.microsoft.com/office/drawing/2014/main" val="745238605"/>
                        </a:ext>
                      </a:extLst>
                    </a:gridCol>
                    <a:gridCol w="1364499">
                      <a:extLst>
                        <a:ext uri="{9D8B030D-6E8A-4147-A177-3AD203B41FA5}">
                          <a16:colId xmlns:a16="http://schemas.microsoft.com/office/drawing/2014/main" val="437858920"/>
                        </a:ext>
                      </a:extLst>
                    </a:gridCol>
                    <a:gridCol w="1364499">
                      <a:extLst>
                        <a:ext uri="{9D8B030D-6E8A-4147-A177-3AD203B41FA5}">
                          <a16:colId xmlns:a16="http://schemas.microsoft.com/office/drawing/2014/main" val="3851237388"/>
                        </a:ext>
                      </a:extLst>
                    </a:gridCol>
                    <a:gridCol w="1364499">
                      <a:extLst>
                        <a:ext uri="{9D8B030D-6E8A-4147-A177-3AD203B41FA5}">
                          <a16:colId xmlns:a16="http://schemas.microsoft.com/office/drawing/2014/main" val="191477269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𝒏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𝚯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𝒏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𝚯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𝒏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𝒍𝒐</m:t>
                                </m:r>
                                <m:sSub>
                                  <m:sSub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𝒈</m:t>
                                    </m:r>
                                  </m:e>
                                  <m:sub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𝒏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𝚯</m:t>
                                </m:r>
                                <m:d>
                                  <m:d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en-US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b="1" i="1" smtClean="0">
                                            <a:latin typeface="Cambria Math" panose="02040503050406030204" pitchFamily="18" charset="0"/>
                                          </a:rPr>
                                          <m:t>𝒏</m:t>
                                        </m:r>
                                      </m:e>
                                      <m:sup>
                                        <m:r>
                                          <a:rPr lang="en-US" b="1" i="1" smtClean="0">
                                            <a:latin typeface="Cambria Math" panose="02040503050406030204" pitchFamily="18" charset="0"/>
                                          </a:rPr>
                                          <m:t>𝟐</m:t>
                                        </m:r>
                                      </m:sup>
                                    </m:sSup>
                                  </m:e>
                                </m:d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𝚯</m:t>
                                </m:r>
                                <m:d>
                                  <m:d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en-US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b="1" i="1" smtClean="0">
                                            <a:latin typeface="Cambria Math" panose="02040503050406030204" pitchFamily="18" charset="0"/>
                                          </a:rPr>
                                          <m:t>𝒏</m:t>
                                        </m:r>
                                      </m:e>
                                      <m:sup>
                                        <m:r>
                                          <a:rPr lang="en-US" b="1" i="1" smtClean="0">
                                            <a:latin typeface="Cambria Math" panose="02040503050406030204" pitchFamily="18" charset="0"/>
                                          </a:rPr>
                                          <m:t>𝟑</m:t>
                                        </m:r>
                                      </m:sup>
                                    </m:sSup>
                                  </m:e>
                                </m:d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𝚯</m:t>
                                </m:r>
                                <m:d>
                                  <m:d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sSup>
                                      <m:sSupPr>
                                        <m:ctrlPr>
                                          <a:rPr lang="en-US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b="1" i="1" smtClean="0">
                                            <a:latin typeface="Cambria Math" panose="02040503050406030204" pitchFamily="18" charset="0"/>
                                          </a:rPr>
                                          <m:t>𝟓</m:t>
                                        </m:r>
                                      </m:e>
                                      <m:sup>
                                        <m:r>
                                          <a:rPr lang="en-US" b="1" i="1" smtClean="0">
                                            <a:latin typeface="Cambria Math" panose="02040503050406030204" pitchFamily="18" charset="0"/>
                                          </a:rPr>
                                          <m:t>𝒏</m:t>
                                        </m:r>
                                      </m:sup>
                                    </m:sSup>
                                  </m:e>
                                </m:d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𝚯</m:t>
                                </m:r>
                                <m:d>
                                  <m:d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en-US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b="1" i="1" smtClean="0">
                                            <a:latin typeface="Cambria Math" panose="02040503050406030204" pitchFamily="18" charset="0"/>
                                          </a:rPr>
                                          <m:t>𝟐</m:t>
                                        </m:r>
                                      </m:e>
                                      <m:sup>
                                        <m:r>
                                          <a:rPr lang="en-US" b="1" i="1" smtClean="0">
                                            <a:latin typeface="Cambria Math" panose="02040503050406030204" pitchFamily="18" charset="0"/>
                                          </a:rPr>
                                          <m:t>𝒏</m:t>
                                        </m:r>
                                      </m:sup>
                                    </m:sSup>
                                  </m:e>
                                </m:d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𝚯</m:t>
                                </m:r>
                                <m:d>
                                  <m:d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!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8105840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 </a:t>
                          </a:r>
                          <a:r>
                            <a:rPr lang="en-US" dirty="0" err="1"/>
                            <a:t>sev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5619521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18 min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25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dirty="0"/>
                            <a:t> years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387082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11 min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36 years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very long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8698453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12,892 years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17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dirty="0"/>
                            <a:t> years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very long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82849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1,000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18 min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very long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very long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very long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298346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10,000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 min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12 days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very long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very long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very long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407781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100,000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 hours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32 years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very long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very long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very long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10631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1,000,000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20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12 days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31,710 years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very long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very long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very long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5991137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FE118AE8-B0F7-D707-6518-9A26C734367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13746673"/>
                  </p:ext>
                </p:extLst>
              </p:nvPr>
            </p:nvGraphicFramePr>
            <p:xfrm>
              <a:off x="638004" y="1758207"/>
              <a:ext cx="10915992" cy="336778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64499">
                      <a:extLst>
                        <a:ext uri="{9D8B030D-6E8A-4147-A177-3AD203B41FA5}">
                          <a16:colId xmlns:a16="http://schemas.microsoft.com/office/drawing/2014/main" val="2176825612"/>
                        </a:ext>
                      </a:extLst>
                    </a:gridCol>
                    <a:gridCol w="1364499">
                      <a:extLst>
                        <a:ext uri="{9D8B030D-6E8A-4147-A177-3AD203B41FA5}">
                          <a16:colId xmlns:a16="http://schemas.microsoft.com/office/drawing/2014/main" val="4212495060"/>
                        </a:ext>
                      </a:extLst>
                    </a:gridCol>
                    <a:gridCol w="1364499">
                      <a:extLst>
                        <a:ext uri="{9D8B030D-6E8A-4147-A177-3AD203B41FA5}">
                          <a16:colId xmlns:a16="http://schemas.microsoft.com/office/drawing/2014/main" val="563957222"/>
                        </a:ext>
                      </a:extLst>
                    </a:gridCol>
                    <a:gridCol w="1364499">
                      <a:extLst>
                        <a:ext uri="{9D8B030D-6E8A-4147-A177-3AD203B41FA5}">
                          <a16:colId xmlns:a16="http://schemas.microsoft.com/office/drawing/2014/main" val="4123938220"/>
                        </a:ext>
                      </a:extLst>
                    </a:gridCol>
                    <a:gridCol w="1364499">
                      <a:extLst>
                        <a:ext uri="{9D8B030D-6E8A-4147-A177-3AD203B41FA5}">
                          <a16:colId xmlns:a16="http://schemas.microsoft.com/office/drawing/2014/main" val="745238605"/>
                        </a:ext>
                      </a:extLst>
                    </a:gridCol>
                    <a:gridCol w="1364499">
                      <a:extLst>
                        <a:ext uri="{9D8B030D-6E8A-4147-A177-3AD203B41FA5}">
                          <a16:colId xmlns:a16="http://schemas.microsoft.com/office/drawing/2014/main" val="437858920"/>
                        </a:ext>
                      </a:extLst>
                    </a:gridCol>
                    <a:gridCol w="1364499">
                      <a:extLst>
                        <a:ext uri="{9D8B030D-6E8A-4147-A177-3AD203B41FA5}">
                          <a16:colId xmlns:a16="http://schemas.microsoft.com/office/drawing/2014/main" val="3851237388"/>
                        </a:ext>
                      </a:extLst>
                    </a:gridCol>
                    <a:gridCol w="1364499">
                      <a:extLst>
                        <a:ext uri="{9D8B030D-6E8A-4147-A177-3AD203B41FA5}">
                          <a16:colId xmlns:a16="http://schemas.microsoft.com/office/drawing/2014/main" val="1914772693"/>
                        </a:ext>
                      </a:extLst>
                    </a:gridCol>
                  </a:tblGrid>
                  <a:tr h="40106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46" t="-1515" r="-701786" b="-7606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446" t="-1515" r="-601786" b="-7606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446" t="-1515" r="-501786" b="-7606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446" t="-1515" r="-401786" b="-7606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0446" t="-1515" r="-301786" b="-7606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00446" t="-1515" r="-201786" b="-7606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00446" t="-1515" r="-101786" b="-7606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700446" t="-1515" r="-1786" b="-76060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8105840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 </a:t>
                          </a:r>
                          <a:r>
                            <a:rPr lang="en-US" dirty="0" err="1"/>
                            <a:t>sev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5619521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18 min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700446" t="-209836" r="-1786" b="-6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387082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11 min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36 years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very long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8698453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12,892 years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00446" t="-416667" r="-101786" b="-43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very long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82849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1,000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18 min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very long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very long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very long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298346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10,000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 min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12 days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very long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very long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very long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407781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100,000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&lt; 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 hours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32 years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very long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very long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very long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510631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1,000,000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20 sec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12 days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31,710 years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very long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very long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very long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5991137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83B7761-5EA7-EF09-1DC8-B5567940EB86}"/>
                  </a:ext>
                </a:extLst>
              </p:cNvPr>
              <p:cNvSpPr txBox="1"/>
              <p:nvPr/>
            </p:nvSpPr>
            <p:spPr>
              <a:xfrm>
                <a:off x="3897978" y="5566468"/>
                <a:ext cx="7134203" cy="9264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The running times of different algorithms on inputs of increasing size for a processor performing a million instructions per second. “very long” refers to times exceeding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25</m:t>
                        </m:r>
                      </m:sup>
                    </m:sSup>
                  </m:oMath>
                </a14:m>
                <a:r>
                  <a:rPr lang="en-US" dirty="0"/>
                  <a:t> years.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83B7761-5EA7-EF09-1DC8-B5567940EB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7978" y="5566468"/>
                <a:ext cx="7134203" cy="926407"/>
              </a:xfrm>
              <a:prstGeom prst="rect">
                <a:avLst/>
              </a:prstGeom>
              <a:blipFill>
                <a:blip r:embed="rId3"/>
                <a:stretch>
                  <a:fillRect l="-683" t="-3289" r="-171" b="-98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19791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EE9DB-CD35-09FC-6BCD-A02078F6D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Tractability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2D826C-48B0-C011-44A9-9033819D59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Tractable: </a:t>
                </a:r>
              </a:p>
              <a:p>
                <a:pPr lvl="1"/>
                <a:r>
                  <a:rPr lang="en-US" dirty="0"/>
                  <a:t>Feasible to solve in the “real world” </a:t>
                </a:r>
              </a:p>
              <a:p>
                <a:r>
                  <a:rPr lang="en-US" dirty="0"/>
                  <a:t>Intractable: </a:t>
                </a:r>
              </a:p>
              <a:p>
                <a:pPr lvl="1"/>
                <a:r>
                  <a:rPr lang="en-US" dirty="0"/>
                  <a:t>Infeasible to solve in the “real world” </a:t>
                </a:r>
              </a:p>
              <a:p>
                <a:r>
                  <a:rPr lang="en-US" dirty="0"/>
                  <a:t>Whether a problem is considered “tractable” or “intractable” depends on the use case</a:t>
                </a:r>
              </a:p>
              <a:p>
                <a:pPr lvl="1"/>
                <a:r>
                  <a:rPr lang="en-US" dirty="0"/>
                  <a:t>For machine learning, big data, etc. tractable might mean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O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or even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For most applications it’s more like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A strange pattern: </a:t>
                </a:r>
              </a:p>
              <a:p>
                <a:pPr lvl="1"/>
                <a:r>
                  <a:rPr lang="en-US" dirty="0"/>
                  <a:t>Most “natural” problems are either done in small-degree polynomial (e.g.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) or else exponential time (e.g.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)</a:t>
                </a:r>
              </a:p>
              <a:p>
                <a:pPr lvl="1"/>
                <a:r>
                  <a:rPr lang="en-US" dirty="0"/>
                  <a:t>It’s rare to have problems which require a running time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en-US" dirty="0"/>
                  <a:t>, for example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2D826C-48B0-C011-44A9-9033819D59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801" b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859168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D07A3-AD02-C2E5-48B5-E4924D989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7 Bridges of Königsberg</a:t>
            </a:r>
          </a:p>
        </p:txBody>
      </p:sp>
      <p:pic>
        <p:nvPicPr>
          <p:cNvPr id="4" name="Picture 2" descr="The city of Konigsberg from the 18th century. A river divides the city into 4 total landmasses: the two sides of the river and two islands within the river. There are 7 total bridges connecting together these landmasses. ">
            <a:extLst>
              <a:ext uri="{FF2B5EF4-FFF2-40B4-BE49-F238E27FC236}">
                <a16:creationId xmlns:a16="http://schemas.microsoft.com/office/drawing/2014/main" id="{A8C12AFF-58D0-5B6B-F8FF-96D962D9DE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85665" y="1690688"/>
            <a:ext cx="4185920" cy="32988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Leonhard Euler">
            <a:extLst>
              <a:ext uri="{FF2B5EF4-FFF2-40B4-BE49-F238E27FC236}">
                <a16:creationId xmlns:a16="http://schemas.microsoft.com/office/drawing/2014/main" id="{5DD9C68B-9223-098E-7187-8126F6843B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74949" y="365125"/>
            <a:ext cx="1478851" cy="19247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Group 13" descr="Euler represented the bridges problem as a non-simple graph. Each landmass being represented as a node, each bridge as an edge.">
            <a:extLst>
              <a:ext uri="{FF2B5EF4-FFF2-40B4-BE49-F238E27FC236}">
                <a16:creationId xmlns:a16="http://schemas.microsoft.com/office/drawing/2014/main" id="{347220EA-3D05-E37F-FF1D-9BD6DDFFD6F9}"/>
              </a:ext>
            </a:extLst>
          </p:cNvPr>
          <p:cNvGrpSpPr/>
          <p:nvPr/>
        </p:nvGrpSpPr>
        <p:grpSpPr>
          <a:xfrm>
            <a:off x="1057167" y="2213537"/>
            <a:ext cx="2211432" cy="2194544"/>
            <a:chOff x="2300659" y="2657586"/>
            <a:chExt cx="2211432" cy="2194544"/>
          </a:xfrm>
        </p:grpSpPr>
        <p:cxnSp>
          <p:nvCxnSpPr>
            <p:cNvPr id="15" name="Straight Connector 31">
              <a:extLst>
                <a:ext uri="{FF2B5EF4-FFF2-40B4-BE49-F238E27FC236}">
                  <a16:creationId xmlns:a16="http://schemas.microsoft.com/office/drawing/2014/main" id="{37349FD3-902D-7687-FB3E-E28A41A2D12A}"/>
                </a:ext>
              </a:extLst>
            </p:cNvPr>
            <p:cNvCxnSpPr>
              <a:stCxn id="16" idx="1"/>
              <a:endCxn id="17" idx="2"/>
            </p:cNvCxnSpPr>
            <p:nvPr/>
          </p:nvCxnSpPr>
          <p:spPr>
            <a:xfrm rot="5400000" flipH="1" flipV="1">
              <a:off x="2541502" y="2982839"/>
              <a:ext cx="741934" cy="426600"/>
            </a:xfrm>
            <a:prstGeom prst="curvedConnector2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0B4CE7C5-B1FA-9723-DF09-121CB65E5A27}"/>
                </a:ext>
              </a:extLst>
            </p:cNvPr>
            <p:cNvSpPr/>
            <p:nvPr/>
          </p:nvSpPr>
          <p:spPr>
            <a:xfrm>
              <a:off x="2650084" y="3518021"/>
              <a:ext cx="335171" cy="33517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011CAB9-43E3-BD38-891D-26259E8C0DD0}"/>
                </a:ext>
              </a:extLst>
            </p:cNvPr>
            <p:cNvSpPr/>
            <p:nvPr/>
          </p:nvSpPr>
          <p:spPr>
            <a:xfrm>
              <a:off x="3125769" y="2657586"/>
              <a:ext cx="335171" cy="33517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B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18685E0F-A76F-5A0D-CAD3-95FFD5428EA3}"/>
                </a:ext>
              </a:extLst>
            </p:cNvPr>
            <p:cNvSpPr/>
            <p:nvPr/>
          </p:nvSpPr>
          <p:spPr>
            <a:xfrm>
              <a:off x="2300659" y="4516959"/>
              <a:ext cx="335171" cy="33517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C2E331A6-A840-9754-53D3-0FCD91B4F308}"/>
                </a:ext>
              </a:extLst>
            </p:cNvPr>
            <p:cNvSpPr/>
            <p:nvPr/>
          </p:nvSpPr>
          <p:spPr>
            <a:xfrm>
              <a:off x="4176920" y="3904829"/>
              <a:ext cx="335171" cy="33517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D</a:t>
              </a:r>
            </a:p>
          </p:txBody>
        </p:sp>
        <p:cxnSp>
          <p:nvCxnSpPr>
            <p:cNvPr id="20" name="Straight Connector 31">
              <a:extLst>
                <a:ext uri="{FF2B5EF4-FFF2-40B4-BE49-F238E27FC236}">
                  <a16:creationId xmlns:a16="http://schemas.microsoft.com/office/drawing/2014/main" id="{1C5FD062-32C2-505F-B268-2F6699F2F7DA}"/>
                </a:ext>
              </a:extLst>
            </p:cNvPr>
            <p:cNvCxnSpPr>
              <a:stCxn id="16" idx="7"/>
              <a:endCxn id="17" idx="5"/>
            </p:cNvCxnSpPr>
            <p:nvPr/>
          </p:nvCxnSpPr>
          <p:spPr>
            <a:xfrm rot="5400000" flipH="1" flipV="1">
              <a:off x="2862295" y="3017547"/>
              <a:ext cx="623434" cy="475685"/>
            </a:xfrm>
            <a:prstGeom prst="curvedConnector3">
              <a:avLst>
                <a:gd name="adj1" fmla="val 36962"/>
              </a:avLst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31">
              <a:extLst>
                <a:ext uri="{FF2B5EF4-FFF2-40B4-BE49-F238E27FC236}">
                  <a16:creationId xmlns:a16="http://schemas.microsoft.com/office/drawing/2014/main" id="{DAA0BD9F-E53F-1C77-FE37-C0A2F6CA93D0}"/>
                </a:ext>
              </a:extLst>
            </p:cNvPr>
            <p:cNvCxnSpPr>
              <a:stCxn id="16" idx="2"/>
              <a:endCxn id="18" idx="2"/>
            </p:cNvCxnSpPr>
            <p:nvPr/>
          </p:nvCxnSpPr>
          <p:spPr>
            <a:xfrm rot="10800000" flipV="1">
              <a:off x="2300660" y="3685607"/>
              <a:ext cx="349425" cy="998938"/>
            </a:xfrm>
            <a:prstGeom prst="curvedConnector3">
              <a:avLst>
                <a:gd name="adj1" fmla="val 165422"/>
              </a:avLst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31">
              <a:extLst>
                <a:ext uri="{FF2B5EF4-FFF2-40B4-BE49-F238E27FC236}">
                  <a16:creationId xmlns:a16="http://schemas.microsoft.com/office/drawing/2014/main" id="{A42804B2-4AA2-0D7C-9743-C5EB47982E10}"/>
                </a:ext>
              </a:extLst>
            </p:cNvPr>
            <p:cNvCxnSpPr>
              <a:stCxn id="16" idx="4"/>
              <a:endCxn id="18" idx="7"/>
            </p:cNvCxnSpPr>
            <p:nvPr/>
          </p:nvCxnSpPr>
          <p:spPr>
            <a:xfrm rot="5400000">
              <a:off x="2345782" y="4094156"/>
              <a:ext cx="712852" cy="230925"/>
            </a:xfrm>
            <a:prstGeom prst="curvedConnector3">
              <a:avLst>
                <a:gd name="adj1" fmla="val 30046"/>
              </a:avLst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31">
              <a:extLst>
                <a:ext uri="{FF2B5EF4-FFF2-40B4-BE49-F238E27FC236}">
                  <a16:creationId xmlns:a16="http://schemas.microsoft.com/office/drawing/2014/main" id="{E8B3880D-B277-44DC-4643-FC182622C6A9}"/>
                </a:ext>
              </a:extLst>
            </p:cNvPr>
            <p:cNvCxnSpPr>
              <a:stCxn id="19" idx="4"/>
              <a:endCxn id="18" idx="6"/>
            </p:cNvCxnSpPr>
            <p:nvPr/>
          </p:nvCxnSpPr>
          <p:spPr>
            <a:xfrm rot="5400000">
              <a:off x="3267896" y="3607934"/>
              <a:ext cx="444545" cy="1708676"/>
            </a:xfrm>
            <a:prstGeom prst="curvedConnector2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31">
              <a:extLst>
                <a:ext uri="{FF2B5EF4-FFF2-40B4-BE49-F238E27FC236}">
                  <a16:creationId xmlns:a16="http://schemas.microsoft.com/office/drawing/2014/main" id="{9B1E8552-70ED-38A6-77B6-1ADC1811B623}"/>
                </a:ext>
              </a:extLst>
            </p:cNvPr>
            <p:cNvCxnSpPr>
              <a:stCxn id="16" idx="6"/>
              <a:endCxn id="19" idx="2"/>
            </p:cNvCxnSpPr>
            <p:nvPr/>
          </p:nvCxnSpPr>
          <p:spPr>
            <a:xfrm>
              <a:off x="2985255" y="3685607"/>
              <a:ext cx="1191665" cy="386808"/>
            </a:xfrm>
            <a:prstGeom prst="curvedConnector3">
              <a:avLst>
                <a:gd name="adj1" fmla="val 83251"/>
              </a:avLst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31">
              <a:extLst>
                <a:ext uri="{FF2B5EF4-FFF2-40B4-BE49-F238E27FC236}">
                  <a16:creationId xmlns:a16="http://schemas.microsoft.com/office/drawing/2014/main" id="{FC66A5C4-6062-55AB-A232-DF981CA75E7F}"/>
                </a:ext>
              </a:extLst>
            </p:cNvPr>
            <p:cNvCxnSpPr>
              <a:stCxn id="17" idx="6"/>
              <a:endCxn id="19" idx="1"/>
            </p:cNvCxnSpPr>
            <p:nvPr/>
          </p:nvCxnSpPr>
          <p:spPr>
            <a:xfrm>
              <a:off x="3460940" y="2825172"/>
              <a:ext cx="765065" cy="1128742"/>
            </a:xfrm>
            <a:prstGeom prst="curvedConnector2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6B93A463-01B3-868B-DAE2-760D66A109C3}"/>
              </a:ext>
            </a:extLst>
          </p:cNvPr>
          <p:cNvSpPr txBox="1"/>
          <p:nvPr/>
        </p:nvSpPr>
        <p:spPr>
          <a:xfrm>
            <a:off x="1222685" y="5512376"/>
            <a:ext cx="10388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The </a:t>
            </a:r>
            <a:r>
              <a:rPr lang="en-US" sz="2400" dirty="0" err="1"/>
              <a:t>Pregel</a:t>
            </a:r>
            <a:r>
              <a:rPr lang="en-US" sz="2400" dirty="0"/>
              <a:t> River runs through the city of </a:t>
            </a:r>
            <a:r>
              <a:rPr lang="en-US" sz="2400" dirty="0" err="1"/>
              <a:t>Koenigsberg</a:t>
            </a:r>
            <a:r>
              <a:rPr lang="en-US" sz="2400" dirty="0"/>
              <a:t>, creating 2 islands. Among these 2 islands and the 2 sides of the river, there are 7 bridges. Is there any path starting at one landmass which crosses each bridge exactly once?</a:t>
            </a:r>
          </a:p>
        </p:txBody>
      </p:sp>
      <p:pic>
        <p:nvPicPr>
          <p:cNvPr id="6" name="Picture 5" descr="Modern day Konigsberg (now called Kaliningrad)">
            <a:extLst>
              <a:ext uri="{FF2B5EF4-FFF2-40B4-BE49-F238E27FC236}">
                <a16:creationId xmlns:a16="http://schemas.microsoft.com/office/drawing/2014/main" id="{F08E104B-9899-4757-5A74-39CEA7BC10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5131" y="2603584"/>
            <a:ext cx="3181839" cy="2908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850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F345B-EBAA-56CC-975E-F162FB4E4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Euler Path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AF03A8-3AF4-5C58-FD6C-6468C1EF6B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Path:</a:t>
                </a:r>
              </a:p>
              <a:p>
                <a:pPr lvl="1"/>
                <a:r>
                  <a:rPr lang="en-US" dirty="0"/>
                  <a:t>A sequence of nodes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r>
                  <a:rPr lang="en-US" dirty="0"/>
                  <a:t> such that for every consecutive pair are connected by an edge (i.e.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an edge for each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in the path)</a:t>
                </a:r>
              </a:p>
              <a:p>
                <a:r>
                  <a:rPr lang="en-US" dirty="0"/>
                  <a:t>Euler Path:</a:t>
                </a:r>
              </a:p>
              <a:p>
                <a:pPr lvl="1"/>
                <a:r>
                  <a:rPr lang="en-US" dirty="0"/>
                  <a:t>A path such that every edge in the graph appears exactly once</a:t>
                </a:r>
              </a:p>
              <a:p>
                <a:pPr lvl="2"/>
                <a:r>
                  <a:rPr lang="en-US" dirty="0"/>
                  <a:t>If the graph is not simple then some pairs need to appear multiple times!</a:t>
                </a:r>
              </a:p>
              <a:p>
                <a:r>
                  <a:rPr lang="en-US" dirty="0"/>
                  <a:t>Euler path problem:</a:t>
                </a:r>
              </a:p>
              <a:p>
                <a:pPr lvl="1"/>
                <a:r>
                  <a:rPr lang="en-US" dirty="0"/>
                  <a:t>Given an undirected graph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does there exist an Euler path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AF03A8-3AF4-5C58-FD6C-6468C1EF6B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 descr="The non-simple graph of 18th century Koenigsberg:&#10;&#10;There are 4 nodes called A, B, C, and D. The edges are: (A,B), (A,B), (A,D), (A,C), (A,C), (B,D), (C,D)">
            <a:extLst>
              <a:ext uri="{FF2B5EF4-FFF2-40B4-BE49-F238E27FC236}">
                <a16:creationId xmlns:a16="http://schemas.microsoft.com/office/drawing/2014/main" id="{49F5035F-AB17-5AB2-FECA-8639CB4D7D35}"/>
              </a:ext>
            </a:extLst>
          </p:cNvPr>
          <p:cNvGrpSpPr/>
          <p:nvPr/>
        </p:nvGrpSpPr>
        <p:grpSpPr>
          <a:xfrm>
            <a:off x="9076635" y="215114"/>
            <a:ext cx="1902535" cy="1888006"/>
            <a:chOff x="2300659" y="2657586"/>
            <a:chExt cx="2211432" cy="2194544"/>
          </a:xfrm>
        </p:grpSpPr>
        <p:cxnSp>
          <p:nvCxnSpPr>
            <p:cNvPr id="5" name="Straight Connector 31">
              <a:extLst>
                <a:ext uri="{FF2B5EF4-FFF2-40B4-BE49-F238E27FC236}">
                  <a16:creationId xmlns:a16="http://schemas.microsoft.com/office/drawing/2014/main" id="{C402C537-C190-308F-8C8D-02FABFFC7DB3}"/>
                </a:ext>
              </a:extLst>
            </p:cNvPr>
            <p:cNvCxnSpPr>
              <a:stCxn id="6" idx="1"/>
              <a:endCxn id="7" idx="2"/>
            </p:cNvCxnSpPr>
            <p:nvPr/>
          </p:nvCxnSpPr>
          <p:spPr>
            <a:xfrm rot="5400000" flipH="1" flipV="1">
              <a:off x="2541502" y="2982839"/>
              <a:ext cx="741934" cy="426600"/>
            </a:xfrm>
            <a:prstGeom prst="curvedConnector2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049F57C-DF0A-E08E-20AC-3C13F52ACC91}"/>
                </a:ext>
              </a:extLst>
            </p:cNvPr>
            <p:cNvSpPr/>
            <p:nvPr/>
          </p:nvSpPr>
          <p:spPr>
            <a:xfrm>
              <a:off x="2650084" y="3518021"/>
              <a:ext cx="335171" cy="33517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922BC69-1AB9-6000-F047-3CDF8FC3BDA4}"/>
                </a:ext>
              </a:extLst>
            </p:cNvPr>
            <p:cNvSpPr/>
            <p:nvPr/>
          </p:nvSpPr>
          <p:spPr>
            <a:xfrm>
              <a:off x="3125769" y="2657586"/>
              <a:ext cx="335171" cy="33517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B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D34D002-4C6C-2B69-B8F0-8D4FD03FDFBC}"/>
                </a:ext>
              </a:extLst>
            </p:cNvPr>
            <p:cNvSpPr/>
            <p:nvPr/>
          </p:nvSpPr>
          <p:spPr>
            <a:xfrm>
              <a:off x="2300659" y="4516959"/>
              <a:ext cx="335171" cy="33517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AFC3C9D1-0601-89A2-BBAB-EAF8973FD46A}"/>
                </a:ext>
              </a:extLst>
            </p:cNvPr>
            <p:cNvSpPr/>
            <p:nvPr/>
          </p:nvSpPr>
          <p:spPr>
            <a:xfrm>
              <a:off x="4176920" y="3904829"/>
              <a:ext cx="335171" cy="33517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D</a:t>
              </a:r>
            </a:p>
          </p:txBody>
        </p:sp>
        <p:cxnSp>
          <p:nvCxnSpPr>
            <p:cNvPr id="10" name="Straight Connector 31">
              <a:extLst>
                <a:ext uri="{FF2B5EF4-FFF2-40B4-BE49-F238E27FC236}">
                  <a16:creationId xmlns:a16="http://schemas.microsoft.com/office/drawing/2014/main" id="{918BB811-B16F-C80A-B656-3AAC408AC78E}"/>
                </a:ext>
              </a:extLst>
            </p:cNvPr>
            <p:cNvCxnSpPr>
              <a:stCxn id="6" idx="7"/>
              <a:endCxn id="7" idx="5"/>
            </p:cNvCxnSpPr>
            <p:nvPr/>
          </p:nvCxnSpPr>
          <p:spPr>
            <a:xfrm rot="5400000" flipH="1" flipV="1">
              <a:off x="2862295" y="3017547"/>
              <a:ext cx="623434" cy="475685"/>
            </a:xfrm>
            <a:prstGeom prst="curvedConnector3">
              <a:avLst>
                <a:gd name="adj1" fmla="val 36962"/>
              </a:avLst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31">
              <a:extLst>
                <a:ext uri="{FF2B5EF4-FFF2-40B4-BE49-F238E27FC236}">
                  <a16:creationId xmlns:a16="http://schemas.microsoft.com/office/drawing/2014/main" id="{661F6920-06A9-D4A3-F2DA-3977BDFF6452}"/>
                </a:ext>
              </a:extLst>
            </p:cNvPr>
            <p:cNvCxnSpPr>
              <a:stCxn id="6" idx="2"/>
              <a:endCxn id="8" idx="2"/>
            </p:cNvCxnSpPr>
            <p:nvPr/>
          </p:nvCxnSpPr>
          <p:spPr>
            <a:xfrm rot="10800000" flipV="1">
              <a:off x="2300660" y="3685607"/>
              <a:ext cx="349425" cy="998938"/>
            </a:xfrm>
            <a:prstGeom prst="curvedConnector3">
              <a:avLst>
                <a:gd name="adj1" fmla="val 165422"/>
              </a:avLst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31">
              <a:extLst>
                <a:ext uri="{FF2B5EF4-FFF2-40B4-BE49-F238E27FC236}">
                  <a16:creationId xmlns:a16="http://schemas.microsoft.com/office/drawing/2014/main" id="{3873DE0A-0ED5-8B3C-3575-0D02566948D8}"/>
                </a:ext>
              </a:extLst>
            </p:cNvPr>
            <p:cNvCxnSpPr>
              <a:stCxn id="6" idx="4"/>
              <a:endCxn id="8" idx="7"/>
            </p:cNvCxnSpPr>
            <p:nvPr/>
          </p:nvCxnSpPr>
          <p:spPr>
            <a:xfrm rot="5400000">
              <a:off x="2345782" y="4094156"/>
              <a:ext cx="712852" cy="230925"/>
            </a:xfrm>
            <a:prstGeom prst="curvedConnector3">
              <a:avLst>
                <a:gd name="adj1" fmla="val 30046"/>
              </a:avLst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31">
              <a:extLst>
                <a:ext uri="{FF2B5EF4-FFF2-40B4-BE49-F238E27FC236}">
                  <a16:creationId xmlns:a16="http://schemas.microsoft.com/office/drawing/2014/main" id="{5AC37565-91BF-2439-5D80-530D7B3C47A7}"/>
                </a:ext>
              </a:extLst>
            </p:cNvPr>
            <p:cNvCxnSpPr>
              <a:stCxn id="9" idx="4"/>
              <a:endCxn id="8" idx="6"/>
            </p:cNvCxnSpPr>
            <p:nvPr/>
          </p:nvCxnSpPr>
          <p:spPr>
            <a:xfrm rot="5400000">
              <a:off x="3267896" y="3607934"/>
              <a:ext cx="444545" cy="1708676"/>
            </a:xfrm>
            <a:prstGeom prst="curvedConnector2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31">
              <a:extLst>
                <a:ext uri="{FF2B5EF4-FFF2-40B4-BE49-F238E27FC236}">
                  <a16:creationId xmlns:a16="http://schemas.microsoft.com/office/drawing/2014/main" id="{5734518B-3B5B-7632-761B-5646C0235BBD}"/>
                </a:ext>
              </a:extLst>
            </p:cNvPr>
            <p:cNvCxnSpPr>
              <a:stCxn id="6" idx="6"/>
              <a:endCxn id="9" idx="2"/>
            </p:cNvCxnSpPr>
            <p:nvPr/>
          </p:nvCxnSpPr>
          <p:spPr>
            <a:xfrm>
              <a:off x="2985255" y="3685607"/>
              <a:ext cx="1191665" cy="386808"/>
            </a:xfrm>
            <a:prstGeom prst="curvedConnector3">
              <a:avLst>
                <a:gd name="adj1" fmla="val 83251"/>
              </a:avLst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31">
              <a:extLst>
                <a:ext uri="{FF2B5EF4-FFF2-40B4-BE49-F238E27FC236}">
                  <a16:creationId xmlns:a16="http://schemas.microsoft.com/office/drawing/2014/main" id="{89C7BE86-B073-3921-2135-095DBFDD798C}"/>
                </a:ext>
              </a:extLst>
            </p:cNvPr>
            <p:cNvCxnSpPr>
              <a:stCxn id="7" idx="6"/>
              <a:endCxn id="9" idx="1"/>
            </p:cNvCxnSpPr>
            <p:nvPr/>
          </p:nvCxnSpPr>
          <p:spPr>
            <a:xfrm>
              <a:off x="3460940" y="2825172"/>
              <a:ext cx="765065" cy="1128742"/>
            </a:xfrm>
            <a:prstGeom prst="curvedConnector2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 descr="The graph of modern day Kaliningrad:&#10;&#10;There are 4 nodes called A, B, C, and D. The edges are: (A,B), (A,D), (A,C), (B,D), (C,D)">
            <a:extLst>
              <a:ext uri="{FF2B5EF4-FFF2-40B4-BE49-F238E27FC236}">
                <a16:creationId xmlns:a16="http://schemas.microsoft.com/office/drawing/2014/main" id="{0A5536BD-5E37-FE49-7D9E-224B97D09012}"/>
              </a:ext>
            </a:extLst>
          </p:cNvPr>
          <p:cNvGrpSpPr/>
          <p:nvPr/>
        </p:nvGrpSpPr>
        <p:grpSpPr>
          <a:xfrm>
            <a:off x="6078656" y="255511"/>
            <a:ext cx="1902535" cy="1888006"/>
            <a:chOff x="2300659" y="2657586"/>
            <a:chExt cx="2211432" cy="2194544"/>
          </a:xfrm>
        </p:grpSpPr>
        <p:cxnSp>
          <p:nvCxnSpPr>
            <p:cNvPr id="29" name="Straight Connector 31">
              <a:extLst>
                <a:ext uri="{FF2B5EF4-FFF2-40B4-BE49-F238E27FC236}">
                  <a16:creationId xmlns:a16="http://schemas.microsoft.com/office/drawing/2014/main" id="{61169B8B-F7E1-1453-5D88-7749A6B103DF}"/>
                </a:ext>
              </a:extLst>
            </p:cNvPr>
            <p:cNvCxnSpPr>
              <a:stCxn id="30" idx="1"/>
              <a:endCxn id="31" idx="2"/>
            </p:cNvCxnSpPr>
            <p:nvPr/>
          </p:nvCxnSpPr>
          <p:spPr>
            <a:xfrm rot="5400000" flipH="1" flipV="1">
              <a:off x="2541502" y="2982839"/>
              <a:ext cx="741934" cy="426600"/>
            </a:xfrm>
            <a:prstGeom prst="curvedConnector2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D9356F9B-A896-8A33-E12E-614774A64F5C}"/>
                </a:ext>
              </a:extLst>
            </p:cNvPr>
            <p:cNvSpPr/>
            <p:nvPr/>
          </p:nvSpPr>
          <p:spPr>
            <a:xfrm>
              <a:off x="2650084" y="3518021"/>
              <a:ext cx="335171" cy="33517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</a:t>
              </a: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6CEBEC72-E416-0633-E16A-87334EC82D2F}"/>
                </a:ext>
              </a:extLst>
            </p:cNvPr>
            <p:cNvSpPr/>
            <p:nvPr/>
          </p:nvSpPr>
          <p:spPr>
            <a:xfrm>
              <a:off x="3125769" y="2657586"/>
              <a:ext cx="335171" cy="33517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B</a:t>
              </a: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F0AABD59-4ED1-4AC8-8291-FF0532702115}"/>
                </a:ext>
              </a:extLst>
            </p:cNvPr>
            <p:cNvSpPr/>
            <p:nvPr/>
          </p:nvSpPr>
          <p:spPr>
            <a:xfrm>
              <a:off x="2300659" y="4516959"/>
              <a:ext cx="335171" cy="33517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</a:t>
              </a:r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1061C49F-FB80-CFE9-874F-A2753A9E2E0A}"/>
                </a:ext>
              </a:extLst>
            </p:cNvPr>
            <p:cNvSpPr/>
            <p:nvPr/>
          </p:nvSpPr>
          <p:spPr>
            <a:xfrm>
              <a:off x="4176920" y="3904829"/>
              <a:ext cx="335171" cy="33517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D</a:t>
              </a:r>
            </a:p>
          </p:txBody>
        </p:sp>
        <p:cxnSp>
          <p:nvCxnSpPr>
            <p:cNvPr id="35" name="Straight Connector 31">
              <a:extLst>
                <a:ext uri="{FF2B5EF4-FFF2-40B4-BE49-F238E27FC236}">
                  <a16:creationId xmlns:a16="http://schemas.microsoft.com/office/drawing/2014/main" id="{5F3086AD-DB54-5D46-AC90-12922E194F4C}"/>
                </a:ext>
              </a:extLst>
            </p:cNvPr>
            <p:cNvCxnSpPr>
              <a:stCxn id="30" idx="2"/>
              <a:endCxn id="32" idx="2"/>
            </p:cNvCxnSpPr>
            <p:nvPr/>
          </p:nvCxnSpPr>
          <p:spPr>
            <a:xfrm rot="10800000" flipV="1">
              <a:off x="2300660" y="3685607"/>
              <a:ext cx="349425" cy="998938"/>
            </a:xfrm>
            <a:prstGeom prst="curvedConnector3">
              <a:avLst>
                <a:gd name="adj1" fmla="val 165422"/>
              </a:avLst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1">
              <a:extLst>
                <a:ext uri="{FF2B5EF4-FFF2-40B4-BE49-F238E27FC236}">
                  <a16:creationId xmlns:a16="http://schemas.microsoft.com/office/drawing/2014/main" id="{03FA0350-BA32-B7D7-A4A4-6694DFB342CB}"/>
                </a:ext>
              </a:extLst>
            </p:cNvPr>
            <p:cNvCxnSpPr>
              <a:stCxn id="33" idx="4"/>
              <a:endCxn id="32" idx="6"/>
            </p:cNvCxnSpPr>
            <p:nvPr/>
          </p:nvCxnSpPr>
          <p:spPr>
            <a:xfrm rot="5400000">
              <a:off x="3267896" y="3607934"/>
              <a:ext cx="444545" cy="1708676"/>
            </a:xfrm>
            <a:prstGeom prst="curvedConnector2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1">
              <a:extLst>
                <a:ext uri="{FF2B5EF4-FFF2-40B4-BE49-F238E27FC236}">
                  <a16:creationId xmlns:a16="http://schemas.microsoft.com/office/drawing/2014/main" id="{0EC78CED-9457-6474-C123-61B695D035F3}"/>
                </a:ext>
              </a:extLst>
            </p:cNvPr>
            <p:cNvCxnSpPr>
              <a:stCxn id="30" idx="6"/>
              <a:endCxn id="33" idx="2"/>
            </p:cNvCxnSpPr>
            <p:nvPr/>
          </p:nvCxnSpPr>
          <p:spPr>
            <a:xfrm>
              <a:off x="2985255" y="3685607"/>
              <a:ext cx="1191665" cy="386808"/>
            </a:xfrm>
            <a:prstGeom prst="curvedConnector3">
              <a:avLst>
                <a:gd name="adj1" fmla="val 83251"/>
              </a:avLst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1">
              <a:extLst>
                <a:ext uri="{FF2B5EF4-FFF2-40B4-BE49-F238E27FC236}">
                  <a16:creationId xmlns:a16="http://schemas.microsoft.com/office/drawing/2014/main" id="{2F68682C-E3DA-721C-8555-704F5E928A24}"/>
                </a:ext>
              </a:extLst>
            </p:cNvPr>
            <p:cNvCxnSpPr>
              <a:stCxn id="31" idx="6"/>
              <a:endCxn id="33" idx="1"/>
            </p:cNvCxnSpPr>
            <p:nvPr/>
          </p:nvCxnSpPr>
          <p:spPr>
            <a:xfrm>
              <a:off x="3460940" y="2825172"/>
              <a:ext cx="765065" cy="1128742"/>
            </a:xfrm>
            <a:prstGeom prst="curvedConnector2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16660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23696-9663-4C88-8A45-C230375C17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Euler Path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27524E-DFA9-E84A-D40A-C95E8179BF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Which of the graphs below have an Euler path?</a:t>
            </a:r>
          </a:p>
          <a:p>
            <a:endParaRPr lang="en-US" dirty="0"/>
          </a:p>
        </p:txBody>
      </p:sp>
      <p:grpSp>
        <p:nvGrpSpPr>
          <p:cNvPr id="41" name="Group 40" descr="The non-simple graph of 18th century Koenigsberg:&#10;&#10;There are 4 nodes called A, B, C, and D. The edges are: (A,B), (A,B), (A,D), (A,C), (A,C), (B,D), (C,D)&#10;&#10;This graph does not have an Euler path">
            <a:extLst>
              <a:ext uri="{FF2B5EF4-FFF2-40B4-BE49-F238E27FC236}">
                <a16:creationId xmlns:a16="http://schemas.microsoft.com/office/drawing/2014/main" id="{6CAB3905-9AF3-B79D-5786-923F2A53427C}"/>
              </a:ext>
            </a:extLst>
          </p:cNvPr>
          <p:cNvGrpSpPr/>
          <p:nvPr/>
        </p:nvGrpSpPr>
        <p:grpSpPr>
          <a:xfrm>
            <a:off x="260284" y="2861621"/>
            <a:ext cx="2330129" cy="2603233"/>
            <a:chOff x="260284" y="2861621"/>
            <a:chExt cx="2330129" cy="260323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001E6626-D84B-70F7-F3E6-2E3269D24061}"/>
                </a:ext>
              </a:extLst>
            </p:cNvPr>
            <p:cNvGrpSpPr/>
            <p:nvPr/>
          </p:nvGrpSpPr>
          <p:grpSpPr>
            <a:xfrm>
              <a:off x="687878" y="2861621"/>
              <a:ext cx="1902535" cy="1888006"/>
              <a:chOff x="2300659" y="2657586"/>
              <a:chExt cx="2211432" cy="2194544"/>
            </a:xfrm>
          </p:grpSpPr>
          <p:cxnSp>
            <p:nvCxnSpPr>
              <p:cNvPr id="5" name="Straight Connector 31">
                <a:extLst>
                  <a:ext uri="{FF2B5EF4-FFF2-40B4-BE49-F238E27FC236}">
                    <a16:creationId xmlns:a16="http://schemas.microsoft.com/office/drawing/2014/main" id="{4B52B72C-BD32-D08D-648F-042151C04FC0}"/>
                  </a:ext>
                </a:extLst>
              </p:cNvPr>
              <p:cNvCxnSpPr>
                <a:stCxn id="6" idx="1"/>
                <a:endCxn id="7" idx="2"/>
              </p:cNvCxnSpPr>
              <p:nvPr/>
            </p:nvCxnSpPr>
            <p:spPr>
              <a:xfrm rot="5400000" flipH="1" flipV="1">
                <a:off x="2541502" y="2982839"/>
                <a:ext cx="741934" cy="426600"/>
              </a:xfrm>
              <a:prstGeom prst="curvedConnector2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66FBDFB3-BA6A-7501-343B-4EB7B7A75953}"/>
                  </a:ext>
                </a:extLst>
              </p:cNvPr>
              <p:cNvSpPr/>
              <p:nvPr/>
            </p:nvSpPr>
            <p:spPr>
              <a:xfrm>
                <a:off x="2650084" y="3518021"/>
                <a:ext cx="335171" cy="33517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A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E97B786F-DD92-C92C-D4CB-66B0E4AA0DB2}"/>
                  </a:ext>
                </a:extLst>
              </p:cNvPr>
              <p:cNvSpPr/>
              <p:nvPr/>
            </p:nvSpPr>
            <p:spPr>
              <a:xfrm>
                <a:off x="3125769" y="2657586"/>
                <a:ext cx="335171" cy="33517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B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F9E637E9-6060-CFD9-9204-9004C36C025B}"/>
                  </a:ext>
                </a:extLst>
              </p:cNvPr>
              <p:cNvSpPr/>
              <p:nvPr/>
            </p:nvSpPr>
            <p:spPr>
              <a:xfrm>
                <a:off x="2300659" y="4516959"/>
                <a:ext cx="335171" cy="33517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23AD370-B8A3-F220-9993-E993C949F64C}"/>
                  </a:ext>
                </a:extLst>
              </p:cNvPr>
              <p:cNvSpPr/>
              <p:nvPr/>
            </p:nvSpPr>
            <p:spPr>
              <a:xfrm>
                <a:off x="4176920" y="3904829"/>
                <a:ext cx="335171" cy="33517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D</a:t>
                </a:r>
              </a:p>
            </p:txBody>
          </p:sp>
          <p:cxnSp>
            <p:nvCxnSpPr>
              <p:cNvPr id="10" name="Straight Connector 31">
                <a:extLst>
                  <a:ext uri="{FF2B5EF4-FFF2-40B4-BE49-F238E27FC236}">
                    <a16:creationId xmlns:a16="http://schemas.microsoft.com/office/drawing/2014/main" id="{C9619BE9-6BD2-BDC9-3B50-F4CD8E31356B}"/>
                  </a:ext>
                </a:extLst>
              </p:cNvPr>
              <p:cNvCxnSpPr>
                <a:stCxn id="6" idx="7"/>
                <a:endCxn id="7" idx="5"/>
              </p:cNvCxnSpPr>
              <p:nvPr/>
            </p:nvCxnSpPr>
            <p:spPr>
              <a:xfrm rot="5400000" flipH="1" flipV="1">
                <a:off x="2862295" y="3017547"/>
                <a:ext cx="623434" cy="475685"/>
              </a:xfrm>
              <a:prstGeom prst="curvedConnector3">
                <a:avLst>
                  <a:gd name="adj1" fmla="val 36962"/>
                </a:avLst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31">
                <a:extLst>
                  <a:ext uri="{FF2B5EF4-FFF2-40B4-BE49-F238E27FC236}">
                    <a16:creationId xmlns:a16="http://schemas.microsoft.com/office/drawing/2014/main" id="{A31F4C12-4E92-76F9-CDF4-BC2A56F599E5}"/>
                  </a:ext>
                </a:extLst>
              </p:cNvPr>
              <p:cNvCxnSpPr>
                <a:stCxn id="6" idx="2"/>
                <a:endCxn id="8" idx="2"/>
              </p:cNvCxnSpPr>
              <p:nvPr/>
            </p:nvCxnSpPr>
            <p:spPr>
              <a:xfrm rot="10800000" flipV="1">
                <a:off x="2300660" y="3685607"/>
                <a:ext cx="349425" cy="998938"/>
              </a:xfrm>
              <a:prstGeom prst="curvedConnector3">
                <a:avLst>
                  <a:gd name="adj1" fmla="val 165422"/>
                </a:avLst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31">
                <a:extLst>
                  <a:ext uri="{FF2B5EF4-FFF2-40B4-BE49-F238E27FC236}">
                    <a16:creationId xmlns:a16="http://schemas.microsoft.com/office/drawing/2014/main" id="{07F137FA-A9B5-C0CB-5365-7E14F7871361}"/>
                  </a:ext>
                </a:extLst>
              </p:cNvPr>
              <p:cNvCxnSpPr>
                <a:stCxn id="6" idx="4"/>
                <a:endCxn id="8" idx="7"/>
              </p:cNvCxnSpPr>
              <p:nvPr/>
            </p:nvCxnSpPr>
            <p:spPr>
              <a:xfrm rot="5400000">
                <a:off x="2345782" y="4094156"/>
                <a:ext cx="712852" cy="230925"/>
              </a:xfrm>
              <a:prstGeom prst="curvedConnector3">
                <a:avLst>
                  <a:gd name="adj1" fmla="val 30046"/>
                </a:avLst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31">
                <a:extLst>
                  <a:ext uri="{FF2B5EF4-FFF2-40B4-BE49-F238E27FC236}">
                    <a16:creationId xmlns:a16="http://schemas.microsoft.com/office/drawing/2014/main" id="{AF2361F3-8ED4-279E-21B3-5861661D5AC4}"/>
                  </a:ext>
                </a:extLst>
              </p:cNvPr>
              <p:cNvCxnSpPr>
                <a:stCxn id="9" idx="4"/>
                <a:endCxn id="8" idx="6"/>
              </p:cNvCxnSpPr>
              <p:nvPr/>
            </p:nvCxnSpPr>
            <p:spPr>
              <a:xfrm rot="5400000">
                <a:off x="3267896" y="3607934"/>
                <a:ext cx="444545" cy="1708676"/>
              </a:xfrm>
              <a:prstGeom prst="curvedConnector2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31">
                <a:extLst>
                  <a:ext uri="{FF2B5EF4-FFF2-40B4-BE49-F238E27FC236}">
                    <a16:creationId xmlns:a16="http://schemas.microsoft.com/office/drawing/2014/main" id="{C469F8A0-EA3F-3A37-FA54-1C6541C8303F}"/>
                  </a:ext>
                </a:extLst>
              </p:cNvPr>
              <p:cNvCxnSpPr>
                <a:stCxn id="6" idx="6"/>
                <a:endCxn id="9" idx="2"/>
              </p:cNvCxnSpPr>
              <p:nvPr/>
            </p:nvCxnSpPr>
            <p:spPr>
              <a:xfrm>
                <a:off x="2985255" y="3685607"/>
                <a:ext cx="1191665" cy="386808"/>
              </a:xfrm>
              <a:prstGeom prst="curvedConnector3">
                <a:avLst>
                  <a:gd name="adj1" fmla="val 83251"/>
                </a:avLst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31">
                <a:extLst>
                  <a:ext uri="{FF2B5EF4-FFF2-40B4-BE49-F238E27FC236}">
                    <a16:creationId xmlns:a16="http://schemas.microsoft.com/office/drawing/2014/main" id="{B31FC503-F507-8972-B12E-E47B58AAED43}"/>
                  </a:ext>
                </a:extLst>
              </p:cNvPr>
              <p:cNvCxnSpPr>
                <a:stCxn id="7" idx="6"/>
                <a:endCxn id="9" idx="1"/>
              </p:cNvCxnSpPr>
              <p:nvPr/>
            </p:nvCxnSpPr>
            <p:spPr>
              <a:xfrm>
                <a:off x="3460940" y="2825172"/>
                <a:ext cx="765065" cy="1128742"/>
              </a:xfrm>
              <a:prstGeom prst="curvedConnector2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B06A79B-E2A0-B931-B3CC-6192839E1FB7}"/>
                </a:ext>
              </a:extLst>
            </p:cNvPr>
            <p:cNvSpPr txBox="1"/>
            <p:nvPr/>
          </p:nvSpPr>
          <p:spPr>
            <a:xfrm>
              <a:off x="260284" y="5095522"/>
              <a:ext cx="21193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No Euler path exists!</a:t>
              </a:r>
            </a:p>
          </p:txBody>
        </p:sp>
      </p:grpSp>
      <p:grpSp>
        <p:nvGrpSpPr>
          <p:cNvPr id="42" name="Group 41" descr="The graph of modern day Kaliningrad:&#10;&#10;There are 4 nodes called A, B, C, and D. The edges are: (A,B), (A,D), (A,C), (B,D), (C,D)&#10;&#10;The path A,B,D,A,C,D is an Euler path">
            <a:extLst>
              <a:ext uri="{FF2B5EF4-FFF2-40B4-BE49-F238E27FC236}">
                <a16:creationId xmlns:a16="http://schemas.microsoft.com/office/drawing/2014/main" id="{C1581F5B-0BD3-FE74-C25F-53F16A0BA9B4}"/>
              </a:ext>
            </a:extLst>
          </p:cNvPr>
          <p:cNvGrpSpPr/>
          <p:nvPr/>
        </p:nvGrpSpPr>
        <p:grpSpPr>
          <a:xfrm>
            <a:off x="3590060" y="2814586"/>
            <a:ext cx="2982096" cy="2673506"/>
            <a:chOff x="3590060" y="2814586"/>
            <a:chExt cx="2982096" cy="2673506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5307A9D-64B0-EBF1-1D68-87297E97E1D3}"/>
                </a:ext>
              </a:extLst>
            </p:cNvPr>
            <p:cNvGrpSpPr/>
            <p:nvPr/>
          </p:nvGrpSpPr>
          <p:grpSpPr>
            <a:xfrm>
              <a:off x="4371251" y="2814586"/>
              <a:ext cx="1902535" cy="1888006"/>
              <a:chOff x="2300659" y="2657586"/>
              <a:chExt cx="2211432" cy="2194544"/>
            </a:xfrm>
          </p:grpSpPr>
          <p:cxnSp>
            <p:nvCxnSpPr>
              <p:cNvPr id="17" name="Straight Connector 31">
                <a:extLst>
                  <a:ext uri="{FF2B5EF4-FFF2-40B4-BE49-F238E27FC236}">
                    <a16:creationId xmlns:a16="http://schemas.microsoft.com/office/drawing/2014/main" id="{8C5D05FE-BCF8-9D67-B3F0-D52D1CA46FEA}"/>
                  </a:ext>
                </a:extLst>
              </p:cNvPr>
              <p:cNvCxnSpPr>
                <a:stCxn id="18" idx="1"/>
                <a:endCxn id="19" idx="2"/>
              </p:cNvCxnSpPr>
              <p:nvPr/>
            </p:nvCxnSpPr>
            <p:spPr>
              <a:xfrm rot="5400000" flipH="1" flipV="1">
                <a:off x="2541502" y="2982839"/>
                <a:ext cx="741934" cy="426600"/>
              </a:xfrm>
              <a:prstGeom prst="curvedConnector2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DB52E792-AB0B-1DA9-C2AA-476BD137536B}"/>
                  </a:ext>
                </a:extLst>
              </p:cNvPr>
              <p:cNvSpPr/>
              <p:nvPr/>
            </p:nvSpPr>
            <p:spPr>
              <a:xfrm>
                <a:off x="2650084" y="3518021"/>
                <a:ext cx="335171" cy="33517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A</a:t>
                </a: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127C18A1-9457-E912-A5E8-E6EAFACB8C57}"/>
                  </a:ext>
                </a:extLst>
              </p:cNvPr>
              <p:cNvSpPr/>
              <p:nvPr/>
            </p:nvSpPr>
            <p:spPr>
              <a:xfrm>
                <a:off x="3125769" y="2657586"/>
                <a:ext cx="335171" cy="33517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B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45D92697-B02C-2972-BABD-92A5B590BB51}"/>
                  </a:ext>
                </a:extLst>
              </p:cNvPr>
              <p:cNvSpPr/>
              <p:nvPr/>
            </p:nvSpPr>
            <p:spPr>
              <a:xfrm>
                <a:off x="2300659" y="4516959"/>
                <a:ext cx="335171" cy="33517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54F136F6-B099-6A05-EAD1-01A6F159402C}"/>
                  </a:ext>
                </a:extLst>
              </p:cNvPr>
              <p:cNvSpPr/>
              <p:nvPr/>
            </p:nvSpPr>
            <p:spPr>
              <a:xfrm>
                <a:off x="4176920" y="3904829"/>
                <a:ext cx="335171" cy="33517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D</a:t>
                </a:r>
              </a:p>
            </p:txBody>
          </p:sp>
          <p:cxnSp>
            <p:nvCxnSpPr>
              <p:cNvPr id="22" name="Straight Connector 31">
                <a:extLst>
                  <a:ext uri="{FF2B5EF4-FFF2-40B4-BE49-F238E27FC236}">
                    <a16:creationId xmlns:a16="http://schemas.microsoft.com/office/drawing/2014/main" id="{50C07178-0BBD-6C40-C2FE-1BB3F4862667}"/>
                  </a:ext>
                </a:extLst>
              </p:cNvPr>
              <p:cNvCxnSpPr>
                <a:stCxn id="18" idx="2"/>
                <a:endCxn id="20" idx="2"/>
              </p:cNvCxnSpPr>
              <p:nvPr/>
            </p:nvCxnSpPr>
            <p:spPr>
              <a:xfrm rot="10800000" flipV="1">
                <a:off x="2300660" y="3685607"/>
                <a:ext cx="349425" cy="998938"/>
              </a:xfrm>
              <a:prstGeom prst="curvedConnector3">
                <a:avLst>
                  <a:gd name="adj1" fmla="val 165422"/>
                </a:avLst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31">
                <a:extLst>
                  <a:ext uri="{FF2B5EF4-FFF2-40B4-BE49-F238E27FC236}">
                    <a16:creationId xmlns:a16="http://schemas.microsoft.com/office/drawing/2014/main" id="{D9258FDE-A522-7743-6E14-071C8CD9A3F7}"/>
                  </a:ext>
                </a:extLst>
              </p:cNvPr>
              <p:cNvCxnSpPr>
                <a:stCxn id="21" idx="4"/>
                <a:endCxn id="20" idx="6"/>
              </p:cNvCxnSpPr>
              <p:nvPr/>
            </p:nvCxnSpPr>
            <p:spPr>
              <a:xfrm rot="5400000">
                <a:off x="3267896" y="3607934"/>
                <a:ext cx="444545" cy="1708676"/>
              </a:xfrm>
              <a:prstGeom prst="curvedConnector2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31">
                <a:extLst>
                  <a:ext uri="{FF2B5EF4-FFF2-40B4-BE49-F238E27FC236}">
                    <a16:creationId xmlns:a16="http://schemas.microsoft.com/office/drawing/2014/main" id="{8D3D3646-FFCD-C1E6-A0DD-A1312878F7B3}"/>
                  </a:ext>
                </a:extLst>
              </p:cNvPr>
              <p:cNvCxnSpPr>
                <a:stCxn id="18" idx="6"/>
                <a:endCxn id="21" idx="2"/>
              </p:cNvCxnSpPr>
              <p:nvPr/>
            </p:nvCxnSpPr>
            <p:spPr>
              <a:xfrm>
                <a:off x="2985255" y="3685607"/>
                <a:ext cx="1191665" cy="386808"/>
              </a:xfrm>
              <a:prstGeom prst="curvedConnector3">
                <a:avLst>
                  <a:gd name="adj1" fmla="val 83251"/>
                </a:avLst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31">
                <a:extLst>
                  <a:ext uri="{FF2B5EF4-FFF2-40B4-BE49-F238E27FC236}">
                    <a16:creationId xmlns:a16="http://schemas.microsoft.com/office/drawing/2014/main" id="{DFA24B4F-DBC7-7C84-3B22-8B08A059CECE}"/>
                  </a:ext>
                </a:extLst>
              </p:cNvPr>
              <p:cNvCxnSpPr>
                <a:stCxn id="19" idx="6"/>
                <a:endCxn id="21" idx="1"/>
              </p:cNvCxnSpPr>
              <p:nvPr/>
            </p:nvCxnSpPr>
            <p:spPr>
              <a:xfrm>
                <a:off x="3460940" y="2825172"/>
                <a:ext cx="765065" cy="1128742"/>
              </a:xfrm>
              <a:prstGeom prst="curvedConnector2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BC160167-8F33-684E-DD9F-2B5144C11443}"/>
                    </a:ext>
                  </a:extLst>
                </p:cNvPr>
                <p:cNvSpPr txBox="1"/>
                <p:nvPr/>
              </p:nvSpPr>
              <p:spPr>
                <a:xfrm>
                  <a:off x="3590060" y="4841761"/>
                  <a:ext cx="2982096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Euler path exists!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BC160167-8F33-684E-DD9F-2B5144C114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0060" y="4841761"/>
                  <a:ext cx="2982096" cy="646331"/>
                </a:xfrm>
                <a:prstGeom prst="rect">
                  <a:avLst/>
                </a:prstGeom>
                <a:blipFill>
                  <a:blip r:embed="rId2"/>
                  <a:stretch>
                    <a:fillRect t="-47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3" name="Group 42" descr="A graph with 4 nodes: A,B,C,D&#10;&#10;The edges are:&#10;(A,B), (A,C), (A,D), (B,C), (B,C), (B,D), (C,D)&#10;&#10;The path A,B,C,D,A,C,B,D  is an Euler path.">
            <a:extLst>
              <a:ext uri="{FF2B5EF4-FFF2-40B4-BE49-F238E27FC236}">
                <a16:creationId xmlns:a16="http://schemas.microsoft.com/office/drawing/2014/main" id="{08748C9D-4801-FA4B-8EE8-2A5418A4A01C}"/>
              </a:ext>
            </a:extLst>
          </p:cNvPr>
          <p:cNvGrpSpPr/>
          <p:nvPr/>
        </p:nvGrpSpPr>
        <p:grpSpPr>
          <a:xfrm>
            <a:off x="7342376" y="2861621"/>
            <a:ext cx="4740654" cy="2970235"/>
            <a:chOff x="7342376" y="2861621"/>
            <a:chExt cx="4740654" cy="2970235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0AD3484D-0DA1-E36D-C820-3C7529595F03}"/>
                </a:ext>
              </a:extLst>
            </p:cNvPr>
            <p:cNvGrpSpPr/>
            <p:nvPr/>
          </p:nvGrpSpPr>
          <p:grpSpPr>
            <a:xfrm>
              <a:off x="8632102" y="2861621"/>
              <a:ext cx="2196780" cy="1573092"/>
              <a:chOff x="1491734" y="4591520"/>
              <a:chExt cx="2196780" cy="1573092"/>
            </a:xfrm>
          </p:grpSpPr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B18934E4-D133-D4FE-DFF7-055F2481BE2A}"/>
                  </a:ext>
                </a:extLst>
              </p:cNvPr>
              <p:cNvSpPr/>
              <p:nvPr/>
            </p:nvSpPr>
            <p:spPr>
              <a:xfrm>
                <a:off x="1688957" y="5802250"/>
                <a:ext cx="335171" cy="33517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A</a:t>
                </a: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1F760B83-7489-AB12-8021-D976C9401C2B}"/>
                  </a:ext>
                </a:extLst>
              </p:cNvPr>
              <p:cNvSpPr/>
              <p:nvPr/>
            </p:nvSpPr>
            <p:spPr>
              <a:xfrm>
                <a:off x="1491735" y="4759106"/>
                <a:ext cx="335171" cy="33517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B</a:t>
                </a: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39D869B8-C0EB-093D-D90D-35B41A6BAA3C}"/>
                  </a:ext>
                </a:extLst>
              </p:cNvPr>
              <p:cNvSpPr/>
              <p:nvPr/>
            </p:nvSpPr>
            <p:spPr>
              <a:xfrm>
                <a:off x="3317765" y="5829441"/>
                <a:ext cx="335171" cy="33517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</a:t>
                </a: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24F2CC38-120C-7C72-7151-96C917C85D11}"/>
                  </a:ext>
                </a:extLst>
              </p:cNvPr>
              <p:cNvSpPr/>
              <p:nvPr/>
            </p:nvSpPr>
            <p:spPr>
              <a:xfrm>
                <a:off x="3353343" y="4591520"/>
                <a:ext cx="335171" cy="33517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D</a:t>
                </a:r>
              </a:p>
            </p:txBody>
          </p:sp>
          <p:cxnSp>
            <p:nvCxnSpPr>
              <p:cNvPr id="33" name="Straight Connector 31">
                <a:extLst>
                  <a:ext uri="{FF2B5EF4-FFF2-40B4-BE49-F238E27FC236}">
                    <a16:creationId xmlns:a16="http://schemas.microsoft.com/office/drawing/2014/main" id="{7A2480E1-1CD3-8786-FCDE-478D9318C4A3}"/>
                  </a:ext>
                </a:extLst>
              </p:cNvPr>
              <p:cNvCxnSpPr>
                <a:stCxn id="30" idx="2"/>
                <a:endCxn id="31" idx="3"/>
              </p:cNvCxnSpPr>
              <p:nvPr/>
            </p:nvCxnSpPr>
            <p:spPr>
              <a:xfrm rot="10800000" flipH="1" flipV="1">
                <a:off x="1491734" y="4926691"/>
                <a:ext cx="1875115" cy="1188835"/>
              </a:xfrm>
              <a:prstGeom prst="curvedConnector4">
                <a:avLst>
                  <a:gd name="adj1" fmla="val -18917"/>
                  <a:gd name="adj2" fmla="val 139272"/>
                </a:avLst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1">
                <a:extLst>
                  <a:ext uri="{FF2B5EF4-FFF2-40B4-BE49-F238E27FC236}">
                    <a16:creationId xmlns:a16="http://schemas.microsoft.com/office/drawing/2014/main" id="{FE4522B8-0339-9392-225F-7F8E3B255246}"/>
                  </a:ext>
                </a:extLst>
              </p:cNvPr>
              <p:cNvCxnSpPr>
                <a:stCxn id="30" idx="6"/>
                <a:endCxn id="32" idx="2"/>
              </p:cNvCxnSpPr>
              <p:nvPr/>
            </p:nvCxnSpPr>
            <p:spPr>
              <a:xfrm flipV="1">
                <a:off x="1826906" y="4759106"/>
                <a:ext cx="1526437" cy="167586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1">
                <a:extLst>
                  <a:ext uri="{FF2B5EF4-FFF2-40B4-BE49-F238E27FC236}">
                    <a16:creationId xmlns:a16="http://schemas.microsoft.com/office/drawing/2014/main" id="{C53A77EC-6658-1C01-BC64-8351559E06F7}"/>
                  </a:ext>
                </a:extLst>
              </p:cNvPr>
              <p:cNvCxnSpPr>
                <a:stCxn id="30" idx="4"/>
                <a:endCxn id="29" idx="0"/>
              </p:cNvCxnSpPr>
              <p:nvPr/>
            </p:nvCxnSpPr>
            <p:spPr>
              <a:xfrm>
                <a:off x="1659321" y="5094277"/>
                <a:ext cx="197222" cy="707973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1">
                <a:extLst>
                  <a:ext uri="{FF2B5EF4-FFF2-40B4-BE49-F238E27FC236}">
                    <a16:creationId xmlns:a16="http://schemas.microsoft.com/office/drawing/2014/main" id="{874F54AF-2B2F-4AF8-6B88-0B5B46EBA3E1}"/>
                  </a:ext>
                </a:extLst>
              </p:cNvPr>
              <p:cNvCxnSpPr>
                <a:stCxn id="30" idx="5"/>
                <a:endCxn id="31" idx="1"/>
              </p:cNvCxnSpPr>
              <p:nvPr/>
            </p:nvCxnSpPr>
            <p:spPr>
              <a:xfrm>
                <a:off x="1777821" y="5045192"/>
                <a:ext cx="1589029" cy="833334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1">
                <a:extLst>
                  <a:ext uri="{FF2B5EF4-FFF2-40B4-BE49-F238E27FC236}">
                    <a16:creationId xmlns:a16="http://schemas.microsoft.com/office/drawing/2014/main" id="{148A632C-297F-CA7D-7CBE-67360335C8F9}"/>
                  </a:ext>
                </a:extLst>
              </p:cNvPr>
              <p:cNvCxnSpPr>
                <a:stCxn id="29" idx="7"/>
                <a:endCxn id="32" idx="3"/>
              </p:cNvCxnSpPr>
              <p:nvPr/>
            </p:nvCxnSpPr>
            <p:spPr>
              <a:xfrm flipV="1">
                <a:off x="1975043" y="4877606"/>
                <a:ext cx="1427385" cy="973729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1">
                <a:extLst>
                  <a:ext uri="{FF2B5EF4-FFF2-40B4-BE49-F238E27FC236}">
                    <a16:creationId xmlns:a16="http://schemas.microsoft.com/office/drawing/2014/main" id="{E0835718-7179-5EB8-19D5-FCE6DC59E55F}"/>
                  </a:ext>
                </a:extLst>
              </p:cNvPr>
              <p:cNvCxnSpPr>
                <a:stCxn id="29" idx="6"/>
                <a:endCxn id="31" idx="2"/>
              </p:cNvCxnSpPr>
              <p:nvPr/>
            </p:nvCxnSpPr>
            <p:spPr>
              <a:xfrm>
                <a:off x="2024128" y="5969836"/>
                <a:ext cx="1293637" cy="27191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1">
                <a:extLst>
                  <a:ext uri="{FF2B5EF4-FFF2-40B4-BE49-F238E27FC236}">
                    <a16:creationId xmlns:a16="http://schemas.microsoft.com/office/drawing/2014/main" id="{BED3FAFD-9F58-8A2D-2DAA-41F906D8F227}"/>
                  </a:ext>
                </a:extLst>
              </p:cNvPr>
              <p:cNvCxnSpPr>
                <a:stCxn id="32" idx="4"/>
                <a:endCxn id="31" idx="0"/>
              </p:cNvCxnSpPr>
              <p:nvPr/>
            </p:nvCxnSpPr>
            <p:spPr>
              <a:xfrm flipH="1">
                <a:off x="3485351" y="4926691"/>
                <a:ext cx="35578" cy="90275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72D120CC-5BC4-19F4-B76C-64978943DB0C}"/>
                    </a:ext>
                  </a:extLst>
                </p:cNvPr>
                <p:cNvSpPr txBox="1"/>
                <p:nvPr/>
              </p:nvSpPr>
              <p:spPr>
                <a:xfrm>
                  <a:off x="7342376" y="5185525"/>
                  <a:ext cx="4740654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Euler path exists!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72D120CC-5BC4-19F4-B76C-64978943DB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42376" y="5185525"/>
                  <a:ext cx="4740654" cy="646331"/>
                </a:xfrm>
                <a:prstGeom prst="rect">
                  <a:avLst/>
                </a:prstGeom>
                <a:blipFill>
                  <a:blip r:embed="rId3"/>
                  <a:stretch>
                    <a:fillRect t="-566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622357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5DD05-5FA8-C6FE-F54B-83FE42DE0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Euler’s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F6E739-C9E6-5822-4CDE-AA3C8E9D8D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graph has an Euler Path if and only if it is connected and has exactly 0 or 2 nodes with odd degree.</a:t>
            </a:r>
          </a:p>
        </p:txBody>
      </p:sp>
      <p:grpSp>
        <p:nvGrpSpPr>
          <p:cNvPr id="38" name="Group 37" descr="The non-simple graph of 18th century Koenigsberg:&#10;&#10;There are 4 nodes called A, B, C, and D. The edges are: (A,B), (A,B), (A,D), (A,C), (A,C), (B,D), (C,D)&#10;&#10;This graph does not have an Euler path">
            <a:extLst>
              <a:ext uri="{FF2B5EF4-FFF2-40B4-BE49-F238E27FC236}">
                <a16:creationId xmlns:a16="http://schemas.microsoft.com/office/drawing/2014/main" id="{05036DFC-4D51-92F5-0153-310140F1CDFD}"/>
              </a:ext>
            </a:extLst>
          </p:cNvPr>
          <p:cNvGrpSpPr/>
          <p:nvPr/>
        </p:nvGrpSpPr>
        <p:grpSpPr>
          <a:xfrm>
            <a:off x="260284" y="2861621"/>
            <a:ext cx="2330129" cy="2603233"/>
            <a:chOff x="260284" y="2861621"/>
            <a:chExt cx="2330129" cy="2603233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3D287208-9FEB-7216-F4F2-21FC446C24F8}"/>
                </a:ext>
              </a:extLst>
            </p:cNvPr>
            <p:cNvGrpSpPr/>
            <p:nvPr/>
          </p:nvGrpSpPr>
          <p:grpSpPr>
            <a:xfrm>
              <a:off x="687878" y="2861621"/>
              <a:ext cx="1902535" cy="1888006"/>
              <a:chOff x="2300659" y="2657586"/>
              <a:chExt cx="2211432" cy="2194544"/>
            </a:xfrm>
          </p:grpSpPr>
          <p:cxnSp>
            <p:nvCxnSpPr>
              <p:cNvPr id="41" name="Straight Connector 31">
                <a:extLst>
                  <a:ext uri="{FF2B5EF4-FFF2-40B4-BE49-F238E27FC236}">
                    <a16:creationId xmlns:a16="http://schemas.microsoft.com/office/drawing/2014/main" id="{6091B511-D11C-6FE2-C5B8-4BDF0B57A4FB}"/>
                  </a:ext>
                </a:extLst>
              </p:cNvPr>
              <p:cNvCxnSpPr>
                <a:stCxn id="42" idx="1"/>
                <a:endCxn id="43" idx="2"/>
              </p:cNvCxnSpPr>
              <p:nvPr/>
            </p:nvCxnSpPr>
            <p:spPr>
              <a:xfrm rot="5400000" flipH="1" flipV="1">
                <a:off x="2541502" y="2982839"/>
                <a:ext cx="741934" cy="426600"/>
              </a:xfrm>
              <a:prstGeom prst="curvedConnector2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844B3C60-1561-FA6D-5D99-D7FB3BDC83F8}"/>
                  </a:ext>
                </a:extLst>
              </p:cNvPr>
              <p:cNvSpPr/>
              <p:nvPr/>
            </p:nvSpPr>
            <p:spPr>
              <a:xfrm>
                <a:off x="2650084" y="3518021"/>
                <a:ext cx="335171" cy="33517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A</a:t>
                </a:r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83FB63D2-D14D-F21F-6D22-0D4F542F9B41}"/>
                  </a:ext>
                </a:extLst>
              </p:cNvPr>
              <p:cNvSpPr/>
              <p:nvPr/>
            </p:nvSpPr>
            <p:spPr>
              <a:xfrm>
                <a:off x="3125769" y="2657586"/>
                <a:ext cx="335171" cy="33517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B</a:t>
                </a:r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24F2FF4F-78B6-13BF-9755-143453861F1A}"/>
                  </a:ext>
                </a:extLst>
              </p:cNvPr>
              <p:cNvSpPr/>
              <p:nvPr/>
            </p:nvSpPr>
            <p:spPr>
              <a:xfrm>
                <a:off x="2300659" y="4516959"/>
                <a:ext cx="335171" cy="33517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</a:t>
                </a:r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95DC05C9-0773-51A3-2C78-86A3636C681D}"/>
                  </a:ext>
                </a:extLst>
              </p:cNvPr>
              <p:cNvSpPr/>
              <p:nvPr/>
            </p:nvSpPr>
            <p:spPr>
              <a:xfrm>
                <a:off x="4176920" y="3904829"/>
                <a:ext cx="335171" cy="33517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D</a:t>
                </a:r>
              </a:p>
            </p:txBody>
          </p:sp>
          <p:cxnSp>
            <p:nvCxnSpPr>
              <p:cNvPr id="46" name="Straight Connector 31">
                <a:extLst>
                  <a:ext uri="{FF2B5EF4-FFF2-40B4-BE49-F238E27FC236}">
                    <a16:creationId xmlns:a16="http://schemas.microsoft.com/office/drawing/2014/main" id="{70663894-F22D-BAB4-1B48-4A7426AF4174}"/>
                  </a:ext>
                </a:extLst>
              </p:cNvPr>
              <p:cNvCxnSpPr>
                <a:stCxn id="42" idx="7"/>
                <a:endCxn id="43" idx="5"/>
              </p:cNvCxnSpPr>
              <p:nvPr/>
            </p:nvCxnSpPr>
            <p:spPr>
              <a:xfrm rot="5400000" flipH="1" flipV="1">
                <a:off x="2862295" y="3017547"/>
                <a:ext cx="623434" cy="475685"/>
              </a:xfrm>
              <a:prstGeom prst="curvedConnector3">
                <a:avLst>
                  <a:gd name="adj1" fmla="val 36962"/>
                </a:avLst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31">
                <a:extLst>
                  <a:ext uri="{FF2B5EF4-FFF2-40B4-BE49-F238E27FC236}">
                    <a16:creationId xmlns:a16="http://schemas.microsoft.com/office/drawing/2014/main" id="{1BCE0640-98B2-4A70-6647-251FADCE32A8}"/>
                  </a:ext>
                </a:extLst>
              </p:cNvPr>
              <p:cNvCxnSpPr>
                <a:stCxn id="42" idx="2"/>
                <a:endCxn id="44" idx="2"/>
              </p:cNvCxnSpPr>
              <p:nvPr/>
            </p:nvCxnSpPr>
            <p:spPr>
              <a:xfrm rot="10800000" flipV="1">
                <a:off x="2300660" y="3685607"/>
                <a:ext cx="349425" cy="998938"/>
              </a:xfrm>
              <a:prstGeom prst="curvedConnector3">
                <a:avLst>
                  <a:gd name="adj1" fmla="val 165422"/>
                </a:avLst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31">
                <a:extLst>
                  <a:ext uri="{FF2B5EF4-FFF2-40B4-BE49-F238E27FC236}">
                    <a16:creationId xmlns:a16="http://schemas.microsoft.com/office/drawing/2014/main" id="{A34E049A-698E-E5D0-D30D-10E07C527F82}"/>
                  </a:ext>
                </a:extLst>
              </p:cNvPr>
              <p:cNvCxnSpPr>
                <a:stCxn id="42" idx="4"/>
                <a:endCxn id="44" idx="7"/>
              </p:cNvCxnSpPr>
              <p:nvPr/>
            </p:nvCxnSpPr>
            <p:spPr>
              <a:xfrm rot="5400000">
                <a:off x="2345782" y="4094156"/>
                <a:ext cx="712852" cy="230925"/>
              </a:xfrm>
              <a:prstGeom prst="curvedConnector3">
                <a:avLst>
                  <a:gd name="adj1" fmla="val 30046"/>
                </a:avLst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31">
                <a:extLst>
                  <a:ext uri="{FF2B5EF4-FFF2-40B4-BE49-F238E27FC236}">
                    <a16:creationId xmlns:a16="http://schemas.microsoft.com/office/drawing/2014/main" id="{D2C7714E-DD67-220B-1385-829046690137}"/>
                  </a:ext>
                </a:extLst>
              </p:cNvPr>
              <p:cNvCxnSpPr>
                <a:stCxn id="45" idx="4"/>
                <a:endCxn id="44" idx="6"/>
              </p:cNvCxnSpPr>
              <p:nvPr/>
            </p:nvCxnSpPr>
            <p:spPr>
              <a:xfrm rot="5400000">
                <a:off x="3267896" y="3607934"/>
                <a:ext cx="444545" cy="1708676"/>
              </a:xfrm>
              <a:prstGeom prst="curvedConnector2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31">
                <a:extLst>
                  <a:ext uri="{FF2B5EF4-FFF2-40B4-BE49-F238E27FC236}">
                    <a16:creationId xmlns:a16="http://schemas.microsoft.com/office/drawing/2014/main" id="{A88067D4-B0BF-BBE3-CE46-0A747A655DE0}"/>
                  </a:ext>
                </a:extLst>
              </p:cNvPr>
              <p:cNvCxnSpPr>
                <a:stCxn id="42" idx="6"/>
                <a:endCxn id="45" idx="2"/>
              </p:cNvCxnSpPr>
              <p:nvPr/>
            </p:nvCxnSpPr>
            <p:spPr>
              <a:xfrm>
                <a:off x="2985255" y="3685607"/>
                <a:ext cx="1191665" cy="386808"/>
              </a:xfrm>
              <a:prstGeom prst="curvedConnector3">
                <a:avLst>
                  <a:gd name="adj1" fmla="val 83251"/>
                </a:avLst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31">
                <a:extLst>
                  <a:ext uri="{FF2B5EF4-FFF2-40B4-BE49-F238E27FC236}">
                    <a16:creationId xmlns:a16="http://schemas.microsoft.com/office/drawing/2014/main" id="{FF9442DC-C515-EBC8-FF78-0C3939AF602A}"/>
                  </a:ext>
                </a:extLst>
              </p:cNvPr>
              <p:cNvCxnSpPr>
                <a:stCxn id="43" idx="6"/>
                <a:endCxn id="45" idx="1"/>
              </p:cNvCxnSpPr>
              <p:nvPr/>
            </p:nvCxnSpPr>
            <p:spPr>
              <a:xfrm>
                <a:off x="3460940" y="2825172"/>
                <a:ext cx="765065" cy="1128742"/>
              </a:xfrm>
              <a:prstGeom prst="curvedConnector2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EDBB745-3073-8786-D112-B6062D282A90}"/>
                </a:ext>
              </a:extLst>
            </p:cNvPr>
            <p:cNvSpPr txBox="1"/>
            <p:nvPr/>
          </p:nvSpPr>
          <p:spPr>
            <a:xfrm>
              <a:off x="260284" y="5095522"/>
              <a:ext cx="21193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No Euler path exists!</a:t>
              </a:r>
            </a:p>
          </p:txBody>
        </p:sp>
      </p:grpSp>
      <p:grpSp>
        <p:nvGrpSpPr>
          <p:cNvPr id="52" name="Group 51" descr="The graph of modern day Kaliningrad:&#10;&#10;There are 4 nodes called A, B, C, and D. The edges are: (A,B), (A,D), (A,C), (B,D), (C,D)&#10;&#10;The path A,B,D,A,C,D is an Euler path">
            <a:extLst>
              <a:ext uri="{FF2B5EF4-FFF2-40B4-BE49-F238E27FC236}">
                <a16:creationId xmlns:a16="http://schemas.microsoft.com/office/drawing/2014/main" id="{7076CE6D-FF61-F876-BB27-E7B69233E34E}"/>
              </a:ext>
            </a:extLst>
          </p:cNvPr>
          <p:cNvGrpSpPr/>
          <p:nvPr/>
        </p:nvGrpSpPr>
        <p:grpSpPr>
          <a:xfrm>
            <a:off x="3590060" y="2814586"/>
            <a:ext cx="2982096" cy="2673506"/>
            <a:chOff x="3590060" y="2814586"/>
            <a:chExt cx="2982096" cy="2673506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FE540345-8A64-03B3-127B-D4CAB7F3C93C}"/>
                </a:ext>
              </a:extLst>
            </p:cNvPr>
            <p:cNvGrpSpPr/>
            <p:nvPr/>
          </p:nvGrpSpPr>
          <p:grpSpPr>
            <a:xfrm>
              <a:off x="4371251" y="2814586"/>
              <a:ext cx="1902535" cy="1888006"/>
              <a:chOff x="2300659" y="2657586"/>
              <a:chExt cx="2211432" cy="2194544"/>
            </a:xfrm>
          </p:grpSpPr>
          <p:cxnSp>
            <p:nvCxnSpPr>
              <p:cNvPr id="55" name="Straight Connector 31">
                <a:extLst>
                  <a:ext uri="{FF2B5EF4-FFF2-40B4-BE49-F238E27FC236}">
                    <a16:creationId xmlns:a16="http://schemas.microsoft.com/office/drawing/2014/main" id="{5BB66F6D-92A3-626B-A891-E16CE588662F}"/>
                  </a:ext>
                </a:extLst>
              </p:cNvPr>
              <p:cNvCxnSpPr>
                <a:stCxn id="56" idx="1"/>
                <a:endCxn id="57" idx="2"/>
              </p:cNvCxnSpPr>
              <p:nvPr/>
            </p:nvCxnSpPr>
            <p:spPr>
              <a:xfrm rot="5400000" flipH="1" flipV="1">
                <a:off x="2541502" y="2982839"/>
                <a:ext cx="741934" cy="426600"/>
              </a:xfrm>
              <a:prstGeom prst="curvedConnector2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517C2076-D5B9-7664-3B5D-6EFA7EB0EBA9}"/>
                  </a:ext>
                </a:extLst>
              </p:cNvPr>
              <p:cNvSpPr/>
              <p:nvPr/>
            </p:nvSpPr>
            <p:spPr>
              <a:xfrm>
                <a:off x="2650084" y="3518021"/>
                <a:ext cx="335171" cy="33517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A</a:t>
                </a:r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23B39D98-0B34-6DBA-6AB5-97E40EC43F6F}"/>
                  </a:ext>
                </a:extLst>
              </p:cNvPr>
              <p:cNvSpPr/>
              <p:nvPr/>
            </p:nvSpPr>
            <p:spPr>
              <a:xfrm>
                <a:off x="3125769" y="2657586"/>
                <a:ext cx="335171" cy="33517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B</a:t>
                </a:r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7ECDB22F-4386-53BD-72A6-12AEA2C52C6A}"/>
                  </a:ext>
                </a:extLst>
              </p:cNvPr>
              <p:cNvSpPr/>
              <p:nvPr/>
            </p:nvSpPr>
            <p:spPr>
              <a:xfrm>
                <a:off x="2300659" y="4516959"/>
                <a:ext cx="335171" cy="33517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</a:t>
                </a:r>
              </a:p>
            </p:txBody>
          </p:sp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E3F4E276-84BB-C5CF-020E-39EC17C6C0AA}"/>
                  </a:ext>
                </a:extLst>
              </p:cNvPr>
              <p:cNvSpPr/>
              <p:nvPr/>
            </p:nvSpPr>
            <p:spPr>
              <a:xfrm>
                <a:off x="4176920" y="3904829"/>
                <a:ext cx="335171" cy="33517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D</a:t>
                </a:r>
              </a:p>
            </p:txBody>
          </p:sp>
          <p:cxnSp>
            <p:nvCxnSpPr>
              <p:cNvPr id="60" name="Straight Connector 31">
                <a:extLst>
                  <a:ext uri="{FF2B5EF4-FFF2-40B4-BE49-F238E27FC236}">
                    <a16:creationId xmlns:a16="http://schemas.microsoft.com/office/drawing/2014/main" id="{4D3DCE98-DB2A-C84B-B05E-68DCEC66D369}"/>
                  </a:ext>
                </a:extLst>
              </p:cNvPr>
              <p:cNvCxnSpPr>
                <a:stCxn id="56" idx="2"/>
                <a:endCxn id="58" idx="2"/>
              </p:cNvCxnSpPr>
              <p:nvPr/>
            </p:nvCxnSpPr>
            <p:spPr>
              <a:xfrm rot="10800000" flipV="1">
                <a:off x="2300660" y="3685607"/>
                <a:ext cx="349425" cy="998938"/>
              </a:xfrm>
              <a:prstGeom prst="curvedConnector3">
                <a:avLst>
                  <a:gd name="adj1" fmla="val 165422"/>
                </a:avLst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31">
                <a:extLst>
                  <a:ext uri="{FF2B5EF4-FFF2-40B4-BE49-F238E27FC236}">
                    <a16:creationId xmlns:a16="http://schemas.microsoft.com/office/drawing/2014/main" id="{761DC3C3-4DDC-2A4F-B143-C29B9205D6DD}"/>
                  </a:ext>
                </a:extLst>
              </p:cNvPr>
              <p:cNvCxnSpPr>
                <a:stCxn id="59" idx="4"/>
                <a:endCxn id="58" idx="6"/>
              </p:cNvCxnSpPr>
              <p:nvPr/>
            </p:nvCxnSpPr>
            <p:spPr>
              <a:xfrm rot="5400000">
                <a:off x="3267896" y="3607934"/>
                <a:ext cx="444545" cy="1708676"/>
              </a:xfrm>
              <a:prstGeom prst="curvedConnector2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31">
                <a:extLst>
                  <a:ext uri="{FF2B5EF4-FFF2-40B4-BE49-F238E27FC236}">
                    <a16:creationId xmlns:a16="http://schemas.microsoft.com/office/drawing/2014/main" id="{389B0732-536E-D910-62CA-1BA5E542D1B8}"/>
                  </a:ext>
                </a:extLst>
              </p:cNvPr>
              <p:cNvCxnSpPr>
                <a:stCxn id="56" idx="6"/>
                <a:endCxn id="59" idx="2"/>
              </p:cNvCxnSpPr>
              <p:nvPr/>
            </p:nvCxnSpPr>
            <p:spPr>
              <a:xfrm>
                <a:off x="2985255" y="3685607"/>
                <a:ext cx="1191665" cy="386808"/>
              </a:xfrm>
              <a:prstGeom prst="curvedConnector3">
                <a:avLst>
                  <a:gd name="adj1" fmla="val 83251"/>
                </a:avLst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31">
                <a:extLst>
                  <a:ext uri="{FF2B5EF4-FFF2-40B4-BE49-F238E27FC236}">
                    <a16:creationId xmlns:a16="http://schemas.microsoft.com/office/drawing/2014/main" id="{671FC68B-B132-AA2B-535C-770BB01AB20F}"/>
                  </a:ext>
                </a:extLst>
              </p:cNvPr>
              <p:cNvCxnSpPr>
                <a:stCxn id="57" idx="6"/>
                <a:endCxn id="59" idx="1"/>
              </p:cNvCxnSpPr>
              <p:nvPr/>
            </p:nvCxnSpPr>
            <p:spPr>
              <a:xfrm>
                <a:off x="3460940" y="2825172"/>
                <a:ext cx="765065" cy="1128742"/>
              </a:xfrm>
              <a:prstGeom prst="curvedConnector2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D1E2DE7A-D20C-C70A-E0CB-1E734B12AFFE}"/>
                    </a:ext>
                  </a:extLst>
                </p:cNvPr>
                <p:cNvSpPr txBox="1"/>
                <p:nvPr/>
              </p:nvSpPr>
              <p:spPr>
                <a:xfrm>
                  <a:off x="3590060" y="4841761"/>
                  <a:ext cx="2982096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Euler path exists!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D1E2DE7A-D20C-C70A-E0CB-1E734B12AF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0060" y="4841761"/>
                  <a:ext cx="2982096" cy="646331"/>
                </a:xfrm>
                <a:prstGeom prst="rect">
                  <a:avLst/>
                </a:prstGeom>
                <a:blipFill>
                  <a:blip r:embed="rId2"/>
                  <a:stretch>
                    <a:fillRect t="-47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4" name="Group 63" descr="A graph with 4 nodes: A,B,C,D&#10;&#10;The edges are:&#10;(A,B), (A,C), (A,D), (B,C), (B,C), (B,D), (C,D)&#10;&#10;The path A,B,C,D,A,C,B,D  is an Euler path.">
            <a:extLst>
              <a:ext uri="{FF2B5EF4-FFF2-40B4-BE49-F238E27FC236}">
                <a16:creationId xmlns:a16="http://schemas.microsoft.com/office/drawing/2014/main" id="{9F30BFBE-0B69-C4CA-3EE0-F8A60FEC53E7}"/>
              </a:ext>
            </a:extLst>
          </p:cNvPr>
          <p:cNvGrpSpPr/>
          <p:nvPr/>
        </p:nvGrpSpPr>
        <p:grpSpPr>
          <a:xfrm>
            <a:off x="7342376" y="2861621"/>
            <a:ext cx="4740654" cy="2970235"/>
            <a:chOff x="7342376" y="2861621"/>
            <a:chExt cx="4740654" cy="2970235"/>
          </a:xfrm>
        </p:grpSpPr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84FC099-4ACF-4A72-D782-EF5F1FE852DA}"/>
                </a:ext>
              </a:extLst>
            </p:cNvPr>
            <p:cNvGrpSpPr/>
            <p:nvPr/>
          </p:nvGrpSpPr>
          <p:grpSpPr>
            <a:xfrm>
              <a:off x="8632102" y="2861621"/>
              <a:ext cx="2196780" cy="1573092"/>
              <a:chOff x="1491734" y="4591520"/>
              <a:chExt cx="2196780" cy="1573092"/>
            </a:xfrm>
          </p:grpSpPr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C0598888-6FB5-6BE0-6DD2-C6BE0D834F37}"/>
                  </a:ext>
                </a:extLst>
              </p:cNvPr>
              <p:cNvSpPr/>
              <p:nvPr/>
            </p:nvSpPr>
            <p:spPr>
              <a:xfrm>
                <a:off x="1688957" y="5802250"/>
                <a:ext cx="335171" cy="33517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A</a:t>
                </a:r>
              </a:p>
            </p:txBody>
          </p:sp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75E5CFE5-EEAF-28CD-D2FA-D09E37034FE1}"/>
                  </a:ext>
                </a:extLst>
              </p:cNvPr>
              <p:cNvSpPr/>
              <p:nvPr/>
            </p:nvSpPr>
            <p:spPr>
              <a:xfrm>
                <a:off x="1491735" y="4759106"/>
                <a:ext cx="335171" cy="33517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B</a:t>
                </a:r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697969F6-D489-2F4C-AE6A-985005C99790}"/>
                  </a:ext>
                </a:extLst>
              </p:cNvPr>
              <p:cNvSpPr/>
              <p:nvPr/>
            </p:nvSpPr>
            <p:spPr>
              <a:xfrm>
                <a:off x="3317765" y="5829441"/>
                <a:ext cx="335171" cy="33517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</a:t>
                </a:r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A0C72791-07FD-A623-1436-91FB04C7818B}"/>
                  </a:ext>
                </a:extLst>
              </p:cNvPr>
              <p:cNvSpPr/>
              <p:nvPr/>
            </p:nvSpPr>
            <p:spPr>
              <a:xfrm>
                <a:off x="3353343" y="4591520"/>
                <a:ext cx="335171" cy="33517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D</a:t>
                </a:r>
              </a:p>
            </p:txBody>
          </p:sp>
          <p:cxnSp>
            <p:nvCxnSpPr>
              <p:cNvPr id="71" name="Straight Connector 31">
                <a:extLst>
                  <a:ext uri="{FF2B5EF4-FFF2-40B4-BE49-F238E27FC236}">
                    <a16:creationId xmlns:a16="http://schemas.microsoft.com/office/drawing/2014/main" id="{B3EEF3B0-FDF2-9B78-9FCA-A6FA9402E9D7}"/>
                  </a:ext>
                </a:extLst>
              </p:cNvPr>
              <p:cNvCxnSpPr>
                <a:stCxn id="68" idx="2"/>
                <a:endCxn id="69" idx="3"/>
              </p:cNvCxnSpPr>
              <p:nvPr/>
            </p:nvCxnSpPr>
            <p:spPr>
              <a:xfrm rot="10800000" flipH="1" flipV="1">
                <a:off x="1491734" y="4926691"/>
                <a:ext cx="1875115" cy="1188835"/>
              </a:xfrm>
              <a:prstGeom prst="curvedConnector4">
                <a:avLst>
                  <a:gd name="adj1" fmla="val -18917"/>
                  <a:gd name="adj2" fmla="val 139272"/>
                </a:avLst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31">
                <a:extLst>
                  <a:ext uri="{FF2B5EF4-FFF2-40B4-BE49-F238E27FC236}">
                    <a16:creationId xmlns:a16="http://schemas.microsoft.com/office/drawing/2014/main" id="{41F3AA42-5062-A134-B768-2BC6F52DA2CC}"/>
                  </a:ext>
                </a:extLst>
              </p:cNvPr>
              <p:cNvCxnSpPr>
                <a:stCxn id="68" idx="6"/>
                <a:endCxn id="70" idx="2"/>
              </p:cNvCxnSpPr>
              <p:nvPr/>
            </p:nvCxnSpPr>
            <p:spPr>
              <a:xfrm flipV="1">
                <a:off x="1826906" y="4759106"/>
                <a:ext cx="1526437" cy="167586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31">
                <a:extLst>
                  <a:ext uri="{FF2B5EF4-FFF2-40B4-BE49-F238E27FC236}">
                    <a16:creationId xmlns:a16="http://schemas.microsoft.com/office/drawing/2014/main" id="{704525DF-8CE4-5BF3-07CD-7AB7E6E66D0F}"/>
                  </a:ext>
                </a:extLst>
              </p:cNvPr>
              <p:cNvCxnSpPr>
                <a:stCxn id="68" idx="4"/>
                <a:endCxn id="67" idx="0"/>
              </p:cNvCxnSpPr>
              <p:nvPr/>
            </p:nvCxnSpPr>
            <p:spPr>
              <a:xfrm>
                <a:off x="1659321" y="5094277"/>
                <a:ext cx="197222" cy="707973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31">
                <a:extLst>
                  <a:ext uri="{FF2B5EF4-FFF2-40B4-BE49-F238E27FC236}">
                    <a16:creationId xmlns:a16="http://schemas.microsoft.com/office/drawing/2014/main" id="{40198108-AADB-5F59-C8D4-33DB7D93737E}"/>
                  </a:ext>
                </a:extLst>
              </p:cNvPr>
              <p:cNvCxnSpPr>
                <a:stCxn id="68" idx="5"/>
                <a:endCxn id="69" idx="1"/>
              </p:cNvCxnSpPr>
              <p:nvPr/>
            </p:nvCxnSpPr>
            <p:spPr>
              <a:xfrm>
                <a:off x="1777821" y="5045192"/>
                <a:ext cx="1589029" cy="833334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Straight Connector 31">
                <a:extLst>
                  <a:ext uri="{FF2B5EF4-FFF2-40B4-BE49-F238E27FC236}">
                    <a16:creationId xmlns:a16="http://schemas.microsoft.com/office/drawing/2014/main" id="{FB333F1A-EE88-05EF-5407-2C2F7F8C1B08}"/>
                  </a:ext>
                </a:extLst>
              </p:cNvPr>
              <p:cNvCxnSpPr>
                <a:stCxn id="67" idx="7"/>
                <a:endCxn id="70" idx="3"/>
              </p:cNvCxnSpPr>
              <p:nvPr/>
            </p:nvCxnSpPr>
            <p:spPr>
              <a:xfrm flipV="1">
                <a:off x="1975043" y="4877606"/>
                <a:ext cx="1427385" cy="973729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Straight Connector 31">
                <a:extLst>
                  <a:ext uri="{FF2B5EF4-FFF2-40B4-BE49-F238E27FC236}">
                    <a16:creationId xmlns:a16="http://schemas.microsoft.com/office/drawing/2014/main" id="{308332F0-FB39-2FA6-E4B4-A55D07B05BED}"/>
                  </a:ext>
                </a:extLst>
              </p:cNvPr>
              <p:cNvCxnSpPr>
                <a:stCxn id="67" idx="6"/>
                <a:endCxn id="69" idx="2"/>
              </p:cNvCxnSpPr>
              <p:nvPr/>
            </p:nvCxnSpPr>
            <p:spPr>
              <a:xfrm>
                <a:off x="2024128" y="5969836"/>
                <a:ext cx="1293637" cy="27191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31">
                <a:extLst>
                  <a:ext uri="{FF2B5EF4-FFF2-40B4-BE49-F238E27FC236}">
                    <a16:creationId xmlns:a16="http://schemas.microsoft.com/office/drawing/2014/main" id="{4B768826-AC0E-579F-3513-A590A53FB1B8}"/>
                  </a:ext>
                </a:extLst>
              </p:cNvPr>
              <p:cNvCxnSpPr>
                <a:stCxn id="70" idx="4"/>
                <a:endCxn id="69" idx="0"/>
              </p:cNvCxnSpPr>
              <p:nvPr/>
            </p:nvCxnSpPr>
            <p:spPr>
              <a:xfrm flipH="1">
                <a:off x="3485351" y="4926691"/>
                <a:ext cx="35578" cy="90275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04CCD290-EB4E-05C6-E0F5-A645435456B6}"/>
                    </a:ext>
                  </a:extLst>
                </p:cNvPr>
                <p:cNvSpPr txBox="1"/>
                <p:nvPr/>
              </p:nvSpPr>
              <p:spPr>
                <a:xfrm>
                  <a:off x="7342376" y="5185525"/>
                  <a:ext cx="4740654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Euler path exists!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04CCD290-EB4E-05C6-E0F5-A645435456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42376" y="5185525"/>
                  <a:ext cx="4740654" cy="646331"/>
                </a:xfrm>
                <a:prstGeom prst="rect">
                  <a:avLst/>
                </a:prstGeom>
                <a:blipFill>
                  <a:blip r:embed="rId3"/>
                  <a:stretch>
                    <a:fillRect t="-566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5879910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EFF1F-27C9-57FE-DBC9-D0D599DB4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Algorithm for the Euler Path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2306FAE-49DE-9965-16D4-22BF1FE4CE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Given an undirected graph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does there exist an Euler path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?</a:t>
                </a:r>
              </a:p>
              <a:p>
                <a:r>
                  <a:rPr lang="en-US" dirty="0"/>
                  <a:t>Algorithm:</a:t>
                </a:r>
              </a:p>
              <a:p>
                <a:pPr lvl="1"/>
                <a:r>
                  <a:rPr lang="en-US" dirty="0"/>
                  <a:t>Check if the graph is connected</a:t>
                </a:r>
              </a:p>
              <a:p>
                <a:pPr lvl="1"/>
                <a:r>
                  <a:rPr lang="en-US" dirty="0"/>
                  <a:t>Check the degree of each node</a:t>
                </a:r>
              </a:p>
              <a:p>
                <a:pPr lvl="1"/>
                <a:r>
                  <a:rPr lang="en-US" dirty="0"/>
                  <a:t>If the number of nodes with odd degree is 0 or 2, return true</a:t>
                </a:r>
              </a:p>
              <a:p>
                <a:pPr lvl="1"/>
                <a:r>
                  <a:rPr lang="en-US" dirty="0"/>
                  <a:t>Otherwise return false</a:t>
                </a:r>
              </a:p>
              <a:p>
                <a:r>
                  <a:rPr lang="en-US" dirty="0"/>
                  <a:t>Running time?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2306FAE-49DE-9965-16D4-22BF1FE4CE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5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766286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136D58-44B6-D538-10FD-C3FCC54B4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Seemingly Similar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2B3655-18B9-485A-BEAE-67C51CB83F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Hamiltonian Path:</a:t>
                </a:r>
              </a:p>
              <a:p>
                <a:pPr lvl="1"/>
                <a:r>
                  <a:rPr lang="en-US" dirty="0"/>
                  <a:t>A path that includes every node in the graph exactly once</a:t>
                </a:r>
              </a:p>
              <a:p>
                <a:r>
                  <a:rPr lang="en-US" dirty="0"/>
                  <a:t>Hamiltonian Path Problem:</a:t>
                </a:r>
              </a:p>
              <a:p>
                <a:pPr lvl="1"/>
                <a:r>
                  <a:rPr lang="en-US" dirty="0"/>
                  <a:t>Given a graph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does that graph have a Hamiltonian Path?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2B3655-18B9-485A-BEAE-67C51CB83F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7" name="Group 26" descr="A graph with 8 nodes: A,B,C,D,E,F,G,H&#10;&#10;The edges are (A,B), (A,C), (A,D), (B,C), (B,E), (C,D), (C,E), (C,G), (D,F), (E,F), (E,G), (F,H), (G,H)&#10;&#10;This path A,B,C,E,G,H,F,D is a Hamiltonian path.">
            <a:extLst>
              <a:ext uri="{FF2B5EF4-FFF2-40B4-BE49-F238E27FC236}">
                <a16:creationId xmlns:a16="http://schemas.microsoft.com/office/drawing/2014/main" id="{7F0E9CE5-A6EF-CE45-F067-2DC7D9972070}"/>
              </a:ext>
            </a:extLst>
          </p:cNvPr>
          <p:cNvGrpSpPr/>
          <p:nvPr/>
        </p:nvGrpSpPr>
        <p:grpSpPr>
          <a:xfrm>
            <a:off x="275063" y="3775899"/>
            <a:ext cx="8961398" cy="2918001"/>
            <a:chOff x="275063" y="3775899"/>
            <a:chExt cx="8961398" cy="2918001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5D8A630-43CD-7610-70E4-8BD854FC356F}"/>
                </a:ext>
              </a:extLst>
            </p:cNvPr>
            <p:cNvGrpSpPr/>
            <p:nvPr/>
          </p:nvGrpSpPr>
          <p:grpSpPr>
            <a:xfrm>
              <a:off x="2653211" y="3775899"/>
              <a:ext cx="6583250" cy="2918001"/>
              <a:chOff x="1931018" y="3462667"/>
              <a:chExt cx="6583250" cy="2918001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410BBED7-1BDE-181F-1891-23716F499E92}"/>
                  </a:ext>
                </a:extLst>
              </p:cNvPr>
              <p:cNvCxnSpPr>
                <a:stCxn id="6" idx="7"/>
                <a:endCxn id="13" idx="2"/>
              </p:cNvCxnSpPr>
              <p:nvPr/>
            </p:nvCxnSpPr>
            <p:spPr>
              <a:xfrm flipV="1">
                <a:off x="2369120" y="3719301"/>
                <a:ext cx="1593280" cy="90300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FACF018F-DFA0-8834-DDD5-2289E8D4638F}"/>
                  </a:ext>
                </a:extLst>
              </p:cNvPr>
              <p:cNvSpPr/>
              <p:nvPr/>
            </p:nvSpPr>
            <p:spPr>
              <a:xfrm>
                <a:off x="1931018" y="4547141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A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F28C5049-82EF-1BCE-74DA-F1315FF4FC9B}"/>
                  </a:ext>
                </a:extLst>
              </p:cNvPr>
              <p:cNvSpPr/>
              <p:nvPr/>
            </p:nvSpPr>
            <p:spPr>
              <a:xfrm>
                <a:off x="2241704" y="5867400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D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BF31717E-AE97-E58E-B460-A5F37284BE8C}"/>
                  </a:ext>
                </a:extLst>
              </p:cNvPr>
              <p:cNvSpPr/>
              <p:nvPr/>
            </p:nvSpPr>
            <p:spPr>
              <a:xfrm>
                <a:off x="6105339" y="5513410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F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9F41E82D-B4CE-C0E0-01D6-341113AA66FD}"/>
                  </a:ext>
                </a:extLst>
              </p:cNvPr>
              <p:cNvSpPr/>
              <p:nvPr/>
            </p:nvSpPr>
            <p:spPr>
              <a:xfrm>
                <a:off x="8001000" y="5260975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H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F3799E7-388A-DB69-AF41-C20993004D91}"/>
                  </a:ext>
                </a:extLst>
              </p:cNvPr>
              <p:cNvSpPr/>
              <p:nvPr/>
            </p:nvSpPr>
            <p:spPr>
              <a:xfrm>
                <a:off x="7315200" y="3551157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G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D1AB8753-9AE9-F155-6D7F-668B6F0A42DE}"/>
                  </a:ext>
                </a:extLst>
              </p:cNvPr>
              <p:cNvSpPr/>
              <p:nvPr/>
            </p:nvSpPr>
            <p:spPr>
              <a:xfrm>
                <a:off x="5867400" y="4491073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E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01633ACC-60D3-1C8B-45C3-AC6EBAD23B25}"/>
                  </a:ext>
                </a:extLst>
              </p:cNvPr>
              <p:cNvSpPr/>
              <p:nvPr/>
            </p:nvSpPr>
            <p:spPr>
              <a:xfrm>
                <a:off x="3862036" y="4442907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6B218345-3EC7-E1CF-C962-D16A36304650}"/>
                  </a:ext>
                </a:extLst>
              </p:cNvPr>
              <p:cNvSpPr/>
              <p:nvPr/>
            </p:nvSpPr>
            <p:spPr>
              <a:xfrm>
                <a:off x="3962400" y="3462667"/>
                <a:ext cx="513268" cy="51326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B</a:t>
                </a:r>
              </a:p>
            </p:txBody>
          </p: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90C9939F-4E45-819B-E503-E17C1F226296}"/>
                  </a:ext>
                </a:extLst>
              </p:cNvPr>
              <p:cNvCxnSpPr>
                <a:stCxn id="12" idx="0"/>
                <a:endCxn id="13" idx="4"/>
              </p:cNvCxnSpPr>
              <p:nvPr/>
            </p:nvCxnSpPr>
            <p:spPr>
              <a:xfrm flipV="1">
                <a:off x="4118670" y="3975935"/>
                <a:ext cx="100364" cy="466972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E354A0F3-06C2-7D8B-7643-8E15DA7CFD63}"/>
                  </a:ext>
                </a:extLst>
              </p:cNvPr>
              <p:cNvCxnSpPr>
                <a:stCxn id="12" idx="6"/>
                <a:endCxn id="11" idx="2"/>
              </p:cNvCxnSpPr>
              <p:nvPr/>
            </p:nvCxnSpPr>
            <p:spPr>
              <a:xfrm>
                <a:off x="4375304" y="4699541"/>
                <a:ext cx="1492096" cy="4816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320DEA97-1361-9C15-2FDA-CF0718DD481B}"/>
                  </a:ext>
                </a:extLst>
              </p:cNvPr>
              <p:cNvCxnSpPr>
                <a:stCxn id="10" idx="3"/>
                <a:endCxn id="11" idx="7"/>
              </p:cNvCxnSpPr>
              <p:nvPr/>
            </p:nvCxnSpPr>
            <p:spPr>
              <a:xfrm flipH="1">
                <a:off x="6305502" y="3989259"/>
                <a:ext cx="1084864" cy="57698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F4522E44-17A8-AA87-5A1A-585783746079}"/>
                  </a:ext>
                </a:extLst>
              </p:cNvPr>
              <p:cNvCxnSpPr>
                <a:stCxn id="10" idx="5"/>
                <a:endCxn id="9" idx="0"/>
              </p:cNvCxnSpPr>
              <p:nvPr/>
            </p:nvCxnSpPr>
            <p:spPr>
              <a:xfrm>
                <a:off x="7753302" y="3989259"/>
                <a:ext cx="504332" cy="127171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05688FE9-1B5B-3D83-8ED4-F0B54F2207AD}"/>
                  </a:ext>
                </a:extLst>
              </p:cNvPr>
              <p:cNvCxnSpPr>
                <a:stCxn id="9" idx="2"/>
                <a:endCxn id="8" idx="6"/>
              </p:cNvCxnSpPr>
              <p:nvPr/>
            </p:nvCxnSpPr>
            <p:spPr>
              <a:xfrm flipH="1">
                <a:off x="6618607" y="5517609"/>
                <a:ext cx="1382393" cy="252435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3FCC224D-25C9-AD5F-1F89-94B0DC40BBE0}"/>
                  </a:ext>
                </a:extLst>
              </p:cNvPr>
              <p:cNvCxnSpPr>
                <a:stCxn id="8" idx="2"/>
                <a:endCxn id="7" idx="6"/>
              </p:cNvCxnSpPr>
              <p:nvPr/>
            </p:nvCxnSpPr>
            <p:spPr>
              <a:xfrm flipH="1">
                <a:off x="2754972" y="5770044"/>
                <a:ext cx="3350367" cy="35399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550BD48E-631A-9E9D-CA20-27B64F24DF6A}"/>
                  </a:ext>
                </a:extLst>
              </p:cNvPr>
              <p:cNvCxnSpPr>
                <a:stCxn id="7" idx="0"/>
                <a:endCxn id="6" idx="4"/>
              </p:cNvCxnSpPr>
              <p:nvPr/>
            </p:nvCxnSpPr>
            <p:spPr>
              <a:xfrm flipH="1" flipV="1">
                <a:off x="2187652" y="5060409"/>
                <a:ext cx="310686" cy="806991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24D80C8D-3431-51AF-4019-D8385D0E924C}"/>
                  </a:ext>
                </a:extLst>
              </p:cNvPr>
              <p:cNvCxnSpPr>
                <a:stCxn id="12" idx="2"/>
                <a:endCxn id="6" idx="6"/>
              </p:cNvCxnSpPr>
              <p:nvPr/>
            </p:nvCxnSpPr>
            <p:spPr>
              <a:xfrm flipH="1">
                <a:off x="2444286" y="4699541"/>
                <a:ext cx="1417750" cy="104234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6D58390F-2323-1BC3-4E5E-5239061AF6B9}"/>
                  </a:ext>
                </a:extLst>
              </p:cNvPr>
              <p:cNvCxnSpPr>
                <a:stCxn id="12" idx="3"/>
                <a:endCxn id="7" idx="7"/>
              </p:cNvCxnSpPr>
              <p:nvPr/>
            </p:nvCxnSpPr>
            <p:spPr>
              <a:xfrm flipH="1">
                <a:off x="2679806" y="4881009"/>
                <a:ext cx="1257396" cy="1061557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D203B5A7-E497-66B7-9DCF-D69BF1F0970A}"/>
                  </a:ext>
                </a:extLst>
              </p:cNvPr>
              <p:cNvCxnSpPr>
                <a:stCxn id="12" idx="7"/>
                <a:endCxn id="10" idx="2"/>
              </p:cNvCxnSpPr>
              <p:nvPr/>
            </p:nvCxnSpPr>
            <p:spPr>
              <a:xfrm flipV="1">
                <a:off x="4300138" y="3807791"/>
                <a:ext cx="3015062" cy="710282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05C7ACF-065F-F2E9-A3EF-8EA3E9A1E2D5}"/>
                  </a:ext>
                </a:extLst>
              </p:cNvPr>
              <p:cNvCxnSpPr>
                <a:stCxn id="13" idx="6"/>
                <a:endCxn id="11" idx="1"/>
              </p:cNvCxnSpPr>
              <p:nvPr/>
            </p:nvCxnSpPr>
            <p:spPr>
              <a:xfrm>
                <a:off x="4475668" y="3719301"/>
                <a:ext cx="1466898" cy="846938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A25E937A-5865-1A25-7FFF-43C0B86486BA}"/>
                  </a:ext>
                </a:extLst>
              </p:cNvPr>
              <p:cNvCxnSpPr>
                <a:stCxn id="8" idx="0"/>
                <a:endCxn id="11" idx="4"/>
              </p:cNvCxnSpPr>
              <p:nvPr/>
            </p:nvCxnSpPr>
            <p:spPr>
              <a:xfrm flipH="1" flipV="1">
                <a:off x="6124034" y="5004341"/>
                <a:ext cx="237939" cy="509069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223CFA01-49BD-73EA-7746-C9CA06A772F9}"/>
                    </a:ext>
                  </a:extLst>
                </p:cNvPr>
                <p:cNvSpPr txBox="1"/>
                <p:nvPr/>
              </p:nvSpPr>
              <p:spPr>
                <a:xfrm>
                  <a:off x="275063" y="5660783"/>
                  <a:ext cx="2099614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dirty="0"/>
                    <a:t>True!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𝐷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223CFA01-49BD-73EA-7746-C9CA06A772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5063" y="5660783"/>
                  <a:ext cx="2099614" cy="646331"/>
                </a:xfrm>
                <a:prstGeom prst="rect">
                  <a:avLst/>
                </a:prstGeom>
                <a:blipFill>
                  <a:blip r:embed="rId3"/>
                  <a:stretch>
                    <a:fillRect t="-566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2699933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E0C9C3-CA64-54CC-E56D-4A97AC157C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Algorithms for the Hamiltonian Path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ADF8DC-45CC-A15B-5A96-813251422D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Option 1:</a:t>
                </a:r>
              </a:p>
              <a:p>
                <a:pPr lvl="1"/>
                <a:r>
                  <a:rPr lang="en-US" dirty="0"/>
                  <a:t>Explore all possible simple paths through the graph</a:t>
                </a:r>
              </a:p>
              <a:p>
                <a:pPr lvl="1"/>
                <a:r>
                  <a:rPr lang="en-US" dirty="0"/>
                  <a:t>Check to see if any of those are length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en-US" dirty="0"/>
              </a:p>
              <a:p>
                <a:r>
                  <a:rPr lang="en-US" dirty="0"/>
                  <a:t>Option 2:</a:t>
                </a:r>
              </a:p>
              <a:p>
                <a:pPr lvl="1"/>
                <a:r>
                  <a:rPr lang="en-US" dirty="0"/>
                  <a:t>Write down every sequence of nodes</a:t>
                </a:r>
              </a:p>
              <a:p>
                <a:pPr lvl="1"/>
                <a:r>
                  <a:rPr lang="en-US" dirty="0"/>
                  <a:t>Check to see if any of those are a path</a:t>
                </a:r>
              </a:p>
              <a:p>
                <a:r>
                  <a:rPr lang="en-US" dirty="0"/>
                  <a:t>Both options are examples of an </a:t>
                </a:r>
                <a:r>
                  <a:rPr lang="en-US" b="1" dirty="0"/>
                  <a:t>Exhaustive Search (“Brute Force”) algorithm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ADF8DC-45CC-A15B-5A96-813251422D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94625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DC929-4369-F432-66E2-F349DDF4E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Option 2: List all sequences, look for a path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9EBF3A1-8EEA-C0F3-7272-38BD1DD890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Running time: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Number of permutations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!</m:t>
                    </m:r>
                  </m:oMath>
                </a14:m>
                <a:endParaRPr lang="en-US" b="0" dirty="0"/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!=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⋅…⋅2⋅1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How does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!</m:t>
                    </m:r>
                  </m:oMath>
                </a14:m>
                <a:r>
                  <a:rPr lang="en-US" dirty="0"/>
                  <a:t> compare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?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!∈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Exponential running time!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9EBF3A1-8EEA-C0F3-7272-38BD1DD890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710761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07DC929-4369-F432-66E2-F349DDF4EBF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Option 1: Explore all simple paths, check for one of length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07DC929-4369-F432-66E2-F349DDF4EB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3364" b="-211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9EBF3A1-8EEA-C0F3-7272-38BD1DD890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Running time: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Number of paths</a:t>
                </a:r>
              </a:p>
              <a:p>
                <a:pPr lvl="2"/>
                <a:r>
                  <a:rPr lang="en-US" b="0" dirty="0"/>
                  <a:t>Pick a first node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b="0" dirty="0"/>
                  <a:t> choices)</a:t>
                </a:r>
              </a:p>
              <a:p>
                <a:pPr lvl="2"/>
                <a:r>
                  <a:rPr lang="en-US" dirty="0"/>
                  <a:t>Pick a neighbor (up to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b="0" dirty="0"/>
                  <a:t> choices)</a:t>
                </a:r>
              </a:p>
              <a:p>
                <a:pPr lvl="2"/>
                <a:r>
                  <a:rPr lang="en-US" dirty="0"/>
                  <a:t>Pick a neighbor (up to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−2</m:t>
                    </m:r>
                  </m:oMath>
                </a14:m>
                <a:r>
                  <a:rPr lang="en-US" b="0" dirty="0"/>
                  <a:t> choices)</a:t>
                </a:r>
              </a:p>
              <a:p>
                <a:pPr lvl="2"/>
                <a:r>
                  <a:rPr lang="en-US" dirty="0"/>
                  <a:t>…. Repeat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b="0" dirty="0"/>
                  <a:t> total times</a:t>
                </a:r>
              </a:p>
              <a:p>
                <a:pPr lvl="2"/>
                <a:r>
                  <a:rPr lang="en-US" dirty="0"/>
                  <a:t>Overall: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!</m:t>
                    </m:r>
                  </m:oMath>
                </a14:m>
                <a:r>
                  <a:rPr lang="en-US" b="0" dirty="0"/>
                  <a:t> paths</a:t>
                </a:r>
              </a:p>
              <a:p>
                <a:pPr lvl="1"/>
                <a:r>
                  <a:rPr lang="en-US" dirty="0"/>
                  <a:t>Exponential running time</a:t>
                </a:r>
                <a:endParaRPr lang="en-US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9EBF3A1-8EEA-C0F3-7272-38BD1DD890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5F278879-6060-A2AD-7DE2-CE81DFA16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333395" y="1957381"/>
            <a:ext cx="2343087" cy="1692318"/>
            <a:chOff x="8333395" y="1957381"/>
            <a:chExt cx="2343087" cy="1692318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949F9A7-8DEE-4155-1F21-A18C0B88EDBF}"/>
                </a:ext>
              </a:extLst>
            </p:cNvPr>
            <p:cNvSpPr/>
            <p:nvPr/>
          </p:nvSpPr>
          <p:spPr>
            <a:xfrm>
              <a:off x="8333395" y="3314528"/>
              <a:ext cx="335171" cy="33517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93BAA4A-012A-4C5A-0A91-962CDF057290}"/>
                </a:ext>
              </a:extLst>
            </p:cNvPr>
            <p:cNvSpPr/>
            <p:nvPr/>
          </p:nvSpPr>
          <p:spPr>
            <a:xfrm>
              <a:off x="8333395" y="1957381"/>
              <a:ext cx="335171" cy="33517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B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52988E6-F31B-73A1-7A09-FC5F9B268A4F}"/>
                </a:ext>
              </a:extLst>
            </p:cNvPr>
            <p:cNvSpPr/>
            <p:nvPr/>
          </p:nvSpPr>
          <p:spPr>
            <a:xfrm>
              <a:off x="10341310" y="3314528"/>
              <a:ext cx="335171" cy="33517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32ED6F9-F0F7-191C-0BD4-2015771B907A}"/>
                </a:ext>
              </a:extLst>
            </p:cNvPr>
            <p:cNvSpPr/>
            <p:nvPr/>
          </p:nvSpPr>
          <p:spPr>
            <a:xfrm>
              <a:off x="10341311" y="1957381"/>
              <a:ext cx="335171" cy="33517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D</a:t>
              </a:r>
            </a:p>
          </p:txBody>
        </p:sp>
        <p:cxnSp>
          <p:nvCxnSpPr>
            <p:cNvPr id="9" name="Straight Connector 31">
              <a:extLst>
                <a:ext uri="{FF2B5EF4-FFF2-40B4-BE49-F238E27FC236}">
                  <a16:creationId xmlns:a16="http://schemas.microsoft.com/office/drawing/2014/main" id="{C5193740-B829-D480-D060-43C4FDED80CC}"/>
                </a:ext>
              </a:extLst>
            </p:cNvPr>
            <p:cNvCxnSpPr>
              <a:cxnSpLocks/>
              <a:stCxn id="6" idx="2"/>
              <a:endCxn id="7" idx="3"/>
            </p:cNvCxnSpPr>
            <p:nvPr/>
          </p:nvCxnSpPr>
          <p:spPr>
            <a:xfrm rot="10800000" flipH="1" flipV="1">
              <a:off x="8333395" y="2124966"/>
              <a:ext cx="2057000" cy="1475647"/>
            </a:xfrm>
            <a:prstGeom prst="curvedConnector4">
              <a:avLst>
                <a:gd name="adj1" fmla="val -22967"/>
                <a:gd name="adj2" fmla="val 147047"/>
              </a:avLst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31">
              <a:extLst>
                <a:ext uri="{FF2B5EF4-FFF2-40B4-BE49-F238E27FC236}">
                  <a16:creationId xmlns:a16="http://schemas.microsoft.com/office/drawing/2014/main" id="{2BEAAD66-553C-07E5-652C-2B2FAADDFCE2}"/>
                </a:ext>
              </a:extLst>
            </p:cNvPr>
            <p:cNvCxnSpPr>
              <a:stCxn id="6" idx="6"/>
              <a:endCxn id="8" idx="2"/>
            </p:cNvCxnSpPr>
            <p:nvPr/>
          </p:nvCxnSpPr>
          <p:spPr>
            <a:xfrm>
              <a:off x="8668566" y="2124967"/>
              <a:ext cx="1672745" cy="0"/>
            </a:xfrm>
            <a:prstGeom prst="straightConnector1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31">
              <a:extLst>
                <a:ext uri="{FF2B5EF4-FFF2-40B4-BE49-F238E27FC236}">
                  <a16:creationId xmlns:a16="http://schemas.microsoft.com/office/drawing/2014/main" id="{21EBF89E-5526-2E94-6EAD-1A8B09867BB9}"/>
                </a:ext>
              </a:extLst>
            </p:cNvPr>
            <p:cNvCxnSpPr>
              <a:stCxn id="6" idx="4"/>
              <a:endCxn id="5" idx="0"/>
            </p:cNvCxnSpPr>
            <p:nvPr/>
          </p:nvCxnSpPr>
          <p:spPr>
            <a:xfrm>
              <a:off x="8500981" y="2292552"/>
              <a:ext cx="0" cy="1021976"/>
            </a:xfrm>
            <a:prstGeom prst="straightConnector1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31">
              <a:extLst>
                <a:ext uri="{FF2B5EF4-FFF2-40B4-BE49-F238E27FC236}">
                  <a16:creationId xmlns:a16="http://schemas.microsoft.com/office/drawing/2014/main" id="{9C7AE517-3EDD-AF24-5ADB-919FB28603D8}"/>
                </a:ext>
              </a:extLst>
            </p:cNvPr>
            <p:cNvCxnSpPr>
              <a:stCxn id="5" idx="6"/>
              <a:endCxn id="7" idx="2"/>
            </p:cNvCxnSpPr>
            <p:nvPr/>
          </p:nvCxnSpPr>
          <p:spPr>
            <a:xfrm>
              <a:off x="8668566" y="3482114"/>
              <a:ext cx="1672744" cy="0"/>
            </a:xfrm>
            <a:prstGeom prst="straightConnector1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31">
              <a:extLst>
                <a:ext uri="{FF2B5EF4-FFF2-40B4-BE49-F238E27FC236}">
                  <a16:creationId xmlns:a16="http://schemas.microsoft.com/office/drawing/2014/main" id="{176D5241-90AA-605B-03E4-5AFEBD1F3871}"/>
                </a:ext>
              </a:extLst>
            </p:cNvPr>
            <p:cNvCxnSpPr>
              <a:stCxn id="8" idx="4"/>
              <a:endCxn id="7" idx="0"/>
            </p:cNvCxnSpPr>
            <p:nvPr/>
          </p:nvCxnSpPr>
          <p:spPr>
            <a:xfrm flipH="1">
              <a:off x="10508896" y="2292552"/>
              <a:ext cx="1" cy="1021976"/>
            </a:xfrm>
            <a:prstGeom prst="straightConnector1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4262EBC7-DAE2-6CA5-BE42-448566250D12}"/>
                </a:ext>
              </a:extLst>
            </p:cNvPr>
            <p:cNvSpPr/>
            <p:nvPr/>
          </p:nvSpPr>
          <p:spPr>
            <a:xfrm>
              <a:off x="9413995" y="2594969"/>
              <a:ext cx="335171" cy="33517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</a:t>
              </a:r>
            </a:p>
          </p:txBody>
        </p:sp>
        <p:cxnSp>
          <p:nvCxnSpPr>
            <p:cNvPr id="24" name="Straight Connector 31">
              <a:extLst>
                <a:ext uri="{FF2B5EF4-FFF2-40B4-BE49-F238E27FC236}">
                  <a16:creationId xmlns:a16="http://schemas.microsoft.com/office/drawing/2014/main" id="{927F6F51-D4A8-EFD9-DF04-4DAC1EC879B5}"/>
                </a:ext>
              </a:extLst>
            </p:cNvPr>
            <p:cNvCxnSpPr>
              <a:cxnSpLocks/>
              <a:stCxn id="6" idx="5"/>
              <a:endCxn id="16" idx="1"/>
            </p:cNvCxnSpPr>
            <p:nvPr/>
          </p:nvCxnSpPr>
          <p:spPr>
            <a:xfrm>
              <a:off x="8619481" y="2243467"/>
              <a:ext cx="843599" cy="400587"/>
            </a:xfrm>
            <a:prstGeom prst="straightConnector1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31">
              <a:extLst>
                <a:ext uri="{FF2B5EF4-FFF2-40B4-BE49-F238E27FC236}">
                  <a16:creationId xmlns:a16="http://schemas.microsoft.com/office/drawing/2014/main" id="{B6A768BA-2DD2-0A0A-F134-D3979EB250A8}"/>
                </a:ext>
              </a:extLst>
            </p:cNvPr>
            <p:cNvCxnSpPr>
              <a:cxnSpLocks/>
              <a:stCxn id="16" idx="7"/>
              <a:endCxn id="8" idx="3"/>
            </p:cNvCxnSpPr>
            <p:nvPr/>
          </p:nvCxnSpPr>
          <p:spPr>
            <a:xfrm flipV="1">
              <a:off x="9700081" y="2243467"/>
              <a:ext cx="690315" cy="400587"/>
            </a:xfrm>
            <a:prstGeom prst="straightConnector1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1">
              <a:extLst>
                <a:ext uri="{FF2B5EF4-FFF2-40B4-BE49-F238E27FC236}">
                  <a16:creationId xmlns:a16="http://schemas.microsoft.com/office/drawing/2014/main" id="{A35F56F4-B915-10DF-6B9A-950DA11B8296}"/>
                </a:ext>
              </a:extLst>
            </p:cNvPr>
            <p:cNvCxnSpPr>
              <a:cxnSpLocks/>
              <a:stCxn id="5" idx="7"/>
              <a:endCxn id="16" idx="3"/>
            </p:cNvCxnSpPr>
            <p:nvPr/>
          </p:nvCxnSpPr>
          <p:spPr>
            <a:xfrm flipV="1">
              <a:off x="8619481" y="2881055"/>
              <a:ext cx="843599" cy="482558"/>
            </a:xfrm>
            <a:prstGeom prst="straightConnector1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1">
              <a:extLst>
                <a:ext uri="{FF2B5EF4-FFF2-40B4-BE49-F238E27FC236}">
                  <a16:creationId xmlns:a16="http://schemas.microsoft.com/office/drawing/2014/main" id="{15B8247C-A95D-9C84-601B-D392E6BC27F1}"/>
                </a:ext>
              </a:extLst>
            </p:cNvPr>
            <p:cNvCxnSpPr>
              <a:cxnSpLocks/>
              <a:stCxn id="16" idx="5"/>
              <a:endCxn id="7" idx="1"/>
            </p:cNvCxnSpPr>
            <p:nvPr/>
          </p:nvCxnSpPr>
          <p:spPr>
            <a:xfrm>
              <a:off x="9700081" y="2881055"/>
              <a:ext cx="690314" cy="482558"/>
            </a:xfrm>
            <a:prstGeom prst="straightConnector1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1">
              <a:extLst>
                <a:ext uri="{FF2B5EF4-FFF2-40B4-BE49-F238E27FC236}">
                  <a16:creationId xmlns:a16="http://schemas.microsoft.com/office/drawing/2014/main" id="{CC2CD196-A606-4B8F-3978-BEF67043E262}"/>
                </a:ext>
              </a:extLst>
            </p:cNvPr>
            <p:cNvCxnSpPr>
              <a:cxnSpLocks/>
              <a:stCxn id="8" idx="6"/>
              <a:endCxn id="5" idx="4"/>
            </p:cNvCxnSpPr>
            <p:nvPr/>
          </p:nvCxnSpPr>
          <p:spPr>
            <a:xfrm flipH="1">
              <a:off x="8500981" y="2124967"/>
              <a:ext cx="2175501" cy="1524732"/>
            </a:xfrm>
            <a:prstGeom prst="curvedConnector4">
              <a:avLst>
                <a:gd name="adj1" fmla="val -28722"/>
                <a:gd name="adj2" fmla="val 148310"/>
              </a:avLst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352665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C3B95-8803-F548-902A-C791AB8A4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Complexity Classes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77D657-C44A-F1AF-8069-F7D2A0AB41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US" dirty="0"/>
                  <a:t>A Complexity Class is a set of problems (e.g. sorting, Euler path, Hamiltonian path)</a:t>
                </a:r>
              </a:p>
              <a:p>
                <a:pPr lvl="1"/>
                <a:r>
                  <a:rPr lang="en-US" dirty="0"/>
                  <a:t>The problems included in a complexity class are those whose most efficient algorithm has a specific upper bound on its running time (or memory use, or…)</a:t>
                </a:r>
              </a:p>
              <a:p>
                <a:r>
                  <a:rPr lang="en-US" dirty="0"/>
                  <a:t>Examples:</a:t>
                </a:r>
              </a:p>
              <a:p>
                <a:pPr lvl="1"/>
                <a:r>
                  <a:rPr lang="en-US" dirty="0"/>
                  <a:t>The set of all problems that can be solved by an algorithm with running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Contains: Finding the minimum of a list, finding the maximum of a list, </a:t>
                </a:r>
                <a:r>
                  <a:rPr lang="en-US" dirty="0" err="1"/>
                  <a:t>buildheap</a:t>
                </a:r>
                <a:r>
                  <a:rPr lang="en-US" dirty="0"/>
                  <a:t>, summing a list, etc.</a:t>
                </a:r>
              </a:p>
              <a:p>
                <a:pPr lvl="1"/>
                <a:r>
                  <a:rPr lang="en-US" dirty="0"/>
                  <a:t>The set of all problems that can be solved by an algorithm with running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Contains: everything above as well as sorting, Euler path</a:t>
                </a:r>
              </a:p>
              <a:p>
                <a:pPr lvl="1"/>
                <a:r>
                  <a:rPr lang="en-US" dirty="0"/>
                  <a:t>The set of all problems that can be solved by an algorithm with running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!</m:t>
                        </m:r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Contains: everything we’ve seen in this class so far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77D657-C44A-F1AF-8069-F7D2A0AB41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 b="-8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60586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E3049-9A36-4872-6DE7-2BA549246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Complexity Classes and Tractability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E2FB8E-130B-75C8-4641-87C97C4EDA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To explore what problems are and are not tractable, we give some complexity classes special names:</a:t>
                </a:r>
              </a:p>
              <a:p>
                <a:r>
                  <a:rPr lang="en-US" b="0" dirty="0"/>
                  <a:t>Complexity Class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Stands for “Polynomial”</a:t>
                </a:r>
              </a:p>
              <a:p>
                <a:pPr lvl="1"/>
                <a:r>
                  <a:rPr lang="en-US" dirty="0"/>
                  <a:t>The set of problems which have an algorithm whose running time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</m:sSup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some choice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We say all problems belonging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 are “Tractable”</a:t>
                </a:r>
              </a:p>
              <a:p>
                <a:r>
                  <a:rPr lang="en-US" dirty="0"/>
                  <a:t>Complexity Class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𝐸𝑋𝑃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Stands for “Exponential”</a:t>
                </a:r>
              </a:p>
              <a:p>
                <a:pPr lvl="1"/>
                <a:r>
                  <a:rPr lang="en-US" dirty="0"/>
                  <a:t>The set of problems which have an algorithm whose running time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p>
                            </m:sSup>
                          </m:sup>
                        </m:sSup>
                      </m:e>
                    </m:d>
                  </m:oMath>
                </a14:m>
                <a:r>
                  <a:rPr lang="en-US" dirty="0"/>
                  <a:t> for some choice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We say all problems belonging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𝐸𝑋𝑃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 are “Intractable”</a:t>
                </a:r>
              </a:p>
              <a:p>
                <a:pPr lvl="2"/>
                <a:r>
                  <a:rPr lang="en-US" dirty="0"/>
                  <a:t>Disclaimer: Really it’s all problems outside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, and there are problems which do not belong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𝐸𝑋𝑃</m:t>
                    </m:r>
                  </m:oMath>
                </a14:m>
                <a:r>
                  <a:rPr lang="en-US" dirty="0"/>
                  <a:t>, but we’re not going to worry about those in this class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E2FB8E-130B-75C8-4641-87C97C4EDA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928" t="-2421" r="-2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2700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87E63B7-26A8-E554-2435-7EE8062ABFA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𝐸𝑋𝑃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87E63B7-26A8-E554-2435-7EE8062ABF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 descr="A Venn Diagram showing the relationship between P and EXP.&#10;&#10;P stands for &quot;Polynomial&quot; and is defined as the set of all problems for which there exists and algorithm which solves it in polynomial time (O(n^p) for some choice of P). EXP stands for &quot;Exponential&quot; and is characterized by the set of problems for which there exists an algorithm which solves it in exponential time (O(2^(n^p)) for some choice of p).&#10;&#10;The class P is shown to be entirely within the class EXP. ">
            <a:extLst>
              <a:ext uri="{FF2B5EF4-FFF2-40B4-BE49-F238E27FC236}">
                <a16:creationId xmlns:a16="http://schemas.microsoft.com/office/drawing/2014/main" id="{0D632BD6-C0C9-1ECD-E323-96788B51AFCB}"/>
              </a:ext>
            </a:extLst>
          </p:cNvPr>
          <p:cNvGrpSpPr/>
          <p:nvPr/>
        </p:nvGrpSpPr>
        <p:grpSpPr>
          <a:xfrm>
            <a:off x="60960" y="1564640"/>
            <a:ext cx="9306560" cy="5096192"/>
            <a:chOff x="60960" y="1564640"/>
            <a:chExt cx="9306560" cy="5096192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41635B6-F402-1095-4877-EFE866AA1617}"/>
                </a:ext>
              </a:extLst>
            </p:cNvPr>
            <p:cNvSpPr/>
            <p:nvPr/>
          </p:nvSpPr>
          <p:spPr>
            <a:xfrm>
              <a:off x="60960" y="1564640"/>
              <a:ext cx="9306560" cy="5096192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22CD1BFD-574C-E5F5-667A-A8E28277AD99}"/>
                    </a:ext>
                  </a:extLst>
                </p:cNvPr>
                <p:cNvSpPr/>
                <p:nvPr/>
              </p:nvSpPr>
              <p:spPr>
                <a:xfrm>
                  <a:off x="1635760" y="3469640"/>
                  <a:ext cx="4998720" cy="2555240"/>
                </a:xfrm>
                <a:prstGeom prst="ellipse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Polynomial</a:t>
                  </a:r>
                </a:p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Upper bounded by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</m:sSup>
                    </m:oMath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22CD1BFD-574C-E5F5-667A-A8E28277AD9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5760" y="3469640"/>
                  <a:ext cx="4998720" cy="2555240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F3933289-11A2-E100-3246-E02B39C7AED0}"/>
                    </a:ext>
                  </a:extLst>
                </p:cNvPr>
                <p:cNvSpPr txBox="1"/>
                <p:nvPr/>
              </p:nvSpPr>
              <p:spPr>
                <a:xfrm>
                  <a:off x="1981200" y="1670880"/>
                  <a:ext cx="6096000" cy="142442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𝐸𝑋</m:t>
                        </m:r>
                        <m:r>
                          <a:rPr lang="en-US" sz="28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Exponential</a:t>
                  </a:r>
                </a:p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Upper bounded by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sSup>
                            <m:sSupPr>
                              <m:ctrlP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</m:sSup>
                        </m:sup>
                      </m:sSup>
                    </m:oMath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F3933289-11A2-E100-3246-E02B39C7AE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81200" y="1670880"/>
                  <a:ext cx="6096000" cy="1424429"/>
                </a:xfrm>
                <a:prstGeom prst="rect">
                  <a:avLst/>
                </a:prstGeom>
                <a:blipFill>
                  <a:blip r:embed="rId4"/>
                  <a:stretch>
                    <a:fillRect b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72550DD-9FF2-C570-E745-65E19BAC93D5}"/>
                </a:ext>
              </a:extLst>
            </p:cNvPr>
            <p:cNvSpPr txBox="1"/>
            <p:nvPr/>
          </p:nvSpPr>
          <p:spPr>
            <a:xfrm>
              <a:off x="3471477" y="5383014"/>
              <a:ext cx="132728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FF0000"/>
                  </a:solidFill>
                </a:rPr>
                <a:t>Tractable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7574646-F281-6298-2601-18567B627005}"/>
                </a:ext>
              </a:extLst>
            </p:cNvPr>
            <p:cNvSpPr txBox="1"/>
            <p:nvPr/>
          </p:nvSpPr>
          <p:spPr>
            <a:xfrm>
              <a:off x="7337357" y="4032547"/>
              <a:ext cx="153426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A50021"/>
                  </a:solidFill>
                </a:rPr>
                <a:t>Intractable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3EA2E16-333B-8EE1-3D66-03F2438D521D}"/>
                  </a:ext>
                </a:extLst>
              </p:cNvPr>
              <p:cNvSpPr txBox="1"/>
              <p:nvPr/>
            </p:nvSpPr>
            <p:spPr>
              <a:xfrm>
                <a:off x="5344160" y="212298"/>
                <a:ext cx="6924040" cy="13234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000" b="1" u="sng" dirty="0">
                    <a:solidFill>
                      <a:srgbClr val="FF0000"/>
                    </a:solidFill>
                  </a:rPr>
                  <a:t>Important!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⊂</m:t>
                      </m:r>
                      <m:r>
                        <a:rPr lang="en-US" sz="2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𝐸𝑋𝑃</m:t>
                      </m:r>
                    </m:oMath>
                  </m:oMathPara>
                </a14:m>
                <a:endParaRPr lang="en-US" sz="2000" dirty="0">
                  <a:solidFill>
                    <a:srgbClr val="FF0000"/>
                  </a:solidFill>
                </a:endParaRPr>
              </a:p>
              <a:p>
                <a:pPr algn="ctr"/>
                <a:r>
                  <a:rPr lang="en-US" sz="2000" dirty="0">
                    <a:solidFill>
                      <a:srgbClr val="FF0000"/>
                    </a:solidFill>
                  </a:rPr>
                  <a:t>Every problem within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000" dirty="0">
                    <a:solidFill>
                      <a:srgbClr val="FF0000"/>
                    </a:solidFill>
                  </a:rPr>
                  <a:t> is also within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𝐸𝑋𝑃</m:t>
                    </m:r>
                  </m:oMath>
                </a14:m>
                <a:endParaRPr lang="en-US" sz="2000" dirty="0">
                  <a:solidFill>
                    <a:srgbClr val="FF0000"/>
                  </a:solidFill>
                </a:endParaRPr>
              </a:p>
              <a:p>
                <a:pPr algn="ctr"/>
                <a:r>
                  <a:rPr lang="en-US" sz="2000" dirty="0">
                    <a:solidFill>
                      <a:srgbClr val="FF0000"/>
                    </a:solidFill>
                  </a:rPr>
                  <a:t>The intractable ones are the problems within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𝐸𝑋𝑃</m:t>
                    </m:r>
                  </m:oMath>
                </a14:m>
                <a:r>
                  <a:rPr lang="en-US" sz="2000" dirty="0">
                    <a:solidFill>
                      <a:srgbClr val="FF0000"/>
                    </a:solidFill>
                  </a:rPr>
                  <a:t> but NOT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3EA2E16-333B-8EE1-3D66-03F2438D52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4160" y="212298"/>
                <a:ext cx="6924040" cy="1323439"/>
              </a:xfrm>
              <a:prstGeom prst="rect">
                <a:avLst/>
              </a:prstGeom>
              <a:blipFill>
                <a:blip r:embed="rId5"/>
                <a:stretch>
                  <a:fillRect t="-2765" b="-73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870565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87E63B7-26A8-E554-2435-7EE8062ABFA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0" y="157840"/>
                <a:ext cx="5936673" cy="1325563"/>
              </a:xfrm>
            </p:spPr>
            <p:txBody>
              <a:bodyPr/>
              <a:lstStyle/>
              <a:p>
                <a:r>
                  <a:rPr lang="en-US" dirty="0"/>
                  <a:t>Members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𝐸𝑋𝑃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87E63B7-26A8-E554-2435-7EE8062ABF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0" y="157840"/>
                <a:ext cx="5936673" cy="1325563"/>
              </a:xfrm>
              <a:blipFill>
                <a:blip r:embed="rId2"/>
                <a:stretch>
                  <a:fillRect l="-41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3EA2E16-333B-8EE1-3D66-03F2438D521D}"/>
                  </a:ext>
                </a:extLst>
              </p:cNvPr>
              <p:cNvSpPr txBox="1"/>
              <p:nvPr/>
            </p:nvSpPr>
            <p:spPr>
              <a:xfrm>
                <a:off x="5344160" y="162420"/>
                <a:ext cx="6924040" cy="16312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000" b="1" u="sng" dirty="0">
                    <a:solidFill>
                      <a:srgbClr val="FF0000"/>
                    </a:solidFill>
                  </a:rPr>
                  <a:t>Important!</a:t>
                </a:r>
              </a:p>
              <a:p>
                <a:pPr algn="ctr"/>
                <a:r>
                  <a:rPr lang="en-US" sz="2000" dirty="0">
                    <a:solidFill>
                      <a:srgbClr val="FF0000"/>
                    </a:solidFill>
                  </a:rPr>
                  <a:t>Some of the problems we’ve listed in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𝐸𝑋𝑃</m:t>
                    </m:r>
                  </m:oMath>
                </a14:m>
                <a:r>
                  <a:rPr lang="en-US" sz="2000" dirty="0">
                    <a:solidFill>
                      <a:srgbClr val="FF0000"/>
                    </a:solidFill>
                  </a:rPr>
                  <a:t> could also be members of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000" dirty="0">
                    <a:solidFill>
                      <a:srgbClr val="FF0000"/>
                    </a:solidFill>
                  </a:rPr>
                  <a:t>. Since membership is determined by a problem’s </a:t>
                </a:r>
                <a:r>
                  <a:rPr lang="en-US" sz="2000" i="1" dirty="0">
                    <a:solidFill>
                      <a:srgbClr val="FF0000"/>
                    </a:solidFill>
                  </a:rPr>
                  <a:t>most</a:t>
                </a:r>
                <a:r>
                  <a:rPr lang="en-US" sz="2000" dirty="0">
                    <a:solidFill>
                      <a:srgbClr val="FF0000"/>
                    </a:solidFill>
                  </a:rPr>
                  <a:t> efficient algorithm, knowing if a problem belongs to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000" dirty="0">
                    <a:solidFill>
                      <a:srgbClr val="FF0000"/>
                    </a:solidFill>
                  </a:rPr>
                  <a:t> requires knowing the best algorithm possible! 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3EA2E16-333B-8EE1-3D66-03F2438D52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4160" y="162420"/>
                <a:ext cx="6924040" cy="1631216"/>
              </a:xfrm>
              <a:prstGeom prst="rect">
                <a:avLst/>
              </a:prstGeom>
              <a:blipFill>
                <a:blip r:embed="rId3"/>
                <a:stretch>
                  <a:fillRect t="-2247" r="-264" b="-59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 descr="Some example problems known to be within P: Sorting, Shortest Path, Euler Path&#10;&#10;Some example problems known to be in EXP but may or may not be within P: Hamiltonian Path, Longest Path, Vertex Cover, Independent Set, Satisfiability&#10;&#10;An example problem known to be within EXP but outside of P: Board Game Strategies (e.g. Chess).">
            <a:extLst>
              <a:ext uri="{FF2B5EF4-FFF2-40B4-BE49-F238E27FC236}">
                <a16:creationId xmlns:a16="http://schemas.microsoft.com/office/drawing/2014/main" id="{27FE13E7-26A3-2D1A-EDCE-32972753FE4C}"/>
              </a:ext>
            </a:extLst>
          </p:cNvPr>
          <p:cNvGrpSpPr/>
          <p:nvPr/>
        </p:nvGrpSpPr>
        <p:grpSpPr>
          <a:xfrm>
            <a:off x="60960" y="1564640"/>
            <a:ext cx="9306560" cy="5096192"/>
            <a:chOff x="60960" y="1564640"/>
            <a:chExt cx="9306560" cy="5096192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41635B6-F402-1095-4877-EFE866AA1617}"/>
                </a:ext>
              </a:extLst>
            </p:cNvPr>
            <p:cNvSpPr/>
            <p:nvPr/>
          </p:nvSpPr>
          <p:spPr>
            <a:xfrm>
              <a:off x="60960" y="1564640"/>
              <a:ext cx="9306560" cy="5096192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22CD1BFD-574C-E5F5-667A-A8E28277AD99}"/>
                </a:ext>
              </a:extLst>
            </p:cNvPr>
            <p:cNvSpPr/>
            <p:nvPr/>
          </p:nvSpPr>
          <p:spPr>
            <a:xfrm>
              <a:off x="261106" y="2732548"/>
              <a:ext cx="4998720" cy="2555240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F3933289-11A2-E100-3246-E02B39C7AED0}"/>
                    </a:ext>
                  </a:extLst>
                </p:cNvPr>
                <p:cNvSpPr txBox="1"/>
                <p:nvPr/>
              </p:nvSpPr>
              <p:spPr>
                <a:xfrm>
                  <a:off x="1981200" y="1670880"/>
                  <a:ext cx="6096000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𝐸𝑋</m:t>
                        </m:r>
                        <m:r>
                          <a:rPr lang="en-US" sz="28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F3933289-11A2-E100-3246-E02B39C7AE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81200" y="1670880"/>
                  <a:ext cx="6096000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72550DD-9FF2-C570-E745-65E19BAC93D5}"/>
                </a:ext>
              </a:extLst>
            </p:cNvPr>
            <p:cNvSpPr txBox="1"/>
            <p:nvPr/>
          </p:nvSpPr>
          <p:spPr>
            <a:xfrm>
              <a:off x="2096823" y="4645922"/>
              <a:ext cx="132728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FF0000"/>
                  </a:solidFill>
                </a:rPr>
                <a:t>Tractable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7574646-F281-6298-2601-18567B627005}"/>
                </a:ext>
              </a:extLst>
            </p:cNvPr>
            <p:cNvSpPr txBox="1"/>
            <p:nvPr/>
          </p:nvSpPr>
          <p:spPr>
            <a:xfrm>
              <a:off x="3809894" y="6098815"/>
              <a:ext cx="153426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FF0000"/>
                  </a:solidFill>
                </a:rPr>
                <a:t>Intractable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1F464BCC-0AB2-C9A2-C0EE-1EFC632FB5C4}"/>
                    </a:ext>
                  </a:extLst>
                </p:cNvPr>
                <p:cNvSpPr txBox="1"/>
                <p:nvPr/>
              </p:nvSpPr>
              <p:spPr>
                <a:xfrm>
                  <a:off x="1105304" y="2971616"/>
                  <a:ext cx="991519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1F464BCC-0AB2-C9A2-C0EE-1EFC632FB5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5304" y="2971616"/>
                  <a:ext cx="991519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C629A71-AB01-83C3-B166-62581ECB1099}"/>
                </a:ext>
              </a:extLst>
            </p:cNvPr>
            <p:cNvSpPr txBox="1"/>
            <p:nvPr/>
          </p:nvSpPr>
          <p:spPr>
            <a:xfrm>
              <a:off x="1102278" y="2952357"/>
              <a:ext cx="4321190" cy="138499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Sorting</a:t>
              </a:r>
            </a:p>
            <a:p>
              <a:pPr algn="ctr"/>
              <a:r>
                <a:rPr lang="en-US" sz="2800" dirty="0"/>
                <a:t>Shortest Path</a:t>
              </a:r>
            </a:p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Euler Path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B97214B-E7A6-DCFB-5A0B-3874A9D2C550}"/>
                </a:ext>
              </a:extLst>
            </p:cNvPr>
            <p:cNvSpPr txBox="1"/>
            <p:nvPr/>
          </p:nvSpPr>
          <p:spPr>
            <a:xfrm>
              <a:off x="4440933" y="2895021"/>
              <a:ext cx="4321190" cy="26776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Hamiltonian Path</a:t>
              </a:r>
            </a:p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Longest Path</a:t>
              </a:r>
            </a:p>
            <a:p>
              <a:pPr algn="ctr"/>
              <a:r>
                <a:rPr lang="en-US" sz="2800" dirty="0"/>
                <a:t>Vertex Cover</a:t>
              </a:r>
            </a:p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Independent Set</a:t>
              </a:r>
            </a:p>
            <a:p>
              <a:pPr algn="ctr"/>
              <a:r>
                <a:rPr lang="en-US" sz="2800" dirty="0"/>
                <a:t>Satisfiability</a:t>
              </a:r>
            </a:p>
            <a:p>
              <a:pPr algn="ctr"/>
              <a:r>
                <a:rPr lang="en-US" sz="2800" dirty="0"/>
                <a:t>Most Board Game Strategies</a:t>
              </a:r>
              <a:endParaRPr lang="en-US" sz="28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363852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907D8-AFB7-106C-286D-8A15C2C6E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Studying Complexity and Tractability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8BC985-1CA7-0F95-E19A-C18AFEB4C4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Organizing problems into complexity classes helps us to reason more carefully and flexibly about tractability</a:t>
                </a:r>
              </a:p>
              <a:p>
                <a:r>
                  <a:rPr lang="en-US" dirty="0"/>
                  <a:t>The goal for each problem is to either</a:t>
                </a:r>
              </a:p>
              <a:p>
                <a:pPr lvl="1"/>
                <a:r>
                  <a:rPr lang="en-US" dirty="0"/>
                  <a:t>Find an efficient algorithm if it exists</a:t>
                </a:r>
              </a:p>
              <a:p>
                <a:pPr lvl="2"/>
                <a:r>
                  <a:rPr lang="en-US" dirty="0"/>
                  <a:t>i.e. show it belongs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Prove that no efficient algorithm exists</a:t>
                </a:r>
              </a:p>
              <a:p>
                <a:pPr lvl="2"/>
                <a:r>
                  <a:rPr lang="en-US" dirty="0"/>
                  <a:t>i.e. show it does not belong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US" dirty="0"/>
              </a:p>
              <a:p>
                <a:r>
                  <a:rPr lang="en-US" dirty="0"/>
                  <a:t>Complexity classes allow us to reason about sets of problems at a time, rather than each problem individually</a:t>
                </a:r>
              </a:p>
              <a:p>
                <a:pPr lvl="1"/>
                <a:r>
                  <a:rPr lang="en-US" dirty="0"/>
                  <a:t>If we can find more precise classes to organize problems into, we might be able to draw conclusions about the entire class</a:t>
                </a:r>
              </a:p>
              <a:p>
                <a:pPr lvl="1"/>
                <a:r>
                  <a:rPr lang="en-US" dirty="0"/>
                  <a:t>It may be easier to show a problem belongs to class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than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, so it may help to show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8BC985-1CA7-0F95-E19A-C18AFEB4C4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043"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813043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F2A4056-3B1E-4C93-D4D8-6FC1AE79F22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Some problems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𝐸𝑋𝑃</m:t>
                    </m:r>
                  </m:oMath>
                </a14:m>
                <a:r>
                  <a:rPr lang="en-US" dirty="0"/>
                  <a:t> seem “easier”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F2A4056-3B1E-4C93-D4D8-6FC1AE79F2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C84F8A-7B34-FBF2-A05D-44DB229920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are some problems that we do not have polynomial time algorithms to solve, but provided answers are easy to check</a:t>
            </a:r>
          </a:p>
          <a:p>
            <a:r>
              <a:rPr lang="en-US" dirty="0"/>
              <a:t>Hamiltonian Path:</a:t>
            </a:r>
          </a:p>
          <a:p>
            <a:pPr lvl="1"/>
            <a:r>
              <a:rPr lang="en-US" dirty="0"/>
              <a:t>It’s “hard” to look at a graph and determine whether it has a Hamiltonian Path</a:t>
            </a:r>
          </a:p>
          <a:p>
            <a:pPr lvl="1"/>
            <a:r>
              <a:rPr lang="en-US" dirty="0"/>
              <a:t>It’s “easy” to look at a graph and a candidate path together and determine whether THAT path is a Hamiltonian Path </a:t>
            </a:r>
          </a:p>
          <a:p>
            <a:pPr lvl="2"/>
            <a:r>
              <a:rPr lang="en-US" dirty="0"/>
              <a:t>It’s easy to </a:t>
            </a:r>
            <a:r>
              <a:rPr lang="en-US" b="1" dirty="0"/>
              <a:t>verify</a:t>
            </a:r>
            <a:r>
              <a:rPr lang="en-US" dirty="0"/>
              <a:t> whether a given path is a Hamiltonian path</a:t>
            </a:r>
          </a:p>
        </p:txBody>
      </p:sp>
    </p:spTree>
    <p:extLst>
      <p:ext uri="{BB962C8B-B14F-4D97-AF65-F5344CB8AC3E}">
        <p14:creationId xmlns:p14="http://schemas.microsoft.com/office/powerpoint/2010/main" val="4916637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60C0E09-0E0C-6D5C-E168-D8F5A7163FA1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Class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60C0E09-0E0C-6D5C-E168-D8F5A7163F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B68C499-1D0B-7FAA-60A6-A273D22EA83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set of problems for which a candidate solution can be verified in polynomial time</a:t>
                </a:r>
              </a:p>
              <a:p>
                <a:pPr lvl="1"/>
                <a:r>
                  <a:rPr lang="en-US" dirty="0"/>
                  <a:t>Stands for “Non-deterministic Polynomial”</a:t>
                </a:r>
              </a:p>
              <a:p>
                <a:pPr lvl="2"/>
                <a:r>
                  <a:rPr lang="en-US" dirty="0"/>
                  <a:t>Corresponds to algorithms that can guess a solution (if it exists), that solution is then verified to be correct in polynomial time</a:t>
                </a:r>
              </a:p>
              <a:p>
                <a:pPr lvl="2"/>
                <a:r>
                  <a:rPr lang="en-US" dirty="0"/>
                  <a:t>Can also think of as allowing a special operation that allows the algorithm to magically guess the right choice at each step of an exhaustive search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Why?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B68C499-1D0B-7FAA-60A6-A273D22EA8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65346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87E63B7-26A8-E554-2435-7EE8062ABFA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193040" y="104140"/>
                <a:ext cx="10515600" cy="1325563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𝐸𝑋𝑃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87E63B7-26A8-E554-2435-7EE8062ABF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93040" y="104140"/>
                <a:ext cx="10515600" cy="1325563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 descr="A venn diagram illustrating the relationship between EXP, P, and NP.&#10;&#10;P is known to be a proper subset of EXP. NP is also known to be a proper subset of EXP. P is known to be a subset of NP, but it is unknown whether it is a proper subset.">
            <a:extLst>
              <a:ext uri="{FF2B5EF4-FFF2-40B4-BE49-F238E27FC236}">
                <a16:creationId xmlns:a16="http://schemas.microsoft.com/office/drawing/2014/main" id="{13439401-F315-B68A-B248-B972A80709B0}"/>
              </a:ext>
            </a:extLst>
          </p:cNvPr>
          <p:cNvGrpSpPr/>
          <p:nvPr/>
        </p:nvGrpSpPr>
        <p:grpSpPr>
          <a:xfrm>
            <a:off x="396240" y="715328"/>
            <a:ext cx="11602720" cy="6142672"/>
            <a:chOff x="396240" y="715328"/>
            <a:chExt cx="11602720" cy="6142672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41635B6-F402-1095-4877-EFE866AA1617}"/>
                </a:ext>
              </a:extLst>
            </p:cNvPr>
            <p:cNvSpPr/>
            <p:nvPr/>
          </p:nvSpPr>
          <p:spPr>
            <a:xfrm>
              <a:off x="396240" y="715328"/>
              <a:ext cx="11602720" cy="6142672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F3933289-11A2-E100-3246-E02B39C7AED0}"/>
                    </a:ext>
                  </a:extLst>
                </p:cNvPr>
                <p:cNvSpPr txBox="1"/>
                <p:nvPr/>
              </p:nvSpPr>
              <p:spPr>
                <a:xfrm>
                  <a:off x="3342640" y="733886"/>
                  <a:ext cx="6096000" cy="142442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𝐸𝑋</m:t>
                        </m:r>
                        <m:r>
                          <a:rPr lang="en-US" sz="28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Exponential</a:t>
                  </a:r>
                </a:p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Upper bounded by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sSup>
                            <m:sSupPr>
                              <m:ctrlP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</m:sSup>
                        </m:sup>
                      </m:sSup>
                    </m:oMath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F3933289-11A2-E100-3246-E02B39C7AE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42640" y="733886"/>
                  <a:ext cx="6096000" cy="1424429"/>
                </a:xfrm>
                <a:prstGeom prst="rect">
                  <a:avLst/>
                </a:prstGeom>
                <a:blipFill>
                  <a:blip r:embed="rId3"/>
                  <a:stretch>
                    <a:fillRect b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FBAF8506-45D6-1464-2EA9-BAD5C9E44E96}"/>
                </a:ext>
              </a:extLst>
            </p:cNvPr>
            <p:cNvSpPr/>
            <p:nvPr/>
          </p:nvSpPr>
          <p:spPr>
            <a:xfrm>
              <a:off x="995680" y="2158315"/>
              <a:ext cx="9804400" cy="4118917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22CD1BFD-574C-E5F5-667A-A8E28277AD99}"/>
                    </a:ext>
                  </a:extLst>
                </p:cNvPr>
                <p:cNvSpPr/>
                <p:nvPr/>
              </p:nvSpPr>
              <p:spPr>
                <a:xfrm>
                  <a:off x="1391920" y="3176123"/>
                  <a:ext cx="4998720" cy="2555240"/>
                </a:xfrm>
                <a:prstGeom prst="ellipse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Polynomial</a:t>
                  </a:r>
                </a:p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Upper bounded by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</m:sSup>
                    </m:oMath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22CD1BFD-574C-E5F5-667A-A8E28277AD9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1920" y="3176123"/>
                  <a:ext cx="4998720" cy="2555240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0561229C-901F-E6AA-7760-7159895368CF}"/>
                    </a:ext>
                  </a:extLst>
                </p:cNvPr>
                <p:cNvSpPr txBox="1"/>
                <p:nvPr/>
              </p:nvSpPr>
              <p:spPr>
                <a:xfrm>
                  <a:off x="5303520" y="3004590"/>
                  <a:ext cx="6096000" cy="142442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8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oMath>
                    </m:oMathPara>
                  </a14:m>
                  <a:endParaRPr lang="en-US" sz="2800" dirty="0">
                    <a:solidFill>
                      <a:schemeClr val="tx1"/>
                    </a:solidFill>
                  </a:endParaRPr>
                </a:p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Nondeterministic Polynomial</a:t>
                  </a:r>
                </a:p>
                <a:p>
                  <a:pPr algn="ctr"/>
                  <a:r>
                    <a:rPr lang="en-US" sz="2800" dirty="0"/>
                    <a:t>Verified in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</m:sSup>
                    </m:oMath>
                  </a14:m>
                  <a:r>
                    <a:rPr lang="en-US" sz="2800" dirty="0">
                      <a:solidFill>
                        <a:schemeClr val="tx1"/>
                      </a:solidFill>
                    </a:rPr>
                    <a:t> time</a:t>
                  </a:r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0561229C-901F-E6AA-7760-7159895368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3520" y="3004590"/>
                  <a:ext cx="6096000" cy="1424429"/>
                </a:xfrm>
                <a:prstGeom prst="rect">
                  <a:avLst/>
                </a:prstGeom>
                <a:blipFill>
                  <a:blip r:embed="rId5"/>
                  <a:stretch>
                    <a:fillRect b="-854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AC71D22A-C4FD-A562-E8FB-9618A48A76F8}"/>
                </a:ext>
              </a:extLst>
            </p:cNvPr>
            <p:cNvGrpSpPr/>
            <p:nvPr/>
          </p:nvGrpSpPr>
          <p:grpSpPr>
            <a:xfrm rot="1389724">
              <a:off x="6200745" y="5135200"/>
              <a:ext cx="2475158" cy="523220"/>
              <a:chOff x="6197600" y="5013683"/>
              <a:chExt cx="2475158" cy="523220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D281509-7CCC-72FA-5A63-28BAA927617A}"/>
                  </a:ext>
                </a:extLst>
              </p:cNvPr>
              <p:cNvSpPr txBox="1"/>
              <p:nvPr/>
            </p:nvSpPr>
            <p:spPr>
              <a:xfrm>
                <a:off x="7053897" y="5013683"/>
                <a:ext cx="95560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800" dirty="0">
                    <a:solidFill>
                      <a:srgbClr val="FF0000"/>
                    </a:solidFill>
                  </a:rPr>
                  <a:t>Gap?</a:t>
                </a:r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B82661DB-8387-2CF0-35D0-C14C37B0B8E7}"/>
                  </a:ext>
                </a:extLst>
              </p:cNvPr>
              <p:cNvCxnSpPr>
                <a:stCxn id="12" idx="1"/>
              </p:cNvCxnSpPr>
              <p:nvPr/>
            </p:nvCxnSpPr>
            <p:spPr>
              <a:xfrm flipH="1">
                <a:off x="6197600" y="5275293"/>
                <a:ext cx="856297" cy="1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prstDash val="sys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215AF750-7ABB-9963-C32B-09B336727927}"/>
                  </a:ext>
                </a:extLst>
              </p:cNvPr>
              <p:cNvCxnSpPr>
                <a:cxnSpLocks/>
                <a:stCxn id="12" idx="3"/>
              </p:cNvCxnSpPr>
              <p:nvPr/>
            </p:nvCxnSpPr>
            <p:spPr>
              <a:xfrm>
                <a:off x="8009501" y="5275293"/>
                <a:ext cx="663257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prstDash val="sys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C565268-1DFA-2BDF-B753-888B618F5053}"/>
                </a:ext>
              </a:extLst>
            </p:cNvPr>
            <p:cNvSpPr txBox="1"/>
            <p:nvPr/>
          </p:nvSpPr>
          <p:spPr>
            <a:xfrm rot="1389724">
              <a:off x="6228679" y="5362557"/>
              <a:ext cx="181064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800" dirty="0">
                  <a:solidFill>
                    <a:srgbClr val="FF0000"/>
                  </a:solidFill>
                </a:rPr>
                <a:t>Unknown!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220739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EAA065-6CD0-9F5B-7974-C2A75C541B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and Verifying Hamiltonian Path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F4D0EF-7C00-6F14-9DB2-CA7C1A2A7E0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Give an algorithm to solve Hamiltonian Path</a:t>
                </a:r>
              </a:p>
              <a:p>
                <a:pPr lvl="1"/>
                <a:r>
                  <a:rPr lang="en-US" dirty="0"/>
                  <a:t>Input: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Output: True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has a Hamiltonian Path</a:t>
                </a:r>
              </a:p>
              <a:p>
                <a:pPr lvl="1"/>
                <a:r>
                  <a:rPr lang="en-US" dirty="0"/>
                  <a:t>Algorithm: Check whether each permutation of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is a path.</a:t>
                </a:r>
              </a:p>
              <a:p>
                <a:pPr lvl="2"/>
                <a:r>
                  <a:rPr lang="en-US" dirty="0"/>
                  <a:t>Running time: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!</m:t>
                    </m:r>
                  </m:oMath>
                </a14:m>
                <a:r>
                  <a:rPr lang="en-US" dirty="0"/>
                  <a:t>, so does not show whether it belongs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US" dirty="0"/>
              </a:p>
              <a:p>
                <a:r>
                  <a:rPr lang="en-US" dirty="0"/>
                  <a:t>Give an algorithm to verify Hamiltonian Path</a:t>
                </a:r>
              </a:p>
              <a:p>
                <a:pPr lvl="1"/>
                <a:r>
                  <a:rPr lang="en-US" dirty="0"/>
                  <a:t>Input: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a sequence of nodes</a:t>
                </a:r>
              </a:p>
              <a:p>
                <a:pPr lvl="1"/>
                <a:r>
                  <a:rPr lang="en-US" dirty="0"/>
                  <a:t>Output: True if that sequence of nodes is a Hamiltonian Path</a:t>
                </a:r>
              </a:p>
              <a:p>
                <a:pPr lvl="1"/>
                <a:r>
                  <a:rPr lang="en-US" dirty="0"/>
                  <a:t>Algorithm:</a:t>
                </a:r>
              </a:p>
              <a:p>
                <a:pPr lvl="2"/>
                <a:r>
                  <a:rPr lang="en-US" dirty="0"/>
                  <a:t>Check that each node appears in the sequence exactly once</a:t>
                </a:r>
              </a:p>
              <a:p>
                <a:pPr lvl="2"/>
                <a:r>
                  <a:rPr lang="en-US" dirty="0"/>
                  <a:t>Check that the sequence is a path</a:t>
                </a:r>
              </a:p>
              <a:p>
                <a:pPr lvl="2"/>
                <a:r>
                  <a:rPr lang="en-US" dirty="0"/>
                  <a:t>Running time: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so it belongs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F4D0EF-7C00-6F14-9DB2-CA7C1A2A7E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 b="-7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19080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Party Problem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926051" y="1413405"/>
            <a:ext cx="6562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Draw Edges between people who don’t get along</a:t>
            </a:r>
          </a:p>
          <a:p>
            <a:r>
              <a:rPr lang="en-US" dirty="0"/>
              <a:t>How many people can I invite to a party if everyone must get along?</a:t>
            </a:r>
          </a:p>
        </p:txBody>
      </p:sp>
      <p:grpSp>
        <p:nvGrpSpPr>
          <p:cNvPr id="18" name="Group 17" descr="A graph depicting several famous people and edges between them.">
            <a:extLst>
              <a:ext uri="{FF2B5EF4-FFF2-40B4-BE49-F238E27FC236}">
                <a16:creationId xmlns:a16="http://schemas.microsoft.com/office/drawing/2014/main" id="{7EBDB391-F091-1846-3790-16198B287E18}"/>
              </a:ext>
            </a:extLst>
          </p:cNvPr>
          <p:cNvGrpSpPr/>
          <p:nvPr/>
        </p:nvGrpSpPr>
        <p:grpSpPr>
          <a:xfrm>
            <a:off x="1822926" y="1377631"/>
            <a:ext cx="7796089" cy="5253107"/>
            <a:chOff x="1822926" y="1377631"/>
            <a:chExt cx="7796089" cy="5253107"/>
          </a:xfrm>
        </p:grpSpPr>
        <p:pic>
          <p:nvPicPr>
            <p:cNvPr id="1026" name="Picture 2" descr="Image result for Prince Harry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04506" y="2690352"/>
              <a:ext cx="585140" cy="7315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 descr="Image result for meghan markle"/>
            <p:cNvPicPr>
              <a:picLocks noChangeAspect="1"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20000"/>
            <a:stretch/>
          </p:blipFill>
          <p:spPr bwMode="auto">
            <a:xfrm>
              <a:off x="3885433" y="3361691"/>
              <a:ext cx="731520" cy="7315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Image result for Prince Charles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73911" y="3891454"/>
              <a:ext cx="645104" cy="7483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2" name="Picture 18" descr="Image result for justin trudeau"/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021" r="18091" b="33959"/>
            <a:stretch/>
          </p:blipFill>
          <p:spPr bwMode="auto">
            <a:xfrm>
              <a:off x="8003444" y="5781280"/>
              <a:ext cx="548808" cy="8494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4" name="Picture 20" descr="Image result for Elton John"/>
            <p:cNvPicPr>
              <a:picLocks noChangeAspect="1" noChangeArrowheads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742" t="4042" r="23983" b="31143"/>
            <a:stretch/>
          </p:blipFill>
          <p:spPr bwMode="auto">
            <a:xfrm>
              <a:off x="7170034" y="4639834"/>
              <a:ext cx="582207" cy="9023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58" name="Picture 34" descr="Image result for angela merkel"/>
            <p:cNvPicPr>
              <a:picLocks noChangeAspect="1" noChangeArrowheads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760" r="30251" b="40439"/>
            <a:stretch/>
          </p:blipFill>
          <p:spPr bwMode="auto">
            <a:xfrm>
              <a:off x="4802831" y="4752366"/>
              <a:ext cx="695829" cy="9623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60" name="Picture 36" descr="Image result for paul mccartney"/>
            <p:cNvPicPr>
              <a:picLocks noChangeAspect="1" noChangeArrowheads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839" r="14441" b="27809"/>
            <a:stretch/>
          </p:blipFill>
          <p:spPr bwMode="auto">
            <a:xfrm>
              <a:off x="7688421" y="2589729"/>
              <a:ext cx="778308" cy="8904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6" name="Straight Connector 25"/>
            <p:cNvCxnSpPr>
              <a:stCxn id="1028" idx="3"/>
            </p:cNvCxnSpPr>
            <p:nvPr/>
          </p:nvCxnSpPr>
          <p:spPr>
            <a:xfrm>
              <a:off x="4616953" y="3727451"/>
              <a:ext cx="1313486" cy="413782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>
              <a:stCxn id="1026" idx="3"/>
              <a:endCxn id="1060" idx="1"/>
            </p:cNvCxnSpPr>
            <p:nvPr/>
          </p:nvCxnSpPr>
          <p:spPr>
            <a:xfrm flipV="1">
              <a:off x="2989647" y="3034948"/>
              <a:ext cx="4698775" cy="21164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>
              <a:stCxn id="1030" idx="1"/>
              <a:endCxn id="1060" idx="2"/>
            </p:cNvCxnSpPr>
            <p:nvPr/>
          </p:nvCxnSpPr>
          <p:spPr>
            <a:xfrm flipH="1" flipV="1">
              <a:off x="8077575" y="3480168"/>
              <a:ext cx="896336" cy="785477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/>
            <p:cNvCxnSpPr>
              <a:stCxn id="1030" idx="1"/>
            </p:cNvCxnSpPr>
            <p:nvPr/>
          </p:nvCxnSpPr>
          <p:spPr>
            <a:xfrm flipH="1" flipV="1">
              <a:off x="6617443" y="4141234"/>
              <a:ext cx="2356468" cy="124411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/>
            <p:cNvCxnSpPr>
              <a:stCxn id="1030" idx="1"/>
              <a:endCxn id="1044" idx="3"/>
            </p:cNvCxnSpPr>
            <p:nvPr/>
          </p:nvCxnSpPr>
          <p:spPr>
            <a:xfrm flipH="1">
              <a:off x="7752241" y="4265645"/>
              <a:ext cx="1221671" cy="825355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>
              <a:stCxn id="1030" idx="1"/>
              <a:endCxn id="1042" idx="0"/>
            </p:cNvCxnSpPr>
            <p:nvPr/>
          </p:nvCxnSpPr>
          <p:spPr>
            <a:xfrm flipH="1">
              <a:off x="8277849" y="4265644"/>
              <a:ext cx="696063" cy="1515636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/>
            <p:cNvCxnSpPr>
              <a:stCxn id="1042" idx="1"/>
            </p:cNvCxnSpPr>
            <p:nvPr/>
          </p:nvCxnSpPr>
          <p:spPr>
            <a:xfrm flipH="1" flipV="1">
              <a:off x="2565838" y="5714723"/>
              <a:ext cx="5437606" cy="491287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/>
            <p:cNvCxnSpPr>
              <a:stCxn id="1044" idx="1"/>
              <a:endCxn id="1058" idx="3"/>
            </p:cNvCxnSpPr>
            <p:nvPr/>
          </p:nvCxnSpPr>
          <p:spPr>
            <a:xfrm flipH="1">
              <a:off x="5498659" y="5091000"/>
              <a:ext cx="1671374" cy="142545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/>
          </p:nvCxnSpPr>
          <p:spPr>
            <a:xfrm flipH="1">
              <a:off x="2289175" y="4525894"/>
              <a:ext cx="815802" cy="774209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3" name="Picture 2" descr="Joe Biden - CNBC">
              <a:extLst>
                <a:ext uri="{FF2B5EF4-FFF2-40B4-BE49-F238E27FC236}">
                  <a16:creationId xmlns:a16="http://schemas.microsoft.com/office/drawing/2014/main" id="{962C31A1-6E3C-712B-C18A-F732F7F6D43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298" r="26708" b="42616"/>
            <a:stretch/>
          </p:blipFill>
          <p:spPr bwMode="auto">
            <a:xfrm>
              <a:off x="5884166" y="3696565"/>
              <a:ext cx="778309" cy="9697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4" descr="Emmanuel Macron - Wikipedia">
              <a:extLst>
                <a:ext uri="{FF2B5EF4-FFF2-40B4-BE49-F238E27FC236}">
                  <a16:creationId xmlns:a16="http://schemas.microsoft.com/office/drawing/2014/main" id="{0482CE18-CEF8-B794-ABC5-C2879D11D5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210" r="11235" b="39758"/>
            <a:stretch/>
          </p:blipFill>
          <p:spPr bwMode="auto">
            <a:xfrm>
              <a:off x="1822926" y="5162272"/>
              <a:ext cx="815802" cy="9798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" name="Picture 6" descr="Taylor Swift set to make her feature directorial debut | CNN">
              <a:extLst>
                <a:ext uri="{FF2B5EF4-FFF2-40B4-BE49-F238E27FC236}">
                  <a16:creationId xmlns:a16="http://schemas.microsoft.com/office/drawing/2014/main" id="{E28D031F-BF6C-DD58-B24E-22BFDE50F7D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632" r="25738" b="17703"/>
            <a:stretch/>
          </p:blipFill>
          <p:spPr bwMode="auto">
            <a:xfrm>
              <a:off x="2945852" y="3843828"/>
              <a:ext cx="704008" cy="843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6FD067A-CC6D-6D54-0646-E140E9F8138F}"/>
                </a:ext>
              </a:extLst>
            </p:cNvPr>
            <p:cNvCxnSpPr/>
            <p:nvPr/>
          </p:nvCxnSpPr>
          <p:spPr>
            <a:xfrm>
              <a:off x="2446445" y="1797566"/>
              <a:ext cx="743692" cy="46042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7" name="Picture 8" descr="Ed Sheeran">
              <a:extLst>
                <a:ext uri="{FF2B5EF4-FFF2-40B4-BE49-F238E27FC236}">
                  <a16:creationId xmlns:a16="http://schemas.microsoft.com/office/drawing/2014/main" id="{34901888-5999-132B-BE71-0D5E65E1A39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50283" y="1377631"/>
              <a:ext cx="743692" cy="743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 descr="Pharrell Williams - Age, Wife &amp; &quot;Happy&quot;">
              <a:extLst>
                <a:ext uri="{FF2B5EF4-FFF2-40B4-BE49-F238E27FC236}">
                  <a16:creationId xmlns:a16="http://schemas.microsoft.com/office/drawing/2014/main" id="{16115C01-A579-BE4C-699B-5394A062C97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41741" y="1509255"/>
              <a:ext cx="743692" cy="743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2204775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Independent Set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Independent set: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𝑆</m:t>
                    </m:r>
                    <m:r>
                      <a:rPr lang="en-US" i="1">
                        <a:latin typeface="Cambria Math"/>
                      </a:rPr>
                      <m:t>⊆</m:t>
                    </m:r>
                    <m:r>
                      <a:rPr lang="en-US" i="1">
                        <a:latin typeface="Cambria Math"/>
                      </a:rPr>
                      <m:t>𝑉</m:t>
                    </m:r>
                  </m:oMath>
                </a14:m>
                <a:r>
                  <a:rPr lang="en-US" dirty="0"/>
                  <a:t> is an independent set if no two nodes 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𝑆</m:t>
                    </m:r>
                  </m:oMath>
                </a14:m>
                <a:r>
                  <a:rPr lang="en-US" dirty="0"/>
                  <a:t> share an edge</a:t>
                </a:r>
              </a:p>
              <a:p>
                <a:r>
                  <a:rPr lang="en-US" dirty="0"/>
                  <a:t>Independent Set Problem: </a:t>
                </a:r>
              </a:p>
              <a:p>
                <a:pPr lvl="1"/>
                <a:r>
                  <a:rPr lang="en-US" dirty="0"/>
                  <a:t>Given a graph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𝐺</m:t>
                    </m:r>
                    <m:r>
                      <a:rPr lang="en-US" i="1">
                        <a:latin typeface="Cambria Math"/>
                      </a:rPr>
                      <m:t>=(</m:t>
                    </m:r>
                    <m:r>
                      <a:rPr lang="en-US" i="1">
                        <a:latin typeface="Cambria Math"/>
                      </a:rPr>
                      <m:t>𝑉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𝐸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 and a number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𝑘</m:t>
                    </m:r>
                  </m:oMath>
                </a14:m>
                <a:r>
                  <a:rPr lang="en-US" dirty="0"/>
                  <a:t>, determine whether there is an independent set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/>
                      </a:rPr>
                      <m:t>𝑆</m:t>
                    </m:r>
                  </m:oMath>
                </a14:m>
                <a:r>
                  <a:rPr lang="en-US" dirty="0"/>
                  <a:t> of size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/>
                      </a:rPr>
                      <m:t>𝑘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1199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Independent Set Example</a:t>
            </a:r>
          </a:p>
        </p:txBody>
      </p:sp>
      <p:sp>
        <p:nvSpPr>
          <p:cNvPr id="5" name="AutoShape 14" descr="Image result for justin trudeau"/>
          <p:cNvSpPr>
            <a:spLocks noChangeAspect="1" noChangeArrowheads="1"/>
          </p:cNvSpPr>
          <p:nvPr/>
        </p:nvSpPr>
        <p:spPr bwMode="auto">
          <a:xfrm>
            <a:off x="1679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AutoShape 16" descr="Image result for justin trudeau"/>
          <p:cNvSpPr>
            <a:spLocks noChangeAspect="1" noChangeArrowheads="1"/>
          </p:cNvSpPr>
          <p:nvPr/>
        </p:nvSpPr>
        <p:spPr bwMode="auto">
          <a:xfrm>
            <a:off x="1831975" y="79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AutoShape 22" descr="Image result for theresa may"/>
          <p:cNvSpPr>
            <a:spLocks noChangeAspect="1" noChangeArrowheads="1"/>
          </p:cNvSpPr>
          <p:nvPr/>
        </p:nvSpPr>
        <p:spPr bwMode="auto">
          <a:xfrm>
            <a:off x="1984375" y="1603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AutoShape 24" descr="Image result for theresa may"/>
          <p:cNvSpPr>
            <a:spLocks noChangeAspect="1" noChangeArrowheads="1"/>
          </p:cNvSpPr>
          <p:nvPr/>
        </p:nvSpPr>
        <p:spPr bwMode="auto">
          <a:xfrm>
            <a:off x="2136775" y="3127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" name="AutoShape 26" descr="Image result for theresa may"/>
          <p:cNvSpPr>
            <a:spLocks noChangeAspect="1" noChangeArrowheads="1"/>
          </p:cNvSpPr>
          <p:nvPr/>
        </p:nvSpPr>
        <p:spPr bwMode="auto">
          <a:xfrm>
            <a:off x="2289175" y="4651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" name="AutoShape 30" descr="Image result for Aaron Bloomfield"/>
          <p:cNvSpPr>
            <a:spLocks noChangeAspect="1" noChangeArrowheads="1"/>
          </p:cNvSpPr>
          <p:nvPr/>
        </p:nvSpPr>
        <p:spPr bwMode="auto">
          <a:xfrm>
            <a:off x="2441575" y="6175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12" name="Group 11" descr="An example of an independent set of size 6. 6 nodes are selected, and none of the selected nodes share a common edge.">
            <a:extLst>
              <a:ext uri="{FF2B5EF4-FFF2-40B4-BE49-F238E27FC236}">
                <a16:creationId xmlns:a16="http://schemas.microsoft.com/office/drawing/2014/main" id="{10E338F4-D058-3AE3-13D2-BA8CDA747845}"/>
              </a:ext>
            </a:extLst>
          </p:cNvPr>
          <p:cNvGrpSpPr/>
          <p:nvPr/>
        </p:nvGrpSpPr>
        <p:grpSpPr>
          <a:xfrm>
            <a:off x="1650264" y="1218142"/>
            <a:ext cx="8281702" cy="5412596"/>
            <a:chOff x="1650264" y="1218142"/>
            <a:chExt cx="8281702" cy="5412596"/>
          </a:xfrm>
        </p:grpSpPr>
        <p:sp>
          <p:nvSpPr>
            <p:cNvPr id="11" name="TextBox 10"/>
            <p:cNvSpPr txBox="1"/>
            <p:nvPr/>
          </p:nvSpPr>
          <p:spPr>
            <a:xfrm>
              <a:off x="5339034" y="1476112"/>
              <a:ext cx="331667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FF0000"/>
                  </a:solidFill>
                </a:rPr>
                <a:t>Independent set of size 6</a:t>
              </a:r>
            </a:p>
          </p:txBody>
        </p: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59078E9B-D60C-2C70-39F8-53C50A04FF80}"/>
                </a:ext>
              </a:extLst>
            </p:cNvPr>
            <p:cNvGrpSpPr/>
            <p:nvPr/>
          </p:nvGrpSpPr>
          <p:grpSpPr>
            <a:xfrm>
              <a:off x="1650264" y="1218142"/>
              <a:ext cx="8281702" cy="4725458"/>
              <a:chOff x="1650264" y="1218142"/>
              <a:chExt cx="8281702" cy="4725458"/>
            </a:xfrm>
          </p:grpSpPr>
          <p:sp>
            <p:nvSpPr>
              <p:cNvPr id="3" name="Oval 2"/>
              <p:cNvSpPr/>
              <p:nvPr/>
            </p:nvSpPr>
            <p:spPr>
              <a:xfrm>
                <a:off x="1650264" y="1218142"/>
                <a:ext cx="1193396" cy="1085135"/>
              </a:xfrm>
              <a:prstGeom prst="ellipse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Oval 34"/>
              <p:cNvSpPr/>
              <p:nvPr/>
            </p:nvSpPr>
            <p:spPr>
              <a:xfrm>
                <a:off x="1930334" y="2389557"/>
                <a:ext cx="1271007" cy="1337894"/>
              </a:xfrm>
              <a:prstGeom prst="ellipse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Oval 35"/>
              <p:cNvSpPr/>
              <p:nvPr/>
            </p:nvSpPr>
            <p:spPr>
              <a:xfrm>
                <a:off x="3658898" y="3089427"/>
                <a:ext cx="1271007" cy="1337894"/>
              </a:xfrm>
              <a:prstGeom prst="ellipse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Oval 37"/>
              <p:cNvSpPr/>
              <p:nvPr/>
            </p:nvSpPr>
            <p:spPr>
              <a:xfrm>
                <a:off x="4495800" y="4605706"/>
                <a:ext cx="1271007" cy="1337894"/>
              </a:xfrm>
              <a:prstGeom prst="ellipse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38"/>
              <p:cNvSpPr/>
              <p:nvPr/>
            </p:nvSpPr>
            <p:spPr>
              <a:xfrm>
                <a:off x="8660959" y="3575103"/>
                <a:ext cx="1271007" cy="1337894"/>
              </a:xfrm>
              <a:prstGeom prst="ellipse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Oval 40"/>
              <p:cNvSpPr/>
              <p:nvPr/>
            </p:nvSpPr>
            <p:spPr>
              <a:xfrm>
                <a:off x="2593975" y="3638669"/>
                <a:ext cx="1271007" cy="1337894"/>
              </a:xfrm>
              <a:prstGeom prst="ellipse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A8F83D5C-B06D-5B61-F1B7-071B58B75FA4}"/>
                </a:ext>
              </a:extLst>
            </p:cNvPr>
            <p:cNvGrpSpPr/>
            <p:nvPr/>
          </p:nvGrpSpPr>
          <p:grpSpPr>
            <a:xfrm>
              <a:off x="1822926" y="1377631"/>
              <a:ext cx="7796089" cy="5253107"/>
              <a:chOff x="1822926" y="1377631"/>
              <a:chExt cx="7796089" cy="5253107"/>
            </a:xfrm>
          </p:grpSpPr>
          <p:pic>
            <p:nvPicPr>
              <p:cNvPr id="54" name="Picture 2" descr="Image result for Prince Harry">
                <a:extLst>
                  <a:ext uri="{FF2B5EF4-FFF2-40B4-BE49-F238E27FC236}">
                    <a16:creationId xmlns:a16="http://schemas.microsoft.com/office/drawing/2014/main" id="{FC7BF773-543A-36BB-85A2-E852E796E24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404506" y="2690352"/>
                <a:ext cx="585140" cy="73152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5" name="Picture 4" descr="Image result for meghan markle">
                <a:extLst>
                  <a:ext uri="{FF2B5EF4-FFF2-40B4-BE49-F238E27FC236}">
                    <a16:creationId xmlns:a16="http://schemas.microsoft.com/office/drawing/2014/main" id="{18976E11-3245-3052-1367-F83E3B8CA8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20000"/>
              <a:stretch/>
            </p:blipFill>
            <p:spPr bwMode="auto">
              <a:xfrm>
                <a:off x="3885433" y="3361691"/>
                <a:ext cx="731520" cy="73152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6" name="Picture 6" descr="Image result for Prince Charles">
                <a:extLst>
                  <a:ext uri="{FF2B5EF4-FFF2-40B4-BE49-F238E27FC236}">
                    <a16:creationId xmlns:a16="http://schemas.microsoft.com/office/drawing/2014/main" id="{E0E20691-7F62-4E1C-E08A-BBC1D9ED6E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973911" y="3891454"/>
                <a:ext cx="645104" cy="74838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8" name="Picture 18" descr="Image result for justin trudeau">
                <a:extLst>
                  <a:ext uri="{FF2B5EF4-FFF2-40B4-BE49-F238E27FC236}">
                    <a16:creationId xmlns:a16="http://schemas.microsoft.com/office/drawing/2014/main" id="{7091F052-D78A-5EC1-422D-C05634FFD2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5021" r="18091" b="33959"/>
              <a:stretch/>
            </p:blipFill>
            <p:spPr bwMode="auto">
              <a:xfrm>
                <a:off x="8003444" y="5781280"/>
                <a:ext cx="548808" cy="8494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9" name="Picture 20" descr="Image result for Elton John">
                <a:extLst>
                  <a:ext uri="{FF2B5EF4-FFF2-40B4-BE49-F238E27FC236}">
                    <a16:creationId xmlns:a16="http://schemas.microsoft.com/office/drawing/2014/main" id="{C869DCB8-FC13-CA2C-E8D8-222848EF79B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742" t="4042" r="23983" b="31143"/>
              <a:stretch/>
            </p:blipFill>
            <p:spPr bwMode="auto">
              <a:xfrm>
                <a:off x="7170034" y="4639834"/>
                <a:ext cx="582207" cy="90233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0" name="Picture 34" descr="Image result for angela merkel">
                <a:extLst>
                  <a:ext uri="{FF2B5EF4-FFF2-40B4-BE49-F238E27FC236}">
                    <a16:creationId xmlns:a16="http://schemas.microsoft.com/office/drawing/2014/main" id="{EC5C45C6-D6C2-4402-049A-BAAD9E8A8B1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760" r="30251" b="40439"/>
              <a:stretch/>
            </p:blipFill>
            <p:spPr bwMode="auto">
              <a:xfrm>
                <a:off x="4802831" y="4752366"/>
                <a:ext cx="695829" cy="96235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1" name="Picture 36" descr="Image result for paul mccartney">
                <a:extLst>
                  <a:ext uri="{FF2B5EF4-FFF2-40B4-BE49-F238E27FC236}">
                    <a16:creationId xmlns:a16="http://schemas.microsoft.com/office/drawing/2014/main" id="{61760EA7-C5B0-FE7B-CD24-EEC6A134E4D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839" r="14441" b="27809"/>
              <a:stretch/>
            </p:blipFill>
            <p:spPr bwMode="auto">
              <a:xfrm>
                <a:off x="7688421" y="2589729"/>
                <a:ext cx="778308" cy="89043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19AC9EFE-C8B4-2B76-9F59-E83ABDEB7A4C}"/>
                  </a:ext>
                </a:extLst>
              </p:cNvPr>
              <p:cNvCxnSpPr>
                <a:stCxn id="55" idx="3"/>
              </p:cNvCxnSpPr>
              <p:nvPr/>
            </p:nvCxnSpPr>
            <p:spPr>
              <a:xfrm>
                <a:off x="4616953" y="3727451"/>
                <a:ext cx="1313486" cy="413782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B4D112E7-7183-183E-7C90-FA150E696656}"/>
                  </a:ext>
                </a:extLst>
              </p:cNvPr>
              <p:cNvCxnSpPr>
                <a:stCxn id="54" idx="3"/>
                <a:endCxn id="61" idx="1"/>
              </p:cNvCxnSpPr>
              <p:nvPr/>
            </p:nvCxnSpPr>
            <p:spPr>
              <a:xfrm flipV="1">
                <a:off x="2989647" y="3034948"/>
                <a:ext cx="4698775" cy="21164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4" name="Straight Connector 1023">
                <a:extLst>
                  <a:ext uri="{FF2B5EF4-FFF2-40B4-BE49-F238E27FC236}">
                    <a16:creationId xmlns:a16="http://schemas.microsoft.com/office/drawing/2014/main" id="{0D871E6D-2982-E6D2-F692-6FD8D572CDBD}"/>
                  </a:ext>
                </a:extLst>
              </p:cNvPr>
              <p:cNvCxnSpPr>
                <a:stCxn id="56" idx="1"/>
                <a:endCxn id="61" idx="2"/>
              </p:cNvCxnSpPr>
              <p:nvPr/>
            </p:nvCxnSpPr>
            <p:spPr>
              <a:xfrm flipH="1" flipV="1">
                <a:off x="8077575" y="3480168"/>
                <a:ext cx="896336" cy="785477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5" name="Straight Connector 1024">
                <a:extLst>
                  <a:ext uri="{FF2B5EF4-FFF2-40B4-BE49-F238E27FC236}">
                    <a16:creationId xmlns:a16="http://schemas.microsoft.com/office/drawing/2014/main" id="{30157654-DC71-4772-AAA4-D605A2A32DAA}"/>
                  </a:ext>
                </a:extLst>
              </p:cNvPr>
              <p:cNvCxnSpPr>
                <a:stCxn id="56" idx="1"/>
              </p:cNvCxnSpPr>
              <p:nvPr/>
            </p:nvCxnSpPr>
            <p:spPr>
              <a:xfrm flipH="1" flipV="1">
                <a:off x="6617443" y="4141234"/>
                <a:ext cx="2356468" cy="124411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7" name="Straight Connector 1026">
                <a:extLst>
                  <a:ext uri="{FF2B5EF4-FFF2-40B4-BE49-F238E27FC236}">
                    <a16:creationId xmlns:a16="http://schemas.microsoft.com/office/drawing/2014/main" id="{33A0686C-6192-785E-3908-93BE44CA529F}"/>
                  </a:ext>
                </a:extLst>
              </p:cNvPr>
              <p:cNvCxnSpPr>
                <a:stCxn id="56" idx="1"/>
                <a:endCxn id="59" idx="3"/>
              </p:cNvCxnSpPr>
              <p:nvPr/>
            </p:nvCxnSpPr>
            <p:spPr>
              <a:xfrm flipH="1">
                <a:off x="7752241" y="4265645"/>
                <a:ext cx="1221671" cy="825355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9" name="Straight Connector 1028">
                <a:extLst>
                  <a:ext uri="{FF2B5EF4-FFF2-40B4-BE49-F238E27FC236}">
                    <a16:creationId xmlns:a16="http://schemas.microsoft.com/office/drawing/2014/main" id="{C0E3B107-C700-D459-FF70-4E7F8E49DE14}"/>
                  </a:ext>
                </a:extLst>
              </p:cNvPr>
              <p:cNvCxnSpPr>
                <a:stCxn id="56" idx="1"/>
                <a:endCxn id="58" idx="0"/>
              </p:cNvCxnSpPr>
              <p:nvPr/>
            </p:nvCxnSpPr>
            <p:spPr>
              <a:xfrm flipH="1">
                <a:off x="8277849" y="4265644"/>
                <a:ext cx="696063" cy="1515636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1" name="Straight Connector 1030">
                <a:extLst>
                  <a:ext uri="{FF2B5EF4-FFF2-40B4-BE49-F238E27FC236}">
                    <a16:creationId xmlns:a16="http://schemas.microsoft.com/office/drawing/2014/main" id="{DF9EF4EE-F63C-1D9C-F677-3A71A2D459F0}"/>
                  </a:ext>
                </a:extLst>
              </p:cNvPr>
              <p:cNvCxnSpPr>
                <a:stCxn id="58" idx="1"/>
              </p:cNvCxnSpPr>
              <p:nvPr/>
            </p:nvCxnSpPr>
            <p:spPr>
              <a:xfrm flipH="1" flipV="1">
                <a:off x="2565838" y="5714723"/>
                <a:ext cx="5437606" cy="491287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3" name="Straight Connector 1032">
                <a:extLst>
                  <a:ext uri="{FF2B5EF4-FFF2-40B4-BE49-F238E27FC236}">
                    <a16:creationId xmlns:a16="http://schemas.microsoft.com/office/drawing/2014/main" id="{1DDBFF65-E730-587C-9097-0D975EAD565B}"/>
                  </a:ext>
                </a:extLst>
              </p:cNvPr>
              <p:cNvCxnSpPr>
                <a:stCxn id="59" idx="1"/>
                <a:endCxn id="60" idx="3"/>
              </p:cNvCxnSpPr>
              <p:nvPr/>
            </p:nvCxnSpPr>
            <p:spPr>
              <a:xfrm flipH="1">
                <a:off x="5498659" y="5091000"/>
                <a:ext cx="1671374" cy="142545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4" name="Straight Connector 1033">
                <a:extLst>
                  <a:ext uri="{FF2B5EF4-FFF2-40B4-BE49-F238E27FC236}">
                    <a16:creationId xmlns:a16="http://schemas.microsoft.com/office/drawing/2014/main" id="{61DA65C4-9194-5335-DCCA-B8618CFAF63D}"/>
                  </a:ext>
                </a:extLst>
              </p:cNvPr>
              <p:cNvCxnSpPr/>
              <p:nvPr/>
            </p:nvCxnSpPr>
            <p:spPr>
              <a:xfrm flipH="1">
                <a:off x="2289175" y="4525894"/>
                <a:ext cx="815802" cy="774209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035" name="Picture 2" descr="Joe Biden - CNBC">
                <a:extLst>
                  <a:ext uri="{FF2B5EF4-FFF2-40B4-BE49-F238E27FC236}">
                    <a16:creationId xmlns:a16="http://schemas.microsoft.com/office/drawing/2014/main" id="{A411C35C-A4E2-3254-9169-5A9C40884E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298" r="26708" b="42616"/>
              <a:stretch/>
            </p:blipFill>
            <p:spPr bwMode="auto">
              <a:xfrm>
                <a:off x="5884166" y="3696565"/>
                <a:ext cx="778309" cy="96970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7" name="Picture 4" descr="Emmanuel Macron - Wikipedia">
                <a:extLst>
                  <a:ext uri="{FF2B5EF4-FFF2-40B4-BE49-F238E27FC236}">
                    <a16:creationId xmlns:a16="http://schemas.microsoft.com/office/drawing/2014/main" id="{4D391E1C-1EDA-14A3-9DCA-919040D43AC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210" r="11235" b="39758"/>
              <a:stretch/>
            </p:blipFill>
            <p:spPr bwMode="auto">
              <a:xfrm>
                <a:off x="1822926" y="5162272"/>
                <a:ext cx="815802" cy="97988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8" name="Picture 6" descr="Taylor Swift set to make her feature directorial debut | CNN">
                <a:extLst>
                  <a:ext uri="{FF2B5EF4-FFF2-40B4-BE49-F238E27FC236}">
                    <a16:creationId xmlns:a16="http://schemas.microsoft.com/office/drawing/2014/main" id="{79788093-DC07-81F4-2186-40AE05B2380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632" r="25738" b="17703"/>
              <a:stretch/>
            </p:blipFill>
            <p:spPr bwMode="auto">
              <a:xfrm>
                <a:off x="2945852" y="3843828"/>
                <a:ext cx="704008" cy="84363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039" name="Straight Connector 1038">
                <a:extLst>
                  <a:ext uri="{FF2B5EF4-FFF2-40B4-BE49-F238E27FC236}">
                    <a16:creationId xmlns:a16="http://schemas.microsoft.com/office/drawing/2014/main" id="{0399E19D-B23D-BB29-F3A7-827B923531CE}"/>
                  </a:ext>
                </a:extLst>
              </p:cNvPr>
              <p:cNvCxnSpPr/>
              <p:nvPr/>
            </p:nvCxnSpPr>
            <p:spPr>
              <a:xfrm>
                <a:off x="2446445" y="1797566"/>
                <a:ext cx="743692" cy="46042"/>
              </a:xfrm>
              <a:prstGeom prst="line">
                <a:avLst/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040" name="Picture 8" descr="Ed Sheeran">
                <a:extLst>
                  <a:ext uri="{FF2B5EF4-FFF2-40B4-BE49-F238E27FC236}">
                    <a16:creationId xmlns:a16="http://schemas.microsoft.com/office/drawing/2014/main" id="{1678B1E8-7F87-809D-84DD-C51634FDB4D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50283" y="1377631"/>
                <a:ext cx="743692" cy="7436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41" name="Picture 10" descr="Pharrell Williams - Age, Wife &amp; &quot;Happy&quot;">
                <a:extLst>
                  <a:ext uri="{FF2B5EF4-FFF2-40B4-BE49-F238E27FC236}">
                    <a16:creationId xmlns:a16="http://schemas.microsoft.com/office/drawing/2014/main" id="{873C8361-77B5-F5CC-E499-9D9F79B0B8E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141741" y="1509255"/>
                <a:ext cx="743692" cy="7436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3474482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EAA065-6CD0-9F5B-7974-C2A75C541B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and Verifying Independent Set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F4D0EF-7C00-6F14-9DB2-CA7C1A2A7E0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Give an algorithm to </a:t>
                </a:r>
                <a:r>
                  <a:rPr lang="en-US" b="1" dirty="0"/>
                  <a:t>solve</a:t>
                </a:r>
                <a:r>
                  <a:rPr lang="en-US" dirty="0"/>
                  <a:t> independent set</a:t>
                </a:r>
              </a:p>
              <a:p>
                <a:pPr lvl="1"/>
                <a:r>
                  <a:rPr lang="en-US" dirty="0"/>
                  <a:t>Input: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a number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Output: True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has an independent set of size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  <a:p>
                <a:r>
                  <a:rPr lang="en-US" dirty="0"/>
                  <a:t>Give an algorithm to </a:t>
                </a:r>
                <a:r>
                  <a:rPr lang="en-US" b="1" dirty="0"/>
                  <a:t>verify</a:t>
                </a:r>
                <a:r>
                  <a:rPr lang="en-US" dirty="0"/>
                  <a:t> independent set</a:t>
                </a:r>
              </a:p>
              <a:p>
                <a:pPr lvl="1"/>
                <a:r>
                  <a:rPr lang="en-US" dirty="0"/>
                  <a:t>Input: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,a number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, and a set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Output: True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 is an independent set of size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F4D0EF-7C00-6F14-9DB2-CA7C1A2A7E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98035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Baseball</a:t>
            </a:r>
          </a:p>
        </p:txBody>
      </p:sp>
      <p:grpSp>
        <p:nvGrpSpPr>
          <p:cNvPr id="3" name="Group 2" descr="A baseball field represented as a graph. There are 4 total nodes representing home plate, first base, second base, and third base.&#10;&#10;There is an edge from home to first, first to second, second to third, and third to home.">
            <a:extLst>
              <a:ext uri="{FF2B5EF4-FFF2-40B4-BE49-F238E27FC236}">
                <a16:creationId xmlns:a16="http://schemas.microsoft.com/office/drawing/2014/main" id="{A3213677-EC3B-CB57-623C-B5A5592F3282}"/>
              </a:ext>
            </a:extLst>
          </p:cNvPr>
          <p:cNvGrpSpPr/>
          <p:nvPr/>
        </p:nvGrpSpPr>
        <p:grpSpPr>
          <a:xfrm>
            <a:off x="3429000" y="1345324"/>
            <a:ext cx="4495800" cy="4369677"/>
            <a:chOff x="3429000" y="1345324"/>
            <a:chExt cx="4495800" cy="4369677"/>
          </a:xfrm>
        </p:grpSpPr>
        <p:grpSp>
          <p:nvGrpSpPr>
            <p:cNvPr id="9" name="Group 8"/>
            <p:cNvGrpSpPr/>
            <p:nvPr/>
          </p:nvGrpSpPr>
          <p:grpSpPr>
            <a:xfrm rot="10800000">
              <a:off x="5179497" y="4800601"/>
              <a:ext cx="1060704" cy="914400"/>
              <a:chOff x="2133600" y="4191000"/>
              <a:chExt cx="1060704" cy="914400"/>
            </a:xfrm>
          </p:grpSpPr>
          <p:sp>
            <p:nvSpPr>
              <p:cNvPr id="7" name="Isosceles Triangle 6"/>
              <p:cNvSpPr/>
              <p:nvPr/>
            </p:nvSpPr>
            <p:spPr>
              <a:xfrm>
                <a:off x="2133600" y="4191000"/>
                <a:ext cx="1060704" cy="457200"/>
              </a:xfrm>
              <a:prstGeom prst="triangl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chemeClr val="tx2">
                        <a:lumMod val="60000"/>
                        <a:lumOff val="40000"/>
                      </a:schemeClr>
                    </a:solidFill>
                  </a:ln>
                </a:endParaRPr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2133600" y="4648200"/>
                <a:ext cx="1060704" cy="457200"/>
              </a:xfrm>
              <a:prstGeom prst="rect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chemeClr val="tx2">
                        <a:lumMod val="60000"/>
                        <a:lumOff val="40000"/>
                      </a:schemeClr>
                    </a:solidFill>
                  </a:ln>
                </a:endParaRPr>
              </a:p>
            </p:txBody>
          </p:sp>
        </p:grpSp>
        <p:sp>
          <p:nvSpPr>
            <p:cNvPr id="10" name="Rectangle 9"/>
            <p:cNvSpPr/>
            <p:nvPr/>
          </p:nvSpPr>
          <p:spPr>
            <a:xfrm>
              <a:off x="3429000" y="3048000"/>
              <a:ext cx="914400" cy="9144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010400" y="3048000"/>
              <a:ext cx="914400" cy="9144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252648" y="1345324"/>
              <a:ext cx="914400" cy="9144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" name="Straight Connector 13"/>
            <p:cNvCxnSpPr>
              <a:stCxn id="8" idx="1"/>
              <a:endCxn id="11" idx="2"/>
            </p:cNvCxnSpPr>
            <p:nvPr/>
          </p:nvCxnSpPr>
          <p:spPr>
            <a:xfrm flipV="1">
              <a:off x="6240202" y="3962401"/>
              <a:ext cx="1227399" cy="1066801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>
              <a:stCxn id="10" idx="2"/>
              <a:endCxn id="8" idx="3"/>
            </p:cNvCxnSpPr>
            <p:nvPr/>
          </p:nvCxnSpPr>
          <p:spPr>
            <a:xfrm>
              <a:off x="3886201" y="3962401"/>
              <a:ext cx="1293297" cy="1066801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>
              <a:stCxn id="12" idx="1"/>
              <a:endCxn id="10" idx="0"/>
            </p:cNvCxnSpPr>
            <p:nvPr/>
          </p:nvCxnSpPr>
          <p:spPr>
            <a:xfrm flipH="1">
              <a:off x="3886200" y="1802524"/>
              <a:ext cx="1366448" cy="1245476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>
              <a:stCxn id="11" idx="0"/>
              <a:endCxn id="12" idx="3"/>
            </p:cNvCxnSpPr>
            <p:nvPr/>
          </p:nvCxnSpPr>
          <p:spPr>
            <a:xfrm flipH="1" flipV="1">
              <a:off x="6167048" y="1802524"/>
              <a:ext cx="1300552" cy="1245476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594533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Generalized Baseball</a:t>
            </a:r>
          </a:p>
        </p:txBody>
      </p:sp>
      <p:grpSp>
        <p:nvGrpSpPr>
          <p:cNvPr id="53" name="Group 52" descr="A more general baseball graph. We have many bases connected together in arbitrary ways."/>
          <p:cNvGrpSpPr/>
          <p:nvPr/>
        </p:nvGrpSpPr>
        <p:grpSpPr>
          <a:xfrm>
            <a:off x="2181226" y="1481300"/>
            <a:ext cx="5514975" cy="4914248"/>
            <a:chOff x="657225" y="1481300"/>
            <a:chExt cx="5514975" cy="4914248"/>
          </a:xfrm>
        </p:grpSpPr>
        <p:cxnSp>
          <p:nvCxnSpPr>
            <p:cNvPr id="14" name="Straight Connector 13"/>
            <p:cNvCxnSpPr>
              <a:stCxn id="8" idx="1"/>
              <a:endCxn id="23" idx="2"/>
            </p:cNvCxnSpPr>
            <p:nvPr/>
          </p:nvCxnSpPr>
          <p:spPr>
            <a:xfrm flipV="1">
              <a:off x="3187377" y="5562600"/>
              <a:ext cx="1570890" cy="490047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>
              <a:stCxn id="10" idx="2"/>
              <a:endCxn id="8" idx="3"/>
            </p:cNvCxnSpPr>
            <p:nvPr/>
          </p:nvCxnSpPr>
          <p:spPr>
            <a:xfrm>
              <a:off x="2054087" y="5181600"/>
              <a:ext cx="602937" cy="871047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>
              <a:stCxn id="23" idx="1"/>
              <a:endCxn id="10" idx="3"/>
            </p:cNvCxnSpPr>
            <p:nvPr/>
          </p:nvCxnSpPr>
          <p:spPr>
            <a:xfrm flipH="1" flipV="1">
              <a:off x="2282687" y="4953000"/>
              <a:ext cx="2246980" cy="38100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>
              <a:stCxn id="28" idx="2"/>
              <a:endCxn id="10" idx="0"/>
            </p:cNvCxnSpPr>
            <p:nvPr/>
          </p:nvCxnSpPr>
          <p:spPr>
            <a:xfrm>
              <a:off x="885825" y="3032235"/>
              <a:ext cx="1168262" cy="1692165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/>
            <p:cNvCxnSpPr>
              <a:stCxn id="28" idx="3"/>
              <a:endCxn id="29" idx="1"/>
            </p:cNvCxnSpPr>
            <p:nvPr/>
          </p:nvCxnSpPr>
          <p:spPr>
            <a:xfrm flipV="1">
              <a:off x="1114425" y="2447104"/>
              <a:ext cx="1734926" cy="356531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/>
            <p:cNvCxnSpPr>
              <a:stCxn id="29" idx="3"/>
              <a:endCxn id="26" idx="1"/>
            </p:cNvCxnSpPr>
            <p:nvPr/>
          </p:nvCxnSpPr>
          <p:spPr>
            <a:xfrm>
              <a:off x="3306551" y="2447104"/>
              <a:ext cx="2408449" cy="586773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>
              <a:stCxn id="29" idx="2"/>
              <a:endCxn id="27" idx="0"/>
            </p:cNvCxnSpPr>
            <p:nvPr/>
          </p:nvCxnSpPr>
          <p:spPr>
            <a:xfrm flipH="1">
              <a:off x="2613080" y="2675704"/>
              <a:ext cx="464871" cy="786795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/>
            <p:cNvCxnSpPr>
              <a:stCxn id="27" idx="3"/>
              <a:endCxn id="30" idx="1"/>
            </p:cNvCxnSpPr>
            <p:nvPr/>
          </p:nvCxnSpPr>
          <p:spPr>
            <a:xfrm>
              <a:off x="2841680" y="3691099"/>
              <a:ext cx="959855" cy="419758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/>
            <p:cNvCxnSpPr>
              <a:stCxn id="26" idx="2"/>
              <a:endCxn id="30" idx="0"/>
            </p:cNvCxnSpPr>
            <p:nvPr/>
          </p:nvCxnSpPr>
          <p:spPr>
            <a:xfrm flipH="1">
              <a:off x="4030135" y="3262477"/>
              <a:ext cx="1913465" cy="61978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/>
            <p:cNvCxnSpPr>
              <a:stCxn id="29" idx="3"/>
              <a:endCxn id="63" idx="1"/>
            </p:cNvCxnSpPr>
            <p:nvPr/>
          </p:nvCxnSpPr>
          <p:spPr>
            <a:xfrm flipV="1">
              <a:off x="3306551" y="1709900"/>
              <a:ext cx="952184" cy="737204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/>
            <p:cNvCxnSpPr>
              <a:stCxn id="26" idx="0"/>
              <a:endCxn id="63" idx="3"/>
            </p:cNvCxnSpPr>
            <p:nvPr/>
          </p:nvCxnSpPr>
          <p:spPr>
            <a:xfrm flipH="1" flipV="1">
              <a:off x="4715935" y="1709900"/>
              <a:ext cx="1227665" cy="1095377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/>
            <p:cNvCxnSpPr>
              <a:stCxn id="23" idx="0"/>
              <a:endCxn id="30" idx="2"/>
            </p:cNvCxnSpPr>
            <p:nvPr/>
          </p:nvCxnSpPr>
          <p:spPr>
            <a:xfrm flipH="1" flipV="1">
              <a:off x="4030135" y="4339457"/>
              <a:ext cx="728132" cy="765943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/>
            <p:cNvCxnSpPr>
              <a:stCxn id="23" idx="0"/>
              <a:endCxn id="26" idx="2"/>
            </p:cNvCxnSpPr>
            <p:nvPr/>
          </p:nvCxnSpPr>
          <p:spPr>
            <a:xfrm flipV="1">
              <a:off x="4758267" y="3262477"/>
              <a:ext cx="1185333" cy="1842923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" name="Group 8"/>
            <p:cNvGrpSpPr/>
            <p:nvPr/>
          </p:nvGrpSpPr>
          <p:grpSpPr>
            <a:xfrm rot="10800000">
              <a:off x="2657024" y="5938347"/>
              <a:ext cx="530353" cy="457201"/>
              <a:chOff x="2133600" y="4191000"/>
              <a:chExt cx="1060704" cy="914400"/>
            </a:xfrm>
          </p:grpSpPr>
          <p:sp>
            <p:nvSpPr>
              <p:cNvPr id="7" name="Isosceles Triangle 6"/>
              <p:cNvSpPr/>
              <p:nvPr/>
            </p:nvSpPr>
            <p:spPr>
              <a:xfrm>
                <a:off x="2133600" y="4191000"/>
                <a:ext cx="1060704" cy="457200"/>
              </a:xfrm>
              <a:prstGeom prst="triangl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chemeClr val="tx2">
                        <a:lumMod val="60000"/>
                        <a:lumOff val="40000"/>
                      </a:schemeClr>
                    </a:solidFill>
                  </a:ln>
                </a:endParaRPr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2133600" y="4648200"/>
                <a:ext cx="1060704" cy="457200"/>
              </a:xfrm>
              <a:prstGeom prst="rect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chemeClr val="tx2">
                        <a:lumMod val="60000"/>
                        <a:lumOff val="40000"/>
                      </a:schemeClr>
                    </a:solidFill>
                  </a:ln>
                </a:endParaRPr>
              </a:p>
            </p:txBody>
          </p:sp>
        </p:grpSp>
        <p:sp>
          <p:nvSpPr>
            <p:cNvPr id="10" name="Rectangle 9"/>
            <p:cNvSpPr/>
            <p:nvPr/>
          </p:nvSpPr>
          <p:spPr>
            <a:xfrm>
              <a:off x="1825487" y="4724400"/>
              <a:ext cx="457200" cy="4572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529667" y="5105400"/>
              <a:ext cx="457200" cy="4572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5715000" y="2805277"/>
              <a:ext cx="457200" cy="4572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2384480" y="3462499"/>
              <a:ext cx="457200" cy="4572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657225" y="2575035"/>
              <a:ext cx="457200" cy="4572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2849351" y="2218504"/>
              <a:ext cx="457200" cy="4572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3801535" y="3882257"/>
              <a:ext cx="457200" cy="4572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4258735" y="1481300"/>
              <a:ext cx="457200" cy="4572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2" name="TextBox 51"/>
          <p:cNvSpPr txBox="1"/>
          <p:nvPr/>
        </p:nvSpPr>
        <p:spPr>
          <a:xfrm>
            <a:off x="7239000" y="1292170"/>
            <a:ext cx="3429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Need to place defenders on bases such that every edge is defended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430814" y="2075957"/>
            <a:ext cx="39229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How many defenders would suffice?</a:t>
            </a:r>
          </a:p>
        </p:txBody>
      </p:sp>
    </p:spTree>
    <p:extLst>
      <p:ext uri="{BB962C8B-B14F-4D97-AF65-F5344CB8AC3E}">
        <p14:creationId xmlns:p14="http://schemas.microsoft.com/office/powerpoint/2010/main" val="39501535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Vertex Cover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Vertex Cover: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𝐶</m:t>
                    </m:r>
                    <m:r>
                      <a:rPr lang="en-US" b="0" i="1" smtClean="0">
                        <a:latin typeface="Cambria Math"/>
                      </a:rPr>
                      <m:t>⊆</m:t>
                    </m:r>
                    <m:r>
                      <a:rPr lang="en-US" b="0" i="1" smtClean="0">
                        <a:latin typeface="Cambria Math"/>
                      </a:rPr>
                      <m:t>𝑉</m:t>
                    </m:r>
                  </m:oMath>
                </a14:m>
                <a:r>
                  <a:rPr lang="en-US" dirty="0"/>
                  <a:t> is a vertex cover if every edge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𝐸</m:t>
                    </m:r>
                  </m:oMath>
                </a14:m>
                <a:r>
                  <a:rPr lang="en-US" dirty="0"/>
                  <a:t> has one of its endpoints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𝐶</m:t>
                    </m:r>
                  </m:oMath>
                </a14:m>
                <a:endParaRPr lang="en-US" dirty="0"/>
              </a:p>
              <a:p>
                <a:r>
                  <a:rPr lang="en-US" dirty="0"/>
                  <a:t>Vertex Cover Problem: </a:t>
                </a:r>
              </a:p>
              <a:p>
                <a:pPr lvl="1"/>
                <a:r>
                  <a:rPr lang="en-US" dirty="0"/>
                  <a:t>Given a graph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𝐺</m:t>
                    </m:r>
                    <m:r>
                      <a:rPr lang="en-US" b="0" i="1" smtClean="0">
                        <a:latin typeface="Cambria Math"/>
                      </a:rPr>
                      <m:t>=(</m:t>
                    </m:r>
                    <m:r>
                      <a:rPr lang="en-US" b="0" i="1" smtClean="0">
                        <a:latin typeface="Cambria Math"/>
                      </a:rPr>
                      <m:t>𝑉</m:t>
                    </m:r>
                    <m:r>
                      <a:rPr lang="en-US" b="0" i="1" smtClean="0">
                        <a:latin typeface="Cambria Math"/>
                      </a:rPr>
                      <m:t>,</m:t>
                    </m:r>
                    <m:r>
                      <a:rPr lang="en-US" b="0" i="1" smtClean="0">
                        <a:latin typeface="Cambria Math"/>
                      </a:rPr>
                      <m:t>𝐸</m:t>
                    </m:r>
                    <m:r>
                      <a:rPr lang="en-US" b="0" i="1" smtClean="0">
                        <a:latin typeface="Cambria Math"/>
                      </a:rPr>
                      <m:t>)</m:t>
                    </m:r>
                  </m:oMath>
                </a14:m>
                <a:r>
                  <a:rPr lang="en-US" dirty="0"/>
                  <a:t> and a number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, determine if there is a vertex cover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𝐶</m:t>
                    </m:r>
                  </m:oMath>
                </a14:m>
                <a:r>
                  <a:rPr lang="en-US" dirty="0"/>
                  <a:t> of size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ADE50-950A-4D58-BFB2-FA2C6A8B385D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68593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Vertex Cover Example</a:t>
            </a:r>
          </a:p>
        </p:txBody>
      </p:sp>
      <p:grpSp>
        <p:nvGrpSpPr>
          <p:cNvPr id="3" name="Group 2" descr="An example of a vertex cover of size 5. 5 nodes are selected, and regardless of which edge of the original graph you consider, at least one of its end points is included among the selected nodes.">
            <a:extLst>
              <a:ext uri="{FF2B5EF4-FFF2-40B4-BE49-F238E27FC236}">
                <a16:creationId xmlns:a16="http://schemas.microsoft.com/office/drawing/2014/main" id="{ECE28C64-5F7B-A9FB-3E9D-AB2C524123A9}"/>
              </a:ext>
            </a:extLst>
          </p:cNvPr>
          <p:cNvGrpSpPr/>
          <p:nvPr/>
        </p:nvGrpSpPr>
        <p:grpSpPr>
          <a:xfrm>
            <a:off x="2181225" y="1292170"/>
            <a:ext cx="8486775" cy="5103379"/>
            <a:chOff x="2181225" y="1292170"/>
            <a:chExt cx="8486775" cy="5103379"/>
          </a:xfrm>
        </p:grpSpPr>
        <p:cxnSp>
          <p:nvCxnSpPr>
            <p:cNvPr id="14" name="Straight Connector 13"/>
            <p:cNvCxnSpPr>
              <a:stCxn id="8" idx="1"/>
              <a:endCxn id="23" idx="2"/>
            </p:cNvCxnSpPr>
            <p:nvPr/>
          </p:nvCxnSpPr>
          <p:spPr>
            <a:xfrm flipV="1">
              <a:off x="4711377" y="5562601"/>
              <a:ext cx="1570890" cy="490047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>
              <a:stCxn id="10" idx="2"/>
              <a:endCxn id="8" idx="3"/>
            </p:cNvCxnSpPr>
            <p:nvPr/>
          </p:nvCxnSpPr>
          <p:spPr>
            <a:xfrm>
              <a:off x="3578088" y="5181601"/>
              <a:ext cx="602937" cy="871047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>
              <a:stCxn id="23" idx="1"/>
              <a:endCxn id="10" idx="3"/>
            </p:cNvCxnSpPr>
            <p:nvPr/>
          </p:nvCxnSpPr>
          <p:spPr>
            <a:xfrm flipH="1" flipV="1">
              <a:off x="3806687" y="4953000"/>
              <a:ext cx="2246980" cy="38100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>
              <a:stCxn id="28" idx="2"/>
              <a:endCxn id="10" idx="0"/>
            </p:cNvCxnSpPr>
            <p:nvPr/>
          </p:nvCxnSpPr>
          <p:spPr>
            <a:xfrm>
              <a:off x="2409825" y="3032236"/>
              <a:ext cx="1168262" cy="1692165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/>
            <p:cNvCxnSpPr>
              <a:stCxn id="28" idx="3"/>
              <a:endCxn id="29" idx="1"/>
            </p:cNvCxnSpPr>
            <p:nvPr/>
          </p:nvCxnSpPr>
          <p:spPr>
            <a:xfrm flipV="1">
              <a:off x="2638425" y="2447105"/>
              <a:ext cx="1734926" cy="356531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/>
            <p:cNvCxnSpPr>
              <a:stCxn id="29" idx="3"/>
              <a:endCxn id="26" idx="1"/>
            </p:cNvCxnSpPr>
            <p:nvPr/>
          </p:nvCxnSpPr>
          <p:spPr>
            <a:xfrm>
              <a:off x="4830552" y="2447105"/>
              <a:ext cx="2408449" cy="586773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>
              <a:stCxn id="29" idx="2"/>
              <a:endCxn id="27" idx="0"/>
            </p:cNvCxnSpPr>
            <p:nvPr/>
          </p:nvCxnSpPr>
          <p:spPr>
            <a:xfrm flipH="1">
              <a:off x="4137081" y="2675705"/>
              <a:ext cx="464871" cy="786795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/>
            <p:cNvCxnSpPr>
              <a:stCxn id="27" idx="3"/>
              <a:endCxn id="30" idx="1"/>
            </p:cNvCxnSpPr>
            <p:nvPr/>
          </p:nvCxnSpPr>
          <p:spPr>
            <a:xfrm>
              <a:off x="4365681" y="3691099"/>
              <a:ext cx="959855" cy="419758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/>
            <p:cNvCxnSpPr>
              <a:stCxn id="26" idx="2"/>
              <a:endCxn id="30" idx="0"/>
            </p:cNvCxnSpPr>
            <p:nvPr/>
          </p:nvCxnSpPr>
          <p:spPr>
            <a:xfrm flipH="1">
              <a:off x="5554136" y="3262477"/>
              <a:ext cx="1913465" cy="61978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/>
            <p:cNvCxnSpPr>
              <a:stCxn id="29" idx="3"/>
              <a:endCxn id="63" idx="1"/>
            </p:cNvCxnSpPr>
            <p:nvPr/>
          </p:nvCxnSpPr>
          <p:spPr>
            <a:xfrm flipV="1">
              <a:off x="4830552" y="1709900"/>
              <a:ext cx="909851" cy="737204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/>
            <p:cNvCxnSpPr>
              <a:stCxn id="26" idx="0"/>
              <a:endCxn id="63" idx="3"/>
            </p:cNvCxnSpPr>
            <p:nvPr/>
          </p:nvCxnSpPr>
          <p:spPr>
            <a:xfrm flipH="1" flipV="1">
              <a:off x="6197602" y="1709901"/>
              <a:ext cx="1269998" cy="1095377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/>
            <p:cNvCxnSpPr>
              <a:stCxn id="23" idx="0"/>
              <a:endCxn id="30" idx="2"/>
            </p:cNvCxnSpPr>
            <p:nvPr/>
          </p:nvCxnSpPr>
          <p:spPr>
            <a:xfrm flipH="1" flipV="1">
              <a:off x="5554135" y="4339458"/>
              <a:ext cx="728132" cy="765943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/>
            <p:cNvCxnSpPr>
              <a:stCxn id="23" idx="0"/>
              <a:endCxn id="26" idx="2"/>
            </p:cNvCxnSpPr>
            <p:nvPr/>
          </p:nvCxnSpPr>
          <p:spPr>
            <a:xfrm flipV="1">
              <a:off x="6282268" y="3262478"/>
              <a:ext cx="1185333" cy="1842923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" name="Group 8"/>
            <p:cNvGrpSpPr/>
            <p:nvPr/>
          </p:nvGrpSpPr>
          <p:grpSpPr>
            <a:xfrm rot="10800000">
              <a:off x="4181025" y="5938348"/>
              <a:ext cx="530353" cy="457201"/>
              <a:chOff x="2133600" y="4191000"/>
              <a:chExt cx="1060704" cy="914400"/>
            </a:xfrm>
          </p:grpSpPr>
          <p:sp>
            <p:nvSpPr>
              <p:cNvPr id="7" name="Isosceles Triangle 6"/>
              <p:cNvSpPr/>
              <p:nvPr/>
            </p:nvSpPr>
            <p:spPr>
              <a:xfrm>
                <a:off x="2133600" y="4191000"/>
                <a:ext cx="1060704" cy="457200"/>
              </a:xfrm>
              <a:prstGeom prst="triangle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chemeClr val="tx2">
                        <a:lumMod val="60000"/>
                        <a:lumOff val="40000"/>
                      </a:schemeClr>
                    </a:solidFill>
                  </a:ln>
                </a:endParaRPr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2133600" y="4648200"/>
                <a:ext cx="1060704" cy="457200"/>
              </a:xfrm>
              <a:prstGeom prst="rect">
                <a:avLst/>
              </a:prstGeom>
              <a:solidFill>
                <a:schemeClr val="tx2">
                  <a:lumMod val="60000"/>
                  <a:lumOff val="4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chemeClr val="tx2">
                        <a:lumMod val="60000"/>
                        <a:lumOff val="40000"/>
                      </a:schemeClr>
                    </a:solidFill>
                  </a:ln>
                </a:endParaRPr>
              </a:p>
            </p:txBody>
          </p:sp>
        </p:grpSp>
        <p:sp>
          <p:nvSpPr>
            <p:cNvPr id="10" name="Rectangle 9"/>
            <p:cNvSpPr/>
            <p:nvPr/>
          </p:nvSpPr>
          <p:spPr>
            <a:xfrm>
              <a:off x="3349487" y="4724400"/>
              <a:ext cx="457200" cy="4572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053667" y="5105400"/>
              <a:ext cx="457200" cy="4572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7239000" y="2805277"/>
              <a:ext cx="457200" cy="4572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908480" y="3462499"/>
              <a:ext cx="457200" cy="4572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2181225" y="2575035"/>
              <a:ext cx="457200" cy="457200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373351" y="2218504"/>
              <a:ext cx="457200" cy="4572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5325535" y="3882257"/>
              <a:ext cx="457200" cy="4572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5740402" y="1481300"/>
              <a:ext cx="457200" cy="4572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7239000" y="1292170"/>
              <a:ext cx="3429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rgbClr val="FF0000"/>
                  </a:solidFill>
                </a:rPr>
                <a:t>Vertex cover of size 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756504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EAA065-6CD0-9F5B-7974-C2A75C541B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and Verifying Vertex Cover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F4D0EF-7C00-6F14-9DB2-CA7C1A2A7E0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Give an algorithm to </a:t>
                </a:r>
                <a:r>
                  <a:rPr lang="en-US" b="1" dirty="0"/>
                  <a:t>solve</a:t>
                </a:r>
                <a:r>
                  <a:rPr lang="en-US" dirty="0"/>
                  <a:t> vertex cover</a:t>
                </a:r>
              </a:p>
              <a:p>
                <a:pPr lvl="1"/>
                <a:r>
                  <a:rPr lang="en-US" dirty="0"/>
                  <a:t>Input: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a number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Output: True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has a vertex cover of size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  <a:p>
                <a:r>
                  <a:rPr lang="en-US" dirty="0"/>
                  <a:t>Give an algorithm to </a:t>
                </a:r>
                <a:r>
                  <a:rPr lang="en-US" b="1" dirty="0"/>
                  <a:t>verify</a:t>
                </a:r>
                <a:r>
                  <a:rPr lang="en-US" dirty="0"/>
                  <a:t> vertex cover</a:t>
                </a:r>
              </a:p>
              <a:p>
                <a:pPr lvl="1"/>
                <a:r>
                  <a:rPr lang="en-US" dirty="0"/>
                  <a:t>Input: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,a number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, and a set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Output: True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 is a vertex cover of size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F4D0EF-7C00-6F14-9DB2-CA7C1A2A7E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220344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54962</TotalTime>
  <Words>2148</Words>
  <Application>Microsoft Office PowerPoint</Application>
  <PresentationFormat>Widescreen</PresentationFormat>
  <Paragraphs>348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Arial</vt:lpstr>
      <vt:lpstr>Cambria Math</vt:lpstr>
      <vt:lpstr>Calibri</vt:lpstr>
      <vt:lpstr>Calibri Light</vt:lpstr>
      <vt:lpstr>Office Theme</vt:lpstr>
      <vt:lpstr>CSE 332 Winter 2026 Lecture 25: Complexity and Tractability</vt:lpstr>
      <vt:lpstr>Running Times - Graph</vt:lpstr>
      <vt:lpstr>Running Times - Table</vt:lpstr>
      <vt:lpstr>Tractability</vt:lpstr>
      <vt:lpstr>7 Bridges of Königsberg</vt:lpstr>
      <vt:lpstr>Euler Path Problem</vt:lpstr>
      <vt:lpstr>Euler Path Examples</vt:lpstr>
      <vt:lpstr>Euler’s Theorem</vt:lpstr>
      <vt:lpstr>Algorithm for the Euler Path Problem</vt:lpstr>
      <vt:lpstr>A Seemingly Similar Problem</vt:lpstr>
      <vt:lpstr>Algorithms for the Hamiltonian Path Problem</vt:lpstr>
      <vt:lpstr>Option 2: List all sequences, look for a path</vt:lpstr>
      <vt:lpstr>Option 1: Explore all simple paths, check for one of length V</vt:lpstr>
      <vt:lpstr>Complexity Classes</vt:lpstr>
      <vt:lpstr>Complexity Classes and Tractability</vt:lpstr>
      <vt:lpstr>EXP and P</vt:lpstr>
      <vt:lpstr>Members of EXP and P</vt:lpstr>
      <vt:lpstr>Studying Complexity and Tractability</vt:lpstr>
      <vt:lpstr>Some problems in EXP seem “easier”</vt:lpstr>
      <vt:lpstr>Class NP</vt:lpstr>
      <vt:lpstr>EXP⊃NP⊇P </vt:lpstr>
      <vt:lpstr>Solving and Verifying Hamiltonian Path</vt:lpstr>
      <vt:lpstr>Party Problem</vt:lpstr>
      <vt:lpstr>Independent Set</vt:lpstr>
      <vt:lpstr>Independent Set Example</vt:lpstr>
      <vt:lpstr>Solving and Verifying Independent Set</vt:lpstr>
      <vt:lpstr>Baseball</vt:lpstr>
      <vt:lpstr>Generalized Baseball</vt:lpstr>
      <vt:lpstr>Vertex Cover</vt:lpstr>
      <vt:lpstr>Vertex Cover Example</vt:lpstr>
      <vt:lpstr>Solving and Verifying Vertex Cover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CSE 332 Autumn 2023 Lecture 8: Dictionaries, BSTs</dc:title>
  <dc:creator>Nathan Brunelle</dc:creator>
  <cp:lastModifiedBy>Nathan Brunelle</cp:lastModifiedBy>
  <cp:revision>395</cp:revision>
  <dcterms:created xsi:type="dcterms:W3CDTF">2023-10-13T16:06:42Z</dcterms:created>
  <dcterms:modified xsi:type="dcterms:W3CDTF">2026-05-29T19:28:21Z</dcterms:modified>
</cp:coreProperties>
</file>