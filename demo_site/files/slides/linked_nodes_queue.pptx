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6" r:id="rId3"/>
    <p:sldId id="270" r:id="rId4"/>
    <p:sldId id="272" r:id="rId5"/>
    <p:sldId id="273" r:id="rId6"/>
    <p:sldId id="274" r:id="rId7"/>
    <p:sldId id="275" r:id="rId8"/>
    <p:sldId id="280" r:id="rId9"/>
    <p:sldId id="281" r:id="rId10"/>
    <p:sldId id="282" r:id="rId11"/>
    <p:sldId id="283" r:id="rId12"/>
    <p:sldId id="284" r:id="rId13"/>
    <p:sldId id="285" r:id="rId14"/>
    <p:sldId id="291" r:id="rId15"/>
    <p:sldId id="286" r:id="rId16"/>
    <p:sldId id="290" r:id="rId17"/>
    <p:sldId id="292" r:id="rId18"/>
    <p:sldId id="293" r:id="rId19"/>
    <p:sldId id="271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64" d="100"/>
          <a:sy n="64" d="100"/>
        </p:scale>
        <p:origin x="712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938C1-1E3B-B21A-7B15-CDD07AA835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2519C8-78E7-6655-3C54-30EABF96D0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253E42-35CE-3663-20E5-8B2FC10BE5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7F87BD-12BA-4E0C-8AF3-574054590446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0398FD-282A-6FCC-FC20-77AAA02142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7F6790-FD37-04BF-DC95-3D5F5F35D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0F31C2-E0A2-4B5B-88EC-AE255C7A14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794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4CBE3-93C0-F905-2AFF-15B9F9663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49ECAC-D7F1-BB3E-7ACB-8841A431E7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FAF27-AA57-674C-618E-218FF49C1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7F87BD-12BA-4E0C-8AF3-574054590446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E4E5A0-DCD7-7A7B-E60B-DAC764737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4541D4-452F-BDEC-0AA6-75A35016E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0F31C2-E0A2-4B5B-88EC-AE255C7A14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68093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41421-E5BF-3DFA-EE0C-E1CC76E21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5A3DEC-B48A-4F51-9982-1748D925A3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D950A4-7FD1-AD64-26DB-E80046461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7F87BD-12BA-4E0C-8AF3-574054590446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7FD46B-172D-D9E1-FB83-990DBE608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B5EA70-479B-5635-A09A-C354E59D8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0F31C2-E0A2-4B5B-88EC-AE255C7A14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776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80887-33D5-4534-DD88-47E5B7E1B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4538C4-C573-8798-E277-E35554A19A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E66C6C-AC2B-8F81-CEA2-877DF79886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A83C6C-443F-778B-5787-F5C4E699E8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7F87BD-12BA-4E0C-8AF3-574054590446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6C576B-4F4A-9EEA-C3DD-D676B0D37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690787-BB18-4604-8EBE-DB428F106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0F31C2-E0A2-4B5B-88EC-AE255C7A14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5381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807C6-B407-9955-8E77-475F8E7877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8D3CE8-EE40-79C5-2D54-117B839E91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AED28-4D8E-CF5D-D1A2-F39FBED9B4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C7FD1E-D8CE-BFCA-6AC3-CD277241BA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D5E86D-F91A-580B-A638-CBA80B64B8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186289-46D2-AB7A-AA70-F199248768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7F87BD-12BA-4E0C-8AF3-574054590446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C81E587-A837-4C83-D518-3BFB33DD8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74DE588-161C-F1A0-BDB9-1BC7788F4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0F31C2-E0A2-4B5B-88EC-AE255C7A14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3851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CFCED-66A5-1A99-F28C-AA5804196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A548DC-3E6B-7A1C-8D78-E0BE14951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7F87BD-12BA-4E0C-8AF3-574054590446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FECF08-0360-5782-66A7-4407F050E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9EA119-48EB-EF9C-A435-0F64894F6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0F31C2-E0A2-4B5B-88EC-AE255C7A14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9593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447BB8-C8E5-BDB1-CB98-6439B70852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7F87BD-12BA-4E0C-8AF3-574054590446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5FD780-B613-1DD5-0189-FD5A859A2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EBAA84-7854-BD44-E640-61BD7BB77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0F31C2-E0A2-4B5B-88EC-AE255C7A14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8961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9B7BF-9592-0FCF-B90F-96CBFFB20C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71F27E-B753-5AEE-CC88-B723D8BEAB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B9CCE6-FFDE-E467-DAF2-947F067B90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63536B-063F-808E-DBBC-1A4D5A8D3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7F87BD-12BA-4E0C-8AF3-574054590446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EB0CDE-CB80-CEA1-DB5A-981B980EA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90C259-52B5-E818-75DD-08280668C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0F31C2-E0A2-4B5B-88EC-AE255C7A14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42054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62997-2CE2-50CB-4182-24D9ABF5EA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406E3A8-E241-57D5-C90A-4968D4EADE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577282-736B-4460-3367-19C1C2AC9F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880DD8-FDBC-9FCA-CD2D-66D0A57C6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7F87BD-12BA-4E0C-8AF3-574054590446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A780A7-F82C-2058-E749-F4350A805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BF020E-BF8B-79C9-48DE-16D6C002D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0F31C2-E0A2-4B5B-88EC-AE255C7A14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09220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D8415-D44C-B80F-60E1-F6B97A6D6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E069BC-5FBA-F022-3D3D-5523AC2C17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9C7D01-5DB5-3A9B-A279-1700DAA5A8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7F87BD-12BA-4E0C-8AF3-574054590446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13BB90-526C-8547-A680-EC1BA7EA53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DB90EB-33AF-B001-3005-9F11AEF42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0F31C2-E0A2-4B5B-88EC-AE255C7A14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926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8F07794-526C-D2CE-A95E-946F892C51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45F2CC-92F4-CE83-3276-A0466B18F7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5FCE9-D09D-F116-ED40-F4A39FD408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7F87BD-12BA-4E0C-8AF3-574054590446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307C79-FE56-A399-7895-E53D4146E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B08152-39CD-2213-1FF3-5381D58ED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0F31C2-E0A2-4B5B-88EC-AE255C7A14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534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41DCF-5FA9-3BBE-A6DC-4C4767E77E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D8AAD4-9F4E-2546-4A20-345BE6926F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B68BC9-B242-D863-6297-36224D351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6D43E7-A090-881E-D908-BB9CC53DD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DFBC9-B9F9-85A6-26A1-9D7E515D0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182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BB011-50E5-247E-0EB3-D47C59C4F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71371-A022-A3A5-E49C-D2CCEC4E25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8F92F8-B436-FF4B-567C-6CF9F3F68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755B9-83BE-E117-954F-A47925F5B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E45716-8D01-8E2F-8276-3A903E60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3112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264CF-1BBA-680C-4F96-017144A1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89E9BE-1B28-C587-A2C5-253ECF74E1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E3E68-CE19-CACB-1EDD-351F4F9C9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49855-AB14-5CF9-EE88-AB42D1DF4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DE2C96-8A85-4C99-39A1-9B9DB31D7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0427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89EEC-003E-DFFB-2D04-A2E70FE13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FE0F4-58A0-D6D9-6AAC-CD97965C20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7E4C68-9C36-2696-B323-CF0642D6DB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9713B3-5A96-0F1A-CFE7-8563FD24B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8D724B-C264-2548-CAFF-305FE7D37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193A13-EBDF-17F2-DF34-5BA3D7932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34757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19F2D-6C68-B3F6-3BC7-2A9EE6BE2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A2B36-9CB6-0E61-D14F-48AD642FCA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551B63-A4A2-BD66-BF76-72528E69BA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EF4911-72D8-7120-897F-434F05D8DA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354135-3D54-9447-778A-86081F0473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F52A4A-AE91-8A3A-8DE2-74205F39F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FC667D-AA9E-21BF-66F2-755D86E70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8E628E-2723-30DA-D22D-BFF79CE05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6929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41984-7865-CBC1-7E39-27325050C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341811-B828-6912-5458-2BC9266D2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1DF831-0A64-24F5-806E-B3EBA5591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EFD212-56D6-B7F8-FC27-BC4BF7386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64736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903B13-E121-53F2-65F9-41E383C57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814793-9D7D-32F8-795A-31644DBAB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76B231-FE15-2561-B700-2506AC713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8541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B5398-EEBA-42F4-3948-4DF36A153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00E0-12D7-545A-0B4A-64A8B51A9F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585510-3798-210C-EC55-29C449719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E698E8-2EE7-873D-A608-9A260F5DD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5F347-CF7A-10E6-8DC6-FA1E5DB6D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5E452D-F82A-718F-94C2-C889F622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123061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E1DDD-DB8D-6429-4235-465780A7B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42B9E5-6756-3695-C94E-93A464783E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170C60-CA85-5E67-14F6-3176093E55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325D70-D5F0-5123-66A9-63D9B82E9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77B62A-8600-7CE9-095E-82CDE4E17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8F328-EF42-0E10-9C29-12A53381D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7810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24705-3181-4743-BF72-E5B55E627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D9669D-6765-7CD2-C040-D4C5E44BAB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5E7B0-5065-8FAA-2D02-01DC4905B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487F4E-481E-5CA4-5AC0-EF15EBAF8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5C81A-1EC7-F85E-A5DB-0F7CA62EC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65695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F8F565-D4D2-A972-147D-1A41777B2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813695-1D6C-4A4F-7F94-134666381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6AEB8A-EA17-E1E1-8CD3-B7AF8E3F2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AF905-A88D-ED4C-DD07-098840D4A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A03B8-DD10-B6B6-6B59-3EB669F3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1034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082739-AF05-F7FE-C96B-413CAA6321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13DB26-7F71-E0D8-CB4E-654330A5DA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886E2-EF6D-222C-5A83-F6106E60A5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7F87BD-12BA-4E0C-8AF3-574054590446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83BD39-636F-1B6D-A141-E00C11B759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FE9052-BAAC-FC48-CCF0-0E1719A9CC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0F31C2-E0A2-4B5B-88EC-AE255C7A14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1254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BC2B57-F2EC-C92D-BAFA-C36FE7F31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0AE8E8-3549-4143-3C3F-38529FA553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62DEB0-3161-B686-27DF-345950BFF0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B93FBE-67AC-4C5C-B62E-CFFDEAF9BE53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B5E12D-E358-B346-0620-4D8545C52B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1C4BA-D22A-5462-8F71-6F616DC8FA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2682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E3D11E-997B-19DB-F5A3-3E008622DB0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Linked Nodes Queue</a:t>
            </a:r>
            <a:br>
              <a:rPr lang="en-US" dirty="0"/>
            </a:br>
            <a:r>
              <a:rPr lang="en-US" sz="4800" dirty="0"/>
              <a:t>Enqueue and Dequeue</a:t>
            </a:r>
            <a:endParaRPr lang="en-US" dirty="0"/>
          </a:p>
        </p:txBody>
      </p:sp>
      <p:grpSp>
        <p:nvGrpSpPr>
          <p:cNvPr id="29" name="Group 28" descr="An illustration of a linked queue data structure. The elements of the list are contained in node objects. Each node object has a reference to another node object to establish a sequence of elements. There is also a reference called &quot;front&quot; that points to the first node in the queue, and a reference called &quot;back&quot; that points to the last node in the queue.">
            <a:extLst>
              <a:ext uri="{FF2B5EF4-FFF2-40B4-BE49-F238E27FC236}">
                <a16:creationId xmlns:a16="http://schemas.microsoft.com/office/drawing/2014/main" id="{4B4B5D53-DEDA-13E5-D62C-6CA0CA1C8800}"/>
              </a:ext>
            </a:extLst>
          </p:cNvPr>
          <p:cNvGrpSpPr/>
          <p:nvPr/>
        </p:nvGrpSpPr>
        <p:grpSpPr>
          <a:xfrm>
            <a:off x="1842053" y="4017485"/>
            <a:ext cx="8239760" cy="1718152"/>
            <a:chOff x="838200" y="1554957"/>
            <a:chExt cx="8239760" cy="1718152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BAC13B77-6D25-3B60-08F6-0EC200AC7712}"/>
                </a:ext>
              </a:extLst>
            </p:cNvPr>
            <p:cNvGrpSpPr/>
            <p:nvPr/>
          </p:nvGrpSpPr>
          <p:grpSpPr>
            <a:xfrm>
              <a:off x="2727960" y="1554957"/>
              <a:ext cx="6350000" cy="528320"/>
              <a:chOff x="2727960" y="1554957"/>
              <a:chExt cx="6350000" cy="528320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6740A18B-188E-2D71-AADE-FBA25A7CB23D}"/>
                  </a:ext>
                </a:extLst>
              </p:cNvPr>
              <p:cNvGrpSpPr/>
              <p:nvPr/>
            </p:nvGrpSpPr>
            <p:grpSpPr>
              <a:xfrm>
                <a:off x="4053840" y="1554957"/>
                <a:ext cx="1056640" cy="528320"/>
                <a:chOff x="8117840" y="4104640"/>
                <a:chExt cx="1056640" cy="528320"/>
              </a:xfrm>
            </p:grpSpPr>
            <p:sp>
              <p:nvSpPr>
                <p:cNvPr id="52" name="Rectangle 51">
                  <a:extLst>
                    <a:ext uri="{FF2B5EF4-FFF2-40B4-BE49-F238E27FC236}">
                      <a16:creationId xmlns:a16="http://schemas.microsoft.com/office/drawing/2014/main" id="{BBA03AFF-36BB-1DAB-A65A-FE3F67541246}"/>
                    </a:ext>
                  </a:extLst>
                </p:cNvPr>
                <p:cNvSpPr/>
                <p:nvPr/>
              </p:nvSpPr>
              <p:spPr>
                <a:xfrm>
                  <a:off x="8117840" y="4104640"/>
                  <a:ext cx="528320" cy="528320"/>
                </a:xfrm>
                <a:prstGeom prst="rect">
                  <a:avLst/>
                </a:prstGeom>
                <a:solidFill>
                  <a:srgbClr val="FFC000">
                    <a:lumMod val="40000"/>
                    <a:lumOff val="60000"/>
                  </a:srgbClr>
                </a:solidFill>
                <a:ln w="12700" cap="flat" cmpd="sng" algn="ctr">
                  <a:solidFill>
                    <a:srgbClr val="4472C4">
                      <a:shade val="1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8</a:t>
                  </a:r>
                </a:p>
              </p:txBody>
            </p:sp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B15BD0D8-F7AB-FFAC-BD6C-C249649D4556}"/>
                    </a:ext>
                  </a:extLst>
                </p:cNvPr>
                <p:cNvSpPr/>
                <p:nvPr/>
              </p:nvSpPr>
              <p:spPr>
                <a:xfrm>
                  <a:off x="8646160" y="4104640"/>
                  <a:ext cx="528320" cy="528320"/>
                </a:xfrm>
                <a:prstGeom prst="rect">
                  <a:avLst/>
                </a:prstGeom>
                <a:solidFill>
                  <a:sysClr val="window" lastClr="FFFFFF"/>
                </a:solidFill>
                <a:ln w="12700" cap="flat" cmpd="sng" algn="ctr">
                  <a:solidFill>
                    <a:srgbClr val="4472C4">
                      <a:shade val="1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93413AAB-877D-35E8-F32D-88D0A0D3DA1B}"/>
                  </a:ext>
                </a:extLst>
              </p:cNvPr>
              <p:cNvGrpSpPr/>
              <p:nvPr/>
            </p:nvGrpSpPr>
            <p:grpSpPr>
              <a:xfrm>
                <a:off x="5374640" y="1554957"/>
                <a:ext cx="1056640" cy="528320"/>
                <a:chOff x="8117840" y="4104640"/>
                <a:chExt cx="1056640" cy="528320"/>
              </a:xfrm>
            </p:grpSpPr>
            <p:sp>
              <p:nvSpPr>
                <p:cNvPr id="50" name="Rectangle 49">
                  <a:extLst>
                    <a:ext uri="{FF2B5EF4-FFF2-40B4-BE49-F238E27FC236}">
                      <a16:creationId xmlns:a16="http://schemas.microsoft.com/office/drawing/2014/main" id="{03E1BDBD-AC24-AD7A-3BC3-F276B9A3A2DF}"/>
                    </a:ext>
                  </a:extLst>
                </p:cNvPr>
                <p:cNvSpPr/>
                <p:nvPr/>
              </p:nvSpPr>
              <p:spPr>
                <a:xfrm>
                  <a:off x="8117840" y="4104640"/>
                  <a:ext cx="528320" cy="528320"/>
                </a:xfrm>
                <a:prstGeom prst="rect">
                  <a:avLst/>
                </a:prstGeom>
                <a:solidFill>
                  <a:srgbClr val="FFC000">
                    <a:lumMod val="40000"/>
                    <a:lumOff val="60000"/>
                  </a:srgbClr>
                </a:solidFill>
                <a:ln w="12700" cap="flat" cmpd="sng" algn="ctr">
                  <a:solidFill>
                    <a:srgbClr val="4472C4">
                      <a:shade val="1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3</a:t>
                  </a:r>
                </a:p>
              </p:txBody>
            </p:sp>
            <p:sp>
              <p:nvSpPr>
                <p:cNvPr id="51" name="Rectangle 50">
                  <a:extLst>
                    <a:ext uri="{FF2B5EF4-FFF2-40B4-BE49-F238E27FC236}">
                      <a16:creationId xmlns:a16="http://schemas.microsoft.com/office/drawing/2014/main" id="{9DC39BFB-2C54-3F34-834E-156EE5669225}"/>
                    </a:ext>
                  </a:extLst>
                </p:cNvPr>
                <p:cNvSpPr/>
                <p:nvPr/>
              </p:nvSpPr>
              <p:spPr>
                <a:xfrm>
                  <a:off x="8646160" y="4104640"/>
                  <a:ext cx="528320" cy="528320"/>
                </a:xfrm>
                <a:prstGeom prst="rect">
                  <a:avLst/>
                </a:prstGeom>
                <a:solidFill>
                  <a:sysClr val="window" lastClr="FFFFFF"/>
                </a:solidFill>
                <a:ln w="12700" cap="flat" cmpd="sng" algn="ctr">
                  <a:solidFill>
                    <a:srgbClr val="4472C4">
                      <a:shade val="1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67B5A2C8-8429-3F74-1F68-855C6AA8FCF8}"/>
                  </a:ext>
                </a:extLst>
              </p:cNvPr>
              <p:cNvGrpSpPr/>
              <p:nvPr/>
            </p:nvGrpSpPr>
            <p:grpSpPr>
              <a:xfrm>
                <a:off x="6700520" y="1554957"/>
                <a:ext cx="1056640" cy="528320"/>
                <a:chOff x="8117840" y="4104640"/>
                <a:chExt cx="1056640" cy="528320"/>
              </a:xfrm>
            </p:grpSpPr>
            <p:sp>
              <p:nvSpPr>
                <p:cNvPr id="48" name="Rectangle 47">
                  <a:extLst>
                    <a:ext uri="{FF2B5EF4-FFF2-40B4-BE49-F238E27FC236}">
                      <a16:creationId xmlns:a16="http://schemas.microsoft.com/office/drawing/2014/main" id="{4C868ABE-8E47-9A28-3624-19A2433C4124}"/>
                    </a:ext>
                  </a:extLst>
                </p:cNvPr>
                <p:cNvSpPr/>
                <p:nvPr/>
              </p:nvSpPr>
              <p:spPr>
                <a:xfrm>
                  <a:off x="8117840" y="4104640"/>
                  <a:ext cx="528320" cy="528320"/>
                </a:xfrm>
                <a:prstGeom prst="rect">
                  <a:avLst/>
                </a:prstGeom>
                <a:solidFill>
                  <a:srgbClr val="FFC000">
                    <a:lumMod val="40000"/>
                    <a:lumOff val="60000"/>
                  </a:srgbClr>
                </a:solidFill>
                <a:ln w="12700" cap="flat" cmpd="sng" algn="ctr">
                  <a:solidFill>
                    <a:srgbClr val="4472C4">
                      <a:shade val="1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4</a:t>
                  </a:r>
                </a:p>
              </p:txBody>
            </p:sp>
            <p:sp>
              <p:nvSpPr>
                <p:cNvPr id="49" name="Rectangle 48">
                  <a:extLst>
                    <a:ext uri="{FF2B5EF4-FFF2-40B4-BE49-F238E27FC236}">
                      <a16:creationId xmlns:a16="http://schemas.microsoft.com/office/drawing/2014/main" id="{C071628D-80E5-E03F-0E62-F6FC7C50CBE2}"/>
                    </a:ext>
                  </a:extLst>
                </p:cNvPr>
                <p:cNvSpPr/>
                <p:nvPr/>
              </p:nvSpPr>
              <p:spPr>
                <a:xfrm>
                  <a:off x="8646160" y="4104640"/>
                  <a:ext cx="528320" cy="528320"/>
                </a:xfrm>
                <a:prstGeom prst="rect">
                  <a:avLst/>
                </a:prstGeom>
                <a:solidFill>
                  <a:sysClr val="window" lastClr="FFFFFF"/>
                </a:solidFill>
                <a:ln w="12700" cap="flat" cmpd="sng" algn="ctr">
                  <a:solidFill>
                    <a:srgbClr val="4472C4">
                      <a:shade val="1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2940062F-B22C-17D7-E82D-79E2CC03621D}"/>
                  </a:ext>
                </a:extLst>
              </p:cNvPr>
              <p:cNvGrpSpPr/>
              <p:nvPr/>
            </p:nvGrpSpPr>
            <p:grpSpPr>
              <a:xfrm>
                <a:off x="8021320" y="1554957"/>
                <a:ext cx="1056640" cy="528320"/>
                <a:chOff x="8117840" y="4104640"/>
                <a:chExt cx="1056640" cy="528320"/>
              </a:xfrm>
            </p:grpSpPr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1B00E883-E6E7-E644-21DD-DF655E78375A}"/>
                    </a:ext>
                  </a:extLst>
                </p:cNvPr>
                <p:cNvSpPr/>
                <p:nvPr/>
              </p:nvSpPr>
              <p:spPr>
                <a:xfrm>
                  <a:off x="8117840" y="4104640"/>
                  <a:ext cx="528320" cy="528320"/>
                </a:xfrm>
                <a:prstGeom prst="rect">
                  <a:avLst/>
                </a:prstGeom>
                <a:solidFill>
                  <a:srgbClr val="FFC000">
                    <a:lumMod val="40000"/>
                    <a:lumOff val="60000"/>
                  </a:srgbClr>
                </a:solidFill>
                <a:ln w="12700" cap="flat" cmpd="sng" algn="ctr">
                  <a:solidFill>
                    <a:srgbClr val="4472C4">
                      <a:shade val="1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7</a:t>
                  </a:r>
                </a:p>
              </p:txBody>
            </p:sp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3D1EF1F0-4260-0FC6-2DA7-C2FB5F5C4893}"/>
                    </a:ext>
                  </a:extLst>
                </p:cNvPr>
                <p:cNvSpPr/>
                <p:nvPr/>
              </p:nvSpPr>
              <p:spPr>
                <a:xfrm>
                  <a:off x="8646160" y="4104640"/>
                  <a:ext cx="528320" cy="528320"/>
                </a:xfrm>
                <a:prstGeom prst="rect">
                  <a:avLst/>
                </a:prstGeom>
                <a:solidFill>
                  <a:sysClr val="window" lastClr="FFFFFF"/>
                </a:solidFill>
                <a:ln w="12700" cap="flat" cmpd="sng" algn="ctr">
                  <a:solidFill>
                    <a:srgbClr val="4472C4">
                      <a:shade val="1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A2828C84-5C66-2453-FB61-7FF32F62B111}"/>
                  </a:ext>
                </a:extLst>
              </p:cNvPr>
              <p:cNvGrpSpPr/>
              <p:nvPr/>
            </p:nvGrpSpPr>
            <p:grpSpPr>
              <a:xfrm>
                <a:off x="2727960" y="1554957"/>
                <a:ext cx="1056640" cy="528320"/>
                <a:chOff x="8117840" y="4104640"/>
                <a:chExt cx="1056640" cy="528320"/>
              </a:xfrm>
            </p:grpSpPr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7198F25-8565-B2AE-47E4-A6A5FC27CB8C}"/>
                    </a:ext>
                  </a:extLst>
                </p:cNvPr>
                <p:cNvSpPr/>
                <p:nvPr/>
              </p:nvSpPr>
              <p:spPr>
                <a:xfrm>
                  <a:off x="8117840" y="4104640"/>
                  <a:ext cx="528320" cy="528320"/>
                </a:xfrm>
                <a:prstGeom prst="rect">
                  <a:avLst/>
                </a:prstGeom>
                <a:solidFill>
                  <a:srgbClr val="FFC000">
                    <a:lumMod val="40000"/>
                    <a:lumOff val="60000"/>
                  </a:srgbClr>
                </a:solidFill>
                <a:ln w="12700" cap="flat" cmpd="sng" algn="ctr">
                  <a:solidFill>
                    <a:srgbClr val="4472C4">
                      <a:shade val="1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5</a:t>
                  </a:r>
                </a:p>
              </p:txBody>
            </p:sp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8047057-29B8-971E-F99F-9FB55E540A8B}"/>
                    </a:ext>
                  </a:extLst>
                </p:cNvPr>
                <p:cNvSpPr/>
                <p:nvPr/>
              </p:nvSpPr>
              <p:spPr>
                <a:xfrm>
                  <a:off x="8646160" y="4104640"/>
                  <a:ext cx="528320" cy="528320"/>
                </a:xfrm>
                <a:prstGeom prst="rect">
                  <a:avLst/>
                </a:prstGeom>
                <a:solidFill>
                  <a:sysClr val="window" lastClr="FFFFFF"/>
                </a:solidFill>
                <a:ln w="12700" cap="flat" cmpd="sng" algn="ctr">
                  <a:solidFill>
                    <a:srgbClr val="4472C4">
                      <a:shade val="1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B2A3DEE2-232F-A586-77B4-FC5D2F09914B}"/>
                  </a:ext>
                </a:extLst>
              </p:cNvPr>
              <p:cNvCxnSpPr>
                <a:cxnSpLocks/>
                <a:endCxn id="52" idx="1"/>
              </p:cNvCxnSpPr>
              <p:nvPr/>
            </p:nvCxnSpPr>
            <p:spPr>
              <a:xfrm>
                <a:off x="3520440" y="1819117"/>
                <a:ext cx="533400" cy="0"/>
              </a:xfrm>
              <a:prstGeom prst="straightConnector1">
                <a:avLst/>
              </a:prstGeom>
              <a:noFill/>
              <a:ln w="57150" cap="flat" cmpd="sng" algn="ctr">
                <a:solidFill>
                  <a:srgbClr val="FF0000"/>
                </a:solidFill>
                <a:prstDash val="solid"/>
                <a:miter lim="800000"/>
                <a:tailEnd type="triangle"/>
              </a:ln>
              <a:effectLst/>
            </p:spPr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EA11967F-580F-7C6B-6C2E-9765552AE0E1}"/>
                  </a:ext>
                </a:extLst>
              </p:cNvPr>
              <p:cNvCxnSpPr>
                <a:cxnSpLocks/>
                <a:endCxn id="50" idx="1"/>
              </p:cNvCxnSpPr>
              <p:nvPr/>
            </p:nvCxnSpPr>
            <p:spPr>
              <a:xfrm>
                <a:off x="4846320" y="1819117"/>
                <a:ext cx="528320" cy="0"/>
              </a:xfrm>
              <a:prstGeom prst="straightConnector1">
                <a:avLst/>
              </a:prstGeom>
              <a:noFill/>
              <a:ln w="57150" cap="flat" cmpd="sng" algn="ctr">
                <a:solidFill>
                  <a:srgbClr val="FF0000"/>
                </a:solidFill>
                <a:prstDash val="solid"/>
                <a:miter lim="800000"/>
                <a:tailEnd type="triangle"/>
              </a:ln>
              <a:effectLst/>
            </p:spPr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6B617DC4-EDAF-5FD4-ABF4-921A4A74B75A}"/>
                  </a:ext>
                </a:extLst>
              </p:cNvPr>
              <p:cNvCxnSpPr>
                <a:cxnSpLocks/>
                <a:endCxn id="48" idx="1"/>
              </p:cNvCxnSpPr>
              <p:nvPr/>
            </p:nvCxnSpPr>
            <p:spPr>
              <a:xfrm>
                <a:off x="6167120" y="1819117"/>
                <a:ext cx="533400" cy="0"/>
              </a:xfrm>
              <a:prstGeom prst="straightConnector1">
                <a:avLst/>
              </a:prstGeom>
              <a:noFill/>
              <a:ln w="57150" cap="flat" cmpd="sng" algn="ctr">
                <a:solidFill>
                  <a:srgbClr val="FF0000"/>
                </a:solidFill>
                <a:prstDash val="solid"/>
                <a:miter lim="800000"/>
                <a:tailEnd type="triangle"/>
              </a:ln>
              <a:effectLst/>
            </p:spPr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0126221A-244F-17EC-FF63-0503FCC61029}"/>
                  </a:ext>
                </a:extLst>
              </p:cNvPr>
              <p:cNvCxnSpPr>
                <a:cxnSpLocks/>
                <a:endCxn id="46" idx="1"/>
              </p:cNvCxnSpPr>
              <p:nvPr/>
            </p:nvCxnSpPr>
            <p:spPr>
              <a:xfrm>
                <a:off x="7493000" y="1819117"/>
                <a:ext cx="528320" cy="0"/>
              </a:xfrm>
              <a:prstGeom prst="straightConnector1">
                <a:avLst/>
              </a:prstGeom>
              <a:noFill/>
              <a:ln w="57150" cap="flat" cmpd="sng" algn="ctr">
                <a:solidFill>
                  <a:srgbClr val="FF0000"/>
                </a:solidFill>
                <a:prstDash val="solid"/>
                <a:miter lim="800000"/>
                <a:tailEnd type="triangle"/>
              </a:ln>
              <a:effectLst/>
            </p:spPr>
          </p:cxnSp>
        </p:grp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C686BB0B-D32C-E5F8-2116-EC2E990173DF}"/>
                </a:ext>
              </a:extLst>
            </p:cNvPr>
            <p:cNvSpPr/>
            <p:nvPr/>
          </p:nvSpPr>
          <p:spPr>
            <a:xfrm>
              <a:off x="838200" y="1554957"/>
              <a:ext cx="949960" cy="528320"/>
            </a:xfrm>
            <a:prstGeom prst="rect">
              <a:avLst/>
            </a:prstGeom>
            <a:solidFill>
              <a:srgbClr val="5B9BD5">
                <a:lumMod val="60000"/>
                <a:lumOff val="40000"/>
              </a:srgbClr>
            </a:solidFill>
            <a:ln w="127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front</a:t>
              </a: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9C5BE05-E39A-DAF4-897C-2C4F2984121D}"/>
                </a:ext>
              </a:extLst>
            </p:cNvPr>
            <p:cNvCxnSpPr>
              <a:cxnSpLocks/>
              <a:stCxn id="31" idx="3"/>
              <a:endCxn id="44" idx="1"/>
            </p:cNvCxnSpPr>
            <p:nvPr/>
          </p:nvCxnSpPr>
          <p:spPr>
            <a:xfrm>
              <a:off x="1788160" y="1819117"/>
              <a:ext cx="939800" cy="0"/>
            </a:xfrm>
            <a:prstGeom prst="straightConnector1">
              <a:avLst/>
            </a:prstGeom>
            <a:noFill/>
            <a:ln w="57150" cap="flat" cmpd="sng" algn="ctr">
              <a:solidFill>
                <a:srgbClr val="FF0000"/>
              </a:solidFill>
              <a:prstDash val="solid"/>
              <a:miter lim="800000"/>
              <a:tailEnd type="triangle"/>
            </a:ln>
            <a:effectLst/>
          </p:spPr>
        </p:cxn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BB67400B-F8D7-98E8-D2A0-A9941C0BFD6E}"/>
                </a:ext>
              </a:extLst>
            </p:cNvPr>
            <p:cNvSpPr/>
            <p:nvPr/>
          </p:nvSpPr>
          <p:spPr>
            <a:xfrm>
              <a:off x="7810500" y="2744789"/>
              <a:ext cx="949960" cy="528320"/>
            </a:xfrm>
            <a:prstGeom prst="rect">
              <a:avLst/>
            </a:prstGeom>
            <a:solidFill>
              <a:srgbClr val="FFC000"/>
            </a:solidFill>
            <a:ln w="127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back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4FB74AD1-F1CA-EDD9-1744-B48BF0126E67}"/>
                </a:ext>
              </a:extLst>
            </p:cNvPr>
            <p:cNvCxnSpPr>
              <a:cxnSpLocks/>
              <a:stCxn id="33" idx="0"/>
              <a:endCxn id="46" idx="2"/>
            </p:cNvCxnSpPr>
            <p:nvPr/>
          </p:nvCxnSpPr>
          <p:spPr>
            <a:xfrm flipV="1">
              <a:off x="8285480" y="2083277"/>
              <a:ext cx="0" cy="661512"/>
            </a:xfrm>
            <a:prstGeom prst="straightConnector1">
              <a:avLst/>
            </a:prstGeom>
            <a:noFill/>
            <a:ln w="57150" cap="flat" cmpd="sng" algn="ctr">
              <a:solidFill>
                <a:srgbClr val="FF0000"/>
              </a:solidFill>
              <a:prstDash val="solid"/>
              <a:miter lim="800000"/>
              <a:tailEnd type="triangle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18555395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B3408-2D56-B58E-F959-CF8F6AE71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Representation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76FFCF-F09D-CE03-F022-D39AD4A97E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56843" y="1378404"/>
            <a:ext cx="7076440" cy="2115032"/>
          </a:xfrm>
          <a:ln>
            <a:noFill/>
          </a:ln>
        </p:spPr>
        <p:txBody>
          <a:bodyPr>
            <a:normAutofit/>
          </a:bodyPr>
          <a:lstStyle/>
          <a:p>
            <a:r>
              <a:rPr lang="en-US" dirty="0"/>
              <a:t>Queue represented as a “chain” of items</a:t>
            </a:r>
          </a:p>
          <a:p>
            <a:pPr lvl="1"/>
            <a:r>
              <a:rPr lang="en-US" dirty="0">
                <a:solidFill>
                  <a:srgbClr val="0070C0"/>
                </a:solidFill>
              </a:rPr>
              <a:t>A “front” reference to the oldest item</a:t>
            </a:r>
          </a:p>
          <a:p>
            <a:pPr lvl="1"/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A “back” reference to the most recent item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Each Node references the item enqueued after it</a:t>
            </a:r>
          </a:p>
        </p:txBody>
      </p:sp>
      <p:grpSp>
        <p:nvGrpSpPr>
          <p:cNvPr id="19" name="Group 18" descr="An illustration of a linked queue data structure. The elements of the list are contained in node objects. Each node object has a reference to another node object to establish a sequence of elements. There is also a reference called &quot;front&quot; that points to the first node in the queue, and a reference called &quot;back&quot; that points to the last node in the queue.">
            <a:extLst>
              <a:ext uri="{FF2B5EF4-FFF2-40B4-BE49-F238E27FC236}">
                <a16:creationId xmlns:a16="http://schemas.microsoft.com/office/drawing/2014/main" id="{D2854160-5A0B-556C-7F74-574BAC0D9C9D}"/>
              </a:ext>
            </a:extLst>
          </p:cNvPr>
          <p:cNvGrpSpPr/>
          <p:nvPr/>
        </p:nvGrpSpPr>
        <p:grpSpPr>
          <a:xfrm>
            <a:off x="1583636" y="3761444"/>
            <a:ext cx="8239760" cy="1718152"/>
            <a:chOff x="838200" y="1554957"/>
            <a:chExt cx="8239760" cy="171815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EE47A3E1-F9C8-C154-58A8-A0F832437092}"/>
                </a:ext>
              </a:extLst>
            </p:cNvPr>
            <p:cNvGrpSpPr/>
            <p:nvPr/>
          </p:nvGrpSpPr>
          <p:grpSpPr>
            <a:xfrm>
              <a:off x="2727960" y="1554957"/>
              <a:ext cx="6350000" cy="528320"/>
              <a:chOff x="2727960" y="1554957"/>
              <a:chExt cx="6350000" cy="528320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6AFBF987-7851-60B2-CF03-393FC95534F8}"/>
                  </a:ext>
                </a:extLst>
              </p:cNvPr>
              <p:cNvGrpSpPr/>
              <p:nvPr/>
            </p:nvGrpSpPr>
            <p:grpSpPr>
              <a:xfrm>
                <a:off x="4053840" y="1554957"/>
                <a:ext cx="1056640" cy="528320"/>
                <a:chOff x="8117840" y="4104640"/>
                <a:chExt cx="1056640" cy="528320"/>
              </a:xfrm>
            </p:grpSpPr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0D240B2B-22D3-91C7-A99D-36F8C313B7FD}"/>
                    </a:ext>
                  </a:extLst>
                </p:cNvPr>
                <p:cNvSpPr/>
                <p:nvPr/>
              </p:nvSpPr>
              <p:spPr>
                <a:xfrm>
                  <a:off x="8117840" y="4104640"/>
                  <a:ext cx="528320" cy="52832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8</a:t>
                  </a:r>
                </a:p>
              </p:txBody>
            </p: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4B5CC621-6E1F-A3F0-5D55-C08016EAD80D}"/>
                    </a:ext>
                  </a:extLst>
                </p:cNvPr>
                <p:cNvSpPr/>
                <p:nvPr/>
              </p:nvSpPr>
              <p:spPr>
                <a:xfrm>
                  <a:off x="8646160" y="4104640"/>
                  <a:ext cx="528320" cy="52832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E5D432AB-1E74-F08B-CEC5-A365264C947C}"/>
                  </a:ext>
                </a:extLst>
              </p:cNvPr>
              <p:cNvGrpSpPr/>
              <p:nvPr/>
            </p:nvGrpSpPr>
            <p:grpSpPr>
              <a:xfrm>
                <a:off x="5374640" y="1554957"/>
                <a:ext cx="1056640" cy="528320"/>
                <a:chOff x="8117840" y="4104640"/>
                <a:chExt cx="1056640" cy="528320"/>
              </a:xfrm>
            </p:grpSpPr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0CA4D0E-42E8-E538-D8FF-DC6E00DFC845}"/>
                    </a:ext>
                  </a:extLst>
                </p:cNvPr>
                <p:cNvSpPr/>
                <p:nvPr/>
              </p:nvSpPr>
              <p:spPr>
                <a:xfrm>
                  <a:off x="8117840" y="4104640"/>
                  <a:ext cx="528320" cy="52832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3</a:t>
                  </a:r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5852A5BB-697F-7122-8EBB-493FC932062B}"/>
                    </a:ext>
                  </a:extLst>
                </p:cNvPr>
                <p:cNvSpPr/>
                <p:nvPr/>
              </p:nvSpPr>
              <p:spPr>
                <a:xfrm>
                  <a:off x="8646160" y="4104640"/>
                  <a:ext cx="528320" cy="52832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6ECA4301-84E7-41A8-4817-7EF969030D46}"/>
                  </a:ext>
                </a:extLst>
              </p:cNvPr>
              <p:cNvGrpSpPr/>
              <p:nvPr/>
            </p:nvGrpSpPr>
            <p:grpSpPr>
              <a:xfrm>
                <a:off x="6700520" y="1554957"/>
                <a:ext cx="1056640" cy="528320"/>
                <a:chOff x="8117840" y="4104640"/>
                <a:chExt cx="1056640" cy="528320"/>
              </a:xfrm>
            </p:grpSpPr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AE88FDA0-F73F-1E24-18F2-F7925E8FC51E}"/>
                    </a:ext>
                  </a:extLst>
                </p:cNvPr>
                <p:cNvSpPr/>
                <p:nvPr/>
              </p:nvSpPr>
              <p:spPr>
                <a:xfrm>
                  <a:off x="8117840" y="4104640"/>
                  <a:ext cx="528320" cy="52832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4</a:t>
                  </a:r>
                </a:p>
              </p:txBody>
            </p:sp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1DA96747-E578-B3DB-2470-F7243CD49DD5}"/>
                    </a:ext>
                  </a:extLst>
                </p:cNvPr>
                <p:cNvSpPr/>
                <p:nvPr/>
              </p:nvSpPr>
              <p:spPr>
                <a:xfrm>
                  <a:off x="8646160" y="4104640"/>
                  <a:ext cx="528320" cy="52832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77951176-168B-B07B-7BE1-8239EFA9C9FE}"/>
                  </a:ext>
                </a:extLst>
              </p:cNvPr>
              <p:cNvGrpSpPr/>
              <p:nvPr/>
            </p:nvGrpSpPr>
            <p:grpSpPr>
              <a:xfrm>
                <a:off x="8021320" y="1554957"/>
                <a:ext cx="1056640" cy="528320"/>
                <a:chOff x="8117840" y="4104640"/>
                <a:chExt cx="1056640" cy="528320"/>
              </a:xfrm>
            </p:grpSpPr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2BA7BE02-D13E-4DA9-2B89-8660802D026E}"/>
                    </a:ext>
                  </a:extLst>
                </p:cNvPr>
                <p:cNvSpPr/>
                <p:nvPr/>
              </p:nvSpPr>
              <p:spPr>
                <a:xfrm>
                  <a:off x="8117840" y="4104640"/>
                  <a:ext cx="528320" cy="52832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7</a:t>
                  </a:r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1DE038FD-A9AA-D9E1-A1D5-95725C7BEEA5}"/>
                    </a:ext>
                  </a:extLst>
                </p:cNvPr>
                <p:cNvSpPr/>
                <p:nvPr/>
              </p:nvSpPr>
              <p:spPr>
                <a:xfrm>
                  <a:off x="8646160" y="4104640"/>
                  <a:ext cx="528320" cy="52832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7DA111CA-6B8C-359A-673A-7D5DE0F70DA5}"/>
                  </a:ext>
                </a:extLst>
              </p:cNvPr>
              <p:cNvGrpSpPr/>
              <p:nvPr/>
            </p:nvGrpSpPr>
            <p:grpSpPr>
              <a:xfrm>
                <a:off x="2727960" y="1554957"/>
                <a:ext cx="1056640" cy="528320"/>
                <a:chOff x="8117840" y="4104640"/>
                <a:chExt cx="1056640" cy="528320"/>
              </a:xfrm>
            </p:grpSpPr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57E8C63A-82D6-CC85-3709-0E2E37F557D0}"/>
                    </a:ext>
                  </a:extLst>
                </p:cNvPr>
                <p:cNvSpPr/>
                <p:nvPr/>
              </p:nvSpPr>
              <p:spPr>
                <a:xfrm>
                  <a:off x="8117840" y="4104640"/>
                  <a:ext cx="528320" cy="52832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5</a:t>
                  </a:r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3B8F20F7-7B97-9FD1-C14A-D4CD9FE6D9C2}"/>
                    </a:ext>
                  </a:extLst>
                </p:cNvPr>
                <p:cNvSpPr/>
                <p:nvPr/>
              </p:nvSpPr>
              <p:spPr>
                <a:xfrm>
                  <a:off x="8646160" y="4104640"/>
                  <a:ext cx="528320" cy="52832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ADAB37D0-E4BC-0B87-3E32-3F87021568CC}"/>
                  </a:ext>
                </a:extLst>
              </p:cNvPr>
              <p:cNvCxnSpPr>
                <a:cxnSpLocks/>
                <a:endCxn id="4" idx="1"/>
              </p:cNvCxnSpPr>
              <p:nvPr/>
            </p:nvCxnSpPr>
            <p:spPr>
              <a:xfrm>
                <a:off x="3520440" y="1819117"/>
                <a:ext cx="533400" cy="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6080BD9A-B13C-50BF-A4D8-47758C79AC32}"/>
                  </a:ext>
                </a:extLst>
              </p:cNvPr>
              <p:cNvCxnSpPr>
                <a:cxnSpLocks/>
                <a:endCxn id="8" idx="1"/>
              </p:cNvCxnSpPr>
              <p:nvPr/>
            </p:nvCxnSpPr>
            <p:spPr>
              <a:xfrm>
                <a:off x="4846320" y="1819117"/>
                <a:ext cx="528320" cy="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A59202CE-9F90-F4A7-20C4-388EBA71AF5A}"/>
                  </a:ext>
                </a:extLst>
              </p:cNvPr>
              <p:cNvCxnSpPr>
                <a:cxnSpLocks/>
                <a:endCxn id="11" idx="1"/>
              </p:cNvCxnSpPr>
              <p:nvPr/>
            </p:nvCxnSpPr>
            <p:spPr>
              <a:xfrm>
                <a:off x="6167120" y="1819117"/>
                <a:ext cx="533400" cy="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D82F20BE-DCF4-D7DF-70AA-D308F3FB3C0A}"/>
                  </a:ext>
                </a:extLst>
              </p:cNvPr>
              <p:cNvCxnSpPr>
                <a:cxnSpLocks/>
                <a:endCxn id="14" idx="1"/>
              </p:cNvCxnSpPr>
              <p:nvPr/>
            </p:nvCxnSpPr>
            <p:spPr>
              <a:xfrm>
                <a:off x="7493000" y="1819117"/>
                <a:ext cx="528320" cy="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1097677-82C3-534D-F0DA-F71F927E9535}"/>
                </a:ext>
              </a:extLst>
            </p:cNvPr>
            <p:cNvSpPr/>
            <p:nvPr/>
          </p:nvSpPr>
          <p:spPr>
            <a:xfrm>
              <a:off x="838200" y="1554957"/>
              <a:ext cx="949960" cy="528320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front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DFA11222-D8D6-01E9-FB88-B45F69E27FD3}"/>
                </a:ext>
              </a:extLst>
            </p:cNvPr>
            <p:cNvCxnSpPr>
              <a:cxnSpLocks/>
              <a:stCxn id="32" idx="3"/>
              <a:endCxn id="17" idx="1"/>
            </p:cNvCxnSpPr>
            <p:nvPr/>
          </p:nvCxnSpPr>
          <p:spPr>
            <a:xfrm>
              <a:off x="1788160" y="1819117"/>
              <a:ext cx="939800" cy="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73EED586-69E7-D3F5-2880-C2F533716668}"/>
                </a:ext>
              </a:extLst>
            </p:cNvPr>
            <p:cNvSpPr/>
            <p:nvPr/>
          </p:nvSpPr>
          <p:spPr>
            <a:xfrm>
              <a:off x="7810500" y="2744789"/>
              <a:ext cx="949960" cy="52832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back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4015BFBB-A85A-F4E1-2263-4CC9757E5464}"/>
                </a:ext>
              </a:extLst>
            </p:cNvPr>
            <p:cNvCxnSpPr>
              <a:cxnSpLocks/>
              <a:stCxn id="37" idx="0"/>
              <a:endCxn id="14" idx="2"/>
            </p:cNvCxnSpPr>
            <p:nvPr/>
          </p:nvCxnSpPr>
          <p:spPr>
            <a:xfrm flipV="1">
              <a:off x="8285480" y="2083277"/>
              <a:ext cx="0" cy="661512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940743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17AFC-FB9E-CF12-C826-8303E4370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6A1E5-7159-5EAF-000C-CC93728D1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Enqueue Algorithm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23853ED-7E83-0FC2-FF19-D138DCAB5842}"/>
              </a:ext>
            </a:extLst>
          </p:cNvPr>
          <p:cNvSpPr txBox="1"/>
          <p:nvPr/>
        </p:nvSpPr>
        <p:spPr>
          <a:xfrm>
            <a:off x="4112895" y="1598039"/>
            <a:ext cx="3966210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enqueue(x){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last = new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ListNode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(x);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back.next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= last;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back = last;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}</a:t>
            </a:r>
          </a:p>
        </p:txBody>
      </p:sp>
      <p:grpSp>
        <p:nvGrpSpPr>
          <p:cNvPr id="58" name="Group 57" descr="An illustration of a linked queue data structure. The elements of the list are contained in node objects. Each node object has a reference to another node object to establish a sequence of elements. There is also a reference called &quot;front&quot; that points to the first node in the queue, and a reference called &quot;back&quot; that points to the last node in the queue.">
            <a:extLst>
              <a:ext uri="{FF2B5EF4-FFF2-40B4-BE49-F238E27FC236}">
                <a16:creationId xmlns:a16="http://schemas.microsoft.com/office/drawing/2014/main" id="{EA3B3A57-23DF-999C-7D40-03F206ED540C}"/>
              </a:ext>
            </a:extLst>
          </p:cNvPr>
          <p:cNvGrpSpPr/>
          <p:nvPr/>
        </p:nvGrpSpPr>
        <p:grpSpPr>
          <a:xfrm>
            <a:off x="967409" y="3667532"/>
            <a:ext cx="8239760" cy="1718152"/>
            <a:chOff x="838200" y="1554957"/>
            <a:chExt cx="8239760" cy="1718152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D2BDF128-407B-50A3-FDD2-6A2633F7FEE0}"/>
                </a:ext>
              </a:extLst>
            </p:cNvPr>
            <p:cNvGrpSpPr/>
            <p:nvPr/>
          </p:nvGrpSpPr>
          <p:grpSpPr>
            <a:xfrm>
              <a:off x="2727960" y="1554957"/>
              <a:ext cx="6350000" cy="528320"/>
              <a:chOff x="2727960" y="1554957"/>
              <a:chExt cx="6350000" cy="528320"/>
            </a:xfrm>
          </p:grpSpPr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7F40C8ED-9597-1F3E-8E42-ACB8B693BE9C}"/>
                  </a:ext>
                </a:extLst>
              </p:cNvPr>
              <p:cNvGrpSpPr/>
              <p:nvPr/>
            </p:nvGrpSpPr>
            <p:grpSpPr>
              <a:xfrm>
                <a:off x="4053840" y="1554957"/>
                <a:ext cx="1056640" cy="528320"/>
                <a:chOff x="8117840" y="4104640"/>
                <a:chExt cx="1056640" cy="528320"/>
              </a:xfrm>
            </p:grpSpPr>
            <p:sp>
              <p:nvSpPr>
                <p:cNvPr id="81" name="Rectangle 80">
                  <a:extLst>
                    <a:ext uri="{FF2B5EF4-FFF2-40B4-BE49-F238E27FC236}">
                      <a16:creationId xmlns:a16="http://schemas.microsoft.com/office/drawing/2014/main" id="{627AB1AE-DA6A-14E7-4D98-118685C0CE3A}"/>
                    </a:ext>
                  </a:extLst>
                </p:cNvPr>
                <p:cNvSpPr/>
                <p:nvPr/>
              </p:nvSpPr>
              <p:spPr>
                <a:xfrm>
                  <a:off x="8117840" y="4104640"/>
                  <a:ext cx="528320" cy="52832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8</a:t>
                  </a:r>
                </a:p>
              </p:txBody>
            </p:sp>
            <p:sp>
              <p:nvSpPr>
                <p:cNvPr id="82" name="Rectangle 81">
                  <a:extLst>
                    <a:ext uri="{FF2B5EF4-FFF2-40B4-BE49-F238E27FC236}">
                      <a16:creationId xmlns:a16="http://schemas.microsoft.com/office/drawing/2014/main" id="{A36B31E6-36E9-BCA6-405D-A7E11E76A907}"/>
                    </a:ext>
                  </a:extLst>
                </p:cNvPr>
                <p:cNvSpPr/>
                <p:nvPr/>
              </p:nvSpPr>
              <p:spPr>
                <a:xfrm>
                  <a:off x="8646160" y="4104640"/>
                  <a:ext cx="528320" cy="52832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65" name="Group 64">
                <a:extLst>
                  <a:ext uri="{FF2B5EF4-FFF2-40B4-BE49-F238E27FC236}">
                    <a16:creationId xmlns:a16="http://schemas.microsoft.com/office/drawing/2014/main" id="{E69E75E9-F964-5285-04BB-9A76F1D7CAE2}"/>
                  </a:ext>
                </a:extLst>
              </p:cNvPr>
              <p:cNvGrpSpPr/>
              <p:nvPr/>
            </p:nvGrpSpPr>
            <p:grpSpPr>
              <a:xfrm>
                <a:off x="5374640" y="1554957"/>
                <a:ext cx="1056640" cy="528320"/>
                <a:chOff x="8117840" y="4104640"/>
                <a:chExt cx="1056640" cy="528320"/>
              </a:xfrm>
            </p:grpSpPr>
            <p:sp>
              <p:nvSpPr>
                <p:cNvPr id="79" name="Rectangle 78">
                  <a:extLst>
                    <a:ext uri="{FF2B5EF4-FFF2-40B4-BE49-F238E27FC236}">
                      <a16:creationId xmlns:a16="http://schemas.microsoft.com/office/drawing/2014/main" id="{BAAE1F36-470F-464A-AAAA-15ECAE1CE313}"/>
                    </a:ext>
                  </a:extLst>
                </p:cNvPr>
                <p:cNvSpPr/>
                <p:nvPr/>
              </p:nvSpPr>
              <p:spPr>
                <a:xfrm>
                  <a:off x="8117840" y="4104640"/>
                  <a:ext cx="528320" cy="52832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3</a:t>
                  </a:r>
                </a:p>
              </p:txBody>
            </p:sp>
            <p:sp>
              <p:nvSpPr>
                <p:cNvPr id="80" name="Rectangle 79">
                  <a:extLst>
                    <a:ext uri="{FF2B5EF4-FFF2-40B4-BE49-F238E27FC236}">
                      <a16:creationId xmlns:a16="http://schemas.microsoft.com/office/drawing/2014/main" id="{08ADC713-86C7-40AC-083E-8DCA19416C91}"/>
                    </a:ext>
                  </a:extLst>
                </p:cNvPr>
                <p:cNvSpPr/>
                <p:nvPr/>
              </p:nvSpPr>
              <p:spPr>
                <a:xfrm>
                  <a:off x="8646160" y="4104640"/>
                  <a:ext cx="528320" cy="52832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66" name="Group 65">
                <a:extLst>
                  <a:ext uri="{FF2B5EF4-FFF2-40B4-BE49-F238E27FC236}">
                    <a16:creationId xmlns:a16="http://schemas.microsoft.com/office/drawing/2014/main" id="{65141F60-DAE8-CE6E-3E91-60CD5DFD403E}"/>
                  </a:ext>
                </a:extLst>
              </p:cNvPr>
              <p:cNvGrpSpPr/>
              <p:nvPr/>
            </p:nvGrpSpPr>
            <p:grpSpPr>
              <a:xfrm>
                <a:off x="6700520" y="1554957"/>
                <a:ext cx="1056640" cy="528320"/>
                <a:chOff x="8117840" y="4104640"/>
                <a:chExt cx="1056640" cy="528320"/>
              </a:xfrm>
            </p:grpSpPr>
            <p:sp>
              <p:nvSpPr>
                <p:cNvPr id="77" name="Rectangle 76">
                  <a:extLst>
                    <a:ext uri="{FF2B5EF4-FFF2-40B4-BE49-F238E27FC236}">
                      <a16:creationId xmlns:a16="http://schemas.microsoft.com/office/drawing/2014/main" id="{928E69FC-0332-AEFA-5A5B-D280C687F3A1}"/>
                    </a:ext>
                  </a:extLst>
                </p:cNvPr>
                <p:cNvSpPr/>
                <p:nvPr/>
              </p:nvSpPr>
              <p:spPr>
                <a:xfrm>
                  <a:off x="8117840" y="4104640"/>
                  <a:ext cx="528320" cy="52832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4</a:t>
                  </a:r>
                </a:p>
              </p:txBody>
            </p:sp>
            <p:sp>
              <p:nvSpPr>
                <p:cNvPr id="78" name="Rectangle 77">
                  <a:extLst>
                    <a:ext uri="{FF2B5EF4-FFF2-40B4-BE49-F238E27FC236}">
                      <a16:creationId xmlns:a16="http://schemas.microsoft.com/office/drawing/2014/main" id="{8C221BE0-ED03-D162-FEDB-76B939008864}"/>
                    </a:ext>
                  </a:extLst>
                </p:cNvPr>
                <p:cNvSpPr/>
                <p:nvPr/>
              </p:nvSpPr>
              <p:spPr>
                <a:xfrm>
                  <a:off x="8646160" y="4104640"/>
                  <a:ext cx="528320" cy="52832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660BBCE8-C6CC-7097-68F0-4501C082AFCD}"/>
                  </a:ext>
                </a:extLst>
              </p:cNvPr>
              <p:cNvGrpSpPr/>
              <p:nvPr/>
            </p:nvGrpSpPr>
            <p:grpSpPr>
              <a:xfrm>
                <a:off x="8021320" y="1554957"/>
                <a:ext cx="1056640" cy="528320"/>
                <a:chOff x="8117840" y="4104640"/>
                <a:chExt cx="1056640" cy="528320"/>
              </a:xfrm>
            </p:grpSpPr>
            <p:sp>
              <p:nvSpPr>
                <p:cNvPr id="75" name="Rectangle 74">
                  <a:extLst>
                    <a:ext uri="{FF2B5EF4-FFF2-40B4-BE49-F238E27FC236}">
                      <a16:creationId xmlns:a16="http://schemas.microsoft.com/office/drawing/2014/main" id="{1AC0009F-6AC5-D2E5-E59D-6E3AD8C6577E}"/>
                    </a:ext>
                  </a:extLst>
                </p:cNvPr>
                <p:cNvSpPr/>
                <p:nvPr/>
              </p:nvSpPr>
              <p:spPr>
                <a:xfrm>
                  <a:off x="8117840" y="4104640"/>
                  <a:ext cx="528320" cy="52832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7</a:t>
                  </a:r>
                </a:p>
              </p:txBody>
            </p:sp>
            <p:sp>
              <p:nvSpPr>
                <p:cNvPr id="76" name="Rectangle 75">
                  <a:extLst>
                    <a:ext uri="{FF2B5EF4-FFF2-40B4-BE49-F238E27FC236}">
                      <a16:creationId xmlns:a16="http://schemas.microsoft.com/office/drawing/2014/main" id="{0683C9FF-5DC2-6A50-C965-E7F12313E3C3}"/>
                    </a:ext>
                  </a:extLst>
                </p:cNvPr>
                <p:cNvSpPr/>
                <p:nvPr/>
              </p:nvSpPr>
              <p:spPr>
                <a:xfrm>
                  <a:off x="8646160" y="4104640"/>
                  <a:ext cx="528320" cy="52832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68" name="Group 67">
                <a:extLst>
                  <a:ext uri="{FF2B5EF4-FFF2-40B4-BE49-F238E27FC236}">
                    <a16:creationId xmlns:a16="http://schemas.microsoft.com/office/drawing/2014/main" id="{887D961F-3FD0-B67D-8F76-27966E6526B0}"/>
                  </a:ext>
                </a:extLst>
              </p:cNvPr>
              <p:cNvGrpSpPr/>
              <p:nvPr/>
            </p:nvGrpSpPr>
            <p:grpSpPr>
              <a:xfrm>
                <a:off x="2727960" y="1554957"/>
                <a:ext cx="1056640" cy="528320"/>
                <a:chOff x="8117840" y="4104640"/>
                <a:chExt cx="1056640" cy="528320"/>
              </a:xfrm>
            </p:grpSpPr>
            <p:sp>
              <p:nvSpPr>
                <p:cNvPr id="73" name="Rectangle 72">
                  <a:extLst>
                    <a:ext uri="{FF2B5EF4-FFF2-40B4-BE49-F238E27FC236}">
                      <a16:creationId xmlns:a16="http://schemas.microsoft.com/office/drawing/2014/main" id="{8C591C90-0861-8CD3-B3A5-6387D8799487}"/>
                    </a:ext>
                  </a:extLst>
                </p:cNvPr>
                <p:cNvSpPr/>
                <p:nvPr/>
              </p:nvSpPr>
              <p:spPr>
                <a:xfrm>
                  <a:off x="8117840" y="4104640"/>
                  <a:ext cx="528320" cy="52832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5</a:t>
                  </a:r>
                </a:p>
              </p:txBody>
            </p:sp>
            <p:sp>
              <p:nvSpPr>
                <p:cNvPr id="74" name="Rectangle 73">
                  <a:extLst>
                    <a:ext uri="{FF2B5EF4-FFF2-40B4-BE49-F238E27FC236}">
                      <a16:creationId xmlns:a16="http://schemas.microsoft.com/office/drawing/2014/main" id="{B1EE95C1-76F6-EF0A-A3A5-283C10115513}"/>
                    </a:ext>
                  </a:extLst>
                </p:cNvPr>
                <p:cNvSpPr/>
                <p:nvPr/>
              </p:nvSpPr>
              <p:spPr>
                <a:xfrm>
                  <a:off x="8646160" y="4104640"/>
                  <a:ext cx="528320" cy="52832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cxnSp>
            <p:nvCxnSpPr>
              <p:cNvPr id="69" name="Straight Arrow Connector 68">
                <a:extLst>
                  <a:ext uri="{FF2B5EF4-FFF2-40B4-BE49-F238E27FC236}">
                    <a16:creationId xmlns:a16="http://schemas.microsoft.com/office/drawing/2014/main" id="{3BBA7171-2C3A-353D-BA71-AC6EED3E05CC}"/>
                  </a:ext>
                </a:extLst>
              </p:cNvPr>
              <p:cNvCxnSpPr>
                <a:cxnSpLocks/>
                <a:endCxn id="81" idx="1"/>
              </p:cNvCxnSpPr>
              <p:nvPr/>
            </p:nvCxnSpPr>
            <p:spPr>
              <a:xfrm>
                <a:off x="3520440" y="1819117"/>
                <a:ext cx="533400" cy="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Arrow Connector 69">
                <a:extLst>
                  <a:ext uri="{FF2B5EF4-FFF2-40B4-BE49-F238E27FC236}">
                    <a16:creationId xmlns:a16="http://schemas.microsoft.com/office/drawing/2014/main" id="{6D521827-62BD-A9C7-4549-CE82BC10544B}"/>
                  </a:ext>
                </a:extLst>
              </p:cNvPr>
              <p:cNvCxnSpPr>
                <a:cxnSpLocks/>
                <a:endCxn id="79" idx="1"/>
              </p:cNvCxnSpPr>
              <p:nvPr/>
            </p:nvCxnSpPr>
            <p:spPr>
              <a:xfrm>
                <a:off x="4846320" y="1819117"/>
                <a:ext cx="528320" cy="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Arrow Connector 70">
                <a:extLst>
                  <a:ext uri="{FF2B5EF4-FFF2-40B4-BE49-F238E27FC236}">
                    <a16:creationId xmlns:a16="http://schemas.microsoft.com/office/drawing/2014/main" id="{18DEA4B0-EE6C-5C0E-1AB1-18DC01846F78}"/>
                  </a:ext>
                </a:extLst>
              </p:cNvPr>
              <p:cNvCxnSpPr>
                <a:cxnSpLocks/>
                <a:endCxn id="77" idx="1"/>
              </p:cNvCxnSpPr>
              <p:nvPr/>
            </p:nvCxnSpPr>
            <p:spPr>
              <a:xfrm>
                <a:off x="6167120" y="1819117"/>
                <a:ext cx="533400" cy="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Arrow Connector 71">
                <a:extLst>
                  <a:ext uri="{FF2B5EF4-FFF2-40B4-BE49-F238E27FC236}">
                    <a16:creationId xmlns:a16="http://schemas.microsoft.com/office/drawing/2014/main" id="{DCB174FA-CED1-E5C7-ACAF-9F80BDBAB9DA}"/>
                  </a:ext>
                </a:extLst>
              </p:cNvPr>
              <p:cNvCxnSpPr>
                <a:cxnSpLocks/>
                <a:endCxn id="75" idx="1"/>
              </p:cNvCxnSpPr>
              <p:nvPr/>
            </p:nvCxnSpPr>
            <p:spPr>
              <a:xfrm>
                <a:off x="7493000" y="1819117"/>
                <a:ext cx="528320" cy="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C4AA1B70-F49D-BE15-268E-A9C83A1C707F}"/>
                </a:ext>
              </a:extLst>
            </p:cNvPr>
            <p:cNvSpPr/>
            <p:nvPr/>
          </p:nvSpPr>
          <p:spPr>
            <a:xfrm>
              <a:off x="838200" y="1554957"/>
              <a:ext cx="949960" cy="528320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front</a:t>
              </a:r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2B883ACD-7D27-EA25-843B-4878FC376AB6}"/>
                </a:ext>
              </a:extLst>
            </p:cNvPr>
            <p:cNvCxnSpPr>
              <a:cxnSpLocks/>
              <a:stCxn id="60" idx="3"/>
              <a:endCxn id="73" idx="1"/>
            </p:cNvCxnSpPr>
            <p:nvPr/>
          </p:nvCxnSpPr>
          <p:spPr>
            <a:xfrm>
              <a:off x="1788160" y="1819117"/>
              <a:ext cx="939800" cy="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AD965BF8-27EF-BE63-604E-86E044B50DDF}"/>
                </a:ext>
              </a:extLst>
            </p:cNvPr>
            <p:cNvSpPr/>
            <p:nvPr/>
          </p:nvSpPr>
          <p:spPr>
            <a:xfrm>
              <a:off x="7810500" y="2744789"/>
              <a:ext cx="949960" cy="52832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back</a:t>
              </a: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4E5A143C-CCD0-0413-E2E6-4BB8B7C116BD}"/>
                </a:ext>
              </a:extLst>
            </p:cNvPr>
            <p:cNvCxnSpPr>
              <a:cxnSpLocks/>
              <a:stCxn id="62" idx="0"/>
              <a:endCxn id="75" idx="2"/>
            </p:cNvCxnSpPr>
            <p:nvPr/>
          </p:nvCxnSpPr>
          <p:spPr>
            <a:xfrm flipV="1">
              <a:off x="8285480" y="2083277"/>
              <a:ext cx="0" cy="661512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160057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5F8EB-C68A-CE83-5ECE-B6A3C06F6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2F3F4-668C-C512-90F1-3D45FDDF3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enqueue(3)</a:t>
            </a:r>
            <a:r>
              <a:rPr lang="en-US" dirty="0">
                <a:latin typeface="+mn-lt"/>
              </a:rPr>
              <a:t> – line 1 of 3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0C5EB446-976C-1E88-C07E-F6B4D85A9068}"/>
              </a:ext>
            </a:extLst>
          </p:cNvPr>
          <p:cNvGrpSpPr/>
          <p:nvPr/>
        </p:nvGrpSpPr>
        <p:grpSpPr>
          <a:xfrm>
            <a:off x="967409" y="3667532"/>
            <a:ext cx="9507220" cy="1718152"/>
            <a:chOff x="967409" y="3667532"/>
            <a:chExt cx="9507220" cy="1718152"/>
          </a:xfrm>
        </p:grpSpPr>
        <p:grpSp>
          <p:nvGrpSpPr>
            <p:cNvPr id="19" name="Group 18" descr="An illustration of a linked queue data structure. The elements of the list are contained in node objects. Each node object has a reference to another node object to establish a sequence of elements. There is also a reference called &quot;front&quot; that points to the first node in the queue, and a reference called &quot;back&quot; that points to the last node in the queue.">
              <a:extLst>
                <a:ext uri="{FF2B5EF4-FFF2-40B4-BE49-F238E27FC236}">
                  <a16:creationId xmlns:a16="http://schemas.microsoft.com/office/drawing/2014/main" id="{AF99A951-0091-5ED7-46C4-1252E01C1D75}"/>
                </a:ext>
              </a:extLst>
            </p:cNvPr>
            <p:cNvGrpSpPr/>
            <p:nvPr/>
          </p:nvGrpSpPr>
          <p:grpSpPr>
            <a:xfrm>
              <a:off x="967409" y="3667532"/>
              <a:ext cx="8239760" cy="1718152"/>
              <a:chOff x="838200" y="1554957"/>
              <a:chExt cx="8239760" cy="1718152"/>
            </a:xfrm>
          </p:grpSpPr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AF4AF6C7-6C5F-A8B0-E21A-FCEA7F3E0BB3}"/>
                  </a:ext>
                </a:extLst>
              </p:cNvPr>
              <p:cNvGrpSpPr/>
              <p:nvPr/>
            </p:nvGrpSpPr>
            <p:grpSpPr>
              <a:xfrm>
                <a:off x="2727960" y="1554957"/>
                <a:ext cx="6350000" cy="528320"/>
                <a:chOff x="2727960" y="1554957"/>
                <a:chExt cx="6350000" cy="528320"/>
              </a:xfrm>
            </p:grpSpPr>
            <p:grpSp>
              <p:nvGrpSpPr>
                <p:cNvPr id="6" name="Group 5">
                  <a:extLst>
                    <a:ext uri="{FF2B5EF4-FFF2-40B4-BE49-F238E27FC236}">
                      <a16:creationId xmlns:a16="http://schemas.microsoft.com/office/drawing/2014/main" id="{3FDB85B1-823F-DE25-AA03-96DBA3E5E703}"/>
                    </a:ext>
                  </a:extLst>
                </p:cNvPr>
                <p:cNvGrpSpPr/>
                <p:nvPr/>
              </p:nvGrpSpPr>
              <p:grpSpPr>
                <a:xfrm>
                  <a:off x="4053840" y="1554957"/>
                  <a:ext cx="1056640" cy="528320"/>
                  <a:chOff x="8117840" y="4104640"/>
                  <a:chExt cx="1056640" cy="528320"/>
                </a:xfrm>
              </p:grpSpPr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86389009-D96F-7D35-B068-FE58EF33CAB3}"/>
                      </a:ext>
                    </a:extLst>
                  </p:cNvPr>
                  <p:cNvSpPr/>
                  <p:nvPr/>
                </p:nvSpPr>
                <p:spPr>
                  <a:xfrm>
                    <a:off x="8117840" y="4104640"/>
                    <a:ext cx="528320" cy="528320"/>
                  </a:xfrm>
                  <a:prstGeom prst="rect">
                    <a:avLst/>
                  </a:prstGeom>
                  <a:solidFill>
                    <a:schemeClr val="accent4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8</a:t>
                    </a:r>
                  </a:p>
                </p:txBody>
              </p:sp>
              <p:sp>
                <p:nvSpPr>
                  <p:cNvPr id="5" name="Rectangle 4">
                    <a:extLst>
                      <a:ext uri="{FF2B5EF4-FFF2-40B4-BE49-F238E27FC236}">
                        <a16:creationId xmlns:a16="http://schemas.microsoft.com/office/drawing/2014/main" id="{5B71E352-8F26-669F-D9EB-70919380EE73}"/>
                      </a:ext>
                    </a:extLst>
                  </p:cNvPr>
                  <p:cNvSpPr/>
                  <p:nvPr/>
                </p:nvSpPr>
                <p:spPr>
                  <a:xfrm>
                    <a:off x="8646160" y="4104640"/>
                    <a:ext cx="528320" cy="52832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7" name="Group 6">
                  <a:extLst>
                    <a:ext uri="{FF2B5EF4-FFF2-40B4-BE49-F238E27FC236}">
                      <a16:creationId xmlns:a16="http://schemas.microsoft.com/office/drawing/2014/main" id="{04ACD9E0-0FAA-D1CA-AE56-6CC66DE99A92}"/>
                    </a:ext>
                  </a:extLst>
                </p:cNvPr>
                <p:cNvGrpSpPr/>
                <p:nvPr/>
              </p:nvGrpSpPr>
              <p:grpSpPr>
                <a:xfrm>
                  <a:off x="5374640" y="1554957"/>
                  <a:ext cx="1056640" cy="528320"/>
                  <a:chOff x="8117840" y="4104640"/>
                  <a:chExt cx="1056640" cy="528320"/>
                </a:xfrm>
              </p:grpSpPr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55091AC1-DC67-3866-394C-B89E76E993E0}"/>
                      </a:ext>
                    </a:extLst>
                  </p:cNvPr>
                  <p:cNvSpPr/>
                  <p:nvPr/>
                </p:nvSpPr>
                <p:spPr>
                  <a:xfrm>
                    <a:off x="8117840" y="4104640"/>
                    <a:ext cx="528320" cy="528320"/>
                  </a:xfrm>
                  <a:prstGeom prst="rect">
                    <a:avLst/>
                  </a:prstGeom>
                  <a:solidFill>
                    <a:schemeClr val="accent4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3</a:t>
                    </a:r>
                  </a:p>
                </p:txBody>
              </p:sp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F84F2FFF-3882-2A83-734C-5B2E05A09DA4}"/>
                      </a:ext>
                    </a:extLst>
                  </p:cNvPr>
                  <p:cNvSpPr/>
                  <p:nvPr/>
                </p:nvSpPr>
                <p:spPr>
                  <a:xfrm>
                    <a:off x="8646160" y="4104640"/>
                    <a:ext cx="528320" cy="52832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10" name="Group 9">
                  <a:extLst>
                    <a:ext uri="{FF2B5EF4-FFF2-40B4-BE49-F238E27FC236}">
                      <a16:creationId xmlns:a16="http://schemas.microsoft.com/office/drawing/2014/main" id="{D73B7A8A-EDE0-3F4E-EC20-F6B167ED43BA}"/>
                    </a:ext>
                  </a:extLst>
                </p:cNvPr>
                <p:cNvGrpSpPr/>
                <p:nvPr/>
              </p:nvGrpSpPr>
              <p:grpSpPr>
                <a:xfrm>
                  <a:off x="6700520" y="1554957"/>
                  <a:ext cx="1056640" cy="528320"/>
                  <a:chOff x="8117840" y="4104640"/>
                  <a:chExt cx="1056640" cy="528320"/>
                </a:xfrm>
              </p:grpSpPr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CA47E8A4-727F-ADBF-2843-668F3B38FA3B}"/>
                      </a:ext>
                    </a:extLst>
                  </p:cNvPr>
                  <p:cNvSpPr/>
                  <p:nvPr/>
                </p:nvSpPr>
                <p:spPr>
                  <a:xfrm>
                    <a:off x="8117840" y="4104640"/>
                    <a:ext cx="528320" cy="528320"/>
                  </a:xfrm>
                  <a:prstGeom prst="rect">
                    <a:avLst/>
                  </a:prstGeom>
                  <a:solidFill>
                    <a:schemeClr val="accent4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4</a:t>
                    </a:r>
                  </a:p>
                </p:txBody>
              </p:sp>
              <p:sp>
                <p:nvSpPr>
                  <p:cNvPr id="12" name="Rectangle 11">
                    <a:extLst>
                      <a:ext uri="{FF2B5EF4-FFF2-40B4-BE49-F238E27FC236}">
                        <a16:creationId xmlns:a16="http://schemas.microsoft.com/office/drawing/2014/main" id="{F72F5624-1E63-C8EF-9419-4242E65F5601}"/>
                      </a:ext>
                    </a:extLst>
                  </p:cNvPr>
                  <p:cNvSpPr/>
                  <p:nvPr/>
                </p:nvSpPr>
                <p:spPr>
                  <a:xfrm>
                    <a:off x="8646160" y="4104640"/>
                    <a:ext cx="528320" cy="52832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6D23D5FF-9330-29FB-94F1-7185075FC743}"/>
                    </a:ext>
                  </a:extLst>
                </p:cNvPr>
                <p:cNvGrpSpPr/>
                <p:nvPr/>
              </p:nvGrpSpPr>
              <p:grpSpPr>
                <a:xfrm>
                  <a:off x="8021320" y="1554957"/>
                  <a:ext cx="1056640" cy="528320"/>
                  <a:chOff x="8117840" y="4104640"/>
                  <a:chExt cx="1056640" cy="528320"/>
                </a:xfrm>
              </p:grpSpPr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04E070D3-F5D2-0AD7-76D9-8456F6E6746B}"/>
                      </a:ext>
                    </a:extLst>
                  </p:cNvPr>
                  <p:cNvSpPr/>
                  <p:nvPr/>
                </p:nvSpPr>
                <p:spPr>
                  <a:xfrm>
                    <a:off x="8117840" y="4104640"/>
                    <a:ext cx="528320" cy="528320"/>
                  </a:xfrm>
                  <a:prstGeom prst="rect">
                    <a:avLst/>
                  </a:prstGeom>
                  <a:solidFill>
                    <a:schemeClr val="accent4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7</a:t>
                    </a:r>
                  </a:p>
                </p:txBody>
              </p:sp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5C35418C-268A-23AD-59BC-06B73135A7B8}"/>
                      </a:ext>
                    </a:extLst>
                  </p:cNvPr>
                  <p:cNvSpPr/>
                  <p:nvPr/>
                </p:nvSpPr>
                <p:spPr>
                  <a:xfrm>
                    <a:off x="8646160" y="4104640"/>
                    <a:ext cx="528320" cy="52832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16" name="Group 15">
                  <a:extLst>
                    <a:ext uri="{FF2B5EF4-FFF2-40B4-BE49-F238E27FC236}">
                      <a16:creationId xmlns:a16="http://schemas.microsoft.com/office/drawing/2014/main" id="{4BD6B610-5550-2EA1-D2F8-9E1C7E69101B}"/>
                    </a:ext>
                  </a:extLst>
                </p:cNvPr>
                <p:cNvGrpSpPr/>
                <p:nvPr/>
              </p:nvGrpSpPr>
              <p:grpSpPr>
                <a:xfrm>
                  <a:off x="2727960" y="1554957"/>
                  <a:ext cx="1056640" cy="528320"/>
                  <a:chOff x="8117840" y="4104640"/>
                  <a:chExt cx="1056640" cy="528320"/>
                </a:xfrm>
              </p:grpSpPr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0E4C60F6-7932-9EEE-AB65-6BB5BCC0BEB2}"/>
                      </a:ext>
                    </a:extLst>
                  </p:cNvPr>
                  <p:cNvSpPr/>
                  <p:nvPr/>
                </p:nvSpPr>
                <p:spPr>
                  <a:xfrm>
                    <a:off x="8117840" y="4104640"/>
                    <a:ext cx="528320" cy="528320"/>
                  </a:xfrm>
                  <a:prstGeom prst="rect">
                    <a:avLst/>
                  </a:prstGeom>
                  <a:solidFill>
                    <a:schemeClr val="accent4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5</a:t>
                    </a:r>
                  </a:p>
                </p:txBody>
              </p:sp>
              <p:sp>
                <p:nvSpPr>
                  <p:cNvPr id="18" name="Rectangle 17">
                    <a:extLst>
                      <a:ext uri="{FF2B5EF4-FFF2-40B4-BE49-F238E27FC236}">
                        <a16:creationId xmlns:a16="http://schemas.microsoft.com/office/drawing/2014/main" id="{33DA10B0-AC1E-8588-3058-B4CCEB3D1AAF}"/>
                      </a:ext>
                    </a:extLst>
                  </p:cNvPr>
                  <p:cNvSpPr/>
                  <p:nvPr/>
                </p:nvSpPr>
                <p:spPr>
                  <a:xfrm>
                    <a:off x="8646160" y="4104640"/>
                    <a:ext cx="528320" cy="52832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cxnSp>
              <p:nvCxnSpPr>
                <p:cNvPr id="20" name="Straight Arrow Connector 19">
                  <a:extLst>
                    <a:ext uri="{FF2B5EF4-FFF2-40B4-BE49-F238E27FC236}">
                      <a16:creationId xmlns:a16="http://schemas.microsoft.com/office/drawing/2014/main" id="{DA0AC7A9-23AF-52FA-FA74-918E1AA1ACCF}"/>
                    </a:ext>
                  </a:extLst>
                </p:cNvPr>
                <p:cNvCxnSpPr>
                  <a:cxnSpLocks/>
                  <a:endCxn id="4" idx="1"/>
                </p:cNvCxnSpPr>
                <p:nvPr/>
              </p:nvCxnSpPr>
              <p:spPr>
                <a:xfrm>
                  <a:off x="3520440" y="1819117"/>
                  <a:ext cx="533400" cy="0"/>
                </a:xfrm>
                <a:prstGeom prst="straightConnector1">
                  <a:avLst/>
                </a:prstGeom>
                <a:ln w="5715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Arrow Connector 20">
                  <a:extLst>
                    <a:ext uri="{FF2B5EF4-FFF2-40B4-BE49-F238E27FC236}">
                      <a16:creationId xmlns:a16="http://schemas.microsoft.com/office/drawing/2014/main" id="{3EADD2C3-EF29-A544-DF8E-120BEF862631}"/>
                    </a:ext>
                  </a:extLst>
                </p:cNvPr>
                <p:cNvCxnSpPr>
                  <a:cxnSpLocks/>
                  <a:endCxn id="8" idx="1"/>
                </p:cNvCxnSpPr>
                <p:nvPr/>
              </p:nvCxnSpPr>
              <p:spPr>
                <a:xfrm>
                  <a:off x="4846320" y="1819117"/>
                  <a:ext cx="528320" cy="0"/>
                </a:xfrm>
                <a:prstGeom prst="straightConnector1">
                  <a:avLst/>
                </a:prstGeom>
                <a:ln w="5715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Arrow Connector 24">
                  <a:extLst>
                    <a:ext uri="{FF2B5EF4-FFF2-40B4-BE49-F238E27FC236}">
                      <a16:creationId xmlns:a16="http://schemas.microsoft.com/office/drawing/2014/main" id="{5ADC2415-19C2-DCB2-3E6D-8D3E086C77C3}"/>
                    </a:ext>
                  </a:extLst>
                </p:cNvPr>
                <p:cNvCxnSpPr>
                  <a:cxnSpLocks/>
                  <a:endCxn id="11" idx="1"/>
                </p:cNvCxnSpPr>
                <p:nvPr/>
              </p:nvCxnSpPr>
              <p:spPr>
                <a:xfrm>
                  <a:off x="6167120" y="1819117"/>
                  <a:ext cx="533400" cy="0"/>
                </a:xfrm>
                <a:prstGeom prst="straightConnector1">
                  <a:avLst/>
                </a:prstGeom>
                <a:ln w="5715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Arrow Connector 27">
                  <a:extLst>
                    <a:ext uri="{FF2B5EF4-FFF2-40B4-BE49-F238E27FC236}">
                      <a16:creationId xmlns:a16="http://schemas.microsoft.com/office/drawing/2014/main" id="{56FA81DE-329B-2A90-B850-7439438CB55C}"/>
                    </a:ext>
                  </a:extLst>
                </p:cNvPr>
                <p:cNvCxnSpPr>
                  <a:cxnSpLocks/>
                  <a:endCxn id="14" idx="1"/>
                </p:cNvCxnSpPr>
                <p:nvPr/>
              </p:nvCxnSpPr>
              <p:spPr>
                <a:xfrm>
                  <a:off x="7493000" y="1819117"/>
                  <a:ext cx="528320" cy="0"/>
                </a:xfrm>
                <a:prstGeom prst="straightConnector1">
                  <a:avLst/>
                </a:prstGeom>
                <a:ln w="5715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090FBEDA-F73C-10E2-7A2C-F09501B98C69}"/>
                  </a:ext>
                </a:extLst>
              </p:cNvPr>
              <p:cNvSpPr/>
              <p:nvPr/>
            </p:nvSpPr>
            <p:spPr>
              <a:xfrm>
                <a:off x="838200" y="1554957"/>
                <a:ext cx="949960" cy="528320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front</a:t>
                </a:r>
              </a:p>
            </p:txBody>
          </p: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EE20936C-6AF3-AFE4-90E1-07D957AEEF6E}"/>
                  </a:ext>
                </a:extLst>
              </p:cNvPr>
              <p:cNvCxnSpPr>
                <a:cxnSpLocks/>
                <a:stCxn id="32" idx="3"/>
                <a:endCxn id="17" idx="1"/>
              </p:cNvCxnSpPr>
              <p:nvPr/>
            </p:nvCxnSpPr>
            <p:spPr>
              <a:xfrm>
                <a:off x="1788160" y="1819117"/>
                <a:ext cx="939800" cy="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84755634-FA26-0A4D-54C5-0ADDFD1CE248}"/>
                  </a:ext>
                </a:extLst>
              </p:cNvPr>
              <p:cNvSpPr/>
              <p:nvPr/>
            </p:nvSpPr>
            <p:spPr>
              <a:xfrm>
                <a:off x="7810500" y="2744789"/>
                <a:ext cx="949960" cy="528320"/>
              </a:xfrm>
              <a:prstGeom prst="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back</a:t>
                </a:r>
              </a:p>
            </p:txBody>
          </p: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36597C28-C4D9-913F-C0E2-2F7247330F47}"/>
                  </a:ext>
                </a:extLst>
              </p:cNvPr>
              <p:cNvCxnSpPr>
                <a:cxnSpLocks/>
                <a:stCxn id="37" idx="0"/>
                <a:endCxn id="14" idx="2"/>
              </p:cNvCxnSpPr>
              <p:nvPr/>
            </p:nvCxnSpPr>
            <p:spPr>
              <a:xfrm flipV="1">
                <a:off x="8285480" y="2083277"/>
                <a:ext cx="0" cy="661512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0B107D19-7D7E-B3C2-4A02-AA52546D34FB}"/>
                </a:ext>
              </a:extLst>
            </p:cNvPr>
            <p:cNvGrpSpPr/>
            <p:nvPr/>
          </p:nvGrpSpPr>
          <p:grpSpPr>
            <a:xfrm>
              <a:off x="9207169" y="3667532"/>
              <a:ext cx="1267460" cy="1718152"/>
              <a:chOff x="5956300" y="4774723"/>
              <a:chExt cx="1267460" cy="171815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9083633A-BCF3-19C6-DA50-22C1253A6A32}"/>
                  </a:ext>
                </a:extLst>
              </p:cNvPr>
              <p:cNvSpPr/>
              <p:nvPr/>
            </p:nvSpPr>
            <p:spPr>
              <a:xfrm>
                <a:off x="6167120" y="4774723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>
                    <a:solidFill>
                      <a:prstClr val="black"/>
                    </a:solidFill>
                    <a:latin typeface="Calibri" panose="020F0502020204030204"/>
                  </a:rPr>
                  <a:t>3</a:t>
                </a: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C988647-D940-708F-663F-6C1EC9802F7C}"/>
                  </a:ext>
                </a:extLst>
              </p:cNvPr>
              <p:cNvSpPr/>
              <p:nvPr/>
            </p:nvSpPr>
            <p:spPr>
              <a:xfrm>
                <a:off x="6695440" y="4774723"/>
                <a:ext cx="528320" cy="52832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D2CE9514-F25D-78F4-98BF-CBAC35FAB280}"/>
                  </a:ext>
                </a:extLst>
              </p:cNvPr>
              <p:cNvSpPr/>
              <p:nvPr/>
            </p:nvSpPr>
            <p:spPr>
              <a:xfrm>
                <a:off x="5956300" y="5964555"/>
                <a:ext cx="949960" cy="52832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last</a:t>
                </a: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562CAEC8-ECE3-3781-E13E-0AA0AB020548}"/>
                  </a:ext>
                </a:extLst>
              </p:cNvPr>
              <p:cNvCxnSpPr>
                <a:cxnSpLocks/>
                <a:stCxn id="24" idx="0"/>
                <a:endCxn id="3" idx="2"/>
              </p:cNvCxnSpPr>
              <p:nvPr/>
            </p:nvCxnSpPr>
            <p:spPr>
              <a:xfrm flipV="1">
                <a:off x="6431280" y="5303043"/>
                <a:ext cx="0" cy="661512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CD0E226-9F1E-3797-E872-7E7DCC305731}"/>
              </a:ext>
            </a:extLst>
          </p:cNvPr>
          <p:cNvSpPr txBox="1"/>
          <p:nvPr/>
        </p:nvSpPr>
        <p:spPr>
          <a:xfrm>
            <a:off x="4112895" y="1598039"/>
            <a:ext cx="3966210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enqueue(x){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last = new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ListNode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(x);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back.next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= last;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back = last;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121900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E22DB-4585-18BD-5CAF-178E6A5A4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3950C-4A9B-6C5F-4DEB-F35BC32B9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enqueue(3)</a:t>
            </a:r>
            <a:r>
              <a:rPr lang="en-US" dirty="0">
                <a:latin typeface="+mn-lt"/>
              </a:rPr>
              <a:t> – line 2 of 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6C6FBC7-D763-DBB2-5051-AA06DA0AA1D7}"/>
              </a:ext>
            </a:extLst>
          </p:cNvPr>
          <p:cNvSpPr txBox="1"/>
          <p:nvPr/>
        </p:nvSpPr>
        <p:spPr>
          <a:xfrm>
            <a:off x="4112895" y="1598039"/>
            <a:ext cx="3966210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enqueue(x){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last = new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ListNode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(x);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back.next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= last;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back = last;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}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6636B826-D941-805C-879A-0BBA9B3BE2C7}"/>
              </a:ext>
            </a:extLst>
          </p:cNvPr>
          <p:cNvGrpSpPr/>
          <p:nvPr/>
        </p:nvGrpSpPr>
        <p:grpSpPr>
          <a:xfrm>
            <a:off x="967409" y="3667532"/>
            <a:ext cx="9507220" cy="1718152"/>
            <a:chOff x="967409" y="3667532"/>
            <a:chExt cx="9507220" cy="1718152"/>
          </a:xfrm>
        </p:grpSpPr>
        <p:grpSp>
          <p:nvGrpSpPr>
            <p:cNvPr id="34" name="Group 33" descr="An illustration of a linked queue data structure. The elements of the list are contained in node objects. Each node object has a reference to another node object to establish a sequence of elements. There is also a reference called &quot;front&quot; that points to the first node in the queue, and a reference called &quot;back&quot; that points to the last node in the queue.">
              <a:extLst>
                <a:ext uri="{FF2B5EF4-FFF2-40B4-BE49-F238E27FC236}">
                  <a16:creationId xmlns:a16="http://schemas.microsoft.com/office/drawing/2014/main" id="{15EC5C73-8562-E99A-342C-ED3E52BE0D4A}"/>
                </a:ext>
              </a:extLst>
            </p:cNvPr>
            <p:cNvGrpSpPr/>
            <p:nvPr/>
          </p:nvGrpSpPr>
          <p:grpSpPr>
            <a:xfrm>
              <a:off x="967409" y="3667532"/>
              <a:ext cx="8239760" cy="1718152"/>
              <a:chOff x="838200" y="1554957"/>
              <a:chExt cx="8239760" cy="1718152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D94607DF-E699-048A-60C4-AFBB440746CD}"/>
                  </a:ext>
                </a:extLst>
              </p:cNvPr>
              <p:cNvGrpSpPr/>
              <p:nvPr/>
            </p:nvGrpSpPr>
            <p:grpSpPr>
              <a:xfrm>
                <a:off x="2727960" y="1554957"/>
                <a:ext cx="6350000" cy="528320"/>
                <a:chOff x="2727960" y="1554957"/>
                <a:chExt cx="6350000" cy="528320"/>
              </a:xfrm>
            </p:grpSpPr>
            <p:grpSp>
              <p:nvGrpSpPr>
                <p:cNvPr id="42" name="Group 41">
                  <a:extLst>
                    <a:ext uri="{FF2B5EF4-FFF2-40B4-BE49-F238E27FC236}">
                      <a16:creationId xmlns:a16="http://schemas.microsoft.com/office/drawing/2014/main" id="{EC3A60F9-6E47-C61D-CEF2-7B155E872F15}"/>
                    </a:ext>
                  </a:extLst>
                </p:cNvPr>
                <p:cNvGrpSpPr/>
                <p:nvPr/>
              </p:nvGrpSpPr>
              <p:grpSpPr>
                <a:xfrm>
                  <a:off x="4053840" y="1554957"/>
                  <a:ext cx="1056640" cy="528320"/>
                  <a:chOff x="8117840" y="4104640"/>
                  <a:chExt cx="1056640" cy="528320"/>
                </a:xfrm>
              </p:grpSpPr>
              <p:sp>
                <p:nvSpPr>
                  <p:cNvPr id="59" name="Rectangle 58">
                    <a:extLst>
                      <a:ext uri="{FF2B5EF4-FFF2-40B4-BE49-F238E27FC236}">
                        <a16:creationId xmlns:a16="http://schemas.microsoft.com/office/drawing/2014/main" id="{C8A661C2-414D-D318-16BD-F4BDF93A90A6}"/>
                      </a:ext>
                    </a:extLst>
                  </p:cNvPr>
                  <p:cNvSpPr/>
                  <p:nvPr/>
                </p:nvSpPr>
                <p:spPr>
                  <a:xfrm>
                    <a:off x="8117840" y="4104640"/>
                    <a:ext cx="528320" cy="528320"/>
                  </a:xfrm>
                  <a:prstGeom prst="rect">
                    <a:avLst/>
                  </a:prstGeom>
                  <a:solidFill>
                    <a:schemeClr val="accent4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8</a:t>
                    </a:r>
                  </a:p>
                </p:txBody>
              </p:sp>
              <p:sp>
                <p:nvSpPr>
                  <p:cNvPr id="60" name="Rectangle 59">
                    <a:extLst>
                      <a:ext uri="{FF2B5EF4-FFF2-40B4-BE49-F238E27FC236}">
                        <a16:creationId xmlns:a16="http://schemas.microsoft.com/office/drawing/2014/main" id="{A7CAE0F0-DEDD-2BD1-0C98-70A9D8C07F9F}"/>
                      </a:ext>
                    </a:extLst>
                  </p:cNvPr>
                  <p:cNvSpPr/>
                  <p:nvPr/>
                </p:nvSpPr>
                <p:spPr>
                  <a:xfrm>
                    <a:off x="8646160" y="4104640"/>
                    <a:ext cx="528320" cy="52832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E11EE837-D214-0017-F040-65478253635A}"/>
                    </a:ext>
                  </a:extLst>
                </p:cNvPr>
                <p:cNvGrpSpPr/>
                <p:nvPr/>
              </p:nvGrpSpPr>
              <p:grpSpPr>
                <a:xfrm>
                  <a:off x="5374640" y="1554957"/>
                  <a:ext cx="1056640" cy="528320"/>
                  <a:chOff x="8117840" y="4104640"/>
                  <a:chExt cx="1056640" cy="528320"/>
                </a:xfrm>
              </p:grpSpPr>
              <p:sp>
                <p:nvSpPr>
                  <p:cNvPr id="57" name="Rectangle 56">
                    <a:extLst>
                      <a:ext uri="{FF2B5EF4-FFF2-40B4-BE49-F238E27FC236}">
                        <a16:creationId xmlns:a16="http://schemas.microsoft.com/office/drawing/2014/main" id="{BAFEE445-9621-DB07-6209-73AEF1B98D7B}"/>
                      </a:ext>
                    </a:extLst>
                  </p:cNvPr>
                  <p:cNvSpPr/>
                  <p:nvPr/>
                </p:nvSpPr>
                <p:spPr>
                  <a:xfrm>
                    <a:off x="8117840" y="4104640"/>
                    <a:ext cx="528320" cy="528320"/>
                  </a:xfrm>
                  <a:prstGeom prst="rect">
                    <a:avLst/>
                  </a:prstGeom>
                  <a:solidFill>
                    <a:schemeClr val="accent4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3</a:t>
                    </a:r>
                  </a:p>
                </p:txBody>
              </p:sp>
              <p:sp>
                <p:nvSpPr>
                  <p:cNvPr id="58" name="Rectangle 57">
                    <a:extLst>
                      <a:ext uri="{FF2B5EF4-FFF2-40B4-BE49-F238E27FC236}">
                        <a16:creationId xmlns:a16="http://schemas.microsoft.com/office/drawing/2014/main" id="{62B1004E-3459-1A66-7E4C-C308F6C34B24}"/>
                      </a:ext>
                    </a:extLst>
                  </p:cNvPr>
                  <p:cNvSpPr/>
                  <p:nvPr/>
                </p:nvSpPr>
                <p:spPr>
                  <a:xfrm>
                    <a:off x="8646160" y="4104640"/>
                    <a:ext cx="528320" cy="52832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44" name="Group 43">
                  <a:extLst>
                    <a:ext uri="{FF2B5EF4-FFF2-40B4-BE49-F238E27FC236}">
                      <a16:creationId xmlns:a16="http://schemas.microsoft.com/office/drawing/2014/main" id="{D0E87CE3-E6C2-2F8F-4F5F-83EA1FA4B7E9}"/>
                    </a:ext>
                  </a:extLst>
                </p:cNvPr>
                <p:cNvGrpSpPr/>
                <p:nvPr/>
              </p:nvGrpSpPr>
              <p:grpSpPr>
                <a:xfrm>
                  <a:off x="6700520" y="1554957"/>
                  <a:ext cx="1056640" cy="528320"/>
                  <a:chOff x="8117840" y="4104640"/>
                  <a:chExt cx="1056640" cy="528320"/>
                </a:xfrm>
              </p:grpSpPr>
              <p:sp>
                <p:nvSpPr>
                  <p:cNvPr id="55" name="Rectangle 54">
                    <a:extLst>
                      <a:ext uri="{FF2B5EF4-FFF2-40B4-BE49-F238E27FC236}">
                        <a16:creationId xmlns:a16="http://schemas.microsoft.com/office/drawing/2014/main" id="{C058FDD1-007A-A6AB-FD72-15C85F696DC2}"/>
                      </a:ext>
                    </a:extLst>
                  </p:cNvPr>
                  <p:cNvSpPr/>
                  <p:nvPr/>
                </p:nvSpPr>
                <p:spPr>
                  <a:xfrm>
                    <a:off x="8117840" y="4104640"/>
                    <a:ext cx="528320" cy="528320"/>
                  </a:xfrm>
                  <a:prstGeom prst="rect">
                    <a:avLst/>
                  </a:prstGeom>
                  <a:solidFill>
                    <a:schemeClr val="accent4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4</a:t>
                    </a:r>
                  </a:p>
                </p:txBody>
              </p:sp>
              <p:sp>
                <p:nvSpPr>
                  <p:cNvPr id="56" name="Rectangle 55">
                    <a:extLst>
                      <a:ext uri="{FF2B5EF4-FFF2-40B4-BE49-F238E27FC236}">
                        <a16:creationId xmlns:a16="http://schemas.microsoft.com/office/drawing/2014/main" id="{29B3172D-46E6-CC9E-8C79-108059DCB854}"/>
                      </a:ext>
                    </a:extLst>
                  </p:cNvPr>
                  <p:cNvSpPr/>
                  <p:nvPr/>
                </p:nvSpPr>
                <p:spPr>
                  <a:xfrm>
                    <a:off x="8646160" y="4104640"/>
                    <a:ext cx="528320" cy="52832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45" name="Group 44">
                  <a:extLst>
                    <a:ext uri="{FF2B5EF4-FFF2-40B4-BE49-F238E27FC236}">
                      <a16:creationId xmlns:a16="http://schemas.microsoft.com/office/drawing/2014/main" id="{55F17653-BB60-2E70-9859-BB8D27875352}"/>
                    </a:ext>
                  </a:extLst>
                </p:cNvPr>
                <p:cNvGrpSpPr/>
                <p:nvPr/>
              </p:nvGrpSpPr>
              <p:grpSpPr>
                <a:xfrm>
                  <a:off x="8021320" y="1554957"/>
                  <a:ext cx="1056640" cy="528320"/>
                  <a:chOff x="8117840" y="4104640"/>
                  <a:chExt cx="1056640" cy="528320"/>
                </a:xfrm>
              </p:grpSpPr>
              <p:sp>
                <p:nvSpPr>
                  <p:cNvPr id="53" name="Rectangle 52">
                    <a:extLst>
                      <a:ext uri="{FF2B5EF4-FFF2-40B4-BE49-F238E27FC236}">
                        <a16:creationId xmlns:a16="http://schemas.microsoft.com/office/drawing/2014/main" id="{BD631A98-F7A0-2548-3A45-A6C6E4445F5A}"/>
                      </a:ext>
                    </a:extLst>
                  </p:cNvPr>
                  <p:cNvSpPr/>
                  <p:nvPr/>
                </p:nvSpPr>
                <p:spPr>
                  <a:xfrm>
                    <a:off x="8117840" y="4104640"/>
                    <a:ext cx="528320" cy="528320"/>
                  </a:xfrm>
                  <a:prstGeom prst="rect">
                    <a:avLst/>
                  </a:prstGeom>
                  <a:solidFill>
                    <a:schemeClr val="accent4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7</a:t>
                    </a:r>
                  </a:p>
                </p:txBody>
              </p:sp>
              <p:sp>
                <p:nvSpPr>
                  <p:cNvPr id="54" name="Rectangle 53">
                    <a:extLst>
                      <a:ext uri="{FF2B5EF4-FFF2-40B4-BE49-F238E27FC236}">
                        <a16:creationId xmlns:a16="http://schemas.microsoft.com/office/drawing/2014/main" id="{3F91E1C4-F271-F28F-D6B1-B2EBABC02653}"/>
                      </a:ext>
                    </a:extLst>
                  </p:cNvPr>
                  <p:cNvSpPr/>
                  <p:nvPr/>
                </p:nvSpPr>
                <p:spPr>
                  <a:xfrm>
                    <a:off x="8646160" y="4104640"/>
                    <a:ext cx="528320" cy="52832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46" name="Group 45">
                  <a:extLst>
                    <a:ext uri="{FF2B5EF4-FFF2-40B4-BE49-F238E27FC236}">
                      <a16:creationId xmlns:a16="http://schemas.microsoft.com/office/drawing/2014/main" id="{991990D6-6324-9338-E91C-A4DC31D1F11A}"/>
                    </a:ext>
                  </a:extLst>
                </p:cNvPr>
                <p:cNvGrpSpPr/>
                <p:nvPr/>
              </p:nvGrpSpPr>
              <p:grpSpPr>
                <a:xfrm>
                  <a:off x="2727960" y="1554957"/>
                  <a:ext cx="1056640" cy="528320"/>
                  <a:chOff x="8117840" y="4104640"/>
                  <a:chExt cx="1056640" cy="528320"/>
                </a:xfrm>
              </p:grpSpPr>
              <p:sp>
                <p:nvSpPr>
                  <p:cNvPr id="51" name="Rectangle 50">
                    <a:extLst>
                      <a:ext uri="{FF2B5EF4-FFF2-40B4-BE49-F238E27FC236}">
                        <a16:creationId xmlns:a16="http://schemas.microsoft.com/office/drawing/2014/main" id="{83482D73-5A92-FC3D-2999-17AA54E6D304}"/>
                      </a:ext>
                    </a:extLst>
                  </p:cNvPr>
                  <p:cNvSpPr/>
                  <p:nvPr/>
                </p:nvSpPr>
                <p:spPr>
                  <a:xfrm>
                    <a:off x="8117840" y="4104640"/>
                    <a:ext cx="528320" cy="528320"/>
                  </a:xfrm>
                  <a:prstGeom prst="rect">
                    <a:avLst/>
                  </a:prstGeom>
                  <a:solidFill>
                    <a:schemeClr val="accent4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5</a:t>
                    </a:r>
                  </a:p>
                </p:txBody>
              </p:sp>
              <p:sp>
                <p:nvSpPr>
                  <p:cNvPr id="52" name="Rectangle 51">
                    <a:extLst>
                      <a:ext uri="{FF2B5EF4-FFF2-40B4-BE49-F238E27FC236}">
                        <a16:creationId xmlns:a16="http://schemas.microsoft.com/office/drawing/2014/main" id="{1FED095A-04B8-B0CA-5FB2-D16CC78E456A}"/>
                      </a:ext>
                    </a:extLst>
                  </p:cNvPr>
                  <p:cNvSpPr/>
                  <p:nvPr/>
                </p:nvSpPr>
                <p:spPr>
                  <a:xfrm>
                    <a:off x="8646160" y="4104640"/>
                    <a:ext cx="528320" cy="52832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cxnSp>
              <p:nvCxnSpPr>
                <p:cNvPr id="47" name="Straight Arrow Connector 46">
                  <a:extLst>
                    <a:ext uri="{FF2B5EF4-FFF2-40B4-BE49-F238E27FC236}">
                      <a16:creationId xmlns:a16="http://schemas.microsoft.com/office/drawing/2014/main" id="{62A1A424-459F-64B6-D84E-8FA3F35D0233}"/>
                    </a:ext>
                  </a:extLst>
                </p:cNvPr>
                <p:cNvCxnSpPr>
                  <a:cxnSpLocks/>
                  <a:endCxn id="59" idx="1"/>
                </p:cNvCxnSpPr>
                <p:nvPr/>
              </p:nvCxnSpPr>
              <p:spPr>
                <a:xfrm>
                  <a:off x="3520440" y="1819117"/>
                  <a:ext cx="533400" cy="0"/>
                </a:xfrm>
                <a:prstGeom prst="straightConnector1">
                  <a:avLst/>
                </a:prstGeom>
                <a:ln w="5715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Arrow Connector 47">
                  <a:extLst>
                    <a:ext uri="{FF2B5EF4-FFF2-40B4-BE49-F238E27FC236}">
                      <a16:creationId xmlns:a16="http://schemas.microsoft.com/office/drawing/2014/main" id="{BE824849-E341-A0CA-48CF-DBD3FF1607E2}"/>
                    </a:ext>
                  </a:extLst>
                </p:cNvPr>
                <p:cNvCxnSpPr>
                  <a:cxnSpLocks/>
                  <a:endCxn id="57" idx="1"/>
                </p:cNvCxnSpPr>
                <p:nvPr/>
              </p:nvCxnSpPr>
              <p:spPr>
                <a:xfrm>
                  <a:off x="4846320" y="1819117"/>
                  <a:ext cx="528320" cy="0"/>
                </a:xfrm>
                <a:prstGeom prst="straightConnector1">
                  <a:avLst/>
                </a:prstGeom>
                <a:ln w="5715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Arrow Connector 48">
                  <a:extLst>
                    <a:ext uri="{FF2B5EF4-FFF2-40B4-BE49-F238E27FC236}">
                      <a16:creationId xmlns:a16="http://schemas.microsoft.com/office/drawing/2014/main" id="{2770AD8E-149C-9CB6-6E3E-05E2D065D4C4}"/>
                    </a:ext>
                  </a:extLst>
                </p:cNvPr>
                <p:cNvCxnSpPr>
                  <a:cxnSpLocks/>
                  <a:endCxn id="55" idx="1"/>
                </p:cNvCxnSpPr>
                <p:nvPr/>
              </p:nvCxnSpPr>
              <p:spPr>
                <a:xfrm>
                  <a:off x="6167120" y="1819117"/>
                  <a:ext cx="533400" cy="0"/>
                </a:xfrm>
                <a:prstGeom prst="straightConnector1">
                  <a:avLst/>
                </a:prstGeom>
                <a:ln w="5715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Straight Arrow Connector 49">
                  <a:extLst>
                    <a:ext uri="{FF2B5EF4-FFF2-40B4-BE49-F238E27FC236}">
                      <a16:creationId xmlns:a16="http://schemas.microsoft.com/office/drawing/2014/main" id="{F9BFE22A-9D49-7FC1-F75C-88174D84FF1F}"/>
                    </a:ext>
                  </a:extLst>
                </p:cNvPr>
                <p:cNvCxnSpPr>
                  <a:cxnSpLocks/>
                  <a:endCxn id="53" idx="1"/>
                </p:cNvCxnSpPr>
                <p:nvPr/>
              </p:nvCxnSpPr>
              <p:spPr>
                <a:xfrm>
                  <a:off x="7493000" y="1819117"/>
                  <a:ext cx="528320" cy="0"/>
                </a:xfrm>
                <a:prstGeom prst="straightConnector1">
                  <a:avLst/>
                </a:prstGeom>
                <a:ln w="5715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3441BD52-BE69-69D3-E9D4-C86A939A4ABE}"/>
                  </a:ext>
                </a:extLst>
              </p:cNvPr>
              <p:cNvSpPr/>
              <p:nvPr/>
            </p:nvSpPr>
            <p:spPr>
              <a:xfrm>
                <a:off x="838200" y="1554957"/>
                <a:ext cx="949960" cy="528320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front</a:t>
                </a:r>
              </a:p>
            </p:txBody>
          </p: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DBE44EDF-8209-00BF-9074-D26A508F6073}"/>
                  </a:ext>
                </a:extLst>
              </p:cNvPr>
              <p:cNvCxnSpPr>
                <a:cxnSpLocks/>
                <a:stCxn id="36" idx="3"/>
                <a:endCxn id="51" idx="1"/>
              </p:cNvCxnSpPr>
              <p:nvPr/>
            </p:nvCxnSpPr>
            <p:spPr>
              <a:xfrm>
                <a:off x="1788160" y="1819117"/>
                <a:ext cx="939800" cy="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04F8C24B-F3BC-EA91-244C-0B0E270CFAA8}"/>
                  </a:ext>
                </a:extLst>
              </p:cNvPr>
              <p:cNvSpPr/>
              <p:nvPr/>
            </p:nvSpPr>
            <p:spPr>
              <a:xfrm>
                <a:off x="7810500" y="2744789"/>
                <a:ext cx="949960" cy="528320"/>
              </a:xfrm>
              <a:prstGeom prst="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back</a:t>
                </a:r>
              </a:p>
            </p:txBody>
          </p: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479EC067-6629-8F9E-B1D4-7EA1C87FFBC0}"/>
                  </a:ext>
                </a:extLst>
              </p:cNvPr>
              <p:cNvCxnSpPr>
                <a:cxnSpLocks/>
                <a:stCxn id="40" idx="0"/>
                <a:endCxn id="53" idx="2"/>
              </p:cNvCxnSpPr>
              <p:nvPr/>
            </p:nvCxnSpPr>
            <p:spPr>
              <a:xfrm flipV="1">
                <a:off x="8285480" y="2083277"/>
                <a:ext cx="0" cy="661512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D033B519-2EC1-89DB-60C6-AE3F9EF82BAB}"/>
                </a:ext>
              </a:extLst>
            </p:cNvPr>
            <p:cNvGrpSpPr/>
            <p:nvPr/>
          </p:nvGrpSpPr>
          <p:grpSpPr>
            <a:xfrm>
              <a:off x="9207169" y="3667532"/>
              <a:ext cx="1267460" cy="1718152"/>
              <a:chOff x="5956300" y="4774723"/>
              <a:chExt cx="1267460" cy="1718152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7B8A1C95-9753-510B-4F36-24A6859BBCB8}"/>
                  </a:ext>
                </a:extLst>
              </p:cNvPr>
              <p:cNvSpPr/>
              <p:nvPr/>
            </p:nvSpPr>
            <p:spPr>
              <a:xfrm>
                <a:off x="6167120" y="4774723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>
                    <a:solidFill>
                      <a:prstClr val="black"/>
                    </a:solidFill>
                    <a:latin typeface="Calibri" panose="020F0502020204030204"/>
                  </a:rPr>
                  <a:t>3</a:t>
                </a: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B56F86EE-D86E-6C58-6CF3-3A4F05C3DCE5}"/>
                  </a:ext>
                </a:extLst>
              </p:cNvPr>
              <p:cNvSpPr/>
              <p:nvPr/>
            </p:nvSpPr>
            <p:spPr>
              <a:xfrm>
                <a:off x="6695440" y="4774723"/>
                <a:ext cx="528320" cy="52832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45C1EE43-8363-CACE-69AE-F6E71726B3F1}"/>
                  </a:ext>
                </a:extLst>
              </p:cNvPr>
              <p:cNvSpPr/>
              <p:nvPr/>
            </p:nvSpPr>
            <p:spPr>
              <a:xfrm>
                <a:off x="5956300" y="5964555"/>
                <a:ext cx="949960" cy="52832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last</a:t>
                </a:r>
              </a:p>
            </p:txBody>
          </p:sp>
          <p:cxnSp>
            <p:nvCxnSpPr>
              <p:cNvPr id="65" name="Straight Arrow Connector 64">
                <a:extLst>
                  <a:ext uri="{FF2B5EF4-FFF2-40B4-BE49-F238E27FC236}">
                    <a16:creationId xmlns:a16="http://schemas.microsoft.com/office/drawing/2014/main" id="{7AF31CDE-70D8-C2E2-4BD8-8454B8E801D8}"/>
                  </a:ext>
                </a:extLst>
              </p:cNvPr>
              <p:cNvCxnSpPr>
                <a:cxnSpLocks/>
                <a:stCxn id="64" idx="0"/>
                <a:endCxn id="62" idx="2"/>
              </p:cNvCxnSpPr>
              <p:nvPr/>
            </p:nvCxnSpPr>
            <p:spPr>
              <a:xfrm flipV="1">
                <a:off x="6431280" y="5303043"/>
                <a:ext cx="0" cy="661512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A3B11DC4-25F5-D5EE-5D83-36C06A7DB4DD}"/>
                </a:ext>
              </a:extLst>
            </p:cNvPr>
            <p:cNvCxnSpPr>
              <a:cxnSpLocks/>
              <a:endCxn id="62" idx="1"/>
            </p:cNvCxnSpPr>
            <p:nvPr/>
          </p:nvCxnSpPr>
          <p:spPr>
            <a:xfrm>
              <a:off x="8889669" y="3931692"/>
              <a:ext cx="528320" cy="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770677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BACBC-FCB5-7669-CFF9-006F8555A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2AFD6-45FD-8190-14CA-8E345F869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enqueue(3)</a:t>
            </a:r>
            <a:r>
              <a:rPr lang="en-US" dirty="0">
                <a:latin typeface="+mn-lt"/>
              </a:rPr>
              <a:t> – line 3 of 3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246CEF7-3E8E-66AE-E238-D4920A7B0074}"/>
              </a:ext>
            </a:extLst>
          </p:cNvPr>
          <p:cNvGrpSpPr/>
          <p:nvPr/>
        </p:nvGrpSpPr>
        <p:grpSpPr>
          <a:xfrm>
            <a:off x="967409" y="3667532"/>
            <a:ext cx="9507220" cy="1718152"/>
            <a:chOff x="967409" y="3667532"/>
            <a:chExt cx="9507220" cy="1718152"/>
          </a:xfrm>
        </p:grpSpPr>
        <p:grpSp>
          <p:nvGrpSpPr>
            <p:cNvPr id="36" name="Group 35" descr="An illustration of a linked queue data structure. The elements of the list are contained in node objects. Each node object has a reference to another node object to establish a sequence of elements. There is also a reference called &quot;front&quot; that points to the first node in the queue, and a reference called &quot;back&quot; that points to the last node in the queue.">
              <a:extLst>
                <a:ext uri="{FF2B5EF4-FFF2-40B4-BE49-F238E27FC236}">
                  <a16:creationId xmlns:a16="http://schemas.microsoft.com/office/drawing/2014/main" id="{6AF255AB-4C37-8E80-7EC1-5C43F5CF786A}"/>
                </a:ext>
              </a:extLst>
            </p:cNvPr>
            <p:cNvGrpSpPr/>
            <p:nvPr/>
          </p:nvGrpSpPr>
          <p:grpSpPr>
            <a:xfrm>
              <a:off x="967409" y="3667532"/>
              <a:ext cx="8714740" cy="1718152"/>
              <a:chOff x="838200" y="1554957"/>
              <a:chExt cx="8714740" cy="1718152"/>
            </a:xfrm>
          </p:grpSpPr>
          <p:grpSp>
            <p:nvGrpSpPr>
              <p:cNvPr id="45" name="Group 44">
                <a:extLst>
                  <a:ext uri="{FF2B5EF4-FFF2-40B4-BE49-F238E27FC236}">
                    <a16:creationId xmlns:a16="http://schemas.microsoft.com/office/drawing/2014/main" id="{9D09E312-C51F-6C07-7C4D-E57CA1E40566}"/>
                  </a:ext>
                </a:extLst>
              </p:cNvPr>
              <p:cNvGrpSpPr/>
              <p:nvPr/>
            </p:nvGrpSpPr>
            <p:grpSpPr>
              <a:xfrm>
                <a:off x="2727960" y="1554957"/>
                <a:ext cx="6350000" cy="528320"/>
                <a:chOff x="2727960" y="1554957"/>
                <a:chExt cx="6350000" cy="528320"/>
              </a:xfrm>
            </p:grpSpPr>
            <p:grpSp>
              <p:nvGrpSpPr>
                <p:cNvPr id="50" name="Group 49">
                  <a:extLst>
                    <a:ext uri="{FF2B5EF4-FFF2-40B4-BE49-F238E27FC236}">
                      <a16:creationId xmlns:a16="http://schemas.microsoft.com/office/drawing/2014/main" id="{C26F98A8-E131-7F9F-677E-BA1CA81BF8FA}"/>
                    </a:ext>
                  </a:extLst>
                </p:cNvPr>
                <p:cNvGrpSpPr/>
                <p:nvPr/>
              </p:nvGrpSpPr>
              <p:grpSpPr>
                <a:xfrm>
                  <a:off x="4053840" y="1554957"/>
                  <a:ext cx="1056640" cy="528320"/>
                  <a:chOff x="8117840" y="4104640"/>
                  <a:chExt cx="1056640" cy="528320"/>
                </a:xfrm>
              </p:grpSpPr>
              <p:sp>
                <p:nvSpPr>
                  <p:cNvPr id="67" name="Rectangle 66">
                    <a:extLst>
                      <a:ext uri="{FF2B5EF4-FFF2-40B4-BE49-F238E27FC236}">
                        <a16:creationId xmlns:a16="http://schemas.microsoft.com/office/drawing/2014/main" id="{7B211018-7360-F15D-A708-D17EFA796414}"/>
                      </a:ext>
                    </a:extLst>
                  </p:cNvPr>
                  <p:cNvSpPr/>
                  <p:nvPr/>
                </p:nvSpPr>
                <p:spPr>
                  <a:xfrm>
                    <a:off x="8117840" y="4104640"/>
                    <a:ext cx="528320" cy="528320"/>
                  </a:xfrm>
                  <a:prstGeom prst="rect">
                    <a:avLst/>
                  </a:prstGeom>
                  <a:solidFill>
                    <a:schemeClr val="accent4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8</a:t>
                    </a:r>
                  </a:p>
                </p:txBody>
              </p:sp>
              <p:sp>
                <p:nvSpPr>
                  <p:cNvPr id="68" name="Rectangle 67">
                    <a:extLst>
                      <a:ext uri="{FF2B5EF4-FFF2-40B4-BE49-F238E27FC236}">
                        <a16:creationId xmlns:a16="http://schemas.microsoft.com/office/drawing/2014/main" id="{0F218776-D852-E730-50E5-7EF5A7D516FD}"/>
                      </a:ext>
                    </a:extLst>
                  </p:cNvPr>
                  <p:cNvSpPr/>
                  <p:nvPr/>
                </p:nvSpPr>
                <p:spPr>
                  <a:xfrm>
                    <a:off x="8646160" y="4104640"/>
                    <a:ext cx="528320" cy="52832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51" name="Group 50">
                  <a:extLst>
                    <a:ext uri="{FF2B5EF4-FFF2-40B4-BE49-F238E27FC236}">
                      <a16:creationId xmlns:a16="http://schemas.microsoft.com/office/drawing/2014/main" id="{69C66D00-20A0-F5C7-4247-C16906FDAC23}"/>
                    </a:ext>
                  </a:extLst>
                </p:cNvPr>
                <p:cNvGrpSpPr/>
                <p:nvPr/>
              </p:nvGrpSpPr>
              <p:grpSpPr>
                <a:xfrm>
                  <a:off x="5374640" y="1554957"/>
                  <a:ext cx="1056640" cy="528320"/>
                  <a:chOff x="8117840" y="4104640"/>
                  <a:chExt cx="1056640" cy="528320"/>
                </a:xfrm>
              </p:grpSpPr>
              <p:sp>
                <p:nvSpPr>
                  <p:cNvPr id="65" name="Rectangle 64">
                    <a:extLst>
                      <a:ext uri="{FF2B5EF4-FFF2-40B4-BE49-F238E27FC236}">
                        <a16:creationId xmlns:a16="http://schemas.microsoft.com/office/drawing/2014/main" id="{2A4ADF4C-2583-D3FF-9D01-D6945F809749}"/>
                      </a:ext>
                    </a:extLst>
                  </p:cNvPr>
                  <p:cNvSpPr/>
                  <p:nvPr/>
                </p:nvSpPr>
                <p:spPr>
                  <a:xfrm>
                    <a:off x="8117840" y="4104640"/>
                    <a:ext cx="528320" cy="528320"/>
                  </a:xfrm>
                  <a:prstGeom prst="rect">
                    <a:avLst/>
                  </a:prstGeom>
                  <a:solidFill>
                    <a:schemeClr val="accent4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3</a:t>
                    </a:r>
                  </a:p>
                </p:txBody>
              </p:sp>
              <p:sp>
                <p:nvSpPr>
                  <p:cNvPr id="66" name="Rectangle 65">
                    <a:extLst>
                      <a:ext uri="{FF2B5EF4-FFF2-40B4-BE49-F238E27FC236}">
                        <a16:creationId xmlns:a16="http://schemas.microsoft.com/office/drawing/2014/main" id="{A710FA01-CDE4-F3AC-B712-4A09FBD51E5E}"/>
                      </a:ext>
                    </a:extLst>
                  </p:cNvPr>
                  <p:cNvSpPr/>
                  <p:nvPr/>
                </p:nvSpPr>
                <p:spPr>
                  <a:xfrm>
                    <a:off x="8646160" y="4104640"/>
                    <a:ext cx="528320" cy="52832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187DED2D-E939-9F8E-2B57-45CDFF9034E8}"/>
                    </a:ext>
                  </a:extLst>
                </p:cNvPr>
                <p:cNvGrpSpPr/>
                <p:nvPr/>
              </p:nvGrpSpPr>
              <p:grpSpPr>
                <a:xfrm>
                  <a:off x="6700520" y="1554957"/>
                  <a:ext cx="1056640" cy="528320"/>
                  <a:chOff x="8117840" y="4104640"/>
                  <a:chExt cx="1056640" cy="528320"/>
                </a:xfrm>
              </p:grpSpPr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50F7FF51-DAD9-5A5F-AC37-C0DAF7B73D58}"/>
                      </a:ext>
                    </a:extLst>
                  </p:cNvPr>
                  <p:cNvSpPr/>
                  <p:nvPr/>
                </p:nvSpPr>
                <p:spPr>
                  <a:xfrm>
                    <a:off x="8117840" y="4104640"/>
                    <a:ext cx="528320" cy="528320"/>
                  </a:xfrm>
                  <a:prstGeom prst="rect">
                    <a:avLst/>
                  </a:prstGeom>
                  <a:solidFill>
                    <a:schemeClr val="accent4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4</a:t>
                    </a:r>
                  </a:p>
                </p:txBody>
              </p:sp>
              <p:sp>
                <p:nvSpPr>
                  <p:cNvPr id="64" name="Rectangle 63">
                    <a:extLst>
                      <a:ext uri="{FF2B5EF4-FFF2-40B4-BE49-F238E27FC236}">
                        <a16:creationId xmlns:a16="http://schemas.microsoft.com/office/drawing/2014/main" id="{D7C2EAB5-7485-373F-C73A-AAF931CFE1DB}"/>
                      </a:ext>
                    </a:extLst>
                  </p:cNvPr>
                  <p:cNvSpPr/>
                  <p:nvPr/>
                </p:nvSpPr>
                <p:spPr>
                  <a:xfrm>
                    <a:off x="8646160" y="4104640"/>
                    <a:ext cx="528320" cy="52832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53" name="Group 52">
                  <a:extLst>
                    <a:ext uri="{FF2B5EF4-FFF2-40B4-BE49-F238E27FC236}">
                      <a16:creationId xmlns:a16="http://schemas.microsoft.com/office/drawing/2014/main" id="{54D446BF-6FBF-2022-5202-D3B899579FB0}"/>
                    </a:ext>
                  </a:extLst>
                </p:cNvPr>
                <p:cNvGrpSpPr/>
                <p:nvPr/>
              </p:nvGrpSpPr>
              <p:grpSpPr>
                <a:xfrm>
                  <a:off x="8021320" y="1554957"/>
                  <a:ext cx="1056640" cy="528320"/>
                  <a:chOff x="8117840" y="4104640"/>
                  <a:chExt cx="1056640" cy="528320"/>
                </a:xfrm>
              </p:grpSpPr>
              <p:sp>
                <p:nvSpPr>
                  <p:cNvPr id="61" name="Rectangle 60">
                    <a:extLst>
                      <a:ext uri="{FF2B5EF4-FFF2-40B4-BE49-F238E27FC236}">
                        <a16:creationId xmlns:a16="http://schemas.microsoft.com/office/drawing/2014/main" id="{8F0E478E-89F2-B74B-FF6F-B9637CC3B41A}"/>
                      </a:ext>
                    </a:extLst>
                  </p:cNvPr>
                  <p:cNvSpPr/>
                  <p:nvPr/>
                </p:nvSpPr>
                <p:spPr>
                  <a:xfrm>
                    <a:off x="8117840" y="4104640"/>
                    <a:ext cx="528320" cy="528320"/>
                  </a:xfrm>
                  <a:prstGeom prst="rect">
                    <a:avLst/>
                  </a:prstGeom>
                  <a:solidFill>
                    <a:schemeClr val="accent4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7</a:t>
                    </a:r>
                  </a:p>
                </p:txBody>
              </p:sp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7E72E19C-CC22-4812-EAA6-44856DE6F4A7}"/>
                      </a:ext>
                    </a:extLst>
                  </p:cNvPr>
                  <p:cNvSpPr/>
                  <p:nvPr/>
                </p:nvSpPr>
                <p:spPr>
                  <a:xfrm>
                    <a:off x="8646160" y="4104640"/>
                    <a:ext cx="528320" cy="52832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54" name="Group 53">
                  <a:extLst>
                    <a:ext uri="{FF2B5EF4-FFF2-40B4-BE49-F238E27FC236}">
                      <a16:creationId xmlns:a16="http://schemas.microsoft.com/office/drawing/2014/main" id="{4C5EBC6B-0111-D4BF-167A-9AD99D696773}"/>
                    </a:ext>
                  </a:extLst>
                </p:cNvPr>
                <p:cNvGrpSpPr/>
                <p:nvPr/>
              </p:nvGrpSpPr>
              <p:grpSpPr>
                <a:xfrm>
                  <a:off x="2727960" y="1554957"/>
                  <a:ext cx="1056640" cy="528320"/>
                  <a:chOff x="8117840" y="4104640"/>
                  <a:chExt cx="1056640" cy="528320"/>
                </a:xfrm>
              </p:grpSpPr>
              <p:sp>
                <p:nvSpPr>
                  <p:cNvPr id="59" name="Rectangle 58">
                    <a:extLst>
                      <a:ext uri="{FF2B5EF4-FFF2-40B4-BE49-F238E27FC236}">
                        <a16:creationId xmlns:a16="http://schemas.microsoft.com/office/drawing/2014/main" id="{24E1D443-9D84-0A29-4515-F140EC010847}"/>
                      </a:ext>
                    </a:extLst>
                  </p:cNvPr>
                  <p:cNvSpPr/>
                  <p:nvPr/>
                </p:nvSpPr>
                <p:spPr>
                  <a:xfrm>
                    <a:off x="8117840" y="4104640"/>
                    <a:ext cx="528320" cy="528320"/>
                  </a:xfrm>
                  <a:prstGeom prst="rect">
                    <a:avLst/>
                  </a:prstGeom>
                  <a:solidFill>
                    <a:schemeClr val="accent4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5</a:t>
                    </a:r>
                  </a:p>
                </p:txBody>
              </p:sp>
              <p:sp>
                <p:nvSpPr>
                  <p:cNvPr id="60" name="Rectangle 59">
                    <a:extLst>
                      <a:ext uri="{FF2B5EF4-FFF2-40B4-BE49-F238E27FC236}">
                        <a16:creationId xmlns:a16="http://schemas.microsoft.com/office/drawing/2014/main" id="{B8BDAE1A-7B19-597E-01C4-0B853C750A4D}"/>
                      </a:ext>
                    </a:extLst>
                  </p:cNvPr>
                  <p:cNvSpPr/>
                  <p:nvPr/>
                </p:nvSpPr>
                <p:spPr>
                  <a:xfrm>
                    <a:off x="8646160" y="4104640"/>
                    <a:ext cx="528320" cy="52832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cxnSp>
              <p:nvCxnSpPr>
                <p:cNvPr id="55" name="Straight Arrow Connector 54">
                  <a:extLst>
                    <a:ext uri="{FF2B5EF4-FFF2-40B4-BE49-F238E27FC236}">
                      <a16:creationId xmlns:a16="http://schemas.microsoft.com/office/drawing/2014/main" id="{45DA7BCB-32E0-0F77-8272-EEF3E08681F3}"/>
                    </a:ext>
                  </a:extLst>
                </p:cNvPr>
                <p:cNvCxnSpPr>
                  <a:cxnSpLocks/>
                  <a:endCxn id="67" idx="1"/>
                </p:cNvCxnSpPr>
                <p:nvPr/>
              </p:nvCxnSpPr>
              <p:spPr>
                <a:xfrm>
                  <a:off x="3520440" y="1819117"/>
                  <a:ext cx="533400" cy="0"/>
                </a:xfrm>
                <a:prstGeom prst="straightConnector1">
                  <a:avLst/>
                </a:prstGeom>
                <a:ln w="5715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Arrow Connector 55">
                  <a:extLst>
                    <a:ext uri="{FF2B5EF4-FFF2-40B4-BE49-F238E27FC236}">
                      <a16:creationId xmlns:a16="http://schemas.microsoft.com/office/drawing/2014/main" id="{AB530F29-321D-DC9A-BB2B-9E91DF903F86}"/>
                    </a:ext>
                  </a:extLst>
                </p:cNvPr>
                <p:cNvCxnSpPr>
                  <a:cxnSpLocks/>
                  <a:endCxn id="65" idx="1"/>
                </p:cNvCxnSpPr>
                <p:nvPr/>
              </p:nvCxnSpPr>
              <p:spPr>
                <a:xfrm>
                  <a:off x="4846320" y="1819117"/>
                  <a:ext cx="528320" cy="0"/>
                </a:xfrm>
                <a:prstGeom prst="straightConnector1">
                  <a:avLst/>
                </a:prstGeom>
                <a:ln w="5715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A53E68B0-FCD4-755E-331A-0036461B6673}"/>
                    </a:ext>
                  </a:extLst>
                </p:cNvPr>
                <p:cNvCxnSpPr>
                  <a:cxnSpLocks/>
                  <a:endCxn id="63" idx="1"/>
                </p:cNvCxnSpPr>
                <p:nvPr/>
              </p:nvCxnSpPr>
              <p:spPr>
                <a:xfrm>
                  <a:off x="6167120" y="1819117"/>
                  <a:ext cx="533400" cy="0"/>
                </a:xfrm>
                <a:prstGeom prst="straightConnector1">
                  <a:avLst/>
                </a:prstGeom>
                <a:ln w="5715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6AD9E43A-AE62-7696-455B-08D8DDEEA49C}"/>
                    </a:ext>
                  </a:extLst>
                </p:cNvPr>
                <p:cNvCxnSpPr>
                  <a:cxnSpLocks/>
                  <a:endCxn id="61" idx="1"/>
                </p:cNvCxnSpPr>
                <p:nvPr/>
              </p:nvCxnSpPr>
              <p:spPr>
                <a:xfrm>
                  <a:off x="7493000" y="1819117"/>
                  <a:ext cx="528320" cy="0"/>
                </a:xfrm>
                <a:prstGeom prst="straightConnector1">
                  <a:avLst/>
                </a:prstGeom>
                <a:ln w="5715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B8CC6D13-22EF-E4A7-9860-CB86F49D8184}"/>
                  </a:ext>
                </a:extLst>
              </p:cNvPr>
              <p:cNvSpPr/>
              <p:nvPr/>
            </p:nvSpPr>
            <p:spPr>
              <a:xfrm>
                <a:off x="838200" y="1554957"/>
                <a:ext cx="949960" cy="528320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front</a:t>
                </a:r>
              </a:p>
            </p:txBody>
          </p: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372A97BD-CBDF-45D9-6F43-29FE05C9F7E9}"/>
                  </a:ext>
                </a:extLst>
              </p:cNvPr>
              <p:cNvCxnSpPr>
                <a:cxnSpLocks/>
                <a:stCxn id="46" idx="3"/>
                <a:endCxn id="59" idx="1"/>
              </p:cNvCxnSpPr>
              <p:nvPr/>
            </p:nvCxnSpPr>
            <p:spPr>
              <a:xfrm>
                <a:off x="1788160" y="1819117"/>
                <a:ext cx="939800" cy="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E183155C-09BA-5F43-1A11-0415F14D7027}"/>
                  </a:ext>
                </a:extLst>
              </p:cNvPr>
              <p:cNvSpPr/>
              <p:nvPr/>
            </p:nvSpPr>
            <p:spPr>
              <a:xfrm>
                <a:off x="7810500" y="2744789"/>
                <a:ext cx="949960" cy="528320"/>
              </a:xfrm>
              <a:prstGeom prst="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back</a:t>
                </a:r>
              </a:p>
            </p:txBody>
          </p: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C76966C0-AA95-27D3-001A-AB7F58AC1C3C}"/>
                  </a:ext>
                </a:extLst>
              </p:cNvPr>
              <p:cNvCxnSpPr>
                <a:cxnSpLocks/>
                <a:stCxn id="48" idx="0"/>
                <a:endCxn id="41" idx="2"/>
              </p:cNvCxnSpPr>
              <p:nvPr/>
            </p:nvCxnSpPr>
            <p:spPr>
              <a:xfrm flipV="1">
                <a:off x="8285480" y="2083277"/>
                <a:ext cx="1267460" cy="661512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AC21A662-1D4F-60AF-74EE-1285AE783DD5}"/>
                </a:ext>
              </a:extLst>
            </p:cNvPr>
            <p:cNvGrpSpPr/>
            <p:nvPr/>
          </p:nvGrpSpPr>
          <p:grpSpPr>
            <a:xfrm>
              <a:off x="9207169" y="3667532"/>
              <a:ext cx="1267460" cy="1718152"/>
              <a:chOff x="5956300" y="4774723"/>
              <a:chExt cx="1267460" cy="1718152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B07297B6-9D7F-F063-FB4B-1CC6EFCC1780}"/>
                  </a:ext>
                </a:extLst>
              </p:cNvPr>
              <p:cNvSpPr/>
              <p:nvPr/>
            </p:nvSpPr>
            <p:spPr>
              <a:xfrm>
                <a:off x="6167120" y="4774723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>
                    <a:solidFill>
                      <a:prstClr val="black"/>
                    </a:solidFill>
                    <a:latin typeface="Calibri" panose="020F0502020204030204"/>
                  </a:rPr>
                  <a:t>3</a:t>
                </a: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F2EC844A-8913-7074-90B4-3A42672E8279}"/>
                  </a:ext>
                </a:extLst>
              </p:cNvPr>
              <p:cNvSpPr/>
              <p:nvPr/>
            </p:nvSpPr>
            <p:spPr>
              <a:xfrm>
                <a:off x="6695440" y="4774723"/>
                <a:ext cx="528320" cy="52832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95D1B4C4-41BC-54C1-97A2-5094E6B9E8B7}"/>
                  </a:ext>
                </a:extLst>
              </p:cNvPr>
              <p:cNvSpPr/>
              <p:nvPr/>
            </p:nvSpPr>
            <p:spPr>
              <a:xfrm>
                <a:off x="5956300" y="5964555"/>
                <a:ext cx="949960" cy="52832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last</a:t>
                </a:r>
              </a:p>
            </p:txBody>
          </p: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E58939EC-4A39-96AA-78C0-28F7042001A6}"/>
                  </a:ext>
                </a:extLst>
              </p:cNvPr>
              <p:cNvCxnSpPr>
                <a:cxnSpLocks/>
                <a:stCxn id="43" idx="0"/>
                <a:endCxn id="41" idx="2"/>
              </p:cNvCxnSpPr>
              <p:nvPr/>
            </p:nvCxnSpPr>
            <p:spPr>
              <a:xfrm flipV="1">
                <a:off x="6431280" y="5303043"/>
                <a:ext cx="0" cy="661512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A573D21D-A320-E355-2CCF-FF77CCF27B78}"/>
                </a:ext>
              </a:extLst>
            </p:cNvPr>
            <p:cNvCxnSpPr>
              <a:cxnSpLocks/>
              <a:endCxn id="41" idx="1"/>
            </p:cNvCxnSpPr>
            <p:nvPr/>
          </p:nvCxnSpPr>
          <p:spPr>
            <a:xfrm>
              <a:off x="8889669" y="3931692"/>
              <a:ext cx="528320" cy="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316AA04D-522A-5551-87C7-ACFBF0F8C3BD}"/>
              </a:ext>
            </a:extLst>
          </p:cNvPr>
          <p:cNvSpPr txBox="1"/>
          <p:nvPr/>
        </p:nvSpPr>
        <p:spPr>
          <a:xfrm>
            <a:off x="4112895" y="1598039"/>
            <a:ext cx="3966210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enqueue(x){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last = new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ListNode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(x);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kumimoji="0" lang="en-US" sz="160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back.next</a:t>
            </a:r>
            <a:r>
              <a:rPr kumimoji="0" lang="en-US" sz="1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= last;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back = last;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839750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B7B97-B865-D063-824D-94C44C3F2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7874F-D869-614B-247C-6A318CBFB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enqueue(3)</a:t>
            </a:r>
            <a:r>
              <a:rPr lang="en-US" dirty="0">
                <a:latin typeface="+mn-lt"/>
              </a:rPr>
              <a:t> – End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EDDD9CB-BABB-C907-B457-D43FBF3D45F0}"/>
              </a:ext>
            </a:extLst>
          </p:cNvPr>
          <p:cNvGrpSpPr/>
          <p:nvPr/>
        </p:nvGrpSpPr>
        <p:grpSpPr>
          <a:xfrm>
            <a:off x="967409" y="3667532"/>
            <a:ext cx="9507220" cy="1728091"/>
            <a:chOff x="967409" y="3667532"/>
            <a:chExt cx="9507220" cy="1728091"/>
          </a:xfrm>
        </p:grpSpPr>
        <p:grpSp>
          <p:nvGrpSpPr>
            <p:cNvPr id="36" name="Group 35" descr="An illustration of a linked queue data structure. The elements of the list are contained in node objects. Each node object has a reference to another node object to establish a sequence of elements. There is also a reference called &quot;front&quot; that points to the first node in the queue, and a reference called &quot;back&quot; that points to the last node in the queue.">
              <a:extLst>
                <a:ext uri="{FF2B5EF4-FFF2-40B4-BE49-F238E27FC236}">
                  <a16:creationId xmlns:a16="http://schemas.microsoft.com/office/drawing/2014/main" id="{33984CAA-E7E4-8630-9139-82806884780C}"/>
                </a:ext>
              </a:extLst>
            </p:cNvPr>
            <p:cNvGrpSpPr/>
            <p:nvPr/>
          </p:nvGrpSpPr>
          <p:grpSpPr>
            <a:xfrm>
              <a:off x="967409" y="3667532"/>
              <a:ext cx="9195352" cy="1728091"/>
              <a:chOff x="838200" y="1554957"/>
              <a:chExt cx="9195352" cy="1728091"/>
            </a:xfrm>
          </p:grpSpPr>
          <p:grpSp>
            <p:nvGrpSpPr>
              <p:cNvPr id="45" name="Group 44">
                <a:extLst>
                  <a:ext uri="{FF2B5EF4-FFF2-40B4-BE49-F238E27FC236}">
                    <a16:creationId xmlns:a16="http://schemas.microsoft.com/office/drawing/2014/main" id="{54F232B6-687E-8830-3D7C-2B622EAD8650}"/>
                  </a:ext>
                </a:extLst>
              </p:cNvPr>
              <p:cNvGrpSpPr/>
              <p:nvPr/>
            </p:nvGrpSpPr>
            <p:grpSpPr>
              <a:xfrm>
                <a:off x="2727960" y="1554957"/>
                <a:ext cx="6350000" cy="528320"/>
                <a:chOff x="2727960" y="1554957"/>
                <a:chExt cx="6350000" cy="528320"/>
              </a:xfrm>
            </p:grpSpPr>
            <p:grpSp>
              <p:nvGrpSpPr>
                <p:cNvPr id="50" name="Group 49">
                  <a:extLst>
                    <a:ext uri="{FF2B5EF4-FFF2-40B4-BE49-F238E27FC236}">
                      <a16:creationId xmlns:a16="http://schemas.microsoft.com/office/drawing/2014/main" id="{F726B292-2F09-317B-4CCF-CA3D38D08724}"/>
                    </a:ext>
                  </a:extLst>
                </p:cNvPr>
                <p:cNvGrpSpPr/>
                <p:nvPr/>
              </p:nvGrpSpPr>
              <p:grpSpPr>
                <a:xfrm>
                  <a:off x="4053840" y="1554957"/>
                  <a:ext cx="1056640" cy="528320"/>
                  <a:chOff x="8117840" y="4104640"/>
                  <a:chExt cx="1056640" cy="528320"/>
                </a:xfrm>
              </p:grpSpPr>
              <p:sp>
                <p:nvSpPr>
                  <p:cNvPr id="67" name="Rectangle 66">
                    <a:extLst>
                      <a:ext uri="{FF2B5EF4-FFF2-40B4-BE49-F238E27FC236}">
                        <a16:creationId xmlns:a16="http://schemas.microsoft.com/office/drawing/2014/main" id="{8218CF55-983E-FBB4-A93D-693C69F2D170}"/>
                      </a:ext>
                    </a:extLst>
                  </p:cNvPr>
                  <p:cNvSpPr/>
                  <p:nvPr/>
                </p:nvSpPr>
                <p:spPr>
                  <a:xfrm>
                    <a:off x="8117840" y="4104640"/>
                    <a:ext cx="528320" cy="528320"/>
                  </a:xfrm>
                  <a:prstGeom prst="rect">
                    <a:avLst/>
                  </a:prstGeom>
                  <a:solidFill>
                    <a:schemeClr val="accent4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8</a:t>
                    </a:r>
                  </a:p>
                </p:txBody>
              </p:sp>
              <p:sp>
                <p:nvSpPr>
                  <p:cNvPr id="68" name="Rectangle 67">
                    <a:extLst>
                      <a:ext uri="{FF2B5EF4-FFF2-40B4-BE49-F238E27FC236}">
                        <a16:creationId xmlns:a16="http://schemas.microsoft.com/office/drawing/2014/main" id="{200AF3CE-A313-7A2C-9B7C-1609A2C74401}"/>
                      </a:ext>
                    </a:extLst>
                  </p:cNvPr>
                  <p:cNvSpPr/>
                  <p:nvPr/>
                </p:nvSpPr>
                <p:spPr>
                  <a:xfrm>
                    <a:off x="8646160" y="4104640"/>
                    <a:ext cx="528320" cy="52832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51" name="Group 50">
                  <a:extLst>
                    <a:ext uri="{FF2B5EF4-FFF2-40B4-BE49-F238E27FC236}">
                      <a16:creationId xmlns:a16="http://schemas.microsoft.com/office/drawing/2014/main" id="{6B111B57-9774-53BD-37C4-B12FB175A064}"/>
                    </a:ext>
                  </a:extLst>
                </p:cNvPr>
                <p:cNvGrpSpPr/>
                <p:nvPr/>
              </p:nvGrpSpPr>
              <p:grpSpPr>
                <a:xfrm>
                  <a:off x="5374640" y="1554957"/>
                  <a:ext cx="1056640" cy="528320"/>
                  <a:chOff x="8117840" y="4104640"/>
                  <a:chExt cx="1056640" cy="528320"/>
                </a:xfrm>
              </p:grpSpPr>
              <p:sp>
                <p:nvSpPr>
                  <p:cNvPr id="65" name="Rectangle 64">
                    <a:extLst>
                      <a:ext uri="{FF2B5EF4-FFF2-40B4-BE49-F238E27FC236}">
                        <a16:creationId xmlns:a16="http://schemas.microsoft.com/office/drawing/2014/main" id="{E8513918-29E0-F6DA-B1C6-E331EB0CE2A9}"/>
                      </a:ext>
                    </a:extLst>
                  </p:cNvPr>
                  <p:cNvSpPr/>
                  <p:nvPr/>
                </p:nvSpPr>
                <p:spPr>
                  <a:xfrm>
                    <a:off x="8117840" y="4104640"/>
                    <a:ext cx="528320" cy="528320"/>
                  </a:xfrm>
                  <a:prstGeom prst="rect">
                    <a:avLst/>
                  </a:prstGeom>
                  <a:solidFill>
                    <a:schemeClr val="accent4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3</a:t>
                    </a:r>
                  </a:p>
                </p:txBody>
              </p:sp>
              <p:sp>
                <p:nvSpPr>
                  <p:cNvPr id="66" name="Rectangle 65">
                    <a:extLst>
                      <a:ext uri="{FF2B5EF4-FFF2-40B4-BE49-F238E27FC236}">
                        <a16:creationId xmlns:a16="http://schemas.microsoft.com/office/drawing/2014/main" id="{353716D8-C5F8-30B8-115D-3FD5F9A30FAB}"/>
                      </a:ext>
                    </a:extLst>
                  </p:cNvPr>
                  <p:cNvSpPr/>
                  <p:nvPr/>
                </p:nvSpPr>
                <p:spPr>
                  <a:xfrm>
                    <a:off x="8646160" y="4104640"/>
                    <a:ext cx="528320" cy="52832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544BFE61-F38A-3222-4972-C1FC235EC7DD}"/>
                    </a:ext>
                  </a:extLst>
                </p:cNvPr>
                <p:cNvGrpSpPr/>
                <p:nvPr/>
              </p:nvGrpSpPr>
              <p:grpSpPr>
                <a:xfrm>
                  <a:off x="6700520" y="1554957"/>
                  <a:ext cx="1056640" cy="528320"/>
                  <a:chOff x="8117840" y="4104640"/>
                  <a:chExt cx="1056640" cy="528320"/>
                </a:xfrm>
              </p:grpSpPr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7C024F27-4F3F-0CA3-7B7E-AD20443997FA}"/>
                      </a:ext>
                    </a:extLst>
                  </p:cNvPr>
                  <p:cNvSpPr/>
                  <p:nvPr/>
                </p:nvSpPr>
                <p:spPr>
                  <a:xfrm>
                    <a:off x="8117840" y="4104640"/>
                    <a:ext cx="528320" cy="528320"/>
                  </a:xfrm>
                  <a:prstGeom prst="rect">
                    <a:avLst/>
                  </a:prstGeom>
                  <a:solidFill>
                    <a:schemeClr val="accent4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4</a:t>
                    </a:r>
                  </a:p>
                </p:txBody>
              </p:sp>
              <p:sp>
                <p:nvSpPr>
                  <p:cNvPr id="64" name="Rectangle 63">
                    <a:extLst>
                      <a:ext uri="{FF2B5EF4-FFF2-40B4-BE49-F238E27FC236}">
                        <a16:creationId xmlns:a16="http://schemas.microsoft.com/office/drawing/2014/main" id="{C4575EF2-3F12-3D86-8800-9B64A00E8B07}"/>
                      </a:ext>
                    </a:extLst>
                  </p:cNvPr>
                  <p:cNvSpPr/>
                  <p:nvPr/>
                </p:nvSpPr>
                <p:spPr>
                  <a:xfrm>
                    <a:off x="8646160" y="4104640"/>
                    <a:ext cx="528320" cy="52832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53" name="Group 52">
                  <a:extLst>
                    <a:ext uri="{FF2B5EF4-FFF2-40B4-BE49-F238E27FC236}">
                      <a16:creationId xmlns:a16="http://schemas.microsoft.com/office/drawing/2014/main" id="{C9205F85-D4E3-6D5A-ED6F-96E7A47E19D8}"/>
                    </a:ext>
                  </a:extLst>
                </p:cNvPr>
                <p:cNvGrpSpPr/>
                <p:nvPr/>
              </p:nvGrpSpPr>
              <p:grpSpPr>
                <a:xfrm>
                  <a:off x="8021320" y="1554957"/>
                  <a:ext cx="1056640" cy="528320"/>
                  <a:chOff x="8117840" y="4104640"/>
                  <a:chExt cx="1056640" cy="528320"/>
                </a:xfrm>
              </p:grpSpPr>
              <p:sp>
                <p:nvSpPr>
                  <p:cNvPr id="61" name="Rectangle 60">
                    <a:extLst>
                      <a:ext uri="{FF2B5EF4-FFF2-40B4-BE49-F238E27FC236}">
                        <a16:creationId xmlns:a16="http://schemas.microsoft.com/office/drawing/2014/main" id="{CCC14B3F-9C46-BEB7-EE0B-568CDEC2C1C1}"/>
                      </a:ext>
                    </a:extLst>
                  </p:cNvPr>
                  <p:cNvSpPr/>
                  <p:nvPr/>
                </p:nvSpPr>
                <p:spPr>
                  <a:xfrm>
                    <a:off x="8117840" y="4104640"/>
                    <a:ext cx="528320" cy="528320"/>
                  </a:xfrm>
                  <a:prstGeom prst="rect">
                    <a:avLst/>
                  </a:prstGeom>
                  <a:solidFill>
                    <a:schemeClr val="accent4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7</a:t>
                    </a:r>
                  </a:p>
                </p:txBody>
              </p:sp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B655EB0E-904B-E626-1C1B-257F07E16B7F}"/>
                      </a:ext>
                    </a:extLst>
                  </p:cNvPr>
                  <p:cNvSpPr/>
                  <p:nvPr/>
                </p:nvSpPr>
                <p:spPr>
                  <a:xfrm>
                    <a:off x="8646160" y="4104640"/>
                    <a:ext cx="528320" cy="52832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54" name="Group 53">
                  <a:extLst>
                    <a:ext uri="{FF2B5EF4-FFF2-40B4-BE49-F238E27FC236}">
                      <a16:creationId xmlns:a16="http://schemas.microsoft.com/office/drawing/2014/main" id="{8593EBB9-2883-EDE2-EBF4-3D99A2F56EBE}"/>
                    </a:ext>
                  </a:extLst>
                </p:cNvPr>
                <p:cNvGrpSpPr/>
                <p:nvPr/>
              </p:nvGrpSpPr>
              <p:grpSpPr>
                <a:xfrm>
                  <a:off x="2727960" y="1554957"/>
                  <a:ext cx="1056640" cy="528320"/>
                  <a:chOff x="8117840" y="4104640"/>
                  <a:chExt cx="1056640" cy="528320"/>
                </a:xfrm>
              </p:grpSpPr>
              <p:sp>
                <p:nvSpPr>
                  <p:cNvPr id="59" name="Rectangle 58">
                    <a:extLst>
                      <a:ext uri="{FF2B5EF4-FFF2-40B4-BE49-F238E27FC236}">
                        <a16:creationId xmlns:a16="http://schemas.microsoft.com/office/drawing/2014/main" id="{9E9F3255-345C-D127-EFBC-36E979E54E85}"/>
                      </a:ext>
                    </a:extLst>
                  </p:cNvPr>
                  <p:cNvSpPr/>
                  <p:nvPr/>
                </p:nvSpPr>
                <p:spPr>
                  <a:xfrm>
                    <a:off x="8117840" y="4104640"/>
                    <a:ext cx="528320" cy="528320"/>
                  </a:xfrm>
                  <a:prstGeom prst="rect">
                    <a:avLst/>
                  </a:prstGeom>
                  <a:solidFill>
                    <a:schemeClr val="accent4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5</a:t>
                    </a:r>
                  </a:p>
                </p:txBody>
              </p:sp>
              <p:sp>
                <p:nvSpPr>
                  <p:cNvPr id="60" name="Rectangle 59">
                    <a:extLst>
                      <a:ext uri="{FF2B5EF4-FFF2-40B4-BE49-F238E27FC236}">
                        <a16:creationId xmlns:a16="http://schemas.microsoft.com/office/drawing/2014/main" id="{D7A908E1-A093-ACD5-720A-493AA109FA04}"/>
                      </a:ext>
                    </a:extLst>
                  </p:cNvPr>
                  <p:cNvSpPr/>
                  <p:nvPr/>
                </p:nvSpPr>
                <p:spPr>
                  <a:xfrm>
                    <a:off x="8646160" y="4104640"/>
                    <a:ext cx="528320" cy="52832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cxnSp>
              <p:nvCxnSpPr>
                <p:cNvPr id="55" name="Straight Arrow Connector 54">
                  <a:extLst>
                    <a:ext uri="{FF2B5EF4-FFF2-40B4-BE49-F238E27FC236}">
                      <a16:creationId xmlns:a16="http://schemas.microsoft.com/office/drawing/2014/main" id="{126E92FB-6EF3-8483-F773-7D888526E79A}"/>
                    </a:ext>
                  </a:extLst>
                </p:cNvPr>
                <p:cNvCxnSpPr>
                  <a:cxnSpLocks/>
                  <a:endCxn id="67" idx="1"/>
                </p:cNvCxnSpPr>
                <p:nvPr/>
              </p:nvCxnSpPr>
              <p:spPr>
                <a:xfrm>
                  <a:off x="3520440" y="1819117"/>
                  <a:ext cx="533400" cy="0"/>
                </a:xfrm>
                <a:prstGeom prst="straightConnector1">
                  <a:avLst/>
                </a:prstGeom>
                <a:ln w="5715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Arrow Connector 55">
                  <a:extLst>
                    <a:ext uri="{FF2B5EF4-FFF2-40B4-BE49-F238E27FC236}">
                      <a16:creationId xmlns:a16="http://schemas.microsoft.com/office/drawing/2014/main" id="{09A4E9C3-EEA2-F828-AFEC-0BEE50942340}"/>
                    </a:ext>
                  </a:extLst>
                </p:cNvPr>
                <p:cNvCxnSpPr>
                  <a:cxnSpLocks/>
                  <a:endCxn id="65" idx="1"/>
                </p:cNvCxnSpPr>
                <p:nvPr/>
              </p:nvCxnSpPr>
              <p:spPr>
                <a:xfrm>
                  <a:off x="4846320" y="1819117"/>
                  <a:ext cx="528320" cy="0"/>
                </a:xfrm>
                <a:prstGeom prst="straightConnector1">
                  <a:avLst/>
                </a:prstGeom>
                <a:ln w="5715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883D5B05-B09F-AB8A-1F45-CEC5FC9662B2}"/>
                    </a:ext>
                  </a:extLst>
                </p:cNvPr>
                <p:cNvCxnSpPr>
                  <a:cxnSpLocks/>
                  <a:endCxn id="63" idx="1"/>
                </p:cNvCxnSpPr>
                <p:nvPr/>
              </p:nvCxnSpPr>
              <p:spPr>
                <a:xfrm>
                  <a:off x="6167120" y="1819117"/>
                  <a:ext cx="533400" cy="0"/>
                </a:xfrm>
                <a:prstGeom prst="straightConnector1">
                  <a:avLst/>
                </a:prstGeom>
                <a:ln w="5715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042A1E3B-95E3-35F1-171E-6F447EBE9375}"/>
                    </a:ext>
                  </a:extLst>
                </p:cNvPr>
                <p:cNvCxnSpPr>
                  <a:cxnSpLocks/>
                  <a:endCxn id="61" idx="1"/>
                </p:cNvCxnSpPr>
                <p:nvPr/>
              </p:nvCxnSpPr>
              <p:spPr>
                <a:xfrm>
                  <a:off x="7493000" y="1819117"/>
                  <a:ext cx="528320" cy="0"/>
                </a:xfrm>
                <a:prstGeom prst="straightConnector1">
                  <a:avLst/>
                </a:prstGeom>
                <a:ln w="5715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3335FA6-76B1-CCF7-4C91-422A141A1EF0}"/>
                  </a:ext>
                </a:extLst>
              </p:cNvPr>
              <p:cNvSpPr/>
              <p:nvPr/>
            </p:nvSpPr>
            <p:spPr>
              <a:xfrm>
                <a:off x="838200" y="1554957"/>
                <a:ext cx="949960" cy="528320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front</a:t>
                </a:r>
              </a:p>
            </p:txBody>
          </p: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ECF54B28-6BF2-FC47-CD2C-90BBBEFFD192}"/>
                  </a:ext>
                </a:extLst>
              </p:cNvPr>
              <p:cNvCxnSpPr>
                <a:cxnSpLocks/>
                <a:stCxn id="46" idx="3"/>
                <a:endCxn id="59" idx="1"/>
              </p:cNvCxnSpPr>
              <p:nvPr/>
            </p:nvCxnSpPr>
            <p:spPr>
              <a:xfrm>
                <a:off x="1788160" y="1819117"/>
                <a:ext cx="939800" cy="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A654E5CD-18F7-9AB0-1EEC-07C57D68632C}"/>
                  </a:ext>
                </a:extLst>
              </p:cNvPr>
              <p:cNvSpPr/>
              <p:nvPr/>
            </p:nvSpPr>
            <p:spPr>
              <a:xfrm>
                <a:off x="9083592" y="2754728"/>
                <a:ext cx="949960" cy="528320"/>
              </a:xfrm>
              <a:prstGeom prst="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back</a:t>
                </a:r>
              </a:p>
            </p:txBody>
          </p: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D6A62AFE-4A10-86EB-D2D3-1E06DD748BC3}"/>
                  </a:ext>
                </a:extLst>
              </p:cNvPr>
              <p:cNvCxnSpPr>
                <a:cxnSpLocks/>
                <a:stCxn id="48" idx="0"/>
                <a:endCxn id="41" idx="2"/>
              </p:cNvCxnSpPr>
              <p:nvPr/>
            </p:nvCxnSpPr>
            <p:spPr>
              <a:xfrm flipH="1" flipV="1">
                <a:off x="9552940" y="2083277"/>
                <a:ext cx="5632" cy="671451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C99F3EB0-D1C2-0E41-35E7-F338C241AB55}"/>
                </a:ext>
              </a:extLst>
            </p:cNvPr>
            <p:cNvGrpSpPr/>
            <p:nvPr/>
          </p:nvGrpSpPr>
          <p:grpSpPr>
            <a:xfrm>
              <a:off x="9417989" y="3667532"/>
              <a:ext cx="1056640" cy="528320"/>
              <a:chOff x="6167120" y="4774723"/>
              <a:chExt cx="1056640" cy="528320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8D686E71-3E2E-AB16-4E03-ADA68C9153A7}"/>
                  </a:ext>
                </a:extLst>
              </p:cNvPr>
              <p:cNvSpPr/>
              <p:nvPr/>
            </p:nvSpPr>
            <p:spPr>
              <a:xfrm>
                <a:off x="6167120" y="4774723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>
                    <a:solidFill>
                      <a:prstClr val="black"/>
                    </a:solidFill>
                    <a:latin typeface="Calibri" panose="020F0502020204030204"/>
                  </a:rPr>
                  <a:t>3</a:t>
                </a: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71EAF16C-6647-BB46-1495-9D0B4E2F1F67}"/>
                  </a:ext>
                </a:extLst>
              </p:cNvPr>
              <p:cNvSpPr/>
              <p:nvPr/>
            </p:nvSpPr>
            <p:spPr>
              <a:xfrm>
                <a:off x="6695440" y="4774723"/>
                <a:ext cx="528320" cy="52832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2BDE58BB-12BF-C69A-F295-9ED0D4608753}"/>
                </a:ext>
              </a:extLst>
            </p:cNvPr>
            <p:cNvCxnSpPr>
              <a:cxnSpLocks/>
              <a:endCxn id="41" idx="1"/>
            </p:cNvCxnSpPr>
            <p:nvPr/>
          </p:nvCxnSpPr>
          <p:spPr>
            <a:xfrm>
              <a:off x="8889669" y="3931692"/>
              <a:ext cx="528320" cy="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8854CC38-F98A-B575-A982-6B5CF9B766EF}"/>
              </a:ext>
            </a:extLst>
          </p:cNvPr>
          <p:cNvSpPr txBox="1"/>
          <p:nvPr/>
        </p:nvSpPr>
        <p:spPr>
          <a:xfrm>
            <a:off x="4112895" y="1598039"/>
            <a:ext cx="3966210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enqueue(x){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last = new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ListNode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(x);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kumimoji="0" lang="en-US" sz="160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back.next</a:t>
            </a:r>
            <a:r>
              <a:rPr kumimoji="0" lang="en-US" sz="1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= last;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kumimoji="0" lang="en-US" sz="1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back = last;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442494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ED237-BF8D-933F-D82D-9C9338D3A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7AF59-6A20-9E2D-2A26-6F389F061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Dequeue Algorithm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E9CDAF-B301-5318-1252-ECD0E37EF43E}"/>
              </a:ext>
            </a:extLst>
          </p:cNvPr>
          <p:cNvSpPr txBox="1"/>
          <p:nvPr/>
        </p:nvSpPr>
        <p:spPr>
          <a:xfrm>
            <a:off x="4112895" y="1598039"/>
            <a:ext cx="477677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dequeue(){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first = </a:t>
            </a:r>
            <a:r>
              <a:rPr lang="en-US" sz="1600" dirty="0" err="1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front.value</a:t>
            </a: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;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front = </a:t>
            </a:r>
            <a:r>
              <a:rPr lang="en-US" sz="1600" dirty="0" err="1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front.next</a:t>
            </a: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;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if (front == null) {back = null;}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return first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}</a:t>
            </a:r>
          </a:p>
        </p:txBody>
      </p:sp>
      <p:grpSp>
        <p:nvGrpSpPr>
          <p:cNvPr id="58" name="Group 57" descr="An illustration of a linked queue data structure. The elements of the list are contained in node objects. Each node object has a reference to another node object to establish a sequence of elements. There is also a reference called &quot;front&quot; that points to the first node in the queue, and a reference called &quot;back&quot; that points to the last node in the queue.">
            <a:extLst>
              <a:ext uri="{FF2B5EF4-FFF2-40B4-BE49-F238E27FC236}">
                <a16:creationId xmlns:a16="http://schemas.microsoft.com/office/drawing/2014/main" id="{80D4C022-E05C-04D4-0689-29C5FC5EF8DA}"/>
              </a:ext>
            </a:extLst>
          </p:cNvPr>
          <p:cNvGrpSpPr/>
          <p:nvPr/>
        </p:nvGrpSpPr>
        <p:grpSpPr>
          <a:xfrm>
            <a:off x="967409" y="3667532"/>
            <a:ext cx="8239760" cy="1718152"/>
            <a:chOff x="838200" y="1554957"/>
            <a:chExt cx="8239760" cy="1718152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BD1CEA3A-5DE6-AF57-F369-307C8708D557}"/>
                </a:ext>
              </a:extLst>
            </p:cNvPr>
            <p:cNvGrpSpPr/>
            <p:nvPr/>
          </p:nvGrpSpPr>
          <p:grpSpPr>
            <a:xfrm>
              <a:off x="2727960" y="1554957"/>
              <a:ext cx="6350000" cy="528320"/>
              <a:chOff x="2727960" y="1554957"/>
              <a:chExt cx="6350000" cy="528320"/>
            </a:xfrm>
          </p:grpSpPr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5F7BDAB4-E850-6F0A-4021-6658F013B6FD}"/>
                  </a:ext>
                </a:extLst>
              </p:cNvPr>
              <p:cNvGrpSpPr/>
              <p:nvPr/>
            </p:nvGrpSpPr>
            <p:grpSpPr>
              <a:xfrm>
                <a:off x="4053840" y="1554957"/>
                <a:ext cx="1056640" cy="528320"/>
                <a:chOff x="8117840" y="4104640"/>
                <a:chExt cx="1056640" cy="528320"/>
              </a:xfrm>
            </p:grpSpPr>
            <p:sp>
              <p:nvSpPr>
                <p:cNvPr id="81" name="Rectangle 80">
                  <a:extLst>
                    <a:ext uri="{FF2B5EF4-FFF2-40B4-BE49-F238E27FC236}">
                      <a16:creationId xmlns:a16="http://schemas.microsoft.com/office/drawing/2014/main" id="{4E13F62A-CBD7-FB98-D5B7-9049C63056F9}"/>
                    </a:ext>
                  </a:extLst>
                </p:cNvPr>
                <p:cNvSpPr/>
                <p:nvPr/>
              </p:nvSpPr>
              <p:spPr>
                <a:xfrm>
                  <a:off x="8117840" y="4104640"/>
                  <a:ext cx="528320" cy="52832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8</a:t>
                  </a:r>
                </a:p>
              </p:txBody>
            </p:sp>
            <p:sp>
              <p:nvSpPr>
                <p:cNvPr id="82" name="Rectangle 81">
                  <a:extLst>
                    <a:ext uri="{FF2B5EF4-FFF2-40B4-BE49-F238E27FC236}">
                      <a16:creationId xmlns:a16="http://schemas.microsoft.com/office/drawing/2014/main" id="{2876C026-4BF9-10C9-73BA-DF529DCB421A}"/>
                    </a:ext>
                  </a:extLst>
                </p:cNvPr>
                <p:cNvSpPr/>
                <p:nvPr/>
              </p:nvSpPr>
              <p:spPr>
                <a:xfrm>
                  <a:off x="8646160" y="4104640"/>
                  <a:ext cx="528320" cy="52832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65" name="Group 64">
                <a:extLst>
                  <a:ext uri="{FF2B5EF4-FFF2-40B4-BE49-F238E27FC236}">
                    <a16:creationId xmlns:a16="http://schemas.microsoft.com/office/drawing/2014/main" id="{010EFD5A-D3E8-9F4F-39CA-193DD80CDB4E}"/>
                  </a:ext>
                </a:extLst>
              </p:cNvPr>
              <p:cNvGrpSpPr/>
              <p:nvPr/>
            </p:nvGrpSpPr>
            <p:grpSpPr>
              <a:xfrm>
                <a:off x="5374640" y="1554957"/>
                <a:ext cx="1056640" cy="528320"/>
                <a:chOff x="8117840" y="4104640"/>
                <a:chExt cx="1056640" cy="528320"/>
              </a:xfrm>
            </p:grpSpPr>
            <p:sp>
              <p:nvSpPr>
                <p:cNvPr id="79" name="Rectangle 78">
                  <a:extLst>
                    <a:ext uri="{FF2B5EF4-FFF2-40B4-BE49-F238E27FC236}">
                      <a16:creationId xmlns:a16="http://schemas.microsoft.com/office/drawing/2014/main" id="{476BA4D3-AAF2-96A5-6B75-1E06B4563A8C}"/>
                    </a:ext>
                  </a:extLst>
                </p:cNvPr>
                <p:cNvSpPr/>
                <p:nvPr/>
              </p:nvSpPr>
              <p:spPr>
                <a:xfrm>
                  <a:off x="8117840" y="4104640"/>
                  <a:ext cx="528320" cy="52832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3</a:t>
                  </a:r>
                </a:p>
              </p:txBody>
            </p:sp>
            <p:sp>
              <p:nvSpPr>
                <p:cNvPr id="80" name="Rectangle 79">
                  <a:extLst>
                    <a:ext uri="{FF2B5EF4-FFF2-40B4-BE49-F238E27FC236}">
                      <a16:creationId xmlns:a16="http://schemas.microsoft.com/office/drawing/2014/main" id="{35EC24AB-28BF-F140-5062-0C202CA87D83}"/>
                    </a:ext>
                  </a:extLst>
                </p:cNvPr>
                <p:cNvSpPr/>
                <p:nvPr/>
              </p:nvSpPr>
              <p:spPr>
                <a:xfrm>
                  <a:off x="8646160" y="4104640"/>
                  <a:ext cx="528320" cy="52832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66" name="Group 65">
                <a:extLst>
                  <a:ext uri="{FF2B5EF4-FFF2-40B4-BE49-F238E27FC236}">
                    <a16:creationId xmlns:a16="http://schemas.microsoft.com/office/drawing/2014/main" id="{08F8B311-AF23-F866-8D32-B277EB570148}"/>
                  </a:ext>
                </a:extLst>
              </p:cNvPr>
              <p:cNvGrpSpPr/>
              <p:nvPr/>
            </p:nvGrpSpPr>
            <p:grpSpPr>
              <a:xfrm>
                <a:off x="6700520" y="1554957"/>
                <a:ext cx="1056640" cy="528320"/>
                <a:chOff x="8117840" y="4104640"/>
                <a:chExt cx="1056640" cy="528320"/>
              </a:xfrm>
            </p:grpSpPr>
            <p:sp>
              <p:nvSpPr>
                <p:cNvPr id="77" name="Rectangle 76">
                  <a:extLst>
                    <a:ext uri="{FF2B5EF4-FFF2-40B4-BE49-F238E27FC236}">
                      <a16:creationId xmlns:a16="http://schemas.microsoft.com/office/drawing/2014/main" id="{675C71E2-10AA-B5A1-7C2A-B42DE9BB0AC7}"/>
                    </a:ext>
                  </a:extLst>
                </p:cNvPr>
                <p:cNvSpPr/>
                <p:nvPr/>
              </p:nvSpPr>
              <p:spPr>
                <a:xfrm>
                  <a:off x="8117840" y="4104640"/>
                  <a:ext cx="528320" cy="52832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4</a:t>
                  </a:r>
                </a:p>
              </p:txBody>
            </p:sp>
            <p:sp>
              <p:nvSpPr>
                <p:cNvPr id="78" name="Rectangle 77">
                  <a:extLst>
                    <a:ext uri="{FF2B5EF4-FFF2-40B4-BE49-F238E27FC236}">
                      <a16:creationId xmlns:a16="http://schemas.microsoft.com/office/drawing/2014/main" id="{9AFA03E6-554B-B5A4-EF8D-635D872E2C90}"/>
                    </a:ext>
                  </a:extLst>
                </p:cNvPr>
                <p:cNvSpPr/>
                <p:nvPr/>
              </p:nvSpPr>
              <p:spPr>
                <a:xfrm>
                  <a:off x="8646160" y="4104640"/>
                  <a:ext cx="528320" cy="52832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E79EC934-EDAD-E267-C819-B6C52A0482F9}"/>
                  </a:ext>
                </a:extLst>
              </p:cNvPr>
              <p:cNvGrpSpPr/>
              <p:nvPr/>
            </p:nvGrpSpPr>
            <p:grpSpPr>
              <a:xfrm>
                <a:off x="8021320" y="1554957"/>
                <a:ext cx="1056640" cy="528320"/>
                <a:chOff x="8117840" y="4104640"/>
                <a:chExt cx="1056640" cy="528320"/>
              </a:xfrm>
            </p:grpSpPr>
            <p:sp>
              <p:nvSpPr>
                <p:cNvPr id="75" name="Rectangle 74">
                  <a:extLst>
                    <a:ext uri="{FF2B5EF4-FFF2-40B4-BE49-F238E27FC236}">
                      <a16:creationId xmlns:a16="http://schemas.microsoft.com/office/drawing/2014/main" id="{023EA3E3-A790-30C7-4805-5898EC74650E}"/>
                    </a:ext>
                  </a:extLst>
                </p:cNvPr>
                <p:cNvSpPr/>
                <p:nvPr/>
              </p:nvSpPr>
              <p:spPr>
                <a:xfrm>
                  <a:off x="8117840" y="4104640"/>
                  <a:ext cx="528320" cy="52832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7</a:t>
                  </a:r>
                </a:p>
              </p:txBody>
            </p:sp>
            <p:sp>
              <p:nvSpPr>
                <p:cNvPr id="76" name="Rectangle 75">
                  <a:extLst>
                    <a:ext uri="{FF2B5EF4-FFF2-40B4-BE49-F238E27FC236}">
                      <a16:creationId xmlns:a16="http://schemas.microsoft.com/office/drawing/2014/main" id="{004B8D03-7844-31F8-51DE-208FBAE7C9FE}"/>
                    </a:ext>
                  </a:extLst>
                </p:cNvPr>
                <p:cNvSpPr/>
                <p:nvPr/>
              </p:nvSpPr>
              <p:spPr>
                <a:xfrm>
                  <a:off x="8646160" y="4104640"/>
                  <a:ext cx="528320" cy="52832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68" name="Group 67">
                <a:extLst>
                  <a:ext uri="{FF2B5EF4-FFF2-40B4-BE49-F238E27FC236}">
                    <a16:creationId xmlns:a16="http://schemas.microsoft.com/office/drawing/2014/main" id="{22798847-0194-2AC4-8AE9-042C5473C1D2}"/>
                  </a:ext>
                </a:extLst>
              </p:cNvPr>
              <p:cNvGrpSpPr/>
              <p:nvPr/>
            </p:nvGrpSpPr>
            <p:grpSpPr>
              <a:xfrm>
                <a:off x="2727960" y="1554957"/>
                <a:ext cx="1056640" cy="528320"/>
                <a:chOff x="8117840" y="4104640"/>
                <a:chExt cx="1056640" cy="528320"/>
              </a:xfrm>
            </p:grpSpPr>
            <p:sp>
              <p:nvSpPr>
                <p:cNvPr id="73" name="Rectangle 72">
                  <a:extLst>
                    <a:ext uri="{FF2B5EF4-FFF2-40B4-BE49-F238E27FC236}">
                      <a16:creationId xmlns:a16="http://schemas.microsoft.com/office/drawing/2014/main" id="{72AC5CA4-4363-6D70-16D7-20F6FCC545DE}"/>
                    </a:ext>
                  </a:extLst>
                </p:cNvPr>
                <p:cNvSpPr/>
                <p:nvPr/>
              </p:nvSpPr>
              <p:spPr>
                <a:xfrm>
                  <a:off x="8117840" y="4104640"/>
                  <a:ext cx="528320" cy="52832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5</a:t>
                  </a:r>
                </a:p>
              </p:txBody>
            </p:sp>
            <p:sp>
              <p:nvSpPr>
                <p:cNvPr id="74" name="Rectangle 73">
                  <a:extLst>
                    <a:ext uri="{FF2B5EF4-FFF2-40B4-BE49-F238E27FC236}">
                      <a16:creationId xmlns:a16="http://schemas.microsoft.com/office/drawing/2014/main" id="{CBBFCDEA-E716-F9AF-4E93-0F15E6AE9DD9}"/>
                    </a:ext>
                  </a:extLst>
                </p:cNvPr>
                <p:cNvSpPr/>
                <p:nvPr/>
              </p:nvSpPr>
              <p:spPr>
                <a:xfrm>
                  <a:off x="8646160" y="4104640"/>
                  <a:ext cx="528320" cy="52832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cxnSp>
            <p:nvCxnSpPr>
              <p:cNvPr id="69" name="Straight Arrow Connector 68">
                <a:extLst>
                  <a:ext uri="{FF2B5EF4-FFF2-40B4-BE49-F238E27FC236}">
                    <a16:creationId xmlns:a16="http://schemas.microsoft.com/office/drawing/2014/main" id="{D2285A4F-8482-C3B1-70CA-A01C9DFAC315}"/>
                  </a:ext>
                </a:extLst>
              </p:cNvPr>
              <p:cNvCxnSpPr>
                <a:cxnSpLocks/>
                <a:endCxn id="81" idx="1"/>
              </p:cNvCxnSpPr>
              <p:nvPr/>
            </p:nvCxnSpPr>
            <p:spPr>
              <a:xfrm>
                <a:off x="3520440" y="1819117"/>
                <a:ext cx="533400" cy="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Arrow Connector 69">
                <a:extLst>
                  <a:ext uri="{FF2B5EF4-FFF2-40B4-BE49-F238E27FC236}">
                    <a16:creationId xmlns:a16="http://schemas.microsoft.com/office/drawing/2014/main" id="{BBA4B42D-D4D7-50DB-A1C0-C4C0AE93F964}"/>
                  </a:ext>
                </a:extLst>
              </p:cNvPr>
              <p:cNvCxnSpPr>
                <a:cxnSpLocks/>
                <a:endCxn id="79" idx="1"/>
              </p:cNvCxnSpPr>
              <p:nvPr/>
            </p:nvCxnSpPr>
            <p:spPr>
              <a:xfrm>
                <a:off x="4846320" y="1819117"/>
                <a:ext cx="528320" cy="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Arrow Connector 70">
                <a:extLst>
                  <a:ext uri="{FF2B5EF4-FFF2-40B4-BE49-F238E27FC236}">
                    <a16:creationId xmlns:a16="http://schemas.microsoft.com/office/drawing/2014/main" id="{065DD2FB-DE2F-B712-4A5C-261123A1E6EA}"/>
                  </a:ext>
                </a:extLst>
              </p:cNvPr>
              <p:cNvCxnSpPr>
                <a:cxnSpLocks/>
                <a:endCxn id="77" idx="1"/>
              </p:cNvCxnSpPr>
              <p:nvPr/>
            </p:nvCxnSpPr>
            <p:spPr>
              <a:xfrm>
                <a:off x="6167120" y="1819117"/>
                <a:ext cx="533400" cy="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Arrow Connector 71">
                <a:extLst>
                  <a:ext uri="{FF2B5EF4-FFF2-40B4-BE49-F238E27FC236}">
                    <a16:creationId xmlns:a16="http://schemas.microsoft.com/office/drawing/2014/main" id="{69055282-021E-E910-8181-CE35428794BE}"/>
                  </a:ext>
                </a:extLst>
              </p:cNvPr>
              <p:cNvCxnSpPr>
                <a:cxnSpLocks/>
                <a:endCxn id="75" idx="1"/>
              </p:cNvCxnSpPr>
              <p:nvPr/>
            </p:nvCxnSpPr>
            <p:spPr>
              <a:xfrm>
                <a:off x="7493000" y="1819117"/>
                <a:ext cx="528320" cy="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E60D32C1-1FF6-B151-152B-AA60BB590D04}"/>
                </a:ext>
              </a:extLst>
            </p:cNvPr>
            <p:cNvSpPr/>
            <p:nvPr/>
          </p:nvSpPr>
          <p:spPr>
            <a:xfrm>
              <a:off x="838200" y="1554957"/>
              <a:ext cx="949960" cy="528320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front</a:t>
              </a:r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E62FA125-A439-ED3A-61C6-4E2C2479D1B0}"/>
                </a:ext>
              </a:extLst>
            </p:cNvPr>
            <p:cNvCxnSpPr>
              <a:cxnSpLocks/>
              <a:stCxn id="60" idx="3"/>
              <a:endCxn id="73" idx="1"/>
            </p:cNvCxnSpPr>
            <p:nvPr/>
          </p:nvCxnSpPr>
          <p:spPr>
            <a:xfrm>
              <a:off x="1788160" y="1819117"/>
              <a:ext cx="939800" cy="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6721D640-D3D8-621E-0900-4E73BF9C6AD5}"/>
                </a:ext>
              </a:extLst>
            </p:cNvPr>
            <p:cNvSpPr/>
            <p:nvPr/>
          </p:nvSpPr>
          <p:spPr>
            <a:xfrm>
              <a:off x="7810500" y="2744789"/>
              <a:ext cx="949960" cy="52832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back</a:t>
              </a: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455309E5-2AA6-A19D-481D-CBABE5857C8A}"/>
                </a:ext>
              </a:extLst>
            </p:cNvPr>
            <p:cNvCxnSpPr>
              <a:cxnSpLocks/>
              <a:stCxn id="62" idx="0"/>
              <a:endCxn id="75" idx="2"/>
            </p:cNvCxnSpPr>
            <p:nvPr/>
          </p:nvCxnSpPr>
          <p:spPr>
            <a:xfrm flipV="1">
              <a:off x="8285480" y="2083277"/>
              <a:ext cx="0" cy="661512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047816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B6ED5-66E9-F307-43AD-D26016855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7F3B1A-C3AD-A39B-794D-2C9C400A4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dequeue()</a:t>
            </a:r>
            <a:r>
              <a:rPr lang="en-US" dirty="0"/>
              <a:t> – line 1 of 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EF62FB6-7529-9997-5DC7-CDA523D4D87B}"/>
              </a:ext>
            </a:extLst>
          </p:cNvPr>
          <p:cNvSpPr txBox="1"/>
          <p:nvPr/>
        </p:nvSpPr>
        <p:spPr>
          <a:xfrm>
            <a:off x="4112895" y="1598039"/>
            <a:ext cx="477677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dequeue(){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600" b="1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first = </a:t>
            </a:r>
            <a:r>
              <a:rPr lang="en-US" sz="1600" b="1" dirty="0" err="1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front.value</a:t>
            </a:r>
            <a:r>
              <a:rPr lang="en-US" sz="1600" b="1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;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front = </a:t>
            </a:r>
            <a:r>
              <a:rPr lang="en-US" sz="1600" dirty="0" err="1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front.next</a:t>
            </a: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;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if (front == null) {back = null;}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return first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}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9D658BE-49AD-9CF2-23CC-6D6EA2337589}"/>
              </a:ext>
            </a:extLst>
          </p:cNvPr>
          <p:cNvGrpSpPr/>
          <p:nvPr/>
        </p:nvGrpSpPr>
        <p:grpSpPr>
          <a:xfrm>
            <a:off x="967409" y="3667532"/>
            <a:ext cx="8239760" cy="2246472"/>
            <a:chOff x="967409" y="3667532"/>
            <a:chExt cx="8239760" cy="2246472"/>
          </a:xfrm>
        </p:grpSpPr>
        <p:grpSp>
          <p:nvGrpSpPr>
            <p:cNvPr id="58" name="Group 57" descr="An illustration of a linked queue data structure. The elements of the list are contained in node objects. Each node object has a reference to another node object to establish a sequence of elements. There is also a reference called &quot;front&quot; that points to the first node in the queue, and a reference called &quot;back&quot; that points to the last node in the queue.">
              <a:extLst>
                <a:ext uri="{FF2B5EF4-FFF2-40B4-BE49-F238E27FC236}">
                  <a16:creationId xmlns:a16="http://schemas.microsoft.com/office/drawing/2014/main" id="{0A4523D9-4CEE-CFA5-AE77-0A2B1FF17E5E}"/>
                </a:ext>
              </a:extLst>
            </p:cNvPr>
            <p:cNvGrpSpPr/>
            <p:nvPr/>
          </p:nvGrpSpPr>
          <p:grpSpPr>
            <a:xfrm>
              <a:off x="967409" y="3667532"/>
              <a:ext cx="8239760" cy="1718152"/>
              <a:chOff x="838200" y="1554957"/>
              <a:chExt cx="8239760" cy="1718152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8D21CD40-3E91-B4EB-699D-B6AF18E768ED}"/>
                  </a:ext>
                </a:extLst>
              </p:cNvPr>
              <p:cNvGrpSpPr/>
              <p:nvPr/>
            </p:nvGrpSpPr>
            <p:grpSpPr>
              <a:xfrm>
                <a:off x="2727960" y="1554957"/>
                <a:ext cx="6350000" cy="528320"/>
                <a:chOff x="2727960" y="1554957"/>
                <a:chExt cx="6350000" cy="528320"/>
              </a:xfrm>
            </p:grpSpPr>
            <p:grpSp>
              <p:nvGrpSpPr>
                <p:cNvPr id="64" name="Group 63">
                  <a:extLst>
                    <a:ext uri="{FF2B5EF4-FFF2-40B4-BE49-F238E27FC236}">
                      <a16:creationId xmlns:a16="http://schemas.microsoft.com/office/drawing/2014/main" id="{80C86E8E-0A31-131A-8740-87449C171ACA}"/>
                    </a:ext>
                  </a:extLst>
                </p:cNvPr>
                <p:cNvGrpSpPr/>
                <p:nvPr/>
              </p:nvGrpSpPr>
              <p:grpSpPr>
                <a:xfrm>
                  <a:off x="4053840" y="1554957"/>
                  <a:ext cx="1056640" cy="528320"/>
                  <a:chOff x="8117840" y="4104640"/>
                  <a:chExt cx="1056640" cy="528320"/>
                </a:xfrm>
              </p:grpSpPr>
              <p:sp>
                <p:nvSpPr>
                  <p:cNvPr id="81" name="Rectangle 80">
                    <a:extLst>
                      <a:ext uri="{FF2B5EF4-FFF2-40B4-BE49-F238E27FC236}">
                        <a16:creationId xmlns:a16="http://schemas.microsoft.com/office/drawing/2014/main" id="{4093E229-2A99-D7FF-0C49-A1A5409EAEB0}"/>
                      </a:ext>
                    </a:extLst>
                  </p:cNvPr>
                  <p:cNvSpPr/>
                  <p:nvPr/>
                </p:nvSpPr>
                <p:spPr>
                  <a:xfrm>
                    <a:off x="8117840" y="4104640"/>
                    <a:ext cx="528320" cy="528320"/>
                  </a:xfrm>
                  <a:prstGeom prst="rect">
                    <a:avLst/>
                  </a:prstGeom>
                  <a:solidFill>
                    <a:schemeClr val="accent4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8</a:t>
                    </a:r>
                  </a:p>
                </p:txBody>
              </p:sp>
              <p:sp>
                <p:nvSpPr>
                  <p:cNvPr id="82" name="Rectangle 81">
                    <a:extLst>
                      <a:ext uri="{FF2B5EF4-FFF2-40B4-BE49-F238E27FC236}">
                        <a16:creationId xmlns:a16="http://schemas.microsoft.com/office/drawing/2014/main" id="{738DA128-BA71-65B5-38A8-D6CEDB24F3ED}"/>
                      </a:ext>
                    </a:extLst>
                  </p:cNvPr>
                  <p:cNvSpPr/>
                  <p:nvPr/>
                </p:nvSpPr>
                <p:spPr>
                  <a:xfrm>
                    <a:off x="8646160" y="4104640"/>
                    <a:ext cx="528320" cy="52832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65" name="Group 64">
                  <a:extLst>
                    <a:ext uri="{FF2B5EF4-FFF2-40B4-BE49-F238E27FC236}">
                      <a16:creationId xmlns:a16="http://schemas.microsoft.com/office/drawing/2014/main" id="{8F3CFEB4-3D0F-3B0D-5729-AD2D0F968C44}"/>
                    </a:ext>
                  </a:extLst>
                </p:cNvPr>
                <p:cNvGrpSpPr/>
                <p:nvPr/>
              </p:nvGrpSpPr>
              <p:grpSpPr>
                <a:xfrm>
                  <a:off x="5374640" y="1554957"/>
                  <a:ext cx="1056640" cy="528320"/>
                  <a:chOff x="8117840" y="4104640"/>
                  <a:chExt cx="1056640" cy="528320"/>
                </a:xfrm>
              </p:grpSpPr>
              <p:sp>
                <p:nvSpPr>
                  <p:cNvPr id="79" name="Rectangle 78">
                    <a:extLst>
                      <a:ext uri="{FF2B5EF4-FFF2-40B4-BE49-F238E27FC236}">
                        <a16:creationId xmlns:a16="http://schemas.microsoft.com/office/drawing/2014/main" id="{BA65E1CC-92CF-1B01-5FD8-9846A60ED89E}"/>
                      </a:ext>
                    </a:extLst>
                  </p:cNvPr>
                  <p:cNvSpPr/>
                  <p:nvPr/>
                </p:nvSpPr>
                <p:spPr>
                  <a:xfrm>
                    <a:off x="8117840" y="4104640"/>
                    <a:ext cx="528320" cy="528320"/>
                  </a:xfrm>
                  <a:prstGeom prst="rect">
                    <a:avLst/>
                  </a:prstGeom>
                  <a:solidFill>
                    <a:schemeClr val="accent4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3</a:t>
                    </a:r>
                  </a:p>
                </p:txBody>
              </p:sp>
              <p:sp>
                <p:nvSpPr>
                  <p:cNvPr id="80" name="Rectangle 79">
                    <a:extLst>
                      <a:ext uri="{FF2B5EF4-FFF2-40B4-BE49-F238E27FC236}">
                        <a16:creationId xmlns:a16="http://schemas.microsoft.com/office/drawing/2014/main" id="{E89D5864-7A7B-F60D-F133-42AB361DD857}"/>
                      </a:ext>
                    </a:extLst>
                  </p:cNvPr>
                  <p:cNvSpPr/>
                  <p:nvPr/>
                </p:nvSpPr>
                <p:spPr>
                  <a:xfrm>
                    <a:off x="8646160" y="4104640"/>
                    <a:ext cx="528320" cy="52832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66" name="Group 65">
                  <a:extLst>
                    <a:ext uri="{FF2B5EF4-FFF2-40B4-BE49-F238E27FC236}">
                      <a16:creationId xmlns:a16="http://schemas.microsoft.com/office/drawing/2014/main" id="{D7FD47E5-1DD6-740C-CB3D-6E7B445D4DB3}"/>
                    </a:ext>
                  </a:extLst>
                </p:cNvPr>
                <p:cNvGrpSpPr/>
                <p:nvPr/>
              </p:nvGrpSpPr>
              <p:grpSpPr>
                <a:xfrm>
                  <a:off x="6700520" y="1554957"/>
                  <a:ext cx="1056640" cy="528320"/>
                  <a:chOff x="8117840" y="4104640"/>
                  <a:chExt cx="1056640" cy="528320"/>
                </a:xfrm>
              </p:grpSpPr>
              <p:sp>
                <p:nvSpPr>
                  <p:cNvPr id="77" name="Rectangle 76">
                    <a:extLst>
                      <a:ext uri="{FF2B5EF4-FFF2-40B4-BE49-F238E27FC236}">
                        <a16:creationId xmlns:a16="http://schemas.microsoft.com/office/drawing/2014/main" id="{584B41D6-3500-3C24-3F3F-3FDCA262A9B8}"/>
                      </a:ext>
                    </a:extLst>
                  </p:cNvPr>
                  <p:cNvSpPr/>
                  <p:nvPr/>
                </p:nvSpPr>
                <p:spPr>
                  <a:xfrm>
                    <a:off x="8117840" y="4104640"/>
                    <a:ext cx="528320" cy="528320"/>
                  </a:xfrm>
                  <a:prstGeom prst="rect">
                    <a:avLst/>
                  </a:prstGeom>
                  <a:solidFill>
                    <a:schemeClr val="accent4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4</a:t>
                    </a:r>
                  </a:p>
                </p:txBody>
              </p:sp>
              <p:sp>
                <p:nvSpPr>
                  <p:cNvPr id="78" name="Rectangle 77">
                    <a:extLst>
                      <a:ext uri="{FF2B5EF4-FFF2-40B4-BE49-F238E27FC236}">
                        <a16:creationId xmlns:a16="http://schemas.microsoft.com/office/drawing/2014/main" id="{D69E6FCD-1554-4F41-4B84-D7E78FC1D80D}"/>
                      </a:ext>
                    </a:extLst>
                  </p:cNvPr>
                  <p:cNvSpPr/>
                  <p:nvPr/>
                </p:nvSpPr>
                <p:spPr>
                  <a:xfrm>
                    <a:off x="8646160" y="4104640"/>
                    <a:ext cx="528320" cy="52832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67" name="Group 66">
                  <a:extLst>
                    <a:ext uri="{FF2B5EF4-FFF2-40B4-BE49-F238E27FC236}">
                      <a16:creationId xmlns:a16="http://schemas.microsoft.com/office/drawing/2014/main" id="{9EBCE194-32F6-F001-7C10-0D86B3D4BFD3}"/>
                    </a:ext>
                  </a:extLst>
                </p:cNvPr>
                <p:cNvGrpSpPr/>
                <p:nvPr/>
              </p:nvGrpSpPr>
              <p:grpSpPr>
                <a:xfrm>
                  <a:off x="8021320" y="1554957"/>
                  <a:ext cx="1056640" cy="528320"/>
                  <a:chOff x="8117840" y="4104640"/>
                  <a:chExt cx="1056640" cy="528320"/>
                </a:xfrm>
              </p:grpSpPr>
              <p:sp>
                <p:nvSpPr>
                  <p:cNvPr id="75" name="Rectangle 74">
                    <a:extLst>
                      <a:ext uri="{FF2B5EF4-FFF2-40B4-BE49-F238E27FC236}">
                        <a16:creationId xmlns:a16="http://schemas.microsoft.com/office/drawing/2014/main" id="{F3D4CEC3-98BF-6EC1-8936-17A0B79B54EA}"/>
                      </a:ext>
                    </a:extLst>
                  </p:cNvPr>
                  <p:cNvSpPr/>
                  <p:nvPr/>
                </p:nvSpPr>
                <p:spPr>
                  <a:xfrm>
                    <a:off x="8117840" y="4104640"/>
                    <a:ext cx="528320" cy="528320"/>
                  </a:xfrm>
                  <a:prstGeom prst="rect">
                    <a:avLst/>
                  </a:prstGeom>
                  <a:solidFill>
                    <a:schemeClr val="accent4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7</a:t>
                    </a:r>
                  </a:p>
                </p:txBody>
              </p:sp>
              <p:sp>
                <p:nvSpPr>
                  <p:cNvPr id="76" name="Rectangle 75">
                    <a:extLst>
                      <a:ext uri="{FF2B5EF4-FFF2-40B4-BE49-F238E27FC236}">
                        <a16:creationId xmlns:a16="http://schemas.microsoft.com/office/drawing/2014/main" id="{D5B503BB-E60F-A8B9-A1D8-00B36B255FE3}"/>
                      </a:ext>
                    </a:extLst>
                  </p:cNvPr>
                  <p:cNvSpPr/>
                  <p:nvPr/>
                </p:nvSpPr>
                <p:spPr>
                  <a:xfrm>
                    <a:off x="8646160" y="4104640"/>
                    <a:ext cx="528320" cy="52832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68" name="Group 67">
                  <a:extLst>
                    <a:ext uri="{FF2B5EF4-FFF2-40B4-BE49-F238E27FC236}">
                      <a16:creationId xmlns:a16="http://schemas.microsoft.com/office/drawing/2014/main" id="{A7B275A0-9A66-E6D4-55B0-73E71CE0F70E}"/>
                    </a:ext>
                  </a:extLst>
                </p:cNvPr>
                <p:cNvGrpSpPr/>
                <p:nvPr/>
              </p:nvGrpSpPr>
              <p:grpSpPr>
                <a:xfrm>
                  <a:off x="2727960" y="1554957"/>
                  <a:ext cx="1056640" cy="528320"/>
                  <a:chOff x="8117840" y="4104640"/>
                  <a:chExt cx="1056640" cy="528320"/>
                </a:xfrm>
              </p:grpSpPr>
              <p:sp>
                <p:nvSpPr>
                  <p:cNvPr id="73" name="Rectangle 72">
                    <a:extLst>
                      <a:ext uri="{FF2B5EF4-FFF2-40B4-BE49-F238E27FC236}">
                        <a16:creationId xmlns:a16="http://schemas.microsoft.com/office/drawing/2014/main" id="{A2AA265E-2B9B-9662-7AD8-DC17BCEF25E4}"/>
                      </a:ext>
                    </a:extLst>
                  </p:cNvPr>
                  <p:cNvSpPr/>
                  <p:nvPr/>
                </p:nvSpPr>
                <p:spPr>
                  <a:xfrm>
                    <a:off x="8117840" y="4104640"/>
                    <a:ext cx="528320" cy="528320"/>
                  </a:xfrm>
                  <a:prstGeom prst="rect">
                    <a:avLst/>
                  </a:prstGeom>
                  <a:solidFill>
                    <a:schemeClr val="accent4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5</a:t>
                    </a:r>
                  </a:p>
                </p:txBody>
              </p:sp>
              <p:sp>
                <p:nvSpPr>
                  <p:cNvPr id="74" name="Rectangle 73">
                    <a:extLst>
                      <a:ext uri="{FF2B5EF4-FFF2-40B4-BE49-F238E27FC236}">
                        <a16:creationId xmlns:a16="http://schemas.microsoft.com/office/drawing/2014/main" id="{B52CB16E-11A0-7493-2B6C-1CF0B3A79F38}"/>
                      </a:ext>
                    </a:extLst>
                  </p:cNvPr>
                  <p:cNvSpPr/>
                  <p:nvPr/>
                </p:nvSpPr>
                <p:spPr>
                  <a:xfrm>
                    <a:off x="8646160" y="4104640"/>
                    <a:ext cx="528320" cy="52832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p:grpSp>
            <p:cxnSp>
              <p:nvCxnSpPr>
                <p:cNvPr id="69" name="Straight Arrow Connector 68">
                  <a:extLst>
                    <a:ext uri="{FF2B5EF4-FFF2-40B4-BE49-F238E27FC236}">
                      <a16:creationId xmlns:a16="http://schemas.microsoft.com/office/drawing/2014/main" id="{5564F638-7A00-5A8D-548D-6DC52ED7B123}"/>
                    </a:ext>
                  </a:extLst>
                </p:cNvPr>
                <p:cNvCxnSpPr>
                  <a:cxnSpLocks/>
                  <a:endCxn id="81" idx="1"/>
                </p:cNvCxnSpPr>
                <p:nvPr/>
              </p:nvCxnSpPr>
              <p:spPr>
                <a:xfrm>
                  <a:off x="3520440" y="1819117"/>
                  <a:ext cx="533400" cy="0"/>
                </a:xfrm>
                <a:prstGeom prst="straightConnector1">
                  <a:avLst/>
                </a:prstGeom>
                <a:ln w="5715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Straight Arrow Connector 69">
                  <a:extLst>
                    <a:ext uri="{FF2B5EF4-FFF2-40B4-BE49-F238E27FC236}">
                      <a16:creationId xmlns:a16="http://schemas.microsoft.com/office/drawing/2014/main" id="{8E5887A3-5BD2-42CF-87E0-A4070DB48F7D}"/>
                    </a:ext>
                  </a:extLst>
                </p:cNvPr>
                <p:cNvCxnSpPr>
                  <a:cxnSpLocks/>
                  <a:endCxn id="79" idx="1"/>
                </p:cNvCxnSpPr>
                <p:nvPr/>
              </p:nvCxnSpPr>
              <p:spPr>
                <a:xfrm>
                  <a:off x="4846320" y="1819117"/>
                  <a:ext cx="528320" cy="0"/>
                </a:xfrm>
                <a:prstGeom prst="straightConnector1">
                  <a:avLst/>
                </a:prstGeom>
                <a:ln w="5715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1" name="Straight Arrow Connector 70">
                  <a:extLst>
                    <a:ext uri="{FF2B5EF4-FFF2-40B4-BE49-F238E27FC236}">
                      <a16:creationId xmlns:a16="http://schemas.microsoft.com/office/drawing/2014/main" id="{90568DF2-1079-A33B-846B-83764E96712A}"/>
                    </a:ext>
                  </a:extLst>
                </p:cNvPr>
                <p:cNvCxnSpPr>
                  <a:cxnSpLocks/>
                  <a:endCxn id="77" idx="1"/>
                </p:cNvCxnSpPr>
                <p:nvPr/>
              </p:nvCxnSpPr>
              <p:spPr>
                <a:xfrm>
                  <a:off x="6167120" y="1819117"/>
                  <a:ext cx="533400" cy="0"/>
                </a:xfrm>
                <a:prstGeom prst="straightConnector1">
                  <a:avLst/>
                </a:prstGeom>
                <a:ln w="5715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Straight Arrow Connector 71">
                  <a:extLst>
                    <a:ext uri="{FF2B5EF4-FFF2-40B4-BE49-F238E27FC236}">
                      <a16:creationId xmlns:a16="http://schemas.microsoft.com/office/drawing/2014/main" id="{12A7648D-B805-CE84-73FE-7B31A436E551}"/>
                    </a:ext>
                  </a:extLst>
                </p:cNvPr>
                <p:cNvCxnSpPr>
                  <a:cxnSpLocks/>
                  <a:endCxn id="75" idx="1"/>
                </p:cNvCxnSpPr>
                <p:nvPr/>
              </p:nvCxnSpPr>
              <p:spPr>
                <a:xfrm>
                  <a:off x="7493000" y="1819117"/>
                  <a:ext cx="528320" cy="0"/>
                </a:xfrm>
                <a:prstGeom prst="straightConnector1">
                  <a:avLst/>
                </a:prstGeom>
                <a:ln w="5715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EB8292C9-087C-3EC6-5C7C-2A9AEF16FAAD}"/>
                  </a:ext>
                </a:extLst>
              </p:cNvPr>
              <p:cNvSpPr/>
              <p:nvPr/>
            </p:nvSpPr>
            <p:spPr>
              <a:xfrm>
                <a:off x="838200" y="1554957"/>
                <a:ext cx="949960" cy="528320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front</a:t>
                </a:r>
              </a:p>
            </p:txBody>
          </p:sp>
          <p:cxnSp>
            <p:nvCxnSpPr>
              <p:cNvPr id="61" name="Straight Arrow Connector 60">
                <a:extLst>
                  <a:ext uri="{FF2B5EF4-FFF2-40B4-BE49-F238E27FC236}">
                    <a16:creationId xmlns:a16="http://schemas.microsoft.com/office/drawing/2014/main" id="{DC521565-C036-688D-39E0-06E6A20C2C74}"/>
                  </a:ext>
                </a:extLst>
              </p:cNvPr>
              <p:cNvCxnSpPr>
                <a:cxnSpLocks/>
                <a:stCxn id="60" idx="3"/>
                <a:endCxn id="73" idx="1"/>
              </p:cNvCxnSpPr>
              <p:nvPr/>
            </p:nvCxnSpPr>
            <p:spPr>
              <a:xfrm>
                <a:off x="1788160" y="1819117"/>
                <a:ext cx="939800" cy="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1BE9C445-5106-8871-4B8A-44D1E05E61DE}"/>
                  </a:ext>
                </a:extLst>
              </p:cNvPr>
              <p:cNvSpPr/>
              <p:nvPr/>
            </p:nvSpPr>
            <p:spPr>
              <a:xfrm>
                <a:off x="7810500" y="2744789"/>
                <a:ext cx="949960" cy="528320"/>
              </a:xfrm>
              <a:prstGeom prst="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back</a:t>
                </a:r>
              </a:p>
            </p:txBody>
          </p:sp>
          <p:cxnSp>
            <p:nvCxnSpPr>
              <p:cNvPr id="63" name="Straight Arrow Connector 62">
                <a:extLst>
                  <a:ext uri="{FF2B5EF4-FFF2-40B4-BE49-F238E27FC236}">
                    <a16:creationId xmlns:a16="http://schemas.microsoft.com/office/drawing/2014/main" id="{8A101825-5FF7-B0F0-C1B8-9689D38EED24}"/>
                  </a:ext>
                </a:extLst>
              </p:cNvPr>
              <p:cNvCxnSpPr>
                <a:cxnSpLocks/>
                <a:stCxn id="62" idx="0"/>
                <a:endCxn id="75" idx="2"/>
              </p:cNvCxnSpPr>
              <p:nvPr/>
            </p:nvCxnSpPr>
            <p:spPr>
              <a:xfrm flipV="1">
                <a:off x="8285480" y="2083277"/>
                <a:ext cx="0" cy="661512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6C46205-4FA0-E7CB-00D2-A000E8E521A9}"/>
                </a:ext>
              </a:extLst>
            </p:cNvPr>
            <p:cNvSpPr/>
            <p:nvPr/>
          </p:nvSpPr>
          <p:spPr>
            <a:xfrm>
              <a:off x="1907209" y="5385684"/>
              <a:ext cx="949960" cy="52832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dirty="0">
                  <a:solidFill>
                    <a:prstClr val="black"/>
                  </a:solidFill>
                  <a:latin typeface="Calibri" panose="020F0502020204030204"/>
                </a:rPr>
                <a:t>f</a:t>
              </a:r>
              <a:r>
                <a:rPr kumimoji="0" lang="en-US" sz="18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irst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= 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076178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D941B9-7F6E-990C-B15F-684157159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D42CE-696F-AB4E-7510-1D653AE63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dequeue()</a:t>
            </a:r>
            <a:r>
              <a:rPr lang="en-US" dirty="0"/>
              <a:t> – line 2 of 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92B4E52-0813-1EDF-EA02-324D19392C3F}"/>
              </a:ext>
            </a:extLst>
          </p:cNvPr>
          <p:cNvSpPr txBox="1"/>
          <p:nvPr/>
        </p:nvSpPr>
        <p:spPr>
          <a:xfrm>
            <a:off x="4112895" y="1598039"/>
            <a:ext cx="477677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dequeue(){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first = </a:t>
            </a:r>
            <a:r>
              <a:rPr lang="en-US" sz="1600" dirty="0" err="1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front.value</a:t>
            </a: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;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600" b="1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front = </a:t>
            </a:r>
            <a:r>
              <a:rPr lang="en-US" sz="1600" b="1" dirty="0" err="1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front.next</a:t>
            </a:r>
            <a:r>
              <a:rPr lang="en-US" sz="1600" b="1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;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if (front == null) {back = null;}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return first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}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28EA197-B61C-6EE3-3532-48AB2002D72E}"/>
              </a:ext>
            </a:extLst>
          </p:cNvPr>
          <p:cNvGrpSpPr/>
          <p:nvPr/>
        </p:nvGrpSpPr>
        <p:grpSpPr>
          <a:xfrm>
            <a:off x="967409" y="2986208"/>
            <a:ext cx="8239760" cy="2927796"/>
            <a:chOff x="967409" y="2986208"/>
            <a:chExt cx="8239760" cy="292779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D4723F4-D91A-48B9-49FF-1E6063000225}"/>
                </a:ext>
              </a:extLst>
            </p:cNvPr>
            <p:cNvGrpSpPr/>
            <p:nvPr/>
          </p:nvGrpSpPr>
          <p:grpSpPr>
            <a:xfrm>
              <a:off x="967409" y="3667532"/>
              <a:ext cx="8239760" cy="2246472"/>
              <a:chOff x="967409" y="3667532"/>
              <a:chExt cx="8239760" cy="2246472"/>
            </a:xfrm>
          </p:grpSpPr>
          <p:grpSp>
            <p:nvGrpSpPr>
              <p:cNvPr id="58" name="Group 57" descr="An illustration of a linked queue data structure. The elements of the list are contained in node objects. Each node object has a reference to another node object to establish a sequence of elements. There is also a reference called &quot;front&quot; that points to the first node in the queue, and a reference called &quot;back&quot; that points to the last node in the queue.">
                <a:extLst>
                  <a:ext uri="{FF2B5EF4-FFF2-40B4-BE49-F238E27FC236}">
                    <a16:creationId xmlns:a16="http://schemas.microsoft.com/office/drawing/2014/main" id="{ECF03CAC-7436-E0C0-8C92-F2C2BC72A5F9}"/>
                  </a:ext>
                </a:extLst>
              </p:cNvPr>
              <p:cNvGrpSpPr/>
              <p:nvPr/>
            </p:nvGrpSpPr>
            <p:grpSpPr>
              <a:xfrm>
                <a:off x="967409" y="3667532"/>
                <a:ext cx="8239760" cy="1718152"/>
                <a:chOff x="838200" y="1554957"/>
                <a:chExt cx="8239760" cy="1718152"/>
              </a:xfrm>
            </p:grpSpPr>
            <p:grpSp>
              <p:nvGrpSpPr>
                <p:cNvPr id="59" name="Group 58">
                  <a:extLst>
                    <a:ext uri="{FF2B5EF4-FFF2-40B4-BE49-F238E27FC236}">
                      <a16:creationId xmlns:a16="http://schemas.microsoft.com/office/drawing/2014/main" id="{B8573CEF-22A5-9669-F1C3-9E50DE302D52}"/>
                    </a:ext>
                  </a:extLst>
                </p:cNvPr>
                <p:cNvGrpSpPr/>
                <p:nvPr/>
              </p:nvGrpSpPr>
              <p:grpSpPr>
                <a:xfrm>
                  <a:off x="2727960" y="1554957"/>
                  <a:ext cx="6350000" cy="528320"/>
                  <a:chOff x="2727960" y="1554957"/>
                  <a:chExt cx="6350000" cy="528320"/>
                </a:xfrm>
              </p:grpSpPr>
              <p:grpSp>
                <p:nvGrpSpPr>
                  <p:cNvPr id="64" name="Group 63">
                    <a:extLst>
                      <a:ext uri="{FF2B5EF4-FFF2-40B4-BE49-F238E27FC236}">
                        <a16:creationId xmlns:a16="http://schemas.microsoft.com/office/drawing/2014/main" id="{618FA8E7-FDDB-FF16-3D9C-515E4609DF93}"/>
                      </a:ext>
                    </a:extLst>
                  </p:cNvPr>
                  <p:cNvGrpSpPr/>
                  <p:nvPr/>
                </p:nvGrpSpPr>
                <p:grpSpPr>
                  <a:xfrm>
                    <a:off x="4053840" y="1554957"/>
                    <a:ext cx="1056640" cy="528320"/>
                    <a:chOff x="8117840" y="4104640"/>
                    <a:chExt cx="1056640" cy="528320"/>
                  </a:xfrm>
                </p:grpSpPr>
                <p:sp>
                  <p:nvSpPr>
                    <p:cNvPr id="81" name="Rectangle 80">
                      <a:extLst>
                        <a:ext uri="{FF2B5EF4-FFF2-40B4-BE49-F238E27FC236}">
                          <a16:creationId xmlns:a16="http://schemas.microsoft.com/office/drawing/2014/main" id="{E1D5EEF3-2901-140B-3E34-B2F161876DC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17840" y="4104640"/>
                      <a:ext cx="528320" cy="528320"/>
                    </a:xfrm>
                    <a:prstGeom prst="rect">
                      <a:avLst/>
                    </a:prstGeom>
                    <a:solidFill>
                      <a:schemeClr val="accent4">
                        <a:lumMod val="40000"/>
                        <a:lumOff val="6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</a:t>
                      </a:r>
                    </a:p>
                  </p:txBody>
                </p:sp>
                <p:sp>
                  <p:nvSpPr>
                    <p:cNvPr id="82" name="Rectangle 81">
                      <a:extLst>
                        <a:ext uri="{FF2B5EF4-FFF2-40B4-BE49-F238E27FC236}">
                          <a16:creationId xmlns:a16="http://schemas.microsoft.com/office/drawing/2014/main" id="{CE773B14-5F90-BC40-E34F-85B4CCF67B2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646160" y="4104640"/>
                      <a:ext cx="528320" cy="52832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65" name="Group 64">
                    <a:extLst>
                      <a:ext uri="{FF2B5EF4-FFF2-40B4-BE49-F238E27FC236}">
                        <a16:creationId xmlns:a16="http://schemas.microsoft.com/office/drawing/2014/main" id="{F0618046-EA2D-CDF9-A744-AB5289243BD9}"/>
                      </a:ext>
                    </a:extLst>
                  </p:cNvPr>
                  <p:cNvGrpSpPr/>
                  <p:nvPr/>
                </p:nvGrpSpPr>
                <p:grpSpPr>
                  <a:xfrm>
                    <a:off x="5374640" y="1554957"/>
                    <a:ext cx="1056640" cy="528320"/>
                    <a:chOff x="8117840" y="4104640"/>
                    <a:chExt cx="1056640" cy="528320"/>
                  </a:xfrm>
                </p:grpSpPr>
                <p:sp>
                  <p:nvSpPr>
                    <p:cNvPr id="79" name="Rectangle 78">
                      <a:extLst>
                        <a:ext uri="{FF2B5EF4-FFF2-40B4-BE49-F238E27FC236}">
                          <a16:creationId xmlns:a16="http://schemas.microsoft.com/office/drawing/2014/main" id="{557F033F-A166-78E7-FA49-E29A0E05D3E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17840" y="4104640"/>
                      <a:ext cx="528320" cy="528320"/>
                    </a:xfrm>
                    <a:prstGeom prst="rect">
                      <a:avLst/>
                    </a:prstGeom>
                    <a:solidFill>
                      <a:schemeClr val="accent4">
                        <a:lumMod val="40000"/>
                        <a:lumOff val="6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</a:t>
                      </a:r>
                    </a:p>
                  </p:txBody>
                </p:sp>
                <p:sp>
                  <p:nvSpPr>
                    <p:cNvPr id="80" name="Rectangle 79">
                      <a:extLst>
                        <a:ext uri="{FF2B5EF4-FFF2-40B4-BE49-F238E27FC236}">
                          <a16:creationId xmlns:a16="http://schemas.microsoft.com/office/drawing/2014/main" id="{35405408-BAA0-B0D6-D9ED-2899F38655D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646160" y="4104640"/>
                      <a:ext cx="528320" cy="52832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66" name="Group 65">
                    <a:extLst>
                      <a:ext uri="{FF2B5EF4-FFF2-40B4-BE49-F238E27FC236}">
                        <a16:creationId xmlns:a16="http://schemas.microsoft.com/office/drawing/2014/main" id="{96E2B2AC-9E0A-A9F3-8EFC-4953469EB93F}"/>
                      </a:ext>
                    </a:extLst>
                  </p:cNvPr>
                  <p:cNvGrpSpPr/>
                  <p:nvPr/>
                </p:nvGrpSpPr>
                <p:grpSpPr>
                  <a:xfrm>
                    <a:off x="6700520" y="1554957"/>
                    <a:ext cx="1056640" cy="528320"/>
                    <a:chOff x="8117840" y="4104640"/>
                    <a:chExt cx="1056640" cy="528320"/>
                  </a:xfrm>
                </p:grpSpPr>
                <p:sp>
                  <p:nvSpPr>
                    <p:cNvPr id="77" name="Rectangle 76">
                      <a:extLst>
                        <a:ext uri="{FF2B5EF4-FFF2-40B4-BE49-F238E27FC236}">
                          <a16:creationId xmlns:a16="http://schemas.microsoft.com/office/drawing/2014/main" id="{241C6263-41D6-70B0-6B3A-47399D7A989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17840" y="4104640"/>
                      <a:ext cx="528320" cy="528320"/>
                    </a:xfrm>
                    <a:prstGeom prst="rect">
                      <a:avLst/>
                    </a:prstGeom>
                    <a:solidFill>
                      <a:schemeClr val="accent4">
                        <a:lumMod val="40000"/>
                        <a:lumOff val="6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</a:p>
                  </p:txBody>
                </p:sp>
                <p:sp>
                  <p:nvSpPr>
                    <p:cNvPr id="78" name="Rectangle 77">
                      <a:extLst>
                        <a:ext uri="{FF2B5EF4-FFF2-40B4-BE49-F238E27FC236}">
                          <a16:creationId xmlns:a16="http://schemas.microsoft.com/office/drawing/2014/main" id="{FBD8BA57-43F1-01A4-24B9-4A752E3B80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646160" y="4104640"/>
                      <a:ext cx="528320" cy="52832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67" name="Group 66">
                    <a:extLst>
                      <a:ext uri="{FF2B5EF4-FFF2-40B4-BE49-F238E27FC236}">
                        <a16:creationId xmlns:a16="http://schemas.microsoft.com/office/drawing/2014/main" id="{78C53499-9939-8E62-7EF3-552143F51280}"/>
                      </a:ext>
                    </a:extLst>
                  </p:cNvPr>
                  <p:cNvGrpSpPr/>
                  <p:nvPr/>
                </p:nvGrpSpPr>
                <p:grpSpPr>
                  <a:xfrm>
                    <a:off x="8021320" y="1554957"/>
                    <a:ext cx="1056640" cy="528320"/>
                    <a:chOff x="8117840" y="4104640"/>
                    <a:chExt cx="1056640" cy="528320"/>
                  </a:xfrm>
                </p:grpSpPr>
                <p:sp>
                  <p:nvSpPr>
                    <p:cNvPr id="75" name="Rectangle 74">
                      <a:extLst>
                        <a:ext uri="{FF2B5EF4-FFF2-40B4-BE49-F238E27FC236}">
                          <a16:creationId xmlns:a16="http://schemas.microsoft.com/office/drawing/2014/main" id="{7CA87ED2-E57A-F982-E480-AF90E68AC57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17840" y="4104640"/>
                      <a:ext cx="528320" cy="528320"/>
                    </a:xfrm>
                    <a:prstGeom prst="rect">
                      <a:avLst/>
                    </a:prstGeom>
                    <a:solidFill>
                      <a:schemeClr val="accent4">
                        <a:lumMod val="40000"/>
                        <a:lumOff val="6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p:txBody>
                </p:sp>
                <p:sp>
                  <p:nvSpPr>
                    <p:cNvPr id="76" name="Rectangle 75">
                      <a:extLst>
                        <a:ext uri="{FF2B5EF4-FFF2-40B4-BE49-F238E27FC236}">
                          <a16:creationId xmlns:a16="http://schemas.microsoft.com/office/drawing/2014/main" id="{1B3121B1-7948-D69D-FC9D-D88F8DE6EC1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646160" y="4104640"/>
                      <a:ext cx="528320" cy="52832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68" name="Group 67">
                    <a:extLst>
                      <a:ext uri="{FF2B5EF4-FFF2-40B4-BE49-F238E27FC236}">
                        <a16:creationId xmlns:a16="http://schemas.microsoft.com/office/drawing/2014/main" id="{4ADD1930-F5CA-A6A5-723E-5E05CAD02FC2}"/>
                      </a:ext>
                    </a:extLst>
                  </p:cNvPr>
                  <p:cNvGrpSpPr/>
                  <p:nvPr/>
                </p:nvGrpSpPr>
                <p:grpSpPr>
                  <a:xfrm>
                    <a:off x="2727960" y="1554957"/>
                    <a:ext cx="1056640" cy="528320"/>
                    <a:chOff x="8117840" y="4104640"/>
                    <a:chExt cx="1056640" cy="528320"/>
                  </a:xfrm>
                </p:grpSpPr>
                <p:sp>
                  <p:nvSpPr>
                    <p:cNvPr id="73" name="Rectangle 72">
                      <a:extLst>
                        <a:ext uri="{FF2B5EF4-FFF2-40B4-BE49-F238E27FC236}">
                          <a16:creationId xmlns:a16="http://schemas.microsoft.com/office/drawing/2014/main" id="{0B51AFBD-22A8-9912-118E-6535B013616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17840" y="4104640"/>
                      <a:ext cx="528320" cy="528320"/>
                    </a:xfrm>
                    <a:prstGeom prst="rect">
                      <a:avLst/>
                    </a:prstGeom>
                    <a:solidFill>
                      <a:schemeClr val="accent4">
                        <a:lumMod val="40000"/>
                        <a:lumOff val="6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</a:t>
                      </a:r>
                    </a:p>
                  </p:txBody>
                </p:sp>
                <p:sp>
                  <p:nvSpPr>
                    <p:cNvPr id="74" name="Rectangle 73">
                      <a:extLst>
                        <a:ext uri="{FF2B5EF4-FFF2-40B4-BE49-F238E27FC236}">
                          <a16:creationId xmlns:a16="http://schemas.microsoft.com/office/drawing/2014/main" id="{2232B902-A73E-E2CF-4D4D-E86CED79EA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646160" y="4104640"/>
                      <a:ext cx="528320" cy="52832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  <p:cxnSp>
                <p:nvCxnSpPr>
                  <p:cNvPr id="69" name="Straight Arrow Connector 68">
                    <a:extLst>
                      <a:ext uri="{FF2B5EF4-FFF2-40B4-BE49-F238E27FC236}">
                        <a16:creationId xmlns:a16="http://schemas.microsoft.com/office/drawing/2014/main" id="{2230E264-ACDA-162F-C270-04102D03572A}"/>
                      </a:ext>
                    </a:extLst>
                  </p:cNvPr>
                  <p:cNvCxnSpPr>
                    <a:cxnSpLocks/>
                    <a:endCxn id="81" idx="1"/>
                  </p:cNvCxnSpPr>
                  <p:nvPr/>
                </p:nvCxnSpPr>
                <p:spPr>
                  <a:xfrm>
                    <a:off x="3520440" y="1819117"/>
                    <a:ext cx="533400" cy="0"/>
                  </a:xfrm>
                  <a:prstGeom prst="straightConnector1">
                    <a:avLst/>
                  </a:prstGeom>
                  <a:ln w="5715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0" name="Straight Arrow Connector 69">
                    <a:extLst>
                      <a:ext uri="{FF2B5EF4-FFF2-40B4-BE49-F238E27FC236}">
                        <a16:creationId xmlns:a16="http://schemas.microsoft.com/office/drawing/2014/main" id="{942CBB3A-FF17-6436-1D79-E8B5D763675F}"/>
                      </a:ext>
                    </a:extLst>
                  </p:cNvPr>
                  <p:cNvCxnSpPr>
                    <a:cxnSpLocks/>
                    <a:endCxn id="79" idx="1"/>
                  </p:cNvCxnSpPr>
                  <p:nvPr/>
                </p:nvCxnSpPr>
                <p:spPr>
                  <a:xfrm>
                    <a:off x="4846320" y="1819117"/>
                    <a:ext cx="528320" cy="0"/>
                  </a:xfrm>
                  <a:prstGeom prst="straightConnector1">
                    <a:avLst/>
                  </a:prstGeom>
                  <a:ln w="5715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1" name="Straight Arrow Connector 70">
                    <a:extLst>
                      <a:ext uri="{FF2B5EF4-FFF2-40B4-BE49-F238E27FC236}">
                        <a16:creationId xmlns:a16="http://schemas.microsoft.com/office/drawing/2014/main" id="{AB9EB8E9-5C75-AFE2-96B4-4126C5F2EE94}"/>
                      </a:ext>
                    </a:extLst>
                  </p:cNvPr>
                  <p:cNvCxnSpPr>
                    <a:cxnSpLocks/>
                    <a:endCxn id="77" idx="1"/>
                  </p:cNvCxnSpPr>
                  <p:nvPr/>
                </p:nvCxnSpPr>
                <p:spPr>
                  <a:xfrm>
                    <a:off x="6167120" y="1819117"/>
                    <a:ext cx="533400" cy="0"/>
                  </a:xfrm>
                  <a:prstGeom prst="straightConnector1">
                    <a:avLst/>
                  </a:prstGeom>
                  <a:ln w="5715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2" name="Straight Arrow Connector 71">
                    <a:extLst>
                      <a:ext uri="{FF2B5EF4-FFF2-40B4-BE49-F238E27FC236}">
                        <a16:creationId xmlns:a16="http://schemas.microsoft.com/office/drawing/2014/main" id="{D7459640-3CBB-42BA-1B28-199A9D054D8D}"/>
                      </a:ext>
                    </a:extLst>
                  </p:cNvPr>
                  <p:cNvCxnSpPr>
                    <a:cxnSpLocks/>
                    <a:endCxn id="75" idx="1"/>
                  </p:cNvCxnSpPr>
                  <p:nvPr/>
                </p:nvCxnSpPr>
                <p:spPr>
                  <a:xfrm>
                    <a:off x="7493000" y="1819117"/>
                    <a:ext cx="528320" cy="0"/>
                  </a:xfrm>
                  <a:prstGeom prst="straightConnector1">
                    <a:avLst/>
                  </a:prstGeom>
                  <a:ln w="5715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60" name="Rectangle 59">
                  <a:extLst>
                    <a:ext uri="{FF2B5EF4-FFF2-40B4-BE49-F238E27FC236}">
                      <a16:creationId xmlns:a16="http://schemas.microsoft.com/office/drawing/2014/main" id="{FA8266CF-5969-2FCE-91E6-5C8F11E1B83D}"/>
                    </a:ext>
                  </a:extLst>
                </p:cNvPr>
                <p:cNvSpPr/>
                <p:nvPr/>
              </p:nvSpPr>
              <p:spPr>
                <a:xfrm>
                  <a:off x="838200" y="1554957"/>
                  <a:ext cx="949960" cy="528320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front</a:t>
                  </a:r>
                </a:p>
              </p:txBody>
            </p:sp>
            <p:sp>
              <p:nvSpPr>
                <p:cNvPr id="62" name="Rectangle 61">
                  <a:extLst>
                    <a:ext uri="{FF2B5EF4-FFF2-40B4-BE49-F238E27FC236}">
                      <a16:creationId xmlns:a16="http://schemas.microsoft.com/office/drawing/2014/main" id="{FE185627-2BD6-BA7C-7136-22A703C6C63D}"/>
                    </a:ext>
                  </a:extLst>
                </p:cNvPr>
                <p:cNvSpPr/>
                <p:nvPr/>
              </p:nvSpPr>
              <p:spPr>
                <a:xfrm>
                  <a:off x="7810500" y="2744789"/>
                  <a:ext cx="949960" cy="528320"/>
                </a:xfrm>
                <a:prstGeom prst="rect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back</a:t>
                  </a:r>
                </a:p>
              </p:txBody>
            </p:sp>
            <p:cxnSp>
              <p:nvCxnSpPr>
                <p:cNvPr id="63" name="Straight Arrow Connector 62">
                  <a:extLst>
                    <a:ext uri="{FF2B5EF4-FFF2-40B4-BE49-F238E27FC236}">
                      <a16:creationId xmlns:a16="http://schemas.microsoft.com/office/drawing/2014/main" id="{0332F4FC-45B9-9151-6739-D4274B8D8E2B}"/>
                    </a:ext>
                  </a:extLst>
                </p:cNvPr>
                <p:cNvCxnSpPr>
                  <a:cxnSpLocks/>
                  <a:stCxn id="62" idx="0"/>
                  <a:endCxn id="75" idx="2"/>
                </p:cNvCxnSpPr>
                <p:nvPr/>
              </p:nvCxnSpPr>
              <p:spPr>
                <a:xfrm flipV="1">
                  <a:off x="8285480" y="2083277"/>
                  <a:ext cx="0" cy="661512"/>
                </a:xfrm>
                <a:prstGeom prst="straightConnector1">
                  <a:avLst/>
                </a:prstGeom>
                <a:ln w="5715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3EA3B7CF-F998-C4E6-9BC0-F365B67E1BAA}"/>
                  </a:ext>
                </a:extLst>
              </p:cNvPr>
              <p:cNvSpPr/>
              <p:nvPr/>
            </p:nvSpPr>
            <p:spPr>
              <a:xfrm>
                <a:off x="1907209" y="5385684"/>
                <a:ext cx="949960" cy="52832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>
                    <a:solidFill>
                      <a:prstClr val="black"/>
                    </a:solidFill>
                    <a:latin typeface="Calibri" panose="020F0502020204030204"/>
                  </a:rPr>
                  <a:t>f</a:t>
                </a:r>
                <a:r>
                  <a:rPr kumimoji="0" lang="en-US" sz="1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irst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= 5</a:t>
                </a:r>
              </a:p>
            </p:txBody>
          </p:sp>
        </p:grpSp>
        <p:cxnSp>
          <p:nvCxnSpPr>
            <p:cNvPr id="8" name="Connector: Curved 7">
              <a:extLst>
                <a:ext uri="{FF2B5EF4-FFF2-40B4-BE49-F238E27FC236}">
                  <a16:creationId xmlns:a16="http://schemas.microsoft.com/office/drawing/2014/main" id="{5F9DA2A5-91F2-7704-0C3D-89C07123DBCA}"/>
                </a:ext>
              </a:extLst>
            </p:cNvPr>
            <p:cNvCxnSpPr>
              <a:cxnSpLocks/>
              <a:stCxn id="60" idx="2"/>
              <a:endCxn id="81" idx="2"/>
            </p:cNvCxnSpPr>
            <p:nvPr/>
          </p:nvCxnSpPr>
          <p:spPr>
            <a:xfrm rot="16200000" flipH="1">
              <a:off x="2944799" y="2693442"/>
              <a:ext cx="12700" cy="3004820"/>
            </a:xfrm>
            <a:prstGeom prst="curvedConnector3">
              <a:avLst>
                <a:gd name="adj1" fmla="val 3443472"/>
              </a:avLst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&quot;Not Allowed&quot; Symbol 11">
              <a:extLst>
                <a:ext uri="{FF2B5EF4-FFF2-40B4-BE49-F238E27FC236}">
                  <a16:creationId xmlns:a16="http://schemas.microsoft.com/office/drawing/2014/main" id="{F7233A5E-AFCA-4F2A-8098-FB15DF47EE97}"/>
                </a:ext>
              </a:extLst>
            </p:cNvPr>
            <p:cNvSpPr/>
            <p:nvPr/>
          </p:nvSpPr>
          <p:spPr>
            <a:xfrm>
              <a:off x="2820751" y="3294404"/>
              <a:ext cx="1220721" cy="1220721"/>
            </a:xfrm>
            <a:prstGeom prst="noSmoking">
              <a:avLst>
                <a:gd name="adj" fmla="val 5726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871998F-0865-23D6-54CC-C7CFFBE83F54}"/>
                </a:ext>
              </a:extLst>
            </p:cNvPr>
            <p:cNvSpPr txBox="1"/>
            <p:nvPr/>
          </p:nvSpPr>
          <p:spPr>
            <a:xfrm>
              <a:off x="2207822" y="2986208"/>
              <a:ext cx="19050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Garbage Collected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497415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F4376-8FB8-A923-B2D3-0220CA341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86E5B-E05C-CF2F-E00C-C81DECEA3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dequeue()</a:t>
            </a:r>
            <a:r>
              <a:rPr lang="en-US" dirty="0"/>
              <a:t> – line 3 of 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D98563A-045E-5BF0-596D-CF8B885FF02A}"/>
              </a:ext>
            </a:extLst>
          </p:cNvPr>
          <p:cNvSpPr txBox="1"/>
          <p:nvPr/>
        </p:nvSpPr>
        <p:spPr>
          <a:xfrm>
            <a:off x="4112895" y="1598039"/>
            <a:ext cx="477677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dequeue(){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first = </a:t>
            </a:r>
            <a:r>
              <a:rPr lang="en-US" sz="1600" dirty="0" err="1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front.value</a:t>
            </a: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;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front = </a:t>
            </a:r>
            <a:r>
              <a:rPr lang="en-US" sz="1600" dirty="0" err="1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front.next</a:t>
            </a: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;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600" b="1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if (front == null) {back = null;}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return first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}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8EAC640-D45F-47DA-C9B6-070B0DC01CA3}"/>
              </a:ext>
            </a:extLst>
          </p:cNvPr>
          <p:cNvGrpSpPr/>
          <p:nvPr/>
        </p:nvGrpSpPr>
        <p:grpSpPr>
          <a:xfrm>
            <a:off x="967409" y="3667532"/>
            <a:ext cx="8239760" cy="2246472"/>
            <a:chOff x="967409" y="3667532"/>
            <a:chExt cx="8239760" cy="2246472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78B241A-3B1A-71C9-ABD8-74664DD544A5}"/>
                </a:ext>
              </a:extLst>
            </p:cNvPr>
            <p:cNvGrpSpPr/>
            <p:nvPr/>
          </p:nvGrpSpPr>
          <p:grpSpPr>
            <a:xfrm>
              <a:off x="967409" y="3667532"/>
              <a:ext cx="8239760" cy="2246472"/>
              <a:chOff x="967409" y="3667532"/>
              <a:chExt cx="8239760" cy="2246472"/>
            </a:xfrm>
          </p:grpSpPr>
          <p:grpSp>
            <p:nvGrpSpPr>
              <p:cNvPr id="58" name="Group 57" descr="An illustration of a linked queue data structure. The elements of the list are contained in node objects. Each node object has a reference to another node object to establish a sequence of elements. There is also a reference called &quot;front&quot; that points to the first node in the queue, and a reference called &quot;back&quot; that points to the last node in the queue.">
                <a:extLst>
                  <a:ext uri="{FF2B5EF4-FFF2-40B4-BE49-F238E27FC236}">
                    <a16:creationId xmlns:a16="http://schemas.microsoft.com/office/drawing/2014/main" id="{E66E88E9-D741-063A-38AD-91CA40B4A18B}"/>
                  </a:ext>
                </a:extLst>
              </p:cNvPr>
              <p:cNvGrpSpPr/>
              <p:nvPr/>
            </p:nvGrpSpPr>
            <p:grpSpPr>
              <a:xfrm>
                <a:off x="967409" y="3667532"/>
                <a:ext cx="8239760" cy="1718152"/>
                <a:chOff x="838200" y="1554957"/>
                <a:chExt cx="8239760" cy="1718152"/>
              </a:xfrm>
            </p:grpSpPr>
            <p:grpSp>
              <p:nvGrpSpPr>
                <p:cNvPr id="59" name="Group 58">
                  <a:extLst>
                    <a:ext uri="{FF2B5EF4-FFF2-40B4-BE49-F238E27FC236}">
                      <a16:creationId xmlns:a16="http://schemas.microsoft.com/office/drawing/2014/main" id="{5A98EF1D-AEB0-05FA-3FED-0C5DC640D76D}"/>
                    </a:ext>
                  </a:extLst>
                </p:cNvPr>
                <p:cNvGrpSpPr/>
                <p:nvPr/>
              </p:nvGrpSpPr>
              <p:grpSpPr>
                <a:xfrm>
                  <a:off x="4053840" y="1554957"/>
                  <a:ext cx="5024120" cy="528320"/>
                  <a:chOff x="4053840" y="1554957"/>
                  <a:chExt cx="5024120" cy="528320"/>
                </a:xfrm>
              </p:grpSpPr>
              <p:grpSp>
                <p:nvGrpSpPr>
                  <p:cNvPr id="64" name="Group 63">
                    <a:extLst>
                      <a:ext uri="{FF2B5EF4-FFF2-40B4-BE49-F238E27FC236}">
                        <a16:creationId xmlns:a16="http://schemas.microsoft.com/office/drawing/2014/main" id="{A321504F-4A0D-F5D8-2A7D-1B0CDC2937F6}"/>
                      </a:ext>
                    </a:extLst>
                  </p:cNvPr>
                  <p:cNvGrpSpPr/>
                  <p:nvPr/>
                </p:nvGrpSpPr>
                <p:grpSpPr>
                  <a:xfrm>
                    <a:off x="4053840" y="1554957"/>
                    <a:ext cx="1056640" cy="528320"/>
                    <a:chOff x="8117840" y="4104640"/>
                    <a:chExt cx="1056640" cy="528320"/>
                  </a:xfrm>
                </p:grpSpPr>
                <p:sp>
                  <p:nvSpPr>
                    <p:cNvPr id="81" name="Rectangle 80">
                      <a:extLst>
                        <a:ext uri="{FF2B5EF4-FFF2-40B4-BE49-F238E27FC236}">
                          <a16:creationId xmlns:a16="http://schemas.microsoft.com/office/drawing/2014/main" id="{1F63BA83-65E4-F69A-E8B3-C26A68E2D6D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17840" y="4104640"/>
                      <a:ext cx="528320" cy="528320"/>
                    </a:xfrm>
                    <a:prstGeom prst="rect">
                      <a:avLst/>
                    </a:prstGeom>
                    <a:solidFill>
                      <a:schemeClr val="accent4">
                        <a:lumMod val="40000"/>
                        <a:lumOff val="6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</a:t>
                      </a:r>
                    </a:p>
                  </p:txBody>
                </p:sp>
                <p:sp>
                  <p:nvSpPr>
                    <p:cNvPr id="82" name="Rectangle 81">
                      <a:extLst>
                        <a:ext uri="{FF2B5EF4-FFF2-40B4-BE49-F238E27FC236}">
                          <a16:creationId xmlns:a16="http://schemas.microsoft.com/office/drawing/2014/main" id="{A481012A-6133-50A1-890B-AE109FEEA4D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646160" y="4104640"/>
                      <a:ext cx="528320" cy="52832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65" name="Group 64">
                    <a:extLst>
                      <a:ext uri="{FF2B5EF4-FFF2-40B4-BE49-F238E27FC236}">
                        <a16:creationId xmlns:a16="http://schemas.microsoft.com/office/drawing/2014/main" id="{1B68F955-5277-345E-4BB9-E261064744F8}"/>
                      </a:ext>
                    </a:extLst>
                  </p:cNvPr>
                  <p:cNvGrpSpPr/>
                  <p:nvPr/>
                </p:nvGrpSpPr>
                <p:grpSpPr>
                  <a:xfrm>
                    <a:off x="5374640" y="1554957"/>
                    <a:ext cx="1056640" cy="528320"/>
                    <a:chOff x="8117840" y="4104640"/>
                    <a:chExt cx="1056640" cy="528320"/>
                  </a:xfrm>
                </p:grpSpPr>
                <p:sp>
                  <p:nvSpPr>
                    <p:cNvPr id="79" name="Rectangle 78">
                      <a:extLst>
                        <a:ext uri="{FF2B5EF4-FFF2-40B4-BE49-F238E27FC236}">
                          <a16:creationId xmlns:a16="http://schemas.microsoft.com/office/drawing/2014/main" id="{015BE776-347D-413D-884F-1DBB6E3518D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17840" y="4104640"/>
                      <a:ext cx="528320" cy="528320"/>
                    </a:xfrm>
                    <a:prstGeom prst="rect">
                      <a:avLst/>
                    </a:prstGeom>
                    <a:solidFill>
                      <a:schemeClr val="accent4">
                        <a:lumMod val="40000"/>
                        <a:lumOff val="6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</a:t>
                      </a:r>
                    </a:p>
                  </p:txBody>
                </p:sp>
                <p:sp>
                  <p:nvSpPr>
                    <p:cNvPr id="80" name="Rectangle 79">
                      <a:extLst>
                        <a:ext uri="{FF2B5EF4-FFF2-40B4-BE49-F238E27FC236}">
                          <a16:creationId xmlns:a16="http://schemas.microsoft.com/office/drawing/2014/main" id="{A770529E-2836-79FA-5E70-5D3FCC9E48F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646160" y="4104640"/>
                      <a:ext cx="528320" cy="52832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66" name="Group 65">
                    <a:extLst>
                      <a:ext uri="{FF2B5EF4-FFF2-40B4-BE49-F238E27FC236}">
                        <a16:creationId xmlns:a16="http://schemas.microsoft.com/office/drawing/2014/main" id="{3C3A7E4B-DB7A-1326-C02E-C1EE66C4E870}"/>
                      </a:ext>
                    </a:extLst>
                  </p:cNvPr>
                  <p:cNvGrpSpPr/>
                  <p:nvPr/>
                </p:nvGrpSpPr>
                <p:grpSpPr>
                  <a:xfrm>
                    <a:off x="6700520" y="1554957"/>
                    <a:ext cx="1056640" cy="528320"/>
                    <a:chOff x="8117840" y="4104640"/>
                    <a:chExt cx="1056640" cy="528320"/>
                  </a:xfrm>
                </p:grpSpPr>
                <p:sp>
                  <p:nvSpPr>
                    <p:cNvPr id="77" name="Rectangle 76">
                      <a:extLst>
                        <a:ext uri="{FF2B5EF4-FFF2-40B4-BE49-F238E27FC236}">
                          <a16:creationId xmlns:a16="http://schemas.microsoft.com/office/drawing/2014/main" id="{5B1B5715-321C-EE6F-A2EE-0C3DAC63C3D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17840" y="4104640"/>
                      <a:ext cx="528320" cy="528320"/>
                    </a:xfrm>
                    <a:prstGeom prst="rect">
                      <a:avLst/>
                    </a:prstGeom>
                    <a:solidFill>
                      <a:schemeClr val="accent4">
                        <a:lumMod val="40000"/>
                        <a:lumOff val="6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</a:t>
                      </a:r>
                    </a:p>
                  </p:txBody>
                </p:sp>
                <p:sp>
                  <p:nvSpPr>
                    <p:cNvPr id="78" name="Rectangle 77">
                      <a:extLst>
                        <a:ext uri="{FF2B5EF4-FFF2-40B4-BE49-F238E27FC236}">
                          <a16:creationId xmlns:a16="http://schemas.microsoft.com/office/drawing/2014/main" id="{DCB74865-DF63-5393-794A-A083859CD8A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646160" y="4104640"/>
                      <a:ext cx="528320" cy="52832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67" name="Group 66">
                    <a:extLst>
                      <a:ext uri="{FF2B5EF4-FFF2-40B4-BE49-F238E27FC236}">
                        <a16:creationId xmlns:a16="http://schemas.microsoft.com/office/drawing/2014/main" id="{2DC7325C-4F4F-D2D6-CD8F-0B8F870FD311}"/>
                      </a:ext>
                    </a:extLst>
                  </p:cNvPr>
                  <p:cNvGrpSpPr/>
                  <p:nvPr/>
                </p:nvGrpSpPr>
                <p:grpSpPr>
                  <a:xfrm>
                    <a:off x="8021320" y="1554957"/>
                    <a:ext cx="1056640" cy="528320"/>
                    <a:chOff x="8117840" y="4104640"/>
                    <a:chExt cx="1056640" cy="528320"/>
                  </a:xfrm>
                </p:grpSpPr>
                <p:sp>
                  <p:nvSpPr>
                    <p:cNvPr id="75" name="Rectangle 74">
                      <a:extLst>
                        <a:ext uri="{FF2B5EF4-FFF2-40B4-BE49-F238E27FC236}">
                          <a16:creationId xmlns:a16="http://schemas.microsoft.com/office/drawing/2014/main" id="{3FF01D51-ACFA-07D5-DA75-F94B16EDD2A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17840" y="4104640"/>
                      <a:ext cx="528320" cy="528320"/>
                    </a:xfrm>
                    <a:prstGeom prst="rect">
                      <a:avLst/>
                    </a:prstGeom>
                    <a:solidFill>
                      <a:schemeClr val="accent4">
                        <a:lumMod val="40000"/>
                        <a:lumOff val="60000"/>
                      </a:schemeClr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</a:p>
                  </p:txBody>
                </p:sp>
                <p:sp>
                  <p:nvSpPr>
                    <p:cNvPr id="76" name="Rectangle 75">
                      <a:extLst>
                        <a:ext uri="{FF2B5EF4-FFF2-40B4-BE49-F238E27FC236}">
                          <a16:creationId xmlns:a16="http://schemas.microsoft.com/office/drawing/2014/main" id="{754FA271-709E-B548-2DEB-5F9B7982E63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646160" y="4104640"/>
                      <a:ext cx="528320" cy="52832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p:grpSp>
              <p:cxnSp>
                <p:nvCxnSpPr>
                  <p:cNvPr id="70" name="Straight Arrow Connector 69">
                    <a:extLst>
                      <a:ext uri="{FF2B5EF4-FFF2-40B4-BE49-F238E27FC236}">
                        <a16:creationId xmlns:a16="http://schemas.microsoft.com/office/drawing/2014/main" id="{0020A681-3AA2-B19C-59AF-E766BF637A1A}"/>
                      </a:ext>
                    </a:extLst>
                  </p:cNvPr>
                  <p:cNvCxnSpPr>
                    <a:cxnSpLocks/>
                    <a:endCxn id="79" idx="1"/>
                  </p:cNvCxnSpPr>
                  <p:nvPr/>
                </p:nvCxnSpPr>
                <p:spPr>
                  <a:xfrm>
                    <a:off x="4846320" y="1819117"/>
                    <a:ext cx="528320" cy="0"/>
                  </a:xfrm>
                  <a:prstGeom prst="straightConnector1">
                    <a:avLst/>
                  </a:prstGeom>
                  <a:ln w="5715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1" name="Straight Arrow Connector 70">
                    <a:extLst>
                      <a:ext uri="{FF2B5EF4-FFF2-40B4-BE49-F238E27FC236}">
                        <a16:creationId xmlns:a16="http://schemas.microsoft.com/office/drawing/2014/main" id="{1AF76D92-397D-524F-381F-266FDEA0D6EA}"/>
                      </a:ext>
                    </a:extLst>
                  </p:cNvPr>
                  <p:cNvCxnSpPr>
                    <a:cxnSpLocks/>
                    <a:endCxn id="77" idx="1"/>
                  </p:cNvCxnSpPr>
                  <p:nvPr/>
                </p:nvCxnSpPr>
                <p:spPr>
                  <a:xfrm>
                    <a:off x="6167120" y="1819117"/>
                    <a:ext cx="533400" cy="0"/>
                  </a:xfrm>
                  <a:prstGeom prst="straightConnector1">
                    <a:avLst/>
                  </a:prstGeom>
                  <a:ln w="5715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2" name="Straight Arrow Connector 71">
                    <a:extLst>
                      <a:ext uri="{FF2B5EF4-FFF2-40B4-BE49-F238E27FC236}">
                        <a16:creationId xmlns:a16="http://schemas.microsoft.com/office/drawing/2014/main" id="{7A8F118D-7DEE-7AB6-957D-2E284203AFD6}"/>
                      </a:ext>
                    </a:extLst>
                  </p:cNvPr>
                  <p:cNvCxnSpPr>
                    <a:cxnSpLocks/>
                    <a:endCxn id="75" idx="1"/>
                  </p:cNvCxnSpPr>
                  <p:nvPr/>
                </p:nvCxnSpPr>
                <p:spPr>
                  <a:xfrm>
                    <a:off x="7493000" y="1819117"/>
                    <a:ext cx="528320" cy="0"/>
                  </a:xfrm>
                  <a:prstGeom prst="straightConnector1">
                    <a:avLst/>
                  </a:prstGeom>
                  <a:ln w="5715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60" name="Rectangle 59">
                  <a:extLst>
                    <a:ext uri="{FF2B5EF4-FFF2-40B4-BE49-F238E27FC236}">
                      <a16:creationId xmlns:a16="http://schemas.microsoft.com/office/drawing/2014/main" id="{FA250A60-9723-806E-77F7-BF1B51684253}"/>
                    </a:ext>
                  </a:extLst>
                </p:cNvPr>
                <p:cNvSpPr/>
                <p:nvPr/>
              </p:nvSpPr>
              <p:spPr>
                <a:xfrm>
                  <a:off x="838200" y="1554957"/>
                  <a:ext cx="949960" cy="528320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front</a:t>
                  </a:r>
                </a:p>
              </p:txBody>
            </p:sp>
            <p:sp>
              <p:nvSpPr>
                <p:cNvPr id="62" name="Rectangle 61">
                  <a:extLst>
                    <a:ext uri="{FF2B5EF4-FFF2-40B4-BE49-F238E27FC236}">
                      <a16:creationId xmlns:a16="http://schemas.microsoft.com/office/drawing/2014/main" id="{1FD5FE56-6BE7-5D20-D93B-A28151B97E7B}"/>
                    </a:ext>
                  </a:extLst>
                </p:cNvPr>
                <p:cNvSpPr/>
                <p:nvPr/>
              </p:nvSpPr>
              <p:spPr>
                <a:xfrm>
                  <a:off x="7810500" y="2744789"/>
                  <a:ext cx="949960" cy="528320"/>
                </a:xfrm>
                <a:prstGeom prst="rect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back</a:t>
                  </a:r>
                </a:p>
              </p:txBody>
            </p:sp>
            <p:cxnSp>
              <p:nvCxnSpPr>
                <p:cNvPr id="63" name="Straight Arrow Connector 62">
                  <a:extLst>
                    <a:ext uri="{FF2B5EF4-FFF2-40B4-BE49-F238E27FC236}">
                      <a16:creationId xmlns:a16="http://schemas.microsoft.com/office/drawing/2014/main" id="{997CFD8F-000F-76AB-9403-23B833AA1656}"/>
                    </a:ext>
                  </a:extLst>
                </p:cNvPr>
                <p:cNvCxnSpPr>
                  <a:cxnSpLocks/>
                  <a:stCxn id="62" idx="0"/>
                  <a:endCxn id="75" idx="2"/>
                </p:cNvCxnSpPr>
                <p:nvPr/>
              </p:nvCxnSpPr>
              <p:spPr>
                <a:xfrm flipV="1">
                  <a:off x="8285480" y="2083277"/>
                  <a:ext cx="0" cy="661512"/>
                </a:xfrm>
                <a:prstGeom prst="straightConnector1">
                  <a:avLst/>
                </a:prstGeom>
                <a:ln w="5715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A8EDFABF-3BA0-49ED-50F0-83263FA85D0D}"/>
                  </a:ext>
                </a:extLst>
              </p:cNvPr>
              <p:cNvSpPr/>
              <p:nvPr/>
            </p:nvSpPr>
            <p:spPr>
              <a:xfrm>
                <a:off x="1907209" y="5385684"/>
                <a:ext cx="949960" cy="52832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>
                    <a:solidFill>
                      <a:prstClr val="black"/>
                    </a:solidFill>
                    <a:latin typeface="Calibri" panose="020F0502020204030204"/>
                  </a:rPr>
                  <a:t>f</a:t>
                </a:r>
                <a:r>
                  <a:rPr kumimoji="0" lang="en-US" sz="1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irst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= 5</a:t>
                </a:r>
              </a:p>
            </p:txBody>
          </p:sp>
        </p:grpSp>
        <p:cxnSp>
          <p:nvCxnSpPr>
            <p:cNvPr id="8" name="Connector: Curved 7">
              <a:extLst>
                <a:ext uri="{FF2B5EF4-FFF2-40B4-BE49-F238E27FC236}">
                  <a16:creationId xmlns:a16="http://schemas.microsoft.com/office/drawing/2014/main" id="{5C1788E0-DB54-23B0-8D66-CDB4E3B34717}"/>
                </a:ext>
              </a:extLst>
            </p:cNvPr>
            <p:cNvCxnSpPr>
              <a:cxnSpLocks/>
              <a:stCxn id="60" idx="2"/>
              <a:endCxn id="81" idx="2"/>
            </p:cNvCxnSpPr>
            <p:nvPr/>
          </p:nvCxnSpPr>
          <p:spPr>
            <a:xfrm rot="16200000" flipH="1">
              <a:off x="2944799" y="2693442"/>
              <a:ext cx="12700" cy="3004820"/>
            </a:xfrm>
            <a:prstGeom prst="curvedConnector3">
              <a:avLst>
                <a:gd name="adj1" fmla="val 3443472"/>
              </a:avLst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508068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493DEC-E5A4-4926-0F81-EA169FAC7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8088E-0C69-0C41-9505-0A2F0F83E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dequeue()</a:t>
            </a:r>
            <a:r>
              <a:rPr lang="en-US" dirty="0"/>
              <a:t> – line 4 of 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CCFDD14-A911-7E57-EBE9-3E20A1517D27}"/>
              </a:ext>
            </a:extLst>
          </p:cNvPr>
          <p:cNvSpPr txBox="1"/>
          <p:nvPr/>
        </p:nvSpPr>
        <p:spPr>
          <a:xfrm>
            <a:off x="4112895" y="1598039"/>
            <a:ext cx="477677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dequeue(){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first = </a:t>
            </a:r>
            <a:r>
              <a:rPr lang="en-US" sz="1600" dirty="0" err="1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front.value</a:t>
            </a: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;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front = </a:t>
            </a:r>
            <a:r>
              <a:rPr lang="en-US" sz="1600" dirty="0" err="1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front.next</a:t>
            </a: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;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if (front == null) {back = null;}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600" b="1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return first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}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6C5EB05-A344-6F7C-7001-DB53FC62FF1A}"/>
              </a:ext>
            </a:extLst>
          </p:cNvPr>
          <p:cNvGrpSpPr/>
          <p:nvPr/>
        </p:nvGrpSpPr>
        <p:grpSpPr>
          <a:xfrm>
            <a:off x="967409" y="3667532"/>
            <a:ext cx="8239760" cy="3033484"/>
            <a:chOff x="967409" y="3667532"/>
            <a:chExt cx="8239760" cy="3033484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903D939-ED4C-B3F7-AFCF-892CD8537A66}"/>
                </a:ext>
              </a:extLst>
            </p:cNvPr>
            <p:cNvGrpSpPr/>
            <p:nvPr/>
          </p:nvGrpSpPr>
          <p:grpSpPr>
            <a:xfrm>
              <a:off x="967409" y="3667532"/>
              <a:ext cx="8239760" cy="2246472"/>
              <a:chOff x="967409" y="3667532"/>
              <a:chExt cx="8239760" cy="2246472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00FBE717-4C68-AA44-87FC-85D61D4EA079}"/>
                  </a:ext>
                </a:extLst>
              </p:cNvPr>
              <p:cNvGrpSpPr/>
              <p:nvPr/>
            </p:nvGrpSpPr>
            <p:grpSpPr>
              <a:xfrm>
                <a:off x="967409" y="3667532"/>
                <a:ext cx="8239760" cy="2246472"/>
                <a:chOff x="967409" y="3667532"/>
                <a:chExt cx="8239760" cy="2246472"/>
              </a:xfrm>
            </p:grpSpPr>
            <p:grpSp>
              <p:nvGrpSpPr>
                <p:cNvPr id="58" name="Group 57" descr="An illustration of a linked queue data structure. The elements of the list are contained in node objects. Each node object has a reference to another node object to establish a sequence of elements. There is also a reference called &quot;front&quot; that points to the first node in the queue, and a reference called &quot;back&quot; that points to the last node in the queue.">
                  <a:extLst>
                    <a:ext uri="{FF2B5EF4-FFF2-40B4-BE49-F238E27FC236}">
                      <a16:creationId xmlns:a16="http://schemas.microsoft.com/office/drawing/2014/main" id="{274B0EA4-2C9D-7F20-1410-5319FD9E24FF}"/>
                    </a:ext>
                  </a:extLst>
                </p:cNvPr>
                <p:cNvGrpSpPr/>
                <p:nvPr/>
              </p:nvGrpSpPr>
              <p:grpSpPr>
                <a:xfrm>
                  <a:off x="967409" y="3667532"/>
                  <a:ext cx="8239760" cy="1718152"/>
                  <a:chOff x="838200" y="1554957"/>
                  <a:chExt cx="8239760" cy="1718152"/>
                </a:xfrm>
              </p:grpSpPr>
              <p:grpSp>
                <p:nvGrpSpPr>
                  <p:cNvPr id="59" name="Group 58">
                    <a:extLst>
                      <a:ext uri="{FF2B5EF4-FFF2-40B4-BE49-F238E27FC236}">
                        <a16:creationId xmlns:a16="http://schemas.microsoft.com/office/drawing/2014/main" id="{76EE180D-215D-6A84-C285-D13F98F6622E}"/>
                      </a:ext>
                    </a:extLst>
                  </p:cNvPr>
                  <p:cNvGrpSpPr/>
                  <p:nvPr/>
                </p:nvGrpSpPr>
                <p:grpSpPr>
                  <a:xfrm>
                    <a:off x="4053840" y="1554957"/>
                    <a:ext cx="5024120" cy="528320"/>
                    <a:chOff x="4053840" y="1554957"/>
                    <a:chExt cx="5024120" cy="528320"/>
                  </a:xfrm>
                </p:grpSpPr>
                <p:grpSp>
                  <p:nvGrpSpPr>
                    <p:cNvPr id="64" name="Group 63">
                      <a:extLst>
                        <a:ext uri="{FF2B5EF4-FFF2-40B4-BE49-F238E27FC236}">
                          <a16:creationId xmlns:a16="http://schemas.microsoft.com/office/drawing/2014/main" id="{F9DD3DBC-9899-3B2E-CE83-EEEED2D10A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53840" y="1554957"/>
                      <a:ext cx="1056640" cy="528320"/>
                      <a:chOff x="8117840" y="4104640"/>
                      <a:chExt cx="1056640" cy="528320"/>
                    </a:xfrm>
                  </p:grpSpPr>
                  <p:sp>
                    <p:nvSpPr>
                      <p:cNvPr id="81" name="Rectangle 80">
                        <a:extLst>
                          <a:ext uri="{FF2B5EF4-FFF2-40B4-BE49-F238E27FC236}">
                            <a16:creationId xmlns:a16="http://schemas.microsoft.com/office/drawing/2014/main" id="{66D6BF7B-BD80-34F7-BC36-B93324BFCC4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117840" y="4104640"/>
                        <a:ext cx="528320" cy="528320"/>
                      </a:xfrm>
                      <a:prstGeom prst="rect">
                        <a:avLst/>
                      </a:prstGeom>
                      <a:solidFill>
                        <a:schemeClr val="accent4">
                          <a:lumMod val="40000"/>
                          <a:lumOff val="60000"/>
                        </a:schemeClr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rPr>
                          <a:t>8</a:t>
                        </a:r>
                      </a:p>
                    </p:txBody>
                  </p:sp>
                  <p:sp>
                    <p:nvSpPr>
                      <p:cNvPr id="82" name="Rectangle 81">
                        <a:extLst>
                          <a:ext uri="{FF2B5EF4-FFF2-40B4-BE49-F238E27FC236}">
                            <a16:creationId xmlns:a16="http://schemas.microsoft.com/office/drawing/2014/main" id="{4E2E2DC6-890B-D24E-A9D7-0EE44873D62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646160" y="4104640"/>
                        <a:ext cx="528320" cy="52832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</p:grpSp>
                <p:grpSp>
                  <p:nvGrpSpPr>
                    <p:cNvPr id="65" name="Group 64">
                      <a:extLst>
                        <a:ext uri="{FF2B5EF4-FFF2-40B4-BE49-F238E27FC236}">
                          <a16:creationId xmlns:a16="http://schemas.microsoft.com/office/drawing/2014/main" id="{0B56841F-E7CC-9F7F-E6CB-7D1F1F0682D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374640" y="1554957"/>
                      <a:ext cx="1056640" cy="528320"/>
                      <a:chOff x="8117840" y="4104640"/>
                      <a:chExt cx="1056640" cy="528320"/>
                    </a:xfrm>
                  </p:grpSpPr>
                  <p:sp>
                    <p:nvSpPr>
                      <p:cNvPr id="79" name="Rectangle 78">
                        <a:extLst>
                          <a:ext uri="{FF2B5EF4-FFF2-40B4-BE49-F238E27FC236}">
                            <a16:creationId xmlns:a16="http://schemas.microsoft.com/office/drawing/2014/main" id="{D16BBAA8-3290-C1E2-F591-C646031DC68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117840" y="4104640"/>
                        <a:ext cx="528320" cy="528320"/>
                      </a:xfrm>
                      <a:prstGeom prst="rect">
                        <a:avLst/>
                      </a:prstGeom>
                      <a:solidFill>
                        <a:schemeClr val="accent4">
                          <a:lumMod val="40000"/>
                          <a:lumOff val="60000"/>
                        </a:schemeClr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rPr>
                          <a:t>3</a:t>
                        </a:r>
                      </a:p>
                    </p:txBody>
                  </p:sp>
                  <p:sp>
                    <p:nvSpPr>
                      <p:cNvPr id="80" name="Rectangle 79">
                        <a:extLst>
                          <a:ext uri="{FF2B5EF4-FFF2-40B4-BE49-F238E27FC236}">
                            <a16:creationId xmlns:a16="http://schemas.microsoft.com/office/drawing/2014/main" id="{5DD5A7AA-73F9-E518-3ECF-030B0AF582F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646160" y="4104640"/>
                        <a:ext cx="528320" cy="52832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</p:grpSp>
                <p:grpSp>
                  <p:nvGrpSpPr>
                    <p:cNvPr id="66" name="Group 65">
                      <a:extLst>
                        <a:ext uri="{FF2B5EF4-FFF2-40B4-BE49-F238E27FC236}">
                          <a16:creationId xmlns:a16="http://schemas.microsoft.com/office/drawing/2014/main" id="{7E5727D8-F8C1-64D1-445E-1FEE74B059A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700520" y="1554957"/>
                      <a:ext cx="1056640" cy="528320"/>
                      <a:chOff x="8117840" y="4104640"/>
                      <a:chExt cx="1056640" cy="528320"/>
                    </a:xfrm>
                  </p:grpSpPr>
                  <p:sp>
                    <p:nvSpPr>
                      <p:cNvPr id="77" name="Rectangle 76">
                        <a:extLst>
                          <a:ext uri="{FF2B5EF4-FFF2-40B4-BE49-F238E27FC236}">
                            <a16:creationId xmlns:a16="http://schemas.microsoft.com/office/drawing/2014/main" id="{9D8F8A09-CC9E-0EDA-E167-D90DABB603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117840" y="4104640"/>
                        <a:ext cx="528320" cy="528320"/>
                      </a:xfrm>
                      <a:prstGeom prst="rect">
                        <a:avLst/>
                      </a:prstGeom>
                      <a:solidFill>
                        <a:schemeClr val="accent4">
                          <a:lumMod val="40000"/>
                          <a:lumOff val="60000"/>
                        </a:schemeClr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rPr>
                          <a:t>4</a:t>
                        </a:r>
                      </a:p>
                    </p:txBody>
                  </p:sp>
                  <p:sp>
                    <p:nvSpPr>
                      <p:cNvPr id="78" name="Rectangle 77">
                        <a:extLst>
                          <a:ext uri="{FF2B5EF4-FFF2-40B4-BE49-F238E27FC236}">
                            <a16:creationId xmlns:a16="http://schemas.microsoft.com/office/drawing/2014/main" id="{0860DD46-511C-B2A2-027D-926A903C1E1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646160" y="4104640"/>
                        <a:ext cx="528320" cy="52832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</p:grpSp>
                <p:grpSp>
                  <p:nvGrpSpPr>
                    <p:cNvPr id="67" name="Group 66">
                      <a:extLst>
                        <a:ext uri="{FF2B5EF4-FFF2-40B4-BE49-F238E27FC236}">
                          <a16:creationId xmlns:a16="http://schemas.microsoft.com/office/drawing/2014/main" id="{FE40A791-D7EB-3345-98EF-16ED810C673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021320" y="1554957"/>
                      <a:ext cx="1056640" cy="528320"/>
                      <a:chOff x="8117840" y="4104640"/>
                      <a:chExt cx="1056640" cy="528320"/>
                    </a:xfrm>
                  </p:grpSpPr>
                  <p:sp>
                    <p:nvSpPr>
                      <p:cNvPr id="75" name="Rectangle 74">
                        <a:extLst>
                          <a:ext uri="{FF2B5EF4-FFF2-40B4-BE49-F238E27FC236}">
                            <a16:creationId xmlns:a16="http://schemas.microsoft.com/office/drawing/2014/main" id="{004929F3-7399-2E3D-45EB-128E034F831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117840" y="4104640"/>
                        <a:ext cx="528320" cy="528320"/>
                      </a:xfrm>
                      <a:prstGeom prst="rect">
                        <a:avLst/>
                      </a:prstGeom>
                      <a:solidFill>
                        <a:schemeClr val="accent4">
                          <a:lumMod val="40000"/>
                          <a:lumOff val="60000"/>
                        </a:schemeClr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8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rPr>
                          <a:t>7</a:t>
                        </a:r>
                      </a:p>
                    </p:txBody>
                  </p:sp>
                  <p:sp>
                    <p:nvSpPr>
                      <p:cNvPr id="76" name="Rectangle 75">
                        <a:extLst>
                          <a:ext uri="{FF2B5EF4-FFF2-40B4-BE49-F238E27FC236}">
                            <a16:creationId xmlns:a16="http://schemas.microsoft.com/office/drawing/2014/main" id="{82F3DC7E-B3E1-D2BF-EE63-CB2210A6E08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646160" y="4104640"/>
                        <a:ext cx="528320" cy="52832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p:txBody>
                  </p:sp>
                </p:grpSp>
                <p:cxnSp>
                  <p:nvCxnSpPr>
                    <p:cNvPr id="70" name="Straight Arrow Connector 69">
                      <a:extLst>
                        <a:ext uri="{FF2B5EF4-FFF2-40B4-BE49-F238E27FC236}">
                          <a16:creationId xmlns:a16="http://schemas.microsoft.com/office/drawing/2014/main" id="{25540624-0A2B-978E-4C6A-E0453E37C0D2}"/>
                        </a:ext>
                      </a:extLst>
                    </p:cNvPr>
                    <p:cNvCxnSpPr>
                      <a:cxnSpLocks/>
                      <a:endCxn id="79" idx="1"/>
                    </p:cNvCxnSpPr>
                    <p:nvPr/>
                  </p:nvCxnSpPr>
                  <p:spPr>
                    <a:xfrm>
                      <a:off x="4846320" y="1819117"/>
                      <a:ext cx="528320" cy="0"/>
                    </a:xfrm>
                    <a:prstGeom prst="straightConnector1">
                      <a:avLst/>
                    </a:prstGeom>
                    <a:ln w="57150">
                      <a:solidFill>
                        <a:srgbClr val="FF0000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1" name="Straight Arrow Connector 70">
                      <a:extLst>
                        <a:ext uri="{FF2B5EF4-FFF2-40B4-BE49-F238E27FC236}">
                          <a16:creationId xmlns:a16="http://schemas.microsoft.com/office/drawing/2014/main" id="{BB9DA291-DB61-1AFD-E3B3-79CC737C22EC}"/>
                        </a:ext>
                      </a:extLst>
                    </p:cNvPr>
                    <p:cNvCxnSpPr>
                      <a:cxnSpLocks/>
                      <a:endCxn id="77" idx="1"/>
                    </p:cNvCxnSpPr>
                    <p:nvPr/>
                  </p:nvCxnSpPr>
                  <p:spPr>
                    <a:xfrm>
                      <a:off x="6167120" y="1819117"/>
                      <a:ext cx="533400" cy="0"/>
                    </a:xfrm>
                    <a:prstGeom prst="straightConnector1">
                      <a:avLst/>
                    </a:prstGeom>
                    <a:ln w="57150">
                      <a:solidFill>
                        <a:srgbClr val="FF0000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2" name="Straight Arrow Connector 71">
                      <a:extLst>
                        <a:ext uri="{FF2B5EF4-FFF2-40B4-BE49-F238E27FC236}">
                          <a16:creationId xmlns:a16="http://schemas.microsoft.com/office/drawing/2014/main" id="{85687184-9AE6-735E-5334-E1468C325900}"/>
                        </a:ext>
                      </a:extLst>
                    </p:cNvPr>
                    <p:cNvCxnSpPr>
                      <a:cxnSpLocks/>
                      <a:endCxn id="75" idx="1"/>
                    </p:cNvCxnSpPr>
                    <p:nvPr/>
                  </p:nvCxnSpPr>
                  <p:spPr>
                    <a:xfrm>
                      <a:off x="7493000" y="1819117"/>
                      <a:ext cx="528320" cy="0"/>
                    </a:xfrm>
                    <a:prstGeom prst="straightConnector1">
                      <a:avLst/>
                    </a:prstGeom>
                    <a:ln w="57150">
                      <a:solidFill>
                        <a:srgbClr val="FF0000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60" name="Rectangle 59">
                    <a:extLst>
                      <a:ext uri="{FF2B5EF4-FFF2-40B4-BE49-F238E27FC236}">
                        <a16:creationId xmlns:a16="http://schemas.microsoft.com/office/drawing/2014/main" id="{23D85DE5-468E-B5C4-5BAA-69B5E1D3E3DC}"/>
                      </a:ext>
                    </a:extLst>
                  </p:cNvPr>
                  <p:cNvSpPr/>
                  <p:nvPr/>
                </p:nvSpPr>
                <p:spPr>
                  <a:xfrm>
                    <a:off x="838200" y="1554957"/>
                    <a:ext cx="949960" cy="528320"/>
                  </a:xfrm>
                  <a:prstGeom prst="rect">
                    <a:avLst/>
                  </a:prstGeom>
                  <a:solidFill>
                    <a:schemeClr val="accent5">
                      <a:lumMod val="60000"/>
                      <a:lumOff val="4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front</a:t>
                    </a:r>
                  </a:p>
                </p:txBody>
              </p:sp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BBC0858C-D116-C698-6BC6-CB6AE3ACA3FE}"/>
                      </a:ext>
                    </a:extLst>
                  </p:cNvPr>
                  <p:cNvSpPr/>
                  <p:nvPr/>
                </p:nvSpPr>
                <p:spPr>
                  <a:xfrm>
                    <a:off x="7810500" y="2744789"/>
                    <a:ext cx="949960" cy="528320"/>
                  </a:xfrm>
                  <a:prstGeom prst="rect">
                    <a:avLst/>
                  </a:prstGeom>
                  <a:solidFill>
                    <a:srgbClr val="FFC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back</a:t>
                    </a:r>
                  </a:p>
                </p:txBody>
              </p:sp>
              <p:cxnSp>
                <p:nvCxnSpPr>
                  <p:cNvPr id="63" name="Straight Arrow Connector 62">
                    <a:extLst>
                      <a:ext uri="{FF2B5EF4-FFF2-40B4-BE49-F238E27FC236}">
                        <a16:creationId xmlns:a16="http://schemas.microsoft.com/office/drawing/2014/main" id="{740BF278-C4B8-2872-E50E-FF972C6DF630}"/>
                      </a:ext>
                    </a:extLst>
                  </p:cNvPr>
                  <p:cNvCxnSpPr>
                    <a:cxnSpLocks/>
                    <a:stCxn id="62" idx="0"/>
                    <a:endCxn id="75" idx="2"/>
                  </p:cNvCxnSpPr>
                  <p:nvPr/>
                </p:nvCxnSpPr>
                <p:spPr>
                  <a:xfrm flipV="1">
                    <a:off x="8285480" y="2083277"/>
                    <a:ext cx="0" cy="661512"/>
                  </a:xfrm>
                  <a:prstGeom prst="straightConnector1">
                    <a:avLst/>
                  </a:prstGeom>
                  <a:ln w="5715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1DE0C2A2-3E7B-0821-6842-D8CF024494EF}"/>
                    </a:ext>
                  </a:extLst>
                </p:cNvPr>
                <p:cNvSpPr/>
                <p:nvPr/>
              </p:nvSpPr>
              <p:spPr>
                <a:xfrm>
                  <a:off x="1907209" y="5385684"/>
                  <a:ext cx="949960" cy="528320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n-US" dirty="0">
                      <a:solidFill>
                        <a:prstClr val="black"/>
                      </a:solidFill>
                      <a:latin typeface="Calibri" panose="020F0502020204030204"/>
                    </a:rPr>
                    <a:t>f</a:t>
                  </a:r>
                  <a:r>
                    <a:rPr kumimoji="0" lang="en-US" sz="18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irst</a:t>
                  </a: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 = 5</a:t>
                  </a:r>
                </a:p>
              </p:txBody>
            </p:sp>
          </p:grpSp>
          <p:cxnSp>
            <p:nvCxnSpPr>
              <p:cNvPr id="8" name="Connector: Curved 7">
                <a:extLst>
                  <a:ext uri="{FF2B5EF4-FFF2-40B4-BE49-F238E27FC236}">
                    <a16:creationId xmlns:a16="http://schemas.microsoft.com/office/drawing/2014/main" id="{2CB758C8-7225-BC3B-FA23-6BE9EA7336D3}"/>
                  </a:ext>
                </a:extLst>
              </p:cNvPr>
              <p:cNvCxnSpPr>
                <a:cxnSpLocks/>
                <a:stCxn id="60" idx="2"/>
                <a:endCxn id="81" idx="2"/>
              </p:cNvCxnSpPr>
              <p:nvPr/>
            </p:nvCxnSpPr>
            <p:spPr>
              <a:xfrm rot="16200000" flipH="1">
                <a:off x="2944799" y="2693442"/>
                <a:ext cx="12700" cy="3004820"/>
              </a:xfrm>
              <a:prstGeom prst="curvedConnector3">
                <a:avLst>
                  <a:gd name="adj1" fmla="val 3443472"/>
                </a:avLst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" name="Arrow: Curved Left 4">
              <a:extLst>
                <a:ext uri="{FF2B5EF4-FFF2-40B4-BE49-F238E27FC236}">
                  <a16:creationId xmlns:a16="http://schemas.microsoft.com/office/drawing/2014/main" id="{C94939F2-BA12-BA9D-618D-EED665A28189}"/>
                </a:ext>
              </a:extLst>
            </p:cNvPr>
            <p:cNvSpPr/>
            <p:nvPr/>
          </p:nvSpPr>
          <p:spPr>
            <a:xfrm>
              <a:off x="3011557" y="5595730"/>
              <a:ext cx="685800" cy="1105286"/>
            </a:xfrm>
            <a:prstGeom prst="curvedLeftArrow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E5AEDD5-D4F0-E029-E424-BEBF3ABB4E89}"/>
                </a:ext>
              </a:extLst>
            </p:cNvPr>
            <p:cNvSpPr txBox="1"/>
            <p:nvPr/>
          </p:nvSpPr>
          <p:spPr>
            <a:xfrm>
              <a:off x="3836504" y="5914004"/>
              <a:ext cx="113319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Returned!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121631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B0B42A-52BA-05B8-92E1-9F39E6DF2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7FFCC9-99D8-3728-272E-BA294D2EE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Dequeue Algorithm – Emptying the Queue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B6025E0-71D1-A616-E9A6-6B824C4B9B5B}"/>
              </a:ext>
            </a:extLst>
          </p:cNvPr>
          <p:cNvSpPr txBox="1"/>
          <p:nvPr/>
        </p:nvSpPr>
        <p:spPr>
          <a:xfrm>
            <a:off x="4112895" y="1598039"/>
            <a:ext cx="477677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dequeue(){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first = </a:t>
            </a:r>
            <a:r>
              <a:rPr lang="en-US" sz="1600" dirty="0" err="1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front.value</a:t>
            </a: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;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front = </a:t>
            </a:r>
            <a:r>
              <a:rPr lang="en-US" sz="1600" dirty="0" err="1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front.next</a:t>
            </a: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;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if (front == null) {back = null;}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return first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}</a:t>
            </a:r>
          </a:p>
        </p:txBody>
      </p:sp>
      <p:grpSp>
        <p:nvGrpSpPr>
          <p:cNvPr id="58" name="Group 57" descr="An illustration of a linked queue data structure. The elements of the list are contained in node objects. Each node object has a reference to another node object to establish a sequence of elements. There is also a reference called &quot;front&quot; that points to the first node in the queue, and a reference called &quot;back&quot; that points to the last node in the queue.">
            <a:extLst>
              <a:ext uri="{FF2B5EF4-FFF2-40B4-BE49-F238E27FC236}">
                <a16:creationId xmlns:a16="http://schemas.microsoft.com/office/drawing/2014/main" id="{DB164E42-5BF3-F6B6-29AA-C9E52A11C433}"/>
              </a:ext>
            </a:extLst>
          </p:cNvPr>
          <p:cNvGrpSpPr/>
          <p:nvPr/>
        </p:nvGrpSpPr>
        <p:grpSpPr>
          <a:xfrm>
            <a:off x="967409" y="3667532"/>
            <a:ext cx="8239760" cy="1718152"/>
            <a:chOff x="838200" y="1554957"/>
            <a:chExt cx="8239760" cy="1718152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68219AF1-EC20-1218-084E-F5134AC061E4}"/>
                </a:ext>
              </a:extLst>
            </p:cNvPr>
            <p:cNvGrpSpPr/>
            <p:nvPr/>
          </p:nvGrpSpPr>
          <p:grpSpPr>
            <a:xfrm>
              <a:off x="2727960" y="1554957"/>
              <a:ext cx="6350000" cy="528320"/>
              <a:chOff x="2727960" y="1554957"/>
              <a:chExt cx="6350000" cy="528320"/>
            </a:xfrm>
          </p:grpSpPr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D398681F-A987-369B-6B60-E3B2AF616580}"/>
                  </a:ext>
                </a:extLst>
              </p:cNvPr>
              <p:cNvGrpSpPr/>
              <p:nvPr/>
            </p:nvGrpSpPr>
            <p:grpSpPr>
              <a:xfrm>
                <a:off x="4053840" y="1554957"/>
                <a:ext cx="1056640" cy="528320"/>
                <a:chOff x="8117840" y="4104640"/>
                <a:chExt cx="1056640" cy="528320"/>
              </a:xfrm>
            </p:grpSpPr>
            <p:sp>
              <p:nvSpPr>
                <p:cNvPr id="81" name="Rectangle 80">
                  <a:extLst>
                    <a:ext uri="{FF2B5EF4-FFF2-40B4-BE49-F238E27FC236}">
                      <a16:creationId xmlns:a16="http://schemas.microsoft.com/office/drawing/2014/main" id="{60BDED84-9143-F105-9E43-C25587A4EC28}"/>
                    </a:ext>
                  </a:extLst>
                </p:cNvPr>
                <p:cNvSpPr/>
                <p:nvPr/>
              </p:nvSpPr>
              <p:spPr>
                <a:xfrm>
                  <a:off x="8117840" y="4104640"/>
                  <a:ext cx="528320" cy="52832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8</a:t>
                  </a:r>
                </a:p>
              </p:txBody>
            </p:sp>
            <p:sp>
              <p:nvSpPr>
                <p:cNvPr id="82" name="Rectangle 81">
                  <a:extLst>
                    <a:ext uri="{FF2B5EF4-FFF2-40B4-BE49-F238E27FC236}">
                      <a16:creationId xmlns:a16="http://schemas.microsoft.com/office/drawing/2014/main" id="{24811D1D-0C6A-CBC6-0F37-9A90A56ED0E4}"/>
                    </a:ext>
                  </a:extLst>
                </p:cNvPr>
                <p:cNvSpPr/>
                <p:nvPr/>
              </p:nvSpPr>
              <p:spPr>
                <a:xfrm>
                  <a:off x="8646160" y="4104640"/>
                  <a:ext cx="528320" cy="52832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65" name="Group 64">
                <a:extLst>
                  <a:ext uri="{FF2B5EF4-FFF2-40B4-BE49-F238E27FC236}">
                    <a16:creationId xmlns:a16="http://schemas.microsoft.com/office/drawing/2014/main" id="{3C74E937-154B-D081-AECA-65EE3655F9CC}"/>
                  </a:ext>
                </a:extLst>
              </p:cNvPr>
              <p:cNvGrpSpPr/>
              <p:nvPr/>
            </p:nvGrpSpPr>
            <p:grpSpPr>
              <a:xfrm>
                <a:off x="5374640" y="1554957"/>
                <a:ext cx="1056640" cy="528320"/>
                <a:chOff x="8117840" y="4104640"/>
                <a:chExt cx="1056640" cy="528320"/>
              </a:xfrm>
            </p:grpSpPr>
            <p:sp>
              <p:nvSpPr>
                <p:cNvPr id="79" name="Rectangle 78">
                  <a:extLst>
                    <a:ext uri="{FF2B5EF4-FFF2-40B4-BE49-F238E27FC236}">
                      <a16:creationId xmlns:a16="http://schemas.microsoft.com/office/drawing/2014/main" id="{4C8301A5-4AF9-E60F-B9BB-A6A48A74AF7C}"/>
                    </a:ext>
                  </a:extLst>
                </p:cNvPr>
                <p:cNvSpPr/>
                <p:nvPr/>
              </p:nvSpPr>
              <p:spPr>
                <a:xfrm>
                  <a:off x="8117840" y="4104640"/>
                  <a:ext cx="528320" cy="52832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3</a:t>
                  </a:r>
                </a:p>
              </p:txBody>
            </p:sp>
            <p:sp>
              <p:nvSpPr>
                <p:cNvPr id="80" name="Rectangle 79">
                  <a:extLst>
                    <a:ext uri="{FF2B5EF4-FFF2-40B4-BE49-F238E27FC236}">
                      <a16:creationId xmlns:a16="http://schemas.microsoft.com/office/drawing/2014/main" id="{3DAFD9A7-0218-8EF7-1715-5CB4E3EED825}"/>
                    </a:ext>
                  </a:extLst>
                </p:cNvPr>
                <p:cNvSpPr/>
                <p:nvPr/>
              </p:nvSpPr>
              <p:spPr>
                <a:xfrm>
                  <a:off x="8646160" y="4104640"/>
                  <a:ext cx="528320" cy="52832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66" name="Group 65">
                <a:extLst>
                  <a:ext uri="{FF2B5EF4-FFF2-40B4-BE49-F238E27FC236}">
                    <a16:creationId xmlns:a16="http://schemas.microsoft.com/office/drawing/2014/main" id="{17A68A8A-C023-B504-2228-82D57CD3270F}"/>
                  </a:ext>
                </a:extLst>
              </p:cNvPr>
              <p:cNvGrpSpPr/>
              <p:nvPr/>
            </p:nvGrpSpPr>
            <p:grpSpPr>
              <a:xfrm>
                <a:off x="6700520" y="1554957"/>
                <a:ext cx="1056640" cy="528320"/>
                <a:chOff x="8117840" y="4104640"/>
                <a:chExt cx="1056640" cy="528320"/>
              </a:xfrm>
            </p:grpSpPr>
            <p:sp>
              <p:nvSpPr>
                <p:cNvPr id="77" name="Rectangle 76">
                  <a:extLst>
                    <a:ext uri="{FF2B5EF4-FFF2-40B4-BE49-F238E27FC236}">
                      <a16:creationId xmlns:a16="http://schemas.microsoft.com/office/drawing/2014/main" id="{7D19E5F3-C8E9-9747-2A24-6E3F8DC3A905}"/>
                    </a:ext>
                  </a:extLst>
                </p:cNvPr>
                <p:cNvSpPr/>
                <p:nvPr/>
              </p:nvSpPr>
              <p:spPr>
                <a:xfrm>
                  <a:off x="8117840" y="4104640"/>
                  <a:ext cx="528320" cy="52832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4</a:t>
                  </a:r>
                </a:p>
              </p:txBody>
            </p:sp>
            <p:sp>
              <p:nvSpPr>
                <p:cNvPr id="78" name="Rectangle 77">
                  <a:extLst>
                    <a:ext uri="{FF2B5EF4-FFF2-40B4-BE49-F238E27FC236}">
                      <a16:creationId xmlns:a16="http://schemas.microsoft.com/office/drawing/2014/main" id="{29E2FFF0-B5FB-DF56-8E6E-BE97111C01AA}"/>
                    </a:ext>
                  </a:extLst>
                </p:cNvPr>
                <p:cNvSpPr/>
                <p:nvPr/>
              </p:nvSpPr>
              <p:spPr>
                <a:xfrm>
                  <a:off x="8646160" y="4104640"/>
                  <a:ext cx="528320" cy="52832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3D2E7D64-06F5-656F-83C7-265588DA8DF0}"/>
                  </a:ext>
                </a:extLst>
              </p:cNvPr>
              <p:cNvGrpSpPr/>
              <p:nvPr/>
            </p:nvGrpSpPr>
            <p:grpSpPr>
              <a:xfrm>
                <a:off x="8021320" y="1554957"/>
                <a:ext cx="1056640" cy="528320"/>
                <a:chOff x="8117840" y="4104640"/>
                <a:chExt cx="1056640" cy="528320"/>
              </a:xfrm>
            </p:grpSpPr>
            <p:sp>
              <p:nvSpPr>
                <p:cNvPr id="75" name="Rectangle 74">
                  <a:extLst>
                    <a:ext uri="{FF2B5EF4-FFF2-40B4-BE49-F238E27FC236}">
                      <a16:creationId xmlns:a16="http://schemas.microsoft.com/office/drawing/2014/main" id="{6633B683-1602-8C49-33B0-19AA82B60A88}"/>
                    </a:ext>
                  </a:extLst>
                </p:cNvPr>
                <p:cNvSpPr/>
                <p:nvPr/>
              </p:nvSpPr>
              <p:spPr>
                <a:xfrm>
                  <a:off x="8117840" y="4104640"/>
                  <a:ext cx="528320" cy="52832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7</a:t>
                  </a:r>
                </a:p>
              </p:txBody>
            </p:sp>
            <p:sp>
              <p:nvSpPr>
                <p:cNvPr id="76" name="Rectangle 75">
                  <a:extLst>
                    <a:ext uri="{FF2B5EF4-FFF2-40B4-BE49-F238E27FC236}">
                      <a16:creationId xmlns:a16="http://schemas.microsoft.com/office/drawing/2014/main" id="{5243C2AC-8D66-D902-9434-4B26DB5BCB08}"/>
                    </a:ext>
                  </a:extLst>
                </p:cNvPr>
                <p:cNvSpPr/>
                <p:nvPr/>
              </p:nvSpPr>
              <p:spPr>
                <a:xfrm>
                  <a:off x="8646160" y="4104640"/>
                  <a:ext cx="528320" cy="52832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68" name="Group 67">
                <a:extLst>
                  <a:ext uri="{FF2B5EF4-FFF2-40B4-BE49-F238E27FC236}">
                    <a16:creationId xmlns:a16="http://schemas.microsoft.com/office/drawing/2014/main" id="{D90206BB-F937-9137-5C5A-585D3D15016C}"/>
                  </a:ext>
                </a:extLst>
              </p:cNvPr>
              <p:cNvGrpSpPr/>
              <p:nvPr/>
            </p:nvGrpSpPr>
            <p:grpSpPr>
              <a:xfrm>
                <a:off x="2727960" y="1554957"/>
                <a:ext cx="1056640" cy="528320"/>
                <a:chOff x="8117840" y="4104640"/>
                <a:chExt cx="1056640" cy="528320"/>
              </a:xfrm>
            </p:grpSpPr>
            <p:sp>
              <p:nvSpPr>
                <p:cNvPr id="73" name="Rectangle 72">
                  <a:extLst>
                    <a:ext uri="{FF2B5EF4-FFF2-40B4-BE49-F238E27FC236}">
                      <a16:creationId xmlns:a16="http://schemas.microsoft.com/office/drawing/2014/main" id="{94357F85-5EE9-6212-AF44-A1BE27ABF5A4}"/>
                    </a:ext>
                  </a:extLst>
                </p:cNvPr>
                <p:cNvSpPr/>
                <p:nvPr/>
              </p:nvSpPr>
              <p:spPr>
                <a:xfrm>
                  <a:off x="8117840" y="4104640"/>
                  <a:ext cx="528320" cy="52832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5</a:t>
                  </a:r>
                </a:p>
              </p:txBody>
            </p:sp>
            <p:sp>
              <p:nvSpPr>
                <p:cNvPr id="74" name="Rectangle 73">
                  <a:extLst>
                    <a:ext uri="{FF2B5EF4-FFF2-40B4-BE49-F238E27FC236}">
                      <a16:creationId xmlns:a16="http://schemas.microsoft.com/office/drawing/2014/main" id="{7C76CC8C-308E-F3BC-5C24-02486AD93D6A}"/>
                    </a:ext>
                  </a:extLst>
                </p:cNvPr>
                <p:cNvSpPr/>
                <p:nvPr/>
              </p:nvSpPr>
              <p:spPr>
                <a:xfrm>
                  <a:off x="8646160" y="4104640"/>
                  <a:ext cx="528320" cy="52832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cxnSp>
            <p:nvCxnSpPr>
              <p:cNvPr id="69" name="Straight Arrow Connector 68">
                <a:extLst>
                  <a:ext uri="{FF2B5EF4-FFF2-40B4-BE49-F238E27FC236}">
                    <a16:creationId xmlns:a16="http://schemas.microsoft.com/office/drawing/2014/main" id="{6FDB2028-0DCD-D7C1-3926-E205EC3D0130}"/>
                  </a:ext>
                </a:extLst>
              </p:cNvPr>
              <p:cNvCxnSpPr>
                <a:cxnSpLocks/>
                <a:endCxn id="81" idx="1"/>
              </p:cNvCxnSpPr>
              <p:nvPr/>
            </p:nvCxnSpPr>
            <p:spPr>
              <a:xfrm>
                <a:off x="3520440" y="1819117"/>
                <a:ext cx="533400" cy="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Arrow Connector 69">
                <a:extLst>
                  <a:ext uri="{FF2B5EF4-FFF2-40B4-BE49-F238E27FC236}">
                    <a16:creationId xmlns:a16="http://schemas.microsoft.com/office/drawing/2014/main" id="{1B998E96-A659-AB24-93DC-9A109435A169}"/>
                  </a:ext>
                </a:extLst>
              </p:cNvPr>
              <p:cNvCxnSpPr>
                <a:cxnSpLocks/>
                <a:endCxn id="79" idx="1"/>
              </p:cNvCxnSpPr>
              <p:nvPr/>
            </p:nvCxnSpPr>
            <p:spPr>
              <a:xfrm>
                <a:off x="4846320" y="1819117"/>
                <a:ext cx="528320" cy="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Arrow Connector 70">
                <a:extLst>
                  <a:ext uri="{FF2B5EF4-FFF2-40B4-BE49-F238E27FC236}">
                    <a16:creationId xmlns:a16="http://schemas.microsoft.com/office/drawing/2014/main" id="{5DF6D45F-957C-128D-9ED2-CDAE340B3135}"/>
                  </a:ext>
                </a:extLst>
              </p:cNvPr>
              <p:cNvCxnSpPr>
                <a:cxnSpLocks/>
                <a:endCxn id="77" idx="1"/>
              </p:cNvCxnSpPr>
              <p:nvPr/>
            </p:nvCxnSpPr>
            <p:spPr>
              <a:xfrm>
                <a:off x="6167120" y="1819117"/>
                <a:ext cx="533400" cy="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Arrow Connector 71">
                <a:extLst>
                  <a:ext uri="{FF2B5EF4-FFF2-40B4-BE49-F238E27FC236}">
                    <a16:creationId xmlns:a16="http://schemas.microsoft.com/office/drawing/2014/main" id="{03725B1A-A425-97AD-0339-C846C3DCB7B4}"/>
                  </a:ext>
                </a:extLst>
              </p:cNvPr>
              <p:cNvCxnSpPr>
                <a:cxnSpLocks/>
                <a:endCxn id="75" idx="1"/>
              </p:cNvCxnSpPr>
              <p:nvPr/>
            </p:nvCxnSpPr>
            <p:spPr>
              <a:xfrm>
                <a:off x="7493000" y="1819117"/>
                <a:ext cx="528320" cy="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888E50D2-56C6-BB74-B599-07675ABE0186}"/>
                </a:ext>
              </a:extLst>
            </p:cNvPr>
            <p:cNvSpPr/>
            <p:nvPr/>
          </p:nvSpPr>
          <p:spPr>
            <a:xfrm>
              <a:off x="838200" y="1554957"/>
              <a:ext cx="949960" cy="528320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front</a:t>
              </a:r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C5E2D23A-6100-FDC3-9017-8ADA16815FBB}"/>
                </a:ext>
              </a:extLst>
            </p:cNvPr>
            <p:cNvCxnSpPr>
              <a:cxnSpLocks/>
              <a:stCxn id="60" idx="3"/>
              <a:endCxn id="73" idx="1"/>
            </p:cNvCxnSpPr>
            <p:nvPr/>
          </p:nvCxnSpPr>
          <p:spPr>
            <a:xfrm>
              <a:off x="1788160" y="1819117"/>
              <a:ext cx="939800" cy="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BF48E3C2-AD1A-D748-8863-B7F786F0746C}"/>
                </a:ext>
              </a:extLst>
            </p:cNvPr>
            <p:cNvSpPr/>
            <p:nvPr/>
          </p:nvSpPr>
          <p:spPr>
            <a:xfrm>
              <a:off x="7810500" y="2744789"/>
              <a:ext cx="949960" cy="52832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back</a:t>
              </a: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BB2E53E3-A638-3464-7536-069D9474D6E8}"/>
                </a:ext>
              </a:extLst>
            </p:cNvPr>
            <p:cNvCxnSpPr>
              <a:cxnSpLocks/>
              <a:stCxn id="62" idx="0"/>
              <a:endCxn id="75" idx="2"/>
            </p:cNvCxnSpPr>
            <p:nvPr/>
          </p:nvCxnSpPr>
          <p:spPr>
            <a:xfrm flipV="1">
              <a:off x="8285480" y="2083277"/>
              <a:ext cx="0" cy="661512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FE2770-2B20-0A18-3942-912DF47BEBB4}"/>
              </a:ext>
            </a:extLst>
          </p:cNvPr>
          <p:cNvSpPr txBox="1"/>
          <p:nvPr/>
        </p:nvSpPr>
        <p:spPr>
          <a:xfrm>
            <a:off x="9412357" y="1888435"/>
            <a:ext cx="2067339" cy="646331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For when the queue becomes empty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29367A4-6013-0EA8-3370-0F96D7E39F8F}"/>
              </a:ext>
            </a:extLst>
          </p:cNvPr>
          <p:cNvCxnSpPr>
            <a:cxnSpLocks/>
            <a:stCxn id="3" idx="1"/>
          </p:cNvCxnSpPr>
          <p:nvPr/>
        </p:nvCxnSpPr>
        <p:spPr>
          <a:xfrm flipH="1">
            <a:off x="8587409" y="2211601"/>
            <a:ext cx="824948" cy="183729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44849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E7FBD-9FE8-C410-AFDC-E672824F1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48244-BB78-E9B5-A68D-2DC30AC66A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dequeue()</a:t>
            </a:r>
            <a:r>
              <a:rPr lang="en-US" dirty="0"/>
              <a:t> – becomes empty - line 1 of 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285B728-BB1B-8AF1-128F-07EB758C41DC}"/>
              </a:ext>
            </a:extLst>
          </p:cNvPr>
          <p:cNvSpPr txBox="1"/>
          <p:nvPr/>
        </p:nvSpPr>
        <p:spPr>
          <a:xfrm>
            <a:off x="4112895" y="1598039"/>
            <a:ext cx="477677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dequeue(){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600" b="1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first = </a:t>
            </a:r>
            <a:r>
              <a:rPr lang="en-US" sz="1600" b="1" dirty="0" err="1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front.value</a:t>
            </a:r>
            <a:r>
              <a:rPr lang="en-US" sz="1600" b="1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;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front = </a:t>
            </a:r>
            <a:r>
              <a:rPr lang="en-US" sz="1600" dirty="0" err="1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front.next</a:t>
            </a: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;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if (front == null) {back = null;}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return first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}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2A2672E-5C93-C629-DA70-1D637C9ECB65}"/>
              </a:ext>
            </a:extLst>
          </p:cNvPr>
          <p:cNvGrpSpPr/>
          <p:nvPr/>
        </p:nvGrpSpPr>
        <p:grpSpPr>
          <a:xfrm>
            <a:off x="4386470" y="3690302"/>
            <a:ext cx="2946400" cy="2335924"/>
            <a:chOff x="4386470" y="3690302"/>
            <a:chExt cx="2946400" cy="2335924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C77DA61C-91A7-0F13-906F-D6FEDDEF4F5A}"/>
                </a:ext>
              </a:extLst>
            </p:cNvPr>
            <p:cNvGrpSpPr/>
            <p:nvPr/>
          </p:nvGrpSpPr>
          <p:grpSpPr>
            <a:xfrm>
              <a:off x="6276230" y="3690302"/>
              <a:ext cx="1056640" cy="528320"/>
              <a:chOff x="8117840" y="4104640"/>
              <a:chExt cx="1056640" cy="528320"/>
            </a:xfrm>
          </p:grpSpPr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C5CAA8C0-0E69-1E47-6C4B-CB76C4606498}"/>
                  </a:ext>
                </a:extLst>
              </p:cNvPr>
              <p:cNvSpPr/>
              <p:nvPr/>
            </p:nvSpPr>
            <p:spPr>
              <a:xfrm>
                <a:off x="8117840" y="4104640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5</a:t>
                </a: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091790BC-A5AF-ACEA-730E-F351DBAE854B}"/>
                  </a:ext>
                </a:extLst>
              </p:cNvPr>
              <p:cNvSpPr/>
              <p:nvPr/>
            </p:nvSpPr>
            <p:spPr>
              <a:xfrm>
                <a:off x="8646160" y="4104640"/>
                <a:ext cx="528320" cy="52832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04AC46C-1D8B-2A79-8C35-DAA885395DC6}"/>
                </a:ext>
              </a:extLst>
            </p:cNvPr>
            <p:cNvSpPr/>
            <p:nvPr/>
          </p:nvSpPr>
          <p:spPr>
            <a:xfrm>
              <a:off x="4386470" y="3690302"/>
              <a:ext cx="949960" cy="528320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front</a:t>
              </a:r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B01A4D1C-681A-7BC7-BBCA-05B97A2915AA}"/>
                </a:ext>
              </a:extLst>
            </p:cNvPr>
            <p:cNvCxnSpPr>
              <a:cxnSpLocks/>
              <a:stCxn id="60" idx="3"/>
              <a:endCxn id="73" idx="1"/>
            </p:cNvCxnSpPr>
            <p:nvPr/>
          </p:nvCxnSpPr>
          <p:spPr>
            <a:xfrm>
              <a:off x="5336430" y="3954462"/>
              <a:ext cx="939800" cy="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1FB6D71D-EC05-C104-002B-DBB33E084021}"/>
                </a:ext>
              </a:extLst>
            </p:cNvPr>
            <p:cNvSpPr/>
            <p:nvPr/>
          </p:nvSpPr>
          <p:spPr>
            <a:xfrm>
              <a:off x="6081092" y="4880134"/>
              <a:ext cx="949960" cy="52832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back</a:t>
              </a: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12BA7944-5954-9741-0D0D-BCDCF77D0F19}"/>
                </a:ext>
              </a:extLst>
            </p:cNvPr>
            <p:cNvCxnSpPr>
              <a:cxnSpLocks/>
              <a:stCxn id="62" idx="0"/>
            </p:cNvCxnSpPr>
            <p:nvPr/>
          </p:nvCxnSpPr>
          <p:spPr>
            <a:xfrm flipV="1">
              <a:off x="6556072" y="4218622"/>
              <a:ext cx="0" cy="661512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66DAA16-5038-FE1C-8218-FE4A76BA1F62}"/>
                </a:ext>
              </a:extLst>
            </p:cNvPr>
            <p:cNvSpPr/>
            <p:nvPr/>
          </p:nvSpPr>
          <p:spPr>
            <a:xfrm>
              <a:off x="4856370" y="5497906"/>
              <a:ext cx="949960" cy="52832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dirty="0">
                  <a:solidFill>
                    <a:prstClr val="black"/>
                  </a:solidFill>
                  <a:latin typeface="Calibri" panose="020F0502020204030204"/>
                </a:rPr>
                <a:t>f</a:t>
              </a:r>
              <a:r>
                <a:rPr kumimoji="0" lang="en-US" sz="18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irst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= 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503678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1ADC8-9742-15E2-9B6B-A69DB7F55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FFD76-EE13-C8DF-7FB0-0F1D31FCD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dequeue()</a:t>
            </a:r>
            <a:r>
              <a:rPr lang="en-US" dirty="0"/>
              <a:t> – becomes empty - line 2 of 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94BD23B-D0ED-707C-B08A-A4B29916EB99}"/>
              </a:ext>
            </a:extLst>
          </p:cNvPr>
          <p:cNvSpPr txBox="1"/>
          <p:nvPr/>
        </p:nvSpPr>
        <p:spPr>
          <a:xfrm>
            <a:off x="4112895" y="1598039"/>
            <a:ext cx="477677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dequeue(){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first = </a:t>
            </a:r>
            <a:r>
              <a:rPr lang="en-US" sz="1600" dirty="0" err="1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front.value</a:t>
            </a: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;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600" b="1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front = </a:t>
            </a:r>
            <a:r>
              <a:rPr lang="en-US" sz="1600" b="1" dirty="0" err="1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front.next</a:t>
            </a:r>
            <a:r>
              <a:rPr lang="en-US" sz="1600" b="1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;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if (front == null) {back = null;}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return first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}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F3EBE36-058F-A6B6-BBFD-FDC487B4E2A1}"/>
              </a:ext>
            </a:extLst>
          </p:cNvPr>
          <p:cNvGrpSpPr/>
          <p:nvPr/>
        </p:nvGrpSpPr>
        <p:grpSpPr>
          <a:xfrm>
            <a:off x="4386470" y="3270318"/>
            <a:ext cx="6252632" cy="2755908"/>
            <a:chOff x="4386470" y="3270318"/>
            <a:chExt cx="6252632" cy="2755908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95DD0EA-93F7-E2C9-367B-EB186A528357}"/>
                </a:ext>
              </a:extLst>
            </p:cNvPr>
            <p:cNvGrpSpPr/>
            <p:nvPr/>
          </p:nvGrpSpPr>
          <p:grpSpPr>
            <a:xfrm>
              <a:off x="4386470" y="3690302"/>
              <a:ext cx="2946400" cy="2335924"/>
              <a:chOff x="4386470" y="3690302"/>
              <a:chExt cx="2946400" cy="2335924"/>
            </a:xfrm>
          </p:grpSpPr>
          <p:grpSp>
            <p:nvGrpSpPr>
              <p:cNvPr id="68" name="Group 67">
                <a:extLst>
                  <a:ext uri="{FF2B5EF4-FFF2-40B4-BE49-F238E27FC236}">
                    <a16:creationId xmlns:a16="http://schemas.microsoft.com/office/drawing/2014/main" id="{5BE5A4AC-3A62-82D4-5B2D-5C701A012F53}"/>
                  </a:ext>
                </a:extLst>
              </p:cNvPr>
              <p:cNvGrpSpPr/>
              <p:nvPr/>
            </p:nvGrpSpPr>
            <p:grpSpPr>
              <a:xfrm>
                <a:off x="6276230" y="3690302"/>
                <a:ext cx="1056640" cy="528320"/>
                <a:chOff x="8117840" y="4104640"/>
                <a:chExt cx="1056640" cy="528320"/>
              </a:xfrm>
            </p:grpSpPr>
            <p:sp>
              <p:nvSpPr>
                <p:cNvPr id="73" name="Rectangle 72">
                  <a:extLst>
                    <a:ext uri="{FF2B5EF4-FFF2-40B4-BE49-F238E27FC236}">
                      <a16:creationId xmlns:a16="http://schemas.microsoft.com/office/drawing/2014/main" id="{608B8898-4116-1E1D-4B3C-2AA95143B9AD}"/>
                    </a:ext>
                  </a:extLst>
                </p:cNvPr>
                <p:cNvSpPr/>
                <p:nvPr/>
              </p:nvSpPr>
              <p:spPr>
                <a:xfrm>
                  <a:off x="8117840" y="4104640"/>
                  <a:ext cx="528320" cy="52832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5</a:t>
                  </a:r>
                </a:p>
              </p:txBody>
            </p:sp>
            <p:sp>
              <p:nvSpPr>
                <p:cNvPr id="74" name="Rectangle 73">
                  <a:extLst>
                    <a:ext uri="{FF2B5EF4-FFF2-40B4-BE49-F238E27FC236}">
                      <a16:creationId xmlns:a16="http://schemas.microsoft.com/office/drawing/2014/main" id="{53335039-F716-7094-130D-3C4B2686A300}"/>
                    </a:ext>
                  </a:extLst>
                </p:cNvPr>
                <p:cNvSpPr/>
                <p:nvPr/>
              </p:nvSpPr>
              <p:spPr>
                <a:xfrm>
                  <a:off x="8646160" y="4104640"/>
                  <a:ext cx="528320" cy="52832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440A579-F582-8E81-EF06-76796BE115B9}"/>
                  </a:ext>
                </a:extLst>
              </p:cNvPr>
              <p:cNvSpPr/>
              <p:nvPr/>
            </p:nvSpPr>
            <p:spPr>
              <a:xfrm>
                <a:off x="4386470" y="3690302"/>
                <a:ext cx="949960" cy="528320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front</a:t>
                </a: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038E803B-667D-C6C3-1E82-865070C67488}"/>
                  </a:ext>
                </a:extLst>
              </p:cNvPr>
              <p:cNvSpPr/>
              <p:nvPr/>
            </p:nvSpPr>
            <p:spPr>
              <a:xfrm>
                <a:off x="6081092" y="4880134"/>
                <a:ext cx="949960" cy="528320"/>
              </a:xfrm>
              <a:prstGeom prst="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back</a:t>
                </a:r>
              </a:p>
            </p:txBody>
          </p:sp>
          <p:cxnSp>
            <p:nvCxnSpPr>
              <p:cNvPr id="63" name="Straight Arrow Connector 62">
                <a:extLst>
                  <a:ext uri="{FF2B5EF4-FFF2-40B4-BE49-F238E27FC236}">
                    <a16:creationId xmlns:a16="http://schemas.microsoft.com/office/drawing/2014/main" id="{A8830C2F-A831-27F0-B743-03048CBB9174}"/>
                  </a:ext>
                </a:extLst>
              </p:cNvPr>
              <p:cNvCxnSpPr>
                <a:cxnSpLocks/>
                <a:stCxn id="62" idx="0"/>
              </p:cNvCxnSpPr>
              <p:nvPr/>
            </p:nvCxnSpPr>
            <p:spPr>
              <a:xfrm flipV="1">
                <a:off x="6556072" y="4218622"/>
                <a:ext cx="0" cy="661512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7B511517-03D1-90E2-9F11-280E15A9C9F6}"/>
                  </a:ext>
                </a:extLst>
              </p:cNvPr>
              <p:cNvSpPr/>
              <p:nvPr/>
            </p:nvSpPr>
            <p:spPr>
              <a:xfrm>
                <a:off x="4856370" y="5497906"/>
                <a:ext cx="949960" cy="52832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>
                    <a:solidFill>
                      <a:prstClr val="black"/>
                    </a:solidFill>
                    <a:latin typeface="Calibri" panose="020F0502020204030204"/>
                  </a:rPr>
                  <a:t>f</a:t>
                </a:r>
                <a:r>
                  <a:rPr kumimoji="0" lang="en-US" sz="1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irst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= 5</a:t>
                </a:r>
              </a:p>
            </p:txBody>
          </p: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5AA4730-C028-5D5D-59A9-0FA795F9D000}"/>
                </a:ext>
              </a:extLst>
            </p:cNvPr>
            <p:cNvSpPr txBox="1"/>
            <p:nvPr/>
          </p:nvSpPr>
          <p:spPr>
            <a:xfrm>
              <a:off x="7752522" y="3367136"/>
              <a:ext cx="288658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Not Garbage Collected! because back still points to it</a:t>
              </a:r>
            </a:p>
          </p:txBody>
        </p:sp>
        <p:sp>
          <p:nvSpPr>
            <p:cNvPr id="6" name="Circle: Hollow 5">
              <a:extLst>
                <a:ext uri="{FF2B5EF4-FFF2-40B4-BE49-F238E27FC236}">
                  <a16:creationId xmlns:a16="http://schemas.microsoft.com/office/drawing/2014/main" id="{23C58DBF-CE3B-0B9C-F709-CEF4F32BB9ED}"/>
                </a:ext>
              </a:extLst>
            </p:cNvPr>
            <p:cNvSpPr/>
            <p:nvPr/>
          </p:nvSpPr>
          <p:spPr>
            <a:xfrm>
              <a:off x="5583622" y="3270318"/>
              <a:ext cx="2168900" cy="2355230"/>
            </a:xfrm>
            <a:prstGeom prst="donut">
              <a:avLst>
                <a:gd name="adj" fmla="val 7542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163114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4D4BB-2CDD-E700-836F-6681D245F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A1D5D8-F5E3-465A-2D87-5E0EE09E97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dequeue()</a:t>
            </a:r>
            <a:r>
              <a:rPr lang="en-US" dirty="0"/>
              <a:t> – becomes empty - line 3 of 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60E6526-6BC1-C3B8-C027-E2767689197F}"/>
              </a:ext>
            </a:extLst>
          </p:cNvPr>
          <p:cNvSpPr txBox="1"/>
          <p:nvPr/>
        </p:nvSpPr>
        <p:spPr>
          <a:xfrm>
            <a:off x="4112895" y="1598039"/>
            <a:ext cx="477677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dequeue(){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first = </a:t>
            </a:r>
            <a:r>
              <a:rPr lang="en-US" sz="1600" dirty="0" err="1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front.value</a:t>
            </a: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;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front = </a:t>
            </a:r>
            <a:r>
              <a:rPr lang="en-US" sz="1600" dirty="0" err="1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front.next</a:t>
            </a: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;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600" b="1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if (front == null) {back = null;}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return first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}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6E1C1C9-D1CA-70B8-B0E7-17A8D235B8D6}"/>
              </a:ext>
            </a:extLst>
          </p:cNvPr>
          <p:cNvGrpSpPr/>
          <p:nvPr/>
        </p:nvGrpSpPr>
        <p:grpSpPr>
          <a:xfrm>
            <a:off x="4386470" y="3367136"/>
            <a:ext cx="6252632" cy="2659090"/>
            <a:chOff x="4386470" y="3367136"/>
            <a:chExt cx="6252632" cy="265909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E2329D7-A87C-3852-F29F-0F01D0900B70}"/>
                </a:ext>
              </a:extLst>
            </p:cNvPr>
            <p:cNvGrpSpPr/>
            <p:nvPr/>
          </p:nvGrpSpPr>
          <p:grpSpPr>
            <a:xfrm>
              <a:off x="4386470" y="3690302"/>
              <a:ext cx="2946400" cy="2335924"/>
              <a:chOff x="4386470" y="3690302"/>
              <a:chExt cx="2946400" cy="2335924"/>
            </a:xfrm>
          </p:grpSpPr>
          <p:grpSp>
            <p:nvGrpSpPr>
              <p:cNvPr id="68" name="Group 67">
                <a:extLst>
                  <a:ext uri="{FF2B5EF4-FFF2-40B4-BE49-F238E27FC236}">
                    <a16:creationId xmlns:a16="http://schemas.microsoft.com/office/drawing/2014/main" id="{2E21C21E-074A-598F-6D8B-A328E9F9B79E}"/>
                  </a:ext>
                </a:extLst>
              </p:cNvPr>
              <p:cNvGrpSpPr/>
              <p:nvPr/>
            </p:nvGrpSpPr>
            <p:grpSpPr>
              <a:xfrm>
                <a:off x="6276230" y="3690302"/>
                <a:ext cx="1056640" cy="528320"/>
                <a:chOff x="8117840" y="4104640"/>
                <a:chExt cx="1056640" cy="528320"/>
              </a:xfrm>
            </p:grpSpPr>
            <p:sp>
              <p:nvSpPr>
                <p:cNvPr id="73" name="Rectangle 72">
                  <a:extLst>
                    <a:ext uri="{FF2B5EF4-FFF2-40B4-BE49-F238E27FC236}">
                      <a16:creationId xmlns:a16="http://schemas.microsoft.com/office/drawing/2014/main" id="{C3AA2E3D-80D7-5C6B-1AB6-100059D949C5}"/>
                    </a:ext>
                  </a:extLst>
                </p:cNvPr>
                <p:cNvSpPr/>
                <p:nvPr/>
              </p:nvSpPr>
              <p:spPr>
                <a:xfrm>
                  <a:off x="8117840" y="4104640"/>
                  <a:ext cx="528320" cy="52832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5</a:t>
                  </a:r>
                </a:p>
              </p:txBody>
            </p:sp>
            <p:sp>
              <p:nvSpPr>
                <p:cNvPr id="74" name="Rectangle 73">
                  <a:extLst>
                    <a:ext uri="{FF2B5EF4-FFF2-40B4-BE49-F238E27FC236}">
                      <a16:creationId xmlns:a16="http://schemas.microsoft.com/office/drawing/2014/main" id="{C0B99038-CF51-A4AB-BE78-C20FCEE77EA2}"/>
                    </a:ext>
                  </a:extLst>
                </p:cNvPr>
                <p:cNvSpPr/>
                <p:nvPr/>
              </p:nvSpPr>
              <p:spPr>
                <a:xfrm>
                  <a:off x="8646160" y="4104640"/>
                  <a:ext cx="528320" cy="52832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D1B9E2CE-4364-667F-1777-CE70CE53D913}"/>
                  </a:ext>
                </a:extLst>
              </p:cNvPr>
              <p:cNvSpPr/>
              <p:nvPr/>
            </p:nvSpPr>
            <p:spPr>
              <a:xfrm>
                <a:off x="4386470" y="3690302"/>
                <a:ext cx="949960" cy="528320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front</a:t>
                </a: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95CEA4D7-DE33-2E6E-131A-43F77BECD19F}"/>
                  </a:ext>
                </a:extLst>
              </p:cNvPr>
              <p:cNvSpPr/>
              <p:nvPr/>
            </p:nvSpPr>
            <p:spPr>
              <a:xfrm>
                <a:off x="6081092" y="4880134"/>
                <a:ext cx="949960" cy="528320"/>
              </a:xfrm>
              <a:prstGeom prst="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back</a:t>
                </a:r>
              </a:p>
            </p:txBody>
          </p: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AEE846AD-B313-CC19-5A09-0DCF6B4F31AC}"/>
                  </a:ext>
                </a:extLst>
              </p:cNvPr>
              <p:cNvSpPr/>
              <p:nvPr/>
            </p:nvSpPr>
            <p:spPr>
              <a:xfrm>
                <a:off x="4856370" y="5497906"/>
                <a:ext cx="949960" cy="52832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>
                    <a:solidFill>
                      <a:prstClr val="black"/>
                    </a:solidFill>
                    <a:latin typeface="Calibri" panose="020F0502020204030204"/>
                  </a:rPr>
                  <a:t>f</a:t>
                </a:r>
                <a:r>
                  <a:rPr kumimoji="0" lang="en-US" sz="1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irst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= 5</a:t>
                </a:r>
              </a:p>
            </p:txBody>
          </p: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3F1C7AC-E0E8-DEE2-DF7D-592AF99644DA}"/>
                </a:ext>
              </a:extLst>
            </p:cNvPr>
            <p:cNvSpPr txBox="1"/>
            <p:nvPr/>
          </p:nvSpPr>
          <p:spPr>
            <a:xfrm>
              <a:off x="7752522" y="3367136"/>
              <a:ext cx="28865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Now it’s Garbage Collected! </a:t>
              </a:r>
            </a:p>
          </p:txBody>
        </p:sp>
      </p:grpSp>
      <p:sp>
        <p:nvSpPr>
          <p:cNvPr id="8" name="&quot;Not Allowed&quot; Symbol 7">
            <a:extLst>
              <a:ext uri="{FF2B5EF4-FFF2-40B4-BE49-F238E27FC236}">
                <a16:creationId xmlns:a16="http://schemas.microsoft.com/office/drawing/2014/main" id="{812A096B-3F7E-72CE-BF2C-C3BF787EE88C}"/>
              </a:ext>
            </a:extLst>
          </p:cNvPr>
          <p:cNvSpPr/>
          <p:nvPr/>
        </p:nvSpPr>
        <p:spPr>
          <a:xfrm>
            <a:off x="6194189" y="3328657"/>
            <a:ext cx="1220721" cy="1220721"/>
          </a:xfrm>
          <a:prstGeom prst="noSmoking">
            <a:avLst>
              <a:gd name="adj" fmla="val 5726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96160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06CFDB-67A2-1082-F9AB-EB69779A6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59FDB-E404-4347-7597-1164E8F24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dequeue()</a:t>
            </a:r>
            <a:r>
              <a:rPr lang="en-US" dirty="0"/>
              <a:t> – becomes empty - line 4 of 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F54EE40-34A7-4D8C-BF42-FF2CA48B786E}"/>
              </a:ext>
            </a:extLst>
          </p:cNvPr>
          <p:cNvSpPr txBox="1"/>
          <p:nvPr/>
        </p:nvSpPr>
        <p:spPr>
          <a:xfrm>
            <a:off x="4112895" y="1598039"/>
            <a:ext cx="477677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dequeue(){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first = </a:t>
            </a:r>
            <a:r>
              <a:rPr lang="en-US" sz="1600" dirty="0" err="1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front.value</a:t>
            </a: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;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front = </a:t>
            </a:r>
            <a:r>
              <a:rPr lang="en-US" sz="1600" dirty="0" err="1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front.next</a:t>
            </a: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;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600" b="1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if (front == null) {back = null;}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return first</a:t>
            </a:r>
          </a:p>
          <a:p>
            <a:pPr lvl="0">
              <a:defRPr/>
            </a:pPr>
            <a:r>
              <a:rPr lang="en-US" sz="1600" dirty="0">
                <a:solidFill>
                  <a:prstClr val="black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}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E531AC7-7E5B-94B1-8F89-14573AAE9BBE}"/>
              </a:ext>
            </a:extLst>
          </p:cNvPr>
          <p:cNvGrpSpPr/>
          <p:nvPr/>
        </p:nvGrpSpPr>
        <p:grpSpPr>
          <a:xfrm>
            <a:off x="4386470" y="3690302"/>
            <a:ext cx="3475516" cy="3167698"/>
            <a:chOff x="4386470" y="3690302"/>
            <a:chExt cx="3475516" cy="3167698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6A501124-BF0E-BE07-C304-D17A9AC80208}"/>
                </a:ext>
              </a:extLst>
            </p:cNvPr>
            <p:cNvGrpSpPr/>
            <p:nvPr/>
          </p:nvGrpSpPr>
          <p:grpSpPr>
            <a:xfrm>
              <a:off x="4386470" y="3690302"/>
              <a:ext cx="2644582" cy="2335924"/>
              <a:chOff x="4386470" y="3690302"/>
              <a:chExt cx="2644582" cy="2335924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E1A517C-FDF8-ECCF-9054-806C64F73A4B}"/>
                  </a:ext>
                </a:extLst>
              </p:cNvPr>
              <p:cNvSpPr/>
              <p:nvPr/>
            </p:nvSpPr>
            <p:spPr>
              <a:xfrm>
                <a:off x="4386470" y="3690302"/>
                <a:ext cx="949960" cy="528320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front</a:t>
                </a: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642E2A18-61D7-9DF5-FAEF-C965A80A06D5}"/>
                  </a:ext>
                </a:extLst>
              </p:cNvPr>
              <p:cNvSpPr/>
              <p:nvPr/>
            </p:nvSpPr>
            <p:spPr>
              <a:xfrm>
                <a:off x="6081092" y="4880134"/>
                <a:ext cx="949960" cy="528320"/>
              </a:xfrm>
              <a:prstGeom prst="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back</a:t>
                </a:r>
              </a:p>
            </p:txBody>
          </p: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8FA2760F-3DE5-722F-74AA-E10B1CBE928A}"/>
                  </a:ext>
                </a:extLst>
              </p:cNvPr>
              <p:cNvSpPr/>
              <p:nvPr/>
            </p:nvSpPr>
            <p:spPr>
              <a:xfrm>
                <a:off x="4856370" y="5497906"/>
                <a:ext cx="949960" cy="52832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>
                    <a:solidFill>
                      <a:prstClr val="black"/>
                    </a:solidFill>
                    <a:latin typeface="Calibri" panose="020F0502020204030204"/>
                  </a:rPr>
                  <a:t>f</a:t>
                </a:r>
                <a:r>
                  <a:rPr kumimoji="0" lang="en-US" sz="1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irst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= 5</a:t>
                </a:r>
              </a:p>
            </p:txBody>
          </p:sp>
        </p:grpSp>
        <p:sp>
          <p:nvSpPr>
            <p:cNvPr id="6" name="Arrow: Curved Left 5">
              <a:extLst>
                <a:ext uri="{FF2B5EF4-FFF2-40B4-BE49-F238E27FC236}">
                  <a16:creationId xmlns:a16="http://schemas.microsoft.com/office/drawing/2014/main" id="{BEEFA3D7-7957-4700-82CB-AA81C4423A5D}"/>
                </a:ext>
              </a:extLst>
            </p:cNvPr>
            <p:cNvSpPr/>
            <p:nvPr/>
          </p:nvSpPr>
          <p:spPr>
            <a:xfrm>
              <a:off x="5903844" y="5752714"/>
              <a:ext cx="685800" cy="1105286"/>
            </a:xfrm>
            <a:prstGeom prst="curvedLeftArrow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6E454A3-5AE8-F1EE-3A82-9EE228066463}"/>
                </a:ext>
              </a:extLst>
            </p:cNvPr>
            <p:cNvSpPr txBox="1"/>
            <p:nvPr/>
          </p:nvSpPr>
          <p:spPr>
            <a:xfrm>
              <a:off x="6728791" y="6070988"/>
              <a:ext cx="113319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Returned!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032365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9C32A-02EF-2064-A810-AF82479EB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E00C6-8505-2867-E7F2-ED60E8E27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Queue Data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7CADBB-28B2-2678-04B8-F78DB9E82D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8120" y="2313305"/>
            <a:ext cx="7076440" cy="4351338"/>
          </a:xfrm>
          <a:ln>
            <a:noFill/>
          </a:ln>
        </p:spPr>
        <p:txBody>
          <a:bodyPr>
            <a:normAutofit fontScale="92500" lnSpcReduction="20000"/>
          </a:bodyPr>
          <a:lstStyle/>
          <a:p>
            <a:r>
              <a:rPr lang="en-US" dirty="0"/>
              <a:t>Queue represented as a “chain” of items</a:t>
            </a:r>
          </a:p>
          <a:p>
            <a:pPr lvl="1"/>
            <a:r>
              <a:rPr lang="en-US" dirty="0">
                <a:solidFill>
                  <a:srgbClr val="0070C0"/>
                </a:solidFill>
              </a:rPr>
              <a:t>A “front” reference to the oldest item</a:t>
            </a:r>
          </a:p>
          <a:p>
            <a:pPr lvl="1"/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A “back” reference to the most recent item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Each Node references the item enqueued after it</a:t>
            </a:r>
          </a:p>
          <a:p>
            <a:r>
              <a:rPr lang="en-US" dirty="0"/>
              <a:t>enqueue Procedure: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dequeue Procedure: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isEmpty</a:t>
            </a:r>
            <a:r>
              <a:rPr lang="en-US" dirty="0"/>
              <a:t> Procedure:</a:t>
            </a:r>
          </a:p>
        </p:txBody>
      </p:sp>
      <p:grpSp>
        <p:nvGrpSpPr>
          <p:cNvPr id="19" name="Group 18" descr="An illustration of a linked queue data structure. The elements of the list are contained in node objects. Each node object has a reference to another node object to establish a sequence of elements. There is also a reference called &quot;front&quot; that points to the first node in the queue, and a reference called &quot;back&quot; that points to the last node in the queue.">
            <a:extLst>
              <a:ext uri="{FF2B5EF4-FFF2-40B4-BE49-F238E27FC236}">
                <a16:creationId xmlns:a16="http://schemas.microsoft.com/office/drawing/2014/main" id="{6C777B10-439D-3A14-8CC7-4E25718B2DBC}"/>
              </a:ext>
            </a:extLst>
          </p:cNvPr>
          <p:cNvGrpSpPr/>
          <p:nvPr/>
        </p:nvGrpSpPr>
        <p:grpSpPr>
          <a:xfrm>
            <a:off x="838200" y="1554957"/>
            <a:ext cx="8239760" cy="1718152"/>
            <a:chOff x="838200" y="1554957"/>
            <a:chExt cx="8239760" cy="171815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97CD40D6-4A1D-1C6C-0BF0-221BE4DB7D68}"/>
                </a:ext>
              </a:extLst>
            </p:cNvPr>
            <p:cNvGrpSpPr/>
            <p:nvPr/>
          </p:nvGrpSpPr>
          <p:grpSpPr>
            <a:xfrm>
              <a:off x="2727960" y="1554957"/>
              <a:ext cx="6350000" cy="528320"/>
              <a:chOff x="2727960" y="1554957"/>
              <a:chExt cx="6350000" cy="528320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11FB6B1E-9B45-A029-BAF5-AA538C630854}"/>
                  </a:ext>
                </a:extLst>
              </p:cNvPr>
              <p:cNvGrpSpPr/>
              <p:nvPr/>
            </p:nvGrpSpPr>
            <p:grpSpPr>
              <a:xfrm>
                <a:off x="4053840" y="1554957"/>
                <a:ext cx="1056640" cy="528320"/>
                <a:chOff x="8117840" y="4104640"/>
                <a:chExt cx="1056640" cy="528320"/>
              </a:xfrm>
            </p:grpSpPr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2EA071EB-4D9E-1B09-08BD-FEECBB11ABAF}"/>
                    </a:ext>
                  </a:extLst>
                </p:cNvPr>
                <p:cNvSpPr/>
                <p:nvPr/>
              </p:nvSpPr>
              <p:spPr>
                <a:xfrm>
                  <a:off x="8117840" y="4104640"/>
                  <a:ext cx="528320" cy="52832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8</a:t>
                  </a:r>
                </a:p>
              </p:txBody>
            </p: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5691EF57-BA59-B75D-6B8C-BE0B20EC03FA}"/>
                    </a:ext>
                  </a:extLst>
                </p:cNvPr>
                <p:cNvSpPr/>
                <p:nvPr/>
              </p:nvSpPr>
              <p:spPr>
                <a:xfrm>
                  <a:off x="8646160" y="4104640"/>
                  <a:ext cx="528320" cy="52832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08559DF6-62DA-E1DD-4F27-9DFE614F72F3}"/>
                  </a:ext>
                </a:extLst>
              </p:cNvPr>
              <p:cNvGrpSpPr/>
              <p:nvPr/>
            </p:nvGrpSpPr>
            <p:grpSpPr>
              <a:xfrm>
                <a:off x="5374640" y="1554957"/>
                <a:ext cx="1056640" cy="528320"/>
                <a:chOff x="8117840" y="4104640"/>
                <a:chExt cx="1056640" cy="528320"/>
              </a:xfrm>
            </p:grpSpPr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A8503EE6-4136-CF94-DEF9-0F02DE06293D}"/>
                    </a:ext>
                  </a:extLst>
                </p:cNvPr>
                <p:cNvSpPr/>
                <p:nvPr/>
              </p:nvSpPr>
              <p:spPr>
                <a:xfrm>
                  <a:off x="8117840" y="4104640"/>
                  <a:ext cx="528320" cy="52832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3</a:t>
                  </a:r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A7C32C04-1155-29B5-302A-3D6F71CB334B}"/>
                    </a:ext>
                  </a:extLst>
                </p:cNvPr>
                <p:cNvSpPr/>
                <p:nvPr/>
              </p:nvSpPr>
              <p:spPr>
                <a:xfrm>
                  <a:off x="8646160" y="4104640"/>
                  <a:ext cx="528320" cy="52832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679ED3CB-00BE-4DFF-6828-96640D36FF1A}"/>
                  </a:ext>
                </a:extLst>
              </p:cNvPr>
              <p:cNvGrpSpPr/>
              <p:nvPr/>
            </p:nvGrpSpPr>
            <p:grpSpPr>
              <a:xfrm>
                <a:off x="6700520" y="1554957"/>
                <a:ext cx="1056640" cy="528320"/>
                <a:chOff x="8117840" y="4104640"/>
                <a:chExt cx="1056640" cy="528320"/>
              </a:xfrm>
            </p:grpSpPr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1DD5405-40EF-6674-D7C0-C6FE0D1BE12D}"/>
                    </a:ext>
                  </a:extLst>
                </p:cNvPr>
                <p:cNvSpPr/>
                <p:nvPr/>
              </p:nvSpPr>
              <p:spPr>
                <a:xfrm>
                  <a:off x="8117840" y="4104640"/>
                  <a:ext cx="528320" cy="52832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4</a:t>
                  </a:r>
                </a:p>
              </p:txBody>
            </p:sp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D84D70F7-D07C-68C7-7C00-5317F8E79B42}"/>
                    </a:ext>
                  </a:extLst>
                </p:cNvPr>
                <p:cNvSpPr/>
                <p:nvPr/>
              </p:nvSpPr>
              <p:spPr>
                <a:xfrm>
                  <a:off x="8646160" y="4104640"/>
                  <a:ext cx="528320" cy="52832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8F8009E1-AF06-DDE1-EF77-F21199EFF4B0}"/>
                  </a:ext>
                </a:extLst>
              </p:cNvPr>
              <p:cNvGrpSpPr/>
              <p:nvPr/>
            </p:nvGrpSpPr>
            <p:grpSpPr>
              <a:xfrm>
                <a:off x="8021320" y="1554957"/>
                <a:ext cx="1056640" cy="528320"/>
                <a:chOff x="8117840" y="4104640"/>
                <a:chExt cx="1056640" cy="528320"/>
              </a:xfrm>
            </p:grpSpPr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E36B11CF-E877-A4DD-0554-01606FCA8686}"/>
                    </a:ext>
                  </a:extLst>
                </p:cNvPr>
                <p:cNvSpPr/>
                <p:nvPr/>
              </p:nvSpPr>
              <p:spPr>
                <a:xfrm>
                  <a:off x="8117840" y="4104640"/>
                  <a:ext cx="528320" cy="52832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7</a:t>
                  </a:r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F407CF71-D57A-A91C-C914-C54C0A081E1A}"/>
                    </a:ext>
                  </a:extLst>
                </p:cNvPr>
                <p:cNvSpPr/>
                <p:nvPr/>
              </p:nvSpPr>
              <p:spPr>
                <a:xfrm>
                  <a:off x="8646160" y="4104640"/>
                  <a:ext cx="528320" cy="52832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20F050B-37C2-219F-596E-DF6CB4B760AD}"/>
                  </a:ext>
                </a:extLst>
              </p:cNvPr>
              <p:cNvGrpSpPr/>
              <p:nvPr/>
            </p:nvGrpSpPr>
            <p:grpSpPr>
              <a:xfrm>
                <a:off x="2727960" y="1554957"/>
                <a:ext cx="1056640" cy="528320"/>
                <a:chOff x="8117840" y="4104640"/>
                <a:chExt cx="1056640" cy="528320"/>
              </a:xfrm>
            </p:grpSpPr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A53347DB-0B75-EC7B-9151-C9E5CD0C0325}"/>
                    </a:ext>
                  </a:extLst>
                </p:cNvPr>
                <p:cNvSpPr/>
                <p:nvPr/>
              </p:nvSpPr>
              <p:spPr>
                <a:xfrm>
                  <a:off x="8117840" y="4104640"/>
                  <a:ext cx="528320" cy="52832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rPr>
                    <a:t>5</a:t>
                  </a:r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84ADE2BB-8760-3173-467C-5BC8261E271E}"/>
                    </a:ext>
                  </a:extLst>
                </p:cNvPr>
                <p:cNvSpPr/>
                <p:nvPr/>
              </p:nvSpPr>
              <p:spPr>
                <a:xfrm>
                  <a:off x="8646160" y="4104640"/>
                  <a:ext cx="528320" cy="52832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B7FDDAFE-4EE1-0B07-F8EF-A0E336E57EEA}"/>
                  </a:ext>
                </a:extLst>
              </p:cNvPr>
              <p:cNvCxnSpPr>
                <a:cxnSpLocks/>
                <a:endCxn id="4" idx="1"/>
              </p:cNvCxnSpPr>
              <p:nvPr/>
            </p:nvCxnSpPr>
            <p:spPr>
              <a:xfrm>
                <a:off x="3520440" y="1819117"/>
                <a:ext cx="533400" cy="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34390D49-0BF1-DD6F-BB35-A7D2EC51301D}"/>
                  </a:ext>
                </a:extLst>
              </p:cNvPr>
              <p:cNvCxnSpPr>
                <a:cxnSpLocks/>
                <a:endCxn id="8" idx="1"/>
              </p:cNvCxnSpPr>
              <p:nvPr/>
            </p:nvCxnSpPr>
            <p:spPr>
              <a:xfrm>
                <a:off x="4846320" y="1819117"/>
                <a:ext cx="528320" cy="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D32022A6-39A0-59EF-AFBA-50A636320C92}"/>
                  </a:ext>
                </a:extLst>
              </p:cNvPr>
              <p:cNvCxnSpPr>
                <a:cxnSpLocks/>
                <a:endCxn id="11" idx="1"/>
              </p:cNvCxnSpPr>
              <p:nvPr/>
            </p:nvCxnSpPr>
            <p:spPr>
              <a:xfrm>
                <a:off x="6167120" y="1819117"/>
                <a:ext cx="533400" cy="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B0DA348-AB88-B955-F717-397A3AF41087}"/>
                  </a:ext>
                </a:extLst>
              </p:cNvPr>
              <p:cNvCxnSpPr>
                <a:cxnSpLocks/>
                <a:endCxn id="14" idx="1"/>
              </p:cNvCxnSpPr>
              <p:nvPr/>
            </p:nvCxnSpPr>
            <p:spPr>
              <a:xfrm>
                <a:off x="7493000" y="1819117"/>
                <a:ext cx="528320" cy="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999C106-51E5-3961-E3E5-34A9394D8229}"/>
                </a:ext>
              </a:extLst>
            </p:cNvPr>
            <p:cNvSpPr/>
            <p:nvPr/>
          </p:nvSpPr>
          <p:spPr>
            <a:xfrm>
              <a:off x="838200" y="1554957"/>
              <a:ext cx="949960" cy="528320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front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F1812170-C583-A253-8EA1-248C38ECA648}"/>
                </a:ext>
              </a:extLst>
            </p:cNvPr>
            <p:cNvCxnSpPr>
              <a:cxnSpLocks/>
              <a:stCxn id="32" idx="3"/>
              <a:endCxn id="17" idx="1"/>
            </p:cNvCxnSpPr>
            <p:nvPr/>
          </p:nvCxnSpPr>
          <p:spPr>
            <a:xfrm>
              <a:off x="1788160" y="1819117"/>
              <a:ext cx="939800" cy="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EB759151-69C6-76A3-FDA9-AA4172146588}"/>
                </a:ext>
              </a:extLst>
            </p:cNvPr>
            <p:cNvSpPr/>
            <p:nvPr/>
          </p:nvSpPr>
          <p:spPr>
            <a:xfrm>
              <a:off x="7810500" y="2744789"/>
              <a:ext cx="949960" cy="52832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back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B0D47820-BD34-FA0D-035E-9150631C26CB}"/>
                </a:ext>
              </a:extLst>
            </p:cNvPr>
            <p:cNvCxnSpPr>
              <a:cxnSpLocks/>
              <a:stCxn id="37" idx="0"/>
              <a:endCxn id="14" idx="2"/>
            </p:cNvCxnSpPr>
            <p:nvPr/>
          </p:nvCxnSpPr>
          <p:spPr>
            <a:xfrm flipV="1">
              <a:off x="8285480" y="2083277"/>
              <a:ext cx="0" cy="661512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942586CC-8A02-7C46-0408-B0C340E24340}"/>
              </a:ext>
            </a:extLst>
          </p:cNvPr>
          <p:cNvSpPr txBox="1"/>
          <p:nvPr/>
        </p:nvSpPr>
        <p:spPr>
          <a:xfrm>
            <a:off x="3391535" y="3599774"/>
            <a:ext cx="3966210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enqueue(x){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last = new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ListNode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(x);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back.next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= last;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back = last;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817A645-BE98-69F7-8F7F-B8B1A6FA49C3}"/>
              </a:ext>
            </a:extLst>
          </p:cNvPr>
          <p:cNvSpPr txBox="1"/>
          <p:nvPr/>
        </p:nvSpPr>
        <p:spPr>
          <a:xfrm>
            <a:off x="5110479" y="4593600"/>
            <a:ext cx="478166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dequeue(){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first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front.value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front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front.next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if (front == null) {back = null;}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return first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F1598BD-AA70-588C-91AD-B87813DF829D}"/>
              </a:ext>
            </a:extLst>
          </p:cNvPr>
          <p:cNvSpPr txBox="1"/>
          <p:nvPr/>
        </p:nvSpPr>
        <p:spPr>
          <a:xfrm>
            <a:off x="3342639" y="5985030"/>
            <a:ext cx="353845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isEmpty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(){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return front == null;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6645726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</TotalTime>
  <Words>880</Words>
  <Application>Microsoft Office PowerPoint</Application>
  <PresentationFormat>Widescreen</PresentationFormat>
  <Paragraphs>261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27" baseType="lpstr">
      <vt:lpstr>Aptos</vt:lpstr>
      <vt:lpstr>Aptos Display</vt:lpstr>
      <vt:lpstr>Arial</vt:lpstr>
      <vt:lpstr>Calibri</vt:lpstr>
      <vt:lpstr>Calibri Light</vt:lpstr>
      <vt:lpstr>Cascadia Code</vt:lpstr>
      <vt:lpstr>Consolas</vt:lpstr>
      <vt:lpstr>Office Theme</vt:lpstr>
      <vt:lpstr>1_Office Theme</vt:lpstr>
      <vt:lpstr>Linked Nodes Queue Enqueue and Dequeue</vt:lpstr>
      <vt:lpstr>Representation</vt:lpstr>
      <vt:lpstr>Enqueue Algorithm</vt:lpstr>
      <vt:lpstr>enqueue(3) – line 1 of 3</vt:lpstr>
      <vt:lpstr>enqueue(3) – line 2 of 3</vt:lpstr>
      <vt:lpstr>enqueue(3) – line 3 of 3</vt:lpstr>
      <vt:lpstr>enqueue(3) – End</vt:lpstr>
      <vt:lpstr>Dequeue Algorithm</vt:lpstr>
      <vt:lpstr>dequeue() – line 1 of 4</vt:lpstr>
      <vt:lpstr>dequeue() – line 2 of 4</vt:lpstr>
      <vt:lpstr>dequeue() – line 3 of 4</vt:lpstr>
      <vt:lpstr>dequeue() – line 4 of 4</vt:lpstr>
      <vt:lpstr>Dequeue Algorithm – Emptying the Queue</vt:lpstr>
      <vt:lpstr>dequeue() – becomes empty - line 1 of 4</vt:lpstr>
      <vt:lpstr>dequeue() – becomes empty - line 2 of 4</vt:lpstr>
      <vt:lpstr>dequeue() – becomes empty - line 3 of 4</vt:lpstr>
      <vt:lpstr>dequeue() – becomes empty - line 4 of 4</vt:lpstr>
      <vt:lpstr>Linked Queue Data Structure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Nathan Brunelle</dc:creator>
  <cp:lastModifiedBy>Nathan Brunelle</cp:lastModifiedBy>
  <cp:revision>7</cp:revision>
  <dcterms:created xsi:type="dcterms:W3CDTF">2026-01-06T15:46:55Z</dcterms:created>
  <dcterms:modified xsi:type="dcterms:W3CDTF">2026-01-06T18:37:09Z</dcterms:modified>
</cp:coreProperties>
</file>