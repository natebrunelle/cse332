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58" r:id="rId3"/>
    <p:sldId id="263" r:id="rId4"/>
    <p:sldId id="376" r:id="rId5"/>
    <p:sldId id="306" r:id="rId6"/>
    <p:sldId id="336" r:id="rId7"/>
    <p:sldId id="337" r:id="rId8"/>
    <p:sldId id="338" r:id="rId9"/>
    <p:sldId id="369" r:id="rId10"/>
    <p:sldId id="346" r:id="rId11"/>
    <p:sldId id="347" r:id="rId12"/>
    <p:sldId id="348" r:id="rId13"/>
    <p:sldId id="349" r:id="rId14"/>
    <p:sldId id="350" r:id="rId15"/>
    <p:sldId id="351" r:id="rId16"/>
    <p:sldId id="377" r:id="rId17"/>
    <p:sldId id="378" r:id="rId18"/>
    <p:sldId id="352" r:id="rId19"/>
    <p:sldId id="353" r:id="rId20"/>
    <p:sldId id="354" r:id="rId21"/>
    <p:sldId id="355" r:id="rId22"/>
    <p:sldId id="356" r:id="rId23"/>
    <p:sldId id="379" r:id="rId24"/>
    <p:sldId id="357" r:id="rId25"/>
    <p:sldId id="358" r:id="rId26"/>
    <p:sldId id="359" r:id="rId27"/>
    <p:sldId id="360" r:id="rId28"/>
    <p:sldId id="361" r:id="rId29"/>
    <p:sldId id="362" r:id="rId30"/>
    <p:sldId id="363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1" autoAdjust="0"/>
  </p:normalViewPr>
  <p:slideViewPr>
    <p:cSldViewPr snapToGrid="0">
      <p:cViewPr varScale="1">
        <p:scale>
          <a:sx n="64" d="100"/>
          <a:sy n="64" d="100"/>
        </p:scale>
        <p:origin x="74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Spring 2026</a:t>
            </a:r>
            <a:br>
              <a:rPr lang="en-US" dirty="0"/>
            </a:br>
            <a:r>
              <a:rPr lang="en-US" dirty="0"/>
              <a:t>Lecture 10: hashing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 - 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Data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56977" r="-22397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56977" r="-13986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56977" r="-976" b="-23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161F-3A16-4628-647F-940E2568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30494"/>
            <a:ext cx="10515600" cy="1325563"/>
          </a:xfrm>
        </p:spPr>
        <p:txBody>
          <a:bodyPr/>
          <a:lstStyle/>
          <a:p>
            <a:r>
              <a:rPr lang="en-US" dirty="0"/>
              <a:t>BSTs and AVL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3CC4C-C542-CC16-6C0D-777C8B4FE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947" y="721454"/>
            <a:ext cx="11864829" cy="613654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Binary Search Tree:</a:t>
            </a:r>
          </a:p>
          <a:p>
            <a:pPr lvl="1"/>
            <a:r>
              <a:rPr lang="en-US" dirty="0"/>
              <a:t>A binary tree where for each node, all keys in its left subtree are smaller and all keys in its right subtree are larger</a:t>
            </a:r>
          </a:p>
          <a:p>
            <a:pPr lvl="1"/>
            <a:r>
              <a:rPr lang="en-US" dirty="0"/>
              <a:t>Find: </a:t>
            </a:r>
          </a:p>
          <a:p>
            <a:pPr lvl="2"/>
            <a:r>
              <a:rPr lang="en-US" dirty="0"/>
              <a:t>If it matches, return the value.</a:t>
            </a:r>
          </a:p>
          <a:p>
            <a:pPr lvl="2"/>
            <a:r>
              <a:rPr lang="en-US" dirty="0"/>
              <a:t>If the search key is less than the current node, look left. If it’s greater, look right. </a:t>
            </a:r>
          </a:p>
          <a:p>
            <a:pPr lvl="2"/>
            <a:r>
              <a:rPr lang="en-US" dirty="0"/>
              <a:t>If we reach an empty spot, find was unsuccessful </a:t>
            </a:r>
          </a:p>
          <a:p>
            <a:pPr lvl="1"/>
            <a:r>
              <a:rPr lang="en-US" dirty="0"/>
              <a:t>Insert: </a:t>
            </a:r>
          </a:p>
          <a:p>
            <a:pPr lvl="2"/>
            <a:r>
              <a:rPr lang="en-US" dirty="0"/>
              <a:t>Do a find, if it was successful then update the value</a:t>
            </a:r>
          </a:p>
          <a:p>
            <a:pPr lvl="2"/>
            <a:r>
              <a:rPr lang="en-US" dirty="0"/>
              <a:t>If it was unsuccessful, add a new node to the empty spot we found.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If the deleted node is a leaf, just remove it</a:t>
            </a:r>
          </a:p>
          <a:p>
            <a:pPr lvl="2"/>
            <a:r>
              <a:rPr lang="en-US" dirty="0"/>
              <a:t>If the deleted node had one child, replace it with that one child</a:t>
            </a:r>
          </a:p>
          <a:p>
            <a:pPr lvl="2"/>
            <a:r>
              <a:rPr lang="en-US" dirty="0"/>
              <a:t>If the deleted node had 2 children, replace it with the largest key to the left</a:t>
            </a:r>
          </a:p>
          <a:p>
            <a:r>
              <a:rPr lang="en-US" dirty="0"/>
              <a:t>AVL Tree:</a:t>
            </a:r>
          </a:p>
          <a:p>
            <a:pPr lvl="1"/>
            <a:r>
              <a:rPr lang="en-US" dirty="0"/>
              <a:t>A binary search tree where for each node, the height of its left subtree and the height of its right subtree are off by at most 1.</a:t>
            </a:r>
          </a:p>
          <a:p>
            <a:pPr lvl="1"/>
            <a:r>
              <a:rPr lang="en-US" dirty="0"/>
              <a:t>Find:</a:t>
            </a:r>
          </a:p>
          <a:p>
            <a:pPr lvl="2"/>
            <a:r>
              <a:rPr lang="en-US" dirty="0"/>
              <a:t>Same as BST</a:t>
            </a:r>
          </a:p>
          <a:p>
            <a:pPr lvl="1"/>
            <a:r>
              <a:rPr lang="en-US" dirty="0"/>
              <a:t>Insert:</a:t>
            </a:r>
          </a:p>
          <a:p>
            <a:pPr lvl="2"/>
            <a:r>
              <a:rPr lang="en-US" dirty="0"/>
              <a:t>Do a BST insert, then rotate if tree is unbalanced (apply one LL, RR, LR, RL case) 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Do a BST delete, then rotate if the tree is unbalanced (apply LL, RR, LR, RL cases as needed from leaf to root)</a:t>
            </a:r>
          </a:p>
        </p:txBody>
      </p:sp>
    </p:spTree>
    <p:extLst>
      <p:ext uri="{BB962C8B-B14F-4D97-AF65-F5344CB8AC3E}">
        <p14:creationId xmlns:p14="http://schemas.microsoft.com/office/powerpoint/2010/main" val="3242925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D0E8-F6DE-9B03-D0C9-FF8DBFE0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Tree-based Dictionaries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7872-E8D2-4120-DAE9-44507A158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Red-Black Trees</a:t>
            </a:r>
          </a:p>
          <a:p>
            <a:pPr lvl="1"/>
            <a:r>
              <a:rPr lang="en-US" dirty="0"/>
              <a:t>Similar to AVL Trees in that we add shape rules to BSTs</a:t>
            </a:r>
          </a:p>
          <a:p>
            <a:pPr lvl="1"/>
            <a:r>
              <a:rPr lang="en-US" dirty="0"/>
              <a:t>More “relaxed” shape than an AVL Tree</a:t>
            </a:r>
          </a:p>
          <a:p>
            <a:pPr lvl="2"/>
            <a:r>
              <a:rPr lang="en-US" dirty="0"/>
              <a:t>Trees can be taller (though not asymptotically so)</a:t>
            </a:r>
          </a:p>
          <a:p>
            <a:pPr lvl="2"/>
            <a:r>
              <a:rPr lang="en-US" dirty="0"/>
              <a:t>Needs to move nodes less frequently</a:t>
            </a:r>
          </a:p>
          <a:p>
            <a:pPr lvl="1"/>
            <a:r>
              <a:rPr lang="en-US" dirty="0"/>
              <a:t>This is what Java’s </a:t>
            </a:r>
            <a:r>
              <a:rPr lang="en-US" dirty="0" err="1"/>
              <a:t>TreeMap</a:t>
            </a:r>
            <a:r>
              <a:rPr lang="en-US" dirty="0"/>
              <a:t> uses!</a:t>
            </a:r>
          </a:p>
          <a:p>
            <a:r>
              <a:rPr lang="en-US" dirty="0"/>
              <a:t>Tries</a:t>
            </a:r>
          </a:p>
          <a:p>
            <a:pPr lvl="1"/>
            <a:r>
              <a:rPr lang="en-US" dirty="0"/>
              <a:t>Similar to a Huffman Tree</a:t>
            </a:r>
          </a:p>
          <a:p>
            <a:pPr lvl="1"/>
            <a:r>
              <a:rPr lang="en-US" dirty="0"/>
              <a:t>Requires keys to be sequences (e.g. Strings)</a:t>
            </a:r>
          </a:p>
          <a:p>
            <a:pPr lvl="1"/>
            <a:r>
              <a:rPr lang="en-US" dirty="0"/>
              <a:t>Combines shared prefixes among keys to save space</a:t>
            </a:r>
          </a:p>
          <a:p>
            <a:pPr lvl="1"/>
            <a:r>
              <a:rPr lang="en-US" dirty="0"/>
              <a:t>Often used for text-based searches</a:t>
            </a:r>
          </a:p>
          <a:p>
            <a:pPr lvl="2"/>
            <a:r>
              <a:rPr lang="en-US" dirty="0"/>
              <a:t>Web search</a:t>
            </a:r>
          </a:p>
          <a:p>
            <a:pPr lvl="2"/>
            <a:r>
              <a:rPr lang="en-US" dirty="0"/>
              <a:t>Genomes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0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 - Unordered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0DB77-DDD6-216D-5A7F-9624A74B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Best Dictionary Data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F5252-DE77-B3BA-209A-B950E3B03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Think of every key as a number</a:t>
            </a:r>
          </a:p>
          <a:p>
            <a:r>
              <a:rPr lang="en-US" dirty="0"/>
              <a:t>Give each key its own index in an array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[key]=value;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find(key){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delete(key){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 = null;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8483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03B7-1A7C-BFE0-2142-D5F46F810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Problem?</a:t>
            </a:r>
          </a:p>
        </p:txBody>
      </p:sp>
      <p:pic>
        <p:nvPicPr>
          <p:cNvPr id="1026" name="Picture 2" descr="An aerial vies of an NSA data center that is estimated to have a few exabytes of memory storage space. The datacenter requires multiple warehouse-sized buildings.">
            <a:extLst>
              <a:ext uri="{FF2B5EF4-FFF2-40B4-BE49-F238E27FC236}">
                <a16:creationId xmlns:a16="http://schemas.microsoft.com/office/drawing/2014/main" id="{33789634-95FF-589B-DCA8-20F6EEB6F69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00" y="2305844"/>
            <a:ext cx="50800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207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grpSp>
        <p:nvGrpSpPr>
          <p:cNvPr id="16" name="Group 15" descr="For each operation we will be given a key object.">
            <a:extLst>
              <a:ext uri="{FF2B5EF4-FFF2-40B4-BE49-F238E27FC236}">
                <a16:creationId xmlns:a16="http://schemas.microsoft.com/office/drawing/2014/main" id="{E33969F7-B6FB-C649-85E2-626BA79B8CF1}"/>
              </a:ext>
            </a:extLst>
          </p:cNvPr>
          <p:cNvGrpSpPr/>
          <p:nvPr/>
        </p:nvGrpSpPr>
        <p:grpSpPr>
          <a:xfrm>
            <a:off x="713741" y="5164328"/>
            <a:ext cx="1300479" cy="1147572"/>
            <a:chOff x="713741" y="5164328"/>
            <a:chExt cx="1300479" cy="1147572"/>
          </a:xfrm>
        </p:grpSpPr>
        <p:pic>
          <p:nvPicPr>
            <p:cNvPr id="1026" name="Picture 2" descr="Key Clipart Images – Browse 33,319 Stock Photos, Vectors, and Video | Adobe  Stock">
              <a:extLst>
                <a:ext uri="{FF2B5EF4-FFF2-40B4-BE49-F238E27FC236}">
                  <a16:creationId xmlns:a16="http://schemas.microsoft.com/office/drawing/2014/main" id="{A711E177-0A03-6A78-A571-9F53531A00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000" y="5164328"/>
              <a:ext cx="1252220" cy="7513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8BC6414-62CE-EA22-FB80-F74A3FDF0CD2}"/>
                </a:ext>
              </a:extLst>
            </p:cNvPr>
            <p:cNvSpPr txBox="1"/>
            <p:nvPr/>
          </p:nvSpPr>
          <p:spPr>
            <a:xfrm>
              <a:off x="713741" y="5942568"/>
              <a:ext cx="11905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 Object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 descr="We apply a hash function to the key object, which returns an integer.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 descr="We apply a hash function to the key object, which returns an integer.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60260" y="5355328"/>
            <a:ext cx="1422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Integer</a:t>
            </a:r>
          </a:p>
        </p:txBody>
      </p:sp>
      <p:sp>
        <p:nvSpPr>
          <p:cNvPr id="17" name="Arrow: Right 16" descr="Next we perform a modulus operation on that integer to select an index of an array for our insert, find, and delete operations.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grpSp>
        <p:nvGrpSpPr>
          <p:cNvPr id="20" name="Group 19" descr="Our array stores key-value pairs. The index used depends on the result of applying the hash function to the key and then modding by the array's length.">
            <a:extLst>
              <a:ext uri="{FF2B5EF4-FFF2-40B4-BE49-F238E27FC236}">
                <a16:creationId xmlns:a16="http://schemas.microsoft.com/office/drawing/2014/main" id="{2C8BA4EC-B7F1-49C0-3B37-79801EE19605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6906260" y="5164328"/>
            <a:chExt cx="5120640" cy="6400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5CEE9F9-2EBE-4CC1-9403-3C322B3D011A}"/>
                </a:ext>
              </a:extLst>
            </p:cNvPr>
            <p:cNvGrpSpPr/>
            <p:nvPr/>
          </p:nvGrpSpPr>
          <p:grpSpPr>
            <a:xfrm>
              <a:off x="6906260" y="5164328"/>
              <a:ext cx="5120640" cy="640080"/>
              <a:chOff x="1470660" y="4001294"/>
              <a:chExt cx="5120640" cy="64008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15F891-EABE-C715-0CC0-B077530D6B06}"/>
                  </a:ext>
                </a:extLst>
              </p:cNvPr>
              <p:cNvSpPr/>
              <p:nvPr/>
            </p:nvSpPr>
            <p:spPr>
              <a:xfrm>
                <a:off x="147066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2916793F-F73D-8588-59C0-B5CD1713D13C}"/>
                  </a:ext>
                </a:extLst>
              </p:cNvPr>
              <p:cNvSpPr/>
              <p:nvPr/>
            </p:nvSpPr>
            <p:spPr>
              <a:xfrm>
                <a:off x="211074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BF5FE7C-60F8-DCCD-71CA-23CCA50514E5}"/>
                  </a:ext>
                </a:extLst>
              </p:cNvPr>
              <p:cNvSpPr/>
              <p:nvPr/>
            </p:nvSpPr>
            <p:spPr>
              <a:xfrm>
                <a:off x="275082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908263-8B67-5D74-ACF7-D2EF2DE9F6C9}"/>
                  </a:ext>
                </a:extLst>
              </p:cNvPr>
              <p:cNvSpPr/>
              <p:nvPr/>
            </p:nvSpPr>
            <p:spPr>
              <a:xfrm>
                <a:off x="339090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5C47B54-CFE9-D28C-B605-0944181CD613}"/>
                  </a:ext>
                </a:extLst>
              </p:cNvPr>
              <p:cNvSpPr/>
              <p:nvPr/>
            </p:nvSpPr>
            <p:spPr>
              <a:xfrm>
                <a:off x="403098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D809D88-9346-16AB-47D9-15E1AB178F52}"/>
                  </a:ext>
                </a:extLst>
              </p:cNvPr>
              <p:cNvSpPr/>
              <p:nvPr/>
            </p:nvSpPr>
            <p:spPr>
              <a:xfrm>
                <a:off x="467106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30064F-7EE5-1285-D430-ECA89FA194B5}"/>
                  </a:ext>
                </a:extLst>
              </p:cNvPr>
              <p:cNvSpPr/>
              <p:nvPr/>
            </p:nvSpPr>
            <p:spPr>
              <a:xfrm>
                <a:off x="531114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35BB3CB-8E1A-CB22-7ACF-36852255E9A8}"/>
                  </a:ext>
                </a:extLst>
              </p:cNvPr>
              <p:cNvSpPr/>
              <p:nvPr/>
            </p:nvSpPr>
            <p:spPr>
              <a:xfrm>
                <a:off x="595122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18" name="Picture 2" descr="Key Clipart Images – Browse 33,319 Stock Photos, Vectors, and Video | Adobe  Stock">
              <a:extLst>
                <a:ext uri="{FF2B5EF4-FFF2-40B4-BE49-F238E27FC236}">
                  <a16:creationId xmlns:a16="http://schemas.microsoft.com/office/drawing/2014/main" id="{54070E1C-8E07-4C18-0042-FC895ADDBE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33118" y="5185664"/>
              <a:ext cx="513663" cy="3081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AE7921-37C6-D987-ECCC-13611CBD6373}"/>
                </a:ext>
              </a:extLst>
            </p:cNvPr>
            <p:cNvSpPr txBox="1"/>
            <p:nvPr/>
          </p:nvSpPr>
          <p:spPr>
            <a:xfrm>
              <a:off x="8100060" y="5435076"/>
              <a:ext cx="8148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&amp; value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13207-1731-F324-9EFD-97EA91C3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Key: Phone Number</a:t>
                </a:r>
              </a:p>
              <a:p>
                <a:r>
                  <a:rPr lang="en-US" dirty="0"/>
                  <a:t>Value: People</a:t>
                </a:r>
              </a:p>
              <a:p>
                <a:r>
                  <a:rPr lang="en-US" dirty="0"/>
                  <a:t>Table size: 10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as an integer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8675309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 descr="An example of an empty array of size 10">
            <a:extLst>
              <a:ext uri="{FF2B5EF4-FFF2-40B4-BE49-F238E27FC236}">
                <a16:creationId xmlns:a16="http://schemas.microsoft.com/office/drawing/2014/main" id="{8F0E165E-825A-2E57-85C9-42A8F3BE9294}"/>
              </a:ext>
            </a:extLst>
          </p:cNvPr>
          <p:cNvGrpSpPr/>
          <p:nvPr/>
        </p:nvGrpSpPr>
        <p:grpSpPr>
          <a:xfrm>
            <a:off x="4953000" y="660717"/>
            <a:ext cx="6400800" cy="1097280"/>
            <a:chOff x="4953000" y="660717"/>
            <a:chExt cx="6400800" cy="1097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CC2950-7509-104F-9B67-658FD652C2A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E044AF-73B9-3E7A-F3B9-8485C08B25F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D038655-C5CF-B784-02FB-537E453767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A73B9BD-EC6B-2C79-E987-A6B3E7E944F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F18A31B-96C6-BE46-4F61-B05B5E36AEC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44F5CFF-7730-9C8F-D94C-7C8F16188F8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D97F77D-F0C4-2944-97DA-8210EDBECBC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DFFC00-9F00-F7D2-2250-AC07E65D0CD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098C2B0-C5D6-ED74-92F9-565F8786F11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2507EFD-F0E2-7CAA-2A7A-086720DE0A9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4EB7E35-01E7-8973-C158-B1EF4676CA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5FADE01-8330-8ED4-8775-27A59AD8AD4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67431FB-7023-308E-D1BF-A5F71B6FCC2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8BD93D2-EB68-B807-BD17-1E5C004C18E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2D90A-5F76-FBE8-5DAA-6AB8C6BFE1E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784D1BC-105B-10DF-C9FC-871CCA3BDDA5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BD0B091-DC55-2392-75EE-BEAB25F8571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90ED62-90C0-5695-0759-9E63E1EBBD9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FF9C65-682C-F519-6FF3-FD694A5F99D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B2EDE4C-4DA8-31B1-7678-86A1A8B555D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D404C5E-9347-BC04-8E16-5E7FF0243DE1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25209DC-0518-480E-5A9F-7F6C1D4CD0B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0286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0EC20-4FA4-D18D-A0AE-BE56D6EB3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Influences Running 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B0D1-210A-8443-B622-C72556A6A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hashing itself takes</a:t>
            </a:r>
          </a:p>
          <a:p>
            <a:r>
              <a:rPr lang="en-US" dirty="0"/>
              <a:t>Likelihood of collisions</a:t>
            </a:r>
          </a:p>
          <a:p>
            <a:pPr lvl="1"/>
            <a:r>
              <a:rPr lang="en-US" dirty="0"/>
              <a:t>Size of the array vs number of values in the array</a:t>
            </a:r>
          </a:p>
          <a:p>
            <a:pPr lvl="1"/>
            <a:r>
              <a:rPr lang="en-US" dirty="0"/>
              <a:t>“quality” of our hash function</a:t>
            </a:r>
          </a:p>
          <a:p>
            <a:r>
              <a:rPr lang="en-US" dirty="0"/>
              <a:t>What we do when we have a collision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587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AEB70-2748-0FB0-4AA5-4178E105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Bad Hash (and phone number trivia)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first digit of the phone number</a:t>
                </a:r>
              </a:p>
              <a:p>
                <a:pPr lvl="1"/>
                <a:r>
                  <a:rPr lang="en-US" dirty="0"/>
                  <a:t>Assume 10-digit format</a:t>
                </a:r>
              </a:p>
              <a:p>
                <a:pPr lvl="1"/>
                <a:r>
                  <a:rPr lang="en-US" dirty="0"/>
                  <a:t>No US phone numbers start with 1 or 0</a:t>
                </a:r>
              </a:p>
              <a:p>
                <a:pPr lvl="1"/>
                <a:r>
                  <a:rPr lang="en-US" dirty="0"/>
                  <a:t>If we’re sampling from this class, 2 is by far the most likely</a:t>
                </a:r>
              </a:p>
              <a:p>
                <a:r>
                  <a:rPr lang="en-US" dirty="0"/>
                  <a:t>Consistent? Yes!</a:t>
                </a:r>
              </a:p>
              <a:p>
                <a:r>
                  <a:rPr lang="en-US" dirty="0"/>
                  <a:t>Uniform? No!</a:t>
                </a:r>
              </a:p>
              <a:p>
                <a:r>
                  <a:rPr lang="en-US" dirty="0"/>
                  <a:t>Effective? No!</a:t>
                </a:r>
              </a:p>
              <a:p>
                <a:r>
                  <a:rPr lang="en-US" dirty="0"/>
                  <a:t>Efficient? Yes!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An example of an empty array of size 10">
            <a:extLst>
              <a:ext uri="{FF2B5EF4-FFF2-40B4-BE49-F238E27FC236}">
                <a16:creationId xmlns:a16="http://schemas.microsoft.com/office/drawing/2014/main" id="{F20E693B-93AA-C117-7620-A18DD24FEB40}"/>
              </a:ext>
            </a:extLst>
          </p:cNvPr>
          <p:cNvGrpSpPr/>
          <p:nvPr/>
        </p:nvGrpSpPr>
        <p:grpSpPr>
          <a:xfrm>
            <a:off x="5298440" y="4830128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E418751-3F07-0DFF-4FC2-B57C51B02C1F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C1010E2-3D4F-53C1-6B99-1B18E60FDD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A24EDF-2E5C-B7EB-CE04-579C70775B6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EADAEB4-C706-9861-DD5F-AE494EBB44D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FB7A9A4-6398-EC12-E456-B11FEE14681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BA606F0-F91C-900A-B85F-6F6E4A35C35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8CD4196-E921-BC0C-4178-6E47474B52A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6B78A1D-8822-7D5B-EBCD-C2BA219456B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F39AF62-A56B-F6B5-E0D1-6A4473C47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D48D035-BB15-9D68-B22D-DC97C43D8E9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E3EA93E-6F99-B4B5-E846-D6930840224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644001-843C-9580-BCB1-87AEB1D91864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9423C69-BC54-9C2E-3E25-F467B7226CF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4630411-625B-9FF1-7FC8-929037C4E362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26C368-E744-8F5C-3D09-060814B6365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87D8E32-A226-6474-7942-8506A86639B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1841967-D254-6740-6886-C85A2566A5E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A60285C-0BD9-3F25-00F4-BDFBDF50B87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23F4E4E-647F-EF99-B6C9-606016E5942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4A5911F-FAAC-13F1-DB1A-3338BFA5448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44A62AC-6E01-38F1-6D3B-B17AE3E0898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477B64A-820D-EDCA-CB1B-C491E58A0BF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442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C18AD-8782-101D-71B2-AACF88D77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These Hash Functions (for strings)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4277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EB21B-983A-7F4D-AB2A-1B8088E50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37551-8A02-8C7A-602B-6AAC9CB09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Those Example 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and possibly uniform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uniform, and effective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effective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211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 descr="An empty array of size 10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28" name="Group 27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F0D0E908-65FA-3B86-F2C7-EB14E6925F15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7D1AD0-1B9E-412D-3A20-E79C7C02DFF4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07386195-BD90-00BB-B11C-2E0A51EBF726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EA268444-E9D8-103A-F880-AB46C12BC769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FE7D612-CC0B-0352-BEBB-325F28C5F24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094040C-B153-41DB-4A4A-4062B5FB7766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086E2FC-87C5-76F1-BF3B-38BF8C1727B2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EE80FF-E49F-4242-CE72-CE8B36A51656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C3ED64-7D18-86F3-420B-1C3D977FD62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1237C98-7B2E-9E91-022B-629C5413948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8E410D9-4E58-2B93-328E-E35FEF26D71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5871046-D0CF-483C-3624-DB67CD87402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AE97B709-8E5C-B28D-C6FB-76F340883847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E104D4D-BF21-079D-627C-D3EF4B58C1C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B92CA787-F351-99CE-8252-3670679984A2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DE562F-FEFB-3C87-66C5-4FC515819004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0A1EED9-0D82-9636-8B98-6D690796FEDE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BDFB5B6-896C-C056-1726-CBD6B12B0DE9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90583C2-0EFF-A52C-5C11-BC8107E92DD0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B9558DB-4D3B-2005-36D4-28AC5C20D22A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224E418-7E41-4486-364E-ACB18FBC9F01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DEB544B-D1D8-EE6A-385C-E7D77E8C8DB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FE74979-FA11-F7E9-3C7A-3704658B6B39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ED3DD26-95AB-A798-AE3E-AB168FC60C2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0C9EE3D-D77C-1669-D63E-C775BFAB8BA3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DC057F3-CE4E-FEA4-8BF7-41B10D3E6F86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549F27C-56EF-C166-BA10-B4920B8A79A7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3F12D4-0282-8596-10ED-55462BC4C9AF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82D35A-7B8F-9FB2-74C6-AA71BF05EB5A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F92726D-8930-6161-E4CD-6CD38D725815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704D9272-389E-D58A-0B56-E0F660DB9F59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7D1AD0-1B9E-412D-3A20-E79C7C02DFF4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07386195-BD90-00BB-B11C-2E0A51EBF726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EA268444-E9D8-103A-F880-AB46C12BC769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FE7D612-CC0B-0352-BEBB-325F28C5F24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094040C-B153-41DB-4A4A-4062B5FB7766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086E2FC-87C5-76F1-BF3B-38BF8C1727B2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EE80FF-E49F-4242-CE72-CE8B36A51656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C3ED64-7D18-86F3-420B-1C3D977FD62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1237C98-7B2E-9E91-022B-629C5413948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8E410D9-4E58-2B93-328E-E35FEF26D71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5871046-D0CF-483C-3624-DB67CD87402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AE97B709-8E5C-B28D-C6FB-76F340883847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E104D4D-BF21-079D-627C-D3EF4B58C1C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B92CA787-F351-99CE-8252-3670679984A2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DE562F-FEFB-3C87-66C5-4FC515819004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0A1EED9-0D82-9636-8B98-6D690796FEDE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BDFB5B6-896C-C056-1726-CBD6B12B0DE9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90583C2-0EFF-A52C-5C11-BC8107E92DD0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B9558DB-4D3B-2005-36D4-28AC5C20D22A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224E418-7E41-4486-364E-ACB18FBC9F01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DEB544B-D1D8-EE6A-385C-E7D77E8C8DB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FE74979-FA11-F7E9-3C7A-3704658B6B39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ED3DD26-95AB-A798-AE3E-AB168FC60C2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0C9EE3D-D77C-1669-D63E-C775BFAB8BA3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DC057F3-CE4E-FEA4-8BF7-41B10D3E6F86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549F27C-56EF-C166-BA10-B4920B8A79A7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3F12D4-0282-8596-10ED-55462BC4C9AF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82D35A-7B8F-9FB2-74C6-AA71BF05EB5A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F92726D-8930-6161-E4CD-6CD38D725815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C50485C1-971C-8906-53EB-58262418D02F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91ECDB6-DBDB-A8C5-13B8-D40E0B56F6CF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AA78154-D2A0-BF2C-9B37-89A4A1379974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2B331FF7-4ADF-F5C5-5A92-E2E26C322D81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43150A1-3A0C-0E2E-806A-D901BAA46E5C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07FA6F73-9326-7623-286F-F79D18C948C5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B00C70B-769B-1252-448C-DD9A7F25B82A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5A2345D6-30A8-DE1D-1642-CCCCDFD9C13C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FD4096-164B-4E14-BE95-4D30896294AD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85C0D695-3EA8-5B0F-C8B5-F6B37DA781F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364378A1-329E-3EB3-A369-D972CA452FA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1D4BB78-3629-F57F-7936-EEB4230E3113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D5268C3D-BFFE-225B-A692-AF99650934DB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4B1FA29-7E34-0841-EC22-1222491D9C3E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EA02254A-91CA-3383-8EF6-F5AAF94312F5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117B7E3-7CA7-C371-0E02-C5C5A9B5A6B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31CDC39D-5234-7CFE-F9A7-BFA74A9CBB8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A7FECAC9-D12D-95A0-AB8A-DD19A4DFF49A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931F0E9C-6E2C-32C5-2754-D26A3538B18C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6D4FDA9-756B-31B1-096F-002F125364F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AB26DF93-8ABD-57E7-3342-E8BB1220BBEA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9BDE1C0-1567-F432-BFC9-5D6917EBB1F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4E56DA0-CB51-CD5D-0F83-6A455B6DB6CA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4FA49A12-E978-D7D8-6386-D6286151FBC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8BF4F05-1F9D-06B3-2DDC-C289E853CCE0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787E9B0-35F3-4A63-957F-9FA7F2B518A2}"/>
                </a:ext>
              </a:extLst>
            </p:cNvPr>
            <p:cNvCxnSpPr>
              <a:cxnSpLocks/>
              <a:stCxn id="48" idx="0"/>
              <a:endCxn id="56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099790F-4528-AB94-CDB3-F6CC4231DE2C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4CAB-B7CB-EF56-EAD8-BC0CD889224E}"/>
                </a:ext>
              </a:extLst>
            </p:cNvPr>
            <p:cNvCxnSpPr>
              <a:cxnSpLocks/>
              <a:endCxn id="58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E13C852-F822-AC77-8026-CE353C7665DD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751ADFC5-0306-0154-E32F-D9B258F02E0B}"/>
                </a:ext>
              </a:extLst>
            </p:cNvPr>
            <p:cNvCxnSpPr>
              <a:cxnSpLocks/>
              <a:endCxn id="60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 (Answers)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2"/>
                <a:r>
                  <a:rPr lang="en-US" dirty="0"/>
                  <a:t>We’ll talk about which constant we should pick later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A separate chaining hash table of length 10. Index 2 of the array has 1 item, index 5 has 2 items, all other indices are empty.&#10;&#10;Because the total number of key-value pairs present is 3, and the length of the array is 10, the load factor is 3/10 = 0.3.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1</a:t>
            </a:r>
          </a:p>
        </p:txBody>
      </p:sp>
      <p:grpSp>
        <p:nvGrpSpPr>
          <p:cNvPr id="33" name="Group 32" descr="A separate chaining hash table of length 10. Index 2 of the array has 1 item, index 5 has 2 items, all other indices are empty.&#10;&#10;Because the total number of key-value pairs present is 3, and the length of the array is 10, the load factor is 3/10 = 0.3.">
            <a:extLst>
              <a:ext uri="{FF2B5EF4-FFF2-40B4-BE49-F238E27FC236}">
                <a16:creationId xmlns:a16="http://schemas.microsoft.com/office/drawing/2014/main" id="{B3CE968D-5F5C-9F08-A69F-AF2588EBB0F0}"/>
              </a:ext>
            </a:extLst>
          </p:cNvPr>
          <p:cNvGrpSpPr/>
          <p:nvPr/>
        </p:nvGrpSpPr>
        <p:grpSpPr>
          <a:xfrm>
            <a:off x="3002280" y="1825625"/>
            <a:ext cx="6400800" cy="2545078"/>
            <a:chOff x="3002280" y="1825625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2</a:t>
            </a:r>
          </a:p>
        </p:txBody>
      </p:sp>
      <p:grpSp>
        <p:nvGrpSpPr>
          <p:cNvPr id="43" name="Group 42" descr="A separate chaining hash table of length 10. Index 2 of the array has 1 item, index 5 has 3 items, index 9 has 4 items, all other indices are empty.&#10;&#10;Because the total number of key-value pairs present is 8, and the length of the array is 10, the load factor is 8/10 = 0.8.">
            <a:extLst>
              <a:ext uri="{FF2B5EF4-FFF2-40B4-BE49-F238E27FC236}">
                <a16:creationId xmlns:a16="http://schemas.microsoft.com/office/drawing/2014/main" id="{B40C2928-5E80-C549-6F11-BEA5EEA6BBD3}"/>
              </a:ext>
            </a:extLst>
          </p:cNvPr>
          <p:cNvGrpSpPr/>
          <p:nvPr/>
        </p:nvGrpSpPr>
        <p:grpSpPr>
          <a:xfrm>
            <a:off x="3002280" y="360998"/>
            <a:ext cx="6400800" cy="4009705"/>
            <a:chOff x="3002280" y="360998"/>
            <a:chExt cx="6400800" cy="400970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/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blipFill>
                  <a:blip r:embed="rId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352F6C-DE53-32FA-E0D5-C4BD09FE69C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6550024" y="157035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/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blipFill>
                  <a:blip r:embed="rId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5EAD4BB-F71C-4B78-6EE6-A124E0BA4014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V="1">
              <a:off x="9069069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/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blipFill>
                  <a:blip r:embed="rId7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3F4EF4-64CB-DDD5-DC1F-9C3F90800DD7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V="1">
              <a:off x="9069069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/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blipFill>
                  <a:blip r:embed="rId8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87CECB3-6B1F-DDE3-F042-3FC3931A51F3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 flipV="1">
              <a:off x="9069069" y="15535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/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blipFill>
                  <a:blip r:embed="rId9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01C2F5F-EF97-7D03-A3CD-00BF6AC7D8DF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9069069" y="829628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3</a:t>
            </a:r>
          </a:p>
        </p:txBody>
      </p:sp>
      <p:grpSp>
        <p:nvGrpSpPr>
          <p:cNvPr id="57" name="Group 56" descr="A separate chaining hash table of length 10. Index 0 has 1 item, index 2 has 2 items, index 4 has 1 item, index 5 has 3 items, index 7 has 3 items, index 8 has 1 item, and index 9 has 4 items. All other indices are empty.&#10;&#10;Because the total number of key-value pairs present is 15, and the length of the array is 10, the load factor is 15/10 = 1.5.">
            <a:extLst>
              <a:ext uri="{FF2B5EF4-FFF2-40B4-BE49-F238E27FC236}">
                <a16:creationId xmlns:a16="http://schemas.microsoft.com/office/drawing/2014/main" id="{815CD5D2-D488-0B3B-0D69-B147C56F5636}"/>
              </a:ext>
            </a:extLst>
          </p:cNvPr>
          <p:cNvGrpSpPr/>
          <p:nvPr/>
        </p:nvGrpSpPr>
        <p:grpSpPr>
          <a:xfrm>
            <a:off x="3002280" y="360998"/>
            <a:ext cx="6400800" cy="4009705"/>
            <a:chOff x="3002280" y="360998"/>
            <a:chExt cx="6400800" cy="400970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/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blipFill>
                  <a:blip r:embed="rId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352F6C-DE53-32FA-E0D5-C4BD09FE69C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6550024" y="157035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/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blipFill>
                  <a:blip r:embed="rId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5EAD4BB-F71C-4B78-6EE6-A124E0BA4014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V="1">
              <a:off x="9069069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/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blipFill>
                  <a:blip r:embed="rId7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3F4EF4-64CB-DDD5-DC1F-9C3F90800DD7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V="1">
              <a:off x="9069069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/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blipFill>
                  <a:blip r:embed="rId8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87CECB3-6B1F-DDE3-F042-3FC3931A51F3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 flipV="1">
              <a:off x="9069069" y="15535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/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blipFill>
                  <a:blip r:embed="rId9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01C2F5F-EF97-7D03-A3CD-00BF6AC7D8DF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9069069" y="829628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03BAA4C-B007-C380-6D00-7D95F25871FA}"/>
                    </a:ext>
                  </a:extLst>
                </p:cNvPr>
                <p:cNvSpPr/>
                <p:nvPr/>
              </p:nvSpPr>
              <p:spPr>
                <a:xfrm>
                  <a:off x="4374197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03BAA4C-B007-C380-6D00-7D95F25871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4197" y="1825625"/>
                  <a:ext cx="468630" cy="468630"/>
                </a:xfrm>
                <a:prstGeom prst="rect">
                  <a:avLst/>
                </a:prstGeom>
                <a:blipFill>
                  <a:blip r:embed="rId10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772FA18-6A5B-A1AF-51F3-05EBCDEAB760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4608512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E2F806D-D1B1-DF73-6BDA-A4668BEDD6CA}"/>
                    </a:ext>
                  </a:extLst>
                </p:cNvPr>
                <p:cNvSpPr/>
                <p:nvPr/>
              </p:nvSpPr>
              <p:spPr>
                <a:xfrm>
                  <a:off x="5607366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E2F806D-D1B1-DF73-6BDA-A4668BEDD6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7366" y="2549524"/>
                  <a:ext cx="468630" cy="468630"/>
                </a:xfrm>
                <a:prstGeom prst="rect">
                  <a:avLst/>
                </a:prstGeom>
                <a:blipFill>
                  <a:blip r:embed="rId11"/>
                  <a:stretch>
                    <a:fillRect l="-101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3F82035-F31B-DDB2-87BB-A0A1AEB721D2}"/>
                </a:ext>
              </a:extLst>
            </p:cNvPr>
            <p:cNvCxnSpPr>
              <a:cxnSpLocks/>
              <a:endCxn id="45" idx="2"/>
            </p:cNvCxnSpPr>
            <p:nvPr/>
          </p:nvCxnSpPr>
          <p:spPr>
            <a:xfrm flipV="1">
              <a:off x="5841681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E2D19C4-9589-8C78-5C2C-A7145D3AEBE5}"/>
                    </a:ext>
                  </a:extLst>
                </p:cNvPr>
                <p:cNvSpPr/>
                <p:nvPr/>
              </p:nvSpPr>
              <p:spPr>
                <a:xfrm>
                  <a:off x="7593010" y="256206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E2D19C4-9589-8C78-5C2C-A7145D3AEB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3010" y="2562064"/>
                  <a:ext cx="468630" cy="468630"/>
                </a:xfrm>
                <a:prstGeom prst="rect">
                  <a:avLst/>
                </a:prstGeom>
                <a:blipFill>
                  <a:blip r:embed="rId1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0D314E1-854A-65E6-9B7F-C273F6FDE7DA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 flipV="1">
              <a:off x="7827325" y="303069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EF44CA0-7BB2-4E78-982C-D3C3E70B39E5}"/>
                    </a:ext>
                  </a:extLst>
                </p:cNvPr>
                <p:cNvSpPr/>
                <p:nvPr/>
              </p:nvSpPr>
              <p:spPr>
                <a:xfrm>
                  <a:off x="3126421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EF44CA0-7BB2-4E78-982C-D3C3E70B39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421" y="2549524"/>
                  <a:ext cx="468630" cy="468630"/>
                </a:xfrm>
                <a:prstGeom prst="rect">
                  <a:avLst/>
                </a:prstGeom>
                <a:blipFill>
                  <a:blip r:embed="rId13"/>
                  <a:stretch>
                    <a:fillRect l="-101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A668F0C-0B35-AA65-2737-CBC7BE8228E2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3360736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A295C55-7A02-3F40-BBC1-E88C568E017D}"/>
                    </a:ext>
                  </a:extLst>
                </p:cNvPr>
                <p:cNvSpPr/>
                <p:nvPr/>
              </p:nvSpPr>
              <p:spPr>
                <a:xfrm>
                  <a:off x="7593010" y="1846579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A295C55-7A02-3F40-BBC1-E88C568E01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3010" y="1846579"/>
                  <a:ext cx="468630" cy="468630"/>
                </a:xfrm>
                <a:prstGeom prst="rect">
                  <a:avLst/>
                </a:prstGeom>
                <a:blipFill>
                  <a:blip r:embed="rId1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F63374C-DE0C-C5B4-3F72-3B27EC9BC237}"/>
                </a:ext>
              </a:extLst>
            </p:cNvPr>
            <p:cNvCxnSpPr>
              <a:cxnSpLocks/>
              <a:endCxn id="51" idx="2"/>
            </p:cNvCxnSpPr>
            <p:nvPr/>
          </p:nvCxnSpPr>
          <p:spPr>
            <a:xfrm flipV="1">
              <a:off x="7827325" y="2315209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473778A-2878-4EF8-9556-821A278D079D}"/>
                    </a:ext>
                  </a:extLst>
                </p:cNvPr>
                <p:cNvSpPr/>
                <p:nvPr/>
              </p:nvSpPr>
              <p:spPr>
                <a:xfrm>
                  <a:off x="8213090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473778A-2878-4EF8-9556-821A278D07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3090" y="2549524"/>
                  <a:ext cx="468630" cy="468630"/>
                </a:xfrm>
                <a:prstGeom prst="rect">
                  <a:avLst/>
                </a:prstGeom>
                <a:blipFill>
                  <a:blip r:embed="rId1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40B7F36-8C50-B7B5-8D5D-F7C2197D449B}"/>
                </a:ext>
              </a:extLst>
            </p:cNvPr>
            <p:cNvCxnSpPr>
              <a:cxnSpLocks/>
              <a:endCxn id="53" idx="2"/>
            </p:cNvCxnSpPr>
            <p:nvPr/>
          </p:nvCxnSpPr>
          <p:spPr>
            <a:xfrm flipV="1">
              <a:off x="8447405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1215489C-1C00-DF44-EE09-420899356F8E}"/>
                    </a:ext>
                  </a:extLst>
                </p:cNvPr>
                <p:cNvSpPr/>
                <p:nvPr/>
              </p:nvSpPr>
              <p:spPr>
                <a:xfrm>
                  <a:off x="7577135" y="113315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1215489C-1C00-DF44-EE09-420899356F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135" y="1133157"/>
                  <a:ext cx="468630" cy="468630"/>
                </a:xfrm>
                <a:prstGeom prst="rect">
                  <a:avLst/>
                </a:prstGeom>
                <a:blipFill>
                  <a:blip r:embed="rId1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8F43A32-977F-43FE-EAAB-FDBF4149C224}"/>
                </a:ext>
              </a:extLst>
            </p:cNvPr>
            <p:cNvCxnSpPr>
              <a:cxnSpLocks/>
              <a:endCxn id="55" idx="2"/>
            </p:cNvCxnSpPr>
            <p:nvPr/>
          </p:nvCxnSpPr>
          <p:spPr>
            <a:xfrm flipV="1">
              <a:off x="7811450" y="160178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How to find?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you think?</a:t>
            </a:r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27922</TotalTime>
  <Words>2108</Words>
  <Application>Microsoft Office PowerPoint</Application>
  <PresentationFormat>Widescreen</PresentationFormat>
  <Paragraphs>462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Cambria Math</vt:lpstr>
      <vt:lpstr>Calibri</vt:lpstr>
      <vt:lpstr>Consolas</vt:lpstr>
      <vt:lpstr>Arial</vt:lpstr>
      <vt:lpstr>Aptos</vt:lpstr>
      <vt:lpstr>Calibri Light</vt:lpstr>
      <vt:lpstr>Office Theme</vt:lpstr>
      <vt:lpstr>CSE 332 Spring 2026 Lecture 10: hashing</vt:lpstr>
      <vt:lpstr>Dictionary (Map) ADT - Ordered</vt:lpstr>
      <vt:lpstr>Dictionary Data Structures</vt:lpstr>
      <vt:lpstr>BSTs and AVL Trees</vt:lpstr>
      <vt:lpstr>Other Tree-based Dictionaries</vt:lpstr>
      <vt:lpstr>Next topic: Hash Tables</vt:lpstr>
      <vt:lpstr>Dictionary (Map) ADT - Unordered</vt:lpstr>
      <vt:lpstr>The Best Dictionary Data Structure!</vt:lpstr>
      <vt:lpstr>Problem?</vt:lpstr>
      <vt:lpstr>Hash Tables</vt:lpstr>
      <vt:lpstr>Example</vt:lpstr>
      <vt:lpstr>What Influences Running time?</vt:lpstr>
      <vt:lpstr>Properties of a “Good” Hash</vt:lpstr>
      <vt:lpstr>A Bad Hash (and phone number trivia)</vt:lpstr>
      <vt:lpstr>Compare These Hash Functions (for strings)</vt:lpstr>
      <vt:lpstr>Properties of Those Example Hash Functions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 (Answers)</vt:lpstr>
      <vt:lpstr>Load Factor Example 1</vt:lpstr>
      <vt:lpstr>Load Factor Example 2</vt:lpstr>
      <vt:lpstr>Load Factor Example 3</vt:lpstr>
      <vt:lpstr>Collision Resolution: Linear Probing</vt:lpstr>
      <vt:lpstr>Linear Probing: Insert Procedure</vt:lpstr>
      <vt:lpstr>Linear Probing: How to find?</vt:lpstr>
      <vt:lpstr>Linear Probing: Find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132</cp:revision>
  <dcterms:created xsi:type="dcterms:W3CDTF">2023-09-26T20:08:20Z</dcterms:created>
  <dcterms:modified xsi:type="dcterms:W3CDTF">2026-04-20T17:20:47Z</dcterms:modified>
</cp:coreProperties>
</file>