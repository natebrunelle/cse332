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7" r:id="rId2"/>
    <p:sldId id="410" r:id="rId3"/>
    <p:sldId id="395" r:id="rId4"/>
    <p:sldId id="426" r:id="rId5"/>
    <p:sldId id="396" r:id="rId6"/>
    <p:sldId id="397" r:id="rId7"/>
    <p:sldId id="442" r:id="rId8"/>
    <p:sldId id="439" r:id="rId9"/>
    <p:sldId id="429" r:id="rId10"/>
    <p:sldId id="411" r:id="rId11"/>
    <p:sldId id="412" r:id="rId12"/>
    <p:sldId id="413" r:id="rId13"/>
    <p:sldId id="416" r:id="rId14"/>
    <p:sldId id="415" r:id="rId15"/>
    <p:sldId id="434" r:id="rId16"/>
    <p:sldId id="389" r:id="rId17"/>
    <p:sldId id="414" r:id="rId18"/>
    <p:sldId id="417" r:id="rId19"/>
    <p:sldId id="418" r:id="rId20"/>
    <p:sldId id="419" r:id="rId21"/>
    <p:sldId id="421" r:id="rId22"/>
    <p:sldId id="435" r:id="rId23"/>
    <p:sldId id="420" r:id="rId24"/>
    <p:sldId id="423" r:id="rId25"/>
    <p:sldId id="422" r:id="rId26"/>
    <p:sldId id="437" r:id="rId27"/>
    <p:sldId id="440" r:id="rId28"/>
    <p:sldId id="441" r:id="rId29"/>
    <p:sldId id="430" r:id="rId30"/>
  </p:sldIdLst>
  <p:sldSz cx="12192000" cy="6858000"/>
  <p:notesSz cx="6858000" cy="9144000"/>
  <p:embeddedFontLst>
    <p:embeddedFont>
      <p:font typeface="Cambria Math" panose="02040503050406030204" pitchFamily="18"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a:srgbClr val="FF00FF"/>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94" autoAdjust="0"/>
    <p:restoredTop sz="94660"/>
  </p:normalViewPr>
  <p:slideViewPr>
    <p:cSldViewPr snapToGrid="0">
      <p:cViewPr varScale="1">
        <p:scale>
          <a:sx n="63" d="100"/>
          <a:sy n="63" d="100"/>
        </p:scale>
        <p:origin x="68" y="3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a:t>
            </a:r>
            <a:r>
              <a:rPr lang="en-US"/>
              <a:t>332 Spring </a:t>
            </a:r>
            <a:r>
              <a:rPr lang="en-US" dirty="0"/>
              <a:t>2026</a:t>
            </a:r>
            <a:br>
              <a:rPr lang="en-US" dirty="0"/>
            </a:br>
            <a:r>
              <a:rPr lang="en-US" dirty="0"/>
              <a:t>Lecture 20: Parallel Prefix</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Michael Whitmeyer</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D9DF2-4E51-D9D2-9798-C69191332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8D479D-C506-6CBC-7BEB-9F4DC0AE419B}"/>
              </a:ext>
            </a:extLst>
          </p:cNvPr>
          <p:cNvSpPr>
            <a:spLocks noGrp="1"/>
          </p:cNvSpPr>
          <p:nvPr>
            <p:ph type="title"/>
          </p:nvPr>
        </p:nvSpPr>
        <p:spPr/>
        <p:txBody>
          <a:bodyPr/>
          <a:lstStyle/>
          <a:p>
            <a:r>
              <a:rPr lang="en-US" dirty="0"/>
              <a:t>Which Data Structures are “Suitable” for Parallelism?</a:t>
            </a:r>
          </a:p>
        </p:txBody>
      </p:sp>
      <p:sp>
        <p:nvSpPr>
          <p:cNvPr id="3" name="Content Placeholder 2">
            <a:extLst>
              <a:ext uri="{FF2B5EF4-FFF2-40B4-BE49-F238E27FC236}">
                <a16:creationId xmlns:a16="http://schemas.microsoft.com/office/drawing/2014/main" id="{2566AD97-59A7-6C24-B965-1A4568AF153F}"/>
              </a:ext>
            </a:extLst>
          </p:cNvPr>
          <p:cNvSpPr>
            <a:spLocks noGrp="1"/>
          </p:cNvSpPr>
          <p:nvPr>
            <p:ph idx="1"/>
          </p:nvPr>
        </p:nvSpPr>
        <p:spPr/>
        <p:txBody>
          <a:bodyPr/>
          <a:lstStyle/>
          <a:p>
            <a:r>
              <a:rPr lang="en-US" dirty="0"/>
              <a:t>For each data structure, can we write a parallel algorithm to sum all of its values that’s </a:t>
            </a:r>
            <a:r>
              <a:rPr lang="en-US" i="1" dirty="0"/>
              <a:t>more efficient</a:t>
            </a:r>
            <a:r>
              <a:rPr lang="en-US" dirty="0"/>
              <a:t> than a sequential one?</a:t>
            </a:r>
          </a:p>
          <a:p>
            <a:pPr lvl="1"/>
            <a:r>
              <a:rPr lang="en-US" dirty="0"/>
              <a:t>Array</a:t>
            </a:r>
          </a:p>
          <a:p>
            <a:pPr lvl="1"/>
            <a:r>
              <a:rPr lang="en-US" dirty="0"/>
              <a:t>Linked List</a:t>
            </a:r>
          </a:p>
          <a:p>
            <a:pPr lvl="1"/>
            <a:r>
              <a:rPr lang="en-US" dirty="0"/>
              <a:t>Binary Tree</a:t>
            </a:r>
          </a:p>
        </p:txBody>
      </p:sp>
    </p:spTree>
    <p:extLst>
      <p:ext uri="{BB962C8B-B14F-4D97-AF65-F5344CB8AC3E}">
        <p14:creationId xmlns:p14="http://schemas.microsoft.com/office/powerpoint/2010/main" val="35537450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27CD9-CCBF-A90A-4C53-49B63426D9C3}"/>
              </a:ext>
            </a:extLst>
          </p:cNvPr>
          <p:cNvSpPr>
            <a:spLocks noGrp="1"/>
          </p:cNvSpPr>
          <p:nvPr>
            <p:ph type="title"/>
          </p:nvPr>
        </p:nvSpPr>
        <p:spPr/>
        <p:txBody>
          <a:bodyPr/>
          <a:lstStyle/>
          <a:p>
            <a:r>
              <a:rPr lang="en-US" dirty="0"/>
              <a:t>Reduction/Fold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06D332-D82D-6EDD-59C1-82CAA9AABD16}"/>
                  </a:ext>
                </a:extLst>
              </p:cNvPr>
              <p:cNvSpPr>
                <a:spLocks noGrp="1"/>
              </p:cNvSpPr>
              <p:nvPr>
                <p:ph idx="1"/>
              </p:nvPr>
            </p:nvSpPr>
            <p:spPr/>
            <p:txBody>
              <a:bodyPr/>
              <a:lstStyle/>
              <a:p>
                <a:r>
                  <a:rPr lang="en-US" b="1" dirty="0"/>
                  <a:t>Input</a:t>
                </a:r>
                <a:r>
                  <a:rPr lang="en-US" dirty="0"/>
                  <a:t>: array</a:t>
                </a:r>
              </a:p>
              <a:p>
                <a:r>
                  <a:rPr lang="en-US" b="1" dirty="0"/>
                  <a:t>Output:</a:t>
                </a:r>
                <a:r>
                  <a:rPr lang="en-US" dirty="0"/>
                  <a:t> single object (sum, max, min, parity, histogram, etc.)</a:t>
                </a:r>
                <a:endParaRPr lang="en-US" b="1" dirty="0"/>
              </a:p>
              <a:p>
                <a:r>
                  <a:rPr lang="en-US" dirty="0"/>
                  <a:t>We “reduce” all elements in an array to a single item</a:t>
                </a:r>
              </a:p>
              <a:p>
                <a:r>
                  <a:rPr lang="en-US" b="1" dirty="0"/>
                  <a:t>Requirement:</a:t>
                </a:r>
                <a:r>
                  <a:rPr lang="en-US" dirty="0"/>
                  <a:t> operation done among elements is associative</a:t>
                </a:r>
              </a:p>
              <a:p>
                <a:pPr lvl="1"/>
                <a14:m>
                  <m:oMath xmlns:m="http://schemas.openxmlformats.org/officeDocument/2006/math">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𝑦</m:t>
                        </m:r>
                      </m:e>
                    </m:d>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𝑧</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𝑥</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𝑦</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𝑧</m:t>
                    </m:r>
                    <m:r>
                      <a:rPr lang="en-US" b="0" i="1" smtClean="0">
                        <a:solidFill>
                          <a:schemeClr val="accent1"/>
                        </a:solidFill>
                        <a:latin typeface="Cambria Math" panose="02040503050406030204" pitchFamily="18" charset="0"/>
                      </a:rPr>
                      <m:t>)</m:t>
                    </m:r>
                  </m:oMath>
                </a14:m>
                <a:endParaRPr lang="en-US" dirty="0">
                  <a:solidFill>
                    <a:schemeClr val="accent1"/>
                  </a:solidFill>
                </a:endParaRPr>
              </a:p>
              <a:p>
                <a:pPr lvl="1"/>
                <a:r>
                  <a:rPr lang="en-US" dirty="0">
                    <a:solidFill>
                      <a:schemeClr val="accent1"/>
                    </a:solidFill>
                  </a:rPr>
                  <a:t>min(min(</a:t>
                </a:r>
                <a:r>
                  <a:rPr lang="en-US" dirty="0" err="1">
                    <a:solidFill>
                      <a:schemeClr val="accent1"/>
                    </a:solidFill>
                  </a:rPr>
                  <a:t>x,y</a:t>
                </a:r>
                <a:r>
                  <a:rPr lang="en-US" dirty="0">
                    <a:solidFill>
                      <a:schemeClr val="accent1"/>
                    </a:solidFill>
                  </a:rPr>
                  <a:t>),z) = min(x, min(</a:t>
                </a:r>
                <a:r>
                  <a:rPr lang="en-US" dirty="0" err="1">
                    <a:solidFill>
                      <a:schemeClr val="accent1"/>
                    </a:solidFill>
                  </a:rPr>
                  <a:t>y,z</a:t>
                </a:r>
                <a:r>
                  <a:rPr lang="en-US" dirty="0">
                    <a:solidFill>
                      <a:schemeClr val="accent1"/>
                    </a:solidFill>
                  </a:rPr>
                  <a:t>))</a:t>
                </a:r>
              </a:p>
              <a:p>
                <a:pPr lvl="1"/>
                <a:r>
                  <a:rPr lang="en-US" dirty="0">
                    <a:solidFill>
                      <a:schemeClr val="accent1"/>
                    </a:solidFill>
                  </a:rPr>
                  <a:t>parity(parity(</a:t>
                </a:r>
                <a:r>
                  <a:rPr lang="en-US" dirty="0" err="1">
                    <a:solidFill>
                      <a:schemeClr val="accent1"/>
                    </a:solidFill>
                  </a:rPr>
                  <a:t>x,y</a:t>
                </a:r>
                <a:r>
                  <a:rPr lang="en-US" dirty="0">
                    <a:solidFill>
                      <a:schemeClr val="accent1"/>
                    </a:solidFill>
                  </a:rPr>
                  <a:t>), z) = parity(x, parity(</a:t>
                </a:r>
                <a:r>
                  <a:rPr lang="en-US" dirty="0" err="1">
                    <a:solidFill>
                      <a:schemeClr val="accent1"/>
                    </a:solidFill>
                  </a:rPr>
                  <a:t>y,z</a:t>
                </a:r>
                <a:r>
                  <a:rPr lang="en-US" dirty="0">
                    <a:solidFill>
                      <a:schemeClr val="accent1"/>
                    </a:solidFill>
                  </a:rPr>
                  <a:t>))</a:t>
                </a:r>
              </a:p>
              <a:p>
                <a:r>
                  <a:rPr lang="en-US" dirty="0"/>
                  <a:t>The “single item” can itself be complex</a:t>
                </a:r>
              </a:p>
              <a:p>
                <a:pPr lvl="1"/>
                <a:r>
                  <a:rPr lang="en-US" dirty="0"/>
                  <a:t>E.g. create a histogram of results from an array of trials</a:t>
                </a:r>
              </a:p>
            </p:txBody>
          </p:sp>
        </mc:Choice>
        <mc:Fallback xmlns="">
          <p:sp>
            <p:nvSpPr>
              <p:cNvPr id="3" name="Content Placeholder 2">
                <a:extLst>
                  <a:ext uri="{FF2B5EF4-FFF2-40B4-BE49-F238E27FC236}">
                    <a16:creationId xmlns:a16="http://schemas.microsoft.com/office/drawing/2014/main" id="{C906D332-D82D-6EDD-59C1-82CAA9AABD16}"/>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1054761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2C514-8F23-D967-F04B-F03124E85525}"/>
              </a:ext>
            </a:extLst>
          </p:cNvPr>
          <p:cNvSpPr>
            <a:spLocks noGrp="1"/>
          </p:cNvSpPr>
          <p:nvPr>
            <p:ph type="title"/>
          </p:nvPr>
        </p:nvSpPr>
        <p:spPr>
          <a:xfrm>
            <a:off x="838200" y="-295275"/>
            <a:ext cx="10515600" cy="1325563"/>
          </a:xfrm>
        </p:spPr>
        <p:txBody>
          <a:bodyPr>
            <a:normAutofit/>
          </a:bodyPr>
          <a:lstStyle/>
          <a:p>
            <a:r>
              <a:rPr lang="en-US" sz="4000" dirty="0"/>
              <a:t>Find Max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82600" y="701040"/>
            <a:ext cx="10515600" cy="6380480"/>
          </a:xfrm>
        </p:spPr>
        <p:txBody>
          <a:bodyPr>
            <a:normAutofit fontScale="62500" lnSpcReduction="20000"/>
          </a:bodyPr>
          <a:lstStyle/>
          <a:p>
            <a:pPr marL="0" indent="0">
              <a:buNone/>
            </a:pPr>
            <a:r>
              <a:rPr lang="en-US" dirty="0"/>
              <a:t>class </a:t>
            </a:r>
            <a:r>
              <a:rPr lang="en-US" dirty="0" err="1"/>
              <a:t>MaxTask</a:t>
            </a:r>
            <a:r>
              <a:rPr lang="en-US" dirty="0"/>
              <a:t> extends </a:t>
            </a:r>
            <a:r>
              <a:rPr lang="en-US" dirty="0" err="1"/>
              <a:t>RecursiveTask</a:t>
            </a:r>
            <a:r>
              <a:rPr lang="en-US" dirty="0"/>
              <a:t>&lt;Integer&gt; { </a:t>
            </a:r>
          </a:p>
          <a:p>
            <a:pPr marL="0" indent="0">
              <a:buNone/>
            </a:pPr>
            <a:r>
              <a:rPr lang="en-US" dirty="0"/>
              <a:t>	int lo; int hi; int[] </a:t>
            </a:r>
            <a:r>
              <a:rPr lang="en-US" dirty="0" err="1"/>
              <a:t>arr</a:t>
            </a:r>
            <a:r>
              <a:rPr lang="en-US" dirty="0"/>
              <a:t>; // fields to know what to do </a:t>
            </a:r>
          </a:p>
          <a:p>
            <a:pPr marL="0" indent="0">
              <a:buNone/>
            </a:pPr>
            <a:r>
              <a:rPr lang="en-US" dirty="0"/>
              <a:t>	</a:t>
            </a:r>
            <a:r>
              <a:rPr lang="en-US" dirty="0" err="1"/>
              <a:t>SumTask</a:t>
            </a:r>
            <a:r>
              <a:rPr lang="en-US" dirty="0"/>
              <a:t>(int[] a, int l, int h) { … } </a:t>
            </a:r>
          </a:p>
          <a:p>
            <a:pPr marL="0" indent="0">
              <a:buNone/>
            </a:pPr>
            <a:r>
              <a:rPr lang="en-US" dirty="0"/>
              <a:t>	protected Integer compute(){// return answer </a:t>
            </a:r>
          </a:p>
          <a:p>
            <a:pPr marL="0" indent="0">
              <a:buNone/>
            </a:pPr>
            <a:r>
              <a:rPr lang="en-US" dirty="0"/>
              <a:t>		if(hi – lo &lt; SEQUENTIAL_CUTOFF) {  // base case</a:t>
            </a:r>
          </a:p>
          <a:p>
            <a:pPr marL="0" indent="0">
              <a:buNone/>
            </a:pPr>
            <a:r>
              <a:rPr lang="en-US" dirty="0"/>
              <a:t>			int </a:t>
            </a:r>
            <a:r>
              <a:rPr lang="en-US" dirty="0" err="1"/>
              <a:t>ans</a:t>
            </a:r>
            <a:r>
              <a:rPr lang="en-US" dirty="0"/>
              <a:t> = </a:t>
            </a:r>
            <a:r>
              <a:rPr lang="en-US" dirty="0" err="1"/>
              <a:t>Integer.MIN_VALUE</a:t>
            </a:r>
            <a:r>
              <a:rPr lang="en-US" dirty="0"/>
              <a:t>; // local var, not a field </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a:t>
            </a:r>
            <a:r>
              <a:rPr lang="en-US" dirty="0" err="1">
                <a:solidFill>
                  <a:srgbClr val="FF0000"/>
                </a:solidFill>
              </a:rPr>
              <a:t>ans</a:t>
            </a:r>
            <a:r>
              <a:rPr lang="en-US" dirty="0">
                <a:solidFill>
                  <a:srgbClr val="FF0000"/>
                </a:solidFill>
              </a:rPr>
              <a:t> = </a:t>
            </a:r>
            <a:r>
              <a:rPr lang="en-US" dirty="0" err="1">
                <a:solidFill>
                  <a:srgbClr val="FF0000"/>
                </a:solidFill>
              </a:rPr>
              <a:t>Math.max</a:t>
            </a:r>
            <a:r>
              <a:rPr lang="en-US" dirty="0">
                <a:solidFill>
                  <a:srgbClr val="FF0000"/>
                </a:solidFill>
              </a:rPr>
              <a:t>(</a:t>
            </a:r>
            <a:r>
              <a:rPr lang="en-US" dirty="0" err="1">
                <a:solidFill>
                  <a:srgbClr val="FF0000"/>
                </a:solidFill>
              </a:rPr>
              <a:t>ans</a:t>
            </a:r>
            <a:r>
              <a:rPr lang="en-US" dirty="0">
                <a:solidFill>
                  <a:srgbClr val="FF0000"/>
                </a:solidFill>
              </a:rPr>
              <a:t>, </a:t>
            </a:r>
            <a:r>
              <a:rPr lang="en-US" dirty="0" err="1">
                <a:solidFill>
                  <a:srgbClr val="FF0000"/>
                </a:solidFill>
              </a:rPr>
              <a:t>arr</a:t>
            </a:r>
            <a:r>
              <a:rPr lang="en-US" dirty="0">
                <a:solidFill>
                  <a:srgbClr val="FF0000"/>
                </a:solidFill>
              </a:rPr>
              <a:t>[</a:t>
            </a:r>
            <a:r>
              <a:rPr lang="en-US" dirty="0" err="1">
                <a:solidFill>
                  <a:srgbClr val="FF0000"/>
                </a:solidFill>
              </a:rPr>
              <a:t>i</a:t>
            </a:r>
            <a:r>
              <a:rPr lang="en-US" dirty="0">
                <a:solidFill>
                  <a:srgbClr val="FF0000"/>
                </a:solidFill>
              </a:rPr>
              <a:t>]);}</a:t>
            </a:r>
          </a:p>
          <a:p>
            <a:pPr marL="0" indent="0">
              <a:buNone/>
            </a:pPr>
            <a:r>
              <a:rPr lang="en-US" dirty="0"/>
              <a:t>			return </a:t>
            </a:r>
            <a:r>
              <a:rPr lang="en-US" dirty="0" err="1"/>
              <a:t>ans</a:t>
            </a:r>
            <a:r>
              <a:rPr lang="en-US" dirty="0"/>
              <a:t>; </a:t>
            </a:r>
          </a:p>
          <a:p>
            <a:pPr marL="0" indent="0">
              <a:buNone/>
            </a:pPr>
            <a:r>
              <a:rPr lang="en-US" dirty="0"/>
              <a:t>		else { </a:t>
            </a:r>
          </a:p>
          <a:p>
            <a:pPr marL="0" indent="0">
              <a:buNone/>
            </a:pPr>
            <a:r>
              <a:rPr lang="en-US" dirty="0"/>
              <a:t>			</a:t>
            </a:r>
            <a:r>
              <a:rPr lang="en-US" dirty="0" err="1"/>
              <a:t>MaxTask</a:t>
            </a:r>
            <a:r>
              <a:rPr lang="en-US" dirty="0"/>
              <a:t> left = new </a:t>
            </a:r>
            <a:r>
              <a:rPr lang="en-US" dirty="0" err="1"/>
              <a:t>MaxTask</a:t>
            </a:r>
            <a:r>
              <a:rPr lang="en-US" dirty="0"/>
              <a:t>(</a:t>
            </a:r>
            <a:r>
              <a:rPr lang="en-US" dirty="0" err="1"/>
              <a:t>arr,lo</a:t>
            </a:r>
            <a:r>
              <a:rPr lang="en-US" dirty="0"/>
              <a:t>,(</a:t>
            </a:r>
            <a:r>
              <a:rPr lang="en-US" dirty="0" err="1"/>
              <a:t>hi+lo</a:t>
            </a:r>
            <a:r>
              <a:rPr lang="en-US" dirty="0"/>
              <a:t>)/2); // divide</a:t>
            </a:r>
          </a:p>
          <a:p>
            <a:pPr marL="0" indent="0">
              <a:buNone/>
            </a:pPr>
            <a:r>
              <a:rPr lang="en-US" dirty="0"/>
              <a:t>			</a:t>
            </a:r>
            <a:r>
              <a:rPr lang="en-US" dirty="0" err="1"/>
              <a:t>MaxTask</a:t>
            </a:r>
            <a:r>
              <a:rPr lang="en-US" dirty="0"/>
              <a:t> right= new </a:t>
            </a:r>
            <a:r>
              <a:rPr lang="en-US" dirty="0" err="1"/>
              <a:t>MaxTask</a:t>
            </a:r>
            <a:r>
              <a:rPr lang="en-US" dirty="0"/>
              <a:t>(</a:t>
            </a:r>
            <a:r>
              <a:rPr lang="en-US" dirty="0" err="1"/>
              <a:t>arr</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int </a:t>
            </a:r>
            <a:r>
              <a:rPr lang="en-US" dirty="0" err="1"/>
              <a:t>rightAns</a:t>
            </a:r>
            <a:r>
              <a:rPr lang="en-US" dirty="0"/>
              <a:t> = </a:t>
            </a:r>
            <a:r>
              <a:rPr lang="en-US" dirty="0" err="1"/>
              <a:t>right.compute</a:t>
            </a:r>
            <a:r>
              <a:rPr lang="en-US" dirty="0"/>
              <a:t>(); //call compute directly (conquer)</a:t>
            </a:r>
          </a:p>
          <a:p>
            <a:pPr marL="0" indent="0">
              <a:buNone/>
            </a:pPr>
            <a:r>
              <a:rPr lang="en-US" dirty="0"/>
              <a:t>			int </a:t>
            </a:r>
            <a:r>
              <a:rPr lang="en-US" dirty="0" err="1"/>
              <a:t>leftAns</a:t>
            </a:r>
            <a:r>
              <a:rPr lang="en-US" dirty="0"/>
              <a:t> =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err="1">
                <a:solidFill>
                  <a:srgbClr val="FF0000"/>
                </a:solidFill>
              </a:rPr>
              <a:t>Math.max</a:t>
            </a:r>
            <a:r>
              <a:rPr lang="en-US" dirty="0">
                <a:solidFill>
                  <a:srgbClr val="FF0000"/>
                </a:solidFill>
              </a:rPr>
              <a:t>(</a:t>
            </a:r>
            <a:r>
              <a:rPr lang="en-US" dirty="0" err="1">
                <a:solidFill>
                  <a:srgbClr val="FF0000"/>
                </a:solidFill>
              </a:rPr>
              <a:t>rightAns</a:t>
            </a:r>
            <a:r>
              <a:rPr lang="en-US" dirty="0">
                <a:solidFill>
                  <a:srgbClr val="FF0000"/>
                </a:solidFill>
              </a:rPr>
              <a:t>, </a:t>
            </a:r>
            <a:r>
              <a:rPr lang="en-US" dirty="0" err="1">
                <a:solidFill>
                  <a:srgbClr val="FF0000"/>
                </a:solidFill>
              </a:rPr>
              <a:t>leftAns</a:t>
            </a:r>
            <a:r>
              <a:rPr lang="en-US" dirty="0">
                <a:solidFill>
                  <a:srgbClr val="FF0000"/>
                </a:solidFill>
              </a:rPr>
              <a:t>);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1149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CD51D-ECA0-BCE9-D8FC-770263E97C26}"/>
              </a:ext>
            </a:extLst>
          </p:cNvPr>
          <p:cNvSpPr>
            <a:spLocks noGrp="1"/>
          </p:cNvSpPr>
          <p:nvPr>
            <p:ph type="title"/>
          </p:nvPr>
        </p:nvSpPr>
        <p:spPr/>
        <p:txBody>
          <a:bodyPr/>
          <a:lstStyle/>
          <a:p>
            <a:r>
              <a:rPr lang="en-US" dirty="0"/>
              <a:t>Map</a:t>
            </a:r>
          </a:p>
        </p:txBody>
      </p:sp>
      <p:sp>
        <p:nvSpPr>
          <p:cNvPr id="3" name="Content Placeholder 2">
            <a:extLst>
              <a:ext uri="{FF2B5EF4-FFF2-40B4-BE49-F238E27FC236}">
                <a16:creationId xmlns:a16="http://schemas.microsoft.com/office/drawing/2014/main" id="{951B260D-189A-C8C4-DD7B-FB750532127B}"/>
              </a:ext>
            </a:extLst>
          </p:cNvPr>
          <p:cNvSpPr>
            <a:spLocks noGrp="1"/>
          </p:cNvSpPr>
          <p:nvPr>
            <p:ph idx="1"/>
          </p:nvPr>
        </p:nvSpPr>
        <p:spPr/>
        <p:txBody>
          <a:bodyPr/>
          <a:lstStyle/>
          <a:p>
            <a:r>
              <a:rPr lang="en-US" b="1" dirty="0"/>
              <a:t>Input:</a:t>
            </a:r>
            <a:r>
              <a:rPr lang="en-US" dirty="0"/>
              <a:t> array(s)</a:t>
            </a:r>
          </a:p>
          <a:p>
            <a:r>
              <a:rPr lang="en-US" b="1" dirty="0"/>
              <a:t>Output:</a:t>
            </a:r>
            <a:r>
              <a:rPr lang="en-US" dirty="0"/>
              <a:t> array (of same size)</a:t>
            </a:r>
          </a:p>
          <a:p>
            <a:r>
              <a:rPr lang="en-US" b="1" dirty="0"/>
              <a:t>Requirement:</a:t>
            </a:r>
            <a:r>
              <a:rPr lang="en-US" dirty="0"/>
              <a:t> apply some function to </a:t>
            </a:r>
            <a:r>
              <a:rPr lang="en-US" u="sng" dirty="0"/>
              <a:t>individual</a:t>
            </a:r>
            <a:r>
              <a:rPr lang="en-US" dirty="0"/>
              <a:t> array elements.</a:t>
            </a:r>
            <a:endParaRPr lang="en-US" b="1" dirty="0"/>
          </a:p>
          <a:p>
            <a:r>
              <a:rPr lang="en-US" dirty="0"/>
              <a:t>Examples:</a:t>
            </a:r>
          </a:p>
          <a:p>
            <a:pPr lvl="1"/>
            <a:r>
              <a:rPr lang="en-US" dirty="0"/>
              <a:t>Vector addition:</a:t>
            </a:r>
          </a:p>
          <a:p>
            <a:pPr lvl="2"/>
            <a:r>
              <a:rPr lang="en-US" dirty="0"/>
              <a:t>sum[</a:t>
            </a:r>
            <a:r>
              <a:rPr lang="en-US" dirty="0" err="1"/>
              <a:t>i</a:t>
            </a:r>
            <a:r>
              <a:rPr lang="en-US" dirty="0"/>
              <a:t>] = arr1[</a:t>
            </a:r>
            <a:r>
              <a:rPr lang="en-US" dirty="0" err="1"/>
              <a:t>i</a:t>
            </a:r>
            <a:r>
              <a:rPr lang="en-US" dirty="0"/>
              <a:t>] + arr2[</a:t>
            </a:r>
            <a:r>
              <a:rPr lang="en-US" dirty="0" err="1"/>
              <a:t>i</a:t>
            </a:r>
            <a:r>
              <a:rPr lang="en-US" dirty="0"/>
              <a:t>]</a:t>
            </a:r>
          </a:p>
          <a:p>
            <a:pPr lvl="1"/>
            <a:r>
              <a:rPr lang="en-US" dirty="0"/>
              <a:t>Function application:</a:t>
            </a:r>
          </a:p>
          <a:p>
            <a:pPr lvl="2"/>
            <a:r>
              <a:rPr lang="en-US" dirty="0"/>
              <a:t>out[</a:t>
            </a:r>
            <a:r>
              <a:rPr lang="en-US" dirty="0" err="1"/>
              <a:t>i</a:t>
            </a:r>
            <a:r>
              <a:rPr lang="en-US" dirty="0"/>
              <a:t>] = f(</a:t>
            </a:r>
            <a:r>
              <a:rPr lang="en-US" dirty="0" err="1"/>
              <a:t>arr</a:t>
            </a:r>
            <a:r>
              <a:rPr lang="en-US" dirty="0"/>
              <a:t>[</a:t>
            </a:r>
            <a:r>
              <a:rPr lang="en-US" dirty="0" err="1"/>
              <a:t>i</a:t>
            </a:r>
            <a:r>
              <a:rPr lang="en-US" dirty="0"/>
              <a:t>]); </a:t>
            </a:r>
          </a:p>
          <a:p>
            <a:pPr lvl="1"/>
            <a:endParaRPr lang="en-US" dirty="0"/>
          </a:p>
          <a:p>
            <a:endParaRPr lang="en-US" dirty="0"/>
          </a:p>
        </p:txBody>
      </p:sp>
    </p:spTree>
    <p:extLst>
      <p:ext uri="{BB962C8B-B14F-4D97-AF65-F5344CB8AC3E}">
        <p14:creationId xmlns:p14="http://schemas.microsoft.com/office/powerpoint/2010/main" val="2059209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2C514-8F23-D967-F04B-F03124E85525}"/>
              </a:ext>
            </a:extLst>
          </p:cNvPr>
          <p:cNvSpPr>
            <a:spLocks noGrp="1"/>
          </p:cNvSpPr>
          <p:nvPr>
            <p:ph type="title"/>
          </p:nvPr>
        </p:nvSpPr>
        <p:spPr>
          <a:xfrm>
            <a:off x="838200" y="-295275"/>
            <a:ext cx="10515600" cy="1325563"/>
          </a:xfrm>
        </p:spPr>
        <p:txBody>
          <a:bodyPr>
            <a:normAutofit/>
          </a:bodyPr>
          <a:lstStyle/>
          <a:p>
            <a:r>
              <a:rPr lang="en-US" sz="4000" dirty="0"/>
              <a:t>Vector Addition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82600" y="701040"/>
            <a:ext cx="10515600" cy="6380480"/>
          </a:xfrm>
        </p:spPr>
        <p:txBody>
          <a:bodyPr>
            <a:normAutofit fontScale="77500" lnSpcReduction="20000"/>
          </a:bodyPr>
          <a:lstStyle/>
          <a:p>
            <a:pPr marL="0" indent="0">
              <a:buNone/>
            </a:pPr>
            <a:r>
              <a:rPr lang="en-US" dirty="0"/>
              <a:t>class </a:t>
            </a:r>
            <a:r>
              <a:rPr lang="en-US" dirty="0" err="1"/>
              <a:t>AddTask</a:t>
            </a:r>
            <a:r>
              <a:rPr lang="en-US" dirty="0"/>
              <a:t> extends </a:t>
            </a:r>
            <a:r>
              <a:rPr lang="en-US" dirty="0" err="1"/>
              <a:t>RecursiveAction</a:t>
            </a:r>
            <a:r>
              <a:rPr lang="en-US" dirty="0"/>
              <a:t> { </a:t>
            </a:r>
          </a:p>
          <a:p>
            <a:pPr marL="0" indent="0">
              <a:buNone/>
            </a:pPr>
            <a:r>
              <a:rPr lang="en-US" dirty="0"/>
              <a:t>	int lo; int hi; int[] a; int[] b; int[] sum; </a:t>
            </a:r>
          </a:p>
          <a:p>
            <a:pPr marL="0" indent="0">
              <a:buNone/>
            </a:pPr>
            <a:r>
              <a:rPr lang="en-US" dirty="0"/>
              <a:t>	</a:t>
            </a:r>
            <a:r>
              <a:rPr lang="en-US" dirty="0" err="1"/>
              <a:t>AddTask</a:t>
            </a:r>
            <a:r>
              <a:rPr lang="en-US" dirty="0"/>
              <a:t>(</a:t>
            </a:r>
            <a:r>
              <a:rPr lang="en-US" dirty="0">
                <a:solidFill>
                  <a:srgbClr val="FF0000"/>
                </a:solidFill>
              </a:rPr>
              <a:t>int[] a, int[] b, int[] sum</a:t>
            </a:r>
            <a:r>
              <a:rPr lang="en-US" dirty="0"/>
              <a:t>, int l, int h) { … } </a:t>
            </a:r>
          </a:p>
          <a:p>
            <a:pPr marL="0" indent="0">
              <a:buNone/>
            </a:pPr>
            <a:r>
              <a:rPr lang="en-US" dirty="0"/>
              <a:t>	protected </a:t>
            </a:r>
            <a:r>
              <a:rPr lang="en-US" dirty="0">
                <a:solidFill>
                  <a:srgbClr val="FF0000"/>
                </a:solidFill>
              </a:rPr>
              <a:t>void</a:t>
            </a:r>
            <a:r>
              <a:rPr lang="en-US" dirty="0"/>
              <a:t> compute(){// return answer </a:t>
            </a:r>
          </a:p>
          <a:p>
            <a:pPr marL="0" indent="0">
              <a:buNone/>
            </a:pPr>
            <a:r>
              <a:rPr lang="en-US" dirty="0"/>
              <a:t>		if(hi – lo &lt; SEQUENTIAL_CUTOFF) {  // base case</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sum[</a:t>
            </a:r>
            <a:r>
              <a:rPr lang="en-US" dirty="0" err="1">
                <a:solidFill>
                  <a:srgbClr val="FF0000"/>
                </a:solidFill>
              </a:rPr>
              <a:t>i</a:t>
            </a:r>
            <a:r>
              <a:rPr lang="en-US" dirty="0">
                <a:solidFill>
                  <a:srgbClr val="FF0000"/>
                </a:solidFill>
              </a:rPr>
              <a:t>] = a[</a:t>
            </a:r>
            <a:r>
              <a:rPr lang="en-US" dirty="0" err="1">
                <a:solidFill>
                  <a:srgbClr val="FF0000"/>
                </a:solidFill>
              </a:rPr>
              <a:t>i</a:t>
            </a:r>
            <a:r>
              <a:rPr lang="en-US" dirty="0">
                <a:solidFill>
                  <a:srgbClr val="FF0000"/>
                </a:solidFill>
              </a:rPr>
              <a:t>] + b[</a:t>
            </a:r>
            <a:r>
              <a:rPr lang="en-US" dirty="0" err="1">
                <a:solidFill>
                  <a:srgbClr val="FF0000"/>
                </a:solidFill>
              </a:rPr>
              <a:t>i</a:t>
            </a:r>
            <a:r>
              <a:rPr lang="en-US" dirty="0">
                <a:solidFill>
                  <a:srgbClr val="FF0000"/>
                </a:solidFill>
              </a:rPr>
              <a:t>];}</a:t>
            </a:r>
            <a:endParaRPr lang="en-US" dirty="0"/>
          </a:p>
          <a:p>
            <a:pPr marL="0" indent="0">
              <a:buNone/>
            </a:pPr>
            <a:r>
              <a:rPr lang="en-US" dirty="0"/>
              <a:t>		else { </a:t>
            </a:r>
          </a:p>
          <a:p>
            <a:pPr marL="0" indent="0">
              <a:buNone/>
            </a:pPr>
            <a:r>
              <a:rPr lang="en-US" dirty="0"/>
              <a:t>			</a:t>
            </a:r>
            <a:r>
              <a:rPr lang="en-US" dirty="0" err="1"/>
              <a:t>AddTask</a:t>
            </a:r>
            <a:r>
              <a:rPr lang="en-US" dirty="0"/>
              <a:t> left = new </a:t>
            </a:r>
            <a:r>
              <a:rPr lang="en-US" dirty="0" err="1"/>
              <a:t>AddTask</a:t>
            </a:r>
            <a:r>
              <a:rPr lang="en-US" dirty="0"/>
              <a:t>(</a:t>
            </a:r>
            <a:r>
              <a:rPr lang="en-US" dirty="0" err="1"/>
              <a:t>a,b,sum,lo</a:t>
            </a:r>
            <a:r>
              <a:rPr lang="en-US" dirty="0"/>
              <a:t>,(</a:t>
            </a:r>
            <a:r>
              <a:rPr lang="en-US" dirty="0" err="1"/>
              <a:t>hi+lo</a:t>
            </a:r>
            <a:r>
              <a:rPr lang="en-US" dirty="0"/>
              <a:t>)/2); // divide</a:t>
            </a:r>
          </a:p>
          <a:p>
            <a:pPr marL="0" indent="0">
              <a:buNone/>
            </a:pPr>
            <a:r>
              <a:rPr lang="en-US" dirty="0"/>
              <a:t>			</a:t>
            </a:r>
            <a:r>
              <a:rPr lang="en-US" dirty="0" err="1"/>
              <a:t>AddTask</a:t>
            </a:r>
            <a:r>
              <a:rPr lang="en-US" dirty="0"/>
              <a:t> right= new </a:t>
            </a:r>
            <a:r>
              <a:rPr lang="en-US" dirty="0" err="1"/>
              <a:t>AddTask</a:t>
            </a:r>
            <a:r>
              <a:rPr lang="en-US" dirty="0"/>
              <a:t>(</a:t>
            </a:r>
            <a:r>
              <a:rPr lang="en-US" dirty="0" err="1"/>
              <a:t>a,b,sum</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1670344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6954F-71EF-34A7-9B15-D489A8828E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CFE344-D86F-0926-5CDB-DB448BA089FE}"/>
              </a:ext>
            </a:extLst>
          </p:cNvPr>
          <p:cNvSpPr>
            <a:spLocks noGrp="1"/>
          </p:cNvSpPr>
          <p:nvPr>
            <p:ph type="title"/>
          </p:nvPr>
        </p:nvSpPr>
        <p:spPr>
          <a:xfrm>
            <a:off x="838200" y="-295275"/>
            <a:ext cx="10515600" cy="1325563"/>
          </a:xfrm>
        </p:spPr>
        <p:txBody>
          <a:bodyPr>
            <a:normAutofit/>
          </a:bodyPr>
          <a:lstStyle/>
          <a:p>
            <a:r>
              <a:rPr lang="en-US" sz="4000" dirty="0"/>
              <a:t>Function Application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506E47D3-E728-0E0F-A2FB-9518CADCC794}"/>
              </a:ext>
            </a:extLst>
          </p:cNvPr>
          <p:cNvSpPr>
            <a:spLocks noGrp="1"/>
          </p:cNvSpPr>
          <p:nvPr>
            <p:ph idx="1"/>
          </p:nvPr>
        </p:nvSpPr>
        <p:spPr>
          <a:xfrm>
            <a:off x="482600" y="701040"/>
            <a:ext cx="10515600" cy="6380480"/>
          </a:xfrm>
        </p:spPr>
        <p:txBody>
          <a:bodyPr>
            <a:normAutofit fontScale="70000" lnSpcReduction="20000"/>
          </a:bodyPr>
          <a:lstStyle/>
          <a:p>
            <a:pPr marL="0" indent="0">
              <a:buNone/>
            </a:pPr>
            <a:r>
              <a:rPr lang="en-US" dirty="0"/>
              <a:t>public String </a:t>
            </a:r>
            <a:r>
              <a:rPr lang="en-US" dirty="0" err="1"/>
              <a:t>mapFunction</a:t>
            </a:r>
            <a:r>
              <a:rPr lang="en-US" dirty="0"/>
              <a:t>(int x){…}</a:t>
            </a:r>
          </a:p>
          <a:p>
            <a:pPr marL="0" indent="0">
              <a:buNone/>
            </a:pPr>
            <a:r>
              <a:rPr lang="en-US" dirty="0"/>
              <a:t>class </a:t>
            </a:r>
            <a:r>
              <a:rPr lang="en-US" dirty="0" err="1"/>
              <a:t>MapTask</a:t>
            </a:r>
            <a:r>
              <a:rPr lang="en-US" dirty="0"/>
              <a:t> extends </a:t>
            </a:r>
            <a:r>
              <a:rPr lang="en-US" dirty="0" err="1"/>
              <a:t>RecursiveAction</a:t>
            </a:r>
            <a:r>
              <a:rPr lang="en-US" dirty="0"/>
              <a:t> { </a:t>
            </a:r>
          </a:p>
          <a:p>
            <a:pPr marL="0" indent="0">
              <a:buNone/>
            </a:pPr>
            <a:r>
              <a:rPr lang="en-US" dirty="0"/>
              <a:t>	int lo; int hi; int[] </a:t>
            </a:r>
            <a:r>
              <a:rPr lang="en-US" dirty="0" err="1"/>
              <a:t>arr</a:t>
            </a:r>
            <a:r>
              <a:rPr lang="en-US" dirty="0"/>
              <a:t>; String[] out</a:t>
            </a:r>
          </a:p>
          <a:p>
            <a:pPr marL="0" indent="0">
              <a:buNone/>
            </a:pPr>
            <a:r>
              <a:rPr lang="en-US" dirty="0"/>
              <a:t>	</a:t>
            </a:r>
            <a:r>
              <a:rPr lang="en-US" dirty="0" err="1"/>
              <a:t>MapTask</a:t>
            </a:r>
            <a:r>
              <a:rPr lang="en-US" dirty="0"/>
              <a:t>(</a:t>
            </a:r>
            <a:r>
              <a:rPr lang="en-US" dirty="0">
                <a:solidFill>
                  <a:srgbClr val="FF0000"/>
                </a:solidFill>
              </a:rPr>
              <a:t>int[] </a:t>
            </a:r>
            <a:r>
              <a:rPr lang="en-US" dirty="0" err="1">
                <a:solidFill>
                  <a:srgbClr val="FF0000"/>
                </a:solidFill>
              </a:rPr>
              <a:t>arr</a:t>
            </a:r>
            <a:r>
              <a:rPr lang="en-US" dirty="0">
                <a:solidFill>
                  <a:srgbClr val="FF0000"/>
                </a:solidFill>
              </a:rPr>
              <a:t>, String[] out</a:t>
            </a:r>
            <a:r>
              <a:rPr lang="en-US" dirty="0"/>
              <a:t>, int l, int h) { … } </a:t>
            </a:r>
          </a:p>
          <a:p>
            <a:pPr marL="0" indent="0">
              <a:buNone/>
            </a:pPr>
            <a:r>
              <a:rPr lang="en-US" dirty="0"/>
              <a:t>	protected </a:t>
            </a:r>
            <a:r>
              <a:rPr lang="en-US" dirty="0">
                <a:solidFill>
                  <a:srgbClr val="FF0000"/>
                </a:solidFill>
              </a:rPr>
              <a:t>void</a:t>
            </a:r>
            <a:r>
              <a:rPr lang="en-US" dirty="0"/>
              <a:t> compute(){// return answer </a:t>
            </a:r>
          </a:p>
          <a:p>
            <a:pPr marL="0" indent="0">
              <a:buNone/>
            </a:pPr>
            <a:r>
              <a:rPr lang="en-US" dirty="0"/>
              <a:t>		if(hi – lo &lt; SEQUENTIAL_CUTOFF) {  // base case</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out[</a:t>
            </a:r>
            <a:r>
              <a:rPr lang="en-US" dirty="0" err="1">
                <a:solidFill>
                  <a:srgbClr val="FF0000"/>
                </a:solidFill>
              </a:rPr>
              <a:t>i</a:t>
            </a:r>
            <a:r>
              <a:rPr lang="en-US" dirty="0">
                <a:solidFill>
                  <a:srgbClr val="FF0000"/>
                </a:solidFill>
              </a:rPr>
              <a:t>] = </a:t>
            </a:r>
            <a:r>
              <a:rPr lang="en-US" dirty="0" err="1">
                <a:solidFill>
                  <a:srgbClr val="FF0000"/>
                </a:solidFill>
              </a:rPr>
              <a:t>mapFunction</a:t>
            </a:r>
            <a:r>
              <a:rPr lang="en-US" dirty="0">
                <a:solidFill>
                  <a:srgbClr val="FF0000"/>
                </a:solidFill>
              </a:rPr>
              <a:t>(</a:t>
            </a:r>
            <a:r>
              <a:rPr lang="en-US" dirty="0" err="1">
                <a:solidFill>
                  <a:srgbClr val="FF0000"/>
                </a:solidFill>
              </a:rPr>
              <a:t>arr</a:t>
            </a:r>
            <a:r>
              <a:rPr lang="en-US" dirty="0">
                <a:solidFill>
                  <a:srgbClr val="FF0000"/>
                </a:solidFill>
              </a:rPr>
              <a:t>[</a:t>
            </a:r>
            <a:r>
              <a:rPr lang="en-US" dirty="0" err="1">
                <a:solidFill>
                  <a:srgbClr val="FF0000"/>
                </a:solidFill>
              </a:rPr>
              <a:t>i</a:t>
            </a:r>
            <a:r>
              <a:rPr lang="en-US" dirty="0">
                <a:solidFill>
                  <a:srgbClr val="FF0000"/>
                </a:solidFill>
              </a:rPr>
              <a:t>]);}</a:t>
            </a:r>
            <a:endParaRPr lang="en-US" dirty="0"/>
          </a:p>
          <a:p>
            <a:pPr marL="0" indent="0">
              <a:buNone/>
            </a:pPr>
            <a:r>
              <a:rPr lang="en-US" dirty="0"/>
              <a:t>		else { </a:t>
            </a:r>
          </a:p>
          <a:p>
            <a:pPr marL="0" indent="0">
              <a:buNone/>
            </a:pPr>
            <a:r>
              <a:rPr lang="en-US" dirty="0"/>
              <a:t>			</a:t>
            </a:r>
            <a:r>
              <a:rPr lang="en-US" dirty="0" err="1"/>
              <a:t>MapTask</a:t>
            </a:r>
            <a:r>
              <a:rPr lang="en-US" dirty="0"/>
              <a:t> left = new </a:t>
            </a:r>
            <a:r>
              <a:rPr lang="en-US" dirty="0" err="1"/>
              <a:t>MapTask</a:t>
            </a:r>
            <a:r>
              <a:rPr lang="en-US" dirty="0"/>
              <a:t>(</a:t>
            </a:r>
            <a:r>
              <a:rPr lang="en-US" dirty="0" err="1"/>
              <a:t>arr,out,lo</a:t>
            </a:r>
            <a:r>
              <a:rPr lang="en-US" dirty="0"/>
              <a:t>,(</a:t>
            </a:r>
            <a:r>
              <a:rPr lang="en-US" dirty="0" err="1"/>
              <a:t>hi+lo</a:t>
            </a:r>
            <a:r>
              <a:rPr lang="en-US" dirty="0"/>
              <a:t>)/2); // divide</a:t>
            </a:r>
          </a:p>
          <a:p>
            <a:pPr marL="0" indent="0">
              <a:buNone/>
            </a:pPr>
            <a:r>
              <a:rPr lang="en-US" dirty="0"/>
              <a:t>			</a:t>
            </a:r>
            <a:r>
              <a:rPr lang="en-US" dirty="0" err="1"/>
              <a:t>MapTask</a:t>
            </a:r>
            <a:r>
              <a:rPr lang="en-US" dirty="0"/>
              <a:t> right= new </a:t>
            </a:r>
            <a:r>
              <a:rPr lang="en-US" dirty="0" err="1"/>
              <a:t>MapTask</a:t>
            </a:r>
            <a:r>
              <a:rPr lang="en-US" dirty="0"/>
              <a:t>(</a:t>
            </a:r>
            <a:r>
              <a:rPr lang="en-US" dirty="0" err="1"/>
              <a:t>arr,out</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3707290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0188-9BE6-1DEF-47AB-AA65F663E1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8EB59-22B6-6FB1-27A7-2F842AB2F052}"/>
              </a:ext>
            </a:extLst>
          </p:cNvPr>
          <p:cNvSpPr>
            <a:spLocks noGrp="1"/>
          </p:cNvSpPr>
          <p:nvPr>
            <p:ph type="title"/>
          </p:nvPr>
        </p:nvSpPr>
        <p:spPr>
          <a:xfrm>
            <a:off x="838200" y="365125"/>
            <a:ext cx="3944016" cy="1325563"/>
          </a:xfrm>
        </p:spPr>
        <p:txBody>
          <a:bodyPr/>
          <a:lstStyle/>
          <a:p>
            <a:r>
              <a:rPr lang="en-US" dirty="0" err="1"/>
              <a:t>ForkJoin</a:t>
            </a:r>
            <a:r>
              <a:rPr lang="en-US" dirty="0"/>
              <a:t> Picture</a:t>
            </a:r>
          </a:p>
        </p:txBody>
      </p:sp>
      <p:grpSp>
        <p:nvGrpSpPr>
          <p:cNvPr id="17" name="Group 16" descr="The tree illustrating the behavior of a forkjoin algorithm.&#10;&#10;Each node in this tree is a RecursiveAction or RecursiveTask object. We initially have a singular such object responsible for the entire input array. This object then creates two new objects: one for the left half of the array and one for the right half. The left object then runs using fork, the right with compute. Because the left object runs with fork, its compute method occurs on a different thread from its parent's. Because the right object runs with compute, its compute method occurs on the same thread as its parent's. ">
            <a:extLst>
              <a:ext uri="{FF2B5EF4-FFF2-40B4-BE49-F238E27FC236}">
                <a16:creationId xmlns:a16="http://schemas.microsoft.com/office/drawing/2014/main" id="{AA21CA5A-C74E-ADE4-1C7F-5250354953F7}"/>
              </a:ext>
            </a:extLst>
          </p:cNvPr>
          <p:cNvGrpSpPr/>
          <p:nvPr/>
        </p:nvGrpSpPr>
        <p:grpSpPr>
          <a:xfrm>
            <a:off x="1422638" y="1739970"/>
            <a:ext cx="9089377" cy="2156077"/>
            <a:chOff x="1422638" y="1739970"/>
            <a:chExt cx="9089377" cy="2156077"/>
          </a:xfrm>
        </p:grpSpPr>
        <p:grpSp>
          <p:nvGrpSpPr>
            <p:cNvPr id="4" name="Group 3">
              <a:extLst>
                <a:ext uri="{FF2B5EF4-FFF2-40B4-BE49-F238E27FC236}">
                  <a16:creationId xmlns:a16="http://schemas.microsoft.com/office/drawing/2014/main" id="{6F3F5C9C-DA52-BD42-DC41-09C156FD6FD1}"/>
                </a:ext>
              </a:extLst>
            </p:cNvPr>
            <p:cNvGrpSpPr/>
            <p:nvPr/>
          </p:nvGrpSpPr>
          <p:grpSpPr>
            <a:xfrm>
              <a:off x="1422638" y="1761306"/>
              <a:ext cx="8941950" cy="2134741"/>
              <a:chOff x="1103784" y="1371600"/>
              <a:chExt cx="9404610" cy="2245193"/>
            </a:xfrm>
          </p:grpSpPr>
          <p:sp>
            <p:nvSpPr>
              <p:cNvPr id="5" name="Rectangle 4">
                <a:extLst>
                  <a:ext uri="{FF2B5EF4-FFF2-40B4-BE49-F238E27FC236}">
                    <a16:creationId xmlns:a16="http://schemas.microsoft.com/office/drawing/2014/main" id="{D5125E63-1AC8-C4A4-5DE1-46A04FFED832}"/>
                  </a:ext>
                </a:extLst>
              </p:cNvPr>
              <p:cNvSpPr/>
              <p:nvPr/>
            </p:nvSpPr>
            <p:spPr>
              <a:xfrm>
                <a:off x="5374640" y="1371600"/>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Thread: 1</a:t>
                </a:r>
              </a:p>
            </p:txBody>
          </p:sp>
          <p:sp>
            <p:nvSpPr>
              <p:cNvPr id="6" name="Rectangle 5">
                <a:extLst>
                  <a:ext uri="{FF2B5EF4-FFF2-40B4-BE49-F238E27FC236}">
                    <a16:creationId xmlns:a16="http://schemas.microsoft.com/office/drawing/2014/main" id="{2B6EB9B5-3C12-2AE3-D770-7B0CF86E7D44}"/>
                  </a:ext>
                </a:extLst>
              </p:cNvPr>
              <p:cNvSpPr/>
              <p:nvPr/>
            </p:nvSpPr>
            <p:spPr>
              <a:xfrm>
                <a:off x="110378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Thread: 3</a:t>
                </a:r>
              </a:p>
            </p:txBody>
          </p:sp>
          <p:sp>
            <p:nvSpPr>
              <p:cNvPr id="7" name="Rectangle 6">
                <a:extLst>
                  <a:ext uri="{FF2B5EF4-FFF2-40B4-BE49-F238E27FC236}">
                    <a16:creationId xmlns:a16="http://schemas.microsoft.com/office/drawing/2014/main" id="{A570E629-74CF-BE33-0F92-D2AF838EDB5F}"/>
                  </a:ext>
                </a:extLst>
              </p:cNvPr>
              <p:cNvSpPr/>
              <p:nvPr/>
            </p:nvSpPr>
            <p:spPr>
              <a:xfrm>
                <a:off x="403067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Thread: 2</a:t>
                </a:r>
              </a:p>
            </p:txBody>
          </p:sp>
          <p:sp>
            <p:nvSpPr>
              <p:cNvPr id="8" name="Rectangle 7">
                <a:extLst>
                  <a:ext uri="{FF2B5EF4-FFF2-40B4-BE49-F238E27FC236}">
                    <a16:creationId xmlns:a16="http://schemas.microsoft.com/office/drawing/2014/main" id="{EC652B84-491F-6027-B0B3-E3E86BC73BBE}"/>
                  </a:ext>
                </a:extLst>
              </p:cNvPr>
              <p:cNvSpPr/>
              <p:nvPr/>
            </p:nvSpPr>
            <p:spPr>
              <a:xfrm>
                <a:off x="2584298" y="2242322"/>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Thread: 2</a:t>
                </a:r>
              </a:p>
            </p:txBody>
          </p:sp>
          <p:sp>
            <p:nvSpPr>
              <p:cNvPr id="9" name="Rectangle 8">
                <a:extLst>
                  <a:ext uri="{FF2B5EF4-FFF2-40B4-BE49-F238E27FC236}">
                    <a16:creationId xmlns:a16="http://schemas.microsoft.com/office/drawing/2014/main" id="{CAB5FFF5-4F3D-A48B-A035-AB0BF43BDCE6}"/>
                  </a:ext>
                </a:extLst>
              </p:cNvPr>
              <p:cNvSpPr/>
              <p:nvPr/>
            </p:nvSpPr>
            <p:spPr>
              <a:xfrm>
                <a:off x="7619387" y="1958118"/>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Thread: 1</a:t>
                </a:r>
              </a:p>
            </p:txBody>
          </p:sp>
          <p:sp>
            <p:nvSpPr>
              <p:cNvPr id="10" name="Rectangle 9">
                <a:extLst>
                  <a:ext uri="{FF2B5EF4-FFF2-40B4-BE49-F238E27FC236}">
                    <a16:creationId xmlns:a16="http://schemas.microsoft.com/office/drawing/2014/main" id="{4F8E114E-0148-4A86-18CE-1D946D06292A}"/>
                  </a:ext>
                </a:extLst>
              </p:cNvPr>
              <p:cNvSpPr/>
              <p:nvPr/>
            </p:nvSpPr>
            <p:spPr>
              <a:xfrm>
                <a:off x="6288427" y="2985669"/>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Thread: 4</a:t>
                </a:r>
              </a:p>
            </p:txBody>
          </p:sp>
          <p:sp>
            <p:nvSpPr>
              <p:cNvPr id="11" name="Rectangle 10">
                <a:extLst>
                  <a:ext uri="{FF2B5EF4-FFF2-40B4-BE49-F238E27FC236}">
                    <a16:creationId xmlns:a16="http://schemas.microsoft.com/office/drawing/2014/main" id="{ECF85705-A51C-4B60-E783-A271A075AC7A}"/>
                  </a:ext>
                </a:extLst>
              </p:cNvPr>
              <p:cNvSpPr/>
              <p:nvPr/>
            </p:nvSpPr>
            <p:spPr>
              <a:xfrm>
                <a:off x="923839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Thread: 1</a:t>
                </a:r>
              </a:p>
            </p:txBody>
          </p:sp>
          <p:cxnSp>
            <p:nvCxnSpPr>
              <p:cNvPr id="20" name="Straight Arrow Connector 19">
                <a:extLst>
                  <a:ext uri="{FF2B5EF4-FFF2-40B4-BE49-F238E27FC236}">
                    <a16:creationId xmlns:a16="http://schemas.microsoft.com/office/drawing/2014/main" id="{88B86F41-1003-FC8A-AF7C-E8A4E633C2D3}"/>
                  </a:ext>
                </a:extLst>
              </p:cNvPr>
              <p:cNvCxnSpPr>
                <a:cxnSpLocks/>
                <a:stCxn id="5" idx="1"/>
                <a:endCxn id="8" idx="0"/>
              </p:cNvCxnSpPr>
              <p:nvPr/>
            </p:nvCxnSpPr>
            <p:spPr>
              <a:xfrm flipH="1">
                <a:off x="3219298" y="1664859"/>
                <a:ext cx="2155342" cy="5774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51AC9A8-D38B-3C65-B7E5-6E43D48CFDA2}"/>
                  </a:ext>
                </a:extLst>
              </p:cNvPr>
              <p:cNvCxnSpPr>
                <a:cxnSpLocks/>
                <a:stCxn id="5" idx="3"/>
                <a:endCxn id="9" idx="0"/>
              </p:cNvCxnSpPr>
              <p:nvPr/>
            </p:nvCxnSpPr>
            <p:spPr>
              <a:xfrm>
                <a:off x="6644640" y="1664859"/>
                <a:ext cx="1609746" cy="29325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468E919-FD96-8B80-74B9-0BBB9882515E}"/>
                  </a:ext>
                </a:extLst>
              </p:cNvPr>
              <p:cNvCxnSpPr>
                <a:cxnSpLocks/>
                <a:stCxn id="8" idx="3"/>
                <a:endCxn id="7" idx="0"/>
              </p:cNvCxnSpPr>
              <p:nvPr/>
            </p:nvCxnSpPr>
            <p:spPr>
              <a:xfrm>
                <a:off x="3854298" y="2535581"/>
                <a:ext cx="811377" cy="4946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324D1CC-CA1E-BB77-2AFD-B8E906491D40}"/>
                  </a:ext>
                </a:extLst>
              </p:cNvPr>
              <p:cNvCxnSpPr>
                <a:cxnSpLocks/>
                <a:stCxn id="8" idx="1"/>
                <a:endCxn id="6" idx="0"/>
              </p:cNvCxnSpPr>
              <p:nvPr/>
            </p:nvCxnSpPr>
            <p:spPr>
              <a:xfrm flipH="1">
                <a:off x="1738784" y="2535581"/>
                <a:ext cx="845514" cy="4946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8EC306E-C92D-6FC0-CAE8-FBA886CA2A82}"/>
                  </a:ext>
                </a:extLst>
              </p:cNvPr>
              <p:cNvCxnSpPr>
                <a:cxnSpLocks/>
                <a:stCxn id="9" idx="1"/>
                <a:endCxn id="10" idx="0"/>
              </p:cNvCxnSpPr>
              <p:nvPr/>
            </p:nvCxnSpPr>
            <p:spPr>
              <a:xfrm flipH="1">
                <a:off x="6923427" y="2251377"/>
                <a:ext cx="695960" cy="73429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025978D-0F77-6CD2-70B2-684EF7B24D14}"/>
                  </a:ext>
                </a:extLst>
              </p:cNvPr>
              <p:cNvCxnSpPr>
                <a:cxnSpLocks/>
                <a:stCxn id="9" idx="3"/>
                <a:endCxn id="11" idx="0"/>
              </p:cNvCxnSpPr>
              <p:nvPr/>
            </p:nvCxnSpPr>
            <p:spPr>
              <a:xfrm>
                <a:off x="8889387" y="2251377"/>
                <a:ext cx="984007" cy="7788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D5D15E20-CDEB-EB04-4E59-FA3F3E3F1A55}"/>
                </a:ext>
              </a:extLst>
            </p:cNvPr>
            <p:cNvSpPr txBox="1"/>
            <p:nvPr/>
          </p:nvSpPr>
          <p:spPr>
            <a:xfrm>
              <a:off x="7008212" y="1739970"/>
              <a:ext cx="1218988" cy="369332"/>
            </a:xfrm>
            <a:prstGeom prst="rect">
              <a:avLst/>
            </a:prstGeom>
            <a:noFill/>
          </p:spPr>
          <p:txBody>
            <a:bodyPr wrap="none" rtlCol="0">
              <a:spAutoFit/>
            </a:bodyPr>
            <a:lstStyle/>
            <a:p>
              <a:r>
                <a:rPr lang="en-US" dirty="0">
                  <a:solidFill>
                    <a:schemeClr val="accent1"/>
                  </a:solidFill>
                </a:rPr>
                <a:t>.compute()</a:t>
              </a:r>
            </a:p>
          </p:txBody>
        </p:sp>
        <p:sp>
          <p:nvSpPr>
            <p:cNvPr id="12" name="TextBox 11">
              <a:extLst>
                <a:ext uri="{FF2B5EF4-FFF2-40B4-BE49-F238E27FC236}">
                  <a16:creationId xmlns:a16="http://schemas.microsoft.com/office/drawing/2014/main" id="{7F2073C2-A117-A436-1528-531CD8B1EFF9}"/>
                </a:ext>
              </a:extLst>
            </p:cNvPr>
            <p:cNvSpPr txBox="1"/>
            <p:nvPr/>
          </p:nvSpPr>
          <p:spPr>
            <a:xfrm>
              <a:off x="9293027" y="2644969"/>
              <a:ext cx="1218988" cy="369332"/>
            </a:xfrm>
            <a:prstGeom prst="rect">
              <a:avLst/>
            </a:prstGeom>
            <a:noFill/>
          </p:spPr>
          <p:txBody>
            <a:bodyPr wrap="none" rtlCol="0">
              <a:spAutoFit/>
            </a:bodyPr>
            <a:lstStyle/>
            <a:p>
              <a:r>
                <a:rPr lang="en-US" dirty="0">
                  <a:solidFill>
                    <a:schemeClr val="accent1"/>
                  </a:solidFill>
                </a:rPr>
                <a:t>.compute()</a:t>
              </a:r>
            </a:p>
          </p:txBody>
        </p:sp>
        <p:sp>
          <p:nvSpPr>
            <p:cNvPr id="13" name="TextBox 12">
              <a:extLst>
                <a:ext uri="{FF2B5EF4-FFF2-40B4-BE49-F238E27FC236}">
                  <a16:creationId xmlns:a16="http://schemas.microsoft.com/office/drawing/2014/main" id="{574F2B9E-A691-A70D-8E99-305092114154}"/>
                </a:ext>
              </a:extLst>
            </p:cNvPr>
            <p:cNvSpPr txBox="1"/>
            <p:nvPr/>
          </p:nvSpPr>
          <p:spPr>
            <a:xfrm>
              <a:off x="4327704" y="2762221"/>
              <a:ext cx="1218988" cy="369332"/>
            </a:xfrm>
            <a:prstGeom prst="rect">
              <a:avLst/>
            </a:prstGeom>
            <a:noFill/>
          </p:spPr>
          <p:txBody>
            <a:bodyPr wrap="none" rtlCol="0">
              <a:spAutoFit/>
            </a:bodyPr>
            <a:lstStyle/>
            <a:p>
              <a:r>
                <a:rPr lang="en-US" dirty="0">
                  <a:solidFill>
                    <a:schemeClr val="accent1"/>
                  </a:solidFill>
                </a:rPr>
                <a:t>.compute()</a:t>
              </a:r>
            </a:p>
          </p:txBody>
        </p:sp>
        <p:sp>
          <p:nvSpPr>
            <p:cNvPr id="14" name="TextBox 13">
              <a:extLst>
                <a:ext uri="{FF2B5EF4-FFF2-40B4-BE49-F238E27FC236}">
                  <a16:creationId xmlns:a16="http://schemas.microsoft.com/office/drawing/2014/main" id="{89F02BF4-9A50-7F85-44B3-243E771DDBB4}"/>
                </a:ext>
              </a:extLst>
            </p:cNvPr>
            <p:cNvSpPr txBox="1"/>
            <p:nvPr/>
          </p:nvSpPr>
          <p:spPr>
            <a:xfrm>
              <a:off x="3935535" y="1810222"/>
              <a:ext cx="750783" cy="369332"/>
            </a:xfrm>
            <a:prstGeom prst="rect">
              <a:avLst/>
            </a:prstGeom>
            <a:noFill/>
          </p:spPr>
          <p:txBody>
            <a:bodyPr wrap="none" rtlCol="0">
              <a:spAutoFit/>
            </a:bodyPr>
            <a:lstStyle/>
            <a:p>
              <a:r>
                <a:rPr lang="en-US" dirty="0">
                  <a:solidFill>
                    <a:schemeClr val="accent1"/>
                  </a:solidFill>
                </a:rPr>
                <a:t>.fork()</a:t>
              </a:r>
            </a:p>
          </p:txBody>
        </p:sp>
        <p:sp>
          <p:nvSpPr>
            <p:cNvPr id="15" name="TextBox 14">
              <a:extLst>
                <a:ext uri="{FF2B5EF4-FFF2-40B4-BE49-F238E27FC236}">
                  <a16:creationId xmlns:a16="http://schemas.microsoft.com/office/drawing/2014/main" id="{7383D5A7-B4AB-488E-A151-005F4011CF19}"/>
                </a:ext>
              </a:extLst>
            </p:cNvPr>
            <p:cNvSpPr txBox="1"/>
            <p:nvPr/>
          </p:nvSpPr>
          <p:spPr>
            <a:xfrm>
              <a:off x="1948325" y="2644969"/>
              <a:ext cx="750783" cy="369332"/>
            </a:xfrm>
            <a:prstGeom prst="rect">
              <a:avLst/>
            </a:prstGeom>
            <a:noFill/>
          </p:spPr>
          <p:txBody>
            <a:bodyPr wrap="none" rtlCol="0">
              <a:spAutoFit/>
            </a:bodyPr>
            <a:lstStyle/>
            <a:p>
              <a:r>
                <a:rPr lang="en-US" dirty="0">
                  <a:solidFill>
                    <a:schemeClr val="accent1"/>
                  </a:solidFill>
                </a:rPr>
                <a:t>.fork()</a:t>
              </a:r>
            </a:p>
          </p:txBody>
        </p:sp>
        <p:sp>
          <p:nvSpPr>
            <p:cNvPr id="16" name="TextBox 15">
              <a:extLst>
                <a:ext uri="{FF2B5EF4-FFF2-40B4-BE49-F238E27FC236}">
                  <a16:creationId xmlns:a16="http://schemas.microsoft.com/office/drawing/2014/main" id="{56D0C87A-FB99-04BA-537C-D0F2D4EABC1A}"/>
                </a:ext>
              </a:extLst>
            </p:cNvPr>
            <p:cNvSpPr txBox="1"/>
            <p:nvPr/>
          </p:nvSpPr>
          <p:spPr>
            <a:xfrm>
              <a:off x="6632820" y="2619138"/>
              <a:ext cx="750783" cy="369332"/>
            </a:xfrm>
            <a:prstGeom prst="rect">
              <a:avLst/>
            </a:prstGeom>
            <a:noFill/>
          </p:spPr>
          <p:txBody>
            <a:bodyPr wrap="none" rtlCol="0">
              <a:spAutoFit/>
            </a:bodyPr>
            <a:lstStyle/>
            <a:p>
              <a:r>
                <a:rPr lang="en-US" dirty="0">
                  <a:solidFill>
                    <a:schemeClr val="accent1"/>
                  </a:solidFill>
                </a:rPr>
                <a:t>.fork()</a:t>
              </a:r>
            </a:p>
          </p:txBody>
        </p:sp>
      </p:grpSp>
    </p:spTree>
    <p:extLst>
      <p:ext uri="{BB962C8B-B14F-4D97-AF65-F5344CB8AC3E}">
        <p14:creationId xmlns:p14="http://schemas.microsoft.com/office/powerpoint/2010/main" val="345674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6EC53-069A-041A-3F77-B9565F450DD1}"/>
              </a:ext>
            </a:extLst>
          </p:cNvPr>
          <p:cNvSpPr>
            <a:spLocks noGrp="1"/>
          </p:cNvSpPr>
          <p:nvPr>
            <p:ph type="title"/>
          </p:nvPr>
        </p:nvSpPr>
        <p:spPr/>
        <p:txBody>
          <a:bodyPr/>
          <a:lstStyle/>
          <a:p>
            <a:r>
              <a:rPr lang="en-US" dirty="0"/>
              <a:t>Map/Reduction Example</a:t>
            </a:r>
          </a:p>
        </p:txBody>
      </p:sp>
      <p:sp>
        <p:nvSpPr>
          <p:cNvPr id="3" name="Content Placeholder 2">
            <a:extLst>
              <a:ext uri="{FF2B5EF4-FFF2-40B4-BE49-F238E27FC236}">
                <a16:creationId xmlns:a16="http://schemas.microsoft.com/office/drawing/2014/main" id="{A9949420-086E-77E7-B247-F9A98B0B5E89}"/>
              </a:ext>
            </a:extLst>
          </p:cNvPr>
          <p:cNvSpPr>
            <a:spLocks noGrp="1"/>
          </p:cNvSpPr>
          <p:nvPr>
            <p:ph idx="1"/>
          </p:nvPr>
        </p:nvSpPr>
        <p:spPr>
          <a:xfrm>
            <a:off x="838199" y="1825625"/>
            <a:ext cx="10732477" cy="4351338"/>
          </a:xfrm>
        </p:spPr>
        <p:txBody>
          <a:bodyPr>
            <a:normAutofit/>
          </a:bodyPr>
          <a:lstStyle/>
          <a:p>
            <a:r>
              <a:rPr lang="en-US" b="1" dirty="0"/>
              <a:t>Task: </a:t>
            </a:r>
            <a:r>
              <a:rPr lang="en-US" dirty="0"/>
              <a:t>Multiply together the lengths of all the odd-length strings in array</a:t>
            </a:r>
          </a:p>
          <a:p>
            <a:pPr marL="914400" lvl="1" indent="-457200">
              <a:buFont typeface="+mj-lt"/>
              <a:buAutoNum type="arabicPeriod"/>
            </a:pPr>
            <a:r>
              <a:rPr lang="en-US" dirty="0"/>
              <a:t>Apply </a:t>
            </a:r>
            <a:r>
              <a:rPr lang="en-US" u="sng" dirty="0"/>
              <a:t>map</a:t>
            </a:r>
            <a:r>
              <a:rPr lang="en-US" dirty="0"/>
              <a:t> to convert the array of strings into an array of their lengths</a:t>
            </a:r>
          </a:p>
          <a:p>
            <a:pPr marL="914400" lvl="1" indent="-457200">
              <a:buFont typeface="+mj-lt"/>
              <a:buAutoNum type="arabicPeriod"/>
            </a:pPr>
            <a:r>
              <a:rPr lang="en-US" dirty="0"/>
              <a:t>Then do a map on that array so each value maps to 1 if it’s even and itself if it’s odd</a:t>
            </a:r>
          </a:p>
          <a:p>
            <a:pPr marL="914400" lvl="1" indent="-457200">
              <a:buFont typeface="+mj-lt"/>
              <a:buAutoNum type="arabicPeriod"/>
            </a:pPr>
            <a:r>
              <a:rPr lang="en-US" dirty="0"/>
              <a:t>Then do a reduction to multiply together that final result</a:t>
            </a:r>
          </a:p>
          <a:p>
            <a:pPr lvl="1"/>
            <a:endParaRPr lang="en-US" dirty="0"/>
          </a:p>
          <a:p>
            <a:r>
              <a:rPr lang="en-US" dirty="0"/>
              <a:t>Note: You could do this in a single </a:t>
            </a:r>
            <a:r>
              <a:rPr lang="en-US" dirty="0" err="1"/>
              <a:t>ForkJoin</a:t>
            </a:r>
            <a:r>
              <a:rPr lang="en-US" dirty="0"/>
              <a:t> </a:t>
            </a:r>
            <a:r>
              <a:rPr lang="en-US" dirty="0" err="1"/>
              <a:t>RecursiveTask</a:t>
            </a:r>
            <a:endParaRPr lang="en-US" dirty="0"/>
          </a:p>
          <a:p>
            <a:pPr lvl="1"/>
            <a:r>
              <a:rPr lang="en-US" dirty="0"/>
              <a:t> but “deconstructing” useful since some languages designed specifically for parallelism have Map/Reduce built in.</a:t>
            </a:r>
          </a:p>
          <a:p>
            <a:pPr lvl="1"/>
            <a:r>
              <a:rPr lang="en-US" dirty="0"/>
              <a:t>Map and Reduce are two from </a:t>
            </a:r>
            <a:r>
              <a:rPr lang="en-US" b="1" dirty="0"/>
              <a:t>a trio, with Pack/Filter </a:t>
            </a:r>
            <a:r>
              <a:rPr lang="en-US" dirty="0"/>
              <a:t>being the third</a:t>
            </a:r>
          </a:p>
        </p:txBody>
      </p:sp>
    </p:spTree>
    <p:extLst>
      <p:ext uri="{BB962C8B-B14F-4D97-AF65-F5344CB8AC3E}">
        <p14:creationId xmlns:p14="http://schemas.microsoft.com/office/powerpoint/2010/main" val="977752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500"/>
                                        <p:tgtEl>
                                          <p:spTgt spid="3">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6" end="6"/>
                                            </p:txEl>
                                          </p:spTgt>
                                        </p:tgtEl>
                                        <p:attrNameLst>
                                          <p:attrName>style.visibility</p:attrName>
                                        </p:attrNameLst>
                                      </p:cBhvr>
                                      <p:to>
                                        <p:strVal val="visible"/>
                                      </p:to>
                                    </p:set>
                                    <p:animEffect transition="in" filter="fade">
                                      <p:cBhvr>
                                        <p:cTn id="12" dur="500"/>
                                        <p:tgtEl>
                                          <p:spTgt spid="3">
                                            <p:txEl>
                                              <p:pRg st="6" end="6"/>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Effect transition="in" filter="fade">
                                      <p:cBhvr>
                                        <p:cTn id="15"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5195A-95E5-E229-C661-4192C1FD1D48}"/>
              </a:ext>
            </a:extLst>
          </p:cNvPr>
          <p:cNvSpPr>
            <a:spLocks noGrp="1"/>
          </p:cNvSpPr>
          <p:nvPr>
            <p:ph type="title"/>
          </p:nvPr>
        </p:nvSpPr>
        <p:spPr/>
        <p:txBody>
          <a:bodyPr/>
          <a:lstStyle/>
          <a:p>
            <a:r>
              <a:rPr lang="en-US" dirty="0"/>
              <a:t>Pack/Filter</a:t>
            </a:r>
          </a:p>
        </p:txBody>
      </p:sp>
      <p:sp>
        <p:nvSpPr>
          <p:cNvPr id="3" name="Content Placeholder 2">
            <a:extLst>
              <a:ext uri="{FF2B5EF4-FFF2-40B4-BE49-F238E27FC236}">
                <a16:creationId xmlns:a16="http://schemas.microsoft.com/office/drawing/2014/main" id="{AF4365FE-88D8-8A18-83A1-AE967A23F2FB}"/>
              </a:ext>
            </a:extLst>
          </p:cNvPr>
          <p:cNvSpPr>
            <a:spLocks noGrp="1"/>
          </p:cNvSpPr>
          <p:nvPr>
            <p:ph idx="1"/>
          </p:nvPr>
        </p:nvSpPr>
        <p:spPr/>
        <p:txBody>
          <a:bodyPr/>
          <a:lstStyle/>
          <a:p>
            <a:r>
              <a:rPr lang="en-US" dirty="0"/>
              <a:t>Given an array of values and a Boolean function, return a new array which contains only elements that were “true”</a:t>
            </a:r>
          </a:p>
          <a:p>
            <a:pPr lvl="1"/>
            <a:endParaRPr lang="en-US" dirty="0"/>
          </a:p>
        </p:txBody>
      </p:sp>
      <p:grpSp>
        <p:nvGrpSpPr>
          <p:cNvPr id="18" name="Group 17" descr="For this example, the output array is [10,16,18]">
            <a:extLst>
              <a:ext uri="{FF2B5EF4-FFF2-40B4-BE49-F238E27FC236}">
                <a16:creationId xmlns:a16="http://schemas.microsoft.com/office/drawing/2014/main" id="{5839C693-0E44-ED6A-DA95-E4402CE83A5F}"/>
              </a:ext>
            </a:extLst>
          </p:cNvPr>
          <p:cNvGrpSpPr/>
          <p:nvPr/>
        </p:nvGrpSpPr>
        <p:grpSpPr>
          <a:xfrm>
            <a:off x="7231525" y="3040696"/>
            <a:ext cx="2150304" cy="715157"/>
            <a:chOff x="7967980" y="4321811"/>
            <a:chExt cx="1130300" cy="375920"/>
          </a:xfrm>
        </p:grpSpPr>
        <p:sp>
          <p:nvSpPr>
            <p:cNvPr id="19" name="Rectangle 18">
              <a:extLst>
                <a:ext uri="{FF2B5EF4-FFF2-40B4-BE49-F238E27FC236}">
                  <a16:creationId xmlns:a16="http://schemas.microsoft.com/office/drawing/2014/main" id="{771FBED0-7A48-F4F3-C352-128D0DD889BB}"/>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20" name="Rectangle 19">
              <a:extLst>
                <a:ext uri="{FF2B5EF4-FFF2-40B4-BE49-F238E27FC236}">
                  <a16:creationId xmlns:a16="http://schemas.microsoft.com/office/drawing/2014/main" id="{D6BCE71F-3E67-ABF8-EE58-9E426E3E53F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21" name="Rectangle 20">
              <a:extLst>
                <a:ext uri="{FF2B5EF4-FFF2-40B4-BE49-F238E27FC236}">
                  <a16:creationId xmlns:a16="http://schemas.microsoft.com/office/drawing/2014/main" id="{D028B4C2-CC16-63DB-126B-660A5A606DC6}"/>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grpSp>
      <p:grpSp>
        <p:nvGrpSpPr>
          <p:cNvPr id="13" name="Group 12" descr="We begin with an array and a boolean function. &#10;&#10;array: [10,16,4,18, 8, 2]&#10;function: return whether x&gt;0&#10;">
            <a:extLst>
              <a:ext uri="{FF2B5EF4-FFF2-40B4-BE49-F238E27FC236}">
                <a16:creationId xmlns:a16="http://schemas.microsoft.com/office/drawing/2014/main" id="{A62CB811-C241-281D-D4AA-6163C622625F}"/>
              </a:ext>
            </a:extLst>
          </p:cNvPr>
          <p:cNvGrpSpPr/>
          <p:nvPr/>
        </p:nvGrpSpPr>
        <p:grpSpPr>
          <a:xfrm>
            <a:off x="177800" y="3071421"/>
            <a:ext cx="4414521" cy="1494884"/>
            <a:chOff x="177800" y="3071421"/>
            <a:chExt cx="4414521" cy="1494884"/>
          </a:xfrm>
        </p:grpSpPr>
        <p:grpSp>
          <p:nvGrpSpPr>
            <p:cNvPr id="4" name="Group 3" descr="We beging">
              <a:extLst>
                <a:ext uri="{FF2B5EF4-FFF2-40B4-BE49-F238E27FC236}">
                  <a16:creationId xmlns:a16="http://schemas.microsoft.com/office/drawing/2014/main" id="{62FCBA16-38E0-BE10-1363-5250A2A8F51F}"/>
                </a:ext>
              </a:extLst>
            </p:cNvPr>
            <p:cNvGrpSpPr/>
            <p:nvPr/>
          </p:nvGrpSpPr>
          <p:grpSpPr>
            <a:xfrm>
              <a:off x="296545" y="3071421"/>
              <a:ext cx="4295776" cy="715157"/>
              <a:chOff x="7967980" y="4321811"/>
              <a:chExt cx="2258060" cy="375920"/>
            </a:xfrm>
          </p:grpSpPr>
          <p:sp>
            <p:nvSpPr>
              <p:cNvPr id="5" name="Rectangle 4">
                <a:extLst>
                  <a:ext uri="{FF2B5EF4-FFF2-40B4-BE49-F238E27FC236}">
                    <a16:creationId xmlns:a16="http://schemas.microsoft.com/office/drawing/2014/main" id="{605866A6-E78A-C7C1-222C-26AD9F12037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 name="Rectangle 5">
                <a:extLst>
                  <a:ext uri="{FF2B5EF4-FFF2-40B4-BE49-F238E27FC236}">
                    <a16:creationId xmlns:a16="http://schemas.microsoft.com/office/drawing/2014/main" id="{C1C76A77-0208-4B8E-5C97-C4EE148020B2}"/>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7" name="Rectangle 6">
                <a:extLst>
                  <a:ext uri="{FF2B5EF4-FFF2-40B4-BE49-F238E27FC236}">
                    <a16:creationId xmlns:a16="http://schemas.microsoft.com/office/drawing/2014/main" id="{4525819F-DD5C-0C7D-88FC-D54DF18EB3E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8" name="Rectangle 7">
                <a:extLst>
                  <a:ext uri="{FF2B5EF4-FFF2-40B4-BE49-F238E27FC236}">
                    <a16:creationId xmlns:a16="http://schemas.microsoft.com/office/drawing/2014/main" id="{055B426A-6646-59F0-2765-CD9D0801BD9A}"/>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 name="Rectangle 8">
                <a:extLst>
                  <a:ext uri="{FF2B5EF4-FFF2-40B4-BE49-F238E27FC236}">
                    <a16:creationId xmlns:a16="http://schemas.microsoft.com/office/drawing/2014/main" id="{7BDCCD04-4D70-D2B4-C8B4-DBB50072BEFD}"/>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0" name="Rectangle 9">
                <a:extLst>
                  <a:ext uri="{FF2B5EF4-FFF2-40B4-BE49-F238E27FC236}">
                    <a16:creationId xmlns:a16="http://schemas.microsoft.com/office/drawing/2014/main" id="{C1972EE8-AA5B-0B6B-E82C-DE469082A736}"/>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5BF7C86-07C2-1DED-ADCF-F9AB859CBECE}"/>
                    </a:ext>
                  </a:extLst>
                </p:cNvPr>
                <p:cNvSpPr txBox="1"/>
                <p:nvPr/>
              </p:nvSpPr>
              <p:spPr>
                <a:xfrm>
                  <a:off x="177800" y="4104640"/>
                  <a:ext cx="2005485"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m:oMathPara>
                  </a14:m>
                  <a:endParaRPr lang="en-US" sz="2400" dirty="0"/>
                </a:p>
              </p:txBody>
            </p:sp>
          </mc:Choice>
          <mc:Fallback>
            <p:sp>
              <p:nvSpPr>
                <p:cNvPr id="25" name="TextBox 24">
                  <a:extLst>
                    <a:ext uri="{FF2B5EF4-FFF2-40B4-BE49-F238E27FC236}">
                      <a16:creationId xmlns:a16="http://schemas.microsoft.com/office/drawing/2014/main" id="{35BF7C86-07C2-1DED-ADCF-F9AB859CBECE}"/>
                    </a:ext>
                  </a:extLst>
                </p:cNvPr>
                <p:cNvSpPr txBox="1">
                  <a:spLocks noRot="1" noChangeAspect="1" noMove="1" noResize="1" noEditPoints="1" noAdjustHandles="1" noChangeArrowheads="1" noChangeShapeType="1" noTextEdit="1"/>
                </p:cNvSpPr>
                <p:nvPr/>
              </p:nvSpPr>
              <p:spPr>
                <a:xfrm>
                  <a:off x="177800" y="4104640"/>
                  <a:ext cx="2005485" cy="461665"/>
                </a:xfrm>
                <a:prstGeom prst="rect">
                  <a:avLst/>
                </a:prstGeom>
                <a:blipFill>
                  <a:blip r:embed="rId2"/>
                  <a:stretch>
                    <a:fillRect l="-304" b="-17105"/>
                  </a:stretch>
                </a:blipFill>
              </p:spPr>
              <p:txBody>
                <a:bodyPr/>
                <a:lstStyle/>
                <a:p>
                  <a:r>
                    <a:rPr lang="en-US">
                      <a:noFill/>
                    </a:rPr>
                    <a:t> </a:t>
                  </a:r>
                </a:p>
              </p:txBody>
            </p:sp>
          </mc:Fallback>
        </mc:AlternateContent>
      </p:grpSp>
      <p:sp>
        <p:nvSpPr>
          <p:cNvPr id="26" name="Arrow: Right 25" descr="When we apply the pack/filter operation, we keep only the elements of the array for which the boolean function returned true. All other elements get removed, resulting in an output array that is potentially shorter than the input.">
            <a:extLst>
              <a:ext uri="{FF2B5EF4-FFF2-40B4-BE49-F238E27FC236}">
                <a16:creationId xmlns:a16="http://schemas.microsoft.com/office/drawing/2014/main" id="{820FA9ED-5E25-DE65-7403-2DBD2CE61FE7}"/>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4A04E4B-DDF7-A37F-0478-1096B4C6D4E2}"/>
              </a:ext>
            </a:extLst>
          </p:cNvPr>
          <p:cNvSpPr txBox="1"/>
          <p:nvPr/>
        </p:nvSpPr>
        <p:spPr>
          <a:xfrm>
            <a:off x="1622498" y="4701242"/>
            <a:ext cx="8947003" cy="584775"/>
          </a:xfrm>
          <a:prstGeom prst="rect">
            <a:avLst/>
          </a:prstGeom>
          <a:noFill/>
        </p:spPr>
        <p:txBody>
          <a:bodyPr wrap="square" rtlCol="0">
            <a:spAutoFit/>
          </a:bodyPr>
          <a:lstStyle/>
          <a:p>
            <a:r>
              <a:rPr lang="en-US" sz="3200" b="1" dirty="0"/>
              <a:t>Question</a:t>
            </a:r>
            <a:r>
              <a:rPr lang="en-US" sz="3200" dirty="0"/>
              <a:t>: Can we Pack/Filter in parallel?</a:t>
            </a:r>
          </a:p>
        </p:txBody>
      </p:sp>
      <p:sp>
        <p:nvSpPr>
          <p:cNvPr id="12" name="TextBox 11">
            <a:extLst>
              <a:ext uri="{FF2B5EF4-FFF2-40B4-BE49-F238E27FC236}">
                <a16:creationId xmlns:a16="http://schemas.microsoft.com/office/drawing/2014/main" id="{18489EAF-C12E-6ED6-CDCB-DB761D2A52CC}"/>
              </a:ext>
            </a:extLst>
          </p:cNvPr>
          <p:cNvSpPr txBox="1"/>
          <p:nvPr/>
        </p:nvSpPr>
        <p:spPr>
          <a:xfrm>
            <a:off x="1726859" y="5511694"/>
            <a:ext cx="8947003" cy="523220"/>
          </a:xfrm>
          <a:prstGeom prst="rect">
            <a:avLst/>
          </a:prstGeom>
          <a:noFill/>
        </p:spPr>
        <p:txBody>
          <a:bodyPr wrap="square" rtlCol="0">
            <a:spAutoFit/>
          </a:bodyPr>
          <a:lstStyle/>
          <a:p>
            <a:r>
              <a:rPr lang="en-US" sz="2800" b="1" dirty="0"/>
              <a:t>Answer</a:t>
            </a:r>
            <a:r>
              <a:rPr lang="en-US" sz="2800" dirty="0"/>
              <a:t>: </a:t>
            </a:r>
            <a:r>
              <a:rPr lang="en-US" sz="2800" dirty="0">
                <a:solidFill>
                  <a:schemeClr val="accent6"/>
                </a:solidFill>
              </a:rPr>
              <a:t>yes</a:t>
            </a:r>
            <a:r>
              <a:rPr lang="en-US" sz="2800" dirty="0"/>
              <a:t>, with help of parallel </a:t>
            </a:r>
            <a:r>
              <a:rPr lang="en-US" sz="2800" b="1" dirty="0"/>
              <a:t>Prefix Sum</a:t>
            </a:r>
          </a:p>
        </p:txBody>
      </p:sp>
    </p:spTree>
    <p:extLst>
      <p:ext uri="{BB962C8B-B14F-4D97-AF65-F5344CB8AC3E}">
        <p14:creationId xmlns:p14="http://schemas.microsoft.com/office/powerpoint/2010/main" val="192405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FB90C-5B78-FBB0-F68B-640018DA94B9}"/>
              </a:ext>
            </a:extLst>
          </p:cNvPr>
          <p:cNvSpPr>
            <a:spLocks noGrp="1"/>
          </p:cNvSpPr>
          <p:nvPr>
            <p:ph type="title"/>
          </p:nvPr>
        </p:nvSpPr>
        <p:spPr/>
        <p:txBody>
          <a:bodyPr/>
          <a:lstStyle/>
          <a:p>
            <a:r>
              <a:rPr lang="en-US" dirty="0"/>
              <a:t>Prefix Sum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686234-DCCF-3EE5-9BA3-1351739C6178}"/>
                  </a:ext>
                </a:extLst>
              </p:cNvPr>
              <p:cNvSpPr>
                <a:spLocks noGrp="1"/>
              </p:cNvSpPr>
              <p:nvPr>
                <p:ph idx="1"/>
              </p:nvPr>
            </p:nvSpPr>
            <p:spPr/>
            <p:txBody>
              <a:bodyPr/>
              <a:lstStyle/>
              <a:p>
                <a:r>
                  <a:rPr lang="en-US" dirty="0"/>
                  <a:t>Given an array, compute a new array where each index </a:t>
                </a:r>
                <a14:m>
                  <m:oMath xmlns:m="http://schemas.openxmlformats.org/officeDocument/2006/math">
                    <m:r>
                      <a:rPr lang="en-US" b="0" i="1" smtClean="0">
                        <a:latin typeface="Cambria Math" panose="02040503050406030204" pitchFamily="18" charset="0"/>
                      </a:rPr>
                      <m:t>𝑖</m:t>
                    </m:r>
                  </m:oMath>
                </a14:m>
                <a:r>
                  <a:rPr lang="en-US" dirty="0"/>
                  <a:t> is the sum of all values up to </a:t>
                </a:r>
                <a14:m>
                  <m:oMath xmlns:m="http://schemas.openxmlformats.org/officeDocument/2006/math">
                    <m:r>
                      <a:rPr lang="en-US" b="0" i="1" smtClean="0">
                        <a:latin typeface="Cambria Math" panose="02040503050406030204" pitchFamily="18" charset="0"/>
                      </a:rPr>
                      <m:t>𝑖</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C3686234-DCCF-3EE5-9BA3-1351739C6178}"/>
                  </a:ext>
                </a:extLst>
              </p:cNvPr>
              <p:cNvSpPr>
                <a:spLocks noGrp="1" noRot="1" noChangeAspect="1" noMove="1" noResize="1" noEditPoints="1" noAdjustHandles="1" noChangeArrowheads="1" noChangeShapeType="1" noTextEdit="1"/>
              </p:cNvSpPr>
              <p:nvPr>
                <p:ph idx="1"/>
              </p:nvPr>
            </p:nvSpPr>
            <p:spPr>
              <a:blipFill>
                <a:blip r:embed="rId2"/>
                <a:stretch>
                  <a:fillRect l="-1043" t="-2241" r="-1217"/>
                </a:stretch>
              </a:blipFill>
            </p:spPr>
            <p:txBody>
              <a:bodyPr/>
              <a:lstStyle/>
              <a:p>
                <a:r>
                  <a:rPr lang="en-US">
                    <a:noFill/>
                  </a:rPr>
                  <a:t> </a:t>
                </a:r>
              </a:p>
            </p:txBody>
          </p:sp>
        </mc:Fallback>
      </mc:AlternateContent>
      <p:grpSp>
        <p:nvGrpSpPr>
          <p:cNvPr id="19" name="Group 18" descr="For prefix sum, we're given and array and wish to produce a new array where each element of the output array is the sum of all elements at or before that index of the input array.&#10;&#10;for example: &#10;input array: [10,16,4,18, 8, 2]&#10;output array: [10,26,30,48,56,58]&#10;">
            <a:extLst>
              <a:ext uri="{FF2B5EF4-FFF2-40B4-BE49-F238E27FC236}">
                <a16:creationId xmlns:a16="http://schemas.microsoft.com/office/drawing/2014/main" id="{575D16CA-9596-D9EC-B021-FB8D71E49EE2}"/>
              </a:ext>
            </a:extLst>
          </p:cNvPr>
          <p:cNvGrpSpPr/>
          <p:nvPr/>
        </p:nvGrpSpPr>
        <p:grpSpPr>
          <a:xfrm>
            <a:off x="296545" y="3040695"/>
            <a:ext cx="11301854" cy="745883"/>
            <a:chOff x="296545" y="3040695"/>
            <a:chExt cx="11301854" cy="745883"/>
          </a:xfrm>
        </p:grpSpPr>
        <p:grpSp>
          <p:nvGrpSpPr>
            <p:cNvPr id="4" name="Group 3">
              <a:extLst>
                <a:ext uri="{FF2B5EF4-FFF2-40B4-BE49-F238E27FC236}">
                  <a16:creationId xmlns:a16="http://schemas.microsoft.com/office/drawing/2014/main" id="{956AA1BC-DC7C-5EED-936F-FD05EC77214E}"/>
                </a:ext>
              </a:extLst>
            </p:cNvPr>
            <p:cNvGrpSpPr/>
            <p:nvPr/>
          </p:nvGrpSpPr>
          <p:grpSpPr>
            <a:xfrm>
              <a:off x="296545" y="3071421"/>
              <a:ext cx="4295776" cy="715157"/>
              <a:chOff x="7967980" y="4321811"/>
              <a:chExt cx="2258060" cy="375920"/>
            </a:xfrm>
          </p:grpSpPr>
          <p:sp>
            <p:nvSpPr>
              <p:cNvPr id="5" name="Rectangle 4">
                <a:extLst>
                  <a:ext uri="{FF2B5EF4-FFF2-40B4-BE49-F238E27FC236}">
                    <a16:creationId xmlns:a16="http://schemas.microsoft.com/office/drawing/2014/main" id="{0B5CEEC8-FB6A-B553-0EAB-A406C52617A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 name="Rectangle 5">
                <a:extLst>
                  <a:ext uri="{FF2B5EF4-FFF2-40B4-BE49-F238E27FC236}">
                    <a16:creationId xmlns:a16="http://schemas.microsoft.com/office/drawing/2014/main" id="{5733A570-67B4-D493-789B-EA40FAA0222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7" name="Rectangle 6">
                <a:extLst>
                  <a:ext uri="{FF2B5EF4-FFF2-40B4-BE49-F238E27FC236}">
                    <a16:creationId xmlns:a16="http://schemas.microsoft.com/office/drawing/2014/main" id="{4F24E0B2-5251-0822-AD24-0245AE9E50E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8" name="Rectangle 7">
                <a:extLst>
                  <a:ext uri="{FF2B5EF4-FFF2-40B4-BE49-F238E27FC236}">
                    <a16:creationId xmlns:a16="http://schemas.microsoft.com/office/drawing/2014/main" id="{E8C36273-352C-859E-91F9-3295B7F8B1B1}"/>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 name="Rectangle 8">
                <a:extLst>
                  <a:ext uri="{FF2B5EF4-FFF2-40B4-BE49-F238E27FC236}">
                    <a16:creationId xmlns:a16="http://schemas.microsoft.com/office/drawing/2014/main" id="{70754A8D-DF2F-F619-2505-3F52FB143706}"/>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0" name="Rectangle 9">
                <a:extLst>
                  <a:ext uri="{FF2B5EF4-FFF2-40B4-BE49-F238E27FC236}">
                    <a16:creationId xmlns:a16="http://schemas.microsoft.com/office/drawing/2014/main" id="{9D7C484A-516D-C39C-F64C-A7CE3A1BFC8A}"/>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1" name="Arrow: Right 10">
              <a:extLst>
                <a:ext uri="{FF2B5EF4-FFF2-40B4-BE49-F238E27FC236}">
                  <a16:creationId xmlns:a16="http://schemas.microsoft.com/office/drawing/2014/main" id="{855BC1E7-EB2C-C665-EEA6-C3A9066E99A2}"/>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A593B46-2401-18BE-0581-5D713B25851D}"/>
                </a:ext>
              </a:extLst>
            </p:cNvPr>
            <p:cNvGrpSpPr/>
            <p:nvPr/>
          </p:nvGrpSpPr>
          <p:grpSpPr>
            <a:xfrm>
              <a:off x="7302623" y="3040695"/>
              <a:ext cx="4295776" cy="715157"/>
              <a:chOff x="7967980" y="4321811"/>
              <a:chExt cx="2258060" cy="375920"/>
            </a:xfrm>
          </p:grpSpPr>
          <p:sp>
            <p:nvSpPr>
              <p:cNvPr id="13" name="Rectangle 12">
                <a:extLst>
                  <a:ext uri="{FF2B5EF4-FFF2-40B4-BE49-F238E27FC236}">
                    <a16:creationId xmlns:a16="http://schemas.microsoft.com/office/drawing/2014/main" id="{4AC3A979-CDB6-EBDD-02B4-1BE7E3D0C204}"/>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4" name="Rectangle 13">
                <a:extLst>
                  <a:ext uri="{FF2B5EF4-FFF2-40B4-BE49-F238E27FC236}">
                    <a16:creationId xmlns:a16="http://schemas.microsoft.com/office/drawing/2014/main" id="{1DB33D98-7B19-C169-52B6-A0456E19BA7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26</a:t>
                </a:r>
              </a:p>
            </p:txBody>
          </p:sp>
          <p:sp>
            <p:nvSpPr>
              <p:cNvPr id="15" name="Rectangle 14">
                <a:extLst>
                  <a:ext uri="{FF2B5EF4-FFF2-40B4-BE49-F238E27FC236}">
                    <a16:creationId xmlns:a16="http://schemas.microsoft.com/office/drawing/2014/main" id="{136A93CC-7CE7-650D-4541-2767835B0150}"/>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30</a:t>
                </a:r>
              </a:p>
            </p:txBody>
          </p:sp>
          <p:sp>
            <p:nvSpPr>
              <p:cNvPr id="16" name="Rectangle 15">
                <a:extLst>
                  <a:ext uri="{FF2B5EF4-FFF2-40B4-BE49-F238E27FC236}">
                    <a16:creationId xmlns:a16="http://schemas.microsoft.com/office/drawing/2014/main" id="{CAD1E1A1-DB1C-EB68-1E2B-BF47AF1FB6A8}"/>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48</a:t>
                </a:r>
              </a:p>
            </p:txBody>
          </p:sp>
          <p:sp>
            <p:nvSpPr>
              <p:cNvPr id="17" name="Rectangle 16">
                <a:extLst>
                  <a:ext uri="{FF2B5EF4-FFF2-40B4-BE49-F238E27FC236}">
                    <a16:creationId xmlns:a16="http://schemas.microsoft.com/office/drawing/2014/main" id="{32E75A40-9521-F7F6-5A7A-421D9B78A7E9}"/>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56</a:t>
                </a:r>
              </a:p>
            </p:txBody>
          </p:sp>
          <p:sp>
            <p:nvSpPr>
              <p:cNvPr id="18" name="Rectangle 17">
                <a:extLst>
                  <a:ext uri="{FF2B5EF4-FFF2-40B4-BE49-F238E27FC236}">
                    <a16:creationId xmlns:a16="http://schemas.microsoft.com/office/drawing/2014/main" id="{3AF49314-8C4F-6C71-D6D2-A02553C36B24}"/>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58</a:t>
                </a:r>
              </a:p>
            </p:txBody>
          </p:sp>
        </p:grpSp>
      </p:grpSp>
      <p:sp>
        <p:nvSpPr>
          <p:cNvPr id="20" name="TextBox 19">
            <a:extLst>
              <a:ext uri="{FF2B5EF4-FFF2-40B4-BE49-F238E27FC236}">
                <a16:creationId xmlns:a16="http://schemas.microsoft.com/office/drawing/2014/main" id="{01AB606C-ECAE-2DE7-1844-D5F0FFD3C45A}"/>
              </a:ext>
            </a:extLst>
          </p:cNvPr>
          <p:cNvSpPr txBox="1"/>
          <p:nvPr/>
        </p:nvSpPr>
        <p:spPr>
          <a:xfrm>
            <a:off x="2162918" y="4770764"/>
            <a:ext cx="7290009" cy="523220"/>
          </a:xfrm>
          <a:prstGeom prst="rect">
            <a:avLst/>
          </a:prstGeom>
          <a:noFill/>
        </p:spPr>
        <p:txBody>
          <a:bodyPr wrap="none" rtlCol="0">
            <a:spAutoFit/>
          </a:bodyPr>
          <a:lstStyle/>
          <a:p>
            <a:r>
              <a:rPr lang="en-US" sz="2800" b="1" dirty="0"/>
              <a:t>Later:</a:t>
            </a:r>
            <a:r>
              <a:rPr lang="en-US" sz="2800" dirty="0"/>
              <a:t> will be useful for parallel packing/filtering!</a:t>
            </a:r>
            <a:endParaRPr lang="en-US" sz="2800" b="1" dirty="0"/>
          </a:p>
        </p:txBody>
      </p:sp>
    </p:spTree>
    <p:extLst>
      <p:ext uri="{BB962C8B-B14F-4D97-AF65-F5344CB8AC3E}">
        <p14:creationId xmlns:p14="http://schemas.microsoft.com/office/powerpoint/2010/main" val="112420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FB90C-5B78-FBB0-F68B-640018DA94B9}"/>
              </a:ext>
            </a:extLst>
          </p:cNvPr>
          <p:cNvSpPr>
            <a:spLocks noGrp="1"/>
          </p:cNvSpPr>
          <p:nvPr>
            <p:ph type="title"/>
          </p:nvPr>
        </p:nvSpPr>
        <p:spPr/>
        <p:txBody>
          <a:bodyPr/>
          <a:lstStyle/>
          <a:p>
            <a:r>
              <a:rPr lang="en-US" dirty="0"/>
              <a:t>Parallel Prefix Sum</a:t>
            </a:r>
          </a:p>
        </p:txBody>
      </p:sp>
      <p:sp>
        <p:nvSpPr>
          <p:cNvPr id="3" name="Content Placeholder 2">
            <a:extLst>
              <a:ext uri="{FF2B5EF4-FFF2-40B4-BE49-F238E27FC236}">
                <a16:creationId xmlns:a16="http://schemas.microsoft.com/office/drawing/2014/main" id="{C3686234-DCCF-3EE5-9BA3-1351739C6178}"/>
              </a:ext>
            </a:extLst>
          </p:cNvPr>
          <p:cNvSpPr>
            <a:spLocks noGrp="1"/>
          </p:cNvSpPr>
          <p:nvPr>
            <p:ph idx="1"/>
          </p:nvPr>
        </p:nvSpPr>
        <p:spPr/>
        <p:txBody>
          <a:bodyPr/>
          <a:lstStyle/>
          <a:p>
            <a:r>
              <a:rPr lang="en-US" dirty="0"/>
              <a:t>Algorithm will have two major parallel steps</a:t>
            </a:r>
          </a:p>
          <a:p>
            <a:pPr lvl="1"/>
            <a:r>
              <a:rPr lang="en-US" dirty="0"/>
              <a:t>Called a “two pass” parallel algorithm</a:t>
            </a:r>
          </a:p>
          <a:p>
            <a:r>
              <a:rPr lang="en-US" dirty="0"/>
              <a:t>First step:</a:t>
            </a:r>
          </a:p>
          <a:p>
            <a:pPr lvl="1"/>
            <a:r>
              <a:rPr lang="en-US" dirty="0"/>
              <a:t>Create a tree data structure</a:t>
            </a:r>
          </a:p>
          <a:p>
            <a:r>
              <a:rPr lang="en-US" dirty="0"/>
              <a:t>Second Step:</a:t>
            </a:r>
          </a:p>
          <a:p>
            <a:pPr lvl="1"/>
            <a:r>
              <a:rPr lang="en-US" dirty="0"/>
              <a:t>Use the tree to fill in the output array</a:t>
            </a:r>
          </a:p>
          <a:p>
            <a:endParaRPr lang="en-US" dirty="0"/>
          </a:p>
        </p:txBody>
      </p:sp>
      <p:grpSp>
        <p:nvGrpSpPr>
          <p:cNvPr id="6" name="Group 5" descr="This algorithm was created by Richard Ladner, who is emeritus faculty in The Allen School!">
            <a:extLst>
              <a:ext uri="{FF2B5EF4-FFF2-40B4-BE49-F238E27FC236}">
                <a16:creationId xmlns:a16="http://schemas.microsoft.com/office/drawing/2014/main" id="{393358A6-6D91-99C5-BECD-B3A5CD8C65D1}"/>
              </a:ext>
            </a:extLst>
          </p:cNvPr>
          <p:cNvGrpSpPr/>
          <p:nvPr/>
        </p:nvGrpSpPr>
        <p:grpSpPr>
          <a:xfrm>
            <a:off x="9570383" y="681037"/>
            <a:ext cx="2052357" cy="2544077"/>
            <a:chOff x="9570383" y="681037"/>
            <a:chExt cx="2052357" cy="2544077"/>
          </a:xfrm>
        </p:grpSpPr>
        <p:pic>
          <p:nvPicPr>
            <p:cNvPr id="1026" name="Picture 2">
              <a:extLst>
                <a:ext uri="{FF2B5EF4-FFF2-40B4-BE49-F238E27FC236}">
                  <a16:creationId xmlns:a16="http://schemas.microsoft.com/office/drawing/2014/main" id="{6ED9F302-67DD-E090-06BF-03B4870491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39325" y="681037"/>
              <a:ext cx="1514475" cy="190500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D4751D5-68FF-8E1E-BFAA-2E771DEC9741}"/>
                </a:ext>
              </a:extLst>
            </p:cNvPr>
            <p:cNvSpPr txBox="1"/>
            <p:nvPr/>
          </p:nvSpPr>
          <p:spPr>
            <a:xfrm>
              <a:off x="9570383" y="2578783"/>
              <a:ext cx="2052357" cy="646331"/>
            </a:xfrm>
            <a:prstGeom prst="rect">
              <a:avLst/>
            </a:prstGeom>
            <a:noFill/>
          </p:spPr>
          <p:txBody>
            <a:bodyPr wrap="none" rtlCol="0">
              <a:spAutoFit/>
            </a:bodyPr>
            <a:lstStyle/>
            <a:p>
              <a:pPr algn="ctr"/>
              <a:r>
                <a:rPr lang="en-US" dirty="0"/>
                <a:t>Richard Ladner</a:t>
              </a:r>
            </a:p>
            <a:p>
              <a:pPr algn="ctr"/>
              <a:r>
                <a:rPr lang="en-US" dirty="0"/>
                <a:t>Allen School Faculty</a:t>
              </a:r>
            </a:p>
          </p:txBody>
        </p:sp>
      </p:grpSp>
      <p:grpSp>
        <p:nvGrpSpPr>
          <p:cNvPr id="8" name="Group 7" descr="The nodes in our tree will have the following fields:&#10;&#10;range: an inclusive lowerbound and exclusive upperbound on the indices of the array that this node applies to&#10;&#10;sum: The sum of all values in the range&#10;&#10;leftsum: the sum of all values to the left of this range (so the sum of all values from index 0 of the array up to, but not including, the lower bound of this node's range)">
            <a:extLst>
              <a:ext uri="{FF2B5EF4-FFF2-40B4-BE49-F238E27FC236}">
                <a16:creationId xmlns:a16="http://schemas.microsoft.com/office/drawing/2014/main" id="{CE3F5F05-5FCA-107F-E6E1-136F47C147EC}"/>
              </a:ext>
            </a:extLst>
          </p:cNvPr>
          <p:cNvGrpSpPr/>
          <p:nvPr/>
        </p:nvGrpSpPr>
        <p:grpSpPr>
          <a:xfrm>
            <a:off x="2042791" y="4632960"/>
            <a:ext cx="9993211" cy="2076222"/>
            <a:chOff x="2042791" y="4632960"/>
            <a:chExt cx="9993211" cy="2076222"/>
          </a:xfrm>
        </p:grpSpPr>
        <p:sp>
          <p:nvSpPr>
            <p:cNvPr id="4" name="Rectangle 3">
              <a:extLst>
                <a:ext uri="{FF2B5EF4-FFF2-40B4-BE49-F238E27FC236}">
                  <a16:creationId xmlns:a16="http://schemas.microsoft.com/office/drawing/2014/main" id="{FE7A10C2-8AAF-3399-83D4-F7F9E0CF9706}"/>
                </a:ext>
              </a:extLst>
            </p:cNvPr>
            <p:cNvSpPr/>
            <p:nvPr/>
          </p:nvSpPr>
          <p:spPr>
            <a:xfrm>
              <a:off x="4138460" y="4850378"/>
              <a:ext cx="1327620" cy="120752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a:t>
              </a:r>
              <a:r>
                <a:rPr lang="en-US" sz="1600" dirty="0" err="1">
                  <a:solidFill>
                    <a:schemeClr val="tx1"/>
                  </a:solidFill>
                </a:rPr>
                <a:t>lo,hi</a:t>
              </a:r>
              <a:r>
                <a:rPr lang="en-US" sz="1600" dirty="0">
                  <a:solidFill>
                    <a:schemeClr val="tx1"/>
                  </a:solidFill>
                </a:rPr>
                <a:t>)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5" name="TextBox 4">
              <a:extLst>
                <a:ext uri="{FF2B5EF4-FFF2-40B4-BE49-F238E27FC236}">
                  <a16:creationId xmlns:a16="http://schemas.microsoft.com/office/drawing/2014/main" id="{54C53214-8962-E48B-8442-CC126444F1E4}"/>
                </a:ext>
              </a:extLst>
            </p:cNvPr>
            <p:cNvSpPr txBox="1"/>
            <p:nvPr/>
          </p:nvSpPr>
          <p:spPr>
            <a:xfrm>
              <a:off x="6918960" y="4632960"/>
              <a:ext cx="5117042" cy="646331"/>
            </a:xfrm>
            <a:prstGeom prst="rect">
              <a:avLst/>
            </a:prstGeom>
            <a:noFill/>
            <a:ln>
              <a:solidFill>
                <a:srgbClr val="FF0000"/>
              </a:solidFill>
            </a:ln>
          </p:spPr>
          <p:txBody>
            <a:bodyPr wrap="none" rtlCol="0">
              <a:spAutoFit/>
            </a:bodyPr>
            <a:lstStyle/>
            <a:p>
              <a:r>
                <a:rPr lang="en-US" dirty="0">
                  <a:solidFill>
                    <a:srgbClr val="FF0000"/>
                  </a:solidFill>
                </a:rPr>
                <a:t>The “subproblem” this node represents</a:t>
              </a:r>
            </a:p>
            <a:p>
              <a:r>
                <a:rPr lang="en-US" dirty="0">
                  <a:solidFill>
                    <a:srgbClr val="FF0000"/>
                  </a:solidFill>
                </a:rPr>
                <a:t>	lower bound is inclusive, upper is exclusive</a:t>
              </a:r>
            </a:p>
          </p:txBody>
        </p:sp>
        <p:cxnSp>
          <p:nvCxnSpPr>
            <p:cNvPr id="7" name="Straight Arrow Connector 6">
              <a:extLst>
                <a:ext uri="{FF2B5EF4-FFF2-40B4-BE49-F238E27FC236}">
                  <a16:creationId xmlns:a16="http://schemas.microsoft.com/office/drawing/2014/main" id="{97D1DC3C-8862-FC10-BD78-BAE81CD3E144}"/>
                </a:ext>
              </a:extLst>
            </p:cNvPr>
            <p:cNvCxnSpPr>
              <a:cxnSpLocks/>
              <a:stCxn id="5" idx="1"/>
            </p:cNvCxnSpPr>
            <p:nvPr/>
          </p:nvCxnSpPr>
          <p:spPr>
            <a:xfrm flipH="1">
              <a:off x="5364480" y="4956126"/>
              <a:ext cx="1554480" cy="1763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C1F389B-1802-B32A-C4A9-20A918735BE6}"/>
                </a:ext>
              </a:extLst>
            </p:cNvPr>
            <p:cNvSpPr txBox="1"/>
            <p:nvPr/>
          </p:nvSpPr>
          <p:spPr>
            <a:xfrm>
              <a:off x="7597229" y="5385039"/>
              <a:ext cx="3319691" cy="369332"/>
            </a:xfrm>
            <a:prstGeom prst="rect">
              <a:avLst/>
            </a:prstGeom>
            <a:noFill/>
            <a:ln>
              <a:solidFill>
                <a:srgbClr val="FF0000"/>
              </a:solidFill>
            </a:ln>
          </p:spPr>
          <p:txBody>
            <a:bodyPr wrap="none" rtlCol="0">
              <a:spAutoFit/>
            </a:bodyPr>
            <a:lstStyle/>
            <a:p>
              <a:r>
                <a:rPr lang="en-US" dirty="0">
                  <a:solidFill>
                    <a:srgbClr val="FF0000"/>
                  </a:solidFill>
                </a:rPr>
                <a:t>The sum of all values in the range</a:t>
              </a:r>
            </a:p>
          </p:txBody>
        </p:sp>
        <p:cxnSp>
          <p:nvCxnSpPr>
            <p:cNvPr id="11" name="Straight Arrow Connector 10">
              <a:extLst>
                <a:ext uri="{FF2B5EF4-FFF2-40B4-BE49-F238E27FC236}">
                  <a16:creationId xmlns:a16="http://schemas.microsoft.com/office/drawing/2014/main" id="{5F3F9B19-693D-FEBB-4A40-FF1D6CD23FB2}"/>
                </a:ext>
              </a:extLst>
            </p:cNvPr>
            <p:cNvCxnSpPr>
              <a:cxnSpLocks/>
              <a:stCxn id="10" idx="1"/>
            </p:cNvCxnSpPr>
            <p:nvPr/>
          </p:nvCxnSpPr>
          <p:spPr>
            <a:xfrm flipH="1" flipV="1">
              <a:off x="4693920" y="5455593"/>
              <a:ext cx="2903309" cy="1141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7B1C5DB-3CB6-583A-FA04-15D7A44E492F}"/>
                </a:ext>
              </a:extLst>
            </p:cNvPr>
            <p:cNvSpPr txBox="1"/>
            <p:nvPr/>
          </p:nvSpPr>
          <p:spPr>
            <a:xfrm>
              <a:off x="7119709" y="6062851"/>
              <a:ext cx="4320478" cy="646331"/>
            </a:xfrm>
            <a:prstGeom prst="rect">
              <a:avLst/>
            </a:prstGeom>
            <a:noFill/>
            <a:ln>
              <a:solidFill>
                <a:srgbClr val="FF0000"/>
              </a:solidFill>
            </a:ln>
          </p:spPr>
          <p:txBody>
            <a:bodyPr wrap="none" rtlCol="0">
              <a:spAutoFit/>
            </a:bodyPr>
            <a:lstStyle/>
            <a:p>
              <a:r>
                <a:rPr lang="en-US" dirty="0">
                  <a:solidFill>
                    <a:srgbClr val="FF0000"/>
                  </a:solidFill>
                </a:rPr>
                <a:t>The sum of all values to the left of the range</a:t>
              </a:r>
            </a:p>
            <a:p>
              <a:r>
                <a:rPr lang="en-US" dirty="0">
                  <a:solidFill>
                    <a:srgbClr val="FF0000"/>
                  </a:solidFill>
                </a:rPr>
                <a:t>	i.e. in the range [0, lo)</a:t>
              </a:r>
            </a:p>
          </p:txBody>
        </p:sp>
        <p:cxnSp>
          <p:nvCxnSpPr>
            <p:cNvPr id="16" name="Straight Arrow Connector 15">
              <a:extLst>
                <a:ext uri="{FF2B5EF4-FFF2-40B4-BE49-F238E27FC236}">
                  <a16:creationId xmlns:a16="http://schemas.microsoft.com/office/drawing/2014/main" id="{45D6D7DC-942B-A6E4-F5ED-0AF381B6CFF4}"/>
                </a:ext>
              </a:extLst>
            </p:cNvPr>
            <p:cNvCxnSpPr>
              <a:cxnSpLocks/>
              <a:stCxn id="15" idx="1"/>
            </p:cNvCxnSpPr>
            <p:nvPr/>
          </p:nvCxnSpPr>
          <p:spPr>
            <a:xfrm flipH="1" flipV="1">
              <a:off x="5055826" y="5737642"/>
              <a:ext cx="2063883" cy="6483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763C940-33D4-058E-D73F-9F2637BB2C3B}"/>
                </a:ext>
              </a:extLst>
            </p:cNvPr>
            <p:cNvSpPr txBox="1"/>
            <p:nvPr/>
          </p:nvSpPr>
          <p:spPr>
            <a:xfrm>
              <a:off x="2042791" y="5158998"/>
              <a:ext cx="1779911" cy="523220"/>
            </a:xfrm>
            <a:prstGeom prst="rect">
              <a:avLst/>
            </a:prstGeom>
            <a:noFill/>
          </p:spPr>
          <p:txBody>
            <a:bodyPr wrap="none" rtlCol="0">
              <a:spAutoFit/>
            </a:bodyPr>
            <a:lstStyle/>
            <a:p>
              <a:r>
                <a:rPr lang="en-US" sz="2800" dirty="0">
                  <a:solidFill>
                    <a:srgbClr val="FF9900"/>
                  </a:solidFill>
                </a:rPr>
                <a:t>Tree Node:</a:t>
              </a:r>
            </a:p>
          </p:txBody>
        </p:sp>
      </p:grpSp>
    </p:spTree>
    <p:extLst>
      <p:ext uri="{BB962C8B-B14F-4D97-AF65-F5344CB8AC3E}">
        <p14:creationId xmlns:p14="http://schemas.microsoft.com/office/powerpoint/2010/main" val="3238359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77" descr="In this step we create a tree and fill in the sum fields of each node.&#10;&#10;In this tree the root will be a node whose range is the entire input array. Each node's left child will be responsible for the left have of the parent's range. The right child will be responsible for the right half of the parent's range. The leaf nodes are those whose range is short enough that the number of elements is under the sequential cutoff.">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 name="Title 1">
            <a:extLst>
              <a:ext uri="{FF2B5EF4-FFF2-40B4-BE49-F238E27FC236}">
                <a16:creationId xmlns:a16="http://schemas.microsoft.com/office/drawing/2014/main" id="{CABE8710-44F0-ACBE-B5B0-E3103426E0CC}"/>
              </a:ext>
            </a:extLst>
          </p:cNvPr>
          <p:cNvSpPr>
            <a:spLocks noGrp="1"/>
          </p:cNvSpPr>
          <p:nvPr>
            <p:ph type="title"/>
          </p:nvPr>
        </p:nvSpPr>
        <p:spPr>
          <a:xfrm>
            <a:off x="44967" y="-612"/>
            <a:ext cx="10515600" cy="1325563"/>
          </a:xfrm>
        </p:spPr>
        <p:txBody>
          <a:bodyPr>
            <a:normAutofit/>
          </a:bodyPr>
          <a:lstStyle/>
          <a:p>
            <a:r>
              <a:rPr lang="en-US" dirty="0"/>
              <a:t>Step 1: Using D&amp;C</a:t>
            </a:r>
            <a:br>
              <a:rPr lang="en-US" dirty="0"/>
            </a:br>
            <a:r>
              <a:rPr lang="en-US" dirty="0"/>
              <a:t>	Create a Tree, Fill in sum</a:t>
            </a:r>
          </a:p>
        </p:txBody>
      </p:sp>
      <p:sp>
        <p:nvSpPr>
          <p:cNvPr id="32" name="TextBox 31">
            <a:extLst>
              <a:ext uri="{FF2B5EF4-FFF2-40B4-BE49-F238E27FC236}">
                <a16:creationId xmlns:a16="http://schemas.microsoft.com/office/drawing/2014/main" id="{AF4EDD06-C3F2-1D88-B3BA-CB8C2CBF5C03}"/>
              </a:ext>
            </a:extLst>
          </p:cNvPr>
          <p:cNvSpPr txBox="1"/>
          <p:nvPr/>
        </p:nvSpPr>
        <p:spPr>
          <a:xfrm>
            <a:off x="37527" y="1324952"/>
            <a:ext cx="3566554" cy="646331"/>
          </a:xfrm>
          <a:prstGeom prst="rect">
            <a:avLst/>
          </a:prstGeom>
          <a:noFill/>
        </p:spPr>
        <p:txBody>
          <a:bodyPr wrap="none" rtlCol="0">
            <a:spAutoFit/>
          </a:bodyPr>
          <a:lstStyle/>
          <a:p>
            <a:r>
              <a:rPr lang="en-US" dirty="0"/>
              <a:t>For this pass we will only fill in sum</a:t>
            </a:r>
          </a:p>
          <a:p>
            <a:r>
              <a:rPr lang="en-US" dirty="0"/>
              <a:t>In the next pass we will find </a:t>
            </a:r>
            <a:r>
              <a:rPr lang="en-US" dirty="0" err="1"/>
              <a:t>leftSum</a:t>
            </a:r>
            <a:endParaRPr lang="en-US" dirty="0"/>
          </a:p>
        </p:txBody>
      </p:sp>
      <p:grpSp>
        <p:nvGrpSpPr>
          <p:cNvPr id="66" name="Group 65" descr="The input to our algorithm will be the following array of length 8:&#10;&#10;[10,16,4,18,8,2,14,9]&#10;&#10;We are also given an empty array of length 8 for our output.">
            <a:extLst>
              <a:ext uri="{FF2B5EF4-FFF2-40B4-BE49-F238E27FC236}">
                <a16:creationId xmlns:a16="http://schemas.microsoft.com/office/drawing/2014/main" id="{613F66D7-E641-7A0A-AF27-9E2C4C1A3EDE}"/>
              </a:ext>
            </a:extLst>
          </p:cNvPr>
          <p:cNvGrpSpPr/>
          <p:nvPr/>
        </p:nvGrpSpPr>
        <p:grpSpPr>
          <a:xfrm>
            <a:off x="6679091" y="83846"/>
            <a:ext cx="5383586" cy="1720798"/>
            <a:chOff x="6679091" y="83846"/>
            <a:chExt cx="5383586" cy="1720798"/>
          </a:xfrm>
        </p:grpSpPr>
        <p:grpSp>
          <p:nvGrpSpPr>
            <p:cNvPr id="79" name="Group 78">
              <a:extLst>
                <a:ext uri="{FF2B5EF4-FFF2-40B4-BE49-F238E27FC236}">
                  <a16:creationId xmlns:a16="http://schemas.microsoft.com/office/drawing/2014/main" id="{BEBD86B9-D06A-AA34-17B9-54889F3027C9}"/>
                </a:ext>
              </a:extLst>
            </p:cNvPr>
            <p:cNvGrpSpPr/>
            <p:nvPr/>
          </p:nvGrpSpPr>
          <p:grpSpPr>
            <a:xfrm>
              <a:off x="7562943" y="83846"/>
              <a:ext cx="4499734" cy="562558"/>
              <a:chOff x="6392545" y="364404"/>
              <a:chExt cx="5726090" cy="715878"/>
            </a:xfrm>
          </p:grpSpPr>
          <p:grpSp>
            <p:nvGrpSpPr>
              <p:cNvPr id="5" name="Group 4">
                <a:extLst>
                  <a:ext uri="{FF2B5EF4-FFF2-40B4-BE49-F238E27FC236}">
                    <a16:creationId xmlns:a16="http://schemas.microsoft.com/office/drawing/2014/main" id="{6C223538-C7B2-7C30-2FA7-779487CA7694}"/>
                  </a:ext>
                </a:extLst>
              </p:cNvPr>
              <p:cNvGrpSpPr/>
              <p:nvPr/>
            </p:nvGrpSpPr>
            <p:grpSpPr>
              <a:xfrm>
                <a:off x="6392545" y="365125"/>
                <a:ext cx="4295776" cy="715157"/>
                <a:chOff x="7967980" y="4321811"/>
                <a:chExt cx="2258060" cy="375920"/>
              </a:xfrm>
            </p:grpSpPr>
            <p:sp>
              <p:nvSpPr>
                <p:cNvPr id="6" name="Rectangle 5">
                  <a:extLst>
                    <a:ext uri="{FF2B5EF4-FFF2-40B4-BE49-F238E27FC236}">
                      <a16:creationId xmlns:a16="http://schemas.microsoft.com/office/drawing/2014/main" id="{4C4C7872-C8B2-4A6D-788B-E74E764DD4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7" name="Rectangle 6">
                  <a:extLst>
                    <a:ext uri="{FF2B5EF4-FFF2-40B4-BE49-F238E27FC236}">
                      <a16:creationId xmlns:a16="http://schemas.microsoft.com/office/drawing/2014/main" id="{8E93186A-C038-33CF-78E0-7B0B82860AD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8" name="Rectangle 7">
                  <a:extLst>
                    <a:ext uri="{FF2B5EF4-FFF2-40B4-BE49-F238E27FC236}">
                      <a16:creationId xmlns:a16="http://schemas.microsoft.com/office/drawing/2014/main" id="{7F8CA458-B7E6-289A-1B52-85D1A5E4827C}"/>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9" name="Rectangle 8">
                  <a:extLst>
                    <a:ext uri="{FF2B5EF4-FFF2-40B4-BE49-F238E27FC236}">
                      <a16:creationId xmlns:a16="http://schemas.microsoft.com/office/drawing/2014/main" id="{0D3F07A1-4730-ACE7-BD6A-3846A4FD1F43}"/>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0" name="Rectangle 9">
                  <a:extLst>
                    <a:ext uri="{FF2B5EF4-FFF2-40B4-BE49-F238E27FC236}">
                      <a16:creationId xmlns:a16="http://schemas.microsoft.com/office/drawing/2014/main" id="{47A0E4D4-586A-1F2D-2C80-1E183EE8F753}"/>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 name="Rectangle 10">
                  <a:extLst>
                    <a:ext uri="{FF2B5EF4-FFF2-40B4-BE49-F238E27FC236}">
                      <a16:creationId xmlns:a16="http://schemas.microsoft.com/office/drawing/2014/main" id="{3B79FA79-E4CD-C82C-9743-FB230DF95090}"/>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2" name="Rectangle 11">
                <a:extLst>
                  <a:ext uri="{FF2B5EF4-FFF2-40B4-BE49-F238E27FC236}">
                    <a16:creationId xmlns:a16="http://schemas.microsoft.com/office/drawing/2014/main" id="{9E550FD5-121C-2053-A152-0C682A44A030}"/>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3" name="Rectangle 12">
                <a:extLst>
                  <a:ext uri="{FF2B5EF4-FFF2-40B4-BE49-F238E27FC236}">
                    <a16:creationId xmlns:a16="http://schemas.microsoft.com/office/drawing/2014/main" id="{E9F65C48-6B4D-4602-5D43-31BF28FB68A7}"/>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34" name="Group 33">
              <a:extLst>
                <a:ext uri="{FF2B5EF4-FFF2-40B4-BE49-F238E27FC236}">
                  <a16:creationId xmlns:a16="http://schemas.microsoft.com/office/drawing/2014/main" id="{6D5E2628-E540-F3EE-3DB2-530EB5C700BB}"/>
                </a:ext>
              </a:extLst>
            </p:cNvPr>
            <p:cNvGrpSpPr/>
            <p:nvPr/>
          </p:nvGrpSpPr>
          <p:grpSpPr>
            <a:xfrm>
              <a:off x="7562943" y="773982"/>
              <a:ext cx="4499734" cy="562558"/>
              <a:chOff x="6392545" y="364404"/>
              <a:chExt cx="5726090" cy="715878"/>
            </a:xfrm>
          </p:grpSpPr>
          <p:grpSp>
            <p:nvGrpSpPr>
              <p:cNvPr id="35" name="Group 34">
                <a:extLst>
                  <a:ext uri="{FF2B5EF4-FFF2-40B4-BE49-F238E27FC236}">
                    <a16:creationId xmlns:a16="http://schemas.microsoft.com/office/drawing/2014/main" id="{FC449558-7557-5C3A-E3CF-7B9B44757A76}"/>
                  </a:ext>
                </a:extLst>
              </p:cNvPr>
              <p:cNvGrpSpPr/>
              <p:nvPr/>
            </p:nvGrpSpPr>
            <p:grpSpPr>
              <a:xfrm>
                <a:off x="6392545" y="365125"/>
                <a:ext cx="4295776" cy="715157"/>
                <a:chOff x="7967980" y="4321811"/>
                <a:chExt cx="2258060" cy="375920"/>
              </a:xfrm>
            </p:grpSpPr>
            <p:sp>
              <p:nvSpPr>
                <p:cNvPr id="39" name="Rectangle 38">
                  <a:extLst>
                    <a:ext uri="{FF2B5EF4-FFF2-40B4-BE49-F238E27FC236}">
                      <a16:creationId xmlns:a16="http://schemas.microsoft.com/office/drawing/2014/main" id="{72BC790E-4724-47AB-0625-A4B8B780370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023B5876-4786-0AE1-6577-D4BABCC53D40}"/>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1F29BFB6-2B15-698A-6395-A1612706C26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Rectangle 43">
                  <a:extLst>
                    <a:ext uri="{FF2B5EF4-FFF2-40B4-BE49-F238E27FC236}">
                      <a16:creationId xmlns:a16="http://schemas.microsoft.com/office/drawing/2014/main" id="{8940B201-0474-F5B0-92C3-B3D02D4C630D}"/>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Rectangle 44">
                  <a:extLst>
                    <a:ext uri="{FF2B5EF4-FFF2-40B4-BE49-F238E27FC236}">
                      <a16:creationId xmlns:a16="http://schemas.microsoft.com/office/drawing/2014/main" id="{5D652E56-3687-06FE-6768-02C96F928E7A}"/>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7" name="Rectangle 46">
                  <a:extLst>
                    <a:ext uri="{FF2B5EF4-FFF2-40B4-BE49-F238E27FC236}">
                      <a16:creationId xmlns:a16="http://schemas.microsoft.com/office/drawing/2014/main" id="{52D140CA-3477-D8C4-417A-190FF3F60AD7}"/>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36" name="Rectangle 35">
                <a:extLst>
                  <a:ext uri="{FF2B5EF4-FFF2-40B4-BE49-F238E27FC236}">
                    <a16:creationId xmlns:a16="http://schemas.microsoft.com/office/drawing/2014/main" id="{1F5B0D6C-8F60-3B1D-ACB3-F4FDD63E9A86}"/>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8" name="Rectangle 37">
                <a:extLst>
                  <a:ext uri="{FF2B5EF4-FFF2-40B4-BE49-F238E27FC236}">
                    <a16:creationId xmlns:a16="http://schemas.microsoft.com/office/drawing/2014/main" id="{EBB9D4BB-EB48-91B5-1555-923146772011}"/>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48" name="TextBox 47">
              <a:extLst>
                <a:ext uri="{FF2B5EF4-FFF2-40B4-BE49-F238E27FC236}">
                  <a16:creationId xmlns:a16="http://schemas.microsoft.com/office/drawing/2014/main" id="{833C9B8C-5337-D527-BBF4-70D8A73B668C}"/>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50" name="TextBox 49">
              <a:extLst>
                <a:ext uri="{FF2B5EF4-FFF2-40B4-BE49-F238E27FC236}">
                  <a16:creationId xmlns:a16="http://schemas.microsoft.com/office/drawing/2014/main" id="{C820E126-C62F-4CAD-7DAC-31C22D30C7A1}"/>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51" name="Group 50">
              <a:extLst>
                <a:ext uri="{FF2B5EF4-FFF2-40B4-BE49-F238E27FC236}">
                  <a16:creationId xmlns:a16="http://schemas.microsoft.com/office/drawing/2014/main" id="{8E31E325-BFCC-1FEA-98DA-6547E3E3E33A}"/>
                </a:ext>
              </a:extLst>
            </p:cNvPr>
            <p:cNvGrpSpPr/>
            <p:nvPr/>
          </p:nvGrpSpPr>
          <p:grpSpPr>
            <a:xfrm>
              <a:off x="7562943" y="1242086"/>
              <a:ext cx="4499734" cy="562558"/>
              <a:chOff x="6392545" y="364404"/>
              <a:chExt cx="5726090" cy="715878"/>
            </a:xfrm>
            <a:noFill/>
          </p:grpSpPr>
          <p:grpSp>
            <p:nvGrpSpPr>
              <p:cNvPr id="53" name="Group 52">
                <a:extLst>
                  <a:ext uri="{FF2B5EF4-FFF2-40B4-BE49-F238E27FC236}">
                    <a16:creationId xmlns:a16="http://schemas.microsoft.com/office/drawing/2014/main" id="{B838736A-B56B-AC87-3C52-EC3157C6A0C9}"/>
                  </a:ext>
                </a:extLst>
              </p:cNvPr>
              <p:cNvGrpSpPr/>
              <p:nvPr/>
            </p:nvGrpSpPr>
            <p:grpSpPr>
              <a:xfrm>
                <a:off x="6392545" y="365125"/>
                <a:ext cx="4295776" cy="715157"/>
                <a:chOff x="7967980" y="4321811"/>
                <a:chExt cx="2258060" cy="375920"/>
              </a:xfrm>
              <a:grpFill/>
            </p:grpSpPr>
            <p:sp>
              <p:nvSpPr>
                <p:cNvPr id="57" name="Rectangle 56">
                  <a:extLst>
                    <a:ext uri="{FF2B5EF4-FFF2-40B4-BE49-F238E27FC236}">
                      <a16:creationId xmlns:a16="http://schemas.microsoft.com/office/drawing/2014/main" id="{63988E32-AA60-6C04-B65F-DA75ED35A0BC}"/>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59" name="Rectangle 58">
                  <a:extLst>
                    <a:ext uri="{FF2B5EF4-FFF2-40B4-BE49-F238E27FC236}">
                      <a16:creationId xmlns:a16="http://schemas.microsoft.com/office/drawing/2014/main" id="{D66C25A7-40A3-F64D-2181-20A0BFBA74DC}"/>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60" name="Rectangle 59">
                  <a:extLst>
                    <a:ext uri="{FF2B5EF4-FFF2-40B4-BE49-F238E27FC236}">
                      <a16:creationId xmlns:a16="http://schemas.microsoft.com/office/drawing/2014/main" id="{CC622D37-AE93-57E1-593C-E48ABDF765E0}"/>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62" name="Rectangle 61">
                  <a:extLst>
                    <a:ext uri="{FF2B5EF4-FFF2-40B4-BE49-F238E27FC236}">
                      <a16:creationId xmlns:a16="http://schemas.microsoft.com/office/drawing/2014/main" id="{E52A2F52-8814-6B82-D4B1-1217BE20DF44}"/>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63" name="Rectangle 62">
                  <a:extLst>
                    <a:ext uri="{FF2B5EF4-FFF2-40B4-BE49-F238E27FC236}">
                      <a16:creationId xmlns:a16="http://schemas.microsoft.com/office/drawing/2014/main" id="{9EDFCE4C-5F56-A38F-C84B-59A575F8231B}"/>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65" name="Rectangle 64">
                  <a:extLst>
                    <a:ext uri="{FF2B5EF4-FFF2-40B4-BE49-F238E27FC236}">
                      <a16:creationId xmlns:a16="http://schemas.microsoft.com/office/drawing/2014/main" id="{1BE1027D-9611-7A67-1754-239B4003652D}"/>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54" name="Rectangle 53">
                <a:extLst>
                  <a:ext uri="{FF2B5EF4-FFF2-40B4-BE49-F238E27FC236}">
                    <a16:creationId xmlns:a16="http://schemas.microsoft.com/office/drawing/2014/main" id="{2CB2392C-AD2B-6282-0583-C05D6728541C}"/>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56" name="Rectangle 55">
                <a:extLst>
                  <a:ext uri="{FF2B5EF4-FFF2-40B4-BE49-F238E27FC236}">
                    <a16:creationId xmlns:a16="http://schemas.microsoft.com/office/drawing/2014/main" id="{72BA8230-41B7-F14A-D3DB-76C4BE0CFE18}"/>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2555297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3362961" y="1298448"/>
            <a:ext cx="8756798" cy="5257800"/>
          </a:xfrm>
        </p:spPr>
        <p:txBody>
          <a:bodyPr>
            <a:normAutofit fontScale="92500"/>
          </a:bodyPr>
          <a:lstStyle/>
          <a:p>
            <a:r>
              <a:rPr lang="en-US" b="1" dirty="0">
                <a:solidFill>
                  <a:srgbClr val="0070C0"/>
                </a:solidFill>
              </a:rPr>
              <a:t>Base Case</a:t>
            </a:r>
            <a:r>
              <a:rPr lang="en-US" b="1" dirty="0"/>
              <a:t>: </a:t>
            </a:r>
          </a:p>
          <a:p>
            <a:pPr lvl="1"/>
            <a:r>
              <a:rPr lang="en-US" dirty="0"/>
              <a:t>If the rand is smaller than the Sequential Cutoff, create a node for that range and find the sum sequentially</a:t>
            </a:r>
          </a:p>
          <a:p>
            <a:pPr lvl="2"/>
            <a:endParaRPr lang="en-US" sz="2600" b="1" dirty="0">
              <a:solidFill>
                <a:srgbClr val="0070C0"/>
              </a:solidFill>
            </a:endParaRPr>
          </a:p>
          <a:p>
            <a:r>
              <a:rPr lang="en-US" b="1" dirty="0">
                <a:solidFill>
                  <a:srgbClr val="0070C0"/>
                </a:solidFill>
              </a:rPr>
              <a:t>Divide</a:t>
            </a:r>
            <a:r>
              <a:rPr lang="en-US" b="1" dirty="0"/>
              <a:t>: </a:t>
            </a:r>
          </a:p>
          <a:p>
            <a:pPr lvl="1"/>
            <a:r>
              <a:rPr lang="en-US" dirty="0"/>
              <a:t>Split the list into two “sublists” of (roughly) equal length, create a thread for each </a:t>
            </a:r>
            <a:r>
              <a:rPr lang="en-US" dirty="0" err="1"/>
              <a:t>sublist</a:t>
            </a:r>
            <a:r>
              <a:rPr lang="en-US" dirty="0"/>
              <a:t>.</a:t>
            </a:r>
          </a:p>
          <a:p>
            <a:pPr lvl="1"/>
            <a:endParaRPr lang="en-US" sz="2600" b="1" dirty="0"/>
          </a:p>
          <a:p>
            <a:r>
              <a:rPr lang="en-US" b="1" dirty="0">
                <a:solidFill>
                  <a:srgbClr val="0070C0"/>
                </a:solidFill>
              </a:rPr>
              <a:t>Conquer</a:t>
            </a:r>
            <a:r>
              <a:rPr lang="en-US" b="1" dirty="0"/>
              <a:t>:</a:t>
            </a:r>
          </a:p>
          <a:p>
            <a:pPr lvl="1"/>
            <a:r>
              <a:rPr lang="en-US" dirty="0"/>
              <a:t>Call </a:t>
            </a:r>
            <a:r>
              <a:rPr lang="en-US" b="1" dirty="0"/>
              <a:t>start()</a:t>
            </a:r>
            <a:r>
              <a:rPr lang="en-US" dirty="0"/>
              <a:t> for each thread to compute the left and right subtrees</a:t>
            </a:r>
          </a:p>
          <a:p>
            <a:pPr lvl="1"/>
            <a:endParaRPr lang="en-US" sz="2600" dirty="0">
              <a:solidFill>
                <a:srgbClr val="FF33CC"/>
              </a:solidFill>
            </a:endParaRPr>
          </a:p>
          <a:p>
            <a:r>
              <a:rPr lang="en-US" b="1" dirty="0">
                <a:solidFill>
                  <a:srgbClr val="0070C0"/>
                </a:solidFill>
              </a:rPr>
              <a:t>Combine</a:t>
            </a:r>
            <a:r>
              <a:rPr lang="en-US" b="1" dirty="0"/>
              <a:t>:</a:t>
            </a:r>
          </a:p>
          <a:p>
            <a:pPr lvl="1"/>
            <a:r>
              <a:rPr lang="en-US" dirty="0"/>
              <a:t>Create parent node, connect to children, fill in sum</a:t>
            </a:r>
          </a:p>
        </p:txBody>
      </p:sp>
      <p:sp>
        <p:nvSpPr>
          <p:cNvPr id="224" name="Slide Number Placeholder 223">
            <a:extLst>
              <a:ext uri="{FF2B5EF4-FFF2-40B4-BE49-F238E27FC236}">
                <a16:creationId xmlns:a16="http://schemas.microsoft.com/office/drawing/2014/main" id="{EFCFBE45-A1F3-4932-85FA-AF898B9364C6}"/>
              </a:ext>
            </a:extLst>
          </p:cNvPr>
          <p:cNvSpPr>
            <a:spLocks noGrp="1"/>
          </p:cNvSpPr>
          <p:nvPr>
            <p:ph type="sldNum" sz="quarter" idx="12"/>
          </p:nvPr>
        </p:nvSpPr>
        <p:spPr/>
        <p:txBody>
          <a:bodyPr/>
          <a:lstStyle/>
          <a:p>
            <a:fld id="{F4E8603E-186F-4CC7-B8E2-5FD613D3E28C}" type="slidenum">
              <a:rPr lang="en-US" smtClean="0"/>
              <a:t>14</a:t>
            </a:fld>
            <a:endParaRPr lang="en-US" dirty="0"/>
          </a:p>
        </p:txBody>
      </p:sp>
      <p:grpSp>
        <p:nvGrpSpPr>
          <p:cNvPr id="10" name="Group 9">
            <a:extLst>
              <a:ext uri="{FF2B5EF4-FFF2-40B4-BE49-F238E27FC236}">
                <a16:creationId xmlns:a16="http://schemas.microsoft.com/office/drawing/2014/main" id="{4A43B678-0D35-9AA8-930C-A3ADA65F986C}"/>
              </a:ext>
              <a:ext uri="{C183D7F6-B498-43B3-948B-1728B52AA6E4}">
                <adec:decorative xmlns:adec="http://schemas.microsoft.com/office/drawing/2017/decorative" val="1"/>
              </a:ext>
            </a:extLst>
          </p:cNvPr>
          <p:cNvGrpSpPr/>
          <p:nvPr/>
        </p:nvGrpSpPr>
        <p:grpSpPr>
          <a:xfrm>
            <a:off x="6392545" y="364404"/>
            <a:ext cx="5726090" cy="715878"/>
            <a:chOff x="6392545" y="364404"/>
            <a:chExt cx="5726090" cy="715878"/>
          </a:xfrm>
        </p:grpSpPr>
        <p:grpSp>
          <p:nvGrpSpPr>
            <p:cNvPr id="11" name="Group 10">
              <a:extLst>
                <a:ext uri="{FF2B5EF4-FFF2-40B4-BE49-F238E27FC236}">
                  <a16:creationId xmlns:a16="http://schemas.microsoft.com/office/drawing/2014/main" id="{AD5CBAD0-F7BF-02F3-79C4-F8C9DC1DA0E1}"/>
                </a:ext>
              </a:extLst>
            </p:cNvPr>
            <p:cNvGrpSpPr/>
            <p:nvPr/>
          </p:nvGrpSpPr>
          <p:grpSpPr>
            <a:xfrm>
              <a:off x="6392545" y="365125"/>
              <a:ext cx="4295776" cy="715157"/>
              <a:chOff x="7967980" y="4321811"/>
              <a:chExt cx="2258060" cy="375920"/>
            </a:xfrm>
          </p:grpSpPr>
          <p:sp>
            <p:nvSpPr>
              <p:cNvPr id="14" name="Rectangle 13">
                <a:extLst>
                  <a:ext uri="{FF2B5EF4-FFF2-40B4-BE49-F238E27FC236}">
                    <a16:creationId xmlns:a16="http://schemas.microsoft.com/office/drawing/2014/main" id="{F8079D1E-DBEC-17B6-FF65-BE83D7CCEB5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5" name="Rectangle 14">
                <a:extLst>
                  <a:ext uri="{FF2B5EF4-FFF2-40B4-BE49-F238E27FC236}">
                    <a16:creationId xmlns:a16="http://schemas.microsoft.com/office/drawing/2014/main" id="{81E9983E-A02C-7632-8072-6C2E7A79CFC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6" name="Rectangle 15">
                <a:extLst>
                  <a:ext uri="{FF2B5EF4-FFF2-40B4-BE49-F238E27FC236}">
                    <a16:creationId xmlns:a16="http://schemas.microsoft.com/office/drawing/2014/main" id="{215BD730-6649-2CBF-9F31-755845AE9AB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7" name="Rectangle 16">
                <a:extLst>
                  <a:ext uri="{FF2B5EF4-FFF2-40B4-BE49-F238E27FC236}">
                    <a16:creationId xmlns:a16="http://schemas.microsoft.com/office/drawing/2014/main" id="{E8FD7E58-84F6-7053-BD60-08E2E66DEAC6}"/>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8" name="Rectangle 17">
                <a:extLst>
                  <a:ext uri="{FF2B5EF4-FFF2-40B4-BE49-F238E27FC236}">
                    <a16:creationId xmlns:a16="http://schemas.microsoft.com/office/drawing/2014/main" id="{E06F5C59-8A2D-D41F-7C45-B70B4169CF18}"/>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9" name="Rectangle 18">
                <a:extLst>
                  <a:ext uri="{FF2B5EF4-FFF2-40B4-BE49-F238E27FC236}">
                    <a16:creationId xmlns:a16="http://schemas.microsoft.com/office/drawing/2014/main" id="{62C4D54B-BFE0-AD63-E3DE-2AFB38622A0D}"/>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2" name="Rectangle 11">
              <a:extLst>
                <a:ext uri="{FF2B5EF4-FFF2-40B4-BE49-F238E27FC236}">
                  <a16:creationId xmlns:a16="http://schemas.microsoft.com/office/drawing/2014/main" id="{A7B558AE-4907-1A65-3123-BC9CD827B703}"/>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3" name="Rectangle 12">
              <a:extLst>
                <a:ext uri="{FF2B5EF4-FFF2-40B4-BE49-F238E27FC236}">
                  <a16:creationId xmlns:a16="http://schemas.microsoft.com/office/drawing/2014/main" id="{9483E721-AE92-95A7-5584-3799E46D8A34}"/>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2" name="Group 1" descr="Our base case occurs when the number of items in the range is within the sequential cutoff. In this case we create a node responsible for this range and fill in the sum field with the sum of the elements in that range. We leave leftSum blank for now.">
            <a:extLst>
              <a:ext uri="{FF2B5EF4-FFF2-40B4-BE49-F238E27FC236}">
                <a16:creationId xmlns:a16="http://schemas.microsoft.com/office/drawing/2014/main" id="{6F19B866-CEC3-8191-2FD3-A4B97064DA9F}"/>
              </a:ext>
            </a:extLst>
          </p:cNvPr>
          <p:cNvGrpSpPr/>
          <p:nvPr/>
        </p:nvGrpSpPr>
        <p:grpSpPr>
          <a:xfrm>
            <a:off x="600562" y="1241337"/>
            <a:ext cx="2150893" cy="898702"/>
            <a:chOff x="600562" y="1241337"/>
            <a:chExt cx="2150893" cy="898702"/>
          </a:xfrm>
        </p:grpSpPr>
        <p:sp>
          <p:nvSpPr>
            <p:cNvPr id="492" name="Rectangle 491">
              <a:extLst>
                <a:ext uri="{FF2B5EF4-FFF2-40B4-BE49-F238E27FC236}">
                  <a16:creationId xmlns:a16="http://schemas.microsoft.com/office/drawing/2014/main" id="{FA6038B4-F05D-6F20-8BFC-3AC6EC6FC6E8}"/>
                </a:ext>
              </a:extLst>
            </p:cNvPr>
            <p:cNvSpPr/>
            <p:nvPr/>
          </p:nvSpPr>
          <p:spPr>
            <a:xfrm>
              <a:off x="600562" y="1476725"/>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745243F4-9D25-9BEA-5D0F-5EA84641B3CE}"/>
                </a:ext>
              </a:extLst>
            </p:cNvPr>
            <p:cNvSpPr/>
            <p:nvPr/>
          </p:nvSpPr>
          <p:spPr>
            <a:xfrm>
              <a:off x="1289685" y="1241337"/>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grpSp>
      <p:grpSp>
        <p:nvGrpSpPr>
          <p:cNvPr id="4" name="Group 3" descr="If we're not yet within the sequential cutoff, divide the array into two halves by creating a new RecuriveTask object for each half.">
            <a:extLst>
              <a:ext uri="{FF2B5EF4-FFF2-40B4-BE49-F238E27FC236}">
                <a16:creationId xmlns:a16="http://schemas.microsoft.com/office/drawing/2014/main" id="{2202009F-CA22-34BB-09DF-FE6E42F35F9B}"/>
              </a:ext>
            </a:extLst>
          </p:cNvPr>
          <p:cNvGrpSpPr/>
          <p:nvPr/>
        </p:nvGrpSpPr>
        <p:grpSpPr>
          <a:xfrm>
            <a:off x="22154" y="2487446"/>
            <a:ext cx="2858829" cy="953628"/>
            <a:chOff x="22154" y="2487446"/>
            <a:chExt cx="2858829" cy="953628"/>
          </a:xfrm>
        </p:grpSpPr>
        <p:grpSp>
          <p:nvGrpSpPr>
            <p:cNvPr id="35" name="Group 34">
              <a:extLst>
                <a:ext uri="{FF2B5EF4-FFF2-40B4-BE49-F238E27FC236}">
                  <a16:creationId xmlns:a16="http://schemas.microsoft.com/office/drawing/2014/main" id="{29D8F867-D037-08C5-6C6B-54A2288AF9F8}"/>
                </a:ext>
              </a:extLst>
            </p:cNvPr>
            <p:cNvGrpSpPr/>
            <p:nvPr/>
          </p:nvGrpSpPr>
          <p:grpSpPr>
            <a:xfrm>
              <a:off x="1188085" y="3018563"/>
              <a:ext cx="1692898" cy="422511"/>
              <a:chOff x="6441781" y="1098468"/>
              <a:chExt cx="1692898" cy="422511"/>
            </a:xfrm>
          </p:grpSpPr>
          <p:sp>
            <p:nvSpPr>
              <p:cNvPr id="28" name="Rectangle 27">
                <a:extLst>
                  <a:ext uri="{FF2B5EF4-FFF2-40B4-BE49-F238E27FC236}">
                    <a16:creationId xmlns:a16="http://schemas.microsoft.com/office/drawing/2014/main" id="{18F69E32-0287-9CAF-47F3-CE48A1172CAE}"/>
                  </a:ext>
                </a:extLst>
              </p:cNvPr>
              <p:cNvSpPr/>
              <p:nvPr/>
            </p:nvSpPr>
            <p:spPr>
              <a:xfrm>
                <a:off x="6441781"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29" name="Rectangle 28">
                <a:extLst>
                  <a:ext uri="{FF2B5EF4-FFF2-40B4-BE49-F238E27FC236}">
                    <a16:creationId xmlns:a16="http://schemas.microsoft.com/office/drawing/2014/main" id="{EC34673B-2F9D-2BF0-4670-DDABE0DE4AD5}"/>
                  </a:ext>
                </a:extLst>
              </p:cNvPr>
              <p:cNvSpPr/>
              <p:nvPr/>
            </p:nvSpPr>
            <p:spPr>
              <a:xfrm>
                <a:off x="6864292"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0" name="Rectangle 29">
                <a:extLst>
                  <a:ext uri="{FF2B5EF4-FFF2-40B4-BE49-F238E27FC236}">
                    <a16:creationId xmlns:a16="http://schemas.microsoft.com/office/drawing/2014/main" id="{DCE09E7E-C4EA-B252-8C70-52F96B4B7159}"/>
                  </a:ext>
                </a:extLst>
              </p:cNvPr>
              <p:cNvSpPr/>
              <p:nvPr/>
            </p:nvSpPr>
            <p:spPr>
              <a:xfrm>
                <a:off x="7289657"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1" name="Rectangle 30">
                <a:extLst>
                  <a:ext uri="{FF2B5EF4-FFF2-40B4-BE49-F238E27FC236}">
                    <a16:creationId xmlns:a16="http://schemas.microsoft.com/office/drawing/2014/main" id="{B52011AF-5C25-C0EB-6337-D6BDC73D7B04}"/>
                  </a:ext>
                </a:extLst>
              </p:cNvPr>
              <p:cNvSpPr/>
              <p:nvPr/>
            </p:nvSpPr>
            <p:spPr>
              <a:xfrm>
                <a:off x="7712168"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18</a:t>
                </a:r>
              </a:p>
            </p:txBody>
          </p:sp>
        </p:grpSp>
        <p:grpSp>
          <p:nvGrpSpPr>
            <p:cNvPr id="34" name="Group 33">
              <a:extLst>
                <a:ext uri="{FF2B5EF4-FFF2-40B4-BE49-F238E27FC236}">
                  <a16:creationId xmlns:a16="http://schemas.microsoft.com/office/drawing/2014/main" id="{2AF1CE39-2F18-E12D-56B0-94D3E122A4C8}"/>
                </a:ext>
              </a:extLst>
            </p:cNvPr>
            <p:cNvGrpSpPr/>
            <p:nvPr/>
          </p:nvGrpSpPr>
          <p:grpSpPr>
            <a:xfrm>
              <a:off x="22154" y="2487446"/>
              <a:ext cx="1690042" cy="422937"/>
              <a:chOff x="22154" y="2487446"/>
              <a:chExt cx="1690042" cy="422937"/>
            </a:xfrm>
          </p:grpSpPr>
          <p:sp>
            <p:nvSpPr>
              <p:cNvPr id="32" name="Rectangle 31">
                <a:extLst>
                  <a:ext uri="{FF2B5EF4-FFF2-40B4-BE49-F238E27FC236}">
                    <a16:creationId xmlns:a16="http://schemas.microsoft.com/office/drawing/2014/main" id="{98A66153-25A1-04D1-63BB-30EE1597D5ED}"/>
                  </a:ext>
                </a:extLst>
              </p:cNvPr>
              <p:cNvSpPr/>
              <p:nvPr/>
            </p:nvSpPr>
            <p:spPr>
              <a:xfrm>
                <a:off x="22154" y="2487872"/>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33" name="Rectangle 32">
                <a:extLst>
                  <a:ext uri="{FF2B5EF4-FFF2-40B4-BE49-F238E27FC236}">
                    <a16:creationId xmlns:a16="http://schemas.microsoft.com/office/drawing/2014/main" id="{454161B8-3694-938D-7BB4-FD6722B6FFC3}"/>
                  </a:ext>
                </a:extLst>
              </p:cNvPr>
              <p:cNvSpPr/>
              <p:nvPr/>
            </p:nvSpPr>
            <p:spPr>
              <a:xfrm>
                <a:off x="444664" y="2487872"/>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6" name="Rectangle 25">
                <a:extLst>
                  <a:ext uri="{FF2B5EF4-FFF2-40B4-BE49-F238E27FC236}">
                    <a16:creationId xmlns:a16="http://schemas.microsoft.com/office/drawing/2014/main" id="{C0085BB7-C684-B2EE-815E-2795CA2FD9B8}"/>
                  </a:ext>
                </a:extLst>
              </p:cNvPr>
              <p:cNvSpPr/>
              <p:nvPr/>
            </p:nvSpPr>
            <p:spPr>
              <a:xfrm>
                <a:off x="867174" y="2487446"/>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14</a:t>
                </a:r>
              </a:p>
            </p:txBody>
          </p:sp>
          <p:sp>
            <p:nvSpPr>
              <p:cNvPr id="27" name="Rectangle 26">
                <a:extLst>
                  <a:ext uri="{FF2B5EF4-FFF2-40B4-BE49-F238E27FC236}">
                    <a16:creationId xmlns:a16="http://schemas.microsoft.com/office/drawing/2014/main" id="{5B6E72A5-A54D-C3BF-00F0-5C0E3D2C021F}"/>
                  </a:ext>
                </a:extLst>
              </p:cNvPr>
              <p:cNvSpPr/>
              <p:nvPr/>
            </p:nvSpPr>
            <p:spPr>
              <a:xfrm>
                <a:off x="1289685" y="2487446"/>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grpSp>
        <p:nvGrpSpPr>
          <p:cNvPr id="5" name="Group 4" descr="The RecuriveTask objects for the subproblems will each return a node associated with its range with its sum field filled in (but a blank leftSum field).">
            <a:extLst>
              <a:ext uri="{FF2B5EF4-FFF2-40B4-BE49-F238E27FC236}">
                <a16:creationId xmlns:a16="http://schemas.microsoft.com/office/drawing/2014/main" id="{8886E35B-D60F-AF2A-2F02-DBF40A30CE7C}"/>
              </a:ext>
            </a:extLst>
          </p:cNvPr>
          <p:cNvGrpSpPr/>
          <p:nvPr/>
        </p:nvGrpSpPr>
        <p:grpSpPr>
          <a:xfrm>
            <a:off x="76835" y="3858969"/>
            <a:ext cx="3082042" cy="898702"/>
            <a:chOff x="76835" y="3858969"/>
            <a:chExt cx="3082042" cy="898702"/>
          </a:xfrm>
        </p:grpSpPr>
        <p:sp>
          <p:nvSpPr>
            <p:cNvPr id="36" name="Rectangle 35">
              <a:extLst>
                <a:ext uri="{FF2B5EF4-FFF2-40B4-BE49-F238E27FC236}">
                  <a16:creationId xmlns:a16="http://schemas.microsoft.com/office/drawing/2014/main" id="{48D0D686-F82C-293E-F7C9-7DDA6154264C}"/>
                </a:ext>
              </a:extLst>
            </p:cNvPr>
            <p:cNvSpPr/>
            <p:nvPr/>
          </p:nvSpPr>
          <p:spPr>
            <a:xfrm>
              <a:off x="76835" y="3858969"/>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37" name="Rectangle 36">
              <a:extLst>
                <a:ext uri="{FF2B5EF4-FFF2-40B4-BE49-F238E27FC236}">
                  <a16:creationId xmlns:a16="http://schemas.microsoft.com/office/drawing/2014/main" id="{4361BFC5-7226-50F0-3148-101ED2277E15}"/>
                </a:ext>
              </a:extLst>
            </p:cNvPr>
            <p:cNvSpPr/>
            <p:nvPr/>
          </p:nvSpPr>
          <p:spPr>
            <a:xfrm>
              <a:off x="1697107" y="3858969"/>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 </a:t>
              </a:r>
            </a:p>
            <a:p>
              <a:r>
                <a:rPr lang="en-US" sz="1600" dirty="0" err="1">
                  <a:solidFill>
                    <a:schemeClr val="tx1"/>
                  </a:solidFill>
                </a:rPr>
                <a:t>leftSum</a:t>
              </a:r>
              <a:r>
                <a:rPr lang="en-US" sz="1600" dirty="0">
                  <a:solidFill>
                    <a:schemeClr val="tx1"/>
                  </a:solidFill>
                </a:rPr>
                <a:t>:</a:t>
              </a:r>
            </a:p>
          </p:txBody>
        </p:sp>
      </p:grpSp>
      <p:grpSp>
        <p:nvGrpSpPr>
          <p:cNvPr id="6" name="Group 5" descr="Finally, we create a new node for the given range. Its left child will be the node returned by the left RecursiveTask, its right child will be the node returned by the right RecursiveTask. The sum of this node will found by adding together the sum field of the left child and right child.">
            <a:extLst>
              <a:ext uri="{FF2B5EF4-FFF2-40B4-BE49-F238E27FC236}">
                <a16:creationId xmlns:a16="http://schemas.microsoft.com/office/drawing/2014/main" id="{B9882CCC-08F5-1D48-1D89-C006E9BE5923}"/>
              </a:ext>
            </a:extLst>
          </p:cNvPr>
          <p:cNvGrpSpPr/>
          <p:nvPr/>
        </p:nvGrpSpPr>
        <p:grpSpPr>
          <a:xfrm>
            <a:off x="168475" y="4966618"/>
            <a:ext cx="2844519" cy="1798948"/>
            <a:chOff x="168475" y="4966618"/>
            <a:chExt cx="2844519" cy="1798948"/>
          </a:xfrm>
        </p:grpSpPr>
        <p:sp>
          <p:nvSpPr>
            <p:cNvPr id="38" name="Rectangle 37">
              <a:extLst>
                <a:ext uri="{FF2B5EF4-FFF2-40B4-BE49-F238E27FC236}">
                  <a16:creationId xmlns:a16="http://schemas.microsoft.com/office/drawing/2014/main" id="{0E55673F-0071-974C-3A06-AA6F49A23B34}"/>
                </a:ext>
              </a:extLst>
            </p:cNvPr>
            <p:cNvSpPr/>
            <p:nvPr/>
          </p:nvSpPr>
          <p:spPr>
            <a:xfrm>
              <a:off x="879711" y="4966618"/>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39" name="Rectangle 38">
              <a:extLst>
                <a:ext uri="{FF2B5EF4-FFF2-40B4-BE49-F238E27FC236}">
                  <a16:creationId xmlns:a16="http://schemas.microsoft.com/office/drawing/2014/main" id="{50E110DC-C04D-0ACB-0C13-CB41FFD6E30A}"/>
                </a:ext>
              </a:extLst>
            </p:cNvPr>
            <p:cNvSpPr/>
            <p:nvPr/>
          </p:nvSpPr>
          <p:spPr>
            <a:xfrm>
              <a:off x="168475" y="6074268"/>
              <a:ext cx="1124421" cy="69129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range: [0,4) </a:t>
              </a:r>
            </a:p>
            <a:p>
              <a:r>
                <a:rPr lang="en-US" sz="1200" dirty="0">
                  <a:solidFill>
                    <a:schemeClr val="tx1"/>
                  </a:solidFill>
                </a:rPr>
                <a:t>sum: 48</a:t>
              </a:r>
            </a:p>
            <a:p>
              <a:r>
                <a:rPr lang="en-US" sz="1200" dirty="0" err="1">
                  <a:solidFill>
                    <a:schemeClr val="tx1"/>
                  </a:solidFill>
                </a:rPr>
                <a:t>leftSum</a:t>
              </a:r>
              <a:r>
                <a:rPr lang="en-US" sz="1200" dirty="0">
                  <a:solidFill>
                    <a:schemeClr val="tx1"/>
                  </a:solidFill>
                </a:rPr>
                <a:t>:</a:t>
              </a:r>
            </a:p>
          </p:txBody>
        </p:sp>
        <p:sp>
          <p:nvSpPr>
            <p:cNvPr id="41" name="Rectangle 40">
              <a:extLst>
                <a:ext uri="{FF2B5EF4-FFF2-40B4-BE49-F238E27FC236}">
                  <a16:creationId xmlns:a16="http://schemas.microsoft.com/office/drawing/2014/main" id="{DFDDC95F-C783-CCBA-4532-D42C5F36EA67}"/>
                </a:ext>
              </a:extLst>
            </p:cNvPr>
            <p:cNvSpPr/>
            <p:nvPr/>
          </p:nvSpPr>
          <p:spPr>
            <a:xfrm>
              <a:off x="1888573" y="6074268"/>
              <a:ext cx="1124421" cy="69129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range: [4,8) </a:t>
              </a:r>
            </a:p>
            <a:p>
              <a:r>
                <a:rPr lang="en-US" sz="1200" dirty="0">
                  <a:solidFill>
                    <a:schemeClr val="tx1"/>
                  </a:solidFill>
                </a:rPr>
                <a:t>sum: 33</a:t>
              </a:r>
            </a:p>
            <a:p>
              <a:r>
                <a:rPr lang="en-US" sz="1200" dirty="0" err="1">
                  <a:solidFill>
                    <a:schemeClr val="tx1"/>
                  </a:solidFill>
                </a:rPr>
                <a:t>leftSum</a:t>
              </a:r>
              <a:r>
                <a:rPr lang="en-US" sz="1200" dirty="0">
                  <a:solidFill>
                    <a:schemeClr val="tx1"/>
                  </a:solidFill>
                </a:rPr>
                <a:t>:</a:t>
              </a:r>
            </a:p>
          </p:txBody>
        </p:sp>
        <p:cxnSp>
          <p:nvCxnSpPr>
            <p:cNvPr id="42" name="Straight Arrow Connector 41">
              <a:extLst>
                <a:ext uri="{FF2B5EF4-FFF2-40B4-BE49-F238E27FC236}">
                  <a16:creationId xmlns:a16="http://schemas.microsoft.com/office/drawing/2014/main" id="{9B5405F5-03AD-A84A-85F6-4C024D5C24DD}"/>
                </a:ext>
              </a:extLst>
            </p:cNvPr>
            <p:cNvCxnSpPr>
              <a:cxnSpLocks/>
              <a:stCxn id="38" idx="1"/>
              <a:endCxn id="39" idx="0"/>
            </p:cNvCxnSpPr>
            <p:nvPr/>
          </p:nvCxnSpPr>
          <p:spPr>
            <a:xfrm flipH="1">
              <a:off x="730686" y="5415969"/>
              <a:ext cx="149025" cy="6582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C304C39-6DA0-5771-C319-EF80E39DC6B0}"/>
                </a:ext>
              </a:extLst>
            </p:cNvPr>
            <p:cNvCxnSpPr>
              <a:cxnSpLocks/>
              <a:stCxn id="38" idx="3"/>
              <a:endCxn id="41" idx="0"/>
            </p:cNvCxnSpPr>
            <p:nvPr/>
          </p:nvCxnSpPr>
          <p:spPr>
            <a:xfrm>
              <a:off x="2341481" y="5415969"/>
              <a:ext cx="109303" cy="6582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1" name="Title 1">
            <a:extLst>
              <a:ext uri="{FF2B5EF4-FFF2-40B4-BE49-F238E27FC236}">
                <a16:creationId xmlns:a16="http://schemas.microsoft.com/office/drawing/2014/main" id="{F886BB5E-265E-CE70-0671-67B27F1DC8E7}"/>
              </a:ext>
            </a:extLst>
          </p:cNvPr>
          <p:cNvSpPr>
            <a:spLocks noGrp="1"/>
          </p:cNvSpPr>
          <p:nvPr>
            <p:ph type="title"/>
          </p:nvPr>
        </p:nvSpPr>
        <p:spPr>
          <a:xfrm>
            <a:off x="44967" y="-612"/>
            <a:ext cx="10515600" cy="1325563"/>
          </a:xfrm>
        </p:spPr>
        <p:txBody>
          <a:bodyPr/>
          <a:lstStyle/>
          <a:p>
            <a:r>
              <a:rPr lang="en-US" dirty="0"/>
              <a:t>Step 1: Create a Tree,</a:t>
            </a:r>
            <a:br>
              <a:rPr lang="en-US" dirty="0"/>
            </a:br>
            <a:r>
              <a:rPr lang="en-US" dirty="0"/>
              <a:t>		Fill in sum</a:t>
            </a:r>
          </a:p>
        </p:txBody>
      </p:sp>
    </p:spTree>
    <p:extLst>
      <p:ext uri="{BB962C8B-B14F-4D97-AF65-F5344CB8AC3E}">
        <p14:creationId xmlns:p14="http://schemas.microsoft.com/office/powerpoint/2010/main" val="1694503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FBF9C-B76F-974E-2402-F6709F0F72E8}"/>
              </a:ext>
            </a:extLst>
          </p:cNvPr>
          <p:cNvSpPr>
            <a:spLocks noGrp="1"/>
          </p:cNvSpPr>
          <p:nvPr>
            <p:ph type="title"/>
          </p:nvPr>
        </p:nvSpPr>
        <p:spPr>
          <a:xfrm>
            <a:off x="514815" y="247605"/>
            <a:ext cx="10870580" cy="1325563"/>
          </a:xfrm>
        </p:spPr>
        <p:txBody>
          <a:bodyPr/>
          <a:lstStyle/>
          <a:p>
            <a:r>
              <a:rPr lang="en-US" dirty="0"/>
              <a:t>Step 1 pseudocode (create tree, compute sum)</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64F78C3-E5E9-7E8C-45D5-25B4345E016D}"/>
                  </a:ext>
                </a:extLst>
              </p:cNvPr>
              <p:cNvSpPr txBox="1"/>
              <p:nvPr/>
            </p:nvSpPr>
            <p:spPr>
              <a:xfrm>
                <a:off x="838200" y="1316638"/>
                <a:ext cx="10223810" cy="5293757"/>
              </a:xfrm>
              <a:prstGeom prst="rect">
                <a:avLst/>
              </a:prstGeom>
              <a:noFill/>
            </p:spPr>
            <p:txBody>
              <a:bodyPr wrap="square" rtlCol="0">
                <a:spAutoFit/>
              </a:bodyPr>
              <a:lstStyle/>
              <a:p>
                <a:r>
                  <a:rPr lang="en-US" sz="2600" b="1" dirty="0" err="1"/>
                  <a:t>BuildTree</a:t>
                </a:r>
                <a:r>
                  <a:rPr lang="en-US" sz="2600" dirty="0"/>
                  <a:t>(</a:t>
                </a:r>
                <a:r>
                  <a:rPr lang="en-US" sz="2600" dirty="0" err="1"/>
                  <a:t>arr</a:t>
                </a:r>
                <a:r>
                  <a:rPr lang="en-US" sz="2600" dirty="0"/>
                  <a:t>)</a:t>
                </a:r>
              </a:p>
              <a:p>
                <a:pPr marL="457200" indent="-457200">
                  <a:buFont typeface="+mj-lt"/>
                  <a:buAutoNum type="arabicPeriod"/>
                </a:pPr>
                <a:r>
                  <a:rPr lang="en-US" sz="2600" b="1" dirty="0"/>
                  <a:t>If </a:t>
                </a:r>
                <a:r>
                  <a:rPr lang="en-US" sz="2600" dirty="0" err="1"/>
                  <a:t>len</a:t>
                </a:r>
                <a:r>
                  <a:rPr lang="en-US" sz="2600" dirty="0"/>
                  <a:t>(</a:t>
                </a:r>
                <a:r>
                  <a:rPr lang="en-US" sz="2600" dirty="0" err="1"/>
                  <a:t>arr</a:t>
                </a:r>
                <a:r>
                  <a:rPr lang="en-US" sz="2600" dirty="0"/>
                  <a:t>) &lt; </a:t>
                </a:r>
                <a14:m>
                  <m:oMath xmlns:m="http://schemas.openxmlformats.org/officeDocument/2006/math">
                    <m:r>
                      <a:rPr lang="en-US" sz="2600" b="0" i="1" smtClean="0">
                        <a:latin typeface="Cambria Math" panose="02040503050406030204" pitchFamily="18" charset="0"/>
                      </a:rPr>
                      <m:t>ℓ</m:t>
                    </m:r>
                  </m:oMath>
                </a14:m>
                <a:r>
                  <a:rPr lang="en-US" sz="2600" b="0" dirty="0"/>
                  <a:t>: </a:t>
                </a:r>
                <a:endParaRPr lang="en-US" sz="2600" dirty="0"/>
              </a:p>
              <a:p>
                <a:pPr marL="914400" lvl="1" indent="-457200">
                  <a:buFont typeface="+mj-lt"/>
                  <a:buAutoNum type="arabicPeriod"/>
                </a:pPr>
                <a:r>
                  <a:rPr lang="en-US" sz="2600" b="0" dirty="0"/>
                  <a:t>Create new </a:t>
                </a:r>
                <a:r>
                  <a:rPr lang="en-US" sz="2600" b="0" dirty="0" err="1"/>
                  <a:t>TreeNode</a:t>
                </a:r>
                <a:r>
                  <a:rPr lang="en-US" sz="2600" b="0" dirty="0"/>
                  <a:t> </a:t>
                </a:r>
                <a:r>
                  <a:rPr lang="en-US" sz="2600" dirty="0">
                    <a:solidFill>
                      <a:schemeClr val="accent6"/>
                    </a:solidFill>
                  </a:rPr>
                  <a:t>Leaf</a:t>
                </a:r>
              </a:p>
              <a:p>
                <a:pPr marL="914400" lvl="1" indent="-457200">
                  <a:buFont typeface="+mj-lt"/>
                  <a:buAutoNum type="arabicPeriod"/>
                </a:pPr>
                <a:r>
                  <a:rPr lang="en-US" sz="2600" b="0" dirty="0"/>
                  <a:t>Set </a:t>
                </a:r>
                <a:r>
                  <a:rPr lang="en-US" sz="2600" b="0" dirty="0" err="1">
                    <a:solidFill>
                      <a:schemeClr val="accent6"/>
                    </a:solidFill>
                  </a:rPr>
                  <a:t>Leaf</a:t>
                </a:r>
                <a:r>
                  <a:rPr lang="en-US" sz="2600" b="0" dirty="0" err="1"/>
                  <a:t>.sum</a:t>
                </a:r>
                <a:r>
                  <a:rPr lang="en-US" sz="2600" dirty="0"/>
                  <a:t> = sum of values in </a:t>
                </a:r>
                <a:r>
                  <a:rPr lang="en-US" sz="2600" dirty="0" err="1"/>
                  <a:t>arr</a:t>
                </a:r>
                <a:r>
                  <a:rPr lang="en-US" sz="2600" dirty="0"/>
                  <a:t> and return </a:t>
                </a:r>
                <a:r>
                  <a:rPr lang="en-US" sz="2600" dirty="0">
                    <a:solidFill>
                      <a:schemeClr val="accent6"/>
                    </a:solidFill>
                  </a:rPr>
                  <a:t>Leaf</a:t>
                </a:r>
                <a:endParaRPr lang="en-US" sz="2600" b="0" dirty="0"/>
              </a:p>
              <a:p>
                <a:pPr marL="457200" indent="-457200">
                  <a:buFont typeface="+mj-lt"/>
                  <a:buAutoNum type="arabicPeriod"/>
                </a:pPr>
                <a:r>
                  <a:rPr lang="en-US" sz="2600" b="1" dirty="0"/>
                  <a:t>Else:</a:t>
                </a:r>
              </a:p>
              <a:p>
                <a:pPr marL="914400" lvl="1" indent="-457200">
                  <a:buFont typeface="+mj-lt"/>
                  <a:buAutoNum type="arabicPeriod"/>
                </a:pPr>
                <a:r>
                  <a:rPr lang="en-US" sz="2600" u="sng" dirty="0"/>
                  <a:t>Divide</a:t>
                </a:r>
                <a:r>
                  <a:rPr lang="en-US" sz="2600" dirty="0"/>
                  <a:t> </a:t>
                </a:r>
                <a:r>
                  <a:rPr lang="en-US" sz="2600" dirty="0" err="1"/>
                  <a:t>arr</a:t>
                </a:r>
                <a:r>
                  <a:rPr lang="en-US" sz="2600" dirty="0"/>
                  <a:t> in half into arr1 and arr2</a:t>
                </a:r>
              </a:p>
              <a:p>
                <a:pPr marL="914400" lvl="1" indent="-457200">
                  <a:buFont typeface="+mj-lt"/>
                  <a:buAutoNum type="arabicPeriod"/>
                </a:pPr>
                <a:r>
                  <a:rPr lang="en-US" sz="2600" u="sng" dirty="0"/>
                  <a:t>Conquer:</a:t>
                </a:r>
                <a:r>
                  <a:rPr lang="en-US" sz="2600" dirty="0"/>
                  <a:t> </a:t>
                </a:r>
                <a:r>
                  <a:rPr lang="en-US" sz="2600" dirty="0" err="1"/>
                  <a:t>TreeNode</a:t>
                </a:r>
                <a:r>
                  <a:rPr lang="en-US" sz="2600" dirty="0"/>
                  <a:t> </a:t>
                </a:r>
                <a:r>
                  <a:rPr lang="en-US" sz="2600" dirty="0" err="1">
                    <a:solidFill>
                      <a:schemeClr val="accent6"/>
                    </a:solidFill>
                  </a:rPr>
                  <a:t>leftChild</a:t>
                </a:r>
                <a:r>
                  <a:rPr lang="en-US" sz="2600" dirty="0"/>
                  <a:t> = </a:t>
                </a:r>
                <a:r>
                  <a:rPr lang="en-US" sz="2600" b="1" dirty="0" err="1"/>
                  <a:t>BuildTree</a:t>
                </a:r>
                <a:r>
                  <a:rPr lang="en-US" sz="2600" dirty="0"/>
                  <a:t>(arr1) in </a:t>
                </a:r>
                <a:r>
                  <a:rPr lang="en-US" sz="2600" u="sng" dirty="0"/>
                  <a:t>new</a:t>
                </a:r>
                <a:r>
                  <a:rPr lang="en-US" sz="2600" dirty="0"/>
                  <a:t> thread, </a:t>
                </a:r>
                <a:r>
                  <a:rPr lang="en-US" sz="2600" dirty="0" err="1"/>
                  <a:t>TreeNode</a:t>
                </a:r>
                <a:r>
                  <a:rPr lang="en-US" sz="2600" dirty="0"/>
                  <a:t> </a:t>
                </a:r>
                <a:r>
                  <a:rPr lang="en-US" sz="2600" dirty="0" err="1">
                    <a:solidFill>
                      <a:schemeClr val="accent6"/>
                    </a:solidFill>
                  </a:rPr>
                  <a:t>rightChild</a:t>
                </a:r>
                <a:r>
                  <a:rPr lang="en-US" sz="2600" dirty="0"/>
                  <a:t> = </a:t>
                </a:r>
                <a:r>
                  <a:rPr lang="en-US" sz="2600" b="1" dirty="0" err="1"/>
                  <a:t>BuildTree</a:t>
                </a:r>
                <a:r>
                  <a:rPr lang="en-US" sz="2600" dirty="0"/>
                  <a:t>(arr2) in </a:t>
                </a:r>
                <a:r>
                  <a:rPr lang="en-US" sz="2600" u="sng" dirty="0"/>
                  <a:t>this</a:t>
                </a:r>
                <a:r>
                  <a:rPr lang="en-US" sz="2600" dirty="0"/>
                  <a:t> thread</a:t>
                </a:r>
              </a:p>
              <a:p>
                <a:pPr marL="914400" lvl="1" indent="-457200">
                  <a:buFont typeface="+mj-lt"/>
                  <a:buAutoNum type="arabicPeriod"/>
                </a:pPr>
                <a:r>
                  <a:rPr lang="en-US" sz="2600" u="sng" dirty="0"/>
                  <a:t>Wait</a:t>
                </a:r>
                <a:r>
                  <a:rPr lang="en-US" sz="2600" dirty="0"/>
                  <a:t> for parallel computations to finish</a:t>
                </a:r>
                <a:endParaRPr lang="en-US" sz="2600" u="sng" dirty="0"/>
              </a:p>
              <a:p>
                <a:pPr marL="914400" lvl="1" indent="-457200">
                  <a:buFont typeface="+mj-lt"/>
                  <a:buAutoNum type="arabicPeriod"/>
                </a:pPr>
                <a:r>
                  <a:rPr lang="en-US" sz="2600" u="sng" dirty="0"/>
                  <a:t>Combine:</a:t>
                </a:r>
                <a:r>
                  <a:rPr lang="en-US" sz="2600" dirty="0"/>
                  <a:t> Create </a:t>
                </a:r>
                <a:r>
                  <a:rPr lang="en-US" sz="2600" dirty="0" err="1"/>
                  <a:t>TreeNode</a:t>
                </a:r>
                <a:r>
                  <a:rPr lang="en-US" sz="2600" dirty="0"/>
                  <a:t> </a:t>
                </a:r>
                <a:r>
                  <a:rPr lang="en-US" sz="2600" dirty="0">
                    <a:solidFill>
                      <a:schemeClr val="accent1"/>
                    </a:solidFill>
                  </a:rPr>
                  <a:t>parent</a:t>
                </a:r>
                <a:r>
                  <a:rPr lang="en-US" sz="2600" dirty="0"/>
                  <a:t>, set </a:t>
                </a:r>
                <a:r>
                  <a:rPr lang="en-US" sz="2600" dirty="0" err="1">
                    <a:solidFill>
                      <a:schemeClr val="accent1"/>
                    </a:solidFill>
                  </a:rPr>
                  <a:t>parent</a:t>
                </a:r>
                <a:r>
                  <a:rPr lang="en-US" sz="2600" dirty="0" err="1"/>
                  <a:t>.sum</a:t>
                </a:r>
                <a:r>
                  <a:rPr lang="en-US" sz="2600" dirty="0"/>
                  <a:t> = </a:t>
                </a:r>
                <a:r>
                  <a:rPr lang="en-US" sz="2600" dirty="0" err="1">
                    <a:solidFill>
                      <a:schemeClr val="accent6"/>
                    </a:solidFill>
                  </a:rPr>
                  <a:t>leftChild</a:t>
                </a:r>
                <a:r>
                  <a:rPr lang="en-US" sz="2600" dirty="0" err="1"/>
                  <a:t>.sum</a:t>
                </a:r>
                <a:r>
                  <a:rPr lang="en-US" sz="2600" dirty="0"/>
                  <a:t> + </a:t>
                </a:r>
                <a:r>
                  <a:rPr lang="en-US" sz="2600" dirty="0" err="1">
                    <a:solidFill>
                      <a:schemeClr val="accent6"/>
                    </a:solidFill>
                  </a:rPr>
                  <a:t>rightChild</a:t>
                </a:r>
                <a:r>
                  <a:rPr lang="en-US" sz="2600" dirty="0" err="1"/>
                  <a:t>.sum</a:t>
                </a:r>
                <a:r>
                  <a:rPr lang="en-US" sz="2600" dirty="0"/>
                  <a:t>, </a:t>
                </a:r>
                <a:r>
                  <a:rPr lang="en-US" sz="2600" dirty="0" err="1">
                    <a:solidFill>
                      <a:schemeClr val="accent1"/>
                    </a:solidFill>
                  </a:rPr>
                  <a:t>parent</a:t>
                </a:r>
                <a:r>
                  <a:rPr lang="en-US" sz="2600" dirty="0" err="1"/>
                  <a:t>.left</a:t>
                </a:r>
                <a:r>
                  <a:rPr lang="en-US" sz="2600" dirty="0"/>
                  <a:t> = </a:t>
                </a:r>
                <a:r>
                  <a:rPr lang="en-US" sz="2600" dirty="0" err="1">
                    <a:solidFill>
                      <a:schemeClr val="accent6"/>
                    </a:solidFill>
                  </a:rPr>
                  <a:t>leftChild</a:t>
                </a:r>
                <a:r>
                  <a:rPr lang="en-US" sz="2600" dirty="0"/>
                  <a:t>, </a:t>
                </a:r>
                <a:r>
                  <a:rPr lang="en-US" sz="2600" dirty="0" err="1">
                    <a:solidFill>
                      <a:schemeClr val="accent1"/>
                    </a:solidFill>
                  </a:rPr>
                  <a:t>parent</a:t>
                </a:r>
                <a:r>
                  <a:rPr lang="en-US" sz="2600" dirty="0" err="1"/>
                  <a:t>.right</a:t>
                </a:r>
                <a:r>
                  <a:rPr lang="en-US" sz="2600" dirty="0"/>
                  <a:t> = </a:t>
                </a:r>
                <a:r>
                  <a:rPr lang="en-US" sz="2600" dirty="0" err="1">
                    <a:solidFill>
                      <a:schemeClr val="accent6"/>
                    </a:solidFill>
                  </a:rPr>
                  <a:t>rightChild</a:t>
                </a:r>
                <a:endParaRPr lang="en-US" sz="2600" dirty="0">
                  <a:solidFill>
                    <a:schemeClr val="accent6"/>
                  </a:solidFill>
                </a:endParaRPr>
              </a:p>
              <a:p>
                <a:pPr marL="914400" lvl="1" indent="-457200">
                  <a:buFont typeface="+mj-lt"/>
                  <a:buAutoNum type="arabicPeriod"/>
                </a:pPr>
                <a:r>
                  <a:rPr lang="en-US" sz="2600" u="sng" dirty="0"/>
                  <a:t>Return</a:t>
                </a:r>
                <a:r>
                  <a:rPr lang="en-US" sz="2600" dirty="0">
                    <a:solidFill>
                      <a:schemeClr val="accent6"/>
                    </a:solidFill>
                  </a:rPr>
                  <a:t> </a:t>
                </a:r>
                <a:r>
                  <a:rPr lang="en-US" sz="2600" dirty="0">
                    <a:solidFill>
                      <a:schemeClr val="accent1"/>
                    </a:solidFill>
                  </a:rPr>
                  <a:t>parent</a:t>
                </a:r>
                <a:endParaRPr lang="en-US" sz="2600" u="sng" dirty="0">
                  <a:solidFill>
                    <a:schemeClr val="accent1"/>
                  </a:solidFill>
                </a:endParaRPr>
              </a:p>
              <a:p>
                <a:pPr marL="457200" indent="-457200">
                  <a:buFont typeface="+mj-lt"/>
                  <a:buAutoNum type="arabicPeriod"/>
                </a:pPr>
                <a:endParaRPr lang="en-US" sz="2600" dirty="0"/>
              </a:p>
            </p:txBody>
          </p:sp>
        </mc:Choice>
        <mc:Fallback xmlns="">
          <p:sp>
            <p:nvSpPr>
              <p:cNvPr id="3" name="TextBox 2">
                <a:extLst>
                  <a:ext uri="{FF2B5EF4-FFF2-40B4-BE49-F238E27FC236}">
                    <a16:creationId xmlns:a16="http://schemas.microsoft.com/office/drawing/2014/main" id="{B64F78C3-E5E9-7E8C-45D5-25B4345E016D}"/>
                  </a:ext>
                </a:extLst>
              </p:cNvPr>
              <p:cNvSpPr txBox="1">
                <a:spLocks noRot="1" noChangeAspect="1" noMove="1" noResize="1" noEditPoints="1" noAdjustHandles="1" noChangeArrowheads="1" noChangeShapeType="1" noTextEdit="1"/>
              </p:cNvSpPr>
              <p:nvPr/>
            </p:nvSpPr>
            <p:spPr>
              <a:xfrm>
                <a:off x="838200" y="1316638"/>
                <a:ext cx="10223810" cy="5293757"/>
              </a:xfrm>
              <a:prstGeom prst="rect">
                <a:avLst/>
              </a:prstGeom>
              <a:blipFill>
                <a:blip r:embed="rId2"/>
                <a:stretch>
                  <a:fillRect l="-1117" t="-957" r="-1241"/>
                </a:stretch>
              </a:blipFill>
            </p:spPr>
            <p:txBody>
              <a:bodyPr/>
              <a:lstStyle/>
              <a:p>
                <a:r>
                  <a:rPr lang="en-US">
                    <a:noFill/>
                  </a:rPr>
                  <a:t> </a:t>
                </a:r>
              </a:p>
            </p:txBody>
          </p:sp>
        </mc:Fallback>
      </mc:AlternateContent>
    </p:spTree>
    <p:extLst>
      <p:ext uri="{BB962C8B-B14F-4D97-AF65-F5344CB8AC3E}">
        <p14:creationId xmlns:p14="http://schemas.microsoft.com/office/powerpoint/2010/main" val="184590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480098" y="147320"/>
            <a:ext cx="7614920" cy="6380480"/>
          </a:xfrm>
        </p:spPr>
        <p:txBody>
          <a:bodyPr>
            <a:normAutofit fontScale="55000" lnSpcReduction="20000"/>
          </a:bodyPr>
          <a:lstStyle/>
          <a:p>
            <a:pPr marL="0" indent="0">
              <a:buNone/>
            </a:pPr>
            <a:r>
              <a:rPr lang="en-US" dirty="0"/>
              <a:t>class </a:t>
            </a:r>
            <a:r>
              <a:rPr lang="en-US" dirty="0" err="1"/>
              <a:t>BuildTreeTask</a:t>
            </a:r>
            <a:r>
              <a:rPr lang="en-US" dirty="0"/>
              <a:t> extends </a:t>
            </a:r>
            <a:r>
              <a:rPr lang="en-US" dirty="0" err="1"/>
              <a:t>RecursiveTask</a:t>
            </a:r>
            <a:r>
              <a:rPr lang="en-US" dirty="0"/>
              <a:t>&lt;</a:t>
            </a:r>
            <a:r>
              <a:rPr lang="en-US" dirty="0" err="1"/>
              <a:t>PrefixSumNode</a:t>
            </a:r>
            <a:r>
              <a:rPr lang="en-US" dirty="0"/>
              <a:t>&gt; { </a:t>
            </a:r>
          </a:p>
          <a:p>
            <a:pPr marL="0" indent="0">
              <a:buNone/>
            </a:pPr>
            <a:r>
              <a:rPr lang="en-US" dirty="0"/>
              <a:t>	int lo; int hi; int[] </a:t>
            </a:r>
            <a:r>
              <a:rPr lang="en-US" dirty="0" err="1"/>
              <a:t>arr</a:t>
            </a:r>
            <a:r>
              <a:rPr lang="en-US" dirty="0"/>
              <a:t>;</a:t>
            </a:r>
          </a:p>
          <a:p>
            <a:pPr marL="0" indent="0">
              <a:buNone/>
            </a:pPr>
            <a:r>
              <a:rPr lang="en-US" dirty="0"/>
              <a:t>	public </a:t>
            </a:r>
            <a:r>
              <a:rPr lang="en-US" dirty="0" err="1"/>
              <a:t>BuildTreeTask</a:t>
            </a:r>
            <a:r>
              <a:rPr lang="en-US" dirty="0"/>
              <a:t>(int lo, int hi, int[] </a:t>
            </a:r>
            <a:r>
              <a:rPr lang="en-US" dirty="0" err="1"/>
              <a:t>arr</a:t>
            </a:r>
            <a:r>
              <a:rPr lang="en-US" dirty="0"/>
              <a:t>) {…}</a:t>
            </a:r>
          </a:p>
          <a:p>
            <a:pPr marL="0" indent="0">
              <a:buNone/>
            </a:pPr>
            <a:r>
              <a:rPr lang="en-US" dirty="0"/>
              <a:t>	protected </a:t>
            </a:r>
            <a:r>
              <a:rPr lang="en-US" dirty="0" err="1"/>
              <a:t>PrefixSumNode</a:t>
            </a:r>
            <a:r>
              <a:rPr lang="en-US" dirty="0"/>
              <a:t> compute(){ </a:t>
            </a:r>
          </a:p>
          <a:p>
            <a:pPr marL="0" indent="0">
              <a:buNone/>
            </a:pPr>
            <a:r>
              <a:rPr lang="en-US" dirty="0"/>
              <a:t>		if(hi – lo &lt; SEQUENTIAL_CUTOFF) {  // base case</a:t>
            </a:r>
          </a:p>
          <a:p>
            <a:pPr marL="0" indent="0">
              <a:buNone/>
            </a:pPr>
            <a:r>
              <a:rPr lang="en-US" dirty="0"/>
              <a:t>			int </a:t>
            </a:r>
            <a:r>
              <a:rPr lang="en-US" dirty="0" err="1"/>
              <a:t>ans</a:t>
            </a:r>
            <a:r>
              <a:rPr lang="en-US" dirty="0"/>
              <a:t> = 0; // local var, not a field </a:t>
            </a:r>
          </a:p>
          <a:p>
            <a:pPr marL="0" indent="0">
              <a:buNone/>
            </a:pPr>
            <a:r>
              <a:rPr lang="en-US" dirty="0"/>
              <a:t>			for(int </a:t>
            </a:r>
            <a:r>
              <a:rPr lang="en-US" dirty="0" err="1"/>
              <a:t>i</a:t>
            </a:r>
            <a:r>
              <a:rPr lang="en-US" dirty="0"/>
              <a:t>=lo; </a:t>
            </a:r>
            <a:r>
              <a:rPr lang="en-US" dirty="0" err="1"/>
              <a:t>i</a:t>
            </a:r>
            <a:r>
              <a:rPr lang="en-US" dirty="0"/>
              <a:t> &lt; hi; </a:t>
            </a:r>
            <a:r>
              <a:rPr lang="en-US" dirty="0" err="1"/>
              <a:t>i</a:t>
            </a:r>
            <a:r>
              <a:rPr lang="en-US" dirty="0"/>
              <a:t>++)</a:t>
            </a:r>
          </a:p>
          <a:p>
            <a:pPr marL="0" indent="0">
              <a:buNone/>
            </a:pPr>
            <a:r>
              <a:rPr lang="en-US" dirty="0"/>
              <a:t>				</a:t>
            </a:r>
            <a:r>
              <a:rPr lang="en-US" dirty="0" err="1"/>
              <a:t>ans</a:t>
            </a:r>
            <a:r>
              <a:rPr lang="en-US" dirty="0"/>
              <a:t> += </a:t>
            </a:r>
            <a:r>
              <a:rPr lang="en-US" dirty="0" err="1"/>
              <a:t>arr</a:t>
            </a:r>
            <a:r>
              <a:rPr lang="en-US" dirty="0"/>
              <a:t>[</a:t>
            </a:r>
            <a:r>
              <a:rPr lang="en-US" dirty="0" err="1"/>
              <a:t>i</a:t>
            </a:r>
            <a:r>
              <a:rPr lang="en-US" dirty="0"/>
              <a:t>];</a:t>
            </a:r>
          </a:p>
          <a:p>
            <a:pPr marL="0" indent="0">
              <a:buNone/>
            </a:pPr>
            <a:r>
              <a:rPr lang="en-US" dirty="0"/>
              <a:t>			return new </a:t>
            </a:r>
            <a:r>
              <a:rPr lang="en-US" dirty="0" err="1"/>
              <a:t>PrefixSumNode</a:t>
            </a:r>
            <a:r>
              <a:rPr lang="en-US" dirty="0"/>
              <a:t>(lo, hi, </a:t>
            </a:r>
            <a:r>
              <a:rPr lang="en-US" dirty="0" err="1"/>
              <a:t>ans</a:t>
            </a:r>
            <a:r>
              <a:rPr lang="en-US" dirty="0"/>
              <a:t>); } </a:t>
            </a:r>
          </a:p>
          <a:p>
            <a:pPr marL="0" indent="0">
              <a:buNone/>
            </a:pPr>
            <a:r>
              <a:rPr lang="en-US" dirty="0"/>
              <a:t>		else { </a:t>
            </a:r>
          </a:p>
          <a:p>
            <a:pPr marL="0" indent="0">
              <a:buNone/>
            </a:pPr>
            <a:r>
              <a:rPr lang="en-US" dirty="0"/>
              <a:t>			</a:t>
            </a:r>
            <a:r>
              <a:rPr lang="en-US" dirty="0" err="1"/>
              <a:t>BuildTreeTask</a:t>
            </a:r>
            <a:r>
              <a:rPr lang="en-US" dirty="0"/>
              <a:t> left = new </a:t>
            </a:r>
            <a:r>
              <a:rPr lang="en-US" dirty="0" err="1"/>
              <a:t>BuildTreeTask</a:t>
            </a:r>
            <a:r>
              <a:rPr lang="en-US" dirty="0"/>
              <a:t>(</a:t>
            </a:r>
            <a:r>
              <a:rPr lang="en-US" dirty="0" err="1"/>
              <a:t>arr,lo</a:t>
            </a:r>
            <a:r>
              <a:rPr lang="en-US" dirty="0"/>
              <a:t>,(</a:t>
            </a:r>
            <a:r>
              <a:rPr lang="en-US" dirty="0" err="1"/>
              <a:t>hi+lo</a:t>
            </a:r>
            <a:r>
              <a:rPr lang="en-US" dirty="0"/>
              <a:t>)/2);</a:t>
            </a:r>
          </a:p>
          <a:p>
            <a:pPr marL="0" indent="0">
              <a:buNone/>
            </a:pPr>
            <a:r>
              <a:rPr lang="en-US" dirty="0"/>
              <a:t>			</a:t>
            </a:r>
            <a:r>
              <a:rPr lang="en-US" dirty="0" err="1"/>
              <a:t>BuildTreeTask</a:t>
            </a:r>
            <a:r>
              <a:rPr lang="en-US" dirty="0"/>
              <a:t> right= new </a:t>
            </a:r>
            <a:r>
              <a:rPr lang="en-US" dirty="0" err="1"/>
              <a:t>BuildTreeTask</a:t>
            </a:r>
            <a:r>
              <a:rPr lang="en-US" dirty="0"/>
              <a:t>(</a:t>
            </a:r>
            <a:r>
              <a:rPr lang="en-US" dirty="0" err="1"/>
              <a:t>arr</a:t>
            </a:r>
            <a:r>
              <a:rPr lang="en-US" dirty="0"/>
              <a:t>,(</a:t>
            </a:r>
            <a:r>
              <a:rPr lang="en-US" dirty="0" err="1"/>
              <a:t>hi+lo</a:t>
            </a:r>
            <a:r>
              <a:rPr lang="en-US" dirty="0"/>
              <a:t>)/2,hi); </a:t>
            </a:r>
          </a:p>
          <a:p>
            <a:pPr marL="0" indent="0">
              <a:buNone/>
            </a:pPr>
            <a:r>
              <a:rPr lang="en-US" dirty="0"/>
              <a:t>			</a:t>
            </a:r>
            <a:r>
              <a:rPr lang="en-US" dirty="0" err="1"/>
              <a:t>left.fork</a:t>
            </a:r>
            <a:r>
              <a:rPr lang="en-US" dirty="0"/>
              <a:t>(); </a:t>
            </a:r>
          </a:p>
          <a:p>
            <a:pPr marL="0" indent="0">
              <a:buNone/>
            </a:pPr>
            <a:r>
              <a:rPr lang="en-US" dirty="0"/>
              <a:t>			</a:t>
            </a:r>
            <a:r>
              <a:rPr lang="en-US" dirty="0" err="1"/>
              <a:t>PrefixSumNode</a:t>
            </a:r>
            <a:r>
              <a:rPr lang="en-US" dirty="0"/>
              <a:t> </a:t>
            </a:r>
            <a:r>
              <a:rPr lang="en-US" dirty="0" err="1"/>
              <a:t>rightChild</a:t>
            </a:r>
            <a:r>
              <a:rPr lang="en-US" dirty="0"/>
              <a:t> = </a:t>
            </a:r>
            <a:r>
              <a:rPr lang="en-US" dirty="0" err="1"/>
              <a:t>right.compute</a:t>
            </a:r>
            <a:r>
              <a:rPr lang="en-US" dirty="0"/>
              <a:t>(); </a:t>
            </a:r>
          </a:p>
          <a:p>
            <a:pPr marL="0" indent="0">
              <a:buNone/>
            </a:pPr>
            <a:r>
              <a:rPr lang="en-US" dirty="0"/>
              <a:t>			</a:t>
            </a:r>
            <a:r>
              <a:rPr lang="en-US" dirty="0" err="1"/>
              <a:t>PrefixSumNode</a:t>
            </a:r>
            <a:r>
              <a:rPr lang="en-US" dirty="0"/>
              <a:t> </a:t>
            </a:r>
            <a:r>
              <a:rPr lang="en-US" dirty="0" err="1"/>
              <a:t>leftChild</a:t>
            </a:r>
            <a:r>
              <a:rPr lang="en-US" dirty="0"/>
              <a:t> = </a:t>
            </a:r>
            <a:r>
              <a:rPr lang="en-US" dirty="0" err="1"/>
              <a:t>left.join</a:t>
            </a:r>
            <a:r>
              <a:rPr lang="en-US" dirty="0"/>
              <a:t>(); </a:t>
            </a:r>
          </a:p>
          <a:p>
            <a:pPr marL="0" indent="0">
              <a:buNone/>
            </a:pPr>
            <a:r>
              <a:rPr lang="en-US" dirty="0"/>
              <a:t>			int </a:t>
            </a:r>
            <a:r>
              <a:rPr lang="en-US" dirty="0" err="1"/>
              <a:t>ans</a:t>
            </a:r>
            <a:r>
              <a:rPr lang="en-US" dirty="0"/>
              <a:t> = </a:t>
            </a:r>
            <a:r>
              <a:rPr lang="en-US" dirty="0" err="1"/>
              <a:t>rightChild.sum</a:t>
            </a:r>
            <a:r>
              <a:rPr lang="en-US" dirty="0"/>
              <a:t> + </a:t>
            </a:r>
            <a:r>
              <a:rPr lang="en-US" dirty="0" err="1"/>
              <a:t>leftChild.sum</a:t>
            </a:r>
            <a:r>
              <a:rPr lang="en-US" dirty="0"/>
              <a:t>;</a:t>
            </a:r>
          </a:p>
          <a:p>
            <a:pPr marL="0" indent="0">
              <a:buNone/>
            </a:pPr>
            <a:r>
              <a:rPr lang="en-US" dirty="0"/>
              <a:t>			parent = new </a:t>
            </a:r>
            <a:r>
              <a:rPr lang="en-US" dirty="0" err="1"/>
              <a:t>PrefixSumNode</a:t>
            </a:r>
            <a:r>
              <a:rPr lang="en-US" dirty="0"/>
              <a:t>(lo, hi, </a:t>
            </a:r>
            <a:r>
              <a:rPr lang="en-US" dirty="0" err="1"/>
              <a:t>ans</a:t>
            </a:r>
            <a:r>
              <a:rPr lang="en-US" dirty="0"/>
              <a:t>);</a:t>
            </a:r>
          </a:p>
          <a:p>
            <a:pPr marL="0" indent="0">
              <a:buNone/>
            </a:pPr>
            <a:r>
              <a:rPr lang="en-US" dirty="0"/>
              <a:t>			</a:t>
            </a:r>
            <a:r>
              <a:rPr lang="en-US" dirty="0" err="1"/>
              <a:t>parent.left</a:t>
            </a:r>
            <a:r>
              <a:rPr lang="en-US" dirty="0"/>
              <a:t> = </a:t>
            </a:r>
            <a:r>
              <a:rPr lang="en-US" dirty="0" err="1"/>
              <a:t>leftChild</a:t>
            </a:r>
            <a:r>
              <a:rPr lang="en-US" dirty="0"/>
              <a:t>;</a:t>
            </a:r>
          </a:p>
          <a:p>
            <a:pPr marL="0" indent="0">
              <a:buNone/>
            </a:pPr>
            <a:r>
              <a:rPr lang="en-US" dirty="0"/>
              <a:t>			</a:t>
            </a:r>
            <a:r>
              <a:rPr lang="en-US" dirty="0" err="1"/>
              <a:t>parent.right</a:t>
            </a:r>
            <a:r>
              <a:rPr lang="en-US" dirty="0"/>
              <a:t> = </a:t>
            </a:r>
            <a:r>
              <a:rPr lang="en-US" dirty="0" err="1"/>
              <a:t>rightChild</a:t>
            </a:r>
            <a:r>
              <a:rPr lang="en-US" dirty="0"/>
              <a:t>;</a:t>
            </a:r>
          </a:p>
          <a:p>
            <a:pPr marL="0" indent="0">
              <a:buNone/>
            </a:pPr>
            <a:r>
              <a:rPr lang="en-US" dirty="0"/>
              <a:t>			return parent; } </a:t>
            </a:r>
          </a:p>
          <a:p>
            <a:pPr marL="0" indent="0">
              <a:buNone/>
            </a:pPr>
            <a:r>
              <a:rPr lang="en-US" dirty="0"/>
              <a:t>	} </a:t>
            </a:r>
          </a:p>
          <a:p>
            <a:pPr marL="0" indent="0">
              <a:buNone/>
            </a:pPr>
            <a:r>
              <a:rPr lang="en-US" dirty="0"/>
              <a:t>} </a:t>
            </a:r>
          </a:p>
        </p:txBody>
      </p:sp>
      <p:sp>
        <p:nvSpPr>
          <p:cNvPr id="2" name="Title 1">
            <a:extLst>
              <a:ext uri="{FF2B5EF4-FFF2-40B4-BE49-F238E27FC236}">
                <a16:creationId xmlns:a16="http://schemas.microsoft.com/office/drawing/2014/main" id="{1B74FC69-0495-2BE1-DC22-5227366F2015}"/>
              </a:ext>
            </a:extLst>
          </p:cNvPr>
          <p:cNvSpPr>
            <a:spLocks noGrp="1"/>
          </p:cNvSpPr>
          <p:nvPr>
            <p:ph type="title"/>
          </p:nvPr>
        </p:nvSpPr>
        <p:spPr>
          <a:xfrm>
            <a:off x="0" y="147320"/>
            <a:ext cx="4480098" cy="1325563"/>
          </a:xfrm>
        </p:spPr>
        <p:txBody>
          <a:bodyPr/>
          <a:lstStyle/>
          <a:p>
            <a:r>
              <a:rPr lang="en-US" dirty="0"/>
              <a:t>Step 1 Java Code</a:t>
            </a:r>
          </a:p>
        </p:txBody>
      </p:sp>
    </p:spTree>
    <p:extLst>
      <p:ext uri="{BB962C8B-B14F-4D97-AF65-F5344CB8AC3E}">
        <p14:creationId xmlns:p14="http://schemas.microsoft.com/office/powerpoint/2010/main" val="3889754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48FBF-5D9C-D52C-4369-2B280DBB2942}"/>
              </a:ext>
            </a:extLst>
          </p:cNvPr>
          <p:cNvSpPr>
            <a:spLocks noGrp="1"/>
          </p:cNvSpPr>
          <p:nvPr>
            <p:ph type="title"/>
          </p:nvPr>
        </p:nvSpPr>
        <p:spPr>
          <a:xfrm>
            <a:off x="838200" y="-102235"/>
            <a:ext cx="10515600" cy="1325563"/>
          </a:xfrm>
        </p:spPr>
        <p:txBody>
          <a:bodyPr/>
          <a:lstStyle/>
          <a:p>
            <a:r>
              <a:rPr lang="en-US" dirty="0"/>
              <a:t>After Step 1</a:t>
            </a:r>
          </a:p>
        </p:txBody>
      </p:sp>
      <p:grpSp>
        <p:nvGrpSpPr>
          <p:cNvPr id="78" name="Group 77" descr="After step 1 we have the following tree for our example input:&#10;&#10;root: range is [0,8), sum is 81&#10;&#10;left child of [0,8): range is [0,4), sum is 48&#10;right child of [0,8): range is [4,8), sum is 33&#10;&#10;left child of [0,4): range is [0,2), sum is 26&#10;right child of [0,4): range is [2,4), sum is 22&#10;left child of [4,8): range is [4,6), sum is 10&#10;right child of [4,8): range is [6,8), sum is 23&#10;&#10;left child of [0,2): range is [0,1), sum is 10&#10;right child of [0,2): range is [1,2), sum is 16&#10;left child of [2,4): range is [2,3), sum is 4&#10;right child of [2,4): range is [3,4), sum is 18&#10;left child of [4,6): range is [4,5), sum is 8&#10;right child of [4,6): range is [5,6), sum is 2&#10;left child of [6,8): range is [6,7), sum is 14&#10;right child of [6,8): range is [7,8), sum is 9">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857592"/>
            <a:ext cx="3660713" cy="1754326"/>
          </a:xfrm>
          <a:prstGeom prst="rect">
            <a:avLst/>
          </a:prstGeom>
          <a:noFill/>
        </p:spPr>
        <p:txBody>
          <a:bodyPr wrap="square" rtlCol="0">
            <a:spAutoFit/>
          </a:bodyPr>
          <a:lstStyle/>
          <a:p>
            <a:r>
              <a:rPr lang="en-US" dirty="0"/>
              <a:t>All sums filled in per node</a:t>
            </a:r>
          </a:p>
          <a:p>
            <a:r>
              <a:rPr lang="en-US" dirty="0"/>
              <a:t>In the next pass we will find </a:t>
            </a:r>
            <a:r>
              <a:rPr lang="en-US" dirty="0" err="1"/>
              <a:t>leftSum</a:t>
            </a:r>
            <a:endParaRPr lang="en-US" dirty="0"/>
          </a:p>
          <a:p>
            <a:endParaRPr lang="en-US" dirty="0"/>
          </a:p>
          <a:p>
            <a:r>
              <a:rPr lang="en-US" dirty="0" err="1"/>
              <a:t>leftSum</a:t>
            </a:r>
            <a:r>
              <a:rPr lang="en-US" dirty="0"/>
              <a:t> is the sum of all elements strictly to the left of the current range</a:t>
            </a:r>
          </a:p>
        </p:txBody>
      </p:sp>
      <p:grpSp>
        <p:nvGrpSpPr>
          <p:cNvPr id="81" name="Group 80" descr="The input to our algorithm will be the following array of length 8:&#10;&#10;[10,16,4,18,8,2,14,9]&#10;&#10;We are also given an empty array of length 8 for our output.">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119119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48FBF-5D9C-D52C-4369-2B280DBB2942}"/>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(1/4)</a:t>
            </a:r>
          </a:p>
        </p:txBody>
      </p:sp>
      <p:grpSp>
        <p:nvGrpSpPr>
          <p:cNvPr id="78" name="Group 77" descr="Next we will fill in each node's leftSum field as well as the output array. To ensure we can parallelize the task of filling in the leftSum field, we may only use already-computed values. We will begin with the root, so any leftSum of an ancestor node is usable. Because sum was computed for each node in the previous step, the sum of any node is available.">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999832"/>
            <a:ext cx="4025005" cy="1477328"/>
          </a:xfrm>
          <a:prstGeom prst="rect">
            <a:avLst/>
          </a:prstGeom>
          <a:noFill/>
        </p:spPr>
        <p:txBody>
          <a:bodyPr wrap="square" rtlCol="0">
            <a:spAutoFit/>
          </a:bodyPr>
          <a:lstStyle/>
          <a:p>
            <a:r>
              <a:rPr lang="en-US" dirty="0" err="1"/>
              <a:t>leftSum</a:t>
            </a:r>
            <a:r>
              <a:rPr lang="en-US" dirty="0"/>
              <a:t> is the sum of all elements strictly to the left of the current range</a:t>
            </a:r>
          </a:p>
          <a:p>
            <a:endParaRPr lang="en-US" dirty="0"/>
          </a:p>
          <a:p>
            <a:r>
              <a:rPr lang="en-US" dirty="0"/>
              <a:t>We’re going to go root-down, so we can use: any node’s sum, parent’s </a:t>
            </a:r>
            <a:r>
              <a:rPr lang="en-US" dirty="0" err="1"/>
              <a:t>leftSum</a:t>
            </a:r>
            <a:endParaRPr lang="en-US" dirty="0"/>
          </a:p>
        </p:txBody>
      </p:sp>
      <p:grpSp>
        <p:nvGrpSpPr>
          <p:cNvPr id="3" name="Group 2" descr="The input to our algorithm will be the following array of length 8:&#10;&#10;[10,16,4,18,8,2,14,9]&#10;&#10;We are also given an empty array of length 8 for our output.">
            <a:extLst>
              <a:ext uri="{FF2B5EF4-FFF2-40B4-BE49-F238E27FC236}">
                <a16:creationId xmlns:a16="http://schemas.microsoft.com/office/drawing/2014/main" id="{8C74620A-D8FA-4699-89C3-A603E10B5013}"/>
              </a:ext>
            </a:extLst>
          </p:cNvPr>
          <p:cNvGrpSpPr/>
          <p:nvPr/>
        </p:nvGrpSpPr>
        <p:grpSpPr>
          <a:xfrm>
            <a:off x="6679091" y="83846"/>
            <a:ext cx="5383586" cy="1720798"/>
            <a:chOff x="6679091" y="83846"/>
            <a:chExt cx="5383586" cy="1720798"/>
          </a:xfrm>
        </p:grpSpPr>
        <p:grpSp>
          <p:nvGrpSpPr>
            <p:cNvPr id="5" name="Group 4">
              <a:extLst>
                <a:ext uri="{FF2B5EF4-FFF2-40B4-BE49-F238E27FC236}">
                  <a16:creationId xmlns:a16="http://schemas.microsoft.com/office/drawing/2014/main" id="{61FEA46D-6732-C0C4-21DB-B98DE0DDC132}"/>
                </a:ext>
              </a:extLst>
            </p:cNvPr>
            <p:cNvGrpSpPr/>
            <p:nvPr/>
          </p:nvGrpSpPr>
          <p:grpSpPr>
            <a:xfrm>
              <a:off x="7562943" y="83846"/>
              <a:ext cx="4499734" cy="562558"/>
              <a:chOff x="6392545" y="364404"/>
              <a:chExt cx="5726090" cy="715878"/>
            </a:xfrm>
          </p:grpSpPr>
          <p:grpSp>
            <p:nvGrpSpPr>
              <p:cNvPr id="47" name="Group 46">
                <a:extLst>
                  <a:ext uri="{FF2B5EF4-FFF2-40B4-BE49-F238E27FC236}">
                    <a16:creationId xmlns:a16="http://schemas.microsoft.com/office/drawing/2014/main" id="{76D24F11-6DEA-E1C2-A1A7-5F5D589CB14A}"/>
                  </a:ext>
                </a:extLst>
              </p:cNvPr>
              <p:cNvGrpSpPr/>
              <p:nvPr/>
            </p:nvGrpSpPr>
            <p:grpSpPr>
              <a:xfrm>
                <a:off x="6392545" y="365125"/>
                <a:ext cx="4295776" cy="715157"/>
                <a:chOff x="7967980" y="4321811"/>
                <a:chExt cx="2258060" cy="375920"/>
              </a:xfrm>
            </p:grpSpPr>
            <p:sp>
              <p:nvSpPr>
                <p:cNvPr id="51" name="Rectangle 50">
                  <a:extLst>
                    <a:ext uri="{FF2B5EF4-FFF2-40B4-BE49-F238E27FC236}">
                      <a16:creationId xmlns:a16="http://schemas.microsoft.com/office/drawing/2014/main" id="{7FDE58E8-95EA-9DB8-8A3C-C4F033326B8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53" name="Rectangle 52">
                  <a:extLst>
                    <a:ext uri="{FF2B5EF4-FFF2-40B4-BE49-F238E27FC236}">
                      <a16:creationId xmlns:a16="http://schemas.microsoft.com/office/drawing/2014/main" id="{0B8FD478-1695-F9E5-9380-6C9FE65A7322}"/>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54" name="Rectangle 53">
                  <a:extLst>
                    <a:ext uri="{FF2B5EF4-FFF2-40B4-BE49-F238E27FC236}">
                      <a16:creationId xmlns:a16="http://schemas.microsoft.com/office/drawing/2014/main" id="{A2C68402-9364-14AB-37A2-1C11AAED177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56" name="Rectangle 55">
                  <a:extLst>
                    <a:ext uri="{FF2B5EF4-FFF2-40B4-BE49-F238E27FC236}">
                      <a16:creationId xmlns:a16="http://schemas.microsoft.com/office/drawing/2014/main" id="{EB02950D-41B3-20A5-0E98-E42AE35C7074}"/>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57" name="Rectangle 56">
                  <a:extLst>
                    <a:ext uri="{FF2B5EF4-FFF2-40B4-BE49-F238E27FC236}">
                      <a16:creationId xmlns:a16="http://schemas.microsoft.com/office/drawing/2014/main" id="{206499A7-F0ED-FEEF-1ACF-409C21A15069}"/>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59" name="Rectangle 58">
                  <a:extLst>
                    <a:ext uri="{FF2B5EF4-FFF2-40B4-BE49-F238E27FC236}">
                      <a16:creationId xmlns:a16="http://schemas.microsoft.com/office/drawing/2014/main" id="{4A642723-799D-E0B6-8A8A-FE6C4222FC5B}"/>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48" name="Rectangle 47">
                <a:extLst>
                  <a:ext uri="{FF2B5EF4-FFF2-40B4-BE49-F238E27FC236}">
                    <a16:creationId xmlns:a16="http://schemas.microsoft.com/office/drawing/2014/main" id="{4BEA384C-9783-D2EE-11D9-E54BD0DF0D1D}"/>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50" name="Rectangle 49">
                <a:extLst>
                  <a:ext uri="{FF2B5EF4-FFF2-40B4-BE49-F238E27FC236}">
                    <a16:creationId xmlns:a16="http://schemas.microsoft.com/office/drawing/2014/main" id="{CCD7527F-416B-C1B5-545D-DA531B46C7EF}"/>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6" name="Group 5">
              <a:extLst>
                <a:ext uri="{FF2B5EF4-FFF2-40B4-BE49-F238E27FC236}">
                  <a16:creationId xmlns:a16="http://schemas.microsoft.com/office/drawing/2014/main" id="{6ADBB5B6-8194-EBE4-DE28-D18AB3C8CDE6}"/>
                </a:ext>
              </a:extLst>
            </p:cNvPr>
            <p:cNvGrpSpPr/>
            <p:nvPr/>
          </p:nvGrpSpPr>
          <p:grpSpPr>
            <a:xfrm>
              <a:off x="7562943" y="773982"/>
              <a:ext cx="4499734" cy="562558"/>
              <a:chOff x="6392545" y="364404"/>
              <a:chExt cx="5726090" cy="715878"/>
            </a:xfrm>
          </p:grpSpPr>
          <p:grpSp>
            <p:nvGrpSpPr>
              <p:cNvPr id="34" name="Group 33">
                <a:extLst>
                  <a:ext uri="{FF2B5EF4-FFF2-40B4-BE49-F238E27FC236}">
                    <a16:creationId xmlns:a16="http://schemas.microsoft.com/office/drawing/2014/main" id="{EB770468-87C5-05DC-528F-91086A74CEC6}"/>
                  </a:ext>
                </a:extLst>
              </p:cNvPr>
              <p:cNvGrpSpPr/>
              <p:nvPr/>
            </p:nvGrpSpPr>
            <p:grpSpPr>
              <a:xfrm>
                <a:off x="6392545" y="365125"/>
                <a:ext cx="4295776" cy="715157"/>
                <a:chOff x="7967980" y="4321811"/>
                <a:chExt cx="2258060" cy="375920"/>
              </a:xfrm>
            </p:grpSpPr>
            <p:sp>
              <p:nvSpPr>
                <p:cNvPr id="38" name="Rectangle 37">
                  <a:extLst>
                    <a:ext uri="{FF2B5EF4-FFF2-40B4-BE49-F238E27FC236}">
                      <a16:creationId xmlns:a16="http://schemas.microsoft.com/office/drawing/2014/main" id="{CAE22CF4-2E02-6B23-9EB9-4D379776D085}"/>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9" name="Rectangle 38">
                  <a:extLst>
                    <a:ext uri="{FF2B5EF4-FFF2-40B4-BE49-F238E27FC236}">
                      <a16:creationId xmlns:a16="http://schemas.microsoft.com/office/drawing/2014/main" id="{5E067951-0ED9-6D77-7B88-FA206CD7CDA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EEC05337-2498-1243-2846-12F936F129B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E4A86F39-11BB-6CF0-1284-A8567949868B}"/>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Rectangle 43">
                  <a:extLst>
                    <a:ext uri="{FF2B5EF4-FFF2-40B4-BE49-F238E27FC236}">
                      <a16:creationId xmlns:a16="http://schemas.microsoft.com/office/drawing/2014/main" id="{366188D1-4A33-F283-6F6F-399BCB38DD6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Rectangle 44">
                  <a:extLst>
                    <a:ext uri="{FF2B5EF4-FFF2-40B4-BE49-F238E27FC236}">
                      <a16:creationId xmlns:a16="http://schemas.microsoft.com/office/drawing/2014/main" id="{181F6F7D-4BB8-C89E-32C2-99111C35D566}"/>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35" name="Rectangle 34">
                <a:extLst>
                  <a:ext uri="{FF2B5EF4-FFF2-40B4-BE49-F238E27FC236}">
                    <a16:creationId xmlns:a16="http://schemas.microsoft.com/office/drawing/2014/main" id="{1B42AEA5-07E0-B6CE-4F87-BC4999F3449D}"/>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6" name="Rectangle 35">
                <a:extLst>
                  <a:ext uri="{FF2B5EF4-FFF2-40B4-BE49-F238E27FC236}">
                    <a16:creationId xmlns:a16="http://schemas.microsoft.com/office/drawing/2014/main" id="{A1EABAEF-D556-2C7B-EF8E-A433F4D66FE5}"/>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7" name="TextBox 6">
              <a:extLst>
                <a:ext uri="{FF2B5EF4-FFF2-40B4-BE49-F238E27FC236}">
                  <a16:creationId xmlns:a16="http://schemas.microsoft.com/office/drawing/2014/main" id="{32731045-A10C-E64A-658A-8A002C138B8F}"/>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 name="TextBox 7">
              <a:extLst>
                <a:ext uri="{FF2B5EF4-FFF2-40B4-BE49-F238E27FC236}">
                  <a16:creationId xmlns:a16="http://schemas.microsoft.com/office/drawing/2014/main" id="{539F8B82-A4EE-AF31-DF59-37C9E63B86ED}"/>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9" name="Group 8">
              <a:extLst>
                <a:ext uri="{FF2B5EF4-FFF2-40B4-BE49-F238E27FC236}">
                  <a16:creationId xmlns:a16="http://schemas.microsoft.com/office/drawing/2014/main" id="{E5BB6AA6-BF64-6CE8-EFAA-98F77ACD1496}"/>
                </a:ext>
              </a:extLst>
            </p:cNvPr>
            <p:cNvGrpSpPr/>
            <p:nvPr/>
          </p:nvGrpSpPr>
          <p:grpSpPr>
            <a:xfrm>
              <a:off x="7562943" y="1242086"/>
              <a:ext cx="4499734" cy="562558"/>
              <a:chOff x="6392545" y="364404"/>
              <a:chExt cx="5726090" cy="715878"/>
            </a:xfrm>
            <a:noFill/>
          </p:grpSpPr>
          <p:grpSp>
            <p:nvGrpSpPr>
              <p:cNvPr id="10" name="Group 9">
                <a:extLst>
                  <a:ext uri="{FF2B5EF4-FFF2-40B4-BE49-F238E27FC236}">
                    <a16:creationId xmlns:a16="http://schemas.microsoft.com/office/drawing/2014/main" id="{A5691216-13E9-241B-5C81-3DECC198EA88}"/>
                  </a:ext>
                </a:extLst>
              </p:cNvPr>
              <p:cNvGrpSpPr/>
              <p:nvPr/>
            </p:nvGrpSpPr>
            <p:grpSpPr>
              <a:xfrm>
                <a:off x="6392545" y="365125"/>
                <a:ext cx="4295776" cy="715157"/>
                <a:chOff x="7967980" y="4321811"/>
                <a:chExt cx="2258060" cy="375920"/>
              </a:xfrm>
              <a:grpFill/>
            </p:grpSpPr>
            <p:sp>
              <p:nvSpPr>
                <p:cNvPr id="13" name="Rectangle 12">
                  <a:extLst>
                    <a:ext uri="{FF2B5EF4-FFF2-40B4-BE49-F238E27FC236}">
                      <a16:creationId xmlns:a16="http://schemas.microsoft.com/office/drawing/2014/main" id="{0E0016E1-A0BB-90C2-7787-1562ABFD64C1}"/>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16" name="Rectangle 15">
                  <a:extLst>
                    <a:ext uri="{FF2B5EF4-FFF2-40B4-BE49-F238E27FC236}">
                      <a16:creationId xmlns:a16="http://schemas.microsoft.com/office/drawing/2014/main" id="{EF6E6A58-3BB5-F167-C7CB-265BF5436B9F}"/>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17" name="Rectangle 16">
                  <a:extLst>
                    <a:ext uri="{FF2B5EF4-FFF2-40B4-BE49-F238E27FC236}">
                      <a16:creationId xmlns:a16="http://schemas.microsoft.com/office/drawing/2014/main" id="{47F26E17-BC36-890C-13FA-D03497B08015}"/>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24" name="Rectangle 23">
                  <a:extLst>
                    <a:ext uri="{FF2B5EF4-FFF2-40B4-BE49-F238E27FC236}">
                      <a16:creationId xmlns:a16="http://schemas.microsoft.com/office/drawing/2014/main" id="{8DF4322F-CBA1-82B1-7CAA-16723DA8810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25" name="Rectangle 24">
                  <a:extLst>
                    <a:ext uri="{FF2B5EF4-FFF2-40B4-BE49-F238E27FC236}">
                      <a16:creationId xmlns:a16="http://schemas.microsoft.com/office/drawing/2014/main" id="{06ABCC43-5202-13F7-7C0A-8BCA3A172C02}"/>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32" name="Rectangle 31">
                  <a:extLst>
                    <a:ext uri="{FF2B5EF4-FFF2-40B4-BE49-F238E27FC236}">
                      <a16:creationId xmlns:a16="http://schemas.microsoft.com/office/drawing/2014/main" id="{040FA717-9269-46A8-7A4D-FD1C534DD7C2}"/>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11" name="Rectangle 10">
                <a:extLst>
                  <a:ext uri="{FF2B5EF4-FFF2-40B4-BE49-F238E27FC236}">
                    <a16:creationId xmlns:a16="http://schemas.microsoft.com/office/drawing/2014/main" id="{3A4FE610-50C1-E22C-532A-FB44A710D27C}"/>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12" name="Rectangle 11">
                <a:extLst>
                  <a:ext uri="{FF2B5EF4-FFF2-40B4-BE49-F238E27FC236}">
                    <a16:creationId xmlns:a16="http://schemas.microsoft.com/office/drawing/2014/main" id="{33A694D8-4025-CFD9-1BA0-FAB020E518D9}"/>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23706463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77">
            <a:extLst>
              <a:ext uri="{FF2B5EF4-FFF2-40B4-BE49-F238E27FC236}">
                <a16:creationId xmlns:a16="http://schemas.microsoft.com/office/drawing/2014/main" id="{0FB8C274-5CCA-301E-3A75-99E01DE18B10}"/>
              </a:ext>
              <a:ext uri="{C183D7F6-B498-43B3-948B-1728B52AA6E4}">
                <adec:decorative xmlns:adec="http://schemas.microsoft.com/office/drawing/2017/decorative" val="1"/>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1009992"/>
            <a:ext cx="5087906" cy="1200329"/>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p:txBody>
      </p:sp>
      <p:grpSp>
        <p:nvGrpSpPr>
          <p:cNvPr id="81" name="Group 80">
            <a:extLst>
              <a:ext uri="{FF2B5EF4-FFF2-40B4-BE49-F238E27FC236}">
                <a16:creationId xmlns:a16="http://schemas.microsoft.com/office/drawing/2014/main" id="{6C764B31-F14D-144A-64AA-02CECD9C9599}"/>
              </a:ext>
              <a:ext uri="{C183D7F6-B498-43B3-948B-1728B52AA6E4}">
                <adec:decorative xmlns:adec="http://schemas.microsoft.com/office/drawing/2017/decorative" val="1"/>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
        <p:nvSpPr>
          <p:cNvPr id="6" name="Title 1">
            <a:extLst>
              <a:ext uri="{FF2B5EF4-FFF2-40B4-BE49-F238E27FC236}">
                <a16:creationId xmlns:a16="http://schemas.microsoft.com/office/drawing/2014/main" id="{82DE2B71-2137-FC75-AD03-2EE10B6B9708}"/>
              </a:ext>
            </a:extLst>
          </p:cNvPr>
          <p:cNvSpPr txBox="1">
            <a:spLocks/>
          </p:cNvSpPr>
          <p:nvPr/>
        </p:nvSpPr>
        <p:spPr>
          <a:xfrm>
            <a:off x="838200" y="-1022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Step 2: fill in </a:t>
            </a:r>
            <a:r>
              <a:rPr lang="en-US" dirty="0" err="1"/>
              <a:t>leftSum</a:t>
            </a:r>
            <a:r>
              <a:rPr lang="en-US" dirty="0"/>
              <a:t> </a:t>
            </a:r>
            <a:br>
              <a:rPr lang="en-US" dirty="0"/>
            </a:br>
            <a:r>
              <a:rPr lang="en-US" dirty="0"/>
              <a:t>		and Output (2/4)</a:t>
            </a:r>
          </a:p>
        </p:txBody>
      </p:sp>
    </p:spTree>
    <p:extLst>
      <p:ext uri="{BB962C8B-B14F-4D97-AF65-F5344CB8AC3E}">
        <p14:creationId xmlns:p14="http://schemas.microsoft.com/office/powerpoint/2010/main" val="4001969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77">
            <a:extLst>
              <a:ext uri="{FF2B5EF4-FFF2-40B4-BE49-F238E27FC236}">
                <a16:creationId xmlns:a16="http://schemas.microsoft.com/office/drawing/2014/main" id="{0FB8C274-5CCA-301E-3A75-99E01DE18B10}"/>
              </a:ext>
            </a:extLst>
          </p:cNvPr>
          <p:cNvGrpSpPr/>
          <p:nvPr/>
        </p:nvGrpSpPr>
        <p:grpSpPr>
          <a:xfrm>
            <a:off x="82804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 0</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 0</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 26</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 0</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 48</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48</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 58</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0</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 10</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 26</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 30</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 48</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 56</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 58</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 72</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0" y="856344"/>
            <a:ext cx="5087906" cy="2308324"/>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a:p>
            <a:endParaRPr lang="en-US" dirty="0"/>
          </a:p>
          <a:p>
            <a:r>
              <a:rPr lang="en-US" dirty="0"/>
              <a:t>For the leaves:</a:t>
            </a:r>
          </a:p>
          <a:p>
            <a:r>
              <a:rPr lang="en-US" dirty="0"/>
              <a:t>	use </a:t>
            </a:r>
            <a:r>
              <a:rPr lang="en-US" dirty="0" err="1"/>
              <a:t>leftSum+sum</a:t>
            </a:r>
            <a:r>
              <a:rPr lang="en-US" dirty="0"/>
              <a:t> </a:t>
            </a:r>
          </a:p>
          <a:p>
            <a:r>
              <a:rPr lang="en-US" dirty="0"/>
              <a:t>	to complete output</a:t>
            </a:r>
          </a:p>
        </p:txBody>
      </p:sp>
      <p:grpSp>
        <p:nvGrpSpPr>
          <p:cNvPr id="81" name="Group 80">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
        <p:nvSpPr>
          <p:cNvPr id="6" name="Title 1">
            <a:extLst>
              <a:ext uri="{FF2B5EF4-FFF2-40B4-BE49-F238E27FC236}">
                <a16:creationId xmlns:a16="http://schemas.microsoft.com/office/drawing/2014/main" id="{CA221016-9FE9-6F35-BCAC-F0D337A43B7C}"/>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(3/4)</a:t>
            </a:r>
          </a:p>
        </p:txBody>
      </p:sp>
    </p:spTree>
    <p:extLst>
      <p:ext uri="{BB962C8B-B14F-4D97-AF65-F5344CB8AC3E}">
        <p14:creationId xmlns:p14="http://schemas.microsoft.com/office/powerpoint/2010/main" val="11324508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A221016-9FE9-6F35-BCAC-F0D337A43B7C}"/>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(4/4)</a:t>
            </a:r>
          </a:p>
        </p:txBody>
      </p:sp>
      <p:grpSp>
        <p:nvGrpSpPr>
          <p:cNvPr id="78" name="Group 77" descr="After step 2 we have the following tree for our example input:&#10;&#10;root: range is [0,8), sum is 81, leftSum is 0&#10;&#10;left child of [0,8): range is [0,4), sum is 48, leftSum is 0 (leftSum of its parent)&#10;right child of [0,8): range is [4,8), sum is 33, leftSum is 26 (sum field of its sibling + leftSum of its parent)&#10;&#10;left child of [0,4): range is [0,2), sum is 26, leftSum is 0 (leftSum of its parent)&#10;right child of [0,4): range is [2,4), sum is 22, leftSum is 26 (sum field of its sibling + leftSum of its parent)&#10;left child of [4,8): range is [4,6), sum is 10, leftSum is 48 (leftSum of its parent)&#10;right child of [4,8): range is [6,8), sum is 23, leftSum is 58 (sum field of its sibling + leftSum of its parent)&#10;&#10;left child of [0,2): range is [0,1), sum is 10, leftSum is 0 (leftSum of its parent)&#10;right child of [0,2): range is [1,2), sum is 16, leftSum is 10 (sum field of its sibling + leftSum of its parent)&#10;left child of [2,4): range is [2,3), sum is 4, leftSum is 26 (leftSum of its parent)&#10;right child of [2,4): range is [3,4), sum is 18, leftSum is 30 (sum field of its sibling + leftSum of its parent)&#10;left child of [4,6): range is [4,5), sum is 8, leftSum is 48 (leftSum of its parent)&#10;right child of [4,6): range is [5,6), sum is 2, leftSum is 56 (sum field of its sibling + leftSum of its parent)&#10;left child of [6,8): range is [6,7), sum is 14, leftSum is 58 (leftSum of its parent)&#10;right child of [6,8): range is [7,8), sum is 9, leftSum is 72 (sum field of its sibling + leftSum of its parent)">
            <a:extLst>
              <a:ext uri="{FF2B5EF4-FFF2-40B4-BE49-F238E27FC236}">
                <a16:creationId xmlns:a16="http://schemas.microsoft.com/office/drawing/2014/main" id="{0FB8C274-5CCA-301E-3A75-99E01DE18B10}"/>
              </a:ext>
            </a:extLst>
          </p:cNvPr>
          <p:cNvGrpSpPr/>
          <p:nvPr/>
        </p:nvGrpSpPr>
        <p:grpSpPr>
          <a:xfrm>
            <a:off x="82804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 0</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 0</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 26</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 0</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 48</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48</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 58</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0</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 10</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 26</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 30</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 48</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 56</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 58</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 72</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0" y="856344"/>
            <a:ext cx="5087906" cy="2308324"/>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a:p>
            <a:endParaRPr lang="en-US" dirty="0"/>
          </a:p>
          <a:p>
            <a:r>
              <a:rPr lang="en-US" dirty="0"/>
              <a:t>For the leaves:</a:t>
            </a:r>
          </a:p>
          <a:p>
            <a:r>
              <a:rPr lang="en-US" dirty="0"/>
              <a:t>	use </a:t>
            </a:r>
            <a:r>
              <a:rPr lang="en-US" dirty="0" err="1"/>
              <a:t>leftSum+sum</a:t>
            </a:r>
            <a:r>
              <a:rPr lang="en-US" dirty="0"/>
              <a:t> </a:t>
            </a:r>
          </a:p>
          <a:p>
            <a:r>
              <a:rPr lang="en-US" dirty="0"/>
              <a:t>	to complete output</a:t>
            </a:r>
          </a:p>
        </p:txBody>
      </p:sp>
      <p:grpSp>
        <p:nvGrpSpPr>
          <p:cNvPr id="81" name="Group 80" descr="The input to our algorithm will be the following array of length 8:&#10;&#10;[10,16,4,18,8,2,14,9]&#10;&#10;The output array is also populated:&#10;[10,26,30,48,56,58,72,81]&#10;&#10;This was done by, for each leaf node, filling in the array with the running sum starting from leftSum rather than 0.">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26</a:t>
                  </a: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30</a:t>
                  </a: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48</a:t>
                  </a: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56</a:t>
                  </a: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58</a:t>
                  </a: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72</a:t>
                </a: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81</a:t>
                </a: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575303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ED1EC-294B-3134-12CA-AB177F2C2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ECAE8E-E1B2-5256-D666-ACA8350E7CEE}"/>
              </a:ext>
            </a:extLst>
          </p:cNvPr>
          <p:cNvSpPr>
            <a:spLocks noGrp="1"/>
          </p:cNvSpPr>
          <p:nvPr>
            <p:ph type="title"/>
          </p:nvPr>
        </p:nvSpPr>
        <p:spPr>
          <a:xfrm>
            <a:off x="514814" y="247605"/>
            <a:ext cx="11677185" cy="1325563"/>
          </a:xfrm>
        </p:spPr>
        <p:txBody>
          <a:bodyPr/>
          <a:lstStyle/>
          <a:p>
            <a:r>
              <a:rPr lang="en-US" dirty="0"/>
              <a:t>Step 2 pseudocode (Compute </a:t>
            </a:r>
            <a:r>
              <a:rPr lang="en-US" dirty="0" err="1"/>
              <a:t>Leftsum</a:t>
            </a:r>
            <a:r>
              <a:rPr lang="en-US" dirty="0"/>
              <a:t>)</a:t>
            </a:r>
          </a:p>
        </p:txBody>
      </p:sp>
      <p:sp>
        <p:nvSpPr>
          <p:cNvPr id="3" name="TextBox 2">
            <a:extLst>
              <a:ext uri="{FF2B5EF4-FFF2-40B4-BE49-F238E27FC236}">
                <a16:creationId xmlns:a16="http://schemas.microsoft.com/office/drawing/2014/main" id="{9CC800B9-9122-4F06-68ED-E5F650D4D21F}"/>
              </a:ext>
            </a:extLst>
          </p:cNvPr>
          <p:cNvSpPr txBox="1"/>
          <p:nvPr/>
        </p:nvSpPr>
        <p:spPr>
          <a:xfrm>
            <a:off x="410040" y="1316638"/>
            <a:ext cx="11677185" cy="5293757"/>
          </a:xfrm>
          <a:prstGeom prst="rect">
            <a:avLst/>
          </a:prstGeom>
          <a:noFill/>
        </p:spPr>
        <p:txBody>
          <a:bodyPr wrap="square" rtlCol="0">
            <a:spAutoFit/>
          </a:bodyPr>
          <a:lstStyle/>
          <a:p>
            <a:r>
              <a:rPr lang="en-US" sz="2600" b="1" dirty="0" err="1"/>
              <a:t>CompleteTree</a:t>
            </a:r>
            <a:r>
              <a:rPr lang="en-US" sz="2600" dirty="0"/>
              <a:t>(Node </a:t>
            </a:r>
            <a:r>
              <a:rPr lang="en-US" sz="2600" dirty="0" err="1"/>
              <a:t>curr</a:t>
            </a:r>
            <a:r>
              <a:rPr lang="en-US" sz="2600" dirty="0"/>
              <a:t>)</a:t>
            </a:r>
          </a:p>
          <a:p>
            <a:pPr marL="457200" indent="-457200">
              <a:buFont typeface="+mj-lt"/>
              <a:buAutoNum type="arabicPeriod"/>
            </a:pPr>
            <a:r>
              <a:rPr lang="en-US" sz="2600" b="1" dirty="0"/>
              <a:t>If </a:t>
            </a:r>
            <a:r>
              <a:rPr lang="en-US" sz="2600" dirty="0" err="1"/>
              <a:t>curr</a:t>
            </a:r>
            <a:r>
              <a:rPr lang="en-US" sz="2600" dirty="0"/>
              <a:t> is a left child of </a:t>
            </a:r>
            <a:r>
              <a:rPr lang="en-US" sz="2600" dirty="0" err="1"/>
              <a:t>curr.parent</a:t>
            </a:r>
            <a:r>
              <a:rPr lang="en-US" sz="2600" b="0" dirty="0"/>
              <a:t>: </a:t>
            </a:r>
            <a:endParaRPr lang="en-US" sz="2600" dirty="0"/>
          </a:p>
          <a:p>
            <a:pPr marL="914400" lvl="1" indent="-457200">
              <a:buFont typeface="+mj-lt"/>
              <a:buAutoNum type="arabicPeriod"/>
            </a:pPr>
            <a:r>
              <a:rPr lang="en-US" sz="2600" dirty="0"/>
              <a:t>Set </a:t>
            </a:r>
            <a:r>
              <a:rPr lang="en-US" sz="2600" dirty="0" err="1"/>
              <a:t>curr.LeftSum</a:t>
            </a:r>
            <a:r>
              <a:rPr lang="en-US" sz="2600" dirty="0"/>
              <a:t> = </a:t>
            </a:r>
            <a:r>
              <a:rPr lang="en-US" sz="2600" dirty="0" err="1"/>
              <a:t>curr.parent.LeftSum</a:t>
            </a:r>
            <a:endParaRPr lang="en-US" sz="2600" dirty="0">
              <a:solidFill>
                <a:schemeClr val="accent6"/>
              </a:solidFill>
            </a:endParaRPr>
          </a:p>
          <a:p>
            <a:pPr marL="457200" indent="-457200">
              <a:buFont typeface="+mj-lt"/>
              <a:buAutoNum type="arabicPeriod"/>
            </a:pPr>
            <a:r>
              <a:rPr lang="en-US" sz="2600" b="1" dirty="0"/>
              <a:t>Else:</a:t>
            </a:r>
          </a:p>
          <a:p>
            <a:pPr marL="914400" lvl="1" indent="-457200">
              <a:buFont typeface="+mj-lt"/>
              <a:buAutoNum type="arabicPeriod"/>
            </a:pPr>
            <a:r>
              <a:rPr lang="en-US" sz="2600" dirty="0"/>
              <a:t>Set </a:t>
            </a:r>
            <a:r>
              <a:rPr lang="en-US" sz="2600" dirty="0" err="1"/>
              <a:t>curr.LeftSum</a:t>
            </a:r>
            <a:r>
              <a:rPr lang="en-US" sz="2600" dirty="0"/>
              <a:t> = </a:t>
            </a:r>
            <a:r>
              <a:rPr lang="en-US" sz="2600" dirty="0" err="1"/>
              <a:t>curr.parent.LeftSum</a:t>
            </a:r>
            <a:r>
              <a:rPr lang="en-US" sz="2600" dirty="0"/>
              <a:t> + </a:t>
            </a:r>
            <a:r>
              <a:rPr lang="en-US" sz="2600" dirty="0" err="1"/>
              <a:t>curr.sibling.Sum</a:t>
            </a:r>
            <a:endParaRPr lang="en-US" sz="2600" dirty="0"/>
          </a:p>
          <a:p>
            <a:pPr marL="457200" indent="-457200">
              <a:buFont typeface="+mj-lt"/>
              <a:buAutoNum type="arabicPeriod"/>
            </a:pPr>
            <a:r>
              <a:rPr lang="en-US" sz="2600" b="1" dirty="0"/>
              <a:t>If</a:t>
            </a:r>
            <a:r>
              <a:rPr lang="en-US" sz="2600" dirty="0"/>
              <a:t> </a:t>
            </a:r>
            <a:r>
              <a:rPr lang="en-US" sz="2600" dirty="0" err="1"/>
              <a:t>curr</a:t>
            </a:r>
            <a:r>
              <a:rPr lang="en-US" sz="2600" dirty="0"/>
              <a:t> is not a leaf:</a:t>
            </a:r>
          </a:p>
          <a:p>
            <a:pPr marL="914400" lvl="1" indent="-457200">
              <a:buFont typeface="+mj-lt"/>
              <a:buAutoNum type="arabicPeriod"/>
            </a:pPr>
            <a:r>
              <a:rPr lang="en-US" sz="2600" u="sng" dirty="0"/>
              <a:t>Divide and conquer:</a:t>
            </a:r>
            <a:r>
              <a:rPr lang="en-US" sz="2600" dirty="0"/>
              <a:t> call </a:t>
            </a:r>
            <a:r>
              <a:rPr lang="en-US" sz="2600" b="1" dirty="0" err="1"/>
              <a:t>CompleteTree</a:t>
            </a:r>
            <a:r>
              <a:rPr lang="en-US" sz="2600" dirty="0"/>
              <a:t>(</a:t>
            </a:r>
            <a:r>
              <a:rPr lang="en-US" sz="2600" dirty="0" err="1"/>
              <a:t>curr.left</a:t>
            </a:r>
            <a:r>
              <a:rPr lang="en-US" sz="2600" dirty="0"/>
              <a:t>) and </a:t>
            </a:r>
            <a:r>
              <a:rPr lang="en-US" sz="2600" b="1" dirty="0" err="1"/>
              <a:t>CompleteTree</a:t>
            </a:r>
            <a:r>
              <a:rPr lang="en-US" sz="2600" dirty="0"/>
              <a:t>(</a:t>
            </a:r>
            <a:r>
              <a:rPr lang="en-US" sz="2600" dirty="0" err="1"/>
              <a:t>curr.right</a:t>
            </a:r>
            <a:r>
              <a:rPr lang="en-US" sz="2600" dirty="0"/>
              <a:t>) in parallel threads</a:t>
            </a:r>
          </a:p>
          <a:p>
            <a:pPr marL="914400" lvl="1" indent="-457200">
              <a:buFont typeface="+mj-lt"/>
              <a:buAutoNum type="arabicPeriod"/>
            </a:pPr>
            <a:r>
              <a:rPr lang="en-US" sz="2600" u="sng" dirty="0"/>
              <a:t>Wait</a:t>
            </a:r>
            <a:r>
              <a:rPr lang="en-US" sz="2600" dirty="0"/>
              <a:t> for parallel computations to finish</a:t>
            </a:r>
          </a:p>
          <a:p>
            <a:pPr marL="457200" indent="-457200">
              <a:buFont typeface="+mj-lt"/>
              <a:buAutoNum type="arabicPeriod"/>
            </a:pPr>
            <a:r>
              <a:rPr lang="en-US" sz="2600" b="1" dirty="0"/>
              <a:t>Else (</a:t>
            </a:r>
            <a:r>
              <a:rPr lang="en-US" sz="2600" b="1" dirty="0" err="1"/>
              <a:t>curr</a:t>
            </a:r>
            <a:r>
              <a:rPr lang="en-US" sz="2600" b="1" dirty="0"/>
              <a:t> is a leaf)</a:t>
            </a:r>
            <a:r>
              <a:rPr lang="en-US" sz="2600" dirty="0"/>
              <a:t>:</a:t>
            </a:r>
          </a:p>
          <a:p>
            <a:pPr marL="914400" lvl="1" indent="-457200">
              <a:buFont typeface="+mj-lt"/>
              <a:buAutoNum type="arabicPeriod"/>
            </a:pPr>
            <a:r>
              <a:rPr lang="en-US" sz="2600" dirty="0"/>
              <a:t>Set output[</a:t>
            </a:r>
            <a:r>
              <a:rPr lang="en-US" sz="2600" dirty="0" err="1"/>
              <a:t>curr.lo</a:t>
            </a:r>
            <a:r>
              <a:rPr lang="en-US" sz="2600" dirty="0"/>
              <a:t>] = </a:t>
            </a:r>
            <a:r>
              <a:rPr lang="en-US" sz="2600" dirty="0" err="1"/>
              <a:t>curr.LeftSum</a:t>
            </a:r>
            <a:r>
              <a:rPr lang="en-US" sz="2600" dirty="0"/>
              <a:t> + input[</a:t>
            </a:r>
            <a:r>
              <a:rPr lang="en-US" sz="2600" dirty="0" err="1"/>
              <a:t>curr.lo</a:t>
            </a:r>
            <a:r>
              <a:rPr lang="en-US" sz="2600" dirty="0"/>
              <a:t>]</a:t>
            </a:r>
          </a:p>
          <a:p>
            <a:pPr marL="914400" lvl="1" indent="-457200">
              <a:buFont typeface="+mj-lt"/>
              <a:buAutoNum type="arabicPeriod"/>
            </a:pPr>
            <a:r>
              <a:rPr lang="en-US" sz="2600" dirty="0"/>
              <a:t>for </a:t>
            </a:r>
            <a:r>
              <a:rPr lang="en-US" sz="2600" dirty="0" err="1"/>
              <a:t>i</a:t>
            </a:r>
            <a:r>
              <a:rPr lang="en-US" sz="2600" dirty="0"/>
              <a:t> = </a:t>
            </a:r>
            <a:r>
              <a:rPr lang="en-US" sz="2600" dirty="0" err="1"/>
              <a:t>curr.lo</a:t>
            </a:r>
            <a:r>
              <a:rPr lang="en-US" sz="2600" dirty="0"/>
              <a:t> + 1 to </a:t>
            </a:r>
            <a:r>
              <a:rPr lang="en-US" sz="2600" dirty="0" err="1"/>
              <a:t>curr.hi</a:t>
            </a:r>
            <a:r>
              <a:rPr lang="en-US" sz="2600" dirty="0"/>
              <a:t>:</a:t>
            </a:r>
          </a:p>
          <a:p>
            <a:pPr marL="1371600" lvl="2" indent="-457200">
              <a:buFont typeface="+mj-lt"/>
              <a:buAutoNum type="arabicPeriod"/>
            </a:pPr>
            <a:r>
              <a:rPr lang="en-US" sz="2600" dirty="0"/>
              <a:t>Set output[</a:t>
            </a:r>
            <a:r>
              <a:rPr lang="en-US" sz="2600" dirty="0" err="1"/>
              <a:t>i</a:t>
            </a:r>
            <a:r>
              <a:rPr lang="en-US" sz="2600" dirty="0"/>
              <a:t>] = output[i-1] + input[</a:t>
            </a:r>
            <a:r>
              <a:rPr lang="en-US" sz="2600" dirty="0" err="1"/>
              <a:t>i</a:t>
            </a:r>
            <a:r>
              <a:rPr lang="en-US" sz="2600" dirty="0"/>
              <a:t>]</a:t>
            </a:r>
          </a:p>
        </p:txBody>
      </p:sp>
      <p:sp>
        <p:nvSpPr>
          <p:cNvPr id="4" name="Right Arrow 3">
            <a:extLst>
              <a:ext uri="{FF2B5EF4-FFF2-40B4-BE49-F238E27FC236}">
                <a16:creationId xmlns:a16="http://schemas.microsoft.com/office/drawing/2014/main" id="{51DAC50E-35B7-A38B-F47C-4206A4E65E32}"/>
              </a:ext>
              <a:ext uri="{C183D7F6-B498-43B3-948B-1728B52AA6E4}">
                <adec:decorative xmlns:adec="http://schemas.microsoft.com/office/drawing/2017/decorative" val="1"/>
              </a:ext>
            </a:extLst>
          </p:cNvPr>
          <p:cNvSpPr/>
          <p:nvPr/>
        </p:nvSpPr>
        <p:spPr>
          <a:xfrm rot="10616587">
            <a:off x="8552306" y="5572398"/>
            <a:ext cx="1169908" cy="2205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6C39C08-A3FE-ED2D-F935-685146930A64}"/>
              </a:ext>
              <a:ext uri="{C183D7F6-B498-43B3-948B-1728B52AA6E4}">
                <adec:decorative xmlns:adec="http://schemas.microsoft.com/office/drawing/2017/decorative" val="1"/>
              </a:ext>
            </a:extLst>
          </p:cNvPr>
          <p:cNvSpPr txBox="1"/>
          <p:nvPr/>
        </p:nvSpPr>
        <p:spPr>
          <a:xfrm>
            <a:off x="9828537" y="5362326"/>
            <a:ext cx="1530026" cy="461665"/>
          </a:xfrm>
          <a:prstGeom prst="rect">
            <a:avLst/>
          </a:prstGeom>
          <a:noFill/>
        </p:spPr>
        <p:txBody>
          <a:bodyPr wrap="square" rtlCol="0">
            <a:spAutoFit/>
          </a:bodyPr>
          <a:lstStyle/>
          <a:p>
            <a:r>
              <a:rPr lang="en-US" sz="2400" dirty="0">
                <a:solidFill>
                  <a:schemeClr val="accent1"/>
                </a:solidFill>
              </a:rPr>
              <a:t>Base Case</a:t>
            </a:r>
          </a:p>
        </p:txBody>
      </p:sp>
    </p:spTree>
    <p:extLst>
      <p:ext uri="{BB962C8B-B14F-4D97-AF65-F5344CB8AC3E}">
        <p14:creationId xmlns:p14="http://schemas.microsoft.com/office/powerpoint/2010/main" val="152737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1" nodeType="clickEffect">
                                  <p:stCondLst>
                                    <p:cond delay="0"/>
                                  </p:stCondLst>
                                  <p:childTnLst>
                                    <p:set>
                                      <p:cBhvr>
                                        <p:cTn id="40" dur="1" fill="hold">
                                          <p:stCondLst>
                                            <p:cond delay="0"/>
                                          </p:stCondLst>
                                        </p:cTn>
                                        <p:tgtEl>
                                          <p:spTgt spid="3">
                                            <p:txEl>
                                              <p:pRg st="0" end="0"/>
                                            </p:txEl>
                                          </p:spTgt>
                                        </p:tgtEl>
                                        <p:attrNameLst>
                                          <p:attrName>style.visibility</p:attrName>
                                        </p:attrNameLst>
                                      </p:cBhvr>
                                      <p:to>
                                        <p:strVal val="visible"/>
                                      </p:to>
                                    </p:set>
                                  </p:childTnLst>
                                </p:cTn>
                              </p:par>
                              <p:par>
                                <p:cTn id="41" presetID="1" presetClass="entr" presetSubtype="0" fill="hold" grpId="1" nodeType="withEffect">
                                  <p:stCondLst>
                                    <p:cond delay="0"/>
                                  </p:stCondLst>
                                  <p:childTnLst>
                                    <p:set>
                                      <p:cBhvr>
                                        <p:cTn id="42" dur="1" fill="hold">
                                          <p:stCondLst>
                                            <p:cond delay="0"/>
                                          </p:stCondLst>
                                        </p:cTn>
                                        <p:tgtEl>
                                          <p:spTgt spid="3">
                                            <p:txEl>
                                              <p:pRg st="1" end="1"/>
                                            </p:txEl>
                                          </p:spTgt>
                                        </p:tgtEl>
                                        <p:attrNameLst>
                                          <p:attrName>style.visibility</p:attrName>
                                        </p:attrNameLst>
                                      </p:cBhvr>
                                      <p:to>
                                        <p:strVal val="visible"/>
                                      </p:to>
                                    </p:set>
                                  </p:childTnLst>
                                </p:cTn>
                              </p:par>
                              <p:par>
                                <p:cTn id="43" presetID="1" presetClass="entr" presetSubtype="0" fill="hold" grpId="1" nodeType="withEffect">
                                  <p:stCondLst>
                                    <p:cond delay="0"/>
                                  </p:stCondLst>
                                  <p:childTnLst>
                                    <p:set>
                                      <p:cBhvr>
                                        <p:cTn id="44" dur="1" fill="hold">
                                          <p:stCondLst>
                                            <p:cond delay="0"/>
                                          </p:stCondLst>
                                        </p:cTn>
                                        <p:tgtEl>
                                          <p:spTgt spid="3">
                                            <p:txEl>
                                              <p:pRg st="2" end="2"/>
                                            </p:txEl>
                                          </p:spTgt>
                                        </p:tgtEl>
                                        <p:attrNameLst>
                                          <p:attrName>style.visibility</p:attrName>
                                        </p:attrNameLst>
                                      </p:cBhvr>
                                      <p:to>
                                        <p:strVal val="visible"/>
                                      </p:to>
                                    </p:set>
                                  </p:childTnLst>
                                </p:cTn>
                              </p:par>
                              <p:par>
                                <p:cTn id="45" presetID="1" presetClass="entr" presetSubtype="0" fill="hold" grpId="1" nodeType="withEffect">
                                  <p:stCondLst>
                                    <p:cond delay="0"/>
                                  </p:stCondLst>
                                  <p:childTnLst>
                                    <p:set>
                                      <p:cBhvr>
                                        <p:cTn id="46" dur="1" fill="hold">
                                          <p:stCondLst>
                                            <p:cond delay="0"/>
                                          </p:stCondLst>
                                        </p:cTn>
                                        <p:tgtEl>
                                          <p:spTgt spid="3">
                                            <p:txEl>
                                              <p:pRg st="3" end="3"/>
                                            </p:txEl>
                                          </p:spTgt>
                                        </p:tgtEl>
                                        <p:attrNameLst>
                                          <p:attrName>style.visibility</p:attrName>
                                        </p:attrNameLst>
                                      </p:cBhvr>
                                      <p:to>
                                        <p:strVal val="visible"/>
                                      </p:to>
                                    </p:set>
                                  </p:childTnLst>
                                </p:cTn>
                              </p:par>
                              <p:par>
                                <p:cTn id="47" presetID="1" presetClass="entr" presetSubtype="0" fill="hold" grpId="1" nodeType="with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par>
                                <p:cTn id="49" presetID="1" presetClass="entr" presetSubtype="0" fill="hold" grpId="1" nodeType="withEffect">
                                  <p:stCondLst>
                                    <p:cond delay="0"/>
                                  </p:stCondLst>
                                  <p:childTnLst>
                                    <p:set>
                                      <p:cBhvr>
                                        <p:cTn id="50" dur="1" fill="hold">
                                          <p:stCondLst>
                                            <p:cond delay="0"/>
                                          </p:stCondLst>
                                        </p:cTn>
                                        <p:tgtEl>
                                          <p:spTgt spid="3">
                                            <p:txEl>
                                              <p:pRg st="5" end="5"/>
                                            </p:txEl>
                                          </p:spTgt>
                                        </p:tgtEl>
                                        <p:attrNameLst>
                                          <p:attrName>style.visibility</p:attrName>
                                        </p:attrNameLst>
                                      </p:cBhvr>
                                      <p:to>
                                        <p:strVal val="visible"/>
                                      </p:to>
                                    </p:set>
                                  </p:childTnLst>
                                </p:cTn>
                              </p:par>
                              <p:par>
                                <p:cTn id="51" presetID="1" presetClass="entr" presetSubtype="0" fill="hold" grpId="1" nodeType="withEffect">
                                  <p:stCondLst>
                                    <p:cond delay="0"/>
                                  </p:stCondLst>
                                  <p:childTnLst>
                                    <p:set>
                                      <p:cBhvr>
                                        <p:cTn id="52" dur="1" fill="hold">
                                          <p:stCondLst>
                                            <p:cond delay="0"/>
                                          </p:stCondLst>
                                        </p:cTn>
                                        <p:tgtEl>
                                          <p:spTgt spid="3">
                                            <p:txEl>
                                              <p:pRg st="6" end="6"/>
                                            </p:txEl>
                                          </p:spTgt>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3">
                                            <p:txEl>
                                              <p:pRg st="7" end="7"/>
                                            </p:txEl>
                                          </p:spTgt>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
                                            <p:txEl>
                                              <p:pRg st="8" end="8"/>
                                            </p:txEl>
                                          </p:spTgt>
                                        </p:tgtEl>
                                        <p:attrNameLst>
                                          <p:attrName>style.visibility</p:attrName>
                                        </p:attrNameLst>
                                      </p:cBhvr>
                                      <p:to>
                                        <p:strVal val="visible"/>
                                      </p:to>
                                    </p:set>
                                  </p:childTnLst>
                                </p:cTn>
                              </p:par>
                              <p:par>
                                <p:cTn id="57" presetID="1" presetClass="entr" presetSubtype="0" fill="hold" grpId="1" nodeType="withEffect">
                                  <p:stCondLst>
                                    <p:cond delay="0"/>
                                  </p:stCondLst>
                                  <p:childTnLst>
                                    <p:set>
                                      <p:cBhvr>
                                        <p:cTn id="58" dur="1" fill="hold">
                                          <p:stCondLst>
                                            <p:cond delay="0"/>
                                          </p:stCondLst>
                                        </p:cTn>
                                        <p:tgtEl>
                                          <p:spTgt spid="3">
                                            <p:txEl>
                                              <p:pRg st="9" end="9"/>
                                            </p:txEl>
                                          </p:spTgt>
                                        </p:tgtEl>
                                        <p:attrNameLst>
                                          <p:attrName>style.visibility</p:attrName>
                                        </p:attrNameLst>
                                      </p:cBhvr>
                                      <p:to>
                                        <p:strVal val="visible"/>
                                      </p:to>
                                    </p:set>
                                  </p:childTnLst>
                                </p:cTn>
                              </p:par>
                              <p:par>
                                <p:cTn id="59" presetID="1" presetClass="entr" presetSubtype="0" fill="hold" grpId="1" nodeType="withEffect">
                                  <p:stCondLst>
                                    <p:cond delay="0"/>
                                  </p:stCondLst>
                                  <p:childTnLst>
                                    <p:set>
                                      <p:cBhvr>
                                        <p:cTn id="60" dur="1" fill="hold">
                                          <p:stCondLst>
                                            <p:cond delay="0"/>
                                          </p:stCondLst>
                                        </p:cTn>
                                        <p:tgtEl>
                                          <p:spTgt spid="3">
                                            <p:txEl>
                                              <p:pRg st="10" end="10"/>
                                            </p:txEl>
                                          </p:spTgt>
                                        </p:tgtEl>
                                        <p:attrNameLst>
                                          <p:attrName>style.visibility</p:attrName>
                                        </p:attrNameLst>
                                      </p:cBhvr>
                                      <p:to>
                                        <p:strVal val="visible"/>
                                      </p:to>
                                    </p:set>
                                  </p:childTnLst>
                                </p:cTn>
                              </p:par>
                              <p:par>
                                <p:cTn id="61" presetID="1" presetClass="entr" presetSubtype="0" fill="hold" grpId="1" nodeType="withEffect">
                                  <p:stCondLst>
                                    <p:cond delay="0"/>
                                  </p:stCondLst>
                                  <p:childTnLst>
                                    <p:set>
                                      <p:cBhvr>
                                        <p:cTn id="6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allAtOnce"/>
      <p:bldP spid="4" grpId="0" animBg="1"/>
      <p:bldP spid="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71119" y="980902"/>
            <a:ext cx="11824394" cy="5877098"/>
          </a:xfrm>
        </p:spPr>
        <p:txBody>
          <a:bodyPr>
            <a:normAutofit fontScale="85000" lnSpcReduction="10000"/>
          </a:bodyPr>
          <a:lstStyle/>
          <a:p>
            <a:pPr marL="0" indent="0">
              <a:buNone/>
            </a:pPr>
            <a:r>
              <a:rPr lang="en-US" sz="1800" dirty="0"/>
              <a:t>class </a:t>
            </a:r>
            <a:r>
              <a:rPr lang="en-US" sz="1800" dirty="0" err="1"/>
              <a:t>CompleteTree</a:t>
            </a:r>
            <a:r>
              <a:rPr lang="en-US" sz="1800" dirty="0"/>
              <a:t> extends </a:t>
            </a:r>
            <a:r>
              <a:rPr lang="en-US" sz="1800" dirty="0" err="1"/>
              <a:t>RecursiveAction</a:t>
            </a:r>
            <a:r>
              <a:rPr lang="en-US" sz="1800" dirty="0"/>
              <a:t> { </a:t>
            </a:r>
          </a:p>
          <a:p>
            <a:pPr marL="0" indent="0">
              <a:buNone/>
            </a:pPr>
            <a:r>
              <a:rPr lang="en-US" sz="1800" dirty="0"/>
              <a:t>	public </a:t>
            </a:r>
            <a:r>
              <a:rPr lang="en-US" sz="1800" dirty="0" err="1"/>
              <a:t>CompleteTree</a:t>
            </a:r>
            <a:r>
              <a:rPr lang="en-US" sz="1800" dirty="0"/>
              <a:t>(</a:t>
            </a:r>
            <a:r>
              <a:rPr lang="en-US" sz="1800" dirty="0" err="1"/>
              <a:t>PrefixSumNode</a:t>
            </a:r>
            <a:r>
              <a:rPr lang="en-US" sz="1800" dirty="0"/>
              <a:t> </a:t>
            </a:r>
            <a:r>
              <a:rPr lang="en-US" sz="1800" dirty="0" err="1"/>
              <a:t>curr</a:t>
            </a:r>
            <a:r>
              <a:rPr lang="en-US" sz="1800" dirty="0"/>
              <a:t>, </a:t>
            </a:r>
            <a:r>
              <a:rPr lang="en-US" sz="1800" dirty="0" err="1"/>
              <a:t>PrefixSumNode</a:t>
            </a:r>
            <a:r>
              <a:rPr lang="en-US" sz="1800" dirty="0"/>
              <a:t> parent, </a:t>
            </a:r>
            <a:r>
              <a:rPr lang="en-US" sz="1800" dirty="0" err="1"/>
              <a:t>PrefixSumNode</a:t>
            </a:r>
            <a:r>
              <a:rPr lang="en-US" sz="1800" dirty="0"/>
              <a:t> sibling, </a:t>
            </a:r>
            <a:r>
              <a:rPr lang="en-US" sz="1800" dirty="0" err="1"/>
              <a:t>boolean</a:t>
            </a:r>
            <a:r>
              <a:rPr lang="en-US" sz="1800" dirty="0"/>
              <a:t> </a:t>
            </a:r>
            <a:r>
              <a:rPr lang="en-US" sz="1800" dirty="0" err="1"/>
              <a:t>isLeftChild</a:t>
            </a:r>
            <a:r>
              <a:rPr lang="en-US" sz="1800" dirty="0"/>
              <a:t>, int[] output, int[] input){…}</a:t>
            </a:r>
          </a:p>
          <a:p>
            <a:pPr marL="0" indent="0">
              <a:buNone/>
            </a:pPr>
            <a:r>
              <a:rPr lang="en-US" sz="1800" dirty="0"/>
              <a:t>	protected void compute(){ </a:t>
            </a:r>
          </a:p>
          <a:p>
            <a:pPr marL="0" indent="0">
              <a:buNone/>
            </a:pPr>
            <a:r>
              <a:rPr lang="en-US" sz="1800" dirty="0"/>
              <a:t>		if(parent == null) {</a:t>
            </a:r>
            <a:r>
              <a:rPr lang="en-US" sz="1800" dirty="0" err="1"/>
              <a:t>curr.sumLeft</a:t>
            </a:r>
            <a:r>
              <a:rPr lang="en-US" sz="1800" dirty="0"/>
              <a:t> = 0;} // if </a:t>
            </a:r>
            <a:r>
              <a:rPr lang="en-US" sz="1800" dirty="0" err="1"/>
              <a:t>curr</a:t>
            </a:r>
            <a:r>
              <a:rPr lang="en-US" sz="1800" dirty="0"/>
              <a:t> is the root</a:t>
            </a:r>
          </a:p>
          <a:p>
            <a:pPr marL="0" indent="0">
              <a:buNone/>
            </a:pPr>
            <a:r>
              <a:rPr lang="en-US" sz="1800" dirty="0"/>
              <a:t>		else if(</a:t>
            </a:r>
            <a:r>
              <a:rPr lang="en-US" sz="1800" dirty="0" err="1"/>
              <a:t>isLeftChild</a:t>
            </a:r>
            <a:r>
              <a:rPr lang="en-US" sz="1800" dirty="0"/>
              <a:t>) {</a:t>
            </a:r>
            <a:r>
              <a:rPr lang="en-US" sz="1800" dirty="0" err="1"/>
              <a:t>curr.sumLeft</a:t>
            </a:r>
            <a:r>
              <a:rPr lang="en-US" sz="1800" dirty="0"/>
              <a:t> = </a:t>
            </a:r>
            <a:r>
              <a:rPr lang="en-US" sz="1800" dirty="0" err="1"/>
              <a:t>parent.sumLeft</a:t>
            </a:r>
            <a:r>
              <a:rPr lang="en-US" sz="1800" dirty="0"/>
              <a:t>;} // if </a:t>
            </a:r>
            <a:r>
              <a:rPr lang="en-US" sz="1800" dirty="0" err="1"/>
              <a:t>curr</a:t>
            </a:r>
            <a:r>
              <a:rPr lang="en-US" sz="1800" dirty="0"/>
              <a:t> is a left child</a:t>
            </a:r>
          </a:p>
          <a:p>
            <a:pPr marL="0" indent="0">
              <a:buNone/>
            </a:pPr>
            <a:r>
              <a:rPr lang="en-US" sz="1800" dirty="0"/>
              <a:t>		else {</a:t>
            </a:r>
            <a:r>
              <a:rPr lang="en-US" sz="1800" dirty="0" err="1"/>
              <a:t>curr.sumLeft</a:t>
            </a:r>
            <a:r>
              <a:rPr lang="en-US" sz="1800" dirty="0"/>
              <a:t> = </a:t>
            </a:r>
            <a:r>
              <a:rPr lang="en-US" sz="1800" dirty="0" err="1"/>
              <a:t>parent.sumLeft</a:t>
            </a:r>
            <a:r>
              <a:rPr lang="en-US" sz="1800" dirty="0"/>
              <a:t> + </a:t>
            </a:r>
            <a:r>
              <a:rPr lang="en-US" sz="1800" dirty="0" err="1"/>
              <a:t>sibling.sum</a:t>
            </a:r>
            <a:r>
              <a:rPr lang="en-US" sz="1800" dirty="0"/>
              <a:t>;} // if </a:t>
            </a:r>
            <a:r>
              <a:rPr lang="en-US" sz="1800" dirty="0" err="1"/>
              <a:t>curr</a:t>
            </a:r>
            <a:r>
              <a:rPr lang="en-US" sz="1800" dirty="0"/>
              <a:t> is a right child</a:t>
            </a:r>
          </a:p>
          <a:p>
            <a:pPr marL="0" indent="0">
              <a:buNone/>
            </a:pPr>
            <a:r>
              <a:rPr lang="en-US" sz="1800" dirty="0"/>
              <a:t>		if (</a:t>
            </a:r>
            <a:r>
              <a:rPr lang="en-US" sz="1800" dirty="0" err="1"/>
              <a:t>curr.leftChild</a:t>
            </a:r>
            <a:r>
              <a:rPr lang="en-US" sz="1800" dirty="0"/>
              <a:t> != null &amp;&amp; </a:t>
            </a:r>
            <a:r>
              <a:rPr lang="en-US" sz="1800" dirty="0" err="1"/>
              <a:t>curr.rightChild</a:t>
            </a:r>
            <a:r>
              <a:rPr lang="en-US" sz="1800" dirty="0"/>
              <a:t> != null){  // if this isn’t a leaf</a:t>
            </a:r>
          </a:p>
          <a:p>
            <a:pPr marL="0" indent="0">
              <a:buNone/>
            </a:pPr>
            <a:r>
              <a:rPr lang="en-US" sz="1800" dirty="0"/>
              <a:t>			</a:t>
            </a:r>
            <a:r>
              <a:rPr lang="en-US" sz="1800" dirty="0" err="1"/>
              <a:t>CompleteTree</a:t>
            </a:r>
            <a:r>
              <a:rPr lang="en-US" sz="1800" dirty="0"/>
              <a:t> left = new </a:t>
            </a:r>
            <a:r>
              <a:rPr lang="en-US" sz="1800" dirty="0" err="1"/>
              <a:t>CompleteTree</a:t>
            </a:r>
            <a:r>
              <a:rPr lang="en-US" sz="1800" dirty="0"/>
              <a:t>(</a:t>
            </a:r>
            <a:r>
              <a:rPr lang="en-US" sz="1800" dirty="0" err="1"/>
              <a:t>curr.leftChild</a:t>
            </a:r>
            <a:r>
              <a:rPr lang="en-US" sz="1800" dirty="0"/>
              <a:t>, </a:t>
            </a:r>
            <a:r>
              <a:rPr lang="en-US" sz="1800" dirty="0" err="1"/>
              <a:t>curr</a:t>
            </a:r>
            <a:r>
              <a:rPr lang="en-US" sz="1800" dirty="0"/>
              <a:t>, </a:t>
            </a:r>
            <a:r>
              <a:rPr lang="en-US" sz="1800" dirty="0" err="1"/>
              <a:t>curr.rightChild</a:t>
            </a:r>
            <a:r>
              <a:rPr lang="en-US" sz="1800" dirty="0"/>
              <a:t>, true, output, input);</a:t>
            </a:r>
          </a:p>
          <a:p>
            <a:pPr marL="0" indent="0">
              <a:buNone/>
            </a:pPr>
            <a:r>
              <a:rPr lang="en-US" sz="1800" dirty="0"/>
              <a:t>			</a:t>
            </a:r>
            <a:r>
              <a:rPr lang="en-US" sz="1800" dirty="0" err="1"/>
              <a:t>left.fork</a:t>
            </a:r>
            <a:r>
              <a:rPr lang="en-US" sz="1800" dirty="0"/>
              <a:t>(); </a:t>
            </a:r>
          </a:p>
          <a:p>
            <a:pPr marL="0" indent="0">
              <a:buNone/>
            </a:pPr>
            <a:r>
              <a:rPr lang="en-US" sz="1800" dirty="0"/>
              <a:t>			</a:t>
            </a:r>
            <a:r>
              <a:rPr lang="en-US" sz="1800" dirty="0" err="1"/>
              <a:t>CompleteTree</a:t>
            </a:r>
            <a:r>
              <a:rPr lang="en-US" sz="1800" dirty="0"/>
              <a:t> right = new </a:t>
            </a:r>
            <a:r>
              <a:rPr lang="en-US" sz="1800" dirty="0" err="1"/>
              <a:t>CompleteTree</a:t>
            </a:r>
            <a:r>
              <a:rPr lang="en-US" sz="1800" dirty="0"/>
              <a:t>(</a:t>
            </a:r>
            <a:r>
              <a:rPr lang="en-US" sz="1800" dirty="0" err="1"/>
              <a:t>curr.rightChild</a:t>
            </a:r>
            <a:r>
              <a:rPr lang="en-US" sz="1800" dirty="0"/>
              <a:t>, </a:t>
            </a:r>
            <a:r>
              <a:rPr lang="en-US" sz="1800" dirty="0" err="1"/>
              <a:t>curr</a:t>
            </a:r>
            <a:r>
              <a:rPr lang="en-US" sz="1800" dirty="0"/>
              <a:t>, </a:t>
            </a:r>
            <a:r>
              <a:rPr lang="en-US" sz="1800" dirty="0" err="1"/>
              <a:t>curr.leftChild</a:t>
            </a:r>
            <a:r>
              <a:rPr lang="en-US" sz="1800" dirty="0"/>
              <a:t>, false, output, input);</a:t>
            </a:r>
          </a:p>
          <a:p>
            <a:pPr marL="0" indent="0">
              <a:buNone/>
            </a:pPr>
            <a:r>
              <a:rPr lang="en-US" sz="1800" dirty="0"/>
              <a:t>			</a:t>
            </a:r>
            <a:r>
              <a:rPr lang="en-US" sz="1800" dirty="0" err="1"/>
              <a:t>right.compute</a:t>
            </a:r>
            <a:r>
              <a:rPr lang="en-US" sz="1800" dirty="0"/>
              <a:t>();</a:t>
            </a:r>
          </a:p>
          <a:p>
            <a:pPr marL="0" indent="0">
              <a:buNone/>
            </a:pPr>
            <a:r>
              <a:rPr lang="en-US" sz="1800" dirty="0"/>
              <a:t>			</a:t>
            </a:r>
            <a:r>
              <a:rPr lang="en-US" sz="1800" dirty="0" err="1"/>
              <a:t>left.join</a:t>
            </a:r>
            <a:r>
              <a:rPr lang="en-US" sz="1800" dirty="0"/>
              <a:t>();</a:t>
            </a:r>
          </a:p>
          <a:p>
            <a:pPr marL="0" indent="0">
              <a:buNone/>
            </a:pPr>
            <a:r>
              <a:rPr lang="en-US" sz="1800" dirty="0"/>
              <a:t>		}</a:t>
            </a:r>
          </a:p>
          <a:p>
            <a:pPr marL="0" indent="0">
              <a:buNone/>
            </a:pPr>
            <a:r>
              <a:rPr lang="en-US" sz="1800" dirty="0"/>
              <a:t>		else{ // if it is a leaf</a:t>
            </a:r>
          </a:p>
          <a:p>
            <a:pPr marL="0" indent="0">
              <a:buNone/>
            </a:pPr>
            <a:r>
              <a:rPr lang="en-US" sz="1800" dirty="0"/>
              <a:t>			output[</a:t>
            </a:r>
            <a:r>
              <a:rPr lang="en-US" sz="1800" dirty="0" err="1"/>
              <a:t>curr.lo</a:t>
            </a:r>
            <a:r>
              <a:rPr lang="en-US" sz="1800" dirty="0"/>
              <a:t>] = </a:t>
            </a:r>
            <a:r>
              <a:rPr lang="en-US" sz="1800" dirty="0" err="1"/>
              <a:t>curr.sumLeft</a:t>
            </a:r>
            <a:r>
              <a:rPr lang="en-US" sz="1800" dirty="0"/>
              <a:t> + input[</a:t>
            </a:r>
            <a:r>
              <a:rPr lang="en-US" sz="1800" dirty="0" err="1"/>
              <a:t>curr.lo</a:t>
            </a:r>
            <a:r>
              <a:rPr lang="en-US" sz="1800" dirty="0"/>
              <a:t>];</a:t>
            </a:r>
          </a:p>
          <a:p>
            <a:pPr marL="0" indent="0">
              <a:buNone/>
            </a:pPr>
            <a:r>
              <a:rPr lang="en-US" sz="1800" dirty="0"/>
              <a:t>			for(int </a:t>
            </a:r>
            <a:r>
              <a:rPr lang="en-US" sz="1800" dirty="0" err="1"/>
              <a:t>i</a:t>
            </a:r>
            <a:r>
              <a:rPr lang="en-US" sz="1800" dirty="0"/>
              <a:t> = curr.lo+1; </a:t>
            </a:r>
            <a:r>
              <a:rPr lang="en-US" sz="1800" dirty="0" err="1"/>
              <a:t>i</a:t>
            </a:r>
            <a:r>
              <a:rPr lang="en-US" sz="1800" dirty="0"/>
              <a:t> &lt; </a:t>
            </a:r>
            <a:r>
              <a:rPr lang="en-US" sz="1800" dirty="0" err="1"/>
              <a:t>curr.hi</a:t>
            </a:r>
            <a:r>
              <a:rPr lang="en-US" sz="1800" dirty="0"/>
              <a:t>; </a:t>
            </a:r>
            <a:r>
              <a:rPr lang="en-US" sz="1800" dirty="0" err="1"/>
              <a:t>i</a:t>
            </a:r>
            <a:r>
              <a:rPr lang="en-US" sz="1800" dirty="0"/>
              <a:t>++){</a:t>
            </a:r>
          </a:p>
          <a:p>
            <a:pPr marL="0" indent="0">
              <a:buNone/>
            </a:pPr>
            <a:r>
              <a:rPr lang="en-US" sz="1800" dirty="0"/>
              <a:t>				output[</a:t>
            </a:r>
            <a:r>
              <a:rPr lang="en-US" sz="1800" dirty="0" err="1"/>
              <a:t>i</a:t>
            </a:r>
            <a:r>
              <a:rPr lang="en-US" sz="1800" dirty="0"/>
              <a:t>] = output[i-1] + input[</a:t>
            </a:r>
            <a:r>
              <a:rPr lang="en-US" sz="1800" dirty="0" err="1"/>
              <a:t>i</a:t>
            </a:r>
            <a:r>
              <a:rPr lang="en-US" sz="1800" dirty="0"/>
              <a:t>]</a:t>
            </a:r>
          </a:p>
          <a:p>
            <a:pPr marL="0" indent="0">
              <a:buNone/>
            </a:pPr>
            <a:r>
              <a:rPr lang="en-US" sz="1800" dirty="0"/>
              <a:t>			} </a:t>
            </a:r>
          </a:p>
          <a:p>
            <a:pPr marL="0" indent="0">
              <a:buNone/>
            </a:pPr>
            <a:r>
              <a:rPr lang="en-US" sz="1800" dirty="0"/>
              <a:t>		}}} </a:t>
            </a:r>
          </a:p>
        </p:txBody>
      </p:sp>
      <p:sp>
        <p:nvSpPr>
          <p:cNvPr id="2" name="Title 1">
            <a:extLst>
              <a:ext uri="{FF2B5EF4-FFF2-40B4-BE49-F238E27FC236}">
                <a16:creationId xmlns:a16="http://schemas.microsoft.com/office/drawing/2014/main" id="{063ECA7C-8ADB-2754-49F5-2B55AC1E09DA}"/>
              </a:ext>
            </a:extLst>
          </p:cNvPr>
          <p:cNvSpPr>
            <a:spLocks noGrp="1"/>
          </p:cNvSpPr>
          <p:nvPr>
            <p:ph type="title"/>
          </p:nvPr>
        </p:nvSpPr>
        <p:spPr>
          <a:xfrm>
            <a:off x="0" y="-35560"/>
            <a:ext cx="4480098" cy="1325563"/>
          </a:xfrm>
        </p:spPr>
        <p:txBody>
          <a:bodyPr/>
          <a:lstStyle/>
          <a:p>
            <a:r>
              <a:rPr lang="en-US" dirty="0"/>
              <a:t>Step 2 Java Code</a:t>
            </a:r>
          </a:p>
        </p:txBody>
      </p:sp>
    </p:spTree>
    <p:extLst>
      <p:ext uri="{BB962C8B-B14F-4D97-AF65-F5344CB8AC3E}">
        <p14:creationId xmlns:p14="http://schemas.microsoft.com/office/powerpoint/2010/main" val="5704410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5195A-95E5-E229-C661-4192C1FD1D48}"/>
              </a:ext>
            </a:extLst>
          </p:cNvPr>
          <p:cNvSpPr>
            <a:spLocks noGrp="1"/>
          </p:cNvSpPr>
          <p:nvPr>
            <p:ph type="title"/>
          </p:nvPr>
        </p:nvSpPr>
        <p:spPr/>
        <p:txBody>
          <a:bodyPr/>
          <a:lstStyle/>
          <a:p>
            <a:r>
              <a:rPr lang="en-US" dirty="0"/>
              <a:t>Whew! Back to Pack/Filter</a:t>
            </a:r>
          </a:p>
        </p:txBody>
      </p:sp>
      <p:sp>
        <p:nvSpPr>
          <p:cNvPr id="3" name="Content Placeholder 2">
            <a:extLst>
              <a:ext uri="{FF2B5EF4-FFF2-40B4-BE49-F238E27FC236}">
                <a16:creationId xmlns:a16="http://schemas.microsoft.com/office/drawing/2014/main" id="{AF4365FE-88D8-8A18-83A1-AE967A23F2FB}"/>
              </a:ext>
            </a:extLst>
          </p:cNvPr>
          <p:cNvSpPr>
            <a:spLocks noGrp="1"/>
          </p:cNvSpPr>
          <p:nvPr>
            <p:ph idx="1"/>
          </p:nvPr>
        </p:nvSpPr>
        <p:spPr/>
        <p:txBody>
          <a:bodyPr/>
          <a:lstStyle/>
          <a:p>
            <a:r>
              <a:rPr lang="en-US" dirty="0"/>
              <a:t>Given an array of values and a Boolean function, return a new array which contains only elements that were “true”</a:t>
            </a:r>
          </a:p>
          <a:p>
            <a:pPr lvl="1"/>
            <a:endParaRPr lang="en-US" dirty="0"/>
          </a:p>
        </p:txBody>
      </p:sp>
      <p:grpSp>
        <p:nvGrpSpPr>
          <p:cNvPr id="19" name="Group 18" descr="For this pack/filter example we have the input array [10,16,4,18,8,2,14,9] and the boolean function f(x)=x&gt;9&#10;&#10;The output array will be [10,16,18,14]">
            <a:extLst>
              <a:ext uri="{FF2B5EF4-FFF2-40B4-BE49-F238E27FC236}">
                <a16:creationId xmlns:a16="http://schemas.microsoft.com/office/drawing/2014/main" id="{3710F4F4-405B-B7B5-6003-E82DCAE5D21A}"/>
              </a:ext>
            </a:extLst>
          </p:cNvPr>
          <p:cNvGrpSpPr/>
          <p:nvPr/>
        </p:nvGrpSpPr>
        <p:grpSpPr>
          <a:xfrm>
            <a:off x="177800" y="3040696"/>
            <a:ext cx="9115249" cy="1525609"/>
            <a:chOff x="177800" y="3040696"/>
            <a:chExt cx="9115249" cy="1525609"/>
          </a:xfrm>
        </p:grpSpPr>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5BF7C86-07C2-1DED-ADCF-F9AB859CBECE}"/>
                    </a:ext>
                  </a:extLst>
                </p:cNvPr>
                <p:cNvSpPr txBox="1"/>
                <p:nvPr/>
              </p:nvSpPr>
              <p:spPr>
                <a:xfrm>
                  <a:off x="177800" y="4104640"/>
                  <a:ext cx="2005485"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m:oMathPara>
                  </a14:m>
                  <a:endParaRPr lang="en-US" sz="2400" dirty="0"/>
                </a:p>
              </p:txBody>
            </p:sp>
          </mc:Choice>
          <mc:Fallback>
            <p:sp>
              <p:nvSpPr>
                <p:cNvPr id="25" name="TextBox 24">
                  <a:extLst>
                    <a:ext uri="{FF2B5EF4-FFF2-40B4-BE49-F238E27FC236}">
                      <a16:creationId xmlns:a16="http://schemas.microsoft.com/office/drawing/2014/main" id="{35BF7C86-07C2-1DED-ADCF-F9AB859CBECE}"/>
                    </a:ext>
                  </a:extLst>
                </p:cNvPr>
                <p:cNvSpPr txBox="1">
                  <a:spLocks noRot="1" noChangeAspect="1" noMove="1" noResize="1" noEditPoints="1" noAdjustHandles="1" noChangeArrowheads="1" noChangeShapeType="1" noTextEdit="1"/>
                </p:cNvSpPr>
                <p:nvPr/>
              </p:nvSpPr>
              <p:spPr>
                <a:xfrm>
                  <a:off x="177800" y="4104640"/>
                  <a:ext cx="2005485" cy="461665"/>
                </a:xfrm>
                <a:prstGeom prst="rect">
                  <a:avLst/>
                </a:prstGeom>
                <a:blipFill>
                  <a:blip r:embed="rId2"/>
                  <a:stretch>
                    <a:fillRect l="-304" b="-17105"/>
                  </a:stretch>
                </a:blipFill>
              </p:spPr>
              <p:txBody>
                <a:bodyPr/>
                <a:lstStyle/>
                <a:p>
                  <a:r>
                    <a:rPr lang="en-US">
                      <a:noFill/>
                    </a:rPr>
                    <a:t> </a:t>
                  </a:r>
                </a:p>
              </p:txBody>
            </p:sp>
          </mc:Fallback>
        </mc:AlternateContent>
        <p:sp>
          <p:nvSpPr>
            <p:cNvPr id="26" name="Arrow: Right 25">
              <a:extLst>
                <a:ext uri="{FF2B5EF4-FFF2-40B4-BE49-F238E27FC236}">
                  <a16:creationId xmlns:a16="http://schemas.microsoft.com/office/drawing/2014/main" id="{820FA9ED-5E25-DE65-7403-2DBD2CE61FE7}"/>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180F180-0950-FDFD-5099-99604E9DEB9E}"/>
                </a:ext>
              </a:extLst>
            </p:cNvPr>
            <p:cNvGrpSpPr/>
            <p:nvPr/>
          </p:nvGrpSpPr>
          <p:grpSpPr>
            <a:xfrm>
              <a:off x="463426" y="3190220"/>
              <a:ext cx="4499734" cy="562558"/>
              <a:chOff x="6392545" y="364404"/>
              <a:chExt cx="5726090" cy="715878"/>
            </a:xfrm>
          </p:grpSpPr>
          <p:grpSp>
            <p:nvGrpSpPr>
              <p:cNvPr id="41" name="Group 40">
                <a:extLst>
                  <a:ext uri="{FF2B5EF4-FFF2-40B4-BE49-F238E27FC236}">
                    <a16:creationId xmlns:a16="http://schemas.microsoft.com/office/drawing/2014/main" id="{8450986C-A5EE-CF6A-79BE-F31594B75E54}"/>
                  </a:ext>
                </a:extLst>
              </p:cNvPr>
              <p:cNvGrpSpPr/>
              <p:nvPr/>
            </p:nvGrpSpPr>
            <p:grpSpPr>
              <a:xfrm>
                <a:off x="6392545" y="365125"/>
                <a:ext cx="4295776" cy="715157"/>
                <a:chOff x="7967980" y="4321811"/>
                <a:chExt cx="2258060" cy="375920"/>
              </a:xfrm>
            </p:grpSpPr>
            <p:sp>
              <p:nvSpPr>
                <p:cNvPr id="44" name="Rectangle 43">
                  <a:extLst>
                    <a:ext uri="{FF2B5EF4-FFF2-40B4-BE49-F238E27FC236}">
                      <a16:creationId xmlns:a16="http://schemas.microsoft.com/office/drawing/2014/main" id="{18AF23DC-2CED-9D08-766B-C623A1A9338F}"/>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45" name="Rectangle 44">
                  <a:extLst>
                    <a:ext uri="{FF2B5EF4-FFF2-40B4-BE49-F238E27FC236}">
                      <a16:creationId xmlns:a16="http://schemas.microsoft.com/office/drawing/2014/main" id="{690711EB-ADB0-1532-EC52-AEC8503D716E}"/>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46" name="Rectangle 45">
                  <a:extLst>
                    <a:ext uri="{FF2B5EF4-FFF2-40B4-BE49-F238E27FC236}">
                      <a16:creationId xmlns:a16="http://schemas.microsoft.com/office/drawing/2014/main" id="{615793A0-4A68-92F1-FA40-DCA4E7BF53A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47" name="Rectangle 46">
                  <a:extLst>
                    <a:ext uri="{FF2B5EF4-FFF2-40B4-BE49-F238E27FC236}">
                      <a16:creationId xmlns:a16="http://schemas.microsoft.com/office/drawing/2014/main" id="{2C482B20-67EE-9D6E-0D8E-DF6025A731F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48" name="Rectangle 47">
                  <a:extLst>
                    <a:ext uri="{FF2B5EF4-FFF2-40B4-BE49-F238E27FC236}">
                      <a16:creationId xmlns:a16="http://schemas.microsoft.com/office/drawing/2014/main" id="{80E619BF-E01A-226D-21B8-A8AF8375C69F}"/>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49" name="Rectangle 48">
                  <a:extLst>
                    <a:ext uri="{FF2B5EF4-FFF2-40B4-BE49-F238E27FC236}">
                      <a16:creationId xmlns:a16="http://schemas.microsoft.com/office/drawing/2014/main" id="{28F237DA-522A-CA3D-64C7-4EACBE27352F}"/>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42" name="Rectangle 41">
                <a:extLst>
                  <a:ext uri="{FF2B5EF4-FFF2-40B4-BE49-F238E27FC236}">
                    <a16:creationId xmlns:a16="http://schemas.microsoft.com/office/drawing/2014/main" id="{5519C902-22B1-B69C-81DE-FF77F5AF4DD8}"/>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43" name="Rectangle 42">
                <a:extLst>
                  <a:ext uri="{FF2B5EF4-FFF2-40B4-BE49-F238E27FC236}">
                    <a16:creationId xmlns:a16="http://schemas.microsoft.com/office/drawing/2014/main" id="{3CD151E4-4259-58AC-EC7D-9C31AFA6F2D0}"/>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4" name="Group 83">
              <a:extLst>
                <a:ext uri="{FF2B5EF4-FFF2-40B4-BE49-F238E27FC236}">
                  <a16:creationId xmlns:a16="http://schemas.microsoft.com/office/drawing/2014/main" id="{5718806C-96CC-87C4-BE92-0AF4BB42F0B3}"/>
                </a:ext>
              </a:extLst>
            </p:cNvPr>
            <p:cNvGrpSpPr/>
            <p:nvPr/>
          </p:nvGrpSpPr>
          <p:grpSpPr>
            <a:xfrm>
              <a:off x="7041283" y="3190787"/>
              <a:ext cx="2251766" cy="561991"/>
              <a:chOff x="7967980" y="4321811"/>
              <a:chExt cx="1506220" cy="375920"/>
            </a:xfrm>
          </p:grpSpPr>
          <p:sp>
            <p:nvSpPr>
              <p:cNvPr id="87" name="Rectangle 86">
                <a:extLst>
                  <a:ext uri="{FF2B5EF4-FFF2-40B4-BE49-F238E27FC236}">
                    <a16:creationId xmlns:a16="http://schemas.microsoft.com/office/drawing/2014/main" id="{E011B574-641A-6A8D-7E0F-C92C43928CDE}"/>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88" name="Rectangle 87">
                <a:extLst>
                  <a:ext uri="{FF2B5EF4-FFF2-40B4-BE49-F238E27FC236}">
                    <a16:creationId xmlns:a16="http://schemas.microsoft.com/office/drawing/2014/main" id="{5BE483D6-6659-14D6-56B6-FB48E1F7138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89" name="Rectangle 88">
                <a:extLst>
                  <a:ext uri="{FF2B5EF4-FFF2-40B4-BE49-F238E27FC236}">
                    <a16:creationId xmlns:a16="http://schemas.microsoft.com/office/drawing/2014/main" id="{2677C511-8DF8-3D27-8124-7CE951D9767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0" name="Rectangle 89">
                <a:extLst>
                  <a:ext uri="{FF2B5EF4-FFF2-40B4-BE49-F238E27FC236}">
                    <a16:creationId xmlns:a16="http://schemas.microsoft.com/office/drawing/2014/main" id="{D2B8A14F-B1BD-4903-A953-7ACFE8DCA8D0}"/>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grpSp>
    </p:spTree>
    <p:extLst>
      <p:ext uri="{BB962C8B-B14F-4D97-AF65-F5344CB8AC3E}">
        <p14:creationId xmlns:p14="http://schemas.microsoft.com/office/powerpoint/2010/main" val="8878568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9A0AF-3FEB-E58E-F11F-498D16C53748}"/>
              </a:ext>
            </a:extLst>
          </p:cNvPr>
          <p:cNvSpPr>
            <a:spLocks noGrp="1"/>
          </p:cNvSpPr>
          <p:nvPr>
            <p:ph type="title"/>
          </p:nvPr>
        </p:nvSpPr>
        <p:spPr/>
        <p:txBody>
          <a:bodyPr/>
          <a:lstStyle/>
          <a:p>
            <a:r>
              <a:rPr lang="en-US" dirty="0"/>
              <a:t>Parallel Pack</a:t>
            </a:r>
          </a:p>
        </p:txBody>
      </p:sp>
      <p:sp>
        <p:nvSpPr>
          <p:cNvPr id="3" name="Content Placeholder 2">
            <a:extLst>
              <a:ext uri="{FF2B5EF4-FFF2-40B4-BE49-F238E27FC236}">
                <a16:creationId xmlns:a16="http://schemas.microsoft.com/office/drawing/2014/main" id="{269B01AA-8775-CE37-C0B2-EF5EBB5D8684}"/>
              </a:ext>
            </a:extLst>
          </p:cNvPr>
          <p:cNvSpPr>
            <a:spLocks noGrp="1"/>
          </p:cNvSpPr>
          <p:nvPr>
            <p:ph idx="1"/>
          </p:nvPr>
        </p:nvSpPr>
        <p:spPr>
          <a:xfrm>
            <a:off x="838200" y="1825625"/>
            <a:ext cx="10515600" cy="4851916"/>
          </a:xfrm>
        </p:spPr>
        <p:txBody>
          <a:bodyPr/>
          <a:lstStyle/>
          <a:p>
            <a:pPr marL="514350" indent="-514350">
              <a:buFont typeface="+mj-lt"/>
              <a:buAutoNum type="arabicPeriod"/>
            </a:pPr>
            <a:r>
              <a:rPr lang="en-US" dirty="0"/>
              <a:t>Do a </a:t>
            </a:r>
            <a:r>
              <a:rPr lang="en-US" b="1" dirty="0"/>
              <a:t>map</a:t>
            </a:r>
            <a:r>
              <a:rPr lang="en-US" dirty="0"/>
              <a:t> to identify the true elements</a:t>
            </a:r>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r>
              <a:rPr lang="en-US" dirty="0"/>
              <a:t>Do </a:t>
            </a:r>
            <a:r>
              <a:rPr lang="en-US" b="1" dirty="0"/>
              <a:t>prefix sum </a:t>
            </a:r>
            <a:r>
              <a:rPr lang="en-US" dirty="0"/>
              <a:t>on the result </a:t>
            </a:r>
            <a:r>
              <a:rPr lang="en-US" dirty="0">
                <a:sym typeface="Wingdings" pitchFamily="2" charset="2"/>
              </a:rPr>
              <a:t></a:t>
            </a:r>
            <a:r>
              <a:rPr lang="en-US" dirty="0"/>
              <a:t> count of true elements seen to the left of each position</a:t>
            </a:r>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r>
              <a:rPr lang="en-US" dirty="0"/>
              <a:t>Populate in the output in parallel:</a:t>
            </a:r>
          </a:p>
          <a:p>
            <a:pPr marL="514350" indent="-514350">
              <a:buFont typeface="+mj-lt"/>
              <a:buAutoNum type="arabicPeriod"/>
            </a:pPr>
            <a:endParaRPr lang="en-US" dirty="0"/>
          </a:p>
          <a:p>
            <a:pPr marL="514350" indent="-514350">
              <a:buFont typeface="+mj-lt"/>
              <a:buAutoNum type="arabicPeriod"/>
            </a:pPr>
            <a:endParaRPr lang="en-US" dirty="0"/>
          </a:p>
        </p:txBody>
      </p:sp>
      <p:grpSp>
        <p:nvGrpSpPr>
          <p:cNvPr id="37" name="Group 36" descr="After the map we have the array:&#10;[1,1,0,1,0,0,1,0]">
            <a:extLst>
              <a:ext uri="{FF2B5EF4-FFF2-40B4-BE49-F238E27FC236}">
                <a16:creationId xmlns:a16="http://schemas.microsoft.com/office/drawing/2014/main" id="{FC636063-C8E2-0FEE-E5BA-C8D7D1245BA4}"/>
              </a:ext>
            </a:extLst>
          </p:cNvPr>
          <p:cNvGrpSpPr/>
          <p:nvPr/>
        </p:nvGrpSpPr>
        <p:grpSpPr>
          <a:xfrm>
            <a:off x="2790066" y="2489180"/>
            <a:ext cx="4499734" cy="562558"/>
            <a:chOff x="6392545" y="364404"/>
            <a:chExt cx="5726090" cy="715878"/>
          </a:xfrm>
        </p:grpSpPr>
        <p:grpSp>
          <p:nvGrpSpPr>
            <p:cNvPr id="38" name="Group 37">
              <a:extLst>
                <a:ext uri="{FF2B5EF4-FFF2-40B4-BE49-F238E27FC236}">
                  <a16:creationId xmlns:a16="http://schemas.microsoft.com/office/drawing/2014/main" id="{7E944905-D999-C063-48EC-AF1F06585848}"/>
                </a:ext>
              </a:extLst>
            </p:cNvPr>
            <p:cNvGrpSpPr/>
            <p:nvPr/>
          </p:nvGrpSpPr>
          <p:grpSpPr>
            <a:xfrm>
              <a:off x="6392545" y="365125"/>
              <a:ext cx="4295776" cy="715157"/>
              <a:chOff x="7967980" y="4321811"/>
              <a:chExt cx="2258060" cy="375920"/>
            </a:xfrm>
          </p:grpSpPr>
          <p:sp>
            <p:nvSpPr>
              <p:cNvPr id="41" name="Rectangle 40">
                <a:extLst>
                  <a:ext uri="{FF2B5EF4-FFF2-40B4-BE49-F238E27FC236}">
                    <a16:creationId xmlns:a16="http://schemas.microsoft.com/office/drawing/2014/main" id="{B753199B-366A-E03A-9494-6050AF54EB24}"/>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2" name="Rectangle 41">
                <a:extLst>
                  <a:ext uri="{FF2B5EF4-FFF2-40B4-BE49-F238E27FC236}">
                    <a16:creationId xmlns:a16="http://schemas.microsoft.com/office/drawing/2014/main" id="{8449406E-601D-43ED-682F-CCBF95341B2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3" name="Rectangle 42">
                <a:extLst>
                  <a:ext uri="{FF2B5EF4-FFF2-40B4-BE49-F238E27FC236}">
                    <a16:creationId xmlns:a16="http://schemas.microsoft.com/office/drawing/2014/main" id="{51CA3E64-424B-C7BB-9788-A8C9A10B327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44" name="Rectangle 43">
                <a:extLst>
                  <a:ext uri="{FF2B5EF4-FFF2-40B4-BE49-F238E27FC236}">
                    <a16:creationId xmlns:a16="http://schemas.microsoft.com/office/drawing/2014/main" id="{2D8740A2-A981-696F-F04A-3039FBCB1A07}"/>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5" name="Rectangle 44">
                <a:extLst>
                  <a:ext uri="{FF2B5EF4-FFF2-40B4-BE49-F238E27FC236}">
                    <a16:creationId xmlns:a16="http://schemas.microsoft.com/office/drawing/2014/main" id="{B948281F-2F4F-3A9E-34D1-5B231D29F2E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46" name="Rectangle 45">
                <a:extLst>
                  <a:ext uri="{FF2B5EF4-FFF2-40B4-BE49-F238E27FC236}">
                    <a16:creationId xmlns:a16="http://schemas.microsoft.com/office/drawing/2014/main" id="{67388C34-5C52-47EB-9E19-E545EE0FC16A}"/>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39" name="Rectangle 38">
              <a:extLst>
                <a:ext uri="{FF2B5EF4-FFF2-40B4-BE49-F238E27FC236}">
                  <a16:creationId xmlns:a16="http://schemas.microsoft.com/office/drawing/2014/main" id="{D4DDE16B-3980-F9F7-9528-0890B6C4F32A}"/>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0" name="Rectangle 39">
              <a:extLst>
                <a:ext uri="{FF2B5EF4-FFF2-40B4-BE49-F238E27FC236}">
                  <a16:creationId xmlns:a16="http://schemas.microsoft.com/office/drawing/2014/main" id="{3B89AE14-AE04-CD14-A077-9419F311FA7E}"/>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grpSp>
        <p:nvGrpSpPr>
          <p:cNvPr id="6" name="Group 5" descr="For this pack/filter example we have the input array [10,16,4,18,8,2,14,9] and the boolean function f(x)=x&gt;9&#10;&#10;The output array will be [10,16,18,14]">
            <a:extLst>
              <a:ext uri="{FF2B5EF4-FFF2-40B4-BE49-F238E27FC236}">
                <a16:creationId xmlns:a16="http://schemas.microsoft.com/office/drawing/2014/main" id="{EA935D57-3411-C679-D8A6-74B61F82A241}"/>
              </a:ext>
            </a:extLst>
          </p:cNvPr>
          <p:cNvGrpSpPr/>
          <p:nvPr/>
        </p:nvGrpSpPr>
        <p:grpSpPr>
          <a:xfrm>
            <a:off x="4271171" y="83846"/>
            <a:ext cx="7452927" cy="1720798"/>
            <a:chOff x="4271171" y="83846"/>
            <a:chExt cx="7452927" cy="1720798"/>
          </a:xfrm>
        </p:grpSpPr>
        <p:grpSp>
          <p:nvGrpSpPr>
            <p:cNvPr id="4" name="Group 3">
              <a:extLst>
                <a:ext uri="{FF2B5EF4-FFF2-40B4-BE49-F238E27FC236}">
                  <a16:creationId xmlns:a16="http://schemas.microsoft.com/office/drawing/2014/main" id="{A00CFED0-B2F0-AA12-9072-FB40A4FAC25F}"/>
                </a:ext>
              </a:extLst>
            </p:cNvPr>
            <p:cNvGrpSpPr/>
            <p:nvPr/>
          </p:nvGrpSpPr>
          <p:grpSpPr>
            <a:xfrm>
              <a:off x="4271171" y="83846"/>
              <a:ext cx="5383586" cy="1720798"/>
              <a:chOff x="6679091" y="83846"/>
              <a:chExt cx="5383586" cy="1720798"/>
            </a:xfrm>
          </p:grpSpPr>
          <p:grpSp>
            <p:nvGrpSpPr>
              <p:cNvPr id="5" name="Group 4">
                <a:extLst>
                  <a:ext uri="{FF2B5EF4-FFF2-40B4-BE49-F238E27FC236}">
                    <a16:creationId xmlns:a16="http://schemas.microsoft.com/office/drawing/2014/main" id="{B2F9FCD9-230D-CACB-8CDB-39506AF669CF}"/>
                  </a:ext>
                </a:extLst>
              </p:cNvPr>
              <p:cNvGrpSpPr/>
              <p:nvPr/>
            </p:nvGrpSpPr>
            <p:grpSpPr>
              <a:xfrm>
                <a:off x="7562943" y="83846"/>
                <a:ext cx="4499734" cy="562558"/>
                <a:chOff x="6392545" y="364404"/>
                <a:chExt cx="5726090" cy="715878"/>
              </a:xfrm>
            </p:grpSpPr>
            <p:grpSp>
              <p:nvGrpSpPr>
                <p:cNvPr id="28" name="Group 27">
                  <a:extLst>
                    <a:ext uri="{FF2B5EF4-FFF2-40B4-BE49-F238E27FC236}">
                      <a16:creationId xmlns:a16="http://schemas.microsoft.com/office/drawing/2014/main" id="{A80BAC5D-1E64-9B24-338B-85E71EC506C9}"/>
                    </a:ext>
                  </a:extLst>
                </p:cNvPr>
                <p:cNvGrpSpPr/>
                <p:nvPr/>
              </p:nvGrpSpPr>
              <p:grpSpPr>
                <a:xfrm>
                  <a:off x="6392545" y="365125"/>
                  <a:ext cx="4295776" cy="715157"/>
                  <a:chOff x="7967980" y="4321811"/>
                  <a:chExt cx="2258060" cy="375920"/>
                </a:xfrm>
              </p:grpSpPr>
              <p:sp>
                <p:nvSpPr>
                  <p:cNvPr id="31" name="Rectangle 30">
                    <a:extLst>
                      <a:ext uri="{FF2B5EF4-FFF2-40B4-BE49-F238E27FC236}">
                        <a16:creationId xmlns:a16="http://schemas.microsoft.com/office/drawing/2014/main" id="{A1659301-6C8E-463C-322F-E7C31EBFD92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32" name="Rectangle 31">
                    <a:extLst>
                      <a:ext uri="{FF2B5EF4-FFF2-40B4-BE49-F238E27FC236}">
                        <a16:creationId xmlns:a16="http://schemas.microsoft.com/office/drawing/2014/main" id="{DAA772E7-8396-D9A0-CCE8-E5433A8E28F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33" name="Rectangle 32">
                    <a:extLst>
                      <a:ext uri="{FF2B5EF4-FFF2-40B4-BE49-F238E27FC236}">
                        <a16:creationId xmlns:a16="http://schemas.microsoft.com/office/drawing/2014/main" id="{32F2051A-4CE2-62CD-C0BC-E1F56E13D27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34" name="Rectangle 33">
                    <a:extLst>
                      <a:ext uri="{FF2B5EF4-FFF2-40B4-BE49-F238E27FC236}">
                        <a16:creationId xmlns:a16="http://schemas.microsoft.com/office/drawing/2014/main" id="{3DB7BDF1-07C9-4093-91E2-F699963AB33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35" name="Rectangle 34">
                    <a:extLst>
                      <a:ext uri="{FF2B5EF4-FFF2-40B4-BE49-F238E27FC236}">
                        <a16:creationId xmlns:a16="http://schemas.microsoft.com/office/drawing/2014/main" id="{BA1522E8-C124-897A-81F1-868CADF18A7E}"/>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36" name="Rectangle 35">
                    <a:extLst>
                      <a:ext uri="{FF2B5EF4-FFF2-40B4-BE49-F238E27FC236}">
                        <a16:creationId xmlns:a16="http://schemas.microsoft.com/office/drawing/2014/main" id="{B107DB79-4397-C35C-9E62-1A2FC330C592}"/>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29" name="Rectangle 28">
                  <a:extLst>
                    <a:ext uri="{FF2B5EF4-FFF2-40B4-BE49-F238E27FC236}">
                      <a16:creationId xmlns:a16="http://schemas.microsoft.com/office/drawing/2014/main" id="{5D2122A2-DACE-E493-490F-46220C881E95}"/>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30" name="Rectangle 29">
                  <a:extLst>
                    <a:ext uri="{FF2B5EF4-FFF2-40B4-BE49-F238E27FC236}">
                      <a16:creationId xmlns:a16="http://schemas.microsoft.com/office/drawing/2014/main" id="{6822E97A-8860-ED2F-4BEC-88B3D8D8C9A8}"/>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19" name="Group 18">
                <a:extLst>
                  <a:ext uri="{FF2B5EF4-FFF2-40B4-BE49-F238E27FC236}">
                    <a16:creationId xmlns:a16="http://schemas.microsoft.com/office/drawing/2014/main" id="{019E9884-3AE7-0DA3-4C19-A85C577B165B}"/>
                  </a:ext>
                </a:extLst>
              </p:cNvPr>
              <p:cNvGrpSpPr/>
              <p:nvPr/>
            </p:nvGrpSpPr>
            <p:grpSpPr>
              <a:xfrm>
                <a:off x="7562942" y="774549"/>
                <a:ext cx="2251766" cy="561991"/>
                <a:chOff x="7967980" y="4321811"/>
                <a:chExt cx="1506220" cy="375920"/>
              </a:xfrm>
            </p:grpSpPr>
            <p:sp>
              <p:nvSpPr>
                <p:cNvPr id="22" name="Rectangle 21">
                  <a:extLst>
                    <a:ext uri="{FF2B5EF4-FFF2-40B4-BE49-F238E27FC236}">
                      <a16:creationId xmlns:a16="http://schemas.microsoft.com/office/drawing/2014/main" id="{1FBE0E46-9BDC-D815-6A32-FF49B13D8D0F}"/>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23" name="Rectangle 22">
                  <a:extLst>
                    <a:ext uri="{FF2B5EF4-FFF2-40B4-BE49-F238E27FC236}">
                      <a16:creationId xmlns:a16="http://schemas.microsoft.com/office/drawing/2014/main" id="{B7F03414-2657-9800-8EB2-78A52B878E03}"/>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24" name="Rectangle 23">
                  <a:extLst>
                    <a:ext uri="{FF2B5EF4-FFF2-40B4-BE49-F238E27FC236}">
                      <a16:creationId xmlns:a16="http://schemas.microsoft.com/office/drawing/2014/main" id="{09BC76A6-7C82-9BCC-9A00-5E2439D0150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25" name="Rectangle 24">
                  <a:extLst>
                    <a:ext uri="{FF2B5EF4-FFF2-40B4-BE49-F238E27FC236}">
                      <a16:creationId xmlns:a16="http://schemas.microsoft.com/office/drawing/2014/main" id="{46F769B2-8A80-0E6A-3A2D-5EAA31268F21}"/>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sp>
            <p:nvSpPr>
              <p:cNvPr id="7" name="TextBox 6">
                <a:extLst>
                  <a:ext uri="{FF2B5EF4-FFF2-40B4-BE49-F238E27FC236}">
                    <a16:creationId xmlns:a16="http://schemas.microsoft.com/office/drawing/2014/main" id="{20511CFB-41F3-24B7-8322-3F5BD24B909A}"/>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 name="TextBox 7">
                <a:extLst>
                  <a:ext uri="{FF2B5EF4-FFF2-40B4-BE49-F238E27FC236}">
                    <a16:creationId xmlns:a16="http://schemas.microsoft.com/office/drawing/2014/main" id="{A1C0692A-78F5-D5D3-18ED-244FA3F4DCCA}"/>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9" name="Group 8">
                <a:extLst>
                  <a:ext uri="{FF2B5EF4-FFF2-40B4-BE49-F238E27FC236}">
                    <a16:creationId xmlns:a16="http://schemas.microsoft.com/office/drawing/2014/main" id="{5FC3E7C9-236C-7571-5F6B-17EAB41B7DA3}"/>
                  </a:ext>
                </a:extLst>
              </p:cNvPr>
              <p:cNvGrpSpPr/>
              <p:nvPr/>
            </p:nvGrpSpPr>
            <p:grpSpPr>
              <a:xfrm>
                <a:off x="7562943" y="1242086"/>
                <a:ext cx="4499734" cy="562558"/>
                <a:chOff x="6392545" y="364404"/>
                <a:chExt cx="5726090" cy="715878"/>
              </a:xfrm>
              <a:noFill/>
            </p:grpSpPr>
            <p:grpSp>
              <p:nvGrpSpPr>
                <p:cNvPr id="10" name="Group 9">
                  <a:extLst>
                    <a:ext uri="{FF2B5EF4-FFF2-40B4-BE49-F238E27FC236}">
                      <a16:creationId xmlns:a16="http://schemas.microsoft.com/office/drawing/2014/main" id="{8D58F956-B968-82E3-55AF-A476EF32FB59}"/>
                    </a:ext>
                  </a:extLst>
                </p:cNvPr>
                <p:cNvGrpSpPr/>
                <p:nvPr/>
              </p:nvGrpSpPr>
              <p:grpSpPr>
                <a:xfrm>
                  <a:off x="6392545" y="365125"/>
                  <a:ext cx="4295776" cy="715157"/>
                  <a:chOff x="7967980" y="4321811"/>
                  <a:chExt cx="2258060" cy="375920"/>
                </a:xfrm>
                <a:grpFill/>
              </p:grpSpPr>
              <p:sp>
                <p:nvSpPr>
                  <p:cNvPr id="13" name="Rectangle 12">
                    <a:extLst>
                      <a:ext uri="{FF2B5EF4-FFF2-40B4-BE49-F238E27FC236}">
                        <a16:creationId xmlns:a16="http://schemas.microsoft.com/office/drawing/2014/main" id="{9A0E7709-2603-93BF-8BFD-330EA9ADB27B}"/>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14" name="Rectangle 13">
                    <a:extLst>
                      <a:ext uri="{FF2B5EF4-FFF2-40B4-BE49-F238E27FC236}">
                        <a16:creationId xmlns:a16="http://schemas.microsoft.com/office/drawing/2014/main" id="{8948B81A-F036-DF25-DADB-AEDB6D018BB7}"/>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15" name="Rectangle 14">
                    <a:extLst>
                      <a:ext uri="{FF2B5EF4-FFF2-40B4-BE49-F238E27FC236}">
                        <a16:creationId xmlns:a16="http://schemas.microsoft.com/office/drawing/2014/main" id="{A17D802C-1B0D-2BA4-3042-49CEF61B9BBB}"/>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16" name="Rectangle 15">
                    <a:extLst>
                      <a:ext uri="{FF2B5EF4-FFF2-40B4-BE49-F238E27FC236}">
                        <a16:creationId xmlns:a16="http://schemas.microsoft.com/office/drawing/2014/main" id="{C5097C9E-B507-3FD5-9282-0E3E7CCEFF70}"/>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17" name="Rectangle 16">
                    <a:extLst>
                      <a:ext uri="{FF2B5EF4-FFF2-40B4-BE49-F238E27FC236}">
                        <a16:creationId xmlns:a16="http://schemas.microsoft.com/office/drawing/2014/main" id="{86F5A8E5-53FC-CABE-4FB0-730CB6A70638}"/>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18" name="Rectangle 17">
                    <a:extLst>
                      <a:ext uri="{FF2B5EF4-FFF2-40B4-BE49-F238E27FC236}">
                        <a16:creationId xmlns:a16="http://schemas.microsoft.com/office/drawing/2014/main" id="{40F0F3AB-90C8-0AF9-EA45-233DC0C7C8B0}"/>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11" name="Rectangle 10">
                  <a:extLst>
                    <a:ext uri="{FF2B5EF4-FFF2-40B4-BE49-F238E27FC236}">
                      <a16:creationId xmlns:a16="http://schemas.microsoft.com/office/drawing/2014/main" id="{27B3473B-DD64-C6EA-465F-D8FF0A35DA31}"/>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12" name="Rectangle 11">
                  <a:extLst>
                    <a:ext uri="{FF2B5EF4-FFF2-40B4-BE49-F238E27FC236}">
                      <a16:creationId xmlns:a16="http://schemas.microsoft.com/office/drawing/2014/main" id="{2AC513AA-5A3F-DB4B-DAEA-E2A19AF9F79A}"/>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707B2160-DFFA-AB81-D4FC-DB18B352510A}"/>
                    </a:ext>
                  </a:extLst>
                </p:cNvPr>
                <p:cNvSpPr txBox="1"/>
                <p:nvPr/>
              </p:nvSpPr>
              <p:spPr>
                <a:xfrm>
                  <a:off x="9641668" y="152890"/>
                  <a:ext cx="2082430" cy="461665"/>
                </a:xfrm>
                <a:prstGeom prst="rect">
                  <a:avLst/>
                </a:prstGeom>
                <a:noFill/>
              </p:spPr>
              <p:txBody>
                <a:bodyPr wrap="none" rtlCol="0">
                  <a:spAutoFit/>
                </a:bodyPr>
                <a:lstStyle/>
                <a:p>
                  <a:r>
                    <a:rPr lang="en-US" sz="2400" b="0" dirty="0"/>
                    <a:t>,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a14:m>
                  <a:endParaRPr lang="en-US" sz="2400" dirty="0"/>
                </a:p>
              </p:txBody>
            </p:sp>
          </mc:Choice>
          <mc:Fallback>
            <p:sp>
              <p:nvSpPr>
                <p:cNvPr id="47" name="TextBox 46">
                  <a:extLst>
                    <a:ext uri="{FF2B5EF4-FFF2-40B4-BE49-F238E27FC236}">
                      <a16:creationId xmlns:a16="http://schemas.microsoft.com/office/drawing/2014/main" id="{707B2160-DFFA-AB81-D4FC-DB18B352510A}"/>
                    </a:ext>
                  </a:extLst>
                </p:cNvPr>
                <p:cNvSpPr txBox="1">
                  <a:spLocks noRot="1" noChangeAspect="1" noMove="1" noResize="1" noEditPoints="1" noAdjustHandles="1" noChangeArrowheads="1" noChangeShapeType="1" noTextEdit="1"/>
                </p:cNvSpPr>
                <p:nvPr/>
              </p:nvSpPr>
              <p:spPr>
                <a:xfrm>
                  <a:off x="9641668" y="152890"/>
                  <a:ext cx="2082430" cy="461665"/>
                </a:xfrm>
                <a:prstGeom prst="rect">
                  <a:avLst/>
                </a:prstGeom>
                <a:blipFill>
                  <a:blip r:embed="rId2"/>
                  <a:stretch>
                    <a:fillRect l="-4692" t="-10526" b="-28947"/>
                  </a:stretch>
                </a:blipFill>
              </p:spPr>
              <p:txBody>
                <a:bodyPr/>
                <a:lstStyle/>
                <a:p>
                  <a:r>
                    <a:rPr lang="en-US">
                      <a:noFill/>
                    </a:rPr>
                    <a:t> </a:t>
                  </a:r>
                </a:p>
              </p:txBody>
            </p:sp>
          </mc:Fallback>
        </mc:AlternateContent>
      </p:grpSp>
      <p:grpSp>
        <p:nvGrpSpPr>
          <p:cNvPr id="48" name="Group 47" descr="After the prefix sum we have the array:&#10;[1,2,2,3,3,3,4,4]">
            <a:extLst>
              <a:ext uri="{FF2B5EF4-FFF2-40B4-BE49-F238E27FC236}">
                <a16:creationId xmlns:a16="http://schemas.microsoft.com/office/drawing/2014/main" id="{C0169672-A269-48A2-C82D-C54A7F98FD6B}"/>
              </a:ext>
            </a:extLst>
          </p:cNvPr>
          <p:cNvGrpSpPr/>
          <p:nvPr/>
        </p:nvGrpSpPr>
        <p:grpSpPr>
          <a:xfrm>
            <a:off x="2787022" y="4332504"/>
            <a:ext cx="4499734" cy="562558"/>
            <a:chOff x="6392545" y="364404"/>
            <a:chExt cx="5726090" cy="715878"/>
          </a:xfrm>
        </p:grpSpPr>
        <p:grpSp>
          <p:nvGrpSpPr>
            <p:cNvPr id="49" name="Group 48">
              <a:extLst>
                <a:ext uri="{FF2B5EF4-FFF2-40B4-BE49-F238E27FC236}">
                  <a16:creationId xmlns:a16="http://schemas.microsoft.com/office/drawing/2014/main" id="{AE7ACD9E-FB4A-5BC4-D733-5BD6C1279522}"/>
                </a:ext>
              </a:extLst>
            </p:cNvPr>
            <p:cNvGrpSpPr/>
            <p:nvPr/>
          </p:nvGrpSpPr>
          <p:grpSpPr>
            <a:xfrm>
              <a:off x="6392545" y="365125"/>
              <a:ext cx="4295776" cy="715157"/>
              <a:chOff x="7967980" y="4321811"/>
              <a:chExt cx="2258060" cy="375920"/>
            </a:xfrm>
          </p:grpSpPr>
          <p:sp>
            <p:nvSpPr>
              <p:cNvPr id="52" name="Rectangle 51">
                <a:extLst>
                  <a:ext uri="{FF2B5EF4-FFF2-40B4-BE49-F238E27FC236}">
                    <a16:creationId xmlns:a16="http://schemas.microsoft.com/office/drawing/2014/main" id="{3E15D45A-573D-7EF6-BD84-85560EAC504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53" name="Rectangle 52">
                <a:extLst>
                  <a:ext uri="{FF2B5EF4-FFF2-40B4-BE49-F238E27FC236}">
                    <a16:creationId xmlns:a16="http://schemas.microsoft.com/office/drawing/2014/main" id="{D5CD4BF9-44FA-564B-9265-3B4B1432C3E9}"/>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54" name="Rectangle 53">
                <a:extLst>
                  <a:ext uri="{FF2B5EF4-FFF2-40B4-BE49-F238E27FC236}">
                    <a16:creationId xmlns:a16="http://schemas.microsoft.com/office/drawing/2014/main" id="{0EF8883C-E56D-2E07-F2E5-A5CCA9DCD2FC}"/>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55" name="Rectangle 54">
                <a:extLst>
                  <a:ext uri="{FF2B5EF4-FFF2-40B4-BE49-F238E27FC236}">
                    <a16:creationId xmlns:a16="http://schemas.microsoft.com/office/drawing/2014/main" id="{E7AE4908-F5F3-5621-84BF-FA73488C6C23}"/>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56" name="Rectangle 55">
                <a:extLst>
                  <a:ext uri="{FF2B5EF4-FFF2-40B4-BE49-F238E27FC236}">
                    <a16:creationId xmlns:a16="http://schemas.microsoft.com/office/drawing/2014/main" id="{20DFE2F6-DBAF-B1FB-CA17-526097FC07D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57" name="Rectangle 56">
                <a:extLst>
                  <a:ext uri="{FF2B5EF4-FFF2-40B4-BE49-F238E27FC236}">
                    <a16:creationId xmlns:a16="http://schemas.microsoft.com/office/drawing/2014/main" id="{113BA5F3-36C6-5A54-1A17-E5421CDA74D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grpSp>
        <p:sp>
          <p:nvSpPr>
            <p:cNvPr id="50" name="Rectangle 49">
              <a:extLst>
                <a:ext uri="{FF2B5EF4-FFF2-40B4-BE49-F238E27FC236}">
                  <a16:creationId xmlns:a16="http://schemas.microsoft.com/office/drawing/2014/main" id="{975B4DC1-C32F-A5CD-DC19-C3E14C1E8C15}"/>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51" name="Rectangle 50">
              <a:extLst>
                <a:ext uri="{FF2B5EF4-FFF2-40B4-BE49-F238E27FC236}">
                  <a16:creationId xmlns:a16="http://schemas.microsoft.com/office/drawing/2014/main" id="{797E3364-CEB4-E01C-D07D-AF66A75A965A}"/>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grpSp>
      <p:grpSp>
        <p:nvGrpSpPr>
          <p:cNvPr id="58" name="Group 57" descr="The output array will be [10,16,18,14]">
            <a:extLst>
              <a:ext uri="{FF2B5EF4-FFF2-40B4-BE49-F238E27FC236}">
                <a16:creationId xmlns:a16="http://schemas.microsoft.com/office/drawing/2014/main" id="{6259BCAA-79A0-27D5-C1DC-8A03F37D0600}"/>
              </a:ext>
            </a:extLst>
          </p:cNvPr>
          <p:cNvGrpSpPr/>
          <p:nvPr/>
        </p:nvGrpSpPr>
        <p:grpSpPr>
          <a:xfrm>
            <a:off x="3349014" y="5994722"/>
            <a:ext cx="2251766" cy="561991"/>
            <a:chOff x="7967980" y="4321811"/>
            <a:chExt cx="1506220" cy="375920"/>
          </a:xfrm>
        </p:grpSpPr>
        <p:sp>
          <p:nvSpPr>
            <p:cNvPr id="59" name="Rectangle 58">
              <a:extLst>
                <a:ext uri="{FF2B5EF4-FFF2-40B4-BE49-F238E27FC236}">
                  <a16:creationId xmlns:a16="http://schemas.microsoft.com/office/drawing/2014/main" id="{1E71BC22-C75A-D094-BFC4-95E59B00096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0" name="Rectangle 59">
              <a:extLst>
                <a:ext uri="{FF2B5EF4-FFF2-40B4-BE49-F238E27FC236}">
                  <a16:creationId xmlns:a16="http://schemas.microsoft.com/office/drawing/2014/main" id="{8ED12AFD-D349-AA8C-BD30-B9CEDA229E9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61" name="Rectangle 60">
              <a:extLst>
                <a:ext uri="{FF2B5EF4-FFF2-40B4-BE49-F238E27FC236}">
                  <a16:creationId xmlns:a16="http://schemas.microsoft.com/office/drawing/2014/main" id="{FA756601-4541-A43F-05CC-482FDD1B9F7F}"/>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62" name="Rectangle 61">
              <a:extLst>
                <a:ext uri="{FF2B5EF4-FFF2-40B4-BE49-F238E27FC236}">
                  <a16:creationId xmlns:a16="http://schemas.microsoft.com/office/drawing/2014/main" id="{14C8BF9E-0056-1B5E-649E-BA2D351B66E8}"/>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spTree>
    <p:extLst>
      <p:ext uri="{BB962C8B-B14F-4D97-AF65-F5344CB8AC3E}">
        <p14:creationId xmlns:p14="http://schemas.microsoft.com/office/powerpoint/2010/main" val="4433347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1AB70-5860-5879-7080-EC37C1E1BF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4CE39D-7A15-CED7-FD81-49862894B388}"/>
              </a:ext>
            </a:extLst>
          </p:cNvPr>
          <p:cNvSpPr>
            <a:spLocks noGrp="1"/>
          </p:cNvSpPr>
          <p:nvPr>
            <p:ph type="title"/>
          </p:nvPr>
        </p:nvSpPr>
        <p:spPr>
          <a:xfrm>
            <a:off x="838200" y="-2622"/>
            <a:ext cx="10515600" cy="1325563"/>
          </a:xfrm>
        </p:spPr>
        <p:txBody>
          <a:bodyPr/>
          <a:lstStyle/>
          <a:p>
            <a:r>
              <a:rPr lang="en-US" dirty="0"/>
              <a:t>3. Populate in the output in parallel: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A91C62-AA4C-AD5C-F752-2BCC8A4A39FC}"/>
                  </a:ext>
                </a:extLst>
              </p:cNvPr>
              <p:cNvSpPr>
                <a:spLocks noGrp="1"/>
              </p:cNvSpPr>
              <p:nvPr>
                <p:ph idx="1"/>
              </p:nvPr>
            </p:nvSpPr>
            <p:spPr>
              <a:xfrm>
                <a:off x="106680" y="3957009"/>
                <a:ext cx="11978640" cy="1325563"/>
              </a:xfrm>
            </p:spPr>
            <p:txBody>
              <a:bodyPr>
                <a:normAutofit fontScale="85000" lnSpcReduction="10000"/>
              </a:bodyPr>
              <a:lstStyle/>
              <a:p>
                <a:r>
                  <a:rPr lang="en-US" dirty="0"/>
                  <a:t>Because the last value in the prefix result is 4, the length of the output is 4</a:t>
                </a:r>
              </a:p>
              <a:p>
                <a:r>
                  <a:rPr lang="en-US" dirty="0"/>
                  <a:t>Each time there is a 1 in the map result, we want to include that element in the output</a:t>
                </a:r>
              </a:p>
              <a:p>
                <a:r>
                  <a:rPr lang="en-US" dirty="0"/>
                  <a:t>If element </a:t>
                </a:r>
                <a14:m>
                  <m:oMath xmlns:m="http://schemas.openxmlformats.org/officeDocument/2006/math">
                    <m:r>
                      <a:rPr lang="en-US" b="0" i="1" smtClean="0">
                        <a:latin typeface="Cambria Math" panose="02040503050406030204" pitchFamily="18" charset="0"/>
                      </a:rPr>
                      <m:t>𝑖</m:t>
                    </m:r>
                  </m:oMath>
                </a14:m>
                <a:r>
                  <a:rPr lang="en-US" dirty="0"/>
                  <a:t> should be included, its position matches </a:t>
                </a:r>
                <a:r>
                  <a:rPr lang="en-US" dirty="0" err="1"/>
                  <a:t>prefixResult</a:t>
                </a:r>
                <a:r>
                  <a:rPr lang="en-US" dirty="0"/>
                  <a:t>[</a:t>
                </a:r>
                <a14:m>
                  <m:oMath xmlns:m="http://schemas.openxmlformats.org/officeDocument/2006/math">
                    <m:r>
                      <a:rPr lang="en-US" b="0" i="1" smtClean="0">
                        <a:latin typeface="Cambria Math" panose="02040503050406030204" pitchFamily="18" charset="0"/>
                      </a:rPr>
                      <m:t>𝑖</m:t>
                    </m:r>
                  </m:oMath>
                </a14:m>
                <a:r>
                  <a:rPr lang="en-US" dirty="0"/>
                  <a:t>]-1</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14A91C62-AA4C-AD5C-F752-2BCC8A4A39FC}"/>
                  </a:ext>
                </a:extLst>
              </p:cNvPr>
              <p:cNvSpPr>
                <a:spLocks noGrp="1" noRot="1" noChangeAspect="1" noMove="1" noResize="1" noEditPoints="1" noAdjustHandles="1" noChangeArrowheads="1" noChangeShapeType="1" noTextEdit="1"/>
              </p:cNvSpPr>
              <p:nvPr>
                <p:ph idx="1"/>
              </p:nvPr>
            </p:nvSpPr>
            <p:spPr>
              <a:xfrm>
                <a:off x="106680" y="3957009"/>
                <a:ext cx="11978640" cy="1325563"/>
              </a:xfrm>
              <a:blipFill>
                <a:blip r:embed="rId2"/>
                <a:stretch>
                  <a:fillRect l="-742" t="-8491" b="-2830"/>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209C0824-4E2C-9FF0-7048-13548A3D30F0}"/>
              </a:ext>
            </a:extLst>
          </p:cNvPr>
          <p:cNvSpPr txBox="1"/>
          <p:nvPr/>
        </p:nvSpPr>
        <p:spPr>
          <a:xfrm>
            <a:off x="2230413" y="5281536"/>
            <a:ext cx="6347315" cy="830997"/>
          </a:xfrm>
          <a:prstGeom prst="rect">
            <a:avLst/>
          </a:prstGeom>
          <a:noFill/>
        </p:spPr>
        <p:txBody>
          <a:bodyPr wrap="none" rtlCol="0">
            <a:spAutoFit/>
          </a:bodyPr>
          <a:lstStyle/>
          <a:p>
            <a:r>
              <a:rPr lang="en-US" sz="2400" b="1" dirty="0"/>
              <a:t>In parallel: </a:t>
            </a:r>
            <a:r>
              <a:rPr lang="en-US" sz="2400" dirty="0"/>
              <a:t>if </a:t>
            </a:r>
            <a:r>
              <a:rPr lang="en-US" sz="2400" dirty="0" err="1"/>
              <a:t>mapResult</a:t>
            </a:r>
            <a:r>
              <a:rPr lang="en-US" sz="2400" dirty="0"/>
              <a:t>[</a:t>
            </a:r>
            <a:r>
              <a:rPr lang="en-US" sz="2400" dirty="0" err="1"/>
              <a:t>i</a:t>
            </a:r>
            <a:r>
              <a:rPr lang="en-US" sz="2400" dirty="0"/>
              <a:t>] == 1:</a:t>
            </a:r>
          </a:p>
          <a:p>
            <a:r>
              <a:rPr lang="en-US" sz="2400" b="1" dirty="0"/>
              <a:t>		 </a:t>
            </a:r>
            <a:r>
              <a:rPr lang="en-US" sz="2400" dirty="0"/>
              <a:t>output[</a:t>
            </a:r>
            <a:r>
              <a:rPr lang="en-US" sz="2400" dirty="0" err="1"/>
              <a:t>prefixResult</a:t>
            </a:r>
            <a:r>
              <a:rPr lang="en-US" sz="2400" dirty="0"/>
              <a:t>[</a:t>
            </a:r>
            <a:r>
              <a:rPr lang="en-US" sz="2400" dirty="0" err="1"/>
              <a:t>i</a:t>
            </a:r>
            <a:r>
              <a:rPr lang="en-US" sz="2400" dirty="0"/>
              <a:t>]-1] = input[</a:t>
            </a:r>
            <a:r>
              <a:rPr lang="en-US" sz="2400" dirty="0" err="1"/>
              <a:t>i</a:t>
            </a:r>
            <a:r>
              <a:rPr lang="en-US" sz="2400" dirty="0"/>
              <a:t>]</a:t>
            </a:r>
            <a:endParaRPr lang="en-US" sz="2400" b="1" dirty="0"/>
          </a:p>
        </p:txBody>
      </p:sp>
      <p:grpSp>
        <p:nvGrpSpPr>
          <p:cNvPr id="46" name="Group 45">
            <a:extLst>
              <a:ext uri="{FF2B5EF4-FFF2-40B4-BE49-F238E27FC236}">
                <a16:creationId xmlns:a16="http://schemas.microsoft.com/office/drawing/2014/main" id="{4976AF8A-164F-C9F1-CED3-8C73795D1DCB}"/>
              </a:ext>
              <a:ext uri="{C183D7F6-B498-43B3-948B-1728B52AA6E4}">
                <adec:decorative xmlns:adec="http://schemas.microsoft.com/office/drawing/2017/decorative" val="1"/>
              </a:ext>
            </a:extLst>
          </p:cNvPr>
          <p:cNvGrpSpPr/>
          <p:nvPr/>
        </p:nvGrpSpPr>
        <p:grpSpPr>
          <a:xfrm>
            <a:off x="2444921" y="1301406"/>
            <a:ext cx="5909607" cy="2552156"/>
            <a:chOff x="2444921" y="1301406"/>
            <a:chExt cx="5909607" cy="2552156"/>
          </a:xfrm>
        </p:grpSpPr>
        <p:grpSp>
          <p:nvGrpSpPr>
            <p:cNvPr id="4" name="Group 3">
              <a:extLst>
                <a:ext uri="{FF2B5EF4-FFF2-40B4-BE49-F238E27FC236}">
                  <a16:creationId xmlns:a16="http://schemas.microsoft.com/office/drawing/2014/main" id="{1682C472-1D5B-1095-4A6A-53447E449A23}"/>
                </a:ext>
              </a:extLst>
            </p:cNvPr>
            <p:cNvGrpSpPr/>
            <p:nvPr/>
          </p:nvGrpSpPr>
          <p:grpSpPr>
            <a:xfrm>
              <a:off x="3846133" y="2626500"/>
              <a:ext cx="4499734" cy="562558"/>
              <a:chOff x="6392545" y="364404"/>
              <a:chExt cx="5726090" cy="715878"/>
            </a:xfrm>
          </p:grpSpPr>
          <p:grpSp>
            <p:nvGrpSpPr>
              <p:cNvPr id="5" name="Group 4">
                <a:extLst>
                  <a:ext uri="{FF2B5EF4-FFF2-40B4-BE49-F238E27FC236}">
                    <a16:creationId xmlns:a16="http://schemas.microsoft.com/office/drawing/2014/main" id="{988292DC-D5B7-0A83-B176-9D8DC96A0F03}"/>
                  </a:ext>
                </a:extLst>
              </p:cNvPr>
              <p:cNvGrpSpPr/>
              <p:nvPr/>
            </p:nvGrpSpPr>
            <p:grpSpPr>
              <a:xfrm>
                <a:off x="6392545" y="365125"/>
                <a:ext cx="4295776" cy="715157"/>
                <a:chOff x="7967980" y="4321811"/>
                <a:chExt cx="2258060" cy="375920"/>
              </a:xfrm>
            </p:grpSpPr>
            <p:sp>
              <p:nvSpPr>
                <p:cNvPr id="8" name="Rectangle 7">
                  <a:extLst>
                    <a:ext uri="{FF2B5EF4-FFF2-40B4-BE49-F238E27FC236}">
                      <a16:creationId xmlns:a16="http://schemas.microsoft.com/office/drawing/2014/main" id="{5F2B2322-1BCA-F3DD-445E-85595691DEE5}"/>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9" name="Rectangle 8">
                  <a:extLst>
                    <a:ext uri="{FF2B5EF4-FFF2-40B4-BE49-F238E27FC236}">
                      <a16:creationId xmlns:a16="http://schemas.microsoft.com/office/drawing/2014/main" id="{085D03A6-21E2-28D0-E54E-05EC3262F39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10" name="Rectangle 9">
                  <a:extLst>
                    <a:ext uri="{FF2B5EF4-FFF2-40B4-BE49-F238E27FC236}">
                      <a16:creationId xmlns:a16="http://schemas.microsoft.com/office/drawing/2014/main" id="{DD12037C-5C46-22E7-7326-0F63F4D0879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11" name="Rectangle 10">
                  <a:extLst>
                    <a:ext uri="{FF2B5EF4-FFF2-40B4-BE49-F238E27FC236}">
                      <a16:creationId xmlns:a16="http://schemas.microsoft.com/office/drawing/2014/main" id="{4BF9E7AE-DE3B-86C4-E767-7D859AE8A004}"/>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12" name="Rectangle 11">
                  <a:extLst>
                    <a:ext uri="{FF2B5EF4-FFF2-40B4-BE49-F238E27FC236}">
                      <a16:creationId xmlns:a16="http://schemas.microsoft.com/office/drawing/2014/main" id="{896C5F9C-E206-75D8-1AC9-2FCAF84EFC08}"/>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13" name="Rectangle 12">
                  <a:extLst>
                    <a:ext uri="{FF2B5EF4-FFF2-40B4-BE49-F238E27FC236}">
                      <a16:creationId xmlns:a16="http://schemas.microsoft.com/office/drawing/2014/main" id="{C4FB3CE4-5A97-A272-E489-966CA0C3D86F}"/>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grpSp>
          <p:sp>
            <p:nvSpPr>
              <p:cNvPr id="6" name="Rectangle 5">
                <a:extLst>
                  <a:ext uri="{FF2B5EF4-FFF2-40B4-BE49-F238E27FC236}">
                    <a16:creationId xmlns:a16="http://schemas.microsoft.com/office/drawing/2014/main" id="{AB3D081E-E68C-BB8B-8370-67D327E0B3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7" name="Rectangle 6">
                <a:extLst>
                  <a:ext uri="{FF2B5EF4-FFF2-40B4-BE49-F238E27FC236}">
                    <a16:creationId xmlns:a16="http://schemas.microsoft.com/office/drawing/2014/main" id="{09ACD4FC-1AD3-C245-DD94-A84FF3A77AF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grpSp>
        <p:grpSp>
          <p:nvGrpSpPr>
            <p:cNvPr id="14" name="Group 13">
              <a:extLst>
                <a:ext uri="{FF2B5EF4-FFF2-40B4-BE49-F238E27FC236}">
                  <a16:creationId xmlns:a16="http://schemas.microsoft.com/office/drawing/2014/main" id="{771DC330-3754-22A4-0987-0C1B90ACBDE3}"/>
                </a:ext>
              </a:extLst>
            </p:cNvPr>
            <p:cNvGrpSpPr/>
            <p:nvPr/>
          </p:nvGrpSpPr>
          <p:grpSpPr>
            <a:xfrm>
              <a:off x="3846133" y="1960861"/>
              <a:ext cx="4499734" cy="562558"/>
              <a:chOff x="6392545" y="364404"/>
              <a:chExt cx="5726090" cy="715878"/>
            </a:xfrm>
          </p:grpSpPr>
          <p:grpSp>
            <p:nvGrpSpPr>
              <p:cNvPr id="15" name="Group 14">
                <a:extLst>
                  <a:ext uri="{FF2B5EF4-FFF2-40B4-BE49-F238E27FC236}">
                    <a16:creationId xmlns:a16="http://schemas.microsoft.com/office/drawing/2014/main" id="{542FEB38-0479-CD2A-B709-7424CF6353AE}"/>
                  </a:ext>
                </a:extLst>
              </p:cNvPr>
              <p:cNvGrpSpPr/>
              <p:nvPr/>
            </p:nvGrpSpPr>
            <p:grpSpPr>
              <a:xfrm>
                <a:off x="6392545" y="365125"/>
                <a:ext cx="4295776" cy="715157"/>
                <a:chOff x="7967980" y="4321811"/>
                <a:chExt cx="2258060" cy="375920"/>
              </a:xfrm>
            </p:grpSpPr>
            <p:sp>
              <p:nvSpPr>
                <p:cNvPr id="18" name="Rectangle 17">
                  <a:extLst>
                    <a:ext uri="{FF2B5EF4-FFF2-40B4-BE49-F238E27FC236}">
                      <a16:creationId xmlns:a16="http://schemas.microsoft.com/office/drawing/2014/main" id="{1C228BDE-BA8D-ACBF-C24F-3F21B9C1EB9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19" name="Rectangle 18">
                  <a:extLst>
                    <a:ext uri="{FF2B5EF4-FFF2-40B4-BE49-F238E27FC236}">
                      <a16:creationId xmlns:a16="http://schemas.microsoft.com/office/drawing/2014/main" id="{DD353C01-3E10-3DF3-D32F-F230D22AAD9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20" name="Rectangle 19">
                  <a:extLst>
                    <a:ext uri="{FF2B5EF4-FFF2-40B4-BE49-F238E27FC236}">
                      <a16:creationId xmlns:a16="http://schemas.microsoft.com/office/drawing/2014/main" id="{08C7B095-0E28-4B0C-B2EB-C341E3260A2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21" name="Rectangle 20">
                  <a:extLst>
                    <a:ext uri="{FF2B5EF4-FFF2-40B4-BE49-F238E27FC236}">
                      <a16:creationId xmlns:a16="http://schemas.microsoft.com/office/drawing/2014/main" id="{EEB34D22-6242-E1F7-0EA4-4CEDBA7173A0}"/>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22" name="Rectangle 21">
                  <a:extLst>
                    <a:ext uri="{FF2B5EF4-FFF2-40B4-BE49-F238E27FC236}">
                      <a16:creationId xmlns:a16="http://schemas.microsoft.com/office/drawing/2014/main" id="{2B4B92A1-78FF-BD0B-7E66-7BBA0442DFEE}"/>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23" name="Rectangle 22">
                  <a:extLst>
                    <a:ext uri="{FF2B5EF4-FFF2-40B4-BE49-F238E27FC236}">
                      <a16:creationId xmlns:a16="http://schemas.microsoft.com/office/drawing/2014/main" id="{38C46C92-98D3-1C4B-877C-9FBEFC4EEAA8}"/>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16" name="Rectangle 15">
                <a:extLst>
                  <a:ext uri="{FF2B5EF4-FFF2-40B4-BE49-F238E27FC236}">
                    <a16:creationId xmlns:a16="http://schemas.microsoft.com/office/drawing/2014/main" id="{1EA82A4B-9053-A6A8-233F-9968B8F608B7}"/>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17" name="Rectangle 16">
                <a:extLst>
                  <a:ext uri="{FF2B5EF4-FFF2-40B4-BE49-F238E27FC236}">
                    <a16:creationId xmlns:a16="http://schemas.microsoft.com/office/drawing/2014/main" id="{4D47A523-1176-0EDC-8A20-E09CFEBAA0D4}"/>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24" name="TextBox 23">
              <a:extLst>
                <a:ext uri="{FF2B5EF4-FFF2-40B4-BE49-F238E27FC236}">
                  <a16:creationId xmlns:a16="http://schemas.microsoft.com/office/drawing/2014/main" id="{490C3356-54B3-F8D8-CEAC-BB8C40CB3F54}"/>
                </a:ext>
              </a:extLst>
            </p:cNvPr>
            <p:cNvSpPr txBox="1"/>
            <p:nvPr/>
          </p:nvSpPr>
          <p:spPr>
            <a:xfrm>
              <a:off x="2444921" y="2057190"/>
              <a:ext cx="1307537" cy="369332"/>
            </a:xfrm>
            <a:prstGeom prst="rect">
              <a:avLst/>
            </a:prstGeom>
            <a:noFill/>
          </p:spPr>
          <p:txBody>
            <a:bodyPr wrap="none" rtlCol="0">
              <a:spAutoFit/>
            </a:bodyPr>
            <a:lstStyle/>
            <a:p>
              <a:r>
                <a:rPr lang="en-US" dirty="0"/>
                <a:t>Map Result:</a:t>
              </a:r>
            </a:p>
          </p:txBody>
        </p:sp>
        <p:sp>
          <p:nvSpPr>
            <p:cNvPr id="25" name="TextBox 24">
              <a:extLst>
                <a:ext uri="{FF2B5EF4-FFF2-40B4-BE49-F238E27FC236}">
                  <a16:creationId xmlns:a16="http://schemas.microsoft.com/office/drawing/2014/main" id="{E99689C8-B9D3-6B17-6B9E-BF58460E4E87}"/>
                </a:ext>
              </a:extLst>
            </p:cNvPr>
            <p:cNvSpPr txBox="1"/>
            <p:nvPr/>
          </p:nvSpPr>
          <p:spPr>
            <a:xfrm>
              <a:off x="2444921" y="2722829"/>
              <a:ext cx="1409873" cy="369332"/>
            </a:xfrm>
            <a:prstGeom prst="rect">
              <a:avLst/>
            </a:prstGeom>
            <a:noFill/>
          </p:spPr>
          <p:txBody>
            <a:bodyPr wrap="none" rtlCol="0">
              <a:spAutoFit/>
            </a:bodyPr>
            <a:lstStyle/>
            <a:p>
              <a:r>
                <a:rPr lang="en-US" dirty="0"/>
                <a:t>Prefix Result:</a:t>
              </a:r>
            </a:p>
          </p:txBody>
        </p:sp>
        <p:grpSp>
          <p:nvGrpSpPr>
            <p:cNvPr id="27" name="Group 26">
              <a:extLst>
                <a:ext uri="{FF2B5EF4-FFF2-40B4-BE49-F238E27FC236}">
                  <a16:creationId xmlns:a16="http://schemas.microsoft.com/office/drawing/2014/main" id="{AEE72B9E-AF1D-49A4-0B23-D8120D106F8B}"/>
                </a:ext>
              </a:extLst>
            </p:cNvPr>
            <p:cNvGrpSpPr/>
            <p:nvPr/>
          </p:nvGrpSpPr>
          <p:grpSpPr>
            <a:xfrm>
              <a:off x="3854794" y="1301406"/>
              <a:ext cx="4499734" cy="562558"/>
              <a:chOff x="6392545" y="364404"/>
              <a:chExt cx="5726090" cy="715878"/>
            </a:xfrm>
          </p:grpSpPr>
          <p:grpSp>
            <p:nvGrpSpPr>
              <p:cNvPr id="28" name="Group 27">
                <a:extLst>
                  <a:ext uri="{FF2B5EF4-FFF2-40B4-BE49-F238E27FC236}">
                    <a16:creationId xmlns:a16="http://schemas.microsoft.com/office/drawing/2014/main" id="{6EA861EF-E60B-BAD8-CFB9-08C2B0775DF4}"/>
                  </a:ext>
                </a:extLst>
              </p:cNvPr>
              <p:cNvGrpSpPr/>
              <p:nvPr/>
            </p:nvGrpSpPr>
            <p:grpSpPr>
              <a:xfrm>
                <a:off x="6392545" y="365125"/>
                <a:ext cx="4295776" cy="715157"/>
                <a:chOff x="7967980" y="4321811"/>
                <a:chExt cx="2258060" cy="375920"/>
              </a:xfrm>
            </p:grpSpPr>
            <p:sp>
              <p:nvSpPr>
                <p:cNvPr id="31" name="Rectangle 30">
                  <a:extLst>
                    <a:ext uri="{FF2B5EF4-FFF2-40B4-BE49-F238E27FC236}">
                      <a16:creationId xmlns:a16="http://schemas.microsoft.com/office/drawing/2014/main" id="{A06B80EE-2D82-8F81-1458-9875BFFE093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32" name="Rectangle 31">
                  <a:extLst>
                    <a:ext uri="{FF2B5EF4-FFF2-40B4-BE49-F238E27FC236}">
                      <a16:creationId xmlns:a16="http://schemas.microsoft.com/office/drawing/2014/main" id="{C57D8E2C-6382-6650-AEDB-01CC85D19FA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33" name="Rectangle 32">
                  <a:extLst>
                    <a:ext uri="{FF2B5EF4-FFF2-40B4-BE49-F238E27FC236}">
                      <a16:creationId xmlns:a16="http://schemas.microsoft.com/office/drawing/2014/main" id="{E2D6D150-F229-2602-5865-A4226C56CB7A}"/>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34" name="Rectangle 33">
                  <a:extLst>
                    <a:ext uri="{FF2B5EF4-FFF2-40B4-BE49-F238E27FC236}">
                      <a16:creationId xmlns:a16="http://schemas.microsoft.com/office/drawing/2014/main" id="{C05534B9-F744-EB9E-8ED1-3CA7C488022F}"/>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35" name="Rectangle 34">
                  <a:extLst>
                    <a:ext uri="{FF2B5EF4-FFF2-40B4-BE49-F238E27FC236}">
                      <a16:creationId xmlns:a16="http://schemas.microsoft.com/office/drawing/2014/main" id="{86194AC3-B35E-7734-B5DE-121EAB3A4537}"/>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36" name="Rectangle 35">
                  <a:extLst>
                    <a:ext uri="{FF2B5EF4-FFF2-40B4-BE49-F238E27FC236}">
                      <a16:creationId xmlns:a16="http://schemas.microsoft.com/office/drawing/2014/main" id="{7F5CBEB0-E4C2-6372-B1F1-130EEC44E68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29" name="Rectangle 28">
                <a:extLst>
                  <a:ext uri="{FF2B5EF4-FFF2-40B4-BE49-F238E27FC236}">
                    <a16:creationId xmlns:a16="http://schemas.microsoft.com/office/drawing/2014/main" id="{695D2C1C-1EF9-1348-2183-5480B0864A94}"/>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30" name="Rectangle 29">
                <a:extLst>
                  <a:ext uri="{FF2B5EF4-FFF2-40B4-BE49-F238E27FC236}">
                    <a16:creationId xmlns:a16="http://schemas.microsoft.com/office/drawing/2014/main" id="{725FB005-8C4B-2790-2B7E-6A3A9898D48B}"/>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sp>
          <p:nvSpPr>
            <p:cNvPr id="37" name="TextBox 36">
              <a:extLst>
                <a:ext uri="{FF2B5EF4-FFF2-40B4-BE49-F238E27FC236}">
                  <a16:creationId xmlns:a16="http://schemas.microsoft.com/office/drawing/2014/main" id="{396FB62A-258B-ED30-8E21-67DAF3B8DD10}"/>
                </a:ext>
              </a:extLst>
            </p:cNvPr>
            <p:cNvSpPr txBox="1"/>
            <p:nvPr/>
          </p:nvSpPr>
          <p:spPr>
            <a:xfrm>
              <a:off x="2496088" y="1369972"/>
              <a:ext cx="747320" cy="369332"/>
            </a:xfrm>
            <a:prstGeom prst="rect">
              <a:avLst/>
            </a:prstGeom>
            <a:noFill/>
          </p:spPr>
          <p:txBody>
            <a:bodyPr wrap="none" rtlCol="0">
              <a:spAutoFit/>
            </a:bodyPr>
            <a:lstStyle/>
            <a:p>
              <a:r>
                <a:rPr lang="en-US" dirty="0"/>
                <a:t>Input:</a:t>
              </a:r>
            </a:p>
          </p:txBody>
        </p:sp>
        <p:grpSp>
          <p:nvGrpSpPr>
            <p:cNvPr id="38" name="Group 37">
              <a:extLst>
                <a:ext uri="{FF2B5EF4-FFF2-40B4-BE49-F238E27FC236}">
                  <a16:creationId xmlns:a16="http://schemas.microsoft.com/office/drawing/2014/main" id="{BA4795E2-D291-BD6A-B68F-160DD97A51DB}"/>
                </a:ext>
              </a:extLst>
            </p:cNvPr>
            <p:cNvGrpSpPr/>
            <p:nvPr/>
          </p:nvGrpSpPr>
          <p:grpSpPr>
            <a:xfrm>
              <a:off x="3844234" y="3291571"/>
              <a:ext cx="2251766" cy="561991"/>
              <a:chOff x="7967980" y="4321811"/>
              <a:chExt cx="1506220" cy="375920"/>
            </a:xfrm>
          </p:grpSpPr>
          <p:sp>
            <p:nvSpPr>
              <p:cNvPr id="39" name="Rectangle 38">
                <a:extLst>
                  <a:ext uri="{FF2B5EF4-FFF2-40B4-BE49-F238E27FC236}">
                    <a16:creationId xmlns:a16="http://schemas.microsoft.com/office/drawing/2014/main" id="{1A6D316F-4B33-D21F-7E59-BDDCF908DDD9}"/>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0" name="Rectangle 39">
                <a:extLst>
                  <a:ext uri="{FF2B5EF4-FFF2-40B4-BE49-F238E27FC236}">
                    <a16:creationId xmlns:a16="http://schemas.microsoft.com/office/drawing/2014/main" id="{157C86A1-C023-C863-5C12-60760C75EDE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C7A933A1-0836-86FA-58AF-616AC7DD3409}"/>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298DDE13-9983-E7D6-19E7-D1ECC268BF6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43" name="TextBox 42">
              <a:extLst>
                <a:ext uri="{FF2B5EF4-FFF2-40B4-BE49-F238E27FC236}">
                  <a16:creationId xmlns:a16="http://schemas.microsoft.com/office/drawing/2014/main" id="{A3041B74-73B5-4CF4-9CC3-2F330865056A}"/>
                </a:ext>
              </a:extLst>
            </p:cNvPr>
            <p:cNvSpPr txBox="1"/>
            <p:nvPr/>
          </p:nvSpPr>
          <p:spPr>
            <a:xfrm>
              <a:off x="2935953" y="3385714"/>
              <a:ext cx="918841"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1289979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BA801B-EFDA-84B0-2106-C61EEAF0862F}"/>
              </a:ext>
            </a:extLst>
          </p:cNvPr>
          <p:cNvSpPr txBox="1"/>
          <p:nvPr/>
        </p:nvSpPr>
        <p:spPr>
          <a:xfrm>
            <a:off x="781396" y="1225689"/>
            <a:ext cx="11072553" cy="5632311"/>
          </a:xfrm>
          <a:prstGeom prst="rect">
            <a:avLst/>
          </a:prstGeom>
          <a:noFill/>
        </p:spPr>
        <p:txBody>
          <a:bodyPr wrap="square">
            <a:spAutoFit/>
          </a:bodyPr>
          <a:lstStyle/>
          <a:p>
            <a:pPr marL="0" indent="0">
              <a:buNone/>
            </a:pPr>
            <a:r>
              <a:rPr lang="en-US" dirty="0"/>
              <a:t>class </a:t>
            </a:r>
            <a:r>
              <a:rPr lang="en-US" dirty="0" err="1"/>
              <a:t>PopulateTask</a:t>
            </a:r>
            <a:r>
              <a:rPr lang="en-US" dirty="0"/>
              <a:t> extends </a:t>
            </a:r>
            <a:r>
              <a:rPr lang="en-US" dirty="0" err="1"/>
              <a:t>RecursiveAction</a:t>
            </a:r>
            <a:r>
              <a:rPr lang="en-US" dirty="0"/>
              <a:t> { </a:t>
            </a:r>
          </a:p>
          <a:p>
            <a:pPr marL="0" indent="0">
              <a:buNone/>
            </a:pPr>
            <a:r>
              <a:rPr lang="en-US" dirty="0"/>
              <a:t>	int lo; int hi; int[] </a:t>
            </a:r>
            <a:r>
              <a:rPr lang="en-US" dirty="0" err="1"/>
              <a:t>arr</a:t>
            </a:r>
            <a:r>
              <a:rPr lang="en-US" dirty="0"/>
              <a:t>; int[] map; int[] prefix; int[] out;</a:t>
            </a:r>
          </a:p>
          <a:p>
            <a:r>
              <a:rPr lang="en-US" dirty="0"/>
              <a:t>	</a:t>
            </a:r>
            <a:r>
              <a:rPr lang="en-US" dirty="0" err="1"/>
              <a:t>PopulateTask</a:t>
            </a:r>
            <a:r>
              <a:rPr lang="en-US" dirty="0"/>
              <a:t>(int[] </a:t>
            </a:r>
            <a:r>
              <a:rPr lang="en-US" dirty="0" err="1"/>
              <a:t>arr</a:t>
            </a:r>
            <a:r>
              <a:rPr lang="en-US" dirty="0"/>
              <a:t>, int[] map, int[] prefix, int[] out, int l, int h) { … } </a:t>
            </a:r>
          </a:p>
          <a:p>
            <a:pPr marL="0" indent="0">
              <a:buNone/>
            </a:pPr>
            <a:r>
              <a:rPr lang="en-US" dirty="0"/>
              <a:t>	protected void compute(){// return answer </a:t>
            </a:r>
          </a:p>
          <a:p>
            <a:pPr marL="0" indent="0">
              <a:buNone/>
            </a:pPr>
            <a:r>
              <a:rPr lang="en-US" dirty="0"/>
              <a:t>		if(hi – lo &lt; SEQUENTIAL_CUTOFF) {  // base case</a:t>
            </a:r>
          </a:p>
          <a:p>
            <a:pPr marL="0" indent="0">
              <a:buNone/>
            </a:pPr>
            <a:r>
              <a:rPr lang="en-US" dirty="0"/>
              <a:t>			for(int </a:t>
            </a:r>
            <a:r>
              <a:rPr lang="en-US" dirty="0" err="1"/>
              <a:t>i</a:t>
            </a:r>
            <a:r>
              <a:rPr lang="en-US" dirty="0"/>
              <a:t>=lo; </a:t>
            </a:r>
            <a:r>
              <a:rPr lang="en-US" dirty="0" err="1"/>
              <a:t>i</a:t>
            </a:r>
            <a:r>
              <a:rPr lang="en-US" dirty="0"/>
              <a:t> &lt; hi; </a:t>
            </a:r>
            <a:r>
              <a:rPr lang="en-US" dirty="0" err="1"/>
              <a:t>i</a:t>
            </a:r>
            <a:r>
              <a:rPr lang="en-US" dirty="0"/>
              <a:t>++) {</a:t>
            </a:r>
          </a:p>
          <a:p>
            <a:pPr marL="0" indent="0">
              <a:buNone/>
            </a:pPr>
            <a:r>
              <a:rPr lang="en-US" dirty="0"/>
              <a:t>				if(map[</a:t>
            </a:r>
            <a:r>
              <a:rPr lang="en-US" dirty="0" err="1"/>
              <a:t>i</a:t>
            </a:r>
            <a:r>
              <a:rPr lang="en-US" dirty="0"/>
              <a:t>] == 1){</a:t>
            </a:r>
          </a:p>
          <a:p>
            <a:pPr marL="0" indent="0">
              <a:buNone/>
            </a:pPr>
            <a:r>
              <a:rPr lang="en-US" dirty="0"/>
              <a:t>					out[prefix[</a:t>
            </a:r>
            <a:r>
              <a:rPr lang="en-US" dirty="0" err="1"/>
              <a:t>i</a:t>
            </a:r>
            <a:r>
              <a:rPr lang="en-US" dirty="0"/>
              <a:t>]-1]=</a:t>
            </a:r>
            <a:r>
              <a:rPr lang="en-US" dirty="0" err="1"/>
              <a:t>arr</a:t>
            </a:r>
            <a:r>
              <a:rPr lang="en-US" dirty="0"/>
              <a:t>[</a:t>
            </a:r>
            <a:r>
              <a:rPr lang="en-US" dirty="0" err="1"/>
              <a:t>i</a:t>
            </a:r>
            <a:r>
              <a:rPr lang="en-US" dirty="0"/>
              <a:t>];</a:t>
            </a:r>
          </a:p>
          <a:p>
            <a:pPr marL="0" indent="0">
              <a:buNone/>
            </a:pPr>
            <a:r>
              <a:rPr lang="en-US" dirty="0"/>
              <a:t>				}</a:t>
            </a:r>
          </a:p>
          <a:p>
            <a:pPr marL="0" indent="0">
              <a:buNone/>
            </a:pPr>
            <a:r>
              <a:rPr lang="en-US" dirty="0"/>
              <a:t>			}</a:t>
            </a:r>
          </a:p>
          <a:p>
            <a:pPr marL="0" indent="0">
              <a:buNone/>
            </a:pPr>
            <a:r>
              <a:rPr lang="en-US" dirty="0"/>
              <a:t>		else { </a:t>
            </a:r>
          </a:p>
          <a:p>
            <a:r>
              <a:rPr lang="en-US" dirty="0"/>
              <a:t>			</a:t>
            </a:r>
            <a:r>
              <a:rPr lang="en-US" dirty="0" err="1"/>
              <a:t>PopulateTask</a:t>
            </a:r>
            <a:r>
              <a:rPr lang="en-US" dirty="0"/>
              <a:t> left = new </a:t>
            </a:r>
            <a:r>
              <a:rPr lang="en-US" dirty="0" err="1"/>
              <a:t>PopulateTask</a:t>
            </a:r>
            <a:r>
              <a:rPr lang="en-US" dirty="0"/>
              <a:t>(</a:t>
            </a:r>
            <a:r>
              <a:rPr lang="en-US" dirty="0" err="1"/>
              <a:t>arr</a:t>
            </a:r>
            <a:r>
              <a:rPr lang="en-US" dirty="0"/>
              <a:t>, map, prefix, out, lo,(</a:t>
            </a:r>
            <a:r>
              <a:rPr lang="en-US" dirty="0" err="1"/>
              <a:t>hi+lo</a:t>
            </a:r>
            <a:r>
              <a:rPr lang="en-US" dirty="0"/>
              <a:t>)/2); // divide</a:t>
            </a:r>
          </a:p>
          <a:p>
            <a:r>
              <a:rPr lang="en-US" dirty="0"/>
              <a:t>			 </a:t>
            </a:r>
            <a:r>
              <a:rPr lang="en-US" dirty="0" err="1"/>
              <a:t>PopulateTask</a:t>
            </a:r>
            <a:r>
              <a:rPr lang="en-US" dirty="0"/>
              <a:t> right= new </a:t>
            </a:r>
            <a:r>
              <a:rPr lang="en-US" dirty="0" err="1"/>
              <a:t>PopulateTask</a:t>
            </a:r>
            <a:r>
              <a:rPr lang="en-US" dirty="0"/>
              <a:t>(</a:t>
            </a:r>
            <a:r>
              <a:rPr lang="en-US" dirty="0" err="1"/>
              <a:t>arr</a:t>
            </a:r>
            <a:r>
              <a:rPr lang="en-US" dirty="0"/>
              <a:t>, map, prefix, out, (</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return; // combine</a:t>
            </a:r>
          </a:p>
          <a:p>
            <a:pPr marL="0" indent="0">
              <a:buNone/>
            </a:pPr>
            <a:r>
              <a:rPr lang="en-US" dirty="0"/>
              <a:t>		} </a:t>
            </a:r>
          </a:p>
          <a:p>
            <a:pPr marL="0" indent="0">
              <a:buNone/>
            </a:pPr>
            <a:r>
              <a:rPr lang="en-US" dirty="0"/>
              <a:t>	} </a:t>
            </a:r>
          </a:p>
          <a:p>
            <a:pPr marL="0" indent="0">
              <a:buNone/>
            </a:pPr>
            <a:r>
              <a:rPr lang="en-US" dirty="0"/>
              <a:t>} </a:t>
            </a:r>
          </a:p>
        </p:txBody>
      </p:sp>
      <p:sp>
        <p:nvSpPr>
          <p:cNvPr id="6" name="Title 1">
            <a:extLst>
              <a:ext uri="{FF2B5EF4-FFF2-40B4-BE49-F238E27FC236}">
                <a16:creationId xmlns:a16="http://schemas.microsoft.com/office/drawing/2014/main" id="{5829B703-128C-6285-98F8-64A324AC5FFC}"/>
              </a:ext>
            </a:extLst>
          </p:cNvPr>
          <p:cNvSpPr>
            <a:spLocks noGrp="1"/>
          </p:cNvSpPr>
          <p:nvPr>
            <p:ph type="title"/>
          </p:nvPr>
        </p:nvSpPr>
        <p:spPr>
          <a:xfrm>
            <a:off x="0" y="-35560"/>
            <a:ext cx="4480098" cy="1325563"/>
          </a:xfrm>
        </p:spPr>
        <p:txBody>
          <a:bodyPr/>
          <a:lstStyle/>
          <a:p>
            <a:r>
              <a:rPr lang="en-US" dirty="0"/>
              <a:t>Step 3 Java Code</a:t>
            </a:r>
          </a:p>
        </p:txBody>
      </p:sp>
    </p:spTree>
    <p:extLst>
      <p:ext uri="{BB962C8B-B14F-4D97-AF65-F5344CB8AC3E}">
        <p14:creationId xmlns:p14="http://schemas.microsoft.com/office/powerpoint/2010/main" val="41165402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5D56-C625-381B-AECC-D1F458EB1FF0}"/>
              </a:ext>
            </a:extLst>
          </p:cNvPr>
          <p:cNvSpPr>
            <a:spLocks noGrp="1"/>
          </p:cNvSpPr>
          <p:nvPr>
            <p:ph type="title"/>
          </p:nvPr>
        </p:nvSpPr>
        <p:spPr/>
        <p:txBody>
          <a:bodyPr/>
          <a:lstStyle/>
          <a:p>
            <a:r>
              <a:rPr lang="en-US" dirty="0"/>
              <a:t>Parallel Pack Java Code</a:t>
            </a:r>
          </a:p>
        </p:txBody>
      </p:sp>
      <p:sp>
        <p:nvSpPr>
          <p:cNvPr id="3" name="Content Placeholder 2">
            <a:extLst>
              <a:ext uri="{FF2B5EF4-FFF2-40B4-BE49-F238E27FC236}">
                <a16:creationId xmlns:a16="http://schemas.microsoft.com/office/drawing/2014/main" id="{23B4E7DA-E502-B203-098C-B1B6B5ED8CB9}"/>
              </a:ext>
            </a:extLst>
          </p:cNvPr>
          <p:cNvSpPr>
            <a:spLocks noGrp="1"/>
          </p:cNvSpPr>
          <p:nvPr>
            <p:ph idx="1"/>
          </p:nvPr>
        </p:nvSpPr>
        <p:spPr/>
        <p:txBody>
          <a:bodyPr>
            <a:normAutofit fontScale="47500" lnSpcReduction="20000"/>
          </a:bodyPr>
          <a:lstStyle/>
          <a:p>
            <a:pPr marL="0" indent="0">
              <a:buNone/>
            </a:pPr>
            <a:r>
              <a:rPr lang="en-US" dirty="0"/>
              <a:t>public Boolean </a:t>
            </a:r>
            <a:r>
              <a:rPr lang="en-US" dirty="0" err="1"/>
              <a:t>mapFunction</a:t>
            </a:r>
            <a:r>
              <a:rPr lang="en-US" dirty="0"/>
              <a:t>(int x){…}</a:t>
            </a:r>
          </a:p>
          <a:p>
            <a:pPr marL="0" indent="0">
              <a:buNone/>
            </a:pPr>
            <a:r>
              <a:rPr lang="en-US" dirty="0"/>
              <a:t>static final </a:t>
            </a:r>
            <a:r>
              <a:rPr lang="en-US" dirty="0" err="1"/>
              <a:t>ForkJoinPool</a:t>
            </a:r>
            <a:r>
              <a:rPr lang="en-US" dirty="0"/>
              <a:t> POOL = new </a:t>
            </a:r>
            <a:r>
              <a:rPr lang="en-US" dirty="0" err="1"/>
              <a:t>ForkJoinPool</a:t>
            </a:r>
            <a:r>
              <a:rPr lang="en-US" dirty="0"/>
              <a:t>();</a:t>
            </a:r>
          </a:p>
          <a:p>
            <a:pPr marL="0" indent="0">
              <a:buNone/>
            </a:pPr>
            <a:r>
              <a:rPr lang="en-US" dirty="0"/>
              <a:t>public int[] </a:t>
            </a:r>
            <a:r>
              <a:rPr lang="en-US" dirty="0" err="1"/>
              <a:t>parallelPrefixSum</a:t>
            </a:r>
            <a:r>
              <a:rPr lang="en-US" dirty="0"/>
              <a:t>(int[] </a:t>
            </a:r>
            <a:r>
              <a:rPr lang="en-US" dirty="0" err="1"/>
              <a:t>arr</a:t>
            </a:r>
            <a:r>
              <a:rPr lang="en-US" dirty="0"/>
              <a:t>){</a:t>
            </a:r>
          </a:p>
          <a:p>
            <a:pPr marL="0" indent="0">
              <a:buNone/>
            </a:pPr>
            <a:r>
              <a:rPr lang="en-US" dirty="0"/>
              <a:t>	int[] out = new int[</a:t>
            </a:r>
            <a:r>
              <a:rPr lang="en-US" dirty="0" err="1"/>
              <a:t>arr.length</a:t>
            </a:r>
            <a:r>
              <a:rPr lang="en-US" dirty="0"/>
              <a:t>];</a:t>
            </a:r>
          </a:p>
          <a:p>
            <a:pPr marL="0" indent="0">
              <a:buNone/>
            </a:pPr>
            <a:r>
              <a:rPr lang="en-US" dirty="0"/>
              <a:t>	</a:t>
            </a:r>
            <a:r>
              <a:rPr lang="en-US" dirty="0" err="1"/>
              <a:t>PrefixSumNode</a:t>
            </a:r>
            <a:r>
              <a:rPr lang="en-US" dirty="0"/>
              <a:t> root = </a:t>
            </a:r>
            <a:r>
              <a:rPr lang="en-US" dirty="0" err="1"/>
              <a:t>POOL.invoke</a:t>
            </a:r>
            <a:r>
              <a:rPr lang="en-US" dirty="0"/>
              <a:t>(new </a:t>
            </a:r>
            <a:r>
              <a:rPr lang="en-US" dirty="0" err="1"/>
              <a:t>BuildTreeTask</a:t>
            </a:r>
            <a:r>
              <a:rPr lang="en-US" dirty="0"/>
              <a:t>(0, </a:t>
            </a:r>
            <a:r>
              <a:rPr lang="en-US" dirty="0" err="1"/>
              <a:t>arr.length</a:t>
            </a:r>
            <a:r>
              <a:rPr lang="en-US" dirty="0"/>
              <a:t>, </a:t>
            </a:r>
            <a:r>
              <a:rPr lang="en-US" dirty="0" err="1"/>
              <a:t>arr</a:t>
            </a:r>
            <a:r>
              <a:rPr lang="en-US" dirty="0"/>
              <a:t>));</a:t>
            </a:r>
          </a:p>
          <a:p>
            <a:pPr marL="0" indent="0">
              <a:buNone/>
            </a:pPr>
            <a:r>
              <a:rPr lang="en-US" dirty="0"/>
              <a:t>	</a:t>
            </a:r>
            <a:r>
              <a:rPr lang="en-US" dirty="0" err="1"/>
              <a:t>POOL.invoke</a:t>
            </a:r>
            <a:r>
              <a:rPr lang="en-US" dirty="0"/>
              <a:t>(new </a:t>
            </a:r>
            <a:r>
              <a:rPr lang="en-US" dirty="0" err="1"/>
              <a:t>CompleteTree</a:t>
            </a:r>
            <a:r>
              <a:rPr lang="en-US" dirty="0"/>
              <a:t>(root, null, null, false, out, </a:t>
            </a:r>
            <a:r>
              <a:rPr lang="en-US" dirty="0" err="1"/>
              <a:t>arr</a:t>
            </a:r>
            <a:r>
              <a:rPr lang="en-US" dirty="0"/>
              <a:t>));</a:t>
            </a:r>
          </a:p>
          <a:p>
            <a:pPr marL="0" indent="0">
              <a:buNone/>
            </a:pPr>
            <a:r>
              <a:rPr lang="en-US" dirty="0"/>
              <a:t>	return out;	</a:t>
            </a:r>
          </a:p>
          <a:p>
            <a:pPr marL="0" indent="0">
              <a:buNone/>
            </a:pPr>
            <a:r>
              <a:rPr lang="en-US" dirty="0"/>
              <a:t>}</a:t>
            </a:r>
          </a:p>
          <a:p>
            <a:pPr marL="0" indent="0">
              <a:buNone/>
            </a:pPr>
            <a:r>
              <a:rPr lang="en-US" dirty="0"/>
              <a:t>public int[] </a:t>
            </a:r>
            <a:r>
              <a:rPr lang="en-US" dirty="0" err="1"/>
              <a:t>parallelPack</a:t>
            </a:r>
            <a:r>
              <a:rPr lang="en-US" dirty="0"/>
              <a:t>(int[] </a:t>
            </a:r>
            <a:r>
              <a:rPr lang="en-US" dirty="0" err="1"/>
              <a:t>arr</a:t>
            </a:r>
            <a:r>
              <a:rPr lang="en-US" dirty="0"/>
              <a:t>){</a:t>
            </a:r>
          </a:p>
          <a:p>
            <a:pPr marL="0" indent="0">
              <a:buNone/>
            </a:pPr>
            <a:r>
              <a:rPr lang="en-US" dirty="0"/>
              <a:t>	int[] map = new int[</a:t>
            </a:r>
            <a:r>
              <a:rPr lang="en-US" dirty="0" err="1"/>
              <a:t>arr.length</a:t>
            </a:r>
            <a:r>
              <a:rPr lang="en-US" dirty="0"/>
              <a:t>];</a:t>
            </a:r>
          </a:p>
          <a:p>
            <a:pPr marL="0" indent="0">
              <a:buNone/>
            </a:pPr>
            <a:r>
              <a:rPr lang="en-US" dirty="0"/>
              <a:t>	</a:t>
            </a:r>
            <a:r>
              <a:rPr lang="en-US" dirty="0" err="1"/>
              <a:t>POOL.invoke</a:t>
            </a:r>
            <a:r>
              <a:rPr lang="en-US" dirty="0"/>
              <a:t>(new </a:t>
            </a:r>
            <a:r>
              <a:rPr lang="en-US" dirty="0" err="1"/>
              <a:t>MapTask</a:t>
            </a:r>
            <a:r>
              <a:rPr lang="en-US" dirty="0"/>
              <a:t>(</a:t>
            </a:r>
            <a:r>
              <a:rPr lang="en-US" dirty="0" err="1"/>
              <a:t>arr</a:t>
            </a:r>
            <a:r>
              <a:rPr lang="en-US" dirty="0"/>
              <a:t>, map, 0, </a:t>
            </a:r>
            <a:r>
              <a:rPr lang="en-US" dirty="0" err="1"/>
              <a:t>arr.length</a:t>
            </a:r>
            <a:r>
              <a:rPr lang="en-US" dirty="0"/>
              <a:t>));</a:t>
            </a:r>
          </a:p>
          <a:p>
            <a:pPr marL="0" indent="0">
              <a:buNone/>
            </a:pPr>
            <a:r>
              <a:rPr lang="en-US" dirty="0"/>
              <a:t>	int[] prefix = </a:t>
            </a:r>
            <a:r>
              <a:rPr lang="en-US" dirty="0" err="1"/>
              <a:t>parallelPrefixSum</a:t>
            </a:r>
            <a:r>
              <a:rPr lang="en-US" dirty="0"/>
              <a:t>(map);</a:t>
            </a:r>
          </a:p>
          <a:p>
            <a:pPr marL="0" indent="0">
              <a:buNone/>
            </a:pPr>
            <a:r>
              <a:rPr lang="en-US" dirty="0"/>
              <a:t>	int[] pack = new int[prefix[prefix.length-1]];</a:t>
            </a:r>
          </a:p>
          <a:p>
            <a:pPr marL="0" indent="0">
              <a:buNone/>
            </a:pPr>
            <a:r>
              <a:rPr lang="en-US" dirty="0"/>
              <a:t>	</a:t>
            </a:r>
            <a:r>
              <a:rPr lang="en-US" dirty="0" err="1"/>
              <a:t>POOL.invoke</a:t>
            </a:r>
            <a:r>
              <a:rPr lang="en-US" dirty="0"/>
              <a:t>(new </a:t>
            </a:r>
            <a:r>
              <a:rPr lang="en-US" dirty="0" err="1"/>
              <a:t>PopulateTask</a:t>
            </a:r>
            <a:r>
              <a:rPr lang="en-US" dirty="0"/>
              <a:t>(</a:t>
            </a:r>
            <a:r>
              <a:rPr lang="en-US" dirty="0" err="1"/>
              <a:t>arr</a:t>
            </a:r>
            <a:r>
              <a:rPr lang="en-US" dirty="0"/>
              <a:t>, map, prefix, pack, 0, </a:t>
            </a:r>
            <a:r>
              <a:rPr lang="en-US" dirty="0" err="1"/>
              <a:t>arr.length</a:t>
            </a:r>
            <a:r>
              <a:rPr lang="en-US" dirty="0"/>
              <a:t>));</a:t>
            </a:r>
          </a:p>
          <a:p>
            <a:pPr marL="0" indent="0">
              <a:buNone/>
            </a:pPr>
            <a:r>
              <a:rPr lang="en-US" dirty="0"/>
              <a:t>	return pack;</a:t>
            </a:r>
          </a:p>
          <a:p>
            <a:pPr marL="0" indent="0">
              <a:buNone/>
            </a:pPr>
            <a:r>
              <a:rPr lang="en-US" dirty="0"/>
              <a:t>}</a:t>
            </a:r>
          </a:p>
        </p:txBody>
      </p:sp>
    </p:spTree>
    <p:extLst>
      <p:ext uri="{BB962C8B-B14F-4D97-AF65-F5344CB8AC3E}">
        <p14:creationId xmlns:p14="http://schemas.microsoft.com/office/powerpoint/2010/main" val="24274018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1F739-3DFF-F9F3-CD03-58BBAE065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A51CA6-AB65-A7E4-1118-AA60D1855B31}"/>
              </a:ext>
            </a:extLst>
          </p:cNvPr>
          <p:cNvSpPr>
            <a:spLocks noGrp="1"/>
          </p:cNvSpPr>
          <p:nvPr>
            <p:ph type="title"/>
          </p:nvPr>
        </p:nvSpPr>
        <p:spPr/>
        <p:txBody>
          <a:bodyPr/>
          <a:lstStyle/>
          <a:p>
            <a:r>
              <a:rPr lang="en-US" dirty="0"/>
              <a:t>Map/Reduction/Pack Example</a:t>
            </a:r>
          </a:p>
        </p:txBody>
      </p:sp>
      <p:sp>
        <p:nvSpPr>
          <p:cNvPr id="3" name="Content Placeholder 2">
            <a:extLst>
              <a:ext uri="{FF2B5EF4-FFF2-40B4-BE49-F238E27FC236}">
                <a16:creationId xmlns:a16="http://schemas.microsoft.com/office/drawing/2014/main" id="{976CA658-A673-FEB1-BD15-AA7AAE8030C4}"/>
              </a:ext>
            </a:extLst>
          </p:cNvPr>
          <p:cNvSpPr>
            <a:spLocks noGrp="1"/>
          </p:cNvSpPr>
          <p:nvPr>
            <p:ph idx="1"/>
          </p:nvPr>
        </p:nvSpPr>
        <p:spPr/>
        <p:txBody>
          <a:bodyPr>
            <a:normAutofit/>
          </a:bodyPr>
          <a:lstStyle/>
          <a:p>
            <a:r>
              <a:rPr lang="en-US" dirty="0"/>
              <a:t>Multiply together the lengths of all of the odd-length strings in a given array</a:t>
            </a:r>
          </a:p>
          <a:p>
            <a:pPr lvl="1"/>
            <a:r>
              <a:rPr lang="en-US" dirty="0"/>
              <a:t>First, do a map to covert the array of strings into an array of their lengths</a:t>
            </a:r>
          </a:p>
          <a:p>
            <a:pPr lvl="1"/>
            <a:r>
              <a:rPr lang="en-US" dirty="0"/>
              <a:t>Then do a map on that array so each value maps to 1 if it’s even and itself if it’s odd</a:t>
            </a:r>
          </a:p>
          <a:p>
            <a:pPr lvl="2"/>
            <a:r>
              <a:rPr lang="en-US" dirty="0">
                <a:solidFill>
                  <a:srgbClr val="FF0000"/>
                </a:solidFill>
              </a:rPr>
              <a:t>Alternatively, do a pack on the array to remove all even values</a:t>
            </a:r>
          </a:p>
          <a:p>
            <a:pPr lvl="1"/>
            <a:r>
              <a:rPr lang="en-US" dirty="0"/>
              <a:t>Then do a reduction to multiply together that final result</a:t>
            </a:r>
          </a:p>
          <a:p>
            <a:pPr lvl="1"/>
            <a:endParaRPr lang="en-US" dirty="0"/>
          </a:p>
          <a:p>
            <a:endParaRPr lang="en-US" dirty="0"/>
          </a:p>
        </p:txBody>
      </p:sp>
    </p:spTree>
    <p:extLst>
      <p:ext uri="{BB962C8B-B14F-4D97-AF65-F5344CB8AC3E}">
        <p14:creationId xmlns:p14="http://schemas.microsoft.com/office/powerpoint/2010/main" val="29116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33633</TotalTime>
  <Words>4323</Words>
  <Application>Microsoft Office PowerPoint</Application>
  <PresentationFormat>Widescreen</PresentationFormat>
  <Paragraphs>842</Paragraphs>
  <Slides>29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Calibri Light</vt:lpstr>
      <vt:lpstr>Wingdings</vt:lpstr>
      <vt:lpstr>Calibri</vt:lpstr>
      <vt:lpstr>Cambria Math</vt:lpstr>
      <vt:lpstr>Arial</vt:lpstr>
      <vt:lpstr>Office Theme</vt:lpstr>
      <vt:lpstr>CSE 332 Spring 2026 Lecture 20: Parallel Prefix</vt:lpstr>
      <vt:lpstr>Which Data Structures are “Suitable” for Parallelism?</vt:lpstr>
      <vt:lpstr>Reduction/Fold</vt:lpstr>
      <vt:lpstr>Find Max with ForkJoin</vt:lpstr>
      <vt:lpstr>Map</vt:lpstr>
      <vt:lpstr>Vector Addition with ForkJoin</vt:lpstr>
      <vt:lpstr>Function Application with ForkJoin</vt:lpstr>
      <vt:lpstr>ForkJoin Picture</vt:lpstr>
      <vt:lpstr>Map/Reduction Example</vt:lpstr>
      <vt:lpstr>Pack/Filter</vt:lpstr>
      <vt:lpstr>Prefix Sum</vt:lpstr>
      <vt:lpstr>Parallel Prefix Sum</vt:lpstr>
      <vt:lpstr>Step 1: Using D&amp;C  Create a Tree, Fill in sum</vt:lpstr>
      <vt:lpstr>Step 1: Create a Tree,   Fill in sum</vt:lpstr>
      <vt:lpstr>Step 1 pseudocode (create tree, compute sum)</vt:lpstr>
      <vt:lpstr>Step 1 Java Code</vt:lpstr>
      <vt:lpstr>After Step 1</vt:lpstr>
      <vt:lpstr>Step 2: fill in leftSum    and Output (1/4)</vt:lpstr>
      <vt:lpstr>PowerPoint Presentation</vt:lpstr>
      <vt:lpstr>Step 2: fill in leftSum    and Output (3/4)</vt:lpstr>
      <vt:lpstr>Step 2: fill in leftSum    and Output (4/4)</vt:lpstr>
      <vt:lpstr>Step 2 pseudocode (Compute Leftsum)</vt:lpstr>
      <vt:lpstr>Step 2 Java Code</vt:lpstr>
      <vt:lpstr>Whew! Back to Pack/Filter</vt:lpstr>
      <vt:lpstr>Parallel Pack</vt:lpstr>
      <vt:lpstr>3. Populate in the output in parallel:</vt:lpstr>
      <vt:lpstr>Step 3 Java Code</vt:lpstr>
      <vt:lpstr>Parallel Pack Java Code</vt:lpstr>
      <vt:lpstr>Map/Reduction/Pack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334</cp:revision>
  <dcterms:created xsi:type="dcterms:W3CDTF">2023-10-13T16:06:42Z</dcterms:created>
  <dcterms:modified xsi:type="dcterms:W3CDTF">2026-05-15T19:07:16Z</dcterms:modified>
</cp:coreProperties>
</file>