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7" r:id="rId3"/>
    <p:sldId id="258" r:id="rId4"/>
    <p:sldId id="263" r:id="rId5"/>
    <p:sldId id="262" r:id="rId6"/>
    <p:sldId id="267" r:id="rId7"/>
    <p:sldId id="468" r:id="rId8"/>
    <p:sldId id="268" r:id="rId9"/>
    <p:sldId id="269" r:id="rId10"/>
    <p:sldId id="469" r:id="rId11"/>
    <p:sldId id="454" r:id="rId12"/>
    <p:sldId id="271" r:id="rId13"/>
    <p:sldId id="270" r:id="rId14"/>
    <p:sldId id="272" r:id="rId15"/>
    <p:sldId id="455" r:id="rId16"/>
    <p:sldId id="274" r:id="rId17"/>
    <p:sldId id="275" r:id="rId18"/>
    <p:sldId id="276" r:id="rId19"/>
    <p:sldId id="277" r:id="rId20"/>
    <p:sldId id="467" r:id="rId21"/>
    <p:sldId id="278" r:id="rId22"/>
    <p:sldId id="279" r:id="rId23"/>
    <p:sldId id="280" r:id="rId24"/>
    <p:sldId id="281" r:id="rId25"/>
    <p:sldId id="471" r:id="rId26"/>
    <p:sldId id="282" r:id="rId27"/>
    <p:sldId id="472" r:id="rId28"/>
    <p:sldId id="284" r:id="rId29"/>
    <p:sldId id="473" r:id="rId30"/>
    <p:sldId id="283" r:id="rId31"/>
    <p:sldId id="474" r:id="rId32"/>
    <p:sldId id="285" r:id="rId33"/>
    <p:sldId id="286" r:id="rId34"/>
    <p:sldId id="47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0" d="100"/>
          <a:sy n="60" d="100"/>
        </p:scale>
        <p:origin x="96"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AFC52-F46C-4845-B64D-0DCC1AECCCC6}"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D97389-0441-4D4C-B013-3AC3B336705E}" type="slidenum">
              <a:rPr lang="en-US" smtClean="0"/>
              <a:t>‹#›</a:t>
            </a:fld>
            <a:endParaRPr lang="en-US"/>
          </a:p>
        </p:txBody>
      </p:sp>
    </p:spTree>
    <p:extLst>
      <p:ext uri="{BB962C8B-B14F-4D97-AF65-F5344CB8AC3E}">
        <p14:creationId xmlns:p14="http://schemas.microsoft.com/office/powerpoint/2010/main" val="208036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1</a:t>
            </a:fld>
            <a:endParaRPr lang="en-US"/>
          </a:p>
        </p:txBody>
      </p:sp>
    </p:spTree>
    <p:extLst>
      <p:ext uri="{BB962C8B-B14F-4D97-AF65-F5344CB8AC3E}">
        <p14:creationId xmlns:p14="http://schemas.microsoft.com/office/powerpoint/2010/main" val="3432767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EEDFD-05A3-AB2C-28EA-1F10E5D212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1A4A9E-A38E-8FAD-4725-63270224C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7024BA-3F6E-B600-8DEF-F5B8815AD09E}"/>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65D1B921-02AB-A8AB-A0C8-655556AFE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CED915-48D5-56D7-32CC-399EFE7FE2F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499380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F38B-CB5A-B13E-F5D7-2DA1A6B917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AE2621-C1D2-6EA5-9C00-AD4D21D63F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B215E-AE4B-9861-F145-FDA28262E9E0}"/>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CAAEC039-B059-ECCC-530A-3AB6CB0A1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BEA18-99AF-5466-77A2-2ED025B81CA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41158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553B-F670-1604-5051-C69575AB0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3F92DB-5E7F-F49E-F5A2-4CD71172F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C1753E-851C-6254-0D25-2F887273D52F}"/>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FB9E8AB3-1264-7FDE-D829-8552CB0E7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85CDF-C478-A7EF-68E9-A9B03181DF49}"/>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333693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64F7-D59E-B01A-8BD5-00384E223F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F09C-F9B9-2C50-7C6F-29C1255161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1A614B-6667-7695-5A04-2F636199B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CB1E8-E8EC-EC48-AC56-00B0294D4ECF}"/>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6" name="Footer Placeholder 5">
            <a:extLst>
              <a:ext uri="{FF2B5EF4-FFF2-40B4-BE49-F238E27FC236}">
                <a16:creationId xmlns:a16="http://schemas.microsoft.com/office/drawing/2014/main" id="{96E72EA3-CE48-C170-7657-2D913ED3E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736BE-3261-CE4F-7435-03969F8ED2AF}"/>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85854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765F-128C-5F4B-4E20-D385D2B40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4B8912-9AF9-E09C-E9BF-C1A2354403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17D6C8-55A2-957D-7F4E-CC7BCF01E7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7549B-8BC6-6148-ACAA-049554DFE2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1610D-E8FB-B2C8-5980-6848B27C4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F98579-8216-620D-1649-3AF68889B180}"/>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8" name="Footer Placeholder 7">
            <a:extLst>
              <a:ext uri="{FF2B5EF4-FFF2-40B4-BE49-F238E27FC236}">
                <a16:creationId xmlns:a16="http://schemas.microsoft.com/office/drawing/2014/main" id="{EA47186D-AE3C-BCC2-5CC7-DFDB1E9C01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3C042-93EE-DFEB-EB11-59AE48DBB3A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83948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93B1-B34F-DEF0-36F0-9044F5D7D2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52A602-329F-B48E-59DF-A750E7867E6A}"/>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4" name="Footer Placeholder 3">
            <a:extLst>
              <a:ext uri="{FF2B5EF4-FFF2-40B4-BE49-F238E27FC236}">
                <a16:creationId xmlns:a16="http://schemas.microsoft.com/office/drawing/2014/main" id="{4583EDF7-DE2E-A73E-8F31-9D5E4D89C8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012E61-B33E-641F-586B-715580997B5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66099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244B7-1B24-A316-4AE0-092CD30B907E}"/>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3" name="Footer Placeholder 2">
            <a:extLst>
              <a:ext uri="{FF2B5EF4-FFF2-40B4-BE49-F238E27FC236}">
                <a16:creationId xmlns:a16="http://schemas.microsoft.com/office/drawing/2014/main" id="{BDAF25EA-9B44-0E03-1033-8525546E05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925D09-469B-22B7-3367-45C141A2FC67}"/>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17456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1B2F-B9E6-9510-4D05-E3D54924E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6FE975-5B17-DA24-6CEB-DC943E8B86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B5A351-A381-B7DE-629A-344A18790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DD2EF-7CF7-DD3F-F641-183E8B2BF12C}"/>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6" name="Footer Placeholder 5">
            <a:extLst>
              <a:ext uri="{FF2B5EF4-FFF2-40B4-BE49-F238E27FC236}">
                <a16:creationId xmlns:a16="http://schemas.microsoft.com/office/drawing/2014/main" id="{F7F85405-E07D-ACE1-4750-3CCE6C35E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E168D-7644-1D4C-5394-64379655537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5917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801B-B60C-BB23-B536-10DDE66CB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6861CE-32FE-1378-773F-41832B9FF6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D2144C-D26D-D14D-26EE-59C3FC1E5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EF677-D138-7015-213C-2BB3F4A73865}"/>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6" name="Footer Placeholder 5">
            <a:extLst>
              <a:ext uri="{FF2B5EF4-FFF2-40B4-BE49-F238E27FC236}">
                <a16:creationId xmlns:a16="http://schemas.microsoft.com/office/drawing/2014/main" id="{29F190E5-FB64-35C9-62D3-131BE3315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729FB-47F6-106B-7BD5-F0203103642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26151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187-FA0C-1996-5F4B-01C6D21DC0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C32157-1E29-206A-A4D1-E079FFF5CF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ED6E6-27DC-9868-8ED6-B497F6664AE8}"/>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8E4E3647-A949-3CDF-67EE-AB590EDCA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6DF69-C102-21BC-88B3-80F4E212C8D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916131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C123A-D9AF-475A-C065-C2FA159642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927EB4-E58B-3FD3-E171-2FF9248A2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EA4642-AEF9-1A45-F614-49CABD0DF3C2}"/>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9CA41C59-45AB-EDDF-36FA-E3E263F9F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E2C6A-7AA0-08EE-B17B-CA0D2FF9EF9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235872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29756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65143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47650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763040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023494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255071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650211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9657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764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06153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371264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7B289-BD5E-5EED-C530-FE49EC1FB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E5310A-CDE1-6296-A6C7-FAD4EBB46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630977-A77A-05DC-ACE8-6F1D91538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16EC77BE-A1DA-9A34-23FB-D1B3BF2A8C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EA4270-8225-31C5-8BCA-531C6C5C8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467764-5149-49EB-A53E-E807869452CC}" type="slidenum">
              <a:rPr lang="en-US" smtClean="0"/>
              <a:t>‹#›</a:t>
            </a:fld>
            <a:endParaRPr lang="en-US"/>
          </a:p>
        </p:txBody>
      </p:sp>
    </p:spTree>
    <p:extLst>
      <p:ext uri="{BB962C8B-B14F-4D97-AF65-F5344CB8AC3E}">
        <p14:creationId xmlns:p14="http://schemas.microsoft.com/office/powerpoint/2010/main" val="2042159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1859234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uw.edu/332"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CSE 332 Spring 2026</a:t>
            </a: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dirty="0">
                <a:latin typeface="Calibri Light" panose="020F0302020204030204" pitchFamily="34" charset="0"/>
                <a:ea typeface="Calibri Light" panose="020F0302020204030204" pitchFamily="34" charset="0"/>
                <a:cs typeface="Calibri Light" panose="020F0302020204030204" pitchFamily="34" charset="0"/>
              </a:rPr>
              <a:t>Lecture 7: Dictionaries, BSTs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3"/>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AD86-1571-D6FB-228A-8B563D15EC58}"/>
              </a:ext>
            </a:extLst>
          </p:cNvPr>
          <p:cNvSpPr>
            <a:spLocks noGrp="1"/>
          </p:cNvSpPr>
          <p:nvPr>
            <p:ph type="title"/>
          </p:nvPr>
        </p:nvSpPr>
        <p:spPr/>
        <p:txBody>
          <a:bodyPr/>
          <a:lstStyle/>
          <a:p>
            <a:r>
              <a:rPr lang="en-US" dirty="0"/>
              <a:t>Dictionary (Map) ADT</a:t>
            </a:r>
          </a:p>
        </p:txBody>
      </p:sp>
      <p:sp>
        <p:nvSpPr>
          <p:cNvPr id="3" name="Content Placeholder 2">
            <a:extLst>
              <a:ext uri="{FF2B5EF4-FFF2-40B4-BE49-F238E27FC236}">
                <a16:creationId xmlns:a16="http://schemas.microsoft.com/office/drawing/2014/main" id="{FE9F7E85-C0B2-0941-5469-FBEF3EEEF3D9}"/>
              </a:ext>
            </a:extLst>
          </p:cNvPr>
          <p:cNvSpPr>
            <a:spLocks noGrp="1"/>
          </p:cNvSpPr>
          <p:nvPr>
            <p:ph idx="1"/>
          </p:nvPr>
        </p:nvSpPr>
        <p:spPr/>
        <p:txBody>
          <a:bodyPr>
            <a:normAutofit lnSpcReduction="10000"/>
          </a:bodyPr>
          <a:lstStyle/>
          <a:p>
            <a:r>
              <a:rPr lang="en-US" dirty="0"/>
              <a:t>Contents:</a:t>
            </a:r>
          </a:p>
          <a:p>
            <a:pPr lvl="1"/>
            <a:r>
              <a:rPr lang="en-US" dirty="0"/>
              <a:t>Sets of </a:t>
            </a:r>
            <a:r>
              <a:rPr lang="en-US" dirty="0" err="1"/>
              <a:t>key+value</a:t>
            </a:r>
            <a:r>
              <a:rPr lang="en-US" dirty="0"/>
              <a:t> pairs</a:t>
            </a:r>
          </a:p>
          <a:p>
            <a:pPr lvl="1"/>
            <a:r>
              <a:rPr lang="en-US" dirty="0"/>
              <a:t>Keys must be comparable</a:t>
            </a:r>
          </a:p>
          <a:p>
            <a:r>
              <a:rPr lang="en-US" dirty="0"/>
              <a:t>Operations:</a:t>
            </a:r>
          </a:p>
          <a:p>
            <a:pPr lvl="1"/>
            <a:r>
              <a:rPr lang="en-US" dirty="0"/>
              <a:t>insert(key, value)</a:t>
            </a:r>
          </a:p>
          <a:p>
            <a:pPr lvl="2"/>
            <a:r>
              <a:rPr lang="en-US" dirty="0"/>
              <a:t>Adds the (</a:t>
            </a:r>
            <a:r>
              <a:rPr lang="en-US" dirty="0" err="1"/>
              <a:t>key,value</a:t>
            </a:r>
            <a:r>
              <a:rPr lang="en-US" dirty="0"/>
              <a:t>) pair into the dictionary</a:t>
            </a:r>
          </a:p>
          <a:p>
            <a:pPr lvl="2"/>
            <a:r>
              <a:rPr lang="en-US" dirty="0"/>
              <a:t>If the key already has a value, overwrite the old value</a:t>
            </a:r>
          </a:p>
          <a:p>
            <a:pPr lvl="3"/>
            <a:r>
              <a:rPr lang="en-US" dirty="0"/>
              <a:t>Consequence: Keys cannot be repeated</a:t>
            </a:r>
          </a:p>
          <a:p>
            <a:pPr lvl="1"/>
            <a:r>
              <a:rPr lang="en-US" dirty="0"/>
              <a:t>find(key)</a:t>
            </a:r>
          </a:p>
          <a:p>
            <a:pPr lvl="2"/>
            <a:r>
              <a:rPr lang="en-US" dirty="0"/>
              <a:t>Returns the value associated with the given key</a:t>
            </a:r>
          </a:p>
          <a:p>
            <a:pPr lvl="1"/>
            <a:r>
              <a:rPr lang="en-US" dirty="0"/>
              <a:t>delete(key)</a:t>
            </a:r>
          </a:p>
          <a:p>
            <a:pPr lvl="2"/>
            <a:r>
              <a:rPr lang="en-US" dirty="0"/>
              <a:t>Remove the key (and its associated value)</a:t>
            </a:r>
          </a:p>
        </p:txBody>
      </p:sp>
    </p:spTree>
    <p:extLst>
      <p:ext uri="{BB962C8B-B14F-4D97-AF65-F5344CB8AC3E}">
        <p14:creationId xmlns:p14="http://schemas.microsoft.com/office/powerpoint/2010/main" val="3568956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CFD5-6174-1FD7-60B7-64E10B65BBE4}"/>
              </a:ext>
            </a:extLst>
          </p:cNvPr>
          <p:cNvSpPr>
            <a:spLocks noGrp="1"/>
          </p:cNvSpPr>
          <p:nvPr>
            <p:ph type="title"/>
          </p:nvPr>
        </p:nvSpPr>
        <p:spPr/>
        <p:txBody>
          <a:bodyPr/>
          <a:lstStyle/>
          <a:p>
            <a:r>
              <a:rPr lang="en-US" dirty="0"/>
              <a:t>Naïve attempts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2531404319"/>
                  </p:ext>
                </p:extLst>
              </p:nvPr>
            </p:nvGraphicFramePr>
            <p:xfrm>
              <a:off x="1485900" y="1988820"/>
              <a:ext cx="9220199" cy="393192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37084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Heap</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468038284"/>
                      </a:ext>
                    </a:extLst>
                  </a:tr>
                  <a:tr h="370840">
                    <a:tc>
                      <a:txBody>
                        <a:bodyPr/>
                        <a:lstStyle/>
                        <a:p>
                          <a:r>
                            <a:rPr lang="en-US" sz="2100" dirty="0"/>
                            <a:t>Binary Search Tree </a:t>
                          </a:r>
                        </a:p>
                        <a:p>
                          <a:r>
                            <a:rPr lang="en-US" sz="2100" dirty="0"/>
                            <a:t>(worst)</a:t>
                          </a:r>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extLst>
                      <a:ext uri="{0D108BD9-81ED-4DB2-BD59-A6C34878D82A}">
                        <a16:rowId xmlns:a16="http://schemas.microsoft.com/office/drawing/2014/main" val="1292073772"/>
                      </a:ext>
                    </a:extLst>
                  </a:tr>
                  <a:tr h="370840">
                    <a:tc>
                      <a:txBody>
                        <a:bodyPr/>
                        <a:lstStyle/>
                        <a:p>
                          <a:r>
                            <a:rPr lang="en-US" sz="2100" dirty="0"/>
                            <a:t>Binary Search Tree (expected)</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extLst>
                      <a:ext uri="{0D108BD9-81ED-4DB2-BD59-A6C34878D82A}">
                        <a16:rowId xmlns:a16="http://schemas.microsoft.com/office/drawing/2014/main" val="154752868"/>
                      </a:ext>
                    </a:extLst>
                  </a:tr>
                </a:tbl>
              </a:graphicData>
            </a:graphic>
          </p:graphicFrame>
        </mc:Choice>
        <mc:Fallback xmlns="">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2531404319"/>
                  </p:ext>
                </p:extLst>
              </p:nvPr>
            </p:nvGraphicFramePr>
            <p:xfrm>
              <a:off x="1485900" y="1988820"/>
              <a:ext cx="9220199" cy="393192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41148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155205" t="-110448" r="-223975" b="-791045"/>
                          </a:stretch>
                        </a:blipFill>
                      </a:tcPr>
                    </a:tc>
                    <a:tc>
                      <a:txBody>
                        <a:bodyPr/>
                        <a:lstStyle/>
                        <a:p>
                          <a:endParaRPr lang="en-US"/>
                        </a:p>
                      </a:txBody>
                      <a:tcPr>
                        <a:blipFill>
                          <a:blip r:embed="rId2"/>
                          <a:stretch>
                            <a:fillRect l="-273311" t="-110448" r="-139865" b="-791045"/>
                          </a:stretch>
                        </a:blipFill>
                      </a:tcPr>
                    </a:tc>
                    <a:tc>
                      <a:txBody>
                        <a:bodyPr/>
                        <a:lstStyle/>
                        <a:p>
                          <a:endParaRPr lang="en-US"/>
                        </a:p>
                      </a:txBody>
                      <a:tcPr>
                        <a:blipFill>
                          <a:blip r:embed="rId2"/>
                          <a:stretch>
                            <a:fillRect l="-269512" t="-110448" r="-976" b="-791045"/>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155205" t="-207353" r="-223975" b="-679412"/>
                          </a:stretch>
                        </a:blipFill>
                      </a:tcPr>
                    </a:tc>
                    <a:tc>
                      <a:txBody>
                        <a:bodyPr/>
                        <a:lstStyle/>
                        <a:p>
                          <a:endParaRPr lang="en-US"/>
                        </a:p>
                      </a:txBody>
                      <a:tcPr>
                        <a:blipFill>
                          <a:blip r:embed="rId2"/>
                          <a:stretch>
                            <a:fillRect l="-273311" t="-207353" r="-139865" b="-679412"/>
                          </a:stretch>
                        </a:blipFill>
                      </a:tcPr>
                    </a:tc>
                    <a:tc>
                      <a:txBody>
                        <a:bodyPr/>
                        <a:lstStyle/>
                        <a:p>
                          <a:endParaRPr lang="en-US"/>
                        </a:p>
                      </a:txBody>
                      <a:tcPr>
                        <a:blipFill>
                          <a:blip r:embed="rId2"/>
                          <a:stretch>
                            <a:fillRect l="-269512" t="-207353" r="-976" b="-679412"/>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155205" t="-311940" r="-223975" b="-589552"/>
                          </a:stretch>
                        </a:blipFill>
                      </a:tcPr>
                    </a:tc>
                    <a:tc>
                      <a:txBody>
                        <a:bodyPr/>
                        <a:lstStyle/>
                        <a:p>
                          <a:endParaRPr lang="en-US"/>
                        </a:p>
                      </a:txBody>
                      <a:tcPr>
                        <a:blipFill>
                          <a:blip r:embed="rId2"/>
                          <a:stretch>
                            <a:fillRect l="-273311" t="-311940" r="-139865" b="-589552"/>
                          </a:stretch>
                        </a:blipFill>
                      </a:tcPr>
                    </a:tc>
                    <a:tc>
                      <a:txBody>
                        <a:bodyPr/>
                        <a:lstStyle/>
                        <a:p>
                          <a:endParaRPr lang="en-US"/>
                        </a:p>
                      </a:txBody>
                      <a:tcPr>
                        <a:blipFill>
                          <a:blip r:embed="rId2"/>
                          <a:stretch>
                            <a:fillRect l="-269512" t="-311940" r="-976" b="-589552"/>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155205" t="-405882" r="-223975" b="-480882"/>
                          </a:stretch>
                        </a:blipFill>
                      </a:tcPr>
                    </a:tc>
                    <a:tc>
                      <a:txBody>
                        <a:bodyPr/>
                        <a:lstStyle/>
                        <a:p>
                          <a:endParaRPr lang="en-US"/>
                        </a:p>
                      </a:txBody>
                      <a:tcPr>
                        <a:blipFill>
                          <a:blip r:embed="rId2"/>
                          <a:stretch>
                            <a:fillRect l="-273311" t="-405882" r="-139865" b="-480882"/>
                          </a:stretch>
                        </a:blipFill>
                      </a:tcPr>
                    </a:tc>
                    <a:tc>
                      <a:txBody>
                        <a:bodyPr/>
                        <a:lstStyle/>
                        <a:p>
                          <a:endParaRPr lang="en-US"/>
                        </a:p>
                      </a:txBody>
                      <a:tcPr>
                        <a:blipFill>
                          <a:blip r:embed="rId2"/>
                          <a:stretch>
                            <a:fillRect l="-269512" t="-405882" r="-976" b="-480882"/>
                          </a:stretch>
                        </a:blipFill>
                      </a:tcPr>
                    </a:tc>
                    <a:extLst>
                      <a:ext uri="{0D108BD9-81ED-4DB2-BD59-A6C34878D82A}">
                        <a16:rowId xmlns:a16="http://schemas.microsoft.com/office/drawing/2014/main" val="2877379023"/>
                      </a:ext>
                    </a:extLst>
                  </a:tr>
                  <a:tr h="411480">
                    <a:tc>
                      <a:txBody>
                        <a:bodyPr/>
                        <a:lstStyle/>
                        <a:p>
                          <a:r>
                            <a:rPr lang="en-US" sz="2100" dirty="0"/>
                            <a:t>Heap</a:t>
                          </a:r>
                        </a:p>
                      </a:txBody>
                      <a:tcPr/>
                    </a:tc>
                    <a:tc>
                      <a:txBody>
                        <a:bodyPr/>
                        <a:lstStyle/>
                        <a:p>
                          <a:endParaRPr lang="en-US"/>
                        </a:p>
                      </a:txBody>
                      <a:tcPr>
                        <a:blipFill>
                          <a:blip r:embed="rId2"/>
                          <a:stretch>
                            <a:fillRect l="-155205" t="-505882" r="-223975" b="-380882"/>
                          </a:stretch>
                        </a:blipFill>
                      </a:tcPr>
                    </a:tc>
                    <a:tc>
                      <a:txBody>
                        <a:bodyPr/>
                        <a:lstStyle/>
                        <a:p>
                          <a:endParaRPr lang="en-US"/>
                        </a:p>
                      </a:txBody>
                      <a:tcPr>
                        <a:blipFill>
                          <a:blip r:embed="rId2"/>
                          <a:stretch>
                            <a:fillRect l="-273311" t="-505882" r="-139865" b="-380882"/>
                          </a:stretch>
                        </a:blipFill>
                      </a:tcPr>
                    </a:tc>
                    <a:tc>
                      <a:txBody>
                        <a:bodyPr/>
                        <a:lstStyle/>
                        <a:p>
                          <a:endParaRPr lang="en-US"/>
                        </a:p>
                      </a:txBody>
                      <a:tcPr>
                        <a:blipFill>
                          <a:blip r:embed="rId2"/>
                          <a:stretch>
                            <a:fillRect l="-269512" t="-505882" r="-976" b="-380882"/>
                          </a:stretch>
                        </a:blipFill>
                      </a:tcPr>
                    </a:tc>
                    <a:extLst>
                      <a:ext uri="{0D108BD9-81ED-4DB2-BD59-A6C34878D82A}">
                        <a16:rowId xmlns:a16="http://schemas.microsoft.com/office/drawing/2014/main" val="2468038284"/>
                      </a:ext>
                    </a:extLst>
                  </a:tr>
                  <a:tr h="731520">
                    <a:tc>
                      <a:txBody>
                        <a:bodyPr/>
                        <a:lstStyle/>
                        <a:p>
                          <a:r>
                            <a:rPr lang="en-US" sz="2100" dirty="0"/>
                            <a:t>Binary Search Tree </a:t>
                          </a:r>
                        </a:p>
                        <a:p>
                          <a:r>
                            <a:rPr lang="en-US" sz="2100" dirty="0"/>
                            <a:t>(worst)</a:t>
                          </a:r>
                        </a:p>
                      </a:txBody>
                      <a:tcPr>
                        <a:solidFill>
                          <a:schemeClr val="accent2">
                            <a:lumMod val="40000"/>
                            <a:lumOff val="60000"/>
                          </a:schemeClr>
                        </a:solidFill>
                      </a:tcPr>
                    </a:tc>
                    <a:tc>
                      <a:txBody>
                        <a:bodyPr/>
                        <a:lstStyle/>
                        <a:p>
                          <a:endParaRPr lang="en-US"/>
                        </a:p>
                      </a:txBody>
                      <a:tcPr>
                        <a:blipFill>
                          <a:blip r:embed="rId2"/>
                          <a:stretch>
                            <a:fillRect l="-155205" t="-343333" r="-223975" b="-115833"/>
                          </a:stretch>
                        </a:blipFill>
                      </a:tcPr>
                    </a:tc>
                    <a:tc>
                      <a:txBody>
                        <a:bodyPr/>
                        <a:lstStyle/>
                        <a:p>
                          <a:endParaRPr lang="en-US"/>
                        </a:p>
                      </a:txBody>
                      <a:tcPr>
                        <a:blipFill>
                          <a:blip r:embed="rId2"/>
                          <a:stretch>
                            <a:fillRect l="-273311" t="-343333" r="-139865" b="-115833"/>
                          </a:stretch>
                        </a:blipFill>
                      </a:tcPr>
                    </a:tc>
                    <a:tc>
                      <a:txBody>
                        <a:bodyPr/>
                        <a:lstStyle/>
                        <a:p>
                          <a:endParaRPr lang="en-US"/>
                        </a:p>
                      </a:txBody>
                      <a:tcPr>
                        <a:blipFill>
                          <a:blip r:embed="rId2"/>
                          <a:stretch>
                            <a:fillRect l="-269512" t="-343333" r="-976" b="-115833"/>
                          </a:stretch>
                        </a:blipFill>
                      </a:tcPr>
                    </a:tc>
                    <a:extLst>
                      <a:ext uri="{0D108BD9-81ED-4DB2-BD59-A6C34878D82A}">
                        <a16:rowId xmlns:a16="http://schemas.microsoft.com/office/drawing/2014/main" val="1292073772"/>
                      </a:ext>
                    </a:extLst>
                  </a:tr>
                  <a:tr h="731520">
                    <a:tc>
                      <a:txBody>
                        <a:bodyPr/>
                        <a:lstStyle/>
                        <a:p>
                          <a:r>
                            <a:rPr lang="en-US" sz="2100" dirty="0"/>
                            <a:t>Binary Search Tree (expected)</a:t>
                          </a:r>
                        </a:p>
                      </a:txBody>
                      <a:tcPr>
                        <a:solidFill>
                          <a:schemeClr val="accent2">
                            <a:lumMod val="40000"/>
                            <a:lumOff val="60000"/>
                          </a:schemeClr>
                        </a:solidFill>
                      </a:tcPr>
                    </a:tc>
                    <a:tc>
                      <a:txBody>
                        <a:bodyPr/>
                        <a:lstStyle/>
                        <a:p>
                          <a:endParaRPr lang="en-US"/>
                        </a:p>
                      </a:txBody>
                      <a:tcPr>
                        <a:blipFill>
                          <a:blip r:embed="rId2"/>
                          <a:stretch>
                            <a:fillRect l="-155205" t="-443333" r="-223975" b="-15833"/>
                          </a:stretch>
                        </a:blipFill>
                      </a:tcPr>
                    </a:tc>
                    <a:tc>
                      <a:txBody>
                        <a:bodyPr/>
                        <a:lstStyle/>
                        <a:p>
                          <a:endParaRPr lang="en-US"/>
                        </a:p>
                      </a:txBody>
                      <a:tcPr>
                        <a:blipFill>
                          <a:blip r:embed="rId2"/>
                          <a:stretch>
                            <a:fillRect l="-273311" t="-443333" r="-139865" b="-15833"/>
                          </a:stretch>
                        </a:blipFill>
                      </a:tcPr>
                    </a:tc>
                    <a:tc>
                      <a:txBody>
                        <a:bodyPr/>
                        <a:lstStyle/>
                        <a:p>
                          <a:endParaRPr lang="en-US"/>
                        </a:p>
                      </a:txBody>
                      <a:tcPr>
                        <a:blipFill>
                          <a:blip r:embed="rId2"/>
                          <a:stretch>
                            <a:fillRect l="-269512" t="-443333" r="-976" b="-15833"/>
                          </a:stretch>
                        </a:blipFill>
                      </a:tcPr>
                    </a:tc>
                    <a:extLst>
                      <a:ext uri="{0D108BD9-81ED-4DB2-BD59-A6C34878D82A}">
                        <a16:rowId xmlns:a16="http://schemas.microsoft.com/office/drawing/2014/main" val="154752868"/>
                      </a:ext>
                    </a:extLst>
                  </a:tr>
                </a:tbl>
              </a:graphicData>
            </a:graphic>
          </p:graphicFrame>
        </mc:Fallback>
      </mc:AlternateContent>
    </p:spTree>
    <p:extLst>
      <p:ext uri="{BB962C8B-B14F-4D97-AF65-F5344CB8AC3E}">
        <p14:creationId xmlns:p14="http://schemas.microsoft.com/office/powerpoint/2010/main" val="187968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4AF19-ADB0-CEDA-E499-060E3A41CF54}"/>
              </a:ext>
            </a:extLst>
          </p:cNvPr>
          <p:cNvSpPr>
            <a:spLocks noGrp="1"/>
          </p:cNvSpPr>
          <p:nvPr>
            <p:ph type="title"/>
          </p:nvPr>
        </p:nvSpPr>
        <p:spPr/>
        <p:txBody>
          <a:bodyPr/>
          <a:lstStyle/>
          <a:p>
            <a:r>
              <a:rPr lang="en-US" dirty="0"/>
              <a:t>More Tree “Vocab”</a:t>
            </a:r>
          </a:p>
        </p:txBody>
      </p:sp>
      <p:sp>
        <p:nvSpPr>
          <p:cNvPr id="3" name="Content Placeholder 2">
            <a:extLst>
              <a:ext uri="{FF2B5EF4-FFF2-40B4-BE49-F238E27FC236}">
                <a16:creationId xmlns:a16="http://schemas.microsoft.com/office/drawing/2014/main" id="{882F1423-9B9F-8928-7B3D-7CF5E1C30617}"/>
              </a:ext>
            </a:extLst>
          </p:cNvPr>
          <p:cNvSpPr>
            <a:spLocks noGrp="1"/>
          </p:cNvSpPr>
          <p:nvPr>
            <p:ph idx="1"/>
          </p:nvPr>
        </p:nvSpPr>
        <p:spPr>
          <a:xfrm>
            <a:off x="209398" y="1804594"/>
            <a:ext cx="10515600" cy="4351338"/>
          </a:xfrm>
        </p:spPr>
        <p:txBody>
          <a:bodyPr>
            <a:normAutofit lnSpcReduction="10000"/>
          </a:bodyPr>
          <a:lstStyle/>
          <a:p>
            <a:r>
              <a:rPr lang="en-US" dirty="0"/>
              <a:t>Traversal:</a:t>
            </a:r>
          </a:p>
          <a:p>
            <a:pPr lvl="1"/>
            <a:r>
              <a:rPr lang="en-US" dirty="0"/>
              <a:t>An algorithm for “visiting/processing” every node in a tree</a:t>
            </a:r>
          </a:p>
          <a:p>
            <a:r>
              <a:rPr lang="en-US" dirty="0"/>
              <a:t>Pre-Order Traversal:</a:t>
            </a:r>
          </a:p>
          <a:p>
            <a:pPr lvl="1"/>
            <a:r>
              <a:rPr lang="en-US" dirty="0"/>
              <a:t>Root, Left Subtree, Right Subtree</a:t>
            </a:r>
          </a:p>
          <a:p>
            <a:pPr lvl="1"/>
            <a:r>
              <a:rPr lang="en-US" dirty="0"/>
              <a:t>D U S 2 B</a:t>
            </a:r>
          </a:p>
          <a:p>
            <a:r>
              <a:rPr lang="en-US" dirty="0"/>
              <a:t>In-Order Traversal:</a:t>
            </a:r>
          </a:p>
          <a:p>
            <a:pPr lvl="1"/>
            <a:r>
              <a:rPr lang="en-US" dirty="0"/>
              <a:t>Left Subtree, Root, Right Subtree</a:t>
            </a:r>
          </a:p>
          <a:p>
            <a:pPr lvl="1"/>
            <a:r>
              <a:rPr lang="en-US" dirty="0"/>
              <a:t>S U 2 D B</a:t>
            </a:r>
          </a:p>
          <a:p>
            <a:r>
              <a:rPr lang="en-US" dirty="0"/>
              <a:t>Post-Order Traversal</a:t>
            </a:r>
          </a:p>
          <a:p>
            <a:pPr lvl="1"/>
            <a:r>
              <a:rPr lang="en-US" dirty="0"/>
              <a:t>Left Subtree, Right Subtree, Root</a:t>
            </a:r>
          </a:p>
          <a:p>
            <a:pPr lvl="1"/>
            <a:r>
              <a:rPr lang="en-US" dirty="0"/>
              <a:t>S 2 U B D </a:t>
            </a:r>
          </a:p>
        </p:txBody>
      </p:sp>
      <p:grpSp>
        <p:nvGrpSpPr>
          <p:cNvPr id="13" name="Group 12" descr="An example binary tree.&#10;&#10;Root: contains the value &quot;D&quot;, has left child &quot;U&quot; and right child &quot;B&quot;&#10;U: has left child &quot;S&quot; and right child &quot;2&quot;&#10;B, S, 2: have no children.">
            <a:extLst>
              <a:ext uri="{FF2B5EF4-FFF2-40B4-BE49-F238E27FC236}">
                <a16:creationId xmlns:a16="http://schemas.microsoft.com/office/drawing/2014/main" id="{B47A3547-295B-B05C-068B-983BD07205E4}"/>
              </a:ext>
            </a:extLst>
          </p:cNvPr>
          <p:cNvGrpSpPr/>
          <p:nvPr/>
        </p:nvGrpSpPr>
        <p:grpSpPr>
          <a:xfrm>
            <a:off x="8321041" y="681037"/>
            <a:ext cx="3308482" cy="2358532"/>
            <a:chOff x="8321041" y="681037"/>
            <a:chExt cx="3308482" cy="2358532"/>
          </a:xfrm>
        </p:grpSpPr>
        <p:sp>
          <p:nvSpPr>
            <p:cNvPr id="4" name="Oval 3">
              <a:extLst>
                <a:ext uri="{FF2B5EF4-FFF2-40B4-BE49-F238E27FC236}">
                  <a16:creationId xmlns:a16="http://schemas.microsoft.com/office/drawing/2014/main" id="{2871AA27-B709-68DB-ED61-5CFC34EE7535}"/>
                </a:ext>
              </a:extLst>
            </p:cNvPr>
            <p:cNvSpPr/>
            <p:nvPr/>
          </p:nvSpPr>
          <p:spPr>
            <a:xfrm>
              <a:off x="9921241" y="681037"/>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p>
          </p:txBody>
        </p:sp>
        <p:sp>
          <p:nvSpPr>
            <p:cNvPr id="5" name="Oval 4">
              <a:extLst>
                <a:ext uri="{FF2B5EF4-FFF2-40B4-BE49-F238E27FC236}">
                  <a16:creationId xmlns:a16="http://schemas.microsoft.com/office/drawing/2014/main" id="{6A90F0F4-CCA6-1F0F-2E8C-1EA305114FE8}"/>
                </a:ext>
              </a:extLst>
            </p:cNvPr>
            <p:cNvSpPr/>
            <p:nvPr/>
          </p:nvSpPr>
          <p:spPr>
            <a:xfrm>
              <a:off x="8930641" y="1382252"/>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a:t>
              </a:r>
            </a:p>
          </p:txBody>
        </p:sp>
        <p:sp>
          <p:nvSpPr>
            <p:cNvPr id="6" name="Oval 5">
              <a:extLst>
                <a:ext uri="{FF2B5EF4-FFF2-40B4-BE49-F238E27FC236}">
                  <a16:creationId xmlns:a16="http://schemas.microsoft.com/office/drawing/2014/main" id="{2E07A1F2-30F9-729B-1528-91EAFB4D1467}"/>
                </a:ext>
              </a:extLst>
            </p:cNvPr>
            <p:cNvSpPr/>
            <p:nvPr/>
          </p:nvSpPr>
          <p:spPr>
            <a:xfrm>
              <a:off x="10941446" y="142411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sp>
          <p:nvSpPr>
            <p:cNvPr id="7" name="Oval 6">
              <a:extLst>
                <a:ext uri="{FF2B5EF4-FFF2-40B4-BE49-F238E27FC236}">
                  <a16:creationId xmlns:a16="http://schemas.microsoft.com/office/drawing/2014/main" id="{653BEA08-669E-B443-72F8-BA5F0CEEB896}"/>
                </a:ext>
              </a:extLst>
            </p:cNvPr>
            <p:cNvSpPr/>
            <p:nvPr/>
          </p:nvSpPr>
          <p:spPr>
            <a:xfrm>
              <a:off x="8321041" y="2351492"/>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p>
          </p:txBody>
        </p:sp>
        <p:sp>
          <p:nvSpPr>
            <p:cNvPr id="8" name="Oval 7">
              <a:extLst>
                <a:ext uri="{FF2B5EF4-FFF2-40B4-BE49-F238E27FC236}">
                  <a16:creationId xmlns:a16="http://schemas.microsoft.com/office/drawing/2014/main" id="{31BE23D9-06E9-66F6-B04D-AE64602081C5}"/>
                </a:ext>
              </a:extLst>
            </p:cNvPr>
            <p:cNvSpPr/>
            <p:nvPr/>
          </p:nvSpPr>
          <p:spPr>
            <a:xfrm>
              <a:off x="9464041" y="2351492"/>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cxnSp>
          <p:nvCxnSpPr>
            <p:cNvPr id="9" name="Straight Connector 8">
              <a:extLst>
                <a:ext uri="{FF2B5EF4-FFF2-40B4-BE49-F238E27FC236}">
                  <a16:creationId xmlns:a16="http://schemas.microsoft.com/office/drawing/2014/main" id="{3D00C509-5697-D96D-ED44-6AF53EE8DA7A}"/>
                </a:ext>
              </a:extLst>
            </p:cNvPr>
            <p:cNvCxnSpPr>
              <a:stCxn id="6" idx="1"/>
              <a:endCxn id="4" idx="5"/>
            </p:cNvCxnSpPr>
            <p:nvPr/>
          </p:nvCxnSpPr>
          <p:spPr>
            <a:xfrm flipH="1" flipV="1">
              <a:off x="10508550" y="1268346"/>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622C071-DF0C-D512-68A9-B941D1228586}"/>
                </a:ext>
              </a:extLst>
            </p:cNvPr>
            <p:cNvCxnSpPr>
              <a:stCxn id="5" idx="7"/>
              <a:endCxn id="4" idx="3"/>
            </p:cNvCxnSpPr>
            <p:nvPr/>
          </p:nvCxnSpPr>
          <p:spPr>
            <a:xfrm flipV="1">
              <a:off x="9517951" y="1268346"/>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9E9506-B816-4FDB-6488-95FEF0DA2885}"/>
                </a:ext>
              </a:extLst>
            </p:cNvPr>
            <p:cNvCxnSpPr>
              <a:stCxn id="8" idx="0"/>
              <a:endCxn id="5" idx="5"/>
            </p:cNvCxnSpPr>
            <p:nvPr/>
          </p:nvCxnSpPr>
          <p:spPr>
            <a:xfrm flipH="1" flipV="1">
              <a:off x="9517951" y="1969561"/>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CC884B-01B4-13C8-F936-0590B4EE303A}"/>
                </a:ext>
              </a:extLst>
            </p:cNvPr>
            <p:cNvCxnSpPr>
              <a:stCxn id="7" idx="0"/>
              <a:endCxn id="5" idx="3"/>
            </p:cNvCxnSpPr>
            <p:nvPr/>
          </p:nvCxnSpPr>
          <p:spPr>
            <a:xfrm flipV="1">
              <a:off x="8665079" y="1969561"/>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87747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41BB-3D3E-2892-1138-23936D229C8B}"/>
              </a:ext>
            </a:extLst>
          </p:cNvPr>
          <p:cNvSpPr>
            <a:spLocks noGrp="1"/>
          </p:cNvSpPr>
          <p:nvPr>
            <p:ph type="title"/>
          </p:nvPr>
        </p:nvSpPr>
        <p:spPr/>
        <p:txBody>
          <a:bodyPr/>
          <a:lstStyle/>
          <a:p>
            <a:r>
              <a:rPr lang="en-US" dirty="0"/>
              <a:t>Name that Traversal!</a:t>
            </a:r>
          </a:p>
        </p:txBody>
      </p:sp>
      <p:sp>
        <p:nvSpPr>
          <p:cNvPr id="4" name="TextBox 3">
            <a:extLst>
              <a:ext uri="{FF2B5EF4-FFF2-40B4-BE49-F238E27FC236}">
                <a16:creationId xmlns:a16="http://schemas.microsoft.com/office/drawing/2014/main" id="{81185F3B-810A-B300-B3D1-DB07A7B7626D}"/>
              </a:ext>
            </a:extLst>
          </p:cNvPr>
          <p:cNvSpPr txBox="1"/>
          <p:nvPr/>
        </p:nvSpPr>
        <p:spPr>
          <a:xfrm>
            <a:off x="0" y="1828800"/>
            <a:ext cx="40453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aO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aOrder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aOrder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 name="TextBox 4">
            <a:extLst>
              <a:ext uri="{FF2B5EF4-FFF2-40B4-BE49-F238E27FC236}">
                <a16:creationId xmlns:a16="http://schemas.microsoft.com/office/drawing/2014/main" id="{8AD21AD2-233A-B15D-281E-50F6C7B8EB57}"/>
              </a:ext>
            </a:extLst>
          </p:cNvPr>
          <p:cNvSpPr txBox="1"/>
          <p:nvPr/>
        </p:nvSpPr>
        <p:spPr>
          <a:xfrm>
            <a:off x="4045337" y="1822768"/>
            <a:ext cx="40453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bO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bOrder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bOrder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751AC02A-AE8D-56FD-438A-B6623B7BE486}"/>
              </a:ext>
            </a:extLst>
          </p:cNvPr>
          <p:cNvSpPr txBox="1"/>
          <p:nvPr/>
        </p:nvSpPr>
        <p:spPr>
          <a:xfrm>
            <a:off x="8146664" y="1822768"/>
            <a:ext cx="40453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cO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cOrder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cOrder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376215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48BB-B56B-36E0-7326-ADA3ADE2C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4A80B-311C-19A6-D18C-3A100EA2E326}"/>
              </a:ext>
            </a:extLst>
          </p:cNvPr>
          <p:cNvSpPr>
            <a:spLocks noGrp="1"/>
          </p:cNvSpPr>
          <p:nvPr>
            <p:ph type="title"/>
          </p:nvPr>
        </p:nvSpPr>
        <p:spPr/>
        <p:txBody>
          <a:bodyPr/>
          <a:lstStyle/>
          <a:p>
            <a:r>
              <a:rPr lang="en-US" dirty="0"/>
              <a:t>Name that Traversal! (Answers)</a:t>
            </a:r>
          </a:p>
        </p:txBody>
      </p:sp>
      <p:sp>
        <p:nvSpPr>
          <p:cNvPr id="4" name="TextBox 3">
            <a:extLst>
              <a:ext uri="{FF2B5EF4-FFF2-40B4-BE49-F238E27FC236}">
                <a16:creationId xmlns:a16="http://schemas.microsoft.com/office/drawing/2014/main" id="{E2673BAB-BB1B-BF4D-750F-E30327D374F1}"/>
              </a:ext>
            </a:extLst>
          </p:cNvPr>
          <p:cNvSpPr txBox="1"/>
          <p:nvPr/>
        </p:nvSpPr>
        <p:spPr>
          <a:xfrm>
            <a:off x="0" y="1828800"/>
            <a:ext cx="4371646"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postOrder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postOrder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postOrder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 name="TextBox 4">
            <a:extLst>
              <a:ext uri="{FF2B5EF4-FFF2-40B4-BE49-F238E27FC236}">
                <a16:creationId xmlns:a16="http://schemas.microsoft.com/office/drawing/2014/main" id="{8A57933E-EFBA-7E93-1FBD-2601BF5A7842}"/>
              </a:ext>
            </a:extLst>
          </p:cNvPr>
          <p:cNvSpPr txBox="1"/>
          <p:nvPr/>
        </p:nvSpPr>
        <p:spPr>
          <a:xfrm>
            <a:off x="4045337" y="1822768"/>
            <a:ext cx="4266937"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preO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preOrder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preOrder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F0207ED3-A022-F7B3-179D-AD8F23CB6DF1}"/>
              </a:ext>
            </a:extLst>
          </p:cNvPr>
          <p:cNvSpPr txBox="1"/>
          <p:nvPr/>
        </p:nvSpPr>
        <p:spPr>
          <a:xfrm>
            <a:off x="8146664" y="1822768"/>
            <a:ext cx="41116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inO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inOrder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inOrder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4064413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2B5E9-06A8-32A2-7716-F22B52B4BC89}"/>
              </a:ext>
            </a:extLst>
          </p:cNvPr>
          <p:cNvSpPr>
            <a:spLocks noGrp="1"/>
          </p:cNvSpPr>
          <p:nvPr>
            <p:ph type="title"/>
          </p:nvPr>
        </p:nvSpPr>
        <p:spPr/>
        <p:txBody>
          <a:bodyPr/>
          <a:lstStyle/>
          <a:p>
            <a:r>
              <a:rPr lang="en-US" dirty="0"/>
              <a:t>Binary Search Tree</a:t>
            </a:r>
          </a:p>
        </p:txBody>
      </p:sp>
      <p:sp>
        <p:nvSpPr>
          <p:cNvPr id="3" name="Content Placeholder 2">
            <a:extLst>
              <a:ext uri="{FF2B5EF4-FFF2-40B4-BE49-F238E27FC236}">
                <a16:creationId xmlns:a16="http://schemas.microsoft.com/office/drawing/2014/main" id="{892B297E-7EE5-3C68-FD59-6C5683255046}"/>
              </a:ext>
            </a:extLst>
          </p:cNvPr>
          <p:cNvSpPr>
            <a:spLocks noGrp="1"/>
          </p:cNvSpPr>
          <p:nvPr>
            <p:ph idx="1"/>
          </p:nvPr>
        </p:nvSpPr>
        <p:spPr>
          <a:xfrm>
            <a:off x="838200" y="2307763"/>
            <a:ext cx="10515600" cy="4351338"/>
          </a:xfrm>
        </p:spPr>
        <p:txBody>
          <a:bodyPr/>
          <a:lstStyle/>
          <a:p>
            <a:r>
              <a:rPr lang="en-US" dirty="0"/>
              <a:t>Binary Tree</a:t>
            </a:r>
          </a:p>
          <a:p>
            <a:pPr lvl="1"/>
            <a:r>
              <a:rPr lang="en-US" dirty="0"/>
              <a:t>Definition:</a:t>
            </a:r>
          </a:p>
          <a:p>
            <a:pPr lvl="2"/>
            <a:r>
              <a:rPr lang="en-US" dirty="0"/>
              <a:t>Tree where each node has at most 2 children</a:t>
            </a:r>
          </a:p>
          <a:p>
            <a:r>
              <a:rPr lang="en-US" dirty="0"/>
              <a:t>Order Property</a:t>
            </a:r>
          </a:p>
          <a:p>
            <a:pPr lvl="1"/>
            <a:r>
              <a:rPr lang="en-US" dirty="0"/>
              <a:t>All keys in the left subtree are smaller than the root</a:t>
            </a:r>
          </a:p>
          <a:p>
            <a:pPr lvl="1"/>
            <a:r>
              <a:rPr lang="en-US" dirty="0"/>
              <a:t>All keys in the right subtree are larger than the root</a:t>
            </a:r>
          </a:p>
          <a:p>
            <a:pPr lvl="1"/>
            <a:r>
              <a:rPr lang="en-US" dirty="0"/>
              <a:t>Consequence: cannot have repeated values</a:t>
            </a:r>
          </a:p>
        </p:txBody>
      </p:sp>
      <p:grpSp>
        <p:nvGrpSpPr>
          <p:cNvPr id="4" name="Group 3" descr="An example binary search tree. It has the property that all nodes to the left of every node are smaller, and all nodes to the right are bigger.">
            <a:extLst>
              <a:ext uri="{FF2B5EF4-FFF2-40B4-BE49-F238E27FC236}">
                <a16:creationId xmlns:a16="http://schemas.microsoft.com/office/drawing/2014/main" id="{2F71E9C4-A101-FA4C-0659-721A14214FB9}"/>
              </a:ext>
            </a:extLst>
          </p:cNvPr>
          <p:cNvGrpSpPr/>
          <p:nvPr/>
        </p:nvGrpSpPr>
        <p:grpSpPr>
          <a:xfrm>
            <a:off x="5719609" y="-50800"/>
            <a:ext cx="6172672" cy="2998788"/>
            <a:chOff x="2590801" y="2672070"/>
            <a:chExt cx="6934200" cy="3368751"/>
          </a:xfrm>
        </p:grpSpPr>
        <p:sp>
          <p:nvSpPr>
            <p:cNvPr id="5" name="Oval 4">
              <a:extLst>
                <a:ext uri="{FF2B5EF4-FFF2-40B4-BE49-F238E27FC236}">
                  <a16:creationId xmlns:a16="http://schemas.microsoft.com/office/drawing/2014/main" id="{27790789-87A7-46C0-EA6C-2277D13D78EE}"/>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3A295B32-4297-8096-ECFD-F8DF78979C08}"/>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BBB6D470-F748-CAA2-B85B-F5670795C1A8}"/>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31D716C2-27E6-7E2D-7139-2D180A5286B4}"/>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9" name="Oval 8">
              <a:extLst>
                <a:ext uri="{FF2B5EF4-FFF2-40B4-BE49-F238E27FC236}">
                  <a16:creationId xmlns:a16="http://schemas.microsoft.com/office/drawing/2014/main" id="{3518C3C5-E267-10AD-79B8-85A8152A145D}"/>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10" name="Oval 9">
              <a:extLst>
                <a:ext uri="{FF2B5EF4-FFF2-40B4-BE49-F238E27FC236}">
                  <a16:creationId xmlns:a16="http://schemas.microsoft.com/office/drawing/2014/main" id="{7E710BDE-CE64-A054-63A0-910654063B2A}"/>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11" name="Oval 10">
              <a:extLst>
                <a:ext uri="{FF2B5EF4-FFF2-40B4-BE49-F238E27FC236}">
                  <a16:creationId xmlns:a16="http://schemas.microsoft.com/office/drawing/2014/main" id="{13D2F92E-73DC-0C75-E9E1-B514E3CDE03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2" name="Oval 11">
              <a:extLst>
                <a:ext uri="{FF2B5EF4-FFF2-40B4-BE49-F238E27FC236}">
                  <a16:creationId xmlns:a16="http://schemas.microsoft.com/office/drawing/2014/main" id="{DCB0BCFA-A5E6-EA50-A0E5-4E556987C546}"/>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3" name="Oval 12">
              <a:extLst>
                <a:ext uri="{FF2B5EF4-FFF2-40B4-BE49-F238E27FC236}">
                  <a16:creationId xmlns:a16="http://schemas.microsoft.com/office/drawing/2014/main" id="{1F4C1969-2C20-D8A3-AF4D-89148C62640C}"/>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cxnSp>
          <p:nvCxnSpPr>
            <p:cNvPr id="14" name="Straight Connector 13">
              <a:extLst>
                <a:ext uri="{FF2B5EF4-FFF2-40B4-BE49-F238E27FC236}">
                  <a16:creationId xmlns:a16="http://schemas.microsoft.com/office/drawing/2014/main" id="{2A44E483-8BEE-9320-2C66-83FC9EA0B1AE}"/>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371AA0-D30E-E312-E5A8-C884765372F5}"/>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73C3A7-61D8-70EC-4EEE-3D6FE811705B}"/>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13F9A90-2C43-EFB7-CB66-282BFFEA2185}"/>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0EEC53A-1AFB-D890-5A14-FFCEFA2A15B8}"/>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A74E8D-B454-F5F2-6149-D711F44D4890}"/>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2211060-D69A-92CF-3F0C-77A1BD53CDBE}"/>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0372726-C603-E467-D286-87E153C707A7}"/>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49884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6548-9D98-39FE-74B0-AE28060AF5F8}"/>
              </a:ext>
            </a:extLst>
          </p:cNvPr>
          <p:cNvSpPr>
            <a:spLocks noGrp="1"/>
          </p:cNvSpPr>
          <p:nvPr>
            <p:ph type="title"/>
          </p:nvPr>
        </p:nvSpPr>
        <p:spPr/>
        <p:txBody>
          <a:bodyPr/>
          <a:lstStyle/>
          <a:p>
            <a:r>
              <a:rPr lang="en-US" dirty="0"/>
              <a:t>Are these BSTs?</a:t>
            </a:r>
          </a:p>
        </p:txBody>
      </p:sp>
      <p:grpSp>
        <p:nvGrpSpPr>
          <p:cNvPr id="23" name="Group 22" descr="A binary tree. That is structured as follows:&#10;&#10;root: 7, with left child 3 and right child 10&#10;3: left child is 1, it has no right child&#10;1: left child is 0, it has no right child&#10;0: has no children&#10;10: it has no left child, right child is 16&#10;16: has no children">
            <a:extLst>
              <a:ext uri="{FF2B5EF4-FFF2-40B4-BE49-F238E27FC236}">
                <a16:creationId xmlns:a16="http://schemas.microsoft.com/office/drawing/2014/main" id="{E0E5AD0C-4A2B-9A16-4E21-6AB1559EA083}"/>
              </a:ext>
            </a:extLst>
          </p:cNvPr>
          <p:cNvGrpSpPr/>
          <p:nvPr/>
        </p:nvGrpSpPr>
        <p:grpSpPr>
          <a:xfrm>
            <a:off x="200248" y="1567009"/>
            <a:ext cx="4036614" cy="2762801"/>
            <a:chOff x="131609" y="2379747"/>
            <a:chExt cx="4036614" cy="2762801"/>
          </a:xfrm>
        </p:grpSpPr>
        <p:sp>
          <p:nvSpPr>
            <p:cNvPr id="5" name="Oval 4">
              <a:extLst>
                <a:ext uri="{FF2B5EF4-FFF2-40B4-BE49-F238E27FC236}">
                  <a16:creationId xmlns:a16="http://schemas.microsoft.com/office/drawing/2014/main" id="{D16A6EC8-5DF8-4AA2-99AA-01038135CE4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99805804-F2DC-C6FD-B8E9-574ACB44AD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9B2B5938-265F-ABFC-25F4-5D8918243D7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4FF0C916-C4B6-92D6-8494-EA5DFFA91B3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1" name="Oval 10">
              <a:extLst>
                <a:ext uri="{FF2B5EF4-FFF2-40B4-BE49-F238E27FC236}">
                  <a16:creationId xmlns:a16="http://schemas.microsoft.com/office/drawing/2014/main" id="{0A91AC77-7F7D-F3E6-C149-208F5C5970A9}"/>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2" name="Oval 11">
              <a:extLst>
                <a:ext uri="{FF2B5EF4-FFF2-40B4-BE49-F238E27FC236}">
                  <a16:creationId xmlns:a16="http://schemas.microsoft.com/office/drawing/2014/main" id="{0C1FA898-5F86-702E-BACF-23EAF0ED22D9}"/>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EBF02345-0F06-9D9F-427F-6826149A089F}"/>
                </a:ext>
              </a:extLst>
            </p:cNvPr>
            <p:cNvCxnSpPr>
              <a:cxnSpLocks/>
              <a:stCxn id="5" idx="3"/>
              <a:endCxn id="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FF37D10-ECAB-4C4B-8186-21080F7EB02A}"/>
                </a:ext>
              </a:extLst>
            </p:cNvPr>
            <p:cNvCxnSpPr>
              <a:cxnSpLocks/>
              <a:stCxn id="5" idx="5"/>
              <a:endCxn id="7"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3B40EF5-F8EE-E10F-696D-062B8556F3FC}"/>
                </a:ext>
              </a:extLst>
            </p:cNvPr>
            <p:cNvCxnSpPr>
              <a:stCxn id="8" idx="7"/>
              <a:endCxn id="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4C5E63E-B3AA-4E99-B718-95F43830258A}"/>
                </a:ext>
              </a:extLst>
            </p:cNvPr>
            <p:cNvCxnSpPr>
              <a:cxnSpLocks/>
              <a:stCxn id="12" idx="7"/>
              <a:endCxn id="8"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BC7B60-9565-522D-D281-1C17537B9FCE}"/>
                </a:ext>
              </a:extLst>
            </p:cNvPr>
            <p:cNvCxnSpPr>
              <a:stCxn id="11" idx="1"/>
              <a:endCxn id="7"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descr="A binary tree. That is structured as follows:&#10;&#10;root: 7, with left child 3 and right child 10&#10;3: left child is 1, right child is 8&#10;1: left child is 0, it has no right child&#10;0: has no children&#10;8: has no children&#10;10: it has no left child, right child is 16&#10;16: has no children">
            <a:extLst>
              <a:ext uri="{FF2B5EF4-FFF2-40B4-BE49-F238E27FC236}">
                <a16:creationId xmlns:a16="http://schemas.microsoft.com/office/drawing/2014/main" id="{EBACDE4A-98B0-022C-87D8-15AEA4022316}"/>
              </a:ext>
            </a:extLst>
          </p:cNvPr>
          <p:cNvGrpSpPr/>
          <p:nvPr/>
        </p:nvGrpSpPr>
        <p:grpSpPr>
          <a:xfrm>
            <a:off x="2376685" y="3800627"/>
            <a:ext cx="4036614" cy="2762801"/>
            <a:chOff x="5413263" y="1203158"/>
            <a:chExt cx="4036614" cy="2762801"/>
          </a:xfrm>
        </p:grpSpPr>
        <p:grpSp>
          <p:nvGrpSpPr>
            <p:cNvPr id="4" name="Group 3">
              <a:extLst>
                <a:ext uri="{FF2B5EF4-FFF2-40B4-BE49-F238E27FC236}">
                  <a16:creationId xmlns:a16="http://schemas.microsoft.com/office/drawing/2014/main" id="{0CEFED0A-5C34-B6F0-549E-4E88321F4178}"/>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C1714744-621D-F5E0-3846-0DE7B9124DEE}"/>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16" name="Oval 15">
                <a:extLst>
                  <a:ext uri="{FF2B5EF4-FFF2-40B4-BE49-F238E27FC236}">
                    <a16:creationId xmlns:a16="http://schemas.microsoft.com/office/drawing/2014/main" id="{EE982F01-E273-B8BE-B119-E2CC24AD004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8" name="Oval 17">
                <a:extLst>
                  <a:ext uri="{FF2B5EF4-FFF2-40B4-BE49-F238E27FC236}">
                    <a16:creationId xmlns:a16="http://schemas.microsoft.com/office/drawing/2014/main" id="{8860A6C0-91DB-9D6E-4E29-D2DA63F0461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0" name="Oval 19">
                <a:extLst>
                  <a:ext uri="{FF2B5EF4-FFF2-40B4-BE49-F238E27FC236}">
                    <a16:creationId xmlns:a16="http://schemas.microsoft.com/office/drawing/2014/main" id="{0A5ED5B8-C63A-1E80-38DD-8981EBB048FF}"/>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2" name="Oval 21">
                <a:extLst>
                  <a:ext uri="{FF2B5EF4-FFF2-40B4-BE49-F238E27FC236}">
                    <a16:creationId xmlns:a16="http://schemas.microsoft.com/office/drawing/2014/main" id="{21801A08-6C6E-24D9-1F1A-23D7CC5BB202}"/>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6" name="Oval 35">
                <a:extLst>
                  <a:ext uri="{FF2B5EF4-FFF2-40B4-BE49-F238E27FC236}">
                    <a16:creationId xmlns:a16="http://schemas.microsoft.com/office/drawing/2014/main" id="{3A063D3F-1277-6121-2D74-06210209920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7" name="Straight Connector 36">
                <a:extLst>
                  <a:ext uri="{FF2B5EF4-FFF2-40B4-BE49-F238E27FC236}">
                    <a16:creationId xmlns:a16="http://schemas.microsoft.com/office/drawing/2014/main" id="{621B54F0-6F9E-6234-A5A1-BF7815089EA1}"/>
                  </a:ext>
                </a:extLst>
              </p:cNvPr>
              <p:cNvCxnSpPr>
                <a:cxnSpLocks/>
                <a:stCxn id="13" idx="3"/>
                <a:endCxn id="1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5AF691C-C423-88A5-793D-69792CD41AA7}"/>
                  </a:ext>
                </a:extLst>
              </p:cNvPr>
              <p:cNvCxnSpPr>
                <a:cxnSpLocks/>
                <a:stCxn id="13"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50A1733-3E9B-E375-CD65-075CED3234CA}"/>
                  </a:ext>
                </a:extLst>
              </p:cNvPr>
              <p:cNvCxnSpPr>
                <a:stCxn id="20" idx="7"/>
                <a:endCxn id="1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397CF2A-3C8F-10A1-2382-29256DF9A85E}"/>
                  </a:ext>
                </a:extLst>
              </p:cNvPr>
              <p:cNvCxnSpPr>
                <a:cxnSpLocks/>
                <a:stCxn id="36" idx="7"/>
                <a:endCxn id="20"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EDE9409-B167-DA3A-92F3-63FF2E4C3C11}"/>
                  </a:ext>
                </a:extLst>
              </p:cNvPr>
              <p:cNvCxnSpPr>
                <a:stCxn id="22"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49CB6E68-1D64-B8A9-6FEF-CE6C62F71FBC}"/>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cxnSp>
          <p:nvCxnSpPr>
            <p:cNvPr id="10" name="Straight Connector 9">
              <a:extLst>
                <a:ext uri="{FF2B5EF4-FFF2-40B4-BE49-F238E27FC236}">
                  <a16:creationId xmlns:a16="http://schemas.microsoft.com/office/drawing/2014/main" id="{DD59C2F0-D084-076D-73BD-249FCD714F8D}"/>
                </a:ext>
              </a:extLst>
            </p:cNvPr>
            <p:cNvCxnSpPr>
              <a:cxnSpLocks/>
              <a:stCxn id="9" idx="1"/>
              <a:endCxn id="16"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descr="A binary tree. That is structured as follows:&#10;&#10;root: 16, left child is 10, it has no right child&#10;10: left child is 7, it has no right child&#10;7: left child is 3, it has no right child&#10;3: left child is 1, it has no right child&#10;1: left child is 0, it has no right child&#10;0: has no children&#10;">
            <a:extLst>
              <a:ext uri="{FF2B5EF4-FFF2-40B4-BE49-F238E27FC236}">
                <a16:creationId xmlns:a16="http://schemas.microsoft.com/office/drawing/2014/main" id="{40884F94-B209-66BE-9805-70530BB7643C}"/>
              </a:ext>
            </a:extLst>
          </p:cNvPr>
          <p:cNvGrpSpPr/>
          <p:nvPr/>
        </p:nvGrpSpPr>
        <p:grpSpPr>
          <a:xfrm>
            <a:off x="6758024" y="2938268"/>
            <a:ext cx="3877904" cy="3796337"/>
            <a:chOff x="41909" y="1095926"/>
            <a:chExt cx="3877904" cy="3796337"/>
          </a:xfrm>
        </p:grpSpPr>
        <p:sp>
          <p:nvSpPr>
            <p:cNvPr id="25" name="Oval 24">
              <a:extLst>
                <a:ext uri="{FF2B5EF4-FFF2-40B4-BE49-F238E27FC236}">
                  <a16:creationId xmlns:a16="http://schemas.microsoft.com/office/drawing/2014/main" id="{948C104B-2AC3-76E9-2B47-DAB7FCAFA33F}"/>
                </a:ext>
              </a:extLst>
            </p:cNvPr>
            <p:cNvSpPr/>
            <p:nvPr/>
          </p:nvSpPr>
          <p:spPr>
            <a:xfrm>
              <a:off x="2032627" y="237198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6" name="Oval 25">
              <a:extLst>
                <a:ext uri="{FF2B5EF4-FFF2-40B4-BE49-F238E27FC236}">
                  <a16:creationId xmlns:a16="http://schemas.microsoft.com/office/drawing/2014/main" id="{D9204F87-3913-03CF-D0FF-35DB4BAA0656}"/>
                </a:ext>
              </a:extLst>
            </p:cNvPr>
            <p:cNvSpPr/>
            <p:nvPr/>
          </p:nvSpPr>
          <p:spPr>
            <a:xfrm>
              <a:off x="1339516" y="302554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7" name="Oval 26">
              <a:extLst>
                <a:ext uri="{FF2B5EF4-FFF2-40B4-BE49-F238E27FC236}">
                  <a16:creationId xmlns:a16="http://schemas.microsoft.com/office/drawing/2014/main" id="{97C5F20C-29FD-AE0D-F4C5-50410235796D}"/>
                </a:ext>
              </a:extLst>
            </p:cNvPr>
            <p:cNvSpPr/>
            <p:nvPr/>
          </p:nvSpPr>
          <p:spPr>
            <a:xfrm>
              <a:off x="2694793" y="172896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8" name="Oval 27">
              <a:extLst>
                <a:ext uri="{FF2B5EF4-FFF2-40B4-BE49-F238E27FC236}">
                  <a16:creationId xmlns:a16="http://schemas.microsoft.com/office/drawing/2014/main" id="{AA8EF4C2-E99D-433A-7E38-FD10C7AE2AA5}"/>
                </a:ext>
              </a:extLst>
            </p:cNvPr>
            <p:cNvSpPr/>
            <p:nvPr/>
          </p:nvSpPr>
          <p:spPr>
            <a:xfrm>
              <a:off x="674261" y="366724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9" name="Oval 28">
              <a:extLst>
                <a:ext uri="{FF2B5EF4-FFF2-40B4-BE49-F238E27FC236}">
                  <a16:creationId xmlns:a16="http://schemas.microsoft.com/office/drawing/2014/main" id="{F766E27F-8D6C-3E0B-4F79-2A655295B958}"/>
                </a:ext>
              </a:extLst>
            </p:cNvPr>
            <p:cNvSpPr/>
            <p:nvPr/>
          </p:nvSpPr>
          <p:spPr>
            <a:xfrm>
              <a:off x="3307302" y="1095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0" name="Oval 29">
              <a:extLst>
                <a:ext uri="{FF2B5EF4-FFF2-40B4-BE49-F238E27FC236}">
                  <a16:creationId xmlns:a16="http://schemas.microsoft.com/office/drawing/2014/main" id="{B54C4440-F81A-3A7F-27E9-725F1CAA06F4}"/>
                </a:ext>
              </a:extLst>
            </p:cNvPr>
            <p:cNvSpPr/>
            <p:nvPr/>
          </p:nvSpPr>
          <p:spPr>
            <a:xfrm>
              <a:off x="41909" y="427975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1" name="Straight Connector 30">
              <a:extLst>
                <a:ext uri="{FF2B5EF4-FFF2-40B4-BE49-F238E27FC236}">
                  <a16:creationId xmlns:a16="http://schemas.microsoft.com/office/drawing/2014/main" id="{37012BB1-0ABB-B4AD-2F57-9C1110B619BB}"/>
                </a:ext>
              </a:extLst>
            </p:cNvPr>
            <p:cNvCxnSpPr>
              <a:cxnSpLocks/>
              <a:stCxn id="25" idx="3"/>
              <a:endCxn id="26" idx="7"/>
            </p:cNvCxnSpPr>
            <p:nvPr/>
          </p:nvCxnSpPr>
          <p:spPr>
            <a:xfrm flipH="1">
              <a:off x="1862327" y="2894791"/>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83DAE3-3D5D-15E4-B689-776BBAEF2CA2}"/>
                </a:ext>
              </a:extLst>
            </p:cNvPr>
            <p:cNvCxnSpPr>
              <a:cxnSpLocks/>
              <a:stCxn id="25" idx="7"/>
              <a:endCxn id="27" idx="3"/>
            </p:cNvCxnSpPr>
            <p:nvPr/>
          </p:nvCxnSpPr>
          <p:spPr>
            <a:xfrm flipV="1">
              <a:off x="2555438" y="2251773"/>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5E6B326-F8D7-83A0-7746-675AF1939561}"/>
                </a:ext>
              </a:extLst>
            </p:cNvPr>
            <p:cNvCxnSpPr>
              <a:stCxn id="28" idx="7"/>
              <a:endCxn id="26" idx="3"/>
            </p:cNvCxnSpPr>
            <p:nvPr/>
          </p:nvCxnSpPr>
          <p:spPr>
            <a:xfrm flipV="1">
              <a:off x="1197072" y="3548353"/>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25648F-1B77-2F45-09C7-4D83E88B0D3C}"/>
                </a:ext>
              </a:extLst>
            </p:cNvPr>
            <p:cNvCxnSpPr>
              <a:cxnSpLocks/>
              <a:stCxn id="30" idx="7"/>
              <a:endCxn id="28" idx="3"/>
            </p:cNvCxnSpPr>
            <p:nvPr/>
          </p:nvCxnSpPr>
          <p:spPr>
            <a:xfrm flipV="1">
              <a:off x="564720" y="4190052"/>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518FA16-BC35-AB0B-3154-ED1E47669354}"/>
                </a:ext>
              </a:extLst>
            </p:cNvPr>
            <p:cNvCxnSpPr>
              <a:cxnSpLocks/>
              <a:stCxn id="29" idx="3"/>
              <a:endCxn id="27" idx="7"/>
            </p:cNvCxnSpPr>
            <p:nvPr/>
          </p:nvCxnSpPr>
          <p:spPr>
            <a:xfrm flipH="1">
              <a:off x="3217604" y="1618737"/>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Group 72" descr="A binary tree. That is structured as follows:&#10;&#10;root: 7, with left child 3 and right child 10&#10;3: left child is 1, right child is 7&#10;1: left child is 0, it has no right child&#10;0: has no children&#10;7: has no children&#10;10: it has no left child, right child is 16&#10;16: has no children">
            <a:extLst>
              <a:ext uri="{FF2B5EF4-FFF2-40B4-BE49-F238E27FC236}">
                <a16:creationId xmlns:a16="http://schemas.microsoft.com/office/drawing/2014/main" id="{4DE8E303-07A5-0FEA-D6A9-AA75413C8B43}"/>
              </a:ext>
            </a:extLst>
          </p:cNvPr>
          <p:cNvGrpSpPr/>
          <p:nvPr/>
        </p:nvGrpSpPr>
        <p:grpSpPr>
          <a:xfrm>
            <a:off x="5894880" y="334374"/>
            <a:ext cx="4036614" cy="2762801"/>
            <a:chOff x="5413263" y="1203158"/>
            <a:chExt cx="4036614" cy="2762801"/>
          </a:xfrm>
        </p:grpSpPr>
        <p:grpSp>
          <p:nvGrpSpPr>
            <p:cNvPr id="57" name="Group 56">
              <a:extLst>
                <a:ext uri="{FF2B5EF4-FFF2-40B4-BE49-F238E27FC236}">
                  <a16:creationId xmlns:a16="http://schemas.microsoft.com/office/drawing/2014/main" id="{2DE93E5E-47AF-DA70-5553-9B15F4248E19}"/>
                </a:ext>
              </a:extLst>
            </p:cNvPr>
            <p:cNvGrpSpPr/>
            <p:nvPr/>
          </p:nvGrpSpPr>
          <p:grpSpPr>
            <a:xfrm>
              <a:off x="5413263" y="1203158"/>
              <a:ext cx="4036614" cy="2762801"/>
              <a:chOff x="131609" y="2379747"/>
              <a:chExt cx="4036614" cy="2762801"/>
            </a:xfrm>
          </p:grpSpPr>
          <p:sp>
            <p:nvSpPr>
              <p:cNvPr id="58" name="Oval 57">
                <a:extLst>
                  <a:ext uri="{FF2B5EF4-FFF2-40B4-BE49-F238E27FC236}">
                    <a16:creationId xmlns:a16="http://schemas.microsoft.com/office/drawing/2014/main" id="{A0D95083-1032-E089-E0A6-2DDC0645E5C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59" name="Oval 58">
                <a:extLst>
                  <a:ext uri="{FF2B5EF4-FFF2-40B4-BE49-F238E27FC236}">
                    <a16:creationId xmlns:a16="http://schemas.microsoft.com/office/drawing/2014/main" id="{540CD5BB-759D-9930-59D7-E866E894F84D}"/>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60" name="Oval 59">
                <a:extLst>
                  <a:ext uri="{FF2B5EF4-FFF2-40B4-BE49-F238E27FC236}">
                    <a16:creationId xmlns:a16="http://schemas.microsoft.com/office/drawing/2014/main" id="{EAFB0B45-1D09-7FB3-2584-B1C055243DC8}"/>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61" name="Oval 60">
                <a:extLst>
                  <a:ext uri="{FF2B5EF4-FFF2-40B4-BE49-F238E27FC236}">
                    <a16:creationId xmlns:a16="http://schemas.microsoft.com/office/drawing/2014/main" id="{8E7364C8-CE67-2CDD-F323-1DB8BA6ED0F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62" name="Oval 61">
                <a:extLst>
                  <a:ext uri="{FF2B5EF4-FFF2-40B4-BE49-F238E27FC236}">
                    <a16:creationId xmlns:a16="http://schemas.microsoft.com/office/drawing/2014/main" id="{07B236FA-64A2-FF24-C027-2E1851FDA694}"/>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63" name="Oval 62">
                <a:extLst>
                  <a:ext uri="{FF2B5EF4-FFF2-40B4-BE49-F238E27FC236}">
                    <a16:creationId xmlns:a16="http://schemas.microsoft.com/office/drawing/2014/main" id="{2469DE87-EE49-BE73-3F23-F8663487148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64" name="Straight Connector 63">
                <a:extLst>
                  <a:ext uri="{FF2B5EF4-FFF2-40B4-BE49-F238E27FC236}">
                    <a16:creationId xmlns:a16="http://schemas.microsoft.com/office/drawing/2014/main" id="{93B9DA36-B4DF-1C20-A4FD-670899389501}"/>
                  </a:ext>
                </a:extLst>
              </p:cNvPr>
              <p:cNvCxnSpPr>
                <a:cxnSpLocks/>
                <a:stCxn id="58" idx="3"/>
                <a:endCxn id="5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5C94700-070A-B561-8ADC-5D4F8C148F03}"/>
                  </a:ext>
                </a:extLst>
              </p:cNvPr>
              <p:cNvCxnSpPr>
                <a:cxnSpLocks/>
                <a:stCxn id="58" idx="5"/>
                <a:endCxn id="6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3319A1F-7FEA-B5E1-183D-B46A7BD98F7A}"/>
                  </a:ext>
                </a:extLst>
              </p:cNvPr>
              <p:cNvCxnSpPr>
                <a:stCxn id="61" idx="7"/>
                <a:endCxn id="5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FDEE638-D040-5710-1D02-39AA593813D4}"/>
                  </a:ext>
                </a:extLst>
              </p:cNvPr>
              <p:cNvCxnSpPr>
                <a:cxnSpLocks/>
                <a:stCxn id="63" idx="7"/>
                <a:endCxn id="6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4BFAE1A-394A-A2F5-3B40-B82D2E654900}"/>
                  </a:ext>
                </a:extLst>
              </p:cNvPr>
              <p:cNvCxnSpPr>
                <a:stCxn id="62" idx="1"/>
                <a:endCxn id="6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9FA0846D-5821-0C57-9E29-76E3C1337D8F}"/>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70" name="Straight Connector 69">
              <a:extLst>
                <a:ext uri="{FF2B5EF4-FFF2-40B4-BE49-F238E27FC236}">
                  <a16:creationId xmlns:a16="http://schemas.microsoft.com/office/drawing/2014/main" id="{32250BAC-0A03-1B48-1E20-909F0F10479D}"/>
                </a:ext>
              </a:extLst>
            </p:cNvPr>
            <p:cNvCxnSpPr>
              <a:cxnSpLocks/>
              <a:stCxn id="69" idx="1"/>
              <a:endCxn id="5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45263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C26A2-4FB5-745F-29D1-E32EF0D72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1197A-AF8F-C7DD-5724-9B7CB1E8D22A}"/>
              </a:ext>
            </a:extLst>
          </p:cNvPr>
          <p:cNvSpPr>
            <a:spLocks noGrp="1"/>
          </p:cNvSpPr>
          <p:nvPr>
            <p:ph type="title"/>
          </p:nvPr>
        </p:nvSpPr>
        <p:spPr/>
        <p:txBody>
          <a:bodyPr/>
          <a:lstStyle/>
          <a:p>
            <a:r>
              <a:rPr lang="en-US" dirty="0"/>
              <a:t>Are these BSTs? (Answers)</a:t>
            </a:r>
          </a:p>
        </p:txBody>
      </p:sp>
      <p:grpSp>
        <p:nvGrpSpPr>
          <p:cNvPr id="46" name="Group 45" descr="A binary tree. That is structured as follows:&#10;&#10;root: 7, with left child 3 and right child 10&#10;3: left child is 1, it has no right child&#10;1: left child is 0, it has no right child&#10;0: has no children&#10;10: it has no left child, right child is 16&#10;16: has no children&#10;&#10;This is a valid binary search tree because all nodes has smaller values to the left and larger values to the right.">
            <a:extLst>
              <a:ext uri="{FF2B5EF4-FFF2-40B4-BE49-F238E27FC236}">
                <a16:creationId xmlns:a16="http://schemas.microsoft.com/office/drawing/2014/main" id="{356AB833-6458-1B48-8F7D-9592D6AB7D65}"/>
              </a:ext>
            </a:extLst>
          </p:cNvPr>
          <p:cNvGrpSpPr/>
          <p:nvPr/>
        </p:nvGrpSpPr>
        <p:grpSpPr>
          <a:xfrm>
            <a:off x="200248" y="1567009"/>
            <a:ext cx="4036614" cy="2762801"/>
            <a:chOff x="200248" y="1567009"/>
            <a:chExt cx="4036614" cy="2762801"/>
          </a:xfrm>
        </p:grpSpPr>
        <p:grpSp>
          <p:nvGrpSpPr>
            <p:cNvPr id="23" name="Group 22" descr="A binary tree. That is structured as follows:&#10;&#10;root: 7, with left child 3 and right child 10&#10;3: left child is 1, it has no right child&#10;1: left child is 0, it has no right child&#10;0: has no children&#10;10: it has no left child, right child is 16&#10;16: has no children">
              <a:extLst>
                <a:ext uri="{FF2B5EF4-FFF2-40B4-BE49-F238E27FC236}">
                  <a16:creationId xmlns:a16="http://schemas.microsoft.com/office/drawing/2014/main" id="{453A04B1-C2EA-E244-D89F-A4CB15EA6802}"/>
                </a:ext>
              </a:extLst>
            </p:cNvPr>
            <p:cNvGrpSpPr/>
            <p:nvPr/>
          </p:nvGrpSpPr>
          <p:grpSpPr>
            <a:xfrm>
              <a:off x="200248" y="1567009"/>
              <a:ext cx="4036614" cy="2762801"/>
              <a:chOff x="131609" y="2379747"/>
              <a:chExt cx="4036614" cy="2762801"/>
            </a:xfrm>
          </p:grpSpPr>
          <p:sp>
            <p:nvSpPr>
              <p:cNvPr id="5" name="Oval 4">
                <a:extLst>
                  <a:ext uri="{FF2B5EF4-FFF2-40B4-BE49-F238E27FC236}">
                    <a16:creationId xmlns:a16="http://schemas.microsoft.com/office/drawing/2014/main" id="{61975F98-891D-8202-7F8D-38B940E05616}"/>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8C8859E8-7E38-2B2B-2697-25F89811CA4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413F9798-46B0-AD0E-7113-E75FDFACA2E3}"/>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AF08DDF8-6707-964F-40EF-AFB1474E84FA}"/>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1" name="Oval 10">
                <a:extLst>
                  <a:ext uri="{FF2B5EF4-FFF2-40B4-BE49-F238E27FC236}">
                    <a16:creationId xmlns:a16="http://schemas.microsoft.com/office/drawing/2014/main" id="{02FC470B-D9B6-284E-D081-9B3A7E92899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2" name="Oval 11">
                <a:extLst>
                  <a:ext uri="{FF2B5EF4-FFF2-40B4-BE49-F238E27FC236}">
                    <a16:creationId xmlns:a16="http://schemas.microsoft.com/office/drawing/2014/main" id="{8DAE5710-ACC1-BD8A-E8FD-1C32FD0399B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420126D2-9406-D960-5985-23D320EFE304}"/>
                  </a:ext>
                </a:extLst>
              </p:cNvPr>
              <p:cNvCxnSpPr>
                <a:cxnSpLocks/>
                <a:stCxn id="5" idx="3"/>
                <a:endCxn id="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A14495-6042-BBE6-9593-8E057CD843C4}"/>
                  </a:ext>
                </a:extLst>
              </p:cNvPr>
              <p:cNvCxnSpPr>
                <a:cxnSpLocks/>
                <a:stCxn id="5" idx="5"/>
                <a:endCxn id="7"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30AD208-3B62-732F-17F8-ED049E46E9F8}"/>
                  </a:ext>
                </a:extLst>
              </p:cNvPr>
              <p:cNvCxnSpPr>
                <a:stCxn id="8" idx="7"/>
                <a:endCxn id="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4DF53C9-6881-85FB-4AE9-B892CA597EDF}"/>
                  </a:ext>
                </a:extLst>
              </p:cNvPr>
              <p:cNvCxnSpPr>
                <a:cxnSpLocks/>
                <a:stCxn id="12" idx="7"/>
                <a:endCxn id="8"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0F9D641-F2BA-02B3-8D57-2D22876D1FCA}"/>
                  </a:ext>
                </a:extLst>
              </p:cNvPr>
              <p:cNvCxnSpPr>
                <a:stCxn id="11" idx="1"/>
                <a:endCxn id="7"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9FA14843-8B82-E220-A96D-74D5AC995278}"/>
                </a:ext>
              </a:extLst>
            </p:cNvPr>
            <p:cNvSpPr txBox="1"/>
            <p:nvPr/>
          </p:nvSpPr>
          <p:spPr>
            <a:xfrm>
              <a:off x="2125743" y="3216329"/>
              <a:ext cx="725070" cy="461665"/>
            </a:xfrm>
            <a:prstGeom prst="rect">
              <a:avLst/>
            </a:prstGeom>
            <a:noFill/>
          </p:spPr>
          <p:txBody>
            <a:bodyPr wrap="none" rtlCol="0">
              <a:spAutoFit/>
            </a:bodyPr>
            <a:lstStyle/>
            <a:p>
              <a:r>
                <a:rPr lang="en-US" sz="2400" dirty="0">
                  <a:solidFill>
                    <a:srgbClr val="00B050"/>
                  </a:solidFill>
                </a:rPr>
                <a:t>YES!</a:t>
              </a:r>
            </a:p>
          </p:txBody>
        </p:sp>
      </p:grpSp>
      <p:grpSp>
        <p:nvGrpSpPr>
          <p:cNvPr id="48" name="Group 47" descr="A binary tree. That is structured as follows:&#10;&#10;root: 7, with left child 3 and right child 10&#10;3: left child is 1, right child is 8&#10;1: left child is 0, it has no right child&#10;0: has no children&#10;8: has no children&#10;10: it has no left child, right child is 16&#10;16: has no children&#10;&#10;This is not a valid binary search tree because the value 8 is in the left subtree of the root node 7. Therefore there is a value to the left of 7 that is not less than 7.">
            <a:extLst>
              <a:ext uri="{FF2B5EF4-FFF2-40B4-BE49-F238E27FC236}">
                <a16:creationId xmlns:a16="http://schemas.microsoft.com/office/drawing/2014/main" id="{7B25513E-4F3A-8916-9979-E2C00DC523F1}"/>
              </a:ext>
            </a:extLst>
          </p:cNvPr>
          <p:cNvGrpSpPr/>
          <p:nvPr/>
        </p:nvGrpSpPr>
        <p:grpSpPr>
          <a:xfrm>
            <a:off x="2376685" y="3800627"/>
            <a:ext cx="4036614" cy="2762801"/>
            <a:chOff x="2376685" y="3800627"/>
            <a:chExt cx="4036614" cy="2762801"/>
          </a:xfrm>
        </p:grpSpPr>
        <p:grpSp>
          <p:nvGrpSpPr>
            <p:cNvPr id="3" name="Group 2" descr="A binary tree. That is structured as follows:&#10;&#10;root: 7, with left child 3 and right child 10&#10;3: left child is 1, right child is 8&#10;1: left child is 0, it has no right child&#10;0: has no children&#10;8: has no children&#10;10: it has no left child, right child is 16&#10;16: has no children">
              <a:extLst>
                <a:ext uri="{FF2B5EF4-FFF2-40B4-BE49-F238E27FC236}">
                  <a16:creationId xmlns:a16="http://schemas.microsoft.com/office/drawing/2014/main" id="{9DC89A72-E2FD-18F7-45AC-B8D63C90A5CC}"/>
                </a:ext>
              </a:extLst>
            </p:cNvPr>
            <p:cNvGrpSpPr/>
            <p:nvPr/>
          </p:nvGrpSpPr>
          <p:grpSpPr>
            <a:xfrm>
              <a:off x="2376685" y="3800627"/>
              <a:ext cx="4036614" cy="2762801"/>
              <a:chOff x="5413263" y="1203158"/>
              <a:chExt cx="4036614" cy="2762801"/>
            </a:xfrm>
          </p:grpSpPr>
          <p:grpSp>
            <p:nvGrpSpPr>
              <p:cNvPr id="4" name="Group 3">
                <a:extLst>
                  <a:ext uri="{FF2B5EF4-FFF2-40B4-BE49-F238E27FC236}">
                    <a16:creationId xmlns:a16="http://schemas.microsoft.com/office/drawing/2014/main" id="{0F548A60-6812-97EE-0C20-DD746BB2DA2C}"/>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E32D0BFB-B8C0-3EC3-5615-53E5278CE536}"/>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16" name="Oval 15">
                  <a:extLst>
                    <a:ext uri="{FF2B5EF4-FFF2-40B4-BE49-F238E27FC236}">
                      <a16:creationId xmlns:a16="http://schemas.microsoft.com/office/drawing/2014/main" id="{2C83FD8F-A883-65C4-F0C9-10E03583B20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8" name="Oval 17">
                  <a:extLst>
                    <a:ext uri="{FF2B5EF4-FFF2-40B4-BE49-F238E27FC236}">
                      <a16:creationId xmlns:a16="http://schemas.microsoft.com/office/drawing/2014/main" id="{16BD430C-6768-85EE-28F0-E629A94BEA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0" name="Oval 19">
                  <a:extLst>
                    <a:ext uri="{FF2B5EF4-FFF2-40B4-BE49-F238E27FC236}">
                      <a16:creationId xmlns:a16="http://schemas.microsoft.com/office/drawing/2014/main" id="{C1C56D45-E711-A585-B601-D3FC5CBF2055}"/>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2" name="Oval 21">
                  <a:extLst>
                    <a:ext uri="{FF2B5EF4-FFF2-40B4-BE49-F238E27FC236}">
                      <a16:creationId xmlns:a16="http://schemas.microsoft.com/office/drawing/2014/main" id="{47DB0C9E-0FBD-9ACF-F75C-0E7E25B4B28D}"/>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6" name="Oval 35">
                  <a:extLst>
                    <a:ext uri="{FF2B5EF4-FFF2-40B4-BE49-F238E27FC236}">
                      <a16:creationId xmlns:a16="http://schemas.microsoft.com/office/drawing/2014/main" id="{1A60B005-8698-BF7B-DC5E-CCC5800AFC1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7" name="Straight Connector 36">
                  <a:extLst>
                    <a:ext uri="{FF2B5EF4-FFF2-40B4-BE49-F238E27FC236}">
                      <a16:creationId xmlns:a16="http://schemas.microsoft.com/office/drawing/2014/main" id="{F8DA549F-2105-DFEA-45ED-0BD92EB0CF1A}"/>
                    </a:ext>
                  </a:extLst>
                </p:cNvPr>
                <p:cNvCxnSpPr>
                  <a:cxnSpLocks/>
                  <a:stCxn id="13" idx="3"/>
                  <a:endCxn id="1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42396F3-7D97-8CD3-8D15-64FF79FD0BE7}"/>
                    </a:ext>
                  </a:extLst>
                </p:cNvPr>
                <p:cNvCxnSpPr>
                  <a:cxnSpLocks/>
                  <a:stCxn id="13"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B677736-2296-A3E3-FA8F-0141926DDB44}"/>
                    </a:ext>
                  </a:extLst>
                </p:cNvPr>
                <p:cNvCxnSpPr>
                  <a:stCxn id="20" idx="7"/>
                  <a:endCxn id="1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DFDC50A-3671-B3E6-1CC2-92377F0FE202}"/>
                    </a:ext>
                  </a:extLst>
                </p:cNvPr>
                <p:cNvCxnSpPr>
                  <a:cxnSpLocks/>
                  <a:stCxn id="36" idx="7"/>
                  <a:endCxn id="20"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2D5ED6F-4B7B-0E3B-50F0-E976FB581FBF}"/>
                    </a:ext>
                  </a:extLst>
                </p:cNvPr>
                <p:cNvCxnSpPr>
                  <a:stCxn id="22"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2440D492-8480-0FF1-6B20-CA1AA7EAA75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cxnSp>
            <p:nvCxnSpPr>
              <p:cNvPr id="10" name="Straight Connector 9">
                <a:extLst>
                  <a:ext uri="{FF2B5EF4-FFF2-40B4-BE49-F238E27FC236}">
                    <a16:creationId xmlns:a16="http://schemas.microsoft.com/office/drawing/2014/main" id="{54ACA57B-D6BD-DF8E-811F-91ED24B3FCE4}"/>
                  </a:ext>
                </a:extLst>
              </p:cNvPr>
              <p:cNvCxnSpPr>
                <a:cxnSpLocks/>
                <a:stCxn id="9" idx="1"/>
                <a:endCxn id="16"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86D84E5D-5BDB-9B8D-33A3-92717E214B09}"/>
                </a:ext>
              </a:extLst>
            </p:cNvPr>
            <p:cNvSpPr txBox="1"/>
            <p:nvPr/>
          </p:nvSpPr>
          <p:spPr>
            <a:xfrm>
              <a:off x="4395359" y="5743051"/>
              <a:ext cx="688009" cy="461665"/>
            </a:xfrm>
            <a:prstGeom prst="rect">
              <a:avLst/>
            </a:prstGeom>
            <a:noFill/>
          </p:spPr>
          <p:txBody>
            <a:bodyPr wrap="none" rtlCol="0">
              <a:spAutoFit/>
            </a:bodyPr>
            <a:lstStyle/>
            <a:p>
              <a:r>
                <a:rPr lang="en-US" sz="2400" dirty="0">
                  <a:solidFill>
                    <a:srgbClr val="FF0000"/>
                  </a:solidFill>
                </a:rPr>
                <a:t>NO!</a:t>
              </a:r>
            </a:p>
          </p:txBody>
        </p:sp>
      </p:grpSp>
      <p:grpSp>
        <p:nvGrpSpPr>
          <p:cNvPr id="47" name="Group 46" descr="A binary tree. That is structured as follows:&#10;&#10;root: 7, with left child 3 and right child 10&#10;3: left child is 1, right child is 7&#10;1: left child is 0, it has no right child&#10;0: has no children&#10;7: has no children&#10;10: it has no left child, right child is 16&#10;16: has no children&#10;&#10;This is not a valid binary search tree because the value 7 is in the left subtree of the root node 7. Therefore there is a value to the left of 7 that is not less than 7.">
            <a:extLst>
              <a:ext uri="{FF2B5EF4-FFF2-40B4-BE49-F238E27FC236}">
                <a16:creationId xmlns:a16="http://schemas.microsoft.com/office/drawing/2014/main" id="{4D28914F-CC8C-1288-B5FA-8EED4F6505F9}"/>
              </a:ext>
            </a:extLst>
          </p:cNvPr>
          <p:cNvGrpSpPr/>
          <p:nvPr/>
        </p:nvGrpSpPr>
        <p:grpSpPr>
          <a:xfrm>
            <a:off x="5894880" y="334374"/>
            <a:ext cx="4036614" cy="2762801"/>
            <a:chOff x="5894880" y="334374"/>
            <a:chExt cx="4036614" cy="2762801"/>
          </a:xfrm>
        </p:grpSpPr>
        <p:grpSp>
          <p:nvGrpSpPr>
            <p:cNvPr id="73" name="Group 72" descr="A binary tree. That is structured as follows:&#10;&#10;root: 7, with left child 3 and right child 10&#10;3: left child is 1, right child is 7&#10;1: left child is 0, it has no right child&#10;0: has no children&#10;7: has no children&#10;10: it has no left child, right child is 16&#10;16: has no children">
              <a:extLst>
                <a:ext uri="{FF2B5EF4-FFF2-40B4-BE49-F238E27FC236}">
                  <a16:creationId xmlns:a16="http://schemas.microsoft.com/office/drawing/2014/main" id="{1F4E3864-E05B-9E2D-5207-5D78157CC66C}"/>
                </a:ext>
              </a:extLst>
            </p:cNvPr>
            <p:cNvGrpSpPr/>
            <p:nvPr/>
          </p:nvGrpSpPr>
          <p:grpSpPr>
            <a:xfrm>
              <a:off x="5894880" y="334374"/>
              <a:ext cx="4036614" cy="2762801"/>
              <a:chOff x="5413263" y="1203158"/>
              <a:chExt cx="4036614" cy="2762801"/>
            </a:xfrm>
          </p:grpSpPr>
          <p:grpSp>
            <p:nvGrpSpPr>
              <p:cNvPr id="57" name="Group 56">
                <a:extLst>
                  <a:ext uri="{FF2B5EF4-FFF2-40B4-BE49-F238E27FC236}">
                    <a16:creationId xmlns:a16="http://schemas.microsoft.com/office/drawing/2014/main" id="{E6564CB5-08F5-B6D4-25F4-908CC9E20892}"/>
                  </a:ext>
                </a:extLst>
              </p:cNvPr>
              <p:cNvGrpSpPr/>
              <p:nvPr/>
            </p:nvGrpSpPr>
            <p:grpSpPr>
              <a:xfrm>
                <a:off x="5413263" y="1203158"/>
                <a:ext cx="4036614" cy="2762801"/>
                <a:chOff x="131609" y="2379747"/>
                <a:chExt cx="4036614" cy="2762801"/>
              </a:xfrm>
            </p:grpSpPr>
            <p:sp>
              <p:nvSpPr>
                <p:cNvPr id="58" name="Oval 57">
                  <a:extLst>
                    <a:ext uri="{FF2B5EF4-FFF2-40B4-BE49-F238E27FC236}">
                      <a16:creationId xmlns:a16="http://schemas.microsoft.com/office/drawing/2014/main" id="{70E0E773-D941-E9FB-ECAB-9E2594F347A5}"/>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59" name="Oval 58">
                  <a:extLst>
                    <a:ext uri="{FF2B5EF4-FFF2-40B4-BE49-F238E27FC236}">
                      <a16:creationId xmlns:a16="http://schemas.microsoft.com/office/drawing/2014/main" id="{010F3DD9-B5AC-C125-6A32-E9F1742AEA12}"/>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60" name="Oval 59">
                  <a:extLst>
                    <a:ext uri="{FF2B5EF4-FFF2-40B4-BE49-F238E27FC236}">
                      <a16:creationId xmlns:a16="http://schemas.microsoft.com/office/drawing/2014/main" id="{E81C86A7-6962-5D51-1566-CB79BC97E15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61" name="Oval 60">
                  <a:extLst>
                    <a:ext uri="{FF2B5EF4-FFF2-40B4-BE49-F238E27FC236}">
                      <a16:creationId xmlns:a16="http://schemas.microsoft.com/office/drawing/2014/main" id="{7088B366-657F-4961-CCB4-687365715D9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62" name="Oval 61">
                  <a:extLst>
                    <a:ext uri="{FF2B5EF4-FFF2-40B4-BE49-F238E27FC236}">
                      <a16:creationId xmlns:a16="http://schemas.microsoft.com/office/drawing/2014/main" id="{47682597-CE17-230E-0C35-6CE95319ABD8}"/>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63" name="Oval 62">
                  <a:extLst>
                    <a:ext uri="{FF2B5EF4-FFF2-40B4-BE49-F238E27FC236}">
                      <a16:creationId xmlns:a16="http://schemas.microsoft.com/office/drawing/2014/main" id="{6CADE36A-B507-7A78-B42A-FDF89ACF31F9}"/>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64" name="Straight Connector 63">
                  <a:extLst>
                    <a:ext uri="{FF2B5EF4-FFF2-40B4-BE49-F238E27FC236}">
                      <a16:creationId xmlns:a16="http://schemas.microsoft.com/office/drawing/2014/main" id="{7942175B-5423-CB5C-CF77-662897464656}"/>
                    </a:ext>
                  </a:extLst>
                </p:cNvPr>
                <p:cNvCxnSpPr>
                  <a:cxnSpLocks/>
                  <a:stCxn id="58" idx="3"/>
                  <a:endCxn id="5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8E068DF-509D-EF74-95D9-25EBAF19E606}"/>
                    </a:ext>
                  </a:extLst>
                </p:cNvPr>
                <p:cNvCxnSpPr>
                  <a:cxnSpLocks/>
                  <a:stCxn id="58" idx="5"/>
                  <a:endCxn id="6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D85AD6-B773-4AEC-858D-F050932F59CC}"/>
                    </a:ext>
                  </a:extLst>
                </p:cNvPr>
                <p:cNvCxnSpPr>
                  <a:stCxn id="61" idx="7"/>
                  <a:endCxn id="5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8206712-7606-83E6-8206-8668047AF6D9}"/>
                    </a:ext>
                  </a:extLst>
                </p:cNvPr>
                <p:cNvCxnSpPr>
                  <a:cxnSpLocks/>
                  <a:stCxn id="63" idx="7"/>
                  <a:endCxn id="6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0E86353-6BB5-C42D-DE90-61338C5FCC20}"/>
                    </a:ext>
                  </a:extLst>
                </p:cNvPr>
                <p:cNvCxnSpPr>
                  <a:stCxn id="62" idx="1"/>
                  <a:endCxn id="6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1A2DCB4-18B3-F9ED-E7C0-48650F5457B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70" name="Straight Connector 69">
                <a:extLst>
                  <a:ext uri="{FF2B5EF4-FFF2-40B4-BE49-F238E27FC236}">
                    <a16:creationId xmlns:a16="http://schemas.microsoft.com/office/drawing/2014/main" id="{AB5AC31B-2070-E0E6-2516-330897017ABD}"/>
                  </a:ext>
                </a:extLst>
              </p:cNvPr>
              <p:cNvCxnSpPr>
                <a:cxnSpLocks/>
                <a:stCxn id="69" idx="1"/>
                <a:endCxn id="5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TextBox 43">
              <a:extLst>
                <a:ext uri="{FF2B5EF4-FFF2-40B4-BE49-F238E27FC236}">
                  <a16:creationId xmlns:a16="http://schemas.microsoft.com/office/drawing/2014/main" id="{D0D47C6F-9F68-2F8E-4570-21540402C20E}"/>
                </a:ext>
              </a:extLst>
            </p:cNvPr>
            <p:cNvSpPr txBox="1"/>
            <p:nvPr/>
          </p:nvSpPr>
          <p:spPr>
            <a:xfrm>
              <a:off x="7452581" y="2597196"/>
              <a:ext cx="688009" cy="461665"/>
            </a:xfrm>
            <a:prstGeom prst="rect">
              <a:avLst/>
            </a:prstGeom>
            <a:noFill/>
          </p:spPr>
          <p:txBody>
            <a:bodyPr wrap="none" rtlCol="0">
              <a:spAutoFit/>
            </a:bodyPr>
            <a:lstStyle/>
            <a:p>
              <a:r>
                <a:rPr lang="en-US" sz="2400" dirty="0">
                  <a:solidFill>
                    <a:srgbClr val="FF0000"/>
                  </a:solidFill>
                </a:rPr>
                <a:t>NO!</a:t>
              </a:r>
            </a:p>
          </p:txBody>
        </p:sp>
      </p:grpSp>
      <p:grpSp>
        <p:nvGrpSpPr>
          <p:cNvPr id="49" name="Group 48" descr="A binary tree. That is structured as follows:&#10;&#10;root: 16, left child is 10, it has no right child&#10;10: left child is 7, it has no right child&#10;7: left child is 3, it has no right child&#10;3: left child is 1, it has no right child&#10;1: left child is 0, it has no right child&#10;0: has no children&#10;&#10;This is a valid binary search tree because all nodes has smaller values to the left and larger values to the right.">
            <a:extLst>
              <a:ext uri="{FF2B5EF4-FFF2-40B4-BE49-F238E27FC236}">
                <a16:creationId xmlns:a16="http://schemas.microsoft.com/office/drawing/2014/main" id="{FA1ADB2D-122F-80F0-A5BE-F8993F4E57AF}"/>
              </a:ext>
            </a:extLst>
          </p:cNvPr>
          <p:cNvGrpSpPr/>
          <p:nvPr/>
        </p:nvGrpSpPr>
        <p:grpSpPr>
          <a:xfrm>
            <a:off x="6758024" y="2938268"/>
            <a:ext cx="3877904" cy="3796337"/>
            <a:chOff x="6758024" y="2938268"/>
            <a:chExt cx="3877904" cy="3796337"/>
          </a:xfrm>
        </p:grpSpPr>
        <p:grpSp>
          <p:nvGrpSpPr>
            <p:cNvPr id="24" name="Group 23" descr="A binary tree. That is structured as follows:&#10;&#10;root: 16, left child is 10, it has no right child&#10;10: left child is 7, it has no right child&#10;7: left child is 3, it has no right child&#10;3: left child is 1, it has no right child&#10;1: left child is 0, it has no right child&#10;0: has no children&#10;">
              <a:extLst>
                <a:ext uri="{FF2B5EF4-FFF2-40B4-BE49-F238E27FC236}">
                  <a16:creationId xmlns:a16="http://schemas.microsoft.com/office/drawing/2014/main" id="{ECDD0D67-B2CA-A35C-E9F7-6DBC942C0C79}"/>
                </a:ext>
              </a:extLst>
            </p:cNvPr>
            <p:cNvGrpSpPr/>
            <p:nvPr/>
          </p:nvGrpSpPr>
          <p:grpSpPr>
            <a:xfrm>
              <a:off x="6758024" y="2938268"/>
              <a:ext cx="3877904" cy="3796337"/>
              <a:chOff x="41909" y="1095926"/>
              <a:chExt cx="3877904" cy="3796337"/>
            </a:xfrm>
          </p:grpSpPr>
          <p:sp>
            <p:nvSpPr>
              <p:cNvPr id="25" name="Oval 24">
                <a:extLst>
                  <a:ext uri="{FF2B5EF4-FFF2-40B4-BE49-F238E27FC236}">
                    <a16:creationId xmlns:a16="http://schemas.microsoft.com/office/drawing/2014/main" id="{2C588D0C-FB63-6D3C-0DCE-CE46396E8A29}"/>
                  </a:ext>
                </a:extLst>
              </p:cNvPr>
              <p:cNvSpPr/>
              <p:nvPr/>
            </p:nvSpPr>
            <p:spPr>
              <a:xfrm>
                <a:off x="2032627" y="237198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6" name="Oval 25">
                <a:extLst>
                  <a:ext uri="{FF2B5EF4-FFF2-40B4-BE49-F238E27FC236}">
                    <a16:creationId xmlns:a16="http://schemas.microsoft.com/office/drawing/2014/main" id="{7337781E-6B11-27BB-641C-9A28709F3B8F}"/>
                  </a:ext>
                </a:extLst>
              </p:cNvPr>
              <p:cNvSpPr/>
              <p:nvPr/>
            </p:nvSpPr>
            <p:spPr>
              <a:xfrm>
                <a:off x="1339516" y="302554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7" name="Oval 26">
                <a:extLst>
                  <a:ext uri="{FF2B5EF4-FFF2-40B4-BE49-F238E27FC236}">
                    <a16:creationId xmlns:a16="http://schemas.microsoft.com/office/drawing/2014/main" id="{B13B775D-B7F9-00CD-C376-BB82B204D929}"/>
                  </a:ext>
                </a:extLst>
              </p:cNvPr>
              <p:cNvSpPr/>
              <p:nvPr/>
            </p:nvSpPr>
            <p:spPr>
              <a:xfrm>
                <a:off x="2694793" y="172896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8" name="Oval 27">
                <a:extLst>
                  <a:ext uri="{FF2B5EF4-FFF2-40B4-BE49-F238E27FC236}">
                    <a16:creationId xmlns:a16="http://schemas.microsoft.com/office/drawing/2014/main" id="{175FC41B-0F36-8465-E0A1-A847036D220C}"/>
                  </a:ext>
                </a:extLst>
              </p:cNvPr>
              <p:cNvSpPr/>
              <p:nvPr/>
            </p:nvSpPr>
            <p:spPr>
              <a:xfrm>
                <a:off x="674261" y="366724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9" name="Oval 28">
                <a:extLst>
                  <a:ext uri="{FF2B5EF4-FFF2-40B4-BE49-F238E27FC236}">
                    <a16:creationId xmlns:a16="http://schemas.microsoft.com/office/drawing/2014/main" id="{1FC3A0AA-21B1-2751-C1FC-007C57EBB2DE}"/>
                  </a:ext>
                </a:extLst>
              </p:cNvPr>
              <p:cNvSpPr/>
              <p:nvPr/>
            </p:nvSpPr>
            <p:spPr>
              <a:xfrm>
                <a:off x="3307302" y="1095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0" name="Oval 29">
                <a:extLst>
                  <a:ext uri="{FF2B5EF4-FFF2-40B4-BE49-F238E27FC236}">
                    <a16:creationId xmlns:a16="http://schemas.microsoft.com/office/drawing/2014/main" id="{8B2F5202-B74F-8AA0-4F16-B443AC26DA45}"/>
                  </a:ext>
                </a:extLst>
              </p:cNvPr>
              <p:cNvSpPr/>
              <p:nvPr/>
            </p:nvSpPr>
            <p:spPr>
              <a:xfrm>
                <a:off x="41909" y="427975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1" name="Straight Connector 30">
                <a:extLst>
                  <a:ext uri="{FF2B5EF4-FFF2-40B4-BE49-F238E27FC236}">
                    <a16:creationId xmlns:a16="http://schemas.microsoft.com/office/drawing/2014/main" id="{E1A1AADB-BB68-D3E6-8EA0-76BD74D5FC43}"/>
                  </a:ext>
                </a:extLst>
              </p:cNvPr>
              <p:cNvCxnSpPr>
                <a:cxnSpLocks/>
                <a:stCxn id="25" idx="3"/>
                <a:endCxn id="26" idx="7"/>
              </p:cNvCxnSpPr>
              <p:nvPr/>
            </p:nvCxnSpPr>
            <p:spPr>
              <a:xfrm flipH="1">
                <a:off x="1862327" y="2894791"/>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0E6296A-CA1E-A5A3-F5E1-583119455C7E}"/>
                  </a:ext>
                </a:extLst>
              </p:cNvPr>
              <p:cNvCxnSpPr>
                <a:cxnSpLocks/>
                <a:stCxn id="25" idx="7"/>
                <a:endCxn id="27" idx="3"/>
              </p:cNvCxnSpPr>
              <p:nvPr/>
            </p:nvCxnSpPr>
            <p:spPr>
              <a:xfrm flipV="1">
                <a:off x="2555438" y="2251773"/>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5EC04E4-0305-6A77-A644-BA0169CC7633}"/>
                  </a:ext>
                </a:extLst>
              </p:cNvPr>
              <p:cNvCxnSpPr>
                <a:stCxn id="28" idx="7"/>
                <a:endCxn id="26" idx="3"/>
              </p:cNvCxnSpPr>
              <p:nvPr/>
            </p:nvCxnSpPr>
            <p:spPr>
              <a:xfrm flipV="1">
                <a:off x="1197072" y="3548353"/>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5B21896-897B-B371-EB1F-FB97771BC634}"/>
                  </a:ext>
                </a:extLst>
              </p:cNvPr>
              <p:cNvCxnSpPr>
                <a:cxnSpLocks/>
                <a:stCxn id="30" idx="7"/>
                <a:endCxn id="28" idx="3"/>
              </p:cNvCxnSpPr>
              <p:nvPr/>
            </p:nvCxnSpPr>
            <p:spPr>
              <a:xfrm flipV="1">
                <a:off x="564720" y="4190052"/>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767CBB0-16C3-58C0-2C02-1241297E092E}"/>
                  </a:ext>
                </a:extLst>
              </p:cNvPr>
              <p:cNvCxnSpPr>
                <a:cxnSpLocks/>
                <a:stCxn id="29" idx="3"/>
                <a:endCxn id="27" idx="7"/>
              </p:cNvCxnSpPr>
              <p:nvPr/>
            </p:nvCxnSpPr>
            <p:spPr>
              <a:xfrm flipH="1">
                <a:off x="3217604" y="1618737"/>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7856404A-EBAA-DD85-B7AB-505FD51F0E34}"/>
                </a:ext>
              </a:extLst>
            </p:cNvPr>
            <p:cNvSpPr txBox="1"/>
            <p:nvPr/>
          </p:nvSpPr>
          <p:spPr>
            <a:xfrm>
              <a:off x="9248870" y="4810033"/>
              <a:ext cx="725070" cy="461665"/>
            </a:xfrm>
            <a:prstGeom prst="rect">
              <a:avLst/>
            </a:prstGeom>
            <a:noFill/>
          </p:spPr>
          <p:txBody>
            <a:bodyPr wrap="none" rtlCol="0">
              <a:spAutoFit/>
            </a:bodyPr>
            <a:lstStyle/>
            <a:p>
              <a:r>
                <a:rPr lang="en-US" sz="2400" dirty="0">
                  <a:solidFill>
                    <a:srgbClr val="00B050"/>
                  </a:solidFill>
                </a:rPr>
                <a:t>YES!</a:t>
              </a:r>
            </a:p>
          </p:txBody>
        </p:sp>
      </p:grpSp>
    </p:spTree>
    <p:extLst>
      <p:ext uri="{BB962C8B-B14F-4D97-AF65-F5344CB8AC3E}">
        <p14:creationId xmlns:p14="http://schemas.microsoft.com/office/powerpoint/2010/main" val="305378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08E2-751D-F879-3C45-BB45A603688F}"/>
              </a:ext>
            </a:extLst>
          </p:cNvPr>
          <p:cNvSpPr>
            <a:spLocks noGrp="1"/>
          </p:cNvSpPr>
          <p:nvPr>
            <p:ph type="title"/>
          </p:nvPr>
        </p:nvSpPr>
        <p:spPr/>
        <p:txBody>
          <a:bodyPr/>
          <a:lstStyle/>
          <a:p>
            <a:r>
              <a:rPr lang="en-US" dirty="0"/>
              <a:t>Aside: Why not use an array?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A5E47A-18BE-FF51-7E6C-F3393F2D6593}"/>
                  </a:ext>
                </a:extLst>
              </p:cNvPr>
              <p:cNvSpPr>
                <a:spLocks noGrp="1"/>
              </p:cNvSpPr>
              <p:nvPr>
                <p:ph idx="1"/>
              </p:nvPr>
            </p:nvSpPr>
            <p:spPr/>
            <p:txBody>
              <a:bodyPr/>
              <a:lstStyle/>
              <a:p>
                <a:r>
                  <a:rPr lang="en-US" dirty="0"/>
                  <a:t>We represented a heap using an array, finding children/parents by index</a:t>
                </a:r>
              </a:p>
              <a:p>
                <a:r>
                  <a:rPr lang="en-US" dirty="0"/>
                  <a:t>We will represent BSTs with nodes and references. Why?</a:t>
                </a:r>
              </a:p>
              <a:p>
                <a:pPr lvl="1"/>
                <a:r>
                  <a:rPr lang="en-US" dirty="0"/>
                  <a:t>We might have “gaps” in our tree</a:t>
                </a:r>
              </a:p>
              <a:p>
                <a:pPr lvl="1"/>
                <a:r>
                  <a:rPr lang="en-US" dirty="0"/>
                  <a:t>Memory!</a:t>
                </a:r>
              </a:p>
              <a:p>
                <a:pPr lvl="2"/>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endParaRPr lang="en-US" dirty="0"/>
              </a:p>
            </p:txBody>
          </p:sp>
        </mc:Choice>
        <mc:Fallback xmlns="">
          <p:sp>
            <p:nvSpPr>
              <p:cNvPr id="3" name="Content Placeholder 2">
                <a:extLst>
                  <a:ext uri="{FF2B5EF4-FFF2-40B4-BE49-F238E27FC236}">
                    <a16:creationId xmlns:a16="http://schemas.microsoft.com/office/drawing/2014/main" id="{F2A5E47A-18BE-FF51-7E6C-F3393F2D659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559920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77500" lnSpcReduction="20000"/>
          </a:bodyPr>
          <a:lstStyle/>
          <a:p>
            <a:pPr marL="0" indent="0">
              <a:buNone/>
            </a:pPr>
            <a:r>
              <a:rPr lang="en-US" dirty="0"/>
              <a:t>find(key, root){</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if (key == </a:t>
            </a:r>
            <a:r>
              <a:rPr lang="en-US" dirty="0" err="1"/>
              <a:t>root.key</a:t>
            </a:r>
            <a:r>
              <a:rPr lang="en-US" dirty="0"/>
              <a:t>){</a:t>
            </a:r>
          </a:p>
          <a:p>
            <a:pPr marL="0" indent="0">
              <a:buNone/>
            </a:pPr>
            <a:r>
              <a:rPr lang="en-US" dirty="0"/>
              <a:t>		return </a:t>
            </a:r>
            <a:r>
              <a:rPr lang="en-US" dirty="0" err="1"/>
              <a:t>root.value</a:t>
            </a:r>
            <a:r>
              <a:rPr lang="en-US" dirty="0"/>
              <a:t>;</a:t>
            </a:r>
          </a:p>
          <a:p>
            <a:pPr marL="0" indent="0">
              <a:buNone/>
            </a:pPr>
            <a:r>
              <a:rPr lang="en-US" dirty="0"/>
              <a:t>	}</a:t>
            </a:r>
          </a:p>
          <a:p>
            <a:pPr marL="0" indent="0">
              <a:buNone/>
            </a:pPr>
            <a:r>
              <a:rPr lang="en-US" dirty="0"/>
              <a:t>	if (key &lt; </a:t>
            </a:r>
            <a:r>
              <a:rPr lang="en-US" dirty="0" err="1"/>
              <a:t>root.key</a:t>
            </a:r>
            <a:r>
              <a:rPr lang="en-US" dirty="0"/>
              <a:t>){</a:t>
            </a:r>
          </a:p>
          <a:p>
            <a:pPr marL="0" indent="0">
              <a:buNone/>
            </a:pPr>
            <a:r>
              <a:rPr lang="en-US" dirty="0"/>
              <a:t>		return find(key, </a:t>
            </a:r>
            <a:r>
              <a:rPr lang="en-US" dirty="0" err="1"/>
              <a:t>root.left</a:t>
            </a:r>
            <a:r>
              <a:rPr lang="en-US" dirty="0"/>
              <a:t>);</a:t>
            </a:r>
          </a:p>
          <a:p>
            <a:pPr marL="0" indent="0">
              <a:buNone/>
            </a:pPr>
            <a:r>
              <a:rPr lang="en-US" dirty="0"/>
              <a:t>	}</a:t>
            </a:r>
          </a:p>
          <a:p>
            <a:pPr marL="0" indent="0">
              <a:buNone/>
            </a:pPr>
            <a:r>
              <a:rPr lang="en-US" dirty="0"/>
              <a:t>	if (key &gt; </a:t>
            </a:r>
            <a:r>
              <a:rPr lang="en-US" dirty="0" err="1"/>
              <a:t>root.key</a:t>
            </a:r>
            <a:r>
              <a:rPr lang="en-US" dirty="0"/>
              <a:t>){</a:t>
            </a:r>
          </a:p>
          <a:p>
            <a:pPr marL="0" indent="0">
              <a:buNone/>
            </a:pPr>
            <a:r>
              <a:rPr lang="en-US" dirty="0"/>
              <a:t>		return find(key, </a:t>
            </a:r>
            <a:r>
              <a:rPr lang="en-US" dirty="0" err="1"/>
              <a:t>root.right</a:t>
            </a:r>
            <a:r>
              <a:rPr lang="en-US" dirty="0"/>
              <a:t>);</a:t>
            </a:r>
          </a:p>
          <a:p>
            <a:pPr marL="0" indent="0">
              <a:buNone/>
            </a:pPr>
            <a:r>
              <a:rPr lang="en-US" dirty="0"/>
              <a:t>	} </a:t>
            </a:r>
          </a:p>
          <a:p>
            <a:pPr marL="0" indent="0">
              <a:buNone/>
            </a:pPr>
            <a:r>
              <a:rPr lang="en-US" dirty="0"/>
              <a:t>	return Null;</a:t>
            </a:r>
          </a:p>
          <a:p>
            <a:pPr marL="0" indent="0">
              <a:buNone/>
            </a:pPr>
            <a:r>
              <a:rPr lang="en-US" dirty="0"/>
              <a:t>}</a:t>
            </a:r>
          </a:p>
        </p:txBody>
      </p:sp>
      <p:grpSp>
        <p:nvGrpSpPr>
          <p:cNvPr id="4" name="Group 3"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9170735B-03F0-160D-23CF-0D614E00B4D4}"/>
              </a:ext>
            </a:extLst>
          </p:cNvPr>
          <p:cNvGrpSpPr/>
          <p:nvPr/>
        </p:nvGrpSpPr>
        <p:grpSpPr>
          <a:xfrm>
            <a:off x="771352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80917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(iterative)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85000" lnSpcReduction="20000"/>
          </a:bodyPr>
          <a:lstStyle/>
          <a:p>
            <a:pPr marL="0" indent="0">
              <a:buNone/>
            </a:pPr>
            <a:r>
              <a:rPr lang="en-US" dirty="0"/>
              <a:t>find(key, root){</a:t>
            </a:r>
          </a:p>
          <a:p>
            <a:pPr marL="0" indent="0">
              <a:buNone/>
            </a:pPr>
            <a:r>
              <a:rPr lang="en-US" dirty="0"/>
              <a:t>	while (root != Null &amp;&amp; key != </a:t>
            </a:r>
            <a:r>
              <a:rPr lang="en-US" dirty="0" err="1"/>
              <a:t>root.key</a:t>
            </a:r>
            <a:r>
              <a:rPr lang="en-US" dirty="0"/>
              <a:t>){</a:t>
            </a:r>
          </a:p>
          <a:p>
            <a:pPr marL="0" indent="0">
              <a:buNone/>
            </a:pPr>
            <a:r>
              <a:rPr lang="en-US" dirty="0"/>
              <a:t>		if (key &lt; </a:t>
            </a:r>
            <a:r>
              <a:rPr lang="en-US" dirty="0" err="1"/>
              <a:t>root.key</a:t>
            </a:r>
            <a:r>
              <a:rPr lang="en-US" dirty="0"/>
              <a:t>){</a:t>
            </a:r>
          </a:p>
          <a:p>
            <a:pPr marL="0" indent="0">
              <a:buNone/>
            </a:pPr>
            <a:r>
              <a:rPr lang="en-US" dirty="0"/>
              <a:t>			root = </a:t>
            </a:r>
            <a:r>
              <a:rPr lang="en-US" dirty="0" err="1"/>
              <a:t>root.left</a:t>
            </a:r>
            <a:r>
              <a:rPr lang="en-US" dirty="0"/>
              <a:t>;</a:t>
            </a:r>
          </a:p>
          <a:p>
            <a:pPr marL="0" indent="0">
              <a:buNone/>
            </a:pPr>
            <a:r>
              <a:rPr lang="en-US" dirty="0"/>
              <a:t>		}</a:t>
            </a:r>
          </a:p>
          <a:p>
            <a:pPr marL="0" indent="0">
              <a:buNone/>
            </a:pPr>
            <a:r>
              <a:rPr lang="en-US" dirty="0"/>
              <a:t>		else if (key &gt; </a:t>
            </a:r>
            <a:r>
              <a:rPr lang="en-US" dirty="0" err="1"/>
              <a:t>root.key</a:t>
            </a:r>
            <a:r>
              <a:rPr lang="en-US" dirty="0"/>
              <a:t>){</a:t>
            </a:r>
          </a:p>
          <a:p>
            <a:pPr marL="0" indent="0">
              <a:buNone/>
            </a:pPr>
            <a:r>
              <a:rPr lang="en-US" dirty="0"/>
              <a:t>			root = </a:t>
            </a:r>
            <a:r>
              <a:rPr lang="en-US" dirty="0" err="1"/>
              <a:t>root.right</a:t>
            </a:r>
            <a:r>
              <a:rPr lang="en-US" dirty="0"/>
              <a:t>;</a:t>
            </a:r>
          </a:p>
          <a:p>
            <a:pPr marL="0" indent="0">
              <a:buNone/>
            </a:pPr>
            <a:r>
              <a:rPr lang="en-US" dirty="0"/>
              <a:t>		}</a:t>
            </a:r>
          </a:p>
          <a:p>
            <a:pPr marL="0" indent="0">
              <a:buNone/>
            </a:pPr>
            <a:r>
              <a:rPr lang="en-US" dirty="0"/>
              <a:t>	}</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return </a:t>
            </a:r>
            <a:r>
              <a:rPr lang="en-US" dirty="0" err="1"/>
              <a:t>root.value</a:t>
            </a:r>
            <a:r>
              <a:rPr lang="en-US" dirty="0"/>
              <a:t>;</a:t>
            </a:r>
          </a:p>
          <a:p>
            <a:pPr marL="0" indent="0">
              <a:buNone/>
            </a:pPr>
            <a:r>
              <a:rPr lang="en-US" dirty="0"/>
              <a:t>}</a:t>
            </a:r>
          </a:p>
        </p:txBody>
      </p:sp>
      <p:grpSp>
        <p:nvGrpSpPr>
          <p:cNvPr id="19" name="Group 18"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31EB2A25-1ECD-EB2B-9920-CFAC4AB0E972}"/>
              </a:ext>
            </a:extLst>
          </p:cNvPr>
          <p:cNvGrpSpPr/>
          <p:nvPr/>
        </p:nvGrpSpPr>
        <p:grpSpPr>
          <a:xfrm>
            <a:off x="7713520" y="365125"/>
            <a:ext cx="4036614" cy="2762801"/>
            <a:chOff x="5413263" y="1203158"/>
            <a:chExt cx="4036614" cy="2762801"/>
          </a:xfrm>
        </p:grpSpPr>
        <p:grpSp>
          <p:nvGrpSpPr>
            <p:cNvPr id="20" name="Group 19">
              <a:extLst>
                <a:ext uri="{FF2B5EF4-FFF2-40B4-BE49-F238E27FC236}">
                  <a16:creationId xmlns:a16="http://schemas.microsoft.com/office/drawing/2014/main" id="{6772828E-AC75-D921-FEDB-07664596BDE4}"/>
                </a:ext>
              </a:extLst>
            </p:cNvPr>
            <p:cNvGrpSpPr/>
            <p:nvPr/>
          </p:nvGrpSpPr>
          <p:grpSpPr>
            <a:xfrm>
              <a:off x="5413263" y="1203158"/>
              <a:ext cx="4036614" cy="2762801"/>
              <a:chOff x="131609" y="2379747"/>
              <a:chExt cx="4036614" cy="2762801"/>
            </a:xfrm>
          </p:grpSpPr>
          <p:sp>
            <p:nvSpPr>
              <p:cNvPr id="23" name="Oval 22">
                <a:extLst>
                  <a:ext uri="{FF2B5EF4-FFF2-40B4-BE49-F238E27FC236}">
                    <a16:creationId xmlns:a16="http://schemas.microsoft.com/office/drawing/2014/main" id="{DB1F9389-F239-60AC-9962-CF7DA719E8BF}"/>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4" name="Oval 23">
                <a:extLst>
                  <a:ext uri="{FF2B5EF4-FFF2-40B4-BE49-F238E27FC236}">
                    <a16:creationId xmlns:a16="http://schemas.microsoft.com/office/drawing/2014/main" id="{B8D15BBA-2136-20E5-8051-154795BC6055}"/>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5" name="Oval 24">
                <a:extLst>
                  <a:ext uri="{FF2B5EF4-FFF2-40B4-BE49-F238E27FC236}">
                    <a16:creationId xmlns:a16="http://schemas.microsoft.com/office/drawing/2014/main" id="{13336D55-1E1F-C17E-E673-D25F49152D48}"/>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6" name="Oval 25">
                <a:extLst>
                  <a:ext uri="{FF2B5EF4-FFF2-40B4-BE49-F238E27FC236}">
                    <a16:creationId xmlns:a16="http://schemas.microsoft.com/office/drawing/2014/main" id="{89938545-4AC4-C581-E3BD-56C7FD400C82}"/>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7" name="Oval 26">
                <a:extLst>
                  <a:ext uri="{FF2B5EF4-FFF2-40B4-BE49-F238E27FC236}">
                    <a16:creationId xmlns:a16="http://schemas.microsoft.com/office/drawing/2014/main" id="{E03511FE-A07E-CFF8-7B40-9E7897D9007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8" name="Oval 27">
                <a:extLst>
                  <a:ext uri="{FF2B5EF4-FFF2-40B4-BE49-F238E27FC236}">
                    <a16:creationId xmlns:a16="http://schemas.microsoft.com/office/drawing/2014/main" id="{DB6D8D84-0383-9665-C194-6132575C682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29" name="Straight Connector 28">
                <a:extLst>
                  <a:ext uri="{FF2B5EF4-FFF2-40B4-BE49-F238E27FC236}">
                    <a16:creationId xmlns:a16="http://schemas.microsoft.com/office/drawing/2014/main" id="{47C72B6D-E736-99A2-9828-F2D17AAF50EA}"/>
                  </a:ext>
                </a:extLst>
              </p:cNvPr>
              <p:cNvCxnSpPr>
                <a:cxnSpLocks/>
                <a:stCxn id="23" idx="3"/>
                <a:endCxn id="2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E12DB26-62C9-D7D8-5B65-8CE8FAD80964}"/>
                  </a:ext>
                </a:extLst>
              </p:cNvPr>
              <p:cNvCxnSpPr>
                <a:cxnSpLocks/>
                <a:stCxn id="23" idx="5"/>
                <a:endCxn id="2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BDB95E9-4C28-3386-3A0E-2F3BF5DA3BF9}"/>
                  </a:ext>
                </a:extLst>
              </p:cNvPr>
              <p:cNvCxnSpPr>
                <a:stCxn id="26" idx="7"/>
                <a:endCxn id="2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C48206F-35D3-EDDA-CD5C-07DC2F5B3FCF}"/>
                  </a:ext>
                </a:extLst>
              </p:cNvPr>
              <p:cNvCxnSpPr>
                <a:cxnSpLocks/>
                <a:stCxn id="28" idx="7"/>
                <a:endCxn id="2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2B800FD-68BF-96FC-4078-BFEB954AB5C5}"/>
                  </a:ext>
                </a:extLst>
              </p:cNvPr>
              <p:cNvCxnSpPr>
                <a:stCxn id="27" idx="1"/>
                <a:endCxn id="2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BF6B70B0-C53F-4A6B-1FC5-78F3C3EFDCB0}"/>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2" name="Straight Connector 21">
              <a:extLst>
                <a:ext uri="{FF2B5EF4-FFF2-40B4-BE49-F238E27FC236}">
                  <a16:creationId xmlns:a16="http://schemas.microsoft.com/office/drawing/2014/main" id="{2768A0B8-0231-6074-5710-9A5C4362323C}"/>
                </a:ext>
              </a:extLst>
            </p:cNvPr>
            <p:cNvCxnSpPr>
              <a:cxnSpLocks/>
              <a:stCxn id="21" idx="1"/>
              <a:endCxn id="2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66835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92500" lnSpcReduction="1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return root;</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274D34E4-776A-7FA3-3BAF-C5BA7780CCA5}"/>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4B0D3DC5-3362-5ADA-0A01-95076926F4B3}"/>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B0E0EA67-0193-D428-32B8-03642CDA40F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0E556205-51EC-2F7F-72BD-50F3D4A72B9B}"/>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ACA7613B-5C04-C213-3C9E-E7D3D0C071A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5318F871-24AB-49CA-BD37-511F54F59B9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D722E018-A0F8-124B-A6EA-6871F74B90D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8D6A28EA-721B-D074-11C9-83636AFCA90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614605AF-FB34-C064-7A6E-E72E88D6D4BD}"/>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8B9EE6-3DE8-42C0-58AB-116B7AB79606}"/>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D7BB01-1721-E702-C336-1BDD900AB33F}"/>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6FA1320-DC82-CFF3-5806-09B73ABC2659}"/>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B0B499-E6F1-8C73-1E56-4FD3C3BFDA1B}"/>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36112722-C489-6E9D-208B-981D0D0B522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BFF06578-7BC8-6197-DC8B-FA8B3A077FDA}"/>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7298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(iterative)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92500" lnSpcReduction="10000"/>
          </a:bodyPr>
          <a:lstStyle/>
          <a:p>
            <a:pPr marL="0" indent="0">
              <a:buNone/>
            </a:pPr>
            <a:r>
              <a:rPr lang="en-US" dirty="0"/>
              <a:t>insert(key, value, root){</a:t>
            </a:r>
          </a:p>
          <a:p>
            <a:pPr marL="0" indent="0">
              <a:buNone/>
            </a:pPr>
            <a:r>
              <a:rPr lang="en-US" dirty="0"/>
              <a:t>	if (root == Null){ </a:t>
            </a:r>
            <a:r>
              <a:rPr lang="en-US" dirty="0" err="1"/>
              <a:t>this.root</a:t>
            </a:r>
            <a:r>
              <a:rPr lang="en-US" dirty="0"/>
              <a:t> = new Node(key, value); }</a:t>
            </a:r>
          </a:p>
          <a:p>
            <a:pPr marL="0" indent="0">
              <a:buNone/>
            </a:pPr>
            <a:r>
              <a:rPr lang="en-US" dirty="0"/>
              <a:t>	parent = Null;</a:t>
            </a:r>
          </a:p>
          <a:p>
            <a:pPr marL="0" indent="0">
              <a:buNone/>
            </a:pPr>
            <a:r>
              <a:rPr lang="en-US" dirty="0"/>
              <a:t>	while (root != Null &amp;&amp; key != </a:t>
            </a:r>
            <a:r>
              <a:rPr lang="en-US" dirty="0" err="1"/>
              <a:t>root.key</a:t>
            </a:r>
            <a:r>
              <a:rPr lang="en-US" dirty="0"/>
              <a:t>){</a:t>
            </a:r>
          </a:p>
          <a:p>
            <a:pPr marL="0" indent="0">
              <a:buNone/>
            </a:pPr>
            <a:r>
              <a:rPr lang="en-US" dirty="0"/>
              <a:t>		parent = root;</a:t>
            </a:r>
          </a:p>
          <a:p>
            <a:pPr marL="0" indent="0">
              <a:buNone/>
            </a:pPr>
            <a:r>
              <a:rPr lang="en-US" dirty="0"/>
              <a:t>		if (key &lt; </a:t>
            </a:r>
            <a:r>
              <a:rPr lang="en-US" dirty="0" err="1"/>
              <a:t>root.key</a:t>
            </a:r>
            <a:r>
              <a:rPr lang="en-US" dirty="0"/>
              <a:t>){ root = </a:t>
            </a:r>
            <a:r>
              <a:rPr lang="en-US" dirty="0" err="1"/>
              <a:t>root.left</a:t>
            </a:r>
            <a:r>
              <a:rPr lang="en-US" dirty="0"/>
              <a:t>; }</a:t>
            </a:r>
          </a:p>
          <a:p>
            <a:pPr marL="0" indent="0">
              <a:buNone/>
            </a:pPr>
            <a:r>
              <a:rPr lang="en-US" dirty="0"/>
              <a:t>		else if (key &gt; </a:t>
            </a:r>
            <a:r>
              <a:rPr lang="en-US" dirty="0" err="1"/>
              <a:t>root.key</a:t>
            </a:r>
            <a:r>
              <a:rPr lang="en-US" dirty="0"/>
              <a:t>){ root = </a:t>
            </a:r>
            <a:r>
              <a:rPr lang="en-US" dirty="0" err="1"/>
              <a:t>root.right</a:t>
            </a:r>
            <a:r>
              <a:rPr lang="en-US" dirty="0"/>
              <a:t>; }</a:t>
            </a:r>
          </a:p>
          <a:p>
            <a:pPr marL="0" indent="0">
              <a:buNone/>
            </a:pPr>
            <a:r>
              <a:rPr lang="en-US" dirty="0"/>
              <a:t>	}</a:t>
            </a:r>
          </a:p>
          <a:p>
            <a:pPr marL="0" indent="0">
              <a:buNone/>
            </a:pPr>
            <a:r>
              <a:rPr lang="en-US" dirty="0"/>
              <a:t>	if (root != Null){ </a:t>
            </a:r>
            <a:r>
              <a:rPr lang="en-US" dirty="0" err="1"/>
              <a:t>root.value</a:t>
            </a:r>
            <a:r>
              <a:rPr lang="en-US" dirty="0"/>
              <a:t> = value; }</a:t>
            </a:r>
          </a:p>
          <a:p>
            <a:pPr marL="0" indent="0">
              <a:buNone/>
            </a:pPr>
            <a:r>
              <a:rPr lang="en-US" dirty="0"/>
              <a:t>	else if (key &lt; </a:t>
            </a:r>
            <a:r>
              <a:rPr lang="en-US" dirty="0" err="1"/>
              <a:t>parent.key</a:t>
            </a:r>
            <a:r>
              <a:rPr lang="en-US" dirty="0"/>
              <a:t>){ </a:t>
            </a:r>
            <a:r>
              <a:rPr lang="en-US" dirty="0" err="1"/>
              <a:t>parent.left</a:t>
            </a:r>
            <a:r>
              <a:rPr lang="en-US" dirty="0"/>
              <a:t> = new Node(key, value); }</a:t>
            </a:r>
          </a:p>
          <a:p>
            <a:pPr marL="0" indent="0">
              <a:buNone/>
            </a:pPr>
            <a:r>
              <a:rPr lang="en-US" dirty="0"/>
              <a:t>	else{ </a:t>
            </a:r>
            <a:r>
              <a:rPr lang="en-US" dirty="0" err="1"/>
              <a:t>parent.right</a:t>
            </a:r>
            <a:r>
              <a:rPr lang="en-US" dirty="0"/>
              <a:t> = new Node (key, value); }</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83D5D019-B066-2107-6334-E5E2D235E221}"/>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21DA0D54-FEDC-4E30-3203-28696FFB03C1}"/>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77AB0C80-9AFD-B76C-3FB2-6AAC1E519B3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A447F9B5-7296-A5B4-641B-97B1557E92A2}"/>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738F4FAA-98C0-FE7B-96EE-44334E4B50CC}"/>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EC59364B-9B16-171F-12A6-A7DECDB5CC21}"/>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E8B73186-1FF2-74B4-2E8B-3909136BA2D6}"/>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AD8E623C-B91D-8379-7B98-30AAD6917AB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1F78CD79-558E-A83D-A20D-975679928029}"/>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6CDD978-C780-5638-8EDC-7B3A2EB35D78}"/>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A1FDE70-2D80-6DAA-9352-C9B9D685F89E}"/>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C90665B-7DA2-0170-5915-C58815516092}"/>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3945DD7-4F21-1AAF-A7A3-0D0F9A3A70F2}"/>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1916FAD2-D14D-FC27-99DE-B586337B3ECA}"/>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EDF2F8FF-AB47-15DC-E529-10286FD1A498}"/>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5347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375272" y="314854"/>
            <a:ext cx="10515600" cy="1325563"/>
          </a:xfrm>
        </p:spPr>
        <p:txBody>
          <a:bodyPr/>
          <a:lstStyle/>
          <a:p>
            <a:r>
              <a:rPr lang="en-US" dirty="0"/>
              <a:t>Delete Operation (iterative, incomplete)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a:bodyPr>
          <a:lstStyle/>
          <a:p>
            <a:pPr marL="0" indent="0">
              <a:buNone/>
            </a:pPr>
            <a:r>
              <a:rPr lang="en-US" dirty="0"/>
              <a:t>delete(key, root){</a:t>
            </a:r>
          </a:p>
          <a:p>
            <a:pPr marL="0" indent="0">
              <a:buNone/>
            </a:pPr>
            <a:r>
              <a:rPr lang="en-US" dirty="0"/>
              <a:t>	while (root != Null &amp;&amp; key != </a:t>
            </a:r>
            <a:r>
              <a:rPr lang="en-US" dirty="0" err="1"/>
              <a:t>root.key</a:t>
            </a:r>
            <a:r>
              <a:rPr lang="en-US" dirty="0"/>
              <a:t>){</a:t>
            </a:r>
          </a:p>
          <a:p>
            <a:pPr marL="0" indent="0">
              <a:buNone/>
            </a:pPr>
            <a:r>
              <a:rPr lang="en-US" dirty="0"/>
              <a:t>		if (key &lt; </a:t>
            </a:r>
            <a:r>
              <a:rPr lang="en-US" dirty="0" err="1"/>
              <a:t>root.key</a:t>
            </a:r>
            <a:r>
              <a:rPr lang="en-US" dirty="0"/>
              <a:t>){ root = </a:t>
            </a:r>
            <a:r>
              <a:rPr lang="en-US" dirty="0" err="1"/>
              <a:t>root.left</a:t>
            </a:r>
            <a:r>
              <a:rPr lang="en-US" dirty="0"/>
              <a:t>; }</a:t>
            </a:r>
          </a:p>
          <a:p>
            <a:pPr marL="0" indent="0">
              <a:buNone/>
            </a:pPr>
            <a:r>
              <a:rPr lang="en-US" dirty="0"/>
              <a:t>		else if (key &gt; </a:t>
            </a:r>
            <a:r>
              <a:rPr lang="en-US" dirty="0" err="1"/>
              <a:t>root.key</a:t>
            </a:r>
            <a:r>
              <a:rPr lang="en-US" dirty="0"/>
              <a:t>){ root = </a:t>
            </a:r>
            <a:r>
              <a:rPr lang="en-US" dirty="0" err="1"/>
              <a:t>root.right</a:t>
            </a:r>
            <a:r>
              <a:rPr lang="en-US" dirty="0"/>
              <a:t>; }</a:t>
            </a:r>
          </a:p>
          <a:p>
            <a:pPr marL="0" indent="0">
              <a:buNone/>
            </a:pPr>
            <a:r>
              <a:rPr lang="en-US" dirty="0"/>
              <a:t>	}</a:t>
            </a:r>
          </a:p>
          <a:p>
            <a:pPr marL="0" indent="0">
              <a:buNone/>
            </a:pPr>
            <a:r>
              <a:rPr lang="en-US" dirty="0"/>
              <a:t>	if (root == Null){ return; }</a:t>
            </a:r>
          </a:p>
          <a:p>
            <a:pPr marL="0" indent="0">
              <a:buNone/>
            </a:pPr>
            <a:r>
              <a:rPr lang="en-US" dirty="0"/>
              <a:t>	</a:t>
            </a:r>
            <a:r>
              <a:rPr lang="en-US" dirty="0">
                <a:solidFill>
                  <a:srgbClr val="FF0000"/>
                </a:solidFill>
              </a:rPr>
              <a:t>// Now root is the node to delete, what happens next?</a:t>
            </a:r>
            <a:r>
              <a:rPr lang="en-US" dirty="0"/>
              <a:t>	</a:t>
            </a:r>
          </a:p>
          <a:p>
            <a:pPr marL="0" indent="0">
              <a:buNone/>
            </a:pPr>
            <a:r>
              <a:rPr lang="en-US" dirty="0"/>
              <a:t>}</a:t>
            </a:r>
          </a:p>
        </p:txBody>
      </p:sp>
      <p:grpSp>
        <p:nvGrpSpPr>
          <p:cNvPr id="30" name="Group 29"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C84246F8-D514-89E9-07BE-E764FD3DDE5E}"/>
              </a:ext>
            </a:extLst>
          </p:cNvPr>
          <p:cNvGrpSpPr/>
          <p:nvPr/>
        </p:nvGrpSpPr>
        <p:grpSpPr>
          <a:xfrm>
            <a:off x="8079280" y="365125"/>
            <a:ext cx="4036614" cy="2762801"/>
            <a:chOff x="8079280" y="365125"/>
            <a:chExt cx="4036614" cy="2762801"/>
          </a:xfrm>
        </p:grpSpPr>
        <p:grpSp>
          <p:nvGrpSpPr>
            <p:cNvPr id="4" name="Group 3">
              <a:extLst>
                <a:ext uri="{FF2B5EF4-FFF2-40B4-BE49-F238E27FC236}">
                  <a16:creationId xmlns:a16="http://schemas.microsoft.com/office/drawing/2014/main" id="{9170735B-03F0-160D-23CF-0D614E00B4D4}"/>
                </a:ext>
              </a:extLst>
            </p:cNvPr>
            <p:cNvGrpSpPr/>
            <p:nvPr/>
          </p:nvGrpSpPr>
          <p:grpSpPr>
            <a:xfrm>
              <a:off x="807928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Oval 19">
              <a:extLst>
                <a:ext uri="{FF2B5EF4-FFF2-40B4-BE49-F238E27FC236}">
                  <a16:creationId xmlns:a16="http://schemas.microsoft.com/office/drawing/2014/main" id="{CE3A21A5-2643-9862-95E7-21A8A8044617}"/>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1" name="Oval 20">
              <a:extLst>
                <a:ext uri="{FF2B5EF4-FFF2-40B4-BE49-F238E27FC236}">
                  <a16:creationId xmlns:a16="http://schemas.microsoft.com/office/drawing/2014/main" id="{48A649D9-8400-9565-121B-970C2A8B192B}"/>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2" name="Straight Connector 21">
              <a:extLst>
                <a:ext uri="{FF2B5EF4-FFF2-40B4-BE49-F238E27FC236}">
                  <a16:creationId xmlns:a16="http://schemas.microsoft.com/office/drawing/2014/main" id="{4A1C5561-F71C-BB55-B723-357F94648CC6}"/>
                </a:ext>
              </a:extLst>
            </p:cNvPr>
            <p:cNvCxnSpPr>
              <a:cxnSpLocks/>
              <a:stCxn id="20" idx="7"/>
              <a:endCxn id="6"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E5CEB3B-8BE4-AFAA-1FF9-30DE6145E6CA}"/>
                </a:ext>
              </a:extLst>
            </p:cNvPr>
            <p:cNvCxnSpPr>
              <a:cxnSpLocks/>
              <a:stCxn id="21" idx="1"/>
              <a:endCxn id="6"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5258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6AF61-C0E9-5358-15F9-71C3896ED3AB}"/>
              </a:ext>
            </a:extLst>
          </p:cNvPr>
          <p:cNvSpPr>
            <a:spLocks noGrp="1"/>
          </p:cNvSpPr>
          <p:nvPr>
            <p:ph type="title"/>
          </p:nvPr>
        </p:nvSpPr>
        <p:spPr/>
        <p:txBody>
          <a:bodyPr/>
          <a:lstStyle/>
          <a:p>
            <a:r>
              <a:rPr lang="en-US" dirty="0"/>
              <a:t>Delete – 3 Cases</a:t>
            </a:r>
          </a:p>
        </p:txBody>
      </p:sp>
      <p:sp>
        <p:nvSpPr>
          <p:cNvPr id="3" name="Content Placeholder 2">
            <a:extLst>
              <a:ext uri="{FF2B5EF4-FFF2-40B4-BE49-F238E27FC236}">
                <a16:creationId xmlns:a16="http://schemas.microsoft.com/office/drawing/2014/main" id="{2EBCEAC8-3204-C998-083A-0CA3CB38DCFD}"/>
              </a:ext>
            </a:extLst>
          </p:cNvPr>
          <p:cNvSpPr>
            <a:spLocks noGrp="1"/>
          </p:cNvSpPr>
          <p:nvPr>
            <p:ph idx="1"/>
          </p:nvPr>
        </p:nvSpPr>
        <p:spPr/>
        <p:txBody>
          <a:bodyPr/>
          <a:lstStyle/>
          <a:p>
            <a:r>
              <a:rPr lang="en-US" dirty="0">
                <a:solidFill>
                  <a:srgbClr val="FF0000"/>
                </a:solidFill>
              </a:rPr>
              <a:t>0 Children (i.e. it’s a leaf)</a:t>
            </a:r>
          </a:p>
          <a:p>
            <a:pPr lvl="1"/>
            <a:endParaRPr lang="en-US" dirty="0"/>
          </a:p>
          <a:p>
            <a:r>
              <a:rPr lang="en-US" dirty="0">
                <a:solidFill>
                  <a:srgbClr val="0070C0"/>
                </a:solidFill>
              </a:rPr>
              <a:t>1 Child</a:t>
            </a:r>
          </a:p>
          <a:p>
            <a:pPr lvl="1"/>
            <a:r>
              <a:rPr lang="en-US" dirty="0"/>
              <a:t>Replace the deleted node with its child</a:t>
            </a:r>
          </a:p>
          <a:p>
            <a:r>
              <a:rPr lang="en-US" dirty="0">
                <a:solidFill>
                  <a:schemeClr val="accent2">
                    <a:lumMod val="75000"/>
                  </a:schemeClr>
                </a:solidFill>
              </a:rPr>
              <a:t>2 Children</a:t>
            </a:r>
          </a:p>
          <a:p>
            <a:pPr lvl="1"/>
            <a:r>
              <a:rPr lang="en-US" dirty="0">
                <a:solidFill>
                  <a:schemeClr val="accent2">
                    <a:lumMod val="75000"/>
                  </a:schemeClr>
                </a:solidFill>
              </a:rPr>
              <a:t>Replace the deleted with the largest node to its left or else the smallest node to its right</a:t>
            </a:r>
          </a:p>
          <a:p>
            <a:pPr lvl="1"/>
            <a:endParaRPr lang="en-US" dirty="0"/>
          </a:p>
        </p:txBody>
      </p:sp>
      <p:grpSp>
        <p:nvGrpSpPr>
          <p:cNvPr id="4" name="Group 3"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10;&#10;If the node 5 is deleted then this is the 0 children case&#10;If the node 1 is deleted then this is the 1 child case&#10;If the node 3 is deleted then this is the 2 child case">
            <a:extLst>
              <a:ext uri="{FF2B5EF4-FFF2-40B4-BE49-F238E27FC236}">
                <a16:creationId xmlns:a16="http://schemas.microsoft.com/office/drawing/2014/main" id="{87AC3D59-3E05-191D-A7BF-6AC36E848F5B}"/>
              </a:ext>
            </a:extLst>
          </p:cNvPr>
          <p:cNvGrpSpPr/>
          <p:nvPr/>
        </p:nvGrpSpPr>
        <p:grpSpPr>
          <a:xfrm>
            <a:off x="8079280" y="365125"/>
            <a:ext cx="4036614" cy="2762801"/>
            <a:chOff x="8079280" y="365125"/>
            <a:chExt cx="4036614" cy="2762801"/>
          </a:xfrm>
        </p:grpSpPr>
        <p:grpSp>
          <p:nvGrpSpPr>
            <p:cNvPr id="5" name="Group 4">
              <a:extLst>
                <a:ext uri="{FF2B5EF4-FFF2-40B4-BE49-F238E27FC236}">
                  <a16:creationId xmlns:a16="http://schemas.microsoft.com/office/drawing/2014/main" id="{1333A002-A754-52F5-FA72-68624BE2C8D0}"/>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08219CE-3255-59E4-61D6-419B3BAFB9D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2142312F-4523-0F4A-18D6-D202467C630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14" name="Oval 13">
                  <a:extLst>
                    <a:ext uri="{FF2B5EF4-FFF2-40B4-BE49-F238E27FC236}">
                      <a16:creationId xmlns:a16="http://schemas.microsoft.com/office/drawing/2014/main" id="{EB78B0BF-9986-AD99-C54F-D7B175C1C6D9}"/>
                    </a:ext>
                  </a:extLst>
                </p:cNvPr>
                <p:cNvSpPr/>
                <p:nvPr/>
              </p:nvSpPr>
              <p:spPr>
                <a:xfrm>
                  <a:off x="1556072" y="3043035"/>
                  <a:ext cx="612511" cy="612511"/>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5" name="Oval 14">
                  <a:extLst>
                    <a:ext uri="{FF2B5EF4-FFF2-40B4-BE49-F238E27FC236}">
                      <a16:creationId xmlns:a16="http://schemas.microsoft.com/office/drawing/2014/main" id="{B7B86446-8709-F970-19FA-1560746A8F8B}"/>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6" name="Oval 15">
                  <a:extLst>
                    <a:ext uri="{FF2B5EF4-FFF2-40B4-BE49-F238E27FC236}">
                      <a16:creationId xmlns:a16="http://schemas.microsoft.com/office/drawing/2014/main" id="{12845EA2-0AD9-0332-93AD-E32D492ACF75}"/>
                    </a:ext>
                  </a:extLst>
                </p:cNvPr>
                <p:cNvSpPr/>
                <p:nvPr/>
              </p:nvSpPr>
              <p:spPr>
                <a:xfrm>
                  <a:off x="820352" y="3799360"/>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7" name="Oval 16">
                  <a:extLst>
                    <a:ext uri="{FF2B5EF4-FFF2-40B4-BE49-F238E27FC236}">
                      <a16:creationId xmlns:a16="http://schemas.microsoft.com/office/drawing/2014/main" id="{45DC21F3-A9FD-FEF7-D158-D2B83E668A9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8" name="Oval 17">
                  <a:extLst>
                    <a:ext uri="{FF2B5EF4-FFF2-40B4-BE49-F238E27FC236}">
                      <a16:creationId xmlns:a16="http://schemas.microsoft.com/office/drawing/2014/main" id="{C2595E8C-ACCE-26C0-95A6-DF31D51FB63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9" name="Straight Connector 18">
                  <a:extLst>
                    <a:ext uri="{FF2B5EF4-FFF2-40B4-BE49-F238E27FC236}">
                      <a16:creationId xmlns:a16="http://schemas.microsoft.com/office/drawing/2014/main" id="{CB09B76C-5533-8CEE-1C8E-C13D430D6C0A}"/>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6BA5A95-4800-75BA-5CE6-E383F92011EB}"/>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AC4D699-B4C5-E5A7-F3D0-4965AD3CEF52}"/>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BE01189-9D86-9F73-E90F-C51F6D57DB47}"/>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6CAF12A-D2DF-12A3-D54E-B3E2AADBEE87}"/>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9D0412F1-A696-4E74-5C2D-01D272BC7D1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12" name="Straight Connector 11">
                <a:extLst>
                  <a:ext uri="{FF2B5EF4-FFF2-40B4-BE49-F238E27FC236}">
                    <a16:creationId xmlns:a16="http://schemas.microsoft.com/office/drawing/2014/main" id="{80FEBA68-EB7A-A625-123F-3DFEFE9705FD}"/>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F46FB638-874C-F8CE-DA66-D385D2D1E610}"/>
                </a:ext>
              </a:extLst>
            </p:cNvPr>
            <p:cNvSpPr/>
            <p:nvPr/>
          </p:nvSpPr>
          <p:spPr>
            <a:xfrm>
              <a:off x="9568237" y="2510120"/>
              <a:ext cx="612511" cy="612511"/>
            </a:xfrm>
            <a:prstGeom prst="ellipse">
              <a:avLst/>
            </a:prstGeom>
            <a:solidFill>
              <a:srgbClr val="FF646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7" name="Oval 6">
              <a:extLst>
                <a:ext uri="{FF2B5EF4-FFF2-40B4-BE49-F238E27FC236}">
                  <a16:creationId xmlns:a16="http://schemas.microsoft.com/office/drawing/2014/main" id="{9C35A3DD-4BC9-7373-F046-80248E667B84}"/>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8" name="Straight Connector 7">
              <a:extLst>
                <a:ext uri="{FF2B5EF4-FFF2-40B4-BE49-F238E27FC236}">
                  <a16:creationId xmlns:a16="http://schemas.microsoft.com/office/drawing/2014/main" id="{90A20141-63E4-638D-8E70-95A8CD7079FC}"/>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9F92928-0AF8-46E7-0CF2-997221C964DA}"/>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02148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DD992-8A3B-FA6D-C215-0B6ED397A6A4}"/>
              </a:ext>
            </a:extLst>
          </p:cNvPr>
          <p:cNvSpPr>
            <a:spLocks noGrp="1"/>
          </p:cNvSpPr>
          <p:nvPr>
            <p:ph type="title"/>
          </p:nvPr>
        </p:nvSpPr>
        <p:spPr/>
        <p:txBody>
          <a:bodyPr/>
          <a:lstStyle/>
          <a:p>
            <a:r>
              <a:rPr lang="en-US" dirty="0"/>
              <a:t>Finding the Max and Min</a:t>
            </a:r>
          </a:p>
        </p:txBody>
      </p:sp>
      <p:sp>
        <p:nvSpPr>
          <p:cNvPr id="3" name="Content Placeholder 2">
            <a:extLst>
              <a:ext uri="{FF2B5EF4-FFF2-40B4-BE49-F238E27FC236}">
                <a16:creationId xmlns:a16="http://schemas.microsoft.com/office/drawing/2014/main" id="{4AE004EE-D13B-45D9-058D-3DB66EC3D36A}"/>
              </a:ext>
            </a:extLst>
          </p:cNvPr>
          <p:cNvSpPr>
            <a:spLocks noGrp="1"/>
          </p:cNvSpPr>
          <p:nvPr>
            <p:ph idx="1"/>
          </p:nvPr>
        </p:nvSpPr>
        <p:spPr/>
        <p:txBody>
          <a:bodyPr/>
          <a:lstStyle/>
          <a:p>
            <a:r>
              <a:rPr lang="en-US" dirty="0"/>
              <a:t>Max of a BST:</a:t>
            </a:r>
          </a:p>
          <a:p>
            <a:pPr lvl="1"/>
            <a:r>
              <a:rPr lang="en-US" dirty="0"/>
              <a:t>Right-most Thing</a:t>
            </a:r>
          </a:p>
          <a:p>
            <a:pPr lvl="1"/>
            <a:endParaRPr lang="en-US" dirty="0"/>
          </a:p>
          <a:p>
            <a:pPr marL="457200" lvl="1" indent="0">
              <a:buNone/>
            </a:pPr>
            <a:endParaRPr lang="en-US" dirty="0"/>
          </a:p>
          <a:p>
            <a:r>
              <a:rPr lang="en-US" dirty="0"/>
              <a:t>Min of a BST:</a:t>
            </a:r>
          </a:p>
          <a:p>
            <a:pPr lvl="1"/>
            <a:r>
              <a:rPr lang="en-US" dirty="0"/>
              <a:t>Left-most Thing</a:t>
            </a:r>
          </a:p>
          <a:p>
            <a:pPr marL="457200" lvl="1" indent="0">
              <a:buNone/>
            </a:pPr>
            <a:endParaRPr lang="en-US" dirty="0"/>
          </a:p>
          <a:p>
            <a:pPr lvl="1"/>
            <a:endParaRPr lang="en-US" dirty="0"/>
          </a:p>
        </p:txBody>
      </p:sp>
      <p:sp>
        <p:nvSpPr>
          <p:cNvPr id="24" name="TextBox 23">
            <a:extLst>
              <a:ext uri="{FF2B5EF4-FFF2-40B4-BE49-F238E27FC236}">
                <a16:creationId xmlns:a16="http://schemas.microsoft.com/office/drawing/2014/main" id="{B317041B-3D3A-8B57-9A2C-1609D76990ED}"/>
              </a:ext>
            </a:extLst>
          </p:cNvPr>
          <p:cNvSpPr txBox="1"/>
          <p:nvPr/>
        </p:nvSpPr>
        <p:spPr>
          <a:xfrm>
            <a:off x="4450489" y="1515664"/>
            <a:ext cx="3870034"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maxNode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(root == Null){ return Null;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while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root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 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5" name="TextBox 24">
            <a:extLst>
              <a:ext uri="{FF2B5EF4-FFF2-40B4-BE49-F238E27FC236}">
                <a16:creationId xmlns:a16="http://schemas.microsoft.com/office/drawing/2014/main" id="{17A3E0CB-96F1-9F4E-AA9E-AFD3225402CD}"/>
              </a:ext>
            </a:extLst>
          </p:cNvPr>
          <p:cNvSpPr txBox="1"/>
          <p:nvPr/>
        </p:nvSpPr>
        <p:spPr>
          <a:xfrm>
            <a:off x="4450489" y="4145638"/>
            <a:ext cx="3870034"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minNode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(root == Null){ return Null;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while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root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 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nvGrpSpPr>
          <p:cNvPr id="26" name="Group 25"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B0B2EAF4-E77D-A648-5A02-A72F82598AA2}"/>
              </a:ext>
            </a:extLst>
          </p:cNvPr>
          <p:cNvGrpSpPr/>
          <p:nvPr/>
        </p:nvGrpSpPr>
        <p:grpSpPr>
          <a:xfrm>
            <a:off x="8079280" y="365125"/>
            <a:ext cx="4036614" cy="2762801"/>
            <a:chOff x="8079280" y="365125"/>
            <a:chExt cx="4036614" cy="2762801"/>
          </a:xfrm>
        </p:grpSpPr>
        <p:grpSp>
          <p:nvGrpSpPr>
            <p:cNvPr id="27" name="Group 26">
              <a:extLst>
                <a:ext uri="{FF2B5EF4-FFF2-40B4-BE49-F238E27FC236}">
                  <a16:creationId xmlns:a16="http://schemas.microsoft.com/office/drawing/2014/main" id="{DCADB971-7CD4-9062-21B5-08EF54AFF8E0}"/>
                </a:ext>
              </a:extLst>
            </p:cNvPr>
            <p:cNvGrpSpPr/>
            <p:nvPr/>
          </p:nvGrpSpPr>
          <p:grpSpPr>
            <a:xfrm>
              <a:off x="8079280" y="365125"/>
              <a:ext cx="4036614" cy="2762801"/>
              <a:chOff x="5413263" y="1203158"/>
              <a:chExt cx="4036614" cy="2762801"/>
            </a:xfrm>
          </p:grpSpPr>
          <p:grpSp>
            <p:nvGrpSpPr>
              <p:cNvPr id="32" name="Group 31">
                <a:extLst>
                  <a:ext uri="{FF2B5EF4-FFF2-40B4-BE49-F238E27FC236}">
                    <a16:creationId xmlns:a16="http://schemas.microsoft.com/office/drawing/2014/main" id="{28899142-CD79-130C-BA4F-063C34FFD0EF}"/>
                  </a:ext>
                </a:extLst>
              </p:cNvPr>
              <p:cNvGrpSpPr/>
              <p:nvPr/>
            </p:nvGrpSpPr>
            <p:grpSpPr>
              <a:xfrm>
                <a:off x="5413263" y="1203158"/>
                <a:ext cx="4036614" cy="2762801"/>
                <a:chOff x="131609" y="2379747"/>
                <a:chExt cx="4036614" cy="2762801"/>
              </a:xfrm>
            </p:grpSpPr>
            <p:sp>
              <p:nvSpPr>
                <p:cNvPr id="35" name="Oval 34">
                  <a:extLst>
                    <a:ext uri="{FF2B5EF4-FFF2-40B4-BE49-F238E27FC236}">
                      <a16:creationId xmlns:a16="http://schemas.microsoft.com/office/drawing/2014/main" id="{4348B3C4-BF89-709B-A972-54D573BD86C2}"/>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6" name="Oval 35">
                  <a:extLst>
                    <a:ext uri="{FF2B5EF4-FFF2-40B4-BE49-F238E27FC236}">
                      <a16:creationId xmlns:a16="http://schemas.microsoft.com/office/drawing/2014/main" id="{83E98062-0BBB-E350-CF14-BB3B4E43544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7" name="Oval 36">
                  <a:extLst>
                    <a:ext uri="{FF2B5EF4-FFF2-40B4-BE49-F238E27FC236}">
                      <a16:creationId xmlns:a16="http://schemas.microsoft.com/office/drawing/2014/main" id="{12C35DA9-D800-EA8E-5DDA-1A8F42BF1636}"/>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8" name="Oval 37">
                  <a:extLst>
                    <a:ext uri="{FF2B5EF4-FFF2-40B4-BE49-F238E27FC236}">
                      <a16:creationId xmlns:a16="http://schemas.microsoft.com/office/drawing/2014/main" id="{6DF58372-1048-CA1C-3CDD-AADF3C2D064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9" name="Oval 38">
                  <a:extLst>
                    <a:ext uri="{FF2B5EF4-FFF2-40B4-BE49-F238E27FC236}">
                      <a16:creationId xmlns:a16="http://schemas.microsoft.com/office/drawing/2014/main" id="{EFC75933-FB1C-F6DB-0B59-3B1A7761751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40" name="Oval 39">
                  <a:extLst>
                    <a:ext uri="{FF2B5EF4-FFF2-40B4-BE49-F238E27FC236}">
                      <a16:creationId xmlns:a16="http://schemas.microsoft.com/office/drawing/2014/main" id="{CB2FBE9B-C604-8ADB-1DE1-C050A458151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41" name="Straight Connector 40">
                  <a:extLst>
                    <a:ext uri="{FF2B5EF4-FFF2-40B4-BE49-F238E27FC236}">
                      <a16:creationId xmlns:a16="http://schemas.microsoft.com/office/drawing/2014/main" id="{092574DF-6CDB-F587-AE53-D078DA824B20}"/>
                    </a:ext>
                  </a:extLst>
                </p:cNvPr>
                <p:cNvCxnSpPr>
                  <a:cxnSpLocks/>
                  <a:stCxn id="35" idx="3"/>
                  <a:endCxn id="3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5DCB9D-A097-9625-F194-E4FF50CADDFE}"/>
                    </a:ext>
                  </a:extLst>
                </p:cNvPr>
                <p:cNvCxnSpPr>
                  <a:cxnSpLocks/>
                  <a:stCxn id="35" idx="5"/>
                  <a:endCxn id="37"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E9FEB35-8F18-5ED1-B7BD-B1D7E4EA9F99}"/>
                    </a:ext>
                  </a:extLst>
                </p:cNvPr>
                <p:cNvCxnSpPr>
                  <a:stCxn id="38" idx="7"/>
                  <a:endCxn id="3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5B0AFD6-DFAD-3815-AE51-1DE4CFDF9FB1}"/>
                    </a:ext>
                  </a:extLst>
                </p:cNvPr>
                <p:cNvCxnSpPr>
                  <a:cxnSpLocks/>
                  <a:stCxn id="40" idx="7"/>
                  <a:endCxn id="38"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5E339FC-820B-E276-EF24-FB8DED27A768}"/>
                    </a:ext>
                  </a:extLst>
                </p:cNvPr>
                <p:cNvCxnSpPr>
                  <a:stCxn id="39" idx="1"/>
                  <a:endCxn id="37"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7036FA9B-B239-346B-F52A-98E8FBD66D2C}"/>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4" name="Straight Connector 33">
                <a:extLst>
                  <a:ext uri="{FF2B5EF4-FFF2-40B4-BE49-F238E27FC236}">
                    <a16:creationId xmlns:a16="http://schemas.microsoft.com/office/drawing/2014/main" id="{1823182D-19F0-70C4-3135-EE8C61B8DFFF}"/>
                  </a:ext>
                </a:extLst>
              </p:cNvPr>
              <p:cNvCxnSpPr>
                <a:cxnSpLocks/>
                <a:stCxn id="33" idx="1"/>
                <a:endCxn id="36"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Oval 27">
              <a:extLst>
                <a:ext uri="{FF2B5EF4-FFF2-40B4-BE49-F238E27FC236}">
                  <a16:creationId xmlns:a16="http://schemas.microsoft.com/office/drawing/2014/main" id="{FE168C1E-9CC6-6E63-420A-FB9005445CD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9" name="Oval 28">
              <a:extLst>
                <a:ext uri="{FF2B5EF4-FFF2-40B4-BE49-F238E27FC236}">
                  <a16:creationId xmlns:a16="http://schemas.microsoft.com/office/drawing/2014/main" id="{CA74C594-33B0-3A45-3989-37FFD97D13E6}"/>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30" name="Straight Connector 29">
              <a:extLst>
                <a:ext uri="{FF2B5EF4-FFF2-40B4-BE49-F238E27FC236}">
                  <a16:creationId xmlns:a16="http://schemas.microsoft.com/office/drawing/2014/main" id="{86BF65EF-6D6C-84EA-3A1B-33E31603CBAC}"/>
                </a:ext>
              </a:extLst>
            </p:cNvPr>
            <p:cNvCxnSpPr>
              <a:cxnSpLocks/>
              <a:stCxn id="28" idx="7"/>
              <a:endCxn id="33"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128716A-75F9-B153-ABAB-3DA98633BE9B}"/>
                </a:ext>
              </a:extLst>
            </p:cNvPr>
            <p:cNvCxnSpPr>
              <a:cxnSpLocks/>
              <a:stCxn id="29" idx="1"/>
              <a:endCxn id="33"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92177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Delete Operation (iterative)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70000" lnSpcReduction="20000"/>
          </a:bodyPr>
          <a:lstStyle/>
          <a:p>
            <a:pPr marL="0" indent="0">
              <a:buNone/>
            </a:pPr>
            <a:r>
              <a:rPr lang="en-US" dirty="0"/>
              <a:t>delete(key, root){</a:t>
            </a:r>
          </a:p>
          <a:p>
            <a:pPr marL="0" indent="0">
              <a:buNone/>
            </a:pPr>
            <a:r>
              <a:rPr lang="en-US" dirty="0"/>
              <a:t>	while (root != Null &amp;&amp; key != </a:t>
            </a:r>
            <a:r>
              <a:rPr lang="en-US" dirty="0" err="1"/>
              <a:t>root.key</a:t>
            </a:r>
            <a:r>
              <a:rPr lang="en-US" dirty="0"/>
              <a:t>){</a:t>
            </a:r>
          </a:p>
          <a:p>
            <a:pPr marL="0" indent="0">
              <a:buNone/>
            </a:pPr>
            <a:r>
              <a:rPr lang="en-US" dirty="0"/>
              <a:t>		if (key &lt; </a:t>
            </a:r>
            <a:r>
              <a:rPr lang="en-US" dirty="0" err="1"/>
              <a:t>root.key</a:t>
            </a:r>
            <a:r>
              <a:rPr lang="en-US" dirty="0"/>
              <a:t>){ root = </a:t>
            </a:r>
            <a:r>
              <a:rPr lang="en-US" dirty="0" err="1"/>
              <a:t>root.left</a:t>
            </a:r>
            <a:r>
              <a:rPr lang="en-US" dirty="0"/>
              <a:t>; 	}</a:t>
            </a:r>
          </a:p>
          <a:p>
            <a:pPr marL="0" indent="0">
              <a:buNone/>
            </a:pPr>
            <a:r>
              <a:rPr lang="en-US" dirty="0"/>
              <a:t>		else if (key &gt; </a:t>
            </a:r>
            <a:r>
              <a:rPr lang="en-US" dirty="0" err="1"/>
              <a:t>root.key</a:t>
            </a:r>
            <a:r>
              <a:rPr lang="en-US" dirty="0"/>
              <a:t>){ root = </a:t>
            </a:r>
            <a:r>
              <a:rPr lang="en-US" dirty="0" err="1"/>
              <a:t>root.right</a:t>
            </a:r>
            <a:r>
              <a:rPr lang="en-US" dirty="0"/>
              <a:t>; }</a:t>
            </a:r>
          </a:p>
          <a:p>
            <a:pPr marL="0" indent="0">
              <a:buNone/>
            </a:pPr>
            <a:r>
              <a:rPr lang="en-US" dirty="0"/>
              <a:t>	}</a:t>
            </a:r>
          </a:p>
          <a:p>
            <a:pPr marL="0" indent="0">
              <a:buNone/>
            </a:pPr>
            <a:r>
              <a:rPr lang="en-US" dirty="0"/>
              <a:t>	if (root == Null){ return; }</a:t>
            </a:r>
          </a:p>
          <a:p>
            <a:pPr marL="0" indent="0">
              <a:buNone/>
            </a:pPr>
            <a:r>
              <a:rPr lang="en-US" dirty="0"/>
              <a:t>	</a:t>
            </a:r>
            <a:r>
              <a:rPr lang="en-US" dirty="0">
                <a:solidFill>
                  <a:srgbClr val="FF0000"/>
                </a:solidFill>
              </a:rPr>
              <a:t>if (root has no children){</a:t>
            </a:r>
          </a:p>
          <a:p>
            <a:pPr marL="0" indent="0">
              <a:buNone/>
            </a:pPr>
            <a:r>
              <a:rPr lang="en-US" dirty="0">
                <a:solidFill>
                  <a:srgbClr val="FF0000"/>
                </a:solidFill>
              </a:rPr>
              <a:t>		make parent point to Null Instead;</a:t>
            </a:r>
          </a:p>
          <a:p>
            <a:pPr marL="0" indent="0">
              <a:buNone/>
            </a:pPr>
            <a:r>
              <a:rPr lang="en-US" dirty="0">
                <a:solidFill>
                  <a:srgbClr val="FF0000"/>
                </a:solidFill>
              </a:rPr>
              <a:t>	}</a:t>
            </a:r>
          </a:p>
          <a:p>
            <a:pPr marL="0" indent="0">
              <a:buNone/>
            </a:pPr>
            <a:r>
              <a:rPr lang="en-US" dirty="0">
                <a:solidFill>
                  <a:srgbClr val="FF0000"/>
                </a:solidFill>
              </a:rPr>
              <a:t>	if (root has one child){</a:t>
            </a:r>
          </a:p>
          <a:p>
            <a:pPr marL="0" indent="0">
              <a:buNone/>
            </a:pPr>
            <a:r>
              <a:rPr lang="en-US" dirty="0">
                <a:solidFill>
                  <a:srgbClr val="FF0000"/>
                </a:solidFill>
              </a:rPr>
              <a:t>		make parent point to that child instead;</a:t>
            </a:r>
          </a:p>
          <a:p>
            <a:pPr marL="0" indent="0">
              <a:buNone/>
            </a:pPr>
            <a:r>
              <a:rPr lang="en-US" dirty="0">
                <a:solidFill>
                  <a:srgbClr val="FF0000"/>
                </a:solidFill>
              </a:rPr>
              <a:t>	}</a:t>
            </a:r>
          </a:p>
          <a:p>
            <a:pPr marL="0" indent="0">
              <a:buNone/>
            </a:pPr>
            <a:r>
              <a:rPr lang="en-US" dirty="0">
                <a:solidFill>
                  <a:srgbClr val="FF0000"/>
                </a:solidFill>
              </a:rPr>
              <a:t>	if (root has two children){</a:t>
            </a:r>
          </a:p>
          <a:p>
            <a:pPr marL="0" indent="0">
              <a:buNone/>
            </a:pPr>
            <a:r>
              <a:rPr lang="en-US" dirty="0">
                <a:solidFill>
                  <a:srgbClr val="FF0000"/>
                </a:solidFill>
              </a:rPr>
              <a:t>		make parent point to either the max from the left or min from the right</a:t>
            </a:r>
          </a:p>
          <a:p>
            <a:pPr marL="0" indent="0">
              <a:buNone/>
            </a:pPr>
            <a:r>
              <a:rPr lang="en-US" dirty="0">
                <a:solidFill>
                  <a:srgbClr val="FF0000"/>
                </a:solidFill>
              </a:rPr>
              <a:t>	}</a:t>
            </a:r>
          </a:p>
          <a:p>
            <a:pPr marL="0" indent="0">
              <a:buNone/>
            </a:pPr>
            <a:r>
              <a:rPr lang="en-US" dirty="0"/>
              <a:t>}</a:t>
            </a:r>
          </a:p>
        </p:txBody>
      </p:sp>
      <p:grpSp>
        <p:nvGrpSpPr>
          <p:cNvPr id="19" name="Group 18"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BA3E1B73-142C-0C2C-D698-D3DA4817FFD9}"/>
              </a:ext>
            </a:extLst>
          </p:cNvPr>
          <p:cNvGrpSpPr/>
          <p:nvPr/>
        </p:nvGrpSpPr>
        <p:grpSpPr>
          <a:xfrm>
            <a:off x="8079280" y="365125"/>
            <a:ext cx="4036614" cy="2762801"/>
            <a:chOff x="8079280" y="365125"/>
            <a:chExt cx="4036614" cy="2762801"/>
          </a:xfrm>
        </p:grpSpPr>
        <p:grpSp>
          <p:nvGrpSpPr>
            <p:cNvPr id="23" name="Group 22">
              <a:extLst>
                <a:ext uri="{FF2B5EF4-FFF2-40B4-BE49-F238E27FC236}">
                  <a16:creationId xmlns:a16="http://schemas.microsoft.com/office/drawing/2014/main" id="{B34979A9-CA63-2D0A-097E-B192FDA195CE}"/>
                </a:ext>
              </a:extLst>
            </p:cNvPr>
            <p:cNvGrpSpPr/>
            <p:nvPr/>
          </p:nvGrpSpPr>
          <p:grpSpPr>
            <a:xfrm>
              <a:off x="8079280" y="365125"/>
              <a:ext cx="4036614" cy="2762801"/>
              <a:chOff x="5413263" y="1203158"/>
              <a:chExt cx="4036614" cy="2762801"/>
            </a:xfrm>
          </p:grpSpPr>
          <p:grpSp>
            <p:nvGrpSpPr>
              <p:cNvPr id="29" name="Group 28">
                <a:extLst>
                  <a:ext uri="{FF2B5EF4-FFF2-40B4-BE49-F238E27FC236}">
                    <a16:creationId xmlns:a16="http://schemas.microsoft.com/office/drawing/2014/main" id="{149D4220-10DC-42B1-D7A8-9A6E2A0D8673}"/>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0095B24B-9C29-F37E-1EFB-8A3F5B865F9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4" name="Oval 33">
                  <a:extLst>
                    <a:ext uri="{FF2B5EF4-FFF2-40B4-BE49-F238E27FC236}">
                      <a16:creationId xmlns:a16="http://schemas.microsoft.com/office/drawing/2014/main" id="{B1BD5A5A-1512-962A-28AE-3FD615A0C135}"/>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5" name="Oval 34">
                  <a:extLst>
                    <a:ext uri="{FF2B5EF4-FFF2-40B4-BE49-F238E27FC236}">
                      <a16:creationId xmlns:a16="http://schemas.microsoft.com/office/drawing/2014/main" id="{33B87344-4817-5996-C025-37173208C8C6}"/>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6" name="Oval 35">
                  <a:extLst>
                    <a:ext uri="{FF2B5EF4-FFF2-40B4-BE49-F238E27FC236}">
                      <a16:creationId xmlns:a16="http://schemas.microsoft.com/office/drawing/2014/main" id="{AA7D699F-CE71-C556-7552-3EE252D30BA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7" name="Oval 36">
                  <a:extLst>
                    <a:ext uri="{FF2B5EF4-FFF2-40B4-BE49-F238E27FC236}">
                      <a16:creationId xmlns:a16="http://schemas.microsoft.com/office/drawing/2014/main" id="{0092CB08-9345-4FBC-AE6F-7421CCA4644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8" name="Oval 37">
                  <a:extLst>
                    <a:ext uri="{FF2B5EF4-FFF2-40B4-BE49-F238E27FC236}">
                      <a16:creationId xmlns:a16="http://schemas.microsoft.com/office/drawing/2014/main" id="{71D6AA7B-A737-B68F-BA7D-4699948FFCF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9" name="Straight Connector 38">
                  <a:extLst>
                    <a:ext uri="{FF2B5EF4-FFF2-40B4-BE49-F238E27FC236}">
                      <a16:creationId xmlns:a16="http://schemas.microsoft.com/office/drawing/2014/main" id="{1BF369E5-7422-2056-23B0-4D1B7A24836F}"/>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D294E3D-2756-84A9-B3D4-83B3FD229E91}"/>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E5F96FD-9D04-9437-B9BB-108FD00C9C09}"/>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3761E90-84E3-1A6A-786B-64B562AA1DF8}"/>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79DF7BD-6D72-DB4B-7A80-D6F29C3F6D95}"/>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27277738-02A3-498F-A09B-1AE28E147D4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2" name="Straight Connector 31">
                <a:extLst>
                  <a:ext uri="{FF2B5EF4-FFF2-40B4-BE49-F238E27FC236}">
                    <a16:creationId xmlns:a16="http://schemas.microsoft.com/office/drawing/2014/main" id="{AB4D406B-A5B5-8460-3470-744D98BCE149}"/>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34752E22-28AF-7993-A3DA-3B2E0D31C51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Oval 24">
              <a:extLst>
                <a:ext uri="{FF2B5EF4-FFF2-40B4-BE49-F238E27FC236}">
                  <a16:creationId xmlns:a16="http://schemas.microsoft.com/office/drawing/2014/main" id="{986A5F31-FA71-7D01-6740-DF535AE9BA63}"/>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7" name="Straight Connector 26">
              <a:extLst>
                <a:ext uri="{FF2B5EF4-FFF2-40B4-BE49-F238E27FC236}">
                  <a16:creationId xmlns:a16="http://schemas.microsoft.com/office/drawing/2014/main" id="{F4AA7D44-4BC8-CE87-F634-329F95F365FF}"/>
                </a:ext>
              </a:extLst>
            </p:cNvPr>
            <p:cNvCxnSpPr>
              <a:cxnSpLocks/>
              <a:stCxn id="24"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549A231-FB27-6757-1E57-9B47278B69F4}"/>
                </a:ext>
              </a:extLst>
            </p:cNvPr>
            <p:cNvCxnSpPr>
              <a:cxnSpLocks/>
              <a:stCxn id="25" idx="1"/>
              <a:endCxn id="3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31729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68D2-3B25-68DF-253C-F021135BA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40637-A613-A9E7-519E-9AD94EB6A391}"/>
              </a:ext>
            </a:extLst>
          </p:cNvPr>
          <p:cNvSpPr>
            <a:spLocks noGrp="1"/>
          </p:cNvSpPr>
          <p:nvPr>
            <p:ph type="title"/>
          </p:nvPr>
        </p:nvSpPr>
        <p:spPr>
          <a:xfrm>
            <a:off x="838200" y="314325"/>
            <a:ext cx="10515600" cy="1325563"/>
          </a:xfrm>
        </p:spPr>
        <p:txBody>
          <a:bodyPr/>
          <a:lstStyle/>
          <a:p>
            <a:r>
              <a:rPr lang="en-US" dirty="0"/>
              <a:t>Delete Operation (recursive)</a:t>
            </a:r>
          </a:p>
        </p:txBody>
      </p:sp>
      <p:sp>
        <p:nvSpPr>
          <p:cNvPr id="3" name="Content Placeholder 2">
            <a:extLst>
              <a:ext uri="{FF2B5EF4-FFF2-40B4-BE49-F238E27FC236}">
                <a16:creationId xmlns:a16="http://schemas.microsoft.com/office/drawing/2014/main" id="{FE087991-6266-62EE-BEE3-DDCD294DF06F}"/>
              </a:ext>
            </a:extLst>
          </p:cNvPr>
          <p:cNvSpPr>
            <a:spLocks noGrp="1"/>
          </p:cNvSpPr>
          <p:nvPr>
            <p:ph idx="1"/>
          </p:nvPr>
        </p:nvSpPr>
        <p:spPr>
          <a:xfrm>
            <a:off x="187960" y="1371600"/>
            <a:ext cx="10515600" cy="5486399"/>
          </a:xfrm>
        </p:spPr>
        <p:txBody>
          <a:bodyPr>
            <a:normAutofit/>
          </a:bodyPr>
          <a:lstStyle/>
          <a:p>
            <a:pPr marL="0" indent="0">
              <a:buNone/>
            </a:pPr>
            <a:r>
              <a:rPr lang="en-US" dirty="0"/>
              <a:t>delete(key, root){</a:t>
            </a:r>
          </a:p>
          <a:p>
            <a:pPr marL="0" indent="0">
              <a:buNone/>
            </a:pPr>
            <a:r>
              <a:rPr lang="en-US" dirty="0"/>
              <a:t>	if (root == Null){ return; } // key not present</a:t>
            </a:r>
          </a:p>
          <a:p>
            <a:pPr marL="0" indent="0">
              <a:buNone/>
            </a:pPr>
            <a:r>
              <a:rPr lang="en-US" dirty="0"/>
              <a:t>	if (</a:t>
            </a:r>
            <a:r>
              <a:rPr lang="en-US" dirty="0" err="1"/>
              <a:t>root.key</a:t>
            </a:r>
            <a:r>
              <a:rPr lang="en-US" dirty="0"/>
              <a:t> == key){</a:t>
            </a:r>
          </a:p>
          <a:p>
            <a:pPr marL="0" indent="0">
              <a:buNone/>
            </a:pPr>
            <a:r>
              <a:rPr lang="en-US" dirty="0"/>
              <a:t>		</a:t>
            </a:r>
            <a:r>
              <a:rPr lang="en-US" dirty="0">
                <a:solidFill>
                  <a:srgbClr val="FF0000"/>
                </a:solidFill>
              </a:rPr>
              <a:t>if (root has no children) { return Null; }</a:t>
            </a:r>
          </a:p>
          <a:p>
            <a:pPr marL="0" indent="0">
              <a:buNone/>
            </a:pPr>
            <a:r>
              <a:rPr lang="en-US" dirty="0">
                <a:solidFill>
                  <a:srgbClr val="FF0000"/>
                </a:solidFill>
              </a:rPr>
              <a:t>		if (root has one child) { return that child; }</a:t>
            </a:r>
          </a:p>
          <a:p>
            <a:pPr marL="0" indent="0">
              <a:buNone/>
            </a:pPr>
            <a:r>
              <a:rPr lang="en-US" dirty="0">
                <a:solidFill>
                  <a:srgbClr val="FF0000"/>
                </a:solidFill>
              </a:rPr>
              <a:t>		if (root has two children) {return </a:t>
            </a:r>
            <a:r>
              <a:rPr lang="en-US" dirty="0" err="1">
                <a:solidFill>
                  <a:srgbClr val="FF0000"/>
                </a:solidFill>
              </a:rPr>
              <a:t>removeMax</a:t>
            </a:r>
            <a:r>
              <a:rPr lang="en-US" dirty="0">
                <a:solidFill>
                  <a:srgbClr val="FF0000"/>
                </a:solidFill>
              </a:rPr>
              <a:t>(</a:t>
            </a:r>
            <a:r>
              <a:rPr lang="en-US" dirty="0" err="1">
                <a:solidFill>
                  <a:srgbClr val="FF0000"/>
                </a:solidFill>
              </a:rPr>
              <a:t>root.left</a:t>
            </a:r>
            <a:r>
              <a:rPr lang="en-US" dirty="0">
                <a:solidFill>
                  <a:srgbClr val="FF0000"/>
                </a:solidFill>
              </a:rPr>
              <a:t>);}</a:t>
            </a:r>
          </a:p>
          <a:p>
            <a:pPr marL="0" indent="0">
              <a:buNone/>
            </a:pPr>
            <a:r>
              <a:rPr lang="en-US" dirty="0"/>
              <a:t>	}</a:t>
            </a:r>
          </a:p>
          <a:p>
            <a:pPr marL="0" indent="0">
              <a:buNone/>
            </a:pPr>
            <a:r>
              <a:rPr lang="en-US" dirty="0"/>
              <a:t>	if (</a:t>
            </a:r>
            <a:r>
              <a:rPr lang="en-US" dirty="0" err="1"/>
              <a:t>root.key</a:t>
            </a:r>
            <a:r>
              <a:rPr lang="en-US" dirty="0"/>
              <a:t> &lt; key) { </a:t>
            </a:r>
            <a:r>
              <a:rPr lang="en-US" dirty="0" err="1"/>
              <a:t>root.right</a:t>
            </a:r>
            <a:r>
              <a:rPr lang="en-US" dirty="0"/>
              <a:t> = delete(key, </a:t>
            </a:r>
            <a:r>
              <a:rPr lang="en-US" dirty="0" err="1"/>
              <a:t>root.right</a:t>
            </a:r>
            <a:r>
              <a:rPr lang="en-US" dirty="0"/>
              <a:t>); }</a:t>
            </a:r>
          </a:p>
          <a:p>
            <a:pPr marL="0" indent="0">
              <a:buNone/>
            </a:pPr>
            <a:r>
              <a:rPr lang="en-US" dirty="0"/>
              <a:t>	else { </a:t>
            </a:r>
            <a:r>
              <a:rPr lang="en-US" dirty="0" err="1"/>
              <a:t>root.left</a:t>
            </a:r>
            <a:r>
              <a:rPr lang="en-US" dirty="0"/>
              <a:t> = delete(key, </a:t>
            </a:r>
            <a:r>
              <a:rPr lang="en-US" dirty="0" err="1"/>
              <a:t>root.left</a:t>
            </a:r>
            <a:r>
              <a:rPr lang="en-US" dirty="0"/>
              <a:t>); }</a:t>
            </a:r>
            <a:endParaRPr lang="en-US" dirty="0">
              <a:solidFill>
                <a:srgbClr val="FF0000"/>
              </a:solidFill>
            </a:endParaRPr>
          </a:p>
          <a:p>
            <a:pPr marL="0" indent="0">
              <a:buNone/>
            </a:pPr>
            <a:r>
              <a:rPr lang="en-US" dirty="0"/>
              <a:t>}</a:t>
            </a:r>
          </a:p>
        </p:txBody>
      </p:sp>
      <p:grpSp>
        <p:nvGrpSpPr>
          <p:cNvPr id="19" name="Group 18"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19612816-577B-ED37-E80E-B0CCC0059496}"/>
              </a:ext>
            </a:extLst>
          </p:cNvPr>
          <p:cNvGrpSpPr/>
          <p:nvPr/>
        </p:nvGrpSpPr>
        <p:grpSpPr>
          <a:xfrm>
            <a:off x="8079280" y="365125"/>
            <a:ext cx="4036614" cy="2762801"/>
            <a:chOff x="8079280" y="365125"/>
            <a:chExt cx="4036614" cy="2762801"/>
          </a:xfrm>
        </p:grpSpPr>
        <p:grpSp>
          <p:nvGrpSpPr>
            <p:cNvPr id="23" name="Group 22">
              <a:extLst>
                <a:ext uri="{FF2B5EF4-FFF2-40B4-BE49-F238E27FC236}">
                  <a16:creationId xmlns:a16="http://schemas.microsoft.com/office/drawing/2014/main" id="{394F2F53-CA8B-F6C1-9DA3-0FD926F743D6}"/>
                </a:ext>
              </a:extLst>
            </p:cNvPr>
            <p:cNvGrpSpPr/>
            <p:nvPr/>
          </p:nvGrpSpPr>
          <p:grpSpPr>
            <a:xfrm>
              <a:off x="8079280" y="365125"/>
              <a:ext cx="4036614" cy="2762801"/>
              <a:chOff x="5413263" y="1203158"/>
              <a:chExt cx="4036614" cy="2762801"/>
            </a:xfrm>
          </p:grpSpPr>
          <p:grpSp>
            <p:nvGrpSpPr>
              <p:cNvPr id="29" name="Group 28">
                <a:extLst>
                  <a:ext uri="{FF2B5EF4-FFF2-40B4-BE49-F238E27FC236}">
                    <a16:creationId xmlns:a16="http://schemas.microsoft.com/office/drawing/2014/main" id="{63F84421-D985-597D-B4A0-BA91771E9882}"/>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B2CF21EF-0DDB-A1B0-7EFF-463320FBA040}"/>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4" name="Oval 33">
                  <a:extLst>
                    <a:ext uri="{FF2B5EF4-FFF2-40B4-BE49-F238E27FC236}">
                      <a16:creationId xmlns:a16="http://schemas.microsoft.com/office/drawing/2014/main" id="{261DC36D-3C6E-190E-63B3-60B24037AF1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5" name="Oval 34">
                  <a:extLst>
                    <a:ext uri="{FF2B5EF4-FFF2-40B4-BE49-F238E27FC236}">
                      <a16:creationId xmlns:a16="http://schemas.microsoft.com/office/drawing/2014/main" id="{67615A5A-5038-47DF-BDB2-A3B86C003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6" name="Oval 35">
                  <a:extLst>
                    <a:ext uri="{FF2B5EF4-FFF2-40B4-BE49-F238E27FC236}">
                      <a16:creationId xmlns:a16="http://schemas.microsoft.com/office/drawing/2014/main" id="{6678E2BD-B2EE-E791-3BCB-3B60AFEEEE5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7" name="Oval 36">
                  <a:extLst>
                    <a:ext uri="{FF2B5EF4-FFF2-40B4-BE49-F238E27FC236}">
                      <a16:creationId xmlns:a16="http://schemas.microsoft.com/office/drawing/2014/main" id="{2D33BF02-A7BB-6144-BFE7-5953D2621C17}"/>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8" name="Oval 37">
                  <a:extLst>
                    <a:ext uri="{FF2B5EF4-FFF2-40B4-BE49-F238E27FC236}">
                      <a16:creationId xmlns:a16="http://schemas.microsoft.com/office/drawing/2014/main" id="{9C728362-FD7A-A0B8-3B64-CF712D152B2D}"/>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9" name="Straight Connector 38">
                  <a:extLst>
                    <a:ext uri="{FF2B5EF4-FFF2-40B4-BE49-F238E27FC236}">
                      <a16:creationId xmlns:a16="http://schemas.microsoft.com/office/drawing/2014/main" id="{BC1D0E83-EC24-E45F-23AA-44734F44D60B}"/>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D513E9B-6BA4-07A8-3579-7089276CDF9B}"/>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BE5CEC4-F886-35DF-26C9-BB05D187843F}"/>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C008032-83D8-748C-0674-AA40BB508825}"/>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AC45F81-E57A-3883-9061-346DCA46001F}"/>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D3A73B08-6CE6-DD4D-7ABA-68C0994724F1}"/>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2" name="Straight Connector 31">
                <a:extLst>
                  <a:ext uri="{FF2B5EF4-FFF2-40B4-BE49-F238E27FC236}">
                    <a16:creationId xmlns:a16="http://schemas.microsoft.com/office/drawing/2014/main" id="{C14247C7-6E99-23E1-292F-26D572FA6C12}"/>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85B908F2-0DCA-5E5B-0E28-ED4B062AD5F8}"/>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Oval 24">
              <a:extLst>
                <a:ext uri="{FF2B5EF4-FFF2-40B4-BE49-F238E27FC236}">
                  <a16:creationId xmlns:a16="http://schemas.microsoft.com/office/drawing/2014/main" id="{33621753-5968-73F8-5A5C-238219DCD2B9}"/>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7" name="Straight Connector 26">
              <a:extLst>
                <a:ext uri="{FF2B5EF4-FFF2-40B4-BE49-F238E27FC236}">
                  <a16:creationId xmlns:a16="http://schemas.microsoft.com/office/drawing/2014/main" id="{D21FFB40-509E-9CE7-76D8-FF083CCF3C18}"/>
                </a:ext>
              </a:extLst>
            </p:cNvPr>
            <p:cNvCxnSpPr>
              <a:cxnSpLocks/>
              <a:stCxn id="24"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B80C5B-9104-2252-6307-4B924CFE03C0}"/>
                </a:ext>
              </a:extLst>
            </p:cNvPr>
            <p:cNvCxnSpPr>
              <a:cxnSpLocks/>
              <a:stCxn id="25" idx="1"/>
              <a:endCxn id="3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09352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8EB7-6A92-650F-ABB6-D01E0E9C2947}"/>
              </a:ext>
            </a:extLst>
          </p:cNvPr>
          <p:cNvSpPr>
            <a:spLocks noGrp="1"/>
          </p:cNvSpPr>
          <p:nvPr>
            <p:ph type="title"/>
          </p:nvPr>
        </p:nvSpPr>
        <p:spPr/>
        <p:txBody>
          <a:bodyPr/>
          <a:lstStyle/>
          <a:p>
            <a:r>
              <a:rPr lang="en-US" dirty="0"/>
              <a:t>Worst Case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B68B37-F1ED-0BE8-1F25-50E0D4A17222}"/>
                  </a:ext>
                </a:extLst>
              </p:cNvPr>
              <p:cNvSpPr>
                <a:spLocks noGrp="1"/>
              </p:cNvSpPr>
              <p:nvPr>
                <p:ph idx="1"/>
              </p:nvPr>
            </p:nvSpPr>
            <p:spPr/>
            <p:txBody>
              <a:bodyPr/>
              <a:lstStyle/>
              <a:p>
                <a:r>
                  <a:rPr lang="en-US" dirty="0"/>
                  <a:t>For each of Find, insert, Delete:</a:t>
                </a:r>
              </a:p>
              <a:p>
                <a:pPr lvl="1"/>
                <a:r>
                  <a:rPr lang="en-US" dirty="0"/>
                  <a:t>Worst case running time matches height of the tree</a:t>
                </a:r>
              </a:p>
              <a:p>
                <a:r>
                  <a:rPr lang="en-US" dirty="0"/>
                  <a:t>What is the maximum height of a BST with </a:t>
                </a:r>
                <a14:m>
                  <m:oMath xmlns:m="http://schemas.openxmlformats.org/officeDocument/2006/math">
                    <m:r>
                      <a:rPr lang="en-US" b="0" i="1" smtClean="0">
                        <a:latin typeface="Cambria Math" panose="02040503050406030204" pitchFamily="18" charset="0"/>
                      </a:rPr>
                      <m:t>𝑛</m:t>
                    </m:r>
                  </m:oMath>
                </a14:m>
                <a:r>
                  <a:rPr lang="en-US" dirty="0"/>
                  <a:t> nodes?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64B68B37-F1ED-0BE8-1F25-50E0D4A1722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200959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468E-2A60-489B-E1DA-978D05AAE888}"/>
              </a:ext>
            </a:extLst>
          </p:cNvPr>
          <p:cNvSpPr>
            <a:spLocks noGrp="1"/>
          </p:cNvSpPr>
          <p:nvPr>
            <p:ph type="title"/>
          </p:nvPr>
        </p:nvSpPr>
        <p:spPr/>
        <p:txBody>
          <a:bodyPr/>
          <a:lstStyle/>
          <a:p>
            <a:r>
              <a:rPr lang="en-US" dirty="0"/>
              <a:t>Improving the worst case</a:t>
            </a:r>
          </a:p>
        </p:txBody>
      </p:sp>
      <p:sp>
        <p:nvSpPr>
          <p:cNvPr id="3" name="Content Placeholder 2">
            <a:extLst>
              <a:ext uri="{FF2B5EF4-FFF2-40B4-BE49-F238E27FC236}">
                <a16:creationId xmlns:a16="http://schemas.microsoft.com/office/drawing/2014/main" id="{3E0CD3BB-6320-6788-1CFA-3AF70EDACD3B}"/>
              </a:ext>
            </a:extLst>
          </p:cNvPr>
          <p:cNvSpPr>
            <a:spLocks noGrp="1"/>
          </p:cNvSpPr>
          <p:nvPr>
            <p:ph idx="1"/>
          </p:nvPr>
        </p:nvSpPr>
        <p:spPr/>
        <p:txBody>
          <a:bodyPr/>
          <a:lstStyle/>
          <a:p>
            <a:r>
              <a:rPr lang="en-US" dirty="0"/>
              <a:t>How can we get a better worst case running time?</a:t>
            </a:r>
          </a:p>
          <a:p>
            <a:pPr lvl="1"/>
            <a:r>
              <a:rPr lang="en-US" dirty="0"/>
              <a:t>Add rules about the shape of our BST</a:t>
            </a:r>
          </a:p>
          <a:p>
            <a:r>
              <a:rPr lang="en-US" dirty="0"/>
              <a:t>AVL Tree</a:t>
            </a:r>
          </a:p>
          <a:p>
            <a:pPr lvl="1"/>
            <a:r>
              <a:rPr lang="en-US" dirty="0"/>
              <a:t>A BST with some shape rules</a:t>
            </a:r>
          </a:p>
          <a:p>
            <a:pPr lvl="2"/>
            <a:r>
              <a:rPr lang="en-US" dirty="0"/>
              <a:t>Algorithms need to change to accommodate those</a:t>
            </a:r>
          </a:p>
        </p:txBody>
      </p:sp>
    </p:spTree>
    <p:extLst>
      <p:ext uri="{BB962C8B-B14F-4D97-AF65-F5344CB8AC3E}">
        <p14:creationId xmlns:p14="http://schemas.microsoft.com/office/powerpoint/2010/main" val="2624880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8BB1-416B-D0E8-3322-4EB4D87AA166}"/>
              </a:ext>
            </a:extLst>
          </p:cNvPr>
          <p:cNvSpPr>
            <a:spLocks noGrp="1"/>
          </p:cNvSpPr>
          <p:nvPr>
            <p:ph type="title"/>
          </p:nvPr>
        </p:nvSpPr>
        <p:spPr/>
        <p:txBody>
          <a:bodyPr/>
          <a:lstStyle/>
          <a:p>
            <a:r>
              <a:rPr lang="en-US" dirty="0"/>
              <a:t>“Balanced” Binary Search Trees</a:t>
            </a:r>
          </a:p>
        </p:txBody>
      </p:sp>
      <p:sp>
        <p:nvSpPr>
          <p:cNvPr id="3" name="Content Placeholder 2">
            <a:extLst>
              <a:ext uri="{FF2B5EF4-FFF2-40B4-BE49-F238E27FC236}">
                <a16:creationId xmlns:a16="http://schemas.microsoft.com/office/drawing/2014/main" id="{70B4F05E-58AF-CEFF-09EC-B606D49F8E70}"/>
              </a:ext>
            </a:extLst>
          </p:cNvPr>
          <p:cNvSpPr>
            <a:spLocks noGrp="1"/>
          </p:cNvSpPr>
          <p:nvPr>
            <p:ph idx="1"/>
          </p:nvPr>
        </p:nvSpPr>
        <p:spPr/>
        <p:txBody>
          <a:bodyPr/>
          <a:lstStyle/>
          <a:p>
            <a:r>
              <a:rPr lang="en-US" dirty="0"/>
              <a:t>We get better running times by having “shorter” trees</a:t>
            </a:r>
          </a:p>
          <a:p>
            <a:r>
              <a:rPr lang="en-US" dirty="0"/>
              <a:t>Trees get tall due to them being “sparse” (many one-child nodes)</a:t>
            </a:r>
          </a:p>
          <a:p>
            <a:r>
              <a:rPr lang="en-US" dirty="0"/>
              <a:t>Idea: modify how we insert/delete to keep the tree more “full”</a:t>
            </a:r>
          </a:p>
          <a:p>
            <a:pPr lvl="1"/>
            <a:r>
              <a:rPr lang="en-US" dirty="0"/>
              <a:t>Encourage Branches!</a:t>
            </a:r>
          </a:p>
          <a:p>
            <a:pPr marL="457200" lvl="1" indent="0">
              <a:buNone/>
            </a:pPr>
            <a:endParaRPr lang="en-US" dirty="0"/>
          </a:p>
        </p:txBody>
      </p:sp>
    </p:spTree>
    <p:extLst>
      <p:ext uri="{BB962C8B-B14F-4D97-AF65-F5344CB8AC3E}">
        <p14:creationId xmlns:p14="http://schemas.microsoft.com/office/powerpoint/2010/main" val="2878583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1: Both Subtrees of Root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9300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94EC-A62C-52C7-9B7D-84BA5D68C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A070F-7804-F47A-D0B8-0BB74A66AA8B}"/>
              </a:ext>
            </a:extLst>
          </p:cNvPr>
          <p:cNvSpPr>
            <a:spLocks noGrp="1"/>
          </p:cNvSpPr>
          <p:nvPr>
            <p:ph type="title"/>
          </p:nvPr>
        </p:nvSpPr>
        <p:spPr/>
        <p:txBody>
          <a:bodyPr/>
          <a:lstStyle/>
          <a:p>
            <a:r>
              <a:rPr lang="en-US" dirty="0"/>
              <a:t>Idea 1: Both Subtrees of Root have same # Nodes - Issue</a:t>
            </a:r>
          </a:p>
        </p:txBody>
      </p:sp>
      <p:grpSp>
        <p:nvGrpSpPr>
          <p:cNvPr id="78" name="Group 77" descr="A binary search tree where both subtrees of the root have the same number of nodes. In this case, though, there are branches in the tree besides at the root, so the height of the tree is n/2.">
            <a:extLst>
              <a:ext uri="{FF2B5EF4-FFF2-40B4-BE49-F238E27FC236}">
                <a16:creationId xmlns:a16="http://schemas.microsoft.com/office/drawing/2014/main" id="{3A1FB81E-8197-A6BF-E839-2C49D462E581}"/>
              </a:ext>
            </a:extLst>
          </p:cNvPr>
          <p:cNvGrpSpPr/>
          <p:nvPr/>
        </p:nvGrpSpPr>
        <p:grpSpPr>
          <a:xfrm>
            <a:off x="2007119" y="2013929"/>
            <a:ext cx="7034124" cy="3796337"/>
            <a:chOff x="2007119" y="2013929"/>
            <a:chExt cx="7034124" cy="3796337"/>
          </a:xfrm>
        </p:grpSpPr>
        <p:sp>
          <p:nvSpPr>
            <p:cNvPr id="27" name="Oval 26">
              <a:extLst>
                <a:ext uri="{FF2B5EF4-FFF2-40B4-BE49-F238E27FC236}">
                  <a16:creationId xmlns:a16="http://schemas.microsoft.com/office/drawing/2014/main" id="{D9CBA753-B3DB-DD0A-9A4B-280EA2685C65}"/>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8" name="Oval 27">
              <a:extLst>
                <a:ext uri="{FF2B5EF4-FFF2-40B4-BE49-F238E27FC236}">
                  <a16:creationId xmlns:a16="http://schemas.microsoft.com/office/drawing/2014/main" id="{E71A703B-B312-6FCE-DEC0-1B0048EB0C7B}"/>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9" name="Oval 28">
              <a:extLst>
                <a:ext uri="{FF2B5EF4-FFF2-40B4-BE49-F238E27FC236}">
                  <a16:creationId xmlns:a16="http://schemas.microsoft.com/office/drawing/2014/main" id="{F5C6457D-05A6-9C91-B7ED-9AD9A7BD36A7}"/>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0" name="Oval 29">
              <a:extLst>
                <a:ext uri="{FF2B5EF4-FFF2-40B4-BE49-F238E27FC236}">
                  <a16:creationId xmlns:a16="http://schemas.microsoft.com/office/drawing/2014/main" id="{5A053C52-6B21-47EF-523C-E60063E18A6A}"/>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1" name="Oval 30">
              <a:extLst>
                <a:ext uri="{FF2B5EF4-FFF2-40B4-BE49-F238E27FC236}">
                  <a16:creationId xmlns:a16="http://schemas.microsoft.com/office/drawing/2014/main" id="{0ACEEFA4-5C8D-DDF7-C651-D7D501ECE6B0}"/>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2" name="Oval 31">
              <a:extLst>
                <a:ext uri="{FF2B5EF4-FFF2-40B4-BE49-F238E27FC236}">
                  <a16:creationId xmlns:a16="http://schemas.microsoft.com/office/drawing/2014/main" id="{9832C9D1-478F-D14B-33DE-A32AF1FB6B51}"/>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3" name="Straight Connector 32">
              <a:extLst>
                <a:ext uri="{FF2B5EF4-FFF2-40B4-BE49-F238E27FC236}">
                  <a16:creationId xmlns:a16="http://schemas.microsoft.com/office/drawing/2014/main" id="{A19CB705-EBC3-6AFD-F6AD-3A7A9AD1DCF9}"/>
                </a:ext>
              </a:extLst>
            </p:cNvPr>
            <p:cNvCxnSpPr>
              <a:cxnSpLocks/>
              <a:stCxn id="27" idx="3"/>
              <a:endCxn id="28"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6E287ED-E7AF-9A00-8920-BB8AB3DEFE90}"/>
                </a:ext>
              </a:extLst>
            </p:cNvPr>
            <p:cNvCxnSpPr>
              <a:cxnSpLocks/>
              <a:stCxn id="27" idx="7"/>
              <a:endCxn id="29"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BDC737-CF90-5D10-A718-A1EBEC2D96F2}"/>
                </a:ext>
              </a:extLst>
            </p:cNvPr>
            <p:cNvCxnSpPr>
              <a:stCxn id="30" idx="7"/>
              <a:endCxn id="28"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9BE49A-AE3B-1EAD-63E4-3BBE544AE0E6}"/>
                </a:ext>
              </a:extLst>
            </p:cNvPr>
            <p:cNvCxnSpPr>
              <a:cxnSpLocks/>
              <a:stCxn id="32" idx="7"/>
              <a:endCxn id="30"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FBD21B4-7338-9E92-75CB-D7BA88A5729B}"/>
                </a:ext>
              </a:extLst>
            </p:cNvPr>
            <p:cNvCxnSpPr>
              <a:cxnSpLocks/>
              <a:stCxn id="31" idx="3"/>
              <a:endCxn id="29"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4815F53F-D2CD-091B-384E-90126A3EB0F2}"/>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39" name="Oval 38">
              <a:extLst>
                <a:ext uri="{FF2B5EF4-FFF2-40B4-BE49-F238E27FC236}">
                  <a16:creationId xmlns:a16="http://schemas.microsoft.com/office/drawing/2014/main" id="{056172C0-BCC2-8D9C-AD75-563077B69814}"/>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40" name="Oval 39">
              <a:extLst>
                <a:ext uri="{FF2B5EF4-FFF2-40B4-BE49-F238E27FC236}">
                  <a16:creationId xmlns:a16="http://schemas.microsoft.com/office/drawing/2014/main" id="{355F164F-955E-EA46-FF90-CEA4FDD79FB0}"/>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41" name="Oval 40">
              <a:extLst>
                <a:ext uri="{FF2B5EF4-FFF2-40B4-BE49-F238E27FC236}">
                  <a16:creationId xmlns:a16="http://schemas.microsoft.com/office/drawing/2014/main" id="{D0CFFDEC-719C-17C2-BA3D-652FCDD50E2B}"/>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42" name="Oval 41">
              <a:extLst>
                <a:ext uri="{FF2B5EF4-FFF2-40B4-BE49-F238E27FC236}">
                  <a16:creationId xmlns:a16="http://schemas.microsoft.com/office/drawing/2014/main" id="{431E4AC5-FA03-8053-8717-55F28C730838}"/>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3" name="Straight Connector 42">
              <a:extLst>
                <a:ext uri="{FF2B5EF4-FFF2-40B4-BE49-F238E27FC236}">
                  <a16:creationId xmlns:a16="http://schemas.microsoft.com/office/drawing/2014/main" id="{AB10ADE1-88CA-BC69-5971-EB4D40E58440}"/>
                </a:ext>
              </a:extLst>
            </p:cNvPr>
            <p:cNvCxnSpPr>
              <a:cxnSpLocks/>
              <a:stCxn id="38" idx="5"/>
              <a:endCxn id="39"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1A85AE9-3A11-F5AA-9FC2-99E764B1CB1D}"/>
                </a:ext>
              </a:extLst>
            </p:cNvPr>
            <p:cNvCxnSpPr>
              <a:cxnSpLocks/>
              <a:stCxn id="38" idx="1"/>
              <a:endCxn id="40"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4EDD6-AD4B-62D3-A68C-D85E8B29AFDD}"/>
                </a:ext>
              </a:extLst>
            </p:cNvPr>
            <p:cNvCxnSpPr>
              <a:cxnSpLocks/>
              <a:stCxn id="41" idx="1"/>
              <a:endCxn id="39"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F919F38-95B8-33BA-42A7-13011F49D22D}"/>
                </a:ext>
              </a:extLst>
            </p:cNvPr>
            <p:cNvCxnSpPr>
              <a:cxnSpLocks/>
              <a:stCxn id="42" idx="1"/>
              <a:endCxn id="41"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96CD36A-3A71-B3E9-9B81-A31FCDEA5783}"/>
                </a:ext>
              </a:extLst>
            </p:cNvPr>
            <p:cNvCxnSpPr>
              <a:cxnSpLocks/>
              <a:stCxn id="31" idx="5"/>
              <a:endCxn id="40"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6374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2: Both Subtrees of Root have same height</a:t>
            </a:r>
          </a:p>
        </p:txBody>
      </p:sp>
    </p:spTree>
    <p:extLst>
      <p:ext uri="{BB962C8B-B14F-4D97-AF65-F5344CB8AC3E}">
        <p14:creationId xmlns:p14="http://schemas.microsoft.com/office/powerpoint/2010/main" val="1788425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AC5FA-BF9C-9D67-4A62-F7EC65F30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3353C-2ADD-A0A9-F430-A53BA3373DCE}"/>
              </a:ext>
            </a:extLst>
          </p:cNvPr>
          <p:cNvSpPr>
            <a:spLocks noGrp="1"/>
          </p:cNvSpPr>
          <p:nvPr>
            <p:ph type="title"/>
          </p:nvPr>
        </p:nvSpPr>
        <p:spPr/>
        <p:txBody>
          <a:bodyPr/>
          <a:lstStyle/>
          <a:p>
            <a:r>
              <a:rPr lang="en-US" dirty="0"/>
              <a:t>Idea 2: Both Subtrees of Root have same height - Issue</a:t>
            </a:r>
          </a:p>
        </p:txBody>
      </p:sp>
      <p:grpSp>
        <p:nvGrpSpPr>
          <p:cNvPr id="4" name="Group 3" descr="A binary search tree where both subtrees of the root have the same height. In this case, though, there are branches in the tree besides at the root, so the height of the tree is n/2.&#10;&#10;This is exactly the same example tree as the previous slide">
            <a:extLst>
              <a:ext uri="{FF2B5EF4-FFF2-40B4-BE49-F238E27FC236}">
                <a16:creationId xmlns:a16="http://schemas.microsoft.com/office/drawing/2014/main" id="{CD4A098E-0DDA-06D1-1ABF-784AA83A4735}"/>
              </a:ext>
            </a:extLst>
          </p:cNvPr>
          <p:cNvGrpSpPr/>
          <p:nvPr/>
        </p:nvGrpSpPr>
        <p:grpSpPr>
          <a:xfrm>
            <a:off x="2007119" y="2013929"/>
            <a:ext cx="7034124" cy="3796337"/>
            <a:chOff x="2007119" y="2013929"/>
            <a:chExt cx="7034124" cy="3796337"/>
          </a:xfrm>
        </p:grpSpPr>
        <p:sp>
          <p:nvSpPr>
            <p:cNvPr id="5" name="Oval 4">
              <a:extLst>
                <a:ext uri="{FF2B5EF4-FFF2-40B4-BE49-F238E27FC236}">
                  <a16:creationId xmlns:a16="http://schemas.microsoft.com/office/drawing/2014/main" id="{992F8F8A-E2D8-3301-2BE5-924577D24EE1}"/>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4D3809A5-0750-B354-D2D1-FF67B9D87C09}"/>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6CCE1D4A-8303-56EB-C08C-D80096490293}"/>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E394E5B9-E879-937F-B08A-20527C607F04}"/>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9" name="Oval 8">
              <a:extLst>
                <a:ext uri="{FF2B5EF4-FFF2-40B4-BE49-F238E27FC236}">
                  <a16:creationId xmlns:a16="http://schemas.microsoft.com/office/drawing/2014/main" id="{A501A04B-E5FC-6483-FC9F-234C636286C9}"/>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0" name="Oval 9">
              <a:extLst>
                <a:ext uri="{FF2B5EF4-FFF2-40B4-BE49-F238E27FC236}">
                  <a16:creationId xmlns:a16="http://schemas.microsoft.com/office/drawing/2014/main" id="{CD13CB15-F6FC-44BA-915C-2778111B714F}"/>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1" name="Straight Connector 10">
              <a:extLst>
                <a:ext uri="{FF2B5EF4-FFF2-40B4-BE49-F238E27FC236}">
                  <a16:creationId xmlns:a16="http://schemas.microsoft.com/office/drawing/2014/main" id="{72EBAFD8-A33C-E2A9-7D03-383AB70EE117}"/>
                </a:ext>
              </a:extLst>
            </p:cNvPr>
            <p:cNvCxnSpPr>
              <a:cxnSpLocks/>
              <a:stCxn id="5" idx="3"/>
              <a:endCxn id="6"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205491-9DE9-9B6F-FDD6-1591A75C3702}"/>
                </a:ext>
              </a:extLst>
            </p:cNvPr>
            <p:cNvCxnSpPr>
              <a:cxnSpLocks/>
              <a:stCxn id="5" idx="7"/>
              <a:endCxn id="7"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AF25A9B-8C06-DAE9-1566-BB11249985F2}"/>
                </a:ext>
              </a:extLst>
            </p:cNvPr>
            <p:cNvCxnSpPr>
              <a:stCxn id="8" idx="7"/>
              <a:endCxn id="6"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CEECB8-3232-EEED-7BEF-C5674FE79198}"/>
                </a:ext>
              </a:extLst>
            </p:cNvPr>
            <p:cNvCxnSpPr>
              <a:cxnSpLocks/>
              <a:stCxn id="10" idx="7"/>
              <a:endCxn id="8"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DA02BE-D3FA-3DBB-87F2-09E72E0E8865}"/>
                </a:ext>
              </a:extLst>
            </p:cNvPr>
            <p:cNvCxnSpPr>
              <a:cxnSpLocks/>
              <a:stCxn id="9" idx="3"/>
              <a:endCxn id="7"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4FFBBE2-6F1C-E62E-EFB2-2CCB72D09265}"/>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17" name="Oval 16">
              <a:extLst>
                <a:ext uri="{FF2B5EF4-FFF2-40B4-BE49-F238E27FC236}">
                  <a16:creationId xmlns:a16="http://schemas.microsoft.com/office/drawing/2014/main" id="{B4EE2C4C-EBEC-2648-E013-1BB0028AFD62}"/>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18" name="Oval 17">
              <a:extLst>
                <a:ext uri="{FF2B5EF4-FFF2-40B4-BE49-F238E27FC236}">
                  <a16:creationId xmlns:a16="http://schemas.microsoft.com/office/drawing/2014/main" id="{EBEBC30E-4D4F-509D-571C-33829970FC96}"/>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19" name="Oval 18">
              <a:extLst>
                <a:ext uri="{FF2B5EF4-FFF2-40B4-BE49-F238E27FC236}">
                  <a16:creationId xmlns:a16="http://schemas.microsoft.com/office/drawing/2014/main" id="{F49A4562-DA61-B2A5-57C4-413645D35C96}"/>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20" name="Oval 19">
              <a:extLst>
                <a:ext uri="{FF2B5EF4-FFF2-40B4-BE49-F238E27FC236}">
                  <a16:creationId xmlns:a16="http://schemas.microsoft.com/office/drawing/2014/main" id="{D6A91CB1-F3FA-6C6E-E2CC-A16E740B3AE6}"/>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3A444632-CCAE-FC4F-434B-59E4E58066A0}"/>
                </a:ext>
              </a:extLst>
            </p:cNvPr>
            <p:cNvCxnSpPr>
              <a:cxnSpLocks/>
              <a:stCxn id="16" idx="5"/>
              <a:endCxn id="17"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F61BC4-93CD-4B8A-07AD-5911EEED00A5}"/>
                </a:ext>
              </a:extLst>
            </p:cNvPr>
            <p:cNvCxnSpPr>
              <a:cxnSpLocks/>
              <a:stCxn id="16" idx="1"/>
              <a:endCxn id="18"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D30E216-3A8C-72FA-69AB-0A65AD428DAB}"/>
                </a:ext>
              </a:extLst>
            </p:cNvPr>
            <p:cNvCxnSpPr>
              <a:cxnSpLocks/>
              <a:stCxn id="19" idx="1"/>
              <a:endCxn id="17"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9567F18-0F58-2C6E-D164-F4591A654281}"/>
                </a:ext>
              </a:extLst>
            </p:cNvPr>
            <p:cNvCxnSpPr>
              <a:cxnSpLocks/>
              <a:stCxn id="20" idx="1"/>
              <a:endCxn id="19"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C309F7B-18F3-4745-5D7E-E38ECD3CB0A5}"/>
                </a:ext>
              </a:extLst>
            </p:cNvPr>
            <p:cNvCxnSpPr>
              <a:cxnSpLocks/>
              <a:stCxn id="9" idx="5"/>
              <a:endCxn id="18"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55179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3: Both Subtrees of every Node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45055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FB51-56C1-85E6-144F-934B3BAB2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DF058-449F-23A8-BC3C-6BA165C85265}"/>
              </a:ext>
            </a:extLst>
          </p:cNvPr>
          <p:cNvSpPr>
            <a:spLocks noGrp="1"/>
          </p:cNvSpPr>
          <p:nvPr>
            <p:ph type="title"/>
          </p:nvPr>
        </p:nvSpPr>
        <p:spPr/>
        <p:txBody>
          <a:bodyPr/>
          <a:lstStyle/>
          <a:p>
            <a:r>
              <a:rPr lang="en-US" dirty="0"/>
              <a:t>Idea 3: Both Subtrees of every Node have same # Nodes - Issue</a:t>
            </a:r>
          </a:p>
        </p:txBody>
      </p:sp>
      <p:sp>
        <p:nvSpPr>
          <p:cNvPr id="3" name="Content Placeholder 2">
            <a:extLst>
              <a:ext uri="{FF2B5EF4-FFF2-40B4-BE49-F238E27FC236}">
                <a16:creationId xmlns:a16="http://schemas.microsoft.com/office/drawing/2014/main" id="{71EC57CB-419B-D9EC-52DD-2E70706F77D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p:txBody>
      </p:sp>
    </p:spTree>
    <p:extLst>
      <p:ext uri="{BB962C8B-B14F-4D97-AF65-F5344CB8AC3E}">
        <p14:creationId xmlns:p14="http://schemas.microsoft.com/office/powerpoint/2010/main" val="3930125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4: Both Subtrees of every Node have same height</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81549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AD0A-817E-FDC1-F0EE-B9E871DEB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D2CBA-F345-0A51-FEDC-CD36F56B7D59}"/>
              </a:ext>
            </a:extLst>
          </p:cNvPr>
          <p:cNvSpPr>
            <a:spLocks noGrp="1"/>
          </p:cNvSpPr>
          <p:nvPr>
            <p:ph type="title"/>
          </p:nvPr>
        </p:nvSpPr>
        <p:spPr/>
        <p:txBody>
          <a:bodyPr/>
          <a:lstStyle/>
          <a:p>
            <a:r>
              <a:rPr lang="en-US" dirty="0"/>
              <a:t>Idea 4: Both Subtrees of every Node have same height - Issue</a:t>
            </a:r>
          </a:p>
        </p:txBody>
      </p:sp>
      <p:sp>
        <p:nvSpPr>
          <p:cNvPr id="3" name="Content Placeholder 2">
            <a:extLst>
              <a:ext uri="{FF2B5EF4-FFF2-40B4-BE49-F238E27FC236}">
                <a16:creationId xmlns:a16="http://schemas.microsoft.com/office/drawing/2014/main" id="{70788CC2-E276-EE7B-E88E-198E8BCA14E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a:p>
            <a:endParaRPr lang="en-US" dirty="0"/>
          </a:p>
        </p:txBody>
      </p:sp>
    </p:spTree>
    <p:extLst>
      <p:ext uri="{BB962C8B-B14F-4D97-AF65-F5344CB8AC3E}">
        <p14:creationId xmlns:p14="http://schemas.microsoft.com/office/powerpoint/2010/main" val="4189971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296A-CD42-45E7-98AD-FD7A3DA1C0D1}"/>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824912D5-9A57-CAC1-DDCB-41C25F19FA31}"/>
              </a:ext>
            </a:extLst>
          </p:cNvPr>
          <p:cNvSpPr>
            <a:spLocks noGrp="1"/>
          </p:cNvSpPr>
          <p:nvPr>
            <p:ph idx="1"/>
          </p:nvPr>
        </p:nvSpPr>
        <p:spPr/>
        <p:txBody>
          <a:bodyPr/>
          <a:lstStyle/>
          <a:p>
            <a:r>
              <a:rPr lang="en-US" dirty="0"/>
              <a:t>A Binary Search tree that maintains that the left and right subtrees of every node have heights that differ by at most one.</a:t>
            </a:r>
          </a:p>
          <a:p>
            <a:pPr lvl="1"/>
            <a:r>
              <a:rPr lang="en-US" dirty="0"/>
              <a:t>height of left subtree and height of right subtree off by at most 1</a:t>
            </a:r>
          </a:p>
          <a:p>
            <a:pPr lvl="1"/>
            <a:r>
              <a:rPr lang="en-US" dirty="0"/>
              <a:t>Not too weak (ensures trees are short)</a:t>
            </a:r>
          </a:p>
          <a:p>
            <a:pPr lvl="1"/>
            <a:r>
              <a:rPr lang="en-US" dirty="0"/>
              <a:t>Not too strong (works for any number of nodes)</a:t>
            </a:r>
          </a:p>
          <a:p>
            <a:pPr lvl="1"/>
            <a:endParaRPr lang="en-US" dirty="0"/>
          </a:p>
          <a:p>
            <a:r>
              <a:rPr lang="en-US" dirty="0"/>
              <a:t>Idea of AVL Tree:</a:t>
            </a:r>
          </a:p>
          <a:p>
            <a:pPr lvl="1"/>
            <a:r>
              <a:rPr lang="en-US" dirty="0"/>
              <a:t>When you insert/delete nodes, if tree is “out of balance” then modify the tree</a:t>
            </a:r>
          </a:p>
          <a:p>
            <a:pPr lvl="1"/>
            <a:r>
              <a:rPr lang="en-US" dirty="0"/>
              <a:t>Modification = “rotation”</a:t>
            </a:r>
          </a:p>
        </p:txBody>
      </p:sp>
    </p:spTree>
    <p:extLst>
      <p:ext uri="{BB962C8B-B14F-4D97-AF65-F5344CB8AC3E}">
        <p14:creationId xmlns:p14="http://schemas.microsoft.com/office/powerpoint/2010/main" val="253067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472F6-F13B-0DF1-EAC1-489ECC3572B3}"/>
              </a:ext>
            </a:extLst>
          </p:cNvPr>
          <p:cNvSpPr>
            <a:spLocks noGrp="1"/>
          </p:cNvSpPr>
          <p:nvPr>
            <p:ph type="title"/>
          </p:nvPr>
        </p:nvSpPr>
        <p:spPr/>
        <p:txBody>
          <a:bodyPr/>
          <a:lstStyle/>
          <a:p>
            <a:r>
              <a:rPr lang="en-US" dirty="0"/>
              <a:t>Is it an AVL Tree?</a:t>
            </a:r>
          </a:p>
        </p:txBody>
      </p:sp>
      <p:grpSp>
        <p:nvGrpSpPr>
          <p:cNvPr id="44" name="Group 43"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
            <a:extLst>
              <a:ext uri="{FF2B5EF4-FFF2-40B4-BE49-F238E27FC236}">
                <a16:creationId xmlns:a16="http://schemas.microsoft.com/office/drawing/2014/main" id="{0FC08893-2388-742F-D45D-63DD3B061FF7}"/>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F1736A0D-A719-101D-1443-26D1F0A4D459}"/>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833BF0D4-1C80-D90C-A05A-3A1DC0B725C8}"/>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1DE79445-BB58-84F5-ADD5-DEC87E933CC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D5FBEDC7-4459-4241-74B9-C25B45F5E92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11E873FA-A193-775F-E517-22B6C7F8F07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F77CBDA4-D791-6573-555B-1C05112A5A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1B93B657-1689-96E9-3CD1-39A6AFDCF784}"/>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211FEF2B-4A3C-2857-705F-C27137816CCA}"/>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9BCE812-C3F3-290B-21D4-64D41E37BD24}"/>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F354A69-FB65-CE1F-143E-C254F58D4EE2}"/>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C702CCE-7CE3-ACF3-0CE2-488EA3CA4BF6}"/>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7960D4F3-55A0-29FD-9364-57498227423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391B0700-4838-780B-291A-426BCA38A292}"/>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3B7D1CCC-9844-B58D-10FD-DEACE3002297}"/>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4AEA43FC-AAEC-5D17-3A64-602B247A31FE}"/>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
            <a:extLst>
              <a:ext uri="{FF2B5EF4-FFF2-40B4-BE49-F238E27FC236}">
                <a16:creationId xmlns:a16="http://schemas.microsoft.com/office/drawing/2014/main" id="{859F6F06-42B4-2D4F-4E64-F28A916FCD8E}"/>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0E49278E-15F7-4ACF-73F5-AE4768B45266}"/>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C55DBE0B-4748-1E4C-9541-AD320B2A2AA4}"/>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D8F0EF91-F5F4-DD5D-FE6E-31B40A9AC1FE}"/>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B9C2789A-81AF-240E-7951-D8B035D4B1A6}"/>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C5F0A19E-6C85-B11B-1660-E214D2991E0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F7CC55A5-6AEC-196F-77B3-8C6CFB33D3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6F00F48B-D865-C5B3-BE04-5A5EA58F271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04AF09A6-3DB3-6DC5-9B08-35F67C09028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929D1CC-D926-457D-D10B-143825F02C4F}"/>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E919BDA-0900-6F51-8AE4-138A92B2654C}"/>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419E6C1-CA0E-F43A-CF76-1A0FD37DF99E}"/>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5C80C6C-CA87-0991-FE96-B02A5C8446BD}"/>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D336028-1575-EB9B-C2C5-E47D29C6B79E}"/>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7854C72C-2029-C4D8-4E58-32F76F1BC1A6}"/>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4FE95C4B-7A54-4A81-0651-1BC490B1BF99}"/>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FFE62612-5ADD-9CBC-FA67-EED45768DD9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547D72AF-E02B-2A3B-0F0F-92115EBC3ED7}"/>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descr="A binary tree. That is structured as follows:&#10;&#10;root: 9, with left child 3 and right child 10&#10;3: has no left child, right child is 6&#10;6: left child is 5, it has no right child&#10;5: has no children&#10;10: it has no left child, right child is 16&#10;16: has no children">
            <a:extLst>
              <a:ext uri="{FF2B5EF4-FFF2-40B4-BE49-F238E27FC236}">
                <a16:creationId xmlns:a16="http://schemas.microsoft.com/office/drawing/2014/main" id="{4A1538D4-DB3F-F0C7-08AA-E0235DA7DCDD}"/>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27CFB66F-9ED2-35C1-3299-FED15AFDAFC5}"/>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069196BE-31FA-F4A1-82AB-1BB164A23454}"/>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8F0470A7-2E15-6253-E0E8-9905C1C11D2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7FC6A5A0-3610-1B0B-2F52-E7E941F71673}"/>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3AF3B191-9F2E-0D59-5DDB-EAF05869733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58255D38-D5E3-5580-E8CC-03127A6E349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F4FDFEDC-199E-75E7-33CE-AAF0945EDC8C}"/>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CB3BF2C-BA27-2F51-24A8-F788881E359C}"/>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E7B233F-4AB5-0D44-1FA3-83ECC69D5BCE}"/>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B226864B-C381-4B00-2C1C-E4A9DB3B5B8B}"/>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24FCD201-2759-B496-3D9D-11D0A4042338}"/>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6D6B2586-DA4B-8D8C-1582-996ECC02AB3F}"/>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07DEFAD0-8D4C-290A-0CCF-552C0C5AE42B}"/>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3"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7FED6D48-5E24-DB75-D3E3-5C0CADE034A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26C65F57-BD07-C988-424F-1901022809A5}"/>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0172DECA-9CF4-C026-86F8-572305EFD80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37FF0475-5D75-CF0C-8136-97716851B36C}"/>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223AC4B6-DB7D-5890-6A64-477F6C6C77B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670C748E-BB84-63E7-3213-F881B3FCA27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5E897EFF-5936-9183-FECD-3B544ACA850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EA79B86E-3CF0-510F-C36F-A7094EAC53C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E9170083-3386-CC9C-2F47-3E3DFFB0936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6AADA609-CF5E-9A2D-FC7B-2E6E8FF30D5F}"/>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2B2485C-2006-6033-2BAB-D5B86A851849}"/>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043BCBC-FB82-358D-6CAC-1B72D1A66D2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D15677C-2B5C-0A79-A3E3-44466038678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1EA23F-2B79-BEC8-27A7-575927BA69A6}"/>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2B715D8A-7190-742D-28F2-786E284A0C79}"/>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FACD5366-1226-5B29-2497-C3943C29A7D2}"/>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CBF5B753-8D05-CE5A-92EE-C6616E12372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561E78EB-6045-B14F-AF7D-FA0D62FF505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880912B2-A430-F9D7-2FA2-998B5E70FC17}"/>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CEA98E0-23E4-F960-98AF-5A2FF311D2E1}"/>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2262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6D083-B54D-058B-9F1C-70C846514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E6A60-9EF8-CC19-2E6D-91930DA469AA}"/>
              </a:ext>
            </a:extLst>
          </p:cNvPr>
          <p:cNvSpPr>
            <a:spLocks noGrp="1"/>
          </p:cNvSpPr>
          <p:nvPr>
            <p:ph type="title"/>
          </p:nvPr>
        </p:nvSpPr>
        <p:spPr>
          <a:xfrm>
            <a:off x="34982" y="-153384"/>
            <a:ext cx="10515600" cy="1325563"/>
          </a:xfrm>
        </p:spPr>
        <p:txBody>
          <a:bodyPr>
            <a:normAutofit/>
          </a:bodyPr>
          <a:lstStyle/>
          <a:p>
            <a:r>
              <a:rPr lang="en-US" sz="4000" dirty="0"/>
              <a:t>Is it an AVL Tree? (Answers)</a:t>
            </a:r>
          </a:p>
        </p:txBody>
      </p:sp>
      <p:sp>
        <p:nvSpPr>
          <p:cNvPr id="61" name="TextBox 60">
            <a:extLst>
              <a:ext uri="{FF2B5EF4-FFF2-40B4-BE49-F238E27FC236}">
                <a16:creationId xmlns:a16="http://schemas.microsoft.com/office/drawing/2014/main" id="{9AABB28F-A9F5-FFDD-EEA4-696DD2BEBF19}"/>
              </a:ext>
            </a:extLst>
          </p:cNvPr>
          <p:cNvSpPr txBox="1"/>
          <p:nvPr/>
        </p:nvSpPr>
        <p:spPr>
          <a:xfrm>
            <a:off x="465206" y="1361806"/>
            <a:ext cx="2295485" cy="923330"/>
          </a:xfrm>
          <a:prstGeom prst="rect">
            <a:avLst/>
          </a:prstGeom>
          <a:noFill/>
          <a:ln w="28575">
            <a:solidFill>
              <a:schemeClr val="accent1"/>
            </a:solidFill>
          </a:ln>
        </p:spPr>
        <p:txBody>
          <a:bodyPr wrap="square" rtlCol="0">
            <a:spAutoFit/>
          </a:bodyPr>
          <a:lstStyle/>
          <a:p>
            <a:r>
              <a:rPr lang="en-US" b="1" dirty="0">
                <a:solidFill>
                  <a:schemeClr val="accent1">
                    <a:lumMod val="75000"/>
                  </a:schemeClr>
                </a:solidFill>
              </a:rPr>
              <a:t>“Problem” Node</a:t>
            </a:r>
          </a:p>
          <a:p>
            <a:r>
              <a:rPr lang="en-US" dirty="0">
                <a:solidFill>
                  <a:schemeClr val="accent1">
                    <a:lumMod val="75000"/>
                  </a:schemeClr>
                </a:solidFill>
              </a:rPr>
              <a:t>Its children’s heights differ by more than 1</a:t>
            </a:r>
          </a:p>
        </p:txBody>
      </p:sp>
      <p:cxnSp>
        <p:nvCxnSpPr>
          <p:cNvPr id="74" name="Straight Arrow Connector 73">
            <a:extLst>
              <a:ext uri="{FF2B5EF4-FFF2-40B4-BE49-F238E27FC236}">
                <a16:creationId xmlns:a16="http://schemas.microsoft.com/office/drawing/2014/main" id="{C8A47E61-B721-8511-73ED-8E0813B8DEA5}"/>
              </a:ext>
              <a:ext uri="{C183D7F6-B498-43B3-948B-1728B52AA6E4}">
                <adec:decorative xmlns:adec="http://schemas.microsoft.com/office/drawing/2017/decorative" val="1"/>
              </a:ext>
            </a:extLst>
          </p:cNvPr>
          <p:cNvCxnSpPr>
            <a:cxnSpLocks/>
            <a:stCxn id="61" idx="3"/>
            <a:endCxn id="51" idx="2"/>
          </p:cNvCxnSpPr>
          <p:nvPr/>
        </p:nvCxnSpPr>
        <p:spPr>
          <a:xfrm flipV="1">
            <a:off x="2760691" y="1082079"/>
            <a:ext cx="2615396" cy="741392"/>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408432B-8D1B-7363-AC02-381CA116EA99}"/>
              </a:ext>
              <a:ext uri="{C183D7F6-B498-43B3-948B-1728B52AA6E4}">
                <adec:decorative xmlns:adec="http://schemas.microsoft.com/office/drawing/2017/decorative" val="1"/>
              </a:ext>
            </a:extLst>
          </p:cNvPr>
          <p:cNvCxnSpPr>
            <a:cxnSpLocks/>
            <a:stCxn id="61" idx="2"/>
            <a:endCxn id="70" idx="0"/>
          </p:cNvCxnSpPr>
          <p:nvPr/>
        </p:nvCxnSpPr>
        <p:spPr>
          <a:xfrm flipH="1">
            <a:off x="1257135" y="2285136"/>
            <a:ext cx="355814" cy="1922937"/>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77" name="Group 76"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10;&#10;This is not a valid AVL tree because the left subtree of 9 has height 2 and the right subtree has height 0, making for a difference of more than 1. We say that the node 9 is a &quot;problem node&quot; because its subtrees are not balanced.">
            <a:extLst>
              <a:ext uri="{FF2B5EF4-FFF2-40B4-BE49-F238E27FC236}">
                <a16:creationId xmlns:a16="http://schemas.microsoft.com/office/drawing/2014/main" id="{FED2D6A2-6D4F-2427-2D93-D80FBA5E9294}"/>
              </a:ext>
            </a:extLst>
          </p:cNvPr>
          <p:cNvGrpSpPr/>
          <p:nvPr/>
        </p:nvGrpSpPr>
        <p:grpSpPr>
          <a:xfrm>
            <a:off x="3248333" y="534355"/>
            <a:ext cx="4769179" cy="3004269"/>
            <a:chOff x="3248333" y="534355"/>
            <a:chExt cx="4769179" cy="3004269"/>
          </a:xfrm>
        </p:grpSpPr>
        <p:grpSp>
          <p:nvGrpSpPr>
            <p:cNvPr id="44" name="Group 43">
              <a:extLst>
                <a:ext uri="{FF2B5EF4-FFF2-40B4-BE49-F238E27FC236}">
                  <a16:creationId xmlns:a16="http://schemas.microsoft.com/office/drawing/2014/main" id="{39D27363-3D3C-32E8-696C-D2785DDA379D}"/>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E5555162-28A9-AEBD-F2C3-CB4BD139B201}"/>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AB970A81-5546-979C-F061-1A50AE1829A7}"/>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B44B982F-910E-BEBA-EC5B-FAFC556DFDB2}"/>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2380CA75-AD77-6683-0BC9-7F2C016D5F1C}"/>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D3042753-F7E9-F5C5-75B9-E6367053EB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12E8D3CB-288A-18A3-75C2-1C1C4362383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938691F0-1B46-0C00-5685-07E6648962A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64164C29-FB40-6241-EEAF-BA4155007881}"/>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87862A3-31B7-516B-409B-6EEE9DC334CF}"/>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66F22DD-94ED-62FA-419D-6A3704EF46F4}"/>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E899DEC-198A-EFA6-4A26-83BA99D8F0A1}"/>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00F6329C-0CCA-027A-A5C6-EF2ACB33F89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20DC127A-1C6F-762E-EB07-B117220FFFE9}"/>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E76EDC3A-9FC7-1881-08F2-3E94ACE57A45}"/>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C121F7C5-006C-BD0F-6B92-F4FF84805015}"/>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54C17867-3513-85D5-D22A-6E9F2CD5ABBE}"/>
                </a:ext>
              </a:extLst>
            </p:cNvPr>
            <p:cNvSpPr txBox="1"/>
            <p:nvPr/>
          </p:nvSpPr>
          <p:spPr>
            <a:xfrm>
              <a:off x="6059925" y="534355"/>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78" name="Group 77"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1E37061A-60C7-4701-9834-2A4004175503}"/>
              </a:ext>
            </a:extLst>
          </p:cNvPr>
          <p:cNvGrpSpPr/>
          <p:nvPr/>
        </p:nvGrpSpPr>
        <p:grpSpPr>
          <a:xfrm>
            <a:off x="7614255" y="194375"/>
            <a:ext cx="4075955" cy="2807290"/>
            <a:chOff x="7614255" y="194375"/>
            <a:chExt cx="4075955" cy="2807290"/>
          </a:xfrm>
        </p:grpSpPr>
        <p:grpSp>
          <p:nvGrpSpPr>
            <p:cNvPr id="24" name="Group 23">
              <a:extLst>
                <a:ext uri="{FF2B5EF4-FFF2-40B4-BE49-F238E27FC236}">
                  <a16:creationId xmlns:a16="http://schemas.microsoft.com/office/drawing/2014/main" id="{6BA6A0AB-BF20-925F-794F-2D27E92D60A3}"/>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6786FF62-F6D6-4AB0-63B1-19DE33ED1E87}"/>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56F58DAB-C197-6360-7792-F578DFA7E536}"/>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69115BD3-5BCE-B86B-CEDE-A190E067D47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9E149999-AFCF-543E-455B-570A6FC2658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6AE5E0AD-CF4B-75E9-8C7A-1159214213B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2356BE8D-1484-5304-6C54-3B0276AF574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E3A28B2C-E186-AFBC-3022-1095BFF9005F}"/>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F91423AC-490C-ED5F-6778-5EF4A3D8BEF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0C38827-1B3A-AD9B-2266-17B3171DE310}"/>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C2D549-98FB-09D6-AE7F-6AA96FB9BD42}"/>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87537CA-491A-AE5D-6C08-132A9DA4621D}"/>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2F2FC09-4878-915E-1827-D0EC57964BEC}"/>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0D29E7C-C59F-7989-CAFB-CA149089DC40}"/>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01B77C09-C96B-745A-4F9F-9816478FEE70}"/>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1B79A0CC-58EA-461C-94F0-2324BAEC3BC1}"/>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0ACDDAB4-B0E8-E567-6D19-E26A38AA55B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A77FC101-7DC5-436B-E430-9BF018FEA965}"/>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0ABD1AC7-858A-D0A4-7B32-D9B1FB0CBE70}"/>
                </a:ext>
              </a:extLst>
            </p:cNvPr>
            <p:cNvSpPr txBox="1"/>
            <p:nvPr/>
          </p:nvSpPr>
          <p:spPr>
            <a:xfrm>
              <a:off x="10264820" y="2540000"/>
              <a:ext cx="1425390" cy="461665"/>
            </a:xfrm>
            <a:prstGeom prst="rect">
              <a:avLst/>
            </a:prstGeom>
            <a:noFill/>
          </p:spPr>
          <p:txBody>
            <a:bodyPr wrap="none" rtlCol="0">
              <a:spAutoFit/>
            </a:bodyPr>
            <a:lstStyle/>
            <a:p>
              <a:r>
                <a:rPr lang="en-US" sz="2400" dirty="0">
                  <a:solidFill>
                    <a:srgbClr val="FF0000"/>
                  </a:solidFill>
                </a:rPr>
                <a:t>Balanced!</a:t>
              </a:r>
            </a:p>
          </p:txBody>
        </p:sp>
      </p:grpSp>
      <p:grpSp>
        <p:nvGrpSpPr>
          <p:cNvPr id="72" name="Group 71" descr="A binary tree. That is structured as follows:&#10;&#10;root: 9, with left child 3 and right child 10&#10;3: has no left child, right child is 6&#10;6: left child is 5, it has no right child&#10;5: has no children&#10;10: it has no left child, right child is 16&#10;16: has no children&#10;&#10;This is not a valid AVL tree because the left subtree of 3 has height -1 and the right subtree has height 1, making for a difference of more than 1. We say that the node 3 is a &quot;problem node&quot; because its subtrees are not balanced.">
            <a:extLst>
              <a:ext uri="{FF2B5EF4-FFF2-40B4-BE49-F238E27FC236}">
                <a16:creationId xmlns:a16="http://schemas.microsoft.com/office/drawing/2014/main" id="{BB617E96-D7D3-4146-AAE2-E8FDC5F5BFC1}"/>
              </a:ext>
            </a:extLst>
          </p:cNvPr>
          <p:cNvGrpSpPr/>
          <p:nvPr/>
        </p:nvGrpSpPr>
        <p:grpSpPr>
          <a:xfrm>
            <a:off x="950879" y="3544785"/>
            <a:ext cx="2948081" cy="2795040"/>
            <a:chOff x="950879" y="3544785"/>
            <a:chExt cx="2948081" cy="2795040"/>
          </a:xfrm>
        </p:grpSpPr>
        <p:grpSp>
          <p:nvGrpSpPr>
            <p:cNvPr id="62" name="Group 61">
              <a:extLst>
                <a:ext uri="{FF2B5EF4-FFF2-40B4-BE49-F238E27FC236}">
                  <a16:creationId xmlns:a16="http://schemas.microsoft.com/office/drawing/2014/main" id="{BC7A89FB-08E8-642E-B3EF-9AC6FE527A42}"/>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A56BC58F-7B20-46E4-E4A9-389677C91272}"/>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FD895E71-8E91-0BD6-98EC-AC78CC386D60}"/>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497ED62B-A82D-0F21-7D3A-41097C01E50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FC9EA922-3ADA-822B-7B90-74B530637BFF}"/>
                      </a:ext>
                    </a:extLst>
                  </p:cNvPr>
                  <p:cNvSpPr/>
                  <p:nvPr/>
                </p:nvSpPr>
                <p:spPr>
                  <a:xfrm>
                    <a:off x="1556072" y="3043035"/>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2B9142CE-593B-1D9A-915D-AB273E67B10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C98E5B71-1C38-F289-235A-C1F00BB825D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26275589-EE23-A1B9-6728-6A2973866D68}"/>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E202C90-7DF1-73FA-B13B-1C3139CC6CE7}"/>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B9A0D4A-668D-0DDF-D8F3-E922BA9AA868}"/>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F5C51FAB-C430-D174-7366-A52A4AD366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F336F9DD-D10A-0DF8-9F2F-FAFE89DBF406}"/>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C91A308E-3459-0E58-45D3-7B81CC98A08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4B23422E-BC3B-EFAA-861F-264672211BB1}"/>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TextBox 54">
              <a:extLst>
                <a:ext uri="{FF2B5EF4-FFF2-40B4-BE49-F238E27FC236}">
                  <a16:creationId xmlns:a16="http://schemas.microsoft.com/office/drawing/2014/main" id="{06C6E91A-33C1-8B28-B015-5FF36CEE5C4E}"/>
                </a:ext>
              </a:extLst>
            </p:cNvPr>
            <p:cNvSpPr txBox="1"/>
            <p:nvPr/>
          </p:nvSpPr>
          <p:spPr>
            <a:xfrm>
              <a:off x="1941373" y="5878160"/>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81" name="Group 80"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86A5A351-876F-BBB0-E7DD-06899F856BE1}"/>
              </a:ext>
            </a:extLst>
          </p:cNvPr>
          <p:cNvGrpSpPr/>
          <p:nvPr/>
        </p:nvGrpSpPr>
        <p:grpSpPr>
          <a:xfrm>
            <a:off x="6506103" y="3683299"/>
            <a:ext cx="5244950" cy="2762801"/>
            <a:chOff x="6506103" y="3683299"/>
            <a:chExt cx="5244950" cy="2762801"/>
          </a:xfrm>
        </p:grpSpPr>
        <p:grpSp>
          <p:nvGrpSpPr>
            <p:cNvPr id="4" name="Group 3">
              <a:extLst>
                <a:ext uri="{FF2B5EF4-FFF2-40B4-BE49-F238E27FC236}">
                  <a16:creationId xmlns:a16="http://schemas.microsoft.com/office/drawing/2014/main" id="{1D5F1A1C-6D12-F9F9-D102-FFD87530773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5D1AE03F-B8F4-7F6C-458C-E3089094B6D9}"/>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4D0B1ED-72F2-7609-EECA-37564A256AE0}"/>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4FC26629-D4A4-4877-2A29-7D449684BB3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8A9CAA12-C15D-5899-FEDE-5C4E04EF67D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D3D70EA-D73F-D234-0A96-3521EC78E73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2BF51135-79A2-6B7B-3EA4-6498001487E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838633B-0DE2-4529-9896-F83D31001AD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BCD958B8-43D7-AEE6-DC88-F7D944231450}"/>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45CAB59-CED0-40B4-472F-9046412F836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98A97B2-948F-2889-BA7D-8D456704AF00}"/>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5651DC2-88DA-C223-3269-422F3F18E96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0EA64C-3F5E-953A-66B7-63F68B44599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883F182-A26D-9CCB-424D-0BFDC522939D}"/>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BFD85F-7F13-DB15-EC9F-B23C23365B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96385CDC-5210-4D68-5162-A76E8976B400}"/>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615A614E-2567-2846-785D-40BA47A0CD8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AF65CF4E-37B9-80A6-B703-BD24F64EE94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239BE171-0FA5-B93B-B646-5380FDCEFF1D}"/>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8035554-CB41-12BC-01C7-0EF1B51BF66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B690DE21-C1A0-22E0-07FF-9216DF18BE03}"/>
                </a:ext>
              </a:extLst>
            </p:cNvPr>
            <p:cNvSpPr txBox="1"/>
            <p:nvPr/>
          </p:nvSpPr>
          <p:spPr>
            <a:xfrm>
              <a:off x="10325663" y="5840626"/>
              <a:ext cx="1425390" cy="461665"/>
            </a:xfrm>
            <a:prstGeom prst="rect">
              <a:avLst/>
            </a:prstGeom>
            <a:noFill/>
          </p:spPr>
          <p:txBody>
            <a:bodyPr wrap="none" rtlCol="0">
              <a:spAutoFit/>
            </a:bodyPr>
            <a:lstStyle/>
            <a:p>
              <a:r>
                <a:rPr lang="en-US" sz="2400" dirty="0">
                  <a:solidFill>
                    <a:srgbClr val="FF0000"/>
                  </a:solidFill>
                </a:rPr>
                <a:t>Balanced!</a:t>
              </a:r>
            </a:p>
          </p:txBody>
        </p:sp>
      </p:grpSp>
    </p:spTree>
    <p:extLst>
      <p:ext uri="{BB962C8B-B14F-4D97-AF65-F5344CB8AC3E}">
        <p14:creationId xmlns:p14="http://schemas.microsoft.com/office/powerpoint/2010/main" val="1698807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8412</TotalTime>
  <Words>2234</Words>
  <Application>Microsoft Office PowerPoint</Application>
  <PresentationFormat>Widescreen</PresentationFormat>
  <Paragraphs>529</Paragraphs>
  <Slides>33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Aptos</vt:lpstr>
      <vt:lpstr>Aptos Display</vt:lpstr>
      <vt:lpstr>Arial</vt:lpstr>
      <vt:lpstr>Calibri</vt:lpstr>
      <vt:lpstr>Calibri Light</vt:lpstr>
      <vt:lpstr>Cambria Math</vt:lpstr>
      <vt:lpstr>Office Theme</vt:lpstr>
      <vt:lpstr>1_Office Theme</vt:lpstr>
      <vt:lpstr>CSE 332 Spring 2026 Lecture 7: Dictionaries, BSTs</vt:lpstr>
      <vt:lpstr>Dictionary (Map) ADT</vt:lpstr>
      <vt:lpstr>Naïve attempts</vt:lpstr>
      <vt:lpstr>More Tree “Vocab”</vt:lpstr>
      <vt:lpstr>Name that Traversal!</vt:lpstr>
      <vt:lpstr>Name that Traversal! (Answers)</vt:lpstr>
      <vt:lpstr>Binary Search Tree</vt:lpstr>
      <vt:lpstr>Are these BSTs?</vt:lpstr>
      <vt:lpstr>Are these BSTs? (Answers)</vt:lpstr>
      <vt:lpstr>Aside: Why not use an array?</vt:lpstr>
      <vt:lpstr>Find Operation (recursive)</vt:lpstr>
      <vt:lpstr>Find Operation (iterative)</vt:lpstr>
      <vt:lpstr>Insert Operation (recursive)</vt:lpstr>
      <vt:lpstr>Insert Operation (iterative)</vt:lpstr>
      <vt:lpstr>Delete Operation (iterative, incomplete)</vt:lpstr>
      <vt:lpstr>Delete – 3 Cases</vt:lpstr>
      <vt:lpstr>Finding the Max and Min</vt:lpstr>
      <vt:lpstr>Delete Operation (iterative)</vt:lpstr>
      <vt:lpstr>Delete Operation (recursive)</vt:lpstr>
      <vt:lpstr>Worst Case Analysis</vt:lpstr>
      <vt:lpstr>Improving the worst case</vt:lpstr>
      <vt:lpstr>“Balanced” Binary Search Trees</vt:lpstr>
      <vt:lpstr>Idea 1: Both Subtrees of Root have same # Nodes</vt:lpstr>
      <vt:lpstr>Idea 1: Both Subtrees of Root have same # Nodes - Issue</vt:lpstr>
      <vt:lpstr>Idea 2: Both Subtrees of Root have same height</vt:lpstr>
      <vt:lpstr>Idea 2: Both Subtrees of Root have same height - Issue</vt:lpstr>
      <vt:lpstr>Idea 3: Both Subtrees of every Node have same # Nodes</vt:lpstr>
      <vt:lpstr>Idea 3: Both Subtrees of every Node have same # Nodes - Issue</vt:lpstr>
      <vt:lpstr>Idea 4: Both Subtrees of every Node have same height</vt:lpstr>
      <vt:lpstr>Idea 4: Both Subtrees of every Node have same height - Issue</vt:lpstr>
      <vt:lpstr>AVL Tree</vt:lpstr>
      <vt:lpstr>Is it an AVL Tree?</vt:lpstr>
      <vt:lpstr>Is it an AVL Tree?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Brunelle, Nathan J (njb2b)</dc:creator>
  <cp:lastModifiedBy>Nathan Brunelle</cp:lastModifiedBy>
  <cp:revision>59</cp:revision>
  <dcterms:created xsi:type="dcterms:W3CDTF">2024-06-26T12:44:42Z</dcterms:created>
  <dcterms:modified xsi:type="dcterms:W3CDTF">2026-04-13T18:27:59Z</dcterms:modified>
</cp:coreProperties>
</file>