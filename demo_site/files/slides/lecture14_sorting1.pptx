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256" r:id="rId2"/>
    <p:sldId id="373" r:id="rId3"/>
    <p:sldId id="375" r:id="rId4"/>
    <p:sldId id="374" r:id="rId5"/>
    <p:sldId id="366" r:id="rId6"/>
    <p:sldId id="544" r:id="rId7"/>
    <p:sldId id="369" r:id="rId8"/>
    <p:sldId id="376" r:id="rId9"/>
    <p:sldId id="377" r:id="rId10"/>
    <p:sldId id="379" r:id="rId11"/>
    <p:sldId id="380" r:id="rId12"/>
    <p:sldId id="381" r:id="rId13"/>
    <p:sldId id="500" r:id="rId14"/>
    <p:sldId id="503" r:id="rId15"/>
    <p:sldId id="543" r:id="rId16"/>
    <p:sldId id="504" r:id="rId17"/>
    <p:sldId id="506" r:id="rId18"/>
    <p:sldId id="507" r:id="rId19"/>
    <p:sldId id="518" r:id="rId20"/>
    <p:sldId id="519" r:id="rId21"/>
    <p:sldId id="520" r:id="rId22"/>
    <p:sldId id="521" r:id="rId23"/>
    <p:sldId id="522" r:id="rId24"/>
    <p:sldId id="523" r:id="rId25"/>
    <p:sldId id="524" r:id="rId26"/>
    <p:sldId id="525" r:id="rId27"/>
    <p:sldId id="527" r:id="rId28"/>
    <p:sldId id="528" r:id="rId29"/>
    <p:sldId id="529" r:id="rId30"/>
    <p:sldId id="530" r:id="rId31"/>
    <p:sldId id="526" r:id="rId32"/>
    <p:sldId id="444" r:id="rId33"/>
    <p:sldId id="535" r:id="rId34"/>
    <p:sldId id="368" r:id="rId35"/>
    <p:sldId id="360" r:id="rId36"/>
    <p:sldId id="536" r:id="rId37"/>
    <p:sldId id="537" r:id="rId38"/>
    <p:sldId id="538" r:id="rId39"/>
    <p:sldId id="386" r:id="rId40"/>
    <p:sldId id="539" r:id="rId41"/>
    <p:sldId id="384" r:id="rId42"/>
    <p:sldId id="385" r:id="rId43"/>
    <p:sldId id="540" r:id="rId44"/>
    <p:sldId id="421" r:id="rId45"/>
    <p:sldId id="422" r:id="rId46"/>
    <p:sldId id="423" r:id="rId47"/>
    <p:sldId id="424" r:id="rId48"/>
    <p:sldId id="425" r:id="rId49"/>
    <p:sldId id="426" r:id="rId50"/>
    <p:sldId id="427" r:id="rId51"/>
    <p:sldId id="428" r:id="rId52"/>
    <p:sldId id="429" r:id="rId53"/>
    <p:sldId id="430" r:id="rId54"/>
    <p:sldId id="431" r:id="rId55"/>
    <p:sldId id="432" r:id="rId56"/>
    <p:sldId id="433" r:id="rId57"/>
    <p:sldId id="446" r:id="rId58"/>
    <p:sldId id="541" r:id="rId59"/>
    <p:sldId id="542" r:id="rId60"/>
  </p:sldIdLst>
  <p:sldSz cx="12192000" cy="6858000"/>
  <p:notesSz cx="6858000" cy="9144000"/>
  <p:embeddedFontLst>
    <p:embeddedFont>
      <p:font typeface="Cambria Math" panose="02040503050406030204" pitchFamily="18" charset="0"/>
      <p:regular r:id="rId63"/>
    </p:embeddedFont>
    <p:embeddedFont>
      <p:font typeface="Consolas" panose="020B0609020204030204" pitchFamily="49" charset="0"/>
      <p:regular r:id="rId64"/>
      <p:bold r:id="rId65"/>
      <p:italic r:id="rId66"/>
      <p:boldItalic r:id="rId6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4601" autoAdjust="0"/>
  </p:normalViewPr>
  <p:slideViewPr>
    <p:cSldViewPr snapToGrid="0">
      <p:cViewPr>
        <p:scale>
          <a:sx n="60" d="100"/>
          <a:sy n="60" d="100"/>
        </p:scale>
        <p:origin x="80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4.fntdata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EF960D-66C1-ABA0-D3DE-1DEABCB0C2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01823-F715-AF68-6577-EBFD66D892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43542-CF0C-48D3-A91E-34CCD96FC74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5E006-DFCE-D704-C827-FE0B884DE9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F989F-B2F9-4E4D-C4FD-A5DF82B44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6CC33-4824-4BB3-8904-E821E71A7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95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710.png"/><Relationship Id="rId7" Type="http://schemas.openxmlformats.org/officeDocument/2006/relationships/image" Target="../media/image120.png"/><Relationship Id="rId12" Type="http://schemas.openxmlformats.org/officeDocument/2006/relationships/image" Target="../media/image20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90.png"/><Relationship Id="rId5" Type="http://schemas.openxmlformats.org/officeDocument/2006/relationships/image" Target="../media/image90.png"/><Relationship Id="rId10" Type="http://schemas.openxmlformats.org/officeDocument/2006/relationships/image" Target="../media/image180.png"/><Relationship Id="rId4" Type="http://schemas.openxmlformats.org/officeDocument/2006/relationships/image" Target="../media/image86.png"/><Relationship Id="rId9" Type="http://schemas.openxmlformats.org/officeDocument/2006/relationships/image" Target="../media/image1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41.png"/><Relationship Id="rId3" Type="http://schemas.openxmlformats.org/officeDocument/2006/relationships/image" Target="../media/image261.png"/><Relationship Id="rId21" Type="http://schemas.openxmlformats.org/officeDocument/2006/relationships/image" Target="../media/image44.png"/><Relationship Id="rId7" Type="http://schemas.openxmlformats.org/officeDocument/2006/relationships/image" Target="../media/image300.png"/><Relationship Id="rId12" Type="http://schemas.openxmlformats.org/officeDocument/2006/relationships/image" Target="../media/image35.png"/><Relationship Id="rId17" Type="http://schemas.openxmlformats.org/officeDocument/2006/relationships/image" Target="../media/image400.png"/><Relationship Id="rId2" Type="http://schemas.openxmlformats.org/officeDocument/2006/relationships/image" Target="../media/image200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0.png"/><Relationship Id="rId11" Type="http://schemas.openxmlformats.org/officeDocument/2006/relationships/image" Target="../media/image34.png"/><Relationship Id="rId5" Type="http://schemas.openxmlformats.org/officeDocument/2006/relationships/image" Target="../media/image280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10" Type="http://schemas.openxmlformats.org/officeDocument/2006/relationships/image" Target="../media/image330.png"/><Relationship Id="rId19" Type="http://schemas.openxmlformats.org/officeDocument/2006/relationships/image" Target="../media/image42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12: Sorting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Option 1 (harder)</a:t>
            </a:r>
            <a:r>
              <a:rPr lang="en-US" dirty="0"/>
              <a:t>: Plug the hole with other items in a way that makes probes behave correctly</a:t>
            </a:r>
          </a:p>
          <a:p>
            <a:r>
              <a:rPr lang="en-US" b="1" dirty="0"/>
              <a:t>Option 2 (easier)</a:t>
            </a:r>
            <a:r>
              <a:rPr lang="en-US" dirty="0"/>
              <a:t>: “Tombstone” deletion. Leave a special object that indicates an something was deleted from there</a:t>
            </a:r>
          </a:p>
          <a:p>
            <a:pPr lvl="1"/>
            <a:r>
              <a:rPr lang="en-US" dirty="0"/>
              <a:t>The tombstone does not act as an open space when finding (so keep looking after its reached)</a:t>
            </a:r>
          </a:p>
          <a:p>
            <a:pPr lvl="1"/>
            <a:r>
              <a:rPr lang="en-US" dirty="0"/>
              <a:t>When inserting you can replace a tombstone with a new item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398797-8895-3723-4DFA-5FD577DC625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94E3EBE-92D3-3CBC-4097-E854D2FB517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9F9CF4CB-A27A-964D-A636-9F4C5BAF32BE}"/>
                      </a:ext>
                    </a:extLst>
                  </p:cNvPr>
                  <p:cNvSpPr/>
                  <p:nvPr/>
                </p:nvSpPr>
                <p:spPr>
                  <a:xfrm>
                    <a:off x="2252980" y="5083048"/>
                    <a:ext cx="640080" cy="64008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9F9CF4CB-A27A-964D-A636-9F4C5BAF32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52980" y="5083048"/>
                    <a:ext cx="640080" cy="64008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68045C-4DD0-521D-E388-E155A93DAFF1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CBD1F50D-0106-BB33-E7B4-DF9459A8ED27}"/>
                      </a:ext>
                    </a:extLst>
                  </p:cNvPr>
                  <p:cNvSpPr/>
                  <p:nvPr/>
                </p:nvSpPr>
                <p:spPr>
                  <a:xfrm>
                    <a:off x="3533140" y="5083048"/>
                    <a:ext cx="640080" cy="64008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CBD1F50D-0106-BB33-E7B4-DF9459A8ED2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3140" y="5083048"/>
                    <a:ext cx="640080" cy="64008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F68DA8B2-9D14-9376-BA10-6072DC3F7AAE}"/>
                      </a:ext>
                    </a:extLst>
                  </p:cNvPr>
                  <p:cNvSpPr/>
                  <p:nvPr/>
                </p:nvSpPr>
                <p:spPr>
                  <a:xfrm>
                    <a:off x="4173220" y="5083048"/>
                    <a:ext cx="640080" cy="64008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F68DA8B2-9D14-9376-BA10-6072DC3F7AA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3220" y="5083048"/>
                    <a:ext cx="640080" cy="64008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872695B-70F4-3DA6-F9C7-C39AA3021A9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7C73464A-B923-7D8A-08E9-FA6362BB975F}"/>
                      </a:ext>
                    </a:extLst>
                  </p:cNvPr>
                  <p:cNvSpPr/>
                  <p:nvPr/>
                </p:nvSpPr>
                <p:spPr>
                  <a:xfrm>
                    <a:off x="5453380" y="5083048"/>
                    <a:ext cx="640080" cy="64008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7C73464A-B923-7D8A-08E9-FA6362BB975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53380" y="5083048"/>
                    <a:ext cx="640080" cy="64008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2B62BA5-C7A9-1093-C1C5-92B30048EF21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7E8C7D0-301F-810C-81D7-8032D43CCED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EF34426-81D0-A00D-F869-CE2CC1F69DD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7B13CF2-FF93-8502-9E02-8932AAC3B628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CD7BD24-78C4-485A-B642-694347CAF79F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E07A55D-FD55-65C4-B762-EE475FB813D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2B816F0-1D87-DCEE-EE23-73BA3F93C0D0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472B5DE-98C0-ED41-C1C2-5402072D17EC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1DF7F5A-E96D-9469-1E44-2B9982B5F417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4290CC6-A7C4-513F-0046-64C15C576672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AAFCECB-C9D4-B0F1-13A6-E6A0B9F5E5FC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6966F40-4191-1551-B59D-C33E64E92ED2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B32752-91AD-18C5-0ABD-530E78C6EAE1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950CBD8-72AD-EB1F-CF08-19E9158FCF57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2A5AD5E-A38F-FFBF-1612-402BB356C254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p:pic>
        <p:nvPicPr>
          <p:cNvPr id="1026" name="Picture 2" descr="Tombstone Graphic by Lowkey21 · Creative Fabrica">
            <a:extLst>
              <a:ext uri="{FF2B5EF4-FFF2-40B4-BE49-F238E27FC236}">
                <a16:creationId xmlns:a16="http://schemas.microsoft.com/office/drawing/2014/main" id="{4D539D6B-C7E5-D7DC-674F-BD419E4829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82" t="13451" r="15903" b="12240"/>
          <a:stretch/>
        </p:blipFill>
        <p:spPr bwMode="auto">
          <a:xfrm>
            <a:off x="5515827" y="5640183"/>
            <a:ext cx="510106" cy="380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0782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 + Tombstone: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find key </a:t>
            </a:r>
            <a:r>
              <a:rPr lang="en-US" dirty="0">
                <a:latin typeface="Consolas" panose="020B0609020204030204" pitchFamily="49" charset="0"/>
              </a:rPr>
              <a:t>k</a:t>
            </a: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While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key other than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you come across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 return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r>
              <a:rPr lang="en-US" dirty="0"/>
              <a:t>If you come across an empty index, the find was unsuccessful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6BC9F7-99BA-B7BC-1AD2-84242D56EDF4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12EC1DB-D4A6-6B7B-7C6F-C60875C4B880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F0BD263-8B0C-EE09-006A-586758C0344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BCB131B-1A39-0FB0-EC28-AB2DC7165455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0065800-76F9-7D0C-E5B6-87020D3297B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A775EEE-4045-A0E9-526E-AC2E4A2B220F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8B9BA47-C1A1-480B-FBD9-0B5D0C3FEC27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B61FD45-4837-E870-55ED-6756EC2B5361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EA9484-5BD7-74CD-F516-9CC8D067DE6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F251C79-01BF-5C06-7487-02E695D99A4F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67AFA12-FBBE-9F99-7B1A-AE3BB7D429F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A245A2F-6564-4891-A90C-E3E2BF04E12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AE4A53B-9B6C-7B8D-8E87-A270ED0D10A3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BBD0B4C-F158-E738-E58A-1DA6795238D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E8BF469-3A2B-FC51-C4A4-253D9013DAF7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AC31F3-54B7-B947-0217-17FC0260417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6818FCD-6E83-A9BD-EAA4-3AAD7B03036B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B224D1-EB59-30C6-540B-8994D7663CDC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63F476A-B374-374B-789B-67414FC2A447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23329E1-825C-BBDB-1055-328D27B7B737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09B7E04-AA65-9DC6-22AD-B63B7FA8D35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17D356-8CC5-C0AF-2880-5EE8F66A33EB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BF3FBC-BB62-99F8-8361-7ECF47FBB82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6590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 + Tombstone: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While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key other than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2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tombstone, set </a:t>
            </a:r>
            <a:r>
              <a:rPr lang="en-US" dirty="0">
                <a:latin typeface="Consolas" panose="020B0609020204030204" pitchFamily="49" charset="0"/>
              </a:rPr>
              <a:t>x =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endParaRPr lang="en-US" b="0" dirty="0">
              <a:latin typeface="Consolas" panose="020B0609020204030204" pitchFamily="49" charset="0"/>
            </a:endParaRPr>
          </a:p>
          <a:p>
            <a:pPr lvl="3"/>
            <a:r>
              <a:rPr lang="en-US" dirty="0"/>
              <a:t>That is where we will insert if the find is unsuccessful</a:t>
            </a:r>
          </a:p>
          <a:p>
            <a:pPr lvl="1"/>
            <a:r>
              <a:rPr lang="en-US" dirty="0"/>
              <a:t>If you come across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you come across an empty index, the find was unsuccessful</a:t>
            </a:r>
          </a:p>
          <a:p>
            <a:pPr lvl="2"/>
            <a:r>
              <a:rPr lang="en-US" dirty="0"/>
              <a:t>Set </a:t>
            </a:r>
            <a:r>
              <a:rPr lang="en-US" dirty="0">
                <a:latin typeface="Consolas" panose="020B0609020204030204" pitchFamily="49" charset="0"/>
              </a:rPr>
              <a:t>table[x]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r>
              <a:rPr lang="en-US" dirty="0"/>
              <a:t> if we saw a tombstone</a:t>
            </a:r>
          </a:p>
          <a:p>
            <a:pPr lvl="2"/>
            <a:r>
              <a:rPr lang="en-US" dirty="0"/>
              <a:t>Set </a:t>
            </a:r>
            <a:r>
              <a:rPr lang="en-US" dirty="0">
                <a:latin typeface="Consolas" panose="020B0609020204030204" pitchFamily="49" charset="0"/>
              </a:rPr>
              <a:t>table[x]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r>
              <a:rPr lang="en-US" dirty="0"/>
              <a:t> otherwise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DDDD4-8D2E-F314-F507-8FA0016B4B5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F9000BC-81DC-CE44-03EB-CDF8D357E51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DF3124B-193F-D905-24FE-C943F42B8A33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98A0B8-7969-41D6-DAFF-DB99A0ED3CF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979AC-43BC-32F9-927F-21D434B1657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3FB1665-49F1-41F3-8E29-06DAC51EBB0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73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BF2-63C9-8594-E37F-13EE9BA0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Downsides of 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D9F20-503B-1CC5-FAAD-15F079F00C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happens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approaches 1?</a:t>
                </a:r>
              </a:p>
              <a:p>
                <a:pPr lvl="1"/>
                <a:r>
                  <a:rPr lang="en-US" dirty="0"/>
                  <a:t>Get longer and longer contiguous blocks</a:t>
                </a:r>
              </a:p>
              <a:p>
                <a:pPr lvl="1"/>
                <a:r>
                  <a:rPr lang="en-US" dirty="0"/>
                  <a:t>A collision is guaranteed to grow a block</a:t>
                </a:r>
              </a:p>
              <a:p>
                <a:pPr lvl="2"/>
                <a:r>
                  <a:rPr lang="en-US" dirty="0"/>
                  <a:t>Larger blocks experience more collisions</a:t>
                </a:r>
              </a:p>
              <a:p>
                <a:pPr lvl="2"/>
                <a:r>
                  <a:rPr lang="en-US" dirty="0"/>
                  <a:t>Feedback loop!</a:t>
                </a:r>
              </a:p>
              <a:p>
                <a:r>
                  <a:rPr lang="en-US" dirty="0"/>
                  <a:t>What happens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exceeds 1?</a:t>
                </a:r>
              </a:p>
              <a:p>
                <a:pPr lvl="1"/>
                <a:r>
                  <a:rPr lang="en-US" dirty="0"/>
                  <a:t>Impossible!</a:t>
                </a:r>
              </a:p>
              <a:p>
                <a:pPr lvl="1"/>
                <a:r>
                  <a:rPr lang="en-US" dirty="0"/>
                  <a:t>You can’t insert more stuff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D9F20-503B-1CC5-FAAD-15F079F00C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6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Probing: Insert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EF850-0680-6520-62A9-DA71336F1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insert </a:t>
                </a:r>
                <a:r>
                  <a:rPr lang="en-US" dirty="0" err="1">
                    <a:latin typeface="Consolas" panose="020B0609020204030204" pitchFamily="49" charset="0"/>
                  </a:rPr>
                  <a:t>k,v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Calculate 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 = h(k)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If </a:t>
                </a:r>
                <a:r>
                  <a:rPr lang="en-US" dirty="0">
                    <a:latin typeface="Consolas" panose="020B0609020204030204" pitchFamily="49" charset="0"/>
                  </a:rPr>
                  <a:t>table[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]</a:t>
                </a:r>
                <a:r>
                  <a:rPr lang="en-US" dirty="0"/>
                  <a:t> is occupied then try 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b="0" dirty="0"/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EF850-0680-6520-62A9-DA71336F1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DDDD4-8D2E-F314-F507-8FA0016B4B5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F9000BC-81DC-CE44-03EB-CDF8D357E51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DF3124B-193F-D905-24FE-C943F42B8A33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98A0B8-7969-41D6-DAFF-DB99A0ED3CF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979AC-43BC-32F9-927F-21D434B1657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3FB1665-49F1-41F3-8E29-06DAC51EBB0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719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Insert:</a:t>
            </a:r>
          </a:p>
          <a:p>
            <a:pPr lvl="1"/>
            <a:r>
              <a:rPr lang="en-US" dirty="0"/>
              <a:t>76</a:t>
            </a:r>
          </a:p>
          <a:p>
            <a:pPr lvl="1"/>
            <a:r>
              <a:rPr lang="en-US" dirty="0"/>
              <a:t>40 </a:t>
            </a:r>
          </a:p>
          <a:p>
            <a:pPr lvl="1"/>
            <a:r>
              <a:rPr lang="en-US" dirty="0"/>
              <a:t>48 </a:t>
            </a:r>
          </a:p>
          <a:p>
            <a:pPr lvl="1"/>
            <a:r>
              <a:rPr lang="en-US" dirty="0"/>
              <a:t>5 </a:t>
            </a:r>
          </a:p>
          <a:p>
            <a:pPr lvl="1"/>
            <a:r>
              <a:rPr lang="en-US" dirty="0"/>
              <a:t>55 </a:t>
            </a:r>
          </a:p>
          <a:p>
            <a:pPr lvl="1"/>
            <a:r>
              <a:rPr lang="en-US" dirty="0"/>
              <a:t>47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4480560" cy="1097280"/>
            <a:chOff x="4953000" y="660717"/>
            <a:chExt cx="448056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4480560" cy="640080"/>
              <a:chOff x="2252980" y="5083048"/>
              <a:chExt cx="448056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4480560" cy="640080"/>
              <a:chOff x="2252980" y="5083048"/>
              <a:chExt cx="448056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37420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8820-9792-6FF2-3B76-3657BAD6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Quadratic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E5C53-5FC4-6CF5-6D34-1C1D27BEA8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you probe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r>
                  <a:rPr lang="en-US" dirty="0"/>
                  <a:t> times, you start repeating indices</a:t>
                </a:r>
              </a:p>
              <a:p>
                <a:r>
                  <a:rPr lang="en-US" dirty="0"/>
                  <a:t>If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r>
                  <a:rPr lang="en-US" dirty="0">
                    <a:latin typeface="Consolas" panose="020B0609020204030204" pitchFamily="49" charset="0"/>
                  </a:rPr>
                  <a:t> </a:t>
                </a:r>
                <a:r>
                  <a:rPr lang="en-US" dirty="0"/>
                  <a:t>is prime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then you’re guaranteed to find an open spot in at most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 probes</a:t>
                </a:r>
              </a:p>
              <a:p>
                <a:endParaRPr lang="en-US" dirty="0"/>
              </a:p>
              <a:p>
                <a:r>
                  <a:rPr lang="en-US" dirty="0"/>
                  <a:t>Helps with the clustering problem of linear probing, but does not help if many things hash to the same value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E5C53-5FC4-6CF5-6D34-1C1D27BEA8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580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Hashing: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</a:t>
            </a:r>
            <a:r>
              <a:rPr lang="en-US" dirty="0">
                <a:latin typeface="Consolas" panose="020B0609020204030204" pitchFamily="49" charset="0"/>
              </a:rPr>
              <a:t>h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g</a:t>
            </a:r>
            <a:r>
              <a:rPr lang="en-US" dirty="0"/>
              <a:t> are both good hash functions</a:t>
            </a:r>
          </a:p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is occupied then try </a:t>
            </a:r>
            <a:r>
              <a:rPr lang="en-US" dirty="0">
                <a:latin typeface="Consolas" panose="020B0609020204030204" pitchFamily="49" charset="0"/>
              </a:rPr>
              <a:t>(i+g(k))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(i+2*g(k))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(i+3*g(k))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b="0" dirty="0"/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(i+4*g(k))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DDDD4-8D2E-F314-F507-8FA0016B4B5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F9000BC-81DC-CE44-03EB-CDF8D357E51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DF3124B-193F-D905-24FE-C943F42B8A33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98A0B8-7969-41D6-DAFF-DB99A0ED3CF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979AC-43BC-32F9-927F-21D434B1657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3FB1665-49F1-41F3-8E29-06DAC51EBB0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575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709C-781C-D297-9372-53DA0D578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8053D-A29E-D195-3C93-CF56E1479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Rearrangement of items into some defined sequence</a:t>
            </a:r>
          </a:p>
          <a:p>
            <a:pPr lvl="1"/>
            <a:r>
              <a:rPr lang="en-US" dirty="0"/>
              <a:t>Usually: reordering a list from smallest to largest according to some metric</a:t>
            </a:r>
          </a:p>
          <a:p>
            <a:r>
              <a:rPr lang="en-US" dirty="0"/>
              <a:t>Why sort things?</a:t>
            </a:r>
          </a:p>
          <a:p>
            <a:pPr lvl="1"/>
            <a:r>
              <a:rPr lang="en-US" dirty="0"/>
              <a:t>Enable things like binary search</a:t>
            </a:r>
          </a:p>
          <a:p>
            <a:pPr lvl="2"/>
            <a:r>
              <a:rPr lang="en-US" dirty="0"/>
              <a:t>It makes some algorithms faster</a:t>
            </a:r>
          </a:p>
          <a:p>
            <a:pPr lvl="1"/>
            <a:r>
              <a:rPr lang="en-US" dirty="0"/>
              <a:t>Nicer for human algorithms too</a:t>
            </a:r>
          </a:p>
          <a:p>
            <a:pPr lvl="1"/>
            <a:r>
              <a:rPr lang="en-US" dirty="0"/>
              <a:t>Data organization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589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4773-CFEA-E666-64D3-5AF21662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Formal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397537-824A-CCF1-8509-24B111BE4C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</a:t>
                </a:r>
              </a:p>
              <a:p>
                <a:pPr lvl="1"/>
                <a:r>
                  <a:rPr lang="en-US" dirty="0"/>
                  <a:t>An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of items</a:t>
                </a:r>
              </a:p>
              <a:p>
                <a:pPr lvl="1"/>
                <a:r>
                  <a:rPr lang="en-US" dirty="0"/>
                  <a:t>A comparison function for these items</a:t>
                </a:r>
              </a:p>
              <a:p>
                <a:pPr lvl="2"/>
                <a:r>
                  <a:rPr lang="en-US" dirty="0"/>
                  <a:t>Given two items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we can determine whether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</a:t>
                </a:r>
              </a:p>
              <a:p>
                <a:pPr lvl="1"/>
                <a:r>
                  <a:rPr lang="en-US" dirty="0"/>
                  <a:t>A permutation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Permutation: a sequence of the same items but perhaps in a different order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397537-824A-CCF1-8509-24B111BE4C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9934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50236-5662-84E4-1E2C-8131ADED1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“Landscape”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87EE2-0B7B-E6D3-DAF0-140E12D6F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no singular best algorithm for sorting</a:t>
            </a:r>
          </a:p>
          <a:p>
            <a:r>
              <a:rPr lang="en-US" dirty="0"/>
              <a:t>Some are faster, some are slower</a:t>
            </a:r>
          </a:p>
          <a:p>
            <a:r>
              <a:rPr lang="en-US" dirty="0"/>
              <a:t>Some use more memory, some use less</a:t>
            </a:r>
          </a:p>
          <a:p>
            <a:r>
              <a:rPr lang="en-US" dirty="0"/>
              <a:t>Some are super extra fast if your data matches particular assumptions</a:t>
            </a:r>
          </a:p>
          <a:p>
            <a:r>
              <a:rPr lang="en-US" dirty="0"/>
              <a:t>Some have other special properties that make them valuable</a:t>
            </a:r>
          </a:p>
          <a:p>
            <a:r>
              <a:rPr lang="en-US" dirty="0"/>
              <a:t>No sorting algorithm can have only all the “best” attributes</a:t>
            </a:r>
          </a:p>
        </p:txBody>
      </p:sp>
    </p:spTree>
    <p:extLst>
      <p:ext uri="{BB962C8B-B14F-4D97-AF65-F5344CB8AC3E}">
        <p14:creationId xmlns:p14="http://schemas.microsoft.com/office/powerpoint/2010/main" val="3469253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668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Maintain a </a:t>
            </a:r>
            <a:r>
              <a:rPr lang="en-US" dirty="0">
                <a:solidFill>
                  <a:srgbClr val="FF0000"/>
                </a:solidFill>
              </a:rPr>
              <a:t>sorted list prefix</a:t>
            </a:r>
            <a:r>
              <a:rPr lang="en-US" dirty="0"/>
              <a:t>, extend that prefix by “inserting” the </a:t>
            </a:r>
            <a:r>
              <a:rPr lang="en-US" dirty="0">
                <a:solidFill>
                  <a:srgbClr val="FF33CC"/>
                </a:solidFill>
              </a:rPr>
              <a:t>next 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13</a:t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2855224" y="3429000"/>
            <a:ext cx="6403076" cy="533400"/>
            <a:chOff x="1064524" y="3429000"/>
            <a:chExt cx="6403076" cy="533400"/>
          </a:xfrm>
        </p:grpSpPr>
        <p:sp>
          <p:nvSpPr>
            <p:cNvPr id="31" name="Rectangle 30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43" name="Right Brace 42"/>
          <p:cNvSpPr/>
          <p:nvPr/>
        </p:nvSpPr>
        <p:spPr>
          <a:xfrm rot="16200000">
            <a:off x="4494093" y="4076131"/>
            <a:ext cx="457200" cy="3734938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3761508" y="2678668"/>
            <a:ext cx="1388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Sorted Prefix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855224" y="4114800"/>
            <a:ext cx="6403076" cy="533400"/>
            <a:chOff x="1064524" y="3429000"/>
            <a:chExt cx="6403076" cy="533400"/>
          </a:xfrm>
        </p:grpSpPr>
        <p:sp>
          <p:nvSpPr>
            <p:cNvPr id="46" name="Rectangle 45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855224" y="4800600"/>
            <a:ext cx="6403076" cy="533400"/>
            <a:chOff x="1064524" y="3429000"/>
            <a:chExt cx="6403076" cy="533400"/>
          </a:xfrm>
        </p:grpSpPr>
        <p:sp>
          <p:nvSpPr>
            <p:cNvPr id="59" name="Rectangle 58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2855224" y="6172200"/>
            <a:ext cx="6403076" cy="533400"/>
            <a:chOff x="1064524" y="3429000"/>
            <a:chExt cx="6403076" cy="533400"/>
          </a:xfrm>
        </p:grpSpPr>
        <p:sp>
          <p:nvSpPr>
            <p:cNvPr id="72" name="Rectangle 71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84" name="Right Brace 83"/>
          <p:cNvSpPr/>
          <p:nvPr/>
        </p:nvSpPr>
        <p:spPr>
          <a:xfrm rot="16200000">
            <a:off x="4227393" y="1599631"/>
            <a:ext cx="457200" cy="3201538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4028208" y="5421868"/>
            <a:ext cx="1388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Sorted Prefix</a:t>
            </a:r>
          </a:p>
        </p:txBody>
      </p:sp>
    </p:spTree>
    <p:extLst>
      <p:ext uri="{BB962C8B-B14F-4D97-AF65-F5344CB8AC3E}">
        <p14:creationId xmlns:p14="http://schemas.microsoft.com/office/powerpoint/2010/main" val="404078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8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12E9-3F02-2CFB-F8A1-0798247A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C29A1-5CF0-19FF-2850-9349F3E580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2188"/>
                <a:ext cx="11252200" cy="167869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If the items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are out of order, swap them</a:t>
                </a:r>
              </a:p>
              <a:p>
                <a:r>
                  <a:rPr lang="en-US" dirty="0"/>
                  <a:t>Keep swapping the item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with the thing to its left as long as the left thing is larger</a:t>
                </a:r>
              </a:p>
              <a:p>
                <a:r>
                  <a:rPr lang="en-US" dirty="0"/>
                  <a:t>…</a:t>
                </a:r>
              </a:p>
              <a:p>
                <a:r>
                  <a:rPr lang="en-US" dirty="0"/>
                  <a:t>Keep swapping the item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with the thing to its left as long as the left thing is larger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C29A1-5CF0-19FF-2850-9349F3E580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2188"/>
                <a:ext cx="11252200" cy="1678693"/>
              </a:xfrm>
              <a:blipFill>
                <a:blip r:embed="rId2"/>
                <a:stretch>
                  <a:fillRect l="-650" t="-7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00B9305-5813-9997-7771-B7BC37A4B988}"/>
              </a:ext>
            </a:extLst>
          </p:cNvPr>
          <p:cNvSpPr txBox="1"/>
          <p:nvPr/>
        </p:nvSpPr>
        <p:spPr>
          <a:xfrm>
            <a:off x="-25400" y="2575351"/>
            <a:ext cx="44348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r>
              <a:rPr lang="en-US" dirty="0"/>
              <a:t>        </a:t>
            </a:r>
            <a:r>
              <a:rPr lang="en-US" dirty="0" err="1"/>
              <a:t>prev</a:t>
            </a:r>
            <a:r>
              <a:rPr lang="en-US" dirty="0"/>
              <a:t> = i-1;</a:t>
            </a:r>
          </a:p>
          <a:p>
            <a:r>
              <a:rPr lang="en-US" dirty="0"/>
              <a:t>        while(a[</a:t>
            </a:r>
            <a:r>
              <a:rPr lang="en-US" dirty="0" err="1"/>
              <a:t>i</a:t>
            </a:r>
            <a:r>
              <a:rPr lang="en-US" dirty="0"/>
              <a:t>] &lt; a[</a:t>
            </a:r>
            <a:r>
              <a:rPr lang="en-US" dirty="0" err="1"/>
              <a:t>prev</a:t>
            </a:r>
            <a:r>
              <a:rPr lang="en-US" dirty="0"/>
              <a:t>] &amp;&amp; </a:t>
            </a:r>
            <a:r>
              <a:rPr lang="en-US" dirty="0" err="1"/>
              <a:t>prev</a:t>
            </a:r>
            <a:r>
              <a:rPr lang="en-US" dirty="0"/>
              <a:t> &gt; -1){</a:t>
            </a:r>
          </a:p>
          <a:p>
            <a:r>
              <a:rPr lang="en-US" dirty="0"/>
              <a:t>                temp = a[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        a[</a:t>
            </a:r>
            <a:r>
              <a:rPr lang="en-US" dirty="0" err="1"/>
              <a:t>i</a:t>
            </a:r>
            <a:r>
              <a:rPr lang="en-US" dirty="0"/>
              <a:t>] = a[</a:t>
            </a:r>
            <a:r>
              <a:rPr lang="en-US" dirty="0" err="1"/>
              <a:t>prev</a:t>
            </a:r>
            <a:r>
              <a:rPr lang="en-US" dirty="0"/>
              <a:t>];</a:t>
            </a:r>
          </a:p>
          <a:p>
            <a:r>
              <a:rPr lang="en-US" dirty="0"/>
              <a:t>                a[</a:t>
            </a:r>
            <a:r>
              <a:rPr lang="en-US" dirty="0" err="1"/>
              <a:t>prev</a:t>
            </a:r>
            <a:r>
              <a:rPr lang="en-US" dirty="0"/>
              <a:t>] = a[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        </a:t>
            </a:r>
            <a:r>
              <a:rPr lang="en-US" dirty="0" err="1"/>
              <a:t>i</a:t>
            </a:r>
            <a:r>
              <a:rPr lang="en-US" dirty="0"/>
              <a:t>--;</a:t>
            </a:r>
          </a:p>
          <a:p>
            <a:r>
              <a:rPr lang="en-US" dirty="0"/>
              <a:t>                </a:t>
            </a:r>
            <a:r>
              <a:rPr lang="en-US" dirty="0" err="1"/>
              <a:t>prev</a:t>
            </a:r>
            <a:r>
              <a:rPr lang="en-US" dirty="0"/>
              <a:t>--;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}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7FC986-B82D-A515-E69C-72BF9FDFD876}"/>
              </a:ext>
            </a:extLst>
          </p:cNvPr>
          <p:cNvGrpSpPr/>
          <p:nvPr/>
        </p:nvGrpSpPr>
        <p:grpSpPr>
          <a:xfrm>
            <a:off x="386080" y="5753526"/>
            <a:ext cx="11704320" cy="1259840"/>
            <a:chOff x="243840" y="4477752"/>
            <a:chExt cx="11704320" cy="125984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25E0C14-B25F-7E8A-FF79-255E7AE37201}"/>
                </a:ext>
              </a:extLst>
            </p:cNvPr>
            <p:cNvGrpSpPr/>
            <p:nvPr/>
          </p:nvGrpSpPr>
          <p:grpSpPr>
            <a:xfrm>
              <a:off x="243840" y="5006072"/>
              <a:ext cx="11704320" cy="731520"/>
              <a:chOff x="396240" y="2824480"/>
              <a:chExt cx="11704320" cy="731520"/>
            </a:xfrm>
            <a:solidFill>
              <a:schemeClr val="bg1"/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36989E1-B347-004D-95D4-2D64C83D7131}"/>
                  </a:ext>
                </a:extLst>
              </p:cNvPr>
              <p:cNvSpPr/>
              <p:nvPr/>
            </p:nvSpPr>
            <p:spPr>
              <a:xfrm>
                <a:off x="3962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1C1B728-AFDD-FFCE-025D-4532066C68E7}"/>
                  </a:ext>
                </a:extLst>
              </p:cNvPr>
              <p:cNvSpPr/>
              <p:nvPr/>
            </p:nvSpPr>
            <p:spPr>
              <a:xfrm>
                <a:off x="112776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F057654-A27D-F0BA-CC2B-C33F4B647198}"/>
                  </a:ext>
                </a:extLst>
              </p:cNvPr>
              <p:cNvSpPr/>
              <p:nvPr/>
            </p:nvSpPr>
            <p:spPr>
              <a:xfrm>
                <a:off x="185928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2222319-A160-3607-3346-6311C929198B}"/>
                  </a:ext>
                </a:extLst>
              </p:cNvPr>
              <p:cNvSpPr/>
              <p:nvPr/>
            </p:nvSpPr>
            <p:spPr>
              <a:xfrm>
                <a:off x="259080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8A2EF9B-15E8-F11C-4E32-7F646B9C31A2}"/>
                  </a:ext>
                </a:extLst>
              </p:cNvPr>
              <p:cNvSpPr/>
              <p:nvPr/>
            </p:nvSpPr>
            <p:spPr>
              <a:xfrm>
                <a:off x="332232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EF08F0F-692A-1DF1-34F9-5FD55D62AA6A}"/>
                  </a:ext>
                </a:extLst>
              </p:cNvPr>
              <p:cNvSpPr/>
              <p:nvPr/>
            </p:nvSpPr>
            <p:spPr>
              <a:xfrm>
                <a:off x="40538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08EAEDB-EE70-97F9-1850-AAF49B3B844C}"/>
                  </a:ext>
                </a:extLst>
              </p:cNvPr>
              <p:cNvSpPr/>
              <p:nvPr/>
            </p:nvSpPr>
            <p:spPr>
              <a:xfrm>
                <a:off x="478536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631B2DD-604C-2E8E-AC58-6FD316A47291}"/>
                  </a:ext>
                </a:extLst>
              </p:cNvPr>
              <p:cNvSpPr/>
              <p:nvPr/>
            </p:nvSpPr>
            <p:spPr>
              <a:xfrm>
                <a:off x="551688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410D81B-73CD-F602-2A14-7B31CED10ECB}"/>
                  </a:ext>
                </a:extLst>
              </p:cNvPr>
              <p:cNvSpPr/>
              <p:nvPr/>
            </p:nvSpPr>
            <p:spPr>
              <a:xfrm>
                <a:off x="624840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974E7BB-1009-D8D0-7EE9-F653A0108B6A}"/>
                  </a:ext>
                </a:extLst>
              </p:cNvPr>
              <p:cNvSpPr/>
              <p:nvPr/>
            </p:nvSpPr>
            <p:spPr>
              <a:xfrm>
                <a:off x="697992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55B9692-25D4-D6D2-1463-AB278ACFD52C}"/>
                  </a:ext>
                </a:extLst>
              </p:cNvPr>
              <p:cNvSpPr/>
              <p:nvPr/>
            </p:nvSpPr>
            <p:spPr>
              <a:xfrm>
                <a:off x="77114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9ADB94C-F189-4586-82EF-9B48F1F6CE38}"/>
                  </a:ext>
                </a:extLst>
              </p:cNvPr>
              <p:cNvSpPr/>
              <p:nvPr/>
            </p:nvSpPr>
            <p:spPr>
              <a:xfrm>
                <a:off x="844296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11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F311039-AFFF-272A-B53A-C2165DCE2C9B}"/>
                  </a:ext>
                </a:extLst>
              </p:cNvPr>
              <p:cNvSpPr/>
              <p:nvPr/>
            </p:nvSpPr>
            <p:spPr>
              <a:xfrm>
                <a:off x="917448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883E566-93E9-9044-B643-88AA4E7D1FE7}"/>
                  </a:ext>
                </a:extLst>
              </p:cNvPr>
              <p:cNvSpPr/>
              <p:nvPr/>
            </p:nvSpPr>
            <p:spPr>
              <a:xfrm>
                <a:off x="990600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608703F-8424-56C0-42FC-7AED69F6C166}"/>
                  </a:ext>
                </a:extLst>
              </p:cNvPr>
              <p:cNvSpPr/>
              <p:nvPr/>
            </p:nvSpPr>
            <p:spPr>
              <a:xfrm>
                <a:off x="1063752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497EA3E-F912-EAA6-DADA-5F58369DB3E2}"/>
                  </a:ext>
                </a:extLst>
              </p:cNvPr>
              <p:cNvSpPr/>
              <p:nvPr/>
            </p:nvSpPr>
            <p:spPr>
              <a:xfrm>
                <a:off x="113690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15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F1F98AC-0B68-5E1A-A709-8B9AA0B375B5}"/>
                </a:ext>
              </a:extLst>
            </p:cNvPr>
            <p:cNvGrpSpPr/>
            <p:nvPr/>
          </p:nvGrpSpPr>
          <p:grpSpPr>
            <a:xfrm>
              <a:off x="243840" y="4477752"/>
              <a:ext cx="11704320" cy="731520"/>
              <a:chOff x="396240" y="2092960"/>
              <a:chExt cx="11704320" cy="731520"/>
            </a:xfrm>
            <a:solidFill>
              <a:schemeClr val="bg1"/>
            </a:solidFill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03DFB65-3A07-B421-AA6B-5E4B89E0183E}"/>
                  </a:ext>
                </a:extLst>
              </p:cNvPr>
              <p:cNvSpPr/>
              <p:nvPr/>
            </p:nvSpPr>
            <p:spPr>
              <a:xfrm>
                <a:off x="3962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EE89BE8-EE1C-67DE-ED9C-67E2F159BD0C}"/>
                  </a:ext>
                </a:extLst>
              </p:cNvPr>
              <p:cNvSpPr/>
              <p:nvPr/>
            </p:nvSpPr>
            <p:spPr>
              <a:xfrm>
                <a:off x="112776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77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950534F-5981-8FB2-4697-F108C990CB3F}"/>
                  </a:ext>
                </a:extLst>
              </p:cNvPr>
              <p:cNvSpPr/>
              <p:nvPr/>
            </p:nvSpPr>
            <p:spPr>
              <a:xfrm>
                <a:off x="185928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F3C6F2B-72EB-85F7-049D-EA9CA3BBBC38}"/>
                  </a:ext>
                </a:extLst>
              </p:cNvPr>
              <p:cNvSpPr/>
              <p:nvPr/>
            </p:nvSpPr>
            <p:spPr>
              <a:xfrm>
                <a:off x="259080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15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073139F-A075-5F45-B637-3641CB03786B}"/>
                  </a:ext>
                </a:extLst>
              </p:cNvPr>
              <p:cNvSpPr/>
              <p:nvPr/>
            </p:nvSpPr>
            <p:spPr>
              <a:xfrm>
                <a:off x="332232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E8271A-BC44-C130-7766-CF3A65ADA6E3}"/>
                  </a:ext>
                </a:extLst>
              </p:cNvPr>
              <p:cNvSpPr/>
              <p:nvPr/>
            </p:nvSpPr>
            <p:spPr>
              <a:xfrm>
                <a:off x="40538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442AB55-96C5-BB09-7B46-F5B1060B7760}"/>
                  </a:ext>
                </a:extLst>
              </p:cNvPr>
              <p:cNvSpPr/>
              <p:nvPr/>
            </p:nvSpPr>
            <p:spPr>
              <a:xfrm>
                <a:off x="478536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64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BBE4FB6-097A-17D5-D547-2DBE1218C922}"/>
                  </a:ext>
                </a:extLst>
              </p:cNvPr>
              <p:cNvSpPr/>
              <p:nvPr/>
            </p:nvSpPr>
            <p:spPr>
              <a:xfrm>
                <a:off x="551688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41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071AC63-FA3D-8B02-FEFE-091FEB8188B7}"/>
                  </a:ext>
                </a:extLst>
              </p:cNvPr>
              <p:cNvSpPr/>
              <p:nvPr/>
            </p:nvSpPr>
            <p:spPr>
              <a:xfrm>
                <a:off x="624840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D434C37-6594-3ABC-B809-B53EF50CBE01}"/>
                  </a:ext>
                </a:extLst>
              </p:cNvPr>
              <p:cNvSpPr/>
              <p:nvPr/>
            </p:nvSpPr>
            <p:spPr>
              <a:xfrm>
                <a:off x="697992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4584979-8516-1DF0-8FE1-CDCF3B37B183}"/>
                  </a:ext>
                </a:extLst>
              </p:cNvPr>
              <p:cNvSpPr/>
              <p:nvPr/>
            </p:nvSpPr>
            <p:spPr>
              <a:xfrm>
                <a:off x="77114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30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5316B61-3179-5A84-B76C-E83D02308C4F}"/>
                  </a:ext>
                </a:extLst>
              </p:cNvPr>
              <p:cNvSpPr/>
              <p:nvPr/>
            </p:nvSpPr>
            <p:spPr>
              <a:xfrm>
                <a:off x="844296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21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A288453-2B40-BE9B-014D-93AFF2596ECB}"/>
                  </a:ext>
                </a:extLst>
              </p:cNvPr>
              <p:cNvSpPr/>
              <p:nvPr/>
            </p:nvSpPr>
            <p:spPr>
              <a:xfrm>
                <a:off x="917448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6A6100D-9E9B-C357-9B75-D51E38D25A6F}"/>
                  </a:ext>
                </a:extLst>
              </p:cNvPr>
              <p:cNvSpPr/>
              <p:nvPr/>
            </p:nvSpPr>
            <p:spPr>
              <a:xfrm>
                <a:off x="990600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AF67874-D5C1-15DB-D5E8-1EA75472B454}"/>
                  </a:ext>
                </a:extLst>
              </p:cNvPr>
              <p:cNvSpPr/>
              <p:nvPr/>
            </p:nvSpPr>
            <p:spPr>
              <a:xfrm>
                <a:off x="1063752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23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C39029-FB4F-8678-D40F-AEEA8D63F4F2}"/>
                  </a:ext>
                </a:extLst>
              </p:cNvPr>
              <p:cNvSpPr/>
              <p:nvPr/>
            </p:nvSpPr>
            <p:spPr>
              <a:xfrm>
                <a:off x="113690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33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DF0B3D-6CCD-BDBB-6693-F8DD5945C5AE}"/>
                  </a:ext>
                </a:extLst>
              </p:cNvPr>
              <p:cNvSpPr txBox="1"/>
              <p:nvPr/>
            </p:nvSpPr>
            <p:spPr>
              <a:xfrm>
                <a:off x="5872480" y="3244334"/>
                <a:ext cx="443484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Running Time:</a:t>
                </a:r>
              </a:p>
              <a:p>
                <a:r>
                  <a:rPr lang="en-US" sz="2800" dirty="0"/>
                  <a:t>	Worst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	Best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DF0B3D-6CCD-BDBB-6693-F8DD5945C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480" y="3244334"/>
                <a:ext cx="4434840" cy="1384995"/>
              </a:xfrm>
              <a:prstGeom prst="rect">
                <a:avLst/>
              </a:prstGeom>
              <a:blipFill>
                <a:blip r:embed="rId3"/>
                <a:stretch>
                  <a:fillRect l="-2747" t="-3965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266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0E331-20F3-CCA9-529D-FE34B4D8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F9BF5-3D98-FDB3-0536-F52EC51A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098659-16A5-7134-405A-EC34150F69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2188"/>
                <a:ext cx="11252200" cy="167869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If the items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are out of order, swap them</a:t>
                </a:r>
              </a:p>
              <a:p>
                <a:r>
                  <a:rPr lang="en-US" dirty="0"/>
                  <a:t>Keep swapping the item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with the thing to its left as long as the left thing is larger</a:t>
                </a:r>
              </a:p>
              <a:p>
                <a:r>
                  <a:rPr lang="en-US" dirty="0"/>
                  <a:t>…</a:t>
                </a:r>
              </a:p>
              <a:p>
                <a:r>
                  <a:rPr lang="en-US" dirty="0"/>
                  <a:t>Keep swapping the item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with the thing to its left as long as the left thing is larger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C29A1-5CF0-19FF-2850-9349F3E580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2188"/>
                <a:ext cx="11252200" cy="1678693"/>
              </a:xfrm>
              <a:blipFill>
                <a:blip r:embed="rId2"/>
                <a:stretch>
                  <a:fillRect l="-650" t="-7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E58BB90-BAEE-B9B7-5449-BE92204DBDC4}"/>
              </a:ext>
            </a:extLst>
          </p:cNvPr>
          <p:cNvSpPr txBox="1"/>
          <p:nvPr/>
        </p:nvSpPr>
        <p:spPr>
          <a:xfrm>
            <a:off x="-25400" y="2575351"/>
            <a:ext cx="44348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r>
              <a:rPr lang="en-US" dirty="0"/>
              <a:t>        </a:t>
            </a:r>
            <a:r>
              <a:rPr lang="en-US" dirty="0" err="1"/>
              <a:t>prev</a:t>
            </a:r>
            <a:r>
              <a:rPr lang="en-US" dirty="0"/>
              <a:t> = i-1;</a:t>
            </a:r>
          </a:p>
          <a:p>
            <a:r>
              <a:rPr lang="en-US" dirty="0"/>
              <a:t>        while(a[</a:t>
            </a:r>
            <a:r>
              <a:rPr lang="en-US" dirty="0" err="1"/>
              <a:t>i</a:t>
            </a:r>
            <a:r>
              <a:rPr lang="en-US" dirty="0"/>
              <a:t>] &lt; a[</a:t>
            </a:r>
            <a:r>
              <a:rPr lang="en-US" dirty="0" err="1"/>
              <a:t>prev</a:t>
            </a:r>
            <a:r>
              <a:rPr lang="en-US" dirty="0"/>
              <a:t>] &amp;&amp; </a:t>
            </a:r>
            <a:r>
              <a:rPr lang="en-US" dirty="0" err="1"/>
              <a:t>prev</a:t>
            </a:r>
            <a:r>
              <a:rPr lang="en-US" dirty="0"/>
              <a:t> &gt; -1){</a:t>
            </a:r>
          </a:p>
          <a:p>
            <a:r>
              <a:rPr lang="en-US" dirty="0"/>
              <a:t>                temp = a[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        a[</a:t>
            </a:r>
            <a:r>
              <a:rPr lang="en-US" dirty="0" err="1"/>
              <a:t>i</a:t>
            </a:r>
            <a:r>
              <a:rPr lang="en-US" dirty="0"/>
              <a:t>] = a[</a:t>
            </a:r>
            <a:r>
              <a:rPr lang="en-US" dirty="0" err="1"/>
              <a:t>prev</a:t>
            </a:r>
            <a:r>
              <a:rPr lang="en-US" dirty="0"/>
              <a:t>];</a:t>
            </a:r>
          </a:p>
          <a:p>
            <a:r>
              <a:rPr lang="en-US" dirty="0"/>
              <a:t>                a[</a:t>
            </a:r>
            <a:r>
              <a:rPr lang="en-US" dirty="0" err="1"/>
              <a:t>prev</a:t>
            </a:r>
            <a:r>
              <a:rPr lang="en-US" dirty="0"/>
              <a:t>] = a[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        </a:t>
            </a:r>
            <a:r>
              <a:rPr lang="en-US" dirty="0" err="1"/>
              <a:t>i</a:t>
            </a:r>
            <a:r>
              <a:rPr lang="en-US" dirty="0"/>
              <a:t>--;</a:t>
            </a:r>
          </a:p>
          <a:p>
            <a:r>
              <a:rPr lang="en-US" dirty="0"/>
              <a:t>                </a:t>
            </a:r>
            <a:r>
              <a:rPr lang="en-US" dirty="0" err="1"/>
              <a:t>prev</a:t>
            </a:r>
            <a:r>
              <a:rPr lang="en-US" dirty="0"/>
              <a:t>--;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}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43D3DA-59A4-B54A-4F40-B87EDBA1D353}"/>
              </a:ext>
            </a:extLst>
          </p:cNvPr>
          <p:cNvGrpSpPr/>
          <p:nvPr/>
        </p:nvGrpSpPr>
        <p:grpSpPr>
          <a:xfrm>
            <a:off x="386080" y="5753526"/>
            <a:ext cx="11704320" cy="1259840"/>
            <a:chOff x="243840" y="4477752"/>
            <a:chExt cx="11704320" cy="125984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CA5C76A-D35B-BCA5-454F-5FB327976D40}"/>
                </a:ext>
              </a:extLst>
            </p:cNvPr>
            <p:cNvGrpSpPr/>
            <p:nvPr/>
          </p:nvGrpSpPr>
          <p:grpSpPr>
            <a:xfrm>
              <a:off x="243840" y="5006072"/>
              <a:ext cx="11704320" cy="731520"/>
              <a:chOff x="396240" y="2824480"/>
              <a:chExt cx="11704320" cy="731520"/>
            </a:xfrm>
            <a:solidFill>
              <a:schemeClr val="bg1"/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16B1BE7-0A96-E2B9-79C5-E628D72B312A}"/>
                  </a:ext>
                </a:extLst>
              </p:cNvPr>
              <p:cNvSpPr/>
              <p:nvPr/>
            </p:nvSpPr>
            <p:spPr>
              <a:xfrm>
                <a:off x="3962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E45602C-48BA-D233-5C94-C4F703C5AC36}"/>
                  </a:ext>
                </a:extLst>
              </p:cNvPr>
              <p:cNvSpPr/>
              <p:nvPr/>
            </p:nvSpPr>
            <p:spPr>
              <a:xfrm>
                <a:off x="112776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B09463F-0509-11CC-B101-953228211CD1}"/>
                  </a:ext>
                </a:extLst>
              </p:cNvPr>
              <p:cNvSpPr/>
              <p:nvPr/>
            </p:nvSpPr>
            <p:spPr>
              <a:xfrm>
                <a:off x="185928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DC329C7-DC74-6724-ED3E-50C312F84212}"/>
                  </a:ext>
                </a:extLst>
              </p:cNvPr>
              <p:cNvSpPr/>
              <p:nvPr/>
            </p:nvSpPr>
            <p:spPr>
              <a:xfrm>
                <a:off x="259080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2D97124-608C-2DF9-B3A4-2AAE654AE3CE}"/>
                  </a:ext>
                </a:extLst>
              </p:cNvPr>
              <p:cNvSpPr/>
              <p:nvPr/>
            </p:nvSpPr>
            <p:spPr>
              <a:xfrm>
                <a:off x="332232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FD3AB5F-9C51-180B-32F2-F8DF0E7C79FB}"/>
                  </a:ext>
                </a:extLst>
              </p:cNvPr>
              <p:cNvSpPr/>
              <p:nvPr/>
            </p:nvSpPr>
            <p:spPr>
              <a:xfrm>
                <a:off x="40538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076E0A1-7DEC-046A-44F3-F836A89AB564}"/>
                  </a:ext>
                </a:extLst>
              </p:cNvPr>
              <p:cNvSpPr/>
              <p:nvPr/>
            </p:nvSpPr>
            <p:spPr>
              <a:xfrm>
                <a:off x="478536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1FB865B-A48B-C1F0-4055-86E3AF1CD735}"/>
                  </a:ext>
                </a:extLst>
              </p:cNvPr>
              <p:cNvSpPr/>
              <p:nvPr/>
            </p:nvSpPr>
            <p:spPr>
              <a:xfrm>
                <a:off x="551688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BD7E841-70D7-EF34-D8DA-492233DEF5B8}"/>
                  </a:ext>
                </a:extLst>
              </p:cNvPr>
              <p:cNvSpPr/>
              <p:nvPr/>
            </p:nvSpPr>
            <p:spPr>
              <a:xfrm>
                <a:off x="624840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DA2AC22-37CE-7CBD-6923-3B1ECA1EFB00}"/>
                  </a:ext>
                </a:extLst>
              </p:cNvPr>
              <p:cNvSpPr/>
              <p:nvPr/>
            </p:nvSpPr>
            <p:spPr>
              <a:xfrm>
                <a:off x="697992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4BDBCD4-1925-CA71-AC2A-CB19ADB2E7EB}"/>
                  </a:ext>
                </a:extLst>
              </p:cNvPr>
              <p:cNvSpPr/>
              <p:nvPr/>
            </p:nvSpPr>
            <p:spPr>
              <a:xfrm>
                <a:off x="77114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03401D9-938F-4988-D114-D52178982E75}"/>
                  </a:ext>
                </a:extLst>
              </p:cNvPr>
              <p:cNvSpPr/>
              <p:nvPr/>
            </p:nvSpPr>
            <p:spPr>
              <a:xfrm>
                <a:off x="844296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11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BADE5FD-9645-A685-EC6C-4ACB47D801B6}"/>
                  </a:ext>
                </a:extLst>
              </p:cNvPr>
              <p:cNvSpPr/>
              <p:nvPr/>
            </p:nvSpPr>
            <p:spPr>
              <a:xfrm>
                <a:off x="917448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97173FA-5A64-AF3F-F569-72237EBC8DF0}"/>
                  </a:ext>
                </a:extLst>
              </p:cNvPr>
              <p:cNvSpPr/>
              <p:nvPr/>
            </p:nvSpPr>
            <p:spPr>
              <a:xfrm>
                <a:off x="990600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169D52A-B95A-177E-668D-F4F75B24BA66}"/>
                  </a:ext>
                </a:extLst>
              </p:cNvPr>
              <p:cNvSpPr/>
              <p:nvPr/>
            </p:nvSpPr>
            <p:spPr>
              <a:xfrm>
                <a:off x="1063752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C68A7B1-53D1-760F-F735-A7BF68D416E3}"/>
                  </a:ext>
                </a:extLst>
              </p:cNvPr>
              <p:cNvSpPr/>
              <p:nvPr/>
            </p:nvSpPr>
            <p:spPr>
              <a:xfrm>
                <a:off x="113690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15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FE49A76-8214-DEAA-DB99-75FFD24EFCF8}"/>
                </a:ext>
              </a:extLst>
            </p:cNvPr>
            <p:cNvGrpSpPr/>
            <p:nvPr/>
          </p:nvGrpSpPr>
          <p:grpSpPr>
            <a:xfrm>
              <a:off x="243840" y="4477752"/>
              <a:ext cx="11704320" cy="731520"/>
              <a:chOff x="396240" y="2092960"/>
              <a:chExt cx="11704320" cy="731520"/>
            </a:xfrm>
            <a:solidFill>
              <a:schemeClr val="bg1"/>
            </a:solidFill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8A71A54-C5A5-DB95-0E59-BDC56B1EB660}"/>
                  </a:ext>
                </a:extLst>
              </p:cNvPr>
              <p:cNvSpPr/>
              <p:nvPr/>
            </p:nvSpPr>
            <p:spPr>
              <a:xfrm>
                <a:off x="3962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867CBBB-57F5-6156-CC7F-0F53AAC3C25A}"/>
                  </a:ext>
                </a:extLst>
              </p:cNvPr>
              <p:cNvSpPr/>
              <p:nvPr/>
            </p:nvSpPr>
            <p:spPr>
              <a:xfrm>
                <a:off x="112776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77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83B7741-CE11-3CFA-12BA-A2A8D2338882}"/>
                  </a:ext>
                </a:extLst>
              </p:cNvPr>
              <p:cNvSpPr/>
              <p:nvPr/>
            </p:nvSpPr>
            <p:spPr>
              <a:xfrm>
                <a:off x="185928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91D3FD3-8BC0-4C87-3351-3940FCA8126A}"/>
                  </a:ext>
                </a:extLst>
              </p:cNvPr>
              <p:cNvSpPr/>
              <p:nvPr/>
            </p:nvSpPr>
            <p:spPr>
              <a:xfrm>
                <a:off x="259080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15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3F897B1-47CD-3B59-A097-B14CCE75C624}"/>
                  </a:ext>
                </a:extLst>
              </p:cNvPr>
              <p:cNvSpPr/>
              <p:nvPr/>
            </p:nvSpPr>
            <p:spPr>
              <a:xfrm>
                <a:off x="332232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6B1F38F-DD55-CC2E-6C2A-5DB49AAFA237}"/>
                  </a:ext>
                </a:extLst>
              </p:cNvPr>
              <p:cNvSpPr/>
              <p:nvPr/>
            </p:nvSpPr>
            <p:spPr>
              <a:xfrm>
                <a:off x="40538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CFE8E7C-9F24-0F00-552E-109570A6ABF2}"/>
                  </a:ext>
                </a:extLst>
              </p:cNvPr>
              <p:cNvSpPr/>
              <p:nvPr/>
            </p:nvSpPr>
            <p:spPr>
              <a:xfrm>
                <a:off x="478536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64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5837BDE-6B9D-D32A-8539-3647CB118ECE}"/>
                  </a:ext>
                </a:extLst>
              </p:cNvPr>
              <p:cNvSpPr/>
              <p:nvPr/>
            </p:nvSpPr>
            <p:spPr>
              <a:xfrm>
                <a:off x="551688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41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EDAFF3A-75D4-28F9-D4C9-88E3E0571C7C}"/>
                  </a:ext>
                </a:extLst>
              </p:cNvPr>
              <p:cNvSpPr/>
              <p:nvPr/>
            </p:nvSpPr>
            <p:spPr>
              <a:xfrm>
                <a:off x="624840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555E7F8-39F9-A788-E786-FD85131450A7}"/>
                  </a:ext>
                </a:extLst>
              </p:cNvPr>
              <p:cNvSpPr/>
              <p:nvPr/>
            </p:nvSpPr>
            <p:spPr>
              <a:xfrm>
                <a:off x="697992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5BA0443-D92C-A299-5184-52D9C8AE1267}"/>
                  </a:ext>
                </a:extLst>
              </p:cNvPr>
              <p:cNvSpPr/>
              <p:nvPr/>
            </p:nvSpPr>
            <p:spPr>
              <a:xfrm>
                <a:off x="77114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30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558145C-C0BE-2130-BD62-F822325A5897}"/>
                  </a:ext>
                </a:extLst>
              </p:cNvPr>
              <p:cNvSpPr/>
              <p:nvPr/>
            </p:nvSpPr>
            <p:spPr>
              <a:xfrm>
                <a:off x="844296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21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BF56C43-CC2D-39FB-B008-B6C537100F52}"/>
                  </a:ext>
                </a:extLst>
              </p:cNvPr>
              <p:cNvSpPr/>
              <p:nvPr/>
            </p:nvSpPr>
            <p:spPr>
              <a:xfrm>
                <a:off x="917448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9CC1235-FA51-5634-E483-3A005CB6FDC0}"/>
                  </a:ext>
                </a:extLst>
              </p:cNvPr>
              <p:cNvSpPr/>
              <p:nvPr/>
            </p:nvSpPr>
            <p:spPr>
              <a:xfrm>
                <a:off x="990600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00EEBB2-99AE-95FF-37D0-A7FBE731F418}"/>
                  </a:ext>
                </a:extLst>
              </p:cNvPr>
              <p:cNvSpPr/>
              <p:nvPr/>
            </p:nvSpPr>
            <p:spPr>
              <a:xfrm>
                <a:off x="1063752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23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52B96DF-C51F-4E3C-A897-851ABA305D30}"/>
                  </a:ext>
                </a:extLst>
              </p:cNvPr>
              <p:cNvSpPr/>
              <p:nvPr/>
            </p:nvSpPr>
            <p:spPr>
              <a:xfrm>
                <a:off x="113690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33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71AE98B-8F51-8F57-6316-76142E05001A}"/>
                  </a:ext>
                </a:extLst>
              </p:cNvPr>
              <p:cNvSpPr txBox="1"/>
              <p:nvPr/>
            </p:nvSpPr>
            <p:spPr>
              <a:xfrm>
                <a:off x="5872480" y="3244334"/>
                <a:ext cx="443484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Running Time:</a:t>
                </a:r>
              </a:p>
              <a:p>
                <a:r>
                  <a:rPr lang="en-US" sz="2800" dirty="0"/>
                  <a:t>	Worst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	Best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71AE98B-8F51-8F57-6316-76142E050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480" y="3244334"/>
                <a:ext cx="4434840" cy="1384995"/>
              </a:xfrm>
              <a:prstGeom prst="rect">
                <a:avLst/>
              </a:prstGeom>
              <a:blipFill>
                <a:blip r:embed="rId3"/>
                <a:stretch>
                  <a:fillRect l="-2747" t="-3965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612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12E9-3F02-2CFB-F8A1-0798247A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Bubble Sort – we won’t cover it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552B0C-C8EA-5FE1-FACD-42E9A140A7A4}"/>
              </a:ext>
            </a:extLst>
          </p:cNvPr>
          <p:cNvSpPr/>
          <p:nvPr/>
        </p:nvSpPr>
        <p:spPr>
          <a:xfrm>
            <a:off x="1691640" y="2680236"/>
            <a:ext cx="49895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"the bubble sort seems to have nothing to recommend it, except a catchy name and the fact that it leads to some interesting theoretical problems” –Donald Knuth, The Art of Computer Programming</a:t>
            </a:r>
          </a:p>
        </p:txBody>
      </p:sp>
      <p:pic>
        <p:nvPicPr>
          <p:cNvPr id="44" name="Picture 2" descr="http://www-cs-faculty.stanford.edu/~knuth/dek-14May10-2.jpeg">
            <a:extLst>
              <a:ext uri="{FF2B5EF4-FFF2-40B4-BE49-F238E27FC236}">
                <a16:creationId xmlns:a16="http://schemas.microsoft.com/office/drawing/2014/main" id="{652CD0CD-4B59-39AA-30BC-4349CC773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516" y="2733677"/>
            <a:ext cx="3382324" cy="2254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15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51280"/>
            <a:ext cx="8229600" cy="1066800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Build a </a:t>
            </a:r>
            <a:r>
              <a:rPr lang="en-US" dirty="0" err="1"/>
              <a:t>maxHeap</a:t>
            </a:r>
            <a:r>
              <a:rPr lang="en-US" dirty="0"/>
              <a:t>, repeatedly extract the max element from the heap to build sorted list Right-to-Left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3470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402194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99357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7231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76502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68165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68165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69240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69240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" name="Oval 106"/>
          <p:cNvSpPr/>
          <p:nvPr/>
        </p:nvSpPr>
        <p:spPr>
          <a:xfrm>
            <a:off x="4648201" y="5674527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69104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69104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60925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60925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31047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31047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07" idx="0"/>
            <a:endCxn id="102" idx="3"/>
          </p:cNvCxnSpPr>
          <p:nvPr/>
        </p:nvCxnSpPr>
        <p:spPr>
          <a:xfrm flipV="1">
            <a:off x="4992240" y="5352338"/>
            <a:ext cx="319733" cy="322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58088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58088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37459" y="2430742"/>
            <a:ext cx="5336453" cy="537341"/>
            <a:chOff x="1978924" y="2722180"/>
            <a:chExt cx="5336453" cy="537341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00"/>
              <a:chOff x="1978924" y="2971800"/>
              <a:chExt cx="4802307" cy="5334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291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025232" y="3167225"/>
            <a:ext cx="2209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Max Heap Property</a:t>
            </a:r>
            <a:r>
              <a:rPr lang="en-US" sz="2400" dirty="0"/>
              <a:t>: Each node is larger than its children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5381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40563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7167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6563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411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3523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4485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3697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304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304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842600" y="6304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88088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Remove the Max element (i.e. the root) from the Heap: </a:t>
            </a:r>
            <a:r>
              <a:rPr lang="en-US" dirty="0"/>
              <a:t>replace with last element, call </a:t>
            </a:r>
            <a:r>
              <a:rPr lang="en-US" dirty="0" err="1"/>
              <a:t>percolateDown</a:t>
            </a:r>
            <a:r>
              <a:rPr lang="en-US" dirty="0"/>
              <a:t>(root)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19433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41"/>
            <a:chOff x="1978924" y="2722180"/>
            <a:chExt cx="5336453" cy="537341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00"/>
              <a:chOff x="1978924" y="2971800"/>
              <a:chExt cx="4802307" cy="5334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22C48-DC7C-5741-9E37-ED6814CC556B}"/>
              </a:ext>
            </a:extLst>
          </p:cNvPr>
          <p:cNvSpPr txBox="1"/>
          <p:nvPr/>
        </p:nvSpPr>
        <p:spPr>
          <a:xfrm>
            <a:off x="4851087" y="5726340"/>
            <a:ext cx="6660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Percolate Down(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r>
              <a:rPr lang="en-US" sz="2400" dirty="0"/>
              <a:t>: if 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/>
              <a:t> satisfies heap property, done. Else swap with largest child and repeat on that subtree</a:t>
            </a:r>
          </a:p>
        </p:txBody>
      </p:sp>
    </p:spTree>
    <p:extLst>
      <p:ext uri="{BB962C8B-B14F-4D97-AF65-F5344CB8AC3E}">
        <p14:creationId xmlns:p14="http://schemas.microsoft.com/office/powerpoint/2010/main" val="2982381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Remove the Max element (i.e. the root) from the Heap: </a:t>
            </a:r>
            <a:r>
              <a:rPr lang="en-US" dirty="0"/>
              <a:t>replace with last element, call </a:t>
            </a:r>
            <a:r>
              <a:rPr lang="en-US" dirty="0" err="1"/>
              <a:t>percolateDown</a:t>
            </a:r>
            <a:r>
              <a:rPr lang="en-US" dirty="0"/>
              <a:t>(root)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19433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41"/>
            <a:chOff x="1978924" y="2722180"/>
            <a:chExt cx="5336453" cy="537341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00"/>
              <a:chOff x="1978924" y="2971800"/>
              <a:chExt cx="4802307" cy="5334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22C48-DC7C-5741-9E37-ED6814CC556B}"/>
              </a:ext>
            </a:extLst>
          </p:cNvPr>
          <p:cNvSpPr txBox="1"/>
          <p:nvPr/>
        </p:nvSpPr>
        <p:spPr>
          <a:xfrm>
            <a:off x="4851087" y="5726340"/>
            <a:ext cx="6660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Percolate Down(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r>
              <a:rPr lang="en-US" sz="2400" dirty="0"/>
              <a:t>: if 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/>
              <a:t> satisfies heap property, done. Else swap with largest child and repeat on that subtree</a:t>
            </a:r>
          </a:p>
        </p:txBody>
      </p:sp>
    </p:spTree>
    <p:extLst>
      <p:ext uri="{BB962C8B-B14F-4D97-AF65-F5344CB8AC3E}">
        <p14:creationId xmlns:p14="http://schemas.microsoft.com/office/powerpoint/2010/main" val="1748079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Remove the Max element (i.e. the root) from the Heap: </a:t>
            </a:r>
            <a:r>
              <a:rPr lang="en-US" dirty="0"/>
              <a:t>replace with last element, call </a:t>
            </a:r>
            <a:r>
              <a:rPr lang="en-US" dirty="0" err="1"/>
              <a:t>percolateDown</a:t>
            </a:r>
            <a:r>
              <a:rPr lang="en-US" dirty="0"/>
              <a:t>(root)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19433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41"/>
            <a:chOff x="1978924" y="2722180"/>
            <a:chExt cx="5336453" cy="537341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00"/>
              <a:chOff x="1978924" y="2971800"/>
              <a:chExt cx="4802307" cy="5334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22C48-DC7C-5741-9E37-ED6814CC556B}"/>
              </a:ext>
            </a:extLst>
          </p:cNvPr>
          <p:cNvSpPr txBox="1"/>
          <p:nvPr/>
        </p:nvSpPr>
        <p:spPr>
          <a:xfrm>
            <a:off x="4851087" y="5726340"/>
            <a:ext cx="6660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Percolate Down(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r>
              <a:rPr lang="en-US" sz="2400" dirty="0"/>
              <a:t>: if 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/>
              <a:t> satisfies heap property, done. Else swap with largest child and repeat on that subtree</a:t>
            </a:r>
          </a:p>
        </p:txBody>
      </p:sp>
    </p:spTree>
    <p:extLst>
      <p:ext uri="{BB962C8B-B14F-4D97-AF65-F5344CB8AC3E}">
        <p14:creationId xmlns:p14="http://schemas.microsoft.com/office/powerpoint/2010/main" val="134794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Remove the Max element (i.e. the root) from the Heap: </a:t>
            </a:r>
            <a:r>
              <a:rPr lang="en-US" dirty="0"/>
              <a:t>replace with last element, call </a:t>
            </a:r>
            <a:r>
              <a:rPr lang="en-US" dirty="0" err="1"/>
              <a:t>percolateDown</a:t>
            </a:r>
            <a:r>
              <a:rPr lang="en-US" dirty="0"/>
              <a:t>(root)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19433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41"/>
            <a:chOff x="1978924" y="2722180"/>
            <a:chExt cx="5336453" cy="537341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00"/>
              <a:chOff x="1978924" y="2971800"/>
              <a:chExt cx="4802307" cy="5334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22C48-DC7C-5741-9E37-ED6814CC556B}"/>
              </a:ext>
            </a:extLst>
          </p:cNvPr>
          <p:cNvSpPr txBox="1"/>
          <p:nvPr/>
        </p:nvSpPr>
        <p:spPr>
          <a:xfrm>
            <a:off x="4851087" y="5726340"/>
            <a:ext cx="6660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Percolate Down(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r>
              <a:rPr lang="en-US" sz="2400" dirty="0"/>
              <a:t>: if 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/>
              <a:t> satisfies heap property, done. Else swap with largest child and repeat on that subtree</a:t>
            </a:r>
          </a:p>
        </p:txBody>
      </p:sp>
    </p:spTree>
    <p:extLst>
      <p:ext uri="{BB962C8B-B14F-4D97-AF65-F5344CB8AC3E}">
        <p14:creationId xmlns:p14="http://schemas.microsoft.com/office/powerpoint/2010/main" val="1293279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12E9-3F02-2CFB-F8A1-0798247A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C29A1-5CF0-19FF-2850-9349F3E5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188"/>
            <a:ext cx="11252200" cy="1678693"/>
          </a:xfrm>
        </p:spPr>
        <p:txBody>
          <a:bodyPr>
            <a:normAutofit/>
          </a:bodyPr>
          <a:lstStyle/>
          <a:p>
            <a:r>
              <a:rPr lang="en-US" dirty="0"/>
              <a:t>Build a max heap</a:t>
            </a:r>
          </a:p>
          <a:p>
            <a:r>
              <a:rPr lang="en-US" dirty="0"/>
              <a:t>Call extract</a:t>
            </a:r>
          </a:p>
          <a:p>
            <a:r>
              <a:rPr lang="en-US" dirty="0"/>
              <a:t>Put that at the end of the array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0B9305-5813-9997-7771-B7BC37A4B988}"/>
              </a:ext>
            </a:extLst>
          </p:cNvPr>
          <p:cNvSpPr txBox="1"/>
          <p:nvPr/>
        </p:nvSpPr>
        <p:spPr>
          <a:xfrm>
            <a:off x="299720" y="3273374"/>
            <a:ext cx="4434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myHeap</a:t>
            </a:r>
            <a:r>
              <a:rPr lang="en-US" dirty="0"/>
              <a:t> = </a:t>
            </a:r>
            <a:r>
              <a:rPr lang="en-US" dirty="0" err="1"/>
              <a:t>buildMaxHeap</a:t>
            </a:r>
            <a:r>
              <a:rPr lang="en-US" dirty="0"/>
              <a:t>(a);</a:t>
            </a:r>
          </a:p>
          <a:p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a.length-1; </a:t>
            </a:r>
            <a:r>
              <a:rPr lang="en-US" dirty="0" err="1"/>
              <a:t>i</a:t>
            </a:r>
            <a:r>
              <a:rPr lang="en-US" dirty="0"/>
              <a:t>&gt;=0; </a:t>
            </a:r>
            <a:r>
              <a:rPr lang="en-US" dirty="0" err="1"/>
              <a:t>i</a:t>
            </a:r>
            <a:r>
              <a:rPr lang="en-US" dirty="0"/>
              <a:t>--){</a:t>
            </a:r>
          </a:p>
          <a:p>
            <a:r>
              <a:rPr lang="en-US" dirty="0"/>
              <a:t>        item = </a:t>
            </a:r>
            <a:r>
              <a:rPr lang="en-US" dirty="0" err="1"/>
              <a:t>myHeap.extract</a:t>
            </a:r>
            <a:r>
              <a:rPr lang="en-US" dirty="0"/>
              <a:t>();</a:t>
            </a:r>
          </a:p>
          <a:p>
            <a:r>
              <a:rPr lang="en-US" dirty="0"/>
              <a:t>        a[</a:t>
            </a:r>
            <a:r>
              <a:rPr lang="en-US" dirty="0" err="1"/>
              <a:t>i</a:t>
            </a:r>
            <a:r>
              <a:rPr lang="en-US" dirty="0"/>
              <a:t>] = item;</a:t>
            </a:r>
          </a:p>
          <a:p>
            <a:r>
              <a:rPr lang="en-US" dirty="0"/>
              <a:t>}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DF0B3D-6CCD-BDBB-6693-F8DD5945C5AE}"/>
                  </a:ext>
                </a:extLst>
              </p:cNvPr>
              <p:cNvSpPr txBox="1"/>
              <p:nvPr/>
            </p:nvSpPr>
            <p:spPr>
              <a:xfrm>
                <a:off x="5872480" y="3244334"/>
                <a:ext cx="443484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Running Time:</a:t>
                </a:r>
              </a:p>
              <a:p>
                <a:r>
                  <a:rPr lang="en-US" sz="2800" dirty="0"/>
                  <a:t>	Worst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	Best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DF0B3D-6CCD-BDBB-6693-F8DD5945C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480" y="3244334"/>
                <a:ext cx="4434840" cy="1384995"/>
              </a:xfrm>
              <a:prstGeom prst="rect">
                <a:avLst/>
              </a:prstGeom>
              <a:blipFill>
                <a:blip r:embed="rId2"/>
                <a:stretch>
                  <a:fillRect l="-2747" t="-3965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801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22811-03DA-EEF2-696E-79B19FD82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 Place” Sorting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B60587-5F27-0865-429E-8AA3C8FC40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sorting algorithm which requires no extra data structures</a:t>
                </a:r>
              </a:p>
              <a:p>
                <a:r>
                  <a:rPr lang="en-US" dirty="0"/>
                  <a:t>Idea: It sorts items just by swapping things in the same array given</a:t>
                </a:r>
              </a:p>
              <a:p>
                <a:r>
                  <a:rPr lang="en-US" dirty="0"/>
                  <a:t>Definition: it only uses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extra space</a:t>
                </a:r>
              </a:p>
              <a:p>
                <a:endParaRPr lang="en-US" dirty="0"/>
              </a:p>
              <a:p>
                <a:r>
                  <a:rPr lang="en-US" dirty="0"/>
                  <a:t>Selection sort: In Place!</a:t>
                </a:r>
              </a:p>
              <a:p>
                <a:r>
                  <a:rPr lang="en-US" dirty="0"/>
                  <a:t>Insertion sort: In Place!</a:t>
                </a:r>
              </a:p>
              <a:p>
                <a:r>
                  <a:rPr lang="en-US" dirty="0"/>
                  <a:t>Heap sort: Not In Place!</a:t>
                </a:r>
              </a:p>
              <a:p>
                <a:pPr lvl="1"/>
                <a:r>
                  <a:rPr lang="en-US" dirty="0"/>
                  <a:t>But we can fix that!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B60587-5F27-0865-429E-8AA3C8FC40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56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Place 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51280"/>
            <a:ext cx="8229600" cy="10668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When “removing” an element from the heap, swap it with the last item of the heap then “pretend” the heap is one item shorter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3470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402194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99357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7231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76502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68165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68165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69240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69240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" name="Oval 106"/>
          <p:cNvSpPr/>
          <p:nvPr/>
        </p:nvSpPr>
        <p:spPr>
          <a:xfrm>
            <a:off x="4648201" y="5674527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69104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69104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60925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60925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31047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31047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07" idx="0"/>
            <a:endCxn id="102" idx="3"/>
          </p:cNvCxnSpPr>
          <p:nvPr/>
        </p:nvCxnSpPr>
        <p:spPr>
          <a:xfrm flipV="1">
            <a:off x="4992240" y="5352338"/>
            <a:ext cx="319733" cy="322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58088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58088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418080"/>
            <a:ext cx="5336453" cy="537341"/>
            <a:chOff x="1978924" y="2722180"/>
            <a:chExt cx="5336453" cy="537341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00"/>
              <a:chOff x="1978924" y="2971800"/>
              <a:chExt cx="4802307" cy="5334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40563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7167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6563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411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3523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4485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3697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304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304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842600" y="6304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3153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When “removing” an element from the heap, swap it with the last item of the heap then “pretend” the heap is one item shorter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19433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41"/>
            <a:chOff x="1978924" y="2722180"/>
            <a:chExt cx="5336453" cy="537341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00"/>
              <a:chOff x="1978924" y="2971800"/>
              <a:chExt cx="4802307" cy="5334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55676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When “removing” an element from the heap, swap it with the last item of the heap then “pretend” the heap is one item shorter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19433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54"/>
            <a:chOff x="1978924" y="2722180"/>
            <a:chExt cx="5336453" cy="537354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13"/>
              <a:chOff x="1978924" y="2971800"/>
              <a:chExt cx="4802307" cy="533413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520" y="2971813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2712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When “removing” an element from the heap, swap it with the last item of the heap then “pretend” the heap is one item shorter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54"/>
            <a:chOff x="1978924" y="2722180"/>
            <a:chExt cx="5336453" cy="537354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13"/>
              <a:chOff x="1978924" y="2971800"/>
              <a:chExt cx="4802307" cy="533413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520" y="2971813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32951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When “removing” an element from the heap, swap it with the last item of the heap then “pretend” the heap is one item shorter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54"/>
            <a:chOff x="1978924" y="2722180"/>
            <a:chExt cx="5336453" cy="537354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13"/>
              <a:chOff x="1978924" y="2971800"/>
              <a:chExt cx="4802307" cy="533413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520" y="2971813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7229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When “removing” an element from the heap, swap it with the last item of the heap then “pretend” the heap is one item shorter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54"/>
            <a:chOff x="1978924" y="2722180"/>
            <a:chExt cx="5336453" cy="537354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13"/>
              <a:chOff x="1978924" y="2971800"/>
              <a:chExt cx="4802307" cy="533413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520" y="2971813"/>
                <a:ext cx="533400" cy="5334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95819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When “removing” an element from the heap, swap it with the last item of the heap then “pretend” the heap is one item shorter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54"/>
            <a:chOff x="1978924" y="2722180"/>
            <a:chExt cx="5336453" cy="537354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13"/>
              <a:chOff x="1978924" y="2971800"/>
              <a:chExt cx="4802307" cy="533413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520" y="2971813"/>
                <a:ext cx="533400" cy="5334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34682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12E9-3F02-2CFB-F8A1-0798247A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Place 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C29A1-5CF0-19FF-2850-9349F3E5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188"/>
            <a:ext cx="11252200" cy="1678693"/>
          </a:xfrm>
        </p:spPr>
        <p:txBody>
          <a:bodyPr>
            <a:normAutofit/>
          </a:bodyPr>
          <a:lstStyle/>
          <a:p>
            <a:r>
              <a:rPr lang="en-US" dirty="0"/>
              <a:t>Build a heap using the same array (Floyd’s build heap algorithm works)</a:t>
            </a:r>
          </a:p>
          <a:p>
            <a:r>
              <a:rPr lang="en-US" dirty="0"/>
              <a:t>Call </a:t>
            </a:r>
            <a:r>
              <a:rPr lang="en-US" dirty="0" err="1"/>
              <a:t>deleteMax</a:t>
            </a:r>
            <a:endParaRPr lang="en-US" dirty="0"/>
          </a:p>
          <a:p>
            <a:r>
              <a:rPr lang="en-US" dirty="0"/>
              <a:t>Put that at the end of the array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0B9305-5813-9997-7771-B7BC37A4B988}"/>
              </a:ext>
            </a:extLst>
          </p:cNvPr>
          <p:cNvSpPr txBox="1"/>
          <p:nvPr/>
        </p:nvSpPr>
        <p:spPr>
          <a:xfrm>
            <a:off x="299720" y="3273374"/>
            <a:ext cx="44348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buildHeap</a:t>
            </a:r>
            <a:r>
              <a:rPr lang="en-US" dirty="0"/>
              <a:t>(a);</a:t>
            </a:r>
          </a:p>
          <a:p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a.length-1; </a:t>
            </a:r>
            <a:r>
              <a:rPr lang="en-US" dirty="0" err="1"/>
              <a:t>i</a:t>
            </a:r>
            <a:r>
              <a:rPr lang="en-US" dirty="0"/>
              <a:t>&gt;=0; </a:t>
            </a:r>
            <a:r>
              <a:rPr lang="en-US" dirty="0" err="1"/>
              <a:t>i</a:t>
            </a:r>
            <a:r>
              <a:rPr lang="en-US" dirty="0"/>
              <a:t>--){</a:t>
            </a:r>
          </a:p>
          <a:p>
            <a:r>
              <a:rPr lang="en-US" dirty="0"/>
              <a:t>        temp=a[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r>
              <a:rPr lang="en-US" dirty="0"/>
              <a:t>        a[</a:t>
            </a:r>
            <a:r>
              <a:rPr lang="en-US" dirty="0" err="1"/>
              <a:t>i</a:t>
            </a:r>
            <a:r>
              <a:rPr lang="en-US" dirty="0"/>
              <a:t>] = a[0];</a:t>
            </a:r>
          </a:p>
          <a:p>
            <a:r>
              <a:rPr lang="en-US" dirty="0"/>
              <a:t>        a[0] = temp;</a:t>
            </a:r>
          </a:p>
          <a:p>
            <a:r>
              <a:rPr lang="en-US" dirty="0"/>
              <a:t>        </a:t>
            </a:r>
            <a:r>
              <a:rPr lang="en-US" dirty="0" err="1"/>
              <a:t>percolateDown</a:t>
            </a:r>
            <a:r>
              <a:rPr lang="en-US" dirty="0"/>
              <a:t>(0);</a:t>
            </a:r>
          </a:p>
          <a:p>
            <a:r>
              <a:rPr lang="en-US" dirty="0"/>
              <a:t>}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DF0B3D-6CCD-BDBB-6693-F8DD5945C5AE}"/>
                  </a:ext>
                </a:extLst>
              </p:cNvPr>
              <p:cNvSpPr txBox="1"/>
              <p:nvPr/>
            </p:nvSpPr>
            <p:spPr>
              <a:xfrm>
                <a:off x="5872480" y="3244334"/>
                <a:ext cx="443484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Running Time:</a:t>
                </a:r>
              </a:p>
              <a:p>
                <a:r>
                  <a:rPr lang="en-US" sz="2800" dirty="0"/>
                  <a:t>	Worst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	Best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DF0B3D-6CCD-BDBB-6693-F8DD5945C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480" y="3244334"/>
                <a:ext cx="4434840" cy="1384995"/>
              </a:xfrm>
              <a:prstGeom prst="rect">
                <a:avLst/>
              </a:prstGeom>
              <a:blipFill>
                <a:blip r:embed="rId2"/>
                <a:stretch>
                  <a:fillRect l="-2747" t="-3965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5155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1EFF-DC2E-DD10-0292-33AAADA21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D70E1-83BF-D071-92AA-72F7671FE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towards the root, one row at a time, percolate down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D2E5B4-7285-3ACB-0CCF-7D5C84D8A06C}"/>
              </a:ext>
            </a:extLst>
          </p:cNvPr>
          <p:cNvSpPr txBox="1"/>
          <p:nvPr/>
        </p:nvSpPr>
        <p:spPr>
          <a:xfrm>
            <a:off x="1188720" y="3262630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759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CBAD-23AB-0CC2-48DA-218DAB0B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9AF56-68BF-F3D5-11B8-6D7ECED34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and Conquer:</a:t>
            </a:r>
          </a:p>
          <a:p>
            <a:pPr lvl="1"/>
            <a:r>
              <a:rPr lang="en-US" dirty="0"/>
              <a:t>Recursive algorithm design technique</a:t>
            </a:r>
          </a:p>
          <a:p>
            <a:pPr lvl="1"/>
            <a:r>
              <a:rPr lang="en-US" dirty="0"/>
              <a:t>Solve a large problem by breaking it up into smaller versions of the same problem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0080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38588" y="1410797"/>
            <a:ext cx="9601200" cy="5257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Base Case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If the problem is “small” then solve directly and return</a:t>
            </a:r>
          </a:p>
          <a:p>
            <a:pPr lvl="2"/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Divide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Break the problem into subproblem(s), each smaller instances</a:t>
            </a:r>
          </a:p>
          <a:p>
            <a:pPr lvl="1"/>
            <a:endParaRPr lang="en-US" sz="2600" b="1" dirty="0"/>
          </a:p>
          <a:p>
            <a:r>
              <a:rPr lang="en-US" b="1" dirty="0">
                <a:solidFill>
                  <a:srgbClr val="0070C0"/>
                </a:solidFill>
              </a:rPr>
              <a:t>Conquer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Solve subproblem(s) recursively</a:t>
            </a:r>
          </a:p>
          <a:p>
            <a:pPr lvl="1"/>
            <a:endParaRPr lang="en-US" sz="2600" dirty="0">
              <a:solidFill>
                <a:srgbClr val="FF33CC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Use solutions to subproblems to solve original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BD0AC-AF6B-41D9-8112-2153A916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34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DF71E6-F9FB-D6A8-1E23-54C6D3C4AD9B}"/>
              </a:ext>
            </a:extLst>
          </p:cNvPr>
          <p:cNvGrpSpPr/>
          <p:nvPr/>
        </p:nvGrpSpPr>
        <p:grpSpPr>
          <a:xfrm>
            <a:off x="6837680" y="257670"/>
            <a:ext cx="2535365" cy="1245566"/>
            <a:chOff x="1828800" y="1295400"/>
            <a:chExt cx="9753600" cy="4791716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DAC2D07C-463A-A5C5-6448-C3934F49A2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00"/>
            <a:stretch/>
          </p:blipFill>
          <p:spPr bwMode="auto">
            <a:xfrm>
              <a:off x="5410200" y="1562741"/>
              <a:ext cx="6172200" cy="4524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2BDA3FC-F142-9C70-E4D6-4E5EE4158D0A}"/>
                </a:ext>
              </a:extLst>
            </p:cNvPr>
            <p:cNvSpPr/>
            <p:nvPr/>
          </p:nvSpPr>
          <p:spPr>
            <a:xfrm>
              <a:off x="1828800" y="1295400"/>
              <a:ext cx="3852820" cy="4022719"/>
            </a:xfrm>
            <a:custGeom>
              <a:avLst/>
              <a:gdLst>
                <a:gd name="connsiteX0" fmla="*/ 3613123 w 3852820"/>
                <a:gd name="connsiteY0" fmla="*/ 763480 h 4022719"/>
                <a:gd name="connsiteX1" fmla="*/ 3178117 w 3852820"/>
                <a:gd name="connsiteY1" fmla="*/ 772357 h 4022719"/>
                <a:gd name="connsiteX2" fmla="*/ 2849643 w 3852820"/>
                <a:gd name="connsiteY2" fmla="*/ 887767 h 4022719"/>
                <a:gd name="connsiteX3" fmla="*/ 2680968 w 3852820"/>
                <a:gd name="connsiteY3" fmla="*/ 967666 h 4022719"/>
                <a:gd name="connsiteX4" fmla="*/ 2601069 w 3852820"/>
                <a:gd name="connsiteY4" fmla="*/ 1145220 h 4022719"/>
                <a:gd name="connsiteX5" fmla="*/ 2583313 w 3852820"/>
                <a:gd name="connsiteY5" fmla="*/ 1384917 h 4022719"/>
                <a:gd name="connsiteX6" fmla="*/ 2609946 w 3852820"/>
                <a:gd name="connsiteY6" fmla="*/ 2130641 h 4022719"/>
                <a:gd name="connsiteX7" fmla="*/ 2751989 w 3852820"/>
                <a:gd name="connsiteY7" fmla="*/ 2547891 h 4022719"/>
                <a:gd name="connsiteX8" fmla="*/ 2672090 w 3852820"/>
                <a:gd name="connsiteY8" fmla="*/ 2849732 h 4022719"/>
                <a:gd name="connsiteX9" fmla="*/ 2316983 w 3852820"/>
                <a:gd name="connsiteY9" fmla="*/ 3053919 h 4022719"/>
                <a:gd name="connsiteX10" fmla="*/ 1846467 w 3852820"/>
                <a:gd name="connsiteY10" fmla="*/ 2982897 h 4022719"/>
                <a:gd name="connsiteX11" fmla="*/ 1526871 w 3852820"/>
                <a:gd name="connsiteY11" fmla="*/ 2769833 h 4022719"/>
                <a:gd name="connsiteX12" fmla="*/ 923189 w 3852820"/>
                <a:gd name="connsiteY12" fmla="*/ 2512381 h 4022719"/>
                <a:gd name="connsiteX13" fmla="*/ 594715 w 3852820"/>
                <a:gd name="connsiteY13" fmla="*/ 2104008 h 4022719"/>
                <a:gd name="connsiteX14" fmla="*/ 585838 w 3852820"/>
                <a:gd name="connsiteY14" fmla="*/ 2015231 h 4022719"/>
                <a:gd name="connsiteX15" fmla="*/ 1216152 w 3852820"/>
                <a:gd name="connsiteY15" fmla="*/ 1509204 h 4022719"/>
                <a:gd name="connsiteX16" fmla="*/ 1677791 w 3852820"/>
                <a:gd name="connsiteY16" fmla="*/ 1447060 h 4022719"/>
                <a:gd name="connsiteX17" fmla="*/ 2849643 w 3852820"/>
                <a:gd name="connsiteY17" fmla="*/ 1784412 h 4022719"/>
                <a:gd name="connsiteX18" fmla="*/ 2956175 w 3852820"/>
                <a:gd name="connsiteY18" fmla="*/ 1882066 h 4022719"/>
                <a:gd name="connsiteX19" fmla="*/ 3009441 w 3852820"/>
                <a:gd name="connsiteY19" fmla="*/ 2032987 h 4022719"/>
                <a:gd name="connsiteX20" fmla="*/ 2956175 w 3852820"/>
                <a:gd name="connsiteY20" fmla="*/ 2379216 h 4022719"/>
                <a:gd name="connsiteX21" fmla="*/ 2654335 w 3852820"/>
                <a:gd name="connsiteY21" fmla="*/ 2645546 h 4022719"/>
                <a:gd name="connsiteX22" fmla="*/ 2103919 w 3852820"/>
                <a:gd name="connsiteY22" fmla="*/ 3258105 h 4022719"/>
                <a:gd name="connsiteX23" fmla="*/ 1864222 w 3852820"/>
                <a:gd name="connsiteY23" fmla="*/ 3382392 h 4022719"/>
                <a:gd name="connsiteX24" fmla="*/ 1296051 w 3852820"/>
                <a:gd name="connsiteY24" fmla="*/ 3311371 h 4022719"/>
                <a:gd name="connsiteX25" fmla="*/ 1145131 w 3852820"/>
                <a:gd name="connsiteY25" fmla="*/ 3222594 h 4022719"/>
                <a:gd name="connsiteX26" fmla="*/ 1065232 w 3852820"/>
                <a:gd name="connsiteY26" fmla="*/ 3080552 h 4022719"/>
                <a:gd name="connsiteX27" fmla="*/ 994210 w 3852820"/>
                <a:gd name="connsiteY27" fmla="*/ 1890944 h 4022719"/>
                <a:gd name="connsiteX28" fmla="*/ 1038599 w 3852820"/>
                <a:gd name="connsiteY28" fmla="*/ 958788 h 4022719"/>
                <a:gd name="connsiteX29" fmla="*/ 1003088 w 3852820"/>
                <a:gd name="connsiteY29" fmla="*/ 727969 h 4022719"/>
                <a:gd name="connsiteX30" fmla="*/ 976455 w 3852820"/>
                <a:gd name="connsiteY30" fmla="*/ 648070 h 4022719"/>
                <a:gd name="connsiteX31" fmla="*/ 878801 w 3852820"/>
                <a:gd name="connsiteY31" fmla="*/ 612559 h 4022719"/>
                <a:gd name="connsiteX32" fmla="*/ 674614 w 3852820"/>
                <a:gd name="connsiteY32" fmla="*/ 701336 h 4022719"/>
                <a:gd name="connsiteX33" fmla="*/ 328385 w 3852820"/>
                <a:gd name="connsiteY33" fmla="*/ 1189608 h 4022719"/>
                <a:gd name="connsiteX34" fmla="*/ 319507 w 3852820"/>
                <a:gd name="connsiteY34" fmla="*/ 1606858 h 4022719"/>
                <a:gd name="connsiteX35" fmla="*/ 470428 w 3852820"/>
                <a:gd name="connsiteY35" fmla="*/ 1988598 h 4022719"/>
                <a:gd name="connsiteX36" fmla="*/ 807779 w 3852820"/>
                <a:gd name="connsiteY36" fmla="*/ 2379216 h 4022719"/>
                <a:gd name="connsiteX37" fmla="*/ 1402583 w 3852820"/>
                <a:gd name="connsiteY37" fmla="*/ 2494625 h 4022719"/>
                <a:gd name="connsiteX38" fmla="*/ 1633403 w 3852820"/>
                <a:gd name="connsiteY38" fmla="*/ 2467992 h 4022719"/>
                <a:gd name="connsiteX39" fmla="*/ 2059531 w 3852820"/>
                <a:gd name="connsiteY39" fmla="*/ 1731146 h 4022719"/>
                <a:gd name="connsiteX40" fmla="*/ 2015142 w 3852820"/>
                <a:gd name="connsiteY40" fmla="*/ 1056443 h 4022719"/>
                <a:gd name="connsiteX41" fmla="*/ 1846467 w 3852820"/>
                <a:gd name="connsiteY41" fmla="*/ 594804 h 4022719"/>
                <a:gd name="connsiteX42" fmla="*/ 1517993 w 3852820"/>
                <a:gd name="connsiteY42" fmla="*/ 958788 h 4022719"/>
                <a:gd name="connsiteX43" fmla="*/ 1535748 w 3852820"/>
                <a:gd name="connsiteY43" fmla="*/ 1420427 h 4022719"/>
                <a:gd name="connsiteX44" fmla="*/ 1748812 w 3852820"/>
                <a:gd name="connsiteY44" fmla="*/ 2059620 h 4022719"/>
                <a:gd name="connsiteX45" fmla="*/ 2902909 w 3852820"/>
                <a:gd name="connsiteY45" fmla="*/ 3045041 h 4022719"/>
                <a:gd name="connsiteX46" fmla="*/ 3169239 w 3852820"/>
                <a:gd name="connsiteY46" fmla="*/ 3160451 h 4022719"/>
                <a:gd name="connsiteX47" fmla="*/ 3382304 w 3852820"/>
                <a:gd name="connsiteY47" fmla="*/ 3400148 h 4022719"/>
                <a:gd name="connsiteX48" fmla="*/ 3444447 w 3852820"/>
                <a:gd name="connsiteY48" fmla="*/ 3604334 h 4022719"/>
                <a:gd name="connsiteX49" fmla="*/ 2592191 w 3852820"/>
                <a:gd name="connsiteY49" fmla="*/ 3817398 h 4022719"/>
                <a:gd name="connsiteX50" fmla="*/ 1722179 w 3852820"/>
                <a:gd name="connsiteY50" fmla="*/ 3355759 h 4022719"/>
                <a:gd name="connsiteX51" fmla="*/ 1677791 w 3852820"/>
                <a:gd name="connsiteY51" fmla="*/ 3089429 h 4022719"/>
                <a:gd name="connsiteX52" fmla="*/ 1810956 w 3852820"/>
                <a:gd name="connsiteY52" fmla="*/ 2707689 h 4022719"/>
                <a:gd name="connsiteX53" fmla="*/ 2263717 w 3852820"/>
                <a:gd name="connsiteY53" fmla="*/ 2423604 h 4022719"/>
                <a:gd name="connsiteX54" fmla="*/ 2707601 w 3852820"/>
                <a:gd name="connsiteY54" fmla="*/ 2059620 h 4022719"/>
                <a:gd name="connsiteX55" fmla="*/ 2760867 w 3852820"/>
                <a:gd name="connsiteY55" fmla="*/ 1864311 h 4022719"/>
                <a:gd name="connsiteX56" fmla="*/ 2148307 w 3852820"/>
                <a:gd name="connsiteY56" fmla="*/ 1526959 h 4022719"/>
                <a:gd name="connsiteX57" fmla="*/ 1926366 w 3852820"/>
                <a:gd name="connsiteY57" fmla="*/ 1615736 h 4022719"/>
                <a:gd name="connsiteX58" fmla="*/ 2245962 w 3852820"/>
                <a:gd name="connsiteY58" fmla="*/ 2334827 h 4022719"/>
                <a:gd name="connsiteX59" fmla="*/ 3258016 w 3852820"/>
                <a:gd name="connsiteY59" fmla="*/ 2991775 h 4022719"/>
                <a:gd name="connsiteX60" fmla="*/ 3426692 w 3852820"/>
                <a:gd name="connsiteY60" fmla="*/ 3089429 h 4022719"/>
                <a:gd name="connsiteX61" fmla="*/ 3524346 w 3852820"/>
                <a:gd name="connsiteY61" fmla="*/ 3124940 h 4022719"/>
                <a:gd name="connsiteX62" fmla="*/ 3559857 w 3852820"/>
                <a:gd name="connsiteY62" fmla="*/ 3178206 h 4022719"/>
                <a:gd name="connsiteX63" fmla="*/ 2965053 w 3852820"/>
                <a:gd name="connsiteY63" fmla="*/ 3648722 h 4022719"/>
                <a:gd name="connsiteX64" fmla="*/ 2459026 w 3852820"/>
                <a:gd name="connsiteY64" fmla="*/ 3391270 h 4022719"/>
                <a:gd name="connsiteX65" fmla="*/ 2388005 w 3852820"/>
                <a:gd name="connsiteY65" fmla="*/ 3160451 h 4022719"/>
                <a:gd name="connsiteX66" fmla="*/ 2680968 w 3852820"/>
                <a:gd name="connsiteY66" fmla="*/ 2370338 h 4022719"/>
                <a:gd name="connsiteX67" fmla="*/ 2716478 w 3852820"/>
                <a:gd name="connsiteY67" fmla="*/ 2059620 h 4022719"/>
                <a:gd name="connsiteX68" fmla="*/ 1739935 w 3852820"/>
                <a:gd name="connsiteY68" fmla="*/ 1438183 h 4022719"/>
                <a:gd name="connsiteX69" fmla="*/ 1136253 w 3852820"/>
                <a:gd name="connsiteY69" fmla="*/ 2015231 h 4022719"/>
                <a:gd name="connsiteX70" fmla="*/ 2103919 w 3852820"/>
                <a:gd name="connsiteY70" fmla="*/ 3169328 h 4022719"/>
                <a:gd name="connsiteX71" fmla="*/ 2441271 w 3852820"/>
                <a:gd name="connsiteY71" fmla="*/ 3195961 h 4022719"/>
                <a:gd name="connsiteX72" fmla="*/ 2601069 w 3852820"/>
                <a:gd name="connsiteY72" fmla="*/ 2965142 h 4022719"/>
                <a:gd name="connsiteX73" fmla="*/ 1766568 w 3852820"/>
                <a:gd name="connsiteY73" fmla="*/ 1775534 h 4022719"/>
                <a:gd name="connsiteX74" fmla="*/ 1340439 w 3852820"/>
                <a:gd name="connsiteY74" fmla="*/ 1802167 h 4022719"/>
                <a:gd name="connsiteX75" fmla="*/ 1633403 w 3852820"/>
                <a:gd name="connsiteY75" fmla="*/ 3888420 h 4022719"/>
                <a:gd name="connsiteX76" fmla="*/ 2015142 w 3852820"/>
                <a:gd name="connsiteY76" fmla="*/ 3994952 h 4022719"/>
                <a:gd name="connsiteX77" fmla="*/ 2095041 w 3852820"/>
                <a:gd name="connsiteY77" fmla="*/ 3630967 h 4022719"/>
                <a:gd name="connsiteX78" fmla="*/ 1864222 w 3852820"/>
                <a:gd name="connsiteY78" fmla="*/ 3204839 h 4022719"/>
                <a:gd name="connsiteX79" fmla="*/ 1828711 w 3852820"/>
                <a:gd name="connsiteY79" fmla="*/ 3178206 h 4022719"/>
                <a:gd name="connsiteX80" fmla="*/ 1899733 w 3852820"/>
                <a:gd name="connsiteY80" fmla="*/ 3204839 h 4022719"/>
                <a:gd name="connsiteX81" fmla="*/ 2503414 w 3852820"/>
                <a:gd name="connsiteY81" fmla="*/ 3586579 h 4022719"/>
                <a:gd name="connsiteX82" fmla="*/ 2840766 w 3852820"/>
                <a:gd name="connsiteY82" fmla="*/ 3613212 h 4022719"/>
                <a:gd name="connsiteX83" fmla="*/ 2609946 w 3852820"/>
                <a:gd name="connsiteY83" fmla="*/ 2743200 h 4022719"/>
                <a:gd name="connsiteX84" fmla="*/ 2494537 w 3852820"/>
                <a:gd name="connsiteY84" fmla="*/ 2707689 h 4022719"/>
                <a:gd name="connsiteX85" fmla="*/ 2627702 w 3852820"/>
                <a:gd name="connsiteY85" fmla="*/ 3542190 h 4022719"/>
                <a:gd name="connsiteX86" fmla="*/ 3222506 w 3852820"/>
                <a:gd name="connsiteY86" fmla="*/ 3178206 h 4022719"/>
                <a:gd name="connsiteX87" fmla="*/ 3186995 w 3852820"/>
                <a:gd name="connsiteY87" fmla="*/ 2512381 h 4022719"/>
                <a:gd name="connsiteX88" fmla="*/ 1952999 w 3852820"/>
                <a:gd name="connsiteY88" fmla="*/ 1722268 h 4022719"/>
                <a:gd name="connsiteX89" fmla="*/ 1731057 w 3852820"/>
                <a:gd name="connsiteY89" fmla="*/ 1899821 h 4022719"/>
                <a:gd name="connsiteX90" fmla="*/ 2343616 w 3852820"/>
                <a:gd name="connsiteY90" fmla="*/ 2547891 h 4022719"/>
                <a:gd name="connsiteX91" fmla="*/ 2414638 w 3852820"/>
                <a:gd name="connsiteY91" fmla="*/ 1331651 h 4022719"/>
                <a:gd name="connsiteX92" fmla="*/ 1802078 w 3852820"/>
                <a:gd name="connsiteY92" fmla="*/ 1029810 h 4022719"/>
                <a:gd name="connsiteX93" fmla="*/ 914311 w 3852820"/>
                <a:gd name="connsiteY93" fmla="*/ 1633491 h 4022719"/>
                <a:gd name="connsiteX94" fmla="*/ 923189 w 3852820"/>
                <a:gd name="connsiteY94" fmla="*/ 1819922 h 4022719"/>
                <a:gd name="connsiteX95" fmla="*/ 1589014 w 3852820"/>
                <a:gd name="connsiteY95" fmla="*/ 1944210 h 4022719"/>
                <a:gd name="connsiteX96" fmla="*/ 2041775 w 3852820"/>
                <a:gd name="connsiteY96" fmla="*/ 1695635 h 4022719"/>
                <a:gd name="connsiteX97" fmla="*/ 1287173 w 3852820"/>
                <a:gd name="connsiteY97" fmla="*/ 319596 h 4022719"/>
                <a:gd name="connsiteX98" fmla="*/ 940944 w 3852820"/>
                <a:gd name="connsiteY98" fmla="*/ 230820 h 4022719"/>
                <a:gd name="connsiteX99" fmla="*/ 603593 w 3852820"/>
                <a:gd name="connsiteY99" fmla="*/ 772357 h 4022719"/>
                <a:gd name="connsiteX100" fmla="*/ 727880 w 3852820"/>
                <a:gd name="connsiteY100" fmla="*/ 2148396 h 4022719"/>
                <a:gd name="connsiteX101" fmla="*/ 967577 w 3852820"/>
                <a:gd name="connsiteY101" fmla="*/ 2405849 h 4022719"/>
                <a:gd name="connsiteX102" fmla="*/ 1509115 w 3852820"/>
                <a:gd name="connsiteY102" fmla="*/ 2299317 h 4022719"/>
                <a:gd name="connsiteX103" fmla="*/ 1855344 w 3852820"/>
                <a:gd name="connsiteY103" fmla="*/ 656948 h 4022719"/>
                <a:gd name="connsiteX104" fmla="*/ 1331562 w 3852820"/>
                <a:gd name="connsiteY104" fmla="*/ 514905 h 4022719"/>
                <a:gd name="connsiteX105" fmla="*/ 940944 w 3852820"/>
                <a:gd name="connsiteY105" fmla="*/ 2725445 h 4022719"/>
                <a:gd name="connsiteX106" fmla="*/ 1739935 w 3852820"/>
                <a:gd name="connsiteY106" fmla="*/ 3338004 h 4022719"/>
                <a:gd name="connsiteX107" fmla="*/ 2396882 w 3852820"/>
                <a:gd name="connsiteY107" fmla="*/ 2991775 h 4022719"/>
                <a:gd name="connsiteX108" fmla="*/ 1793201 w 3852820"/>
                <a:gd name="connsiteY108" fmla="*/ 1864311 h 4022719"/>
                <a:gd name="connsiteX109" fmla="*/ 1313806 w 3852820"/>
                <a:gd name="connsiteY109" fmla="*/ 2192785 h 4022719"/>
                <a:gd name="connsiteX110" fmla="*/ 1384828 w 3852820"/>
                <a:gd name="connsiteY110" fmla="*/ 3941686 h 4022719"/>
                <a:gd name="connsiteX111" fmla="*/ 2503414 w 3852820"/>
                <a:gd name="connsiteY111" fmla="*/ 4012707 h 4022719"/>
                <a:gd name="connsiteX112" fmla="*/ 3089340 w 3852820"/>
                <a:gd name="connsiteY112" fmla="*/ 3639845 h 4022719"/>
                <a:gd name="connsiteX113" fmla="*/ 3027197 w 3852820"/>
                <a:gd name="connsiteY113" fmla="*/ 2068497 h 4022719"/>
                <a:gd name="connsiteX114" fmla="*/ 2689845 w 3852820"/>
                <a:gd name="connsiteY114" fmla="*/ 1686757 h 4022719"/>
                <a:gd name="connsiteX115" fmla="*/ 2201573 w 3852820"/>
                <a:gd name="connsiteY115" fmla="*/ 2636668 h 4022719"/>
                <a:gd name="connsiteX116" fmla="*/ 2840766 w 3852820"/>
                <a:gd name="connsiteY116" fmla="*/ 2752078 h 4022719"/>
                <a:gd name="connsiteX117" fmla="*/ 3684144 w 3852820"/>
                <a:gd name="connsiteY117" fmla="*/ 807868 h 4022719"/>
                <a:gd name="connsiteX118" fmla="*/ 3364548 w 3852820"/>
                <a:gd name="connsiteY118" fmla="*/ 417251 h 4022719"/>
                <a:gd name="connsiteX119" fmla="*/ 3062707 w 3852820"/>
                <a:gd name="connsiteY119" fmla="*/ 435006 h 4022719"/>
                <a:gd name="connsiteX120" fmla="*/ 2245962 w 3852820"/>
                <a:gd name="connsiteY120" fmla="*/ 1296140 h 4022719"/>
                <a:gd name="connsiteX121" fmla="*/ 2778622 w 3852820"/>
                <a:gd name="connsiteY121" fmla="*/ 612559 h 4022719"/>
                <a:gd name="connsiteX122" fmla="*/ 2121674 w 3852820"/>
                <a:gd name="connsiteY122" fmla="*/ 0 h 4022719"/>
                <a:gd name="connsiteX123" fmla="*/ 1509115 w 3852820"/>
                <a:gd name="connsiteY123" fmla="*/ 363985 h 4022719"/>
                <a:gd name="connsiteX124" fmla="*/ 1855344 w 3852820"/>
                <a:gd name="connsiteY124" fmla="*/ 1811045 h 4022719"/>
                <a:gd name="connsiteX125" fmla="*/ 2432393 w 3852820"/>
                <a:gd name="connsiteY125" fmla="*/ 1953088 h 4022719"/>
                <a:gd name="connsiteX126" fmla="*/ 2991686 w 3852820"/>
                <a:gd name="connsiteY126" fmla="*/ 1491449 h 4022719"/>
                <a:gd name="connsiteX127" fmla="*/ 2192696 w 3852820"/>
                <a:gd name="connsiteY127" fmla="*/ 603682 h 4022719"/>
                <a:gd name="connsiteX128" fmla="*/ 1420339 w 3852820"/>
                <a:gd name="connsiteY128" fmla="*/ 1988598 h 4022719"/>
                <a:gd name="connsiteX129" fmla="*/ 2121674 w 3852820"/>
                <a:gd name="connsiteY129" fmla="*/ 2290439 h 4022719"/>
                <a:gd name="connsiteX130" fmla="*/ 2956175 w 3852820"/>
                <a:gd name="connsiteY130" fmla="*/ 1287262 h 4022719"/>
                <a:gd name="connsiteX131" fmla="*/ 2068408 w 3852820"/>
                <a:gd name="connsiteY131" fmla="*/ 807868 h 4022719"/>
                <a:gd name="connsiteX132" fmla="*/ 1668913 w 3852820"/>
                <a:gd name="connsiteY132" fmla="*/ 2334827 h 4022719"/>
                <a:gd name="connsiteX133" fmla="*/ 2192696 w 3852820"/>
                <a:gd name="connsiteY133" fmla="*/ 2601157 h 4022719"/>
                <a:gd name="connsiteX134" fmla="*/ 3036074 w 3852820"/>
                <a:gd name="connsiteY134" fmla="*/ 1242874 h 4022719"/>
                <a:gd name="connsiteX135" fmla="*/ 2538925 w 3852820"/>
                <a:gd name="connsiteY135" fmla="*/ 976544 h 4022719"/>
                <a:gd name="connsiteX136" fmla="*/ 2219329 w 3852820"/>
                <a:gd name="connsiteY136" fmla="*/ 1677880 h 4022719"/>
                <a:gd name="connsiteX137" fmla="*/ 2290350 w 3852820"/>
                <a:gd name="connsiteY137" fmla="*/ 3355759 h 4022719"/>
                <a:gd name="connsiteX138" fmla="*/ 3417814 w 3852820"/>
                <a:gd name="connsiteY138" fmla="*/ 2707689 h 4022719"/>
                <a:gd name="connsiteX139" fmla="*/ 3408937 w 3852820"/>
                <a:gd name="connsiteY139" fmla="*/ 2370338 h 4022719"/>
                <a:gd name="connsiteX140" fmla="*/ 2707601 w 3852820"/>
                <a:gd name="connsiteY140" fmla="*/ 2015231 h 4022719"/>
                <a:gd name="connsiteX141" fmla="*/ 2272595 w 3852820"/>
                <a:gd name="connsiteY141" fmla="*/ 2175029 h 4022719"/>
                <a:gd name="connsiteX142" fmla="*/ 2574436 w 3852820"/>
                <a:gd name="connsiteY142" fmla="*/ 3249227 h 4022719"/>
                <a:gd name="connsiteX143" fmla="*/ 3062707 w 3852820"/>
                <a:gd name="connsiteY143" fmla="*/ 3151573 h 4022719"/>
                <a:gd name="connsiteX144" fmla="*/ 2902909 w 3852820"/>
                <a:gd name="connsiteY144" fmla="*/ 941033 h 4022719"/>
                <a:gd name="connsiteX145" fmla="*/ 2121674 w 3852820"/>
                <a:gd name="connsiteY145" fmla="*/ 301841 h 4022719"/>
                <a:gd name="connsiteX146" fmla="*/ 1455849 w 3852820"/>
                <a:gd name="connsiteY146" fmla="*/ 1535837 h 4022719"/>
                <a:gd name="connsiteX147" fmla="*/ 1509115 w 3852820"/>
                <a:gd name="connsiteY147" fmla="*/ 1908699 h 4022719"/>
                <a:gd name="connsiteX148" fmla="*/ 1775445 w 3852820"/>
                <a:gd name="connsiteY148" fmla="*/ 1997476 h 4022719"/>
                <a:gd name="connsiteX149" fmla="*/ 2112797 w 3852820"/>
                <a:gd name="connsiteY149" fmla="*/ 852256 h 4022719"/>
                <a:gd name="connsiteX150" fmla="*/ 1926366 w 3852820"/>
                <a:gd name="connsiteY150" fmla="*/ 381740 h 4022719"/>
                <a:gd name="connsiteX151" fmla="*/ 1402583 w 3852820"/>
                <a:gd name="connsiteY151" fmla="*/ 541538 h 4022719"/>
                <a:gd name="connsiteX152" fmla="*/ 1145131 w 3852820"/>
                <a:gd name="connsiteY152" fmla="*/ 2565647 h 4022719"/>
                <a:gd name="connsiteX153" fmla="*/ 1775445 w 3852820"/>
                <a:gd name="connsiteY153" fmla="*/ 2787588 h 4022719"/>
                <a:gd name="connsiteX154" fmla="*/ 2157185 w 3852820"/>
                <a:gd name="connsiteY154" fmla="*/ 2432482 h 4022719"/>
                <a:gd name="connsiteX155" fmla="*/ 1464727 w 3852820"/>
                <a:gd name="connsiteY155" fmla="*/ 1873188 h 4022719"/>
                <a:gd name="connsiteX156" fmla="*/ 1269418 w 3852820"/>
                <a:gd name="connsiteY156" fmla="*/ 3462291 h 4022719"/>
                <a:gd name="connsiteX157" fmla="*/ 1908610 w 3852820"/>
                <a:gd name="connsiteY157" fmla="*/ 3728621 h 4022719"/>
                <a:gd name="connsiteX158" fmla="*/ 3089340 w 3852820"/>
                <a:gd name="connsiteY158" fmla="*/ 2601157 h 4022719"/>
                <a:gd name="connsiteX159" fmla="*/ 2716478 w 3852820"/>
                <a:gd name="connsiteY159" fmla="*/ 2024109 h 4022719"/>
                <a:gd name="connsiteX160" fmla="*/ 2574436 w 3852820"/>
                <a:gd name="connsiteY160" fmla="*/ 3355759 h 4022719"/>
                <a:gd name="connsiteX161" fmla="*/ 3000564 w 3852820"/>
                <a:gd name="connsiteY161" fmla="*/ 3204839 h 4022719"/>
                <a:gd name="connsiteX162" fmla="*/ 3293527 w 3852820"/>
                <a:gd name="connsiteY162" fmla="*/ 994299 h 4022719"/>
                <a:gd name="connsiteX163" fmla="*/ 2858521 w 3852820"/>
                <a:gd name="connsiteY163" fmla="*/ 692458 h 4022719"/>
                <a:gd name="connsiteX164" fmla="*/ 2228206 w 3852820"/>
                <a:gd name="connsiteY164" fmla="*/ 2139519 h 4022719"/>
                <a:gd name="connsiteX165" fmla="*/ 2316983 w 3852820"/>
                <a:gd name="connsiteY165" fmla="*/ 2183907 h 4022719"/>
                <a:gd name="connsiteX166" fmla="*/ 2743111 w 3852820"/>
                <a:gd name="connsiteY166" fmla="*/ 1438183 h 4022719"/>
                <a:gd name="connsiteX167" fmla="*/ 1455849 w 3852820"/>
                <a:gd name="connsiteY167" fmla="*/ 648070 h 4022719"/>
                <a:gd name="connsiteX168" fmla="*/ 763391 w 3852820"/>
                <a:gd name="connsiteY168" fmla="*/ 2583402 h 4022719"/>
                <a:gd name="connsiteX169" fmla="*/ 1065232 w 3852820"/>
                <a:gd name="connsiteY169" fmla="*/ 2974020 h 4022719"/>
                <a:gd name="connsiteX170" fmla="*/ 1597892 w 3852820"/>
                <a:gd name="connsiteY170" fmla="*/ 2849732 h 4022719"/>
                <a:gd name="connsiteX171" fmla="*/ 1402583 w 3852820"/>
                <a:gd name="connsiteY171" fmla="*/ 2006354 h 4022719"/>
                <a:gd name="connsiteX172" fmla="*/ 1074109 w 3852820"/>
                <a:gd name="connsiteY172" fmla="*/ 1970843 h 4022719"/>
                <a:gd name="connsiteX173" fmla="*/ 1020843 w 3852820"/>
                <a:gd name="connsiteY173" fmla="*/ 3551068 h 4022719"/>
                <a:gd name="connsiteX174" fmla="*/ 1855344 w 3852820"/>
                <a:gd name="connsiteY174" fmla="*/ 3542190 h 4022719"/>
                <a:gd name="connsiteX175" fmla="*/ 2601069 w 3852820"/>
                <a:gd name="connsiteY175" fmla="*/ 2325950 h 4022719"/>
                <a:gd name="connsiteX176" fmla="*/ 1722179 w 3852820"/>
                <a:gd name="connsiteY176" fmla="*/ 1766656 h 4022719"/>
                <a:gd name="connsiteX177" fmla="*/ 1198397 w 3852820"/>
                <a:gd name="connsiteY177" fmla="*/ 1793289 h 4022719"/>
                <a:gd name="connsiteX178" fmla="*/ 710125 w 3852820"/>
                <a:gd name="connsiteY178" fmla="*/ 3435658 h 4022719"/>
                <a:gd name="connsiteX179" fmla="*/ 1704424 w 3852820"/>
                <a:gd name="connsiteY179" fmla="*/ 3684233 h 4022719"/>
                <a:gd name="connsiteX180" fmla="*/ 2902909 w 3852820"/>
                <a:gd name="connsiteY180" fmla="*/ 3053919 h 4022719"/>
                <a:gd name="connsiteX181" fmla="*/ 3435570 w 3852820"/>
                <a:gd name="connsiteY181" fmla="*/ 2201662 h 4022719"/>
                <a:gd name="connsiteX182" fmla="*/ 3071585 w 3852820"/>
                <a:gd name="connsiteY182" fmla="*/ 1296140 h 4022719"/>
                <a:gd name="connsiteX183" fmla="*/ 1589014 w 3852820"/>
                <a:gd name="connsiteY183" fmla="*/ 257453 h 4022719"/>
                <a:gd name="connsiteX184" fmla="*/ 861045 w 3852820"/>
                <a:gd name="connsiteY184" fmla="*/ 2077375 h 4022719"/>
                <a:gd name="connsiteX185" fmla="*/ 949822 w 3852820"/>
                <a:gd name="connsiteY185" fmla="*/ 2618913 h 4022719"/>
                <a:gd name="connsiteX186" fmla="*/ 1411461 w 3852820"/>
                <a:gd name="connsiteY186" fmla="*/ 2876365 h 4022719"/>
                <a:gd name="connsiteX187" fmla="*/ 2379127 w 3852820"/>
                <a:gd name="connsiteY187" fmla="*/ 2592280 h 4022719"/>
                <a:gd name="connsiteX188" fmla="*/ 2459026 w 3852820"/>
                <a:gd name="connsiteY188" fmla="*/ 958788 h 4022719"/>
                <a:gd name="connsiteX189" fmla="*/ 1260540 w 3852820"/>
                <a:gd name="connsiteY189" fmla="*/ 443884 h 4022719"/>
                <a:gd name="connsiteX190" fmla="*/ 568082 w 3852820"/>
                <a:gd name="connsiteY190" fmla="*/ 861134 h 4022719"/>
                <a:gd name="connsiteX191" fmla="*/ 816657 w 3852820"/>
                <a:gd name="connsiteY191" fmla="*/ 2743200 h 4022719"/>
                <a:gd name="connsiteX192" fmla="*/ 1606770 w 3852820"/>
                <a:gd name="connsiteY192" fmla="*/ 2725445 h 4022719"/>
                <a:gd name="connsiteX193" fmla="*/ 1597892 w 3852820"/>
                <a:gd name="connsiteY193" fmla="*/ 1322773 h 4022719"/>
                <a:gd name="connsiteX194" fmla="*/ 683492 w 3852820"/>
                <a:gd name="connsiteY194" fmla="*/ 1012055 h 4022719"/>
                <a:gd name="connsiteX195" fmla="*/ 35422 w 3852820"/>
                <a:gd name="connsiteY195" fmla="*/ 2601157 h 4022719"/>
                <a:gd name="connsiteX196" fmla="*/ 514816 w 3852820"/>
                <a:gd name="connsiteY196" fmla="*/ 3151573 h 4022719"/>
                <a:gd name="connsiteX197" fmla="*/ 1544626 w 3852820"/>
                <a:gd name="connsiteY197" fmla="*/ 3107185 h 4022719"/>
                <a:gd name="connsiteX198" fmla="*/ 2086164 w 3852820"/>
                <a:gd name="connsiteY198" fmla="*/ 2902998 h 4022719"/>
                <a:gd name="connsiteX199" fmla="*/ 1970754 w 3852820"/>
                <a:gd name="connsiteY199" fmla="*/ 3551068 h 4022719"/>
                <a:gd name="connsiteX200" fmla="*/ 2538925 w 3852820"/>
                <a:gd name="connsiteY200" fmla="*/ 3923930 h 4022719"/>
                <a:gd name="connsiteX201" fmla="*/ 3852820 w 3852820"/>
                <a:gd name="connsiteY201" fmla="*/ 2858610 h 4022719"/>
                <a:gd name="connsiteX202" fmla="*/ 3746288 w 3852820"/>
                <a:gd name="connsiteY202" fmla="*/ 2192785 h 4022719"/>
                <a:gd name="connsiteX203" fmla="*/ 3479958 w 3852820"/>
                <a:gd name="connsiteY203" fmla="*/ 1970843 h 4022719"/>
                <a:gd name="connsiteX204" fmla="*/ 3178117 w 3852820"/>
                <a:gd name="connsiteY204" fmla="*/ 2396971 h 4022719"/>
                <a:gd name="connsiteX205" fmla="*/ 3124851 w 3852820"/>
                <a:gd name="connsiteY205" fmla="*/ 2769833 h 4022719"/>
                <a:gd name="connsiteX206" fmla="*/ 3169239 w 3852820"/>
                <a:gd name="connsiteY206" fmla="*/ 1305018 h 4022719"/>
                <a:gd name="connsiteX207" fmla="*/ 2547803 w 3852820"/>
                <a:gd name="connsiteY207" fmla="*/ 1189608 h 4022719"/>
                <a:gd name="connsiteX208" fmla="*/ 1935243 w 3852820"/>
                <a:gd name="connsiteY208" fmla="*/ 1722268 h 4022719"/>
                <a:gd name="connsiteX209" fmla="*/ 1837589 w 3852820"/>
                <a:gd name="connsiteY209" fmla="*/ 301841 h 4022719"/>
                <a:gd name="connsiteX210" fmla="*/ 1571259 w 3852820"/>
                <a:gd name="connsiteY210" fmla="*/ 124288 h 4022719"/>
                <a:gd name="connsiteX211" fmla="*/ 1091865 w 3852820"/>
                <a:gd name="connsiteY211" fmla="*/ 497150 h 4022719"/>
                <a:gd name="connsiteX212" fmla="*/ 949822 w 3852820"/>
                <a:gd name="connsiteY212" fmla="*/ 1367161 h 4022719"/>
                <a:gd name="connsiteX213" fmla="*/ 1296051 w 3852820"/>
                <a:gd name="connsiteY213" fmla="*/ 1500326 h 4022719"/>
                <a:gd name="connsiteX214" fmla="*/ 1890855 w 3852820"/>
                <a:gd name="connsiteY214" fmla="*/ 1100831 h 4022719"/>
                <a:gd name="connsiteX215" fmla="*/ 2077286 w 3852820"/>
                <a:gd name="connsiteY215" fmla="*/ 710214 h 4022719"/>
                <a:gd name="connsiteX216" fmla="*/ 861045 w 3852820"/>
                <a:gd name="connsiteY216" fmla="*/ 337352 h 4022719"/>
                <a:gd name="connsiteX217" fmla="*/ 1047476 w 3852820"/>
                <a:gd name="connsiteY217" fmla="*/ 2104008 h 4022719"/>
                <a:gd name="connsiteX218" fmla="*/ 1757690 w 3852820"/>
                <a:gd name="connsiteY218" fmla="*/ 2139519 h 4022719"/>
                <a:gd name="connsiteX219" fmla="*/ 2237084 w 3852820"/>
                <a:gd name="connsiteY219" fmla="*/ 976544 h 4022719"/>
                <a:gd name="connsiteX220" fmla="*/ 1695546 w 3852820"/>
                <a:gd name="connsiteY220" fmla="*/ 781235 h 4022719"/>
                <a:gd name="connsiteX221" fmla="*/ 1517993 w 3852820"/>
                <a:gd name="connsiteY221" fmla="*/ 1695635 h 4022719"/>
                <a:gd name="connsiteX222" fmla="*/ 1500238 w 3852820"/>
                <a:gd name="connsiteY222" fmla="*/ 2148396 h 4022719"/>
                <a:gd name="connsiteX223" fmla="*/ 1544626 w 3852820"/>
                <a:gd name="connsiteY223" fmla="*/ 2210540 h 4022719"/>
                <a:gd name="connsiteX224" fmla="*/ 1633403 w 3852820"/>
                <a:gd name="connsiteY224" fmla="*/ 2237173 h 4022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</a:cxnLst>
              <a:rect l="l" t="t" r="r" b="b"/>
              <a:pathLst>
                <a:path w="3852820" h="4022719">
                  <a:moveTo>
                    <a:pt x="3613123" y="763480"/>
                  </a:moveTo>
                  <a:lnTo>
                    <a:pt x="3178117" y="772357"/>
                  </a:lnTo>
                  <a:cubicBezTo>
                    <a:pt x="3013286" y="786485"/>
                    <a:pt x="2988249" y="823414"/>
                    <a:pt x="2849643" y="887767"/>
                  </a:cubicBezTo>
                  <a:cubicBezTo>
                    <a:pt x="2663961" y="973976"/>
                    <a:pt x="2811941" y="892823"/>
                    <a:pt x="2680968" y="967666"/>
                  </a:cubicBezTo>
                  <a:cubicBezTo>
                    <a:pt x="2654335" y="1026851"/>
                    <a:pt x="2615859" y="1082027"/>
                    <a:pt x="2601069" y="1145220"/>
                  </a:cubicBezTo>
                  <a:cubicBezTo>
                    <a:pt x="2582811" y="1223230"/>
                    <a:pt x="2582591" y="1304802"/>
                    <a:pt x="2583313" y="1384917"/>
                  </a:cubicBezTo>
                  <a:cubicBezTo>
                    <a:pt x="2585554" y="1633640"/>
                    <a:pt x="2574244" y="1884483"/>
                    <a:pt x="2609946" y="2130641"/>
                  </a:cubicBezTo>
                  <a:cubicBezTo>
                    <a:pt x="2631035" y="2276041"/>
                    <a:pt x="2751989" y="2547891"/>
                    <a:pt x="2751989" y="2547891"/>
                  </a:cubicBezTo>
                  <a:cubicBezTo>
                    <a:pt x="2725356" y="2648505"/>
                    <a:pt x="2723116" y="2759019"/>
                    <a:pt x="2672090" y="2849732"/>
                  </a:cubicBezTo>
                  <a:cubicBezTo>
                    <a:pt x="2614088" y="2952847"/>
                    <a:pt x="2410764" y="3015554"/>
                    <a:pt x="2316983" y="3053919"/>
                  </a:cubicBezTo>
                  <a:cubicBezTo>
                    <a:pt x="2131551" y="3048124"/>
                    <a:pt x="2009299" y="3071455"/>
                    <a:pt x="1846467" y="2982897"/>
                  </a:cubicBezTo>
                  <a:cubicBezTo>
                    <a:pt x="1733990" y="2921725"/>
                    <a:pt x="1640947" y="2827968"/>
                    <a:pt x="1526871" y="2769833"/>
                  </a:cubicBezTo>
                  <a:cubicBezTo>
                    <a:pt x="1331959" y="2670503"/>
                    <a:pt x="923189" y="2512381"/>
                    <a:pt x="923189" y="2512381"/>
                  </a:cubicBezTo>
                  <a:cubicBezTo>
                    <a:pt x="718357" y="2323305"/>
                    <a:pt x="683953" y="2341976"/>
                    <a:pt x="594715" y="2104008"/>
                  </a:cubicBezTo>
                  <a:cubicBezTo>
                    <a:pt x="584273" y="2076162"/>
                    <a:pt x="588797" y="2044823"/>
                    <a:pt x="585838" y="2015231"/>
                  </a:cubicBezTo>
                  <a:cubicBezTo>
                    <a:pt x="779496" y="1814895"/>
                    <a:pt x="938649" y="1609577"/>
                    <a:pt x="1216152" y="1509204"/>
                  </a:cubicBezTo>
                  <a:cubicBezTo>
                    <a:pt x="1362162" y="1456392"/>
                    <a:pt x="1523911" y="1467775"/>
                    <a:pt x="1677791" y="1447060"/>
                  </a:cubicBezTo>
                  <a:cubicBezTo>
                    <a:pt x="2623806" y="1535749"/>
                    <a:pt x="2328193" y="1349870"/>
                    <a:pt x="2849643" y="1784412"/>
                  </a:cubicBezTo>
                  <a:cubicBezTo>
                    <a:pt x="2886650" y="1815251"/>
                    <a:pt x="2920664" y="1849515"/>
                    <a:pt x="2956175" y="1882066"/>
                  </a:cubicBezTo>
                  <a:cubicBezTo>
                    <a:pt x="2973930" y="1932373"/>
                    <a:pt x="2998451" y="1980783"/>
                    <a:pt x="3009441" y="2032987"/>
                  </a:cubicBezTo>
                  <a:cubicBezTo>
                    <a:pt x="3036049" y="2159376"/>
                    <a:pt x="3049445" y="2272622"/>
                    <a:pt x="2956175" y="2379216"/>
                  </a:cubicBezTo>
                  <a:cubicBezTo>
                    <a:pt x="2867817" y="2480197"/>
                    <a:pt x="2742167" y="2544107"/>
                    <a:pt x="2654335" y="2645546"/>
                  </a:cubicBezTo>
                  <a:cubicBezTo>
                    <a:pt x="2223274" y="3143392"/>
                    <a:pt x="2506059" y="3018368"/>
                    <a:pt x="2103919" y="3258105"/>
                  </a:cubicBezTo>
                  <a:cubicBezTo>
                    <a:pt x="2026613" y="3304191"/>
                    <a:pt x="1944121" y="3340963"/>
                    <a:pt x="1864222" y="3382392"/>
                  </a:cubicBezTo>
                  <a:cubicBezTo>
                    <a:pt x="1721830" y="3372221"/>
                    <a:pt x="1453698" y="3372005"/>
                    <a:pt x="1296051" y="3311371"/>
                  </a:cubicBezTo>
                  <a:cubicBezTo>
                    <a:pt x="1241576" y="3290419"/>
                    <a:pt x="1195438" y="3252186"/>
                    <a:pt x="1145131" y="3222594"/>
                  </a:cubicBezTo>
                  <a:cubicBezTo>
                    <a:pt x="1118498" y="3175247"/>
                    <a:pt x="1077447" y="3133485"/>
                    <a:pt x="1065232" y="3080552"/>
                  </a:cubicBezTo>
                  <a:cubicBezTo>
                    <a:pt x="989807" y="2753712"/>
                    <a:pt x="1000898" y="2175168"/>
                    <a:pt x="994210" y="1890944"/>
                  </a:cubicBezTo>
                  <a:cubicBezTo>
                    <a:pt x="1013380" y="1628949"/>
                    <a:pt x="1068983" y="1256551"/>
                    <a:pt x="1038599" y="958788"/>
                  </a:cubicBezTo>
                  <a:cubicBezTo>
                    <a:pt x="1030697" y="881345"/>
                    <a:pt x="1018355" y="804302"/>
                    <a:pt x="1003088" y="727969"/>
                  </a:cubicBezTo>
                  <a:cubicBezTo>
                    <a:pt x="997582" y="700441"/>
                    <a:pt x="997027" y="667173"/>
                    <a:pt x="976455" y="648070"/>
                  </a:cubicBezTo>
                  <a:cubicBezTo>
                    <a:pt x="951073" y="624501"/>
                    <a:pt x="911352" y="624396"/>
                    <a:pt x="878801" y="612559"/>
                  </a:cubicBezTo>
                  <a:cubicBezTo>
                    <a:pt x="810739" y="642151"/>
                    <a:pt x="732445" y="654820"/>
                    <a:pt x="674614" y="701336"/>
                  </a:cubicBezTo>
                  <a:cubicBezTo>
                    <a:pt x="512526" y="831711"/>
                    <a:pt x="427957" y="1015356"/>
                    <a:pt x="328385" y="1189608"/>
                  </a:cubicBezTo>
                  <a:cubicBezTo>
                    <a:pt x="325426" y="1328691"/>
                    <a:pt x="295157" y="1469891"/>
                    <a:pt x="319507" y="1606858"/>
                  </a:cubicBezTo>
                  <a:cubicBezTo>
                    <a:pt x="343457" y="1741576"/>
                    <a:pt x="415198" y="1863410"/>
                    <a:pt x="470428" y="1988598"/>
                  </a:cubicBezTo>
                  <a:cubicBezTo>
                    <a:pt x="544787" y="2157145"/>
                    <a:pt x="612968" y="2311456"/>
                    <a:pt x="807779" y="2379216"/>
                  </a:cubicBezTo>
                  <a:cubicBezTo>
                    <a:pt x="998535" y="2445566"/>
                    <a:pt x="1204315" y="2456155"/>
                    <a:pt x="1402583" y="2494625"/>
                  </a:cubicBezTo>
                  <a:cubicBezTo>
                    <a:pt x="1479523" y="2485747"/>
                    <a:pt x="1572721" y="2516119"/>
                    <a:pt x="1633403" y="2467992"/>
                  </a:cubicBezTo>
                  <a:cubicBezTo>
                    <a:pt x="1877399" y="2274478"/>
                    <a:pt x="1951976" y="2000034"/>
                    <a:pt x="2059531" y="1731146"/>
                  </a:cubicBezTo>
                  <a:cubicBezTo>
                    <a:pt x="2074728" y="1427184"/>
                    <a:pt x="2080353" y="1499874"/>
                    <a:pt x="2015142" y="1056443"/>
                  </a:cubicBezTo>
                  <a:cubicBezTo>
                    <a:pt x="1952186" y="628344"/>
                    <a:pt x="2048317" y="715915"/>
                    <a:pt x="1846467" y="594804"/>
                  </a:cubicBezTo>
                  <a:cubicBezTo>
                    <a:pt x="1742166" y="678245"/>
                    <a:pt x="1540433" y="794976"/>
                    <a:pt x="1517993" y="958788"/>
                  </a:cubicBezTo>
                  <a:cubicBezTo>
                    <a:pt x="1497093" y="1111357"/>
                    <a:pt x="1522806" y="1266978"/>
                    <a:pt x="1535748" y="1420427"/>
                  </a:cubicBezTo>
                  <a:cubicBezTo>
                    <a:pt x="1553813" y="1634620"/>
                    <a:pt x="1609594" y="1889117"/>
                    <a:pt x="1748812" y="2059620"/>
                  </a:cubicBezTo>
                  <a:cubicBezTo>
                    <a:pt x="2040773" y="2417190"/>
                    <a:pt x="2503242" y="2796359"/>
                    <a:pt x="2902909" y="3045041"/>
                  </a:cubicBezTo>
                  <a:cubicBezTo>
                    <a:pt x="2985058" y="3096156"/>
                    <a:pt x="3080462" y="3121981"/>
                    <a:pt x="3169239" y="3160451"/>
                  </a:cubicBezTo>
                  <a:cubicBezTo>
                    <a:pt x="3240261" y="3240350"/>
                    <a:pt x="3325973" y="3309292"/>
                    <a:pt x="3382304" y="3400148"/>
                  </a:cubicBezTo>
                  <a:cubicBezTo>
                    <a:pt x="3419793" y="3460614"/>
                    <a:pt x="3469590" y="3537780"/>
                    <a:pt x="3444447" y="3604334"/>
                  </a:cubicBezTo>
                  <a:cubicBezTo>
                    <a:pt x="3318819" y="3936878"/>
                    <a:pt x="2786654" y="3811996"/>
                    <a:pt x="2592191" y="3817398"/>
                  </a:cubicBezTo>
                  <a:cubicBezTo>
                    <a:pt x="2126217" y="3724204"/>
                    <a:pt x="2017802" y="3793035"/>
                    <a:pt x="1722179" y="3355759"/>
                  </a:cubicBezTo>
                  <a:cubicBezTo>
                    <a:pt x="1671772" y="3281198"/>
                    <a:pt x="1692587" y="3178206"/>
                    <a:pt x="1677791" y="3089429"/>
                  </a:cubicBezTo>
                  <a:cubicBezTo>
                    <a:pt x="1722179" y="2962182"/>
                    <a:pt x="1721925" y="2808860"/>
                    <a:pt x="1810956" y="2707689"/>
                  </a:cubicBezTo>
                  <a:cubicBezTo>
                    <a:pt x="1928659" y="2573935"/>
                    <a:pt x="2114658" y="2521202"/>
                    <a:pt x="2263717" y="2423604"/>
                  </a:cubicBezTo>
                  <a:cubicBezTo>
                    <a:pt x="2579907" y="2216575"/>
                    <a:pt x="2497650" y="2281920"/>
                    <a:pt x="2707601" y="2059620"/>
                  </a:cubicBezTo>
                  <a:cubicBezTo>
                    <a:pt x="2725356" y="1994517"/>
                    <a:pt x="2780131" y="1928984"/>
                    <a:pt x="2760867" y="1864311"/>
                  </a:cubicBezTo>
                  <a:cubicBezTo>
                    <a:pt x="2674472" y="1574273"/>
                    <a:pt x="2382146" y="1588998"/>
                    <a:pt x="2148307" y="1526959"/>
                  </a:cubicBezTo>
                  <a:cubicBezTo>
                    <a:pt x="2074327" y="1556551"/>
                    <a:pt x="1988417" y="1565751"/>
                    <a:pt x="1926366" y="1615736"/>
                  </a:cubicBezTo>
                  <a:cubicBezTo>
                    <a:pt x="1631421" y="1853331"/>
                    <a:pt x="2079822" y="2194485"/>
                    <a:pt x="2245962" y="2334827"/>
                  </a:cubicBezTo>
                  <a:cubicBezTo>
                    <a:pt x="2553208" y="2594364"/>
                    <a:pt x="2909947" y="2790262"/>
                    <a:pt x="3258016" y="2991775"/>
                  </a:cubicBezTo>
                  <a:cubicBezTo>
                    <a:pt x="3314241" y="3024326"/>
                    <a:pt x="3368583" y="3060374"/>
                    <a:pt x="3426692" y="3089429"/>
                  </a:cubicBezTo>
                  <a:cubicBezTo>
                    <a:pt x="3457672" y="3104919"/>
                    <a:pt x="3491795" y="3113103"/>
                    <a:pt x="3524346" y="3124940"/>
                  </a:cubicBezTo>
                  <a:cubicBezTo>
                    <a:pt x="3536183" y="3142695"/>
                    <a:pt x="3570763" y="3159864"/>
                    <a:pt x="3559857" y="3178206"/>
                  </a:cubicBezTo>
                  <a:cubicBezTo>
                    <a:pt x="3377036" y="3485679"/>
                    <a:pt x="3277585" y="3481023"/>
                    <a:pt x="2965053" y="3648722"/>
                  </a:cubicBezTo>
                  <a:cubicBezTo>
                    <a:pt x="2796377" y="3562905"/>
                    <a:pt x="2603498" y="3513515"/>
                    <a:pt x="2459026" y="3391270"/>
                  </a:cubicBezTo>
                  <a:cubicBezTo>
                    <a:pt x="2397574" y="3339272"/>
                    <a:pt x="2378599" y="3240399"/>
                    <a:pt x="2388005" y="3160451"/>
                  </a:cubicBezTo>
                  <a:cubicBezTo>
                    <a:pt x="2425112" y="2845041"/>
                    <a:pt x="2548631" y="2635012"/>
                    <a:pt x="2680968" y="2370338"/>
                  </a:cubicBezTo>
                  <a:cubicBezTo>
                    <a:pt x="2692805" y="2266765"/>
                    <a:pt x="2765159" y="2151802"/>
                    <a:pt x="2716478" y="2059620"/>
                  </a:cubicBezTo>
                  <a:cubicBezTo>
                    <a:pt x="2436376" y="1529215"/>
                    <a:pt x="2231527" y="1571496"/>
                    <a:pt x="1739935" y="1438183"/>
                  </a:cubicBezTo>
                  <a:cubicBezTo>
                    <a:pt x="1555069" y="1535017"/>
                    <a:pt x="1100824" y="1690916"/>
                    <a:pt x="1136253" y="2015231"/>
                  </a:cubicBezTo>
                  <a:cubicBezTo>
                    <a:pt x="1190539" y="2512155"/>
                    <a:pt x="1708097" y="2960422"/>
                    <a:pt x="2103919" y="3169328"/>
                  </a:cubicBezTo>
                  <a:cubicBezTo>
                    <a:pt x="2203678" y="3221979"/>
                    <a:pt x="2328820" y="3187083"/>
                    <a:pt x="2441271" y="3195961"/>
                  </a:cubicBezTo>
                  <a:cubicBezTo>
                    <a:pt x="2494537" y="3119021"/>
                    <a:pt x="2615664" y="3057576"/>
                    <a:pt x="2601069" y="2965142"/>
                  </a:cubicBezTo>
                  <a:cubicBezTo>
                    <a:pt x="2481086" y="2205253"/>
                    <a:pt x="2281921" y="2184263"/>
                    <a:pt x="1766568" y="1775534"/>
                  </a:cubicBezTo>
                  <a:cubicBezTo>
                    <a:pt x="1624525" y="1784412"/>
                    <a:pt x="1443786" y="1704318"/>
                    <a:pt x="1340439" y="1802167"/>
                  </a:cubicBezTo>
                  <a:cubicBezTo>
                    <a:pt x="555483" y="2545371"/>
                    <a:pt x="1041033" y="3106686"/>
                    <a:pt x="1633403" y="3888420"/>
                  </a:cubicBezTo>
                  <a:cubicBezTo>
                    <a:pt x="1713190" y="3993713"/>
                    <a:pt x="1887896" y="3959441"/>
                    <a:pt x="2015142" y="3994952"/>
                  </a:cubicBezTo>
                  <a:cubicBezTo>
                    <a:pt x="2194011" y="3892741"/>
                    <a:pt x="2211106" y="3934234"/>
                    <a:pt x="2095041" y="3630967"/>
                  </a:cubicBezTo>
                  <a:cubicBezTo>
                    <a:pt x="2037300" y="3480097"/>
                    <a:pt x="1946127" y="3344078"/>
                    <a:pt x="1864222" y="3204839"/>
                  </a:cubicBezTo>
                  <a:cubicBezTo>
                    <a:pt x="1856720" y="3192086"/>
                    <a:pt x="1813915" y="3178206"/>
                    <a:pt x="1828711" y="3178206"/>
                  </a:cubicBezTo>
                  <a:cubicBezTo>
                    <a:pt x="1853995" y="3178206"/>
                    <a:pt x="1878103" y="3191747"/>
                    <a:pt x="1899733" y="3204839"/>
                  </a:cubicBezTo>
                  <a:cubicBezTo>
                    <a:pt x="2103414" y="3328120"/>
                    <a:pt x="2285009" y="3491799"/>
                    <a:pt x="2503414" y="3586579"/>
                  </a:cubicBezTo>
                  <a:cubicBezTo>
                    <a:pt x="2606891" y="3631484"/>
                    <a:pt x="2728315" y="3604334"/>
                    <a:pt x="2840766" y="3613212"/>
                  </a:cubicBezTo>
                  <a:cubicBezTo>
                    <a:pt x="3057267" y="2974533"/>
                    <a:pt x="3176695" y="3156255"/>
                    <a:pt x="2609946" y="2743200"/>
                  </a:cubicBezTo>
                  <a:cubicBezTo>
                    <a:pt x="2577419" y="2719494"/>
                    <a:pt x="2533007" y="2719526"/>
                    <a:pt x="2494537" y="2707689"/>
                  </a:cubicBezTo>
                  <a:cubicBezTo>
                    <a:pt x="2478211" y="2774249"/>
                    <a:pt x="2166064" y="3542190"/>
                    <a:pt x="2627702" y="3542190"/>
                  </a:cubicBezTo>
                  <a:cubicBezTo>
                    <a:pt x="2860147" y="3542190"/>
                    <a:pt x="3024238" y="3299534"/>
                    <a:pt x="3222506" y="3178206"/>
                  </a:cubicBezTo>
                  <a:cubicBezTo>
                    <a:pt x="3210669" y="2956264"/>
                    <a:pt x="3290510" y="2709060"/>
                    <a:pt x="3186995" y="2512381"/>
                  </a:cubicBezTo>
                  <a:cubicBezTo>
                    <a:pt x="2798148" y="1773571"/>
                    <a:pt x="2578318" y="1841376"/>
                    <a:pt x="1952999" y="1722268"/>
                  </a:cubicBezTo>
                  <a:cubicBezTo>
                    <a:pt x="1879018" y="1781452"/>
                    <a:pt x="1759013" y="1809298"/>
                    <a:pt x="1731057" y="1899821"/>
                  </a:cubicBezTo>
                  <a:cubicBezTo>
                    <a:pt x="1562326" y="2446187"/>
                    <a:pt x="1953583" y="2397879"/>
                    <a:pt x="2343616" y="2547891"/>
                  </a:cubicBezTo>
                  <a:cubicBezTo>
                    <a:pt x="2603663" y="2094907"/>
                    <a:pt x="2864522" y="1903786"/>
                    <a:pt x="2414638" y="1331651"/>
                  </a:cubicBezTo>
                  <a:cubicBezTo>
                    <a:pt x="2273936" y="1152715"/>
                    <a:pt x="2006265" y="1130424"/>
                    <a:pt x="1802078" y="1029810"/>
                  </a:cubicBezTo>
                  <a:cubicBezTo>
                    <a:pt x="1253694" y="1148089"/>
                    <a:pt x="1274466" y="1048239"/>
                    <a:pt x="914311" y="1633491"/>
                  </a:cubicBezTo>
                  <a:cubicBezTo>
                    <a:pt x="881705" y="1686476"/>
                    <a:pt x="866679" y="1793898"/>
                    <a:pt x="923189" y="1819922"/>
                  </a:cubicBezTo>
                  <a:cubicBezTo>
                    <a:pt x="1128263" y="1914364"/>
                    <a:pt x="1367072" y="1902781"/>
                    <a:pt x="1589014" y="1944210"/>
                  </a:cubicBezTo>
                  <a:cubicBezTo>
                    <a:pt x="1739934" y="1861352"/>
                    <a:pt x="1973404" y="1853647"/>
                    <a:pt x="2041775" y="1695635"/>
                  </a:cubicBezTo>
                  <a:cubicBezTo>
                    <a:pt x="2302797" y="1092385"/>
                    <a:pt x="1649320" y="592740"/>
                    <a:pt x="1287173" y="319596"/>
                  </a:cubicBezTo>
                  <a:cubicBezTo>
                    <a:pt x="1192052" y="247852"/>
                    <a:pt x="1056354" y="260412"/>
                    <a:pt x="940944" y="230820"/>
                  </a:cubicBezTo>
                  <a:cubicBezTo>
                    <a:pt x="828494" y="411332"/>
                    <a:pt x="665946" y="569030"/>
                    <a:pt x="603593" y="772357"/>
                  </a:cubicBezTo>
                  <a:cubicBezTo>
                    <a:pt x="451971" y="1266777"/>
                    <a:pt x="497353" y="1701456"/>
                    <a:pt x="727880" y="2148396"/>
                  </a:cubicBezTo>
                  <a:cubicBezTo>
                    <a:pt x="781630" y="2252605"/>
                    <a:pt x="887678" y="2320031"/>
                    <a:pt x="967577" y="2405849"/>
                  </a:cubicBezTo>
                  <a:cubicBezTo>
                    <a:pt x="1148090" y="2370338"/>
                    <a:pt x="1381091" y="2431437"/>
                    <a:pt x="1509115" y="2299317"/>
                  </a:cubicBezTo>
                  <a:cubicBezTo>
                    <a:pt x="1885109" y="1911291"/>
                    <a:pt x="2373763" y="1175367"/>
                    <a:pt x="1855344" y="656948"/>
                  </a:cubicBezTo>
                  <a:cubicBezTo>
                    <a:pt x="1727428" y="529032"/>
                    <a:pt x="1506156" y="562253"/>
                    <a:pt x="1331562" y="514905"/>
                  </a:cubicBezTo>
                  <a:cubicBezTo>
                    <a:pt x="1036708" y="1201110"/>
                    <a:pt x="513494" y="1921332"/>
                    <a:pt x="940944" y="2725445"/>
                  </a:cubicBezTo>
                  <a:cubicBezTo>
                    <a:pt x="1098466" y="3021774"/>
                    <a:pt x="1473605" y="3133818"/>
                    <a:pt x="1739935" y="3338004"/>
                  </a:cubicBezTo>
                  <a:cubicBezTo>
                    <a:pt x="1958917" y="3222594"/>
                    <a:pt x="2257494" y="3196332"/>
                    <a:pt x="2396882" y="2991775"/>
                  </a:cubicBezTo>
                  <a:cubicBezTo>
                    <a:pt x="2824490" y="2364246"/>
                    <a:pt x="2132154" y="2117332"/>
                    <a:pt x="1793201" y="1864311"/>
                  </a:cubicBezTo>
                  <a:cubicBezTo>
                    <a:pt x="1633403" y="1973802"/>
                    <a:pt x="1408727" y="2023925"/>
                    <a:pt x="1313806" y="2192785"/>
                  </a:cubicBezTo>
                  <a:cubicBezTo>
                    <a:pt x="1071739" y="2623409"/>
                    <a:pt x="589725" y="3610014"/>
                    <a:pt x="1384828" y="3941686"/>
                  </a:cubicBezTo>
                  <a:cubicBezTo>
                    <a:pt x="1729643" y="4085523"/>
                    <a:pt x="2130552" y="3989033"/>
                    <a:pt x="2503414" y="4012707"/>
                  </a:cubicBezTo>
                  <a:cubicBezTo>
                    <a:pt x="2698723" y="3888420"/>
                    <a:pt x="2967150" y="3836473"/>
                    <a:pt x="3089340" y="3639845"/>
                  </a:cubicBezTo>
                  <a:cubicBezTo>
                    <a:pt x="3472606" y="3023096"/>
                    <a:pt x="3253706" y="2634769"/>
                    <a:pt x="3027197" y="2068497"/>
                  </a:cubicBezTo>
                  <a:cubicBezTo>
                    <a:pt x="2901809" y="1755027"/>
                    <a:pt x="2939386" y="1822870"/>
                    <a:pt x="2689845" y="1686757"/>
                  </a:cubicBezTo>
                  <a:cubicBezTo>
                    <a:pt x="2512684" y="1827830"/>
                    <a:pt x="1795998" y="2196819"/>
                    <a:pt x="2201573" y="2636668"/>
                  </a:cubicBezTo>
                  <a:cubicBezTo>
                    <a:pt x="2348341" y="2795839"/>
                    <a:pt x="2627702" y="2713608"/>
                    <a:pt x="2840766" y="2752078"/>
                  </a:cubicBezTo>
                  <a:cubicBezTo>
                    <a:pt x="3569922" y="1979519"/>
                    <a:pt x="3856117" y="2004798"/>
                    <a:pt x="3684144" y="807868"/>
                  </a:cubicBezTo>
                  <a:cubicBezTo>
                    <a:pt x="3660218" y="641344"/>
                    <a:pt x="3471080" y="547457"/>
                    <a:pt x="3364548" y="417251"/>
                  </a:cubicBezTo>
                  <a:cubicBezTo>
                    <a:pt x="3263934" y="423169"/>
                    <a:pt x="3141958" y="372737"/>
                    <a:pt x="3062707" y="435006"/>
                  </a:cubicBezTo>
                  <a:cubicBezTo>
                    <a:pt x="2751625" y="679427"/>
                    <a:pt x="2245962" y="1296140"/>
                    <a:pt x="2245962" y="1296140"/>
                  </a:cubicBezTo>
                  <a:cubicBezTo>
                    <a:pt x="2441783" y="1557238"/>
                    <a:pt x="2396189" y="1519899"/>
                    <a:pt x="2778622" y="612559"/>
                  </a:cubicBezTo>
                  <a:cubicBezTo>
                    <a:pt x="2969722" y="159165"/>
                    <a:pt x="2329516" y="88639"/>
                    <a:pt x="2121674" y="0"/>
                  </a:cubicBezTo>
                  <a:cubicBezTo>
                    <a:pt x="1917488" y="121328"/>
                    <a:pt x="1639052" y="165166"/>
                    <a:pt x="1509115" y="363985"/>
                  </a:cubicBezTo>
                  <a:cubicBezTo>
                    <a:pt x="1169467" y="883688"/>
                    <a:pt x="1421997" y="1469509"/>
                    <a:pt x="1855344" y="1811045"/>
                  </a:cubicBezTo>
                  <a:cubicBezTo>
                    <a:pt x="2010924" y="1933663"/>
                    <a:pt x="2240043" y="1905740"/>
                    <a:pt x="2432393" y="1953088"/>
                  </a:cubicBezTo>
                  <a:cubicBezTo>
                    <a:pt x="2618824" y="1799208"/>
                    <a:pt x="2855640" y="1691266"/>
                    <a:pt x="2991686" y="1491449"/>
                  </a:cubicBezTo>
                  <a:cubicBezTo>
                    <a:pt x="3325291" y="1001466"/>
                    <a:pt x="2290831" y="666229"/>
                    <a:pt x="2192696" y="603682"/>
                  </a:cubicBezTo>
                  <a:cubicBezTo>
                    <a:pt x="1702693" y="914794"/>
                    <a:pt x="1098413" y="1110617"/>
                    <a:pt x="1420339" y="1988598"/>
                  </a:cubicBezTo>
                  <a:cubicBezTo>
                    <a:pt x="1507955" y="2227552"/>
                    <a:pt x="1887896" y="2189825"/>
                    <a:pt x="2121674" y="2290439"/>
                  </a:cubicBezTo>
                  <a:cubicBezTo>
                    <a:pt x="2315634" y="2190972"/>
                    <a:pt x="3351357" y="1884739"/>
                    <a:pt x="2956175" y="1287262"/>
                  </a:cubicBezTo>
                  <a:cubicBezTo>
                    <a:pt x="2770643" y="1006756"/>
                    <a:pt x="2364330" y="967666"/>
                    <a:pt x="2068408" y="807868"/>
                  </a:cubicBezTo>
                  <a:cubicBezTo>
                    <a:pt x="1601669" y="1347033"/>
                    <a:pt x="1219122" y="1491469"/>
                    <a:pt x="1668913" y="2334827"/>
                  </a:cubicBezTo>
                  <a:cubicBezTo>
                    <a:pt x="1761086" y="2507652"/>
                    <a:pt x="2018102" y="2512380"/>
                    <a:pt x="2192696" y="2601157"/>
                  </a:cubicBezTo>
                  <a:cubicBezTo>
                    <a:pt x="2631312" y="2258137"/>
                    <a:pt x="3277803" y="1999054"/>
                    <a:pt x="3036074" y="1242874"/>
                  </a:cubicBezTo>
                  <a:cubicBezTo>
                    <a:pt x="2978830" y="1063803"/>
                    <a:pt x="2704641" y="1065321"/>
                    <a:pt x="2538925" y="976544"/>
                  </a:cubicBezTo>
                  <a:cubicBezTo>
                    <a:pt x="2432393" y="1210323"/>
                    <a:pt x="2267762" y="1425579"/>
                    <a:pt x="2219329" y="1677880"/>
                  </a:cubicBezTo>
                  <a:cubicBezTo>
                    <a:pt x="2019589" y="2718388"/>
                    <a:pt x="2060506" y="2681550"/>
                    <a:pt x="2290350" y="3355759"/>
                  </a:cubicBezTo>
                  <a:cubicBezTo>
                    <a:pt x="2993818" y="3298721"/>
                    <a:pt x="3047403" y="3455633"/>
                    <a:pt x="3417814" y="2707689"/>
                  </a:cubicBezTo>
                  <a:cubicBezTo>
                    <a:pt x="3467736" y="2606884"/>
                    <a:pt x="3489479" y="2448867"/>
                    <a:pt x="3408937" y="2370338"/>
                  </a:cubicBezTo>
                  <a:cubicBezTo>
                    <a:pt x="3221318" y="2187409"/>
                    <a:pt x="2941380" y="2133600"/>
                    <a:pt x="2707601" y="2015231"/>
                  </a:cubicBezTo>
                  <a:cubicBezTo>
                    <a:pt x="2562599" y="2068497"/>
                    <a:pt x="2350918" y="2041881"/>
                    <a:pt x="2272595" y="2175029"/>
                  </a:cubicBezTo>
                  <a:cubicBezTo>
                    <a:pt x="1870027" y="2859394"/>
                    <a:pt x="2175582" y="2921282"/>
                    <a:pt x="2574436" y="3249227"/>
                  </a:cubicBezTo>
                  <a:cubicBezTo>
                    <a:pt x="2737193" y="3216676"/>
                    <a:pt x="2952570" y="3275747"/>
                    <a:pt x="3062707" y="3151573"/>
                  </a:cubicBezTo>
                  <a:cubicBezTo>
                    <a:pt x="3770113" y="2354007"/>
                    <a:pt x="3483741" y="1764827"/>
                    <a:pt x="2902909" y="941033"/>
                  </a:cubicBezTo>
                  <a:cubicBezTo>
                    <a:pt x="2709023" y="666044"/>
                    <a:pt x="2382086" y="514905"/>
                    <a:pt x="2121674" y="301841"/>
                  </a:cubicBezTo>
                  <a:cubicBezTo>
                    <a:pt x="1507367" y="400131"/>
                    <a:pt x="1764843" y="292841"/>
                    <a:pt x="1455849" y="1535837"/>
                  </a:cubicBezTo>
                  <a:cubicBezTo>
                    <a:pt x="1425561" y="1657678"/>
                    <a:pt x="1437651" y="1805473"/>
                    <a:pt x="1509115" y="1908699"/>
                  </a:cubicBezTo>
                  <a:cubicBezTo>
                    <a:pt x="1562381" y="1985639"/>
                    <a:pt x="1686668" y="1967884"/>
                    <a:pt x="1775445" y="1997476"/>
                  </a:cubicBezTo>
                  <a:cubicBezTo>
                    <a:pt x="1887896" y="1615736"/>
                    <a:pt x="2075786" y="1248489"/>
                    <a:pt x="2112797" y="852256"/>
                  </a:cubicBezTo>
                  <a:cubicBezTo>
                    <a:pt x="2128487" y="684286"/>
                    <a:pt x="2080923" y="449359"/>
                    <a:pt x="1926366" y="381740"/>
                  </a:cubicBezTo>
                  <a:cubicBezTo>
                    <a:pt x="1759132" y="308575"/>
                    <a:pt x="1577177" y="488272"/>
                    <a:pt x="1402583" y="541538"/>
                  </a:cubicBezTo>
                  <a:cubicBezTo>
                    <a:pt x="1361431" y="710987"/>
                    <a:pt x="879407" y="2170558"/>
                    <a:pt x="1145131" y="2565647"/>
                  </a:cubicBezTo>
                  <a:cubicBezTo>
                    <a:pt x="1269444" y="2750480"/>
                    <a:pt x="1565340" y="2713608"/>
                    <a:pt x="1775445" y="2787588"/>
                  </a:cubicBezTo>
                  <a:cubicBezTo>
                    <a:pt x="1902692" y="2669219"/>
                    <a:pt x="2096378" y="2595287"/>
                    <a:pt x="2157185" y="2432482"/>
                  </a:cubicBezTo>
                  <a:cubicBezTo>
                    <a:pt x="2334810" y="1956905"/>
                    <a:pt x="1653382" y="1930357"/>
                    <a:pt x="1464727" y="1873188"/>
                  </a:cubicBezTo>
                  <a:cubicBezTo>
                    <a:pt x="1195552" y="2402255"/>
                    <a:pt x="905504" y="2762102"/>
                    <a:pt x="1269418" y="3462291"/>
                  </a:cubicBezTo>
                  <a:cubicBezTo>
                    <a:pt x="1375865" y="3667100"/>
                    <a:pt x="1695546" y="3639844"/>
                    <a:pt x="1908610" y="3728621"/>
                  </a:cubicBezTo>
                  <a:cubicBezTo>
                    <a:pt x="2521305" y="3483543"/>
                    <a:pt x="3141857" y="3488110"/>
                    <a:pt x="3089340" y="2601157"/>
                  </a:cubicBezTo>
                  <a:cubicBezTo>
                    <a:pt x="3075804" y="2372547"/>
                    <a:pt x="2840765" y="2216458"/>
                    <a:pt x="2716478" y="2024109"/>
                  </a:cubicBezTo>
                  <a:cubicBezTo>
                    <a:pt x="2514061" y="2371656"/>
                    <a:pt x="1834508" y="2990148"/>
                    <a:pt x="2574436" y="3355759"/>
                  </a:cubicBezTo>
                  <a:cubicBezTo>
                    <a:pt x="2709532" y="3422512"/>
                    <a:pt x="2858521" y="3255146"/>
                    <a:pt x="3000564" y="3204839"/>
                  </a:cubicBezTo>
                  <a:cubicBezTo>
                    <a:pt x="3438629" y="2206627"/>
                    <a:pt x="3831218" y="1999851"/>
                    <a:pt x="3293527" y="994299"/>
                  </a:cubicBezTo>
                  <a:cubicBezTo>
                    <a:pt x="3210305" y="838662"/>
                    <a:pt x="3003523" y="793072"/>
                    <a:pt x="2858521" y="692458"/>
                  </a:cubicBezTo>
                  <a:cubicBezTo>
                    <a:pt x="2280101" y="1408598"/>
                    <a:pt x="2208144" y="1236710"/>
                    <a:pt x="2228206" y="2139519"/>
                  </a:cubicBezTo>
                  <a:cubicBezTo>
                    <a:pt x="2228941" y="2172596"/>
                    <a:pt x="2287391" y="2169111"/>
                    <a:pt x="2316983" y="2183907"/>
                  </a:cubicBezTo>
                  <a:cubicBezTo>
                    <a:pt x="2459026" y="1935332"/>
                    <a:pt x="2748798" y="1724423"/>
                    <a:pt x="2743111" y="1438183"/>
                  </a:cubicBezTo>
                  <a:cubicBezTo>
                    <a:pt x="2729625" y="759366"/>
                    <a:pt x="1830937" y="735857"/>
                    <a:pt x="1455849" y="648070"/>
                  </a:cubicBezTo>
                  <a:cubicBezTo>
                    <a:pt x="1165541" y="1213407"/>
                    <a:pt x="703616" y="1889090"/>
                    <a:pt x="763391" y="2583402"/>
                  </a:cubicBezTo>
                  <a:cubicBezTo>
                    <a:pt x="777505" y="2747346"/>
                    <a:pt x="964618" y="2843814"/>
                    <a:pt x="1065232" y="2974020"/>
                  </a:cubicBezTo>
                  <a:cubicBezTo>
                    <a:pt x="1242785" y="2932591"/>
                    <a:pt x="1459013" y="2967859"/>
                    <a:pt x="1597892" y="2849732"/>
                  </a:cubicBezTo>
                  <a:cubicBezTo>
                    <a:pt x="2110070" y="2414086"/>
                    <a:pt x="1813572" y="2192733"/>
                    <a:pt x="1402583" y="2006354"/>
                  </a:cubicBezTo>
                  <a:cubicBezTo>
                    <a:pt x="1302285" y="1960870"/>
                    <a:pt x="1183600" y="1982680"/>
                    <a:pt x="1074109" y="1970843"/>
                  </a:cubicBezTo>
                  <a:cubicBezTo>
                    <a:pt x="850123" y="2428997"/>
                    <a:pt x="287327" y="3067615"/>
                    <a:pt x="1020843" y="3551068"/>
                  </a:cubicBezTo>
                  <a:cubicBezTo>
                    <a:pt x="1253114" y="3704156"/>
                    <a:pt x="1577177" y="3545149"/>
                    <a:pt x="1855344" y="3542190"/>
                  </a:cubicBezTo>
                  <a:cubicBezTo>
                    <a:pt x="2011835" y="3390514"/>
                    <a:pt x="2857750" y="2765516"/>
                    <a:pt x="2601069" y="2325950"/>
                  </a:cubicBezTo>
                  <a:cubicBezTo>
                    <a:pt x="2425963" y="2026080"/>
                    <a:pt x="2015142" y="1953087"/>
                    <a:pt x="1722179" y="1766656"/>
                  </a:cubicBezTo>
                  <a:cubicBezTo>
                    <a:pt x="1547585" y="1775534"/>
                    <a:pt x="1331930" y="1680458"/>
                    <a:pt x="1198397" y="1793289"/>
                  </a:cubicBezTo>
                  <a:cubicBezTo>
                    <a:pt x="989269" y="1969994"/>
                    <a:pt x="162830" y="2974551"/>
                    <a:pt x="710125" y="3435658"/>
                  </a:cubicBezTo>
                  <a:cubicBezTo>
                    <a:pt x="971391" y="3655780"/>
                    <a:pt x="1372991" y="3601375"/>
                    <a:pt x="1704424" y="3684233"/>
                  </a:cubicBezTo>
                  <a:cubicBezTo>
                    <a:pt x="2103919" y="3474128"/>
                    <a:pt x="2560075" y="3347526"/>
                    <a:pt x="2902909" y="3053919"/>
                  </a:cubicBezTo>
                  <a:cubicBezTo>
                    <a:pt x="3157358" y="2836007"/>
                    <a:pt x="3403570" y="2535138"/>
                    <a:pt x="3435570" y="2201662"/>
                  </a:cubicBezTo>
                  <a:cubicBezTo>
                    <a:pt x="3466644" y="1877837"/>
                    <a:pt x="3266773" y="1556390"/>
                    <a:pt x="3071585" y="1296140"/>
                  </a:cubicBezTo>
                  <a:cubicBezTo>
                    <a:pt x="2590871" y="655188"/>
                    <a:pt x="2217497" y="548243"/>
                    <a:pt x="1589014" y="257453"/>
                  </a:cubicBezTo>
                  <a:cubicBezTo>
                    <a:pt x="1002914" y="1011009"/>
                    <a:pt x="999669" y="853868"/>
                    <a:pt x="861045" y="2077375"/>
                  </a:cubicBezTo>
                  <a:cubicBezTo>
                    <a:pt x="840452" y="2259134"/>
                    <a:pt x="846049" y="2468275"/>
                    <a:pt x="949822" y="2618913"/>
                  </a:cubicBezTo>
                  <a:cubicBezTo>
                    <a:pt x="1049777" y="2764008"/>
                    <a:pt x="1257581" y="2790548"/>
                    <a:pt x="1411461" y="2876365"/>
                  </a:cubicBezTo>
                  <a:cubicBezTo>
                    <a:pt x="1734016" y="2781670"/>
                    <a:pt x="2104836" y="2786635"/>
                    <a:pt x="2379127" y="2592280"/>
                  </a:cubicBezTo>
                  <a:cubicBezTo>
                    <a:pt x="3108043" y="2075791"/>
                    <a:pt x="3183287" y="1524616"/>
                    <a:pt x="2459026" y="958788"/>
                  </a:cubicBezTo>
                  <a:cubicBezTo>
                    <a:pt x="2116389" y="691103"/>
                    <a:pt x="1660035" y="615519"/>
                    <a:pt x="1260540" y="443884"/>
                  </a:cubicBezTo>
                  <a:cubicBezTo>
                    <a:pt x="1029721" y="582967"/>
                    <a:pt x="684224" y="617962"/>
                    <a:pt x="568082" y="861134"/>
                  </a:cubicBezTo>
                  <a:cubicBezTo>
                    <a:pt x="26055" y="1996002"/>
                    <a:pt x="293525" y="2083599"/>
                    <a:pt x="816657" y="2743200"/>
                  </a:cubicBezTo>
                  <a:cubicBezTo>
                    <a:pt x="1080028" y="2737282"/>
                    <a:pt x="1378747" y="2857372"/>
                    <a:pt x="1606770" y="2725445"/>
                  </a:cubicBezTo>
                  <a:cubicBezTo>
                    <a:pt x="2293333" y="2328219"/>
                    <a:pt x="2130040" y="1714159"/>
                    <a:pt x="1597892" y="1322773"/>
                  </a:cubicBezTo>
                  <a:cubicBezTo>
                    <a:pt x="1338563" y="1132041"/>
                    <a:pt x="988292" y="1115628"/>
                    <a:pt x="683492" y="1012055"/>
                  </a:cubicBezTo>
                  <a:cubicBezTo>
                    <a:pt x="348662" y="1483086"/>
                    <a:pt x="-135283" y="1926872"/>
                    <a:pt x="35422" y="2601157"/>
                  </a:cubicBezTo>
                  <a:cubicBezTo>
                    <a:pt x="95134" y="2837021"/>
                    <a:pt x="355018" y="2968101"/>
                    <a:pt x="514816" y="3151573"/>
                  </a:cubicBezTo>
                  <a:cubicBezTo>
                    <a:pt x="858086" y="3136777"/>
                    <a:pt x="1205257" y="3160870"/>
                    <a:pt x="1544626" y="3107185"/>
                  </a:cubicBezTo>
                  <a:cubicBezTo>
                    <a:pt x="1735174" y="3077042"/>
                    <a:pt x="1952562" y="2763830"/>
                    <a:pt x="2086164" y="2902998"/>
                  </a:cubicBezTo>
                  <a:cubicBezTo>
                    <a:pt x="2238121" y="3061286"/>
                    <a:pt x="2009224" y="3335045"/>
                    <a:pt x="1970754" y="3551068"/>
                  </a:cubicBezTo>
                  <a:cubicBezTo>
                    <a:pt x="2160144" y="3675355"/>
                    <a:pt x="2313312" y="3903562"/>
                    <a:pt x="2538925" y="3923930"/>
                  </a:cubicBezTo>
                  <a:cubicBezTo>
                    <a:pt x="3239904" y="3987213"/>
                    <a:pt x="3532653" y="3287070"/>
                    <a:pt x="3852820" y="2858610"/>
                  </a:cubicBezTo>
                  <a:cubicBezTo>
                    <a:pt x="3817309" y="2636668"/>
                    <a:pt x="3833324" y="2400014"/>
                    <a:pt x="3746288" y="2192785"/>
                  </a:cubicBezTo>
                  <a:cubicBezTo>
                    <a:pt x="3701539" y="2086239"/>
                    <a:pt x="3588710" y="1931760"/>
                    <a:pt x="3479958" y="1970843"/>
                  </a:cubicBezTo>
                  <a:cubicBezTo>
                    <a:pt x="3316148" y="2029712"/>
                    <a:pt x="3278731" y="2254928"/>
                    <a:pt x="3178117" y="2396971"/>
                  </a:cubicBezTo>
                  <a:cubicBezTo>
                    <a:pt x="3160362" y="2521258"/>
                    <a:pt x="3034958" y="2857479"/>
                    <a:pt x="3124851" y="2769833"/>
                  </a:cubicBezTo>
                  <a:cubicBezTo>
                    <a:pt x="3594381" y="2312041"/>
                    <a:pt x="3729832" y="1794906"/>
                    <a:pt x="3169239" y="1305018"/>
                  </a:cubicBezTo>
                  <a:cubicBezTo>
                    <a:pt x="3010592" y="1166381"/>
                    <a:pt x="2754948" y="1228078"/>
                    <a:pt x="2547803" y="1189608"/>
                  </a:cubicBezTo>
                  <a:cubicBezTo>
                    <a:pt x="1741719" y="2083099"/>
                    <a:pt x="1663989" y="2342281"/>
                    <a:pt x="1935243" y="1722268"/>
                  </a:cubicBezTo>
                  <a:cubicBezTo>
                    <a:pt x="1902692" y="1248792"/>
                    <a:pt x="1942991" y="764582"/>
                    <a:pt x="1837589" y="301841"/>
                  </a:cubicBezTo>
                  <a:cubicBezTo>
                    <a:pt x="1813893" y="197809"/>
                    <a:pt x="1674474" y="97255"/>
                    <a:pt x="1571259" y="124288"/>
                  </a:cubicBezTo>
                  <a:cubicBezTo>
                    <a:pt x="1375422" y="175579"/>
                    <a:pt x="1251663" y="372863"/>
                    <a:pt x="1091865" y="497150"/>
                  </a:cubicBezTo>
                  <a:cubicBezTo>
                    <a:pt x="1044517" y="787154"/>
                    <a:pt x="891215" y="1079222"/>
                    <a:pt x="949822" y="1367161"/>
                  </a:cubicBezTo>
                  <a:cubicBezTo>
                    <a:pt x="974484" y="1488328"/>
                    <a:pt x="1177073" y="1533999"/>
                    <a:pt x="1296051" y="1500326"/>
                  </a:cubicBezTo>
                  <a:cubicBezTo>
                    <a:pt x="1525861" y="1435285"/>
                    <a:pt x="1692587" y="1233996"/>
                    <a:pt x="1890855" y="1100831"/>
                  </a:cubicBezTo>
                  <a:cubicBezTo>
                    <a:pt x="1952999" y="970625"/>
                    <a:pt x="2142373" y="838973"/>
                    <a:pt x="2077286" y="710214"/>
                  </a:cubicBezTo>
                  <a:cubicBezTo>
                    <a:pt x="1788879" y="139670"/>
                    <a:pt x="1315535" y="304888"/>
                    <a:pt x="861045" y="337352"/>
                  </a:cubicBezTo>
                  <a:cubicBezTo>
                    <a:pt x="714385" y="974567"/>
                    <a:pt x="271374" y="1644317"/>
                    <a:pt x="1047476" y="2104008"/>
                  </a:cubicBezTo>
                  <a:cubicBezTo>
                    <a:pt x="1251420" y="2224805"/>
                    <a:pt x="1520952" y="2127682"/>
                    <a:pt x="1757690" y="2139519"/>
                  </a:cubicBezTo>
                  <a:cubicBezTo>
                    <a:pt x="2086670" y="1831100"/>
                    <a:pt x="2684077" y="1562041"/>
                    <a:pt x="2237084" y="976544"/>
                  </a:cubicBezTo>
                  <a:cubicBezTo>
                    <a:pt x="2120640" y="824019"/>
                    <a:pt x="1876059" y="846338"/>
                    <a:pt x="1695546" y="781235"/>
                  </a:cubicBezTo>
                  <a:cubicBezTo>
                    <a:pt x="1636362" y="1086035"/>
                    <a:pt x="1561903" y="1388263"/>
                    <a:pt x="1517993" y="1695635"/>
                  </a:cubicBezTo>
                  <a:cubicBezTo>
                    <a:pt x="1496633" y="1845153"/>
                    <a:pt x="1492436" y="1997561"/>
                    <a:pt x="1500238" y="2148396"/>
                  </a:cubicBezTo>
                  <a:cubicBezTo>
                    <a:pt x="1501553" y="2173818"/>
                    <a:pt x="1523911" y="2195744"/>
                    <a:pt x="1544626" y="2210540"/>
                  </a:cubicBezTo>
                  <a:cubicBezTo>
                    <a:pt x="1583222" y="2238109"/>
                    <a:pt x="1601101" y="2237173"/>
                    <a:pt x="1633403" y="2237173"/>
                  </a:cubicBezTo>
                </a:path>
              </a:pathLst>
            </a:custGeom>
            <a:noFill/>
            <a:ln w="28575">
              <a:solidFill>
                <a:srgbClr val="DC4C6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2">
            <a:extLst>
              <a:ext uri="{FF2B5EF4-FFF2-40B4-BE49-F238E27FC236}">
                <a16:creationId xmlns:a16="http://schemas.microsoft.com/office/drawing/2014/main" id="{FDEAF6E4-A614-E805-EA09-1F12061D6A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0"/>
          <a:stretch/>
        </p:blipFill>
        <p:spPr bwMode="auto">
          <a:xfrm>
            <a:off x="1504731" y="1216324"/>
            <a:ext cx="1397841" cy="102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CC82D1E-2533-ECC2-B62E-317DC3B93625}"/>
              </a:ext>
            </a:extLst>
          </p:cNvPr>
          <p:cNvGrpSpPr/>
          <p:nvPr/>
        </p:nvGrpSpPr>
        <p:grpSpPr>
          <a:xfrm>
            <a:off x="37568" y="2335914"/>
            <a:ext cx="2844845" cy="1048732"/>
            <a:chOff x="8234658" y="3789922"/>
            <a:chExt cx="3957342" cy="1458846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E10924C-B1C5-4455-DCE9-5F1998DBDA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00"/>
            <a:stretch/>
          </p:blipFill>
          <p:spPr bwMode="auto">
            <a:xfrm>
              <a:off x="10201827" y="3789922"/>
              <a:ext cx="1990173" cy="145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7B0E59-A4F9-1851-A061-37C342E5728B}"/>
                </a:ext>
              </a:extLst>
            </p:cNvPr>
            <p:cNvSpPr/>
            <p:nvPr/>
          </p:nvSpPr>
          <p:spPr>
            <a:xfrm>
              <a:off x="8234658" y="3938416"/>
              <a:ext cx="1976142" cy="1106424"/>
            </a:xfrm>
            <a:custGeom>
              <a:avLst/>
              <a:gdLst>
                <a:gd name="connsiteX0" fmla="*/ 1976142 w 1976142"/>
                <a:gd name="connsiteY0" fmla="*/ 0 h 1106424"/>
                <a:gd name="connsiteX1" fmla="*/ 1793262 w 1976142"/>
                <a:gd name="connsiteY1" fmla="*/ 9144 h 1106424"/>
                <a:gd name="connsiteX2" fmla="*/ 1729254 w 1976142"/>
                <a:gd name="connsiteY2" fmla="*/ 18288 h 1106424"/>
                <a:gd name="connsiteX3" fmla="*/ 1619526 w 1976142"/>
                <a:gd name="connsiteY3" fmla="*/ 91440 h 1106424"/>
                <a:gd name="connsiteX4" fmla="*/ 1546374 w 1976142"/>
                <a:gd name="connsiteY4" fmla="*/ 192024 h 1106424"/>
                <a:gd name="connsiteX5" fmla="*/ 1509798 w 1976142"/>
                <a:gd name="connsiteY5" fmla="*/ 329184 h 1106424"/>
                <a:gd name="connsiteX6" fmla="*/ 1592094 w 1976142"/>
                <a:gd name="connsiteY6" fmla="*/ 384048 h 1106424"/>
                <a:gd name="connsiteX7" fmla="*/ 1756686 w 1976142"/>
                <a:gd name="connsiteY7" fmla="*/ 365760 h 1106424"/>
                <a:gd name="connsiteX8" fmla="*/ 1774974 w 1976142"/>
                <a:gd name="connsiteY8" fmla="*/ 292608 h 1106424"/>
                <a:gd name="connsiteX9" fmla="*/ 1537230 w 1976142"/>
                <a:gd name="connsiteY9" fmla="*/ 201168 h 1106424"/>
                <a:gd name="connsiteX10" fmla="*/ 1409214 w 1976142"/>
                <a:gd name="connsiteY10" fmla="*/ 265176 h 1106424"/>
                <a:gd name="connsiteX11" fmla="*/ 1436646 w 1976142"/>
                <a:gd name="connsiteY11" fmla="*/ 384048 h 1106424"/>
                <a:gd name="connsiteX12" fmla="*/ 1582950 w 1976142"/>
                <a:gd name="connsiteY12" fmla="*/ 411480 h 1106424"/>
                <a:gd name="connsiteX13" fmla="*/ 1610382 w 1976142"/>
                <a:gd name="connsiteY13" fmla="*/ 393192 h 1106424"/>
                <a:gd name="connsiteX14" fmla="*/ 1436646 w 1976142"/>
                <a:gd name="connsiteY14" fmla="*/ 292608 h 1106424"/>
                <a:gd name="connsiteX15" fmla="*/ 1445790 w 1976142"/>
                <a:gd name="connsiteY15" fmla="*/ 694944 h 1106424"/>
                <a:gd name="connsiteX16" fmla="*/ 1729254 w 1976142"/>
                <a:gd name="connsiteY16" fmla="*/ 722376 h 1106424"/>
                <a:gd name="connsiteX17" fmla="*/ 1811550 w 1976142"/>
                <a:gd name="connsiteY17" fmla="*/ 393192 h 1106424"/>
                <a:gd name="connsiteX18" fmla="*/ 1656102 w 1976142"/>
                <a:gd name="connsiteY18" fmla="*/ 347472 h 1106424"/>
                <a:gd name="connsiteX19" fmla="*/ 1683534 w 1976142"/>
                <a:gd name="connsiteY19" fmla="*/ 539496 h 1106424"/>
                <a:gd name="connsiteX20" fmla="*/ 1784118 w 1976142"/>
                <a:gd name="connsiteY20" fmla="*/ 585216 h 1106424"/>
                <a:gd name="connsiteX21" fmla="*/ 1774974 w 1976142"/>
                <a:gd name="connsiteY21" fmla="*/ 448056 h 1106424"/>
                <a:gd name="connsiteX22" fmla="*/ 1464078 w 1976142"/>
                <a:gd name="connsiteY22" fmla="*/ 384048 h 1106424"/>
                <a:gd name="connsiteX23" fmla="*/ 1509798 w 1976142"/>
                <a:gd name="connsiteY23" fmla="*/ 466344 h 1106424"/>
                <a:gd name="connsiteX24" fmla="*/ 1564662 w 1976142"/>
                <a:gd name="connsiteY24" fmla="*/ 475488 h 1106424"/>
                <a:gd name="connsiteX25" fmla="*/ 1473222 w 1976142"/>
                <a:gd name="connsiteY25" fmla="*/ 402336 h 1106424"/>
                <a:gd name="connsiteX26" fmla="*/ 1390926 w 1976142"/>
                <a:gd name="connsiteY26" fmla="*/ 658368 h 1106424"/>
                <a:gd name="connsiteX27" fmla="*/ 1528086 w 1976142"/>
                <a:gd name="connsiteY27" fmla="*/ 676656 h 1106424"/>
                <a:gd name="connsiteX28" fmla="*/ 1573806 w 1976142"/>
                <a:gd name="connsiteY28" fmla="*/ 557784 h 1106424"/>
                <a:gd name="connsiteX29" fmla="*/ 1345206 w 1976142"/>
                <a:gd name="connsiteY29" fmla="*/ 612648 h 1106424"/>
                <a:gd name="connsiteX30" fmla="*/ 1546374 w 1976142"/>
                <a:gd name="connsiteY30" fmla="*/ 841248 h 1106424"/>
                <a:gd name="connsiteX31" fmla="*/ 1665246 w 1976142"/>
                <a:gd name="connsiteY31" fmla="*/ 658368 h 1106424"/>
                <a:gd name="connsiteX32" fmla="*/ 1601238 w 1976142"/>
                <a:gd name="connsiteY32" fmla="*/ 493776 h 1106424"/>
                <a:gd name="connsiteX33" fmla="*/ 1500654 w 1976142"/>
                <a:gd name="connsiteY33" fmla="*/ 448056 h 1106424"/>
                <a:gd name="connsiteX34" fmla="*/ 1464078 w 1976142"/>
                <a:gd name="connsiteY34" fmla="*/ 621792 h 1106424"/>
                <a:gd name="connsiteX35" fmla="*/ 1582950 w 1976142"/>
                <a:gd name="connsiteY35" fmla="*/ 667512 h 1106424"/>
                <a:gd name="connsiteX36" fmla="*/ 1582950 w 1976142"/>
                <a:gd name="connsiteY36" fmla="*/ 411480 h 1106424"/>
                <a:gd name="connsiteX37" fmla="*/ 1445790 w 1976142"/>
                <a:gd name="connsiteY37" fmla="*/ 402336 h 1106424"/>
                <a:gd name="connsiteX38" fmla="*/ 1363494 w 1976142"/>
                <a:gd name="connsiteY38" fmla="*/ 466344 h 1106424"/>
                <a:gd name="connsiteX39" fmla="*/ 1528086 w 1976142"/>
                <a:gd name="connsiteY39" fmla="*/ 813816 h 1106424"/>
                <a:gd name="connsiteX40" fmla="*/ 1765830 w 1976142"/>
                <a:gd name="connsiteY40" fmla="*/ 749808 h 1106424"/>
                <a:gd name="connsiteX41" fmla="*/ 1820694 w 1976142"/>
                <a:gd name="connsiteY41" fmla="*/ 402336 h 1106424"/>
                <a:gd name="connsiteX42" fmla="*/ 1720110 w 1976142"/>
                <a:gd name="connsiteY42" fmla="*/ 384048 h 1106424"/>
                <a:gd name="connsiteX43" fmla="*/ 1692678 w 1976142"/>
                <a:gd name="connsiteY43" fmla="*/ 676656 h 1106424"/>
                <a:gd name="connsiteX44" fmla="*/ 1857270 w 1976142"/>
                <a:gd name="connsiteY44" fmla="*/ 758952 h 1106424"/>
                <a:gd name="connsiteX45" fmla="*/ 1902990 w 1976142"/>
                <a:gd name="connsiteY45" fmla="*/ 640080 h 1106424"/>
                <a:gd name="connsiteX46" fmla="*/ 1592094 w 1976142"/>
                <a:gd name="connsiteY46" fmla="*/ 438912 h 1106424"/>
                <a:gd name="connsiteX47" fmla="*/ 1482366 w 1976142"/>
                <a:gd name="connsiteY47" fmla="*/ 740664 h 1106424"/>
                <a:gd name="connsiteX48" fmla="*/ 1546374 w 1976142"/>
                <a:gd name="connsiteY48" fmla="*/ 786384 h 1106424"/>
                <a:gd name="connsiteX49" fmla="*/ 1619526 w 1976142"/>
                <a:gd name="connsiteY49" fmla="*/ 685800 h 1106424"/>
                <a:gd name="connsiteX50" fmla="*/ 1354350 w 1976142"/>
                <a:gd name="connsiteY50" fmla="*/ 484632 h 1106424"/>
                <a:gd name="connsiteX51" fmla="*/ 1354350 w 1976142"/>
                <a:gd name="connsiteY51" fmla="*/ 832104 h 1106424"/>
                <a:gd name="connsiteX52" fmla="*/ 1482366 w 1976142"/>
                <a:gd name="connsiteY52" fmla="*/ 877824 h 1106424"/>
                <a:gd name="connsiteX53" fmla="*/ 1573806 w 1976142"/>
                <a:gd name="connsiteY53" fmla="*/ 758952 h 1106424"/>
                <a:gd name="connsiteX54" fmla="*/ 1509798 w 1976142"/>
                <a:gd name="connsiteY54" fmla="*/ 530352 h 1106424"/>
                <a:gd name="connsiteX55" fmla="*/ 1445790 w 1976142"/>
                <a:gd name="connsiteY55" fmla="*/ 804672 h 1106424"/>
                <a:gd name="connsiteX56" fmla="*/ 1546374 w 1976142"/>
                <a:gd name="connsiteY56" fmla="*/ 822960 h 1106424"/>
                <a:gd name="connsiteX57" fmla="*/ 1555518 w 1976142"/>
                <a:gd name="connsiteY57" fmla="*/ 640080 h 1106424"/>
                <a:gd name="connsiteX58" fmla="*/ 1189758 w 1976142"/>
                <a:gd name="connsiteY58" fmla="*/ 576072 h 1106424"/>
                <a:gd name="connsiteX59" fmla="*/ 1125750 w 1976142"/>
                <a:gd name="connsiteY59" fmla="*/ 603504 h 1106424"/>
                <a:gd name="connsiteX60" fmla="*/ 1061742 w 1976142"/>
                <a:gd name="connsiteY60" fmla="*/ 612648 h 1106424"/>
                <a:gd name="connsiteX61" fmla="*/ 503958 w 1976142"/>
                <a:gd name="connsiteY61" fmla="*/ 621792 h 1106424"/>
                <a:gd name="connsiteX62" fmla="*/ 339366 w 1976142"/>
                <a:gd name="connsiteY62" fmla="*/ 694944 h 1106424"/>
                <a:gd name="connsiteX63" fmla="*/ 302790 w 1976142"/>
                <a:gd name="connsiteY63" fmla="*/ 722376 h 1106424"/>
                <a:gd name="connsiteX64" fmla="*/ 513102 w 1976142"/>
                <a:gd name="connsiteY64" fmla="*/ 822960 h 1106424"/>
                <a:gd name="connsiteX65" fmla="*/ 394230 w 1976142"/>
                <a:gd name="connsiteY65" fmla="*/ 649224 h 1106424"/>
                <a:gd name="connsiteX66" fmla="*/ 348510 w 1976142"/>
                <a:gd name="connsiteY66" fmla="*/ 694944 h 1106424"/>
                <a:gd name="connsiteX67" fmla="*/ 476526 w 1976142"/>
                <a:gd name="connsiteY67" fmla="*/ 640080 h 1106424"/>
                <a:gd name="connsiteX68" fmla="*/ 366798 w 1976142"/>
                <a:gd name="connsiteY68" fmla="*/ 484632 h 1106424"/>
                <a:gd name="connsiteX69" fmla="*/ 238782 w 1976142"/>
                <a:gd name="connsiteY69" fmla="*/ 475488 h 1106424"/>
                <a:gd name="connsiteX70" fmla="*/ 220494 w 1976142"/>
                <a:gd name="connsiteY70" fmla="*/ 685800 h 1106424"/>
                <a:gd name="connsiteX71" fmla="*/ 321078 w 1976142"/>
                <a:gd name="connsiteY71" fmla="*/ 704088 h 1106424"/>
                <a:gd name="connsiteX72" fmla="*/ 366798 w 1976142"/>
                <a:gd name="connsiteY72" fmla="*/ 530352 h 1106424"/>
                <a:gd name="connsiteX73" fmla="*/ 211350 w 1976142"/>
                <a:gd name="connsiteY73" fmla="*/ 457200 h 1106424"/>
                <a:gd name="connsiteX74" fmla="*/ 129054 w 1976142"/>
                <a:gd name="connsiteY74" fmla="*/ 676656 h 1106424"/>
                <a:gd name="connsiteX75" fmla="*/ 339366 w 1976142"/>
                <a:gd name="connsiteY75" fmla="*/ 813816 h 1106424"/>
                <a:gd name="connsiteX76" fmla="*/ 394230 w 1976142"/>
                <a:gd name="connsiteY76" fmla="*/ 786384 h 1106424"/>
                <a:gd name="connsiteX77" fmla="*/ 348510 w 1976142"/>
                <a:gd name="connsiteY77" fmla="*/ 603504 h 1106424"/>
                <a:gd name="connsiteX78" fmla="*/ 238782 w 1976142"/>
                <a:gd name="connsiteY78" fmla="*/ 585216 h 1106424"/>
                <a:gd name="connsiteX79" fmla="*/ 357654 w 1976142"/>
                <a:gd name="connsiteY79" fmla="*/ 804672 h 1106424"/>
                <a:gd name="connsiteX80" fmla="*/ 467382 w 1976142"/>
                <a:gd name="connsiteY80" fmla="*/ 731520 h 1106424"/>
                <a:gd name="connsiteX81" fmla="*/ 330222 w 1976142"/>
                <a:gd name="connsiteY81" fmla="*/ 530352 h 1106424"/>
                <a:gd name="connsiteX82" fmla="*/ 302790 w 1976142"/>
                <a:gd name="connsiteY82" fmla="*/ 868680 h 1106424"/>
                <a:gd name="connsiteX83" fmla="*/ 394230 w 1976142"/>
                <a:gd name="connsiteY83" fmla="*/ 758952 h 1106424"/>
                <a:gd name="connsiteX84" fmla="*/ 403374 w 1976142"/>
                <a:gd name="connsiteY84" fmla="*/ 795528 h 1106424"/>
                <a:gd name="connsiteX85" fmla="*/ 449094 w 1976142"/>
                <a:gd name="connsiteY85" fmla="*/ 777240 h 1106424"/>
                <a:gd name="connsiteX86" fmla="*/ 412518 w 1976142"/>
                <a:gd name="connsiteY86" fmla="*/ 731520 h 1106424"/>
                <a:gd name="connsiteX87" fmla="*/ 385086 w 1976142"/>
                <a:gd name="connsiteY87" fmla="*/ 804672 h 1106424"/>
                <a:gd name="connsiteX88" fmla="*/ 439950 w 1976142"/>
                <a:gd name="connsiteY88" fmla="*/ 841248 h 1106424"/>
                <a:gd name="connsiteX89" fmla="*/ 449094 w 1976142"/>
                <a:gd name="connsiteY89" fmla="*/ 566928 h 1106424"/>
                <a:gd name="connsiteX90" fmla="*/ 513102 w 1976142"/>
                <a:gd name="connsiteY90" fmla="*/ 466344 h 1106424"/>
                <a:gd name="connsiteX91" fmla="*/ 1016022 w 1976142"/>
                <a:gd name="connsiteY91" fmla="*/ 329184 h 1106424"/>
                <a:gd name="connsiteX92" fmla="*/ 1363494 w 1976142"/>
                <a:gd name="connsiteY92" fmla="*/ 265176 h 1106424"/>
                <a:gd name="connsiteX93" fmla="*/ 1528086 w 1976142"/>
                <a:gd name="connsiteY93" fmla="*/ 274320 h 1106424"/>
                <a:gd name="connsiteX94" fmla="*/ 1518942 w 1976142"/>
                <a:gd name="connsiteY94" fmla="*/ 338328 h 1106424"/>
                <a:gd name="connsiteX95" fmla="*/ 1528086 w 1976142"/>
                <a:gd name="connsiteY95" fmla="*/ 411480 h 1106424"/>
                <a:gd name="connsiteX96" fmla="*/ 1573806 w 1976142"/>
                <a:gd name="connsiteY96" fmla="*/ 576072 h 1106424"/>
                <a:gd name="connsiteX97" fmla="*/ 1592094 w 1976142"/>
                <a:gd name="connsiteY97" fmla="*/ 612648 h 1106424"/>
                <a:gd name="connsiteX98" fmla="*/ 1619526 w 1976142"/>
                <a:gd name="connsiteY98" fmla="*/ 621792 h 1106424"/>
                <a:gd name="connsiteX99" fmla="*/ 1656102 w 1976142"/>
                <a:gd name="connsiteY99" fmla="*/ 685800 h 1106424"/>
                <a:gd name="connsiteX100" fmla="*/ 1710966 w 1976142"/>
                <a:gd name="connsiteY100" fmla="*/ 694944 h 1106424"/>
                <a:gd name="connsiteX101" fmla="*/ 1692678 w 1976142"/>
                <a:gd name="connsiteY101" fmla="*/ 740664 h 1106424"/>
                <a:gd name="connsiteX102" fmla="*/ 1637814 w 1976142"/>
                <a:gd name="connsiteY102" fmla="*/ 758952 h 1106424"/>
                <a:gd name="connsiteX103" fmla="*/ 1564662 w 1976142"/>
                <a:gd name="connsiteY103" fmla="*/ 795528 h 1106424"/>
                <a:gd name="connsiteX104" fmla="*/ 1326918 w 1976142"/>
                <a:gd name="connsiteY104" fmla="*/ 941832 h 1106424"/>
                <a:gd name="connsiteX105" fmla="*/ 1208046 w 1976142"/>
                <a:gd name="connsiteY105" fmla="*/ 969264 h 1106424"/>
                <a:gd name="connsiteX106" fmla="*/ 1052598 w 1976142"/>
                <a:gd name="connsiteY106" fmla="*/ 1033272 h 1106424"/>
                <a:gd name="connsiteX107" fmla="*/ 897150 w 1976142"/>
                <a:gd name="connsiteY107" fmla="*/ 1051560 h 1106424"/>
                <a:gd name="connsiteX108" fmla="*/ 650262 w 1976142"/>
                <a:gd name="connsiteY108" fmla="*/ 1005840 h 1106424"/>
                <a:gd name="connsiteX109" fmla="*/ 522246 w 1976142"/>
                <a:gd name="connsiteY109" fmla="*/ 896112 h 1106424"/>
                <a:gd name="connsiteX110" fmla="*/ 494814 w 1976142"/>
                <a:gd name="connsiteY110" fmla="*/ 859536 h 1106424"/>
                <a:gd name="connsiteX111" fmla="*/ 458238 w 1976142"/>
                <a:gd name="connsiteY111" fmla="*/ 841248 h 1106424"/>
                <a:gd name="connsiteX112" fmla="*/ 275358 w 1976142"/>
                <a:gd name="connsiteY112" fmla="*/ 722376 h 1106424"/>
                <a:gd name="connsiteX113" fmla="*/ 202206 w 1976142"/>
                <a:gd name="connsiteY113" fmla="*/ 694944 h 1106424"/>
                <a:gd name="connsiteX114" fmla="*/ 92478 w 1976142"/>
                <a:gd name="connsiteY114" fmla="*/ 804672 h 1106424"/>
                <a:gd name="connsiteX115" fmla="*/ 174774 w 1976142"/>
                <a:gd name="connsiteY115" fmla="*/ 868680 h 1106424"/>
                <a:gd name="connsiteX116" fmla="*/ 458238 w 1976142"/>
                <a:gd name="connsiteY116" fmla="*/ 795528 h 1106424"/>
                <a:gd name="connsiteX117" fmla="*/ 220494 w 1976142"/>
                <a:gd name="connsiteY117" fmla="*/ 685800 h 1106424"/>
                <a:gd name="connsiteX118" fmla="*/ 247926 w 1976142"/>
                <a:gd name="connsiteY118" fmla="*/ 1014984 h 1106424"/>
                <a:gd name="connsiteX119" fmla="*/ 385086 w 1976142"/>
                <a:gd name="connsiteY119" fmla="*/ 987552 h 1106424"/>
                <a:gd name="connsiteX120" fmla="*/ 412518 w 1976142"/>
                <a:gd name="connsiteY120" fmla="*/ 832104 h 1106424"/>
                <a:gd name="connsiteX121" fmla="*/ 110766 w 1976142"/>
                <a:gd name="connsiteY121" fmla="*/ 658368 h 1106424"/>
                <a:gd name="connsiteX122" fmla="*/ 101622 w 1976142"/>
                <a:gd name="connsiteY122" fmla="*/ 886968 h 1106424"/>
                <a:gd name="connsiteX123" fmla="*/ 211350 w 1976142"/>
                <a:gd name="connsiteY123" fmla="*/ 740664 h 1106424"/>
                <a:gd name="connsiteX124" fmla="*/ 83334 w 1976142"/>
                <a:gd name="connsiteY124" fmla="*/ 923544 h 1106424"/>
                <a:gd name="connsiteX125" fmla="*/ 238782 w 1976142"/>
                <a:gd name="connsiteY125" fmla="*/ 1106424 h 1106424"/>
                <a:gd name="connsiteX126" fmla="*/ 476526 w 1976142"/>
                <a:gd name="connsiteY126" fmla="*/ 960120 h 1106424"/>
                <a:gd name="connsiteX127" fmla="*/ 247926 w 1976142"/>
                <a:gd name="connsiteY127" fmla="*/ 630936 h 1106424"/>
                <a:gd name="connsiteX128" fmla="*/ 202206 w 1976142"/>
                <a:gd name="connsiteY128" fmla="*/ 612648 h 1106424"/>
                <a:gd name="connsiteX129" fmla="*/ 220494 w 1976142"/>
                <a:gd name="connsiteY129" fmla="*/ 941832 h 1106424"/>
                <a:gd name="connsiteX130" fmla="*/ 293646 w 1976142"/>
                <a:gd name="connsiteY130" fmla="*/ 950976 h 1106424"/>
                <a:gd name="connsiteX131" fmla="*/ 330222 w 1976142"/>
                <a:gd name="connsiteY131" fmla="*/ 795528 h 1106424"/>
                <a:gd name="connsiteX132" fmla="*/ 275358 w 1976142"/>
                <a:gd name="connsiteY132" fmla="*/ 795528 h 1106424"/>
                <a:gd name="connsiteX133" fmla="*/ 403374 w 1976142"/>
                <a:gd name="connsiteY133" fmla="*/ 786384 h 1106424"/>
                <a:gd name="connsiteX134" fmla="*/ 485670 w 1976142"/>
                <a:gd name="connsiteY134" fmla="*/ 777240 h 1106424"/>
                <a:gd name="connsiteX135" fmla="*/ 558822 w 1976142"/>
                <a:gd name="connsiteY135" fmla="*/ 768096 h 1106424"/>
                <a:gd name="connsiteX136" fmla="*/ 769134 w 1976142"/>
                <a:gd name="connsiteY136" fmla="*/ 758952 h 1106424"/>
                <a:gd name="connsiteX137" fmla="*/ 906294 w 1976142"/>
                <a:gd name="connsiteY137" fmla="*/ 740664 h 1106424"/>
                <a:gd name="connsiteX138" fmla="*/ 1153182 w 1976142"/>
                <a:gd name="connsiteY138" fmla="*/ 731520 h 1106424"/>
                <a:gd name="connsiteX139" fmla="*/ 1345206 w 1976142"/>
                <a:gd name="connsiteY139" fmla="*/ 713232 h 1106424"/>
                <a:gd name="connsiteX140" fmla="*/ 1436646 w 1976142"/>
                <a:gd name="connsiteY140" fmla="*/ 685800 h 1106424"/>
                <a:gd name="connsiteX141" fmla="*/ 1500654 w 1976142"/>
                <a:gd name="connsiteY141" fmla="*/ 676656 h 1106424"/>
                <a:gd name="connsiteX142" fmla="*/ 1555518 w 1976142"/>
                <a:gd name="connsiteY142" fmla="*/ 658368 h 110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976142" h="1106424">
                  <a:moveTo>
                    <a:pt x="1976142" y="0"/>
                  </a:moveTo>
                  <a:cubicBezTo>
                    <a:pt x="1915182" y="3048"/>
                    <a:pt x="1854131" y="4635"/>
                    <a:pt x="1793262" y="9144"/>
                  </a:cubicBezTo>
                  <a:cubicBezTo>
                    <a:pt x="1771768" y="10736"/>
                    <a:pt x="1749701" y="11472"/>
                    <a:pt x="1729254" y="18288"/>
                  </a:cubicBezTo>
                  <a:cubicBezTo>
                    <a:pt x="1711411" y="24236"/>
                    <a:pt x="1623701" y="86987"/>
                    <a:pt x="1619526" y="91440"/>
                  </a:cubicBezTo>
                  <a:cubicBezTo>
                    <a:pt x="1591172" y="121685"/>
                    <a:pt x="1570758" y="158496"/>
                    <a:pt x="1546374" y="192024"/>
                  </a:cubicBezTo>
                  <a:cubicBezTo>
                    <a:pt x="1516604" y="311103"/>
                    <a:pt x="1530864" y="265985"/>
                    <a:pt x="1509798" y="329184"/>
                  </a:cubicBezTo>
                  <a:cubicBezTo>
                    <a:pt x="1537230" y="347472"/>
                    <a:pt x="1561608" y="371495"/>
                    <a:pt x="1592094" y="384048"/>
                  </a:cubicBezTo>
                  <a:cubicBezTo>
                    <a:pt x="1654628" y="409797"/>
                    <a:pt x="1696349" y="383861"/>
                    <a:pt x="1756686" y="365760"/>
                  </a:cubicBezTo>
                  <a:cubicBezTo>
                    <a:pt x="1762782" y="341376"/>
                    <a:pt x="1787296" y="314515"/>
                    <a:pt x="1774974" y="292608"/>
                  </a:cubicBezTo>
                  <a:cubicBezTo>
                    <a:pt x="1725172" y="204071"/>
                    <a:pt x="1617482" y="211868"/>
                    <a:pt x="1537230" y="201168"/>
                  </a:cubicBezTo>
                  <a:cubicBezTo>
                    <a:pt x="1494558" y="222504"/>
                    <a:pt x="1446468" y="235373"/>
                    <a:pt x="1409214" y="265176"/>
                  </a:cubicBezTo>
                  <a:cubicBezTo>
                    <a:pt x="1376294" y="291512"/>
                    <a:pt x="1425447" y="377889"/>
                    <a:pt x="1436646" y="384048"/>
                  </a:cubicBezTo>
                  <a:cubicBezTo>
                    <a:pt x="1480122" y="407960"/>
                    <a:pt x="1534182" y="402336"/>
                    <a:pt x="1582950" y="411480"/>
                  </a:cubicBezTo>
                  <a:cubicBezTo>
                    <a:pt x="1592094" y="405384"/>
                    <a:pt x="1614138" y="403520"/>
                    <a:pt x="1610382" y="393192"/>
                  </a:cubicBezTo>
                  <a:cubicBezTo>
                    <a:pt x="1572794" y="289824"/>
                    <a:pt x="1528174" y="307863"/>
                    <a:pt x="1436646" y="292608"/>
                  </a:cubicBezTo>
                  <a:cubicBezTo>
                    <a:pt x="1410348" y="392539"/>
                    <a:pt x="1325437" y="603866"/>
                    <a:pt x="1445790" y="694944"/>
                  </a:cubicBezTo>
                  <a:cubicBezTo>
                    <a:pt x="1521487" y="752228"/>
                    <a:pt x="1634766" y="713232"/>
                    <a:pt x="1729254" y="722376"/>
                  </a:cubicBezTo>
                  <a:cubicBezTo>
                    <a:pt x="1788776" y="621933"/>
                    <a:pt x="1972251" y="486934"/>
                    <a:pt x="1811550" y="393192"/>
                  </a:cubicBezTo>
                  <a:cubicBezTo>
                    <a:pt x="1764897" y="365978"/>
                    <a:pt x="1707918" y="362712"/>
                    <a:pt x="1656102" y="347472"/>
                  </a:cubicBezTo>
                  <a:cubicBezTo>
                    <a:pt x="1568750" y="369310"/>
                    <a:pt x="1554311" y="360020"/>
                    <a:pt x="1683534" y="539496"/>
                  </a:cubicBezTo>
                  <a:cubicBezTo>
                    <a:pt x="1705053" y="569384"/>
                    <a:pt x="1750590" y="569976"/>
                    <a:pt x="1784118" y="585216"/>
                  </a:cubicBezTo>
                  <a:cubicBezTo>
                    <a:pt x="1781070" y="539496"/>
                    <a:pt x="1809764" y="477876"/>
                    <a:pt x="1774974" y="448056"/>
                  </a:cubicBezTo>
                  <a:cubicBezTo>
                    <a:pt x="1629840" y="323656"/>
                    <a:pt x="1580083" y="350904"/>
                    <a:pt x="1464078" y="384048"/>
                  </a:cubicBezTo>
                  <a:cubicBezTo>
                    <a:pt x="1479318" y="411480"/>
                    <a:pt x="1486578" y="445235"/>
                    <a:pt x="1509798" y="466344"/>
                  </a:cubicBezTo>
                  <a:cubicBezTo>
                    <a:pt x="1523517" y="478816"/>
                    <a:pt x="1573861" y="491585"/>
                    <a:pt x="1564662" y="475488"/>
                  </a:cubicBezTo>
                  <a:cubicBezTo>
                    <a:pt x="1545296" y="441597"/>
                    <a:pt x="1503702" y="426720"/>
                    <a:pt x="1473222" y="402336"/>
                  </a:cubicBezTo>
                  <a:cubicBezTo>
                    <a:pt x="1372225" y="436002"/>
                    <a:pt x="1298296" y="442231"/>
                    <a:pt x="1390926" y="658368"/>
                  </a:cubicBezTo>
                  <a:cubicBezTo>
                    <a:pt x="1409095" y="700763"/>
                    <a:pt x="1482366" y="670560"/>
                    <a:pt x="1528086" y="676656"/>
                  </a:cubicBezTo>
                  <a:cubicBezTo>
                    <a:pt x="1543326" y="637032"/>
                    <a:pt x="1586590" y="598267"/>
                    <a:pt x="1573806" y="557784"/>
                  </a:cubicBezTo>
                  <a:cubicBezTo>
                    <a:pt x="1521546" y="392295"/>
                    <a:pt x="1358496" y="601256"/>
                    <a:pt x="1345206" y="612648"/>
                  </a:cubicBezTo>
                  <a:cubicBezTo>
                    <a:pt x="1350351" y="705259"/>
                    <a:pt x="1311727" y="930966"/>
                    <a:pt x="1546374" y="841248"/>
                  </a:cubicBezTo>
                  <a:cubicBezTo>
                    <a:pt x="1614285" y="815282"/>
                    <a:pt x="1625622" y="719328"/>
                    <a:pt x="1665246" y="658368"/>
                  </a:cubicBezTo>
                  <a:cubicBezTo>
                    <a:pt x="1643910" y="603504"/>
                    <a:pt x="1637518" y="540134"/>
                    <a:pt x="1601238" y="493776"/>
                  </a:cubicBezTo>
                  <a:cubicBezTo>
                    <a:pt x="1578540" y="464773"/>
                    <a:pt x="1527578" y="422927"/>
                    <a:pt x="1500654" y="448056"/>
                  </a:cubicBezTo>
                  <a:cubicBezTo>
                    <a:pt x="1457389" y="488437"/>
                    <a:pt x="1476270" y="563880"/>
                    <a:pt x="1464078" y="621792"/>
                  </a:cubicBezTo>
                  <a:cubicBezTo>
                    <a:pt x="1503702" y="637032"/>
                    <a:pt x="1541764" y="677809"/>
                    <a:pt x="1582950" y="667512"/>
                  </a:cubicBezTo>
                  <a:cubicBezTo>
                    <a:pt x="1804811" y="612047"/>
                    <a:pt x="1723047" y="490868"/>
                    <a:pt x="1582950" y="411480"/>
                  </a:cubicBezTo>
                  <a:cubicBezTo>
                    <a:pt x="1543084" y="388889"/>
                    <a:pt x="1491510" y="405384"/>
                    <a:pt x="1445790" y="402336"/>
                  </a:cubicBezTo>
                  <a:cubicBezTo>
                    <a:pt x="1418358" y="423672"/>
                    <a:pt x="1369898" y="432187"/>
                    <a:pt x="1363494" y="466344"/>
                  </a:cubicBezTo>
                  <a:cubicBezTo>
                    <a:pt x="1321777" y="688837"/>
                    <a:pt x="1393124" y="696849"/>
                    <a:pt x="1528086" y="813816"/>
                  </a:cubicBezTo>
                  <a:cubicBezTo>
                    <a:pt x="1607334" y="792480"/>
                    <a:pt x="1701133" y="800303"/>
                    <a:pt x="1765830" y="749808"/>
                  </a:cubicBezTo>
                  <a:cubicBezTo>
                    <a:pt x="1910387" y="636983"/>
                    <a:pt x="1963008" y="509071"/>
                    <a:pt x="1820694" y="402336"/>
                  </a:cubicBezTo>
                  <a:cubicBezTo>
                    <a:pt x="1793432" y="381889"/>
                    <a:pt x="1753638" y="390144"/>
                    <a:pt x="1720110" y="384048"/>
                  </a:cubicBezTo>
                  <a:cubicBezTo>
                    <a:pt x="1631412" y="472746"/>
                    <a:pt x="1574924" y="494672"/>
                    <a:pt x="1692678" y="676656"/>
                  </a:cubicBezTo>
                  <a:cubicBezTo>
                    <a:pt x="1726001" y="728155"/>
                    <a:pt x="1802406" y="731520"/>
                    <a:pt x="1857270" y="758952"/>
                  </a:cubicBezTo>
                  <a:cubicBezTo>
                    <a:pt x="1872510" y="719328"/>
                    <a:pt x="1921976" y="678052"/>
                    <a:pt x="1902990" y="640080"/>
                  </a:cubicBezTo>
                  <a:cubicBezTo>
                    <a:pt x="1799482" y="433064"/>
                    <a:pt x="1745025" y="451656"/>
                    <a:pt x="1592094" y="438912"/>
                  </a:cubicBezTo>
                  <a:cubicBezTo>
                    <a:pt x="1556536" y="503563"/>
                    <a:pt x="1448762" y="639851"/>
                    <a:pt x="1482366" y="740664"/>
                  </a:cubicBezTo>
                  <a:cubicBezTo>
                    <a:pt x="1490657" y="765538"/>
                    <a:pt x="1525038" y="771144"/>
                    <a:pt x="1546374" y="786384"/>
                  </a:cubicBezTo>
                  <a:cubicBezTo>
                    <a:pt x="1570758" y="752856"/>
                    <a:pt x="1623792" y="727037"/>
                    <a:pt x="1619526" y="685800"/>
                  </a:cubicBezTo>
                  <a:cubicBezTo>
                    <a:pt x="1600077" y="497794"/>
                    <a:pt x="1485172" y="513703"/>
                    <a:pt x="1354350" y="484632"/>
                  </a:cubicBezTo>
                  <a:cubicBezTo>
                    <a:pt x="1286163" y="629528"/>
                    <a:pt x="1219989" y="673313"/>
                    <a:pt x="1354350" y="832104"/>
                  </a:cubicBezTo>
                  <a:cubicBezTo>
                    <a:pt x="1383619" y="866694"/>
                    <a:pt x="1439694" y="862584"/>
                    <a:pt x="1482366" y="877824"/>
                  </a:cubicBezTo>
                  <a:cubicBezTo>
                    <a:pt x="1512846" y="838200"/>
                    <a:pt x="1561681" y="807450"/>
                    <a:pt x="1573806" y="758952"/>
                  </a:cubicBezTo>
                  <a:cubicBezTo>
                    <a:pt x="1606974" y="626279"/>
                    <a:pt x="1570743" y="603486"/>
                    <a:pt x="1509798" y="530352"/>
                  </a:cubicBezTo>
                  <a:cubicBezTo>
                    <a:pt x="1424848" y="628372"/>
                    <a:pt x="1314599" y="673481"/>
                    <a:pt x="1445790" y="804672"/>
                  </a:cubicBezTo>
                  <a:cubicBezTo>
                    <a:pt x="1469887" y="828769"/>
                    <a:pt x="1512846" y="816864"/>
                    <a:pt x="1546374" y="822960"/>
                  </a:cubicBezTo>
                  <a:cubicBezTo>
                    <a:pt x="1549422" y="762000"/>
                    <a:pt x="1584341" y="693882"/>
                    <a:pt x="1555518" y="640080"/>
                  </a:cubicBezTo>
                  <a:cubicBezTo>
                    <a:pt x="1495403" y="527865"/>
                    <a:pt x="1260021" y="573144"/>
                    <a:pt x="1189758" y="576072"/>
                  </a:cubicBezTo>
                  <a:cubicBezTo>
                    <a:pt x="1168422" y="585216"/>
                    <a:pt x="1148070" y="597127"/>
                    <a:pt x="1125750" y="603504"/>
                  </a:cubicBezTo>
                  <a:cubicBezTo>
                    <a:pt x="1105027" y="609425"/>
                    <a:pt x="1083285" y="612014"/>
                    <a:pt x="1061742" y="612648"/>
                  </a:cubicBezTo>
                  <a:cubicBezTo>
                    <a:pt x="875869" y="618115"/>
                    <a:pt x="689886" y="618744"/>
                    <a:pt x="503958" y="621792"/>
                  </a:cubicBezTo>
                  <a:cubicBezTo>
                    <a:pt x="449094" y="646176"/>
                    <a:pt x="393066" y="668094"/>
                    <a:pt x="339366" y="694944"/>
                  </a:cubicBezTo>
                  <a:cubicBezTo>
                    <a:pt x="325735" y="701760"/>
                    <a:pt x="295974" y="708745"/>
                    <a:pt x="302790" y="722376"/>
                  </a:cubicBezTo>
                  <a:cubicBezTo>
                    <a:pt x="351791" y="820377"/>
                    <a:pt x="424324" y="809302"/>
                    <a:pt x="513102" y="822960"/>
                  </a:cubicBezTo>
                  <a:cubicBezTo>
                    <a:pt x="543887" y="730606"/>
                    <a:pt x="566783" y="718245"/>
                    <a:pt x="394230" y="649224"/>
                  </a:cubicBezTo>
                  <a:cubicBezTo>
                    <a:pt x="374219" y="641220"/>
                    <a:pt x="363750" y="679704"/>
                    <a:pt x="348510" y="694944"/>
                  </a:cubicBezTo>
                  <a:cubicBezTo>
                    <a:pt x="367255" y="710565"/>
                    <a:pt x="507736" y="858553"/>
                    <a:pt x="476526" y="640080"/>
                  </a:cubicBezTo>
                  <a:cubicBezTo>
                    <a:pt x="467556" y="577293"/>
                    <a:pt x="418945" y="520734"/>
                    <a:pt x="366798" y="484632"/>
                  </a:cubicBezTo>
                  <a:cubicBezTo>
                    <a:pt x="331624" y="460281"/>
                    <a:pt x="281454" y="478536"/>
                    <a:pt x="238782" y="475488"/>
                  </a:cubicBezTo>
                  <a:cubicBezTo>
                    <a:pt x="227488" y="512193"/>
                    <a:pt x="168266" y="637589"/>
                    <a:pt x="220494" y="685800"/>
                  </a:cubicBezTo>
                  <a:cubicBezTo>
                    <a:pt x="245534" y="708914"/>
                    <a:pt x="287550" y="697992"/>
                    <a:pt x="321078" y="704088"/>
                  </a:cubicBezTo>
                  <a:cubicBezTo>
                    <a:pt x="336318" y="646176"/>
                    <a:pt x="391119" y="585074"/>
                    <a:pt x="366798" y="530352"/>
                  </a:cubicBezTo>
                  <a:cubicBezTo>
                    <a:pt x="343540" y="478021"/>
                    <a:pt x="260122" y="427187"/>
                    <a:pt x="211350" y="457200"/>
                  </a:cubicBezTo>
                  <a:cubicBezTo>
                    <a:pt x="144813" y="498146"/>
                    <a:pt x="156486" y="603504"/>
                    <a:pt x="129054" y="676656"/>
                  </a:cubicBezTo>
                  <a:cubicBezTo>
                    <a:pt x="199158" y="722376"/>
                    <a:pt x="262030" y="781815"/>
                    <a:pt x="339366" y="813816"/>
                  </a:cubicBezTo>
                  <a:cubicBezTo>
                    <a:pt x="358259" y="821634"/>
                    <a:pt x="393342" y="806811"/>
                    <a:pt x="394230" y="786384"/>
                  </a:cubicBezTo>
                  <a:cubicBezTo>
                    <a:pt x="396959" y="723607"/>
                    <a:pt x="386931" y="653225"/>
                    <a:pt x="348510" y="603504"/>
                  </a:cubicBezTo>
                  <a:cubicBezTo>
                    <a:pt x="325837" y="574163"/>
                    <a:pt x="275358" y="591312"/>
                    <a:pt x="238782" y="585216"/>
                  </a:cubicBezTo>
                  <a:cubicBezTo>
                    <a:pt x="228340" y="679190"/>
                    <a:pt x="198097" y="761714"/>
                    <a:pt x="357654" y="804672"/>
                  </a:cubicBezTo>
                  <a:cubicBezTo>
                    <a:pt x="400101" y="816100"/>
                    <a:pt x="430806" y="755904"/>
                    <a:pt x="467382" y="731520"/>
                  </a:cubicBezTo>
                  <a:cubicBezTo>
                    <a:pt x="421662" y="664464"/>
                    <a:pt x="409529" y="513111"/>
                    <a:pt x="330222" y="530352"/>
                  </a:cubicBezTo>
                  <a:cubicBezTo>
                    <a:pt x="129433" y="574002"/>
                    <a:pt x="265516" y="794132"/>
                    <a:pt x="302790" y="868680"/>
                  </a:cubicBezTo>
                  <a:cubicBezTo>
                    <a:pt x="333270" y="832104"/>
                    <a:pt x="355725" y="786956"/>
                    <a:pt x="394230" y="758952"/>
                  </a:cubicBezTo>
                  <a:cubicBezTo>
                    <a:pt x="404394" y="751560"/>
                    <a:pt x="391452" y="791554"/>
                    <a:pt x="403374" y="795528"/>
                  </a:cubicBezTo>
                  <a:cubicBezTo>
                    <a:pt x="418946" y="800719"/>
                    <a:pt x="433854" y="783336"/>
                    <a:pt x="449094" y="777240"/>
                  </a:cubicBezTo>
                  <a:cubicBezTo>
                    <a:pt x="547245" y="949004"/>
                    <a:pt x="428167" y="737211"/>
                    <a:pt x="412518" y="731520"/>
                  </a:cubicBezTo>
                  <a:cubicBezTo>
                    <a:pt x="388044" y="722620"/>
                    <a:pt x="394230" y="780288"/>
                    <a:pt x="385086" y="804672"/>
                  </a:cubicBezTo>
                  <a:cubicBezTo>
                    <a:pt x="403374" y="816864"/>
                    <a:pt x="431628" y="861591"/>
                    <a:pt x="439950" y="841248"/>
                  </a:cubicBezTo>
                  <a:cubicBezTo>
                    <a:pt x="509537" y="671147"/>
                    <a:pt x="496122" y="660984"/>
                    <a:pt x="449094" y="566928"/>
                  </a:cubicBezTo>
                  <a:cubicBezTo>
                    <a:pt x="470430" y="533400"/>
                    <a:pt x="479528" y="487608"/>
                    <a:pt x="513102" y="466344"/>
                  </a:cubicBezTo>
                  <a:cubicBezTo>
                    <a:pt x="603198" y="409283"/>
                    <a:pt x="939463" y="343287"/>
                    <a:pt x="1016022" y="329184"/>
                  </a:cubicBezTo>
                  <a:lnTo>
                    <a:pt x="1363494" y="265176"/>
                  </a:lnTo>
                  <a:cubicBezTo>
                    <a:pt x="1418358" y="268224"/>
                    <a:pt x="1478367" y="250923"/>
                    <a:pt x="1528086" y="274320"/>
                  </a:cubicBezTo>
                  <a:cubicBezTo>
                    <a:pt x="1547587" y="283497"/>
                    <a:pt x="1518942" y="316775"/>
                    <a:pt x="1518942" y="338328"/>
                  </a:cubicBezTo>
                  <a:cubicBezTo>
                    <a:pt x="1518942" y="362902"/>
                    <a:pt x="1524046" y="387241"/>
                    <a:pt x="1528086" y="411480"/>
                  </a:cubicBezTo>
                  <a:cubicBezTo>
                    <a:pt x="1541592" y="492517"/>
                    <a:pt x="1543745" y="503925"/>
                    <a:pt x="1573806" y="576072"/>
                  </a:cubicBezTo>
                  <a:cubicBezTo>
                    <a:pt x="1579049" y="588655"/>
                    <a:pt x="1582455" y="603009"/>
                    <a:pt x="1592094" y="612648"/>
                  </a:cubicBezTo>
                  <a:cubicBezTo>
                    <a:pt x="1598910" y="619464"/>
                    <a:pt x="1610382" y="618744"/>
                    <a:pt x="1619526" y="621792"/>
                  </a:cubicBezTo>
                  <a:cubicBezTo>
                    <a:pt x="1631718" y="643128"/>
                    <a:pt x="1636913" y="670449"/>
                    <a:pt x="1656102" y="685800"/>
                  </a:cubicBezTo>
                  <a:cubicBezTo>
                    <a:pt x="1670580" y="697382"/>
                    <a:pt x="1700682" y="679518"/>
                    <a:pt x="1710966" y="694944"/>
                  </a:cubicBezTo>
                  <a:cubicBezTo>
                    <a:pt x="1720071" y="708601"/>
                    <a:pt x="1705031" y="729855"/>
                    <a:pt x="1692678" y="740664"/>
                  </a:cubicBezTo>
                  <a:cubicBezTo>
                    <a:pt x="1678170" y="753358"/>
                    <a:pt x="1655533" y="751358"/>
                    <a:pt x="1637814" y="758952"/>
                  </a:cubicBezTo>
                  <a:cubicBezTo>
                    <a:pt x="1612756" y="769691"/>
                    <a:pt x="1586472" y="779171"/>
                    <a:pt x="1564662" y="795528"/>
                  </a:cubicBezTo>
                  <a:cubicBezTo>
                    <a:pt x="1451099" y="880700"/>
                    <a:pt x="1443184" y="906447"/>
                    <a:pt x="1326918" y="941832"/>
                  </a:cubicBezTo>
                  <a:cubicBezTo>
                    <a:pt x="1288014" y="953672"/>
                    <a:pt x="1247670" y="960120"/>
                    <a:pt x="1208046" y="969264"/>
                  </a:cubicBezTo>
                  <a:cubicBezTo>
                    <a:pt x="1155769" y="995403"/>
                    <a:pt x="1111184" y="1022005"/>
                    <a:pt x="1052598" y="1033272"/>
                  </a:cubicBezTo>
                  <a:cubicBezTo>
                    <a:pt x="1001363" y="1043125"/>
                    <a:pt x="948966" y="1045464"/>
                    <a:pt x="897150" y="1051560"/>
                  </a:cubicBezTo>
                  <a:cubicBezTo>
                    <a:pt x="824326" y="1043468"/>
                    <a:pt x="721803" y="1043714"/>
                    <a:pt x="650262" y="1005840"/>
                  </a:cubicBezTo>
                  <a:cubicBezTo>
                    <a:pt x="609208" y="984105"/>
                    <a:pt x="553870" y="931250"/>
                    <a:pt x="522246" y="896112"/>
                  </a:cubicBezTo>
                  <a:cubicBezTo>
                    <a:pt x="512051" y="884784"/>
                    <a:pt x="506385" y="869454"/>
                    <a:pt x="494814" y="859536"/>
                  </a:cubicBezTo>
                  <a:cubicBezTo>
                    <a:pt x="484465" y="850665"/>
                    <a:pt x="469704" y="848619"/>
                    <a:pt x="458238" y="841248"/>
                  </a:cubicBezTo>
                  <a:cubicBezTo>
                    <a:pt x="420406" y="816927"/>
                    <a:pt x="319665" y="738991"/>
                    <a:pt x="275358" y="722376"/>
                  </a:cubicBezTo>
                  <a:lnTo>
                    <a:pt x="202206" y="694944"/>
                  </a:lnTo>
                  <a:cubicBezTo>
                    <a:pt x="156561" y="710159"/>
                    <a:pt x="78082" y="723095"/>
                    <a:pt x="92478" y="804672"/>
                  </a:cubicBezTo>
                  <a:cubicBezTo>
                    <a:pt x="98517" y="838896"/>
                    <a:pt x="147342" y="847344"/>
                    <a:pt x="174774" y="868680"/>
                  </a:cubicBezTo>
                  <a:cubicBezTo>
                    <a:pt x="269262" y="844296"/>
                    <a:pt x="404108" y="876722"/>
                    <a:pt x="458238" y="795528"/>
                  </a:cubicBezTo>
                  <a:cubicBezTo>
                    <a:pt x="570087" y="627754"/>
                    <a:pt x="245242" y="683050"/>
                    <a:pt x="220494" y="685800"/>
                  </a:cubicBezTo>
                  <a:cubicBezTo>
                    <a:pt x="185488" y="790818"/>
                    <a:pt x="81289" y="934998"/>
                    <a:pt x="247926" y="1014984"/>
                  </a:cubicBezTo>
                  <a:cubicBezTo>
                    <a:pt x="289960" y="1035160"/>
                    <a:pt x="339366" y="996696"/>
                    <a:pt x="385086" y="987552"/>
                  </a:cubicBezTo>
                  <a:cubicBezTo>
                    <a:pt x="394230" y="935736"/>
                    <a:pt x="439196" y="877456"/>
                    <a:pt x="412518" y="832104"/>
                  </a:cubicBezTo>
                  <a:cubicBezTo>
                    <a:pt x="327943" y="688327"/>
                    <a:pt x="233941" y="683003"/>
                    <a:pt x="110766" y="658368"/>
                  </a:cubicBezTo>
                  <a:cubicBezTo>
                    <a:pt x="60088" y="696377"/>
                    <a:pt x="-105671" y="804051"/>
                    <a:pt x="101622" y="886968"/>
                  </a:cubicBezTo>
                  <a:cubicBezTo>
                    <a:pt x="158222" y="909608"/>
                    <a:pt x="174774" y="789432"/>
                    <a:pt x="211350" y="740664"/>
                  </a:cubicBezTo>
                  <a:cubicBezTo>
                    <a:pt x="139272" y="678883"/>
                    <a:pt x="-3767" y="522882"/>
                    <a:pt x="83334" y="923544"/>
                  </a:cubicBezTo>
                  <a:cubicBezTo>
                    <a:pt x="100330" y="1001724"/>
                    <a:pt x="186966" y="1045464"/>
                    <a:pt x="238782" y="1106424"/>
                  </a:cubicBezTo>
                  <a:cubicBezTo>
                    <a:pt x="318030" y="1057656"/>
                    <a:pt x="420695" y="1034561"/>
                    <a:pt x="476526" y="960120"/>
                  </a:cubicBezTo>
                  <a:cubicBezTo>
                    <a:pt x="621366" y="767000"/>
                    <a:pt x="337863" y="683158"/>
                    <a:pt x="247926" y="630936"/>
                  </a:cubicBezTo>
                  <a:cubicBezTo>
                    <a:pt x="233731" y="622694"/>
                    <a:pt x="217446" y="618744"/>
                    <a:pt x="202206" y="612648"/>
                  </a:cubicBezTo>
                  <a:cubicBezTo>
                    <a:pt x="169272" y="750971"/>
                    <a:pt x="109896" y="823861"/>
                    <a:pt x="220494" y="941832"/>
                  </a:cubicBezTo>
                  <a:cubicBezTo>
                    <a:pt x="237301" y="959759"/>
                    <a:pt x="269262" y="947928"/>
                    <a:pt x="293646" y="950976"/>
                  </a:cubicBezTo>
                  <a:cubicBezTo>
                    <a:pt x="305838" y="899160"/>
                    <a:pt x="327424" y="848685"/>
                    <a:pt x="330222" y="795528"/>
                  </a:cubicBezTo>
                  <a:cubicBezTo>
                    <a:pt x="332777" y="746992"/>
                    <a:pt x="272803" y="795296"/>
                    <a:pt x="275358" y="795528"/>
                  </a:cubicBezTo>
                  <a:cubicBezTo>
                    <a:pt x="317963" y="799401"/>
                    <a:pt x="360754" y="790090"/>
                    <a:pt x="403374" y="786384"/>
                  </a:cubicBezTo>
                  <a:cubicBezTo>
                    <a:pt x="430871" y="783993"/>
                    <a:pt x="458258" y="780465"/>
                    <a:pt x="485670" y="777240"/>
                  </a:cubicBezTo>
                  <a:cubicBezTo>
                    <a:pt x="510075" y="774369"/>
                    <a:pt x="534299" y="769678"/>
                    <a:pt x="558822" y="768096"/>
                  </a:cubicBezTo>
                  <a:cubicBezTo>
                    <a:pt x="628847" y="763578"/>
                    <a:pt x="699030" y="762000"/>
                    <a:pt x="769134" y="758952"/>
                  </a:cubicBezTo>
                  <a:cubicBezTo>
                    <a:pt x="814854" y="752856"/>
                    <a:pt x="860287" y="743950"/>
                    <a:pt x="906294" y="740664"/>
                  </a:cubicBezTo>
                  <a:cubicBezTo>
                    <a:pt x="988437" y="734797"/>
                    <a:pt x="1070932" y="735632"/>
                    <a:pt x="1153182" y="731520"/>
                  </a:cubicBezTo>
                  <a:cubicBezTo>
                    <a:pt x="1245088" y="726925"/>
                    <a:pt x="1264445" y="723327"/>
                    <a:pt x="1345206" y="713232"/>
                  </a:cubicBezTo>
                  <a:cubicBezTo>
                    <a:pt x="1373836" y="703689"/>
                    <a:pt x="1406243" y="691328"/>
                    <a:pt x="1436646" y="685800"/>
                  </a:cubicBezTo>
                  <a:cubicBezTo>
                    <a:pt x="1457851" y="681945"/>
                    <a:pt x="1479318" y="679704"/>
                    <a:pt x="1500654" y="676656"/>
                  </a:cubicBezTo>
                  <a:lnTo>
                    <a:pt x="1555518" y="658368"/>
                  </a:lnTo>
                </a:path>
              </a:pathLst>
            </a:custGeom>
            <a:noFill/>
            <a:ln w="19050">
              <a:solidFill>
                <a:srgbClr val="DC4C6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51DDBC-58E7-4C71-EBF0-DBD7FB74D394}"/>
              </a:ext>
            </a:extLst>
          </p:cNvPr>
          <p:cNvGrpSpPr/>
          <p:nvPr/>
        </p:nvGrpSpPr>
        <p:grpSpPr>
          <a:xfrm>
            <a:off x="-76292" y="3619954"/>
            <a:ext cx="3334976" cy="1155246"/>
            <a:chOff x="-878932" y="3619954"/>
            <a:chExt cx="4211412" cy="145884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EBF0906-4FE4-F100-2C24-281830D90350}"/>
                </a:ext>
              </a:extLst>
            </p:cNvPr>
            <p:cNvGrpSpPr/>
            <p:nvPr/>
          </p:nvGrpSpPr>
          <p:grpSpPr>
            <a:xfrm>
              <a:off x="-624862" y="3619954"/>
              <a:ext cx="3957342" cy="1458846"/>
              <a:chOff x="8234658" y="3789922"/>
              <a:chExt cx="3957342" cy="1458846"/>
            </a:xfrm>
          </p:grpSpPr>
          <p:pic>
            <p:nvPicPr>
              <p:cNvPr id="15" name="Picture 2">
                <a:extLst>
                  <a:ext uri="{FF2B5EF4-FFF2-40B4-BE49-F238E27FC236}">
                    <a16:creationId xmlns:a16="http://schemas.microsoft.com/office/drawing/2014/main" id="{2247E5CC-152D-743A-6124-D5F3B69613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000"/>
              <a:stretch/>
            </p:blipFill>
            <p:spPr bwMode="auto">
              <a:xfrm>
                <a:off x="10201827" y="3789922"/>
                <a:ext cx="1990173" cy="14588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A4B5CD5-17D3-5951-BFAE-B25192D1575A}"/>
                  </a:ext>
                </a:extLst>
              </p:cNvPr>
              <p:cNvSpPr/>
              <p:nvPr/>
            </p:nvSpPr>
            <p:spPr>
              <a:xfrm>
                <a:off x="8234658" y="3938416"/>
                <a:ext cx="1976142" cy="1106424"/>
              </a:xfrm>
              <a:custGeom>
                <a:avLst/>
                <a:gdLst>
                  <a:gd name="connsiteX0" fmla="*/ 1976142 w 1976142"/>
                  <a:gd name="connsiteY0" fmla="*/ 0 h 1106424"/>
                  <a:gd name="connsiteX1" fmla="*/ 1793262 w 1976142"/>
                  <a:gd name="connsiteY1" fmla="*/ 9144 h 1106424"/>
                  <a:gd name="connsiteX2" fmla="*/ 1729254 w 1976142"/>
                  <a:gd name="connsiteY2" fmla="*/ 18288 h 1106424"/>
                  <a:gd name="connsiteX3" fmla="*/ 1619526 w 1976142"/>
                  <a:gd name="connsiteY3" fmla="*/ 91440 h 1106424"/>
                  <a:gd name="connsiteX4" fmla="*/ 1546374 w 1976142"/>
                  <a:gd name="connsiteY4" fmla="*/ 192024 h 1106424"/>
                  <a:gd name="connsiteX5" fmla="*/ 1509798 w 1976142"/>
                  <a:gd name="connsiteY5" fmla="*/ 329184 h 1106424"/>
                  <a:gd name="connsiteX6" fmla="*/ 1592094 w 1976142"/>
                  <a:gd name="connsiteY6" fmla="*/ 384048 h 1106424"/>
                  <a:gd name="connsiteX7" fmla="*/ 1756686 w 1976142"/>
                  <a:gd name="connsiteY7" fmla="*/ 365760 h 1106424"/>
                  <a:gd name="connsiteX8" fmla="*/ 1774974 w 1976142"/>
                  <a:gd name="connsiteY8" fmla="*/ 292608 h 1106424"/>
                  <a:gd name="connsiteX9" fmla="*/ 1537230 w 1976142"/>
                  <a:gd name="connsiteY9" fmla="*/ 201168 h 1106424"/>
                  <a:gd name="connsiteX10" fmla="*/ 1409214 w 1976142"/>
                  <a:gd name="connsiteY10" fmla="*/ 265176 h 1106424"/>
                  <a:gd name="connsiteX11" fmla="*/ 1436646 w 1976142"/>
                  <a:gd name="connsiteY11" fmla="*/ 384048 h 1106424"/>
                  <a:gd name="connsiteX12" fmla="*/ 1582950 w 1976142"/>
                  <a:gd name="connsiteY12" fmla="*/ 411480 h 1106424"/>
                  <a:gd name="connsiteX13" fmla="*/ 1610382 w 1976142"/>
                  <a:gd name="connsiteY13" fmla="*/ 393192 h 1106424"/>
                  <a:gd name="connsiteX14" fmla="*/ 1436646 w 1976142"/>
                  <a:gd name="connsiteY14" fmla="*/ 292608 h 1106424"/>
                  <a:gd name="connsiteX15" fmla="*/ 1445790 w 1976142"/>
                  <a:gd name="connsiteY15" fmla="*/ 694944 h 1106424"/>
                  <a:gd name="connsiteX16" fmla="*/ 1729254 w 1976142"/>
                  <a:gd name="connsiteY16" fmla="*/ 722376 h 1106424"/>
                  <a:gd name="connsiteX17" fmla="*/ 1811550 w 1976142"/>
                  <a:gd name="connsiteY17" fmla="*/ 393192 h 1106424"/>
                  <a:gd name="connsiteX18" fmla="*/ 1656102 w 1976142"/>
                  <a:gd name="connsiteY18" fmla="*/ 347472 h 1106424"/>
                  <a:gd name="connsiteX19" fmla="*/ 1683534 w 1976142"/>
                  <a:gd name="connsiteY19" fmla="*/ 539496 h 1106424"/>
                  <a:gd name="connsiteX20" fmla="*/ 1784118 w 1976142"/>
                  <a:gd name="connsiteY20" fmla="*/ 585216 h 1106424"/>
                  <a:gd name="connsiteX21" fmla="*/ 1774974 w 1976142"/>
                  <a:gd name="connsiteY21" fmla="*/ 448056 h 1106424"/>
                  <a:gd name="connsiteX22" fmla="*/ 1464078 w 1976142"/>
                  <a:gd name="connsiteY22" fmla="*/ 384048 h 1106424"/>
                  <a:gd name="connsiteX23" fmla="*/ 1509798 w 1976142"/>
                  <a:gd name="connsiteY23" fmla="*/ 466344 h 1106424"/>
                  <a:gd name="connsiteX24" fmla="*/ 1564662 w 1976142"/>
                  <a:gd name="connsiteY24" fmla="*/ 475488 h 1106424"/>
                  <a:gd name="connsiteX25" fmla="*/ 1473222 w 1976142"/>
                  <a:gd name="connsiteY25" fmla="*/ 402336 h 1106424"/>
                  <a:gd name="connsiteX26" fmla="*/ 1390926 w 1976142"/>
                  <a:gd name="connsiteY26" fmla="*/ 658368 h 1106424"/>
                  <a:gd name="connsiteX27" fmla="*/ 1528086 w 1976142"/>
                  <a:gd name="connsiteY27" fmla="*/ 676656 h 1106424"/>
                  <a:gd name="connsiteX28" fmla="*/ 1573806 w 1976142"/>
                  <a:gd name="connsiteY28" fmla="*/ 557784 h 1106424"/>
                  <a:gd name="connsiteX29" fmla="*/ 1345206 w 1976142"/>
                  <a:gd name="connsiteY29" fmla="*/ 612648 h 1106424"/>
                  <a:gd name="connsiteX30" fmla="*/ 1546374 w 1976142"/>
                  <a:gd name="connsiteY30" fmla="*/ 841248 h 1106424"/>
                  <a:gd name="connsiteX31" fmla="*/ 1665246 w 1976142"/>
                  <a:gd name="connsiteY31" fmla="*/ 658368 h 1106424"/>
                  <a:gd name="connsiteX32" fmla="*/ 1601238 w 1976142"/>
                  <a:gd name="connsiteY32" fmla="*/ 493776 h 1106424"/>
                  <a:gd name="connsiteX33" fmla="*/ 1500654 w 1976142"/>
                  <a:gd name="connsiteY33" fmla="*/ 448056 h 1106424"/>
                  <a:gd name="connsiteX34" fmla="*/ 1464078 w 1976142"/>
                  <a:gd name="connsiteY34" fmla="*/ 621792 h 1106424"/>
                  <a:gd name="connsiteX35" fmla="*/ 1582950 w 1976142"/>
                  <a:gd name="connsiteY35" fmla="*/ 667512 h 1106424"/>
                  <a:gd name="connsiteX36" fmla="*/ 1582950 w 1976142"/>
                  <a:gd name="connsiteY36" fmla="*/ 411480 h 1106424"/>
                  <a:gd name="connsiteX37" fmla="*/ 1445790 w 1976142"/>
                  <a:gd name="connsiteY37" fmla="*/ 402336 h 1106424"/>
                  <a:gd name="connsiteX38" fmla="*/ 1363494 w 1976142"/>
                  <a:gd name="connsiteY38" fmla="*/ 466344 h 1106424"/>
                  <a:gd name="connsiteX39" fmla="*/ 1528086 w 1976142"/>
                  <a:gd name="connsiteY39" fmla="*/ 813816 h 1106424"/>
                  <a:gd name="connsiteX40" fmla="*/ 1765830 w 1976142"/>
                  <a:gd name="connsiteY40" fmla="*/ 749808 h 1106424"/>
                  <a:gd name="connsiteX41" fmla="*/ 1820694 w 1976142"/>
                  <a:gd name="connsiteY41" fmla="*/ 402336 h 1106424"/>
                  <a:gd name="connsiteX42" fmla="*/ 1720110 w 1976142"/>
                  <a:gd name="connsiteY42" fmla="*/ 384048 h 1106424"/>
                  <a:gd name="connsiteX43" fmla="*/ 1692678 w 1976142"/>
                  <a:gd name="connsiteY43" fmla="*/ 676656 h 1106424"/>
                  <a:gd name="connsiteX44" fmla="*/ 1857270 w 1976142"/>
                  <a:gd name="connsiteY44" fmla="*/ 758952 h 1106424"/>
                  <a:gd name="connsiteX45" fmla="*/ 1902990 w 1976142"/>
                  <a:gd name="connsiteY45" fmla="*/ 640080 h 1106424"/>
                  <a:gd name="connsiteX46" fmla="*/ 1592094 w 1976142"/>
                  <a:gd name="connsiteY46" fmla="*/ 438912 h 1106424"/>
                  <a:gd name="connsiteX47" fmla="*/ 1482366 w 1976142"/>
                  <a:gd name="connsiteY47" fmla="*/ 740664 h 1106424"/>
                  <a:gd name="connsiteX48" fmla="*/ 1546374 w 1976142"/>
                  <a:gd name="connsiteY48" fmla="*/ 786384 h 1106424"/>
                  <a:gd name="connsiteX49" fmla="*/ 1619526 w 1976142"/>
                  <a:gd name="connsiteY49" fmla="*/ 685800 h 1106424"/>
                  <a:gd name="connsiteX50" fmla="*/ 1354350 w 1976142"/>
                  <a:gd name="connsiteY50" fmla="*/ 484632 h 1106424"/>
                  <a:gd name="connsiteX51" fmla="*/ 1354350 w 1976142"/>
                  <a:gd name="connsiteY51" fmla="*/ 832104 h 1106424"/>
                  <a:gd name="connsiteX52" fmla="*/ 1482366 w 1976142"/>
                  <a:gd name="connsiteY52" fmla="*/ 877824 h 1106424"/>
                  <a:gd name="connsiteX53" fmla="*/ 1573806 w 1976142"/>
                  <a:gd name="connsiteY53" fmla="*/ 758952 h 1106424"/>
                  <a:gd name="connsiteX54" fmla="*/ 1509798 w 1976142"/>
                  <a:gd name="connsiteY54" fmla="*/ 530352 h 1106424"/>
                  <a:gd name="connsiteX55" fmla="*/ 1445790 w 1976142"/>
                  <a:gd name="connsiteY55" fmla="*/ 804672 h 1106424"/>
                  <a:gd name="connsiteX56" fmla="*/ 1546374 w 1976142"/>
                  <a:gd name="connsiteY56" fmla="*/ 822960 h 1106424"/>
                  <a:gd name="connsiteX57" fmla="*/ 1555518 w 1976142"/>
                  <a:gd name="connsiteY57" fmla="*/ 640080 h 1106424"/>
                  <a:gd name="connsiteX58" fmla="*/ 1189758 w 1976142"/>
                  <a:gd name="connsiteY58" fmla="*/ 576072 h 1106424"/>
                  <a:gd name="connsiteX59" fmla="*/ 1125750 w 1976142"/>
                  <a:gd name="connsiteY59" fmla="*/ 603504 h 1106424"/>
                  <a:gd name="connsiteX60" fmla="*/ 1061742 w 1976142"/>
                  <a:gd name="connsiteY60" fmla="*/ 612648 h 1106424"/>
                  <a:gd name="connsiteX61" fmla="*/ 503958 w 1976142"/>
                  <a:gd name="connsiteY61" fmla="*/ 621792 h 1106424"/>
                  <a:gd name="connsiteX62" fmla="*/ 339366 w 1976142"/>
                  <a:gd name="connsiteY62" fmla="*/ 694944 h 1106424"/>
                  <a:gd name="connsiteX63" fmla="*/ 302790 w 1976142"/>
                  <a:gd name="connsiteY63" fmla="*/ 722376 h 1106424"/>
                  <a:gd name="connsiteX64" fmla="*/ 513102 w 1976142"/>
                  <a:gd name="connsiteY64" fmla="*/ 822960 h 1106424"/>
                  <a:gd name="connsiteX65" fmla="*/ 394230 w 1976142"/>
                  <a:gd name="connsiteY65" fmla="*/ 649224 h 1106424"/>
                  <a:gd name="connsiteX66" fmla="*/ 348510 w 1976142"/>
                  <a:gd name="connsiteY66" fmla="*/ 694944 h 1106424"/>
                  <a:gd name="connsiteX67" fmla="*/ 476526 w 1976142"/>
                  <a:gd name="connsiteY67" fmla="*/ 640080 h 1106424"/>
                  <a:gd name="connsiteX68" fmla="*/ 366798 w 1976142"/>
                  <a:gd name="connsiteY68" fmla="*/ 484632 h 1106424"/>
                  <a:gd name="connsiteX69" fmla="*/ 238782 w 1976142"/>
                  <a:gd name="connsiteY69" fmla="*/ 475488 h 1106424"/>
                  <a:gd name="connsiteX70" fmla="*/ 220494 w 1976142"/>
                  <a:gd name="connsiteY70" fmla="*/ 685800 h 1106424"/>
                  <a:gd name="connsiteX71" fmla="*/ 321078 w 1976142"/>
                  <a:gd name="connsiteY71" fmla="*/ 704088 h 1106424"/>
                  <a:gd name="connsiteX72" fmla="*/ 366798 w 1976142"/>
                  <a:gd name="connsiteY72" fmla="*/ 530352 h 1106424"/>
                  <a:gd name="connsiteX73" fmla="*/ 211350 w 1976142"/>
                  <a:gd name="connsiteY73" fmla="*/ 457200 h 1106424"/>
                  <a:gd name="connsiteX74" fmla="*/ 129054 w 1976142"/>
                  <a:gd name="connsiteY74" fmla="*/ 676656 h 1106424"/>
                  <a:gd name="connsiteX75" fmla="*/ 339366 w 1976142"/>
                  <a:gd name="connsiteY75" fmla="*/ 813816 h 1106424"/>
                  <a:gd name="connsiteX76" fmla="*/ 394230 w 1976142"/>
                  <a:gd name="connsiteY76" fmla="*/ 786384 h 1106424"/>
                  <a:gd name="connsiteX77" fmla="*/ 348510 w 1976142"/>
                  <a:gd name="connsiteY77" fmla="*/ 603504 h 1106424"/>
                  <a:gd name="connsiteX78" fmla="*/ 238782 w 1976142"/>
                  <a:gd name="connsiteY78" fmla="*/ 585216 h 1106424"/>
                  <a:gd name="connsiteX79" fmla="*/ 357654 w 1976142"/>
                  <a:gd name="connsiteY79" fmla="*/ 804672 h 1106424"/>
                  <a:gd name="connsiteX80" fmla="*/ 467382 w 1976142"/>
                  <a:gd name="connsiteY80" fmla="*/ 731520 h 1106424"/>
                  <a:gd name="connsiteX81" fmla="*/ 330222 w 1976142"/>
                  <a:gd name="connsiteY81" fmla="*/ 530352 h 1106424"/>
                  <a:gd name="connsiteX82" fmla="*/ 302790 w 1976142"/>
                  <a:gd name="connsiteY82" fmla="*/ 868680 h 1106424"/>
                  <a:gd name="connsiteX83" fmla="*/ 394230 w 1976142"/>
                  <a:gd name="connsiteY83" fmla="*/ 758952 h 1106424"/>
                  <a:gd name="connsiteX84" fmla="*/ 403374 w 1976142"/>
                  <a:gd name="connsiteY84" fmla="*/ 795528 h 1106424"/>
                  <a:gd name="connsiteX85" fmla="*/ 449094 w 1976142"/>
                  <a:gd name="connsiteY85" fmla="*/ 777240 h 1106424"/>
                  <a:gd name="connsiteX86" fmla="*/ 412518 w 1976142"/>
                  <a:gd name="connsiteY86" fmla="*/ 731520 h 1106424"/>
                  <a:gd name="connsiteX87" fmla="*/ 385086 w 1976142"/>
                  <a:gd name="connsiteY87" fmla="*/ 804672 h 1106424"/>
                  <a:gd name="connsiteX88" fmla="*/ 439950 w 1976142"/>
                  <a:gd name="connsiteY88" fmla="*/ 841248 h 1106424"/>
                  <a:gd name="connsiteX89" fmla="*/ 449094 w 1976142"/>
                  <a:gd name="connsiteY89" fmla="*/ 566928 h 1106424"/>
                  <a:gd name="connsiteX90" fmla="*/ 513102 w 1976142"/>
                  <a:gd name="connsiteY90" fmla="*/ 466344 h 1106424"/>
                  <a:gd name="connsiteX91" fmla="*/ 1016022 w 1976142"/>
                  <a:gd name="connsiteY91" fmla="*/ 329184 h 1106424"/>
                  <a:gd name="connsiteX92" fmla="*/ 1363494 w 1976142"/>
                  <a:gd name="connsiteY92" fmla="*/ 265176 h 1106424"/>
                  <a:gd name="connsiteX93" fmla="*/ 1528086 w 1976142"/>
                  <a:gd name="connsiteY93" fmla="*/ 274320 h 1106424"/>
                  <a:gd name="connsiteX94" fmla="*/ 1518942 w 1976142"/>
                  <a:gd name="connsiteY94" fmla="*/ 338328 h 1106424"/>
                  <a:gd name="connsiteX95" fmla="*/ 1528086 w 1976142"/>
                  <a:gd name="connsiteY95" fmla="*/ 411480 h 1106424"/>
                  <a:gd name="connsiteX96" fmla="*/ 1573806 w 1976142"/>
                  <a:gd name="connsiteY96" fmla="*/ 576072 h 1106424"/>
                  <a:gd name="connsiteX97" fmla="*/ 1592094 w 1976142"/>
                  <a:gd name="connsiteY97" fmla="*/ 612648 h 1106424"/>
                  <a:gd name="connsiteX98" fmla="*/ 1619526 w 1976142"/>
                  <a:gd name="connsiteY98" fmla="*/ 621792 h 1106424"/>
                  <a:gd name="connsiteX99" fmla="*/ 1656102 w 1976142"/>
                  <a:gd name="connsiteY99" fmla="*/ 685800 h 1106424"/>
                  <a:gd name="connsiteX100" fmla="*/ 1710966 w 1976142"/>
                  <a:gd name="connsiteY100" fmla="*/ 694944 h 1106424"/>
                  <a:gd name="connsiteX101" fmla="*/ 1692678 w 1976142"/>
                  <a:gd name="connsiteY101" fmla="*/ 740664 h 1106424"/>
                  <a:gd name="connsiteX102" fmla="*/ 1637814 w 1976142"/>
                  <a:gd name="connsiteY102" fmla="*/ 758952 h 1106424"/>
                  <a:gd name="connsiteX103" fmla="*/ 1564662 w 1976142"/>
                  <a:gd name="connsiteY103" fmla="*/ 795528 h 1106424"/>
                  <a:gd name="connsiteX104" fmla="*/ 1326918 w 1976142"/>
                  <a:gd name="connsiteY104" fmla="*/ 941832 h 1106424"/>
                  <a:gd name="connsiteX105" fmla="*/ 1208046 w 1976142"/>
                  <a:gd name="connsiteY105" fmla="*/ 969264 h 1106424"/>
                  <a:gd name="connsiteX106" fmla="*/ 1052598 w 1976142"/>
                  <a:gd name="connsiteY106" fmla="*/ 1033272 h 1106424"/>
                  <a:gd name="connsiteX107" fmla="*/ 897150 w 1976142"/>
                  <a:gd name="connsiteY107" fmla="*/ 1051560 h 1106424"/>
                  <a:gd name="connsiteX108" fmla="*/ 650262 w 1976142"/>
                  <a:gd name="connsiteY108" fmla="*/ 1005840 h 1106424"/>
                  <a:gd name="connsiteX109" fmla="*/ 522246 w 1976142"/>
                  <a:gd name="connsiteY109" fmla="*/ 896112 h 1106424"/>
                  <a:gd name="connsiteX110" fmla="*/ 494814 w 1976142"/>
                  <a:gd name="connsiteY110" fmla="*/ 859536 h 1106424"/>
                  <a:gd name="connsiteX111" fmla="*/ 458238 w 1976142"/>
                  <a:gd name="connsiteY111" fmla="*/ 841248 h 1106424"/>
                  <a:gd name="connsiteX112" fmla="*/ 275358 w 1976142"/>
                  <a:gd name="connsiteY112" fmla="*/ 722376 h 1106424"/>
                  <a:gd name="connsiteX113" fmla="*/ 202206 w 1976142"/>
                  <a:gd name="connsiteY113" fmla="*/ 694944 h 1106424"/>
                  <a:gd name="connsiteX114" fmla="*/ 92478 w 1976142"/>
                  <a:gd name="connsiteY114" fmla="*/ 804672 h 1106424"/>
                  <a:gd name="connsiteX115" fmla="*/ 174774 w 1976142"/>
                  <a:gd name="connsiteY115" fmla="*/ 868680 h 1106424"/>
                  <a:gd name="connsiteX116" fmla="*/ 458238 w 1976142"/>
                  <a:gd name="connsiteY116" fmla="*/ 795528 h 1106424"/>
                  <a:gd name="connsiteX117" fmla="*/ 220494 w 1976142"/>
                  <a:gd name="connsiteY117" fmla="*/ 685800 h 1106424"/>
                  <a:gd name="connsiteX118" fmla="*/ 247926 w 1976142"/>
                  <a:gd name="connsiteY118" fmla="*/ 1014984 h 1106424"/>
                  <a:gd name="connsiteX119" fmla="*/ 385086 w 1976142"/>
                  <a:gd name="connsiteY119" fmla="*/ 987552 h 1106424"/>
                  <a:gd name="connsiteX120" fmla="*/ 412518 w 1976142"/>
                  <a:gd name="connsiteY120" fmla="*/ 832104 h 1106424"/>
                  <a:gd name="connsiteX121" fmla="*/ 110766 w 1976142"/>
                  <a:gd name="connsiteY121" fmla="*/ 658368 h 1106424"/>
                  <a:gd name="connsiteX122" fmla="*/ 101622 w 1976142"/>
                  <a:gd name="connsiteY122" fmla="*/ 886968 h 1106424"/>
                  <a:gd name="connsiteX123" fmla="*/ 211350 w 1976142"/>
                  <a:gd name="connsiteY123" fmla="*/ 740664 h 1106424"/>
                  <a:gd name="connsiteX124" fmla="*/ 83334 w 1976142"/>
                  <a:gd name="connsiteY124" fmla="*/ 923544 h 1106424"/>
                  <a:gd name="connsiteX125" fmla="*/ 238782 w 1976142"/>
                  <a:gd name="connsiteY125" fmla="*/ 1106424 h 1106424"/>
                  <a:gd name="connsiteX126" fmla="*/ 476526 w 1976142"/>
                  <a:gd name="connsiteY126" fmla="*/ 960120 h 1106424"/>
                  <a:gd name="connsiteX127" fmla="*/ 247926 w 1976142"/>
                  <a:gd name="connsiteY127" fmla="*/ 630936 h 1106424"/>
                  <a:gd name="connsiteX128" fmla="*/ 202206 w 1976142"/>
                  <a:gd name="connsiteY128" fmla="*/ 612648 h 1106424"/>
                  <a:gd name="connsiteX129" fmla="*/ 220494 w 1976142"/>
                  <a:gd name="connsiteY129" fmla="*/ 941832 h 1106424"/>
                  <a:gd name="connsiteX130" fmla="*/ 293646 w 1976142"/>
                  <a:gd name="connsiteY130" fmla="*/ 950976 h 1106424"/>
                  <a:gd name="connsiteX131" fmla="*/ 330222 w 1976142"/>
                  <a:gd name="connsiteY131" fmla="*/ 795528 h 1106424"/>
                  <a:gd name="connsiteX132" fmla="*/ 275358 w 1976142"/>
                  <a:gd name="connsiteY132" fmla="*/ 795528 h 1106424"/>
                  <a:gd name="connsiteX133" fmla="*/ 403374 w 1976142"/>
                  <a:gd name="connsiteY133" fmla="*/ 786384 h 1106424"/>
                  <a:gd name="connsiteX134" fmla="*/ 485670 w 1976142"/>
                  <a:gd name="connsiteY134" fmla="*/ 777240 h 1106424"/>
                  <a:gd name="connsiteX135" fmla="*/ 558822 w 1976142"/>
                  <a:gd name="connsiteY135" fmla="*/ 768096 h 1106424"/>
                  <a:gd name="connsiteX136" fmla="*/ 769134 w 1976142"/>
                  <a:gd name="connsiteY136" fmla="*/ 758952 h 1106424"/>
                  <a:gd name="connsiteX137" fmla="*/ 906294 w 1976142"/>
                  <a:gd name="connsiteY137" fmla="*/ 740664 h 1106424"/>
                  <a:gd name="connsiteX138" fmla="*/ 1153182 w 1976142"/>
                  <a:gd name="connsiteY138" fmla="*/ 731520 h 1106424"/>
                  <a:gd name="connsiteX139" fmla="*/ 1345206 w 1976142"/>
                  <a:gd name="connsiteY139" fmla="*/ 713232 h 1106424"/>
                  <a:gd name="connsiteX140" fmla="*/ 1436646 w 1976142"/>
                  <a:gd name="connsiteY140" fmla="*/ 685800 h 1106424"/>
                  <a:gd name="connsiteX141" fmla="*/ 1500654 w 1976142"/>
                  <a:gd name="connsiteY141" fmla="*/ 676656 h 1106424"/>
                  <a:gd name="connsiteX142" fmla="*/ 1555518 w 1976142"/>
                  <a:gd name="connsiteY142" fmla="*/ 658368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976142" h="1106424">
                    <a:moveTo>
                      <a:pt x="1976142" y="0"/>
                    </a:moveTo>
                    <a:cubicBezTo>
                      <a:pt x="1915182" y="3048"/>
                      <a:pt x="1854131" y="4635"/>
                      <a:pt x="1793262" y="9144"/>
                    </a:cubicBezTo>
                    <a:cubicBezTo>
                      <a:pt x="1771768" y="10736"/>
                      <a:pt x="1749701" y="11472"/>
                      <a:pt x="1729254" y="18288"/>
                    </a:cubicBezTo>
                    <a:cubicBezTo>
                      <a:pt x="1711411" y="24236"/>
                      <a:pt x="1623701" y="86987"/>
                      <a:pt x="1619526" y="91440"/>
                    </a:cubicBezTo>
                    <a:cubicBezTo>
                      <a:pt x="1591172" y="121685"/>
                      <a:pt x="1570758" y="158496"/>
                      <a:pt x="1546374" y="192024"/>
                    </a:cubicBezTo>
                    <a:cubicBezTo>
                      <a:pt x="1516604" y="311103"/>
                      <a:pt x="1530864" y="265985"/>
                      <a:pt x="1509798" y="329184"/>
                    </a:cubicBezTo>
                    <a:cubicBezTo>
                      <a:pt x="1537230" y="347472"/>
                      <a:pt x="1561608" y="371495"/>
                      <a:pt x="1592094" y="384048"/>
                    </a:cubicBezTo>
                    <a:cubicBezTo>
                      <a:pt x="1654628" y="409797"/>
                      <a:pt x="1696349" y="383861"/>
                      <a:pt x="1756686" y="365760"/>
                    </a:cubicBezTo>
                    <a:cubicBezTo>
                      <a:pt x="1762782" y="341376"/>
                      <a:pt x="1787296" y="314515"/>
                      <a:pt x="1774974" y="292608"/>
                    </a:cubicBezTo>
                    <a:cubicBezTo>
                      <a:pt x="1725172" y="204071"/>
                      <a:pt x="1617482" y="211868"/>
                      <a:pt x="1537230" y="201168"/>
                    </a:cubicBezTo>
                    <a:cubicBezTo>
                      <a:pt x="1494558" y="222504"/>
                      <a:pt x="1446468" y="235373"/>
                      <a:pt x="1409214" y="265176"/>
                    </a:cubicBezTo>
                    <a:cubicBezTo>
                      <a:pt x="1376294" y="291512"/>
                      <a:pt x="1425447" y="377889"/>
                      <a:pt x="1436646" y="384048"/>
                    </a:cubicBezTo>
                    <a:cubicBezTo>
                      <a:pt x="1480122" y="407960"/>
                      <a:pt x="1534182" y="402336"/>
                      <a:pt x="1582950" y="411480"/>
                    </a:cubicBezTo>
                    <a:cubicBezTo>
                      <a:pt x="1592094" y="405384"/>
                      <a:pt x="1614138" y="403520"/>
                      <a:pt x="1610382" y="393192"/>
                    </a:cubicBezTo>
                    <a:cubicBezTo>
                      <a:pt x="1572794" y="289824"/>
                      <a:pt x="1528174" y="307863"/>
                      <a:pt x="1436646" y="292608"/>
                    </a:cubicBezTo>
                    <a:cubicBezTo>
                      <a:pt x="1410348" y="392539"/>
                      <a:pt x="1325437" y="603866"/>
                      <a:pt x="1445790" y="694944"/>
                    </a:cubicBezTo>
                    <a:cubicBezTo>
                      <a:pt x="1521487" y="752228"/>
                      <a:pt x="1634766" y="713232"/>
                      <a:pt x="1729254" y="722376"/>
                    </a:cubicBezTo>
                    <a:cubicBezTo>
                      <a:pt x="1788776" y="621933"/>
                      <a:pt x="1972251" y="486934"/>
                      <a:pt x="1811550" y="393192"/>
                    </a:cubicBezTo>
                    <a:cubicBezTo>
                      <a:pt x="1764897" y="365978"/>
                      <a:pt x="1707918" y="362712"/>
                      <a:pt x="1656102" y="347472"/>
                    </a:cubicBezTo>
                    <a:cubicBezTo>
                      <a:pt x="1568750" y="369310"/>
                      <a:pt x="1554311" y="360020"/>
                      <a:pt x="1683534" y="539496"/>
                    </a:cubicBezTo>
                    <a:cubicBezTo>
                      <a:pt x="1705053" y="569384"/>
                      <a:pt x="1750590" y="569976"/>
                      <a:pt x="1784118" y="585216"/>
                    </a:cubicBezTo>
                    <a:cubicBezTo>
                      <a:pt x="1781070" y="539496"/>
                      <a:pt x="1809764" y="477876"/>
                      <a:pt x="1774974" y="448056"/>
                    </a:cubicBezTo>
                    <a:cubicBezTo>
                      <a:pt x="1629840" y="323656"/>
                      <a:pt x="1580083" y="350904"/>
                      <a:pt x="1464078" y="384048"/>
                    </a:cubicBezTo>
                    <a:cubicBezTo>
                      <a:pt x="1479318" y="411480"/>
                      <a:pt x="1486578" y="445235"/>
                      <a:pt x="1509798" y="466344"/>
                    </a:cubicBezTo>
                    <a:cubicBezTo>
                      <a:pt x="1523517" y="478816"/>
                      <a:pt x="1573861" y="491585"/>
                      <a:pt x="1564662" y="475488"/>
                    </a:cubicBezTo>
                    <a:cubicBezTo>
                      <a:pt x="1545296" y="441597"/>
                      <a:pt x="1503702" y="426720"/>
                      <a:pt x="1473222" y="402336"/>
                    </a:cubicBezTo>
                    <a:cubicBezTo>
                      <a:pt x="1372225" y="436002"/>
                      <a:pt x="1298296" y="442231"/>
                      <a:pt x="1390926" y="658368"/>
                    </a:cubicBezTo>
                    <a:cubicBezTo>
                      <a:pt x="1409095" y="700763"/>
                      <a:pt x="1482366" y="670560"/>
                      <a:pt x="1528086" y="676656"/>
                    </a:cubicBezTo>
                    <a:cubicBezTo>
                      <a:pt x="1543326" y="637032"/>
                      <a:pt x="1586590" y="598267"/>
                      <a:pt x="1573806" y="557784"/>
                    </a:cubicBezTo>
                    <a:cubicBezTo>
                      <a:pt x="1521546" y="392295"/>
                      <a:pt x="1358496" y="601256"/>
                      <a:pt x="1345206" y="612648"/>
                    </a:cubicBezTo>
                    <a:cubicBezTo>
                      <a:pt x="1350351" y="705259"/>
                      <a:pt x="1311727" y="930966"/>
                      <a:pt x="1546374" y="841248"/>
                    </a:cubicBezTo>
                    <a:cubicBezTo>
                      <a:pt x="1614285" y="815282"/>
                      <a:pt x="1625622" y="719328"/>
                      <a:pt x="1665246" y="658368"/>
                    </a:cubicBezTo>
                    <a:cubicBezTo>
                      <a:pt x="1643910" y="603504"/>
                      <a:pt x="1637518" y="540134"/>
                      <a:pt x="1601238" y="493776"/>
                    </a:cubicBezTo>
                    <a:cubicBezTo>
                      <a:pt x="1578540" y="464773"/>
                      <a:pt x="1527578" y="422927"/>
                      <a:pt x="1500654" y="448056"/>
                    </a:cubicBezTo>
                    <a:cubicBezTo>
                      <a:pt x="1457389" y="488437"/>
                      <a:pt x="1476270" y="563880"/>
                      <a:pt x="1464078" y="621792"/>
                    </a:cubicBezTo>
                    <a:cubicBezTo>
                      <a:pt x="1503702" y="637032"/>
                      <a:pt x="1541764" y="677809"/>
                      <a:pt x="1582950" y="667512"/>
                    </a:cubicBezTo>
                    <a:cubicBezTo>
                      <a:pt x="1804811" y="612047"/>
                      <a:pt x="1723047" y="490868"/>
                      <a:pt x="1582950" y="411480"/>
                    </a:cubicBezTo>
                    <a:cubicBezTo>
                      <a:pt x="1543084" y="388889"/>
                      <a:pt x="1491510" y="405384"/>
                      <a:pt x="1445790" y="402336"/>
                    </a:cubicBezTo>
                    <a:cubicBezTo>
                      <a:pt x="1418358" y="423672"/>
                      <a:pt x="1369898" y="432187"/>
                      <a:pt x="1363494" y="466344"/>
                    </a:cubicBezTo>
                    <a:cubicBezTo>
                      <a:pt x="1321777" y="688837"/>
                      <a:pt x="1393124" y="696849"/>
                      <a:pt x="1528086" y="813816"/>
                    </a:cubicBezTo>
                    <a:cubicBezTo>
                      <a:pt x="1607334" y="792480"/>
                      <a:pt x="1701133" y="800303"/>
                      <a:pt x="1765830" y="749808"/>
                    </a:cubicBezTo>
                    <a:cubicBezTo>
                      <a:pt x="1910387" y="636983"/>
                      <a:pt x="1963008" y="509071"/>
                      <a:pt x="1820694" y="402336"/>
                    </a:cubicBezTo>
                    <a:cubicBezTo>
                      <a:pt x="1793432" y="381889"/>
                      <a:pt x="1753638" y="390144"/>
                      <a:pt x="1720110" y="384048"/>
                    </a:cubicBezTo>
                    <a:cubicBezTo>
                      <a:pt x="1631412" y="472746"/>
                      <a:pt x="1574924" y="494672"/>
                      <a:pt x="1692678" y="676656"/>
                    </a:cubicBezTo>
                    <a:cubicBezTo>
                      <a:pt x="1726001" y="728155"/>
                      <a:pt x="1802406" y="731520"/>
                      <a:pt x="1857270" y="758952"/>
                    </a:cubicBezTo>
                    <a:cubicBezTo>
                      <a:pt x="1872510" y="719328"/>
                      <a:pt x="1921976" y="678052"/>
                      <a:pt x="1902990" y="640080"/>
                    </a:cubicBezTo>
                    <a:cubicBezTo>
                      <a:pt x="1799482" y="433064"/>
                      <a:pt x="1745025" y="451656"/>
                      <a:pt x="1592094" y="438912"/>
                    </a:cubicBezTo>
                    <a:cubicBezTo>
                      <a:pt x="1556536" y="503563"/>
                      <a:pt x="1448762" y="639851"/>
                      <a:pt x="1482366" y="740664"/>
                    </a:cubicBezTo>
                    <a:cubicBezTo>
                      <a:pt x="1490657" y="765538"/>
                      <a:pt x="1525038" y="771144"/>
                      <a:pt x="1546374" y="786384"/>
                    </a:cubicBezTo>
                    <a:cubicBezTo>
                      <a:pt x="1570758" y="752856"/>
                      <a:pt x="1623792" y="727037"/>
                      <a:pt x="1619526" y="685800"/>
                    </a:cubicBezTo>
                    <a:cubicBezTo>
                      <a:pt x="1600077" y="497794"/>
                      <a:pt x="1485172" y="513703"/>
                      <a:pt x="1354350" y="484632"/>
                    </a:cubicBezTo>
                    <a:cubicBezTo>
                      <a:pt x="1286163" y="629528"/>
                      <a:pt x="1219989" y="673313"/>
                      <a:pt x="1354350" y="832104"/>
                    </a:cubicBezTo>
                    <a:cubicBezTo>
                      <a:pt x="1383619" y="866694"/>
                      <a:pt x="1439694" y="862584"/>
                      <a:pt x="1482366" y="877824"/>
                    </a:cubicBezTo>
                    <a:cubicBezTo>
                      <a:pt x="1512846" y="838200"/>
                      <a:pt x="1561681" y="807450"/>
                      <a:pt x="1573806" y="758952"/>
                    </a:cubicBezTo>
                    <a:cubicBezTo>
                      <a:pt x="1606974" y="626279"/>
                      <a:pt x="1570743" y="603486"/>
                      <a:pt x="1509798" y="530352"/>
                    </a:cubicBezTo>
                    <a:cubicBezTo>
                      <a:pt x="1424848" y="628372"/>
                      <a:pt x="1314599" y="673481"/>
                      <a:pt x="1445790" y="804672"/>
                    </a:cubicBezTo>
                    <a:cubicBezTo>
                      <a:pt x="1469887" y="828769"/>
                      <a:pt x="1512846" y="816864"/>
                      <a:pt x="1546374" y="822960"/>
                    </a:cubicBezTo>
                    <a:cubicBezTo>
                      <a:pt x="1549422" y="762000"/>
                      <a:pt x="1584341" y="693882"/>
                      <a:pt x="1555518" y="640080"/>
                    </a:cubicBezTo>
                    <a:cubicBezTo>
                      <a:pt x="1495403" y="527865"/>
                      <a:pt x="1260021" y="573144"/>
                      <a:pt x="1189758" y="576072"/>
                    </a:cubicBezTo>
                    <a:cubicBezTo>
                      <a:pt x="1168422" y="585216"/>
                      <a:pt x="1148070" y="597127"/>
                      <a:pt x="1125750" y="603504"/>
                    </a:cubicBezTo>
                    <a:cubicBezTo>
                      <a:pt x="1105027" y="609425"/>
                      <a:pt x="1083285" y="612014"/>
                      <a:pt x="1061742" y="612648"/>
                    </a:cubicBezTo>
                    <a:cubicBezTo>
                      <a:pt x="875869" y="618115"/>
                      <a:pt x="689886" y="618744"/>
                      <a:pt x="503958" y="621792"/>
                    </a:cubicBezTo>
                    <a:cubicBezTo>
                      <a:pt x="449094" y="646176"/>
                      <a:pt x="393066" y="668094"/>
                      <a:pt x="339366" y="694944"/>
                    </a:cubicBezTo>
                    <a:cubicBezTo>
                      <a:pt x="325735" y="701760"/>
                      <a:pt x="295974" y="708745"/>
                      <a:pt x="302790" y="722376"/>
                    </a:cubicBezTo>
                    <a:cubicBezTo>
                      <a:pt x="351791" y="820377"/>
                      <a:pt x="424324" y="809302"/>
                      <a:pt x="513102" y="822960"/>
                    </a:cubicBezTo>
                    <a:cubicBezTo>
                      <a:pt x="543887" y="730606"/>
                      <a:pt x="566783" y="718245"/>
                      <a:pt x="394230" y="649224"/>
                    </a:cubicBezTo>
                    <a:cubicBezTo>
                      <a:pt x="374219" y="641220"/>
                      <a:pt x="363750" y="679704"/>
                      <a:pt x="348510" y="694944"/>
                    </a:cubicBezTo>
                    <a:cubicBezTo>
                      <a:pt x="367255" y="710565"/>
                      <a:pt x="507736" y="858553"/>
                      <a:pt x="476526" y="640080"/>
                    </a:cubicBezTo>
                    <a:cubicBezTo>
                      <a:pt x="467556" y="577293"/>
                      <a:pt x="418945" y="520734"/>
                      <a:pt x="366798" y="484632"/>
                    </a:cubicBezTo>
                    <a:cubicBezTo>
                      <a:pt x="331624" y="460281"/>
                      <a:pt x="281454" y="478536"/>
                      <a:pt x="238782" y="475488"/>
                    </a:cubicBezTo>
                    <a:cubicBezTo>
                      <a:pt x="227488" y="512193"/>
                      <a:pt x="168266" y="637589"/>
                      <a:pt x="220494" y="685800"/>
                    </a:cubicBezTo>
                    <a:cubicBezTo>
                      <a:pt x="245534" y="708914"/>
                      <a:pt x="287550" y="697992"/>
                      <a:pt x="321078" y="704088"/>
                    </a:cubicBezTo>
                    <a:cubicBezTo>
                      <a:pt x="336318" y="646176"/>
                      <a:pt x="391119" y="585074"/>
                      <a:pt x="366798" y="530352"/>
                    </a:cubicBezTo>
                    <a:cubicBezTo>
                      <a:pt x="343540" y="478021"/>
                      <a:pt x="260122" y="427187"/>
                      <a:pt x="211350" y="457200"/>
                    </a:cubicBezTo>
                    <a:cubicBezTo>
                      <a:pt x="144813" y="498146"/>
                      <a:pt x="156486" y="603504"/>
                      <a:pt x="129054" y="676656"/>
                    </a:cubicBezTo>
                    <a:cubicBezTo>
                      <a:pt x="199158" y="722376"/>
                      <a:pt x="262030" y="781815"/>
                      <a:pt x="339366" y="813816"/>
                    </a:cubicBezTo>
                    <a:cubicBezTo>
                      <a:pt x="358259" y="821634"/>
                      <a:pt x="393342" y="806811"/>
                      <a:pt x="394230" y="786384"/>
                    </a:cubicBezTo>
                    <a:cubicBezTo>
                      <a:pt x="396959" y="723607"/>
                      <a:pt x="386931" y="653225"/>
                      <a:pt x="348510" y="603504"/>
                    </a:cubicBezTo>
                    <a:cubicBezTo>
                      <a:pt x="325837" y="574163"/>
                      <a:pt x="275358" y="591312"/>
                      <a:pt x="238782" y="585216"/>
                    </a:cubicBezTo>
                    <a:cubicBezTo>
                      <a:pt x="228340" y="679190"/>
                      <a:pt x="198097" y="761714"/>
                      <a:pt x="357654" y="804672"/>
                    </a:cubicBezTo>
                    <a:cubicBezTo>
                      <a:pt x="400101" y="816100"/>
                      <a:pt x="430806" y="755904"/>
                      <a:pt x="467382" y="731520"/>
                    </a:cubicBezTo>
                    <a:cubicBezTo>
                      <a:pt x="421662" y="664464"/>
                      <a:pt x="409529" y="513111"/>
                      <a:pt x="330222" y="530352"/>
                    </a:cubicBezTo>
                    <a:cubicBezTo>
                      <a:pt x="129433" y="574002"/>
                      <a:pt x="265516" y="794132"/>
                      <a:pt x="302790" y="868680"/>
                    </a:cubicBezTo>
                    <a:cubicBezTo>
                      <a:pt x="333270" y="832104"/>
                      <a:pt x="355725" y="786956"/>
                      <a:pt x="394230" y="758952"/>
                    </a:cubicBezTo>
                    <a:cubicBezTo>
                      <a:pt x="404394" y="751560"/>
                      <a:pt x="391452" y="791554"/>
                      <a:pt x="403374" y="795528"/>
                    </a:cubicBezTo>
                    <a:cubicBezTo>
                      <a:pt x="418946" y="800719"/>
                      <a:pt x="433854" y="783336"/>
                      <a:pt x="449094" y="777240"/>
                    </a:cubicBezTo>
                    <a:cubicBezTo>
                      <a:pt x="547245" y="949004"/>
                      <a:pt x="428167" y="737211"/>
                      <a:pt x="412518" y="731520"/>
                    </a:cubicBezTo>
                    <a:cubicBezTo>
                      <a:pt x="388044" y="722620"/>
                      <a:pt x="394230" y="780288"/>
                      <a:pt x="385086" y="804672"/>
                    </a:cubicBezTo>
                    <a:cubicBezTo>
                      <a:pt x="403374" y="816864"/>
                      <a:pt x="431628" y="861591"/>
                      <a:pt x="439950" y="841248"/>
                    </a:cubicBezTo>
                    <a:cubicBezTo>
                      <a:pt x="509537" y="671147"/>
                      <a:pt x="496122" y="660984"/>
                      <a:pt x="449094" y="566928"/>
                    </a:cubicBezTo>
                    <a:cubicBezTo>
                      <a:pt x="470430" y="533400"/>
                      <a:pt x="479528" y="487608"/>
                      <a:pt x="513102" y="466344"/>
                    </a:cubicBezTo>
                    <a:cubicBezTo>
                      <a:pt x="603198" y="409283"/>
                      <a:pt x="939463" y="343287"/>
                      <a:pt x="1016022" y="329184"/>
                    </a:cubicBezTo>
                    <a:lnTo>
                      <a:pt x="1363494" y="265176"/>
                    </a:lnTo>
                    <a:cubicBezTo>
                      <a:pt x="1418358" y="268224"/>
                      <a:pt x="1478367" y="250923"/>
                      <a:pt x="1528086" y="274320"/>
                    </a:cubicBezTo>
                    <a:cubicBezTo>
                      <a:pt x="1547587" y="283497"/>
                      <a:pt x="1518942" y="316775"/>
                      <a:pt x="1518942" y="338328"/>
                    </a:cubicBezTo>
                    <a:cubicBezTo>
                      <a:pt x="1518942" y="362902"/>
                      <a:pt x="1524046" y="387241"/>
                      <a:pt x="1528086" y="411480"/>
                    </a:cubicBezTo>
                    <a:cubicBezTo>
                      <a:pt x="1541592" y="492517"/>
                      <a:pt x="1543745" y="503925"/>
                      <a:pt x="1573806" y="576072"/>
                    </a:cubicBezTo>
                    <a:cubicBezTo>
                      <a:pt x="1579049" y="588655"/>
                      <a:pt x="1582455" y="603009"/>
                      <a:pt x="1592094" y="612648"/>
                    </a:cubicBezTo>
                    <a:cubicBezTo>
                      <a:pt x="1598910" y="619464"/>
                      <a:pt x="1610382" y="618744"/>
                      <a:pt x="1619526" y="621792"/>
                    </a:cubicBezTo>
                    <a:cubicBezTo>
                      <a:pt x="1631718" y="643128"/>
                      <a:pt x="1636913" y="670449"/>
                      <a:pt x="1656102" y="685800"/>
                    </a:cubicBezTo>
                    <a:cubicBezTo>
                      <a:pt x="1670580" y="697382"/>
                      <a:pt x="1700682" y="679518"/>
                      <a:pt x="1710966" y="694944"/>
                    </a:cubicBezTo>
                    <a:cubicBezTo>
                      <a:pt x="1720071" y="708601"/>
                      <a:pt x="1705031" y="729855"/>
                      <a:pt x="1692678" y="740664"/>
                    </a:cubicBezTo>
                    <a:cubicBezTo>
                      <a:pt x="1678170" y="753358"/>
                      <a:pt x="1655533" y="751358"/>
                      <a:pt x="1637814" y="758952"/>
                    </a:cubicBezTo>
                    <a:cubicBezTo>
                      <a:pt x="1612756" y="769691"/>
                      <a:pt x="1586472" y="779171"/>
                      <a:pt x="1564662" y="795528"/>
                    </a:cubicBezTo>
                    <a:cubicBezTo>
                      <a:pt x="1451099" y="880700"/>
                      <a:pt x="1443184" y="906447"/>
                      <a:pt x="1326918" y="941832"/>
                    </a:cubicBezTo>
                    <a:cubicBezTo>
                      <a:pt x="1288014" y="953672"/>
                      <a:pt x="1247670" y="960120"/>
                      <a:pt x="1208046" y="969264"/>
                    </a:cubicBezTo>
                    <a:cubicBezTo>
                      <a:pt x="1155769" y="995403"/>
                      <a:pt x="1111184" y="1022005"/>
                      <a:pt x="1052598" y="1033272"/>
                    </a:cubicBezTo>
                    <a:cubicBezTo>
                      <a:pt x="1001363" y="1043125"/>
                      <a:pt x="948966" y="1045464"/>
                      <a:pt x="897150" y="1051560"/>
                    </a:cubicBezTo>
                    <a:cubicBezTo>
                      <a:pt x="824326" y="1043468"/>
                      <a:pt x="721803" y="1043714"/>
                      <a:pt x="650262" y="1005840"/>
                    </a:cubicBezTo>
                    <a:cubicBezTo>
                      <a:pt x="609208" y="984105"/>
                      <a:pt x="553870" y="931250"/>
                      <a:pt x="522246" y="896112"/>
                    </a:cubicBezTo>
                    <a:cubicBezTo>
                      <a:pt x="512051" y="884784"/>
                      <a:pt x="506385" y="869454"/>
                      <a:pt x="494814" y="859536"/>
                    </a:cubicBezTo>
                    <a:cubicBezTo>
                      <a:pt x="484465" y="850665"/>
                      <a:pt x="469704" y="848619"/>
                      <a:pt x="458238" y="841248"/>
                    </a:cubicBezTo>
                    <a:cubicBezTo>
                      <a:pt x="420406" y="816927"/>
                      <a:pt x="319665" y="738991"/>
                      <a:pt x="275358" y="722376"/>
                    </a:cubicBezTo>
                    <a:lnTo>
                      <a:pt x="202206" y="694944"/>
                    </a:lnTo>
                    <a:cubicBezTo>
                      <a:pt x="156561" y="710159"/>
                      <a:pt x="78082" y="723095"/>
                      <a:pt x="92478" y="804672"/>
                    </a:cubicBezTo>
                    <a:cubicBezTo>
                      <a:pt x="98517" y="838896"/>
                      <a:pt x="147342" y="847344"/>
                      <a:pt x="174774" y="868680"/>
                    </a:cubicBezTo>
                    <a:cubicBezTo>
                      <a:pt x="269262" y="844296"/>
                      <a:pt x="404108" y="876722"/>
                      <a:pt x="458238" y="795528"/>
                    </a:cubicBezTo>
                    <a:cubicBezTo>
                      <a:pt x="570087" y="627754"/>
                      <a:pt x="245242" y="683050"/>
                      <a:pt x="220494" y="685800"/>
                    </a:cubicBezTo>
                    <a:cubicBezTo>
                      <a:pt x="185488" y="790818"/>
                      <a:pt x="81289" y="934998"/>
                      <a:pt x="247926" y="1014984"/>
                    </a:cubicBezTo>
                    <a:cubicBezTo>
                      <a:pt x="289960" y="1035160"/>
                      <a:pt x="339366" y="996696"/>
                      <a:pt x="385086" y="987552"/>
                    </a:cubicBezTo>
                    <a:cubicBezTo>
                      <a:pt x="394230" y="935736"/>
                      <a:pt x="439196" y="877456"/>
                      <a:pt x="412518" y="832104"/>
                    </a:cubicBezTo>
                    <a:cubicBezTo>
                      <a:pt x="327943" y="688327"/>
                      <a:pt x="233941" y="683003"/>
                      <a:pt x="110766" y="658368"/>
                    </a:cubicBezTo>
                    <a:cubicBezTo>
                      <a:pt x="60088" y="696377"/>
                      <a:pt x="-105671" y="804051"/>
                      <a:pt x="101622" y="886968"/>
                    </a:cubicBezTo>
                    <a:cubicBezTo>
                      <a:pt x="158222" y="909608"/>
                      <a:pt x="174774" y="789432"/>
                      <a:pt x="211350" y="740664"/>
                    </a:cubicBezTo>
                    <a:cubicBezTo>
                      <a:pt x="139272" y="678883"/>
                      <a:pt x="-3767" y="522882"/>
                      <a:pt x="83334" y="923544"/>
                    </a:cubicBezTo>
                    <a:cubicBezTo>
                      <a:pt x="100330" y="1001724"/>
                      <a:pt x="186966" y="1045464"/>
                      <a:pt x="238782" y="1106424"/>
                    </a:cubicBezTo>
                    <a:cubicBezTo>
                      <a:pt x="318030" y="1057656"/>
                      <a:pt x="420695" y="1034561"/>
                      <a:pt x="476526" y="960120"/>
                    </a:cubicBezTo>
                    <a:cubicBezTo>
                      <a:pt x="621366" y="767000"/>
                      <a:pt x="337863" y="683158"/>
                      <a:pt x="247926" y="630936"/>
                    </a:cubicBezTo>
                    <a:cubicBezTo>
                      <a:pt x="233731" y="622694"/>
                      <a:pt x="217446" y="618744"/>
                      <a:pt x="202206" y="612648"/>
                    </a:cubicBezTo>
                    <a:cubicBezTo>
                      <a:pt x="169272" y="750971"/>
                      <a:pt x="109896" y="823861"/>
                      <a:pt x="220494" y="941832"/>
                    </a:cubicBezTo>
                    <a:cubicBezTo>
                      <a:pt x="237301" y="959759"/>
                      <a:pt x="269262" y="947928"/>
                      <a:pt x="293646" y="950976"/>
                    </a:cubicBezTo>
                    <a:cubicBezTo>
                      <a:pt x="305838" y="899160"/>
                      <a:pt x="327424" y="848685"/>
                      <a:pt x="330222" y="795528"/>
                    </a:cubicBezTo>
                    <a:cubicBezTo>
                      <a:pt x="332777" y="746992"/>
                      <a:pt x="272803" y="795296"/>
                      <a:pt x="275358" y="795528"/>
                    </a:cubicBezTo>
                    <a:cubicBezTo>
                      <a:pt x="317963" y="799401"/>
                      <a:pt x="360754" y="790090"/>
                      <a:pt x="403374" y="786384"/>
                    </a:cubicBezTo>
                    <a:cubicBezTo>
                      <a:pt x="430871" y="783993"/>
                      <a:pt x="458258" y="780465"/>
                      <a:pt x="485670" y="777240"/>
                    </a:cubicBezTo>
                    <a:cubicBezTo>
                      <a:pt x="510075" y="774369"/>
                      <a:pt x="534299" y="769678"/>
                      <a:pt x="558822" y="768096"/>
                    </a:cubicBezTo>
                    <a:cubicBezTo>
                      <a:pt x="628847" y="763578"/>
                      <a:pt x="699030" y="762000"/>
                      <a:pt x="769134" y="758952"/>
                    </a:cubicBezTo>
                    <a:cubicBezTo>
                      <a:pt x="814854" y="752856"/>
                      <a:pt x="860287" y="743950"/>
                      <a:pt x="906294" y="740664"/>
                    </a:cubicBezTo>
                    <a:cubicBezTo>
                      <a:pt x="988437" y="734797"/>
                      <a:pt x="1070932" y="735632"/>
                      <a:pt x="1153182" y="731520"/>
                    </a:cubicBezTo>
                    <a:cubicBezTo>
                      <a:pt x="1245088" y="726925"/>
                      <a:pt x="1264445" y="723327"/>
                      <a:pt x="1345206" y="713232"/>
                    </a:cubicBezTo>
                    <a:cubicBezTo>
                      <a:pt x="1373836" y="703689"/>
                      <a:pt x="1406243" y="691328"/>
                      <a:pt x="1436646" y="685800"/>
                    </a:cubicBezTo>
                    <a:cubicBezTo>
                      <a:pt x="1457851" y="681945"/>
                      <a:pt x="1479318" y="679704"/>
                      <a:pt x="1500654" y="676656"/>
                    </a:cubicBezTo>
                    <a:lnTo>
                      <a:pt x="1555518" y="658368"/>
                    </a:lnTo>
                  </a:path>
                </a:pathLst>
              </a:custGeom>
              <a:noFill/>
              <a:ln w="19050">
                <a:solidFill>
                  <a:srgbClr val="DC4C6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40C5F3E-E2EF-A94A-4566-EAD49787C1D6}"/>
                </a:ext>
              </a:extLst>
            </p:cNvPr>
            <p:cNvSpPr/>
            <p:nvPr/>
          </p:nvSpPr>
          <p:spPr>
            <a:xfrm>
              <a:off x="261370" y="3663634"/>
              <a:ext cx="1242309" cy="132792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A5EEE48-1627-4A86-E86F-372008B163E3}"/>
                </a:ext>
              </a:extLst>
            </p:cNvPr>
            <p:cNvSpPr txBox="1"/>
            <p:nvPr/>
          </p:nvSpPr>
          <p:spPr>
            <a:xfrm>
              <a:off x="1134472" y="3768448"/>
              <a:ext cx="36920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AC0440-CFB6-04CF-F283-03E190AD1723}"/>
                </a:ext>
              </a:extLst>
            </p:cNvPr>
            <p:cNvSpPr txBox="1"/>
            <p:nvPr/>
          </p:nvSpPr>
          <p:spPr>
            <a:xfrm>
              <a:off x="-878932" y="4103467"/>
              <a:ext cx="36920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accent1"/>
                  </a:solidFill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11385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1F74-162D-4500-A8B7-B49A379D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 Template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A96E2-1227-4225-8791-5FB9A27DA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240"/>
            <a:ext cx="10972800" cy="544576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def my_DandC(problem){</a:t>
            </a:r>
            <a:br>
              <a:rPr lang="en-US" dirty="0"/>
            </a:br>
            <a:r>
              <a:rPr lang="en-US" dirty="0"/>
              <a:t>    // Base Case</a:t>
            </a:r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problem.size</a:t>
            </a:r>
            <a:r>
              <a:rPr lang="en-US" dirty="0"/>
              <a:t>() &lt;= </a:t>
            </a:r>
            <a:r>
              <a:rPr lang="en-US" dirty="0" err="1"/>
              <a:t>small_value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        return solve(problem);  // directly solve (e.g., brute force)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// Divide</a:t>
            </a:r>
          </a:p>
          <a:p>
            <a:pPr marL="0" indent="0">
              <a:buNone/>
            </a:pPr>
            <a:r>
              <a:rPr lang="en-US" dirty="0"/>
              <a:t>    List subproblems = divide(problem);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Conquer</a:t>
            </a:r>
          </a:p>
          <a:p>
            <a:pPr marL="0" indent="0">
              <a:buNone/>
            </a:pPr>
            <a:r>
              <a:rPr lang="en-US" dirty="0"/>
              <a:t>    solutions = new List();</a:t>
            </a:r>
          </a:p>
          <a:p>
            <a:pPr marL="0" indent="0">
              <a:buNone/>
            </a:pPr>
            <a:r>
              <a:rPr lang="en-US" dirty="0"/>
              <a:t>    for (sub : subproblems){</a:t>
            </a:r>
          </a:p>
          <a:p>
            <a:pPr marL="0" indent="0">
              <a:buNone/>
            </a:pPr>
            <a:r>
              <a:rPr lang="en-US" dirty="0"/>
              <a:t>        subsolution = my_DandC(sub);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solutions.add</a:t>
            </a:r>
            <a:r>
              <a:rPr lang="en-US" dirty="0"/>
              <a:t>(</a:t>
            </a:r>
            <a:r>
              <a:rPr lang="en-US" dirty="0" err="1"/>
              <a:t>subsolution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// Combine</a:t>
            </a:r>
          </a:p>
          <a:p>
            <a:pPr marL="0" indent="0">
              <a:buNone/>
            </a:pPr>
            <a:r>
              <a:rPr lang="en-US" dirty="0"/>
              <a:t>    return combine(solutions);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53B9F-2FEB-4029-B061-C90B385A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2741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519680" y="1298448"/>
            <a:ext cx="9601200" cy="5257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Base Case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If the list is of length 1 or 0, it’s already sorted, so just return it</a:t>
            </a:r>
          </a:p>
          <a:p>
            <a:pPr lvl="2"/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Divide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Split the list into two “sublists” of (roughly) equal length</a:t>
            </a:r>
          </a:p>
          <a:p>
            <a:pPr lvl="1"/>
            <a:endParaRPr lang="en-US" sz="2600" b="1" dirty="0"/>
          </a:p>
          <a:p>
            <a:r>
              <a:rPr lang="en-US" b="1" dirty="0">
                <a:solidFill>
                  <a:srgbClr val="0070C0"/>
                </a:solidFill>
              </a:rPr>
              <a:t>Conquer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Sort both lists recursively</a:t>
            </a:r>
          </a:p>
          <a:p>
            <a:pPr lvl="1"/>
            <a:endParaRPr lang="en-US" sz="2600" dirty="0">
              <a:solidFill>
                <a:srgbClr val="FF33CC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b="1" dirty="0"/>
              <a:t>:</a:t>
            </a:r>
          </a:p>
          <a:p>
            <a:pPr lvl="1"/>
            <a:r>
              <a:rPr lang="en-US" b="1" dirty="0"/>
              <a:t>Merge</a:t>
            </a:r>
            <a:r>
              <a:rPr lang="en-US" dirty="0"/>
              <a:t> sorted sublists into one sorted list</a:t>
            </a:r>
          </a:p>
        </p:txBody>
      </p:sp>
      <p:sp>
        <p:nvSpPr>
          <p:cNvPr id="224" name="Slide Number Placeholder 223">
            <a:extLst>
              <a:ext uri="{FF2B5EF4-FFF2-40B4-BE49-F238E27FC236}">
                <a16:creationId xmlns:a16="http://schemas.microsoft.com/office/drawing/2014/main" id="{EFCFBE45-A1F3-4932-85FA-AF898B93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36</a:t>
            </a:fld>
            <a:endParaRPr lang="en-US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A6038B4-F05D-6F20-8BFC-3AC6EC6FC6E8}"/>
              </a:ext>
            </a:extLst>
          </p:cNvPr>
          <p:cNvSpPr/>
          <p:nvPr/>
        </p:nvSpPr>
        <p:spPr>
          <a:xfrm>
            <a:off x="581660" y="1502728"/>
            <a:ext cx="375920" cy="3759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435895E0-AEA0-0940-5D39-646A13B54670}"/>
              </a:ext>
            </a:extLst>
          </p:cNvPr>
          <p:cNvGrpSpPr/>
          <p:nvPr/>
        </p:nvGrpSpPr>
        <p:grpSpPr>
          <a:xfrm>
            <a:off x="143510" y="2620011"/>
            <a:ext cx="2359660" cy="375920"/>
            <a:chOff x="7866380" y="4321811"/>
            <a:chExt cx="2359660" cy="375920"/>
          </a:xfrm>
        </p:grpSpPr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1AC0146F-1215-033B-474C-1202CBB1382F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6161B0BF-F025-0B80-A6D8-62CD5002CD1C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7E43537C-9288-ABDA-EB6D-AEE370B64291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F761104C-7C02-2944-984D-8E55BD055701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C59D95F4-292C-4129-52CD-0D6A35C64D95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F84B0681-6C9C-F58D-E1FF-80DFEFD8C581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A512511D-0BF2-1BD4-61D9-99C53A707F13}"/>
              </a:ext>
            </a:extLst>
          </p:cNvPr>
          <p:cNvGrpSpPr/>
          <p:nvPr/>
        </p:nvGrpSpPr>
        <p:grpSpPr>
          <a:xfrm>
            <a:off x="8068310" y="455867"/>
            <a:ext cx="2258060" cy="375920"/>
            <a:chOff x="7967980" y="4321811"/>
            <a:chExt cx="2258060" cy="375920"/>
          </a:xfrm>
        </p:grpSpPr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3DCBBB31-B027-E237-6E8F-A785199E188A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E3D01A99-515F-0FD5-8557-F5A51BEBD9F8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712EC17-6C8B-82E7-112A-93F08E4569EA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C62145E-972E-AA98-83BB-11990B5B0A19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5C88493-7B69-E58E-EAEA-116212C7C254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C9C7CE3-7A1C-CF03-CF1E-E5762740CEDA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9E74BD3-16BD-405D-B960-A8F2C73ADA12}"/>
              </a:ext>
            </a:extLst>
          </p:cNvPr>
          <p:cNvGrpSpPr/>
          <p:nvPr/>
        </p:nvGrpSpPr>
        <p:grpSpPr>
          <a:xfrm>
            <a:off x="143510" y="3929254"/>
            <a:ext cx="2359660" cy="375920"/>
            <a:chOff x="7866380" y="4321811"/>
            <a:chExt cx="2359660" cy="37592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EC224A1-B18F-E6A5-748F-A75B1F455D67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8CEEEE7-FC40-57CE-4C6B-E3C2648A6C3D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4FE4E47-C824-4651-08D3-308F39FAFA47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4962A4A-98DB-B15A-FE92-B6E41220439F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26CC13B-3743-C67D-1189-37D1268C0515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40576FB-AFD1-4D3B-05F0-A0B70A599B74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405945E-100C-6B39-5FD1-BBBE0566368B}"/>
              </a:ext>
            </a:extLst>
          </p:cNvPr>
          <p:cNvGrpSpPr/>
          <p:nvPr/>
        </p:nvGrpSpPr>
        <p:grpSpPr>
          <a:xfrm>
            <a:off x="143510" y="6074982"/>
            <a:ext cx="2258060" cy="375920"/>
            <a:chOff x="7967980" y="4321811"/>
            <a:chExt cx="2258060" cy="37592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3690BB-76CB-BAFE-26B3-260B537AE2DA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23CC625-C6EE-939F-59C6-8FDBF827024F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B4D7055-02F7-A906-4A01-24889BAD2921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6CC5D9E-F542-E42E-4C24-9E7DC23692CD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0B29DFD-1138-7F9E-DB14-8EC859E21220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1A2089A-AFB5-4C8F-9B13-2BCC0A93AEAB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9760A4B-C884-D45E-2DBC-75690FDA2811}"/>
              </a:ext>
            </a:extLst>
          </p:cNvPr>
          <p:cNvCxnSpPr>
            <a:cxnSpLocks/>
            <a:stCxn id="101" idx="2"/>
            <a:endCxn id="86" idx="0"/>
          </p:cNvCxnSpPr>
          <p:nvPr/>
        </p:nvCxnSpPr>
        <p:spPr>
          <a:xfrm flipH="1">
            <a:off x="331470" y="5628831"/>
            <a:ext cx="123063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BA8329B-B184-BF44-2E73-57E81568BE4A}"/>
              </a:ext>
            </a:extLst>
          </p:cNvPr>
          <p:cNvGrpSpPr/>
          <p:nvPr/>
        </p:nvGrpSpPr>
        <p:grpSpPr>
          <a:xfrm>
            <a:off x="142240" y="5252911"/>
            <a:ext cx="2359660" cy="375920"/>
            <a:chOff x="7866380" y="4321811"/>
            <a:chExt cx="2359660" cy="375920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79926A6-DCE4-B48F-A5CB-5F011A4C0C72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D879902-45E2-374E-6352-92BEFC1772DA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AAC80FF-CC9B-8C57-D4EB-B9F52B08CF79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F991359-E10F-1CEE-641D-4D6B0901C70B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C042204-CC9B-292C-960C-FB3A9E83AD73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038750F-0C93-3541-CBB6-23133514AD7D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02132B9-9C9F-E2DC-3604-45581B49A1B6}"/>
              </a:ext>
            </a:extLst>
          </p:cNvPr>
          <p:cNvCxnSpPr>
            <a:cxnSpLocks/>
            <a:stCxn id="97" idx="2"/>
            <a:endCxn id="87" idx="0"/>
          </p:cNvCxnSpPr>
          <p:nvPr/>
        </p:nvCxnSpPr>
        <p:spPr>
          <a:xfrm>
            <a:off x="330200" y="5628831"/>
            <a:ext cx="37719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8AB2DD9-25E5-A2C3-5B30-1A2098D2A7B5}"/>
              </a:ext>
            </a:extLst>
          </p:cNvPr>
          <p:cNvCxnSpPr>
            <a:cxnSpLocks/>
            <a:stCxn id="102" idx="2"/>
            <a:endCxn id="88" idx="0"/>
          </p:cNvCxnSpPr>
          <p:nvPr/>
        </p:nvCxnSpPr>
        <p:spPr>
          <a:xfrm flipH="1">
            <a:off x="1085850" y="5628831"/>
            <a:ext cx="85217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64C6B2E-65E1-999F-AE4C-0C9B90029F04}"/>
              </a:ext>
            </a:extLst>
          </p:cNvPr>
          <p:cNvCxnSpPr>
            <a:cxnSpLocks/>
            <a:stCxn id="99" idx="2"/>
            <a:endCxn id="89" idx="0"/>
          </p:cNvCxnSpPr>
          <p:nvPr/>
        </p:nvCxnSpPr>
        <p:spPr>
          <a:xfrm>
            <a:off x="706120" y="5628831"/>
            <a:ext cx="75565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BF20938-E610-9740-E5E4-C2A73A8D0BB5}"/>
              </a:ext>
            </a:extLst>
          </p:cNvPr>
          <p:cNvCxnSpPr>
            <a:cxnSpLocks/>
            <a:stCxn id="100" idx="2"/>
            <a:endCxn id="90" idx="0"/>
          </p:cNvCxnSpPr>
          <p:nvPr/>
        </p:nvCxnSpPr>
        <p:spPr>
          <a:xfrm>
            <a:off x="1084580" y="5628831"/>
            <a:ext cx="75311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660D801-269E-358E-2F73-D1FECEE60AAA}"/>
              </a:ext>
            </a:extLst>
          </p:cNvPr>
          <p:cNvCxnSpPr>
            <a:cxnSpLocks/>
            <a:stCxn id="103" idx="2"/>
            <a:endCxn id="91" idx="0"/>
          </p:cNvCxnSpPr>
          <p:nvPr/>
        </p:nvCxnSpPr>
        <p:spPr>
          <a:xfrm flipH="1">
            <a:off x="2213610" y="5628831"/>
            <a:ext cx="10033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3421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CBAD-23AB-0CC2-48DA-218DAB0B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In Action!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4DCCF6-BB83-4EE3-BC80-0BFBFF244782}"/>
              </a:ext>
            </a:extLst>
          </p:cNvPr>
          <p:cNvGrpSpPr/>
          <p:nvPr/>
        </p:nvGrpSpPr>
        <p:grpSpPr>
          <a:xfrm>
            <a:off x="2876550" y="2056448"/>
            <a:ext cx="5862824" cy="732853"/>
            <a:chOff x="641350" y="2386266"/>
            <a:chExt cx="5862824" cy="73285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888C230-FD3C-EA40-210A-BFFCADEDCFB4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8F41F6-3204-607E-164A-DCA6BA90C383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076EE9-0D45-1598-39E4-88A91E3187FC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2F75015-E664-CC9C-4594-D28BA01E463F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7EF827-6599-548F-5C3D-8292DB144B00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9FB8D4-ECC1-E1AB-E075-8F7CCE064CB4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BB24EE8-88B6-5BE1-2240-D58005BAE911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96B498-5386-7132-97CB-04CACDCC3646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DF2872-D1C3-4B08-E3E4-EF8CAF741EAB}"/>
                  </a:ext>
                </a:extLst>
              </p:cNvPr>
              <p:cNvSpPr txBox="1"/>
              <p:nvPr/>
            </p:nvSpPr>
            <p:spPr>
              <a:xfrm>
                <a:off x="362391" y="1533228"/>
                <a:ext cx="54305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Sort between indices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𝑙𝑜𝑤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h𝑖𝑔h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DF2872-D1C3-4B08-E3E4-EF8CAF741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91" y="1533228"/>
                <a:ext cx="5430520" cy="400110"/>
              </a:xfrm>
              <a:prstGeom prst="rect">
                <a:avLst/>
              </a:prstGeom>
              <a:blipFill>
                <a:blip r:embed="rId2"/>
                <a:stretch>
                  <a:fillRect l="-1122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DCC280-7CB1-97D9-0F00-51561B65C832}"/>
                  </a:ext>
                </a:extLst>
              </p:cNvPr>
              <p:cNvSpPr txBox="1"/>
              <p:nvPr/>
            </p:nvSpPr>
            <p:spPr>
              <a:xfrm>
                <a:off x="2804160" y="2813071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DCC280-7CB1-97D9-0F00-51561B65C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160" y="2813071"/>
                <a:ext cx="73285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7521F1-C529-BCFD-8388-55369777A507}"/>
                  </a:ext>
                </a:extLst>
              </p:cNvPr>
              <p:cNvSpPr txBox="1"/>
              <p:nvPr/>
            </p:nvSpPr>
            <p:spPr>
              <a:xfrm>
                <a:off x="8006520" y="2789301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7521F1-C529-BCFD-8388-55369777A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520" y="2789301"/>
                <a:ext cx="732853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88C347-A8D8-2303-74DB-E7D69034D8A2}"/>
                  </a:ext>
                </a:extLst>
              </p:cNvPr>
              <p:cNvSpPr txBox="1"/>
              <p:nvPr/>
            </p:nvSpPr>
            <p:spPr>
              <a:xfrm>
                <a:off x="312257" y="3142831"/>
                <a:ext cx="88527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Base Case: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𝑙𝑜𝑤</m:t>
                    </m:r>
                  </m:oMath>
                </a14:m>
                <a:r>
                  <a:rPr lang="en-US" sz="2000" dirty="0"/>
                  <a:t> ==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h𝑖𝑔h</m:t>
                    </m:r>
                  </m:oMath>
                </a14:m>
                <a:r>
                  <a:rPr lang="en-US" sz="2000" dirty="0"/>
                  <a:t> then that range is already sorted!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88C347-A8D8-2303-74DB-E7D69034D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57" y="3142831"/>
                <a:ext cx="8852729" cy="400110"/>
              </a:xfrm>
              <a:prstGeom prst="rect">
                <a:avLst/>
              </a:prstGeom>
              <a:blipFill>
                <a:blip r:embed="rId5"/>
                <a:stretch>
                  <a:fillRect l="-689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3BBCFA-D348-D5DC-E24C-572F4975723A}"/>
                  </a:ext>
                </a:extLst>
              </p:cNvPr>
              <p:cNvSpPr txBox="1"/>
              <p:nvPr/>
            </p:nvSpPr>
            <p:spPr>
              <a:xfrm>
                <a:off x="312257" y="3539659"/>
                <a:ext cx="10991410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Divide and Conquer: Otherwise call </a:t>
                </a:r>
                <a:r>
                  <a:rPr lang="en-US" sz="2000" dirty="0" err="1"/>
                  <a:t>mergesort</a:t>
                </a:r>
                <a:r>
                  <a:rPr lang="en-US" sz="2000" dirty="0"/>
                  <a:t> on ranges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𝑙𝑜𝑤</m:t>
                        </m:r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h𝑖𝑔h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3BBCFA-D348-D5DC-E24C-572F49757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57" y="3539659"/>
                <a:ext cx="10991410" cy="552972"/>
              </a:xfrm>
              <a:prstGeom prst="rect">
                <a:avLst/>
              </a:prstGeom>
              <a:blipFill>
                <a:blip r:embed="rId6"/>
                <a:stretch>
                  <a:fillRect l="-55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D3C4954-18C7-146E-6B7E-0D9D212CA13A}"/>
              </a:ext>
            </a:extLst>
          </p:cNvPr>
          <p:cNvGrpSpPr/>
          <p:nvPr/>
        </p:nvGrpSpPr>
        <p:grpSpPr>
          <a:xfrm>
            <a:off x="2653030" y="4199677"/>
            <a:ext cx="5862824" cy="732853"/>
            <a:chOff x="641350" y="2386266"/>
            <a:chExt cx="5862824" cy="73285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63E3FFF-3C3A-E76C-6E22-3C2489A65651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4AB53C9-518C-D320-CF21-4B4CD17CFE26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232457-E7F3-9FA4-E6AF-0C289F508761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3C181DA-77E2-6D0D-BF2D-D935A61F7614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31CBE20-1325-540C-60C6-0FE22059A639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A68CC84-471E-C966-DB8A-1C5F1B77A5AB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6BC1D1-46F1-7544-E4DA-77766CBBE52A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03EE08D-8601-013B-E0A7-546F75941260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18A966C-DFAE-60B7-7FC7-6C2EF91E948A}"/>
                  </a:ext>
                </a:extLst>
              </p:cNvPr>
              <p:cNvSpPr txBox="1"/>
              <p:nvPr/>
            </p:nvSpPr>
            <p:spPr>
              <a:xfrm>
                <a:off x="2580640" y="4956300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18A966C-DFAE-60B7-7FC7-6C2EF91E9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640" y="4956300"/>
                <a:ext cx="73285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A7609C9-9931-85A8-6C36-CFBE3621FB43}"/>
                  </a:ext>
                </a:extLst>
              </p:cNvPr>
              <p:cNvSpPr txBox="1"/>
              <p:nvPr/>
            </p:nvSpPr>
            <p:spPr>
              <a:xfrm>
                <a:off x="7783000" y="4932530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A7609C9-9931-85A8-6C36-CFBE3621F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000" y="4932530"/>
                <a:ext cx="732853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13CD170-F635-085C-F3DC-D237BF24ED6B}"/>
                  </a:ext>
                </a:extLst>
              </p:cNvPr>
              <p:cNvSpPr txBox="1"/>
              <p:nvPr/>
            </p:nvSpPr>
            <p:spPr>
              <a:xfrm>
                <a:off x="4288632" y="4969652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13CD170-F635-085C-F3DC-D237BF24E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632" y="4969652"/>
                <a:ext cx="1497305" cy="499945"/>
              </a:xfrm>
              <a:prstGeom prst="rect">
                <a:avLst/>
              </a:prstGeom>
              <a:blipFill>
                <a:blip r:embed="rId9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2BA5EF-5185-5588-EB46-795E3436CCC9}"/>
                  </a:ext>
                </a:extLst>
              </p:cNvPr>
              <p:cNvSpPr txBox="1"/>
              <p:nvPr/>
            </p:nvSpPr>
            <p:spPr>
              <a:xfrm>
                <a:off x="5525770" y="5006774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2BA5EF-5185-5588-EB46-795E3436C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770" y="5006774"/>
                <a:ext cx="1497305" cy="499945"/>
              </a:xfrm>
              <a:prstGeom prst="rect">
                <a:avLst/>
              </a:prstGeom>
              <a:blipFill>
                <a:blip r:embed="rId10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FF4245F-E847-1743-85A7-9C67FC224BB0}"/>
              </a:ext>
            </a:extLst>
          </p:cNvPr>
          <p:cNvCxnSpPr>
            <a:cxnSpLocks/>
          </p:cNvCxnSpPr>
          <p:nvPr/>
        </p:nvCxnSpPr>
        <p:spPr>
          <a:xfrm>
            <a:off x="5584442" y="4002150"/>
            <a:ext cx="0" cy="150457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A963E52-A4AF-852A-B21B-7A42B4E5386D}"/>
              </a:ext>
            </a:extLst>
          </p:cNvPr>
          <p:cNvGrpSpPr/>
          <p:nvPr/>
        </p:nvGrpSpPr>
        <p:grpSpPr>
          <a:xfrm>
            <a:off x="2653030" y="5672099"/>
            <a:ext cx="5862824" cy="732853"/>
            <a:chOff x="641350" y="2386266"/>
            <a:chExt cx="5862824" cy="73285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3B02481-CF61-EF96-5453-7FB12E7F13A4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BFBB41E-AADC-E1A6-BE95-E0C85FDAB6B1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B7869A1-7679-DE17-3E60-8B50A6C4B0A2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E04867C-4660-98C8-256D-C98F0EC9A427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952717D-A7A0-6046-1A59-D0F84BB09A6B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2E4CCB4-9A64-FBB8-098E-EB736A9DC5E9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C588CFB-6886-B3E4-F149-27A460466F7A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3A6B9B3-683B-B245-2120-B6C97C6C0119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EC4A69-2D89-1F59-AFFB-70237FE3AA78}"/>
                  </a:ext>
                </a:extLst>
              </p:cNvPr>
              <p:cNvSpPr txBox="1"/>
              <p:nvPr/>
            </p:nvSpPr>
            <p:spPr>
              <a:xfrm>
                <a:off x="2580640" y="642872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EC4A69-2D89-1F59-AFFB-70237FE3A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640" y="6428722"/>
                <a:ext cx="73285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C0B620E-FD13-DE0C-5024-743EEDDADFCD}"/>
                  </a:ext>
                </a:extLst>
              </p:cNvPr>
              <p:cNvSpPr txBox="1"/>
              <p:nvPr/>
            </p:nvSpPr>
            <p:spPr>
              <a:xfrm>
                <a:off x="7783000" y="640495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C0B620E-FD13-DE0C-5024-743EEDDAD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000" y="6404952"/>
                <a:ext cx="732853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014B858A-911D-26ED-6F2B-0FF5014A4F19}"/>
              </a:ext>
            </a:extLst>
          </p:cNvPr>
          <p:cNvSpPr txBox="1"/>
          <p:nvPr/>
        </p:nvSpPr>
        <p:spPr>
          <a:xfrm>
            <a:off x="312257" y="5763351"/>
            <a:ext cx="10991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After Recursion:</a:t>
            </a:r>
          </a:p>
        </p:txBody>
      </p:sp>
    </p:spTree>
    <p:extLst>
      <p:ext uri="{BB962C8B-B14F-4D97-AF65-F5344CB8AC3E}">
        <p14:creationId xmlns:p14="http://schemas.microsoft.com/office/powerpoint/2010/main" val="26321363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F328-04B6-E91F-1000-0492DC56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(the combine part)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FF776E-9504-C0D2-67B4-434D98EAE99C}"/>
              </a:ext>
            </a:extLst>
          </p:cNvPr>
          <p:cNvGrpSpPr/>
          <p:nvPr/>
        </p:nvGrpSpPr>
        <p:grpSpPr>
          <a:xfrm>
            <a:off x="2957830" y="1516659"/>
            <a:ext cx="5862824" cy="732853"/>
            <a:chOff x="641350" y="2386266"/>
            <a:chExt cx="5862824" cy="73285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6EB25A-86A2-872F-96C0-79FF2C7F32DE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142F12-2080-CB61-8D64-C197A6CB325F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2AFA11-63FF-C162-E977-EAE405F3B96B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7859EA-E4DB-A2C3-44F9-06E320A84017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2363DB-D76A-72A7-ABE8-0D90E1ACB543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CCD79CE-539B-7DD5-551C-9E0EE3379200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963F99-4075-ED57-903C-7E402901C503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B90353-0F02-1988-D3A5-C06BC70A33DC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BBA4A9-E429-B6AF-1D45-8B0C2ECC9465}"/>
                  </a:ext>
                </a:extLst>
              </p:cNvPr>
              <p:cNvSpPr txBox="1"/>
              <p:nvPr/>
            </p:nvSpPr>
            <p:spPr>
              <a:xfrm>
                <a:off x="2885440" y="227328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BBA4A9-E429-B6AF-1D45-8B0C2ECC9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440" y="2273282"/>
                <a:ext cx="73285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3BBD60-3406-5A08-6A23-DC9783E22C44}"/>
                  </a:ext>
                </a:extLst>
              </p:cNvPr>
              <p:cNvSpPr txBox="1"/>
              <p:nvPr/>
            </p:nvSpPr>
            <p:spPr>
              <a:xfrm>
                <a:off x="8087800" y="224951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3BBD60-3406-5A08-6A23-DC9783E22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800" y="2249512"/>
                <a:ext cx="732853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A0072-DA42-358D-2313-C589B2C2A62B}"/>
              </a:ext>
            </a:extLst>
          </p:cNvPr>
          <p:cNvGrpSpPr/>
          <p:nvPr/>
        </p:nvGrpSpPr>
        <p:grpSpPr>
          <a:xfrm>
            <a:off x="2957830" y="3015897"/>
            <a:ext cx="5862824" cy="732853"/>
            <a:chOff x="641350" y="2386266"/>
            <a:chExt cx="5862824" cy="732853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C85D454-719B-702F-2281-4A10415E7000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EF5804-408E-6879-D613-7044DEA0BF49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D21588-F912-24DA-B6A5-5E6B9C42EEE5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8C151A5-A2A2-1312-39BF-4FADA5F73B47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7B5ADAB-0AAF-740B-A52A-771577FB164D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43AD86E-0BE4-0ED4-ABD9-55F9BA416BC8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93FE899-1FCC-9493-9EA2-45ABB23DF07B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B47FEB0-46B7-71E2-6A76-89C06FCA5695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BE936E-3286-77C7-957F-5423C8F6B9EE}"/>
                  </a:ext>
                </a:extLst>
              </p:cNvPr>
              <p:cNvSpPr txBox="1"/>
              <p:nvPr/>
            </p:nvSpPr>
            <p:spPr>
              <a:xfrm>
                <a:off x="4726924" y="2249512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BE936E-3286-77C7-957F-5423C8F6B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924" y="2249512"/>
                <a:ext cx="1497305" cy="499945"/>
              </a:xfrm>
              <a:prstGeom prst="rect">
                <a:avLst/>
              </a:prstGeom>
              <a:blipFill>
                <a:blip r:embed="rId4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992678-C5BD-5105-91BC-B0DCB98849B8}"/>
                  </a:ext>
                </a:extLst>
              </p:cNvPr>
              <p:cNvSpPr txBox="1"/>
              <p:nvPr/>
            </p:nvSpPr>
            <p:spPr>
              <a:xfrm>
                <a:off x="5842003" y="2249511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992678-C5BD-5105-91BC-B0DCB9884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3" y="2249511"/>
                <a:ext cx="1497305" cy="499945"/>
              </a:xfrm>
              <a:prstGeom prst="rect">
                <a:avLst/>
              </a:prstGeom>
              <a:blipFill>
                <a:blip r:embed="rId5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rrow: Right 26">
            <a:extLst>
              <a:ext uri="{FF2B5EF4-FFF2-40B4-BE49-F238E27FC236}">
                <a16:creationId xmlns:a16="http://schemas.microsoft.com/office/drawing/2014/main" id="{C4B62DBB-53B8-EA2D-12CE-AAFE2075A980}"/>
              </a:ext>
            </a:extLst>
          </p:cNvPr>
          <p:cNvSpPr/>
          <p:nvPr/>
        </p:nvSpPr>
        <p:spPr>
          <a:xfrm rot="18941864">
            <a:off x="2246687" y="2188107"/>
            <a:ext cx="1055420" cy="44704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 next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F1982206-BF5B-A2CF-DE7D-8C5F945BC8DA}"/>
              </a:ext>
            </a:extLst>
          </p:cNvPr>
          <p:cNvSpPr/>
          <p:nvPr/>
        </p:nvSpPr>
        <p:spPr>
          <a:xfrm rot="18941864">
            <a:off x="5257217" y="2188107"/>
            <a:ext cx="1055420" cy="44704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 next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866399B5-9CA7-FF10-921D-A115ADA6102E}"/>
              </a:ext>
            </a:extLst>
          </p:cNvPr>
          <p:cNvSpPr/>
          <p:nvPr/>
        </p:nvSpPr>
        <p:spPr>
          <a:xfrm rot="18941864">
            <a:off x="2218888" y="3763798"/>
            <a:ext cx="1055420" cy="44704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 next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40C5B3-F308-4ACC-3D1F-6D7C299211BC}"/>
              </a:ext>
            </a:extLst>
          </p:cNvPr>
          <p:cNvSpPr txBox="1"/>
          <p:nvPr/>
        </p:nvSpPr>
        <p:spPr>
          <a:xfrm>
            <a:off x="49304" y="4568149"/>
            <a:ext cx="76720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Create a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new array to merge into</a:t>
            </a:r>
            <a:r>
              <a:rPr lang="en-US" sz="2000" dirty="0"/>
              <a:t>, and 3 pointers/indices: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L_next</a:t>
            </a:r>
            <a:r>
              <a:rPr lang="en-US" sz="2000" dirty="0"/>
              <a:t>: the smallest “unmerged” thing on the left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R_next</a:t>
            </a:r>
            <a:r>
              <a:rPr lang="en-US" sz="2000" dirty="0"/>
              <a:t>: the smallest “unmerged” thing on the right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M_next</a:t>
            </a:r>
            <a:r>
              <a:rPr lang="en-US" sz="2000" dirty="0"/>
              <a:t>: where the next smallest thing goes in the merged array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073BD5-9BD6-6F1A-701B-4FB3D2049E9F}"/>
              </a:ext>
            </a:extLst>
          </p:cNvPr>
          <p:cNvSpPr txBox="1"/>
          <p:nvPr/>
        </p:nvSpPr>
        <p:spPr>
          <a:xfrm>
            <a:off x="1" y="6046003"/>
            <a:ext cx="695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One-by-one: put the smallest of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L_next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/>
              <a:t>and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R_next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/>
              <a:t>into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M_next</a:t>
            </a:r>
            <a:r>
              <a:rPr lang="en-US" sz="2000" dirty="0"/>
              <a:t>, then advance both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M_next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/>
              <a:t>and whichever of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L/R </a:t>
            </a:r>
            <a:r>
              <a:rPr lang="en-US" sz="2000" dirty="0"/>
              <a:t>was used.</a:t>
            </a:r>
          </a:p>
        </p:txBody>
      </p:sp>
    </p:spTree>
    <p:extLst>
      <p:ext uri="{BB962C8B-B14F-4D97-AF65-F5344CB8AC3E}">
        <p14:creationId xmlns:p14="http://schemas.microsoft.com/office/powerpoint/2010/main" val="35191881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1F74-162D-4500-A8B7-B49A379D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A96E2-1227-4225-8791-5FB9A27DA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1120"/>
            <a:ext cx="10972800" cy="5516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void mergesort(</a:t>
            </a:r>
            <a:r>
              <a:rPr lang="en-US" dirty="0" err="1"/>
              <a:t>myArray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ms_helper</a:t>
            </a:r>
            <a:r>
              <a:rPr lang="en-US" dirty="0"/>
              <a:t>(</a:t>
            </a:r>
            <a:r>
              <a:rPr lang="en-US" dirty="0" err="1"/>
              <a:t>myArray</a:t>
            </a:r>
            <a:r>
              <a:rPr lang="en-US" dirty="0"/>
              <a:t>, 0, </a:t>
            </a:r>
            <a:r>
              <a:rPr lang="en-US" dirty="0" err="1"/>
              <a:t>myArray.length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mshelper</a:t>
            </a:r>
            <a:r>
              <a:rPr lang="en-US" dirty="0"/>
              <a:t>(</a:t>
            </a:r>
            <a:r>
              <a:rPr lang="en-US" dirty="0" err="1"/>
              <a:t>myArray</a:t>
            </a:r>
            <a:r>
              <a:rPr lang="en-US" dirty="0"/>
              <a:t>, low, high){</a:t>
            </a:r>
          </a:p>
          <a:p>
            <a:pPr marL="0" indent="0">
              <a:buNone/>
            </a:pPr>
            <a:r>
              <a:rPr lang="en-US" dirty="0"/>
              <a:t>	if (low == high){return;}  // Base Case</a:t>
            </a:r>
          </a:p>
          <a:p>
            <a:pPr marL="0" indent="0">
              <a:buNone/>
            </a:pPr>
            <a:r>
              <a:rPr lang="en-US" dirty="0"/>
              <a:t>	mid = (</a:t>
            </a:r>
            <a:r>
              <a:rPr lang="en-US" dirty="0" err="1"/>
              <a:t>low+high</a:t>
            </a:r>
            <a:r>
              <a:rPr lang="en-US" dirty="0"/>
              <a:t>)/2;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ms_helper</a:t>
            </a:r>
            <a:r>
              <a:rPr lang="en-US" dirty="0"/>
              <a:t>(low, mid);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ms_helper</a:t>
            </a:r>
            <a:r>
              <a:rPr lang="en-US" dirty="0"/>
              <a:t>(mid+1, high);</a:t>
            </a:r>
          </a:p>
          <a:p>
            <a:pPr marL="0" indent="0">
              <a:buNone/>
            </a:pPr>
            <a:r>
              <a:rPr lang="en-US" dirty="0"/>
              <a:t>	merge(</a:t>
            </a:r>
            <a:r>
              <a:rPr lang="en-US" dirty="0" err="1"/>
              <a:t>myArray</a:t>
            </a:r>
            <a:r>
              <a:rPr lang="en-US" dirty="0"/>
              <a:t>, low, mid, high);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27835-8A41-4D7F-A2BA-C58F37B18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7214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55B0-6D93-98AC-8022-6107AB6DD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56235"/>
            <a:ext cx="10515600" cy="1325563"/>
          </a:xfrm>
        </p:spPr>
        <p:txBody>
          <a:bodyPr/>
          <a:lstStyle/>
          <a:p>
            <a:r>
              <a:rPr lang="en-US" dirty="0"/>
              <a:t>Merge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FCFEC-8CB0-8275-D534-1D938B3AD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280"/>
            <a:ext cx="10515600" cy="62687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void merge(</a:t>
            </a:r>
            <a:r>
              <a:rPr lang="en-US" dirty="0" err="1"/>
              <a:t>myArray</a:t>
            </a:r>
            <a:r>
              <a:rPr lang="en-US" dirty="0"/>
              <a:t>, low, mid, high){</a:t>
            </a:r>
          </a:p>
          <a:p>
            <a:pPr marL="0" indent="0">
              <a:buNone/>
            </a:pPr>
            <a:r>
              <a:rPr lang="en-US" dirty="0"/>
              <a:t>	merged = new int[high-low+1]; // or whatever type is in </a:t>
            </a:r>
            <a:r>
              <a:rPr lang="en-US" dirty="0" err="1"/>
              <a:t>myArray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l_next</a:t>
            </a:r>
            <a:r>
              <a:rPr lang="en-US" dirty="0"/>
              <a:t> = low;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r_next</a:t>
            </a:r>
            <a:r>
              <a:rPr lang="en-US" dirty="0"/>
              <a:t> = high;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m_next</a:t>
            </a:r>
            <a:r>
              <a:rPr lang="en-US" dirty="0"/>
              <a:t> = 0;</a:t>
            </a:r>
          </a:p>
          <a:p>
            <a:pPr marL="0" indent="0">
              <a:buNone/>
            </a:pPr>
            <a:r>
              <a:rPr lang="en-US" dirty="0"/>
              <a:t>	while (</a:t>
            </a:r>
            <a:r>
              <a:rPr lang="en-US" dirty="0" err="1"/>
              <a:t>l_next</a:t>
            </a:r>
            <a:r>
              <a:rPr lang="en-US" dirty="0"/>
              <a:t> &lt;= mid &amp;&amp; </a:t>
            </a:r>
            <a:r>
              <a:rPr lang="en-US" dirty="0" err="1"/>
              <a:t>r_next</a:t>
            </a:r>
            <a:r>
              <a:rPr lang="en-US" dirty="0"/>
              <a:t> &lt;= high){</a:t>
            </a:r>
          </a:p>
          <a:p>
            <a:pPr marL="0" indent="0">
              <a:buNone/>
            </a:pPr>
            <a:r>
              <a:rPr lang="en-US" dirty="0"/>
              <a:t>		if (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l_next</a:t>
            </a:r>
            <a:r>
              <a:rPr lang="en-US" dirty="0"/>
              <a:t>] &lt;=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r_next</a:t>
            </a:r>
            <a:r>
              <a:rPr lang="en-US" dirty="0"/>
              <a:t>]){</a:t>
            </a:r>
          </a:p>
          <a:p>
            <a:pPr marL="0" indent="0">
              <a:buNone/>
            </a:pPr>
            <a:r>
              <a:rPr lang="en-US" dirty="0"/>
              <a:t>			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l_next</a:t>
            </a:r>
            <a:r>
              <a:rPr lang="en-US" dirty="0"/>
              <a:t>++];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	else{</a:t>
            </a:r>
          </a:p>
          <a:p>
            <a:pPr marL="0" indent="0">
              <a:buNone/>
            </a:pPr>
            <a:r>
              <a:rPr lang="en-US" dirty="0"/>
              <a:t>			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r_next</a:t>
            </a:r>
            <a:r>
              <a:rPr lang="en-US" dirty="0"/>
              <a:t>++];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while (</a:t>
            </a:r>
            <a:r>
              <a:rPr lang="en-US" dirty="0" err="1"/>
              <a:t>l_next</a:t>
            </a:r>
            <a:r>
              <a:rPr lang="en-US" dirty="0"/>
              <a:t> &lt;= mid){ 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l_next</a:t>
            </a:r>
            <a:r>
              <a:rPr lang="en-US" dirty="0"/>
              <a:t>++]; }</a:t>
            </a:r>
          </a:p>
          <a:p>
            <a:pPr marL="0" indent="0">
              <a:buNone/>
            </a:pPr>
            <a:r>
              <a:rPr lang="en-US" dirty="0"/>
              <a:t>	while (</a:t>
            </a:r>
            <a:r>
              <a:rPr lang="en-US" dirty="0" err="1"/>
              <a:t>r_next</a:t>
            </a:r>
            <a:r>
              <a:rPr lang="en-US" dirty="0"/>
              <a:t> &lt;= high){  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r_next</a:t>
            </a:r>
            <a:r>
              <a:rPr lang="en-US" dirty="0"/>
              <a:t>++]; } </a:t>
            </a:r>
          </a:p>
          <a:p>
            <a:pPr marL="0" indent="0">
              <a:buNone/>
            </a:pPr>
            <a:r>
              <a:rPr lang="en-US" dirty="0"/>
              <a:t>	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&lt;=</a:t>
            </a:r>
            <a:r>
              <a:rPr lang="en-US" dirty="0" err="1"/>
              <a:t>merged.length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++){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i+low</a:t>
            </a:r>
            <a:r>
              <a:rPr lang="en-US" dirty="0"/>
              <a:t>] = merged[</a:t>
            </a:r>
            <a:r>
              <a:rPr lang="en-US" dirty="0" err="1"/>
              <a:t>i</a:t>
            </a:r>
            <a:r>
              <a:rPr lang="en-US" dirty="0"/>
              <a:t>];}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01487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10972800" cy="5105399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Identify time required to Divide and Combine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Identify all subproblems and their sizes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recurrence relation to express recursive running time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Solve and express running time asymptotically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>
                  <a:spcBef>
                    <a:spcPts val="648"/>
                  </a:spcBef>
                </a:pPr>
                <a:r>
                  <a:rPr lang="en-US" b="1" dirty="0">
                    <a:solidFill>
                      <a:srgbClr val="0070C0"/>
                    </a:solidFill>
                  </a:rPr>
                  <a:t>Divide</a:t>
                </a:r>
                <a:r>
                  <a:rPr lang="en-US" b="1" dirty="0"/>
                  <a:t>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comparisons </a:t>
                </a:r>
              </a:p>
              <a:p>
                <a:pPr>
                  <a:spcBef>
                    <a:spcPts val="648"/>
                  </a:spcBef>
                </a:pPr>
                <a:r>
                  <a:rPr lang="en-US" b="1" dirty="0">
                    <a:solidFill>
                      <a:srgbClr val="0070C0"/>
                    </a:solidFill>
                  </a:rPr>
                  <a:t>Conquer</a:t>
                </a:r>
                <a:r>
                  <a:rPr lang="en-US" b="1" dirty="0"/>
                  <a:t>: </a:t>
                </a:r>
                <a:r>
                  <a:rPr lang="en-US" dirty="0"/>
                  <a:t>recursively sort two lists of size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b="1" dirty="0"/>
              </a:p>
              <a:p>
                <a:pPr>
                  <a:spcBef>
                    <a:spcPts val="648"/>
                  </a:spcBef>
                </a:pPr>
                <a:r>
                  <a:rPr lang="en-US" b="1" dirty="0">
                    <a:solidFill>
                      <a:srgbClr val="0070C0"/>
                    </a:solidFill>
                  </a:rPr>
                  <a:t>Combine</a:t>
                </a:r>
                <a:r>
                  <a:rPr lang="en-US" b="1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comparisons</a:t>
                </a:r>
              </a:p>
              <a:p>
                <a:pPr>
                  <a:spcBef>
                    <a:spcPts val="648"/>
                  </a:spcBef>
                </a:pPr>
                <a:r>
                  <a:rPr lang="en-US" b="1" dirty="0"/>
                  <a:t>Recurrence: </a:t>
                </a:r>
                <a:endParaRPr lang="en-US" b="0" i="1" dirty="0">
                  <a:latin typeface="Cambria Math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	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10972800" cy="5105399"/>
              </a:xfrm>
              <a:blipFill>
                <a:blip r:embed="rId2"/>
                <a:stretch>
                  <a:fillRect l="-1000" t="-2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1EEF7-A61B-43A8-8DFB-C2332B28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6965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r>
                      <a:rPr lang="en-US" sz="2600" i="1" dirty="0">
                        <a:solidFill>
                          <a:schemeClr val="accent1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comparisons /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492443"/>
              </a:xfrm>
              <a:prstGeom prst="rect">
                <a:avLst/>
              </a:prstGeom>
              <a:blipFill>
                <a:blip r:embed="rId2"/>
                <a:stretch>
                  <a:fillRect t="-15000" b="-325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229600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6579" b="-157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154390" cy="72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r>
                        <a:rPr lang="en-US" sz="2400" i="1"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/>
                        </a:rPr>
                        <m:t> )+</m:t>
                      </m:r>
                      <m:r>
                        <a:rPr lang="en-US" sz="2400" i="1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154390" cy="722442"/>
              </a:xfrm>
              <a:prstGeom prst="rect">
                <a:avLst/>
              </a:prstGeom>
              <a:blipFill>
                <a:blip r:embed="rId5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7143432" y="5686778"/>
                <a:ext cx="3563091" cy="9723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𝑖</m:t>
                          </m:r>
                          <m:r>
                            <a:rPr lang="en-US" sz="20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e>
                      </m:nary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𝑛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432" y="5686778"/>
                <a:ext cx="3563091" cy="972317"/>
              </a:xfrm>
              <a:prstGeom prst="rect">
                <a:avLst/>
              </a:prstGeom>
              <a:blipFill>
                <a:blip r:embed="rId6"/>
                <a:stretch>
                  <a:fillRect t="-96104" b="-150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blipFill>
                <a:blip r:embed="rId1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blipFill>
                <a:blip r:embed="rId1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blipFill>
                <a:blip r:embed="rId1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blipFill>
                <a:blip r:embed="rId2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blipFill>
                <a:blip r:embed="rId2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blipFill>
                <a:blip r:embed="rId1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27463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94101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</p:spTree>
    <p:extLst>
      <p:ext uri="{BB962C8B-B14F-4D97-AF65-F5344CB8AC3E}">
        <p14:creationId xmlns:p14="http://schemas.microsoft.com/office/powerpoint/2010/main" val="9937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  <p:bldP spid="43" grpId="0"/>
      <p:bldP spid="44" grpId="0" animBg="1"/>
      <p:bldP spid="46" grpId="0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 animBg="1"/>
      <p:bldP spid="58" grpId="0" animBg="1"/>
      <p:bldP spid="59" grpId="0" animBg="1"/>
      <p:bldP spid="60" grpId="0"/>
      <p:bldP spid="61" grpId="0" animBg="1"/>
      <p:bldP spid="62" grpId="0" animBg="1"/>
      <p:bldP spid="63" grpId="0" animBg="1"/>
      <p:bldP spid="64" grpId="0"/>
      <p:bldP spid="66" grpId="0"/>
      <p:bldP spid="67" grpId="0"/>
      <p:bldP spid="68" grpId="0"/>
      <p:bldP spid="70" grpId="0"/>
      <p:bldP spid="71" grpId="0"/>
      <p:bldP spid="72" grpId="0"/>
      <p:bldP spid="74" grpId="0"/>
      <p:bldP spid="75" grpId="0"/>
      <p:bldP spid="77" grpId="0"/>
      <p:bldP spid="78" grpId="0"/>
      <p:bldP spid="80" grpId="0"/>
      <p:bldP spid="8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8172-18DF-BF9D-15EE-737B44C9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F1C77C-A95B-025D-AC30-30085921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Worst Case 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In-Place?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r>
                  <a:rPr lang="en-US" dirty="0"/>
                  <a:t>Adaptive?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r>
                  <a:rPr lang="en-US" dirty="0"/>
                  <a:t>Stable?</a:t>
                </a:r>
              </a:p>
              <a:p>
                <a:pPr lvl="1"/>
                <a:r>
                  <a:rPr lang="en-US" dirty="0"/>
                  <a:t>Yes! </a:t>
                </a:r>
              </a:p>
              <a:p>
                <a:pPr lvl="1"/>
                <a:r>
                  <a:rPr lang="en-US" dirty="0"/>
                  <a:t>As long as in a tie you always pick </a:t>
                </a:r>
                <a:r>
                  <a:rPr lang="en-US" dirty="0" err="1"/>
                  <a:t>l_next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F1C77C-A95B-025D-AC30-30085921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459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Like </a:t>
                </a:r>
                <a:r>
                  <a:rPr lang="en-US" b="0" dirty="0" err="1"/>
                  <a:t>Mergesort</a:t>
                </a:r>
                <a:r>
                  <a:rPr lang="en-US" b="0" dirty="0"/>
                  <a:t>:</a:t>
                </a:r>
              </a:p>
              <a:p>
                <a:pPr lvl="1"/>
                <a:r>
                  <a:rPr lang="en-US" dirty="0"/>
                  <a:t>Divide and conquer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run time (kind of…)</a:t>
                </a:r>
              </a:p>
              <a:p>
                <a:r>
                  <a:rPr lang="en-US" dirty="0"/>
                  <a:t>Unlike </a:t>
                </a:r>
                <a:r>
                  <a:rPr lang="en-US" dirty="0" err="1"/>
                  <a:t>Mergesort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Divide step is the “hard” part</a:t>
                </a:r>
              </a:p>
              <a:p>
                <a:pPr lvl="1"/>
                <a:r>
                  <a:rPr lang="en-US" i="1" dirty="0"/>
                  <a:t>Typically</a:t>
                </a:r>
                <a:r>
                  <a:rPr lang="en-US" dirty="0"/>
                  <a:t> faster than </a:t>
                </a:r>
                <a:r>
                  <a:rPr lang="en-US" dirty="0" err="1"/>
                  <a:t>Mergesort</a:t>
                </a:r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1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Idea: pick a </a:t>
                </a:r>
                <a:r>
                  <a:rPr lang="en-US" dirty="0">
                    <a:solidFill>
                      <a:srgbClr val="FF33CC"/>
                    </a:solidFill>
                  </a:rPr>
                  <a:t>pivot </a:t>
                </a:r>
                <a:r>
                  <a:rPr lang="en-US" dirty="0"/>
                  <a:t>element, recursively sort two </a:t>
                </a:r>
                <a:r>
                  <a:rPr lang="en-US" dirty="0" err="1"/>
                  <a:t>sublists</a:t>
                </a:r>
                <a:r>
                  <a:rPr lang="en-US" dirty="0"/>
                  <a:t> around that element</a:t>
                </a: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Divide: </a:t>
                </a:r>
                <a:r>
                  <a:rPr lang="en-US" dirty="0"/>
                  <a:t>select </a:t>
                </a:r>
                <a:r>
                  <a:rPr lang="en-US" dirty="0">
                    <a:solidFill>
                      <a:srgbClr val="FF33CC"/>
                    </a:solidFill>
                  </a:rPr>
                  <a:t>pivot </a:t>
                </a:r>
                <a:r>
                  <a:rPr lang="en-US" dirty="0"/>
                  <a:t>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rgbClr val="FF33CC"/>
                    </a:solidFill>
                  </a:rPr>
                  <a:t>Partition(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FF33CC"/>
                    </a:solidFill>
                  </a:rPr>
                  <a:t>)</a:t>
                </a: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Conquer: </a:t>
                </a:r>
                <a:r>
                  <a:rPr lang="en-US" dirty="0"/>
                  <a:t>recursively sort left and right </a:t>
                </a:r>
                <a:r>
                  <a:rPr lang="en-US" dirty="0" err="1"/>
                  <a:t>sublists</a:t>
                </a:r>
                <a:endParaRPr lang="en-US" dirty="0"/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Combine: </a:t>
                </a:r>
                <a:r>
                  <a:rPr lang="en-US" dirty="0"/>
                  <a:t>Nothing!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121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 (Divide step)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0" y="1970964"/>
                <a:ext cx="6019800" cy="685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Given: a list, </a:t>
                </a:r>
                <a:r>
                  <a:rPr lang="en-US" dirty="0">
                    <a:solidFill>
                      <a:srgbClr val="FF33CC"/>
                    </a:solidFill>
                  </a:rPr>
                  <a:t>a pivot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endParaRPr lang="en-US" dirty="0">
                  <a:solidFill>
                    <a:srgbClr val="FF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0" y="1970964"/>
                <a:ext cx="6019800" cy="685800"/>
              </a:xfrm>
              <a:blipFill>
                <a:blip r:embed="rId2"/>
                <a:stretch>
                  <a:fillRect l="-2526" t="-4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09800" y="3048000"/>
            <a:ext cx="533400" cy="533400"/>
          </a:xfrm>
          <a:prstGeom prst="rect">
            <a:avLst/>
          </a:prstGeom>
          <a:solidFill>
            <a:srgbClr val="FF3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7169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569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969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7938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11338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4738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8707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12107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5507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9476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/>
              <p:cNvSpPr txBox="1">
                <a:spLocks/>
              </p:cNvSpPr>
              <p:nvPr/>
            </p:nvSpPr>
            <p:spPr>
              <a:xfrm>
                <a:off x="1941394" y="4724400"/>
                <a:ext cx="7659806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Goal: All elements</a:t>
                </a:r>
                <a:r>
                  <a:rPr lang="en-US" dirty="0">
                    <a:solidFill>
                      <a:srgbClr val="FFCC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on left, all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on right</a:t>
                </a:r>
                <a:endParaRPr lang="en-US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394" y="4724400"/>
                <a:ext cx="7659806" cy="685800"/>
              </a:xfrm>
              <a:prstGeom prst="rect">
                <a:avLst/>
              </a:prstGeom>
              <a:blipFill>
                <a:blip r:embed="rId3"/>
                <a:stretch>
                  <a:fillRect l="-1821" t="-11111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ontent Placeholder 2"/>
          <p:cNvSpPr txBox="1">
            <a:spLocks/>
          </p:cNvSpPr>
          <p:nvPr/>
        </p:nvSpPr>
        <p:spPr>
          <a:xfrm>
            <a:off x="1905000" y="2362200"/>
            <a:ext cx="60198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Start: unordered list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09800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77169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569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969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7938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1338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4738" y="5410200"/>
            <a:ext cx="533400" cy="533400"/>
          </a:xfrm>
          <a:prstGeom prst="rect">
            <a:avLst/>
          </a:prstGeom>
          <a:solidFill>
            <a:srgbClr val="FF3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8707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12107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5507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9476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67802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293" y="0"/>
            <a:ext cx="10515600" cy="1325563"/>
          </a:xfrm>
        </p:spPr>
        <p:txBody>
          <a:bodyPr/>
          <a:lstStyle/>
          <a:p>
            <a:r>
              <a:rPr lang="en-US" dirty="0"/>
              <a:t>Partition, Procedure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47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2969524" y="2743200"/>
            <a:ext cx="6403076" cy="533400"/>
            <a:chOff x="1445524" y="2895600"/>
            <a:chExt cx="6403076" cy="533400"/>
          </a:xfrm>
        </p:grpSpPr>
        <p:sp>
          <p:nvSpPr>
            <p:cNvPr id="5" name="Rectangle 4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17" name="Down Arrow 16"/>
          <p:cNvSpPr/>
          <p:nvPr/>
        </p:nvSpPr>
        <p:spPr>
          <a:xfrm>
            <a:off x="3636274" y="2324100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8972550" y="2328649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2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2971513" y="3843551"/>
            <a:ext cx="6403076" cy="533400"/>
            <a:chOff x="1445524" y="2895600"/>
            <a:chExt cx="6403076" cy="533400"/>
          </a:xfrm>
        </p:grpSpPr>
        <p:sp>
          <p:nvSpPr>
            <p:cNvPr id="22" name="Rectangle 2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34" name="Down Arrow 33"/>
          <p:cNvSpPr/>
          <p:nvPr/>
        </p:nvSpPr>
        <p:spPr>
          <a:xfrm>
            <a:off x="4170243" y="3462551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8974539" y="34290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2990563" y="4910351"/>
            <a:ext cx="6403076" cy="533400"/>
            <a:chOff x="1445524" y="2895600"/>
            <a:chExt cx="6403076" cy="533400"/>
          </a:xfrm>
        </p:grpSpPr>
        <p:sp>
          <p:nvSpPr>
            <p:cNvPr id="37" name="Rectangle 36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49" name="Down Arrow 48"/>
          <p:cNvSpPr/>
          <p:nvPr/>
        </p:nvSpPr>
        <p:spPr>
          <a:xfrm>
            <a:off x="5237043" y="4544706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own Arrow 49"/>
          <p:cNvSpPr/>
          <p:nvPr/>
        </p:nvSpPr>
        <p:spPr>
          <a:xfrm>
            <a:off x="8993589" y="44958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/>
          <p:cNvGrpSpPr/>
          <p:nvPr/>
        </p:nvGrpSpPr>
        <p:grpSpPr>
          <a:xfrm>
            <a:off x="2969524" y="6073824"/>
            <a:ext cx="6403076" cy="533400"/>
            <a:chOff x="1445524" y="2895600"/>
            <a:chExt cx="6403076" cy="533400"/>
          </a:xfrm>
        </p:grpSpPr>
        <p:sp>
          <p:nvSpPr>
            <p:cNvPr id="52" name="Rectangle 5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64" name="Down Arrow 63"/>
          <p:cNvSpPr/>
          <p:nvPr/>
        </p:nvSpPr>
        <p:spPr>
          <a:xfrm>
            <a:off x="5216004" y="5708179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Down Arrow 64"/>
          <p:cNvSpPr/>
          <p:nvPr/>
        </p:nvSpPr>
        <p:spPr>
          <a:xfrm>
            <a:off x="8459620" y="5692824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7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49" grpId="0" animBg="1"/>
      <p:bldP spid="50" grpId="0" animBg="1"/>
      <p:bldP spid="64" grpId="0" animBg="1"/>
      <p:bldP spid="6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48</a:t>
            </a:fld>
            <a:endParaRPr lang="en-US"/>
          </a:p>
        </p:txBody>
      </p:sp>
      <p:grpSp>
        <p:nvGrpSpPr>
          <p:cNvPr id="51" name="Group 50"/>
          <p:cNvGrpSpPr/>
          <p:nvPr/>
        </p:nvGrpSpPr>
        <p:grpSpPr>
          <a:xfrm>
            <a:off x="2649938" y="2667000"/>
            <a:ext cx="6403076" cy="533400"/>
            <a:chOff x="1445524" y="2895600"/>
            <a:chExt cx="6403076" cy="533400"/>
          </a:xfrm>
        </p:grpSpPr>
        <p:sp>
          <p:nvSpPr>
            <p:cNvPr id="52" name="Rectangle 5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64" name="Down Arrow 63"/>
          <p:cNvSpPr/>
          <p:nvPr/>
        </p:nvSpPr>
        <p:spPr>
          <a:xfrm>
            <a:off x="4896418" y="2301355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Down Arrow 64"/>
          <p:cNvSpPr/>
          <p:nvPr/>
        </p:nvSpPr>
        <p:spPr>
          <a:xfrm>
            <a:off x="8140034" y="22860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/>
          <p:cNvGrpSpPr/>
          <p:nvPr/>
        </p:nvGrpSpPr>
        <p:grpSpPr>
          <a:xfrm>
            <a:off x="2649938" y="3758821"/>
            <a:ext cx="6403076" cy="533400"/>
            <a:chOff x="1445524" y="2895600"/>
            <a:chExt cx="6403076" cy="533400"/>
          </a:xfrm>
        </p:grpSpPr>
        <p:sp>
          <p:nvSpPr>
            <p:cNvPr id="67" name="Rectangle 66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79" name="Down Arrow 78"/>
          <p:cNvSpPr/>
          <p:nvPr/>
        </p:nvSpPr>
        <p:spPr>
          <a:xfrm>
            <a:off x="4896418" y="3393176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Down Arrow 79"/>
          <p:cNvSpPr/>
          <p:nvPr/>
        </p:nvSpPr>
        <p:spPr>
          <a:xfrm>
            <a:off x="7585595" y="3377821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/>
          <p:cNvGrpSpPr/>
          <p:nvPr/>
        </p:nvGrpSpPr>
        <p:grpSpPr>
          <a:xfrm>
            <a:off x="2649938" y="4825621"/>
            <a:ext cx="6403076" cy="533400"/>
            <a:chOff x="1445524" y="2895600"/>
            <a:chExt cx="6403076" cy="533400"/>
          </a:xfrm>
        </p:grpSpPr>
        <p:sp>
          <p:nvSpPr>
            <p:cNvPr id="82" name="Rectangle 8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94" name="Down Arrow 93"/>
          <p:cNvSpPr/>
          <p:nvPr/>
        </p:nvSpPr>
        <p:spPr>
          <a:xfrm>
            <a:off x="4896418" y="4459976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Down Arrow 94"/>
          <p:cNvSpPr/>
          <p:nvPr/>
        </p:nvSpPr>
        <p:spPr>
          <a:xfrm>
            <a:off x="7585595" y="4459976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/>
          <p:cNvGrpSpPr/>
          <p:nvPr/>
        </p:nvGrpSpPr>
        <p:grpSpPr>
          <a:xfrm>
            <a:off x="2649938" y="5867400"/>
            <a:ext cx="6403076" cy="533400"/>
            <a:chOff x="1445524" y="2895600"/>
            <a:chExt cx="6403076" cy="533400"/>
          </a:xfrm>
        </p:grpSpPr>
        <p:sp>
          <p:nvSpPr>
            <p:cNvPr id="97" name="Rectangle 96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09" name="Down Arrow 108"/>
          <p:cNvSpPr/>
          <p:nvPr/>
        </p:nvSpPr>
        <p:spPr>
          <a:xfrm>
            <a:off x="5451426" y="5485831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Down Arrow 109"/>
          <p:cNvSpPr/>
          <p:nvPr/>
        </p:nvSpPr>
        <p:spPr>
          <a:xfrm>
            <a:off x="7585595" y="5485831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1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2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4C0086E7-8C2F-FA6D-FBEB-411A8519EB2F}"/>
              </a:ext>
            </a:extLst>
          </p:cNvPr>
          <p:cNvSpPr txBox="1">
            <a:spLocks/>
          </p:cNvSpPr>
          <p:nvPr/>
        </p:nvSpPr>
        <p:spPr>
          <a:xfrm>
            <a:off x="379293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Partition, Procedure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85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94" grpId="0" animBg="1"/>
      <p:bldP spid="95" grpId="0" animBg="1"/>
      <p:bldP spid="109" grpId="0" animBg="1"/>
      <p:bldP spid="1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49</a:t>
            </a:fld>
            <a:endParaRPr lang="en-US"/>
          </a:p>
        </p:txBody>
      </p:sp>
      <p:grpSp>
        <p:nvGrpSpPr>
          <p:cNvPr id="164" name="Group 163"/>
          <p:cNvGrpSpPr/>
          <p:nvPr/>
        </p:nvGrpSpPr>
        <p:grpSpPr>
          <a:xfrm>
            <a:off x="2649938" y="2827930"/>
            <a:ext cx="6403076" cy="533400"/>
            <a:chOff x="1445524" y="2895600"/>
            <a:chExt cx="6403076" cy="533400"/>
          </a:xfrm>
        </p:grpSpPr>
        <p:sp>
          <p:nvSpPr>
            <p:cNvPr id="165" name="Rectangle 164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77" name="Down Arrow 176"/>
          <p:cNvSpPr/>
          <p:nvPr/>
        </p:nvSpPr>
        <p:spPr>
          <a:xfrm>
            <a:off x="6400227" y="2441812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Down Arrow 177"/>
          <p:cNvSpPr/>
          <p:nvPr/>
        </p:nvSpPr>
        <p:spPr>
          <a:xfrm>
            <a:off x="6526186" y="244693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Content Placeholder 2"/>
              <p:cNvSpPr txBox="1">
                <a:spLocks/>
              </p:cNvSpPr>
              <p:nvPr/>
            </p:nvSpPr>
            <p:spPr>
              <a:xfrm>
                <a:off x="2057400" y="3813412"/>
                <a:ext cx="8257182" cy="12300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Case 1: meet at element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FFC000"/>
                        </a:solidFill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𝑝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	</a:t>
                </a:r>
                <a:r>
                  <a:rPr lang="en-US" dirty="0"/>
                  <a:t>Swap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pointer position </a:t>
                </a:r>
                <a:r>
                  <a:rPr lang="en-US" dirty="0"/>
                  <a:t>(2 in this case)</a:t>
                </a:r>
              </a:p>
            </p:txBody>
          </p:sp>
        </mc:Choice>
        <mc:Fallback xmlns="">
          <p:sp>
            <p:nvSpPr>
              <p:cNvPr id="17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3813412"/>
                <a:ext cx="8257182" cy="1230004"/>
              </a:xfrm>
              <a:prstGeom prst="rect">
                <a:avLst/>
              </a:prstGeom>
              <a:blipFill>
                <a:blip r:embed="rId2"/>
                <a:stretch>
                  <a:fillRect l="-1536" t="-6186" b="-4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0" name="Group 179"/>
          <p:cNvGrpSpPr/>
          <p:nvPr/>
        </p:nvGrpSpPr>
        <p:grpSpPr>
          <a:xfrm>
            <a:off x="2639420" y="5334000"/>
            <a:ext cx="6403076" cy="533400"/>
            <a:chOff x="1445524" y="2895600"/>
            <a:chExt cx="6403076" cy="533400"/>
          </a:xfrm>
        </p:grpSpPr>
        <p:sp>
          <p:nvSpPr>
            <p:cNvPr id="181" name="Rectangle 180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93" name="Down Arrow 192"/>
          <p:cNvSpPr/>
          <p:nvPr/>
        </p:nvSpPr>
        <p:spPr>
          <a:xfrm>
            <a:off x="6416723" y="4947882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Down Arrow 193"/>
          <p:cNvSpPr/>
          <p:nvPr/>
        </p:nvSpPr>
        <p:spPr>
          <a:xfrm>
            <a:off x="6542682" y="49530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3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3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D196EAA-752A-A93B-2999-105C81B29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93" y="0"/>
            <a:ext cx="10515600" cy="1325563"/>
          </a:xfrm>
        </p:spPr>
        <p:txBody>
          <a:bodyPr/>
          <a:lstStyle/>
          <a:p>
            <a:r>
              <a:rPr lang="en-US" dirty="0"/>
              <a:t>Partition, Procedure</a:t>
            </a:r>
          </a:p>
        </p:txBody>
      </p:sp>
    </p:spTree>
    <p:extLst>
      <p:ext uri="{BB962C8B-B14F-4D97-AF65-F5344CB8AC3E}">
        <p14:creationId xmlns:p14="http://schemas.microsoft.com/office/powerpoint/2010/main" val="319611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/>
      <p:bldP spid="193" grpId="0" animBg="1"/>
      <p:bldP spid="19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50</a:t>
            </a:fld>
            <a:endParaRPr lang="en-US"/>
          </a:p>
        </p:txBody>
      </p:sp>
      <p:grpSp>
        <p:nvGrpSpPr>
          <p:cNvPr id="164" name="Group 163"/>
          <p:cNvGrpSpPr/>
          <p:nvPr/>
        </p:nvGrpSpPr>
        <p:grpSpPr>
          <a:xfrm>
            <a:off x="2649938" y="2824518"/>
            <a:ext cx="6403076" cy="533400"/>
            <a:chOff x="1445524" y="2895600"/>
            <a:chExt cx="6403076" cy="533400"/>
          </a:xfrm>
        </p:grpSpPr>
        <p:sp>
          <p:nvSpPr>
            <p:cNvPr id="165" name="Rectangle 164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77" name="Down Arrow 176"/>
          <p:cNvSpPr/>
          <p:nvPr/>
        </p:nvSpPr>
        <p:spPr>
          <a:xfrm>
            <a:off x="6926236" y="2438400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Down Arrow 177"/>
          <p:cNvSpPr/>
          <p:nvPr/>
        </p:nvSpPr>
        <p:spPr>
          <a:xfrm>
            <a:off x="7052195" y="2443518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Content Placeholder 2"/>
              <p:cNvSpPr txBox="1">
                <a:spLocks/>
              </p:cNvSpPr>
              <p:nvPr/>
            </p:nvSpPr>
            <p:spPr>
              <a:xfrm>
                <a:off x="2057400" y="3810000"/>
                <a:ext cx="8257182" cy="12300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Case 2: meet at element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	</a:t>
                </a:r>
                <a:r>
                  <a:rPr lang="en-US" dirty="0"/>
                  <a:t>Swap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value to the left </a:t>
                </a:r>
                <a:r>
                  <a:rPr lang="en-US" dirty="0"/>
                  <a:t>(2 in this case)</a:t>
                </a:r>
              </a:p>
            </p:txBody>
          </p:sp>
        </mc:Choice>
        <mc:Fallback xmlns="">
          <p:sp>
            <p:nvSpPr>
              <p:cNvPr id="17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3810000"/>
                <a:ext cx="8257182" cy="1230004"/>
              </a:xfrm>
              <a:prstGeom prst="rect">
                <a:avLst/>
              </a:prstGeom>
              <a:blipFill>
                <a:blip r:embed="rId2"/>
                <a:stretch>
                  <a:fillRect l="-1536" t="-6186" b="-3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0" name="Group 179"/>
          <p:cNvGrpSpPr/>
          <p:nvPr/>
        </p:nvGrpSpPr>
        <p:grpSpPr>
          <a:xfrm>
            <a:off x="2639420" y="5330588"/>
            <a:ext cx="6403076" cy="533400"/>
            <a:chOff x="1445524" y="2895600"/>
            <a:chExt cx="6403076" cy="533400"/>
          </a:xfrm>
        </p:grpSpPr>
        <p:sp>
          <p:nvSpPr>
            <p:cNvPr id="181" name="Rectangle 180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93" name="Down Arrow 192"/>
          <p:cNvSpPr/>
          <p:nvPr/>
        </p:nvSpPr>
        <p:spPr>
          <a:xfrm>
            <a:off x="6915718" y="4944470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Down Arrow 193"/>
          <p:cNvSpPr/>
          <p:nvPr/>
        </p:nvSpPr>
        <p:spPr>
          <a:xfrm>
            <a:off x="7041677" y="4949588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3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3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FDFDB077-B10F-EDCC-4F41-BD481BF3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93" y="0"/>
            <a:ext cx="10515600" cy="1325563"/>
          </a:xfrm>
        </p:spPr>
        <p:txBody>
          <a:bodyPr/>
          <a:lstStyle/>
          <a:p>
            <a:r>
              <a:rPr lang="en-US" dirty="0"/>
              <a:t>Partition, Procedure</a:t>
            </a:r>
          </a:p>
        </p:txBody>
      </p:sp>
    </p:spTree>
    <p:extLst>
      <p:ext uri="{BB962C8B-B14F-4D97-AF65-F5344CB8AC3E}">
        <p14:creationId xmlns:p14="http://schemas.microsoft.com/office/powerpoint/2010/main" val="396964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/>
      <p:bldP spid="193" grpId="0" animBg="1"/>
      <p:bldP spid="19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FF33CC"/>
                    </a:solidFill>
                  </a:rPr>
                  <a:t> </a:t>
                </a:r>
                <a:r>
                  <a:rPr lang="en-US" dirty="0"/>
                  <a:t>at beginning of list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Put a pointer (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) just after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and a pointer (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) at the end of the list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While </a:t>
                </a:r>
                <a:r>
                  <a:rPr lang="en-US" dirty="0">
                    <a:solidFill>
                      <a:srgbClr val="FFC000"/>
                    </a:solidFill>
                  </a:rPr>
                  <a:t>Begin </a:t>
                </a:r>
                <a:r>
                  <a:rPr lang="en-US" dirty="0"/>
                  <a:t>&lt; </a:t>
                </a:r>
                <a:r>
                  <a:rPr lang="en-US" dirty="0">
                    <a:solidFill>
                      <a:srgbClr val="0070C0"/>
                    </a:solidFill>
                  </a:rPr>
                  <a:t>End: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&lt;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pointers meet at element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FFC000"/>
                        </a:solidFill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: Swap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pointer position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Else If pointers meet at element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: </a:t>
                </a:r>
                <a:r>
                  <a:rPr lang="en-US" dirty="0"/>
                  <a:t>Swap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value to the left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153400" y="6015693"/>
            <a:ext cx="1673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Run time?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982200" y="6015693"/>
                <a:ext cx="10283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6015693"/>
                <a:ext cx="1028358" cy="523220"/>
              </a:xfrm>
              <a:prstGeom prst="rect">
                <a:avLst/>
              </a:prstGeom>
              <a:blipFill>
                <a:blip r:embed="rId3"/>
                <a:stretch>
                  <a:fillRect r="-243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49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Conquer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2514600" y="5229710"/>
            <a:ext cx="8229600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Recursively sort </a:t>
            </a:r>
            <a:r>
              <a:rPr lang="en-US" dirty="0">
                <a:solidFill>
                  <a:srgbClr val="FFC000"/>
                </a:solidFill>
              </a:rPr>
              <a:t>Left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Right</a:t>
            </a:r>
            <a:r>
              <a:rPr lang="en-US" dirty="0"/>
              <a:t> </a:t>
            </a:r>
            <a:r>
              <a:rPr lang="en-US" dirty="0" err="1"/>
              <a:t>sublists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04910" y="14478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8" name="Right Brace 17"/>
          <p:cNvSpPr/>
          <p:nvPr/>
        </p:nvSpPr>
        <p:spPr>
          <a:xfrm rot="5400000">
            <a:off x="4246480" y="339634"/>
            <a:ext cx="451798" cy="3734939"/>
          </a:xfrm>
          <a:prstGeom prst="rightBrac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76618" y="2433000"/>
                <a:ext cx="26434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All elements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/>
                      </a:rPr>
                      <m:t>&lt;</m:t>
                    </m:r>
                    <m:r>
                      <a:rPr lang="en-US" sz="2800" i="1" dirty="0">
                        <a:latin typeface="Cambria Math"/>
                      </a:rPr>
                      <m:t>𝑝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618" y="2433000"/>
                <a:ext cx="2643481" cy="523220"/>
              </a:xfrm>
              <a:prstGeom prst="rect">
                <a:avLst/>
              </a:prstGeom>
              <a:blipFill>
                <a:blip r:embed="rId2"/>
                <a:stretch>
                  <a:fillRect l="-4306" t="-14634" b="-29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/>
          <p:cNvSpPr/>
          <p:nvPr/>
        </p:nvSpPr>
        <p:spPr>
          <a:xfrm rot="5400000">
            <a:off x="7720885" y="1145894"/>
            <a:ext cx="451797" cy="2122410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885579" y="2354868"/>
                <a:ext cx="26434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All elements 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/>
                      </a:rPr>
                      <m:t>&gt;</m:t>
                    </m:r>
                    <m:r>
                      <a:rPr lang="en-US" sz="2800" i="1" dirty="0">
                        <a:latin typeface="Cambria Math"/>
                      </a:rPr>
                      <m:t>𝑝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579" y="2354868"/>
                <a:ext cx="2643481" cy="523220"/>
              </a:xfrm>
              <a:prstGeom prst="rect">
                <a:avLst/>
              </a:prstGeom>
              <a:blipFill>
                <a:blip r:embed="rId3"/>
                <a:stretch>
                  <a:fillRect l="-4306" t="-9302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4742915" y="3264090"/>
            <a:ext cx="3818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Exactly where it belongs!</a:t>
            </a:r>
          </a:p>
        </p:txBody>
      </p:sp>
      <p:cxnSp>
        <p:nvCxnSpPr>
          <p:cNvPr id="24" name="Straight Arrow Connector 23"/>
          <p:cNvCxnSpPr>
            <a:stCxn id="22" idx="0"/>
            <a:endCxn id="13" idx="2"/>
          </p:cNvCxnSpPr>
          <p:nvPr/>
        </p:nvCxnSpPr>
        <p:spPr>
          <a:xfrm flipH="1" flipV="1">
            <a:off x="6606548" y="1981200"/>
            <a:ext cx="45704" cy="1282890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8212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Run Time (Best)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43434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Then we divide in half each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19228" y="24384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619228" y="3581400"/>
            <a:ext cx="6403076" cy="533400"/>
            <a:chOff x="1445524" y="2895600"/>
            <a:chExt cx="6403076" cy="533400"/>
          </a:xfrm>
        </p:grpSpPr>
        <p:sp>
          <p:nvSpPr>
            <p:cNvPr id="19" name="Rectangle 18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99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=2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 b="-3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/>
          <p:cNvSpPr txBox="1">
            <a:spLocks/>
          </p:cNvSpPr>
          <p:nvPr/>
        </p:nvSpPr>
        <p:spPr>
          <a:xfrm>
            <a:off x="2133600" y="1752601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the </a:t>
            </a:r>
            <a:r>
              <a:rPr lang="en-US" dirty="0">
                <a:solidFill>
                  <a:srgbClr val="FF33CC"/>
                </a:solidFill>
              </a:rPr>
              <a:t>pivot</a:t>
            </a:r>
            <a:r>
              <a:rPr lang="en-US" dirty="0"/>
              <a:t> is always the median: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func>
                        <m:func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func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659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Run Time (Worst)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9366" y="43053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Then we shorten by 1 each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19228" y="24384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619228" y="3581400"/>
            <a:ext cx="6403076" cy="533400"/>
            <a:chOff x="1445524" y="2895600"/>
            <a:chExt cx="6403076" cy="533400"/>
          </a:xfrm>
        </p:grpSpPr>
        <p:sp>
          <p:nvSpPr>
            <p:cNvPr id="19" name="Rectangle 18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99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/>
          <p:cNvSpPr txBox="1">
            <a:spLocks/>
          </p:cNvSpPr>
          <p:nvPr/>
        </p:nvSpPr>
        <p:spPr>
          <a:xfrm>
            <a:off x="2133600" y="1752601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the pivot is always at the extreme: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614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Run Time (Worst)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129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129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4419602" y="5105400"/>
                <a:ext cx="3429001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2" y="5105400"/>
                <a:ext cx="3429001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41"/>
              <p:cNvSpPr txBox="1">
                <a:spLocks noChangeArrowheads="1"/>
              </p:cNvSpPr>
              <p:nvPr/>
            </p:nvSpPr>
            <p:spPr bwMode="auto">
              <a:xfrm>
                <a:off x="1913274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274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41"/>
              <p:cNvSpPr txBox="1">
                <a:spLocks noChangeArrowheads="1"/>
              </p:cNvSpPr>
              <p:nvPr/>
            </p:nvSpPr>
            <p:spPr bwMode="auto">
              <a:xfrm>
                <a:off x="1913274" y="3006229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𝑛</m:t>
                      </m:r>
                      <m:r>
                        <a:rPr lang="en-US" sz="2800" i="1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274" y="3006229"/>
                <a:ext cx="133350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/>
          <p:cNvSpPr/>
          <p:nvPr/>
        </p:nvSpPr>
        <p:spPr>
          <a:xfrm rot="16200000">
            <a:off x="2208366" y="4104544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2217572" y="4863723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7572" y="4863723"/>
                <a:ext cx="71663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/>
          <p:cNvCxnSpPr>
            <a:stCxn id="35" idx="2"/>
            <a:endCxn id="37" idx="0"/>
          </p:cNvCxnSpPr>
          <p:nvPr/>
        </p:nvCxnSpPr>
        <p:spPr>
          <a:xfrm>
            <a:off x="2580024" y="2590803"/>
            <a:ext cx="0" cy="41542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Box 41"/>
              <p:cNvSpPr txBox="1">
                <a:spLocks noChangeArrowheads="1"/>
              </p:cNvSpPr>
              <p:nvPr/>
            </p:nvSpPr>
            <p:spPr bwMode="auto">
              <a:xfrm>
                <a:off x="1905000" y="3888355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𝑛</m:t>
                      </m:r>
                      <m:r>
                        <a:rPr lang="en-US" sz="2800" i="1"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3888355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/>
          <p:cNvCxnSpPr>
            <a:stCxn id="37" idx="2"/>
            <a:endCxn id="68" idx="0"/>
          </p:cNvCxnSpPr>
          <p:nvPr/>
        </p:nvCxnSpPr>
        <p:spPr>
          <a:xfrm flipH="1">
            <a:off x="2571750" y="3463429"/>
            <a:ext cx="8274" cy="42492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3201144" y="198120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144" y="1981200"/>
                <a:ext cx="3745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3238500" y="2898184"/>
                <a:ext cx="778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2898184"/>
                <a:ext cx="77854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3238500" y="3747623"/>
                <a:ext cx="778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3747623"/>
                <a:ext cx="77854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3180176" y="4722991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176" y="4722991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ight Brace 75"/>
          <p:cNvSpPr/>
          <p:nvPr/>
        </p:nvSpPr>
        <p:spPr>
          <a:xfrm>
            <a:off x="3810000" y="1981200"/>
            <a:ext cx="533400" cy="35052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ontent Placeholder 2"/>
              <p:cNvSpPr txBox="1">
                <a:spLocks/>
              </p:cNvSpPr>
              <p:nvPr/>
            </p:nvSpPr>
            <p:spPr>
              <a:xfrm>
                <a:off x="4326343" y="3390900"/>
                <a:ext cx="5373617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=1+2+3+…+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343" y="3390900"/>
                <a:ext cx="5373617" cy="6858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ontent Placeholder 2"/>
              <p:cNvSpPr txBox="1">
                <a:spLocks/>
              </p:cNvSpPr>
              <p:nvPr/>
            </p:nvSpPr>
            <p:spPr>
              <a:xfrm>
                <a:off x="3617986" y="4002655"/>
                <a:ext cx="5373617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986" y="4002655"/>
                <a:ext cx="5373617" cy="685800"/>
              </a:xfrm>
              <a:prstGeom prst="rect">
                <a:avLst/>
              </a:prstGeom>
              <a:blipFill>
                <a:blip r:embed="rId13"/>
                <a:stretch>
                  <a:fillRect b="-4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1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 animBg="1"/>
      <p:bldP spid="37" grpId="0" animBg="1"/>
      <p:bldP spid="43" grpId="0"/>
      <p:bldP spid="48" grpId="0" animBg="1"/>
      <p:bldP spid="68" grpId="0" animBg="1"/>
      <p:bldP spid="72" grpId="0"/>
      <p:bldP spid="73" grpId="0"/>
      <p:bldP spid="74" grpId="0"/>
      <p:bldP spid="75" grpId="0"/>
      <p:bldP spid="76" grpId="0" animBg="1"/>
      <p:bldP spid="77" grpId="0"/>
      <p:bldP spid="7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on a (nearly)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5676" y="4260851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 we shorten by 1 each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56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19228" y="24384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619228" y="3581400"/>
            <a:ext cx="6403076" cy="533400"/>
            <a:chOff x="1445524" y="2895600"/>
            <a:chExt cx="6403076" cy="533400"/>
          </a:xfrm>
        </p:grpSpPr>
        <p:sp>
          <p:nvSpPr>
            <p:cNvPr id="19" name="Rectangle 18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99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/>
          <p:cNvSpPr txBox="1">
            <a:spLocks/>
          </p:cNvSpPr>
          <p:nvPr/>
        </p:nvSpPr>
        <p:spPr>
          <a:xfrm>
            <a:off x="2133600" y="1752601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First element always yields unbalanced pivot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8238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makes a good Pivot?</a:t>
            </a:r>
          </a:p>
          <a:p>
            <a:pPr lvl="1"/>
            <a:r>
              <a:rPr lang="en-US" dirty="0"/>
              <a:t>Roughly even split between left and right</a:t>
            </a:r>
          </a:p>
          <a:p>
            <a:pPr lvl="1"/>
            <a:r>
              <a:rPr lang="en-US" dirty="0"/>
              <a:t>Ideally: median</a:t>
            </a:r>
          </a:p>
          <a:p>
            <a:r>
              <a:rPr lang="en-US" dirty="0"/>
              <a:t>There are ways to find the median in linear time, but it’s complicated and slow and you’re better off using </a:t>
            </a:r>
            <a:r>
              <a:rPr lang="en-US" dirty="0" err="1"/>
              <a:t>mergesort</a:t>
            </a:r>
            <a:endParaRPr lang="en-US" dirty="0"/>
          </a:p>
          <a:p>
            <a:r>
              <a:rPr lang="en-US" dirty="0"/>
              <a:t>In Practice:</a:t>
            </a:r>
          </a:p>
          <a:p>
            <a:pPr lvl="1"/>
            <a:r>
              <a:rPr lang="en-US" dirty="0"/>
              <a:t>Pick a random value as a pivot</a:t>
            </a:r>
          </a:p>
          <a:p>
            <a:pPr lvl="1"/>
            <a:r>
              <a:rPr lang="en-US" dirty="0"/>
              <a:t>Pick the middle of 3 random values as the pivot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665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8172-18DF-BF9D-15EE-737B44C9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Quick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F1C77C-A95B-025D-AC30-30085921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Worst Case 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average! And typically faster than </a:t>
                </a:r>
                <a:r>
                  <a:rPr lang="en-US" dirty="0" err="1"/>
                  <a:t>mergesort</a:t>
                </a:r>
                <a:r>
                  <a:rPr lang="en-US" dirty="0"/>
                  <a:t>!</a:t>
                </a:r>
              </a:p>
              <a:p>
                <a:r>
                  <a:rPr lang="en-US" dirty="0"/>
                  <a:t>In-Place?</a:t>
                </a:r>
              </a:p>
              <a:p>
                <a:pPr lvl="1"/>
                <a:r>
                  <a:rPr lang="en-US" dirty="0"/>
                  <a:t>….Debatable</a:t>
                </a:r>
              </a:p>
              <a:p>
                <a:r>
                  <a:rPr lang="en-US" dirty="0"/>
                  <a:t>Adaptive?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r>
                  <a:rPr lang="en-US" dirty="0"/>
                  <a:t>Stable?</a:t>
                </a:r>
              </a:p>
              <a:p>
                <a:pPr lvl="1"/>
                <a:r>
                  <a:rPr lang="en-US" dirty="0"/>
                  <a:t>No!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F1C77C-A95B-025D-AC30-30085921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57509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2805-7B6A-7120-068C-6B36E1969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81986-260B-F5AF-0B69-24B48EC9DC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Recall our definition of the sorting problem:</a:t>
                </a:r>
              </a:p>
              <a:p>
                <a:pPr lvl="1"/>
                <a:r>
                  <a:rPr lang="en-US" dirty="0"/>
                  <a:t>Input:</a:t>
                </a:r>
              </a:p>
              <a:p>
                <a:pPr lvl="2"/>
                <a:r>
                  <a:rPr lang="en-US" dirty="0"/>
                  <a:t>An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of items</a:t>
                </a:r>
              </a:p>
              <a:p>
                <a:pPr lvl="2"/>
                <a:r>
                  <a:rPr lang="en-US" dirty="0"/>
                  <a:t>A comparison function for these items</a:t>
                </a:r>
              </a:p>
              <a:p>
                <a:pPr lvl="3"/>
                <a:r>
                  <a:rPr lang="en-US" dirty="0"/>
                  <a:t>Given two items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we can determine whether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</a:t>
                </a:r>
              </a:p>
              <a:p>
                <a:pPr lvl="2"/>
                <a:r>
                  <a:rPr lang="en-US" dirty="0"/>
                  <a:t>A permutation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Under this definition, it is impossible to write an algorithm faster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asymptotically.</a:t>
                </a:r>
              </a:p>
              <a:p>
                <a:r>
                  <a:rPr lang="en-US" dirty="0"/>
                  <a:t>Observation:</a:t>
                </a:r>
              </a:p>
              <a:p>
                <a:pPr lvl="1"/>
                <a:r>
                  <a:rPr lang="en-US" dirty="0"/>
                  <a:t>Sometimes there might be ways to determine the position of values without comparisons!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81986-260B-F5AF-0B69-24B48EC9D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565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7405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33201</TotalTime>
  <Words>4451</Words>
  <Application>Microsoft Office PowerPoint</Application>
  <PresentationFormat>Widescreen</PresentationFormat>
  <Paragraphs>1436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Consolas</vt:lpstr>
      <vt:lpstr>Calibri Light</vt:lpstr>
      <vt:lpstr>Calibri</vt:lpstr>
      <vt:lpstr>Cambria Math</vt:lpstr>
      <vt:lpstr>Aptos</vt:lpstr>
      <vt:lpstr>Symbol</vt:lpstr>
      <vt:lpstr>Arial</vt:lpstr>
      <vt:lpstr>Office Theme</vt:lpstr>
      <vt:lpstr>CSE 332 Winter 2026 Lecture 12: Sorting</vt:lpstr>
      <vt:lpstr>Linear Probing: Delete</vt:lpstr>
      <vt:lpstr>Linear Probing + Tombstone: Find</vt:lpstr>
      <vt:lpstr>Linear Probing + Tombstone: Insert</vt:lpstr>
      <vt:lpstr>Downsides of Linear Probing</vt:lpstr>
      <vt:lpstr>Quadratic Probing: Insert Procedure</vt:lpstr>
      <vt:lpstr>Quadratic Probing: Example</vt:lpstr>
      <vt:lpstr>Using Quadratic Probing</vt:lpstr>
      <vt:lpstr>Double Hashing: Insert Procedure</vt:lpstr>
      <vt:lpstr>Sorting</vt:lpstr>
      <vt:lpstr>More Formal Definition</vt:lpstr>
      <vt:lpstr>Sorting “Landscape”</vt:lpstr>
      <vt:lpstr>Insertion Sort</vt:lpstr>
      <vt:lpstr>Insertion Sort</vt:lpstr>
      <vt:lpstr>Insertion Sort</vt:lpstr>
      <vt:lpstr>Aside: Bubble Sort – we won’t cover it</vt:lpstr>
      <vt:lpstr>Heap Sort</vt:lpstr>
      <vt:lpstr>Heap Sort</vt:lpstr>
      <vt:lpstr>Heap Sort</vt:lpstr>
      <vt:lpstr>Heap Sort</vt:lpstr>
      <vt:lpstr>Heap Sort</vt:lpstr>
      <vt:lpstr>Heap Sort</vt:lpstr>
      <vt:lpstr>“In Place” Sorting Algorithm</vt:lpstr>
      <vt:lpstr>In Place Heap Sort</vt:lpstr>
      <vt:lpstr>Heap Sort</vt:lpstr>
      <vt:lpstr>Heap Sort</vt:lpstr>
      <vt:lpstr>Heap Sort</vt:lpstr>
      <vt:lpstr>Heap Sort</vt:lpstr>
      <vt:lpstr>Heap Sort</vt:lpstr>
      <vt:lpstr>Heap Sort</vt:lpstr>
      <vt:lpstr>In Place Heap Sort</vt:lpstr>
      <vt:lpstr>Floyd’s buildHeap method</vt:lpstr>
      <vt:lpstr>Divide And Conquer Sorting</vt:lpstr>
      <vt:lpstr>Divide and Conquer</vt:lpstr>
      <vt:lpstr>Divide and Conquer Template Pseudocode</vt:lpstr>
      <vt:lpstr>Merge Sort</vt:lpstr>
      <vt:lpstr>Merge Sort In Action!</vt:lpstr>
      <vt:lpstr>Merge (the combine part)</vt:lpstr>
      <vt:lpstr>Merge Sort Pseudocode</vt:lpstr>
      <vt:lpstr>Merge Pseudocode</vt:lpstr>
      <vt:lpstr>Analyzing Merge Sort</vt:lpstr>
      <vt:lpstr>PowerPoint Presentation</vt:lpstr>
      <vt:lpstr>Properties of Merge Sort</vt:lpstr>
      <vt:lpstr>Quicksort</vt:lpstr>
      <vt:lpstr>Quicksort</vt:lpstr>
      <vt:lpstr>Partition (Divide step)</vt:lpstr>
      <vt:lpstr>Partition, Procedure</vt:lpstr>
      <vt:lpstr>PowerPoint Presentation</vt:lpstr>
      <vt:lpstr>Partition, Procedure</vt:lpstr>
      <vt:lpstr>Partition, Procedure</vt:lpstr>
      <vt:lpstr>Partition Summary</vt:lpstr>
      <vt:lpstr>Conquer</vt:lpstr>
      <vt:lpstr>Quicksort Run Time (Best)</vt:lpstr>
      <vt:lpstr>Quicksort Run Time (Worst)</vt:lpstr>
      <vt:lpstr>Quicksort Run Time (Worst)</vt:lpstr>
      <vt:lpstr>Quicksort on a (nearly) Sorted List</vt:lpstr>
      <vt:lpstr>Good Pivot</vt:lpstr>
      <vt:lpstr>Properties of Quick Sort</vt:lpstr>
      <vt:lpstr>Improving Running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127</cp:revision>
  <dcterms:created xsi:type="dcterms:W3CDTF">2023-09-26T20:08:20Z</dcterms:created>
  <dcterms:modified xsi:type="dcterms:W3CDTF">2026-02-02T19:28:41Z</dcterms:modified>
</cp:coreProperties>
</file>