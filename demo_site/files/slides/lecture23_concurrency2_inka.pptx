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64" r:id="rId3"/>
    <p:sldId id="260" r:id="rId4"/>
    <p:sldId id="291" r:id="rId5"/>
    <p:sldId id="292" r:id="rId6"/>
    <p:sldId id="293" r:id="rId7"/>
    <p:sldId id="336" r:id="rId8"/>
    <p:sldId id="294" r:id="rId9"/>
    <p:sldId id="295" r:id="rId10"/>
    <p:sldId id="296" r:id="rId11"/>
    <p:sldId id="322" r:id="rId12"/>
    <p:sldId id="298" r:id="rId13"/>
    <p:sldId id="300" r:id="rId14"/>
    <p:sldId id="301" r:id="rId15"/>
    <p:sldId id="314" r:id="rId16"/>
    <p:sldId id="337" r:id="rId17"/>
    <p:sldId id="315" r:id="rId18"/>
    <p:sldId id="316" r:id="rId19"/>
    <p:sldId id="317" r:id="rId20"/>
    <p:sldId id="318" r:id="rId21"/>
    <p:sldId id="319" r:id="rId22"/>
    <p:sldId id="320" r:id="rId23"/>
    <p:sldId id="321" r:id="rId24"/>
    <p:sldId id="302" r:id="rId25"/>
    <p:sldId id="303" r:id="rId26"/>
    <p:sldId id="304" r:id="rId27"/>
    <p:sldId id="305" r:id="rId28"/>
    <p:sldId id="306" r:id="rId29"/>
    <p:sldId id="307" r:id="rId30"/>
    <p:sldId id="308" r:id="rId31"/>
    <p:sldId id="309" r:id="rId32"/>
    <p:sldId id="311" r:id="rId33"/>
    <p:sldId id="310" r:id="rId34"/>
    <p:sldId id="312" r:id="rId35"/>
    <p:sldId id="31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p:scale>
          <a:sx n="80" d="100"/>
          <a:sy n="80" d="100"/>
        </p:scale>
        <p:origin x="136" y="-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19:35:21.968"/>
    </inkml:context>
    <inkml:brush xml:id="br0">
      <inkml:brushProperty name="width" value="0.05292" units="cm"/>
      <inkml:brushProperty name="height" value="0.05292" units="cm"/>
      <inkml:brushProperty name="color" value="#FF0000"/>
    </inkml:brush>
  </inkml:definitions>
  <inkml:trace contextRef="#ctx0" brushRef="#br0">1485 1735 0,'0'0'0,"0"-9"0,9-25 31,8-8-31,0 8 16,-17 17-1,8 0 1,1 0-16,-1 17 16,9 0-16,26 17 15,17 8 1,0 26-16,-9 9 16,-9 8-1,-7 8-15,-10 1 16,1-9-16,-9-17 15,-17 0 1,8-8 0,-8-1-16,0-16 15,0-1-15,0 1 16,0-18 0,0 1-16,-8-9 15,8 0 1,-26 0-16,9 0 15</inkml:trace>
  <inkml:trace contextRef="#ctx0" brushRef="#br0" timeOffset="366.31">1750 2313 0,'0'0'0,"0"9"0,17 16 15,25 26 1,-16 9-16,8-1 31,-8-8-31,8-8 16,-17-18-1,-8-8 1,-1-8-16,1-1 16,-1 1-16,-8-9 0,17-9 15,9-25 1,59-51 0,43-76-1,-8-43-15,-18 17 16,35-77-1</inkml:trace>
  <inkml:trace contextRef="#ctx0" brushRef="#br0" timeOffset="175674.12">666 11736 0,'0'0'0,"0"0"0,0 0 0,0-8 0,0 8 0,0-9 15,0 9-15,0 0 16,0 0 0,0 0-16,0 0 15,25 0 1,9 0-16,9 0 15,34 9 1,8-1 0,-8 9-16,8-8 15,-25 8 1,8 0-16,9 0 16,9 0-1,-10 8-15,1 1 16,-17-1-1,-9-16-15,-34-1 16,-8 1 0,8-9-16</inkml:trace>
  <inkml:trace contextRef="#ctx0" brushRef="#br0" timeOffset="175953.07">1647 11583 0,'0'0'0,"0"0"0,9 0 16,25 17-16,43 0 16,8 0-16,18 0 15,-10 9-15,-24-9 31,-18 0-31,-8 0 16,-18-9 0,-8 1-16,-17 8 15,-34 34-15,-77 34 16,-68 0 0,-103 42-1</inkml:trace>
  <inkml:trace contextRef="#ctx0" brushRef="#br0" timeOffset="197294.29">905 14670 0,'0'0'0,"0"0"0,0 0 16,0 0-16,0-8 16,0-9-1,8-9-15,43-25 16,35-17 0,42-8-1,43-9-15,-9 25 16,-17 9-1,-26 17-15,-8 0 16,-25-9-16,-10 9 16,-33 9-1,-26 16-15</inkml:trace>
  <inkml:trace contextRef="#ctx0" brushRef="#br0" timeOffset="197598.58">1545 13930 0,'0'0'0,"0"0"0,25-8 16,10-1-16,7 9 16,1 0-1,-17 0 1,-1 0-1,1 0-15,16 9 16,-16 8 0,25 25-16,-25 18 15,-9 8 1,-17 34-16,-26 9 0,-8-9 16,17-60-1</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19:51:57.938"/>
    </inkml:context>
    <inkml:brush xml:id="br0">
      <inkml:brushProperty name="width" value="0.05292" units="cm"/>
      <inkml:brushProperty name="height" value="0.05292" units="cm"/>
      <inkml:brushProperty name="color" value="#FF0000"/>
    </inkml:brush>
  </inkml:definitions>
  <inkml:trace contextRef="#ctx0" brushRef="#br0">9994 10971 0,'0'0'0,"0"0"0,0 8 0,0 18 16,9 16-1,-1 26-15,-16 26 16,-1 16-1,1-25-15,-1-16 16,9-10 0,0-16-16,0-18 15,0 1-15,0-1 16,0-16 0,0-1-16,9 1 31,8 8-31,26 0 0,16 0 15,61 0 1,33 0 0,-24-26-1,41 9-15,9-8 16,-25-1-16,-9 1 16,26 8-16,-26 0 15,-43 0 1,-16-9-1,8 1 1,8 8-16,-8-9 16,-34 1-1,-26-1-15,-9 1 16,1-18 0,-9 1-16,-8-26 0,-1-9 31,-8 26-31</inkml:trace>
  <inkml:trace contextRef="#ctx0" brushRef="#br0" timeOffset="1873.92">12657 16771 0,'0'0'0,"0"0"0,-8 0 16,-9 0-1,-9 8 1,-8-8-16,0 0 16,0 0-1,17 0-15,0 0 0,-1 0 32,10 0-17,-1-8-15,9-1 0,0-16 16,9-26-1,17-17 1,25-26-16,9 1 16,-1 25-16,-8 8 15,-8 9-15,0 17 16,-18 17 15,1 0-31,-17 17 16,-1 0-1,1 8-15,-1 10 16,9-1 0,0 8-16,9 9 15,34 0 1,25 0-16,9-8 16,8-9-1,1-9-15,25 1 16,0-1-16,-34 9 15,0-8 1,-18-1 0,1 9-16,17 0 15,-17-8-15,-26-1 16,-8-8 0,-9 0-16,0 0 15,0 0 1,-8 0-1,-1 0-15,-16 0 16,-1 0 0,1 0-16,0 0 15,-9 0 1,-9 9-16,-8 42 16,-9 42-16,-8 35 15,17-9 1,17-68-1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19:45:47.215"/>
    </inkml:context>
    <inkml:brush xml:id="br0">
      <inkml:brushProperty name="width" value="0.05292" units="cm"/>
      <inkml:brushProperty name="height" value="0.05292" units="cm"/>
      <inkml:brushProperty name="color" value="#FF0000"/>
    </inkml:brush>
  </inkml:definitions>
  <inkml:trace contextRef="#ctx0" brushRef="#br0">2825 13692 0,'0'0'0,"0"-8"16,43-18-16,42-42 15,52-34 1,-9 0-16,8-26 16,18 9-1,-9 17-15,17 9 16,-17 8 0,-8 8-1,-35 26-15,-34 17 16,-25 0-16,-17-8 15,-18 25 1</inkml:trace>
  <inkml:trace contextRef="#ctx0" brushRef="#br0" timeOffset="282.02">3790 12799 0,'0'0'0,"8"-8"0,52-9 15,34-26 1,17 1-16,0-1 16,-9 26-1,0 0-15,-8 17 16,-25 0 0,-27 17-16,-16 9 15,-35 76 1,-93 119-16,-43 34 15,-34 51 1</inkml:trace>
  <inkml:trace contextRef="#ctx0" brushRef="#br0" timeOffset="9646.19">10763 12986 0,'0'0'0,"0"0"16,0 0-16,8 0 15,1 0 1,-9 0-16,8 26 16,1 50-1,-26 52-15,-9 0 32,0-26-32,9-17 15,0-17-15,9-34 16,8-9-16,0-16 15,25-1 1,35-16-16,43-26 16,16-9-1,26-16 1,9-1-16,-9 18 16,0 8-16,0 17 15,9 17 1,-9 17-1,-9 0-15,1 8 16,-1 9 0,-16-8-16,-18-1 15,-16-8-15,-18-8 16,-8-1 0,-18 1-1,-16-9-15,0-9 16,-18-8-1,1-34-15,-26-59 16,-26-180-16</inkml:trace>
  <inkml:trace contextRef="#ctx0" brushRef="#br0" timeOffset="10798.12">7434 14560 0,'0'0'0,"0"0"0,0 0 0,0 17 15,8 8 1,1 9 0,0 0-1,-1-8-15,1-1 16,-1 1-16,1-1 15,8 1 1,8-9 0,27-9-16,24-8 15,18-8 1,17-18 0,26 1-16,25-1 15,0 9-15,9 0 16,34 0-16,-9 17 15,0 0-15,1 9 32,-44 16-17,-25 9-15,-17 0 0,-25 9 32,-35-9-32,-17-9 15,-9-16 1,-16-1-16,0 1 0,-1-1 15,-8-33-15,0-52 16,-8-84 0,-10-77-16,10-111 31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19:47:06.610"/>
    </inkml:context>
    <inkml:brush xml:id="br0">
      <inkml:brushProperty name="width" value="0.05292" units="cm"/>
      <inkml:brushProperty name="height" value="0.05292" units="cm"/>
      <inkml:brushProperty name="color" value="#FF0000"/>
    </inkml:brush>
  </inkml:definitions>
  <inkml:trace contextRef="#ctx0" brushRef="#br0">8791 7178 0,'0'0'0,"0"0"0,0 0 16,26 0-16,33 8 16,27 1-1,33-9 1,9-9-16,26-8 15,42 0-15,52 0 16,102-17 0</inkml:trace>
  <inkml:trace contextRef="#ctx0" brushRef="#br0" timeOffset="72954.53">1929 5256 0,'0'0'0,"0"0"0,0 0 15,0 0 1,0 0-16,17 8 16,0 9-16,9 17 15,-1 17 1,9 26-1,9 42-15,-17 34 16,-18 17 0,-8 43-16,-8-1 15,-1 1 1,-8-9-16,0 0 16,0 0-1,8-17-15,-16-8 16,8-9-16,0 0 15,0-8 1,8-26-16,9-26 16,0-8-1,0-17 1,0-8-16,0 0 16,0-18-1,0-16-15,0-9 0,0 0 16,-8-9-1,8 1-15,0-1 32,0-16-32,0-1 15,0 1 1,0-1-16,0 1 16,0-1-1,0-8-15,8 17 0,9-8 31,51 8-31,60-9 16,26 1-16,34-9 16,25 8-1,-25-8-15,25 9 16,-8 16 0,-51 1-1,42 8-15,-17 8 0,-42-8 31,-9 0-31,8 0 16,-8-8 0,-42-1-16,-9-8 15,-18-8-15,-16-1 16,-17 1 0,-9-9-1,-9 0-15,1-9 16,-1 1-16,9-26 15,0-34 1,1-43-16,-1-50 16,-9-35-1,1-8 1,8-26-16,17-8 16,17-25-1,17-27 1,-8 27-16,-9-9 15,-16-9-15,-1 9 16,-9 25-16,1 18 16,-1-1-1,-16 26 1,8 42-16,-8 1 0,-1 25 16,1 42-1,-1 18 1,1 42-16</inkml:trace>
  <inkml:trace contextRef="#ctx0" brushRef="#br0" timeOffset="84900.11">13810 10086 0,'0'0'0,"0"0"0,0 0 16,-9 0-1,0-8 1,-16-1 0,-18 1-16,1-1 15,-10 9 1,-7 0-16,-1 9 15,9 8-15,8 0 16,9 0-16,17 0 31,0 8-31,17 1 16,0-9 0,17 0-1,8 0-15,27-9 16,16-16-1,0-1-15,-8-16 16,0-1-16,-1 1 16,-16-1-1,0 9 1,-18 0-16,1 9 16,-18 8-1,1 0-15,-9 34 16,-9 42-16,1 35 15,-1 8 1,9 0-16,9-25 16,42-26-1,-17-34-15</inkml:trace>
  <inkml:trace contextRef="#ctx0" brushRef="#br0" timeOffset="121630.6">21892 10384 0,'0'0'0,"0"0"0,0 0 16,0 0-16,0 0 15,-8 8 1,-1 18 0,-8 16-16,0 1 15,-9 25 1,1 9-16,-9-18 15,8 1-15,9-18 16,0 1 0,0-18-1,8 1-15,9-1 16,0-8-16,17 0 16,0-8-1,9 8-15,25-9 16,17 1-16,-8-1 15,0 9 1,-9 0 0,-8 0-16,0 17 15,-18 0 1,-16 0-16,-1 0 16,-16 0-1,-18 0 1,-17-8-16,-16-9 0,-18-26 15,0-33 1,34 16 0</inkml:trace>
  <inkml:trace contextRef="#ctx0" brushRef="#br0" timeOffset="131172.71">3747 7986 0,'0'0'15,"0"0"-15,0 0 0,-9-9 16,1 1 0,-9-1-1,-9 1 1,-8-1-16,-26 9 15,-34 0-15,9 9 16,17 25 0,8 8-1,9 18-15,17-9 16,17-9 0,17-8-16,0-8 15,17-1-15,17-8 16,43-8-1,8-18-15,0-16 16,-8-18 0,0 1-16,-17-1 15,-9 9-15,-26 17 16,1 0 0,-17 0-1,-1 9 1,1 8-16,-9 0 15,-17 25-15,-9 52 16,-8 42-16,8 8 16,18 1-1,33-43 1,-8-59 0</inkml:trace>
  <inkml:trace contextRef="#ctx0" brushRef="#br0" timeOffset="136410.45">3875 5928 0,'0'0'0,"0"0"16,-9 0-16,1 8 31,-18 26-31,-8 34 16,-17 26-1,0 8 1,16-17-16,-7-9 16,8-8-16,0-25 15,16-1-15,1-16 16,0-1-16,9-16 31,8-1-31,0-8 16,17 0-16,17-8 15,26-1 1,17 9 0,-9 0-16,-17 0 15,-8 0 1,-9 17-16,0 26 0,0 25 16,-17 9-1,-8-9-15,-1-17 31,-16-9-31,-1-16 16,-16-18 0,-27-8-16,-24-42 0,-61-86 31,-93-110-31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19:50:59.094"/>
    </inkml:context>
    <inkml:brush xml:id="br0">
      <inkml:brushProperty name="width" value="0.05292" units="cm"/>
      <inkml:brushProperty name="height" value="0.05292" units="cm"/>
      <inkml:brushProperty name="color" value="#FF0000"/>
    </inkml:brush>
  </inkml:definitions>
  <inkml:trace contextRef="#ctx0" brushRef="#br0">3909 11575 0,'0'0'0,"9"0"0,33 17 15,52 0 1,26 8-16,25-16 15,42-1 1,1-16-16,60-9 16,25-9-1,-26 9 1,9 0 0,-34 0-16,-34-8 15,-9-18-15,-59 18 16,-69 8-1,-34 17-15</inkml:trace>
  <inkml:trace contextRef="#ctx0" brushRef="#br0" timeOffset="283.69">6188 11175 0,'0'0'0,"0"0"0,0 0 0,0 0 16,0 0-16,0 0 31,8 0-31,27 0 16,58 17-16,27 8 16,25 35-1,9 16-15,-26 1 16,-34-9-1,-43-25 1,-17-1-16,-17 1 16,-51 42-16,0-26 15</inkml:trace>
  <inkml:trace contextRef="#ctx0" brushRef="#br0" timeOffset="35754.12">2825 9389 0,'0'0'0,"0"0"16,0 0-16,0 0 0,17 0 0,34 8 16,52 1-16,25-1 31,34-8-31,9-8 16,-35-9-1,-16 0 1,8-9-16,0-8 15,-17 9-15,-17 8 0,-52 8 16</inkml:trace>
  <inkml:trace contextRef="#ctx0" brushRef="#br0" timeOffset="36166.86">4259 8981 0,'0'0'0,"0"0"15,0 0-15,0 0 16,0 0-1,0 0-15,8-9 16,18 1 0,8 8-16,26 0 15,17 0 1,-17 8-16,-9 1 31,-17 8-31,-9-9 0,-16 9 16,-9 26-1,-34 42-15,-34 17 16,-9-9 0,0-16-1,17-26-15,26-17 16,17-17-16</inkml:trace>
  <inkml:trace contextRef="#ctx0" brushRef="#br0" timeOffset="37278.24">2765 7952 0,'0'0'0,"0"0"0,0 0 16,0 0-16,17 0 15,18 17 1,24 0-16,27 0 16,42 0 15,17 0-31,8-9 0,-153-8 0,154 9 16,-9-18-16,-17 9 15,-17-8 1,-17-1-16,-26-8 15,-8 9 1,-17-1-16,-18 1 16,-8-1-16,-8 1 15,-1 8 1,-8-9-16,-8 1 16,-1-9-1,1 0 1,-1 0-16,1 0 15,-1 0 1,1 0-16,8 0 16,0 0-1,0 17-15,0-9 16,17 9 0,17 0-16,26 17 15,8 9-15,9-1 16,-18 1-1,-16-9 1,-17-9-16,-1 1 16,-16-1-16,-1-8 15,-8 0 1,-8 0 0,-52 26-16,-34 25 15,-25 8 1,-9 18-16,25-18 15,26-25 1,35-17 0,33-8-16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19:53:15.700"/>
    </inkml:context>
    <inkml:brush xml:id="br0">
      <inkml:brushProperty name="width" value="0.05292" units="cm"/>
      <inkml:brushProperty name="height" value="0.05292" units="cm"/>
      <inkml:brushProperty name="color" value="#FF0000"/>
    </inkml:brush>
  </inkml:definitions>
  <inkml:trace contextRef="#ctx0" brushRef="#br0">9875 7807 0,'17'0'0,"51"17"16,69 9-16,85 8 16,119-9-1,77-42 1,77-42-16,-76-1 15</inkml:trace>
  <inkml:trace contextRef="#ctx0" brushRef="#br0" timeOffset="5827.94">18000 7101 0,'0'0'0,"-8"0"0,-18 0 31,-8 0-31,0 9 0,17-1 16,0 1 15,8-1-31,9-8 16,9 17 0,8 0-16,42 9 15,44-1 1,16 1-16,1-9 15,-18 0 1,-8-9-16,-17 1 16,-9-1-16,1-16 15,16-26 1,-42 17-16</inkml:trace>
  <inkml:trace contextRef="#ctx0" brushRef="#br0" timeOffset="6118.85">18495 7093 0,'0'0'0,"0"0"0,0 0 15,0 0 1,0-9-16,26 1 0,25-18 16,43 9 15,17 9-31,-9 16 0,-25 9 31,-9 0-31,-16 0 16,-27 0-16,1 0 0,-18 17 31,-25 9-31,-34 16 16,-43 26-1,-42 9 1,-129 84-16</inkml:trace>
  <inkml:trace contextRef="#ctx0" brushRef="#br0" timeOffset="46997.65">18077 8173 0,'0'0'0,"0"0"16,0 8-16,17 18 31,0 42-16,9 42-15,-9 43 16,-9 69 0,1-18-16,-1-60 15,1 18 1,0-9-16,-9-51 16,8-51-1,-8-25-15,0-1 16,0-16-16</inkml:trace>
  <inkml:trace contextRef="#ctx0" brushRef="#br0" timeOffset="47259.86">17889 9516 0,'0'0'0,"0"0"0,0 9 16,0 8-16,9 17 16,8-8-1,8 8 1,27-9-16,7-8 16,27-17-1,59-51-15,8-34 16,-24-17-1,-61 51-15</inkml:trace>
  <inkml:trace contextRef="#ctx0" brushRef="#br0" timeOffset="48575.89">1937 6795 0,'0'0'0,"0"0"0,0 0 16,0 17-1,0 0 1,18 34-16,-1 51 16,8 51 15,1 68-31,-1 43 15,-25-264-15,17 306 0,-8 77 0,0 76 16,-18-34-16,9-42 31,0 17-31,0 16 16,-17-33-16,8-51 16,-16 25-1,8-17 1,0-42-16,17-35 0,0-41 15,0-61 1,17-67 0,0-35-16,8-16 15,1-18-15,51-16 16,42-9 0,18-43-16,42-42 15,26 0 1,-9 9-1,43 33-15,17 18 16,0 33-16,0 26 31,0 9-31,-8 16 16,-18-8-16,-33-8 16,-52-1-1,-26-8-15,1-8 16,-1-1-16,-25-16 31,-17-1-31,-17 1 16,-9-9-1,-26-9-15,1 1 0,8-35 16,17-84-16,1-86 31,-10-59-31,-8-68 16,18-9-1,-1-51-15,0-33 0,-25 41 16,8-33 15,9-17-31,-1 59 0,1 1 16,-18 41 0,1 69-16,0 60 15,-18 50-15,1 60 31,-9 51-31,0 17 16,0 25 0,0 18-16,-9 110 0,1 196 31</inkml:trace>
  <inkml:trace contextRef="#ctx0" brushRef="#br0" timeOffset="54465.13">13110 10818 0,'0'0'0,"0"0"0,-9-9 15,1 1-15,-9-1 16,-9 1 15,0-1-31,-16 9 16,-1 0-16,0 17 0,1 9 31,-1 8-15,0 17-16,1 8 15,16 1-15,17-1 16,9-16-16,18-1 15,7-16-15,26-1 32,18-25-32,7-17 15,1-8 1,-8-18 0,-10 1-16,-8 8 15,-8 0 1,-17 17-16,-18 8 15,1 9-15,-1 0 16,-8 0 0,-8 26-16,-1 33 15,-25 52 1,0 25-16,8-8 16,18-69-1</inkml:trace>
  <inkml:trace contextRef="#ctx0" brushRef="#br0" timeOffset="60972.97">18512 12417 0,'0'0'0,"-17"-9"0,-34-8 16,-43 8 0,-17 1-1,60 8 1</inkml:trace>
  <inkml:trace contextRef="#ctx0" brushRef="#br0" timeOffset="61369.39">17992 12348 0,'0'0'0,"8"0"0,43-17 15,86-17 1,93 0 0,103-8-16,154-18 15,178-25 1,172 9-16,-376 42 15</inkml:trace>
  <inkml:trace contextRef="#ctx0" brushRef="#br0" timeOffset="64258.91">24657 10954 0,'0'0'0,"0"0"0,-8 25 0,-18 52 15,-16 25 1,-10 25 0,10-16-16,8 17 15,-1-1 1,18-25-16,9-25 0,8-18 31,8-16-31,1-18 16,-1-8-16,1-17 31</inkml:trace>
  <inkml:trace contextRef="#ctx0" brushRef="#br0" timeOffset="64517.57">24197 11124 0,'0'0'0,"0"0"0,0 0 15,0 0 1,8 0-16,35-9 16,76-16-1,61-1-15,76 9 16,25-8-1,-42-26 1,77-68-16</inkml:trace>
  <inkml:trace contextRef="#ctx0" brushRef="#br0" timeOffset="71864.88">4011 11362 0,'0'0'0,"0"0"0,0 0 16,-8-9-1,-9 9-15,-43 9 16,-34 33 0,-42 35-1,16 8-15,26 9 16,17-1 0,18-25-16,33-25 15,9-18-15,17 1 16,0-1-1,9-16 1,33-18-16,35-16 16,25-35-1,26-33-15,-25-9 16,-9 17-16,-17 8 16,-26 18-1,-17 24-15,-8 18 31,-18 0-31,1 17 16,-1 9-16,-8 59 16,-8 51-1,-1 17 1,9-17-16,9 0 16,42 0-16,-17-59 0</inkml:trace>
  <inkml:trace contextRef="#ctx0" brushRef="#br0" timeOffset="88621.37">8253 10852 0,'0'0'0,"0"0"0,0 0 16,0 0-16,0 0 15,0 0 1,0 0-16,0 0 15,0 0 1,0 0-16,0 0 31,-8 0-15,-18 0-16,-8 8 16,-17 18-16,-9 16 15,-17 9 1,9 9-1,0-1-15,8-8 16,9 9-16,8 8 16,9-17-1,17-9-15,0-8 0,17-8 32,0 0-32,8-1 15,9 9-15,9 0 16,8 0-1,-8-8-15,-1-1 16,1 1-16,-18-9 31,1 0-15,0 8-16,-1 9 16,-16 0-1,-18 17-15,-8-8 16,0-9-1,-9-9-15,0 1 16,9-9-16,17-9 16,0 1-1,0-1-15,17-8 16,0 0 0,0 0-1,17 9-15,0-1 16,17 9-1,17 17-15,-8 0 16,0 9 0,-18 8-16,-8 0 15,-25 25-15,-18 1 16,9-17 0,0-9-1,9-9-15,16 9 16,26 0-16,-8-17 15</inkml:trace>
  <inkml:trace contextRef="#ctx0" brushRef="#br0" timeOffset="101058.67">4293 2568 0,'77'0'0,"273"9"0,205-1 16,42 9-16,43 9 16,-222 8-1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20:00:33.302"/>
    </inkml:context>
    <inkml:brush xml:id="br0">
      <inkml:brushProperty name="width" value="0.05292" units="cm"/>
      <inkml:brushProperty name="height" value="0.05292" units="cm"/>
      <inkml:brushProperty name="color" value="#FF0000"/>
    </inkml:brush>
  </inkml:definitions>
  <inkml:trace contextRef="#ctx0" brushRef="#br0">2612 8207 0,'0'0'0,"0"0"0,0 0 16,0 0-16,0 0 16,-9 8-1,-8 52-15,-9 76 16,-8 60 0,17 50-16,0 52 15,9 42 1,-1-8-16,9 16 15,-8 27 1,-9-27-16,-9 1 16,-8 17-16,-17-52 15,-18-16 1,10-43 0,24-42-16,27-26 15,-9-60 1,17-42-16,17-25 15,-9-9 1,35-9-16,8-8 16,18-25-1,24-26-15,53-26 0,24-16 32,9-1-32,43-16 15,0 8 1,-8 25-16,16 18 15,-25 16 1,25 9-16,-16 17 16,-78 9-16,-16 16 15,-9 1-15,-17-1 32,-35-16-32,-24-1 15,-10-16 1,-16-1-16,-1 1 15,1-1 1,-9-8-16,8-25 16,1-52-1,-9-84-15,-9-69 16,-33-34 0,-10-33-16,10-18 0,8-42 31,17-34-31,8-9 15,0 26 1,9-17-16,26-26 16,0 68-1,-1 43-15,9 8 0,1 86 32,-10 50-32,26-127 15</inkml:trace>
  <inkml:trace contextRef="#ctx0" brushRef="#br0" timeOffset="12341.68">11770 10622 0,'0'0'0,"0"0"0,0 0 0,17 17 16,8 34-1,44 26 1,33 8 0,9 0-16,0 8 15,17 1 1,0-9-16,-17-17 15,-9-9 1,-16-25-16,-27-17 16,1-17-1,-17 0-15,-17 0 16</inkml:trace>
  <inkml:trace contextRef="#ctx0" brushRef="#br0" timeOffset="12575.94">12862 10639 0,'0'0'0,"0"0"0,-17 0 16,-17 17-1,-68 0 1,-35 26-16,-17 33 15,-42 18 1,25-9-16,69-17 0,17 17 16,50-43-1</inkml:trace>
  <inkml:trace contextRef="#ctx0" brushRef="#br0" timeOffset="15948.63">3312 11600 0,'0'0'0,"0"0"16,0 0-16,0 0 15,0-8 1,8-1-16,1-25 16,-1 17-1</inkml:trace>
  <inkml:trace contextRef="#ctx0" brushRef="#br0" timeOffset="16209.02">3380 11481 0,'0'0'0,"0"0"0,0 0 15,0 0 1,8 17-16,9 0 16,1 26-1,-1 8-15,0 0 16,8 17 0,9 8-16,1 1 15,-1-18 1,0 1-1,-9-9-15,1-9 16,0 1-16,8-1 16,17 1-16,-17-1 15,-17-25 1</inkml:trace>
  <inkml:trace contextRef="#ctx0" brushRef="#br0" timeOffset="16493.09">4208 11694 0,'0'0'0,"0"0"0,0 0 16,-9 17-1,-16 59 1,-18 26-16,-34 26 16,-51 67-1,-26 27-15,9-44 16,9 1 0,25-43-16,85-94 15</inkml:trace>
  <inkml:trace contextRef="#ctx0" brushRef="#br0" timeOffset="20588.22">3482 9789 0,'0'0'0,"0"0"0,0 17 15,17 17-15,17 0 16,1 17 0,16 0-1,0 17 1,17 17-16,-8 8 16,0-8-16,0 9 15,-9-9-15,-9-25 16,1-18-1,-9 1-15,-8-9 16,-1-9 0,18-8-16,-9 0 15</inkml:trace>
  <inkml:trace contextRef="#ctx0" brushRef="#br0" timeOffset="20882.39">4276 10044 0,'0'0'0,"0"0"16,0 0-16,0 0 16,-9 0-1,1 0-15,-18 0 16,1 0-1,-69 25-15,-94 69 32,-34 50-32,17-8 15,52-25 1,16 0-16,1-1 16,42-50-16,68-43 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20:01:34.281"/>
    </inkml:context>
    <inkml:brush xml:id="br0">
      <inkml:brushProperty name="width" value="0.05292" units="cm"/>
      <inkml:brushProperty name="height" value="0.05292" units="cm"/>
      <inkml:brushProperty name="color" value="#FF0000"/>
    </inkml:brush>
  </inkml:definitions>
  <inkml:trace contextRef="#ctx0" brushRef="#br0">2296 12893 0,'0'0'0,"0"0"0,0 0 16,17 0-16,-8 0 0,-9 0 15,0 0-15,25-9 16,26-16 0,26-26-1,26-17 1,33-26-16,26-8 16,-8-8-1,17 7 1,-1 1-16,-16 9 0,8-18 15,0 18-15,-51 25 16,-25 8 0,-27 18-16,-25 8 31,-16 25-31</inkml:trace>
  <inkml:trace contextRef="#ctx0" brushRef="#br0" timeOffset="289.27">3713 11838 0,'0'0'0,"0"0"0,0 0 0,0 0 0,0 0 31,0 0-15,0 0-16,0-8 16,34-18-1,34-16-15,26-1 16,0 9-1,-9 9-15,-16 8 16,-27 8 0,1 9-1,-18 0-15,1 17 16,-17 26-16,-1 50 16,-8 26-1,9-17 1,8-59-16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20:04:37.543"/>
    </inkml:context>
    <inkml:brush xml:id="br0">
      <inkml:brushProperty name="width" value="0.05292" units="cm"/>
      <inkml:brushProperty name="height" value="0.05292" units="cm"/>
      <inkml:brushProperty name="color" value="#FF0000"/>
    </inkml:brush>
  </inkml:definitions>
  <inkml:trace contextRef="#ctx0" brushRef="#br0">4515 14236 0,'9'0'0,"16"0"0,18-8 0,25-1 15,26-16 1,17-18 0,34-33-16,68-1 15,1 1-15,16 16 16,-8 18-16,-26-1 15,9 9 1,-68 17 0,-35 0-16,-8 0 15,-34 9-15,-26-9 16,-25 8 15</inkml:trace>
  <inkml:trace contextRef="#ctx0" brushRef="#br0" timeOffset="274.56">6145 13292 0,'0'0'0,"9"0"0,50 0 16,61 9-1,8-1 1,9 9-16,8-8 0,-9 8 15,-33-8 1,-27 8-16,-7 0 16,-18 0-1,-17 8 1,-43 52-16,-119 127 0,-93 51 31,-18 17-31</inkml:trace>
  <inkml:trace contextRef="#ctx0" brushRef="#br0" timeOffset="180804.63">4873 4261 0,'9'0'0,"17"-9"0,119-8 16,51 0-1,-8 0-15,68 9 16,-51 8 0,-18-9-1,35 1-15,-68 8 16,-43 8-1,-9-8-15,-50 0 16,-27 0-16,-25 0 16,-34 0-16,-205 17 15,-51 0 1,17 9 0,-103 16-1,77 9-15,-68 0 16,86 0-16,195-34 15,-7 9 1,41-18 0,18 1-16,26-1 15,16 1 1,129 16-16,204 1 16,112-26-1,110-9-15,51 1 16,1-1-1,-35-33-15,-170-1 16</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6-05-22T20:04:24.354"/>
    </inkml:context>
    <inkml:brush xml:id="br0">
      <inkml:brushProperty name="width" value="0.05292" units="cm"/>
      <inkml:brushProperty name="height" value="0.05292" units="cm"/>
      <inkml:brushProperty name="color" value="#FF0000"/>
    </inkml:brush>
    <inkml:context xml:id="ctx1">
      <inkml:inkSource xml:id="inkSrc2">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1" timeString="2026-05-22T20:05:45.657"/>
    </inkml:context>
  </inkml:definitions>
  <inkml:trace contextRef="#ctx0" brushRef="#br0">4339 12047 0</inkml:trace>
  <inkml:trace contextRef="#ctx0" brushRef="#br0" timeOffset="205.32">4339 12047 0</inkml:trace>
  <inkml:trace contextRef="#ctx1" brushRef="#br0">10378 14568 0,'0'0'0,"-8"-8"15,-1-1-15,1 1 16,-1-1 0,1 1-16,8 8 15,0 0 1,0 0-16,-9 0 15,1 17 1,-1 17-16,-8 0 16,9 17-1,8 0-15,17 0 16,25 0 0,10 0-1,-1-17-15,26-17 16,25-17-16,35-9 15,16-8 1,9-8-16,35-18 16,16 9-1,-8 9-15,17-1 16,8 9 0,1-8-1,-1 8-15,1 17 16,25 17-16,0 8 15,-17 1 1,-17-1 0,-35 9-16,-42 0 15,-34-17-15,-25 9 16,-27-9 0,-7 0-1,-10-9-15,-16 1 16,0-1-1,-9-8-15,8-8 16,9-18 0,1-8-16,-1-17 15,0-42-15,0-35 16,-17 60 0</inkml:trace>
  <inkml:trace contextRef="#ctx1" brushRef="#br0" timeOffset="5764.09">5855 13488 0,'17'-8'0,"26"-9"0,42 0 15,60 0 1,43 0 0,77 8-16,102 9 15</inkml:trace>
  <inkml:trace contextRef="#ctx1" brushRef="#br0" timeOffset="6820.99">14757 11541 0,'0'0'0,"0"0"0,0 0 0,0 0 15,0 0 1,0 0-16,0 8 16,-17 26-1,-26 68-15,-34 43 32,-25 25-17,-9 0-15,9-17 16,16-25-16,35-43 0,17-34 15,17-17 17,0-17-32,17-9 15,0-8 1,0-17-16,8-25 0,9-26 31,0-26-31,0 17 16,-8 26-1,0 17-15,-1 17 16,-8 9 0,0 8-16,-17 42 15,-43 69 1,-34 76-16,0 9 16,35-86-16,33-33 0,18-26 31,42-17-31,77-43 15,179-25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20:09:07.644"/>
    </inkml:context>
    <inkml:brush xml:id="br0">
      <inkml:brushProperty name="width" value="0.05292" units="cm"/>
      <inkml:brushProperty name="height" value="0.05292" units="cm"/>
      <inkml:brushProperty name="color" value="#FF0000"/>
    </inkml:brush>
  </inkml:definitions>
  <inkml:trace contextRef="#ctx0" brushRef="#br0">2834 8173 0,'0'0'0,"0"0"16,0 0-16,8-9 15,26 1 1,35-9 0,59-9-16,93-8 15,53-17-15,76-17 16</inkml:trace>
  <inkml:trace contextRef="#ctx0" brushRef="#br0" timeOffset="5916.42">9337 7790 0,'0'0'0,"0"0"0,0 0 15,0 0-15,0 0 16,0 0 0,0 0-1,34-8-15,94-26 16,171-43-16,119 9 16,-8 34-16,-26 25 31</inkml:trace>
  <inkml:trace contextRef="#ctx0" brushRef="#br0" timeOffset="13219.99">18504 7680 0,'0'0'0,"0"0"0,0 0 31,0 0-31,0 0 16,8 0-1,26 0-15,52 8 16,59-8-1,51-8-15,35-1 0,8 9 16,93-25 0</inkml:trace>
  <inkml:trace contextRef="#ctx0" brushRef="#br0" timeOffset="26289.16">22046 7688 0,'0'0'0,"0"0"0,25 9 15,27-1 1,59-8-16,93-25 16,52-18-1,86 17-15,42 35 16</inkml:trace>
  <inkml:trace contextRef="#ctx0" brushRef="#br0" timeOffset="34644.53">28293 8156 0,'0'0'0,"17"-9"0,86-8 0,238-51 16,197-17 0,85 34-16,-196 26 15</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20:14:11.298"/>
    </inkml:context>
    <inkml:brush xml:id="br0">
      <inkml:brushProperty name="width" value="0.05292" units="cm"/>
      <inkml:brushProperty name="height" value="0.05292" units="cm"/>
      <inkml:brushProperty name="color" value="#FF0000"/>
    </inkml:brush>
  </inkml:definitions>
  <inkml:trace contextRef="#ctx0" brushRef="#br0">16848 11855 0,'0'0'0,"0"0"0,0 0 15,0 0 1,17 0 0,34 9-16,60-1 0,120-16 31,110-18-31,52-16 16,50-18-16,-50-16 0</inkml:trace>
  <inkml:trace contextRef="#ctx0" brushRef="#br0" timeOffset="1583.89">22882 11855 0,'0'0'0,"0"0"0,0 0 15,17-8 1,34-9-16,77-26 15,120-25 1,119 17-16,77 17 16,76 9-16,-110-1 15</inkml:trace>
  <inkml:trace contextRef="#ctx0" brushRef="#br0" timeOffset="7536.52">12965 12944 0,'0'0'0,"0"0"0,0 0 16,59 0-16,61 0 16,110-9-1,78-16-15,118-9 16,121-43-1,-138 9 1</inkml:trace>
  <inkml:trace contextRef="#ctx0" brushRef="#br0" timeOffset="9756.87">12017 14305 0,'0'0'0,"26"17"16,51 17-16,127 25 16,70-8-1,93-34-15,34-17 16</inkml:trace>
  <inkml:trace contextRef="#ctx0" brushRef="#br0" timeOffset="12154.91">5138 7637 0,'0'0'0,"0"0"0,0 0 16,0 0-16,-8 0 16,-27 17-1,-24 0 1,-44 17-16,-50 17 15,16 9 1,43-1-16,9 1 16,25-18-1,17 1-15,18-9 16,8 0 0,17 0-16,17 17 15,8-9 1,18 1-16,34 16 15,8 1 1,1-1 0,-1 1-16,-17-1 15,-34-7-15,-17-1 16,-25 8 0,-35 9-16,-25 9 15,-17-9 1,16-26-16,1-8 15,8-8 1,18-18-16,7 1 16,18-9-1,17 0-15,0 0 16,0-9 0,9 1-16,-1 8 15,9 0 1,18 8-1,7 9-15,-8 9 0,1 25 32,-18 34-32,-34 34 15,-18 34-15,1 0 16,17-25 0,34-18-16,77 1 15,111-35-15,171-93 16,16-51-1</inkml:trace>
  <inkml:trace contextRef="#ctx0" brushRef="#br0" timeOffset="36306.25">8697 12519 0,'0'0'0,"0"0"0,0 0 16,0 0 0,0 0-16,0 0 15,0 0 1,0 0-16,26 8 16,42 26-1,60-8 1,120 16-16,93 9 15,17-8-15,86-18 16,-34 1 0</inkml:trace>
  <inkml:trace contextRef="#ctx0" brushRef="#br0" timeOffset="39925.73">13144 11064 0,'0'0'0,"0"0"0,51 17 31,145 17-31,223-8 16,178-43-1,171-102-15,-333 25 0</inkml:trace>
  <inkml:trace contextRef="#ctx0" brushRef="#br0" timeOffset="41377.71">5001 11387 0,'0'0'0,"9"0"0,25 0 15,26 0 1,25 17-16,35-8 15,50 8 1,44 0-16,59 0 0,60-17 16,85-8-1,68-1 1,35-8 0,102-17-16,-196 25 15</inkml:trace>
  <inkml:trace contextRef="#ctx0" brushRef="#br0" timeOffset="46640.01">8253 13003 0,'0'0'0,"0"0"0,0 0 0,0 0 15,17 0 1,18 0 0,-1 0-1,17 9 1,34-1-16,35 1 0,33-9 31,18 0-31,34 8 16,34-8-1,85-34-15,86-34 16,8-17 0,60-8-16,51 16 15,34 9 1,-144 26-16</inkml:trace>
  <inkml:trace contextRef="#ctx0" brushRef="#br0" timeOffset="79844.53">5864 13420 0,'0'0'0,"0"0"0,0 0 16,0 0 0,8 0-1,60 9-15,69-9 16,51-17 0,34-9-16,-1 1 15,-24 8 1,-35 17-1,-60 0-15,-50 8 16,-27 9-16,-8 43 16,-68 59-1,-77 42-15,-9 9 16,-25-17 0,17-51-16,43-34 15,16-34-15,35-8 16,9-18-1,16-25 1,9-42-16,42-86 16,52-59-1,60-25-15,16 25 16,-50 76 0,-35 43-16,-25 34 15,-18 34 1,-16 8-1,8 35-15,0 118 16,-8 69-16,-18 17 16,1-9-1,-1-51 1,1-43-16,8-50 16,0-43-1,0-8-15,-9-18 16,-8-16-16,-34-69 15,-52-110 1,-42-43-16,17 1 16,-8 16-16,-61-68 15</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20:19:24.421"/>
    </inkml:context>
    <inkml:brush xml:id="br0">
      <inkml:brushProperty name="width" value="0.05292" units="cm"/>
      <inkml:brushProperty name="height" value="0.05292" units="cm"/>
      <inkml:brushProperty name="color" value="#FF0000"/>
    </inkml:brush>
  </inkml:definitions>
  <inkml:trace contextRef="#ctx0" brushRef="#br0">12282 6072 0,'0'0'0,"0"0"0,17 17 16,34 0 0,60 9-16,51-1 15,34-8-15,52 0 31,59 17-15,9 9-16,85-9 0,77 8 16,51-16-1,94 8-15,86-17 16,-18-17 0,-273 17-1</inkml:trace>
  <inkml:trace contextRef="#ctx0" brushRef="#br0" timeOffset="15135.05">10447 8147 0,'34'-8'0,"128"-9"16,94-17-16,68 8 16,61 18-1,41 59-15,-25 17 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2T20:19:49.755"/>
    </inkml:context>
    <inkml:brush xml:id="br0">
      <inkml:brushProperty name="width" value="0.05292" units="cm"/>
      <inkml:brushProperty name="height" value="0.05292" units="cm"/>
      <inkml:brushProperty name="color" value="#FF0000"/>
    </inkml:brush>
  </inkml:definitions>
  <inkml:trace contextRef="#ctx0" brushRef="#br0">6171 6191 0,'0'0'0,"0"0"0,34 9 16,51-1-16,86-8 15,51-8 1,42-9-1,10-9-15,-1-8 16,77-25 0</inkml:trace>
  <inkml:trace contextRef="#ctx0" brushRef="#br0" timeOffset="476.72">8424 6166 0,'9'0'0,"42"0"0,171 8 15,162 26 1,25 0-1,61 26 1,-61-9-16</inkml:trace>
  <inkml:trace contextRef="#ctx0" brushRef="#br0" timeOffset="13397.44">6615 11217 0,'0'0'0,"0"0"16,0 0-16,42-8 31,129-35-31,128-25 16,85-25-16,25-9 15,52 34 1,86 68 0,-138 17-16</inkml:trace>
  <inkml:trace contextRef="#ctx0" brushRef="#br0" timeOffset="18601.15">7707 11192 0,'0'0'0,"0"0"0,0 0 15,0 0-15,0 0 0,0 0 32,0 0-32,-8 0 15,-18 0 1,-17 17-16,-17 0 15,1 0 1,-1 17-16,-8 8 16,-1 18-1,18 0-15,0 8 16,8 8 0,1 1-1,8-1-15,-1 1 16,10-9-1,8 0-15,0 0 16,8 0 0,1 0-16,8 0 15,17 8-15,0-16 16,8-9 0,1-8-16,0-18 15,-9 9 1,8 0-16,1 0 15,-1 0 1,-16 9 0,-9 8-16,-26 34 15,-25 8-15,-9-16 16,-8-18 0,17 1-1,8-18-15,9-16 16,17-9-1,0-9-15,8 1 16,9-1 0,0 1-16,17 8 15,18 0 1,33 0-16,9 0 16,0 17-16,8 9 15,-25-1 1,-1 18-1,-24 16-15,-18 52 16,-69 93-16,-67 76 16,-52 44-1,26-78 1,85-118-16,69-18 16,68 1-1,110-26-15,146-76 16,162-103-16,52-102 15,-163 9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5/21/2026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5/21/2026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a:xfrm>
            <a:off x="1210887" y="1138988"/>
            <a:ext cx="9770225" cy="2387600"/>
          </a:xfrm>
        </p:spPr>
        <p:txBody>
          <a:bodyPr>
            <a:normAutofit fontScale="90000"/>
          </a:bodyPr>
          <a:lstStyle/>
          <a:p>
            <a:r>
              <a:rPr lang="en-US" dirty="0"/>
              <a:t>CSE 332 Spring 2026</a:t>
            </a:r>
            <a:br>
              <a:rPr lang="en-US" dirty="0"/>
            </a:br>
            <a:r>
              <a:rPr lang="en-US" dirty="0"/>
              <a:t>Lecture 23: Concurrency 2 – </a:t>
            </a:r>
            <a:br>
              <a:rPr lang="en-US" dirty="0"/>
            </a:br>
            <a:r>
              <a:rPr lang="en-US" dirty="0"/>
              <a:t>Race Conditions, Data Races and Bad </a:t>
            </a:r>
            <a:r>
              <a:rPr lang="en-US" dirty="0" err="1"/>
              <a:t>Interleavings</a:t>
            </a:r>
            <a:endParaRPr lang="en-US" dirty="0"/>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EC1A-6CA5-98A7-F39E-5B051CE8D372}"/>
              </a:ext>
            </a:extLst>
          </p:cNvPr>
          <p:cNvSpPr>
            <a:spLocks noGrp="1"/>
          </p:cNvSpPr>
          <p:nvPr>
            <p:ph type="title"/>
          </p:nvPr>
        </p:nvSpPr>
        <p:spPr/>
        <p:txBody>
          <a:bodyPr/>
          <a:lstStyle/>
          <a:p>
            <a:r>
              <a:rPr lang="en-US" dirty="0"/>
              <a:t>Interleaving</a:t>
            </a:r>
          </a:p>
        </p:txBody>
      </p:sp>
      <p:sp>
        <p:nvSpPr>
          <p:cNvPr id="3" name="Content Placeholder 2">
            <a:extLst>
              <a:ext uri="{FF2B5EF4-FFF2-40B4-BE49-F238E27FC236}">
                <a16:creationId xmlns:a16="http://schemas.microsoft.com/office/drawing/2014/main" id="{43DB31AF-5BCA-E54E-4929-B7B6A0D8AB8B}"/>
              </a:ext>
            </a:extLst>
          </p:cNvPr>
          <p:cNvSpPr>
            <a:spLocks noGrp="1"/>
          </p:cNvSpPr>
          <p:nvPr>
            <p:ph idx="1"/>
          </p:nvPr>
        </p:nvSpPr>
        <p:spPr/>
        <p:txBody>
          <a:bodyPr/>
          <a:lstStyle/>
          <a:p>
            <a:r>
              <a:rPr lang="en-US" dirty="0"/>
              <a:t>Due to time slicing, a thread can be interrupted at any time</a:t>
            </a:r>
          </a:p>
          <a:p>
            <a:pPr lvl="1"/>
            <a:r>
              <a:rPr lang="en-US" dirty="0"/>
              <a:t>Between any two lines of code</a:t>
            </a:r>
          </a:p>
          <a:p>
            <a:pPr lvl="1"/>
            <a:r>
              <a:rPr lang="en-US" dirty="0"/>
              <a:t>Within a single line of code</a:t>
            </a:r>
          </a:p>
          <a:p>
            <a:r>
              <a:rPr lang="en-US" dirty="0"/>
              <a:t>The sequence that operations occur across two threads is called an interleaving</a:t>
            </a:r>
          </a:p>
          <a:p>
            <a:r>
              <a:rPr lang="en-US" dirty="0"/>
              <a:t>Without doing anything else, we have no control over how different threads might be interleaved</a:t>
            </a:r>
          </a:p>
        </p:txBody>
      </p:sp>
    </p:spTree>
    <p:extLst>
      <p:ext uri="{BB962C8B-B14F-4D97-AF65-F5344CB8AC3E}">
        <p14:creationId xmlns:p14="http://schemas.microsoft.com/office/powerpoint/2010/main" val="4026232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ECE2-9CC3-DF86-BABE-D4BE2D4AB901}"/>
              </a:ext>
            </a:extLst>
          </p:cNvPr>
          <p:cNvSpPr>
            <a:spLocks noGrp="1"/>
          </p:cNvSpPr>
          <p:nvPr>
            <p:ph type="title"/>
          </p:nvPr>
        </p:nvSpPr>
        <p:spPr/>
        <p:txBody>
          <a:bodyPr/>
          <a:lstStyle/>
          <a:p>
            <a:r>
              <a:rPr lang="en-US" dirty="0"/>
              <a:t>Concurrent Programming</a:t>
            </a:r>
          </a:p>
        </p:txBody>
      </p:sp>
      <p:sp>
        <p:nvSpPr>
          <p:cNvPr id="3" name="Content Placeholder 2">
            <a:extLst>
              <a:ext uri="{FF2B5EF4-FFF2-40B4-BE49-F238E27FC236}">
                <a16:creationId xmlns:a16="http://schemas.microsoft.com/office/drawing/2014/main" id="{5B919A95-C324-F33C-8E0D-40758B326B9A}"/>
              </a:ext>
            </a:extLst>
          </p:cNvPr>
          <p:cNvSpPr>
            <a:spLocks noGrp="1"/>
          </p:cNvSpPr>
          <p:nvPr>
            <p:ph idx="1"/>
          </p:nvPr>
        </p:nvSpPr>
        <p:spPr/>
        <p:txBody>
          <a:bodyPr>
            <a:normAutofit lnSpcReduction="10000"/>
          </a:bodyPr>
          <a:lstStyle/>
          <a:p>
            <a:r>
              <a:rPr lang="en-US" dirty="0"/>
              <a:t>Concurrency: </a:t>
            </a:r>
          </a:p>
          <a:p>
            <a:pPr lvl="1"/>
            <a:r>
              <a:rPr lang="en-US" dirty="0"/>
              <a:t>Correctly and efficiently managing access to shared resources across multiple possibly-simultaneous tasks</a:t>
            </a:r>
          </a:p>
          <a:p>
            <a:r>
              <a:rPr lang="en-US" dirty="0"/>
              <a:t>Requires synchronization to avoid incorrect simultaneous access</a:t>
            </a:r>
          </a:p>
          <a:p>
            <a:pPr lvl="1"/>
            <a:r>
              <a:rPr lang="en-US" dirty="0"/>
              <a:t>Use some way of “blocking” other tasks from using a resource when another modifies it or makes decisions based on its state</a:t>
            </a:r>
          </a:p>
          <a:p>
            <a:pPr lvl="1"/>
            <a:r>
              <a:rPr lang="en-US" dirty="0"/>
              <a:t>That blocking task will free up the resource when it’s done</a:t>
            </a:r>
          </a:p>
          <a:p>
            <a:r>
              <a:rPr lang="en-US" dirty="0"/>
              <a:t>Warning:</a:t>
            </a:r>
          </a:p>
          <a:p>
            <a:pPr lvl="1"/>
            <a:r>
              <a:rPr lang="en-US" dirty="0"/>
              <a:t>Because we have no control over when threads are scheduled by the OS, even correct implementations are highly non-deterministic</a:t>
            </a:r>
          </a:p>
          <a:p>
            <a:pPr lvl="1"/>
            <a:r>
              <a:rPr lang="en-US" dirty="0"/>
              <a:t>Errors are hard to reproduce, which complicates debugging</a:t>
            </a:r>
          </a:p>
          <a:p>
            <a:endParaRPr lang="en-US" dirty="0"/>
          </a:p>
        </p:txBody>
      </p:sp>
    </p:spTree>
    <p:extLst>
      <p:ext uri="{BB962C8B-B14F-4D97-AF65-F5344CB8AC3E}">
        <p14:creationId xmlns:p14="http://schemas.microsoft.com/office/powerpoint/2010/main" val="315409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98ECE-174A-7C43-2874-DBA6552F7288}"/>
              </a:ext>
            </a:extLst>
          </p:cNvPr>
          <p:cNvSpPr>
            <a:spLocks noGrp="1"/>
          </p:cNvSpPr>
          <p:nvPr>
            <p:ph type="title"/>
          </p:nvPr>
        </p:nvSpPr>
        <p:spPr>
          <a:xfrm>
            <a:off x="838200" y="14148"/>
            <a:ext cx="10515600" cy="1325563"/>
          </a:xfrm>
        </p:spPr>
        <p:txBody>
          <a:bodyPr/>
          <a:lstStyle/>
          <a:p>
            <a:r>
              <a:rPr lang="en-US" dirty="0"/>
              <a:t>Concurrency Races</a:t>
            </a:r>
          </a:p>
        </p:txBody>
      </p:sp>
      <p:sp>
        <p:nvSpPr>
          <p:cNvPr id="3" name="Content Placeholder 2">
            <a:extLst>
              <a:ext uri="{FF2B5EF4-FFF2-40B4-BE49-F238E27FC236}">
                <a16:creationId xmlns:a16="http://schemas.microsoft.com/office/drawing/2014/main" id="{F240260B-B93F-B6B0-8B30-28A9E355254B}"/>
              </a:ext>
            </a:extLst>
          </p:cNvPr>
          <p:cNvSpPr>
            <a:spLocks noGrp="1"/>
          </p:cNvSpPr>
          <p:nvPr>
            <p:ph idx="1"/>
          </p:nvPr>
        </p:nvSpPr>
        <p:spPr>
          <a:xfrm>
            <a:off x="397163" y="1052945"/>
            <a:ext cx="11360727" cy="5708073"/>
          </a:xfrm>
        </p:spPr>
        <p:txBody>
          <a:bodyPr>
            <a:normAutofit fontScale="85000" lnSpcReduction="20000"/>
          </a:bodyPr>
          <a:lstStyle/>
          <a:p>
            <a:r>
              <a:rPr lang="en-US" b="1" dirty="0"/>
              <a:t>Race Condition:</a:t>
            </a:r>
          </a:p>
          <a:p>
            <a:pPr lvl="1"/>
            <a:r>
              <a:rPr lang="en-US" dirty="0"/>
              <a:t>Occurs when the computation result depends on scheduling (how threads are interleaved) </a:t>
            </a:r>
          </a:p>
          <a:p>
            <a:pPr lvl="1"/>
            <a:r>
              <a:rPr lang="en-US" b="1" dirty="0"/>
              <a:t>Java Example:</a:t>
            </a:r>
            <a:r>
              <a:rPr lang="en-US" dirty="0"/>
              <a:t> Two threads call withdraw. Different schedules cause different threads to see the Exception (withdraw(100) vs. withdraw(75)).</a:t>
            </a:r>
          </a:p>
          <a:p>
            <a:pPr lvl="1"/>
            <a:r>
              <a:rPr lang="en-US" b="1" dirty="0"/>
              <a:t>Trident Example:</a:t>
            </a:r>
            <a:r>
              <a:rPr lang="en-US" dirty="0"/>
              <a:t> The trident did not prevent a race condition, </a:t>
            </a:r>
            <a:r>
              <a:rPr lang="en-US" i="1" dirty="0"/>
              <a:t>which</a:t>
            </a:r>
            <a:r>
              <a:rPr lang="en-US" dirty="0"/>
              <a:t> name get left in the box depends on who grabbed the trident first</a:t>
            </a:r>
          </a:p>
          <a:p>
            <a:r>
              <a:rPr lang="en-US" b="1" dirty="0"/>
              <a:t>Data Race: </a:t>
            </a:r>
          </a:p>
          <a:p>
            <a:pPr lvl="1"/>
            <a:r>
              <a:rPr lang="en-US" dirty="0"/>
              <a:t>Either:</a:t>
            </a:r>
          </a:p>
          <a:p>
            <a:pPr lvl="2"/>
            <a:r>
              <a:rPr lang="en-US" sz="2400" dirty="0"/>
              <a:t>There is the potential for two threads to be writing to a variable in parallel</a:t>
            </a:r>
          </a:p>
          <a:p>
            <a:pPr lvl="2"/>
            <a:r>
              <a:rPr lang="en-US" sz="2400" dirty="0"/>
              <a:t>There is the potential for one thread to be reading a variable while another writes to it</a:t>
            </a:r>
            <a:endParaRPr lang="en-US" dirty="0"/>
          </a:p>
          <a:p>
            <a:pPr lvl="1"/>
            <a:r>
              <a:rPr lang="en-US" b="1" dirty="0"/>
              <a:t>Java Example:</a:t>
            </a:r>
            <a:r>
              <a:rPr lang="en-US" dirty="0"/>
              <a:t> Two different threads attempt to change a static variable</a:t>
            </a:r>
          </a:p>
          <a:p>
            <a:pPr lvl="1"/>
            <a:r>
              <a:rPr lang="en-US" b="1" dirty="0"/>
              <a:t>Trident Example:</a:t>
            </a:r>
            <a:r>
              <a:rPr lang="en-US" dirty="0"/>
              <a:t> The trident corrected a data race, no two people can use the box at the same time</a:t>
            </a:r>
          </a:p>
          <a:p>
            <a:r>
              <a:rPr lang="en-US" b="1" dirty="0"/>
              <a:t>Bad Interleaving:</a:t>
            </a:r>
          </a:p>
          <a:p>
            <a:pPr lvl="1"/>
            <a:r>
              <a:rPr lang="en-US" dirty="0"/>
              <a:t>An error due to a race condition other than a data race</a:t>
            </a:r>
          </a:p>
          <a:p>
            <a:pPr lvl="2"/>
            <a:r>
              <a:rPr lang="en-US" dirty="0"/>
              <a:t>It’s a race condition the results in behavior our specification says in incorrect</a:t>
            </a:r>
          </a:p>
          <a:p>
            <a:pPr lvl="1"/>
            <a:r>
              <a:rPr lang="en-US" dirty="0"/>
              <a:t>Usually it looks like exposing a “bad” intermediate state</a:t>
            </a:r>
          </a:p>
          <a:p>
            <a:pPr lvl="1"/>
            <a:r>
              <a:rPr lang="en-US" b="1" dirty="0"/>
              <a:t>Java Example:</a:t>
            </a:r>
            <a:r>
              <a:rPr lang="en-US" dirty="0"/>
              <a:t> Two threads insert into a hash table. One thread computes the index, the other resizes the table. Now the index might be incorrect. </a:t>
            </a:r>
          </a:p>
          <a:p>
            <a:pPr lvl="1"/>
            <a:r>
              <a:rPr lang="en-US" b="1" dirty="0"/>
              <a:t>Trident Example:</a:t>
            </a:r>
            <a:r>
              <a:rPr lang="en-US" dirty="0"/>
              <a:t> The race condition present after introducing the trident is not a bad interleaving because either result is still correct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9A466F4-C78B-13DB-F7EA-FC9D4F2FBFF8}"/>
                  </a:ext>
                </a:extLst>
              </p14:cNvPr>
              <p14:cNvContentPartPr/>
              <p14:nvPr/>
            </p14:nvContentPartPr>
            <p14:xfrm>
              <a:off x="239760" y="563400"/>
              <a:ext cx="694800" cy="4718160"/>
            </p14:xfrm>
          </p:contentPart>
        </mc:Choice>
        <mc:Fallback>
          <p:pic>
            <p:nvPicPr>
              <p:cNvPr id="4" name="Ink 3">
                <a:extLst>
                  <a:ext uri="{FF2B5EF4-FFF2-40B4-BE49-F238E27FC236}">
                    <a16:creationId xmlns:a16="http://schemas.microsoft.com/office/drawing/2014/main" id="{59A466F4-C78B-13DB-F7EA-FC9D4F2FBFF8}"/>
                  </a:ext>
                </a:extLst>
              </p:cNvPr>
              <p:cNvPicPr/>
              <p:nvPr/>
            </p:nvPicPr>
            <p:blipFill>
              <a:blip r:embed="rId3"/>
              <a:stretch>
                <a:fillRect/>
              </a:stretch>
            </p:blipFill>
            <p:spPr>
              <a:xfrm>
                <a:off x="230400" y="554040"/>
                <a:ext cx="713520" cy="4736880"/>
              </a:xfrm>
              <a:prstGeom prst="rect">
                <a:avLst/>
              </a:prstGeom>
            </p:spPr>
          </p:pic>
        </mc:Fallback>
      </mc:AlternateContent>
    </p:spTree>
    <p:extLst>
      <p:ext uri="{BB962C8B-B14F-4D97-AF65-F5344CB8AC3E}">
        <p14:creationId xmlns:p14="http://schemas.microsoft.com/office/powerpoint/2010/main" val="10981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0D77A-A12E-2519-D945-648888DF91B0}"/>
              </a:ext>
            </a:extLst>
          </p:cNvPr>
          <p:cNvSpPr>
            <a:spLocks noGrp="1"/>
          </p:cNvSpPr>
          <p:nvPr>
            <p:ph type="title"/>
          </p:nvPr>
        </p:nvSpPr>
        <p:spPr>
          <a:xfrm>
            <a:off x="838200" y="-396875"/>
            <a:ext cx="10515600" cy="1325563"/>
          </a:xfrm>
        </p:spPr>
        <p:txBody>
          <a:bodyPr/>
          <a:lstStyle/>
          <a:p>
            <a:r>
              <a:rPr lang="en-US" dirty="0"/>
              <a:t>Example: Shared Stack (no problems so far)</a:t>
            </a:r>
          </a:p>
        </p:txBody>
      </p:sp>
      <p:sp>
        <p:nvSpPr>
          <p:cNvPr id="3" name="Content Placeholder 2">
            <a:extLst>
              <a:ext uri="{FF2B5EF4-FFF2-40B4-BE49-F238E27FC236}">
                <a16:creationId xmlns:a16="http://schemas.microsoft.com/office/drawing/2014/main" id="{2731184E-3E3D-8777-2AB8-6154021FA2E4}"/>
              </a:ext>
            </a:extLst>
          </p:cNvPr>
          <p:cNvSpPr>
            <a:spLocks noGrp="1"/>
          </p:cNvSpPr>
          <p:nvPr>
            <p:ph idx="1"/>
          </p:nvPr>
        </p:nvSpPr>
        <p:spPr>
          <a:xfrm>
            <a:off x="838200" y="599440"/>
            <a:ext cx="10515600" cy="6258560"/>
          </a:xfrm>
        </p:spPr>
        <p:txBody>
          <a:bodyPr>
            <a:normAutofit fontScale="92500" lnSpcReduction="10000"/>
          </a:bodyPr>
          <a:lstStyle/>
          <a:p>
            <a:pPr marL="0" indent="0">
              <a:buNone/>
            </a:pPr>
            <a:r>
              <a:rPr lang="en-US" dirty="0"/>
              <a:t>class Stack { </a:t>
            </a:r>
          </a:p>
          <a:p>
            <a:pPr marL="0" indent="0">
              <a:buNone/>
            </a:pPr>
            <a:r>
              <a:rPr lang="en-US" dirty="0"/>
              <a:t>	private E[] array = (E[])new Object[SIZE]; </a:t>
            </a:r>
          </a:p>
          <a:p>
            <a:pPr marL="0" indent="0">
              <a:buNone/>
            </a:pPr>
            <a:r>
              <a:rPr lang="en-US" dirty="0"/>
              <a:t>	private int end = -1; </a:t>
            </a:r>
          </a:p>
          <a:p>
            <a:pPr marL="0" indent="0">
              <a:buNone/>
            </a:pPr>
            <a:r>
              <a:rPr lang="en-US" dirty="0"/>
              <a:t>	synchronized </a:t>
            </a:r>
            <a:r>
              <a:rPr lang="en-US" dirty="0" err="1"/>
              <a:t>boolean</a:t>
            </a:r>
            <a:r>
              <a:rPr lang="en-US" dirty="0"/>
              <a:t> </a:t>
            </a:r>
            <a:r>
              <a:rPr lang="en-US" dirty="0" err="1"/>
              <a:t>isEmpty</a:t>
            </a:r>
            <a:r>
              <a:rPr lang="en-US" dirty="0"/>
              <a:t>() { </a:t>
            </a:r>
          </a:p>
          <a:p>
            <a:pPr marL="0" indent="0">
              <a:buNone/>
            </a:pPr>
            <a:r>
              <a:rPr lang="en-US" dirty="0"/>
              <a:t>		return end ==-1; </a:t>
            </a:r>
          </a:p>
          <a:p>
            <a:pPr marL="0" indent="0">
              <a:buNone/>
            </a:pPr>
            <a:r>
              <a:rPr lang="en-US" dirty="0"/>
              <a:t>	} </a:t>
            </a:r>
          </a:p>
          <a:p>
            <a:pPr marL="0" indent="0">
              <a:buNone/>
            </a:pPr>
            <a:r>
              <a:rPr lang="en-US" dirty="0"/>
              <a:t>	synchronized void push(E </a:t>
            </a:r>
            <a:r>
              <a:rPr lang="en-US" dirty="0" err="1"/>
              <a:t>val</a:t>
            </a:r>
            <a:r>
              <a:rPr lang="en-US" dirty="0"/>
              <a:t>) { </a:t>
            </a:r>
          </a:p>
          <a:p>
            <a:pPr marL="0" indent="0">
              <a:buNone/>
            </a:pPr>
            <a:r>
              <a:rPr lang="en-US" dirty="0"/>
              <a:t>		array[++end] = </a:t>
            </a:r>
            <a:r>
              <a:rPr lang="en-US" dirty="0" err="1"/>
              <a:t>val</a:t>
            </a:r>
            <a:r>
              <a:rPr lang="en-US" dirty="0"/>
              <a:t>; </a:t>
            </a:r>
          </a:p>
          <a:p>
            <a:pPr marL="0" indent="0">
              <a:buNone/>
            </a:pPr>
            <a:r>
              <a:rPr lang="en-US" dirty="0"/>
              <a:t>	} </a:t>
            </a:r>
          </a:p>
          <a:p>
            <a:pPr marL="0" indent="0">
              <a:buNone/>
            </a:pPr>
            <a:r>
              <a:rPr lang="en-US" dirty="0"/>
              <a:t>	synchronized E pop() { </a:t>
            </a:r>
          </a:p>
          <a:p>
            <a:pPr marL="0" indent="0">
              <a:buNone/>
            </a:pPr>
            <a:r>
              <a:rPr lang="en-US" dirty="0"/>
              <a:t>		if(</a:t>
            </a:r>
            <a:r>
              <a:rPr lang="en-US" dirty="0" err="1"/>
              <a:t>isEmpty</a:t>
            </a:r>
            <a:r>
              <a:rPr lang="en-US" dirty="0"/>
              <a:t>()) </a:t>
            </a:r>
          </a:p>
          <a:p>
            <a:pPr marL="0" indent="0">
              <a:buNone/>
            </a:pPr>
            <a:r>
              <a:rPr lang="en-US" dirty="0"/>
              <a:t>			throw new </a:t>
            </a:r>
            <a:r>
              <a:rPr lang="en-US" dirty="0" err="1"/>
              <a:t>StackEmptyException</a:t>
            </a:r>
            <a:r>
              <a:rPr lang="en-US" dirty="0"/>
              <a:t>(); </a:t>
            </a:r>
          </a:p>
          <a:p>
            <a:pPr marL="0" indent="0">
              <a:buNone/>
            </a:pPr>
            <a:r>
              <a:rPr lang="en-US" dirty="0"/>
              <a:t>		return array[end--]; </a:t>
            </a:r>
          </a:p>
          <a:p>
            <a:pPr marL="0" indent="0">
              <a:buNone/>
            </a:pPr>
            <a:r>
              <a:rPr lang="en-US" dirty="0"/>
              <a:t>	} } </a:t>
            </a:r>
          </a:p>
        </p:txBody>
      </p:sp>
      <p:sp>
        <p:nvSpPr>
          <p:cNvPr id="4" name="TextBox 3">
            <a:extLst>
              <a:ext uri="{FF2B5EF4-FFF2-40B4-BE49-F238E27FC236}">
                <a16:creationId xmlns:a16="http://schemas.microsoft.com/office/drawing/2014/main" id="{BD793AB9-3041-0C12-9F0A-B8332694E888}"/>
              </a:ext>
            </a:extLst>
          </p:cNvPr>
          <p:cNvSpPr txBox="1"/>
          <p:nvPr/>
        </p:nvSpPr>
        <p:spPr>
          <a:xfrm>
            <a:off x="7233920" y="4368800"/>
            <a:ext cx="3800720" cy="461665"/>
          </a:xfrm>
          <a:prstGeom prst="rect">
            <a:avLst/>
          </a:prstGeom>
          <a:noFill/>
          <a:ln>
            <a:solidFill>
              <a:srgbClr val="FF0000"/>
            </a:solidFill>
          </a:ln>
        </p:spPr>
        <p:txBody>
          <a:bodyPr wrap="none" rtlCol="0">
            <a:spAutoFit/>
          </a:bodyPr>
          <a:lstStyle/>
          <a:p>
            <a:r>
              <a:rPr lang="en-US" sz="2400" dirty="0">
                <a:solidFill>
                  <a:srgbClr val="FF0000"/>
                </a:solidFill>
              </a:rPr>
              <a:t>Critical sections of this code?</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587D0588-617D-A027-55E7-2B494941FFCA}"/>
                  </a:ext>
                </a:extLst>
              </p14:cNvPr>
              <p14:cNvContentPartPr/>
              <p14:nvPr/>
            </p14:nvContentPartPr>
            <p14:xfrm>
              <a:off x="3591720" y="3949560"/>
              <a:ext cx="1598400" cy="2155680"/>
            </p14:xfrm>
          </p:contentPart>
        </mc:Choice>
        <mc:Fallback>
          <p:pic>
            <p:nvPicPr>
              <p:cNvPr id="5" name="Ink 4">
                <a:extLst>
                  <a:ext uri="{FF2B5EF4-FFF2-40B4-BE49-F238E27FC236}">
                    <a16:creationId xmlns:a16="http://schemas.microsoft.com/office/drawing/2014/main" id="{587D0588-617D-A027-55E7-2B494941FFCA}"/>
                  </a:ext>
                </a:extLst>
              </p:cNvPr>
              <p:cNvPicPr/>
              <p:nvPr/>
            </p:nvPicPr>
            <p:blipFill>
              <a:blip r:embed="rId3"/>
              <a:stretch>
                <a:fillRect/>
              </a:stretch>
            </p:blipFill>
            <p:spPr>
              <a:xfrm>
                <a:off x="3582360" y="3940200"/>
                <a:ext cx="1617120" cy="2174400"/>
              </a:xfrm>
              <a:prstGeom prst="rect">
                <a:avLst/>
              </a:prstGeom>
            </p:spPr>
          </p:pic>
        </mc:Fallback>
      </mc:AlternateContent>
    </p:spTree>
    <p:extLst>
      <p:ext uri="{BB962C8B-B14F-4D97-AF65-F5344CB8AC3E}">
        <p14:creationId xmlns:p14="http://schemas.microsoft.com/office/powerpoint/2010/main" val="1448350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0D77A-A12E-2519-D945-648888DF91B0}"/>
              </a:ext>
            </a:extLst>
          </p:cNvPr>
          <p:cNvSpPr>
            <a:spLocks noGrp="1"/>
          </p:cNvSpPr>
          <p:nvPr>
            <p:ph type="title"/>
          </p:nvPr>
        </p:nvSpPr>
        <p:spPr>
          <a:xfrm>
            <a:off x="838200" y="0"/>
            <a:ext cx="10515600" cy="1325563"/>
          </a:xfrm>
        </p:spPr>
        <p:txBody>
          <a:bodyPr/>
          <a:lstStyle/>
          <a:p>
            <a:r>
              <a:rPr lang="en-US" dirty="0"/>
              <a:t>Race Condition, but no Data Race</a:t>
            </a:r>
          </a:p>
        </p:txBody>
      </p:sp>
      <p:sp>
        <p:nvSpPr>
          <p:cNvPr id="3" name="Content Placeholder 2">
            <a:extLst>
              <a:ext uri="{FF2B5EF4-FFF2-40B4-BE49-F238E27FC236}">
                <a16:creationId xmlns:a16="http://schemas.microsoft.com/office/drawing/2014/main" id="{2731184E-3E3D-8777-2AB8-6154021FA2E4}"/>
              </a:ext>
            </a:extLst>
          </p:cNvPr>
          <p:cNvSpPr>
            <a:spLocks noGrp="1"/>
          </p:cNvSpPr>
          <p:nvPr>
            <p:ph idx="1"/>
          </p:nvPr>
        </p:nvSpPr>
        <p:spPr>
          <a:xfrm>
            <a:off x="838200" y="1127760"/>
            <a:ext cx="10515600" cy="5730240"/>
          </a:xfrm>
        </p:spPr>
        <p:txBody>
          <a:bodyPr>
            <a:normAutofit lnSpcReduction="10000"/>
          </a:bodyPr>
          <a:lstStyle/>
          <a:p>
            <a:pPr marL="0" indent="0">
              <a:buNone/>
            </a:pPr>
            <a:r>
              <a:rPr lang="en-US" dirty="0"/>
              <a:t>class Stack { </a:t>
            </a:r>
          </a:p>
          <a:p>
            <a:pPr marL="0" indent="0">
              <a:buNone/>
            </a:pPr>
            <a:r>
              <a:rPr lang="en-US" dirty="0"/>
              <a:t>	private E[] array = (E[])new Object[SIZE]; </a:t>
            </a:r>
          </a:p>
          <a:p>
            <a:pPr marL="0" indent="0">
              <a:buNone/>
            </a:pPr>
            <a:r>
              <a:rPr lang="en-US" dirty="0"/>
              <a:t>	private int end = -1; </a:t>
            </a:r>
          </a:p>
          <a:p>
            <a:pPr marL="0" indent="0">
              <a:buNone/>
            </a:pPr>
            <a:r>
              <a:rPr lang="en-US" dirty="0"/>
              <a:t>	synchronized </a:t>
            </a:r>
            <a:r>
              <a:rPr lang="en-US" dirty="0" err="1"/>
              <a:t>boolean</a:t>
            </a:r>
            <a:r>
              <a:rPr lang="en-US" dirty="0"/>
              <a:t> </a:t>
            </a:r>
            <a:r>
              <a:rPr lang="en-US" dirty="0" err="1"/>
              <a:t>isEmpty</a:t>
            </a:r>
            <a:r>
              <a:rPr lang="en-US" dirty="0"/>
              <a:t>() { … } </a:t>
            </a:r>
          </a:p>
          <a:p>
            <a:pPr marL="0" indent="0">
              <a:buNone/>
            </a:pPr>
            <a:r>
              <a:rPr lang="en-US" dirty="0"/>
              <a:t>	synchronized void push(E </a:t>
            </a:r>
            <a:r>
              <a:rPr lang="en-US" dirty="0" err="1"/>
              <a:t>val</a:t>
            </a:r>
            <a:r>
              <a:rPr lang="en-US" dirty="0"/>
              <a:t>) { … } </a:t>
            </a:r>
          </a:p>
          <a:p>
            <a:pPr marL="0" indent="0">
              <a:buNone/>
            </a:pPr>
            <a:r>
              <a:rPr lang="en-US" dirty="0"/>
              <a:t>	synchronized E pop() { … } </a:t>
            </a:r>
          </a:p>
          <a:p>
            <a:pPr marL="0" indent="0">
              <a:buNone/>
            </a:pPr>
            <a:r>
              <a:rPr lang="en-US" dirty="0"/>
              <a:t>	E peek(){</a:t>
            </a:r>
          </a:p>
          <a:p>
            <a:pPr marL="0" indent="0">
              <a:buNone/>
            </a:pPr>
            <a:r>
              <a:rPr lang="en-US" dirty="0"/>
              <a:t>		</a:t>
            </a:r>
            <a:r>
              <a:rPr lang="fr-FR" dirty="0"/>
              <a:t>E ans = pop(); </a:t>
            </a:r>
          </a:p>
          <a:p>
            <a:pPr marL="0" indent="0">
              <a:buNone/>
            </a:pPr>
            <a:r>
              <a:rPr lang="fr-FR" dirty="0"/>
              <a:t>		push(ans); </a:t>
            </a:r>
          </a:p>
          <a:p>
            <a:pPr marL="0" indent="0">
              <a:buNone/>
            </a:pPr>
            <a:r>
              <a:rPr lang="fr-FR" dirty="0"/>
              <a:t>		return ans; </a:t>
            </a:r>
            <a:endParaRPr lang="en-US" dirty="0"/>
          </a:p>
          <a:p>
            <a:pPr marL="0" indent="0">
              <a:buNone/>
            </a:pPr>
            <a:r>
              <a:rPr lang="en-US" dirty="0"/>
              <a:t>	}</a:t>
            </a:r>
          </a:p>
          <a:p>
            <a:pPr marL="0" indent="0">
              <a:buNone/>
            </a:pPr>
            <a:r>
              <a:rPr lang="en-US" dirty="0"/>
              <a:t>} </a:t>
            </a:r>
          </a:p>
        </p:txBody>
      </p:sp>
      <p:sp>
        <p:nvSpPr>
          <p:cNvPr id="4" name="TextBox 3">
            <a:extLst>
              <a:ext uri="{FF2B5EF4-FFF2-40B4-BE49-F238E27FC236}">
                <a16:creationId xmlns:a16="http://schemas.microsoft.com/office/drawing/2014/main" id="{AD7F7C49-A9B0-D71B-2293-78AC65711059}"/>
              </a:ext>
            </a:extLst>
          </p:cNvPr>
          <p:cNvSpPr txBox="1"/>
          <p:nvPr/>
        </p:nvSpPr>
        <p:spPr>
          <a:xfrm>
            <a:off x="7233920" y="4368800"/>
            <a:ext cx="3800720" cy="461665"/>
          </a:xfrm>
          <a:prstGeom prst="rect">
            <a:avLst/>
          </a:prstGeom>
          <a:noFill/>
          <a:ln>
            <a:solidFill>
              <a:srgbClr val="FF0000"/>
            </a:solidFill>
          </a:ln>
        </p:spPr>
        <p:txBody>
          <a:bodyPr wrap="none" rtlCol="0">
            <a:spAutoFit/>
          </a:bodyPr>
          <a:lstStyle/>
          <a:p>
            <a:r>
              <a:rPr lang="en-US" sz="2400" dirty="0">
                <a:solidFill>
                  <a:srgbClr val="FF0000"/>
                </a:solidFill>
              </a:rPr>
              <a:t>Critical sections of this code?</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9BD6735-AEA1-1BC1-3715-1694E16B092C}"/>
                  </a:ext>
                </a:extLst>
              </p14:cNvPr>
              <p14:cNvContentPartPr/>
              <p14:nvPr/>
            </p14:nvContentPartPr>
            <p14:xfrm>
              <a:off x="1017000" y="4537440"/>
              <a:ext cx="3656880" cy="835920"/>
            </p14:xfrm>
          </p:contentPart>
        </mc:Choice>
        <mc:Fallback>
          <p:pic>
            <p:nvPicPr>
              <p:cNvPr id="5" name="Ink 4">
                <a:extLst>
                  <a:ext uri="{FF2B5EF4-FFF2-40B4-BE49-F238E27FC236}">
                    <a16:creationId xmlns:a16="http://schemas.microsoft.com/office/drawing/2014/main" id="{09BD6735-AEA1-1BC1-3715-1694E16B092C}"/>
                  </a:ext>
                </a:extLst>
              </p:cNvPr>
              <p:cNvPicPr/>
              <p:nvPr/>
            </p:nvPicPr>
            <p:blipFill>
              <a:blip r:embed="rId3"/>
              <a:stretch>
                <a:fillRect/>
              </a:stretch>
            </p:blipFill>
            <p:spPr>
              <a:xfrm>
                <a:off x="1007640" y="4528080"/>
                <a:ext cx="3675600" cy="854640"/>
              </a:xfrm>
              <a:prstGeom prst="rect">
                <a:avLst/>
              </a:prstGeom>
            </p:spPr>
          </p:pic>
        </mc:Fallback>
      </mc:AlternateContent>
    </p:spTree>
    <p:extLst>
      <p:ext uri="{BB962C8B-B14F-4D97-AF65-F5344CB8AC3E}">
        <p14:creationId xmlns:p14="http://schemas.microsoft.com/office/powerpoint/2010/main" val="881664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DABED-FC58-1B03-048A-19E1A971A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A9F99-C319-6183-5B10-5E2F36F6CFEB}"/>
              </a:ext>
            </a:extLst>
          </p:cNvPr>
          <p:cNvSpPr>
            <a:spLocks noGrp="1"/>
          </p:cNvSpPr>
          <p:nvPr>
            <p:ph type="title"/>
          </p:nvPr>
        </p:nvSpPr>
        <p:spPr/>
        <p:txBody>
          <a:bodyPr/>
          <a:lstStyle/>
          <a:p>
            <a:r>
              <a:rPr lang="en-US" dirty="0"/>
              <a:t>Two Peeks Break LIFO Order</a:t>
            </a:r>
          </a:p>
        </p:txBody>
      </p:sp>
      <p:grpSp>
        <p:nvGrpSpPr>
          <p:cNvPr id="3" name="Group 2" descr="We have 2 threads both calling peek on a shared stack. The peek operates by popping off the top element, saving its value, pushing that value back onto the stack, the returning the value.">
            <a:extLst>
              <a:ext uri="{FF2B5EF4-FFF2-40B4-BE49-F238E27FC236}">
                <a16:creationId xmlns:a16="http://schemas.microsoft.com/office/drawing/2014/main" id="{D62347D9-8952-216E-1D2A-A04DAE6A99E8}"/>
              </a:ext>
            </a:extLst>
          </p:cNvPr>
          <p:cNvGrpSpPr/>
          <p:nvPr/>
        </p:nvGrpSpPr>
        <p:grpSpPr>
          <a:xfrm>
            <a:off x="3478179" y="1865651"/>
            <a:ext cx="5899501" cy="1163320"/>
            <a:chOff x="3478179" y="1865651"/>
            <a:chExt cx="5899501" cy="1163320"/>
          </a:xfrm>
        </p:grpSpPr>
        <p:sp>
          <p:nvSpPr>
            <p:cNvPr id="4" name="Rectangle 3">
              <a:extLst>
                <a:ext uri="{FF2B5EF4-FFF2-40B4-BE49-F238E27FC236}">
                  <a16:creationId xmlns:a16="http://schemas.microsoft.com/office/drawing/2014/main" id="{A299D9A3-9914-01AF-96F7-48F7C3C82C53}"/>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E ans = pop();</a:t>
              </a:r>
            </a:p>
            <a:p>
              <a:r>
                <a:rPr lang="fr-FR" dirty="0">
                  <a:solidFill>
                    <a:schemeClr val="tx1"/>
                  </a:solidFill>
                </a:rPr>
                <a:t>push(ans); </a:t>
              </a:r>
            </a:p>
            <a:p>
              <a:r>
                <a:rPr lang="fr-FR" dirty="0">
                  <a:solidFill>
                    <a:schemeClr val="tx1"/>
                  </a:solidFill>
                </a:rPr>
                <a:t>return ans;</a:t>
              </a:r>
              <a:endParaRPr lang="en-US" dirty="0">
                <a:solidFill>
                  <a:schemeClr val="tx1"/>
                </a:solidFill>
              </a:endParaRPr>
            </a:p>
          </p:txBody>
        </p:sp>
        <p:sp>
          <p:nvSpPr>
            <p:cNvPr id="5" name="TextBox 4">
              <a:extLst>
                <a:ext uri="{FF2B5EF4-FFF2-40B4-BE49-F238E27FC236}">
                  <a16:creationId xmlns:a16="http://schemas.microsoft.com/office/drawing/2014/main" id="{559CFE3B-7878-8C9D-BF13-BD426649936C}"/>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EDE62BD0-463C-1DCB-EF49-5A3FD44E6D3F}"/>
                </a:ext>
              </a:extLst>
            </p:cNvPr>
            <p:cNvSpPr/>
            <p:nvPr/>
          </p:nvSpPr>
          <p:spPr>
            <a:xfrm>
              <a:off x="6878319" y="2172832"/>
              <a:ext cx="2499361"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dirty="0">
                  <a:solidFill>
                    <a:schemeClr val="tx1"/>
                  </a:solidFill>
                </a:rPr>
                <a:t>E ans = pop();</a:t>
              </a:r>
            </a:p>
            <a:p>
              <a:r>
                <a:rPr lang="fr-FR" dirty="0">
                  <a:solidFill>
                    <a:schemeClr val="tx1"/>
                  </a:solidFill>
                </a:rPr>
                <a:t>push(ans); </a:t>
              </a:r>
            </a:p>
            <a:p>
              <a:r>
                <a:rPr lang="fr-FR" dirty="0">
                  <a:solidFill>
                    <a:schemeClr val="tx1"/>
                  </a:solidFill>
                </a:rPr>
                <a:t>return ans;</a:t>
              </a:r>
              <a:endParaRPr lang="en-US" dirty="0">
                <a:solidFill>
                  <a:schemeClr val="tx1"/>
                </a:solidFill>
              </a:endParaRPr>
            </a:p>
          </p:txBody>
        </p:sp>
        <p:sp>
          <p:nvSpPr>
            <p:cNvPr id="7" name="TextBox 6">
              <a:extLst>
                <a:ext uri="{FF2B5EF4-FFF2-40B4-BE49-F238E27FC236}">
                  <a16:creationId xmlns:a16="http://schemas.microsoft.com/office/drawing/2014/main" id="{705184C2-B0C7-D9B8-F4BB-CE27730DFF96}"/>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Consider the following interleaving:&#10;&#10;First Thread 1 calls:&#10;ans = pop();&#10;&#10;Then Thead 2 calls:&#10;ans = pop();&#10;&#10;Then Thread 1 calls:&#10;push(ans);&#10;return ans;&#10;&#10;Finally Thread 2 calls:&#10;push(ans);&#10;return ans;">
            <a:extLst>
              <a:ext uri="{FF2B5EF4-FFF2-40B4-BE49-F238E27FC236}">
                <a16:creationId xmlns:a16="http://schemas.microsoft.com/office/drawing/2014/main" id="{CC23C7D1-C659-B9A6-B78C-2492B6E9CEE3}"/>
              </a:ext>
            </a:extLst>
          </p:cNvPr>
          <p:cNvGrpSpPr/>
          <p:nvPr/>
        </p:nvGrpSpPr>
        <p:grpSpPr>
          <a:xfrm>
            <a:off x="2864289" y="3437615"/>
            <a:ext cx="6786878" cy="2424706"/>
            <a:chOff x="2864289" y="3437615"/>
            <a:chExt cx="6786878" cy="2424706"/>
          </a:xfrm>
        </p:grpSpPr>
        <p:sp>
          <p:nvSpPr>
            <p:cNvPr id="8" name="Rectangle 7">
              <a:extLst>
                <a:ext uri="{FF2B5EF4-FFF2-40B4-BE49-F238E27FC236}">
                  <a16:creationId xmlns:a16="http://schemas.microsoft.com/office/drawing/2014/main" id="{CF30B527-2773-B825-D04E-300DF91EA384}"/>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fr-FR" dirty="0">
                  <a:solidFill>
                    <a:schemeClr val="tx1"/>
                  </a:solidFill>
                </a:rPr>
                <a:t>E ans = pop();</a:t>
              </a:r>
            </a:p>
            <a:p>
              <a:pPr marL="0" indent="0">
                <a:buNone/>
              </a:pPr>
              <a:r>
                <a:rPr lang="fr-FR" dirty="0">
                  <a:solidFill>
                    <a:schemeClr val="tx1"/>
                  </a:solidFill>
                </a:rPr>
                <a:t> </a:t>
              </a:r>
            </a:p>
            <a:p>
              <a:pPr marL="0" indent="0">
                <a:buNone/>
              </a:pPr>
              <a:r>
                <a:rPr lang="fr-FR" dirty="0">
                  <a:solidFill>
                    <a:schemeClr val="tx1"/>
                  </a:solidFill>
                </a:rPr>
                <a:t>push(ans); </a:t>
              </a:r>
            </a:p>
            <a:p>
              <a:pPr marL="0" indent="0">
                <a:buNone/>
              </a:pPr>
              <a:r>
                <a:rPr lang="fr-FR" dirty="0">
                  <a:solidFill>
                    <a:schemeClr val="tx1"/>
                  </a:solidFill>
                </a:rPr>
                <a:t>return ans; </a:t>
              </a:r>
              <a:endParaRPr lang="en-US" dirty="0">
                <a:solidFill>
                  <a:schemeClr val="tx1"/>
                </a:solidFill>
              </a:endParaRPr>
            </a:p>
          </p:txBody>
        </p:sp>
        <p:sp>
          <p:nvSpPr>
            <p:cNvPr id="9" name="Rectangle 8">
              <a:extLst>
                <a:ext uri="{FF2B5EF4-FFF2-40B4-BE49-F238E27FC236}">
                  <a16:creationId xmlns:a16="http://schemas.microsoft.com/office/drawing/2014/main" id="{DD19CF3D-8C79-8ECE-BA54-AEF4FF39558A}"/>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fr-FR" dirty="0">
                <a:solidFill>
                  <a:schemeClr val="tx1"/>
                </a:solidFill>
              </a:endParaRPr>
            </a:p>
            <a:p>
              <a:r>
                <a:rPr lang="fr-FR" dirty="0">
                  <a:solidFill>
                    <a:schemeClr val="tx1"/>
                  </a:solidFill>
                </a:rPr>
                <a:t>E ans = pop();</a:t>
              </a:r>
            </a:p>
            <a:p>
              <a:endParaRPr lang="fr-FR" dirty="0">
                <a:solidFill>
                  <a:schemeClr val="tx1"/>
                </a:solidFill>
              </a:endParaRPr>
            </a:p>
            <a:p>
              <a:endParaRPr lang="fr-FR" dirty="0">
                <a:solidFill>
                  <a:schemeClr val="tx1"/>
                </a:solidFill>
              </a:endParaRPr>
            </a:p>
            <a:p>
              <a:r>
                <a:rPr lang="fr-FR" dirty="0">
                  <a:solidFill>
                    <a:schemeClr val="tx1"/>
                  </a:solidFill>
                </a:rPr>
                <a:t>push(ans); </a:t>
              </a:r>
            </a:p>
            <a:p>
              <a:r>
                <a:rPr lang="fr-FR" dirty="0">
                  <a:solidFill>
                    <a:schemeClr val="tx1"/>
                  </a:solidFill>
                </a:rPr>
                <a:t>return ans;</a:t>
              </a:r>
              <a:endParaRPr lang="en-US" dirty="0">
                <a:solidFill>
                  <a:schemeClr val="tx1"/>
                </a:solidFill>
              </a:endParaRPr>
            </a:p>
          </p:txBody>
        </p:sp>
      </p:grpSp>
      <mc:AlternateContent xmlns:mc="http://schemas.openxmlformats.org/markup-compatibility/2006">
        <mc:Choice xmlns:p14="http://schemas.microsoft.com/office/powerpoint/2010/main" Requires="p14">
          <p:contentPart p14:bwMode="auto" r:id="rId2">
            <p14:nvContentPartPr>
              <p14:cNvPr id="11" name="Ink 10">
                <a:extLst>
                  <a:ext uri="{FF2B5EF4-FFF2-40B4-BE49-F238E27FC236}">
                    <a16:creationId xmlns:a16="http://schemas.microsoft.com/office/drawing/2014/main" id="{AEF700F2-3261-BCD2-C41E-2D71A29E7226}"/>
                  </a:ext>
                </a:extLst>
              </p14:cNvPr>
              <p14:cNvContentPartPr/>
              <p14:nvPr/>
            </p14:nvContentPartPr>
            <p14:xfrm>
              <a:off x="694440" y="1733040"/>
              <a:ext cx="7279200" cy="2339280"/>
            </p14:xfrm>
          </p:contentPart>
        </mc:Choice>
        <mc:Fallback>
          <p:pic>
            <p:nvPicPr>
              <p:cNvPr id="11" name="Ink 10">
                <a:extLst>
                  <a:ext uri="{FF2B5EF4-FFF2-40B4-BE49-F238E27FC236}">
                    <a16:creationId xmlns:a16="http://schemas.microsoft.com/office/drawing/2014/main" id="{AEF700F2-3261-BCD2-C41E-2D71A29E7226}"/>
                  </a:ext>
                </a:extLst>
              </p:cNvPr>
              <p:cNvPicPr/>
              <p:nvPr/>
            </p:nvPicPr>
            <p:blipFill>
              <a:blip r:embed="rId3"/>
              <a:stretch>
                <a:fillRect/>
              </a:stretch>
            </p:blipFill>
            <p:spPr>
              <a:xfrm>
                <a:off x="685080" y="1723680"/>
                <a:ext cx="7297920" cy="2358000"/>
              </a:xfrm>
              <a:prstGeom prst="rect">
                <a:avLst/>
              </a:prstGeom>
            </p:spPr>
          </p:pic>
        </mc:Fallback>
      </mc:AlternateContent>
    </p:spTree>
    <p:extLst>
      <p:ext uri="{BB962C8B-B14F-4D97-AF65-F5344CB8AC3E}">
        <p14:creationId xmlns:p14="http://schemas.microsoft.com/office/powerpoint/2010/main" val="319497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0D77A-A12E-2519-D945-648888DF91B0}"/>
              </a:ext>
            </a:extLst>
          </p:cNvPr>
          <p:cNvSpPr>
            <a:spLocks noGrp="1"/>
          </p:cNvSpPr>
          <p:nvPr>
            <p:ph type="title"/>
          </p:nvPr>
        </p:nvSpPr>
        <p:spPr>
          <a:xfrm>
            <a:off x="838200" y="0"/>
            <a:ext cx="10515600" cy="1325563"/>
          </a:xfrm>
        </p:spPr>
        <p:txBody>
          <a:bodyPr/>
          <a:lstStyle/>
          <a:p>
            <a:r>
              <a:rPr lang="en-US" dirty="0"/>
              <a:t>Race Condition, including a </a:t>
            </a:r>
            <a:r>
              <a:rPr lang="en-US" dirty="0">
                <a:solidFill>
                  <a:srgbClr val="FF0000"/>
                </a:solidFill>
              </a:rPr>
              <a:t>Data Race</a:t>
            </a:r>
          </a:p>
        </p:txBody>
      </p:sp>
      <p:sp>
        <p:nvSpPr>
          <p:cNvPr id="3" name="Content Placeholder 2">
            <a:extLst>
              <a:ext uri="{FF2B5EF4-FFF2-40B4-BE49-F238E27FC236}">
                <a16:creationId xmlns:a16="http://schemas.microsoft.com/office/drawing/2014/main" id="{2731184E-3E3D-8777-2AB8-6154021FA2E4}"/>
              </a:ext>
            </a:extLst>
          </p:cNvPr>
          <p:cNvSpPr>
            <a:spLocks noGrp="1"/>
          </p:cNvSpPr>
          <p:nvPr>
            <p:ph idx="1"/>
          </p:nvPr>
        </p:nvSpPr>
        <p:spPr>
          <a:xfrm>
            <a:off x="838200" y="1127760"/>
            <a:ext cx="10515600" cy="5730240"/>
          </a:xfrm>
        </p:spPr>
        <p:txBody>
          <a:bodyPr>
            <a:normAutofit fontScale="92500" lnSpcReduction="20000"/>
          </a:bodyPr>
          <a:lstStyle/>
          <a:p>
            <a:pPr marL="0" indent="0">
              <a:buNone/>
            </a:pPr>
            <a:r>
              <a:rPr lang="en-US" dirty="0"/>
              <a:t>class Stack { </a:t>
            </a:r>
          </a:p>
          <a:p>
            <a:pPr marL="0" indent="0">
              <a:buNone/>
            </a:pPr>
            <a:r>
              <a:rPr lang="en-US" dirty="0"/>
              <a:t>	private E[] array = (E[])new Object[SIZE]; </a:t>
            </a:r>
          </a:p>
          <a:p>
            <a:pPr marL="0" indent="0">
              <a:buNone/>
            </a:pPr>
            <a:r>
              <a:rPr lang="en-US" dirty="0"/>
              <a:t>	private int index = -1; </a:t>
            </a:r>
          </a:p>
          <a:p>
            <a:pPr marL="0" indent="0">
              <a:buNone/>
            </a:pPr>
            <a:r>
              <a:rPr lang="en-US" dirty="0"/>
              <a:t>	synchronized </a:t>
            </a:r>
            <a:r>
              <a:rPr lang="en-US" dirty="0" err="1"/>
              <a:t>boolean</a:t>
            </a:r>
            <a:r>
              <a:rPr lang="en-US" dirty="0"/>
              <a:t> </a:t>
            </a:r>
            <a:r>
              <a:rPr lang="en-US" dirty="0" err="1"/>
              <a:t>isEmpty</a:t>
            </a:r>
            <a:r>
              <a:rPr lang="en-US" dirty="0"/>
              <a:t>() { … } </a:t>
            </a:r>
          </a:p>
          <a:p>
            <a:pPr marL="0" indent="0">
              <a:buNone/>
            </a:pPr>
            <a:r>
              <a:rPr lang="en-US" dirty="0"/>
              <a:t>	synchronized void push(E </a:t>
            </a:r>
            <a:r>
              <a:rPr lang="en-US" dirty="0" err="1"/>
              <a:t>val</a:t>
            </a:r>
            <a:r>
              <a:rPr lang="en-US" dirty="0"/>
              <a:t>) { … } </a:t>
            </a:r>
          </a:p>
          <a:p>
            <a:pPr marL="0" indent="0">
              <a:buNone/>
            </a:pPr>
            <a:r>
              <a:rPr lang="en-US" dirty="0"/>
              <a:t>	synchronized E pop() { … } </a:t>
            </a:r>
          </a:p>
          <a:p>
            <a:pPr marL="0" indent="0">
              <a:buNone/>
            </a:pPr>
            <a:r>
              <a:rPr lang="en-US" dirty="0"/>
              <a:t>	E peek(){</a:t>
            </a:r>
          </a:p>
          <a:p>
            <a:pPr marL="0" indent="0">
              <a:buNone/>
            </a:pPr>
            <a:r>
              <a:rPr lang="en-US" dirty="0"/>
              <a:t>		</a:t>
            </a:r>
            <a:r>
              <a:rPr lang="en-US" dirty="0" err="1">
                <a:solidFill>
                  <a:srgbClr val="FF0000"/>
                </a:solidFill>
              </a:rPr>
              <a:t>System.out.println</a:t>
            </a:r>
            <a:r>
              <a:rPr lang="en-US" dirty="0">
                <a:solidFill>
                  <a:srgbClr val="FF0000"/>
                </a:solidFill>
              </a:rPr>
              <a:t>(end); // this line creates a data race</a:t>
            </a:r>
          </a:p>
          <a:p>
            <a:pPr marL="0" indent="0">
              <a:buNone/>
            </a:pPr>
            <a:r>
              <a:rPr lang="en-US" dirty="0"/>
              <a:t>		</a:t>
            </a:r>
            <a:r>
              <a:rPr lang="fr-FR" dirty="0"/>
              <a:t>E ans = pop(); </a:t>
            </a:r>
          </a:p>
          <a:p>
            <a:pPr marL="0" indent="0">
              <a:buNone/>
            </a:pPr>
            <a:r>
              <a:rPr lang="fr-FR" dirty="0"/>
              <a:t>		push(ans); </a:t>
            </a:r>
          </a:p>
          <a:p>
            <a:pPr marL="0" indent="0">
              <a:buNone/>
            </a:pPr>
            <a:r>
              <a:rPr lang="fr-FR" dirty="0"/>
              <a:t>		return ans; </a:t>
            </a:r>
            <a:endParaRPr lang="en-US" dirty="0"/>
          </a:p>
          <a:p>
            <a:pPr marL="0" indent="0">
              <a:buNone/>
            </a:pPr>
            <a:r>
              <a:rPr lang="en-US" dirty="0"/>
              <a:t>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9D844CFF-DA46-A8C6-F490-855973CFA116}"/>
                  </a:ext>
                </a:extLst>
              </p14:cNvPr>
              <p14:cNvContentPartPr/>
              <p14:nvPr/>
            </p14:nvContentPartPr>
            <p14:xfrm>
              <a:off x="995400" y="2810520"/>
              <a:ext cx="1549080" cy="1427040"/>
            </p14:xfrm>
          </p:contentPart>
        </mc:Choice>
        <mc:Fallback>
          <p:pic>
            <p:nvPicPr>
              <p:cNvPr id="4" name="Ink 3">
                <a:extLst>
                  <a:ext uri="{FF2B5EF4-FFF2-40B4-BE49-F238E27FC236}">
                    <a16:creationId xmlns:a16="http://schemas.microsoft.com/office/drawing/2014/main" id="{9D844CFF-DA46-A8C6-F490-855973CFA116}"/>
                  </a:ext>
                </a:extLst>
              </p:cNvPr>
              <p:cNvPicPr/>
              <p:nvPr/>
            </p:nvPicPr>
            <p:blipFill>
              <a:blip r:embed="rId3"/>
              <a:stretch>
                <a:fillRect/>
              </a:stretch>
            </p:blipFill>
            <p:spPr>
              <a:xfrm>
                <a:off x="986040" y="2801160"/>
                <a:ext cx="1567800" cy="1445760"/>
              </a:xfrm>
              <a:prstGeom prst="rect">
                <a:avLst/>
              </a:prstGeom>
            </p:spPr>
          </p:pic>
        </mc:Fallback>
      </mc:AlternateContent>
    </p:spTree>
    <p:extLst>
      <p:ext uri="{BB962C8B-B14F-4D97-AF65-F5344CB8AC3E}">
        <p14:creationId xmlns:p14="http://schemas.microsoft.com/office/powerpoint/2010/main" val="2217747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a:xfrm>
            <a:off x="838200" y="365125"/>
            <a:ext cx="4805636" cy="1325563"/>
          </a:xfrm>
        </p:spPr>
        <p:txBody>
          <a:bodyPr/>
          <a:lstStyle/>
          <a:p>
            <a:r>
              <a:rPr lang="en-US" dirty="0"/>
              <a:t>Bad Interleaving - Peek and </a:t>
            </a:r>
            <a:r>
              <a:rPr lang="en-US" dirty="0" err="1"/>
              <a:t>isEmpty</a:t>
            </a:r>
            <a:endParaRPr lang="en-US" dirty="0"/>
          </a:p>
        </p:txBody>
      </p:sp>
      <p:grpSp>
        <p:nvGrpSpPr>
          <p:cNvPr id="3" name="Group 2" descr="Thread 1 calls: &#10;peek()&#10;&#10;Thread 2 calls:&#10;push(x);&#10;boolean b = isEmpty();&#10;">
            <a:extLst>
              <a:ext uri="{FF2B5EF4-FFF2-40B4-BE49-F238E27FC236}">
                <a16:creationId xmlns:a16="http://schemas.microsoft.com/office/drawing/2014/main" id="{6DEF2A0E-3D0F-FC15-BC0E-D6E272B5D85C}"/>
              </a:ext>
            </a:extLst>
          </p:cNvPr>
          <p:cNvGrpSpPr/>
          <p:nvPr/>
        </p:nvGrpSpPr>
        <p:grpSpPr>
          <a:xfrm>
            <a:off x="3478179" y="1865651"/>
            <a:ext cx="5899501" cy="1163320"/>
            <a:chOff x="3478179" y="1865651"/>
            <a:chExt cx="5899501" cy="1163320"/>
          </a:xfrm>
        </p:grpSpPr>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peek();</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878319" y="2172832"/>
              <a:ext cx="2499361"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push(x);</a:t>
              </a:r>
              <a:br>
                <a:rPr lang="en-US" dirty="0">
                  <a:solidFill>
                    <a:schemeClr val="tx1"/>
                  </a:solidFill>
                </a:rPr>
              </a:br>
              <a:r>
                <a:rPr lang="en-US" dirty="0" err="1">
                  <a:solidFill>
                    <a:schemeClr val="tx1"/>
                  </a:solidFill>
                </a:rPr>
                <a:t>boolean</a:t>
              </a:r>
              <a:r>
                <a:rPr lang="en-US" dirty="0">
                  <a:solidFill>
                    <a:schemeClr val="tx1"/>
                  </a:solidFill>
                </a:rPr>
                <a:t> b = </a:t>
              </a:r>
              <a:r>
                <a:rPr lang="en-US" dirty="0" err="1">
                  <a:solidFill>
                    <a:schemeClr val="tx1"/>
                  </a:solidFill>
                </a:rPr>
                <a:t>isEmpty</a:t>
              </a:r>
              <a:r>
                <a:rPr lang="en-US" dirty="0">
                  <a:solidFill>
                    <a:schemeClr val="tx1"/>
                  </a:solidFill>
                </a:rPr>
                <a:t>();</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1" name="Group 10" descr="Consider the interleaving:&#10;&#10;Thread 2 calls push(x);&#10;&#10;Thread 1 calls:&#10;ans = pop();&#10;&#10;Thread 2 calls:&#10;boolean b = isEmpty();&#10;&#10;Thread 1 calls:&#10;push(ans)&#10;return ans;">
            <a:extLst>
              <a:ext uri="{FF2B5EF4-FFF2-40B4-BE49-F238E27FC236}">
                <a16:creationId xmlns:a16="http://schemas.microsoft.com/office/drawing/2014/main" id="{25AC2037-087F-5F67-59AD-C07A090ADBCB}"/>
              </a:ext>
            </a:extLst>
          </p:cNvPr>
          <p:cNvGrpSpPr/>
          <p:nvPr/>
        </p:nvGrpSpPr>
        <p:grpSpPr>
          <a:xfrm>
            <a:off x="2864289" y="3437615"/>
            <a:ext cx="6786878" cy="2424706"/>
            <a:chOff x="2864289" y="3437615"/>
            <a:chExt cx="6786878" cy="2424706"/>
          </a:xfrm>
        </p:grpSpPr>
        <p:sp>
          <p:nvSpPr>
            <p:cNvPr id="8" name="Rectangle 7">
              <a:extLst>
                <a:ext uri="{FF2B5EF4-FFF2-40B4-BE49-F238E27FC236}">
                  <a16:creationId xmlns:a16="http://schemas.microsoft.com/office/drawing/2014/main" id="{DF26526B-ABE2-8331-53E8-2718273955D5}"/>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fr-FR" dirty="0">
                <a:solidFill>
                  <a:schemeClr val="tx1"/>
                </a:solidFill>
              </a:endParaRPr>
            </a:p>
            <a:p>
              <a:pPr marL="0" indent="0">
                <a:buNone/>
              </a:pPr>
              <a:r>
                <a:rPr lang="fr-FR" dirty="0">
                  <a:solidFill>
                    <a:schemeClr val="tx1"/>
                  </a:solidFill>
                </a:rPr>
                <a:t>E ans = pop();</a:t>
              </a:r>
            </a:p>
            <a:p>
              <a:pPr marL="0" indent="0">
                <a:buNone/>
              </a:pPr>
              <a:r>
                <a:rPr lang="fr-FR" dirty="0">
                  <a:solidFill>
                    <a:schemeClr val="tx1"/>
                  </a:solidFill>
                </a:rPr>
                <a:t> </a:t>
              </a:r>
            </a:p>
            <a:p>
              <a:pPr marL="0" indent="0">
                <a:buNone/>
              </a:pPr>
              <a:r>
                <a:rPr lang="fr-FR" dirty="0">
                  <a:solidFill>
                    <a:schemeClr val="tx1"/>
                  </a:solidFill>
                </a:rPr>
                <a:t>push(ans); </a:t>
              </a:r>
            </a:p>
            <a:p>
              <a:pPr marL="0" indent="0">
                <a:buNone/>
              </a:pPr>
              <a:r>
                <a:rPr lang="fr-FR" dirty="0">
                  <a:solidFill>
                    <a:schemeClr val="tx1"/>
                  </a:solidFill>
                </a:rPr>
                <a:t>return ans; </a:t>
              </a:r>
              <a:endParaRPr lang="en-US" dirty="0">
                <a:solidFill>
                  <a:schemeClr val="tx1"/>
                </a:solidFill>
              </a:endParaRPr>
            </a:p>
          </p:txBody>
        </p:sp>
        <p:sp>
          <p:nvSpPr>
            <p:cNvPr id="9" name="Rectangle 8">
              <a:extLst>
                <a:ext uri="{FF2B5EF4-FFF2-40B4-BE49-F238E27FC236}">
                  <a16:creationId xmlns:a16="http://schemas.microsoft.com/office/drawing/2014/main" id="{7B3ADA93-4C40-AD42-D3C8-F3A19358B1E7}"/>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push(x);</a:t>
              </a:r>
            </a:p>
            <a:p>
              <a:pPr marL="0" indent="0">
                <a:buNone/>
              </a:pPr>
              <a:endParaRPr lang="en-US" dirty="0">
                <a:solidFill>
                  <a:schemeClr val="tx1"/>
                </a:solidFill>
              </a:endParaRPr>
            </a:p>
            <a:p>
              <a:r>
                <a:rPr lang="en-US" dirty="0" err="1">
                  <a:solidFill>
                    <a:schemeClr val="tx1"/>
                  </a:solidFill>
                </a:rPr>
                <a:t>boolean</a:t>
              </a:r>
              <a:r>
                <a:rPr lang="en-US" dirty="0">
                  <a:solidFill>
                    <a:schemeClr val="tx1"/>
                  </a:solidFill>
                </a:rPr>
                <a:t> b = </a:t>
              </a:r>
              <a:r>
                <a:rPr lang="en-US" dirty="0" err="1">
                  <a:solidFill>
                    <a:schemeClr val="tx1"/>
                  </a:solidFill>
                </a:rPr>
                <a:t>isEmpty</a:t>
              </a:r>
              <a:r>
                <a:rPr lang="en-US" dirty="0">
                  <a:solidFill>
                    <a:schemeClr val="tx1"/>
                  </a:solidFill>
                </a:rPr>
                <a:t>();</a:t>
              </a:r>
            </a:p>
          </p:txBody>
        </p:sp>
      </p:grpSp>
      <p:sp>
        <p:nvSpPr>
          <p:cNvPr id="10" name="TextBox 9">
            <a:extLst>
              <a:ext uri="{FF2B5EF4-FFF2-40B4-BE49-F238E27FC236}">
                <a16:creationId xmlns:a16="http://schemas.microsoft.com/office/drawing/2014/main" id="{C6DB5831-0F18-E385-D329-3B1A55566C6B}"/>
              </a:ext>
            </a:extLst>
          </p:cNvPr>
          <p:cNvSpPr txBox="1"/>
          <p:nvPr/>
        </p:nvSpPr>
        <p:spPr>
          <a:xfrm>
            <a:off x="7664661" y="438190"/>
            <a:ext cx="4527339" cy="923330"/>
          </a:xfrm>
          <a:prstGeom prst="rect">
            <a:avLst/>
          </a:prstGeom>
          <a:noFill/>
        </p:spPr>
        <p:txBody>
          <a:bodyPr wrap="square" rtlCol="0">
            <a:spAutoFit/>
          </a:bodyPr>
          <a:lstStyle/>
          <a:p>
            <a:r>
              <a:rPr lang="en-US" b="1" dirty="0"/>
              <a:t>Expected Behavior:</a:t>
            </a:r>
          </a:p>
          <a:p>
            <a:r>
              <a:rPr lang="en-US" dirty="0"/>
              <a:t>We push but never pop, so the stack should not be empty.</a:t>
            </a:r>
          </a:p>
        </p:txBody>
      </p:sp>
      <mc:AlternateContent xmlns:mc="http://schemas.openxmlformats.org/markup-compatibility/2006">
        <mc:Choice xmlns:p14="http://schemas.microsoft.com/office/powerpoint/2010/main" Requires="p14">
          <p:contentPart p14:bwMode="auto" r:id="rId2">
            <p14:nvContentPartPr>
              <p14:cNvPr id="12" name="Ink 11">
                <a:extLst>
                  <a:ext uri="{FF2B5EF4-FFF2-40B4-BE49-F238E27FC236}">
                    <a16:creationId xmlns:a16="http://schemas.microsoft.com/office/drawing/2014/main" id="{7B5C4E4F-A920-790F-FFF3-2F55182C9D81}"/>
                  </a:ext>
                </a:extLst>
              </p14:cNvPr>
              <p14:cNvContentPartPr/>
              <p14:nvPr/>
            </p14:nvContentPartPr>
            <p14:xfrm>
              <a:off x="697320" y="924480"/>
              <a:ext cx="8533080" cy="3760200"/>
            </p14:xfrm>
          </p:contentPart>
        </mc:Choice>
        <mc:Fallback>
          <p:pic>
            <p:nvPicPr>
              <p:cNvPr id="12" name="Ink 11">
                <a:extLst>
                  <a:ext uri="{FF2B5EF4-FFF2-40B4-BE49-F238E27FC236}">
                    <a16:creationId xmlns:a16="http://schemas.microsoft.com/office/drawing/2014/main" id="{7B5C4E4F-A920-790F-FFF3-2F55182C9D81}"/>
                  </a:ext>
                </a:extLst>
              </p:cNvPr>
              <p:cNvPicPr/>
              <p:nvPr/>
            </p:nvPicPr>
            <p:blipFill>
              <a:blip r:embed="rId3"/>
              <a:stretch>
                <a:fillRect/>
              </a:stretch>
            </p:blipFill>
            <p:spPr>
              <a:xfrm>
                <a:off x="687960" y="915120"/>
                <a:ext cx="8551800" cy="3778920"/>
              </a:xfrm>
              <a:prstGeom prst="rect">
                <a:avLst/>
              </a:prstGeom>
            </p:spPr>
          </p:pic>
        </mc:Fallback>
      </mc:AlternateContent>
    </p:spTree>
    <p:extLst>
      <p:ext uri="{BB962C8B-B14F-4D97-AF65-F5344CB8AC3E}">
        <p14:creationId xmlns:p14="http://schemas.microsoft.com/office/powerpoint/2010/main" val="1587360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a:xfrm>
            <a:off x="838200" y="365125"/>
            <a:ext cx="3716108" cy="1325563"/>
          </a:xfrm>
        </p:spPr>
        <p:txBody>
          <a:bodyPr/>
          <a:lstStyle/>
          <a:p>
            <a:r>
              <a:rPr lang="en-US" dirty="0"/>
              <a:t>Challenge - Peek and Push</a:t>
            </a:r>
          </a:p>
        </p:txBody>
      </p:sp>
      <p:grpSp>
        <p:nvGrpSpPr>
          <p:cNvPr id="11" name="Group 10" descr="Thread 1 calls:&#10;peek();&#10;&#10;Thread 2 calls:&#10;push(x);&#10;push(y);&#10;System.out.println(pop());&#10;System.out.println(pop());&#10;">
            <a:extLst>
              <a:ext uri="{FF2B5EF4-FFF2-40B4-BE49-F238E27FC236}">
                <a16:creationId xmlns:a16="http://schemas.microsoft.com/office/drawing/2014/main" id="{F0B1AE8E-95C8-BC5D-50A1-9BF0D0094D26}"/>
              </a:ext>
            </a:extLst>
          </p:cNvPr>
          <p:cNvGrpSpPr/>
          <p:nvPr/>
        </p:nvGrpSpPr>
        <p:grpSpPr>
          <a:xfrm>
            <a:off x="3478179" y="1865651"/>
            <a:ext cx="5899502" cy="1436349"/>
            <a:chOff x="3478179" y="1865651"/>
            <a:chExt cx="5899502" cy="1436349"/>
          </a:xfrm>
        </p:grpSpPr>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peek();</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112916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push(x);</a:t>
              </a:r>
            </a:p>
            <a:p>
              <a:r>
                <a:rPr lang="en-US" dirty="0">
                  <a:solidFill>
                    <a:schemeClr val="tx1"/>
                  </a:solidFill>
                </a:rPr>
                <a:t>push(y);</a:t>
              </a:r>
              <a:br>
                <a:rPr lang="en-US" dirty="0">
                  <a:solidFill>
                    <a:schemeClr val="tx1"/>
                  </a:solidFill>
                </a:rPr>
              </a:br>
              <a:r>
                <a:rPr lang="en-US" dirty="0" err="1">
                  <a:solidFill>
                    <a:schemeClr val="tx1"/>
                  </a:solidFill>
                </a:rPr>
                <a:t>System.out.println</a:t>
              </a:r>
              <a:r>
                <a:rPr lang="en-US" dirty="0">
                  <a:solidFill>
                    <a:schemeClr val="tx1"/>
                  </a:solidFill>
                </a:rPr>
                <a:t>(pop()); </a:t>
              </a:r>
              <a:br>
                <a:rPr lang="en-US" dirty="0">
                  <a:solidFill>
                    <a:schemeClr val="tx1"/>
                  </a:solidFill>
                </a:rPr>
              </a:br>
              <a:r>
                <a:rPr lang="en-US" dirty="0" err="1">
                  <a:solidFill>
                    <a:schemeClr val="tx1"/>
                  </a:solidFill>
                </a:rPr>
                <a:t>System.out.println</a:t>
              </a:r>
              <a:r>
                <a:rPr lang="en-US" dirty="0">
                  <a:solidFill>
                    <a:schemeClr val="tx1"/>
                  </a:solidFill>
                </a:rPr>
                <a:t>(pop());</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2" name="Group 11" descr="Identify your own interleaving which results in the items from the stack being printed in FIFO order rather than LIFO order. The lines of code that need to be interleaved are as follows.&#10;&#10;Thread 1:&#10;E ans = pop();&#10;push(ans);&#10;return ans;&#10;&#10;Thread 2:&#10;push(x);&#10;push(y);&#10;System.out.println(pop());&#10;System.out.println(pop());">
            <a:extLst>
              <a:ext uri="{FF2B5EF4-FFF2-40B4-BE49-F238E27FC236}">
                <a16:creationId xmlns:a16="http://schemas.microsoft.com/office/drawing/2014/main" id="{1F197541-7C10-F56E-6F28-E1133C8CF66F}"/>
              </a:ext>
            </a:extLst>
          </p:cNvPr>
          <p:cNvGrpSpPr/>
          <p:nvPr/>
        </p:nvGrpSpPr>
        <p:grpSpPr>
          <a:xfrm>
            <a:off x="2864289" y="3437615"/>
            <a:ext cx="6786878" cy="2424706"/>
            <a:chOff x="2864289" y="3437615"/>
            <a:chExt cx="6786878" cy="2424706"/>
          </a:xfrm>
        </p:grpSpPr>
        <p:sp>
          <p:nvSpPr>
            <p:cNvPr id="8" name="Rectangle 7">
              <a:extLst>
                <a:ext uri="{FF2B5EF4-FFF2-40B4-BE49-F238E27FC236}">
                  <a16:creationId xmlns:a16="http://schemas.microsoft.com/office/drawing/2014/main" id="{DF26526B-ABE2-8331-53E8-2718273955D5}"/>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fr-FR" dirty="0">
                <a:solidFill>
                  <a:schemeClr val="tx1"/>
                </a:solidFill>
              </a:endParaRPr>
            </a:p>
            <a:p>
              <a:pPr marL="0" indent="0">
                <a:buNone/>
              </a:pPr>
              <a:r>
                <a:rPr lang="fr-FR" dirty="0">
                  <a:solidFill>
                    <a:schemeClr val="tx1"/>
                  </a:solidFill>
                </a:rPr>
                <a:t>E ans = pop();</a:t>
              </a:r>
            </a:p>
            <a:p>
              <a:pPr marL="0" indent="0">
                <a:buNone/>
              </a:pPr>
              <a:endParaRPr lang="fr-FR" dirty="0">
                <a:solidFill>
                  <a:schemeClr val="tx1"/>
                </a:solidFill>
              </a:endParaRPr>
            </a:p>
            <a:p>
              <a:pPr marL="0" indent="0">
                <a:buNone/>
              </a:pPr>
              <a:r>
                <a:rPr lang="fr-FR" dirty="0">
                  <a:solidFill>
                    <a:schemeClr val="tx1"/>
                  </a:solidFill>
                </a:rPr>
                <a:t>push(ans); </a:t>
              </a:r>
            </a:p>
            <a:p>
              <a:pPr marL="0" indent="0">
                <a:buNone/>
              </a:pPr>
              <a:r>
                <a:rPr lang="fr-FR" dirty="0">
                  <a:solidFill>
                    <a:schemeClr val="tx1"/>
                  </a:solidFill>
                </a:rPr>
                <a:t>return ans; </a:t>
              </a:r>
              <a:endParaRPr lang="en-US" dirty="0">
                <a:solidFill>
                  <a:schemeClr val="tx1"/>
                </a:solidFill>
              </a:endParaRPr>
            </a:p>
          </p:txBody>
        </p:sp>
        <p:sp>
          <p:nvSpPr>
            <p:cNvPr id="9" name="Rectangle 8">
              <a:extLst>
                <a:ext uri="{FF2B5EF4-FFF2-40B4-BE49-F238E27FC236}">
                  <a16:creationId xmlns:a16="http://schemas.microsoft.com/office/drawing/2014/main" id="{7B3ADA93-4C40-AD42-D3C8-F3A19358B1E7}"/>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push(x);</a:t>
              </a:r>
            </a:p>
            <a:p>
              <a:endParaRPr lang="en-US" dirty="0">
                <a:solidFill>
                  <a:schemeClr val="tx1"/>
                </a:solidFill>
              </a:endParaRPr>
            </a:p>
            <a:p>
              <a:r>
                <a:rPr lang="en-US" dirty="0">
                  <a:solidFill>
                    <a:schemeClr val="tx1"/>
                  </a:solidFill>
                </a:rPr>
                <a:t>push(y);</a:t>
              </a:r>
              <a:br>
                <a:rPr lang="en-US" dirty="0">
                  <a:solidFill>
                    <a:schemeClr val="tx1"/>
                  </a:solidFill>
                </a:rPr>
              </a:br>
              <a:endParaRPr lang="en-US" dirty="0">
                <a:solidFill>
                  <a:schemeClr val="tx1"/>
                </a:solidFill>
              </a:endParaRPr>
            </a:p>
            <a:p>
              <a:endParaRPr lang="en-US" dirty="0">
                <a:solidFill>
                  <a:schemeClr val="tx1"/>
                </a:solidFill>
              </a:endParaRPr>
            </a:p>
            <a:p>
              <a:r>
                <a:rPr lang="en-US" dirty="0" err="1">
                  <a:solidFill>
                    <a:schemeClr val="tx1"/>
                  </a:solidFill>
                </a:rPr>
                <a:t>System.out.println</a:t>
              </a:r>
              <a:r>
                <a:rPr lang="en-US" dirty="0">
                  <a:solidFill>
                    <a:schemeClr val="tx1"/>
                  </a:solidFill>
                </a:rPr>
                <a:t>(pop()); </a:t>
              </a:r>
              <a:br>
                <a:rPr lang="en-US" dirty="0">
                  <a:solidFill>
                    <a:schemeClr val="tx1"/>
                  </a:solidFill>
                </a:rPr>
              </a:br>
              <a:r>
                <a:rPr lang="en-US" dirty="0" err="1">
                  <a:solidFill>
                    <a:schemeClr val="tx1"/>
                  </a:solidFill>
                </a:rPr>
                <a:t>System.out.println</a:t>
              </a:r>
              <a:r>
                <a:rPr lang="en-US" dirty="0">
                  <a:solidFill>
                    <a:schemeClr val="tx1"/>
                  </a:solidFill>
                </a:rPr>
                <a:t>(pop());</a:t>
              </a:r>
            </a:p>
          </p:txBody>
        </p:sp>
      </p:grpSp>
      <p:sp>
        <p:nvSpPr>
          <p:cNvPr id="10" name="TextBox 9">
            <a:extLst>
              <a:ext uri="{FF2B5EF4-FFF2-40B4-BE49-F238E27FC236}">
                <a16:creationId xmlns:a16="http://schemas.microsoft.com/office/drawing/2014/main" id="{C6DB5831-0F18-E385-D329-3B1A55566C6B}"/>
              </a:ext>
            </a:extLst>
          </p:cNvPr>
          <p:cNvSpPr txBox="1"/>
          <p:nvPr/>
        </p:nvSpPr>
        <p:spPr>
          <a:xfrm>
            <a:off x="7664661" y="438190"/>
            <a:ext cx="4527339" cy="646331"/>
          </a:xfrm>
          <a:prstGeom prst="rect">
            <a:avLst/>
          </a:prstGeom>
          <a:noFill/>
        </p:spPr>
        <p:txBody>
          <a:bodyPr wrap="square" rtlCol="0">
            <a:spAutoFit/>
          </a:bodyPr>
          <a:lstStyle/>
          <a:p>
            <a:r>
              <a:rPr lang="en-US" b="1" dirty="0"/>
              <a:t>Expected Behavior:</a:t>
            </a:r>
          </a:p>
          <a:p>
            <a:r>
              <a:rPr lang="en-US" dirty="0"/>
              <a:t>Items from a stack are popped in LIFO order</a:t>
            </a:r>
          </a:p>
        </p:txBody>
      </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CA99F6DD-1B62-88FA-CE7F-F31715DB29DE}"/>
                  </a:ext>
                </a:extLst>
              </p14:cNvPr>
              <p14:cNvContentPartPr/>
              <p14:nvPr/>
            </p14:nvContentPartPr>
            <p14:xfrm>
              <a:off x="774360" y="2816640"/>
              <a:ext cx="3887280" cy="1965960"/>
            </p14:xfrm>
          </p:contentPart>
        </mc:Choice>
        <mc:Fallback>
          <p:pic>
            <p:nvPicPr>
              <p:cNvPr id="13" name="Ink 12">
                <a:extLst>
                  <a:ext uri="{FF2B5EF4-FFF2-40B4-BE49-F238E27FC236}">
                    <a16:creationId xmlns:a16="http://schemas.microsoft.com/office/drawing/2014/main" id="{CA99F6DD-1B62-88FA-CE7F-F31715DB29DE}"/>
                  </a:ext>
                </a:extLst>
              </p:cNvPr>
              <p:cNvPicPr/>
              <p:nvPr/>
            </p:nvPicPr>
            <p:blipFill>
              <a:blip r:embed="rId3"/>
              <a:stretch>
                <a:fillRect/>
              </a:stretch>
            </p:blipFill>
            <p:spPr>
              <a:xfrm>
                <a:off x="765000" y="2807280"/>
                <a:ext cx="3906000" cy="1984680"/>
              </a:xfrm>
              <a:prstGeom prst="rect">
                <a:avLst/>
              </a:prstGeom>
            </p:spPr>
          </p:pic>
        </mc:Fallback>
      </mc:AlternateContent>
    </p:spTree>
    <p:extLst>
      <p:ext uri="{BB962C8B-B14F-4D97-AF65-F5344CB8AC3E}">
        <p14:creationId xmlns:p14="http://schemas.microsoft.com/office/powerpoint/2010/main" val="965725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a:xfrm>
            <a:off x="838200" y="365125"/>
            <a:ext cx="4991100" cy="1325563"/>
          </a:xfrm>
        </p:spPr>
        <p:txBody>
          <a:bodyPr/>
          <a:lstStyle/>
          <a:p>
            <a:r>
              <a:rPr lang="en-US" dirty="0"/>
              <a:t>Bad Interleaving - Peek and Push</a:t>
            </a:r>
          </a:p>
        </p:txBody>
      </p:sp>
      <p:grpSp>
        <p:nvGrpSpPr>
          <p:cNvPr id="3" name="Group 2" descr="Thread 1 calls:&#10;peek();&#10;&#10;Thread 2 calls:&#10;push(x);&#10;push(y);&#10;System.out.println(pop());&#10;System.out.println(pop());&#10;">
            <a:extLst>
              <a:ext uri="{FF2B5EF4-FFF2-40B4-BE49-F238E27FC236}">
                <a16:creationId xmlns:a16="http://schemas.microsoft.com/office/drawing/2014/main" id="{6BEECA69-9E42-DB69-9B40-1FE580C8DF3A}"/>
              </a:ext>
            </a:extLst>
          </p:cNvPr>
          <p:cNvGrpSpPr/>
          <p:nvPr/>
        </p:nvGrpSpPr>
        <p:grpSpPr>
          <a:xfrm>
            <a:off x="3478179" y="1865651"/>
            <a:ext cx="5899502" cy="1436349"/>
            <a:chOff x="3478179" y="1865651"/>
            <a:chExt cx="5899502" cy="1436349"/>
          </a:xfrm>
        </p:grpSpPr>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peek();</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112916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push(x);</a:t>
              </a:r>
            </a:p>
            <a:p>
              <a:r>
                <a:rPr lang="en-US" dirty="0">
                  <a:solidFill>
                    <a:schemeClr val="tx1"/>
                  </a:solidFill>
                </a:rPr>
                <a:t>push(y);</a:t>
              </a:r>
              <a:br>
                <a:rPr lang="en-US" dirty="0">
                  <a:solidFill>
                    <a:schemeClr val="tx1"/>
                  </a:solidFill>
                </a:rPr>
              </a:br>
              <a:r>
                <a:rPr lang="en-US" dirty="0" err="1">
                  <a:solidFill>
                    <a:schemeClr val="tx1"/>
                  </a:solidFill>
                </a:rPr>
                <a:t>System.out.println</a:t>
              </a:r>
              <a:r>
                <a:rPr lang="en-US" dirty="0">
                  <a:solidFill>
                    <a:schemeClr val="tx1"/>
                  </a:solidFill>
                </a:rPr>
                <a:t>(pop()); </a:t>
              </a:r>
              <a:br>
                <a:rPr lang="en-US" dirty="0">
                  <a:solidFill>
                    <a:schemeClr val="tx1"/>
                  </a:solidFill>
                </a:rPr>
              </a:br>
              <a:r>
                <a:rPr lang="en-US" dirty="0" err="1">
                  <a:solidFill>
                    <a:schemeClr val="tx1"/>
                  </a:solidFill>
                </a:rPr>
                <a:t>System.out.println</a:t>
              </a:r>
              <a:r>
                <a:rPr lang="en-US" dirty="0">
                  <a:solidFill>
                    <a:schemeClr val="tx1"/>
                  </a:solidFill>
                </a:rPr>
                <a:t>(pop());</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1" name="Group 10" descr="An interleaving that works:&#10;&#10;Thread 2:&#10;push(x)&#10;&#10;Thread 1:&#10;E ans = pop();&#10;&#10;Thread 2:&#10;push(y)&#10;&#10;Thread 1:&#10;push(ans);&#10;return ans;&#10;&#10;Thread 2:&#10;System.out.println(pop());&#10;System.out.println(pop());">
            <a:extLst>
              <a:ext uri="{FF2B5EF4-FFF2-40B4-BE49-F238E27FC236}">
                <a16:creationId xmlns:a16="http://schemas.microsoft.com/office/drawing/2014/main" id="{9A77C807-BBC4-9585-9184-877AA7DD9DC4}"/>
              </a:ext>
            </a:extLst>
          </p:cNvPr>
          <p:cNvGrpSpPr/>
          <p:nvPr/>
        </p:nvGrpSpPr>
        <p:grpSpPr>
          <a:xfrm>
            <a:off x="2864289" y="3437615"/>
            <a:ext cx="6786878" cy="2424706"/>
            <a:chOff x="2864289" y="3437615"/>
            <a:chExt cx="6786878" cy="2424706"/>
          </a:xfrm>
        </p:grpSpPr>
        <p:sp>
          <p:nvSpPr>
            <p:cNvPr id="8" name="Rectangle 7">
              <a:extLst>
                <a:ext uri="{FF2B5EF4-FFF2-40B4-BE49-F238E27FC236}">
                  <a16:creationId xmlns:a16="http://schemas.microsoft.com/office/drawing/2014/main" id="{DF26526B-ABE2-8331-53E8-2718273955D5}"/>
                </a:ext>
              </a:extLst>
            </p:cNvPr>
            <p:cNvSpPr/>
            <p:nvPr/>
          </p:nvSpPr>
          <p:spPr>
            <a:xfrm>
              <a:off x="2864289" y="3437615"/>
              <a:ext cx="3393439" cy="242470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fr-FR" dirty="0">
                <a:solidFill>
                  <a:schemeClr val="tx1"/>
                </a:solidFill>
              </a:endParaRPr>
            </a:p>
            <a:p>
              <a:pPr marL="0" indent="0">
                <a:buNone/>
              </a:pPr>
              <a:r>
                <a:rPr lang="fr-FR" dirty="0">
                  <a:solidFill>
                    <a:schemeClr val="tx1"/>
                  </a:solidFill>
                </a:rPr>
                <a:t>E ans = pop();</a:t>
              </a:r>
            </a:p>
            <a:p>
              <a:pPr marL="0" indent="0">
                <a:buNone/>
              </a:pPr>
              <a:endParaRPr lang="fr-FR" dirty="0">
                <a:solidFill>
                  <a:schemeClr val="tx1"/>
                </a:solidFill>
              </a:endParaRPr>
            </a:p>
            <a:p>
              <a:pPr marL="0" indent="0">
                <a:buNone/>
              </a:pPr>
              <a:r>
                <a:rPr lang="fr-FR" dirty="0">
                  <a:solidFill>
                    <a:schemeClr val="tx1"/>
                  </a:solidFill>
                </a:rPr>
                <a:t>push(ans); </a:t>
              </a:r>
            </a:p>
            <a:p>
              <a:pPr marL="0" indent="0">
                <a:buNone/>
              </a:pPr>
              <a:r>
                <a:rPr lang="fr-FR" dirty="0">
                  <a:solidFill>
                    <a:schemeClr val="tx1"/>
                  </a:solidFill>
                </a:rPr>
                <a:t>return ans; </a:t>
              </a:r>
              <a:endParaRPr lang="en-US" dirty="0">
                <a:solidFill>
                  <a:schemeClr val="tx1"/>
                </a:solidFill>
              </a:endParaRPr>
            </a:p>
          </p:txBody>
        </p:sp>
        <p:sp>
          <p:nvSpPr>
            <p:cNvPr id="9" name="Rectangle 8">
              <a:extLst>
                <a:ext uri="{FF2B5EF4-FFF2-40B4-BE49-F238E27FC236}">
                  <a16:creationId xmlns:a16="http://schemas.microsoft.com/office/drawing/2014/main" id="{7B3ADA93-4C40-AD42-D3C8-F3A19358B1E7}"/>
                </a:ext>
              </a:extLst>
            </p:cNvPr>
            <p:cNvSpPr/>
            <p:nvPr/>
          </p:nvSpPr>
          <p:spPr>
            <a:xfrm>
              <a:off x="6257728" y="3437615"/>
              <a:ext cx="3393439" cy="242470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push(x);</a:t>
              </a:r>
            </a:p>
            <a:p>
              <a:endParaRPr lang="en-US" dirty="0">
                <a:solidFill>
                  <a:schemeClr val="tx1"/>
                </a:solidFill>
              </a:endParaRPr>
            </a:p>
            <a:p>
              <a:r>
                <a:rPr lang="en-US" dirty="0">
                  <a:solidFill>
                    <a:schemeClr val="tx1"/>
                  </a:solidFill>
                </a:rPr>
                <a:t>push(y);</a:t>
              </a:r>
            </a:p>
            <a:p>
              <a:endParaRPr lang="en-US" dirty="0">
                <a:solidFill>
                  <a:schemeClr val="tx1"/>
                </a:solidFill>
              </a:endParaRPr>
            </a:p>
            <a:p>
              <a:br>
                <a:rPr lang="en-US" dirty="0">
                  <a:solidFill>
                    <a:schemeClr val="tx1"/>
                  </a:solidFill>
                </a:rPr>
              </a:br>
              <a:r>
                <a:rPr lang="en-US" dirty="0" err="1">
                  <a:solidFill>
                    <a:schemeClr val="tx1"/>
                  </a:solidFill>
                </a:rPr>
                <a:t>System.out.println</a:t>
              </a:r>
              <a:r>
                <a:rPr lang="en-US" dirty="0">
                  <a:solidFill>
                    <a:schemeClr val="tx1"/>
                  </a:solidFill>
                </a:rPr>
                <a:t>(pop()); </a:t>
              </a:r>
              <a:br>
                <a:rPr lang="en-US" dirty="0">
                  <a:solidFill>
                    <a:schemeClr val="tx1"/>
                  </a:solidFill>
                </a:rPr>
              </a:br>
              <a:r>
                <a:rPr lang="en-US" dirty="0" err="1">
                  <a:solidFill>
                    <a:schemeClr val="tx1"/>
                  </a:solidFill>
                </a:rPr>
                <a:t>System.out.println</a:t>
              </a:r>
              <a:r>
                <a:rPr lang="en-US" dirty="0">
                  <a:solidFill>
                    <a:schemeClr val="tx1"/>
                  </a:solidFill>
                </a:rPr>
                <a:t>(pop());</a:t>
              </a:r>
            </a:p>
          </p:txBody>
        </p:sp>
      </p:grpSp>
      <p:sp>
        <p:nvSpPr>
          <p:cNvPr id="10" name="TextBox 9">
            <a:extLst>
              <a:ext uri="{FF2B5EF4-FFF2-40B4-BE49-F238E27FC236}">
                <a16:creationId xmlns:a16="http://schemas.microsoft.com/office/drawing/2014/main" id="{C6DB5831-0F18-E385-D329-3B1A55566C6B}"/>
              </a:ext>
            </a:extLst>
          </p:cNvPr>
          <p:cNvSpPr txBox="1"/>
          <p:nvPr/>
        </p:nvSpPr>
        <p:spPr>
          <a:xfrm>
            <a:off x="7664661" y="438190"/>
            <a:ext cx="4527339" cy="646331"/>
          </a:xfrm>
          <a:prstGeom prst="rect">
            <a:avLst/>
          </a:prstGeom>
          <a:noFill/>
        </p:spPr>
        <p:txBody>
          <a:bodyPr wrap="square" rtlCol="0">
            <a:spAutoFit/>
          </a:bodyPr>
          <a:lstStyle/>
          <a:p>
            <a:r>
              <a:rPr lang="en-US" b="1" dirty="0"/>
              <a:t>Expected Behavior:</a:t>
            </a:r>
          </a:p>
          <a:p>
            <a:r>
              <a:rPr lang="en-US" dirty="0"/>
              <a:t>Items from a stack are popped in LIFO order</a:t>
            </a:r>
          </a:p>
        </p:txBody>
      </p:sp>
    </p:spTree>
    <p:extLst>
      <p:ext uri="{BB962C8B-B14F-4D97-AF65-F5344CB8AC3E}">
        <p14:creationId xmlns:p14="http://schemas.microsoft.com/office/powerpoint/2010/main" val="3173336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1BC9A-E478-17F8-5899-39FDB3564710}"/>
              </a:ext>
            </a:extLst>
          </p:cNvPr>
          <p:cNvSpPr>
            <a:spLocks noGrp="1"/>
          </p:cNvSpPr>
          <p:nvPr>
            <p:ph type="title"/>
          </p:nvPr>
        </p:nvSpPr>
        <p:spPr>
          <a:xfrm>
            <a:off x="838200" y="-285115"/>
            <a:ext cx="10515600" cy="1325563"/>
          </a:xfrm>
        </p:spPr>
        <p:txBody>
          <a:bodyPr/>
          <a:lstStyle/>
          <a:p>
            <a:r>
              <a:rPr lang="en-US" dirty="0"/>
              <a:t>How to fix this?</a:t>
            </a:r>
          </a:p>
        </p:txBody>
      </p:sp>
      <p:sp>
        <p:nvSpPr>
          <p:cNvPr id="4" name="Content Placeholder 2">
            <a:extLst>
              <a:ext uri="{FF2B5EF4-FFF2-40B4-BE49-F238E27FC236}">
                <a16:creationId xmlns:a16="http://schemas.microsoft.com/office/drawing/2014/main" id="{93B72D53-59E5-7978-BE83-F146F8617078}"/>
              </a:ext>
            </a:extLst>
          </p:cNvPr>
          <p:cNvSpPr>
            <a:spLocks noGrp="1"/>
          </p:cNvSpPr>
          <p:nvPr>
            <p:ph idx="1"/>
          </p:nvPr>
        </p:nvSpPr>
        <p:spPr>
          <a:xfrm>
            <a:off x="838200" y="1127760"/>
            <a:ext cx="10515600" cy="5730240"/>
          </a:xfrm>
        </p:spPr>
        <p:txBody>
          <a:bodyPr>
            <a:normAutofit lnSpcReduction="10000"/>
          </a:bodyPr>
          <a:lstStyle/>
          <a:p>
            <a:pPr marL="0" indent="0">
              <a:buNone/>
            </a:pPr>
            <a:r>
              <a:rPr lang="en-US" dirty="0"/>
              <a:t>class Stack { </a:t>
            </a:r>
          </a:p>
          <a:p>
            <a:pPr marL="0" indent="0">
              <a:buNone/>
            </a:pPr>
            <a:r>
              <a:rPr lang="en-US" dirty="0"/>
              <a:t>	private E[] array = (E[])new Object[SIZE]; </a:t>
            </a:r>
          </a:p>
          <a:p>
            <a:pPr marL="0" indent="0">
              <a:buNone/>
            </a:pPr>
            <a:r>
              <a:rPr lang="en-US" dirty="0"/>
              <a:t>	private int end = -1; </a:t>
            </a:r>
          </a:p>
          <a:p>
            <a:pPr marL="0" indent="0">
              <a:buNone/>
            </a:pPr>
            <a:r>
              <a:rPr lang="en-US" dirty="0"/>
              <a:t>	synchronized </a:t>
            </a:r>
            <a:r>
              <a:rPr lang="en-US" dirty="0" err="1"/>
              <a:t>boolean</a:t>
            </a:r>
            <a:r>
              <a:rPr lang="en-US" dirty="0"/>
              <a:t> </a:t>
            </a:r>
            <a:r>
              <a:rPr lang="en-US" dirty="0" err="1"/>
              <a:t>isEmpty</a:t>
            </a:r>
            <a:r>
              <a:rPr lang="en-US" dirty="0"/>
              <a:t>() { … } </a:t>
            </a:r>
          </a:p>
          <a:p>
            <a:pPr marL="0" indent="0">
              <a:buNone/>
            </a:pPr>
            <a:r>
              <a:rPr lang="en-US" dirty="0"/>
              <a:t>	synchronized void push(E </a:t>
            </a:r>
            <a:r>
              <a:rPr lang="en-US" dirty="0" err="1"/>
              <a:t>val</a:t>
            </a:r>
            <a:r>
              <a:rPr lang="en-US" dirty="0"/>
              <a:t>) { … } </a:t>
            </a:r>
          </a:p>
          <a:p>
            <a:pPr marL="0" indent="0">
              <a:buNone/>
            </a:pPr>
            <a:r>
              <a:rPr lang="en-US" dirty="0"/>
              <a:t>	synchronized E pop() { … } </a:t>
            </a:r>
          </a:p>
          <a:p>
            <a:pPr marL="0" indent="0">
              <a:buNone/>
            </a:pPr>
            <a:r>
              <a:rPr lang="en-US" dirty="0"/>
              <a:t>	E peek(){</a:t>
            </a:r>
          </a:p>
          <a:p>
            <a:pPr marL="0" indent="0">
              <a:buNone/>
            </a:pPr>
            <a:r>
              <a:rPr lang="en-US" dirty="0"/>
              <a:t>		</a:t>
            </a:r>
            <a:r>
              <a:rPr lang="fr-FR" dirty="0"/>
              <a:t>E ans = pop(); </a:t>
            </a:r>
          </a:p>
          <a:p>
            <a:pPr marL="0" indent="0">
              <a:buNone/>
            </a:pPr>
            <a:r>
              <a:rPr lang="fr-FR" dirty="0"/>
              <a:t>		push(ans); </a:t>
            </a:r>
          </a:p>
          <a:p>
            <a:pPr marL="0" indent="0">
              <a:buNone/>
            </a:pPr>
            <a:r>
              <a:rPr lang="fr-FR" dirty="0"/>
              <a:t>		return ans; </a:t>
            </a:r>
            <a:endParaRPr lang="en-US" dirty="0"/>
          </a:p>
          <a:p>
            <a:pPr marL="0" indent="0">
              <a:buNone/>
            </a:pPr>
            <a:r>
              <a:rPr lang="en-US" dirty="0"/>
              <a:t>	}</a:t>
            </a:r>
          </a:p>
          <a:p>
            <a:pPr marL="0" indent="0">
              <a:buNone/>
            </a:pPr>
            <a:r>
              <a:rPr lang="en-US" dirty="0"/>
              <a:t>} </a:t>
            </a:r>
          </a:p>
        </p:txBody>
      </p:sp>
      <p:sp>
        <p:nvSpPr>
          <p:cNvPr id="5" name="TextBox 4">
            <a:extLst>
              <a:ext uri="{FF2B5EF4-FFF2-40B4-BE49-F238E27FC236}">
                <a16:creationId xmlns:a16="http://schemas.microsoft.com/office/drawing/2014/main" id="{69039135-EC9C-1AB3-29DF-5A9347DD46EF}"/>
              </a:ext>
            </a:extLst>
          </p:cNvPr>
          <p:cNvSpPr txBox="1"/>
          <p:nvPr/>
        </p:nvSpPr>
        <p:spPr>
          <a:xfrm>
            <a:off x="8087360" y="690880"/>
            <a:ext cx="3811300" cy="461665"/>
          </a:xfrm>
          <a:prstGeom prst="rect">
            <a:avLst/>
          </a:prstGeom>
          <a:noFill/>
          <a:ln>
            <a:solidFill>
              <a:srgbClr val="FF0000"/>
            </a:solidFill>
          </a:ln>
        </p:spPr>
        <p:txBody>
          <a:bodyPr wrap="none" rtlCol="0">
            <a:spAutoFit/>
          </a:bodyPr>
          <a:lstStyle/>
          <a:p>
            <a:r>
              <a:rPr lang="en-US" sz="2400" dirty="0">
                <a:solidFill>
                  <a:srgbClr val="FF0000"/>
                </a:solidFill>
              </a:rPr>
              <a:t>Make a bigger critical section</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229D485-E1D9-A552-2F03-DEAEAD0C5A0B}"/>
                  </a:ext>
                </a:extLst>
              </p14:cNvPr>
              <p14:cNvContentPartPr/>
              <p14:nvPr/>
            </p14:nvContentPartPr>
            <p14:xfrm>
              <a:off x="826560" y="4188240"/>
              <a:ext cx="734760" cy="453600"/>
            </p14:xfrm>
          </p:contentPart>
        </mc:Choice>
        <mc:Fallback>
          <p:pic>
            <p:nvPicPr>
              <p:cNvPr id="3" name="Ink 2">
                <a:extLst>
                  <a:ext uri="{FF2B5EF4-FFF2-40B4-BE49-F238E27FC236}">
                    <a16:creationId xmlns:a16="http://schemas.microsoft.com/office/drawing/2014/main" id="{8229D485-E1D9-A552-2F03-DEAEAD0C5A0B}"/>
                  </a:ext>
                </a:extLst>
              </p:cNvPr>
              <p:cNvPicPr/>
              <p:nvPr/>
            </p:nvPicPr>
            <p:blipFill>
              <a:blip r:embed="rId3"/>
              <a:stretch>
                <a:fillRect/>
              </a:stretch>
            </p:blipFill>
            <p:spPr>
              <a:xfrm>
                <a:off x="817200" y="4178880"/>
                <a:ext cx="753480" cy="472320"/>
              </a:xfrm>
              <a:prstGeom prst="rect">
                <a:avLst/>
              </a:prstGeom>
            </p:spPr>
          </p:pic>
        </mc:Fallback>
      </mc:AlternateContent>
    </p:spTree>
    <p:extLst>
      <p:ext uri="{BB962C8B-B14F-4D97-AF65-F5344CB8AC3E}">
        <p14:creationId xmlns:p14="http://schemas.microsoft.com/office/powerpoint/2010/main" val="206291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1BC9A-E478-17F8-5899-39FDB3564710}"/>
              </a:ext>
            </a:extLst>
          </p:cNvPr>
          <p:cNvSpPr>
            <a:spLocks noGrp="1"/>
          </p:cNvSpPr>
          <p:nvPr>
            <p:ph type="title"/>
          </p:nvPr>
        </p:nvSpPr>
        <p:spPr>
          <a:xfrm>
            <a:off x="838200" y="-285115"/>
            <a:ext cx="10515600" cy="1325563"/>
          </a:xfrm>
        </p:spPr>
        <p:txBody>
          <a:bodyPr/>
          <a:lstStyle/>
          <a:p>
            <a:r>
              <a:rPr lang="en-US" dirty="0"/>
              <a:t>Fixed!</a:t>
            </a:r>
          </a:p>
        </p:txBody>
      </p:sp>
      <p:sp>
        <p:nvSpPr>
          <p:cNvPr id="4" name="Content Placeholder 2">
            <a:extLst>
              <a:ext uri="{FF2B5EF4-FFF2-40B4-BE49-F238E27FC236}">
                <a16:creationId xmlns:a16="http://schemas.microsoft.com/office/drawing/2014/main" id="{93B72D53-59E5-7978-BE83-F146F8617078}"/>
              </a:ext>
            </a:extLst>
          </p:cNvPr>
          <p:cNvSpPr>
            <a:spLocks noGrp="1"/>
          </p:cNvSpPr>
          <p:nvPr>
            <p:ph idx="1"/>
          </p:nvPr>
        </p:nvSpPr>
        <p:spPr>
          <a:xfrm>
            <a:off x="838200" y="1127760"/>
            <a:ext cx="10515600" cy="5730240"/>
          </a:xfrm>
        </p:spPr>
        <p:txBody>
          <a:bodyPr>
            <a:normAutofit lnSpcReduction="10000"/>
          </a:bodyPr>
          <a:lstStyle/>
          <a:p>
            <a:pPr marL="0" indent="0">
              <a:buNone/>
            </a:pPr>
            <a:r>
              <a:rPr lang="en-US" dirty="0"/>
              <a:t>class Stack { </a:t>
            </a:r>
          </a:p>
          <a:p>
            <a:pPr marL="0" indent="0">
              <a:buNone/>
            </a:pPr>
            <a:r>
              <a:rPr lang="en-US" dirty="0"/>
              <a:t>	private E[] array = (E[])new Object[SIZE]; </a:t>
            </a:r>
          </a:p>
          <a:p>
            <a:pPr marL="0" indent="0">
              <a:buNone/>
            </a:pPr>
            <a:r>
              <a:rPr lang="en-US" dirty="0"/>
              <a:t>	private int end = -1; </a:t>
            </a:r>
          </a:p>
          <a:p>
            <a:pPr marL="0" indent="0">
              <a:buNone/>
            </a:pPr>
            <a:r>
              <a:rPr lang="en-US" dirty="0"/>
              <a:t>	synchronized </a:t>
            </a:r>
            <a:r>
              <a:rPr lang="en-US" dirty="0" err="1"/>
              <a:t>boolean</a:t>
            </a:r>
            <a:r>
              <a:rPr lang="en-US" dirty="0"/>
              <a:t> </a:t>
            </a:r>
            <a:r>
              <a:rPr lang="en-US" dirty="0" err="1"/>
              <a:t>isEmpty</a:t>
            </a:r>
            <a:r>
              <a:rPr lang="en-US" dirty="0"/>
              <a:t>() { … } </a:t>
            </a:r>
          </a:p>
          <a:p>
            <a:pPr marL="0" indent="0">
              <a:buNone/>
            </a:pPr>
            <a:r>
              <a:rPr lang="en-US" dirty="0"/>
              <a:t>	synchronized void push(E </a:t>
            </a:r>
            <a:r>
              <a:rPr lang="en-US" dirty="0" err="1"/>
              <a:t>val</a:t>
            </a:r>
            <a:r>
              <a:rPr lang="en-US" dirty="0"/>
              <a:t>) { … } </a:t>
            </a:r>
          </a:p>
          <a:p>
            <a:pPr marL="0" indent="0">
              <a:buNone/>
            </a:pPr>
            <a:r>
              <a:rPr lang="en-US" dirty="0"/>
              <a:t>	synchronized E pop() { … } </a:t>
            </a:r>
          </a:p>
          <a:p>
            <a:pPr marL="0" indent="0">
              <a:buNone/>
            </a:pPr>
            <a:r>
              <a:rPr lang="en-US" dirty="0"/>
              <a:t>	</a:t>
            </a:r>
            <a:r>
              <a:rPr lang="en-US" dirty="0">
                <a:solidFill>
                  <a:srgbClr val="FF0000"/>
                </a:solidFill>
              </a:rPr>
              <a:t>synchronized</a:t>
            </a:r>
            <a:r>
              <a:rPr lang="en-US" dirty="0"/>
              <a:t> E peek(){</a:t>
            </a:r>
          </a:p>
          <a:p>
            <a:pPr marL="0" indent="0">
              <a:buNone/>
            </a:pPr>
            <a:r>
              <a:rPr lang="en-US" dirty="0"/>
              <a:t>		</a:t>
            </a:r>
            <a:r>
              <a:rPr lang="fr-FR" dirty="0"/>
              <a:t>E ans = pop(); </a:t>
            </a:r>
          </a:p>
          <a:p>
            <a:pPr marL="0" indent="0">
              <a:buNone/>
            </a:pPr>
            <a:r>
              <a:rPr lang="fr-FR" dirty="0"/>
              <a:t>		push(ans); </a:t>
            </a:r>
          </a:p>
          <a:p>
            <a:pPr marL="0" indent="0">
              <a:buNone/>
            </a:pPr>
            <a:r>
              <a:rPr lang="fr-FR" dirty="0"/>
              <a:t>		return ans; </a:t>
            </a:r>
            <a:endParaRPr lang="en-US" dirty="0"/>
          </a:p>
          <a:p>
            <a:pPr marL="0" indent="0">
              <a:buNone/>
            </a:pPr>
            <a:r>
              <a:rPr lang="en-US" dirty="0"/>
              <a:t>	}</a:t>
            </a:r>
          </a:p>
          <a:p>
            <a:pPr marL="0" indent="0">
              <a:buNone/>
            </a:pPr>
            <a:r>
              <a:rPr lang="en-US" dirty="0"/>
              <a:t>} </a:t>
            </a:r>
          </a:p>
        </p:txBody>
      </p:sp>
      <p:sp>
        <p:nvSpPr>
          <p:cNvPr id="5" name="TextBox 4">
            <a:extLst>
              <a:ext uri="{FF2B5EF4-FFF2-40B4-BE49-F238E27FC236}">
                <a16:creationId xmlns:a16="http://schemas.microsoft.com/office/drawing/2014/main" id="{69039135-EC9C-1AB3-29DF-5A9347DD46EF}"/>
              </a:ext>
            </a:extLst>
          </p:cNvPr>
          <p:cNvSpPr txBox="1"/>
          <p:nvPr/>
        </p:nvSpPr>
        <p:spPr>
          <a:xfrm>
            <a:off x="8087360" y="690880"/>
            <a:ext cx="3811300" cy="461665"/>
          </a:xfrm>
          <a:prstGeom prst="rect">
            <a:avLst/>
          </a:prstGeom>
          <a:noFill/>
          <a:ln>
            <a:solidFill>
              <a:srgbClr val="FF0000"/>
            </a:solidFill>
          </a:ln>
        </p:spPr>
        <p:txBody>
          <a:bodyPr wrap="none" rtlCol="0">
            <a:spAutoFit/>
          </a:bodyPr>
          <a:lstStyle/>
          <a:p>
            <a:r>
              <a:rPr lang="en-US" sz="2400" dirty="0">
                <a:solidFill>
                  <a:srgbClr val="FF0000"/>
                </a:solidFill>
              </a:rPr>
              <a:t>Make a bigger critical section</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67B05073-84DF-B1BE-1D2B-8C321F629984}"/>
                  </a:ext>
                </a:extLst>
              </p14:cNvPr>
              <p14:cNvContentPartPr/>
              <p14:nvPr/>
            </p14:nvContentPartPr>
            <p14:xfrm>
              <a:off x="1554840" y="1503360"/>
              <a:ext cx="1339920" cy="3625200"/>
            </p14:xfrm>
          </p:contentPart>
        </mc:Choice>
        <mc:Fallback>
          <p:pic>
            <p:nvPicPr>
              <p:cNvPr id="3" name="Ink 2">
                <a:extLst>
                  <a:ext uri="{FF2B5EF4-FFF2-40B4-BE49-F238E27FC236}">
                    <a16:creationId xmlns:a16="http://schemas.microsoft.com/office/drawing/2014/main" id="{67B05073-84DF-B1BE-1D2B-8C321F629984}"/>
                  </a:ext>
                </a:extLst>
              </p:cNvPr>
              <p:cNvPicPr/>
              <p:nvPr/>
            </p:nvPicPr>
            <p:blipFill>
              <a:blip r:embed="rId3"/>
              <a:stretch>
                <a:fillRect/>
              </a:stretch>
            </p:blipFill>
            <p:spPr>
              <a:xfrm>
                <a:off x="1545480" y="1494000"/>
                <a:ext cx="1358640" cy="3643920"/>
              </a:xfrm>
              <a:prstGeom prst="rect">
                <a:avLst/>
              </a:prstGeom>
            </p:spPr>
          </p:pic>
        </mc:Fallback>
      </mc:AlternateContent>
    </p:spTree>
    <p:extLst>
      <p:ext uri="{BB962C8B-B14F-4D97-AF65-F5344CB8AC3E}">
        <p14:creationId xmlns:p14="http://schemas.microsoft.com/office/powerpoint/2010/main" val="818060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1BC9A-E478-17F8-5899-39FDB3564710}"/>
              </a:ext>
            </a:extLst>
          </p:cNvPr>
          <p:cNvSpPr>
            <a:spLocks noGrp="1"/>
          </p:cNvSpPr>
          <p:nvPr>
            <p:ph type="title"/>
          </p:nvPr>
        </p:nvSpPr>
        <p:spPr>
          <a:xfrm>
            <a:off x="838200" y="-285115"/>
            <a:ext cx="10515600" cy="1325563"/>
          </a:xfrm>
        </p:spPr>
        <p:txBody>
          <a:bodyPr/>
          <a:lstStyle/>
          <a:p>
            <a:r>
              <a:rPr lang="en-US" dirty="0"/>
              <a:t>Did this fix it?</a:t>
            </a:r>
          </a:p>
        </p:txBody>
      </p:sp>
      <p:sp>
        <p:nvSpPr>
          <p:cNvPr id="4" name="Content Placeholder 2">
            <a:extLst>
              <a:ext uri="{FF2B5EF4-FFF2-40B4-BE49-F238E27FC236}">
                <a16:creationId xmlns:a16="http://schemas.microsoft.com/office/drawing/2014/main" id="{93B72D53-59E5-7978-BE83-F146F8617078}"/>
              </a:ext>
            </a:extLst>
          </p:cNvPr>
          <p:cNvSpPr>
            <a:spLocks noGrp="1"/>
          </p:cNvSpPr>
          <p:nvPr>
            <p:ph idx="1"/>
          </p:nvPr>
        </p:nvSpPr>
        <p:spPr>
          <a:xfrm>
            <a:off x="838200" y="1127760"/>
            <a:ext cx="10515600" cy="5730240"/>
          </a:xfrm>
        </p:spPr>
        <p:txBody>
          <a:bodyPr>
            <a:normAutofit/>
          </a:bodyPr>
          <a:lstStyle/>
          <a:p>
            <a:pPr marL="0" indent="0">
              <a:buNone/>
            </a:pPr>
            <a:r>
              <a:rPr lang="en-US" dirty="0"/>
              <a:t>class Stack { </a:t>
            </a:r>
          </a:p>
          <a:p>
            <a:pPr marL="0" indent="0">
              <a:buNone/>
            </a:pPr>
            <a:r>
              <a:rPr lang="en-US" dirty="0"/>
              <a:t>	private E[] array = (E[])new Object[SIZE]; </a:t>
            </a:r>
          </a:p>
          <a:p>
            <a:pPr marL="0" indent="0">
              <a:buNone/>
            </a:pPr>
            <a:r>
              <a:rPr lang="en-US" dirty="0"/>
              <a:t>	private int end = -1; </a:t>
            </a:r>
          </a:p>
          <a:p>
            <a:pPr marL="0" indent="0">
              <a:buNone/>
            </a:pPr>
            <a:r>
              <a:rPr lang="en-US" dirty="0"/>
              <a:t>	synchronized </a:t>
            </a:r>
            <a:r>
              <a:rPr lang="en-US" dirty="0" err="1"/>
              <a:t>boolean</a:t>
            </a:r>
            <a:r>
              <a:rPr lang="en-US" dirty="0"/>
              <a:t> </a:t>
            </a:r>
            <a:r>
              <a:rPr lang="en-US" dirty="0" err="1"/>
              <a:t>isEmpty</a:t>
            </a:r>
            <a:r>
              <a:rPr lang="en-US" dirty="0"/>
              <a:t>() { … } </a:t>
            </a:r>
          </a:p>
          <a:p>
            <a:pPr marL="0" indent="0">
              <a:buNone/>
            </a:pPr>
            <a:r>
              <a:rPr lang="en-US" dirty="0"/>
              <a:t>	synchronized void push(E </a:t>
            </a:r>
            <a:r>
              <a:rPr lang="en-US" dirty="0" err="1"/>
              <a:t>val</a:t>
            </a:r>
            <a:r>
              <a:rPr lang="en-US" dirty="0"/>
              <a:t>) { … } </a:t>
            </a:r>
          </a:p>
          <a:p>
            <a:pPr marL="0" indent="0">
              <a:buNone/>
            </a:pPr>
            <a:r>
              <a:rPr lang="en-US" dirty="0"/>
              <a:t>	synchronized E pop() { … } </a:t>
            </a:r>
          </a:p>
          <a:p>
            <a:pPr marL="0" indent="0">
              <a:buNone/>
            </a:pPr>
            <a:r>
              <a:rPr lang="en-US" dirty="0"/>
              <a:t>	E peek(){</a:t>
            </a:r>
          </a:p>
          <a:p>
            <a:pPr marL="0" indent="0">
              <a:buNone/>
            </a:pPr>
            <a:r>
              <a:rPr lang="en-US" dirty="0"/>
              <a:t>		return array[end];</a:t>
            </a:r>
          </a:p>
          <a:p>
            <a:pPr marL="0" indent="0">
              <a:buNone/>
            </a:pPr>
            <a:r>
              <a:rPr lang="en-US" dirty="0"/>
              <a:t>	}</a:t>
            </a:r>
          </a:p>
          <a:p>
            <a:pPr marL="0" indent="0">
              <a:buNone/>
            </a:pPr>
            <a:r>
              <a:rPr lang="en-US" dirty="0"/>
              <a:t>} </a:t>
            </a:r>
          </a:p>
        </p:txBody>
      </p:sp>
      <p:sp>
        <p:nvSpPr>
          <p:cNvPr id="3" name="TextBox 2">
            <a:extLst>
              <a:ext uri="{FF2B5EF4-FFF2-40B4-BE49-F238E27FC236}">
                <a16:creationId xmlns:a16="http://schemas.microsoft.com/office/drawing/2014/main" id="{B28770E1-80A0-988D-5BDB-B8758C3C4D0A}"/>
              </a:ext>
            </a:extLst>
          </p:cNvPr>
          <p:cNvSpPr txBox="1"/>
          <p:nvPr/>
        </p:nvSpPr>
        <p:spPr>
          <a:xfrm>
            <a:off x="7832436" y="690880"/>
            <a:ext cx="4128655" cy="1200329"/>
          </a:xfrm>
          <a:prstGeom prst="rect">
            <a:avLst/>
          </a:prstGeom>
          <a:noFill/>
          <a:ln>
            <a:solidFill>
              <a:srgbClr val="FF0000"/>
            </a:solidFill>
          </a:ln>
        </p:spPr>
        <p:txBody>
          <a:bodyPr wrap="square" rtlCol="0">
            <a:spAutoFit/>
          </a:bodyPr>
          <a:lstStyle/>
          <a:p>
            <a:r>
              <a:rPr lang="en-US" sz="2400" dirty="0">
                <a:solidFill>
                  <a:srgbClr val="FF0000"/>
                </a:solidFill>
              </a:rPr>
              <a:t>No! Now it has a data race!</a:t>
            </a:r>
          </a:p>
          <a:p>
            <a:endParaRPr lang="en-US" sz="2400" dirty="0">
              <a:solidFill>
                <a:srgbClr val="FF0000"/>
              </a:solidFill>
            </a:endParaRPr>
          </a:p>
          <a:p>
            <a:r>
              <a:rPr lang="en-US" sz="2400" dirty="0">
                <a:solidFill>
                  <a:srgbClr val="FF0000"/>
                </a:solidFill>
              </a:rPr>
              <a:t>Push/pop will be changing end!</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CD75BC2B-0E67-FC0D-743F-E45336BE2F3A}"/>
                  </a:ext>
                </a:extLst>
              </p14:cNvPr>
              <p14:cNvContentPartPr/>
              <p14:nvPr/>
            </p14:nvContentPartPr>
            <p14:xfrm>
              <a:off x="1562040" y="4154760"/>
              <a:ext cx="3756960" cy="1224720"/>
            </p14:xfrm>
          </p:contentPart>
        </mc:Choice>
        <mc:Fallback>
          <p:pic>
            <p:nvPicPr>
              <p:cNvPr id="5" name="Ink 4">
                <a:extLst>
                  <a:ext uri="{FF2B5EF4-FFF2-40B4-BE49-F238E27FC236}">
                    <a16:creationId xmlns:a16="http://schemas.microsoft.com/office/drawing/2014/main" id="{CD75BC2B-0E67-FC0D-743F-E45336BE2F3A}"/>
                  </a:ext>
                </a:extLst>
              </p:cNvPr>
              <p:cNvPicPr/>
              <p:nvPr/>
            </p:nvPicPr>
            <p:blipFill>
              <a:blip r:embed="rId3"/>
              <a:stretch>
                <a:fillRect/>
              </a:stretch>
            </p:blipFill>
            <p:spPr>
              <a:xfrm>
                <a:off x="1552680" y="4145400"/>
                <a:ext cx="3775680" cy="1243440"/>
              </a:xfrm>
              <a:prstGeom prst="rect">
                <a:avLst/>
              </a:prstGeom>
            </p:spPr>
          </p:pic>
        </mc:Fallback>
      </mc:AlternateContent>
    </p:spTree>
    <p:extLst>
      <p:ext uri="{BB962C8B-B14F-4D97-AF65-F5344CB8AC3E}">
        <p14:creationId xmlns:p14="http://schemas.microsoft.com/office/powerpoint/2010/main" val="1758208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ED13-22A1-8328-2908-CCDB1D5CC9B6}"/>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4F0910F9-037F-8B63-FA98-ED21F813EFEA}"/>
              </a:ext>
            </a:extLst>
          </p:cNvPr>
          <p:cNvSpPr>
            <a:spLocks noGrp="1"/>
          </p:cNvSpPr>
          <p:nvPr>
            <p:ph idx="1"/>
          </p:nvPr>
        </p:nvSpPr>
        <p:spPr/>
        <p:txBody>
          <a:bodyPr/>
          <a:lstStyle/>
          <a:p>
            <a:r>
              <a:rPr lang="en-US" dirty="0"/>
              <a:t>Occurs when two or more threads are mutually blocking each other</a:t>
            </a:r>
          </a:p>
          <a:p>
            <a:r>
              <a:rPr lang="en-US" dirty="0"/>
              <a:t>T1 is blocked by T2, which is blocked by T3, …, Tn is blocked by T1</a:t>
            </a:r>
          </a:p>
          <a:p>
            <a:pPr lvl="1"/>
            <a:r>
              <a:rPr lang="en-US" dirty="0"/>
              <a:t>A cycle of blocking</a:t>
            </a:r>
          </a:p>
          <a:p>
            <a:pPr lvl="1"/>
            <a:endParaRPr lang="en-US" dirty="0"/>
          </a:p>
          <a:p>
            <a:r>
              <a:rPr lang="en-US" dirty="0"/>
              <a:t>Three requirements for deadlock:</a:t>
            </a:r>
          </a:p>
          <a:p>
            <a:pPr lvl="1"/>
            <a:r>
              <a:rPr lang="en-US" dirty="0"/>
              <a:t>Multiple threads each need to acquire </a:t>
            </a:r>
            <a:r>
              <a:rPr lang="en-US" b="1" dirty="0"/>
              <a:t>multiple locks</a:t>
            </a:r>
          </a:p>
          <a:p>
            <a:pPr lvl="1"/>
            <a:r>
              <a:rPr lang="en-US" dirty="0"/>
              <a:t>The locks need to be </a:t>
            </a:r>
            <a:r>
              <a:rPr lang="en-US" b="1" dirty="0"/>
              <a:t>held at the same time </a:t>
            </a:r>
            <a:r>
              <a:rPr lang="en-US" dirty="0"/>
              <a:t>by the threads</a:t>
            </a:r>
          </a:p>
          <a:p>
            <a:pPr lvl="1"/>
            <a:r>
              <a:rPr lang="en-US" dirty="0"/>
              <a:t>The locks may be </a:t>
            </a:r>
            <a:r>
              <a:rPr lang="en-US" b="1" dirty="0"/>
              <a:t>acquired in multiple orders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B443E31-DBB0-5E27-7D6E-01659E53A0DE}"/>
                  </a:ext>
                </a:extLst>
              </p14:cNvPr>
              <p14:cNvContentPartPr/>
              <p14:nvPr/>
            </p14:nvContentPartPr>
            <p14:xfrm>
              <a:off x="1020240" y="2721600"/>
              <a:ext cx="9903240" cy="221040"/>
            </p14:xfrm>
          </p:contentPart>
        </mc:Choice>
        <mc:Fallback>
          <p:pic>
            <p:nvPicPr>
              <p:cNvPr id="4" name="Ink 3">
                <a:extLst>
                  <a:ext uri="{FF2B5EF4-FFF2-40B4-BE49-F238E27FC236}">
                    <a16:creationId xmlns:a16="http://schemas.microsoft.com/office/drawing/2014/main" id="{2B443E31-DBB0-5E27-7D6E-01659E53A0DE}"/>
                  </a:ext>
                </a:extLst>
              </p:cNvPr>
              <p:cNvPicPr/>
              <p:nvPr/>
            </p:nvPicPr>
            <p:blipFill>
              <a:blip r:embed="rId3"/>
              <a:stretch>
                <a:fillRect/>
              </a:stretch>
            </p:blipFill>
            <p:spPr>
              <a:xfrm>
                <a:off x="1010880" y="2712240"/>
                <a:ext cx="9921960" cy="239760"/>
              </a:xfrm>
              <a:prstGeom prst="rect">
                <a:avLst/>
              </a:prstGeom>
            </p:spPr>
          </p:pic>
        </mc:Fallback>
      </mc:AlternateContent>
    </p:spTree>
    <p:extLst>
      <p:ext uri="{BB962C8B-B14F-4D97-AF65-F5344CB8AC3E}">
        <p14:creationId xmlns:p14="http://schemas.microsoft.com/office/powerpoint/2010/main" val="4142712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7806B-AA09-E3BC-9439-4A90F231A845}"/>
              </a:ext>
            </a:extLst>
          </p:cNvPr>
          <p:cNvSpPr>
            <a:spLocks noGrp="1"/>
          </p:cNvSpPr>
          <p:nvPr>
            <p:ph type="title"/>
          </p:nvPr>
        </p:nvSpPr>
        <p:spPr/>
        <p:txBody>
          <a:bodyPr/>
          <a:lstStyle/>
          <a:p>
            <a:r>
              <a:rPr lang="en-US" dirty="0"/>
              <a:t>Analog Example – Need the Trident to Write, Need the Dinosaur to Speak</a:t>
            </a:r>
          </a:p>
        </p:txBody>
      </p:sp>
      <p:sp>
        <p:nvSpPr>
          <p:cNvPr id="3" name="Text Placeholder 2">
            <a:extLst>
              <a:ext uri="{FF2B5EF4-FFF2-40B4-BE49-F238E27FC236}">
                <a16:creationId xmlns:a16="http://schemas.microsoft.com/office/drawing/2014/main" id="{8A3FC2DB-42D2-D392-C86B-4DA2D8013478}"/>
              </a:ext>
            </a:extLst>
          </p:cNvPr>
          <p:cNvSpPr>
            <a:spLocks noGrp="1"/>
          </p:cNvSpPr>
          <p:nvPr>
            <p:ph type="body" idx="1"/>
          </p:nvPr>
        </p:nvSpPr>
        <p:spPr/>
        <p:txBody>
          <a:bodyPr/>
          <a:lstStyle/>
          <a:p>
            <a:r>
              <a:rPr lang="en-US" u="sng" dirty="0"/>
              <a:t>Nathan</a:t>
            </a:r>
          </a:p>
        </p:txBody>
      </p:sp>
      <p:sp>
        <p:nvSpPr>
          <p:cNvPr id="4" name="Content Placeholder 3">
            <a:extLst>
              <a:ext uri="{FF2B5EF4-FFF2-40B4-BE49-F238E27FC236}">
                <a16:creationId xmlns:a16="http://schemas.microsoft.com/office/drawing/2014/main" id="{29C49F5F-E0C1-4C63-DA47-E3CA354E9CA6}"/>
              </a:ext>
            </a:extLst>
          </p:cNvPr>
          <p:cNvSpPr>
            <a:spLocks noGrp="1"/>
          </p:cNvSpPr>
          <p:nvPr>
            <p:ph sz="half" idx="2"/>
          </p:nvPr>
        </p:nvSpPr>
        <p:spPr/>
        <p:txBody>
          <a:bodyPr/>
          <a:lstStyle/>
          <a:p>
            <a:pPr marL="0" indent="0">
              <a:buNone/>
            </a:pPr>
            <a:r>
              <a:rPr lang="en-US" b="1" dirty="0"/>
              <a:t>Acquire the Trident</a:t>
            </a:r>
          </a:p>
          <a:p>
            <a:pPr marL="0" indent="0">
              <a:buNone/>
            </a:pPr>
            <a:r>
              <a:rPr lang="en-US" dirty="0"/>
              <a:t>Write your first name in the box</a:t>
            </a:r>
          </a:p>
          <a:p>
            <a:pPr marL="0" indent="0">
              <a:buNone/>
            </a:pPr>
            <a:r>
              <a:rPr lang="en-US" b="1" dirty="0"/>
              <a:t>Acquire the Dinosaur</a:t>
            </a:r>
          </a:p>
          <a:p>
            <a:pPr marL="0" indent="0">
              <a:buNone/>
            </a:pPr>
            <a:r>
              <a:rPr lang="en-US" dirty="0"/>
              <a:t>Write your last name in the box while calling out each letter</a:t>
            </a:r>
          </a:p>
          <a:p>
            <a:pPr marL="0" indent="0">
              <a:buNone/>
            </a:pPr>
            <a:r>
              <a:rPr lang="en-US" b="1" dirty="0"/>
              <a:t>Release the Dinosaur</a:t>
            </a:r>
          </a:p>
          <a:p>
            <a:pPr marL="0" indent="0">
              <a:buNone/>
            </a:pPr>
            <a:r>
              <a:rPr lang="en-US" b="1" dirty="0"/>
              <a:t>Release the Trident</a:t>
            </a:r>
          </a:p>
          <a:p>
            <a:pPr marL="0" indent="0">
              <a:buNone/>
            </a:pPr>
            <a:endParaRPr lang="en-US" dirty="0"/>
          </a:p>
          <a:p>
            <a:pPr marL="0" indent="0">
              <a:buNone/>
            </a:pPr>
            <a:endParaRPr lang="en-US" dirty="0"/>
          </a:p>
          <a:p>
            <a:pPr marL="0" indent="0">
              <a:buNone/>
            </a:pPr>
            <a:endParaRPr lang="en-US" dirty="0"/>
          </a:p>
        </p:txBody>
      </p:sp>
      <p:sp>
        <p:nvSpPr>
          <p:cNvPr id="5" name="Text Placeholder 4">
            <a:extLst>
              <a:ext uri="{FF2B5EF4-FFF2-40B4-BE49-F238E27FC236}">
                <a16:creationId xmlns:a16="http://schemas.microsoft.com/office/drawing/2014/main" id="{B9BD5885-92D3-99C5-CC0A-7A9133BAF205}"/>
              </a:ext>
            </a:extLst>
          </p:cNvPr>
          <p:cNvSpPr>
            <a:spLocks noGrp="1"/>
          </p:cNvSpPr>
          <p:nvPr>
            <p:ph type="body" sz="quarter" idx="3"/>
          </p:nvPr>
        </p:nvSpPr>
        <p:spPr/>
        <p:txBody>
          <a:bodyPr/>
          <a:lstStyle/>
          <a:p>
            <a:r>
              <a:rPr lang="en-US" u="sng" dirty="0"/>
              <a:t>Volunteer</a:t>
            </a:r>
          </a:p>
        </p:txBody>
      </p:sp>
      <p:sp>
        <p:nvSpPr>
          <p:cNvPr id="6" name="Content Placeholder 5">
            <a:extLst>
              <a:ext uri="{FF2B5EF4-FFF2-40B4-BE49-F238E27FC236}">
                <a16:creationId xmlns:a16="http://schemas.microsoft.com/office/drawing/2014/main" id="{99FA7DC8-21A2-0233-AA56-2E62F17B38AB}"/>
              </a:ext>
            </a:extLst>
          </p:cNvPr>
          <p:cNvSpPr>
            <a:spLocks noGrp="1"/>
          </p:cNvSpPr>
          <p:nvPr>
            <p:ph sz="quarter" idx="4"/>
          </p:nvPr>
        </p:nvSpPr>
        <p:spPr/>
        <p:txBody>
          <a:bodyPr/>
          <a:lstStyle/>
          <a:p>
            <a:pPr marL="0" indent="0">
              <a:buNone/>
            </a:pPr>
            <a:r>
              <a:rPr lang="en-US" b="1" dirty="0"/>
              <a:t>Acquire the Dinosaur</a:t>
            </a:r>
          </a:p>
          <a:p>
            <a:pPr marL="0" indent="0">
              <a:buNone/>
            </a:pPr>
            <a:r>
              <a:rPr lang="en-US" dirty="0"/>
              <a:t>say your first name</a:t>
            </a:r>
          </a:p>
          <a:p>
            <a:pPr marL="0" indent="0">
              <a:buNone/>
            </a:pPr>
            <a:r>
              <a:rPr lang="en-US" b="1" dirty="0"/>
              <a:t>Acquire the Trident</a:t>
            </a:r>
          </a:p>
          <a:p>
            <a:pPr marL="0" indent="0">
              <a:buNone/>
            </a:pPr>
            <a:r>
              <a:rPr lang="en-US" dirty="0"/>
              <a:t>Write your name in the box while calling out each letter </a:t>
            </a:r>
          </a:p>
          <a:p>
            <a:pPr marL="0" indent="0">
              <a:buNone/>
            </a:pPr>
            <a:r>
              <a:rPr lang="en-US" b="1" dirty="0"/>
              <a:t>Release the Trident</a:t>
            </a:r>
          </a:p>
          <a:p>
            <a:pPr marL="0" indent="0">
              <a:buNone/>
            </a:pPr>
            <a:r>
              <a:rPr lang="en-US" b="1" dirty="0"/>
              <a:t>Release the Dinosaur</a:t>
            </a:r>
          </a:p>
        </p:txBody>
      </p:sp>
    </p:spTree>
    <p:extLst>
      <p:ext uri="{BB962C8B-B14F-4D97-AF65-F5344CB8AC3E}">
        <p14:creationId xmlns:p14="http://schemas.microsoft.com/office/powerpoint/2010/main" val="2655257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Bank Account</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synchronized void </a:t>
            </a:r>
            <a:r>
              <a:rPr lang="en-US" dirty="0" err="1"/>
              <a:t>transferTo</a:t>
            </a:r>
            <a:r>
              <a:rPr lang="en-US" dirty="0"/>
              <a:t>(int amt, </a:t>
            </a:r>
            <a:r>
              <a:rPr lang="en-US" dirty="0" err="1"/>
              <a:t>BankAccount</a:t>
            </a:r>
            <a:r>
              <a:rPr lang="en-US" dirty="0"/>
              <a:t> 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16C7DD8-66C8-9FF5-81AA-0B7EE2380CD5}"/>
                  </a:ext>
                </a:extLst>
              </p14:cNvPr>
              <p14:cNvContentPartPr/>
              <p14:nvPr/>
            </p14:nvContentPartPr>
            <p14:xfrm>
              <a:off x="1554840" y="2749320"/>
              <a:ext cx="7469640" cy="2464920"/>
            </p14:xfrm>
          </p:contentPart>
        </mc:Choice>
        <mc:Fallback>
          <p:pic>
            <p:nvPicPr>
              <p:cNvPr id="4" name="Ink 3">
                <a:extLst>
                  <a:ext uri="{FF2B5EF4-FFF2-40B4-BE49-F238E27FC236}">
                    <a16:creationId xmlns:a16="http://schemas.microsoft.com/office/drawing/2014/main" id="{A16C7DD8-66C8-9FF5-81AA-0B7EE2380CD5}"/>
                  </a:ext>
                </a:extLst>
              </p:cNvPr>
              <p:cNvPicPr/>
              <p:nvPr/>
            </p:nvPicPr>
            <p:blipFill>
              <a:blip r:embed="rId3"/>
              <a:stretch>
                <a:fillRect/>
              </a:stretch>
            </p:blipFill>
            <p:spPr>
              <a:xfrm>
                <a:off x="1545480" y="2739960"/>
                <a:ext cx="7488360" cy="2483640"/>
              </a:xfrm>
              <a:prstGeom prst="rect">
                <a:avLst/>
              </a:prstGeom>
            </p:spPr>
          </p:pic>
        </mc:Fallback>
      </mc:AlternateContent>
    </p:spTree>
    <p:extLst>
      <p:ext uri="{BB962C8B-B14F-4D97-AF65-F5344CB8AC3E}">
        <p14:creationId xmlns:p14="http://schemas.microsoft.com/office/powerpoint/2010/main" val="2224490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 – Locking Order</a:t>
            </a:r>
          </a:p>
        </p:txBody>
      </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845DF299-0AB6-D627-167F-B54B828E9E41}"/>
              </a:ext>
            </a:extLst>
          </p:cNvPr>
          <p:cNvGrpSpPr/>
          <p:nvPr/>
        </p:nvGrpSpPr>
        <p:grpSpPr>
          <a:xfrm>
            <a:off x="3478179" y="1865651"/>
            <a:ext cx="5899502" cy="1163320"/>
            <a:chOff x="3478179" y="1865651"/>
            <a:chExt cx="5899502" cy="1163320"/>
          </a:xfrm>
        </p:grpSpPr>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Thread 1 will need to acquire locks in the following order:&#10;acquire lock for account x because transferTo is synchronized&#10;acquire lock for account y because deposit is synchronized&#10;release lock for account y after deposit&#10;release lock for account x at end of transferTo&#10;&#10;Thread 2 will need to acquire locks in the following order:&#10;acquire lock for account y because transferTo is synchronized&#10;acquire lock for account x because deposit is synchronized&#10;release lock for account x after deposit&#10;release lock for account y at end of transferTo&#10;&#10;&#10;">
            <a:extLst>
              <a:ext uri="{FF2B5EF4-FFF2-40B4-BE49-F238E27FC236}">
                <a16:creationId xmlns:a16="http://schemas.microsoft.com/office/drawing/2014/main" id="{78001FD6-EDE9-E678-3E8E-B6EE0887CCC0}"/>
              </a:ext>
            </a:extLst>
          </p:cNvPr>
          <p:cNvGrpSpPr/>
          <p:nvPr/>
        </p:nvGrpSpPr>
        <p:grpSpPr>
          <a:xfrm>
            <a:off x="355600" y="3437614"/>
            <a:ext cx="11804258" cy="3267985"/>
            <a:chOff x="355600" y="3437614"/>
            <a:chExt cx="11804258" cy="3267985"/>
          </a:xfrm>
        </p:grpSpPr>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r>
                <a:rPr lang="en-US" b="1" dirty="0">
                  <a:solidFill>
                    <a:schemeClr val="tx1"/>
                  </a:solidFill>
                </a:rPr>
                <a:t>release lock for account y</a:t>
              </a:r>
              <a:r>
                <a:rPr lang="en-US" dirty="0">
                  <a:solidFill>
                    <a:schemeClr val="tx1"/>
                  </a:solidFill>
                </a:rPr>
                <a:t> after deposit</a:t>
              </a: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r>
                <a:rPr lang="en-US" b="1" dirty="0">
                  <a:solidFill>
                    <a:schemeClr val="tx1"/>
                  </a:solidFill>
                </a:rPr>
                <a:t>release lock for account x</a:t>
              </a:r>
              <a:r>
                <a:rPr lang="en-US" dirty="0">
                  <a:solidFill>
                    <a:schemeClr val="tx1"/>
                  </a:solidFill>
                </a:rPr>
                <a:t> after deposit</a:t>
              </a: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grpSp>
    </p:spTree>
    <p:extLst>
      <p:ext uri="{BB962C8B-B14F-4D97-AF65-F5344CB8AC3E}">
        <p14:creationId xmlns:p14="http://schemas.microsoft.com/office/powerpoint/2010/main" val="2870858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 – Deadlock Interleaving</a:t>
            </a:r>
          </a:p>
        </p:txBody>
      </p:sp>
      <p:grpSp>
        <p:nvGrpSpPr>
          <p:cNvPr id="14" name="Group 13" descr="The following interleaving results in deadlock:&#10;&#10;Thread 1 acquires the lock for x&#10;Thread 2 acquires the lock for y&#10;Thread 1 acquires the lock for y&#10;Thread 2 acquires the lock for x">
            <a:extLst>
              <a:ext uri="{FF2B5EF4-FFF2-40B4-BE49-F238E27FC236}">
                <a16:creationId xmlns:a16="http://schemas.microsoft.com/office/drawing/2014/main" id="{50C50177-2F70-EDE7-0CA9-14BCAAEFDB9C}"/>
              </a:ext>
            </a:extLst>
          </p:cNvPr>
          <p:cNvGrpSpPr/>
          <p:nvPr/>
        </p:nvGrpSpPr>
        <p:grpSpPr>
          <a:xfrm>
            <a:off x="355600" y="3437614"/>
            <a:ext cx="11804258" cy="3267985"/>
            <a:chOff x="355600" y="3437614"/>
            <a:chExt cx="11804258" cy="3267985"/>
          </a:xfrm>
        </p:grpSpPr>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endParaRPr lang="en-US"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endParaRPr lang="en-US" b="1" dirty="0">
                <a:solidFill>
                  <a:schemeClr val="tx1"/>
                </a:solidFill>
              </a:endParaRP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endParaRPr lang="en-US" dirty="0">
                <a:solidFill>
                  <a:schemeClr val="tx1"/>
                </a:solidFill>
              </a:endParaRPr>
            </a:p>
            <a:p>
              <a:pPr marL="0" indent="0">
                <a:buNone/>
              </a:pPr>
              <a:r>
                <a:rPr lang="en-US" b="1" dirty="0">
                  <a:solidFill>
                    <a:schemeClr val="tx1"/>
                  </a:solidFill>
                </a:rPr>
                <a:t>release lock for account x</a:t>
              </a:r>
              <a:r>
                <a:rPr lang="en-US" dirty="0">
                  <a:solidFill>
                    <a:schemeClr val="tx1"/>
                  </a:solidFill>
                </a:rPr>
                <a:t> after deposit</a:t>
              </a:r>
            </a:p>
            <a:p>
              <a:pPr marL="0" indent="0">
                <a:buNone/>
              </a:pPr>
              <a:endParaRPr lang="en-US" dirty="0">
                <a:solidFill>
                  <a:schemeClr val="tx1"/>
                </a:solidFill>
              </a:endParaRP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gr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03EBD216-3781-2977-73B0-C4DB91A5B723}"/>
              </a:ext>
            </a:extLst>
          </p:cNvPr>
          <p:cNvGrpSpPr/>
          <p:nvPr/>
        </p:nvGrpSpPr>
        <p:grpSpPr>
          <a:xfrm>
            <a:off x="3478179" y="1865651"/>
            <a:ext cx="5899502" cy="1163320"/>
            <a:chOff x="3478179" y="1865651"/>
            <a:chExt cx="5899502" cy="1163320"/>
          </a:xfrm>
        </p:grpSpPr>
        <p:sp>
          <p:nvSpPr>
            <p:cNvPr id="10" name="Rectangle 9">
              <a:extLst>
                <a:ext uri="{FF2B5EF4-FFF2-40B4-BE49-F238E27FC236}">
                  <a16:creationId xmlns:a16="http://schemas.microsoft.com/office/drawing/2014/main" id="{B470148F-4F03-FC2C-B98C-9B39CE2C20D6}"/>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11" name="TextBox 10">
              <a:extLst>
                <a:ext uri="{FF2B5EF4-FFF2-40B4-BE49-F238E27FC236}">
                  <a16:creationId xmlns:a16="http://schemas.microsoft.com/office/drawing/2014/main" id="{D69097FB-1EA7-B1A8-94FA-0F5BA012F65E}"/>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12" name="Rectangle 11">
              <a:extLst>
                <a:ext uri="{FF2B5EF4-FFF2-40B4-BE49-F238E27FC236}">
                  <a16:creationId xmlns:a16="http://schemas.microsoft.com/office/drawing/2014/main" id="{358216B1-9290-9BF5-2A35-CB8C0DE87933}"/>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13" name="TextBox 12">
              <a:extLst>
                <a:ext uri="{FF2B5EF4-FFF2-40B4-BE49-F238E27FC236}">
                  <a16:creationId xmlns:a16="http://schemas.microsoft.com/office/drawing/2014/main" id="{3918B957-4021-7D25-B236-BFE7D8499A94}"/>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16966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E02C-5673-38D6-4439-D43D5A72E8ED}"/>
              </a:ext>
            </a:extLst>
          </p:cNvPr>
          <p:cNvSpPr>
            <a:spLocks noGrp="1"/>
          </p:cNvSpPr>
          <p:nvPr>
            <p:ph type="title"/>
          </p:nvPr>
        </p:nvSpPr>
        <p:spPr/>
        <p:txBody>
          <a:bodyPr/>
          <a:lstStyle/>
          <a:p>
            <a:r>
              <a:rPr lang="en-US" dirty="0"/>
              <a:t>Resolving Deadlocks</a:t>
            </a:r>
          </a:p>
        </p:txBody>
      </p:sp>
      <p:sp>
        <p:nvSpPr>
          <p:cNvPr id="3" name="Content Placeholder 2">
            <a:extLst>
              <a:ext uri="{FF2B5EF4-FFF2-40B4-BE49-F238E27FC236}">
                <a16:creationId xmlns:a16="http://schemas.microsoft.com/office/drawing/2014/main" id="{B0A0BB86-88A0-A30B-3F0C-216BDA9EB984}"/>
              </a:ext>
            </a:extLst>
          </p:cNvPr>
          <p:cNvSpPr>
            <a:spLocks noGrp="1"/>
          </p:cNvSpPr>
          <p:nvPr>
            <p:ph idx="1"/>
          </p:nvPr>
        </p:nvSpPr>
        <p:spPr/>
        <p:txBody>
          <a:bodyPr>
            <a:normAutofit lnSpcReduction="10000"/>
          </a:bodyPr>
          <a:lstStyle/>
          <a:p>
            <a:r>
              <a:rPr lang="en-US" dirty="0"/>
              <a:t>Option 1: Address the “multiple locks” requirement</a:t>
            </a:r>
          </a:p>
          <a:p>
            <a:pPr lvl="1"/>
            <a:r>
              <a:rPr lang="en-US" dirty="0"/>
              <a:t>Have a coarser lock granularity</a:t>
            </a:r>
          </a:p>
          <a:p>
            <a:pPr lvl="1"/>
            <a:r>
              <a:rPr lang="en-US" dirty="0"/>
              <a:t>E.g. one lock for ALL bank accounts</a:t>
            </a:r>
          </a:p>
          <a:p>
            <a:r>
              <a:rPr lang="en-US" dirty="0"/>
              <a:t>Option 2: Address the “held at the same time” requirement</a:t>
            </a:r>
          </a:p>
          <a:p>
            <a:pPr lvl="1"/>
            <a:r>
              <a:rPr lang="en-US" dirty="0"/>
              <a:t>Have a finer critical section so that only one lock is needed at a time</a:t>
            </a:r>
          </a:p>
          <a:p>
            <a:pPr lvl="1"/>
            <a:r>
              <a:rPr lang="en-US" dirty="0"/>
              <a:t>E.g. instead of a synchronized </a:t>
            </a:r>
            <a:r>
              <a:rPr lang="en-US" dirty="0" err="1"/>
              <a:t>transferTo</a:t>
            </a:r>
            <a:r>
              <a:rPr lang="en-US" dirty="0"/>
              <a:t>, have the withdraw and deposit steps locked separately</a:t>
            </a:r>
          </a:p>
          <a:p>
            <a:r>
              <a:rPr lang="en-US" dirty="0"/>
              <a:t>Option 3: Address the “acquired in multiple orders” requirement</a:t>
            </a:r>
          </a:p>
          <a:p>
            <a:pPr lvl="1"/>
            <a:r>
              <a:rPr lang="en-US" dirty="0"/>
              <a:t>Force the threads to always acquire the locks in the same order</a:t>
            </a:r>
          </a:p>
          <a:p>
            <a:pPr lvl="1"/>
            <a:r>
              <a:rPr lang="en-US" dirty="0"/>
              <a:t>E.g. make </a:t>
            </a:r>
            <a:r>
              <a:rPr lang="en-US" dirty="0" err="1"/>
              <a:t>transferTo</a:t>
            </a:r>
            <a:r>
              <a:rPr lang="en-US" dirty="0"/>
              <a:t> acquire both locks before doing either the withdraw or deposit, make sure both threads agree on the order to </a:t>
            </a:r>
            <a:r>
              <a:rPr lang="en-US" dirty="0" err="1"/>
              <a:t>aquire</a:t>
            </a:r>
            <a:endParaRPr lang="en-US" dirty="0"/>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8E3B075-278C-2288-6F2E-AE9E2AA6B1D8}"/>
                  </a:ext>
                </a:extLst>
              </p14:cNvPr>
              <p14:cNvContentPartPr/>
              <p14:nvPr/>
            </p14:nvContentPartPr>
            <p14:xfrm>
              <a:off x="3760920" y="2185920"/>
              <a:ext cx="2553480" cy="756720"/>
            </p14:xfrm>
          </p:contentPart>
        </mc:Choice>
        <mc:Fallback>
          <p:pic>
            <p:nvPicPr>
              <p:cNvPr id="4" name="Ink 3">
                <a:extLst>
                  <a:ext uri="{FF2B5EF4-FFF2-40B4-BE49-F238E27FC236}">
                    <a16:creationId xmlns:a16="http://schemas.microsoft.com/office/drawing/2014/main" id="{68E3B075-278C-2288-6F2E-AE9E2AA6B1D8}"/>
                  </a:ext>
                </a:extLst>
              </p:cNvPr>
              <p:cNvPicPr/>
              <p:nvPr/>
            </p:nvPicPr>
            <p:blipFill>
              <a:blip r:embed="rId3"/>
              <a:stretch>
                <a:fillRect/>
              </a:stretch>
            </p:blipFill>
            <p:spPr>
              <a:xfrm>
                <a:off x="3751560" y="2176560"/>
                <a:ext cx="2572200" cy="775440"/>
              </a:xfrm>
              <a:prstGeom prst="rect">
                <a:avLst/>
              </a:prstGeom>
            </p:spPr>
          </p:pic>
        </mc:Fallback>
      </mc:AlternateContent>
    </p:spTree>
    <p:extLst>
      <p:ext uri="{BB962C8B-B14F-4D97-AF65-F5344CB8AC3E}">
        <p14:creationId xmlns:p14="http://schemas.microsoft.com/office/powerpoint/2010/main" val="4289393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1: Coarser Locking</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fontScale="77500" lnSpcReduction="20000"/>
          </a:bodyPr>
          <a:lstStyle/>
          <a:p>
            <a:pPr marL="0" indent="0">
              <a:buNone/>
            </a:pPr>
            <a:r>
              <a:rPr lang="en-US" dirty="0">
                <a:solidFill>
                  <a:srgbClr val="FF0000"/>
                </a:solidFill>
              </a:rPr>
              <a:t>static final Object BANK = new Object();</a:t>
            </a:r>
          </a:p>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dirty="0">
                <a:solidFill>
                  <a:srgbClr val="FF0000"/>
                </a:solidFill>
              </a:rPr>
              <a:t>synchronized(BANK){</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a:t>
            </a:r>
            <a:r>
              <a:rPr lang="en-US" dirty="0">
                <a:solidFill>
                  <a:srgbClr val="FF0000"/>
                </a:solidFill>
              </a:rPr>
              <a:t>}</a:t>
            </a:r>
            <a:r>
              <a:rPr lang="en-US" dirty="0"/>
              <a: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B8306E1-4DE4-6B3B-367E-F437378A48D7}"/>
                  </a:ext>
                </a:extLst>
              </p14:cNvPr>
              <p14:cNvContentPartPr/>
              <p14:nvPr/>
            </p14:nvContentPartPr>
            <p14:xfrm>
              <a:off x="2221560" y="2183040"/>
              <a:ext cx="1514880" cy="3325320"/>
            </p14:xfrm>
          </p:contentPart>
        </mc:Choice>
        <mc:Fallback>
          <p:pic>
            <p:nvPicPr>
              <p:cNvPr id="4" name="Ink 3">
                <a:extLst>
                  <a:ext uri="{FF2B5EF4-FFF2-40B4-BE49-F238E27FC236}">
                    <a16:creationId xmlns:a16="http://schemas.microsoft.com/office/drawing/2014/main" id="{FB8306E1-4DE4-6B3B-367E-F437378A48D7}"/>
                  </a:ext>
                </a:extLst>
              </p:cNvPr>
              <p:cNvPicPr/>
              <p:nvPr/>
            </p:nvPicPr>
            <p:blipFill>
              <a:blip r:embed="rId3"/>
              <a:stretch>
                <a:fillRect/>
              </a:stretch>
            </p:blipFill>
            <p:spPr>
              <a:xfrm>
                <a:off x="2212200" y="2173680"/>
                <a:ext cx="1533600" cy="3344040"/>
              </a:xfrm>
              <a:prstGeom prst="rect">
                <a:avLst/>
              </a:prstGeom>
            </p:spPr>
          </p:pic>
        </mc:Fallback>
      </mc:AlternateContent>
    </p:spTree>
    <p:extLst>
      <p:ext uri="{BB962C8B-B14F-4D97-AF65-F5344CB8AC3E}">
        <p14:creationId xmlns:p14="http://schemas.microsoft.com/office/powerpoint/2010/main" val="2135221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2: Finer Critical Section</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1825624"/>
            <a:ext cx="10515600" cy="5113655"/>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synchronized(this){</a:t>
            </a:r>
          </a:p>
          <a:p>
            <a:pPr marL="0" indent="0">
              <a:buNone/>
            </a:pPr>
            <a:r>
              <a:rPr lang="en-US" dirty="0"/>
              <a:t>			</a:t>
            </a:r>
            <a:r>
              <a:rPr lang="en-US" dirty="0" err="1"/>
              <a:t>this.withdraw</a:t>
            </a:r>
            <a:r>
              <a:rPr lang="en-US" dirty="0"/>
              <a:t>(amt); </a:t>
            </a:r>
          </a:p>
          <a:p>
            <a:pPr marL="0" indent="0">
              <a:buNone/>
            </a:pPr>
            <a:r>
              <a:rPr lang="en-US" dirty="0"/>
              <a:t>		}</a:t>
            </a:r>
          </a:p>
          <a:p>
            <a:pPr marL="0" indent="0">
              <a:buNone/>
            </a:pPr>
            <a:r>
              <a:rPr lang="en-US" dirty="0"/>
              <a:t>		synchronized(a){</a:t>
            </a:r>
          </a:p>
          <a:p>
            <a:pPr marL="0" indent="0">
              <a:buNone/>
            </a:pPr>
            <a:r>
              <a:rPr lang="en-US" dirty="0"/>
              <a:t>			</a:t>
            </a:r>
            <a:r>
              <a:rPr lang="en-US" dirty="0" err="1"/>
              <a:t>a.deposit</a:t>
            </a:r>
            <a:r>
              <a:rPr lang="en-US" dirty="0"/>
              <a:t>(amt);</a:t>
            </a:r>
          </a:p>
          <a:p>
            <a:pPr marL="0" indent="0">
              <a:buNone/>
            </a:pPr>
            <a:r>
              <a:rPr lang="en-US" dirty="0"/>
              <a:t>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272183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a:xfrm>
            <a:off x="838200" y="-193675"/>
            <a:ext cx="10515600" cy="1325563"/>
          </a:xfrm>
        </p:spPr>
        <p:txBody>
          <a:bodyPr/>
          <a:lstStyle/>
          <a:p>
            <a:r>
              <a:rPr lang="en-US" dirty="0"/>
              <a:t>Option 3: First Get All Locks In A Fixed Order</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751840"/>
            <a:ext cx="10515600" cy="6187439"/>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if (</a:t>
            </a:r>
            <a:r>
              <a:rPr lang="en-US" dirty="0" err="1"/>
              <a:t>this.acctNum</a:t>
            </a:r>
            <a:r>
              <a:rPr lang="en-US" dirty="0"/>
              <a:t> &lt; </a:t>
            </a:r>
            <a:r>
              <a:rPr lang="en-US" dirty="0" err="1"/>
              <a:t>a.acctNum</a:t>
            </a:r>
            <a:r>
              <a:rPr lang="en-US" dirty="0"/>
              <a:t>){</a:t>
            </a:r>
          </a:p>
          <a:p>
            <a:pPr marL="0" indent="0">
              <a:buNone/>
            </a:pPr>
            <a:r>
              <a:rPr lang="en-US" dirty="0"/>
              <a:t>			synchronized(this){</a:t>
            </a:r>
          </a:p>
          <a:p>
            <a:pPr marL="0" indent="0">
              <a:buNone/>
            </a:pPr>
            <a:r>
              <a:rPr lang="en-US" dirty="0"/>
              <a:t>				synchronized(a){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a:t>
            </a:r>
          </a:p>
          <a:p>
            <a:pPr marL="0" indent="0">
              <a:buNone/>
            </a:pPr>
            <a:r>
              <a:rPr lang="en-US" dirty="0"/>
              <a:t>		else {</a:t>
            </a:r>
          </a:p>
          <a:p>
            <a:pPr marL="0" indent="0">
              <a:buNone/>
            </a:pPr>
            <a:r>
              <a:rPr lang="en-US" dirty="0"/>
              <a:t>			synchronized(a){</a:t>
            </a:r>
          </a:p>
          <a:p>
            <a:pPr marL="0" indent="0">
              <a:buNone/>
            </a:pPr>
            <a:r>
              <a:rPr lang="en-US" dirty="0"/>
              <a:t>				synchronized(this){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		</a:t>
            </a:r>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4218861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p:spTree>
    <p:extLst>
      <p:ext uri="{BB962C8B-B14F-4D97-AF65-F5344CB8AC3E}">
        <p14:creationId xmlns:p14="http://schemas.microsoft.com/office/powerpoint/2010/main" val="3791496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 (Remember </a:t>
            </a:r>
            <a:r>
              <a:rPr lang="en-US" dirty="0" err="1"/>
              <a:t>Ahmdal’s</a:t>
            </a:r>
            <a:r>
              <a:rPr lang="en-US" dirty="0"/>
              <a:t> law)</a:t>
            </a:r>
          </a:p>
          <a:p>
            <a:r>
              <a:rPr lang="en-US" dirty="0"/>
              <a:t>Use whenever threads do not need to communicate using the resource</a:t>
            </a:r>
          </a:p>
          <a:p>
            <a:pPr lvl="1"/>
            <a:r>
              <a:rPr lang="en-US" dirty="0"/>
              <a:t>E.g., each thread should have its on Random object</a:t>
            </a:r>
          </a:p>
          <a:p>
            <a:r>
              <a:rPr lang="en-US" dirty="0"/>
              <a:t>In most cases, most objects should be in this category</a:t>
            </a:r>
          </a:p>
        </p:txBody>
      </p:sp>
    </p:spTree>
    <p:extLst>
      <p:ext uri="{BB962C8B-B14F-4D97-AF65-F5344CB8AC3E}">
        <p14:creationId xmlns:p14="http://schemas.microsoft.com/office/powerpoint/2010/main" val="1839542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Make new objects instead</a:t>
            </a:r>
          </a:p>
          <a:p>
            <a:r>
              <a:rPr lang="en-US" dirty="0"/>
              <a:t>Parallel reads are not data races</a:t>
            </a:r>
          </a:p>
          <a:p>
            <a:pPr lvl="1"/>
            <a:r>
              <a:rPr lang="en-US" dirty="0"/>
              <a:t>If an object is never written to, no synchronization necessary!</a:t>
            </a:r>
          </a:p>
          <a:p>
            <a:r>
              <a:rPr lang="en-US" dirty="0"/>
              <a:t>Many programmers over-use mutation, minimize it</a:t>
            </a:r>
          </a:p>
        </p:txBody>
      </p:sp>
    </p:spTree>
    <p:extLst>
      <p:ext uri="{BB962C8B-B14F-4D97-AF65-F5344CB8AC3E}">
        <p14:creationId xmlns:p14="http://schemas.microsoft.com/office/powerpoint/2010/main" val="3849426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p:spTree>
    <p:extLst>
      <p:ext uri="{BB962C8B-B14F-4D97-AF65-F5344CB8AC3E}">
        <p14:creationId xmlns:p14="http://schemas.microsoft.com/office/powerpoint/2010/main" val="14703522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grpSp>
        <p:nvGrpSpPr>
          <p:cNvPr id="7" name="Group 6" descr="An example of one lock guarding one object. Any time that object is used (read-to or written-from) we must acquire that lock.">
            <a:extLst>
              <a:ext uri="{FF2B5EF4-FFF2-40B4-BE49-F238E27FC236}">
                <a16:creationId xmlns:a16="http://schemas.microsoft.com/office/drawing/2014/main" id="{7A87A4D8-4A99-738E-BBBF-E1469A82DE79}"/>
              </a:ext>
            </a:extLst>
          </p:cNvPr>
          <p:cNvGrpSpPr/>
          <p:nvPr/>
        </p:nvGrpSpPr>
        <p:grpSpPr>
          <a:xfrm>
            <a:off x="1916116" y="4957128"/>
            <a:ext cx="396240" cy="1189514"/>
            <a:chOff x="1916116" y="4957128"/>
            <a:chExt cx="396240" cy="1189514"/>
          </a:xfrm>
        </p:grpSpPr>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descr="We could also have one lock protecting multiple objects. In this case using any one of those several objects requires acquiring that one lock.">
            <a:extLst>
              <a:ext uri="{FF2B5EF4-FFF2-40B4-BE49-F238E27FC236}">
                <a16:creationId xmlns:a16="http://schemas.microsoft.com/office/drawing/2014/main" id="{3553AE39-E20D-7DBB-436A-A56392393721}"/>
              </a:ext>
            </a:extLst>
          </p:cNvPr>
          <p:cNvGrpSpPr/>
          <p:nvPr/>
        </p:nvGrpSpPr>
        <p:grpSpPr>
          <a:xfrm>
            <a:off x="3393440" y="5024120"/>
            <a:ext cx="1584960" cy="1235234"/>
            <a:chOff x="3393440" y="5024120"/>
            <a:chExt cx="1584960" cy="1235234"/>
          </a:xfrm>
        </p:grpSpPr>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51F9428-FE46-3CC6-774F-C8E248003A8C}"/>
              </a:ext>
              <a:ext uri="{C183D7F6-B498-43B3-948B-1728B52AA6E4}">
                <adec:decorative xmlns:adec="http://schemas.microsoft.com/office/drawing/2017/decorative" val="1"/>
              </a:ext>
            </a:extLst>
          </p:cNvPr>
          <p:cNvGrpSpPr/>
          <p:nvPr/>
        </p:nvGrpSpPr>
        <p:grpSpPr>
          <a:xfrm>
            <a:off x="6003931" y="4911408"/>
            <a:ext cx="1584960" cy="1235234"/>
            <a:chOff x="6003931" y="4911408"/>
            <a:chExt cx="1584960" cy="1235234"/>
          </a:xfrm>
        </p:grpSpPr>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62847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p:spTree>
    <p:extLst>
      <p:ext uri="{BB962C8B-B14F-4D97-AF65-F5344CB8AC3E}">
        <p14:creationId xmlns:p14="http://schemas.microsoft.com/office/powerpoint/2010/main" val="362613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Coarse-grained: One lock for the entire </a:t>
            </a:r>
            <a:r>
              <a:rPr lang="en-US" dirty="0" err="1"/>
              <a:t>hashtable</a:t>
            </a:r>
            <a:r>
              <a:rPr lang="en-US" dirty="0"/>
              <a:t> </a:t>
            </a:r>
          </a:p>
          <a:p>
            <a:r>
              <a:rPr lang="en-US" dirty="0"/>
              <a:t>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p:spTree>
    <p:extLst>
      <p:ext uri="{BB962C8B-B14F-4D97-AF65-F5344CB8AC3E}">
        <p14:creationId xmlns:p14="http://schemas.microsoft.com/office/powerpoint/2010/main" val="24502497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tree, maybe copy items into an array inside your critical section, then print the array’s contents outside.</a:t>
            </a:r>
          </a:p>
        </p:txBody>
      </p:sp>
    </p:spTree>
    <p:extLst>
      <p:ext uri="{BB962C8B-B14F-4D97-AF65-F5344CB8AC3E}">
        <p14:creationId xmlns:p14="http://schemas.microsoft.com/office/powerpoint/2010/main" val="4056517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33317</TotalTime>
  <Words>2851</Words>
  <Application>Microsoft Office PowerPoint</Application>
  <PresentationFormat>Widescreen</PresentationFormat>
  <Paragraphs>398</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CSE 332 Spring 2026 Lecture 23: Concurrency 2 –  Race Conditions, Data Races and Bad Interleavings</vt:lpstr>
      <vt:lpstr>Interleaving</vt:lpstr>
      <vt:lpstr>Concurrent Programming</vt:lpstr>
      <vt:lpstr>Concurrency Races</vt:lpstr>
      <vt:lpstr>Example: Shared Stack (no problems so far)</vt:lpstr>
      <vt:lpstr>Race Condition, but no Data Race</vt:lpstr>
      <vt:lpstr>Two Peeks Break LIFO Order</vt:lpstr>
      <vt:lpstr>Race Condition, including a Data Race</vt:lpstr>
      <vt:lpstr>Bad Interleaving - Peek and isEmpty</vt:lpstr>
      <vt:lpstr>Challenge - Peek and Push</vt:lpstr>
      <vt:lpstr>Bad Interleaving - Peek and Push</vt:lpstr>
      <vt:lpstr>How to fix this?</vt:lpstr>
      <vt:lpstr>Fixed!</vt:lpstr>
      <vt:lpstr>Did this fix it?</vt:lpstr>
      <vt:lpstr>Deadlock</vt:lpstr>
      <vt:lpstr>Analog Example – Need the Trident to Write, Need the Dinosaur to Speak</vt:lpstr>
      <vt:lpstr>Bank Account</vt:lpstr>
      <vt:lpstr>Deadlock Example – Locking Order</vt:lpstr>
      <vt:lpstr>Deadlock Example – Deadlock Interleaving</vt:lpstr>
      <vt:lpstr>Resolving Deadlocks</vt:lpstr>
      <vt:lpstr>Option 1: Coarser Locking</vt:lpstr>
      <vt:lpstr>Option 2: Finer Critical Section</vt:lpstr>
      <vt:lpstr>Option 3: First Get All Locks In A Fixed Order</vt:lpstr>
      <vt:lpstr>Parallel Code Conventional Wisdom</vt:lpstr>
      <vt:lpstr>Memory Categories</vt:lpstr>
      <vt:lpstr>Thread Local Memory</vt:lpstr>
      <vt:lpstr>Immutable Objects</vt:lpstr>
      <vt:lpstr>Shared and Mutable Objects</vt:lpstr>
      <vt:lpstr>Consistent Locking</vt:lpstr>
      <vt:lpstr>Lock Granularity</vt:lpstr>
      <vt:lpstr>Example: Separate Chaining Hashtable</vt:lpstr>
      <vt:lpstr>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322</cp:revision>
  <dcterms:created xsi:type="dcterms:W3CDTF">2023-10-13T16:06:42Z</dcterms:created>
  <dcterms:modified xsi:type="dcterms:W3CDTF">2026-05-22T20:22:01Z</dcterms:modified>
</cp:coreProperties>
</file>