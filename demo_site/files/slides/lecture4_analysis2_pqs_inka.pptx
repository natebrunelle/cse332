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391" r:id="rId3"/>
    <p:sldId id="400" r:id="rId4"/>
    <p:sldId id="401" r:id="rId5"/>
    <p:sldId id="301" r:id="rId6"/>
    <p:sldId id="300" r:id="rId7"/>
    <p:sldId id="403" r:id="rId8"/>
    <p:sldId id="312" r:id="rId9"/>
    <p:sldId id="404" r:id="rId10"/>
    <p:sldId id="405" r:id="rId11"/>
    <p:sldId id="314" r:id="rId12"/>
    <p:sldId id="315" r:id="rId13"/>
    <p:sldId id="402" r:id="rId14"/>
    <p:sldId id="406" r:id="rId15"/>
    <p:sldId id="409" r:id="rId16"/>
    <p:sldId id="267" r:id="rId17"/>
    <p:sldId id="412" r:id="rId18"/>
    <p:sldId id="413" r:id="rId19"/>
    <p:sldId id="414" r:id="rId20"/>
    <p:sldId id="415" r:id="rId21"/>
    <p:sldId id="417" r:id="rId22"/>
    <p:sldId id="453" r:id="rId23"/>
    <p:sldId id="454" r:id="rId24"/>
    <p:sldId id="421" r:id="rId25"/>
    <p:sldId id="418" r:id="rId26"/>
    <p:sldId id="420" r:id="rId27"/>
    <p:sldId id="423" r:id="rId28"/>
    <p:sldId id="424" r:id="rId29"/>
  </p:sldIdLst>
  <p:sldSz cx="12192000" cy="6858000"/>
  <p:notesSz cx="6858000" cy="9144000"/>
  <p:embeddedFontLst>
    <p:embeddedFont>
      <p:font typeface="Cambria Math" panose="02040503050406030204" pitchFamily="18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09D29-1373-6246-9F8A-DDFD735F70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4: Algorithm Analysis and Priority Queues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6EF0-BA71-FAF4-8D2E-6A56D7A3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Algorithm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778F-BCED-5084-02A2-68257F910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Identify a </a:t>
            </a:r>
            <a:r>
              <a:rPr lang="en-US" i="1" dirty="0"/>
              <a:t>function</a:t>
            </a:r>
            <a:r>
              <a:rPr lang="en-US" dirty="0"/>
              <a:t> which maps the algorithm’s input size to a measure of resources used</a:t>
            </a:r>
          </a:p>
          <a:p>
            <a:pPr lvl="1"/>
            <a:r>
              <a:rPr lang="en-US" dirty="0"/>
              <a:t>Domain of the function: </a:t>
            </a:r>
            <a:r>
              <a:rPr lang="en-US" b="1" dirty="0"/>
              <a:t>sizes</a:t>
            </a:r>
            <a:r>
              <a:rPr lang="en-US" dirty="0"/>
              <a:t> of the input </a:t>
            </a:r>
          </a:p>
          <a:p>
            <a:pPr lvl="2"/>
            <a:r>
              <a:rPr lang="en-US" dirty="0"/>
              <a:t>Number of characters in a string, number of items in a list, number of pixels in an image</a:t>
            </a:r>
          </a:p>
          <a:p>
            <a:pPr lvl="1"/>
            <a:r>
              <a:rPr lang="en-US" dirty="0"/>
              <a:t>Codomain of the function: </a:t>
            </a:r>
            <a:r>
              <a:rPr lang="en-US" b="1" dirty="0"/>
              <a:t>counts</a:t>
            </a:r>
            <a:r>
              <a:rPr lang="en-US" dirty="0"/>
              <a:t> of resources used</a:t>
            </a:r>
          </a:p>
          <a:p>
            <a:pPr lvl="2"/>
            <a:r>
              <a:rPr lang="en-US" dirty="0"/>
              <a:t>Number of times the algorithm adds two numbers together, number times the algorithm does a &gt; or &lt; comparison, maximum number of bytes of memory the algorithm uses at any time </a:t>
            </a:r>
          </a:p>
          <a:p>
            <a:r>
              <a:rPr lang="en-US" dirty="0"/>
              <a:t>Important note: Make sure you know the “units” of your domain and codomain!</a:t>
            </a:r>
          </a:p>
          <a:p>
            <a:pPr lvl="1"/>
            <a:r>
              <a:rPr lang="en-US" dirty="0"/>
              <a:t>Domain = inputs to the function</a:t>
            </a:r>
          </a:p>
          <a:p>
            <a:pPr lvl="1"/>
            <a:r>
              <a:rPr lang="en-US" dirty="0"/>
              <a:t>Codomain = outputs to the function</a:t>
            </a:r>
          </a:p>
        </p:txBody>
      </p:sp>
    </p:spTree>
    <p:extLst>
      <p:ext uri="{BB962C8B-B14F-4D97-AF65-F5344CB8AC3E}">
        <p14:creationId xmlns:p14="http://schemas.microsoft.com/office/powerpoint/2010/main" val="367896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6A6-036F-846E-F4AC-15AAFD0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C8BB0-49B0-7D5E-92DD-CF544CC7D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3" y="1829365"/>
            <a:ext cx="12096954" cy="37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4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2A1-F3AE-5E9B-5D67-C317DC46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these algorithms, all of which have the same input/output behavior:</a:t>
                </a:r>
              </a:p>
              <a:p>
                <a:pPr lvl="1"/>
                <a:r>
                  <a:rPr lang="en-US" dirty="0"/>
                  <a:t>Algorithm A’s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+900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B’s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C’s worst case running time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Which algorithm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25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721600" y="1676400"/>
                <a:ext cx="2373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a:rPr lang="en-US" sz="2400" b="0" i="1" smtClean="0">
                          <a:latin typeface="Cambria Math"/>
                        </a:rPr>
                        <m:t>𝑂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1600" y="1676400"/>
                <a:ext cx="237302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14" r="-5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735490" y="2438400"/>
                <a:ext cx="23575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Θ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5490" y="2438400"/>
                <a:ext cx="2357505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517" r="-258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719381" y="3195935"/>
                <a:ext cx="23655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/>
                        </a:rPr>
                        <m:t>Ω</m:t>
                      </m:r>
                      <m:r>
                        <a:rPr lang="en-US" sz="2400" b="0" i="1" smtClean="0">
                          <a:latin typeface="Cambria Math"/>
                        </a:rPr>
                        <m:t>(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381" y="3195935"/>
                <a:ext cx="2365519" cy="461665"/>
              </a:xfrm>
              <a:prstGeom prst="rect">
                <a:avLst/>
              </a:prstGeom>
              <a:blipFill rotWithShape="1">
                <a:blip r:embed="rId4"/>
                <a:stretch>
                  <a:fillRect l="-258" r="-51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90"/>
          <a:stretch/>
        </p:blipFill>
        <p:spPr bwMode="auto">
          <a:xfrm>
            <a:off x="821900" y="640875"/>
            <a:ext cx="6884343" cy="5640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6386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less than or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Upper-bounded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greater than or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Lower-bounded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dirty="0">
                    <a:solidFill>
                      <a:srgbClr val="FF33CC"/>
                    </a:solidFill>
                  </a:rPr>
                  <a:t>Tightly</a:t>
                </a:r>
                <a:r>
                  <a:rPr lang="en-US" dirty="0"/>
                  <a:t>” within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89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 work: 	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77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77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 work:</a:t>
                </a:r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67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72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389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612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 Show: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Contradiction</a:t>
                </a: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	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𝑐𝑛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Let us derive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know: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	</a:t>
                </a:r>
                <a:br>
                  <a:rPr lang="en-US" dirty="0"/>
                </a:br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:br>
                  <a:rPr lang="en-US" dirty="0"/>
                </a:br>
                <a:r>
                  <a:rPr lang="en-US" dirty="0"/>
                  <a:t>		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lower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cannot be a constant and make this        		True.</a:t>
                </a:r>
                <a:br>
                  <a:rPr lang="en-US" dirty="0"/>
                </a:br>
                <a:r>
                  <a:rPr lang="en-US" dirty="0"/>
                  <a:t>		Contradiction.  Therefore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E9E742-86D9-924A-813D-0470A2EDFFFC}"/>
              </a:ext>
            </a:extLst>
          </p:cNvPr>
          <p:cNvSpPr txBox="1"/>
          <p:nvPr/>
        </p:nvSpPr>
        <p:spPr>
          <a:xfrm>
            <a:off x="9144000" y="1504146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Proof by Contradiction!</a:t>
            </a:r>
          </a:p>
        </p:txBody>
      </p:sp>
    </p:spTree>
    <p:extLst>
      <p:ext uri="{BB962C8B-B14F-4D97-AF65-F5344CB8AC3E}">
        <p14:creationId xmlns:p14="http://schemas.microsoft.com/office/powerpoint/2010/main" val="114856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F01-CB08-62DC-1215-866A0F10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doing asymptotic analysis of functions:</a:t>
                </a:r>
              </a:p>
              <a:p>
                <a:pPr lvl="1"/>
                <a:r>
                  <a:rPr lang="en-US" dirty="0"/>
                  <a:t>If multiple expressions are added together, ignore all but the “biggest”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asymptotically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all multiplicative constants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bases of logarithms</a:t>
                </a:r>
              </a:p>
              <a:p>
                <a:pPr lvl="1"/>
                <a:r>
                  <a:rPr lang="en-US" dirty="0"/>
                  <a:t>Do NOT ignore:</a:t>
                </a:r>
              </a:p>
              <a:p>
                <a:pPr lvl="2"/>
                <a:r>
                  <a:rPr lang="en-US" dirty="0"/>
                  <a:t>Non-multiplicative and non-additive constants (e.g. in exponents, bases of exponents)</a:t>
                </a:r>
              </a:p>
              <a:p>
                <a:pPr lvl="2"/>
                <a:r>
                  <a:rPr lang="en-US" dirty="0"/>
                  <a:t>Logarithms themselves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+ 3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(10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  <a:blipFill>
                <a:blip r:embed="rId2"/>
                <a:stretch>
                  <a:fillRect l="-928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657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8004-4521-2990-7545-99E7189B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Is each of the following True or False?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4+3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49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FAC-3CF1-21C8-D24E-C2A51388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	“constant”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 	“logarithmic”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“linear”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	“log-linear”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“quadratic”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“cubic”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“polynomial”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“exponential”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072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41E5-465C-EBB5-E9CD-029376B8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48E-DA88-5227-7793-0EE138E7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  <a:p>
            <a:pPr lvl="1"/>
            <a:r>
              <a:rPr lang="en-US" dirty="0"/>
              <a:t>A “First In First Out” (FIFO) collection of items</a:t>
            </a:r>
          </a:p>
          <a:p>
            <a:r>
              <a:rPr lang="en-US" dirty="0"/>
              <a:t>What Operations do we need?</a:t>
            </a:r>
          </a:p>
          <a:p>
            <a:pPr lvl="1"/>
            <a:r>
              <a:rPr lang="en-US" dirty="0"/>
              <a:t>Enqueue</a:t>
            </a:r>
          </a:p>
          <a:p>
            <a:pPr lvl="2"/>
            <a:r>
              <a:rPr lang="en-US" dirty="0"/>
              <a:t>Add a new item to the queue</a:t>
            </a:r>
          </a:p>
          <a:p>
            <a:pPr lvl="1"/>
            <a:r>
              <a:rPr lang="en-US" dirty="0"/>
              <a:t>Dequeue</a:t>
            </a:r>
          </a:p>
          <a:p>
            <a:pPr lvl="2"/>
            <a:r>
              <a:rPr lang="en-US" dirty="0"/>
              <a:t>Remove the “oldest” item from the queue</a:t>
            </a:r>
          </a:p>
          <a:p>
            <a:pPr lvl="1"/>
            <a:r>
              <a:rPr lang="en-US" dirty="0" err="1"/>
              <a:t>Is_empty</a:t>
            </a:r>
            <a:endParaRPr lang="en-US" dirty="0"/>
          </a:p>
          <a:p>
            <a:pPr lvl="2"/>
            <a:r>
              <a:rPr lang="en-US" dirty="0"/>
              <a:t>Indicate whether or not there are items still on the queue</a:t>
            </a:r>
          </a:p>
        </p:txBody>
      </p:sp>
    </p:spTree>
    <p:extLst>
      <p:ext uri="{BB962C8B-B14F-4D97-AF65-F5344CB8AC3E}">
        <p14:creationId xmlns:p14="http://schemas.microsoft.com/office/powerpoint/2010/main" val="438875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41E5-465C-EBB5-E9CD-029376B8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48E-DA88-5227-7793-0EE138E73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What is it?</a:t>
            </a:r>
          </a:p>
          <a:p>
            <a:pPr lvl="1"/>
            <a:r>
              <a:rPr lang="en-US" dirty="0"/>
              <a:t>A collection of items and their “priorities”</a:t>
            </a:r>
          </a:p>
          <a:p>
            <a:pPr lvl="1"/>
            <a:r>
              <a:rPr lang="en-US" dirty="0"/>
              <a:t>Allows quick access/removal to the “top priority” thing</a:t>
            </a:r>
          </a:p>
          <a:p>
            <a:r>
              <a:rPr lang="en-US" dirty="0"/>
              <a:t>What Operations do we need?</a:t>
            </a:r>
          </a:p>
          <a:p>
            <a:pPr lvl="1"/>
            <a:r>
              <a:rPr lang="en-US" dirty="0"/>
              <a:t>insert(item, priority)</a:t>
            </a:r>
          </a:p>
          <a:p>
            <a:pPr lvl="2"/>
            <a:r>
              <a:rPr lang="en-US" dirty="0"/>
              <a:t>Add a new item to the PQ with indicated priority</a:t>
            </a:r>
          </a:p>
          <a:p>
            <a:pPr lvl="2"/>
            <a:r>
              <a:rPr lang="en-US" dirty="0"/>
              <a:t>Usually, smaller priority value means more important</a:t>
            </a:r>
          </a:p>
          <a:p>
            <a:pPr lvl="1"/>
            <a:r>
              <a:rPr lang="en-US" dirty="0"/>
              <a:t>extract</a:t>
            </a:r>
          </a:p>
          <a:p>
            <a:pPr lvl="2"/>
            <a:r>
              <a:rPr lang="en-US" dirty="0"/>
              <a:t>Remove and return the “top priority” item from the queue</a:t>
            </a:r>
          </a:p>
          <a:p>
            <a:pPr lvl="1"/>
            <a:r>
              <a:rPr lang="en-US" dirty="0" err="1"/>
              <a:t>Is_empty</a:t>
            </a:r>
            <a:endParaRPr lang="en-US" dirty="0"/>
          </a:p>
          <a:p>
            <a:pPr lvl="2"/>
            <a:r>
              <a:rPr lang="en-US" dirty="0"/>
              <a:t>Indicate whether or not there are items still on the queue</a:t>
            </a:r>
          </a:p>
          <a:p>
            <a:r>
              <a:rPr lang="en-US" dirty="0"/>
              <a:t>Note: the “priority” value can be any type/class so long as it’s comparable (i.e. you can use “&lt;“ or “</a:t>
            </a:r>
            <a:r>
              <a:rPr lang="en-US" dirty="0" err="1"/>
              <a:t>compareTo</a:t>
            </a:r>
            <a:r>
              <a:rPr lang="en-US" dirty="0"/>
              <a:t>” with it)</a:t>
            </a:r>
          </a:p>
        </p:txBody>
      </p:sp>
    </p:spTree>
    <p:extLst>
      <p:ext uri="{BB962C8B-B14F-4D97-AF65-F5344CB8AC3E}">
        <p14:creationId xmlns:p14="http://schemas.microsoft.com/office/powerpoint/2010/main" val="284699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50DF-811B-A9CC-41FE-BB616356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Queue,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0527-8F8A-97C7-EE9B-44727DD0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5161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PriorityQueue</a:t>
            </a:r>
            <a:r>
              <a:rPr lang="en-US" dirty="0"/>
              <a:t> PQ = new </a:t>
            </a:r>
            <a:r>
              <a:rPr lang="en-US" dirty="0" err="1"/>
              <a:t>PriorityQueue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(5,5)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(6,6)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(1,1)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(3,3)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(8,8)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050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50DF-811B-A9CC-41FE-BB616356E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Queue,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0527-8F8A-97C7-EE9B-44727DD0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51612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PriorityQueue</a:t>
            </a:r>
            <a:r>
              <a:rPr lang="en-US" dirty="0"/>
              <a:t> PQ = new </a:t>
            </a:r>
            <a:r>
              <a:rPr lang="en-US" dirty="0" err="1"/>
              <a:t>PriorityQueue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(5,5)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(6,6)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(1,1)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(3,3)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PQ.insert</a:t>
            </a:r>
            <a:r>
              <a:rPr lang="en-US" dirty="0"/>
              <a:t>(8,8)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PQ.deleteMin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54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CA63-A283-2B9A-141D-40EDAC37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5ED34-AF75-C4E8-5894-C0401FAAB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562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DE81BF-64A3-93DD-75E1-1B8B7ADAA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154171"/>
              </p:ext>
            </p:extLst>
          </p:nvPr>
        </p:nvGraphicFramePr>
        <p:xfrm>
          <a:off x="838200" y="1825625"/>
          <a:ext cx="1051559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6360">
                  <a:extLst>
                    <a:ext uri="{9D8B030D-6E8A-4147-A177-3AD203B41FA5}">
                      <a16:colId xmlns:a16="http://schemas.microsoft.com/office/drawing/2014/main" val="3859037791"/>
                    </a:ext>
                  </a:extLst>
                </a:gridCol>
                <a:gridCol w="3789680">
                  <a:extLst>
                    <a:ext uri="{9D8B030D-6E8A-4147-A177-3AD203B41FA5}">
                      <a16:colId xmlns:a16="http://schemas.microsoft.com/office/drawing/2014/main" val="1986166423"/>
                    </a:ext>
                  </a:extLst>
                </a:gridCol>
                <a:gridCol w="4099557">
                  <a:extLst>
                    <a:ext uri="{9D8B030D-6E8A-4147-A177-3AD203B41FA5}">
                      <a16:colId xmlns:a16="http://schemas.microsoft.com/office/drawing/2014/main" val="3667104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Worst case time to 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Worst case time to extract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4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Unsorted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21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Unsorted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532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Sorted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54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Sorted Linked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379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100" dirty="0"/>
                        <a:t>Binary Search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9590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DC9A6B-441D-32AF-47B4-F4888F339B90}"/>
              </a:ext>
            </a:extLst>
          </p:cNvPr>
          <p:cNvSpPr txBox="1"/>
          <p:nvPr/>
        </p:nvSpPr>
        <p:spPr>
          <a:xfrm>
            <a:off x="838200" y="5852160"/>
            <a:ext cx="970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simplicity,  Assume we know the maximum size of the PQ in advance (otherwise we’d do an amortized analysis, but get the same answers…)</a:t>
            </a:r>
          </a:p>
        </p:txBody>
      </p:sp>
    </p:spTree>
    <p:extLst>
      <p:ext uri="{BB962C8B-B14F-4D97-AF65-F5344CB8AC3E}">
        <p14:creationId xmlns:p14="http://schemas.microsoft.com/office/powerpoint/2010/main" val="1318996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895746"/>
                  </p:ext>
                </p:extLst>
              </p:nvPr>
            </p:nvGraphicFramePr>
            <p:xfrm>
              <a:off x="838200" y="1825625"/>
              <a:ext cx="10515597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6895746"/>
                  </p:ext>
                </p:extLst>
              </p:nvPr>
            </p:nvGraphicFramePr>
            <p:xfrm>
              <a:off x="838200" y="1825625"/>
              <a:ext cx="10515597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110448" r="-108842" b="-4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110448" r="-594" b="-4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207353" r="-108842" b="-3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207353" r="-594" b="-3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307353" r="-108842" b="-2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307353" r="-594" b="-2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413433" r="-108842" b="-129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413433" r="-594" b="-129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505882" r="-108842" b="-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505882" r="-594" b="-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C7AD587-59D0-A1C8-89A2-1EC8852362D7}"/>
              </a:ext>
            </a:extLst>
          </p:cNvPr>
          <p:cNvSpPr txBox="1"/>
          <p:nvPr/>
        </p:nvSpPr>
        <p:spPr>
          <a:xfrm>
            <a:off x="838200" y="5852160"/>
            <a:ext cx="970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simplicity,  Assume we know the maximum size of the PQ in advance (otherwise we’d do an amortized analysis, but get the same answers…)</a:t>
            </a:r>
          </a:p>
        </p:txBody>
      </p:sp>
    </p:spTree>
    <p:extLst>
      <p:ext uri="{BB962C8B-B14F-4D97-AF65-F5344CB8AC3E}">
        <p14:creationId xmlns:p14="http://schemas.microsoft.com/office/powerpoint/2010/main" val="2414215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6CB2-21FD-58F8-0744-75D5A27E3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through implementations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13853333"/>
                  </p:ext>
                </p:extLst>
              </p:nvPr>
            </p:nvGraphicFramePr>
            <p:xfrm>
              <a:off x="838200" y="1825625"/>
              <a:ext cx="10515597" cy="2880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Heap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1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1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1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6517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5DE81BF-64A3-93DD-75E1-1B8B7ADAA4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13853333"/>
                  </p:ext>
                </p:extLst>
              </p:nvPr>
            </p:nvGraphicFramePr>
            <p:xfrm>
              <a:off x="838200" y="1825625"/>
              <a:ext cx="10515597" cy="2880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636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378968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4099557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Worst case 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Worst case time to extract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110448" r="-108842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110448" r="-594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207353" r="-108842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207353" r="-594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311940" r="-108842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311940" r="-594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405882" r="-108842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405882" r="-594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513433" r="-108842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513433" r="-594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195905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Heap</a:t>
                          </a:r>
                        </a:p>
                      </a:txBody>
                      <a:tcP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453" t="-604412" r="-108842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604412" r="-594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76517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5A04C30-28A0-45BD-0DCC-6FE722E39D48}"/>
              </a:ext>
            </a:extLst>
          </p:cNvPr>
          <p:cNvSpPr txBox="1"/>
          <p:nvPr/>
        </p:nvSpPr>
        <p:spPr>
          <a:xfrm>
            <a:off x="838200" y="5852160"/>
            <a:ext cx="9707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simplicity,  Assume we know the maximum size of the PQ in advance (otherwise we’d do an amortized analysis, but get the same answers…)</a:t>
            </a:r>
          </a:p>
        </p:txBody>
      </p:sp>
    </p:spTree>
    <p:extLst>
      <p:ext uri="{BB962C8B-B14F-4D97-AF65-F5344CB8AC3E}">
        <p14:creationId xmlns:p14="http://schemas.microsoft.com/office/powerpoint/2010/main" val="3914709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7FF0-73B3-18E1-1353-1FC326B0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for Heaps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ACA28-A63F-17B5-D7E2-8052BDD1DC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Trees:</a:t>
                </a:r>
              </a:p>
              <a:p>
                <a:pPr lvl="1"/>
                <a:r>
                  <a:rPr lang="en-US" dirty="0"/>
                  <a:t>The branching factor is 2</a:t>
                </a:r>
              </a:p>
              <a:p>
                <a:pPr lvl="1"/>
                <a:r>
                  <a:rPr lang="en-US" dirty="0"/>
                  <a:t>Every node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2 children</a:t>
                </a:r>
              </a:p>
              <a:p>
                <a:r>
                  <a:rPr lang="en-US" dirty="0"/>
                  <a:t>Complete Tree:</a:t>
                </a:r>
              </a:p>
              <a:p>
                <a:pPr lvl="1"/>
                <a:r>
                  <a:rPr lang="en-US" dirty="0"/>
                  <a:t>All “layers” are full, except the bottom</a:t>
                </a:r>
              </a:p>
              <a:p>
                <a:pPr lvl="1"/>
                <a:r>
                  <a:rPr lang="en-US" dirty="0"/>
                  <a:t>Bottom layer filled left-to-right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ACA28-A63F-17B5-D7E2-8052BDD1D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45763F0-6769-2287-CC78-BCD511A25F3D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F7E31A0-3D28-578F-5A14-F09AA762C56B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8E57D9C-90AC-1E4D-B4B2-6035E42D446F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B69181F-C6C8-0F25-3774-618748080A5E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4E7A57F-281D-14D1-8FD1-B7676D989C3C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9DA9B6-1EB5-447B-ED91-6211BEDDA0F2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65DDE04-CC29-E791-DD6A-810566C87691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1B6C2F-9FFB-4EEB-3096-46005109CDE9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F5AC253-EE0F-A59C-CD48-00D35FA98918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694BE88-313B-BF69-CC7B-CDB41993619D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5BEC51-2B81-F5B1-3172-D2C934522EE8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76CC7CC-AE23-0FD3-CE5F-8504F07C64B7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5647F1-AB09-5E14-4D54-F9A40B1E0C28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D23AFF-4086-7B95-E87D-F527D08A1AD3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427BB4-6F03-67AA-C1CC-7E6FCA3D63F4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B0041F5-7180-BE30-B46A-30863B150E6E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952D87F-314D-CE71-4735-6CB05C141444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B2EEED4-A26A-7898-FCF1-C0AA68E4D5B5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6353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A069-E0AF-EBEE-3120-4318DF25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Priority Queue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Idea: We need to keep some ordering, but it doesn’t need to be entirely sorted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worst case for extract and insert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60A17D2-D1DC-EB90-0F1F-B576ACAA6D5B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E16EF1-E0DE-F370-E581-946E72846104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45C3EBE-556C-5377-E6B8-DD961CEA7DFD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B45233-474B-D142-219F-3E2B3AC692B9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202AD5-FD55-ED1F-2E5A-AA6DE5FB534F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55CF38E-7DC0-6240-8663-B411669B6536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4CC478-74A8-998F-9A93-3856DF9C77C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E3CC96-BBE6-289E-ED25-7D583BF06E09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4DD672-6BA5-032B-AF77-D37A27D159F3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01B6D2E-E2AA-4C8C-1EAD-8C12D7FF3633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48F384-51C8-527F-7FB4-5BBB372B6677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02DF07-0E13-B858-3BA7-5900F9516216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84EDD4-811C-EDDD-E685-8BB995834CA3}"/>
                </a:ext>
              </a:extLst>
            </p:cNvPr>
            <p:cNvCxnSpPr>
              <a:stCxn id="8" idx="1"/>
              <a:endCxn id="5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010E68-C147-D53D-76FA-0AC012CD9A6F}"/>
                </a:ext>
              </a:extLst>
            </p:cNvPr>
            <p:cNvCxnSpPr>
              <a:stCxn id="7" idx="7"/>
              <a:endCxn id="5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35A445-FC36-61C2-4F6B-88DF180C943C}"/>
                </a:ext>
              </a:extLst>
            </p:cNvPr>
            <p:cNvCxnSpPr>
              <a:stCxn id="12" idx="0"/>
              <a:endCxn id="7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173BE8-0C63-61AC-C82D-DA0736EC7C33}"/>
                </a:ext>
              </a:extLst>
            </p:cNvPr>
            <p:cNvCxnSpPr>
              <a:stCxn id="11" idx="0"/>
              <a:endCxn id="7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59FA23-DDB5-C437-52D4-C8687D34BF71}"/>
                </a:ext>
              </a:extLst>
            </p:cNvPr>
            <p:cNvCxnSpPr>
              <a:stCxn id="9" idx="7"/>
              <a:endCxn id="6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0309B5-D192-7F29-3E8C-A9BE86027085}"/>
                </a:ext>
              </a:extLst>
            </p:cNvPr>
            <p:cNvCxnSpPr>
              <a:stCxn id="10" idx="1"/>
              <a:endCxn id="6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072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A069-E0AF-EBEE-3120-4318DF25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– Priority Queue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Idea: We need to keep some ordering, but it doesn’t need to be entirely sorted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worst case for extract and insert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CD4E4A-D376-CCD8-BF06-19D9E2D5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60A17D2-D1DC-EB90-0F1F-B576ACAA6D5B}"/>
              </a:ext>
            </a:extLst>
          </p:cNvPr>
          <p:cNvGrpSpPr/>
          <p:nvPr/>
        </p:nvGrpSpPr>
        <p:grpSpPr>
          <a:xfrm>
            <a:off x="5161281" y="2830993"/>
            <a:ext cx="6934200" cy="3661882"/>
            <a:chOff x="2590801" y="2672070"/>
            <a:chExt cx="6934200" cy="366188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E16EF1-E0DE-F370-E581-946E72846104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45C3EBE-556C-5377-E6B8-DD961CEA7DFD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B45233-474B-D142-219F-3E2B3AC692B9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202AD5-FD55-ED1F-2E5A-AA6DE5FB534F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55CF38E-7DC0-6240-8663-B411669B6536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4CC478-74A8-998F-9A93-3856DF9C77CF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E3CC96-BBE6-289E-ED25-7D583BF06E09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4DD672-6BA5-032B-AF77-D37A27D159F3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01B6D2E-E2AA-4C8C-1EAD-8C12D7FF3633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48F384-51C8-527F-7FB4-5BBB372B6677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02DF07-0E13-B858-3BA7-5900F9516216}"/>
                </a:ext>
              </a:extLst>
            </p:cNvPr>
            <p:cNvCxnSpPr>
              <a:cxnSpLocks/>
              <a:stCxn id="4" idx="5"/>
              <a:endCxn id="6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184EDD4-811C-EDDD-E685-8BB995834CA3}"/>
                </a:ext>
              </a:extLst>
            </p:cNvPr>
            <p:cNvCxnSpPr>
              <a:stCxn id="8" idx="1"/>
              <a:endCxn id="5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010E68-C147-D53D-76FA-0AC012CD9A6F}"/>
                </a:ext>
              </a:extLst>
            </p:cNvPr>
            <p:cNvCxnSpPr>
              <a:stCxn id="7" idx="7"/>
              <a:endCxn id="5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C35A445-FC36-61C2-4F6B-88DF180C943C}"/>
                </a:ext>
              </a:extLst>
            </p:cNvPr>
            <p:cNvCxnSpPr>
              <a:stCxn id="12" idx="0"/>
              <a:endCxn id="7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173BE8-0C63-61AC-C82D-DA0736EC7C33}"/>
                </a:ext>
              </a:extLst>
            </p:cNvPr>
            <p:cNvCxnSpPr>
              <a:stCxn id="11" idx="0"/>
              <a:endCxn id="7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859FA23-DDB5-C437-52D4-C8687D34BF71}"/>
                </a:ext>
              </a:extLst>
            </p:cNvPr>
            <p:cNvCxnSpPr>
              <a:stCxn id="9" idx="7"/>
              <a:endCxn id="6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F0309B5-D192-7F29-3E8C-A9BE86027085}"/>
                </a:ext>
              </a:extLst>
            </p:cNvPr>
            <p:cNvCxnSpPr>
              <a:stCxn id="10" idx="1"/>
              <a:endCxn id="6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A1E5C5-FE3E-3837-A400-EDD1180798EE}"/>
                </a:ext>
              </a:extLst>
            </p:cNvPr>
            <p:cNvSpPr txBox="1"/>
            <p:nvPr/>
          </p:nvSpPr>
          <p:spPr>
            <a:xfrm>
              <a:off x="6190049" y="3371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072A56-BB76-64EE-AA55-B0C0AAAAE0F0}"/>
                </a:ext>
              </a:extLst>
            </p:cNvPr>
            <p:cNvSpPr txBox="1"/>
            <p:nvPr/>
          </p:nvSpPr>
          <p:spPr>
            <a:xfrm>
              <a:off x="4384195" y="437709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7B72FD9-D516-7B60-38F9-5A60DDD667CF}"/>
                </a:ext>
              </a:extLst>
            </p:cNvPr>
            <p:cNvSpPr txBox="1"/>
            <p:nvPr/>
          </p:nvSpPr>
          <p:spPr>
            <a:xfrm>
              <a:off x="8051693" y="43166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7146A6-09EE-669E-CAE9-E5870BEA6B4B}"/>
                </a:ext>
              </a:extLst>
            </p:cNvPr>
            <p:cNvSpPr txBox="1"/>
            <p:nvPr/>
          </p:nvSpPr>
          <p:spPr>
            <a:xfrm>
              <a:off x="3352081" y="50715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8CFD0E-B361-7654-43E5-3351750EFDA2}"/>
                </a:ext>
              </a:extLst>
            </p:cNvPr>
            <p:cNvSpPr txBox="1"/>
            <p:nvPr/>
          </p:nvSpPr>
          <p:spPr>
            <a:xfrm>
              <a:off x="7122005" y="501267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6F9792-C108-987E-92D6-692460A8FA7A}"/>
                </a:ext>
              </a:extLst>
            </p:cNvPr>
            <p:cNvSpPr txBox="1"/>
            <p:nvPr/>
          </p:nvSpPr>
          <p:spPr>
            <a:xfrm>
              <a:off x="5404400" y="51089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47EA02-4AEF-AD39-4C20-AAFE81249FFE}"/>
                </a:ext>
              </a:extLst>
            </p:cNvPr>
            <p:cNvSpPr txBox="1"/>
            <p:nvPr/>
          </p:nvSpPr>
          <p:spPr>
            <a:xfrm>
              <a:off x="9030118" y="503006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B3F467-768F-E74D-FDE0-C031AB68DF49}"/>
                </a:ext>
              </a:extLst>
            </p:cNvPr>
            <p:cNvSpPr txBox="1"/>
            <p:nvPr/>
          </p:nvSpPr>
          <p:spPr>
            <a:xfrm>
              <a:off x="2783996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91939BE-D44A-6B91-F264-505B9FEB6EDB}"/>
                </a:ext>
              </a:extLst>
            </p:cNvPr>
            <p:cNvSpPr txBox="1"/>
            <p:nvPr/>
          </p:nvSpPr>
          <p:spPr>
            <a:xfrm>
              <a:off x="3920467" y="596462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1371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206E-E4F0-F25D-7FB9-EC12CCD0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C1EDC-77CF-F245-8CDE-E3968F223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maximum number of total nodes in a binary tree of height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If I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in a binary tree, what is its minimum height?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Heap Idea: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values are inserted into a complete tree, the height will be roughly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Ensure each insert and extract requires just one “trip” from root to leaf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C1EDC-77CF-F245-8CDE-E3968F223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90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BF59-083A-CA08-93EA-90DDC967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(Min) Heap Data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7669B-CBB0-4757-983B-3F4448576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Keep items in a complete binary tree</a:t>
                </a:r>
              </a:p>
              <a:p>
                <a:r>
                  <a:rPr lang="en-US" dirty="0"/>
                  <a:t>Maintain the “(Min) Heap Property” of the tree</a:t>
                </a:r>
              </a:p>
              <a:p>
                <a:pPr lvl="1"/>
                <a:r>
                  <a:rPr lang="en-US" dirty="0"/>
                  <a:t>Every node’s priority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its children’s priority</a:t>
                </a:r>
              </a:p>
              <a:p>
                <a:pPr lvl="1"/>
                <a:r>
                  <a:rPr lang="en-US" sz="2000" dirty="0"/>
                  <a:t>Max Heap Property: every node’s priority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its children</a:t>
                </a:r>
                <a:endParaRPr lang="en-US" dirty="0"/>
              </a:p>
              <a:p>
                <a:r>
                  <a:rPr lang="en-US" dirty="0"/>
                  <a:t>Where is the min?</a:t>
                </a:r>
              </a:p>
              <a:p>
                <a:r>
                  <a:rPr lang="en-US" dirty="0"/>
                  <a:t>How do I insert?</a:t>
                </a:r>
              </a:p>
              <a:p>
                <a:r>
                  <a:rPr lang="en-US" dirty="0"/>
                  <a:t>How do I extract?</a:t>
                </a:r>
              </a:p>
              <a:p>
                <a:r>
                  <a:rPr lang="en-US" dirty="0"/>
                  <a:t>How to do it in Java?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97669B-CBB0-4757-983B-3F4448576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8AE6CBA-AB2F-80B2-02B0-F3E0F80B5682}"/>
              </a:ext>
            </a:extLst>
          </p:cNvPr>
          <p:cNvGrpSpPr/>
          <p:nvPr/>
        </p:nvGrpSpPr>
        <p:grpSpPr>
          <a:xfrm>
            <a:off x="5161281" y="2808212"/>
            <a:ext cx="6934200" cy="3368751"/>
            <a:chOff x="2590801" y="2672070"/>
            <a:chExt cx="6934200" cy="336875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C35D44B-7628-E1CA-355C-F1502458AAFF}"/>
                </a:ext>
              </a:extLst>
            </p:cNvPr>
            <p:cNvSpPr/>
            <p:nvPr/>
          </p:nvSpPr>
          <p:spPr>
            <a:xfrm>
              <a:off x="5996855" y="267207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6D75F0-1F90-45CD-3466-F0D3151331C2}"/>
                </a:ext>
              </a:extLst>
            </p:cNvPr>
            <p:cNvSpPr/>
            <p:nvPr/>
          </p:nvSpPr>
          <p:spPr>
            <a:xfrm>
              <a:off x="4191001" y="3682289"/>
              <a:ext cx="688077" cy="68807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5428839-BA2F-B30D-94E5-826514CC6F90}"/>
                </a:ext>
              </a:extLst>
            </p:cNvPr>
            <p:cNvSpPr/>
            <p:nvPr/>
          </p:nvSpPr>
          <p:spPr>
            <a:xfrm>
              <a:off x="7858499" y="3653913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AF1CD9-D7B0-1F23-5F0D-1AE7356B4063}"/>
                </a:ext>
              </a:extLst>
            </p:cNvPr>
            <p:cNvSpPr/>
            <p:nvPr/>
          </p:nvSpPr>
          <p:spPr>
            <a:xfrm>
              <a:off x="3200401" y="438350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A3A9B3C-DD7B-FA7F-8066-BF8EDE5C6C0E}"/>
                </a:ext>
              </a:extLst>
            </p:cNvPr>
            <p:cNvSpPr/>
            <p:nvPr/>
          </p:nvSpPr>
          <p:spPr>
            <a:xfrm>
              <a:off x="5211206" y="4425368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A5175A-FD0A-6371-2F1B-DB3E686ECC8D}"/>
                </a:ext>
              </a:extLst>
            </p:cNvPr>
            <p:cNvSpPr/>
            <p:nvPr/>
          </p:nvSpPr>
          <p:spPr>
            <a:xfrm>
              <a:off x="6934201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A33B652-75C8-B0DA-13BD-38B23E9E57B2}"/>
                </a:ext>
              </a:extLst>
            </p:cNvPr>
            <p:cNvSpPr/>
            <p:nvPr/>
          </p:nvSpPr>
          <p:spPr>
            <a:xfrm>
              <a:off x="8836924" y="4341990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36E5ACF-446B-CD24-C4B1-D4CCCBEFC8B9}"/>
                </a:ext>
              </a:extLst>
            </p:cNvPr>
            <p:cNvSpPr/>
            <p:nvPr/>
          </p:nvSpPr>
          <p:spPr>
            <a:xfrm>
              <a:off x="2590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28E15AD-EBCB-3F3E-9454-F62DC58673EF}"/>
                </a:ext>
              </a:extLst>
            </p:cNvPr>
            <p:cNvSpPr/>
            <p:nvPr/>
          </p:nvSpPr>
          <p:spPr>
            <a:xfrm>
              <a:off x="3733801" y="5352744"/>
              <a:ext cx="688077" cy="6880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474545E-8779-A2D5-CC1E-916D83DAFEC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4778311" y="3259380"/>
              <a:ext cx="1319311" cy="5236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832117-1D91-EA54-AA48-D42D50B6E77D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584165" y="3259380"/>
              <a:ext cx="1375101" cy="495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216AEFE-FACF-94D3-2B06-267CC376A70D}"/>
                </a:ext>
              </a:extLst>
            </p:cNvPr>
            <p:cNvCxnSpPr>
              <a:stCxn id="9" idx="1"/>
              <a:endCxn id="6" idx="5"/>
            </p:cNvCxnSpPr>
            <p:nvPr/>
          </p:nvCxnSpPr>
          <p:spPr>
            <a:xfrm flipH="1" flipV="1">
              <a:off x="4778310" y="4269598"/>
              <a:ext cx="533662" cy="2565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F51E84C-C241-3587-EEAA-D44DCC6EB670}"/>
                </a:ext>
              </a:extLst>
            </p:cNvPr>
            <p:cNvCxnSpPr>
              <a:stCxn id="8" idx="7"/>
              <a:endCxn id="6" idx="3"/>
            </p:cNvCxnSpPr>
            <p:nvPr/>
          </p:nvCxnSpPr>
          <p:spPr>
            <a:xfrm flipV="1">
              <a:off x="3787711" y="4269598"/>
              <a:ext cx="504057" cy="21467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F6055D-B72C-64B7-C5B6-16DED3B88937}"/>
                </a:ext>
              </a:extLst>
            </p:cNvPr>
            <p:cNvCxnSpPr>
              <a:stCxn id="13" idx="0"/>
              <a:endCxn id="8" idx="5"/>
            </p:cNvCxnSpPr>
            <p:nvPr/>
          </p:nvCxnSpPr>
          <p:spPr>
            <a:xfrm flipH="1" flipV="1">
              <a:off x="3787711" y="4970813"/>
              <a:ext cx="290129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20EC72-600D-B503-2BA3-2F770786B564}"/>
                </a:ext>
              </a:extLst>
            </p:cNvPr>
            <p:cNvCxnSpPr>
              <a:stCxn id="12" idx="0"/>
              <a:endCxn id="8" idx="3"/>
            </p:cNvCxnSpPr>
            <p:nvPr/>
          </p:nvCxnSpPr>
          <p:spPr>
            <a:xfrm flipV="1">
              <a:off x="2934839" y="4970813"/>
              <a:ext cx="366328" cy="38193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E5B7A2E-C48F-13F0-EC5F-40C151CCB2C5}"/>
                </a:ext>
              </a:extLst>
            </p:cNvPr>
            <p:cNvCxnSpPr>
              <a:stCxn id="10" idx="7"/>
              <a:endCxn id="7" idx="3"/>
            </p:cNvCxnSpPr>
            <p:nvPr/>
          </p:nvCxnSpPr>
          <p:spPr>
            <a:xfrm flipV="1">
              <a:off x="7521511" y="4241222"/>
              <a:ext cx="437755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A696EE-72D9-D0B0-C82B-CF1F4D5D6426}"/>
                </a:ext>
              </a:extLst>
            </p:cNvPr>
            <p:cNvCxnSpPr>
              <a:stCxn id="11" idx="1"/>
              <a:endCxn id="7" idx="5"/>
            </p:cNvCxnSpPr>
            <p:nvPr/>
          </p:nvCxnSpPr>
          <p:spPr>
            <a:xfrm flipH="1" flipV="1">
              <a:off x="8445808" y="4241222"/>
              <a:ext cx="491882" cy="201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834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9770</TotalTime>
  <Words>1711</Words>
  <Application>Microsoft Office PowerPoint</Application>
  <PresentationFormat>Widescreen</PresentationFormat>
  <Paragraphs>269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Calibri Light</vt:lpstr>
      <vt:lpstr>Cambria Math</vt:lpstr>
      <vt:lpstr>Calibri</vt:lpstr>
      <vt:lpstr>Arial</vt:lpstr>
      <vt:lpstr>Office Theme</vt:lpstr>
      <vt:lpstr>CSE 332 Winter 2026 Lecture 4: Algorithm Analysis and Priority Queues</vt:lpstr>
      <vt:lpstr>Goals for Algorithm Analysis</vt:lpstr>
      <vt:lpstr>Comparing</vt:lpstr>
      <vt:lpstr>Comparing Running Times</vt:lpstr>
      <vt:lpstr>PowerPoint Presentation</vt:lpstr>
      <vt:lpstr>Asymptotic Notation</vt:lpstr>
      <vt:lpstr>Asymptotic Notation Example</vt:lpstr>
      <vt:lpstr>Asymptotic Notation Example</vt:lpstr>
      <vt:lpstr>Asymptotic Notation Example</vt:lpstr>
      <vt:lpstr>Asymptotic Notation Example</vt:lpstr>
      <vt:lpstr>Asymptotic Notation Example</vt:lpstr>
      <vt:lpstr>Asymptotic Notation Example</vt:lpstr>
      <vt:lpstr>Gaining Intuition</vt:lpstr>
      <vt:lpstr>More Examples</vt:lpstr>
      <vt:lpstr>Common Categories</vt:lpstr>
      <vt:lpstr>ADT: Queue</vt:lpstr>
      <vt:lpstr>ADT: Priority Queue</vt:lpstr>
      <vt:lpstr>Priority Queue, example</vt:lpstr>
      <vt:lpstr>Priority Queue, example</vt:lpstr>
      <vt:lpstr>Applications?</vt:lpstr>
      <vt:lpstr>Thinking through implementations</vt:lpstr>
      <vt:lpstr>Thinking through implementations</vt:lpstr>
      <vt:lpstr>Thinking through implementations</vt:lpstr>
      <vt:lpstr>Trees for Heaps</vt:lpstr>
      <vt:lpstr>Heap – Priority Queue Data Structure</vt:lpstr>
      <vt:lpstr>Heap – Priority Queue Data Structure</vt:lpstr>
      <vt:lpstr>Challenge!</vt:lpstr>
      <vt:lpstr>(Min) Heap Data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60</cp:revision>
  <dcterms:created xsi:type="dcterms:W3CDTF">2023-09-26T20:08:20Z</dcterms:created>
  <dcterms:modified xsi:type="dcterms:W3CDTF">2026-01-12T19:09:25Z</dcterms:modified>
</cp:coreProperties>
</file>