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422" r:id="rId3"/>
    <p:sldId id="270" r:id="rId4"/>
    <p:sldId id="417" r:id="rId5"/>
    <p:sldId id="418" r:id="rId6"/>
    <p:sldId id="419" r:id="rId7"/>
    <p:sldId id="420" r:id="rId8"/>
    <p:sldId id="274" r:id="rId9"/>
    <p:sldId id="273" r:id="rId10"/>
    <p:sldId id="261" r:id="rId11"/>
    <p:sldId id="314" r:id="rId12"/>
    <p:sldId id="353" r:id="rId13"/>
    <p:sldId id="389" r:id="rId14"/>
    <p:sldId id="390" r:id="rId15"/>
    <p:sldId id="319" r:id="rId16"/>
    <p:sldId id="316" r:id="rId17"/>
    <p:sldId id="391" r:id="rId18"/>
    <p:sldId id="392" r:id="rId19"/>
    <p:sldId id="423" r:id="rId20"/>
    <p:sldId id="424" r:id="rId21"/>
    <p:sldId id="411" r:id="rId22"/>
    <p:sldId id="425" r:id="rId23"/>
    <p:sldId id="426" r:id="rId24"/>
    <p:sldId id="394" r:id="rId25"/>
    <p:sldId id="398" r:id="rId26"/>
    <p:sldId id="427" r:id="rId27"/>
    <p:sldId id="397" r:id="rId28"/>
    <p:sldId id="410" r:id="rId29"/>
    <p:sldId id="416" r:id="rId30"/>
    <p:sldId id="415" r:id="rId31"/>
    <p:sldId id="421" r:id="rId32"/>
  </p:sldIdLst>
  <p:sldSz cx="12192000" cy="6858000"/>
  <p:notesSz cx="6858000" cy="9144000"/>
  <p:embeddedFontLst>
    <p:embeddedFont>
      <p:font typeface="Cambria Math" panose="02040503050406030204" pitchFamily="18" charset="0"/>
      <p:regular r:id="rId34"/>
    </p:embeddedFont>
    <p:embeddedFont>
      <p:font typeface="Cascadia Code" panose="020B0609020000020004" pitchFamily="49" charset="0"/>
      <p:regular r:id="rId35"/>
      <p:bold r:id="rId36"/>
      <p:italic r:id="rId37"/>
      <p:boldItalic r:id="rId38"/>
    </p:embeddedFont>
    <p:embeddedFont>
      <p:font typeface="Consolas" panose="020B0609020204030204" pitchFamily="49"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8.fntdata"/></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1-07T23:47:37.706"/>
    </inkml:context>
    <inkml:brush xml:id="br0">
      <inkml:brushProperty name="width" value="0.05292" units="cm"/>
      <inkml:brushProperty name="height" value="0.05292" units="cm"/>
      <inkml:brushProperty name="color" value="#FF0000"/>
    </inkml:brush>
  </inkml:definitions>
  <inkml:trace contextRef="#ctx0" brushRef="#br0">9047 8683 0,'0'0'0,"0"0"0,0 0 0,0 0 0,0 0 31,0 0-31,0 9 0,0 16 16,-8 43-1,8 51 1,0 17 0,8 0-16,9-42 0,0-52 31</inkml:trace>
  <inkml:trace contextRef="#ctx0" brushRef="#br0" timeOffset="6970.77">7835 15155 0,'0'0'0,"0"0"0,0 0 0,17 17 16,9 8 0,8 18-1,17 17-15,17 25 0,18 25 16,-9-25 0,8 0-1,0 0-15,-25-25 16,-9-18-1,-25-16-15</inkml:trace>
  <inkml:trace contextRef="#ctx0" brushRef="#br0" timeOffset="7255.03">8236 15223 0,'0'0'0,"-8"0"16,-18 17-16,-17 17 15,-16 17 1,-18 26-16,9 16 15,8 1-15,0 16 16,17 1 0,26-1-16,9-59 15</inkml:trace>
  <inkml:trace contextRef="#ctx0" brushRef="#br0" timeOffset="7912.35">9081 15010 0,'0'0'0,"-8"0"16,-1 9-16,1-1 16,-1 1-1,-8 8-15,-9 17 16,1 17 0,-1 25-16,1 27 15,16-10 1,18-16-16,16-1 15,18-16 1,17-9-16,8-17 16,9-17-1,25-17-15,1-9 16,-35-16 0,0-1-16,-25 9 15,-18 0 1,-8 0-16,-8 0 15,-18 9-15,-8-9 16,-51 17 0,-60 25-1,0 18-15,9 8 16,16 0-16,26-17 16,43-17-1</inkml:trace>
  <inkml:trace contextRef="#ctx0" brushRef="#br0" timeOffset="18474.58">1494 8632 0,'0'0'0,"0"0"0,0 0 16,0 0-16,0 0 15,0 17 1,17 17-16,0 17 16,25 26-1,10 8 1,16 0-16,-17-17 16,0-17-16,-8-9 15,8-8 1,-34-8-1,9-18-15,0 1 16,-9-1-16</inkml:trace>
  <inkml:trace contextRef="#ctx0" brushRef="#br0" timeOffset="18774.11">2057 8215 0,'0'0'0,"0"0"0,0 0 16,-9 9-1,-16 25-15,-35 42 16,-77 60 0,-33 43-16,25 8 15,-17 9-15,33-18 16,95-110-16</inkml:trace>
  <inkml:trace contextRef="#ctx0" brushRef="#br0" timeOffset="21162.95">8023 13395 0,'0'0'0,"0"0"0,0 0 0,0 0 16,0 0-1,0 0 1,0 0-16,0 0 15,17 25 1,0 9-16,17 17 16,9 9-16,17 8 15,-1-9 1,-16 1 0,0-18-16,-18 1 15,-16-18-15</inkml:trace>
  <inkml:trace contextRef="#ctx0" brushRef="#br0" timeOffset="21449.94">8356 13429 0,'0'0'0,"0"0"0,0 0 15,-26-9 1,-17 9-16,-8 17 16,-9 26-16,-16 8 15,7 17 1,1 8 0,8 1-16,18-9 15,-1-9 1,26-25-16</inkml:trace>
  <inkml:trace contextRef="#ctx0" brushRef="#br0" timeOffset="21673.79">9158 12782 0,'0'0'0,"-9"9"0,1 50 0,-18 60 16,-8 26-16,17 42 31,9 9-31,-18 110 16</inkml:trace>
  <inkml:trace contextRef="#ctx0" brushRef="#br0" timeOffset="24786.97">10105 8785 0,'0'0'0,"0"0"0,0 0 16,0 0 0,0 9-16,0-9 15,0 0 1,0 0-16,9 8 15,8 1 1,9-1-16,8 1 16,8-9-1,1 8-15,-17 1 16,8 8 0,8 17-16,10 17 15,-10 0 1,-16 0-16,-26 0 15,-9 8 1,-8 1-16,-17-9 16,-34-9-1,-17-8-15,-1-17 16,9-17 0,35-8-16,16-9 15,26-9 1,34-8-1,43-17-15,26 9 16,25 8 0,34 25-16,-17 9 15,-17 9 1,17 16-16,137 43 16</inkml:trace>
  <inkml:trace contextRef="#ctx0" brushRef="#br0" timeOffset="25479.61">9039 14798 0,'0'8'0,"17"43"0,25 60 16,18 42-1,17 17-15,-26 0 16,0 9-1,0 8-15,1-26 16,-10-33 0,-25-69-16</inkml:trace>
  <inkml:trace contextRef="#ctx0" brushRef="#br0" timeOffset="25807.23">9610 15300 0,'0'0'0,"-34"0"0,-34 0 0,-17 0 31,-9 0-31,-9 17 16,-16 8 0,-9 26-16,25 0 15,18 0 1,25-8-16,35-9 16,25-26-1</inkml:trace>
  <inkml:trace contextRef="#ctx0" brushRef="#br0" timeOffset="26243.57">10404 14815 0,'0'0'0,"0"0"0,0 0 15,0 0 1,0 8-16,17 9 16,9 9-1,16-1-15,10 1 16,16-1-1,0 1 1,0-18-16,-8 1 16,-9-1-1,-8 1-15,-9-9 16,-8 8 0,-1 1-16,-16-1 15,0 9-15,-9 17 16,-35 43-1,-33 34-15,-34 42 16,-18 17 0,18-17-16,68-94 15</inkml:trace>
  <inkml:trace contextRef="#ctx0" brushRef="#br0" timeOffset="30410.64">2765 8547 0,'0'0'0,"0"0"0,-8 0 16,-1 25-1,-8 10-15,17 7 16,17 26-16,17 0 31,26 9-31,43 16 16,-1-16-16,0-18 15,-33 1-15,-1-1 16,0 9-16,1 0 16,-18 9-1,-17-18 1,-9 1-16,-16-34 31</inkml:trace>
  <inkml:trace contextRef="#ctx0" brushRef="#br0" timeOffset="30644.35">3653 8624 0,'0'0'0,"0"0"0,-9 0 15,-33 34 1,-86 42-16,-77 52 16,-17 16-1,26 1-15,-18 25 16,-50 68 0</inkml:trace>
  <inkml:trace contextRef="#ctx0" brushRef="#br0" timeOffset="31791.11">8629 13267 0,'0'0'0,"0"0"16,0 0-16,0 0 0,0 0 15,0 0 1,0 0 0,17 8-16,9 9 15,8 0-15,8 18 16,10-1-1,7 17 1,1 0 0,-9-9-16,0 9 15,18 0 1,-10-8-16,-7-18 16,-27-16-16,-16-1 15</inkml:trace>
  <inkml:trace contextRef="#ctx0" brushRef="#br0" timeOffset="32050.64">9585 13284 0,'0'0'0,"-17"8"0,-43 26 16,-25 26 0,-18 17-16,18-18 15,-9-8 1,-17 9-16,34-1 16,52-33-16</inkml:trace>
  <inkml:trace contextRef="#ctx0" brushRef="#br0" timeOffset="32737.1">10029 13020 0,'0'0'0,"0"0"0,8 9 16,1-1-1,-9-8-15,8 0 16,9 0 0,0 0-16,17 0 15,9 0 1,8 17-16,9-8 16,-9 8-1,9 17 1,-17 0-16,-9 17 15,-17 8-15,-17 27 16,-34 16 0,-17-9-1,-9-16-15,9-9 16,8-17-16,9-9 16,17-8-1,8 0-15,18-8 16,25 8-1,60 8-15,42-25 16,52-17 0,0-34-16,111-34 15</inkml:trace>
  <inkml:trace contextRef="#ctx0" brushRef="#br0" timeOffset="36440.41">11488 8470 0,'0'0'0,"0"0"16,0 0-16,0 0 0,0 0 15,0 0 1,0 0 0,9 0-1,33 9-15,27-1 16,7 9-1,1 0 1,-17 0-16,-9 0 16,-25 0-1,-1 9-15,1 8 16,-9 0-16,-8 0 16,-1-8-1,1-1-15,-9 1 16,-9-1-1,-17 1 1,-16-1-16,8 1 16,0-1-16,16-16 15,1-1 1,9 1-16,8-1 16,0-8-1,8 17 1,18 9-16,17-1 15,-9 1 1,0 8-16,-8 0 16,-1 17-1,-16 0-15,-1 8 16,-16 1-16,-18-9 16,-25 0-1,-26-9-15,-25 1 16,50-26-1</inkml:trace>
  <inkml:trace contextRef="#ctx0" brushRef="#br0" timeOffset="37349.4">10524 14738 0,'0'0'0,"0"0"0,0 0 16,0 0-16,0 0 15,0 0 1,0 0-16,0 0 15,0 17 1,17 17-16,25 26 16,35 42-1,17 8-15,8-8 16,1 1 0,-18-18-16,-25-9 15,0-8 1,-9 0-16,-25-34 15,-18-17 1,1-8-16</inkml:trace>
  <inkml:trace contextRef="#ctx0" brushRef="#br0" timeOffset="37618.25">11121 14866 0,'0'0'0,"-9"0"0,-16 17 15,-43 8 1,-26 9-16,0 26 16,-9 16-1,1 1-15,8-18 16,34-16-1,18 0 1,25-18-16,17-8 16,0-8-16</inkml:trace>
  <inkml:trace contextRef="#ctx0" brushRef="#br0" timeOffset="39372.41">12393 14874 0,'0'0'0,"0"0"0,0 0 16,-9 0 0,1 0-1,-18 0-15,-17 17 16,-16-8-1,-27 8-15,-8 17 16,9-9 0,0 1-16,25 8 15,9 0 1,17-9-16,-1 1 16,18-9-1,9 17-15,8 0 16,17 9-1,26 8-15,33 0 16,-7-9 0,-10 1-16,10 8 15,-10 0 1,-16 0-16,-9 0 16,-17 8-1,-34 9-15,-8-8 16,-9-9-1,-26-9-15,-26-8 16,1-17 0,0-25-16,-1-26 0,27-9 15,25-8 17,25-25-32,35-35 15,42-25-15,34-8 0,18 7 31,16-7-31,1-1 16,-26 26 0,-9 17-1,-51 51-15</inkml:trace>
  <inkml:trace contextRef="#ctx0" brushRef="#br0" timeOffset="41676.79">4455 8930 0,'0'0'0,"0"0"0,0 8 0,26 18 32,25 16-32,17 9 15,26 9 1,9 8-16,-1-9 16,9 1-1,-9-1-15,-42-33 16</inkml:trace>
  <inkml:trace contextRef="#ctx0" brushRef="#br0" timeOffset="42124.98">4865 8555 0,'0'0'0,"0"0"0,-17 9 15,-26 25-15,-51 43 16,-34 33-1,-17 43-15,17 0 16,34-25 0,17-1-1,43-59-15</inkml:trace>
  <inkml:trace contextRef="#ctx0" brushRef="#br0" timeOffset="43507.59">11480 12774 0,'0'0'0,"0"0"15,8-9 1,35 1-16,16-18 0,18 9 31,0 0-31,-9 0 16,-25 9-1,-17 8-15,-1 0 16,-8 0 0,-8 0-16,-1 0 15,1 0 1,-1 0-16,1 0 15,-9 0 1,0 0-16,0 0 16,0 0-1,0-9-15,9 1 16</inkml:trace>
  <inkml:trace contextRef="#ctx0" brushRef="#br0" timeOffset="43946.87">10199 13114 0,'0'0'0,"0"0"0,0 0 0,0 0 15,9 8 1,16 18-1,27 16 1,16 26-16,17 18 16,-8 16-1,-9 8-15,-8 26 16,-17-8 0,8-26-16,0-17 15,-8-26-15,-18-33 16,-16-18-1</inkml:trace>
  <inkml:trace contextRef="#ctx0" brushRef="#br0" timeOffset="44198.15">11036 13207 0,'0'0'0,"-9"0"0,-16 26 16,-52 16-1,-34 44-15,-34 33 16,-26 17 0,26 0-16,34-43 15,34-16-15,17-26 31,35-26-31</inkml:trace>
  <inkml:trace contextRef="#ctx0" brushRef="#br0" timeOffset="44989.08">11787 12621 0,'0'0'0,"0"0"0,-9 0 15,1 0-15,-1 0 16,1 0 0,-1 0-16,9 0 15,0 0 1,0-9-1,17 1-15,9-1 16,8 9-16,17 9 16,0 16-16,18 9 15,-10 17 1,1 0 0,-17 9-1,-9 8-15,-17 0 16,-17 0-16,-17 8 15,-9 1 1,-33-1 0,-18-8-16,8-16 15,18-18 1,17-9-16,17-16 16,0-1-16,8 1 15,9-1 1,0-8-1,9 0-15,25 9 16,17-1 0,18 9-16,7 0 15,-16 9-15,-17-1 16,0 9 0,-18 0-1,1 9-15,-18 8 16,-25 0-1,-43 25-15,-59 9 16,-52-17-16,-17-17 16,-110 26-1</inkml:trace>
  <inkml:trace contextRef="#ctx0" brushRef="#br0" timeOffset="48061.63">13383 8607 0,'0'0'0,"0"0"0,-9 8 16,1 18-1,-18 16-15,-17 26 16,9 9 0,17-1-16,0 1 15,17 8-15,0-9 16,17-8 0,17 0-1,18-8-15,7-18 16,10-16-1,16-9-15,9-17 0,0-9 16,8-8 0,-8-8-1,-17 8-15,-9-9 16,-17 1 0,-17 8-16,-25 17 15</inkml:trace>
  <inkml:trace contextRef="#ctx0" brushRef="#br0" timeOffset="48251.14">14049 8496 0,'0'0'0,"0"17"0,-18 94 16,-33 186 0,-51 128-16,-9-50 15,60-112 1,8 86-16</inkml:trace>
  <inkml:trace contextRef="#ctx0" brushRef="#br0" timeOffset="51413.96">11454 14730 0,'0'0'0,"0"0"15,0 0-15,8 8 0,35 35 16,17 33 0,8 26-16,9 17 31,17 9-16,0 8-15,-9-17 16,-17-25 0,18-9-16,-1 0 15,-8-17 1,0-26-16,-18-25 16,-33-17-1,-9-8-15</inkml:trace>
  <inkml:trace contextRef="#ctx0" brushRef="#br0" timeOffset="51646.7">12623 14730 0,'0'0'0,"-25"0"0,-44 25 16,-50 26-1,-60 43-15,-1 25 16,18 17 0,17 0-16,17-8 15,26-26-15,33-26 16,52-50 0</inkml:trace>
  <inkml:trace contextRef="#ctx0" brushRef="#br0" timeOffset="52221.82">13716 15002 0,'0'0'0,"0"0"0,-9 0 16,-8 0-16,-26 0 31,-16-9-31,-27 9 16,-16 9-16,-1 8 15,10 17 1,24 8 0,27-16-16,25-1 15,17 1 1,8 8-16,35 0 16,34 0-16,25-8 15,17-18 1,1-16-1,8-1-15,-26 1 16,-33-1-16,-18 9 16,-26 0-1,-7 0 1,-10 9-16,-8 33 0,-43 69 31,-25 50-15,-9 9-16,18-8 15,24-52-15,35-50 16,9-43 0</inkml:trace>
  <inkml:trace contextRef="#ctx0" brushRef="#br0" timeOffset="54630.05">5565 8360 0,'0'0'0,"0"0"0,0 0 15,0 0 1,0 0-16,0 0 15,0 8 1,0 18 0,17 42-16,43 25 15,51 27 1,17 33-16,-35-9 16,-50-42-1,17-8-15,17 25 16,-9-9-1,-8-16-15,-18-26 16,1-8-16,-9-18 16,-8-16-1,-1-9-15,-16-9 16</inkml:trace>
  <inkml:trace contextRef="#ctx0" brushRef="#br0" timeOffset="54856.6">6504 8666 0,'0'0'0,"-9"0"0,1 0 15,-18 0-15,-34 17 16,-51 51-16,-94 111 15,-59 59 1,85 0-16,42 77 16</inkml:trace>
  <inkml:trace contextRef="#ctx0" brushRef="#br0" timeOffset="56620.6">11701 12731 0,'0'0'0,"0"0"16,0 0-1,0 17-15,0 17 16,17 17 0,1 17-16,7 34 15,26 26 1,9-1-16,-17-33 15,-18-34 1,1-18-16,-9-8 16,-8-17-1,-1-8-15</inkml:trace>
  <inkml:trace contextRef="#ctx0" brushRef="#br0" timeOffset="56896.39">12435 12782 0,'-8'0'0,"-9"0"16,-51 26-16,-52 42 15,-25 25 1,-43 60-16,26 0 15,51-42 1,34-26-16,9 0 16,17 9-1,34-43-15</inkml:trace>
  <inkml:trace contextRef="#ctx0" brushRef="#br0" timeOffset="57539.13">13024 12952 0,'0'0'0,"-8"0"0,-1 0 16,-16 17 0,-1 0-1,0 17-15,-8 17 16,0 9-16,0 8 15,8-17 1,9-9-16,17-16 16,0 0-1,17-1 1,35-16-16,16-1 16,-8-16-1,25-9-15,34-18 16,10-7-16,-10 8 15,-51 8 1,-8 1 0,25-1-16,1 9 15,-1 0 1,-8 0-16,-17 0 16,-18 0-1,-25 9-15</inkml:trace>
  <inkml:trace contextRef="#ctx0" brushRef="#br0" timeOffset="57768.88">13707 12859 0,'0'0'0,"0"0"0,0 0 16,-8 8-1,-18 35-15,-51 93 16,-8 59 0,42-41-16,43-27 15,43 26 1,85 111-16</inkml:trace>
  <inkml:trace contextRef="#ctx0" brushRef="#br0" timeOffset="65345.13">14655 8368 0,'0'0'0,"0"0"0,0 0 16,0 0-16,0 0 15,0 0 1,-9 17-16,0 17 16,1 0-16,-1 17 15,-8 0 1,9-8-1,-1 0-15,1-1 0,-1 1 32,9-9-32,0-9 15,0 1 1,17-9-16,17 8 16,1-8-1,24 0-15,1 9 16,-9-9-1,-8 0-15,-18 0 16,1 17 0,0 17-1,-18 8-15,-25 9 16,-8-8-16,-1-18 16,0 1-1,9-26-15,0-9 16,9-16-16,-1 8 31</inkml:trace>
  <inkml:trace contextRef="#ctx0" brushRef="#br0" timeOffset="65555.81">14484 8555 0,'0'0'0,"17"9"0,51 25 16,77-8-16,86-18 16,50-42-1,1-51-15,51-60 16</inkml:trace>
  <inkml:trace contextRef="#ctx0" brushRef="#br0" timeOffset="70191.16">12871 14747 0,'0'0'0,"0"0"0,0 0 32,0 0-32,25 17 15,27 17 1,16 25-16,9 9 15,16 17 1,1 17-16,-8 26 16,8 17-1,-18-18-15,-16-16 16,17-9 0,0-9-16,-9-25 15,0-8 1,9-18-16,-34-25 0</inkml:trace>
  <inkml:trace contextRef="#ctx0" brushRef="#br0" timeOffset="70456.75">14066 14874 0,'0'0'0,"-26"9"0,-51 50 16,-59 43-1,-18 9-15,0 17 16,-8-1-16,26-8 15,67-68-15</inkml:trace>
  <inkml:trace contextRef="#ctx0" brushRef="#br0" timeOffset="78988.36">15209 15682 0,'0'0'0,"0"0"0,0 0 15,0 0 1,0 0-16</inkml:trace>
  <inkml:trace contextRef="#ctx0" brushRef="#br0" timeOffset="79605.03">15278 15146 0,'0'0'0,"0"-8"0,0-1 16,0 9-16,0 0 16,0-8-1,0 8-15,-9-9 16,0 1-1,-8-1 1,-8-8-16,-1 0 16,-16 17-16,-1 0 15,-25 26 1,-18 25-16,1 17 16,8 17-1,-8 17 1,16-8-16,18 8 15,17 0 1,8 8-16,26-8 16,18-8-1,16-9 1,17-9-16,0-7 16,34-1-1,26-26-15,9-33 16,16-26-16,10-26 15,-1-25 1,-17-34-16,-17-9 16,-35-8-1,-16 17-15,-26 9 16,-17-1 0,-25 1-16,-26-1 15,-17 9-15,-26 9 16,-9 16-1,-33 9 1,-18 17 0,78 25-16</inkml:trace>
  <inkml:trace contextRef="#ctx0" brushRef="#br0" timeOffset="84877.39">7536 8828 0,'0'0'0,"17"17"0,9 17 15,8 0-15,9 17 16,8 8-1,-8 1 1,-1-9-16,1 0 16,-9-9-1,0 1-15,-17-26 16</inkml:trace>
  <inkml:trace contextRef="#ctx0" brushRef="#br0" timeOffset="85171.48">7886 8768 0,'0'0'0,"-17"0"16,-17 17-16,-9 17 16,-25 26-1,-17 33 1,-1 9 0,-16 17-16,-9 26 15,-60 110-15</inkml:trace>
  <inkml:trace contextRef="#ctx0" brushRef="#br0" timeOffset="86038.4">12888 12893 0,'0'0'0,"0"0"0,8 8 16,18 35 0,17 8-16,8 17 15,9 8 1,33 26-16,10-8 15,8-9 1,-17-17-16,-18-17 16,1-8-1,0-9-15,-17-17 16,-35-17 0</inkml:trace>
  <inkml:trace contextRef="#ctx0" brushRef="#br0" timeOffset="86280.46">13946 12935 0,'0'0'0,"-17"0"0,-17 0 15,-34 9 1,-43 8-16,-9 17 15,-42 25 1,-26 35-16,9 33 16,42-7-1,35-27-15,17-8 16,59-42 0</inkml:trace>
  <inkml:trace contextRef="#ctx0" brushRef="#br0" timeOffset="87500.34">14663 12595 0,'0'0'0,"0"0"0,-8 0 16,-1 9-1,0 8-15,-16 8 16,-18 18-16,-8 8 16,0 8-1,8 1 1,9-9-16,0-9 16,17 1-1,0-9-15,17-9 16,17 1-16,8-1 15,27 1 1,16-9-16,0 0 16,-25 0-1,-1 0 1,1 17-16,0 8 16,-9 27-1,-17 24-15,-26 35 16,1 16-1,-18-16-15,1-52 16,-9-25 0,8-25-16,9-18 15,8 1 1</inkml:trace>
  <inkml:trace contextRef="#ctx0" brushRef="#br0" timeOffset="87746.95">14689 12621 0,'0'0'0,"0"0"0,8 8 15,52 26-15,85 9 0,60-1 32,85-25-32,86-17 0</inkml:trace>
  <inkml:trace contextRef="#ctx0" brushRef="#br0" timeOffset="100431.59">2211 6565 0,'0'0'0,"0"0"0,0 0 32,-9 0-32,0 0 0,-8 0 15,-8 0 1,8 0 0,0 9-16,0-1 15,0 1 1,-9-1-16,0 1 15,-16-1 1,-10 9-16,1 9 16,17 0-1,-9 8-15,-16 25 16,-1 1-16,-17-1 16,9 18-1,-9 8 1,-8 0-1,33-9-15,10-8 16,8 0 0,25 0-16,-17-8 15,18-1-15,8-16 16,0-18 0,8 10-16,18-1 15,25-9 1,1 1-1,24-18-15,10 1 16,-27-1 0,-16-16-16,8-1 15,18-16-15,-10-1 16,-25 9 0,-8 0-1,-17 0-15,-1-9 16,-25-8-16,0 0 15,-9 0 1,-59 9 0,-26 8-16,-17 17 15,9 8 1,25 18-16,0-9 16,51 0-16</inkml:trace>
  <inkml:trace contextRef="#ctx0" brushRef="#br0" timeOffset="102131.07">14509 15214 0,'0'0'0,"9"0"0,25 26 16,51 34-16,35 16 16,16 26-1,1 17 1,8 26-16,9-9 15,-26-17-15,-17-34 32,-9-17-32,-8-26 0,-9-16 15,-42-26 1</inkml:trace>
  <inkml:trace contextRef="#ctx0" brushRef="#br0" timeOffset="102429.41">15943 14713 0,'0'0'0,"-42"17"0,-61 51 15,-50 34 1,-61 42-16,-33 26 16,-1 18-1,1 33-15,50-9 16,35-42 0,51-34-16,77-76 15</inkml:trace>
  <inkml:trace contextRef="#ctx0" brushRef="#br0" timeOffset="102882.28">16541 14815 0,'0'0'0,"0"0"16,0 0-16,0 17 15,-17 93 1,-9 111 0,0 26-16,1 0 15,33-9-15,18 85 16</inkml:trace>
  <inkml:trace contextRef="#ctx0" brushRef="#br0" timeOffset="115449.58">8748 9874 0,'0'0'0,"0"0"0,0 17 16,0 0-16,0 8 31,0 1-31,9 8 16,-9 8 0,-9 18-16,1-9 15,-1 8 1,1-16-16,-1-9 15,1 0 1,8-9-16,0 1 16,0-9-16,0-9 0,0 1 31,0-1-31,0 1 16,0-1-1,8 1-15,1-1 16,16 9-1,18 1 1,17-10-16,-1 9 16,10-8-1,-1-1-15,9 1 16,-9 8 0,0 0-16,1-9 15,-10 1 1,-16-1-16,0 1 15,-9-1 1,0 1-16,0-1 16,0 1-1,9-1-15,8 1 16,18-9 0,7 0-16,10-9 15,8 1-15,-1-1 16,18 1-1,-8-1-15,8 1 16,8-1 0,1 1-16,16-9 15,9 17 1,9 0 0,0 8-16,-1 1 15,1-9-15,17 8 16,-1 9-1,-8 0-15,26-8 16,-9 8 0,1-9-1,25 1-15,-1-1 16,-24 1 0,33-9-16,17 8 15,9-16-15,-8-1 16,-18 1-1,1 8-15,-18 8 16,0 9 0,-17 0-1,-33 9-15,-10-18 16,-16 9 0,-9-8-16,-43-9 15,-43 0 1</inkml:trace>
  <inkml:trace contextRef="#ctx0" brushRef="#br0" timeOffset="116584.13">2518 10273 0,'0'0'0,"0"0"0,0 9 0,0 16 32,-9 9-17,1 9-15,-1 8 16,1 9-1,-1-1-15,9-16 16,0-1 0,0-16-16,0-1 15,0-16 1,0-1-16,0 1 16,0-1-1,0-8-15,-8 9 16,-9-1-1,-18 1-15,-24-1 16,-27 1 0,-8 8-16,-17 0 15,-42 0 1,-18 8-16,18 1 16,-44-9-1,18 0-15,17-17 16,-137-26-16</inkml:trace>
  <inkml:trace contextRef="#ctx0" brushRef="#br0" timeOffset="120605.33">22310 16873 0,'0'0'0,"0"0"0,0 0 16,0 0 0,0 0-16,0 0 15,0 0 1,0 0-16,-8 8 16,-1 18-1,-8 42-15,-8 51 16,-10 9-1,1-9-15,0-17 16,17-26 0,9-33-16</inkml:trace>
  <inkml:trace contextRef="#ctx0" brushRef="#br0" timeOffset="121788.83">19665 15095 0,'0'0'0,"17"0"0,0-8 0,17-1 16,0 9 0,17 0-1,26 0-15,17 17 16,0 9 0,0 8-16,-18 8 15,-24-8 1,-18 1-16,-17 16 15,-17 17-15,-51 25 16,-52 18 0,-8-18-1,-8-25-15,8-25 16,17-9-16,34-17 16,26-9-1,17 1 1,8-1-16,9-8 15,18 0 1,50 9-16,51-9 0,9 0 16,17 8-1,-17 1 1,-34 8 0,-8 0-16,-44 0 15</inkml:trace>
  <inkml:trace contextRef="#ctx0" brushRef="#br0" timeOffset="122747.43">18854 12604 0,'0'0'0,"0"0"16,0 0-16,0 0 0,0 0 15,17 0 1,8 0-16,18 17 31,17 0-31,0 8 16,-18-8-16,-8 9 15,-8-9 1,-18 8 0,1 9-16,-26 17 15,-26 9 1,1-18-16,7-16 16,18-18-16,0 1 15,9-1 1,8 1-16,0-9 15,0 0 1,17 8 0,8 9-16,18 17 15,8 17-15,-8 0 16,-17 17 0,-1 17-1,-25 1-15,-17 7 16,-26-8-1,-8-25-15,-8-1 16,7-25-16,27-17 16</inkml:trace>
  <inkml:trace contextRef="#ctx0" brushRef="#br0" timeOffset="123375.8">20125 10222 0,'0'0'16,"0"0"-16,0 0 0,0 0 15,-8 0 1,-1 17-16,1 9 0,-9 8 31,0 0-31,0 17 16,0 0-1,-1-8-15,1-1 16,0 1 0,9 8-16,8 0 15,0 0 1,8-9-16,9 1 16,9-1-1,17 1-15,16-18 16,27 1-1,8-18-15,0-16 16,8-9 0,-17-9-16,-25-8 15,-34 17 1</inkml:trace>
  <inkml:trace contextRef="#ctx0" brushRef="#br0" timeOffset="123636.04">20569 10741 0,'-8'17'0,"-9"51"16,-35 60-16,-16 8 15,-9 17 1,9 0-16,25-34 16,18-17-1,8-17 1,17-42-16</inkml:trace>
  <inkml:trace contextRef="#ctx0" brushRef="#br0" timeOffset="124652.27">22413 8343 0,'0'0'0,"0"0"16,0 8-16,0 18 16,-9 16-16,-8 35 15,-26 25 1,9-17-16,0-8 16,0-18-16,17-8 31,0-8-31,17-18 15,8 1 1,18-1-16,17-8 16,25-8-16,0-1 0,1 1 31,-10-9-15,-16 8-16,0 9 15,-1 9 1,-16 33-16,-18 1 15,-25 16 1,-8 1-16,-9-26 16,8-17-1,0-9-15,1-16 16,-9-43 0,17 0-16</inkml:trace>
  <inkml:trace contextRef="#ctx0" brushRef="#br0" timeOffset="124881.96">22353 7969 0,'0'0'0,"9"17"0,50 42 15,35 35 1,17-26-16,17-9 16,26 1-1,8-9-15,137 0 16</inkml:trace>
  <inkml:trace contextRef="#ctx0" brushRef="#br0" timeOffset="126050.81">25152 8751 0,'0'0'0,"0"0"0,0 9 16,18 8 0,-1 0-1,0 0-15,0-9 16,-9 1-16,1-1 15,-1 1 1,1-9-16,-9 0 0,0 0 31,0 0-31,-17 0 16,-34 0 0,-43 8-16,-9 9 15,9 9 1,26-9-1,25 0-15,18 0 16,16-9-16,26 9 16,43-8-1,60-1 1,42-16-16,-17-18 16,-9-8-1,-25-8-15,-34 8 16,-43 17-16,-8 8 15,-17 1 1,-1 8-16,-25 0 16,-17 17-1,-43 8-15,-25 18 16,25-1 0,34-8-16,9-8 15,17-1 1,17 1-16,8-18 15,10 1 1,16-1-16,0 1 16,8-18-1,-16 9-15,-17 0 16,-1 0 0,-8 0-16,-25 9 15,-27 25 1,-7 17-1,-10 0-15,10-17 16,24-9-16,18-16 16,17-1-1,9-16-15,42-9 16,26-26 0,17-8-16,-26 17 15,-25 9 1,-26 8-16,-17 0 15,-77 8 1,-128 9-16,-51 26 16,43 8-1,59 0 1,94-17-16,35-9 16,33-16-1,78-35-15,195-76 16</inkml:trace>
  <inkml:trace contextRef="#ctx0" brushRef="#br0" timeOffset="126768.37">25639 7169 0,'0'0'15,"0"0"-15,9 0 0,-1 0 16,-8 0 0,-8 0-16,-10 17 15,-24 9 1,-27 8-16,-16 17 16,0 8-1,-35 35-15,-16 25 16,33 0-1,18-8-15,8 16 16,43 9 0,25-17-16,35-34 15,51-8 1,42-18-16,26-33 16,9-43-1,0-17-15,-26-26 16,-43-8-1,-42 0-15,-26 9 16,-26-1 0,-67 9-16,-87 26 15,-59 42 1,-8 25-16,-77 52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1DDF0B-ACD3-4CCE-9D96-FD5CAF21C13D}"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DA50AE-6676-4050-BB67-AE6E697DAE8C}" type="slidenum">
              <a:rPr lang="en-US" smtClean="0"/>
              <a:t>‹#›</a:t>
            </a:fld>
            <a:endParaRPr lang="en-US"/>
          </a:p>
        </p:txBody>
      </p:sp>
    </p:spTree>
    <p:extLst>
      <p:ext uri="{BB962C8B-B14F-4D97-AF65-F5344CB8AC3E}">
        <p14:creationId xmlns:p14="http://schemas.microsoft.com/office/powerpoint/2010/main" val="212115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Amortized: “running average”</a:t>
            </a:r>
          </a:p>
        </p:txBody>
      </p:sp>
      <p:sp>
        <p:nvSpPr>
          <p:cNvPr id="4" name="Slide Number Placeholder 3"/>
          <p:cNvSpPr>
            <a:spLocks noGrp="1"/>
          </p:cNvSpPr>
          <p:nvPr>
            <p:ph type="sldNum" sz="quarter" idx="5"/>
          </p:nvPr>
        </p:nvSpPr>
        <p:spPr/>
        <p:txBody>
          <a:bodyPr/>
          <a:lstStyle/>
          <a:p>
            <a:fld id="{98DA50AE-6676-4050-BB67-AE6E697DAE8C}" type="slidenum">
              <a:rPr lang="en-US" smtClean="0"/>
              <a:t>30</a:t>
            </a:fld>
            <a:endParaRPr lang="en-US"/>
          </a:p>
        </p:txBody>
      </p:sp>
    </p:spTree>
    <p:extLst>
      <p:ext uri="{BB962C8B-B14F-4D97-AF65-F5344CB8AC3E}">
        <p14:creationId xmlns:p14="http://schemas.microsoft.com/office/powerpoint/2010/main" val="1794700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1/7/2026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1/7/2026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 Algorithm Analysis pt.1</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38DD4-06E1-4997-10CD-58E9D69CC843}"/>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2B4BBE2C-C693-B1FE-74D0-68C0E05A99A1}"/>
              </a:ext>
            </a:extLst>
          </p:cNvPr>
          <p:cNvSpPr>
            <a:spLocks noGrp="1"/>
          </p:cNvSpPr>
          <p:nvPr>
            <p:ph idx="1"/>
          </p:nvPr>
        </p:nvSpPr>
        <p:spPr/>
        <p:txBody>
          <a:bodyPr/>
          <a:lstStyle/>
          <a:p>
            <a:r>
              <a:rPr lang="en-US" dirty="0"/>
              <a:t>Exercise 0 released</a:t>
            </a:r>
          </a:p>
          <a:p>
            <a:pPr lvl="1"/>
            <a:r>
              <a:rPr lang="en-US" dirty="0"/>
              <a:t>Due Wednesday 1/14</a:t>
            </a:r>
          </a:p>
          <a:p>
            <a:pPr lvl="1"/>
            <a:r>
              <a:rPr lang="en-US" dirty="0"/>
              <a:t>There are 2 separate </a:t>
            </a:r>
            <a:r>
              <a:rPr lang="en-US" dirty="0" err="1"/>
              <a:t>gradescope</a:t>
            </a:r>
            <a:r>
              <a:rPr lang="en-US" dirty="0"/>
              <a:t> submissions</a:t>
            </a:r>
          </a:p>
          <a:p>
            <a:r>
              <a:rPr lang="en-US" dirty="0"/>
              <a:t>Concept check 0 released</a:t>
            </a:r>
          </a:p>
          <a:p>
            <a:pPr lvl="1"/>
            <a:r>
              <a:rPr lang="en-US" dirty="0"/>
              <a:t>Helps us to get more familiar with each other!</a:t>
            </a:r>
          </a:p>
          <a:p>
            <a:pPr lvl="1"/>
            <a:r>
              <a:rPr lang="en-US" dirty="0" err="1"/>
              <a:t>Gradescope</a:t>
            </a:r>
            <a:r>
              <a:rPr lang="en-US" dirty="0"/>
              <a:t> submission due 1/15</a:t>
            </a:r>
          </a:p>
          <a:p>
            <a:pPr lvl="1"/>
            <a:r>
              <a:rPr lang="en-US" dirty="0"/>
              <a:t>Meet the staff activity due by 1/30</a:t>
            </a:r>
          </a:p>
          <a:p>
            <a:pPr lvl="2"/>
            <a:r>
              <a:rPr lang="en-US" dirty="0"/>
              <a:t>Come to any office hours, chat with us, ask us to mark you off for this</a:t>
            </a:r>
          </a:p>
        </p:txBody>
      </p:sp>
    </p:spTree>
    <p:extLst>
      <p:ext uri="{BB962C8B-B14F-4D97-AF65-F5344CB8AC3E}">
        <p14:creationId xmlns:p14="http://schemas.microsoft.com/office/powerpoint/2010/main" val="3210885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494074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Tree>
    <p:extLst>
      <p:ext uri="{BB962C8B-B14F-4D97-AF65-F5344CB8AC3E}">
        <p14:creationId xmlns:p14="http://schemas.microsoft.com/office/powerpoint/2010/main" val="2562382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mc:AlternateContent xmlns:mc="http://schemas.openxmlformats.org/markup-compatibility/2006">
        <mc:Choice xmlns:p14="http://schemas.microsoft.com/office/powerpoint/2010/main" Requires="p14">
          <p:contentPart p14:bwMode="auto" r:id="rId2">
            <p14:nvContentPartPr>
              <p14:cNvPr id="29" name="Ink 28">
                <a:extLst>
                  <a:ext uri="{FF2B5EF4-FFF2-40B4-BE49-F238E27FC236}">
                    <a16:creationId xmlns:a16="http://schemas.microsoft.com/office/drawing/2014/main" id="{6AF09ADB-426B-2647-2A2D-5ACFF2811C12}"/>
                  </a:ext>
                </a:extLst>
              </p14:cNvPr>
              <p14:cNvContentPartPr/>
              <p14:nvPr/>
            </p14:nvContentPartPr>
            <p14:xfrm>
              <a:off x="270360" y="2363400"/>
              <a:ext cx="8993880" cy="3959280"/>
            </p14:xfrm>
          </p:contentPart>
        </mc:Choice>
        <mc:Fallback>
          <p:pic>
            <p:nvPicPr>
              <p:cNvPr id="29" name="Ink 28">
                <a:extLst>
                  <a:ext uri="{FF2B5EF4-FFF2-40B4-BE49-F238E27FC236}">
                    <a16:creationId xmlns:a16="http://schemas.microsoft.com/office/drawing/2014/main" id="{6AF09ADB-426B-2647-2A2D-5ACFF2811C12}"/>
                  </a:ext>
                </a:extLst>
              </p:cNvPr>
              <p:cNvPicPr/>
              <p:nvPr/>
            </p:nvPicPr>
            <p:blipFill>
              <a:blip r:embed="rId3"/>
              <a:stretch>
                <a:fillRect/>
              </a:stretch>
            </p:blipFill>
            <p:spPr>
              <a:xfrm>
                <a:off x="261000" y="2354040"/>
                <a:ext cx="9012600" cy="3978000"/>
              </a:xfrm>
              <a:prstGeom prst="rect">
                <a:avLst/>
              </a:prstGeom>
            </p:spPr>
          </p:pic>
        </mc:Fallback>
      </mc:AlternateContent>
    </p:spTree>
    <p:extLst>
      <p:ext uri="{BB962C8B-B14F-4D97-AF65-F5344CB8AC3E}">
        <p14:creationId xmlns:p14="http://schemas.microsoft.com/office/powerpoint/2010/main" val="2254727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3717972" y="3671711"/>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879046" y="4619018"/>
            <a:ext cx="4828372"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3413466" y="5976795"/>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8805672" y="4517136"/>
            <a:ext cx="2971326" cy="369332"/>
          </a:xfrm>
          <a:prstGeom prst="rect">
            <a:avLst/>
          </a:prstGeom>
          <a:noFill/>
          <a:ln>
            <a:solidFill>
              <a:srgbClr val="FF0000"/>
            </a:solidFill>
          </a:ln>
        </p:spPr>
        <p:txBody>
          <a:bodyPr wrap="none" rtlCol="0">
            <a:spAutoFit/>
          </a:bodyPr>
          <a:lstStyle/>
          <a:p>
            <a:r>
              <a:rPr lang="en-US" dirty="0">
                <a:solidFill>
                  <a:srgbClr val="FF0000"/>
                </a:solidFill>
              </a:rPr>
              <a:t>What if we run out of space?!</a:t>
            </a:r>
          </a:p>
        </p:txBody>
      </p:sp>
    </p:spTree>
    <p:extLst>
      <p:ext uri="{BB962C8B-B14F-4D97-AF65-F5344CB8AC3E}">
        <p14:creationId xmlns:p14="http://schemas.microsoft.com/office/powerpoint/2010/main" val="116543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2" name="TextBox 31">
            <a:extLst>
              <a:ext uri="{FF2B5EF4-FFF2-40B4-BE49-F238E27FC236}">
                <a16:creationId xmlns:a16="http://schemas.microsoft.com/office/drawing/2014/main" id="{44B77E27-802E-1F52-9A57-028FD4DE4449}"/>
              </a:ext>
            </a:extLst>
          </p:cNvPr>
          <p:cNvSpPr txBox="1"/>
          <p:nvPr/>
        </p:nvSpPr>
        <p:spPr>
          <a:xfrm>
            <a:off x="3717972" y="3671711"/>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90906" y="4772906"/>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3413466" y="5976795"/>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082568" y="2182501"/>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p:spTree>
    <p:extLst>
      <p:ext uri="{BB962C8B-B14F-4D97-AF65-F5344CB8AC3E}">
        <p14:creationId xmlns:p14="http://schemas.microsoft.com/office/powerpoint/2010/main" val="253820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List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the benefits and drawbacks of each</a:t>
            </a:r>
          </a:p>
          <a:p>
            <a:pPr lvl="1"/>
            <a:r>
              <a:rPr lang="en-US" dirty="0"/>
              <a:t>Circular array uses more space if the data you’re storing is big</a:t>
            </a:r>
          </a:p>
          <a:p>
            <a:pPr lvl="1"/>
            <a:r>
              <a:rPr lang="en-US" dirty="0"/>
              <a:t>Linked nodes doesn’t need resizing</a:t>
            </a:r>
          </a:p>
          <a:p>
            <a:pPr lvl="1"/>
            <a:r>
              <a:rPr lang="en-US" dirty="0"/>
              <a:t>Linked nodes have worse special locality (bad thing)</a:t>
            </a:r>
          </a:p>
          <a:p>
            <a:pPr lvl="2"/>
            <a:r>
              <a:rPr lang="en-US" dirty="0"/>
              <a:t>Data is not used contiguous</a:t>
            </a:r>
          </a:p>
          <a:p>
            <a:pPr lvl="1"/>
            <a:r>
              <a:rPr lang="en-US" dirty="0"/>
              <a:t>Circular array is less consistent in how long an enqueue operation takes</a:t>
            </a:r>
          </a:p>
          <a:p>
            <a:pPr lvl="1"/>
            <a:r>
              <a:rPr lang="en-US" dirty="0"/>
              <a:t>Circular array makes it easy to get access elements in the middle</a:t>
            </a:r>
          </a:p>
          <a:p>
            <a:pPr lvl="1"/>
            <a:r>
              <a:rPr lang="en-US" dirty="0"/>
              <a:t>Easier to convert to ____ other data structure</a:t>
            </a:r>
          </a:p>
          <a:p>
            <a:pPr lvl="1"/>
            <a:r>
              <a:rPr lang="en-US" dirty="0"/>
              <a:t>Storage of null?</a:t>
            </a:r>
          </a:p>
        </p:txBody>
      </p:sp>
    </p:spTree>
    <p:extLst>
      <p:ext uri="{BB962C8B-B14F-4D97-AF65-F5344CB8AC3E}">
        <p14:creationId xmlns:p14="http://schemas.microsoft.com/office/powerpoint/2010/main" val="1374528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p:spTree>
    <p:extLst>
      <p:ext uri="{BB962C8B-B14F-4D97-AF65-F5344CB8AC3E}">
        <p14:creationId xmlns:p14="http://schemas.microsoft.com/office/powerpoint/2010/main" val="39125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71B3-2D7D-74A2-E5C3-63EBD2C239C8}"/>
              </a:ext>
            </a:extLst>
          </p:cNvPr>
          <p:cNvSpPr>
            <a:spLocks noGrp="1"/>
          </p:cNvSpPr>
          <p:nvPr>
            <p:ph type="title"/>
          </p:nvPr>
        </p:nvSpPr>
        <p:spPr/>
        <p:txBody>
          <a:bodyPr/>
          <a:lstStyle/>
          <a:p>
            <a:r>
              <a:rPr lang="en-US" dirty="0"/>
              <a:t>Motivating Example</a:t>
            </a:r>
          </a:p>
        </p:txBody>
      </p:sp>
      <p:sp>
        <p:nvSpPr>
          <p:cNvPr id="3" name="Text Placeholder 2">
            <a:extLst>
              <a:ext uri="{FF2B5EF4-FFF2-40B4-BE49-F238E27FC236}">
                <a16:creationId xmlns:a16="http://schemas.microsoft.com/office/drawing/2014/main" id="{A3608ACD-B439-456B-C165-6FFFD6B1D69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60231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0275-4D4A-E63A-59AE-016BA0E53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8F36F-2AEB-C26B-B28B-00C3A944304E}"/>
              </a:ext>
            </a:extLst>
          </p:cNvPr>
          <p:cNvSpPr>
            <a:spLocks noGrp="1"/>
          </p:cNvSpPr>
          <p:nvPr>
            <p:ph type="title"/>
          </p:nvPr>
        </p:nvSpPr>
        <p:spPr/>
        <p:txBody>
          <a:bodyPr/>
          <a:lstStyle/>
          <a:p>
            <a:r>
              <a:rPr lang="en-US" dirty="0"/>
              <a:t>Let’s design an algorithm</a:t>
            </a:r>
          </a:p>
        </p:txBody>
      </p:sp>
      <p:sp>
        <p:nvSpPr>
          <p:cNvPr id="6" name="TextBox 5">
            <a:extLst>
              <a:ext uri="{FF2B5EF4-FFF2-40B4-BE49-F238E27FC236}">
                <a16:creationId xmlns:a16="http://schemas.microsoft.com/office/drawing/2014/main" id="{E4C6E168-C88F-DF7F-EC22-214AB5B6EF4F}"/>
              </a:ext>
            </a:extLst>
          </p:cNvPr>
          <p:cNvSpPr txBox="1"/>
          <p:nvPr/>
        </p:nvSpPr>
        <p:spPr>
          <a:xfrm>
            <a:off x="579120" y="3652753"/>
            <a:ext cx="7262975" cy="2554545"/>
          </a:xfrm>
          <a:prstGeom prst="rect">
            <a:avLst/>
          </a:prstGeom>
          <a:noFill/>
          <a:ln>
            <a:noFill/>
          </a:ln>
        </p:spPr>
        <p:txBody>
          <a:bodyPr wrap="square" rtlCol="0">
            <a:spAutoFit/>
          </a:bodyPr>
          <a:lstStyle/>
          <a:p>
            <a:pPr marL="457200" indent="-457200">
              <a:buFont typeface="Arial" panose="020B0604020202020204" pitchFamily="34" charset="0"/>
              <a:buChar char="•"/>
            </a:pPr>
            <a:r>
              <a:rPr lang="en-US" sz="3200" dirty="0"/>
              <a:t>I have a pile of string</a:t>
            </a:r>
          </a:p>
          <a:p>
            <a:pPr marL="457200" indent="-457200">
              <a:buFont typeface="Arial" panose="020B0604020202020204" pitchFamily="34" charset="0"/>
              <a:buChar char="•"/>
            </a:pPr>
            <a:r>
              <a:rPr lang="en-US" sz="3200" dirty="0"/>
              <a:t>I have one end of the string in-hand</a:t>
            </a:r>
          </a:p>
          <a:p>
            <a:pPr marL="457200" indent="-457200">
              <a:buFont typeface="Arial" panose="020B0604020202020204" pitchFamily="34" charset="0"/>
              <a:buChar char="•"/>
            </a:pPr>
            <a:r>
              <a:rPr lang="en-US" sz="3200" dirty="0"/>
              <a:t>I need to find the other end in the pile</a:t>
            </a:r>
          </a:p>
          <a:p>
            <a:pPr marL="457200" indent="-457200">
              <a:buFont typeface="Arial" panose="020B0604020202020204" pitchFamily="34" charset="0"/>
              <a:buChar char="•"/>
            </a:pPr>
            <a:r>
              <a:rPr lang="en-US" sz="3200" dirty="0"/>
              <a:t>How can I do this efficiently?</a:t>
            </a:r>
          </a:p>
          <a:p>
            <a:pPr algn="ctr"/>
            <a:endParaRPr lang="en-US" sz="3200" b="1" u="sng" dirty="0"/>
          </a:p>
        </p:txBody>
      </p:sp>
      <p:grpSp>
        <p:nvGrpSpPr>
          <p:cNvPr id="7" name="Group 6">
            <a:extLst>
              <a:ext uri="{FF2B5EF4-FFF2-40B4-BE49-F238E27FC236}">
                <a16:creationId xmlns:a16="http://schemas.microsoft.com/office/drawing/2014/main" id="{494A9C52-F5D2-C88A-3A31-49852E7FE19D}"/>
              </a:ext>
            </a:extLst>
          </p:cNvPr>
          <p:cNvGrpSpPr/>
          <p:nvPr/>
        </p:nvGrpSpPr>
        <p:grpSpPr>
          <a:xfrm>
            <a:off x="5836920" y="1395903"/>
            <a:ext cx="5875948" cy="2886716"/>
            <a:chOff x="1828800" y="1295400"/>
            <a:chExt cx="9753600" cy="4791716"/>
          </a:xfrm>
        </p:grpSpPr>
        <p:pic>
          <p:nvPicPr>
            <p:cNvPr id="8" name="Picture 2">
              <a:extLst>
                <a:ext uri="{FF2B5EF4-FFF2-40B4-BE49-F238E27FC236}">
                  <a16:creationId xmlns:a16="http://schemas.microsoft.com/office/drawing/2014/main" id="{A8F912FB-D296-9A48-1B4F-126A8058C6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14015EAA-7995-1E43-A032-ADC9E404DB88}"/>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3810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17925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4B8A6-6262-3483-491D-62F323CE0D76}"/>
              </a:ext>
            </a:extLst>
          </p:cNvPr>
          <p:cNvSpPr>
            <a:spLocks noGrp="1"/>
          </p:cNvSpPr>
          <p:nvPr>
            <p:ph type="title"/>
          </p:nvPr>
        </p:nvSpPr>
        <p:spPr/>
        <p:txBody>
          <a:bodyPr/>
          <a:lstStyle/>
          <a:p>
            <a:r>
              <a:rPr lang="en-US" dirty="0"/>
              <a:t>Algorithm Ideas</a:t>
            </a:r>
          </a:p>
        </p:txBody>
      </p:sp>
      <p:sp>
        <p:nvSpPr>
          <p:cNvPr id="3" name="Content Placeholder 2">
            <a:extLst>
              <a:ext uri="{FF2B5EF4-FFF2-40B4-BE49-F238E27FC236}">
                <a16:creationId xmlns:a16="http://schemas.microsoft.com/office/drawing/2014/main" id="{0428C3EB-0A85-2DCD-6E54-8EAC01977E84}"/>
              </a:ext>
            </a:extLst>
          </p:cNvPr>
          <p:cNvSpPr>
            <a:spLocks noGrp="1"/>
          </p:cNvSpPr>
          <p:nvPr>
            <p:ph idx="1"/>
          </p:nvPr>
        </p:nvSpPr>
        <p:spPr/>
        <p:txBody>
          <a:bodyPr/>
          <a:lstStyle/>
          <a:p>
            <a:r>
              <a:rPr lang="en-US" dirty="0" err="1"/>
              <a:t>Whatcha</a:t>
            </a:r>
            <a:r>
              <a:rPr lang="en-US" dirty="0"/>
              <a:t> got?</a:t>
            </a:r>
          </a:p>
          <a:p>
            <a:endParaRPr lang="en-US" dirty="0"/>
          </a:p>
        </p:txBody>
      </p:sp>
      <p:grpSp>
        <p:nvGrpSpPr>
          <p:cNvPr id="4" name="Group 3">
            <a:extLst>
              <a:ext uri="{FF2B5EF4-FFF2-40B4-BE49-F238E27FC236}">
                <a16:creationId xmlns:a16="http://schemas.microsoft.com/office/drawing/2014/main" id="{2F972420-6B26-4271-AD3A-A848D46D6A0E}"/>
              </a:ext>
            </a:extLst>
          </p:cNvPr>
          <p:cNvGrpSpPr/>
          <p:nvPr/>
        </p:nvGrpSpPr>
        <p:grpSpPr>
          <a:xfrm>
            <a:off x="8686800" y="274638"/>
            <a:ext cx="3144965" cy="1545048"/>
            <a:chOff x="1828800" y="1295400"/>
            <a:chExt cx="9753600" cy="4791716"/>
          </a:xfrm>
        </p:grpSpPr>
        <p:pic>
          <p:nvPicPr>
            <p:cNvPr id="5" name="Picture 2">
              <a:extLst>
                <a:ext uri="{FF2B5EF4-FFF2-40B4-BE49-F238E27FC236}">
                  <a16:creationId xmlns:a16="http://schemas.microsoft.com/office/drawing/2014/main" id="{303B5E41-C3D0-060F-5B40-4F1C16DE096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6" name="Freeform: Shape 5">
              <a:extLst>
                <a:ext uri="{FF2B5EF4-FFF2-40B4-BE49-F238E27FC236}">
                  <a16:creationId xmlns:a16="http://schemas.microsoft.com/office/drawing/2014/main" id="{B4EA9D4B-C1B7-824E-7DA6-5B9C45191BB1}"/>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28575">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22237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F38E-AECA-9968-3B27-944730BF0EAA}"/>
              </a:ext>
            </a:extLst>
          </p:cNvPr>
          <p:cNvSpPr>
            <a:spLocks noGrp="1"/>
          </p:cNvSpPr>
          <p:nvPr>
            <p:ph type="title"/>
          </p:nvPr>
        </p:nvSpPr>
        <p:spPr/>
        <p:txBody>
          <a:bodyPr/>
          <a:lstStyle/>
          <a:p>
            <a:r>
              <a:rPr lang="en-US" dirty="0"/>
              <a:t>My Approach</a:t>
            </a:r>
          </a:p>
        </p:txBody>
      </p:sp>
      <p:pic>
        <p:nvPicPr>
          <p:cNvPr id="14" name="Picture 13">
            <a:extLst>
              <a:ext uri="{FF2B5EF4-FFF2-40B4-BE49-F238E27FC236}">
                <a16:creationId xmlns:a16="http://schemas.microsoft.com/office/drawing/2014/main" id="{EEAE774A-BB99-6245-DF87-E1B9D0363D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1411150"/>
            <a:ext cx="3053265" cy="2289949"/>
          </a:xfrm>
          <a:prstGeom prst="rect">
            <a:avLst/>
          </a:prstGeom>
          <a:ln>
            <a:noFill/>
          </a:ln>
          <a:effectLst>
            <a:softEdge rad="112500"/>
          </a:effectLst>
        </p:spPr>
      </p:pic>
      <p:pic>
        <p:nvPicPr>
          <p:cNvPr id="12" name="Picture 11" descr="A picture containing whistle, key&#10;&#10;Description automatically generated">
            <a:extLst>
              <a:ext uri="{FF2B5EF4-FFF2-40B4-BE49-F238E27FC236}">
                <a16:creationId xmlns:a16="http://schemas.microsoft.com/office/drawing/2014/main" id="{3B6BBC2D-A66F-DB9C-04C2-A9C2963A4E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831" y="2118822"/>
            <a:ext cx="3053265" cy="2289949"/>
          </a:xfrm>
          <a:prstGeom prst="rect">
            <a:avLst/>
          </a:prstGeom>
          <a:ln>
            <a:noFill/>
          </a:ln>
          <a:effectLst>
            <a:softEdge rad="112500"/>
          </a:effectLst>
        </p:spPr>
      </p:pic>
      <p:pic>
        <p:nvPicPr>
          <p:cNvPr id="10" name="Picture 9">
            <a:extLst>
              <a:ext uri="{FF2B5EF4-FFF2-40B4-BE49-F238E27FC236}">
                <a16:creationId xmlns:a16="http://schemas.microsoft.com/office/drawing/2014/main" id="{58BED0D0-21C6-FBC0-34A7-7C88AC53F1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56873" y="2998304"/>
            <a:ext cx="3053264" cy="2289948"/>
          </a:xfrm>
          <a:prstGeom prst="rect">
            <a:avLst/>
          </a:prstGeom>
          <a:ln>
            <a:noFill/>
          </a:ln>
          <a:effectLst>
            <a:softEdge rad="112500"/>
          </a:effectLst>
        </p:spPr>
      </p:pic>
      <p:pic>
        <p:nvPicPr>
          <p:cNvPr id="8" name="Content Placeholder 7" descr="A picture containing accessory, key&#10;&#10;Description automatically generated">
            <a:extLst>
              <a:ext uri="{FF2B5EF4-FFF2-40B4-BE49-F238E27FC236}">
                <a16:creationId xmlns:a16="http://schemas.microsoft.com/office/drawing/2014/main" id="{7559EE6A-C753-DE43-1417-771D507A9974}"/>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a:xfrm>
            <a:off x="8664915" y="3988904"/>
            <a:ext cx="3053264" cy="2289948"/>
          </a:xfrm>
          <a:prstGeom prst="rect">
            <a:avLst/>
          </a:prstGeom>
          <a:ln>
            <a:noFill/>
          </a:ln>
          <a:effectLst>
            <a:softEdge rad="112500"/>
          </a:effectLst>
        </p:spPr>
      </p:pic>
      <p:sp>
        <p:nvSpPr>
          <p:cNvPr id="3" name="Slide Number Placeholder 2">
            <a:extLst>
              <a:ext uri="{FF2B5EF4-FFF2-40B4-BE49-F238E27FC236}">
                <a16:creationId xmlns:a16="http://schemas.microsoft.com/office/drawing/2014/main" id="{EBEB04ED-E34C-46CC-9EA4-5D7878C3B20E}"/>
              </a:ext>
            </a:extLst>
          </p:cNvPr>
          <p:cNvSpPr>
            <a:spLocks noGrp="1"/>
          </p:cNvSpPr>
          <p:nvPr>
            <p:ph type="sldNum" sz="quarter" idx="12"/>
          </p:nvPr>
        </p:nvSpPr>
        <p:spPr/>
        <p:txBody>
          <a:bodyPr/>
          <a:lstStyle/>
          <a:p>
            <a:fld id="{F4E8603E-186F-4CC7-B8E2-5FD613D3E28C}" type="slidenum">
              <a:rPr lang="en-US" smtClean="0"/>
              <a:t>13</a:t>
            </a:fld>
            <a:endParaRPr lang="en-US" dirty="0"/>
          </a:p>
        </p:txBody>
      </p:sp>
    </p:spTree>
    <p:extLst>
      <p:ext uri="{BB962C8B-B14F-4D97-AF65-F5344CB8AC3E}">
        <p14:creationId xmlns:p14="http://schemas.microsoft.com/office/powerpoint/2010/main" val="115759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End-of-Yarn Finding Algorithm</a:t>
            </a:r>
          </a:p>
        </p:txBody>
      </p:sp>
      <p:sp>
        <p:nvSpPr>
          <p:cNvPr id="3" name="Content Placeholder 2"/>
          <p:cNvSpPr>
            <a:spLocks noGrp="1"/>
          </p:cNvSpPr>
          <p:nvPr>
            <p:ph idx="1"/>
          </p:nvPr>
        </p:nvSpPr>
        <p:spPr>
          <a:xfrm>
            <a:off x="154929" y="1442153"/>
            <a:ext cx="9067800" cy="4800600"/>
          </a:xfrm>
        </p:spPr>
        <p:txBody>
          <a:bodyPr>
            <a:normAutofit/>
          </a:bodyPr>
          <a:lstStyle/>
          <a:p>
            <a:pPr marL="0" indent="0">
              <a:buNone/>
            </a:pPr>
            <a:r>
              <a:rPr lang="en-US" dirty="0"/>
              <a:t>Set aside the already-obtained beginning</a:t>
            </a:r>
            <a:br>
              <a:rPr lang="en-US" dirty="0"/>
            </a:br>
            <a:r>
              <a:rPr lang="en-US" dirty="0"/>
              <a:t>Do the following until you find the end:</a:t>
            </a:r>
            <a:br>
              <a:rPr lang="en-US" dirty="0"/>
            </a:br>
            <a:r>
              <a:rPr lang="en-US" dirty="0"/>
              <a:t>    Separate the pile of yarn into 2 piles </a:t>
            </a:r>
            <a:br>
              <a:rPr lang="en-US" dirty="0"/>
            </a:br>
            <a:r>
              <a:rPr lang="en-US" dirty="0"/>
              <a:t>    Label A to be the pile that the beginning enters</a:t>
            </a:r>
            <a:br>
              <a:rPr lang="en-US" dirty="0"/>
            </a:br>
            <a:r>
              <a:rPr lang="en-US" dirty="0"/>
              <a:t>    Label B to be the other pile</a:t>
            </a:r>
            <a:br>
              <a:rPr lang="en-US" dirty="0"/>
            </a:br>
            <a:r>
              <a:rPr lang="en-US" dirty="0"/>
              <a:t>    Count the number of strands crossing the piles</a:t>
            </a:r>
            <a:br>
              <a:rPr lang="en-US" dirty="0"/>
            </a:br>
            <a:r>
              <a:rPr lang="en-US" dirty="0"/>
              <a:t>    If count is even, set the pile to be A</a:t>
            </a:r>
            <a:br>
              <a:rPr lang="en-US" dirty="0"/>
            </a:br>
            <a:r>
              <a:rPr lang="en-US" dirty="0"/>
              <a:t>    Otherwise set the pile to be B.</a:t>
            </a:r>
          </a:p>
        </p:txBody>
      </p:sp>
      <p:grpSp>
        <p:nvGrpSpPr>
          <p:cNvPr id="5" name="Group 4">
            <a:extLst>
              <a:ext uri="{FF2B5EF4-FFF2-40B4-BE49-F238E27FC236}">
                <a16:creationId xmlns:a16="http://schemas.microsoft.com/office/drawing/2014/main" id="{4D1B2CB4-59D7-A41F-E296-7ABCB1DC156F}"/>
              </a:ext>
            </a:extLst>
          </p:cNvPr>
          <p:cNvGrpSpPr/>
          <p:nvPr/>
        </p:nvGrpSpPr>
        <p:grpSpPr>
          <a:xfrm>
            <a:off x="8839200" y="793608"/>
            <a:ext cx="3144965" cy="1545048"/>
            <a:chOff x="1828800" y="1295400"/>
            <a:chExt cx="9753600" cy="4791716"/>
          </a:xfrm>
        </p:grpSpPr>
        <p:pic>
          <p:nvPicPr>
            <p:cNvPr id="6" name="Picture 2">
              <a:extLst>
                <a:ext uri="{FF2B5EF4-FFF2-40B4-BE49-F238E27FC236}">
                  <a16:creationId xmlns:a16="http://schemas.microsoft.com/office/drawing/2014/main" id="{6AFE74D8-0805-A2AB-18A6-3EA35C1460F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Shape 6">
              <a:extLst>
                <a:ext uri="{FF2B5EF4-FFF2-40B4-BE49-F238E27FC236}">
                  <a16:creationId xmlns:a16="http://schemas.microsoft.com/office/drawing/2014/main" id="{F1D8BFED-936F-6088-AA6C-2A93B3F514AB}"/>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28575">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1A47E06E-C41F-E698-74B1-DFA8100725AB}"/>
              </a:ext>
            </a:extLst>
          </p:cNvPr>
          <p:cNvGrpSpPr/>
          <p:nvPr/>
        </p:nvGrpSpPr>
        <p:grpSpPr>
          <a:xfrm>
            <a:off x="8234658" y="3581400"/>
            <a:ext cx="3957342" cy="1458846"/>
            <a:chOff x="8234658" y="3789922"/>
            <a:chExt cx="3957342" cy="1458846"/>
          </a:xfrm>
        </p:grpSpPr>
        <p:pic>
          <p:nvPicPr>
            <p:cNvPr id="9" name="Picture 2">
              <a:extLst>
                <a:ext uri="{FF2B5EF4-FFF2-40B4-BE49-F238E27FC236}">
                  <a16:creationId xmlns:a16="http://schemas.microsoft.com/office/drawing/2014/main" id="{020328E4-3AD5-2135-47DB-AFBF6E99B60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4" name="Freeform: Shape 13">
              <a:extLst>
                <a:ext uri="{FF2B5EF4-FFF2-40B4-BE49-F238E27FC236}">
                  <a16:creationId xmlns:a16="http://schemas.microsoft.com/office/drawing/2014/main" id="{307CA02C-8F9A-47CD-1BDC-418B090FD2B8}"/>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Rectangle 7">
            <a:extLst>
              <a:ext uri="{FF2B5EF4-FFF2-40B4-BE49-F238E27FC236}">
                <a16:creationId xmlns:a16="http://schemas.microsoft.com/office/drawing/2014/main" id="{7CFFEF35-1F9B-40D0-9482-87780E141A1F}"/>
              </a:ext>
            </a:extLst>
          </p:cNvPr>
          <p:cNvSpPr/>
          <p:nvPr/>
        </p:nvSpPr>
        <p:spPr>
          <a:xfrm>
            <a:off x="9120890" y="3625080"/>
            <a:ext cx="1242309" cy="132792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1612188-44BB-42F6-B9AB-6D5BA5D72D15}"/>
              </a:ext>
            </a:extLst>
          </p:cNvPr>
          <p:cNvSpPr txBox="1"/>
          <p:nvPr/>
        </p:nvSpPr>
        <p:spPr>
          <a:xfrm>
            <a:off x="9993992" y="3729894"/>
            <a:ext cx="369207" cy="430887"/>
          </a:xfrm>
          <a:prstGeom prst="rect">
            <a:avLst/>
          </a:prstGeom>
          <a:noFill/>
        </p:spPr>
        <p:txBody>
          <a:bodyPr wrap="square" rtlCol="0">
            <a:spAutoFit/>
          </a:bodyPr>
          <a:lstStyle/>
          <a:p>
            <a:r>
              <a:rPr lang="en-US" sz="2200" dirty="0">
                <a:solidFill>
                  <a:schemeClr val="accent1"/>
                </a:solidFill>
              </a:rPr>
              <a:t>A</a:t>
            </a:r>
          </a:p>
        </p:txBody>
      </p:sp>
      <p:sp>
        <p:nvSpPr>
          <p:cNvPr id="15" name="TextBox 14">
            <a:extLst>
              <a:ext uri="{FF2B5EF4-FFF2-40B4-BE49-F238E27FC236}">
                <a16:creationId xmlns:a16="http://schemas.microsoft.com/office/drawing/2014/main" id="{02F314E0-E0A1-4E2D-B990-9C733A1730D7}"/>
              </a:ext>
            </a:extLst>
          </p:cNvPr>
          <p:cNvSpPr txBox="1"/>
          <p:nvPr/>
        </p:nvSpPr>
        <p:spPr>
          <a:xfrm>
            <a:off x="7980588" y="4064913"/>
            <a:ext cx="369207" cy="430887"/>
          </a:xfrm>
          <a:prstGeom prst="rect">
            <a:avLst/>
          </a:prstGeom>
          <a:noFill/>
        </p:spPr>
        <p:txBody>
          <a:bodyPr wrap="square" rtlCol="0">
            <a:spAutoFit/>
          </a:bodyPr>
          <a:lstStyle/>
          <a:p>
            <a:r>
              <a:rPr lang="en-US" sz="2200" dirty="0">
                <a:solidFill>
                  <a:schemeClr val="accent1"/>
                </a:solidFill>
              </a:rPr>
              <a:t>B</a:t>
            </a:r>
          </a:p>
        </p:txBody>
      </p:sp>
      <p:sp>
        <p:nvSpPr>
          <p:cNvPr id="12" name="Slide Number Placeholder 11">
            <a:extLst>
              <a:ext uri="{FF2B5EF4-FFF2-40B4-BE49-F238E27FC236}">
                <a16:creationId xmlns:a16="http://schemas.microsoft.com/office/drawing/2014/main" id="{A2DA4D18-9F73-425D-9D37-9027EA7A1784}"/>
              </a:ext>
            </a:extLst>
          </p:cNvPr>
          <p:cNvSpPr>
            <a:spLocks noGrp="1"/>
          </p:cNvSpPr>
          <p:nvPr>
            <p:ph type="sldNum" sz="quarter" idx="12"/>
          </p:nvPr>
        </p:nvSpPr>
        <p:spPr/>
        <p:txBody>
          <a:bodyPr/>
          <a:lstStyle/>
          <a:p>
            <a:fld id="{F4E8603E-186F-4CC7-B8E2-5FD613D3E28C}" type="slidenum">
              <a:rPr lang="en-US" smtClean="0"/>
              <a:t>14</a:t>
            </a:fld>
            <a:endParaRPr lang="en-US" dirty="0"/>
          </a:p>
        </p:txBody>
      </p:sp>
    </p:spTree>
    <p:extLst>
      <p:ext uri="{BB962C8B-B14F-4D97-AF65-F5344CB8AC3E}">
        <p14:creationId xmlns:p14="http://schemas.microsoft.com/office/powerpoint/2010/main" val="463733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CDBD3-20EE-3FF9-D8ED-C39DD9E2F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9D33E-CB48-EE13-6D30-85C0B0A08D5D}"/>
              </a:ext>
            </a:extLst>
          </p:cNvPr>
          <p:cNvSpPr>
            <a:spLocks noGrp="1"/>
          </p:cNvSpPr>
          <p:nvPr>
            <p:ph type="title"/>
          </p:nvPr>
        </p:nvSpPr>
        <p:spPr/>
        <p:txBody>
          <a:bodyPr/>
          <a:lstStyle/>
          <a:p>
            <a:r>
              <a:rPr lang="en-US" dirty="0"/>
              <a:t>Resource Analysis</a:t>
            </a:r>
          </a:p>
        </p:txBody>
      </p:sp>
      <p:sp>
        <p:nvSpPr>
          <p:cNvPr id="3" name="Text Placeholder 2">
            <a:extLst>
              <a:ext uri="{FF2B5EF4-FFF2-40B4-BE49-F238E27FC236}">
                <a16:creationId xmlns:a16="http://schemas.microsoft.com/office/drawing/2014/main" id="{797426F0-F493-331C-2CCB-B80A4232A84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682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ABBE-1E7E-6C10-BB86-117BA9F80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B71EB-B395-B9D7-EF2C-3D1A75FC53FE}"/>
              </a:ext>
            </a:extLst>
          </p:cNvPr>
          <p:cNvSpPr>
            <a:spLocks noGrp="1"/>
          </p:cNvSpPr>
          <p:nvPr>
            <p:ph type="title"/>
          </p:nvPr>
        </p:nvSpPr>
        <p:spPr/>
        <p:txBody>
          <a:bodyPr/>
          <a:lstStyle/>
          <a:p>
            <a:r>
              <a:rPr lang="en-US" dirty="0"/>
              <a:t>Why do resource analysis?</a:t>
            </a:r>
          </a:p>
        </p:txBody>
      </p:sp>
      <p:sp>
        <p:nvSpPr>
          <p:cNvPr id="3" name="Content Placeholder 2">
            <a:extLst>
              <a:ext uri="{FF2B5EF4-FFF2-40B4-BE49-F238E27FC236}">
                <a16:creationId xmlns:a16="http://schemas.microsoft.com/office/drawing/2014/main" id="{02359980-D1F3-A29C-74D4-C8F74B28099C}"/>
              </a:ext>
            </a:extLst>
          </p:cNvPr>
          <p:cNvSpPr>
            <a:spLocks noGrp="1"/>
          </p:cNvSpPr>
          <p:nvPr>
            <p:ph idx="1"/>
          </p:nvPr>
        </p:nvSpPr>
        <p:spPr/>
        <p:txBody>
          <a:bodyPr>
            <a:normAutofit/>
          </a:bodyPr>
          <a:lstStyle/>
          <a:p>
            <a:r>
              <a:rPr lang="en-US" dirty="0"/>
              <a:t>Allows us to compare </a:t>
            </a:r>
            <a:r>
              <a:rPr lang="en-US" i="1" dirty="0"/>
              <a:t>algorithms, </a:t>
            </a:r>
            <a:r>
              <a:rPr lang="en-US" dirty="0"/>
              <a:t>not implementations</a:t>
            </a:r>
          </a:p>
          <a:p>
            <a:pPr marL="590550" lvl="1" indent="-457200">
              <a:buFont typeface="Arial" panose="020B0604020202020204" pitchFamily="34" charset="0"/>
              <a:buChar char="•"/>
            </a:pPr>
            <a:r>
              <a:rPr lang="en-US" dirty="0"/>
              <a:t>Using observations necessarily couples the algorithm with its implementation</a:t>
            </a:r>
          </a:p>
          <a:p>
            <a:pPr marL="590550" lvl="1" indent="-457200">
              <a:buFont typeface="Arial" panose="020B0604020202020204" pitchFamily="34" charset="0"/>
              <a:buChar char="•"/>
            </a:pPr>
            <a:r>
              <a:rPr lang="en-US" dirty="0"/>
              <a:t>If my implementation on my computer takes more time than your implementation on your computer, we cannot conclude your algorithm is better</a:t>
            </a:r>
          </a:p>
          <a:p>
            <a:r>
              <a:rPr lang="en-US" dirty="0"/>
              <a:t>We can predict an algorithm’s running time before implementing </a:t>
            </a:r>
          </a:p>
          <a:p>
            <a:r>
              <a:rPr lang="en-US" dirty="0"/>
              <a:t>Understand where the bottlenecks are in our algorithm</a:t>
            </a:r>
          </a:p>
          <a:p>
            <a:endParaRPr lang="en-US" dirty="0"/>
          </a:p>
        </p:txBody>
      </p:sp>
    </p:spTree>
    <p:extLst>
      <p:ext uri="{BB962C8B-B14F-4D97-AF65-F5344CB8AC3E}">
        <p14:creationId xmlns:p14="http://schemas.microsoft.com/office/powerpoint/2010/main" val="2140360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F07D7-5AA9-FA85-7331-9378AB1A3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74783-DB99-8859-C5B9-A6C362631BF6}"/>
              </a:ext>
            </a:extLst>
          </p:cNvPr>
          <p:cNvSpPr>
            <a:spLocks noGrp="1"/>
          </p:cNvSpPr>
          <p:nvPr>
            <p:ph type="title"/>
          </p:nvPr>
        </p:nvSpPr>
        <p:spPr/>
        <p:txBody>
          <a:bodyPr/>
          <a:lstStyle/>
          <a:p>
            <a:r>
              <a:rPr lang="en-US" dirty="0"/>
              <a:t>Process for resource Analysis</a:t>
            </a:r>
          </a:p>
        </p:txBody>
      </p:sp>
      <p:sp>
        <p:nvSpPr>
          <p:cNvPr id="3" name="Content Placeholder 2">
            <a:extLst>
              <a:ext uri="{FF2B5EF4-FFF2-40B4-BE49-F238E27FC236}">
                <a16:creationId xmlns:a16="http://schemas.microsoft.com/office/drawing/2014/main" id="{73A38714-2D6B-73D0-9AB5-513DA2673539}"/>
              </a:ext>
            </a:extLst>
          </p:cNvPr>
          <p:cNvSpPr>
            <a:spLocks noGrp="1"/>
          </p:cNvSpPr>
          <p:nvPr>
            <p:ph idx="1"/>
          </p:nvPr>
        </p:nvSpPr>
        <p:spPr/>
        <p:txBody>
          <a:bodyPr>
            <a:normAutofit/>
          </a:bodyPr>
          <a:lstStyle/>
          <a:p>
            <a:r>
              <a:rPr lang="en-US" dirty="0"/>
              <a:t>End Result: A </a:t>
            </a:r>
            <a:r>
              <a:rPr lang="en-US" i="1" dirty="0"/>
              <a:t>function</a:t>
            </a:r>
            <a:r>
              <a:rPr lang="en-US" dirty="0"/>
              <a:t> which maps the algorithm’s input size to count of resources used</a:t>
            </a:r>
          </a:p>
          <a:p>
            <a:pPr lvl="1"/>
            <a:r>
              <a:rPr lang="en-US" dirty="0"/>
              <a:t>Input of the function: </a:t>
            </a:r>
            <a:r>
              <a:rPr lang="en-US" b="1" dirty="0"/>
              <a:t>sizes</a:t>
            </a:r>
            <a:r>
              <a:rPr lang="en-US" dirty="0"/>
              <a:t> of the input </a:t>
            </a:r>
          </a:p>
          <a:p>
            <a:pPr lvl="2"/>
            <a:r>
              <a:rPr lang="en-US" dirty="0"/>
              <a:t>Number of characters in a string, number of items in a list, number of pixels in an image</a:t>
            </a:r>
          </a:p>
          <a:p>
            <a:pPr lvl="1"/>
            <a:r>
              <a:rPr lang="en-US" dirty="0"/>
              <a:t>Output of the function: </a:t>
            </a:r>
            <a:r>
              <a:rPr lang="en-US" b="1" dirty="0"/>
              <a:t>counts</a:t>
            </a:r>
            <a:r>
              <a:rPr lang="en-US" dirty="0"/>
              <a:t> of resources used</a:t>
            </a:r>
          </a:p>
          <a:p>
            <a:pPr lvl="2"/>
            <a:r>
              <a:rPr lang="en-US" dirty="0"/>
              <a:t>Number of times the algorithm adds two numbers together, number times the algorithm does a &gt; or &lt; comparison, maximum number of bytes of memory the algorithm uses at any time </a:t>
            </a:r>
          </a:p>
          <a:p>
            <a:r>
              <a:rPr lang="en-US" dirty="0"/>
              <a:t>Important note: Make sure you know the “units” of your input and output!</a:t>
            </a:r>
          </a:p>
        </p:txBody>
      </p:sp>
    </p:spTree>
    <p:extLst>
      <p:ext uri="{BB962C8B-B14F-4D97-AF65-F5344CB8AC3E}">
        <p14:creationId xmlns:p14="http://schemas.microsoft.com/office/powerpoint/2010/main" val="3274919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673A8-8C9E-1A48-51AF-C49EB8C0441F}"/>
              </a:ext>
            </a:extLst>
          </p:cNvPr>
          <p:cNvSpPr>
            <a:spLocks noGrp="1"/>
          </p:cNvSpPr>
          <p:nvPr>
            <p:ph type="title"/>
          </p:nvPr>
        </p:nvSpPr>
        <p:spPr/>
        <p:txBody>
          <a:bodyPr>
            <a:normAutofit/>
          </a:bodyPr>
          <a:lstStyle/>
          <a:p>
            <a:r>
              <a:rPr lang="en-US" dirty="0"/>
              <a:t>Resource Analysis – Worst Case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40E513-B2D9-8AE9-0CC5-5596DBF773BE}"/>
                  </a:ext>
                </a:extLst>
              </p:cNvPr>
              <p:cNvSpPr>
                <a:spLocks noGrp="1"/>
              </p:cNvSpPr>
              <p:nvPr>
                <p:ph idx="1"/>
              </p:nvPr>
            </p:nvSpPr>
            <p:spPr/>
            <p:txBody>
              <a:bodyPr/>
              <a:lstStyle/>
              <a:p>
                <a:r>
                  <a:rPr lang="en-US" dirty="0"/>
                  <a:t>If an algorithm has a worst case running time of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590550" lvl="1" indent="-457200">
                  <a:buFont typeface="Arial" panose="020B0604020202020204" pitchFamily="34" charset="0"/>
                  <a:buChar char="•"/>
                </a:pPr>
                <a:r>
                  <a:rPr lang="en-US" dirty="0"/>
                  <a:t>Among all possible size-</a:t>
                </a:r>
                <a14:m>
                  <m:oMath xmlns:m="http://schemas.openxmlformats.org/officeDocument/2006/math">
                    <m:r>
                      <a:rPr lang="en-US" i="1">
                        <a:latin typeface="Cambria Math" panose="02040503050406030204" pitchFamily="18" charset="0"/>
                      </a:rPr>
                      <m:t>𝑛</m:t>
                    </m:r>
                  </m:oMath>
                </a14:m>
                <a:r>
                  <a:rPr lang="en-US" dirty="0"/>
                  <a:t> inputs, the “worst” one will do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“operations”</a:t>
                </a:r>
              </a:p>
              <a:p>
                <a:pPr marL="590550" lvl="1" indent="-457200">
                  <a:buFont typeface="Arial" panose="020B0604020202020204" pitchFamily="34" charset="0"/>
                  <a:buChar char="•"/>
                </a:pPr>
                <a:r>
                  <a:rPr lang="en-US" dirty="0"/>
                  <a:t>I.e.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gives the maximum operation count from among all inputs of size </a:t>
                </a:r>
                <a14:m>
                  <m:oMath xmlns:m="http://schemas.openxmlformats.org/officeDocument/2006/math">
                    <m:r>
                      <a:rPr lang="en-US" i="1">
                        <a:latin typeface="Cambria Math" panose="02040503050406030204" pitchFamily="18" charset="0"/>
                      </a:rPr>
                      <m:t>𝑛</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B40E513-B2D9-8AE9-0CC5-5596DBF773BE}"/>
                  </a:ext>
                </a:extLst>
              </p:cNvPr>
              <p:cNvSpPr>
                <a:spLocks noGrp="1" noRot="1" noChangeAspect="1" noMove="1" noResize="1" noEditPoints="1" noAdjustHandles="1" noChangeArrowheads="1" noChangeShapeType="1" noTextEdit="1"/>
              </p:cNvSpPr>
              <p:nvPr>
                <p:ph idx="1"/>
              </p:nvPr>
            </p:nvSpPr>
            <p:spPr>
              <a:blipFill>
                <a:blip r:embed="rId2"/>
                <a:stretch>
                  <a:fillRect l="-1217" t="-380"/>
                </a:stretch>
              </a:blipFill>
            </p:spPr>
            <p:txBody>
              <a:bodyPr/>
              <a:lstStyle/>
              <a:p>
                <a:r>
                  <a:rPr lang="en-US">
                    <a:noFill/>
                  </a:rPr>
                  <a:t> </a:t>
                </a:r>
              </a:p>
            </p:txBody>
          </p:sp>
        </mc:Fallback>
      </mc:AlternateContent>
    </p:spTree>
    <p:extLst>
      <p:ext uri="{BB962C8B-B14F-4D97-AF65-F5344CB8AC3E}">
        <p14:creationId xmlns:p14="http://schemas.microsoft.com/office/powerpoint/2010/main" val="23405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A1722-D8F7-70FC-8C99-5D21D5944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13A43-CA80-FCA6-5DDA-6E2265BD29C1}"/>
              </a:ext>
            </a:extLst>
          </p:cNvPr>
          <p:cNvSpPr>
            <a:spLocks noGrp="1"/>
          </p:cNvSpPr>
          <p:nvPr>
            <p:ph type="title"/>
          </p:nvPr>
        </p:nvSpPr>
        <p:spPr/>
        <p:txBody>
          <a:bodyPr>
            <a:normAutofit/>
          </a:bodyPr>
          <a:lstStyle/>
          <a:p>
            <a:r>
              <a:rPr lang="en-US" dirty="0"/>
              <a:t>Resource Analysis – Best Case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096F45-9F9A-5E7C-7028-DE08289BB3E8}"/>
                  </a:ext>
                </a:extLst>
              </p:cNvPr>
              <p:cNvSpPr>
                <a:spLocks noGrp="1"/>
              </p:cNvSpPr>
              <p:nvPr>
                <p:ph idx="1"/>
              </p:nvPr>
            </p:nvSpPr>
            <p:spPr/>
            <p:txBody>
              <a:bodyPr/>
              <a:lstStyle/>
              <a:p>
                <a:r>
                  <a:rPr lang="en-US" dirty="0"/>
                  <a:t>If an algorithm has a </a:t>
                </a:r>
                <a:r>
                  <a:rPr lang="en-US" b="1" dirty="0"/>
                  <a:t>best</a:t>
                </a:r>
                <a:r>
                  <a:rPr lang="en-US" dirty="0"/>
                  <a:t> case running time of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590550" lvl="1" indent="-457200">
                  <a:buFont typeface="Arial" panose="020B0604020202020204" pitchFamily="34" charset="0"/>
                  <a:buChar char="•"/>
                </a:pPr>
                <a:r>
                  <a:rPr lang="en-US" dirty="0"/>
                  <a:t>Among all possible size-</a:t>
                </a:r>
                <a14:m>
                  <m:oMath xmlns:m="http://schemas.openxmlformats.org/officeDocument/2006/math">
                    <m:r>
                      <a:rPr lang="en-US" i="1">
                        <a:latin typeface="Cambria Math" panose="02040503050406030204" pitchFamily="18" charset="0"/>
                      </a:rPr>
                      <m:t>𝑛</m:t>
                    </m:r>
                  </m:oMath>
                </a14:m>
                <a:r>
                  <a:rPr lang="en-US" dirty="0"/>
                  <a:t> inputs, the “</a:t>
                </a:r>
                <a:r>
                  <a:rPr lang="en-US" b="1" dirty="0"/>
                  <a:t>best</a:t>
                </a:r>
                <a:r>
                  <a:rPr lang="en-US" dirty="0"/>
                  <a:t>” one will do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“operations”</a:t>
                </a:r>
              </a:p>
              <a:p>
                <a:pPr marL="590550" lvl="1" indent="-457200">
                  <a:buFont typeface="Arial" panose="020B0604020202020204" pitchFamily="34" charset="0"/>
                  <a:buChar char="•"/>
                </a:pPr>
                <a:r>
                  <a:rPr lang="en-US" dirty="0"/>
                  <a:t>I.e.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gives the </a:t>
                </a:r>
                <a:r>
                  <a:rPr lang="en-US" b="1" dirty="0"/>
                  <a:t>minimum</a:t>
                </a:r>
                <a:r>
                  <a:rPr lang="en-US" dirty="0"/>
                  <a:t> operation count from among all inputs of size </a:t>
                </a:r>
                <a14:m>
                  <m:oMath xmlns:m="http://schemas.openxmlformats.org/officeDocument/2006/math">
                    <m:r>
                      <a:rPr lang="en-US" i="1">
                        <a:latin typeface="Cambria Math" panose="02040503050406030204" pitchFamily="18" charset="0"/>
                      </a:rPr>
                      <m:t>𝑛</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B7096F45-9F9A-5E7C-7028-DE08289BB3E8}"/>
                  </a:ext>
                </a:extLst>
              </p:cNvPr>
              <p:cNvSpPr>
                <a:spLocks noGrp="1" noRot="1" noChangeAspect="1" noMove="1" noResize="1" noEditPoints="1" noAdjustHandles="1" noChangeArrowheads="1" noChangeShapeType="1" noTextEdit="1"/>
              </p:cNvSpPr>
              <p:nvPr>
                <p:ph idx="1"/>
              </p:nvPr>
            </p:nvSpPr>
            <p:spPr>
              <a:blipFill>
                <a:blip r:embed="rId2"/>
                <a:stretch>
                  <a:fillRect l="-1217" t="-380"/>
                </a:stretch>
              </a:blipFill>
            </p:spPr>
            <p:txBody>
              <a:bodyPr/>
              <a:lstStyle/>
              <a:p>
                <a:r>
                  <a:rPr lang="en-US">
                    <a:noFill/>
                  </a:rPr>
                  <a:t> </a:t>
                </a:r>
              </a:p>
            </p:txBody>
          </p:sp>
        </mc:Fallback>
      </mc:AlternateContent>
    </p:spTree>
    <p:extLst>
      <p:ext uri="{BB962C8B-B14F-4D97-AF65-F5344CB8AC3E}">
        <p14:creationId xmlns:p14="http://schemas.microsoft.com/office/powerpoint/2010/main" val="3754878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BB9A6-B8CB-6573-4C0A-8B3506DC2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D2FF4-D6F3-80BB-339F-11EA13742259}"/>
              </a:ext>
            </a:extLst>
          </p:cNvPr>
          <p:cNvSpPr>
            <a:spLocks noGrp="1"/>
          </p:cNvSpPr>
          <p:nvPr>
            <p:ph type="title"/>
          </p:nvPr>
        </p:nvSpPr>
        <p:spPr/>
        <p:txBody>
          <a:bodyPr>
            <a:normAutofit/>
          </a:bodyPr>
          <a:lstStyle/>
          <a:p>
            <a:r>
              <a:rPr lang="en-US" dirty="0"/>
              <a:t>Resource Analysis – Worst Case Space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42667F-39BE-9D0B-F195-38656997D187}"/>
                  </a:ext>
                </a:extLst>
              </p:cNvPr>
              <p:cNvSpPr>
                <a:spLocks noGrp="1"/>
              </p:cNvSpPr>
              <p:nvPr>
                <p:ph idx="1"/>
              </p:nvPr>
            </p:nvSpPr>
            <p:spPr/>
            <p:txBody>
              <a:bodyPr/>
              <a:lstStyle/>
              <a:p>
                <a:r>
                  <a:rPr lang="en-US" dirty="0"/>
                  <a:t>If an algorithm has a worst case space of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590550" lvl="1" indent="-457200">
                  <a:buFont typeface="Arial" panose="020B0604020202020204" pitchFamily="34" charset="0"/>
                  <a:buChar char="•"/>
                </a:pPr>
                <a:r>
                  <a:rPr lang="en-US" dirty="0"/>
                  <a:t>Among all possible size-</a:t>
                </a:r>
                <a14:m>
                  <m:oMath xmlns:m="http://schemas.openxmlformats.org/officeDocument/2006/math">
                    <m:r>
                      <a:rPr lang="en-US" i="1">
                        <a:latin typeface="Cambria Math" panose="02040503050406030204" pitchFamily="18" charset="0"/>
                      </a:rPr>
                      <m:t>𝑛</m:t>
                    </m:r>
                  </m:oMath>
                </a14:m>
                <a:r>
                  <a:rPr lang="en-US" dirty="0"/>
                  <a:t> inputs, the “worst” one will use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bits of memory</a:t>
                </a:r>
              </a:p>
              <a:p>
                <a:pPr marL="590550" lvl="1" indent="-457200">
                  <a:buFont typeface="Arial" panose="020B0604020202020204" pitchFamily="34" charset="0"/>
                  <a:buChar char="•"/>
                </a:pPr>
                <a:r>
                  <a:rPr lang="en-US" dirty="0"/>
                  <a:t>I.e.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gives the maximum amount of memory required from among all inputs of size </a:t>
                </a:r>
                <a14:m>
                  <m:oMath xmlns:m="http://schemas.openxmlformats.org/officeDocument/2006/math">
                    <m:r>
                      <a:rPr lang="en-US" i="1">
                        <a:latin typeface="Cambria Math" panose="02040503050406030204" pitchFamily="18" charset="0"/>
                      </a:rPr>
                      <m:t>𝑛</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142667F-39BE-9D0B-F195-38656997D187}"/>
                  </a:ext>
                </a:extLst>
              </p:cNvPr>
              <p:cNvSpPr>
                <a:spLocks noGrp="1" noRot="1" noChangeAspect="1" noMove="1" noResize="1" noEditPoints="1" noAdjustHandles="1" noChangeArrowheads="1" noChangeShapeType="1" noTextEdit="1"/>
              </p:cNvSpPr>
              <p:nvPr>
                <p:ph idx="1"/>
              </p:nvPr>
            </p:nvSpPr>
            <p:spPr>
              <a:blipFill>
                <a:blip r:embed="rId2"/>
                <a:stretch>
                  <a:fillRect l="-1217" t="-380" r="-1391"/>
                </a:stretch>
              </a:blipFill>
            </p:spPr>
            <p:txBody>
              <a:bodyPr/>
              <a:lstStyle/>
              <a:p>
                <a:r>
                  <a:rPr lang="en-US">
                    <a:noFill/>
                  </a:rPr>
                  <a:t> </a:t>
                </a:r>
              </a:p>
            </p:txBody>
          </p:sp>
        </mc:Fallback>
      </mc:AlternateContent>
    </p:spTree>
    <p:extLst>
      <p:ext uri="{BB962C8B-B14F-4D97-AF65-F5344CB8AC3E}">
        <p14:creationId xmlns:p14="http://schemas.microsoft.com/office/powerpoint/2010/main" val="3849509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84DA2-2ED4-99C7-07C9-2477F8DA9FD6}"/>
              </a:ext>
            </a:extLst>
          </p:cNvPr>
          <p:cNvSpPr>
            <a:spLocks noGrp="1"/>
          </p:cNvSpPr>
          <p:nvPr>
            <p:ph type="title"/>
          </p:nvPr>
        </p:nvSpPr>
        <p:spPr/>
        <p:txBody>
          <a:bodyPr/>
          <a:lstStyle/>
          <a:p>
            <a:r>
              <a:rPr lang="en-US" dirty="0"/>
              <a:t>Analysis Process From 123/143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9891AE-16E9-91BA-6328-ABD63BDC27B7}"/>
                  </a:ext>
                </a:extLst>
              </p:cNvPr>
              <p:cNvSpPr>
                <a:spLocks noGrp="1"/>
              </p:cNvSpPr>
              <p:nvPr>
                <p:ph idx="1"/>
              </p:nvPr>
            </p:nvSpPr>
            <p:spPr/>
            <p:txBody>
              <a:bodyPr/>
              <a:lstStyle/>
              <a:p>
                <a:r>
                  <a:rPr lang="en-US" dirty="0"/>
                  <a:t>Count the number of “primitive operations”</a:t>
                </a:r>
              </a:p>
              <a:p>
                <a:pPr lvl="1"/>
                <a:r>
                  <a:rPr lang="en-US" dirty="0"/>
                  <a:t>+, -, compare, </a:t>
                </a:r>
                <a:r>
                  <a:rPr lang="en-US" dirty="0" err="1"/>
                  <a:t>arr</a:t>
                </a:r>
                <a:r>
                  <a:rPr lang="en-US" dirty="0"/>
                  <a:t>[</a:t>
                </a:r>
                <a:r>
                  <a:rPr lang="en-US" dirty="0" err="1"/>
                  <a:t>i</a:t>
                </a:r>
                <a:r>
                  <a:rPr lang="en-US" dirty="0"/>
                  <a:t>], </a:t>
                </a:r>
                <a:r>
                  <a:rPr lang="en-US" dirty="0" err="1"/>
                  <a:t>arr.length</a:t>
                </a:r>
                <a:r>
                  <a:rPr lang="en-US" dirty="0"/>
                  <a:t>, </a:t>
                </a:r>
                <a:r>
                  <a:rPr lang="en-US" dirty="0" err="1"/>
                  <a:t>etc</a:t>
                </a:r>
                <a:endParaRPr lang="en-US" dirty="0"/>
              </a:p>
              <a:p>
                <a:r>
                  <a:rPr lang="en-US" dirty="0"/>
                  <a:t>Write that count as an expression using </a:t>
                </a:r>
                <a14:m>
                  <m:oMath xmlns:m="http://schemas.openxmlformats.org/officeDocument/2006/math">
                    <m:r>
                      <a:rPr lang="en-US" b="0" i="1" smtClean="0">
                        <a:latin typeface="Cambria Math" panose="02040503050406030204" pitchFamily="18" charset="0"/>
                      </a:rPr>
                      <m:t>𝑛</m:t>
                    </m:r>
                  </m:oMath>
                </a14:m>
                <a:r>
                  <a:rPr lang="en-US" dirty="0"/>
                  <a:t> (the input size)</a:t>
                </a:r>
              </a:p>
              <a:p>
                <a:r>
                  <a:rPr lang="en-US" dirty="0"/>
                  <a:t>Put that expression into a “bucket” by ignoring constants and “non-dominant” terms, then put a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 )</m:t>
                    </m:r>
                  </m:oMath>
                </a14:m>
                <a:r>
                  <a:rPr lang="en-US" dirty="0"/>
                  <a:t> around it.</a:t>
                </a:r>
              </a:p>
              <a:p>
                <a:pPr lvl="1"/>
                <a14:m>
                  <m:oMath xmlns:m="http://schemas.openxmlformats.org/officeDocument/2006/math">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+8</m:t>
                    </m:r>
                    <m:r>
                      <a:rPr lang="en-US" b="0" i="1" smtClean="0">
                        <a:latin typeface="Cambria Math" panose="02040503050406030204" pitchFamily="18" charset="0"/>
                      </a:rPr>
                      <m:t>𝑛</m:t>
                    </m:r>
                    <m:r>
                      <a:rPr lang="en-US" b="0" i="1" smtClean="0">
                        <a:latin typeface="Cambria Math" panose="02040503050406030204" pitchFamily="18" charset="0"/>
                      </a:rPr>
                      <m:t>−10</m:t>
                    </m:r>
                  </m:oMath>
                </a14:m>
                <a:r>
                  <a:rPr lang="en-US" dirty="0"/>
                  <a:t> ends up 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dirty="0"/>
              </a:p>
              <a:p>
                <a:pPr lvl="1"/>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𝑛</m:t>
                    </m:r>
                    <m:r>
                      <a:rPr lang="en-US" b="0" i="1" smtClean="0">
                        <a:latin typeface="Cambria Math" panose="02040503050406030204" pitchFamily="18" charset="0"/>
                      </a:rPr>
                      <m:t>+80</m:t>
                    </m:r>
                  </m:oMath>
                </a14:m>
                <a:r>
                  <a:rPr lang="en-US" dirty="0"/>
                  <a:t> ends up 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1"/>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ends up 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a:t>
                </a:r>
              </a:p>
              <a:p>
                <a:pPr lvl="1"/>
                <a:endParaRPr lang="en-US" dirty="0"/>
              </a:p>
            </p:txBody>
          </p:sp>
        </mc:Choice>
        <mc:Fallback xmlns="">
          <p:sp>
            <p:nvSpPr>
              <p:cNvPr id="3" name="Content Placeholder 2">
                <a:extLst>
                  <a:ext uri="{FF2B5EF4-FFF2-40B4-BE49-F238E27FC236}">
                    <a16:creationId xmlns:a16="http://schemas.microsoft.com/office/drawing/2014/main" id="{329891AE-16E9-91BA-6328-ABD63BDC27B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189163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B32D1-F253-EA2C-7252-FD6E731EA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92800-6DED-2F7C-D506-D9C5225BD648}"/>
              </a:ext>
            </a:extLst>
          </p:cNvPr>
          <p:cNvSpPr>
            <a:spLocks noGrp="1"/>
          </p:cNvSpPr>
          <p:nvPr>
            <p:ph type="title"/>
          </p:nvPr>
        </p:nvSpPr>
        <p:spPr/>
        <p:txBody>
          <a:bodyPr/>
          <a:lstStyle/>
          <a:p>
            <a:r>
              <a:rPr lang="en-US" dirty="0"/>
              <a:t>Analysis Process For Us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E204E3-3746-6F63-F37E-E3CE2D8E9313}"/>
                  </a:ext>
                </a:extLst>
              </p:cNvPr>
              <p:cNvSpPr>
                <a:spLocks noGrp="1"/>
              </p:cNvSpPr>
              <p:nvPr>
                <p:ph idx="1"/>
              </p:nvPr>
            </p:nvSpPr>
            <p:spPr/>
            <p:txBody>
              <a:bodyPr>
                <a:normAutofit/>
              </a:bodyPr>
              <a:lstStyle/>
              <a:p>
                <a:r>
                  <a:rPr lang="en-US" dirty="0"/>
                  <a:t>Count the number of </a:t>
                </a:r>
                <a:r>
                  <a:rPr lang="en-US" i="1" dirty="0"/>
                  <a:t>chosen</a:t>
                </a:r>
                <a:r>
                  <a:rPr lang="en-US" dirty="0"/>
                  <a:t> operation(s)</a:t>
                </a:r>
              </a:p>
              <a:p>
                <a:pPr lvl="1"/>
                <a:r>
                  <a:rPr lang="en-US" dirty="0"/>
                  <a:t>Factors to consider when choosing which operation(s) to count</a:t>
                </a:r>
              </a:p>
              <a:p>
                <a:pPr lvl="2"/>
                <a:r>
                  <a:rPr lang="en-US" b="1" dirty="0"/>
                  <a:t>Necessity</a:t>
                </a:r>
                <a:r>
                  <a:rPr lang="en-US" dirty="0"/>
                  <a:t>: should be necessary for solving the problem</a:t>
                </a:r>
              </a:p>
              <a:p>
                <a:pPr lvl="2"/>
                <a:r>
                  <a:rPr lang="en-US" b="1" dirty="0"/>
                  <a:t>Frequency</a:t>
                </a:r>
                <a:r>
                  <a:rPr lang="en-US" dirty="0"/>
                  <a:t>: should be the most frequently done (up to a constant factor)</a:t>
                </a:r>
              </a:p>
              <a:p>
                <a:pPr lvl="2"/>
                <a:r>
                  <a:rPr lang="en-US" b="1" dirty="0"/>
                  <a:t>Magnitude</a:t>
                </a:r>
                <a:r>
                  <a:rPr lang="en-US" dirty="0"/>
                  <a:t>: should be expensive to perform each chosen operation</a:t>
                </a:r>
              </a:p>
              <a:p>
                <a:r>
                  <a:rPr lang="en-US" dirty="0"/>
                  <a:t>Write that count as an expression using </a:t>
                </a:r>
                <a14:m>
                  <m:oMath xmlns:m="http://schemas.openxmlformats.org/officeDocument/2006/math">
                    <m:r>
                      <a:rPr lang="en-US" b="0" i="1" smtClean="0">
                        <a:latin typeface="Cambria Math" panose="02040503050406030204" pitchFamily="18" charset="0"/>
                      </a:rPr>
                      <m:t>𝑛</m:t>
                    </m:r>
                  </m:oMath>
                </a14:m>
                <a:r>
                  <a:rPr lang="en-US" dirty="0"/>
                  <a:t> (the input size)</a:t>
                </a:r>
              </a:p>
              <a:p>
                <a:r>
                  <a:rPr lang="en-US" dirty="0"/>
                  <a:t>Put an asymptotic bound on it (one of </a:t>
                </a:r>
                <a14:m>
                  <m:oMath xmlns:m="http://schemas.openxmlformats.org/officeDocument/2006/math">
                    <m:r>
                      <a:rPr lang="en-US" b="0" i="1" smtClean="0">
                        <a:latin typeface="Cambria Math" panose="02040503050406030204" pitchFamily="18" charset="0"/>
                      </a:rPr>
                      <m:t>𝑂</m:t>
                    </m:r>
                  </m:oMath>
                </a14:m>
                <a:r>
                  <a:rPr lang="en-US" dirty="0"/>
                  <a:t>, </a:t>
                </a:r>
                <a14:m>
                  <m:oMath xmlns:m="http://schemas.openxmlformats.org/officeDocument/2006/math">
                    <m:r>
                      <m:rPr>
                        <m:sty m:val="p"/>
                      </m:rPr>
                      <a:rPr lang="en-US" b="0" i="0" smtClean="0">
                        <a:latin typeface="Cambria Math" panose="02040503050406030204" pitchFamily="18" charset="0"/>
                      </a:rPr>
                      <m:t>Ω</m:t>
                    </m:r>
                  </m:oMath>
                </a14:m>
                <a:r>
                  <a:rPr lang="en-US" dirty="0"/>
                  <a:t>, </a:t>
                </a:r>
                <a14:m>
                  <m:oMath xmlns:m="http://schemas.openxmlformats.org/officeDocument/2006/math">
                    <m:r>
                      <m:rPr>
                        <m:sty m:val="p"/>
                      </m:rPr>
                      <a:rPr lang="en-US" b="0" i="0" smtClean="0">
                        <a:latin typeface="Cambria Math" panose="02040503050406030204" pitchFamily="18" charset="0"/>
                      </a:rPr>
                      <m:t>Θ</m:t>
                    </m:r>
                  </m:oMath>
                </a14:m>
                <a:r>
                  <a:rPr lang="en-US" dirty="0"/>
                  <a:t>)</a:t>
                </a:r>
              </a:p>
              <a:p>
                <a:pPr lvl="1"/>
                <a:r>
                  <a:rPr lang="en-US" dirty="0"/>
                  <a:t>More on this next class</a:t>
                </a:r>
              </a:p>
              <a:p>
                <a:pPr lvl="1"/>
                <a:endParaRPr lang="en-US" dirty="0"/>
              </a:p>
            </p:txBody>
          </p:sp>
        </mc:Choice>
        <mc:Fallback xmlns="">
          <p:sp>
            <p:nvSpPr>
              <p:cNvPr id="3" name="Content Placeholder 2">
                <a:extLst>
                  <a:ext uri="{FF2B5EF4-FFF2-40B4-BE49-F238E27FC236}">
                    <a16:creationId xmlns:a16="http://schemas.microsoft.com/office/drawing/2014/main" id="{83E204E3-3746-6F63-F37E-E3CE2D8E931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780721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3A1F-2F28-72B9-7893-6E4BD4508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DE26A-C2F5-7B5B-4759-C1446F452DED}"/>
              </a:ext>
            </a:extLst>
          </p:cNvPr>
          <p:cNvSpPr>
            <a:spLocks noGrp="1"/>
          </p:cNvSpPr>
          <p:nvPr>
            <p:ph type="title"/>
          </p:nvPr>
        </p:nvSpPr>
        <p:spPr>
          <a:xfrm>
            <a:off x="3266440" y="0"/>
            <a:ext cx="8925560" cy="1325563"/>
          </a:xfrm>
        </p:spPr>
        <p:txBody>
          <a:bodyPr/>
          <a:lstStyle/>
          <a:p>
            <a:r>
              <a:rPr lang="en-US" dirty="0"/>
              <a:t>Worst Case Running Time - Example</a:t>
            </a:r>
          </a:p>
        </p:txBody>
      </p:sp>
      <p:sp>
        <p:nvSpPr>
          <p:cNvPr id="3" name="Content Placeholder 2">
            <a:extLst>
              <a:ext uri="{FF2B5EF4-FFF2-40B4-BE49-F238E27FC236}">
                <a16:creationId xmlns:a16="http://schemas.microsoft.com/office/drawing/2014/main" id="{CE5E1733-8A24-7197-0553-9AFFD2032989}"/>
              </a:ext>
            </a:extLst>
          </p:cNvPr>
          <p:cNvSpPr>
            <a:spLocks noGrp="1"/>
          </p:cNvSpPr>
          <p:nvPr>
            <p:ph idx="1"/>
          </p:nvPr>
        </p:nvSpPr>
        <p:spPr>
          <a:xfrm>
            <a:off x="157480" y="609600"/>
            <a:ext cx="10515600" cy="6451599"/>
          </a:xfrm>
        </p:spPr>
        <p:txBody>
          <a:bodyPr>
            <a:normAutofit fontScale="77500" lnSpcReduction="20000"/>
          </a:bodyPr>
          <a:lstStyle/>
          <a:p>
            <a:pPr marL="0" indent="0">
              <a:buNone/>
            </a:pPr>
            <a:r>
              <a:rPr lang="en-US" dirty="0" err="1"/>
              <a:t>myFunction</a:t>
            </a:r>
            <a:r>
              <a:rPr lang="en-US" dirty="0"/>
              <a:t>(List n){</a:t>
            </a:r>
          </a:p>
          <a:p>
            <a:pPr marL="0" indent="0">
              <a:buNone/>
            </a:pPr>
            <a:r>
              <a:rPr lang="en-US" dirty="0"/>
              <a:t>    b = 55 + 5; </a:t>
            </a:r>
          </a:p>
          <a:p>
            <a:pPr marL="0" indent="0">
              <a:buNone/>
            </a:pPr>
            <a:r>
              <a:rPr lang="en-US" dirty="0"/>
              <a:t>    c = b / 3;  </a:t>
            </a:r>
          </a:p>
          <a:p>
            <a:pPr marL="0" indent="0">
              <a:buNone/>
            </a:pPr>
            <a:r>
              <a:rPr lang="en-US" dirty="0"/>
              <a:t>    b = c + 100;  </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a:t>
            </a:r>
          </a:p>
          <a:p>
            <a:pPr marL="0" indent="0">
              <a:buNone/>
            </a:pPr>
            <a:r>
              <a:rPr lang="en-US" dirty="0"/>
              <a:t>        b++; </a:t>
            </a:r>
          </a:p>
          <a:p>
            <a:pPr marL="0" indent="0">
              <a:buNone/>
            </a:pPr>
            <a:r>
              <a:rPr lang="en-US" dirty="0"/>
              <a:t>   } </a:t>
            </a:r>
          </a:p>
          <a:p>
            <a:pPr marL="0" indent="0">
              <a:buNone/>
            </a:pPr>
            <a:r>
              <a:rPr lang="en-US" dirty="0"/>
              <a:t>    if (b % 2 == 0) {  </a:t>
            </a:r>
          </a:p>
          <a:p>
            <a:pPr marL="0" indent="0">
              <a:buNone/>
            </a:pPr>
            <a:r>
              <a:rPr lang="en-US" dirty="0"/>
              <a:t>        </a:t>
            </a:r>
            <a:r>
              <a:rPr lang="en-US" dirty="0" err="1"/>
              <a:t>c++</a:t>
            </a:r>
            <a:r>
              <a:rPr lang="en-US" dirty="0"/>
              <a:t>;</a:t>
            </a:r>
          </a:p>
          <a:p>
            <a:pPr marL="0" indent="0">
              <a:buNone/>
            </a:pPr>
            <a:r>
              <a:rPr lang="en-US" dirty="0"/>
              <a:t>    } </a:t>
            </a:r>
          </a:p>
          <a:p>
            <a:pPr marL="0" indent="0">
              <a:buNone/>
            </a:pPr>
            <a:r>
              <a:rPr lang="en-US" dirty="0"/>
              <a:t>    else { </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a:t>
            </a:r>
          </a:p>
          <a:p>
            <a:pPr marL="0" indent="0">
              <a:buNone/>
            </a:pPr>
            <a:r>
              <a:rPr lang="en-US" dirty="0"/>
              <a:t>            </a:t>
            </a:r>
            <a:r>
              <a:rPr lang="en-US" dirty="0" err="1"/>
              <a:t>c++</a:t>
            </a:r>
            <a:r>
              <a:rPr lang="en-US" dirty="0"/>
              <a:t>;</a:t>
            </a:r>
          </a:p>
          <a:p>
            <a:pPr marL="0" indent="0">
              <a:buNone/>
            </a:pPr>
            <a:r>
              <a:rPr lang="en-US" dirty="0"/>
              <a:t>        } </a:t>
            </a:r>
          </a:p>
          <a:p>
            <a:pPr marL="0" indent="0">
              <a:buNone/>
            </a:pPr>
            <a:r>
              <a:rPr lang="en-US" dirty="0"/>
              <a:t>    }</a:t>
            </a:r>
          </a:p>
          <a:p>
            <a:pPr marL="0" indent="0">
              <a:buNone/>
            </a:pPr>
            <a:r>
              <a:rPr lang="en-US" dirty="0"/>
              <a:t>    return c;</a:t>
            </a:r>
          </a:p>
          <a:p>
            <a:pPr marL="0" indent="0">
              <a:buNone/>
            </a:pPr>
            <a:r>
              <a:rPr lang="en-US" dirty="0"/>
              <a:t>}</a:t>
            </a:r>
          </a:p>
        </p:txBody>
      </p:sp>
      <p:sp>
        <p:nvSpPr>
          <p:cNvPr id="4" name="TextBox 3">
            <a:extLst>
              <a:ext uri="{FF2B5EF4-FFF2-40B4-BE49-F238E27FC236}">
                <a16:creationId xmlns:a16="http://schemas.microsoft.com/office/drawing/2014/main" id="{415FE405-21FA-86BC-EF0B-7959FD174D9C}"/>
              </a:ext>
            </a:extLst>
          </p:cNvPr>
          <p:cNvSpPr txBox="1"/>
          <p:nvPr/>
        </p:nvSpPr>
        <p:spPr>
          <a:xfrm>
            <a:off x="6096000" y="1223466"/>
            <a:ext cx="5816657" cy="4524315"/>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different inputs?</a:t>
            </a:r>
          </a:p>
          <a:p>
            <a:pPr marL="285750" indent="-285750">
              <a:buFont typeface="Arial" panose="020B0604020202020204" pitchFamily="34" charset="0"/>
              <a:buChar char="•"/>
            </a:pPr>
            <a:r>
              <a:rPr lang="en-US" sz="2400" dirty="0"/>
              <a:t>Answer:</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3310548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16DD-36F5-8C12-841E-7550A34136A2}"/>
              </a:ext>
            </a:extLst>
          </p:cNvPr>
          <p:cNvSpPr>
            <a:spLocks noGrp="1"/>
          </p:cNvSpPr>
          <p:nvPr>
            <p:ph type="title"/>
          </p:nvPr>
        </p:nvSpPr>
        <p:spPr>
          <a:xfrm>
            <a:off x="3266440" y="0"/>
            <a:ext cx="8925560" cy="1325563"/>
          </a:xfrm>
        </p:spPr>
        <p:txBody>
          <a:bodyPr/>
          <a:lstStyle/>
          <a:p>
            <a:r>
              <a:rPr lang="en-US" dirty="0"/>
              <a:t>Worst Case Running Time - Example</a:t>
            </a:r>
          </a:p>
        </p:txBody>
      </p:sp>
      <p:sp>
        <p:nvSpPr>
          <p:cNvPr id="3" name="Content Placeholder 2">
            <a:extLst>
              <a:ext uri="{FF2B5EF4-FFF2-40B4-BE49-F238E27FC236}">
                <a16:creationId xmlns:a16="http://schemas.microsoft.com/office/drawing/2014/main" id="{C2647DF6-6456-9C6C-709D-BEBF2D0F59A6}"/>
              </a:ext>
            </a:extLst>
          </p:cNvPr>
          <p:cNvSpPr>
            <a:spLocks noGrp="1"/>
          </p:cNvSpPr>
          <p:nvPr>
            <p:ph idx="1"/>
          </p:nvPr>
        </p:nvSpPr>
        <p:spPr>
          <a:xfrm>
            <a:off x="157480" y="609600"/>
            <a:ext cx="10515600" cy="6451599"/>
          </a:xfrm>
        </p:spPr>
        <p:txBody>
          <a:bodyPr>
            <a:normAutofit fontScale="77500" lnSpcReduction="20000"/>
          </a:bodyPr>
          <a:lstStyle/>
          <a:p>
            <a:pPr marL="0" indent="0">
              <a:buNone/>
            </a:pPr>
            <a:r>
              <a:rPr lang="en-US" dirty="0" err="1"/>
              <a:t>myFunction</a:t>
            </a:r>
            <a:r>
              <a:rPr lang="en-US" dirty="0"/>
              <a:t>(List n){</a:t>
            </a:r>
          </a:p>
          <a:p>
            <a:pPr marL="0" indent="0">
              <a:buNone/>
            </a:pPr>
            <a:r>
              <a:rPr lang="en-US" dirty="0"/>
              <a:t>    b = 55 + 5; // 1</a:t>
            </a:r>
          </a:p>
          <a:p>
            <a:pPr marL="0" indent="0">
              <a:buNone/>
            </a:pPr>
            <a:r>
              <a:rPr lang="en-US" dirty="0"/>
              <a:t>    c = b / 3;  // 1</a:t>
            </a:r>
          </a:p>
          <a:p>
            <a:pPr marL="0" indent="0">
              <a:buNone/>
            </a:pPr>
            <a:r>
              <a:rPr lang="en-US" dirty="0"/>
              <a:t>    b = c + 100;  // 1</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 1, n times</a:t>
            </a:r>
          </a:p>
          <a:p>
            <a:pPr marL="0" indent="0">
              <a:buNone/>
            </a:pPr>
            <a:r>
              <a:rPr lang="en-US" dirty="0"/>
              <a:t>        b++; // 1</a:t>
            </a:r>
          </a:p>
          <a:p>
            <a:pPr marL="0" indent="0">
              <a:buNone/>
            </a:pPr>
            <a:r>
              <a:rPr lang="en-US" dirty="0"/>
              <a:t>   } </a:t>
            </a:r>
          </a:p>
          <a:p>
            <a:pPr marL="0" indent="0">
              <a:buNone/>
            </a:pPr>
            <a:r>
              <a:rPr lang="en-US" dirty="0"/>
              <a:t>    if (b % 2 == 0) { // 1 </a:t>
            </a:r>
          </a:p>
          <a:p>
            <a:pPr marL="0" indent="0">
              <a:buNone/>
            </a:pPr>
            <a:r>
              <a:rPr lang="en-US" dirty="0"/>
              <a:t>        </a:t>
            </a:r>
            <a:r>
              <a:rPr lang="en-US" dirty="0" err="1"/>
              <a:t>c++</a:t>
            </a:r>
            <a:r>
              <a:rPr lang="en-US" dirty="0"/>
              <a:t>; // 1</a:t>
            </a:r>
          </a:p>
          <a:p>
            <a:pPr marL="0" indent="0">
              <a:buNone/>
            </a:pPr>
            <a:r>
              <a:rPr lang="en-US" dirty="0"/>
              <a:t>    } </a:t>
            </a:r>
          </a:p>
          <a:p>
            <a:pPr marL="0" indent="0">
              <a:buNone/>
            </a:pPr>
            <a:r>
              <a:rPr lang="en-US" dirty="0"/>
              <a:t>    else { </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 1, n times </a:t>
            </a:r>
          </a:p>
          <a:p>
            <a:pPr marL="0" indent="0">
              <a:buNone/>
            </a:pPr>
            <a:r>
              <a:rPr lang="en-US" dirty="0"/>
              <a:t>            </a:t>
            </a:r>
            <a:r>
              <a:rPr lang="en-US" dirty="0" err="1"/>
              <a:t>c++</a:t>
            </a:r>
            <a:r>
              <a:rPr lang="en-US" dirty="0"/>
              <a:t>; // 1</a:t>
            </a:r>
          </a:p>
          <a:p>
            <a:pPr marL="0" indent="0">
              <a:buNone/>
            </a:pPr>
            <a:r>
              <a:rPr lang="en-US" dirty="0"/>
              <a:t>        } </a:t>
            </a:r>
          </a:p>
          <a:p>
            <a:pPr marL="0" indent="0">
              <a:buNone/>
            </a:pPr>
            <a:r>
              <a:rPr lang="en-US" dirty="0"/>
              <a:t>    }</a:t>
            </a:r>
          </a:p>
          <a:p>
            <a:pPr marL="0" indent="0">
              <a:buNone/>
            </a:pPr>
            <a:r>
              <a:rPr lang="en-US" dirty="0"/>
              <a:t>    return c;</a:t>
            </a:r>
          </a:p>
          <a:p>
            <a:pPr marL="0" indent="0">
              <a:buNone/>
            </a:pPr>
            <a:r>
              <a:rPr lang="en-US" dirty="0"/>
              <a: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6C7F58-306D-E658-69EC-00881D5C09AB}"/>
                  </a:ext>
                </a:extLst>
              </p:cNvPr>
              <p:cNvSpPr txBox="1"/>
              <p:nvPr/>
            </p:nvSpPr>
            <p:spPr>
              <a:xfrm>
                <a:off x="6096000" y="1223466"/>
                <a:ext cx="5816657" cy="4893647"/>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r>
                  <a:rPr lang="en-US" sz="2400" dirty="0"/>
                  <a:t># of items in the list</a:t>
                </a:r>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r>
                  <a:rPr lang="en-US" sz="2400" dirty="0"/>
                  <a:t>Arithmetic ops (+-*/)</a:t>
                </a:r>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different inputs?</a:t>
                </a:r>
              </a:p>
              <a:p>
                <a:pPr marL="285750" indent="-285750">
                  <a:buFont typeface="Arial" panose="020B0604020202020204" pitchFamily="34" charset="0"/>
                  <a:buChar char="•"/>
                </a:pPr>
                <a:r>
                  <a:rPr lang="en-US" sz="2400" dirty="0"/>
                  <a:t>Answer:</a:t>
                </a:r>
              </a:p>
              <a:p>
                <a:pPr marL="742950" lvl="1" indent="-285750">
                  <a:buFont typeface="Arial" panose="020B0604020202020204" pitchFamily="34" charset="0"/>
                  <a:buChar char="•"/>
                </a:pPr>
                <a14:m>
                  <m:oMath xmlns:m="http://schemas.openxmlformats.org/officeDocument/2006/math">
                    <m:r>
                      <a:rPr lang="en-US" sz="2400" b="0" i="1" smtClean="0">
                        <a:latin typeface="Cambria Math" panose="02040503050406030204" pitchFamily="18" charset="0"/>
                      </a:rPr>
                      <m:t>3+2</m:t>
                    </m:r>
                    <m:r>
                      <a:rPr lang="en-US" sz="2400" b="0" i="1" smtClean="0">
                        <a:latin typeface="Cambria Math" panose="02040503050406030204" pitchFamily="18" charset="0"/>
                      </a:rPr>
                      <m:t>𝑛</m:t>
                    </m:r>
                    <m:r>
                      <a:rPr lang="en-US" sz="2400" b="0" i="1" smtClean="0">
                        <a:latin typeface="Cambria Math" panose="02040503050406030204" pitchFamily="18" charset="0"/>
                      </a:rPr>
                      <m:t>+1+2</m:t>
                    </m:r>
                    <m:r>
                      <a:rPr lang="en-US" sz="2400" b="0" i="1" smtClean="0">
                        <a:latin typeface="Cambria Math" panose="02040503050406030204" pitchFamily="18" charset="0"/>
                      </a:rPr>
                      <m:t>𝑛</m:t>
                    </m:r>
                    <m:r>
                      <a:rPr lang="en-US" sz="2400" b="0" i="1" smtClean="0">
                        <a:latin typeface="Cambria Math" panose="02040503050406030204" pitchFamily="18" charset="0"/>
                      </a:rPr>
                      <m:t>=4</m:t>
                    </m:r>
                    <m:r>
                      <a:rPr lang="en-US" sz="2400" b="0" i="1" smtClean="0">
                        <a:latin typeface="Cambria Math" panose="02040503050406030204" pitchFamily="18" charset="0"/>
                      </a:rPr>
                      <m:t>𝑛</m:t>
                    </m:r>
                    <m:r>
                      <a:rPr lang="en-US" sz="2400" b="0" i="1" smtClean="0">
                        <a:latin typeface="Cambria Math" panose="02040503050406030204" pitchFamily="18" charset="0"/>
                      </a:rPr>
                      <m:t>+4</m:t>
                    </m:r>
                  </m:oMath>
                </a14:m>
                <a:endParaRPr lang="en-US" sz="2400" b="0" dirty="0"/>
              </a:p>
              <a:p>
                <a:pPr marL="742950" lvl="1" indent="-285750">
                  <a:buFont typeface="Arial" panose="020B0604020202020204" pitchFamily="34" charset="0"/>
                  <a:buChar char="•"/>
                </a:pPr>
                <a14:m>
                  <m:oMath xmlns:m="http://schemas.openxmlformats.org/officeDocument/2006/math">
                    <m:r>
                      <a:rPr lang="en-US" sz="2400" b="0" i="1" smtClean="0">
                        <a:latin typeface="Cambria Math" panose="02040503050406030204" pitchFamily="18" charset="0"/>
                      </a:rPr>
                      <m:t>𝑂</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a:p>
                <a:pPr marL="285750" indent="-285750">
                  <a:buFont typeface="Arial" panose="020B0604020202020204" pitchFamily="34" charset="0"/>
                  <a:buChar char="•"/>
                </a:pPr>
                <a:endParaRPr lang="en-US" sz="2400" dirty="0"/>
              </a:p>
            </p:txBody>
          </p:sp>
        </mc:Choice>
        <mc:Fallback xmlns="">
          <p:sp>
            <p:nvSpPr>
              <p:cNvPr id="4" name="TextBox 3">
                <a:extLst>
                  <a:ext uri="{FF2B5EF4-FFF2-40B4-BE49-F238E27FC236}">
                    <a16:creationId xmlns:a16="http://schemas.microsoft.com/office/drawing/2014/main" id="{AD6C7F58-306D-E658-69EC-00881D5C09AB}"/>
                  </a:ext>
                </a:extLst>
              </p:cNvPr>
              <p:cNvSpPr txBox="1">
                <a:spLocks noRot="1" noChangeAspect="1" noMove="1" noResize="1" noEditPoints="1" noAdjustHandles="1" noChangeArrowheads="1" noChangeShapeType="1" noTextEdit="1"/>
              </p:cNvSpPr>
              <p:nvPr/>
            </p:nvSpPr>
            <p:spPr>
              <a:xfrm>
                <a:off x="6096000" y="1223466"/>
                <a:ext cx="5816657" cy="4893647"/>
              </a:xfrm>
              <a:prstGeom prst="rect">
                <a:avLst/>
              </a:prstGeom>
              <a:blipFill>
                <a:blip r:embed="rId2"/>
                <a:stretch>
                  <a:fillRect l="-1572" t="-998" r="-524"/>
                </a:stretch>
              </a:blipFill>
            </p:spPr>
            <p:txBody>
              <a:bodyPr/>
              <a:lstStyle/>
              <a:p>
                <a:r>
                  <a:rPr lang="en-US">
                    <a:noFill/>
                  </a:rPr>
                  <a:t> </a:t>
                </a:r>
              </a:p>
            </p:txBody>
          </p:sp>
        </mc:Fallback>
      </mc:AlternateContent>
    </p:spTree>
    <p:extLst>
      <p:ext uri="{BB962C8B-B14F-4D97-AF65-F5344CB8AC3E}">
        <p14:creationId xmlns:p14="http://schemas.microsoft.com/office/powerpoint/2010/main" val="2462038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16DD-36F5-8C12-841E-7550A34136A2}"/>
              </a:ext>
            </a:extLst>
          </p:cNvPr>
          <p:cNvSpPr>
            <a:spLocks noGrp="1"/>
          </p:cNvSpPr>
          <p:nvPr>
            <p:ph type="title"/>
          </p:nvPr>
        </p:nvSpPr>
        <p:spPr>
          <a:xfrm>
            <a:off x="3266440" y="0"/>
            <a:ext cx="8925560" cy="1325563"/>
          </a:xfrm>
        </p:spPr>
        <p:txBody>
          <a:bodyPr/>
          <a:lstStyle/>
          <a:p>
            <a:r>
              <a:rPr lang="en-US" dirty="0"/>
              <a:t>Worst Case Running Time – Example 2</a:t>
            </a:r>
          </a:p>
        </p:txBody>
      </p:sp>
      <p:sp>
        <p:nvSpPr>
          <p:cNvPr id="3" name="Content Placeholder 2">
            <a:extLst>
              <a:ext uri="{FF2B5EF4-FFF2-40B4-BE49-F238E27FC236}">
                <a16:creationId xmlns:a16="http://schemas.microsoft.com/office/drawing/2014/main" id="{C2647DF6-6456-9C6C-709D-BEBF2D0F59A6}"/>
              </a:ext>
            </a:extLst>
          </p:cNvPr>
          <p:cNvSpPr>
            <a:spLocks noGrp="1"/>
          </p:cNvSpPr>
          <p:nvPr>
            <p:ph idx="1"/>
          </p:nvPr>
        </p:nvSpPr>
        <p:spPr>
          <a:xfrm>
            <a:off x="157480" y="1044654"/>
            <a:ext cx="10515600" cy="6451599"/>
          </a:xfrm>
        </p:spPr>
        <p:txBody>
          <a:bodyPr>
            <a:normAutofit/>
          </a:bodyPr>
          <a:lstStyle/>
          <a:p>
            <a:pPr marL="0" indent="0">
              <a:buNone/>
            </a:pPr>
            <a:r>
              <a:rPr lang="en-US" dirty="0" err="1"/>
              <a:t>beAnnoying</a:t>
            </a:r>
            <a:r>
              <a:rPr lang="en-US" dirty="0"/>
              <a:t>(List n){</a:t>
            </a:r>
          </a:p>
          <a:p>
            <a:pPr marL="0" indent="0">
              <a:buNone/>
            </a:pPr>
            <a:r>
              <a:rPr lang="en-US" dirty="0"/>
              <a:t>    List m = [];</a:t>
            </a:r>
          </a:p>
          <a:p>
            <a:pPr marL="0" indent="0">
              <a:buNone/>
            </a:pPr>
            <a:r>
              <a:rPr lang="en-US" dirty="0"/>
              <a:t>    for (</a:t>
            </a:r>
            <a:r>
              <a:rPr lang="en-US" dirty="0" err="1"/>
              <a:t>i</a:t>
            </a:r>
            <a:r>
              <a:rPr lang="en-US" dirty="0"/>
              <a:t>=0; </a:t>
            </a:r>
            <a:r>
              <a:rPr lang="en-US" dirty="0" err="1"/>
              <a:t>i</a:t>
            </a:r>
            <a:r>
              <a:rPr lang="en-US" dirty="0"/>
              <a:t> &lt; </a:t>
            </a:r>
            <a:r>
              <a:rPr lang="en-US" dirty="0" err="1"/>
              <a:t>n.size</a:t>
            </a:r>
            <a:r>
              <a:rPr lang="en-US" dirty="0"/>
              <a:t>(); </a:t>
            </a:r>
            <a:r>
              <a:rPr lang="en-US" dirty="0" err="1"/>
              <a:t>i</a:t>
            </a:r>
            <a:r>
              <a:rPr lang="en-US" dirty="0"/>
              <a:t>++){ </a:t>
            </a:r>
          </a:p>
          <a:p>
            <a:pPr marL="0" indent="0">
              <a:buNone/>
            </a:pPr>
            <a:r>
              <a:rPr lang="en-US" dirty="0"/>
              <a:t>        </a:t>
            </a:r>
            <a:r>
              <a:rPr lang="en-US" dirty="0" err="1"/>
              <a:t>m.add</a:t>
            </a:r>
            <a:r>
              <a:rPr lang="en-US" dirty="0"/>
              <a:t>(n[</a:t>
            </a:r>
            <a:r>
              <a:rPr lang="en-US" dirty="0" err="1"/>
              <a:t>i</a:t>
            </a:r>
            <a:r>
              <a:rPr lang="en-US" dirty="0"/>
              <a:t>]);</a:t>
            </a:r>
          </a:p>
          <a:p>
            <a:pPr marL="0" indent="0">
              <a:buNone/>
            </a:pPr>
            <a:r>
              <a:rPr lang="en-US" dirty="0"/>
              <a:t>        for (j=0; j&lt; </a:t>
            </a:r>
            <a:r>
              <a:rPr lang="en-US" dirty="0" err="1"/>
              <a:t>n.size</a:t>
            </a:r>
            <a:r>
              <a:rPr lang="en-US" dirty="0"/>
              <a:t>(); </a:t>
            </a:r>
            <a:r>
              <a:rPr lang="en-US" dirty="0" err="1"/>
              <a:t>j++</a:t>
            </a:r>
            <a:r>
              <a:rPr lang="en-US" dirty="0"/>
              <a:t>){ </a:t>
            </a:r>
          </a:p>
          <a:p>
            <a:pPr marL="0" indent="0">
              <a:buNone/>
            </a:pPr>
            <a:r>
              <a:rPr lang="en-US" dirty="0"/>
              <a:t>            print (“Hi, I’m annoying”); </a:t>
            </a:r>
          </a:p>
          <a:p>
            <a:pPr marL="0" indent="0">
              <a:buNone/>
            </a:pPr>
            <a:r>
              <a:rPr lang="en-US" dirty="0"/>
              <a:t>        } </a:t>
            </a:r>
          </a:p>
          <a:p>
            <a:pPr marL="0" indent="0">
              <a:buNone/>
            </a:pPr>
            <a:r>
              <a:rPr lang="en-US" dirty="0"/>
              <a:t>    }</a:t>
            </a:r>
          </a:p>
          <a:p>
            <a:pPr marL="0" indent="0">
              <a:buNone/>
            </a:pPr>
            <a:r>
              <a:rPr lang="en-US" dirty="0"/>
              <a:t>}</a:t>
            </a:r>
          </a:p>
        </p:txBody>
      </p:sp>
      <p:sp>
        <p:nvSpPr>
          <p:cNvPr id="4" name="TextBox 3">
            <a:extLst>
              <a:ext uri="{FF2B5EF4-FFF2-40B4-BE49-F238E27FC236}">
                <a16:creationId xmlns:a16="http://schemas.microsoft.com/office/drawing/2014/main" id="{AD6C7F58-306D-E658-69EC-00881D5C09AB}"/>
              </a:ext>
            </a:extLst>
          </p:cNvPr>
          <p:cNvSpPr txBox="1"/>
          <p:nvPr/>
        </p:nvSpPr>
        <p:spPr>
          <a:xfrm>
            <a:off x="6096000" y="1223466"/>
            <a:ext cx="5595058" cy="3785652"/>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the input size?</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541999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5417A-E6C5-87EA-7920-49532B7D2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57A5C-50F3-28D9-983F-194010493941}"/>
              </a:ext>
            </a:extLst>
          </p:cNvPr>
          <p:cNvSpPr>
            <a:spLocks noGrp="1"/>
          </p:cNvSpPr>
          <p:nvPr>
            <p:ph type="title"/>
          </p:nvPr>
        </p:nvSpPr>
        <p:spPr>
          <a:xfrm>
            <a:off x="3266440" y="0"/>
            <a:ext cx="8925560" cy="1325563"/>
          </a:xfrm>
        </p:spPr>
        <p:txBody>
          <a:bodyPr/>
          <a:lstStyle/>
          <a:p>
            <a:r>
              <a:rPr lang="en-US" dirty="0"/>
              <a:t>Worst Case Running Time – Example 2</a:t>
            </a:r>
          </a:p>
        </p:txBody>
      </p:sp>
      <p:sp>
        <p:nvSpPr>
          <p:cNvPr id="3" name="Content Placeholder 2">
            <a:extLst>
              <a:ext uri="{FF2B5EF4-FFF2-40B4-BE49-F238E27FC236}">
                <a16:creationId xmlns:a16="http://schemas.microsoft.com/office/drawing/2014/main" id="{F8E53F75-C222-9FA9-3DC9-6A0B759E3353}"/>
              </a:ext>
            </a:extLst>
          </p:cNvPr>
          <p:cNvSpPr>
            <a:spLocks noGrp="1"/>
          </p:cNvSpPr>
          <p:nvPr>
            <p:ph idx="1"/>
          </p:nvPr>
        </p:nvSpPr>
        <p:spPr>
          <a:xfrm>
            <a:off x="157480" y="1044654"/>
            <a:ext cx="10515600" cy="6451599"/>
          </a:xfrm>
        </p:spPr>
        <p:txBody>
          <a:bodyPr>
            <a:normAutofit/>
          </a:bodyPr>
          <a:lstStyle/>
          <a:p>
            <a:pPr marL="0" indent="0">
              <a:buNone/>
            </a:pPr>
            <a:r>
              <a:rPr lang="en-US" dirty="0" err="1"/>
              <a:t>beAnnoying</a:t>
            </a:r>
            <a:r>
              <a:rPr lang="en-US" dirty="0"/>
              <a:t>(List n){</a:t>
            </a:r>
          </a:p>
          <a:p>
            <a:pPr marL="0" indent="0">
              <a:buNone/>
            </a:pPr>
            <a:r>
              <a:rPr lang="en-US" dirty="0"/>
              <a:t>    List m = [];</a:t>
            </a:r>
          </a:p>
          <a:p>
            <a:pPr marL="0" indent="0">
              <a:buNone/>
            </a:pPr>
            <a:r>
              <a:rPr lang="en-US" dirty="0"/>
              <a:t>    for (</a:t>
            </a:r>
            <a:r>
              <a:rPr lang="en-US" dirty="0" err="1"/>
              <a:t>i</a:t>
            </a:r>
            <a:r>
              <a:rPr lang="en-US" dirty="0"/>
              <a:t>=0; </a:t>
            </a:r>
            <a:r>
              <a:rPr lang="en-US" dirty="0" err="1"/>
              <a:t>i</a:t>
            </a:r>
            <a:r>
              <a:rPr lang="en-US" dirty="0"/>
              <a:t> &lt; </a:t>
            </a:r>
            <a:r>
              <a:rPr lang="en-US" dirty="0" err="1"/>
              <a:t>n.size</a:t>
            </a:r>
            <a:r>
              <a:rPr lang="en-US" dirty="0"/>
              <a:t>(); </a:t>
            </a:r>
            <a:r>
              <a:rPr lang="en-US" dirty="0" err="1"/>
              <a:t>i</a:t>
            </a:r>
            <a:r>
              <a:rPr lang="en-US" dirty="0"/>
              <a:t>++){ // n times</a:t>
            </a:r>
          </a:p>
          <a:p>
            <a:pPr marL="0" indent="0">
              <a:buNone/>
            </a:pPr>
            <a:r>
              <a:rPr lang="en-US" dirty="0"/>
              <a:t>        </a:t>
            </a:r>
            <a:r>
              <a:rPr lang="en-US" dirty="0" err="1"/>
              <a:t>m.add</a:t>
            </a:r>
            <a:r>
              <a:rPr lang="en-US" dirty="0"/>
              <a:t>(n[</a:t>
            </a:r>
            <a:r>
              <a:rPr lang="en-US" dirty="0" err="1"/>
              <a:t>i</a:t>
            </a:r>
            <a:r>
              <a:rPr lang="en-US" dirty="0"/>
              <a:t>]);</a:t>
            </a:r>
          </a:p>
          <a:p>
            <a:pPr marL="0" indent="0">
              <a:buNone/>
            </a:pPr>
            <a:r>
              <a:rPr lang="en-US" dirty="0"/>
              <a:t>        for (j=0; j&lt; </a:t>
            </a:r>
            <a:r>
              <a:rPr lang="en-US" dirty="0" err="1"/>
              <a:t>n.size</a:t>
            </a:r>
            <a:r>
              <a:rPr lang="en-US" dirty="0"/>
              <a:t>(); </a:t>
            </a:r>
            <a:r>
              <a:rPr lang="en-US" dirty="0" err="1"/>
              <a:t>j++</a:t>
            </a:r>
            <a:r>
              <a:rPr lang="en-US" dirty="0"/>
              <a:t>){ // n times</a:t>
            </a:r>
          </a:p>
          <a:p>
            <a:pPr marL="0" indent="0">
              <a:buNone/>
            </a:pPr>
            <a:r>
              <a:rPr lang="en-US" dirty="0"/>
              <a:t>            print (“Hi, I’m annoying”); // 1</a:t>
            </a:r>
          </a:p>
          <a:p>
            <a:pPr marL="0" indent="0">
              <a:buNone/>
            </a:pPr>
            <a:r>
              <a:rPr lang="en-US" dirty="0"/>
              <a:t>        } </a:t>
            </a:r>
          </a:p>
          <a:p>
            <a:pPr marL="0" indent="0">
              <a:buNone/>
            </a:pPr>
            <a:r>
              <a:rPr lang="en-US" dirty="0"/>
              <a:t>    }</a:t>
            </a:r>
          </a:p>
          <a:p>
            <a:pPr marL="0" indent="0">
              <a:buNone/>
            </a:pPr>
            <a:r>
              <a:rPr lang="en-US" dirty="0"/>
              <a: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F431723-5CC5-DB8E-EA72-4108117A5CDA}"/>
                  </a:ext>
                </a:extLst>
              </p:cNvPr>
              <p:cNvSpPr txBox="1"/>
              <p:nvPr/>
            </p:nvSpPr>
            <p:spPr>
              <a:xfrm>
                <a:off x="6096000" y="1223466"/>
                <a:ext cx="5595058" cy="4154984"/>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r>
                  <a:rPr lang="en-US" sz="2400" dirty="0"/>
                  <a:t># items</a:t>
                </a:r>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r>
                  <a:rPr lang="en-US" sz="2400" dirty="0"/>
                  <a:t>Adding or printing</a:t>
                </a:r>
              </a:p>
              <a:p>
                <a:pPr marL="742950" lvl="1" indent="-285750">
                  <a:buFont typeface="Arial" panose="020B0604020202020204" pitchFamily="34" charset="0"/>
                  <a:buChar char="•"/>
                </a:pPr>
                <a:r>
                  <a:rPr lang="en-US" sz="2400" dirty="0"/>
                  <a:t>Printing: </a:t>
                </a:r>
                <a14:m>
                  <m:oMath xmlns:m="http://schemas.openxmlformats.org/officeDocument/2006/math">
                    <m:r>
                      <a:rPr lang="en-US" sz="2400" b="0" i="1" smtClean="0">
                        <a:latin typeface="Cambria Math" panose="02040503050406030204" pitchFamily="18" charset="0"/>
                      </a:rPr>
                      <m:t>𝑂</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e>
                    </m:d>
                  </m:oMath>
                </a14:m>
                <a:endParaRPr lang="en-US" sz="2400" dirty="0"/>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the input size?</a:t>
                </a:r>
              </a:p>
              <a:p>
                <a:pPr marL="285750" indent="-285750">
                  <a:buFont typeface="Arial" panose="020B0604020202020204" pitchFamily="34" charset="0"/>
                  <a:buChar char="•"/>
                </a:pPr>
                <a:endParaRPr lang="en-US" sz="2400" dirty="0"/>
              </a:p>
            </p:txBody>
          </p:sp>
        </mc:Choice>
        <mc:Fallback xmlns="">
          <p:sp>
            <p:nvSpPr>
              <p:cNvPr id="4" name="TextBox 3">
                <a:extLst>
                  <a:ext uri="{FF2B5EF4-FFF2-40B4-BE49-F238E27FC236}">
                    <a16:creationId xmlns:a16="http://schemas.microsoft.com/office/drawing/2014/main" id="{AD6C7F58-306D-E658-69EC-00881D5C09AB}"/>
                  </a:ext>
                </a:extLst>
              </p:cNvPr>
              <p:cNvSpPr txBox="1">
                <a:spLocks noRot="1" noChangeAspect="1" noMove="1" noResize="1" noEditPoints="1" noAdjustHandles="1" noChangeArrowheads="1" noChangeShapeType="1" noTextEdit="1"/>
              </p:cNvSpPr>
              <p:nvPr/>
            </p:nvSpPr>
            <p:spPr>
              <a:xfrm>
                <a:off x="6096000" y="1223466"/>
                <a:ext cx="5595058" cy="4154984"/>
              </a:xfrm>
              <a:prstGeom prst="rect">
                <a:avLst/>
              </a:prstGeom>
              <a:blipFill>
                <a:blip r:embed="rId2"/>
                <a:stretch>
                  <a:fillRect l="-1634" t="-1175" r="-654"/>
                </a:stretch>
              </a:blipFill>
            </p:spPr>
            <p:txBody>
              <a:bodyPr/>
              <a:lstStyle/>
              <a:p>
                <a:r>
                  <a:rPr lang="en-US">
                    <a:noFill/>
                  </a:rPr>
                  <a:t> </a:t>
                </a:r>
              </a:p>
            </p:txBody>
          </p:sp>
        </mc:Fallback>
      </mc:AlternateContent>
    </p:spTree>
    <p:extLst>
      <p:ext uri="{BB962C8B-B14F-4D97-AF65-F5344CB8AC3E}">
        <p14:creationId xmlns:p14="http://schemas.microsoft.com/office/powerpoint/2010/main" val="2940340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CBC43-DD63-2B24-550B-B08D845611D3}"/>
              </a:ext>
            </a:extLst>
          </p:cNvPr>
          <p:cNvSpPr>
            <a:spLocks noGrp="1"/>
          </p:cNvSpPr>
          <p:nvPr>
            <p:ph type="title"/>
          </p:nvPr>
        </p:nvSpPr>
        <p:spPr/>
        <p:txBody>
          <a:bodyPr/>
          <a:lstStyle/>
          <a:p>
            <a:r>
              <a:rPr lang="en-US" dirty="0"/>
              <a:t>Worst Case Running Time – General Guide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06B4E2-CD04-DDD0-E33D-A4B22AE7A8D8}"/>
                  </a:ext>
                </a:extLst>
              </p:cNvPr>
              <p:cNvSpPr>
                <a:spLocks noGrp="1"/>
              </p:cNvSpPr>
              <p:nvPr>
                <p:ph idx="1"/>
              </p:nvPr>
            </p:nvSpPr>
            <p:spPr/>
            <p:txBody>
              <a:bodyPr/>
              <a:lstStyle/>
              <a:p>
                <a:r>
                  <a:rPr lang="en-US" dirty="0"/>
                  <a:t>Add together the time of consecutive statements</a:t>
                </a:r>
              </a:p>
              <a:p>
                <a:r>
                  <a:rPr lang="en-US" dirty="0"/>
                  <a:t>Loops: Sum up the time required through each iteration of the loop</a:t>
                </a:r>
              </a:p>
              <a:p>
                <a:pPr lvl="1"/>
                <a:r>
                  <a:rPr lang="en-US" dirty="0"/>
                  <a:t>If each takes the same time, then [time per loop </a:t>
                </a:r>
                <a14:m>
                  <m:oMath xmlns:m="http://schemas.openxmlformats.org/officeDocument/2006/math">
                    <m:r>
                      <a:rPr lang="en-US" b="0" i="1" smtClean="0">
                        <a:latin typeface="Cambria Math" panose="02040503050406030204" pitchFamily="18" charset="0"/>
                      </a:rPr>
                      <m:t>×</m:t>
                    </m:r>
                  </m:oMath>
                </a14:m>
                <a:r>
                  <a:rPr lang="en-US" dirty="0"/>
                  <a:t> number of iterations]</a:t>
                </a:r>
              </a:p>
              <a:p>
                <a:r>
                  <a:rPr lang="en-US" dirty="0"/>
                  <a:t>Conditionals: Sum together the time to check the condition and time of the slowest branch</a:t>
                </a:r>
              </a:p>
              <a:p>
                <a:r>
                  <a:rPr lang="en-US" dirty="0"/>
                  <a:t>Function Calls: Time of the function’s body</a:t>
                </a:r>
              </a:p>
              <a:p>
                <a:r>
                  <a:rPr lang="en-US" dirty="0"/>
                  <a:t>Recursion: Solve a </a:t>
                </a:r>
                <a:r>
                  <a:rPr lang="en-US" dirty="0">
                    <a:solidFill>
                      <a:srgbClr val="FF0000"/>
                    </a:solidFill>
                  </a:rPr>
                  <a:t>recurrence relation</a:t>
                </a:r>
              </a:p>
              <a:p>
                <a:endParaRPr lang="en-US" dirty="0"/>
              </a:p>
            </p:txBody>
          </p:sp>
        </mc:Choice>
        <mc:Fallback xmlns="">
          <p:sp>
            <p:nvSpPr>
              <p:cNvPr id="3" name="Content Placeholder 2">
                <a:extLst>
                  <a:ext uri="{FF2B5EF4-FFF2-40B4-BE49-F238E27FC236}">
                    <a16:creationId xmlns:a16="http://schemas.microsoft.com/office/drawing/2014/main" id="{8E06B4E2-CD04-DDD0-E33D-A4B22AE7A8D8}"/>
                  </a:ext>
                </a:extLst>
              </p:cNvPr>
              <p:cNvSpPr>
                <a:spLocks noGrp="1" noRot="1" noChangeAspect="1" noMove="1" noResize="1" noEditPoints="1" noAdjustHandles="1" noChangeArrowheads="1" noChangeShapeType="1" noTextEdit="1"/>
              </p:cNvSpPr>
              <p:nvPr>
                <p:ph idx="1"/>
              </p:nvPr>
            </p:nvSpPr>
            <p:spPr>
              <a:blipFill>
                <a:blip r:embed="rId2"/>
                <a:stretch>
                  <a:fillRect l="-1043" t="-2241" r="-116"/>
                </a:stretch>
              </a:blipFill>
            </p:spPr>
            <p:txBody>
              <a:bodyPr/>
              <a:lstStyle/>
              <a:p>
                <a:r>
                  <a:rPr lang="en-US">
                    <a:noFill/>
                  </a:rPr>
                  <a:t> </a:t>
                </a:r>
              </a:p>
            </p:txBody>
          </p:sp>
        </mc:Fallback>
      </mc:AlternateContent>
    </p:spTree>
    <p:extLst>
      <p:ext uri="{BB962C8B-B14F-4D97-AF65-F5344CB8AC3E}">
        <p14:creationId xmlns:p14="http://schemas.microsoft.com/office/powerpoint/2010/main" val="2483398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0106B-E7F2-6AC4-0CEB-263B34D0A085}"/>
              </a:ext>
            </a:extLst>
          </p:cNvPr>
          <p:cNvSpPr>
            <a:spLocks noGrp="1"/>
          </p:cNvSpPr>
          <p:nvPr>
            <p:ph type="title"/>
          </p:nvPr>
        </p:nvSpPr>
        <p:spPr/>
        <p:txBody>
          <a:bodyPr/>
          <a:lstStyle/>
          <a:p>
            <a:r>
              <a:rPr lang="en-US" dirty="0"/>
              <a:t>Defining your running time function</a:t>
            </a:r>
          </a:p>
        </p:txBody>
      </p:sp>
      <p:sp>
        <p:nvSpPr>
          <p:cNvPr id="3" name="Content Placeholder 2">
            <a:extLst>
              <a:ext uri="{FF2B5EF4-FFF2-40B4-BE49-F238E27FC236}">
                <a16:creationId xmlns:a16="http://schemas.microsoft.com/office/drawing/2014/main" id="{0D8B7D0D-89C1-85CB-26AE-4351C262A7BA}"/>
              </a:ext>
            </a:extLst>
          </p:cNvPr>
          <p:cNvSpPr>
            <a:spLocks noGrp="1"/>
          </p:cNvSpPr>
          <p:nvPr>
            <p:ph idx="1"/>
          </p:nvPr>
        </p:nvSpPr>
        <p:spPr>
          <a:xfrm>
            <a:off x="838199" y="1825625"/>
            <a:ext cx="10850217" cy="4351338"/>
          </a:xfrm>
        </p:spPr>
        <p:txBody>
          <a:bodyPr>
            <a:normAutofit/>
          </a:bodyPr>
          <a:lstStyle/>
          <a:p>
            <a:r>
              <a:rPr lang="en-US" dirty="0"/>
              <a:t>Worst-case complexity: </a:t>
            </a:r>
          </a:p>
          <a:p>
            <a:pPr lvl="1"/>
            <a:r>
              <a:rPr lang="en-US" dirty="0"/>
              <a:t>max number of steps algorithm takes on “most challenging” input </a:t>
            </a:r>
          </a:p>
          <a:p>
            <a:r>
              <a:rPr lang="en-US" dirty="0"/>
              <a:t>Best-case complexity: </a:t>
            </a:r>
          </a:p>
          <a:p>
            <a:pPr lvl="1"/>
            <a:r>
              <a:rPr lang="en-US" dirty="0"/>
              <a:t>min number of steps algorithm takes on “easiest” input </a:t>
            </a:r>
          </a:p>
          <a:p>
            <a:r>
              <a:rPr lang="en-US" dirty="0"/>
              <a:t>Average/expected complexity: </a:t>
            </a:r>
          </a:p>
          <a:p>
            <a:pPr lvl="1"/>
            <a:r>
              <a:rPr lang="en-US" dirty="0"/>
              <a:t>avg number of steps algorithm takes on random inputs (distribution-dependent) </a:t>
            </a:r>
          </a:p>
          <a:p>
            <a:r>
              <a:rPr lang="en-US" dirty="0"/>
              <a:t>Amortized complexity: </a:t>
            </a:r>
          </a:p>
          <a:p>
            <a:pPr lvl="1"/>
            <a:r>
              <a:rPr lang="en-US" dirty="0"/>
              <a:t>max total number of steps algorithm takes on M “most challenging” consecutive inputs, divided by M (i.e., divide the max total sum by M).</a:t>
            </a:r>
          </a:p>
        </p:txBody>
      </p:sp>
    </p:spTree>
    <p:extLst>
      <p:ext uri="{BB962C8B-B14F-4D97-AF65-F5344CB8AC3E}">
        <p14:creationId xmlns:p14="http://schemas.microsoft.com/office/powerpoint/2010/main" val="545482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9A94-1220-2804-63AB-870822DBD0D0}"/>
              </a:ext>
            </a:extLst>
          </p:cNvPr>
          <p:cNvSpPr>
            <a:spLocks noGrp="1"/>
          </p:cNvSpPr>
          <p:nvPr>
            <p:ph type="title"/>
          </p:nvPr>
        </p:nvSpPr>
        <p:spPr/>
        <p:txBody>
          <a:bodyPr/>
          <a:lstStyle/>
          <a:p>
            <a:r>
              <a:rPr lang="en-US" dirty="0"/>
              <a:t>Amortized Complexity Example - </a:t>
            </a:r>
            <a:r>
              <a:rPr lang="en-US" dirty="0" err="1"/>
              <a:t>ArrayList</a:t>
            </a:r>
            <a:endParaRPr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5840F2-52BA-DB0C-15EC-2298E887A62B}"/>
                  </a:ext>
                </a:extLst>
              </p:cNvPr>
              <p:cNvSpPr>
                <a:spLocks noGrp="1"/>
              </p:cNvSpPr>
              <p:nvPr>
                <p:ph sz="half" idx="2"/>
              </p:nvPr>
            </p:nvSpPr>
            <p:spPr/>
            <p:txBody>
              <a:bodyPr>
                <a:normAutofit/>
              </a:bodyPr>
              <a:lstStyle/>
              <a:p>
                <a:r>
                  <a:rPr lang="en-US" dirty="0"/>
                  <a:t>What is the worst case running time of add?</a:t>
                </a:r>
              </a:p>
              <a:p>
                <a:pPr lvl="1"/>
                <a:r>
                  <a:rPr lang="en-US" dirty="0"/>
                  <a:t>Input size: size of “this”</a:t>
                </a:r>
              </a:p>
              <a:p>
                <a:pPr lvl="1"/>
                <a:r>
                  <a:rPr lang="en-US" dirty="0"/>
                  <a:t>Operations counted: indexing</a:t>
                </a:r>
              </a:p>
              <a:p>
                <a:pPr lvl="1"/>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p:txBody>
          </p:sp>
        </mc:Choice>
        <mc:Fallback xmlns="">
          <p:sp>
            <p:nvSpPr>
              <p:cNvPr id="4" name="Content Placeholder 3">
                <a:extLst>
                  <a:ext uri="{FF2B5EF4-FFF2-40B4-BE49-F238E27FC236}">
                    <a16:creationId xmlns:a16="http://schemas.microsoft.com/office/drawing/2014/main" id="{015840F2-52BA-DB0C-15EC-2298E887A62B}"/>
                  </a:ext>
                </a:extLst>
              </p:cNvPr>
              <p:cNvSpPr>
                <a:spLocks noGrp="1" noRot="1" noChangeAspect="1" noMove="1" noResize="1" noEditPoints="1" noAdjustHandles="1" noChangeArrowheads="1" noChangeShapeType="1" noTextEdit="1"/>
              </p:cNvSpPr>
              <p:nvPr>
                <p:ph sz="half" idx="2"/>
              </p:nvPr>
            </p:nvSpPr>
            <p:spPr>
              <a:blipFill>
                <a:blip r:embed="rId2"/>
                <a:stretch>
                  <a:fillRect l="-2118" t="-2241"/>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EBE0DF2B-2C50-08CC-5BA6-B5A1FBAD4B25}"/>
              </a:ext>
            </a:extLst>
          </p:cNvPr>
          <p:cNvSpPr>
            <a:spLocks noGrp="1"/>
          </p:cNvSpPr>
          <p:nvPr>
            <p:ph sz="half" idx="1"/>
          </p:nvPr>
        </p:nvSpPr>
        <p:spPr>
          <a:xfrm>
            <a:off x="349135" y="1825625"/>
            <a:ext cx="5670665" cy="4667250"/>
          </a:xfrm>
        </p:spPr>
        <p:txBody>
          <a:bodyPr>
            <a:normAutofit/>
          </a:bodyPr>
          <a:lstStyle/>
          <a:p>
            <a:pPr marL="0" indent="0">
              <a:buNone/>
            </a:pPr>
            <a:r>
              <a:rPr lang="en-US" sz="1600" b="0" dirty="0">
                <a:solidFill>
                  <a:srgbClr val="0000FF"/>
                </a:solidFill>
                <a:effectLst/>
                <a:highlight>
                  <a:srgbClr val="FFFFFF"/>
                </a:highlight>
                <a:latin typeface="Consolas" panose="020B0609020204030204" pitchFamily="49" charset="0"/>
              </a:rPr>
              <a:t>public</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void</a:t>
            </a:r>
            <a:r>
              <a:rPr lang="en-US" sz="1600" b="0" dirty="0">
                <a:solidFill>
                  <a:srgbClr val="000000"/>
                </a:solidFill>
                <a:effectLst/>
                <a:highlight>
                  <a:srgbClr val="FFFFFF"/>
                </a:highlight>
                <a:latin typeface="Consolas" panose="020B0609020204030204" pitchFamily="49" charset="0"/>
              </a:rPr>
              <a:t> add(</a:t>
            </a:r>
            <a:r>
              <a:rPr lang="en-US" sz="1600" dirty="0">
                <a:solidFill>
                  <a:srgbClr val="0000FF"/>
                </a:solidFill>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value){</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data.length</a:t>
            </a:r>
            <a:r>
              <a:rPr lang="en-US" sz="1600" b="0" dirty="0">
                <a:solidFill>
                  <a:srgbClr val="000000"/>
                </a:solidFill>
                <a:effectLst/>
                <a:highlight>
                  <a:srgbClr val="FFFFFF"/>
                </a:highlight>
                <a:latin typeface="Consolas" panose="020B0609020204030204" pitchFamily="49" charset="0"/>
              </a:rPr>
              <a:t> == size)</a:t>
            </a:r>
          </a:p>
          <a:p>
            <a:pPr marL="0" indent="0">
              <a:buNone/>
            </a:pPr>
            <a:r>
              <a:rPr lang="en-US" sz="1600" b="0" dirty="0">
                <a:solidFill>
                  <a:srgbClr val="000000"/>
                </a:solidFill>
                <a:effectLst/>
                <a:highlight>
                  <a:srgbClr val="FFFFFF"/>
                </a:highlight>
                <a:latin typeface="Consolas" panose="020B0609020204030204" pitchFamily="49" charset="0"/>
              </a:rPr>
              <a:t>        resize();</a:t>
            </a:r>
          </a:p>
          <a:p>
            <a:pPr marL="0" indent="0">
              <a:buNone/>
            </a:pPr>
            <a:r>
              <a:rPr lang="en-US" sz="1600" b="0" dirty="0">
                <a:solidFill>
                  <a:srgbClr val="000000"/>
                </a:solidFill>
                <a:effectLst/>
                <a:highlight>
                  <a:srgbClr val="FFFFFF"/>
                </a:highlight>
                <a:latin typeface="Consolas" panose="020B0609020204030204" pitchFamily="49" charset="0"/>
              </a:rPr>
              <a:t>    data[size] = value;</a:t>
            </a:r>
          </a:p>
          <a:p>
            <a:pPr marL="0" indent="0">
              <a:buNone/>
            </a:pPr>
            <a:r>
              <a:rPr lang="en-US" sz="1600" b="0" dirty="0">
                <a:solidFill>
                  <a:srgbClr val="000000"/>
                </a:solidFill>
                <a:effectLst/>
                <a:highlight>
                  <a:srgbClr val="FFFFFF"/>
                </a:highlight>
                <a:latin typeface="Consolas" panose="020B0609020204030204" pitchFamily="49" charset="0"/>
              </a:rPr>
              <a:t>    size++;</a:t>
            </a:r>
          </a:p>
          <a:p>
            <a:pPr marL="0" indent="0">
              <a:buNone/>
            </a:pPr>
            <a:r>
              <a:rPr lang="en-US" sz="1600" b="0" dirty="0">
                <a:solidFill>
                  <a:srgbClr val="000000"/>
                </a:solidFill>
                <a:effectLst/>
                <a:highlight>
                  <a:srgbClr val="FFFFFF"/>
                </a:highlight>
                <a:latin typeface="Consolas" panose="020B0609020204030204" pitchFamily="49" charset="0"/>
              </a:rPr>
              <a:t>}</a:t>
            </a:r>
            <a:endParaRPr lang="en-US" sz="1600" dirty="0">
              <a:solidFill>
                <a:srgbClr val="0000FF"/>
              </a:solidFill>
              <a:latin typeface="Consolas" panose="020B0609020204030204" pitchFamily="49" charset="0"/>
            </a:endParaRPr>
          </a:p>
          <a:p>
            <a:pPr marL="0" indent="0">
              <a:buNone/>
            </a:pPr>
            <a:r>
              <a:rPr lang="en-US" sz="1600" b="0" dirty="0">
                <a:solidFill>
                  <a:srgbClr val="0000FF"/>
                </a:solidFill>
                <a:effectLst/>
                <a:latin typeface="Consolas" panose="020B0609020204030204" pitchFamily="49" charset="0"/>
              </a:rPr>
              <a:t>private</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resize(){</a:t>
            </a:r>
          </a:p>
          <a:p>
            <a:pPr marL="0" indent="0">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oldData</a:t>
            </a:r>
            <a:r>
              <a:rPr lang="en-US" sz="1600" b="0" dirty="0">
                <a:solidFill>
                  <a:srgbClr val="000000"/>
                </a:solidFill>
                <a:effectLst/>
                <a:latin typeface="Consolas" panose="020B0609020204030204" pitchFamily="49" charset="0"/>
              </a:rPr>
              <a:t> = data;</a:t>
            </a:r>
          </a:p>
          <a:p>
            <a:pPr marL="0" indent="0">
              <a:buNone/>
            </a:pPr>
            <a:r>
              <a:rPr lang="en-US" sz="1600" b="0" dirty="0">
                <a:solidFill>
                  <a:srgbClr val="000000"/>
                </a:solidFill>
                <a:effectLst/>
                <a:latin typeface="Consolas" panose="020B0609020204030204" pitchFamily="49" charset="0"/>
              </a:rPr>
              <a:t>    data = </a:t>
            </a:r>
            <a:r>
              <a:rPr lang="en-US" sz="1600" b="0" dirty="0">
                <a:solidFill>
                  <a:srgbClr val="0000FF"/>
                </a:solidFill>
                <a:effectLst/>
                <a:latin typeface="Consolas" panose="020B0609020204030204" pitchFamily="49" charset="0"/>
              </a:rPr>
              <a:t>new int</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data.length</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err="1">
                <a:solidFill>
                  <a:srgbClr val="000000"/>
                </a:solidFill>
                <a:effectLst/>
                <a:latin typeface="Consolas" panose="020B0609020204030204" pitchFamily="49" charset="0"/>
              </a:rPr>
              <a:t>oldData.length</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data[</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oldData</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a:t>
            </a:r>
            <a:endParaRPr lang="en-US" sz="1600" dirty="0"/>
          </a:p>
        </p:txBody>
      </p:sp>
    </p:spTree>
    <p:extLst>
      <p:ext uri="{BB962C8B-B14F-4D97-AF65-F5344CB8AC3E}">
        <p14:creationId xmlns:p14="http://schemas.microsoft.com/office/powerpoint/2010/main" val="11585666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959D7957-B208-5E47-448C-922F4E81772F}"/>
              </a:ext>
            </a:extLst>
          </p:cNvPr>
          <p:cNvSpPr>
            <a:spLocks noGrp="1"/>
          </p:cNvSpPr>
          <p:nvPr>
            <p:ph sz="half" idx="1"/>
          </p:nvPr>
        </p:nvSpPr>
        <p:spPr>
          <a:xfrm>
            <a:off x="349135" y="1825625"/>
            <a:ext cx="5670665" cy="4667250"/>
          </a:xfrm>
        </p:spPr>
        <p:txBody>
          <a:bodyPr>
            <a:normAutofit/>
          </a:bodyPr>
          <a:lstStyle/>
          <a:p>
            <a:pPr marL="0" indent="0">
              <a:buNone/>
            </a:pPr>
            <a:r>
              <a:rPr lang="en-US" sz="1600" dirty="0">
                <a:solidFill>
                  <a:srgbClr val="0000FF"/>
                </a:solidFill>
                <a:highlight>
                  <a:srgbClr val="FFFFFF"/>
                </a:highlight>
                <a:latin typeface="Consolas" panose="020B0609020204030204" pitchFamily="49" charset="0"/>
              </a:rPr>
              <a:t>public</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void</a:t>
            </a:r>
            <a:r>
              <a:rPr lang="en-US" sz="1600" dirty="0">
                <a:solidFill>
                  <a:srgbClr val="000000"/>
                </a:solidFill>
                <a:highlight>
                  <a:srgbClr val="FFFFFF"/>
                </a:highlight>
                <a:latin typeface="Consolas" panose="020B0609020204030204" pitchFamily="49" charset="0"/>
              </a:rPr>
              <a:t> add(</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value){</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if</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data.length</a:t>
            </a:r>
            <a:r>
              <a:rPr lang="en-US" sz="1600" dirty="0">
                <a:solidFill>
                  <a:srgbClr val="000000"/>
                </a:solidFill>
                <a:highlight>
                  <a:srgbClr val="FFFFFF"/>
                </a:highlight>
                <a:latin typeface="Consolas" panose="020B0609020204030204" pitchFamily="49" charset="0"/>
              </a:rPr>
              <a:t> == size)</a:t>
            </a:r>
          </a:p>
          <a:p>
            <a:pPr marL="0" indent="0">
              <a:buNone/>
            </a:pPr>
            <a:r>
              <a:rPr lang="en-US" sz="1600" dirty="0">
                <a:solidFill>
                  <a:srgbClr val="000000"/>
                </a:solidFill>
                <a:highlight>
                  <a:srgbClr val="FFFFFF"/>
                </a:highlight>
                <a:latin typeface="Consolas" panose="020B0609020204030204" pitchFamily="49" charset="0"/>
              </a:rPr>
              <a:t>        resize();</a:t>
            </a:r>
          </a:p>
          <a:p>
            <a:pPr marL="0" indent="0">
              <a:buNone/>
            </a:pPr>
            <a:r>
              <a:rPr lang="en-US" sz="1600" dirty="0">
                <a:solidFill>
                  <a:srgbClr val="000000"/>
                </a:solidFill>
                <a:highlight>
                  <a:srgbClr val="FFFFFF"/>
                </a:highlight>
                <a:latin typeface="Consolas" panose="020B0609020204030204" pitchFamily="49" charset="0"/>
              </a:rPr>
              <a:t>    data[size] = value;</a:t>
            </a:r>
          </a:p>
          <a:p>
            <a:pPr marL="0" indent="0">
              <a:buNone/>
            </a:pPr>
            <a:r>
              <a:rPr lang="en-US" sz="1600" dirty="0">
                <a:solidFill>
                  <a:srgbClr val="000000"/>
                </a:solidFill>
                <a:highlight>
                  <a:srgbClr val="FFFFFF"/>
                </a:highlight>
                <a:latin typeface="Consolas" panose="020B0609020204030204" pitchFamily="49" charset="0"/>
              </a:rPr>
              <a:t>    size++;</a:t>
            </a:r>
          </a:p>
          <a:p>
            <a:pPr marL="0" indent="0">
              <a:buNone/>
            </a:pPr>
            <a:r>
              <a:rPr lang="en-US" sz="1600" dirty="0">
                <a:solidFill>
                  <a:srgbClr val="000000"/>
                </a:solidFill>
                <a:highlight>
                  <a:srgbClr val="FFFFFF"/>
                </a:highlight>
                <a:latin typeface="Consolas" panose="020B0609020204030204" pitchFamily="49" charset="0"/>
              </a:rPr>
              <a:t>}</a:t>
            </a:r>
            <a:endParaRPr lang="en-US" sz="1600" dirty="0">
              <a:solidFill>
                <a:srgbClr val="0000FF"/>
              </a:solidFill>
              <a:highlight>
                <a:srgbClr val="FFFFFF"/>
              </a:highlight>
              <a:latin typeface="Consolas" panose="020B0609020204030204" pitchFamily="49" charset="0"/>
            </a:endParaRPr>
          </a:p>
          <a:p>
            <a:pPr marL="0" indent="0">
              <a:buNone/>
            </a:pPr>
            <a:r>
              <a:rPr lang="en-US" sz="1600" dirty="0">
                <a:solidFill>
                  <a:srgbClr val="0000FF"/>
                </a:solidFill>
                <a:highlight>
                  <a:srgbClr val="FFFFFF"/>
                </a:highlight>
                <a:latin typeface="Consolas" panose="020B0609020204030204" pitchFamily="49" charset="0"/>
              </a:rPr>
              <a:t>private</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void</a:t>
            </a:r>
            <a:r>
              <a:rPr lang="en-US" sz="1600" dirty="0">
                <a:solidFill>
                  <a:srgbClr val="000000"/>
                </a:solidFill>
                <a:highlight>
                  <a:srgbClr val="FFFFFF"/>
                </a:highlight>
                <a:latin typeface="Consolas" panose="020B0609020204030204" pitchFamily="49" charset="0"/>
              </a:rPr>
              <a:t> resize(){</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oldData</a:t>
            </a:r>
            <a:r>
              <a:rPr lang="en-US" sz="1600" dirty="0">
                <a:solidFill>
                  <a:srgbClr val="000000"/>
                </a:solidFill>
                <a:highlight>
                  <a:srgbClr val="FFFFFF"/>
                </a:highlight>
                <a:latin typeface="Consolas" panose="020B0609020204030204" pitchFamily="49" charset="0"/>
              </a:rPr>
              <a:t> = data;</a:t>
            </a:r>
          </a:p>
          <a:p>
            <a:pPr marL="0" indent="0">
              <a:buNone/>
            </a:pPr>
            <a:r>
              <a:rPr lang="en-US" sz="1600" dirty="0">
                <a:solidFill>
                  <a:srgbClr val="000000"/>
                </a:solidFill>
                <a:highlight>
                  <a:srgbClr val="FFFFFF"/>
                </a:highlight>
                <a:latin typeface="Consolas" panose="020B0609020204030204" pitchFamily="49" charset="0"/>
              </a:rPr>
              <a:t>    data = </a:t>
            </a:r>
            <a:r>
              <a:rPr lang="en-US" sz="1600" dirty="0">
                <a:solidFill>
                  <a:srgbClr val="0000FF"/>
                </a:solidFill>
                <a:highlight>
                  <a:srgbClr val="FFFFFF"/>
                </a:highlight>
                <a:latin typeface="Consolas" panose="020B0609020204030204" pitchFamily="49" charset="0"/>
              </a:rPr>
              <a:t>new int</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data.length</a:t>
            </a:r>
            <a:r>
              <a:rPr lang="en-US" sz="1600" dirty="0">
                <a:solidFill>
                  <a:srgbClr val="000000"/>
                </a:solidFill>
                <a:highlight>
                  <a:srgbClr val="FFFFFF"/>
                </a:highlight>
                <a:latin typeface="Consolas" panose="020B0609020204030204" pitchFamily="49" charset="0"/>
              </a:rPr>
              <a:t>*</a:t>
            </a:r>
            <a:r>
              <a:rPr lang="en-US" sz="1600" dirty="0">
                <a:solidFill>
                  <a:srgbClr val="098658"/>
                </a:solidFill>
                <a:highlight>
                  <a:srgbClr val="FFFFFF"/>
                </a:highlight>
                <a:latin typeface="Consolas" panose="020B0609020204030204" pitchFamily="49" charset="0"/>
              </a:rPr>
              <a:t>2</a:t>
            </a:r>
            <a:r>
              <a:rPr lang="en-US" sz="1600" dirty="0">
                <a:solidFill>
                  <a:srgbClr val="000000"/>
                </a:solidFill>
                <a:highlight>
                  <a:srgbClr val="FFFFFF"/>
                </a:highlight>
                <a:latin typeface="Consolas" panose="020B0609020204030204" pitchFamily="49" charset="0"/>
              </a:rPr>
              <a:t>];</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for</a:t>
            </a:r>
            <a:r>
              <a:rPr lang="en-US" sz="1600" dirty="0">
                <a:solidFill>
                  <a:srgbClr val="000000"/>
                </a:solidFill>
                <a:highlight>
                  <a:srgbClr val="FFFFFF"/>
                </a:highlight>
                <a:latin typeface="Consolas" panose="020B0609020204030204" pitchFamily="49" charset="0"/>
              </a:rPr>
              <a:t>(</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a:t>
            </a:r>
            <a:r>
              <a:rPr lang="en-US" sz="1600" dirty="0">
                <a:solidFill>
                  <a:srgbClr val="098658"/>
                </a:solidFill>
                <a:highlight>
                  <a:srgbClr val="FFFFFF"/>
                </a:highlight>
                <a:latin typeface="Consolas" panose="020B0609020204030204" pitchFamily="49" charset="0"/>
              </a:rPr>
              <a:t>0</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&lt; </a:t>
            </a:r>
            <a:r>
              <a:rPr lang="en-US" sz="1600" dirty="0" err="1">
                <a:solidFill>
                  <a:srgbClr val="000000"/>
                </a:solidFill>
                <a:highlight>
                  <a:srgbClr val="FFFFFF"/>
                </a:highlight>
                <a:latin typeface="Consolas" panose="020B0609020204030204" pitchFamily="49" charset="0"/>
              </a:rPr>
              <a:t>oldData.length</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a:t>
            </a:r>
          </a:p>
          <a:p>
            <a:pPr marL="0" indent="0">
              <a:buNone/>
            </a:pPr>
            <a:r>
              <a:rPr lang="en-US" sz="1600" dirty="0">
                <a:solidFill>
                  <a:srgbClr val="000000"/>
                </a:solidFill>
                <a:highlight>
                  <a:srgbClr val="FFFFFF"/>
                </a:highlight>
                <a:latin typeface="Consolas" panose="020B0609020204030204" pitchFamily="49" charset="0"/>
              </a:rPr>
              <a:t>        data[</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a:t>
            </a:r>
            <a:r>
              <a:rPr lang="en-US" sz="1600" dirty="0" err="1">
                <a:solidFill>
                  <a:srgbClr val="000000"/>
                </a:solidFill>
                <a:highlight>
                  <a:srgbClr val="FFFFFF"/>
                </a:highlight>
                <a:latin typeface="Consolas" panose="020B0609020204030204" pitchFamily="49" charset="0"/>
              </a:rPr>
              <a:t>oldData</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a:t>
            </a:r>
          </a:p>
          <a:p>
            <a:pPr marL="0" indent="0">
              <a:buNone/>
            </a:pPr>
            <a:r>
              <a:rPr lang="en-US" sz="1600" dirty="0">
                <a:solidFill>
                  <a:srgbClr val="000000"/>
                </a:solidFill>
                <a:highlight>
                  <a:srgbClr val="FFFFFF"/>
                </a:highlight>
                <a:latin typeface="Consolas" panose="020B0609020204030204" pitchFamily="49" charset="0"/>
              </a:rPr>
              <a:t>}</a:t>
            </a:r>
            <a:endParaRPr lang="en-US" sz="1600" dirty="0">
              <a:highlight>
                <a:srgbClr val="FFFFFF"/>
              </a:highlight>
            </a:endParaRPr>
          </a:p>
        </p:txBody>
      </p:sp>
      <p:sp>
        <p:nvSpPr>
          <p:cNvPr id="2" name="Title 1">
            <a:extLst>
              <a:ext uri="{FF2B5EF4-FFF2-40B4-BE49-F238E27FC236}">
                <a16:creationId xmlns:a16="http://schemas.microsoft.com/office/drawing/2014/main" id="{22E69A94-1220-2804-63AB-870822DBD0D0}"/>
              </a:ext>
            </a:extLst>
          </p:cNvPr>
          <p:cNvSpPr>
            <a:spLocks noGrp="1"/>
          </p:cNvSpPr>
          <p:nvPr>
            <p:ph type="title"/>
          </p:nvPr>
        </p:nvSpPr>
        <p:spPr/>
        <p:txBody>
          <a:bodyPr/>
          <a:lstStyle/>
          <a:p>
            <a:r>
              <a:rPr lang="en-US" dirty="0"/>
              <a:t>Amortized Complexity Example - </a:t>
            </a:r>
            <a:r>
              <a:rPr lang="en-US" dirty="0" err="1"/>
              <a:t>ArrayList</a:t>
            </a:r>
            <a:endParaRPr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5840F2-52BA-DB0C-15EC-2298E887A62B}"/>
                  </a:ext>
                </a:extLst>
              </p:cNvPr>
              <p:cNvSpPr>
                <a:spLocks noGrp="1"/>
              </p:cNvSpPr>
              <p:nvPr>
                <p:ph sz="half" idx="2"/>
              </p:nvPr>
            </p:nvSpPr>
            <p:spPr/>
            <p:txBody>
              <a:bodyPr>
                <a:normAutofit/>
              </a:bodyPr>
              <a:lstStyle/>
              <a:p>
                <a:r>
                  <a:rPr lang="en-US" dirty="0"/>
                  <a:t>Amortized Analysis Idea:</a:t>
                </a:r>
              </a:p>
              <a:p>
                <a:pPr lvl="1"/>
                <a:r>
                  <a:rPr lang="en-US" dirty="0"/>
                  <a:t>Suppose we have a program that in total does </a:t>
                </a:r>
                <a14:m>
                  <m:oMath xmlns:m="http://schemas.openxmlformats.org/officeDocument/2006/math">
                    <m:r>
                      <a:rPr lang="en-US" b="0" i="1" smtClean="0">
                        <a:latin typeface="Cambria Math" panose="02040503050406030204" pitchFamily="18" charset="0"/>
                      </a:rPr>
                      <m:t>𝑛</m:t>
                    </m:r>
                  </m:oMath>
                </a14:m>
                <a:r>
                  <a:rPr lang="en-US" dirty="0"/>
                  <a:t> adds.</a:t>
                </a:r>
              </a:p>
              <a:p>
                <a:pPr lvl="1"/>
                <a:r>
                  <a:rPr lang="en-US" dirty="0"/>
                  <a:t>How much time was spent “on average” across all </a:t>
                </a:r>
                <a14:m>
                  <m:oMath xmlns:m="http://schemas.openxmlformats.org/officeDocument/2006/math">
                    <m:r>
                      <a:rPr lang="en-US" b="0" i="1" smtClean="0">
                        <a:latin typeface="Cambria Math" panose="02040503050406030204" pitchFamily="18" charset="0"/>
                      </a:rPr>
                      <m:t>𝑛</m:t>
                    </m:r>
                  </m:oMath>
                </a14:m>
                <a:r>
                  <a:rPr lang="en-US" dirty="0"/>
                  <a:t>?</a:t>
                </a:r>
              </a:p>
              <a:p>
                <a:r>
                  <a:rPr lang="en-US" dirty="0"/>
                  <a:t>Let </a:t>
                </a:r>
                <a14:m>
                  <m:oMath xmlns:m="http://schemas.openxmlformats.org/officeDocument/2006/math">
                    <m:r>
                      <a:rPr lang="en-US" b="0" i="1" smtClean="0">
                        <a:latin typeface="Cambria Math" panose="02040503050406030204" pitchFamily="18" charset="0"/>
                      </a:rPr>
                      <m:t>𝑐</m:t>
                    </m:r>
                  </m:oMath>
                </a14:m>
                <a:r>
                  <a:rPr lang="en-US" dirty="0"/>
                  <a:t> be the initial size of </a:t>
                </a:r>
                <a:r>
                  <a:rPr lang="en-US" dirty="0">
                    <a:latin typeface="Consolas" panose="020B0609020204030204" pitchFamily="49" charset="0"/>
                  </a:rPr>
                  <a:t>data</a:t>
                </a:r>
              </a:p>
              <a:p>
                <a:pPr lvl="1"/>
                <a:r>
                  <a:rPr lang="en-US" dirty="0"/>
                  <a:t>The first </a:t>
                </a:r>
                <a14:m>
                  <m:oMath xmlns:m="http://schemas.openxmlformats.org/officeDocument/2006/math">
                    <m:r>
                      <a:rPr lang="en-US" b="0" i="1" smtClean="0">
                        <a:latin typeface="Cambria Math" panose="02040503050406030204" pitchFamily="18" charset="0"/>
                      </a:rPr>
                      <m:t>𝑐</m:t>
                    </m:r>
                  </m:oMath>
                </a14:m>
                <a:r>
                  <a:rPr lang="en-US" dirty="0"/>
                  <a:t> adds take: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=2</m:t>
                    </m:r>
                    <m:r>
                      <a:rPr lang="en-US" b="0" i="1" smtClean="0">
                        <a:latin typeface="Cambria Math" panose="02040503050406030204" pitchFamily="18" charset="0"/>
                      </a:rPr>
                      <m:t>𝑐</m:t>
                    </m:r>
                  </m:oMath>
                </a14:m>
                <a:endParaRPr lang="en-US" dirty="0"/>
              </a:p>
              <a:p>
                <a:pPr lvl="1"/>
                <a:r>
                  <a:rPr lang="en-US" dirty="0"/>
                  <a:t>The next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𝑐</m:t>
                    </m:r>
                  </m:oMath>
                </a14:m>
                <a:r>
                  <a:rPr lang="en-US" dirty="0"/>
                  <a:t> adds: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𝑐</m:t>
                    </m:r>
                    <m:r>
                      <a:rPr lang="en-US" b="0" i="1" smtClean="0">
                        <a:latin typeface="Cambria Math" panose="02040503050406030204" pitchFamily="18" charset="0"/>
                      </a:rPr>
                      <m:t>+2</m:t>
                    </m:r>
                    <m:r>
                      <a:rPr lang="en-US" b="0" i="1" smtClean="0">
                        <a:latin typeface="Cambria Math" panose="02040503050406030204" pitchFamily="18" charset="0"/>
                      </a:rPr>
                      <m:t>𝑐</m:t>
                    </m:r>
                    <m:r>
                      <a:rPr lang="en-US" b="0" i="1" smtClean="0">
                        <a:latin typeface="Cambria Math" panose="02040503050406030204" pitchFamily="18" charset="0"/>
                      </a:rPr>
                      <m:t>=4</m:t>
                    </m:r>
                    <m:r>
                      <a:rPr lang="en-US" b="0" i="1" smtClean="0">
                        <a:latin typeface="Cambria Math" panose="02040503050406030204" pitchFamily="18" charset="0"/>
                      </a:rPr>
                      <m:t>𝑐</m:t>
                    </m:r>
                  </m:oMath>
                </a14:m>
                <a:endParaRPr lang="en-US" dirty="0"/>
              </a:p>
              <a:p>
                <a:pPr lvl="1"/>
                <a:r>
                  <a:rPr lang="en-US" dirty="0"/>
                  <a:t>The next </a:t>
                </a:r>
                <a14:m>
                  <m:oMath xmlns:m="http://schemas.openxmlformats.org/officeDocument/2006/math">
                    <m:r>
                      <a:rPr lang="en-US" b="0" i="1" smtClean="0">
                        <a:latin typeface="Cambria Math" panose="02040503050406030204" pitchFamily="18" charset="0"/>
                      </a:rPr>
                      <m:t>4</m:t>
                    </m:r>
                    <m:r>
                      <a:rPr lang="en-US" b="0" i="1" smtClean="0">
                        <a:latin typeface="Cambria Math" panose="02040503050406030204" pitchFamily="18" charset="0"/>
                      </a:rPr>
                      <m:t>𝑐</m:t>
                    </m:r>
                  </m:oMath>
                </a14:m>
                <a:r>
                  <a:rPr lang="en-US" dirty="0"/>
                  <a:t> adds: </a:t>
                </a:r>
                <a14:m>
                  <m:oMath xmlns:m="http://schemas.openxmlformats.org/officeDocument/2006/math">
                    <m:r>
                      <a:rPr lang="en-US" b="0" i="1" smtClean="0">
                        <a:latin typeface="Cambria Math" panose="02040503050406030204" pitchFamily="18" charset="0"/>
                      </a:rPr>
                      <m:t>4</m:t>
                    </m:r>
                    <m:r>
                      <a:rPr lang="en-US" b="0" i="1" smtClean="0">
                        <a:latin typeface="Cambria Math" panose="02040503050406030204" pitchFamily="18" charset="0"/>
                      </a:rPr>
                      <m:t>𝑐</m:t>
                    </m:r>
                    <m:r>
                      <a:rPr lang="en-US" b="0" i="1" smtClean="0">
                        <a:latin typeface="Cambria Math" panose="02040503050406030204" pitchFamily="18" charset="0"/>
                      </a:rPr>
                      <m:t>+4</m:t>
                    </m:r>
                    <m:r>
                      <a:rPr lang="en-US" b="0" i="1" smtClean="0">
                        <a:latin typeface="Cambria Math" panose="02040503050406030204" pitchFamily="18" charset="0"/>
                      </a:rPr>
                      <m:t>𝑐</m:t>
                    </m:r>
                    <m:r>
                      <a:rPr lang="en-US" b="0" i="1" smtClean="0">
                        <a:latin typeface="Cambria Math" panose="02040503050406030204" pitchFamily="18" charset="0"/>
                      </a:rPr>
                      <m:t>=8</m:t>
                    </m:r>
                    <m:r>
                      <a:rPr lang="en-US" b="0" i="1" smtClean="0">
                        <a:latin typeface="Cambria Math" panose="02040503050406030204" pitchFamily="18" charset="0"/>
                      </a:rPr>
                      <m:t>𝑐</m:t>
                    </m:r>
                  </m:oMath>
                </a14:m>
                <a:endParaRPr lang="en-US" dirty="0"/>
              </a:p>
              <a:p>
                <a:pPr lvl="1"/>
                <a:r>
                  <a:rPr lang="en-US" dirty="0"/>
                  <a:t>Overall: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14</m:t>
                        </m:r>
                        <m:r>
                          <a:rPr lang="en-US" b="0" i="1" smtClean="0">
                            <a:latin typeface="Cambria Math" panose="02040503050406030204" pitchFamily="18" charset="0"/>
                          </a:rPr>
                          <m:t>𝑐</m:t>
                        </m:r>
                      </m:num>
                      <m:den>
                        <m:r>
                          <a:rPr lang="en-US" b="0" i="1" smtClean="0">
                            <a:latin typeface="Cambria Math" panose="02040503050406030204" pitchFamily="18" charset="0"/>
                          </a:rPr>
                          <m:t>7</m:t>
                        </m:r>
                        <m:r>
                          <a:rPr lang="en-US" b="0" i="1" smtClean="0">
                            <a:latin typeface="Cambria Math" panose="02040503050406030204" pitchFamily="18" charset="0"/>
                          </a:rPr>
                          <m:t>𝑐</m:t>
                        </m:r>
                      </m:den>
                    </m:f>
                    <m:r>
                      <a:rPr lang="en-US" b="0" i="1" smtClean="0">
                        <a:latin typeface="Cambria Math" panose="02040503050406030204" pitchFamily="18" charset="0"/>
                      </a:rPr>
                      <m:t>=2</m:t>
                    </m:r>
                    <m:r>
                      <a:rPr lang="en-US" b="0" i="1" smtClean="0">
                        <a:latin typeface="Cambria Math" panose="02040503050406030204" pitchFamily="18" charset="0"/>
                      </a:rPr>
                      <m:t>𝑐</m:t>
                    </m:r>
                  </m:oMath>
                </a14:m>
                <a:endParaRPr lang="en-US" dirty="0"/>
              </a:p>
            </p:txBody>
          </p:sp>
        </mc:Choice>
        <mc:Fallback xmlns="">
          <p:sp>
            <p:nvSpPr>
              <p:cNvPr id="4" name="Content Placeholder 3">
                <a:extLst>
                  <a:ext uri="{FF2B5EF4-FFF2-40B4-BE49-F238E27FC236}">
                    <a16:creationId xmlns:a16="http://schemas.microsoft.com/office/drawing/2014/main" id="{015840F2-52BA-DB0C-15EC-2298E887A62B}"/>
                  </a:ext>
                </a:extLst>
              </p:cNvPr>
              <p:cNvSpPr>
                <a:spLocks noGrp="1" noRot="1" noChangeAspect="1" noMove="1" noResize="1" noEditPoints="1" noAdjustHandles="1" noChangeArrowheads="1" noChangeShapeType="1" noTextEdit="1"/>
              </p:cNvSpPr>
              <p:nvPr>
                <p:ph sz="half" idx="2"/>
              </p:nvPr>
            </p:nvSpPr>
            <p:spPr>
              <a:blipFill>
                <a:blip r:embed="rId3"/>
                <a:stretch>
                  <a:fillRect l="-2118" t="-224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6D5D4F1-8370-387D-F6D8-21C5C80D4F42}"/>
              </a:ext>
            </a:extLst>
          </p:cNvPr>
          <p:cNvSpPr txBox="1"/>
          <p:nvPr/>
        </p:nvSpPr>
        <p:spPr>
          <a:xfrm>
            <a:off x="3394362" y="2766559"/>
            <a:ext cx="2975957" cy="923330"/>
          </a:xfrm>
          <a:prstGeom prst="rect">
            <a:avLst/>
          </a:prstGeom>
          <a:noFill/>
          <a:ln>
            <a:solidFill>
              <a:srgbClr val="FF0000"/>
            </a:solidFill>
          </a:ln>
        </p:spPr>
        <p:txBody>
          <a:bodyPr wrap="square" rtlCol="0">
            <a:spAutoFit/>
          </a:bodyPr>
          <a:lstStyle/>
          <a:p>
            <a:r>
              <a:rPr lang="en-US" dirty="0">
                <a:solidFill>
                  <a:srgbClr val="FF0000"/>
                </a:solidFill>
              </a:rPr>
              <a:t>Every time we resize, we earn </a:t>
            </a:r>
            <a:r>
              <a:rPr lang="en-US" dirty="0" err="1">
                <a:solidFill>
                  <a:srgbClr val="FF0000"/>
                </a:solidFill>
                <a:latin typeface="Consolas" panose="020B0609020204030204" pitchFamily="49" charset="0"/>
              </a:rPr>
              <a:t>data.length</a:t>
            </a:r>
            <a:r>
              <a:rPr lang="en-US" dirty="0">
                <a:solidFill>
                  <a:srgbClr val="FF0000"/>
                </a:solidFill>
              </a:rPr>
              <a:t> more adds before the next resize!</a:t>
            </a:r>
          </a:p>
        </p:txBody>
      </p:sp>
      <p:cxnSp>
        <p:nvCxnSpPr>
          <p:cNvPr id="7" name="Straight Arrow Connector 6">
            <a:extLst>
              <a:ext uri="{FF2B5EF4-FFF2-40B4-BE49-F238E27FC236}">
                <a16:creationId xmlns:a16="http://schemas.microsoft.com/office/drawing/2014/main" id="{1CA4A632-C2AC-7864-4F4E-4A5F61D15BA8}"/>
              </a:ext>
            </a:extLst>
          </p:cNvPr>
          <p:cNvCxnSpPr>
            <a:cxnSpLocks/>
            <a:stCxn id="3" idx="2"/>
          </p:cNvCxnSpPr>
          <p:nvPr/>
        </p:nvCxnSpPr>
        <p:spPr>
          <a:xfrm flipH="1">
            <a:off x="4339244" y="3689889"/>
            <a:ext cx="543097" cy="9070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862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37711-2C9F-C400-7B2E-F7113BCCD397}"/>
              </a:ext>
            </a:extLst>
          </p:cNvPr>
          <p:cNvSpPr>
            <a:spLocks noGrp="1"/>
          </p:cNvSpPr>
          <p:nvPr>
            <p:ph type="title"/>
          </p:nvPr>
        </p:nvSpPr>
        <p:spPr/>
        <p:txBody>
          <a:bodyPr/>
          <a:lstStyle/>
          <a:p>
            <a:r>
              <a:rPr lang="en-US" dirty="0"/>
              <a:t>Amortized Analysis Analogy</a:t>
            </a:r>
          </a:p>
        </p:txBody>
      </p:sp>
      <p:sp>
        <p:nvSpPr>
          <p:cNvPr id="3" name="Content Placeholder 2">
            <a:extLst>
              <a:ext uri="{FF2B5EF4-FFF2-40B4-BE49-F238E27FC236}">
                <a16:creationId xmlns:a16="http://schemas.microsoft.com/office/drawing/2014/main" id="{E995483E-FA76-F83C-AF97-9517E9B1D9AB}"/>
              </a:ext>
            </a:extLst>
          </p:cNvPr>
          <p:cNvSpPr>
            <a:spLocks noGrp="1"/>
          </p:cNvSpPr>
          <p:nvPr>
            <p:ph idx="1"/>
          </p:nvPr>
        </p:nvSpPr>
        <p:spPr/>
        <p:txBody>
          <a:bodyPr/>
          <a:lstStyle/>
          <a:p>
            <a:r>
              <a:rPr lang="en-US" dirty="0"/>
              <a:t>Suppose I’d like to park in a lot where they charge $10 per day to park</a:t>
            </a:r>
          </a:p>
          <a:p>
            <a:r>
              <a:rPr lang="en-US" dirty="0"/>
              <a:t>If you are caught in the lot without paying you are given a warning</a:t>
            </a:r>
          </a:p>
          <a:p>
            <a:r>
              <a:rPr lang="en-US" dirty="0"/>
              <a:t>If you get 3 warnings, you are charged a $25 fine, and your warnings reset.</a:t>
            </a:r>
          </a:p>
          <a:p>
            <a:r>
              <a:rPr lang="en-US" dirty="0"/>
              <a:t>Should you actually pay to park?</a:t>
            </a:r>
          </a:p>
          <a:p>
            <a:pPr lvl="1"/>
            <a:r>
              <a:rPr lang="en-US" dirty="0"/>
              <a:t>If you pay every day then you pay an average of $10 per day</a:t>
            </a:r>
          </a:p>
          <a:p>
            <a:pPr lvl="1"/>
            <a:r>
              <a:rPr lang="en-US" dirty="0"/>
              <a:t>If you do not pay then for every three </a:t>
            </a:r>
            <a:r>
              <a:rPr lang="en-US"/>
              <a:t>days parking costs $</a:t>
            </a:r>
            <a:r>
              <a:rPr lang="en-US" dirty="0"/>
              <a:t>0+$0+$25, for an average of $8.33 per day</a:t>
            </a:r>
          </a:p>
          <a:p>
            <a:pPr lvl="2"/>
            <a:r>
              <a:rPr lang="en-US" dirty="0"/>
              <a:t>This is an amortized analysis</a:t>
            </a:r>
          </a:p>
        </p:txBody>
      </p:sp>
    </p:spTree>
    <p:extLst>
      <p:ext uri="{BB962C8B-B14F-4D97-AF65-F5344CB8AC3E}">
        <p14:creationId xmlns:p14="http://schemas.microsoft.com/office/powerpoint/2010/main" val="948737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6971</TotalTime>
  <Words>2684</Words>
  <Application>Microsoft Office PowerPoint</Application>
  <PresentationFormat>Widescreen</PresentationFormat>
  <Paragraphs>440</Paragraphs>
  <Slides>31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Calibri Light</vt:lpstr>
      <vt:lpstr>Consolas</vt:lpstr>
      <vt:lpstr>Cascadia Code</vt:lpstr>
      <vt:lpstr>Cambria Math</vt:lpstr>
      <vt:lpstr>Calibri</vt:lpstr>
      <vt:lpstr>Arial</vt:lpstr>
      <vt:lpstr>Aptos</vt:lpstr>
      <vt:lpstr>Office Theme</vt:lpstr>
      <vt:lpstr>CSE 332 Winter 2026 Lecture 2: Algorithm Analysis pt.1</vt:lpstr>
      <vt:lpstr>Announcements</vt:lpstr>
      <vt:lpstr>Linked Queue Data Structure (Algorithms)</vt:lpstr>
      <vt:lpstr>“Circular” Array Queue (Idea)</vt:lpstr>
      <vt:lpstr>“Circular” Array</vt:lpstr>
      <vt:lpstr>“Circular” Array Queue (Algorithms)</vt:lpstr>
      <vt:lpstr>Resizing “Circular” Array Queue</vt:lpstr>
      <vt:lpstr>Linked List vs. Circular Array</vt:lpstr>
      <vt:lpstr>ADT: Stack</vt:lpstr>
      <vt:lpstr>Motivating Example</vt:lpstr>
      <vt:lpstr>Let’s design an algorithm</vt:lpstr>
      <vt:lpstr>Algorithm Ideas</vt:lpstr>
      <vt:lpstr>My Approach</vt:lpstr>
      <vt:lpstr>End-of-Yarn Finding Algorithm</vt:lpstr>
      <vt:lpstr>Resource Analysis</vt:lpstr>
      <vt:lpstr>Why do resource analysis?</vt:lpstr>
      <vt:lpstr>Process for resource Analysis</vt:lpstr>
      <vt:lpstr>Resource Analysis – Worst Case Running Time</vt:lpstr>
      <vt:lpstr>Resource Analysis – Best Case Running Time</vt:lpstr>
      <vt:lpstr>Resource Analysis – Worst Case Space</vt:lpstr>
      <vt:lpstr>Analysis Process From 123/143</vt:lpstr>
      <vt:lpstr>Analysis Process For Us</vt:lpstr>
      <vt:lpstr>Worst Case Running Time - Example</vt:lpstr>
      <vt:lpstr>Worst Case Running Time - Example</vt:lpstr>
      <vt:lpstr>Worst Case Running Time – Example 2</vt:lpstr>
      <vt:lpstr>Worst Case Running Time – Example 2</vt:lpstr>
      <vt:lpstr>Worst Case Running Time – General Guide</vt:lpstr>
      <vt:lpstr>Defining your running time function</vt:lpstr>
      <vt:lpstr>Amortized Complexity Example - ArrayList</vt:lpstr>
      <vt:lpstr>Amortized Complexity Example - ArrayList</vt:lpstr>
      <vt:lpstr>Amortized Analysis Analogy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57</cp:revision>
  <dcterms:created xsi:type="dcterms:W3CDTF">2023-09-26T20:08:20Z</dcterms:created>
  <dcterms:modified xsi:type="dcterms:W3CDTF">2026-01-08T00:22:09Z</dcterms:modified>
</cp:coreProperties>
</file>