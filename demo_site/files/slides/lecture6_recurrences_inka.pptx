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Lst>
  <p:notesMasterIdLst>
    <p:notesMasterId r:id="rId25"/>
  </p:notesMasterIdLst>
  <p:sldIdLst>
    <p:sldId id="257" r:id="rId4"/>
    <p:sldId id="426" r:id="rId5"/>
    <p:sldId id="453" r:id="rId6"/>
    <p:sldId id="306" r:id="rId7"/>
    <p:sldId id="307" r:id="rId8"/>
    <p:sldId id="455" r:id="rId9"/>
    <p:sldId id="407" r:id="rId10"/>
    <p:sldId id="456" r:id="rId11"/>
    <p:sldId id="457" r:id="rId12"/>
    <p:sldId id="385" r:id="rId13"/>
    <p:sldId id="458" r:id="rId14"/>
    <p:sldId id="465" r:id="rId15"/>
    <p:sldId id="466" r:id="rId16"/>
    <p:sldId id="459" r:id="rId17"/>
    <p:sldId id="460" r:id="rId18"/>
    <p:sldId id="461" r:id="rId19"/>
    <p:sldId id="462" r:id="rId20"/>
    <p:sldId id="463" r:id="rId21"/>
    <p:sldId id="464" r:id="rId22"/>
    <p:sldId id="358" r:id="rId23"/>
    <p:sldId id="357"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64" d="100"/>
          <a:sy n="64" d="100"/>
        </p:scale>
        <p:origin x="712"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0T19:38:34.368"/>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7030A0"/>
    </inkml:brush>
  </inkml:definitions>
  <inkml:trace contextRef="#ctx0" brushRef="#br0">14279 8521 0,'0'0'0,"34"-17"0,60-34 0,25-8 16,27 25-16,24 0 15,35 17 1,34 8-1,0 9-15,94-8 16</inkml:trace>
  <inkml:trace contextRef="#ctx0" brushRef="#br0" timeOffset="17056.66">10225 8470 0,'0'0'0,"0"0"0,0 0 16,0 0-16,0 0 15,-9 0 1,1 0-16,-1 0 15,-16 0 1,-1 0-16,-8 9 16,0-9-1,0 0-15,-1 8 16,18-8 0,0 17-16,-8 9 15,-9 16 1,-9 27-16,-25 50 15,-1 42-15,35-25 32,17-8-32,26 16 15,33-25-15,10-51 16,24-16 0,95-27-1,-9-50-15,-25-35 16,25-34-1,0-8-15,-25-25 16,-43-35 0,-18-25-16,-16 17 0,-51 17 15,-35 34 1,-59 25 0,-103 26-16,-145 9 15</inkml:trace>
  <inkml:trace contextRef="#ctx0" brushRef="#br0" timeOffset="26324.15">13844 9899 0,'0'0'0,"0"0"0,0 0 15,-9 0 1,1-8 0,-9-1-16,-9 1 15,-8-1-15,-26 9 16,-17 9-1,-8 8 1,8 17-16,9 8 16,0 9-1,25 9-15,9-1 16,25 1-16,26-9 16,34-9-1,52-8 1,25-17-16,17-34 15,-8-17 1,-1-17-16,-42-17 16,-34 0-16,-18-8 31,-25-18-31,-34 1 16,-68-18-16,-69 1 15,-136-27 1</inkml:trace>
  <inkml:trace contextRef="#ctx0" brushRef="#br0" timeOffset="28375.12">4652 11507 0,'0'0'0,"0"0"0,0 0 16,0 0-16,0 0 15,0 0 1,0 0-16,0 17 16,34 8-16,51 9 15,103 0 1,93-34-1,121-42-15,67-43 16,26 16 0,-85 35-1</inkml:trace>
  <inkml:trace contextRef="#ctx0" brushRef="#br0" timeOffset="33717.23">10609 10869 0,'0'0'0,"0"0"0,0 0 16,0 0-1,0 0 1,0 0 0,0 0-16,0 0 0,0 0 15,0 0 1,0 0 0,17 0-1,0 0-15,17 0 16,9-9-1,8 1-15,-8-9 16,-9 0-16,-8 0 16,-1 0-1,1 0-15,-18 8 16,1 9 0,-1 0-16,1 0 15,-18 34-15,1 34 31,-18 34-31,-8 26 16,8-26-16,1-17 16,8 0-16,0-8 15,8-9-15,1-9 32,8-8-17,0-8-15,0 8 16,0-26-1</inkml:trace>
  <inkml:trace contextRef="#ctx0" brushRef="#br0" timeOffset="33953.28">10216 11864 0,'0'0'0,"0"8"0,34 26 0,69 17 16,85-17-1,85-51-15,60-51 16,25-25-1</inkml:trace>
  <inkml:trace contextRef="#ctx0" brushRef="#br0" timeOffset="42252.07">8842 13003 0,'0'0'16,"9"0"-16,8 0 0,8 0 15,1 0 1,0 0 0,-9 0-16,-9 0 15,1 0-15,-1 0 16,9 0-1,9 0-15,17 0 16,8-8 0,-8-1-16,-1 1 15,18-1 1,8 1 0,1-1-16,-1 1 15,9-9 1,8 0-16,-25 0 15,-9 8 1,9 9-16,-1 0 0,1 0 31,-9 0-31,18 0 16,-1 0 0,9 9-16,-18-1 15,-7-8 1,24 0-16,-7 9 15,-1-1-15,17-8 16,9 0 0,-17 9-1,-9-9-15,9 0 16,0-9 0,8 1-16,9-1 15,0 1-15,-26-9 16,-8 8-1,0 9-15,-17 0 16,-18 0 0,1 0-1,-9 0-15,-9 0 16,1 0-16,-1 0 16,-8 0-1,0 0 1,0 0-16,0 0 15,0 0 1,0 0-16,-8-25 0,-1-1 31</inkml:trace>
  <inkml:trace contextRef="#ctx0" brushRef="#br0" timeOffset="43865.91">12589 11923 0,'0'0'0,"0"0"0,0 0 16,0 0-16,0 0 15,0 0 1,0-8-16,0-9 16,0-17-1,0-17-15,9-26 16,16 1-1,18 8-15,0 8 16,-9 9 0,-9 17-16,1 8 15,-9 9-15,-9 0 16,1 9 0,0 8-1,-9 0 1,8 17-16,9 43 15,-8 50-15,-1 26 16,-16 9 0,-9-1-16,0-25 15,8-42-15,0-26 16,1-17 0,-1-9-16,1-8 15,-1-8 1,1-1-1,-1-8-15</inkml:trace>
  <inkml:trace contextRef="#ctx0" brushRef="#br0" timeOffset="44062.63">12307 12502 0,'9'0'0,"51"17"0,119 17 0,77-9 16,26-50-1,76-26-15</inkml:trace>
  <inkml:trace contextRef="#ctx0" brushRef="#br0" timeOffset="62307.53">4848 13233 0,'0'0'0,"0"0"0,0 8 0,0 26 15,0 17 1,-9 9-16,-8 42 16,-8 9-1,8-18-15,-1-25 16,18-25 0,0-1-16,18-16 15,-1-1 1,17-16-16,17-1 15,9-16 1,8-9-16,0-9 16,18-16-1,8-1-15,34-8 16,17 0 0,17 9-16,9 8 15,8 17 1,-17 0-16,9 17 15,33 0 1,1 0-16,17 0 16,9 0-1,-1 8-15,9 9 16,0 0 0,9 0-16,-9 9 15,25-9 1,1-9-16,8 1 15,0-1-15,9 1 16,8-1 0,-9 9-1,1 0-15,0 26 16,8 8 0,9-9-16,8 1 15,26-9 1,-35-9-16,1-8 15,0 0 1,-17 9-16,-9-9 16,-9 0-1,1-9-15,-9 1 16,-17-9-16,-17 0 16,0-17-1,-9 8 1,-51 9-16,-25 9 15,-1-1-15,-16-8 16,-18 9 0,-25-1-16,-26 1 15,-17-9 1,-8 0 0,0 0-16,-9-9 15,17-25-15,9-8 16,-1-18-1,-16-16-15,8-9 16,0-17 0,-8 8-1,-1 18-15,-8 8 16,0 0-16,-8-1 16,0 18-1,-1 17 1,-8 0-16,0-8 15,0 8-15,-8 0 16,-1 0 0,-25 8-16,-9-8 15,-8 9 1,-9 8 0,-17 8-16,1 1 15,-18 8 1,-17-9-16,25 1 15,1-1 1,0-8-16,-26-8 16,-34-1-16,-9 9 15,17 9 1,-50-1 0,-10 1-16,44 8 15,-52-9 1,-8 9-16,42 0 15,-25 0 1,-1 0-16,9 0 16,1 0-1,16 0-15,17 9 16,-25-1-16,0 1 16,8-1-1,-25 9 1,-9 0-1,-8 0-15,8 9 16,26-1-16,-43 18 16,0-1-1,43-16 1,-18-9-16,1 0 16,-9-9-16,9 1 15,42-1 1,-25-16-16,-17 8 15,8 0 1,-25 0-16,8 0 16,25 0-1,-41 0 1,-10 8-16,-16 1 16,-9 8-1,-18 0-15,1-9 0,9 1 31,-1-9-31,9-9 16,-9-16 0,1-1-16,-9 9 15,-9 0 1,-8 17-16,17-8 16,-77-9-1</inkml:trace>
  <inkml:trace contextRef="#ctx0" brushRef="#br0" timeOffset="108924.24">19630 9840 0,'0'0'0,"0"0"0,0 0 0,0 0 0,9 17 0,8 34 15,0 25-15,-8 9 0,-1 0 16,-25 34-1,0 51-15,-9-8 16,9-34 0,0 16-1,0-8 1,0-42-16,0-26 16,17-34-1</inkml:trace>
  <inkml:trace contextRef="#ctx0" brushRef="#br0" timeOffset="109467.34">18777 9840 0,'0'0'0,"0"0"0,0 0 16,0 0-16,17-9 15,26 1 1,25-9 0,51-9-16,44-8 15,-1-8 1,0-1 0,0 9-16,-8 9 15,-35 8-15,-76 17 16</inkml:trace>
  <inkml:trace contextRef="#ctx0" brushRef="#br0" timeOffset="116787.71">20791 9380 0,'0'0'0,"0"0"0,0 0 0,9 9 16,-9-9-1,0 8-15,-17 18 16,-35 42 0,-24 43-1,-1-1-15,8 1 16,1 16 0,17 35-16,0 33 15,17 10 1,17-1-16,25 8 15,18-59 1,25-51-16,26-17 16,42-34-1,35-25-15,153-1 16</inkml:trace>
  <inkml:trace contextRef="#ctx0" brushRef="#br0" timeOffset="117799.07">21500 10290 0,'0'0'0,"0"0"0,0 0 0,0 0 16,-9 9 0,0 8-1,1 17 1,-18 8 0,1 26-16,-1 1 15,1-1 1,7-9-16,1 1 15,0-18 1,0-8-16,9-8 16,-1-18-1,9 1-15,0-1 16,0-8 0,0-17-16,17-17 15,9-51 1,25-25-16,17-18 15,-8 0 1,0 35-16,17 8 16,-1 25-1,-7 18-15,-27 25 16,1 0 0,8 17-16,9 17 15,-9 25 1,-8 43-16,-9 26 15,-8 8 1,-18-8-16,1-18 16,-1-8-1,-8-34-15,0-25 16,0-9 0,17-9-16,-8 1 15</inkml:trace>
  <inkml:trace contextRef="#ctx0" brushRef="#br0" timeOffset="118146.22">22933 9185 0,'0'0'0,"17"17"16,43 51-16,17 42 15,8 61 1,-25 50-1,-43 42-15,-68 18 16,-86 17 0,-153 59-16,-43-43 15,35-84-15</inkml:trace>
  <inkml:trace contextRef="#ctx0" brushRef="#br0" timeOffset="120373.89">24273 9738 0,'0'0'0,"0"0"0,0 0 0,0 0 16,17 17-1,1 0 1,16 0-16,17 0 16,26 0-1,17-9 1,17 1-16,-1-9 0,-16 0 15,-17-9 1,-26 1 0,-34 8-16</inkml:trace>
  <inkml:trace contextRef="#ctx0" brushRef="#br0" timeOffset="120643.9">24205 10843 0,'0'0'0,"26"0"0,102-17 31,94-17-31,17-8 16,-26-9-1,9-17-15,94-51 16</inkml:trace>
  <inkml:trace contextRef="#ctx0" brushRef="#br0" timeOffset="122825.29">26535 9253 0,'0'0'0,"0"0"0,17 0 0,9 0 16,16 0-1,27 0 1,-1 0 0,17 17-16,1 8 0,-9 18 15,-9 16 1,-8 43 0,-26 43-1,-9 85-15,-25-1 16,-42-33-16,-44 25 15,-33-59 1,-1-43-16,1 8 16,-26-16-1,17-60 1,34-43-16,34-25 16,26-17-1,8-8-15,18-18 16,33 1-16,27-1 15,42 9 1,25 9 0,26 33-16,60 43 0,-17 17 15,-18 17 1,52 43-16,-60-18 16,-110-50 15</inkml:trace>
  <inkml:trace contextRef="#ctx0" brushRef="#br0" timeOffset="128600.32">28584 9619 0,'0'0'0,"0"0"15,0 0-15,0 17 16,-9 34-16,-8 42 16,-26 69-1,-25 33-15,-9-33 16,26-26 0,-9 9-16,9-18 15,17-33 1,0-1-16,17-8 15,17-51 1</inkml:trace>
  <inkml:trace contextRef="#ctx0" brushRef="#br0" timeOffset="128942.66">27696 10154 0,'0'0'0,"0"0"0,17 9 16,17 8 0,26 0-16,17 17 15,25 17 1,35 0-16,16-9 16,-25-8-1,0-34-15,154-51 16</inkml:trace>
  <inkml:trace contextRef="#ctx0" brushRef="#br0" timeOffset="129678.28">29966 9100 0,'0'0'0,"0"17"0,-8 34 15,-9 42-15,-18 60 16,-7 43-1,-18 8 1,9 9-16,0-26 16,-18 0-16,1-17 15,8-34 1,9-25-16,25-9 16,9 0-1,17-51-15</inkml:trace>
  <inkml:trace contextRef="#ctx0" brushRef="#br0" timeOffset="130104.61">28993 8870 0,'0'0'0,"9"9"0,25 16 0,34 9 31,52 0-31,8 0 16,17-8 0,51-1-16,52-16 0,-1-18 15,-25 9 1,0 17-16,111 17 31</inkml:trace>
  <inkml:trace contextRef="#ctx0" brushRef="#br0" timeOffset="132610.9">32083 8709 0,'0'0'0,"0"0"0,-9 0 0,1 8 16,-1 1 0,-8-1-16,0 1 15,0 8 1,-9 0-16,-16 8 16,-1 9-1,-8 9-15,0 8 0,-9 0 16,-17 42-1,-17 35 1,-8 25 0,-18 51-16,-16 34 15,8 9 1,8-1 0,43-33-16,43-34 15,43-18 1,16 1-16,27-35 15,7-33-15,27-35 16,-27-33 0</inkml:trace>
  <inkml:trace contextRef="#ctx0" brushRef="#br0" timeOffset="133509.32">32356 9142 0,'0'0'0,"0"0"0,0 0 0,0 0 15,0 0 1,0 0 0,-9 9-1,1 16-15,-9 9 16,0 0-16,0 0 16,-9 17-1,0 9 1,9-18-16,0 1 15,9-18 1,-1 1-16,9-17 16,0-1-16,0-8 15,0 9 1,0-9 0,0-17-16,26-18 15,17-33-15,8-17 16,9 9-1,16 8-15,-7 17 16,-10 17 0,1 25-1,-9 9-15,9 26 16,0 33 0,-9 18-16,-17 16 0,-17 9 15,-8 1 1,-18-18-16,1-34 15,-1-17 1,1-17 0,-1-9-16</inkml:trace>
  <inkml:trace contextRef="#ctx0" brushRef="#br0" timeOffset="133875.32">32032 9967 0,'0'0'0,"0"0"0,8 9 16,26 8-16,18 8 16,-1 1 15,17-1-31,17-8 15,9-8 1,-8-1-16,-35 1 16,-26-1-1</inkml:trace>
  <inkml:trace contextRef="#ctx0" brushRef="#br0" timeOffset="135003.72">33440 8496 0,'0'0'0,"26"51"0,-26-51 0,59 102 0,1 9 0,34 8 0,-17 17 0,-43 0 0,-17 34 16,-34 68-1,-77 60-15,-85 8 16,-86-9 0,-196 129-16</inkml:trace>
  <inkml:trace contextRef="#ctx0" brushRef="#br0" timeOffset="208520.41">14706 7314 0,'0'0'0,"0"0"0,0 25 0,-9 154 15,-25-68-15,-26 50 0,1-16 0,16-18 16,0 1 0,18-18-16,16-33 15,9-35-15,0-16 31,17-18-15,9-16-16,25-9 16,9-9-16,-9 1 15,17-9 1,18 8-16,-1 9 0,17 0 31,1 17-15,8 0-16,25 0 0,9 0 15,-17 0 1,0 9-16,17-1 16,9 9-1,-26-8 1,-25 8 0,16 8-16,-34 1 15,-25-9-15,-17-9 0,-18 1 31,1-1-15,-17-16-16,-1-1 16,1-16-16,-1-18 15,1-25 1,8-17-16,-9-25 0,9-1 31,-8 35-15,-1 8-16,1 17 15,8 0 1,0 8-16,0 9 16,-8 9-1,-1 7-15,1 1 16,-1 17 0,-8-8-16,-17-1 15,-25-16 1,-69-18-16,-69-16 15,-59-18 1,-42 1-16,-61 8 16,-25 25-1,-111-8-15,69 17 16</inkml:trace>
  <inkml:trace contextRef="#ctx0" brushRef="#br0" timeOffset="-165897.45">18871 11464 0,'0'0'16,"0"9"-16,-9 16 16,1 26-16,-1 26 15,-8-9 1,0-9-1,-9-8-15,1 0 0,-1 9 16,9-18-16,9-16 16,8-1 15,0-16-31,17-1 16,25 1-16,35-1 15,26 1-15,33-1 31,43 1-31,-25-1 16,-17 1 0,42-1-16,-17 1 15,17 8 1,52 0-16,-27 0 16,10 17-1,16 8-15,1 9 16,-1 0-1,-42-17-15,-34-8 16,-1 0 0,-25-9-16,-25-9 15,-35 1 1,-25-9-16,-9 0 16,-9-9-1,1 1-15,0-26 16,-1-35-1,-16-50-15,-1 51 16</inkml:trace>
  <inkml:trace contextRef="#ctx0" brushRef="#br0" timeOffset="-162289.36">28976 11039 0,'0'0'0,"0"0"0,0 0 15,0 0 1,0 0 0,9 8-16,-9-8 15,-9 26-15,1 8 0,-1 0 32,1 0-17,-10 8-15,-16 9 16,0 0-1,0 0-15,17 0 16,0-8 0,0 0-16,17-1 15,8 1 1,27 8-16,16 0 16,34-9-1,35 1-15,33-18 16,26 1-1,43-18-15,9 1 16,25-9 0,17 8-16,-8 9 15,16 9 1,-16 25-16,-9 25 16,-26 18-1,1-1-15,-35 1 16,-68-35-1,-17-16-15,-9-17 16,-33-9 0,-18-9-16,-26-16 15,1-1 1,-9-8-16,-8 0 16,-9-17-1,-17-43-15,-18-16 16,18-9-16,26 59 15</inkml:trace>
  <inkml:trace contextRef="#ctx0" brushRef="#br0" timeOffset="-158613.24">26177 11872 0,'8'0'0,"52"-8"0,68-9 0,9-17 15,16 0 1,61 0-16,-78 0 16,-25 8-1,51 1-15,-17 8 16,-34 17-1,-60 0 1,-25 0-16,0 0 16,-18 0-16,-50 8 15,-95 9 1,-153 9-16,-52 8 16,10-9-1,7 18-15,95-9 16,85 0-1,68-9-15,34 1 16,35-9-16,127 8 31,214 18-31</inkml:trace>
  <inkml:trace contextRef="#ctx0" brushRef="#br0" timeOffset="-145521.87">19861 14041 0,'0'0'0,"0"0"0,0 0 31,0 0-31,-9 8 15,1 35 1,-9 33-16,-9 35 16,-8 17-1,-17 8-15,-9 25 16,9 1 0,17-60-16,17-43 15,-1-8 1,18-17-16,0-25 15,0-9-15,0 0 16</inkml:trace>
  <inkml:trace contextRef="#ctx0" brushRef="#br0" timeOffset="-145221.58">18922 13803 0,'0'0'0,"0"0"0,0 0 16,9 17-1,50 34 1,61 25-16,59 1 15,68-18-15,61-33 16,16-26-16,43-17 16</inkml:trace>
  <inkml:trace contextRef="#ctx0" brushRef="#br0" timeOffset="-144179.84">21261 14015 0,'0'0'0,"0"0"0,0 0 16,0 0-16,-18 9 15,-24 25 1,-35 42-16,-17 60 16,-17 18-1,9 7 1,25 35-16,26-18 16,34-25-16,25 18 15,26-27 1,-8-84-16</inkml:trace>
  <inkml:trace contextRef="#ctx0" brushRef="#br0" timeOffset="-143495.33">21807 14611 0,'0'0'0,"0"0"31,0-9-31,8 9 16,-8 0-16,-8 0 16,-18 0-1,-16 0 1,-18 17-16,-26 0 0,-16 26 31,-9 33-31,26 18 0,25-1 31,34-16-31,35-9 16,42-9 0,43-8-16,25-17 15,18-42 1,0-26-16,-18-17 16,-17-34-1,-33-9-15,-35 9 16,-26-8-1,-25 16-15,-51 18 16,17 33 0</inkml:trace>
  <inkml:trace contextRef="#ctx0" brushRef="#br0" timeOffset="-142749.11">22797 13956 0,'0'0'0,"0"0"16,0 0-16,0 0 15,0 0-15,25 0 16,27 25-16,33 26 16,9 17-1,17 34 1,8 60-16,-33 51 16,-44 42-1,-42 25-15,-34 1 16,-43-43-1,-34-17-15,-25-42 16,-9-52-16,-103 44 16</inkml:trace>
  <inkml:trace contextRef="#ctx0" brushRef="#br0" timeOffset="-142039.77">23983 14934 0,'0'0'16,"0"0"-16,26 8 0,68 26 15,51-8 1,25-1 0,-7-8-16,-18-8 15,-34-18-15,-43 1 16,-42 8-1</inkml:trace>
  <inkml:trace contextRef="#ctx0" brushRef="#br0" timeOffset="-141752.29">23702 15546 0,'8'0'0,"69"17"0,102 9 15,52-35 1,8-33 0,-26-18-16,-51 9 15,-17-17-15,17 0 16,-17 8-16,-76 43 15</inkml:trace>
  <inkml:trace contextRef="#ctx0" brushRef="#br0" timeOffset="-141451.58">26100 15095 0,'0'0'0,"0"0"0,0 0 15,-9 0 1,-16-8-1,-26 8-15,-35 8 16,-8 9 0,17 17-1,18-8-15,25 8 16,8 0 0,35 17-16,33 34 15,61 0 1,8-25-16,8-26 15,-17-17-15,-25-17 16,-34-9 0,-9-16-1,-17-35-15,-51-50 16,0 42 0</inkml:trace>
  <inkml:trace contextRef="#ctx0" brushRef="#br0" timeOffset="-139184.02">19716 16728 0,'0'0'0,"-9"9"0,1 25 16,-1 51-1,-16 34-15,-10-9 16,10 18 0,-18 59-1,0-17-15,18-85 16,8-42-16,8-18 16,9-16-1</inkml:trace>
  <inkml:trace contextRef="#ctx0" brushRef="#br0" timeOffset="-138894.15">19033 16728 0,'0'0'0,"8"0"0,52 17 15,51 9 1,43-9 0,16-9-16,10-16 15,-18-1 1,0-8-16,0 0 15,-17 9 1,-76 16-16</inkml:trace>
  <inkml:trace contextRef="#ctx0" brushRef="#br0" timeOffset="-138550.33">20868 16567 0,'0'0'0,"-9"0"0,-25 25 16,-25 18-1,-18 33 1,-17 60-16,8 34 16,18 26-1,17 25-15,42-68 16,18-68 0,34 0-16,33-17 0,-16-42 15,-43-18 1</inkml:trace>
  <inkml:trace contextRef="#ctx0" brushRef="#br0" timeOffset="-138259.3">21525 17034 0,'0'0'0,"-8"17"15,-18 26-15,0 17 16,9-1 0,0 18-16,0 8 15,0 17 1,9-26-16,-1-16 15,1-18 1,-1-16-16</inkml:trace>
  <inkml:trace contextRef="#ctx0" brushRef="#br0" timeOffset="-137891.12">21713 16456 0,'0'0'0,"0"0"0,17 17 16,26 26 0,16 33-16,10 18 15,-10 33-15,-7 9 16,-18 0-1,-34 9-15,-17 17 16,-35-18 0,-24-33-16,-18-9 15,0-26 1,0-16-16,9-35 16,16-16-1,10-18-15,16-8 31,26 0-31,17 17 16</inkml:trace>
  <inkml:trace contextRef="#ctx0" brushRef="#br0" timeOffset="-137599.03">23113 17324 0,'0'0'0,"0"0"0,25 8 16,44 9-16,33-8 15,26-9 1,-9-9 0,-25 1-16,-8-9 15,-35 0-15,-34 17 16</inkml:trace>
  <inkml:trace contextRef="#ctx0" brushRef="#br0" timeOffset="-137399.7">22763 17536 0,'0'0'0,"0"9"0,34 33 16,51 35-16,52-9 15,33-26 1,44-16-1,8-18-15,102 9 16</inkml:trace>
  <inkml:trace contextRef="#ctx0" brushRef="#br0" timeOffset="-137179.15">24675 16728 0,'0'0'0,"0"17"0,-9 111 16,0 67 0,1 35-16,-1 0 15,1 76-15</inkml:trace>
  <inkml:trace contextRef="#ctx0" brushRef="#br1" timeOffset="-62688.55">31716 10563 0,'0'0'0,"0"0"0,0 0 16,0 0-1,0 0-15,0 0 16,0 0 0,0 0-1,0 0-15,25 0 16,35 0-16,17 0 15,-17 0-15,17 8 16,25 1 0,-17-1-16,-25 1 31,-9-1-31,-17 1 0,-16-1 16,-10 1-1,-16 8 1,-35 25-1,-34 26-15,17 0 16,18-17-16,16-8 16,17-1-16,27 9 15,41 0-15,78 9 16,162 42 15</inkml:trace>
</inkml:ink>
</file>

<file path=ppt/ink/ink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0T19:46:16.657"/>
    </inkml:context>
    <inkml:brush xml:id="br0">
      <inkml:brushProperty name="width" value="0.05292" units="cm"/>
      <inkml:brushProperty name="height" value="0.05292" units="cm"/>
      <inkml:brushProperty name="color" value="#7030A0"/>
    </inkml:brush>
  </inkml:definitions>
  <inkml:trace contextRef="#ctx0" brushRef="#br0">2023 16133 0,'0'0'0,"0"0"0</inkml:trace>
  <inkml:trace contextRef="#ctx0" brushRef="#br0" timeOffset="2646.87">10822 8709 0,'0'0'16,"0"0"-16,0 0 0,0 0 15,0 0 1,0 0-16,0 0 16</inkml:trace>
  <inkml:trace contextRef="#ctx0" brushRef="#br0" timeOffset="3348.12">11044 8709 0,'0'0'0,"0"0"0,9 8 16,8 9-16,0 0 15,8 0-15,1 0 16,8 0-1,9 9 1,8-1-16,9 9 16,-9-8-1,26 8-15,34-9 16,25 1-16,-16-9 31,8-9-31,26 1 16,8-9-1,-26 0-15,9 0 16,26-9-16,-17 1 16,-9 8-1,17 17 1,0 0-16,-17 0 16,-8 0-1,16 0-15,-8-9 0,-25-16 16,-35 8-1,-16-9 1,-27 1 0,-25-1-16,-17 9 15</inkml:trace>
  <inkml:trace contextRef="#ctx0" brushRef="#br0" timeOffset="25421.69">6452 6234 0,'0'0'0,"0"0"0,0 0 0,0 0 16,0 0-16,0 0 15,17 0 1,9 0 0,17-9-1,42 1-15,9-1 16,17-8 0,-9 17-16,-8 0 15,26-8-15,50-1 16,-24 1-16,16-1 15,51 1 1,-51-1 0,9 1-1,25-1-15,-42 9 0,8 0 16,26 9 0,-17-1-16,16 9 31,18-8-31,-34-9 15,25 0 1,52 8-16,-44 1 16,10-26-16,-9 0 15,34 0 1,34 0 0,-26 8-16,9-8 15,-17 9 1,52-18-16,84-8 15</inkml:trace>
  <inkml:trace contextRef="#ctx0" brushRef="#br0" timeOffset="34301.07">8782 7127 0,'0'0'0,"0"0"0,0 0 15,0 0-15,0 0 16,0 0 0,0 0-1,0 17-15,0 0 16,9 0-16,34 17 31,42 0-31,43-9 16,34-16-1,35-18-15,16-8 16,60-8-16,43 8 16,17 0-1,34 8 1,51 9-16,-26-8 15,-16-18-15</inkml:trace>
  <inkml:trace contextRef="#ctx0" brushRef="#br0" timeOffset="41654.44">8535 8164 0,'0'0'0,"0"0"0,0 0 16,0 0 0,0 0-16,0 0 15,0 0 1,17 0-16,17 17 15,17-8 1,35-1-16,25-16 16,8-1-1,26-8-15,9 0 16,-18 0 0,10 17-16,24 0 15,1 0 1,25 17-16,35-8 15,-1 8 1,26 8-16,17-8 16,35-8-1,24-9-15,18-9 16,43 1-16,8 8 16,17-9-1,-17 1 1</inkml:trace>
  <inkml:trace contextRef="#ctx0" brushRef="#br0" timeOffset="67607.8">21593 4771 0,'0'0'0,"0"0"0,0 0 16,-8 17-16,-18 0 15,-25 34 1,-26 34 0,0 34-16,-8 17 15,-9-25 1,26-52-16,17-16 15,0-1 1,16-16-16,18-18 16,0 1-16,9-9 15,8 0 1</inkml:trace>
  <inkml:trace contextRef="#ctx0" brushRef="#br0" timeOffset="67833">20714 5366 0,'0'0'0,"-8"26"0,-1 16 31,-16 26-31,8 9 0,0-9 16,17 0-1,17-8 1,0-18-16,59-8 0,87-8 31,-27-35-15,-102-8-16</inkml:trace>
  <inkml:trace contextRef="#ctx0" brushRef="#br0" timeOffset="76802.48">7263 9780 0,'0'0'0,"0"0"0,0 0 0,-8 17 16,-9 17-1,0 0 1,-1 0-16,10 0 16,-1 0-1,9-8-15,0-1 16,0 9-16,-8 0 16,-1 0-1,1 9-15,-1-18 16,9 1-1,0-1-15,9-16 16,-1-1 0,9 1-1,18-1-15,16-16 16,9-1 0,16 1-16,10-9 15,-10 0-15,1 0 16,9 8-1,-1-8-15,26 9 16,0 8 0,-9 0-1,9 8-15,0 9 0,0 0 16,17 9 0,0-18-16,-17 1 15,-8-1 1,-9 1-1,-1-26-15,-7-9 16,-1 1-16,-17-9 16,-16 0-1,-10 8-15,-16 1 32,-9-1-32,-9-8 15,-8-17-15,-8 26 16</inkml:trace>
  <inkml:trace contextRef="#ctx0" brushRef="#br0" timeOffset="82840.42">10174 9891 0,'0'0'0,"0"0"0,0 0 15,0 0 1,0 8-16,0 9 16,0 26 15,0 8-31,0 17 15,0-9-15,0-8 16,8 0 0,1 0-1,-1 9-15,9-1 0,0-16 16,0-9 0,1-8-1,16-9-15,17-9 16,26 1-1,17-18-15,17 1 16,-9-9-16,0 8 16,18 9-16,-1 9 31,9 8-15,-8 0-16,-1 8 15,-8-8 1,0 0-16,9 0 15,-18-8 1,-25-1-16,-9 1 16,-17-1-1,-16-8-15,-10 0 16,-16 0 0,-1 0-16,1-8 15,8-9-15,0-17 16,17-34-1,0-9 1,0 0-16,18 1 16,-18 33-16</inkml:trace>
  <inkml:trace contextRef="#ctx0" brushRef="#br0" timeOffset="83767.11">13733 9806 0,'0'0'0,"0"0"16,0 0-16,0 8 15,0 18 1,0 33-16,0 1 16,0-1-1,0-8-15,0 0 16,0-8 0,0-1-16,0-16 15,17 8 1,17 0-16,17-9 15,0-8-15,18-8 16,-1-1 0,9-16-1,25-1-15,9 9 16,9 0 0,25-8-16,0-9 15,8 17-15,-7 0 16,-10 0-1,-8 8-15,-8 1 16,-9 8 0,-18-9-16,-24 1 15,-18-1 1,-8 1 0,-18-1-16,-16-8 15,-1 0 1,1 0-16,-1 0 15,-8 0-15,0-17 16,9-25 0,-1-35-16,-8-25 15,17-17 1,18 9 0,-1 25-16,-17 51 15</inkml:trace>
  <inkml:trace contextRef="#ctx0" brushRef="#br0" timeOffset="84758.65">19195 10086 0,'0'0'0,"0"0"0,0 9 16,0 8 0,0 0-1,0 17 1,0 0-16,0 0 16,9 0-16,-1 0 15,9 0 1,0 0-1,9 0-15,0-9 16,-9 1 0,0 0-16,17-1 15,0 1 1,17-18-16,9 1 0,42-9 16,18-9-1,8 1 1,8-9-16,18 0 15,-9 8-15,0 1 16,9 8 0,8 0-16,-25-9 31,-18 9-31,18 0 16,-1 0-16,-16-9 15,-26 9-15,-26 0 31,-17 0-31,-25 0 16,-1 0 0,-16 0-16,-1-8 15,1-9 1,8-34-16,0-51 0,9-51 31,25-145-31</inkml:trace>
  <inkml:trace contextRef="#ctx0" brushRef="#br0" timeOffset="103454.73">23002 8590 0,'0'0'15,"0"0"-15,-9-9 0,-8 0 16,-9 1 0,-16 8-16,-26 8 15,-26 10 1,-9-1-16,1 0 15,8 0 1,26 0-16,16 8 16,10 9-1,-18 9-15,0 33 16,9 18 0,0 16-16,0 9 15,16 17 1,27 0-16,16-33 15,10-10 1,7 1-16,18 25 16,8 8-1,0 1-15,-8-26 16,17 8 0,16 18-16,1 0 15,9-35 1,8-8-16,8-17 15,35 0-15,8-8 16,0-26 0,17-26-1,17-33-15,9-18 16,-17-33-16,16-69 16,-16-33-1,-26-10-15,-17-33 16,-25 51-1,-44 17 1,-7-17-16,-35 8 16,-34 9-16,-26 9 15,-25 8 1,-26 8-16,-43 18 16,-68 25-1,-34 25 1,-25 26-16,-9 34 15,-9 26 1,-34 42-16,-34 25 16</inkml:trace>
  <inkml:trace contextRef="#ctx0" brushRef="#br0" timeOffset="149101.78">12401 13556 0,'0'0'0,"0"0"0,-8-8 0,-35-9 0,0 8 0,-16 9 0,-1 17 16,0 0 0,-8 9-1,-26 16-15,-17 18 16,-8 8 0,33 0-16,9 0 15,-8 0 1,17-17-16,25-26 15,17-8-15,9-8 16,17-1 0,0-8-16,0-8 15,0-9 1,0-17 0,-8-17-16,-18 0 15,9 17-15,-8 17 16,-18 0-1,-25 17 1,16 0-16,18 17 16,0 0-16,9 0 15,-1 17 1,9 0 0,0 8-16,17 9 15,0 0 1,25 26-16,27 8 15,33 0-15,34-25 16,1-18 0,8-25-16,60 17 15,128 34 1</inkml:trace>
  <inkml:trace contextRef="#ctx0" brushRef="#br0" timeOffset="-181824.88">15448 14015 0,'0'0'0,"0"0"0,0 0 0,0 0 16,-8 0-16,-1 0 15,1 0 1,-18 0-1,0 0-15,1 17 16,-1 26-16,-16 42 16,-1 68-1,0 0-15,9-25 16,8-9 0,9-17-16,17-34 15,9-26 1,-1-25-1</inkml:trace>
  <inkml:trace contextRef="#ctx0" brushRef="#br0" timeOffset="-181402.54">14381 13990 0,'0'0'0,"0"0"0,0 0 16,0 0-16,26 0 16,17 8-1,51 1-15,42 8 16,26 0-1,35-9-15,7-8 16,27 0 0,-43 0-16,93 26 15</inkml:trace>
  <inkml:trace contextRef="#ctx0" brushRef="#br0" timeOffset="-180284.69">16848 13590 0,'0'0'0,"0"0"16,-9 0-16,-16 0 31,-26 9-31,-18 16 16,-33 35-1,-35 59 1,-8 59-16,9 60 16,8 26-16,42-17 0,52-52 31,51-8-31,60-8 15,43-77 1,-52-68 0</inkml:trace>
  <inkml:trace contextRef="#ctx0" brushRef="#br0" timeOffset="-179327.06">17462 14143 0,'0'0'0,"0"0"0,0 0 0,0 0 0,0 0 16,0 0 15,0 0-31,0 0 16,0 0-1,-8 8-15,-1 18 16,-16 42 0,-1 51-16,-16 43 15,7-9 1,1-17-16,9-26 16,8-42-1,17-17-15,0-17 16,0-17-16,17-8 15,17-9 1,34-34-16,34-60 16,27-42-1,-19-8-15,1 8 16,-17 25 0,-8 35-1,-18 33-15,-8 9 16,-18 17-1,1 17-15,0 17 16,-1 26-16,-16 50 16,-9 52-1,-34 8 1,-9-17-16,1-34 16,8-43-1,8-33-15,1-18 16,8 1-16</inkml:trace>
  <inkml:trace contextRef="#ctx0" brushRef="#br0" timeOffset="-179032.99">19152 13896 0,'0'0'0,"9"9"0,17 42 0,16 68 16,-8 59-1,-42 35 1,-52 17-16,-51 25 15,-8-34 1,-9-34-16,17-51 16,68-85-1</inkml:trace>
  <inkml:trace contextRef="#ctx0" brushRef="#br0" timeOffset="-178515.53">20125 13990 0,'0'0'0,"0"0"0,0 0 15,0 0 1,0 0-16,17 0 16,26 8-1,25 1-15,18-9 16,8 0-1,0-9-15,-35 9 16,-25 0 0,-16 0-16</inkml:trace>
  <inkml:trace contextRef="#ctx0" brushRef="#br0" timeOffset="-178297.71">19775 14713 0,'0'0'0,"9"0"0,34 17 16,51 0-16,34-9 15,34-16 1,-26-1-1,-16-16-15,-26-9 16,-60 25-16</inkml:trace>
  <inkml:trace contextRef="#ctx0" brushRef="#br0" timeOffset="-177124.13">21909 14211 0,'0'0'0,"0"0"0,0 0 16,0 0-1,0 0-15,0 0 16,9-9 0,16-25-1,27-25-15,16-26 16,9-17-16,-1 25 15,-16 18 1,-17 16-16,-18 26 16,-7 0-1,-10 17-15,1 0 16,-1 26 0,-8 25-16,-34 68 15,-17 25 1,0 9-16,8-16 15,17-35 1,9-34-16,9-26 16,8-16-1,0-18-15,0 1 16,0-9 0,0 0-16</inkml:trace>
  <inkml:trace contextRef="#ctx0" brushRef="#br0" timeOffset="-176898.92">21465 14670 0,'0'0'0,"9"0"0,68 26 16,85 8-1,17 8 1,-8-8 0,0-8-16,-18-9 0,137-26 15</inkml:trace>
  <inkml:trace contextRef="#ctx0" brushRef="#br0" timeOffset="-176267.57">23224 14160 0,'0'0'0,"0"0"0,0 0 15,0 17 1,0 0-16,0 0 15,0 0 1,0 0-16,0 0 16,-9 0-1,9-8 1,0-1-16,0 1 16,0-1-1,0 1-15,0-9 16,0 0-16,0 8 15,0 1 1,0-1 0,17 1-16,0-18 15,0 9 1</inkml:trace>
  <inkml:trace contextRef="#ctx0" brushRef="#br0" timeOffset="-175911.67">24572 13607 0,'0'0'0,"0"0"0,0 17 31,-8 43-31,-35 50 16,-17 26-16,-8 17 16,0 9-1,-1-26 1,18-25-16,0-18 16,0-16-1,17-9-15,16-26 0,1-16 16,17-18-1,-8-33 1,-1 8 0</inkml:trace>
  <inkml:trace contextRef="#ctx0" brushRef="#br0" timeOffset="-175655.65">23770 13641 0,'0'0'0,"0"0"16,0 0-16,0 0 15,8 0 1,52 0-16,25 17 16,18 9-1,16-1-15,26-8 16,9 9-1,-9-18-15,9-8 16,-35-17 0,-33-17-16,-52 9 15</inkml:trace>
  <inkml:trace contextRef="#ctx0" brushRef="#br0" timeOffset="-175150.11">25588 13267 0,'0'0'0,"0"0"16,0 0-1,-9 0-15,-16 25 16,-35 52-1,-25 34 1,-26 42-16,-17 42 16,-9 9-1,18 26-15,-1 17 0,35-1 16,42-42 0,52-8-1,33 0-15,35-60 16,17-51-1,34-34-15,17-26 16,0-33-16,-25-86 16,42-152-1</inkml:trace>
  <inkml:trace contextRef="#ctx0" brushRef="#br0" timeOffset="-174648.46">26262 13182 0,'0'0'0,"0"0"0,-9 8 15,1 26 1,-26 34-16,-26 35 15,-8-1 1,8 8 0,9-25-16,17-17 15,17-25 1,17-18 0,34 1-16,60-26 15,34-17 1,8-17-16,18-26 15,-18 9 1,-33 26-16,-26 8 16,-18 17-1,-16 8-15,-9 26 0,-8 34 16,-26 43-16,-17 8 16,-9-26-1,9-25 1,0-34-1,0-17-15,8-8 16,1-26 0,-1 8-1</inkml:trace>
  <inkml:trace contextRef="#ctx0" brushRef="#br0" timeOffset="-174345.11">25426 14534 0,'8'0'0,"52"26"0,76 25 0,35-17 31,34-9-15,-9-8-16,-16-25 16,-18-1-1,-34-16-15,-26 8 16,-25 8 0,-43 9-16</inkml:trace>
  <inkml:trace contextRef="#ctx0" brushRef="#br0" timeOffset="-173867.95">25767 14891 0,'0'0'0,"0"0"15,26 17-15,16 26 16,9 8 0,9 25-16,-9 18 15,-8 17 1,-17-9 0,-9-26-16,-9-25 15,-8-17 1,-8-8-16,-1-18 15,-8 1 1,-8-18-16,-1-25 16,9-8-16,0 8 15,8 0 1,9 17 0,0 0-16,17 17 15,18 0 1,33 25-16,34 9 15,1 17-15,-1-8 16,-8-1 0,-26-16-16,-8-9 15,0-9 1,-35 1 0</inkml:trace>
  <inkml:trace contextRef="#ctx0" brushRef="#br0" timeOffset="-173421.75">27474 13369 0,'0'0'0,"0"0"0,0 0 15,26 9-15,25 50 16,26 52-16,8 33 15,-25 35 1,-26 42-16,-43 9 16,-50 8-1,-44 34 1,-8-9-16,0-24 16,0-44-16,34-50 15,18-35 1,16-42-16,17-42 15,18-18 1</inkml:trace>
  <inkml:trace contextRef="#ctx0" brushRef="#br0" timeOffset="-173135.98">29053 14143 0,'0'0'0,"0"8"0,-9 35 0,-8 59 16,-34 68-1,-17 9 1,8-18-16,9-33 16,17-35-16,0-42 15,17-17 1,8-25-16</inkml:trace>
  <inkml:trace contextRef="#ctx0" brushRef="#br0" timeOffset="-172895.09">28319 14755 0,'0'0'0,"17"9"15,68 16-15,120 35 16,34-18-16,-17-25 15,-17-25 1,-51-35 0,-9-33-1,-77 33-15</inkml:trace>
  <inkml:trace contextRef="#ctx0" brushRef="#br0" timeOffset="-172361.1">30205 14134 0,'0'0'0,"0"0"0,9 9 16,33 16-16,44 43 15,8 35 1,-18 16-1,-24 8-15,-18-8 16,-34 17-16,-26 9 16,-25-1-1,-43 1-15,-17-17 16,9-43 0,16-17-1,10-26-15,16-16 16,26-9-1,17-9-15,8 1 16,26-18 0,43 9-16,76 0 15,78 26-15,8 16 16,-35-8 0,112 34-1</inkml:trace>
</inkml:ink>
</file>

<file path=ppt/ink/ink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0T19:51:54.345"/>
    </inkml:context>
    <inkml:brush xml:id="br0">
      <inkml:brushProperty name="width" value="0.05292" units="cm"/>
      <inkml:brushProperty name="height" value="0.05292" units="cm"/>
      <inkml:brushProperty name="color" value="#7030A0"/>
    </inkml:brush>
  </inkml:definitions>
  <inkml:trace contextRef="#ctx0" brushRef="#br0">6854 5103 0,'0'0'0,"0"0"0,-9 0 0,0 17 16,-16 0-16,-1 17 16,1 8-1,-9 9-15,-1 0 16,10 0 0,-26 9-1,-26 33 1,-9 26-16,18-8 15,8-17-15,1-1 16,7 18 0,35 25-16,26-17 15,25-43-15,9-16 16,42-1 0,0-16-1,18-18-15,50-8 16,-16-25-1,-35-1 1,-42-16-16,-17-35 16,0-50-1,-18-18-15,1-8 16,-26-34 0,-43 0-16,-42 17 0,-52-9 15,-16 26-15,-27 51 16,-33 60 15,-94 67-31</inkml:trace>
</inkml:ink>
</file>

<file path=ppt/ink/ink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0T19:52:35.730"/>
    </inkml:context>
    <inkml:brush xml:id="br0">
      <inkml:brushProperty name="width" value="0.05292" units="cm"/>
      <inkml:brushProperty name="height" value="0.05292" units="cm"/>
      <inkml:brushProperty name="color" value="#7030A0"/>
    </inkml:brush>
  </inkml:definitions>
  <inkml:trace contextRef="#ctx0" brushRef="#br0">4455 6548 0,'0'0'0,"34"0"0,35 0 0,212-8 16,-212-1-16,42-16 0,51-9 15,-26 8 1,-59 9 0,34 0-16,85 9 15,-25 8 1,0 17-16,76 8 0,-8 1 16,43-18-1,17 1-15,-35-9 16,52-17-1,0 8 1,51 1 0,8 16-16,9 9 0,43 0 31,25 34-31,26 0 16,-68-25-1,-9-1-15,-25 1 16,42-9-1,-42-8-15,-95-26 16,95-9 0</inkml:trace>
</inkml:ink>
</file>

<file path=ppt/ink/ink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0T19:58:28.353"/>
    </inkml:context>
    <inkml:brush xml:id="br0">
      <inkml:brushProperty name="width" value="0.05292" units="cm"/>
      <inkml:brushProperty name="height" value="0.05292" units="cm"/>
      <inkml:brushProperty name="color" value="#7030A0"/>
    </inkml:brush>
    <inkml:brush xml:id="br1">
      <inkml:brushProperty name="width" value="0.05292" units="cm"/>
      <inkml:brushProperty name="height" value="0.05292" units="cm"/>
      <inkml:brushProperty name="color" value="#FF0000"/>
    </inkml:brush>
  </inkml:definitions>
  <inkml:trace contextRef="#ctx0" brushRef="#br0">4814 9789 0,'17'0'16,"85"-9"-16,171-16 0,1409 42 0,-880 85 0,-375-43 15</inkml:trace>
  <inkml:trace contextRef="#ctx0" brushRef="#br0" timeOffset="8244.08">7178 11651 0,'0'0'0,"0"0"0,0 0 15,0 0 1,8 0-1,9 0 1,26 0-16,43-8 16,50-1-1,60 1-15,43-18 16,60-8 0,51 9-16,26 8 0,33 17 15,18 0 1,-9 8-16,-17-16 15,-25-26 1</inkml:trace>
  <inkml:trace contextRef="#ctx0" brushRef="#br0" timeOffset="14520.42">14236 14560 0,'0'0'0,"0"0"0,0 0 15,0 0-15,0 0 16,34 25-1,52 35 1,76 42-16,128 0 16,94-51-16,0-26 15</inkml:trace>
  <inkml:trace contextRef="#ctx0" brushRef="#br0" timeOffset="18630.68">17283 9755 0,'0'0'0,"0"0"0,0 0 0,0 25 16,9 43-1,-1 77 1,-25 76-16,-25 51 16,-10-8-16,10-9 15,-10-60 1,-7-59-1,16-8-15,26-51 16,8-52 0,9-25-16</inkml:trace>
  <inkml:trace contextRef="#ctx0" brushRef="#br0" timeOffset="18978.46">16515 9806 0,'0'0'0,"17"0"15,86-9 1,84 1-16,27-9 16,-1 8-16,0 9 15,1-8 1,-1-1 0,1 1-1,-35-1-15,111-8 16</inkml:trace>
  <inkml:trace contextRef="#ctx0" brushRef="#br0" timeOffset="19410.84">19016 9840 0,'-9'8'0,"-8"35"0,-34 50 15,-34 60-15,-35 77 16,1 17 0,16 16-1,26-8-15,43-59 16,43 8-16,25-51 15,34-68 1,52-25-16,33-18 16,146 9-1</inkml:trace>
  <inkml:trace contextRef="#ctx0" brushRef="#br0" timeOffset="19907.37">19963 10588 0,'-8'0'0,"-9"34"0,-18 60 16,-7 33-16,-18 26 15,-25 9 1,-9-18-16,26-33 16,25-34-1,9-26-15,17-26 16,8-8 0,9-8-1,17-35-15,51-59 16,52-51-1,17-26-15,-9 18 16,0 16 0,-26 43-16,-25 17 15,-9 26-15,-8 16 16,-9 18 0,0 33-1,0 43-15,-8 77 16,-34 42-1,-43 17-15,-18 9 0,1-60 16,8-77 0,1-25-16,25-25 15</inkml:trace>
  <inkml:trace contextRef="#ctx0" brushRef="#br0" timeOffset="20139.18">21935 10095 0,'0'0'0,"25"68"15,1 110 1,-26 120-1,-51 76-15,-103 103 16,-102 75 0,77-169-1</inkml:trace>
  <inkml:trace contextRef="#ctx0" brushRef="#br0" timeOffset="25048.43">23113 10631 0,'0'0'0,"0"0"0,8 0 16,18 0 0,34 8-1,25 9-15,0 0 16,9-8-16,9-1 15,16 1 1,-17-9-16,-25 17 16,0 0-1,-43 0 1</inkml:trace>
  <inkml:trace contextRef="#ctx0" brushRef="#br0" timeOffset="25241.21">23070 11787 0,'0'0'0,"34"9"0,77-1 16,94-8-1,34-17-15,77-8 16,68-9-16</inkml:trace>
  <inkml:trace contextRef="#ctx0" brushRef="#br0" timeOffset="26542.13">25741 10120 0,'0'0'0,"0"9"0,-8 42 16,-18 68-16,-8 51 15,-9 34 1,9 68-1,0-51-15,9-68 16,7 43-16,1-51 31,17-69-31,0-50 16</inkml:trace>
  <inkml:trace contextRef="#ctx0" brushRef="#br0" timeOffset="26843.6">24871 9797 0,'0'0'0,"0"0"0,0 0 31,17 0-31,43 9 16,51-1-1,51-8-15,43-8 16,-9-1 0,-25 1-16,-26-1 15,-86 9 1</inkml:trace>
  <inkml:trace contextRef="#ctx0" brushRef="#br0" timeOffset="27195.55">26825 9431 0,'0'0'0,"-25"17"15,-61 94-15,-25 42 16,18 9-1,7 33-15,9 26 16,9 18-16,25-52 16,35 17-1,33-9 1,35-59 0,51 43-16,94 102 0</inkml:trace>
  <inkml:trace contextRef="#ctx0" brushRef="#br0" timeOffset="28078.43">27090 10571 0,'0'0'0,"-9"9"0,1 25 16,-1 17 0,-16 17-16,-9 17 15,-9 17 1,-8-9 0,8-25-16,26-34 0,0-8 15,8-18 1,9 1-1,9-18 1,25-33-16,43-26 16,17-9-1,0-8-15,-1-8 16,-7 8-16,-9 0 16,-18 25-1,-16 18 1,-9 16-16,0 18 15,0 16 1,9 26 0,0 43-16,-18 25 15,-16-9-15,0 1 16,-1-26 0,1-17-16,-9-26 15,0-16 1</inkml:trace>
  <inkml:trace contextRef="#ctx0" brushRef="#br0" timeOffset="28333.55">28063 10818 0,'0'0'0,"34"17"0,34-9 16,35 1-1,16-18-15,-16-8 16,8-17 0,-26-25-1,-25-26-15,-35 25 16</inkml:trace>
  <inkml:trace contextRef="#ctx0" brushRef="#br0" timeOffset="28653.6">29557 10282 0,'0'0'0,"-9"25"16,-25 60 0,0 35-16,0-1 15,-1-17-15,18-9 16,-8 9-1,8 0-15,8 0 16,9-42-16</inkml:trace>
  <inkml:trace contextRef="#ctx0" brushRef="#br0" timeOffset="28895.24">30000 9508 0,'0'0'0,"26"8"0,51 44 15,34 67-15,8 42 0,-42 43 31,-68 77-31,-103 68 0,-103 42 32,-59-17-32,9-68 15</inkml:trace>
  <inkml:trace contextRef="#ctx0" brushRef="#br0" timeOffset="42009.2">31366 9780 0,'0'0'0,"0"0"0,0-8 16,0-1-1,-9 1-15,9 8 16,0 0-1,-8 0-15,-9 8 16,-9 18 0,1 25-16,-10 25 15,18 35 1,9-1-16,8 18 16,0 8-1,8-8-15,1-26 16,-1-9-1,-8-8-15,-8-17 16,-1-17 0,9-25-16</inkml:trace>
  <inkml:trace contextRef="#ctx0" brushRef="#br0" timeOffset="42374.89">30581 10801 0,'0'0'0,"0"0"16,0 0-16,25-9 16,18 1-1,25-18-15,26 1 16,17 8-1,0 8-15,68 18 16,146 16 0</inkml:trace>
  <inkml:trace contextRef="#ctx0" brushRef="#br0" timeOffset="45196.46">7434 10639 0,'0'0'0,"0"-8"15,0-1-15,-9-8 16,9 0 0,-8 9-16,-1-9 15,1 8 1,-18 9-16,-8 0 16,-9 17-1,1 17-15,-18 17 16,0 17-1,0 0-15,9 9 16,17-1-16,0 1 16,17-9-1,0 0 1,17 0-16,17 0 16,9 8-1,16 18-15,9 0 16,9-18-1,8-16-15,9-18 16,17 1 0,17-18-16,9 1 15,-1-1 1,9 9-16,17 0 16,17 0-1,9-8-15,0-9 16,8 8-1,0-16-15,0 8 16,9 0 0,17-9-16,-9-8 15,1 17 1,-1-8-16,0-1 16,1 1-1,7-18 1,10 1-16,-1-1 15,1-16-15,16-9 16,9-9 0,-9 1-16,1-1 15,-18 1 1,-8-1-16,-26 9 16,-8 0-1,-9-8-15,-8-9 16,-35 0-1,-8 0-15,-8-9 16,-35 1 0,-25 16-16,-18 0 15,-8 9 1,-8-8-16,-18-1 16,-25-16-1,-26-9-15,-25 0 16,-34-17-1,-44 0-15,-24 17 16,7 25 0,-7 9-16,-35 9 15,-34 8 1,0 0-16,-9 8 16,-17 1-1,-16-1-15,-1 9 16,-42-8-1,-61-1-15,44 9 16,-35 9 0,-42-1-16,-17 9 15,-26 17 1,-34 17-16,0 26 16,-9 16-1,111-33-15</inkml:trace>
  <inkml:trace contextRef="#ctx0" brushRef="#br0" timeOffset="46872.33">32441 9644 0,'0'26'0,"-17"101"0,-17 137 15,-9 25-15,1-34 0,8 26 16,-9 59-16</inkml:trace>
  <inkml:trace contextRef="#ctx0" brushRef="#br0" timeOffset="50683.75">21226 13539 0,'0'0'0,"-8"0"0,-1 9 0,1 16 15,-9 18 1,-17 59-16,-9 68 15,-17 51 1,18-17-16,7-68 16,18-34-1,0-42-15,17-35 16,0-16 0,9-9-16</inkml:trace>
  <inkml:trace contextRef="#ctx0" brushRef="#br0" timeOffset="51017.28">20535 13633 0,'0'0'0,"0"0"0,26 0 16,25-9-1,43-8-15,8 9 16,9-9-1,43 0-15,25 0 16,9 8-16,8 1 16,111-1-16</inkml:trace>
  <inkml:trace contextRef="#ctx0" brushRef="#br0" timeOffset="51533.53">23070 13318 0,'0'0'0,"-9"0"0,1 8 16,-26 10-16,-17-1 16,-26 25-1,8 18 1,-7 25-16,-18 34 16,17 17-1,26 8-15,8 26 16,26 1-1,17-35-15,26-26 16,16-8 0,35-34-16,17-25 15,-51-35 1</inkml:trace>
  <inkml:trace contextRef="#ctx0" brushRef="#br0" timeOffset="51966.63">24009 13624 0,'0'0'0,"0"0"0,0 0 15,0 0 1,0 17-16,0 26 15,-9 33-15,-8 35 16,-17 25 0,17-26-16,0-8 15,0 9 1,8-34-16,9-26 31,9-34-31</inkml:trace>
  <inkml:trace contextRef="#ctx0" brushRef="#br0" timeOffset="52333.83">24384 13216 0,'0'0'0,"0"0"0,0 0 15,26 17 1,25 17-16,9 17 16,8 26-1,9 8 1,-17 0-16,-9 17 15,-8 34 1,-26 25-16,-43 26 16,-42 43-16,-35 0 15,-16-26 1,16-43-16,27-59 16,33-51-1</inkml:trace>
  <inkml:trace contextRef="#ctx0" brushRef="#br0" timeOffset="52811.59">25639 14049 0,'0'0'0,"9"0"0,25-8 16,60-18-16,25-16 15,-8 8 1,-26 0-16,1 0 16,-27 0-1,-7-9-15,-1-16 16,-26 25 0</inkml:trace>
  <inkml:trace contextRef="#ctx0" brushRef="#br0" timeOffset="53024.71">25707 14517 0,'0'0'0,"0"0"15,9 0 1,42 26-16,34-1 15,35-8-15,-1-8 16,-16-18 0,-1 1-16,-42 8 15</inkml:trace>
  <inkml:trace contextRef="#ctx0" brushRef="#br0" timeOffset="53354.88">27568 13505 0,'0'9'0,"-17"84"0,-34 196 16,-1 77 0,18-51-1,-25-26 1,-1 34-16,17 60 15</inkml:trace>
  <inkml:trace contextRef="#ctx0" brushRef="#br1" timeOffset="66067.27">19699 14883 0,'0'0'16,"0"0"-16,0 0 0,0 0 15,0 0 1,0 0 0,17 0-16,17 0 15,34 17 1,35 0-16,25 8 15,42 1 1,27-1-16,42 18 16,25 8-1,18 8-15,8 1 16,34 0-16,52-18 16,8 1-1,-9-1 1,27-8-16,41-8 15,27 8-15,16 0 16,1 25 0,-9 18-1,-9 16-15,9-16 16,-8-9 0,-10 0-16,-24-9 15,-52-16-15,-43-1 16,-42-8-1,-60 0 1,-60-8-16,-51-9 16,-51-8-1,-26-1-15,-25-8 0,-18 0 16,1 0 0,-26-8-1,-69-9-15,-93-18 16,-94 1-16,-34 0 15,-52 0 1,9 17 0,-17-8-1,-59-1-15,-35-8 16,8 0 0,18 9-16,-43-26 15,-51-34-15,-9 0 16,-8 17-1,-9 17 1,-25 17-16,-9 8 16,34-8-1,26 0-15,34 0 0,9-17 16,8-42 0,94-18-16</inkml:trace>
</inkml:ink>
</file>

<file path=ppt/ink/ink6.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42775" units="1/cm"/>
          <inkml:channelProperty channel="T" name="resolution" value="1" units="1/dev"/>
        </inkml:channelProperties>
      </inkml:inkSource>
      <inkml:timestamp xml:id="ts0" timeString="2024-06-26T17:24:58.058"/>
    </inkml:context>
    <inkml:brush xml:id="br0">
      <inkml:brushProperty name="width" value="0.05292" units="cm"/>
      <inkml:brushProperty name="height" value="0.05292" units="cm"/>
      <inkml:brushProperty name="color" value="#FF0000"/>
    </inkml:brush>
  </inkml:definitions>
  <inkml:trace contextRef="#ctx0" brushRef="#br0">26141 12453 0</inkml:trace>
</inkml:ink>
</file>

<file path=ppt/ink/ink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0T20:00:21.701"/>
    </inkml:context>
    <inkml:brush xml:id="br0">
      <inkml:brushProperty name="width" value="0.05292" units="cm"/>
      <inkml:brushProperty name="height" value="0.05292" units="cm"/>
      <inkml:brushProperty name="color" value="#FF0000"/>
    </inkml:brush>
  </inkml:definitions>
  <inkml:trace contextRef="#ctx0" brushRef="#br0">17386 4431 0,'0'0'0,"0"0"0,0 0 16,0 0-16,8 17 16,1 0-1,-1 0-15,26 17 16,35 25-1,33 1-15,26 8 16,-34-26 0,0 1-16,60 25 15,16 9 1,-59-26-16,-17-9 16,26-8-1,-27-25-15,-16-9 16,-43 0-16</inkml:trace>
  <inkml:trace contextRef="#ctx0" brushRef="#br0" timeOffset="302.3">18589 4584 0,'0'0'0,"0"0"0,9 0 16,8 17 0,0 0-16,8 0 15,1 0-15,0 8 16,-9 1 0,-9 8-1,1-9-15,-43 18 16,-26 25-1,-85 34-15,-69 17 16,-16-25-16,-103 16 16</inkml:trace>
  <inkml:trace contextRef="#ctx0" brushRef="#br0" timeOffset="1269.98">19298 7101 0,'0'0'0,"0"0"0,0 0 16,17 0-16,25 0 15,27-8 1,16-1-16,34-16 16,52 8-1,-9 0-15,-17 0 16,17-9 0,-8 1-16,-51-9 15,-35 8 1,-8 9-16,-18 0 15,-25 9 1,-8-1-16</inkml:trace>
  <inkml:trace contextRef="#ctx0" brushRef="#br0" timeOffset="1586.25">20535 6676 0,'0'0'0,"0"0"0,0 0 0,0 0 16,0 0 0,0 0-1,9 0-15,16 17 16,9 0 0,26 0-16,34 9 15,-26-18-15,-25 1 16,-17-1-1,-18-8-15,1 0 16,-18 26 0,-59 50-16,-52 35 15,-50-1 1,25-42 0,93-42-16</inkml:trace>
  <inkml:trace contextRef="#ctx0" brushRef="#br0" timeOffset="4014.93">19084 9423 0,'0'0'0,"0"0"0,0-17 16,0-9-16,0 9 16,0 0-1,0 0-15,0 9 16,0-1-16,0 9 16,0-8-1,26-1-15,25-8 16,34 0-1,35 0-15,-35 0 16,-17-8 0,35-1-16,25-8 15,0 0 1,-26 17-16,-50 0 16,-1 0-1,0 9-15,-17-1 16,-25 9-1</inkml:trace>
  <inkml:trace contextRef="#ctx0" brushRef="#br0" timeOffset="4332.43">20091 8862 0,'0'0'0,"0"0"0,0 0 16,0 0-1,0 0 1,0 0-16,0 0 0,0 0 16,17-9-1,35 1 1,41-9-16,10 17 16,-9 8-16,-26 9 15,-17 0 1,-25 0-16,-1 0 15,-7 26 1,-18 8-16,-43 17 31,-34 25-31,-42 1 16,33-26-16,61-34 16</inkml:trace>
  <inkml:trace contextRef="#ctx0" brushRef="#br0" timeOffset="6914.53">19084 11677 0,'0'0'0,"0"0"0,0 0 16,0 0-16,0 0 16,0 0-1,0 0 1,0-9-1,34 1-15,26-18 0,34 1 32,17 8-17,-43 17-15,-17-9 16,18 9 0,25-8-16,-1-1 15,10-8-15,-9 0 16,-35 0-1,18-17-15,0 0 16,-17 0 0,-26 17-16,-26 8 0</inkml:trace>
  <inkml:trace contextRef="#ctx0" brushRef="#br0" timeOffset="7217.17">19861 11268 0,'0'0'0,"0"0"0,0 0 16,0 0-1,0 0-15,0 0 16,8 0 0,44 0-1,7 0-15,-7 0 16,16 0-16,17 17 15,-17 0-15,-16 0 16,-18 9 0,-9-1-16,-16 9 15,-18 26 1,-25 17 0,-17-18-16,34-25 15</inkml:trace>
</inkml:ink>
</file>

<file path=ppt/ink/ink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0T20:01:46.137"/>
    </inkml:context>
    <inkml:brush xml:id="br0">
      <inkml:brushProperty name="width" value="0.05292" units="cm"/>
      <inkml:brushProperty name="height" value="0.05292" units="cm"/>
      <inkml:brushProperty name="color" value="#FF0000"/>
    </inkml:brush>
  </inkml:definitions>
  <inkml:trace contextRef="#ctx0" brushRef="#br0">10882 9244 0,'0'0'0,"0"0"0,0 0 0,435-8 0,-93-26 0,59-9 15,17 1 1,43 8-16,43 17 16,-95 8-1</inkml:trace>
  <inkml:trace contextRef="#ctx0" brushRef="#br0" timeOffset="1414.27">15551 9312 0,'0'0'0,"17"0"0,34 0 0,60 0 16,111 0-1,-17 0 1,42-8-16,18-1 16,85-16-1,59-1-15</inkml:trace>
  <inkml:trace contextRef="#ctx0" brushRef="#br0" timeOffset="1894.61">19246 9414 0,'0'0'0,"9"0"0,76 0 15,129-8-15,144-9 16,26 17 0</inkml:trace>
  <inkml:trace contextRef="#ctx0" brushRef="#br0" timeOffset="12982.38">5001 9993 0,'0'0'0,"0"0"0,18 17 16,-1 0-16,34 0 16,34-9-1,94 1 1,52-9-16,51-17 16,16 0-1,52 0-15,77 8 16,34 9-1,68 0 1,51-8-16,120-26 16,-273 8-1</inkml:trace>
  <inkml:trace contextRef="#ctx0" brushRef="#br0" timeOffset="17203.93">5001 11311 0,'0'0'0,"0"0"16,0 0-16,18-9 15,16 1 1,0-1-16,17 1 16,34-1-16,35 9 31,42 9-31,86 8 0,93 0 31,94-26-31,111-33 16,120-18-16,0-25 31,-248 26-31</inkml:trace>
  <inkml:trace contextRef="#ctx0" brushRef="#br0" timeOffset="19767">14228 11421 0,'17'0'0,"77"18"0,145 24 16,102 26-1,52 34-15,16 9 16,-33-9 0</inkml:trace>
  <inkml:trace contextRef="#ctx0" brushRef="#br0" timeOffset="23596.37">3892 12255 0,'0'0'0,"0"0"0,0 0 16,0 0-1,0 0-15,0 0 16,0 0-16,8 0 15,10 17 1,16 0-16,17-9 16,9 1-1,25-1-15,17 1 16,9-18 0,9 1-16,8-9 15,8 8 1,1 9-1,8 9-15,17-1 16,0 9-16,9-8 16,8-1-1,9-8 1,8 9-16,1-18 16,16 18-1,-8 8-15,42 0 16,1 0-16,25 0 15,9-8 1,-1-1-16,18 1 16,25-9-1,61-17-15,-61 8 16,-8 1 0,51-1-1,-35 0-15,10-8 16,-26-8-1,-1 8-15,44 25 16,-43 18-16,34 17 16</inkml:trace>
  <inkml:trace contextRef="#ctx0" brushRef="#br0" timeOffset="26391.57">6128 12799 0,'0'0'0,"0"0"0,9 0 16,-1 0 0,1 0-16,-1 0 15,-8 0 1,0 0-16,0 9 15,0 8 1,0 0-16,9 17 16,-18 34-1,1 34-15,-1 17 16,1 0 0,-1-17-16,1-25 15,8-18 1,0-8-16,0-25 15,8-1-15,9-8 16,0-8 0,26-1-16,17 1 15,34-18 1,34 1 0,17-9-16,-17-9 15,77-16-15,8-1 16,-8 9-1,34-8-15,17 8 16,25-9 0,69 9-16,-34 8 15,34 1 1,60-1 0,-77 26-16,42 17 15,52 0 1,-43 17-1,-8 1-15,42 16 16,17-9-16,-68 1 16,17 8-1,26 0-15,-9-17 16,-43 0 0,18 0-16,17 0 15,-95 0 1,1 8-16,-26-8 15,-8 0-15,-26 0 16,-86-25 0,1-1-16,-26 1 15,-60-9-15,-25 0 16,-18 0 0,1 0-16,-17 0 31,-1 0-31,1 0 15,-9-9 1,8-16 0,-16-26-16,-18-43 0,9-25 15,8-42-15,18-146 32</inkml:trace>
  <inkml:trace contextRef="#ctx0" brushRef="#br0" timeOffset="29199.17">17548 13250 0,'0'0'0,"0"0"0,0 0 16,0 0-16,0 0 15,0 0 1,0 0-16,0 0 16,0 0-1,0 0-15,0 0 16,0 0-16,0 0 31,0 0-31,0 0 16,0 0-1,8 17-15,1 8 16,-1 9 0,1 18-16,-9 7 0,0 9 15,0-8 1,0 8-1,0-9-15,0-8 16,9-8 0,-1-18-1,9 1-15,17-1 0,9 1 16,34-9 0,42-9-1,9-16 1,-8-1-16,68 1 15,25-1-15,-17-8 16,52-8-16,16 8 31,26 8-31,43 1 16,-25 8 0,33 8-16,26 9 15,-17 0-15,51 9 16,26 8-1,-52-9-15,9-8 16,43 17 0,17-17-1,-51 0-15,-26 17 0,34-8 16,-43 8 0,-8 0-1,9-9-15,-52 1 16,9-9-1,25-9-15,-59-8 16,-1 0 0,-16 0-1,-52 9-15,9-9 16,-25 0 0,-69 8-16,-17-8 15,-1 0-15,-33 0 16,-25 0-1,-27 0 1,1 0-16,-18 0 16,1 0-1,-1 0-15,1-8 16,-9-9 0,0-9-16,0-16 15,0-18 1,-9-33-16,-8-43 15,-17-153 1</inkml:trace>
  <inkml:trace contextRef="#ctx0" brushRef="#br0" timeOffset="37129.96">19084 4924 0,'0'0'0,"0"0"0,0 0 16,0 0-16,0 0 15,0 0 1,0 0 0,0 0-16,0 0 15,0 9-15,-8 33 16,-18 86 0,-34 50-1,-17 35-15,9-1 16,25-67-16,1-17 15,8-18 1,8-42 0,9-34-16,17-17 15,-9-42 1,9 8-16</inkml:trace>
  <inkml:trace contextRef="#ctx0" brushRef="#br0" timeOffset="37436.12">18273 4865 0,'0'0'0,"9"0"0,25 17 32,34 8-32,26 1 15,43-9 1,25-9-16,34-25 16,9-17-16,8-8 15,-33-1 1,101-25-1</inkml:trace>
  <inkml:trace contextRef="#ctx0" brushRef="#br0" timeOffset="37845.67">20364 4346 0,'-8'8'0,"-43"60"0,-43 68 0,8 34 16,10 43 0,7 51-16,10-1 15,33-25 1,34-33-16,18-27 16,17-33-1,8-43-15,-8-43 16,-1-25-1,-16-17 1</inkml:trace>
  <inkml:trace contextRef="#ctx0" brushRef="#br0" timeOffset="38495.65">20894 5179 0,'0'0'0,"0"0"0,0 9 0,-9 16 31,0 26-31,1 34 16,-1 17-16,1-8 15,-1-1 1,9-25 0,0-16-16,0-27 15,0 1 1,0-9-16,0-9 0,0 1 15,0-9 1,17-17-16,26-43 16,25-25-1,35-26 1,8 1-16,-17 25 16,0 0-16,-9 25 15,-8 18 1,-1 8-16,18 8 31,-25 18-31,-10 8 16,-7 17-1,-10 25-15,1 52 16,-26 42-16,-34 25 16,-9 18-1,-16-34 1,-1-35-16,17-33 15,9-43 1,17-17-16,0-26 0,0 1 16</inkml:trace>
  <inkml:trace contextRef="#ctx0" brushRef="#br0" timeOffset="38735.61">23130 4227 0,'8'8'0,"43"52"0,52 59 16,-9 34-16,-60 51 15,-85 128 1,-103 101-16,-111 52 16,52-136-1</inkml:trace>
  <inkml:trace contextRef="#ctx0" brushRef="#br0" timeOffset="39937.87">23855 5069 0,'0'0'16,"9"0"-16,8 8 0,51-8 15,43-8 1,-9-1-16,-8-8 16,-25 0-1,-35 9-15,-9-9 16,-16 17-1</inkml:trace>
  <inkml:trace contextRef="#ctx0" brushRef="#br0" timeOffset="40142.22">23761 5579 0,'26'8'0,"102"26"16,111 0 0,-9-34-16,18-34 15,102-34-15</inkml:trace>
  <inkml:trace contextRef="#ctx0" brushRef="#br0" timeOffset="41400.41">25306 4397 0,'0'0'0,"0"0"0,0 0 0,26 8 15,16 9 1,18 9-1,34 16-15,17 9 16,0 0 0,-9 0-1,-25 0-15,-26 0 16,-8 26 0,-26 51-16,-34 33 15,-51 1-15,-43-9 16,-9-26-1,-16-8-15,-43-16 16,33-44 0,27-25-16,17-17 15,33-17-15,27-8 32,16-1-32,26 1 15,26-18 1,33-16-16,44-9 15,42 25-15,0 26 0,17 51 32,69 26-17,-35-1-15,43-25 16,128 17 0</inkml:trace>
  <inkml:trace contextRef="#ctx0" brushRef="#br0" timeOffset="42614.71">27423 4601 0,'0'0'0,"0"0"0,-9 25 16,1 9-16,-1 0 15,1 17-15,-1 9 16,-16 25 0,-1 26-1,9 8-15,-9 17 16,-8-9 0,-9 26-16,1 9 15,-1-43 1,17-59-16,9-35 15,0 1 1,17-18 0,0 1-16,9-1 0</inkml:trace>
  <inkml:trace contextRef="#ctx0" brushRef="#br0" timeOffset="42954.64">26740 4405 0,'0'0'0,"0"0"0,0 9 0,17 8 0,9 17 31,33 0-31,44 8 0,68-8 16,42 0 0,-25-8-16,-26-1 15,-34-8 1,-34-8-16,-52-1 31</inkml:trace>
  <inkml:trace contextRef="#ctx0" brushRef="#br0" timeOffset="43768.97">28481 4040 0,'0'0'0,"0"0"15,-8 8-15,-1 26 0,-17 26 32,-33 50-32,-10 9 15,1 0 1,-9 9-16,1 8 16,-10 34-1,9 0-15,9 17 16,17 17-1,42-8-15,9-17 16,34-26-16,26-26 16,8-25-16,9-34 31,-8-34-31,-35-17 16</inkml:trace>
  <inkml:trace contextRef="#ctx0" brushRef="#br0" timeOffset="44508.89">28840 4252 0,'0'0'0,"0"0"16,0 0 0,-9 9-1,-8 25-15,-17 34 16,-17 42-16,-18 9 16,1-8-1,0-9-15,8-17 16,9-25-16,17-9 15,17-26 1,8-8-16,9-8 31,9-1-31,16-16 16,44-18-16,24-25 16,18-17-1,-25 0 1,-9 9-16,-9 7 15,-8 10 1,-18 8-16,9 17 0,-8 0 16,8 17-1,-8 0 1,8 17 0,-8 8-16,0 9 15,-26 26 1,-17 17-16,-9 8 0,-17-9 15,9-25-15,0-8 16,0-18 15,9-16-31,8-1 16</inkml:trace>
  <inkml:trace contextRef="#ctx0" brushRef="#br0" timeOffset="44833.4">28174 5511 0,'0'0'0,"17"0"0,60 0 15,42 0-15,26-17 16,9-26 0,8 1-16,9-1 15,-26 9 1,-17 0-16,-17 0 15,-34 0 1,-52 17-16</inkml:trace>
  <inkml:trace contextRef="#ctx0" brushRef="#br0" timeOffset="45377.13">28840 5919 0,'0'0'0,"0"0"0,17 0 15,17 9 1,8-1-16,-7 9 16,-1 0-1,-9 9-15,-16 8 16,-9 17-16,-34 17 16,-43 8-1,-34 1-15,-9-26 16,10-17-1,24-26-15,35 1 16,17-18 0,17 1-1,8-18-15,18 1 16,51-18 0,33 1-16,1 16 15,9 26 1,25 17-16,0 34 15,-9 9-15,-33-9 16,-35-17 0,0-9-1,9-16-15,-35-9 16</inkml:trace>
  <inkml:trace contextRef="#ctx0" brushRef="#br0" timeOffset="45710.98">30145 4261 0,'0'0'0,"52"59"15,67 120-15,26 93 16,-59 17 0,-95 68-16,-128 137 15,-144 101 1,-180 51-1,188-323 1</inkml:trace>
  <inkml:trace contextRef="#ctx0" brushRef="#br0" timeOffset="50900.38">31485 5247 0,'0'0'16,"0"0"-16,0 0 0,0 0 16,0 0-1,0 0 1,0 0-16,0 0 0,0 0 16,0 0-1,0 0 1,-8 0-1,-1 9-15,1-1 0,-1 1 16,-8 8 0,-17 25-16,-9 18 31,-16 25-15,-1 8-16,9-16 15,8-18 1,9-16-16,8 0 15,9-9-15,0-9 0,0-8 32,9-8-17,8-1-15,-9-25 0,9 0 32</inkml:trace>
  <inkml:trace contextRef="#ctx0" brushRef="#br0" timeOffset="51075.31">30811 5494 0,'0'0'0,"0"0"32,17 17-32,52 25 15,50 18 1,60-1-16,9-25 15,77-51 1,119-25-16</inkml:trace>
  <inkml:trace contextRef="#ctx0" brushRef="#br0" timeOffset="71692.87">32680 4482 0,'0'0'0,"0"0"0,0 0 0,0 0 16,0 17-1,0 8 1,9 9-1,-1 9-15,9 8 0,-8-9 16,0 9 0,-18 1-1,-17 41-15,1 69 16,-1-1-16,9-16 16,9 76-1,8-25-15,8-145 16</inkml:trace>
</inkml:ink>
</file>

<file path=ppt/ink/ink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0T20:03:33.936"/>
    </inkml:context>
    <inkml:brush xml:id="br0">
      <inkml:brushProperty name="width" value="0.05292" units="cm"/>
      <inkml:brushProperty name="height" value="0.05292" units="cm"/>
      <inkml:brushProperty name="color" value="#FF0000"/>
    </inkml:brush>
  </inkml:definitions>
  <inkml:trace contextRef="#ctx0" brushRef="#br0">10464 5826 0,'17'8'0,"26"9"0,50 17 0,206 17 15,-103-17-15,-33-17 0,-44-8 16,18-9-16,-18-9 15,-8 1-15,-43-1 16,-33 1 0</inkml:trace>
  <inkml:trace contextRef="#ctx0" brushRef="#br0" timeOffset="172.73">11403 5392 0,'0'0'0,"0"0"16,0 0-1,0 0-15,8 0 16,26 8-16,43 18 16,43 8-1,8 0-15,-43-9 16,-34 1-1,-25-1-15,8 1 16,-17-9 0</inkml:trace>
  <inkml:trace contextRef="#ctx0" brushRef="#br0" timeOffset="1167.47">11249 4669 0,'0'0'0,"0"0"16,-8 8-16,-18 26 16,-8 9-16,-9 34 31,-8 16-31,8-8 16,18 0-1,16 0-15,35 0 16,16 17-16,10 0 15,7-8-15,27-1 16,-10-24 0,1-18-1,26 0 1,8-9-16,0 1 0,-17-18 31,-43 1-31,-26-9 16,1 0-1,-9 0-15,-8 0 16,-1 0-16,1-9 16,-1 9-16,1 0 31,-26 9-31,-103 42 16,-76 51-16,-146 51 0,52-26 15,145 1 1,0-17-16,94-77 31,42-26-15</inkml:trace>
  <inkml:trace contextRef="#ctx0" brushRef="#br0" timeOffset="12923.01">17403 3708 0,'0'0'0,"0"0"0,0 0 16,0 0 0,-9-9-16,9 1 15,-8-1 1,-1-16-16,1 8 16,-1 0-16,1 8 31,-1 1-31,9 8 15,0 0 1,0 0-16,0 0 16,0 0-16,0 0 15,0 0 1,0 0 0,-9 0-16,1 0 15,-18 0 1,1 8-16,-1 1 15,-8-1-15,0 1 16,0-1 0,8 1-16,-8-1 15,-9 9 1,-16 9-16,7 16 16,1 9-1,0 1 1,17 7-16,0 9 15,-1-8 1,10-18-16,8 1 16,0-1-1,8 1-15,1 8 16,-1 17-16,1 0 16,8-9-1,0-16 1,0-1-16,0-16 0,17 8 31,0-9-31,0 1 16,25-9-1,18 0-15,0-9 16,0-8 0,-1-8-16,-7-9 15,-1-9 1,-8-8-16,-1-17 15,1-25 1,-9-1-16,-8 1 16,-1-9-1,-16 17-15,-1 0 16,-8 8 0,-8 1-16,-18 8 15,1 0 1,-18 8-16,-25 0 15,-18 1 1,18 8-16,51 25 16</inkml:trace>
  <inkml:trace contextRef="#ctx0" brushRef="#br0" timeOffset="21951.94">18564 3342 0,'0'0'0,"0"0"0,8 9 16,1-9-16,-1 8 16,-8-8-1,0 9-15,0-9 16,0 0-16,0 8 15,0 1 1,0-9 0,0 0-16,0 0 15,-8 0 1,-9 0-16,-18 8 0,-7-8 16,-1 9-1,0-1 1,-8 9-16,0 0 15,-9 17 1,9 0 0,8-8-16,9 8 15,-9 25-15,1 18 16,-9-1-16,8 1 31,0 8-31,9 0 16,9 0-16,7-8 15,10-1-15,8 1 32,0-1-32,8 9 15,1 0 1,0-8 0,-1-9-16,1 0 15,8 0 1,0 0-16,8 9 15,1-9 1,0-9-16,-1 1 16,9-9-1,0-9-15,1-8 16,-1 0-16,17-8 16,9-1-1,8-8 1,-8-8-16,16-18 15,18 1 1,0-18-16,0-8 16,0-8-1,-17-18-15,-17 1 16,-18-1 0,1-16-16,0-9 15,-9 8-15,0-25 16,9-26-1,-9-8-15,-9 9 16,1-9 0,-9-9-1,-8 9-15,-18 26 16,0-1-16,-16 9 16,-18 0-1,-17-9 1,-16 9-16,-35 9 15,-34-1 1,-26 26-16,-60 26 16,-76 50-16,-43 103 15,-8 42 1</inkml:trace>
  <inkml:trace contextRef="#ctx0" brushRef="#br0" timeOffset="43562.66">1434 15512 0,'-9'0'0,"-25"0"15,-8 0-15,24 0 16,-7 0-1,8 0 1,17 0 0,-17 0-16,8 0 0,1 0 31,8 0-31,0 0 0,0 0 16,0-8-1,34-1 1,68-16-16,18 8 0,-18 17 15,35 0 1,-1-9-16,-16 9 16,-43 0 15,-35 0-31,-16-8 16,-1-1-1,-8 1-15,1-1 16,-1 9-16,8-8 0,-8-1 31,0 1-15,-8-26-16,-1-9 15,-8 9 1,-8 0-16,-1 8 16,-8 1-1,0 8-15,0 0 16,9 8-1,-1 1-15,9 8 16,0 0 0,26 17-16,51 25 15,59 10 1,-8-18-16,-51-9 16,-26-8-1,-17-8-15,-8-1 16,-9 1-1,-9 8-15,-8 8 16,-34 35 0,-68 33-16,-137 86 15</inkml:trace>
  <inkml:trace contextRef="#ctx0" brushRef="#br0" timeOffset="165189.79">21969 5877 0,'0'0'15,"-9"25"-15,-16 103 0,-1 59 16,18-43 0,-9-59-1,8-51-15</inkml:trace>
  <inkml:trace contextRef="#ctx0" brushRef="#br0" timeOffset="167769.87">21645 8139 0,'0'0'0,"0"0"0,0 0 16,8 0 0,18 17-16,34 0 15,25 0 1,9 0-1,-9 0-15,-17 0 16,-16 0 0,-10 8-16,-16 18 15,-26 25-15,-34 34 16,-35 0 0,-33 9-16,17-18 15,16-33-15,10-26 31,25-9-31,8-16 16,9-1 0,17 1-16,0-9 15,17 17-15,51 17 16,60 17-16,34-9 16,52 18-1,119 33 1</inkml:trace>
  <inkml:trace contextRef="#ctx0" brushRef="#br0" timeOffset="174956.35">23138 9678 0,'0'0'0,"0"0"0,0 0 0,0 0 16,0 0 0,0 0-16,-8 0 15,-1 9 1,-8 8-1,-26 25-15,-8 18 16,17-1 0,8-8-16,9-8 15,0-9-15,9 0 16,-9 8 0,0-8-16,8-8 31,9-1-31,0-8 15,0 9-15,0-9 16,17 0-16,26 0 16,25 0-1,26 0 1,8-17 0,9-17-16,9-9 0,-9-8 31,0 9-31,-26 8 15,-25 0-15,-26 8 16,-8-8 0,-9 9-16,-9-1 15</inkml:trace>
  <inkml:trace contextRef="#ctx0" brushRef="#br0" timeOffset="175159.69">23522 9950 0,'0'0'0,"-8"34"0,-9 60 15,-9 33 1,9 35-16,-9 8 0,9-25 15,17-86 1</inkml:trace>
</inkml:ink>
</file>

<file path=ppt/ink/ink10.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0T20:10:55.284"/>
    </inkml:context>
    <inkml:brush xml:id="br0">
      <inkml:brushProperty name="width" value="0.05292" units="cm"/>
      <inkml:brushProperty name="height" value="0.05292" units="cm"/>
      <inkml:brushProperty name="color" value="#FF0000"/>
    </inkml:brush>
  </inkml:definitions>
  <inkml:trace contextRef="#ctx0" brushRef="#br0">15354 2577 0,'0'0'0,"0"0"16,9 17-16,-1 8 0,1 35 16,0 25-1,-1 43 1,1 16-16,-18 9 16,-17 0-16,18-17 15,-1-25 1,9-1-1,0-25-15,9-16 16,8-10-16,26 1 16,42-18-1,34-8-15,52-17 16,43-17 0,16-8-1,35-9-15,-1 0 16,18 0-1,34 17-15,-1 0 16,10 0 0,-1 8-16,-17 1 15,1 16-15,-27 1 16,-16-1 0,-26 1-1,-60-1-15,-42-8 16,-44-8-1,-24-1-15,-27 1 16,-16-18-16,0 1 16,8-26-16,8-51 15,1-51 1,25-145 0</inkml:trace>
  <inkml:trace contextRef="#ctx0" brushRef="#br0" timeOffset="3277.01">23420 1233 0,'0'0'0,"0"0"0,0 0 16,0-8-1,0-18-15,8 1 16,1 8-1,-18 0-15,1 0 16,-1 0 0,1 8-1,-9 1 1,-9-1-16,-8 9 16,-26 0-1,-8 0-15,8 0 16,-34 26-16,-17 25 15,18 17 1,-10 25-16,-8 18 16,-8 50-1,-1-8-15,35-25 16,8 51-16,9 8 31,8-26-31,17 1 16,26 8-1,26-25-15,25-9 16,34 17-16,52-26 16,33-25-1,35-34 1,34-25-16,-17-43 16,8-43-1,35-50-15,8-43 0,-9-26 31,-33-42-31,-35-9 16,-34-16-16,-51-1 16,-60 1-1,-51 7 1,-111 1-16,-196-25 16,-163 76-1,-153 178-15,213 52 16</inkml:trace>
  <inkml:trace contextRef="#ctx0" brushRef="#br0" timeOffset="32463.02">9653 6565 0,'0'0'0,"0"0"16,0 0-16,0 0 15,0 0 1,26 17-16,8 0 16,0-8-1,34 8-15,69-9 16,33 1-1,1 17-15,43-9 16,-18 0 0,-34 17-16,77 8 15,-68-25-15,-52 0 16,26 0 0,0-8-16,-42-9 15,-52 0 1,-25-9-1,-18 1-15,-25-18 16,9 9 0</inkml:trace>
  <inkml:trace contextRef="#ctx0" brushRef="#br0" timeOffset="32717.31">11206 6497 0,'0'0'0,"0"0"0,9 0 16,25 26-16,34 8 16,-16-9-1,7 1-15,35-1 16,-17 1 0,-17-9-1,-18 0-15,-7 9 16,-18 8-16,-26 17 15,-59 59 1,-171 86 0,-43 8-16,9 8 15</inkml:trace>
  <inkml:trace contextRef="#ctx0" brushRef="#br0" timeOffset="35453.5">16413 6021 0,'0'0'0,"0"0"0,0 0 0,0 0 16,0-8-1,8-1 1,1 1-16,-1 8 16,-8 0-1,0-9-15,-8 1 16,-9-1-16,-26 1 15,-34 8 1,-8 0-16,-9 25 16,-8 9-1,16 17-15,9 9 16,1 16 0,7-8-1,18 26-15,17 8 16,25-9-1,18-8-15,42 9 16,52 8-16,42-17 16,17-25-1,17-35 1,-17-33-16,-25-18 16,-26-16-1,-26-18-15,-25-33 16,-35-18-16,-42-17 15,-94-33 1,-119-18-16,-94-8 16</inkml:trace>
  <inkml:trace contextRef="#ctx0" brushRef="#br0" timeOffset="38513.37">6085 9321 0,'0'0'0,"0"0"15,0 0-15,0 0 16,0-9 0,0 1-16,0-1 15,-8 1 1,8 8-1,-9-9-15,9 9 16,0 0 0,0 0-16,0 0 15,9 0-15,34-8 16,25 8 0,26 0-16,8 8 15,-42 1 1,-9-1-16,17 1 15,9-1 1,-17-8 0,-17 0-16,-18 0 15,1-8 1,-18-1-16,1 9 16,-9 0-16</inkml:trace>
  <inkml:trace contextRef="#ctx0" brushRef="#br0" timeOffset="38806.19">6623 8981 0,'0'0'0,"0"0"0,0 0 15,0 0 1,9 8 0,16 26-1,26 0-15,18 0 16,-1 9-16,9-1 15,-17-16 1,-26-1 0,-9-8-16,-8-8 15,-8-1 1,-1 1-16,-25 8 16,-59 25-16,-44 18 15,1-1 1,-35 18-16,0 8 15,-102 51 1</inkml:trace>
  <inkml:trace contextRef="#ctx0" brushRef="#br0" timeOffset="40710.43">12043 8624 0,'0'0'0,"0"0"0,0 0 15,-9-9-15,-8 1 16,-25-1 0,-18 9-16,0 9 15,-25 8 1,-1 0 0,18 8-16,0 9 15,-26 17-15,-17 26 16,0 16-1,9 26-15,16 9 16,9 16 0,9 18-1,25-34-15,18-18 16,25 9 0,34 0-16,9-34 15,33 0-15,61-8 16,0-35-1,8-25 1,25-8-16,-7-18 16,-27-25-1,-33-17-15,7-25 16,-24-35-16,-35-25 16,-34-34-1,-51-43-15,-60-8 16,-60 17-1,-85 0-15,-136 17 16,-137 102 0,102 68-1</inkml:trace>
  <inkml:trace contextRef="#ctx0" brushRef="#br0" timeOffset="43463.85">20800 8785 0,'0'0'0,"0"0"0,0 0 15,0 0 1,8 0 0,1 9-16,-1-1 0,-8-8 31,0 0-15,0 0-16,-8 17 15,-18 9 1,-51 8-16,-34 8 15,-8 1 1,-26 8-16,0 0 16,17 17-1,17 17-15,25 25 16,18 1 0,34 8-16,34 26 15,43 16 1,59 1-16,69-43 15,42-26 1,-8-33-16,-17-43 16,-9-9-1,-17-33-15,-8-52 16,-9-42-16,-34-51 16,-43-34-1,-51-43 1,-68-8-16,-94 17 15,-103 9 1,-238-52-16,110 94 16</inkml:trace>
  <inkml:trace contextRef="#ctx0" brushRef="#br0" timeOffset="46638.03">8253 10903 0,'0'0'15,"0"0"-15,-8 17 0,-18 17 16,-25 25-1,-26 35 1,-34 25-16,-8 42 16,-18 35-1,35-26-15,33-8 16,10 33 0,33-50-16,35-35 15,33 52-15,18-17 16,0-52-1,17-25 1,34-17-16,25-34 16,-25-51-1,9-76-15,8-26 16,-9-34-16,-8-43 16,-26 9-1,-25 8-15,-26 26 16,-17 17-1,-34 8-15,-8 26 16,-9 26-16,-9 16 31,-17 9-31,0 26 16,-25 8 0,-9 0-16,51 25 15</inkml:trace>
  <inkml:trace contextRef="#ctx0" brushRef="#br0" timeOffset="47449.49">13408 10852 0,'-8'0'0,"-1"-9"15,-16 1-15,-18-9 16,-8 0 0,-17 8-16,8 9 15,-17 9 1,-17 33-16,-8 18 15,8 16 1,0 18-16,9 16 16,8 18-1,8 51-15,27-1 16,16 1-16,35 8 16,33-17-1,10-60-15,42 1 16,76-26-1,18-42-15,0-43 16,0-34 0,-35-17-1,-8-35-15,-8-24 16,-26-18-16,-43 1 16,-34-1-1,-25-16-15,-43-18 16,-35 18-1,-50 16-15,-129 0 16,-93-8 0</inkml:trace>
  <inkml:trace contextRef="#ctx0" brushRef="#br0" timeOffset="48520.41">18529 10877 0,'0'0'0,"0"0"0,0 0 16,-8 0 0,-1 9-1,1-1 1,-1 1-16,1-1 0,-18 1 16,-17 8-1,-16 0-15,-35 25 16,-9 1-1,18 16-15,-9 9 16,0 9 0,17 8-1,9 8 1,8 10-16,18 7 16,8-8-16,25 9 15,9 8 1,26 0-16,16-9 15,10-16 1,16-26 0,26-8-16,34-18 15,8-25 1,-8-17-16,-17-17 16,9-34-16,-1-26 15,-16-25 1,-35-25-1,-17-9-15,-34-17 16,-34-34 0,-17 25-16,-51 9 0,-18-9 15,-8 35 1,52 67 0</inkml:trace>
  <inkml:trace contextRef="#ctx0" brushRef="#br0" timeOffset="49313.37">22985 10775 0,'0'0'0,"-9"-8"15,-8 8-15,-34 0 16,-26 8 0,-17 9-16,-17 26 15,-8 16 1,-1 18-1,18 8-15,-1 0 16,9 25 0,1 26-16,33-8 15,34 0 1,26 25-16,34 0 16,35-9-16,42-8 15,34-8 1,25-17-1,1-26-15,8-17 16,1-26 0,-27-25-16,-25-25 15,-17-26 1,-26-26-16,-16-50 16,-35-69-16,-85-68 15,-103-42 1,-128-17-1,-16 42-15</inkml:trace>
  <inkml:trace contextRef="#ctx0" brushRef="#br0" timeOffset="78082.96">26774 7382 0,'9'0'0,"102"8"0,281 18 0,154-18 31,43-25-31,-170-8 16</inkml:trace>
  <inkml:trace contextRef="#ctx0" brushRef="#br0" timeOffset="100037.49">26125 2509 0,'0'0'0,"0"0"0,0 0 15,-8 25-15,-9 26 16,-17 43-1,-35 93-15,-16 17 16,0-42 0,-9 16-1,26 1-15,33-43 16,18 0-16,0 26 31,17-43-31,0-51 0,0-34 16,9-26-1</inkml:trace>
  <inkml:trace contextRef="#ctx0" brushRef="#br0" timeOffset="100408.88">26714 2926 0,'-17'25'0,"-77"86"0,-34 50 0,17-16 15,26-18 1,42-25-16,35-17 16,25-25-1,34-9 1,52-8-1,42-35-15,60-42 16,-1-51-16,-7-60 0,-35 1 16,-60-1 15,-25-16-31,-51 8 16,-43 42-1,-43 26-15,-51 25 0,51 52 16</inkml:trace>
  <inkml:trace contextRef="#ctx0" brushRef="#br0" timeOffset="101017.5">27892 3836 0,'-25'17'0,"-35"34"0,-34 25 16,17-8-1,34-25-15,26-18 16,9 1-1,33-1-15,18-8 16,51-34 0,77-34-16,-9-17 15,-51 9 1,-17-1-16,-26 1 16,-34 8-16,-17-1 15,-17 10 1,-8 8-16,-9 17 15,-9 8 1,-8 18 0,-17 33-16,8 9 15,9 52-15,17 84 16,25-17 0,26 42-1,-16 18-15,-61-26 16,-42 51-1,-35-76-15,1-35 16,-35 1 0,-34-35-16,9-50 15,-17-51 1,-9-60-16,34-35 16,26-24-1,77 50-15</inkml:trace>
  <inkml:trace contextRef="#ctx0" brushRef="#br0" timeOffset="101951.29">28840 4252 0,'0'0'0,"0"0"0,17 0 0,25-8 16,27-1-1,7 9-15,1 0 16,-17 0-1,-17 9-15,-18 8 16,1 0-16,-9 17 16,-17 25-1,-43 52-15,-51 16 16,-8-33 0,17-35-1,8-24 1,-9-27-16,18-25 15,17-26-15,25-25 16,18 0-16,16 26 16,18 8-1,8 8 1,9 9 0,25 26-16,26 42 0,51 42 15,-17-8 1,-77-42-1,0-9-15,1-8 16,-18-18 0</inkml:trace>
  <inkml:trace contextRef="#ctx0" brushRef="#br0" timeOffset="102399.46">30308 2994 0,'0'0'0,"0"17"0,0 51 15,-9 25 1,-8 26-16,-26 9 16,-8 8-16,0-26 0,17-50 15,17-35 17,0 1-32,17-18 15,8-16 1,77-60-16,52-51 15,34-26-15,34-16 0,-18 42 32,-42 51-17,-17 34-15,-8 34 16,-1 51 0,-16 93-16,-43 128 15,-43 0 1,-17 43-16</inkml:trace>
  <inkml:trace contextRef="#ctx0" brushRef="#br0" timeOffset="103305.71">24453 3011 0,'0'0'0,"0"0"16,-9 8-16,-8 26 15,-17 51 1,-26 26 0,-17 16-16,9 1 15,25-35-15,1-33 16,8-9 0,8-17-16,9-17 15,17-9 1,8-50-1,44-77-15,50-68 16,52-17-16,25 34 16,-8 59-1,-1 43-15,1 42 16,-52 44 0,-16 41-16,-9 69 15,-17 59 1,-52 25-16,-33-33 15,-1-120 1</inkml:trace>
  <inkml:trace contextRef="#ctx0" brushRef="#br0" timeOffset="105061.11">22737 3572 0,'-8'0'0,"-10"0"16,-16 17-16,-25 17 15,-18 0 1,-34 34 0,0 17-16,8 9 15,10 16 1,41 1-16,27-26 16,33 0-1,44-9-15,58-8 16,70-34-1,59-42-15,-9-43 16,-25-60-16,-26-42 31,-51 9-31,-51 16 16,-43-17-16,-42 1 16,-61 16-16,-42 9 15,-51 17-15,-17 26 16,-9 16-1,-128-16 1</inkml:trace>
  <inkml:trace contextRef="#ctx0" brushRef="#br0" timeOffset="105499.74">25221 1641 0,'0'0'0,"-60"26"0,-68 42 16,-17 34 0,-43 34-16,-8 43 15,25 16 1,-17 35-16,26 42 16,34 34-1,26 43 1,25 42-16,60-17 15,77-51 1,85-8-16,111-26 16,77-102-16,85-110 15,77-43 1,8-34-16,-93-9 16</inkml:trace>
  <inkml:trace contextRef="#ctx0" brushRef="#br0" timeOffset="105930.4">32501 2203 0,'0'8'0,"26"52"0,42 84 16,17 145-1,-33 86-15,-70 75 32,-110 86-32,-153 59 15,-69 26 1,26-93-16,-86-61 15,103-178-15</inkml:trace>
  <inkml:trace contextRef="#ctx0" brushRef="#br0" timeOffset="106664.59">22071 4074 0,'0'0'0,"43"-9"0,128-8 0,102-8 16,34-9 0,-34 0-16,69-17 15</inkml:trace>
</inkml:ink>
</file>

<file path=ppt/ink/ink1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0T20:14:15.076"/>
    </inkml:context>
    <inkml:brush xml:id="br0">
      <inkml:brushProperty name="width" value="0.05292" units="cm"/>
      <inkml:brushProperty name="height" value="0.05292" units="cm"/>
      <inkml:brushProperty name="color" value="#FF0000"/>
    </inkml:brush>
  </inkml:definitions>
  <inkml:trace contextRef="#ctx0" brushRef="#br0">16925 1735 0,'0'0'16</inkml:trace>
  <inkml:trace contextRef="#ctx0" brushRef="#br0" timeOffset="1433.76">16686 1420 0,'0'0'0,"0"0"16,0 0-16,0 0 16,0 0-1,0 0-15,0 0 16,0 0 0,0 0-16,-9 0 0,1 9 15,-9-1 1,-9 1-16,-25-1 15,0 9 1,17 17-16,-1 0 31,-7 0-31,-18 17 16,-8 9 0,-1 8-16,10 8 15,-1 10-15,9-18 16,-9 8-16,9 26 15,17 0 1,17 9 0,-1-1-1,1 9-15,17 9 0,0-26 16,0-8 0,0-9-1,0-9 1,0 1-1,0-9-15,0-17 16,17 0 0,1 17-16,16 0 15,8 0 1,10-9-16,7-8 16,18 9-16,-9-1 15,-25-16 1,25 0-16,35 16 15,-9-16 1,17-1-16,-18-8 16,-33-8-1,17 8-15,34-9 16,-9-8 0,9 9-16,-25-9 15,-9 0 1,42 0-16,60 8 15,-34-8 1,-8 0-16,93 9 16,-50-9-1,-27 8-15,69 18 16,-60-1 0,0-16-1,69-1-15,-86-8 16,0-25-1,34-9-15,-42 0 16,-35-9-16,-16-8 16,16-8-1,-8-1-15,-9-8 16,1-8 0,-10-9-16,-16-17 15,-9-26-15,-25 1 31,-17-18-31,-1-17 16,1-8 0,-9 9-16,0 25 15,0-26-15,8 0 16,1 26-16,-18 9 16,-8-35-1,-17 1 1,-9 8-16,1 0 15,7-18-15,10 1 32,8 34-32,0 17 0,-9-17 15,-8 9 1,-9 25 0,-16 0-16,-10 8 15,-25 9-15,-42-9 16,-26 18-1,-35-1 1,-33 18 0,-26 8-16,-17 25 15,-9 9-15,-8 26 16,-17 25-16,-1-9 31,-24 26-31,24-17 16,44 1-1,-9 24-15,-1 1 16,18 16 0,-51 9-16,-9 9 15,1 16-15</inkml:trace>
  <inkml:trace contextRef="#ctx0" brushRef="#br0" timeOffset="8905.74">23147 3538 0,'0'0'0,"8"0"0,18 17 16,17 0-16,33 0 16,10-9-1,16 1 1,18-1-16,33-8 15,27 9-15,-18-9 16,-9 0 0,-8 0-16,-51-9 15,-42 9 1,-18 0-16,-17 0 16,-9 0-1,-16-8-15,-35-1 16,-68 1-1,-94-18-15,-17 18 16,17 8 0,-33 8-16,16 1 15,34-9 1,17 0-16,26 8 16,8 1-1,9-9 1,9 8-16,42-8 15,43 0-15,17 0 16,0 0 0,17 0-16,0 0 15,17 0 1,85 17-16,129 0 16,59 0-1,26-17 1,8-8-16,-42 8 15,-60-9 1,-17 1-16,-35 8 16,-67 0-1,-44 0-15,-24 0 16,-18 0-16,-9 0 16,-110 17-1,-188 34 1,-86-9-16,-76 1 15,-35-26 1,60 9-16,35 8 16</inkml:trace>
  <inkml:trace contextRef="#ctx0" brushRef="#br0" timeOffset="16948.55">10822 6565 0,'0'0'0,"0"0"16,0 0-16,17 17 16,0 0-1,26 0-15,42 17 16,26-8-16,9 8 16,-26-8-1,-9-9 1,26 0-1,-17-9-15,0-16 0,8-1 16,-33 1 0,-27-9-1,1-9-15,-17-8 16,-18 26 0</inkml:trace>
  <inkml:trace contextRef="#ctx0" brushRef="#br0" timeOffset="17254.34">11744 6497 0,'0'0'0,"0"0"0,0 0 31,0 0-31,9 0 16,33 0-16,35 0 15,26-8 1,7 8-1,-24 0-15,-18 17 0,-17 0 32,-25 0-32,0 0 15,-18 8 1,-16 26-16,-44 52 16,-42 24-16,-8-8 15,8-34-15,26-25 16,42-43-1</inkml:trace>
  <inkml:trace contextRef="#ctx0" brushRef="#br0" timeOffset="78920">21798 6021 0,'0'0'0,"0"0"0</inkml:trace>
  <inkml:trace contextRef="#ctx0" brushRef="#br0" timeOffset="79629.49">22063 5485 0,'0'0'0,"0"0"0,0 0 15,0 0 1,0 9-1,0-1-15,0-8 16,0 9 0,0 8-16,0 25 0,-9 26 31,-16 26-31,-1 8 16,-25-8-16,0 33 15,8 9 1,9-8-16,17-43 15,0-43 1,0-8-16,0-8 16,0-1-1,8-16 1,0-1-16,9 1 16,0-9-16,9-26 15,8-76 1,9-42-1,16 33-15,18-8 16,8-17 0,9 0-16,0 42 15,-9 35 1,1 8-16,-1 17 16,9 8-16,8 18 15,0 16 1,1 26-16,-1 34 15,-17 17-15,-16 9 16,-18-9-16,-17 26 16,-9-1 15,-8-8-31,-8-17 16,-1-25-16,1-9 15,-1-17 1,9-9-16,0-16 0</inkml:trace>
  <inkml:trace contextRef="#ctx0" brushRef="#br0" timeOffset="80594.5">23053 4541 0,'0'0'0,"0"0"0,0 0 16,25 0-1,18 17-15,17 0 31,0 0-31,-1 0 16,18 9-16,9-1 31,-18 1-31,-8-1 16,-18 9-16,1 1 16,-9 7-1,-8-8-15,-18 17 16,-25 17-1,-26 0-15,-25 0 16,0-25 0,0-18-1,-9-16-15,9-1 16,25-8-16,17 0 16,9 0-1,9 0-15,8 0 16,0 0-1,25 0 1,9 0-16,43 17 16,68 0-1,17 9-15,26-9 16,26-9 0,-44-8-16,-110 0 15</inkml:trace>
  <inkml:trace contextRef="#ctx0" brushRef="#br0" timeOffset="89607.05">22660 8045 0,'0'0'0,"0"0"0,0 17 15,0-8-15,0 8 16,0 0 0,0 17-1,-8 17-15,-1 17 0,1-9 16,-1 1 0,1-18-1,-1 1-15,1-18 31,-1 1-31,0-1 16,9-16 0,0-1-16,0-8 15,0-17 1,0-25-16,0-26 16,18 0-1,-1 17-15,17-17 16,17-17-1,0-9-15,-8 9 16,-9 26 0,9 16-16,-1 9 15,-16 17 1,0 0-16,-1 17 16,9 17-1,0 26-15,-8 25 16,0 0-1,-18 0-15,1 8 16,-1 9 0,-16 0-16,-1-17 15,1-17 1,-1-17-16,1-17 16,8-8-1</inkml:trace>
  <inkml:trace contextRef="#ctx0" brushRef="#br0" timeOffset="90641.58">23010 7101 0,'0'0'16,"0"0"-16,9 0 0,-9 0 15,8-8 1,1-1-16,8 1 16,8-1-1,18-16-15,25-9 16,1 0-1,-27 8-15,10 9 16,7 0 0,-16 17-1,0 0-15,-18 17 16,1 0 0,0 9-16,-18-1 15,-8 9 1,-17 9-16,-9 8 15,-8-9-15,9 1 16,-10-9 0,-7 8-16,-9-16 15,16-1 1,1-16 0,17-1-16,0 1 15,0-1 1,17-8-16,0 0 15,0 0-15,0 0 16,26-8 0,-1-1-1,18 1-15,34-9 16,0 8 0,-18 9-16,1 0 15,8-8-15,1-1 16,-35 1-1</inkml:trace>
  <inkml:trace contextRef="#ctx0" brushRef="#br0" timeOffset="91379.1">22293 8717 0,'0'0'0,"0"0"0,9 0 15,25 0 1,26 0-16,25 17 15,17 0 1,18-8-16,25-18 16,17 1-1,9-9-15,-9-9 16,-8 1 0,-9-1-16,-34-8 15,-43 17 1,-34 0-16,-25 8 0</inkml:trace>
  <inkml:trace contextRef="#ctx0" brushRef="#br0" timeOffset="92096.97">22882 9244 0,'0'0'0,"0"0"0,0 0 16,0 0 0,9 0-16,8-8 15,8-1 1,10 9-16,7 0 15,1-8 1,8 8 0,9-9-16,-17 9 15,-18 0-15,-8 0 16,-8 0 0,-1 0-16,-8 0 15,-8 17 1,-9 17-1,-17 17-15,-26 0 16,-9 0 0,10-8-16,8-1 15,8-16-15,9 0 16,17-9 0,0-9-16,0 1 15,17-1 1,0 9-16,0-8 15,0 8 1,25 0 0,18 17-16,25-9 15,9 1 1,8-18-16,1 1 16,-27-18-16,1 1 15,-26 8-15</inkml:trace>
  <inkml:trace contextRef="#ctx0" brushRef="#br0" timeOffset="99036.92">24342 10129 0,'0'0'0,"0"0"16,-9 0-16,1 8 15,-1 9-15,1 17 31,-18 34-31,0 51 16,-8 18 0,9-18-16,8-51 15,-1-26 1,1-16-16,0-1 16,9-8-1,8-8-15,0-1 16,0-8-16,0 0 15,0-8-15,8-35 16,9-59 0,9 0-1,-9 34-15,0 25 16,17 1-16,17-9 16,9-9-1,-9 9 1,-16 17-1,-1 0-15,8 17 16,1 0-16,-9 17 16,0 26-16,-8 8 15,0 8 1,-1 35 0,-16 16-16,-1 1 15,1-17 1,-1-18-1,1-16-15,-9-18 0,8 1 16,1-18 0</inkml:trace>
  <inkml:trace contextRef="#ctx0" brushRef="#br0" timeOffset="99683.9">25076 9321 0,'0'0'0,"0"0"0,0 0 16,17 0-1,0 0-15,0 0 32,8 8-17,1 9-15,0 9 16,-1 16-1,1 35-15,-18 0 0,1-26 32,-18 0-32,1 0 15,-18 8 1,1-16-16,-1-18 16,9-8-1,0-8-15,0-1 16,8-16-1,1-1-15,-1 1 16,1-1 0,8 1-16,0-1 15,0 9 1,0 0-16,8-8 16,9 8-1,26 0-15,25 17 16,35 0-1,-9 8-15,8-16 16,9-1 0,8-16-16,1-18 15,-60 9 1</inkml:trace>
  <inkml:trace contextRef="#ctx0" brushRef="#br0" timeOffset="100515.67">23966 11370 0,'0'0'0,"0"0"0,0 0 15,0 0 1,0 0-16,0 0 16,0-8-1,17-1-15,-8 9 16,8-8-16,8 8 16,10-9-1,24 1 1,27-18-16,25 1 15,34-9-15,34-26 16,-25 9 0,-18 9-1,-8-1-15,-17 9 16,-17 0 0,-17 17-16,-17 9 15,-9-1-15,-26 1 16,-16 8-1</inkml:trace>
  <inkml:trace contextRef="#ctx0" brushRef="#br0" timeOffset="101406.52">24248 11558 0,'0'0'0,"0"0"16,0 0-16,0 0 16,-9 25-16,-8 18 15,-8 16 1,-1 1-1,0-18-15,-8 1 16,0-1 0,17-16-1,0-1-15,8 1 0,9-9 16,9 0 0,25 0-16,17-9 15,26 1 1,8-18-1,-8 1 1,9-9-16,-10 0 0,-7 8 16,-10 1-1,10-1-15,-10 1 32,-7 8-32,-18 0 15,-9 0 1,1-9-1,-9 1-15,0-1 0,-8 1 16,-1-1 0</inkml:trace>
  <inkml:trace contextRef="#ctx0" brushRef="#br0" timeOffset="101652.34">24717 11575 0,'0'0'0,"0"8"0,-8 26 16,8 43-16,0 16 15,0 43 1,-9 51-16,1-34 16,-1-51-1,9 18-15,0-18 16,0-34-1,0-43-15</inkml:trace>
  <inkml:trace contextRef="#ctx0" brushRef="#br0" timeOffset="197930.08">27363 2075 0,'0'0'0,"-17"26"0,-9 25 0,-59 348 0,68-314 16,8 0-16,9 26 16,0 8-1,0-25-15,0-43 16,0-26-16,0 1 15,0-18 1,0-25 0,0-34-16,9-17 15,25-8-15,60-52 16,43-59-16,-35 42 16,-8 52-1,25 8-15,18 8 16,-9 26-1,-43 26 1,-8 33 0,0 9-16,-9 26 0,-8 42 15,-9 76 17,-25 1-32,-26 8 15,-17 34 1,-9-76-16,-8-60 15,0-17-15,17-26 16,8-16 0,9-1-16</inkml:trace>
  <inkml:trace contextRef="#ctx0" brushRef="#br0" timeOffset="199127.69">28626 1029 0,'0'0'0,"0"0"0,0 0 16,0 0-16,9 0 31,8 0-31,0 0 0,0 0 16,-9 0 15,1 0-31,0 0 16,-1 0-1,-8 0-15,0 0 16,0 0 0,0 0-16,17 9 15,0-1 1,17 9-16,1-17 15,-10 9 1,1-1-16,-1 9 16,1 0-1,0 0-15,8 0 16,0 9 0,8-1-1,1 9-15,8 9 16,-8 16-16,-26 18 15,-25 8 1,-27-9-16,-41 1 16,-27-9-1,-8-17-15,-17-17 16,17-26 0,26-8-16,42-8 15,18-1 1,8 1-16,17 8 15,8-9-15,26 9 16,43 0 0,8 0-1,35 17-15,42 17 16,-8 0 0,-43 9-16,0-9 15,-9 9-15,-25-18 16,-43-8-1</inkml:trace>
  <inkml:trace contextRef="#ctx0" brushRef="#br0" timeOffset="199685.45">26646 3359 0,'0'0'0,"0"0"0,0 17 16,0 17-16,26 9 16,42 8-1,77 8 1,51-16-16,69-35 16,34-16-16,-9-9 15,26 0 1,-43-9-16,8 9 15,-25 9 1,-51 8 0,-34 0-16,-26 0 15,-42 8 1,-69-8-16</inkml:trace>
  <inkml:trace contextRef="#ctx0" brushRef="#br0" timeOffset="200306.8">27440 4635 0,'0'0'0,"8"-9"0,35 1 16,25-9-1,-8 8-15,8 9 31,9 17-31,-17 9 16,0 25-16,-26 8 16,-17 1-1,-34 17 1,-34 42-16,-52 25 16,-16-25-1,-9-51-15,17-17 0,34-17 31,26-17-31,8-8 0,26-1 16,17-8 0,0-8-16,26-1 15,50 1 1,44 8 0,8 0-1,-17 0-15,8 17 16,-33-9-1,-10 1-15,-7-1 16,-27 1 0,10-9-16,-27 0 15</inkml:trace>
  <inkml:trace contextRef="#ctx0" brushRef="#br0" timeOffset="200736.5">28797 3929 0,'0'0'0,"0"0"16,-9 0-16,1 17 16,-9 0-1,-9 17-15,-17 17 16,-16 9-1,8-1-15,16 9 16,1-8-16,9-9 16,8 0-1,17 8 1,17 1-16,8-9 16,35-9-1,-17-16-15</inkml:trace>
  <inkml:trace contextRef="#ctx0" brushRef="#br0" timeOffset="200987.61">28942 3648 0,'0'0'0,"0"9"0,-9 25 15,1-9-15</inkml:trace>
</inkml:ink>
</file>

<file path=ppt/ink/ink1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0T20:18:52.491"/>
    </inkml:context>
    <inkml:brush xml:id="br0">
      <inkml:brushProperty name="width" value="0.05292" units="cm"/>
      <inkml:brushProperty name="height" value="0.05292" units="cm"/>
      <inkml:brushProperty name="color" value="#FF0000"/>
    </inkml:brush>
  </inkml:definitions>
  <inkml:trace contextRef="#ctx0" brushRef="#br0">9226 7033 0,'0'0'0,"0"0"0,0 0 16,0 0-16,9 0 15,16 0 1,52 0-16,85 9 15,9-9 1,8-9 0,60 9-1,-25 9-15,-1-9 0,-34 8 16,1-8 0,50-8-1,-68-1-15,-77-8 16,-8 9-1,0-1 1,-51 9-16</inkml:trace>
  <inkml:trace contextRef="#ctx0" brushRef="#br0" timeOffset="352.07">11138 6327 0,'0'0'0,"0"0"0,26-8 0,25 8 16,17 8 0,-17 1-16,1 8 15,33 8 1,9 18-16,0 8 15,-17-9 1,-26 1-16,-17 8 16,-17 0-1,-43 34 1,-68 60-16,-68 25 16,-85 25-16,-35 9 15,9-16 1,-51 24-1</inkml:trace>
  <inkml:trace contextRef="#ctx0" brushRef="#br0" timeOffset="11129.88">19306 4950 0,'0'0'0,"0"0"0,0 0 15,-8 0-15,-1 8 16,-25 9-16,-9 17 16,-8 26-1,-34 33 1,-35 1-16,9-9 31,0 0-31,34-9 16,26-8-1,0 17-15,17 1 16,0-10-16,17 9 16,0 9-1,17 16-15,0-8 16,17-17 0,0-17-1,0-25-15,34-9 16,26-9-1,51-16-15,17-35 0,9-33 32,33-35-32,-42-8 15,-8-8 1,-9-9-16,-9-26 16,-25 9-1,-34 34-15,-26 0 16,-34 17-1,-34 8-15,-43 1 16,-170-1 0,-129 1-16</inkml:trace>
  <inkml:trace contextRef="#ctx0" brushRef="#br0" timeOffset="13526.67">19084 5230 0,'0'0'0,"0"0"0,0 0 16,0 0-16,0 0 16,0 0-1,0-8-15,-8-1 16,-1-16 0,1-1-16,-1-16 15,-17-18 1,-16 1-16,-27-18 15,-24-16 1,-10-1-16,43 17 16,9 1-1,-26-18-15,-25 9 16,-52-17-16,26 17 31,43 17-31,-52 0 16,-25 26-16,26 16 15,-9 18 1,-77 25-16,68 17 16,17 17-1,-67 25 1,41 1-16,53-9 16,-19 25-16,-33 26 15,26-8-15,42-18 16,26 35-1,-26 17 1,-9 8-16,26-43 16,1-8-1,-10 17-15,27-8 16,33-26-16,9-17 31,17-25-31,0-18 16,0 1-1,0-18-15,0-8 16,-9-17-16,1-17 16,-9-34-16,8 25 15</inkml:trace>
  <inkml:trace contextRef="#ctx0" brushRef="#br0" timeOffset="13809.9">15141 5383 0,'0'0'0,"0"0"0,0 0 0,0 9 16,17 8 0,0 25-1,17 43-15,-8 34 16,-9-16 0,-9-10-16,-16-8 0,-1-8 15,1-1 16,-1-16-31,9-18 16,0 1 0,9-18-16,-1-16 15,9-18-15,94-33 0,60-26 32,-9 17-17,-93 25-15</inkml:trace>
  <inkml:trace contextRef="#ctx0" brushRef="#br0" timeOffset="17132">13963 11991 0,'0'0'0,"0"-8"0,43-1 16,119-16 0,179-1-16</inkml:trace>
  <inkml:trace contextRef="#ctx0" brushRef="#br0" timeOffset="27559.19">21482 8317 0,'0'0'0,"0"0"0,0 0 16,0 0-16,0 0 16,0 0-1,0 0-15,-8-8 16,-1-1 0,1 1-16,-1 8 15,1 0 1,-18 0-16,-16 25 15,-18 43 1,-26 34 0,-7 9-16,-35 17 15,17-9 1,34-17-16,0 0 16,0-34-16,9-26 15,0 1 1,-1-18-1,10 1-15,16-18 16,9 1-16,17-1 16,-9-16-1,0-1 1,-8 9-16,-34-17 16,-17-8-1,25-1-15,17 9 16,9 0-16,17 0 15,8 9 1,9 8-16,0 0 16,0 0-1,0 0 1,0 8-16,0 18 16,0 25-1,0 25-15,0-8 16,0-8-1,0-1-15,0-7 16,18-10-16,-1-16 16,0-1-1,17 1 1,26-18-16,42 1 16,111-9-1,137 0-15</inkml:trace>
  <inkml:trace contextRef="#ctx0" brushRef="#br0" timeOffset="46634.91">14629 14075 0,'0'0'0,"-9"0"0,1 0 0,-18 0 16,-8 0-1,-34 8-15,-18 26 16,10 34 0,-10 52-1,1-1-15,17 0 16,25 59-1,52-16-15,33-60 16,52-17-16,102 0 16,52-60-1,16-33-15,-7-35 16,-18-59 0,-26-59-16,-59 25 15,-52 25 1,-42-8-1,-43 0-15,-60 34 16,-51 25 0,-111 43-16,-136 34 15</inkml:trace>
  <inkml:trace contextRef="#ctx0" brushRef="#br0" timeOffset="46891.57">14680 14611 0,'0'0'15,"26"0"-15,42 8 0,34 1 16,44-1-1,33-16 1,-9-1 0,129 1-16</inkml:trace>
  <inkml:trace contextRef="#ctx0" brushRef="#br0" timeOffset="47225.66">17019 13998 0,'-17'0'0,"-35"26"0,-41 25 16,-27 42 0,-8 52-1,0 34-15,34 33 16,51-8-16,43-34 16,43 35-1,60-27-15,25-76 16,145 17-1</inkml:trace>
  <inkml:trace contextRef="#ctx0" brushRef="#br0" timeOffset="47717.24">17659 14398 0,'0'0'0,"-9"17"0,-8 34 0,-17 43 16,8 25-1,9 17 1,0-26-16,9-42 0,8-8 15,17-18 1,17-8-16,17-17 16,35-17-1,42-34 1,17-34-16,-17-25 16,-9-9-1,-16 8 1,-18 9-16,-25 34 15,-26 26-15,-9 8 16,1 17 0,-9 25-1,0 60-15,9 60 16,-26-9 0,-9 0-16,1-9 0,-1-16 15,9-60 1</inkml:trace>
  <inkml:trace contextRef="#ctx0" brushRef="#br0" timeOffset="48196.65">19536 13947 0,'0'0'0,"0"0"0,9 17 16,8 0-16,-8 26 15,-9 33 1,-35 35-16,-24 8 16,8-42-16,-1-26 15,1-17 1,8-17 0,9-17-16,0-9 15,17-8-15,0 0 16,0 0-1,8 9-15,9-1 16,9 1 0,17-1-16,42-16 15,34 8 1,18 0-16,16 8 16,9-8-1,-8-17 1,-77 17-16</inkml:trace>
  <inkml:trace contextRef="#ctx0" brushRef="#br0" timeOffset="48469.09">20578 13692 0,'0'0'0,"8"17"0,26 111 16,9 127 0,-34 94-16,-43 50 15,-52 52 1,-16-60-16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1AFC52-F46C-4845-B64D-0DCC1AECCCC6}" type="datetimeFigureOut">
              <a:rPr lang="en-US" smtClean="0"/>
              <a:t>4/10/2026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D97389-0441-4D4C-B013-3AC3B336705E}" type="slidenum">
              <a:rPr lang="en-US" smtClean="0"/>
              <a:t>‹#›</a:t>
            </a:fld>
            <a:endParaRPr lang="en-US"/>
          </a:p>
        </p:txBody>
      </p:sp>
    </p:spTree>
    <p:extLst>
      <p:ext uri="{BB962C8B-B14F-4D97-AF65-F5344CB8AC3E}">
        <p14:creationId xmlns:p14="http://schemas.microsoft.com/office/powerpoint/2010/main" val="20803640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D97389-0441-4D4C-B013-3AC3B336705E}" type="slidenum">
              <a:rPr lang="en-US" smtClean="0"/>
              <a:t>1</a:t>
            </a:fld>
            <a:endParaRPr lang="en-US"/>
          </a:p>
        </p:txBody>
      </p:sp>
    </p:spTree>
    <p:extLst>
      <p:ext uri="{BB962C8B-B14F-4D97-AF65-F5344CB8AC3E}">
        <p14:creationId xmlns:p14="http://schemas.microsoft.com/office/powerpoint/2010/main" val="34327673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D97389-0441-4D4C-B013-3AC3B336705E}" type="slidenum">
              <a:rPr lang="en-US" smtClean="0"/>
              <a:t>21</a:t>
            </a:fld>
            <a:endParaRPr lang="en-US"/>
          </a:p>
        </p:txBody>
      </p:sp>
    </p:spTree>
    <p:extLst>
      <p:ext uri="{BB962C8B-B14F-4D97-AF65-F5344CB8AC3E}">
        <p14:creationId xmlns:p14="http://schemas.microsoft.com/office/powerpoint/2010/main" val="40181141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EEDFD-05A3-AB2C-28EA-1F10E5D2125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C1A4A9E-A38E-8FAD-4725-63270224CC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57024BA-3F6E-B600-8DEF-F5B8815AD09E}"/>
              </a:ext>
            </a:extLst>
          </p:cNvPr>
          <p:cNvSpPr>
            <a:spLocks noGrp="1"/>
          </p:cNvSpPr>
          <p:nvPr>
            <p:ph type="dt" sz="half" idx="10"/>
          </p:nvPr>
        </p:nvSpPr>
        <p:spPr/>
        <p:txBody>
          <a:bodyPr/>
          <a:lstStyle/>
          <a:p>
            <a:fld id="{3CFB5B7B-F51D-4CAE-B141-34246E39C0D6}" type="datetimeFigureOut">
              <a:rPr lang="en-US" smtClean="0"/>
              <a:t>4/10/2026</a:t>
            </a:fld>
            <a:endParaRPr lang="en-US"/>
          </a:p>
        </p:txBody>
      </p:sp>
      <p:sp>
        <p:nvSpPr>
          <p:cNvPr id="5" name="Footer Placeholder 4">
            <a:extLst>
              <a:ext uri="{FF2B5EF4-FFF2-40B4-BE49-F238E27FC236}">
                <a16:creationId xmlns:a16="http://schemas.microsoft.com/office/drawing/2014/main" id="{65D1B921-02AB-A8AB-A0C8-655556AFEA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CED915-48D5-56D7-32CC-399EFE7FE2FE}"/>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24993804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CF38B-CB5A-B13E-F5D7-2DA1A6B917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AE2621-C1D2-6EA5-9C00-AD4D21D63F6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AB215E-AE4B-9861-F145-FDA28262E9E0}"/>
              </a:ext>
            </a:extLst>
          </p:cNvPr>
          <p:cNvSpPr>
            <a:spLocks noGrp="1"/>
          </p:cNvSpPr>
          <p:nvPr>
            <p:ph type="dt" sz="half" idx="10"/>
          </p:nvPr>
        </p:nvSpPr>
        <p:spPr/>
        <p:txBody>
          <a:bodyPr/>
          <a:lstStyle/>
          <a:p>
            <a:fld id="{3CFB5B7B-F51D-4CAE-B141-34246E39C0D6}" type="datetimeFigureOut">
              <a:rPr lang="en-US" smtClean="0"/>
              <a:t>4/10/2026</a:t>
            </a:fld>
            <a:endParaRPr lang="en-US"/>
          </a:p>
        </p:txBody>
      </p:sp>
      <p:sp>
        <p:nvSpPr>
          <p:cNvPr id="5" name="Footer Placeholder 4">
            <a:extLst>
              <a:ext uri="{FF2B5EF4-FFF2-40B4-BE49-F238E27FC236}">
                <a16:creationId xmlns:a16="http://schemas.microsoft.com/office/drawing/2014/main" id="{CAAEC039-B059-ECCC-530A-3AB6CB0A1D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8BEA18-99AF-5466-77A2-2ED025B81CAA}"/>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4115895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A553B-F670-1604-5051-C69575AB040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3F92DB-5E7F-F49E-F5A2-4CD71172F39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3C1753E-851C-6254-0D25-2F887273D52F}"/>
              </a:ext>
            </a:extLst>
          </p:cNvPr>
          <p:cNvSpPr>
            <a:spLocks noGrp="1"/>
          </p:cNvSpPr>
          <p:nvPr>
            <p:ph type="dt" sz="half" idx="10"/>
          </p:nvPr>
        </p:nvSpPr>
        <p:spPr/>
        <p:txBody>
          <a:bodyPr/>
          <a:lstStyle/>
          <a:p>
            <a:fld id="{3CFB5B7B-F51D-4CAE-B141-34246E39C0D6}" type="datetimeFigureOut">
              <a:rPr lang="en-US" smtClean="0"/>
              <a:t>4/10/2026</a:t>
            </a:fld>
            <a:endParaRPr lang="en-US"/>
          </a:p>
        </p:txBody>
      </p:sp>
      <p:sp>
        <p:nvSpPr>
          <p:cNvPr id="5" name="Footer Placeholder 4">
            <a:extLst>
              <a:ext uri="{FF2B5EF4-FFF2-40B4-BE49-F238E27FC236}">
                <a16:creationId xmlns:a16="http://schemas.microsoft.com/office/drawing/2014/main" id="{FB9E8AB3-1264-7FDE-D829-8552CB0E7F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F85CDF-C478-A7EF-68E9-A9B03181DF49}"/>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1333693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764F7-D59E-B01A-8BD5-00384E223F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82F09C-F9B9-2C50-7C6F-29C12551611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1A614B-6667-7695-5A04-2F636199B9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5DCB1E8-E8EC-EC48-AC56-00B0294D4ECF}"/>
              </a:ext>
            </a:extLst>
          </p:cNvPr>
          <p:cNvSpPr>
            <a:spLocks noGrp="1"/>
          </p:cNvSpPr>
          <p:nvPr>
            <p:ph type="dt" sz="half" idx="10"/>
          </p:nvPr>
        </p:nvSpPr>
        <p:spPr/>
        <p:txBody>
          <a:bodyPr/>
          <a:lstStyle/>
          <a:p>
            <a:fld id="{3CFB5B7B-F51D-4CAE-B141-34246E39C0D6}" type="datetimeFigureOut">
              <a:rPr lang="en-US" smtClean="0"/>
              <a:t>4/10/2026</a:t>
            </a:fld>
            <a:endParaRPr lang="en-US"/>
          </a:p>
        </p:txBody>
      </p:sp>
      <p:sp>
        <p:nvSpPr>
          <p:cNvPr id="6" name="Footer Placeholder 5">
            <a:extLst>
              <a:ext uri="{FF2B5EF4-FFF2-40B4-BE49-F238E27FC236}">
                <a16:creationId xmlns:a16="http://schemas.microsoft.com/office/drawing/2014/main" id="{96E72EA3-CE48-C170-7657-2D913ED3E24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E736BE-3261-CE4F-7435-03969F8ED2AF}"/>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28585417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D765F-128C-5F4B-4E20-D385D2B4046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E4B8912-9AF9-E09C-E9BF-C1A2354403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817D6C8-55A2-957D-7F4E-CC7BCF01E7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1C7549B-8BC6-6148-ACAA-049554DFE2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2C1610D-E8FB-B2C8-5980-6848B27C49F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7F98579-8216-620D-1649-3AF68889B180}"/>
              </a:ext>
            </a:extLst>
          </p:cNvPr>
          <p:cNvSpPr>
            <a:spLocks noGrp="1"/>
          </p:cNvSpPr>
          <p:nvPr>
            <p:ph type="dt" sz="half" idx="10"/>
          </p:nvPr>
        </p:nvSpPr>
        <p:spPr/>
        <p:txBody>
          <a:bodyPr/>
          <a:lstStyle/>
          <a:p>
            <a:fld id="{3CFB5B7B-F51D-4CAE-B141-34246E39C0D6}" type="datetimeFigureOut">
              <a:rPr lang="en-US" smtClean="0"/>
              <a:t>4/10/2026</a:t>
            </a:fld>
            <a:endParaRPr lang="en-US"/>
          </a:p>
        </p:txBody>
      </p:sp>
      <p:sp>
        <p:nvSpPr>
          <p:cNvPr id="8" name="Footer Placeholder 7">
            <a:extLst>
              <a:ext uri="{FF2B5EF4-FFF2-40B4-BE49-F238E27FC236}">
                <a16:creationId xmlns:a16="http://schemas.microsoft.com/office/drawing/2014/main" id="{EA47186D-AE3C-BCC2-5CC7-DFDB1E9C01E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3D3C042-93EE-DFEB-EB11-59AE48DBB3AB}"/>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18394848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993B1-B34F-DEF0-36F0-9044F5D7D2B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852A602-329F-B48E-59DF-A750E7867E6A}"/>
              </a:ext>
            </a:extLst>
          </p:cNvPr>
          <p:cNvSpPr>
            <a:spLocks noGrp="1"/>
          </p:cNvSpPr>
          <p:nvPr>
            <p:ph type="dt" sz="half" idx="10"/>
          </p:nvPr>
        </p:nvSpPr>
        <p:spPr/>
        <p:txBody>
          <a:bodyPr/>
          <a:lstStyle/>
          <a:p>
            <a:fld id="{3CFB5B7B-F51D-4CAE-B141-34246E39C0D6}" type="datetimeFigureOut">
              <a:rPr lang="en-US" smtClean="0"/>
              <a:t>4/10/2026</a:t>
            </a:fld>
            <a:endParaRPr lang="en-US"/>
          </a:p>
        </p:txBody>
      </p:sp>
      <p:sp>
        <p:nvSpPr>
          <p:cNvPr id="4" name="Footer Placeholder 3">
            <a:extLst>
              <a:ext uri="{FF2B5EF4-FFF2-40B4-BE49-F238E27FC236}">
                <a16:creationId xmlns:a16="http://schemas.microsoft.com/office/drawing/2014/main" id="{4583EDF7-DE2E-A73E-8F31-9D5E4D89C8F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5012E61-B33E-641F-586B-715580997B5E}"/>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1660996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A244B7-1B24-A316-4AE0-092CD30B907E}"/>
              </a:ext>
            </a:extLst>
          </p:cNvPr>
          <p:cNvSpPr>
            <a:spLocks noGrp="1"/>
          </p:cNvSpPr>
          <p:nvPr>
            <p:ph type="dt" sz="half" idx="10"/>
          </p:nvPr>
        </p:nvSpPr>
        <p:spPr/>
        <p:txBody>
          <a:bodyPr/>
          <a:lstStyle/>
          <a:p>
            <a:fld id="{3CFB5B7B-F51D-4CAE-B141-34246E39C0D6}" type="datetimeFigureOut">
              <a:rPr lang="en-US" smtClean="0"/>
              <a:t>4/10/2026</a:t>
            </a:fld>
            <a:endParaRPr lang="en-US"/>
          </a:p>
        </p:txBody>
      </p:sp>
      <p:sp>
        <p:nvSpPr>
          <p:cNvPr id="3" name="Footer Placeholder 2">
            <a:extLst>
              <a:ext uri="{FF2B5EF4-FFF2-40B4-BE49-F238E27FC236}">
                <a16:creationId xmlns:a16="http://schemas.microsoft.com/office/drawing/2014/main" id="{BDAF25EA-9B44-0E03-1033-8525546E05E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925D09-469B-22B7-3367-45C141A2FC67}"/>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31745674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21B2F-B9E6-9510-4D05-E3D54924E19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56FE975-5B17-DA24-6CEB-DC943E8B86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FB5A351-A381-B7DE-629A-344A187909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BDD2EF-7CF7-DD3F-F641-183E8B2BF12C}"/>
              </a:ext>
            </a:extLst>
          </p:cNvPr>
          <p:cNvSpPr>
            <a:spLocks noGrp="1"/>
          </p:cNvSpPr>
          <p:nvPr>
            <p:ph type="dt" sz="half" idx="10"/>
          </p:nvPr>
        </p:nvSpPr>
        <p:spPr/>
        <p:txBody>
          <a:bodyPr/>
          <a:lstStyle/>
          <a:p>
            <a:fld id="{3CFB5B7B-F51D-4CAE-B141-34246E39C0D6}" type="datetimeFigureOut">
              <a:rPr lang="en-US" smtClean="0"/>
              <a:t>4/10/2026</a:t>
            </a:fld>
            <a:endParaRPr lang="en-US"/>
          </a:p>
        </p:txBody>
      </p:sp>
      <p:sp>
        <p:nvSpPr>
          <p:cNvPr id="6" name="Footer Placeholder 5">
            <a:extLst>
              <a:ext uri="{FF2B5EF4-FFF2-40B4-BE49-F238E27FC236}">
                <a16:creationId xmlns:a16="http://schemas.microsoft.com/office/drawing/2014/main" id="{F7F85405-E07D-ACE1-4750-3CCE6C35E5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0E168D-7644-1D4C-5394-643796555375}"/>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359175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4801B-B60C-BB23-B536-10DDE66CB8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E6861CE-32FE-1378-773F-41832B9FF6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1D2144C-D26D-D14D-26EE-59C3FC1E59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4EF677-D138-7015-213C-2BB3F4A73865}"/>
              </a:ext>
            </a:extLst>
          </p:cNvPr>
          <p:cNvSpPr>
            <a:spLocks noGrp="1"/>
          </p:cNvSpPr>
          <p:nvPr>
            <p:ph type="dt" sz="half" idx="10"/>
          </p:nvPr>
        </p:nvSpPr>
        <p:spPr/>
        <p:txBody>
          <a:bodyPr/>
          <a:lstStyle/>
          <a:p>
            <a:fld id="{3CFB5B7B-F51D-4CAE-B141-34246E39C0D6}" type="datetimeFigureOut">
              <a:rPr lang="en-US" smtClean="0"/>
              <a:t>4/10/2026</a:t>
            </a:fld>
            <a:endParaRPr lang="en-US"/>
          </a:p>
        </p:txBody>
      </p:sp>
      <p:sp>
        <p:nvSpPr>
          <p:cNvPr id="6" name="Footer Placeholder 5">
            <a:extLst>
              <a:ext uri="{FF2B5EF4-FFF2-40B4-BE49-F238E27FC236}">
                <a16:creationId xmlns:a16="http://schemas.microsoft.com/office/drawing/2014/main" id="{29F190E5-FB64-35C9-62D3-131BE33150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E729FB-47F6-106B-7BD5-F02031036425}"/>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22615156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77187-FA0C-1996-5F4B-01C6D21DC01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6C32157-1E29-206A-A4D1-E079FFF5CFD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BED6E6-27DC-9868-8ED6-B497F6664AE8}"/>
              </a:ext>
            </a:extLst>
          </p:cNvPr>
          <p:cNvSpPr>
            <a:spLocks noGrp="1"/>
          </p:cNvSpPr>
          <p:nvPr>
            <p:ph type="dt" sz="half" idx="10"/>
          </p:nvPr>
        </p:nvSpPr>
        <p:spPr/>
        <p:txBody>
          <a:bodyPr/>
          <a:lstStyle/>
          <a:p>
            <a:fld id="{3CFB5B7B-F51D-4CAE-B141-34246E39C0D6}" type="datetimeFigureOut">
              <a:rPr lang="en-US" smtClean="0"/>
              <a:t>4/10/2026</a:t>
            </a:fld>
            <a:endParaRPr lang="en-US"/>
          </a:p>
        </p:txBody>
      </p:sp>
      <p:sp>
        <p:nvSpPr>
          <p:cNvPr id="5" name="Footer Placeholder 4">
            <a:extLst>
              <a:ext uri="{FF2B5EF4-FFF2-40B4-BE49-F238E27FC236}">
                <a16:creationId xmlns:a16="http://schemas.microsoft.com/office/drawing/2014/main" id="{8E4E3647-A949-3CDF-67EE-AB590EDCA7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C6DF69-C102-21BC-88B3-80F4E212C8DB}"/>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19161316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9C123A-D9AF-475A-C065-C2FA1596425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9927EB4-E58B-3FD3-E171-2FF9248A2A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EA4642-AEF9-1A45-F614-49CABD0DF3C2}"/>
              </a:ext>
            </a:extLst>
          </p:cNvPr>
          <p:cNvSpPr>
            <a:spLocks noGrp="1"/>
          </p:cNvSpPr>
          <p:nvPr>
            <p:ph type="dt" sz="half" idx="10"/>
          </p:nvPr>
        </p:nvSpPr>
        <p:spPr/>
        <p:txBody>
          <a:bodyPr/>
          <a:lstStyle/>
          <a:p>
            <a:fld id="{3CFB5B7B-F51D-4CAE-B141-34246E39C0D6}" type="datetimeFigureOut">
              <a:rPr lang="en-US" smtClean="0"/>
              <a:t>4/10/2026</a:t>
            </a:fld>
            <a:endParaRPr lang="en-US"/>
          </a:p>
        </p:txBody>
      </p:sp>
      <p:sp>
        <p:nvSpPr>
          <p:cNvPr id="5" name="Footer Placeholder 4">
            <a:extLst>
              <a:ext uri="{FF2B5EF4-FFF2-40B4-BE49-F238E27FC236}">
                <a16:creationId xmlns:a16="http://schemas.microsoft.com/office/drawing/2014/main" id="{9CA41C59-45AB-EDDF-36FA-E3E263F9F8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9E2C6A-7AA0-08EE-B17B-CA0D2FF9EF9A}"/>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32358725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41DCF-5FA9-3BBE-A6DC-4C4767E77E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7D8AAD4-9F4E-2546-4A20-345BE6926F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EB68BC9-B242-D863-6297-36224D351B7D}"/>
              </a:ext>
            </a:extLst>
          </p:cNvPr>
          <p:cNvSpPr>
            <a:spLocks noGrp="1"/>
          </p:cNvSpPr>
          <p:nvPr>
            <p:ph type="dt" sz="half" idx="10"/>
          </p:nvPr>
        </p:nvSpPr>
        <p:spPr/>
        <p:txBody>
          <a:bodyPr/>
          <a:lstStyle/>
          <a:p>
            <a:fld id="{2DB93FBE-67AC-4C5C-B62E-CFFDEAF9BE53}" type="datetimeFigureOut">
              <a:rPr lang="en-US" smtClean="0"/>
              <a:t>4/10/2026</a:t>
            </a:fld>
            <a:endParaRPr lang="en-US"/>
          </a:p>
        </p:txBody>
      </p:sp>
      <p:sp>
        <p:nvSpPr>
          <p:cNvPr id="5" name="Footer Placeholder 4">
            <a:extLst>
              <a:ext uri="{FF2B5EF4-FFF2-40B4-BE49-F238E27FC236}">
                <a16:creationId xmlns:a16="http://schemas.microsoft.com/office/drawing/2014/main" id="{7B6D43E7-A090-881E-D908-BB9CC53DDD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2DFBC9-B9F9-85A6-26A1-9D7E515D0331}"/>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36297560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BB011-50E5-247E-0EB3-D47C59C4FF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A71371-A022-A3A5-E49C-D2CCEC4E25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8F92F8-B436-FF4B-567C-6CF9F3F68596}"/>
              </a:ext>
            </a:extLst>
          </p:cNvPr>
          <p:cNvSpPr>
            <a:spLocks noGrp="1"/>
          </p:cNvSpPr>
          <p:nvPr>
            <p:ph type="dt" sz="half" idx="10"/>
          </p:nvPr>
        </p:nvSpPr>
        <p:spPr/>
        <p:txBody>
          <a:bodyPr/>
          <a:lstStyle/>
          <a:p>
            <a:fld id="{2DB93FBE-67AC-4C5C-B62E-CFFDEAF9BE53}" type="datetimeFigureOut">
              <a:rPr lang="en-US" smtClean="0"/>
              <a:t>4/10/2026</a:t>
            </a:fld>
            <a:endParaRPr lang="en-US"/>
          </a:p>
        </p:txBody>
      </p:sp>
      <p:sp>
        <p:nvSpPr>
          <p:cNvPr id="5" name="Footer Placeholder 4">
            <a:extLst>
              <a:ext uri="{FF2B5EF4-FFF2-40B4-BE49-F238E27FC236}">
                <a16:creationId xmlns:a16="http://schemas.microsoft.com/office/drawing/2014/main" id="{09C755B9-83BE-E117-954F-A47925F5BF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E45716-8D01-8E2F-8276-3A903E607C10}"/>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2651434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264CF-1BBA-680C-4F96-017144A15A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089E9BE-1B28-C587-A2C5-253ECF74E1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3E3E68-CE19-CACB-1EDD-351F4F9C9466}"/>
              </a:ext>
            </a:extLst>
          </p:cNvPr>
          <p:cNvSpPr>
            <a:spLocks noGrp="1"/>
          </p:cNvSpPr>
          <p:nvPr>
            <p:ph type="dt" sz="half" idx="10"/>
          </p:nvPr>
        </p:nvSpPr>
        <p:spPr/>
        <p:txBody>
          <a:bodyPr/>
          <a:lstStyle/>
          <a:p>
            <a:fld id="{2DB93FBE-67AC-4C5C-B62E-CFFDEAF9BE53}" type="datetimeFigureOut">
              <a:rPr lang="en-US" smtClean="0"/>
              <a:t>4/10/2026</a:t>
            </a:fld>
            <a:endParaRPr lang="en-US"/>
          </a:p>
        </p:txBody>
      </p:sp>
      <p:sp>
        <p:nvSpPr>
          <p:cNvPr id="5" name="Footer Placeholder 4">
            <a:extLst>
              <a:ext uri="{FF2B5EF4-FFF2-40B4-BE49-F238E27FC236}">
                <a16:creationId xmlns:a16="http://schemas.microsoft.com/office/drawing/2014/main" id="{5DE49855-AB14-5CF9-EE88-AB42D1DF4D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DE2C96-8A85-4C99-39A1-9B9DB31D7A5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2476507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89EEC-003E-DFFB-2D04-A2E70FE13D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BFE0F4-58A0-D6D9-6AAC-CD97965C20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77E4C68-9C36-2696-B323-CF0642D6DB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49713B3-5A96-0F1A-CFE7-8563FD24B87E}"/>
              </a:ext>
            </a:extLst>
          </p:cNvPr>
          <p:cNvSpPr>
            <a:spLocks noGrp="1"/>
          </p:cNvSpPr>
          <p:nvPr>
            <p:ph type="dt" sz="half" idx="10"/>
          </p:nvPr>
        </p:nvSpPr>
        <p:spPr/>
        <p:txBody>
          <a:bodyPr/>
          <a:lstStyle/>
          <a:p>
            <a:fld id="{2DB93FBE-67AC-4C5C-B62E-CFFDEAF9BE53}" type="datetimeFigureOut">
              <a:rPr lang="en-US" smtClean="0"/>
              <a:t>4/10/2026</a:t>
            </a:fld>
            <a:endParaRPr lang="en-US"/>
          </a:p>
        </p:txBody>
      </p:sp>
      <p:sp>
        <p:nvSpPr>
          <p:cNvPr id="6" name="Footer Placeholder 5">
            <a:extLst>
              <a:ext uri="{FF2B5EF4-FFF2-40B4-BE49-F238E27FC236}">
                <a16:creationId xmlns:a16="http://schemas.microsoft.com/office/drawing/2014/main" id="{818D724B-C264-2548-CAFF-305FE7D37B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193A13-EBDF-17F2-DF34-5BA3D79328AA}"/>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37630405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19F2D-6C68-B3F6-3BC7-2A9EE6BE2B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32A2B36-9CB6-0E61-D14F-48AD642FCA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551B63-A4A2-BD66-BF76-72528E69BA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EF4911-72D8-7120-897F-434F05D8DA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354135-3D54-9447-778A-86081F0473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F52A4A-AE91-8A3A-8DE2-74205F39FDCF}"/>
              </a:ext>
            </a:extLst>
          </p:cNvPr>
          <p:cNvSpPr>
            <a:spLocks noGrp="1"/>
          </p:cNvSpPr>
          <p:nvPr>
            <p:ph type="dt" sz="half" idx="10"/>
          </p:nvPr>
        </p:nvSpPr>
        <p:spPr/>
        <p:txBody>
          <a:bodyPr/>
          <a:lstStyle/>
          <a:p>
            <a:fld id="{2DB93FBE-67AC-4C5C-B62E-CFFDEAF9BE53}" type="datetimeFigureOut">
              <a:rPr lang="en-US" smtClean="0"/>
              <a:t>4/10/2026</a:t>
            </a:fld>
            <a:endParaRPr lang="en-US"/>
          </a:p>
        </p:txBody>
      </p:sp>
      <p:sp>
        <p:nvSpPr>
          <p:cNvPr id="8" name="Footer Placeholder 7">
            <a:extLst>
              <a:ext uri="{FF2B5EF4-FFF2-40B4-BE49-F238E27FC236}">
                <a16:creationId xmlns:a16="http://schemas.microsoft.com/office/drawing/2014/main" id="{38FC667D-AA9E-21BF-66F2-755D86E708B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D8E628E-2723-30DA-D22D-BFF79CE056C7}"/>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0234943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41984-7865-CBC1-7E39-27325050C7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341811-B828-6912-5458-2BC9266D21E5}"/>
              </a:ext>
            </a:extLst>
          </p:cNvPr>
          <p:cNvSpPr>
            <a:spLocks noGrp="1"/>
          </p:cNvSpPr>
          <p:nvPr>
            <p:ph type="dt" sz="half" idx="10"/>
          </p:nvPr>
        </p:nvSpPr>
        <p:spPr/>
        <p:txBody>
          <a:bodyPr/>
          <a:lstStyle/>
          <a:p>
            <a:fld id="{2DB93FBE-67AC-4C5C-B62E-CFFDEAF9BE53}" type="datetimeFigureOut">
              <a:rPr lang="en-US" smtClean="0"/>
              <a:t>4/10/2026</a:t>
            </a:fld>
            <a:endParaRPr lang="en-US"/>
          </a:p>
        </p:txBody>
      </p:sp>
      <p:sp>
        <p:nvSpPr>
          <p:cNvPr id="4" name="Footer Placeholder 3">
            <a:extLst>
              <a:ext uri="{FF2B5EF4-FFF2-40B4-BE49-F238E27FC236}">
                <a16:creationId xmlns:a16="http://schemas.microsoft.com/office/drawing/2014/main" id="{DA1DF831-0A64-24F5-806E-B3EBA559140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EFD212-56D6-B7F8-FC27-BC4BF7386DD8}"/>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2550715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903B13-E121-53F2-65F9-41E383C574E5}"/>
              </a:ext>
            </a:extLst>
          </p:cNvPr>
          <p:cNvSpPr>
            <a:spLocks noGrp="1"/>
          </p:cNvSpPr>
          <p:nvPr>
            <p:ph type="dt" sz="half" idx="10"/>
          </p:nvPr>
        </p:nvSpPr>
        <p:spPr/>
        <p:txBody>
          <a:bodyPr/>
          <a:lstStyle/>
          <a:p>
            <a:fld id="{2DB93FBE-67AC-4C5C-B62E-CFFDEAF9BE53}" type="datetimeFigureOut">
              <a:rPr lang="en-US" smtClean="0"/>
              <a:t>4/10/2026</a:t>
            </a:fld>
            <a:endParaRPr lang="en-US"/>
          </a:p>
        </p:txBody>
      </p:sp>
      <p:sp>
        <p:nvSpPr>
          <p:cNvPr id="3" name="Footer Placeholder 2">
            <a:extLst>
              <a:ext uri="{FF2B5EF4-FFF2-40B4-BE49-F238E27FC236}">
                <a16:creationId xmlns:a16="http://schemas.microsoft.com/office/drawing/2014/main" id="{D2814793-9D7D-32F8-795A-31644DBAB34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D76B231-FE15-2561-B700-2506AC71310D}"/>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6502116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B5398-EEBA-42F4-3948-4DF36A153E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2E000E0-12D7-545A-0B4A-64A8B51A9F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585510-3798-210C-EC55-29C449719B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E698E8-2EE7-873D-A608-9A260F5DDDE7}"/>
              </a:ext>
            </a:extLst>
          </p:cNvPr>
          <p:cNvSpPr>
            <a:spLocks noGrp="1"/>
          </p:cNvSpPr>
          <p:nvPr>
            <p:ph type="dt" sz="half" idx="10"/>
          </p:nvPr>
        </p:nvSpPr>
        <p:spPr/>
        <p:txBody>
          <a:bodyPr/>
          <a:lstStyle/>
          <a:p>
            <a:fld id="{2DB93FBE-67AC-4C5C-B62E-CFFDEAF9BE53}" type="datetimeFigureOut">
              <a:rPr lang="en-US" smtClean="0"/>
              <a:t>4/10/2026</a:t>
            </a:fld>
            <a:endParaRPr lang="en-US"/>
          </a:p>
        </p:txBody>
      </p:sp>
      <p:sp>
        <p:nvSpPr>
          <p:cNvPr id="6" name="Footer Placeholder 5">
            <a:extLst>
              <a:ext uri="{FF2B5EF4-FFF2-40B4-BE49-F238E27FC236}">
                <a16:creationId xmlns:a16="http://schemas.microsoft.com/office/drawing/2014/main" id="{F8D5F347-CF7A-10E6-8DC6-FA1E5DB6DB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5E452D-F82A-718F-94C2-C889F622E54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5496578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E1DDD-DB8D-6429-4235-465780A7B8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42B9E5-6756-3695-C94E-93A464783E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170C60-CA85-5E67-14F6-3176093E55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325D70-D5F0-5123-66A9-63D9B82E929A}"/>
              </a:ext>
            </a:extLst>
          </p:cNvPr>
          <p:cNvSpPr>
            <a:spLocks noGrp="1"/>
          </p:cNvSpPr>
          <p:nvPr>
            <p:ph type="dt" sz="half" idx="10"/>
          </p:nvPr>
        </p:nvSpPr>
        <p:spPr/>
        <p:txBody>
          <a:bodyPr/>
          <a:lstStyle/>
          <a:p>
            <a:fld id="{2DB93FBE-67AC-4C5C-B62E-CFFDEAF9BE53}" type="datetimeFigureOut">
              <a:rPr lang="en-US" smtClean="0"/>
              <a:t>4/10/2026</a:t>
            </a:fld>
            <a:endParaRPr lang="en-US"/>
          </a:p>
        </p:txBody>
      </p:sp>
      <p:sp>
        <p:nvSpPr>
          <p:cNvPr id="6" name="Footer Placeholder 5">
            <a:extLst>
              <a:ext uri="{FF2B5EF4-FFF2-40B4-BE49-F238E27FC236}">
                <a16:creationId xmlns:a16="http://schemas.microsoft.com/office/drawing/2014/main" id="{E977B62A-8600-7CE9-095E-82CDE4E176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8F328-EF42-0E10-9C29-12A53381D4AB}"/>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547640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24705-3181-4743-BF72-E5B55E6278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8D9669D-6765-7CD2-C040-D4C5E44BAB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E5E7B0-5065-8FAA-2D02-01DC4905B366}"/>
              </a:ext>
            </a:extLst>
          </p:cNvPr>
          <p:cNvSpPr>
            <a:spLocks noGrp="1"/>
          </p:cNvSpPr>
          <p:nvPr>
            <p:ph type="dt" sz="half" idx="10"/>
          </p:nvPr>
        </p:nvSpPr>
        <p:spPr/>
        <p:txBody>
          <a:bodyPr/>
          <a:lstStyle/>
          <a:p>
            <a:fld id="{2DB93FBE-67AC-4C5C-B62E-CFFDEAF9BE53}" type="datetimeFigureOut">
              <a:rPr lang="en-US" smtClean="0"/>
              <a:t>4/10/2026</a:t>
            </a:fld>
            <a:endParaRPr lang="en-US"/>
          </a:p>
        </p:txBody>
      </p:sp>
      <p:sp>
        <p:nvSpPr>
          <p:cNvPr id="5" name="Footer Placeholder 4">
            <a:extLst>
              <a:ext uri="{FF2B5EF4-FFF2-40B4-BE49-F238E27FC236}">
                <a16:creationId xmlns:a16="http://schemas.microsoft.com/office/drawing/2014/main" id="{CA487F4E-481E-5CA4-5AC0-EF15EBAF8D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05C81A-1EC7-F85E-A5DB-0F7CA62EC0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061534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F8F565-D4D2-A972-147D-1A41777B264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8813695-1D6C-4A4F-7F94-1346663811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6AEB8A-EA17-E1E1-8CD3-B7AF8E3F2803}"/>
              </a:ext>
            </a:extLst>
          </p:cNvPr>
          <p:cNvSpPr>
            <a:spLocks noGrp="1"/>
          </p:cNvSpPr>
          <p:nvPr>
            <p:ph type="dt" sz="half" idx="10"/>
          </p:nvPr>
        </p:nvSpPr>
        <p:spPr/>
        <p:txBody>
          <a:bodyPr/>
          <a:lstStyle/>
          <a:p>
            <a:fld id="{2DB93FBE-67AC-4C5C-B62E-CFFDEAF9BE53}" type="datetimeFigureOut">
              <a:rPr lang="en-US" smtClean="0"/>
              <a:t>4/10/2026</a:t>
            </a:fld>
            <a:endParaRPr lang="en-US"/>
          </a:p>
        </p:txBody>
      </p:sp>
      <p:sp>
        <p:nvSpPr>
          <p:cNvPr id="5" name="Footer Placeholder 4">
            <a:extLst>
              <a:ext uri="{FF2B5EF4-FFF2-40B4-BE49-F238E27FC236}">
                <a16:creationId xmlns:a16="http://schemas.microsoft.com/office/drawing/2014/main" id="{AB6AF905-A88D-ED4C-DD07-098840D4AB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1A03B8-DD10-B6B6-6B59-3EB669F377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33712646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FC28AD1-28C6-4DBC-B0D5-638143145F9E}"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E8603E-186F-4CC7-B8E2-5FD613D3E28C}" type="slidenum">
              <a:rPr lang="en-US" smtClean="0"/>
              <a:t>‹#›</a:t>
            </a:fld>
            <a:endParaRPr lang="en-US"/>
          </a:p>
        </p:txBody>
      </p:sp>
    </p:spTree>
    <p:extLst>
      <p:ext uri="{BB962C8B-B14F-4D97-AF65-F5344CB8AC3E}">
        <p14:creationId xmlns:p14="http://schemas.microsoft.com/office/powerpoint/2010/main" val="331885455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FC28AD1-28C6-4DBC-B0D5-638143145F9E}"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E8603E-186F-4CC7-B8E2-5FD613D3E28C}" type="slidenum">
              <a:rPr lang="en-US" smtClean="0"/>
              <a:t>‹#›</a:t>
            </a:fld>
            <a:endParaRPr lang="en-US"/>
          </a:p>
        </p:txBody>
      </p:sp>
    </p:spTree>
    <p:extLst>
      <p:ext uri="{BB962C8B-B14F-4D97-AF65-F5344CB8AC3E}">
        <p14:creationId xmlns:p14="http://schemas.microsoft.com/office/powerpoint/2010/main" val="177140556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C28AD1-28C6-4DBC-B0D5-638143145F9E}"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E8603E-186F-4CC7-B8E2-5FD613D3E28C}" type="slidenum">
              <a:rPr lang="en-US" smtClean="0"/>
              <a:t>‹#›</a:t>
            </a:fld>
            <a:endParaRPr lang="en-US"/>
          </a:p>
        </p:txBody>
      </p:sp>
    </p:spTree>
    <p:extLst>
      <p:ext uri="{BB962C8B-B14F-4D97-AF65-F5344CB8AC3E}">
        <p14:creationId xmlns:p14="http://schemas.microsoft.com/office/powerpoint/2010/main" val="16664973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FC28AD1-28C6-4DBC-B0D5-638143145F9E}" type="datetimeFigureOut">
              <a:rPr lang="en-US" smtClean="0"/>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E8603E-186F-4CC7-B8E2-5FD613D3E28C}" type="slidenum">
              <a:rPr lang="en-US" smtClean="0"/>
              <a:t>‹#›</a:t>
            </a:fld>
            <a:endParaRPr lang="en-US"/>
          </a:p>
        </p:txBody>
      </p:sp>
    </p:spTree>
    <p:extLst>
      <p:ext uri="{BB962C8B-B14F-4D97-AF65-F5344CB8AC3E}">
        <p14:creationId xmlns:p14="http://schemas.microsoft.com/office/powerpoint/2010/main" val="175716440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FC28AD1-28C6-4DBC-B0D5-638143145F9E}" type="datetimeFigureOut">
              <a:rPr lang="en-US" smtClean="0"/>
              <a:t>4/10/2026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4E8603E-186F-4CC7-B8E2-5FD613D3E28C}" type="slidenum">
              <a:rPr lang="en-US" smtClean="0"/>
              <a:t>‹#›</a:t>
            </a:fld>
            <a:endParaRPr lang="en-US"/>
          </a:p>
        </p:txBody>
      </p:sp>
    </p:spTree>
    <p:extLst>
      <p:ext uri="{BB962C8B-B14F-4D97-AF65-F5344CB8AC3E}">
        <p14:creationId xmlns:p14="http://schemas.microsoft.com/office/powerpoint/2010/main" val="53557812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FC28AD1-28C6-4DBC-B0D5-638143145F9E}" type="datetimeFigureOut">
              <a:rPr lang="en-US" smtClean="0"/>
              <a:t>4/10/2026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4E8603E-186F-4CC7-B8E2-5FD613D3E28C}" type="slidenum">
              <a:rPr lang="en-US" smtClean="0"/>
              <a:t>‹#›</a:t>
            </a:fld>
            <a:endParaRPr lang="en-US"/>
          </a:p>
        </p:txBody>
      </p:sp>
    </p:spTree>
    <p:extLst>
      <p:ext uri="{BB962C8B-B14F-4D97-AF65-F5344CB8AC3E}">
        <p14:creationId xmlns:p14="http://schemas.microsoft.com/office/powerpoint/2010/main" val="217982323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C28AD1-28C6-4DBC-B0D5-638143145F9E}" type="datetimeFigureOut">
              <a:rPr lang="en-US" smtClean="0"/>
              <a:t>4/10/2026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4E8603E-186F-4CC7-B8E2-5FD613D3E28C}" type="slidenum">
              <a:rPr lang="en-US" smtClean="0"/>
              <a:t>‹#›</a:t>
            </a:fld>
            <a:endParaRPr lang="en-US"/>
          </a:p>
        </p:txBody>
      </p:sp>
    </p:spTree>
    <p:extLst>
      <p:ext uri="{BB962C8B-B14F-4D97-AF65-F5344CB8AC3E}">
        <p14:creationId xmlns:p14="http://schemas.microsoft.com/office/powerpoint/2010/main" val="6476460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FC28AD1-28C6-4DBC-B0D5-638143145F9E}" type="datetimeFigureOut">
              <a:rPr lang="en-US" smtClean="0"/>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E8603E-186F-4CC7-B8E2-5FD613D3E28C}" type="slidenum">
              <a:rPr lang="en-US" smtClean="0"/>
              <a:t>‹#›</a:t>
            </a:fld>
            <a:endParaRPr lang="en-US"/>
          </a:p>
        </p:txBody>
      </p:sp>
    </p:spTree>
    <p:extLst>
      <p:ext uri="{BB962C8B-B14F-4D97-AF65-F5344CB8AC3E}">
        <p14:creationId xmlns:p14="http://schemas.microsoft.com/office/powerpoint/2010/main" val="132491132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FC28AD1-28C6-4DBC-B0D5-638143145F9E}" type="datetimeFigureOut">
              <a:rPr lang="en-US" smtClean="0"/>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E8603E-186F-4CC7-B8E2-5FD613D3E28C}" type="slidenum">
              <a:rPr lang="en-US" smtClean="0"/>
              <a:t>‹#›</a:t>
            </a:fld>
            <a:endParaRPr lang="en-US"/>
          </a:p>
        </p:txBody>
      </p:sp>
    </p:spTree>
    <p:extLst>
      <p:ext uri="{BB962C8B-B14F-4D97-AF65-F5344CB8AC3E}">
        <p14:creationId xmlns:p14="http://schemas.microsoft.com/office/powerpoint/2010/main" val="414779085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FC28AD1-28C6-4DBC-B0D5-638143145F9E}"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E8603E-186F-4CC7-B8E2-5FD613D3E28C}" type="slidenum">
              <a:rPr lang="en-US" smtClean="0"/>
              <a:t>‹#›</a:t>
            </a:fld>
            <a:endParaRPr lang="en-US"/>
          </a:p>
        </p:txBody>
      </p:sp>
    </p:spTree>
    <p:extLst>
      <p:ext uri="{BB962C8B-B14F-4D97-AF65-F5344CB8AC3E}">
        <p14:creationId xmlns:p14="http://schemas.microsoft.com/office/powerpoint/2010/main" val="6339690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FC28AD1-28C6-4DBC-B0D5-638143145F9E}"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E8603E-186F-4CC7-B8E2-5FD613D3E28C}" type="slidenum">
              <a:rPr lang="en-US" smtClean="0"/>
              <a:t>‹#›</a:t>
            </a:fld>
            <a:endParaRPr lang="en-US"/>
          </a:p>
        </p:txBody>
      </p:sp>
    </p:spTree>
    <p:extLst>
      <p:ext uri="{BB962C8B-B14F-4D97-AF65-F5344CB8AC3E}">
        <p14:creationId xmlns:p14="http://schemas.microsoft.com/office/powerpoint/2010/main" val="667568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B7B289-BD5E-5EED-C530-FE49EC1FB3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0E5310A-CDE1-6296-A6C7-FAD4EBB46E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630977-A77A-05DC-ACE8-6F1D91538C5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CFB5B7B-F51D-4CAE-B141-34246E39C0D6}" type="datetimeFigureOut">
              <a:rPr lang="en-US" smtClean="0"/>
              <a:t>4/10/2026</a:t>
            </a:fld>
            <a:endParaRPr lang="en-US"/>
          </a:p>
        </p:txBody>
      </p:sp>
      <p:sp>
        <p:nvSpPr>
          <p:cNvPr id="5" name="Footer Placeholder 4">
            <a:extLst>
              <a:ext uri="{FF2B5EF4-FFF2-40B4-BE49-F238E27FC236}">
                <a16:creationId xmlns:a16="http://schemas.microsoft.com/office/drawing/2014/main" id="{16EC77BE-A1DA-9A34-23FB-D1B3BF2A8C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BEA4270-8225-31C5-8BCA-531C6C5C8B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9467764-5149-49EB-A53E-E807869452CC}" type="slidenum">
              <a:rPr lang="en-US" smtClean="0"/>
              <a:t>‹#›</a:t>
            </a:fld>
            <a:endParaRPr lang="en-US"/>
          </a:p>
        </p:txBody>
      </p:sp>
    </p:spTree>
    <p:extLst>
      <p:ext uri="{BB962C8B-B14F-4D97-AF65-F5344CB8AC3E}">
        <p14:creationId xmlns:p14="http://schemas.microsoft.com/office/powerpoint/2010/main" val="20421592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BC2B57-F2EC-C92D-BAFA-C36FE7F31C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40AE8E8-3549-4143-3C3F-38529FA553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2DEB0-3161-B686-27DF-345950BFF0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B93FBE-67AC-4C5C-B62E-CFFDEAF9BE53}" type="datetimeFigureOut">
              <a:rPr lang="en-US" smtClean="0"/>
              <a:t>4/10/2026</a:t>
            </a:fld>
            <a:endParaRPr lang="en-US"/>
          </a:p>
        </p:txBody>
      </p:sp>
      <p:sp>
        <p:nvSpPr>
          <p:cNvPr id="5" name="Footer Placeholder 4">
            <a:extLst>
              <a:ext uri="{FF2B5EF4-FFF2-40B4-BE49-F238E27FC236}">
                <a16:creationId xmlns:a16="http://schemas.microsoft.com/office/drawing/2014/main" id="{B7B5E12D-E358-B346-0620-4D8545C52B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EB1C4BA-D22A-5462-8F71-6F616DC8FA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4D5A7D-FFFE-410B-BEE5-702232F4B148}" type="slidenum">
              <a:rPr lang="en-US" smtClean="0"/>
              <a:t>‹#›</a:t>
            </a:fld>
            <a:endParaRPr lang="en-US"/>
          </a:p>
        </p:txBody>
      </p:sp>
    </p:spTree>
    <p:extLst>
      <p:ext uri="{BB962C8B-B14F-4D97-AF65-F5344CB8AC3E}">
        <p14:creationId xmlns:p14="http://schemas.microsoft.com/office/powerpoint/2010/main" val="18592348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C28AD1-28C6-4DBC-B0D5-638143145F9E}" type="datetimeFigureOut">
              <a:rPr lang="en-US" smtClean="0"/>
              <a:t>4/10/2026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E8603E-186F-4CC7-B8E2-5FD613D3E28C}" type="slidenum">
              <a:rPr lang="en-US" smtClean="0"/>
              <a:t>‹#›</a:t>
            </a:fld>
            <a:endParaRPr lang="en-US"/>
          </a:p>
        </p:txBody>
      </p:sp>
    </p:spTree>
    <p:extLst>
      <p:ext uri="{BB962C8B-B14F-4D97-AF65-F5344CB8AC3E}">
        <p14:creationId xmlns:p14="http://schemas.microsoft.com/office/powerpoint/2010/main" val="377341368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cs.uw.edu/332"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161.png"/><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610.png"/><Relationship Id="rId2" Type="http://schemas.openxmlformats.org/officeDocument/2006/relationships/image" Target="../media/image510.png"/><Relationship Id="rId1" Type="http://schemas.openxmlformats.org/officeDocument/2006/relationships/slideLayout" Target="../slideLayouts/slideLayout13.xml"/><Relationship Id="rId5" Type="http://schemas.openxmlformats.org/officeDocument/2006/relationships/image" Target="../media/image3.png"/><Relationship Id="rId4" Type="http://schemas.openxmlformats.org/officeDocument/2006/relationships/customXml" Target="../ink/ink3.xml"/></Relationships>
</file>

<file path=ppt/slides/_rels/slide5.xml.rels><?xml version="1.0" encoding="UTF-8" standalone="yes"?>
<Relationships xmlns="http://schemas.openxmlformats.org/package/2006/relationships"><Relationship Id="rId8" Type="http://schemas.openxmlformats.org/officeDocument/2006/relationships/image" Target="../media/image210.png"/><Relationship Id="rId3" Type="http://schemas.openxmlformats.org/officeDocument/2006/relationships/image" Target="../media/image1400.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17.xml"/><Relationship Id="rId6" Type="http://schemas.openxmlformats.org/officeDocument/2006/relationships/image" Target="../media/image171.png"/><Relationship Id="rId11" Type="http://schemas.openxmlformats.org/officeDocument/2006/relationships/image" Target="../media/image4.png"/><Relationship Id="rId5" Type="http://schemas.openxmlformats.org/officeDocument/2006/relationships/image" Target="../media/image16.png"/><Relationship Id="rId10" Type="http://schemas.openxmlformats.org/officeDocument/2006/relationships/customXml" Target="../ink/ink4.xml"/><Relationship Id="rId4" Type="http://schemas.openxmlformats.org/officeDocument/2006/relationships/image" Target="../media/image15.png"/><Relationship Id="rId9" Type="http://schemas.openxmlformats.org/officeDocument/2006/relationships/image" Target="../media/image150.png"/></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7.png"/><Relationship Id="rId3" Type="http://schemas.openxmlformats.org/officeDocument/2006/relationships/image" Target="../media/image411.png"/><Relationship Id="rId7" Type="http://schemas.openxmlformats.org/officeDocument/2006/relationships/image" Target="../media/image8.png"/><Relationship Id="rId12" Type="http://schemas.openxmlformats.org/officeDocument/2006/relationships/image" Target="../media/image14.png"/><Relationship Id="rId2" Type="http://schemas.openxmlformats.org/officeDocument/2006/relationships/image" Target="../media/image311.png"/><Relationship Id="rId1" Type="http://schemas.openxmlformats.org/officeDocument/2006/relationships/slideLayout" Target="../slideLayouts/slideLayout13.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customXml" Target="../ink/ink5.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customXml" Target="../ink/ink6.xml"/><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image" Target="../media/image190.png"/><Relationship Id="rId16" Type="http://schemas.openxmlformats.org/officeDocument/2006/relationships/image" Target="../media/image31.png"/><Relationship Id="rId1" Type="http://schemas.openxmlformats.org/officeDocument/2006/relationships/slideLayout" Target="../slideLayouts/slideLayout13.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customXml" Target="../ink/ink7.xml"/><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0.png"/></Relationships>
</file>

<file path=ppt/slides/_rels/slide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customXml" Target="../ink/ink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20.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image" Target="../media/image312.png"/><Relationship Id="rId16" Type="http://schemas.openxmlformats.org/officeDocument/2006/relationships/image" Target="../media/image45.png"/><Relationship Id="rId20" Type="http://schemas.openxmlformats.org/officeDocument/2006/relationships/image" Target="../media/image49.png"/><Relationship Id="rId29" Type="http://schemas.openxmlformats.org/officeDocument/2006/relationships/image" Target="../media/image57.png"/><Relationship Id="rId1" Type="http://schemas.openxmlformats.org/officeDocument/2006/relationships/slideLayout" Target="../slideLayouts/slideLayout17.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3.png"/><Relationship Id="rId32" Type="http://schemas.openxmlformats.org/officeDocument/2006/relationships/image" Target="../media/image59.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28" Type="http://schemas.openxmlformats.org/officeDocument/2006/relationships/image" Target="../media/image261.png"/><Relationship Id="rId10" Type="http://schemas.openxmlformats.org/officeDocument/2006/relationships/image" Target="../media/image39.png"/><Relationship Id="rId19" Type="http://schemas.openxmlformats.org/officeDocument/2006/relationships/image" Target="../media/image48.png"/><Relationship Id="rId31" Type="http://schemas.openxmlformats.org/officeDocument/2006/relationships/customXml" Target="../ink/ink9.xml"/><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8.png"/></Relationships>
</file>

<file path=ppt/slides/_rels/slide11.xml.rels><?xml version="1.0" encoding="UTF-8" standalone="yes"?>
<Relationships xmlns="http://schemas.openxmlformats.org/package/2006/relationships"><Relationship Id="rId2" Type="http://schemas.openxmlformats.org/officeDocument/2006/relationships/image" Target="../media/image590.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410.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390.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1.png"/><Relationship Id="rId18" Type="http://schemas.openxmlformats.org/officeDocument/2006/relationships/image" Target="../media/image76.png"/><Relationship Id="rId26" Type="http://schemas.openxmlformats.org/officeDocument/2006/relationships/image" Target="../media/image84.png"/><Relationship Id="rId3" Type="http://schemas.openxmlformats.org/officeDocument/2006/relationships/image" Target="../media/image61.png"/><Relationship Id="rId21" Type="http://schemas.openxmlformats.org/officeDocument/2006/relationships/image" Target="../media/image79.png"/><Relationship Id="rId7" Type="http://schemas.openxmlformats.org/officeDocument/2006/relationships/image" Target="../media/image65.png"/><Relationship Id="rId12" Type="http://schemas.openxmlformats.org/officeDocument/2006/relationships/image" Target="../media/image70.png"/><Relationship Id="rId17" Type="http://schemas.openxmlformats.org/officeDocument/2006/relationships/image" Target="../media/image75.png"/><Relationship Id="rId25" Type="http://schemas.openxmlformats.org/officeDocument/2006/relationships/image" Target="../media/image83.png"/><Relationship Id="rId2" Type="http://schemas.openxmlformats.org/officeDocument/2006/relationships/image" Target="../media/image60.png"/><Relationship Id="rId16" Type="http://schemas.openxmlformats.org/officeDocument/2006/relationships/image" Target="../media/image74.png"/><Relationship Id="rId20" Type="http://schemas.openxmlformats.org/officeDocument/2006/relationships/image" Target="../media/image78.png"/><Relationship Id="rId29" Type="http://schemas.openxmlformats.org/officeDocument/2006/relationships/image" Target="../media/image87.png"/><Relationship Id="rId1" Type="http://schemas.openxmlformats.org/officeDocument/2006/relationships/slideLayout" Target="../slideLayouts/slideLayout17.xml"/><Relationship Id="rId6" Type="http://schemas.openxmlformats.org/officeDocument/2006/relationships/image" Target="../media/image64.png"/><Relationship Id="rId11" Type="http://schemas.openxmlformats.org/officeDocument/2006/relationships/image" Target="../media/image69.png"/><Relationship Id="rId24" Type="http://schemas.openxmlformats.org/officeDocument/2006/relationships/image" Target="../media/image82.png"/><Relationship Id="rId32" Type="http://schemas.openxmlformats.org/officeDocument/2006/relationships/image" Target="../media/image89.png"/><Relationship Id="rId5" Type="http://schemas.openxmlformats.org/officeDocument/2006/relationships/image" Target="../media/image63.png"/><Relationship Id="rId15" Type="http://schemas.openxmlformats.org/officeDocument/2006/relationships/image" Target="../media/image73.png"/><Relationship Id="rId23" Type="http://schemas.openxmlformats.org/officeDocument/2006/relationships/image" Target="../media/image81.png"/><Relationship Id="rId28" Type="http://schemas.openxmlformats.org/officeDocument/2006/relationships/image" Target="../media/image86.png"/><Relationship Id="rId10" Type="http://schemas.openxmlformats.org/officeDocument/2006/relationships/image" Target="../media/image68.png"/><Relationship Id="rId19" Type="http://schemas.openxmlformats.org/officeDocument/2006/relationships/image" Target="../media/image77.png"/><Relationship Id="rId31" Type="http://schemas.openxmlformats.org/officeDocument/2006/relationships/customXml" Target="../ink/ink10.xml"/><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 Id="rId22" Type="http://schemas.openxmlformats.org/officeDocument/2006/relationships/image" Target="../media/image80.png"/><Relationship Id="rId27" Type="http://schemas.openxmlformats.org/officeDocument/2006/relationships/image" Target="../media/image85.png"/><Relationship Id="rId30" Type="http://schemas.openxmlformats.org/officeDocument/2006/relationships/image" Target="../media/image88.png"/></Relationships>
</file>

<file path=ppt/slides/_rels/slide16.xml.rels><?xml version="1.0" encoding="UTF-8" standalone="yes"?>
<Relationships xmlns="http://schemas.openxmlformats.org/package/2006/relationships"><Relationship Id="rId8" Type="http://schemas.openxmlformats.org/officeDocument/2006/relationships/image" Target="../media/image95.png"/><Relationship Id="rId13" Type="http://schemas.openxmlformats.org/officeDocument/2006/relationships/image" Target="../media/image100.png"/><Relationship Id="rId18" Type="http://schemas.openxmlformats.org/officeDocument/2006/relationships/image" Target="../media/image105.png"/><Relationship Id="rId26" Type="http://schemas.openxmlformats.org/officeDocument/2006/relationships/image" Target="../media/image113.png"/><Relationship Id="rId3" Type="http://schemas.openxmlformats.org/officeDocument/2006/relationships/image" Target="../media/image90.png"/><Relationship Id="rId21" Type="http://schemas.openxmlformats.org/officeDocument/2006/relationships/image" Target="../media/image108.png"/><Relationship Id="rId7" Type="http://schemas.openxmlformats.org/officeDocument/2006/relationships/image" Target="../media/image94.png"/><Relationship Id="rId12" Type="http://schemas.openxmlformats.org/officeDocument/2006/relationships/image" Target="../media/image99.png"/><Relationship Id="rId17" Type="http://schemas.openxmlformats.org/officeDocument/2006/relationships/image" Target="../media/image104.png"/><Relationship Id="rId25" Type="http://schemas.openxmlformats.org/officeDocument/2006/relationships/image" Target="../media/image112.png"/><Relationship Id="rId2" Type="http://schemas.openxmlformats.org/officeDocument/2006/relationships/image" Target="../media/image890.png"/><Relationship Id="rId16" Type="http://schemas.openxmlformats.org/officeDocument/2006/relationships/image" Target="../media/image103.png"/><Relationship Id="rId20" Type="http://schemas.openxmlformats.org/officeDocument/2006/relationships/image" Target="../media/image107.png"/><Relationship Id="rId29" Type="http://schemas.openxmlformats.org/officeDocument/2006/relationships/image" Target="../media/image116.png"/><Relationship Id="rId1" Type="http://schemas.openxmlformats.org/officeDocument/2006/relationships/slideLayout" Target="../slideLayouts/slideLayout17.xml"/><Relationship Id="rId6" Type="http://schemas.openxmlformats.org/officeDocument/2006/relationships/image" Target="../media/image93.png"/><Relationship Id="rId11" Type="http://schemas.openxmlformats.org/officeDocument/2006/relationships/image" Target="../media/image98.png"/><Relationship Id="rId24" Type="http://schemas.openxmlformats.org/officeDocument/2006/relationships/image" Target="../media/image111.png"/><Relationship Id="rId32" Type="http://schemas.openxmlformats.org/officeDocument/2006/relationships/image" Target="../media/image118.png"/><Relationship Id="rId5" Type="http://schemas.openxmlformats.org/officeDocument/2006/relationships/image" Target="../media/image92.png"/><Relationship Id="rId15" Type="http://schemas.openxmlformats.org/officeDocument/2006/relationships/image" Target="../media/image102.png"/><Relationship Id="rId23" Type="http://schemas.openxmlformats.org/officeDocument/2006/relationships/image" Target="../media/image110.png"/><Relationship Id="rId28" Type="http://schemas.openxmlformats.org/officeDocument/2006/relationships/image" Target="../media/image115.png"/><Relationship Id="rId10" Type="http://schemas.openxmlformats.org/officeDocument/2006/relationships/image" Target="../media/image97.png"/><Relationship Id="rId19" Type="http://schemas.openxmlformats.org/officeDocument/2006/relationships/image" Target="../media/image106.png"/><Relationship Id="rId31" Type="http://schemas.openxmlformats.org/officeDocument/2006/relationships/customXml" Target="../ink/ink11.xml"/><Relationship Id="rId4" Type="http://schemas.openxmlformats.org/officeDocument/2006/relationships/image" Target="../media/image91.png"/><Relationship Id="rId9" Type="http://schemas.openxmlformats.org/officeDocument/2006/relationships/image" Target="../media/image96.png"/><Relationship Id="rId14" Type="http://schemas.openxmlformats.org/officeDocument/2006/relationships/image" Target="../media/image101.png"/><Relationship Id="rId22" Type="http://schemas.openxmlformats.org/officeDocument/2006/relationships/image" Target="../media/image109.png"/><Relationship Id="rId27" Type="http://schemas.openxmlformats.org/officeDocument/2006/relationships/image" Target="../media/image114.png"/><Relationship Id="rId30" Type="http://schemas.openxmlformats.org/officeDocument/2006/relationships/image" Target="../media/image117.png"/></Relationships>
</file>

<file path=ppt/slides/_rels/slide17.xml.rels><?xml version="1.0" encoding="UTF-8" standalone="yes"?>
<Relationships xmlns="http://schemas.openxmlformats.org/package/2006/relationships"><Relationship Id="rId3" Type="http://schemas.openxmlformats.org/officeDocument/2006/relationships/image" Target="../media/image1180.png"/><Relationship Id="rId2" Type="http://schemas.openxmlformats.org/officeDocument/2006/relationships/image" Target="../media/image511.png"/><Relationship Id="rId1" Type="http://schemas.openxmlformats.org/officeDocument/2006/relationships/slideLayout" Target="../slideLayouts/slideLayout13.xml"/><Relationship Id="rId5" Type="http://schemas.openxmlformats.org/officeDocument/2006/relationships/image" Target="../media/image119.png"/><Relationship Id="rId4" Type="http://schemas.openxmlformats.org/officeDocument/2006/relationships/customXml" Target="../ink/ink12.xml"/></Relationships>
</file>

<file path=ppt/slides/_rels/slide18.xml.rels><?xml version="1.0" encoding="UTF-8" standalone="yes"?>
<Relationships xmlns="http://schemas.openxmlformats.org/package/2006/relationships"><Relationship Id="rId8" Type="http://schemas.openxmlformats.org/officeDocument/2006/relationships/image" Target="../media/image125.png"/><Relationship Id="rId13" Type="http://schemas.openxmlformats.org/officeDocument/2006/relationships/image" Target="../media/image130.png"/><Relationship Id="rId18" Type="http://schemas.openxmlformats.org/officeDocument/2006/relationships/image" Target="../media/image135.png"/><Relationship Id="rId26" Type="http://schemas.openxmlformats.org/officeDocument/2006/relationships/image" Target="../media/image143.png"/><Relationship Id="rId3" Type="http://schemas.openxmlformats.org/officeDocument/2006/relationships/image" Target="../media/image120.png"/><Relationship Id="rId21" Type="http://schemas.openxmlformats.org/officeDocument/2006/relationships/image" Target="../media/image138.png"/><Relationship Id="rId7" Type="http://schemas.openxmlformats.org/officeDocument/2006/relationships/image" Target="../media/image124.png"/><Relationship Id="rId12" Type="http://schemas.openxmlformats.org/officeDocument/2006/relationships/image" Target="../media/image129.png"/><Relationship Id="rId17" Type="http://schemas.openxmlformats.org/officeDocument/2006/relationships/image" Target="../media/image134.png"/><Relationship Id="rId25" Type="http://schemas.openxmlformats.org/officeDocument/2006/relationships/image" Target="../media/image142.png"/><Relationship Id="rId2" Type="http://schemas.openxmlformats.org/officeDocument/2006/relationships/image" Target="../media/image1190.png"/><Relationship Id="rId16" Type="http://schemas.openxmlformats.org/officeDocument/2006/relationships/image" Target="../media/image133.png"/><Relationship Id="rId20" Type="http://schemas.openxmlformats.org/officeDocument/2006/relationships/image" Target="../media/image137.png"/><Relationship Id="rId29" Type="http://schemas.openxmlformats.org/officeDocument/2006/relationships/image" Target="../media/image146.png"/><Relationship Id="rId1" Type="http://schemas.openxmlformats.org/officeDocument/2006/relationships/slideLayout" Target="../slideLayouts/slideLayout17.xml"/><Relationship Id="rId6" Type="http://schemas.openxmlformats.org/officeDocument/2006/relationships/image" Target="../media/image123.png"/><Relationship Id="rId11" Type="http://schemas.openxmlformats.org/officeDocument/2006/relationships/image" Target="../media/image128.png"/><Relationship Id="rId24" Type="http://schemas.openxmlformats.org/officeDocument/2006/relationships/image" Target="../media/image141.png"/><Relationship Id="rId5" Type="http://schemas.openxmlformats.org/officeDocument/2006/relationships/image" Target="../media/image122.png"/><Relationship Id="rId15" Type="http://schemas.openxmlformats.org/officeDocument/2006/relationships/image" Target="../media/image132.png"/><Relationship Id="rId23" Type="http://schemas.openxmlformats.org/officeDocument/2006/relationships/image" Target="../media/image140.png"/><Relationship Id="rId28" Type="http://schemas.openxmlformats.org/officeDocument/2006/relationships/image" Target="../media/image145.png"/><Relationship Id="rId10" Type="http://schemas.openxmlformats.org/officeDocument/2006/relationships/image" Target="../media/image127.png"/><Relationship Id="rId19" Type="http://schemas.openxmlformats.org/officeDocument/2006/relationships/image" Target="../media/image136.png"/><Relationship Id="rId4" Type="http://schemas.openxmlformats.org/officeDocument/2006/relationships/image" Target="../media/image121.png"/><Relationship Id="rId9" Type="http://schemas.openxmlformats.org/officeDocument/2006/relationships/image" Target="../media/image126.png"/><Relationship Id="rId14" Type="http://schemas.openxmlformats.org/officeDocument/2006/relationships/image" Target="../media/image131.png"/><Relationship Id="rId22" Type="http://schemas.openxmlformats.org/officeDocument/2006/relationships/image" Target="../media/image139.png"/><Relationship Id="rId27" Type="http://schemas.openxmlformats.org/officeDocument/2006/relationships/image" Target="../media/image144.png"/><Relationship Id="rId30" Type="http://schemas.openxmlformats.org/officeDocument/2006/relationships/image" Target="../media/image147.png"/></Relationships>
</file>

<file path=ppt/slides/_rels/slide19.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image" Target="../media/image611.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8" Type="http://schemas.openxmlformats.org/officeDocument/2006/relationships/image" Target="../media/image156.png"/><Relationship Id="rId3" Type="http://schemas.openxmlformats.org/officeDocument/2006/relationships/image" Target="../media/image151.png"/><Relationship Id="rId7" Type="http://schemas.openxmlformats.org/officeDocument/2006/relationships/image" Target="../media/image155.png"/><Relationship Id="rId2" Type="http://schemas.openxmlformats.org/officeDocument/2006/relationships/image" Target="../media/image149.png"/><Relationship Id="rId1" Type="http://schemas.openxmlformats.org/officeDocument/2006/relationships/slideLayout" Target="../slideLayouts/slideLayout24.xml"/><Relationship Id="rId6" Type="http://schemas.openxmlformats.org/officeDocument/2006/relationships/image" Target="../media/image154.png"/><Relationship Id="rId11" Type="http://schemas.openxmlformats.org/officeDocument/2006/relationships/image" Target="../media/image159.png"/><Relationship Id="rId5" Type="http://schemas.openxmlformats.org/officeDocument/2006/relationships/image" Target="../media/image153.png"/><Relationship Id="rId10" Type="http://schemas.openxmlformats.org/officeDocument/2006/relationships/image" Target="../media/image158.png"/><Relationship Id="rId4" Type="http://schemas.openxmlformats.org/officeDocument/2006/relationships/image" Target="../media/image152.png"/><Relationship Id="rId9" Type="http://schemas.openxmlformats.org/officeDocument/2006/relationships/image" Target="../media/image157.png"/></Relationships>
</file>

<file path=ppt/slides/_rels/slide21.xml.rels><?xml version="1.0" encoding="UTF-8" standalone="yes"?>
<Relationships xmlns="http://schemas.openxmlformats.org/package/2006/relationships"><Relationship Id="rId8" Type="http://schemas.openxmlformats.org/officeDocument/2006/relationships/image" Target="../media/image154.png"/><Relationship Id="rId3" Type="http://schemas.openxmlformats.org/officeDocument/2006/relationships/image" Target="../media/image160.png"/><Relationship Id="rId7" Type="http://schemas.openxmlformats.org/officeDocument/2006/relationships/image" Target="../media/image153.png"/><Relationship Id="rId12" Type="http://schemas.openxmlformats.org/officeDocument/2006/relationships/image" Target="../media/image159.png"/><Relationship Id="rId2" Type="http://schemas.openxmlformats.org/officeDocument/2006/relationships/notesSlide" Target="../notesSlides/notesSlide2.xml"/><Relationship Id="rId1" Type="http://schemas.openxmlformats.org/officeDocument/2006/relationships/slideLayout" Target="../slideLayouts/slideLayout24.xml"/><Relationship Id="rId6" Type="http://schemas.openxmlformats.org/officeDocument/2006/relationships/image" Target="../media/image152.png"/><Relationship Id="rId11" Type="http://schemas.openxmlformats.org/officeDocument/2006/relationships/image" Target="../media/image158.png"/><Relationship Id="rId5" Type="http://schemas.openxmlformats.org/officeDocument/2006/relationships/image" Target="../media/image155.png"/><Relationship Id="rId10" Type="http://schemas.openxmlformats.org/officeDocument/2006/relationships/image" Target="../media/image157.png"/><Relationship Id="rId4" Type="http://schemas.openxmlformats.org/officeDocument/2006/relationships/image" Target="../media/image151.png"/><Relationship Id="rId9" Type="http://schemas.openxmlformats.org/officeDocument/2006/relationships/image" Target="../media/image15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a:bodyPr>
          <a:lstStyle/>
          <a:p>
            <a:r>
              <a:rPr lang="en-US" dirty="0">
                <a:latin typeface="Calibri Light" panose="020F0302020204030204" pitchFamily="34" charset="0"/>
                <a:ea typeface="Calibri Light" panose="020F0302020204030204" pitchFamily="34" charset="0"/>
                <a:cs typeface="Calibri Light" panose="020F0302020204030204" pitchFamily="34" charset="0"/>
              </a:rPr>
              <a:t>CSE </a:t>
            </a:r>
            <a:r>
              <a:rPr lang="en-US">
                <a:latin typeface="Calibri Light" panose="020F0302020204030204" pitchFamily="34" charset="0"/>
                <a:ea typeface="Calibri Light" panose="020F0302020204030204" pitchFamily="34" charset="0"/>
                <a:cs typeface="Calibri Light" panose="020F0302020204030204" pitchFamily="34" charset="0"/>
              </a:rPr>
              <a:t>332 Spring </a:t>
            </a:r>
            <a:r>
              <a:rPr lang="en-US" dirty="0">
                <a:latin typeface="Calibri Light" panose="020F0302020204030204" pitchFamily="34" charset="0"/>
                <a:ea typeface="Calibri Light" panose="020F0302020204030204" pitchFamily="34" charset="0"/>
                <a:cs typeface="Calibri Light" panose="020F0302020204030204" pitchFamily="34" charset="0"/>
              </a:rPr>
              <a:t>2026</a:t>
            </a:r>
            <a:br>
              <a:rPr lang="en-US" dirty="0">
                <a:latin typeface="Calibri Light" panose="020F0302020204030204" pitchFamily="34" charset="0"/>
                <a:ea typeface="Calibri Light" panose="020F0302020204030204" pitchFamily="34" charset="0"/>
                <a:cs typeface="Calibri Light" panose="020F0302020204030204" pitchFamily="34" charset="0"/>
              </a:rPr>
            </a:br>
            <a:r>
              <a:rPr lang="en-US" dirty="0">
                <a:latin typeface="Calibri Light" panose="020F0302020204030204" pitchFamily="34" charset="0"/>
                <a:ea typeface="Calibri Light" panose="020F0302020204030204" pitchFamily="34" charset="0"/>
                <a:cs typeface="Calibri Light" panose="020F0302020204030204" pitchFamily="34" charset="0"/>
              </a:rPr>
              <a:t>Lecture 6: Recurrences</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3"/>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A4C94-F173-BE79-8469-02F227EC3400}"/>
              </a:ext>
            </a:extLst>
          </p:cNvPr>
          <p:cNvSpPr>
            <a:spLocks noGrp="1"/>
          </p:cNvSpPr>
          <p:nvPr>
            <p:ph type="title"/>
          </p:nvPr>
        </p:nvSpPr>
        <p:spPr/>
        <p:txBody>
          <a:bodyPr/>
          <a:lstStyle/>
          <a:p>
            <a:r>
              <a:rPr lang="en-US" dirty="0"/>
              <a:t>Recursive Binary Search</a:t>
            </a:r>
          </a:p>
        </p:txBody>
      </p:sp>
      <p:sp>
        <p:nvSpPr>
          <p:cNvPr id="3" name="Content Placeholder 2">
            <a:extLst>
              <a:ext uri="{FF2B5EF4-FFF2-40B4-BE49-F238E27FC236}">
                <a16:creationId xmlns:a16="http://schemas.microsoft.com/office/drawing/2014/main" id="{3CDB7A4A-B366-CC17-877C-2EB95A8A5352}"/>
              </a:ext>
            </a:extLst>
          </p:cNvPr>
          <p:cNvSpPr>
            <a:spLocks noGrp="1"/>
          </p:cNvSpPr>
          <p:nvPr>
            <p:ph idx="1"/>
          </p:nvPr>
        </p:nvSpPr>
        <p:spPr/>
        <p:txBody>
          <a:bodyPr>
            <a:normAutofit fontScale="55000" lnSpcReduction="20000"/>
          </a:bodyPr>
          <a:lstStyle/>
          <a:p>
            <a:pPr marL="0" indent="0">
              <a:buNone/>
            </a:pPr>
            <a:r>
              <a:rPr lang="en-US" b="0" dirty="0">
                <a:solidFill>
                  <a:srgbClr val="0000FF"/>
                </a:solidFill>
                <a:effectLst/>
                <a:highlight>
                  <a:srgbClr val="FFFFFF"/>
                </a:highlight>
                <a:latin typeface="Consolas" panose="020B0609020204030204" pitchFamily="49" charset="0"/>
              </a:rPr>
              <a:t>public</a:t>
            </a: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static</a:t>
            </a:r>
            <a:r>
              <a:rPr lang="en-US" b="0" dirty="0">
                <a:solidFill>
                  <a:srgbClr val="000000"/>
                </a:solidFill>
                <a:effectLst/>
                <a:highlight>
                  <a:srgbClr val="FFFFFF"/>
                </a:highlight>
                <a:latin typeface="Consolas" panose="020B0609020204030204" pitchFamily="49" charset="0"/>
              </a:rPr>
              <a:t> </a:t>
            </a:r>
            <a:r>
              <a:rPr lang="en-US" b="0" dirty="0" err="1">
                <a:solidFill>
                  <a:srgbClr val="0000FF"/>
                </a:solidFill>
                <a:effectLst/>
                <a:highlight>
                  <a:srgbClr val="FFFFFF"/>
                </a:highlight>
                <a:latin typeface="Consolas" panose="020B0609020204030204" pitchFamily="49" charset="0"/>
              </a:rPr>
              <a:t>boolean</a:t>
            </a:r>
            <a:r>
              <a:rPr lang="en-US" b="0" dirty="0">
                <a:solidFill>
                  <a:srgbClr val="000000"/>
                </a:solidFill>
                <a:effectLst/>
                <a:highlight>
                  <a:srgbClr val="FFFFFF"/>
                </a:highlight>
                <a:latin typeface="Consolas" panose="020B0609020204030204" pitchFamily="49" charset="0"/>
              </a:rPr>
              <a:t> </a:t>
            </a:r>
            <a:r>
              <a:rPr lang="en-US" b="0" dirty="0" err="1">
                <a:solidFill>
                  <a:srgbClr val="000000"/>
                </a:solidFill>
                <a:effectLst/>
                <a:highlight>
                  <a:srgbClr val="FFFFFF"/>
                </a:highlight>
                <a:latin typeface="Consolas" panose="020B0609020204030204" pitchFamily="49" charset="0"/>
              </a:rPr>
              <a:t>binarySearch</a:t>
            </a:r>
            <a:r>
              <a:rPr lang="en-US" b="0" dirty="0">
                <a:solidFill>
                  <a:srgbClr val="000000"/>
                </a:solidFill>
                <a:effectLst/>
                <a:highlight>
                  <a:srgbClr val="FFFFFF"/>
                </a:highlight>
                <a:latin typeface="Consolas" panose="020B0609020204030204" pitchFamily="49" charset="0"/>
              </a:rPr>
              <a:t>(</a:t>
            </a:r>
            <a:r>
              <a:rPr lang="en-US" b="0" dirty="0">
                <a:solidFill>
                  <a:srgbClr val="0000FF"/>
                </a:solidFill>
                <a:effectLst/>
                <a:highlight>
                  <a:srgbClr val="FFFFFF"/>
                </a:highlight>
                <a:latin typeface="Consolas" panose="020B0609020204030204" pitchFamily="49" charset="0"/>
              </a:rPr>
              <a:t>List</a:t>
            </a:r>
            <a:r>
              <a:rPr lang="en-US" b="0" dirty="0">
                <a:solidFill>
                  <a:srgbClr val="000000"/>
                </a:solidFill>
                <a:effectLst/>
                <a:highlight>
                  <a:srgbClr val="FFFFFF"/>
                </a:highlight>
                <a:latin typeface="Consolas" panose="020B0609020204030204" pitchFamily="49" charset="0"/>
              </a:rPr>
              <a:t>&lt;</a:t>
            </a:r>
            <a:r>
              <a:rPr lang="en-US" b="0" dirty="0">
                <a:solidFill>
                  <a:srgbClr val="0000FF"/>
                </a:solidFill>
                <a:effectLst/>
                <a:highlight>
                  <a:srgbClr val="FFFFFF"/>
                </a:highlight>
                <a:latin typeface="Consolas" panose="020B0609020204030204" pitchFamily="49" charset="0"/>
              </a:rPr>
              <a:t>Integer</a:t>
            </a:r>
            <a:r>
              <a:rPr lang="en-US" b="0" dirty="0">
                <a:solidFill>
                  <a:srgbClr val="000000"/>
                </a:solidFill>
                <a:effectLst/>
                <a:highlight>
                  <a:srgbClr val="FFFFFF"/>
                </a:highlight>
                <a:latin typeface="Consolas" panose="020B0609020204030204" pitchFamily="49" charset="0"/>
              </a:rPr>
              <a:t>&gt; </a:t>
            </a:r>
            <a:r>
              <a:rPr lang="en-US" b="0" dirty="0" err="1">
                <a:solidFill>
                  <a:srgbClr val="000000"/>
                </a:solidFill>
                <a:effectLst/>
                <a:highlight>
                  <a:srgbClr val="FFFFFF"/>
                </a:highlight>
                <a:latin typeface="Consolas" panose="020B0609020204030204" pitchFamily="49" charset="0"/>
              </a:rPr>
              <a:t>lst</a:t>
            </a: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int</a:t>
            </a:r>
            <a:r>
              <a:rPr lang="en-US" b="0" dirty="0">
                <a:solidFill>
                  <a:srgbClr val="000000"/>
                </a:solidFill>
                <a:effectLst/>
                <a:highlight>
                  <a:srgbClr val="FFFFFF"/>
                </a:highlight>
                <a:latin typeface="Consolas" panose="020B0609020204030204" pitchFamily="49" charset="0"/>
              </a:rPr>
              <a:t> k){</a:t>
            </a:r>
          </a:p>
          <a:p>
            <a:pPr marL="0" indent="0">
              <a:buNone/>
            </a:pP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return</a:t>
            </a:r>
            <a:r>
              <a:rPr lang="en-US" b="0" dirty="0">
                <a:solidFill>
                  <a:srgbClr val="000000"/>
                </a:solidFill>
                <a:effectLst/>
                <a:highlight>
                  <a:srgbClr val="FFFFFF"/>
                </a:highlight>
                <a:latin typeface="Consolas" panose="020B0609020204030204" pitchFamily="49" charset="0"/>
              </a:rPr>
              <a:t> </a:t>
            </a:r>
            <a:r>
              <a:rPr lang="en-US" b="0" dirty="0" err="1">
                <a:solidFill>
                  <a:srgbClr val="000000"/>
                </a:solidFill>
                <a:effectLst/>
                <a:highlight>
                  <a:srgbClr val="FFFFFF"/>
                </a:highlight>
                <a:latin typeface="Consolas" panose="020B0609020204030204" pitchFamily="49" charset="0"/>
              </a:rPr>
              <a:t>binarySearch</a:t>
            </a:r>
            <a:r>
              <a:rPr lang="en-US" b="0" dirty="0">
                <a:solidFill>
                  <a:srgbClr val="000000"/>
                </a:solidFill>
                <a:effectLst/>
                <a:highlight>
                  <a:srgbClr val="FFFFFF"/>
                </a:highlight>
                <a:latin typeface="Consolas" panose="020B0609020204030204" pitchFamily="49" charset="0"/>
              </a:rPr>
              <a:t>(</a:t>
            </a:r>
            <a:r>
              <a:rPr lang="en-US" b="0" dirty="0" err="1">
                <a:solidFill>
                  <a:srgbClr val="000000"/>
                </a:solidFill>
                <a:effectLst/>
                <a:highlight>
                  <a:srgbClr val="FFFFFF"/>
                </a:highlight>
                <a:latin typeface="Consolas" panose="020B0609020204030204" pitchFamily="49" charset="0"/>
              </a:rPr>
              <a:t>lst</a:t>
            </a:r>
            <a:r>
              <a:rPr lang="en-US" b="0" dirty="0">
                <a:solidFill>
                  <a:srgbClr val="000000"/>
                </a:solidFill>
                <a:effectLst/>
                <a:highlight>
                  <a:srgbClr val="FFFFFF"/>
                </a:highlight>
                <a:latin typeface="Consolas" panose="020B0609020204030204" pitchFamily="49" charset="0"/>
              </a:rPr>
              <a:t>, k, </a:t>
            </a:r>
            <a:r>
              <a:rPr lang="en-US" b="0" dirty="0">
                <a:solidFill>
                  <a:srgbClr val="098658"/>
                </a:solidFill>
                <a:effectLst/>
                <a:highlight>
                  <a:srgbClr val="FFFFFF"/>
                </a:highlight>
                <a:latin typeface="Consolas" panose="020B0609020204030204" pitchFamily="49" charset="0"/>
              </a:rPr>
              <a:t>0</a:t>
            </a:r>
            <a:r>
              <a:rPr lang="en-US" b="0" dirty="0">
                <a:solidFill>
                  <a:srgbClr val="000000"/>
                </a:solidFill>
                <a:effectLst/>
                <a:highlight>
                  <a:srgbClr val="FFFFFF"/>
                </a:highlight>
                <a:latin typeface="Consolas" panose="020B0609020204030204" pitchFamily="49" charset="0"/>
              </a:rPr>
              <a:t>, </a:t>
            </a:r>
            <a:r>
              <a:rPr lang="en-US" b="0" dirty="0" err="1">
                <a:solidFill>
                  <a:srgbClr val="000000"/>
                </a:solidFill>
                <a:effectLst/>
                <a:highlight>
                  <a:srgbClr val="FFFFFF"/>
                </a:highlight>
                <a:latin typeface="Consolas" panose="020B0609020204030204" pitchFamily="49" charset="0"/>
              </a:rPr>
              <a:t>lst.size</a:t>
            </a:r>
            <a:r>
              <a:rPr lang="en-US" b="0" dirty="0">
                <a:solidFill>
                  <a:srgbClr val="000000"/>
                </a:solidFill>
                <a:effectLst/>
                <a:highlight>
                  <a:srgbClr val="FFFFFF"/>
                </a:highlight>
                <a:latin typeface="Consolas" panose="020B0609020204030204" pitchFamily="49" charset="0"/>
              </a:rPr>
              <a:t>());</a:t>
            </a:r>
          </a:p>
          <a:p>
            <a:pPr marL="0" indent="0">
              <a:buNone/>
            </a:pPr>
            <a:r>
              <a:rPr lang="en-US" b="0" dirty="0">
                <a:solidFill>
                  <a:srgbClr val="000000"/>
                </a:solidFill>
                <a:effectLst/>
                <a:highlight>
                  <a:srgbClr val="FFFFFF"/>
                </a:highlight>
                <a:latin typeface="Consolas" panose="020B0609020204030204" pitchFamily="49" charset="0"/>
              </a:rPr>
              <a:t>}</a:t>
            </a:r>
          </a:p>
          <a:p>
            <a:pPr marL="0" indent="0">
              <a:buNone/>
            </a:pPr>
            <a:r>
              <a:rPr lang="en-US" b="0" dirty="0">
                <a:solidFill>
                  <a:srgbClr val="0000FF"/>
                </a:solidFill>
                <a:effectLst/>
                <a:highlight>
                  <a:srgbClr val="FFFFFF"/>
                </a:highlight>
                <a:latin typeface="Consolas" panose="020B0609020204030204" pitchFamily="49" charset="0"/>
              </a:rPr>
              <a:t>private</a:t>
            </a: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static</a:t>
            </a:r>
            <a:r>
              <a:rPr lang="en-US" b="0" dirty="0">
                <a:solidFill>
                  <a:srgbClr val="000000"/>
                </a:solidFill>
                <a:effectLst/>
                <a:highlight>
                  <a:srgbClr val="FFFFFF"/>
                </a:highlight>
                <a:latin typeface="Consolas" panose="020B0609020204030204" pitchFamily="49" charset="0"/>
              </a:rPr>
              <a:t> </a:t>
            </a:r>
            <a:r>
              <a:rPr lang="en-US" b="0" dirty="0" err="1">
                <a:solidFill>
                  <a:srgbClr val="0000FF"/>
                </a:solidFill>
                <a:effectLst/>
                <a:highlight>
                  <a:srgbClr val="FFFFFF"/>
                </a:highlight>
                <a:latin typeface="Consolas" panose="020B0609020204030204" pitchFamily="49" charset="0"/>
              </a:rPr>
              <a:t>boolean</a:t>
            </a:r>
            <a:r>
              <a:rPr lang="en-US" b="0" dirty="0">
                <a:solidFill>
                  <a:srgbClr val="000000"/>
                </a:solidFill>
                <a:effectLst/>
                <a:highlight>
                  <a:srgbClr val="FFFFFF"/>
                </a:highlight>
                <a:latin typeface="Consolas" panose="020B0609020204030204" pitchFamily="49" charset="0"/>
              </a:rPr>
              <a:t> </a:t>
            </a:r>
            <a:r>
              <a:rPr lang="en-US" b="0" dirty="0" err="1">
                <a:solidFill>
                  <a:srgbClr val="000000"/>
                </a:solidFill>
                <a:effectLst/>
                <a:highlight>
                  <a:srgbClr val="FFFFFF"/>
                </a:highlight>
                <a:latin typeface="Consolas" panose="020B0609020204030204" pitchFamily="49" charset="0"/>
              </a:rPr>
              <a:t>binarySearch</a:t>
            </a:r>
            <a:r>
              <a:rPr lang="en-US" b="0" dirty="0">
                <a:solidFill>
                  <a:srgbClr val="000000"/>
                </a:solidFill>
                <a:effectLst/>
                <a:highlight>
                  <a:srgbClr val="FFFFFF"/>
                </a:highlight>
                <a:latin typeface="Consolas" panose="020B0609020204030204" pitchFamily="49" charset="0"/>
              </a:rPr>
              <a:t>(</a:t>
            </a:r>
            <a:r>
              <a:rPr lang="en-US" b="0" dirty="0">
                <a:solidFill>
                  <a:srgbClr val="0000FF"/>
                </a:solidFill>
                <a:effectLst/>
                <a:highlight>
                  <a:srgbClr val="FFFFFF"/>
                </a:highlight>
                <a:latin typeface="Consolas" panose="020B0609020204030204" pitchFamily="49" charset="0"/>
              </a:rPr>
              <a:t>List</a:t>
            </a:r>
            <a:r>
              <a:rPr lang="en-US" b="0" dirty="0">
                <a:solidFill>
                  <a:srgbClr val="000000"/>
                </a:solidFill>
                <a:effectLst/>
                <a:highlight>
                  <a:srgbClr val="FFFFFF"/>
                </a:highlight>
                <a:latin typeface="Consolas" panose="020B0609020204030204" pitchFamily="49" charset="0"/>
              </a:rPr>
              <a:t>&lt;</a:t>
            </a:r>
            <a:r>
              <a:rPr lang="en-US" b="0" dirty="0">
                <a:solidFill>
                  <a:srgbClr val="0000FF"/>
                </a:solidFill>
                <a:effectLst/>
                <a:highlight>
                  <a:srgbClr val="FFFFFF"/>
                </a:highlight>
                <a:latin typeface="Consolas" panose="020B0609020204030204" pitchFamily="49" charset="0"/>
              </a:rPr>
              <a:t>Integer</a:t>
            </a:r>
            <a:r>
              <a:rPr lang="en-US" b="0" dirty="0">
                <a:solidFill>
                  <a:srgbClr val="000000"/>
                </a:solidFill>
                <a:effectLst/>
                <a:highlight>
                  <a:srgbClr val="FFFFFF"/>
                </a:highlight>
                <a:latin typeface="Consolas" panose="020B0609020204030204" pitchFamily="49" charset="0"/>
              </a:rPr>
              <a:t>&gt; </a:t>
            </a:r>
            <a:r>
              <a:rPr lang="en-US" b="0" dirty="0" err="1">
                <a:solidFill>
                  <a:srgbClr val="000000"/>
                </a:solidFill>
                <a:effectLst/>
                <a:highlight>
                  <a:srgbClr val="FFFFFF"/>
                </a:highlight>
                <a:latin typeface="Consolas" panose="020B0609020204030204" pitchFamily="49" charset="0"/>
              </a:rPr>
              <a:t>lst</a:t>
            </a: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int</a:t>
            </a:r>
            <a:r>
              <a:rPr lang="en-US" b="0" dirty="0">
                <a:solidFill>
                  <a:srgbClr val="000000"/>
                </a:solidFill>
                <a:effectLst/>
                <a:highlight>
                  <a:srgbClr val="FFFFFF"/>
                </a:highlight>
                <a:latin typeface="Consolas" panose="020B0609020204030204" pitchFamily="49" charset="0"/>
              </a:rPr>
              <a:t> k, </a:t>
            </a:r>
            <a:r>
              <a:rPr lang="en-US" b="0" dirty="0">
                <a:solidFill>
                  <a:srgbClr val="0000FF"/>
                </a:solidFill>
                <a:effectLst/>
                <a:highlight>
                  <a:srgbClr val="FFFFFF"/>
                </a:highlight>
                <a:latin typeface="Consolas" panose="020B0609020204030204" pitchFamily="49" charset="0"/>
              </a:rPr>
              <a:t>int</a:t>
            </a:r>
            <a:r>
              <a:rPr lang="en-US" b="0" dirty="0">
                <a:solidFill>
                  <a:srgbClr val="000000"/>
                </a:solidFill>
                <a:effectLst/>
                <a:highlight>
                  <a:srgbClr val="FFFFFF"/>
                </a:highlight>
                <a:latin typeface="Consolas" panose="020B0609020204030204" pitchFamily="49" charset="0"/>
              </a:rPr>
              <a:t> start, </a:t>
            </a:r>
            <a:r>
              <a:rPr lang="en-US" b="0" dirty="0">
                <a:solidFill>
                  <a:srgbClr val="0000FF"/>
                </a:solidFill>
                <a:effectLst/>
                <a:highlight>
                  <a:srgbClr val="FFFFFF"/>
                </a:highlight>
                <a:latin typeface="Consolas" panose="020B0609020204030204" pitchFamily="49" charset="0"/>
              </a:rPr>
              <a:t>int</a:t>
            </a:r>
            <a:r>
              <a:rPr lang="en-US" b="0" dirty="0">
                <a:solidFill>
                  <a:srgbClr val="000000"/>
                </a:solidFill>
                <a:effectLst/>
                <a:highlight>
                  <a:srgbClr val="FFFFFF"/>
                </a:highlight>
                <a:latin typeface="Consolas" panose="020B0609020204030204" pitchFamily="49" charset="0"/>
              </a:rPr>
              <a:t> end){</a:t>
            </a:r>
          </a:p>
          <a:p>
            <a:pPr marL="0" indent="0">
              <a:buNone/>
            </a:pP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if</a:t>
            </a:r>
            <a:r>
              <a:rPr lang="en-US" b="0" dirty="0">
                <a:solidFill>
                  <a:srgbClr val="000000"/>
                </a:solidFill>
                <a:effectLst/>
                <a:highlight>
                  <a:srgbClr val="FFFFFF"/>
                </a:highlight>
                <a:latin typeface="Consolas" panose="020B0609020204030204" pitchFamily="49" charset="0"/>
              </a:rPr>
              <a:t>(start == end)</a:t>
            </a:r>
          </a:p>
          <a:p>
            <a:pPr marL="0" indent="0">
              <a:buNone/>
            </a:pP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return</a:t>
            </a: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false</a:t>
            </a:r>
            <a:r>
              <a:rPr lang="en-US" b="0" dirty="0">
                <a:solidFill>
                  <a:srgbClr val="000000"/>
                </a:solidFill>
                <a:effectLst/>
                <a:highlight>
                  <a:srgbClr val="FFFFFF"/>
                </a:highlight>
                <a:latin typeface="Consolas" panose="020B0609020204030204" pitchFamily="49" charset="0"/>
              </a:rPr>
              <a:t>;</a:t>
            </a:r>
          </a:p>
          <a:p>
            <a:pPr marL="0" indent="0">
              <a:buNone/>
            </a:pP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int</a:t>
            </a:r>
            <a:r>
              <a:rPr lang="en-US" b="0" dirty="0">
                <a:solidFill>
                  <a:srgbClr val="000000"/>
                </a:solidFill>
                <a:effectLst/>
                <a:highlight>
                  <a:srgbClr val="FFFFFF"/>
                </a:highlight>
                <a:latin typeface="Consolas" panose="020B0609020204030204" pitchFamily="49" charset="0"/>
              </a:rPr>
              <a:t> mid = start + (end-start)/</a:t>
            </a:r>
            <a:r>
              <a:rPr lang="en-US" b="0" dirty="0">
                <a:solidFill>
                  <a:srgbClr val="098658"/>
                </a:solidFill>
                <a:effectLst/>
                <a:highlight>
                  <a:srgbClr val="FFFFFF"/>
                </a:highlight>
                <a:latin typeface="Consolas" panose="020B0609020204030204" pitchFamily="49" charset="0"/>
              </a:rPr>
              <a:t>2</a:t>
            </a:r>
            <a:r>
              <a:rPr lang="en-US" b="0" dirty="0">
                <a:solidFill>
                  <a:srgbClr val="000000"/>
                </a:solidFill>
                <a:effectLst/>
                <a:highlight>
                  <a:srgbClr val="FFFFFF"/>
                </a:highlight>
                <a:latin typeface="Consolas" panose="020B0609020204030204" pitchFamily="49" charset="0"/>
              </a:rPr>
              <a:t>;</a:t>
            </a:r>
          </a:p>
          <a:p>
            <a:pPr marL="0" indent="0">
              <a:buNone/>
            </a:pP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if</a:t>
            </a:r>
            <a:r>
              <a:rPr lang="en-US" b="0" dirty="0">
                <a:solidFill>
                  <a:srgbClr val="000000"/>
                </a:solidFill>
                <a:effectLst/>
                <a:highlight>
                  <a:srgbClr val="FFFFFF"/>
                </a:highlight>
                <a:latin typeface="Consolas" panose="020B0609020204030204" pitchFamily="49" charset="0"/>
              </a:rPr>
              <a:t>(</a:t>
            </a:r>
            <a:r>
              <a:rPr lang="en-US" b="0" dirty="0" err="1">
                <a:solidFill>
                  <a:srgbClr val="000000"/>
                </a:solidFill>
                <a:effectLst/>
                <a:highlight>
                  <a:srgbClr val="FFFFFF"/>
                </a:highlight>
                <a:latin typeface="Consolas" panose="020B0609020204030204" pitchFamily="49" charset="0"/>
              </a:rPr>
              <a:t>lst.get</a:t>
            </a:r>
            <a:r>
              <a:rPr lang="en-US" b="0" dirty="0">
                <a:solidFill>
                  <a:srgbClr val="000000"/>
                </a:solidFill>
                <a:effectLst/>
                <a:highlight>
                  <a:srgbClr val="FFFFFF"/>
                </a:highlight>
                <a:latin typeface="Consolas" panose="020B0609020204030204" pitchFamily="49" charset="0"/>
              </a:rPr>
              <a:t>(mid) == k){</a:t>
            </a:r>
          </a:p>
          <a:p>
            <a:pPr marL="0" indent="0">
              <a:buNone/>
            </a:pP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return</a:t>
            </a: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true</a:t>
            </a:r>
            <a:r>
              <a:rPr lang="en-US" b="0" dirty="0">
                <a:solidFill>
                  <a:srgbClr val="000000"/>
                </a:solidFill>
                <a:effectLst/>
                <a:highlight>
                  <a:srgbClr val="FFFFFF"/>
                </a:highlight>
                <a:latin typeface="Consolas" panose="020B0609020204030204" pitchFamily="49" charset="0"/>
              </a:rPr>
              <a:t>;</a:t>
            </a:r>
          </a:p>
          <a:p>
            <a:pPr marL="0" indent="0">
              <a:buNone/>
            </a:pPr>
            <a:r>
              <a:rPr lang="en-US" b="0" dirty="0">
                <a:solidFill>
                  <a:srgbClr val="000000"/>
                </a:solidFill>
                <a:effectLst/>
                <a:highlight>
                  <a:srgbClr val="FFFFFF"/>
                </a:highlight>
                <a:latin typeface="Consolas" panose="020B0609020204030204" pitchFamily="49" charset="0"/>
              </a:rPr>
              <a:t>    } </a:t>
            </a:r>
            <a:r>
              <a:rPr lang="en-US" b="0" dirty="0">
                <a:solidFill>
                  <a:srgbClr val="0000FF"/>
                </a:solidFill>
                <a:effectLst/>
                <a:highlight>
                  <a:srgbClr val="FFFFFF"/>
                </a:highlight>
                <a:latin typeface="Consolas" panose="020B0609020204030204" pitchFamily="49" charset="0"/>
              </a:rPr>
              <a:t>else</a:t>
            </a: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if</a:t>
            </a:r>
            <a:r>
              <a:rPr lang="en-US" b="0" dirty="0">
                <a:solidFill>
                  <a:srgbClr val="000000"/>
                </a:solidFill>
                <a:effectLst/>
                <a:highlight>
                  <a:srgbClr val="FFFFFF"/>
                </a:highlight>
                <a:latin typeface="Consolas" panose="020B0609020204030204" pitchFamily="49" charset="0"/>
              </a:rPr>
              <a:t>(</a:t>
            </a:r>
            <a:r>
              <a:rPr lang="en-US" b="0" dirty="0" err="1">
                <a:solidFill>
                  <a:srgbClr val="000000"/>
                </a:solidFill>
                <a:effectLst/>
                <a:highlight>
                  <a:srgbClr val="FFFFFF"/>
                </a:highlight>
                <a:latin typeface="Consolas" panose="020B0609020204030204" pitchFamily="49" charset="0"/>
              </a:rPr>
              <a:t>lst.get</a:t>
            </a:r>
            <a:r>
              <a:rPr lang="en-US" b="0" dirty="0">
                <a:solidFill>
                  <a:srgbClr val="000000"/>
                </a:solidFill>
                <a:effectLst/>
                <a:highlight>
                  <a:srgbClr val="FFFFFF"/>
                </a:highlight>
                <a:latin typeface="Consolas" panose="020B0609020204030204" pitchFamily="49" charset="0"/>
              </a:rPr>
              <a:t>(mid) &gt; k){</a:t>
            </a:r>
          </a:p>
          <a:p>
            <a:pPr marL="0" indent="0">
              <a:buNone/>
            </a:pP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return</a:t>
            </a:r>
            <a:r>
              <a:rPr lang="en-US" b="0" dirty="0">
                <a:solidFill>
                  <a:srgbClr val="000000"/>
                </a:solidFill>
                <a:effectLst/>
                <a:highlight>
                  <a:srgbClr val="FFFFFF"/>
                </a:highlight>
                <a:latin typeface="Consolas" panose="020B0609020204030204" pitchFamily="49" charset="0"/>
              </a:rPr>
              <a:t> </a:t>
            </a:r>
            <a:r>
              <a:rPr lang="en-US" b="0" dirty="0" err="1">
                <a:solidFill>
                  <a:srgbClr val="000000"/>
                </a:solidFill>
                <a:effectLst/>
                <a:highlight>
                  <a:srgbClr val="FFFFFF"/>
                </a:highlight>
                <a:latin typeface="Consolas" panose="020B0609020204030204" pitchFamily="49" charset="0"/>
              </a:rPr>
              <a:t>binarySearch</a:t>
            </a:r>
            <a:r>
              <a:rPr lang="en-US" b="0" dirty="0">
                <a:solidFill>
                  <a:srgbClr val="000000"/>
                </a:solidFill>
                <a:effectLst/>
                <a:highlight>
                  <a:srgbClr val="FFFFFF"/>
                </a:highlight>
                <a:latin typeface="Consolas" panose="020B0609020204030204" pitchFamily="49" charset="0"/>
              </a:rPr>
              <a:t>(</a:t>
            </a:r>
            <a:r>
              <a:rPr lang="en-US" b="0" dirty="0" err="1">
                <a:solidFill>
                  <a:srgbClr val="000000"/>
                </a:solidFill>
                <a:effectLst/>
                <a:highlight>
                  <a:srgbClr val="FFFFFF"/>
                </a:highlight>
                <a:latin typeface="Consolas" panose="020B0609020204030204" pitchFamily="49" charset="0"/>
              </a:rPr>
              <a:t>lst</a:t>
            </a:r>
            <a:r>
              <a:rPr lang="en-US" b="0" dirty="0">
                <a:solidFill>
                  <a:srgbClr val="000000"/>
                </a:solidFill>
                <a:effectLst/>
                <a:highlight>
                  <a:srgbClr val="FFFFFF"/>
                </a:highlight>
                <a:latin typeface="Consolas" panose="020B0609020204030204" pitchFamily="49" charset="0"/>
              </a:rPr>
              <a:t>, k, start, mid);</a:t>
            </a:r>
          </a:p>
          <a:p>
            <a:pPr marL="0" indent="0">
              <a:buNone/>
            </a:pPr>
            <a:r>
              <a:rPr lang="en-US" b="0" dirty="0">
                <a:solidFill>
                  <a:srgbClr val="000000"/>
                </a:solidFill>
                <a:effectLst/>
                <a:highlight>
                  <a:srgbClr val="FFFFFF"/>
                </a:highlight>
                <a:latin typeface="Consolas" panose="020B0609020204030204" pitchFamily="49" charset="0"/>
              </a:rPr>
              <a:t>    } </a:t>
            </a:r>
            <a:r>
              <a:rPr lang="en-US" b="0" dirty="0">
                <a:solidFill>
                  <a:srgbClr val="0000FF"/>
                </a:solidFill>
                <a:effectLst/>
                <a:highlight>
                  <a:srgbClr val="FFFFFF"/>
                </a:highlight>
                <a:latin typeface="Consolas" panose="020B0609020204030204" pitchFamily="49" charset="0"/>
              </a:rPr>
              <a:t>else</a:t>
            </a:r>
            <a:r>
              <a:rPr lang="en-US" b="0" dirty="0">
                <a:solidFill>
                  <a:srgbClr val="000000"/>
                </a:solidFill>
                <a:effectLst/>
                <a:highlight>
                  <a:srgbClr val="FFFFFF"/>
                </a:highlight>
                <a:latin typeface="Consolas" panose="020B0609020204030204" pitchFamily="49" charset="0"/>
              </a:rPr>
              <a:t>{</a:t>
            </a:r>
          </a:p>
          <a:p>
            <a:pPr marL="0" indent="0">
              <a:buNone/>
            </a:pP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return</a:t>
            </a:r>
            <a:r>
              <a:rPr lang="en-US" b="0" dirty="0">
                <a:solidFill>
                  <a:srgbClr val="000000"/>
                </a:solidFill>
                <a:effectLst/>
                <a:highlight>
                  <a:srgbClr val="FFFFFF"/>
                </a:highlight>
                <a:latin typeface="Consolas" panose="020B0609020204030204" pitchFamily="49" charset="0"/>
              </a:rPr>
              <a:t> </a:t>
            </a:r>
            <a:r>
              <a:rPr lang="en-US" b="0" dirty="0" err="1">
                <a:solidFill>
                  <a:srgbClr val="000000"/>
                </a:solidFill>
                <a:effectLst/>
                <a:highlight>
                  <a:srgbClr val="FFFFFF"/>
                </a:highlight>
                <a:latin typeface="Consolas" panose="020B0609020204030204" pitchFamily="49" charset="0"/>
              </a:rPr>
              <a:t>binarySearch</a:t>
            </a:r>
            <a:r>
              <a:rPr lang="en-US" b="0" dirty="0">
                <a:solidFill>
                  <a:srgbClr val="000000"/>
                </a:solidFill>
                <a:effectLst/>
                <a:highlight>
                  <a:srgbClr val="FFFFFF"/>
                </a:highlight>
                <a:latin typeface="Consolas" panose="020B0609020204030204" pitchFamily="49" charset="0"/>
              </a:rPr>
              <a:t>(</a:t>
            </a:r>
            <a:r>
              <a:rPr lang="en-US" b="0" dirty="0" err="1">
                <a:solidFill>
                  <a:srgbClr val="000000"/>
                </a:solidFill>
                <a:effectLst/>
                <a:highlight>
                  <a:srgbClr val="FFFFFF"/>
                </a:highlight>
                <a:latin typeface="Consolas" panose="020B0609020204030204" pitchFamily="49" charset="0"/>
              </a:rPr>
              <a:t>lst</a:t>
            </a:r>
            <a:r>
              <a:rPr lang="en-US" b="0" dirty="0">
                <a:solidFill>
                  <a:srgbClr val="000000"/>
                </a:solidFill>
                <a:effectLst/>
                <a:highlight>
                  <a:srgbClr val="FFFFFF"/>
                </a:highlight>
                <a:latin typeface="Consolas" panose="020B0609020204030204" pitchFamily="49" charset="0"/>
              </a:rPr>
              <a:t>, k, mid+</a:t>
            </a:r>
            <a:r>
              <a:rPr lang="en-US" b="0" dirty="0">
                <a:solidFill>
                  <a:srgbClr val="098658"/>
                </a:solidFill>
                <a:effectLst/>
                <a:highlight>
                  <a:srgbClr val="FFFFFF"/>
                </a:highlight>
                <a:latin typeface="Consolas" panose="020B0609020204030204" pitchFamily="49" charset="0"/>
              </a:rPr>
              <a:t>1</a:t>
            </a:r>
            <a:r>
              <a:rPr lang="en-US" b="0" dirty="0">
                <a:solidFill>
                  <a:srgbClr val="000000"/>
                </a:solidFill>
                <a:effectLst/>
                <a:highlight>
                  <a:srgbClr val="FFFFFF"/>
                </a:highlight>
                <a:latin typeface="Consolas" panose="020B0609020204030204" pitchFamily="49" charset="0"/>
              </a:rPr>
              <a:t>, end);</a:t>
            </a:r>
          </a:p>
          <a:p>
            <a:pPr marL="0" indent="0">
              <a:buNone/>
            </a:pPr>
            <a:r>
              <a:rPr lang="en-US" b="0" dirty="0">
                <a:solidFill>
                  <a:srgbClr val="000000"/>
                </a:solidFill>
                <a:effectLst/>
                <a:highlight>
                  <a:srgbClr val="FFFFFF"/>
                </a:highlight>
                <a:latin typeface="Consolas" panose="020B0609020204030204" pitchFamily="49" charset="0"/>
              </a:rPr>
              <a:t>    }</a:t>
            </a:r>
          </a:p>
          <a:p>
            <a:pPr marL="0" indent="0">
              <a:buNone/>
            </a:pPr>
            <a:r>
              <a:rPr lang="en-US" b="0" dirty="0">
                <a:solidFill>
                  <a:srgbClr val="000000"/>
                </a:solidFill>
                <a:effectLst/>
                <a:highlight>
                  <a:srgbClr val="FFFFFF"/>
                </a:highlight>
                <a:latin typeface="Consolas" panose="020B0609020204030204" pitchFamily="49" charset="0"/>
              </a:rPr>
              <a:t>}</a:t>
            </a:r>
          </a:p>
        </p:txBody>
      </p:sp>
      <p:grpSp>
        <p:nvGrpSpPr>
          <p:cNvPr id="26" name="Group 25" descr="An example array that is sorted in ascending order. &#10;&#10;The values are as follows: 5, 8, 13, 42, 75, 79, 88, 90, 95, 99">
            <a:extLst>
              <a:ext uri="{FF2B5EF4-FFF2-40B4-BE49-F238E27FC236}">
                <a16:creationId xmlns:a16="http://schemas.microsoft.com/office/drawing/2014/main" id="{3BC88654-239A-44AE-D715-B2925B4A1F94}"/>
              </a:ext>
            </a:extLst>
          </p:cNvPr>
          <p:cNvGrpSpPr/>
          <p:nvPr/>
        </p:nvGrpSpPr>
        <p:grpSpPr>
          <a:xfrm>
            <a:off x="6908800" y="1040108"/>
            <a:ext cx="5283200" cy="907778"/>
            <a:chOff x="6908800" y="1040108"/>
            <a:chExt cx="5283200" cy="907778"/>
          </a:xfrm>
        </p:grpSpPr>
        <p:grpSp>
          <p:nvGrpSpPr>
            <p:cNvPr id="4" name="Group 3">
              <a:extLst>
                <a:ext uri="{FF2B5EF4-FFF2-40B4-BE49-F238E27FC236}">
                  <a16:creationId xmlns:a16="http://schemas.microsoft.com/office/drawing/2014/main" id="{A6176971-CE8E-F718-7F77-E9162D17D650}"/>
                </a:ext>
              </a:extLst>
            </p:cNvPr>
            <p:cNvGrpSpPr/>
            <p:nvPr/>
          </p:nvGrpSpPr>
          <p:grpSpPr>
            <a:xfrm>
              <a:off x="6908800" y="1419566"/>
              <a:ext cx="5283200" cy="528320"/>
              <a:chOff x="1681480" y="5462905"/>
              <a:chExt cx="5283200" cy="528320"/>
            </a:xfrm>
            <a:solidFill>
              <a:schemeClr val="bg1"/>
            </a:solidFill>
          </p:grpSpPr>
          <p:sp>
            <p:nvSpPr>
              <p:cNvPr id="5" name="Rectangle 4">
                <a:extLst>
                  <a:ext uri="{FF2B5EF4-FFF2-40B4-BE49-F238E27FC236}">
                    <a16:creationId xmlns:a16="http://schemas.microsoft.com/office/drawing/2014/main" id="{044C80AB-88F8-15C5-0103-53AE186760CB}"/>
                  </a:ext>
                </a:extLst>
              </p:cNvPr>
              <p:cNvSpPr/>
              <p:nvPr/>
            </p:nvSpPr>
            <p:spPr>
              <a:xfrm>
                <a:off x="379476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4</a:t>
                </a:r>
              </a:p>
            </p:txBody>
          </p:sp>
          <p:sp>
            <p:nvSpPr>
              <p:cNvPr id="6" name="Rectangle 5">
                <a:extLst>
                  <a:ext uri="{FF2B5EF4-FFF2-40B4-BE49-F238E27FC236}">
                    <a16:creationId xmlns:a16="http://schemas.microsoft.com/office/drawing/2014/main" id="{A324360B-2F37-69A1-7E37-A806252CB4F7}"/>
                  </a:ext>
                </a:extLst>
              </p:cNvPr>
              <p:cNvSpPr/>
              <p:nvPr/>
            </p:nvSpPr>
            <p:spPr>
              <a:xfrm>
                <a:off x="432308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5</a:t>
                </a:r>
              </a:p>
            </p:txBody>
          </p:sp>
          <p:sp>
            <p:nvSpPr>
              <p:cNvPr id="7" name="Rectangle 6">
                <a:extLst>
                  <a:ext uri="{FF2B5EF4-FFF2-40B4-BE49-F238E27FC236}">
                    <a16:creationId xmlns:a16="http://schemas.microsoft.com/office/drawing/2014/main" id="{B0E67EE8-8B93-1B19-5019-F36B0BD7BF61}"/>
                  </a:ext>
                </a:extLst>
              </p:cNvPr>
              <p:cNvSpPr/>
              <p:nvPr/>
            </p:nvSpPr>
            <p:spPr>
              <a:xfrm>
                <a:off x="485140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6</a:t>
                </a:r>
              </a:p>
            </p:txBody>
          </p:sp>
          <p:sp>
            <p:nvSpPr>
              <p:cNvPr id="8" name="Rectangle 7">
                <a:extLst>
                  <a:ext uri="{FF2B5EF4-FFF2-40B4-BE49-F238E27FC236}">
                    <a16:creationId xmlns:a16="http://schemas.microsoft.com/office/drawing/2014/main" id="{1793D5AC-F3F1-9BA4-E366-21CB89ECB4FE}"/>
                  </a:ext>
                </a:extLst>
              </p:cNvPr>
              <p:cNvSpPr/>
              <p:nvPr/>
            </p:nvSpPr>
            <p:spPr>
              <a:xfrm>
                <a:off x="537972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9" name="Rectangle 8">
                <a:extLst>
                  <a:ext uri="{FF2B5EF4-FFF2-40B4-BE49-F238E27FC236}">
                    <a16:creationId xmlns:a16="http://schemas.microsoft.com/office/drawing/2014/main" id="{8B126A6B-FFB4-A2F6-C119-A222B732EF3F}"/>
                  </a:ext>
                </a:extLst>
              </p:cNvPr>
              <p:cNvSpPr/>
              <p:nvPr/>
            </p:nvSpPr>
            <p:spPr>
              <a:xfrm>
                <a:off x="326644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10" name="Rectangle 9">
                <a:extLst>
                  <a:ext uri="{FF2B5EF4-FFF2-40B4-BE49-F238E27FC236}">
                    <a16:creationId xmlns:a16="http://schemas.microsoft.com/office/drawing/2014/main" id="{26CBE4FA-461E-32AF-1F21-B77F03699717}"/>
                  </a:ext>
                </a:extLst>
              </p:cNvPr>
              <p:cNvSpPr/>
              <p:nvPr/>
            </p:nvSpPr>
            <p:spPr>
              <a:xfrm>
                <a:off x="273812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2</a:t>
                </a:r>
              </a:p>
            </p:txBody>
          </p:sp>
          <p:sp>
            <p:nvSpPr>
              <p:cNvPr id="11" name="Rectangle 10">
                <a:extLst>
                  <a:ext uri="{FF2B5EF4-FFF2-40B4-BE49-F238E27FC236}">
                    <a16:creationId xmlns:a16="http://schemas.microsoft.com/office/drawing/2014/main" id="{7B537B33-5DD0-844B-4DE2-FACCCA75DC39}"/>
                  </a:ext>
                </a:extLst>
              </p:cNvPr>
              <p:cNvSpPr/>
              <p:nvPr/>
            </p:nvSpPr>
            <p:spPr>
              <a:xfrm>
                <a:off x="220980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12" name="Rectangle 11">
                <a:extLst>
                  <a:ext uri="{FF2B5EF4-FFF2-40B4-BE49-F238E27FC236}">
                    <a16:creationId xmlns:a16="http://schemas.microsoft.com/office/drawing/2014/main" id="{380871E1-A9B9-68FB-9BE8-F1C631E2D52A}"/>
                  </a:ext>
                </a:extLst>
              </p:cNvPr>
              <p:cNvSpPr/>
              <p:nvPr/>
            </p:nvSpPr>
            <p:spPr>
              <a:xfrm>
                <a:off x="590804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8</a:t>
                </a:r>
              </a:p>
            </p:txBody>
          </p:sp>
          <p:sp>
            <p:nvSpPr>
              <p:cNvPr id="13" name="Rectangle 12">
                <a:extLst>
                  <a:ext uri="{FF2B5EF4-FFF2-40B4-BE49-F238E27FC236}">
                    <a16:creationId xmlns:a16="http://schemas.microsoft.com/office/drawing/2014/main" id="{58C3F77D-A3EF-58B8-E3C7-32E1697528F8}"/>
                  </a:ext>
                </a:extLst>
              </p:cNvPr>
              <p:cNvSpPr/>
              <p:nvPr/>
            </p:nvSpPr>
            <p:spPr>
              <a:xfrm>
                <a:off x="168148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sp>
            <p:nvSpPr>
              <p:cNvPr id="14" name="Rectangle 13">
                <a:extLst>
                  <a:ext uri="{FF2B5EF4-FFF2-40B4-BE49-F238E27FC236}">
                    <a16:creationId xmlns:a16="http://schemas.microsoft.com/office/drawing/2014/main" id="{049D9353-0FA0-020E-1D1E-349C1C971276}"/>
                  </a:ext>
                </a:extLst>
              </p:cNvPr>
              <p:cNvSpPr/>
              <p:nvPr/>
            </p:nvSpPr>
            <p:spPr>
              <a:xfrm>
                <a:off x="643636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9</a:t>
                </a:r>
              </a:p>
            </p:txBody>
          </p:sp>
        </p:grpSp>
        <p:grpSp>
          <p:nvGrpSpPr>
            <p:cNvPr id="15" name="Group 14">
              <a:extLst>
                <a:ext uri="{FF2B5EF4-FFF2-40B4-BE49-F238E27FC236}">
                  <a16:creationId xmlns:a16="http://schemas.microsoft.com/office/drawing/2014/main" id="{200AD036-AEEA-337E-F743-27B6259BCAC9}"/>
                </a:ext>
              </a:extLst>
            </p:cNvPr>
            <p:cNvGrpSpPr/>
            <p:nvPr/>
          </p:nvGrpSpPr>
          <p:grpSpPr>
            <a:xfrm>
              <a:off x="6908800" y="1040108"/>
              <a:ext cx="5283200" cy="528320"/>
              <a:chOff x="1681480" y="5462905"/>
              <a:chExt cx="5283200" cy="528320"/>
            </a:xfrm>
          </p:grpSpPr>
          <p:sp>
            <p:nvSpPr>
              <p:cNvPr id="16" name="Rectangle 15">
                <a:extLst>
                  <a:ext uri="{FF2B5EF4-FFF2-40B4-BE49-F238E27FC236}">
                    <a16:creationId xmlns:a16="http://schemas.microsoft.com/office/drawing/2014/main" id="{E9956A8D-5179-312E-01CA-A027B4BE4CD7}"/>
                  </a:ext>
                </a:extLst>
              </p:cNvPr>
              <p:cNvSpPr/>
              <p:nvPr/>
            </p:nvSpPr>
            <p:spPr>
              <a:xfrm>
                <a:off x="37947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75</a:t>
                </a:r>
              </a:p>
            </p:txBody>
          </p:sp>
          <p:sp>
            <p:nvSpPr>
              <p:cNvPr id="17" name="Rectangle 16">
                <a:extLst>
                  <a:ext uri="{FF2B5EF4-FFF2-40B4-BE49-F238E27FC236}">
                    <a16:creationId xmlns:a16="http://schemas.microsoft.com/office/drawing/2014/main" id="{C53B6828-1075-6CA6-379F-1141B90E248F}"/>
                  </a:ext>
                </a:extLst>
              </p:cNvPr>
              <p:cNvSpPr/>
              <p:nvPr/>
            </p:nvSpPr>
            <p:spPr>
              <a:xfrm>
                <a:off x="43230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79</a:t>
                </a:r>
              </a:p>
            </p:txBody>
          </p:sp>
          <p:sp>
            <p:nvSpPr>
              <p:cNvPr id="18" name="Rectangle 17">
                <a:extLst>
                  <a:ext uri="{FF2B5EF4-FFF2-40B4-BE49-F238E27FC236}">
                    <a16:creationId xmlns:a16="http://schemas.microsoft.com/office/drawing/2014/main" id="{F6AADC8C-26C7-2EC0-CFD5-AB850DA464FF}"/>
                  </a:ext>
                </a:extLst>
              </p:cNvPr>
              <p:cNvSpPr/>
              <p:nvPr/>
            </p:nvSpPr>
            <p:spPr>
              <a:xfrm>
                <a:off x="48514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88</a:t>
                </a:r>
              </a:p>
            </p:txBody>
          </p:sp>
          <p:sp>
            <p:nvSpPr>
              <p:cNvPr id="19" name="Rectangle 18">
                <a:extLst>
                  <a:ext uri="{FF2B5EF4-FFF2-40B4-BE49-F238E27FC236}">
                    <a16:creationId xmlns:a16="http://schemas.microsoft.com/office/drawing/2014/main" id="{30D9D694-6129-D6F5-5737-C28073A0DA20}"/>
                  </a:ext>
                </a:extLst>
              </p:cNvPr>
              <p:cNvSpPr/>
              <p:nvPr/>
            </p:nvSpPr>
            <p:spPr>
              <a:xfrm>
                <a:off x="53797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90</a:t>
                </a:r>
              </a:p>
            </p:txBody>
          </p:sp>
          <p:sp>
            <p:nvSpPr>
              <p:cNvPr id="20" name="Rectangle 19">
                <a:extLst>
                  <a:ext uri="{FF2B5EF4-FFF2-40B4-BE49-F238E27FC236}">
                    <a16:creationId xmlns:a16="http://schemas.microsoft.com/office/drawing/2014/main" id="{B4B85989-2371-70E5-8119-C39A6E903CDC}"/>
                  </a:ext>
                </a:extLst>
              </p:cNvPr>
              <p:cNvSpPr/>
              <p:nvPr/>
            </p:nvSpPr>
            <p:spPr>
              <a:xfrm>
                <a:off x="32664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42</a:t>
                </a:r>
              </a:p>
            </p:txBody>
          </p:sp>
          <p:sp>
            <p:nvSpPr>
              <p:cNvPr id="21" name="Rectangle 20">
                <a:extLst>
                  <a:ext uri="{FF2B5EF4-FFF2-40B4-BE49-F238E27FC236}">
                    <a16:creationId xmlns:a16="http://schemas.microsoft.com/office/drawing/2014/main" id="{5F51CD2F-E989-9A35-F1FE-B6802A86B6F7}"/>
                  </a:ext>
                </a:extLst>
              </p:cNvPr>
              <p:cNvSpPr/>
              <p:nvPr/>
            </p:nvSpPr>
            <p:spPr>
              <a:xfrm>
                <a:off x="27381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13</a:t>
                </a:r>
              </a:p>
            </p:txBody>
          </p:sp>
          <p:sp>
            <p:nvSpPr>
              <p:cNvPr id="22" name="Rectangle 21">
                <a:extLst>
                  <a:ext uri="{FF2B5EF4-FFF2-40B4-BE49-F238E27FC236}">
                    <a16:creationId xmlns:a16="http://schemas.microsoft.com/office/drawing/2014/main" id="{FCA394E8-3E48-87C4-4E66-B4248B28F3B8}"/>
                  </a:ext>
                </a:extLst>
              </p:cNvPr>
              <p:cNvSpPr/>
              <p:nvPr/>
            </p:nvSpPr>
            <p:spPr>
              <a:xfrm>
                <a:off x="22098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8</a:t>
                </a:r>
              </a:p>
            </p:txBody>
          </p:sp>
          <p:sp>
            <p:nvSpPr>
              <p:cNvPr id="23" name="Rectangle 22">
                <a:extLst>
                  <a:ext uri="{FF2B5EF4-FFF2-40B4-BE49-F238E27FC236}">
                    <a16:creationId xmlns:a16="http://schemas.microsoft.com/office/drawing/2014/main" id="{A22F7EE1-E438-088D-0E5E-4BFDEA41E50F}"/>
                  </a:ext>
                </a:extLst>
              </p:cNvPr>
              <p:cNvSpPr/>
              <p:nvPr/>
            </p:nvSpPr>
            <p:spPr>
              <a:xfrm>
                <a:off x="59080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95</a:t>
                </a:r>
              </a:p>
            </p:txBody>
          </p:sp>
          <p:sp>
            <p:nvSpPr>
              <p:cNvPr id="24" name="Rectangle 23">
                <a:extLst>
                  <a:ext uri="{FF2B5EF4-FFF2-40B4-BE49-F238E27FC236}">
                    <a16:creationId xmlns:a16="http://schemas.microsoft.com/office/drawing/2014/main" id="{C3332684-95DA-F21A-B08B-027F50B532A6}"/>
                  </a:ext>
                </a:extLst>
              </p:cNvPr>
              <p:cNvSpPr/>
              <p:nvPr/>
            </p:nvSpPr>
            <p:spPr>
              <a:xfrm>
                <a:off x="16814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5</a:t>
                </a:r>
              </a:p>
            </p:txBody>
          </p:sp>
          <p:sp>
            <p:nvSpPr>
              <p:cNvPr id="25" name="Rectangle 24">
                <a:extLst>
                  <a:ext uri="{FF2B5EF4-FFF2-40B4-BE49-F238E27FC236}">
                    <a16:creationId xmlns:a16="http://schemas.microsoft.com/office/drawing/2014/main" id="{4FDC9D9D-586A-5D6A-EAEB-05E79320B7F2}"/>
                  </a:ext>
                </a:extLst>
              </p:cNvPr>
              <p:cNvSpPr/>
              <p:nvPr/>
            </p:nvSpPr>
            <p:spPr>
              <a:xfrm>
                <a:off x="64363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99</a:t>
                </a:r>
              </a:p>
            </p:txBody>
          </p:sp>
        </p:grpSp>
      </p:grpSp>
      <mc:AlternateContent xmlns:mc="http://schemas.openxmlformats.org/markup-compatibility/2006">
        <mc:Choice xmlns:p14="http://schemas.microsoft.com/office/powerpoint/2010/main" Requires="p14">
          <p:contentPart p14:bwMode="auto" r:id="rId2">
            <p14:nvContentPartPr>
              <p14:cNvPr id="27" name="Ink 26">
                <a:extLst>
                  <a:ext uri="{FF2B5EF4-FFF2-40B4-BE49-F238E27FC236}">
                    <a16:creationId xmlns:a16="http://schemas.microsoft.com/office/drawing/2014/main" id="{A98F6A9D-CA9C-1BCA-C4C6-BF1D36020F8A}"/>
                  </a:ext>
                </a:extLst>
              </p14:cNvPr>
              <p14:cNvContentPartPr/>
              <p14:nvPr/>
            </p14:nvContentPartPr>
            <p14:xfrm>
              <a:off x="1573200" y="2556360"/>
              <a:ext cx="10597680" cy="3894840"/>
            </p14:xfrm>
          </p:contentPart>
        </mc:Choice>
        <mc:Fallback>
          <p:pic>
            <p:nvPicPr>
              <p:cNvPr id="27" name="Ink 26">
                <a:extLst>
                  <a:ext uri="{FF2B5EF4-FFF2-40B4-BE49-F238E27FC236}">
                    <a16:creationId xmlns:a16="http://schemas.microsoft.com/office/drawing/2014/main" id="{A98F6A9D-CA9C-1BCA-C4C6-BF1D36020F8A}"/>
                  </a:ext>
                </a:extLst>
              </p:cNvPr>
              <p:cNvPicPr/>
              <p:nvPr/>
            </p:nvPicPr>
            <p:blipFill>
              <a:blip r:embed="rId3"/>
              <a:stretch>
                <a:fillRect/>
              </a:stretch>
            </p:blipFill>
            <p:spPr>
              <a:xfrm>
                <a:off x="1563840" y="2547000"/>
                <a:ext cx="10616400" cy="3913560"/>
              </a:xfrm>
              <a:prstGeom prst="rect">
                <a:avLst/>
              </a:prstGeom>
            </p:spPr>
          </p:pic>
        </mc:Fallback>
      </mc:AlternateContent>
    </p:spTree>
    <p:extLst>
      <p:ext uri="{BB962C8B-B14F-4D97-AF65-F5344CB8AC3E}">
        <p14:creationId xmlns:p14="http://schemas.microsoft.com/office/powerpoint/2010/main" val="25399856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C13A8-F389-D526-27E0-2C577B791967}"/>
              </a:ext>
            </a:extLst>
          </p:cNvPr>
          <p:cNvSpPr>
            <a:spLocks noGrp="1"/>
          </p:cNvSpPr>
          <p:nvPr>
            <p:ph type="title"/>
          </p:nvPr>
        </p:nvSpPr>
        <p:spPr/>
        <p:txBody>
          <a:bodyPr/>
          <a:lstStyle/>
          <a:p>
            <a:r>
              <a:rPr lang="en-US" dirty="0"/>
              <a:t>Analysis of Recursive Algorithms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B11F9DB-B627-51B1-AE8B-61E829E3EEB6}"/>
                  </a:ext>
                </a:extLst>
              </p:cNvPr>
              <p:cNvSpPr>
                <a:spLocks noGrp="1"/>
              </p:cNvSpPr>
              <p:nvPr>
                <p:ph idx="1"/>
              </p:nvPr>
            </p:nvSpPr>
            <p:spPr>
              <a:xfrm>
                <a:off x="411480" y="1551304"/>
                <a:ext cx="10515600" cy="5103495"/>
              </a:xfrm>
            </p:spPr>
            <p:txBody>
              <a:bodyPr>
                <a:normAutofit fontScale="92500" lnSpcReduction="10000"/>
              </a:bodyPr>
              <a:lstStyle/>
              <a:p>
                <a:r>
                  <a:rPr lang="en-US" dirty="0"/>
                  <a:t>Overall structure of recursion:</a:t>
                </a:r>
              </a:p>
              <a:p>
                <a:pPr lvl="1"/>
                <a:r>
                  <a:rPr lang="en-US" dirty="0">
                    <a:solidFill>
                      <a:srgbClr val="FF0000"/>
                    </a:solidFill>
                  </a:rPr>
                  <a:t>Do some non-recursive “work”</a:t>
                </a:r>
              </a:p>
              <a:p>
                <a:pPr lvl="1"/>
                <a:r>
                  <a:rPr lang="en-US" dirty="0">
                    <a:solidFill>
                      <a:srgbClr val="0070C0"/>
                    </a:solidFill>
                  </a:rPr>
                  <a:t>Do one or more recursive calls on some portion of your input</a:t>
                </a:r>
              </a:p>
              <a:p>
                <a:pPr lvl="1"/>
                <a:r>
                  <a:rPr lang="en-US" dirty="0">
                    <a:solidFill>
                      <a:srgbClr val="FF0000"/>
                    </a:solidFill>
                  </a:rPr>
                  <a:t>Do some more non-recursive “work”</a:t>
                </a:r>
              </a:p>
              <a:p>
                <a:pPr lvl="1"/>
                <a:r>
                  <a:rPr lang="en-US" dirty="0"/>
                  <a:t>Repeat until you reach a base case</a:t>
                </a:r>
              </a:p>
              <a:p>
                <a:r>
                  <a:rPr lang="en-US" dirty="0"/>
                  <a:t>Running time: </a:t>
                </a:r>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solidFill>
                          <a:srgbClr val="0070C0"/>
                        </a:solidFill>
                        <a:latin typeface="Cambria Math" panose="02040503050406030204" pitchFamily="18" charset="0"/>
                      </a:rPr>
                      <m:t>𝑇</m:t>
                    </m:r>
                    <m:d>
                      <m:dPr>
                        <m:ctrlPr>
                          <a:rPr lang="en-US" b="0" i="1" smtClean="0">
                            <a:solidFill>
                              <a:srgbClr val="0070C0"/>
                            </a:solidFill>
                            <a:latin typeface="Cambria Math" panose="02040503050406030204" pitchFamily="18" charset="0"/>
                          </a:rPr>
                        </m:ctrlPr>
                      </m:dPr>
                      <m:e>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𝑝</m:t>
                            </m:r>
                          </m:e>
                          <m:sub>
                            <m:r>
                              <a:rPr lang="en-US" b="0" i="1" smtClean="0">
                                <a:solidFill>
                                  <a:srgbClr val="0070C0"/>
                                </a:solidFill>
                                <a:latin typeface="Cambria Math" panose="02040503050406030204" pitchFamily="18" charset="0"/>
                              </a:rPr>
                              <m:t>1</m:t>
                            </m:r>
                          </m:sub>
                        </m:sSub>
                      </m:e>
                    </m:d>
                    <m:r>
                      <a:rPr lang="en-US" b="0" i="1" smtClean="0">
                        <a:solidFill>
                          <a:srgbClr val="0070C0"/>
                        </a:solidFill>
                        <a:latin typeface="Cambria Math" panose="02040503050406030204" pitchFamily="18" charset="0"/>
                      </a:rPr>
                      <m:t>+</m:t>
                    </m:r>
                    <m:r>
                      <a:rPr lang="en-US" b="0" i="1" smtClean="0">
                        <a:solidFill>
                          <a:srgbClr val="0070C0"/>
                        </a:solidFill>
                        <a:latin typeface="Cambria Math" panose="02040503050406030204" pitchFamily="18" charset="0"/>
                      </a:rPr>
                      <m:t>𝑇</m:t>
                    </m:r>
                    <m:d>
                      <m:dPr>
                        <m:ctrlPr>
                          <a:rPr lang="en-US" b="0" i="1" smtClean="0">
                            <a:solidFill>
                              <a:srgbClr val="0070C0"/>
                            </a:solidFill>
                            <a:latin typeface="Cambria Math" panose="02040503050406030204" pitchFamily="18" charset="0"/>
                          </a:rPr>
                        </m:ctrlPr>
                      </m:dPr>
                      <m:e>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𝑝</m:t>
                            </m:r>
                          </m:e>
                          <m:sub>
                            <m:r>
                              <a:rPr lang="en-US" b="0" i="1" smtClean="0">
                                <a:solidFill>
                                  <a:srgbClr val="0070C0"/>
                                </a:solidFill>
                                <a:latin typeface="Cambria Math" panose="02040503050406030204" pitchFamily="18" charset="0"/>
                              </a:rPr>
                              <m:t>2</m:t>
                            </m:r>
                          </m:sub>
                        </m:sSub>
                      </m:e>
                    </m:d>
                    <m:r>
                      <a:rPr lang="en-US" b="0" i="1" smtClean="0">
                        <a:solidFill>
                          <a:srgbClr val="0070C0"/>
                        </a:solidFill>
                        <a:latin typeface="Cambria Math" panose="02040503050406030204" pitchFamily="18" charset="0"/>
                      </a:rPr>
                      <m:t>+…+</m:t>
                    </m:r>
                    <m:r>
                      <a:rPr lang="en-US" b="0" i="1" smtClean="0">
                        <a:solidFill>
                          <a:srgbClr val="0070C0"/>
                        </a:solidFill>
                        <a:latin typeface="Cambria Math" panose="02040503050406030204" pitchFamily="18" charset="0"/>
                      </a:rPr>
                      <m:t>𝑇</m:t>
                    </m:r>
                    <m:d>
                      <m:dPr>
                        <m:ctrlPr>
                          <a:rPr lang="en-US" b="0" i="1" smtClean="0">
                            <a:solidFill>
                              <a:srgbClr val="0070C0"/>
                            </a:solidFill>
                            <a:latin typeface="Cambria Math" panose="02040503050406030204" pitchFamily="18" charset="0"/>
                          </a:rPr>
                        </m:ctrlPr>
                      </m:dPr>
                      <m:e>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𝑝</m:t>
                            </m:r>
                          </m:e>
                          <m:sub>
                            <m:r>
                              <a:rPr lang="en-US" b="0" i="1" smtClean="0">
                                <a:solidFill>
                                  <a:srgbClr val="0070C0"/>
                                </a:solidFill>
                                <a:latin typeface="Cambria Math" panose="02040503050406030204" pitchFamily="18" charset="0"/>
                              </a:rPr>
                              <m:t>𝑥</m:t>
                            </m:r>
                          </m:sub>
                        </m:sSub>
                      </m:e>
                    </m:d>
                    <m:r>
                      <a:rPr lang="en-US" b="0" i="1" smtClean="0">
                        <a:latin typeface="Cambria Math" panose="02040503050406030204" pitchFamily="18" charset="0"/>
                      </a:rPr>
                      <m:t>+</m:t>
                    </m:r>
                    <m:r>
                      <a:rPr lang="en-US" b="0" i="1" smtClean="0">
                        <a:solidFill>
                          <a:srgbClr val="FF0000"/>
                        </a:solidFill>
                        <a:latin typeface="Cambria Math" panose="02040503050406030204" pitchFamily="18" charset="0"/>
                      </a:rPr>
                      <m:t>𝑓</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𝑛</m:t>
                    </m:r>
                    <m:r>
                      <a:rPr lang="en-US" b="0" i="1" smtClean="0">
                        <a:solidFill>
                          <a:srgbClr val="FF0000"/>
                        </a:solidFill>
                        <a:latin typeface="Cambria Math" panose="02040503050406030204" pitchFamily="18" charset="0"/>
                      </a:rPr>
                      <m:t>)</m:t>
                    </m:r>
                  </m:oMath>
                </a14:m>
                <a:endParaRPr lang="en-US" dirty="0"/>
              </a:p>
              <a:p>
                <a:pPr lvl="1"/>
                <a:r>
                  <a:rPr lang="en-US" dirty="0"/>
                  <a:t>The time it takes to run the algorithm on an input of size </a:t>
                </a:r>
                <a14:m>
                  <m:oMath xmlns:m="http://schemas.openxmlformats.org/officeDocument/2006/math">
                    <m:r>
                      <a:rPr lang="en-US" b="0" i="1" smtClean="0">
                        <a:latin typeface="Cambria Math" panose="02040503050406030204" pitchFamily="18" charset="0"/>
                      </a:rPr>
                      <m:t>𝑛</m:t>
                    </m:r>
                  </m:oMath>
                </a14:m>
                <a:r>
                  <a:rPr lang="en-US" dirty="0"/>
                  <a:t> is:</a:t>
                </a:r>
              </a:p>
              <a:p>
                <a:pPr lvl="1"/>
                <a:r>
                  <a:rPr lang="en-US" dirty="0">
                    <a:solidFill>
                      <a:srgbClr val="0070C0"/>
                    </a:solidFill>
                  </a:rPr>
                  <a:t>The sum of how long it takes to run the same algorithm on each smaller input</a:t>
                </a:r>
              </a:p>
              <a:p>
                <a:pPr lvl="1"/>
                <a:r>
                  <a:rPr lang="en-US" dirty="0">
                    <a:solidFill>
                      <a:srgbClr val="FF0000"/>
                    </a:solidFill>
                  </a:rPr>
                  <a:t>Plus the total amount of non-recursive work done in that stack frame</a:t>
                </a:r>
              </a:p>
              <a:p>
                <a:r>
                  <a:rPr lang="en-US" dirty="0"/>
                  <a:t>Usually: </a:t>
                </a:r>
              </a:p>
              <a:p>
                <a:pPr lvl="1"/>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𝑏</m:t>
                            </m:r>
                          </m:den>
                        </m:f>
                      </m:e>
                    </m:d>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r>
                  <a:rPr lang="en-US" dirty="0"/>
                  <a:t> </a:t>
                </a:r>
              </a:p>
              <a:p>
                <a:pPr lvl="2"/>
                <a:r>
                  <a:rPr lang="en-US" dirty="0"/>
                  <a:t>Called “divide and conquer” </a:t>
                </a:r>
              </a:p>
              <a:p>
                <a:pPr lvl="1"/>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𝑐</m:t>
                        </m:r>
                      </m:e>
                    </m:d>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dirty="0"/>
              </a:p>
              <a:p>
                <a:pPr lvl="2"/>
                <a:r>
                  <a:rPr lang="en-US" dirty="0"/>
                  <a:t>Called “chip and conquer”</a:t>
                </a:r>
              </a:p>
            </p:txBody>
          </p:sp>
        </mc:Choice>
        <mc:Fallback xmlns="">
          <p:sp>
            <p:nvSpPr>
              <p:cNvPr id="3" name="Content Placeholder 2">
                <a:extLst>
                  <a:ext uri="{FF2B5EF4-FFF2-40B4-BE49-F238E27FC236}">
                    <a16:creationId xmlns:a16="http://schemas.microsoft.com/office/drawing/2014/main" id="{AB11F9DB-B627-51B1-AE8B-61E829E3EEB6}"/>
                  </a:ext>
                </a:extLst>
              </p:cNvPr>
              <p:cNvSpPr>
                <a:spLocks noGrp="1" noRot="1" noChangeAspect="1" noMove="1" noResize="1" noEditPoints="1" noAdjustHandles="1" noChangeArrowheads="1" noChangeShapeType="1" noTextEdit="1"/>
              </p:cNvSpPr>
              <p:nvPr>
                <p:ph idx="1"/>
              </p:nvPr>
            </p:nvSpPr>
            <p:spPr>
              <a:xfrm>
                <a:off x="411480" y="1551304"/>
                <a:ext cx="10515600" cy="5103495"/>
              </a:xfrm>
              <a:blipFill>
                <a:blip r:embed="rId2"/>
                <a:stretch>
                  <a:fillRect l="-928" t="-2387" b="-835"/>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0DEEEEC3-7E5A-2656-39D2-A5F8E7934ABA}"/>
                  </a:ext>
                </a:extLst>
              </p14:cNvPr>
              <p14:cNvContentPartPr/>
              <p14:nvPr/>
            </p14:nvContentPartPr>
            <p14:xfrm>
              <a:off x="728280" y="1717560"/>
              <a:ext cx="10456200" cy="4090680"/>
            </p14:xfrm>
          </p:contentPart>
        </mc:Choice>
        <mc:Fallback>
          <p:pic>
            <p:nvPicPr>
              <p:cNvPr id="4" name="Ink 3">
                <a:extLst>
                  <a:ext uri="{FF2B5EF4-FFF2-40B4-BE49-F238E27FC236}">
                    <a16:creationId xmlns:a16="http://schemas.microsoft.com/office/drawing/2014/main" id="{0DEEEEC3-7E5A-2656-39D2-A5F8E7934ABA}"/>
                  </a:ext>
                </a:extLst>
              </p:cNvPr>
              <p:cNvPicPr/>
              <p:nvPr/>
            </p:nvPicPr>
            <p:blipFill>
              <a:blip r:embed="rId4"/>
              <a:stretch>
                <a:fillRect/>
              </a:stretch>
            </p:blipFill>
            <p:spPr>
              <a:xfrm>
                <a:off x="718920" y="1708200"/>
                <a:ext cx="10474920" cy="4109400"/>
              </a:xfrm>
              <a:prstGeom prst="rect">
                <a:avLst/>
              </a:prstGeom>
            </p:spPr>
          </p:pic>
        </mc:Fallback>
      </mc:AlternateContent>
    </p:spTree>
    <p:extLst>
      <p:ext uri="{BB962C8B-B14F-4D97-AF65-F5344CB8AC3E}">
        <p14:creationId xmlns:p14="http://schemas.microsoft.com/office/powerpoint/2010/main" val="589594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Efficient Is It?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14:m>
                  <m:oMath xmlns:m="http://schemas.openxmlformats.org/officeDocument/2006/math">
                    <m:r>
                      <a:rPr lang="en-US" b="0" i="1" smtClean="0">
                        <a:latin typeface="Cambria Math"/>
                      </a:rPr>
                      <m:t>𝑇</m:t>
                    </m:r>
                    <m:d>
                      <m:dPr>
                        <m:ctrlPr>
                          <a:rPr lang="en-US" b="0" i="1" smtClean="0">
                            <a:latin typeface="Cambria Math" panose="02040503050406030204" pitchFamily="18" charset="0"/>
                          </a:rPr>
                        </m:ctrlPr>
                      </m:dPr>
                      <m:e>
                        <m:r>
                          <a:rPr lang="en-US" b="0" i="1" smtClean="0">
                            <a:latin typeface="Cambria Math"/>
                          </a:rPr>
                          <m:t>𝑛</m:t>
                        </m:r>
                      </m:e>
                    </m:d>
                    <m:r>
                      <a:rPr lang="en-US" b="0" i="1" smtClean="0">
                        <a:latin typeface="Cambria Math"/>
                      </a:rPr>
                      <m:t>=</m:t>
                    </m:r>
                    <m:r>
                      <a:rPr lang="en-US" b="0" i="1" smtClean="0">
                        <a:latin typeface="Cambria Math" panose="02040503050406030204" pitchFamily="18" charset="0"/>
                      </a:rPr>
                      <m:t>1</m:t>
                    </m:r>
                    <m:r>
                      <a:rPr lang="en-US" b="0" i="1" smtClean="0">
                        <a:solidFill>
                          <a:schemeClr val="tx1"/>
                        </a:solidFill>
                        <a:latin typeface="Cambria Math"/>
                      </a:rPr>
                      <m:t>+</m:t>
                    </m:r>
                    <m:r>
                      <a:rPr lang="en-US" b="0" i="1" smtClean="0">
                        <a:latin typeface="Cambria Math"/>
                      </a:rPr>
                      <m:t>𝑇</m:t>
                    </m:r>
                    <m:d>
                      <m:dPr>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a:rPr>
                                  <m:t>𝑛</m:t>
                                </m:r>
                              </m:num>
                              <m:den>
                                <m:r>
                                  <a:rPr lang="en-US" b="0" i="1" smtClean="0">
                                    <a:latin typeface="Cambria Math"/>
                                  </a:rPr>
                                  <m:t>2</m:t>
                                </m:r>
                              </m:den>
                            </m:f>
                          </m:e>
                        </m:d>
                      </m:e>
                    </m:d>
                  </m:oMath>
                </a14:m>
                <a:endParaRPr lang="en-US" dirty="0"/>
              </a:p>
              <a:p>
                <a:r>
                  <a:rPr lang="en-US" dirty="0"/>
                  <a:t>Base case: </a:t>
                </a:r>
                <a14:m>
                  <m:oMath xmlns:m="http://schemas.openxmlformats.org/officeDocument/2006/math">
                    <m:r>
                      <a:rPr lang="en-US" b="0" i="1" smtClean="0">
                        <a:latin typeface="Cambria Math"/>
                      </a:rPr>
                      <m:t>𝑇</m:t>
                    </m:r>
                    <m:d>
                      <m:dPr>
                        <m:ctrlPr>
                          <a:rPr lang="en-US" b="0" i="1" smtClean="0">
                            <a:latin typeface="Cambria Math" panose="02040503050406030204" pitchFamily="18" charset="0"/>
                          </a:rPr>
                        </m:ctrlPr>
                      </m:dPr>
                      <m:e>
                        <m:r>
                          <a:rPr lang="en-US" b="0" i="1" smtClean="0">
                            <a:latin typeface="Cambria Math"/>
                          </a:rPr>
                          <m:t>1</m:t>
                        </m:r>
                      </m:e>
                    </m:d>
                    <m:r>
                      <a:rPr lang="en-US" b="0" i="1" smtClean="0">
                        <a:latin typeface="Cambria Math"/>
                      </a:rPr>
                      <m:t>=</m:t>
                    </m:r>
                    <m:r>
                      <a:rPr lang="en-US" b="0" i="1" smtClean="0">
                        <a:latin typeface="Cambria Math" panose="02040503050406030204" pitchFamily="18" charset="0"/>
                      </a:rPr>
                      <m:t>1</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E3D6D2D-7DE9-6D3E-2EF7-3E9EB7C1156D}"/>
                  </a:ext>
                </a:extLst>
              </p:cNvPr>
              <p:cNvSpPr txBox="1"/>
              <p:nvPr/>
            </p:nvSpPr>
            <p:spPr>
              <a:xfrm>
                <a:off x="6808424" y="1676400"/>
                <a:ext cx="5002576" cy="830997"/>
              </a:xfrm>
              <a:prstGeom prst="rect">
                <a:avLst/>
              </a:prstGeom>
              <a:noFill/>
            </p:spPr>
            <p:txBody>
              <a:bodyPr wrap="square" rtlCol="0">
                <a:spAutoFit/>
              </a:bodyPr>
              <a:lstStyle/>
              <a:p>
                <a14:m>
                  <m:oMath xmlns:m="http://schemas.openxmlformats.org/officeDocument/2006/math">
                    <m:r>
                      <a:rPr lang="en-US" sz="2400" b="0" i="1" smtClean="0">
                        <a:solidFill>
                          <a:srgbClr val="FF0000"/>
                        </a:solidFill>
                        <a:latin typeface="Cambria Math" panose="02040503050406030204" pitchFamily="18" charset="0"/>
                      </a:rPr>
                      <m:t>𝑇</m:t>
                    </m:r>
                    <m:d>
                      <m:dPr>
                        <m:ctrlPr>
                          <a:rPr lang="en-US" sz="2400" b="0" i="1" smtClean="0">
                            <a:solidFill>
                              <a:srgbClr val="FF0000"/>
                            </a:solidFill>
                            <a:latin typeface="Cambria Math" panose="02040503050406030204" pitchFamily="18" charset="0"/>
                          </a:rPr>
                        </m:ctrlPr>
                      </m:dPr>
                      <m:e>
                        <m:r>
                          <a:rPr lang="en-US" sz="2400" b="0" i="1" smtClean="0">
                            <a:solidFill>
                              <a:srgbClr val="FF0000"/>
                            </a:solidFill>
                            <a:latin typeface="Cambria Math" panose="02040503050406030204" pitchFamily="18" charset="0"/>
                          </a:rPr>
                          <m:t>𝑛</m:t>
                        </m:r>
                      </m:e>
                    </m:d>
                    <m:r>
                      <a:rPr lang="en-US" sz="2400" b="0" i="1" smtClean="0">
                        <a:solidFill>
                          <a:srgbClr val="FF0000"/>
                        </a:solidFill>
                        <a:latin typeface="Cambria Math" panose="02040503050406030204" pitchFamily="18" charset="0"/>
                      </a:rPr>
                      <m:t>=</m:t>
                    </m:r>
                  </m:oMath>
                </a14:m>
                <a:r>
                  <a:rPr lang="en-US" sz="2400" dirty="0">
                    <a:solidFill>
                      <a:srgbClr val="FF0000"/>
                    </a:solidFill>
                  </a:rPr>
                  <a:t> “cost” of running the entire algorithm on an array of length </a:t>
                </a:r>
                <a14:m>
                  <m:oMath xmlns:m="http://schemas.openxmlformats.org/officeDocument/2006/math">
                    <m:r>
                      <a:rPr lang="en-US" sz="2400" b="0" i="1" smtClean="0">
                        <a:solidFill>
                          <a:srgbClr val="FF0000"/>
                        </a:solidFill>
                        <a:latin typeface="Cambria Math" panose="02040503050406030204" pitchFamily="18" charset="0"/>
                      </a:rPr>
                      <m:t>𝑛</m:t>
                    </m:r>
                  </m:oMath>
                </a14:m>
                <a:endParaRPr lang="en-US" sz="2400" dirty="0">
                  <a:solidFill>
                    <a:srgbClr val="FF0000"/>
                  </a:solidFill>
                </a:endParaRPr>
              </a:p>
            </p:txBody>
          </p:sp>
        </mc:Choice>
        <mc:Fallback xmlns="">
          <p:sp>
            <p:nvSpPr>
              <p:cNvPr id="4" name="TextBox 3">
                <a:extLst>
                  <a:ext uri="{FF2B5EF4-FFF2-40B4-BE49-F238E27FC236}">
                    <a16:creationId xmlns:a16="http://schemas.microsoft.com/office/drawing/2014/main" id="{4E3D6D2D-7DE9-6D3E-2EF7-3E9EB7C1156D}"/>
                  </a:ext>
                </a:extLst>
              </p:cNvPr>
              <p:cNvSpPr txBox="1">
                <a:spLocks noRot="1" noChangeAspect="1" noMove="1" noResize="1" noEditPoints="1" noAdjustHandles="1" noChangeArrowheads="1" noChangeShapeType="1" noTextEdit="1"/>
              </p:cNvSpPr>
              <p:nvPr/>
            </p:nvSpPr>
            <p:spPr>
              <a:xfrm>
                <a:off x="6808424" y="1676400"/>
                <a:ext cx="5002576" cy="830997"/>
              </a:xfrm>
              <a:prstGeom prst="rect">
                <a:avLst/>
              </a:prstGeom>
              <a:blipFill>
                <a:blip r:embed="rId3"/>
                <a:stretch>
                  <a:fillRect l="-1949" t="-5882" b="-16176"/>
                </a:stretch>
              </a:blipFill>
            </p:spPr>
            <p:txBody>
              <a:bodyPr/>
              <a:lstStyle/>
              <a:p>
                <a:r>
                  <a:rPr lang="en-US">
                    <a:noFill/>
                  </a:rPr>
                  <a:t> </a:t>
                </a:r>
              </a:p>
            </p:txBody>
          </p:sp>
        </mc:Fallback>
      </mc:AlternateContent>
      <p:sp>
        <p:nvSpPr>
          <p:cNvPr id="6" name="Slide Number Placeholder 5">
            <a:extLst>
              <a:ext uri="{FF2B5EF4-FFF2-40B4-BE49-F238E27FC236}">
                <a16:creationId xmlns:a16="http://schemas.microsoft.com/office/drawing/2014/main" id="{F1E9164B-D0D3-43CF-BBE2-17E6DAFC942A}"/>
              </a:ext>
            </a:extLst>
          </p:cNvPr>
          <p:cNvSpPr>
            <a:spLocks noGrp="1"/>
          </p:cNvSpPr>
          <p:nvPr>
            <p:ph type="sldNum" sz="quarter" idx="12"/>
          </p:nvPr>
        </p:nvSpPr>
        <p:spPr/>
        <p:txBody>
          <a:bodyPr/>
          <a:lstStyle/>
          <a:p>
            <a:fld id="{F4E8603E-186F-4CC7-B8E2-5FD613D3E28C}" type="slidenum">
              <a:rPr lang="en-US" smtClean="0"/>
              <a:t>4</a:t>
            </a:fld>
            <a:endParaRPr lang="en-US" dirty="0"/>
          </a:p>
        </p:txBody>
      </p:sp>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B5E6FD56-F976-8B49-E05D-5B56E81FE545}"/>
                  </a:ext>
                </a:extLst>
              </p14:cNvPr>
              <p14:cNvContentPartPr/>
              <p14:nvPr/>
            </p14:nvContentPartPr>
            <p14:xfrm>
              <a:off x="2169360" y="1837080"/>
              <a:ext cx="402840" cy="532800"/>
            </p14:xfrm>
          </p:contentPart>
        </mc:Choice>
        <mc:Fallback>
          <p:pic>
            <p:nvPicPr>
              <p:cNvPr id="5" name="Ink 4">
                <a:extLst>
                  <a:ext uri="{FF2B5EF4-FFF2-40B4-BE49-F238E27FC236}">
                    <a16:creationId xmlns:a16="http://schemas.microsoft.com/office/drawing/2014/main" id="{B5E6FD56-F976-8B49-E05D-5B56E81FE545}"/>
                  </a:ext>
                </a:extLst>
              </p:cNvPr>
              <p:cNvPicPr/>
              <p:nvPr/>
            </p:nvPicPr>
            <p:blipFill>
              <a:blip r:embed="rId5"/>
              <a:stretch>
                <a:fillRect/>
              </a:stretch>
            </p:blipFill>
            <p:spPr>
              <a:xfrm>
                <a:off x="2160000" y="1827720"/>
                <a:ext cx="421560" cy="551520"/>
              </a:xfrm>
              <a:prstGeom prst="rect">
                <a:avLst/>
              </a:prstGeom>
            </p:spPr>
          </p:pic>
        </mc:Fallback>
      </mc:AlternateContent>
    </p:spTree>
    <p:extLst>
      <p:ext uri="{BB962C8B-B14F-4D97-AF65-F5344CB8AC3E}">
        <p14:creationId xmlns:p14="http://schemas.microsoft.com/office/powerpoint/2010/main" val="1684396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Let’s Solve the Recurrence!</a:t>
            </a:r>
          </a:p>
        </p:txBody>
      </p:sp>
      <mc:AlternateContent xmlns:mc="http://schemas.openxmlformats.org/markup-compatibility/2006" xmlns:a14="http://schemas.microsoft.com/office/drawing/2010/main">
        <mc:Choice Requires="a14">
          <p:sp>
            <p:nvSpPr>
              <p:cNvPr id="4" name="TextBox 3"/>
              <p:cNvSpPr txBox="1"/>
              <p:nvPr/>
            </p:nvSpPr>
            <p:spPr>
              <a:xfrm>
                <a:off x="1752871" y="1788762"/>
                <a:ext cx="3162982" cy="58471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solidFill>
                            <a:srgbClr val="FF0000"/>
                          </a:solidFill>
                          <a:latin typeface="Cambria Math"/>
                        </a:rPr>
                        <m:t>𝑇</m:t>
                      </m:r>
                      <m:d>
                        <m:dPr>
                          <m:ctrlPr>
                            <a:rPr lang="en-US" sz="2800" i="1" dirty="0">
                              <a:solidFill>
                                <a:srgbClr val="FF0000"/>
                              </a:solidFill>
                              <a:latin typeface="Cambria Math" panose="02040503050406030204" pitchFamily="18" charset="0"/>
                            </a:rPr>
                          </m:ctrlPr>
                        </m:dPr>
                        <m:e>
                          <m:r>
                            <a:rPr lang="en-US" sz="2800" i="1" dirty="0">
                              <a:solidFill>
                                <a:srgbClr val="FF0000"/>
                              </a:solidFill>
                              <a:latin typeface="Cambria Math"/>
                            </a:rPr>
                            <m:t>𝑛</m:t>
                          </m:r>
                        </m:e>
                      </m:d>
                      <m:r>
                        <a:rPr lang="en-US" sz="2800" i="1" dirty="0">
                          <a:solidFill>
                            <a:srgbClr val="FF0000"/>
                          </a:solidFill>
                          <a:latin typeface="Cambria Math"/>
                        </a:rPr>
                        <m:t>=</m:t>
                      </m:r>
                      <m:r>
                        <a:rPr lang="en-US" sz="2800" b="0" i="1" dirty="0" smtClean="0">
                          <a:solidFill>
                            <a:srgbClr val="FF0000"/>
                          </a:solidFill>
                          <a:latin typeface="Cambria Math" panose="02040503050406030204" pitchFamily="18" charset="0"/>
                        </a:rPr>
                        <m:t>1</m:t>
                      </m:r>
                      <m:r>
                        <a:rPr lang="en-US" sz="2800" i="1" dirty="0">
                          <a:solidFill>
                            <a:srgbClr val="FF0000"/>
                          </a:solidFill>
                          <a:latin typeface="Cambria Math"/>
                        </a:rPr>
                        <m:t>+</m:t>
                      </m:r>
                      <m:r>
                        <a:rPr lang="en-US" sz="2800" i="1" dirty="0">
                          <a:solidFill>
                            <a:srgbClr val="FF0000"/>
                          </a:solidFill>
                          <a:latin typeface="Cambria Math"/>
                        </a:rPr>
                        <m:t>𝑇</m:t>
                      </m:r>
                      <m:r>
                        <a:rPr lang="en-US" sz="2800" i="1" dirty="0">
                          <a:solidFill>
                            <a:srgbClr val="FF0000"/>
                          </a:solidFill>
                          <a:latin typeface="Cambria Math"/>
                        </a:rPr>
                        <m:t>(</m:t>
                      </m:r>
                      <m:f>
                        <m:fPr>
                          <m:type m:val="skw"/>
                          <m:ctrlPr>
                            <a:rPr lang="en-US" sz="2800" i="1" dirty="0">
                              <a:solidFill>
                                <a:srgbClr val="FF0000"/>
                              </a:solidFill>
                              <a:latin typeface="Cambria Math" panose="02040503050406030204" pitchFamily="18" charset="0"/>
                            </a:rPr>
                          </m:ctrlPr>
                        </m:fPr>
                        <m:num>
                          <m:r>
                            <a:rPr lang="en-US" sz="2800" i="1" dirty="0">
                              <a:solidFill>
                                <a:srgbClr val="FF0000"/>
                              </a:solidFill>
                              <a:latin typeface="Cambria Math"/>
                            </a:rPr>
                            <m:t>𝑛</m:t>
                          </m:r>
                        </m:num>
                        <m:den>
                          <m:r>
                            <a:rPr lang="en-US" sz="2800" i="1" dirty="0">
                              <a:solidFill>
                                <a:srgbClr val="FF0000"/>
                              </a:solidFill>
                              <a:latin typeface="Cambria Math"/>
                            </a:rPr>
                            <m:t>2</m:t>
                          </m:r>
                        </m:den>
                      </m:f>
                      <m:r>
                        <a:rPr lang="en-US" sz="2800" i="1" dirty="0">
                          <a:solidFill>
                            <a:srgbClr val="FF0000"/>
                          </a:solidFill>
                          <a:latin typeface="Cambria Math"/>
                        </a:rPr>
                        <m:t>)</m:t>
                      </m:r>
                    </m:oMath>
                  </m:oMathPara>
                </a14:m>
                <a:endParaRPr lang="en-US" sz="2800" dirty="0">
                  <a:solidFill>
                    <a:srgbClr val="FF0000"/>
                  </a:solidFill>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1752871" y="1788762"/>
                <a:ext cx="3162982" cy="58471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1752871" y="1295368"/>
                <a:ext cx="1650324"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solidFill>
                            <a:srgbClr val="FF0000"/>
                          </a:solidFill>
                          <a:latin typeface="Cambria Math"/>
                        </a:rPr>
                        <m:t>𝑇</m:t>
                      </m:r>
                      <m:d>
                        <m:dPr>
                          <m:ctrlPr>
                            <a:rPr lang="en-US" sz="2800" i="1" dirty="0">
                              <a:solidFill>
                                <a:srgbClr val="FF0000"/>
                              </a:solidFill>
                              <a:latin typeface="Cambria Math" panose="02040503050406030204" pitchFamily="18" charset="0"/>
                            </a:rPr>
                          </m:ctrlPr>
                        </m:dPr>
                        <m:e>
                          <m:r>
                            <a:rPr lang="en-US" sz="2800" i="1" dirty="0">
                              <a:solidFill>
                                <a:srgbClr val="FF0000"/>
                              </a:solidFill>
                              <a:latin typeface="Cambria Math"/>
                            </a:rPr>
                            <m:t>1</m:t>
                          </m:r>
                        </m:e>
                      </m:d>
                      <m:r>
                        <a:rPr lang="en-US" sz="2800" i="1" dirty="0">
                          <a:solidFill>
                            <a:srgbClr val="FF0000"/>
                          </a:solidFill>
                          <a:latin typeface="Cambria Math"/>
                        </a:rPr>
                        <m:t>=</m:t>
                      </m:r>
                      <m:r>
                        <a:rPr lang="en-US" sz="2800" b="0" i="1" dirty="0" smtClean="0">
                          <a:solidFill>
                            <a:srgbClr val="FF0000"/>
                          </a:solidFill>
                          <a:latin typeface="Cambria Math" panose="02040503050406030204" pitchFamily="18" charset="0"/>
                        </a:rPr>
                        <m:t>1</m:t>
                      </m:r>
                    </m:oMath>
                  </m:oMathPara>
                </a14:m>
                <a:endParaRPr lang="en-US" sz="2800" dirty="0">
                  <a:solidFill>
                    <a:srgbClr val="FF0000"/>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1752871" y="1295368"/>
                <a:ext cx="1650324" cy="52322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3657600" y="2373477"/>
                <a:ext cx="1963679" cy="58317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1" dirty="0" smtClean="0">
                          <a:solidFill>
                            <a:srgbClr val="FF0000"/>
                          </a:solidFill>
                          <a:latin typeface="Cambria Math" panose="02040503050406030204" pitchFamily="18" charset="0"/>
                        </a:rPr>
                        <m:t>1</m:t>
                      </m:r>
                      <m:r>
                        <a:rPr lang="en-US" sz="2800" i="1" dirty="0">
                          <a:solidFill>
                            <a:srgbClr val="FF0000"/>
                          </a:solidFill>
                          <a:latin typeface="Cambria Math"/>
                        </a:rPr>
                        <m:t>+</m:t>
                      </m:r>
                      <m:r>
                        <a:rPr lang="en-US" sz="2800" i="1" dirty="0">
                          <a:solidFill>
                            <a:srgbClr val="FF0000"/>
                          </a:solidFill>
                          <a:latin typeface="Cambria Math"/>
                        </a:rPr>
                        <m:t>𝑇</m:t>
                      </m:r>
                      <m:r>
                        <a:rPr lang="en-US" sz="2800" i="1" dirty="0">
                          <a:solidFill>
                            <a:srgbClr val="FF0000"/>
                          </a:solidFill>
                          <a:latin typeface="Cambria Math"/>
                        </a:rPr>
                        <m:t>(</m:t>
                      </m:r>
                      <m:f>
                        <m:fPr>
                          <m:type m:val="skw"/>
                          <m:ctrlPr>
                            <a:rPr lang="en-US" sz="2800" i="1" dirty="0">
                              <a:solidFill>
                                <a:srgbClr val="FF0000"/>
                              </a:solidFill>
                              <a:latin typeface="Cambria Math" panose="02040503050406030204" pitchFamily="18" charset="0"/>
                            </a:rPr>
                          </m:ctrlPr>
                        </m:fPr>
                        <m:num>
                          <m:r>
                            <a:rPr lang="en-US" sz="2800" i="1" dirty="0">
                              <a:solidFill>
                                <a:srgbClr val="FF0000"/>
                              </a:solidFill>
                              <a:latin typeface="Cambria Math"/>
                            </a:rPr>
                            <m:t>𝑛</m:t>
                          </m:r>
                        </m:num>
                        <m:den>
                          <m:r>
                            <a:rPr lang="en-US" sz="2800" i="1" dirty="0">
                              <a:solidFill>
                                <a:srgbClr val="FF0000"/>
                              </a:solidFill>
                              <a:latin typeface="Cambria Math"/>
                            </a:rPr>
                            <m:t>4</m:t>
                          </m:r>
                        </m:den>
                      </m:f>
                      <m:r>
                        <a:rPr lang="en-US" sz="2800" i="1" dirty="0">
                          <a:solidFill>
                            <a:srgbClr val="FF0000"/>
                          </a:solidFill>
                          <a:latin typeface="Cambria Math"/>
                        </a:rPr>
                        <m:t>)</m:t>
                      </m:r>
                    </m:oMath>
                  </m:oMathPara>
                </a14:m>
                <a:endParaRPr lang="en-US" sz="2800" dirty="0"/>
              </a:p>
            </p:txBody>
          </p:sp>
        </mc:Choice>
        <mc:Fallback xmlns="">
          <p:sp>
            <p:nvSpPr>
              <p:cNvPr id="7" name="Rectangle 6"/>
              <p:cNvSpPr>
                <a:spLocks noRot="1" noChangeAspect="1" noMove="1" noResize="1" noEditPoints="1" noAdjustHandles="1" noChangeArrowheads="1" noChangeShapeType="1" noTextEdit="1"/>
              </p:cNvSpPr>
              <p:nvPr/>
            </p:nvSpPr>
            <p:spPr>
              <a:xfrm>
                <a:off x="3657600" y="2373477"/>
                <a:ext cx="1963679" cy="583173"/>
              </a:xfrm>
              <a:prstGeom prst="rect">
                <a:avLst/>
              </a:prstGeom>
              <a:blipFill>
                <a:blip r:embed="rId4"/>
                <a:stretch>
                  <a:fillRect/>
                </a:stretch>
              </a:blipFill>
            </p:spPr>
            <p:txBody>
              <a:bodyPr/>
              <a:lstStyle/>
              <a:p>
                <a:r>
                  <a:rPr lang="en-US">
                    <a:noFill/>
                  </a:rPr>
                  <a:t> </a:t>
                </a:r>
              </a:p>
            </p:txBody>
          </p:sp>
        </mc:Fallback>
      </mc:AlternateContent>
      <p:cxnSp>
        <p:nvCxnSpPr>
          <p:cNvPr id="9" name="Straight Connector 8">
            <a:extLst>
              <a:ext uri="{C183D7F6-B498-43B3-948B-1728B52AA6E4}">
                <adec:decorative xmlns:adec="http://schemas.microsoft.com/office/drawing/2017/decorative" val="1"/>
              </a:ext>
            </a:extLst>
          </p:cNvPr>
          <p:cNvCxnSpPr/>
          <p:nvPr/>
        </p:nvCxnSpPr>
        <p:spPr>
          <a:xfrm flipV="1">
            <a:off x="3923348" y="1818589"/>
            <a:ext cx="1258252" cy="391212"/>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C183D7F6-B498-43B3-948B-1728B52AA6E4}">
                <adec:decorative xmlns:adec="http://schemas.microsoft.com/office/drawing/2017/decorative" val="1"/>
              </a:ext>
            </a:extLst>
          </p:cNvPr>
          <p:cNvCxnSpPr/>
          <p:nvPr/>
        </p:nvCxnSpPr>
        <p:spPr>
          <a:xfrm flipV="1">
            <a:off x="4556755" y="2452813"/>
            <a:ext cx="1196345" cy="369727"/>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Rectangle 10"/>
              <p:cNvSpPr/>
              <p:nvPr/>
            </p:nvSpPr>
            <p:spPr>
              <a:xfrm>
                <a:off x="4234155" y="2956650"/>
                <a:ext cx="1963679" cy="58753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1" dirty="0" smtClean="0">
                          <a:solidFill>
                            <a:srgbClr val="FF0000"/>
                          </a:solidFill>
                          <a:latin typeface="Cambria Math" panose="02040503050406030204" pitchFamily="18" charset="0"/>
                        </a:rPr>
                        <m:t>1</m:t>
                      </m:r>
                      <m:r>
                        <a:rPr lang="en-US" sz="2800" i="1" dirty="0">
                          <a:solidFill>
                            <a:srgbClr val="FF0000"/>
                          </a:solidFill>
                          <a:latin typeface="Cambria Math"/>
                        </a:rPr>
                        <m:t>+</m:t>
                      </m:r>
                      <m:r>
                        <a:rPr lang="en-US" sz="2800" i="1" dirty="0">
                          <a:solidFill>
                            <a:srgbClr val="FF0000"/>
                          </a:solidFill>
                          <a:latin typeface="Cambria Math"/>
                        </a:rPr>
                        <m:t>𝑇</m:t>
                      </m:r>
                      <m:r>
                        <a:rPr lang="en-US" sz="2800" i="1" dirty="0">
                          <a:solidFill>
                            <a:srgbClr val="FF0000"/>
                          </a:solidFill>
                          <a:latin typeface="Cambria Math"/>
                        </a:rPr>
                        <m:t>(</m:t>
                      </m:r>
                      <m:f>
                        <m:fPr>
                          <m:type m:val="skw"/>
                          <m:ctrlPr>
                            <a:rPr lang="en-US" sz="2800" i="1" dirty="0">
                              <a:solidFill>
                                <a:srgbClr val="FF0000"/>
                              </a:solidFill>
                              <a:latin typeface="Cambria Math" panose="02040503050406030204" pitchFamily="18" charset="0"/>
                            </a:rPr>
                          </m:ctrlPr>
                        </m:fPr>
                        <m:num>
                          <m:r>
                            <a:rPr lang="en-US" sz="2800" i="1" dirty="0">
                              <a:solidFill>
                                <a:srgbClr val="FF0000"/>
                              </a:solidFill>
                              <a:latin typeface="Cambria Math"/>
                            </a:rPr>
                            <m:t>𝑛</m:t>
                          </m:r>
                        </m:num>
                        <m:den>
                          <m:r>
                            <a:rPr lang="en-US" sz="2800" i="1" dirty="0">
                              <a:solidFill>
                                <a:srgbClr val="FF0000"/>
                              </a:solidFill>
                              <a:latin typeface="Cambria Math"/>
                            </a:rPr>
                            <m:t>8</m:t>
                          </m:r>
                        </m:den>
                      </m:f>
                      <m:r>
                        <a:rPr lang="en-US" sz="2800" i="1" dirty="0">
                          <a:solidFill>
                            <a:srgbClr val="FF0000"/>
                          </a:solidFill>
                          <a:latin typeface="Cambria Math"/>
                        </a:rPr>
                        <m:t>)</m:t>
                      </m:r>
                    </m:oMath>
                  </m:oMathPara>
                </a14:m>
                <a:endParaRPr lang="en-US" sz="2800" dirty="0"/>
              </a:p>
            </p:txBody>
          </p:sp>
        </mc:Choice>
        <mc:Fallback xmlns="">
          <p:sp>
            <p:nvSpPr>
              <p:cNvPr id="11" name="Rectangle 10"/>
              <p:cNvSpPr>
                <a:spLocks noRot="1" noChangeAspect="1" noMove="1" noResize="1" noEditPoints="1" noAdjustHandles="1" noChangeArrowheads="1" noChangeShapeType="1" noTextEdit="1"/>
              </p:cNvSpPr>
              <p:nvPr/>
            </p:nvSpPr>
            <p:spPr>
              <a:xfrm>
                <a:off x="4234155" y="2956650"/>
                <a:ext cx="1963679" cy="587533"/>
              </a:xfrm>
              <a:prstGeom prst="rect">
                <a:avLst/>
              </a:prstGeom>
              <a:blipFill>
                <a:blip r:embed="rId5"/>
                <a:stretch>
                  <a:fillRect/>
                </a:stretch>
              </a:blipFill>
            </p:spPr>
            <p:txBody>
              <a:bodyPr/>
              <a:lstStyle/>
              <a:p>
                <a:r>
                  <a:rPr lang="en-US">
                    <a:noFill/>
                  </a:rPr>
                  <a:t> </a:t>
                </a:r>
              </a:p>
            </p:txBody>
          </p:sp>
        </mc:Fallback>
      </mc:AlternateContent>
      <p:sp>
        <p:nvSpPr>
          <p:cNvPr id="12" name="TextBox 11"/>
          <p:cNvSpPr txBox="1"/>
          <p:nvPr/>
        </p:nvSpPr>
        <p:spPr>
          <a:xfrm rot="2181819">
            <a:off x="5632394" y="3341258"/>
            <a:ext cx="538930" cy="707886"/>
          </a:xfrm>
          <a:prstGeom prst="rect">
            <a:avLst/>
          </a:prstGeom>
          <a:noFill/>
        </p:spPr>
        <p:txBody>
          <a:bodyPr wrap="none" rtlCol="0">
            <a:spAutoFit/>
          </a:bodyPr>
          <a:lstStyle/>
          <a:p>
            <a:r>
              <a:rPr lang="en-US" sz="4000" dirty="0">
                <a:solidFill>
                  <a:srgbClr val="FF0000"/>
                </a:solidFill>
              </a:rPr>
              <a:t>…</a:t>
            </a:r>
          </a:p>
        </p:txBody>
      </p:sp>
      <mc:AlternateContent xmlns:mc="http://schemas.openxmlformats.org/markup-compatibility/2006" xmlns:a14="http://schemas.microsoft.com/office/drawing/2010/main">
        <mc:Choice Requires="a14">
          <p:sp>
            <p:nvSpPr>
              <p:cNvPr id="13" name="Rectangle 12"/>
              <p:cNvSpPr/>
              <p:nvPr/>
            </p:nvSpPr>
            <p:spPr>
              <a:xfrm>
                <a:off x="5791203" y="3896380"/>
                <a:ext cx="46519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FF0000"/>
                          </a:solidFill>
                          <a:latin typeface="Cambria Math" panose="02040503050406030204" pitchFamily="18" charset="0"/>
                        </a:rPr>
                        <m:t>1</m:t>
                      </m:r>
                    </m:oMath>
                  </m:oMathPara>
                </a14:m>
                <a:endParaRPr lang="en-US" sz="2800" dirty="0"/>
              </a:p>
            </p:txBody>
          </p:sp>
        </mc:Choice>
        <mc:Fallback xmlns="">
          <p:sp>
            <p:nvSpPr>
              <p:cNvPr id="13" name="Rectangle 12"/>
              <p:cNvSpPr>
                <a:spLocks noRot="1" noChangeAspect="1" noMove="1" noResize="1" noEditPoints="1" noAdjustHandles="1" noChangeArrowheads="1" noChangeShapeType="1" noTextEdit="1"/>
              </p:cNvSpPr>
              <p:nvPr/>
            </p:nvSpPr>
            <p:spPr>
              <a:xfrm>
                <a:off x="5791203" y="3896380"/>
                <a:ext cx="465191" cy="523220"/>
              </a:xfrm>
              <a:prstGeom prst="rect">
                <a:avLst/>
              </a:prstGeom>
              <a:blipFill>
                <a:blip r:embed="rId6"/>
                <a:stretch>
                  <a:fillRect/>
                </a:stretch>
              </a:blipFill>
            </p:spPr>
            <p:txBody>
              <a:bodyPr/>
              <a:lstStyle/>
              <a:p>
                <a:r>
                  <a:rPr lang="en-US">
                    <a:noFill/>
                  </a:rPr>
                  <a:t> </a:t>
                </a:r>
              </a:p>
            </p:txBody>
          </p:sp>
        </mc:Fallback>
      </mc:AlternateContent>
      <p:sp>
        <p:nvSpPr>
          <p:cNvPr id="19" name="Right Brace 18" descr="We can begin solving our recurrence relation by tracing through the recursion.&#10;&#10;If we know T(n)=1+T(n/2) then we can use this definition of T(n) to substitute for T(n/2), which gives us T(n)=1+1+T(n/4). We can then substitute again to get T(n)=1+1+1+T(n/8).&#10;&#10;Notice that with each step of substitution T(n) gains one more +1 term and the recursive call to T shrinks by half. This process will continue until we reach the base case of T(1) which equals 1. &#10;&#10;Now we know the running time will be determined by the number of +1 terms we've accumulated, which is equal to the number of substitutions we need to do until we get to the base case, in other words the number of times we must divide n in half before we get the value 1."/>
          <p:cNvSpPr/>
          <p:nvPr/>
        </p:nvSpPr>
        <p:spPr>
          <a:xfrm>
            <a:off x="6641598" y="1607198"/>
            <a:ext cx="673602" cy="2812402"/>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20" name="TextBox 19"/>
              <p:cNvSpPr txBox="1"/>
              <p:nvPr/>
            </p:nvSpPr>
            <p:spPr>
              <a:xfrm>
                <a:off x="7375131" y="2514600"/>
                <a:ext cx="3880229" cy="1077218"/>
              </a:xfrm>
              <a:prstGeom prst="rect">
                <a:avLst/>
              </a:prstGeom>
              <a:noFill/>
            </p:spPr>
            <p:txBody>
              <a:bodyPr wrap="none" rtlCol="0">
                <a:spAutoFit/>
              </a:bodyPr>
              <a:lstStyle/>
              <a:p>
                <a:r>
                  <a:rPr lang="en-US" sz="3200" b="0" dirty="0"/>
                  <a:t>Substitute until</a:t>
                </a:r>
                <a:r>
                  <a:rPr lang="en-US" sz="3200" b="0" i="1" dirty="0">
                    <a:latin typeface="Cambria Math" panose="02040503050406030204" pitchFamily="18" charset="0"/>
                  </a:rPr>
                  <a:t>  </a:t>
                </a:r>
                <a14:m>
                  <m:oMath xmlns:m="http://schemas.openxmlformats.org/officeDocument/2006/math">
                    <m:r>
                      <a:rPr lang="en-US" sz="3200" b="0" i="1" smtClean="0">
                        <a:latin typeface="Cambria Math" panose="02040503050406030204" pitchFamily="18" charset="0"/>
                      </a:rPr>
                      <m:t>𝑇</m:t>
                    </m:r>
                    <m:r>
                      <a:rPr lang="en-US" sz="3200" b="0" i="1" smtClean="0">
                        <a:latin typeface="Cambria Math" panose="02040503050406030204" pitchFamily="18" charset="0"/>
                      </a:rPr>
                      <m:t>(1)</m:t>
                    </m:r>
                  </m:oMath>
                </a14:m>
                <a:endParaRPr lang="en-US" sz="3200" b="0" i="1" dirty="0">
                  <a:latin typeface="Cambria Math" panose="02040503050406030204" pitchFamily="18" charset="0"/>
                </a:endParaRPr>
              </a:p>
              <a:p>
                <a:r>
                  <a:rPr lang="en-US" sz="3200" b="0" dirty="0"/>
                  <a:t>So </a:t>
                </a:r>
                <a14:m>
                  <m:oMath xmlns:m="http://schemas.openxmlformats.org/officeDocument/2006/math">
                    <m:func>
                      <m:funcPr>
                        <m:ctrlPr>
                          <a:rPr lang="en-US" sz="3200" b="0" i="1" smtClean="0">
                            <a:latin typeface="Cambria Math" panose="02040503050406030204" pitchFamily="18" charset="0"/>
                          </a:rPr>
                        </m:ctrlPr>
                      </m:funcPr>
                      <m:fName>
                        <m:sSub>
                          <m:sSubPr>
                            <m:ctrlPr>
                              <a:rPr lang="en-US" sz="3200" b="0" i="1" smtClean="0">
                                <a:latin typeface="Cambria Math" panose="02040503050406030204" pitchFamily="18" charset="0"/>
                              </a:rPr>
                            </m:ctrlPr>
                          </m:sSubPr>
                          <m:e>
                            <m:r>
                              <m:rPr>
                                <m:sty m:val="p"/>
                              </m:rPr>
                              <a:rPr lang="en-US" sz="3200" b="0" i="0" smtClean="0">
                                <a:latin typeface="Cambria Math"/>
                              </a:rPr>
                              <m:t>log</m:t>
                            </m:r>
                          </m:e>
                          <m:sub>
                            <m:r>
                              <a:rPr lang="en-US" sz="3200" b="0" i="1" smtClean="0">
                                <a:latin typeface="Cambria Math"/>
                              </a:rPr>
                              <m:t>2</m:t>
                            </m:r>
                          </m:sub>
                        </m:sSub>
                      </m:fName>
                      <m:e>
                        <m:r>
                          <a:rPr lang="en-US" sz="3200" b="0" i="1" smtClean="0">
                            <a:latin typeface="Cambria Math"/>
                          </a:rPr>
                          <m:t>𝑛</m:t>
                        </m:r>
                      </m:e>
                    </m:func>
                  </m:oMath>
                </a14:m>
                <a:r>
                  <a:rPr lang="en-US" sz="3200" dirty="0"/>
                  <a:t> steps</a:t>
                </a:r>
              </a:p>
            </p:txBody>
          </p:sp>
        </mc:Choice>
        <mc:Fallback xmlns="">
          <p:sp>
            <p:nvSpPr>
              <p:cNvPr id="20" name="TextBox 19"/>
              <p:cNvSpPr txBox="1">
                <a:spLocks noRot="1" noChangeAspect="1" noMove="1" noResize="1" noEditPoints="1" noAdjustHandles="1" noChangeArrowheads="1" noChangeShapeType="1" noTextEdit="1"/>
              </p:cNvSpPr>
              <p:nvPr/>
            </p:nvSpPr>
            <p:spPr>
              <a:xfrm>
                <a:off x="7375131" y="2514600"/>
                <a:ext cx="3880229" cy="1077218"/>
              </a:xfrm>
              <a:prstGeom prst="rect">
                <a:avLst/>
              </a:prstGeom>
              <a:blipFill>
                <a:blip r:embed="rId7"/>
                <a:stretch>
                  <a:fillRect l="-4088" t="-6818" b="-18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1874535" y="4953000"/>
                <a:ext cx="4327274" cy="15001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200" i="1" smtClean="0">
                          <a:latin typeface="Cambria Math"/>
                        </a:rPr>
                        <m:t>𝑇</m:t>
                      </m:r>
                      <m:d>
                        <m:dPr>
                          <m:ctrlPr>
                            <a:rPr lang="en-US" sz="3200" i="1">
                              <a:latin typeface="Cambria Math" panose="02040503050406030204" pitchFamily="18" charset="0"/>
                            </a:rPr>
                          </m:ctrlPr>
                        </m:dPr>
                        <m:e>
                          <m:r>
                            <a:rPr lang="en-US" sz="3200" i="1">
                              <a:latin typeface="Cambria Math"/>
                            </a:rPr>
                            <m:t>𝑛</m:t>
                          </m:r>
                        </m:e>
                      </m:d>
                      <m:r>
                        <a:rPr lang="en-US" sz="3200" i="1">
                          <a:latin typeface="Cambria Math"/>
                        </a:rPr>
                        <m:t>=</m:t>
                      </m:r>
                      <m:nary>
                        <m:naryPr>
                          <m:chr m:val="∑"/>
                          <m:ctrlPr>
                            <a:rPr lang="en-US" sz="3200" i="1">
                              <a:latin typeface="Cambria Math" panose="02040503050406030204" pitchFamily="18" charset="0"/>
                            </a:rPr>
                          </m:ctrlPr>
                        </m:naryPr>
                        <m:sub>
                          <m:r>
                            <m:rPr>
                              <m:brk m:alnAt="23"/>
                            </m:rPr>
                            <a:rPr lang="en-US" sz="3200" i="1">
                              <a:latin typeface="Cambria Math"/>
                            </a:rPr>
                            <m:t>𝑖</m:t>
                          </m:r>
                          <m:r>
                            <a:rPr lang="en-US" sz="3200" i="1">
                              <a:latin typeface="Cambria Math"/>
                            </a:rPr>
                            <m:t>=</m:t>
                          </m:r>
                          <m:r>
                            <a:rPr lang="en-US" sz="3200" b="0" i="1" smtClean="0">
                              <a:latin typeface="Cambria Math" panose="02040503050406030204" pitchFamily="18" charset="0"/>
                            </a:rPr>
                            <m:t>0</m:t>
                          </m:r>
                        </m:sub>
                        <m:sup>
                          <m:sSub>
                            <m:sSubPr>
                              <m:ctrlPr>
                                <a:rPr lang="en-US" sz="3200" i="1">
                                  <a:latin typeface="Cambria Math" panose="02040503050406030204" pitchFamily="18" charset="0"/>
                                </a:rPr>
                              </m:ctrlPr>
                            </m:sSubPr>
                            <m:e>
                              <m:r>
                                <m:rPr>
                                  <m:sty m:val="p"/>
                                </m:rPr>
                                <a:rPr lang="en-US" sz="3200">
                                  <a:latin typeface="Cambria Math"/>
                                </a:rPr>
                                <m:t>log</m:t>
                              </m:r>
                            </m:e>
                            <m:sub>
                              <m:r>
                                <a:rPr lang="en-US" sz="3200" i="1">
                                  <a:latin typeface="Cambria Math"/>
                                </a:rPr>
                                <m:t>2</m:t>
                              </m:r>
                            </m:sub>
                          </m:sSub>
                          <m:r>
                            <a:rPr lang="en-US" sz="3200" i="1">
                              <a:latin typeface="Cambria Math"/>
                            </a:rPr>
                            <m:t>𝑛</m:t>
                          </m:r>
                        </m:sup>
                        <m:e>
                          <m:r>
                            <a:rPr lang="en-US" sz="3200" b="0" i="1" smtClean="0">
                              <a:latin typeface="Cambria Math" panose="02040503050406030204" pitchFamily="18" charset="0"/>
                            </a:rPr>
                            <m:t>1</m:t>
                          </m:r>
                        </m:e>
                      </m:nary>
                      <m:r>
                        <a:rPr lang="en-US" sz="3200" i="1">
                          <a:latin typeface="Cambria Math"/>
                        </a:rPr>
                        <m:t>=</m:t>
                      </m:r>
                      <m:func>
                        <m:funcPr>
                          <m:ctrlPr>
                            <a:rPr lang="en-US" sz="3200" i="1">
                              <a:latin typeface="Cambria Math" panose="02040503050406030204" pitchFamily="18" charset="0"/>
                            </a:rPr>
                          </m:ctrlPr>
                        </m:funcPr>
                        <m:fName>
                          <m:sSub>
                            <m:sSubPr>
                              <m:ctrlPr>
                                <a:rPr lang="en-US" sz="3200" i="1">
                                  <a:latin typeface="Cambria Math" panose="02040503050406030204" pitchFamily="18" charset="0"/>
                                </a:rPr>
                              </m:ctrlPr>
                            </m:sSubPr>
                            <m:e>
                              <m:r>
                                <m:rPr>
                                  <m:sty m:val="p"/>
                                </m:rPr>
                                <a:rPr lang="en-US" sz="3200">
                                  <a:latin typeface="Cambria Math"/>
                                </a:rPr>
                                <m:t>log</m:t>
                              </m:r>
                            </m:e>
                            <m:sub>
                              <m:r>
                                <a:rPr lang="en-US" sz="3200" i="1">
                                  <a:latin typeface="Cambria Math"/>
                                </a:rPr>
                                <m:t>2</m:t>
                              </m:r>
                            </m:sub>
                          </m:sSub>
                        </m:fName>
                        <m:e>
                          <m:r>
                            <a:rPr lang="en-US" sz="3200" i="1">
                              <a:latin typeface="Cambria Math"/>
                            </a:rPr>
                            <m:t>𝑛</m:t>
                          </m:r>
                        </m:e>
                      </m:func>
                    </m:oMath>
                  </m:oMathPara>
                </a14:m>
                <a:endParaRPr lang="en-US" sz="3200" dirty="0"/>
              </a:p>
            </p:txBody>
          </p:sp>
        </mc:Choice>
        <mc:Fallback xmlns="">
          <p:sp>
            <p:nvSpPr>
              <p:cNvPr id="22" name="TextBox 21"/>
              <p:cNvSpPr txBox="1">
                <a:spLocks noRot="1" noChangeAspect="1" noMove="1" noResize="1" noEditPoints="1" noAdjustHandles="1" noChangeArrowheads="1" noChangeShapeType="1" noTextEdit="1"/>
              </p:cNvSpPr>
              <p:nvPr/>
            </p:nvSpPr>
            <p:spPr>
              <a:xfrm>
                <a:off x="1874535" y="4953000"/>
                <a:ext cx="4327274" cy="1500154"/>
              </a:xfrm>
              <a:prstGeom prst="rect">
                <a:avLst/>
              </a:prstGeom>
              <a:blipFill>
                <a:blip r:embed="rId8"/>
                <a:stretch>
                  <a:fillRect/>
                </a:stretch>
              </a:blipFill>
            </p:spPr>
            <p:txBody>
              <a:bodyPr/>
              <a:lstStyle/>
              <a:p>
                <a:r>
                  <a:rPr lang="en-US">
                    <a:noFill/>
                  </a:rPr>
                  <a:t> </a:t>
                </a:r>
              </a:p>
            </p:txBody>
          </p:sp>
        </mc:Fallback>
      </mc:AlternateContent>
      <p:sp>
        <p:nvSpPr>
          <p:cNvPr id="25" name="Oval 24">
            <a:extLst>
              <a:ext uri="{C183D7F6-B498-43B3-948B-1728B52AA6E4}">
                <adec:decorative xmlns:adec="http://schemas.microsoft.com/office/drawing/2017/decorative" val="1"/>
              </a:ext>
            </a:extLst>
          </p:cNvPr>
          <p:cNvSpPr/>
          <p:nvPr/>
        </p:nvSpPr>
        <p:spPr>
          <a:xfrm rot="2320398">
            <a:off x="2373991" y="2664031"/>
            <a:ext cx="4403655" cy="95721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6" name="Straight Connector 25">
            <a:extLst>
              <a:ext uri="{C183D7F6-B498-43B3-948B-1728B52AA6E4}">
                <adec:decorative xmlns:adec="http://schemas.microsoft.com/office/drawing/2017/decorative" val="1"/>
              </a:ext>
            </a:extLst>
          </p:cNvPr>
          <p:cNvCxnSpPr/>
          <p:nvPr/>
        </p:nvCxnSpPr>
        <p:spPr>
          <a:xfrm flipV="1">
            <a:off x="5128255" y="3065552"/>
            <a:ext cx="1196345" cy="369727"/>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4D36018-B814-5D27-1894-CCA132A396B0}"/>
                  </a:ext>
                </a:extLst>
              </p:cNvPr>
              <p:cNvSpPr txBox="1"/>
              <p:nvPr/>
            </p:nvSpPr>
            <p:spPr>
              <a:xfrm>
                <a:off x="8531950" y="5410689"/>
                <a:ext cx="3050450"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200" i="1" smtClean="0">
                          <a:latin typeface="Cambria Math"/>
                        </a:rPr>
                        <m:t>𝑇</m:t>
                      </m:r>
                      <m:d>
                        <m:dPr>
                          <m:ctrlPr>
                            <a:rPr lang="en-US" sz="3200" i="1">
                              <a:latin typeface="Cambria Math" panose="02040503050406030204" pitchFamily="18" charset="0"/>
                            </a:rPr>
                          </m:ctrlPr>
                        </m:dPr>
                        <m:e>
                          <m:r>
                            <a:rPr lang="en-US" sz="3200" i="1">
                              <a:latin typeface="Cambria Math"/>
                            </a:rPr>
                            <m:t>𝑛</m:t>
                          </m:r>
                        </m:e>
                      </m:d>
                      <m:r>
                        <a:rPr lang="en-US" sz="3200" i="1" smtClean="0">
                          <a:latin typeface="Cambria Math" panose="02040503050406030204" pitchFamily="18" charset="0"/>
                        </a:rPr>
                        <m:t>∈</m:t>
                      </m:r>
                      <m:r>
                        <m:rPr>
                          <m:sty m:val="p"/>
                        </m:rPr>
                        <a:rPr lang="en-US" sz="3200" b="0" i="0" smtClean="0">
                          <a:latin typeface="Cambria Math" panose="02040503050406030204" pitchFamily="18" charset="0"/>
                        </a:rPr>
                        <m:t>Θ</m:t>
                      </m:r>
                      <m:d>
                        <m:dPr>
                          <m:ctrlPr>
                            <a:rPr lang="en-US" sz="3200" b="0" i="1" smtClean="0">
                              <a:latin typeface="Cambria Math" panose="02040503050406030204" pitchFamily="18" charset="0"/>
                            </a:rPr>
                          </m:ctrlPr>
                        </m:dPr>
                        <m:e>
                          <m:func>
                            <m:funcPr>
                              <m:ctrlPr>
                                <a:rPr lang="en-US" sz="3200" b="0" i="1" smtClean="0">
                                  <a:latin typeface="Cambria Math" panose="02040503050406030204" pitchFamily="18" charset="0"/>
                                </a:rPr>
                              </m:ctrlPr>
                            </m:funcPr>
                            <m:fName>
                              <m:r>
                                <m:rPr>
                                  <m:sty m:val="p"/>
                                </m:rPr>
                                <a:rPr lang="en-US" sz="3200" b="0" i="0" smtClean="0">
                                  <a:latin typeface="Cambria Math" panose="02040503050406030204" pitchFamily="18" charset="0"/>
                                </a:rPr>
                                <m:t>log</m:t>
                              </m:r>
                            </m:fName>
                            <m:e>
                              <m:r>
                                <a:rPr lang="en-US" sz="3200" b="0" i="1" smtClean="0">
                                  <a:latin typeface="Cambria Math" panose="02040503050406030204" pitchFamily="18" charset="0"/>
                                </a:rPr>
                                <m:t>𝑛</m:t>
                              </m:r>
                            </m:e>
                          </m:func>
                        </m:e>
                      </m:d>
                    </m:oMath>
                  </m:oMathPara>
                </a14:m>
                <a:endParaRPr lang="en-US" sz="3200" dirty="0"/>
              </a:p>
            </p:txBody>
          </p:sp>
        </mc:Choice>
        <mc:Fallback xmlns="">
          <p:sp>
            <p:nvSpPr>
              <p:cNvPr id="3" name="TextBox 2">
                <a:extLst>
                  <a:ext uri="{FF2B5EF4-FFF2-40B4-BE49-F238E27FC236}">
                    <a16:creationId xmlns:a16="http://schemas.microsoft.com/office/drawing/2014/main" id="{D4D36018-B814-5D27-1894-CCA132A396B0}"/>
                  </a:ext>
                </a:extLst>
              </p:cNvPr>
              <p:cNvSpPr txBox="1">
                <a:spLocks noRot="1" noChangeAspect="1" noMove="1" noResize="1" noEditPoints="1" noAdjustHandles="1" noChangeArrowheads="1" noChangeShapeType="1" noTextEdit="1"/>
              </p:cNvSpPr>
              <p:nvPr/>
            </p:nvSpPr>
            <p:spPr>
              <a:xfrm>
                <a:off x="8531950" y="5410689"/>
                <a:ext cx="3050450" cy="584775"/>
              </a:xfrm>
              <a:prstGeom prst="rect">
                <a:avLst/>
              </a:prstGeom>
              <a:blipFill>
                <a:blip r:embed="rId9"/>
                <a:stretch>
                  <a:fillRect/>
                </a:stretch>
              </a:blipFill>
            </p:spPr>
            <p:txBody>
              <a:bodyPr/>
              <a:lstStyle/>
              <a:p>
                <a:r>
                  <a:rPr lang="en-US">
                    <a:noFill/>
                  </a:rPr>
                  <a:t> </a:t>
                </a:r>
              </a:p>
            </p:txBody>
          </p:sp>
        </mc:Fallback>
      </mc:AlternateContent>
      <p:sp>
        <p:nvSpPr>
          <p:cNvPr id="6" name="Slide Number Placeholder 5">
            <a:extLst>
              <a:ext uri="{FF2B5EF4-FFF2-40B4-BE49-F238E27FC236}">
                <a16:creationId xmlns:a16="http://schemas.microsoft.com/office/drawing/2014/main" id="{1A438719-4012-4362-B790-16D138412EF9}"/>
              </a:ext>
            </a:extLst>
          </p:cNvPr>
          <p:cNvSpPr>
            <a:spLocks noGrp="1"/>
          </p:cNvSpPr>
          <p:nvPr>
            <p:ph type="sldNum" sz="quarter" idx="12"/>
          </p:nvPr>
        </p:nvSpPr>
        <p:spPr/>
        <p:txBody>
          <a:bodyPr/>
          <a:lstStyle/>
          <a:p>
            <a:fld id="{F4E8603E-186F-4CC7-B8E2-5FD613D3E28C}" type="slidenum">
              <a:rPr lang="en-US" smtClean="0"/>
              <a:t>5</a:t>
            </a:fld>
            <a:endParaRPr lang="en-US" dirty="0"/>
          </a:p>
        </p:txBody>
      </p:sp>
      <mc:AlternateContent xmlns:mc="http://schemas.openxmlformats.org/markup-compatibility/2006">
        <mc:Choice xmlns:p14="http://schemas.microsoft.com/office/powerpoint/2010/main" Requires="p14">
          <p:contentPart p14:bwMode="auto" r:id="rId10">
            <p14:nvContentPartPr>
              <p14:cNvPr id="8" name="Ink 7">
                <a:extLst>
                  <a:ext uri="{FF2B5EF4-FFF2-40B4-BE49-F238E27FC236}">
                    <a16:creationId xmlns:a16="http://schemas.microsoft.com/office/drawing/2014/main" id="{EE8D429C-37B9-4E02-1AF0-86F5293DAADD}"/>
                  </a:ext>
                </a:extLst>
              </p14:cNvPr>
              <p14:cNvContentPartPr/>
              <p14:nvPr/>
            </p14:nvContentPartPr>
            <p14:xfrm>
              <a:off x="1603800" y="2305440"/>
              <a:ext cx="3122280" cy="107640"/>
            </p14:xfrm>
          </p:contentPart>
        </mc:Choice>
        <mc:Fallback>
          <p:pic>
            <p:nvPicPr>
              <p:cNvPr id="8" name="Ink 7">
                <a:extLst>
                  <a:ext uri="{FF2B5EF4-FFF2-40B4-BE49-F238E27FC236}">
                    <a16:creationId xmlns:a16="http://schemas.microsoft.com/office/drawing/2014/main" id="{EE8D429C-37B9-4E02-1AF0-86F5293DAADD}"/>
                  </a:ext>
                </a:extLst>
              </p:cNvPr>
              <p:cNvPicPr/>
              <p:nvPr/>
            </p:nvPicPr>
            <p:blipFill>
              <a:blip r:embed="rId11"/>
              <a:stretch>
                <a:fillRect/>
              </a:stretch>
            </p:blipFill>
            <p:spPr>
              <a:xfrm>
                <a:off x="1594440" y="2296080"/>
                <a:ext cx="3141000" cy="126360"/>
              </a:xfrm>
              <a:prstGeom prst="rect">
                <a:avLst/>
              </a:prstGeom>
            </p:spPr>
          </p:pic>
        </mc:Fallback>
      </mc:AlternateContent>
    </p:spTree>
    <p:extLst>
      <p:ext uri="{BB962C8B-B14F-4D97-AF65-F5344CB8AC3E}">
        <p14:creationId xmlns:p14="http://schemas.microsoft.com/office/powerpoint/2010/main" val="72882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500"/>
                                        <p:tgtEl>
                                          <p:spTgt spid="2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50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500"/>
                                        <p:tgtEl>
                                          <p:spTgt spid="22"/>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gtEl>
                                        <p:attrNameLst>
                                          <p:attrName>style.visibility</p:attrName>
                                        </p:attrNameLst>
                                      </p:cBhvr>
                                      <p:to>
                                        <p:strVal val="visible"/>
                                      </p:to>
                                    </p:set>
                                    <p:animEffect transition="in" filter="fade">
                                      <p:cBhvr>
                                        <p:cTn id="6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2" grpId="0"/>
      <p:bldP spid="13" grpId="0"/>
      <p:bldP spid="19" grpId="0" animBg="1"/>
      <p:bldP spid="20" grpId="0"/>
      <p:bldP spid="22" grpId="0"/>
      <p:bldP spid="25" grpId="0" animBg="1"/>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0C471-0E49-9D75-75DE-5A00835E8F95}"/>
              </a:ext>
            </a:extLst>
          </p:cNvPr>
          <p:cNvSpPr>
            <a:spLocks noGrp="1"/>
          </p:cNvSpPr>
          <p:nvPr>
            <p:ph type="title"/>
          </p:nvPr>
        </p:nvSpPr>
        <p:spPr>
          <a:xfrm>
            <a:off x="838200" y="385673"/>
            <a:ext cx="10515600" cy="1325563"/>
          </a:xfrm>
        </p:spPr>
        <p:txBody>
          <a:bodyPr/>
          <a:lstStyle/>
          <a:p>
            <a:r>
              <a:rPr lang="en-US" dirty="0"/>
              <a:t>Make our process “prettier”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EFDDAAF-81C9-60F9-3FF1-0F973D6184CC}"/>
                  </a:ext>
                </a:extLst>
              </p:cNvPr>
              <p:cNvSpPr>
                <a:spLocks noGrp="1"/>
              </p:cNvSpPr>
              <p:nvPr>
                <p:ph idx="1"/>
              </p:nvPr>
            </p:nvSpPr>
            <p:spPr>
              <a:xfrm>
                <a:off x="323557" y="1521048"/>
                <a:ext cx="10515600" cy="4351338"/>
              </a:xfrm>
            </p:spPr>
            <p:txBody>
              <a:bodyPr/>
              <a:lstStyle/>
              <a:p>
                <a:r>
                  <a:rPr lang="en-US" dirty="0">
                    <a:solidFill>
                      <a:srgbClr val="FF0000"/>
                    </a:solidFill>
                  </a:rPr>
                  <a:t>Draw a picture of the recursion</a:t>
                </a:r>
              </a:p>
              <a:p>
                <a:r>
                  <a:rPr lang="en-US" dirty="0">
                    <a:solidFill>
                      <a:srgbClr val="0070C0"/>
                    </a:solidFill>
                  </a:rPr>
                  <a:t>Identify the work done per stack frame</a:t>
                </a:r>
              </a:p>
              <a:p>
                <a:r>
                  <a:rPr lang="en-US" dirty="0"/>
                  <a:t>Add up all the work!</a:t>
                </a:r>
              </a:p>
              <a:p>
                <a:pPr lvl="1"/>
                <a:r>
                  <a:rPr lang="en-US" dirty="0"/>
                  <a:t>Sum is the answer!</a:t>
                </a:r>
              </a:p>
              <a:p>
                <a:pPr lvl="1"/>
                <a:r>
                  <a:rPr lang="en-US" dirty="0"/>
                  <a:t>In this case </a:t>
                </a:r>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2</m:t>
                            </m:r>
                          </m:sub>
                        </m:sSub>
                      </m:fName>
                      <m:e>
                        <m:r>
                          <a:rPr lang="en-US" b="0" i="1" smtClean="0">
                            <a:latin typeface="Cambria Math" panose="02040503050406030204" pitchFamily="18" charset="0"/>
                          </a:rPr>
                          <m:t>𝑛</m:t>
                        </m:r>
                      </m:e>
                    </m:func>
                    <m:r>
                      <a:rPr lang="en-US" b="0" i="1"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FEFDDAAF-81C9-60F9-3FF1-0F973D6184CC}"/>
                  </a:ext>
                </a:extLst>
              </p:cNvPr>
              <p:cNvSpPr>
                <a:spLocks noGrp="1" noRot="1" noChangeAspect="1" noMove="1" noResize="1" noEditPoints="1" noAdjustHandles="1" noChangeArrowheads="1" noChangeShapeType="1" noTextEdit="1"/>
              </p:cNvSpPr>
              <p:nvPr>
                <p:ph idx="1"/>
              </p:nvPr>
            </p:nvSpPr>
            <p:spPr>
              <a:xfrm>
                <a:off x="323557" y="1521048"/>
                <a:ext cx="10515600" cy="4351338"/>
              </a:xfrm>
              <a:blipFill>
                <a:blip r:embed="rId2"/>
                <a:stretch>
                  <a:fillRect l="-1043" t="-238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71D829C-229D-3C07-6BB5-2622736B211F}"/>
                  </a:ext>
                </a:extLst>
              </p:cNvPr>
              <p:cNvSpPr txBox="1"/>
              <p:nvPr/>
            </p:nvSpPr>
            <p:spPr>
              <a:xfrm>
                <a:off x="6252897" y="1351760"/>
                <a:ext cx="3849189" cy="74546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a:rPr>
                        <m:t>𝑇</m:t>
                      </m:r>
                      <m:d>
                        <m:dPr>
                          <m:ctrlPr>
                            <a:rPr lang="en-US" sz="2400" b="0" i="1" smtClean="0">
                              <a:latin typeface="Cambria Math" panose="02040503050406030204" pitchFamily="18" charset="0"/>
                            </a:rPr>
                          </m:ctrlPr>
                        </m:dPr>
                        <m:e>
                          <m:r>
                            <a:rPr lang="en-US" sz="2400" b="0" i="1" smtClean="0">
                              <a:latin typeface="Cambria Math"/>
                            </a:rPr>
                            <m:t>𝑛</m:t>
                          </m:r>
                        </m:e>
                      </m:d>
                      <m:r>
                        <a:rPr lang="en-US" sz="2400" b="0" i="1" smtClean="0">
                          <a:latin typeface="Cambria Math"/>
                        </a:rPr>
                        <m:t>=</m:t>
                      </m:r>
                      <m:r>
                        <a:rPr lang="en-US" sz="2400" b="0" i="1" smtClean="0">
                          <a:latin typeface="Cambria Math"/>
                        </a:rPr>
                        <m:t>𝑇</m:t>
                      </m:r>
                      <m:d>
                        <m:dPr>
                          <m:ctrlPr>
                            <a:rPr lang="en-US" sz="2400" b="0" i="1" smtClean="0">
                              <a:latin typeface="Cambria Math" panose="02040503050406030204" pitchFamily="18" charset="0"/>
                            </a:rPr>
                          </m:ctrlPr>
                        </m:dPr>
                        <m:e>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𝑛</m:t>
                              </m:r>
                            </m:num>
                            <m:den>
                              <m:r>
                                <a:rPr lang="en-US" sz="2400" b="0" i="1" smtClean="0">
                                  <a:latin typeface="Cambria Math" panose="02040503050406030204" pitchFamily="18" charset="0"/>
                                </a:rPr>
                                <m:t>2</m:t>
                              </m:r>
                            </m:den>
                          </m:f>
                        </m:e>
                      </m:d>
                      <m:r>
                        <a:rPr lang="en-US" sz="2400" b="0" i="1" smtClean="0">
                          <a:latin typeface="Cambria Math" panose="02040503050406030204" pitchFamily="18" charset="0"/>
                        </a:rPr>
                        <m:t>+1</m:t>
                      </m:r>
                    </m:oMath>
                  </m:oMathPara>
                </a14:m>
                <a:endParaRPr lang="en-US" sz="2400" dirty="0"/>
              </a:p>
            </p:txBody>
          </p:sp>
        </mc:Choice>
        <mc:Fallback xmlns="">
          <p:sp>
            <p:nvSpPr>
              <p:cNvPr id="7" name="TextBox 6">
                <a:extLst>
                  <a:ext uri="{FF2B5EF4-FFF2-40B4-BE49-F238E27FC236}">
                    <a16:creationId xmlns:a16="http://schemas.microsoft.com/office/drawing/2014/main" id="{C71D829C-229D-3C07-6BB5-2622736B211F}"/>
                  </a:ext>
                </a:extLst>
              </p:cNvPr>
              <p:cNvSpPr txBox="1">
                <a:spLocks noRot="1" noChangeAspect="1" noMove="1" noResize="1" noEditPoints="1" noAdjustHandles="1" noChangeArrowheads="1" noChangeShapeType="1" noTextEdit="1"/>
              </p:cNvSpPr>
              <p:nvPr/>
            </p:nvSpPr>
            <p:spPr>
              <a:xfrm>
                <a:off x="6252897" y="1351760"/>
                <a:ext cx="3849189" cy="745460"/>
              </a:xfrm>
              <a:prstGeom prst="rect">
                <a:avLst/>
              </a:prstGeom>
              <a:blipFill>
                <a:blip r:embed="rId3"/>
                <a:stretch>
                  <a:fillRect/>
                </a:stretch>
              </a:blipFill>
            </p:spPr>
            <p:txBody>
              <a:bodyPr/>
              <a:lstStyle/>
              <a:p>
                <a:r>
                  <a:rPr lang="en-US">
                    <a:noFill/>
                  </a:rPr>
                  <a:t> </a:t>
                </a:r>
              </a:p>
            </p:txBody>
          </p:sp>
        </mc:Fallback>
      </mc:AlternateContent>
      <p:grpSp>
        <p:nvGrpSpPr>
          <p:cNvPr id="6" name="Group 5" descr="A picture of the recursion of binary search. We have one box per stack frame in the recursion. Each box is labelled inside with a value that represents the size of the input for that stack frame. Outside each box is labelled with the amount of (non-recursive) work done by that box.&#10;&#10;Each box has an arrow pointing to a box with a smaller input (specifically an input of half the size) to represent the larger box recursively invoking binary search with the smaller input.">
            <a:extLst>
              <a:ext uri="{FF2B5EF4-FFF2-40B4-BE49-F238E27FC236}">
                <a16:creationId xmlns:a16="http://schemas.microsoft.com/office/drawing/2014/main" id="{8A6CD75F-3E86-3DBC-6B7B-34DCC3D199CC}"/>
              </a:ext>
            </a:extLst>
          </p:cNvPr>
          <p:cNvGrpSpPr/>
          <p:nvPr/>
        </p:nvGrpSpPr>
        <p:grpSpPr>
          <a:xfrm>
            <a:off x="7510742" y="2026491"/>
            <a:ext cx="1694875" cy="4253404"/>
            <a:chOff x="7673338" y="1678247"/>
            <a:chExt cx="1694875" cy="4253404"/>
          </a:xfrm>
        </p:grpSpPr>
        <mc:AlternateContent xmlns:mc="http://schemas.openxmlformats.org/markup-compatibility/2006" xmlns:a14="http://schemas.microsoft.com/office/drawing/2010/main">
          <mc:Choice Requires="a14">
            <p:sp>
              <p:nvSpPr>
                <p:cNvPr id="4" name="Text Box 41">
                  <a:extLst>
                    <a:ext uri="{FF2B5EF4-FFF2-40B4-BE49-F238E27FC236}">
                      <a16:creationId xmlns:a16="http://schemas.microsoft.com/office/drawing/2014/main" id="{E7A861BF-0626-CE47-F3EB-D65BF39B7700}"/>
                    </a:ext>
                  </a:extLst>
                </p:cNvPr>
                <p:cNvSpPr txBox="1">
                  <a:spLocks noChangeArrowheads="1"/>
                </p:cNvSpPr>
                <p:nvPr/>
              </p:nvSpPr>
              <p:spPr bwMode="auto">
                <a:xfrm>
                  <a:off x="7673338" y="1825625"/>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a:latin typeface="Cambria Math"/>
                          </a:rPr>
                          <m:t>𝑛</m:t>
                        </m:r>
                      </m:oMath>
                    </m:oMathPara>
                  </a14:m>
                  <a:endParaRPr lang="en-US" sz="2800" dirty="0"/>
                </a:p>
              </p:txBody>
            </p:sp>
          </mc:Choice>
          <mc:Fallback xmlns="">
            <p:sp>
              <p:nvSpPr>
                <p:cNvPr id="4" name="Text Box 41">
                  <a:extLst>
                    <a:ext uri="{FF2B5EF4-FFF2-40B4-BE49-F238E27FC236}">
                      <a16:creationId xmlns:a16="http://schemas.microsoft.com/office/drawing/2014/main" id="{E7A861BF-0626-CE47-F3EB-D65BF39B7700}"/>
                    </a:ext>
                  </a:extLst>
                </p:cNvPr>
                <p:cNvSpPr txBox="1">
                  <a:spLocks noRot="1" noChangeAspect="1" noMove="1" noResize="1" noEditPoints="1" noAdjustHandles="1" noChangeArrowheads="1" noChangeShapeType="1" noTextEdit="1"/>
                </p:cNvSpPr>
                <p:nvPr/>
              </p:nvSpPr>
              <p:spPr bwMode="auto">
                <a:xfrm>
                  <a:off x="7673338" y="1825625"/>
                  <a:ext cx="1333500" cy="457200"/>
                </a:xfrm>
                <a:prstGeom prst="rect">
                  <a:avLst/>
                </a:prstGeom>
                <a:blipFill>
                  <a:blip r:embed="rId4"/>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 Box 41">
                  <a:extLst>
                    <a:ext uri="{FF2B5EF4-FFF2-40B4-BE49-F238E27FC236}">
                      <a16:creationId xmlns:a16="http://schemas.microsoft.com/office/drawing/2014/main" id="{526E2983-A463-A0EE-B0DB-A268A8B8412A}"/>
                    </a:ext>
                  </a:extLst>
                </p:cNvPr>
                <p:cNvSpPr txBox="1">
                  <a:spLocks noChangeArrowheads="1"/>
                </p:cNvSpPr>
                <p:nvPr/>
              </p:nvSpPr>
              <p:spPr bwMode="auto">
                <a:xfrm>
                  <a:off x="7673338" y="263971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smtClean="0">
                            <a:latin typeface="Cambria Math"/>
                          </a:rPr>
                          <m:t>𝑛</m:t>
                        </m:r>
                        <m:r>
                          <a:rPr lang="en-US" sz="2800" b="0" i="1" dirty="0" smtClean="0">
                            <a:latin typeface="Cambria Math" panose="02040503050406030204" pitchFamily="18" charset="0"/>
                          </a:rPr>
                          <m:t>/2</m:t>
                        </m:r>
                      </m:oMath>
                    </m:oMathPara>
                  </a14:m>
                  <a:endParaRPr lang="en-US" sz="2800" dirty="0"/>
                </a:p>
              </p:txBody>
            </p:sp>
          </mc:Choice>
          <mc:Fallback xmlns="">
            <p:sp>
              <p:nvSpPr>
                <p:cNvPr id="5" name="Text Box 41">
                  <a:extLst>
                    <a:ext uri="{FF2B5EF4-FFF2-40B4-BE49-F238E27FC236}">
                      <a16:creationId xmlns:a16="http://schemas.microsoft.com/office/drawing/2014/main" id="{526E2983-A463-A0EE-B0DB-A268A8B8412A}"/>
                    </a:ext>
                  </a:extLst>
                </p:cNvPr>
                <p:cNvSpPr txBox="1">
                  <a:spLocks noRot="1" noChangeAspect="1" noMove="1" noResize="1" noEditPoints="1" noAdjustHandles="1" noChangeArrowheads="1" noChangeShapeType="1" noTextEdit="1"/>
                </p:cNvSpPr>
                <p:nvPr/>
              </p:nvSpPr>
              <p:spPr bwMode="auto">
                <a:xfrm>
                  <a:off x="7673338" y="2639716"/>
                  <a:ext cx="1333500" cy="457200"/>
                </a:xfrm>
                <a:prstGeom prst="rect">
                  <a:avLst/>
                </a:prstGeom>
                <a:blipFill>
                  <a:blip r:embed="rId5"/>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 Box 41">
                  <a:extLst>
                    <a:ext uri="{FF2B5EF4-FFF2-40B4-BE49-F238E27FC236}">
                      <a16:creationId xmlns:a16="http://schemas.microsoft.com/office/drawing/2014/main" id="{2DB49E5C-7AA5-2844-7FEA-F0D4A3178B4D}"/>
                    </a:ext>
                  </a:extLst>
                </p:cNvPr>
                <p:cNvSpPr txBox="1">
                  <a:spLocks noChangeArrowheads="1"/>
                </p:cNvSpPr>
                <p:nvPr/>
              </p:nvSpPr>
              <p:spPr bwMode="auto">
                <a:xfrm>
                  <a:off x="7673338" y="3453998"/>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smtClean="0">
                            <a:latin typeface="Cambria Math"/>
                          </a:rPr>
                          <m:t>𝑛</m:t>
                        </m:r>
                        <m:r>
                          <a:rPr lang="en-US" sz="2800" b="0" i="1" dirty="0" smtClean="0">
                            <a:latin typeface="Cambria Math" panose="02040503050406030204" pitchFamily="18" charset="0"/>
                          </a:rPr>
                          <m:t>/4</m:t>
                        </m:r>
                      </m:oMath>
                    </m:oMathPara>
                  </a14:m>
                  <a:endParaRPr lang="en-US" sz="2800" dirty="0"/>
                </a:p>
              </p:txBody>
            </p:sp>
          </mc:Choice>
          <mc:Fallback xmlns="">
            <p:sp>
              <p:nvSpPr>
                <p:cNvPr id="8" name="Text Box 41">
                  <a:extLst>
                    <a:ext uri="{FF2B5EF4-FFF2-40B4-BE49-F238E27FC236}">
                      <a16:creationId xmlns:a16="http://schemas.microsoft.com/office/drawing/2014/main" id="{2DB49E5C-7AA5-2844-7FEA-F0D4A3178B4D}"/>
                    </a:ext>
                  </a:extLst>
                </p:cNvPr>
                <p:cNvSpPr txBox="1">
                  <a:spLocks noRot="1" noChangeAspect="1" noMove="1" noResize="1" noEditPoints="1" noAdjustHandles="1" noChangeArrowheads="1" noChangeShapeType="1" noTextEdit="1"/>
                </p:cNvSpPr>
                <p:nvPr/>
              </p:nvSpPr>
              <p:spPr bwMode="auto">
                <a:xfrm>
                  <a:off x="7673338" y="3453998"/>
                  <a:ext cx="1333500" cy="457200"/>
                </a:xfrm>
                <a:prstGeom prst="rect">
                  <a:avLst/>
                </a:prstGeom>
                <a:blipFill>
                  <a:blip r:embed="rId6"/>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 Box 41">
                  <a:extLst>
                    <a:ext uri="{FF2B5EF4-FFF2-40B4-BE49-F238E27FC236}">
                      <a16:creationId xmlns:a16="http://schemas.microsoft.com/office/drawing/2014/main" id="{17512E4D-96D0-AC62-9DE6-378647691C59}"/>
                    </a:ext>
                  </a:extLst>
                </p:cNvPr>
                <p:cNvSpPr txBox="1">
                  <a:spLocks noChangeArrowheads="1"/>
                </p:cNvSpPr>
                <p:nvPr/>
              </p:nvSpPr>
              <p:spPr bwMode="auto">
                <a:xfrm>
                  <a:off x="7673338" y="4268280"/>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smtClean="0">
                            <a:latin typeface="Cambria Math"/>
                          </a:rPr>
                          <m:t>𝑛</m:t>
                        </m:r>
                        <m:r>
                          <a:rPr lang="en-US" sz="2800" b="0" i="1" dirty="0" smtClean="0">
                            <a:latin typeface="Cambria Math" panose="02040503050406030204" pitchFamily="18" charset="0"/>
                          </a:rPr>
                          <m:t>/8</m:t>
                        </m:r>
                      </m:oMath>
                    </m:oMathPara>
                  </a14:m>
                  <a:endParaRPr lang="en-US" sz="2800" dirty="0"/>
                </a:p>
              </p:txBody>
            </p:sp>
          </mc:Choice>
          <mc:Fallback xmlns="">
            <p:sp>
              <p:nvSpPr>
                <p:cNvPr id="9" name="Text Box 41">
                  <a:extLst>
                    <a:ext uri="{FF2B5EF4-FFF2-40B4-BE49-F238E27FC236}">
                      <a16:creationId xmlns:a16="http://schemas.microsoft.com/office/drawing/2014/main" id="{17512E4D-96D0-AC62-9DE6-378647691C59}"/>
                    </a:ext>
                  </a:extLst>
                </p:cNvPr>
                <p:cNvSpPr txBox="1">
                  <a:spLocks noRot="1" noChangeAspect="1" noMove="1" noResize="1" noEditPoints="1" noAdjustHandles="1" noChangeArrowheads="1" noChangeShapeType="1" noTextEdit="1"/>
                </p:cNvSpPr>
                <p:nvPr/>
              </p:nvSpPr>
              <p:spPr bwMode="auto">
                <a:xfrm>
                  <a:off x="7673338" y="4268280"/>
                  <a:ext cx="1333500" cy="457200"/>
                </a:xfrm>
                <a:prstGeom prst="rect">
                  <a:avLst/>
                </a:prstGeom>
                <a:blipFill>
                  <a:blip r:embed="rId7"/>
                  <a:stretch>
                    <a:fillRect/>
                  </a:stretch>
                </a:blipFill>
                <a:ln w="9525">
                  <a:solidFill>
                    <a:srgbClr val="FF0000"/>
                  </a:solidFill>
                  <a:miter lim="800000"/>
                  <a:headEnd/>
                  <a:tailEnd/>
                </a:ln>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7C6A9046-97A8-1FAD-BB03-9BB482BBAF1E}"/>
                </a:ext>
              </a:extLst>
            </p:cNvPr>
            <p:cNvCxnSpPr>
              <a:cxnSpLocks/>
              <a:stCxn id="4" idx="2"/>
              <a:endCxn id="5" idx="0"/>
            </p:cNvCxnSpPr>
            <p:nvPr/>
          </p:nvCxnSpPr>
          <p:spPr>
            <a:xfrm>
              <a:off x="8340088" y="2282825"/>
              <a:ext cx="0" cy="356891"/>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1467D28-1318-9063-0540-C3E454C67874}"/>
                </a:ext>
              </a:extLst>
            </p:cNvPr>
            <p:cNvCxnSpPr>
              <a:cxnSpLocks/>
              <a:stCxn id="5" idx="2"/>
              <a:endCxn id="8" idx="0"/>
            </p:cNvCxnSpPr>
            <p:nvPr/>
          </p:nvCxnSpPr>
          <p:spPr>
            <a:xfrm>
              <a:off x="8340088" y="3096916"/>
              <a:ext cx="0" cy="3570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C2CACAE-D845-C8E4-F943-E9AE13D618B6}"/>
                </a:ext>
              </a:extLst>
            </p:cNvPr>
            <p:cNvCxnSpPr>
              <a:cxnSpLocks/>
              <a:stCxn id="8" idx="2"/>
              <a:endCxn id="9" idx="0"/>
            </p:cNvCxnSpPr>
            <p:nvPr/>
          </p:nvCxnSpPr>
          <p:spPr>
            <a:xfrm>
              <a:off x="8340088" y="3911198"/>
              <a:ext cx="0" cy="3570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 Box 41">
                  <a:extLst>
                    <a:ext uri="{FF2B5EF4-FFF2-40B4-BE49-F238E27FC236}">
                      <a16:creationId xmlns:a16="http://schemas.microsoft.com/office/drawing/2014/main" id="{BD5DB48A-B532-2E68-E804-2C1AEECBA684}"/>
                    </a:ext>
                  </a:extLst>
                </p:cNvPr>
                <p:cNvSpPr txBox="1">
                  <a:spLocks noChangeArrowheads="1"/>
                </p:cNvSpPr>
                <p:nvPr/>
              </p:nvSpPr>
              <p:spPr bwMode="auto">
                <a:xfrm>
                  <a:off x="7673338" y="5474451"/>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1</m:t>
                        </m:r>
                      </m:oMath>
                    </m:oMathPara>
                  </a14:m>
                  <a:endParaRPr lang="en-US" sz="2800" dirty="0"/>
                </a:p>
              </p:txBody>
            </p:sp>
          </mc:Choice>
          <mc:Fallback xmlns="">
            <p:sp>
              <p:nvSpPr>
                <p:cNvPr id="20" name="Text Box 41">
                  <a:extLst>
                    <a:ext uri="{FF2B5EF4-FFF2-40B4-BE49-F238E27FC236}">
                      <a16:creationId xmlns:a16="http://schemas.microsoft.com/office/drawing/2014/main" id="{BD5DB48A-B532-2E68-E804-2C1AEECBA684}"/>
                    </a:ext>
                  </a:extLst>
                </p:cNvPr>
                <p:cNvSpPr txBox="1">
                  <a:spLocks noRot="1" noChangeAspect="1" noMove="1" noResize="1" noEditPoints="1" noAdjustHandles="1" noChangeArrowheads="1" noChangeShapeType="1" noTextEdit="1"/>
                </p:cNvSpPr>
                <p:nvPr/>
              </p:nvSpPr>
              <p:spPr bwMode="auto">
                <a:xfrm>
                  <a:off x="7673338" y="5474451"/>
                  <a:ext cx="1333500" cy="457200"/>
                </a:xfrm>
                <a:prstGeom prst="rect">
                  <a:avLst/>
                </a:prstGeom>
                <a:blipFill>
                  <a:blip r:embed="rId8"/>
                  <a:stretch>
                    <a:fillRect/>
                  </a:stretch>
                </a:blipFill>
                <a:ln w="9525">
                  <a:solidFill>
                    <a:srgbClr val="FF0000"/>
                  </a:solidFill>
                  <a:miter lim="800000"/>
                  <a:headEnd/>
                  <a:tailEnd/>
                </a:ln>
              </p:spPr>
              <p:txBody>
                <a:bodyPr/>
                <a:lstStyle/>
                <a:p>
                  <a:r>
                    <a:rPr lang="en-US">
                      <a:noFill/>
                    </a:rPr>
                    <a:t> </a:t>
                  </a:r>
                </a:p>
              </p:txBody>
            </p:sp>
          </mc:Fallback>
        </mc:AlternateContent>
        <p:cxnSp>
          <p:nvCxnSpPr>
            <p:cNvPr id="21" name="Straight Connector 20">
              <a:extLst>
                <a:ext uri="{FF2B5EF4-FFF2-40B4-BE49-F238E27FC236}">
                  <a16:creationId xmlns:a16="http://schemas.microsoft.com/office/drawing/2014/main" id="{2559CB69-DCE6-7974-5537-E6969488B3D5}"/>
                </a:ext>
              </a:extLst>
            </p:cNvPr>
            <p:cNvCxnSpPr>
              <a:cxnSpLocks/>
              <a:stCxn id="9" idx="2"/>
            </p:cNvCxnSpPr>
            <p:nvPr/>
          </p:nvCxnSpPr>
          <p:spPr>
            <a:xfrm>
              <a:off x="8340088" y="4725480"/>
              <a:ext cx="0" cy="255823"/>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445BA787-0977-811B-55E2-A5A1337C969B}"/>
                </a:ext>
              </a:extLst>
            </p:cNvPr>
            <p:cNvSpPr/>
            <p:nvPr/>
          </p:nvSpPr>
          <p:spPr>
            <a:xfrm>
              <a:off x="8052990" y="4660169"/>
              <a:ext cx="574196" cy="769441"/>
            </a:xfrm>
            <a:prstGeom prst="rect">
              <a:avLst/>
            </a:prstGeom>
          </p:spPr>
          <p:txBody>
            <a:bodyPr wrap="none">
              <a:spAutoFit/>
            </a:bodyPr>
            <a:lstStyle/>
            <a:p>
              <a:r>
                <a:rPr lang="en-US" sz="4400" dirty="0"/>
                <a:t>…</a:t>
              </a: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C58F77F7-7D60-EB65-A215-0D854398CFCA}"/>
                    </a:ext>
                  </a:extLst>
                </p:cNvPr>
                <p:cNvSpPr txBox="1"/>
                <p:nvPr/>
              </p:nvSpPr>
              <p:spPr>
                <a:xfrm>
                  <a:off x="9002408" y="1678247"/>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27" name="TextBox 26">
                  <a:extLst>
                    <a:ext uri="{FF2B5EF4-FFF2-40B4-BE49-F238E27FC236}">
                      <a16:creationId xmlns:a16="http://schemas.microsoft.com/office/drawing/2014/main" id="{C58F77F7-7D60-EB65-A215-0D854398CFCA}"/>
                    </a:ext>
                  </a:extLst>
                </p:cNvPr>
                <p:cNvSpPr txBox="1">
                  <a:spLocks noRot="1" noChangeAspect="1" noMove="1" noResize="1" noEditPoints="1" noAdjustHandles="1" noChangeArrowheads="1" noChangeShapeType="1" noTextEdit="1"/>
                </p:cNvSpPr>
                <p:nvPr/>
              </p:nvSpPr>
              <p:spPr>
                <a:xfrm>
                  <a:off x="9002408" y="1678247"/>
                  <a:ext cx="365805"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722D0772-8582-C391-0488-93C9175AC40C}"/>
                    </a:ext>
                  </a:extLst>
                </p:cNvPr>
                <p:cNvSpPr txBox="1"/>
                <p:nvPr/>
              </p:nvSpPr>
              <p:spPr>
                <a:xfrm>
                  <a:off x="9002407" y="2525515"/>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28" name="TextBox 27">
                  <a:extLst>
                    <a:ext uri="{FF2B5EF4-FFF2-40B4-BE49-F238E27FC236}">
                      <a16:creationId xmlns:a16="http://schemas.microsoft.com/office/drawing/2014/main" id="{722D0772-8582-C391-0488-93C9175AC40C}"/>
                    </a:ext>
                  </a:extLst>
                </p:cNvPr>
                <p:cNvSpPr txBox="1">
                  <a:spLocks noRot="1" noChangeAspect="1" noMove="1" noResize="1" noEditPoints="1" noAdjustHandles="1" noChangeArrowheads="1" noChangeShapeType="1" noTextEdit="1"/>
                </p:cNvSpPr>
                <p:nvPr/>
              </p:nvSpPr>
              <p:spPr>
                <a:xfrm>
                  <a:off x="9002407" y="2525515"/>
                  <a:ext cx="365805"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5218D935-1EA5-3D30-6436-E62E0AF4623E}"/>
                    </a:ext>
                  </a:extLst>
                </p:cNvPr>
                <p:cNvSpPr txBox="1"/>
                <p:nvPr/>
              </p:nvSpPr>
              <p:spPr>
                <a:xfrm>
                  <a:off x="9002407" y="3348473"/>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29" name="TextBox 28">
                  <a:extLst>
                    <a:ext uri="{FF2B5EF4-FFF2-40B4-BE49-F238E27FC236}">
                      <a16:creationId xmlns:a16="http://schemas.microsoft.com/office/drawing/2014/main" id="{5218D935-1EA5-3D30-6436-E62E0AF4623E}"/>
                    </a:ext>
                  </a:extLst>
                </p:cNvPr>
                <p:cNvSpPr txBox="1">
                  <a:spLocks noRot="1" noChangeAspect="1" noMove="1" noResize="1" noEditPoints="1" noAdjustHandles="1" noChangeArrowheads="1" noChangeShapeType="1" noTextEdit="1"/>
                </p:cNvSpPr>
                <p:nvPr/>
              </p:nvSpPr>
              <p:spPr>
                <a:xfrm>
                  <a:off x="9002407" y="3348473"/>
                  <a:ext cx="365805"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A48A35A-F221-0772-DE4C-D3264E78EC79}"/>
                    </a:ext>
                  </a:extLst>
                </p:cNvPr>
                <p:cNvSpPr txBox="1"/>
                <p:nvPr/>
              </p:nvSpPr>
              <p:spPr>
                <a:xfrm>
                  <a:off x="9002407" y="4171431"/>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30" name="TextBox 29">
                  <a:extLst>
                    <a:ext uri="{FF2B5EF4-FFF2-40B4-BE49-F238E27FC236}">
                      <a16:creationId xmlns:a16="http://schemas.microsoft.com/office/drawing/2014/main" id="{FA48A35A-F221-0772-DE4C-D3264E78EC79}"/>
                    </a:ext>
                  </a:extLst>
                </p:cNvPr>
                <p:cNvSpPr txBox="1">
                  <a:spLocks noRot="1" noChangeAspect="1" noMove="1" noResize="1" noEditPoints="1" noAdjustHandles="1" noChangeArrowheads="1" noChangeShapeType="1" noTextEdit="1"/>
                </p:cNvSpPr>
                <p:nvPr/>
              </p:nvSpPr>
              <p:spPr>
                <a:xfrm>
                  <a:off x="9002407" y="4171431"/>
                  <a:ext cx="365805"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9CF95495-3C2E-4DF2-EEBF-4AC317B24405}"/>
                    </a:ext>
                  </a:extLst>
                </p:cNvPr>
                <p:cNvSpPr txBox="1"/>
                <p:nvPr/>
              </p:nvSpPr>
              <p:spPr>
                <a:xfrm>
                  <a:off x="8988938" y="5344243"/>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31" name="TextBox 30">
                  <a:extLst>
                    <a:ext uri="{FF2B5EF4-FFF2-40B4-BE49-F238E27FC236}">
                      <a16:creationId xmlns:a16="http://schemas.microsoft.com/office/drawing/2014/main" id="{9CF95495-3C2E-4DF2-EEBF-4AC317B24405}"/>
                    </a:ext>
                  </a:extLst>
                </p:cNvPr>
                <p:cNvSpPr txBox="1">
                  <a:spLocks noRot="1" noChangeAspect="1" noMove="1" noResize="1" noEditPoints="1" noAdjustHandles="1" noChangeArrowheads="1" noChangeShapeType="1" noTextEdit="1"/>
                </p:cNvSpPr>
                <p:nvPr/>
              </p:nvSpPr>
              <p:spPr>
                <a:xfrm>
                  <a:off x="8988938" y="5344243"/>
                  <a:ext cx="365805" cy="369332"/>
                </a:xfrm>
                <a:prstGeom prst="rect">
                  <a:avLst/>
                </a:prstGeom>
                <a:blipFill>
                  <a:blip r:embed="rId12"/>
                  <a:stretch>
                    <a:fillRect/>
                  </a:stretch>
                </a:blipFill>
              </p:spPr>
              <p:txBody>
                <a:bodyPr/>
                <a:lstStyle/>
                <a:p>
                  <a:r>
                    <a:rPr lang="en-US">
                      <a:noFill/>
                    </a:rPr>
                    <a:t> </a:t>
                  </a:r>
                </a:p>
              </p:txBody>
            </p:sp>
          </mc:Fallback>
        </mc:AlternateContent>
      </p:grpSp>
      <p:sp>
        <p:nvSpPr>
          <p:cNvPr id="32" name="Left Brace 31" descr="Because we need to make log_2(n) recursive calls before reaching a base case, the height of this chain of stackframes is log_2(n).">
            <a:extLst>
              <a:ext uri="{FF2B5EF4-FFF2-40B4-BE49-F238E27FC236}">
                <a16:creationId xmlns:a16="http://schemas.microsoft.com/office/drawing/2014/main" id="{AB522D64-0FDA-0C3B-396A-2F0191CC116C}"/>
              </a:ext>
              <a:ext uri="{C183D7F6-B498-43B3-948B-1728B52AA6E4}">
                <adec:decorative xmlns:adec="http://schemas.microsoft.com/office/drawing/2017/decorative" val="0"/>
              </a:ext>
            </a:extLst>
          </p:cNvPr>
          <p:cNvSpPr/>
          <p:nvPr/>
        </p:nvSpPr>
        <p:spPr>
          <a:xfrm flipH="1" flipV="1">
            <a:off x="9668473" y="2045793"/>
            <a:ext cx="325192" cy="4234101"/>
          </a:xfrm>
          <a:prstGeom prst="leftBrace">
            <a:avLst>
              <a:gd name="adj1" fmla="val 83199"/>
              <a:gd name="adj2" fmla="val 49631"/>
            </a:avLst>
          </a:prstGeom>
          <a:ln w="19050">
            <a:solidFill>
              <a:srgbClr val="FF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33" name="Text Box 2">
                <a:extLst>
                  <a:ext uri="{FF2B5EF4-FFF2-40B4-BE49-F238E27FC236}">
                    <a16:creationId xmlns:a16="http://schemas.microsoft.com/office/drawing/2014/main" id="{52F20E8C-E391-FFF9-D4BD-C29BBABEF110}"/>
                  </a:ext>
                </a:extLst>
              </p:cNvPr>
              <p:cNvSpPr txBox="1">
                <a:spLocks noChangeArrowheads="1"/>
              </p:cNvSpPr>
              <p:nvPr/>
            </p:nvSpPr>
            <p:spPr bwMode="auto">
              <a:xfrm>
                <a:off x="9831069" y="3750234"/>
                <a:ext cx="2312388" cy="954107"/>
              </a:xfrm>
              <a:prstGeom prst="rect">
                <a:avLst/>
              </a:prstGeom>
              <a:noFill/>
              <a:ln w="9525">
                <a:noFill/>
                <a:miter lim="800000"/>
                <a:headEnd/>
                <a:tailEnd/>
              </a:ln>
            </p:spPr>
            <p:txBody>
              <a:bodyPr wrap="square">
                <a:spAutoFit/>
              </a:bodyPr>
              <a:lstStyle/>
              <a:p>
                <a:pPr algn="ctr"/>
                <a14:m>
                  <m:oMath xmlns:m="http://schemas.openxmlformats.org/officeDocument/2006/math">
                    <m:sSub>
                      <m:sSubPr>
                        <m:ctrlPr>
                          <a:rPr lang="en-US" sz="2800" i="1" dirty="0">
                            <a:solidFill>
                              <a:srgbClr val="FF00FF"/>
                            </a:solidFill>
                            <a:latin typeface="Cambria Math" panose="02040503050406030204" pitchFamily="18" charset="0"/>
                          </a:rPr>
                        </m:ctrlPr>
                      </m:sSubPr>
                      <m:e>
                        <m:r>
                          <m:rPr>
                            <m:sty m:val="p"/>
                          </m:rPr>
                          <a:rPr lang="en-US" sz="2800" dirty="0">
                            <a:solidFill>
                              <a:srgbClr val="FF00FF"/>
                            </a:solidFill>
                            <a:latin typeface="Cambria Math"/>
                          </a:rPr>
                          <m:t>log</m:t>
                        </m:r>
                      </m:e>
                      <m:sub>
                        <m:r>
                          <a:rPr lang="en-US" sz="2800" i="1" dirty="0">
                            <a:solidFill>
                              <a:srgbClr val="FF00FF"/>
                            </a:solidFill>
                            <a:latin typeface="Cambria Math"/>
                          </a:rPr>
                          <m:t>2</m:t>
                        </m:r>
                      </m:sub>
                    </m:sSub>
                    <m:r>
                      <a:rPr lang="en-US" sz="2800" i="1" dirty="0">
                        <a:solidFill>
                          <a:srgbClr val="FF00FF"/>
                        </a:solidFill>
                        <a:latin typeface="Cambria Math"/>
                      </a:rPr>
                      <m:t>⁡</m:t>
                    </m:r>
                    <m:r>
                      <a:rPr lang="en-US" sz="2800" i="1" dirty="0">
                        <a:solidFill>
                          <a:srgbClr val="FF00FF"/>
                        </a:solidFill>
                        <a:latin typeface="Cambria Math"/>
                      </a:rPr>
                      <m:t>𝑛</m:t>
                    </m:r>
                  </m:oMath>
                </a14:m>
                <a:r>
                  <a:rPr lang="en-US" sz="2800" dirty="0">
                    <a:solidFill>
                      <a:srgbClr val="FF00FF"/>
                    </a:solidFill>
                  </a:rPr>
                  <a:t> </a:t>
                </a:r>
                <a:r>
                  <a:rPr lang="en-US" sz="2800" dirty="0"/>
                  <a:t>levels</a:t>
                </a:r>
              </a:p>
              <a:p>
                <a:pPr algn="ctr"/>
                <a:r>
                  <a:rPr lang="en-US" sz="2800" dirty="0"/>
                  <a:t>of recursion</a:t>
                </a:r>
              </a:p>
            </p:txBody>
          </p:sp>
        </mc:Choice>
        <mc:Fallback xmlns="">
          <p:sp>
            <p:nvSpPr>
              <p:cNvPr id="33" name="Text Box 2">
                <a:extLst>
                  <a:ext uri="{FF2B5EF4-FFF2-40B4-BE49-F238E27FC236}">
                    <a16:creationId xmlns:a16="http://schemas.microsoft.com/office/drawing/2014/main" id="{52F20E8C-E391-FFF9-D4BD-C29BBABEF110}"/>
                  </a:ext>
                </a:extLst>
              </p:cNvPr>
              <p:cNvSpPr txBox="1">
                <a:spLocks noRot="1" noChangeAspect="1" noMove="1" noResize="1" noEditPoints="1" noAdjustHandles="1" noChangeArrowheads="1" noChangeShapeType="1" noTextEdit="1"/>
              </p:cNvSpPr>
              <p:nvPr/>
            </p:nvSpPr>
            <p:spPr bwMode="auto">
              <a:xfrm>
                <a:off x="9831069" y="3750234"/>
                <a:ext cx="2312388" cy="954107"/>
              </a:xfrm>
              <a:prstGeom prst="rect">
                <a:avLst/>
              </a:prstGeom>
              <a:blipFill>
                <a:blip r:embed="rId13"/>
                <a:stretch>
                  <a:fillRect t="-5732" b="-17197"/>
                </a:stretch>
              </a:blipFill>
              <a:ln w="9525">
                <a:noFill/>
                <a:miter lim="800000"/>
                <a:headEnd/>
                <a:tailEnd/>
              </a:ln>
            </p:spPr>
            <p:txBody>
              <a:bodyPr/>
              <a:lstStyle/>
              <a:p>
                <a:r>
                  <a:rPr lang="en-US">
                    <a:noFill/>
                  </a:rPr>
                  <a:t> </a:t>
                </a:r>
              </a:p>
            </p:txBody>
          </p:sp>
        </mc:Fallback>
      </mc:AlternateContent>
      <p:sp>
        <p:nvSpPr>
          <p:cNvPr id="34" name="TextBox 33">
            <a:extLst>
              <a:ext uri="{FF2B5EF4-FFF2-40B4-BE49-F238E27FC236}">
                <a16:creationId xmlns:a16="http://schemas.microsoft.com/office/drawing/2014/main" id="{C9BA210D-0C67-7E82-28CD-4DD3AE7466AD}"/>
              </a:ext>
            </a:extLst>
          </p:cNvPr>
          <p:cNvSpPr txBox="1"/>
          <p:nvPr/>
        </p:nvSpPr>
        <p:spPr>
          <a:xfrm>
            <a:off x="555429" y="4786136"/>
            <a:ext cx="5025928" cy="830997"/>
          </a:xfrm>
          <a:prstGeom prst="rect">
            <a:avLst/>
          </a:prstGeom>
          <a:noFill/>
        </p:spPr>
        <p:txBody>
          <a:bodyPr wrap="none" rtlCol="0">
            <a:spAutoFit/>
          </a:bodyPr>
          <a:lstStyle/>
          <a:p>
            <a:r>
              <a:rPr lang="en-US" sz="4800" dirty="0">
                <a:solidFill>
                  <a:srgbClr val="FFC000"/>
                </a:solidFill>
              </a:rPr>
              <a:t>The “Tree Method”</a:t>
            </a:r>
          </a:p>
        </p:txBody>
      </p:sp>
    </p:spTree>
    <p:extLst>
      <p:ext uri="{BB962C8B-B14F-4D97-AF65-F5344CB8AC3E}">
        <p14:creationId xmlns:p14="http://schemas.microsoft.com/office/powerpoint/2010/main" val="94989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500"/>
                                        <p:tgtEl>
                                          <p:spTgt spid="3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fade">
                                      <p:cBhvr>
                                        <p:cTn id="15"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p:bldP spid="3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A4C94-F173-BE79-8469-02F227EC3400}"/>
              </a:ext>
            </a:extLst>
          </p:cNvPr>
          <p:cNvSpPr>
            <a:spLocks noGrp="1"/>
          </p:cNvSpPr>
          <p:nvPr>
            <p:ph type="title"/>
          </p:nvPr>
        </p:nvSpPr>
        <p:spPr/>
        <p:txBody>
          <a:bodyPr/>
          <a:lstStyle/>
          <a:p>
            <a:r>
              <a:rPr lang="en-US" dirty="0"/>
              <a:t>Recursive Linear Search</a:t>
            </a:r>
          </a:p>
        </p:txBody>
      </p:sp>
      <p:sp>
        <p:nvSpPr>
          <p:cNvPr id="3" name="Content Placeholder 2">
            <a:extLst>
              <a:ext uri="{FF2B5EF4-FFF2-40B4-BE49-F238E27FC236}">
                <a16:creationId xmlns:a16="http://schemas.microsoft.com/office/drawing/2014/main" id="{3CDB7A4A-B366-CC17-877C-2EB95A8A5352}"/>
              </a:ext>
            </a:extLst>
          </p:cNvPr>
          <p:cNvSpPr>
            <a:spLocks noGrp="1"/>
          </p:cNvSpPr>
          <p:nvPr>
            <p:ph idx="1"/>
          </p:nvPr>
        </p:nvSpPr>
        <p:spPr/>
        <p:txBody>
          <a:bodyPr>
            <a:normAutofit/>
          </a:bodyPr>
          <a:lstStyle/>
          <a:p>
            <a:pPr marL="0" indent="0">
              <a:buNone/>
            </a:pPr>
            <a:r>
              <a:rPr lang="en-US" sz="1600" b="0" dirty="0">
                <a:solidFill>
                  <a:srgbClr val="0000FF"/>
                </a:solidFill>
                <a:effectLst/>
                <a:highlight>
                  <a:srgbClr val="FFFFFF"/>
                </a:highlight>
                <a:latin typeface="Consolas" panose="020B0609020204030204" pitchFamily="49" charset="0"/>
              </a:rPr>
              <a:t>public</a:t>
            </a:r>
            <a:r>
              <a:rPr lang="en-US" sz="1600" b="0" dirty="0">
                <a:solidFill>
                  <a:srgbClr val="000000"/>
                </a:solidFill>
                <a:effectLst/>
                <a:highlight>
                  <a:srgbClr val="FFFFFF"/>
                </a:highlight>
                <a:latin typeface="Consolas" panose="020B0609020204030204" pitchFamily="49" charset="0"/>
              </a:rPr>
              <a:t> </a:t>
            </a:r>
            <a:r>
              <a:rPr lang="en-US" sz="1600" b="0" dirty="0">
                <a:solidFill>
                  <a:srgbClr val="0000FF"/>
                </a:solidFill>
                <a:effectLst/>
                <a:highlight>
                  <a:srgbClr val="FFFFFF"/>
                </a:highlight>
                <a:latin typeface="Consolas" panose="020B0609020204030204" pitchFamily="49" charset="0"/>
              </a:rPr>
              <a:t>static</a:t>
            </a:r>
            <a:r>
              <a:rPr lang="en-US" sz="1600" b="0" dirty="0">
                <a:solidFill>
                  <a:srgbClr val="000000"/>
                </a:solidFill>
                <a:effectLst/>
                <a:highlight>
                  <a:srgbClr val="FFFFFF"/>
                </a:highlight>
                <a:latin typeface="Consolas" panose="020B0609020204030204" pitchFamily="49" charset="0"/>
              </a:rPr>
              <a:t> </a:t>
            </a:r>
            <a:r>
              <a:rPr lang="en-US" sz="1600" b="0" dirty="0" err="1">
                <a:solidFill>
                  <a:srgbClr val="0000FF"/>
                </a:solidFill>
                <a:effectLst/>
                <a:highlight>
                  <a:srgbClr val="FFFFFF"/>
                </a:highlight>
                <a:latin typeface="Consolas" panose="020B0609020204030204" pitchFamily="49" charset="0"/>
              </a:rPr>
              <a:t>boolean</a:t>
            </a:r>
            <a:r>
              <a:rPr lang="en-US" sz="1600" b="0" dirty="0">
                <a:solidFill>
                  <a:srgbClr val="000000"/>
                </a:solidFill>
                <a:effectLst/>
                <a:highlight>
                  <a:srgbClr val="FFFFFF"/>
                </a:highlight>
                <a:latin typeface="Consolas" panose="020B0609020204030204" pitchFamily="49" charset="0"/>
              </a:rPr>
              <a:t> </a:t>
            </a:r>
            <a:r>
              <a:rPr lang="en-US" sz="1600" b="0" dirty="0" err="1">
                <a:solidFill>
                  <a:srgbClr val="000000"/>
                </a:solidFill>
                <a:effectLst/>
                <a:highlight>
                  <a:srgbClr val="FFFFFF"/>
                </a:highlight>
                <a:latin typeface="Consolas" panose="020B0609020204030204" pitchFamily="49" charset="0"/>
              </a:rPr>
              <a:t>linearSearch</a:t>
            </a:r>
            <a:r>
              <a:rPr lang="en-US" sz="1600" b="0" dirty="0">
                <a:solidFill>
                  <a:srgbClr val="000000"/>
                </a:solidFill>
                <a:effectLst/>
                <a:highlight>
                  <a:srgbClr val="FFFFFF"/>
                </a:highlight>
                <a:latin typeface="Consolas" panose="020B0609020204030204" pitchFamily="49" charset="0"/>
              </a:rPr>
              <a:t>(</a:t>
            </a:r>
            <a:r>
              <a:rPr lang="en-US" sz="1600" b="0" dirty="0">
                <a:solidFill>
                  <a:srgbClr val="0000FF"/>
                </a:solidFill>
                <a:effectLst/>
                <a:highlight>
                  <a:srgbClr val="FFFFFF"/>
                </a:highlight>
                <a:latin typeface="Consolas" panose="020B0609020204030204" pitchFamily="49" charset="0"/>
              </a:rPr>
              <a:t>List</a:t>
            </a:r>
            <a:r>
              <a:rPr lang="en-US" sz="1600" b="0" dirty="0">
                <a:solidFill>
                  <a:srgbClr val="000000"/>
                </a:solidFill>
                <a:effectLst/>
                <a:highlight>
                  <a:srgbClr val="FFFFFF"/>
                </a:highlight>
                <a:latin typeface="Consolas" panose="020B0609020204030204" pitchFamily="49" charset="0"/>
              </a:rPr>
              <a:t>&lt;</a:t>
            </a:r>
            <a:r>
              <a:rPr lang="en-US" sz="1600" b="0" dirty="0">
                <a:solidFill>
                  <a:srgbClr val="0000FF"/>
                </a:solidFill>
                <a:effectLst/>
                <a:highlight>
                  <a:srgbClr val="FFFFFF"/>
                </a:highlight>
                <a:latin typeface="Consolas" panose="020B0609020204030204" pitchFamily="49" charset="0"/>
              </a:rPr>
              <a:t>Integer</a:t>
            </a:r>
            <a:r>
              <a:rPr lang="en-US" sz="1600" b="0" dirty="0">
                <a:solidFill>
                  <a:srgbClr val="000000"/>
                </a:solidFill>
                <a:effectLst/>
                <a:highlight>
                  <a:srgbClr val="FFFFFF"/>
                </a:highlight>
                <a:latin typeface="Consolas" panose="020B0609020204030204" pitchFamily="49" charset="0"/>
              </a:rPr>
              <a:t>&gt; </a:t>
            </a:r>
            <a:r>
              <a:rPr lang="en-US" sz="1600" b="0" dirty="0" err="1">
                <a:solidFill>
                  <a:srgbClr val="000000"/>
                </a:solidFill>
                <a:effectLst/>
                <a:highlight>
                  <a:srgbClr val="FFFFFF"/>
                </a:highlight>
                <a:latin typeface="Consolas" panose="020B0609020204030204" pitchFamily="49" charset="0"/>
              </a:rPr>
              <a:t>lst</a:t>
            </a:r>
            <a:r>
              <a:rPr lang="en-US" sz="1600" b="0" dirty="0">
                <a:solidFill>
                  <a:srgbClr val="000000"/>
                </a:solidFill>
                <a:effectLst/>
                <a:highlight>
                  <a:srgbClr val="FFFFFF"/>
                </a:highlight>
                <a:latin typeface="Consolas" panose="020B0609020204030204" pitchFamily="49" charset="0"/>
              </a:rPr>
              <a:t>, </a:t>
            </a:r>
            <a:r>
              <a:rPr lang="en-US" sz="1600" b="0" dirty="0">
                <a:solidFill>
                  <a:srgbClr val="0000FF"/>
                </a:solidFill>
                <a:effectLst/>
                <a:highlight>
                  <a:srgbClr val="FFFFFF"/>
                </a:highlight>
                <a:latin typeface="Consolas" panose="020B0609020204030204" pitchFamily="49" charset="0"/>
              </a:rPr>
              <a:t>int</a:t>
            </a:r>
            <a:r>
              <a:rPr lang="en-US" sz="1600" b="0" dirty="0">
                <a:solidFill>
                  <a:srgbClr val="000000"/>
                </a:solidFill>
                <a:effectLst/>
                <a:highlight>
                  <a:srgbClr val="FFFFFF"/>
                </a:highlight>
                <a:latin typeface="Consolas" panose="020B0609020204030204" pitchFamily="49" charset="0"/>
              </a:rPr>
              <a:t> k){</a:t>
            </a:r>
          </a:p>
          <a:p>
            <a:pPr marL="0" indent="0">
              <a:buNone/>
            </a:pPr>
            <a:r>
              <a:rPr lang="en-US" sz="1600" b="0" dirty="0">
                <a:solidFill>
                  <a:srgbClr val="000000"/>
                </a:solidFill>
                <a:effectLst/>
                <a:highlight>
                  <a:srgbClr val="FFFFFF"/>
                </a:highlight>
                <a:latin typeface="Consolas" panose="020B0609020204030204" pitchFamily="49" charset="0"/>
              </a:rPr>
              <a:t>        </a:t>
            </a:r>
            <a:r>
              <a:rPr lang="en-US" sz="1600" b="0" dirty="0">
                <a:solidFill>
                  <a:srgbClr val="0000FF"/>
                </a:solidFill>
                <a:effectLst/>
                <a:highlight>
                  <a:srgbClr val="FFFFFF"/>
                </a:highlight>
                <a:latin typeface="Consolas" panose="020B0609020204030204" pitchFamily="49" charset="0"/>
              </a:rPr>
              <a:t>return</a:t>
            </a:r>
            <a:r>
              <a:rPr lang="en-US" sz="1600" b="0" dirty="0">
                <a:solidFill>
                  <a:srgbClr val="000000"/>
                </a:solidFill>
                <a:effectLst/>
                <a:highlight>
                  <a:srgbClr val="FFFFFF"/>
                </a:highlight>
                <a:latin typeface="Consolas" panose="020B0609020204030204" pitchFamily="49" charset="0"/>
              </a:rPr>
              <a:t> </a:t>
            </a:r>
            <a:r>
              <a:rPr lang="en-US" sz="1600" b="0" dirty="0" err="1">
                <a:solidFill>
                  <a:srgbClr val="000000"/>
                </a:solidFill>
                <a:effectLst/>
                <a:highlight>
                  <a:srgbClr val="FFFFFF"/>
                </a:highlight>
                <a:latin typeface="Consolas" panose="020B0609020204030204" pitchFamily="49" charset="0"/>
              </a:rPr>
              <a:t>linearSearch</a:t>
            </a:r>
            <a:r>
              <a:rPr lang="en-US" sz="1600" b="0" dirty="0">
                <a:solidFill>
                  <a:srgbClr val="000000"/>
                </a:solidFill>
                <a:effectLst/>
                <a:highlight>
                  <a:srgbClr val="FFFFFF"/>
                </a:highlight>
                <a:latin typeface="Consolas" panose="020B0609020204030204" pitchFamily="49" charset="0"/>
              </a:rPr>
              <a:t>(</a:t>
            </a:r>
            <a:r>
              <a:rPr lang="en-US" sz="1600" b="0" dirty="0" err="1">
                <a:solidFill>
                  <a:srgbClr val="000000"/>
                </a:solidFill>
                <a:effectLst/>
                <a:highlight>
                  <a:srgbClr val="FFFFFF"/>
                </a:highlight>
                <a:latin typeface="Consolas" panose="020B0609020204030204" pitchFamily="49" charset="0"/>
              </a:rPr>
              <a:t>lst</a:t>
            </a:r>
            <a:r>
              <a:rPr lang="en-US" sz="1600" b="0" dirty="0">
                <a:solidFill>
                  <a:srgbClr val="000000"/>
                </a:solidFill>
                <a:effectLst/>
                <a:highlight>
                  <a:srgbClr val="FFFFFF"/>
                </a:highlight>
                <a:latin typeface="Consolas" panose="020B0609020204030204" pitchFamily="49" charset="0"/>
              </a:rPr>
              <a:t>, k, </a:t>
            </a:r>
            <a:r>
              <a:rPr lang="en-US" sz="1600" b="0" dirty="0">
                <a:solidFill>
                  <a:srgbClr val="098658"/>
                </a:solidFill>
                <a:effectLst/>
                <a:highlight>
                  <a:srgbClr val="FFFFFF"/>
                </a:highlight>
                <a:latin typeface="Consolas" panose="020B0609020204030204" pitchFamily="49" charset="0"/>
              </a:rPr>
              <a:t>0</a:t>
            </a:r>
            <a:r>
              <a:rPr lang="en-US" sz="1600" b="0" dirty="0">
                <a:solidFill>
                  <a:srgbClr val="000000"/>
                </a:solidFill>
                <a:effectLst/>
                <a:highlight>
                  <a:srgbClr val="FFFFFF"/>
                </a:highlight>
                <a:latin typeface="Consolas" panose="020B0609020204030204" pitchFamily="49" charset="0"/>
              </a:rPr>
              <a:t>, </a:t>
            </a:r>
            <a:r>
              <a:rPr lang="en-US" sz="1600" b="0" dirty="0" err="1">
                <a:solidFill>
                  <a:srgbClr val="000000"/>
                </a:solidFill>
                <a:effectLst/>
                <a:highlight>
                  <a:srgbClr val="FFFFFF"/>
                </a:highlight>
                <a:latin typeface="Consolas" panose="020B0609020204030204" pitchFamily="49" charset="0"/>
              </a:rPr>
              <a:t>lst.size</a:t>
            </a:r>
            <a:r>
              <a:rPr lang="en-US" sz="1600" b="0" dirty="0">
                <a:solidFill>
                  <a:srgbClr val="000000"/>
                </a:solidFill>
                <a:effectLst/>
                <a:highlight>
                  <a:srgbClr val="FFFFFF"/>
                </a:highlight>
                <a:latin typeface="Consolas" panose="020B0609020204030204" pitchFamily="49" charset="0"/>
              </a:rPr>
              <a:t>());</a:t>
            </a:r>
          </a:p>
          <a:p>
            <a:pPr marL="0" indent="0">
              <a:buNone/>
            </a:pPr>
            <a:r>
              <a:rPr lang="en-US" sz="1600" b="0" dirty="0">
                <a:solidFill>
                  <a:srgbClr val="000000"/>
                </a:solidFill>
                <a:effectLst/>
                <a:highlight>
                  <a:srgbClr val="FFFFFF"/>
                </a:highlight>
                <a:latin typeface="Consolas" panose="020B0609020204030204" pitchFamily="49" charset="0"/>
              </a:rPr>
              <a:t>    }</a:t>
            </a:r>
          </a:p>
          <a:p>
            <a:pPr marL="0" indent="0">
              <a:buNone/>
            </a:pPr>
            <a:r>
              <a:rPr lang="en-US" sz="1600" b="0" dirty="0">
                <a:solidFill>
                  <a:srgbClr val="0000FF"/>
                </a:solidFill>
                <a:effectLst/>
                <a:highlight>
                  <a:srgbClr val="FFFFFF"/>
                </a:highlight>
                <a:latin typeface="Consolas" panose="020B0609020204030204" pitchFamily="49" charset="0"/>
              </a:rPr>
              <a:t>private</a:t>
            </a:r>
            <a:r>
              <a:rPr lang="en-US" sz="1600" b="0" dirty="0">
                <a:solidFill>
                  <a:srgbClr val="000000"/>
                </a:solidFill>
                <a:effectLst/>
                <a:highlight>
                  <a:srgbClr val="FFFFFF"/>
                </a:highlight>
                <a:latin typeface="Consolas" panose="020B0609020204030204" pitchFamily="49" charset="0"/>
              </a:rPr>
              <a:t> </a:t>
            </a:r>
            <a:r>
              <a:rPr lang="en-US" sz="1600" b="0" dirty="0">
                <a:solidFill>
                  <a:srgbClr val="0000FF"/>
                </a:solidFill>
                <a:effectLst/>
                <a:highlight>
                  <a:srgbClr val="FFFFFF"/>
                </a:highlight>
                <a:latin typeface="Consolas" panose="020B0609020204030204" pitchFamily="49" charset="0"/>
              </a:rPr>
              <a:t>static</a:t>
            </a:r>
            <a:r>
              <a:rPr lang="en-US" sz="1600" b="0" dirty="0">
                <a:solidFill>
                  <a:srgbClr val="000000"/>
                </a:solidFill>
                <a:effectLst/>
                <a:highlight>
                  <a:srgbClr val="FFFFFF"/>
                </a:highlight>
                <a:latin typeface="Consolas" panose="020B0609020204030204" pitchFamily="49" charset="0"/>
              </a:rPr>
              <a:t> </a:t>
            </a:r>
            <a:r>
              <a:rPr lang="en-US" sz="1600" b="0" dirty="0" err="1">
                <a:solidFill>
                  <a:srgbClr val="0000FF"/>
                </a:solidFill>
                <a:effectLst/>
                <a:highlight>
                  <a:srgbClr val="FFFFFF"/>
                </a:highlight>
                <a:latin typeface="Consolas" panose="020B0609020204030204" pitchFamily="49" charset="0"/>
              </a:rPr>
              <a:t>boolean</a:t>
            </a:r>
            <a:r>
              <a:rPr lang="en-US" sz="1600" b="0" dirty="0">
                <a:solidFill>
                  <a:srgbClr val="000000"/>
                </a:solidFill>
                <a:effectLst/>
                <a:highlight>
                  <a:srgbClr val="FFFFFF"/>
                </a:highlight>
                <a:latin typeface="Consolas" panose="020B0609020204030204" pitchFamily="49" charset="0"/>
              </a:rPr>
              <a:t> </a:t>
            </a:r>
            <a:r>
              <a:rPr lang="en-US" sz="1600" b="0" dirty="0" err="1">
                <a:solidFill>
                  <a:srgbClr val="000000"/>
                </a:solidFill>
                <a:effectLst/>
                <a:highlight>
                  <a:srgbClr val="FFFFFF"/>
                </a:highlight>
                <a:latin typeface="Consolas" panose="020B0609020204030204" pitchFamily="49" charset="0"/>
              </a:rPr>
              <a:t>linearSearch</a:t>
            </a:r>
            <a:r>
              <a:rPr lang="en-US" sz="1600" b="0" dirty="0">
                <a:solidFill>
                  <a:srgbClr val="000000"/>
                </a:solidFill>
                <a:effectLst/>
                <a:highlight>
                  <a:srgbClr val="FFFFFF"/>
                </a:highlight>
                <a:latin typeface="Consolas" panose="020B0609020204030204" pitchFamily="49" charset="0"/>
              </a:rPr>
              <a:t>(</a:t>
            </a:r>
            <a:r>
              <a:rPr lang="en-US" sz="1600" b="0" dirty="0">
                <a:solidFill>
                  <a:srgbClr val="0000FF"/>
                </a:solidFill>
                <a:effectLst/>
                <a:highlight>
                  <a:srgbClr val="FFFFFF"/>
                </a:highlight>
                <a:latin typeface="Consolas" panose="020B0609020204030204" pitchFamily="49" charset="0"/>
              </a:rPr>
              <a:t>List</a:t>
            </a:r>
            <a:r>
              <a:rPr lang="en-US" sz="1600" b="0" dirty="0">
                <a:solidFill>
                  <a:srgbClr val="000000"/>
                </a:solidFill>
                <a:effectLst/>
                <a:highlight>
                  <a:srgbClr val="FFFFFF"/>
                </a:highlight>
                <a:latin typeface="Consolas" panose="020B0609020204030204" pitchFamily="49" charset="0"/>
              </a:rPr>
              <a:t>&lt;</a:t>
            </a:r>
            <a:r>
              <a:rPr lang="en-US" sz="1600" b="0" dirty="0">
                <a:solidFill>
                  <a:srgbClr val="0000FF"/>
                </a:solidFill>
                <a:effectLst/>
                <a:highlight>
                  <a:srgbClr val="FFFFFF"/>
                </a:highlight>
                <a:latin typeface="Consolas" panose="020B0609020204030204" pitchFamily="49" charset="0"/>
              </a:rPr>
              <a:t>Integer</a:t>
            </a:r>
            <a:r>
              <a:rPr lang="en-US" sz="1600" b="0" dirty="0">
                <a:solidFill>
                  <a:srgbClr val="000000"/>
                </a:solidFill>
                <a:effectLst/>
                <a:highlight>
                  <a:srgbClr val="FFFFFF"/>
                </a:highlight>
                <a:latin typeface="Consolas" panose="020B0609020204030204" pitchFamily="49" charset="0"/>
              </a:rPr>
              <a:t>&gt; </a:t>
            </a:r>
            <a:r>
              <a:rPr lang="en-US" sz="1600" b="0" dirty="0" err="1">
                <a:solidFill>
                  <a:srgbClr val="000000"/>
                </a:solidFill>
                <a:effectLst/>
                <a:highlight>
                  <a:srgbClr val="FFFFFF"/>
                </a:highlight>
                <a:latin typeface="Consolas" panose="020B0609020204030204" pitchFamily="49" charset="0"/>
              </a:rPr>
              <a:t>lst</a:t>
            </a:r>
            <a:r>
              <a:rPr lang="en-US" sz="1600" b="0" dirty="0">
                <a:solidFill>
                  <a:srgbClr val="000000"/>
                </a:solidFill>
                <a:effectLst/>
                <a:highlight>
                  <a:srgbClr val="FFFFFF"/>
                </a:highlight>
                <a:latin typeface="Consolas" panose="020B0609020204030204" pitchFamily="49" charset="0"/>
              </a:rPr>
              <a:t>, </a:t>
            </a:r>
            <a:r>
              <a:rPr lang="en-US" sz="1600" b="0" dirty="0">
                <a:solidFill>
                  <a:srgbClr val="0000FF"/>
                </a:solidFill>
                <a:effectLst/>
                <a:highlight>
                  <a:srgbClr val="FFFFFF"/>
                </a:highlight>
                <a:latin typeface="Consolas" panose="020B0609020204030204" pitchFamily="49" charset="0"/>
              </a:rPr>
              <a:t>int</a:t>
            </a:r>
            <a:r>
              <a:rPr lang="en-US" sz="1600" b="0" dirty="0">
                <a:solidFill>
                  <a:srgbClr val="000000"/>
                </a:solidFill>
                <a:effectLst/>
                <a:highlight>
                  <a:srgbClr val="FFFFFF"/>
                </a:highlight>
                <a:latin typeface="Consolas" panose="020B0609020204030204" pitchFamily="49" charset="0"/>
              </a:rPr>
              <a:t> k, </a:t>
            </a:r>
            <a:r>
              <a:rPr lang="en-US" sz="1600" b="0" dirty="0">
                <a:solidFill>
                  <a:srgbClr val="0000FF"/>
                </a:solidFill>
                <a:effectLst/>
                <a:highlight>
                  <a:srgbClr val="FFFFFF"/>
                </a:highlight>
                <a:latin typeface="Consolas" panose="020B0609020204030204" pitchFamily="49" charset="0"/>
              </a:rPr>
              <a:t>int</a:t>
            </a:r>
            <a:r>
              <a:rPr lang="en-US" sz="1600" b="0" dirty="0">
                <a:solidFill>
                  <a:srgbClr val="000000"/>
                </a:solidFill>
                <a:effectLst/>
                <a:highlight>
                  <a:srgbClr val="FFFFFF"/>
                </a:highlight>
                <a:latin typeface="Consolas" panose="020B0609020204030204" pitchFamily="49" charset="0"/>
              </a:rPr>
              <a:t> start, </a:t>
            </a:r>
            <a:r>
              <a:rPr lang="en-US" sz="1600" b="0" dirty="0">
                <a:solidFill>
                  <a:srgbClr val="0000FF"/>
                </a:solidFill>
                <a:effectLst/>
                <a:highlight>
                  <a:srgbClr val="FFFFFF"/>
                </a:highlight>
                <a:latin typeface="Consolas" panose="020B0609020204030204" pitchFamily="49" charset="0"/>
              </a:rPr>
              <a:t>int</a:t>
            </a:r>
            <a:r>
              <a:rPr lang="en-US" sz="1600" b="0" dirty="0">
                <a:solidFill>
                  <a:srgbClr val="000000"/>
                </a:solidFill>
                <a:effectLst/>
                <a:highlight>
                  <a:srgbClr val="FFFFFF"/>
                </a:highlight>
                <a:latin typeface="Consolas" panose="020B0609020204030204" pitchFamily="49" charset="0"/>
              </a:rPr>
              <a:t> end){</a:t>
            </a:r>
          </a:p>
          <a:p>
            <a:pPr marL="0" indent="0">
              <a:buNone/>
            </a:pPr>
            <a:r>
              <a:rPr lang="en-US" sz="1600" b="0" dirty="0">
                <a:solidFill>
                  <a:srgbClr val="000000"/>
                </a:solidFill>
                <a:effectLst/>
                <a:highlight>
                  <a:srgbClr val="FFFFFF"/>
                </a:highlight>
                <a:latin typeface="Consolas" panose="020B0609020204030204" pitchFamily="49" charset="0"/>
              </a:rPr>
              <a:t>    </a:t>
            </a:r>
            <a:r>
              <a:rPr lang="en-US" sz="1600" b="0" dirty="0">
                <a:solidFill>
                  <a:srgbClr val="0000FF"/>
                </a:solidFill>
                <a:effectLst/>
                <a:highlight>
                  <a:srgbClr val="FFFFFF"/>
                </a:highlight>
                <a:latin typeface="Consolas" panose="020B0609020204030204" pitchFamily="49" charset="0"/>
              </a:rPr>
              <a:t>if</a:t>
            </a:r>
            <a:r>
              <a:rPr lang="en-US" sz="1600" b="0" dirty="0">
                <a:solidFill>
                  <a:srgbClr val="000000"/>
                </a:solidFill>
                <a:effectLst/>
                <a:highlight>
                  <a:srgbClr val="FFFFFF"/>
                </a:highlight>
                <a:latin typeface="Consolas" panose="020B0609020204030204" pitchFamily="49" charset="0"/>
              </a:rPr>
              <a:t>(start == end){</a:t>
            </a:r>
          </a:p>
          <a:p>
            <a:pPr marL="0" indent="0">
              <a:buNone/>
            </a:pPr>
            <a:r>
              <a:rPr lang="en-US" sz="1600" b="0" dirty="0">
                <a:solidFill>
                  <a:srgbClr val="000000"/>
                </a:solidFill>
                <a:effectLst/>
                <a:highlight>
                  <a:srgbClr val="FFFFFF"/>
                </a:highlight>
                <a:latin typeface="Consolas" panose="020B0609020204030204" pitchFamily="49" charset="0"/>
              </a:rPr>
              <a:t>        </a:t>
            </a:r>
            <a:r>
              <a:rPr lang="en-US" sz="1600" b="0" dirty="0">
                <a:solidFill>
                  <a:srgbClr val="0000FF"/>
                </a:solidFill>
                <a:effectLst/>
                <a:highlight>
                  <a:srgbClr val="FFFFFF"/>
                </a:highlight>
                <a:latin typeface="Consolas" panose="020B0609020204030204" pitchFamily="49" charset="0"/>
              </a:rPr>
              <a:t>return</a:t>
            </a:r>
            <a:r>
              <a:rPr lang="en-US" sz="1600" b="0" dirty="0">
                <a:solidFill>
                  <a:srgbClr val="000000"/>
                </a:solidFill>
                <a:effectLst/>
                <a:highlight>
                  <a:srgbClr val="FFFFFF"/>
                </a:highlight>
                <a:latin typeface="Consolas" panose="020B0609020204030204" pitchFamily="49" charset="0"/>
              </a:rPr>
              <a:t> </a:t>
            </a:r>
            <a:r>
              <a:rPr lang="en-US" sz="1600" b="0" dirty="0">
                <a:solidFill>
                  <a:srgbClr val="0000FF"/>
                </a:solidFill>
                <a:effectLst/>
                <a:highlight>
                  <a:srgbClr val="FFFFFF"/>
                </a:highlight>
                <a:latin typeface="Consolas" panose="020B0609020204030204" pitchFamily="49" charset="0"/>
              </a:rPr>
              <a:t>false</a:t>
            </a:r>
            <a:r>
              <a:rPr lang="en-US" sz="1600" b="0" dirty="0">
                <a:solidFill>
                  <a:srgbClr val="000000"/>
                </a:solidFill>
                <a:effectLst/>
                <a:highlight>
                  <a:srgbClr val="FFFFFF"/>
                </a:highlight>
                <a:latin typeface="Consolas" panose="020B0609020204030204" pitchFamily="49" charset="0"/>
              </a:rPr>
              <a:t>;</a:t>
            </a:r>
          </a:p>
          <a:p>
            <a:pPr marL="0" indent="0">
              <a:buNone/>
            </a:pPr>
            <a:r>
              <a:rPr lang="en-US" sz="1600" b="0" dirty="0">
                <a:solidFill>
                  <a:srgbClr val="000000"/>
                </a:solidFill>
                <a:effectLst/>
                <a:highlight>
                  <a:srgbClr val="FFFFFF"/>
                </a:highlight>
                <a:latin typeface="Consolas" panose="020B0609020204030204" pitchFamily="49" charset="0"/>
              </a:rPr>
              <a:t>    } </a:t>
            </a:r>
            <a:r>
              <a:rPr lang="en-US" sz="1600" b="0" dirty="0">
                <a:solidFill>
                  <a:srgbClr val="0000FF"/>
                </a:solidFill>
                <a:effectLst/>
                <a:highlight>
                  <a:srgbClr val="FFFFFF"/>
                </a:highlight>
                <a:latin typeface="Consolas" panose="020B0609020204030204" pitchFamily="49" charset="0"/>
              </a:rPr>
              <a:t>else</a:t>
            </a:r>
            <a:r>
              <a:rPr lang="en-US" sz="1600" b="0" dirty="0">
                <a:solidFill>
                  <a:srgbClr val="000000"/>
                </a:solidFill>
                <a:effectLst/>
                <a:highlight>
                  <a:srgbClr val="FFFFFF"/>
                </a:highlight>
                <a:latin typeface="Consolas" panose="020B0609020204030204" pitchFamily="49" charset="0"/>
              </a:rPr>
              <a:t> </a:t>
            </a:r>
            <a:r>
              <a:rPr lang="en-US" sz="1600" b="0" dirty="0">
                <a:solidFill>
                  <a:srgbClr val="0000FF"/>
                </a:solidFill>
                <a:effectLst/>
                <a:highlight>
                  <a:srgbClr val="FFFFFF"/>
                </a:highlight>
                <a:latin typeface="Consolas" panose="020B0609020204030204" pitchFamily="49" charset="0"/>
              </a:rPr>
              <a:t>if</a:t>
            </a:r>
            <a:r>
              <a:rPr lang="en-US" sz="1600" b="0" dirty="0">
                <a:solidFill>
                  <a:srgbClr val="000000"/>
                </a:solidFill>
                <a:effectLst/>
                <a:highlight>
                  <a:srgbClr val="FFFFFF"/>
                </a:highlight>
                <a:latin typeface="Consolas" panose="020B0609020204030204" pitchFamily="49" charset="0"/>
              </a:rPr>
              <a:t>(</a:t>
            </a:r>
            <a:r>
              <a:rPr lang="en-US" sz="1600" b="0" dirty="0" err="1">
                <a:solidFill>
                  <a:srgbClr val="000000"/>
                </a:solidFill>
                <a:effectLst/>
                <a:highlight>
                  <a:srgbClr val="FFFFFF"/>
                </a:highlight>
                <a:latin typeface="Consolas" panose="020B0609020204030204" pitchFamily="49" charset="0"/>
              </a:rPr>
              <a:t>lst.get</a:t>
            </a:r>
            <a:r>
              <a:rPr lang="en-US" sz="1600" b="0" dirty="0">
                <a:solidFill>
                  <a:srgbClr val="000000"/>
                </a:solidFill>
                <a:effectLst/>
                <a:highlight>
                  <a:srgbClr val="FFFFFF"/>
                </a:highlight>
                <a:latin typeface="Consolas" panose="020B0609020204030204" pitchFamily="49" charset="0"/>
              </a:rPr>
              <a:t>(start) == k){</a:t>
            </a:r>
          </a:p>
          <a:p>
            <a:pPr marL="0" indent="0">
              <a:buNone/>
            </a:pPr>
            <a:r>
              <a:rPr lang="en-US" sz="1600" b="0" dirty="0">
                <a:solidFill>
                  <a:srgbClr val="000000"/>
                </a:solidFill>
                <a:effectLst/>
                <a:highlight>
                  <a:srgbClr val="FFFFFF"/>
                </a:highlight>
                <a:latin typeface="Consolas" panose="020B0609020204030204" pitchFamily="49" charset="0"/>
              </a:rPr>
              <a:t>        </a:t>
            </a:r>
            <a:r>
              <a:rPr lang="en-US" sz="1600" b="0" dirty="0">
                <a:solidFill>
                  <a:srgbClr val="0000FF"/>
                </a:solidFill>
                <a:effectLst/>
                <a:highlight>
                  <a:srgbClr val="FFFFFF"/>
                </a:highlight>
                <a:latin typeface="Consolas" panose="020B0609020204030204" pitchFamily="49" charset="0"/>
              </a:rPr>
              <a:t>return</a:t>
            </a:r>
            <a:r>
              <a:rPr lang="en-US" sz="1600" b="0" dirty="0">
                <a:solidFill>
                  <a:srgbClr val="000000"/>
                </a:solidFill>
                <a:effectLst/>
                <a:highlight>
                  <a:srgbClr val="FFFFFF"/>
                </a:highlight>
                <a:latin typeface="Consolas" panose="020B0609020204030204" pitchFamily="49" charset="0"/>
              </a:rPr>
              <a:t> </a:t>
            </a:r>
            <a:r>
              <a:rPr lang="en-US" sz="1600" b="0" dirty="0">
                <a:solidFill>
                  <a:srgbClr val="0000FF"/>
                </a:solidFill>
                <a:effectLst/>
                <a:highlight>
                  <a:srgbClr val="FFFFFF"/>
                </a:highlight>
                <a:latin typeface="Consolas" panose="020B0609020204030204" pitchFamily="49" charset="0"/>
              </a:rPr>
              <a:t>true</a:t>
            </a:r>
            <a:r>
              <a:rPr lang="en-US" sz="1600" b="0" dirty="0">
                <a:solidFill>
                  <a:srgbClr val="000000"/>
                </a:solidFill>
                <a:effectLst/>
                <a:highlight>
                  <a:srgbClr val="FFFFFF"/>
                </a:highlight>
                <a:latin typeface="Consolas" panose="020B0609020204030204" pitchFamily="49" charset="0"/>
              </a:rPr>
              <a:t>;</a:t>
            </a:r>
          </a:p>
          <a:p>
            <a:pPr marL="0" indent="0">
              <a:buNone/>
            </a:pPr>
            <a:r>
              <a:rPr lang="en-US" sz="1600" b="0" dirty="0">
                <a:solidFill>
                  <a:srgbClr val="000000"/>
                </a:solidFill>
                <a:effectLst/>
                <a:highlight>
                  <a:srgbClr val="FFFFFF"/>
                </a:highlight>
                <a:latin typeface="Consolas" panose="020B0609020204030204" pitchFamily="49" charset="0"/>
              </a:rPr>
              <a:t>    } </a:t>
            </a:r>
            <a:r>
              <a:rPr lang="en-US" sz="1600" b="0" dirty="0">
                <a:solidFill>
                  <a:srgbClr val="0000FF"/>
                </a:solidFill>
                <a:effectLst/>
                <a:highlight>
                  <a:srgbClr val="FFFFFF"/>
                </a:highlight>
                <a:latin typeface="Consolas" panose="020B0609020204030204" pitchFamily="49" charset="0"/>
              </a:rPr>
              <a:t>else</a:t>
            </a:r>
            <a:r>
              <a:rPr lang="en-US" sz="1600" b="0" dirty="0">
                <a:solidFill>
                  <a:srgbClr val="000000"/>
                </a:solidFill>
                <a:effectLst/>
                <a:highlight>
                  <a:srgbClr val="FFFFFF"/>
                </a:highlight>
                <a:latin typeface="Consolas" panose="020B0609020204030204" pitchFamily="49" charset="0"/>
              </a:rPr>
              <a:t>{</a:t>
            </a:r>
          </a:p>
          <a:p>
            <a:pPr marL="0" indent="0">
              <a:buNone/>
            </a:pPr>
            <a:r>
              <a:rPr lang="en-US" sz="1600" b="0" dirty="0">
                <a:solidFill>
                  <a:srgbClr val="000000"/>
                </a:solidFill>
                <a:effectLst/>
                <a:highlight>
                  <a:srgbClr val="FFFFFF"/>
                </a:highlight>
                <a:latin typeface="Consolas" panose="020B0609020204030204" pitchFamily="49" charset="0"/>
              </a:rPr>
              <a:t>        </a:t>
            </a:r>
            <a:r>
              <a:rPr lang="en-US" sz="1600" b="0" dirty="0">
                <a:solidFill>
                  <a:srgbClr val="0000FF"/>
                </a:solidFill>
                <a:effectLst/>
                <a:highlight>
                  <a:srgbClr val="FFFFFF"/>
                </a:highlight>
                <a:latin typeface="Consolas" panose="020B0609020204030204" pitchFamily="49" charset="0"/>
              </a:rPr>
              <a:t>return</a:t>
            </a:r>
            <a:r>
              <a:rPr lang="en-US" sz="1600" b="0" dirty="0">
                <a:solidFill>
                  <a:srgbClr val="000000"/>
                </a:solidFill>
                <a:effectLst/>
                <a:highlight>
                  <a:srgbClr val="FFFFFF"/>
                </a:highlight>
                <a:latin typeface="Consolas" panose="020B0609020204030204" pitchFamily="49" charset="0"/>
              </a:rPr>
              <a:t> </a:t>
            </a:r>
            <a:r>
              <a:rPr lang="en-US" sz="1600" b="0" dirty="0" err="1">
                <a:solidFill>
                  <a:srgbClr val="000000"/>
                </a:solidFill>
                <a:effectLst/>
                <a:highlight>
                  <a:srgbClr val="FFFFFF"/>
                </a:highlight>
                <a:latin typeface="Consolas" panose="020B0609020204030204" pitchFamily="49" charset="0"/>
              </a:rPr>
              <a:t>linearSearch</a:t>
            </a:r>
            <a:r>
              <a:rPr lang="en-US" sz="1600" b="0" dirty="0">
                <a:solidFill>
                  <a:srgbClr val="000000"/>
                </a:solidFill>
                <a:effectLst/>
                <a:highlight>
                  <a:srgbClr val="FFFFFF"/>
                </a:highlight>
                <a:latin typeface="Consolas" panose="020B0609020204030204" pitchFamily="49" charset="0"/>
              </a:rPr>
              <a:t>(</a:t>
            </a:r>
            <a:r>
              <a:rPr lang="en-US" sz="1600" b="0" dirty="0" err="1">
                <a:solidFill>
                  <a:srgbClr val="000000"/>
                </a:solidFill>
                <a:effectLst/>
                <a:highlight>
                  <a:srgbClr val="FFFFFF"/>
                </a:highlight>
                <a:latin typeface="Consolas" panose="020B0609020204030204" pitchFamily="49" charset="0"/>
              </a:rPr>
              <a:t>lst</a:t>
            </a:r>
            <a:r>
              <a:rPr lang="en-US" sz="1600" b="0" dirty="0">
                <a:solidFill>
                  <a:srgbClr val="000000"/>
                </a:solidFill>
                <a:effectLst/>
                <a:highlight>
                  <a:srgbClr val="FFFFFF"/>
                </a:highlight>
                <a:latin typeface="Consolas" panose="020B0609020204030204" pitchFamily="49" charset="0"/>
              </a:rPr>
              <a:t>, k, start+</a:t>
            </a:r>
            <a:r>
              <a:rPr lang="en-US" sz="1600" b="0" dirty="0">
                <a:solidFill>
                  <a:srgbClr val="098658"/>
                </a:solidFill>
                <a:effectLst/>
                <a:highlight>
                  <a:srgbClr val="FFFFFF"/>
                </a:highlight>
                <a:latin typeface="Consolas" panose="020B0609020204030204" pitchFamily="49" charset="0"/>
              </a:rPr>
              <a:t>1</a:t>
            </a:r>
            <a:r>
              <a:rPr lang="en-US" sz="1600" b="0" dirty="0">
                <a:solidFill>
                  <a:srgbClr val="000000"/>
                </a:solidFill>
                <a:effectLst/>
                <a:highlight>
                  <a:srgbClr val="FFFFFF"/>
                </a:highlight>
                <a:latin typeface="Consolas" panose="020B0609020204030204" pitchFamily="49" charset="0"/>
              </a:rPr>
              <a:t>, end);</a:t>
            </a:r>
          </a:p>
          <a:p>
            <a:pPr marL="0" indent="0">
              <a:buNone/>
            </a:pPr>
            <a:r>
              <a:rPr lang="en-US" sz="1600" b="0" dirty="0">
                <a:solidFill>
                  <a:srgbClr val="000000"/>
                </a:solidFill>
                <a:effectLst/>
                <a:highlight>
                  <a:srgbClr val="FFFFFF"/>
                </a:highlight>
                <a:latin typeface="Consolas" panose="020B0609020204030204" pitchFamily="49" charset="0"/>
              </a:rPr>
              <a:t>    }</a:t>
            </a:r>
          </a:p>
          <a:p>
            <a:pPr marL="0" indent="0">
              <a:buNone/>
            </a:pPr>
            <a:r>
              <a:rPr lang="en-US" sz="1600" b="0" dirty="0">
                <a:solidFill>
                  <a:srgbClr val="000000"/>
                </a:solidFill>
                <a:effectLst/>
                <a:highlight>
                  <a:srgbClr val="FFFFFF"/>
                </a:highlight>
                <a:latin typeface="Consolas" panose="020B0609020204030204" pitchFamily="49" charset="0"/>
              </a:rPr>
              <a:t>}</a:t>
            </a:r>
          </a:p>
        </p:txBody>
      </p:sp>
      <p:grpSp>
        <p:nvGrpSpPr>
          <p:cNvPr id="27" name="Group 26" descr="An example array that is sorted in ascending order. &#10;&#10;The values are as follows: 5, 8, 13, 42, 75, 79, 88, 90, 95, 99">
            <a:extLst>
              <a:ext uri="{FF2B5EF4-FFF2-40B4-BE49-F238E27FC236}">
                <a16:creationId xmlns:a16="http://schemas.microsoft.com/office/drawing/2014/main" id="{10CB2629-A53F-A77D-E795-46ACFA30A2C2}"/>
              </a:ext>
            </a:extLst>
          </p:cNvPr>
          <p:cNvGrpSpPr/>
          <p:nvPr/>
        </p:nvGrpSpPr>
        <p:grpSpPr>
          <a:xfrm>
            <a:off x="6908800" y="1040108"/>
            <a:ext cx="5283200" cy="907778"/>
            <a:chOff x="6908800" y="1040108"/>
            <a:chExt cx="5283200" cy="907778"/>
          </a:xfrm>
        </p:grpSpPr>
        <p:grpSp>
          <p:nvGrpSpPr>
            <p:cNvPr id="28" name="Group 27">
              <a:extLst>
                <a:ext uri="{FF2B5EF4-FFF2-40B4-BE49-F238E27FC236}">
                  <a16:creationId xmlns:a16="http://schemas.microsoft.com/office/drawing/2014/main" id="{F2E22A03-67D4-9115-E948-ACD8F9DCAB20}"/>
                </a:ext>
              </a:extLst>
            </p:cNvPr>
            <p:cNvGrpSpPr/>
            <p:nvPr/>
          </p:nvGrpSpPr>
          <p:grpSpPr>
            <a:xfrm>
              <a:off x="6908800" y="1419566"/>
              <a:ext cx="5283200" cy="528320"/>
              <a:chOff x="1681480" y="5462905"/>
              <a:chExt cx="5283200" cy="528320"/>
            </a:xfrm>
            <a:solidFill>
              <a:schemeClr val="bg1"/>
            </a:solidFill>
          </p:grpSpPr>
          <p:sp>
            <p:nvSpPr>
              <p:cNvPr id="40" name="Rectangle 39">
                <a:extLst>
                  <a:ext uri="{FF2B5EF4-FFF2-40B4-BE49-F238E27FC236}">
                    <a16:creationId xmlns:a16="http://schemas.microsoft.com/office/drawing/2014/main" id="{AC3E1EA0-4C38-E610-1C64-7C1C78C53ED3}"/>
                  </a:ext>
                </a:extLst>
              </p:cNvPr>
              <p:cNvSpPr/>
              <p:nvPr/>
            </p:nvSpPr>
            <p:spPr>
              <a:xfrm>
                <a:off x="379476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4</a:t>
                </a:r>
              </a:p>
            </p:txBody>
          </p:sp>
          <p:sp>
            <p:nvSpPr>
              <p:cNvPr id="41" name="Rectangle 40">
                <a:extLst>
                  <a:ext uri="{FF2B5EF4-FFF2-40B4-BE49-F238E27FC236}">
                    <a16:creationId xmlns:a16="http://schemas.microsoft.com/office/drawing/2014/main" id="{9CC3FE3B-09BC-7F62-595A-7043CCB31887}"/>
                  </a:ext>
                </a:extLst>
              </p:cNvPr>
              <p:cNvSpPr/>
              <p:nvPr/>
            </p:nvSpPr>
            <p:spPr>
              <a:xfrm>
                <a:off x="432308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5</a:t>
                </a:r>
              </a:p>
            </p:txBody>
          </p:sp>
          <p:sp>
            <p:nvSpPr>
              <p:cNvPr id="42" name="Rectangle 41">
                <a:extLst>
                  <a:ext uri="{FF2B5EF4-FFF2-40B4-BE49-F238E27FC236}">
                    <a16:creationId xmlns:a16="http://schemas.microsoft.com/office/drawing/2014/main" id="{A0E9134F-CD68-88FF-1620-8F9E25F02693}"/>
                  </a:ext>
                </a:extLst>
              </p:cNvPr>
              <p:cNvSpPr/>
              <p:nvPr/>
            </p:nvSpPr>
            <p:spPr>
              <a:xfrm>
                <a:off x="485140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6</a:t>
                </a:r>
              </a:p>
            </p:txBody>
          </p:sp>
          <p:sp>
            <p:nvSpPr>
              <p:cNvPr id="43" name="Rectangle 42">
                <a:extLst>
                  <a:ext uri="{FF2B5EF4-FFF2-40B4-BE49-F238E27FC236}">
                    <a16:creationId xmlns:a16="http://schemas.microsoft.com/office/drawing/2014/main" id="{17CFB239-7EBD-AA43-6F29-E4004EB98246}"/>
                  </a:ext>
                </a:extLst>
              </p:cNvPr>
              <p:cNvSpPr/>
              <p:nvPr/>
            </p:nvSpPr>
            <p:spPr>
              <a:xfrm>
                <a:off x="537972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44" name="Rectangle 43">
                <a:extLst>
                  <a:ext uri="{FF2B5EF4-FFF2-40B4-BE49-F238E27FC236}">
                    <a16:creationId xmlns:a16="http://schemas.microsoft.com/office/drawing/2014/main" id="{5B194439-89C3-7F47-AAF6-1D3A1F77F06F}"/>
                  </a:ext>
                </a:extLst>
              </p:cNvPr>
              <p:cNvSpPr/>
              <p:nvPr/>
            </p:nvSpPr>
            <p:spPr>
              <a:xfrm>
                <a:off x="326644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45" name="Rectangle 44">
                <a:extLst>
                  <a:ext uri="{FF2B5EF4-FFF2-40B4-BE49-F238E27FC236}">
                    <a16:creationId xmlns:a16="http://schemas.microsoft.com/office/drawing/2014/main" id="{60B79792-0F77-578A-0939-1F3F680CACA6}"/>
                  </a:ext>
                </a:extLst>
              </p:cNvPr>
              <p:cNvSpPr/>
              <p:nvPr/>
            </p:nvSpPr>
            <p:spPr>
              <a:xfrm>
                <a:off x="273812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2</a:t>
                </a:r>
              </a:p>
            </p:txBody>
          </p:sp>
          <p:sp>
            <p:nvSpPr>
              <p:cNvPr id="46" name="Rectangle 45">
                <a:extLst>
                  <a:ext uri="{FF2B5EF4-FFF2-40B4-BE49-F238E27FC236}">
                    <a16:creationId xmlns:a16="http://schemas.microsoft.com/office/drawing/2014/main" id="{13EC008C-DB6C-0B51-390A-C8E6007D3068}"/>
                  </a:ext>
                </a:extLst>
              </p:cNvPr>
              <p:cNvSpPr/>
              <p:nvPr/>
            </p:nvSpPr>
            <p:spPr>
              <a:xfrm>
                <a:off x="220980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47" name="Rectangle 46">
                <a:extLst>
                  <a:ext uri="{FF2B5EF4-FFF2-40B4-BE49-F238E27FC236}">
                    <a16:creationId xmlns:a16="http://schemas.microsoft.com/office/drawing/2014/main" id="{87C3DA71-FC0C-1D1B-0C61-17FAC90FA9E5}"/>
                  </a:ext>
                </a:extLst>
              </p:cNvPr>
              <p:cNvSpPr/>
              <p:nvPr/>
            </p:nvSpPr>
            <p:spPr>
              <a:xfrm>
                <a:off x="590804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8</a:t>
                </a:r>
              </a:p>
            </p:txBody>
          </p:sp>
          <p:sp>
            <p:nvSpPr>
              <p:cNvPr id="48" name="Rectangle 47">
                <a:extLst>
                  <a:ext uri="{FF2B5EF4-FFF2-40B4-BE49-F238E27FC236}">
                    <a16:creationId xmlns:a16="http://schemas.microsoft.com/office/drawing/2014/main" id="{A5EEA0DB-E0CC-C062-5CDB-98FD7BE3285D}"/>
                  </a:ext>
                </a:extLst>
              </p:cNvPr>
              <p:cNvSpPr/>
              <p:nvPr/>
            </p:nvSpPr>
            <p:spPr>
              <a:xfrm>
                <a:off x="168148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sp>
            <p:nvSpPr>
              <p:cNvPr id="49" name="Rectangle 48">
                <a:extLst>
                  <a:ext uri="{FF2B5EF4-FFF2-40B4-BE49-F238E27FC236}">
                    <a16:creationId xmlns:a16="http://schemas.microsoft.com/office/drawing/2014/main" id="{8B6DE135-97C9-B225-FABA-D0E2D52368D4}"/>
                  </a:ext>
                </a:extLst>
              </p:cNvPr>
              <p:cNvSpPr/>
              <p:nvPr/>
            </p:nvSpPr>
            <p:spPr>
              <a:xfrm>
                <a:off x="643636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9</a:t>
                </a:r>
              </a:p>
            </p:txBody>
          </p:sp>
        </p:grpSp>
        <p:grpSp>
          <p:nvGrpSpPr>
            <p:cNvPr id="29" name="Group 28">
              <a:extLst>
                <a:ext uri="{FF2B5EF4-FFF2-40B4-BE49-F238E27FC236}">
                  <a16:creationId xmlns:a16="http://schemas.microsoft.com/office/drawing/2014/main" id="{CE38D251-B6FA-FE47-6F42-CE50B3DEE3BE}"/>
                </a:ext>
              </a:extLst>
            </p:cNvPr>
            <p:cNvGrpSpPr/>
            <p:nvPr/>
          </p:nvGrpSpPr>
          <p:grpSpPr>
            <a:xfrm>
              <a:off x="6908800" y="1040108"/>
              <a:ext cx="5283200" cy="528320"/>
              <a:chOff x="1681480" y="5462905"/>
              <a:chExt cx="5283200" cy="528320"/>
            </a:xfrm>
          </p:grpSpPr>
          <p:sp>
            <p:nvSpPr>
              <p:cNvPr id="30" name="Rectangle 29">
                <a:extLst>
                  <a:ext uri="{FF2B5EF4-FFF2-40B4-BE49-F238E27FC236}">
                    <a16:creationId xmlns:a16="http://schemas.microsoft.com/office/drawing/2014/main" id="{E5D78976-093B-A092-21C0-7C7A6C63EC36}"/>
                  </a:ext>
                </a:extLst>
              </p:cNvPr>
              <p:cNvSpPr/>
              <p:nvPr/>
            </p:nvSpPr>
            <p:spPr>
              <a:xfrm>
                <a:off x="37947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75</a:t>
                </a:r>
              </a:p>
            </p:txBody>
          </p:sp>
          <p:sp>
            <p:nvSpPr>
              <p:cNvPr id="31" name="Rectangle 30">
                <a:extLst>
                  <a:ext uri="{FF2B5EF4-FFF2-40B4-BE49-F238E27FC236}">
                    <a16:creationId xmlns:a16="http://schemas.microsoft.com/office/drawing/2014/main" id="{D6E7790C-EFA6-205B-AA7E-8933925A08D8}"/>
                  </a:ext>
                </a:extLst>
              </p:cNvPr>
              <p:cNvSpPr/>
              <p:nvPr/>
            </p:nvSpPr>
            <p:spPr>
              <a:xfrm>
                <a:off x="43230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79</a:t>
                </a:r>
              </a:p>
            </p:txBody>
          </p:sp>
          <p:sp>
            <p:nvSpPr>
              <p:cNvPr id="32" name="Rectangle 31">
                <a:extLst>
                  <a:ext uri="{FF2B5EF4-FFF2-40B4-BE49-F238E27FC236}">
                    <a16:creationId xmlns:a16="http://schemas.microsoft.com/office/drawing/2014/main" id="{25A668E2-44AE-1628-692A-7DB8F3106505}"/>
                  </a:ext>
                </a:extLst>
              </p:cNvPr>
              <p:cNvSpPr/>
              <p:nvPr/>
            </p:nvSpPr>
            <p:spPr>
              <a:xfrm>
                <a:off x="48514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88</a:t>
                </a:r>
              </a:p>
            </p:txBody>
          </p:sp>
          <p:sp>
            <p:nvSpPr>
              <p:cNvPr id="33" name="Rectangle 32">
                <a:extLst>
                  <a:ext uri="{FF2B5EF4-FFF2-40B4-BE49-F238E27FC236}">
                    <a16:creationId xmlns:a16="http://schemas.microsoft.com/office/drawing/2014/main" id="{F7417051-D21F-D6CB-28D4-1B6F60435E43}"/>
                  </a:ext>
                </a:extLst>
              </p:cNvPr>
              <p:cNvSpPr/>
              <p:nvPr/>
            </p:nvSpPr>
            <p:spPr>
              <a:xfrm>
                <a:off x="53797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90</a:t>
                </a:r>
              </a:p>
            </p:txBody>
          </p:sp>
          <p:sp>
            <p:nvSpPr>
              <p:cNvPr id="34" name="Rectangle 33">
                <a:extLst>
                  <a:ext uri="{FF2B5EF4-FFF2-40B4-BE49-F238E27FC236}">
                    <a16:creationId xmlns:a16="http://schemas.microsoft.com/office/drawing/2014/main" id="{7309F633-6539-348A-1F6C-D56F8A4F809F}"/>
                  </a:ext>
                </a:extLst>
              </p:cNvPr>
              <p:cNvSpPr/>
              <p:nvPr/>
            </p:nvSpPr>
            <p:spPr>
              <a:xfrm>
                <a:off x="32664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42</a:t>
                </a:r>
              </a:p>
            </p:txBody>
          </p:sp>
          <p:sp>
            <p:nvSpPr>
              <p:cNvPr id="35" name="Rectangle 34">
                <a:extLst>
                  <a:ext uri="{FF2B5EF4-FFF2-40B4-BE49-F238E27FC236}">
                    <a16:creationId xmlns:a16="http://schemas.microsoft.com/office/drawing/2014/main" id="{B466DD14-A64B-294C-43E0-C5E8D4EED07D}"/>
                  </a:ext>
                </a:extLst>
              </p:cNvPr>
              <p:cNvSpPr/>
              <p:nvPr/>
            </p:nvSpPr>
            <p:spPr>
              <a:xfrm>
                <a:off x="27381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13</a:t>
                </a:r>
              </a:p>
            </p:txBody>
          </p:sp>
          <p:sp>
            <p:nvSpPr>
              <p:cNvPr id="36" name="Rectangle 35">
                <a:extLst>
                  <a:ext uri="{FF2B5EF4-FFF2-40B4-BE49-F238E27FC236}">
                    <a16:creationId xmlns:a16="http://schemas.microsoft.com/office/drawing/2014/main" id="{403788EE-839A-FB61-61FE-2B8B0632EB44}"/>
                  </a:ext>
                </a:extLst>
              </p:cNvPr>
              <p:cNvSpPr/>
              <p:nvPr/>
            </p:nvSpPr>
            <p:spPr>
              <a:xfrm>
                <a:off x="22098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8</a:t>
                </a:r>
              </a:p>
            </p:txBody>
          </p:sp>
          <p:sp>
            <p:nvSpPr>
              <p:cNvPr id="37" name="Rectangle 36">
                <a:extLst>
                  <a:ext uri="{FF2B5EF4-FFF2-40B4-BE49-F238E27FC236}">
                    <a16:creationId xmlns:a16="http://schemas.microsoft.com/office/drawing/2014/main" id="{60A3AF49-46C7-513F-3224-BA4FD5159D60}"/>
                  </a:ext>
                </a:extLst>
              </p:cNvPr>
              <p:cNvSpPr/>
              <p:nvPr/>
            </p:nvSpPr>
            <p:spPr>
              <a:xfrm>
                <a:off x="59080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95</a:t>
                </a:r>
              </a:p>
            </p:txBody>
          </p:sp>
          <p:sp>
            <p:nvSpPr>
              <p:cNvPr id="38" name="Rectangle 37">
                <a:extLst>
                  <a:ext uri="{FF2B5EF4-FFF2-40B4-BE49-F238E27FC236}">
                    <a16:creationId xmlns:a16="http://schemas.microsoft.com/office/drawing/2014/main" id="{964673FF-596D-BF38-FFF8-3655BB1ADEA3}"/>
                  </a:ext>
                </a:extLst>
              </p:cNvPr>
              <p:cNvSpPr/>
              <p:nvPr/>
            </p:nvSpPr>
            <p:spPr>
              <a:xfrm>
                <a:off x="16814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5</a:t>
                </a:r>
              </a:p>
            </p:txBody>
          </p:sp>
          <p:sp>
            <p:nvSpPr>
              <p:cNvPr id="39" name="Rectangle 38">
                <a:extLst>
                  <a:ext uri="{FF2B5EF4-FFF2-40B4-BE49-F238E27FC236}">
                    <a16:creationId xmlns:a16="http://schemas.microsoft.com/office/drawing/2014/main" id="{AD53A5EE-E6AB-D2E9-69DA-7578314EC4E0}"/>
                  </a:ext>
                </a:extLst>
              </p:cNvPr>
              <p:cNvSpPr/>
              <p:nvPr/>
            </p:nvSpPr>
            <p:spPr>
              <a:xfrm>
                <a:off x="64363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99</a:t>
                </a:r>
              </a:p>
            </p:txBody>
          </p:sp>
        </p:grpSp>
      </p:gr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8E5B8AD1-09F8-611E-4687-E3B3FBF9F010}"/>
                  </a:ext>
                </a:extLst>
              </p14:cNvPr>
              <p14:cNvContentPartPr/>
              <p14:nvPr/>
            </p14:nvContentPartPr>
            <p14:xfrm>
              <a:off x="1733040" y="3395160"/>
              <a:ext cx="9946080" cy="2449800"/>
            </p14:xfrm>
          </p:contentPart>
        </mc:Choice>
        <mc:Fallback>
          <p:pic>
            <p:nvPicPr>
              <p:cNvPr id="4" name="Ink 3">
                <a:extLst>
                  <a:ext uri="{FF2B5EF4-FFF2-40B4-BE49-F238E27FC236}">
                    <a16:creationId xmlns:a16="http://schemas.microsoft.com/office/drawing/2014/main" id="{8E5B8AD1-09F8-611E-4687-E3B3FBF9F010}"/>
                  </a:ext>
                </a:extLst>
              </p:cNvPr>
              <p:cNvPicPr/>
              <p:nvPr/>
            </p:nvPicPr>
            <p:blipFill>
              <a:blip r:embed="rId3"/>
              <a:stretch>
                <a:fillRect/>
              </a:stretch>
            </p:blipFill>
            <p:spPr>
              <a:xfrm>
                <a:off x="1723680" y="3385800"/>
                <a:ext cx="9964800" cy="2468520"/>
              </a:xfrm>
              <a:prstGeom prst="rect">
                <a:avLst/>
              </a:prstGeom>
            </p:spPr>
          </p:pic>
        </mc:Fallback>
      </mc:AlternateContent>
    </p:spTree>
    <p:extLst>
      <p:ext uri="{BB962C8B-B14F-4D97-AF65-F5344CB8AC3E}">
        <p14:creationId xmlns:p14="http://schemas.microsoft.com/office/powerpoint/2010/main" val="951965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0C471-0E49-9D75-75DE-5A00835E8F95}"/>
              </a:ext>
            </a:extLst>
          </p:cNvPr>
          <p:cNvSpPr>
            <a:spLocks noGrp="1"/>
          </p:cNvSpPr>
          <p:nvPr>
            <p:ph type="title"/>
          </p:nvPr>
        </p:nvSpPr>
        <p:spPr/>
        <p:txBody>
          <a:bodyPr/>
          <a:lstStyle/>
          <a:p>
            <a:r>
              <a:rPr lang="en-US" dirty="0"/>
              <a:t>Prettier List Sum Substitution </a:t>
            </a:r>
          </a:p>
        </p:txBody>
      </p:sp>
      <p:sp>
        <p:nvSpPr>
          <p:cNvPr id="3" name="Content Placeholder 2">
            <a:extLst>
              <a:ext uri="{FF2B5EF4-FFF2-40B4-BE49-F238E27FC236}">
                <a16:creationId xmlns:a16="http://schemas.microsoft.com/office/drawing/2014/main" id="{FEFDDAAF-81C9-60F9-3FF1-0F973D6184CC}"/>
              </a:ext>
            </a:extLst>
          </p:cNvPr>
          <p:cNvSpPr>
            <a:spLocks noGrp="1"/>
          </p:cNvSpPr>
          <p:nvPr>
            <p:ph idx="1"/>
          </p:nvPr>
        </p:nvSpPr>
        <p:spPr/>
        <p:txBody>
          <a:bodyPr/>
          <a:lstStyle/>
          <a:p>
            <a:r>
              <a:rPr lang="en-US" dirty="0">
                <a:solidFill>
                  <a:srgbClr val="FF0000"/>
                </a:solidFill>
              </a:rPr>
              <a:t>Draw a picture of the recursion</a:t>
            </a:r>
          </a:p>
          <a:p>
            <a:r>
              <a:rPr lang="en-US" dirty="0">
                <a:solidFill>
                  <a:srgbClr val="0070C0"/>
                </a:solidFill>
              </a:rPr>
              <a:t>Identify the work done per stack frame</a:t>
            </a:r>
          </a:p>
          <a:p>
            <a:r>
              <a:rPr lang="en-US" dirty="0"/>
              <a:t>Add up all the work!</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71D829C-229D-3C07-6BB5-2622736B211F}"/>
                  </a:ext>
                </a:extLst>
              </p:cNvPr>
              <p:cNvSpPr txBox="1"/>
              <p:nvPr/>
            </p:nvSpPr>
            <p:spPr>
              <a:xfrm>
                <a:off x="6265675" y="1825625"/>
                <a:ext cx="384918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a:rPr>
                        <m:t>𝑇</m:t>
                      </m:r>
                      <m:d>
                        <m:dPr>
                          <m:ctrlPr>
                            <a:rPr lang="en-US" sz="2400" b="0" i="1" smtClean="0">
                              <a:latin typeface="Cambria Math" panose="02040503050406030204" pitchFamily="18" charset="0"/>
                            </a:rPr>
                          </m:ctrlPr>
                        </m:dPr>
                        <m:e>
                          <m:r>
                            <a:rPr lang="en-US" sz="2400" b="0" i="1" smtClean="0">
                              <a:latin typeface="Cambria Math"/>
                            </a:rPr>
                            <m:t>𝑛</m:t>
                          </m:r>
                        </m:e>
                      </m:d>
                      <m:r>
                        <a:rPr lang="en-US" sz="2400" b="0" i="1" smtClean="0">
                          <a:latin typeface="Cambria Math"/>
                        </a:rPr>
                        <m:t>=</m:t>
                      </m:r>
                      <m:r>
                        <a:rPr lang="en-US" sz="2400" b="0" i="1" smtClean="0">
                          <a:latin typeface="Cambria Math"/>
                        </a:rPr>
                        <m:t>𝑇</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m:t>
                          </m:r>
                          <m:r>
                            <a:rPr lang="en-US" sz="2400" b="0" i="1" smtClean="0">
                              <a:latin typeface="Cambria Math" panose="02040503050406030204" pitchFamily="18" charset="0"/>
                            </a:rPr>
                            <m:t>−1</m:t>
                          </m:r>
                        </m:e>
                      </m:d>
                      <m:r>
                        <a:rPr lang="en-US" sz="2400" b="0" i="1" smtClean="0">
                          <a:latin typeface="Cambria Math" panose="02040503050406030204" pitchFamily="18" charset="0"/>
                        </a:rPr>
                        <m:t>+1</m:t>
                      </m:r>
                    </m:oMath>
                  </m:oMathPara>
                </a14:m>
                <a:endParaRPr lang="en-US" sz="2400" dirty="0"/>
              </a:p>
            </p:txBody>
          </p:sp>
        </mc:Choice>
        <mc:Fallback xmlns="">
          <p:sp>
            <p:nvSpPr>
              <p:cNvPr id="7" name="TextBox 6">
                <a:extLst>
                  <a:ext uri="{FF2B5EF4-FFF2-40B4-BE49-F238E27FC236}">
                    <a16:creationId xmlns:a16="http://schemas.microsoft.com/office/drawing/2014/main" id="{C71D829C-229D-3C07-6BB5-2622736B211F}"/>
                  </a:ext>
                </a:extLst>
              </p:cNvPr>
              <p:cNvSpPr txBox="1">
                <a:spLocks noRot="1" noChangeAspect="1" noMove="1" noResize="1" noEditPoints="1" noAdjustHandles="1" noChangeArrowheads="1" noChangeShapeType="1" noTextEdit="1"/>
              </p:cNvSpPr>
              <p:nvPr/>
            </p:nvSpPr>
            <p:spPr>
              <a:xfrm>
                <a:off x="6265675" y="1825625"/>
                <a:ext cx="3849189" cy="461665"/>
              </a:xfrm>
              <a:prstGeom prst="rect">
                <a:avLst/>
              </a:prstGeom>
              <a:blipFill>
                <a:blip r:embed="rId2"/>
                <a:stretch>
                  <a:fillRect/>
                </a:stretch>
              </a:blipFill>
            </p:spPr>
            <p:txBody>
              <a:bodyPr/>
              <a:lstStyle/>
              <a:p>
                <a:r>
                  <a:rPr lang="en-US">
                    <a:noFill/>
                  </a:rPr>
                  <a:t> </a:t>
                </a:r>
              </a:p>
            </p:txBody>
          </p:sp>
        </mc:Fallback>
      </mc:AlternateContent>
      <p:sp>
        <p:nvSpPr>
          <p:cNvPr id="32" name="Left Brace 31" descr="Because we need to make n recursive calls before reaching a base case, the height of this chain of stack frames is n.">
            <a:extLst>
              <a:ext uri="{FF2B5EF4-FFF2-40B4-BE49-F238E27FC236}">
                <a16:creationId xmlns:a16="http://schemas.microsoft.com/office/drawing/2014/main" id="{AB522D64-0FDA-0C3B-396A-2F0191CC116C}"/>
              </a:ext>
            </a:extLst>
          </p:cNvPr>
          <p:cNvSpPr/>
          <p:nvPr/>
        </p:nvSpPr>
        <p:spPr>
          <a:xfrm flipH="1" flipV="1">
            <a:off x="9717016" y="2150498"/>
            <a:ext cx="325192" cy="4234101"/>
          </a:xfrm>
          <a:prstGeom prst="leftBrace">
            <a:avLst>
              <a:gd name="adj1" fmla="val 83199"/>
              <a:gd name="adj2" fmla="val 49631"/>
            </a:avLst>
          </a:prstGeom>
          <a:ln w="19050">
            <a:solidFill>
              <a:srgbClr val="FF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33" name="Text Box 2">
                <a:extLst>
                  <a:ext uri="{FF2B5EF4-FFF2-40B4-BE49-F238E27FC236}">
                    <a16:creationId xmlns:a16="http://schemas.microsoft.com/office/drawing/2014/main" id="{52F20E8C-E391-FFF9-D4BD-C29BBABEF110}"/>
                  </a:ext>
                </a:extLst>
              </p:cNvPr>
              <p:cNvSpPr txBox="1">
                <a:spLocks noChangeArrowheads="1"/>
              </p:cNvSpPr>
              <p:nvPr/>
            </p:nvSpPr>
            <p:spPr bwMode="auto">
              <a:xfrm>
                <a:off x="9879612" y="3995722"/>
                <a:ext cx="2312388" cy="954107"/>
              </a:xfrm>
              <a:prstGeom prst="rect">
                <a:avLst/>
              </a:prstGeom>
              <a:noFill/>
              <a:ln w="9525">
                <a:noFill/>
                <a:miter lim="800000"/>
                <a:headEnd/>
                <a:tailEnd/>
              </a:ln>
            </p:spPr>
            <p:txBody>
              <a:bodyPr wrap="square">
                <a:spAutoFit/>
              </a:bodyPr>
              <a:lstStyle/>
              <a:p>
                <a:pPr algn="ctr"/>
                <a14:m>
                  <m:oMath xmlns:m="http://schemas.openxmlformats.org/officeDocument/2006/math">
                    <m:r>
                      <a:rPr lang="en-US" sz="2800" i="1" dirty="0">
                        <a:solidFill>
                          <a:srgbClr val="FF00FF"/>
                        </a:solidFill>
                        <a:latin typeface="Cambria Math"/>
                      </a:rPr>
                      <m:t>𝑛</m:t>
                    </m:r>
                  </m:oMath>
                </a14:m>
                <a:r>
                  <a:rPr lang="en-US" sz="2800" dirty="0">
                    <a:solidFill>
                      <a:srgbClr val="FF00FF"/>
                    </a:solidFill>
                  </a:rPr>
                  <a:t> </a:t>
                </a:r>
                <a:r>
                  <a:rPr lang="en-US" sz="2800" dirty="0"/>
                  <a:t>levels</a:t>
                </a:r>
              </a:p>
              <a:p>
                <a:pPr algn="ctr"/>
                <a:r>
                  <a:rPr lang="en-US" sz="2800" dirty="0"/>
                  <a:t>of recursion</a:t>
                </a:r>
              </a:p>
            </p:txBody>
          </p:sp>
        </mc:Choice>
        <mc:Fallback xmlns="">
          <p:sp>
            <p:nvSpPr>
              <p:cNvPr id="33" name="Text Box 2">
                <a:extLst>
                  <a:ext uri="{FF2B5EF4-FFF2-40B4-BE49-F238E27FC236}">
                    <a16:creationId xmlns:a16="http://schemas.microsoft.com/office/drawing/2014/main" id="{52F20E8C-E391-FFF9-D4BD-C29BBABEF110}"/>
                  </a:ext>
                </a:extLst>
              </p:cNvPr>
              <p:cNvSpPr txBox="1">
                <a:spLocks noRot="1" noChangeAspect="1" noMove="1" noResize="1" noEditPoints="1" noAdjustHandles="1" noChangeArrowheads="1" noChangeShapeType="1" noTextEdit="1"/>
              </p:cNvSpPr>
              <p:nvPr/>
            </p:nvSpPr>
            <p:spPr bwMode="auto">
              <a:xfrm>
                <a:off x="9879612" y="3995722"/>
                <a:ext cx="2312388" cy="954107"/>
              </a:xfrm>
              <a:prstGeom prst="rect">
                <a:avLst/>
              </a:prstGeom>
              <a:blipFill>
                <a:blip r:embed="rId3"/>
                <a:stretch>
                  <a:fillRect t="-5732" b="-17197"/>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17EAD35-6AB2-0B1C-8834-423A45431A3C}"/>
                  </a:ext>
                </a:extLst>
              </p:cNvPr>
              <p:cNvSpPr txBox="1"/>
              <p:nvPr/>
            </p:nvSpPr>
            <p:spPr>
              <a:xfrm>
                <a:off x="758066" y="4398063"/>
                <a:ext cx="3874650" cy="646331"/>
              </a:xfrm>
              <a:prstGeom prst="rect">
                <a:avLst/>
              </a:prstGeom>
              <a:noFill/>
            </p:spPr>
            <p:txBody>
              <a:bodyPr wrap="none" rtlCol="0">
                <a:spAutoFit/>
              </a:bodyPr>
              <a:lstStyle/>
              <a:p>
                <a:r>
                  <a:rPr lang="en-US" sz="3600" dirty="0"/>
                  <a:t>Running time: </a:t>
                </a:r>
                <a14:m>
                  <m:oMath xmlns:m="http://schemas.openxmlformats.org/officeDocument/2006/math">
                    <m:r>
                      <m:rPr>
                        <m:sty m:val="p"/>
                      </m:rPr>
                      <a:rPr lang="en-US" sz="3600" b="0" i="0" smtClean="0">
                        <a:latin typeface="Cambria Math" panose="02040503050406030204" pitchFamily="18" charset="0"/>
                      </a:rPr>
                      <m:t>Θ</m:t>
                    </m:r>
                    <m:r>
                      <a:rPr lang="en-US" sz="3600" b="0" i="1" smtClean="0">
                        <a:latin typeface="Cambria Math" panose="02040503050406030204" pitchFamily="18" charset="0"/>
                      </a:rPr>
                      <m:t>(</m:t>
                    </m:r>
                    <m:r>
                      <a:rPr lang="en-US" sz="3600" b="0" i="1" smtClean="0">
                        <a:latin typeface="Cambria Math" panose="02040503050406030204" pitchFamily="18" charset="0"/>
                      </a:rPr>
                      <m:t>𝑛</m:t>
                    </m:r>
                    <m:r>
                      <a:rPr lang="en-US" sz="3600" b="0" i="1" smtClean="0">
                        <a:latin typeface="Cambria Math" panose="02040503050406030204" pitchFamily="18" charset="0"/>
                      </a:rPr>
                      <m:t>)</m:t>
                    </m:r>
                  </m:oMath>
                </a14:m>
                <a:endParaRPr lang="en-US" sz="3600" dirty="0"/>
              </a:p>
            </p:txBody>
          </p:sp>
        </mc:Choice>
        <mc:Fallback xmlns="">
          <p:sp>
            <p:nvSpPr>
              <p:cNvPr id="6" name="TextBox 5">
                <a:extLst>
                  <a:ext uri="{FF2B5EF4-FFF2-40B4-BE49-F238E27FC236}">
                    <a16:creationId xmlns:a16="http://schemas.microsoft.com/office/drawing/2014/main" id="{C17EAD35-6AB2-0B1C-8834-423A45431A3C}"/>
                  </a:ext>
                </a:extLst>
              </p:cNvPr>
              <p:cNvSpPr txBox="1">
                <a:spLocks noRot="1" noChangeAspect="1" noMove="1" noResize="1" noEditPoints="1" noAdjustHandles="1" noChangeArrowheads="1" noChangeShapeType="1" noTextEdit="1"/>
              </p:cNvSpPr>
              <p:nvPr/>
            </p:nvSpPr>
            <p:spPr>
              <a:xfrm>
                <a:off x="758066" y="4398063"/>
                <a:ext cx="3874650" cy="646331"/>
              </a:xfrm>
              <a:prstGeom prst="rect">
                <a:avLst/>
              </a:prstGeom>
              <a:blipFill>
                <a:blip r:embed="rId4"/>
                <a:stretch>
                  <a:fillRect l="-4717" t="-14151" b="-34906"/>
                </a:stretch>
              </a:blipFill>
            </p:spPr>
            <p:txBody>
              <a:bodyPr/>
              <a:lstStyle/>
              <a:p>
                <a:r>
                  <a:rPr lang="en-US">
                    <a:noFill/>
                  </a:rPr>
                  <a:t> </a:t>
                </a:r>
              </a:p>
            </p:txBody>
          </p:sp>
        </mc:Fallback>
      </mc:AlternateContent>
      <p:grpSp>
        <p:nvGrpSpPr>
          <p:cNvPr id="12" name="Group 11" descr="A picture of the recursion of linear search. We have one box per stack frame in the recursion. Each box is labelled inside with a value that represents the size of the input for that stack frame. Outside each box is labelled with the amount of (non-recursive) work done by that box (in this case it is 1).&#10;&#10;Each box has an arrow pointing to a box with a smaller input (specifically 1 unit smaller) to represent the larger box recursively invoking linear search with the smaller input.">
            <a:extLst>
              <a:ext uri="{FF2B5EF4-FFF2-40B4-BE49-F238E27FC236}">
                <a16:creationId xmlns:a16="http://schemas.microsoft.com/office/drawing/2014/main" id="{14BEBE9B-12FE-2004-6DBA-68AFD87D5C23}"/>
              </a:ext>
            </a:extLst>
          </p:cNvPr>
          <p:cNvGrpSpPr/>
          <p:nvPr/>
        </p:nvGrpSpPr>
        <p:grpSpPr>
          <a:xfrm>
            <a:off x="7559285" y="2131196"/>
            <a:ext cx="1737782" cy="4253404"/>
            <a:chOff x="7673338" y="1678247"/>
            <a:chExt cx="1737782" cy="4253404"/>
          </a:xfrm>
        </p:grpSpPr>
        <mc:AlternateContent xmlns:mc="http://schemas.openxmlformats.org/markup-compatibility/2006" xmlns:a14="http://schemas.microsoft.com/office/drawing/2010/main">
          <mc:Choice Requires="a14">
            <p:sp>
              <p:nvSpPr>
                <p:cNvPr id="4" name="Text Box 41">
                  <a:extLst>
                    <a:ext uri="{FF2B5EF4-FFF2-40B4-BE49-F238E27FC236}">
                      <a16:creationId xmlns:a16="http://schemas.microsoft.com/office/drawing/2014/main" id="{E7A861BF-0626-CE47-F3EB-D65BF39B7700}"/>
                    </a:ext>
                  </a:extLst>
                </p:cNvPr>
                <p:cNvSpPr txBox="1">
                  <a:spLocks noChangeArrowheads="1"/>
                </p:cNvSpPr>
                <p:nvPr/>
              </p:nvSpPr>
              <p:spPr bwMode="auto">
                <a:xfrm>
                  <a:off x="7673338" y="1825625"/>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a:latin typeface="Cambria Math"/>
                          </a:rPr>
                          <m:t>𝑛</m:t>
                        </m:r>
                      </m:oMath>
                    </m:oMathPara>
                  </a14:m>
                  <a:endParaRPr lang="en-US" sz="2800" dirty="0"/>
                </a:p>
              </p:txBody>
            </p:sp>
          </mc:Choice>
          <mc:Fallback xmlns="">
            <p:sp>
              <p:nvSpPr>
                <p:cNvPr id="4" name="Text Box 41">
                  <a:extLst>
                    <a:ext uri="{FF2B5EF4-FFF2-40B4-BE49-F238E27FC236}">
                      <a16:creationId xmlns:a16="http://schemas.microsoft.com/office/drawing/2014/main" id="{E7A861BF-0626-CE47-F3EB-D65BF39B7700}"/>
                    </a:ext>
                  </a:extLst>
                </p:cNvPr>
                <p:cNvSpPr txBox="1">
                  <a:spLocks noRot="1" noChangeAspect="1" noMove="1" noResize="1" noEditPoints="1" noAdjustHandles="1" noChangeArrowheads="1" noChangeShapeType="1" noTextEdit="1"/>
                </p:cNvSpPr>
                <p:nvPr/>
              </p:nvSpPr>
              <p:spPr bwMode="auto">
                <a:xfrm>
                  <a:off x="7673338" y="1825625"/>
                  <a:ext cx="1333500" cy="457200"/>
                </a:xfrm>
                <a:prstGeom prst="rect">
                  <a:avLst/>
                </a:prstGeom>
                <a:blipFill>
                  <a:blip r:embed="rId5"/>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 Box 41">
                  <a:extLst>
                    <a:ext uri="{FF2B5EF4-FFF2-40B4-BE49-F238E27FC236}">
                      <a16:creationId xmlns:a16="http://schemas.microsoft.com/office/drawing/2014/main" id="{526E2983-A463-A0EE-B0DB-A268A8B8412A}"/>
                    </a:ext>
                  </a:extLst>
                </p:cNvPr>
                <p:cNvSpPr txBox="1">
                  <a:spLocks noChangeArrowheads="1"/>
                </p:cNvSpPr>
                <p:nvPr/>
              </p:nvSpPr>
              <p:spPr bwMode="auto">
                <a:xfrm>
                  <a:off x="7673338" y="263971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smtClean="0">
                            <a:latin typeface="Cambria Math"/>
                          </a:rPr>
                          <m:t>𝑛</m:t>
                        </m:r>
                        <m:r>
                          <a:rPr lang="en-US" sz="2800" b="0" i="1" dirty="0" smtClean="0">
                            <a:latin typeface="Cambria Math" panose="02040503050406030204" pitchFamily="18" charset="0"/>
                          </a:rPr>
                          <m:t>−1</m:t>
                        </m:r>
                      </m:oMath>
                    </m:oMathPara>
                  </a14:m>
                  <a:endParaRPr lang="en-US" sz="2800" dirty="0"/>
                </a:p>
              </p:txBody>
            </p:sp>
          </mc:Choice>
          <mc:Fallback xmlns="">
            <p:sp>
              <p:nvSpPr>
                <p:cNvPr id="5" name="Text Box 41">
                  <a:extLst>
                    <a:ext uri="{FF2B5EF4-FFF2-40B4-BE49-F238E27FC236}">
                      <a16:creationId xmlns:a16="http://schemas.microsoft.com/office/drawing/2014/main" id="{526E2983-A463-A0EE-B0DB-A268A8B8412A}"/>
                    </a:ext>
                  </a:extLst>
                </p:cNvPr>
                <p:cNvSpPr txBox="1">
                  <a:spLocks noRot="1" noChangeAspect="1" noMove="1" noResize="1" noEditPoints="1" noAdjustHandles="1" noChangeArrowheads="1" noChangeShapeType="1" noTextEdit="1"/>
                </p:cNvSpPr>
                <p:nvPr/>
              </p:nvSpPr>
              <p:spPr bwMode="auto">
                <a:xfrm>
                  <a:off x="7673338" y="2639716"/>
                  <a:ext cx="1333500" cy="457200"/>
                </a:xfrm>
                <a:prstGeom prst="rect">
                  <a:avLst/>
                </a:prstGeom>
                <a:blipFill>
                  <a:blip r:embed="rId6"/>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 Box 41">
                  <a:extLst>
                    <a:ext uri="{FF2B5EF4-FFF2-40B4-BE49-F238E27FC236}">
                      <a16:creationId xmlns:a16="http://schemas.microsoft.com/office/drawing/2014/main" id="{2DB49E5C-7AA5-2844-7FEA-F0D4A3178B4D}"/>
                    </a:ext>
                  </a:extLst>
                </p:cNvPr>
                <p:cNvSpPr txBox="1">
                  <a:spLocks noChangeArrowheads="1"/>
                </p:cNvSpPr>
                <p:nvPr/>
              </p:nvSpPr>
              <p:spPr bwMode="auto">
                <a:xfrm>
                  <a:off x="7673338" y="3453998"/>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smtClean="0">
                            <a:latin typeface="Cambria Math"/>
                          </a:rPr>
                          <m:t>𝑛</m:t>
                        </m:r>
                        <m:r>
                          <a:rPr lang="en-US" sz="2800" b="0" i="1" dirty="0" smtClean="0">
                            <a:latin typeface="Cambria Math" panose="02040503050406030204" pitchFamily="18" charset="0"/>
                          </a:rPr>
                          <m:t>−2</m:t>
                        </m:r>
                      </m:oMath>
                    </m:oMathPara>
                  </a14:m>
                  <a:endParaRPr lang="en-US" sz="2800" dirty="0"/>
                </a:p>
              </p:txBody>
            </p:sp>
          </mc:Choice>
          <mc:Fallback xmlns="">
            <p:sp>
              <p:nvSpPr>
                <p:cNvPr id="8" name="Text Box 41">
                  <a:extLst>
                    <a:ext uri="{FF2B5EF4-FFF2-40B4-BE49-F238E27FC236}">
                      <a16:creationId xmlns:a16="http://schemas.microsoft.com/office/drawing/2014/main" id="{2DB49E5C-7AA5-2844-7FEA-F0D4A3178B4D}"/>
                    </a:ext>
                  </a:extLst>
                </p:cNvPr>
                <p:cNvSpPr txBox="1">
                  <a:spLocks noRot="1" noChangeAspect="1" noMove="1" noResize="1" noEditPoints="1" noAdjustHandles="1" noChangeArrowheads="1" noChangeShapeType="1" noTextEdit="1"/>
                </p:cNvSpPr>
                <p:nvPr/>
              </p:nvSpPr>
              <p:spPr bwMode="auto">
                <a:xfrm>
                  <a:off x="7673338" y="3453998"/>
                  <a:ext cx="1333500" cy="457200"/>
                </a:xfrm>
                <a:prstGeom prst="rect">
                  <a:avLst/>
                </a:prstGeom>
                <a:blipFill>
                  <a:blip r:embed="rId7"/>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 Box 41">
                  <a:extLst>
                    <a:ext uri="{FF2B5EF4-FFF2-40B4-BE49-F238E27FC236}">
                      <a16:creationId xmlns:a16="http://schemas.microsoft.com/office/drawing/2014/main" id="{17512E4D-96D0-AC62-9DE6-378647691C59}"/>
                    </a:ext>
                  </a:extLst>
                </p:cNvPr>
                <p:cNvSpPr txBox="1">
                  <a:spLocks noChangeArrowheads="1"/>
                </p:cNvSpPr>
                <p:nvPr/>
              </p:nvSpPr>
              <p:spPr bwMode="auto">
                <a:xfrm>
                  <a:off x="7673338" y="4268280"/>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smtClean="0">
                            <a:latin typeface="Cambria Math"/>
                          </a:rPr>
                          <m:t>𝑛</m:t>
                        </m:r>
                        <m:r>
                          <a:rPr lang="en-US" sz="2800" b="0" i="1" dirty="0" smtClean="0">
                            <a:latin typeface="Cambria Math" panose="02040503050406030204" pitchFamily="18" charset="0"/>
                          </a:rPr>
                          <m:t>−3</m:t>
                        </m:r>
                      </m:oMath>
                    </m:oMathPara>
                  </a14:m>
                  <a:endParaRPr lang="en-US" sz="2800" dirty="0"/>
                </a:p>
              </p:txBody>
            </p:sp>
          </mc:Choice>
          <mc:Fallback xmlns="">
            <p:sp>
              <p:nvSpPr>
                <p:cNvPr id="9" name="Text Box 41">
                  <a:extLst>
                    <a:ext uri="{FF2B5EF4-FFF2-40B4-BE49-F238E27FC236}">
                      <a16:creationId xmlns:a16="http://schemas.microsoft.com/office/drawing/2014/main" id="{17512E4D-96D0-AC62-9DE6-378647691C59}"/>
                    </a:ext>
                  </a:extLst>
                </p:cNvPr>
                <p:cNvSpPr txBox="1">
                  <a:spLocks noRot="1" noChangeAspect="1" noMove="1" noResize="1" noEditPoints="1" noAdjustHandles="1" noChangeArrowheads="1" noChangeShapeType="1" noTextEdit="1"/>
                </p:cNvSpPr>
                <p:nvPr/>
              </p:nvSpPr>
              <p:spPr bwMode="auto">
                <a:xfrm>
                  <a:off x="7673338" y="4268280"/>
                  <a:ext cx="1333500" cy="457200"/>
                </a:xfrm>
                <a:prstGeom prst="rect">
                  <a:avLst/>
                </a:prstGeom>
                <a:blipFill>
                  <a:blip r:embed="rId8"/>
                  <a:stretch>
                    <a:fillRect/>
                  </a:stretch>
                </a:blipFill>
                <a:ln w="9525">
                  <a:solidFill>
                    <a:srgbClr val="FF0000"/>
                  </a:solidFill>
                  <a:miter lim="800000"/>
                  <a:headEnd/>
                  <a:tailEnd/>
                </a:ln>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7C6A9046-97A8-1FAD-BB03-9BB482BBAF1E}"/>
                </a:ext>
              </a:extLst>
            </p:cNvPr>
            <p:cNvCxnSpPr>
              <a:cxnSpLocks/>
              <a:stCxn id="4" idx="2"/>
              <a:endCxn id="5" idx="0"/>
            </p:cNvCxnSpPr>
            <p:nvPr/>
          </p:nvCxnSpPr>
          <p:spPr>
            <a:xfrm>
              <a:off x="8340088" y="2282825"/>
              <a:ext cx="0" cy="356891"/>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1467D28-1318-9063-0540-C3E454C67874}"/>
                </a:ext>
              </a:extLst>
            </p:cNvPr>
            <p:cNvCxnSpPr>
              <a:cxnSpLocks/>
              <a:stCxn id="5" idx="2"/>
              <a:endCxn id="8" idx="0"/>
            </p:cNvCxnSpPr>
            <p:nvPr/>
          </p:nvCxnSpPr>
          <p:spPr>
            <a:xfrm>
              <a:off x="8340088" y="3096916"/>
              <a:ext cx="0" cy="3570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C2CACAE-D845-C8E4-F943-E9AE13D618B6}"/>
                </a:ext>
              </a:extLst>
            </p:cNvPr>
            <p:cNvCxnSpPr>
              <a:cxnSpLocks/>
              <a:stCxn id="8" idx="2"/>
              <a:endCxn id="9" idx="0"/>
            </p:cNvCxnSpPr>
            <p:nvPr/>
          </p:nvCxnSpPr>
          <p:spPr>
            <a:xfrm>
              <a:off x="8340088" y="3911198"/>
              <a:ext cx="0" cy="3570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 Box 41">
                  <a:extLst>
                    <a:ext uri="{FF2B5EF4-FFF2-40B4-BE49-F238E27FC236}">
                      <a16:creationId xmlns:a16="http://schemas.microsoft.com/office/drawing/2014/main" id="{BD5DB48A-B532-2E68-E804-2C1AEECBA684}"/>
                    </a:ext>
                  </a:extLst>
                </p:cNvPr>
                <p:cNvSpPr txBox="1">
                  <a:spLocks noChangeArrowheads="1"/>
                </p:cNvSpPr>
                <p:nvPr/>
              </p:nvSpPr>
              <p:spPr bwMode="auto">
                <a:xfrm>
                  <a:off x="7673338" y="5474451"/>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1</m:t>
                        </m:r>
                      </m:oMath>
                    </m:oMathPara>
                  </a14:m>
                  <a:endParaRPr lang="en-US" sz="2800" dirty="0"/>
                </a:p>
              </p:txBody>
            </p:sp>
          </mc:Choice>
          <mc:Fallback xmlns="">
            <p:sp>
              <p:nvSpPr>
                <p:cNvPr id="20" name="Text Box 41">
                  <a:extLst>
                    <a:ext uri="{FF2B5EF4-FFF2-40B4-BE49-F238E27FC236}">
                      <a16:creationId xmlns:a16="http://schemas.microsoft.com/office/drawing/2014/main" id="{BD5DB48A-B532-2E68-E804-2C1AEECBA684}"/>
                    </a:ext>
                  </a:extLst>
                </p:cNvPr>
                <p:cNvSpPr txBox="1">
                  <a:spLocks noRot="1" noChangeAspect="1" noMove="1" noResize="1" noEditPoints="1" noAdjustHandles="1" noChangeArrowheads="1" noChangeShapeType="1" noTextEdit="1"/>
                </p:cNvSpPr>
                <p:nvPr/>
              </p:nvSpPr>
              <p:spPr bwMode="auto">
                <a:xfrm>
                  <a:off x="7673338" y="5474451"/>
                  <a:ext cx="1333500" cy="457200"/>
                </a:xfrm>
                <a:prstGeom prst="rect">
                  <a:avLst/>
                </a:prstGeom>
                <a:blipFill>
                  <a:blip r:embed="rId9"/>
                  <a:stretch>
                    <a:fillRect/>
                  </a:stretch>
                </a:blipFill>
                <a:ln w="9525">
                  <a:solidFill>
                    <a:srgbClr val="FF0000"/>
                  </a:solidFill>
                  <a:miter lim="800000"/>
                  <a:headEnd/>
                  <a:tailEnd/>
                </a:ln>
              </p:spPr>
              <p:txBody>
                <a:bodyPr/>
                <a:lstStyle/>
                <a:p>
                  <a:r>
                    <a:rPr lang="en-US">
                      <a:noFill/>
                    </a:rPr>
                    <a:t> </a:t>
                  </a:r>
                </a:p>
              </p:txBody>
            </p:sp>
          </mc:Fallback>
        </mc:AlternateContent>
        <p:cxnSp>
          <p:nvCxnSpPr>
            <p:cNvPr id="21" name="Straight Connector 20">
              <a:extLst>
                <a:ext uri="{FF2B5EF4-FFF2-40B4-BE49-F238E27FC236}">
                  <a16:creationId xmlns:a16="http://schemas.microsoft.com/office/drawing/2014/main" id="{2559CB69-DCE6-7974-5537-E6969488B3D5}"/>
                </a:ext>
              </a:extLst>
            </p:cNvPr>
            <p:cNvCxnSpPr>
              <a:cxnSpLocks/>
              <a:stCxn id="9" idx="2"/>
            </p:cNvCxnSpPr>
            <p:nvPr/>
          </p:nvCxnSpPr>
          <p:spPr>
            <a:xfrm>
              <a:off x="8340088" y="4725480"/>
              <a:ext cx="0" cy="255823"/>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445BA787-0977-811B-55E2-A5A1337C969B}"/>
                </a:ext>
              </a:extLst>
            </p:cNvPr>
            <p:cNvSpPr/>
            <p:nvPr/>
          </p:nvSpPr>
          <p:spPr>
            <a:xfrm>
              <a:off x="8052990" y="4660169"/>
              <a:ext cx="574196" cy="769441"/>
            </a:xfrm>
            <a:prstGeom prst="rect">
              <a:avLst/>
            </a:prstGeom>
          </p:spPr>
          <p:txBody>
            <a:bodyPr wrap="none">
              <a:spAutoFit/>
            </a:bodyPr>
            <a:lstStyle/>
            <a:p>
              <a:r>
                <a:rPr lang="en-US" sz="4400" dirty="0"/>
                <a:t>…</a:t>
              </a: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C58F77F7-7D60-EB65-A215-0D854398CFCA}"/>
                    </a:ext>
                  </a:extLst>
                </p:cNvPr>
                <p:cNvSpPr txBox="1"/>
                <p:nvPr/>
              </p:nvSpPr>
              <p:spPr>
                <a:xfrm>
                  <a:off x="9002408" y="1678247"/>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27" name="TextBox 26">
                  <a:extLst>
                    <a:ext uri="{FF2B5EF4-FFF2-40B4-BE49-F238E27FC236}">
                      <a16:creationId xmlns:a16="http://schemas.microsoft.com/office/drawing/2014/main" id="{C58F77F7-7D60-EB65-A215-0D854398CFCA}"/>
                    </a:ext>
                  </a:extLst>
                </p:cNvPr>
                <p:cNvSpPr txBox="1">
                  <a:spLocks noRot="1" noChangeAspect="1" noMove="1" noResize="1" noEditPoints="1" noAdjustHandles="1" noChangeArrowheads="1" noChangeShapeType="1" noTextEdit="1"/>
                </p:cNvSpPr>
                <p:nvPr/>
              </p:nvSpPr>
              <p:spPr>
                <a:xfrm>
                  <a:off x="9002408" y="1678247"/>
                  <a:ext cx="365805"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722D0772-8582-C391-0488-93C9175AC40C}"/>
                    </a:ext>
                  </a:extLst>
                </p:cNvPr>
                <p:cNvSpPr txBox="1"/>
                <p:nvPr/>
              </p:nvSpPr>
              <p:spPr>
                <a:xfrm>
                  <a:off x="9002407" y="2525515"/>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28" name="TextBox 27">
                  <a:extLst>
                    <a:ext uri="{FF2B5EF4-FFF2-40B4-BE49-F238E27FC236}">
                      <a16:creationId xmlns:a16="http://schemas.microsoft.com/office/drawing/2014/main" id="{722D0772-8582-C391-0488-93C9175AC40C}"/>
                    </a:ext>
                  </a:extLst>
                </p:cNvPr>
                <p:cNvSpPr txBox="1">
                  <a:spLocks noRot="1" noChangeAspect="1" noMove="1" noResize="1" noEditPoints="1" noAdjustHandles="1" noChangeArrowheads="1" noChangeShapeType="1" noTextEdit="1"/>
                </p:cNvSpPr>
                <p:nvPr/>
              </p:nvSpPr>
              <p:spPr>
                <a:xfrm>
                  <a:off x="9002407" y="2525515"/>
                  <a:ext cx="365805"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5218D935-1EA5-3D30-6436-E62E0AF4623E}"/>
                    </a:ext>
                  </a:extLst>
                </p:cNvPr>
                <p:cNvSpPr txBox="1"/>
                <p:nvPr/>
              </p:nvSpPr>
              <p:spPr>
                <a:xfrm>
                  <a:off x="9002407" y="3348473"/>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29" name="TextBox 28">
                  <a:extLst>
                    <a:ext uri="{FF2B5EF4-FFF2-40B4-BE49-F238E27FC236}">
                      <a16:creationId xmlns:a16="http://schemas.microsoft.com/office/drawing/2014/main" id="{5218D935-1EA5-3D30-6436-E62E0AF4623E}"/>
                    </a:ext>
                  </a:extLst>
                </p:cNvPr>
                <p:cNvSpPr txBox="1">
                  <a:spLocks noRot="1" noChangeAspect="1" noMove="1" noResize="1" noEditPoints="1" noAdjustHandles="1" noChangeArrowheads="1" noChangeShapeType="1" noTextEdit="1"/>
                </p:cNvSpPr>
                <p:nvPr/>
              </p:nvSpPr>
              <p:spPr>
                <a:xfrm>
                  <a:off x="9002407" y="3348473"/>
                  <a:ext cx="365805"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A48A35A-F221-0772-DE4C-D3264E78EC79}"/>
                    </a:ext>
                  </a:extLst>
                </p:cNvPr>
                <p:cNvSpPr txBox="1"/>
                <p:nvPr/>
              </p:nvSpPr>
              <p:spPr>
                <a:xfrm>
                  <a:off x="9002407" y="4171431"/>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30" name="TextBox 29">
                  <a:extLst>
                    <a:ext uri="{FF2B5EF4-FFF2-40B4-BE49-F238E27FC236}">
                      <a16:creationId xmlns:a16="http://schemas.microsoft.com/office/drawing/2014/main" id="{FA48A35A-F221-0772-DE4C-D3264E78EC79}"/>
                    </a:ext>
                  </a:extLst>
                </p:cNvPr>
                <p:cNvSpPr txBox="1">
                  <a:spLocks noRot="1" noChangeAspect="1" noMove="1" noResize="1" noEditPoints="1" noAdjustHandles="1" noChangeArrowheads="1" noChangeShapeType="1" noTextEdit="1"/>
                </p:cNvSpPr>
                <p:nvPr/>
              </p:nvSpPr>
              <p:spPr>
                <a:xfrm>
                  <a:off x="9002407" y="4171431"/>
                  <a:ext cx="365805"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9CF95495-3C2E-4DF2-EEBF-4AC317B24405}"/>
                    </a:ext>
                  </a:extLst>
                </p:cNvPr>
                <p:cNvSpPr txBox="1"/>
                <p:nvPr/>
              </p:nvSpPr>
              <p:spPr>
                <a:xfrm>
                  <a:off x="8988938" y="5344243"/>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31" name="TextBox 30">
                  <a:extLst>
                    <a:ext uri="{FF2B5EF4-FFF2-40B4-BE49-F238E27FC236}">
                      <a16:creationId xmlns:a16="http://schemas.microsoft.com/office/drawing/2014/main" id="{9CF95495-3C2E-4DF2-EEBF-4AC317B24405}"/>
                    </a:ext>
                  </a:extLst>
                </p:cNvPr>
                <p:cNvSpPr txBox="1">
                  <a:spLocks noRot="1" noChangeAspect="1" noMove="1" noResize="1" noEditPoints="1" noAdjustHandles="1" noChangeArrowheads="1" noChangeShapeType="1" noTextEdit="1"/>
                </p:cNvSpPr>
                <p:nvPr/>
              </p:nvSpPr>
              <p:spPr>
                <a:xfrm>
                  <a:off x="8988938" y="5344243"/>
                  <a:ext cx="365805"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13">
              <p14:nvContentPartPr>
                <p14:cNvPr id="11" name="Ink 10">
                  <a:extLst>
                    <a:ext uri="{FF2B5EF4-FFF2-40B4-BE49-F238E27FC236}">
                      <a16:creationId xmlns:a16="http://schemas.microsoft.com/office/drawing/2014/main" id="{D7D8E0AF-3481-5748-34FB-8D624C2E516D}"/>
                    </a:ext>
                  </a:extLst>
                </p14:cNvPr>
                <p14:cNvContentPartPr/>
                <p14:nvPr/>
              </p14:nvContentPartPr>
              <p14:xfrm>
                <a:off x="9410760" y="4483080"/>
                <a:ext cx="360" cy="360"/>
              </p14:xfrm>
            </p:contentPart>
          </mc:Choice>
          <mc:Fallback xmlns="">
            <p:pic>
              <p:nvPicPr>
                <p:cNvPr id="11" name="Ink 10">
                  <a:extLst>
                    <a:ext uri="{FF2B5EF4-FFF2-40B4-BE49-F238E27FC236}">
                      <a16:creationId xmlns:a16="http://schemas.microsoft.com/office/drawing/2014/main" id="{D7D8E0AF-3481-5748-34FB-8D624C2E516D}"/>
                    </a:ext>
                  </a:extLst>
                </p:cNvPr>
                <p:cNvPicPr/>
                <p:nvPr/>
              </p:nvPicPr>
              <p:blipFill>
                <a:blip r:embed="rId14"/>
                <a:stretch>
                  <a:fillRect/>
                </a:stretch>
              </p:blipFill>
              <p:spPr>
                <a:xfrm>
                  <a:off x="9401400" y="4473720"/>
                  <a:ext cx="19080" cy="190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5">
            <p14:nvContentPartPr>
              <p14:cNvPr id="14" name="Ink 13">
                <a:extLst>
                  <a:ext uri="{FF2B5EF4-FFF2-40B4-BE49-F238E27FC236}">
                    <a16:creationId xmlns:a16="http://schemas.microsoft.com/office/drawing/2014/main" id="{1010ABE5-152F-1A72-6CF4-F95E2D171F51}"/>
                  </a:ext>
                </a:extLst>
              </p14:cNvPr>
              <p14:cNvContentPartPr/>
              <p14:nvPr/>
            </p14:nvContentPartPr>
            <p14:xfrm>
              <a:off x="6258960" y="1595160"/>
              <a:ext cx="1269360" cy="2608920"/>
            </p14:xfrm>
          </p:contentPart>
        </mc:Choice>
        <mc:Fallback>
          <p:pic>
            <p:nvPicPr>
              <p:cNvPr id="14" name="Ink 13">
                <a:extLst>
                  <a:ext uri="{FF2B5EF4-FFF2-40B4-BE49-F238E27FC236}">
                    <a16:creationId xmlns:a16="http://schemas.microsoft.com/office/drawing/2014/main" id="{1010ABE5-152F-1A72-6CF4-F95E2D171F51}"/>
                  </a:ext>
                </a:extLst>
              </p:cNvPr>
              <p:cNvPicPr/>
              <p:nvPr/>
            </p:nvPicPr>
            <p:blipFill>
              <a:blip r:embed="rId16"/>
              <a:stretch>
                <a:fillRect/>
              </a:stretch>
            </p:blipFill>
            <p:spPr>
              <a:xfrm>
                <a:off x="6249600" y="1585800"/>
                <a:ext cx="1288080" cy="2627640"/>
              </a:xfrm>
              <a:prstGeom prst="rect">
                <a:avLst/>
              </a:prstGeom>
            </p:spPr>
          </p:pic>
        </mc:Fallback>
      </mc:AlternateContent>
    </p:spTree>
    <p:extLst>
      <p:ext uri="{BB962C8B-B14F-4D97-AF65-F5344CB8AC3E}">
        <p14:creationId xmlns:p14="http://schemas.microsoft.com/office/powerpoint/2010/main" val="3771844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500"/>
                                        <p:tgtEl>
                                          <p:spTgt spid="3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AE782-C07E-8C9D-F03B-E1555654D0F6}"/>
              </a:ext>
            </a:extLst>
          </p:cNvPr>
          <p:cNvSpPr>
            <a:spLocks noGrp="1"/>
          </p:cNvSpPr>
          <p:nvPr>
            <p:ph type="title"/>
          </p:nvPr>
        </p:nvSpPr>
        <p:spPr/>
        <p:txBody>
          <a:bodyPr/>
          <a:lstStyle/>
          <a:p>
            <a:r>
              <a:rPr lang="en-US" dirty="0"/>
              <a:t>Recursive List Summation Code</a:t>
            </a:r>
          </a:p>
        </p:txBody>
      </p:sp>
      <p:sp>
        <p:nvSpPr>
          <p:cNvPr id="3" name="Content Placeholder 2">
            <a:extLst>
              <a:ext uri="{FF2B5EF4-FFF2-40B4-BE49-F238E27FC236}">
                <a16:creationId xmlns:a16="http://schemas.microsoft.com/office/drawing/2014/main" id="{324CB12C-1484-4384-0A8A-F40C8F089090}"/>
              </a:ext>
            </a:extLst>
          </p:cNvPr>
          <p:cNvSpPr>
            <a:spLocks noGrp="1"/>
          </p:cNvSpPr>
          <p:nvPr>
            <p:ph idx="1"/>
          </p:nvPr>
        </p:nvSpPr>
        <p:spPr/>
        <p:txBody>
          <a:bodyPr>
            <a:normAutofit/>
          </a:bodyPr>
          <a:lstStyle/>
          <a:p>
            <a:pPr marL="0" indent="0">
              <a:buNone/>
            </a:pPr>
            <a:r>
              <a:rPr lang="en-US" sz="1800" b="0" dirty="0">
                <a:solidFill>
                  <a:srgbClr val="0000FF"/>
                </a:solidFill>
                <a:effectLst/>
                <a:latin typeface="Consolas" panose="020B0609020204030204" pitchFamily="49" charset="0"/>
              </a:rPr>
              <a:t>public</a:t>
            </a: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int</a:t>
            </a:r>
            <a:r>
              <a:rPr lang="en-US" sz="1800" b="0" dirty="0">
                <a:solidFill>
                  <a:srgbClr val="000000"/>
                </a:solidFill>
                <a:effectLst/>
                <a:latin typeface="Consolas" panose="020B0609020204030204" pitchFamily="49" charset="0"/>
              </a:rPr>
              <a:t> sum(</a:t>
            </a:r>
            <a:r>
              <a:rPr lang="en-US" sz="1800" b="0" dirty="0">
                <a:solidFill>
                  <a:srgbClr val="0000FF"/>
                </a:solidFill>
                <a:effectLst/>
                <a:latin typeface="Consolas" panose="020B0609020204030204" pitchFamily="49" charset="0"/>
              </a:rPr>
              <a:t>int</a:t>
            </a:r>
            <a:r>
              <a:rPr lang="en-US" sz="1800" b="0" dirty="0">
                <a:solidFill>
                  <a:srgbClr val="000000"/>
                </a:solidFill>
                <a:effectLst/>
                <a:latin typeface="Consolas" panose="020B0609020204030204" pitchFamily="49" charset="0"/>
              </a:rPr>
              <a:t>[] list){</a:t>
            </a:r>
          </a:p>
          <a:p>
            <a:pPr marL="0" indent="0">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return</a:t>
            </a: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sum_helper</a:t>
            </a:r>
            <a:r>
              <a:rPr lang="en-US" sz="1800" b="0" dirty="0">
                <a:solidFill>
                  <a:srgbClr val="000000"/>
                </a:solidFill>
                <a:effectLst/>
                <a:latin typeface="Consolas" panose="020B0609020204030204" pitchFamily="49" charset="0"/>
              </a:rPr>
              <a:t>(list, </a:t>
            </a:r>
            <a:r>
              <a:rPr lang="en-US" sz="1800" b="0" dirty="0">
                <a:solidFill>
                  <a:srgbClr val="098658"/>
                </a:solidFill>
                <a:effectLst/>
                <a:latin typeface="Consolas" panose="020B0609020204030204" pitchFamily="49" charset="0"/>
              </a:rPr>
              <a:t>0</a:t>
            </a: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list.size</a:t>
            </a:r>
            <a:r>
              <a:rPr lang="en-US" sz="1800" b="0" dirty="0">
                <a:solidFill>
                  <a:srgbClr val="000000"/>
                </a:solidFill>
                <a:effectLst/>
                <a:latin typeface="Consolas" panose="020B0609020204030204" pitchFamily="49" charset="0"/>
              </a:rPr>
              <a:t>);</a:t>
            </a:r>
          </a:p>
          <a:p>
            <a:pPr marL="0" indent="0">
              <a:buNone/>
            </a:pPr>
            <a:r>
              <a:rPr lang="en-US" sz="1800" b="0" dirty="0">
                <a:solidFill>
                  <a:srgbClr val="000000"/>
                </a:solidFill>
                <a:effectLst/>
                <a:latin typeface="Consolas" panose="020B0609020204030204" pitchFamily="49" charset="0"/>
              </a:rPr>
              <a:t>}</a:t>
            </a:r>
          </a:p>
          <a:p>
            <a:pPr marL="0" indent="0">
              <a:buNone/>
            </a:pPr>
            <a:r>
              <a:rPr lang="en-US" sz="1800" b="0" dirty="0">
                <a:solidFill>
                  <a:srgbClr val="0000FF"/>
                </a:solidFill>
                <a:effectLst/>
                <a:latin typeface="Consolas" panose="020B0609020204030204" pitchFamily="49" charset="0"/>
              </a:rPr>
              <a:t>private</a:t>
            </a: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int</a:t>
            </a: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sum_helper</a:t>
            </a:r>
            <a:r>
              <a:rPr lang="en-US" sz="1800" b="0" dirty="0">
                <a:solidFill>
                  <a:srgbClr val="000000"/>
                </a:solidFill>
                <a:effectLst/>
                <a:latin typeface="Consolas" panose="020B0609020204030204" pitchFamily="49" charset="0"/>
              </a:rPr>
              <a:t>(</a:t>
            </a:r>
            <a:r>
              <a:rPr lang="en-US" sz="1800" b="0" dirty="0">
                <a:solidFill>
                  <a:srgbClr val="0000FF"/>
                </a:solidFill>
                <a:effectLst/>
                <a:latin typeface="Consolas" panose="020B0609020204030204" pitchFamily="49" charset="0"/>
              </a:rPr>
              <a:t>int</a:t>
            </a:r>
            <a:r>
              <a:rPr lang="en-US" sz="1800" b="0" dirty="0">
                <a:solidFill>
                  <a:srgbClr val="000000"/>
                </a:solidFill>
                <a:effectLst/>
                <a:latin typeface="Consolas" panose="020B0609020204030204" pitchFamily="49" charset="0"/>
              </a:rPr>
              <a:t>[] list, </a:t>
            </a:r>
            <a:r>
              <a:rPr lang="en-US" sz="1800" b="0" dirty="0">
                <a:solidFill>
                  <a:srgbClr val="0000FF"/>
                </a:solidFill>
                <a:effectLst/>
                <a:latin typeface="Consolas" panose="020B0609020204030204" pitchFamily="49" charset="0"/>
              </a:rPr>
              <a:t>int</a:t>
            </a:r>
            <a:r>
              <a:rPr lang="en-US" sz="1800" b="0" dirty="0">
                <a:solidFill>
                  <a:srgbClr val="000000"/>
                </a:solidFill>
                <a:effectLst/>
                <a:latin typeface="Consolas" panose="020B0609020204030204" pitchFamily="49" charset="0"/>
              </a:rPr>
              <a:t> low, </a:t>
            </a:r>
            <a:r>
              <a:rPr lang="en-US" sz="1800" b="0" dirty="0">
                <a:solidFill>
                  <a:srgbClr val="0000FF"/>
                </a:solidFill>
                <a:effectLst/>
                <a:latin typeface="Consolas" panose="020B0609020204030204" pitchFamily="49" charset="0"/>
              </a:rPr>
              <a:t>int</a:t>
            </a:r>
            <a:r>
              <a:rPr lang="en-US" sz="1800" b="0" dirty="0">
                <a:solidFill>
                  <a:srgbClr val="000000"/>
                </a:solidFill>
                <a:effectLst/>
                <a:latin typeface="Consolas" panose="020B0609020204030204" pitchFamily="49" charset="0"/>
              </a:rPr>
              <a:t> high){</a:t>
            </a:r>
          </a:p>
          <a:p>
            <a:pPr marL="0" indent="0">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if</a:t>
            </a:r>
            <a:r>
              <a:rPr lang="en-US" sz="1800" b="0" dirty="0">
                <a:solidFill>
                  <a:srgbClr val="000000"/>
                </a:solidFill>
                <a:effectLst/>
                <a:latin typeface="Consolas" panose="020B0609020204030204" pitchFamily="49" charset="0"/>
              </a:rPr>
              <a:t> (low == high){ </a:t>
            </a:r>
            <a:r>
              <a:rPr lang="en-US" sz="1800" b="0" dirty="0">
                <a:solidFill>
                  <a:srgbClr val="0000FF"/>
                </a:solidFill>
                <a:effectLst/>
                <a:latin typeface="Consolas" panose="020B0609020204030204" pitchFamily="49" charset="0"/>
              </a:rPr>
              <a:t>return</a:t>
            </a:r>
            <a:r>
              <a:rPr lang="en-US" sz="1800" b="0" dirty="0">
                <a:solidFill>
                  <a:srgbClr val="000000"/>
                </a:solidFill>
                <a:effectLst/>
                <a:latin typeface="Consolas" panose="020B0609020204030204" pitchFamily="49" charset="0"/>
              </a:rPr>
              <a:t> </a:t>
            </a:r>
            <a:r>
              <a:rPr lang="en-US" sz="1800" b="0" dirty="0">
                <a:solidFill>
                  <a:srgbClr val="098658"/>
                </a:solidFill>
                <a:effectLst/>
                <a:latin typeface="Consolas" panose="020B0609020204030204" pitchFamily="49" charset="0"/>
              </a:rPr>
              <a:t>0</a:t>
            </a:r>
            <a:r>
              <a:rPr lang="en-US" sz="1800" b="0" dirty="0">
                <a:solidFill>
                  <a:srgbClr val="000000"/>
                </a:solidFill>
                <a:effectLst/>
                <a:latin typeface="Consolas" panose="020B0609020204030204" pitchFamily="49" charset="0"/>
              </a:rPr>
              <a:t>; }</a:t>
            </a:r>
          </a:p>
          <a:p>
            <a:pPr marL="0" indent="0">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if</a:t>
            </a:r>
            <a:r>
              <a:rPr lang="en-US" sz="1800" b="0" dirty="0">
                <a:solidFill>
                  <a:srgbClr val="000000"/>
                </a:solidFill>
                <a:effectLst/>
                <a:latin typeface="Consolas" panose="020B0609020204030204" pitchFamily="49" charset="0"/>
              </a:rPr>
              <a:t> (low == high-</a:t>
            </a:r>
            <a:r>
              <a:rPr lang="en-US" sz="1800" b="0" dirty="0">
                <a:solidFill>
                  <a:srgbClr val="098658"/>
                </a:solidFill>
                <a:effectLst/>
                <a:latin typeface="Consolas" panose="020B0609020204030204" pitchFamily="49" charset="0"/>
              </a:rPr>
              <a:t>1</a:t>
            </a: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return</a:t>
            </a:r>
            <a:r>
              <a:rPr lang="en-US" sz="1800" b="0" dirty="0">
                <a:solidFill>
                  <a:srgbClr val="000000"/>
                </a:solidFill>
                <a:effectLst/>
                <a:latin typeface="Consolas" panose="020B0609020204030204" pitchFamily="49" charset="0"/>
              </a:rPr>
              <a:t> list[low]; }</a:t>
            </a:r>
          </a:p>
          <a:p>
            <a:pPr marL="0" indent="0">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int</a:t>
            </a:r>
            <a:r>
              <a:rPr lang="en-US" sz="1800" b="0" dirty="0">
                <a:solidFill>
                  <a:srgbClr val="000000"/>
                </a:solidFill>
                <a:effectLst/>
                <a:latin typeface="Consolas" panose="020B0609020204030204" pitchFamily="49" charset="0"/>
              </a:rPr>
              <a:t> middle = (</a:t>
            </a:r>
            <a:r>
              <a:rPr lang="en-US" sz="1800" b="0" dirty="0" err="1">
                <a:solidFill>
                  <a:srgbClr val="000000"/>
                </a:solidFill>
                <a:effectLst/>
                <a:latin typeface="Consolas" panose="020B0609020204030204" pitchFamily="49" charset="0"/>
              </a:rPr>
              <a:t>high+low</a:t>
            </a:r>
            <a:r>
              <a:rPr lang="en-US" sz="1800" b="0" dirty="0">
                <a:solidFill>
                  <a:srgbClr val="000000"/>
                </a:solidFill>
                <a:effectLst/>
                <a:latin typeface="Consolas" panose="020B0609020204030204" pitchFamily="49" charset="0"/>
              </a:rPr>
              <a:t>)/</a:t>
            </a:r>
            <a:r>
              <a:rPr lang="en-US" sz="1800" b="0" dirty="0">
                <a:solidFill>
                  <a:srgbClr val="098658"/>
                </a:solidFill>
                <a:effectLst/>
                <a:latin typeface="Consolas" panose="020B0609020204030204" pitchFamily="49" charset="0"/>
              </a:rPr>
              <a:t>2</a:t>
            </a:r>
            <a:r>
              <a:rPr lang="en-US" sz="1800" b="0" dirty="0">
                <a:solidFill>
                  <a:srgbClr val="000000"/>
                </a:solidFill>
                <a:effectLst/>
                <a:latin typeface="Consolas" panose="020B0609020204030204" pitchFamily="49" charset="0"/>
              </a:rPr>
              <a:t>;</a:t>
            </a:r>
          </a:p>
          <a:p>
            <a:pPr marL="0" indent="0">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return</a:t>
            </a: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sum_helper</a:t>
            </a:r>
            <a:r>
              <a:rPr lang="en-US" sz="1800" b="0" dirty="0">
                <a:solidFill>
                  <a:srgbClr val="000000"/>
                </a:solidFill>
                <a:effectLst/>
                <a:latin typeface="Consolas" panose="020B0609020204030204" pitchFamily="49" charset="0"/>
              </a:rPr>
              <a:t>(list, low, middle) + </a:t>
            </a:r>
            <a:r>
              <a:rPr lang="en-US" sz="1800" b="0" dirty="0" err="1">
                <a:solidFill>
                  <a:srgbClr val="000000"/>
                </a:solidFill>
                <a:effectLst/>
                <a:latin typeface="Consolas" panose="020B0609020204030204" pitchFamily="49" charset="0"/>
              </a:rPr>
              <a:t>sum_helper</a:t>
            </a:r>
            <a:r>
              <a:rPr lang="en-US" sz="1800" b="0" dirty="0">
                <a:solidFill>
                  <a:srgbClr val="000000"/>
                </a:solidFill>
                <a:effectLst/>
                <a:latin typeface="Consolas" panose="020B0609020204030204" pitchFamily="49" charset="0"/>
              </a:rPr>
              <a:t>(list, middle, high);</a:t>
            </a:r>
          </a:p>
          <a:p>
            <a:pPr marL="0" indent="0">
              <a:buNone/>
            </a:pPr>
            <a:r>
              <a:rPr lang="en-US" sz="1800" b="0" dirty="0">
                <a:solidFill>
                  <a:srgbClr val="000000"/>
                </a:solidFill>
                <a:effectLst/>
                <a:latin typeface="Consolas" panose="020B0609020204030204" pitchFamily="49" charset="0"/>
              </a:rPr>
              <a:t>}</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67C25073-3E9D-D04B-7D22-D301B0201785}"/>
                  </a:ext>
                </a:extLst>
              </p14:cNvPr>
              <p14:cNvContentPartPr/>
              <p14:nvPr/>
            </p14:nvContentPartPr>
            <p14:xfrm>
              <a:off x="1401120" y="1454400"/>
              <a:ext cx="10382760" cy="3670920"/>
            </p14:xfrm>
          </p:contentPart>
        </mc:Choice>
        <mc:Fallback>
          <p:pic>
            <p:nvPicPr>
              <p:cNvPr id="4" name="Ink 3">
                <a:extLst>
                  <a:ext uri="{FF2B5EF4-FFF2-40B4-BE49-F238E27FC236}">
                    <a16:creationId xmlns:a16="http://schemas.microsoft.com/office/drawing/2014/main" id="{67C25073-3E9D-D04B-7D22-D301B0201785}"/>
                  </a:ext>
                </a:extLst>
              </p:cNvPr>
              <p:cNvPicPr/>
              <p:nvPr/>
            </p:nvPicPr>
            <p:blipFill>
              <a:blip r:embed="rId3"/>
              <a:stretch>
                <a:fillRect/>
              </a:stretch>
            </p:blipFill>
            <p:spPr>
              <a:xfrm>
                <a:off x="1391760" y="1445040"/>
                <a:ext cx="10401480" cy="3689640"/>
              </a:xfrm>
              <a:prstGeom prst="rect">
                <a:avLst/>
              </a:prstGeom>
            </p:spPr>
          </p:pic>
        </mc:Fallback>
      </mc:AlternateContent>
    </p:spTree>
    <p:extLst>
      <p:ext uri="{BB962C8B-B14F-4D97-AF65-F5344CB8AC3E}">
        <p14:creationId xmlns:p14="http://schemas.microsoft.com/office/powerpoint/2010/main" val="42567110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7315"/>
            <a:ext cx="10515600" cy="1325563"/>
          </a:xfrm>
        </p:spPr>
        <p:txBody>
          <a:bodyPr/>
          <a:lstStyle/>
          <a:p>
            <a:r>
              <a:rPr lang="en-US" dirty="0"/>
              <a:t>Tree Method for Recursive Summation</a:t>
            </a:r>
          </a:p>
        </p:txBody>
      </p:sp>
      <p:sp>
        <p:nvSpPr>
          <p:cNvPr id="4" name="Rectangle 3">
            <a:extLst>
              <a:ext uri="{FF2B5EF4-FFF2-40B4-BE49-F238E27FC236}">
                <a16:creationId xmlns:a16="http://schemas.microsoft.com/office/drawing/2014/main" id="{9012C2DE-48D7-4255-8090-ED57B66C05A8}"/>
              </a:ext>
            </a:extLst>
          </p:cNvPr>
          <p:cNvSpPr/>
          <p:nvPr/>
        </p:nvSpPr>
        <p:spPr>
          <a:xfrm>
            <a:off x="195866" y="1114400"/>
            <a:ext cx="2602580" cy="63976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Red box represents a problem instance</a:t>
            </a:r>
          </a:p>
        </p:txBody>
      </p:sp>
      <p:sp>
        <p:nvSpPr>
          <p:cNvPr id="83" name="Rectangle 82">
            <a:extLst>
              <a:ext uri="{FF2B5EF4-FFF2-40B4-BE49-F238E27FC236}">
                <a16:creationId xmlns:a16="http://schemas.microsoft.com/office/drawing/2014/main" id="{77C56E80-DC90-4EC4-92E0-C4399C5085E9}"/>
              </a:ext>
            </a:extLst>
          </p:cNvPr>
          <p:cNvSpPr/>
          <p:nvPr/>
        </p:nvSpPr>
        <p:spPr>
          <a:xfrm>
            <a:off x="81538" y="1780780"/>
            <a:ext cx="2716908" cy="8115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Blue value next to each box represents time spent at that level of recursion</a:t>
            </a:r>
          </a:p>
        </p:txBody>
      </p:sp>
      <mc:AlternateContent xmlns:mc="http://schemas.openxmlformats.org/markup-compatibility/2006" xmlns:a14="http://schemas.microsoft.com/office/drawing/2010/main">
        <mc:Choice Requires="a14">
          <p:sp>
            <p:nvSpPr>
              <p:cNvPr id="45" name="Rectangle 44"/>
              <p:cNvSpPr/>
              <p:nvPr/>
            </p:nvSpPr>
            <p:spPr>
              <a:xfrm>
                <a:off x="4465610" y="1182558"/>
                <a:ext cx="3241721" cy="745460"/>
              </a:xfrm>
              <a:prstGeom prst="rect">
                <a:avLst/>
              </a:prstGeom>
            </p:spPr>
            <p:txBody>
              <a:bodyPr wrap="none">
                <a:spAutoFit/>
              </a:bodyPr>
              <a:lstStyle/>
              <a:p>
                <a:pPr lvl="1"/>
                <a14:m>
                  <m:oMathPara xmlns:m="http://schemas.openxmlformats.org/officeDocument/2006/math">
                    <m:oMathParaPr>
                      <m:jc m:val="center"/>
                    </m:oMathParaPr>
                    <m:oMath xmlns:m="http://schemas.openxmlformats.org/officeDocument/2006/math">
                      <m:r>
                        <a:rPr lang="en-US" sz="2400" i="1" smtClean="0">
                          <a:latin typeface="Cambria Math"/>
                        </a:rPr>
                        <m:t>𝑇</m:t>
                      </m:r>
                      <m:d>
                        <m:dPr>
                          <m:ctrlPr>
                            <a:rPr lang="en-US" sz="2400" i="1">
                              <a:latin typeface="Cambria Math" panose="02040503050406030204" pitchFamily="18" charset="0"/>
                            </a:rPr>
                          </m:ctrlPr>
                        </m:dPr>
                        <m:e>
                          <m:r>
                            <a:rPr lang="en-US" sz="2400" i="1">
                              <a:latin typeface="Cambria Math"/>
                            </a:rPr>
                            <m:t>𝑛</m:t>
                          </m:r>
                        </m:e>
                      </m:d>
                      <m:r>
                        <a:rPr lang="en-US" sz="2400" i="1">
                          <a:latin typeface="Cambria Math"/>
                        </a:rPr>
                        <m:t>=2</m:t>
                      </m:r>
                      <m:r>
                        <a:rPr lang="en-US" sz="2400" i="1">
                          <a:latin typeface="Cambria Math"/>
                        </a:rPr>
                        <m:t>𝑇</m:t>
                      </m:r>
                      <m:d>
                        <m:dPr>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en-US" sz="2400" i="1">
                                  <a:latin typeface="Cambria Math"/>
                                </a:rPr>
                                <m:t>𝑛</m:t>
                              </m:r>
                            </m:num>
                            <m:den>
                              <m:r>
                                <a:rPr lang="en-US" sz="2400" i="1">
                                  <a:latin typeface="Cambria Math"/>
                                </a:rPr>
                                <m:t>2</m:t>
                              </m:r>
                            </m:den>
                          </m:f>
                          <m:r>
                            <a:rPr lang="en-US" sz="2400" i="1">
                              <a:latin typeface="Cambria Math"/>
                            </a:rPr>
                            <m:t> </m:t>
                          </m:r>
                        </m:e>
                      </m:d>
                      <m:r>
                        <a:rPr lang="en-US" sz="2400" i="1">
                          <a:latin typeface="Cambria Math"/>
                        </a:rPr>
                        <m:t>+</m:t>
                      </m:r>
                      <m:r>
                        <a:rPr lang="en-US" sz="2400" b="0" i="1" smtClean="0">
                          <a:latin typeface="Cambria Math" panose="02040503050406030204" pitchFamily="18" charset="0"/>
                        </a:rPr>
                        <m:t>1</m:t>
                      </m:r>
                    </m:oMath>
                  </m:oMathPara>
                </a14:m>
                <a:endParaRPr lang="en-US" sz="2400" dirty="0"/>
              </a:p>
            </p:txBody>
          </p:sp>
        </mc:Choice>
        <mc:Fallback xmlns="">
          <p:sp>
            <p:nvSpPr>
              <p:cNvPr id="45" name="Rectangle 44"/>
              <p:cNvSpPr>
                <a:spLocks noRot="1" noChangeAspect="1" noMove="1" noResize="1" noEditPoints="1" noAdjustHandles="1" noChangeArrowheads="1" noChangeShapeType="1" noTextEdit="1"/>
              </p:cNvSpPr>
              <p:nvPr/>
            </p:nvSpPr>
            <p:spPr>
              <a:xfrm>
                <a:off x="4465610" y="1182558"/>
                <a:ext cx="3241721" cy="745460"/>
              </a:xfrm>
              <a:prstGeom prst="rect">
                <a:avLst/>
              </a:prstGeom>
              <a:blipFill>
                <a:blip r:embed="rId2"/>
                <a:stretch>
                  <a:fillRect/>
                </a:stretch>
              </a:blipFill>
            </p:spPr>
            <p:txBody>
              <a:bodyPr/>
              <a:lstStyle/>
              <a:p>
                <a:r>
                  <a:rPr lang="en-US">
                    <a:noFill/>
                  </a:rPr>
                  <a:t> </a:t>
                </a:r>
              </a:p>
            </p:txBody>
          </p:sp>
        </mc:Fallback>
      </mc:AlternateContent>
      <p:grpSp>
        <p:nvGrpSpPr>
          <p:cNvPr id="5" name="Group 4" descr="A picture of the recursion for the given recurrence relation. We have one box per stack frame in the recursion. Each box is labelled inside with a value that represents the size of the input for that stack frame. Outside each box is labelled with the amount of (non-recursive) work done by that box (in this case it is 1).&#10;&#10;Each box has an arrow pointing to two boxes with a smaller input (specifically each is half the size) to represent the larger box recursively invoking the algorithm twice with smaller inputs.">
            <a:extLst>
              <a:ext uri="{FF2B5EF4-FFF2-40B4-BE49-F238E27FC236}">
                <a16:creationId xmlns:a16="http://schemas.microsoft.com/office/drawing/2014/main" id="{9F49813F-E6EA-4A18-6999-C83E2CFA528A}"/>
              </a:ext>
            </a:extLst>
          </p:cNvPr>
          <p:cNvGrpSpPr/>
          <p:nvPr/>
        </p:nvGrpSpPr>
        <p:grpSpPr>
          <a:xfrm>
            <a:off x="1295400" y="1992868"/>
            <a:ext cx="7071405" cy="3693910"/>
            <a:chOff x="1295400" y="1992868"/>
            <a:chExt cx="7071405" cy="3693910"/>
          </a:xfrm>
        </p:grpSpPr>
        <p:grpSp>
          <p:nvGrpSpPr>
            <p:cNvPr id="3" name="Group 2" descr="A picture of the recursion for the given recurrence relation. We have one box per stack frame in the recursion. Each box is labelled inside with a value that represents the size of the input for that stack frame. Outside each box is labelled with the amount of (non-recursive) work done by that box (in this case it is 1).&#10;&#10;Each box has an arrow pointing to two boxes with a smaller input (specifically each is half the size) to represent the larger box recursively invoking the algorithm twice with smaller inputs.">
              <a:extLst>
                <a:ext uri="{FF2B5EF4-FFF2-40B4-BE49-F238E27FC236}">
                  <a16:creationId xmlns:a16="http://schemas.microsoft.com/office/drawing/2014/main" id="{65A74FB7-C58B-91EF-9460-0BA341C59DEF}"/>
                </a:ext>
              </a:extLst>
            </p:cNvPr>
            <p:cNvGrpSpPr/>
            <p:nvPr/>
          </p:nvGrpSpPr>
          <p:grpSpPr>
            <a:xfrm>
              <a:off x="1295400" y="2133600"/>
              <a:ext cx="7071405" cy="3553178"/>
              <a:chOff x="1295400" y="2133600"/>
              <a:chExt cx="7071405" cy="3553178"/>
            </a:xfrm>
          </p:grpSpPr>
          <mc:AlternateContent xmlns:mc="http://schemas.openxmlformats.org/markup-compatibility/2006" xmlns:a14="http://schemas.microsoft.com/office/drawing/2010/main">
            <mc:Choice Requires="a14">
              <p:sp>
                <p:nvSpPr>
                  <p:cNvPr id="44" name="Text Box 41"/>
                  <p:cNvSpPr txBox="1">
                    <a:spLocks noChangeArrowheads="1"/>
                  </p:cNvSpPr>
                  <p:nvPr/>
                </p:nvSpPr>
                <p:spPr bwMode="auto">
                  <a:xfrm>
                    <a:off x="4381500" y="2133600"/>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a:latin typeface="Cambria Math"/>
                            </a:rPr>
                            <m:t>𝑛</m:t>
                          </m:r>
                        </m:oMath>
                      </m:oMathPara>
                    </a14:m>
                    <a:endParaRPr lang="en-US" sz="2800" dirty="0"/>
                  </a:p>
                </p:txBody>
              </p:sp>
            </mc:Choice>
            <mc:Fallback xmlns="">
              <p:sp>
                <p:nvSpPr>
                  <p:cNvPr id="44" name="Text Box 41"/>
                  <p:cNvSpPr txBox="1">
                    <a:spLocks noRot="1" noChangeAspect="1" noMove="1" noResize="1" noEditPoints="1" noAdjustHandles="1" noChangeArrowheads="1" noChangeShapeType="1" noTextEdit="1"/>
                  </p:cNvSpPr>
                  <p:nvPr/>
                </p:nvSpPr>
                <p:spPr bwMode="auto">
                  <a:xfrm>
                    <a:off x="4381500" y="2133600"/>
                    <a:ext cx="1333500" cy="457200"/>
                  </a:xfrm>
                  <a:prstGeom prst="rect">
                    <a:avLst/>
                  </a:prstGeom>
                  <a:blipFill>
                    <a:blip r:embed="rId3"/>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 Box 41"/>
                  <p:cNvSpPr txBox="1">
                    <a:spLocks noChangeArrowheads="1"/>
                  </p:cNvSpPr>
                  <p:nvPr/>
                </p:nvSpPr>
                <p:spPr bwMode="auto">
                  <a:xfrm>
                    <a:off x="2690604" y="3028252"/>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2</m:t>
                              </m:r>
                            </m:den>
                          </m:f>
                        </m:oMath>
                      </m:oMathPara>
                    </a14:m>
                    <a:endParaRPr lang="en-US" sz="2800" dirty="0"/>
                  </a:p>
                </p:txBody>
              </p:sp>
            </mc:Choice>
            <mc:Fallback xmlns="">
              <p:sp>
                <p:nvSpPr>
                  <p:cNvPr id="47" name="Text Box 41"/>
                  <p:cNvSpPr txBox="1">
                    <a:spLocks noRot="1" noChangeAspect="1" noMove="1" noResize="1" noEditPoints="1" noAdjustHandles="1" noChangeArrowheads="1" noChangeShapeType="1" noTextEdit="1"/>
                  </p:cNvSpPr>
                  <p:nvPr/>
                </p:nvSpPr>
                <p:spPr bwMode="auto">
                  <a:xfrm>
                    <a:off x="2690604" y="3028252"/>
                    <a:ext cx="1333500" cy="457200"/>
                  </a:xfrm>
                  <a:prstGeom prst="rect">
                    <a:avLst/>
                  </a:prstGeom>
                  <a:blipFill>
                    <a:blip r:embed="rId4"/>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 Box 41"/>
                  <p:cNvSpPr txBox="1">
                    <a:spLocks noChangeArrowheads="1"/>
                  </p:cNvSpPr>
                  <p:nvPr/>
                </p:nvSpPr>
                <p:spPr bwMode="auto">
                  <a:xfrm>
                    <a:off x="5981700" y="3028252"/>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2</m:t>
                              </m:r>
                            </m:den>
                          </m:f>
                        </m:oMath>
                      </m:oMathPara>
                    </a14:m>
                    <a:endParaRPr lang="en-US" sz="2800" dirty="0"/>
                  </a:p>
                </p:txBody>
              </p:sp>
            </mc:Choice>
            <mc:Fallback xmlns="">
              <p:sp>
                <p:nvSpPr>
                  <p:cNvPr id="48" name="Text Box 41"/>
                  <p:cNvSpPr txBox="1">
                    <a:spLocks noRot="1" noChangeAspect="1" noMove="1" noResize="1" noEditPoints="1" noAdjustHandles="1" noChangeArrowheads="1" noChangeShapeType="1" noTextEdit="1"/>
                  </p:cNvSpPr>
                  <p:nvPr/>
                </p:nvSpPr>
                <p:spPr bwMode="auto">
                  <a:xfrm>
                    <a:off x="5981700" y="3028252"/>
                    <a:ext cx="1333500" cy="457200"/>
                  </a:xfrm>
                  <a:prstGeom prst="rect">
                    <a:avLst/>
                  </a:prstGeom>
                  <a:blipFill>
                    <a:blip r:embed="rId5"/>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 Box 41"/>
                  <p:cNvSpPr txBox="1">
                    <a:spLocks noChangeArrowheads="1"/>
                  </p:cNvSpPr>
                  <p:nvPr/>
                </p:nvSpPr>
                <p:spPr bwMode="auto">
                  <a:xfrm>
                    <a:off x="157388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49" name="Text Box 41"/>
                  <p:cNvSpPr txBox="1">
                    <a:spLocks noRot="1" noChangeAspect="1" noMove="1" noResize="1" noEditPoints="1" noAdjustHandles="1" noChangeArrowheads="1" noChangeShapeType="1" noTextEdit="1"/>
                  </p:cNvSpPr>
                  <p:nvPr/>
                </p:nvSpPr>
                <p:spPr bwMode="auto">
                  <a:xfrm>
                    <a:off x="1573880" y="3834326"/>
                    <a:ext cx="1333500" cy="457200"/>
                  </a:xfrm>
                  <a:prstGeom prst="rect">
                    <a:avLst/>
                  </a:prstGeom>
                  <a:blipFill>
                    <a:blip r:embed="rId6"/>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 Box 41"/>
                  <p:cNvSpPr txBox="1">
                    <a:spLocks noChangeArrowheads="1"/>
                  </p:cNvSpPr>
                  <p:nvPr/>
                </p:nvSpPr>
                <p:spPr bwMode="auto">
                  <a:xfrm>
                    <a:off x="331470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50" name="Text Box 41"/>
                  <p:cNvSpPr txBox="1">
                    <a:spLocks noRot="1" noChangeAspect="1" noMove="1" noResize="1" noEditPoints="1" noAdjustHandles="1" noChangeArrowheads="1" noChangeShapeType="1" noTextEdit="1"/>
                  </p:cNvSpPr>
                  <p:nvPr/>
                </p:nvSpPr>
                <p:spPr bwMode="auto">
                  <a:xfrm>
                    <a:off x="3314700" y="3834326"/>
                    <a:ext cx="1333500" cy="457200"/>
                  </a:xfrm>
                  <a:prstGeom prst="rect">
                    <a:avLst/>
                  </a:prstGeom>
                  <a:blipFill>
                    <a:blip r:embed="rId7"/>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 Box 41"/>
                  <p:cNvSpPr txBox="1">
                    <a:spLocks noChangeArrowheads="1"/>
                  </p:cNvSpPr>
                  <p:nvPr/>
                </p:nvSpPr>
                <p:spPr bwMode="auto">
                  <a:xfrm>
                    <a:off x="5181600" y="383237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51" name="Text Box 41"/>
                  <p:cNvSpPr txBox="1">
                    <a:spLocks noRot="1" noChangeAspect="1" noMove="1" noResize="1" noEditPoints="1" noAdjustHandles="1" noChangeArrowheads="1" noChangeShapeType="1" noTextEdit="1"/>
                  </p:cNvSpPr>
                  <p:nvPr/>
                </p:nvSpPr>
                <p:spPr bwMode="auto">
                  <a:xfrm>
                    <a:off x="5181600" y="3832376"/>
                    <a:ext cx="1333500" cy="457200"/>
                  </a:xfrm>
                  <a:prstGeom prst="rect">
                    <a:avLst/>
                  </a:prstGeom>
                  <a:blipFill>
                    <a:blip r:embed="rId8"/>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 Box 41"/>
                  <p:cNvSpPr txBox="1">
                    <a:spLocks noChangeArrowheads="1"/>
                  </p:cNvSpPr>
                  <p:nvPr/>
                </p:nvSpPr>
                <p:spPr bwMode="auto">
                  <a:xfrm>
                    <a:off x="674370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52" name="Text Box 41"/>
                  <p:cNvSpPr txBox="1">
                    <a:spLocks noRot="1" noChangeAspect="1" noMove="1" noResize="1" noEditPoints="1" noAdjustHandles="1" noChangeArrowheads="1" noChangeShapeType="1" noTextEdit="1"/>
                  </p:cNvSpPr>
                  <p:nvPr/>
                </p:nvSpPr>
                <p:spPr bwMode="auto">
                  <a:xfrm>
                    <a:off x="6743700" y="3834326"/>
                    <a:ext cx="1333500" cy="457200"/>
                  </a:xfrm>
                  <a:prstGeom prst="rect">
                    <a:avLst/>
                  </a:prstGeom>
                  <a:blipFill>
                    <a:blip r:embed="rId9"/>
                    <a:stretch>
                      <a:fillRect/>
                    </a:stretch>
                  </a:blipFill>
                  <a:ln w="9525">
                    <a:solidFill>
                      <a:srgbClr val="FF0000"/>
                    </a:solidFill>
                    <a:miter lim="800000"/>
                    <a:headEnd/>
                    <a:tailEnd/>
                  </a:ln>
                </p:spPr>
                <p:txBody>
                  <a:bodyPr/>
                  <a:lstStyle/>
                  <a:p>
                    <a:r>
                      <a:rPr lang="en-US">
                        <a:noFill/>
                      </a:rPr>
                      <a:t> </a:t>
                    </a:r>
                  </a:p>
                </p:txBody>
              </p:sp>
            </mc:Fallback>
          </mc:AlternateContent>
          <p:sp>
            <p:nvSpPr>
              <p:cNvPr id="53" name="Rectangle 52"/>
              <p:cNvSpPr/>
              <p:nvPr/>
            </p:nvSpPr>
            <p:spPr>
              <a:xfrm rot="16200000">
                <a:off x="2018785" y="4281268"/>
                <a:ext cx="574196" cy="769441"/>
              </a:xfrm>
              <a:prstGeom prst="rect">
                <a:avLst/>
              </a:prstGeom>
            </p:spPr>
            <p:txBody>
              <a:bodyPr wrap="none">
                <a:spAutoFit/>
              </a:bodyPr>
              <a:lstStyle/>
              <a:p>
                <a:r>
                  <a:rPr lang="en-US" sz="4400" dirty="0"/>
                  <a:t>…</a:t>
                </a:r>
              </a:p>
            </p:txBody>
          </p:sp>
          <p:sp>
            <p:nvSpPr>
              <p:cNvPr id="54" name="Rectangle 53"/>
              <p:cNvSpPr/>
              <p:nvPr/>
            </p:nvSpPr>
            <p:spPr>
              <a:xfrm rot="16200000">
                <a:off x="3694351" y="4308283"/>
                <a:ext cx="574196" cy="769441"/>
              </a:xfrm>
              <a:prstGeom prst="rect">
                <a:avLst/>
              </a:prstGeom>
            </p:spPr>
            <p:txBody>
              <a:bodyPr wrap="none">
                <a:spAutoFit/>
              </a:bodyPr>
              <a:lstStyle/>
              <a:p>
                <a:r>
                  <a:rPr lang="en-US" sz="4400" dirty="0"/>
                  <a:t>…</a:t>
                </a:r>
              </a:p>
            </p:txBody>
          </p:sp>
          <p:sp>
            <p:nvSpPr>
              <p:cNvPr id="55" name="Rectangle 54"/>
              <p:cNvSpPr/>
              <p:nvPr/>
            </p:nvSpPr>
            <p:spPr>
              <a:xfrm rot="16200000">
                <a:off x="5637451" y="4308283"/>
                <a:ext cx="574196" cy="769441"/>
              </a:xfrm>
              <a:prstGeom prst="rect">
                <a:avLst/>
              </a:prstGeom>
            </p:spPr>
            <p:txBody>
              <a:bodyPr wrap="none">
                <a:spAutoFit/>
              </a:bodyPr>
              <a:lstStyle/>
              <a:p>
                <a:r>
                  <a:rPr lang="en-US" sz="4400" dirty="0"/>
                  <a:t>…</a:t>
                </a:r>
              </a:p>
            </p:txBody>
          </p:sp>
          <p:sp>
            <p:nvSpPr>
              <p:cNvPr id="56" name="Rectangle 55"/>
              <p:cNvSpPr/>
              <p:nvPr/>
            </p:nvSpPr>
            <p:spPr>
              <a:xfrm rot="16200000">
                <a:off x="7123351" y="4335298"/>
                <a:ext cx="574196" cy="769441"/>
              </a:xfrm>
              <a:prstGeom prst="rect">
                <a:avLst/>
              </a:prstGeom>
            </p:spPr>
            <p:txBody>
              <a:bodyPr wrap="none">
                <a:spAutoFit/>
              </a:bodyPr>
              <a:lstStyle/>
              <a:p>
                <a:r>
                  <a:rPr lang="en-US" sz="4400" dirty="0"/>
                  <a:t>…</a:t>
                </a:r>
              </a:p>
            </p:txBody>
          </p:sp>
          <mc:AlternateContent xmlns:mc="http://schemas.openxmlformats.org/markup-compatibility/2006" xmlns:a14="http://schemas.microsoft.com/office/drawing/2010/main">
            <mc:Choice Requires="a14">
              <p:sp>
                <p:nvSpPr>
                  <p:cNvPr id="57" name="Text Box 41"/>
                  <p:cNvSpPr txBox="1">
                    <a:spLocks noChangeArrowheads="1"/>
                  </p:cNvSpPr>
                  <p:nvPr/>
                </p:nvSpPr>
                <p:spPr bwMode="auto">
                  <a:xfrm>
                    <a:off x="1295400" y="5226656"/>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57" name="Text Box 41"/>
                  <p:cNvSpPr txBox="1">
                    <a:spLocks noRot="1" noChangeAspect="1" noMove="1" noResize="1" noEditPoints="1" noAdjustHandles="1" noChangeArrowheads="1" noChangeShapeType="1" noTextEdit="1"/>
                  </p:cNvSpPr>
                  <p:nvPr/>
                </p:nvSpPr>
                <p:spPr bwMode="auto">
                  <a:xfrm>
                    <a:off x="1295400" y="5226656"/>
                    <a:ext cx="716630" cy="457200"/>
                  </a:xfrm>
                  <a:prstGeom prst="rect">
                    <a:avLst/>
                  </a:prstGeom>
                  <a:blipFill>
                    <a:blip r:embed="rId10"/>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 Box 41"/>
                  <p:cNvSpPr txBox="1">
                    <a:spLocks noChangeArrowheads="1"/>
                  </p:cNvSpPr>
                  <p:nvPr/>
                </p:nvSpPr>
                <p:spPr bwMode="auto">
                  <a:xfrm>
                    <a:off x="2286000"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58" name="Text Box 41"/>
                  <p:cNvSpPr txBox="1">
                    <a:spLocks noRot="1" noChangeAspect="1" noMove="1" noResize="1" noEditPoints="1" noAdjustHandles="1" noChangeArrowheads="1" noChangeShapeType="1" noTextEdit="1"/>
                  </p:cNvSpPr>
                  <p:nvPr/>
                </p:nvSpPr>
                <p:spPr bwMode="auto">
                  <a:xfrm>
                    <a:off x="2286000" y="5229577"/>
                    <a:ext cx="716630" cy="457200"/>
                  </a:xfrm>
                  <a:prstGeom prst="rect">
                    <a:avLst/>
                  </a:prstGeom>
                  <a:blipFill>
                    <a:blip r:embed="rId11"/>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 Box 41"/>
                  <p:cNvSpPr txBox="1">
                    <a:spLocks noChangeArrowheads="1"/>
                  </p:cNvSpPr>
                  <p:nvPr/>
                </p:nvSpPr>
                <p:spPr bwMode="auto">
                  <a:xfrm>
                    <a:off x="3201319"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59" name="Text Box 41"/>
                  <p:cNvSpPr txBox="1">
                    <a:spLocks noRot="1" noChangeAspect="1" noMove="1" noResize="1" noEditPoints="1" noAdjustHandles="1" noChangeArrowheads="1" noChangeShapeType="1" noTextEdit="1"/>
                  </p:cNvSpPr>
                  <p:nvPr/>
                </p:nvSpPr>
                <p:spPr bwMode="auto">
                  <a:xfrm>
                    <a:off x="3201319" y="5229577"/>
                    <a:ext cx="716630" cy="457200"/>
                  </a:xfrm>
                  <a:prstGeom prst="rect">
                    <a:avLst/>
                  </a:prstGeom>
                  <a:blipFill>
                    <a:blip r:embed="rId12"/>
                    <a:stretch>
                      <a:fillRect/>
                    </a:stretch>
                  </a:blipFill>
                  <a:ln w="9525">
                    <a:solidFill>
                      <a:srgbClr val="FF0000"/>
                    </a:solidFill>
                    <a:miter lim="800000"/>
                    <a:headEnd/>
                    <a:tailEnd/>
                  </a:ln>
                </p:spPr>
                <p:txBody>
                  <a:bodyPr/>
                  <a:lstStyle/>
                  <a:p>
                    <a:r>
                      <a:rPr lang="en-US">
                        <a:noFill/>
                      </a:rPr>
                      <a:t> </a:t>
                    </a:r>
                  </a:p>
                </p:txBody>
              </p:sp>
            </mc:Fallback>
          </mc:AlternateContent>
          <p:sp>
            <p:nvSpPr>
              <p:cNvPr id="60" name="Rectangle 59"/>
              <p:cNvSpPr/>
              <p:nvPr/>
            </p:nvSpPr>
            <p:spPr>
              <a:xfrm>
                <a:off x="4133849" y="4917337"/>
                <a:ext cx="574196" cy="769441"/>
              </a:xfrm>
              <a:prstGeom prst="rect">
                <a:avLst/>
              </a:prstGeom>
            </p:spPr>
            <p:txBody>
              <a:bodyPr wrap="none">
                <a:spAutoFit/>
              </a:bodyPr>
              <a:lstStyle/>
              <a:p>
                <a:r>
                  <a:rPr lang="en-US" sz="4400" dirty="0"/>
                  <a:t>…</a:t>
                </a:r>
              </a:p>
            </p:txBody>
          </p:sp>
          <mc:AlternateContent xmlns:mc="http://schemas.openxmlformats.org/markup-compatibility/2006" xmlns:a14="http://schemas.microsoft.com/office/drawing/2010/main">
            <mc:Choice Requires="a14">
              <p:sp>
                <p:nvSpPr>
                  <p:cNvPr id="61" name="Text Box 41"/>
                  <p:cNvSpPr txBox="1">
                    <a:spLocks noChangeArrowheads="1"/>
                  </p:cNvSpPr>
                  <p:nvPr/>
                </p:nvSpPr>
                <p:spPr bwMode="auto">
                  <a:xfrm>
                    <a:off x="5348411" y="5226656"/>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61" name="Text Box 41"/>
                  <p:cNvSpPr txBox="1">
                    <a:spLocks noRot="1" noChangeAspect="1" noMove="1" noResize="1" noEditPoints="1" noAdjustHandles="1" noChangeArrowheads="1" noChangeShapeType="1" noTextEdit="1"/>
                  </p:cNvSpPr>
                  <p:nvPr/>
                </p:nvSpPr>
                <p:spPr bwMode="auto">
                  <a:xfrm>
                    <a:off x="5348411" y="5226656"/>
                    <a:ext cx="716630" cy="457200"/>
                  </a:xfrm>
                  <a:prstGeom prst="rect">
                    <a:avLst/>
                  </a:prstGeom>
                  <a:blipFill>
                    <a:blip r:embed="rId13"/>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 Box 41"/>
                  <p:cNvSpPr txBox="1">
                    <a:spLocks noChangeArrowheads="1"/>
                  </p:cNvSpPr>
                  <p:nvPr/>
                </p:nvSpPr>
                <p:spPr bwMode="auto">
                  <a:xfrm>
                    <a:off x="6324600"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62" name="Text Box 41"/>
                  <p:cNvSpPr txBox="1">
                    <a:spLocks noRot="1" noChangeAspect="1" noMove="1" noResize="1" noEditPoints="1" noAdjustHandles="1" noChangeArrowheads="1" noChangeShapeType="1" noTextEdit="1"/>
                  </p:cNvSpPr>
                  <p:nvPr/>
                </p:nvSpPr>
                <p:spPr bwMode="auto">
                  <a:xfrm>
                    <a:off x="6324600" y="5229577"/>
                    <a:ext cx="716630" cy="457200"/>
                  </a:xfrm>
                  <a:prstGeom prst="rect">
                    <a:avLst/>
                  </a:prstGeom>
                  <a:blipFill>
                    <a:blip r:embed="rId14"/>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 Box 41"/>
                  <p:cNvSpPr txBox="1">
                    <a:spLocks noChangeArrowheads="1"/>
                  </p:cNvSpPr>
                  <p:nvPr/>
                </p:nvSpPr>
                <p:spPr bwMode="auto">
                  <a:xfrm>
                    <a:off x="7201056"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63" name="Text Box 41"/>
                  <p:cNvSpPr txBox="1">
                    <a:spLocks noRot="1" noChangeAspect="1" noMove="1" noResize="1" noEditPoints="1" noAdjustHandles="1" noChangeArrowheads="1" noChangeShapeType="1" noTextEdit="1"/>
                  </p:cNvSpPr>
                  <p:nvPr/>
                </p:nvSpPr>
                <p:spPr bwMode="auto">
                  <a:xfrm>
                    <a:off x="7201056" y="5229577"/>
                    <a:ext cx="716630" cy="457200"/>
                  </a:xfrm>
                  <a:prstGeom prst="rect">
                    <a:avLst/>
                  </a:prstGeom>
                  <a:blipFill>
                    <a:blip r:embed="rId15"/>
                    <a:stretch>
                      <a:fillRect/>
                    </a:stretch>
                  </a:blipFill>
                  <a:ln w="9525">
                    <a:solidFill>
                      <a:srgbClr val="FF0000"/>
                    </a:solidFill>
                    <a:miter lim="800000"/>
                    <a:headEnd/>
                    <a:tailEnd/>
                  </a:ln>
                </p:spPr>
                <p:txBody>
                  <a:bodyPr/>
                  <a:lstStyle/>
                  <a:p>
                    <a:r>
                      <a:rPr lang="en-US">
                        <a:noFill/>
                      </a:rPr>
                      <a:t> </a:t>
                    </a:r>
                  </a:p>
                </p:txBody>
              </p:sp>
            </mc:Fallback>
          </mc:AlternateContent>
          <p:cxnSp>
            <p:nvCxnSpPr>
              <p:cNvPr id="65" name="Straight Connector 64"/>
              <p:cNvCxnSpPr>
                <a:stCxn id="44" idx="2"/>
                <a:endCxn id="47" idx="0"/>
              </p:cNvCxnSpPr>
              <p:nvPr/>
            </p:nvCxnSpPr>
            <p:spPr>
              <a:xfrm flipH="1">
                <a:off x="3357354" y="2590800"/>
                <a:ext cx="1690896" cy="43745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a:stCxn id="44" idx="2"/>
                <a:endCxn id="48" idx="0"/>
              </p:cNvCxnSpPr>
              <p:nvPr/>
            </p:nvCxnSpPr>
            <p:spPr>
              <a:xfrm>
                <a:off x="5048250" y="2590800"/>
                <a:ext cx="1600200" cy="43745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a:stCxn id="47" idx="2"/>
                <a:endCxn id="49" idx="0"/>
              </p:cNvCxnSpPr>
              <p:nvPr/>
            </p:nvCxnSpPr>
            <p:spPr>
              <a:xfrm flipH="1">
                <a:off x="2240630" y="3485452"/>
                <a:ext cx="1116724"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a:stCxn id="47" idx="2"/>
                <a:endCxn id="50" idx="0"/>
              </p:cNvCxnSpPr>
              <p:nvPr/>
            </p:nvCxnSpPr>
            <p:spPr>
              <a:xfrm>
                <a:off x="3357354" y="3485452"/>
                <a:ext cx="624096"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a:stCxn id="48" idx="2"/>
                <a:endCxn id="51" idx="0"/>
              </p:cNvCxnSpPr>
              <p:nvPr/>
            </p:nvCxnSpPr>
            <p:spPr>
              <a:xfrm flipH="1">
                <a:off x="5848350" y="3485452"/>
                <a:ext cx="800100" cy="34692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a:stCxn id="48" idx="2"/>
                <a:endCxn id="52" idx="0"/>
              </p:cNvCxnSpPr>
              <p:nvPr/>
            </p:nvCxnSpPr>
            <p:spPr>
              <a:xfrm>
                <a:off x="6648450" y="3485452"/>
                <a:ext cx="762000"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7486650" y="4291526"/>
                <a:ext cx="499546" cy="339268"/>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52" idx="2"/>
              </p:cNvCxnSpPr>
              <p:nvPr/>
            </p:nvCxnSpPr>
            <p:spPr>
              <a:xfrm flipH="1">
                <a:off x="7143432" y="4291526"/>
                <a:ext cx="267019" cy="339268"/>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51" idx="2"/>
              </p:cNvCxnSpPr>
              <p:nvPr/>
            </p:nvCxnSpPr>
            <p:spPr>
              <a:xfrm>
                <a:off x="5848351" y="4289576"/>
                <a:ext cx="499545" cy="32045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51" idx="2"/>
              </p:cNvCxnSpPr>
              <p:nvPr/>
            </p:nvCxnSpPr>
            <p:spPr>
              <a:xfrm flipH="1">
                <a:off x="5581332" y="4289576"/>
                <a:ext cx="267019" cy="32045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a:stCxn id="50" idx="2"/>
              </p:cNvCxnSpPr>
              <p:nvPr/>
            </p:nvCxnSpPr>
            <p:spPr>
              <a:xfrm>
                <a:off x="3981450" y="4291526"/>
                <a:ext cx="526860" cy="3133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a:stCxn id="50" idx="2"/>
              </p:cNvCxnSpPr>
              <p:nvPr/>
            </p:nvCxnSpPr>
            <p:spPr>
              <a:xfrm flipH="1">
                <a:off x="3741748" y="4291526"/>
                <a:ext cx="239703" cy="3133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a:stCxn id="49" idx="2"/>
              </p:cNvCxnSpPr>
              <p:nvPr/>
            </p:nvCxnSpPr>
            <p:spPr>
              <a:xfrm>
                <a:off x="2240631" y="4291527"/>
                <a:ext cx="474963" cy="308485"/>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a:stCxn id="49" idx="2"/>
              </p:cNvCxnSpPr>
              <p:nvPr/>
            </p:nvCxnSpPr>
            <p:spPr>
              <a:xfrm flipH="1">
                <a:off x="1949032" y="4291527"/>
                <a:ext cx="291599" cy="308485"/>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6" name="TextBox 65"/>
                  <p:cNvSpPr txBox="1"/>
                  <p:nvPr/>
                </p:nvSpPr>
                <p:spPr>
                  <a:xfrm>
                    <a:off x="3962400" y="2940302"/>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66" name="TextBox 65"/>
                  <p:cNvSpPr txBox="1">
                    <a:spLocks noRot="1" noChangeAspect="1" noMove="1" noResize="1" noEditPoints="1" noAdjustHandles="1" noChangeArrowheads="1" noChangeShapeType="1" noTextEdit="1"/>
                  </p:cNvSpPr>
                  <p:nvPr/>
                </p:nvSpPr>
                <p:spPr>
                  <a:xfrm>
                    <a:off x="3962400" y="2940302"/>
                    <a:ext cx="365805" cy="369332"/>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TextBox 66"/>
                  <p:cNvSpPr txBox="1"/>
                  <p:nvPr/>
                </p:nvSpPr>
                <p:spPr>
                  <a:xfrm>
                    <a:off x="7246374" y="2974403"/>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67" name="TextBox 66"/>
                  <p:cNvSpPr txBox="1">
                    <a:spLocks noRot="1" noChangeAspect="1" noMove="1" noResize="1" noEditPoints="1" noAdjustHandles="1" noChangeArrowheads="1" noChangeShapeType="1" noTextEdit="1"/>
                  </p:cNvSpPr>
                  <p:nvPr/>
                </p:nvSpPr>
                <p:spPr>
                  <a:xfrm>
                    <a:off x="7246374" y="2974403"/>
                    <a:ext cx="365805" cy="369332"/>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p:cNvSpPr txBox="1"/>
                  <p:nvPr/>
                </p:nvSpPr>
                <p:spPr>
                  <a:xfrm>
                    <a:off x="2819400" y="3778527"/>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68" name="TextBox 67"/>
                  <p:cNvSpPr txBox="1">
                    <a:spLocks noRot="1" noChangeAspect="1" noMove="1" noResize="1" noEditPoints="1" noAdjustHandles="1" noChangeArrowheads="1" noChangeShapeType="1" noTextEdit="1"/>
                  </p:cNvSpPr>
                  <p:nvPr/>
                </p:nvSpPr>
                <p:spPr>
                  <a:xfrm>
                    <a:off x="2819400" y="3778527"/>
                    <a:ext cx="365805" cy="369332"/>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p:cNvSpPr txBox="1"/>
                  <p:nvPr/>
                </p:nvSpPr>
                <p:spPr>
                  <a:xfrm>
                    <a:off x="4639597" y="3774093"/>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70" name="TextBox 69"/>
                  <p:cNvSpPr txBox="1">
                    <a:spLocks noRot="1" noChangeAspect="1" noMove="1" noResize="1" noEditPoints="1" noAdjustHandles="1" noChangeArrowheads="1" noChangeShapeType="1" noTextEdit="1"/>
                  </p:cNvSpPr>
                  <p:nvPr/>
                </p:nvSpPr>
                <p:spPr>
                  <a:xfrm>
                    <a:off x="4639597" y="3774093"/>
                    <a:ext cx="365805" cy="36933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p:cNvSpPr txBox="1"/>
                  <p:nvPr/>
                </p:nvSpPr>
                <p:spPr>
                  <a:xfrm>
                    <a:off x="6432433" y="3783622"/>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71" name="TextBox 70"/>
                  <p:cNvSpPr txBox="1">
                    <a:spLocks noRot="1" noChangeAspect="1" noMove="1" noResize="1" noEditPoints="1" noAdjustHandles="1" noChangeArrowheads="1" noChangeShapeType="1" noTextEdit="1"/>
                  </p:cNvSpPr>
                  <p:nvPr/>
                </p:nvSpPr>
                <p:spPr>
                  <a:xfrm>
                    <a:off x="6432433" y="3783622"/>
                    <a:ext cx="365805"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p:cNvSpPr txBox="1"/>
                  <p:nvPr/>
                </p:nvSpPr>
                <p:spPr>
                  <a:xfrm>
                    <a:off x="8001000" y="3779188"/>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72" name="TextBox 71"/>
                  <p:cNvSpPr txBox="1">
                    <a:spLocks noRot="1" noChangeAspect="1" noMove="1" noResize="1" noEditPoints="1" noAdjustHandles="1" noChangeArrowheads="1" noChangeShapeType="1" noTextEdit="1"/>
                  </p:cNvSpPr>
                  <p:nvPr/>
                </p:nvSpPr>
                <p:spPr>
                  <a:xfrm>
                    <a:off x="8001000" y="3779188"/>
                    <a:ext cx="365805" cy="36933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p:cNvSpPr txBox="1"/>
                  <p:nvPr/>
                </p:nvSpPr>
                <p:spPr>
                  <a:xfrm>
                    <a:off x="1905000"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4" name="TextBox 73"/>
                  <p:cNvSpPr txBox="1">
                    <a:spLocks noRot="1" noChangeAspect="1" noMove="1" noResize="1" noEditPoints="1" noAdjustHandles="1" noChangeArrowheads="1" noChangeShapeType="1" noTextEdit="1"/>
                  </p:cNvSpPr>
                  <p:nvPr/>
                </p:nvSpPr>
                <p:spPr>
                  <a:xfrm>
                    <a:off x="1905000" y="5105400"/>
                    <a:ext cx="365806" cy="369332"/>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Box 74"/>
                  <p:cNvSpPr txBox="1"/>
                  <p:nvPr/>
                </p:nvSpPr>
                <p:spPr>
                  <a:xfrm>
                    <a:off x="2907380"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5" name="TextBox 74"/>
                  <p:cNvSpPr txBox="1">
                    <a:spLocks noRot="1" noChangeAspect="1" noMove="1" noResize="1" noEditPoints="1" noAdjustHandles="1" noChangeArrowheads="1" noChangeShapeType="1" noTextEdit="1"/>
                  </p:cNvSpPr>
                  <p:nvPr/>
                </p:nvSpPr>
                <p:spPr>
                  <a:xfrm>
                    <a:off x="2907380" y="5105400"/>
                    <a:ext cx="365806"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p:cNvSpPr txBox="1"/>
                  <p:nvPr/>
                </p:nvSpPr>
                <p:spPr>
                  <a:xfrm>
                    <a:off x="3821292"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7" name="TextBox 76"/>
                  <p:cNvSpPr txBox="1">
                    <a:spLocks noRot="1" noChangeAspect="1" noMove="1" noResize="1" noEditPoints="1" noAdjustHandles="1" noChangeArrowheads="1" noChangeShapeType="1" noTextEdit="1"/>
                  </p:cNvSpPr>
                  <p:nvPr/>
                </p:nvSpPr>
                <p:spPr>
                  <a:xfrm>
                    <a:off x="3821292" y="5105400"/>
                    <a:ext cx="365806" cy="369332"/>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p:cNvSpPr txBox="1"/>
                  <p:nvPr/>
                </p:nvSpPr>
                <p:spPr>
                  <a:xfrm>
                    <a:off x="59587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8" name="TextBox 77"/>
                  <p:cNvSpPr txBox="1">
                    <a:spLocks noRot="1" noChangeAspect="1" noMove="1" noResize="1" noEditPoints="1" noAdjustHandles="1" noChangeArrowheads="1" noChangeShapeType="1" noTextEdit="1"/>
                  </p:cNvSpPr>
                  <p:nvPr/>
                </p:nvSpPr>
                <p:spPr>
                  <a:xfrm>
                    <a:off x="5958794" y="5117390"/>
                    <a:ext cx="365806"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p:cNvSpPr txBox="1"/>
                  <p:nvPr/>
                </p:nvSpPr>
                <p:spPr>
                  <a:xfrm>
                    <a:off x="69493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80" name="TextBox 79"/>
                  <p:cNvSpPr txBox="1">
                    <a:spLocks noRot="1" noChangeAspect="1" noMove="1" noResize="1" noEditPoints="1" noAdjustHandles="1" noChangeArrowheads="1" noChangeShapeType="1" noTextEdit="1"/>
                  </p:cNvSpPr>
                  <p:nvPr/>
                </p:nvSpPr>
                <p:spPr>
                  <a:xfrm>
                    <a:off x="6949394" y="5117390"/>
                    <a:ext cx="365806" cy="369332"/>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Box 80"/>
                  <p:cNvSpPr txBox="1"/>
                  <p:nvPr/>
                </p:nvSpPr>
                <p:spPr>
                  <a:xfrm>
                    <a:off x="78637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81" name="TextBox 80"/>
                  <p:cNvSpPr txBox="1">
                    <a:spLocks noRot="1" noChangeAspect="1" noMove="1" noResize="1" noEditPoints="1" noAdjustHandles="1" noChangeArrowheads="1" noChangeShapeType="1" noTextEdit="1"/>
                  </p:cNvSpPr>
                  <p:nvPr/>
                </p:nvSpPr>
                <p:spPr>
                  <a:xfrm>
                    <a:off x="7863794" y="5117390"/>
                    <a:ext cx="365806" cy="369332"/>
                  </a:xfrm>
                  <a:prstGeom prst="rect">
                    <a:avLst/>
                  </a:prstGeom>
                  <a:blipFill>
                    <a:blip r:embed="rId26"/>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64" name="TextBox 63"/>
                <p:cNvSpPr txBox="1"/>
                <p:nvPr/>
              </p:nvSpPr>
              <p:spPr>
                <a:xfrm>
                  <a:off x="5668215" y="1992868"/>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64" name="TextBox 63"/>
                <p:cNvSpPr txBox="1">
                  <a:spLocks noRot="1" noChangeAspect="1" noMove="1" noResize="1" noEditPoints="1" noAdjustHandles="1" noChangeArrowheads="1" noChangeShapeType="1" noTextEdit="1"/>
                </p:cNvSpPr>
                <p:nvPr/>
              </p:nvSpPr>
              <p:spPr>
                <a:xfrm>
                  <a:off x="5668215" y="1992868"/>
                  <a:ext cx="365805" cy="369332"/>
                </a:xfrm>
                <a:prstGeom prst="rect">
                  <a:avLst/>
                </a:prstGeom>
                <a:blipFill>
                  <a:blip r:embed="rId27"/>
                  <a:stretch>
                    <a:fillRect/>
                  </a:stretch>
                </a:blipFill>
              </p:spPr>
              <p:txBody>
                <a:bodyPr/>
                <a:lstStyle/>
                <a:p>
                  <a:r>
                    <a:rPr lang="en-US">
                      <a:noFill/>
                    </a:rPr>
                    <a:t> </a:t>
                  </a:r>
                </a:p>
              </p:txBody>
            </p:sp>
          </mc:Fallback>
        </mc:AlternateContent>
      </p:grpSp>
      <p:sp>
        <p:nvSpPr>
          <p:cNvPr id="42" name="Left Brace 41" descr="Because we need to make log_2(n) recursive calls before reaching a base case, the height of this chain of stackframes is log_2(n)."/>
          <p:cNvSpPr/>
          <p:nvPr/>
        </p:nvSpPr>
        <p:spPr>
          <a:xfrm flipH="1" flipV="1">
            <a:off x="8229600" y="2133600"/>
            <a:ext cx="250372" cy="3553177"/>
          </a:xfrm>
          <a:prstGeom prst="leftBrace">
            <a:avLst>
              <a:gd name="adj1" fmla="val 83199"/>
              <a:gd name="adj2" fmla="val 49631"/>
            </a:avLst>
          </a:prstGeom>
          <a:ln w="19050">
            <a:solidFill>
              <a:srgbClr val="FF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43" name="Text Box 2"/>
              <p:cNvSpPr txBox="1">
                <a:spLocks noChangeArrowheads="1"/>
              </p:cNvSpPr>
              <p:nvPr/>
            </p:nvSpPr>
            <p:spPr bwMode="auto">
              <a:xfrm>
                <a:off x="8267700" y="3676688"/>
                <a:ext cx="2312388" cy="954107"/>
              </a:xfrm>
              <a:prstGeom prst="rect">
                <a:avLst/>
              </a:prstGeom>
              <a:noFill/>
              <a:ln w="9525">
                <a:noFill/>
                <a:miter lim="800000"/>
                <a:headEnd/>
                <a:tailEnd/>
              </a:ln>
            </p:spPr>
            <p:txBody>
              <a:bodyPr wrap="square">
                <a:spAutoFit/>
              </a:bodyPr>
              <a:lstStyle/>
              <a:p>
                <a:pPr algn="ctr"/>
                <a14:m>
                  <m:oMath xmlns:m="http://schemas.openxmlformats.org/officeDocument/2006/math">
                    <m:sSub>
                      <m:sSubPr>
                        <m:ctrlPr>
                          <a:rPr lang="en-US" sz="2800" i="1" dirty="0">
                            <a:solidFill>
                              <a:srgbClr val="FF00FF"/>
                            </a:solidFill>
                            <a:latin typeface="Cambria Math" panose="02040503050406030204" pitchFamily="18" charset="0"/>
                          </a:rPr>
                        </m:ctrlPr>
                      </m:sSubPr>
                      <m:e>
                        <m:r>
                          <m:rPr>
                            <m:sty m:val="p"/>
                          </m:rPr>
                          <a:rPr lang="en-US" sz="2800" dirty="0">
                            <a:solidFill>
                              <a:srgbClr val="FF00FF"/>
                            </a:solidFill>
                            <a:latin typeface="Cambria Math"/>
                          </a:rPr>
                          <m:t>log</m:t>
                        </m:r>
                      </m:e>
                      <m:sub>
                        <m:r>
                          <a:rPr lang="en-US" sz="2800" i="1" dirty="0">
                            <a:solidFill>
                              <a:srgbClr val="FF00FF"/>
                            </a:solidFill>
                            <a:latin typeface="Cambria Math"/>
                          </a:rPr>
                          <m:t>2</m:t>
                        </m:r>
                      </m:sub>
                    </m:sSub>
                    <m:r>
                      <a:rPr lang="en-US" sz="2800" i="1" dirty="0">
                        <a:solidFill>
                          <a:srgbClr val="FF00FF"/>
                        </a:solidFill>
                        <a:latin typeface="Cambria Math"/>
                      </a:rPr>
                      <m:t>⁡</m:t>
                    </m:r>
                    <m:r>
                      <a:rPr lang="en-US" sz="2800" i="1" dirty="0">
                        <a:solidFill>
                          <a:srgbClr val="FF00FF"/>
                        </a:solidFill>
                        <a:latin typeface="Cambria Math"/>
                      </a:rPr>
                      <m:t>𝑛</m:t>
                    </m:r>
                  </m:oMath>
                </a14:m>
                <a:r>
                  <a:rPr lang="en-US" sz="2800" dirty="0">
                    <a:solidFill>
                      <a:srgbClr val="FF00FF"/>
                    </a:solidFill>
                  </a:rPr>
                  <a:t> </a:t>
                </a:r>
                <a:r>
                  <a:rPr lang="en-US" sz="2800" dirty="0"/>
                  <a:t>levels</a:t>
                </a:r>
              </a:p>
              <a:p>
                <a:pPr algn="ctr"/>
                <a:r>
                  <a:rPr lang="en-US" sz="2800" dirty="0"/>
                  <a:t>of recursion</a:t>
                </a:r>
              </a:p>
            </p:txBody>
          </p:sp>
        </mc:Choice>
        <mc:Fallback xmlns="">
          <p:sp>
            <p:nvSpPr>
              <p:cNvPr id="43" name="Text Box 2"/>
              <p:cNvSpPr txBox="1">
                <a:spLocks noRot="1" noChangeAspect="1" noMove="1" noResize="1" noEditPoints="1" noAdjustHandles="1" noChangeArrowheads="1" noChangeShapeType="1" noTextEdit="1"/>
              </p:cNvSpPr>
              <p:nvPr/>
            </p:nvSpPr>
            <p:spPr bwMode="auto">
              <a:xfrm>
                <a:off x="8267700" y="3676688"/>
                <a:ext cx="2312388" cy="954107"/>
              </a:xfrm>
              <a:prstGeom prst="rect">
                <a:avLst/>
              </a:prstGeom>
              <a:blipFill>
                <a:blip r:embed="rId28"/>
                <a:stretch>
                  <a:fillRect t="-6579" b="-15789"/>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 Box 2"/>
              <p:cNvSpPr txBox="1">
                <a:spLocks noChangeArrowheads="1"/>
              </p:cNvSpPr>
              <p:nvPr/>
            </p:nvSpPr>
            <p:spPr bwMode="auto">
              <a:xfrm>
                <a:off x="8267700" y="2051914"/>
                <a:ext cx="3733827" cy="505395"/>
              </a:xfrm>
              <a:prstGeom prst="rect">
                <a:avLst/>
              </a:prstGeom>
              <a:noFill/>
              <a:ln w="9525">
                <a:noFill/>
                <a:miter lim="800000"/>
                <a:headEnd/>
                <a:tailEnd/>
              </a:ln>
            </p:spPr>
            <p:txBody>
              <a:bodyPr wrap="square">
                <a:spAutoFit/>
              </a:bodyPr>
              <a:lstStyle/>
              <a:p>
                <a:pPr algn="ctr"/>
                <a:r>
                  <a:rPr lang="en-US" sz="2600" dirty="0">
                    <a:latin typeface="Symbol" pitchFamily="18" charset="2"/>
                  </a:rPr>
                  <a:t>Þ </a:t>
                </a:r>
                <a14:m>
                  <m:oMath xmlns:m="http://schemas.openxmlformats.org/officeDocument/2006/math">
                    <m:sSup>
                      <m:sSupPr>
                        <m:ctrlPr>
                          <a:rPr lang="en-US" sz="2600" b="0" i="1" smtClean="0">
                            <a:solidFill>
                              <a:srgbClr val="0070C0"/>
                            </a:solidFill>
                            <a:latin typeface="Cambria Math" panose="02040503050406030204" pitchFamily="18" charset="0"/>
                          </a:rPr>
                        </m:ctrlPr>
                      </m:sSupPr>
                      <m:e>
                        <m:r>
                          <a:rPr lang="en-US" sz="2600" b="0" i="1" smtClean="0">
                            <a:solidFill>
                              <a:srgbClr val="0070C0"/>
                            </a:solidFill>
                            <a:latin typeface="Cambria Math" panose="02040503050406030204" pitchFamily="18" charset="0"/>
                          </a:rPr>
                          <m:t>2</m:t>
                        </m:r>
                      </m:e>
                      <m:sup>
                        <m:r>
                          <a:rPr lang="en-US" sz="2600" b="0" i="1" smtClean="0">
                            <a:solidFill>
                              <a:srgbClr val="0070C0"/>
                            </a:solidFill>
                            <a:latin typeface="Cambria Math" panose="02040503050406030204" pitchFamily="18" charset="0"/>
                          </a:rPr>
                          <m:t>𝑖</m:t>
                        </m:r>
                      </m:sup>
                    </m:sSup>
                  </m:oMath>
                </a14:m>
                <a:r>
                  <a:rPr lang="en-US" sz="2600" dirty="0">
                    <a:solidFill>
                      <a:srgbClr val="FF0000"/>
                    </a:solidFill>
                  </a:rPr>
                  <a:t> </a:t>
                </a:r>
                <a:r>
                  <a:rPr lang="en-US" sz="2600" dirty="0"/>
                  <a:t>work per level</a:t>
                </a:r>
              </a:p>
            </p:txBody>
          </p:sp>
        </mc:Choice>
        <mc:Fallback xmlns="">
          <p:sp>
            <p:nvSpPr>
              <p:cNvPr id="41" name="Text Box 2"/>
              <p:cNvSpPr txBox="1">
                <a:spLocks noRot="1" noChangeAspect="1" noMove="1" noResize="1" noEditPoints="1" noAdjustHandles="1" noChangeArrowheads="1" noChangeShapeType="1" noTextEdit="1"/>
              </p:cNvSpPr>
              <p:nvPr/>
            </p:nvSpPr>
            <p:spPr bwMode="auto">
              <a:xfrm>
                <a:off x="8267700" y="2051914"/>
                <a:ext cx="3733827" cy="505395"/>
              </a:xfrm>
              <a:prstGeom prst="rect">
                <a:avLst/>
              </a:prstGeom>
              <a:blipFill>
                <a:blip r:embed="rId29"/>
                <a:stretch>
                  <a:fillRect t="-12048" b="-30120"/>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Rectangle 45"/>
              <p:cNvSpPr/>
              <p:nvPr/>
            </p:nvSpPr>
            <p:spPr>
              <a:xfrm>
                <a:off x="8419870" y="5302056"/>
                <a:ext cx="3641760" cy="1324080"/>
              </a:xfrm>
              <a:prstGeom prst="rect">
                <a:avLst/>
              </a:prstGeom>
            </p:spPr>
            <p:txBody>
              <a:bodyPr wrap="square">
                <a:spAutoFit/>
              </a:bodyPr>
              <a:lstStyle/>
              <a:p>
                <a:pPr lvl="1"/>
                <a14:m>
                  <m:oMathPara xmlns:m="http://schemas.openxmlformats.org/officeDocument/2006/math">
                    <m:oMathParaPr>
                      <m:jc m:val="centerGroup"/>
                    </m:oMathParaPr>
                    <m:oMath xmlns:m="http://schemas.openxmlformats.org/officeDocument/2006/math">
                      <m:r>
                        <a:rPr lang="en-US" sz="2800" i="1" smtClean="0">
                          <a:latin typeface="Cambria Math"/>
                        </a:rPr>
                        <m:t>𝑇</m:t>
                      </m:r>
                      <m:d>
                        <m:dPr>
                          <m:ctrlPr>
                            <a:rPr lang="en-US" sz="2800" i="1">
                              <a:latin typeface="Cambria Math" panose="02040503050406030204" pitchFamily="18" charset="0"/>
                            </a:rPr>
                          </m:ctrlPr>
                        </m:dPr>
                        <m:e>
                          <m:r>
                            <a:rPr lang="en-US" sz="2800" i="1">
                              <a:latin typeface="Cambria Math"/>
                            </a:rPr>
                            <m:t>𝑛</m:t>
                          </m:r>
                        </m:e>
                      </m:d>
                      <m:r>
                        <a:rPr lang="en-US" sz="2800" i="1">
                          <a:latin typeface="Cambria Math"/>
                        </a:rPr>
                        <m:t>=</m:t>
                      </m:r>
                      <m:nary>
                        <m:naryPr>
                          <m:chr m:val="∑"/>
                          <m:ctrlPr>
                            <a:rPr lang="en-US" sz="2800" i="1">
                              <a:latin typeface="Cambria Math" panose="02040503050406030204" pitchFamily="18" charset="0"/>
                            </a:rPr>
                          </m:ctrlPr>
                        </m:naryPr>
                        <m:sub>
                          <m:r>
                            <m:rPr>
                              <m:brk m:alnAt="23"/>
                            </m:rPr>
                            <a:rPr lang="en-US" sz="2800" i="1">
                              <a:latin typeface="Cambria Math"/>
                            </a:rPr>
                            <m:t>𝑖</m:t>
                          </m:r>
                          <m:r>
                            <a:rPr lang="en-US" sz="2800" i="1">
                              <a:latin typeface="Cambria Math"/>
                            </a:rPr>
                            <m:t>=</m:t>
                          </m:r>
                          <m:r>
                            <a:rPr lang="en-US" sz="2800" b="0" i="1" smtClean="0">
                              <a:latin typeface="Cambria Math" panose="02040503050406030204" pitchFamily="18" charset="0"/>
                            </a:rPr>
                            <m:t>0</m:t>
                          </m:r>
                        </m:sub>
                        <m:sup>
                          <m:func>
                            <m:funcPr>
                              <m:ctrlPr>
                                <a:rPr lang="en-US" sz="2800" i="1">
                                  <a:latin typeface="Cambria Math" panose="02040503050406030204" pitchFamily="18" charset="0"/>
                                </a:rPr>
                              </m:ctrlPr>
                            </m:funcPr>
                            <m:fName>
                              <m:sSub>
                                <m:sSubPr>
                                  <m:ctrlPr>
                                    <a:rPr lang="en-US" sz="2800" i="1">
                                      <a:latin typeface="Cambria Math" panose="02040503050406030204" pitchFamily="18" charset="0"/>
                                    </a:rPr>
                                  </m:ctrlPr>
                                </m:sSubPr>
                                <m:e>
                                  <m:r>
                                    <m:rPr>
                                      <m:sty m:val="p"/>
                                    </m:rPr>
                                    <a:rPr lang="en-US" sz="2800">
                                      <a:latin typeface="Cambria Math"/>
                                    </a:rPr>
                                    <m:t>log</m:t>
                                  </m:r>
                                </m:e>
                                <m:sub>
                                  <m:r>
                                    <a:rPr lang="en-US" sz="2800">
                                      <a:latin typeface="Cambria Math"/>
                                    </a:rPr>
                                    <m:t>2</m:t>
                                  </m:r>
                                </m:sub>
                              </m:sSub>
                            </m:fName>
                            <m:e>
                              <m:r>
                                <a:rPr lang="en-US" sz="2800" i="1">
                                  <a:latin typeface="Cambria Math"/>
                                </a:rPr>
                                <m:t>𝑛</m:t>
                              </m:r>
                            </m:e>
                          </m:func>
                        </m:sup>
                        <m:e>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2</m:t>
                              </m:r>
                            </m:e>
                            <m:sup>
                              <m:r>
                                <a:rPr lang="en-US" sz="2800" b="0" i="1" smtClean="0">
                                  <a:latin typeface="Cambria Math" panose="02040503050406030204" pitchFamily="18" charset="0"/>
                                </a:rPr>
                                <m:t>𝑖</m:t>
                              </m:r>
                            </m:sup>
                          </m:sSup>
                        </m:e>
                      </m:nary>
                    </m:oMath>
                  </m:oMathPara>
                </a14:m>
                <a:endParaRPr lang="en-US" sz="2800" dirty="0"/>
              </a:p>
            </p:txBody>
          </p:sp>
        </mc:Choice>
        <mc:Fallback xmlns="">
          <p:sp>
            <p:nvSpPr>
              <p:cNvPr id="46" name="Rectangle 45"/>
              <p:cNvSpPr>
                <a:spLocks noRot="1" noChangeAspect="1" noMove="1" noResize="1" noEditPoints="1" noAdjustHandles="1" noChangeArrowheads="1" noChangeShapeType="1" noTextEdit="1"/>
              </p:cNvSpPr>
              <p:nvPr/>
            </p:nvSpPr>
            <p:spPr>
              <a:xfrm>
                <a:off x="8419870" y="5302056"/>
                <a:ext cx="3641760" cy="1324080"/>
              </a:xfrm>
              <a:prstGeom prst="rect">
                <a:avLst/>
              </a:prstGeom>
              <a:blipFill>
                <a:blip r:embed="rId30"/>
                <a:stretch>
                  <a:fillRect/>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1">
            <p14:nvContentPartPr>
              <p14:cNvPr id="6" name="Ink 5">
                <a:extLst>
                  <a:ext uri="{FF2B5EF4-FFF2-40B4-BE49-F238E27FC236}">
                    <a16:creationId xmlns:a16="http://schemas.microsoft.com/office/drawing/2014/main" id="{782A7366-35DB-6CA9-EB55-D0735F822FE9}"/>
                  </a:ext>
                </a:extLst>
              </p14:cNvPr>
              <p14:cNvContentPartPr/>
              <p14:nvPr/>
            </p14:nvContentPartPr>
            <p14:xfrm>
              <a:off x="451800" y="1102320"/>
              <a:ext cx="8142480" cy="4559040"/>
            </p14:xfrm>
          </p:contentPart>
        </mc:Choice>
        <mc:Fallback>
          <p:pic>
            <p:nvPicPr>
              <p:cNvPr id="6" name="Ink 5">
                <a:extLst>
                  <a:ext uri="{FF2B5EF4-FFF2-40B4-BE49-F238E27FC236}">
                    <a16:creationId xmlns:a16="http://schemas.microsoft.com/office/drawing/2014/main" id="{782A7366-35DB-6CA9-EB55-D0735F822FE9}"/>
                  </a:ext>
                </a:extLst>
              </p:cNvPr>
              <p:cNvPicPr/>
              <p:nvPr/>
            </p:nvPicPr>
            <p:blipFill>
              <a:blip r:embed="rId32"/>
              <a:stretch>
                <a:fillRect/>
              </a:stretch>
            </p:blipFill>
            <p:spPr>
              <a:xfrm>
                <a:off x="442440" y="1092960"/>
                <a:ext cx="8161200" cy="4577760"/>
              </a:xfrm>
              <a:prstGeom prst="rect">
                <a:avLst/>
              </a:prstGeom>
            </p:spPr>
          </p:pic>
        </mc:Fallback>
      </mc:AlternateContent>
    </p:spTree>
    <p:extLst>
      <p:ext uri="{BB962C8B-B14F-4D97-AF65-F5344CB8AC3E}">
        <p14:creationId xmlns:p14="http://schemas.microsoft.com/office/powerpoint/2010/main" val="993702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fade">
                                      <p:cBhvr>
                                        <p:cTn id="7" dur="500"/>
                                        <p:tgtEl>
                                          <p:spTgt spid="4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fade">
                                      <p:cBhvr>
                                        <p:cTn id="12" dur="500"/>
                                        <p:tgtEl>
                                          <p:spTgt spid="43"/>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2"/>
                                        </p:tgtEl>
                                        <p:attrNameLst>
                                          <p:attrName>style.visibility</p:attrName>
                                        </p:attrNameLst>
                                      </p:cBhvr>
                                      <p:to>
                                        <p:strVal val="visible"/>
                                      </p:to>
                                    </p:set>
                                    <p:animEffect transition="in" filter="fade">
                                      <p:cBhvr>
                                        <p:cTn id="15" dur="500"/>
                                        <p:tgtEl>
                                          <p:spTgt spid="4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6"/>
                                        </p:tgtEl>
                                        <p:attrNameLst>
                                          <p:attrName>style.visibility</p:attrName>
                                        </p:attrNameLst>
                                      </p:cBhvr>
                                      <p:to>
                                        <p:strVal val="visible"/>
                                      </p:to>
                                    </p:set>
                                    <p:animEffect transition="in" filter="fade">
                                      <p:cBhvr>
                                        <p:cTn id="20"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3" grpId="0"/>
      <p:bldP spid="41" grpId="0"/>
      <p:bldP spid="4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AE782-C07E-8C9D-F03B-E1555654D0F6}"/>
              </a:ext>
            </a:extLst>
          </p:cNvPr>
          <p:cNvSpPr>
            <a:spLocks noGrp="1"/>
          </p:cNvSpPr>
          <p:nvPr>
            <p:ph type="title"/>
          </p:nvPr>
        </p:nvSpPr>
        <p:spPr/>
        <p:txBody>
          <a:bodyPr/>
          <a:lstStyle/>
          <a:p>
            <a:r>
              <a:rPr lang="en-US" dirty="0"/>
              <a:t>Recursive List Summation – Solving the Series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24CB12C-1484-4384-0A8A-F40C8F089090}"/>
                  </a:ext>
                </a:extLst>
              </p:cNvPr>
              <p:cNvSpPr>
                <a:spLocks noGrp="1"/>
              </p:cNvSpPr>
              <p:nvPr>
                <p:ph idx="1"/>
              </p:nvPr>
            </p:nvSpPr>
            <p:spPr/>
            <p:txBody>
              <a:bodyPr>
                <a:normAutofit/>
              </a:bodyPr>
              <a:lstStyle/>
              <a:p>
                <a:pPr marL="457200" lvl="1" indent="0">
                  <a:buNone/>
                </a:pPr>
                <a14:m>
                  <m:oMathPara xmlns:m="http://schemas.openxmlformats.org/officeDocument/2006/math">
                    <m:oMathParaPr>
                      <m:jc m:val="centerGroup"/>
                    </m:oMathParaPr>
                    <m:oMath xmlns:m="http://schemas.openxmlformats.org/officeDocument/2006/math">
                      <m:r>
                        <a:rPr lang="en-US" sz="2800" i="1" smtClean="0">
                          <a:latin typeface="Cambria Math"/>
                        </a:rPr>
                        <m:t>𝑇</m:t>
                      </m:r>
                      <m:d>
                        <m:dPr>
                          <m:ctrlPr>
                            <a:rPr lang="en-US" sz="2800" i="1">
                              <a:latin typeface="Cambria Math" panose="02040503050406030204" pitchFamily="18" charset="0"/>
                            </a:rPr>
                          </m:ctrlPr>
                        </m:dPr>
                        <m:e>
                          <m:r>
                            <a:rPr lang="en-US" sz="2800" i="1">
                              <a:latin typeface="Cambria Math"/>
                            </a:rPr>
                            <m:t>𝑛</m:t>
                          </m:r>
                        </m:e>
                      </m:d>
                      <m:r>
                        <a:rPr lang="en-US" sz="2800" i="1">
                          <a:latin typeface="Cambria Math"/>
                        </a:rPr>
                        <m:t>=</m:t>
                      </m:r>
                      <m:nary>
                        <m:naryPr>
                          <m:chr m:val="∑"/>
                          <m:ctrlPr>
                            <a:rPr lang="en-US" sz="2800" i="1">
                              <a:latin typeface="Cambria Math" panose="02040503050406030204" pitchFamily="18" charset="0"/>
                            </a:rPr>
                          </m:ctrlPr>
                        </m:naryPr>
                        <m:sub>
                          <m:r>
                            <m:rPr>
                              <m:brk m:alnAt="23"/>
                            </m:rPr>
                            <a:rPr lang="en-US" sz="2800" i="1">
                              <a:latin typeface="Cambria Math"/>
                            </a:rPr>
                            <m:t>𝑖</m:t>
                          </m:r>
                          <m:r>
                            <a:rPr lang="en-US" sz="2800" i="1">
                              <a:latin typeface="Cambria Math"/>
                            </a:rPr>
                            <m:t>=</m:t>
                          </m:r>
                          <m:r>
                            <a:rPr lang="en-US" sz="2800" b="0" i="1" smtClean="0">
                              <a:latin typeface="Cambria Math" panose="02040503050406030204" pitchFamily="18" charset="0"/>
                            </a:rPr>
                            <m:t>0</m:t>
                          </m:r>
                        </m:sub>
                        <m:sup>
                          <m:func>
                            <m:funcPr>
                              <m:ctrlPr>
                                <a:rPr lang="en-US" sz="2800" i="1">
                                  <a:latin typeface="Cambria Math" panose="02040503050406030204" pitchFamily="18" charset="0"/>
                                </a:rPr>
                              </m:ctrlPr>
                            </m:funcPr>
                            <m:fName>
                              <m:sSub>
                                <m:sSubPr>
                                  <m:ctrlPr>
                                    <a:rPr lang="en-US" sz="2800" i="1">
                                      <a:latin typeface="Cambria Math" panose="02040503050406030204" pitchFamily="18" charset="0"/>
                                    </a:rPr>
                                  </m:ctrlPr>
                                </m:sSubPr>
                                <m:e>
                                  <m:r>
                                    <m:rPr>
                                      <m:sty m:val="p"/>
                                    </m:rPr>
                                    <a:rPr lang="en-US" sz="2800">
                                      <a:latin typeface="Cambria Math"/>
                                    </a:rPr>
                                    <m:t>log</m:t>
                                  </m:r>
                                </m:e>
                                <m:sub>
                                  <m:r>
                                    <a:rPr lang="en-US" sz="2800">
                                      <a:latin typeface="Cambria Math"/>
                                    </a:rPr>
                                    <m:t>2</m:t>
                                  </m:r>
                                </m:sub>
                              </m:sSub>
                            </m:fName>
                            <m:e>
                              <m:r>
                                <a:rPr lang="en-US" sz="2800" i="1">
                                  <a:latin typeface="Cambria Math"/>
                                </a:rPr>
                                <m:t>𝑛</m:t>
                              </m:r>
                            </m:e>
                          </m:func>
                        </m:sup>
                        <m:e>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2</m:t>
                              </m:r>
                            </m:e>
                            <m:sup>
                              <m:r>
                                <a:rPr lang="en-US" sz="2800" b="0" i="1" smtClean="0">
                                  <a:latin typeface="Cambria Math" panose="02040503050406030204" pitchFamily="18" charset="0"/>
                                </a:rPr>
                                <m:t>𝑖</m:t>
                              </m:r>
                            </m:sup>
                          </m:sSup>
                        </m:e>
                      </m:nary>
                    </m:oMath>
                  </m:oMathPara>
                </a14:m>
                <a:endParaRPr lang="en-US" sz="2800" b="0" dirty="0"/>
              </a:p>
              <a:p>
                <a:pPr marL="457200" lvl="1" indent="0">
                  <a:buNone/>
                </a:pPr>
                <a:endParaRPr lang="en-US" sz="2800" dirty="0"/>
              </a:p>
              <a:p>
                <a:pPr marL="457200" lvl="1" indent="0">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m:t>
                      </m:r>
                      <m:d>
                        <m:dPr>
                          <m:ctrlPr>
                            <a:rPr lang="en-US" sz="2800" b="0" i="1" smtClean="0">
                              <a:latin typeface="Cambria Math" panose="02040503050406030204" pitchFamily="18" charset="0"/>
                            </a:rPr>
                          </m:ctrlPr>
                        </m:dPr>
                        <m:e>
                          <m:f>
                            <m:fPr>
                              <m:ctrlPr>
                                <a:rPr lang="en-US" sz="2800" b="0" i="1" smtClean="0">
                                  <a:latin typeface="Cambria Math" panose="02040503050406030204" pitchFamily="18" charset="0"/>
                                </a:rPr>
                              </m:ctrlPr>
                            </m:fPr>
                            <m:num>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2</m:t>
                                  </m:r>
                                </m:e>
                                <m:sup>
                                  <m:func>
                                    <m:funcPr>
                                      <m:ctrlPr>
                                        <a:rPr lang="en-US" sz="2800" b="0" i="1" smtClean="0">
                                          <a:latin typeface="Cambria Math" panose="02040503050406030204" pitchFamily="18" charset="0"/>
                                        </a:rPr>
                                      </m:ctrlPr>
                                    </m:funcPr>
                                    <m:fName>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1+</m:t>
                                          </m:r>
                                          <m:r>
                                            <m:rPr>
                                              <m:sty m:val="p"/>
                                            </m:rPr>
                                            <a:rPr lang="en-US" sz="2800" b="0" i="0" smtClean="0">
                                              <a:latin typeface="Cambria Math" panose="02040503050406030204" pitchFamily="18" charset="0"/>
                                            </a:rPr>
                                            <m:t>log</m:t>
                                          </m:r>
                                        </m:e>
                                        <m:sub>
                                          <m:r>
                                            <a:rPr lang="en-US" sz="2800" b="0" i="1" smtClean="0">
                                              <a:latin typeface="Cambria Math" panose="02040503050406030204" pitchFamily="18" charset="0"/>
                                            </a:rPr>
                                            <m:t>2</m:t>
                                          </m:r>
                                        </m:sub>
                                      </m:sSub>
                                    </m:fName>
                                    <m:e>
                                      <m:r>
                                        <a:rPr lang="en-US" sz="2800" b="0" i="1" smtClean="0">
                                          <a:latin typeface="Cambria Math" panose="02040503050406030204" pitchFamily="18" charset="0"/>
                                        </a:rPr>
                                        <m:t>𝑛</m:t>
                                      </m:r>
                                    </m:e>
                                  </m:func>
                                </m:sup>
                              </m:sSup>
                              <m:r>
                                <a:rPr lang="en-US" sz="2800" b="0" i="1" smtClean="0">
                                  <a:latin typeface="Cambria Math" panose="02040503050406030204" pitchFamily="18" charset="0"/>
                                </a:rPr>
                                <m:t>−1</m:t>
                              </m:r>
                            </m:num>
                            <m:den>
                              <m:r>
                                <a:rPr lang="en-US" sz="2800" b="0" i="1" smtClean="0">
                                  <a:latin typeface="Cambria Math" panose="02040503050406030204" pitchFamily="18" charset="0"/>
                                </a:rPr>
                                <m:t>2−1</m:t>
                              </m:r>
                            </m:den>
                          </m:f>
                        </m:e>
                      </m:d>
                    </m:oMath>
                  </m:oMathPara>
                </a14:m>
                <a:endParaRPr lang="en-US" sz="2800" dirty="0"/>
              </a:p>
              <a:p>
                <a:pPr marL="457200" lvl="1" indent="0">
                  <a:buNone/>
                </a:pPr>
                <a:endParaRPr lang="en-US" sz="2800" dirty="0"/>
              </a:p>
              <a:p>
                <a:pPr marL="457200" lvl="1" indent="0">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=2⋅</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2</m:t>
                          </m:r>
                        </m:e>
                        <m:sup>
                          <m:func>
                            <m:funcPr>
                              <m:ctrlPr>
                                <a:rPr lang="en-US" sz="2800" b="0" i="1" smtClean="0">
                                  <a:latin typeface="Cambria Math" panose="02040503050406030204" pitchFamily="18" charset="0"/>
                                </a:rPr>
                              </m:ctrlPr>
                            </m:funcPr>
                            <m:fName>
                              <m:sSub>
                                <m:sSubPr>
                                  <m:ctrlPr>
                                    <a:rPr lang="en-US" sz="2800" b="0" i="1" smtClean="0">
                                      <a:latin typeface="Cambria Math" panose="02040503050406030204" pitchFamily="18" charset="0"/>
                                    </a:rPr>
                                  </m:ctrlPr>
                                </m:sSubPr>
                                <m:e>
                                  <m:r>
                                    <m:rPr>
                                      <m:sty m:val="p"/>
                                    </m:rPr>
                                    <a:rPr lang="en-US" sz="2800" b="0" i="0" smtClean="0">
                                      <a:latin typeface="Cambria Math" panose="02040503050406030204" pitchFamily="18" charset="0"/>
                                    </a:rPr>
                                    <m:t>log</m:t>
                                  </m:r>
                                </m:e>
                                <m:sub>
                                  <m:r>
                                    <a:rPr lang="en-US" sz="2800" b="0" i="1" smtClean="0">
                                      <a:latin typeface="Cambria Math" panose="02040503050406030204" pitchFamily="18" charset="0"/>
                                    </a:rPr>
                                    <m:t>2</m:t>
                                  </m:r>
                                </m:sub>
                              </m:sSub>
                            </m:fName>
                            <m:e>
                              <m:r>
                                <a:rPr lang="en-US" sz="2800" b="0" i="1" smtClean="0">
                                  <a:latin typeface="Cambria Math" panose="02040503050406030204" pitchFamily="18" charset="0"/>
                                </a:rPr>
                                <m:t>𝑛</m:t>
                              </m:r>
                            </m:e>
                          </m:func>
                        </m:sup>
                      </m:sSup>
                      <m:r>
                        <a:rPr lang="en-US" sz="2800" b="0" i="1" smtClean="0">
                          <a:latin typeface="Cambria Math" panose="02040503050406030204" pitchFamily="18" charset="0"/>
                        </a:rPr>
                        <m:t>−1</m:t>
                      </m:r>
                    </m:oMath>
                  </m:oMathPara>
                </a14:m>
                <a:endParaRPr lang="en-US" sz="2800" dirty="0"/>
              </a:p>
              <a:p>
                <a:pPr marL="457200" lvl="1" indent="0">
                  <a:buNone/>
                </a:pPr>
                <a:endParaRPr lang="en-US" sz="2800" dirty="0"/>
              </a:p>
              <a:p>
                <a:pPr marL="457200" lvl="1" indent="0">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=2</m:t>
                      </m:r>
                      <m:r>
                        <a:rPr lang="en-US" sz="2800" b="0" i="1" smtClean="0">
                          <a:latin typeface="Cambria Math" panose="02040503050406030204" pitchFamily="18" charset="0"/>
                        </a:rPr>
                        <m:t>𝑛</m:t>
                      </m:r>
                      <m:r>
                        <a:rPr lang="en-US" sz="2800" b="0" i="1" smtClean="0">
                          <a:latin typeface="Cambria Math" panose="02040503050406030204" pitchFamily="18" charset="0"/>
                        </a:rPr>
                        <m:t>−1=</m:t>
                      </m:r>
                      <m:r>
                        <m:rPr>
                          <m:sty m:val="p"/>
                        </m:rPr>
                        <a:rPr lang="en-US" sz="2800" b="0" i="0" smtClean="0">
                          <a:latin typeface="Cambria Math" panose="02040503050406030204" pitchFamily="18" charset="0"/>
                        </a:rPr>
                        <m:t>Θ</m:t>
                      </m:r>
                      <m:r>
                        <a:rPr lang="en-US" sz="2800" b="0" i="1" smtClean="0">
                          <a:latin typeface="Cambria Math" panose="02040503050406030204" pitchFamily="18" charset="0"/>
                        </a:rPr>
                        <m:t>(</m:t>
                      </m:r>
                      <m:r>
                        <a:rPr lang="en-US" sz="2800" b="0" i="1" smtClean="0">
                          <a:latin typeface="Cambria Math" panose="02040503050406030204" pitchFamily="18" charset="0"/>
                        </a:rPr>
                        <m:t>𝑛</m:t>
                      </m:r>
                      <m:r>
                        <a:rPr lang="en-US" sz="2800" b="0" i="1" smtClean="0">
                          <a:latin typeface="Cambria Math" panose="02040503050406030204" pitchFamily="18" charset="0"/>
                        </a:rPr>
                        <m:t>)</m:t>
                      </m:r>
                    </m:oMath>
                  </m:oMathPara>
                </a14:m>
                <a:endParaRPr lang="en-US" sz="2800" dirty="0"/>
              </a:p>
              <a:p>
                <a:pPr marL="457200" lvl="1" indent="0">
                  <a:buNone/>
                </a:pPr>
                <a:endParaRPr lang="en-US" sz="2800" dirty="0"/>
              </a:p>
              <a:p>
                <a:pPr marL="457200" lvl="1" indent="0">
                  <a:buNone/>
                </a:pPr>
                <a:endParaRPr lang="en-US" sz="2800" dirty="0"/>
              </a:p>
            </p:txBody>
          </p:sp>
        </mc:Choice>
        <mc:Fallback xmlns="">
          <p:sp>
            <p:nvSpPr>
              <p:cNvPr id="3" name="Content Placeholder 2">
                <a:extLst>
                  <a:ext uri="{FF2B5EF4-FFF2-40B4-BE49-F238E27FC236}">
                    <a16:creationId xmlns:a16="http://schemas.microsoft.com/office/drawing/2014/main" id="{324CB12C-1484-4384-0A8A-F40C8F089090}"/>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902507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63FB1-2024-3C2F-82C7-A570445A90E0}"/>
              </a:ext>
            </a:extLst>
          </p:cNvPr>
          <p:cNvSpPr>
            <a:spLocks noGrp="1"/>
          </p:cNvSpPr>
          <p:nvPr>
            <p:ph type="title"/>
          </p:nvPr>
        </p:nvSpPr>
        <p:spPr/>
        <p:txBody>
          <a:bodyPr/>
          <a:lstStyle/>
          <a:p>
            <a:r>
              <a:rPr lang="en-US" dirty="0"/>
              <a:t>Tree Method Summary: Chip and Conquer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9E1F56D-397B-4864-2127-448D2A1008AD}"/>
                  </a:ext>
                </a:extLst>
              </p:cNvPr>
              <p:cNvSpPr>
                <a:spLocks noGrp="1"/>
              </p:cNvSpPr>
              <p:nvPr>
                <p:ph idx="1"/>
              </p:nvPr>
            </p:nvSpPr>
            <p:spPr>
              <a:xfrm>
                <a:off x="838200" y="1825625"/>
                <a:ext cx="10515600" cy="4813714"/>
              </a:xfrm>
            </p:spPr>
            <p:txBody>
              <a:bodyPr>
                <a:normAutofit fontScale="92500" lnSpcReduction="20000"/>
              </a:bodyPr>
              <a:lstStyle/>
              <a:p>
                <a:r>
                  <a:rPr lang="en-US" dirty="0"/>
                  <a:t>Recurrence looks like </a:t>
                </a:r>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latin typeface="Cambria Math" panose="02040503050406030204" pitchFamily="18" charset="0"/>
                      </a:rPr>
                      <m:t>𝑎𝑇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𝑏</m:t>
                        </m:r>
                      </m:e>
                    </m:d>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a:p>
                <a:r>
                  <a:rPr lang="en-US" dirty="0"/>
                  <a:t>Use the recurrence to draw a tree</a:t>
                </a:r>
              </a:p>
              <a:p>
                <a:pPr lvl="1"/>
                <a14:m>
                  <m:oMath xmlns:m="http://schemas.openxmlformats.org/officeDocument/2006/math">
                    <m:r>
                      <a:rPr lang="en-US" b="0" i="1" smtClean="0">
                        <a:latin typeface="Cambria Math" panose="02040503050406030204" pitchFamily="18" charset="0"/>
                      </a:rPr>
                      <m:t>𝑎</m:t>
                    </m:r>
                  </m:oMath>
                </a14:m>
                <a:r>
                  <a:rPr lang="en-US" dirty="0"/>
                  <a:t> is the branching factor of the tree (e.g. if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=2</m:t>
                    </m:r>
                  </m:oMath>
                </a14:m>
                <a:r>
                  <a:rPr lang="en-US" dirty="0"/>
                  <a:t> then it’s a binary tree)</a:t>
                </a:r>
              </a:p>
              <a:p>
                <a:pPr lvl="1"/>
                <a:r>
                  <a:rPr lang="en-US" dirty="0"/>
                  <a:t>Subtract </a:t>
                </a:r>
                <a14:m>
                  <m:oMath xmlns:m="http://schemas.openxmlformats.org/officeDocument/2006/math">
                    <m:r>
                      <a:rPr lang="en-US" b="0" i="1" smtClean="0">
                        <a:latin typeface="Cambria Math" panose="02040503050406030204" pitchFamily="18" charset="0"/>
                      </a:rPr>
                      <m:t>𝑏</m:t>
                    </m:r>
                  </m:oMath>
                </a14:m>
                <a:r>
                  <a:rPr lang="en-US" dirty="0"/>
                  <a:t> from the parent’s input size to get children’s input size</a:t>
                </a:r>
              </a:p>
              <a:p>
                <a:pPr lvl="1"/>
                <a:r>
                  <a:rPr lang="en-US" dirty="0"/>
                  <a:t>Work done per node is given by applying </a:t>
                </a:r>
                <a14:m>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r>
                  <a:rPr lang="en-US" dirty="0"/>
                  <a:t> to that node’s input size</a:t>
                </a:r>
              </a:p>
              <a:p>
                <a:pPr lvl="1"/>
                <a:r>
                  <a:rPr lang="en-US" dirty="0"/>
                  <a:t>Height of the tree is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𝑏</m:t>
                        </m:r>
                      </m:den>
                    </m:f>
                  </m:oMath>
                </a14:m>
                <a:endParaRPr lang="en-US" dirty="0"/>
              </a:p>
              <a:p>
                <a:pPr lvl="2"/>
                <a:r>
                  <a:rPr lang="en-US" dirty="0"/>
                  <a:t>Because that is the number of times we must subtract </a:t>
                </a:r>
                <a14:m>
                  <m:oMath xmlns:m="http://schemas.openxmlformats.org/officeDocument/2006/math">
                    <m:r>
                      <a:rPr lang="en-US" b="0" i="1" smtClean="0">
                        <a:latin typeface="Cambria Math" panose="02040503050406030204" pitchFamily="18" charset="0"/>
                      </a:rPr>
                      <m:t>𝑏</m:t>
                    </m:r>
                  </m:oMath>
                </a14:m>
                <a:r>
                  <a:rPr lang="en-US" dirty="0"/>
                  <a:t> until reaching a base case</a:t>
                </a:r>
              </a:p>
              <a:p>
                <a:pPr lvl="2"/>
                <a:r>
                  <a:rPr lang="en-US" dirty="0"/>
                  <a:t>Answer to the question “how many times must we subtract </a:t>
                </a:r>
                <a14:m>
                  <m:oMath xmlns:m="http://schemas.openxmlformats.org/officeDocument/2006/math">
                    <m:r>
                      <a:rPr lang="en-US" b="0" i="1" smtClean="0">
                        <a:latin typeface="Cambria Math" panose="02040503050406030204" pitchFamily="18" charset="0"/>
                      </a:rPr>
                      <m:t>𝑏</m:t>
                    </m:r>
                  </m:oMath>
                </a14:m>
                <a:r>
                  <a:rPr lang="en-US" dirty="0"/>
                  <a:t> until we reach 0?”</a:t>
                </a:r>
              </a:p>
              <a:p>
                <a:pPr lvl="3"/>
                <a:r>
                  <a:rPr lang="en-US" dirty="0"/>
                  <a:t>Any base case is a constant, so to reach a larger value would just be a constant change</a:t>
                </a:r>
              </a:p>
              <a:p>
                <a:r>
                  <a:rPr lang="en-US" dirty="0"/>
                  <a:t>Use the tree to express running time as a series</a:t>
                </a:r>
              </a:p>
              <a:p>
                <a:pPr lvl="1"/>
                <a:r>
                  <a:rPr lang="en-US" dirty="0"/>
                  <a:t>Adding work done for each node level-by-level</a:t>
                </a:r>
              </a:p>
              <a:p>
                <a:pPr lvl="1"/>
                <a:r>
                  <a:rPr lang="en-US" dirty="0"/>
                  <a:t>Identify a pattern to express work done at level </a:t>
                </a:r>
                <a14:m>
                  <m:oMath xmlns:m="http://schemas.openxmlformats.org/officeDocument/2006/math">
                    <m:r>
                      <a:rPr lang="en-US" b="0" i="1" smtClean="0">
                        <a:latin typeface="Cambria Math" panose="02040503050406030204" pitchFamily="18" charset="0"/>
                      </a:rPr>
                      <m:t>𝑖</m:t>
                    </m:r>
                  </m:oMath>
                </a14:m>
                <a:r>
                  <a:rPr lang="en-US" dirty="0"/>
                  <a:t> as a function of </a:t>
                </a:r>
                <a14:m>
                  <m:oMath xmlns:m="http://schemas.openxmlformats.org/officeDocument/2006/math">
                    <m:r>
                      <a:rPr lang="en-US" b="0" i="1" smtClean="0">
                        <a:latin typeface="Cambria Math" panose="02040503050406030204" pitchFamily="18" charset="0"/>
                      </a:rPr>
                      <m:t>𝑖</m:t>
                    </m:r>
                  </m:oMath>
                </a14:m>
                <a:endParaRPr lang="en-US" dirty="0"/>
              </a:p>
              <a:p>
                <a:pPr lvl="1"/>
                <a:r>
                  <a:rPr lang="en-US" dirty="0"/>
                  <a:t>Write a series using </a:t>
                </a:r>
                <a14:m>
                  <m:oMath xmlns:m="http://schemas.openxmlformats.org/officeDocument/2006/math">
                    <m:r>
                      <a:rPr lang="en-US" b="0" i="1" smtClean="0">
                        <a:latin typeface="Cambria Math" panose="02040503050406030204" pitchFamily="18" charset="0"/>
                      </a:rPr>
                      <m:t>𝑖</m:t>
                    </m:r>
                    <m:r>
                      <a:rPr lang="en-US" b="0" i="1" smtClean="0">
                        <a:latin typeface="Cambria Math" panose="02040503050406030204" pitchFamily="18" charset="0"/>
                      </a:rPr>
                      <m:t>=0</m:t>
                    </m:r>
                  </m:oMath>
                </a14:m>
                <a:r>
                  <a:rPr lang="en-US" dirty="0"/>
                  <a:t> up to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𝑏</m:t>
                        </m:r>
                      </m:den>
                    </m:f>
                  </m:oMath>
                </a14:m>
                <a:endParaRPr lang="en-US" dirty="0"/>
              </a:p>
              <a:p>
                <a:r>
                  <a:rPr lang="en-US" dirty="0"/>
                  <a:t>Solve the series</a:t>
                </a:r>
              </a:p>
            </p:txBody>
          </p:sp>
        </mc:Choice>
        <mc:Fallback xmlns="">
          <p:sp>
            <p:nvSpPr>
              <p:cNvPr id="3" name="Content Placeholder 2">
                <a:extLst>
                  <a:ext uri="{FF2B5EF4-FFF2-40B4-BE49-F238E27FC236}">
                    <a16:creationId xmlns:a16="http://schemas.microsoft.com/office/drawing/2014/main" id="{59E1F56D-397B-4864-2127-448D2A1008AD}"/>
                  </a:ext>
                </a:extLst>
              </p:cNvPr>
              <p:cNvSpPr>
                <a:spLocks noGrp="1" noRot="1" noChangeAspect="1" noMove="1" noResize="1" noEditPoints="1" noAdjustHandles="1" noChangeArrowheads="1" noChangeShapeType="1" noTextEdit="1"/>
              </p:cNvSpPr>
              <p:nvPr>
                <p:ph idx="1"/>
              </p:nvPr>
            </p:nvSpPr>
            <p:spPr>
              <a:xfrm>
                <a:off x="838200" y="1825625"/>
                <a:ext cx="10515600" cy="4813714"/>
              </a:xfrm>
              <a:blipFill>
                <a:blip r:embed="rId2"/>
                <a:stretch>
                  <a:fillRect l="-928" t="-3165"/>
                </a:stretch>
              </a:blipFill>
            </p:spPr>
            <p:txBody>
              <a:bodyPr/>
              <a:lstStyle/>
              <a:p>
                <a:r>
                  <a:rPr lang="en-US">
                    <a:noFill/>
                  </a:rPr>
                  <a:t> </a:t>
                </a:r>
              </a:p>
            </p:txBody>
          </p:sp>
        </mc:Fallback>
      </mc:AlternateContent>
    </p:spTree>
    <p:extLst>
      <p:ext uri="{BB962C8B-B14F-4D97-AF65-F5344CB8AC3E}">
        <p14:creationId xmlns:p14="http://schemas.microsoft.com/office/powerpoint/2010/main" val="25935402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150C5-7F4C-B114-9C6D-551C73509B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444591-7216-6863-6ED7-569C0FEECD75}"/>
              </a:ext>
            </a:extLst>
          </p:cNvPr>
          <p:cNvSpPr>
            <a:spLocks noGrp="1"/>
          </p:cNvSpPr>
          <p:nvPr>
            <p:ph type="title"/>
          </p:nvPr>
        </p:nvSpPr>
        <p:spPr/>
        <p:txBody>
          <a:bodyPr/>
          <a:lstStyle/>
          <a:p>
            <a:r>
              <a:rPr lang="en-US" dirty="0"/>
              <a:t>Tree Method Summary: Divide and Conquer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6A3A40D-EE5F-5E3C-882C-C1065A998549}"/>
                  </a:ext>
                </a:extLst>
              </p:cNvPr>
              <p:cNvSpPr>
                <a:spLocks noGrp="1"/>
              </p:cNvSpPr>
              <p:nvPr>
                <p:ph idx="1"/>
              </p:nvPr>
            </p:nvSpPr>
            <p:spPr>
              <a:xfrm>
                <a:off x="838200" y="1825624"/>
                <a:ext cx="10515600" cy="4823653"/>
              </a:xfrm>
            </p:spPr>
            <p:txBody>
              <a:bodyPr>
                <a:normAutofit fontScale="92500" lnSpcReduction="20000"/>
              </a:bodyPr>
              <a:lstStyle/>
              <a:p>
                <a:r>
                  <a:rPr lang="en-US" dirty="0"/>
                  <a:t>Recurrence looks like </a:t>
                </a:r>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latin typeface="Cambria Math" panose="02040503050406030204" pitchFamily="18" charset="0"/>
                      </a:rPr>
                      <m:t>𝑎𝑇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𝑏</m:t>
                            </m:r>
                          </m:den>
                        </m:f>
                      </m:e>
                    </m:d>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a:p>
                <a:r>
                  <a:rPr lang="en-US" dirty="0"/>
                  <a:t>Use the recurrence to draw a tree</a:t>
                </a:r>
              </a:p>
              <a:p>
                <a:pPr lvl="1"/>
                <a14:m>
                  <m:oMath xmlns:m="http://schemas.openxmlformats.org/officeDocument/2006/math">
                    <m:r>
                      <a:rPr lang="en-US" b="0" i="1" smtClean="0">
                        <a:latin typeface="Cambria Math" panose="02040503050406030204" pitchFamily="18" charset="0"/>
                      </a:rPr>
                      <m:t>𝑎</m:t>
                    </m:r>
                  </m:oMath>
                </a14:m>
                <a:r>
                  <a:rPr lang="en-US" dirty="0"/>
                  <a:t> is the branching factor of the tree (e.g. if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=2</m:t>
                    </m:r>
                  </m:oMath>
                </a14:m>
                <a:r>
                  <a:rPr lang="en-US" dirty="0"/>
                  <a:t> then it’s a binary tree)</a:t>
                </a:r>
              </a:p>
              <a:p>
                <a:pPr lvl="1"/>
                <a:r>
                  <a:rPr lang="en-US" dirty="0"/>
                  <a:t>Divide the parent’s input size by </a:t>
                </a:r>
                <a14:m>
                  <m:oMath xmlns:m="http://schemas.openxmlformats.org/officeDocument/2006/math">
                    <m:r>
                      <a:rPr lang="en-US" b="0" i="1" smtClean="0">
                        <a:latin typeface="Cambria Math" panose="02040503050406030204" pitchFamily="18" charset="0"/>
                      </a:rPr>
                      <m:t>𝑏</m:t>
                    </m:r>
                  </m:oMath>
                </a14:m>
                <a:r>
                  <a:rPr lang="en-US" dirty="0"/>
                  <a:t> to get children’s input size</a:t>
                </a:r>
              </a:p>
              <a:p>
                <a:pPr lvl="1"/>
                <a:r>
                  <a:rPr lang="en-US" dirty="0"/>
                  <a:t>Work done per node is given by applying </a:t>
                </a:r>
                <a14:m>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r>
                  <a:rPr lang="en-US" dirty="0"/>
                  <a:t> to that node’s input size</a:t>
                </a:r>
              </a:p>
              <a:p>
                <a:pPr lvl="1"/>
                <a:r>
                  <a:rPr lang="en-US" dirty="0"/>
                  <a:t>Height of the tree is </a:t>
                </a:r>
                <a14:m>
                  <m:oMath xmlns:m="http://schemas.openxmlformats.org/officeDocument/2006/math">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𝑏</m:t>
                            </m:r>
                          </m:sub>
                        </m:sSub>
                      </m:fName>
                      <m:e>
                        <m:r>
                          <a:rPr lang="en-US" b="0" i="1" smtClean="0">
                            <a:latin typeface="Cambria Math" panose="02040503050406030204" pitchFamily="18" charset="0"/>
                          </a:rPr>
                          <m:t>𝑛</m:t>
                        </m:r>
                      </m:e>
                    </m:func>
                  </m:oMath>
                </a14:m>
                <a:endParaRPr lang="en-US" dirty="0"/>
              </a:p>
              <a:p>
                <a:pPr lvl="2"/>
                <a:r>
                  <a:rPr lang="en-US" dirty="0"/>
                  <a:t>Because that is the number of times we must divide by </a:t>
                </a:r>
                <a14:m>
                  <m:oMath xmlns:m="http://schemas.openxmlformats.org/officeDocument/2006/math">
                    <m:r>
                      <a:rPr lang="en-US" b="0" i="1" smtClean="0">
                        <a:latin typeface="Cambria Math" panose="02040503050406030204" pitchFamily="18" charset="0"/>
                      </a:rPr>
                      <m:t>𝑏</m:t>
                    </m:r>
                  </m:oMath>
                </a14:m>
                <a:r>
                  <a:rPr lang="en-US" dirty="0"/>
                  <a:t> until reaching a base case</a:t>
                </a:r>
              </a:p>
              <a:p>
                <a:pPr lvl="2"/>
                <a:r>
                  <a:rPr lang="en-US" dirty="0"/>
                  <a:t>Answer to the question “how many times must we divide by </a:t>
                </a:r>
                <a14:m>
                  <m:oMath xmlns:m="http://schemas.openxmlformats.org/officeDocument/2006/math">
                    <m:r>
                      <a:rPr lang="en-US" i="1">
                        <a:latin typeface="Cambria Math" panose="02040503050406030204" pitchFamily="18" charset="0"/>
                      </a:rPr>
                      <m:t>𝑏</m:t>
                    </m:r>
                  </m:oMath>
                </a14:m>
                <a:r>
                  <a:rPr lang="en-US" dirty="0"/>
                  <a:t> until we reach 1?”</a:t>
                </a:r>
              </a:p>
              <a:p>
                <a:pPr lvl="3"/>
                <a:r>
                  <a:rPr lang="en-US" dirty="0"/>
                  <a:t>Any base case is a constant, so to reach a larger value would just be a constant change</a:t>
                </a:r>
              </a:p>
              <a:p>
                <a:r>
                  <a:rPr lang="en-US" dirty="0"/>
                  <a:t>Use the tree to express running time as a series</a:t>
                </a:r>
              </a:p>
              <a:p>
                <a:pPr lvl="1"/>
                <a:r>
                  <a:rPr lang="en-US" dirty="0"/>
                  <a:t>Adding work done for each node level-by-level</a:t>
                </a:r>
              </a:p>
              <a:p>
                <a:pPr lvl="1"/>
                <a:r>
                  <a:rPr lang="en-US" dirty="0"/>
                  <a:t>Identify a pattern to express work done at level </a:t>
                </a:r>
                <a14:m>
                  <m:oMath xmlns:m="http://schemas.openxmlformats.org/officeDocument/2006/math">
                    <m:r>
                      <a:rPr lang="en-US" i="1">
                        <a:latin typeface="Cambria Math" panose="02040503050406030204" pitchFamily="18" charset="0"/>
                      </a:rPr>
                      <m:t>𝑖</m:t>
                    </m:r>
                  </m:oMath>
                </a14:m>
                <a:r>
                  <a:rPr lang="en-US" dirty="0"/>
                  <a:t> as a function of </a:t>
                </a:r>
                <a14:m>
                  <m:oMath xmlns:m="http://schemas.openxmlformats.org/officeDocument/2006/math">
                    <m:r>
                      <a:rPr lang="en-US" i="1">
                        <a:latin typeface="Cambria Math" panose="02040503050406030204" pitchFamily="18" charset="0"/>
                      </a:rPr>
                      <m:t>𝑖</m:t>
                    </m:r>
                  </m:oMath>
                </a14:m>
                <a:endParaRPr lang="en-US" dirty="0"/>
              </a:p>
              <a:p>
                <a:pPr lvl="1"/>
                <a:r>
                  <a:rPr lang="en-US" dirty="0"/>
                  <a:t>Write a series using </a:t>
                </a:r>
                <a14:m>
                  <m:oMath xmlns:m="http://schemas.openxmlformats.org/officeDocument/2006/math">
                    <m:r>
                      <a:rPr lang="en-US" i="1">
                        <a:latin typeface="Cambria Math" panose="02040503050406030204" pitchFamily="18" charset="0"/>
                      </a:rPr>
                      <m:t>𝑖</m:t>
                    </m:r>
                    <m:r>
                      <a:rPr lang="en-US" i="1">
                        <a:latin typeface="Cambria Math" panose="02040503050406030204" pitchFamily="18" charset="0"/>
                      </a:rPr>
                      <m:t>=0</m:t>
                    </m:r>
                  </m:oMath>
                </a14:m>
                <a:r>
                  <a:rPr lang="en-US" dirty="0"/>
                  <a:t> up to </a:t>
                </a:r>
                <a14:m>
                  <m:oMath xmlns:m="http://schemas.openxmlformats.org/officeDocument/2006/math">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𝑏</m:t>
                            </m:r>
                          </m:sub>
                        </m:sSub>
                      </m:fName>
                      <m:e>
                        <m:r>
                          <a:rPr lang="en-US" b="0" i="1" smtClean="0">
                            <a:latin typeface="Cambria Math" panose="02040503050406030204" pitchFamily="18" charset="0"/>
                          </a:rPr>
                          <m:t>𝑛</m:t>
                        </m:r>
                      </m:e>
                    </m:func>
                  </m:oMath>
                </a14:m>
                <a:endParaRPr lang="en-US" dirty="0"/>
              </a:p>
              <a:p>
                <a:r>
                  <a:rPr lang="en-US" dirty="0"/>
                  <a:t>Solve the series</a:t>
                </a:r>
              </a:p>
              <a:p>
                <a:pPr lvl="1"/>
                <a:endParaRPr lang="en-US" dirty="0"/>
              </a:p>
            </p:txBody>
          </p:sp>
        </mc:Choice>
        <mc:Fallback xmlns="">
          <p:sp>
            <p:nvSpPr>
              <p:cNvPr id="3" name="Content Placeholder 2">
                <a:extLst>
                  <a:ext uri="{FF2B5EF4-FFF2-40B4-BE49-F238E27FC236}">
                    <a16:creationId xmlns:a16="http://schemas.microsoft.com/office/drawing/2014/main" id="{F6A3A40D-EE5F-5E3C-882C-C1065A998549}"/>
                  </a:ext>
                </a:extLst>
              </p:cNvPr>
              <p:cNvSpPr>
                <a:spLocks noGrp="1" noRot="1" noChangeAspect="1" noMove="1" noResize="1" noEditPoints="1" noAdjustHandles="1" noChangeArrowheads="1" noChangeShapeType="1" noTextEdit="1"/>
              </p:cNvSpPr>
              <p:nvPr>
                <p:ph idx="1"/>
              </p:nvPr>
            </p:nvSpPr>
            <p:spPr>
              <a:xfrm>
                <a:off x="838200" y="1825624"/>
                <a:ext cx="10515600" cy="4823653"/>
              </a:xfrm>
              <a:blipFill>
                <a:blip r:embed="rId2"/>
                <a:stretch>
                  <a:fillRect l="-928" t="-1641"/>
                </a:stretch>
              </a:blipFill>
            </p:spPr>
            <p:txBody>
              <a:bodyPr/>
              <a:lstStyle/>
              <a:p>
                <a:r>
                  <a:rPr lang="en-US">
                    <a:noFill/>
                  </a:rPr>
                  <a:t> </a:t>
                </a:r>
              </a:p>
            </p:txBody>
          </p:sp>
        </mc:Fallback>
      </mc:AlternateContent>
    </p:spTree>
    <p:extLst>
      <p:ext uri="{BB962C8B-B14F-4D97-AF65-F5344CB8AC3E}">
        <p14:creationId xmlns:p14="http://schemas.microsoft.com/office/powerpoint/2010/main" val="28310279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252AD-3F4C-DE42-5E30-D2A783ABCB2B}"/>
              </a:ext>
            </a:extLst>
          </p:cNvPr>
          <p:cNvSpPr>
            <a:spLocks noGrp="1"/>
          </p:cNvSpPr>
          <p:nvPr>
            <p:ph type="title"/>
          </p:nvPr>
        </p:nvSpPr>
        <p:spPr/>
        <p:txBody>
          <a:bodyPr/>
          <a:lstStyle/>
          <a:p>
            <a:r>
              <a:rPr lang="en-US" dirty="0"/>
              <a:t>Let’s do some more!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99C023E-2A8A-B7C5-6C27-1E2A5B41D782}"/>
                  </a:ext>
                </a:extLst>
              </p:cNvPr>
              <p:cNvSpPr>
                <a:spLocks noGrp="1"/>
              </p:cNvSpPr>
              <p:nvPr>
                <p:ph idx="1"/>
              </p:nvPr>
            </p:nvSpPr>
            <p:spPr/>
            <p:txBody>
              <a:bodyPr/>
              <a:lstStyle/>
              <a:p>
                <a:r>
                  <a:rPr lang="en-US" dirty="0"/>
                  <a:t>For each, assume the base case is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=1</m:t>
                    </m:r>
                  </m:oMath>
                </a14:m>
                <a:r>
                  <a:rPr lang="en-US" dirty="0"/>
                  <a:t> and </a:t>
                </a:r>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1</m:t>
                        </m:r>
                      </m:e>
                    </m:d>
                    <m:r>
                      <a:rPr lang="en-US" b="0" i="1" smtClean="0">
                        <a:latin typeface="Cambria Math" panose="02040503050406030204" pitchFamily="18" charset="0"/>
                      </a:rPr>
                      <m:t>=1</m:t>
                    </m:r>
                  </m:oMath>
                </a14:m>
                <a:endParaRPr lang="en-US" dirty="0"/>
              </a:p>
              <a:p>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=2</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e>
                    </m:d>
                    <m:r>
                      <a:rPr lang="en-US" b="0" i="1" smtClean="0">
                        <a:latin typeface="Cambria Math" panose="02040503050406030204" pitchFamily="18" charset="0"/>
                      </a:rPr>
                      <m:t>+</m:t>
                    </m:r>
                    <m:r>
                      <a:rPr lang="en-US" b="0" i="1" smtClean="0">
                        <a:latin typeface="Cambria Math" panose="02040503050406030204" pitchFamily="18" charset="0"/>
                      </a:rPr>
                      <m:t>𝑛</m:t>
                    </m:r>
                  </m:oMath>
                </a14:m>
                <a:endParaRPr lang="en-US" dirty="0"/>
              </a:p>
              <a:p>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=2</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a:p>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=2</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8</m:t>
                            </m:r>
                          </m:den>
                        </m:f>
                      </m:e>
                    </m:d>
                    <m:r>
                      <a:rPr lang="en-US" b="0" i="1" smtClean="0">
                        <a:latin typeface="Cambria Math" panose="02040503050406030204" pitchFamily="18" charset="0"/>
                      </a:rPr>
                      <m:t>+1</m:t>
                    </m:r>
                  </m:oMath>
                </a14:m>
                <a:endParaRPr lang="en-US" dirty="0"/>
              </a:p>
            </p:txBody>
          </p:sp>
        </mc:Choice>
        <mc:Fallback xmlns="">
          <p:sp>
            <p:nvSpPr>
              <p:cNvPr id="3" name="Content Placeholder 2">
                <a:extLst>
                  <a:ext uri="{FF2B5EF4-FFF2-40B4-BE49-F238E27FC236}">
                    <a16:creationId xmlns:a16="http://schemas.microsoft.com/office/drawing/2014/main" id="{499C023E-2A8A-B7C5-6C27-1E2A5B41D782}"/>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23579758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838200" y="226901"/>
                <a:ext cx="10515600" cy="1152020"/>
              </a:xfrm>
            </p:spPr>
            <p:txBody>
              <a:bodyPr/>
              <a:lstStyle/>
              <a:p>
                <a:r>
                  <a:rPr lang="en-US" dirty="0"/>
                  <a:t>Tree Method </a:t>
                </a:r>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=2</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e>
                    </m:d>
                    <m:r>
                      <a:rPr lang="en-US" b="0" i="1" smtClean="0">
                        <a:latin typeface="Cambria Math" panose="02040503050406030204" pitchFamily="18" charset="0"/>
                      </a:rPr>
                      <m:t>+</m:t>
                    </m:r>
                    <m:r>
                      <a:rPr lang="en-US" b="0" i="1" smtClean="0">
                        <a:latin typeface="Cambria Math" panose="02040503050406030204" pitchFamily="18" charset="0"/>
                      </a:rPr>
                      <m:t>𝑛</m:t>
                    </m:r>
                  </m:oMath>
                </a14:m>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838200" y="226901"/>
                <a:ext cx="10515600" cy="1152020"/>
              </a:xfrm>
              <a:blipFill>
                <a:blip r:embed="rId2"/>
                <a:stretch>
                  <a:fillRect l="-2377" b="-6349"/>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9012C2DE-48D7-4255-8090-ED57B66C05A8}"/>
              </a:ext>
              <a:ext uri="{C183D7F6-B498-43B3-948B-1728B52AA6E4}">
                <adec:decorative xmlns:adec="http://schemas.microsoft.com/office/drawing/2017/decorative" val="1"/>
              </a:ext>
            </a:extLst>
          </p:cNvPr>
          <p:cNvSpPr/>
          <p:nvPr/>
        </p:nvSpPr>
        <p:spPr>
          <a:xfrm>
            <a:off x="198471" y="1473992"/>
            <a:ext cx="2602580" cy="63976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Red box represents a problem instance</a:t>
            </a:r>
          </a:p>
        </p:txBody>
      </p:sp>
      <p:sp>
        <p:nvSpPr>
          <p:cNvPr id="3" name="Rectangle 2">
            <a:extLst>
              <a:ext uri="{FF2B5EF4-FFF2-40B4-BE49-F238E27FC236}">
                <a16:creationId xmlns:a16="http://schemas.microsoft.com/office/drawing/2014/main" id="{4404CA70-A150-F1D8-AD03-6AA8C0C6C3A5}"/>
              </a:ext>
              <a:ext uri="{C183D7F6-B498-43B3-948B-1728B52AA6E4}">
                <adec:decorative xmlns:adec="http://schemas.microsoft.com/office/drawing/2017/decorative" val="1"/>
              </a:ext>
            </a:extLst>
          </p:cNvPr>
          <p:cNvSpPr/>
          <p:nvPr/>
        </p:nvSpPr>
        <p:spPr>
          <a:xfrm>
            <a:off x="84143" y="2182904"/>
            <a:ext cx="2716908" cy="8115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Blue value next to each box represents time spent at that level of recursion</a:t>
            </a:r>
          </a:p>
        </p:txBody>
      </p:sp>
      <p:grpSp>
        <p:nvGrpSpPr>
          <p:cNvPr id="5" name="Group 4" descr="A picture of the recursion for the given recurrence relation. We have one box per stack frame in the recursion. Each box is labelled inside with a value that represents the size of the input for that stack frame. Outside each box is labelled with the amount of (non-recursive) work done by that box (in this case it matches the size of the box).&#10;&#10;Each box has an arrow pointing to two boxes with a smaller input (specifically each is half the size) to represent the larger box recursively invoking the algorithm twice with smaller inputs.">
            <a:extLst>
              <a:ext uri="{FF2B5EF4-FFF2-40B4-BE49-F238E27FC236}">
                <a16:creationId xmlns:a16="http://schemas.microsoft.com/office/drawing/2014/main" id="{1608846C-74F5-18A2-9C12-E88C074DF299}"/>
              </a:ext>
            </a:extLst>
          </p:cNvPr>
          <p:cNvGrpSpPr/>
          <p:nvPr/>
        </p:nvGrpSpPr>
        <p:grpSpPr>
          <a:xfrm>
            <a:off x="1312850" y="2178189"/>
            <a:ext cx="7080190" cy="3693910"/>
            <a:chOff x="1295400" y="1992868"/>
            <a:chExt cx="7080190" cy="3693910"/>
          </a:xfrm>
        </p:grpSpPr>
        <mc:AlternateContent xmlns:mc="http://schemas.openxmlformats.org/markup-compatibility/2006" xmlns:a14="http://schemas.microsoft.com/office/drawing/2010/main">
          <mc:Choice Requires="a14">
            <p:sp>
              <p:nvSpPr>
                <p:cNvPr id="44" name="Text Box 41"/>
                <p:cNvSpPr txBox="1">
                  <a:spLocks noChangeArrowheads="1"/>
                </p:cNvSpPr>
                <p:nvPr/>
              </p:nvSpPr>
              <p:spPr bwMode="auto">
                <a:xfrm>
                  <a:off x="4381500" y="2133600"/>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a:latin typeface="Cambria Math"/>
                          </a:rPr>
                          <m:t>𝑛</m:t>
                        </m:r>
                      </m:oMath>
                    </m:oMathPara>
                  </a14:m>
                  <a:endParaRPr lang="en-US" sz="2800" dirty="0"/>
                </a:p>
              </p:txBody>
            </p:sp>
          </mc:Choice>
          <mc:Fallback xmlns="">
            <p:sp>
              <p:nvSpPr>
                <p:cNvPr id="44" name="Text Box 41"/>
                <p:cNvSpPr txBox="1">
                  <a:spLocks noRot="1" noChangeAspect="1" noMove="1" noResize="1" noEditPoints="1" noAdjustHandles="1" noChangeArrowheads="1" noChangeShapeType="1" noTextEdit="1"/>
                </p:cNvSpPr>
                <p:nvPr/>
              </p:nvSpPr>
              <p:spPr bwMode="auto">
                <a:xfrm>
                  <a:off x="4381500" y="2133600"/>
                  <a:ext cx="1333500" cy="457200"/>
                </a:xfrm>
                <a:prstGeom prst="rect">
                  <a:avLst/>
                </a:prstGeom>
                <a:blipFill>
                  <a:blip r:embed="rId3"/>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 Box 41"/>
                <p:cNvSpPr txBox="1">
                  <a:spLocks noChangeArrowheads="1"/>
                </p:cNvSpPr>
                <p:nvPr/>
              </p:nvSpPr>
              <p:spPr bwMode="auto">
                <a:xfrm>
                  <a:off x="2690604" y="3028252"/>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2</m:t>
                            </m:r>
                          </m:den>
                        </m:f>
                      </m:oMath>
                    </m:oMathPara>
                  </a14:m>
                  <a:endParaRPr lang="en-US" sz="2800" dirty="0"/>
                </a:p>
              </p:txBody>
            </p:sp>
          </mc:Choice>
          <mc:Fallback xmlns="">
            <p:sp>
              <p:nvSpPr>
                <p:cNvPr id="47" name="Text Box 41"/>
                <p:cNvSpPr txBox="1">
                  <a:spLocks noRot="1" noChangeAspect="1" noMove="1" noResize="1" noEditPoints="1" noAdjustHandles="1" noChangeArrowheads="1" noChangeShapeType="1" noTextEdit="1"/>
                </p:cNvSpPr>
                <p:nvPr/>
              </p:nvSpPr>
              <p:spPr bwMode="auto">
                <a:xfrm>
                  <a:off x="2690604" y="3028252"/>
                  <a:ext cx="1333500" cy="457200"/>
                </a:xfrm>
                <a:prstGeom prst="rect">
                  <a:avLst/>
                </a:prstGeom>
                <a:blipFill>
                  <a:blip r:embed="rId4"/>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 Box 41"/>
                <p:cNvSpPr txBox="1">
                  <a:spLocks noChangeArrowheads="1"/>
                </p:cNvSpPr>
                <p:nvPr/>
              </p:nvSpPr>
              <p:spPr bwMode="auto">
                <a:xfrm>
                  <a:off x="5981700" y="3028252"/>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2</m:t>
                            </m:r>
                          </m:den>
                        </m:f>
                      </m:oMath>
                    </m:oMathPara>
                  </a14:m>
                  <a:endParaRPr lang="en-US" sz="2800" dirty="0"/>
                </a:p>
              </p:txBody>
            </p:sp>
          </mc:Choice>
          <mc:Fallback xmlns="">
            <p:sp>
              <p:nvSpPr>
                <p:cNvPr id="48" name="Text Box 41"/>
                <p:cNvSpPr txBox="1">
                  <a:spLocks noRot="1" noChangeAspect="1" noMove="1" noResize="1" noEditPoints="1" noAdjustHandles="1" noChangeArrowheads="1" noChangeShapeType="1" noTextEdit="1"/>
                </p:cNvSpPr>
                <p:nvPr/>
              </p:nvSpPr>
              <p:spPr bwMode="auto">
                <a:xfrm>
                  <a:off x="5981700" y="3028252"/>
                  <a:ext cx="1333500" cy="457200"/>
                </a:xfrm>
                <a:prstGeom prst="rect">
                  <a:avLst/>
                </a:prstGeom>
                <a:blipFill>
                  <a:blip r:embed="rId5"/>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 Box 41"/>
                <p:cNvSpPr txBox="1">
                  <a:spLocks noChangeArrowheads="1"/>
                </p:cNvSpPr>
                <p:nvPr/>
              </p:nvSpPr>
              <p:spPr bwMode="auto">
                <a:xfrm>
                  <a:off x="157388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49" name="Text Box 41"/>
                <p:cNvSpPr txBox="1">
                  <a:spLocks noRot="1" noChangeAspect="1" noMove="1" noResize="1" noEditPoints="1" noAdjustHandles="1" noChangeArrowheads="1" noChangeShapeType="1" noTextEdit="1"/>
                </p:cNvSpPr>
                <p:nvPr/>
              </p:nvSpPr>
              <p:spPr bwMode="auto">
                <a:xfrm>
                  <a:off x="1573880" y="3834326"/>
                  <a:ext cx="1333500" cy="457200"/>
                </a:xfrm>
                <a:prstGeom prst="rect">
                  <a:avLst/>
                </a:prstGeom>
                <a:blipFill>
                  <a:blip r:embed="rId6"/>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 Box 41"/>
                <p:cNvSpPr txBox="1">
                  <a:spLocks noChangeArrowheads="1"/>
                </p:cNvSpPr>
                <p:nvPr/>
              </p:nvSpPr>
              <p:spPr bwMode="auto">
                <a:xfrm>
                  <a:off x="331470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50" name="Text Box 41"/>
                <p:cNvSpPr txBox="1">
                  <a:spLocks noRot="1" noChangeAspect="1" noMove="1" noResize="1" noEditPoints="1" noAdjustHandles="1" noChangeArrowheads="1" noChangeShapeType="1" noTextEdit="1"/>
                </p:cNvSpPr>
                <p:nvPr/>
              </p:nvSpPr>
              <p:spPr bwMode="auto">
                <a:xfrm>
                  <a:off x="3314700" y="3834326"/>
                  <a:ext cx="1333500" cy="457200"/>
                </a:xfrm>
                <a:prstGeom prst="rect">
                  <a:avLst/>
                </a:prstGeom>
                <a:blipFill>
                  <a:blip r:embed="rId7"/>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 Box 41"/>
                <p:cNvSpPr txBox="1">
                  <a:spLocks noChangeArrowheads="1"/>
                </p:cNvSpPr>
                <p:nvPr/>
              </p:nvSpPr>
              <p:spPr bwMode="auto">
                <a:xfrm>
                  <a:off x="5181600" y="383237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51" name="Text Box 41"/>
                <p:cNvSpPr txBox="1">
                  <a:spLocks noRot="1" noChangeAspect="1" noMove="1" noResize="1" noEditPoints="1" noAdjustHandles="1" noChangeArrowheads="1" noChangeShapeType="1" noTextEdit="1"/>
                </p:cNvSpPr>
                <p:nvPr/>
              </p:nvSpPr>
              <p:spPr bwMode="auto">
                <a:xfrm>
                  <a:off x="5181600" y="3832376"/>
                  <a:ext cx="1333500" cy="457200"/>
                </a:xfrm>
                <a:prstGeom prst="rect">
                  <a:avLst/>
                </a:prstGeom>
                <a:blipFill>
                  <a:blip r:embed="rId8"/>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 Box 41"/>
                <p:cNvSpPr txBox="1">
                  <a:spLocks noChangeArrowheads="1"/>
                </p:cNvSpPr>
                <p:nvPr/>
              </p:nvSpPr>
              <p:spPr bwMode="auto">
                <a:xfrm>
                  <a:off x="674370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52" name="Text Box 41"/>
                <p:cNvSpPr txBox="1">
                  <a:spLocks noRot="1" noChangeAspect="1" noMove="1" noResize="1" noEditPoints="1" noAdjustHandles="1" noChangeArrowheads="1" noChangeShapeType="1" noTextEdit="1"/>
                </p:cNvSpPr>
                <p:nvPr/>
              </p:nvSpPr>
              <p:spPr bwMode="auto">
                <a:xfrm>
                  <a:off x="6743700" y="3834326"/>
                  <a:ext cx="1333500" cy="457200"/>
                </a:xfrm>
                <a:prstGeom prst="rect">
                  <a:avLst/>
                </a:prstGeom>
                <a:blipFill>
                  <a:blip r:embed="rId9"/>
                  <a:stretch>
                    <a:fillRect/>
                  </a:stretch>
                </a:blipFill>
                <a:ln w="9525">
                  <a:solidFill>
                    <a:srgbClr val="FF0000"/>
                  </a:solidFill>
                  <a:miter lim="800000"/>
                  <a:headEnd/>
                  <a:tailEnd/>
                </a:ln>
              </p:spPr>
              <p:txBody>
                <a:bodyPr/>
                <a:lstStyle/>
                <a:p>
                  <a:r>
                    <a:rPr lang="en-US">
                      <a:noFill/>
                    </a:rPr>
                    <a:t> </a:t>
                  </a:r>
                </a:p>
              </p:txBody>
            </p:sp>
          </mc:Fallback>
        </mc:AlternateContent>
        <p:sp>
          <p:nvSpPr>
            <p:cNvPr id="53" name="Rectangle 52"/>
            <p:cNvSpPr/>
            <p:nvPr/>
          </p:nvSpPr>
          <p:spPr>
            <a:xfrm rot="16200000">
              <a:off x="2018785" y="4281268"/>
              <a:ext cx="574196" cy="769441"/>
            </a:xfrm>
            <a:prstGeom prst="rect">
              <a:avLst/>
            </a:prstGeom>
          </p:spPr>
          <p:txBody>
            <a:bodyPr wrap="none">
              <a:spAutoFit/>
            </a:bodyPr>
            <a:lstStyle/>
            <a:p>
              <a:r>
                <a:rPr lang="en-US" sz="4400" dirty="0"/>
                <a:t>…</a:t>
              </a:r>
            </a:p>
          </p:txBody>
        </p:sp>
        <p:sp>
          <p:nvSpPr>
            <p:cNvPr id="54" name="Rectangle 53"/>
            <p:cNvSpPr/>
            <p:nvPr/>
          </p:nvSpPr>
          <p:spPr>
            <a:xfrm rot="16200000">
              <a:off x="3694351" y="4308283"/>
              <a:ext cx="574196" cy="769441"/>
            </a:xfrm>
            <a:prstGeom prst="rect">
              <a:avLst/>
            </a:prstGeom>
          </p:spPr>
          <p:txBody>
            <a:bodyPr wrap="none">
              <a:spAutoFit/>
            </a:bodyPr>
            <a:lstStyle/>
            <a:p>
              <a:r>
                <a:rPr lang="en-US" sz="4400" dirty="0"/>
                <a:t>…</a:t>
              </a:r>
            </a:p>
          </p:txBody>
        </p:sp>
        <p:sp>
          <p:nvSpPr>
            <p:cNvPr id="55" name="Rectangle 54"/>
            <p:cNvSpPr/>
            <p:nvPr/>
          </p:nvSpPr>
          <p:spPr>
            <a:xfrm rot="16200000">
              <a:off x="5637451" y="4308283"/>
              <a:ext cx="574196" cy="769441"/>
            </a:xfrm>
            <a:prstGeom prst="rect">
              <a:avLst/>
            </a:prstGeom>
          </p:spPr>
          <p:txBody>
            <a:bodyPr wrap="none">
              <a:spAutoFit/>
            </a:bodyPr>
            <a:lstStyle/>
            <a:p>
              <a:r>
                <a:rPr lang="en-US" sz="4400" dirty="0"/>
                <a:t>…</a:t>
              </a:r>
            </a:p>
          </p:txBody>
        </p:sp>
        <p:sp>
          <p:nvSpPr>
            <p:cNvPr id="56" name="Rectangle 55"/>
            <p:cNvSpPr/>
            <p:nvPr/>
          </p:nvSpPr>
          <p:spPr>
            <a:xfrm rot="16200000">
              <a:off x="7123351" y="4335298"/>
              <a:ext cx="574196" cy="769441"/>
            </a:xfrm>
            <a:prstGeom prst="rect">
              <a:avLst/>
            </a:prstGeom>
          </p:spPr>
          <p:txBody>
            <a:bodyPr wrap="none">
              <a:spAutoFit/>
            </a:bodyPr>
            <a:lstStyle/>
            <a:p>
              <a:r>
                <a:rPr lang="en-US" sz="4400" dirty="0"/>
                <a:t>…</a:t>
              </a:r>
            </a:p>
          </p:txBody>
        </p:sp>
        <mc:AlternateContent xmlns:mc="http://schemas.openxmlformats.org/markup-compatibility/2006" xmlns:a14="http://schemas.microsoft.com/office/drawing/2010/main">
          <mc:Choice Requires="a14">
            <p:sp>
              <p:nvSpPr>
                <p:cNvPr id="57" name="Text Box 41"/>
                <p:cNvSpPr txBox="1">
                  <a:spLocks noChangeArrowheads="1"/>
                </p:cNvSpPr>
                <p:nvPr/>
              </p:nvSpPr>
              <p:spPr bwMode="auto">
                <a:xfrm>
                  <a:off x="1295400" y="5226656"/>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57" name="Text Box 41"/>
                <p:cNvSpPr txBox="1">
                  <a:spLocks noRot="1" noChangeAspect="1" noMove="1" noResize="1" noEditPoints="1" noAdjustHandles="1" noChangeArrowheads="1" noChangeShapeType="1" noTextEdit="1"/>
                </p:cNvSpPr>
                <p:nvPr/>
              </p:nvSpPr>
              <p:spPr bwMode="auto">
                <a:xfrm>
                  <a:off x="1295400" y="5226656"/>
                  <a:ext cx="716630" cy="457200"/>
                </a:xfrm>
                <a:prstGeom prst="rect">
                  <a:avLst/>
                </a:prstGeom>
                <a:blipFill>
                  <a:blip r:embed="rId10"/>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 Box 41"/>
                <p:cNvSpPr txBox="1">
                  <a:spLocks noChangeArrowheads="1"/>
                </p:cNvSpPr>
                <p:nvPr/>
              </p:nvSpPr>
              <p:spPr bwMode="auto">
                <a:xfrm>
                  <a:off x="2286000"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58" name="Text Box 41"/>
                <p:cNvSpPr txBox="1">
                  <a:spLocks noRot="1" noChangeAspect="1" noMove="1" noResize="1" noEditPoints="1" noAdjustHandles="1" noChangeArrowheads="1" noChangeShapeType="1" noTextEdit="1"/>
                </p:cNvSpPr>
                <p:nvPr/>
              </p:nvSpPr>
              <p:spPr bwMode="auto">
                <a:xfrm>
                  <a:off x="2286000" y="5229577"/>
                  <a:ext cx="716630" cy="457200"/>
                </a:xfrm>
                <a:prstGeom prst="rect">
                  <a:avLst/>
                </a:prstGeom>
                <a:blipFill>
                  <a:blip r:embed="rId11"/>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 Box 41"/>
                <p:cNvSpPr txBox="1">
                  <a:spLocks noChangeArrowheads="1"/>
                </p:cNvSpPr>
                <p:nvPr/>
              </p:nvSpPr>
              <p:spPr bwMode="auto">
                <a:xfrm>
                  <a:off x="3201319"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59" name="Text Box 41"/>
                <p:cNvSpPr txBox="1">
                  <a:spLocks noRot="1" noChangeAspect="1" noMove="1" noResize="1" noEditPoints="1" noAdjustHandles="1" noChangeArrowheads="1" noChangeShapeType="1" noTextEdit="1"/>
                </p:cNvSpPr>
                <p:nvPr/>
              </p:nvSpPr>
              <p:spPr bwMode="auto">
                <a:xfrm>
                  <a:off x="3201319" y="5229577"/>
                  <a:ext cx="716630" cy="457200"/>
                </a:xfrm>
                <a:prstGeom prst="rect">
                  <a:avLst/>
                </a:prstGeom>
                <a:blipFill>
                  <a:blip r:embed="rId12"/>
                  <a:stretch>
                    <a:fillRect/>
                  </a:stretch>
                </a:blipFill>
                <a:ln w="9525">
                  <a:solidFill>
                    <a:srgbClr val="FF0000"/>
                  </a:solidFill>
                  <a:miter lim="800000"/>
                  <a:headEnd/>
                  <a:tailEnd/>
                </a:ln>
              </p:spPr>
              <p:txBody>
                <a:bodyPr/>
                <a:lstStyle/>
                <a:p>
                  <a:r>
                    <a:rPr lang="en-US">
                      <a:noFill/>
                    </a:rPr>
                    <a:t> </a:t>
                  </a:r>
                </a:p>
              </p:txBody>
            </p:sp>
          </mc:Fallback>
        </mc:AlternateContent>
        <p:sp>
          <p:nvSpPr>
            <p:cNvPr id="60" name="Rectangle 59"/>
            <p:cNvSpPr/>
            <p:nvPr/>
          </p:nvSpPr>
          <p:spPr>
            <a:xfrm>
              <a:off x="4133849" y="4917337"/>
              <a:ext cx="574196" cy="769441"/>
            </a:xfrm>
            <a:prstGeom prst="rect">
              <a:avLst/>
            </a:prstGeom>
          </p:spPr>
          <p:txBody>
            <a:bodyPr wrap="none">
              <a:spAutoFit/>
            </a:bodyPr>
            <a:lstStyle/>
            <a:p>
              <a:r>
                <a:rPr lang="en-US" sz="4400" dirty="0"/>
                <a:t>…</a:t>
              </a:r>
            </a:p>
          </p:txBody>
        </p:sp>
        <mc:AlternateContent xmlns:mc="http://schemas.openxmlformats.org/markup-compatibility/2006" xmlns:a14="http://schemas.microsoft.com/office/drawing/2010/main">
          <mc:Choice Requires="a14">
            <p:sp>
              <p:nvSpPr>
                <p:cNvPr id="61" name="Text Box 41"/>
                <p:cNvSpPr txBox="1">
                  <a:spLocks noChangeArrowheads="1"/>
                </p:cNvSpPr>
                <p:nvPr/>
              </p:nvSpPr>
              <p:spPr bwMode="auto">
                <a:xfrm>
                  <a:off x="5348411" y="5226656"/>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61" name="Text Box 41"/>
                <p:cNvSpPr txBox="1">
                  <a:spLocks noRot="1" noChangeAspect="1" noMove="1" noResize="1" noEditPoints="1" noAdjustHandles="1" noChangeArrowheads="1" noChangeShapeType="1" noTextEdit="1"/>
                </p:cNvSpPr>
                <p:nvPr/>
              </p:nvSpPr>
              <p:spPr bwMode="auto">
                <a:xfrm>
                  <a:off x="5348411" y="5226656"/>
                  <a:ext cx="716630" cy="457200"/>
                </a:xfrm>
                <a:prstGeom prst="rect">
                  <a:avLst/>
                </a:prstGeom>
                <a:blipFill>
                  <a:blip r:embed="rId13"/>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 Box 41"/>
                <p:cNvSpPr txBox="1">
                  <a:spLocks noChangeArrowheads="1"/>
                </p:cNvSpPr>
                <p:nvPr/>
              </p:nvSpPr>
              <p:spPr bwMode="auto">
                <a:xfrm>
                  <a:off x="6324600"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62" name="Text Box 41"/>
                <p:cNvSpPr txBox="1">
                  <a:spLocks noRot="1" noChangeAspect="1" noMove="1" noResize="1" noEditPoints="1" noAdjustHandles="1" noChangeArrowheads="1" noChangeShapeType="1" noTextEdit="1"/>
                </p:cNvSpPr>
                <p:nvPr/>
              </p:nvSpPr>
              <p:spPr bwMode="auto">
                <a:xfrm>
                  <a:off x="6324600" y="5229577"/>
                  <a:ext cx="716630" cy="457200"/>
                </a:xfrm>
                <a:prstGeom prst="rect">
                  <a:avLst/>
                </a:prstGeom>
                <a:blipFill>
                  <a:blip r:embed="rId14"/>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 Box 41"/>
                <p:cNvSpPr txBox="1">
                  <a:spLocks noChangeArrowheads="1"/>
                </p:cNvSpPr>
                <p:nvPr/>
              </p:nvSpPr>
              <p:spPr bwMode="auto">
                <a:xfrm>
                  <a:off x="7201056"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63" name="Text Box 41"/>
                <p:cNvSpPr txBox="1">
                  <a:spLocks noRot="1" noChangeAspect="1" noMove="1" noResize="1" noEditPoints="1" noAdjustHandles="1" noChangeArrowheads="1" noChangeShapeType="1" noTextEdit="1"/>
                </p:cNvSpPr>
                <p:nvPr/>
              </p:nvSpPr>
              <p:spPr bwMode="auto">
                <a:xfrm>
                  <a:off x="7201056" y="5229577"/>
                  <a:ext cx="716630" cy="457200"/>
                </a:xfrm>
                <a:prstGeom prst="rect">
                  <a:avLst/>
                </a:prstGeom>
                <a:blipFill>
                  <a:blip r:embed="rId15"/>
                  <a:stretch>
                    <a:fillRect/>
                  </a:stretch>
                </a:blipFill>
                <a:ln w="9525">
                  <a:solidFill>
                    <a:srgbClr val="FF0000"/>
                  </a:solidFill>
                  <a:miter lim="800000"/>
                  <a:headEnd/>
                  <a:tailEnd/>
                </a:ln>
              </p:spPr>
              <p:txBody>
                <a:bodyPr/>
                <a:lstStyle/>
                <a:p>
                  <a:r>
                    <a:rPr lang="en-US">
                      <a:noFill/>
                    </a:rPr>
                    <a:t> </a:t>
                  </a:r>
                </a:p>
              </p:txBody>
            </p:sp>
          </mc:Fallback>
        </mc:AlternateContent>
        <p:cxnSp>
          <p:nvCxnSpPr>
            <p:cNvPr id="65" name="Straight Connector 64"/>
            <p:cNvCxnSpPr>
              <a:stCxn id="44" idx="2"/>
              <a:endCxn id="47" idx="0"/>
            </p:cNvCxnSpPr>
            <p:nvPr/>
          </p:nvCxnSpPr>
          <p:spPr>
            <a:xfrm flipH="1">
              <a:off x="3357354" y="2590800"/>
              <a:ext cx="1690896" cy="43745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a:stCxn id="44" idx="2"/>
              <a:endCxn id="48" idx="0"/>
            </p:cNvCxnSpPr>
            <p:nvPr/>
          </p:nvCxnSpPr>
          <p:spPr>
            <a:xfrm>
              <a:off x="5048250" y="2590800"/>
              <a:ext cx="1600200" cy="43745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a:stCxn id="47" idx="2"/>
              <a:endCxn id="49" idx="0"/>
            </p:cNvCxnSpPr>
            <p:nvPr/>
          </p:nvCxnSpPr>
          <p:spPr>
            <a:xfrm flipH="1">
              <a:off x="2240630" y="3485452"/>
              <a:ext cx="1116724"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a:stCxn id="47" idx="2"/>
              <a:endCxn id="50" idx="0"/>
            </p:cNvCxnSpPr>
            <p:nvPr/>
          </p:nvCxnSpPr>
          <p:spPr>
            <a:xfrm>
              <a:off x="3357354" y="3485452"/>
              <a:ext cx="624096"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a:stCxn id="48" idx="2"/>
              <a:endCxn id="51" idx="0"/>
            </p:cNvCxnSpPr>
            <p:nvPr/>
          </p:nvCxnSpPr>
          <p:spPr>
            <a:xfrm flipH="1">
              <a:off x="5848350" y="3485452"/>
              <a:ext cx="800100" cy="34692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a:stCxn id="48" idx="2"/>
              <a:endCxn id="52" idx="0"/>
            </p:cNvCxnSpPr>
            <p:nvPr/>
          </p:nvCxnSpPr>
          <p:spPr>
            <a:xfrm>
              <a:off x="6648450" y="3485452"/>
              <a:ext cx="762000"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7486650" y="4291526"/>
              <a:ext cx="499546" cy="339268"/>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52" idx="2"/>
            </p:cNvCxnSpPr>
            <p:nvPr/>
          </p:nvCxnSpPr>
          <p:spPr>
            <a:xfrm flipH="1">
              <a:off x="7143432" y="4291526"/>
              <a:ext cx="267019" cy="339268"/>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51" idx="2"/>
            </p:cNvCxnSpPr>
            <p:nvPr/>
          </p:nvCxnSpPr>
          <p:spPr>
            <a:xfrm>
              <a:off x="5848351" y="4289576"/>
              <a:ext cx="499545" cy="32045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51" idx="2"/>
            </p:cNvCxnSpPr>
            <p:nvPr/>
          </p:nvCxnSpPr>
          <p:spPr>
            <a:xfrm flipH="1">
              <a:off x="5581332" y="4289576"/>
              <a:ext cx="267019" cy="32045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a:stCxn id="50" idx="2"/>
            </p:cNvCxnSpPr>
            <p:nvPr/>
          </p:nvCxnSpPr>
          <p:spPr>
            <a:xfrm>
              <a:off x="3981450" y="4291526"/>
              <a:ext cx="526860" cy="3133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a:stCxn id="50" idx="2"/>
            </p:cNvCxnSpPr>
            <p:nvPr/>
          </p:nvCxnSpPr>
          <p:spPr>
            <a:xfrm flipH="1">
              <a:off x="3741748" y="4291526"/>
              <a:ext cx="239703" cy="3133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a:stCxn id="49" idx="2"/>
            </p:cNvCxnSpPr>
            <p:nvPr/>
          </p:nvCxnSpPr>
          <p:spPr>
            <a:xfrm>
              <a:off x="2240631" y="4291527"/>
              <a:ext cx="474963" cy="308485"/>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a:stCxn id="49" idx="2"/>
            </p:cNvCxnSpPr>
            <p:nvPr/>
          </p:nvCxnSpPr>
          <p:spPr>
            <a:xfrm flipH="1">
              <a:off x="1949032" y="4291527"/>
              <a:ext cx="291599" cy="308485"/>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4" name="TextBox 63"/>
                <p:cNvSpPr txBox="1"/>
                <p:nvPr/>
              </p:nvSpPr>
              <p:spPr>
                <a:xfrm>
                  <a:off x="5668215" y="1992868"/>
                  <a:ext cx="37459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𝑛</m:t>
                        </m:r>
                      </m:oMath>
                    </m:oMathPara>
                  </a14:m>
                  <a:endParaRPr lang="en-US" dirty="0">
                    <a:solidFill>
                      <a:srgbClr val="0070C0"/>
                    </a:solidFill>
                  </a:endParaRPr>
                </a:p>
              </p:txBody>
            </p:sp>
          </mc:Choice>
          <mc:Fallback xmlns="">
            <p:sp>
              <p:nvSpPr>
                <p:cNvPr id="64" name="TextBox 63"/>
                <p:cNvSpPr txBox="1">
                  <a:spLocks noRot="1" noChangeAspect="1" noMove="1" noResize="1" noEditPoints="1" noAdjustHandles="1" noChangeArrowheads="1" noChangeShapeType="1" noTextEdit="1"/>
                </p:cNvSpPr>
                <p:nvPr/>
              </p:nvSpPr>
              <p:spPr>
                <a:xfrm>
                  <a:off x="5668215" y="1992868"/>
                  <a:ext cx="374590" cy="369332"/>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TextBox 65"/>
                <p:cNvSpPr txBox="1"/>
                <p:nvPr/>
              </p:nvSpPr>
              <p:spPr>
                <a:xfrm>
                  <a:off x="3962400" y="2940302"/>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num>
                          <m:den>
                            <m:r>
                              <a:rPr lang="en-US" b="0" i="1" smtClean="0">
                                <a:solidFill>
                                  <a:srgbClr val="0070C0"/>
                                </a:solidFill>
                                <a:latin typeface="Cambria Math" panose="02040503050406030204" pitchFamily="18" charset="0"/>
                              </a:rPr>
                              <m:t>2</m:t>
                            </m:r>
                          </m:den>
                        </m:f>
                      </m:oMath>
                    </m:oMathPara>
                  </a14:m>
                  <a:endParaRPr lang="en-US" dirty="0">
                    <a:solidFill>
                      <a:srgbClr val="0070C0"/>
                    </a:solidFill>
                  </a:endParaRPr>
                </a:p>
              </p:txBody>
            </p:sp>
          </mc:Choice>
          <mc:Fallback xmlns="">
            <p:sp>
              <p:nvSpPr>
                <p:cNvPr id="66" name="TextBox 65"/>
                <p:cNvSpPr txBox="1">
                  <a:spLocks noRot="1" noChangeAspect="1" noMove="1" noResize="1" noEditPoints="1" noAdjustHandles="1" noChangeArrowheads="1" noChangeShapeType="1" noTextEdit="1"/>
                </p:cNvSpPr>
                <p:nvPr/>
              </p:nvSpPr>
              <p:spPr>
                <a:xfrm>
                  <a:off x="3962400" y="2940302"/>
                  <a:ext cx="374590" cy="564898"/>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TextBox 66"/>
                <p:cNvSpPr txBox="1"/>
                <p:nvPr/>
              </p:nvSpPr>
              <p:spPr>
                <a:xfrm>
                  <a:off x="7246374" y="2974403"/>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num>
                          <m:den>
                            <m:r>
                              <a:rPr lang="en-US" b="0" i="1" smtClean="0">
                                <a:solidFill>
                                  <a:srgbClr val="0070C0"/>
                                </a:solidFill>
                                <a:latin typeface="Cambria Math" panose="02040503050406030204" pitchFamily="18" charset="0"/>
                              </a:rPr>
                              <m:t>2</m:t>
                            </m:r>
                          </m:den>
                        </m:f>
                      </m:oMath>
                    </m:oMathPara>
                  </a14:m>
                  <a:endParaRPr lang="en-US" dirty="0">
                    <a:solidFill>
                      <a:srgbClr val="0070C0"/>
                    </a:solidFill>
                  </a:endParaRPr>
                </a:p>
              </p:txBody>
            </p:sp>
          </mc:Choice>
          <mc:Fallback xmlns="">
            <p:sp>
              <p:nvSpPr>
                <p:cNvPr id="67" name="TextBox 66"/>
                <p:cNvSpPr txBox="1">
                  <a:spLocks noRot="1" noChangeAspect="1" noMove="1" noResize="1" noEditPoints="1" noAdjustHandles="1" noChangeArrowheads="1" noChangeShapeType="1" noTextEdit="1"/>
                </p:cNvSpPr>
                <p:nvPr/>
              </p:nvSpPr>
              <p:spPr>
                <a:xfrm>
                  <a:off x="7246374" y="2974403"/>
                  <a:ext cx="374590" cy="564898"/>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p:cNvSpPr txBox="1"/>
                <p:nvPr/>
              </p:nvSpPr>
              <p:spPr>
                <a:xfrm>
                  <a:off x="2819400" y="3778527"/>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num>
                          <m:den>
                            <m:r>
                              <a:rPr lang="en-US" b="0" i="1" smtClean="0">
                                <a:solidFill>
                                  <a:srgbClr val="0070C0"/>
                                </a:solidFill>
                                <a:latin typeface="Cambria Math" panose="02040503050406030204" pitchFamily="18" charset="0"/>
                              </a:rPr>
                              <m:t>4</m:t>
                            </m:r>
                          </m:den>
                        </m:f>
                      </m:oMath>
                    </m:oMathPara>
                  </a14:m>
                  <a:endParaRPr lang="en-US" dirty="0">
                    <a:solidFill>
                      <a:srgbClr val="0070C0"/>
                    </a:solidFill>
                  </a:endParaRPr>
                </a:p>
              </p:txBody>
            </p:sp>
          </mc:Choice>
          <mc:Fallback xmlns="">
            <p:sp>
              <p:nvSpPr>
                <p:cNvPr id="68" name="TextBox 67"/>
                <p:cNvSpPr txBox="1">
                  <a:spLocks noRot="1" noChangeAspect="1" noMove="1" noResize="1" noEditPoints="1" noAdjustHandles="1" noChangeArrowheads="1" noChangeShapeType="1" noTextEdit="1"/>
                </p:cNvSpPr>
                <p:nvPr/>
              </p:nvSpPr>
              <p:spPr>
                <a:xfrm>
                  <a:off x="2819400" y="3778527"/>
                  <a:ext cx="374590" cy="564898"/>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p:cNvSpPr txBox="1"/>
                <p:nvPr/>
              </p:nvSpPr>
              <p:spPr>
                <a:xfrm>
                  <a:off x="4639597" y="3774093"/>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num>
                          <m:den>
                            <m:r>
                              <a:rPr lang="en-US" b="0" i="1" smtClean="0">
                                <a:solidFill>
                                  <a:srgbClr val="0070C0"/>
                                </a:solidFill>
                                <a:latin typeface="Cambria Math" panose="02040503050406030204" pitchFamily="18" charset="0"/>
                              </a:rPr>
                              <m:t>4</m:t>
                            </m:r>
                          </m:den>
                        </m:f>
                      </m:oMath>
                    </m:oMathPara>
                  </a14:m>
                  <a:endParaRPr lang="en-US" dirty="0">
                    <a:solidFill>
                      <a:srgbClr val="0070C0"/>
                    </a:solidFill>
                  </a:endParaRPr>
                </a:p>
              </p:txBody>
            </p:sp>
          </mc:Choice>
          <mc:Fallback xmlns="">
            <p:sp>
              <p:nvSpPr>
                <p:cNvPr id="70" name="TextBox 69"/>
                <p:cNvSpPr txBox="1">
                  <a:spLocks noRot="1" noChangeAspect="1" noMove="1" noResize="1" noEditPoints="1" noAdjustHandles="1" noChangeArrowheads="1" noChangeShapeType="1" noTextEdit="1"/>
                </p:cNvSpPr>
                <p:nvPr/>
              </p:nvSpPr>
              <p:spPr>
                <a:xfrm>
                  <a:off x="4639597" y="3774093"/>
                  <a:ext cx="374590" cy="564898"/>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p:cNvSpPr txBox="1"/>
                <p:nvPr/>
              </p:nvSpPr>
              <p:spPr>
                <a:xfrm>
                  <a:off x="6432433" y="3783622"/>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num>
                          <m:den>
                            <m:r>
                              <a:rPr lang="en-US" b="0" i="1" smtClean="0">
                                <a:solidFill>
                                  <a:srgbClr val="0070C0"/>
                                </a:solidFill>
                                <a:latin typeface="Cambria Math" panose="02040503050406030204" pitchFamily="18" charset="0"/>
                              </a:rPr>
                              <m:t>4</m:t>
                            </m:r>
                          </m:den>
                        </m:f>
                      </m:oMath>
                    </m:oMathPara>
                  </a14:m>
                  <a:endParaRPr lang="en-US" b="0" dirty="0">
                    <a:solidFill>
                      <a:srgbClr val="0070C0"/>
                    </a:solidFill>
                  </a:endParaRPr>
                </a:p>
              </p:txBody>
            </p:sp>
          </mc:Choice>
          <mc:Fallback xmlns="">
            <p:sp>
              <p:nvSpPr>
                <p:cNvPr id="71" name="TextBox 70"/>
                <p:cNvSpPr txBox="1">
                  <a:spLocks noRot="1" noChangeAspect="1" noMove="1" noResize="1" noEditPoints="1" noAdjustHandles="1" noChangeArrowheads="1" noChangeShapeType="1" noTextEdit="1"/>
                </p:cNvSpPr>
                <p:nvPr/>
              </p:nvSpPr>
              <p:spPr>
                <a:xfrm>
                  <a:off x="6432433" y="3783622"/>
                  <a:ext cx="374590" cy="564898"/>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p:cNvSpPr txBox="1"/>
                <p:nvPr/>
              </p:nvSpPr>
              <p:spPr>
                <a:xfrm>
                  <a:off x="8001000" y="3779188"/>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num>
                          <m:den>
                            <m:r>
                              <a:rPr lang="en-US" b="0" i="1" smtClean="0">
                                <a:solidFill>
                                  <a:srgbClr val="0070C0"/>
                                </a:solidFill>
                                <a:latin typeface="Cambria Math" panose="02040503050406030204" pitchFamily="18" charset="0"/>
                              </a:rPr>
                              <m:t>4</m:t>
                            </m:r>
                          </m:den>
                        </m:f>
                      </m:oMath>
                    </m:oMathPara>
                  </a14:m>
                  <a:endParaRPr lang="en-US" dirty="0">
                    <a:solidFill>
                      <a:srgbClr val="0070C0"/>
                    </a:solidFill>
                  </a:endParaRPr>
                </a:p>
              </p:txBody>
            </p:sp>
          </mc:Choice>
          <mc:Fallback xmlns="">
            <p:sp>
              <p:nvSpPr>
                <p:cNvPr id="72" name="TextBox 71"/>
                <p:cNvSpPr txBox="1">
                  <a:spLocks noRot="1" noChangeAspect="1" noMove="1" noResize="1" noEditPoints="1" noAdjustHandles="1" noChangeArrowheads="1" noChangeShapeType="1" noTextEdit="1"/>
                </p:cNvSpPr>
                <p:nvPr/>
              </p:nvSpPr>
              <p:spPr>
                <a:xfrm>
                  <a:off x="8001000" y="3779188"/>
                  <a:ext cx="374590" cy="564898"/>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p:cNvSpPr txBox="1"/>
                <p:nvPr/>
              </p:nvSpPr>
              <p:spPr>
                <a:xfrm>
                  <a:off x="1905000"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4" name="TextBox 73"/>
                <p:cNvSpPr txBox="1">
                  <a:spLocks noRot="1" noChangeAspect="1" noMove="1" noResize="1" noEditPoints="1" noAdjustHandles="1" noChangeArrowheads="1" noChangeShapeType="1" noTextEdit="1"/>
                </p:cNvSpPr>
                <p:nvPr/>
              </p:nvSpPr>
              <p:spPr>
                <a:xfrm>
                  <a:off x="1905000" y="5105400"/>
                  <a:ext cx="365806"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Box 74"/>
                <p:cNvSpPr txBox="1"/>
                <p:nvPr/>
              </p:nvSpPr>
              <p:spPr>
                <a:xfrm>
                  <a:off x="2907380"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5" name="TextBox 74"/>
                <p:cNvSpPr txBox="1">
                  <a:spLocks noRot="1" noChangeAspect="1" noMove="1" noResize="1" noEditPoints="1" noAdjustHandles="1" noChangeArrowheads="1" noChangeShapeType="1" noTextEdit="1"/>
                </p:cNvSpPr>
                <p:nvPr/>
              </p:nvSpPr>
              <p:spPr>
                <a:xfrm>
                  <a:off x="2907380" y="5105400"/>
                  <a:ext cx="365806" cy="369332"/>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p:cNvSpPr txBox="1"/>
                <p:nvPr/>
              </p:nvSpPr>
              <p:spPr>
                <a:xfrm>
                  <a:off x="3821292"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7" name="TextBox 76"/>
                <p:cNvSpPr txBox="1">
                  <a:spLocks noRot="1" noChangeAspect="1" noMove="1" noResize="1" noEditPoints="1" noAdjustHandles="1" noChangeArrowheads="1" noChangeShapeType="1" noTextEdit="1"/>
                </p:cNvSpPr>
                <p:nvPr/>
              </p:nvSpPr>
              <p:spPr>
                <a:xfrm>
                  <a:off x="3821292" y="5105400"/>
                  <a:ext cx="365806"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p:cNvSpPr txBox="1"/>
                <p:nvPr/>
              </p:nvSpPr>
              <p:spPr>
                <a:xfrm>
                  <a:off x="59587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8" name="TextBox 77"/>
                <p:cNvSpPr txBox="1">
                  <a:spLocks noRot="1" noChangeAspect="1" noMove="1" noResize="1" noEditPoints="1" noAdjustHandles="1" noChangeArrowheads="1" noChangeShapeType="1" noTextEdit="1"/>
                </p:cNvSpPr>
                <p:nvPr/>
              </p:nvSpPr>
              <p:spPr>
                <a:xfrm>
                  <a:off x="5958794" y="5117390"/>
                  <a:ext cx="365806" cy="369332"/>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p:cNvSpPr txBox="1"/>
                <p:nvPr/>
              </p:nvSpPr>
              <p:spPr>
                <a:xfrm>
                  <a:off x="69493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80" name="TextBox 79"/>
                <p:cNvSpPr txBox="1">
                  <a:spLocks noRot="1" noChangeAspect="1" noMove="1" noResize="1" noEditPoints="1" noAdjustHandles="1" noChangeArrowheads="1" noChangeShapeType="1" noTextEdit="1"/>
                </p:cNvSpPr>
                <p:nvPr/>
              </p:nvSpPr>
              <p:spPr>
                <a:xfrm>
                  <a:off x="6949394" y="5117390"/>
                  <a:ext cx="365806" cy="369332"/>
                </a:xfrm>
                <a:prstGeom prst="rect">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Box 80"/>
                <p:cNvSpPr txBox="1"/>
                <p:nvPr/>
              </p:nvSpPr>
              <p:spPr>
                <a:xfrm>
                  <a:off x="78637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81" name="TextBox 80"/>
                <p:cNvSpPr txBox="1">
                  <a:spLocks noRot="1" noChangeAspect="1" noMove="1" noResize="1" noEditPoints="1" noAdjustHandles="1" noChangeArrowheads="1" noChangeShapeType="1" noTextEdit="1"/>
                </p:cNvSpPr>
                <p:nvPr/>
              </p:nvSpPr>
              <p:spPr>
                <a:xfrm>
                  <a:off x="7863794" y="5117390"/>
                  <a:ext cx="365806" cy="369332"/>
                </a:xfrm>
                <a:prstGeom prst="rect">
                  <a:avLst/>
                </a:prstGeom>
                <a:blipFill>
                  <a:blip r:embed="rId27"/>
                  <a:stretch>
                    <a:fillRect/>
                  </a:stretch>
                </a:blipFill>
              </p:spPr>
              <p:txBody>
                <a:bodyPr/>
                <a:lstStyle/>
                <a:p>
                  <a:r>
                    <a:rPr lang="en-US">
                      <a:noFill/>
                    </a:rPr>
                    <a:t> </a:t>
                  </a:r>
                </a:p>
              </p:txBody>
            </p:sp>
          </mc:Fallback>
        </mc:AlternateContent>
      </p:grpSp>
      <p:sp>
        <p:nvSpPr>
          <p:cNvPr id="42" name="Left Brace 41" descr="Because we need to make log_2(n) recursive calls before reaching a base case, the height of this chain of stackframes is log_2(n)."/>
          <p:cNvSpPr/>
          <p:nvPr/>
        </p:nvSpPr>
        <p:spPr>
          <a:xfrm flipH="1" flipV="1">
            <a:off x="8619126" y="2352909"/>
            <a:ext cx="250372" cy="3553177"/>
          </a:xfrm>
          <a:prstGeom prst="leftBrace">
            <a:avLst>
              <a:gd name="adj1" fmla="val 83199"/>
              <a:gd name="adj2" fmla="val 49631"/>
            </a:avLst>
          </a:prstGeom>
          <a:ln w="19050">
            <a:solidFill>
              <a:srgbClr val="FF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41" name="Text Box 2"/>
              <p:cNvSpPr txBox="1">
                <a:spLocks noChangeArrowheads="1"/>
              </p:cNvSpPr>
              <p:nvPr/>
            </p:nvSpPr>
            <p:spPr bwMode="auto">
              <a:xfrm>
                <a:off x="9266034" y="2172508"/>
                <a:ext cx="2807035" cy="505395"/>
              </a:xfrm>
              <a:prstGeom prst="rect">
                <a:avLst/>
              </a:prstGeom>
              <a:noFill/>
              <a:ln w="9525">
                <a:noFill/>
                <a:miter lim="800000"/>
                <a:headEnd/>
                <a:tailEnd/>
              </a:ln>
            </p:spPr>
            <p:txBody>
              <a:bodyPr wrap="square">
                <a:spAutoFit/>
              </a:bodyPr>
              <a:lstStyle/>
              <a:p>
                <a:pPr algn="ctr"/>
                <a:r>
                  <a:rPr lang="en-US" sz="2600" dirty="0">
                    <a:latin typeface="Symbol" pitchFamily="18" charset="2"/>
                  </a:rPr>
                  <a:t>Þ </a:t>
                </a:r>
                <a14:m>
                  <m:oMath xmlns:m="http://schemas.openxmlformats.org/officeDocument/2006/math">
                    <m:r>
                      <a:rPr lang="en-US" sz="2600" b="0" i="1" smtClean="0">
                        <a:solidFill>
                          <a:srgbClr val="0070C0"/>
                        </a:solidFill>
                        <a:latin typeface="Cambria Math" panose="02040503050406030204" pitchFamily="18" charset="0"/>
                      </a:rPr>
                      <m:t>𝑛</m:t>
                    </m:r>
                  </m:oMath>
                </a14:m>
                <a:r>
                  <a:rPr lang="en-US" sz="2600" dirty="0">
                    <a:solidFill>
                      <a:srgbClr val="FF0000"/>
                    </a:solidFill>
                  </a:rPr>
                  <a:t> </a:t>
                </a:r>
                <a:r>
                  <a:rPr lang="en-US" sz="2600" dirty="0"/>
                  <a:t>work per level</a:t>
                </a:r>
              </a:p>
            </p:txBody>
          </p:sp>
        </mc:Choice>
        <mc:Fallback xmlns="">
          <p:sp>
            <p:nvSpPr>
              <p:cNvPr id="41" name="Text Box 2"/>
              <p:cNvSpPr txBox="1">
                <a:spLocks noRot="1" noChangeAspect="1" noMove="1" noResize="1" noEditPoints="1" noAdjustHandles="1" noChangeArrowheads="1" noChangeShapeType="1" noTextEdit="1"/>
              </p:cNvSpPr>
              <p:nvPr/>
            </p:nvSpPr>
            <p:spPr bwMode="auto">
              <a:xfrm>
                <a:off x="9266034" y="2172508"/>
                <a:ext cx="2807035" cy="505395"/>
              </a:xfrm>
              <a:prstGeom prst="rect">
                <a:avLst/>
              </a:prstGeom>
              <a:blipFill>
                <a:blip r:embed="rId28"/>
                <a:stretch>
                  <a:fillRect l="-3043" t="-13253" r="-3043" b="-28916"/>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 Box 2"/>
              <p:cNvSpPr txBox="1">
                <a:spLocks noChangeArrowheads="1"/>
              </p:cNvSpPr>
              <p:nvPr/>
            </p:nvSpPr>
            <p:spPr bwMode="auto">
              <a:xfrm>
                <a:off x="8935966" y="3670773"/>
                <a:ext cx="2312388" cy="954107"/>
              </a:xfrm>
              <a:prstGeom prst="rect">
                <a:avLst/>
              </a:prstGeom>
              <a:noFill/>
              <a:ln w="9525">
                <a:noFill/>
                <a:miter lim="800000"/>
                <a:headEnd/>
                <a:tailEnd/>
              </a:ln>
            </p:spPr>
            <p:txBody>
              <a:bodyPr wrap="square">
                <a:spAutoFit/>
              </a:bodyPr>
              <a:lstStyle/>
              <a:p>
                <a:pPr algn="ctr"/>
                <a14:m>
                  <m:oMath xmlns:m="http://schemas.openxmlformats.org/officeDocument/2006/math">
                    <m:sSub>
                      <m:sSubPr>
                        <m:ctrlPr>
                          <a:rPr lang="en-US" sz="2800" i="1" dirty="0">
                            <a:solidFill>
                              <a:srgbClr val="FF00FF"/>
                            </a:solidFill>
                            <a:latin typeface="Cambria Math" panose="02040503050406030204" pitchFamily="18" charset="0"/>
                          </a:rPr>
                        </m:ctrlPr>
                      </m:sSubPr>
                      <m:e>
                        <m:r>
                          <m:rPr>
                            <m:sty m:val="p"/>
                          </m:rPr>
                          <a:rPr lang="en-US" sz="2800" dirty="0">
                            <a:solidFill>
                              <a:srgbClr val="FF00FF"/>
                            </a:solidFill>
                            <a:latin typeface="Cambria Math"/>
                          </a:rPr>
                          <m:t>log</m:t>
                        </m:r>
                      </m:e>
                      <m:sub>
                        <m:r>
                          <a:rPr lang="en-US" sz="2800" i="1" dirty="0">
                            <a:solidFill>
                              <a:srgbClr val="FF00FF"/>
                            </a:solidFill>
                            <a:latin typeface="Cambria Math"/>
                          </a:rPr>
                          <m:t>2</m:t>
                        </m:r>
                      </m:sub>
                    </m:sSub>
                    <m:r>
                      <a:rPr lang="en-US" sz="2800" i="1" dirty="0">
                        <a:solidFill>
                          <a:srgbClr val="FF00FF"/>
                        </a:solidFill>
                        <a:latin typeface="Cambria Math"/>
                      </a:rPr>
                      <m:t>⁡</m:t>
                    </m:r>
                    <m:r>
                      <a:rPr lang="en-US" sz="2800" i="1" dirty="0">
                        <a:solidFill>
                          <a:srgbClr val="FF00FF"/>
                        </a:solidFill>
                        <a:latin typeface="Cambria Math"/>
                      </a:rPr>
                      <m:t>𝑛</m:t>
                    </m:r>
                  </m:oMath>
                </a14:m>
                <a:r>
                  <a:rPr lang="en-US" sz="2800" dirty="0">
                    <a:solidFill>
                      <a:srgbClr val="FF00FF"/>
                    </a:solidFill>
                  </a:rPr>
                  <a:t> </a:t>
                </a:r>
                <a:r>
                  <a:rPr lang="en-US" sz="2800" dirty="0"/>
                  <a:t>levels</a:t>
                </a:r>
              </a:p>
              <a:p>
                <a:pPr algn="ctr"/>
                <a:r>
                  <a:rPr lang="en-US" sz="2800" dirty="0"/>
                  <a:t>of recursion</a:t>
                </a:r>
              </a:p>
            </p:txBody>
          </p:sp>
        </mc:Choice>
        <mc:Fallback xmlns="">
          <p:sp>
            <p:nvSpPr>
              <p:cNvPr id="43" name="Text Box 2"/>
              <p:cNvSpPr txBox="1">
                <a:spLocks noRot="1" noChangeAspect="1" noMove="1" noResize="1" noEditPoints="1" noAdjustHandles="1" noChangeArrowheads="1" noChangeShapeType="1" noTextEdit="1"/>
              </p:cNvSpPr>
              <p:nvPr/>
            </p:nvSpPr>
            <p:spPr bwMode="auto">
              <a:xfrm>
                <a:off x="8935966" y="3670773"/>
                <a:ext cx="2312388" cy="954107"/>
              </a:xfrm>
              <a:prstGeom prst="rect">
                <a:avLst/>
              </a:prstGeom>
              <a:blipFill>
                <a:blip r:embed="rId29"/>
                <a:stretch>
                  <a:fillRect t="-5732" b="-17197"/>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Rectangle 45"/>
              <p:cNvSpPr/>
              <p:nvPr/>
            </p:nvSpPr>
            <p:spPr>
              <a:xfrm>
                <a:off x="8877902" y="5474417"/>
                <a:ext cx="2874372" cy="1324080"/>
              </a:xfrm>
              <a:prstGeom prst="rect">
                <a:avLst/>
              </a:prstGeom>
            </p:spPr>
            <p:txBody>
              <a:bodyPr wrap="square">
                <a:spAutoFit/>
              </a:bodyPr>
              <a:lstStyle/>
              <a:p>
                <a:pPr lvl="1"/>
                <a14:m>
                  <m:oMathPara xmlns:m="http://schemas.openxmlformats.org/officeDocument/2006/math">
                    <m:oMathParaPr>
                      <m:jc m:val="centerGroup"/>
                    </m:oMathParaPr>
                    <m:oMath xmlns:m="http://schemas.openxmlformats.org/officeDocument/2006/math">
                      <m:r>
                        <a:rPr lang="en-US" sz="2800" i="1" smtClean="0">
                          <a:latin typeface="Cambria Math"/>
                        </a:rPr>
                        <m:t>𝑇</m:t>
                      </m:r>
                      <m:d>
                        <m:dPr>
                          <m:ctrlPr>
                            <a:rPr lang="en-US" sz="2800" i="1">
                              <a:latin typeface="Cambria Math" panose="02040503050406030204" pitchFamily="18" charset="0"/>
                            </a:rPr>
                          </m:ctrlPr>
                        </m:dPr>
                        <m:e>
                          <m:r>
                            <a:rPr lang="en-US" sz="2800" i="1">
                              <a:latin typeface="Cambria Math"/>
                            </a:rPr>
                            <m:t>𝑛</m:t>
                          </m:r>
                        </m:e>
                      </m:d>
                      <m:r>
                        <a:rPr lang="en-US" sz="2800" i="1">
                          <a:latin typeface="Cambria Math"/>
                        </a:rPr>
                        <m:t>=</m:t>
                      </m:r>
                      <m:nary>
                        <m:naryPr>
                          <m:chr m:val="∑"/>
                          <m:ctrlPr>
                            <a:rPr lang="en-US" sz="2800" i="1">
                              <a:latin typeface="Cambria Math" panose="02040503050406030204" pitchFamily="18" charset="0"/>
                            </a:rPr>
                          </m:ctrlPr>
                        </m:naryPr>
                        <m:sub>
                          <m:r>
                            <m:rPr>
                              <m:brk m:alnAt="23"/>
                            </m:rPr>
                            <a:rPr lang="en-US" sz="2800" i="1">
                              <a:latin typeface="Cambria Math"/>
                            </a:rPr>
                            <m:t>𝑖</m:t>
                          </m:r>
                          <m:r>
                            <a:rPr lang="en-US" sz="2800" i="1">
                              <a:latin typeface="Cambria Math"/>
                            </a:rPr>
                            <m:t>=</m:t>
                          </m:r>
                          <m:r>
                            <a:rPr lang="en-US" sz="2800" b="0" i="1" smtClean="0">
                              <a:latin typeface="Cambria Math" panose="02040503050406030204" pitchFamily="18" charset="0"/>
                            </a:rPr>
                            <m:t>0</m:t>
                          </m:r>
                        </m:sub>
                        <m:sup>
                          <m:func>
                            <m:funcPr>
                              <m:ctrlPr>
                                <a:rPr lang="en-US" sz="2800" i="1">
                                  <a:latin typeface="Cambria Math" panose="02040503050406030204" pitchFamily="18" charset="0"/>
                                </a:rPr>
                              </m:ctrlPr>
                            </m:funcPr>
                            <m:fName>
                              <m:sSub>
                                <m:sSubPr>
                                  <m:ctrlPr>
                                    <a:rPr lang="en-US" sz="2800" i="1">
                                      <a:latin typeface="Cambria Math" panose="02040503050406030204" pitchFamily="18" charset="0"/>
                                    </a:rPr>
                                  </m:ctrlPr>
                                </m:sSubPr>
                                <m:e>
                                  <m:r>
                                    <m:rPr>
                                      <m:sty m:val="p"/>
                                    </m:rPr>
                                    <a:rPr lang="en-US" sz="2800">
                                      <a:latin typeface="Cambria Math"/>
                                    </a:rPr>
                                    <m:t>log</m:t>
                                  </m:r>
                                </m:e>
                                <m:sub>
                                  <m:r>
                                    <a:rPr lang="en-US" sz="2800">
                                      <a:latin typeface="Cambria Math"/>
                                    </a:rPr>
                                    <m:t>2</m:t>
                                  </m:r>
                                </m:sub>
                              </m:sSub>
                            </m:fName>
                            <m:e>
                              <m:r>
                                <a:rPr lang="en-US" sz="2800" i="1">
                                  <a:latin typeface="Cambria Math"/>
                                </a:rPr>
                                <m:t>𝑛</m:t>
                              </m:r>
                            </m:e>
                          </m:func>
                        </m:sup>
                        <m:e>
                          <m:r>
                            <a:rPr lang="en-US" sz="2800" b="0" i="1" smtClean="0">
                              <a:latin typeface="Cambria Math" panose="02040503050406030204" pitchFamily="18" charset="0"/>
                            </a:rPr>
                            <m:t>𝑛</m:t>
                          </m:r>
                        </m:e>
                      </m:nary>
                    </m:oMath>
                  </m:oMathPara>
                </a14:m>
                <a:endParaRPr lang="en-US" sz="2800" dirty="0"/>
              </a:p>
            </p:txBody>
          </p:sp>
        </mc:Choice>
        <mc:Fallback xmlns="">
          <p:sp>
            <p:nvSpPr>
              <p:cNvPr id="46" name="Rectangle 45"/>
              <p:cNvSpPr>
                <a:spLocks noRot="1" noChangeAspect="1" noMove="1" noResize="1" noEditPoints="1" noAdjustHandles="1" noChangeArrowheads="1" noChangeShapeType="1" noTextEdit="1"/>
              </p:cNvSpPr>
              <p:nvPr/>
            </p:nvSpPr>
            <p:spPr>
              <a:xfrm>
                <a:off x="8877902" y="5474417"/>
                <a:ext cx="2874372" cy="1324080"/>
              </a:xfrm>
              <a:prstGeom prst="rect">
                <a:avLst/>
              </a:prstGeom>
              <a:blipFill>
                <a:blip r:embed="rId30"/>
                <a:stretch>
                  <a:fillRect/>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1">
            <p14:nvContentPartPr>
              <p14:cNvPr id="6" name="Ink 5">
                <a:extLst>
                  <a:ext uri="{FF2B5EF4-FFF2-40B4-BE49-F238E27FC236}">
                    <a16:creationId xmlns:a16="http://schemas.microsoft.com/office/drawing/2014/main" id="{56C5C953-EE56-3B4D-79E6-172C053CECAD}"/>
                  </a:ext>
                </a:extLst>
              </p14:cNvPr>
              <p14:cNvContentPartPr/>
              <p14:nvPr/>
            </p14:nvContentPartPr>
            <p14:xfrm>
              <a:off x="2184480" y="388800"/>
              <a:ext cx="9599400" cy="4255920"/>
            </p14:xfrm>
          </p:contentPart>
        </mc:Choice>
        <mc:Fallback>
          <p:pic>
            <p:nvPicPr>
              <p:cNvPr id="6" name="Ink 5">
                <a:extLst>
                  <a:ext uri="{FF2B5EF4-FFF2-40B4-BE49-F238E27FC236}">
                    <a16:creationId xmlns:a16="http://schemas.microsoft.com/office/drawing/2014/main" id="{56C5C953-EE56-3B4D-79E6-172C053CECAD}"/>
                  </a:ext>
                </a:extLst>
              </p:cNvPr>
              <p:cNvPicPr/>
              <p:nvPr/>
            </p:nvPicPr>
            <p:blipFill>
              <a:blip r:embed="rId32"/>
              <a:stretch>
                <a:fillRect/>
              </a:stretch>
            </p:blipFill>
            <p:spPr>
              <a:xfrm>
                <a:off x="2175120" y="379440"/>
                <a:ext cx="9618120" cy="4274640"/>
              </a:xfrm>
              <a:prstGeom prst="rect">
                <a:avLst/>
              </a:prstGeom>
            </p:spPr>
          </p:pic>
        </mc:Fallback>
      </mc:AlternateContent>
    </p:spTree>
    <p:extLst>
      <p:ext uri="{BB962C8B-B14F-4D97-AF65-F5344CB8AC3E}">
        <p14:creationId xmlns:p14="http://schemas.microsoft.com/office/powerpoint/2010/main" val="25391014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en-US" dirty="0"/>
                  <a:t>Tree Method </a:t>
                </a:r>
                <a14:m>
                  <m:oMath xmlns:m="http://schemas.openxmlformats.org/officeDocument/2006/math">
                    <m:r>
                      <a:rPr lang="en-US" i="1">
                        <a:latin typeface="Cambria Math" panose="02040503050406030204" pitchFamily="18" charset="0"/>
                      </a:rPr>
                      <m:t>𝑇</m:t>
                    </m:r>
                    <m:d>
                      <m:dPr>
                        <m:ctrlPr>
                          <a:rPr lang="en-US" i="1">
                            <a:latin typeface="Cambria Math" panose="02040503050406030204" pitchFamily="18" charset="0"/>
                          </a:rPr>
                        </m:ctrlPr>
                      </m:dPr>
                      <m:e>
                        <m:r>
                          <a:rPr lang="en-US" i="1">
                            <a:latin typeface="Cambria Math" panose="02040503050406030204" pitchFamily="18" charset="0"/>
                          </a:rPr>
                          <m:t>𝑛</m:t>
                        </m:r>
                      </m:e>
                    </m:d>
                    <m:r>
                      <a:rPr lang="en-US" i="1">
                        <a:latin typeface="Cambria Math" panose="02040503050406030204" pitchFamily="18" charset="0"/>
                      </a:rPr>
                      <m:t>=2</m:t>
                    </m:r>
                    <m:r>
                      <a:rPr lang="en-US" i="1">
                        <a:latin typeface="Cambria Math" panose="02040503050406030204" pitchFamily="18" charset="0"/>
                      </a:rPr>
                      <m:t>𝑇</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𝑛</m:t>
                            </m:r>
                          </m:num>
                          <m:den>
                            <m:r>
                              <a:rPr lang="en-US" i="1">
                                <a:latin typeface="Cambria Math" panose="02040503050406030204" pitchFamily="18" charset="0"/>
                              </a:rPr>
                              <m:t>2</m:t>
                            </m:r>
                          </m:den>
                        </m:f>
                      </m:e>
                    </m:d>
                    <m:r>
                      <a:rPr lang="en-US" i="1">
                        <a:latin typeface="Cambria Math" panose="02040503050406030204" pitchFamily="18" charset="0"/>
                      </a:rPr>
                      <m:t>+</m:t>
                    </m:r>
                    <m:sSup>
                      <m:sSupPr>
                        <m:ctrlPr>
                          <a:rPr lang="en-US" b="0" i="1" smtClean="0">
                            <a:latin typeface="Cambria Math" panose="02040503050406030204" pitchFamily="18" charset="0"/>
                          </a:rPr>
                        </m:ctrlPr>
                      </m:sSupPr>
                      <m:e>
                        <m:r>
                          <a:rPr lang="en-US" i="1">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9012C2DE-48D7-4255-8090-ED57B66C05A8}"/>
              </a:ext>
              <a:ext uri="{C183D7F6-B498-43B3-948B-1728B52AA6E4}">
                <adec:decorative xmlns:adec="http://schemas.microsoft.com/office/drawing/2017/decorative" val="1"/>
              </a:ext>
            </a:extLst>
          </p:cNvPr>
          <p:cNvSpPr/>
          <p:nvPr/>
        </p:nvSpPr>
        <p:spPr>
          <a:xfrm>
            <a:off x="27400" y="1463359"/>
            <a:ext cx="2602580" cy="63976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Red box represents a problem instance</a:t>
            </a:r>
          </a:p>
        </p:txBody>
      </p:sp>
      <p:sp>
        <p:nvSpPr>
          <p:cNvPr id="3" name="Rectangle 2">
            <a:extLst>
              <a:ext uri="{FF2B5EF4-FFF2-40B4-BE49-F238E27FC236}">
                <a16:creationId xmlns:a16="http://schemas.microsoft.com/office/drawing/2014/main" id="{34220DF3-EFFC-AD31-4F58-44D02B48AE9D}"/>
              </a:ext>
              <a:ext uri="{C183D7F6-B498-43B3-948B-1728B52AA6E4}">
                <adec:decorative xmlns:adec="http://schemas.microsoft.com/office/drawing/2017/decorative" val="1"/>
              </a:ext>
            </a:extLst>
          </p:cNvPr>
          <p:cNvSpPr/>
          <p:nvPr/>
        </p:nvSpPr>
        <p:spPr>
          <a:xfrm>
            <a:off x="-86928" y="2129739"/>
            <a:ext cx="2716908" cy="8115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Blue value next to each box represents time spent at that level of recursion</a:t>
            </a:r>
          </a:p>
        </p:txBody>
      </p:sp>
      <p:grpSp>
        <p:nvGrpSpPr>
          <p:cNvPr id="5" name="Group 4" descr="A picture of the recursion for the given recurrence relation. We have one box per stack frame in the recursion. Each box is labelled inside with a value that represents the size of the input for that stack frame. Outside each box is labelled with the amount of (non-recursive) work done by that box (in this case it is the square of the size of the box).&#10;&#10;Each box has an arrow pointing to two boxes with a smaller input (specifically each is half the size) to represent the larger box recursively invoking the algorithm twice with smaller inputs.">
            <a:extLst>
              <a:ext uri="{FF2B5EF4-FFF2-40B4-BE49-F238E27FC236}">
                <a16:creationId xmlns:a16="http://schemas.microsoft.com/office/drawing/2014/main" id="{B5AAB1B8-0B60-9ECD-1FE6-F2B46E6D91FA}"/>
              </a:ext>
            </a:extLst>
          </p:cNvPr>
          <p:cNvGrpSpPr/>
          <p:nvPr/>
        </p:nvGrpSpPr>
        <p:grpSpPr>
          <a:xfrm>
            <a:off x="1490606" y="1992868"/>
            <a:ext cx="7199645" cy="3693910"/>
            <a:chOff x="1295400" y="1992868"/>
            <a:chExt cx="7199645" cy="3693910"/>
          </a:xfrm>
        </p:grpSpPr>
        <mc:AlternateContent xmlns:mc="http://schemas.openxmlformats.org/markup-compatibility/2006" xmlns:a14="http://schemas.microsoft.com/office/drawing/2010/main">
          <mc:Choice Requires="a14">
            <p:sp>
              <p:nvSpPr>
                <p:cNvPr id="44" name="Text Box 41"/>
                <p:cNvSpPr txBox="1">
                  <a:spLocks noChangeArrowheads="1"/>
                </p:cNvSpPr>
                <p:nvPr/>
              </p:nvSpPr>
              <p:spPr bwMode="auto">
                <a:xfrm>
                  <a:off x="4381500" y="2133600"/>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a:latin typeface="Cambria Math"/>
                          </a:rPr>
                          <m:t>𝑛</m:t>
                        </m:r>
                      </m:oMath>
                    </m:oMathPara>
                  </a14:m>
                  <a:endParaRPr lang="en-US" sz="2800" dirty="0"/>
                </a:p>
              </p:txBody>
            </p:sp>
          </mc:Choice>
          <mc:Fallback xmlns="">
            <p:sp>
              <p:nvSpPr>
                <p:cNvPr id="44" name="Text Box 41"/>
                <p:cNvSpPr txBox="1">
                  <a:spLocks noRot="1" noChangeAspect="1" noMove="1" noResize="1" noEditPoints="1" noAdjustHandles="1" noChangeArrowheads="1" noChangeShapeType="1" noTextEdit="1"/>
                </p:cNvSpPr>
                <p:nvPr/>
              </p:nvSpPr>
              <p:spPr bwMode="auto">
                <a:xfrm>
                  <a:off x="4381500" y="2133600"/>
                  <a:ext cx="1333500" cy="457200"/>
                </a:xfrm>
                <a:prstGeom prst="rect">
                  <a:avLst/>
                </a:prstGeom>
                <a:blipFill>
                  <a:blip r:embed="rId3"/>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 Box 41"/>
                <p:cNvSpPr txBox="1">
                  <a:spLocks noChangeArrowheads="1"/>
                </p:cNvSpPr>
                <p:nvPr/>
              </p:nvSpPr>
              <p:spPr bwMode="auto">
                <a:xfrm>
                  <a:off x="2690604" y="3028252"/>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2</m:t>
                            </m:r>
                          </m:den>
                        </m:f>
                      </m:oMath>
                    </m:oMathPara>
                  </a14:m>
                  <a:endParaRPr lang="en-US" sz="2800" dirty="0"/>
                </a:p>
              </p:txBody>
            </p:sp>
          </mc:Choice>
          <mc:Fallback xmlns="">
            <p:sp>
              <p:nvSpPr>
                <p:cNvPr id="47" name="Text Box 41"/>
                <p:cNvSpPr txBox="1">
                  <a:spLocks noRot="1" noChangeAspect="1" noMove="1" noResize="1" noEditPoints="1" noAdjustHandles="1" noChangeArrowheads="1" noChangeShapeType="1" noTextEdit="1"/>
                </p:cNvSpPr>
                <p:nvPr/>
              </p:nvSpPr>
              <p:spPr bwMode="auto">
                <a:xfrm>
                  <a:off x="2690604" y="3028252"/>
                  <a:ext cx="1333500" cy="457200"/>
                </a:xfrm>
                <a:prstGeom prst="rect">
                  <a:avLst/>
                </a:prstGeom>
                <a:blipFill>
                  <a:blip r:embed="rId4"/>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 Box 41"/>
                <p:cNvSpPr txBox="1">
                  <a:spLocks noChangeArrowheads="1"/>
                </p:cNvSpPr>
                <p:nvPr/>
              </p:nvSpPr>
              <p:spPr bwMode="auto">
                <a:xfrm>
                  <a:off x="5981700" y="3028252"/>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2</m:t>
                            </m:r>
                          </m:den>
                        </m:f>
                      </m:oMath>
                    </m:oMathPara>
                  </a14:m>
                  <a:endParaRPr lang="en-US" sz="2800" dirty="0"/>
                </a:p>
              </p:txBody>
            </p:sp>
          </mc:Choice>
          <mc:Fallback xmlns="">
            <p:sp>
              <p:nvSpPr>
                <p:cNvPr id="48" name="Text Box 41"/>
                <p:cNvSpPr txBox="1">
                  <a:spLocks noRot="1" noChangeAspect="1" noMove="1" noResize="1" noEditPoints="1" noAdjustHandles="1" noChangeArrowheads="1" noChangeShapeType="1" noTextEdit="1"/>
                </p:cNvSpPr>
                <p:nvPr/>
              </p:nvSpPr>
              <p:spPr bwMode="auto">
                <a:xfrm>
                  <a:off x="5981700" y="3028252"/>
                  <a:ext cx="1333500" cy="457200"/>
                </a:xfrm>
                <a:prstGeom prst="rect">
                  <a:avLst/>
                </a:prstGeom>
                <a:blipFill>
                  <a:blip r:embed="rId5"/>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 Box 41"/>
                <p:cNvSpPr txBox="1">
                  <a:spLocks noChangeArrowheads="1"/>
                </p:cNvSpPr>
                <p:nvPr/>
              </p:nvSpPr>
              <p:spPr bwMode="auto">
                <a:xfrm>
                  <a:off x="157388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49" name="Text Box 41"/>
                <p:cNvSpPr txBox="1">
                  <a:spLocks noRot="1" noChangeAspect="1" noMove="1" noResize="1" noEditPoints="1" noAdjustHandles="1" noChangeArrowheads="1" noChangeShapeType="1" noTextEdit="1"/>
                </p:cNvSpPr>
                <p:nvPr/>
              </p:nvSpPr>
              <p:spPr bwMode="auto">
                <a:xfrm>
                  <a:off x="1573880" y="3834326"/>
                  <a:ext cx="1333500" cy="457200"/>
                </a:xfrm>
                <a:prstGeom prst="rect">
                  <a:avLst/>
                </a:prstGeom>
                <a:blipFill>
                  <a:blip r:embed="rId6"/>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 Box 41"/>
                <p:cNvSpPr txBox="1">
                  <a:spLocks noChangeArrowheads="1"/>
                </p:cNvSpPr>
                <p:nvPr/>
              </p:nvSpPr>
              <p:spPr bwMode="auto">
                <a:xfrm>
                  <a:off x="331470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50" name="Text Box 41"/>
                <p:cNvSpPr txBox="1">
                  <a:spLocks noRot="1" noChangeAspect="1" noMove="1" noResize="1" noEditPoints="1" noAdjustHandles="1" noChangeArrowheads="1" noChangeShapeType="1" noTextEdit="1"/>
                </p:cNvSpPr>
                <p:nvPr/>
              </p:nvSpPr>
              <p:spPr bwMode="auto">
                <a:xfrm>
                  <a:off x="3314700" y="3834326"/>
                  <a:ext cx="1333500" cy="457200"/>
                </a:xfrm>
                <a:prstGeom prst="rect">
                  <a:avLst/>
                </a:prstGeom>
                <a:blipFill>
                  <a:blip r:embed="rId7"/>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 Box 41"/>
                <p:cNvSpPr txBox="1">
                  <a:spLocks noChangeArrowheads="1"/>
                </p:cNvSpPr>
                <p:nvPr/>
              </p:nvSpPr>
              <p:spPr bwMode="auto">
                <a:xfrm>
                  <a:off x="5181600" y="383237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51" name="Text Box 41"/>
                <p:cNvSpPr txBox="1">
                  <a:spLocks noRot="1" noChangeAspect="1" noMove="1" noResize="1" noEditPoints="1" noAdjustHandles="1" noChangeArrowheads="1" noChangeShapeType="1" noTextEdit="1"/>
                </p:cNvSpPr>
                <p:nvPr/>
              </p:nvSpPr>
              <p:spPr bwMode="auto">
                <a:xfrm>
                  <a:off x="5181600" y="3832376"/>
                  <a:ext cx="1333500" cy="457200"/>
                </a:xfrm>
                <a:prstGeom prst="rect">
                  <a:avLst/>
                </a:prstGeom>
                <a:blipFill>
                  <a:blip r:embed="rId8"/>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 Box 41"/>
                <p:cNvSpPr txBox="1">
                  <a:spLocks noChangeArrowheads="1"/>
                </p:cNvSpPr>
                <p:nvPr/>
              </p:nvSpPr>
              <p:spPr bwMode="auto">
                <a:xfrm>
                  <a:off x="674370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52" name="Text Box 41"/>
                <p:cNvSpPr txBox="1">
                  <a:spLocks noRot="1" noChangeAspect="1" noMove="1" noResize="1" noEditPoints="1" noAdjustHandles="1" noChangeArrowheads="1" noChangeShapeType="1" noTextEdit="1"/>
                </p:cNvSpPr>
                <p:nvPr/>
              </p:nvSpPr>
              <p:spPr bwMode="auto">
                <a:xfrm>
                  <a:off x="6743700" y="3834326"/>
                  <a:ext cx="1333500" cy="457200"/>
                </a:xfrm>
                <a:prstGeom prst="rect">
                  <a:avLst/>
                </a:prstGeom>
                <a:blipFill>
                  <a:blip r:embed="rId9"/>
                  <a:stretch>
                    <a:fillRect/>
                  </a:stretch>
                </a:blipFill>
                <a:ln w="9525">
                  <a:solidFill>
                    <a:srgbClr val="FF0000"/>
                  </a:solidFill>
                  <a:miter lim="800000"/>
                  <a:headEnd/>
                  <a:tailEnd/>
                </a:ln>
              </p:spPr>
              <p:txBody>
                <a:bodyPr/>
                <a:lstStyle/>
                <a:p>
                  <a:r>
                    <a:rPr lang="en-US">
                      <a:noFill/>
                    </a:rPr>
                    <a:t> </a:t>
                  </a:r>
                </a:p>
              </p:txBody>
            </p:sp>
          </mc:Fallback>
        </mc:AlternateContent>
        <p:sp>
          <p:nvSpPr>
            <p:cNvPr id="53" name="Rectangle 52"/>
            <p:cNvSpPr/>
            <p:nvPr/>
          </p:nvSpPr>
          <p:spPr>
            <a:xfrm rot="16200000">
              <a:off x="2018785" y="4281268"/>
              <a:ext cx="574196" cy="769441"/>
            </a:xfrm>
            <a:prstGeom prst="rect">
              <a:avLst/>
            </a:prstGeom>
          </p:spPr>
          <p:txBody>
            <a:bodyPr wrap="none">
              <a:spAutoFit/>
            </a:bodyPr>
            <a:lstStyle/>
            <a:p>
              <a:r>
                <a:rPr lang="en-US" sz="4400" dirty="0"/>
                <a:t>…</a:t>
              </a:r>
            </a:p>
          </p:txBody>
        </p:sp>
        <p:sp>
          <p:nvSpPr>
            <p:cNvPr id="54" name="Rectangle 53"/>
            <p:cNvSpPr/>
            <p:nvPr/>
          </p:nvSpPr>
          <p:spPr>
            <a:xfrm rot="16200000">
              <a:off x="3694351" y="4308283"/>
              <a:ext cx="574196" cy="769441"/>
            </a:xfrm>
            <a:prstGeom prst="rect">
              <a:avLst/>
            </a:prstGeom>
          </p:spPr>
          <p:txBody>
            <a:bodyPr wrap="none">
              <a:spAutoFit/>
            </a:bodyPr>
            <a:lstStyle/>
            <a:p>
              <a:r>
                <a:rPr lang="en-US" sz="4400" dirty="0"/>
                <a:t>…</a:t>
              </a:r>
            </a:p>
          </p:txBody>
        </p:sp>
        <p:sp>
          <p:nvSpPr>
            <p:cNvPr id="55" name="Rectangle 54"/>
            <p:cNvSpPr/>
            <p:nvPr/>
          </p:nvSpPr>
          <p:spPr>
            <a:xfrm rot="16200000">
              <a:off x="5637451" y="4308283"/>
              <a:ext cx="574196" cy="769441"/>
            </a:xfrm>
            <a:prstGeom prst="rect">
              <a:avLst/>
            </a:prstGeom>
          </p:spPr>
          <p:txBody>
            <a:bodyPr wrap="none">
              <a:spAutoFit/>
            </a:bodyPr>
            <a:lstStyle/>
            <a:p>
              <a:r>
                <a:rPr lang="en-US" sz="4400" dirty="0"/>
                <a:t>…</a:t>
              </a:r>
            </a:p>
          </p:txBody>
        </p:sp>
        <p:sp>
          <p:nvSpPr>
            <p:cNvPr id="56" name="Rectangle 55"/>
            <p:cNvSpPr/>
            <p:nvPr/>
          </p:nvSpPr>
          <p:spPr>
            <a:xfrm rot="16200000">
              <a:off x="7123351" y="4335298"/>
              <a:ext cx="574196" cy="769441"/>
            </a:xfrm>
            <a:prstGeom prst="rect">
              <a:avLst/>
            </a:prstGeom>
          </p:spPr>
          <p:txBody>
            <a:bodyPr wrap="none">
              <a:spAutoFit/>
            </a:bodyPr>
            <a:lstStyle/>
            <a:p>
              <a:r>
                <a:rPr lang="en-US" sz="4400" dirty="0"/>
                <a:t>…</a:t>
              </a:r>
            </a:p>
          </p:txBody>
        </p:sp>
        <mc:AlternateContent xmlns:mc="http://schemas.openxmlformats.org/markup-compatibility/2006" xmlns:a14="http://schemas.microsoft.com/office/drawing/2010/main">
          <mc:Choice Requires="a14">
            <p:sp>
              <p:nvSpPr>
                <p:cNvPr id="57" name="Text Box 41"/>
                <p:cNvSpPr txBox="1">
                  <a:spLocks noChangeArrowheads="1"/>
                </p:cNvSpPr>
                <p:nvPr/>
              </p:nvSpPr>
              <p:spPr bwMode="auto">
                <a:xfrm>
                  <a:off x="1295400" y="5226656"/>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57" name="Text Box 41"/>
                <p:cNvSpPr txBox="1">
                  <a:spLocks noRot="1" noChangeAspect="1" noMove="1" noResize="1" noEditPoints="1" noAdjustHandles="1" noChangeArrowheads="1" noChangeShapeType="1" noTextEdit="1"/>
                </p:cNvSpPr>
                <p:nvPr/>
              </p:nvSpPr>
              <p:spPr bwMode="auto">
                <a:xfrm>
                  <a:off x="1295400" y="5226656"/>
                  <a:ext cx="716630" cy="457200"/>
                </a:xfrm>
                <a:prstGeom prst="rect">
                  <a:avLst/>
                </a:prstGeom>
                <a:blipFill>
                  <a:blip r:embed="rId10"/>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 Box 41"/>
                <p:cNvSpPr txBox="1">
                  <a:spLocks noChangeArrowheads="1"/>
                </p:cNvSpPr>
                <p:nvPr/>
              </p:nvSpPr>
              <p:spPr bwMode="auto">
                <a:xfrm>
                  <a:off x="2286000"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58" name="Text Box 41"/>
                <p:cNvSpPr txBox="1">
                  <a:spLocks noRot="1" noChangeAspect="1" noMove="1" noResize="1" noEditPoints="1" noAdjustHandles="1" noChangeArrowheads="1" noChangeShapeType="1" noTextEdit="1"/>
                </p:cNvSpPr>
                <p:nvPr/>
              </p:nvSpPr>
              <p:spPr bwMode="auto">
                <a:xfrm>
                  <a:off x="2286000" y="5229577"/>
                  <a:ext cx="716630" cy="457200"/>
                </a:xfrm>
                <a:prstGeom prst="rect">
                  <a:avLst/>
                </a:prstGeom>
                <a:blipFill>
                  <a:blip r:embed="rId11"/>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 Box 41"/>
                <p:cNvSpPr txBox="1">
                  <a:spLocks noChangeArrowheads="1"/>
                </p:cNvSpPr>
                <p:nvPr/>
              </p:nvSpPr>
              <p:spPr bwMode="auto">
                <a:xfrm>
                  <a:off x="3201319"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59" name="Text Box 41"/>
                <p:cNvSpPr txBox="1">
                  <a:spLocks noRot="1" noChangeAspect="1" noMove="1" noResize="1" noEditPoints="1" noAdjustHandles="1" noChangeArrowheads="1" noChangeShapeType="1" noTextEdit="1"/>
                </p:cNvSpPr>
                <p:nvPr/>
              </p:nvSpPr>
              <p:spPr bwMode="auto">
                <a:xfrm>
                  <a:off x="3201319" y="5229577"/>
                  <a:ext cx="716630" cy="457200"/>
                </a:xfrm>
                <a:prstGeom prst="rect">
                  <a:avLst/>
                </a:prstGeom>
                <a:blipFill>
                  <a:blip r:embed="rId12"/>
                  <a:stretch>
                    <a:fillRect/>
                  </a:stretch>
                </a:blipFill>
                <a:ln w="9525">
                  <a:solidFill>
                    <a:srgbClr val="FF0000"/>
                  </a:solidFill>
                  <a:miter lim="800000"/>
                  <a:headEnd/>
                  <a:tailEnd/>
                </a:ln>
              </p:spPr>
              <p:txBody>
                <a:bodyPr/>
                <a:lstStyle/>
                <a:p>
                  <a:r>
                    <a:rPr lang="en-US">
                      <a:noFill/>
                    </a:rPr>
                    <a:t> </a:t>
                  </a:r>
                </a:p>
              </p:txBody>
            </p:sp>
          </mc:Fallback>
        </mc:AlternateContent>
        <p:sp>
          <p:nvSpPr>
            <p:cNvPr id="60" name="Rectangle 59"/>
            <p:cNvSpPr/>
            <p:nvPr/>
          </p:nvSpPr>
          <p:spPr>
            <a:xfrm>
              <a:off x="4133849" y="4917337"/>
              <a:ext cx="574196" cy="769441"/>
            </a:xfrm>
            <a:prstGeom prst="rect">
              <a:avLst/>
            </a:prstGeom>
          </p:spPr>
          <p:txBody>
            <a:bodyPr wrap="none">
              <a:spAutoFit/>
            </a:bodyPr>
            <a:lstStyle/>
            <a:p>
              <a:r>
                <a:rPr lang="en-US" sz="4400" dirty="0"/>
                <a:t>…</a:t>
              </a:r>
            </a:p>
          </p:txBody>
        </p:sp>
        <mc:AlternateContent xmlns:mc="http://schemas.openxmlformats.org/markup-compatibility/2006" xmlns:a14="http://schemas.microsoft.com/office/drawing/2010/main">
          <mc:Choice Requires="a14">
            <p:sp>
              <p:nvSpPr>
                <p:cNvPr id="61" name="Text Box 41"/>
                <p:cNvSpPr txBox="1">
                  <a:spLocks noChangeArrowheads="1"/>
                </p:cNvSpPr>
                <p:nvPr/>
              </p:nvSpPr>
              <p:spPr bwMode="auto">
                <a:xfrm>
                  <a:off x="5348411" y="5226656"/>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61" name="Text Box 41"/>
                <p:cNvSpPr txBox="1">
                  <a:spLocks noRot="1" noChangeAspect="1" noMove="1" noResize="1" noEditPoints="1" noAdjustHandles="1" noChangeArrowheads="1" noChangeShapeType="1" noTextEdit="1"/>
                </p:cNvSpPr>
                <p:nvPr/>
              </p:nvSpPr>
              <p:spPr bwMode="auto">
                <a:xfrm>
                  <a:off x="5348411" y="5226656"/>
                  <a:ext cx="716630" cy="457200"/>
                </a:xfrm>
                <a:prstGeom prst="rect">
                  <a:avLst/>
                </a:prstGeom>
                <a:blipFill>
                  <a:blip r:embed="rId13"/>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 Box 41"/>
                <p:cNvSpPr txBox="1">
                  <a:spLocks noChangeArrowheads="1"/>
                </p:cNvSpPr>
                <p:nvPr/>
              </p:nvSpPr>
              <p:spPr bwMode="auto">
                <a:xfrm>
                  <a:off x="6324600"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62" name="Text Box 41"/>
                <p:cNvSpPr txBox="1">
                  <a:spLocks noRot="1" noChangeAspect="1" noMove="1" noResize="1" noEditPoints="1" noAdjustHandles="1" noChangeArrowheads="1" noChangeShapeType="1" noTextEdit="1"/>
                </p:cNvSpPr>
                <p:nvPr/>
              </p:nvSpPr>
              <p:spPr bwMode="auto">
                <a:xfrm>
                  <a:off x="6324600" y="5229577"/>
                  <a:ext cx="716630" cy="457200"/>
                </a:xfrm>
                <a:prstGeom prst="rect">
                  <a:avLst/>
                </a:prstGeom>
                <a:blipFill>
                  <a:blip r:embed="rId14"/>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 Box 41"/>
                <p:cNvSpPr txBox="1">
                  <a:spLocks noChangeArrowheads="1"/>
                </p:cNvSpPr>
                <p:nvPr/>
              </p:nvSpPr>
              <p:spPr bwMode="auto">
                <a:xfrm>
                  <a:off x="7201056"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63" name="Text Box 41"/>
                <p:cNvSpPr txBox="1">
                  <a:spLocks noRot="1" noChangeAspect="1" noMove="1" noResize="1" noEditPoints="1" noAdjustHandles="1" noChangeArrowheads="1" noChangeShapeType="1" noTextEdit="1"/>
                </p:cNvSpPr>
                <p:nvPr/>
              </p:nvSpPr>
              <p:spPr bwMode="auto">
                <a:xfrm>
                  <a:off x="7201056" y="5229577"/>
                  <a:ext cx="716630" cy="457200"/>
                </a:xfrm>
                <a:prstGeom prst="rect">
                  <a:avLst/>
                </a:prstGeom>
                <a:blipFill>
                  <a:blip r:embed="rId15"/>
                  <a:stretch>
                    <a:fillRect/>
                  </a:stretch>
                </a:blipFill>
                <a:ln w="9525">
                  <a:solidFill>
                    <a:srgbClr val="FF0000"/>
                  </a:solidFill>
                  <a:miter lim="800000"/>
                  <a:headEnd/>
                  <a:tailEnd/>
                </a:ln>
              </p:spPr>
              <p:txBody>
                <a:bodyPr/>
                <a:lstStyle/>
                <a:p>
                  <a:r>
                    <a:rPr lang="en-US">
                      <a:noFill/>
                    </a:rPr>
                    <a:t> </a:t>
                  </a:r>
                </a:p>
              </p:txBody>
            </p:sp>
          </mc:Fallback>
        </mc:AlternateContent>
        <p:cxnSp>
          <p:nvCxnSpPr>
            <p:cNvPr id="65" name="Straight Connector 64"/>
            <p:cNvCxnSpPr>
              <a:stCxn id="44" idx="2"/>
              <a:endCxn id="47" idx="0"/>
            </p:cNvCxnSpPr>
            <p:nvPr/>
          </p:nvCxnSpPr>
          <p:spPr>
            <a:xfrm flipH="1">
              <a:off x="3357354" y="2590800"/>
              <a:ext cx="1690896" cy="43745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a:stCxn id="44" idx="2"/>
              <a:endCxn id="48" idx="0"/>
            </p:cNvCxnSpPr>
            <p:nvPr/>
          </p:nvCxnSpPr>
          <p:spPr>
            <a:xfrm>
              <a:off x="5048250" y="2590800"/>
              <a:ext cx="1600200" cy="43745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a:stCxn id="47" idx="2"/>
              <a:endCxn id="49" idx="0"/>
            </p:cNvCxnSpPr>
            <p:nvPr/>
          </p:nvCxnSpPr>
          <p:spPr>
            <a:xfrm flipH="1">
              <a:off x="2240630" y="3485452"/>
              <a:ext cx="1116724"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a:stCxn id="47" idx="2"/>
              <a:endCxn id="50" idx="0"/>
            </p:cNvCxnSpPr>
            <p:nvPr/>
          </p:nvCxnSpPr>
          <p:spPr>
            <a:xfrm>
              <a:off x="3357354" y="3485452"/>
              <a:ext cx="624096"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a:stCxn id="48" idx="2"/>
              <a:endCxn id="51" idx="0"/>
            </p:cNvCxnSpPr>
            <p:nvPr/>
          </p:nvCxnSpPr>
          <p:spPr>
            <a:xfrm flipH="1">
              <a:off x="5848350" y="3485452"/>
              <a:ext cx="800100" cy="34692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a:stCxn id="48" idx="2"/>
              <a:endCxn id="52" idx="0"/>
            </p:cNvCxnSpPr>
            <p:nvPr/>
          </p:nvCxnSpPr>
          <p:spPr>
            <a:xfrm>
              <a:off x="6648450" y="3485452"/>
              <a:ext cx="762000"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7486650" y="4291526"/>
              <a:ext cx="499546" cy="339268"/>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52" idx="2"/>
            </p:cNvCxnSpPr>
            <p:nvPr/>
          </p:nvCxnSpPr>
          <p:spPr>
            <a:xfrm flipH="1">
              <a:off x="7143432" y="4291526"/>
              <a:ext cx="267019" cy="339268"/>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51" idx="2"/>
            </p:cNvCxnSpPr>
            <p:nvPr/>
          </p:nvCxnSpPr>
          <p:spPr>
            <a:xfrm>
              <a:off x="5848351" y="4289576"/>
              <a:ext cx="499545" cy="32045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51" idx="2"/>
            </p:cNvCxnSpPr>
            <p:nvPr/>
          </p:nvCxnSpPr>
          <p:spPr>
            <a:xfrm flipH="1">
              <a:off x="5581332" y="4289576"/>
              <a:ext cx="267019" cy="32045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a:stCxn id="50" idx="2"/>
            </p:cNvCxnSpPr>
            <p:nvPr/>
          </p:nvCxnSpPr>
          <p:spPr>
            <a:xfrm>
              <a:off x="3981450" y="4291526"/>
              <a:ext cx="526860" cy="3133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a:stCxn id="50" idx="2"/>
            </p:cNvCxnSpPr>
            <p:nvPr/>
          </p:nvCxnSpPr>
          <p:spPr>
            <a:xfrm flipH="1">
              <a:off x="3741748" y="4291526"/>
              <a:ext cx="239703" cy="3133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a:stCxn id="49" idx="2"/>
            </p:cNvCxnSpPr>
            <p:nvPr/>
          </p:nvCxnSpPr>
          <p:spPr>
            <a:xfrm>
              <a:off x="2240631" y="4291527"/>
              <a:ext cx="474963" cy="308485"/>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a:stCxn id="49" idx="2"/>
            </p:cNvCxnSpPr>
            <p:nvPr/>
          </p:nvCxnSpPr>
          <p:spPr>
            <a:xfrm flipH="1">
              <a:off x="1949032" y="4291527"/>
              <a:ext cx="291599" cy="308485"/>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4" name="TextBox 63"/>
                <p:cNvSpPr txBox="1"/>
                <p:nvPr/>
              </p:nvSpPr>
              <p:spPr>
                <a:xfrm>
                  <a:off x="5668215" y="1992868"/>
                  <a:ext cx="48192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solidFill>
                                  <a:srgbClr val="0070C0"/>
                                </a:solidFill>
                                <a:latin typeface="Cambria Math" panose="02040503050406030204" pitchFamily="18" charset="0"/>
                              </a:rPr>
                            </m:ctrlPr>
                          </m:sSupPr>
                          <m:e>
                            <m:r>
                              <a:rPr lang="en-US" b="0" i="1" smtClean="0">
                                <a:solidFill>
                                  <a:srgbClr val="0070C0"/>
                                </a:solidFill>
                                <a:latin typeface="Cambria Math" panose="02040503050406030204" pitchFamily="18" charset="0"/>
                              </a:rPr>
                              <m:t>𝑛</m:t>
                            </m:r>
                          </m:e>
                          <m:sup>
                            <m:r>
                              <a:rPr lang="en-US" b="0" i="1" smtClean="0">
                                <a:solidFill>
                                  <a:srgbClr val="0070C0"/>
                                </a:solidFill>
                                <a:latin typeface="Cambria Math" panose="02040503050406030204" pitchFamily="18" charset="0"/>
                              </a:rPr>
                              <m:t>2</m:t>
                            </m:r>
                          </m:sup>
                        </m:sSup>
                      </m:oMath>
                    </m:oMathPara>
                  </a14:m>
                  <a:endParaRPr lang="en-US" dirty="0">
                    <a:solidFill>
                      <a:srgbClr val="0070C0"/>
                    </a:solidFill>
                  </a:endParaRPr>
                </a:p>
              </p:txBody>
            </p:sp>
          </mc:Choice>
          <mc:Fallback xmlns="">
            <p:sp>
              <p:nvSpPr>
                <p:cNvPr id="64" name="TextBox 63"/>
                <p:cNvSpPr txBox="1">
                  <a:spLocks noRot="1" noChangeAspect="1" noMove="1" noResize="1" noEditPoints="1" noAdjustHandles="1" noChangeArrowheads="1" noChangeShapeType="1" noTextEdit="1"/>
                </p:cNvSpPr>
                <p:nvPr/>
              </p:nvSpPr>
              <p:spPr>
                <a:xfrm>
                  <a:off x="5668215" y="1992868"/>
                  <a:ext cx="481927" cy="369332"/>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TextBox 65"/>
                <p:cNvSpPr txBox="1"/>
                <p:nvPr/>
              </p:nvSpPr>
              <p:spPr>
                <a:xfrm>
                  <a:off x="3962400" y="2940302"/>
                  <a:ext cx="481927"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sSup>
                              <m:sSupPr>
                                <m:ctrlPr>
                                  <a:rPr lang="en-US" b="0" i="1" smtClean="0">
                                    <a:solidFill>
                                      <a:srgbClr val="0070C0"/>
                                    </a:solidFill>
                                    <a:latin typeface="Cambria Math" panose="02040503050406030204" pitchFamily="18" charset="0"/>
                                  </a:rPr>
                                </m:ctrlPr>
                              </m:sSupPr>
                              <m:e>
                                <m:r>
                                  <a:rPr lang="en-US" b="0" i="1" smtClean="0">
                                    <a:solidFill>
                                      <a:srgbClr val="0070C0"/>
                                    </a:solidFill>
                                    <a:latin typeface="Cambria Math" panose="02040503050406030204" pitchFamily="18" charset="0"/>
                                  </a:rPr>
                                  <m:t>𝑛</m:t>
                                </m:r>
                              </m:e>
                              <m:sup>
                                <m:r>
                                  <a:rPr lang="en-US" b="0" i="1" smtClean="0">
                                    <a:solidFill>
                                      <a:srgbClr val="0070C0"/>
                                    </a:solidFill>
                                    <a:latin typeface="Cambria Math" panose="02040503050406030204" pitchFamily="18" charset="0"/>
                                  </a:rPr>
                                  <m:t>2</m:t>
                                </m:r>
                              </m:sup>
                            </m:sSup>
                          </m:num>
                          <m:den>
                            <m:r>
                              <a:rPr lang="en-US" b="0" i="1" smtClean="0">
                                <a:solidFill>
                                  <a:srgbClr val="0070C0"/>
                                </a:solidFill>
                                <a:latin typeface="Cambria Math" panose="02040503050406030204" pitchFamily="18" charset="0"/>
                              </a:rPr>
                              <m:t>4</m:t>
                            </m:r>
                          </m:den>
                        </m:f>
                      </m:oMath>
                    </m:oMathPara>
                  </a14:m>
                  <a:endParaRPr lang="en-US" dirty="0">
                    <a:solidFill>
                      <a:srgbClr val="0070C0"/>
                    </a:solidFill>
                  </a:endParaRPr>
                </a:p>
              </p:txBody>
            </p:sp>
          </mc:Choice>
          <mc:Fallback xmlns="">
            <p:sp>
              <p:nvSpPr>
                <p:cNvPr id="66" name="TextBox 65"/>
                <p:cNvSpPr txBox="1">
                  <a:spLocks noRot="1" noChangeAspect="1" noMove="1" noResize="1" noEditPoints="1" noAdjustHandles="1" noChangeArrowheads="1" noChangeShapeType="1" noTextEdit="1"/>
                </p:cNvSpPr>
                <p:nvPr/>
              </p:nvSpPr>
              <p:spPr>
                <a:xfrm>
                  <a:off x="3962400" y="2940302"/>
                  <a:ext cx="481927" cy="646331"/>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TextBox 66"/>
                <p:cNvSpPr txBox="1"/>
                <p:nvPr/>
              </p:nvSpPr>
              <p:spPr>
                <a:xfrm>
                  <a:off x="7246374" y="2974403"/>
                  <a:ext cx="481927"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sSup>
                              <m:sSupPr>
                                <m:ctrlPr>
                                  <a:rPr lang="en-US" b="0" i="1" smtClean="0">
                                    <a:solidFill>
                                      <a:srgbClr val="0070C0"/>
                                    </a:solidFill>
                                    <a:latin typeface="Cambria Math" panose="02040503050406030204" pitchFamily="18" charset="0"/>
                                  </a:rPr>
                                </m:ctrlPr>
                              </m:sSupPr>
                              <m:e>
                                <m:r>
                                  <a:rPr lang="en-US" b="0" i="1" smtClean="0">
                                    <a:solidFill>
                                      <a:srgbClr val="0070C0"/>
                                    </a:solidFill>
                                    <a:latin typeface="Cambria Math" panose="02040503050406030204" pitchFamily="18" charset="0"/>
                                  </a:rPr>
                                  <m:t>𝑛</m:t>
                                </m:r>
                              </m:e>
                              <m:sup>
                                <m:r>
                                  <a:rPr lang="en-US" b="0" i="1" smtClean="0">
                                    <a:solidFill>
                                      <a:srgbClr val="0070C0"/>
                                    </a:solidFill>
                                    <a:latin typeface="Cambria Math" panose="02040503050406030204" pitchFamily="18" charset="0"/>
                                  </a:rPr>
                                  <m:t>2</m:t>
                                </m:r>
                              </m:sup>
                            </m:sSup>
                          </m:num>
                          <m:den>
                            <m:r>
                              <a:rPr lang="en-US" b="0" i="1" smtClean="0">
                                <a:solidFill>
                                  <a:srgbClr val="0070C0"/>
                                </a:solidFill>
                                <a:latin typeface="Cambria Math" panose="02040503050406030204" pitchFamily="18" charset="0"/>
                              </a:rPr>
                              <m:t>4</m:t>
                            </m:r>
                          </m:den>
                        </m:f>
                      </m:oMath>
                    </m:oMathPara>
                  </a14:m>
                  <a:endParaRPr lang="en-US" dirty="0">
                    <a:solidFill>
                      <a:srgbClr val="0070C0"/>
                    </a:solidFill>
                  </a:endParaRPr>
                </a:p>
              </p:txBody>
            </p:sp>
          </mc:Choice>
          <mc:Fallback xmlns="">
            <p:sp>
              <p:nvSpPr>
                <p:cNvPr id="67" name="TextBox 66"/>
                <p:cNvSpPr txBox="1">
                  <a:spLocks noRot="1" noChangeAspect="1" noMove="1" noResize="1" noEditPoints="1" noAdjustHandles="1" noChangeArrowheads="1" noChangeShapeType="1" noTextEdit="1"/>
                </p:cNvSpPr>
                <p:nvPr/>
              </p:nvSpPr>
              <p:spPr>
                <a:xfrm>
                  <a:off x="7246374" y="2974403"/>
                  <a:ext cx="481927" cy="646331"/>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p:cNvSpPr txBox="1"/>
                <p:nvPr/>
              </p:nvSpPr>
              <p:spPr>
                <a:xfrm>
                  <a:off x="2819400" y="3778527"/>
                  <a:ext cx="494046" cy="64812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sSup>
                              <m:sSupPr>
                                <m:ctrlPr>
                                  <a:rPr lang="en-US" b="0" i="1" smtClean="0">
                                    <a:solidFill>
                                      <a:srgbClr val="0070C0"/>
                                    </a:solidFill>
                                    <a:latin typeface="Cambria Math" panose="02040503050406030204" pitchFamily="18" charset="0"/>
                                  </a:rPr>
                                </m:ctrlPr>
                              </m:sSupPr>
                              <m:e>
                                <m:r>
                                  <a:rPr lang="en-US" b="0" i="1" smtClean="0">
                                    <a:solidFill>
                                      <a:srgbClr val="0070C0"/>
                                    </a:solidFill>
                                    <a:latin typeface="Cambria Math" panose="02040503050406030204" pitchFamily="18" charset="0"/>
                                  </a:rPr>
                                  <m:t>𝑛</m:t>
                                </m:r>
                              </m:e>
                              <m:sup>
                                <m:r>
                                  <a:rPr lang="en-US" b="0" i="1" smtClean="0">
                                    <a:solidFill>
                                      <a:srgbClr val="0070C0"/>
                                    </a:solidFill>
                                    <a:latin typeface="Cambria Math" panose="02040503050406030204" pitchFamily="18" charset="0"/>
                                  </a:rPr>
                                  <m:t>2</m:t>
                                </m:r>
                              </m:sup>
                            </m:sSup>
                          </m:num>
                          <m:den>
                            <m:r>
                              <a:rPr lang="en-US" b="0" i="1" smtClean="0">
                                <a:solidFill>
                                  <a:srgbClr val="0070C0"/>
                                </a:solidFill>
                                <a:latin typeface="Cambria Math" panose="02040503050406030204" pitchFamily="18" charset="0"/>
                              </a:rPr>
                              <m:t>16</m:t>
                            </m:r>
                          </m:den>
                        </m:f>
                      </m:oMath>
                    </m:oMathPara>
                  </a14:m>
                  <a:endParaRPr lang="en-US" dirty="0">
                    <a:solidFill>
                      <a:srgbClr val="0070C0"/>
                    </a:solidFill>
                  </a:endParaRPr>
                </a:p>
              </p:txBody>
            </p:sp>
          </mc:Choice>
          <mc:Fallback xmlns="">
            <p:sp>
              <p:nvSpPr>
                <p:cNvPr id="68" name="TextBox 67"/>
                <p:cNvSpPr txBox="1">
                  <a:spLocks noRot="1" noChangeAspect="1" noMove="1" noResize="1" noEditPoints="1" noAdjustHandles="1" noChangeArrowheads="1" noChangeShapeType="1" noTextEdit="1"/>
                </p:cNvSpPr>
                <p:nvPr/>
              </p:nvSpPr>
              <p:spPr>
                <a:xfrm>
                  <a:off x="2819400" y="3778527"/>
                  <a:ext cx="494046" cy="648126"/>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p:cNvSpPr txBox="1"/>
                <p:nvPr/>
              </p:nvSpPr>
              <p:spPr>
                <a:xfrm>
                  <a:off x="4639597" y="3774093"/>
                  <a:ext cx="494046" cy="64812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sSup>
                              <m:sSupPr>
                                <m:ctrlPr>
                                  <a:rPr lang="en-US" b="0" i="1" smtClean="0">
                                    <a:solidFill>
                                      <a:srgbClr val="0070C0"/>
                                    </a:solidFill>
                                    <a:latin typeface="Cambria Math" panose="02040503050406030204" pitchFamily="18" charset="0"/>
                                  </a:rPr>
                                </m:ctrlPr>
                              </m:sSupPr>
                              <m:e>
                                <m:r>
                                  <a:rPr lang="en-US" b="0" i="1" smtClean="0">
                                    <a:solidFill>
                                      <a:srgbClr val="0070C0"/>
                                    </a:solidFill>
                                    <a:latin typeface="Cambria Math" panose="02040503050406030204" pitchFamily="18" charset="0"/>
                                  </a:rPr>
                                  <m:t>𝑛</m:t>
                                </m:r>
                              </m:e>
                              <m:sup>
                                <m:r>
                                  <a:rPr lang="en-US" b="0" i="1" smtClean="0">
                                    <a:solidFill>
                                      <a:srgbClr val="0070C0"/>
                                    </a:solidFill>
                                    <a:latin typeface="Cambria Math" panose="02040503050406030204" pitchFamily="18" charset="0"/>
                                  </a:rPr>
                                  <m:t>2</m:t>
                                </m:r>
                              </m:sup>
                            </m:sSup>
                          </m:num>
                          <m:den>
                            <m:r>
                              <a:rPr lang="en-US" b="0" i="1" smtClean="0">
                                <a:solidFill>
                                  <a:srgbClr val="0070C0"/>
                                </a:solidFill>
                                <a:latin typeface="Cambria Math" panose="02040503050406030204" pitchFamily="18" charset="0"/>
                              </a:rPr>
                              <m:t>16</m:t>
                            </m:r>
                          </m:den>
                        </m:f>
                      </m:oMath>
                    </m:oMathPara>
                  </a14:m>
                  <a:endParaRPr lang="en-US" dirty="0">
                    <a:solidFill>
                      <a:srgbClr val="0070C0"/>
                    </a:solidFill>
                  </a:endParaRPr>
                </a:p>
              </p:txBody>
            </p:sp>
          </mc:Choice>
          <mc:Fallback xmlns="">
            <p:sp>
              <p:nvSpPr>
                <p:cNvPr id="70" name="TextBox 69"/>
                <p:cNvSpPr txBox="1">
                  <a:spLocks noRot="1" noChangeAspect="1" noMove="1" noResize="1" noEditPoints="1" noAdjustHandles="1" noChangeArrowheads="1" noChangeShapeType="1" noTextEdit="1"/>
                </p:cNvSpPr>
                <p:nvPr/>
              </p:nvSpPr>
              <p:spPr>
                <a:xfrm>
                  <a:off x="4639597" y="3774093"/>
                  <a:ext cx="494046" cy="648126"/>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p:cNvSpPr txBox="1"/>
                <p:nvPr/>
              </p:nvSpPr>
              <p:spPr>
                <a:xfrm>
                  <a:off x="6432433" y="3783622"/>
                  <a:ext cx="494046" cy="64812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sSup>
                              <m:sSupPr>
                                <m:ctrlPr>
                                  <a:rPr lang="en-US" b="0" i="1" smtClean="0">
                                    <a:solidFill>
                                      <a:srgbClr val="0070C0"/>
                                    </a:solidFill>
                                    <a:latin typeface="Cambria Math" panose="02040503050406030204" pitchFamily="18" charset="0"/>
                                  </a:rPr>
                                </m:ctrlPr>
                              </m:sSupPr>
                              <m:e>
                                <m:r>
                                  <a:rPr lang="en-US" b="0" i="1" smtClean="0">
                                    <a:solidFill>
                                      <a:srgbClr val="0070C0"/>
                                    </a:solidFill>
                                    <a:latin typeface="Cambria Math" panose="02040503050406030204" pitchFamily="18" charset="0"/>
                                  </a:rPr>
                                  <m:t>𝑛</m:t>
                                </m:r>
                              </m:e>
                              <m:sup>
                                <m:r>
                                  <a:rPr lang="en-US" b="0" i="1" smtClean="0">
                                    <a:solidFill>
                                      <a:srgbClr val="0070C0"/>
                                    </a:solidFill>
                                    <a:latin typeface="Cambria Math" panose="02040503050406030204" pitchFamily="18" charset="0"/>
                                  </a:rPr>
                                  <m:t>2</m:t>
                                </m:r>
                              </m:sup>
                            </m:sSup>
                          </m:num>
                          <m:den>
                            <m:r>
                              <a:rPr lang="en-US" b="0" i="1" smtClean="0">
                                <a:solidFill>
                                  <a:srgbClr val="0070C0"/>
                                </a:solidFill>
                                <a:latin typeface="Cambria Math" panose="02040503050406030204" pitchFamily="18" charset="0"/>
                              </a:rPr>
                              <m:t>16</m:t>
                            </m:r>
                          </m:den>
                        </m:f>
                      </m:oMath>
                    </m:oMathPara>
                  </a14:m>
                  <a:endParaRPr lang="en-US" b="0" dirty="0">
                    <a:solidFill>
                      <a:srgbClr val="0070C0"/>
                    </a:solidFill>
                  </a:endParaRPr>
                </a:p>
              </p:txBody>
            </p:sp>
          </mc:Choice>
          <mc:Fallback xmlns="">
            <p:sp>
              <p:nvSpPr>
                <p:cNvPr id="71" name="TextBox 70"/>
                <p:cNvSpPr txBox="1">
                  <a:spLocks noRot="1" noChangeAspect="1" noMove="1" noResize="1" noEditPoints="1" noAdjustHandles="1" noChangeArrowheads="1" noChangeShapeType="1" noTextEdit="1"/>
                </p:cNvSpPr>
                <p:nvPr/>
              </p:nvSpPr>
              <p:spPr>
                <a:xfrm>
                  <a:off x="6432433" y="3783622"/>
                  <a:ext cx="494046" cy="648126"/>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p:cNvSpPr txBox="1"/>
                <p:nvPr/>
              </p:nvSpPr>
              <p:spPr>
                <a:xfrm>
                  <a:off x="8001000" y="3779188"/>
                  <a:ext cx="494045" cy="64812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sSup>
                              <m:sSupPr>
                                <m:ctrlPr>
                                  <a:rPr lang="en-US" b="0" i="1" smtClean="0">
                                    <a:solidFill>
                                      <a:srgbClr val="0070C0"/>
                                    </a:solidFill>
                                    <a:latin typeface="Cambria Math" panose="02040503050406030204" pitchFamily="18" charset="0"/>
                                  </a:rPr>
                                </m:ctrlPr>
                              </m:sSupPr>
                              <m:e>
                                <m:r>
                                  <a:rPr lang="en-US" b="0" i="1" smtClean="0">
                                    <a:solidFill>
                                      <a:srgbClr val="0070C0"/>
                                    </a:solidFill>
                                    <a:latin typeface="Cambria Math" panose="02040503050406030204" pitchFamily="18" charset="0"/>
                                  </a:rPr>
                                  <m:t>𝑛</m:t>
                                </m:r>
                              </m:e>
                              <m:sup>
                                <m:r>
                                  <a:rPr lang="en-US" b="0" i="1" smtClean="0">
                                    <a:solidFill>
                                      <a:srgbClr val="0070C0"/>
                                    </a:solidFill>
                                    <a:latin typeface="Cambria Math" panose="02040503050406030204" pitchFamily="18" charset="0"/>
                                  </a:rPr>
                                  <m:t>2</m:t>
                                </m:r>
                              </m:sup>
                            </m:sSup>
                          </m:num>
                          <m:den>
                            <m:r>
                              <a:rPr lang="en-US" b="0" i="1" smtClean="0">
                                <a:solidFill>
                                  <a:srgbClr val="0070C0"/>
                                </a:solidFill>
                                <a:latin typeface="Cambria Math" panose="02040503050406030204" pitchFamily="18" charset="0"/>
                              </a:rPr>
                              <m:t>16</m:t>
                            </m:r>
                          </m:den>
                        </m:f>
                      </m:oMath>
                    </m:oMathPara>
                  </a14:m>
                  <a:endParaRPr lang="en-US" dirty="0">
                    <a:solidFill>
                      <a:srgbClr val="0070C0"/>
                    </a:solidFill>
                  </a:endParaRPr>
                </a:p>
              </p:txBody>
            </p:sp>
          </mc:Choice>
          <mc:Fallback xmlns="">
            <p:sp>
              <p:nvSpPr>
                <p:cNvPr id="72" name="TextBox 71"/>
                <p:cNvSpPr txBox="1">
                  <a:spLocks noRot="1" noChangeAspect="1" noMove="1" noResize="1" noEditPoints="1" noAdjustHandles="1" noChangeArrowheads="1" noChangeShapeType="1" noTextEdit="1"/>
                </p:cNvSpPr>
                <p:nvPr/>
              </p:nvSpPr>
              <p:spPr>
                <a:xfrm>
                  <a:off x="8001000" y="3779188"/>
                  <a:ext cx="494045" cy="648126"/>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p:cNvSpPr txBox="1"/>
                <p:nvPr/>
              </p:nvSpPr>
              <p:spPr>
                <a:xfrm>
                  <a:off x="1905000"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4" name="TextBox 73"/>
                <p:cNvSpPr txBox="1">
                  <a:spLocks noRot="1" noChangeAspect="1" noMove="1" noResize="1" noEditPoints="1" noAdjustHandles="1" noChangeArrowheads="1" noChangeShapeType="1" noTextEdit="1"/>
                </p:cNvSpPr>
                <p:nvPr/>
              </p:nvSpPr>
              <p:spPr>
                <a:xfrm>
                  <a:off x="1905000" y="5105400"/>
                  <a:ext cx="365806"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Box 74"/>
                <p:cNvSpPr txBox="1"/>
                <p:nvPr/>
              </p:nvSpPr>
              <p:spPr>
                <a:xfrm>
                  <a:off x="2907380"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5" name="TextBox 74"/>
                <p:cNvSpPr txBox="1">
                  <a:spLocks noRot="1" noChangeAspect="1" noMove="1" noResize="1" noEditPoints="1" noAdjustHandles="1" noChangeArrowheads="1" noChangeShapeType="1" noTextEdit="1"/>
                </p:cNvSpPr>
                <p:nvPr/>
              </p:nvSpPr>
              <p:spPr>
                <a:xfrm>
                  <a:off x="2907380" y="5105400"/>
                  <a:ext cx="365806" cy="369332"/>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p:cNvSpPr txBox="1"/>
                <p:nvPr/>
              </p:nvSpPr>
              <p:spPr>
                <a:xfrm>
                  <a:off x="3821292"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7" name="TextBox 76"/>
                <p:cNvSpPr txBox="1">
                  <a:spLocks noRot="1" noChangeAspect="1" noMove="1" noResize="1" noEditPoints="1" noAdjustHandles="1" noChangeArrowheads="1" noChangeShapeType="1" noTextEdit="1"/>
                </p:cNvSpPr>
                <p:nvPr/>
              </p:nvSpPr>
              <p:spPr>
                <a:xfrm>
                  <a:off x="3821292" y="5105400"/>
                  <a:ext cx="365806"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p:cNvSpPr txBox="1"/>
                <p:nvPr/>
              </p:nvSpPr>
              <p:spPr>
                <a:xfrm>
                  <a:off x="59587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8" name="TextBox 77"/>
                <p:cNvSpPr txBox="1">
                  <a:spLocks noRot="1" noChangeAspect="1" noMove="1" noResize="1" noEditPoints="1" noAdjustHandles="1" noChangeArrowheads="1" noChangeShapeType="1" noTextEdit="1"/>
                </p:cNvSpPr>
                <p:nvPr/>
              </p:nvSpPr>
              <p:spPr>
                <a:xfrm>
                  <a:off x="5958794" y="5117390"/>
                  <a:ext cx="365806" cy="369332"/>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p:cNvSpPr txBox="1"/>
                <p:nvPr/>
              </p:nvSpPr>
              <p:spPr>
                <a:xfrm>
                  <a:off x="69493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80" name="TextBox 79"/>
                <p:cNvSpPr txBox="1">
                  <a:spLocks noRot="1" noChangeAspect="1" noMove="1" noResize="1" noEditPoints="1" noAdjustHandles="1" noChangeArrowheads="1" noChangeShapeType="1" noTextEdit="1"/>
                </p:cNvSpPr>
                <p:nvPr/>
              </p:nvSpPr>
              <p:spPr>
                <a:xfrm>
                  <a:off x="6949394" y="5117390"/>
                  <a:ext cx="365806" cy="369332"/>
                </a:xfrm>
                <a:prstGeom prst="rect">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Box 80"/>
                <p:cNvSpPr txBox="1"/>
                <p:nvPr/>
              </p:nvSpPr>
              <p:spPr>
                <a:xfrm>
                  <a:off x="78637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81" name="TextBox 80"/>
                <p:cNvSpPr txBox="1">
                  <a:spLocks noRot="1" noChangeAspect="1" noMove="1" noResize="1" noEditPoints="1" noAdjustHandles="1" noChangeArrowheads="1" noChangeShapeType="1" noTextEdit="1"/>
                </p:cNvSpPr>
                <p:nvPr/>
              </p:nvSpPr>
              <p:spPr>
                <a:xfrm>
                  <a:off x="7863794" y="5117390"/>
                  <a:ext cx="365806" cy="369332"/>
                </a:xfrm>
                <a:prstGeom prst="rect">
                  <a:avLst/>
                </a:prstGeom>
                <a:blipFill>
                  <a:blip r:embed="rId27"/>
                  <a:stretch>
                    <a:fillRect/>
                  </a:stretch>
                </a:blipFill>
              </p:spPr>
              <p:txBody>
                <a:bodyPr/>
                <a:lstStyle/>
                <a:p>
                  <a:r>
                    <a:rPr lang="en-US">
                      <a:noFill/>
                    </a:rPr>
                    <a:t> </a:t>
                  </a:r>
                </a:p>
              </p:txBody>
            </p:sp>
          </mc:Fallback>
        </mc:AlternateContent>
      </p:grpSp>
      <p:sp>
        <p:nvSpPr>
          <p:cNvPr id="42" name="Left Brace 41" descr="Because we need to make log_2(n) recursive calls before reaching a base case, the height of this chain of stackframes is log_2(n)."/>
          <p:cNvSpPr/>
          <p:nvPr/>
        </p:nvSpPr>
        <p:spPr>
          <a:xfrm flipH="1" flipV="1">
            <a:off x="8703289" y="2133600"/>
            <a:ext cx="250372" cy="3553177"/>
          </a:xfrm>
          <a:prstGeom prst="leftBrace">
            <a:avLst>
              <a:gd name="adj1" fmla="val 83199"/>
              <a:gd name="adj2" fmla="val 49631"/>
            </a:avLst>
          </a:prstGeom>
          <a:ln w="19050">
            <a:solidFill>
              <a:srgbClr val="FF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41" name="Text Box 2"/>
              <p:cNvSpPr txBox="1">
                <a:spLocks noChangeArrowheads="1"/>
              </p:cNvSpPr>
              <p:nvPr/>
            </p:nvSpPr>
            <p:spPr bwMode="auto">
              <a:xfrm>
                <a:off x="8575924" y="2051914"/>
                <a:ext cx="3733827" cy="505395"/>
              </a:xfrm>
              <a:prstGeom prst="rect">
                <a:avLst/>
              </a:prstGeom>
              <a:noFill/>
              <a:ln w="9525">
                <a:noFill/>
                <a:miter lim="800000"/>
                <a:headEnd/>
                <a:tailEnd/>
              </a:ln>
            </p:spPr>
            <p:txBody>
              <a:bodyPr wrap="square">
                <a:spAutoFit/>
              </a:bodyPr>
              <a:lstStyle/>
              <a:p>
                <a:pPr algn="ctr"/>
                <a:r>
                  <a:rPr lang="en-US" sz="2600" dirty="0">
                    <a:latin typeface="Symbol" pitchFamily="18" charset="2"/>
                  </a:rPr>
                  <a:t>Þ </a:t>
                </a:r>
                <a14:m>
                  <m:oMath xmlns:m="http://schemas.openxmlformats.org/officeDocument/2006/math">
                    <m:r>
                      <a:rPr lang="en-US" sz="2600" b="0" i="1" smtClean="0">
                        <a:solidFill>
                          <a:srgbClr val="0070C0"/>
                        </a:solidFill>
                        <a:latin typeface="Cambria Math" panose="02040503050406030204" pitchFamily="18" charset="0"/>
                      </a:rPr>
                      <m:t>??</m:t>
                    </m:r>
                  </m:oMath>
                </a14:m>
                <a:r>
                  <a:rPr lang="en-US" sz="2600" dirty="0">
                    <a:solidFill>
                      <a:srgbClr val="FF0000"/>
                    </a:solidFill>
                  </a:rPr>
                  <a:t> </a:t>
                </a:r>
                <a:r>
                  <a:rPr lang="en-US" sz="2600" dirty="0"/>
                  <a:t>work per level</a:t>
                </a:r>
              </a:p>
            </p:txBody>
          </p:sp>
        </mc:Choice>
        <mc:Fallback xmlns="">
          <p:sp>
            <p:nvSpPr>
              <p:cNvPr id="41" name="Text Box 2"/>
              <p:cNvSpPr txBox="1">
                <a:spLocks noRot="1" noChangeAspect="1" noMove="1" noResize="1" noEditPoints="1" noAdjustHandles="1" noChangeArrowheads="1" noChangeShapeType="1" noTextEdit="1"/>
              </p:cNvSpPr>
              <p:nvPr/>
            </p:nvSpPr>
            <p:spPr bwMode="auto">
              <a:xfrm>
                <a:off x="8575924" y="2051914"/>
                <a:ext cx="3733827" cy="505395"/>
              </a:xfrm>
              <a:prstGeom prst="rect">
                <a:avLst/>
              </a:prstGeom>
              <a:blipFill>
                <a:blip r:embed="rId28"/>
                <a:stretch>
                  <a:fillRect t="-14458" b="-27711"/>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 Box 2"/>
              <p:cNvSpPr txBox="1">
                <a:spLocks noChangeArrowheads="1"/>
              </p:cNvSpPr>
              <p:nvPr/>
            </p:nvSpPr>
            <p:spPr bwMode="auto">
              <a:xfrm>
                <a:off x="8905773" y="3553400"/>
                <a:ext cx="2312388" cy="954107"/>
              </a:xfrm>
              <a:prstGeom prst="rect">
                <a:avLst/>
              </a:prstGeom>
              <a:noFill/>
              <a:ln w="9525">
                <a:noFill/>
                <a:miter lim="800000"/>
                <a:headEnd/>
                <a:tailEnd/>
              </a:ln>
            </p:spPr>
            <p:txBody>
              <a:bodyPr wrap="square">
                <a:spAutoFit/>
              </a:bodyPr>
              <a:lstStyle/>
              <a:p>
                <a:pPr algn="ctr"/>
                <a14:m>
                  <m:oMath xmlns:m="http://schemas.openxmlformats.org/officeDocument/2006/math">
                    <m:sSub>
                      <m:sSubPr>
                        <m:ctrlPr>
                          <a:rPr lang="en-US" sz="2800" i="1" dirty="0">
                            <a:solidFill>
                              <a:srgbClr val="FF00FF"/>
                            </a:solidFill>
                            <a:latin typeface="Cambria Math" panose="02040503050406030204" pitchFamily="18" charset="0"/>
                          </a:rPr>
                        </m:ctrlPr>
                      </m:sSubPr>
                      <m:e>
                        <m:r>
                          <m:rPr>
                            <m:sty m:val="p"/>
                          </m:rPr>
                          <a:rPr lang="en-US" sz="2800" dirty="0">
                            <a:solidFill>
                              <a:srgbClr val="FF00FF"/>
                            </a:solidFill>
                            <a:latin typeface="Cambria Math"/>
                          </a:rPr>
                          <m:t>log</m:t>
                        </m:r>
                      </m:e>
                      <m:sub>
                        <m:r>
                          <a:rPr lang="en-US" sz="2800" i="1" dirty="0">
                            <a:solidFill>
                              <a:srgbClr val="FF00FF"/>
                            </a:solidFill>
                            <a:latin typeface="Cambria Math"/>
                          </a:rPr>
                          <m:t>2</m:t>
                        </m:r>
                      </m:sub>
                    </m:sSub>
                    <m:r>
                      <a:rPr lang="en-US" sz="2800" i="1" dirty="0">
                        <a:solidFill>
                          <a:srgbClr val="FF00FF"/>
                        </a:solidFill>
                        <a:latin typeface="Cambria Math"/>
                      </a:rPr>
                      <m:t>⁡</m:t>
                    </m:r>
                    <m:r>
                      <a:rPr lang="en-US" sz="2800" i="1" dirty="0">
                        <a:solidFill>
                          <a:srgbClr val="FF00FF"/>
                        </a:solidFill>
                        <a:latin typeface="Cambria Math"/>
                      </a:rPr>
                      <m:t>𝑛</m:t>
                    </m:r>
                  </m:oMath>
                </a14:m>
                <a:r>
                  <a:rPr lang="en-US" sz="2800" dirty="0">
                    <a:solidFill>
                      <a:srgbClr val="FF00FF"/>
                    </a:solidFill>
                  </a:rPr>
                  <a:t> </a:t>
                </a:r>
                <a:r>
                  <a:rPr lang="en-US" sz="2800" dirty="0"/>
                  <a:t>levels</a:t>
                </a:r>
              </a:p>
              <a:p>
                <a:pPr algn="ctr"/>
                <a:r>
                  <a:rPr lang="en-US" sz="2800" dirty="0"/>
                  <a:t>of recursion</a:t>
                </a:r>
              </a:p>
            </p:txBody>
          </p:sp>
        </mc:Choice>
        <mc:Fallback xmlns="">
          <p:sp>
            <p:nvSpPr>
              <p:cNvPr id="43" name="Text Box 2"/>
              <p:cNvSpPr txBox="1">
                <a:spLocks noRot="1" noChangeAspect="1" noMove="1" noResize="1" noEditPoints="1" noAdjustHandles="1" noChangeArrowheads="1" noChangeShapeType="1" noTextEdit="1"/>
              </p:cNvSpPr>
              <p:nvPr/>
            </p:nvSpPr>
            <p:spPr bwMode="auto">
              <a:xfrm>
                <a:off x="8905773" y="3553400"/>
                <a:ext cx="2312388" cy="954107"/>
              </a:xfrm>
              <a:prstGeom prst="rect">
                <a:avLst/>
              </a:prstGeom>
              <a:blipFill>
                <a:blip r:embed="rId29"/>
                <a:stretch>
                  <a:fillRect t="-6410" b="-17949"/>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Rectangle 45"/>
              <p:cNvSpPr/>
              <p:nvPr/>
            </p:nvSpPr>
            <p:spPr>
              <a:xfrm>
                <a:off x="8419870" y="5302056"/>
                <a:ext cx="3641760" cy="1324080"/>
              </a:xfrm>
              <a:prstGeom prst="rect">
                <a:avLst/>
              </a:prstGeom>
            </p:spPr>
            <p:txBody>
              <a:bodyPr wrap="square">
                <a:spAutoFit/>
              </a:bodyPr>
              <a:lstStyle/>
              <a:p>
                <a:pPr lvl="1"/>
                <a14:m>
                  <m:oMathPara xmlns:m="http://schemas.openxmlformats.org/officeDocument/2006/math">
                    <m:oMathParaPr>
                      <m:jc m:val="centerGroup"/>
                    </m:oMathParaPr>
                    <m:oMath xmlns:m="http://schemas.openxmlformats.org/officeDocument/2006/math">
                      <m:r>
                        <a:rPr lang="en-US" sz="2800" i="1" smtClean="0">
                          <a:latin typeface="Cambria Math"/>
                        </a:rPr>
                        <m:t>𝑇</m:t>
                      </m:r>
                      <m:d>
                        <m:dPr>
                          <m:ctrlPr>
                            <a:rPr lang="en-US" sz="2800" i="1">
                              <a:latin typeface="Cambria Math" panose="02040503050406030204" pitchFamily="18" charset="0"/>
                            </a:rPr>
                          </m:ctrlPr>
                        </m:dPr>
                        <m:e>
                          <m:r>
                            <a:rPr lang="en-US" sz="2800" i="1">
                              <a:latin typeface="Cambria Math"/>
                            </a:rPr>
                            <m:t>𝑛</m:t>
                          </m:r>
                        </m:e>
                      </m:d>
                      <m:r>
                        <a:rPr lang="en-US" sz="2800" i="1">
                          <a:latin typeface="Cambria Math"/>
                        </a:rPr>
                        <m:t>=</m:t>
                      </m:r>
                      <m:nary>
                        <m:naryPr>
                          <m:chr m:val="∑"/>
                          <m:ctrlPr>
                            <a:rPr lang="en-US" sz="2800" i="1">
                              <a:latin typeface="Cambria Math" panose="02040503050406030204" pitchFamily="18" charset="0"/>
                            </a:rPr>
                          </m:ctrlPr>
                        </m:naryPr>
                        <m:sub>
                          <m:r>
                            <m:rPr>
                              <m:brk m:alnAt="23"/>
                            </m:rPr>
                            <a:rPr lang="en-US" sz="2800" i="1">
                              <a:latin typeface="Cambria Math"/>
                            </a:rPr>
                            <m:t>𝑖</m:t>
                          </m:r>
                          <m:r>
                            <a:rPr lang="en-US" sz="2800" i="1">
                              <a:latin typeface="Cambria Math"/>
                            </a:rPr>
                            <m:t>=</m:t>
                          </m:r>
                          <m:r>
                            <a:rPr lang="en-US" sz="2800" b="0" i="1" smtClean="0">
                              <a:latin typeface="Cambria Math" panose="02040503050406030204" pitchFamily="18" charset="0"/>
                            </a:rPr>
                            <m:t>0</m:t>
                          </m:r>
                        </m:sub>
                        <m:sup>
                          <m:func>
                            <m:funcPr>
                              <m:ctrlPr>
                                <a:rPr lang="en-US" sz="2800" i="1">
                                  <a:latin typeface="Cambria Math" panose="02040503050406030204" pitchFamily="18" charset="0"/>
                                </a:rPr>
                              </m:ctrlPr>
                            </m:funcPr>
                            <m:fName>
                              <m:sSub>
                                <m:sSubPr>
                                  <m:ctrlPr>
                                    <a:rPr lang="en-US" sz="2800" i="1">
                                      <a:latin typeface="Cambria Math" panose="02040503050406030204" pitchFamily="18" charset="0"/>
                                    </a:rPr>
                                  </m:ctrlPr>
                                </m:sSubPr>
                                <m:e>
                                  <m:r>
                                    <m:rPr>
                                      <m:sty m:val="p"/>
                                    </m:rPr>
                                    <a:rPr lang="en-US" sz="2800">
                                      <a:latin typeface="Cambria Math"/>
                                    </a:rPr>
                                    <m:t>log</m:t>
                                  </m:r>
                                </m:e>
                                <m:sub>
                                  <m:r>
                                    <a:rPr lang="en-US" sz="2800">
                                      <a:latin typeface="Cambria Math"/>
                                    </a:rPr>
                                    <m:t>2</m:t>
                                  </m:r>
                                </m:sub>
                              </m:sSub>
                            </m:fName>
                            <m:e>
                              <m:r>
                                <a:rPr lang="en-US" sz="2800" i="1">
                                  <a:latin typeface="Cambria Math"/>
                                </a:rPr>
                                <m:t>𝑛</m:t>
                              </m:r>
                            </m:e>
                          </m:func>
                        </m:sup>
                        <m:e>
                          <m:r>
                            <a:rPr lang="en-US" sz="2800" b="0" i="1" smtClean="0">
                              <a:latin typeface="Cambria Math" panose="02040503050406030204" pitchFamily="18" charset="0"/>
                            </a:rPr>
                            <m:t>??</m:t>
                          </m:r>
                        </m:e>
                      </m:nary>
                    </m:oMath>
                  </m:oMathPara>
                </a14:m>
                <a:endParaRPr lang="en-US" sz="2800" dirty="0"/>
              </a:p>
            </p:txBody>
          </p:sp>
        </mc:Choice>
        <mc:Fallback xmlns="">
          <p:sp>
            <p:nvSpPr>
              <p:cNvPr id="46" name="Rectangle 45"/>
              <p:cNvSpPr>
                <a:spLocks noRot="1" noChangeAspect="1" noMove="1" noResize="1" noEditPoints="1" noAdjustHandles="1" noChangeArrowheads="1" noChangeShapeType="1" noTextEdit="1"/>
              </p:cNvSpPr>
              <p:nvPr/>
            </p:nvSpPr>
            <p:spPr>
              <a:xfrm>
                <a:off x="8419870" y="5302056"/>
                <a:ext cx="3641760" cy="1324080"/>
              </a:xfrm>
              <a:prstGeom prst="rect">
                <a:avLst/>
              </a:prstGeom>
              <a:blipFill>
                <a:blip r:embed="rId30"/>
                <a:stretch>
                  <a:fillRect/>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1">
            <p14:nvContentPartPr>
              <p14:cNvPr id="6" name="Ink 5">
                <a:extLst>
                  <a:ext uri="{FF2B5EF4-FFF2-40B4-BE49-F238E27FC236}">
                    <a16:creationId xmlns:a16="http://schemas.microsoft.com/office/drawing/2014/main" id="{46F4EF0F-B92F-1A59-3BD5-E28C4AC34AD6}"/>
                  </a:ext>
                </a:extLst>
              </p14:cNvPr>
              <p14:cNvContentPartPr/>
              <p14:nvPr/>
            </p14:nvContentPartPr>
            <p14:xfrm>
              <a:off x="3895920" y="250920"/>
              <a:ext cx="6803280" cy="4314240"/>
            </p14:xfrm>
          </p:contentPart>
        </mc:Choice>
        <mc:Fallback>
          <p:pic>
            <p:nvPicPr>
              <p:cNvPr id="6" name="Ink 5">
                <a:extLst>
                  <a:ext uri="{FF2B5EF4-FFF2-40B4-BE49-F238E27FC236}">
                    <a16:creationId xmlns:a16="http://schemas.microsoft.com/office/drawing/2014/main" id="{46F4EF0F-B92F-1A59-3BD5-E28C4AC34AD6}"/>
                  </a:ext>
                </a:extLst>
              </p:cNvPr>
              <p:cNvPicPr/>
              <p:nvPr/>
            </p:nvPicPr>
            <p:blipFill>
              <a:blip r:embed="rId32"/>
              <a:stretch>
                <a:fillRect/>
              </a:stretch>
            </p:blipFill>
            <p:spPr>
              <a:xfrm>
                <a:off x="3886560" y="241560"/>
                <a:ext cx="6822000" cy="4332960"/>
              </a:xfrm>
              <a:prstGeom prst="rect">
                <a:avLst/>
              </a:prstGeom>
            </p:spPr>
          </p:pic>
        </mc:Fallback>
      </mc:AlternateContent>
    </p:spTree>
    <p:extLst>
      <p:ext uri="{BB962C8B-B14F-4D97-AF65-F5344CB8AC3E}">
        <p14:creationId xmlns:p14="http://schemas.microsoft.com/office/powerpoint/2010/main" val="7224899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39BAE782-C07E-8C9D-F03B-E1555654D0F6}"/>
                  </a:ext>
                </a:extLst>
              </p:cNvPr>
              <p:cNvSpPr>
                <a:spLocks noGrp="1"/>
              </p:cNvSpPr>
              <p:nvPr>
                <p:ph type="title"/>
              </p:nvPr>
            </p:nvSpPr>
            <p:spPr/>
            <p:txBody>
              <a:bodyPr/>
              <a:lstStyle/>
              <a:p>
                <a:r>
                  <a:rPr lang="en-US" dirty="0"/>
                  <a:t>Solving </a:t>
                </a:r>
                <a14:m>
                  <m:oMath xmlns:m="http://schemas.openxmlformats.org/officeDocument/2006/math">
                    <m:r>
                      <a:rPr lang="en-US" b="0" i="1" smtClean="0">
                        <a:latin typeface="Cambria Math" panose="02040503050406030204" pitchFamily="18" charset="0"/>
                      </a:rPr>
                      <m:t>𝑇</m:t>
                    </m:r>
                    <m:d>
                      <m:dPr>
                        <m:ctrlPr>
                          <a:rPr lang="en-US"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=2</m:t>
                    </m:r>
                    <m:r>
                      <a:rPr lang="en-US" b="0" i="1" smtClean="0">
                        <a:latin typeface="Cambria Math" panose="02040503050406030204" pitchFamily="18" charset="0"/>
                      </a:rPr>
                      <m:t>𝑇</m:t>
                    </m:r>
                    <m:d>
                      <m:dPr>
                        <m:ctrlPr>
                          <a:rPr lang="en-US" i="1" smtClean="0">
                            <a:latin typeface="Cambria Math" panose="02040503050406030204" pitchFamily="18" charset="0"/>
                          </a:rPr>
                        </m:ctrlPr>
                      </m:dPr>
                      <m:e>
                        <m:f>
                          <m:fPr>
                            <m:ctrlPr>
                              <a:rPr lang="en-US"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e>
                    </m:d>
                    <m:r>
                      <a:rPr lang="en-US" b="0" i="1" smtClean="0">
                        <a:latin typeface="Cambria Math" panose="02040503050406030204" pitchFamily="18" charset="0"/>
                      </a:rPr>
                      <m:t>+</m:t>
                    </m:r>
                    <m:sSup>
                      <m:sSupPr>
                        <m:ctrlPr>
                          <a:rPr lang="en-US"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p:txBody>
          </p:sp>
        </mc:Choice>
        <mc:Fallback xmlns="">
          <p:sp>
            <p:nvSpPr>
              <p:cNvPr id="2" name="Title 1">
                <a:extLst>
                  <a:ext uri="{FF2B5EF4-FFF2-40B4-BE49-F238E27FC236}">
                    <a16:creationId xmlns:a16="http://schemas.microsoft.com/office/drawing/2014/main" id="{39BAE782-C07E-8C9D-F03B-E1555654D0F6}"/>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24CB12C-1484-4384-0A8A-F40C8F089090}"/>
                  </a:ext>
                </a:extLst>
              </p:cNvPr>
              <p:cNvSpPr>
                <a:spLocks noGrp="1"/>
              </p:cNvSpPr>
              <p:nvPr>
                <p:ph idx="1"/>
              </p:nvPr>
            </p:nvSpPr>
            <p:spPr/>
            <p:txBody>
              <a:bodyPr>
                <a:normAutofit/>
              </a:bodyPr>
              <a:lstStyle/>
              <a:p>
                <a:pPr marL="457200" lvl="1" indent="0">
                  <a:buNone/>
                </a:pPr>
                <a14:m>
                  <m:oMathPara xmlns:m="http://schemas.openxmlformats.org/officeDocument/2006/math">
                    <m:oMathParaPr>
                      <m:jc m:val="centerGroup"/>
                    </m:oMathParaPr>
                    <m:oMath xmlns:m="http://schemas.openxmlformats.org/officeDocument/2006/math">
                      <m:r>
                        <a:rPr lang="en-US" sz="2800" i="1" smtClean="0">
                          <a:latin typeface="Cambria Math"/>
                        </a:rPr>
                        <m:t>𝑇</m:t>
                      </m:r>
                      <m:d>
                        <m:dPr>
                          <m:ctrlPr>
                            <a:rPr lang="en-US" sz="2800" i="1">
                              <a:latin typeface="Cambria Math" panose="02040503050406030204" pitchFamily="18" charset="0"/>
                            </a:rPr>
                          </m:ctrlPr>
                        </m:dPr>
                        <m:e>
                          <m:r>
                            <a:rPr lang="en-US" sz="2800" i="1">
                              <a:latin typeface="Cambria Math"/>
                            </a:rPr>
                            <m:t>𝑛</m:t>
                          </m:r>
                        </m:e>
                      </m:d>
                      <m:r>
                        <a:rPr lang="en-US" sz="2800" i="1">
                          <a:latin typeface="Cambria Math"/>
                        </a:rPr>
                        <m:t>=</m:t>
                      </m:r>
                      <m:nary>
                        <m:naryPr>
                          <m:chr m:val="∑"/>
                          <m:ctrlPr>
                            <a:rPr lang="en-US" sz="2800" i="1">
                              <a:latin typeface="Cambria Math" panose="02040503050406030204" pitchFamily="18" charset="0"/>
                            </a:rPr>
                          </m:ctrlPr>
                        </m:naryPr>
                        <m:sub>
                          <m:r>
                            <m:rPr>
                              <m:brk m:alnAt="23"/>
                            </m:rPr>
                            <a:rPr lang="en-US" sz="2800" i="1">
                              <a:latin typeface="Cambria Math"/>
                            </a:rPr>
                            <m:t>𝑖</m:t>
                          </m:r>
                          <m:r>
                            <a:rPr lang="en-US" sz="2800" i="1">
                              <a:latin typeface="Cambria Math"/>
                            </a:rPr>
                            <m:t>=</m:t>
                          </m:r>
                          <m:r>
                            <a:rPr lang="en-US" sz="2800" b="0" i="1" smtClean="0">
                              <a:latin typeface="Cambria Math" panose="02040503050406030204" pitchFamily="18" charset="0"/>
                            </a:rPr>
                            <m:t>0</m:t>
                          </m:r>
                        </m:sub>
                        <m:sup>
                          <m:func>
                            <m:funcPr>
                              <m:ctrlPr>
                                <a:rPr lang="en-US" sz="2800" i="1">
                                  <a:latin typeface="Cambria Math" panose="02040503050406030204" pitchFamily="18" charset="0"/>
                                </a:rPr>
                              </m:ctrlPr>
                            </m:funcPr>
                            <m:fName>
                              <m:sSub>
                                <m:sSubPr>
                                  <m:ctrlPr>
                                    <a:rPr lang="en-US" sz="2800" i="1">
                                      <a:latin typeface="Cambria Math" panose="02040503050406030204" pitchFamily="18" charset="0"/>
                                    </a:rPr>
                                  </m:ctrlPr>
                                </m:sSubPr>
                                <m:e>
                                  <m:r>
                                    <m:rPr>
                                      <m:sty m:val="p"/>
                                    </m:rPr>
                                    <a:rPr lang="en-US" sz="2800">
                                      <a:latin typeface="Cambria Math"/>
                                    </a:rPr>
                                    <m:t>log</m:t>
                                  </m:r>
                                </m:e>
                                <m:sub>
                                  <m:r>
                                    <a:rPr lang="en-US" sz="2800">
                                      <a:latin typeface="Cambria Math"/>
                                    </a:rPr>
                                    <m:t>2</m:t>
                                  </m:r>
                                </m:sub>
                              </m:sSub>
                            </m:fName>
                            <m:e>
                              <m:r>
                                <a:rPr lang="en-US" sz="2800" i="1">
                                  <a:latin typeface="Cambria Math"/>
                                </a:rPr>
                                <m:t>𝑛</m:t>
                              </m:r>
                            </m:e>
                          </m:func>
                        </m:sup>
                        <m:e>
                          <m:f>
                            <m:fPr>
                              <m:ctrlPr>
                                <a:rPr lang="en-US" sz="2800" b="0" i="1" smtClean="0">
                                  <a:latin typeface="Cambria Math" panose="02040503050406030204" pitchFamily="18" charset="0"/>
                                </a:rPr>
                              </m:ctrlPr>
                            </m:fPr>
                            <m:num>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𝑛</m:t>
                                  </m:r>
                                </m:e>
                                <m:sup>
                                  <m:r>
                                    <a:rPr lang="en-US" sz="2800" b="0" i="1" smtClean="0">
                                      <a:latin typeface="Cambria Math" panose="02040503050406030204" pitchFamily="18" charset="0"/>
                                    </a:rPr>
                                    <m:t>2</m:t>
                                  </m:r>
                                </m:sup>
                              </m:sSup>
                            </m:num>
                            <m:den>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2</m:t>
                                  </m:r>
                                </m:e>
                                <m:sup>
                                  <m:r>
                                    <a:rPr lang="en-US" sz="2800" b="0" i="1" smtClean="0">
                                      <a:latin typeface="Cambria Math" panose="02040503050406030204" pitchFamily="18" charset="0"/>
                                    </a:rPr>
                                    <m:t>𝑖</m:t>
                                  </m:r>
                                </m:sup>
                              </m:sSup>
                            </m:den>
                          </m:f>
                        </m:e>
                      </m:nary>
                    </m:oMath>
                  </m:oMathPara>
                </a14:m>
                <a:endParaRPr lang="en-US" sz="2800" b="0" dirty="0"/>
              </a:p>
              <a:p>
                <a:pPr marL="457200" lvl="1" indent="0">
                  <a:buNone/>
                </a:pPr>
                <a:endParaRPr lang="en-US" sz="2800" dirty="0"/>
              </a:p>
              <a:p>
                <a:pPr marL="457200" lvl="1" indent="0">
                  <a:buNone/>
                </a:pPr>
                <a14:m>
                  <m:oMathPara xmlns:m="http://schemas.openxmlformats.org/officeDocument/2006/math">
                    <m:oMathParaPr>
                      <m:jc m:val="centerGroup"/>
                    </m:oMathParaPr>
                    <m:oMath xmlns:m="http://schemas.openxmlformats.org/officeDocument/2006/math">
                      <m:r>
                        <a:rPr lang="en-US" sz="2800" i="1" smtClean="0">
                          <a:latin typeface="Cambria Math"/>
                        </a:rPr>
                        <m:t>=</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𝑛</m:t>
                          </m:r>
                        </m:e>
                        <m:sup>
                          <m:r>
                            <a:rPr lang="en-US" sz="2800" b="0" i="1" smtClean="0">
                              <a:latin typeface="Cambria Math" panose="02040503050406030204" pitchFamily="18" charset="0"/>
                            </a:rPr>
                            <m:t>2</m:t>
                          </m:r>
                        </m:sup>
                      </m:sSup>
                      <m:r>
                        <a:rPr lang="en-US" sz="2800" b="0" i="1" smtClean="0">
                          <a:latin typeface="Cambria Math" panose="02040503050406030204" pitchFamily="18" charset="0"/>
                        </a:rPr>
                        <m:t>⋅</m:t>
                      </m:r>
                      <m:nary>
                        <m:naryPr>
                          <m:chr m:val="∑"/>
                          <m:ctrlPr>
                            <a:rPr lang="en-US" sz="2800" i="1">
                              <a:latin typeface="Cambria Math" panose="02040503050406030204" pitchFamily="18" charset="0"/>
                            </a:rPr>
                          </m:ctrlPr>
                        </m:naryPr>
                        <m:sub>
                          <m:r>
                            <m:rPr>
                              <m:brk m:alnAt="23"/>
                            </m:rPr>
                            <a:rPr lang="en-US" sz="2800" i="1">
                              <a:latin typeface="Cambria Math"/>
                            </a:rPr>
                            <m:t>𝑖</m:t>
                          </m:r>
                          <m:r>
                            <a:rPr lang="en-US" sz="2800" i="1">
                              <a:latin typeface="Cambria Math"/>
                            </a:rPr>
                            <m:t>=</m:t>
                          </m:r>
                          <m:r>
                            <a:rPr lang="en-US" sz="2800" b="0" i="1" smtClean="0">
                              <a:latin typeface="Cambria Math" panose="02040503050406030204" pitchFamily="18" charset="0"/>
                            </a:rPr>
                            <m:t>0</m:t>
                          </m:r>
                        </m:sub>
                        <m:sup>
                          <m:func>
                            <m:funcPr>
                              <m:ctrlPr>
                                <a:rPr lang="en-US" sz="2800" i="1">
                                  <a:latin typeface="Cambria Math" panose="02040503050406030204" pitchFamily="18" charset="0"/>
                                </a:rPr>
                              </m:ctrlPr>
                            </m:funcPr>
                            <m:fName>
                              <m:sSub>
                                <m:sSubPr>
                                  <m:ctrlPr>
                                    <a:rPr lang="en-US" sz="2800" i="1">
                                      <a:latin typeface="Cambria Math" panose="02040503050406030204" pitchFamily="18" charset="0"/>
                                    </a:rPr>
                                  </m:ctrlPr>
                                </m:sSubPr>
                                <m:e>
                                  <m:r>
                                    <m:rPr>
                                      <m:sty m:val="p"/>
                                    </m:rPr>
                                    <a:rPr lang="en-US" sz="2800">
                                      <a:latin typeface="Cambria Math"/>
                                    </a:rPr>
                                    <m:t>log</m:t>
                                  </m:r>
                                </m:e>
                                <m:sub>
                                  <m:r>
                                    <a:rPr lang="en-US" sz="2800">
                                      <a:latin typeface="Cambria Math"/>
                                    </a:rPr>
                                    <m:t>2</m:t>
                                  </m:r>
                                </m:sub>
                              </m:sSub>
                            </m:fName>
                            <m:e>
                              <m:r>
                                <a:rPr lang="en-US" sz="2800" i="1">
                                  <a:latin typeface="Cambria Math"/>
                                </a:rPr>
                                <m:t>𝑛</m:t>
                              </m:r>
                            </m:e>
                          </m:func>
                        </m:sup>
                        <m:e>
                          <m:sSup>
                            <m:sSupPr>
                              <m:ctrlPr>
                                <a:rPr lang="en-US" sz="2800" b="0" i="1" smtClean="0">
                                  <a:latin typeface="Cambria Math" panose="02040503050406030204" pitchFamily="18" charset="0"/>
                                </a:rPr>
                              </m:ctrlPr>
                            </m:sSupPr>
                            <m:e>
                              <m:d>
                                <m:dPr>
                                  <m:ctrlPr>
                                    <a:rPr lang="en-US" sz="2800" b="0" i="1" smtClean="0">
                                      <a:latin typeface="Cambria Math" panose="02040503050406030204" pitchFamily="18" charset="0"/>
                                    </a:rPr>
                                  </m:ctrlPr>
                                </m:dPr>
                                <m:e>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1</m:t>
                                      </m:r>
                                    </m:num>
                                    <m:den>
                                      <m:r>
                                        <a:rPr lang="en-US" sz="2800" b="0" i="1" smtClean="0">
                                          <a:latin typeface="Cambria Math" panose="02040503050406030204" pitchFamily="18" charset="0"/>
                                        </a:rPr>
                                        <m:t>2</m:t>
                                      </m:r>
                                    </m:den>
                                  </m:f>
                                </m:e>
                              </m:d>
                            </m:e>
                            <m:sup>
                              <m:r>
                                <a:rPr lang="en-US" sz="2800" b="0" i="1" smtClean="0">
                                  <a:latin typeface="Cambria Math" panose="02040503050406030204" pitchFamily="18" charset="0"/>
                                </a:rPr>
                                <m:t>𝑖</m:t>
                              </m:r>
                            </m:sup>
                          </m:sSup>
                        </m:e>
                      </m:nary>
                    </m:oMath>
                  </m:oMathPara>
                </a14:m>
                <a:endParaRPr lang="en-US" sz="2800" b="0" dirty="0"/>
              </a:p>
              <a:p>
                <a:pPr marL="457200" lvl="1" indent="0">
                  <a:buNone/>
                </a:pPr>
                <a:endParaRPr lang="en-US" sz="2800" dirty="0"/>
              </a:p>
              <a:p>
                <a:pPr marL="457200" lvl="1" indent="0">
                  <a:buNone/>
                </a:pPr>
                <a:endParaRPr lang="en-US" sz="2800" dirty="0"/>
              </a:p>
              <a:p>
                <a:pPr marL="457200" lvl="1" indent="0">
                  <a:buNone/>
                </a:pPr>
                <a:endParaRPr lang="en-US" sz="2800" dirty="0"/>
              </a:p>
            </p:txBody>
          </p:sp>
        </mc:Choice>
        <mc:Fallback xmlns="">
          <p:sp>
            <p:nvSpPr>
              <p:cNvPr id="3" name="Content Placeholder 2">
                <a:extLst>
                  <a:ext uri="{FF2B5EF4-FFF2-40B4-BE49-F238E27FC236}">
                    <a16:creationId xmlns:a16="http://schemas.microsoft.com/office/drawing/2014/main" id="{324CB12C-1484-4384-0A8A-F40C8F089090}"/>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9D312D8A-ABE5-9B2B-38CF-3F0794E459C2}"/>
                  </a:ext>
                </a:extLst>
              </p14:cNvPr>
              <p14:cNvContentPartPr/>
              <p14:nvPr/>
            </p14:nvContentPartPr>
            <p14:xfrm>
              <a:off x="3321360" y="1442160"/>
              <a:ext cx="4412520" cy="4203720"/>
            </p14:xfrm>
          </p:contentPart>
        </mc:Choice>
        <mc:Fallback>
          <p:pic>
            <p:nvPicPr>
              <p:cNvPr id="4" name="Ink 3">
                <a:extLst>
                  <a:ext uri="{FF2B5EF4-FFF2-40B4-BE49-F238E27FC236}">
                    <a16:creationId xmlns:a16="http://schemas.microsoft.com/office/drawing/2014/main" id="{9D312D8A-ABE5-9B2B-38CF-3F0794E459C2}"/>
                  </a:ext>
                </a:extLst>
              </p:cNvPr>
              <p:cNvPicPr/>
              <p:nvPr/>
            </p:nvPicPr>
            <p:blipFill>
              <a:blip r:embed="rId5"/>
              <a:stretch>
                <a:fillRect/>
              </a:stretch>
            </p:blipFill>
            <p:spPr>
              <a:xfrm>
                <a:off x="3312000" y="1432800"/>
                <a:ext cx="4431240" cy="4222440"/>
              </a:xfrm>
              <a:prstGeom prst="rect">
                <a:avLst/>
              </a:prstGeom>
            </p:spPr>
          </p:pic>
        </mc:Fallback>
      </mc:AlternateContent>
    </p:spTree>
    <p:extLst>
      <p:ext uri="{BB962C8B-B14F-4D97-AF65-F5344CB8AC3E}">
        <p14:creationId xmlns:p14="http://schemas.microsoft.com/office/powerpoint/2010/main" val="10349627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en-US" dirty="0"/>
                  <a:t>Tree Method </a:t>
                </a:r>
                <a14:m>
                  <m:oMath xmlns:m="http://schemas.openxmlformats.org/officeDocument/2006/math">
                    <m:r>
                      <a:rPr lang="en-US" i="1">
                        <a:latin typeface="Cambria Math" panose="02040503050406030204" pitchFamily="18" charset="0"/>
                      </a:rPr>
                      <m:t>𝑇</m:t>
                    </m:r>
                    <m:d>
                      <m:dPr>
                        <m:ctrlPr>
                          <a:rPr lang="en-US" i="1">
                            <a:latin typeface="Cambria Math" panose="02040503050406030204" pitchFamily="18" charset="0"/>
                          </a:rPr>
                        </m:ctrlPr>
                      </m:dPr>
                      <m:e>
                        <m:r>
                          <a:rPr lang="en-US" i="1">
                            <a:latin typeface="Cambria Math" panose="02040503050406030204" pitchFamily="18" charset="0"/>
                          </a:rPr>
                          <m:t>𝑛</m:t>
                        </m:r>
                      </m:e>
                    </m:d>
                    <m:r>
                      <a:rPr lang="en-US" i="1">
                        <a:latin typeface="Cambria Math" panose="02040503050406030204" pitchFamily="18" charset="0"/>
                      </a:rPr>
                      <m:t>=2</m:t>
                    </m:r>
                    <m:r>
                      <a:rPr lang="en-US" i="1">
                        <a:latin typeface="Cambria Math" panose="02040503050406030204" pitchFamily="18" charset="0"/>
                      </a:rPr>
                      <m:t>𝑇</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𝑛</m:t>
                            </m:r>
                          </m:num>
                          <m:den>
                            <m:r>
                              <a:rPr lang="en-US" b="0" i="1" smtClean="0">
                                <a:latin typeface="Cambria Math" panose="02040503050406030204" pitchFamily="18" charset="0"/>
                              </a:rPr>
                              <m:t>8</m:t>
                            </m:r>
                          </m:den>
                        </m:f>
                      </m:e>
                    </m:d>
                    <m:r>
                      <a:rPr lang="en-US" i="1">
                        <a:latin typeface="Cambria Math" panose="02040503050406030204" pitchFamily="18" charset="0"/>
                      </a:rPr>
                      <m:t>+</m:t>
                    </m:r>
                    <m:r>
                      <a:rPr lang="en-US" b="0" i="1" smtClean="0">
                        <a:latin typeface="Cambria Math" panose="02040503050406030204" pitchFamily="18" charset="0"/>
                      </a:rPr>
                      <m:t>1</m:t>
                    </m:r>
                  </m:oMath>
                </a14:m>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9012C2DE-48D7-4255-8090-ED57B66C05A8}"/>
              </a:ext>
              <a:ext uri="{C183D7F6-B498-43B3-948B-1728B52AA6E4}">
                <adec:decorative xmlns:adec="http://schemas.microsoft.com/office/drawing/2017/decorative" val="1"/>
              </a:ext>
            </a:extLst>
          </p:cNvPr>
          <p:cNvSpPr/>
          <p:nvPr/>
        </p:nvSpPr>
        <p:spPr>
          <a:xfrm>
            <a:off x="304801" y="1463359"/>
            <a:ext cx="2602580" cy="63976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Red box represents a problem instance</a:t>
            </a:r>
          </a:p>
        </p:txBody>
      </p:sp>
      <p:sp>
        <p:nvSpPr>
          <p:cNvPr id="5" name="Rectangle 4">
            <a:extLst>
              <a:ext uri="{FF2B5EF4-FFF2-40B4-BE49-F238E27FC236}">
                <a16:creationId xmlns:a16="http://schemas.microsoft.com/office/drawing/2014/main" id="{50E142CF-CAF8-7789-FC06-8CB8767D971C}"/>
              </a:ext>
              <a:ext uri="{C183D7F6-B498-43B3-948B-1728B52AA6E4}">
                <adec:decorative xmlns:adec="http://schemas.microsoft.com/office/drawing/2017/decorative" val="1"/>
              </a:ext>
            </a:extLst>
          </p:cNvPr>
          <p:cNvSpPr/>
          <p:nvPr/>
        </p:nvSpPr>
        <p:spPr>
          <a:xfrm>
            <a:off x="190473" y="2129739"/>
            <a:ext cx="2716908" cy="8115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Blue value next to each box represents time spent at that level of recursion</a:t>
            </a:r>
          </a:p>
        </p:txBody>
      </p:sp>
      <p:grpSp>
        <p:nvGrpSpPr>
          <p:cNvPr id="3" name="Group 2" descr="A picture of the recursion for the given recurrence relation. We have one box per stack frame in the recursion. Each box is labelled inside with a value that represents the size of the input for that stack frame. Outside each box is labelled with the amount of (non-recursive) work done by that box (in this case it is 1).&#10;&#10;Each box has an arrow pointing to two boxes with a smaller input (specifically each is one eighth the size) to represent the larger box recursively invoking the algorithm twice with smaller inputs.">
            <a:extLst>
              <a:ext uri="{FF2B5EF4-FFF2-40B4-BE49-F238E27FC236}">
                <a16:creationId xmlns:a16="http://schemas.microsoft.com/office/drawing/2014/main" id="{65B134EC-AF2B-71E9-E01E-FC03C60880A7}"/>
              </a:ext>
            </a:extLst>
          </p:cNvPr>
          <p:cNvGrpSpPr/>
          <p:nvPr/>
        </p:nvGrpSpPr>
        <p:grpSpPr>
          <a:xfrm>
            <a:off x="1295400" y="2249718"/>
            <a:ext cx="7071406" cy="3693910"/>
            <a:chOff x="1295400" y="1992868"/>
            <a:chExt cx="7071406" cy="3693910"/>
          </a:xfrm>
        </p:grpSpPr>
        <mc:AlternateContent xmlns:mc="http://schemas.openxmlformats.org/markup-compatibility/2006" xmlns:a14="http://schemas.microsoft.com/office/drawing/2010/main">
          <mc:Choice Requires="a14">
            <p:sp>
              <p:nvSpPr>
                <p:cNvPr id="44" name="Text Box 41"/>
                <p:cNvSpPr txBox="1">
                  <a:spLocks noChangeArrowheads="1"/>
                </p:cNvSpPr>
                <p:nvPr/>
              </p:nvSpPr>
              <p:spPr bwMode="auto">
                <a:xfrm>
                  <a:off x="4381500" y="2133600"/>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a:latin typeface="Cambria Math"/>
                          </a:rPr>
                          <m:t>𝑛</m:t>
                        </m:r>
                      </m:oMath>
                    </m:oMathPara>
                  </a14:m>
                  <a:endParaRPr lang="en-US" sz="2800" dirty="0"/>
                </a:p>
              </p:txBody>
            </p:sp>
          </mc:Choice>
          <mc:Fallback xmlns="">
            <p:sp>
              <p:nvSpPr>
                <p:cNvPr id="44" name="Text Box 41"/>
                <p:cNvSpPr txBox="1">
                  <a:spLocks noRot="1" noChangeAspect="1" noMove="1" noResize="1" noEditPoints="1" noAdjustHandles="1" noChangeArrowheads="1" noChangeShapeType="1" noTextEdit="1"/>
                </p:cNvSpPr>
                <p:nvPr/>
              </p:nvSpPr>
              <p:spPr bwMode="auto">
                <a:xfrm>
                  <a:off x="4381500" y="2133600"/>
                  <a:ext cx="1333500" cy="457200"/>
                </a:xfrm>
                <a:prstGeom prst="rect">
                  <a:avLst/>
                </a:prstGeom>
                <a:blipFill>
                  <a:blip r:embed="rId3"/>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 Box 41"/>
                <p:cNvSpPr txBox="1">
                  <a:spLocks noChangeArrowheads="1"/>
                </p:cNvSpPr>
                <p:nvPr/>
              </p:nvSpPr>
              <p:spPr bwMode="auto">
                <a:xfrm>
                  <a:off x="2690604" y="3028252"/>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smtClean="0">
                                <a:latin typeface="Cambria Math" panose="02040503050406030204" pitchFamily="18" charset="0"/>
                              </a:rPr>
                            </m:ctrlPr>
                          </m:fPr>
                          <m:num>
                            <m:r>
                              <a:rPr lang="en-US" sz="2800" i="1">
                                <a:latin typeface="Cambria Math"/>
                              </a:rPr>
                              <m:t>𝑛</m:t>
                            </m:r>
                          </m:num>
                          <m:den>
                            <m:r>
                              <a:rPr lang="en-US" sz="2800" b="0" i="1" smtClean="0">
                                <a:latin typeface="Cambria Math" panose="02040503050406030204" pitchFamily="18" charset="0"/>
                              </a:rPr>
                              <m:t>8</m:t>
                            </m:r>
                          </m:den>
                        </m:f>
                      </m:oMath>
                    </m:oMathPara>
                  </a14:m>
                  <a:endParaRPr lang="en-US" sz="2800" dirty="0"/>
                </a:p>
              </p:txBody>
            </p:sp>
          </mc:Choice>
          <mc:Fallback xmlns="">
            <p:sp>
              <p:nvSpPr>
                <p:cNvPr id="47" name="Text Box 41"/>
                <p:cNvSpPr txBox="1">
                  <a:spLocks noRot="1" noChangeAspect="1" noMove="1" noResize="1" noEditPoints="1" noAdjustHandles="1" noChangeArrowheads="1" noChangeShapeType="1" noTextEdit="1"/>
                </p:cNvSpPr>
                <p:nvPr/>
              </p:nvSpPr>
              <p:spPr bwMode="auto">
                <a:xfrm>
                  <a:off x="2690604" y="3028252"/>
                  <a:ext cx="1333500" cy="457200"/>
                </a:xfrm>
                <a:prstGeom prst="rect">
                  <a:avLst/>
                </a:prstGeom>
                <a:blipFill>
                  <a:blip r:embed="rId4"/>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 Box 41"/>
                <p:cNvSpPr txBox="1">
                  <a:spLocks noChangeArrowheads="1"/>
                </p:cNvSpPr>
                <p:nvPr/>
              </p:nvSpPr>
              <p:spPr bwMode="auto">
                <a:xfrm>
                  <a:off x="5981700" y="3028252"/>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smtClean="0">
                                <a:latin typeface="Cambria Math" panose="02040503050406030204" pitchFamily="18" charset="0"/>
                              </a:rPr>
                            </m:ctrlPr>
                          </m:fPr>
                          <m:num>
                            <m:r>
                              <a:rPr lang="en-US" sz="2800" i="1">
                                <a:latin typeface="Cambria Math"/>
                              </a:rPr>
                              <m:t>𝑛</m:t>
                            </m:r>
                          </m:num>
                          <m:den>
                            <m:r>
                              <a:rPr lang="en-US" sz="2800" b="0" i="1" smtClean="0">
                                <a:latin typeface="Cambria Math" panose="02040503050406030204" pitchFamily="18" charset="0"/>
                              </a:rPr>
                              <m:t>8</m:t>
                            </m:r>
                          </m:den>
                        </m:f>
                      </m:oMath>
                    </m:oMathPara>
                  </a14:m>
                  <a:endParaRPr lang="en-US" sz="2800" dirty="0"/>
                </a:p>
              </p:txBody>
            </p:sp>
          </mc:Choice>
          <mc:Fallback xmlns="">
            <p:sp>
              <p:nvSpPr>
                <p:cNvPr id="48" name="Text Box 41"/>
                <p:cNvSpPr txBox="1">
                  <a:spLocks noRot="1" noChangeAspect="1" noMove="1" noResize="1" noEditPoints="1" noAdjustHandles="1" noChangeArrowheads="1" noChangeShapeType="1" noTextEdit="1"/>
                </p:cNvSpPr>
                <p:nvPr/>
              </p:nvSpPr>
              <p:spPr bwMode="auto">
                <a:xfrm>
                  <a:off x="5981700" y="3028252"/>
                  <a:ext cx="1333500" cy="457200"/>
                </a:xfrm>
                <a:prstGeom prst="rect">
                  <a:avLst/>
                </a:prstGeom>
                <a:blipFill>
                  <a:blip r:embed="rId5"/>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 Box 41"/>
                <p:cNvSpPr txBox="1">
                  <a:spLocks noChangeArrowheads="1"/>
                </p:cNvSpPr>
                <p:nvPr/>
              </p:nvSpPr>
              <p:spPr bwMode="auto">
                <a:xfrm>
                  <a:off x="157388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smtClean="0">
                                <a:latin typeface="Cambria Math" panose="02040503050406030204" pitchFamily="18" charset="0"/>
                              </a:rPr>
                            </m:ctrlPr>
                          </m:fPr>
                          <m:num>
                            <m:r>
                              <a:rPr lang="en-US" sz="2800" i="1">
                                <a:latin typeface="Cambria Math"/>
                              </a:rPr>
                              <m:t>𝑛</m:t>
                            </m:r>
                          </m:num>
                          <m:den>
                            <m:r>
                              <a:rPr lang="en-US" sz="2800" b="0" i="1" smtClean="0">
                                <a:latin typeface="Cambria Math" panose="02040503050406030204" pitchFamily="18" charset="0"/>
                              </a:rPr>
                              <m:t>6</m:t>
                            </m:r>
                            <m:r>
                              <a:rPr lang="en-US" sz="2800" i="1">
                                <a:latin typeface="Cambria Math"/>
                              </a:rPr>
                              <m:t>4</m:t>
                            </m:r>
                          </m:den>
                        </m:f>
                      </m:oMath>
                    </m:oMathPara>
                  </a14:m>
                  <a:endParaRPr lang="en-US" sz="2800" dirty="0"/>
                </a:p>
              </p:txBody>
            </p:sp>
          </mc:Choice>
          <mc:Fallback xmlns="">
            <p:sp>
              <p:nvSpPr>
                <p:cNvPr id="49" name="Text Box 41"/>
                <p:cNvSpPr txBox="1">
                  <a:spLocks noRot="1" noChangeAspect="1" noMove="1" noResize="1" noEditPoints="1" noAdjustHandles="1" noChangeArrowheads="1" noChangeShapeType="1" noTextEdit="1"/>
                </p:cNvSpPr>
                <p:nvPr/>
              </p:nvSpPr>
              <p:spPr bwMode="auto">
                <a:xfrm>
                  <a:off x="1573880" y="3834326"/>
                  <a:ext cx="1333500" cy="457200"/>
                </a:xfrm>
                <a:prstGeom prst="rect">
                  <a:avLst/>
                </a:prstGeom>
                <a:blipFill>
                  <a:blip r:embed="rId6"/>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 Box 41"/>
                <p:cNvSpPr txBox="1">
                  <a:spLocks noChangeArrowheads="1"/>
                </p:cNvSpPr>
                <p:nvPr/>
              </p:nvSpPr>
              <p:spPr bwMode="auto">
                <a:xfrm>
                  <a:off x="331470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smtClean="0">
                                <a:latin typeface="Cambria Math" panose="02040503050406030204" pitchFamily="18" charset="0"/>
                              </a:rPr>
                            </m:ctrlPr>
                          </m:fPr>
                          <m:num>
                            <m:r>
                              <a:rPr lang="en-US" sz="2800" i="1">
                                <a:latin typeface="Cambria Math"/>
                              </a:rPr>
                              <m:t>𝑛</m:t>
                            </m:r>
                          </m:num>
                          <m:den>
                            <m:r>
                              <a:rPr lang="en-US" sz="2800" b="0" i="1" smtClean="0">
                                <a:latin typeface="Cambria Math" panose="02040503050406030204" pitchFamily="18" charset="0"/>
                              </a:rPr>
                              <m:t>6</m:t>
                            </m:r>
                            <m:r>
                              <a:rPr lang="en-US" sz="2800" i="1">
                                <a:latin typeface="Cambria Math"/>
                              </a:rPr>
                              <m:t>4</m:t>
                            </m:r>
                          </m:den>
                        </m:f>
                      </m:oMath>
                    </m:oMathPara>
                  </a14:m>
                  <a:endParaRPr lang="en-US" sz="2800" dirty="0"/>
                </a:p>
              </p:txBody>
            </p:sp>
          </mc:Choice>
          <mc:Fallback xmlns="">
            <p:sp>
              <p:nvSpPr>
                <p:cNvPr id="50" name="Text Box 41"/>
                <p:cNvSpPr txBox="1">
                  <a:spLocks noRot="1" noChangeAspect="1" noMove="1" noResize="1" noEditPoints="1" noAdjustHandles="1" noChangeArrowheads="1" noChangeShapeType="1" noTextEdit="1"/>
                </p:cNvSpPr>
                <p:nvPr/>
              </p:nvSpPr>
              <p:spPr bwMode="auto">
                <a:xfrm>
                  <a:off x="3314700" y="3834326"/>
                  <a:ext cx="1333500" cy="457200"/>
                </a:xfrm>
                <a:prstGeom prst="rect">
                  <a:avLst/>
                </a:prstGeom>
                <a:blipFill>
                  <a:blip r:embed="rId7"/>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 Box 41"/>
                <p:cNvSpPr txBox="1">
                  <a:spLocks noChangeArrowheads="1"/>
                </p:cNvSpPr>
                <p:nvPr/>
              </p:nvSpPr>
              <p:spPr bwMode="auto">
                <a:xfrm>
                  <a:off x="5181600" y="383237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smtClean="0">
                                <a:latin typeface="Cambria Math" panose="02040503050406030204" pitchFamily="18" charset="0"/>
                              </a:rPr>
                            </m:ctrlPr>
                          </m:fPr>
                          <m:num>
                            <m:r>
                              <a:rPr lang="en-US" sz="2800" i="1">
                                <a:latin typeface="Cambria Math"/>
                              </a:rPr>
                              <m:t>𝑛</m:t>
                            </m:r>
                          </m:num>
                          <m:den>
                            <m:r>
                              <a:rPr lang="en-US" sz="2800" b="0" i="1" smtClean="0">
                                <a:latin typeface="Cambria Math" panose="02040503050406030204" pitchFamily="18" charset="0"/>
                              </a:rPr>
                              <m:t>6</m:t>
                            </m:r>
                            <m:r>
                              <a:rPr lang="en-US" sz="2800" i="1">
                                <a:latin typeface="Cambria Math"/>
                              </a:rPr>
                              <m:t>4</m:t>
                            </m:r>
                          </m:den>
                        </m:f>
                      </m:oMath>
                    </m:oMathPara>
                  </a14:m>
                  <a:endParaRPr lang="en-US" sz="2800" dirty="0"/>
                </a:p>
              </p:txBody>
            </p:sp>
          </mc:Choice>
          <mc:Fallback xmlns="">
            <p:sp>
              <p:nvSpPr>
                <p:cNvPr id="51" name="Text Box 41"/>
                <p:cNvSpPr txBox="1">
                  <a:spLocks noRot="1" noChangeAspect="1" noMove="1" noResize="1" noEditPoints="1" noAdjustHandles="1" noChangeArrowheads="1" noChangeShapeType="1" noTextEdit="1"/>
                </p:cNvSpPr>
                <p:nvPr/>
              </p:nvSpPr>
              <p:spPr bwMode="auto">
                <a:xfrm>
                  <a:off x="5181600" y="3832376"/>
                  <a:ext cx="1333500" cy="457200"/>
                </a:xfrm>
                <a:prstGeom prst="rect">
                  <a:avLst/>
                </a:prstGeom>
                <a:blipFill>
                  <a:blip r:embed="rId8"/>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 Box 41"/>
                <p:cNvSpPr txBox="1">
                  <a:spLocks noChangeArrowheads="1"/>
                </p:cNvSpPr>
                <p:nvPr/>
              </p:nvSpPr>
              <p:spPr bwMode="auto">
                <a:xfrm>
                  <a:off x="674370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smtClean="0">
                                <a:latin typeface="Cambria Math" panose="02040503050406030204" pitchFamily="18" charset="0"/>
                              </a:rPr>
                            </m:ctrlPr>
                          </m:fPr>
                          <m:num>
                            <m:r>
                              <a:rPr lang="en-US" sz="2800" i="1">
                                <a:latin typeface="Cambria Math"/>
                              </a:rPr>
                              <m:t>𝑛</m:t>
                            </m:r>
                          </m:num>
                          <m:den>
                            <m:r>
                              <a:rPr lang="en-US" sz="2800" b="0" i="1" smtClean="0">
                                <a:latin typeface="Cambria Math" panose="02040503050406030204" pitchFamily="18" charset="0"/>
                              </a:rPr>
                              <m:t>6</m:t>
                            </m:r>
                            <m:r>
                              <a:rPr lang="en-US" sz="2800" i="1">
                                <a:latin typeface="Cambria Math"/>
                              </a:rPr>
                              <m:t>4</m:t>
                            </m:r>
                          </m:den>
                        </m:f>
                      </m:oMath>
                    </m:oMathPara>
                  </a14:m>
                  <a:endParaRPr lang="en-US" sz="2800" dirty="0"/>
                </a:p>
              </p:txBody>
            </p:sp>
          </mc:Choice>
          <mc:Fallback xmlns="">
            <p:sp>
              <p:nvSpPr>
                <p:cNvPr id="52" name="Text Box 41"/>
                <p:cNvSpPr txBox="1">
                  <a:spLocks noRot="1" noChangeAspect="1" noMove="1" noResize="1" noEditPoints="1" noAdjustHandles="1" noChangeArrowheads="1" noChangeShapeType="1" noTextEdit="1"/>
                </p:cNvSpPr>
                <p:nvPr/>
              </p:nvSpPr>
              <p:spPr bwMode="auto">
                <a:xfrm>
                  <a:off x="6743700" y="3834326"/>
                  <a:ext cx="1333500" cy="457200"/>
                </a:xfrm>
                <a:prstGeom prst="rect">
                  <a:avLst/>
                </a:prstGeom>
                <a:blipFill>
                  <a:blip r:embed="rId9"/>
                  <a:stretch>
                    <a:fillRect/>
                  </a:stretch>
                </a:blipFill>
                <a:ln w="9525">
                  <a:solidFill>
                    <a:srgbClr val="FF0000"/>
                  </a:solidFill>
                  <a:miter lim="800000"/>
                  <a:headEnd/>
                  <a:tailEnd/>
                </a:ln>
              </p:spPr>
              <p:txBody>
                <a:bodyPr/>
                <a:lstStyle/>
                <a:p>
                  <a:r>
                    <a:rPr lang="en-US">
                      <a:noFill/>
                    </a:rPr>
                    <a:t> </a:t>
                  </a:r>
                </a:p>
              </p:txBody>
            </p:sp>
          </mc:Fallback>
        </mc:AlternateContent>
        <p:sp>
          <p:nvSpPr>
            <p:cNvPr id="53" name="Rectangle 52"/>
            <p:cNvSpPr/>
            <p:nvPr/>
          </p:nvSpPr>
          <p:spPr>
            <a:xfrm rot="16200000">
              <a:off x="2018785" y="4281268"/>
              <a:ext cx="574196" cy="769441"/>
            </a:xfrm>
            <a:prstGeom prst="rect">
              <a:avLst/>
            </a:prstGeom>
          </p:spPr>
          <p:txBody>
            <a:bodyPr wrap="none">
              <a:spAutoFit/>
            </a:bodyPr>
            <a:lstStyle/>
            <a:p>
              <a:r>
                <a:rPr lang="en-US" sz="4400" dirty="0"/>
                <a:t>…</a:t>
              </a:r>
            </a:p>
          </p:txBody>
        </p:sp>
        <p:sp>
          <p:nvSpPr>
            <p:cNvPr id="54" name="Rectangle 53"/>
            <p:cNvSpPr/>
            <p:nvPr/>
          </p:nvSpPr>
          <p:spPr>
            <a:xfrm rot="16200000">
              <a:off x="3694351" y="4308283"/>
              <a:ext cx="574196" cy="769441"/>
            </a:xfrm>
            <a:prstGeom prst="rect">
              <a:avLst/>
            </a:prstGeom>
          </p:spPr>
          <p:txBody>
            <a:bodyPr wrap="none">
              <a:spAutoFit/>
            </a:bodyPr>
            <a:lstStyle/>
            <a:p>
              <a:r>
                <a:rPr lang="en-US" sz="4400" dirty="0"/>
                <a:t>…</a:t>
              </a:r>
            </a:p>
          </p:txBody>
        </p:sp>
        <p:sp>
          <p:nvSpPr>
            <p:cNvPr id="55" name="Rectangle 54"/>
            <p:cNvSpPr/>
            <p:nvPr/>
          </p:nvSpPr>
          <p:spPr>
            <a:xfrm rot="16200000">
              <a:off x="5637451" y="4308283"/>
              <a:ext cx="574196" cy="769441"/>
            </a:xfrm>
            <a:prstGeom prst="rect">
              <a:avLst/>
            </a:prstGeom>
          </p:spPr>
          <p:txBody>
            <a:bodyPr wrap="none">
              <a:spAutoFit/>
            </a:bodyPr>
            <a:lstStyle/>
            <a:p>
              <a:r>
                <a:rPr lang="en-US" sz="4400" dirty="0"/>
                <a:t>…</a:t>
              </a:r>
            </a:p>
          </p:txBody>
        </p:sp>
        <p:sp>
          <p:nvSpPr>
            <p:cNvPr id="56" name="Rectangle 55"/>
            <p:cNvSpPr/>
            <p:nvPr/>
          </p:nvSpPr>
          <p:spPr>
            <a:xfrm rot="16200000">
              <a:off x="7123351" y="4335298"/>
              <a:ext cx="574196" cy="769441"/>
            </a:xfrm>
            <a:prstGeom prst="rect">
              <a:avLst/>
            </a:prstGeom>
          </p:spPr>
          <p:txBody>
            <a:bodyPr wrap="none">
              <a:spAutoFit/>
            </a:bodyPr>
            <a:lstStyle/>
            <a:p>
              <a:r>
                <a:rPr lang="en-US" sz="4400" dirty="0"/>
                <a:t>…</a:t>
              </a:r>
            </a:p>
          </p:txBody>
        </p:sp>
        <mc:AlternateContent xmlns:mc="http://schemas.openxmlformats.org/markup-compatibility/2006" xmlns:a14="http://schemas.microsoft.com/office/drawing/2010/main">
          <mc:Choice Requires="a14">
            <p:sp>
              <p:nvSpPr>
                <p:cNvPr id="57" name="Text Box 41"/>
                <p:cNvSpPr txBox="1">
                  <a:spLocks noChangeArrowheads="1"/>
                </p:cNvSpPr>
                <p:nvPr/>
              </p:nvSpPr>
              <p:spPr bwMode="auto">
                <a:xfrm>
                  <a:off x="1295400" y="5226656"/>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57" name="Text Box 41"/>
                <p:cNvSpPr txBox="1">
                  <a:spLocks noRot="1" noChangeAspect="1" noMove="1" noResize="1" noEditPoints="1" noAdjustHandles="1" noChangeArrowheads="1" noChangeShapeType="1" noTextEdit="1"/>
                </p:cNvSpPr>
                <p:nvPr/>
              </p:nvSpPr>
              <p:spPr bwMode="auto">
                <a:xfrm>
                  <a:off x="1295400" y="5226656"/>
                  <a:ext cx="716630" cy="457200"/>
                </a:xfrm>
                <a:prstGeom prst="rect">
                  <a:avLst/>
                </a:prstGeom>
                <a:blipFill>
                  <a:blip r:embed="rId10"/>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 Box 41"/>
                <p:cNvSpPr txBox="1">
                  <a:spLocks noChangeArrowheads="1"/>
                </p:cNvSpPr>
                <p:nvPr/>
              </p:nvSpPr>
              <p:spPr bwMode="auto">
                <a:xfrm>
                  <a:off x="2286000"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58" name="Text Box 41"/>
                <p:cNvSpPr txBox="1">
                  <a:spLocks noRot="1" noChangeAspect="1" noMove="1" noResize="1" noEditPoints="1" noAdjustHandles="1" noChangeArrowheads="1" noChangeShapeType="1" noTextEdit="1"/>
                </p:cNvSpPr>
                <p:nvPr/>
              </p:nvSpPr>
              <p:spPr bwMode="auto">
                <a:xfrm>
                  <a:off x="2286000" y="5229577"/>
                  <a:ext cx="716630" cy="457200"/>
                </a:xfrm>
                <a:prstGeom prst="rect">
                  <a:avLst/>
                </a:prstGeom>
                <a:blipFill>
                  <a:blip r:embed="rId11"/>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 Box 41"/>
                <p:cNvSpPr txBox="1">
                  <a:spLocks noChangeArrowheads="1"/>
                </p:cNvSpPr>
                <p:nvPr/>
              </p:nvSpPr>
              <p:spPr bwMode="auto">
                <a:xfrm>
                  <a:off x="3201319"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59" name="Text Box 41"/>
                <p:cNvSpPr txBox="1">
                  <a:spLocks noRot="1" noChangeAspect="1" noMove="1" noResize="1" noEditPoints="1" noAdjustHandles="1" noChangeArrowheads="1" noChangeShapeType="1" noTextEdit="1"/>
                </p:cNvSpPr>
                <p:nvPr/>
              </p:nvSpPr>
              <p:spPr bwMode="auto">
                <a:xfrm>
                  <a:off x="3201319" y="5229577"/>
                  <a:ext cx="716630" cy="457200"/>
                </a:xfrm>
                <a:prstGeom prst="rect">
                  <a:avLst/>
                </a:prstGeom>
                <a:blipFill>
                  <a:blip r:embed="rId12"/>
                  <a:stretch>
                    <a:fillRect/>
                  </a:stretch>
                </a:blipFill>
                <a:ln w="9525">
                  <a:solidFill>
                    <a:srgbClr val="FF0000"/>
                  </a:solidFill>
                  <a:miter lim="800000"/>
                  <a:headEnd/>
                  <a:tailEnd/>
                </a:ln>
              </p:spPr>
              <p:txBody>
                <a:bodyPr/>
                <a:lstStyle/>
                <a:p>
                  <a:r>
                    <a:rPr lang="en-US">
                      <a:noFill/>
                    </a:rPr>
                    <a:t> </a:t>
                  </a:r>
                </a:p>
              </p:txBody>
            </p:sp>
          </mc:Fallback>
        </mc:AlternateContent>
        <p:sp>
          <p:nvSpPr>
            <p:cNvPr id="60" name="Rectangle 59"/>
            <p:cNvSpPr/>
            <p:nvPr/>
          </p:nvSpPr>
          <p:spPr>
            <a:xfrm>
              <a:off x="4133849" y="4917337"/>
              <a:ext cx="574196" cy="769441"/>
            </a:xfrm>
            <a:prstGeom prst="rect">
              <a:avLst/>
            </a:prstGeom>
          </p:spPr>
          <p:txBody>
            <a:bodyPr wrap="none">
              <a:spAutoFit/>
            </a:bodyPr>
            <a:lstStyle/>
            <a:p>
              <a:r>
                <a:rPr lang="en-US" sz="4400" dirty="0"/>
                <a:t>…</a:t>
              </a:r>
            </a:p>
          </p:txBody>
        </p:sp>
        <mc:AlternateContent xmlns:mc="http://schemas.openxmlformats.org/markup-compatibility/2006" xmlns:a14="http://schemas.microsoft.com/office/drawing/2010/main">
          <mc:Choice Requires="a14">
            <p:sp>
              <p:nvSpPr>
                <p:cNvPr id="61" name="Text Box 41"/>
                <p:cNvSpPr txBox="1">
                  <a:spLocks noChangeArrowheads="1"/>
                </p:cNvSpPr>
                <p:nvPr/>
              </p:nvSpPr>
              <p:spPr bwMode="auto">
                <a:xfrm>
                  <a:off x="5348411" y="5226656"/>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61" name="Text Box 41"/>
                <p:cNvSpPr txBox="1">
                  <a:spLocks noRot="1" noChangeAspect="1" noMove="1" noResize="1" noEditPoints="1" noAdjustHandles="1" noChangeArrowheads="1" noChangeShapeType="1" noTextEdit="1"/>
                </p:cNvSpPr>
                <p:nvPr/>
              </p:nvSpPr>
              <p:spPr bwMode="auto">
                <a:xfrm>
                  <a:off x="5348411" y="5226656"/>
                  <a:ext cx="716630" cy="457200"/>
                </a:xfrm>
                <a:prstGeom prst="rect">
                  <a:avLst/>
                </a:prstGeom>
                <a:blipFill>
                  <a:blip r:embed="rId13"/>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 Box 41"/>
                <p:cNvSpPr txBox="1">
                  <a:spLocks noChangeArrowheads="1"/>
                </p:cNvSpPr>
                <p:nvPr/>
              </p:nvSpPr>
              <p:spPr bwMode="auto">
                <a:xfrm>
                  <a:off x="6324600"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62" name="Text Box 41"/>
                <p:cNvSpPr txBox="1">
                  <a:spLocks noRot="1" noChangeAspect="1" noMove="1" noResize="1" noEditPoints="1" noAdjustHandles="1" noChangeArrowheads="1" noChangeShapeType="1" noTextEdit="1"/>
                </p:cNvSpPr>
                <p:nvPr/>
              </p:nvSpPr>
              <p:spPr bwMode="auto">
                <a:xfrm>
                  <a:off x="6324600" y="5229577"/>
                  <a:ext cx="716630" cy="457200"/>
                </a:xfrm>
                <a:prstGeom prst="rect">
                  <a:avLst/>
                </a:prstGeom>
                <a:blipFill>
                  <a:blip r:embed="rId14"/>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 Box 41"/>
                <p:cNvSpPr txBox="1">
                  <a:spLocks noChangeArrowheads="1"/>
                </p:cNvSpPr>
                <p:nvPr/>
              </p:nvSpPr>
              <p:spPr bwMode="auto">
                <a:xfrm>
                  <a:off x="7201056"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63" name="Text Box 41"/>
                <p:cNvSpPr txBox="1">
                  <a:spLocks noRot="1" noChangeAspect="1" noMove="1" noResize="1" noEditPoints="1" noAdjustHandles="1" noChangeArrowheads="1" noChangeShapeType="1" noTextEdit="1"/>
                </p:cNvSpPr>
                <p:nvPr/>
              </p:nvSpPr>
              <p:spPr bwMode="auto">
                <a:xfrm>
                  <a:off x="7201056" y="5229577"/>
                  <a:ext cx="716630" cy="457200"/>
                </a:xfrm>
                <a:prstGeom prst="rect">
                  <a:avLst/>
                </a:prstGeom>
                <a:blipFill>
                  <a:blip r:embed="rId15"/>
                  <a:stretch>
                    <a:fillRect/>
                  </a:stretch>
                </a:blipFill>
                <a:ln w="9525">
                  <a:solidFill>
                    <a:srgbClr val="FF0000"/>
                  </a:solidFill>
                  <a:miter lim="800000"/>
                  <a:headEnd/>
                  <a:tailEnd/>
                </a:ln>
              </p:spPr>
              <p:txBody>
                <a:bodyPr/>
                <a:lstStyle/>
                <a:p>
                  <a:r>
                    <a:rPr lang="en-US">
                      <a:noFill/>
                    </a:rPr>
                    <a:t> </a:t>
                  </a:r>
                </a:p>
              </p:txBody>
            </p:sp>
          </mc:Fallback>
        </mc:AlternateContent>
        <p:cxnSp>
          <p:nvCxnSpPr>
            <p:cNvPr id="65" name="Straight Connector 64"/>
            <p:cNvCxnSpPr>
              <a:stCxn id="44" idx="2"/>
              <a:endCxn id="47" idx="0"/>
            </p:cNvCxnSpPr>
            <p:nvPr/>
          </p:nvCxnSpPr>
          <p:spPr>
            <a:xfrm flipH="1">
              <a:off x="3357354" y="2590800"/>
              <a:ext cx="1690896" cy="43745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a:stCxn id="44" idx="2"/>
              <a:endCxn id="48" idx="0"/>
            </p:cNvCxnSpPr>
            <p:nvPr/>
          </p:nvCxnSpPr>
          <p:spPr>
            <a:xfrm>
              <a:off x="5048250" y="2590800"/>
              <a:ext cx="1600200" cy="43745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a:stCxn id="47" idx="2"/>
              <a:endCxn id="49" idx="0"/>
            </p:cNvCxnSpPr>
            <p:nvPr/>
          </p:nvCxnSpPr>
          <p:spPr>
            <a:xfrm flipH="1">
              <a:off x="2240630" y="3485452"/>
              <a:ext cx="1116724"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a:stCxn id="47" idx="2"/>
              <a:endCxn id="50" idx="0"/>
            </p:cNvCxnSpPr>
            <p:nvPr/>
          </p:nvCxnSpPr>
          <p:spPr>
            <a:xfrm>
              <a:off x="3357354" y="3485452"/>
              <a:ext cx="624096"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a:stCxn id="48" idx="2"/>
              <a:endCxn id="51" idx="0"/>
            </p:cNvCxnSpPr>
            <p:nvPr/>
          </p:nvCxnSpPr>
          <p:spPr>
            <a:xfrm flipH="1">
              <a:off x="5848350" y="3485452"/>
              <a:ext cx="800100" cy="34692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a:stCxn id="48" idx="2"/>
              <a:endCxn id="52" idx="0"/>
            </p:cNvCxnSpPr>
            <p:nvPr/>
          </p:nvCxnSpPr>
          <p:spPr>
            <a:xfrm>
              <a:off x="6648450" y="3485452"/>
              <a:ext cx="762000"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7486650" y="4291526"/>
              <a:ext cx="499546" cy="339268"/>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52" idx="2"/>
            </p:cNvCxnSpPr>
            <p:nvPr/>
          </p:nvCxnSpPr>
          <p:spPr>
            <a:xfrm flipH="1">
              <a:off x="7143432" y="4291526"/>
              <a:ext cx="267019" cy="339268"/>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51" idx="2"/>
            </p:cNvCxnSpPr>
            <p:nvPr/>
          </p:nvCxnSpPr>
          <p:spPr>
            <a:xfrm>
              <a:off x="5848351" y="4289576"/>
              <a:ext cx="499545" cy="32045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51" idx="2"/>
            </p:cNvCxnSpPr>
            <p:nvPr/>
          </p:nvCxnSpPr>
          <p:spPr>
            <a:xfrm flipH="1">
              <a:off x="5581332" y="4289576"/>
              <a:ext cx="267019" cy="32045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a:stCxn id="50" idx="2"/>
            </p:cNvCxnSpPr>
            <p:nvPr/>
          </p:nvCxnSpPr>
          <p:spPr>
            <a:xfrm>
              <a:off x="3981450" y="4291526"/>
              <a:ext cx="526860" cy="3133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a:stCxn id="50" idx="2"/>
            </p:cNvCxnSpPr>
            <p:nvPr/>
          </p:nvCxnSpPr>
          <p:spPr>
            <a:xfrm flipH="1">
              <a:off x="3741748" y="4291526"/>
              <a:ext cx="239703" cy="3133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a:stCxn id="49" idx="2"/>
            </p:cNvCxnSpPr>
            <p:nvPr/>
          </p:nvCxnSpPr>
          <p:spPr>
            <a:xfrm>
              <a:off x="2240631" y="4291527"/>
              <a:ext cx="474963" cy="308485"/>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a:stCxn id="49" idx="2"/>
            </p:cNvCxnSpPr>
            <p:nvPr/>
          </p:nvCxnSpPr>
          <p:spPr>
            <a:xfrm flipH="1">
              <a:off x="1949032" y="4291527"/>
              <a:ext cx="291599" cy="308485"/>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4" name="TextBox 63"/>
                <p:cNvSpPr txBox="1"/>
                <p:nvPr/>
              </p:nvSpPr>
              <p:spPr>
                <a:xfrm>
                  <a:off x="5668215" y="1992868"/>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64" name="TextBox 63"/>
                <p:cNvSpPr txBox="1">
                  <a:spLocks noRot="1" noChangeAspect="1" noMove="1" noResize="1" noEditPoints="1" noAdjustHandles="1" noChangeArrowheads="1" noChangeShapeType="1" noTextEdit="1"/>
                </p:cNvSpPr>
                <p:nvPr/>
              </p:nvSpPr>
              <p:spPr>
                <a:xfrm>
                  <a:off x="5668215" y="1992868"/>
                  <a:ext cx="365806" cy="369332"/>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TextBox 65"/>
                <p:cNvSpPr txBox="1"/>
                <p:nvPr/>
              </p:nvSpPr>
              <p:spPr>
                <a:xfrm>
                  <a:off x="3962400" y="2940302"/>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66" name="TextBox 65"/>
                <p:cNvSpPr txBox="1">
                  <a:spLocks noRot="1" noChangeAspect="1" noMove="1" noResize="1" noEditPoints="1" noAdjustHandles="1" noChangeArrowheads="1" noChangeShapeType="1" noTextEdit="1"/>
                </p:cNvSpPr>
                <p:nvPr/>
              </p:nvSpPr>
              <p:spPr>
                <a:xfrm>
                  <a:off x="3962400" y="2940302"/>
                  <a:ext cx="365806" cy="369332"/>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TextBox 66"/>
                <p:cNvSpPr txBox="1"/>
                <p:nvPr/>
              </p:nvSpPr>
              <p:spPr>
                <a:xfrm>
                  <a:off x="7246374" y="2974403"/>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67" name="TextBox 66"/>
                <p:cNvSpPr txBox="1">
                  <a:spLocks noRot="1" noChangeAspect="1" noMove="1" noResize="1" noEditPoints="1" noAdjustHandles="1" noChangeArrowheads="1" noChangeShapeType="1" noTextEdit="1"/>
                </p:cNvSpPr>
                <p:nvPr/>
              </p:nvSpPr>
              <p:spPr>
                <a:xfrm>
                  <a:off x="7246374" y="2974403"/>
                  <a:ext cx="365806" cy="369332"/>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p:cNvSpPr txBox="1"/>
                <p:nvPr/>
              </p:nvSpPr>
              <p:spPr>
                <a:xfrm>
                  <a:off x="2819400" y="3778527"/>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68" name="TextBox 67"/>
                <p:cNvSpPr txBox="1">
                  <a:spLocks noRot="1" noChangeAspect="1" noMove="1" noResize="1" noEditPoints="1" noAdjustHandles="1" noChangeArrowheads="1" noChangeShapeType="1" noTextEdit="1"/>
                </p:cNvSpPr>
                <p:nvPr/>
              </p:nvSpPr>
              <p:spPr>
                <a:xfrm>
                  <a:off x="2819400" y="3778527"/>
                  <a:ext cx="365806" cy="36933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p:cNvSpPr txBox="1"/>
                <p:nvPr/>
              </p:nvSpPr>
              <p:spPr>
                <a:xfrm>
                  <a:off x="4639597" y="3774093"/>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70" name="TextBox 69"/>
                <p:cNvSpPr txBox="1">
                  <a:spLocks noRot="1" noChangeAspect="1" noMove="1" noResize="1" noEditPoints="1" noAdjustHandles="1" noChangeArrowheads="1" noChangeShapeType="1" noTextEdit="1"/>
                </p:cNvSpPr>
                <p:nvPr/>
              </p:nvSpPr>
              <p:spPr>
                <a:xfrm>
                  <a:off x="4639597" y="3774093"/>
                  <a:ext cx="365806"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p:cNvSpPr txBox="1"/>
                <p:nvPr/>
              </p:nvSpPr>
              <p:spPr>
                <a:xfrm>
                  <a:off x="6432433" y="3783622"/>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b="0" dirty="0">
                    <a:solidFill>
                      <a:srgbClr val="0070C0"/>
                    </a:solidFill>
                  </a:endParaRPr>
                </a:p>
              </p:txBody>
            </p:sp>
          </mc:Choice>
          <mc:Fallback xmlns="">
            <p:sp>
              <p:nvSpPr>
                <p:cNvPr id="71" name="TextBox 70"/>
                <p:cNvSpPr txBox="1">
                  <a:spLocks noRot="1" noChangeAspect="1" noMove="1" noResize="1" noEditPoints="1" noAdjustHandles="1" noChangeArrowheads="1" noChangeShapeType="1" noTextEdit="1"/>
                </p:cNvSpPr>
                <p:nvPr/>
              </p:nvSpPr>
              <p:spPr>
                <a:xfrm>
                  <a:off x="6432433" y="3783622"/>
                  <a:ext cx="365806" cy="36933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p:cNvSpPr txBox="1"/>
                <p:nvPr/>
              </p:nvSpPr>
              <p:spPr>
                <a:xfrm>
                  <a:off x="8001000" y="3779188"/>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72" name="TextBox 71"/>
                <p:cNvSpPr txBox="1">
                  <a:spLocks noRot="1" noChangeAspect="1" noMove="1" noResize="1" noEditPoints="1" noAdjustHandles="1" noChangeArrowheads="1" noChangeShapeType="1" noTextEdit="1"/>
                </p:cNvSpPr>
                <p:nvPr/>
              </p:nvSpPr>
              <p:spPr>
                <a:xfrm>
                  <a:off x="8001000" y="3779188"/>
                  <a:ext cx="365806" cy="369332"/>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p:cNvSpPr txBox="1"/>
                <p:nvPr/>
              </p:nvSpPr>
              <p:spPr>
                <a:xfrm>
                  <a:off x="1905000"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4" name="TextBox 73"/>
                <p:cNvSpPr txBox="1">
                  <a:spLocks noRot="1" noChangeAspect="1" noMove="1" noResize="1" noEditPoints="1" noAdjustHandles="1" noChangeArrowheads="1" noChangeShapeType="1" noTextEdit="1"/>
                </p:cNvSpPr>
                <p:nvPr/>
              </p:nvSpPr>
              <p:spPr>
                <a:xfrm>
                  <a:off x="1905000" y="5105400"/>
                  <a:ext cx="365806"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Box 74"/>
                <p:cNvSpPr txBox="1"/>
                <p:nvPr/>
              </p:nvSpPr>
              <p:spPr>
                <a:xfrm>
                  <a:off x="2907380"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5" name="TextBox 74"/>
                <p:cNvSpPr txBox="1">
                  <a:spLocks noRot="1" noChangeAspect="1" noMove="1" noResize="1" noEditPoints="1" noAdjustHandles="1" noChangeArrowheads="1" noChangeShapeType="1" noTextEdit="1"/>
                </p:cNvSpPr>
                <p:nvPr/>
              </p:nvSpPr>
              <p:spPr>
                <a:xfrm>
                  <a:off x="2907380" y="5105400"/>
                  <a:ext cx="365806" cy="369332"/>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p:cNvSpPr txBox="1"/>
                <p:nvPr/>
              </p:nvSpPr>
              <p:spPr>
                <a:xfrm>
                  <a:off x="3821292"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7" name="TextBox 76"/>
                <p:cNvSpPr txBox="1">
                  <a:spLocks noRot="1" noChangeAspect="1" noMove="1" noResize="1" noEditPoints="1" noAdjustHandles="1" noChangeArrowheads="1" noChangeShapeType="1" noTextEdit="1"/>
                </p:cNvSpPr>
                <p:nvPr/>
              </p:nvSpPr>
              <p:spPr>
                <a:xfrm>
                  <a:off x="3821292" y="5105400"/>
                  <a:ext cx="365806"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p:cNvSpPr txBox="1"/>
                <p:nvPr/>
              </p:nvSpPr>
              <p:spPr>
                <a:xfrm>
                  <a:off x="59587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8" name="TextBox 77"/>
                <p:cNvSpPr txBox="1">
                  <a:spLocks noRot="1" noChangeAspect="1" noMove="1" noResize="1" noEditPoints="1" noAdjustHandles="1" noChangeArrowheads="1" noChangeShapeType="1" noTextEdit="1"/>
                </p:cNvSpPr>
                <p:nvPr/>
              </p:nvSpPr>
              <p:spPr>
                <a:xfrm>
                  <a:off x="5958794" y="5117390"/>
                  <a:ext cx="365806" cy="369332"/>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p:cNvSpPr txBox="1"/>
                <p:nvPr/>
              </p:nvSpPr>
              <p:spPr>
                <a:xfrm>
                  <a:off x="69493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80" name="TextBox 79"/>
                <p:cNvSpPr txBox="1">
                  <a:spLocks noRot="1" noChangeAspect="1" noMove="1" noResize="1" noEditPoints="1" noAdjustHandles="1" noChangeArrowheads="1" noChangeShapeType="1" noTextEdit="1"/>
                </p:cNvSpPr>
                <p:nvPr/>
              </p:nvSpPr>
              <p:spPr>
                <a:xfrm>
                  <a:off x="6949394" y="5117390"/>
                  <a:ext cx="365806" cy="369332"/>
                </a:xfrm>
                <a:prstGeom prst="rect">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Box 80"/>
                <p:cNvSpPr txBox="1"/>
                <p:nvPr/>
              </p:nvSpPr>
              <p:spPr>
                <a:xfrm>
                  <a:off x="78637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81" name="TextBox 80"/>
                <p:cNvSpPr txBox="1">
                  <a:spLocks noRot="1" noChangeAspect="1" noMove="1" noResize="1" noEditPoints="1" noAdjustHandles="1" noChangeArrowheads="1" noChangeShapeType="1" noTextEdit="1"/>
                </p:cNvSpPr>
                <p:nvPr/>
              </p:nvSpPr>
              <p:spPr>
                <a:xfrm>
                  <a:off x="7863794" y="5117390"/>
                  <a:ext cx="365806" cy="369332"/>
                </a:xfrm>
                <a:prstGeom prst="rect">
                  <a:avLst/>
                </a:prstGeom>
                <a:blipFill>
                  <a:blip r:embed="rId27"/>
                  <a:stretch>
                    <a:fillRect/>
                  </a:stretch>
                </a:blipFill>
              </p:spPr>
              <p:txBody>
                <a:bodyPr/>
                <a:lstStyle/>
                <a:p>
                  <a:r>
                    <a:rPr lang="en-US">
                      <a:noFill/>
                    </a:rPr>
                    <a:t> </a:t>
                  </a:r>
                </a:p>
              </p:txBody>
            </p:sp>
          </mc:Fallback>
        </mc:AlternateContent>
      </p:grpSp>
      <p:sp>
        <p:nvSpPr>
          <p:cNvPr id="42" name="Left Brace 41" descr="Because we need to make log_8(n) recursive calls before reaching a base case, the height of this chain of stackframes is log_8(n)."/>
          <p:cNvSpPr/>
          <p:nvPr/>
        </p:nvSpPr>
        <p:spPr>
          <a:xfrm flipH="1" flipV="1">
            <a:off x="8395065" y="2534286"/>
            <a:ext cx="250372" cy="3553177"/>
          </a:xfrm>
          <a:prstGeom prst="leftBrace">
            <a:avLst>
              <a:gd name="adj1" fmla="val 83199"/>
              <a:gd name="adj2" fmla="val 49631"/>
            </a:avLst>
          </a:prstGeom>
          <a:ln w="19050">
            <a:solidFill>
              <a:srgbClr val="FF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41" name="Text Box 2"/>
              <p:cNvSpPr txBox="1">
                <a:spLocks noChangeArrowheads="1"/>
              </p:cNvSpPr>
              <p:nvPr/>
            </p:nvSpPr>
            <p:spPr bwMode="auto">
              <a:xfrm>
                <a:off x="9040525" y="2631333"/>
                <a:ext cx="2991582" cy="505395"/>
              </a:xfrm>
              <a:prstGeom prst="rect">
                <a:avLst/>
              </a:prstGeom>
              <a:noFill/>
              <a:ln w="9525">
                <a:noFill/>
                <a:miter lim="800000"/>
                <a:headEnd/>
                <a:tailEnd/>
              </a:ln>
            </p:spPr>
            <p:txBody>
              <a:bodyPr wrap="square">
                <a:spAutoFit/>
              </a:bodyPr>
              <a:lstStyle/>
              <a:p>
                <a:pPr algn="ctr"/>
                <a:r>
                  <a:rPr lang="en-US" sz="2600" dirty="0">
                    <a:latin typeface="Symbol" pitchFamily="18" charset="2"/>
                  </a:rPr>
                  <a:t>Þ </a:t>
                </a:r>
                <a14:m>
                  <m:oMath xmlns:m="http://schemas.openxmlformats.org/officeDocument/2006/math">
                    <m:sSup>
                      <m:sSupPr>
                        <m:ctrlPr>
                          <a:rPr lang="en-US" sz="2600" b="0" i="1" smtClean="0">
                            <a:solidFill>
                              <a:srgbClr val="0070C0"/>
                            </a:solidFill>
                            <a:latin typeface="Cambria Math" panose="02040503050406030204" pitchFamily="18" charset="0"/>
                          </a:rPr>
                        </m:ctrlPr>
                      </m:sSupPr>
                      <m:e>
                        <m:r>
                          <a:rPr lang="en-US" sz="2600" b="0" i="1" smtClean="0">
                            <a:solidFill>
                              <a:srgbClr val="0070C0"/>
                            </a:solidFill>
                            <a:latin typeface="Cambria Math" panose="02040503050406030204" pitchFamily="18" charset="0"/>
                          </a:rPr>
                          <m:t>2</m:t>
                        </m:r>
                      </m:e>
                      <m:sup>
                        <m:r>
                          <a:rPr lang="en-US" sz="2600" b="0" i="1" smtClean="0">
                            <a:solidFill>
                              <a:srgbClr val="0070C0"/>
                            </a:solidFill>
                            <a:latin typeface="Cambria Math" panose="02040503050406030204" pitchFamily="18" charset="0"/>
                          </a:rPr>
                          <m:t>𝑖</m:t>
                        </m:r>
                      </m:sup>
                    </m:sSup>
                  </m:oMath>
                </a14:m>
                <a:r>
                  <a:rPr lang="en-US" sz="2600" dirty="0">
                    <a:solidFill>
                      <a:srgbClr val="FF0000"/>
                    </a:solidFill>
                  </a:rPr>
                  <a:t> </a:t>
                </a:r>
                <a:r>
                  <a:rPr lang="en-US" sz="2600" dirty="0"/>
                  <a:t>work per level</a:t>
                </a:r>
              </a:p>
            </p:txBody>
          </p:sp>
        </mc:Choice>
        <mc:Fallback xmlns="">
          <p:sp>
            <p:nvSpPr>
              <p:cNvPr id="41" name="Text Box 2"/>
              <p:cNvSpPr txBox="1">
                <a:spLocks noRot="1" noChangeAspect="1" noMove="1" noResize="1" noEditPoints="1" noAdjustHandles="1" noChangeArrowheads="1" noChangeShapeType="1" noTextEdit="1"/>
              </p:cNvSpPr>
              <p:nvPr/>
            </p:nvSpPr>
            <p:spPr bwMode="auto">
              <a:xfrm>
                <a:off x="9040525" y="2631333"/>
                <a:ext cx="2991582" cy="505395"/>
              </a:xfrm>
              <a:prstGeom prst="rect">
                <a:avLst/>
              </a:prstGeom>
              <a:blipFill>
                <a:blip r:embed="rId28"/>
                <a:stretch>
                  <a:fillRect l="-1222" t="-12048" r="-1222" b="-30120"/>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 Box 2"/>
              <p:cNvSpPr txBox="1">
                <a:spLocks noChangeArrowheads="1"/>
              </p:cNvSpPr>
              <p:nvPr/>
            </p:nvSpPr>
            <p:spPr bwMode="auto">
              <a:xfrm>
                <a:off x="8486069" y="3763903"/>
                <a:ext cx="2312388" cy="954107"/>
              </a:xfrm>
              <a:prstGeom prst="rect">
                <a:avLst/>
              </a:prstGeom>
              <a:noFill/>
              <a:ln w="9525">
                <a:noFill/>
                <a:miter lim="800000"/>
                <a:headEnd/>
                <a:tailEnd/>
              </a:ln>
            </p:spPr>
            <p:txBody>
              <a:bodyPr wrap="square">
                <a:spAutoFit/>
              </a:bodyPr>
              <a:lstStyle/>
              <a:p>
                <a:pPr algn="ctr"/>
                <a14:m>
                  <m:oMath xmlns:m="http://schemas.openxmlformats.org/officeDocument/2006/math">
                    <m:sSub>
                      <m:sSubPr>
                        <m:ctrlPr>
                          <a:rPr lang="en-US" sz="2800" i="1" dirty="0" smtClean="0">
                            <a:solidFill>
                              <a:srgbClr val="FF00FF"/>
                            </a:solidFill>
                            <a:latin typeface="Cambria Math" panose="02040503050406030204" pitchFamily="18" charset="0"/>
                          </a:rPr>
                        </m:ctrlPr>
                      </m:sSubPr>
                      <m:e>
                        <m:r>
                          <m:rPr>
                            <m:sty m:val="p"/>
                          </m:rPr>
                          <a:rPr lang="en-US" sz="2800" dirty="0">
                            <a:solidFill>
                              <a:srgbClr val="FF00FF"/>
                            </a:solidFill>
                            <a:latin typeface="Cambria Math"/>
                          </a:rPr>
                          <m:t>log</m:t>
                        </m:r>
                      </m:e>
                      <m:sub>
                        <m:r>
                          <a:rPr lang="en-US" sz="2800" b="0" i="1" dirty="0" smtClean="0">
                            <a:solidFill>
                              <a:srgbClr val="FF00FF"/>
                            </a:solidFill>
                            <a:latin typeface="Cambria Math" panose="02040503050406030204" pitchFamily="18" charset="0"/>
                          </a:rPr>
                          <m:t>8</m:t>
                        </m:r>
                      </m:sub>
                    </m:sSub>
                    <m:r>
                      <a:rPr lang="en-US" sz="2800" i="1" dirty="0">
                        <a:solidFill>
                          <a:srgbClr val="FF00FF"/>
                        </a:solidFill>
                        <a:latin typeface="Cambria Math"/>
                      </a:rPr>
                      <m:t>⁡</m:t>
                    </m:r>
                    <m:r>
                      <a:rPr lang="en-US" sz="2800" i="1" dirty="0">
                        <a:solidFill>
                          <a:srgbClr val="FF00FF"/>
                        </a:solidFill>
                        <a:latin typeface="Cambria Math"/>
                      </a:rPr>
                      <m:t>𝑛</m:t>
                    </m:r>
                  </m:oMath>
                </a14:m>
                <a:r>
                  <a:rPr lang="en-US" sz="2800" dirty="0">
                    <a:solidFill>
                      <a:srgbClr val="FF00FF"/>
                    </a:solidFill>
                  </a:rPr>
                  <a:t> </a:t>
                </a:r>
                <a:r>
                  <a:rPr lang="en-US" sz="2800" dirty="0"/>
                  <a:t>levels</a:t>
                </a:r>
              </a:p>
              <a:p>
                <a:pPr algn="ctr"/>
                <a:r>
                  <a:rPr lang="en-US" sz="2800" dirty="0"/>
                  <a:t>of recursion</a:t>
                </a:r>
              </a:p>
            </p:txBody>
          </p:sp>
        </mc:Choice>
        <mc:Fallback xmlns="">
          <p:sp>
            <p:nvSpPr>
              <p:cNvPr id="43" name="Text Box 2"/>
              <p:cNvSpPr txBox="1">
                <a:spLocks noRot="1" noChangeAspect="1" noMove="1" noResize="1" noEditPoints="1" noAdjustHandles="1" noChangeArrowheads="1" noChangeShapeType="1" noTextEdit="1"/>
              </p:cNvSpPr>
              <p:nvPr/>
            </p:nvSpPr>
            <p:spPr bwMode="auto">
              <a:xfrm>
                <a:off x="8486069" y="3763903"/>
                <a:ext cx="2312388" cy="954107"/>
              </a:xfrm>
              <a:prstGeom prst="rect">
                <a:avLst/>
              </a:prstGeom>
              <a:blipFill>
                <a:blip r:embed="rId29"/>
                <a:stretch>
                  <a:fillRect t="-5732" b="-17197"/>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Rectangle 45"/>
              <p:cNvSpPr/>
              <p:nvPr/>
            </p:nvSpPr>
            <p:spPr>
              <a:xfrm>
                <a:off x="9040525" y="5302056"/>
                <a:ext cx="3159329" cy="1324080"/>
              </a:xfrm>
              <a:prstGeom prst="rect">
                <a:avLst/>
              </a:prstGeom>
            </p:spPr>
            <p:txBody>
              <a:bodyPr wrap="square">
                <a:spAutoFit/>
              </a:bodyPr>
              <a:lstStyle/>
              <a:p>
                <a:pPr lvl="1"/>
                <a14:m>
                  <m:oMathPara xmlns:m="http://schemas.openxmlformats.org/officeDocument/2006/math">
                    <m:oMathParaPr>
                      <m:jc m:val="centerGroup"/>
                    </m:oMathParaPr>
                    <m:oMath xmlns:m="http://schemas.openxmlformats.org/officeDocument/2006/math">
                      <m:r>
                        <a:rPr lang="en-US" sz="2800" i="1" smtClean="0">
                          <a:latin typeface="Cambria Math"/>
                        </a:rPr>
                        <m:t>𝑇</m:t>
                      </m:r>
                      <m:d>
                        <m:dPr>
                          <m:ctrlPr>
                            <a:rPr lang="en-US" sz="2800" i="1">
                              <a:latin typeface="Cambria Math" panose="02040503050406030204" pitchFamily="18" charset="0"/>
                            </a:rPr>
                          </m:ctrlPr>
                        </m:dPr>
                        <m:e>
                          <m:r>
                            <a:rPr lang="en-US" sz="2800" i="1">
                              <a:latin typeface="Cambria Math"/>
                            </a:rPr>
                            <m:t>𝑛</m:t>
                          </m:r>
                        </m:e>
                      </m:d>
                      <m:r>
                        <a:rPr lang="en-US" sz="2800" i="1">
                          <a:latin typeface="Cambria Math"/>
                        </a:rPr>
                        <m:t>=</m:t>
                      </m:r>
                      <m:nary>
                        <m:naryPr>
                          <m:chr m:val="∑"/>
                          <m:ctrlPr>
                            <a:rPr lang="en-US" sz="2800" i="1">
                              <a:latin typeface="Cambria Math" panose="02040503050406030204" pitchFamily="18" charset="0"/>
                            </a:rPr>
                          </m:ctrlPr>
                        </m:naryPr>
                        <m:sub>
                          <m:r>
                            <m:rPr>
                              <m:brk m:alnAt="23"/>
                            </m:rPr>
                            <a:rPr lang="en-US" sz="2800" i="1">
                              <a:latin typeface="Cambria Math"/>
                            </a:rPr>
                            <m:t>𝑖</m:t>
                          </m:r>
                          <m:r>
                            <a:rPr lang="en-US" sz="2800" i="1">
                              <a:latin typeface="Cambria Math"/>
                            </a:rPr>
                            <m:t>=</m:t>
                          </m:r>
                          <m:r>
                            <a:rPr lang="en-US" sz="2800" b="0" i="1" smtClean="0">
                              <a:latin typeface="Cambria Math" panose="02040503050406030204" pitchFamily="18" charset="0"/>
                            </a:rPr>
                            <m:t>0</m:t>
                          </m:r>
                        </m:sub>
                        <m:sup>
                          <m:func>
                            <m:funcPr>
                              <m:ctrlPr>
                                <a:rPr lang="en-US" sz="2800" i="1">
                                  <a:latin typeface="Cambria Math" panose="02040503050406030204" pitchFamily="18" charset="0"/>
                                </a:rPr>
                              </m:ctrlPr>
                            </m:funcPr>
                            <m:fName>
                              <m:sSub>
                                <m:sSubPr>
                                  <m:ctrlPr>
                                    <a:rPr lang="en-US" sz="2800" i="1">
                                      <a:latin typeface="Cambria Math" panose="02040503050406030204" pitchFamily="18" charset="0"/>
                                    </a:rPr>
                                  </m:ctrlPr>
                                </m:sSubPr>
                                <m:e>
                                  <m:r>
                                    <m:rPr>
                                      <m:sty m:val="p"/>
                                    </m:rPr>
                                    <a:rPr lang="en-US" sz="2800">
                                      <a:latin typeface="Cambria Math"/>
                                    </a:rPr>
                                    <m:t>log</m:t>
                                  </m:r>
                                </m:e>
                                <m:sub>
                                  <m:r>
                                    <a:rPr lang="en-US" sz="2800" b="0" i="0" smtClean="0">
                                      <a:latin typeface="Cambria Math" panose="02040503050406030204" pitchFamily="18" charset="0"/>
                                    </a:rPr>
                                    <m:t>8</m:t>
                                  </m:r>
                                </m:sub>
                              </m:sSub>
                            </m:fName>
                            <m:e>
                              <m:r>
                                <a:rPr lang="en-US" sz="2800" i="1">
                                  <a:latin typeface="Cambria Math"/>
                                </a:rPr>
                                <m:t>𝑛</m:t>
                              </m:r>
                            </m:e>
                          </m:func>
                        </m:sup>
                        <m:e>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2</m:t>
                              </m:r>
                            </m:e>
                            <m:sup>
                              <m:r>
                                <a:rPr lang="en-US" sz="2800" b="0" i="1" smtClean="0">
                                  <a:latin typeface="Cambria Math" panose="02040503050406030204" pitchFamily="18" charset="0"/>
                                </a:rPr>
                                <m:t>𝑖</m:t>
                              </m:r>
                            </m:sup>
                          </m:sSup>
                        </m:e>
                      </m:nary>
                    </m:oMath>
                  </m:oMathPara>
                </a14:m>
                <a:endParaRPr lang="en-US" sz="2800" dirty="0"/>
              </a:p>
            </p:txBody>
          </p:sp>
        </mc:Choice>
        <mc:Fallback xmlns="">
          <p:sp>
            <p:nvSpPr>
              <p:cNvPr id="46" name="Rectangle 45"/>
              <p:cNvSpPr>
                <a:spLocks noRot="1" noChangeAspect="1" noMove="1" noResize="1" noEditPoints="1" noAdjustHandles="1" noChangeArrowheads="1" noChangeShapeType="1" noTextEdit="1"/>
              </p:cNvSpPr>
              <p:nvPr/>
            </p:nvSpPr>
            <p:spPr>
              <a:xfrm>
                <a:off x="9040525" y="5302056"/>
                <a:ext cx="3159329" cy="1324080"/>
              </a:xfrm>
              <a:prstGeom prst="rect">
                <a:avLst/>
              </a:prstGeom>
              <a:blipFill>
                <a:blip r:embed="rId30"/>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9702164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39BAE782-C07E-8C9D-F03B-E1555654D0F6}"/>
                  </a:ext>
                </a:extLst>
              </p:cNvPr>
              <p:cNvSpPr>
                <a:spLocks noGrp="1"/>
              </p:cNvSpPr>
              <p:nvPr>
                <p:ph type="title"/>
              </p:nvPr>
            </p:nvSpPr>
            <p:spPr/>
            <p:txBody>
              <a:bodyPr/>
              <a:lstStyle/>
              <a:p>
                <a:r>
                  <a:rPr lang="en-US" dirty="0"/>
                  <a:t>Solving </a:t>
                </a:r>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=2</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8</m:t>
                            </m:r>
                          </m:den>
                        </m:f>
                      </m:e>
                    </m:d>
                    <m:r>
                      <a:rPr lang="en-US" b="0" i="1" smtClean="0">
                        <a:latin typeface="Cambria Math" panose="02040503050406030204" pitchFamily="18" charset="0"/>
                      </a:rPr>
                      <m:t>+1</m:t>
                    </m:r>
                  </m:oMath>
                </a14:m>
                <a:endParaRPr lang="en-US" dirty="0"/>
              </a:p>
            </p:txBody>
          </p:sp>
        </mc:Choice>
        <mc:Fallback xmlns="">
          <p:sp>
            <p:nvSpPr>
              <p:cNvPr id="2" name="Title 1">
                <a:extLst>
                  <a:ext uri="{FF2B5EF4-FFF2-40B4-BE49-F238E27FC236}">
                    <a16:creationId xmlns:a16="http://schemas.microsoft.com/office/drawing/2014/main" id="{39BAE782-C07E-8C9D-F03B-E1555654D0F6}"/>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24CB12C-1484-4384-0A8A-F40C8F089090}"/>
                  </a:ext>
                </a:extLst>
              </p:cNvPr>
              <p:cNvSpPr>
                <a:spLocks noGrp="1"/>
              </p:cNvSpPr>
              <p:nvPr>
                <p:ph idx="1"/>
              </p:nvPr>
            </p:nvSpPr>
            <p:spPr/>
            <p:txBody>
              <a:bodyPr>
                <a:normAutofit lnSpcReduction="10000"/>
              </a:bodyPr>
              <a:lstStyle/>
              <a:p>
                <a:pPr marL="457200" lvl="1" indent="0">
                  <a:buNone/>
                </a:pPr>
                <a14:m>
                  <m:oMathPara xmlns:m="http://schemas.openxmlformats.org/officeDocument/2006/math">
                    <m:oMathParaPr>
                      <m:jc m:val="centerGroup"/>
                    </m:oMathParaPr>
                    <m:oMath xmlns:m="http://schemas.openxmlformats.org/officeDocument/2006/math">
                      <m:r>
                        <a:rPr lang="en-US" sz="2800" i="1" smtClean="0">
                          <a:latin typeface="Cambria Math"/>
                        </a:rPr>
                        <m:t>𝑇</m:t>
                      </m:r>
                      <m:d>
                        <m:dPr>
                          <m:ctrlPr>
                            <a:rPr lang="en-US" sz="2800" i="1">
                              <a:latin typeface="Cambria Math" panose="02040503050406030204" pitchFamily="18" charset="0"/>
                            </a:rPr>
                          </m:ctrlPr>
                        </m:dPr>
                        <m:e>
                          <m:r>
                            <a:rPr lang="en-US" sz="2800" i="1">
                              <a:latin typeface="Cambria Math"/>
                            </a:rPr>
                            <m:t>𝑛</m:t>
                          </m:r>
                        </m:e>
                      </m:d>
                      <m:r>
                        <a:rPr lang="en-US" sz="2800" i="1">
                          <a:latin typeface="Cambria Math"/>
                        </a:rPr>
                        <m:t>=</m:t>
                      </m:r>
                      <m:nary>
                        <m:naryPr>
                          <m:chr m:val="∑"/>
                          <m:ctrlPr>
                            <a:rPr lang="en-US" sz="2800" i="1">
                              <a:latin typeface="Cambria Math" panose="02040503050406030204" pitchFamily="18" charset="0"/>
                            </a:rPr>
                          </m:ctrlPr>
                        </m:naryPr>
                        <m:sub>
                          <m:r>
                            <m:rPr>
                              <m:brk m:alnAt="23"/>
                            </m:rPr>
                            <a:rPr lang="en-US" sz="2800" i="1">
                              <a:latin typeface="Cambria Math"/>
                            </a:rPr>
                            <m:t>𝑖</m:t>
                          </m:r>
                          <m:r>
                            <a:rPr lang="en-US" sz="2800" i="1">
                              <a:latin typeface="Cambria Math"/>
                            </a:rPr>
                            <m:t>=</m:t>
                          </m:r>
                          <m:r>
                            <a:rPr lang="en-US" sz="2800" b="0" i="1" smtClean="0">
                              <a:latin typeface="Cambria Math" panose="02040503050406030204" pitchFamily="18" charset="0"/>
                            </a:rPr>
                            <m:t>0</m:t>
                          </m:r>
                        </m:sub>
                        <m:sup>
                          <m:func>
                            <m:funcPr>
                              <m:ctrlPr>
                                <a:rPr lang="en-US" sz="2800" i="1">
                                  <a:latin typeface="Cambria Math" panose="02040503050406030204" pitchFamily="18" charset="0"/>
                                </a:rPr>
                              </m:ctrlPr>
                            </m:funcPr>
                            <m:fName>
                              <m:sSub>
                                <m:sSubPr>
                                  <m:ctrlPr>
                                    <a:rPr lang="en-US" sz="2800" i="1">
                                      <a:latin typeface="Cambria Math" panose="02040503050406030204" pitchFamily="18" charset="0"/>
                                    </a:rPr>
                                  </m:ctrlPr>
                                </m:sSubPr>
                                <m:e>
                                  <m:r>
                                    <m:rPr>
                                      <m:sty m:val="p"/>
                                    </m:rPr>
                                    <a:rPr lang="en-US" sz="2800">
                                      <a:latin typeface="Cambria Math"/>
                                    </a:rPr>
                                    <m:t>log</m:t>
                                  </m:r>
                                </m:e>
                                <m:sub>
                                  <m:r>
                                    <a:rPr lang="en-US" sz="2800" b="0" i="0" smtClean="0">
                                      <a:latin typeface="Cambria Math" panose="02040503050406030204" pitchFamily="18" charset="0"/>
                                    </a:rPr>
                                    <m:t>8</m:t>
                                  </m:r>
                                </m:sub>
                              </m:sSub>
                            </m:fName>
                            <m:e>
                              <m:r>
                                <a:rPr lang="en-US" sz="2800" i="1">
                                  <a:latin typeface="Cambria Math"/>
                                </a:rPr>
                                <m:t>𝑛</m:t>
                              </m:r>
                            </m:e>
                          </m:func>
                        </m:sup>
                        <m:e>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2</m:t>
                              </m:r>
                            </m:e>
                            <m:sup>
                              <m:r>
                                <a:rPr lang="en-US" sz="2800" b="0" i="1" smtClean="0">
                                  <a:latin typeface="Cambria Math" panose="02040503050406030204" pitchFamily="18" charset="0"/>
                                </a:rPr>
                                <m:t>𝑖</m:t>
                              </m:r>
                            </m:sup>
                          </m:sSup>
                        </m:e>
                      </m:nary>
                    </m:oMath>
                  </m:oMathPara>
                </a14:m>
                <a:endParaRPr lang="en-US" sz="2800" b="0" dirty="0"/>
              </a:p>
              <a:p>
                <a:pPr marL="457200" lvl="1" indent="0">
                  <a:buNone/>
                </a:pPr>
                <a:endParaRPr lang="en-US" sz="2800" dirty="0"/>
              </a:p>
              <a:p>
                <a:pPr marL="457200" lvl="1" indent="0">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m:t>
                      </m:r>
                      <m:d>
                        <m:dPr>
                          <m:ctrlPr>
                            <a:rPr lang="en-US" sz="2800" b="0" i="1" smtClean="0">
                              <a:latin typeface="Cambria Math" panose="02040503050406030204" pitchFamily="18" charset="0"/>
                            </a:rPr>
                          </m:ctrlPr>
                        </m:dPr>
                        <m:e>
                          <m:f>
                            <m:fPr>
                              <m:ctrlPr>
                                <a:rPr lang="en-US" sz="2800" b="0" i="1" smtClean="0">
                                  <a:latin typeface="Cambria Math" panose="02040503050406030204" pitchFamily="18" charset="0"/>
                                </a:rPr>
                              </m:ctrlPr>
                            </m:fPr>
                            <m:num>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2</m:t>
                                  </m:r>
                                </m:e>
                                <m:sup>
                                  <m:func>
                                    <m:funcPr>
                                      <m:ctrlPr>
                                        <a:rPr lang="en-US" sz="2800" b="0" i="1" smtClean="0">
                                          <a:latin typeface="Cambria Math" panose="02040503050406030204" pitchFamily="18" charset="0"/>
                                        </a:rPr>
                                      </m:ctrlPr>
                                    </m:funcPr>
                                    <m:fName>
                                      <m:sSub>
                                        <m:sSubPr>
                                          <m:ctrlPr>
                                            <a:rPr lang="en-US" sz="2800" b="0" i="1" smtClean="0">
                                              <a:latin typeface="Cambria Math" panose="02040503050406030204" pitchFamily="18" charset="0"/>
                                            </a:rPr>
                                          </m:ctrlPr>
                                        </m:sSubPr>
                                        <m:e>
                                          <m:r>
                                            <a:rPr lang="en-US" sz="2800" b="0" i="0" smtClean="0">
                                              <a:latin typeface="Cambria Math" panose="02040503050406030204" pitchFamily="18" charset="0"/>
                                            </a:rPr>
                                            <m:t>1+</m:t>
                                          </m:r>
                                          <m:r>
                                            <m:rPr>
                                              <m:sty m:val="p"/>
                                            </m:rPr>
                                            <a:rPr lang="en-US" sz="2800" b="0" i="0" smtClean="0">
                                              <a:latin typeface="Cambria Math" panose="02040503050406030204" pitchFamily="18" charset="0"/>
                                            </a:rPr>
                                            <m:t>log</m:t>
                                          </m:r>
                                        </m:e>
                                        <m:sub>
                                          <m:r>
                                            <a:rPr lang="en-US" sz="2800" b="0" i="1" smtClean="0">
                                              <a:latin typeface="Cambria Math" panose="02040503050406030204" pitchFamily="18" charset="0"/>
                                            </a:rPr>
                                            <m:t>8</m:t>
                                          </m:r>
                                        </m:sub>
                                      </m:sSub>
                                    </m:fName>
                                    <m:e>
                                      <m:r>
                                        <a:rPr lang="en-US" sz="2800" b="0" i="1" smtClean="0">
                                          <a:latin typeface="Cambria Math" panose="02040503050406030204" pitchFamily="18" charset="0"/>
                                        </a:rPr>
                                        <m:t>𝑛</m:t>
                                      </m:r>
                                    </m:e>
                                  </m:func>
                                </m:sup>
                              </m:sSup>
                              <m:r>
                                <a:rPr lang="en-US" sz="2800" b="0" i="1" smtClean="0">
                                  <a:latin typeface="Cambria Math" panose="02040503050406030204" pitchFamily="18" charset="0"/>
                                </a:rPr>
                                <m:t>−1</m:t>
                              </m:r>
                            </m:num>
                            <m:den>
                              <m:r>
                                <a:rPr lang="en-US" sz="2800" b="0" i="1" smtClean="0">
                                  <a:latin typeface="Cambria Math" panose="02040503050406030204" pitchFamily="18" charset="0"/>
                                </a:rPr>
                                <m:t>2−1</m:t>
                              </m:r>
                            </m:den>
                          </m:f>
                        </m:e>
                      </m:d>
                    </m:oMath>
                  </m:oMathPara>
                </a14:m>
                <a:endParaRPr lang="en-US" sz="2800" dirty="0"/>
              </a:p>
              <a:p>
                <a:pPr marL="457200" lvl="1" indent="0">
                  <a:buNone/>
                </a:pPr>
                <a:endParaRPr lang="en-US" sz="2800" dirty="0"/>
              </a:p>
              <a:p>
                <a:pPr marL="457200" lvl="1" indent="0">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=2⋅</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2</m:t>
                          </m:r>
                        </m:e>
                        <m:sup>
                          <m:func>
                            <m:funcPr>
                              <m:ctrlPr>
                                <a:rPr lang="en-US" sz="2800" b="0" i="1" smtClean="0">
                                  <a:latin typeface="Cambria Math" panose="02040503050406030204" pitchFamily="18" charset="0"/>
                                </a:rPr>
                              </m:ctrlPr>
                            </m:funcPr>
                            <m:fName>
                              <m:sSub>
                                <m:sSubPr>
                                  <m:ctrlPr>
                                    <a:rPr lang="en-US" sz="2800" b="0" i="1" smtClean="0">
                                      <a:latin typeface="Cambria Math" panose="02040503050406030204" pitchFamily="18" charset="0"/>
                                    </a:rPr>
                                  </m:ctrlPr>
                                </m:sSubPr>
                                <m:e>
                                  <m:r>
                                    <m:rPr>
                                      <m:sty m:val="p"/>
                                    </m:rPr>
                                    <a:rPr lang="en-US" sz="2800" b="0" i="0" smtClean="0">
                                      <a:latin typeface="Cambria Math" panose="02040503050406030204" pitchFamily="18" charset="0"/>
                                    </a:rPr>
                                    <m:t>log</m:t>
                                  </m:r>
                                </m:e>
                                <m:sub>
                                  <m:r>
                                    <a:rPr lang="en-US" sz="2800" b="0" i="1" smtClean="0">
                                      <a:latin typeface="Cambria Math" panose="02040503050406030204" pitchFamily="18" charset="0"/>
                                    </a:rPr>
                                    <m:t>8</m:t>
                                  </m:r>
                                </m:sub>
                              </m:sSub>
                            </m:fName>
                            <m:e>
                              <m:r>
                                <a:rPr lang="en-US" sz="2800" b="0" i="1" smtClean="0">
                                  <a:latin typeface="Cambria Math" panose="02040503050406030204" pitchFamily="18" charset="0"/>
                                </a:rPr>
                                <m:t>𝑛</m:t>
                              </m:r>
                            </m:e>
                          </m:func>
                        </m:sup>
                      </m:sSup>
                      <m:r>
                        <a:rPr lang="en-US" sz="2800" b="0" i="1" smtClean="0">
                          <a:latin typeface="Cambria Math" panose="02040503050406030204" pitchFamily="18" charset="0"/>
                        </a:rPr>
                        <m:t>−1</m:t>
                      </m:r>
                    </m:oMath>
                  </m:oMathPara>
                </a14:m>
                <a:endParaRPr lang="en-US" sz="2800" dirty="0"/>
              </a:p>
              <a:p>
                <a:pPr marL="457200" lvl="1" indent="0">
                  <a:buNone/>
                </a:pPr>
                <a:endParaRPr lang="en-US" sz="2800" dirty="0"/>
              </a:p>
              <a:p>
                <a:pPr marL="457200" lvl="1" indent="0">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=2</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𝑛</m:t>
                          </m:r>
                        </m:e>
                        <m:sup>
                          <m:func>
                            <m:funcPr>
                              <m:ctrlPr>
                                <a:rPr lang="en-US" sz="2800" b="0" i="1" smtClean="0">
                                  <a:latin typeface="Cambria Math" panose="02040503050406030204" pitchFamily="18" charset="0"/>
                                </a:rPr>
                              </m:ctrlPr>
                            </m:funcPr>
                            <m:fName>
                              <m:sSub>
                                <m:sSubPr>
                                  <m:ctrlPr>
                                    <a:rPr lang="en-US" sz="2800" b="0" i="1" smtClean="0">
                                      <a:latin typeface="Cambria Math" panose="02040503050406030204" pitchFamily="18" charset="0"/>
                                    </a:rPr>
                                  </m:ctrlPr>
                                </m:sSubPr>
                                <m:e>
                                  <m:r>
                                    <m:rPr>
                                      <m:sty m:val="p"/>
                                    </m:rPr>
                                    <a:rPr lang="en-US" sz="2800" b="0" i="0" smtClean="0">
                                      <a:latin typeface="Cambria Math" panose="02040503050406030204" pitchFamily="18" charset="0"/>
                                    </a:rPr>
                                    <m:t>log</m:t>
                                  </m:r>
                                </m:e>
                                <m:sub>
                                  <m:r>
                                    <a:rPr lang="en-US" sz="2800" b="0" i="1" smtClean="0">
                                      <a:latin typeface="Cambria Math" panose="02040503050406030204" pitchFamily="18" charset="0"/>
                                    </a:rPr>
                                    <m:t>8</m:t>
                                  </m:r>
                                </m:sub>
                              </m:sSub>
                            </m:fName>
                            <m:e>
                              <m:r>
                                <a:rPr lang="en-US" sz="2800" b="0" i="1" smtClean="0">
                                  <a:latin typeface="Cambria Math" panose="02040503050406030204" pitchFamily="18" charset="0"/>
                                </a:rPr>
                                <m:t>2</m:t>
                              </m:r>
                            </m:e>
                          </m:func>
                        </m:sup>
                      </m:sSup>
                      <m:r>
                        <a:rPr lang="en-US" sz="2800" b="0" i="1" smtClean="0">
                          <a:latin typeface="Cambria Math" panose="02040503050406030204" pitchFamily="18" charset="0"/>
                        </a:rPr>
                        <m:t>−1=</m:t>
                      </m:r>
                      <m:r>
                        <m:rPr>
                          <m:sty m:val="p"/>
                        </m:rPr>
                        <a:rPr lang="en-US" sz="2800" b="0" i="0" smtClean="0">
                          <a:latin typeface="Cambria Math" panose="02040503050406030204" pitchFamily="18" charset="0"/>
                        </a:rPr>
                        <m:t>Θ</m:t>
                      </m:r>
                      <m:d>
                        <m:dPr>
                          <m:ctrlPr>
                            <a:rPr lang="en-US" sz="2800" b="0" i="1" smtClean="0">
                              <a:latin typeface="Cambria Math" panose="02040503050406030204" pitchFamily="18" charset="0"/>
                            </a:rPr>
                          </m:ctrlPr>
                        </m:dPr>
                        <m:e>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𝑛</m:t>
                              </m:r>
                            </m:e>
                            <m:sup>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1</m:t>
                                  </m:r>
                                </m:num>
                                <m:den>
                                  <m:r>
                                    <a:rPr lang="en-US" sz="2800" b="0" i="1" smtClean="0">
                                      <a:latin typeface="Cambria Math" panose="02040503050406030204" pitchFamily="18" charset="0"/>
                                    </a:rPr>
                                    <m:t>3</m:t>
                                  </m:r>
                                </m:den>
                              </m:f>
                            </m:sup>
                          </m:sSup>
                        </m:e>
                      </m:d>
                    </m:oMath>
                  </m:oMathPara>
                </a14:m>
                <a:endParaRPr lang="en-US" sz="2800" dirty="0"/>
              </a:p>
              <a:p>
                <a:pPr marL="457200" lvl="1" indent="0">
                  <a:buNone/>
                </a:pPr>
                <a:endParaRPr lang="en-US" sz="2800" dirty="0"/>
              </a:p>
            </p:txBody>
          </p:sp>
        </mc:Choice>
        <mc:Fallback xmlns="">
          <p:sp>
            <p:nvSpPr>
              <p:cNvPr id="3" name="Content Placeholder 2">
                <a:extLst>
                  <a:ext uri="{FF2B5EF4-FFF2-40B4-BE49-F238E27FC236}">
                    <a16:creationId xmlns:a16="http://schemas.microsoft.com/office/drawing/2014/main" id="{324CB12C-1484-4384-0A8A-F40C8F089090}"/>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8543710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en-US" dirty="0"/>
                  <a:t>Finite Geometric Series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&gt;1</m:t>
                    </m:r>
                  </m:oMath>
                </a14:m>
                <a:r>
                  <a:rPr lang="en-US" dirty="0"/>
                  <a:t>)</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2"/>
                <a:stretch>
                  <a:fillRect b="-85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p:cNvSpPr txBox="1"/>
              <p:nvPr/>
            </p:nvSpPr>
            <p:spPr>
              <a:xfrm>
                <a:off x="642730" y="1512665"/>
                <a:ext cx="1126590" cy="130426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nary>
                        <m:naryPr>
                          <m:chr m:val="∑"/>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naryPr>
                        <m:sub>
                          <m:r>
                            <m:rPr>
                              <m:brk m:alnAt="23"/>
                            </m:rPr>
                            <a:rPr kumimoji="0" lang="en-US" sz="2800" b="0" i="1" u="none" strike="noStrike" kern="1200" cap="none" spc="0" normalizeH="0" baseline="0" noProof="0" smtClean="0">
                              <a:ln>
                                <a:noFill/>
                              </a:ln>
                              <a:solidFill>
                                <a:prstClr val="black"/>
                              </a:solidFill>
                              <a:effectLst/>
                              <a:uLnTx/>
                              <a:uFillTx/>
                              <a:latin typeface="Cambria Math"/>
                              <a:ea typeface="+mn-ea"/>
                              <a:cs typeface="+mn-cs"/>
                            </a:rPr>
                            <m:t>𝑖</m:t>
                          </m:r>
                          <m:r>
                            <a:rPr kumimoji="0" lang="en-US" sz="2800" b="0" i="1" u="none" strike="noStrike" kern="1200" cap="none" spc="0" normalizeH="0" baseline="0" noProof="0" smtClean="0">
                              <a:ln>
                                <a:noFill/>
                              </a:ln>
                              <a:solidFill>
                                <a:prstClr val="black"/>
                              </a:solidFill>
                              <a:effectLst/>
                              <a:uLnTx/>
                              <a:uFillTx/>
                              <a:latin typeface="Cambria Math"/>
                              <a:ea typeface="+mn-ea"/>
                              <a:cs typeface="+mn-cs"/>
                            </a:rPr>
                            <m:t>=0</m:t>
                          </m:r>
                        </m:sub>
                        <m:sup>
                          <m:r>
                            <a:rPr kumimoji="0" lang="en-US" sz="2800" b="0" i="1" u="none" strike="noStrike" kern="1200" cap="none" spc="0" normalizeH="0" baseline="0" noProof="0" smtClean="0">
                              <a:ln>
                                <a:noFill/>
                              </a:ln>
                              <a:solidFill>
                                <a:prstClr val="black"/>
                              </a:solidFill>
                              <a:effectLst/>
                              <a:uLnTx/>
                              <a:uFillTx/>
                              <a:latin typeface="Cambria Math"/>
                              <a:ea typeface="+mn-ea"/>
                              <a:cs typeface="+mn-cs"/>
                            </a:rPr>
                            <m:t>𝐿</m:t>
                          </m:r>
                        </m:sup>
                        <m:e>
                          <m:sSup>
                            <m:sSup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US" sz="2800" b="0" i="1" u="none" strike="noStrike" kern="1200" cap="none" spc="0" normalizeH="0" baseline="0" noProof="0" smtClean="0">
                                  <a:ln>
                                    <a:noFill/>
                                  </a:ln>
                                  <a:solidFill>
                                    <a:prstClr val="black"/>
                                  </a:solidFill>
                                  <a:effectLst/>
                                  <a:uLnTx/>
                                  <a:uFillTx/>
                                  <a:latin typeface="Cambria Math"/>
                                  <a:ea typeface="+mn-ea"/>
                                  <a:cs typeface="+mn-cs"/>
                                </a:rPr>
                                <m:t>𝑎</m:t>
                              </m:r>
                            </m:e>
                            <m:sup>
                              <m:r>
                                <a:rPr kumimoji="0" lang="en-US" sz="2800" b="0" i="1" u="none" strike="noStrike" kern="1200" cap="none" spc="0" normalizeH="0" baseline="0" noProof="0" smtClean="0">
                                  <a:ln>
                                    <a:noFill/>
                                  </a:ln>
                                  <a:solidFill>
                                    <a:prstClr val="black"/>
                                  </a:solidFill>
                                  <a:effectLst/>
                                  <a:uLnTx/>
                                  <a:uFillTx/>
                                  <a:latin typeface="Cambria Math"/>
                                  <a:ea typeface="+mn-ea"/>
                                  <a:cs typeface="+mn-cs"/>
                                </a:rPr>
                                <m:t>𝑖</m:t>
                              </m:r>
                            </m:sup>
                          </m:sSup>
                        </m:e>
                      </m:nary>
                    </m:oMath>
                  </m:oMathPara>
                </a14:m>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47" name="TextBox 46"/>
              <p:cNvSpPr txBox="1">
                <a:spLocks noRot="1" noChangeAspect="1" noMove="1" noResize="1" noEditPoints="1" noAdjustHandles="1" noChangeArrowheads="1" noChangeShapeType="1" noTextEdit="1"/>
              </p:cNvSpPr>
              <p:nvPr/>
            </p:nvSpPr>
            <p:spPr>
              <a:xfrm>
                <a:off x="642730" y="1512665"/>
                <a:ext cx="1126590" cy="1304268"/>
              </a:xfrm>
              <a:prstGeom prst="rect">
                <a:avLst/>
              </a:prstGeom>
              <a:blipFill>
                <a:blip r:embed="rId3"/>
                <a:stretch>
                  <a:fillRect/>
                </a:stretch>
              </a:blipFill>
            </p:spPr>
            <p:txBody>
              <a:bodyPr/>
              <a:lstStyle/>
              <a:p>
                <a:r>
                  <a:rPr lang="en-US">
                    <a:noFill/>
                  </a:rPr>
                  <a:t> </a:t>
                </a:r>
              </a:p>
            </p:txBody>
          </p:sp>
        </mc:Fallback>
      </mc:AlternateContent>
      <p:grpSp>
        <p:nvGrpSpPr>
          <p:cNvPr id="3" name="Group 2" descr="Let S represent the value of the geometric series. doing aS gives the same result as &quot;shifting&quot; the series up by one value (so we add one to both the lower bound and upper bound for i, keeping the same number of terms).&#10;&#10;If we then do aS-S all terms from the series cancel except for the last term of aS and the first term of S. Therefore aS-S = the next term in the series minus the first term in the series. In other words, it is a^(L+1) - 1.&#10;&#10;Next applying algebra to aS-S=a^(L+1)-1 we get S = (a^(L+1)-1)/(a-1)">
            <a:extLst>
              <a:ext uri="{FF2B5EF4-FFF2-40B4-BE49-F238E27FC236}">
                <a16:creationId xmlns:a16="http://schemas.microsoft.com/office/drawing/2014/main" id="{23FC1136-767A-FCC8-7482-3B2AE824EC75}"/>
              </a:ext>
            </a:extLst>
          </p:cNvPr>
          <p:cNvGrpSpPr/>
          <p:nvPr/>
        </p:nvGrpSpPr>
        <p:grpSpPr>
          <a:xfrm>
            <a:off x="1429682" y="1473029"/>
            <a:ext cx="8934831" cy="4718388"/>
            <a:chOff x="1429682" y="1473029"/>
            <a:chExt cx="8934831" cy="4718388"/>
          </a:xfrm>
        </p:grpSpPr>
        <p:grpSp>
          <p:nvGrpSpPr>
            <p:cNvPr id="38" name="Group 37"/>
            <p:cNvGrpSpPr/>
            <p:nvPr/>
          </p:nvGrpSpPr>
          <p:grpSpPr>
            <a:xfrm>
              <a:off x="4759872" y="3301829"/>
              <a:ext cx="918341" cy="1828800"/>
              <a:chOff x="2434459" y="1295400"/>
              <a:chExt cx="918341" cy="3657600"/>
            </a:xfrm>
          </p:grpSpPr>
          <p:sp>
            <p:nvSpPr>
              <p:cNvPr id="39" name="Rectangle 38"/>
              <p:cNvSpPr/>
              <p:nvPr/>
            </p:nvSpPr>
            <p:spPr>
              <a:xfrm>
                <a:off x="2434459" y="4495800"/>
                <a:ext cx="228600" cy="4572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1" name="Rectangle 40"/>
              <p:cNvSpPr/>
              <p:nvPr/>
            </p:nvSpPr>
            <p:spPr>
              <a:xfrm>
                <a:off x="2667000" y="4038600"/>
                <a:ext cx="228600" cy="9144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1" name="Rectangle 50"/>
              <p:cNvSpPr/>
              <p:nvPr/>
            </p:nvSpPr>
            <p:spPr>
              <a:xfrm>
                <a:off x="2895600" y="3124200"/>
                <a:ext cx="228600" cy="18288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2" name="Rectangle 51"/>
              <p:cNvSpPr/>
              <p:nvPr/>
            </p:nvSpPr>
            <p:spPr>
              <a:xfrm>
                <a:off x="3124200" y="1295400"/>
                <a:ext cx="228600" cy="36576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33" name="Group 32"/>
            <p:cNvGrpSpPr/>
            <p:nvPr/>
          </p:nvGrpSpPr>
          <p:grpSpPr>
            <a:xfrm>
              <a:off x="2476500" y="1473029"/>
              <a:ext cx="914400" cy="3657600"/>
              <a:chOff x="2667000" y="-2362200"/>
              <a:chExt cx="914400" cy="7315200"/>
            </a:xfrm>
            <a:solidFill>
              <a:schemeClr val="tx2">
                <a:lumMod val="60000"/>
                <a:lumOff val="40000"/>
              </a:schemeClr>
            </a:solidFill>
          </p:grpSpPr>
          <p:sp>
            <p:nvSpPr>
              <p:cNvPr id="34" name="Rectangle 33"/>
              <p:cNvSpPr/>
              <p:nvPr/>
            </p:nvSpPr>
            <p:spPr>
              <a:xfrm>
                <a:off x="2667000" y="4038600"/>
                <a:ext cx="228600" cy="9144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5" name="Rectangle 34"/>
              <p:cNvSpPr/>
              <p:nvPr/>
            </p:nvSpPr>
            <p:spPr>
              <a:xfrm>
                <a:off x="2895600" y="3124200"/>
                <a:ext cx="228600" cy="18288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6" name="Rectangle 35"/>
              <p:cNvSpPr/>
              <p:nvPr/>
            </p:nvSpPr>
            <p:spPr>
              <a:xfrm>
                <a:off x="3124200" y="1295400"/>
                <a:ext cx="228600" cy="36576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7" name="Rectangle 36"/>
              <p:cNvSpPr/>
              <p:nvPr/>
            </p:nvSpPr>
            <p:spPr>
              <a:xfrm>
                <a:off x="3352800" y="-2362200"/>
                <a:ext cx="228600" cy="7315200"/>
              </a:xfrm>
              <a:prstGeom prst="rect">
                <a:avLst/>
              </a:prstGeom>
              <a:solidFill>
                <a:schemeClr val="accent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15" name="Rectangle 14"/>
            <p:cNvSpPr/>
            <p:nvPr/>
          </p:nvSpPr>
          <p:spPr>
            <a:xfrm>
              <a:off x="7316513" y="1473029"/>
              <a:ext cx="228600" cy="3657600"/>
            </a:xfrm>
            <a:prstGeom prst="rect">
              <a:avLst/>
            </a:prstGeom>
            <a:solidFill>
              <a:schemeClr val="tx2">
                <a:lumMod val="60000"/>
                <a:lumOff val="4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23" name="Group 22"/>
            <p:cNvGrpSpPr/>
            <p:nvPr/>
          </p:nvGrpSpPr>
          <p:grpSpPr>
            <a:xfrm>
              <a:off x="4759872" y="3301829"/>
              <a:ext cx="918341" cy="1828800"/>
              <a:chOff x="2434459" y="1295400"/>
              <a:chExt cx="918341" cy="3657600"/>
            </a:xfrm>
          </p:grpSpPr>
          <p:sp>
            <p:nvSpPr>
              <p:cNvPr id="24" name="Rectangle 23"/>
              <p:cNvSpPr/>
              <p:nvPr/>
            </p:nvSpPr>
            <p:spPr>
              <a:xfrm>
                <a:off x="2434459" y="4495800"/>
                <a:ext cx="2286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5" name="Rectangle 24"/>
              <p:cNvSpPr/>
              <p:nvPr/>
            </p:nvSpPr>
            <p:spPr>
              <a:xfrm>
                <a:off x="2667000" y="4038600"/>
                <a:ext cx="228600" cy="9144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6" name="Rectangle 25"/>
              <p:cNvSpPr/>
              <p:nvPr/>
            </p:nvSpPr>
            <p:spPr>
              <a:xfrm>
                <a:off x="2895600" y="3124200"/>
                <a:ext cx="228600" cy="18288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7" name="Rectangle 26"/>
              <p:cNvSpPr/>
              <p:nvPr/>
            </p:nvSpPr>
            <p:spPr>
              <a:xfrm>
                <a:off x="3124200" y="1295400"/>
                <a:ext cx="228600" cy="36576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40" name="Group 39"/>
            <p:cNvGrpSpPr/>
            <p:nvPr/>
          </p:nvGrpSpPr>
          <p:grpSpPr>
            <a:xfrm>
              <a:off x="2476500" y="1473029"/>
              <a:ext cx="914400" cy="3657600"/>
              <a:chOff x="2667000" y="-2362200"/>
              <a:chExt cx="914400" cy="7315200"/>
            </a:xfrm>
            <a:solidFill>
              <a:schemeClr val="tx2">
                <a:lumMod val="60000"/>
                <a:lumOff val="40000"/>
              </a:schemeClr>
            </a:solidFill>
          </p:grpSpPr>
          <p:sp>
            <p:nvSpPr>
              <p:cNvPr id="42" name="Rectangle 41"/>
              <p:cNvSpPr/>
              <p:nvPr/>
            </p:nvSpPr>
            <p:spPr>
              <a:xfrm>
                <a:off x="2667000" y="4038600"/>
                <a:ext cx="228600" cy="9144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3" name="Rectangle 42"/>
              <p:cNvSpPr/>
              <p:nvPr/>
            </p:nvSpPr>
            <p:spPr>
              <a:xfrm>
                <a:off x="2895600" y="3124200"/>
                <a:ext cx="228600" cy="18288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4" name="Rectangle 43"/>
              <p:cNvSpPr/>
              <p:nvPr/>
            </p:nvSpPr>
            <p:spPr>
              <a:xfrm>
                <a:off x="3124200" y="1295400"/>
                <a:ext cx="228600" cy="36576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5" name="Rectangle 44"/>
              <p:cNvSpPr/>
              <p:nvPr/>
            </p:nvSpPr>
            <p:spPr>
              <a:xfrm>
                <a:off x="3352800" y="-2362200"/>
                <a:ext cx="228600" cy="7315200"/>
              </a:xfrm>
              <a:prstGeom prst="rect">
                <a:avLst/>
              </a:prstGeom>
              <a:grp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46" name="Rectangle 45"/>
            <p:cNvSpPr/>
            <p:nvPr/>
          </p:nvSpPr>
          <p:spPr>
            <a:xfrm>
              <a:off x="9373913" y="4978229"/>
              <a:ext cx="228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mc:AlternateContent xmlns:mc="http://schemas.openxmlformats.org/markup-compatibility/2006" xmlns:a14="http://schemas.microsoft.com/office/drawing/2010/main">
          <mc:Choice Requires="a14">
            <p:sp>
              <p:nvSpPr>
                <p:cNvPr id="50" name="TextBox 49"/>
                <p:cNvSpPr txBox="1"/>
                <p:nvPr/>
              </p:nvSpPr>
              <p:spPr>
                <a:xfrm>
                  <a:off x="5984313" y="3353646"/>
                  <a:ext cx="683200"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4000" b="0" i="1" u="none" strike="noStrike" kern="1200" cap="none" spc="0" normalizeH="0" baseline="0" noProof="0">
                            <a:ln>
                              <a:noFill/>
                            </a:ln>
                            <a:solidFill>
                              <a:prstClr val="black"/>
                            </a:solidFill>
                            <a:effectLst/>
                            <a:uLnTx/>
                            <a:uFillTx/>
                            <a:latin typeface="Cambria Math"/>
                            <a:ea typeface="+mn-ea"/>
                            <a:cs typeface="+mn-cs"/>
                          </a:rPr>
                          <m:t>=</m:t>
                        </m:r>
                      </m:oMath>
                    </m:oMathPara>
                  </a14:m>
                  <a:endParaRPr kumimoji="0" lang="en-US" sz="40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50" name="TextBox 49"/>
                <p:cNvSpPr txBox="1">
                  <a:spLocks noRot="1" noChangeAspect="1" noMove="1" noResize="1" noEditPoints="1" noAdjustHandles="1" noChangeArrowheads="1" noChangeShapeType="1" noTextEdit="1"/>
                </p:cNvSpPr>
                <p:nvPr/>
              </p:nvSpPr>
              <p:spPr>
                <a:xfrm>
                  <a:off x="5984313" y="3353646"/>
                  <a:ext cx="683200" cy="707886"/>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8078513" y="3102114"/>
                  <a:ext cx="683200"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4000" b="0" i="1" u="none" strike="noStrike" kern="1200" cap="none" spc="0" normalizeH="0" baseline="0" noProof="0">
                            <a:ln>
                              <a:noFill/>
                            </a:ln>
                            <a:solidFill>
                              <a:prstClr val="black"/>
                            </a:solidFill>
                            <a:effectLst/>
                            <a:uLnTx/>
                            <a:uFillTx/>
                            <a:latin typeface="Cambria Math"/>
                            <a:ea typeface="+mn-ea"/>
                            <a:cs typeface="+mn-cs"/>
                          </a:rPr>
                          <m:t>−</m:t>
                        </m:r>
                      </m:oMath>
                    </m:oMathPara>
                  </a14:m>
                  <a:endParaRPr kumimoji="0" lang="en-US" sz="40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20" name="TextBox 19"/>
                <p:cNvSpPr txBox="1">
                  <a:spLocks noRot="1" noChangeAspect="1" noMove="1" noResize="1" noEditPoints="1" noAdjustHandles="1" noChangeArrowheads="1" noChangeShapeType="1" noTextEdit="1"/>
                </p:cNvSpPr>
                <p:nvPr/>
              </p:nvSpPr>
              <p:spPr>
                <a:xfrm>
                  <a:off x="8078513" y="3102114"/>
                  <a:ext cx="683200" cy="707886"/>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3810000" y="3117163"/>
                  <a:ext cx="683200"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4000" b="0" i="1" u="none" strike="noStrike" kern="1200" cap="none" spc="0" normalizeH="0" baseline="0" noProof="0">
                            <a:ln>
                              <a:noFill/>
                            </a:ln>
                            <a:solidFill>
                              <a:prstClr val="black"/>
                            </a:solidFill>
                            <a:effectLst/>
                            <a:uLnTx/>
                            <a:uFillTx/>
                            <a:latin typeface="Cambria Math"/>
                            <a:ea typeface="+mn-ea"/>
                            <a:cs typeface="+mn-cs"/>
                          </a:rPr>
                          <m:t>−</m:t>
                        </m:r>
                      </m:oMath>
                    </m:oMathPara>
                  </a14:m>
                  <a:endParaRPr kumimoji="0" lang="en-US" sz="40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21" name="TextBox 20"/>
                <p:cNvSpPr txBox="1">
                  <a:spLocks noRot="1" noChangeAspect="1" noMove="1" noResize="1" noEditPoints="1" noAdjustHandles="1" noChangeArrowheads="1" noChangeShapeType="1" noTextEdit="1"/>
                </p:cNvSpPr>
                <p:nvPr/>
              </p:nvSpPr>
              <p:spPr>
                <a:xfrm>
                  <a:off x="3810000" y="3117163"/>
                  <a:ext cx="683200" cy="70788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p:cNvSpPr txBox="1"/>
                <p:nvPr/>
              </p:nvSpPr>
              <p:spPr>
                <a:xfrm>
                  <a:off x="1981200" y="5206830"/>
                  <a:ext cx="201295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The series multiplied by </a:t>
                  </a:r>
                  <a14:m>
                    <m:oMath xmlns:m="http://schemas.openxmlformats.org/officeDocument/2006/math">
                      <m:r>
                        <a:rPr kumimoji="0" lang="en-US" sz="1800" b="0" i="1" u="none" strike="noStrike" kern="1200" cap="none" spc="0" normalizeH="0" baseline="0" noProof="0">
                          <a:ln>
                            <a:noFill/>
                          </a:ln>
                          <a:solidFill>
                            <a:prstClr val="black"/>
                          </a:solidFill>
                          <a:effectLst/>
                          <a:uLnTx/>
                          <a:uFillTx/>
                          <a:latin typeface="Cambria Math"/>
                          <a:ea typeface="+mn-ea"/>
                          <a:cs typeface="+mn-cs"/>
                        </a:rPr>
                        <m:t>𝑎</m:t>
                      </m:r>
                    </m:oMath>
                  </a14:m>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53" name="TextBox 52"/>
                <p:cNvSpPr txBox="1">
                  <a:spLocks noRot="1" noChangeAspect="1" noMove="1" noResize="1" noEditPoints="1" noAdjustHandles="1" noChangeArrowheads="1" noChangeShapeType="1" noTextEdit="1"/>
                </p:cNvSpPr>
                <p:nvPr/>
              </p:nvSpPr>
              <p:spPr>
                <a:xfrm>
                  <a:off x="1981200" y="5206830"/>
                  <a:ext cx="2012952" cy="646331"/>
                </a:xfrm>
                <a:prstGeom prst="rect">
                  <a:avLst/>
                </a:prstGeom>
                <a:blipFill>
                  <a:blip r:embed="rId7"/>
                  <a:stretch>
                    <a:fillRect l="-2424" t="-4717" b="-14151"/>
                  </a:stretch>
                </a:blipFill>
              </p:spPr>
              <p:txBody>
                <a:bodyPr/>
                <a:lstStyle/>
                <a:p>
                  <a:r>
                    <a:rPr lang="en-US">
                      <a:noFill/>
                    </a:rPr>
                    <a:t> </a:t>
                  </a:r>
                </a:p>
              </p:txBody>
            </p:sp>
          </mc:Fallback>
        </mc:AlternateContent>
        <p:sp>
          <p:nvSpPr>
            <p:cNvPr id="54" name="TextBox 53"/>
            <p:cNvSpPr txBox="1"/>
            <p:nvPr/>
          </p:nvSpPr>
          <p:spPr>
            <a:xfrm>
              <a:off x="4616448" y="5345328"/>
              <a:ext cx="201295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The series</a:t>
              </a:r>
            </a:p>
          </p:txBody>
        </p:sp>
        <p:sp>
          <p:nvSpPr>
            <p:cNvPr id="55" name="TextBox 54"/>
            <p:cNvSpPr txBox="1"/>
            <p:nvPr/>
          </p:nvSpPr>
          <p:spPr>
            <a:xfrm>
              <a:off x="8786537" y="5359229"/>
              <a:ext cx="157797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The first term</a:t>
              </a:r>
            </a:p>
          </p:txBody>
        </p:sp>
        <mc:AlternateContent xmlns:mc="http://schemas.openxmlformats.org/markup-compatibility/2006" xmlns:a14="http://schemas.microsoft.com/office/drawing/2010/main">
          <mc:Choice Requires="a14">
            <p:sp>
              <p:nvSpPr>
                <p:cNvPr id="56" name="TextBox 55"/>
                <p:cNvSpPr txBox="1"/>
                <p:nvPr/>
              </p:nvSpPr>
              <p:spPr>
                <a:xfrm>
                  <a:off x="1429682" y="5791200"/>
                  <a:ext cx="259288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a:ln>
                                  <a:noFill/>
                                </a:ln>
                                <a:solidFill>
                                  <a:prstClr val="black"/>
                                </a:solidFill>
                                <a:effectLst/>
                                <a:uLnTx/>
                                <a:uFillTx/>
                                <a:latin typeface="Cambria Math"/>
                                <a:ea typeface="+mn-ea"/>
                                <a:cs typeface="+mn-cs"/>
                              </a:rPr>
                              <m:t>1+</m:t>
                            </m:r>
                            <m:r>
                              <a:rPr kumimoji="0" lang="en-US" sz="1800" b="0" i="1" u="none" strike="noStrike" kern="1200" cap="none" spc="0" normalizeH="0" baseline="0" noProof="0">
                                <a:ln>
                                  <a:noFill/>
                                </a:ln>
                                <a:solidFill>
                                  <a:prstClr val="black"/>
                                </a:solidFill>
                                <a:effectLst/>
                                <a:uLnTx/>
                                <a:uFillTx/>
                                <a:latin typeface="Cambria Math"/>
                                <a:ea typeface="+mn-ea"/>
                                <a:cs typeface="+mn-cs"/>
                              </a:rPr>
                              <m:t>𝑎</m:t>
                            </m:r>
                            <m:r>
                              <a:rPr kumimoji="0" lang="en-US" sz="1800" b="0" i="1" u="none" strike="noStrike" kern="1200" cap="none" spc="0" normalizeH="0" baseline="0" noProof="0">
                                <a:ln>
                                  <a:noFill/>
                                </a:ln>
                                <a:solidFill>
                                  <a:prstClr val="black"/>
                                </a:solidFill>
                                <a:effectLst/>
                                <a:uLnTx/>
                                <a:uFillTx/>
                                <a:latin typeface="Cambria Math"/>
                                <a:ea typeface="+mn-ea"/>
                                <a:cs typeface="+mn-cs"/>
                              </a:rPr>
                              <m:t>+</m:t>
                            </m:r>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1800" b="0" i="1" u="none" strike="noStrike" kern="1200" cap="none" spc="0" normalizeH="0" baseline="0" noProof="0">
                                    <a:ln>
                                      <a:noFill/>
                                    </a:ln>
                                    <a:solidFill>
                                      <a:prstClr val="black"/>
                                    </a:solidFill>
                                    <a:effectLst/>
                                    <a:uLnTx/>
                                    <a:uFillTx/>
                                    <a:latin typeface="Cambria Math"/>
                                    <a:ea typeface="+mn-ea"/>
                                    <a:cs typeface="+mn-cs"/>
                                  </a:rPr>
                                  <m:t>𝑎</m:t>
                                </m:r>
                              </m:e>
                              <m:sup>
                                <m:r>
                                  <a:rPr kumimoji="0" lang="en-US" sz="1800" b="0" i="1" u="none" strike="noStrike" kern="1200" cap="none" spc="0" normalizeH="0" baseline="0" noProof="0">
                                    <a:ln>
                                      <a:noFill/>
                                    </a:ln>
                                    <a:solidFill>
                                      <a:prstClr val="black"/>
                                    </a:solidFill>
                                    <a:effectLst/>
                                    <a:uLnTx/>
                                    <a:uFillTx/>
                                    <a:latin typeface="Cambria Math"/>
                                    <a:ea typeface="+mn-ea"/>
                                    <a:cs typeface="+mn-cs"/>
                                  </a:rPr>
                                  <m:t>2</m:t>
                                </m:r>
                              </m:sup>
                            </m:sSup>
                            <m:r>
                              <a:rPr kumimoji="0" lang="en-US" sz="1800" b="0" i="1" u="none" strike="noStrike" kern="1200" cap="none" spc="0" normalizeH="0" baseline="0" noProof="0">
                                <a:ln>
                                  <a:noFill/>
                                </a:ln>
                                <a:solidFill>
                                  <a:prstClr val="black"/>
                                </a:solidFill>
                                <a:effectLst/>
                                <a:uLnTx/>
                                <a:uFillTx/>
                                <a:latin typeface="Cambria Math"/>
                                <a:ea typeface="+mn-ea"/>
                                <a:cs typeface="+mn-cs"/>
                              </a:rPr>
                              <m:t>+…+</m:t>
                            </m:r>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1800" b="0" i="1" u="none" strike="noStrike" kern="1200" cap="none" spc="0" normalizeH="0" baseline="0" noProof="0">
                                    <a:ln>
                                      <a:noFill/>
                                    </a:ln>
                                    <a:solidFill>
                                      <a:prstClr val="black"/>
                                    </a:solidFill>
                                    <a:effectLst/>
                                    <a:uLnTx/>
                                    <a:uFillTx/>
                                    <a:latin typeface="Cambria Math"/>
                                    <a:ea typeface="+mn-ea"/>
                                    <a:cs typeface="+mn-cs"/>
                                  </a:rPr>
                                  <m:t>𝑎</m:t>
                                </m:r>
                              </m:e>
                              <m:sup>
                                <m:r>
                                  <a:rPr kumimoji="0" lang="en-US" sz="1800" b="0" i="1" u="none" strike="noStrike" kern="1200" cap="none" spc="0" normalizeH="0" baseline="0" noProof="0">
                                    <a:ln>
                                      <a:noFill/>
                                    </a:ln>
                                    <a:solidFill>
                                      <a:prstClr val="black"/>
                                    </a:solidFill>
                                    <a:effectLst/>
                                    <a:uLnTx/>
                                    <a:uFillTx/>
                                    <a:latin typeface="Cambria Math"/>
                                    <a:ea typeface="+mn-ea"/>
                                    <a:cs typeface="+mn-cs"/>
                                  </a:rPr>
                                  <m:t>𝐿</m:t>
                                </m:r>
                              </m:sup>
                            </m:sSup>
                          </m:e>
                        </m:d>
                        <m:r>
                          <a:rPr kumimoji="0" lang="en-US" sz="1800" b="0" i="1" u="none" strike="noStrike" kern="1200" cap="none" spc="0" normalizeH="0" baseline="0" noProof="0">
                            <a:ln>
                              <a:noFill/>
                            </a:ln>
                            <a:solidFill>
                              <a:prstClr val="black"/>
                            </a:solidFill>
                            <a:effectLst/>
                            <a:uLnTx/>
                            <a:uFillTx/>
                            <a:latin typeface="Cambria Math"/>
                            <a:ea typeface="+mn-ea"/>
                            <a:cs typeface="+mn-cs"/>
                          </a:rPr>
                          <m:t>𝑎</m:t>
                        </m:r>
                      </m:oMath>
                    </m:oMathPara>
                  </a14:m>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56" name="TextBox 55"/>
                <p:cNvSpPr txBox="1">
                  <a:spLocks noRot="1" noChangeAspect="1" noMove="1" noResize="1" noEditPoints="1" noAdjustHandles="1" noChangeArrowheads="1" noChangeShapeType="1" noTextEdit="1"/>
                </p:cNvSpPr>
                <p:nvPr/>
              </p:nvSpPr>
              <p:spPr>
                <a:xfrm>
                  <a:off x="1429682" y="5791200"/>
                  <a:ext cx="2592889"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p:cNvSpPr txBox="1"/>
                <p:nvPr/>
              </p:nvSpPr>
              <p:spPr>
                <a:xfrm>
                  <a:off x="4038601" y="5791200"/>
                  <a:ext cx="258724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a:ln>
                                  <a:noFill/>
                                </a:ln>
                                <a:solidFill>
                                  <a:prstClr val="black"/>
                                </a:solidFill>
                                <a:effectLst/>
                                <a:uLnTx/>
                                <a:uFillTx/>
                                <a:latin typeface="Cambria Math"/>
                                <a:ea typeface="+mn-ea"/>
                                <a:cs typeface="+mn-cs"/>
                              </a:rPr>
                              <m:t>1+</m:t>
                            </m:r>
                            <m:r>
                              <a:rPr kumimoji="0" lang="en-US" sz="1800" b="0" i="1" u="none" strike="noStrike" kern="1200" cap="none" spc="0" normalizeH="0" baseline="0" noProof="0">
                                <a:ln>
                                  <a:noFill/>
                                </a:ln>
                                <a:solidFill>
                                  <a:prstClr val="black"/>
                                </a:solidFill>
                                <a:effectLst/>
                                <a:uLnTx/>
                                <a:uFillTx/>
                                <a:latin typeface="Cambria Math"/>
                                <a:ea typeface="+mn-ea"/>
                                <a:cs typeface="+mn-cs"/>
                              </a:rPr>
                              <m:t>𝑎</m:t>
                            </m:r>
                            <m:r>
                              <a:rPr kumimoji="0" lang="en-US" sz="1800" b="0" i="1" u="none" strike="noStrike" kern="1200" cap="none" spc="0" normalizeH="0" baseline="0" noProof="0">
                                <a:ln>
                                  <a:noFill/>
                                </a:ln>
                                <a:solidFill>
                                  <a:prstClr val="black"/>
                                </a:solidFill>
                                <a:effectLst/>
                                <a:uLnTx/>
                                <a:uFillTx/>
                                <a:latin typeface="Cambria Math"/>
                                <a:ea typeface="+mn-ea"/>
                                <a:cs typeface="+mn-cs"/>
                              </a:rPr>
                              <m:t>+</m:t>
                            </m:r>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1800" b="0" i="1" u="none" strike="noStrike" kern="1200" cap="none" spc="0" normalizeH="0" baseline="0" noProof="0">
                                    <a:ln>
                                      <a:noFill/>
                                    </a:ln>
                                    <a:solidFill>
                                      <a:prstClr val="black"/>
                                    </a:solidFill>
                                    <a:effectLst/>
                                    <a:uLnTx/>
                                    <a:uFillTx/>
                                    <a:latin typeface="Cambria Math"/>
                                    <a:ea typeface="+mn-ea"/>
                                    <a:cs typeface="+mn-cs"/>
                                  </a:rPr>
                                  <m:t>𝑎</m:t>
                                </m:r>
                              </m:e>
                              <m:sup>
                                <m:r>
                                  <a:rPr kumimoji="0" lang="en-US" sz="1800" b="0" i="1" u="none" strike="noStrike" kern="1200" cap="none" spc="0" normalizeH="0" baseline="0" noProof="0">
                                    <a:ln>
                                      <a:noFill/>
                                    </a:ln>
                                    <a:solidFill>
                                      <a:prstClr val="black"/>
                                    </a:solidFill>
                                    <a:effectLst/>
                                    <a:uLnTx/>
                                    <a:uFillTx/>
                                    <a:latin typeface="Cambria Math"/>
                                    <a:ea typeface="+mn-ea"/>
                                    <a:cs typeface="+mn-cs"/>
                                  </a:rPr>
                                  <m:t>2</m:t>
                                </m:r>
                              </m:sup>
                            </m:sSup>
                            <m:r>
                              <a:rPr kumimoji="0" lang="en-US" sz="1800" b="0" i="1" u="none" strike="noStrike" kern="1200" cap="none" spc="0" normalizeH="0" baseline="0" noProof="0">
                                <a:ln>
                                  <a:noFill/>
                                </a:ln>
                                <a:solidFill>
                                  <a:prstClr val="black"/>
                                </a:solidFill>
                                <a:effectLst/>
                                <a:uLnTx/>
                                <a:uFillTx/>
                                <a:latin typeface="Cambria Math"/>
                                <a:ea typeface="+mn-ea"/>
                                <a:cs typeface="+mn-cs"/>
                              </a:rPr>
                              <m:t>+…+</m:t>
                            </m:r>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1800" b="0" i="1" u="none" strike="noStrike" kern="1200" cap="none" spc="0" normalizeH="0" baseline="0" noProof="0">
                                    <a:ln>
                                      <a:noFill/>
                                    </a:ln>
                                    <a:solidFill>
                                      <a:prstClr val="black"/>
                                    </a:solidFill>
                                    <a:effectLst/>
                                    <a:uLnTx/>
                                    <a:uFillTx/>
                                    <a:latin typeface="Cambria Math"/>
                                    <a:ea typeface="+mn-ea"/>
                                    <a:cs typeface="+mn-cs"/>
                                  </a:rPr>
                                  <m:t>𝑎</m:t>
                                </m:r>
                              </m:e>
                              <m:sup>
                                <m:r>
                                  <a:rPr kumimoji="0" lang="en-US" sz="1800" b="0" i="1" u="none" strike="noStrike" kern="1200" cap="none" spc="0" normalizeH="0" baseline="0" noProof="0">
                                    <a:ln>
                                      <a:noFill/>
                                    </a:ln>
                                    <a:solidFill>
                                      <a:prstClr val="black"/>
                                    </a:solidFill>
                                    <a:effectLst/>
                                    <a:uLnTx/>
                                    <a:uFillTx/>
                                    <a:latin typeface="Cambria Math"/>
                                    <a:ea typeface="+mn-ea"/>
                                    <a:cs typeface="+mn-cs"/>
                                  </a:rPr>
                                  <m:t>𝐿</m:t>
                                </m:r>
                              </m:sup>
                            </m:sSup>
                          </m:e>
                        </m:d>
                        <m:r>
                          <a:rPr kumimoji="0" lang="en-US" sz="1800" b="0" i="1" u="none" strike="noStrike" kern="1200" cap="none" spc="0" normalizeH="0" baseline="0" noProof="0">
                            <a:ln>
                              <a:noFill/>
                            </a:ln>
                            <a:solidFill>
                              <a:prstClr val="black"/>
                            </a:solidFill>
                            <a:effectLst/>
                            <a:uLnTx/>
                            <a:uFillTx/>
                            <a:latin typeface="Cambria Math"/>
                            <a:ea typeface="+mn-ea"/>
                            <a:cs typeface="+mn-cs"/>
                          </a:rPr>
                          <m:t>1</m:t>
                        </m:r>
                      </m:oMath>
                    </m:oMathPara>
                  </a14:m>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57" name="TextBox 56"/>
                <p:cNvSpPr txBox="1">
                  <a:spLocks noRot="1" noChangeAspect="1" noMove="1" noResize="1" noEditPoints="1" noAdjustHandles="1" noChangeArrowheads="1" noChangeShapeType="1" noTextEdit="1"/>
                </p:cNvSpPr>
                <p:nvPr/>
              </p:nvSpPr>
              <p:spPr>
                <a:xfrm>
                  <a:off x="4038601" y="5791200"/>
                  <a:ext cx="2587247"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p:cNvSpPr txBox="1"/>
                <p:nvPr/>
              </p:nvSpPr>
              <p:spPr>
                <a:xfrm>
                  <a:off x="7015809" y="5822085"/>
                  <a:ext cx="69647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1800" b="0" i="1" u="none" strike="noStrike" kern="1200" cap="none" spc="0" normalizeH="0" baseline="0" noProof="0">
                                <a:ln>
                                  <a:noFill/>
                                </a:ln>
                                <a:solidFill>
                                  <a:prstClr val="black"/>
                                </a:solidFill>
                                <a:effectLst/>
                                <a:uLnTx/>
                                <a:uFillTx/>
                                <a:latin typeface="Cambria Math"/>
                                <a:ea typeface="+mn-ea"/>
                                <a:cs typeface="+mn-cs"/>
                              </a:rPr>
                              <m:t>𝑎</m:t>
                            </m:r>
                          </m:e>
                          <m:sup>
                            <m:r>
                              <a:rPr kumimoji="0" lang="en-US" sz="1800" b="0" i="1" u="none" strike="noStrike" kern="1200" cap="none" spc="0" normalizeH="0" baseline="0" noProof="0">
                                <a:ln>
                                  <a:noFill/>
                                </a:ln>
                                <a:solidFill>
                                  <a:prstClr val="black"/>
                                </a:solidFill>
                                <a:effectLst/>
                                <a:uLnTx/>
                                <a:uFillTx/>
                                <a:latin typeface="Cambria Math"/>
                                <a:ea typeface="+mn-ea"/>
                                <a:cs typeface="+mn-cs"/>
                              </a:rPr>
                              <m:t>𝐿</m:t>
                            </m:r>
                            <m:r>
                              <a:rPr kumimoji="0" lang="en-US" sz="1800" b="0" i="1" u="none" strike="noStrike" kern="1200" cap="none" spc="0" normalizeH="0" baseline="0" noProof="0">
                                <a:ln>
                                  <a:noFill/>
                                </a:ln>
                                <a:solidFill>
                                  <a:prstClr val="black"/>
                                </a:solidFill>
                                <a:effectLst/>
                                <a:uLnTx/>
                                <a:uFillTx/>
                                <a:latin typeface="Cambria Math"/>
                                <a:ea typeface="+mn-ea"/>
                                <a:cs typeface="+mn-cs"/>
                              </a:rPr>
                              <m:t>+1</m:t>
                            </m:r>
                          </m:sup>
                        </m:sSup>
                      </m:oMath>
                    </m:oMathPara>
                  </a14:m>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58" name="TextBox 57"/>
                <p:cNvSpPr txBox="1">
                  <a:spLocks noRot="1" noChangeAspect="1" noMove="1" noResize="1" noEditPoints="1" noAdjustHandles="1" noChangeArrowheads="1" noChangeShapeType="1" noTextEdit="1"/>
                </p:cNvSpPr>
                <p:nvPr/>
              </p:nvSpPr>
              <p:spPr>
                <a:xfrm>
                  <a:off x="7015809" y="5822085"/>
                  <a:ext cx="696473"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Box 58"/>
                <p:cNvSpPr txBox="1"/>
                <p:nvPr/>
              </p:nvSpPr>
              <p:spPr>
                <a:xfrm>
                  <a:off x="9296401" y="5822085"/>
                  <a:ext cx="36580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a:ln>
                              <a:noFill/>
                            </a:ln>
                            <a:solidFill>
                              <a:prstClr val="black"/>
                            </a:solidFill>
                            <a:effectLst/>
                            <a:uLnTx/>
                            <a:uFillTx/>
                            <a:latin typeface="Cambria Math"/>
                            <a:ea typeface="+mn-ea"/>
                            <a:cs typeface="+mn-cs"/>
                          </a:rPr>
                          <m:t>1</m:t>
                        </m:r>
                      </m:oMath>
                    </m:oMathPara>
                  </a14:m>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59" name="TextBox 58"/>
                <p:cNvSpPr txBox="1">
                  <a:spLocks noRot="1" noChangeAspect="1" noMove="1" noResize="1" noEditPoints="1" noAdjustHandles="1" noChangeArrowheads="1" noChangeShapeType="1" noTextEdit="1"/>
                </p:cNvSpPr>
                <p:nvPr/>
              </p:nvSpPr>
              <p:spPr>
                <a:xfrm>
                  <a:off x="9296401" y="5822085"/>
                  <a:ext cx="365805" cy="369332"/>
                </a:xfrm>
                <a:prstGeom prst="rect">
                  <a:avLst/>
                </a:prstGeom>
                <a:blipFill>
                  <a:blip r:embed="rId11"/>
                  <a:stretch>
                    <a:fillRect/>
                  </a:stretch>
                </a:blipFill>
              </p:spPr>
              <p:txBody>
                <a:bodyPr/>
                <a:lstStyle/>
                <a:p>
                  <a:r>
                    <a:rPr lang="en-US">
                      <a:noFill/>
                    </a:rPr>
                    <a:t> </a:t>
                  </a:r>
                </a:p>
              </p:txBody>
            </p:sp>
          </mc:Fallback>
        </mc:AlternateContent>
        <p:sp>
          <p:nvSpPr>
            <p:cNvPr id="61" name="TextBox 60"/>
            <p:cNvSpPr txBox="1"/>
            <p:nvPr/>
          </p:nvSpPr>
          <p:spPr>
            <a:xfrm>
              <a:off x="6783114" y="5283030"/>
              <a:ext cx="1522686" cy="66057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The next term in the series</a:t>
              </a:r>
            </a:p>
          </p:txBody>
        </p:sp>
      </p:grpSp>
    </p:spTree>
    <p:extLst>
      <p:ext uri="{BB962C8B-B14F-4D97-AF65-F5344CB8AC3E}">
        <p14:creationId xmlns:p14="http://schemas.microsoft.com/office/powerpoint/2010/main" val="18916675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en-US" dirty="0"/>
                  <a:t>Finite Geometric Series (</a:t>
                </a:r>
                <a14:m>
                  <m:oMath xmlns:m="http://schemas.openxmlformats.org/officeDocument/2006/math">
                    <m:r>
                      <a:rPr lang="en-US" i="1">
                        <a:latin typeface="Cambria Math" panose="02040503050406030204" pitchFamily="18" charset="0"/>
                      </a:rPr>
                      <m:t>𝑎</m:t>
                    </m:r>
                    <m:r>
                      <a:rPr lang="en-US" b="0" i="1" smtClean="0">
                        <a:latin typeface="Cambria Math" panose="02040503050406030204" pitchFamily="18" charset="0"/>
                      </a:rPr>
                      <m:t>&lt;</m:t>
                    </m:r>
                    <m:r>
                      <a:rPr lang="en-US" i="1">
                        <a:latin typeface="Cambria Math" panose="02040503050406030204" pitchFamily="18" charset="0"/>
                      </a:rPr>
                      <m:t>1</m:t>
                    </m:r>
                  </m:oMath>
                </a14:m>
                <a:r>
                  <a:rPr lang="en-US" dirty="0"/>
                  <a:t>)</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3"/>
                <a:stretch>
                  <a:fillRect b="-85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72DA73B-DFB9-2873-31A0-9576BF22984D}"/>
                  </a:ext>
                </a:extLst>
              </p:cNvPr>
              <p:cNvSpPr txBox="1"/>
              <p:nvPr/>
            </p:nvSpPr>
            <p:spPr>
              <a:xfrm>
                <a:off x="642730" y="1512665"/>
                <a:ext cx="1126590" cy="130426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nary>
                        <m:naryPr>
                          <m:chr m:val="∑"/>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naryPr>
                        <m:sub>
                          <m:r>
                            <m:rPr>
                              <m:brk m:alnAt="23"/>
                            </m:rPr>
                            <a:rPr kumimoji="0" lang="en-US" sz="2800" b="0" i="1" u="none" strike="noStrike" kern="1200" cap="none" spc="0" normalizeH="0" baseline="0" noProof="0" smtClean="0">
                              <a:ln>
                                <a:noFill/>
                              </a:ln>
                              <a:solidFill>
                                <a:prstClr val="black"/>
                              </a:solidFill>
                              <a:effectLst/>
                              <a:uLnTx/>
                              <a:uFillTx/>
                              <a:latin typeface="Cambria Math"/>
                              <a:ea typeface="+mn-ea"/>
                              <a:cs typeface="+mn-cs"/>
                            </a:rPr>
                            <m:t>𝑖</m:t>
                          </m:r>
                          <m:r>
                            <a:rPr kumimoji="0" lang="en-US" sz="2800" b="0" i="1" u="none" strike="noStrike" kern="1200" cap="none" spc="0" normalizeH="0" baseline="0" noProof="0" smtClean="0">
                              <a:ln>
                                <a:noFill/>
                              </a:ln>
                              <a:solidFill>
                                <a:prstClr val="black"/>
                              </a:solidFill>
                              <a:effectLst/>
                              <a:uLnTx/>
                              <a:uFillTx/>
                              <a:latin typeface="Cambria Math"/>
                              <a:ea typeface="+mn-ea"/>
                              <a:cs typeface="+mn-cs"/>
                            </a:rPr>
                            <m:t>=0</m:t>
                          </m:r>
                        </m:sub>
                        <m:sup>
                          <m:r>
                            <a:rPr kumimoji="0" lang="en-US" sz="2800" b="0" i="1" u="none" strike="noStrike" kern="1200" cap="none" spc="0" normalizeH="0" baseline="0" noProof="0" smtClean="0">
                              <a:ln>
                                <a:noFill/>
                              </a:ln>
                              <a:solidFill>
                                <a:prstClr val="black"/>
                              </a:solidFill>
                              <a:effectLst/>
                              <a:uLnTx/>
                              <a:uFillTx/>
                              <a:latin typeface="Cambria Math"/>
                              <a:ea typeface="+mn-ea"/>
                              <a:cs typeface="+mn-cs"/>
                            </a:rPr>
                            <m:t>𝐿</m:t>
                          </m:r>
                        </m:sup>
                        <m:e>
                          <m:sSup>
                            <m:sSup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US" sz="2800" b="0" i="1" u="none" strike="noStrike" kern="1200" cap="none" spc="0" normalizeH="0" baseline="0" noProof="0" smtClean="0">
                                  <a:ln>
                                    <a:noFill/>
                                  </a:ln>
                                  <a:solidFill>
                                    <a:prstClr val="black"/>
                                  </a:solidFill>
                                  <a:effectLst/>
                                  <a:uLnTx/>
                                  <a:uFillTx/>
                                  <a:latin typeface="Cambria Math"/>
                                  <a:ea typeface="+mn-ea"/>
                                  <a:cs typeface="+mn-cs"/>
                                </a:rPr>
                                <m:t>𝑎</m:t>
                              </m:r>
                            </m:e>
                            <m:sup>
                              <m:r>
                                <a:rPr kumimoji="0" lang="en-US" sz="2800" b="0" i="1" u="none" strike="noStrike" kern="1200" cap="none" spc="0" normalizeH="0" baseline="0" noProof="0" smtClean="0">
                                  <a:ln>
                                    <a:noFill/>
                                  </a:ln>
                                  <a:solidFill>
                                    <a:prstClr val="black"/>
                                  </a:solidFill>
                                  <a:effectLst/>
                                  <a:uLnTx/>
                                  <a:uFillTx/>
                                  <a:latin typeface="Cambria Math"/>
                                  <a:ea typeface="+mn-ea"/>
                                  <a:cs typeface="+mn-cs"/>
                                </a:rPr>
                                <m:t>𝑖</m:t>
                              </m:r>
                            </m:sup>
                          </m:sSup>
                        </m:e>
                      </m:nary>
                    </m:oMath>
                  </m:oMathPara>
                </a14:m>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5" name="TextBox 4">
                <a:extLst>
                  <a:ext uri="{FF2B5EF4-FFF2-40B4-BE49-F238E27FC236}">
                    <a16:creationId xmlns:a16="http://schemas.microsoft.com/office/drawing/2014/main" id="{A72DA73B-DFB9-2873-31A0-9576BF22984D}"/>
                  </a:ext>
                </a:extLst>
              </p:cNvPr>
              <p:cNvSpPr txBox="1">
                <a:spLocks noRot="1" noChangeAspect="1" noMove="1" noResize="1" noEditPoints="1" noAdjustHandles="1" noChangeArrowheads="1" noChangeShapeType="1" noTextEdit="1"/>
              </p:cNvSpPr>
              <p:nvPr/>
            </p:nvSpPr>
            <p:spPr>
              <a:xfrm>
                <a:off x="642730" y="1512665"/>
                <a:ext cx="1126590" cy="1304268"/>
              </a:xfrm>
              <a:prstGeom prst="rect">
                <a:avLst/>
              </a:prstGeom>
              <a:blipFill>
                <a:blip r:embed="rId4"/>
                <a:stretch>
                  <a:fillRect/>
                </a:stretch>
              </a:blipFill>
            </p:spPr>
            <p:txBody>
              <a:bodyPr/>
              <a:lstStyle/>
              <a:p>
                <a:r>
                  <a:rPr lang="en-US">
                    <a:noFill/>
                  </a:rPr>
                  <a:t> </a:t>
                </a:r>
              </a:p>
            </p:txBody>
          </p:sp>
        </mc:Fallback>
      </mc:AlternateContent>
      <p:grpSp>
        <p:nvGrpSpPr>
          <p:cNvPr id="7" name="Group 6" descr="If a&lt;1 then the series is decreasing, but we can use the same process to derive the same formula.">
            <a:extLst>
              <a:ext uri="{FF2B5EF4-FFF2-40B4-BE49-F238E27FC236}">
                <a16:creationId xmlns:a16="http://schemas.microsoft.com/office/drawing/2014/main" id="{B8EB1195-64D4-39B9-35AC-8FE282D75BAD}"/>
              </a:ext>
            </a:extLst>
          </p:cNvPr>
          <p:cNvGrpSpPr/>
          <p:nvPr/>
        </p:nvGrpSpPr>
        <p:grpSpPr>
          <a:xfrm>
            <a:off x="1429682" y="1438616"/>
            <a:ext cx="8934831" cy="5419384"/>
            <a:chOff x="1429682" y="1438616"/>
            <a:chExt cx="8934831" cy="5419384"/>
          </a:xfrm>
        </p:grpSpPr>
        <p:grpSp>
          <p:nvGrpSpPr>
            <p:cNvPr id="45" name="Group 44"/>
            <p:cNvGrpSpPr/>
            <p:nvPr/>
          </p:nvGrpSpPr>
          <p:grpSpPr>
            <a:xfrm>
              <a:off x="4630082" y="1438616"/>
              <a:ext cx="1143000" cy="3657600"/>
              <a:chOff x="533400" y="1473029"/>
              <a:chExt cx="1143000" cy="3657600"/>
            </a:xfrm>
          </p:grpSpPr>
          <p:sp>
            <p:nvSpPr>
              <p:cNvPr id="46" name="Rectangle 45"/>
              <p:cNvSpPr/>
              <p:nvPr/>
            </p:nvSpPr>
            <p:spPr>
              <a:xfrm>
                <a:off x="1219200" y="4673429"/>
                <a:ext cx="228600" cy="4572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7" name="Rectangle 56"/>
              <p:cNvSpPr/>
              <p:nvPr/>
            </p:nvSpPr>
            <p:spPr>
              <a:xfrm>
                <a:off x="990600" y="4216229"/>
                <a:ext cx="228600" cy="9144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0" name="Rectangle 59"/>
              <p:cNvSpPr/>
              <p:nvPr/>
            </p:nvSpPr>
            <p:spPr>
              <a:xfrm>
                <a:off x="762000" y="3301829"/>
                <a:ext cx="228600" cy="18288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1" name="Rectangle 60"/>
              <p:cNvSpPr/>
              <p:nvPr/>
            </p:nvSpPr>
            <p:spPr>
              <a:xfrm>
                <a:off x="533400" y="1473029"/>
                <a:ext cx="228600" cy="3657600"/>
              </a:xfrm>
              <a:prstGeom prst="rect">
                <a:avLst/>
              </a:prstGeom>
              <a:solidFill>
                <a:schemeClr val="accent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2" name="Rectangle 61"/>
              <p:cNvSpPr/>
              <p:nvPr/>
            </p:nvSpPr>
            <p:spPr>
              <a:xfrm>
                <a:off x="1447800" y="4902029"/>
                <a:ext cx="228600" cy="2286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37" name="Group 36"/>
            <p:cNvGrpSpPr/>
            <p:nvPr/>
          </p:nvGrpSpPr>
          <p:grpSpPr>
            <a:xfrm>
              <a:off x="2057400" y="3279706"/>
              <a:ext cx="1143000" cy="1828800"/>
              <a:chOff x="762000" y="3301829"/>
              <a:chExt cx="1143000" cy="1828800"/>
            </a:xfrm>
          </p:grpSpPr>
          <p:sp>
            <p:nvSpPr>
              <p:cNvPr id="40" name="Rectangle 39"/>
              <p:cNvSpPr/>
              <p:nvPr/>
            </p:nvSpPr>
            <p:spPr>
              <a:xfrm>
                <a:off x="1219200" y="4673429"/>
                <a:ext cx="228600" cy="4572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1" name="Rectangle 40"/>
              <p:cNvSpPr/>
              <p:nvPr/>
            </p:nvSpPr>
            <p:spPr>
              <a:xfrm>
                <a:off x="990600" y="4216229"/>
                <a:ext cx="228600" cy="9144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2" name="Rectangle 41"/>
              <p:cNvSpPr/>
              <p:nvPr/>
            </p:nvSpPr>
            <p:spPr>
              <a:xfrm>
                <a:off x="762000" y="3301829"/>
                <a:ext cx="228600" cy="18288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3" name="Rectangle 42"/>
              <p:cNvSpPr/>
              <p:nvPr/>
            </p:nvSpPr>
            <p:spPr>
              <a:xfrm>
                <a:off x="1447800" y="4902029"/>
                <a:ext cx="228600" cy="2286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4" name="Rectangle 43"/>
              <p:cNvSpPr/>
              <p:nvPr/>
            </p:nvSpPr>
            <p:spPr>
              <a:xfrm>
                <a:off x="1676400" y="5009033"/>
                <a:ext cx="228600" cy="118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mc:AlternateContent xmlns:mc="http://schemas.openxmlformats.org/markup-compatibility/2006" xmlns:a14="http://schemas.microsoft.com/office/drawing/2010/main">
          <mc:Choice Requires="a14">
            <p:sp>
              <p:nvSpPr>
                <p:cNvPr id="47" name="TextBox 46"/>
                <p:cNvSpPr txBox="1"/>
                <p:nvPr/>
              </p:nvSpPr>
              <p:spPr>
                <a:xfrm>
                  <a:off x="1981200" y="5206830"/>
                  <a:ext cx="201295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The series multiplied by </a:t>
                  </a:r>
                  <a14:m>
                    <m:oMath xmlns:m="http://schemas.openxmlformats.org/officeDocument/2006/math">
                      <m:r>
                        <a:rPr kumimoji="0" lang="en-US" sz="1800" b="0" i="1" u="none" strike="noStrike" kern="1200" cap="none" spc="0" normalizeH="0" baseline="0" noProof="0">
                          <a:ln>
                            <a:noFill/>
                          </a:ln>
                          <a:solidFill>
                            <a:prstClr val="black"/>
                          </a:solidFill>
                          <a:effectLst/>
                          <a:uLnTx/>
                          <a:uFillTx/>
                          <a:latin typeface="Cambria Math"/>
                          <a:ea typeface="+mn-ea"/>
                          <a:cs typeface="+mn-cs"/>
                        </a:rPr>
                        <m:t>𝑎</m:t>
                      </m:r>
                    </m:oMath>
                  </a14:m>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47" name="TextBox 46"/>
                <p:cNvSpPr txBox="1">
                  <a:spLocks noRot="1" noChangeAspect="1" noMove="1" noResize="1" noEditPoints="1" noAdjustHandles="1" noChangeArrowheads="1" noChangeShapeType="1" noTextEdit="1"/>
                </p:cNvSpPr>
                <p:nvPr/>
              </p:nvSpPr>
              <p:spPr>
                <a:xfrm>
                  <a:off x="1981200" y="5206830"/>
                  <a:ext cx="2012952" cy="646331"/>
                </a:xfrm>
                <a:prstGeom prst="rect">
                  <a:avLst/>
                </a:prstGeom>
                <a:blipFill>
                  <a:blip r:embed="rId5"/>
                  <a:stretch>
                    <a:fillRect l="-2424" t="-4717" b="-14151"/>
                  </a:stretch>
                </a:blipFill>
              </p:spPr>
              <p:txBody>
                <a:bodyPr/>
                <a:lstStyle/>
                <a:p>
                  <a:r>
                    <a:rPr lang="en-US">
                      <a:noFill/>
                    </a:rPr>
                    <a:t> </a:t>
                  </a:r>
                </a:p>
              </p:txBody>
            </p:sp>
          </mc:Fallback>
        </mc:AlternateContent>
        <p:sp>
          <p:nvSpPr>
            <p:cNvPr id="48" name="TextBox 47"/>
            <p:cNvSpPr txBox="1"/>
            <p:nvPr/>
          </p:nvSpPr>
          <p:spPr>
            <a:xfrm>
              <a:off x="4616448" y="5345328"/>
              <a:ext cx="201295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The series</a:t>
              </a:r>
            </a:p>
          </p:txBody>
        </p:sp>
        <p:sp>
          <p:nvSpPr>
            <p:cNvPr id="49" name="TextBox 48"/>
            <p:cNvSpPr txBox="1"/>
            <p:nvPr/>
          </p:nvSpPr>
          <p:spPr>
            <a:xfrm>
              <a:off x="8786537" y="5359229"/>
              <a:ext cx="157797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The first term</a:t>
              </a:r>
            </a:p>
          </p:txBody>
        </p:sp>
        <mc:AlternateContent xmlns:mc="http://schemas.openxmlformats.org/markup-compatibility/2006" xmlns:a14="http://schemas.microsoft.com/office/drawing/2010/main">
          <mc:Choice Requires="a14">
            <p:sp>
              <p:nvSpPr>
                <p:cNvPr id="50" name="TextBox 49"/>
                <p:cNvSpPr txBox="1"/>
                <p:nvPr/>
              </p:nvSpPr>
              <p:spPr>
                <a:xfrm>
                  <a:off x="5984313" y="3353646"/>
                  <a:ext cx="683200"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4000" b="0" i="1" u="none" strike="noStrike" kern="1200" cap="none" spc="0" normalizeH="0" baseline="0" noProof="0">
                            <a:ln>
                              <a:noFill/>
                            </a:ln>
                            <a:solidFill>
                              <a:prstClr val="black"/>
                            </a:solidFill>
                            <a:effectLst/>
                            <a:uLnTx/>
                            <a:uFillTx/>
                            <a:latin typeface="Cambria Math"/>
                            <a:ea typeface="+mn-ea"/>
                            <a:cs typeface="+mn-cs"/>
                          </a:rPr>
                          <m:t>=</m:t>
                        </m:r>
                      </m:oMath>
                    </m:oMathPara>
                  </a14:m>
                  <a:endParaRPr kumimoji="0" lang="en-US" sz="40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50" name="TextBox 49"/>
                <p:cNvSpPr txBox="1">
                  <a:spLocks noRot="1" noChangeAspect="1" noMove="1" noResize="1" noEditPoints="1" noAdjustHandles="1" noChangeArrowheads="1" noChangeShapeType="1" noTextEdit="1"/>
                </p:cNvSpPr>
                <p:nvPr/>
              </p:nvSpPr>
              <p:spPr>
                <a:xfrm>
                  <a:off x="5984313" y="3353646"/>
                  <a:ext cx="683200" cy="70788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8078513" y="3102114"/>
                  <a:ext cx="683200"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4000" b="0" i="1" u="none" strike="noStrike" kern="1200" cap="none" spc="0" normalizeH="0" baseline="0" noProof="0">
                            <a:ln>
                              <a:noFill/>
                            </a:ln>
                            <a:solidFill>
                              <a:prstClr val="black"/>
                            </a:solidFill>
                            <a:effectLst/>
                            <a:uLnTx/>
                            <a:uFillTx/>
                            <a:latin typeface="Cambria Math"/>
                            <a:ea typeface="+mn-ea"/>
                            <a:cs typeface="+mn-cs"/>
                          </a:rPr>
                          <m:t>−</m:t>
                        </m:r>
                      </m:oMath>
                    </m:oMathPara>
                  </a14:m>
                  <a:endParaRPr kumimoji="0" lang="en-US" sz="40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20" name="TextBox 19"/>
                <p:cNvSpPr txBox="1">
                  <a:spLocks noRot="1" noChangeAspect="1" noMove="1" noResize="1" noEditPoints="1" noAdjustHandles="1" noChangeArrowheads="1" noChangeShapeType="1" noTextEdit="1"/>
                </p:cNvSpPr>
                <p:nvPr/>
              </p:nvSpPr>
              <p:spPr>
                <a:xfrm>
                  <a:off x="8078513" y="3102114"/>
                  <a:ext cx="683200" cy="707886"/>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3810000" y="3117163"/>
                  <a:ext cx="683200"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4000" b="0" i="1" u="none" strike="noStrike" kern="1200" cap="none" spc="0" normalizeH="0" baseline="0" noProof="0">
                            <a:ln>
                              <a:noFill/>
                            </a:ln>
                            <a:solidFill>
                              <a:prstClr val="black"/>
                            </a:solidFill>
                            <a:effectLst/>
                            <a:uLnTx/>
                            <a:uFillTx/>
                            <a:latin typeface="Cambria Math"/>
                            <a:ea typeface="+mn-ea"/>
                            <a:cs typeface="+mn-cs"/>
                          </a:rPr>
                          <m:t>−</m:t>
                        </m:r>
                      </m:oMath>
                    </m:oMathPara>
                  </a14:m>
                  <a:endParaRPr kumimoji="0" lang="en-US" sz="40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21" name="TextBox 20"/>
                <p:cNvSpPr txBox="1">
                  <a:spLocks noRot="1" noChangeAspect="1" noMove="1" noResize="1" noEditPoints="1" noAdjustHandles="1" noChangeArrowheads="1" noChangeShapeType="1" noTextEdit="1"/>
                </p:cNvSpPr>
                <p:nvPr/>
              </p:nvSpPr>
              <p:spPr>
                <a:xfrm>
                  <a:off x="3810000" y="3117163"/>
                  <a:ext cx="683200" cy="70788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p:cNvSpPr txBox="1"/>
                <p:nvPr/>
              </p:nvSpPr>
              <p:spPr>
                <a:xfrm>
                  <a:off x="1429682" y="5791200"/>
                  <a:ext cx="259288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a:ln>
                                  <a:noFill/>
                                </a:ln>
                                <a:solidFill>
                                  <a:prstClr val="black"/>
                                </a:solidFill>
                                <a:effectLst/>
                                <a:uLnTx/>
                                <a:uFillTx/>
                                <a:latin typeface="Cambria Math"/>
                                <a:ea typeface="+mn-ea"/>
                                <a:cs typeface="+mn-cs"/>
                              </a:rPr>
                              <m:t>1+</m:t>
                            </m:r>
                            <m:r>
                              <a:rPr kumimoji="0" lang="en-US" sz="1800" b="0" i="1" u="none" strike="noStrike" kern="1200" cap="none" spc="0" normalizeH="0" baseline="0" noProof="0">
                                <a:ln>
                                  <a:noFill/>
                                </a:ln>
                                <a:solidFill>
                                  <a:prstClr val="black"/>
                                </a:solidFill>
                                <a:effectLst/>
                                <a:uLnTx/>
                                <a:uFillTx/>
                                <a:latin typeface="Cambria Math"/>
                                <a:ea typeface="+mn-ea"/>
                                <a:cs typeface="+mn-cs"/>
                              </a:rPr>
                              <m:t>𝑎</m:t>
                            </m:r>
                            <m:r>
                              <a:rPr kumimoji="0" lang="en-US" sz="1800" b="0" i="1" u="none" strike="noStrike" kern="1200" cap="none" spc="0" normalizeH="0" baseline="0" noProof="0">
                                <a:ln>
                                  <a:noFill/>
                                </a:ln>
                                <a:solidFill>
                                  <a:prstClr val="black"/>
                                </a:solidFill>
                                <a:effectLst/>
                                <a:uLnTx/>
                                <a:uFillTx/>
                                <a:latin typeface="Cambria Math"/>
                                <a:ea typeface="+mn-ea"/>
                                <a:cs typeface="+mn-cs"/>
                              </a:rPr>
                              <m:t>+</m:t>
                            </m:r>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1800" b="0" i="1" u="none" strike="noStrike" kern="1200" cap="none" spc="0" normalizeH="0" baseline="0" noProof="0">
                                    <a:ln>
                                      <a:noFill/>
                                    </a:ln>
                                    <a:solidFill>
                                      <a:prstClr val="black"/>
                                    </a:solidFill>
                                    <a:effectLst/>
                                    <a:uLnTx/>
                                    <a:uFillTx/>
                                    <a:latin typeface="Cambria Math"/>
                                    <a:ea typeface="+mn-ea"/>
                                    <a:cs typeface="+mn-cs"/>
                                  </a:rPr>
                                  <m:t>𝑎</m:t>
                                </m:r>
                              </m:e>
                              <m:sup>
                                <m:r>
                                  <a:rPr kumimoji="0" lang="en-US" sz="1800" b="0" i="1" u="none" strike="noStrike" kern="1200" cap="none" spc="0" normalizeH="0" baseline="0" noProof="0">
                                    <a:ln>
                                      <a:noFill/>
                                    </a:ln>
                                    <a:solidFill>
                                      <a:prstClr val="black"/>
                                    </a:solidFill>
                                    <a:effectLst/>
                                    <a:uLnTx/>
                                    <a:uFillTx/>
                                    <a:latin typeface="Cambria Math"/>
                                    <a:ea typeface="+mn-ea"/>
                                    <a:cs typeface="+mn-cs"/>
                                  </a:rPr>
                                  <m:t>2</m:t>
                                </m:r>
                              </m:sup>
                            </m:sSup>
                            <m:r>
                              <a:rPr kumimoji="0" lang="en-US" sz="1800" b="0" i="1" u="none" strike="noStrike" kern="1200" cap="none" spc="0" normalizeH="0" baseline="0" noProof="0">
                                <a:ln>
                                  <a:noFill/>
                                </a:ln>
                                <a:solidFill>
                                  <a:prstClr val="black"/>
                                </a:solidFill>
                                <a:effectLst/>
                                <a:uLnTx/>
                                <a:uFillTx/>
                                <a:latin typeface="Cambria Math"/>
                                <a:ea typeface="+mn-ea"/>
                                <a:cs typeface="+mn-cs"/>
                              </a:rPr>
                              <m:t>+…+</m:t>
                            </m:r>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1800" b="0" i="1" u="none" strike="noStrike" kern="1200" cap="none" spc="0" normalizeH="0" baseline="0" noProof="0">
                                    <a:ln>
                                      <a:noFill/>
                                    </a:ln>
                                    <a:solidFill>
                                      <a:prstClr val="black"/>
                                    </a:solidFill>
                                    <a:effectLst/>
                                    <a:uLnTx/>
                                    <a:uFillTx/>
                                    <a:latin typeface="Cambria Math"/>
                                    <a:ea typeface="+mn-ea"/>
                                    <a:cs typeface="+mn-cs"/>
                                  </a:rPr>
                                  <m:t>𝑎</m:t>
                                </m:r>
                              </m:e>
                              <m:sup>
                                <m:r>
                                  <a:rPr kumimoji="0" lang="en-US" sz="1800" b="0" i="1" u="none" strike="noStrike" kern="1200" cap="none" spc="0" normalizeH="0" baseline="0" noProof="0">
                                    <a:ln>
                                      <a:noFill/>
                                    </a:ln>
                                    <a:solidFill>
                                      <a:prstClr val="black"/>
                                    </a:solidFill>
                                    <a:effectLst/>
                                    <a:uLnTx/>
                                    <a:uFillTx/>
                                    <a:latin typeface="Cambria Math"/>
                                    <a:ea typeface="+mn-ea"/>
                                    <a:cs typeface="+mn-cs"/>
                                  </a:rPr>
                                  <m:t>𝐿</m:t>
                                </m:r>
                              </m:sup>
                            </m:sSup>
                          </m:e>
                        </m:d>
                        <m:r>
                          <a:rPr kumimoji="0" lang="en-US" sz="1800" b="0" i="1" u="none" strike="noStrike" kern="1200" cap="none" spc="0" normalizeH="0" baseline="0" noProof="0">
                            <a:ln>
                              <a:noFill/>
                            </a:ln>
                            <a:solidFill>
                              <a:prstClr val="black"/>
                            </a:solidFill>
                            <a:effectLst/>
                            <a:uLnTx/>
                            <a:uFillTx/>
                            <a:latin typeface="Cambria Math"/>
                            <a:ea typeface="+mn-ea"/>
                            <a:cs typeface="+mn-cs"/>
                          </a:rPr>
                          <m:t>𝑎</m:t>
                        </m:r>
                      </m:oMath>
                    </m:oMathPara>
                  </a14:m>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1429682" y="5791200"/>
                  <a:ext cx="2592889"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p:cNvSpPr txBox="1"/>
                <p:nvPr/>
              </p:nvSpPr>
              <p:spPr>
                <a:xfrm>
                  <a:off x="4038601" y="5791200"/>
                  <a:ext cx="258724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a:ln>
                                  <a:noFill/>
                                </a:ln>
                                <a:solidFill>
                                  <a:prstClr val="black"/>
                                </a:solidFill>
                                <a:effectLst/>
                                <a:uLnTx/>
                                <a:uFillTx/>
                                <a:latin typeface="Cambria Math"/>
                                <a:ea typeface="+mn-ea"/>
                                <a:cs typeface="+mn-cs"/>
                              </a:rPr>
                              <m:t>1+</m:t>
                            </m:r>
                            <m:r>
                              <a:rPr kumimoji="0" lang="en-US" sz="1800" b="0" i="1" u="none" strike="noStrike" kern="1200" cap="none" spc="0" normalizeH="0" baseline="0" noProof="0">
                                <a:ln>
                                  <a:noFill/>
                                </a:ln>
                                <a:solidFill>
                                  <a:prstClr val="black"/>
                                </a:solidFill>
                                <a:effectLst/>
                                <a:uLnTx/>
                                <a:uFillTx/>
                                <a:latin typeface="Cambria Math"/>
                                <a:ea typeface="+mn-ea"/>
                                <a:cs typeface="+mn-cs"/>
                              </a:rPr>
                              <m:t>𝑎</m:t>
                            </m:r>
                            <m:r>
                              <a:rPr kumimoji="0" lang="en-US" sz="1800" b="0" i="1" u="none" strike="noStrike" kern="1200" cap="none" spc="0" normalizeH="0" baseline="0" noProof="0">
                                <a:ln>
                                  <a:noFill/>
                                </a:ln>
                                <a:solidFill>
                                  <a:prstClr val="black"/>
                                </a:solidFill>
                                <a:effectLst/>
                                <a:uLnTx/>
                                <a:uFillTx/>
                                <a:latin typeface="Cambria Math"/>
                                <a:ea typeface="+mn-ea"/>
                                <a:cs typeface="+mn-cs"/>
                              </a:rPr>
                              <m:t>+</m:t>
                            </m:r>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1800" b="0" i="1" u="none" strike="noStrike" kern="1200" cap="none" spc="0" normalizeH="0" baseline="0" noProof="0">
                                    <a:ln>
                                      <a:noFill/>
                                    </a:ln>
                                    <a:solidFill>
                                      <a:prstClr val="black"/>
                                    </a:solidFill>
                                    <a:effectLst/>
                                    <a:uLnTx/>
                                    <a:uFillTx/>
                                    <a:latin typeface="Cambria Math"/>
                                    <a:ea typeface="+mn-ea"/>
                                    <a:cs typeface="+mn-cs"/>
                                  </a:rPr>
                                  <m:t>𝑎</m:t>
                                </m:r>
                              </m:e>
                              <m:sup>
                                <m:r>
                                  <a:rPr kumimoji="0" lang="en-US" sz="1800" b="0" i="1" u="none" strike="noStrike" kern="1200" cap="none" spc="0" normalizeH="0" baseline="0" noProof="0">
                                    <a:ln>
                                      <a:noFill/>
                                    </a:ln>
                                    <a:solidFill>
                                      <a:prstClr val="black"/>
                                    </a:solidFill>
                                    <a:effectLst/>
                                    <a:uLnTx/>
                                    <a:uFillTx/>
                                    <a:latin typeface="Cambria Math"/>
                                    <a:ea typeface="+mn-ea"/>
                                    <a:cs typeface="+mn-cs"/>
                                  </a:rPr>
                                  <m:t>2</m:t>
                                </m:r>
                              </m:sup>
                            </m:sSup>
                            <m:r>
                              <a:rPr kumimoji="0" lang="en-US" sz="1800" b="0" i="1" u="none" strike="noStrike" kern="1200" cap="none" spc="0" normalizeH="0" baseline="0" noProof="0">
                                <a:ln>
                                  <a:noFill/>
                                </a:ln>
                                <a:solidFill>
                                  <a:prstClr val="black"/>
                                </a:solidFill>
                                <a:effectLst/>
                                <a:uLnTx/>
                                <a:uFillTx/>
                                <a:latin typeface="Cambria Math"/>
                                <a:ea typeface="+mn-ea"/>
                                <a:cs typeface="+mn-cs"/>
                              </a:rPr>
                              <m:t>+…+</m:t>
                            </m:r>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1800" b="0" i="1" u="none" strike="noStrike" kern="1200" cap="none" spc="0" normalizeH="0" baseline="0" noProof="0">
                                    <a:ln>
                                      <a:noFill/>
                                    </a:ln>
                                    <a:solidFill>
                                      <a:prstClr val="black"/>
                                    </a:solidFill>
                                    <a:effectLst/>
                                    <a:uLnTx/>
                                    <a:uFillTx/>
                                    <a:latin typeface="Cambria Math"/>
                                    <a:ea typeface="+mn-ea"/>
                                    <a:cs typeface="+mn-cs"/>
                                  </a:rPr>
                                  <m:t>𝑎</m:t>
                                </m:r>
                              </m:e>
                              <m:sup>
                                <m:r>
                                  <a:rPr kumimoji="0" lang="en-US" sz="1800" b="0" i="1" u="none" strike="noStrike" kern="1200" cap="none" spc="0" normalizeH="0" baseline="0" noProof="0">
                                    <a:ln>
                                      <a:noFill/>
                                    </a:ln>
                                    <a:solidFill>
                                      <a:prstClr val="black"/>
                                    </a:solidFill>
                                    <a:effectLst/>
                                    <a:uLnTx/>
                                    <a:uFillTx/>
                                    <a:latin typeface="Cambria Math"/>
                                    <a:ea typeface="+mn-ea"/>
                                    <a:cs typeface="+mn-cs"/>
                                  </a:rPr>
                                  <m:t>𝐿</m:t>
                                </m:r>
                              </m:sup>
                            </m:sSup>
                          </m:e>
                        </m:d>
                        <m:r>
                          <a:rPr kumimoji="0" lang="en-US" sz="1800" b="0" i="1" u="none" strike="noStrike" kern="1200" cap="none" spc="0" normalizeH="0" baseline="0" noProof="0">
                            <a:ln>
                              <a:noFill/>
                            </a:ln>
                            <a:solidFill>
                              <a:prstClr val="black"/>
                            </a:solidFill>
                            <a:effectLst/>
                            <a:uLnTx/>
                            <a:uFillTx/>
                            <a:latin typeface="Cambria Math"/>
                            <a:ea typeface="+mn-ea"/>
                            <a:cs typeface="+mn-cs"/>
                          </a:rPr>
                          <m:t>1</m:t>
                        </m:r>
                      </m:oMath>
                    </m:oMathPara>
                  </a14:m>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28" name="TextBox 27"/>
                <p:cNvSpPr txBox="1">
                  <a:spLocks noRot="1" noChangeAspect="1" noMove="1" noResize="1" noEditPoints="1" noAdjustHandles="1" noChangeArrowheads="1" noChangeShapeType="1" noTextEdit="1"/>
                </p:cNvSpPr>
                <p:nvPr/>
              </p:nvSpPr>
              <p:spPr>
                <a:xfrm>
                  <a:off x="4038601" y="5791200"/>
                  <a:ext cx="2587247"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p:cNvSpPr txBox="1"/>
                <p:nvPr/>
              </p:nvSpPr>
              <p:spPr>
                <a:xfrm>
                  <a:off x="7015809" y="5822085"/>
                  <a:ext cx="69647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1800" b="0" i="1" u="none" strike="noStrike" kern="1200" cap="none" spc="0" normalizeH="0" baseline="0" noProof="0">
                                <a:ln>
                                  <a:noFill/>
                                </a:ln>
                                <a:solidFill>
                                  <a:prstClr val="black"/>
                                </a:solidFill>
                                <a:effectLst/>
                                <a:uLnTx/>
                                <a:uFillTx/>
                                <a:latin typeface="Cambria Math"/>
                                <a:ea typeface="+mn-ea"/>
                                <a:cs typeface="+mn-cs"/>
                              </a:rPr>
                              <m:t>𝑎</m:t>
                            </m:r>
                          </m:e>
                          <m:sup>
                            <m:r>
                              <a:rPr kumimoji="0" lang="en-US" sz="1800" b="0" i="1" u="none" strike="noStrike" kern="1200" cap="none" spc="0" normalizeH="0" baseline="0" noProof="0">
                                <a:ln>
                                  <a:noFill/>
                                </a:ln>
                                <a:solidFill>
                                  <a:prstClr val="black"/>
                                </a:solidFill>
                                <a:effectLst/>
                                <a:uLnTx/>
                                <a:uFillTx/>
                                <a:latin typeface="Cambria Math"/>
                                <a:ea typeface="+mn-ea"/>
                                <a:cs typeface="+mn-cs"/>
                              </a:rPr>
                              <m:t>𝐿</m:t>
                            </m:r>
                            <m:r>
                              <a:rPr kumimoji="0" lang="en-US" sz="1800" b="0" i="1" u="none" strike="noStrike" kern="1200" cap="none" spc="0" normalizeH="0" baseline="0" noProof="0">
                                <a:ln>
                                  <a:noFill/>
                                </a:ln>
                                <a:solidFill>
                                  <a:prstClr val="black"/>
                                </a:solidFill>
                                <a:effectLst/>
                                <a:uLnTx/>
                                <a:uFillTx/>
                                <a:latin typeface="Cambria Math"/>
                                <a:ea typeface="+mn-ea"/>
                                <a:cs typeface="+mn-cs"/>
                              </a:rPr>
                              <m:t>+1</m:t>
                            </m:r>
                          </m:sup>
                        </m:sSup>
                      </m:oMath>
                    </m:oMathPara>
                  </a14:m>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30" name="TextBox 29"/>
                <p:cNvSpPr txBox="1">
                  <a:spLocks noRot="1" noChangeAspect="1" noMove="1" noResize="1" noEditPoints="1" noAdjustHandles="1" noChangeArrowheads="1" noChangeShapeType="1" noTextEdit="1"/>
                </p:cNvSpPr>
                <p:nvPr/>
              </p:nvSpPr>
              <p:spPr>
                <a:xfrm>
                  <a:off x="7015809" y="5822085"/>
                  <a:ext cx="696473"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p:cNvSpPr txBox="1"/>
                <p:nvPr/>
              </p:nvSpPr>
              <p:spPr>
                <a:xfrm>
                  <a:off x="9296401" y="5822085"/>
                  <a:ext cx="36580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a:ln>
                              <a:noFill/>
                            </a:ln>
                            <a:solidFill>
                              <a:prstClr val="black"/>
                            </a:solidFill>
                            <a:effectLst/>
                            <a:uLnTx/>
                            <a:uFillTx/>
                            <a:latin typeface="Cambria Math"/>
                            <a:ea typeface="+mn-ea"/>
                            <a:cs typeface="+mn-cs"/>
                          </a:rPr>
                          <m:t>1</m:t>
                        </m:r>
                      </m:oMath>
                    </m:oMathPara>
                  </a14:m>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31" name="TextBox 30"/>
                <p:cNvSpPr txBox="1">
                  <a:spLocks noRot="1" noChangeAspect="1" noMove="1" noResize="1" noEditPoints="1" noAdjustHandles="1" noChangeArrowheads="1" noChangeShapeType="1" noTextEdit="1"/>
                </p:cNvSpPr>
                <p:nvPr/>
              </p:nvSpPr>
              <p:spPr>
                <a:xfrm>
                  <a:off x="9296401" y="5822085"/>
                  <a:ext cx="365805" cy="369332"/>
                </a:xfrm>
                <a:prstGeom prst="rect">
                  <a:avLst/>
                </a:prstGeom>
                <a:blipFill>
                  <a:blip r:embed="rId12"/>
                  <a:stretch>
                    <a:fillRect/>
                  </a:stretch>
                </a:blipFill>
              </p:spPr>
              <p:txBody>
                <a:bodyPr/>
                <a:lstStyle/>
                <a:p>
                  <a:r>
                    <a:rPr lang="en-US">
                      <a:noFill/>
                    </a:rPr>
                    <a:t> </a:t>
                  </a:r>
                </a:p>
              </p:txBody>
            </p:sp>
          </mc:Fallback>
        </mc:AlternateContent>
        <p:grpSp>
          <p:nvGrpSpPr>
            <p:cNvPr id="33" name="Group 32"/>
            <p:cNvGrpSpPr/>
            <p:nvPr/>
          </p:nvGrpSpPr>
          <p:grpSpPr>
            <a:xfrm>
              <a:off x="2057400" y="3276600"/>
              <a:ext cx="1143000" cy="1828800"/>
              <a:chOff x="762000" y="3301829"/>
              <a:chExt cx="1143000" cy="1828800"/>
            </a:xfrm>
          </p:grpSpPr>
          <p:sp>
            <p:nvSpPr>
              <p:cNvPr id="34" name="Rectangle 33"/>
              <p:cNvSpPr/>
              <p:nvPr/>
            </p:nvSpPr>
            <p:spPr>
              <a:xfrm>
                <a:off x="1219200" y="4673429"/>
                <a:ext cx="228600" cy="4572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5" name="Rectangle 34"/>
              <p:cNvSpPr/>
              <p:nvPr/>
            </p:nvSpPr>
            <p:spPr>
              <a:xfrm>
                <a:off x="990600" y="4216229"/>
                <a:ext cx="228600" cy="9144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6" name="Rectangle 35"/>
              <p:cNvSpPr/>
              <p:nvPr/>
            </p:nvSpPr>
            <p:spPr>
              <a:xfrm>
                <a:off x="762000" y="3301829"/>
                <a:ext cx="228600" cy="18288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8" name="Rectangle 37"/>
              <p:cNvSpPr/>
              <p:nvPr/>
            </p:nvSpPr>
            <p:spPr>
              <a:xfrm>
                <a:off x="1447800" y="4902029"/>
                <a:ext cx="228600" cy="2286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9" name="Rectangle 38"/>
              <p:cNvSpPr/>
              <p:nvPr/>
            </p:nvSpPr>
            <p:spPr>
              <a:xfrm>
                <a:off x="1676400" y="5009033"/>
                <a:ext cx="228600" cy="118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51" name="Group 50"/>
            <p:cNvGrpSpPr/>
            <p:nvPr/>
          </p:nvGrpSpPr>
          <p:grpSpPr>
            <a:xfrm>
              <a:off x="4630082" y="1438616"/>
              <a:ext cx="1143000" cy="3657600"/>
              <a:chOff x="533400" y="1473029"/>
              <a:chExt cx="1143000" cy="3657600"/>
            </a:xfrm>
          </p:grpSpPr>
          <p:sp>
            <p:nvSpPr>
              <p:cNvPr id="52" name="Rectangle 51"/>
              <p:cNvSpPr/>
              <p:nvPr/>
            </p:nvSpPr>
            <p:spPr>
              <a:xfrm>
                <a:off x="1219200" y="4673429"/>
                <a:ext cx="228600" cy="4572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3" name="Rectangle 52"/>
              <p:cNvSpPr/>
              <p:nvPr/>
            </p:nvSpPr>
            <p:spPr>
              <a:xfrm>
                <a:off x="990600" y="4216229"/>
                <a:ext cx="228600" cy="9144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4" name="Rectangle 53"/>
              <p:cNvSpPr/>
              <p:nvPr/>
            </p:nvSpPr>
            <p:spPr>
              <a:xfrm>
                <a:off x="762000" y="3301829"/>
                <a:ext cx="228600" cy="18288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5" name="Rectangle 54"/>
              <p:cNvSpPr/>
              <p:nvPr/>
            </p:nvSpPr>
            <p:spPr>
              <a:xfrm>
                <a:off x="533400" y="1473029"/>
                <a:ext cx="228600" cy="3657600"/>
              </a:xfrm>
              <a:prstGeom prst="rect">
                <a:avLst/>
              </a:prstGeom>
              <a:solidFill>
                <a:schemeClr val="tx2">
                  <a:lumMod val="60000"/>
                  <a:lumOff val="4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6" name="Rectangle 55"/>
              <p:cNvSpPr/>
              <p:nvPr/>
            </p:nvSpPr>
            <p:spPr>
              <a:xfrm>
                <a:off x="1447800" y="4902029"/>
                <a:ext cx="228600" cy="2286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58" name="Rectangle 57"/>
            <p:cNvSpPr/>
            <p:nvPr/>
          </p:nvSpPr>
          <p:spPr>
            <a:xfrm>
              <a:off x="7391400" y="5011757"/>
              <a:ext cx="228600" cy="118872"/>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9" name="Rectangle 58"/>
            <p:cNvSpPr/>
            <p:nvPr/>
          </p:nvSpPr>
          <p:spPr>
            <a:xfrm>
              <a:off x="9372600" y="1447800"/>
              <a:ext cx="228600" cy="3657600"/>
            </a:xfrm>
            <a:prstGeom prst="rect">
              <a:avLst/>
            </a:prstGeom>
            <a:solidFill>
              <a:schemeClr val="accent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3" name="TextBox 62"/>
            <p:cNvSpPr txBox="1"/>
            <p:nvPr/>
          </p:nvSpPr>
          <p:spPr>
            <a:xfrm>
              <a:off x="6783114" y="5283030"/>
              <a:ext cx="1522686" cy="66057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The next term in the series</a:t>
              </a:r>
            </a:p>
          </p:txBody>
        </p:sp>
        <p:sp>
          <p:nvSpPr>
            <p:cNvPr id="6" name="Left Brace 5"/>
            <p:cNvSpPr/>
            <p:nvPr/>
          </p:nvSpPr>
          <p:spPr>
            <a:xfrm rot="16200000">
              <a:off x="5329359" y="2124934"/>
              <a:ext cx="437983" cy="822771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6" name="TextBox 65"/>
            <p:cNvSpPr txBox="1"/>
            <p:nvPr/>
          </p:nvSpPr>
          <p:spPr>
            <a:xfrm>
              <a:off x="4586700" y="6488668"/>
              <a:ext cx="196650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a:ea typeface="+mn-ea"/>
                  <a:cs typeface="+mn-cs"/>
                </a:rPr>
                <a:t>Solve for the series</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grpSp>
    </p:spTree>
    <p:extLst>
      <p:ext uri="{BB962C8B-B14F-4D97-AF65-F5344CB8AC3E}">
        <p14:creationId xmlns:p14="http://schemas.microsoft.com/office/powerpoint/2010/main" val="41378517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761</TotalTime>
  <Words>1623</Words>
  <Application>Microsoft Office PowerPoint</Application>
  <PresentationFormat>Widescreen</PresentationFormat>
  <Paragraphs>392</Paragraphs>
  <Slides>21</Slides>
  <Notes>2</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21</vt:i4>
      </vt:variant>
    </vt:vector>
  </HeadingPairs>
  <TitlesOfParts>
    <vt:vector size="32" baseType="lpstr">
      <vt:lpstr>Aptos</vt:lpstr>
      <vt:lpstr>Aptos Display</vt:lpstr>
      <vt:lpstr>Arial</vt:lpstr>
      <vt:lpstr>Calibri</vt:lpstr>
      <vt:lpstr>Calibri Light</vt:lpstr>
      <vt:lpstr>Cambria Math</vt:lpstr>
      <vt:lpstr>Consolas</vt:lpstr>
      <vt:lpstr>Symbol</vt:lpstr>
      <vt:lpstr>Office Theme</vt:lpstr>
      <vt:lpstr>1_Office Theme</vt:lpstr>
      <vt:lpstr>2_Office Theme</vt:lpstr>
      <vt:lpstr>CSE 332 Spring 2026 Lecture 6: Recurrences</vt:lpstr>
      <vt:lpstr>Recursive Binary Search</vt:lpstr>
      <vt:lpstr>Analysis of Recursive Algorithms</vt:lpstr>
      <vt:lpstr>How Efficient Is It?</vt:lpstr>
      <vt:lpstr>Let’s Solve the Recurrence!</vt:lpstr>
      <vt:lpstr>Make our process “prettier”</vt:lpstr>
      <vt:lpstr>Recursive Linear Search</vt:lpstr>
      <vt:lpstr>Prettier List Sum Substitution </vt:lpstr>
      <vt:lpstr>Recursive List Summation Code</vt:lpstr>
      <vt:lpstr>Tree Method for Recursive Summation</vt:lpstr>
      <vt:lpstr>Recursive List Summation – Solving the Series</vt:lpstr>
      <vt:lpstr>Tree Method Summary: Chip and Conquer</vt:lpstr>
      <vt:lpstr>Tree Method Summary: Divide and Conquer</vt:lpstr>
      <vt:lpstr>Let’s do some more!</vt:lpstr>
      <vt:lpstr>Tree Method T(n)=2T(n/2)+n</vt:lpstr>
      <vt:lpstr>Tree Method T(n)=2T(n/2)+n^2</vt:lpstr>
      <vt:lpstr>Solving T(n)=2T(n/2)+n^2</vt:lpstr>
      <vt:lpstr>Tree Method T(n)=2T(n/8)+1</vt:lpstr>
      <vt:lpstr>Solving T(n)=2T(n/8)+1</vt:lpstr>
      <vt:lpstr>Finite Geometric Series (a&gt;1)</vt:lpstr>
      <vt:lpstr>Finite Geometric Series (a&lt;1)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CSE332 Lecture 6</dc:title>
  <dc:creator>Brunelle, Nathan J (njb2b)</dc:creator>
  <cp:lastModifiedBy>Nathan Brunelle</cp:lastModifiedBy>
  <cp:revision>48</cp:revision>
  <dcterms:created xsi:type="dcterms:W3CDTF">2024-06-26T12:44:42Z</dcterms:created>
  <dcterms:modified xsi:type="dcterms:W3CDTF">2026-04-10T20:41:12Z</dcterms:modified>
</cp:coreProperties>
</file>