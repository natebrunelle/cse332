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1"/>
  </p:notesMasterIdLst>
  <p:sldIdLst>
    <p:sldId id="256" r:id="rId2"/>
    <p:sldId id="412" r:id="rId3"/>
    <p:sldId id="413" r:id="rId4"/>
    <p:sldId id="414" r:id="rId5"/>
    <p:sldId id="415" r:id="rId6"/>
    <p:sldId id="416" r:id="rId7"/>
    <p:sldId id="453" r:id="rId8"/>
    <p:sldId id="417" r:id="rId9"/>
    <p:sldId id="421" r:id="rId10"/>
    <p:sldId id="418" r:id="rId11"/>
    <p:sldId id="423" r:id="rId12"/>
    <p:sldId id="424" r:id="rId13"/>
    <p:sldId id="425" r:id="rId14"/>
    <p:sldId id="426" r:id="rId15"/>
    <p:sldId id="427" r:id="rId16"/>
    <p:sldId id="428" r:id="rId17"/>
    <p:sldId id="429" r:id="rId18"/>
    <p:sldId id="430" r:id="rId19"/>
    <p:sldId id="431" r:id="rId20"/>
    <p:sldId id="432" r:id="rId21"/>
    <p:sldId id="433" r:id="rId22"/>
    <p:sldId id="434" r:id="rId23"/>
    <p:sldId id="435" r:id="rId24"/>
    <p:sldId id="436" r:id="rId25"/>
    <p:sldId id="437" r:id="rId26"/>
    <p:sldId id="438" r:id="rId27"/>
    <p:sldId id="439" r:id="rId28"/>
    <p:sldId id="440" r:id="rId29"/>
    <p:sldId id="441" r:id="rId30"/>
    <p:sldId id="442" r:id="rId31"/>
    <p:sldId id="443" r:id="rId32"/>
    <p:sldId id="444" r:id="rId33"/>
    <p:sldId id="445" r:id="rId34"/>
    <p:sldId id="446" r:id="rId35"/>
    <p:sldId id="447" r:id="rId36"/>
    <p:sldId id="448" r:id="rId37"/>
    <p:sldId id="449" r:id="rId38"/>
    <p:sldId id="450" r:id="rId39"/>
    <p:sldId id="451" r:id="rId40"/>
  </p:sldIdLst>
  <p:sldSz cx="12192000" cy="6858000"/>
  <p:notesSz cx="6858000" cy="9144000"/>
  <p:embeddedFontLst>
    <p:embeddedFont>
      <p:font typeface="Cambria Math" panose="02040503050406030204" pitchFamily="18" charset="0"/>
      <p:regular r:id="rId4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5: Priority Queues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D41E5-465C-EBB5-E9CD-029376B83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ADT: Priority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048E-DA88-5227-7793-0EE138E73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is it?</a:t>
            </a:r>
          </a:p>
          <a:p>
            <a:pPr lvl="1"/>
            <a:r>
              <a:rPr lang="en-US" dirty="0"/>
              <a:t>A collection of items and their “priorities”</a:t>
            </a:r>
          </a:p>
          <a:p>
            <a:pPr lvl="1"/>
            <a:r>
              <a:rPr lang="en-US" dirty="0"/>
              <a:t>Allows quick access/removal to the “top priority” thing</a:t>
            </a:r>
          </a:p>
          <a:p>
            <a:pPr lvl="2"/>
            <a:r>
              <a:rPr lang="en-US" dirty="0"/>
              <a:t>Usually a smaller priority value means the item is “more important”</a:t>
            </a:r>
          </a:p>
          <a:p>
            <a:r>
              <a:rPr lang="en-US" dirty="0"/>
              <a:t>What Operations do we need?</a:t>
            </a:r>
          </a:p>
          <a:p>
            <a:pPr lvl="1"/>
            <a:r>
              <a:rPr lang="en-US" dirty="0"/>
              <a:t>insert(item, priority)</a:t>
            </a:r>
          </a:p>
          <a:p>
            <a:pPr lvl="2"/>
            <a:r>
              <a:rPr lang="en-US" dirty="0"/>
              <a:t>Add a new item to the PQ with indicated priority</a:t>
            </a:r>
          </a:p>
          <a:p>
            <a:pPr lvl="1"/>
            <a:r>
              <a:rPr lang="en-US" dirty="0"/>
              <a:t>extract</a:t>
            </a:r>
          </a:p>
          <a:p>
            <a:pPr lvl="2"/>
            <a:r>
              <a:rPr lang="en-US" dirty="0"/>
              <a:t>Remove and return the “top priority” item from the queue</a:t>
            </a:r>
          </a:p>
          <a:p>
            <a:pPr lvl="3"/>
            <a:r>
              <a:rPr lang="en-US" dirty="0"/>
              <a:t>Usually the item with the smallest priority value</a:t>
            </a:r>
          </a:p>
          <a:p>
            <a:pPr lvl="1"/>
            <a:r>
              <a:rPr lang="en-US" dirty="0" err="1"/>
              <a:t>IsEmpty</a:t>
            </a:r>
            <a:endParaRPr lang="en-US" dirty="0"/>
          </a:p>
          <a:p>
            <a:pPr lvl="2"/>
            <a:r>
              <a:rPr lang="en-US" dirty="0"/>
              <a:t>Indicate whether or not there are items still on the queue</a:t>
            </a:r>
          </a:p>
          <a:p>
            <a:r>
              <a:rPr lang="en-US" dirty="0"/>
              <a:t>Note: the “priority” value can be any type/class so long as it’s comparable (i.e. you can use “&lt;“ or “</a:t>
            </a:r>
            <a:r>
              <a:rPr lang="en-US" dirty="0" err="1"/>
              <a:t>compareTo</a:t>
            </a:r>
            <a:r>
              <a:rPr lang="en-US" dirty="0"/>
              <a:t>” with it)</a:t>
            </a:r>
          </a:p>
        </p:txBody>
      </p:sp>
    </p:spTree>
    <p:extLst>
      <p:ext uri="{BB962C8B-B14F-4D97-AF65-F5344CB8AC3E}">
        <p14:creationId xmlns:p14="http://schemas.microsoft.com/office/powerpoint/2010/main" val="284699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F50DF-811B-A9CC-41FE-BB616356E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Queue,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C0527-8F8A-97C7-EE9B-44727DD0B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516127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 err="1"/>
              <a:t>PriorityQueue</a:t>
            </a:r>
            <a:r>
              <a:rPr lang="en-US" dirty="0"/>
              <a:t> PQ = new </a:t>
            </a:r>
            <a:r>
              <a:rPr lang="en-US" dirty="0" err="1"/>
              <a:t>PriorityQueue</a:t>
            </a:r>
            <a:r>
              <a:rPr lang="en-US" dirty="0"/>
              <a:t>();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(5,5)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(6,6)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(1,1)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(3,3)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(8,8) // PQ has 5, 6, 3, and 8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()) // 1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()) // 3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()) // 5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()) // 6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()) // 8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050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F50DF-811B-A9CC-41FE-BB616356E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Queue,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C0527-8F8A-97C7-EE9B-44727DD0B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516127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 err="1"/>
              <a:t>PriorityQueue</a:t>
            </a:r>
            <a:r>
              <a:rPr lang="en-US" dirty="0"/>
              <a:t> PQ = new </a:t>
            </a:r>
            <a:r>
              <a:rPr lang="en-US" dirty="0" err="1"/>
              <a:t>PriorityQueue</a:t>
            </a:r>
            <a:r>
              <a:rPr lang="en-US" dirty="0"/>
              <a:t>();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(5,5)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(6,6)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(1,1) // 5, 6, 1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()) // 1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(3,3) // 5, 6, 3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()) // 3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()) // 5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(8,8) // 6, 8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()) // 6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()) // 8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154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ACA63-A283-2B9A-141D-40EDAC37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5ED34-AF75-C4E8-5894-C0401FAAB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ER</a:t>
            </a:r>
          </a:p>
          <a:p>
            <a:r>
              <a:rPr lang="en-US" dirty="0"/>
              <a:t>Sorting</a:t>
            </a:r>
          </a:p>
          <a:p>
            <a:r>
              <a:rPr lang="en-US" dirty="0"/>
              <a:t>Corrupt restaurant</a:t>
            </a:r>
          </a:p>
          <a:p>
            <a:r>
              <a:rPr lang="en-US" dirty="0"/>
              <a:t>Restaurants with reservations</a:t>
            </a:r>
          </a:p>
          <a:p>
            <a:r>
              <a:rPr lang="en-US" dirty="0"/>
              <a:t>Presales – priority registration</a:t>
            </a:r>
          </a:p>
          <a:p>
            <a:r>
              <a:rPr lang="en-US" dirty="0"/>
              <a:t>Operating systems – managing tasks</a:t>
            </a:r>
          </a:p>
          <a:p>
            <a:r>
              <a:rPr lang="en-US" dirty="0"/>
              <a:t>Airline boarding</a:t>
            </a:r>
          </a:p>
          <a:p>
            <a:r>
              <a:rPr lang="en-US" dirty="0"/>
              <a:t>Distributing tasks</a:t>
            </a:r>
          </a:p>
          <a:p>
            <a:r>
              <a:rPr lang="en-US" dirty="0"/>
              <a:t>Huffman</a:t>
            </a:r>
          </a:p>
        </p:txBody>
      </p:sp>
    </p:spTree>
    <p:extLst>
      <p:ext uri="{BB962C8B-B14F-4D97-AF65-F5344CB8AC3E}">
        <p14:creationId xmlns:p14="http://schemas.microsoft.com/office/powerpoint/2010/main" val="1590562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DE81BF-64A3-93DD-75E1-1B8B7ADAA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917307"/>
              </p:ext>
            </p:extLst>
          </p:nvPr>
        </p:nvGraphicFramePr>
        <p:xfrm>
          <a:off x="838200" y="1825625"/>
          <a:ext cx="1051559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6360">
                  <a:extLst>
                    <a:ext uri="{9D8B030D-6E8A-4147-A177-3AD203B41FA5}">
                      <a16:colId xmlns:a16="http://schemas.microsoft.com/office/drawing/2014/main" val="3859037791"/>
                    </a:ext>
                  </a:extLst>
                </a:gridCol>
                <a:gridCol w="3789680">
                  <a:extLst>
                    <a:ext uri="{9D8B030D-6E8A-4147-A177-3AD203B41FA5}">
                      <a16:colId xmlns:a16="http://schemas.microsoft.com/office/drawing/2014/main" val="1986166423"/>
                    </a:ext>
                  </a:extLst>
                </a:gridCol>
                <a:gridCol w="4099557">
                  <a:extLst>
                    <a:ext uri="{9D8B030D-6E8A-4147-A177-3AD203B41FA5}">
                      <a16:colId xmlns:a16="http://schemas.microsoft.com/office/drawing/2014/main" val="36671045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Data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100" dirty="0"/>
                        <a:t>Worst case time to insert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dirty="0"/>
                        <a:t>Worst case time to extract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940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18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532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548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3790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Binary Search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9590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5DC9A6B-441D-32AF-47B4-F4888F339B90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3852505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99397783"/>
                  </p:ext>
                </p:extLst>
              </p:nvPr>
            </p:nvGraphicFramePr>
            <p:xfrm>
              <a:off x="838200" y="1825625"/>
              <a:ext cx="1051559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99397783"/>
                  </p:ext>
                </p:extLst>
              </p:nvPr>
            </p:nvGraphicFramePr>
            <p:xfrm>
              <a:off x="838200" y="1825625"/>
              <a:ext cx="1051559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110448" r="-108842" b="-4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110448" r="-594" b="-4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207353" r="-108842" b="-3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207353" r="-594" b="-3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307353" r="-108842" b="-2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307353" r="-594" b="-2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413433" r="-108842" b="-1298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413433" r="-594" b="-1298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505882" r="-108842" b="-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505882" r="-594" b="-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C7AD587-59D0-A1C8-89A2-1EC8852362D7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2414215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43768867"/>
                  </p:ext>
                </p:extLst>
              </p:nvPr>
            </p:nvGraphicFramePr>
            <p:xfrm>
              <a:off x="838200" y="1825625"/>
              <a:ext cx="10515597" cy="2880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Heap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1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1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76517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43768867"/>
                  </p:ext>
                </p:extLst>
              </p:nvPr>
            </p:nvGraphicFramePr>
            <p:xfrm>
              <a:off x="838200" y="1825625"/>
              <a:ext cx="10515597" cy="2880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110448" r="-108842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110448" r="-594" b="-5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207353" r="-108842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207353" r="-594" b="-4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311940" r="-108842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311940" r="-594" b="-3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405882" r="-108842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405882" r="-594" b="-2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513433" r="-108842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513433" r="-594" b="-1313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Heap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604412" r="-108842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604412" r="-594" b="-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76517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5A04C30-28A0-45BD-0DCC-6FE722E39D48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3914709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67FF0-73B3-18E1-1353-1FC326B05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 for Heaps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FACA28-A63F-17B5-D7E2-8052BDD1DC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Trees:</a:t>
                </a:r>
              </a:p>
              <a:p>
                <a:pPr lvl="1"/>
                <a:r>
                  <a:rPr lang="en-US" dirty="0"/>
                  <a:t>The branching factor is 2</a:t>
                </a:r>
              </a:p>
              <a:p>
                <a:pPr lvl="1"/>
                <a:r>
                  <a:rPr lang="en-US" dirty="0"/>
                  <a:t>Every node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2 children</a:t>
                </a:r>
              </a:p>
              <a:p>
                <a:r>
                  <a:rPr lang="en-US" dirty="0"/>
                  <a:t>Complete Tree:</a:t>
                </a:r>
              </a:p>
              <a:p>
                <a:pPr lvl="1"/>
                <a:r>
                  <a:rPr lang="en-US" dirty="0"/>
                  <a:t>All “layers” are full, except the bottom</a:t>
                </a:r>
              </a:p>
              <a:p>
                <a:pPr lvl="1"/>
                <a:r>
                  <a:rPr lang="en-US" dirty="0"/>
                  <a:t>Bottom layer filled left-to-right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FACA28-A63F-17B5-D7E2-8052BDD1DC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45763F0-6769-2287-CC78-BCD511A25F3D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F7E31A0-3D28-578F-5A14-F09AA762C56B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E57D9C-90AC-1E4D-B4B2-6035E42D446F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B69181F-C6C8-0F25-3774-618748080A5E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4E7A57F-281D-14D1-8FD1-B7676D989C3C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69DA9B6-1EB5-447B-ED91-6211BEDDA0F2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5DDE04-CC29-E791-DD6A-810566C87691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C1B6C2F-9FFB-4EEB-3096-46005109CDE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F5AC253-EE0F-A59C-CD48-00D35FA98918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694BE88-313B-BF69-CC7B-CDB41993619D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5BEC51-2B81-F5B1-3172-D2C934522EE8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76CC7CC-AE23-0FD3-CE5F-8504F07C64B7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5647F1-AB09-5E14-4D54-F9A40B1E0C28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7D23AFF-4086-7B95-E87D-F527D08A1AD3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427BB4-6F03-67AA-C1CC-7E6FCA3D63F4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B0041F5-7180-BE30-B46A-30863B150E6E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952D87F-314D-CE71-4735-6CB05C141444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B2EEED4-A26A-7898-FCF1-C0AA68E4D5B5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76353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A069-E0AF-EBEE-3120-4318DF25C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 Data Structure – Heap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Idea: Maintain a limited amount of order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worst case for extract and insert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860A17D2-D1DC-EB90-0F1F-B576ACAA6D5B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0E16EF1-E0DE-F370-E581-946E72846104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45C3EBE-556C-5377-E6B8-DD961CEA7DFD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0B45233-474B-D142-219F-3E2B3AC692B9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E202AD5-FD55-ED1F-2E5A-AA6DE5FB534F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55CF38E-7DC0-6240-8663-B411669B6536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F4CC478-74A8-998F-9A93-3856DF9C77C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E3CC96-BBE6-289E-ED25-7D583BF06E0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4DD672-6BA5-032B-AF77-D37A27D159F3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01B6D2E-E2AA-4C8C-1EAD-8C12D7FF3633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48F384-51C8-527F-7FB4-5BBB372B6677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02DF07-0E13-B858-3BA7-5900F9516216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184EDD4-811C-EDDD-E685-8BB995834CA3}"/>
                </a:ext>
              </a:extLst>
            </p:cNvPr>
            <p:cNvCxnSpPr>
              <a:stCxn id="8" idx="1"/>
              <a:endCxn id="5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D010E68-C147-D53D-76FA-0AC012CD9A6F}"/>
                </a:ext>
              </a:extLst>
            </p:cNvPr>
            <p:cNvCxnSpPr>
              <a:stCxn id="7" idx="7"/>
              <a:endCxn id="5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C35A445-FC36-61C2-4F6B-88DF180C943C}"/>
                </a:ext>
              </a:extLst>
            </p:cNvPr>
            <p:cNvCxnSpPr>
              <a:stCxn id="12" idx="0"/>
              <a:endCxn id="7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6173BE8-0C63-61AC-C82D-DA0736EC7C33}"/>
                </a:ext>
              </a:extLst>
            </p:cNvPr>
            <p:cNvCxnSpPr>
              <a:stCxn id="11" idx="0"/>
              <a:endCxn id="7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859FA23-DDB5-C437-52D4-C8687D34BF71}"/>
                </a:ext>
              </a:extLst>
            </p:cNvPr>
            <p:cNvCxnSpPr>
              <a:stCxn id="9" idx="7"/>
              <a:endCxn id="6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F0309B5-D192-7F29-3E8C-A9BE86027085}"/>
                </a:ext>
              </a:extLst>
            </p:cNvPr>
            <p:cNvCxnSpPr>
              <a:stCxn id="10" idx="1"/>
              <a:endCxn id="6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072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A206E-E4F0-F25D-7FB9-EC12CCD00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C1EDC-77CF-F245-8CDE-E3968F223C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What is the maximum number of total nodes in a binary tree of height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If I have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in a binary tree, what is its minimum height?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Heap Idea: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values are inserted into a complete tree, the height will be roughly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b="0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Ensure each insert and extract requires just one “trip” from root to leaf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C1EDC-77CF-F245-8CDE-E3968F223C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8902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0BF59-083A-CA08-93EA-90DDC967B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(Min) Heap Data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97669B-CBB0-4757-983B-3F44485761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Keep items in a complete binary tree</a:t>
                </a:r>
              </a:p>
              <a:p>
                <a:r>
                  <a:rPr lang="en-US" dirty="0"/>
                  <a:t>Maintain the “(Min) Heap Property” of the tree</a:t>
                </a:r>
              </a:p>
              <a:p>
                <a:pPr lvl="1"/>
                <a:r>
                  <a:rPr lang="en-US" dirty="0"/>
                  <a:t>Every node’s priority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its children’s priority</a:t>
                </a:r>
              </a:p>
              <a:p>
                <a:pPr lvl="1"/>
                <a:r>
                  <a:rPr lang="en-US" sz="2000" dirty="0"/>
                  <a:t>Max Heap Property: every node’s priority is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2000" dirty="0"/>
                  <a:t> its children</a:t>
                </a:r>
                <a:endParaRPr lang="en-US" dirty="0"/>
              </a:p>
              <a:p>
                <a:r>
                  <a:rPr lang="en-US" dirty="0"/>
                  <a:t>Where is the min?</a:t>
                </a:r>
              </a:p>
              <a:p>
                <a:r>
                  <a:rPr lang="en-US" dirty="0"/>
                  <a:t>How do I insert?</a:t>
                </a:r>
              </a:p>
              <a:p>
                <a:r>
                  <a:rPr lang="en-US" dirty="0"/>
                  <a:t>How do I extract?</a:t>
                </a:r>
              </a:p>
              <a:p>
                <a:r>
                  <a:rPr lang="en-US" dirty="0"/>
                  <a:t>How to do it in Java?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97669B-CBB0-4757-983B-3F44485761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8AE6CBA-AB2F-80B2-02B0-F3E0F80B5682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C35D44B-7628-E1CA-355C-F1502458AAFF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06D75F0-1F90-45CD-3466-F0D3151331C2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5428839-BA2F-B30D-94E5-826514CC6F90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AAF1CD9-D7B0-1F23-5F0D-1AE7356B4063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A3A9B3C-DD7B-FA7F-8066-BF8EDE5C6C0E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4A5175A-FD0A-6371-2F1B-DB3E686ECC8D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A33B652-75C8-B0DA-13BD-38B23E9E57B2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36E5ACF-446B-CD24-C4B1-D4CCCBEFC8B9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628E15AD-EBCB-3F3E-9454-F62DC58673EF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474545E-8779-A2D5-CC1E-916D83DAFEC0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C832117-1D91-EA54-AA48-D42D50B6E77D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216AEFE-FACF-94D3-2B06-267CC376A70D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F51E84C-C241-3587-EEAA-D44DCC6EB670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2F6055D-B72C-64B7-C5B6-16DED3B88937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820EC72-600D-B503-2BA3-2F770786B564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E5B7A2E-C48F-13F0-EC5F-40C151CCB2C5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6A696EE-72D9-D0B0-C82B-CF1F4D5D6426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38341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F168B-C22F-1B48-82E7-F81CD4DC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79" y="37228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insert(item, priority){</a:t>
            </a:r>
          </a:p>
          <a:p>
            <a:pPr marL="0" indent="0">
              <a:buNone/>
            </a:pPr>
            <a:r>
              <a:rPr lang="en-US" dirty="0"/>
              <a:t>    put item in the “next open” spot (keep tree complete)</a:t>
            </a:r>
          </a:p>
          <a:p>
            <a:pPr marL="0" indent="0">
              <a:buNone/>
            </a:pPr>
            <a:r>
              <a:rPr lang="en-US" dirty="0"/>
              <a:t>    while (priority &lt; parent’s priority){</a:t>
            </a:r>
          </a:p>
          <a:p>
            <a:pPr marL="0" indent="0">
              <a:buNone/>
            </a:pPr>
            <a:r>
              <a:rPr lang="en-US" dirty="0"/>
              <a:t>        swap item with parent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3782060" y="661091"/>
            <a:ext cx="688077" cy="688077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1.5</a:t>
            </a:r>
          </a:p>
        </p:txBody>
      </p:sp>
    </p:spTree>
    <p:extLst>
      <p:ext uri="{BB962C8B-B14F-4D97-AF65-F5344CB8AC3E}">
        <p14:creationId xmlns:p14="http://schemas.microsoft.com/office/powerpoint/2010/main" val="595223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F168B-C22F-1B48-82E7-F81CD4DC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79" y="37228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insert(item, priority){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put item in the “next open” spot (keep tree complete)</a:t>
            </a:r>
          </a:p>
          <a:p>
            <a:pPr marL="0" indent="0">
              <a:buNone/>
            </a:pPr>
            <a:r>
              <a:rPr lang="en-US" dirty="0"/>
              <a:t>    while (priority &lt; parent’s priority){</a:t>
            </a:r>
          </a:p>
          <a:p>
            <a:pPr marL="0" indent="0">
              <a:buNone/>
            </a:pPr>
            <a:r>
              <a:rPr lang="en-US" dirty="0"/>
              <a:t>        swap item with parent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1.5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2378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F168B-C22F-1B48-82E7-F81CD4DC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79" y="37228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insert(item, priority){</a:t>
            </a:r>
          </a:p>
          <a:p>
            <a:pPr marL="0" indent="0">
              <a:buNone/>
            </a:pPr>
            <a:r>
              <a:rPr lang="en-US" dirty="0"/>
              <a:t>    put item in the “next open” spot (keep tree complete)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while (priority &lt; parent’s priority){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        swap item with parent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1.5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ight Brace 22">
            <a:extLst>
              <a:ext uri="{FF2B5EF4-FFF2-40B4-BE49-F238E27FC236}">
                <a16:creationId xmlns:a16="http://schemas.microsoft.com/office/drawing/2014/main" id="{10EC7529-FAB5-F76E-AB09-333DBBED8344}"/>
              </a:ext>
            </a:extLst>
          </p:cNvPr>
          <p:cNvSpPr/>
          <p:nvPr/>
        </p:nvSpPr>
        <p:spPr>
          <a:xfrm>
            <a:off x="7676934" y="4754880"/>
            <a:ext cx="603466" cy="1442029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A71E33-531C-6794-787C-EEC71906132F}"/>
              </a:ext>
            </a:extLst>
          </p:cNvPr>
          <p:cNvSpPr txBox="1"/>
          <p:nvPr/>
        </p:nvSpPr>
        <p:spPr>
          <a:xfrm>
            <a:off x="8264914" y="5245061"/>
            <a:ext cx="17794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Percolate Up</a:t>
            </a:r>
          </a:p>
        </p:txBody>
      </p:sp>
    </p:spTree>
    <p:extLst>
      <p:ext uri="{BB962C8B-B14F-4D97-AF65-F5344CB8AC3E}">
        <p14:creationId xmlns:p14="http://schemas.microsoft.com/office/powerpoint/2010/main" val="8634574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F168B-C22F-1B48-82E7-F81CD4DC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79" y="37228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insert(item, priority){</a:t>
            </a:r>
          </a:p>
          <a:p>
            <a:pPr marL="0" indent="0">
              <a:buNone/>
            </a:pPr>
            <a:r>
              <a:rPr lang="en-US" dirty="0"/>
              <a:t>    put item in the “next open” spot (keep tree complete)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while (priority &lt; parent’s priority){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        swap item with parent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1.5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ight Brace 22">
            <a:extLst>
              <a:ext uri="{FF2B5EF4-FFF2-40B4-BE49-F238E27FC236}">
                <a16:creationId xmlns:a16="http://schemas.microsoft.com/office/drawing/2014/main" id="{113E0DB5-8485-A62A-6719-A1A384A9B517}"/>
              </a:ext>
            </a:extLst>
          </p:cNvPr>
          <p:cNvSpPr/>
          <p:nvPr/>
        </p:nvSpPr>
        <p:spPr>
          <a:xfrm>
            <a:off x="7676934" y="4754880"/>
            <a:ext cx="603466" cy="1442029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429527-753E-8035-F681-3E6BDB01C6DE}"/>
              </a:ext>
            </a:extLst>
          </p:cNvPr>
          <p:cNvSpPr txBox="1"/>
          <p:nvPr/>
        </p:nvSpPr>
        <p:spPr>
          <a:xfrm>
            <a:off x="8264914" y="5245061"/>
            <a:ext cx="17794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Percolate Up</a:t>
            </a:r>
          </a:p>
        </p:txBody>
      </p:sp>
    </p:spTree>
    <p:extLst>
      <p:ext uri="{BB962C8B-B14F-4D97-AF65-F5344CB8AC3E}">
        <p14:creationId xmlns:p14="http://schemas.microsoft.com/office/powerpoint/2010/main" val="9382182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F168B-C22F-1B48-82E7-F81CD4DC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79" y="37228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insert(item, priority){</a:t>
            </a:r>
          </a:p>
          <a:p>
            <a:pPr marL="0" indent="0">
              <a:buNone/>
            </a:pPr>
            <a:r>
              <a:rPr lang="en-US" dirty="0"/>
              <a:t>    put item in the “next open” spot (keep tree complete)</a:t>
            </a:r>
          </a:p>
          <a:p>
            <a:pPr marL="0" indent="0">
              <a:buNone/>
            </a:pPr>
            <a:r>
              <a:rPr lang="en-US" dirty="0"/>
              <a:t>    while (priority &lt; parent’s priority){</a:t>
            </a:r>
          </a:p>
          <a:p>
            <a:pPr marL="0" indent="0">
              <a:buNone/>
            </a:pPr>
            <a:r>
              <a:rPr lang="en-US" dirty="0"/>
              <a:t>        swap item with parent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8173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extract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extract(){</a:t>
                </a:r>
              </a:p>
              <a:p>
                <a:pPr marL="0" indent="0">
                  <a:buNone/>
                </a:pPr>
                <a:r>
                  <a:rPr lang="en-US" dirty="0"/>
                  <a:t>    min =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 err="1"/>
                  <a:t>curr</a:t>
                </a:r>
                <a:r>
                  <a:rPr lang="en-US" dirty="0"/>
                  <a:t> = bottom-right item</a:t>
                </a:r>
              </a:p>
              <a:p>
                <a:pPr marL="0" indent="0">
                  <a:buNone/>
                </a:pPr>
                <a:r>
                  <a:rPr lang="en-US" dirty="0"/>
                  <a:t>    move </a:t>
                </a:r>
                <a:r>
                  <a:rPr lang="en-US" dirty="0" err="1"/>
                  <a:t>curr</a:t>
                </a:r>
                <a:r>
                  <a:rPr lang="en-US" dirty="0"/>
                  <a:t> to the root</a:t>
                </a:r>
              </a:p>
              <a:p>
                <a:pPr marL="0" indent="0">
                  <a:buNone/>
                </a:pPr>
                <a:r>
                  <a:rPr lang="en-US" dirty="0"/>
                  <a:t>    while(</a:t>
                </a:r>
                <a:r>
                  <a:rPr lang="en-US" dirty="0" err="1"/>
                  <a:t>curr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curr.left</a:t>
                </a:r>
                <a:r>
                  <a:rPr lang="en-US" dirty="0"/>
                  <a:t> || </a:t>
                </a:r>
                <a:r>
                  <a:rPr lang="en-US" dirty="0" err="1"/>
                  <a:t>curr</a:t>
                </a:r>
                <a:r>
                  <a:rPr lang="en-US" dirty="0"/>
                  <a:t> &gt; </a:t>
                </a:r>
                <a:r>
                  <a:rPr lang="en-US" dirty="0" err="1"/>
                  <a:t>curr.right</a:t>
                </a:r>
                <a:r>
                  <a:rPr lang="en-US" dirty="0"/>
                  <a:t>){</a:t>
                </a:r>
              </a:p>
              <a:p>
                <a:pPr marL="0" indent="0">
                  <a:buNone/>
                </a:pPr>
                <a:r>
                  <a:rPr lang="en-US" dirty="0"/>
                  <a:t>        swap </a:t>
                </a:r>
                <a:r>
                  <a:rPr lang="en-US" dirty="0" err="1"/>
                  <a:t>curr</a:t>
                </a:r>
                <a:r>
                  <a:rPr lang="en-US" dirty="0"/>
                  <a:t> with its smallest child</a:t>
                </a:r>
              </a:p>
              <a:p>
                <a:pPr marL="0" indent="0">
                  <a:buNone/>
                </a:pPr>
                <a:r>
                  <a:rPr lang="en-US" dirty="0"/>
                  <a:t>    }</a:t>
                </a:r>
              </a:p>
              <a:p>
                <a:pPr marL="0" indent="0">
                  <a:buNone/>
                </a:pPr>
                <a:r>
                  <a:rPr lang="en-US" dirty="0"/>
                  <a:t>    return min</a:t>
                </a:r>
              </a:p>
              <a:p>
                <a:pPr marL="0" indent="0">
                  <a:buNone/>
                </a:pPr>
                <a:r>
                  <a:rPr lang="en-US" dirty="0"/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  <a:blipFill>
                <a:blip r:embed="rId2"/>
                <a:stretch>
                  <a:fillRect l="-1217" t="-30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6280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extract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extract(){</a:t>
                </a:r>
              </a:p>
              <a:p>
                <a:pPr marL="0" indent="0">
                  <a:buNone/>
                </a:pPr>
                <a:r>
                  <a:rPr lang="en-US" dirty="0"/>
                  <a:t>    min =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 err="1"/>
                  <a:t>curr</a:t>
                </a:r>
                <a:r>
                  <a:rPr lang="en-US" dirty="0"/>
                  <a:t> = bottom-right item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>
                    <a:solidFill>
                      <a:srgbClr val="FF0000"/>
                    </a:solidFill>
                  </a:rPr>
                  <a:t>move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to the root</a:t>
                </a:r>
              </a:p>
              <a:p>
                <a:pPr marL="0" indent="0">
                  <a:buNone/>
                </a:pPr>
                <a:r>
                  <a:rPr lang="en-US" dirty="0"/>
                  <a:t>    while(</a:t>
                </a:r>
                <a:r>
                  <a:rPr lang="en-US" dirty="0" err="1"/>
                  <a:t>curr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curr.left</a:t>
                </a:r>
                <a:r>
                  <a:rPr lang="en-US" dirty="0"/>
                  <a:t> || </a:t>
                </a:r>
                <a:r>
                  <a:rPr lang="en-US" dirty="0" err="1"/>
                  <a:t>curr</a:t>
                </a:r>
                <a:r>
                  <a:rPr lang="en-US" dirty="0"/>
                  <a:t> &gt; </a:t>
                </a:r>
                <a:r>
                  <a:rPr lang="en-US" dirty="0" err="1"/>
                  <a:t>curr.right</a:t>
                </a:r>
                <a:r>
                  <a:rPr lang="en-US" dirty="0"/>
                  <a:t>){</a:t>
                </a:r>
              </a:p>
              <a:p>
                <a:pPr marL="0" indent="0">
                  <a:buNone/>
                </a:pPr>
                <a:r>
                  <a:rPr lang="en-US" dirty="0"/>
                  <a:t>        swap </a:t>
                </a:r>
                <a:r>
                  <a:rPr lang="en-US" dirty="0" err="1"/>
                  <a:t>curr</a:t>
                </a:r>
                <a:r>
                  <a:rPr lang="en-US" dirty="0"/>
                  <a:t> with its smallest child</a:t>
                </a:r>
              </a:p>
              <a:p>
                <a:pPr marL="0" indent="0">
                  <a:buNone/>
                </a:pPr>
                <a:r>
                  <a:rPr lang="en-US" dirty="0"/>
                  <a:t>    }</a:t>
                </a:r>
              </a:p>
              <a:p>
                <a:pPr marL="0" indent="0">
                  <a:buNone/>
                </a:pPr>
                <a:r>
                  <a:rPr lang="en-US" dirty="0"/>
                  <a:t>    return min</a:t>
                </a:r>
              </a:p>
              <a:p>
                <a:pPr marL="0" indent="0">
                  <a:buNone/>
                </a:pPr>
                <a:r>
                  <a:rPr lang="en-US" dirty="0"/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  <a:blipFill>
                <a:blip r:embed="rId2"/>
                <a:stretch>
                  <a:fillRect l="-1217" t="-30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26011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extract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extract(){</a:t>
                </a:r>
              </a:p>
              <a:p>
                <a:pPr marL="0" indent="0">
                  <a:buNone/>
                </a:pPr>
                <a:r>
                  <a:rPr lang="en-US" dirty="0"/>
                  <a:t>    min =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 err="1"/>
                  <a:t>curr</a:t>
                </a:r>
                <a:r>
                  <a:rPr lang="en-US" dirty="0"/>
                  <a:t> = bottom-right item</a:t>
                </a:r>
              </a:p>
              <a:p>
                <a:pPr marL="0" indent="0">
                  <a:buNone/>
                </a:pPr>
                <a:r>
                  <a:rPr lang="en-US" dirty="0"/>
                  <a:t>    move </a:t>
                </a:r>
                <a:r>
                  <a:rPr lang="en-US" dirty="0" err="1"/>
                  <a:t>curr</a:t>
                </a:r>
                <a:r>
                  <a:rPr lang="en-US" dirty="0"/>
                  <a:t> to the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>
                    <a:solidFill>
                      <a:srgbClr val="FF0000"/>
                    </a:solidFill>
                  </a:rPr>
                  <a:t>while(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curr.left</a:t>
                </a:r>
                <a:r>
                  <a:rPr lang="en-US" dirty="0">
                    <a:solidFill>
                      <a:srgbClr val="FF0000"/>
                    </a:solidFill>
                  </a:rPr>
                  <a:t> ||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&gt;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curr.right</a:t>
                </a:r>
                <a:r>
                  <a:rPr lang="en-US" dirty="0">
                    <a:solidFill>
                      <a:srgbClr val="FF0000"/>
                    </a:solidFill>
                  </a:rPr>
                  <a:t>){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        swap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with its smallest child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    }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return min</a:t>
                </a:r>
              </a:p>
              <a:p>
                <a:pPr marL="0" indent="0">
                  <a:buNone/>
                </a:pPr>
                <a:r>
                  <a:rPr lang="en-US" dirty="0"/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  <a:blipFill>
                <a:blip r:embed="rId2"/>
                <a:stretch>
                  <a:fillRect l="-1217" t="-30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7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ight Brace 22">
            <a:extLst>
              <a:ext uri="{FF2B5EF4-FFF2-40B4-BE49-F238E27FC236}">
                <a16:creationId xmlns:a16="http://schemas.microsoft.com/office/drawing/2014/main" id="{C1092552-4B03-D299-B7EC-307EEA28C766}"/>
              </a:ext>
            </a:extLst>
          </p:cNvPr>
          <p:cNvSpPr/>
          <p:nvPr/>
        </p:nvSpPr>
        <p:spPr>
          <a:xfrm>
            <a:off x="6473436" y="4342845"/>
            <a:ext cx="603466" cy="1336595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F50038-C91B-579B-E5E2-7D3A87CAD21E}"/>
              </a:ext>
            </a:extLst>
          </p:cNvPr>
          <p:cNvSpPr txBox="1"/>
          <p:nvPr/>
        </p:nvSpPr>
        <p:spPr>
          <a:xfrm>
            <a:off x="7061416" y="4833026"/>
            <a:ext cx="2151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Percolate Down</a:t>
            </a:r>
          </a:p>
        </p:txBody>
      </p:sp>
    </p:spTree>
    <p:extLst>
      <p:ext uri="{BB962C8B-B14F-4D97-AF65-F5344CB8AC3E}">
        <p14:creationId xmlns:p14="http://schemas.microsoft.com/office/powerpoint/2010/main" val="25141182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extract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E2D8F465-972E-702A-2E2F-AEE91909A5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extract(){</a:t>
                </a:r>
              </a:p>
              <a:p>
                <a:pPr marL="0" indent="0">
                  <a:buNone/>
                </a:pPr>
                <a:r>
                  <a:rPr lang="en-US" dirty="0"/>
                  <a:t>    min =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 err="1"/>
                  <a:t>curr</a:t>
                </a:r>
                <a:r>
                  <a:rPr lang="en-US" dirty="0"/>
                  <a:t> = bottom-right item</a:t>
                </a:r>
              </a:p>
              <a:p>
                <a:pPr marL="0" indent="0">
                  <a:buNone/>
                </a:pPr>
                <a:r>
                  <a:rPr lang="en-US" dirty="0"/>
                  <a:t>    move </a:t>
                </a:r>
                <a:r>
                  <a:rPr lang="en-US" dirty="0" err="1"/>
                  <a:t>curr</a:t>
                </a:r>
                <a:r>
                  <a:rPr lang="en-US" dirty="0"/>
                  <a:t> to the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>
                    <a:solidFill>
                      <a:srgbClr val="FF0000"/>
                    </a:solidFill>
                  </a:rPr>
                  <a:t>while(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curr.left</a:t>
                </a:r>
                <a:r>
                  <a:rPr lang="en-US" dirty="0">
                    <a:solidFill>
                      <a:srgbClr val="FF0000"/>
                    </a:solidFill>
                  </a:rPr>
                  <a:t> ||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&gt;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curr.right</a:t>
                </a:r>
                <a:r>
                  <a:rPr lang="en-US" dirty="0">
                    <a:solidFill>
                      <a:srgbClr val="FF0000"/>
                    </a:solidFill>
                  </a:rPr>
                  <a:t>){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        swap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with its smallest child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    }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return min</a:t>
                </a:r>
              </a:p>
              <a:p>
                <a:pPr marL="0" indent="0">
                  <a:buNone/>
                </a:pPr>
                <a:r>
                  <a:rPr lang="en-US" dirty="0"/>
                  <a:t>}</a:t>
                </a:r>
              </a:p>
            </p:txBody>
          </p:sp>
        </mc:Choice>
        <mc:Fallback xmlns=""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E2D8F465-972E-702A-2E2F-AEE91909A5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  <a:blipFill>
                <a:blip r:embed="rId2"/>
                <a:stretch>
                  <a:fillRect l="-1217" t="-30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ight Brace 26">
            <a:extLst>
              <a:ext uri="{FF2B5EF4-FFF2-40B4-BE49-F238E27FC236}">
                <a16:creationId xmlns:a16="http://schemas.microsoft.com/office/drawing/2014/main" id="{D392640E-64EB-51D5-7734-940383DCEF8D}"/>
              </a:ext>
            </a:extLst>
          </p:cNvPr>
          <p:cNvSpPr/>
          <p:nvPr/>
        </p:nvSpPr>
        <p:spPr>
          <a:xfrm>
            <a:off x="6473436" y="4342845"/>
            <a:ext cx="603466" cy="1336595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F1793D-52B4-CE4C-028B-F4AE995EEB55}"/>
              </a:ext>
            </a:extLst>
          </p:cNvPr>
          <p:cNvSpPr txBox="1"/>
          <p:nvPr/>
        </p:nvSpPr>
        <p:spPr>
          <a:xfrm>
            <a:off x="7061416" y="4833026"/>
            <a:ext cx="2151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Percolate Down</a:t>
            </a:r>
          </a:p>
        </p:txBody>
      </p:sp>
    </p:spTree>
    <p:extLst>
      <p:ext uri="{BB962C8B-B14F-4D97-AF65-F5344CB8AC3E}">
        <p14:creationId xmlns:p14="http://schemas.microsoft.com/office/powerpoint/2010/main" val="34979342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extract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extract(){</a:t>
                </a:r>
              </a:p>
              <a:p>
                <a:pPr marL="0" indent="0">
                  <a:buNone/>
                </a:pPr>
                <a:r>
                  <a:rPr lang="en-US" dirty="0"/>
                  <a:t>    min =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 err="1"/>
                  <a:t>curr</a:t>
                </a:r>
                <a:r>
                  <a:rPr lang="en-US" dirty="0"/>
                  <a:t> = bottom-right item</a:t>
                </a:r>
              </a:p>
              <a:p>
                <a:pPr marL="0" indent="0">
                  <a:buNone/>
                </a:pPr>
                <a:r>
                  <a:rPr lang="en-US" dirty="0"/>
                  <a:t>    move </a:t>
                </a:r>
                <a:r>
                  <a:rPr lang="en-US" dirty="0" err="1"/>
                  <a:t>curr</a:t>
                </a:r>
                <a:r>
                  <a:rPr lang="en-US" dirty="0"/>
                  <a:t> to the root</a:t>
                </a:r>
              </a:p>
              <a:p>
                <a:pPr marL="0" indent="0">
                  <a:buNone/>
                </a:pPr>
                <a:r>
                  <a:rPr lang="en-US" dirty="0"/>
                  <a:t>    while(</a:t>
                </a:r>
                <a:r>
                  <a:rPr lang="en-US" dirty="0" err="1"/>
                  <a:t>curr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curr.left</a:t>
                </a:r>
                <a:r>
                  <a:rPr lang="en-US" dirty="0"/>
                  <a:t> || </a:t>
                </a:r>
                <a:r>
                  <a:rPr lang="en-US" dirty="0" err="1"/>
                  <a:t>curr</a:t>
                </a:r>
                <a:r>
                  <a:rPr lang="en-US" dirty="0"/>
                  <a:t> &gt; </a:t>
                </a:r>
                <a:r>
                  <a:rPr lang="en-US" dirty="0" err="1"/>
                  <a:t>curr.right</a:t>
                </a:r>
                <a:r>
                  <a:rPr lang="en-US" dirty="0"/>
                  <a:t>){</a:t>
                </a:r>
              </a:p>
              <a:p>
                <a:pPr marL="0" indent="0">
                  <a:buNone/>
                </a:pPr>
                <a:r>
                  <a:rPr lang="en-US" dirty="0"/>
                  <a:t>        swap </a:t>
                </a:r>
                <a:r>
                  <a:rPr lang="en-US" dirty="0" err="1"/>
                  <a:t>curr</a:t>
                </a:r>
                <a:r>
                  <a:rPr lang="en-US" dirty="0"/>
                  <a:t> with its smallest child</a:t>
                </a:r>
              </a:p>
              <a:p>
                <a:pPr marL="0" indent="0">
                  <a:buNone/>
                </a:pPr>
                <a:r>
                  <a:rPr lang="en-US" dirty="0"/>
                  <a:t>    }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>
                    <a:solidFill>
                      <a:srgbClr val="FF0000"/>
                    </a:solidFill>
                  </a:rPr>
                  <a:t>return min</a:t>
                </a:r>
              </a:p>
              <a:p>
                <a:pPr marL="0" indent="0">
                  <a:buNone/>
                </a:pPr>
                <a:r>
                  <a:rPr lang="en-US" dirty="0"/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  <a:blipFill>
                <a:blip r:embed="rId2"/>
                <a:stretch>
                  <a:fillRect l="-1217" t="-30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794289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65775-ECF5-263D-D86C-2666D0E60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Percolate Up and Down (for a Min Heap)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00E82E-8B91-3DBC-BE69-2D72AD7E85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Goal: restore the “Heap Property”</a:t>
                </a:r>
              </a:p>
              <a:p>
                <a:r>
                  <a:rPr lang="en-US" dirty="0"/>
                  <a:t>Percolate Up:</a:t>
                </a:r>
              </a:p>
              <a:p>
                <a:pPr lvl="1"/>
                <a:r>
                  <a:rPr lang="en-US" dirty="0"/>
                  <a:t>Take a node that may be smaller than a parent, repeatedly swap with a parent until it is larger than its parent</a:t>
                </a:r>
              </a:p>
              <a:p>
                <a:r>
                  <a:rPr lang="en-US" dirty="0"/>
                  <a:t>Percolate Down:</a:t>
                </a:r>
              </a:p>
              <a:p>
                <a:pPr lvl="1"/>
                <a:r>
                  <a:rPr lang="en-US" dirty="0"/>
                  <a:t>Take a node that may be larger than one of its children, repeatedly swap with smallest child until both children are larger</a:t>
                </a:r>
              </a:p>
              <a:p>
                <a:r>
                  <a:rPr lang="en-US" dirty="0"/>
                  <a:t>Worst case running time of each: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00E82E-8B91-3DBC-BE69-2D72AD7E85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15829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0A239-AB83-588B-7F8C-A378F624E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Representing a Heap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9323D-7A04-F49B-C2B4-877B56453F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56282" y="1570438"/>
                <a:ext cx="6938093" cy="4351338"/>
              </a:xfrm>
            </p:spPr>
            <p:txBody>
              <a:bodyPr/>
              <a:lstStyle/>
              <a:p>
                <a:r>
                  <a:rPr lang="en-US" dirty="0"/>
                  <a:t>Every complete binary tree with the same number of nodes uses the same positions and edges</a:t>
                </a:r>
              </a:p>
              <a:p>
                <a:r>
                  <a:rPr lang="en-US" dirty="0"/>
                  <a:t>Use an array to represent the heap</a:t>
                </a:r>
              </a:p>
              <a:p>
                <a:r>
                  <a:rPr lang="en-US" dirty="0"/>
                  <a:t>Index of root: </a:t>
                </a:r>
              </a:p>
              <a:p>
                <a:r>
                  <a:rPr lang="en-US" dirty="0"/>
                  <a:t>Parent of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dirty="0"/>
                  <a:t>Left child of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dirty="0"/>
                  <a:t>Right child of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dirty="0"/>
                  <a:t>Location of the leaves: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9323D-7A04-F49B-C2B4-877B56453F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6282" y="1570438"/>
                <a:ext cx="6938093" cy="4351338"/>
              </a:xfrm>
              <a:blipFill>
                <a:blip r:embed="rId2"/>
                <a:stretch>
                  <a:fillRect l="-1582" t="-2384" b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432A6F-3B38-F5E7-01DD-DAEA463B2720}"/>
              </a:ext>
            </a:extLst>
          </p:cNvPr>
          <p:cNvGrpSpPr/>
          <p:nvPr/>
        </p:nvGrpSpPr>
        <p:grpSpPr>
          <a:xfrm>
            <a:off x="5161281" y="2830993"/>
            <a:ext cx="6934200" cy="3661882"/>
            <a:chOff x="2590801" y="2672070"/>
            <a:chExt cx="6934200" cy="366188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CCDFAF7-D087-A729-16FC-1A4A848DC165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66556C7-28BB-27CE-2453-438EB9B5729C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1F22AA6-3A2C-0E0F-6770-5E4814A3A9BA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D3EFC98-7E2D-1466-6EEA-85788B9C4879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754F5A3-A2CA-ABC5-C1BD-653DE632FCB2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395B23C-4819-8F19-E006-45A28A32E0F3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1FD7AE4-5789-4301-9D43-66F98E658620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1577DA87-3AA4-A9F6-0603-B50AB8AA521F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15D83AD-A4F9-DDA6-7C9B-D5E2FB999159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4C678B9-8376-E641-03A3-B9B5AC01DD5A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73A3D15-A765-6F5D-FF62-8AFF371E1C9F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5A8FFAB-D84B-85B8-58B8-1B00F7CCA551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5B82966-89E3-2B46-3D38-374AFBCC160F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5158B6C-4AAC-11E8-A5FA-CBD2F7589363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B16B0B2-C57D-A089-16C8-D9A40F63D87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CD70709-CC17-AFBD-F517-918800E04B01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EC3F72F-4633-2DB2-15C6-8744989B9052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2D58420-FDF0-2F8C-6D16-5DCE4CECFFFE}"/>
                </a:ext>
              </a:extLst>
            </p:cNvPr>
            <p:cNvSpPr txBox="1"/>
            <p:nvPr/>
          </p:nvSpPr>
          <p:spPr>
            <a:xfrm>
              <a:off x="6190049" y="337129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D3FC88C-CCA1-260D-94E2-E82E0014B50F}"/>
                </a:ext>
              </a:extLst>
            </p:cNvPr>
            <p:cNvSpPr txBox="1"/>
            <p:nvPr/>
          </p:nvSpPr>
          <p:spPr>
            <a:xfrm>
              <a:off x="4384195" y="437709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823466E-9014-5708-3F67-1E2739A939F2}"/>
                </a:ext>
              </a:extLst>
            </p:cNvPr>
            <p:cNvSpPr txBox="1"/>
            <p:nvPr/>
          </p:nvSpPr>
          <p:spPr>
            <a:xfrm>
              <a:off x="8051693" y="431669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9F29237-8A0E-5878-6C02-03A9050EA055}"/>
                </a:ext>
              </a:extLst>
            </p:cNvPr>
            <p:cNvSpPr txBox="1"/>
            <p:nvPr/>
          </p:nvSpPr>
          <p:spPr>
            <a:xfrm>
              <a:off x="3352081" y="507158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9F9AA81-2F4E-7699-571D-B616367A4776}"/>
                </a:ext>
              </a:extLst>
            </p:cNvPr>
            <p:cNvSpPr txBox="1"/>
            <p:nvPr/>
          </p:nvSpPr>
          <p:spPr>
            <a:xfrm>
              <a:off x="7122005" y="501267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7FA733E-267C-B6B7-35AE-6CB4C124A4C6}"/>
                </a:ext>
              </a:extLst>
            </p:cNvPr>
            <p:cNvSpPr txBox="1"/>
            <p:nvPr/>
          </p:nvSpPr>
          <p:spPr>
            <a:xfrm>
              <a:off x="5404400" y="510890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2074F7B-90C0-2766-0C59-F8D7C3963C3B}"/>
                </a:ext>
              </a:extLst>
            </p:cNvPr>
            <p:cNvSpPr txBox="1"/>
            <p:nvPr/>
          </p:nvSpPr>
          <p:spPr>
            <a:xfrm>
              <a:off x="9030118" y="503006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81AE260-19E9-58C5-CE3F-E1C5B23C297D}"/>
                </a:ext>
              </a:extLst>
            </p:cNvPr>
            <p:cNvSpPr txBox="1"/>
            <p:nvPr/>
          </p:nvSpPr>
          <p:spPr>
            <a:xfrm>
              <a:off x="2783996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2DD3AF9-8C64-BB8A-8916-179191C830E1}"/>
                </a:ext>
              </a:extLst>
            </p:cNvPr>
            <p:cNvSpPr txBox="1"/>
            <p:nvPr/>
          </p:nvSpPr>
          <p:spPr>
            <a:xfrm>
              <a:off x="3920467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034A460-2586-8D84-2404-1DC6F3C7CF2C}"/>
              </a:ext>
            </a:extLst>
          </p:cNvPr>
          <p:cNvGrpSpPr/>
          <p:nvPr/>
        </p:nvGrpSpPr>
        <p:grpSpPr>
          <a:xfrm>
            <a:off x="6415734" y="754688"/>
            <a:ext cx="5335707" cy="942725"/>
            <a:chOff x="2969525" y="2137541"/>
            <a:chExt cx="5335707" cy="942725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12067B8-0F65-635F-EB27-A65C8C91F307}"/>
                </a:ext>
              </a:extLst>
            </p:cNvPr>
            <p:cNvGrpSpPr/>
            <p:nvPr/>
          </p:nvGrpSpPr>
          <p:grpSpPr>
            <a:xfrm>
              <a:off x="2969525" y="2137541"/>
              <a:ext cx="5335707" cy="533400"/>
              <a:chOff x="1445524" y="2971800"/>
              <a:chExt cx="5335707" cy="533400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6CF93A6-5138-3AA8-571B-124F87F53452}"/>
                  </a:ext>
                </a:extLst>
              </p:cNvPr>
              <p:cNvSpPr/>
              <p:nvPr/>
            </p:nvSpPr>
            <p:spPr>
              <a:xfrm>
                <a:off x="14455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1D61B2B-B935-40A6-9785-DC28D35F85B1}"/>
                  </a:ext>
                </a:extLst>
              </p:cNvPr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C5E4A36F-69C2-8FEF-04C8-448BCBC24C3A}"/>
                  </a:ext>
                </a:extLst>
              </p:cNvPr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311943-7B02-92AD-C0E0-1A1570965454}"/>
                  </a:ext>
                </a:extLst>
              </p:cNvPr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C446B978-1048-2DFC-8915-A3E1343D6252}"/>
                  </a:ext>
                </a:extLst>
              </p:cNvPr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508363A7-7B23-DEEC-7E4C-07E98FC32C12}"/>
                  </a:ext>
                </a:extLst>
              </p:cNvPr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36D8F0EE-99AB-9979-A652-B1E990B6B685}"/>
                  </a:ext>
                </a:extLst>
              </p:cNvPr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8E298803-4CF9-44C4-65A9-22FA36AE083F}"/>
                  </a:ext>
                </a:extLst>
              </p:cNvPr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4E192E8-3C35-79F3-9BEF-6DBE322A6E6B}"/>
                  </a:ext>
                </a:extLst>
              </p:cNvPr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76A0CF5-494E-36C1-2E0E-37D540346774}"/>
                  </a:ext>
                </a:extLst>
              </p:cNvPr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F94BD7F-DFB9-3F7B-F409-F969572D5CFC}"/>
                </a:ext>
              </a:extLst>
            </p:cNvPr>
            <p:cNvSpPr txBox="1"/>
            <p:nvPr/>
          </p:nvSpPr>
          <p:spPr>
            <a:xfrm>
              <a:off x="3085381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B9141C7-12C6-27DA-EA35-667DF41CF456}"/>
                </a:ext>
              </a:extLst>
            </p:cNvPr>
            <p:cNvSpPr txBox="1"/>
            <p:nvPr/>
          </p:nvSpPr>
          <p:spPr>
            <a:xfrm>
              <a:off x="3618781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9345D1E-2ECC-D61F-6990-8586D482B42B}"/>
                </a:ext>
              </a:extLst>
            </p:cNvPr>
            <p:cNvSpPr txBox="1"/>
            <p:nvPr/>
          </p:nvSpPr>
          <p:spPr>
            <a:xfrm>
              <a:off x="4152750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BA1BA49-7BD4-1661-2F4D-774C17D9A52D}"/>
                </a:ext>
              </a:extLst>
            </p:cNvPr>
            <p:cNvSpPr txBox="1"/>
            <p:nvPr/>
          </p:nvSpPr>
          <p:spPr>
            <a:xfrm>
              <a:off x="4686150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2E61923-18C0-5991-9ED1-C98F41FC6780}"/>
                </a:ext>
              </a:extLst>
            </p:cNvPr>
            <p:cNvSpPr txBox="1"/>
            <p:nvPr/>
          </p:nvSpPr>
          <p:spPr>
            <a:xfrm>
              <a:off x="5217138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B578BBA-E437-9237-E1A7-A7A9590EF9B9}"/>
                </a:ext>
              </a:extLst>
            </p:cNvPr>
            <p:cNvSpPr txBox="1"/>
            <p:nvPr/>
          </p:nvSpPr>
          <p:spPr>
            <a:xfrm>
              <a:off x="5695168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113EA20-51DB-7222-044F-DA2A93E26892}"/>
                </a:ext>
              </a:extLst>
            </p:cNvPr>
            <p:cNvSpPr txBox="1"/>
            <p:nvPr/>
          </p:nvSpPr>
          <p:spPr>
            <a:xfrm>
              <a:off x="6286919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116FF36-472F-232B-3424-BF9419CED2B9}"/>
                </a:ext>
              </a:extLst>
            </p:cNvPr>
            <p:cNvSpPr txBox="1"/>
            <p:nvPr/>
          </p:nvSpPr>
          <p:spPr>
            <a:xfrm>
              <a:off x="6820319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D02C096-1D8C-C0F5-9993-B189511233E0}"/>
                </a:ext>
              </a:extLst>
            </p:cNvPr>
            <p:cNvSpPr txBox="1"/>
            <p:nvPr/>
          </p:nvSpPr>
          <p:spPr>
            <a:xfrm>
              <a:off x="7354288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58A9836-1411-4CA9-818E-52538A1A8A8A}"/>
                </a:ext>
              </a:extLst>
            </p:cNvPr>
            <p:cNvSpPr txBox="1"/>
            <p:nvPr/>
          </p:nvSpPr>
          <p:spPr>
            <a:xfrm>
              <a:off x="7887688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650044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B0ABD-0BFF-6D08-9E5A-671AB1079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</a:t>
            </a:r>
            <a:r>
              <a:rPr lang="en-US" dirty="0" err="1"/>
              <a:t>Psuedocode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9F30F0-7D06-DAC8-8BF6-ECA17E7C2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insert(item){</a:t>
            </a:r>
          </a:p>
          <a:p>
            <a:pPr marL="0" indent="0">
              <a:buNone/>
            </a:pPr>
            <a:r>
              <a:rPr lang="en-US" dirty="0"/>
              <a:t>    if(size == </a:t>
            </a:r>
            <a:r>
              <a:rPr lang="en-US" dirty="0" err="1"/>
              <a:t>arr.length</a:t>
            </a:r>
            <a:r>
              <a:rPr lang="en-US" dirty="0"/>
              <a:t> – 1){resize();}</a:t>
            </a:r>
          </a:p>
          <a:p>
            <a:pPr marL="0" indent="0">
              <a:buNone/>
            </a:pPr>
            <a:r>
              <a:rPr lang="en-US" dirty="0"/>
              <a:t>    size++;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arr</a:t>
            </a:r>
            <a:r>
              <a:rPr lang="en-US" dirty="0"/>
              <a:t>[size] = item;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percolateUp</a:t>
            </a:r>
            <a:r>
              <a:rPr lang="en-US" dirty="0"/>
              <a:t>(size)</a:t>
            </a:r>
          </a:p>
          <a:p>
            <a:pPr marL="0" indent="0">
              <a:buNone/>
            </a:pPr>
            <a:r>
              <a:rPr lang="en-US" dirty="0"/>
              <a:t>} 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319A78C-22E0-1504-C121-1B9D7CECEFDF}"/>
              </a:ext>
            </a:extLst>
          </p:cNvPr>
          <p:cNvGrpSpPr/>
          <p:nvPr/>
        </p:nvGrpSpPr>
        <p:grpSpPr>
          <a:xfrm>
            <a:off x="5161281" y="2830993"/>
            <a:ext cx="6934200" cy="3661882"/>
            <a:chOff x="2590801" y="2672070"/>
            <a:chExt cx="6934200" cy="36618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590ADCF-AC3A-F95D-CBD8-5376AE545FD0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1E97F45-62B0-D1B7-9478-3853F3867812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905ACCE-BD79-240B-004A-8E9C40E8A095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1F9406B-F77B-C36E-6D36-B2CA52C44840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A610A05-C4E9-EA78-7DBB-9B3058A4457C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80782E2-E251-676C-C175-94BF04C51411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24958CB-DB1A-72DF-AB74-2753C9B5A9E3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883FC59-010C-A8A3-DF98-478714DA6CCE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DFF37CC-26F4-FA47-D06F-86E490A2F28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43FA3B6-3BD2-A7AB-C429-AB41FC4511D4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3769978-E2E6-C543-4006-EFD7629B66F7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653713A-EB3B-E7B8-A0B4-48560F9BE3CE}"/>
                </a:ext>
              </a:extLst>
            </p:cNvPr>
            <p:cNvCxnSpPr>
              <a:stCxn id="10" idx="1"/>
              <a:endCxn id="7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17F5819-1CC3-EB41-1FFB-34B13CCEFBC1}"/>
                </a:ext>
              </a:extLst>
            </p:cNvPr>
            <p:cNvCxnSpPr>
              <a:stCxn id="9" idx="7"/>
              <a:endCxn id="7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3B9071A-8BC7-66B8-2E17-2202CA6B0047}"/>
                </a:ext>
              </a:extLst>
            </p:cNvPr>
            <p:cNvCxnSpPr>
              <a:stCxn id="14" idx="0"/>
              <a:endCxn id="9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B7D0980-39AE-718B-21E2-93900C211F03}"/>
                </a:ext>
              </a:extLst>
            </p:cNvPr>
            <p:cNvCxnSpPr>
              <a:stCxn id="13" idx="0"/>
              <a:endCxn id="9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A6BC9B-98E6-4549-68DC-74993F27E78E}"/>
                </a:ext>
              </a:extLst>
            </p:cNvPr>
            <p:cNvCxnSpPr>
              <a:stCxn id="11" idx="7"/>
              <a:endCxn id="8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0C276A-5518-CAF0-2255-23E1EA71F0C1}"/>
                </a:ext>
              </a:extLst>
            </p:cNvPr>
            <p:cNvCxnSpPr>
              <a:stCxn id="12" idx="1"/>
              <a:endCxn id="8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51D7BE4-7EA4-E083-F005-CE9963087A2B}"/>
                </a:ext>
              </a:extLst>
            </p:cNvPr>
            <p:cNvSpPr txBox="1"/>
            <p:nvPr/>
          </p:nvSpPr>
          <p:spPr>
            <a:xfrm>
              <a:off x="6190049" y="337129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6E1B287-9D58-24EC-9873-34BFBBB18C57}"/>
                </a:ext>
              </a:extLst>
            </p:cNvPr>
            <p:cNvSpPr txBox="1"/>
            <p:nvPr/>
          </p:nvSpPr>
          <p:spPr>
            <a:xfrm>
              <a:off x="4384195" y="437709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491371E-FDDF-D0C4-E6A0-11EDAAB30245}"/>
                </a:ext>
              </a:extLst>
            </p:cNvPr>
            <p:cNvSpPr txBox="1"/>
            <p:nvPr/>
          </p:nvSpPr>
          <p:spPr>
            <a:xfrm>
              <a:off x="8051693" y="431669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CA9699D-BA8A-95B9-A774-2888803EBC9F}"/>
                </a:ext>
              </a:extLst>
            </p:cNvPr>
            <p:cNvSpPr txBox="1"/>
            <p:nvPr/>
          </p:nvSpPr>
          <p:spPr>
            <a:xfrm>
              <a:off x="3352081" y="507158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FA574D4-083A-517E-4C86-1FEF9B1A6C08}"/>
                </a:ext>
              </a:extLst>
            </p:cNvPr>
            <p:cNvSpPr txBox="1"/>
            <p:nvPr/>
          </p:nvSpPr>
          <p:spPr>
            <a:xfrm>
              <a:off x="7122005" y="501267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AEFDE8B-297C-1A55-C4E3-B82E367B2752}"/>
                </a:ext>
              </a:extLst>
            </p:cNvPr>
            <p:cNvSpPr txBox="1"/>
            <p:nvPr/>
          </p:nvSpPr>
          <p:spPr>
            <a:xfrm>
              <a:off x="5404400" y="510890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843CF5E-C3F7-016F-5E48-33651CE0FF16}"/>
                </a:ext>
              </a:extLst>
            </p:cNvPr>
            <p:cNvSpPr txBox="1"/>
            <p:nvPr/>
          </p:nvSpPr>
          <p:spPr>
            <a:xfrm>
              <a:off x="9030118" y="503006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9256FD-7565-FC3E-4FDA-FCF03080D865}"/>
                </a:ext>
              </a:extLst>
            </p:cNvPr>
            <p:cNvSpPr txBox="1"/>
            <p:nvPr/>
          </p:nvSpPr>
          <p:spPr>
            <a:xfrm>
              <a:off x="2783996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266614E-09F9-82F3-F526-EF3A6F76C787}"/>
                </a:ext>
              </a:extLst>
            </p:cNvPr>
            <p:cNvSpPr txBox="1"/>
            <p:nvPr/>
          </p:nvSpPr>
          <p:spPr>
            <a:xfrm>
              <a:off x="3920467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1B1A065-9350-217A-B493-454658FE629D}"/>
              </a:ext>
            </a:extLst>
          </p:cNvPr>
          <p:cNvGrpSpPr/>
          <p:nvPr/>
        </p:nvGrpSpPr>
        <p:grpSpPr>
          <a:xfrm>
            <a:off x="5470854" y="754688"/>
            <a:ext cx="5875588" cy="945155"/>
            <a:chOff x="5470854" y="754688"/>
            <a:chExt cx="5875588" cy="94515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A40C5FE-FF71-4588-5DB9-DF23F0FDA931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D2A2D341-FB1D-4333-7CED-54A40C9BB4E0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7392EF2A-6098-94F4-6005-5D7250B81AB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C86C3DC-CE40-8CB9-3473-5B7233F6DE0E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AF36252-F9A8-394F-F3CC-807624F242F6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FB1F7E70-42FC-5380-8C7C-2146C94F1608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1F47E445-8B00-89E8-4940-1CAC7A5093B8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37DE3360-978B-A3E9-697F-41E8CD20E2E1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68B70C2-AE66-8203-31E9-FED7E58E8459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08599E5-5D1A-B619-4E19-AACF281B23A6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9CB592-07B7-04BF-FDFE-FFDBEC5ECDBC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E4C5343-84DC-C3B4-5703-C1FF2273F7F5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EA6E396-54AF-A03F-599B-9F83A1F40E9C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5DAB305-7AB4-AD50-E5D2-42EDCC6C85E6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AA6B46B-8F65-E3F3-9830-172821999172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316B99E-962F-FD7B-C9BE-33114FB14B10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80FC8E8-AD8A-D9BE-9027-BCCBE9FFB927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67EDEA1-0EB4-92E9-59D5-91799BB4F256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0015438-2400-B96A-D9A3-0A2A4D4BA19D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28FE685-0398-8AAD-2600-2C0F3F748DC9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F433D48-F47F-C4D3-4EC9-18E5D40F42B4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291D0DA6-82FF-840B-E23C-A34E92F6C00C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98E7CE2-4D86-D71A-4271-B238C78C2B3D}"/>
              </a:ext>
            </a:extLst>
          </p:cNvPr>
          <p:cNvSpPr txBox="1"/>
          <p:nvPr/>
        </p:nvSpPr>
        <p:spPr>
          <a:xfrm>
            <a:off x="82024" y="1332747"/>
            <a:ext cx="434728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For simplicity, assume is the same as priority</a:t>
            </a:r>
          </a:p>
        </p:txBody>
      </p:sp>
    </p:spTree>
    <p:extLst>
      <p:ext uri="{BB962C8B-B14F-4D97-AF65-F5344CB8AC3E}">
        <p14:creationId xmlns:p14="http://schemas.microsoft.com/office/powerpoint/2010/main" val="19778828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F483F-F26E-8B20-8083-CCF4901F7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Percolate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5A154-B79D-608E-BDA4-B50687714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825625"/>
            <a:ext cx="118872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 err="1"/>
              <a:t>percolateUp</a:t>
            </a:r>
            <a:r>
              <a:rPr lang="en-US" sz="2400" dirty="0"/>
              <a:t>(int </a:t>
            </a:r>
            <a:r>
              <a:rPr lang="en-US" sz="2400" dirty="0" err="1"/>
              <a:t>i</a:t>
            </a:r>
            <a:r>
              <a:rPr lang="en-US" sz="2400" dirty="0"/>
              <a:t>){</a:t>
            </a:r>
          </a:p>
          <a:p>
            <a:pPr marL="0" indent="0">
              <a:buNone/>
            </a:pPr>
            <a:r>
              <a:rPr lang="en-US" sz="2400" dirty="0"/>
              <a:t>    int parent = </a:t>
            </a:r>
            <a:r>
              <a:rPr lang="en-US" sz="2400" dirty="0" err="1"/>
              <a:t>i</a:t>
            </a:r>
            <a:r>
              <a:rPr lang="en-US" sz="2400" dirty="0"/>
              <a:t>/2;  </a:t>
            </a:r>
            <a:r>
              <a:rPr lang="en-US" sz="2400" dirty="0">
                <a:solidFill>
                  <a:srgbClr val="00B0F0"/>
                </a:solidFill>
              </a:rPr>
              <a:t>\\ index of parent</a:t>
            </a:r>
          </a:p>
          <a:p>
            <a:pPr marL="0" indent="0">
              <a:buNone/>
            </a:pPr>
            <a:r>
              <a:rPr lang="en-US" sz="2400" dirty="0"/>
              <a:t>    Item </a:t>
            </a:r>
            <a:r>
              <a:rPr lang="en-US" sz="2400" dirty="0" err="1"/>
              <a:t>val</a:t>
            </a:r>
            <a:r>
              <a:rPr lang="en-US" sz="2400" dirty="0"/>
              <a:t> = </a:t>
            </a:r>
            <a:r>
              <a:rPr lang="en-US" sz="2400" dirty="0" err="1"/>
              <a:t>arr</a:t>
            </a:r>
            <a:r>
              <a:rPr lang="en-US" sz="2400" dirty="0"/>
              <a:t>[</a:t>
            </a:r>
            <a:r>
              <a:rPr lang="en-US" sz="2400" dirty="0" err="1"/>
              <a:t>i</a:t>
            </a:r>
            <a:r>
              <a:rPr lang="en-US" sz="2400" dirty="0"/>
              <a:t>];  </a:t>
            </a:r>
            <a:r>
              <a:rPr lang="en-US" sz="2400" dirty="0">
                <a:solidFill>
                  <a:srgbClr val="00B0F0"/>
                </a:solidFill>
              </a:rPr>
              <a:t>\\ value at current location</a:t>
            </a:r>
          </a:p>
          <a:p>
            <a:pPr marL="0" indent="0">
              <a:buNone/>
            </a:pPr>
            <a:r>
              <a:rPr lang="en-US" sz="2400" dirty="0"/>
              <a:t>    while(</a:t>
            </a:r>
            <a:r>
              <a:rPr lang="en-US" sz="2400" dirty="0" err="1"/>
              <a:t>i</a:t>
            </a:r>
            <a:r>
              <a:rPr lang="en-US" sz="2400" dirty="0"/>
              <a:t> &gt; 1 &amp;&amp; </a:t>
            </a:r>
            <a:r>
              <a:rPr lang="en-US" sz="2400" dirty="0" err="1"/>
              <a:t>arr</a:t>
            </a:r>
            <a:r>
              <a:rPr lang="en-US" sz="2400" dirty="0"/>
              <a:t>[</a:t>
            </a:r>
            <a:r>
              <a:rPr lang="en-US" sz="2400" dirty="0" err="1"/>
              <a:t>i</a:t>
            </a:r>
            <a:r>
              <a:rPr lang="en-US" sz="2400" dirty="0"/>
              <a:t>] &lt; </a:t>
            </a:r>
            <a:r>
              <a:rPr lang="en-US" sz="2400" dirty="0" err="1"/>
              <a:t>arr</a:t>
            </a:r>
            <a:r>
              <a:rPr lang="en-US" sz="2400" dirty="0"/>
              <a:t>[parent]){  </a:t>
            </a:r>
            <a:r>
              <a:rPr lang="en-US" sz="2400" dirty="0">
                <a:solidFill>
                  <a:srgbClr val="00B0F0"/>
                </a:solidFill>
              </a:rPr>
              <a:t>\\ until location is root or heap property holds</a:t>
            </a:r>
          </a:p>
          <a:p>
            <a:pPr marL="0" indent="0">
              <a:buNone/>
            </a:pPr>
            <a:r>
              <a:rPr lang="en-US" sz="2400" dirty="0"/>
              <a:t>        </a:t>
            </a:r>
            <a:r>
              <a:rPr lang="en-US" sz="2400" dirty="0" err="1"/>
              <a:t>arr</a:t>
            </a:r>
            <a:r>
              <a:rPr lang="en-US" sz="2400" dirty="0"/>
              <a:t>[</a:t>
            </a:r>
            <a:r>
              <a:rPr lang="en-US" sz="2400" dirty="0" err="1"/>
              <a:t>i</a:t>
            </a:r>
            <a:r>
              <a:rPr lang="en-US" sz="2400" dirty="0"/>
              <a:t>] = </a:t>
            </a:r>
            <a:r>
              <a:rPr lang="en-US" sz="2400" dirty="0" err="1"/>
              <a:t>arr</a:t>
            </a:r>
            <a:r>
              <a:rPr lang="en-US" sz="2400" dirty="0"/>
              <a:t>[parent];  </a:t>
            </a:r>
            <a:r>
              <a:rPr lang="en-US" sz="2400" dirty="0">
                <a:solidFill>
                  <a:srgbClr val="00B0F0"/>
                </a:solidFill>
              </a:rPr>
              <a:t>\\ move parent value to this location</a:t>
            </a:r>
          </a:p>
          <a:p>
            <a:pPr marL="0" indent="0">
              <a:buNone/>
            </a:pPr>
            <a:r>
              <a:rPr lang="en-US" sz="2400" dirty="0"/>
              <a:t>        </a:t>
            </a:r>
            <a:r>
              <a:rPr lang="en-US" sz="2400" dirty="0" err="1"/>
              <a:t>arr</a:t>
            </a:r>
            <a:r>
              <a:rPr lang="en-US" sz="2400" dirty="0"/>
              <a:t>[parent] = </a:t>
            </a:r>
            <a:r>
              <a:rPr lang="en-US" sz="2400" dirty="0" err="1"/>
              <a:t>val</a:t>
            </a:r>
            <a:r>
              <a:rPr lang="en-US" sz="2400" dirty="0"/>
              <a:t>; </a:t>
            </a:r>
            <a:r>
              <a:rPr lang="en-US" sz="2400" dirty="0">
                <a:solidFill>
                  <a:srgbClr val="00B0F0"/>
                </a:solidFill>
              </a:rPr>
              <a:t>\\ put current value into parent’s location </a:t>
            </a:r>
          </a:p>
          <a:p>
            <a:pPr marL="0" indent="0">
              <a:buNone/>
            </a:pPr>
            <a:r>
              <a:rPr lang="en-US" sz="2400" dirty="0"/>
              <a:t>        </a:t>
            </a:r>
            <a:r>
              <a:rPr lang="en-US" sz="2400" dirty="0" err="1"/>
              <a:t>i</a:t>
            </a:r>
            <a:r>
              <a:rPr lang="en-US" sz="2400" dirty="0"/>
              <a:t> = parent;  </a:t>
            </a:r>
            <a:r>
              <a:rPr lang="en-US" sz="2400" dirty="0">
                <a:solidFill>
                  <a:srgbClr val="00B0F0"/>
                </a:solidFill>
              </a:rPr>
              <a:t>\\ make current location the parent</a:t>
            </a:r>
          </a:p>
          <a:p>
            <a:pPr marL="0" indent="0">
              <a:buNone/>
            </a:pPr>
            <a:r>
              <a:rPr lang="en-US" sz="2400" dirty="0"/>
              <a:t>        parent = </a:t>
            </a:r>
            <a:r>
              <a:rPr lang="en-US" sz="2400" dirty="0" err="1"/>
              <a:t>i</a:t>
            </a:r>
            <a:r>
              <a:rPr lang="en-US" sz="2400" dirty="0"/>
              <a:t>/2;  </a:t>
            </a:r>
            <a:r>
              <a:rPr lang="en-US" sz="2400" dirty="0">
                <a:solidFill>
                  <a:srgbClr val="00B0F0"/>
                </a:solidFill>
              </a:rPr>
              <a:t>\\ update new parent</a:t>
            </a:r>
          </a:p>
          <a:p>
            <a:pPr marL="0" indent="0">
              <a:buNone/>
            </a:pPr>
            <a:r>
              <a:rPr lang="en-US" sz="2400" dirty="0"/>
              <a:t>    }</a:t>
            </a:r>
          </a:p>
          <a:p>
            <a:pPr marL="0" indent="0">
              <a:buNone/>
            </a:pPr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764011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B0ABD-0BFF-6D08-9E5A-671AB1079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 </a:t>
            </a:r>
            <a:r>
              <a:rPr lang="en-US" dirty="0" err="1"/>
              <a:t>Psuedocode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9F30F0-7D06-DAC8-8BF6-ECA17E7C2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extract(){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theMin</a:t>
            </a:r>
            <a:r>
              <a:rPr lang="en-US" dirty="0"/>
              <a:t> = </a:t>
            </a:r>
            <a:r>
              <a:rPr lang="en-US" dirty="0" err="1"/>
              <a:t>arr</a:t>
            </a:r>
            <a:r>
              <a:rPr lang="en-US" dirty="0"/>
              <a:t>[1];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arr</a:t>
            </a:r>
            <a:r>
              <a:rPr lang="en-US" dirty="0"/>
              <a:t>[1] = </a:t>
            </a:r>
            <a:r>
              <a:rPr lang="en-US" dirty="0" err="1"/>
              <a:t>arr</a:t>
            </a:r>
            <a:r>
              <a:rPr lang="en-US" dirty="0"/>
              <a:t>[size];</a:t>
            </a:r>
          </a:p>
          <a:p>
            <a:pPr marL="0" indent="0">
              <a:buNone/>
            </a:pPr>
            <a:r>
              <a:rPr lang="en-US" dirty="0"/>
              <a:t>    size--;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percolateDown</a:t>
            </a:r>
            <a:r>
              <a:rPr lang="en-US" dirty="0"/>
              <a:t>(1);</a:t>
            </a:r>
          </a:p>
          <a:p>
            <a:pPr marL="0" indent="0">
              <a:buNone/>
            </a:pPr>
            <a:r>
              <a:rPr lang="en-US" dirty="0"/>
              <a:t>    return </a:t>
            </a:r>
            <a:r>
              <a:rPr lang="en-US" dirty="0" err="1"/>
              <a:t>theMin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}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5621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F483F-F26E-8B20-8083-CCF4901F7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85115"/>
            <a:ext cx="10515600" cy="1325563"/>
          </a:xfrm>
        </p:spPr>
        <p:txBody>
          <a:bodyPr/>
          <a:lstStyle/>
          <a:p>
            <a:r>
              <a:rPr lang="en-US" dirty="0"/>
              <a:t>Percolate 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5A154-B79D-608E-BDA4-B50687714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609600"/>
            <a:ext cx="11887200" cy="62484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 err="1"/>
              <a:t>percolateDown</a:t>
            </a:r>
            <a:r>
              <a:rPr lang="en-US" dirty="0"/>
              <a:t>(int </a:t>
            </a:r>
            <a:r>
              <a:rPr lang="en-US" dirty="0" err="1"/>
              <a:t>i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    int left = </a:t>
            </a:r>
            <a:r>
              <a:rPr lang="en-US" dirty="0" err="1"/>
              <a:t>i</a:t>
            </a:r>
            <a:r>
              <a:rPr lang="en-US" dirty="0"/>
              <a:t>*2;  </a:t>
            </a:r>
            <a:r>
              <a:rPr lang="en-US" dirty="0">
                <a:solidFill>
                  <a:srgbClr val="00B0F0"/>
                </a:solidFill>
              </a:rPr>
              <a:t>\\ index of left child</a:t>
            </a: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    </a:t>
            </a:r>
            <a:r>
              <a:rPr lang="en-US" dirty="0"/>
              <a:t>int right = </a:t>
            </a:r>
            <a:r>
              <a:rPr lang="en-US" dirty="0" err="1"/>
              <a:t>i</a:t>
            </a:r>
            <a:r>
              <a:rPr lang="en-US" dirty="0"/>
              <a:t>*2+1;  </a:t>
            </a:r>
            <a:r>
              <a:rPr lang="en-US" dirty="0">
                <a:solidFill>
                  <a:srgbClr val="00B0F0"/>
                </a:solidFill>
              </a:rPr>
              <a:t>\\ index of right child</a:t>
            </a:r>
          </a:p>
          <a:p>
            <a:pPr marL="0" indent="0">
              <a:buNone/>
            </a:pPr>
            <a:r>
              <a:rPr lang="en-US" dirty="0"/>
              <a:t>    Item </a:t>
            </a:r>
            <a:r>
              <a:rPr lang="en-US" dirty="0" err="1"/>
              <a:t>val</a:t>
            </a:r>
            <a:r>
              <a:rPr lang="en-US" dirty="0"/>
              <a:t> = 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];  </a:t>
            </a:r>
            <a:r>
              <a:rPr lang="en-US" dirty="0">
                <a:solidFill>
                  <a:srgbClr val="00B0F0"/>
                </a:solidFill>
              </a:rPr>
              <a:t>\\ value at location</a:t>
            </a:r>
          </a:p>
          <a:p>
            <a:pPr marL="0" indent="0">
              <a:buNone/>
            </a:pPr>
            <a:r>
              <a:rPr lang="en-US" dirty="0"/>
              <a:t>    while(left &lt;= size){  </a:t>
            </a:r>
            <a:r>
              <a:rPr lang="en-US" dirty="0">
                <a:solidFill>
                  <a:srgbClr val="00B0F0"/>
                </a:solidFill>
              </a:rPr>
              <a:t>\\ until location is leaf</a:t>
            </a: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        </a:t>
            </a:r>
            <a:r>
              <a:rPr lang="en-US" dirty="0"/>
              <a:t>int </a:t>
            </a:r>
            <a:r>
              <a:rPr lang="en-US" dirty="0" err="1"/>
              <a:t>toSwap</a:t>
            </a:r>
            <a:r>
              <a:rPr lang="en-US" dirty="0"/>
              <a:t> = right;</a:t>
            </a: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        </a:t>
            </a:r>
            <a:r>
              <a:rPr lang="en-US" dirty="0"/>
              <a:t>if(right &gt; size || </a:t>
            </a:r>
            <a:r>
              <a:rPr lang="en-US" dirty="0" err="1"/>
              <a:t>arr</a:t>
            </a:r>
            <a:r>
              <a:rPr lang="en-US" dirty="0"/>
              <a:t>[left] &lt; </a:t>
            </a:r>
            <a:r>
              <a:rPr lang="en-US" dirty="0" err="1"/>
              <a:t>arr</a:t>
            </a:r>
            <a:r>
              <a:rPr lang="en-US" dirty="0"/>
              <a:t>[right]){  </a:t>
            </a:r>
            <a:r>
              <a:rPr lang="en-US" dirty="0">
                <a:solidFill>
                  <a:srgbClr val="00B0F0"/>
                </a:solidFill>
              </a:rPr>
              <a:t>\\ if there is no right child or if left child is smaller</a:t>
            </a: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            </a:t>
            </a:r>
            <a:r>
              <a:rPr lang="en-US" dirty="0" err="1"/>
              <a:t>toSwap</a:t>
            </a:r>
            <a:r>
              <a:rPr lang="en-US" dirty="0"/>
              <a:t> = left;  </a:t>
            </a:r>
            <a:r>
              <a:rPr lang="en-US" dirty="0">
                <a:solidFill>
                  <a:srgbClr val="00B0F0"/>
                </a:solidFill>
              </a:rPr>
              <a:t>\\ swap with left</a:t>
            </a:r>
          </a:p>
          <a:p>
            <a:pPr marL="0" indent="0">
              <a:buNone/>
            </a:pPr>
            <a:r>
              <a:rPr lang="en-US" dirty="0"/>
              <a:t>        } </a:t>
            </a:r>
            <a:r>
              <a:rPr lang="en-US" dirty="0">
                <a:solidFill>
                  <a:srgbClr val="00B0F0"/>
                </a:solidFill>
              </a:rPr>
              <a:t>\\ now </a:t>
            </a:r>
            <a:r>
              <a:rPr lang="en-US" dirty="0" err="1">
                <a:solidFill>
                  <a:srgbClr val="00B0F0"/>
                </a:solidFill>
              </a:rPr>
              <a:t>toSwap</a:t>
            </a:r>
            <a:r>
              <a:rPr lang="en-US" dirty="0">
                <a:solidFill>
                  <a:srgbClr val="00B0F0"/>
                </a:solidFill>
              </a:rPr>
              <a:t> has the smaller of left/right, or left if right does not exist</a:t>
            </a:r>
          </a:p>
          <a:p>
            <a:pPr marL="0" indent="0">
              <a:buNone/>
            </a:pPr>
            <a:r>
              <a:rPr lang="en-US" dirty="0"/>
              <a:t>        if (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toSwap</a:t>
            </a:r>
            <a:r>
              <a:rPr lang="en-US" dirty="0"/>
              <a:t>] &lt; </a:t>
            </a:r>
            <a:r>
              <a:rPr lang="en-US" dirty="0" err="1"/>
              <a:t>val</a:t>
            </a:r>
            <a:r>
              <a:rPr lang="en-US" dirty="0"/>
              <a:t>){  </a:t>
            </a:r>
            <a:r>
              <a:rPr lang="en-US" dirty="0">
                <a:solidFill>
                  <a:srgbClr val="00B0F0"/>
                </a:solidFill>
              </a:rPr>
              <a:t>\\ if the smaller child is less than the current value</a:t>
            </a:r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toSwap</a:t>
            </a:r>
            <a:r>
              <a:rPr lang="en-US" dirty="0"/>
              <a:t>];</a:t>
            </a:r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toSwap</a:t>
            </a:r>
            <a:r>
              <a:rPr lang="en-US" dirty="0"/>
              <a:t>] = </a:t>
            </a:r>
            <a:r>
              <a:rPr lang="en-US" dirty="0" err="1"/>
              <a:t>val</a:t>
            </a:r>
            <a:r>
              <a:rPr lang="en-US" dirty="0"/>
              <a:t>; </a:t>
            </a:r>
            <a:r>
              <a:rPr lang="en-US" dirty="0">
                <a:solidFill>
                  <a:srgbClr val="00B0F0"/>
                </a:solidFill>
              </a:rPr>
              <a:t>\\ swap parent with smaller child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dirty="0" err="1"/>
              <a:t>i</a:t>
            </a:r>
            <a:r>
              <a:rPr lang="en-US" dirty="0"/>
              <a:t> = </a:t>
            </a:r>
            <a:r>
              <a:rPr lang="en-US" dirty="0" err="1"/>
              <a:t>toSwap</a:t>
            </a:r>
            <a:r>
              <a:rPr lang="en-US" dirty="0"/>
              <a:t>; </a:t>
            </a:r>
            <a:r>
              <a:rPr lang="en-US" dirty="0">
                <a:solidFill>
                  <a:srgbClr val="00B0F0"/>
                </a:solidFill>
              </a:rPr>
              <a:t>\\ update current node to be smaller child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     left = </a:t>
            </a:r>
            <a:r>
              <a:rPr lang="en-US" dirty="0" err="1"/>
              <a:t>i</a:t>
            </a:r>
            <a:r>
              <a:rPr lang="en-US" dirty="0"/>
              <a:t>*2;</a:t>
            </a:r>
          </a:p>
          <a:p>
            <a:pPr marL="0" indent="0">
              <a:buNone/>
            </a:pPr>
            <a:r>
              <a:rPr lang="en-US" dirty="0"/>
              <a:t>            right = </a:t>
            </a:r>
            <a:r>
              <a:rPr lang="en-US" dirty="0" err="1"/>
              <a:t>i</a:t>
            </a:r>
            <a:r>
              <a:rPr lang="en-US" dirty="0"/>
              <a:t>*2+1;</a:t>
            </a:r>
          </a:p>
          <a:p>
            <a:pPr marL="0" indent="0">
              <a:buNone/>
            </a:pPr>
            <a:r>
              <a:rPr lang="en-US" dirty="0"/>
              <a:t>        }</a:t>
            </a:r>
          </a:p>
          <a:p>
            <a:pPr marL="0" indent="0">
              <a:buNone/>
            </a:pPr>
            <a:r>
              <a:rPr lang="en-US" dirty="0"/>
              <a:t>        else{ return;} </a:t>
            </a:r>
            <a:r>
              <a:rPr lang="en-US" dirty="0">
                <a:solidFill>
                  <a:srgbClr val="00B0F0"/>
                </a:solidFill>
              </a:rPr>
              <a:t>\\ if we don’t swap, then heap property holds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018330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B6229-ED81-992D-D556-83FFFB644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A08C9-D1CE-6668-4633-5375FE66C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Increase Key</a:t>
            </a:r>
          </a:p>
          <a:p>
            <a:pPr lvl="1"/>
            <a:r>
              <a:rPr lang="en-US" dirty="0"/>
              <a:t>Given the index of an item in the PQ, make its priority value larger</a:t>
            </a:r>
          </a:p>
          <a:p>
            <a:pPr lvl="2"/>
            <a:r>
              <a:rPr lang="en-US" dirty="0"/>
              <a:t>Min Heap: Then percolate Down</a:t>
            </a:r>
          </a:p>
          <a:p>
            <a:pPr lvl="2"/>
            <a:r>
              <a:rPr lang="en-US" dirty="0"/>
              <a:t>Max Heap: Then percolate Up</a:t>
            </a:r>
          </a:p>
          <a:p>
            <a:r>
              <a:rPr lang="en-US" dirty="0"/>
              <a:t>Decrease Key</a:t>
            </a:r>
          </a:p>
          <a:p>
            <a:pPr lvl="1"/>
            <a:r>
              <a:rPr lang="en-US" dirty="0"/>
              <a:t>Given the index of an item in the PQ, make its priority value smaller</a:t>
            </a:r>
          </a:p>
          <a:p>
            <a:pPr lvl="2"/>
            <a:r>
              <a:rPr lang="en-US" dirty="0"/>
              <a:t>Min Heap: Then percolate Up</a:t>
            </a:r>
          </a:p>
          <a:p>
            <a:pPr lvl="2"/>
            <a:r>
              <a:rPr lang="en-US" dirty="0"/>
              <a:t>Max Heap: Then percolate Down</a:t>
            </a:r>
          </a:p>
          <a:p>
            <a:r>
              <a:rPr lang="en-US" dirty="0"/>
              <a:t>Remove</a:t>
            </a:r>
          </a:p>
          <a:p>
            <a:pPr lvl="1"/>
            <a:r>
              <a:rPr lang="en-US" dirty="0"/>
              <a:t>Given the item at the given index from the PQ</a:t>
            </a:r>
          </a:p>
        </p:txBody>
      </p:sp>
    </p:spTree>
    <p:extLst>
      <p:ext uri="{BB962C8B-B14F-4D97-AF65-F5344CB8AC3E}">
        <p14:creationId xmlns:p14="http://schemas.microsoft.com/office/powerpoint/2010/main" val="30210731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6FF98-B970-A667-2AA9-84C528A6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Expected Running time of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105B8-E866-B0A1-E73C-A00D41E59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1863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Heap From “Scratch”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6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10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15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737595" y="3266383"/>
            <a:ext cx="2376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9DE40CB-E466-39F7-D8B8-04BB5635AAE6}"/>
              </a:ext>
            </a:extLst>
          </p:cNvPr>
          <p:cNvSpPr txBox="1"/>
          <p:nvPr/>
        </p:nvSpPr>
        <p:spPr>
          <a:xfrm>
            <a:off x="7936205" y="5053758"/>
            <a:ext cx="312168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Two ways for “fix” the heap:</a:t>
            </a:r>
          </a:p>
          <a:p>
            <a:pPr marL="342900" indent="-342900">
              <a:buAutoNum type="arabicParenR"/>
            </a:pPr>
            <a:r>
              <a:rPr lang="en-US" sz="2000" dirty="0"/>
              <a:t>Percolate Up</a:t>
            </a:r>
          </a:p>
          <a:p>
            <a:pPr marL="342900" indent="-342900">
              <a:buAutoNum type="arabicParenR"/>
            </a:pPr>
            <a:r>
              <a:rPr lang="en-US" sz="2000" dirty="0"/>
              <a:t>Percolate Down</a:t>
            </a:r>
          </a:p>
        </p:txBody>
      </p:sp>
    </p:spTree>
    <p:extLst>
      <p:ext uri="{BB962C8B-B14F-4D97-AF65-F5344CB8AC3E}">
        <p14:creationId xmlns:p14="http://schemas.microsoft.com/office/powerpoint/2010/main" val="3018086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1EFF-DC2E-DD10-0292-33AAADA21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D70E1-83BF-D071-92AA-72F7671F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towards the root, one row at a time, percolate down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D2E5B4-7285-3ACB-0CCF-7D5C84D8A06C}"/>
              </a:ext>
            </a:extLst>
          </p:cNvPr>
          <p:cNvSpPr txBox="1"/>
          <p:nvPr/>
        </p:nvSpPr>
        <p:spPr>
          <a:xfrm>
            <a:off x="1188720" y="3262630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7598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6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10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15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301792" y="2977294"/>
            <a:ext cx="2571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  <a:p>
            <a:r>
              <a:rPr lang="en-US" dirty="0">
                <a:solidFill>
                  <a:srgbClr val="FF0000"/>
                </a:solidFill>
              </a:rPr>
              <a:t>Nodes bigger than a child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160994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6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10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E8440DB-C25F-EEF0-74F8-E305D893D7FF}"/>
              </a:ext>
            </a:extLst>
          </p:cNvPr>
          <p:cNvSpPr txBox="1"/>
          <p:nvPr/>
        </p:nvSpPr>
        <p:spPr>
          <a:xfrm>
            <a:off x="301792" y="2977294"/>
            <a:ext cx="2571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  <a:p>
            <a:r>
              <a:rPr lang="en-US" dirty="0">
                <a:solidFill>
                  <a:srgbClr val="FF0000"/>
                </a:solidFill>
              </a:rPr>
              <a:t>Nodes bigger than a child</a:t>
            </a:r>
          </a:p>
        </p:txBody>
      </p:sp>
    </p:spTree>
    <p:extLst>
      <p:ext uri="{BB962C8B-B14F-4D97-AF65-F5344CB8AC3E}">
        <p14:creationId xmlns:p14="http://schemas.microsoft.com/office/powerpoint/2010/main" val="20082967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6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10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737595" y="3266383"/>
            <a:ext cx="2376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844001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6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737595" y="3266383"/>
            <a:ext cx="2376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49931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737595" y="3266383"/>
            <a:ext cx="2376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961531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737595" y="3266383"/>
            <a:ext cx="2376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90394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905CF-DEFE-FCCE-A8B5-E5D05FB41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long did this take?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365F4-D608-38F3-EE98-2E277D48B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Worst case running time of </a:t>
            </a:r>
            <a:r>
              <a:rPr lang="en-US" dirty="0" err="1"/>
              <a:t>buildHeap</a:t>
            </a:r>
            <a:r>
              <a:rPr lang="en-US" dirty="0"/>
              <a:t>:</a:t>
            </a:r>
          </a:p>
          <a:p>
            <a:r>
              <a:rPr lang="en-US" dirty="0"/>
              <a:t>No node can percolate down more than the height of its subtree</a:t>
            </a:r>
          </a:p>
          <a:p>
            <a:pPr lvl="1"/>
            <a:r>
              <a:rPr lang="en-US" dirty="0"/>
              <a:t>When </a:t>
            </a:r>
            <a:r>
              <a:rPr lang="en-US" dirty="0" err="1"/>
              <a:t>i</a:t>
            </a:r>
            <a:r>
              <a:rPr lang="en-US" dirty="0"/>
              <a:t> is a leaf:</a:t>
            </a:r>
          </a:p>
          <a:p>
            <a:pPr lvl="1"/>
            <a:r>
              <a:rPr lang="en-US" dirty="0"/>
              <a:t>When </a:t>
            </a:r>
            <a:r>
              <a:rPr lang="en-US" dirty="0" err="1"/>
              <a:t>i</a:t>
            </a:r>
            <a:r>
              <a:rPr lang="en-US" dirty="0"/>
              <a:t> is second-from-last level:</a:t>
            </a:r>
          </a:p>
          <a:p>
            <a:pPr lvl="1"/>
            <a:r>
              <a:rPr lang="en-US" dirty="0"/>
              <a:t>When i is third-from-last level:</a:t>
            </a:r>
          </a:p>
          <a:p>
            <a:r>
              <a:rPr lang="en-US" dirty="0"/>
              <a:t>Overall Running time: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9625AA-3486-326F-E75E-91F40D9AD6A6}"/>
              </a:ext>
            </a:extLst>
          </p:cNvPr>
          <p:cNvSpPr txBox="1"/>
          <p:nvPr/>
        </p:nvSpPr>
        <p:spPr>
          <a:xfrm>
            <a:off x="8586460" y="28358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63486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10102</TotalTime>
  <Words>2751</Words>
  <Application>Microsoft Office PowerPoint</Application>
  <PresentationFormat>Widescreen</PresentationFormat>
  <Paragraphs>858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Calibri Light</vt:lpstr>
      <vt:lpstr>Cambria Math</vt:lpstr>
      <vt:lpstr>Calibri</vt:lpstr>
      <vt:lpstr>Arial</vt:lpstr>
      <vt:lpstr>Office Theme</vt:lpstr>
      <vt:lpstr>CSE 332 Winter 2026 Lecture 5: Priority Queues</vt:lpstr>
      <vt:lpstr>ADT: Priority Queue</vt:lpstr>
      <vt:lpstr>Priority Queue, example</vt:lpstr>
      <vt:lpstr>Priority Queue, example</vt:lpstr>
      <vt:lpstr>Applications?</vt:lpstr>
      <vt:lpstr>Thinking through implementations</vt:lpstr>
      <vt:lpstr>Thinking through implementations</vt:lpstr>
      <vt:lpstr>Thinking through implementations</vt:lpstr>
      <vt:lpstr>Trees for Heaps</vt:lpstr>
      <vt:lpstr>Priority Queue Data Structure – Heap Idea</vt:lpstr>
      <vt:lpstr>Challenge!</vt:lpstr>
      <vt:lpstr>(Min) Heap Data Structure</vt:lpstr>
      <vt:lpstr>Heap Insert</vt:lpstr>
      <vt:lpstr>Heap Insert</vt:lpstr>
      <vt:lpstr>Heap Insert</vt:lpstr>
      <vt:lpstr>Heap Insert</vt:lpstr>
      <vt:lpstr>Heap Insert</vt:lpstr>
      <vt:lpstr>Heap extract</vt:lpstr>
      <vt:lpstr>Heap extract</vt:lpstr>
      <vt:lpstr>Heap extract</vt:lpstr>
      <vt:lpstr>Heap extract</vt:lpstr>
      <vt:lpstr>Heap extract</vt:lpstr>
      <vt:lpstr>Percolate Up and Down (for a Min Heap)</vt:lpstr>
      <vt:lpstr>Representing a Heap</vt:lpstr>
      <vt:lpstr>Insert Psuedocode</vt:lpstr>
      <vt:lpstr>Percolate Up</vt:lpstr>
      <vt:lpstr>extract Psuedocode</vt:lpstr>
      <vt:lpstr>Percolate Down</vt:lpstr>
      <vt:lpstr>Other Operations</vt:lpstr>
      <vt:lpstr>Aside: Expected Running time of Insert</vt:lpstr>
      <vt:lpstr>Building a Heap From “Scratch”</vt:lpstr>
      <vt:lpstr>Floyd’s buildHeap method</vt:lpstr>
      <vt:lpstr>Floyd’s buildHeap method</vt:lpstr>
      <vt:lpstr>Floyd’s buildHeap method</vt:lpstr>
      <vt:lpstr>Floyd’s buildHeap method</vt:lpstr>
      <vt:lpstr>Floyd’s buildHeap method</vt:lpstr>
      <vt:lpstr>Floyd’s buildHeap method</vt:lpstr>
      <vt:lpstr>Floyd’s buildHeap method</vt:lpstr>
      <vt:lpstr>How long did this take?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74</cp:revision>
  <dcterms:created xsi:type="dcterms:W3CDTF">2023-09-26T20:08:20Z</dcterms:created>
  <dcterms:modified xsi:type="dcterms:W3CDTF">2026-01-14T00:31:15Z</dcterms:modified>
</cp:coreProperties>
</file>