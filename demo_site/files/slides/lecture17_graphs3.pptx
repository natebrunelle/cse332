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7" r:id="rId2"/>
    <p:sldId id="799" r:id="rId3"/>
    <p:sldId id="853" r:id="rId4"/>
    <p:sldId id="892" r:id="rId5"/>
    <p:sldId id="854" r:id="rId6"/>
    <p:sldId id="893" r:id="rId7"/>
    <p:sldId id="894" r:id="rId8"/>
    <p:sldId id="840" r:id="rId9"/>
    <p:sldId id="857" r:id="rId10"/>
    <p:sldId id="843" r:id="rId11"/>
    <p:sldId id="895" r:id="rId12"/>
    <p:sldId id="844" r:id="rId13"/>
    <p:sldId id="872" r:id="rId14"/>
    <p:sldId id="858" r:id="rId15"/>
    <p:sldId id="896" r:id="rId16"/>
    <p:sldId id="611" r:id="rId17"/>
    <p:sldId id="859" r:id="rId18"/>
    <p:sldId id="902" r:id="rId19"/>
    <p:sldId id="614" r:id="rId20"/>
    <p:sldId id="861" r:id="rId21"/>
    <p:sldId id="862" r:id="rId22"/>
    <p:sldId id="863" r:id="rId23"/>
    <p:sldId id="865" r:id="rId24"/>
    <p:sldId id="898" r:id="rId25"/>
    <p:sldId id="899" r:id="rId26"/>
    <p:sldId id="900" r:id="rId27"/>
    <p:sldId id="866" r:id="rId28"/>
    <p:sldId id="867" r:id="rId29"/>
    <p:sldId id="868" r:id="rId30"/>
    <p:sldId id="869" r:id="rId31"/>
    <p:sldId id="870" r:id="rId32"/>
    <p:sldId id="871" r:id="rId33"/>
  </p:sldIdLst>
  <p:sldSz cx="12192000" cy="6858000"/>
  <p:notesSz cx="6858000" cy="9144000"/>
  <p:embeddedFontLst>
    <p:embeddedFont>
      <p:font typeface="Cambria Math" panose="02040503050406030204" pitchFamily="18"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7C80"/>
    <a:srgbClr val="CC99FF"/>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p:scale>
          <a:sx n="58" d="100"/>
          <a:sy n="58" d="100"/>
        </p:scale>
        <p:origin x="7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5/8/2026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141.png"/><Relationship Id="rId4" Type="http://schemas.openxmlformats.org/officeDocument/2006/relationships/image" Target="../media/image17.png"/><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151.png"/><Relationship Id="rId4" Type="http://schemas.openxmlformats.org/officeDocument/2006/relationships/image" Target="../media/image17.png"/><Relationship Id="rId9"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6.png"/><Relationship Id="rId10" Type="http://schemas.openxmlformats.org/officeDocument/2006/relationships/image" Target="../media/image180.png"/><Relationship Id="rId4" Type="http://schemas.openxmlformats.org/officeDocument/2006/relationships/image" Target="../media/image17.png"/><Relationship Id="rId9" Type="http://schemas.openxmlformats.org/officeDocument/2006/relationships/image" Target="../media/image23.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6.png"/><Relationship Id="rId10" Type="http://schemas.openxmlformats.org/officeDocument/2006/relationships/image" Target="../media/image190.png"/><Relationship Id="rId4" Type="http://schemas.openxmlformats.org/officeDocument/2006/relationships/image" Target="../media/image27.png"/><Relationship Id="rId9" Type="http://schemas.openxmlformats.org/officeDocument/2006/relationships/image" Target="../media/image23.png"/></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6.png"/><Relationship Id="rId10" Type="http://schemas.openxmlformats.org/officeDocument/2006/relationships/image" Target="../media/image200.png"/><Relationship Id="rId4" Type="http://schemas.openxmlformats.org/officeDocument/2006/relationships/image" Target="../media/image29.png"/><Relationship Id="rId9" Type="http://schemas.openxmlformats.org/officeDocument/2006/relationships/image" Target="../media/image23.png"/></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210.png"/><Relationship Id="rId5" Type="http://schemas.openxmlformats.org/officeDocument/2006/relationships/image" Target="../media/image29.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260.png"/><Relationship Id="rId5" Type="http://schemas.openxmlformats.org/officeDocument/2006/relationships/image" Target="../media/image29.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280.png"/><Relationship Id="rId5" Type="http://schemas.openxmlformats.org/officeDocument/2006/relationships/image" Target="../media/image29.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4.png"/><Relationship Id="rId7" Type="http://schemas.openxmlformats.org/officeDocument/2006/relationships/image" Target="../media/image51.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Winter 2026</a:t>
            </a:r>
            <a:br>
              <a:rPr lang="en-US" dirty="0"/>
            </a:br>
            <a:r>
              <a:rPr lang="en-US" dirty="0"/>
              <a:t>Lecture 16: Graphs 3</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all neighbors of </a:t>
                </a:r>
                <a14:m>
                  <m:oMath xmlns:m="http://schemas.openxmlformats.org/officeDocument/2006/math">
                    <m:r>
                      <a:rPr lang="en-US" b="0" i="1" smtClean="0">
                        <a:solidFill>
                          <a:srgbClr val="FF0000"/>
                        </a:solidFill>
                        <a:latin typeface="Cambria Math"/>
                      </a:rPr>
                      <m:t>𝑠</m:t>
                    </m:r>
                  </m:oMath>
                </a14:m>
                <a:r>
                  <a:rPr lang="en-US" dirty="0"/>
                  <a:t>, then all neighbors of neighbors of </a:t>
                </a:r>
                <a14:m>
                  <m:oMath xmlns:m="http://schemas.openxmlformats.org/officeDocument/2006/math">
                    <m:r>
                      <a:rPr lang="en-US" b="0" i="1" smtClean="0">
                        <a:solidFill>
                          <a:srgbClr val="FF0000"/>
                        </a:solidFill>
                        <a:latin typeface="Cambria Math"/>
                      </a:rPr>
                      <m:t>𝑠</m:t>
                    </m:r>
                  </m:oMath>
                </a14:m>
                <a:r>
                  <a:rPr lang="en-US" dirty="0"/>
                  <a:t>, …</a:t>
                </a:r>
              </a:p>
              <a:p>
                <a:r>
                  <a:rPr lang="en-US" dirty="0"/>
                  <a:t>Visits every node reachable from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in order of distance</a:t>
                </a:r>
              </a:p>
              <a:p>
                <a:r>
                  <a:rPr lang="en-US" dirty="0"/>
                  <a:t>Output: </a:t>
                </a:r>
              </a:p>
              <a:p>
                <a:pPr lvl="1"/>
                <a:r>
                  <a:rPr lang="en-US" dirty="0"/>
                  <a:t>How long is the shortest path?</a:t>
                </a:r>
              </a:p>
              <a:p>
                <a:pPr lvl="1"/>
                <a:r>
                  <a:rPr lang="en-US" dirty="0"/>
                  <a:t>Is the graph connected?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986"/>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F8CFF62-24F6-E065-106D-CA91FC2FD082}"/>
                  </a:ext>
                </a:extLst>
              </p:cNvPr>
              <p:cNvCxnSpPr>
                <a:stCxn id="52" idx="7"/>
                <a:endCxn id="5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stCxn id="54" idx="6"/>
                <a:endCxn id="55"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stCxn id="55" idx="1"/>
                <a:endCxn id="5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A959733-B4ED-BA28-9EDF-61445BDDEFA8}"/>
                  </a:ext>
                </a:extLst>
              </p:cNvPr>
              <p:cNvCxnSpPr>
                <a:stCxn id="55" idx="0"/>
                <a:endCxn id="57"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30932EFF-C21A-C8FB-6275-23E9BF2E34BA}"/>
                </a:ext>
              </a:extLst>
            </p:cNvPr>
            <p:cNvCxnSpPr>
              <a:cxnSpLocks/>
              <a:stCxn id="55" idx="7"/>
              <a:endCxn id="5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4278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BFS – Pseudocode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bfs</a:t>
            </a:r>
            <a:r>
              <a:rPr lang="en-US" sz="2800" dirty="0"/>
              <a:t>(graph, s){</a:t>
            </a:r>
          </a:p>
          <a:p>
            <a:r>
              <a:rPr lang="en-US" sz="2800" dirty="0"/>
              <a:t>	found = new Queue();</a:t>
            </a:r>
          </a:p>
          <a:p>
            <a:r>
              <a:rPr lang="en-US" sz="2800" dirty="0"/>
              <a:t>	</a:t>
            </a:r>
            <a:r>
              <a:rPr lang="en-US" sz="2800" dirty="0" err="1"/>
              <a:t>found.enqueue</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found.dequeue</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found.enqueue</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05DE2EC2-2F8B-20FE-8951-E2BD5C549C1C}"/>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FB1968D4-0ECC-068E-765A-3DF8DE21145C}"/>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027EFB9C-1AD6-9281-AA30-5BE0BBE83EAC}"/>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C7B5A33-2C67-775A-F9F8-9849005F705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578285-E842-D666-EFFF-FAC536B41CA6}"/>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344E26-0374-B29A-3047-F12847819446}"/>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6777E69-513F-8E97-420E-4508C3786C63}"/>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D715E8-E960-3FE6-7B4F-3ED4B6D49FDA}"/>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6249CD4-F9C0-5A68-8D91-891A4FA839E0}"/>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04DB22-82A3-0118-6481-472F7A6AF3F1}"/>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D26EFBD-31D4-049E-B188-F35998D684F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0849E95-CB0E-ABD6-850A-E61EBDEFACAA}"/>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8AD1B02-958A-B3BD-72CC-9B0590B340F7}"/>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8B0F441-A7E2-FA9E-92EB-30933184D3BE}"/>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A0B411A-7680-5A59-15AD-2CE231F51725}"/>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B8A6D9A-B0B6-1AB8-DA09-FDB8212801F7}"/>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64BFE18-A20F-D4C8-0B8F-13C5DDCAC640}"/>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7ECD6AE-5FC3-1D62-3146-0E728A59E99C}"/>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C9B2643-4AE7-7327-D66E-875DFE9D352B}"/>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D2A84FF5-BE60-6F0B-E7E8-AC31F8FD91F1}"/>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7725E181-533F-9D89-A8B9-60FC2F93CD5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089257CE-86BE-EB39-0021-0B5F58AB7E2C}"/>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95D391F7-C135-F995-9D25-9947220935E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34A9BCF0-A3F7-F8A4-C80C-FD60E28E095D}"/>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150E87BD-E051-DE7A-3950-ABE1A2CEA1DE}"/>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6D9BE6BC-AF01-B341-278E-F84FB764CC8F}"/>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182084-CD52-8859-188D-BB9EC0EBC053}"/>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806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D05F-C10D-73F2-3AAF-B8AAB9DD5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1F6E3-1E1C-389A-3D32-70E8B4176BE9}"/>
              </a:ext>
            </a:extLst>
          </p:cNvPr>
          <p:cNvSpPr>
            <a:spLocks noGrp="1"/>
          </p:cNvSpPr>
          <p:nvPr>
            <p:ph type="title"/>
          </p:nvPr>
        </p:nvSpPr>
        <p:spPr/>
        <p:txBody>
          <a:bodyPr>
            <a:normAutofit/>
          </a:bodyPr>
          <a:lstStyle/>
          <a:p>
            <a:r>
              <a:rPr lang="en-US" dirty="0"/>
              <a:t>BFS – Worked Example</a:t>
            </a:r>
          </a:p>
        </p:txBody>
      </p:sp>
      <p:sp>
        <p:nvSpPr>
          <p:cNvPr id="3" name="TextBox 2">
            <a:extLst>
              <a:ext uri="{FF2B5EF4-FFF2-40B4-BE49-F238E27FC236}">
                <a16:creationId xmlns:a16="http://schemas.microsoft.com/office/drawing/2014/main" id="{2A549A85-396E-4DD3-B156-C50E133349BF}"/>
              </a:ext>
            </a:extLst>
          </p:cNvPr>
          <p:cNvSpPr txBox="1"/>
          <p:nvPr/>
        </p:nvSpPr>
        <p:spPr>
          <a:xfrm>
            <a:off x="311300" y="4450870"/>
            <a:ext cx="5105437" cy="1815882"/>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p:txBody>
      </p:sp>
      <p:graphicFrame>
        <p:nvGraphicFramePr>
          <p:cNvPr id="7" name="Table 6">
            <a:extLst>
              <a:ext uri="{FF2B5EF4-FFF2-40B4-BE49-F238E27FC236}">
                <a16:creationId xmlns:a16="http://schemas.microsoft.com/office/drawing/2014/main" id="{44DC8385-3149-ADA1-65A8-6FC96A350388}"/>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r>
                        <a:rPr lang="en-US" dirty="0"/>
                        <a:t>True</a:t>
                      </a:r>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10" name="Group 9" descr="Discovered but not-yet visited nodes are stored in a queue">
            <a:extLst>
              <a:ext uri="{FF2B5EF4-FFF2-40B4-BE49-F238E27FC236}">
                <a16:creationId xmlns:a16="http://schemas.microsoft.com/office/drawing/2014/main" id="{8E78528F-B481-501B-80C8-3ACEF731F1AB}"/>
              </a:ext>
            </a:extLst>
          </p:cNvPr>
          <p:cNvGrpSpPr/>
          <p:nvPr/>
        </p:nvGrpSpPr>
        <p:grpSpPr>
          <a:xfrm>
            <a:off x="5742926" y="5619404"/>
            <a:ext cx="6036209" cy="647348"/>
            <a:chOff x="5742926" y="5619404"/>
            <a:chExt cx="6036209" cy="647348"/>
          </a:xfrm>
        </p:grpSpPr>
        <p:sp>
          <p:nvSpPr>
            <p:cNvPr id="8" name="Rectangle 7">
              <a:extLst>
                <a:ext uri="{FF2B5EF4-FFF2-40B4-BE49-F238E27FC236}">
                  <a16:creationId xmlns:a16="http://schemas.microsoft.com/office/drawing/2014/main" id="{F08B7A96-F20F-58E9-9395-737B04B7460B}"/>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55E0C5-A13E-712E-C130-6D7FE34C5699}"/>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471537E6-B258-49CA-A0DC-14BBCAB791D6}"/>
              </a:ext>
            </a:extLst>
          </p:cNvPr>
          <p:cNvGrpSpPr/>
          <p:nvPr/>
        </p:nvGrpSpPr>
        <p:grpSpPr>
          <a:xfrm>
            <a:off x="474420" y="1517187"/>
            <a:ext cx="4385159" cy="2420607"/>
            <a:chOff x="1524000" y="2625729"/>
            <a:chExt cx="7044346" cy="3888478"/>
          </a:xfrm>
        </p:grpSpPr>
        <p:grpSp>
          <p:nvGrpSpPr>
            <p:cNvPr id="6" name="Group 5">
              <a:extLst>
                <a:ext uri="{FF2B5EF4-FFF2-40B4-BE49-F238E27FC236}">
                  <a16:creationId xmlns:a16="http://schemas.microsoft.com/office/drawing/2014/main" id="{3F725365-0377-FA45-1BA3-D4380AE9572B}"/>
                </a:ext>
              </a:extLst>
            </p:cNvPr>
            <p:cNvGrpSpPr/>
            <p:nvPr/>
          </p:nvGrpSpPr>
          <p:grpSpPr>
            <a:xfrm>
              <a:off x="1524000" y="2625729"/>
              <a:ext cx="7044346" cy="3888478"/>
              <a:chOff x="0" y="3020093"/>
              <a:chExt cx="7044346" cy="3888478"/>
            </a:xfrm>
          </p:grpSpPr>
          <p:cxnSp>
            <p:nvCxnSpPr>
              <p:cNvPr id="13" name="Straight Connector 12">
                <a:extLst>
                  <a:ext uri="{FF2B5EF4-FFF2-40B4-BE49-F238E27FC236}">
                    <a16:creationId xmlns:a16="http://schemas.microsoft.com/office/drawing/2014/main" id="{9C3F17D6-AD9A-9059-F023-A49625875477}"/>
                  </a:ext>
                </a:extLst>
              </p:cNvPr>
              <p:cNvCxnSpPr>
                <a:stCxn id="27" idx="7"/>
                <a:endCxn id="2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AE32919-F6B3-F9B6-EAA8-75796230018F}"/>
                  </a:ext>
                </a:extLst>
              </p:cNvPr>
              <p:cNvCxnSpPr>
                <a:stCxn id="28" idx="6"/>
                <a:endCxn id="4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D61580C-C9DB-F0C9-228C-7C0C4336283F}"/>
                  </a:ext>
                </a:extLst>
              </p:cNvPr>
              <p:cNvCxnSpPr>
                <a:stCxn id="27" idx="4"/>
                <a:endCxn id="2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1D698A-077E-160C-0B56-9B01772BFDAC}"/>
                  </a:ext>
                </a:extLst>
              </p:cNvPr>
              <p:cNvCxnSpPr>
                <a:stCxn id="30" idx="3"/>
                <a:endCxn id="2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4FE36B-E991-9A9B-37E1-785016281F1C}"/>
                  </a:ext>
                </a:extLst>
              </p:cNvPr>
              <p:cNvCxnSpPr>
                <a:stCxn id="47" idx="2"/>
                <a:endCxn id="2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050821-0232-FD8E-B775-E3FF54DEED9A}"/>
                  </a:ext>
                </a:extLst>
              </p:cNvPr>
              <p:cNvCxnSpPr>
                <a:stCxn id="30" idx="5"/>
                <a:endCxn id="4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D61863-28CA-406A-7037-E7FAEB23EA96}"/>
                  </a:ext>
                </a:extLst>
              </p:cNvPr>
              <p:cNvCxnSpPr>
                <a:stCxn id="30" idx="7"/>
                <a:endCxn id="4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0BAB7B-A04E-A8DC-D0FE-E96FB1010E96}"/>
                  </a:ext>
                </a:extLst>
              </p:cNvPr>
              <p:cNvCxnSpPr>
                <a:stCxn id="47" idx="6"/>
                <a:endCxn id="48"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A39E06-72F0-B4AF-2BF2-E7EE11024651}"/>
                  </a:ext>
                </a:extLst>
              </p:cNvPr>
              <p:cNvCxnSpPr>
                <a:stCxn id="48" idx="1"/>
                <a:endCxn id="4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797A5A-7DB5-02FD-76D9-E7CC329D6C14}"/>
                  </a:ext>
                </a:extLst>
              </p:cNvPr>
              <p:cNvCxnSpPr>
                <a:stCxn id="50" idx="2"/>
                <a:endCxn id="4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095339-34C9-3938-2351-C20C3DD08B12}"/>
                  </a:ext>
                </a:extLst>
              </p:cNvPr>
              <p:cNvCxnSpPr>
                <a:stCxn id="48" idx="0"/>
                <a:endCxn id="50"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C34311-CBBE-D069-0DCE-FC93393EEB85}"/>
                  </a:ext>
                </a:extLst>
              </p:cNvPr>
              <p:cNvCxnSpPr>
                <a:stCxn id="49" idx="1"/>
                <a:endCxn id="5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1EBA-07B9-6224-593F-BF523AF43AC6}"/>
                  </a:ext>
                </a:extLst>
              </p:cNvPr>
              <p:cNvCxnSpPr>
                <a:stCxn id="49" idx="3"/>
                <a:endCxn id="4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C669BC-51EB-5B18-C9A3-45BAD2B202B1}"/>
                  </a:ext>
                </a:extLst>
              </p:cNvPr>
              <p:cNvCxnSpPr>
                <a:stCxn id="28" idx="4"/>
                <a:endCxn id="2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DE4569E-0F68-7C5E-2276-6AF38FA6501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a:extLst>
                  <a:ext uri="{FF2B5EF4-FFF2-40B4-BE49-F238E27FC236}">
                    <a16:creationId xmlns:a16="http://schemas.microsoft.com/office/drawing/2014/main" id="{3AE4927C-7862-D63F-EC7A-F4324891FC94}"/>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9" name="Oval 28">
                <a:extLst>
                  <a:ext uri="{FF2B5EF4-FFF2-40B4-BE49-F238E27FC236}">
                    <a16:creationId xmlns:a16="http://schemas.microsoft.com/office/drawing/2014/main" id="{3D86C76F-0D9F-EBDC-BAF7-A71A4B544AA1}"/>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0" name="Oval 29">
                <a:extLst>
                  <a:ext uri="{FF2B5EF4-FFF2-40B4-BE49-F238E27FC236}">
                    <a16:creationId xmlns:a16="http://schemas.microsoft.com/office/drawing/2014/main" id="{7F5D11B7-F846-0B8D-7DF7-85BC189BE14B}"/>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3" name="Oval 42">
                <a:extLst>
                  <a:ext uri="{FF2B5EF4-FFF2-40B4-BE49-F238E27FC236}">
                    <a16:creationId xmlns:a16="http://schemas.microsoft.com/office/drawing/2014/main" id="{12E57616-D50C-9D9A-C26F-4D99B95AB73D}"/>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7" name="Oval 46">
                <a:extLst>
                  <a:ext uri="{FF2B5EF4-FFF2-40B4-BE49-F238E27FC236}">
                    <a16:creationId xmlns:a16="http://schemas.microsoft.com/office/drawing/2014/main" id="{D93EB31A-40DE-888E-DB97-54A5FF5EA6EA}"/>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Oval 47">
                <a:extLst>
                  <a:ext uri="{FF2B5EF4-FFF2-40B4-BE49-F238E27FC236}">
                    <a16:creationId xmlns:a16="http://schemas.microsoft.com/office/drawing/2014/main" id="{696A9CA9-088E-F93D-6FC4-BBB92309895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9" name="Oval 48">
                <a:extLst>
                  <a:ext uri="{FF2B5EF4-FFF2-40B4-BE49-F238E27FC236}">
                    <a16:creationId xmlns:a16="http://schemas.microsoft.com/office/drawing/2014/main" id="{F9DC6670-B0FF-AB4C-30E6-9B6CACEAC99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0" name="Oval 49">
                <a:extLst>
                  <a:ext uri="{FF2B5EF4-FFF2-40B4-BE49-F238E27FC236}">
                    <a16:creationId xmlns:a16="http://schemas.microsoft.com/office/drawing/2014/main" id="{910F52F4-D6B8-8888-739F-FCA67F6662E2}"/>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1" name="Straight Connector 10">
              <a:extLst>
                <a:ext uri="{FF2B5EF4-FFF2-40B4-BE49-F238E27FC236}">
                  <a16:creationId xmlns:a16="http://schemas.microsoft.com/office/drawing/2014/main" id="{C88F9F5D-D32E-B447-CCEA-E327CAA853B5}"/>
                </a:ext>
              </a:extLst>
            </p:cNvPr>
            <p:cNvCxnSpPr>
              <a:cxnSpLocks/>
              <a:stCxn id="48" idx="7"/>
              <a:endCxn id="50"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58E8F9-F64E-2630-0B46-FFE0A1F50B30}"/>
                </a:ext>
              </a:extLst>
            </p:cNvPr>
            <p:cNvCxnSpPr>
              <a:cxnSpLocks/>
              <a:stCxn id="47" idx="3"/>
              <a:endCxn id="2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506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9" y="117543"/>
            <a:ext cx="10972800" cy="1143000"/>
          </a:xfrm>
        </p:spPr>
        <p:txBody>
          <a:bodyPr>
            <a:normAutofit/>
          </a:bodyPr>
          <a:lstStyle/>
          <a:p>
            <a:r>
              <a:rPr lang="en-US" sz="3600" dirty="0"/>
              <a:t>Find Distance (unweighted)</a:t>
            </a:r>
          </a:p>
        </p:txBody>
      </p:sp>
      <p:sp>
        <p:nvSpPr>
          <p:cNvPr id="3" name="TextBox 2">
            <a:extLst>
              <a:ext uri="{FF2B5EF4-FFF2-40B4-BE49-F238E27FC236}">
                <a16:creationId xmlns:a16="http://schemas.microsoft.com/office/drawing/2014/main" id="{3A1EF236-31C1-EF76-BCC3-71E806C76908}"/>
              </a:ext>
            </a:extLst>
          </p:cNvPr>
          <p:cNvSpPr txBox="1"/>
          <p:nvPr/>
        </p:nvSpPr>
        <p:spPr>
          <a:xfrm>
            <a:off x="197532" y="4632030"/>
            <a:ext cx="5007570" cy="954107"/>
          </a:xfrm>
          <a:prstGeom prst="rect">
            <a:avLst/>
          </a:prstGeom>
          <a:noFill/>
          <a:ln>
            <a:solidFill>
              <a:srgbClr val="FF0000"/>
            </a:solidFill>
          </a:ln>
        </p:spPr>
        <p:txBody>
          <a:bodyPr wrap="square" rtlCol="0">
            <a:spAutoFit/>
          </a:bodyPr>
          <a:lstStyle/>
          <a:p>
            <a:r>
              <a:rPr lang="en-US" sz="2800" dirty="0">
                <a:solidFill>
                  <a:srgbClr val="FF0000"/>
                </a:solidFill>
              </a:rPr>
              <a:t>Idea: when it’s seen, remember its “layer” depth!</a:t>
            </a:r>
          </a:p>
        </p:txBody>
      </p:sp>
      <p:sp>
        <p:nvSpPr>
          <p:cNvPr id="43" name="TextBox 42"/>
          <p:cNvSpPr txBox="1"/>
          <p:nvPr/>
        </p:nvSpPr>
        <p:spPr>
          <a:xfrm>
            <a:off x="5506979" y="197326"/>
            <a:ext cx="8686800" cy="6740307"/>
          </a:xfrm>
          <a:prstGeom prst="rect">
            <a:avLst/>
          </a:prstGeom>
          <a:noFill/>
        </p:spPr>
        <p:txBody>
          <a:bodyPr wrap="square" rtlCol="0">
            <a:spAutoFit/>
          </a:bodyPr>
          <a:lstStyle/>
          <a:p>
            <a:r>
              <a:rPr lang="en-US" sz="2400" dirty="0"/>
              <a:t>int </a:t>
            </a:r>
            <a:r>
              <a:rPr lang="en-US" sz="2400" dirty="0" err="1"/>
              <a:t>findDistance</a:t>
            </a:r>
            <a:r>
              <a:rPr lang="en-US" sz="2400" dirty="0"/>
              <a:t>(graph, s, t){</a:t>
            </a:r>
          </a:p>
          <a:p>
            <a:r>
              <a:rPr lang="en-US" sz="2400" dirty="0"/>
              <a:t>	found = new Queue();</a:t>
            </a:r>
          </a:p>
          <a:p>
            <a:r>
              <a:rPr lang="en-US" sz="2400" dirty="0"/>
              <a:t>	</a:t>
            </a:r>
            <a:r>
              <a:rPr lang="en-US" sz="2400" dirty="0">
                <a:solidFill>
                  <a:srgbClr val="FF0000"/>
                </a:solidFill>
              </a:rPr>
              <a:t>layer = 0;</a:t>
            </a:r>
          </a:p>
          <a:p>
            <a:r>
              <a:rPr lang="en-US" sz="2400" dirty="0"/>
              <a:t>	</a:t>
            </a:r>
            <a:r>
              <a:rPr lang="en-US" sz="2400" dirty="0" err="1"/>
              <a:t>found.enqueue</a:t>
            </a:r>
            <a:r>
              <a:rPr lang="en-US" sz="2400" dirty="0"/>
              <a:t>(s);</a:t>
            </a:r>
          </a:p>
          <a:p>
            <a:r>
              <a:rPr lang="en-US" sz="2400" dirty="0"/>
              <a:t>	mark s as “visited”;</a:t>
            </a:r>
          </a:p>
          <a:p>
            <a:r>
              <a:rPr lang="en-US" sz="2400" dirty="0"/>
              <a:t>	While (!</a:t>
            </a:r>
            <a:r>
              <a:rPr lang="en-US" sz="2400" dirty="0" err="1"/>
              <a:t>found.isEmpty</a:t>
            </a:r>
            <a:r>
              <a:rPr lang="en-US" sz="2400" dirty="0"/>
              <a:t>()){</a:t>
            </a:r>
          </a:p>
          <a:p>
            <a:r>
              <a:rPr lang="en-US" sz="2400" dirty="0"/>
              <a:t>		current = </a:t>
            </a:r>
            <a:r>
              <a:rPr lang="en-US" sz="2400" dirty="0" err="1"/>
              <a:t>found.dequeue</a:t>
            </a:r>
            <a:r>
              <a:rPr lang="en-US" sz="2400" dirty="0"/>
              <a:t>();</a:t>
            </a:r>
          </a:p>
          <a:p>
            <a:r>
              <a:rPr lang="en-US" sz="2400" dirty="0"/>
              <a:t>		</a:t>
            </a:r>
            <a:r>
              <a:rPr lang="en-US" sz="2400" dirty="0">
                <a:solidFill>
                  <a:srgbClr val="FF0000"/>
                </a:solidFill>
              </a:rPr>
              <a:t>layer = depth of current;</a:t>
            </a:r>
          </a:p>
          <a:p>
            <a:r>
              <a:rPr lang="en-US" sz="2400" dirty="0"/>
              <a:t>		for (v : neighbors(current)){</a:t>
            </a:r>
          </a:p>
          <a:p>
            <a:r>
              <a:rPr lang="en-US" sz="2400" dirty="0"/>
              <a:t>			if (! v marked “visited”){</a:t>
            </a:r>
          </a:p>
          <a:p>
            <a:r>
              <a:rPr lang="en-US" sz="2400" dirty="0"/>
              <a:t>				mark v as “visited”;</a:t>
            </a:r>
          </a:p>
          <a:p>
            <a:r>
              <a:rPr lang="en-US" sz="2400" dirty="0"/>
              <a:t>				</a:t>
            </a:r>
            <a:r>
              <a:rPr lang="en-US" sz="2400" dirty="0">
                <a:solidFill>
                  <a:srgbClr val="FF0000"/>
                </a:solidFill>
              </a:rPr>
              <a:t>depth of v = layer + 1;</a:t>
            </a:r>
          </a:p>
          <a:p>
            <a:r>
              <a:rPr lang="en-US" sz="2400" dirty="0"/>
              <a:t>				</a:t>
            </a:r>
            <a:r>
              <a:rPr lang="en-US" sz="2400" dirty="0" err="1"/>
              <a:t>found.enqueue</a:t>
            </a:r>
            <a:r>
              <a:rPr lang="en-US" sz="2400" dirty="0"/>
              <a:t>(v);</a:t>
            </a:r>
          </a:p>
          <a:p>
            <a:r>
              <a:rPr lang="en-US" sz="2400" dirty="0"/>
              <a:t>			}</a:t>
            </a:r>
          </a:p>
          <a:p>
            <a:r>
              <a:rPr lang="en-US" sz="2400" dirty="0"/>
              <a:t>		}</a:t>
            </a:r>
          </a:p>
          <a:p>
            <a:r>
              <a:rPr lang="en-US" sz="2400" dirty="0"/>
              <a:t>	}</a:t>
            </a:r>
          </a:p>
          <a:p>
            <a:r>
              <a:rPr lang="en-US" sz="2400" dirty="0"/>
              <a:t>	</a:t>
            </a:r>
            <a:r>
              <a:rPr lang="en-US" sz="2400" dirty="0">
                <a:solidFill>
                  <a:srgbClr val="FF0000"/>
                </a:solidFill>
              </a:rPr>
              <a:t>return depth of t;</a:t>
            </a:r>
            <a:r>
              <a:rPr lang="en-US" sz="2400" dirty="0"/>
              <a:t>	</a:t>
            </a:r>
          </a:p>
          <a:p>
            <a:r>
              <a:rPr lang="en-US" sz="2400" dirty="0"/>
              <a:t>}			</a:t>
            </a:r>
          </a:p>
        </p:txBody>
      </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10;&#10;The edges followed in the BFS form a tree on the graph. For this graph the tree is:&#10;(1,2), (1,3), (2,5), (3,4), (4,6), (5,8), (8,7)">
            <a:extLst>
              <a:ext uri="{FF2B5EF4-FFF2-40B4-BE49-F238E27FC236}">
                <a16:creationId xmlns:a16="http://schemas.microsoft.com/office/drawing/2014/main" id="{0418904D-A23D-F7E7-77F7-9C5654D8606A}"/>
              </a:ext>
            </a:extLst>
          </p:cNvPr>
          <p:cNvGrpSpPr/>
          <p:nvPr/>
        </p:nvGrpSpPr>
        <p:grpSpPr>
          <a:xfrm>
            <a:off x="508737" y="1745062"/>
            <a:ext cx="4385159" cy="2420607"/>
            <a:chOff x="1524000" y="2625729"/>
            <a:chExt cx="7044346" cy="3888478"/>
          </a:xfrm>
        </p:grpSpPr>
        <p:grpSp>
          <p:nvGrpSpPr>
            <p:cNvPr id="6" name="Group 5">
              <a:extLst>
                <a:ext uri="{FF2B5EF4-FFF2-40B4-BE49-F238E27FC236}">
                  <a16:creationId xmlns:a16="http://schemas.microsoft.com/office/drawing/2014/main" id="{F575207F-5479-5963-8004-40032CDB5E54}"/>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27288E00-3423-BF9C-8CF8-84F095D826DE}"/>
                  </a:ext>
                </a:extLst>
              </p:cNvPr>
              <p:cNvCxnSpPr>
                <a:stCxn id="23" idx="7"/>
                <a:endCxn id="2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86EFE9-D906-8A68-FB16-D547CEC30E1E}"/>
                  </a:ext>
                </a:extLst>
              </p:cNvPr>
              <p:cNvCxnSpPr>
                <a:stCxn id="24" idx="6"/>
                <a:endCxn id="27"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C25311-7C68-C36D-4476-CA0FCCD69244}"/>
                  </a:ext>
                </a:extLst>
              </p:cNvPr>
              <p:cNvCxnSpPr>
                <a:stCxn id="23" idx="4"/>
                <a:endCxn id="2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1F5BADE-4A56-92F9-58BC-B486B8F7E070}"/>
                  </a:ext>
                </a:extLst>
              </p:cNvPr>
              <p:cNvCxnSpPr>
                <a:stCxn id="26" idx="3"/>
                <a:endCxn id="2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27FA524-C0FB-0934-FA57-17F9C7BAE186}"/>
                  </a:ext>
                </a:extLst>
              </p:cNvPr>
              <p:cNvCxnSpPr>
                <a:stCxn id="28" idx="2"/>
                <a:endCxn id="25"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6C19D-2D8E-F3D1-9BEE-4E9B9E6A8587}"/>
                  </a:ext>
                </a:extLst>
              </p:cNvPr>
              <p:cNvCxnSpPr>
                <a:stCxn id="26" idx="5"/>
                <a:endCxn id="28"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C7CFD8-7844-11BF-72E2-7FAC5E5D51D9}"/>
                  </a:ext>
                </a:extLst>
              </p:cNvPr>
              <p:cNvCxnSpPr>
                <a:stCxn id="26" idx="7"/>
                <a:endCxn id="27"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E77900-A6CF-C297-A6B7-E676DEBA1211}"/>
                  </a:ext>
                </a:extLst>
              </p:cNvPr>
              <p:cNvCxnSpPr>
                <a:stCxn id="28" idx="6"/>
                <a:endCxn id="29"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C4C5DD-3870-F3AC-A444-916129C761B5}"/>
                  </a:ext>
                </a:extLst>
              </p:cNvPr>
              <p:cNvCxnSpPr>
                <a:stCxn id="29" idx="1"/>
                <a:endCxn id="27"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629D72-BBBE-5AB8-F371-E489B421A452}"/>
                  </a:ext>
                </a:extLst>
              </p:cNvPr>
              <p:cNvCxnSpPr>
                <a:stCxn id="47" idx="2"/>
                <a:endCxn id="27"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9FB4E7-4DAE-BB0C-3685-407F9B1895F4}"/>
                  </a:ext>
                </a:extLst>
              </p:cNvPr>
              <p:cNvCxnSpPr>
                <a:stCxn id="29" idx="0"/>
                <a:endCxn id="47"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B8579B-0572-EE4C-4590-561529CC3161}"/>
                  </a:ext>
                </a:extLst>
              </p:cNvPr>
              <p:cNvCxnSpPr>
                <a:stCxn id="30" idx="1"/>
                <a:endCxn id="4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6E8E87-D0F7-BDA0-AF78-72DC2CE9C860}"/>
                  </a:ext>
                </a:extLst>
              </p:cNvPr>
              <p:cNvCxnSpPr>
                <a:stCxn id="30" idx="3"/>
                <a:endCxn id="29"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AEE3F55-268C-5144-5B98-2EACFC0C0CBF}"/>
                  </a:ext>
                </a:extLst>
              </p:cNvPr>
              <p:cNvCxnSpPr>
                <a:stCxn id="24" idx="4"/>
                <a:endCxn id="25"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0798340-7B35-17BE-0B33-CE06FADA2E92}"/>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 name="Oval 23">
                <a:extLst>
                  <a:ext uri="{FF2B5EF4-FFF2-40B4-BE49-F238E27FC236}">
                    <a16:creationId xmlns:a16="http://schemas.microsoft.com/office/drawing/2014/main" id="{C4A65DA6-774E-0FE3-4D06-3E93383C728E}"/>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Oval 24">
                <a:extLst>
                  <a:ext uri="{FF2B5EF4-FFF2-40B4-BE49-F238E27FC236}">
                    <a16:creationId xmlns:a16="http://schemas.microsoft.com/office/drawing/2014/main" id="{22B91480-4C85-A081-2FE2-963A3BCE0382}"/>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Oval 25">
                <a:extLst>
                  <a:ext uri="{FF2B5EF4-FFF2-40B4-BE49-F238E27FC236}">
                    <a16:creationId xmlns:a16="http://schemas.microsoft.com/office/drawing/2014/main" id="{AF7EAA21-792F-41EE-AC55-1B1D748CF362}"/>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E2DC5204-758E-422C-7620-F2CB8AD543F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8" name="Oval 27">
                <a:extLst>
                  <a:ext uri="{FF2B5EF4-FFF2-40B4-BE49-F238E27FC236}">
                    <a16:creationId xmlns:a16="http://schemas.microsoft.com/office/drawing/2014/main" id="{FDDC74CF-E5BF-4989-DE6D-842F332C8CC3}"/>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9" name="Oval 28">
                <a:extLst>
                  <a:ext uri="{FF2B5EF4-FFF2-40B4-BE49-F238E27FC236}">
                    <a16:creationId xmlns:a16="http://schemas.microsoft.com/office/drawing/2014/main" id="{98920CAB-73F8-6071-7659-A84EA68DAF3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30" name="Oval 29">
                <a:extLst>
                  <a:ext uri="{FF2B5EF4-FFF2-40B4-BE49-F238E27FC236}">
                    <a16:creationId xmlns:a16="http://schemas.microsoft.com/office/drawing/2014/main" id="{4F9BCDA8-36C9-7E40-A352-11256FF278A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7" name="Oval 46">
                <a:extLst>
                  <a:ext uri="{FF2B5EF4-FFF2-40B4-BE49-F238E27FC236}">
                    <a16:creationId xmlns:a16="http://schemas.microsoft.com/office/drawing/2014/main" id="{3EE2D146-DAEA-00BE-7C60-D185B4C0F610}"/>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7" name="Straight Connector 6">
              <a:extLst>
                <a:ext uri="{FF2B5EF4-FFF2-40B4-BE49-F238E27FC236}">
                  <a16:creationId xmlns:a16="http://schemas.microsoft.com/office/drawing/2014/main" id="{B06595CC-A5D9-7851-3D09-0246DF1C7A83}"/>
                </a:ext>
              </a:extLst>
            </p:cNvPr>
            <p:cNvCxnSpPr>
              <a:cxnSpLocks/>
              <a:stCxn id="29" idx="7"/>
              <a:endCxn id="4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F675CA-0FA6-3D2C-63D0-79A0D2101294}"/>
                </a:ext>
              </a:extLst>
            </p:cNvPr>
            <p:cNvCxnSpPr>
              <a:cxnSpLocks/>
              <a:stCxn id="28" idx="3"/>
              <a:endCxn id="2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9475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25D7-46D9-7A29-F433-24525C179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94C9A-430C-4F98-53B0-13383F31D87E}"/>
              </a:ext>
            </a:extLst>
          </p:cNvPr>
          <p:cNvSpPr>
            <a:spLocks noGrp="1"/>
          </p:cNvSpPr>
          <p:nvPr>
            <p:ph type="title"/>
          </p:nvPr>
        </p:nvSpPr>
        <p:spPr/>
        <p:txBody>
          <a:bodyPr>
            <a:normAutofit/>
          </a:bodyPr>
          <a:lstStyle/>
          <a:p>
            <a:r>
              <a:rPr lang="en-US" dirty="0"/>
              <a:t>Find Distance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271CF9C8-0EB1-808E-6937-D55B88045794}"/>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28F90165-D1B4-25ED-6027-B1D8D91EE9D3}"/>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E29E0C23-FF86-8EEA-0144-7F272DDA62DA}"/>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2EC391-05A6-3506-01A9-C2240D8025F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8E4B48-5E79-8886-A44D-E01E16E84D82}"/>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AD71E1-1C59-0A4D-1288-BBEDA337FC0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0E9AA0F-ADE4-9C34-B251-AA94C1E4D969}"/>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BBAB7B5-32E7-5BE9-45F7-DB5CA05855A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923C17-F588-E260-DA4D-9DD9DB3AC4BF}"/>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4A147D0-1973-BE93-04D0-EB87C7536397}"/>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4C1515-5592-C525-E1D4-F74FBB371676}"/>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D2E1FE1-CF43-DE17-8F21-E99B186E23E4}"/>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37B2B6-D1B5-2ADD-1D67-90C812AA100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ED31D3F-F699-E76A-12EF-2E5FFDAC476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27782D1-F1CA-DBD2-6D2A-ADFD9A47BCEA}"/>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48AB834-1C74-3268-B430-3C841684F3A3}"/>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8602BDAA-33D3-2325-0A07-9333ED85B614}"/>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10F59170-6D6B-9F34-58B4-B2B4A00B9E69}"/>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A7B830C2-CE9A-EDEA-A05C-CCA2204272A4}"/>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27D1A3C8-9983-4585-689C-0D3660B95854}"/>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BC78DA5-AD48-1ECA-69C8-B139F0C4FFB5}"/>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B03EF8D6-5A76-3E86-D7D2-E4D69A21FFD1}"/>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1BC16755-D9DF-713A-5A59-479D6312958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539DE575-94DD-7B30-F122-E85E687337BE}"/>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C67B488D-93A5-DD1E-1B6A-1BD8D6397406}"/>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95E829E4-58A1-6BFF-7D14-C1A6DFE3A306}"/>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E878FE-B3E8-3C5C-1F67-E780ED29F4E1}"/>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9BA5A57-FBDF-C6BD-B65C-BE270C865080}"/>
              </a:ext>
            </a:extLst>
          </p:cNvPr>
          <p:cNvSpPr txBox="1"/>
          <p:nvPr/>
        </p:nvSpPr>
        <p:spPr>
          <a:xfrm>
            <a:off x="32803" y="3973607"/>
            <a:ext cx="6984733" cy="3108543"/>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update current layer</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layer to be current layer + 1</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8018B9F0-016C-4A88-CD0A-06B9EFF961FB}"/>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Layer</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9FC32378-B7BA-966F-E93B-2D3957A6733E}"/>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F0FBA9DE-AFF7-CB66-1D65-61892F4009DC}"/>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C82495-D6C1-0C18-036B-6069D1519417}"/>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167709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8D23-AC6D-8027-7A1B-98072E8AC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070DF-BF7D-48BD-FEE1-60E439662A29}"/>
              </a:ext>
            </a:extLst>
          </p:cNvPr>
          <p:cNvSpPr>
            <a:spLocks noGrp="1"/>
          </p:cNvSpPr>
          <p:nvPr>
            <p:ph type="title"/>
          </p:nvPr>
        </p:nvSpPr>
        <p:spPr/>
        <p:txBody>
          <a:bodyPr>
            <a:normAutofit/>
          </a:bodyPr>
          <a:lstStyle/>
          <a:p>
            <a:r>
              <a:rPr lang="en-US" dirty="0"/>
              <a:t>Shortest Path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590AFFE2-0C44-3C78-0EBE-F2B9CB2409CA}"/>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BA9F1D6C-ACE7-BC5B-F569-9A70CE937B0D}"/>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C783CA8C-3E94-0E3C-6D96-3CFC2A7358EE}"/>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B3D5AA-F1D7-3368-4383-D4FCE55D019C}"/>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944A9A2-D1AF-CDD7-0D84-91FA7A11CFD4}"/>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A77429-45D1-E595-4393-DA025854647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B3C426-52C7-742A-D3B2-A93F30C3D91D}"/>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B8B381-111A-FD41-7E22-8F44EC30EFD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ED18C9-0F58-FE0A-224C-2588174AFB81}"/>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BFEEB3-97C2-AEF0-9428-FBF57DE0453A}"/>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064E52-216B-91FC-4B46-2311B61F713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27927D8-F995-BC9D-2E12-CA5E5A93084B}"/>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708231-BFB6-80B8-9507-7F4B9B28CD2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C6D9FE-7480-CF62-2F8F-F3263512D30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DF33F4-50FF-57CE-0D0C-B81049DC5328}"/>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45C8B4B-4F12-5223-18DA-B771717B2568}"/>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3BB55AC-6552-DF0B-125E-970A40257AF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F004A88-0014-17C5-23B1-58339851F5A5}"/>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BCF41E3-C342-A8F8-BC70-760CC907982E}"/>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79E00AAD-1B6F-C063-FD03-8C1542D5362D}"/>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34C4B80-D7E1-B1EA-8093-43F2C63045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E006F4F3-7154-9957-1607-30309B9D7EB4}"/>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6483AC7E-DC22-645B-FD39-9AFE24B91B5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DBAB79B6-ED59-E70B-252B-FCF83693C674}"/>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9E9BD361-1CAC-81E4-D04E-77489843E8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4694D02E-26D0-E33C-9762-F65088F5CF48}"/>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09AC4CD-7B2F-C50E-B425-B8853CD4FAB6}"/>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3E7E310-EA56-B238-8799-0C3977E917EB}"/>
              </a:ext>
            </a:extLst>
          </p:cNvPr>
          <p:cNvSpPr txBox="1"/>
          <p:nvPr/>
        </p:nvSpPr>
        <p:spPr>
          <a:xfrm>
            <a:off x="32803" y="4480684"/>
            <a:ext cx="7607852" cy="2677656"/>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previous to be the current node</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C3DF76A7-1AE5-FE32-B9BA-55D479F06495}"/>
              </a:ext>
            </a:extLst>
          </p:cNvPr>
          <p:cNvGraphicFramePr>
            <a:graphicFrameLocks noGrp="1"/>
          </p:cNvGraphicFramePr>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Previous</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6D38CD5B-5A6B-D249-71C9-53138DD93CBB}"/>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69E0C2FE-17B8-0CDF-F2EE-54A2FDB66321}"/>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EE25D8-B172-B4CA-EC39-BD6F91CBDA5B}"/>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233948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one neighbor of </a:t>
                </a:r>
                <a14:m>
                  <m:oMath xmlns:m="http://schemas.openxmlformats.org/officeDocument/2006/math">
                    <m:r>
                      <a:rPr lang="en-US" b="0" i="1" smtClean="0">
                        <a:solidFill>
                          <a:srgbClr val="FF0000"/>
                        </a:solidFill>
                        <a:latin typeface="Cambria Math"/>
                      </a:rPr>
                      <m:t>𝑠</m:t>
                    </m:r>
                  </m:oMath>
                </a14:m>
                <a:r>
                  <a:rPr lang="en-US" dirty="0"/>
                  <a:t>, then all nodes reachable from that neighbor of </a:t>
                </a:r>
                <a14:m>
                  <m:oMath xmlns:m="http://schemas.openxmlformats.org/officeDocument/2006/math">
                    <m:r>
                      <a:rPr lang="en-US" b="0" i="1" smtClean="0">
                        <a:solidFill>
                          <a:srgbClr val="FF0000"/>
                        </a:solidFill>
                        <a:latin typeface="Cambria Math"/>
                      </a:rPr>
                      <m:t>𝑠</m:t>
                    </m:r>
                  </m:oMath>
                </a14:m>
                <a:r>
                  <a:rPr lang="en-US" dirty="0"/>
                  <a:t>, then another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a:t>
                </a:r>
              </a:p>
              <a:p>
                <a:pPr lvl="1"/>
                <a:r>
                  <a:rPr lang="en-US" dirty="0"/>
                  <a:t>Before moving on to the second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visit everything reachable from the first neighbor of </a:t>
                </a:r>
                <a14:m>
                  <m:oMath xmlns:m="http://schemas.openxmlformats.org/officeDocument/2006/math">
                    <m:r>
                      <a:rPr lang="en-US" b="0" i="1" smtClean="0">
                        <a:solidFill>
                          <a:srgbClr val="FF0000"/>
                        </a:solidFill>
                        <a:latin typeface="Cambria Math" panose="02040503050406030204" pitchFamily="18" charset="0"/>
                      </a:rPr>
                      <m:t>𝑠</m:t>
                    </m:r>
                  </m:oMath>
                </a14:m>
                <a:endParaRPr lang="en-US" dirty="0"/>
              </a:p>
              <a:p>
                <a:r>
                  <a:rPr lang="en-US" dirty="0"/>
                  <a:t>Output: </a:t>
                </a:r>
              </a:p>
              <a:p>
                <a:pPr lvl="1"/>
                <a:r>
                  <a:rPr lang="en-US" dirty="0"/>
                  <a:t>Does the graph have a cycle?</a:t>
                </a:r>
              </a:p>
              <a:p>
                <a:pPr lvl="1"/>
                <a:r>
                  <a:rPr lang="en-US" dirty="0"/>
                  <a:t>A </a:t>
                </a:r>
                <a:r>
                  <a:rPr lang="en-US" b="1" dirty="0"/>
                  <a:t>topological sort </a:t>
                </a:r>
                <a:r>
                  <a:rPr lang="en-US" dirty="0"/>
                  <a:t>of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E979014D-93BA-935F-E618-94D02540C8AA}"/>
              </a:ext>
            </a:extLst>
          </p:cNvPr>
          <p:cNvGrpSpPr/>
          <p:nvPr/>
        </p:nvGrpSpPr>
        <p:grpSpPr>
          <a:xfrm>
            <a:off x="6857667" y="3747441"/>
            <a:ext cx="4537025" cy="3110559"/>
            <a:chOff x="6857667" y="3747441"/>
            <a:chExt cx="4537025" cy="3110559"/>
          </a:xfrm>
        </p:grpSpPr>
        <p:sp>
          <p:nvSpPr>
            <p:cNvPr id="5" name="TextBox 4">
              <a:extLst>
                <a:ext uri="{FF2B5EF4-FFF2-40B4-BE49-F238E27FC236}">
                  <a16:creationId xmlns:a16="http://schemas.microsoft.com/office/drawing/2014/main" id="{637040C6-C78B-8017-6D73-97D93EB826C3}"/>
                </a:ext>
              </a:extLst>
            </p:cNvPr>
            <p:cNvSpPr txBox="1"/>
            <p:nvPr/>
          </p:nvSpPr>
          <p:spPr>
            <a:xfrm>
              <a:off x="6857667" y="4464542"/>
              <a:ext cx="301686" cy="369332"/>
            </a:xfrm>
            <a:prstGeom prst="rect">
              <a:avLst/>
            </a:prstGeom>
            <a:noFill/>
          </p:spPr>
          <p:txBody>
            <a:bodyPr wrap="none" rtlCol="0">
              <a:spAutoFit/>
            </a:bodyPr>
            <a:lstStyle/>
            <a:p>
              <a:r>
                <a:rPr lang="en-US" dirty="0"/>
                <a:t>0</a:t>
              </a:r>
            </a:p>
          </p:txBody>
        </p:sp>
        <p:sp>
          <p:nvSpPr>
            <p:cNvPr id="6" name="TextBox 5">
              <a:extLst>
                <a:ext uri="{FF2B5EF4-FFF2-40B4-BE49-F238E27FC236}">
                  <a16:creationId xmlns:a16="http://schemas.microsoft.com/office/drawing/2014/main" id="{0605044C-10BD-AEE9-D583-6E3F278B41F7}"/>
                </a:ext>
              </a:extLst>
            </p:cNvPr>
            <p:cNvSpPr txBox="1"/>
            <p:nvPr/>
          </p:nvSpPr>
          <p:spPr>
            <a:xfrm>
              <a:off x="8096239" y="3747441"/>
              <a:ext cx="301686" cy="369332"/>
            </a:xfrm>
            <a:prstGeom prst="rect">
              <a:avLst/>
            </a:prstGeom>
            <a:noFill/>
          </p:spPr>
          <p:txBody>
            <a:bodyPr wrap="none" rtlCol="0">
              <a:spAutoFit/>
            </a:bodyPr>
            <a:lstStyle/>
            <a:p>
              <a:r>
                <a:rPr lang="en-US" dirty="0"/>
                <a:t>1</a:t>
              </a:r>
            </a:p>
          </p:txBody>
        </p:sp>
        <p:sp>
          <p:nvSpPr>
            <p:cNvPr id="7" name="TextBox 6">
              <a:extLst>
                <a:ext uri="{FF2B5EF4-FFF2-40B4-BE49-F238E27FC236}">
                  <a16:creationId xmlns:a16="http://schemas.microsoft.com/office/drawing/2014/main" id="{B137F514-BD71-389A-276B-9053B381D8E4}"/>
                </a:ext>
              </a:extLst>
            </p:cNvPr>
            <p:cNvSpPr txBox="1"/>
            <p:nvPr/>
          </p:nvSpPr>
          <p:spPr>
            <a:xfrm>
              <a:off x="9338044" y="3798833"/>
              <a:ext cx="301686" cy="369332"/>
            </a:xfrm>
            <a:prstGeom prst="rect">
              <a:avLst/>
            </a:prstGeom>
            <a:noFill/>
          </p:spPr>
          <p:txBody>
            <a:bodyPr wrap="none" rtlCol="0">
              <a:spAutoFit/>
            </a:bodyPr>
            <a:lstStyle/>
            <a:p>
              <a:r>
                <a:rPr lang="en-US" dirty="0"/>
                <a:t>2</a:t>
              </a:r>
            </a:p>
          </p:txBody>
        </p:sp>
        <p:sp>
          <p:nvSpPr>
            <p:cNvPr id="8" name="TextBox 7">
              <a:extLst>
                <a:ext uri="{FF2B5EF4-FFF2-40B4-BE49-F238E27FC236}">
                  <a16:creationId xmlns:a16="http://schemas.microsoft.com/office/drawing/2014/main" id="{AA7298B3-A661-E800-FF4D-E8EEBF644EAB}"/>
                </a:ext>
              </a:extLst>
            </p:cNvPr>
            <p:cNvSpPr txBox="1"/>
            <p:nvPr/>
          </p:nvSpPr>
          <p:spPr>
            <a:xfrm>
              <a:off x="10242843" y="4155894"/>
              <a:ext cx="301686" cy="369332"/>
            </a:xfrm>
            <a:prstGeom prst="rect">
              <a:avLst/>
            </a:prstGeom>
            <a:noFill/>
          </p:spPr>
          <p:txBody>
            <a:bodyPr wrap="none" rtlCol="0">
              <a:spAutoFit/>
            </a:bodyPr>
            <a:lstStyle/>
            <a:p>
              <a:r>
                <a:rPr lang="en-US" dirty="0"/>
                <a:t>3</a:t>
              </a:r>
            </a:p>
          </p:txBody>
        </p:sp>
        <p:sp>
          <p:nvSpPr>
            <p:cNvPr id="10" name="TextBox 9">
              <a:extLst>
                <a:ext uri="{FF2B5EF4-FFF2-40B4-BE49-F238E27FC236}">
                  <a16:creationId xmlns:a16="http://schemas.microsoft.com/office/drawing/2014/main" id="{84D8D756-6925-39E6-93AD-CDD831F97A7D}"/>
                </a:ext>
              </a:extLst>
            </p:cNvPr>
            <p:cNvSpPr txBox="1"/>
            <p:nvPr/>
          </p:nvSpPr>
          <p:spPr>
            <a:xfrm>
              <a:off x="10287000" y="6248400"/>
              <a:ext cx="301686" cy="369332"/>
            </a:xfrm>
            <a:prstGeom prst="rect">
              <a:avLst/>
            </a:prstGeom>
            <a:noFill/>
          </p:spPr>
          <p:txBody>
            <a:bodyPr wrap="none" rtlCol="0">
              <a:spAutoFit/>
            </a:bodyPr>
            <a:lstStyle/>
            <a:p>
              <a:r>
                <a:rPr lang="en-US" dirty="0"/>
                <a:t>4</a:t>
              </a:r>
            </a:p>
          </p:txBody>
        </p:sp>
        <p:sp>
          <p:nvSpPr>
            <p:cNvPr id="11" name="TextBox 10">
              <a:extLst>
                <a:ext uri="{FF2B5EF4-FFF2-40B4-BE49-F238E27FC236}">
                  <a16:creationId xmlns:a16="http://schemas.microsoft.com/office/drawing/2014/main" id="{50F2CDBA-DA7A-3C1A-5713-45F18AC0DC23}"/>
                </a:ext>
              </a:extLst>
            </p:cNvPr>
            <p:cNvSpPr txBox="1"/>
            <p:nvPr/>
          </p:nvSpPr>
          <p:spPr>
            <a:xfrm>
              <a:off x="7421000" y="5817950"/>
              <a:ext cx="301686" cy="369332"/>
            </a:xfrm>
            <a:prstGeom prst="rect">
              <a:avLst/>
            </a:prstGeom>
            <a:noFill/>
          </p:spPr>
          <p:txBody>
            <a:bodyPr wrap="none" rtlCol="0">
              <a:spAutoFit/>
            </a:bodyPr>
            <a:lstStyle/>
            <a:p>
              <a:r>
                <a:rPr lang="en-US" dirty="0"/>
                <a:t>5</a:t>
              </a:r>
            </a:p>
          </p:txBody>
        </p:sp>
        <p:sp>
          <p:nvSpPr>
            <p:cNvPr id="12" name="TextBox 11">
              <a:extLst>
                <a:ext uri="{FF2B5EF4-FFF2-40B4-BE49-F238E27FC236}">
                  <a16:creationId xmlns:a16="http://schemas.microsoft.com/office/drawing/2014/main" id="{935030A1-83AA-A3BB-CB2D-2CE9A3C9892E}"/>
                </a:ext>
              </a:extLst>
            </p:cNvPr>
            <p:cNvSpPr txBox="1"/>
            <p:nvPr/>
          </p:nvSpPr>
          <p:spPr>
            <a:xfrm>
              <a:off x="8429267" y="4733162"/>
              <a:ext cx="301686" cy="369332"/>
            </a:xfrm>
            <a:prstGeom prst="rect">
              <a:avLst/>
            </a:prstGeom>
            <a:noFill/>
          </p:spPr>
          <p:txBody>
            <a:bodyPr wrap="none" rtlCol="0">
              <a:spAutoFit/>
            </a:bodyPr>
            <a:lstStyle/>
            <a:p>
              <a:r>
                <a:rPr lang="en-US" dirty="0"/>
                <a:t>6</a:t>
              </a:r>
            </a:p>
          </p:txBody>
        </p:sp>
        <p:grpSp>
          <p:nvGrpSpPr>
            <p:cNvPr id="14" name="Group 13">
              <a:extLst>
                <a:ext uri="{FF2B5EF4-FFF2-40B4-BE49-F238E27FC236}">
                  <a16:creationId xmlns:a16="http://schemas.microsoft.com/office/drawing/2014/main" id="{16652F29-0A79-210D-2DF8-9579B15BE792}"/>
                </a:ext>
              </a:extLst>
            </p:cNvPr>
            <p:cNvGrpSpPr/>
            <p:nvPr/>
          </p:nvGrpSpPr>
          <p:grpSpPr>
            <a:xfrm>
              <a:off x="7009533" y="4114199"/>
              <a:ext cx="4385159" cy="2420607"/>
              <a:chOff x="6934200" y="4047495"/>
              <a:chExt cx="4385159" cy="2420607"/>
            </a:xfrm>
          </p:grpSpPr>
          <p:grpSp>
            <p:nvGrpSpPr>
              <p:cNvPr id="15" name="Group 14">
                <a:extLst>
                  <a:ext uri="{FF2B5EF4-FFF2-40B4-BE49-F238E27FC236}">
                    <a16:creationId xmlns:a16="http://schemas.microsoft.com/office/drawing/2014/main" id="{77EB8E3F-6751-1E82-7583-8F80C26138DF}"/>
                  </a:ext>
                </a:extLst>
              </p:cNvPr>
              <p:cNvGrpSpPr/>
              <p:nvPr/>
            </p:nvGrpSpPr>
            <p:grpSpPr>
              <a:xfrm>
                <a:off x="6934200" y="4047495"/>
                <a:ext cx="4385159" cy="2420607"/>
                <a:chOff x="1524000" y="2625729"/>
                <a:chExt cx="7044346" cy="3888478"/>
              </a:xfrm>
            </p:grpSpPr>
            <p:grpSp>
              <p:nvGrpSpPr>
                <p:cNvPr id="17" name="Group 16">
                  <a:extLst>
                    <a:ext uri="{FF2B5EF4-FFF2-40B4-BE49-F238E27FC236}">
                      <a16:creationId xmlns:a16="http://schemas.microsoft.com/office/drawing/2014/main" id="{933A9D27-8499-DCAD-BB09-C5811A2BD9B8}"/>
                    </a:ext>
                  </a:extLst>
                </p:cNvPr>
                <p:cNvGrpSpPr/>
                <p:nvPr/>
              </p:nvGrpSpPr>
              <p:grpSpPr>
                <a:xfrm>
                  <a:off x="1524000" y="2625729"/>
                  <a:ext cx="7044346" cy="3888478"/>
                  <a:chOff x="0" y="3020093"/>
                  <a:chExt cx="7044346" cy="3888478"/>
                </a:xfrm>
              </p:grpSpPr>
              <p:cxnSp>
                <p:nvCxnSpPr>
                  <p:cNvPr id="19" name="Straight Connector 18">
                    <a:extLst>
                      <a:ext uri="{FF2B5EF4-FFF2-40B4-BE49-F238E27FC236}">
                        <a16:creationId xmlns:a16="http://schemas.microsoft.com/office/drawing/2014/main" id="{76F20D4D-C2AE-E63F-6C7C-DE9BDBED70C7}"/>
                      </a:ext>
                    </a:extLst>
                  </p:cNvPr>
                  <p:cNvCxnSpPr>
                    <a:stCxn id="58" idx="7"/>
                    <a:endCxn id="5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2F690A-F0D8-CEFB-E093-724538ADFB0B}"/>
                      </a:ext>
                    </a:extLst>
                  </p:cNvPr>
                  <p:cNvCxnSpPr>
                    <a:stCxn id="59" idx="6"/>
                    <a:endCxn id="6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2C7ABA-BBB6-2678-6598-C7D0CEA71D55}"/>
                      </a:ext>
                    </a:extLst>
                  </p:cNvPr>
                  <p:cNvCxnSpPr>
                    <a:stCxn id="58" idx="4"/>
                    <a:endCxn id="6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662FE4-23A3-CBB5-86C2-A01319284309}"/>
                      </a:ext>
                    </a:extLst>
                  </p:cNvPr>
                  <p:cNvCxnSpPr>
                    <a:stCxn id="61" idx="3"/>
                    <a:endCxn id="6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AFCEF6-1E10-BE11-39F3-D367EC560DB9}"/>
                      </a:ext>
                    </a:extLst>
                  </p:cNvPr>
                  <p:cNvCxnSpPr>
                    <a:stCxn id="63" idx="2"/>
                    <a:endCxn id="6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32A12C4-8001-3670-1EDB-F2EFBDB7661E}"/>
                      </a:ext>
                    </a:extLst>
                  </p:cNvPr>
                  <p:cNvCxnSpPr>
                    <a:stCxn id="61" idx="5"/>
                    <a:endCxn id="6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FE5E66-3D07-C865-EB56-C97B22695E90}"/>
                      </a:ext>
                    </a:extLst>
                  </p:cNvPr>
                  <p:cNvCxnSpPr>
                    <a:cxnSpLocks/>
                    <a:stCxn id="59" idx="5"/>
                    <a:endCxn id="64"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324CD16-9A95-C1EA-83C5-7A9080A0385E}"/>
                      </a:ext>
                    </a:extLst>
                  </p:cNvPr>
                  <p:cNvCxnSpPr>
                    <a:cxnSpLocks/>
                    <a:stCxn id="66" idx="4"/>
                    <a:endCxn id="64"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E0805D-E768-31B1-8BF9-AAD97F21580B}"/>
                      </a:ext>
                    </a:extLst>
                  </p:cNvPr>
                  <p:cNvCxnSpPr>
                    <a:stCxn id="66" idx="2"/>
                    <a:endCxn id="6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C691D0-D9B7-B74F-D15F-4D0CDB0BB571}"/>
                      </a:ext>
                    </a:extLst>
                  </p:cNvPr>
                  <p:cNvCxnSpPr>
                    <a:stCxn id="65" idx="1"/>
                    <a:endCxn id="6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8A2562-2B96-4380-2649-D2603A892492}"/>
                      </a:ext>
                    </a:extLst>
                  </p:cNvPr>
                  <p:cNvCxnSpPr>
                    <a:stCxn id="65" idx="3"/>
                    <a:endCxn id="6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77C7EE-6C4E-FD2F-87D9-ABDBFACDFE6D}"/>
                      </a:ext>
                    </a:extLst>
                  </p:cNvPr>
                  <p:cNvCxnSpPr>
                    <a:stCxn id="59" idx="4"/>
                    <a:endCxn id="6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2D856A7F-12C5-19F0-FCB2-420F4354598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9" name="Oval 58">
                    <a:extLst>
                      <a:ext uri="{FF2B5EF4-FFF2-40B4-BE49-F238E27FC236}">
                        <a16:creationId xmlns:a16="http://schemas.microsoft.com/office/drawing/2014/main" id="{3C5968D7-2907-9113-8FF6-CC4B379CC23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Oval 59">
                    <a:extLst>
                      <a:ext uri="{FF2B5EF4-FFF2-40B4-BE49-F238E27FC236}">
                        <a16:creationId xmlns:a16="http://schemas.microsoft.com/office/drawing/2014/main" id="{7DBE19AF-9821-7DB2-BABD-9828DF2FDA2B}"/>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1" name="Oval 60">
                    <a:extLst>
                      <a:ext uri="{FF2B5EF4-FFF2-40B4-BE49-F238E27FC236}">
                        <a16:creationId xmlns:a16="http://schemas.microsoft.com/office/drawing/2014/main" id="{66C0888B-D28A-7C05-A7DC-C42BD35E4A46}"/>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2" name="Oval 61">
                    <a:extLst>
                      <a:ext uri="{FF2B5EF4-FFF2-40B4-BE49-F238E27FC236}">
                        <a16:creationId xmlns:a16="http://schemas.microsoft.com/office/drawing/2014/main" id="{AF6BA200-2A32-4B42-FDB6-8BC54E2290C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Oval 62">
                    <a:extLst>
                      <a:ext uri="{FF2B5EF4-FFF2-40B4-BE49-F238E27FC236}">
                        <a16:creationId xmlns:a16="http://schemas.microsoft.com/office/drawing/2014/main" id="{10A11247-2014-BBA9-F784-829C0D1A56DD}"/>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Oval 63">
                    <a:extLst>
                      <a:ext uri="{FF2B5EF4-FFF2-40B4-BE49-F238E27FC236}">
                        <a16:creationId xmlns:a16="http://schemas.microsoft.com/office/drawing/2014/main" id="{A6FA3B9B-58B9-D650-AE52-EB3C4C14EBF2}"/>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Oval 64">
                    <a:extLst>
                      <a:ext uri="{FF2B5EF4-FFF2-40B4-BE49-F238E27FC236}">
                        <a16:creationId xmlns:a16="http://schemas.microsoft.com/office/drawing/2014/main" id="{B5EA0F88-7B97-1BA7-DF0F-7D545939207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66" name="Oval 65">
                    <a:extLst>
                      <a:ext uri="{FF2B5EF4-FFF2-40B4-BE49-F238E27FC236}">
                        <a16:creationId xmlns:a16="http://schemas.microsoft.com/office/drawing/2014/main" id="{2909E842-3B88-2325-732B-830110DB65F8}"/>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8" name="Straight Connector 17">
                  <a:extLst>
                    <a:ext uri="{FF2B5EF4-FFF2-40B4-BE49-F238E27FC236}">
                      <a16:creationId xmlns:a16="http://schemas.microsoft.com/office/drawing/2014/main" id="{7234E73A-0E2E-C169-BBC8-1336F0573A3C}"/>
                    </a:ext>
                  </a:extLst>
                </p:cNvPr>
                <p:cNvCxnSpPr>
                  <a:cxnSpLocks/>
                  <a:stCxn id="63" idx="3"/>
                  <a:endCxn id="6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ED5250A6-491F-63A7-7A2B-12750046089E}"/>
                  </a:ext>
                </a:extLst>
              </p:cNvPr>
              <p:cNvCxnSpPr>
                <a:cxnSpLocks/>
                <a:stCxn id="63" idx="6"/>
                <a:endCxn id="64"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E2D8E6EA-0503-E96D-3170-C01DCD7AB07A}"/>
                </a:ext>
              </a:extLst>
            </p:cNvPr>
            <p:cNvSpPr txBox="1"/>
            <p:nvPr/>
          </p:nvSpPr>
          <p:spPr>
            <a:xfrm>
              <a:off x="8915400" y="6488668"/>
              <a:ext cx="301686" cy="369332"/>
            </a:xfrm>
            <a:prstGeom prst="rect">
              <a:avLst/>
            </a:prstGeom>
            <a:noFill/>
          </p:spPr>
          <p:txBody>
            <a:bodyPr wrap="none" rtlCol="0">
              <a:spAutoFit/>
            </a:bodyPr>
            <a:lstStyle/>
            <a:p>
              <a:r>
                <a:rPr lang="en-US" dirty="0"/>
                <a:t>7</a:t>
              </a:r>
            </a:p>
          </p:txBody>
        </p:sp>
      </p:grpSp>
    </p:spTree>
    <p:extLst>
      <p:ext uri="{BB962C8B-B14F-4D97-AF65-F5344CB8AC3E}">
        <p14:creationId xmlns:p14="http://schemas.microsoft.com/office/powerpoint/2010/main" val="2324569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192802"/>
            <a:ext cx="10515600" cy="1325563"/>
          </a:xfrm>
        </p:spPr>
        <p:txBody>
          <a:bodyPr>
            <a:normAutofit/>
          </a:bodyPr>
          <a:lstStyle/>
          <a:p>
            <a:r>
              <a:rPr lang="en-US" dirty="0"/>
              <a:t>DFS (non-recursive)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dfs</a:t>
            </a:r>
            <a:r>
              <a:rPr lang="en-US" sz="2800" dirty="0"/>
              <a:t>(graph, s){</a:t>
            </a:r>
          </a:p>
          <a:p>
            <a:r>
              <a:rPr lang="en-US" sz="2800" dirty="0"/>
              <a:t>	found = new </a:t>
            </a:r>
            <a:r>
              <a:rPr lang="en-US" sz="2800" dirty="0">
                <a:solidFill>
                  <a:srgbClr val="FF0000"/>
                </a:solidFill>
              </a:rPr>
              <a:t>Stack();</a:t>
            </a:r>
          </a:p>
          <a:p>
            <a:r>
              <a:rPr lang="en-US" sz="2800" dirty="0"/>
              <a:t>	</a:t>
            </a:r>
            <a:r>
              <a:rPr lang="en-US" sz="2800" dirty="0" err="1"/>
              <a:t>found.</a:t>
            </a:r>
            <a:r>
              <a:rPr lang="en-US" sz="2800" dirty="0" err="1">
                <a:solidFill>
                  <a:srgbClr val="FF0000"/>
                </a:solidFill>
              </a:rPr>
              <a:t>pop</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a:t>
            </a:r>
            <a:r>
              <a:rPr lang="en-US" sz="2800" dirty="0" err="1">
                <a:solidFill>
                  <a:srgbClr val="FF0000"/>
                </a:solidFill>
              </a:rPr>
              <a:t>pop</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a:t>
            </a:r>
            <a:r>
              <a:rPr lang="en-US" sz="2800" dirty="0" err="1">
                <a:solidFill>
                  <a:srgbClr val="FF0000"/>
                </a:solidFill>
              </a:rPr>
              <a:t>push</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5" name="Group 4"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D167D64F-2B9B-C508-9920-F4C797F21EB0}"/>
              </a:ext>
            </a:extLst>
          </p:cNvPr>
          <p:cNvGrpSpPr/>
          <p:nvPr/>
        </p:nvGrpSpPr>
        <p:grpSpPr>
          <a:xfrm>
            <a:off x="458009" y="1810946"/>
            <a:ext cx="4385159" cy="2420607"/>
            <a:chOff x="6934200" y="4047495"/>
            <a:chExt cx="4385159" cy="2420607"/>
          </a:xfrm>
        </p:grpSpPr>
        <p:grpSp>
          <p:nvGrpSpPr>
            <p:cNvPr id="6" name="Group 5">
              <a:extLst>
                <a:ext uri="{FF2B5EF4-FFF2-40B4-BE49-F238E27FC236}">
                  <a16:creationId xmlns:a16="http://schemas.microsoft.com/office/drawing/2014/main" id="{8EB4602C-F8FA-0BEB-8FE7-9313A55D49DE}"/>
                </a:ext>
              </a:extLst>
            </p:cNvPr>
            <p:cNvGrpSpPr/>
            <p:nvPr/>
          </p:nvGrpSpPr>
          <p:grpSpPr>
            <a:xfrm>
              <a:off x="6934200" y="4047495"/>
              <a:ext cx="4385159" cy="2420607"/>
              <a:chOff x="1524000" y="2625729"/>
              <a:chExt cx="7044346" cy="3888478"/>
            </a:xfrm>
          </p:grpSpPr>
          <p:grpSp>
            <p:nvGrpSpPr>
              <p:cNvPr id="8" name="Group 7">
                <a:extLst>
                  <a:ext uri="{FF2B5EF4-FFF2-40B4-BE49-F238E27FC236}">
                    <a16:creationId xmlns:a16="http://schemas.microsoft.com/office/drawing/2014/main" id="{1428ECE3-E802-FBEF-B3D5-CD698D64CB87}"/>
                  </a:ext>
                </a:extLst>
              </p:cNvPr>
              <p:cNvGrpSpPr/>
              <p:nvPr/>
            </p:nvGrpSpPr>
            <p:grpSpPr>
              <a:xfrm>
                <a:off x="1524000" y="2625729"/>
                <a:ext cx="7044346" cy="3888478"/>
                <a:chOff x="0" y="3020093"/>
                <a:chExt cx="7044346" cy="3888478"/>
              </a:xfrm>
            </p:grpSpPr>
            <p:cxnSp>
              <p:nvCxnSpPr>
                <p:cNvPr id="10" name="Straight Connector 9">
                  <a:extLst>
                    <a:ext uri="{FF2B5EF4-FFF2-40B4-BE49-F238E27FC236}">
                      <a16:creationId xmlns:a16="http://schemas.microsoft.com/office/drawing/2014/main" id="{0AA8EDDA-EF25-A891-2159-ACF5BA3BF792}"/>
                    </a:ext>
                  </a:extLst>
                </p:cNvPr>
                <p:cNvCxnSpPr>
                  <a:stCxn id="22" idx="7"/>
                  <a:endCxn id="23"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4C8B1BE-4C56-F3E0-A02B-7C706F314D60}"/>
                    </a:ext>
                  </a:extLst>
                </p:cNvPr>
                <p:cNvCxnSpPr>
                  <a:stCxn id="23" idx="6"/>
                  <a:endCxn id="26"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305019-2BC0-97E3-1F92-EDD4342693C3}"/>
                    </a:ext>
                  </a:extLst>
                </p:cNvPr>
                <p:cNvCxnSpPr>
                  <a:stCxn id="22" idx="4"/>
                  <a:endCxn id="24"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7DDCB0-6B6D-7535-D256-3BB4CE470188}"/>
                    </a:ext>
                  </a:extLst>
                </p:cNvPr>
                <p:cNvCxnSpPr>
                  <a:stCxn id="25" idx="3"/>
                  <a:endCxn id="24"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7A901E-9F9B-1300-02B3-BA3CB0B18A0C}"/>
                    </a:ext>
                  </a:extLst>
                </p:cNvPr>
                <p:cNvCxnSpPr>
                  <a:stCxn id="27" idx="2"/>
                  <a:endCxn id="24"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7727986-1A72-95EB-D5B4-51667991A7B8}"/>
                    </a:ext>
                  </a:extLst>
                </p:cNvPr>
                <p:cNvCxnSpPr>
                  <a:stCxn id="25" idx="5"/>
                  <a:endCxn id="2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887DB1-C1C5-09F4-2ED1-9B8B05AD41B1}"/>
                    </a:ext>
                  </a:extLst>
                </p:cNvPr>
                <p:cNvCxnSpPr>
                  <a:cxnSpLocks/>
                  <a:stCxn id="23" idx="5"/>
                  <a:endCxn id="28"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7E199F-D81D-D76B-CCC0-07003F5E024F}"/>
                    </a:ext>
                  </a:extLst>
                </p:cNvPr>
                <p:cNvCxnSpPr>
                  <a:cxnSpLocks/>
                  <a:stCxn id="30" idx="4"/>
                  <a:endCxn id="28"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36DB52-1F54-B21C-D19D-F5509EF2F743}"/>
                    </a:ext>
                  </a:extLst>
                </p:cNvPr>
                <p:cNvCxnSpPr>
                  <a:stCxn id="30" idx="2"/>
                  <a:endCxn id="26"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EDB5FE-7BA3-2684-2843-66EFAC98BD5C}"/>
                    </a:ext>
                  </a:extLst>
                </p:cNvPr>
                <p:cNvCxnSpPr>
                  <a:stCxn id="29" idx="1"/>
                  <a:endCxn id="3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E7DB8C-1E3C-4E72-1736-EB8A6F3844D8}"/>
                    </a:ext>
                  </a:extLst>
                </p:cNvPr>
                <p:cNvCxnSpPr>
                  <a:stCxn id="29" idx="3"/>
                  <a:endCxn id="2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34D75C-E956-5C4E-F59B-90A7D7966E96}"/>
                    </a:ext>
                  </a:extLst>
                </p:cNvPr>
                <p:cNvCxnSpPr>
                  <a:stCxn id="23" idx="4"/>
                  <a:endCxn id="24"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E88EB9-44F8-7929-366A-BD170002521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3" name="Oval 22">
                  <a:extLst>
                    <a:ext uri="{FF2B5EF4-FFF2-40B4-BE49-F238E27FC236}">
                      <a16:creationId xmlns:a16="http://schemas.microsoft.com/office/drawing/2014/main" id="{72EDEA93-293D-6D35-0F17-38A42E580F2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Oval 23">
                  <a:extLst>
                    <a:ext uri="{FF2B5EF4-FFF2-40B4-BE49-F238E27FC236}">
                      <a16:creationId xmlns:a16="http://schemas.microsoft.com/office/drawing/2014/main" id="{F78126EE-A3DE-4903-F082-2959917A4780}"/>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32CCBE43-4A94-CAF5-2112-06D7DA8A3617}"/>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Oval 25">
                  <a:extLst>
                    <a:ext uri="{FF2B5EF4-FFF2-40B4-BE49-F238E27FC236}">
                      <a16:creationId xmlns:a16="http://schemas.microsoft.com/office/drawing/2014/main" id="{62AB9AAE-142F-5CD7-778C-85CD6F4C03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7" name="Oval 26">
                  <a:extLst>
                    <a:ext uri="{FF2B5EF4-FFF2-40B4-BE49-F238E27FC236}">
                      <a16:creationId xmlns:a16="http://schemas.microsoft.com/office/drawing/2014/main" id="{26D220E1-4E87-BB58-171D-22F5D6CD01D0}"/>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8" name="Oval 27">
                  <a:extLst>
                    <a:ext uri="{FF2B5EF4-FFF2-40B4-BE49-F238E27FC236}">
                      <a16:creationId xmlns:a16="http://schemas.microsoft.com/office/drawing/2014/main" id="{F1482C77-0C02-87E5-D987-5A83F26B19CF}"/>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9" name="Oval 28">
                  <a:extLst>
                    <a:ext uri="{FF2B5EF4-FFF2-40B4-BE49-F238E27FC236}">
                      <a16:creationId xmlns:a16="http://schemas.microsoft.com/office/drawing/2014/main" id="{64275FE9-0FC5-9E38-10D2-07FEA56B0A1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0" name="Oval 29">
                  <a:extLst>
                    <a:ext uri="{FF2B5EF4-FFF2-40B4-BE49-F238E27FC236}">
                      <a16:creationId xmlns:a16="http://schemas.microsoft.com/office/drawing/2014/main" id="{CDA1B473-9C9E-FF91-68A0-B564476F1B24}"/>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9" name="Straight Connector 8">
                <a:extLst>
                  <a:ext uri="{FF2B5EF4-FFF2-40B4-BE49-F238E27FC236}">
                    <a16:creationId xmlns:a16="http://schemas.microsoft.com/office/drawing/2014/main" id="{3A0978BC-CEA4-C6FA-CC82-B4BC042B2039}"/>
                  </a:ext>
                </a:extLst>
              </p:cNvPr>
              <p:cNvCxnSpPr>
                <a:cxnSpLocks/>
                <a:stCxn id="27" idx="3"/>
                <a:endCxn id="24"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B6F3FA87-A4AE-F02B-C825-8C57E5BCCDD5}"/>
                </a:ext>
              </a:extLst>
            </p:cNvPr>
            <p:cNvCxnSpPr>
              <a:cxnSpLocks/>
              <a:stCxn id="27" idx="6"/>
              <a:endCxn id="28"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6291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DFS Recursively (more common)</a:t>
            </a:r>
          </a:p>
        </p:txBody>
      </p:sp>
      <p:sp>
        <p:nvSpPr>
          <p:cNvPr id="43" name="TextBox 42"/>
          <p:cNvSpPr txBox="1"/>
          <p:nvPr/>
        </p:nvSpPr>
        <p:spPr>
          <a:xfrm>
            <a:off x="105865" y="1866236"/>
            <a:ext cx="8686800" cy="3970318"/>
          </a:xfrm>
          <a:prstGeom prst="rect">
            <a:avLst/>
          </a:prstGeom>
          <a:noFill/>
        </p:spPr>
        <p:txBody>
          <a:bodyPr wrap="square" rtlCol="0">
            <a:spAutoFit/>
          </a:bodyPr>
          <a:lstStyle/>
          <a:p>
            <a:r>
              <a:rPr lang="en-US" sz="2800" dirty="0"/>
              <a:t>void </a:t>
            </a:r>
            <a:r>
              <a:rPr lang="en-US" sz="2800" dirty="0" err="1"/>
              <a:t>dfs</a:t>
            </a:r>
            <a:r>
              <a:rPr lang="en-US" sz="2800" dirty="0"/>
              <a:t>(graph, </a:t>
            </a:r>
            <a:r>
              <a:rPr lang="en-US" sz="2800" dirty="0" err="1"/>
              <a:t>curr</a:t>
            </a:r>
            <a:r>
              <a:rPr lang="en-US" sz="2800" dirty="0"/>
              <a:t>){</a:t>
            </a:r>
          </a:p>
          <a:p>
            <a:r>
              <a:rPr lang="en-US" sz="2800" dirty="0"/>
              <a:t>	mark </a:t>
            </a:r>
            <a:r>
              <a:rPr lang="en-US" sz="2800" dirty="0" err="1"/>
              <a:t>curr</a:t>
            </a:r>
            <a:r>
              <a:rPr lang="en-US" sz="2800" dirty="0"/>
              <a:t> as “visited”;</a:t>
            </a:r>
          </a:p>
          <a:p>
            <a:r>
              <a:rPr lang="en-US" sz="2800" dirty="0"/>
              <a:t>	for (v : neighbors(current)){</a:t>
            </a:r>
          </a:p>
          <a:p>
            <a:r>
              <a:rPr lang="en-US" sz="2800" dirty="0"/>
              <a:t>		if (! v marked “visited”){</a:t>
            </a:r>
          </a:p>
          <a:p>
            <a:r>
              <a:rPr lang="en-US" sz="2800" dirty="0"/>
              <a:t>			</a:t>
            </a:r>
            <a:r>
              <a:rPr lang="en-US" sz="2800" dirty="0" err="1"/>
              <a:t>dfs</a:t>
            </a:r>
            <a:r>
              <a:rPr lang="en-US" sz="2800" dirty="0"/>
              <a:t>(graph, v);</a:t>
            </a:r>
          </a:p>
          <a:p>
            <a:r>
              <a:rPr lang="en-US" sz="2800" dirty="0"/>
              <a:t>		}</a:t>
            </a:r>
          </a:p>
          <a:p>
            <a:r>
              <a:rPr lang="en-US" sz="2800" dirty="0"/>
              <a:t>	}</a:t>
            </a:r>
          </a:p>
          <a:p>
            <a:r>
              <a:rPr lang="en-US" sz="2800" dirty="0"/>
              <a:t>	mark </a:t>
            </a:r>
            <a:r>
              <a:rPr lang="en-US" sz="2800" dirty="0" err="1"/>
              <a:t>curr</a:t>
            </a:r>
            <a:r>
              <a:rPr lang="en-US" sz="2800" dirty="0"/>
              <a:t> as “done”;</a:t>
            </a:r>
          </a:p>
          <a:p>
            <a:r>
              <a:rPr lang="en-US" sz="28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88200AC9-7D9A-1925-52EB-C7B86A898E60}"/>
              </a:ext>
            </a:extLst>
          </p:cNvPr>
          <p:cNvGrpSpPr/>
          <p:nvPr/>
        </p:nvGrpSpPr>
        <p:grpSpPr>
          <a:xfrm>
            <a:off x="7543800" y="3714388"/>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7908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589D-DD2B-0072-9A9F-44244F4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EEE7-7808-13FE-18FA-87C4E85BCDC9}"/>
              </a:ext>
            </a:extLst>
          </p:cNvPr>
          <p:cNvSpPr>
            <a:spLocks noGrp="1"/>
          </p:cNvSpPr>
          <p:nvPr>
            <p:ph type="title"/>
          </p:nvPr>
        </p:nvSpPr>
        <p:spPr/>
        <p:txBody>
          <a:bodyPr>
            <a:normAutofit/>
          </a:bodyPr>
          <a:lstStyle/>
          <a:p>
            <a:r>
              <a:rPr lang="en-US" dirty="0"/>
              <a:t>DFS – Worked Example</a:t>
            </a:r>
          </a:p>
        </p:txBody>
      </p:sp>
      <p:sp>
        <p:nvSpPr>
          <p:cNvPr id="3" name="TextBox 2">
            <a:extLst>
              <a:ext uri="{FF2B5EF4-FFF2-40B4-BE49-F238E27FC236}">
                <a16:creationId xmlns:a16="http://schemas.microsoft.com/office/drawing/2014/main" id="{8CD7599C-F16A-B059-0C92-B0C55CDC160A}"/>
              </a:ext>
            </a:extLst>
          </p:cNvPr>
          <p:cNvSpPr txBox="1"/>
          <p:nvPr/>
        </p:nvSpPr>
        <p:spPr>
          <a:xfrm>
            <a:off x="311300" y="4450870"/>
            <a:ext cx="5110630" cy="2246769"/>
          </a:xfrm>
          <a:prstGeom prst="rect">
            <a:avLst/>
          </a:prstGeom>
          <a:noFill/>
        </p:spPr>
        <p:txBody>
          <a:bodyPr wrap="none" rtlCol="0">
            <a:spAutoFit/>
          </a:bodyPr>
          <a:lstStyle/>
          <a:p>
            <a:r>
              <a:rPr lang="en-US" sz="2800" dirty="0">
                <a:solidFill>
                  <a:srgbClr val="FF0000"/>
                </a:solidFill>
              </a:rPr>
              <a:t>Starting from the current node:</a:t>
            </a:r>
          </a:p>
          <a:p>
            <a:r>
              <a:rPr lang="en-US" sz="2800" dirty="0">
                <a:solidFill>
                  <a:srgbClr val="FF0000"/>
                </a:solidFill>
              </a:rPr>
              <a:t>    for each unvisited neighbor:</a:t>
            </a:r>
          </a:p>
          <a:p>
            <a:r>
              <a:rPr lang="en-US" sz="2800" dirty="0">
                <a:solidFill>
                  <a:srgbClr val="FF0000"/>
                </a:solidFill>
              </a:rPr>
              <a:t>        mark the neighbor as visited</a:t>
            </a:r>
          </a:p>
          <a:p>
            <a:r>
              <a:rPr lang="en-US" sz="2800" dirty="0">
                <a:solidFill>
                  <a:srgbClr val="FF0000"/>
                </a:solidFill>
              </a:rPr>
              <a:t>        do a DFS from the neighbor</a:t>
            </a:r>
          </a:p>
          <a:p>
            <a:r>
              <a:rPr lang="en-US" sz="28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1D3A3091-C629-A857-AF5C-735442B2150D}"/>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6AF7FF17-3F04-7C8B-3A0F-4BC05B6F83A8}"/>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8F488023-8334-C431-2978-04F99C0218F4}"/>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0517DDD-0345-09D5-F81A-D9C19CD73E09}"/>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7E02A3D7-F72D-3988-D0EB-E35D15316BD3}"/>
              </a:ext>
            </a:extLst>
          </p:cNvPr>
          <p:cNvGrpSpPr/>
          <p:nvPr/>
        </p:nvGrpSpPr>
        <p:grpSpPr>
          <a:xfrm>
            <a:off x="752302" y="1569705"/>
            <a:ext cx="4385159" cy="2420607"/>
            <a:chOff x="6934200" y="4047495"/>
            <a:chExt cx="4385159" cy="2420607"/>
          </a:xfrm>
        </p:grpSpPr>
        <p:grpSp>
          <p:nvGrpSpPr>
            <p:cNvPr id="10" name="Group 9">
              <a:extLst>
                <a:ext uri="{FF2B5EF4-FFF2-40B4-BE49-F238E27FC236}">
                  <a16:creationId xmlns:a16="http://schemas.microsoft.com/office/drawing/2014/main" id="{377FC970-CC36-C096-69E7-DB70031B416D}"/>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23C29F8A-5331-C503-0DA4-C0F6FC6752ED}"/>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97829BA5-429D-723C-B30E-5CFE4AA093D9}"/>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71F9DE4-4A65-BE7D-F60D-7DDEF5F6B4F3}"/>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944CBFB-F9F7-BA1C-DE6E-591025869C2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F7E111-08C9-FC1F-C832-7E2FD47C9A2E}"/>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CEE6A5-BCE9-A9E2-902E-A545D900A66D}"/>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C5A6CD9-D32E-2503-637C-E5CBF14909A6}"/>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361374-D27D-C505-AE05-95C565CB264C}"/>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CAA2C8E-4FDF-A36D-3C19-402FE4F23D3F}"/>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9A6F90-FF38-0BCD-420C-A0B3781E2BBA}"/>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5C2EA1B-19CC-30E3-C77A-00432CD0F5CD}"/>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041241B-2F78-56F6-0445-70F83A03EF73}"/>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86E6C-73EA-DF42-8C40-9673F7168192}"/>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A5646B1-918D-B9F3-89A2-E464F61493E1}"/>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D4100F48-0C60-9629-4724-4C43B871B8D6}"/>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00D0E257-5601-F5B8-96A9-4183038B65C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4F6B1D85-6312-FDAE-89AA-70B2A6AC5CD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D28E099B-C606-1AC4-5D81-33E8764C96C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E2857D-1260-6ECD-4B23-717BFA4CE993}"/>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0ED91393-043A-4946-6BAF-1A593432A826}"/>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62C08A1E-0216-48F9-9F5A-1800C93AC320}"/>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BA91EE9A-DC76-098F-5E4E-4172D2B5E95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957024D-72C0-0C23-BE41-E087C73A80B5}"/>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3CFBA753-90FC-AA22-E3B7-F37EBA7C56B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638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595"/>
            <a:ext cx="10515600" cy="1325563"/>
          </a:xfrm>
        </p:spPr>
        <p:txBody>
          <a:bodyPr/>
          <a:lstStyle/>
          <a:p>
            <a:r>
              <a:rPr lang="en-US" dirty="0"/>
              <a:t>Using DFS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295401"/>
                <a:ext cx="7525415" cy="5531984"/>
              </a:xfrm>
            </p:spPr>
            <p:txBody>
              <a:bodyPr>
                <a:normAutofit fontScale="92500" lnSpcReduction="10000"/>
              </a:bodyPr>
              <a:lstStyle/>
              <a:p>
                <a:r>
                  <a:rPr lang="en-US" dirty="0"/>
                  <a:t>Consider the “visited times” and “done times” </a:t>
                </a:r>
              </a:p>
              <a:p>
                <a:r>
                  <a:rPr lang="en-US" dirty="0"/>
                  <a:t>Edges can be categorized:</a:t>
                </a:r>
              </a:p>
              <a:p>
                <a:pPr lvl="1"/>
                <a:r>
                  <a:rPr lang="en-US" dirty="0">
                    <a:solidFill>
                      <a:schemeClr val="accent3">
                        <a:lumMod val="75000"/>
                      </a:schemeClr>
                    </a:solidFill>
                  </a:rPr>
                  <a:t>Tree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was followed when pushing</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b="0" dirty="0"/>
                  <a:t> when </a:t>
                </a:r>
                <a14:m>
                  <m:oMath xmlns:m="http://schemas.openxmlformats.org/officeDocument/2006/math">
                    <m:r>
                      <a:rPr lang="en-US" b="0" i="1" smtClean="0">
                        <a:latin typeface="Cambria Math" panose="02040503050406030204" pitchFamily="18" charset="0"/>
                      </a:rPr>
                      <m:t>𝑏</m:t>
                    </m:r>
                  </m:oMath>
                </a14:m>
                <a:r>
                  <a:rPr lang="en-US" dirty="0"/>
                  <a:t> was unvisited when we were at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solidFill>
                      <a:srgbClr val="7030A0"/>
                    </a:solidFill>
                  </a:rPr>
                  <a:t>Back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an “ancestor”</a:t>
                </a:r>
              </a:p>
              <a:p>
                <a:pPr lvl="2"/>
                <a14:m>
                  <m:oMath xmlns:m="http://schemas.openxmlformats.org/officeDocument/2006/math">
                    <m:r>
                      <a:rPr lang="en-US" b="0" i="1" smtClean="0">
                        <a:latin typeface="Cambria Math" panose="02040503050406030204" pitchFamily="18" charset="0"/>
                      </a:rPr>
                      <m:t>𝑎</m:t>
                    </m:r>
                  </m:oMath>
                </a14:m>
                <a:r>
                  <a:rPr lang="en-US" b="0" dirty="0"/>
                  <a:t> and </a:t>
                </a:r>
                <a14:m>
                  <m:oMath xmlns:m="http://schemas.openxmlformats.org/officeDocument/2006/math">
                    <m:r>
                      <a:rPr lang="en-US" b="0" i="1" smtClean="0">
                        <a:latin typeface="Cambria Math" panose="02040503050406030204" pitchFamily="18" charset="0"/>
                      </a:rPr>
                      <m:t>𝑏</m:t>
                    </m:r>
                  </m:oMath>
                </a14:m>
                <a:r>
                  <a:rPr lang="en-US" dirty="0"/>
                  <a:t> visited but not done when we saw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1"/>
                <a:r>
                  <a:rPr lang="en-US" dirty="0">
                    <a:solidFill>
                      <a:srgbClr val="FF33CC"/>
                    </a:solidFill>
                  </a:rPr>
                  <a:t>Forward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“descendent”</a:t>
                </a:r>
              </a:p>
              <a:p>
                <a:pPr lvl="2"/>
                <a14:m>
                  <m:oMath xmlns:m="http://schemas.openxmlformats.org/officeDocument/2006/math">
                    <m:r>
                      <a:rPr lang="en-US" b="0" i="1" smtClean="0">
                        <a:latin typeface="Cambria Math" panose="02040503050406030204" pitchFamily="18" charset="0"/>
                      </a:rPr>
                      <m:t>𝑏</m:t>
                    </m:r>
                  </m:oMath>
                </a14:m>
                <a:r>
                  <a:rPr lang="en-US" dirty="0"/>
                  <a:t> was visited and done between when </a:t>
                </a:r>
                <a14:m>
                  <m:oMath xmlns:m="http://schemas.openxmlformats.org/officeDocument/2006/math">
                    <m:r>
                      <a:rPr lang="en-US" b="0" i="1" smtClean="0">
                        <a:latin typeface="Cambria Math" panose="02040503050406030204" pitchFamily="18" charset="0"/>
                      </a:rPr>
                      <m:t>𝑎</m:t>
                    </m:r>
                  </m:oMath>
                </a14:m>
                <a:r>
                  <a:rPr lang="en-US" dirty="0"/>
                  <a:t> was visited and done</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0"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endParaRPr lang="en-US" dirty="0"/>
              </a:p>
              <a:p>
                <a:pPr lvl="1"/>
                <a:r>
                  <a:rPr lang="en-US" dirty="0">
                    <a:solidFill>
                      <a:srgbClr val="FF9933"/>
                    </a:solidFill>
                  </a:rPr>
                  <a:t>Cross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node that doesn’t connect to </a:t>
                </a:r>
                <a14:m>
                  <m:oMath xmlns:m="http://schemas.openxmlformats.org/officeDocument/2006/math">
                    <m:r>
                      <a:rPr lang="en-US" b="0" i="1" smtClean="0">
                        <a:latin typeface="Cambria Math" panose="02040503050406030204" pitchFamily="18" charset="0"/>
                      </a:rPr>
                      <m:t>𝑎</m:t>
                    </m:r>
                  </m:oMath>
                </a14:m>
                <a:endParaRPr lang="en-US" dirty="0"/>
              </a:p>
              <a:p>
                <a:pPr lvl="2"/>
                <a14:m>
                  <m:oMath xmlns:m="http://schemas.openxmlformats.org/officeDocument/2006/math">
                    <m:r>
                      <a:rPr lang="en-US" b="0" i="1" smtClean="0">
                        <a:latin typeface="Cambria Math" panose="02040503050406030204" pitchFamily="18" charset="0"/>
                      </a:rPr>
                      <m:t>𝑏</m:t>
                    </m:r>
                  </m:oMath>
                </a14:m>
                <a:r>
                  <a:rPr lang="en-US" dirty="0"/>
                  <a:t> was seen and done before </a:t>
                </a:r>
                <a14:m>
                  <m:oMath xmlns:m="http://schemas.openxmlformats.org/officeDocument/2006/math">
                    <m:r>
                      <a:rPr lang="en-US" b="0" i="1" smtClean="0">
                        <a:latin typeface="Cambria Math" panose="02040503050406030204" pitchFamily="18" charset="0"/>
                      </a:rPr>
                      <m:t>𝑎</m:t>
                    </m:r>
                  </m:oMath>
                </a14:m>
                <a:r>
                  <a:rPr lang="en-US" dirty="0"/>
                  <a:t> was ever visited</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295401"/>
                <a:ext cx="7525415" cy="5531984"/>
              </a:xfrm>
              <a:blipFill>
                <a:blip r:embed="rId2"/>
                <a:stretch>
                  <a:fillRect l="-1216" t="-2315" b="-551"/>
                </a:stretch>
              </a:blipFill>
            </p:spPr>
            <p:txBody>
              <a:bodyPr/>
              <a:lstStyle/>
              <a:p>
                <a:r>
                  <a:rPr lang="en-US">
                    <a:noFill/>
                  </a:rPr>
                  <a:t> </a:t>
                </a:r>
              </a:p>
            </p:txBody>
          </p:sp>
        </mc:Fallback>
      </mc:AlternateContent>
      <p:sp>
        <p:nvSpPr>
          <p:cNvPr id="6" name="Rectangle 5" descr="For this class we only care about back edges.">
            <a:extLst>
              <a:ext uri="{FF2B5EF4-FFF2-40B4-BE49-F238E27FC236}">
                <a16:creationId xmlns:a16="http://schemas.microsoft.com/office/drawing/2014/main" id="{1B8A8A14-3CBF-B60B-19E3-50826B767932}"/>
              </a:ext>
            </a:extLst>
          </p:cNvPr>
          <p:cNvSpPr/>
          <p:nvPr/>
        </p:nvSpPr>
        <p:spPr>
          <a:xfrm>
            <a:off x="396240" y="3083319"/>
            <a:ext cx="5939716" cy="1245456"/>
          </a:xfrm>
          <a:prstGeom prst="rect">
            <a:avLst/>
          </a:prstGeom>
          <a:solidFill>
            <a:srgbClr val="FFF2CC">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EFEBF43D-377C-816B-B534-D9CB45ABF82D}"/>
              </a:ext>
            </a:extLst>
          </p:cNvPr>
          <p:cNvGrpSpPr/>
          <p:nvPr/>
        </p:nvGrpSpPr>
        <p:grpSpPr>
          <a:xfrm>
            <a:off x="7051376" y="1738815"/>
            <a:ext cx="5015358" cy="3502771"/>
            <a:chOff x="7051376" y="1738815"/>
            <a:chExt cx="5015358" cy="3502771"/>
          </a:xfrm>
        </p:grpSpPr>
        <p:sp>
          <p:nvSpPr>
            <p:cNvPr id="5" name="TextBox 4">
              <a:extLst>
                <a:ext uri="{FF2B5EF4-FFF2-40B4-BE49-F238E27FC236}">
                  <a16:creationId xmlns:a16="http://schemas.microsoft.com/office/drawing/2014/main" id="{637040C6-C78B-8017-6D73-97D93EB826C3}"/>
                </a:ext>
              </a:extLst>
            </p:cNvPr>
            <p:cNvSpPr txBox="1"/>
            <p:nvPr/>
          </p:nvSpPr>
          <p:spPr>
            <a:xfrm>
              <a:off x="7051376" y="2498155"/>
              <a:ext cx="1055802" cy="646331"/>
            </a:xfrm>
            <a:prstGeom prst="rect">
              <a:avLst/>
            </a:prstGeom>
            <a:noFill/>
          </p:spPr>
          <p:txBody>
            <a:bodyPr wrap="none" rtlCol="0">
              <a:spAutoFit/>
            </a:bodyPr>
            <a:lstStyle/>
            <a:p>
              <a:r>
                <a:rPr lang="en-US" dirty="0"/>
                <a:t>Visited: 0</a:t>
              </a:r>
            </a:p>
            <a:p>
              <a:r>
                <a:rPr lang="en-US" dirty="0"/>
                <a:t>Done: 15</a:t>
              </a:r>
            </a:p>
          </p:txBody>
        </p:sp>
        <p:sp>
          <p:nvSpPr>
            <p:cNvPr id="9" name="TextBox 8">
              <a:extLst>
                <a:ext uri="{FF2B5EF4-FFF2-40B4-BE49-F238E27FC236}">
                  <a16:creationId xmlns:a16="http://schemas.microsoft.com/office/drawing/2014/main" id="{8C2373CC-A627-D9ED-0BCD-FD194BEA0AC1}"/>
                </a:ext>
              </a:extLst>
            </p:cNvPr>
            <p:cNvSpPr txBox="1"/>
            <p:nvPr/>
          </p:nvSpPr>
          <p:spPr>
            <a:xfrm>
              <a:off x="8400192" y="1738815"/>
              <a:ext cx="1108701" cy="646331"/>
            </a:xfrm>
            <a:prstGeom prst="rect">
              <a:avLst/>
            </a:prstGeom>
            <a:noFill/>
          </p:spPr>
          <p:txBody>
            <a:bodyPr wrap="none" rtlCol="0">
              <a:spAutoFit/>
            </a:bodyPr>
            <a:lstStyle/>
            <a:p>
              <a:r>
                <a:rPr lang="en-US" dirty="0"/>
                <a:t>Visited : 1</a:t>
              </a:r>
            </a:p>
            <a:p>
              <a:r>
                <a:rPr lang="en-US" dirty="0"/>
                <a:t>Done: 8</a:t>
              </a:r>
            </a:p>
          </p:txBody>
        </p:sp>
        <p:sp>
          <p:nvSpPr>
            <p:cNvPr id="13" name="TextBox 12">
              <a:extLst>
                <a:ext uri="{FF2B5EF4-FFF2-40B4-BE49-F238E27FC236}">
                  <a16:creationId xmlns:a16="http://schemas.microsoft.com/office/drawing/2014/main" id="{25EF6F6B-53A1-1B5A-5296-E139589D5427}"/>
                </a:ext>
              </a:extLst>
            </p:cNvPr>
            <p:cNvSpPr txBox="1"/>
            <p:nvPr/>
          </p:nvSpPr>
          <p:spPr>
            <a:xfrm>
              <a:off x="9835743" y="1769458"/>
              <a:ext cx="1108701" cy="646331"/>
            </a:xfrm>
            <a:prstGeom prst="rect">
              <a:avLst/>
            </a:prstGeom>
            <a:noFill/>
          </p:spPr>
          <p:txBody>
            <a:bodyPr wrap="none" rtlCol="0">
              <a:spAutoFit/>
            </a:bodyPr>
            <a:lstStyle/>
            <a:p>
              <a:r>
                <a:rPr lang="en-US" dirty="0"/>
                <a:t>Visited : 2</a:t>
              </a:r>
            </a:p>
            <a:p>
              <a:r>
                <a:rPr lang="en-US" dirty="0"/>
                <a:t>Done: 7</a:t>
              </a:r>
            </a:p>
          </p:txBody>
        </p:sp>
        <p:sp>
          <p:nvSpPr>
            <p:cNvPr id="14" name="TextBox 13">
              <a:extLst>
                <a:ext uri="{FF2B5EF4-FFF2-40B4-BE49-F238E27FC236}">
                  <a16:creationId xmlns:a16="http://schemas.microsoft.com/office/drawing/2014/main" id="{2602DFE7-756D-9FCD-789C-1C34AF7E9F41}"/>
                </a:ext>
              </a:extLst>
            </p:cNvPr>
            <p:cNvSpPr txBox="1"/>
            <p:nvPr/>
          </p:nvSpPr>
          <p:spPr>
            <a:xfrm>
              <a:off x="10817858" y="2189528"/>
              <a:ext cx="1108701" cy="646331"/>
            </a:xfrm>
            <a:prstGeom prst="rect">
              <a:avLst/>
            </a:prstGeom>
            <a:noFill/>
          </p:spPr>
          <p:txBody>
            <a:bodyPr wrap="none" rtlCol="0">
              <a:spAutoFit/>
            </a:bodyPr>
            <a:lstStyle/>
            <a:p>
              <a:r>
                <a:rPr lang="en-US" dirty="0"/>
                <a:t>Visited : 3</a:t>
              </a:r>
            </a:p>
            <a:p>
              <a:r>
                <a:rPr lang="en-US" dirty="0"/>
                <a:t>Done: 6</a:t>
              </a:r>
            </a:p>
          </p:txBody>
        </p:sp>
        <p:sp>
          <p:nvSpPr>
            <p:cNvPr id="15" name="TextBox 14">
              <a:extLst>
                <a:ext uri="{FF2B5EF4-FFF2-40B4-BE49-F238E27FC236}">
                  <a16:creationId xmlns:a16="http://schemas.microsoft.com/office/drawing/2014/main" id="{DEC26F77-4D49-3950-8D22-8923AC36C2A4}"/>
                </a:ext>
              </a:extLst>
            </p:cNvPr>
            <p:cNvSpPr txBox="1"/>
            <p:nvPr/>
          </p:nvSpPr>
          <p:spPr>
            <a:xfrm>
              <a:off x="10958033" y="4504684"/>
              <a:ext cx="1108701" cy="646331"/>
            </a:xfrm>
            <a:prstGeom prst="rect">
              <a:avLst/>
            </a:prstGeom>
            <a:noFill/>
          </p:spPr>
          <p:txBody>
            <a:bodyPr wrap="none" rtlCol="0">
              <a:spAutoFit/>
            </a:bodyPr>
            <a:lstStyle/>
            <a:p>
              <a:r>
                <a:rPr lang="en-US" dirty="0"/>
                <a:t>Visited : 4</a:t>
              </a:r>
            </a:p>
            <a:p>
              <a:r>
                <a:rPr lang="en-US" dirty="0"/>
                <a:t>Done: 5</a:t>
              </a:r>
            </a:p>
          </p:txBody>
        </p:sp>
        <p:grpSp>
          <p:nvGrpSpPr>
            <p:cNvPr id="27" name="Group 26">
              <a:extLst>
                <a:ext uri="{FF2B5EF4-FFF2-40B4-BE49-F238E27FC236}">
                  <a16:creationId xmlns:a16="http://schemas.microsoft.com/office/drawing/2014/main" id="{53B7506F-586D-4F12-6E6A-2136E400F4CD}"/>
                </a:ext>
              </a:extLst>
            </p:cNvPr>
            <p:cNvGrpSpPr/>
            <p:nvPr/>
          </p:nvGrpSpPr>
          <p:grpSpPr>
            <a:xfrm>
              <a:off x="7620000" y="2371126"/>
              <a:ext cx="4385159" cy="2420607"/>
              <a:chOff x="6934200" y="4047495"/>
              <a:chExt cx="4385159" cy="2420607"/>
            </a:xfrm>
          </p:grpSpPr>
          <p:grpSp>
            <p:nvGrpSpPr>
              <p:cNvPr id="31" name="Group 30">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cxnSpLocks/>
                    <a:stCxn id="50" idx="5"/>
                    <a:endCxn id="55"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cxnSpLocks/>
                    <a:stCxn id="57" idx="4"/>
                    <a:endCxn id="55" idx="0"/>
                  </p:cNvCxnSpPr>
                  <p:nvPr/>
                </p:nvCxnSpPr>
                <p:spPr>
                  <a:xfrm flipH="1">
                    <a:off x="5257802" y="4262423"/>
                    <a:ext cx="305431" cy="1876245"/>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rgbClr val="FF993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rgbClr val="FF33C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E9958E16-56EF-E87C-97A5-B5B68FBFEDCF}"/>
                  </a:ext>
                </a:extLst>
              </p:cNvPr>
              <p:cNvCxnSpPr>
                <a:cxnSpLocks/>
                <a:stCxn id="54" idx="6"/>
                <a:endCxn id="55" idx="3"/>
              </p:cNvCxnSpPr>
              <p:nvPr/>
            </p:nvCxnSpPr>
            <p:spPr>
              <a:xfrm flipV="1">
                <a:off x="9025917" y="6261553"/>
                <a:ext cx="1068340" cy="46793"/>
              </a:xfrm>
              <a:prstGeom prst="line">
                <a:avLst/>
              </a:prstGeom>
              <a:ln w="57150">
                <a:solidFill>
                  <a:srgbClr val="FF99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2814FC-926C-D602-D14E-28CFA754FC90}"/>
                </a:ext>
              </a:extLst>
            </p:cNvPr>
            <p:cNvSpPr txBox="1"/>
            <p:nvPr/>
          </p:nvSpPr>
          <p:spPr>
            <a:xfrm>
              <a:off x="7248312" y="3989297"/>
              <a:ext cx="1108701" cy="646331"/>
            </a:xfrm>
            <a:prstGeom prst="rect">
              <a:avLst/>
            </a:prstGeom>
            <a:noFill/>
          </p:spPr>
          <p:txBody>
            <a:bodyPr wrap="none" rtlCol="0">
              <a:spAutoFit/>
            </a:bodyPr>
            <a:lstStyle/>
            <a:p>
              <a:r>
                <a:rPr lang="en-US" dirty="0"/>
                <a:t>Visited : 9</a:t>
              </a:r>
            </a:p>
            <a:p>
              <a:r>
                <a:rPr lang="en-US" dirty="0"/>
                <a:t>Done: 14 </a:t>
              </a:r>
            </a:p>
          </p:txBody>
        </p:sp>
        <p:sp>
          <p:nvSpPr>
            <p:cNvPr id="25" name="TextBox 24">
              <a:extLst>
                <a:ext uri="{FF2B5EF4-FFF2-40B4-BE49-F238E27FC236}">
                  <a16:creationId xmlns:a16="http://schemas.microsoft.com/office/drawing/2014/main" id="{9847A006-6587-9141-4A2A-B0B5DC4D6D60}"/>
                </a:ext>
              </a:extLst>
            </p:cNvPr>
            <p:cNvSpPr txBox="1"/>
            <p:nvPr/>
          </p:nvSpPr>
          <p:spPr>
            <a:xfrm>
              <a:off x="9488075" y="3034367"/>
              <a:ext cx="1225720" cy="646331"/>
            </a:xfrm>
            <a:prstGeom prst="rect">
              <a:avLst/>
            </a:prstGeom>
            <a:noFill/>
          </p:spPr>
          <p:txBody>
            <a:bodyPr wrap="none" rtlCol="0">
              <a:spAutoFit/>
            </a:bodyPr>
            <a:lstStyle/>
            <a:p>
              <a:r>
                <a:rPr lang="en-US" dirty="0"/>
                <a:t>Visited : 10</a:t>
              </a:r>
            </a:p>
            <a:p>
              <a:r>
                <a:rPr lang="en-US" dirty="0"/>
                <a:t>Done: 13 </a:t>
              </a:r>
            </a:p>
          </p:txBody>
        </p:sp>
        <p:sp>
          <p:nvSpPr>
            <p:cNvPr id="26" name="TextBox 25">
              <a:extLst>
                <a:ext uri="{FF2B5EF4-FFF2-40B4-BE49-F238E27FC236}">
                  <a16:creationId xmlns:a16="http://schemas.microsoft.com/office/drawing/2014/main" id="{CB4C1517-411B-677D-7B95-09FAEBAE632E}"/>
                </a:ext>
              </a:extLst>
            </p:cNvPr>
            <p:cNvSpPr txBox="1"/>
            <p:nvPr/>
          </p:nvSpPr>
          <p:spPr>
            <a:xfrm>
              <a:off x="9611646" y="4595255"/>
              <a:ext cx="1225720" cy="646331"/>
            </a:xfrm>
            <a:prstGeom prst="rect">
              <a:avLst/>
            </a:prstGeom>
            <a:noFill/>
          </p:spPr>
          <p:txBody>
            <a:bodyPr wrap="none" rtlCol="0">
              <a:spAutoFit/>
            </a:bodyPr>
            <a:lstStyle/>
            <a:p>
              <a:r>
                <a:rPr lang="en-US" dirty="0"/>
                <a:t>Visited : 11</a:t>
              </a:r>
            </a:p>
            <a:p>
              <a:r>
                <a:rPr lang="en-US" dirty="0"/>
                <a:t>Done: 12</a:t>
              </a:r>
            </a:p>
          </p:txBody>
        </p:sp>
      </p:grpSp>
    </p:spTree>
    <p:extLst>
      <p:ext uri="{BB962C8B-B14F-4D97-AF65-F5344CB8AC3E}">
        <p14:creationId xmlns:p14="http://schemas.microsoft.com/office/powerpoint/2010/main" val="3749809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5E17-3E9F-B9AE-7A20-33EABD73B4AB}"/>
              </a:ext>
            </a:extLst>
          </p:cNvPr>
          <p:cNvSpPr>
            <a:spLocks noGrp="1"/>
          </p:cNvSpPr>
          <p:nvPr>
            <p:ph type="title"/>
          </p:nvPr>
        </p:nvSpPr>
        <p:spPr/>
        <p:txBody>
          <a:bodyPr/>
          <a:lstStyle/>
          <a:p>
            <a:r>
              <a:rPr lang="en-US" dirty="0"/>
              <a:t>Back Edges</a:t>
            </a:r>
          </a:p>
        </p:txBody>
      </p:sp>
      <p:sp>
        <p:nvSpPr>
          <p:cNvPr id="3" name="Content Placeholder 2">
            <a:extLst>
              <a:ext uri="{FF2B5EF4-FFF2-40B4-BE49-F238E27FC236}">
                <a16:creationId xmlns:a16="http://schemas.microsoft.com/office/drawing/2014/main" id="{8078C3A9-45D7-FF17-BBD2-A14D04F500C9}"/>
              </a:ext>
            </a:extLst>
          </p:cNvPr>
          <p:cNvSpPr>
            <a:spLocks noGrp="1"/>
          </p:cNvSpPr>
          <p:nvPr>
            <p:ph idx="1"/>
          </p:nvPr>
        </p:nvSpPr>
        <p:spPr/>
        <p:txBody>
          <a:bodyPr/>
          <a:lstStyle/>
          <a:p>
            <a:r>
              <a:rPr lang="en-US" dirty="0"/>
              <a:t>Behavior of DFS:</a:t>
            </a:r>
          </a:p>
          <a:p>
            <a:pPr lvl="1"/>
            <a:r>
              <a:rPr lang="en-US" dirty="0"/>
              <a:t>“Visit everything reachable from the current node before going back”</a:t>
            </a:r>
          </a:p>
          <a:p>
            <a:r>
              <a:rPr lang="en-US" dirty="0"/>
              <a:t>Back Edge:</a:t>
            </a:r>
          </a:p>
          <a:p>
            <a:pPr lvl="1"/>
            <a:r>
              <a:rPr lang="en-US" dirty="0"/>
              <a:t>The current node’s neighbor is an “in progress” node</a:t>
            </a:r>
          </a:p>
          <a:p>
            <a:pPr lvl="1"/>
            <a:r>
              <a:rPr lang="en-US" dirty="0"/>
              <a:t>Since that other node is “in progress”, the current node is reachable from it</a:t>
            </a:r>
          </a:p>
          <a:p>
            <a:pPr lvl="1"/>
            <a:r>
              <a:rPr lang="en-US" dirty="0"/>
              <a:t>The back edge is a path to that other node</a:t>
            </a:r>
          </a:p>
          <a:p>
            <a:pPr lvl="1"/>
            <a:r>
              <a:rPr lang="en-US" b="1" dirty="0"/>
              <a:t>Cycle!</a:t>
            </a:r>
          </a:p>
          <a:p>
            <a:pPr lvl="1"/>
            <a:endParaRPr lang="en-US" dirty="0"/>
          </a:p>
        </p:txBody>
      </p:sp>
      <p:grpSp>
        <p:nvGrpSpPr>
          <p:cNvPr id="4" name="Group 3"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11DCC4DB-F032-4A81-897E-295E7BE1228A}"/>
              </a:ext>
            </a:extLst>
          </p:cNvPr>
          <p:cNvGrpSpPr/>
          <p:nvPr/>
        </p:nvGrpSpPr>
        <p:grpSpPr>
          <a:xfrm>
            <a:off x="7371080" y="4232548"/>
            <a:ext cx="4385159" cy="2420607"/>
            <a:chOff x="6934200" y="4047495"/>
            <a:chExt cx="4385159" cy="2420607"/>
          </a:xfrm>
        </p:grpSpPr>
        <p:grpSp>
          <p:nvGrpSpPr>
            <p:cNvPr id="5" name="Group 4">
              <a:extLst>
                <a:ext uri="{FF2B5EF4-FFF2-40B4-BE49-F238E27FC236}">
                  <a16:creationId xmlns:a16="http://schemas.microsoft.com/office/drawing/2014/main" id="{C005497C-CF95-1114-2C14-12B127FE61D0}"/>
                </a:ext>
              </a:extLst>
            </p:cNvPr>
            <p:cNvGrpSpPr/>
            <p:nvPr/>
          </p:nvGrpSpPr>
          <p:grpSpPr>
            <a:xfrm>
              <a:off x="6934200" y="4047495"/>
              <a:ext cx="4385159" cy="2420607"/>
              <a:chOff x="1524000" y="2625729"/>
              <a:chExt cx="7044346" cy="3888478"/>
            </a:xfrm>
          </p:grpSpPr>
          <p:grpSp>
            <p:nvGrpSpPr>
              <p:cNvPr id="7" name="Group 6">
                <a:extLst>
                  <a:ext uri="{FF2B5EF4-FFF2-40B4-BE49-F238E27FC236}">
                    <a16:creationId xmlns:a16="http://schemas.microsoft.com/office/drawing/2014/main" id="{9C3D7E5C-709B-24DE-E459-C9E48E51A49E}"/>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BBFAE05B-7497-744C-A5DF-44FF38A1B758}"/>
                    </a:ext>
                  </a:extLst>
                </p:cNvPr>
                <p:cNvCxnSpPr>
                  <a:stCxn id="21" idx="7"/>
                  <a:endCxn id="22"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592929-9D37-C268-4973-01502CCD95DE}"/>
                    </a:ext>
                  </a:extLst>
                </p:cNvPr>
                <p:cNvCxnSpPr>
                  <a:stCxn id="22" idx="6"/>
                  <a:endCxn id="25"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8FA5CC-5DA7-01F1-2FEA-47026A9CE0CD}"/>
                    </a:ext>
                  </a:extLst>
                </p:cNvPr>
                <p:cNvCxnSpPr>
                  <a:stCxn id="21" idx="4"/>
                  <a:endCxn id="23"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D95AEC-5385-F86B-5C0C-1A605EBFA106}"/>
                    </a:ext>
                  </a:extLst>
                </p:cNvPr>
                <p:cNvCxnSpPr>
                  <a:stCxn id="24" idx="3"/>
                  <a:endCxn id="23"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9A9856-2110-929C-2296-629DD2719CB1}"/>
                    </a:ext>
                  </a:extLst>
                </p:cNvPr>
                <p:cNvCxnSpPr>
                  <a:stCxn id="26" idx="2"/>
                  <a:endCxn id="23"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4D2DCE-0948-D368-8B07-0373D6B6DB9E}"/>
                    </a:ext>
                  </a:extLst>
                </p:cNvPr>
                <p:cNvCxnSpPr>
                  <a:stCxn id="24" idx="5"/>
                  <a:endCxn id="26"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975036-CC03-E7BB-AF20-2A9B20DCB113}"/>
                    </a:ext>
                  </a:extLst>
                </p:cNvPr>
                <p:cNvCxnSpPr>
                  <a:cxnSpLocks/>
                  <a:stCxn id="22" idx="5"/>
                  <a:endCxn id="27"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A3F958-BEA5-B6DC-2BEA-0F03C1464AB6}"/>
                    </a:ext>
                  </a:extLst>
                </p:cNvPr>
                <p:cNvCxnSpPr>
                  <a:cxnSpLocks/>
                  <a:stCxn id="29" idx="4"/>
                  <a:endCxn id="2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34E752-806D-9EC0-9920-26490F7D20AC}"/>
                    </a:ext>
                  </a:extLst>
                </p:cNvPr>
                <p:cNvCxnSpPr>
                  <a:stCxn id="29" idx="2"/>
                  <a:endCxn id="25"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3B54E8-F1AA-8138-92DD-A90F692F291A}"/>
                    </a:ext>
                  </a:extLst>
                </p:cNvPr>
                <p:cNvCxnSpPr>
                  <a:stCxn id="28" idx="1"/>
                  <a:endCxn id="2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3FE647C-B33C-6D0A-EF08-464FB5072C0E}"/>
                    </a:ext>
                  </a:extLst>
                </p:cNvPr>
                <p:cNvCxnSpPr>
                  <a:stCxn id="28" idx="3"/>
                  <a:endCxn id="2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E8BCCA-3BA1-3DA5-95F5-49AE6F389185}"/>
                    </a:ext>
                  </a:extLst>
                </p:cNvPr>
                <p:cNvCxnSpPr>
                  <a:stCxn id="22" idx="4"/>
                  <a:endCxn id="23"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1DFB8EE-BA6D-03DB-6325-067BA39330C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2" name="Oval 21">
                  <a:extLst>
                    <a:ext uri="{FF2B5EF4-FFF2-40B4-BE49-F238E27FC236}">
                      <a16:creationId xmlns:a16="http://schemas.microsoft.com/office/drawing/2014/main" id="{5358D523-10D3-DC0A-A3AC-680CD3B6CBA1}"/>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a:extLst>
                    <a:ext uri="{FF2B5EF4-FFF2-40B4-BE49-F238E27FC236}">
                      <a16:creationId xmlns:a16="http://schemas.microsoft.com/office/drawing/2014/main" id="{E2709509-5AFA-9027-8CE6-DDF1E65BECC7}"/>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4" name="Oval 23">
                  <a:extLst>
                    <a:ext uri="{FF2B5EF4-FFF2-40B4-BE49-F238E27FC236}">
                      <a16:creationId xmlns:a16="http://schemas.microsoft.com/office/drawing/2014/main" id="{B891A546-AD77-7B39-D8ED-3CEF182E85ED}"/>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Oval 24">
                  <a:extLst>
                    <a:ext uri="{FF2B5EF4-FFF2-40B4-BE49-F238E27FC236}">
                      <a16:creationId xmlns:a16="http://schemas.microsoft.com/office/drawing/2014/main" id="{E17795D5-B07D-6BBC-0FD6-93D219AC2221}"/>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6" name="Oval 25">
                  <a:extLst>
                    <a:ext uri="{FF2B5EF4-FFF2-40B4-BE49-F238E27FC236}">
                      <a16:creationId xmlns:a16="http://schemas.microsoft.com/office/drawing/2014/main" id="{51E2E627-E987-0637-939F-9D67131CED36}"/>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Oval 26">
                  <a:extLst>
                    <a:ext uri="{FF2B5EF4-FFF2-40B4-BE49-F238E27FC236}">
                      <a16:creationId xmlns:a16="http://schemas.microsoft.com/office/drawing/2014/main" id="{BAAC9EDC-C798-1CF1-AB22-2F75208F18C1}"/>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09A32FFF-2117-14FC-368E-3578D1750C0B}"/>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Oval 28">
                  <a:extLst>
                    <a:ext uri="{FF2B5EF4-FFF2-40B4-BE49-F238E27FC236}">
                      <a16:creationId xmlns:a16="http://schemas.microsoft.com/office/drawing/2014/main" id="{7CC32412-8B24-36D1-2463-8B1FD1F235E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8" name="Straight Connector 7">
                <a:extLst>
                  <a:ext uri="{FF2B5EF4-FFF2-40B4-BE49-F238E27FC236}">
                    <a16:creationId xmlns:a16="http://schemas.microsoft.com/office/drawing/2014/main" id="{64169FFD-3958-E793-7DF4-EC555FBD836B}"/>
                  </a:ext>
                </a:extLst>
              </p:cNvPr>
              <p:cNvCxnSpPr>
                <a:cxnSpLocks/>
                <a:stCxn id="26" idx="3"/>
                <a:endCxn id="23"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05ED39C8-9FE1-0516-963A-24BEA5C6DC50}"/>
                </a:ext>
              </a:extLst>
            </p:cNvPr>
            <p:cNvCxnSpPr>
              <a:cxnSpLocks/>
              <a:stCxn id="26" idx="6"/>
              <a:endCxn id="2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92311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Cycle Detection</a:t>
            </a:r>
          </a:p>
        </p:txBody>
      </p:sp>
      <p:sp>
        <p:nvSpPr>
          <p:cNvPr id="3" name="TextBox 2">
            <a:extLst>
              <a:ext uri="{FF2B5EF4-FFF2-40B4-BE49-F238E27FC236}">
                <a16:creationId xmlns:a16="http://schemas.microsoft.com/office/drawing/2014/main" id="{6305A923-957B-ED78-9721-01D3F5097FFD}"/>
              </a:ext>
            </a:extLst>
          </p:cNvPr>
          <p:cNvSpPr txBox="1"/>
          <p:nvPr/>
        </p:nvSpPr>
        <p:spPr>
          <a:xfrm>
            <a:off x="7931446" y="424092"/>
            <a:ext cx="4101507" cy="523220"/>
          </a:xfrm>
          <a:prstGeom prst="rect">
            <a:avLst/>
          </a:prstGeom>
          <a:noFill/>
          <a:ln>
            <a:solidFill>
              <a:srgbClr val="FF0000"/>
            </a:solidFill>
          </a:ln>
        </p:spPr>
        <p:txBody>
          <a:bodyPr wrap="none" rtlCol="0">
            <a:spAutoFit/>
          </a:bodyPr>
          <a:lstStyle/>
          <a:p>
            <a:r>
              <a:rPr lang="en-US" sz="2800" dirty="0">
                <a:solidFill>
                  <a:srgbClr val="FF0000"/>
                </a:solidFill>
              </a:rPr>
              <a:t>Idea: Look for a back edge!</a:t>
            </a:r>
          </a:p>
        </p:txBody>
      </p:sp>
      <p:sp>
        <p:nvSpPr>
          <p:cNvPr id="43" name="TextBox 42"/>
          <p:cNvSpPr txBox="1"/>
          <p:nvPr/>
        </p:nvSpPr>
        <p:spPr>
          <a:xfrm>
            <a:off x="5409814" y="1237309"/>
            <a:ext cx="6637261" cy="5509200"/>
          </a:xfrm>
          <a:prstGeom prst="rect">
            <a:avLst/>
          </a:prstGeom>
          <a:noFill/>
        </p:spPr>
        <p:txBody>
          <a:bodyPr wrap="square" rtlCol="0">
            <a:spAutoFit/>
          </a:bodyPr>
          <a:lstStyle/>
          <a:p>
            <a:r>
              <a:rPr lang="en-US" sz="1600" dirty="0"/>
              <a:t>Boolean </a:t>
            </a:r>
            <a:r>
              <a:rPr lang="en-US" sz="1600" dirty="0" err="1"/>
              <a:t>hasCycle</a:t>
            </a:r>
            <a:r>
              <a:rPr lang="en-US" sz="1600" dirty="0"/>
              <a:t>(graph){</a:t>
            </a:r>
          </a:p>
          <a:p>
            <a:r>
              <a:rPr lang="en-US" sz="1600" dirty="0"/>
              <a:t>	for(v : </a:t>
            </a:r>
            <a:r>
              <a:rPr lang="en-US" sz="1600" dirty="0" err="1"/>
              <a:t>graph.vertices</a:t>
            </a:r>
            <a:r>
              <a:rPr lang="en-US" sz="1600" dirty="0"/>
              <a:t>){</a:t>
            </a:r>
          </a:p>
          <a:p>
            <a:r>
              <a:rPr lang="en-US" sz="1600" dirty="0"/>
              <a:t>		if( ! v marked “done”){</a:t>
            </a:r>
          </a:p>
          <a:p>
            <a:r>
              <a:rPr lang="en-US" sz="1600" dirty="0"/>
              <a:t>			if(</a:t>
            </a:r>
            <a:r>
              <a:rPr lang="en-US" sz="1600" dirty="0" err="1"/>
              <a:t>hasCycle</a:t>
            </a:r>
            <a:r>
              <a:rPr lang="en-US" sz="1600" dirty="0"/>
              <a:t>(graph, v)){ return true; }</a:t>
            </a:r>
          </a:p>
          <a:p>
            <a:r>
              <a:rPr lang="en-US" sz="1600" dirty="0"/>
              <a:t>		}</a:t>
            </a:r>
          </a:p>
          <a:p>
            <a:r>
              <a:rPr lang="en-US" sz="1600" dirty="0"/>
              <a:t>	}</a:t>
            </a:r>
          </a:p>
          <a:p>
            <a:r>
              <a:rPr lang="en-US" sz="1600" dirty="0"/>
              <a:t>	return false;</a:t>
            </a:r>
          </a:p>
          <a:p>
            <a:r>
              <a:rPr lang="en-US" sz="1600" dirty="0"/>
              <a:t>}</a:t>
            </a:r>
          </a:p>
          <a:p>
            <a:r>
              <a:rPr lang="en-US" sz="1600" dirty="0" err="1"/>
              <a:t>boolean</a:t>
            </a:r>
            <a:r>
              <a:rPr lang="en-US" sz="1600" dirty="0"/>
              <a:t> </a:t>
            </a:r>
            <a:r>
              <a:rPr lang="en-US" sz="1600" dirty="0" err="1"/>
              <a:t>hasCycle</a:t>
            </a:r>
            <a:r>
              <a:rPr lang="en-US" sz="1600" dirty="0"/>
              <a:t>(graph, </a:t>
            </a:r>
            <a:r>
              <a:rPr lang="en-US" sz="1600" dirty="0" err="1"/>
              <a:t>curr</a:t>
            </a:r>
            <a:r>
              <a:rPr lang="en-US" sz="1600" dirty="0"/>
              <a:t>){</a:t>
            </a:r>
          </a:p>
          <a:p>
            <a:r>
              <a:rPr lang="en-US" sz="1600" dirty="0"/>
              <a:t>	mark </a:t>
            </a:r>
            <a:r>
              <a:rPr lang="en-US" sz="1600" dirty="0" err="1"/>
              <a:t>curr</a:t>
            </a:r>
            <a:r>
              <a:rPr lang="en-US" sz="1600" dirty="0"/>
              <a:t> as “visited”;</a:t>
            </a:r>
          </a:p>
          <a:p>
            <a:r>
              <a:rPr lang="en-US" sz="1600" dirty="0"/>
              <a:t>	</a:t>
            </a:r>
            <a:r>
              <a:rPr lang="en-US" sz="1600" dirty="0" err="1">
                <a:solidFill>
                  <a:srgbClr val="FF0000"/>
                </a:solidFill>
              </a:rPr>
              <a:t>cycleFound</a:t>
            </a:r>
            <a:r>
              <a:rPr lang="en-US" sz="1600" dirty="0">
                <a:solidFill>
                  <a:srgbClr val="FF0000"/>
                </a:solidFill>
              </a:rPr>
              <a:t> = false;</a:t>
            </a:r>
          </a:p>
          <a:p>
            <a:r>
              <a:rPr lang="en-US" sz="1600" dirty="0"/>
              <a:t>	for (v : neighbors(current)){</a:t>
            </a:r>
          </a:p>
          <a:p>
            <a:r>
              <a:rPr lang="en-US" sz="1600" dirty="0"/>
              <a:t>		</a:t>
            </a:r>
            <a:r>
              <a:rPr lang="en-US" sz="1600" dirty="0">
                <a:solidFill>
                  <a:srgbClr val="FF0000"/>
                </a:solidFill>
              </a:rPr>
              <a:t>if (v marked “visited” &amp;&amp; ! v marked “done”){</a:t>
            </a:r>
          </a:p>
          <a:p>
            <a:r>
              <a:rPr lang="en-US" sz="1600" dirty="0">
                <a:solidFill>
                  <a:srgbClr val="FF0000"/>
                </a:solidFill>
              </a:rPr>
              <a:t>			</a:t>
            </a:r>
            <a:r>
              <a:rPr lang="en-US" sz="1600" dirty="0" err="1">
                <a:solidFill>
                  <a:srgbClr val="FF0000"/>
                </a:solidFill>
              </a:rPr>
              <a:t>cycleFound</a:t>
            </a:r>
            <a:r>
              <a:rPr lang="en-US" sz="1600" dirty="0">
                <a:solidFill>
                  <a:srgbClr val="FF0000"/>
                </a:solidFill>
              </a:rPr>
              <a:t>=true;</a:t>
            </a:r>
          </a:p>
          <a:p>
            <a:r>
              <a:rPr lang="en-US" sz="1600" dirty="0">
                <a:solidFill>
                  <a:srgbClr val="FF0000"/>
                </a:solidFill>
              </a:rPr>
              <a:t>		}</a:t>
            </a:r>
          </a:p>
          <a:p>
            <a:r>
              <a:rPr lang="en-US" sz="1600" dirty="0"/>
              <a:t>		if (! v marked “visited”</a:t>
            </a:r>
            <a:r>
              <a:rPr lang="en-US" sz="1600" dirty="0">
                <a:solidFill>
                  <a:srgbClr val="FF0000"/>
                </a:solidFill>
              </a:rPr>
              <a:t> &amp;&amp; !</a:t>
            </a:r>
            <a:r>
              <a:rPr lang="en-US" sz="1600" dirty="0" err="1">
                <a:solidFill>
                  <a:srgbClr val="FF0000"/>
                </a:solidFill>
              </a:rPr>
              <a:t>cycleFound</a:t>
            </a:r>
            <a:r>
              <a:rPr lang="en-US" sz="1600" dirty="0"/>
              <a:t>){</a:t>
            </a:r>
          </a:p>
          <a:p>
            <a:r>
              <a:rPr lang="en-US" sz="1600" dirty="0"/>
              <a:t>			</a:t>
            </a:r>
            <a:r>
              <a:rPr lang="en-US" sz="1600" dirty="0" err="1">
                <a:solidFill>
                  <a:srgbClr val="FF0000"/>
                </a:solidFill>
              </a:rPr>
              <a:t>cycleFound</a:t>
            </a:r>
            <a:r>
              <a:rPr lang="en-US" sz="1600" dirty="0">
                <a:solidFill>
                  <a:srgbClr val="FF0000"/>
                </a:solidFill>
              </a:rPr>
              <a:t> = </a:t>
            </a:r>
            <a:r>
              <a:rPr lang="en-US" sz="1600" dirty="0" err="1"/>
              <a:t>hasCycle</a:t>
            </a:r>
            <a:r>
              <a:rPr lang="en-US" sz="1600" dirty="0"/>
              <a:t>(graph, v);</a:t>
            </a:r>
          </a:p>
          <a:p>
            <a:r>
              <a:rPr lang="en-US" sz="1600" dirty="0"/>
              <a:t>		}</a:t>
            </a:r>
          </a:p>
          <a:p>
            <a:r>
              <a:rPr lang="en-US" sz="1600" dirty="0"/>
              <a:t>	}</a:t>
            </a:r>
          </a:p>
          <a:p>
            <a:r>
              <a:rPr lang="en-US" sz="1600" dirty="0"/>
              <a:t>	mark </a:t>
            </a:r>
            <a:r>
              <a:rPr lang="en-US" sz="1600" dirty="0" err="1"/>
              <a:t>curr</a:t>
            </a:r>
            <a:r>
              <a:rPr lang="en-US" sz="1600" dirty="0"/>
              <a:t> as “done”;</a:t>
            </a:r>
          </a:p>
          <a:p>
            <a:r>
              <a:rPr lang="en-US" sz="1600" dirty="0"/>
              <a:t>	</a:t>
            </a:r>
            <a:r>
              <a:rPr lang="en-US" sz="1600" dirty="0">
                <a:solidFill>
                  <a:srgbClr val="FF0000"/>
                </a:solidFill>
              </a:rPr>
              <a:t>return </a:t>
            </a:r>
            <a:r>
              <a:rPr lang="en-US" sz="1600" dirty="0" err="1">
                <a:solidFill>
                  <a:srgbClr val="FF0000"/>
                </a:solidFill>
              </a:rPr>
              <a:t>cycleFound</a:t>
            </a:r>
            <a:r>
              <a:rPr lang="en-US" sz="1600" dirty="0">
                <a:solidFill>
                  <a:srgbClr val="FF0000"/>
                </a:solidFill>
              </a:rPr>
              <a:t>;</a:t>
            </a:r>
          </a:p>
          <a:p>
            <a:r>
              <a:rPr lang="en-US" sz="16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88200AC9-7D9A-1925-52EB-C7B86A898E60}"/>
              </a:ext>
            </a:extLst>
          </p:cNvPr>
          <p:cNvGrpSpPr/>
          <p:nvPr/>
        </p:nvGrpSpPr>
        <p:grpSpPr>
          <a:xfrm>
            <a:off x="303500" y="2950683"/>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76031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8C3F-4B9D-C618-991C-2A9D4BC4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AFB2E-DA37-6BBE-3E9C-0C48E3759DA4}"/>
              </a:ext>
            </a:extLst>
          </p:cNvPr>
          <p:cNvSpPr>
            <a:spLocks noGrp="1"/>
          </p:cNvSpPr>
          <p:nvPr>
            <p:ph type="title"/>
          </p:nvPr>
        </p:nvSpPr>
        <p:spPr/>
        <p:txBody>
          <a:bodyPr>
            <a:normAutofit/>
          </a:bodyPr>
          <a:lstStyle/>
          <a:p>
            <a:r>
              <a:rPr lang="en-US" dirty="0"/>
              <a:t>Cycle Detection – Worked Example</a:t>
            </a:r>
          </a:p>
        </p:txBody>
      </p:sp>
      <p:sp>
        <p:nvSpPr>
          <p:cNvPr id="3" name="TextBox 2">
            <a:extLst>
              <a:ext uri="{FF2B5EF4-FFF2-40B4-BE49-F238E27FC236}">
                <a16:creationId xmlns:a16="http://schemas.microsoft.com/office/drawing/2014/main" id="{98B0A24A-53B6-BE08-C03A-58D7F5E5BFE9}"/>
              </a:ext>
            </a:extLst>
          </p:cNvPr>
          <p:cNvSpPr txBox="1"/>
          <p:nvPr/>
        </p:nvSpPr>
        <p:spPr>
          <a:xfrm>
            <a:off x="73330" y="3873029"/>
            <a:ext cx="4552721" cy="3046988"/>
          </a:xfrm>
          <a:prstGeom prst="rect">
            <a:avLst/>
          </a:prstGeom>
          <a:noFill/>
        </p:spPr>
        <p:txBody>
          <a:bodyPr wrap="none" rtlCol="0">
            <a:spAutoFit/>
          </a:bodyPr>
          <a:lstStyle/>
          <a:p>
            <a:r>
              <a:rPr lang="en-US" sz="2400" dirty="0">
                <a:solidFill>
                  <a:srgbClr val="FF0000"/>
                </a:solidFill>
              </a:rPr>
              <a:t>Starting from the current node:</a:t>
            </a:r>
          </a:p>
          <a:p>
            <a:r>
              <a:rPr lang="en-US" sz="2400" dirty="0">
                <a:solidFill>
                  <a:srgbClr val="FF0000"/>
                </a:solidFill>
              </a:rPr>
              <a:t>    for each non-done neighbor:</a:t>
            </a:r>
          </a:p>
          <a:p>
            <a:r>
              <a:rPr lang="en-US" sz="2400" dirty="0">
                <a:solidFill>
                  <a:srgbClr val="FF0000"/>
                </a:solidFill>
              </a:rPr>
              <a:t>        if the neighbor is visited:</a:t>
            </a:r>
          </a:p>
          <a:p>
            <a:r>
              <a:rPr lang="en-US" sz="2400" dirty="0">
                <a:solidFill>
                  <a:srgbClr val="FF0000"/>
                </a:solidFill>
              </a:rPr>
              <a:t>            we found a cycle!</a:t>
            </a:r>
          </a:p>
          <a:p>
            <a:r>
              <a:rPr lang="en-US" sz="2400" dirty="0">
                <a:solidFill>
                  <a:srgbClr val="FF0000"/>
                </a:solidFill>
              </a:rPr>
              <a:t>        else:</a:t>
            </a:r>
          </a:p>
          <a:p>
            <a:r>
              <a:rPr lang="en-US" sz="2400" dirty="0">
                <a:solidFill>
                  <a:srgbClr val="FF0000"/>
                </a:solidFill>
              </a:rPr>
              <a:t>            mark the neighbor as visited</a:t>
            </a:r>
          </a:p>
          <a:p>
            <a:r>
              <a:rPr lang="en-US" sz="2400" dirty="0">
                <a:solidFill>
                  <a:srgbClr val="FF0000"/>
                </a:solidFill>
              </a:rPr>
              <a:t>            do a DFS from the neighbor</a:t>
            </a:r>
          </a:p>
          <a:p>
            <a:r>
              <a:rPr lang="en-US" sz="24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0FE1CDB6-9AD2-5C23-41FE-6AFA369B0160}"/>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1C301D81-9C2C-04F9-DD6E-E893BB75F3F4}"/>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E7DA16A2-0CD3-8A9F-F1BC-894F3EA7D7E9}"/>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7D29E0-54AD-227B-D827-A36AFEF2D743}"/>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983110CD-4802-ACCC-CC22-A3803B7FD9BA}"/>
              </a:ext>
            </a:extLst>
          </p:cNvPr>
          <p:cNvGrpSpPr/>
          <p:nvPr/>
        </p:nvGrpSpPr>
        <p:grpSpPr>
          <a:xfrm>
            <a:off x="336666" y="1399839"/>
            <a:ext cx="4385159" cy="2420607"/>
            <a:chOff x="6934200" y="4047495"/>
            <a:chExt cx="4385159" cy="2420607"/>
          </a:xfrm>
        </p:grpSpPr>
        <p:grpSp>
          <p:nvGrpSpPr>
            <p:cNvPr id="10" name="Group 9">
              <a:extLst>
                <a:ext uri="{FF2B5EF4-FFF2-40B4-BE49-F238E27FC236}">
                  <a16:creationId xmlns:a16="http://schemas.microsoft.com/office/drawing/2014/main" id="{6E513DBA-D573-ECF7-AF85-B480795D7D4C}"/>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548DC151-B6A2-7217-85A3-B194F6DBD4FB}"/>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1FABAA4C-E9AA-BBC4-EE1C-E5F598D0FAAC}"/>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7DED7C-37A2-4185-0085-C799CEB7E887}"/>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406FE0-7880-018C-F059-2F319F0E720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DF2E77-C2A9-185C-544C-1D82413EA2C8}"/>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679EB0-00E6-D92F-524C-8C9612C31749}"/>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883C6F-1A4A-0DBA-17F7-243880D2566E}"/>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A30ECC-BDFA-2F09-C1F1-162FF19105D1}"/>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AE315C5-3930-18E5-9BAB-6022ABB33C39}"/>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8391A9-D44C-0282-C0B7-525D7952CE54}"/>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A2F1494-B8AD-6CAC-81D7-9102EDA4A3EE}"/>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C301D3B-EE9A-2685-F45E-8C4067240F32}"/>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3FD3D2C-DA91-1B27-4C0E-B92F73E6049A}"/>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F87792A-6963-8E7F-9191-315F58BC1D3B}"/>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4B01CE90-E3B9-6F24-AF62-13D41D6CDEFF}"/>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7A831B14-9CD1-9A57-721F-B5AFDC15218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91D99591-25BC-8AC7-69A6-0A5B5F0A81B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633FD9BA-5729-E1E2-E3D7-50C15B23D6F7}"/>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6C9327-8D05-8D09-3618-C4D2646A9CE8}"/>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744474E1-71F6-462B-0F4D-A5C3A5D1733B}"/>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E18B2CEE-B7DA-ED4D-C37F-6FFA219844F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5CC9C376-9A49-233A-F78E-515398A73AF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F1AC76B-3813-40CA-1628-0611863B842D}"/>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D13EB4C0-147D-458E-07EA-A6A47DB3DE8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1757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Single-Source Shortest Path</a:t>
            </a:r>
          </a:p>
        </p:txBody>
      </p:sp>
      <mc:AlternateContent xmlns:mc="http://schemas.openxmlformats.org/markup-compatibility/2006">
        <mc:Choice xmlns:a14="http://schemas.microsoft.com/office/drawing/2010/main" Requires="a14">
          <p:sp>
            <p:nvSpPr>
              <p:cNvPr id="3" name="TextBox 2"/>
              <p:cNvSpPr txBox="1"/>
              <p:nvPr/>
            </p:nvSpPr>
            <p:spPr>
              <a:xfrm>
                <a:off x="1524000" y="4572000"/>
                <a:ext cx="8915400" cy="2308324"/>
              </a:xfrm>
              <a:prstGeom prst="rect">
                <a:avLst/>
              </a:prstGeom>
              <a:noFill/>
            </p:spPr>
            <p:txBody>
              <a:bodyPr wrap="square" rtlCol="0">
                <a:spAutoFit/>
              </a:bodyPr>
              <a:lstStyle/>
              <a:p>
                <a:r>
                  <a:rPr lang="en-US" sz="2400" dirty="0"/>
                  <a:t>Find the quickest way to get from UW to each of these other places</a:t>
                </a:r>
              </a:p>
              <a:p>
                <a:endParaRPr lang="en-US" sz="2400" dirty="0"/>
              </a:p>
              <a:p>
                <a:r>
                  <a:rPr lang="en-US" sz="2400" dirty="0"/>
                  <a:t>Given a graph </a:t>
                </a:r>
                <a14:m>
                  <m:oMath xmlns:m="http://schemas.openxmlformats.org/officeDocument/2006/math">
                    <m:r>
                      <a:rPr lang="en-US" sz="2400" i="1">
                        <a:latin typeface="Cambria Math"/>
                      </a:rPr>
                      <m:t>𝐺</m:t>
                    </m:r>
                    <m:r>
                      <a:rPr lang="en-US" sz="2400" i="1">
                        <a:latin typeface="Cambria Math"/>
                      </a:rPr>
                      <m:t>=(</m:t>
                    </m:r>
                    <m:r>
                      <a:rPr lang="en-US" sz="2400" i="1">
                        <a:latin typeface="Cambria Math"/>
                      </a:rPr>
                      <m:t>𝑉</m:t>
                    </m:r>
                    <m:r>
                      <a:rPr lang="en-US" sz="2400" i="1">
                        <a:latin typeface="Cambria Math"/>
                      </a:rPr>
                      <m:t>,</m:t>
                    </m:r>
                    <m:r>
                      <a:rPr lang="en-US" sz="2400" i="1">
                        <a:latin typeface="Cambria Math"/>
                      </a:rPr>
                      <m:t>𝐸</m:t>
                    </m:r>
                    <m:r>
                      <a:rPr lang="en-US" sz="2400" i="1">
                        <a:latin typeface="Cambria Math"/>
                      </a:rPr>
                      <m:t>)</m:t>
                    </m:r>
                  </m:oMath>
                </a14:m>
                <a:r>
                  <a:rPr lang="en-US" sz="2400" dirty="0"/>
                  <a:t> and a start node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𝑉</m:t>
                    </m:r>
                  </m:oMath>
                </a14:m>
                <a:r>
                  <a:rPr lang="en-US" sz="2400" dirty="0"/>
                  <a:t>, for each </a:t>
                </a:r>
                <a14:m>
                  <m:oMath xmlns:m="http://schemas.openxmlformats.org/officeDocument/2006/math">
                    <m:r>
                      <a:rPr lang="en-US" sz="2400" i="1">
                        <a:latin typeface="Cambria Math"/>
                      </a:rPr>
                      <m:t>𝑣</m:t>
                    </m:r>
                    <m:r>
                      <a:rPr lang="en-US" sz="2400" i="1">
                        <a:latin typeface="Cambria Math"/>
                      </a:rPr>
                      <m:t>∈</m:t>
                    </m:r>
                    <m:r>
                      <a:rPr lang="en-US" sz="2400" i="1">
                        <a:latin typeface="Cambria Math"/>
                      </a:rPr>
                      <m:t>𝑉</m:t>
                    </m:r>
                  </m:oMath>
                </a14:m>
                <a:r>
                  <a:rPr lang="en-US" sz="2400" dirty="0"/>
                  <a:t> find the least-weight path from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𝑣</m:t>
                    </m:r>
                  </m:oMath>
                </a14:m>
                <a:r>
                  <a:rPr lang="en-US" sz="2400" dirty="0"/>
                  <a:t> (call this weight </a:t>
                </a:r>
                <a14:m>
                  <m:oMath xmlns:m="http://schemas.openxmlformats.org/officeDocument/2006/math">
                    <m:r>
                      <a:rPr lang="en-US" sz="2400" i="1">
                        <a:latin typeface="Cambria Math"/>
                      </a:rPr>
                      <m:t>𝛿</m:t>
                    </m:r>
                    <m:r>
                      <a:rPr lang="en-US" sz="2400" i="1">
                        <a:latin typeface="Cambria Math"/>
                      </a:rPr>
                      <m:t>(</m:t>
                    </m:r>
                    <m:r>
                      <a:rPr lang="en-US" sz="2400" i="1">
                        <a:latin typeface="Cambria Math"/>
                      </a:rPr>
                      <m:t>𝑠</m:t>
                    </m:r>
                    <m:r>
                      <a:rPr lang="en-US" sz="2400" i="1">
                        <a:latin typeface="Cambria Math"/>
                      </a:rPr>
                      <m:t>,</m:t>
                    </m:r>
                    <m:r>
                      <a:rPr lang="en-US" sz="2400" i="1">
                        <a:latin typeface="Cambria Math"/>
                      </a:rPr>
                      <m:t>𝑣</m:t>
                    </m:r>
                    <m:r>
                      <a:rPr lang="en-US" sz="2400" i="1">
                        <a:latin typeface="Cambria Math"/>
                      </a:rPr>
                      <m:t>)</m:t>
                    </m:r>
                  </m:oMath>
                </a14:m>
                <a:r>
                  <a:rPr lang="en-US" sz="2400" dirty="0"/>
                  <a:t>)</a:t>
                </a:r>
              </a:p>
              <a:p>
                <a:endParaRPr lang="en-US" sz="2400" dirty="0"/>
              </a:p>
              <a:p>
                <a:r>
                  <a:rPr lang="en-US" sz="2400" dirty="0"/>
                  <a:t>(assumption: all edge weights are positive)</a:t>
                </a:r>
              </a:p>
            </p:txBody>
          </p:sp>
        </mc:Choice>
        <mc:Fallback>
          <p:sp>
            <p:nvSpPr>
              <p:cNvPr id="3" name="TextBox 2"/>
              <p:cNvSpPr txBox="1">
                <a:spLocks noRot="1" noChangeAspect="1" noMove="1" noResize="1" noEditPoints="1" noAdjustHandles="1" noChangeArrowheads="1" noChangeShapeType="1" noTextEdit="1"/>
              </p:cNvSpPr>
              <p:nvPr/>
            </p:nvSpPr>
            <p:spPr>
              <a:xfrm>
                <a:off x="1524000" y="4572000"/>
                <a:ext cx="8915400" cy="2308324"/>
              </a:xfrm>
              <a:prstGeom prst="rect">
                <a:avLst/>
              </a:prstGeom>
              <a:blipFill>
                <a:blip r:embed="rId2"/>
                <a:stretch>
                  <a:fillRect l="-1025" t="-2111" b="-5013"/>
                </a:stretch>
              </a:blipFill>
            </p:spPr>
            <p:txBody>
              <a:bodyPr/>
              <a:lstStyle/>
              <a:p>
                <a:r>
                  <a:rPr lang="en-US">
                    <a:noFill/>
                  </a:rPr>
                  <a:t> </a:t>
                </a:r>
              </a:p>
            </p:txBody>
          </p:sp>
        </mc:Fallback>
      </mc:AlternateContent>
      <p:grpSp>
        <p:nvGrpSpPr>
          <p:cNvPr id="80" name="Group 79" descr="An illustration of a weighted undirected graph.&#10;&#10;Nodes/vertices are represented as circles and edges (which connect pairs of vertices) are represented as lines. Because this is a weighted graph, each edge is labelled with a number of indicate its weight.">
            <a:extLst>
              <a:ext uri="{FF2B5EF4-FFF2-40B4-BE49-F238E27FC236}">
                <a16:creationId xmlns:a16="http://schemas.microsoft.com/office/drawing/2014/main" id="{DC6679D3-95FA-CB24-EE08-358A3DD9B540}"/>
              </a:ext>
            </a:extLst>
          </p:cNvPr>
          <p:cNvGrpSpPr/>
          <p:nvPr/>
        </p:nvGrpSpPr>
        <p:grpSpPr>
          <a:xfrm>
            <a:off x="3490452" y="1135154"/>
            <a:ext cx="6046838" cy="3495404"/>
            <a:chOff x="0" y="2862182"/>
            <a:chExt cx="7044346" cy="4072018"/>
          </a:xfrm>
        </p:grpSpPr>
        <p:cxnSp>
          <p:nvCxnSpPr>
            <p:cNvPr id="81" name="Straight Connector 80">
              <a:extLst>
                <a:ext uri="{FF2B5EF4-FFF2-40B4-BE49-F238E27FC236}">
                  <a16:creationId xmlns:a16="http://schemas.microsoft.com/office/drawing/2014/main" id="{FA28E3FE-213A-F0D7-C6FA-1C98642FD718}"/>
                </a:ext>
              </a:extLst>
            </p:cNvPr>
            <p:cNvCxnSpPr>
              <a:stCxn id="109" idx="7"/>
              <a:endCxn id="11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CAE929-ED3E-3C8F-A2CA-AC480EFB5FFA}"/>
                </a:ext>
              </a:extLst>
            </p:cNvPr>
            <p:cNvCxnSpPr>
              <a:stCxn id="110" idx="6"/>
              <a:endCxn id="11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C82F4C-6A74-D70E-104A-1179D1FE699A}"/>
                </a:ext>
              </a:extLst>
            </p:cNvPr>
            <p:cNvCxnSpPr>
              <a:stCxn id="109" idx="4"/>
              <a:endCxn id="11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D91F23C-F57E-D284-D1DC-8A2AD1D336FA}"/>
                </a:ext>
              </a:extLst>
            </p:cNvPr>
            <p:cNvCxnSpPr>
              <a:stCxn id="112" idx="3"/>
              <a:endCxn id="11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569F2B-5763-D4C3-629E-48B55F84F041}"/>
                </a:ext>
              </a:extLst>
            </p:cNvPr>
            <p:cNvCxnSpPr>
              <a:stCxn id="114" idx="2"/>
              <a:endCxn id="11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623992C-0698-858D-B333-CF0AABB33453}"/>
                </a:ext>
              </a:extLst>
            </p:cNvPr>
            <p:cNvCxnSpPr>
              <a:stCxn id="112" idx="5"/>
              <a:endCxn id="11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9EB04D3-7BE4-D561-9DEA-0610E8738C29}"/>
                </a:ext>
              </a:extLst>
            </p:cNvPr>
            <p:cNvCxnSpPr>
              <a:stCxn id="112" idx="7"/>
              <a:endCxn id="11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082E465-B033-5BE5-0B78-56C45CAF07AC}"/>
                </a:ext>
              </a:extLst>
            </p:cNvPr>
            <p:cNvCxnSpPr>
              <a:stCxn id="114" idx="6"/>
              <a:endCxn id="11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8750369-C516-1889-2364-E7A4AB2B128B}"/>
                </a:ext>
              </a:extLst>
            </p:cNvPr>
            <p:cNvCxnSpPr>
              <a:stCxn id="115" idx="1"/>
              <a:endCxn id="11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D6944F4-5157-9C2F-C1A3-EBCB60FCE120}"/>
                </a:ext>
              </a:extLst>
            </p:cNvPr>
            <p:cNvCxnSpPr>
              <a:stCxn id="117" idx="2"/>
              <a:endCxn id="11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B6C6154-3480-0DC4-CB83-E61CEF264010}"/>
                </a:ext>
              </a:extLst>
            </p:cNvPr>
            <p:cNvCxnSpPr>
              <a:stCxn id="115" idx="0"/>
              <a:endCxn id="11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DFF2827-925D-F27B-1B2D-7204E1203DEA}"/>
                </a:ext>
              </a:extLst>
            </p:cNvPr>
            <p:cNvCxnSpPr>
              <a:stCxn id="116" idx="1"/>
              <a:endCxn id="11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0EE22F4-B385-7EBF-2FC0-44F42BB62280}"/>
                </a:ext>
              </a:extLst>
            </p:cNvPr>
            <p:cNvCxnSpPr>
              <a:stCxn id="116" idx="3"/>
              <a:endCxn id="11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573B58AA-4399-10A6-CE2D-C003CACA63CF}"/>
                </a:ext>
              </a:extLst>
            </p:cNvPr>
            <p:cNvSpPr txBox="1"/>
            <p:nvPr/>
          </p:nvSpPr>
          <p:spPr>
            <a:xfrm>
              <a:off x="886366" y="3331447"/>
              <a:ext cx="418704" cy="369332"/>
            </a:xfrm>
            <a:prstGeom prst="rect">
              <a:avLst/>
            </a:prstGeom>
            <a:noFill/>
          </p:spPr>
          <p:txBody>
            <a:bodyPr wrap="none" rtlCol="0">
              <a:spAutoFit/>
            </a:bodyPr>
            <a:lstStyle/>
            <a:p>
              <a:r>
                <a:rPr lang="en-US" dirty="0">
                  <a:solidFill>
                    <a:srgbClr val="00B050"/>
                  </a:solidFill>
                </a:rPr>
                <a:t>10</a:t>
              </a:r>
            </a:p>
          </p:txBody>
        </p:sp>
        <p:sp>
          <p:nvSpPr>
            <p:cNvPr id="95" name="TextBox 94">
              <a:extLst>
                <a:ext uri="{FF2B5EF4-FFF2-40B4-BE49-F238E27FC236}">
                  <a16:creationId xmlns:a16="http://schemas.microsoft.com/office/drawing/2014/main" id="{C6CDC331-D36E-5E1F-DB95-1FCB2FE49C0C}"/>
                </a:ext>
              </a:extLst>
            </p:cNvPr>
            <p:cNvSpPr txBox="1"/>
            <p:nvPr/>
          </p:nvSpPr>
          <p:spPr>
            <a:xfrm>
              <a:off x="6095562" y="4099030"/>
              <a:ext cx="301686" cy="369332"/>
            </a:xfrm>
            <a:prstGeom prst="rect">
              <a:avLst/>
            </a:prstGeom>
            <a:noFill/>
          </p:spPr>
          <p:txBody>
            <a:bodyPr wrap="none" rtlCol="0">
              <a:spAutoFit/>
            </a:bodyPr>
            <a:lstStyle/>
            <a:p>
              <a:r>
                <a:rPr lang="en-US" dirty="0">
                  <a:solidFill>
                    <a:srgbClr val="00B050"/>
                  </a:solidFill>
                </a:rPr>
                <a:t>2</a:t>
              </a:r>
            </a:p>
          </p:txBody>
        </p:sp>
        <p:sp>
          <p:nvSpPr>
            <p:cNvPr id="96" name="TextBox 95">
              <a:extLst>
                <a:ext uri="{FF2B5EF4-FFF2-40B4-BE49-F238E27FC236}">
                  <a16:creationId xmlns:a16="http://schemas.microsoft.com/office/drawing/2014/main" id="{61FA3E20-80B4-EAF5-8415-44C2012D3D00}"/>
                </a:ext>
              </a:extLst>
            </p:cNvPr>
            <p:cNvSpPr txBox="1"/>
            <p:nvPr/>
          </p:nvSpPr>
          <p:spPr>
            <a:xfrm>
              <a:off x="3895875" y="6564868"/>
              <a:ext cx="301686" cy="369332"/>
            </a:xfrm>
            <a:prstGeom prst="rect">
              <a:avLst/>
            </a:prstGeom>
            <a:noFill/>
          </p:spPr>
          <p:txBody>
            <a:bodyPr wrap="none" rtlCol="0">
              <a:spAutoFit/>
            </a:bodyPr>
            <a:lstStyle/>
            <a:p>
              <a:r>
                <a:rPr lang="en-US" dirty="0">
                  <a:solidFill>
                    <a:srgbClr val="00B050"/>
                  </a:solidFill>
                </a:rPr>
                <a:t>6</a:t>
              </a:r>
            </a:p>
          </p:txBody>
        </p:sp>
        <p:sp>
          <p:nvSpPr>
            <p:cNvPr id="97" name="TextBox 96">
              <a:extLst>
                <a:ext uri="{FF2B5EF4-FFF2-40B4-BE49-F238E27FC236}">
                  <a16:creationId xmlns:a16="http://schemas.microsoft.com/office/drawing/2014/main" id="{F27BAD20-3EC2-ED23-881F-E7F7FACF3AEE}"/>
                </a:ext>
              </a:extLst>
            </p:cNvPr>
            <p:cNvSpPr txBox="1"/>
            <p:nvPr/>
          </p:nvSpPr>
          <p:spPr>
            <a:xfrm>
              <a:off x="6047348" y="5905158"/>
              <a:ext cx="418704" cy="369332"/>
            </a:xfrm>
            <a:prstGeom prst="rect">
              <a:avLst/>
            </a:prstGeom>
            <a:noFill/>
          </p:spPr>
          <p:txBody>
            <a:bodyPr wrap="none" rtlCol="0">
              <a:spAutoFit/>
            </a:bodyPr>
            <a:lstStyle/>
            <a:p>
              <a:r>
                <a:rPr lang="en-US" dirty="0">
                  <a:solidFill>
                    <a:srgbClr val="00B050"/>
                  </a:solidFill>
                </a:rPr>
                <a:t>11</a:t>
              </a:r>
            </a:p>
          </p:txBody>
        </p:sp>
        <p:sp>
          <p:nvSpPr>
            <p:cNvPr id="98" name="TextBox 97">
              <a:extLst>
                <a:ext uri="{FF2B5EF4-FFF2-40B4-BE49-F238E27FC236}">
                  <a16:creationId xmlns:a16="http://schemas.microsoft.com/office/drawing/2014/main" id="{20A4DC10-A8AB-0146-9D80-D397663E7366}"/>
                </a:ext>
              </a:extLst>
            </p:cNvPr>
            <p:cNvSpPr txBox="1"/>
            <p:nvPr/>
          </p:nvSpPr>
          <p:spPr>
            <a:xfrm>
              <a:off x="5004912" y="4717243"/>
              <a:ext cx="301686" cy="369332"/>
            </a:xfrm>
            <a:prstGeom prst="rect">
              <a:avLst/>
            </a:prstGeom>
            <a:noFill/>
          </p:spPr>
          <p:txBody>
            <a:bodyPr wrap="none" rtlCol="0">
              <a:spAutoFit/>
            </a:bodyPr>
            <a:lstStyle/>
            <a:p>
              <a:r>
                <a:rPr lang="en-US" dirty="0">
                  <a:solidFill>
                    <a:srgbClr val="00B050"/>
                  </a:solidFill>
                </a:rPr>
                <a:t>9</a:t>
              </a:r>
            </a:p>
          </p:txBody>
        </p:sp>
        <p:sp>
          <p:nvSpPr>
            <p:cNvPr id="99" name="TextBox 98">
              <a:extLst>
                <a:ext uri="{FF2B5EF4-FFF2-40B4-BE49-F238E27FC236}">
                  <a16:creationId xmlns:a16="http://schemas.microsoft.com/office/drawing/2014/main" id="{C5230F33-15FC-B86E-CFB2-1A6C41D3B37A}"/>
                </a:ext>
              </a:extLst>
            </p:cNvPr>
            <p:cNvSpPr txBox="1"/>
            <p:nvPr/>
          </p:nvSpPr>
          <p:spPr>
            <a:xfrm>
              <a:off x="4119679" y="4462779"/>
              <a:ext cx="301686" cy="369332"/>
            </a:xfrm>
            <a:prstGeom prst="rect">
              <a:avLst/>
            </a:prstGeom>
            <a:noFill/>
          </p:spPr>
          <p:txBody>
            <a:bodyPr wrap="none" rtlCol="0">
              <a:spAutoFit/>
            </a:bodyPr>
            <a:lstStyle/>
            <a:p>
              <a:r>
                <a:rPr lang="en-US" dirty="0">
                  <a:solidFill>
                    <a:srgbClr val="00B050"/>
                  </a:solidFill>
                </a:rPr>
                <a:t>5</a:t>
              </a:r>
            </a:p>
          </p:txBody>
        </p:sp>
        <p:sp>
          <p:nvSpPr>
            <p:cNvPr id="100" name="TextBox 99">
              <a:extLst>
                <a:ext uri="{FF2B5EF4-FFF2-40B4-BE49-F238E27FC236}">
                  <a16:creationId xmlns:a16="http://schemas.microsoft.com/office/drawing/2014/main" id="{A2FA727E-00E7-2DE9-9286-19273178E7AB}"/>
                </a:ext>
              </a:extLst>
            </p:cNvPr>
            <p:cNvSpPr txBox="1"/>
            <p:nvPr/>
          </p:nvSpPr>
          <p:spPr>
            <a:xfrm>
              <a:off x="4582463" y="3299181"/>
              <a:ext cx="301686" cy="369332"/>
            </a:xfrm>
            <a:prstGeom prst="rect">
              <a:avLst/>
            </a:prstGeom>
            <a:noFill/>
          </p:spPr>
          <p:txBody>
            <a:bodyPr wrap="none" rtlCol="0">
              <a:spAutoFit/>
            </a:bodyPr>
            <a:lstStyle/>
            <a:p>
              <a:r>
                <a:rPr lang="en-US" dirty="0">
                  <a:solidFill>
                    <a:srgbClr val="00B050"/>
                  </a:solidFill>
                </a:rPr>
                <a:t>8</a:t>
              </a:r>
            </a:p>
          </p:txBody>
        </p:sp>
        <p:sp>
          <p:nvSpPr>
            <p:cNvPr id="101" name="TextBox 100">
              <a:extLst>
                <a:ext uri="{FF2B5EF4-FFF2-40B4-BE49-F238E27FC236}">
                  <a16:creationId xmlns:a16="http://schemas.microsoft.com/office/drawing/2014/main" id="{2C2753F7-84C3-6E23-EA90-EB61012457AA}"/>
                </a:ext>
              </a:extLst>
            </p:cNvPr>
            <p:cNvSpPr txBox="1"/>
            <p:nvPr/>
          </p:nvSpPr>
          <p:spPr>
            <a:xfrm>
              <a:off x="3058462" y="5546337"/>
              <a:ext cx="301686" cy="369332"/>
            </a:xfrm>
            <a:prstGeom prst="rect">
              <a:avLst/>
            </a:prstGeom>
            <a:noFill/>
          </p:spPr>
          <p:txBody>
            <a:bodyPr wrap="none" rtlCol="0">
              <a:spAutoFit/>
            </a:bodyPr>
            <a:lstStyle/>
            <a:p>
              <a:r>
                <a:rPr lang="en-US" dirty="0">
                  <a:solidFill>
                    <a:srgbClr val="00B050"/>
                  </a:solidFill>
                </a:rPr>
                <a:t>3</a:t>
              </a:r>
            </a:p>
          </p:txBody>
        </p:sp>
        <p:sp>
          <p:nvSpPr>
            <p:cNvPr id="102" name="TextBox 101">
              <a:extLst>
                <a:ext uri="{FF2B5EF4-FFF2-40B4-BE49-F238E27FC236}">
                  <a16:creationId xmlns:a16="http://schemas.microsoft.com/office/drawing/2014/main" id="{84B64F94-B4E7-9881-CF05-BB8E0CA924A8}"/>
                </a:ext>
              </a:extLst>
            </p:cNvPr>
            <p:cNvSpPr txBox="1"/>
            <p:nvPr/>
          </p:nvSpPr>
          <p:spPr>
            <a:xfrm>
              <a:off x="3064048" y="3853179"/>
              <a:ext cx="301686" cy="369332"/>
            </a:xfrm>
            <a:prstGeom prst="rect">
              <a:avLst/>
            </a:prstGeom>
            <a:noFill/>
          </p:spPr>
          <p:txBody>
            <a:bodyPr wrap="none" rtlCol="0">
              <a:spAutoFit/>
            </a:bodyPr>
            <a:lstStyle/>
            <a:p>
              <a:r>
                <a:rPr lang="en-US" dirty="0">
                  <a:solidFill>
                    <a:srgbClr val="00B050"/>
                  </a:solidFill>
                </a:rPr>
                <a:t>7</a:t>
              </a:r>
            </a:p>
          </p:txBody>
        </p:sp>
        <p:sp>
          <p:nvSpPr>
            <p:cNvPr id="103" name="TextBox 102">
              <a:extLst>
                <a:ext uri="{FF2B5EF4-FFF2-40B4-BE49-F238E27FC236}">
                  <a16:creationId xmlns:a16="http://schemas.microsoft.com/office/drawing/2014/main" id="{4773DACA-B0B1-2F32-B812-1B954F22652A}"/>
                </a:ext>
              </a:extLst>
            </p:cNvPr>
            <p:cNvSpPr txBox="1"/>
            <p:nvPr/>
          </p:nvSpPr>
          <p:spPr>
            <a:xfrm>
              <a:off x="2051034" y="5224258"/>
              <a:ext cx="301686" cy="369332"/>
            </a:xfrm>
            <a:prstGeom prst="rect">
              <a:avLst/>
            </a:prstGeom>
            <a:noFill/>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AE274F85-FFA4-406C-214F-790BC779011A}"/>
                </a:ext>
              </a:extLst>
            </p:cNvPr>
            <p:cNvSpPr txBox="1"/>
            <p:nvPr/>
          </p:nvSpPr>
          <p:spPr>
            <a:xfrm>
              <a:off x="1885966" y="6404395"/>
              <a:ext cx="301686" cy="369332"/>
            </a:xfrm>
            <a:prstGeom prst="rect">
              <a:avLst/>
            </a:prstGeom>
            <a:noFill/>
          </p:spPr>
          <p:txBody>
            <a:bodyPr wrap="none" rtlCol="0">
              <a:spAutoFit/>
            </a:bodyPr>
            <a:lstStyle/>
            <a:p>
              <a:r>
                <a:rPr lang="en-US" dirty="0">
                  <a:solidFill>
                    <a:srgbClr val="00B050"/>
                  </a:solidFill>
                </a:rPr>
                <a:t>1</a:t>
              </a:r>
            </a:p>
          </p:txBody>
        </p:sp>
        <p:sp>
          <p:nvSpPr>
            <p:cNvPr id="105" name="TextBox 104">
              <a:extLst>
                <a:ext uri="{FF2B5EF4-FFF2-40B4-BE49-F238E27FC236}">
                  <a16:creationId xmlns:a16="http://schemas.microsoft.com/office/drawing/2014/main" id="{453315FD-2B2D-AE4E-EC7E-D93F59F1EC0A}"/>
                </a:ext>
              </a:extLst>
            </p:cNvPr>
            <p:cNvSpPr txBox="1"/>
            <p:nvPr/>
          </p:nvSpPr>
          <p:spPr>
            <a:xfrm>
              <a:off x="2830979" y="2862182"/>
              <a:ext cx="301686" cy="369332"/>
            </a:xfrm>
            <a:prstGeom prst="rect">
              <a:avLst/>
            </a:prstGeom>
            <a:noFill/>
          </p:spPr>
          <p:txBody>
            <a:bodyPr wrap="none" rtlCol="0">
              <a:spAutoFit/>
            </a:bodyPr>
            <a:lstStyle/>
            <a:p>
              <a:r>
                <a:rPr lang="en-US" dirty="0">
                  <a:solidFill>
                    <a:srgbClr val="00B050"/>
                  </a:solidFill>
                </a:rPr>
                <a:t>8</a:t>
              </a:r>
            </a:p>
          </p:txBody>
        </p:sp>
        <p:sp>
          <p:nvSpPr>
            <p:cNvPr id="106" name="TextBox 105">
              <a:extLst>
                <a:ext uri="{FF2B5EF4-FFF2-40B4-BE49-F238E27FC236}">
                  <a16:creationId xmlns:a16="http://schemas.microsoft.com/office/drawing/2014/main" id="{8D6CBC87-3A44-0DC9-3F93-3CA9D807A5F8}"/>
                </a:ext>
              </a:extLst>
            </p:cNvPr>
            <p:cNvSpPr txBox="1"/>
            <p:nvPr/>
          </p:nvSpPr>
          <p:spPr>
            <a:xfrm>
              <a:off x="256634" y="5096525"/>
              <a:ext cx="418704" cy="369332"/>
            </a:xfrm>
            <a:prstGeom prst="rect">
              <a:avLst/>
            </a:prstGeom>
            <a:noFill/>
          </p:spPr>
          <p:txBody>
            <a:bodyPr wrap="none" rtlCol="0">
              <a:spAutoFit/>
            </a:bodyPr>
            <a:lstStyle/>
            <a:p>
              <a:r>
                <a:rPr lang="en-US" dirty="0">
                  <a:solidFill>
                    <a:srgbClr val="00B050"/>
                  </a:solidFill>
                </a:rPr>
                <a:t>12</a:t>
              </a:r>
            </a:p>
          </p:txBody>
        </p:sp>
        <p:cxnSp>
          <p:nvCxnSpPr>
            <p:cNvPr id="107" name="Straight Connector 106">
              <a:extLst>
                <a:ext uri="{FF2B5EF4-FFF2-40B4-BE49-F238E27FC236}">
                  <a16:creationId xmlns:a16="http://schemas.microsoft.com/office/drawing/2014/main" id="{F1FFCBEE-2A44-CB7D-9112-51463AC0BA68}"/>
                </a:ext>
              </a:extLst>
            </p:cNvPr>
            <p:cNvCxnSpPr>
              <a:stCxn id="110" idx="4"/>
              <a:endCxn id="11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A4F797B-72B3-BEA1-6740-D9E8CE9D0E95}"/>
                </a:ext>
              </a:extLst>
            </p:cNvPr>
            <p:cNvSpPr txBox="1"/>
            <p:nvPr/>
          </p:nvSpPr>
          <p:spPr>
            <a:xfrm>
              <a:off x="1414258" y="4262424"/>
              <a:ext cx="301686" cy="369332"/>
            </a:xfrm>
            <a:prstGeom prst="rect">
              <a:avLst/>
            </a:prstGeom>
            <a:noFill/>
          </p:spPr>
          <p:txBody>
            <a:bodyPr wrap="none" rtlCol="0">
              <a:spAutoFit/>
            </a:bodyPr>
            <a:lstStyle/>
            <a:p>
              <a:r>
                <a:rPr lang="en-US" dirty="0">
                  <a:solidFill>
                    <a:srgbClr val="00B050"/>
                  </a:solidFill>
                </a:rPr>
                <a:t>9</a:t>
              </a:r>
            </a:p>
          </p:txBody>
        </p:sp>
        <p:sp>
          <p:nvSpPr>
            <p:cNvPr id="109" name="Oval 108">
              <a:extLst>
                <a:ext uri="{FF2B5EF4-FFF2-40B4-BE49-F238E27FC236}">
                  <a16:creationId xmlns:a16="http://schemas.microsoft.com/office/drawing/2014/main" id="{F7689B07-8B96-C628-84A1-EB76320D0233}"/>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0" name="Oval 109">
              <a:extLst>
                <a:ext uri="{FF2B5EF4-FFF2-40B4-BE49-F238E27FC236}">
                  <a16:creationId xmlns:a16="http://schemas.microsoft.com/office/drawing/2014/main" id="{B81FDB97-9282-2DE9-1944-987DD8D686C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1" name="Oval 110">
              <a:extLst>
                <a:ext uri="{FF2B5EF4-FFF2-40B4-BE49-F238E27FC236}">
                  <a16:creationId xmlns:a16="http://schemas.microsoft.com/office/drawing/2014/main" id="{FE4251E8-8AC6-FAA9-346C-F5AEE8B8B4F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2" name="Oval 111">
              <a:extLst>
                <a:ext uri="{FF2B5EF4-FFF2-40B4-BE49-F238E27FC236}">
                  <a16:creationId xmlns:a16="http://schemas.microsoft.com/office/drawing/2014/main" id="{CF4E9DB5-6600-A244-84BD-1E8489C9DE6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3" name="Oval 112">
              <a:extLst>
                <a:ext uri="{FF2B5EF4-FFF2-40B4-BE49-F238E27FC236}">
                  <a16:creationId xmlns:a16="http://schemas.microsoft.com/office/drawing/2014/main" id="{29E1476E-ADEB-5C32-FA45-6016DF7A1B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4" name="Oval 113">
              <a:extLst>
                <a:ext uri="{FF2B5EF4-FFF2-40B4-BE49-F238E27FC236}">
                  <a16:creationId xmlns:a16="http://schemas.microsoft.com/office/drawing/2014/main" id="{440E953A-03FC-57E6-91C6-F7AA199E1A0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15" name="Oval 114">
              <a:extLst>
                <a:ext uri="{FF2B5EF4-FFF2-40B4-BE49-F238E27FC236}">
                  <a16:creationId xmlns:a16="http://schemas.microsoft.com/office/drawing/2014/main" id="{7CB4F600-AA8F-EA04-E686-3ECC76CE85F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16" name="Oval 115">
              <a:extLst>
                <a:ext uri="{FF2B5EF4-FFF2-40B4-BE49-F238E27FC236}">
                  <a16:creationId xmlns:a16="http://schemas.microsoft.com/office/drawing/2014/main" id="{6CBA3549-04D4-33AB-72F9-D8470586E55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17" name="Oval 116">
              <a:extLst>
                <a:ext uri="{FF2B5EF4-FFF2-40B4-BE49-F238E27FC236}">
                  <a16:creationId xmlns:a16="http://schemas.microsoft.com/office/drawing/2014/main" id="{B3C52EDD-949D-0912-45E8-C4A5890C6F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Tree>
    <p:extLst>
      <p:ext uri="{BB962C8B-B14F-4D97-AF65-F5344CB8AC3E}">
        <p14:creationId xmlns:p14="http://schemas.microsoft.com/office/powerpoint/2010/main" val="295075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graph with </a:t>
                </a:r>
                <a:r>
                  <a:rPr lang="en-US" b="1" dirty="0"/>
                  <a:t>no negative edge weights</a:t>
                </a:r>
                <a:r>
                  <a:rPr lang="en-US" dirty="0"/>
                  <a:t>, start node </a:t>
                </a:r>
                <a14:m>
                  <m:oMath xmlns:m="http://schemas.openxmlformats.org/officeDocument/2006/math">
                    <m:r>
                      <a:rPr lang="en-US" b="0" i="1" smtClean="0">
                        <a:solidFill>
                          <a:srgbClr val="FF0000"/>
                        </a:solidFill>
                        <a:latin typeface="Cambria Math"/>
                      </a:rPr>
                      <m:t>𝑠</m:t>
                    </m:r>
                  </m:oMath>
                </a14:m>
                <a:r>
                  <a:rPr lang="en-US" dirty="0"/>
                  <a:t>, optional end node </a:t>
                </a:r>
                <a14:m>
                  <m:oMath xmlns:m="http://schemas.openxmlformats.org/officeDocument/2006/math">
                    <m:r>
                      <a:rPr lang="en-US" b="0" i="1" smtClean="0">
                        <a:latin typeface="Cambria Math" panose="02040503050406030204" pitchFamily="18" charset="0"/>
                      </a:rPr>
                      <m:t>𝑡</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repeatedly go to the incomplete node “nearest” to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a:t>
                </a:r>
              </a:p>
              <a:p>
                <a:r>
                  <a:rPr lang="en-US" dirty="0"/>
                  <a:t>Output: </a:t>
                </a:r>
              </a:p>
              <a:p>
                <a:pPr lvl="1"/>
                <a:r>
                  <a:rPr lang="en-US" dirty="0"/>
                  <a:t>Distance from start to end</a:t>
                </a:r>
              </a:p>
              <a:p>
                <a:pPr lvl="1"/>
                <a:r>
                  <a:rPr lang="en-US" dirty="0"/>
                  <a:t>Distance from start to every node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0584FBD-308D-08B0-5088-636F7CCFBE9C}"/>
              </a:ext>
              <a:ext uri="{C183D7F6-B498-43B3-948B-1728B52AA6E4}">
                <adec:decorative xmlns:adec="http://schemas.microsoft.com/office/drawing/2017/decorative" val="1"/>
              </a:ext>
            </a:extLst>
          </p:cNvPr>
          <p:cNvGrpSpPr/>
          <p:nvPr/>
        </p:nvGrpSpPr>
        <p:grpSpPr>
          <a:xfrm>
            <a:off x="7086600" y="3277786"/>
            <a:ext cx="4616614" cy="2970614"/>
            <a:chOff x="7086600" y="3277786"/>
            <a:chExt cx="4616614" cy="2970614"/>
          </a:xfrm>
        </p:grpSpPr>
        <p:grpSp>
          <p:nvGrpSpPr>
            <p:cNvPr id="134" name="Group 133">
              <a:extLst>
                <a:ext uri="{FF2B5EF4-FFF2-40B4-BE49-F238E27FC236}">
                  <a16:creationId xmlns:a16="http://schemas.microsoft.com/office/drawing/2014/main" id="{E2B0C053-06DE-DC6A-94E3-26A4B7C389DB}"/>
                </a:ext>
              </a:extLst>
            </p:cNvPr>
            <p:cNvGrpSpPr/>
            <p:nvPr/>
          </p:nvGrpSpPr>
          <p:grpSpPr>
            <a:xfrm>
              <a:off x="7103154" y="3461160"/>
              <a:ext cx="4600060" cy="2787240"/>
              <a:chOff x="0" y="2862182"/>
              <a:chExt cx="7044346" cy="4268266"/>
            </a:xfrm>
          </p:grpSpPr>
          <p:cxnSp>
            <p:nvCxnSpPr>
              <p:cNvPr id="135" name="Straight Connector 134">
                <a:extLst>
                  <a:ext uri="{FF2B5EF4-FFF2-40B4-BE49-F238E27FC236}">
                    <a16:creationId xmlns:a16="http://schemas.microsoft.com/office/drawing/2014/main" id="{59D6E633-2018-6DF0-8676-6A173CB557A1}"/>
                  </a:ext>
                </a:extLst>
              </p:cNvPr>
              <p:cNvCxnSpPr>
                <a:stCxn id="163" idx="7"/>
                <a:endCxn id="16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DD6544E-44ED-CF32-47B5-A1B4988A6D49}"/>
                  </a:ext>
                </a:extLst>
              </p:cNvPr>
              <p:cNvCxnSpPr>
                <a:stCxn id="164" idx="6"/>
                <a:endCxn id="16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609AA63-0697-DFAB-2F65-DD84B6399C65}"/>
                  </a:ext>
                </a:extLst>
              </p:cNvPr>
              <p:cNvCxnSpPr>
                <a:stCxn id="163" idx="4"/>
                <a:endCxn id="16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392A1AD-267A-CC27-B94E-D47715F596FF}"/>
                  </a:ext>
                </a:extLst>
              </p:cNvPr>
              <p:cNvCxnSpPr>
                <a:stCxn id="166" idx="3"/>
                <a:endCxn id="16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68CCB42-49BD-0035-AF74-5D2BC6B5718E}"/>
                  </a:ext>
                </a:extLst>
              </p:cNvPr>
              <p:cNvCxnSpPr>
                <a:stCxn id="168" idx="2"/>
                <a:endCxn id="16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E63AAA-79BB-40A4-255C-8A6F4CEF1F70}"/>
                  </a:ext>
                </a:extLst>
              </p:cNvPr>
              <p:cNvCxnSpPr>
                <a:stCxn id="166" idx="5"/>
                <a:endCxn id="16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4C8E128-E7FF-0EE2-C929-28DCF5F3B109}"/>
                  </a:ext>
                </a:extLst>
              </p:cNvPr>
              <p:cNvCxnSpPr>
                <a:stCxn id="166" idx="7"/>
                <a:endCxn id="16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466A6F-7C04-3155-ED0B-352D7B6E726F}"/>
                  </a:ext>
                </a:extLst>
              </p:cNvPr>
              <p:cNvCxnSpPr>
                <a:stCxn id="168" idx="6"/>
                <a:endCxn id="16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3467D08-B158-F459-76E0-1CC5F3E2A736}"/>
                  </a:ext>
                </a:extLst>
              </p:cNvPr>
              <p:cNvCxnSpPr>
                <a:stCxn id="169" idx="1"/>
                <a:endCxn id="16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ED42938-B1CF-CCAB-82E7-C5D9ED62B47E}"/>
                  </a:ext>
                </a:extLst>
              </p:cNvPr>
              <p:cNvCxnSpPr>
                <a:stCxn id="171" idx="2"/>
                <a:endCxn id="16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0F49481-D214-4D23-F5DB-22D5C9AC8216}"/>
                  </a:ext>
                </a:extLst>
              </p:cNvPr>
              <p:cNvCxnSpPr>
                <a:stCxn id="169" idx="0"/>
                <a:endCxn id="17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DD9656E-2A08-FAF6-0E5A-864DBE4AF542}"/>
                  </a:ext>
                </a:extLst>
              </p:cNvPr>
              <p:cNvCxnSpPr>
                <a:stCxn id="170" idx="1"/>
                <a:endCxn id="17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918935C-8432-0740-DBB5-9F8278FF03C2}"/>
                  </a:ext>
                </a:extLst>
              </p:cNvPr>
              <p:cNvCxnSpPr>
                <a:stCxn id="170" idx="3"/>
                <a:endCxn id="16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5DA70AD2-103F-3808-D08A-C8C7652E78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49" name="TextBox 148">
                <a:extLst>
                  <a:ext uri="{FF2B5EF4-FFF2-40B4-BE49-F238E27FC236}">
                    <a16:creationId xmlns:a16="http://schemas.microsoft.com/office/drawing/2014/main" id="{3826737A-FAD1-118C-9744-F6C76DF1C2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50" name="TextBox 149">
                <a:extLst>
                  <a:ext uri="{FF2B5EF4-FFF2-40B4-BE49-F238E27FC236}">
                    <a16:creationId xmlns:a16="http://schemas.microsoft.com/office/drawing/2014/main" id="{677F8BFC-E723-6F4D-29CA-E8ED1B6D3D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51" name="TextBox 150">
                <a:extLst>
                  <a:ext uri="{FF2B5EF4-FFF2-40B4-BE49-F238E27FC236}">
                    <a16:creationId xmlns:a16="http://schemas.microsoft.com/office/drawing/2014/main" id="{E5965D04-95BE-172D-DE21-720E47C71DB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52" name="TextBox 151">
                <a:extLst>
                  <a:ext uri="{FF2B5EF4-FFF2-40B4-BE49-F238E27FC236}">
                    <a16:creationId xmlns:a16="http://schemas.microsoft.com/office/drawing/2014/main" id="{C0F2268A-3C7A-655E-79FA-25240CF558A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53" name="TextBox 152">
                <a:extLst>
                  <a:ext uri="{FF2B5EF4-FFF2-40B4-BE49-F238E27FC236}">
                    <a16:creationId xmlns:a16="http://schemas.microsoft.com/office/drawing/2014/main" id="{46D66E34-9CBE-C2C6-5186-6CDDE266062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54" name="TextBox 153">
                <a:extLst>
                  <a:ext uri="{FF2B5EF4-FFF2-40B4-BE49-F238E27FC236}">
                    <a16:creationId xmlns:a16="http://schemas.microsoft.com/office/drawing/2014/main" id="{1F4F19F6-511C-663F-AB69-47F024628721}"/>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55" name="TextBox 154">
                <a:extLst>
                  <a:ext uri="{FF2B5EF4-FFF2-40B4-BE49-F238E27FC236}">
                    <a16:creationId xmlns:a16="http://schemas.microsoft.com/office/drawing/2014/main" id="{0DFECE1A-1211-86CD-9F2F-1BEA574448D8}"/>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56" name="TextBox 155">
                <a:extLst>
                  <a:ext uri="{FF2B5EF4-FFF2-40B4-BE49-F238E27FC236}">
                    <a16:creationId xmlns:a16="http://schemas.microsoft.com/office/drawing/2014/main" id="{948369BE-B017-271D-FAD6-FCA8E179CD0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57" name="TextBox 156">
                <a:extLst>
                  <a:ext uri="{FF2B5EF4-FFF2-40B4-BE49-F238E27FC236}">
                    <a16:creationId xmlns:a16="http://schemas.microsoft.com/office/drawing/2014/main" id="{BA7E08C1-460F-68AC-983A-1E7F28845F34}"/>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58" name="TextBox 157">
                <a:extLst>
                  <a:ext uri="{FF2B5EF4-FFF2-40B4-BE49-F238E27FC236}">
                    <a16:creationId xmlns:a16="http://schemas.microsoft.com/office/drawing/2014/main" id="{54DF8D0B-3D67-6BD4-8990-704D5199F310}"/>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59" name="TextBox 158">
                <a:extLst>
                  <a:ext uri="{FF2B5EF4-FFF2-40B4-BE49-F238E27FC236}">
                    <a16:creationId xmlns:a16="http://schemas.microsoft.com/office/drawing/2014/main" id="{7E1CF5CE-DA1C-A802-F0A8-C56514233D7F}"/>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60" name="TextBox 159">
                <a:extLst>
                  <a:ext uri="{FF2B5EF4-FFF2-40B4-BE49-F238E27FC236}">
                    <a16:creationId xmlns:a16="http://schemas.microsoft.com/office/drawing/2014/main" id="{DBBF6E78-42E8-3F02-0B9F-2835210B593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61" name="Straight Connector 160">
                <a:extLst>
                  <a:ext uri="{FF2B5EF4-FFF2-40B4-BE49-F238E27FC236}">
                    <a16:creationId xmlns:a16="http://schemas.microsoft.com/office/drawing/2014/main" id="{51C31B08-8330-A11B-4F1A-B06FF798EC0B}"/>
                  </a:ext>
                </a:extLst>
              </p:cNvPr>
              <p:cNvCxnSpPr>
                <a:stCxn id="164" idx="4"/>
                <a:endCxn id="16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DF936A7D-07BE-9BA8-21D5-AE93448D2F1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63" name="Oval 162">
                <a:extLst>
                  <a:ext uri="{FF2B5EF4-FFF2-40B4-BE49-F238E27FC236}">
                    <a16:creationId xmlns:a16="http://schemas.microsoft.com/office/drawing/2014/main" id="{B5D2CB04-20EB-6DF5-8909-971BD47541D3}"/>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64" name="Oval 163">
                <a:extLst>
                  <a:ext uri="{FF2B5EF4-FFF2-40B4-BE49-F238E27FC236}">
                    <a16:creationId xmlns:a16="http://schemas.microsoft.com/office/drawing/2014/main" id="{72050422-D698-F55D-822D-539B17CD05BA}"/>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65" name="Oval 164">
                <a:extLst>
                  <a:ext uri="{FF2B5EF4-FFF2-40B4-BE49-F238E27FC236}">
                    <a16:creationId xmlns:a16="http://schemas.microsoft.com/office/drawing/2014/main" id="{CB30E8C8-7D92-1928-E6B2-09A458489B4A}"/>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6" name="Oval 165">
                <a:extLst>
                  <a:ext uri="{FF2B5EF4-FFF2-40B4-BE49-F238E27FC236}">
                    <a16:creationId xmlns:a16="http://schemas.microsoft.com/office/drawing/2014/main" id="{5659AE9B-AED2-63F5-FFEF-4AC3BF336A0C}"/>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7" name="Oval 166">
                <a:extLst>
                  <a:ext uri="{FF2B5EF4-FFF2-40B4-BE49-F238E27FC236}">
                    <a16:creationId xmlns:a16="http://schemas.microsoft.com/office/drawing/2014/main" id="{5BDE5ABE-0BF2-0B27-7E8C-60DAA4887FE8}"/>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68" name="Oval 167">
                <a:extLst>
                  <a:ext uri="{FF2B5EF4-FFF2-40B4-BE49-F238E27FC236}">
                    <a16:creationId xmlns:a16="http://schemas.microsoft.com/office/drawing/2014/main" id="{9E2D920A-40D6-F04D-AC14-A74BA229EA51}"/>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9" name="Oval 168">
                <a:extLst>
                  <a:ext uri="{FF2B5EF4-FFF2-40B4-BE49-F238E27FC236}">
                    <a16:creationId xmlns:a16="http://schemas.microsoft.com/office/drawing/2014/main" id="{62DFA89F-EAD1-9C56-7425-0D3283049666}"/>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Oval 169">
                <a:extLst>
                  <a:ext uri="{FF2B5EF4-FFF2-40B4-BE49-F238E27FC236}">
                    <a16:creationId xmlns:a16="http://schemas.microsoft.com/office/drawing/2014/main" id="{D25E4BD8-F1DE-8963-31EA-49C479A959B2}"/>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71" name="Oval 170">
                <a:extLst>
                  <a:ext uri="{FF2B5EF4-FFF2-40B4-BE49-F238E27FC236}">
                    <a16:creationId xmlns:a16="http://schemas.microsoft.com/office/drawing/2014/main" id="{853FC4DB-BD17-BF97-F6FE-06F1DF7ADDBA}"/>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72" name="TextBox 171">
              <a:extLst>
                <a:ext uri="{FF2B5EF4-FFF2-40B4-BE49-F238E27FC236}">
                  <a16:creationId xmlns:a16="http://schemas.microsoft.com/office/drawing/2014/main" id="{72B9C0E9-4F4A-28A1-4EF7-71C638927532}"/>
                </a:ext>
              </a:extLst>
            </p:cNvPr>
            <p:cNvSpPr txBox="1"/>
            <p:nvPr/>
          </p:nvSpPr>
          <p:spPr>
            <a:xfrm>
              <a:off x="7086600" y="3962400"/>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4C06AA38-1612-6A93-21BB-70EA359FCE44}"/>
                    </a:ext>
                  </a:extLst>
                </p:cNvPr>
                <p:cNvSpPr txBox="1"/>
                <p:nvPr/>
              </p:nvSpPr>
              <p:spPr>
                <a:xfrm>
                  <a:off x="8148957" y="32777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73" name="TextBox 172">
                  <a:extLst>
                    <a:ext uri="{FF2B5EF4-FFF2-40B4-BE49-F238E27FC236}">
                      <a16:creationId xmlns:a16="http://schemas.microsoft.com/office/drawing/2014/main" id="{4C06AA38-1612-6A93-21BB-70EA359FCE44}"/>
                    </a:ext>
                  </a:extLst>
                </p:cNvPr>
                <p:cNvSpPr txBox="1">
                  <a:spLocks noRot="1" noChangeAspect="1" noMove="1" noResize="1" noEditPoints="1" noAdjustHandles="1" noChangeArrowheads="1" noChangeShapeType="1" noTextEdit="1"/>
                </p:cNvSpPr>
                <p:nvPr/>
              </p:nvSpPr>
              <p:spPr>
                <a:xfrm>
                  <a:off x="8148957" y="3277786"/>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4" name="TextBox 173">
                  <a:extLst>
                    <a:ext uri="{FF2B5EF4-FFF2-40B4-BE49-F238E27FC236}">
                      <a16:creationId xmlns:a16="http://schemas.microsoft.com/office/drawing/2014/main" id="{80460AAE-AA39-FF16-B609-F2F0EE40DF05}"/>
                    </a:ext>
                  </a:extLst>
                </p:cNvPr>
                <p:cNvSpPr txBox="1"/>
                <p:nvPr/>
              </p:nvSpPr>
              <p:spPr>
                <a:xfrm>
                  <a:off x="7315200" y="533892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74" name="TextBox 173">
                  <a:extLst>
                    <a:ext uri="{FF2B5EF4-FFF2-40B4-BE49-F238E27FC236}">
                      <a16:creationId xmlns:a16="http://schemas.microsoft.com/office/drawing/2014/main" id="{80460AAE-AA39-FF16-B609-F2F0EE40DF05}"/>
                    </a:ext>
                  </a:extLst>
                </p:cNvPr>
                <p:cNvSpPr txBox="1">
                  <a:spLocks noRot="1" noChangeAspect="1" noMove="1" noResize="1" noEditPoints="1" noAdjustHandles="1" noChangeArrowheads="1" noChangeShapeType="1" noTextEdit="1"/>
                </p:cNvSpPr>
                <p:nvPr/>
              </p:nvSpPr>
              <p:spPr>
                <a:xfrm>
                  <a:off x="7315200" y="5338920"/>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A0659F17-1C24-F96F-A6AF-0A70BE1087B3}"/>
                    </a:ext>
                  </a:extLst>
                </p:cNvPr>
                <p:cNvSpPr txBox="1"/>
                <p:nvPr/>
              </p:nvSpPr>
              <p:spPr>
                <a:xfrm>
                  <a:off x="8529076" y="426884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p:sp>
              <p:nvSpPr>
                <p:cNvPr id="175" name="TextBox 174">
                  <a:extLst>
                    <a:ext uri="{FF2B5EF4-FFF2-40B4-BE49-F238E27FC236}">
                      <a16:creationId xmlns:a16="http://schemas.microsoft.com/office/drawing/2014/main" id="{A0659F17-1C24-F96F-A6AF-0A70BE1087B3}"/>
                    </a:ext>
                  </a:extLst>
                </p:cNvPr>
                <p:cNvSpPr txBox="1">
                  <a:spLocks noRot="1" noChangeAspect="1" noMove="1" noResize="1" noEditPoints="1" noAdjustHandles="1" noChangeArrowheads="1" noChangeShapeType="1" noTextEdit="1"/>
                </p:cNvSpPr>
                <p:nvPr/>
              </p:nvSpPr>
              <p:spPr>
                <a:xfrm>
                  <a:off x="8529076" y="4268840"/>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6" name="TextBox 175">
                  <a:extLst>
                    <a:ext uri="{FF2B5EF4-FFF2-40B4-BE49-F238E27FC236}">
                      <a16:creationId xmlns:a16="http://schemas.microsoft.com/office/drawing/2014/main" id="{CB7366F2-337C-6A62-9057-95C180D24C66}"/>
                    </a:ext>
                  </a:extLst>
                </p:cNvPr>
                <p:cNvSpPr txBox="1"/>
                <p:nvPr/>
              </p:nvSpPr>
              <p:spPr>
                <a:xfrm>
                  <a:off x="9468933" y="33528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76" name="TextBox 175">
                  <a:extLst>
                    <a:ext uri="{FF2B5EF4-FFF2-40B4-BE49-F238E27FC236}">
                      <a16:creationId xmlns:a16="http://schemas.microsoft.com/office/drawing/2014/main" id="{CB7366F2-337C-6A62-9057-95C180D24C66}"/>
                    </a:ext>
                  </a:extLst>
                </p:cNvPr>
                <p:cNvSpPr txBox="1">
                  <a:spLocks noRot="1" noChangeAspect="1" noMove="1" noResize="1" noEditPoints="1" noAdjustHandles="1" noChangeArrowheads="1" noChangeShapeType="1" noTextEdit="1"/>
                </p:cNvSpPr>
                <p:nvPr/>
              </p:nvSpPr>
              <p:spPr>
                <a:xfrm>
                  <a:off x="9468933" y="33528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1D10D103-2C2A-CC57-50D7-0A6F7673076B}"/>
                    </a:ext>
                  </a:extLst>
                </p:cNvPr>
                <p:cNvSpPr txBox="1"/>
                <p:nvPr/>
              </p:nvSpPr>
              <p:spPr>
                <a:xfrm>
                  <a:off x="8687490" y="55235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77" name="TextBox 176">
                  <a:extLst>
                    <a:ext uri="{FF2B5EF4-FFF2-40B4-BE49-F238E27FC236}">
                      <a16:creationId xmlns:a16="http://schemas.microsoft.com/office/drawing/2014/main" id="{1D10D103-2C2A-CC57-50D7-0A6F7673076B}"/>
                    </a:ext>
                  </a:extLst>
                </p:cNvPr>
                <p:cNvSpPr txBox="1">
                  <a:spLocks noRot="1" noChangeAspect="1" noMove="1" noResize="1" noEditPoints="1" noAdjustHandles="1" noChangeArrowheads="1" noChangeShapeType="1" noTextEdit="1"/>
                </p:cNvSpPr>
                <p:nvPr/>
              </p:nvSpPr>
              <p:spPr>
                <a:xfrm>
                  <a:off x="8687490" y="5523586"/>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8" name="TextBox 177">
                  <a:extLst>
                    <a:ext uri="{FF2B5EF4-FFF2-40B4-BE49-F238E27FC236}">
                      <a16:creationId xmlns:a16="http://schemas.microsoft.com/office/drawing/2014/main" id="{DB34DC73-2D5D-F33F-A1CF-3E17FD89079F}"/>
                    </a:ext>
                  </a:extLst>
                </p:cNvPr>
                <p:cNvSpPr txBox="1"/>
                <p:nvPr/>
              </p:nvSpPr>
              <p:spPr>
                <a:xfrm>
                  <a:off x="9944207" y="550815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78" name="TextBox 177">
                  <a:extLst>
                    <a:ext uri="{FF2B5EF4-FFF2-40B4-BE49-F238E27FC236}">
                      <a16:creationId xmlns:a16="http://schemas.microsoft.com/office/drawing/2014/main" id="{DB34DC73-2D5D-F33F-A1CF-3E17FD89079F}"/>
                    </a:ext>
                  </a:extLst>
                </p:cNvPr>
                <p:cNvSpPr txBox="1">
                  <a:spLocks noRot="1" noChangeAspect="1" noMove="1" noResize="1" noEditPoints="1" noAdjustHandles="1" noChangeArrowheads="1" noChangeShapeType="1" noTextEdit="1"/>
                </p:cNvSpPr>
                <p:nvPr/>
              </p:nvSpPr>
              <p:spPr>
                <a:xfrm>
                  <a:off x="9944207" y="550815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DCC898EB-EBD5-1D4A-8CB2-095DD1B664BE}"/>
                    </a:ext>
                  </a:extLst>
                </p:cNvPr>
                <p:cNvSpPr txBox="1"/>
                <p:nvPr/>
              </p:nvSpPr>
              <p:spPr>
                <a:xfrm>
                  <a:off x="10366649" y="3722132"/>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79" name="TextBox 178">
                  <a:extLst>
                    <a:ext uri="{FF2B5EF4-FFF2-40B4-BE49-F238E27FC236}">
                      <a16:creationId xmlns:a16="http://schemas.microsoft.com/office/drawing/2014/main" id="{DCC898EB-EBD5-1D4A-8CB2-095DD1B664BE}"/>
                    </a:ext>
                  </a:extLst>
                </p:cNvPr>
                <p:cNvSpPr txBox="1">
                  <a:spLocks noRot="1" noChangeAspect="1" noMove="1" noResize="1" noEditPoints="1" noAdjustHandles="1" noChangeArrowheads="1" noChangeShapeType="1" noTextEdit="1"/>
                </p:cNvSpPr>
                <p:nvPr/>
              </p:nvSpPr>
              <p:spPr>
                <a:xfrm>
                  <a:off x="10366649" y="3722132"/>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0" name="TextBox 179">
                  <a:extLst>
                    <a:ext uri="{FF2B5EF4-FFF2-40B4-BE49-F238E27FC236}">
                      <a16:creationId xmlns:a16="http://schemas.microsoft.com/office/drawing/2014/main" id="{0C8388A9-2D5A-E7FD-BEDA-3F8161AD0BCE}"/>
                    </a:ext>
                  </a:extLst>
                </p:cNvPr>
                <p:cNvSpPr txBox="1"/>
                <p:nvPr/>
              </p:nvSpPr>
              <p:spPr>
                <a:xfrm>
                  <a:off x="11225468" y="4395879"/>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80" name="TextBox 179">
                  <a:extLst>
                    <a:ext uri="{FF2B5EF4-FFF2-40B4-BE49-F238E27FC236}">
                      <a16:creationId xmlns:a16="http://schemas.microsoft.com/office/drawing/2014/main" id="{0C8388A9-2D5A-E7FD-BEDA-3F8161AD0BCE}"/>
                    </a:ext>
                  </a:extLst>
                </p:cNvPr>
                <p:cNvSpPr txBox="1">
                  <a:spLocks noRot="1" noChangeAspect="1" noMove="1" noResize="1" noEditPoints="1" noAdjustHandles="1" noChangeArrowheads="1" noChangeShapeType="1" noTextEdit="1"/>
                </p:cNvSpPr>
                <p:nvPr/>
              </p:nvSpPr>
              <p:spPr>
                <a:xfrm>
                  <a:off x="11225468" y="4395879"/>
                  <a:ext cx="433132" cy="369332"/>
                </a:xfrm>
                <a:prstGeom prst="rect">
                  <a:avLst/>
                </a:prstGeom>
                <a:blipFill>
                  <a:blip r:embed="rId1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816096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50C67-6614-E0A8-7DC3-D73D18C35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A7FC5-8995-DDCE-5A34-094DFA6BF07E}"/>
              </a:ext>
            </a:extLst>
          </p:cNvPr>
          <p:cNvSpPr>
            <a:spLocks noGrp="1"/>
          </p:cNvSpPr>
          <p:nvPr>
            <p:ph type="title"/>
          </p:nvPr>
        </p:nvSpPr>
        <p:spPr/>
        <p:txBody>
          <a:bodyPr>
            <a:normAutofit/>
          </a:bodyPr>
          <a:lstStyle/>
          <a:p>
            <a:r>
              <a:rPr lang="en-US" dirty="0"/>
              <a:t>Dijkstra’s</a:t>
            </a:r>
          </a:p>
        </p:txBody>
      </p:sp>
      <p:sp>
        <p:nvSpPr>
          <p:cNvPr id="5" name="TextBox 4">
            <a:extLst>
              <a:ext uri="{FF2B5EF4-FFF2-40B4-BE49-F238E27FC236}">
                <a16:creationId xmlns:a16="http://schemas.microsoft.com/office/drawing/2014/main" id="{7D00DF9E-D981-B9DE-0213-A6EC4281A681}"/>
              </a:ext>
            </a:extLst>
          </p:cNvPr>
          <p:cNvSpPr txBox="1"/>
          <p:nvPr/>
        </p:nvSpPr>
        <p:spPr>
          <a:xfrm>
            <a:off x="978905" y="1337488"/>
            <a:ext cx="5532582" cy="5324535"/>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a:t>
            </a:r>
            <a:r>
              <a:rPr lang="en-US" sz="2000" dirty="0" err="1"/>
              <a:t>PQ.decreaseKey</a:t>
            </a:r>
            <a:r>
              <a:rPr lang="en-US" sz="2000" dirty="0"/>
              <a:t>(v, d)</a:t>
            </a:r>
          </a:p>
          <a:p>
            <a:r>
              <a:rPr lang="en-US" sz="2000" dirty="0"/>
              <a:t>         </a:t>
            </a:r>
          </a:p>
          <a:p>
            <a:endParaRPr lang="en-US" sz="2000" dirty="0"/>
          </a:p>
        </p:txBody>
      </p:sp>
      <p:sp>
        <p:nvSpPr>
          <p:cNvPr id="3" name="TextBox 2">
            <a:extLst>
              <a:ext uri="{FF2B5EF4-FFF2-40B4-BE49-F238E27FC236}">
                <a16:creationId xmlns:a16="http://schemas.microsoft.com/office/drawing/2014/main" id="{5340215A-8216-593A-BB1F-9A3C595197B4}"/>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6" name="TextBox 5">
            <a:extLst>
              <a:ext uri="{FF2B5EF4-FFF2-40B4-BE49-F238E27FC236}">
                <a16:creationId xmlns:a16="http://schemas.microsoft.com/office/drawing/2014/main" id="{2BF61ED2-533A-F37C-7346-ECD82951558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sp>
        <p:nvSpPr>
          <p:cNvPr id="7" name="TextBox 6">
            <a:extLst>
              <a:ext uri="{FF2B5EF4-FFF2-40B4-BE49-F238E27FC236}">
                <a16:creationId xmlns:a16="http://schemas.microsoft.com/office/drawing/2014/main" id="{D478637C-220B-9777-0D27-9DDCFF148B61}"/>
              </a:ext>
            </a:extLst>
          </p:cNvPr>
          <p:cNvSpPr txBox="1"/>
          <p:nvPr/>
        </p:nvSpPr>
        <p:spPr>
          <a:xfrm>
            <a:off x="6391564" y="3208631"/>
            <a:ext cx="5881254" cy="923330"/>
          </a:xfrm>
          <a:prstGeom prst="rect">
            <a:avLst/>
          </a:prstGeom>
          <a:noFill/>
        </p:spPr>
        <p:txBody>
          <a:bodyPr wrap="square">
            <a:spAutoFit/>
          </a:bodyPr>
          <a:lstStyle/>
          <a:p>
            <a:r>
              <a:rPr lang="en-US" dirty="0">
                <a:solidFill>
                  <a:srgbClr val="FF0000"/>
                </a:solidFill>
              </a:rPr>
              <a:t>Seen = added to the priority queue</a:t>
            </a:r>
          </a:p>
          <a:p>
            <a:r>
              <a:rPr lang="en-US" dirty="0">
                <a:solidFill>
                  <a:srgbClr val="FF0000"/>
                </a:solidFill>
              </a:rPr>
              <a:t>Done = removed from the priority queue</a:t>
            </a:r>
          </a:p>
          <a:p>
            <a:r>
              <a:rPr lang="en-US" dirty="0">
                <a:solidFill>
                  <a:srgbClr val="FF0000"/>
                </a:solidFill>
              </a:rPr>
              <a:t>When it’s done we’ve found the shortest path to that node</a:t>
            </a:r>
          </a:p>
        </p:txBody>
      </p:sp>
      <p:grpSp>
        <p:nvGrpSpPr>
          <p:cNvPr id="22" name="Group 21" descr="In the pseudocode, we have the inner for loop that states &quot;for each neighbor of curr&quot;. For a particular node v, this loop runs deg(v) times. Across all nodes, this for loop therefore iterates |E| times.&#10;&#10;Within the for loop we do a constant number of priority queue operations, where the maximum size of the priority queue is |V|. Therefore each iteration of the for loop is worse case O(log |V|) time.&#10;&#10;Combined, we have an overall running time of |E| log |V|.">
            <a:extLst>
              <a:ext uri="{FF2B5EF4-FFF2-40B4-BE49-F238E27FC236}">
                <a16:creationId xmlns:a16="http://schemas.microsoft.com/office/drawing/2014/main" id="{EF6DB139-9AF5-70F7-A2C3-3BBBCA5191CC}"/>
              </a:ext>
            </a:extLst>
          </p:cNvPr>
          <p:cNvGrpSpPr/>
          <p:nvPr/>
        </p:nvGrpSpPr>
        <p:grpSpPr>
          <a:xfrm>
            <a:off x="23558" y="3223492"/>
            <a:ext cx="10746042" cy="2743200"/>
            <a:chOff x="23558" y="3223492"/>
            <a:chExt cx="10746042" cy="274320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0C31AF8-92A6-EE59-FD08-444176A0FBAD}"/>
                    </a:ext>
                  </a:extLst>
                </p:cNvPr>
                <p:cNvSpPr txBox="1"/>
                <p:nvPr/>
              </p:nvSpPr>
              <p:spPr>
                <a:xfrm>
                  <a:off x="7894783" y="5108803"/>
                  <a:ext cx="2874817" cy="369332"/>
                </a:xfrm>
                <a:prstGeom prst="rect">
                  <a:avLst/>
                </a:prstGeom>
                <a:noFill/>
              </p:spPr>
              <p:txBody>
                <a:bodyPr wrap="square">
                  <a:spAutoFit/>
                </a:bodyPr>
                <a:lstStyle/>
                <a:p>
                  <a:r>
                    <a:rPr lang="en-US" dirty="0">
                      <a:solidFill>
                        <a:srgbClr val="0070C0"/>
                      </a:solidFill>
                    </a:rPr>
                    <a:t>Running time: </a:t>
                  </a:r>
                  <a14:m>
                    <m:oMath xmlns:m="http://schemas.openxmlformats.org/officeDocument/2006/math">
                      <m:r>
                        <m:rPr>
                          <m:sty m:val="p"/>
                        </m:rPr>
                        <a:rPr lang="en-US" b="0" i="0" smtClean="0">
                          <a:solidFill>
                            <a:srgbClr val="0070C0"/>
                          </a:solidFill>
                          <a:latin typeface="Cambria Math" panose="02040503050406030204" pitchFamily="18" charset="0"/>
                        </a:rPr>
                        <m:t>Θ</m:t>
                      </m:r>
                      <m:d>
                        <m:dPr>
                          <m:ctrlPr>
                            <a:rPr lang="en-US" b="0" i="1" smtClean="0">
                              <a:solidFill>
                                <a:srgbClr val="0070C0"/>
                              </a:solidFill>
                              <a:latin typeface="Cambria Math" panose="02040503050406030204" pitchFamily="18" charset="0"/>
                            </a:rPr>
                          </m:ctrlPr>
                        </m:dPr>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𝐸</m:t>
                              </m:r>
                            </m:e>
                          </m:d>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e>
                      </m:d>
                    </m:oMath>
                  </a14:m>
                  <a:endParaRPr lang="en-US" dirty="0">
                    <a:solidFill>
                      <a:srgbClr val="0070C0"/>
                    </a:solidFill>
                  </a:endParaRPr>
                </a:p>
              </p:txBody>
            </p:sp>
          </mc:Choice>
          <mc:Fallback xmlns="">
            <p:sp>
              <p:nvSpPr>
                <p:cNvPr id="8" name="TextBox 7">
                  <a:extLst>
                    <a:ext uri="{FF2B5EF4-FFF2-40B4-BE49-F238E27FC236}">
                      <a16:creationId xmlns:a16="http://schemas.microsoft.com/office/drawing/2014/main" id="{00C31AF8-92A6-EE59-FD08-444176A0FBAD}"/>
                    </a:ext>
                  </a:extLst>
                </p:cNvPr>
                <p:cNvSpPr txBox="1">
                  <a:spLocks noRot="1" noChangeAspect="1" noMove="1" noResize="1" noEditPoints="1" noAdjustHandles="1" noChangeArrowheads="1" noChangeShapeType="1" noTextEdit="1"/>
                </p:cNvSpPr>
                <p:nvPr/>
              </p:nvSpPr>
              <p:spPr>
                <a:xfrm>
                  <a:off x="7894783" y="5108803"/>
                  <a:ext cx="2874817" cy="369332"/>
                </a:xfrm>
                <a:prstGeom prst="rect">
                  <a:avLst/>
                </a:prstGeom>
                <a:blipFill>
                  <a:blip r:embed="rId2"/>
                  <a:stretch>
                    <a:fillRect l="-1695" t="-8197" b="-24590"/>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14546CC3-7E9D-B6AF-E341-25FA8C652CA3}"/>
                </a:ext>
              </a:extLst>
            </p:cNvPr>
            <p:cNvSpPr/>
            <p:nvPr/>
          </p:nvSpPr>
          <p:spPr>
            <a:xfrm>
              <a:off x="810492" y="3223492"/>
              <a:ext cx="584200" cy="274320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F4BEF50-2E7E-3A91-37F6-6F058E680EF7}"/>
                    </a:ext>
                  </a:extLst>
                </p:cNvPr>
                <p:cNvSpPr txBox="1"/>
                <p:nvPr/>
              </p:nvSpPr>
              <p:spPr>
                <a:xfrm>
                  <a:off x="23558" y="4185274"/>
                  <a:ext cx="1107579" cy="646331"/>
                </a:xfrm>
                <a:prstGeom prst="rect">
                  <a:avLst/>
                </a:prstGeom>
                <a:noFill/>
              </p:spPr>
              <p:txBody>
                <a:bodyPr wrap="square">
                  <a:spAutoFit/>
                </a:bodyPr>
                <a:lstStyle/>
                <a:p>
                  <a:r>
                    <a:rPr lang="en-US" dirty="0">
                      <a:solidFill>
                        <a:srgbClr val="0070C0"/>
                      </a:solidFill>
                    </a:rPr>
                    <a:t>Loops </a:t>
                  </a:r>
                  <a14:m>
                    <m:oMath xmlns:m="http://schemas.openxmlformats.org/officeDocument/2006/math">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𝐸</m:t>
                      </m:r>
                      <m:r>
                        <a:rPr lang="en-US" b="0" i="1" smtClean="0">
                          <a:solidFill>
                            <a:srgbClr val="0070C0"/>
                          </a:solidFill>
                          <a:latin typeface="Cambria Math" panose="02040503050406030204" pitchFamily="18" charset="0"/>
                        </a:rPr>
                        <m:t>|</m:t>
                      </m:r>
                    </m:oMath>
                  </a14:m>
                  <a:r>
                    <a:rPr lang="en-US" dirty="0">
                      <a:solidFill>
                        <a:srgbClr val="0070C0"/>
                      </a:solidFill>
                    </a:rPr>
                    <a:t> times</a:t>
                  </a:r>
                </a:p>
              </p:txBody>
            </p:sp>
          </mc:Choice>
          <mc:Fallback xmlns="">
            <p:sp>
              <p:nvSpPr>
                <p:cNvPr id="11" name="TextBox 10">
                  <a:extLst>
                    <a:ext uri="{FF2B5EF4-FFF2-40B4-BE49-F238E27FC236}">
                      <a16:creationId xmlns:a16="http://schemas.microsoft.com/office/drawing/2014/main" id="{5F4BEF50-2E7E-3A91-37F6-6F058E680EF7}"/>
                    </a:ext>
                  </a:extLst>
                </p:cNvPr>
                <p:cNvSpPr txBox="1">
                  <a:spLocks noRot="1" noChangeAspect="1" noMove="1" noResize="1" noEditPoints="1" noAdjustHandles="1" noChangeArrowheads="1" noChangeShapeType="1" noTextEdit="1"/>
                </p:cNvSpPr>
                <p:nvPr/>
              </p:nvSpPr>
              <p:spPr>
                <a:xfrm>
                  <a:off x="23558" y="4185274"/>
                  <a:ext cx="1107579" cy="646331"/>
                </a:xfrm>
                <a:prstGeom prst="rect">
                  <a:avLst/>
                </a:prstGeom>
                <a:blipFill>
                  <a:blip r:embed="rId3"/>
                  <a:stretch>
                    <a:fillRect l="-494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D7543FA-9328-F538-F0B8-482E05D0D519}"/>
                    </a:ext>
                  </a:extLst>
                </p:cNvPr>
                <p:cNvSpPr txBox="1"/>
                <p:nvPr/>
              </p:nvSpPr>
              <p:spPr>
                <a:xfrm>
                  <a:off x="6093565" y="4739241"/>
                  <a:ext cx="1371253" cy="923330"/>
                </a:xfrm>
                <a:prstGeom prst="rect">
                  <a:avLst/>
                </a:prstGeom>
                <a:noFill/>
              </p:spPr>
              <p:txBody>
                <a:bodyPr wrap="square">
                  <a:spAutoFit/>
                </a:bodyPr>
                <a:lstStyle/>
                <a:p>
                  <a:r>
                    <a:rPr lang="en-US" dirty="0">
                      <a:solidFill>
                        <a:srgbClr val="0070C0"/>
                      </a:solidFill>
                    </a:rPr>
                    <a:t>Worst case </a:t>
                  </a:r>
                  <a14:m>
                    <m:oMath xmlns:m="http://schemas.openxmlformats.org/officeDocument/2006/math">
                      <m:r>
                        <m:rPr>
                          <m:sty m:val="p"/>
                        </m:rPr>
                        <a:rPr lang="en-US" b="0" i="0" smtClean="0">
                          <a:solidFill>
                            <a:srgbClr val="0070C0"/>
                          </a:solidFill>
                          <a:latin typeface="Cambria Math" panose="02040503050406030204" pitchFamily="18" charset="0"/>
                        </a:rPr>
                        <m:t>Θ</m:t>
                      </m:r>
                      <m:r>
                        <a:rPr lang="en-US" b="0" i="1" smtClean="0">
                          <a:solidFill>
                            <a:srgbClr val="0070C0"/>
                          </a:solidFill>
                          <a:latin typeface="Cambria Math" panose="02040503050406030204" pitchFamily="18" charset="0"/>
                        </a:rPr>
                        <m:t>(</m:t>
                      </m:r>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r>
                        <a:rPr lang="en-US" b="0" i="1" smtClean="0">
                          <a:solidFill>
                            <a:srgbClr val="0070C0"/>
                          </a:solidFill>
                          <a:latin typeface="Cambria Math" panose="02040503050406030204" pitchFamily="18" charset="0"/>
                        </a:rPr>
                        <m:t>)</m:t>
                      </m:r>
                    </m:oMath>
                  </a14:m>
                  <a:r>
                    <a:rPr lang="en-US" dirty="0">
                      <a:solidFill>
                        <a:srgbClr val="0070C0"/>
                      </a:solidFill>
                    </a:rPr>
                    <a:t> each</a:t>
                  </a:r>
                </a:p>
              </p:txBody>
            </p:sp>
          </mc:Choice>
          <mc:Fallback xmlns="">
            <p:sp>
              <p:nvSpPr>
                <p:cNvPr id="12" name="TextBox 11">
                  <a:extLst>
                    <a:ext uri="{FF2B5EF4-FFF2-40B4-BE49-F238E27FC236}">
                      <a16:creationId xmlns:a16="http://schemas.microsoft.com/office/drawing/2014/main" id="{BD7543FA-9328-F538-F0B8-482E05D0D519}"/>
                    </a:ext>
                  </a:extLst>
                </p:cNvPr>
                <p:cNvSpPr txBox="1">
                  <a:spLocks noRot="1" noChangeAspect="1" noMove="1" noResize="1" noEditPoints="1" noAdjustHandles="1" noChangeArrowheads="1" noChangeShapeType="1" noTextEdit="1"/>
                </p:cNvSpPr>
                <p:nvPr/>
              </p:nvSpPr>
              <p:spPr>
                <a:xfrm>
                  <a:off x="6093565" y="4739241"/>
                  <a:ext cx="1371253" cy="923330"/>
                </a:xfrm>
                <a:prstGeom prst="rect">
                  <a:avLst/>
                </a:prstGeom>
                <a:blipFill>
                  <a:blip r:embed="rId4"/>
                  <a:stretch>
                    <a:fillRect l="-4000" t="-3289" b="-921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BF44557C-90DF-9AFD-DFDA-659D0AAD740C}"/>
                </a:ext>
              </a:extLst>
            </p:cNvPr>
            <p:cNvCxnSpPr>
              <a:cxnSpLocks/>
              <a:stCxn id="12" idx="1"/>
            </p:cNvCxnSpPr>
            <p:nvPr/>
          </p:nvCxnSpPr>
          <p:spPr>
            <a:xfrm flipH="1" flipV="1">
              <a:off x="3509818" y="4913745"/>
              <a:ext cx="2583747" cy="2871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48D7CDF-F47D-2694-EC18-AE8EE557C879}"/>
                </a:ext>
              </a:extLst>
            </p:cNvPr>
            <p:cNvCxnSpPr>
              <a:cxnSpLocks/>
              <a:stCxn id="12" idx="1"/>
            </p:cNvCxnSpPr>
            <p:nvPr/>
          </p:nvCxnSpPr>
          <p:spPr>
            <a:xfrm flipH="1">
              <a:off x="3980873" y="5200906"/>
              <a:ext cx="2112692" cy="600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20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(1/8)</a:t>
            </a:r>
          </a:p>
        </p:txBody>
      </p:sp>
      <p:sp>
        <p:nvSpPr>
          <p:cNvPr id="8" name="TextBox 7">
            <a:extLst>
              <a:ext uri="{FF2B5EF4-FFF2-40B4-BE49-F238E27FC236}">
                <a16:creationId xmlns:a16="http://schemas.microsoft.com/office/drawing/2014/main" id="{2EDA24C6-DAB3-0D4B-C96F-39837370389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549A59E0-910E-8F4C-8D9E-2EF7803C459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5" name="Group 4" descr="An illustration of the following weighted undirected graph:&#10;&#10;The vertices are: 0,1,2,3,4,5,6,7&#10;The edges are as follows:&#10;(10,1) w=10, (0,2) w=12, &#10;(1,4) w=8, (1,2) w=9, &#10;(2,3) w=3, (2,5) w=1, &#10;(3,4) w=7, (3,5) w=1, &#10;(4,6) w=5, (4,7) w=6, &#10;(5,6) w=7, &#10;(6,7) w=9, (6,8) w=11, &#10;(7,8) w=2&#10;&#10;The source of our single-source shortest paths will be node 0. To begin, 0 is marked as seen by not done and has distance 0. 0 is the only node on the priority queue. All other nodes are neither seen nor done and their distance is infinity.">
            <a:extLst>
              <a:ext uri="{FF2B5EF4-FFF2-40B4-BE49-F238E27FC236}">
                <a16:creationId xmlns:a16="http://schemas.microsoft.com/office/drawing/2014/main" id="{C5F99991-0ED0-7652-2AC9-F2DB27C3FAB8}"/>
              </a:ext>
            </a:extLst>
          </p:cNvPr>
          <p:cNvGrpSpPr/>
          <p:nvPr/>
        </p:nvGrpSpPr>
        <p:grpSpPr>
          <a:xfrm>
            <a:off x="6308046" y="3183900"/>
            <a:ext cx="4616614" cy="2970614"/>
            <a:chOff x="6308046" y="3183900"/>
            <a:chExt cx="4616614" cy="29706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331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3313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grpSp>
      <p:sp>
        <p:nvSpPr>
          <p:cNvPr id="43" name="TextBox 42"/>
          <p:cNvSpPr txBox="1"/>
          <p:nvPr/>
        </p:nvSpPr>
        <p:spPr>
          <a:xfrm>
            <a:off x="1905001" y="1143000"/>
            <a:ext cx="3381894"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208197" r="-1869" b="-722951"/>
                          </a:stretch>
                        </a:blip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308197" r="-1869" b="-622951"/>
                          </a:stretch>
                        </a:blip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723040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(2/8)</a:t>
            </a:r>
          </a:p>
        </p:txBody>
      </p:sp>
      <p:sp>
        <p:nvSpPr>
          <p:cNvPr id="9" name="TextBox 8">
            <a:extLst>
              <a:ext uri="{FF2B5EF4-FFF2-40B4-BE49-F238E27FC236}">
                <a16:creationId xmlns:a16="http://schemas.microsoft.com/office/drawing/2014/main" id="{E7A5B5C9-A27D-79D0-2A89-02B238BE9C0B}"/>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32719A18-4BE2-4E25-34C9-90BF039CFBB7}"/>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5" name="Group 4" descr="An illustration of the following weighted undirected graph:&#10;&#10;The vertices are: 0,1,2,3,4,5,6,7&#10;The edges are as follows:&#10;(10,1) w=10, (0,2) w=12, &#10;(1,4) w=8, (1,2) w=9, &#10;(2,3) w=3, (2,5) w=1, &#10;(3,4) w=7, (3,5) w=1, &#10;(4,6) w=5, (4,7) w=6, &#10;(5,6) w=7, &#10;(6,7) w=9, (6,8) w=11, &#10;(7,8) w=2&#10;&#10;At each step we will remove the node with the smallest priority from the priority queue. In this case, 0 is the only node in the priority queue, and so we remove 0. We mark 0 as done.&#10;&#10;The neighbors of 0 are 1 and 2. Because 0 had distance 0 from the source, and the edge (0,1) had weight 10, there is a path to node 1 with cost 0+10=10. Since 1 was not yet seen, we mark 1 as seen and then add it to the priority queue with priority 10.&#10;&#10;Because 0 had distance 0 from the source, and the edge (0,2) had weight 12, there is a path to node 2 with cost 0+12=12. Since 2 was not yet seen, we mark 2 as seen and then add it to the priority queue with priority 12.">
            <a:extLst>
              <a:ext uri="{FF2B5EF4-FFF2-40B4-BE49-F238E27FC236}">
                <a16:creationId xmlns:a16="http://schemas.microsoft.com/office/drawing/2014/main" id="{F6DCA0C1-7211-F734-939C-8289CDBE2E31}"/>
              </a:ext>
            </a:extLst>
          </p:cNvPr>
          <p:cNvGrpSpPr/>
          <p:nvPr/>
        </p:nvGrpSpPr>
        <p:grpSpPr>
          <a:xfrm>
            <a:off x="6094057" y="3183900"/>
            <a:ext cx="4830603" cy="2970614"/>
            <a:chOff x="6094057" y="3183900"/>
            <a:chExt cx="4830603" cy="2970614"/>
          </a:xfrm>
        </p:grpSpPr>
        <p:cxnSp>
          <p:nvCxnSpPr>
            <p:cNvPr id="45" name="Straight Connector 44"/>
            <p:cNvCxnSpPr>
              <a:stCxn id="111" idx="7"/>
              <a:endCxn id="112" idx="2"/>
            </p:cNvCxnSpPr>
            <p:nvPr/>
          </p:nvCxnSpPr>
          <p:spPr>
            <a:xfrm flipV="1">
              <a:off x="6610687" y="3637978"/>
              <a:ext cx="974896" cy="62859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7920754" y="3637978"/>
              <a:ext cx="986191" cy="342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6492186" y="4552659"/>
              <a:ext cx="560220" cy="68322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7289409" y="4717992"/>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7289409" y="5472883"/>
              <a:ext cx="894245" cy="36915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8291772" y="4717992"/>
              <a:ext cx="59468" cy="95646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8291772" y="3790691"/>
              <a:ext cx="664258" cy="6902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8518825" y="5792955"/>
              <a:ext cx="1120694" cy="49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9074531" y="3839775"/>
              <a:ext cx="564988" cy="171617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9193032" y="3790691"/>
              <a:ext cx="596853" cy="32337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9758020" y="4232568"/>
              <a:ext cx="80950" cy="127430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10075972" y="4232568"/>
              <a:ext cx="562601" cy="4406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9925606" y="4910269"/>
              <a:ext cx="712967" cy="7641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6825611" y="3584662"/>
              <a:ext cx="418704" cy="369332"/>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10305090" y="4174954"/>
              <a:ext cx="301686" cy="369332"/>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8868663" y="5785182"/>
              <a:ext cx="301686" cy="369332"/>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10273606" y="5354382"/>
              <a:ext cx="418704" cy="369332"/>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9756714" y="4499062"/>
              <a:ext cx="301686" cy="369332"/>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9014810" y="4412487"/>
              <a:ext cx="301686" cy="369332"/>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9317015" y="3652641"/>
              <a:ext cx="301686" cy="369332"/>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8321820" y="5120066"/>
              <a:ext cx="301686" cy="369332"/>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8325468" y="3965662"/>
              <a:ext cx="301686" cy="369332"/>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7663955" y="4909744"/>
              <a:ext cx="301686" cy="369332"/>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7556163" y="5680391"/>
              <a:ext cx="301686" cy="369332"/>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8173270" y="3367274"/>
              <a:ext cx="301686" cy="369332"/>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6492186" y="4826333"/>
              <a:ext cx="418704" cy="369332"/>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7170907" y="3805564"/>
              <a:ext cx="582261" cy="1381232"/>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48131" y="4281652"/>
              <a:ext cx="301686" cy="369332"/>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6324600" y="4217488"/>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7585583" y="347039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7003322" y="518679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8005685" y="443190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8906945" y="350460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8183654" y="567445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9590435" y="55068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10589489" y="4624182"/>
              <a:ext cx="335171" cy="335171"/>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9789885" y="394648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128">
              <a:extLst>
                <a:ext uri="{FF2B5EF4-FFF2-40B4-BE49-F238E27FC236}">
                  <a16:creationId xmlns:a16="http://schemas.microsoft.com/office/drawing/2014/main" id="{55A2AC7A-2AFB-5043-31ED-CB388B10C1C8}"/>
                </a:ext>
              </a:extLst>
            </p:cNvPr>
            <p:cNvSpPr/>
            <p:nvPr/>
          </p:nvSpPr>
          <p:spPr>
            <a:xfrm>
              <a:off x="6094057" y="3839848"/>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950633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(3/8)</a:t>
            </a:r>
          </a:p>
        </p:txBody>
      </p:sp>
      <p:sp>
        <p:nvSpPr>
          <p:cNvPr id="9" name="TextBox 8">
            <a:extLst>
              <a:ext uri="{FF2B5EF4-FFF2-40B4-BE49-F238E27FC236}">
                <a16:creationId xmlns:a16="http://schemas.microsoft.com/office/drawing/2014/main" id="{4602EFD5-44CF-8D2A-1EDE-EDDE2D634DD8}"/>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206CBF64-E216-A0AB-6859-997EAFD84173}"/>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1 from the priority queue, which has distance 10. We mark 1 as done.&#10;&#10;The undone neighbors of 1 are 2 and 4. Because 1 had distance 10 from the source, and the edge (0,2) had weight 9, there is a path to node 2 with cost 10+9=19. 1 was already seen and has distance 12. Since 12&lt;19, we make no updates to node 2.&#10;&#10;The edge (1,4) had weight 8, so there is a path to node 4 with cost 10+8=18. Since 4 was not yet seen, we mark 4 as seen and then add it to the priority queue with priority 18.">
            <a:extLst>
              <a:ext uri="{FF2B5EF4-FFF2-40B4-BE49-F238E27FC236}">
                <a16:creationId xmlns:a16="http://schemas.microsoft.com/office/drawing/2014/main" id="{160E901C-2B3B-1F97-56B5-6B556EA6FF88}"/>
              </a:ext>
            </a:extLst>
          </p:cNvPr>
          <p:cNvGrpSpPr/>
          <p:nvPr/>
        </p:nvGrpSpPr>
        <p:grpSpPr>
          <a:xfrm>
            <a:off x="6020278" y="2990600"/>
            <a:ext cx="4904382" cy="3163914"/>
            <a:chOff x="6020278" y="2990600"/>
            <a:chExt cx="4904382" cy="31639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52">
              <a:extLst>
                <a:ext uri="{FF2B5EF4-FFF2-40B4-BE49-F238E27FC236}">
                  <a16:creationId xmlns:a16="http://schemas.microsoft.com/office/drawing/2014/main" id="{6A915CC6-41C2-5EEB-A078-FB9410429D29}"/>
                </a:ext>
              </a:extLst>
            </p:cNvPr>
            <p:cNvSpPr/>
            <p:nvPr/>
          </p:nvSpPr>
          <p:spPr>
            <a:xfrm>
              <a:off x="6020278" y="2990600"/>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2439610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(4/8)</a:t>
            </a:r>
          </a:p>
        </p:txBody>
      </p:sp>
      <p:sp>
        <p:nvSpPr>
          <p:cNvPr id="9" name="TextBox 8">
            <a:extLst>
              <a:ext uri="{FF2B5EF4-FFF2-40B4-BE49-F238E27FC236}">
                <a16:creationId xmlns:a16="http://schemas.microsoft.com/office/drawing/2014/main" id="{6C4B4080-E8DA-8856-7748-55E5B8632E46}"/>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12DBE2B8-E53A-E358-ABA8-46992D45A65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6" name="Group 5" descr="An illustration of the following weighted undirected graph:&#10;&#10;The vertices are: 0,1,2,3,4,5,6,7&#10;The edges are as follows:&#10;(10,1) w=10, (0,2) w=12, &#10;(1,4) w=8, (1,2) w=9, &#10;(2,3) w=3, (2,5) w=1, &#10;(3,4) w=7, (3,5) w=1, &#10;(4,6) w=5, (4,7) w=6, &#10;(5,6) w=7, &#10;(6,7) w=9, (6,8) w=11, &#10;(7,8) w=2&#10;&#10;Next we remove node 2 from the priority queue, which has distance 12. We mark 2 as done.&#10;&#10;The undone neighbors of 2 are 3 and 5. Because 2 had distance 12 from the source, and the edge (2,3) had weight 3, there is a path to node 3 with cost 12+3=15. 3 was noy yet seen so we mark node 3 as seen and add it to the priority queue with priority 15.&#10;&#10;The edge (2,5) had weight 1, so there is a path to node 5 with cost 12+1=13. Since 5 was not yet seen, we mark 5 as seen and then add it to the priority queue with priority 13.">
            <a:extLst>
              <a:ext uri="{FF2B5EF4-FFF2-40B4-BE49-F238E27FC236}">
                <a16:creationId xmlns:a16="http://schemas.microsoft.com/office/drawing/2014/main" id="{0FE565FD-4535-EAD3-B0BA-E54CDDE2454D}"/>
              </a:ext>
            </a:extLst>
          </p:cNvPr>
          <p:cNvGrpSpPr/>
          <p:nvPr/>
        </p:nvGrpSpPr>
        <p:grpSpPr>
          <a:xfrm>
            <a:off x="6241676" y="3048735"/>
            <a:ext cx="4682984" cy="3105779"/>
            <a:chOff x="6241676" y="3048735"/>
            <a:chExt cx="4682984" cy="3105779"/>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5B00DD77-22D2-DAD9-DEC4-DAA06750910C}"/>
                </a:ext>
              </a:extLst>
            </p:cNvPr>
            <p:cNvSpPr/>
            <p:nvPr/>
          </p:nvSpPr>
          <p:spPr>
            <a:xfrm>
              <a:off x="6241676" y="3048735"/>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2064256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Dijkstra’s Algorithm (5/8)</a:t>
            </a:r>
          </a:p>
        </p:txBody>
      </p:sp>
      <p:sp>
        <p:nvSpPr>
          <p:cNvPr id="9" name="TextBox 8">
            <a:extLst>
              <a:ext uri="{FF2B5EF4-FFF2-40B4-BE49-F238E27FC236}">
                <a16:creationId xmlns:a16="http://schemas.microsoft.com/office/drawing/2014/main" id="{8302184F-0273-1F7D-5C77-7904ED61030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892D4281-E487-3029-6FBD-9869FB14E232}"/>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5 from the priority queue, which has distance 13. We mark 5 as done.&#10;&#10;The undone neighbors of 5 are 3 and 6. Because 3 had distance 13 from the source, and the edge (5,3) had weight 1, there is a path to node 3 with cost 13+1=14. Node 3 currently has distance 15, and so this is a better path. We update the distance for node 3 to be 14 and then update its priority in the priority queue to match.&#10;&#10;The edge (5,6) had weight 7, so there is a path to node 6 with cost 13+7=20. Since 6 was not yet seen, we mark 6 as seen and then add it to the priority queue with priority 20.">
            <a:extLst>
              <a:ext uri="{FF2B5EF4-FFF2-40B4-BE49-F238E27FC236}">
                <a16:creationId xmlns:a16="http://schemas.microsoft.com/office/drawing/2014/main" id="{EE05D2AF-A408-A1B9-6F76-4E26E74CC220}"/>
              </a:ext>
            </a:extLst>
          </p:cNvPr>
          <p:cNvGrpSpPr/>
          <p:nvPr/>
        </p:nvGrpSpPr>
        <p:grpSpPr>
          <a:xfrm>
            <a:off x="6138563" y="3080616"/>
            <a:ext cx="4786097" cy="3073898"/>
            <a:chOff x="6138563" y="3080616"/>
            <a:chExt cx="4786097" cy="3073898"/>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7517BE1A-803F-1EFD-BBF2-B7D8BD2FC2D3}"/>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2933239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6AFC-5873-D3A3-441A-B84FA4CDA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ACE1A-7092-4A01-190A-A318C0072AF5}"/>
              </a:ext>
            </a:extLst>
          </p:cNvPr>
          <p:cNvSpPr>
            <a:spLocks noGrp="1"/>
          </p:cNvSpPr>
          <p:nvPr>
            <p:ph type="title"/>
          </p:nvPr>
        </p:nvSpPr>
        <p:spPr/>
        <p:txBody>
          <a:bodyPr>
            <a:normAutofit/>
          </a:bodyPr>
          <a:lstStyle/>
          <a:p>
            <a:r>
              <a:rPr lang="en-US" dirty="0"/>
              <a:t>Dijkstra’s Algorithm (6/8)</a:t>
            </a:r>
          </a:p>
        </p:txBody>
      </p:sp>
      <p:sp>
        <p:nvSpPr>
          <p:cNvPr id="9" name="TextBox 8">
            <a:extLst>
              <a:ext uri="{FF2B5EF4-FFF2-40B4-BE49-F238E27FC236}">
                <a16:creationId xmlns:a16="http://schemas.microsoft.com/office/drawing/2014/main" id="{D39EE158-F545-B223-0A0A-FDA3E5F8A020}"/>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7" name="TextBox 6">
            <a:extLst>
              <a:ext uri="{FF2B5EF4-FFF2-40B4-BE49-F238E27FC236}">
                <a16:creationId xmlns:a16="http://schemas.microsoft.com/office/drawing/2014/main" id="{7060D21E-EFA3-0243-25B3-40C794257A60}"/>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Now we consider the case where an edge weight is negative. Using the same graph as before with the same progress through Dijkstra's algorithm, we modify the graph so that edge (3,4) has weight -13.&#10;&#10;The vertices are: 0,1,2,3,4,5,6,7&#10;The edges are as follows:&#10;(10,1) w=10, (0,2) w=12, &#10;(1,4) w=8, (1,2) w=9, &#10;(2,3) w=3, (2,5) w=1, &#10;(3,4) w=-13, (3,5) w=1, &#10;(4,6) w=5, (4,7) w=6, &#10;(5,6) w=7, &#10;(6,7) w=9, (6,8) w=11, &#10;(7,8) w=2">
            <a:extLst>
              <a:ext uri="{FF2B5EF4-FFF2-40B4-BE49-F238E27FC236}">
                <a16:creationId xmlns:a16="http://schemas.microsoft.com/office/drawing/2014/main" id="{23F20B83-F6FD-C65B-7E5F-818FB8C33D62}"/>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C1FB94FE-2F38-28CB-E7F1-2DE5A92C49F6}"/>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44637CA6-9D23-0408-E63F-7A89F59067F7}"/>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0B7E08D-9585-3027-42E2-2D42D47FC576}"/>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2909710-2188-085A-4F49-1962DC04C4FD}"/>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682C9EB-163A-0337-929F-53F0159D2B30}"/>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E028CD5-0FC8-551A-D4C4-3ADE1A09B0B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110AF31-EC2F-79C3-AA43-6028894DA710}"/>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A577C2B-70C6-D581-29D9-69E73A967E9C}"/>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2323306-A007-327E-E179-AA681ED286ED}"/>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F8EB219-C9F5-2821-6BD9-FA8CEECBDED9}"/>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29EEE4B-DBCD-7DB6-2B4E-96ECD49D01CD}"/>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09821BB-510F-AB47-4D35-A7140F72084C}"/>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BF877F-EEF1-6083-7835-0FB3C50D34B2}"/>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F204007-C0CE-27B8-5AE4-8B3D361AF41B}"/>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B78AA5B-1BF8-672D-4C71-20DC3CBF05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92923259-3B79-4F09-37EB-BA17CCAD7FF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E5C59115-6FC5-461F-9101-E50EBFC920A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2F5D377F-A954-7E43-869D-1D8BFA041FBD}"/>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57F5E381-B7AC-7D29-0F9D-5906269BFC8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EF4119A0-4CD2-A675-92C3-C718CC5D3FB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D4F02C61-06F2-58C4-5FDA-AD754A217CA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3429E236-3362-E229-CF57-ABD3070D9795}"/>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BD398B8-98C0-A542-A0F6-DB098BEC73D2}"/>
                      </a:ext>
                    </a:extLst>
                  </p:cNvPr>
                  <p:cNvSpPr txBox="1"/>
                  <p:nvPr/>
                </p:nvSpPr>
                <p:spPr>
                  <a:xfrm>
                    <a:off x="2588208" y="3621678"/>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6BD398B8-98C0-A542-A0F6-DB098BEC73D2}"/>
                      </a:ext>
                    </a:extLst>
                  </p:cNvPr>
                  <p:cNvSpPr txBox="1">
                    <a:spLocks noRot="1" noChangeAspect="1" noMove="1" noResize="1" noEditPoints="1" noAdjustHandles="1" noChangeArrowheads="1" noChangeShapeType="1" noTextEdit="1"/>
                  </p:cNvSpPr>
                  <p:nvPr/>
                </p:nvSpPr>
                <p:spPr>
                  <a:xfrm>
                    <a:off x="2588208" y="3621678"/>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9B86F4CA-B471-5347-1FD1-F14EB9A49AB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366D62DB-977E-6682-C549-2DE3E9F233B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FC2378CF-3C66-1701-9FE3-71A99D25DB9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83CF884A-B4A4-787D-7840-BF67B8996FD3}"/>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41AC709D-EBF0-D3C0-01CF-0F969224CB5F}"/>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7E0159F0-2CAC-3368-C343-0F860D748A89}"/>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D8A0971B-659F-657A-8CE6-30F31C427891}"/>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360A053-ACB4-BB20-4DF5-DE21109106C9}"/>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E9A6DF6-E506-573E-423C-A28250665507}"/>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47E38C5-DC2E-1A8E-54D5-95E4415F6854}"/>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067489D9-9168-4AEC-E48C-008463DAB085}"/>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067B5737-64C0-67D5-770E-E6369452B028}"/>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2CC70510-F166-C865-9371-56B833A1838C}"/>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C3B699F3-21CC-0820-F3A9-57AF501D82D4}"/>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8A6F7EB8-06D2-98D6-4782-090CBEED4D18}"/>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88F9950D-EE5E-B9F6-7583-A26DC530A4C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a:extLst>
                    <a:ext uri="{FF2B5EF4-FFF2-40B4-BE49-F238E27FC236}">
                      <a16:creationId xmlns:a16="http://schemas.microsoft.com/office/drawing/2014/main" id="{EE07EF5F-57C4-CDCA-1131-963924CF5FF6}"/>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a:extLst>
                    <a:ext uri="{FF2B5EF4-FFF2-40B4-BE49-F238E27FC236}">
                      <a16:creationId xmlns:a16="http://schemas.microsoft.com/office/drawing/2014/main" id="{EE07EF5F-57C4-CDCA-1131-963924CF5FF6}"/>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a:extLst>
                    <a:ext uri="{FF2B5EF4-FFF2-40B4-BE49-F238E27FC236}">
                      <a16:creationId xmlns:a16="http://schemas.microsoft.com/office/drawing/2014/main" id="{0638A173-F25F-AFEA-DCFB-BD031565058D}"/>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a:extLst>
                    <a:ext uri="{FF2B5EF4-FFF2-40B4-BE49-F238E27FC236}">
                      <a16:creationId xmlns:a16="http://schemas.microsoft.com/office/drawing/2014/main" id="{0638A173-F25F-AFEA-DCFB-BD031565058D}"/>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a:extLst>
                    <a:ext uri="{FF2B5EF4-FFF2-40B4-BE49-F238E27FC236}">
                      <a16:creationId xmlns:a16="http://schemas.microsoft.com/office/drawing/2014/main" id="{E95C86B2-B652-DD50-F8AB-D343CC766623}"/>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a:extLst>
                    <a:ext uri="{FF2B5EF4-FFF2-40B4-BE49-F238E27FC236}">
                      <a16:creationId xmlns:a16="http://schemas.microsoft.com/office/drawing/2014/main" id="{E95C86B2-B652-DD50-F8AB-D343CC766623}"/>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45EC0C4F-F17A-2734-D6C4-6809B9110F5E}"/>
                    </a:ext>
                  </a:extLst>
                </p:cNvPr>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p:sp>
              <p:nvSpPr>
                <p:cNvPr id="124" name="TextBox 123">
                  <a:extLst>
                    <a:ext uri="{FF2B5EF4-FFF2-40B4-BE49-F238E27FC236}">
                      <a16:creationId xmlns:a16="http://schemas.microsoft.com/office/drawing/2014/main" id="{45EC0C4F-F17A-2734-D6C4-6809B9110F5E}"/>
                    </a:ext>
                  </a:extLst>
                </p:cNvPr>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a:extLst>
                    <a:ext uri="{FF2B5EF4-FFF2-40B4-BE49-F238E27FC236}">
                      <a16:creationId xmlns:a16="http://schemas.microsoft.com/office/drawing/2014/main" id="{8D6C21A7-89A1-D414-6E0F-3E81FD3ADC00}"/>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a:extLst>
                    <a:ext uri="{FF2B5EF4-FFF2-40B4-BE49-F238E27FC236}">
                      <a16:creationId xmlns:a16="http://schemas.microsoft.com/office/drawing/2014/main" id="{8D6C21A7-89A1-D414-6E0F-3E81FD3ADC00}"/>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2EADC276-080C-7449-2473-FE534E138D0B}"/>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a:extLst>
                    <a:ext uri="{FF2B5EF4-FFF2-40B4-BE49-F238E27FC236}">
                      <a16:creationId xmlns:a16="http://schemas.microsoft.com/office/drawing/2014/main" id="{2EADC276-080C-7449-2473-FE534E138D0B}"/>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a:extLst>
                    <a:ext uri="{FF2B5EF4-FFF2-40B4-BE49-F238E27FC236}">
                      <a16:creationId xmlns:a16="http://schemas.microsoft.com/office/drawing/2014/main" id="{CF5EF38B-91A4-7E87-E7C8-FDFFD914DCC5}"/>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a:extLst>
                    <a:ext uri="{FF2B5EF4-FFF2-40B4-BE49-F238E27FC236}">
                      <a16:creationId xmlns:a16="http://schemas.microsoft.com/office/drawing/2014/main" id="{CF5EF38B-91A4-7E87-E7C8-FDFFD914DCC5}"/>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a:extLst>
                    <a:ext uri="{FF2B5EF4-FFF2-40B4-BE49-F238E27FC236}">
                      <a16:creationId xmlns:a16="http://schemas.microsoft.com/office/drawing/2014/main" id="{1C3CFCDF-2C1B-166E-B3D4-DA39BD7644EC}"/>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a:extLst>
                    <a:ext uri="{FF2B5EF4-FFF2-40B4-BE49-F238E27FC236}">
                      <a16:creationId xmlns:a16="http://schemas.microsoft.com/office/drawing/2014/main" id="{1C3CFCDF-2C1B-166E-B3D4-DA39BD7644EC}"/>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0D3B2CC-705F-D70A-4A12-57B0642873DB}"/>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a:extLst>
              <a:ext uri="{FF2B5EF4-FFF2-40B4-BE49-F238E27FC236}">
                <a16:creationId xmlns:a16="http://schemas.microsoft.com/office/drawing/2014/main" id="{41976749-9DD2-F593-3602-B0A37AB47DE8}"/>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752872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9BC1-3877-A0B9-2A79-2FBBAB9A4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D45D8-2042-D5FE-8BAD-13E7660F75A1}"/>
              </a:ext>
            </a:extLst>
          </p:cNvPr>
          <p:cNvSpPr>
            <a:spLocks noGrp="1"/>
          </p:cNvSpPr>
          <p:nvPr>
            <p:ph type="title"/>
          </p:nvPr>
        </p:nvSpPr>
        <p:spPr/>
        <p:txBody>
          <a:bodyPr>
            <a:normAutofit/>
          </a:bodyPr>
          <a:lstStyle/>
          <a:p>
            <a:r>
              <a:rPr lang="en-US" dirty="0"/>
              <a:t>Dijkstra’s Algorithm (7/8)</a:t>
            </a:r>
          </a:p>
        </p:txBody>
      </p:sp>
      <p:sp>
        <p:nvSpPr>
          <p:cNvPr id="43" name="TextBox 42">
            <a:extLst>
              <a:ext uri="{FF2B5EF4-FFF2-40B4-BE49-F238E27FC236}">
                <a16:creationId xmlns:a16="http://schemas.microsoft.com/office/drawing/2014/main" id="{03E64559-B6A4-1C68-6217-A70EE451AD38}"/>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p:grpSp>
        <p:nvGrpSpPr>
          <p:cNvPr id="3" name="Group 2" descr="The vertices are: 0,1,2,3,4,5,6,7&#10;The edges are as follows:&#10;(10,1) w=10, (0,2) w=12, &#10;(1,4) w=8, (1,2) w=9, &#10;(2,3) w=3, (2,5) w=1, &#10;(3,4) w=-13, (3,5) w=1, &#10;(4,6) w=5, (4,7) w=6, &#10;(5,6) w=7, &#10;(6,7) w=9, (6,8) w=11, &#10;(7,8) w=2&#10;&#10;Next we remove node 3 from the priority queue, which has distance 14. We mark 3 as done.&#10;&#10;The only undone neighbor of 3 is 4. Because 3 had distance 14 from the source, and the edge (3,4) had weight -13, there is a path to node 4 with cost 14-13=1. Node 4 currently has distance 18, and so this is a better path. We update the distance for node 4 to be 1 and then update its priority in the priority queue to match.">
            <a:extLst>
              <a:ext uri="{FF2B5EF4-FFF2-40B4-BE49-F238E27FC236}">
                <a16:creationId xmlns:a16="http://schemas.microsoft.com/office/drawing/2014/main" id="{F768C2B5-BAE6-7D5F-7184-70C57B7EFF11}"/>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781FBA64-3EB3-0876-F334-4BFBF49B6367}"/>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B4672FE4-78AF-DB1C-F7A9-8A5F46DBB931}"/>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06A6613-E657-7438-A38B-C6DF39024A27}"/>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0D1EAE-AAE6-67F0-2866-E904DE21274A}"/>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B692E36-1E3D-27DE-132C-011EFE2B63F9}"/>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6B551F2-78D0-D5A1-5CD3-65AE42E48EE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CDE9EC2-24AA-81C8-4E81-BA0B5BFAC344}"/>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7C6C01F-6597-C127-B9E6-AB2E2D20146F}"/>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8082606-B23E-4EFD-57DD-C6E210C8214B}"/>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5A55D0A-E794-D8F9-2E84-132F9B5BF41B}"/>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F295BB2-5A7E-2105-3ABE-FFCED730BD5E}"/>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306CC77-BE81-28AF-C162-C4F4284A4C00}"/>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FF37F0-ADCC-59B1-F1E9-739AC3E486CF}"/>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4051FC9-4758-357F-58AF-8EE3CE423E65}"/>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7D34BEFB-8C15-C30F-A76E-649DB2D8DC6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B7D31C0F-FD50-C1BB-1E89-8B9B0C2C432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30994771-3B36-8740-FB74-E11D4A408A6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5299972D-DB58-A031-8C3F-12C91149925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6E5B14B9-64DE-ED83-DB7E-152BED0F5A2F}"/>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CDB9BE47-9B1F-B7A5-60E2-22FD3C810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5791E9C-411F-A8D3-B453-E0BE3F981DA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95B4CB8-F371-0AB7-5E6F-3F34A318B68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CF207F9-9F30-CF48-C56E-1FD59D44BB02}"/>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ACF207F9-9F30-CF48-C56E-1FD59D44BB02}"/>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38AB05C9-E46C-4BEC-DE8F-8B14522DD1A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6E3F4BD9-B492-B6DF-CEBD-FFEDA315633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18B3B82-4DFD-5FDC-F1CA-5BD612B2B35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CA96A5F4-A861-6B1A-F7D0-4E2CC681650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06282D63-8981-A1BF-23F3-B38723AEFDF4}"/>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A999FCA3-59F0-979F-F760-895862F002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806EE8-2543-EBC4-3F19-3958E579A01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EA77836-7E3A-BD3A-F07F-122AB1712472}"/>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9B259E3B-A45A-0153-F162-F6A7E7F85CCE}"/>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A90185B-0DFC-D799-4CFC-724ADDE48AD8}"/>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5999F7A4-3F5E-626B-64ED-50F6A7D612CF}"/>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9B00AEF-091C-C2CD-F705-C0814DC81D94}"/>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04F5CDC-46B5-F52D-A93F-1AD7CF451D03}"/>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4E3F5497-C62C-8D94-E8A5-9D14D75459A3}"/>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0314616D-7046-798C-DA33-6EA291BBD504}"/>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78FD2D8A-A0C4-11D9-979E-ACE0D8B0908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a:extLst>
                    <a:ext uri="{FF2B5EF4-FFF2-40B4-BE49-F238E27FC236}">
                      <a16:creationId xmlns:a16="http://schemas.microsoft.com/office/drawing/2014/main" id="{4C496082-92F1-BFEA-B8E6-7367A215694D}"/>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a:extLst>
                    <a:ext uri="{FF2B5EF4-FFF2-40B4-BE49-F238E27FC236}">
                      <a16:creationId xmlns:a16="http://schemas.microsoft.com/office/drawing/2014/main" id="{4C496082-92F1-BFEA-B8E6-7367A215694D}"/>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a:extLst>
                    <a:ext uri="{FF2B5EF4-FFF2-40B4-BE49-F238E27FC236}">
                      <a16:creationId xmlns:a16="http://schemas.microsoft.com/office/drawing/2014/main" id="{92571741-AA7C-6BB9-353E-73FECCD4C0D1}"/>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a:extLst>
                    <a:ext uri="{FF2B5EF4-FFF2-40B4-BE49-F238E27FC236}">
                      <a16:creationId xmlns:a16="http://schemas.microsoft.com/office/drawing/2014/main" id="{92571741-AA7C-6BB9-353E-73FECCD4C0D1}"/>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a:extLst>
                    <a:ext uri="{FF2B5EF4-FFF2-40B4-BE49-F238E27FC236}">
                      <a16:creationId xmlns:a16="http://schemas.microsoft.com/office/drawing/2014/main" id="{50B5C3AB-7412-7483-0E48-1EB24EDE9C6B}"/>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a:extLst>
                    <a:ext uri="{FF2B5EF4-FFF2-40B4-BE49-F238E27FC236}">
                      <a16:creationId xmlns:a16="http://schemas.microsoft.com/office/drawing/2014/main" id="{50B5C3AB-7412-7483-0E48-1EB24EDE9C6B}"/>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EAEACC80-3E1A-01C0-3EA2-FEC53818A9FC}"/>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p:sp>
              <p:nvSpPr>
                <p:cNvPr id="124" name="TextBox 123">
                  <a:extLst>
                    <a:ext uri="{FF2B5EF4-FFF2-40B4-BE49-F238E27FC236}">
                      <a16:creationId xmlns:a16="http://schemas.microsoft.com/office/drawing/2014/main" id="{EAEACC80-3E1A-01C0-3EA2-FEC53818A9FC}"/>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a:extLst>
                    <a:ext uri="{FF2B5EF4-FFF2-40B4-BE49-F238E27FC236}">
                      <a16:creationId xmlns:a16="http://schemas.microsoft.com/office/drawing/2014/main" id="{4751C839-8CBA-C81F-C4A4-64CA10F54AE5}"/>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a:extLst>
                    <a:ext uri="{FF2B5EF4-FFF2-40B4-BE49-F238E27FC236}">
                      <a16:creationId xmlns:a16="http://schemas.microsoft.com/office/drawing/2014/main" id="{4751C839-8CBA-C81F-C4A4-64CA10F54AE5}"/>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A2D4AEF7-1358-E518-F02E-B190D32BEA98}"/>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a:extLst>
                    <a:ext uri="{FF2B5EF4-FFF2-40B4-BE49-F238E27FC236}">
                      <a16:creationId xmlns:a16="http://schemas.microsoft.com/office/drawing/2014/main" id="{A2D4AEF7-1358-E518-F02E-B190D32BEA98}"/>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a:extLst>
                    <a:ext uri="{FF2B5EF4-FFF2-40B4-BE49-F238E27FC236}">
                      <a16:creationId xmlns:a16="http://schemas.microsoft.com/office/drawing/2014/main" id="{491D7C20-D5BF-4701-CAF2-67A0A6BFF8FD}"/>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a:extLst>
                    <a:ext uri="{FF2B5EF4-FFF2-40B4-BE49-F238E27FC236}">
                      <a16:creationId xmlns:a16="http://schemas.microsoft.com/office/drawing/2014/main" id="{491D7C20-D5BF-4701-CAF2-67A0A6BFF8FD}"/>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a:extLst>
                    <a:ext uri="{FF2B5EF4-FFF2-40B4-BE49-F238E27FC236}">
                      <a16:creationId xmlns:a16="http://schemas.microsoft.com/office/drawing/2014/main" id="{5877C157-BBAB-E0FE-7870-CC2F5E9FA266}"/>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a:extLst>
                    <a:ext uri="{FF2B5EF4-FFF2-40B4-BE49-F238E27FC236}">
                      <a16:creationId xmlns:a16="http://schemas.microsoft.com/office/drawing/2014/main" id="{5877C157-BBAB-E0FE-7870-CC2F5E9FA266}"/>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4B28B9B-81DA-7A57-9030-1A13EFE12F97}"/>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2548567" y="1912501"/>
                  </a:lnTo>
                  <a:lnTo>
                    <a:pt x="2169050" y="1258375"/>
                  </a:lnTo>
                  <a:lnTo>
                    <a:pt x="2005948" y="951664"/>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87B571E0-1815-BBA3-7175-C8E1140C402C}"/>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FBECC6F7-BBE2-B245-586F-4B010699B06D}"/>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66581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509B-A7A5-D37F-A6F1-E927CFA70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4872C-D798-FF74-E4E8-8A146166C18D}"/>
              </a:ext>
            </a:extLst>
          </p:cNvPr>
          <p:cNvSpPr>
            <a:spLocks noGrp="1"/>
          </p:cNvSpPr>
          <p:nvPr>
            <p:ph type="title"/>
          </p:nvPr>
        </p:nvSpPr>
        <p:spPr/>
        <p:txBody>
          <a:bodyPr>
            <a:normAutofit/>
          </a:bodyPr>
          <a:lstStyle/>
          <a:p>
            <a:r>
              <a:rPr lang="en-US" dirty="0"/>
              <a:t>Dijkstra’s Algorithm (8/8)</a:t>
            </a:r>
          </a:p>
        </p:txBody>
      </p:sp>
      <p:sp>
        <p:nvSpPr>
          <p:cNvPr id="9" name="TextBox 8">
            <a:extLst>
              <a:ext uri="{FF2B5EF4-FFF2-40B4-BE49-F238E27FC236}">
                <a16:creationId xmlns:a16="http://schemas.microsoft.com/office/drawing/2014/main" id="{22DB12FB-7A0D-DA40-4823-7D2ADEAF4538}"/>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D2C60D77-CDE9-9ED5-3B2A-DECB9CBE2D1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grpSp>
        <p:nvGrpSpPr>
          <p:cNvPr id="3" name="Group 2" descr="The vertices are: 0,1,2,3,4,5,6,7&#10;The edges are as follows:&#10;(10,1) w=10, (0,2) w=12, &#10;(1,4) w=8, (1,2) w=9, &#10;(2,3) w=3, (2,5) w=1, &#10;(3,4) w=-13, (3,5) w=1, &#10;(4,6) w=5, (4,7) w=6, &#10;(5,6) w=7, &#10;(6,7) w=9, (6,8) w=11, &#10;(7,8) w=2&#10;&#10;Next we remove node 4 from the priority queue, which has distance 1. We mark 4 as done.&#10;&#10;From here we can see that 4 is distance 1 from the source, and there is an edge from node 4 to node 1 with weight 8. Taking this edge would give a path of cost 9 to node 1. Since node 1 is currently marked as &quot;done&quot;, the algorithm never considers this path. When we marked 1 as done we found a path of cost 10 instead, meaning we did not get the correct shortest path to node 1.">
            <a:extLst>
              <a:ext uri="{FF2B5EF4-FFF2-40B4-BE49-F238E27FC236}">
                <a16:creationId xmlns:a16="http://schemas.microsoft.com/office/drawing/2014/main" id="{400F1266-F02F-FC78-DC63-AD597982C83B}"/>
              </a:ext>
            </a:extLst>
          </p:cNvPr>
          <p:cNvGrpSpPr/>
          <p:nvPr/>
        </p:nvGrpSpPr>
        <p:grpSpPr>
          <a:xfrm>
            <a:off x="4327672" y="3080616"/>
            <a:ext cx="6596988" cy="3073898"/>
            <a:chOff x="4327672" y="3080616"/>
            <a:chExt cx="6596988" cy="3073898"/>
          </a:xfrm>
        </p:grpSpPr>
        <p:grpSp>
          <p:nvGrpSpPr>
            <p:cNvPr id="44" name="Group 43">
              <a:extLst>
                <a:ext uri="{FF2B5EF4-FFF2-40B4-BE49-F238E27FC236}">
                  <a16:creationId xmlns:a16="http://schemas.microsoft.com/office/drawing/2014/main" id="{870862DA-97D7-B978-54EF-F2BAC55F241D}"/>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6E917015-8D8D-8F91-BF40-A1A65432E2FB}"/>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A3D3F4-81C3-2232-B66F-B8DE46037D11}"/>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BBE16A1-B173-D3E8-131E-5F971960929F}"/>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3FD12E-05A7-AF69-90C2-2ED7783E8747}"/>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AC6E316-696F-2C61-7AAB-BA7278884447}"/>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8C248A8-1C65-3924-02CE-3BF3B55FD40A}"/>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DEC080D-8FD0-269C-3273-F58E378C6A86}"/>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33F71B2-9345-8C91-A471-F6D579A534D5}"/>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8DACDC8-1A8F-506D-CA11-3BB6008C1583}"/>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9A2466-CE09-EA01-7898-8E3256B03912}"/>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5A12195-E72F-0E04-448C-7D99C114D921}"/>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3F53516-C9C8-A96B-5DF4-874BB8B6751B}"/>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715EB73-979F-60ED-2424-EF30D99EF4E7}"/>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2AB35488-A2AC-496F-B95D-BBCEE5E5D71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6FB531B8-6B49-2D87-C1E4-95B18E7E629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468102F0-0143-1DCC-5881-9A85BF18B2A2}"/>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E3A40414-89DD-FE55-0520-6F0376F0D19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33DE062-BB64-7BF7-A559-3396143E57BE}"/>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B2A108CE-F05A-BFC1-D35C-37C0D98D85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ED40FB4-D34D-51D6-0E03-444625536F5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1C4B7ED-8C69-403A-E98E-E2E564087A4B}"/>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5293F6D-543D-0FD4-282D-7CD03EBCF6F4}"/>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F5293F6D-543D-0FD4-282D-7CD03EBCF6F4}"/>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B02AAE0F-BE54-0EE6-B71D-B96C5AC9056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296F102-081C-4A60-050D-FE2294076E2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7ACEA55-63F5-2631-F830-4DE03F6C9BC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1A171A41-B8DA-3B7E-3654-973469E6A8C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69B3696B-7BE3-20A3-A1CE-F00E2F93279D}"/>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0E2D629F-099A-C1ED-F808-33434EFFFFE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AA0175-14A8-1F94-CF31-A2A71801F5F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B5922E9A-FED7-77C7-EB13-ED771DFCF9A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4E08466-A355-4B4C-F235-7E75082440A3}"/>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2B6CC5A4-1A4C-B7DF-01A6-34B1B9893E92}"/>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E4B90B39-AE2B-250E-5725-E5E784ABB5B4}"/>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F4D7F86-F159-61C3-75E3-8CED518B52D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6810E05-9FC7-7C1B-11DC-D60F92A4C89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ED028A64-C5C5-7105-75B0-FF5DC0E7166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3648CC2D-E7C5-66F6-04D1-57F07FDAEAC9}"/>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1F869D36-F53F-A383-2ED3-CD4E496F5382}"/>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mc:Choice xmlns:a14="http://schemas.microsoft.com/office/drawing/2010/main" Requires="a14">
            <p:sp>
              <p:nvSpPr>
                <p:cNvPr id="121" name="TextBox 120">
                  <a:extLst>
                    <a:ext uri="{FF2B5EF4-FFF2-40B4-BE49-F238E27FC236}">
                      <a16:creationId xmlns:a16="http://schemas.microsoft.com/office/drawing/2014/main" id="{5F01EBBA-7C2D-52CE-B4DA-6F3E7356AF8F}"/>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p:sp>
              <p:nvSpPr>
                <p:cNvPr id="121" name="TextBox 120">
                  <a:extLst>
                    <a:ext uri="{FF2B5EF4-FFF2-40B4-BE49-F238E27FC236}">
                      <a16:creationId xmlns:a16="http://schemas.microsoft.com/office/drawing/2014/main" id="{5F01EBBA-7C2D-52CE-B4DA-6F3E7356AF8F}"/>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2" name="TextBox 121">
                  <a:extLst>
                    <a:ext uri="{FF2B5EF4-FFF2-40B4-BE49-F238E27FC236}">
                      <a16:creationId xmlns:a16="http://schemas.microsoft.com/office/drawing/2014/main" id="{A9A87128-7A7B-9024-2B6A-A948730D622A}"/>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p:sp>
              <p:nvSpPr>
                <p:cNvPr id="122" name="TextBox 121">
                  <a:extLst>
                    <a:ext uri="{FF2B5EF4-FFF2-40B4-BE49-F238E27FC236}">
                      <a16:creationId xmlns:a16="http://schemas.microsoft.com/office/drawing/2014/main" id="{A9A87128-7A7B-9024-2B6A-A948730D622A}"/>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3" name="TextBox 122">
                  <a:extLst>
                    <a:ext uri="{FF2B5EF4-FFF2-40B4-BE49-F238E27FC236}">
                      <a16:creationId xmlns:a16="http://schemas.microsoft.com/office/drawing/2014/main" id="{98996895-9BC9-8B8B-E940-DA7856A79036}"/>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p:sp>
              <p:nvSpPr>
                <p:cNvPr id="123" name="TextBox 122">
                  <a:extLst>
                    <a:ext uri="{FF2B5EF4-FFF2-40B4-BE49-F238E27FC236}">
                      <a16:creationId xmlns:a16="http://schemas.microsoft.com/office/drawing/2014/main" id="{98996895-9BC9-8B8B-E940-DA7856A79036}"/>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1D513E71-6F16-7993-4533-C2045B4DAFFF}"/>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p:sp>
              <p:nvSpPr>
                <p:cNvPr id="124" name="TextBox 123">
                  <a:extLst>
                    <a:ext uri="{FF2B5EF4-FFF2-40B4-BE49-F238E27FC236}">
                      <a16:creationId xmlns:a16="http://schemas.microsoft.com/office/drawing/2014/main" id="{1D513E71-6F16-7993-4533-C2045B4DAFFF}"/>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5" name="TextBox 124">
                  <a:extLst>
                    <a:ext uri="{FF2B5EF4-FFF2-40B4-BE49-F238E27FC236}">
                      <a16:creationId xmlns:a16="http://schemas.microsoft.com/office/drawing/2014/main" id="{EF3C3BA9-66F2-E22F-ACC0-CF7C3F0F0E27}"/>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p:sp>
              <p:nvSpPr>
                <p:cNvPr id="125" name="TextBox 124">
                  <a:extLst>
                    <a:ext uri="{FF2B5EF4-FFF2-40B4-BE49-F238E27FC236}">
                      <a16:creationId xmlns:a16="http://schemas.microsoft.com/office/drawing/2014/main" id="{EF3C3BA9-66F2-E22F-ACC0-CF7C3F0F0E27}"/>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3E2F4ED6-3FF5-4030-E8C8-F12D5F0A6CAA}"/>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p:sp>
              <p:nvSpPr>
                <p:cNvPr id="126" name="TextBox 125">
                  <a:extLst>
                    <a:ext uri="{FF2B5EF4-FFF2-40B4-BE49-F238E27FC236}">
                      <a16:creationId xmlns:a16="http://schemas.microsoft.com/office/drawing/2014/main" id="{3E2F4ED6-3FF5-4030-E8C8-F12D5F0A6CAA}"/>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7" name="TextBox 126">
                  <a:extLst>
                    <a:ext uri="{FF2B5EF4-FFF2-40B4-BE49-F238E27FC236}">
                      <a16:creationId xmlns:a16="http://schemas.microsoft.com/office/drawing/2014/main" id="{E3285C8C-5797-C641-017F-C0AA59451EE3}"/>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7" name="TextBox 126">
                  <a:extLst>
                    <a:ext uri="{FF2B5EF4-FFF2-40B4-BE49-F238E27FC236}">
                      <a16:creationId xmlns:a16="http://schemas.microsoft.com/office/drawing/2014/main" id="{E3285C8C-5797-C641-017F-C0AA59451EE3}"/>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8" name="TextBox 127">
                  <a:extLst>
                    <a:ext uri="{FF2B5EF4-FFF2-40B4-BE49-F238E27FC236}">
                      <a16:creationId xmlns:a16="http://schemas.microsoft.com/office/drawing/2014/main" id="{143AFC96-C2CB-1868-2951-A5A8000759A3}"/>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p:sp>
              <p:nvSpPr>
                <p:cNvPr id="128" name="TextBox 127">
                  <a:extLst>
                    <a:ext uri="{FF2B5EF4-FFF2-40B4-BE49-F238E27FC236}">
                      <a16:creationId xmlns:a16="http://schemas.microsoft.com/office/drawing/2014/main" id="{143AFC96-C2CB-1868-2951-A5A8000759A3}"/>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58E5DFA0-C879-E971-1AF8-D52463E58797}"/>
                </a:ext>
              </a:extLst>
            </p:cNvPr>
            <p:cNvSpPr/>
            <p:nvPr/>
          </p:nvSpPr>
          <p:spPr>
            <a:xfrm>
              <a:off x="6138563" y="3080616"/>
              <a:ext cx="3212758"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548567 w 3332831"/>
                <a:gd name="csY7" fmla="*/ 1912501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2056524 w 3332831"/>
                <a:gd name="csY10" fmla="*/ 32806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12758" h="3026979">
                  <a:moveTo>
                    <a:pt x="0" y="1166648"/>
                  </a:moveTo>
                  <a:lnTo>
                    <a:pt x="141890" y="2017986"/>
                  </a:lnTo>
                  <a:lnTo>
                    <a:pt x="583324" y="2695904"/>
                  </a:lnTo>
                  <a:lnTo>
                    <a:pt x="1292773" y="2932386"/>
                  </a:lnTo>
                  <a:lnTo>
                    <a:pt x="2222938" y="3026979"/>
                  </a:lnTo>
                  <a:lnTo>
                    <a:pt x="2538249" y="2963917"/>
                  </a:lnTo>
                  <a:lnTo>
                    <a:pt x="2632842" y="2601311"/>
                  </a:lnTo>
                  <a:lnTo>
                    <a:pt x="2807185" y="1930974"/>
                  </a:lnTo>
                  <a:lnTo>
                    <a:pt x="3212758" y="611830"/>
                  </a:lnTo>
                  <a:cubicBezTo>
                    <a:pt x="3035240" y="287920"/>
                    <a:pt x="2857721" y="278047"/>
                    <a:pt x="2680203" y="111155"/>
                  </a:cubicBezTo>
                  <a:lnTo>
                    <a:pt x="2056524" y="32806"/>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0DED5B1-B96A-0C73-F654-EDDB2D51A333}"/>
                </a:ext>
              </a:extLst>
            </p:cNvPr>
            <p:cNvSpPr txBox="1"/>
            <p:nvPr/>
          </p:nvSpPr>
          <p:spPr>
            <a:xfrm>
              <a:off x="4327672" y="3213095"/>
              <a:ext cx="2245423" cy="369332"/>
            </a:xfrm>
            <a:prstGeom prst="rect">
              <a:avLst/>
            </a:prstGeom>
            <a:noFill/>
          </p:spPr>
          <p:txBody>
            <a:bodyPr wrap="none" rtlCol="0">
              <a:spAutoFit/>
            </a:bodyPr>
            <a:lstStyle/>
            <a:p>
              <a:r>
                <a:rPr lang="en-US" b="1" dirty="0">
                  <a:solidFill>
                    <a:srgbClr val="7030A0"/>
                  </a:solidFill>
                </a:rPr>
                <a:t>There’s a better path!</a:t>
              </a:r>
            </a:p>
          </p:txBody>
        </p:sp>
      </p:grpSp>
      <p:sp>
        <p:nvSpPr>
          <p:cNvPr id="43" name="TextBox 42">
            <a:extLst>
              <a:ext uri="{FF2B5EF4-FFF2-40B4-BE49-F238E27FC236}">
                <a16:creationId xmlns:a16="http://schemas.microsoft.com/office/drawing/2014/main" id="{3650A62E-18F5-2131-B9E6-0CD3ECCE7872}"/>
              </a:ext>
            </a:extLst>
          </p:cNvPr>
          <p:cNvSpPr txBox="1"/>
          <p:nvPr/>
        </p:nvSpPr>
        <p:spPr>
          <a:xfrm>
            <a:off x="1905001" y="1143000"/>
            <a:ext cx="8686800" cy="954107"/>
          </a:xfrm>
          <a:prstGeom prst="rect">
            <a:avLst/>
          </a:prstGeom>
          <a:noFill/>
        </p:spPr>
        <p:txBody>
          <a:bodyPr wrap="square" rtlCol="0">
            <a:spAutoFit/>
          </a:bodyPr>
          <a:lstStyle/>
          <a:p>
            <a:r>
              <a:rPr lang="en-US" sz="2800" dirty="0">
                <a:solidFill>
                  <a:srgbClr val="FF0000"/>
                </a:solidFill>
              </a:rPr>
              <a:t>Start: 0</a:t>
            </a:r>
          </a:p>
          <a:p>
            <a:r>
              <a:rPr lang="en-US" sz="2800" dirty="0">
                <a:solidFill>
                  <a:srgbClr val="7030A0"/>
                </a:solidFill>
              </a:rPr>
              <a:t>End: 8</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spTree>
    <p:extLst>
      <p:ext uri="{BB962C8B-B14F-4D97-AF65-F5344CB8AC3E}">
        <p14:creationId xmlns:p14="http://schemas.microsoft.com/office/powerpoint/2010/main" val="3676621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TextBox 42"/>
              <p:cNvSpPr txBox="1"/>
              <p:nvPr/>
            </p:nvSpPr>
            <p:spPr>
              <a:xfrm>
                <a:off x="146009" y="33055"/>
                <a:ext cx="11292188" cy="6824945"/>
              </a:xfrm>
              <a:prstGeom prst="rect">
                <a:avLst/>
              </a:prstGeom>
              <a:noFill/>
            </p:spPr>
            <p:txBody>
              <a:bodyPr wrap="square" rtlCol="0">
                <a:spAutoFit/>
              </a:bodyPr>
              <a:lstStyle/>
              <a:p>
                <a:r>
                  <a:rPr lang="en-US" sz="1750" dirty="0"/>
                  <a:t>int </a:t>
                </a:r>
                <a:r>
                  <a:rPr lang="en-US" sz="1750" dirty="0" err="1"/>
                  <a:t>dijkstras</a:t>
                </a:r>
                <a:r>
                  <a:rPr lang="en-US" sz="1750" dirty="0"/>
                  <a:t>(graph, start, end){</a:t>
                </a:r>
              </a:p>
              <a:p>
                <a:r>
                  <a:rPr lang="en-US" sz="1750" dirty="0"/>
                  <a:t>	distances = [</a:t>
                </a:r>
                <a14:m>
                  <m:oMath xmlns:m="http://schemas.openxmlformats.org/officeDocument/2006/math">
                    <m:r>
                      <a:rPr lang="en-US" sz="1750" b="0" i="1" smtClean="0">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 one index per node</a:t>
                </a:r>
              </a:p>
              <a:p>
                <a:r>
                  <a:rPr lang="en-US" sz="1750" dirty="0"/>
                  <a:t>	seen = [</a:t>
                </a:r>
                <a:r>
                  <a:rPr lang="en-US" sz="1750" dirty="0" err="1"/>
                  <a:t>False,False,False</a:t>
                </a:r>
                <a:r>
                  <a:rPr lang="en-US" sz="1750" dirty="0"/>
                  <a:t>,…];  // one index per node</a:t>
                </a:r>
              </a:p>
              <a:p>
                <a:r>
                  <a:rPr lang="en-US" sz="1750" dirty="0"/>
                  <a:t>	done = [</a:t>
                </a:r>
                <a:r>
                  <a:rPr lang="en-US" sz="1750" dirty="0" err="1"/>
                  <a:t>False,False,False</a:t>
                </a:r>
                <a:r>
                  <a:rPr lang="en-US" sz="1750" dirty="0"/>
                  <a:t>,…];  // one index per node</a:t>
                </a:r>
              </a:p>
              <a:p>
                <a:r>
                  <a:rPr lang="en-US" sz="1750" dirty="0"/>
                  <a:t>	PQ = new </a:t>
                </a:r>
                <a:r>
                  <a:rPr lang="en-US" sz="1750" dirty="0" err="1"/>
                  <a:t>MinHeap</a:t>
                </a:r>
                <a:r>
                  <a:rPr lang="en-US" sz="1750" dirty="0"/>
                  <a:t>();</a:t>
                </a:r>
              </a:p>
              <a:p>
                <a:r>
                  <a:rPr lang="en-US" sz="1750" dirty="0"/>
                  <a:t>	</a:t>
                </a:r>
                <a:r>
                  <a:rPr lang="en-US" sz="1750" dirty="0" err="1"/>
                  <a:t>PQ.insert</a:t>
                </a:r>
                <a:r>
                  <a:rPr lang="en-US" sz="1750" dirty="0"/>
                  <a:t>(0, start);  // priority=0, value=start</a:t>
                </a:r>
              </a:p>
              <a:p>
                <a:r>
                  <a:rPr lang="en-US" sz="1750" dirty="0"/>
                  <a:t>	distances[start] = 0;</a:t>
                </a:r>
              </a:p>
              <a:p>
                <a:r>
                  <a:rPr lang="en-US" sz="1750" dirty="0"/>
                  <a:t>	while (!</a:t>
                </a:r>
                <a:r>
                  <a:rPr lang="en-US" sz="1750" dirty="0" err="1"/>
                  <a:t>PQ.isEmpty</a:t>
                </a:r>
                <a:r>
                  <a:rPr lang="en-US" sz="1750" dirty="0"/>
                  <a:t>){</a:t>
                </a:r>
              </a:p>
              <a:p>
                <a:r>
                  <a:rPr lang="en-US" sz="1750" dirty="0"/>
                  <a:t>		current = </a:t>
                </a:r>
                <a:r>
                  <a:rPr lang="en-US" sz="1750" dirty="0" err="1"/>
                  <a:t>PQ.extract</a:t>
                </a:r>
                <a:r>
                  <a:rPr lang="en-US" sz="1750" dirty="0"/>
                  <a:t>();</a:t>
                </a:r>
              </a:p>
              <a:p>
                <a:r>
                  <a:rPr lang="en-US" sz="1750" dirty="0"/>
                  <a:t>		done[current] = True;</a:t>
                </a:r>
              </a:p>
              <a:p>
                <a:r>
                  <a:rPr lang="en-US" sz="1750" dirty="0"/>
                  <a:t>		for (neighbor : </a:t>
                </a:r>
                <a:r>
                  <a:rPr lang="en-US" sz="1750" dirty="0" err="1"/>
                  <a:t>current.neighbors</a:t>
                </a:r>
                <a:r>
                  <a:rPr lang="en-US" sz="1750" dirty="0"/>
                  <a:t>){</a:t>
                </a:r>
              </a:p>
              <a:p>
                <a:r>
                  <a:rPr lang="en-US" sz="1750" dirty="0"/>
                  <a:t>			</a:t>
                </a:r>
                <a:r>
                  <a:rPr lang="en-US" sz="1750" dirty="0" err="1"/>
                  <a:t>new_dist</a:t>
                </a:r>
                <a:r>
                  <a:rPr lang="en-US" sz="1750" dirty="0"/>
                  <a:t> = distances[current]+weight(</a:t>
                </a:r>
                <a:r>
                  <a:rPr lang="en-US" sz="1750" dirty="0" err="1"/>
                  <a:t>current,neighbor</a:t>
                </a:r>
                <a:r>
                  <a:rPr lang="en-US" sz="1750" dirty="0"/>
                  <a:t>);</a:t>
                </a:r>
              </a:p>
              <a:p>
                <a:r>
                  <a:rPr lang="en-US" sz="1750" dirty="0"/>
                  <a:t>			if (! seen[neighbor]){</a:t>
                </a:r>
              </a:p>
              <a:p>
                <a:r>
                  <a:rPr lang="en-US" sz="1750" dirty="0"/>
                  <a:t>				seen[neighbor] = True;</a:t>
                </a:r>
              </a:p>
              <a:p>
                <a:r>
                  <a:rPr lang="en-US" sz="1750" dirty="0"/>
                  <a:t>				distances[neighbor] = </a:t>
                </a:r>
                <a:r>
                  <a:rPr lang="en-US" sz="1750" dirty="0" err="1"/>
                  <a:t>new_dist</a:t>
                </a:r>
                <a:r>
                  <a:rPr lang="en-US" sz="1750" dirty="0"/>
                  <a:t>;</a:t>
                </a:r>
              </a:p>
              <a:p>
                <a:r>
                  <a:rPr lang="en-US" sz="1750" dirty="0"/>
                  <a:t>				</a:t>
                </a:r>
                <a:r>
                  <a:rPr lang="en-US" sz="1750" dirty="0" err="1"/>
                  <a:t>PQ.insert</a:t>
                </a:r>
                <a:r>
                  <a:rPr lang="en-US" sz="1750" dirty="0"/>
                  <a:t>(</a:t>
                </a:r>
                <a:r>
                  <a:rPr lang="en-US" sz="1750" dirty="0" err="1"/>
                  <a:t>new_dist</a:t>
                </a:r>
                <a:r>
                  <a:rPr lang="en-US" sz="1750" dirty="0"/>
                  <a:t>, neighbor);</a:t>
                </a:r>
              </a:p>
              <a:p>
                <a:r>
                  <a:rPr lang="en-US" sz="1750" dirty="0"/>
                  <a:t>			}</a:t>
                </a:r>
              </a:p>
              <a:p>
                <a:r>
                  <a:rPr lang="en-US" sz="1750" dirty="0"/>
                  <a:t>			else if (! done[neighbor] &amp;&amp; </a:t>
                </a:r>
                <a:r>
                  <a:rPr lang="en-US" sz="1750" dirty="0" err="1"/>
                  <a:t>new_dist</a:t>
                </a:r>
                <a:r>
                  <a:rPr lang="en-US" sz="1750" dirty="0"/>
                  <a:t> &lt; distances[neighbor]){</a:t>
                </a:r>
              </a:p>
              <a:p>
                <a:r>
                  <a:rPr lang="en-US" sz="1750" dirty="0"/>
                  <a:t>				distances[neighbor] = </a:t>
                </a:r>
                <a:r>
                  <a:rPr lang="en-US" sz="1750" dirty="0" err="1"/>
                  <a:t>new_dist</a:t>
                </a:r>
                <a:r>
                  <a:rPr lang="en-US" sz="1750" dirty="0"/>
                  <a:t>;</a:t>
                </a:r>
              </a:p>
              <a:p>
                <a:r>
                  <a:rPr lang="en-US" sz="1750" dirty="0"/>
                  <a:t>				</a:t>
                </a:r>
                <a:r>
                  <a:rPr lang="en-US" sz="1750" dirty="0" err="1"/>
                  <a:t>PQ.decreaseKey</a:t>
                </a:r>
                <a:r>
                  <a:rPr lang="en-US" sz="1750" dirty="0"/>
                  <a:t>(</a:t>
                </a:r>
                <a:r>
                  <a:rPr lang="en-US" sz="1750" dirty="0" err="1"/>
                  <a:t>new_dist,neighbor</a:t>
                </a:r>
                <a:r>
                  <a:rPr lang="en-US" sz="1750" dirty="0"/>
                  <a:t>); </a:t>
                </a:r>
              </a:p>
              <a:p>
                <a:r>
                  <a:rPr lang="en-US" sz="1750" dirty="0"/>
                  <a:t>			}</a:t>
                </a:r>
              </a:p>
              <a:p>
                <a:r>
                  <a:rPr lang="en-US" sz="1750" dirty="0"/>
                  <a:t>		}</a:t>
                </a:r>
              </a:p>
              <a:p>
                <a:r>
                  <a:rPr lang="en-US" sz="1750" dirty="0"/>
                  <a:t>	}</a:t>
                </a:r>
              </a:p>
              <a:p>
                <a:r>
                  <a:rPr lang="en-US" sz="1750" dirty="0"/>
                  <a:t>	return distances[end]</a:t>
                </a:r>
              </a:p>
              <a:p>
                <a:r>
                  <a:rPr lang="en-US" sz="175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146009" y="33055"/>
                <a:ext cx="11292188" cy="6824945"/>
              </a:xfrm>
              <a:prstGeom prst="rect">
                <a:avLst/>
              </a:prstGeom>
              <a:blipFill>
                <a:blip r:embed="rId2"/>
                <a:stretch>
                  <a:fillRect l="-378" t="-179" b="-357"/>
                </a:stretch>
              </a:blipFill>
            </p:spPr>
            <p:txBody>
              <a:bodyPr/>
              <a:lstStyle/>
              <a:p>
                <a:r>
                  <a:rPr lang="en-US">
                    <a:noFill/>
                  </a:rPr>
                  <a:t> </a:t>
                </a:r>
              </a:p>
            </p:txBody>
          </p:sp>
        </mc:Fallback>
      </mc:AlternateContent>
      <p:sp>
        <p:nvSpPr>
          <p:cNvPr id="2" name="Title 1"/>
          <p:cNvSpPr>
            <a:spLocks noGrp="1"/>
          </p:cNvSpPr>
          <p:nvPr>
            <p:ph type="title"/>
          </p:nvPr>
        </p:nvSpPr>
        <p:spPr>
          <a:xfrm>
            <a:off x="6705600" y="0"/>
            <a:ext cx="5486400" cy="1143000"/>
          </a:xfrm>
        </p:spPr>
        <p:txBody>
          <a:bodyPr>
            <a:normAutofit fontScale="90000"/>
          </a:bodyPr>
          <a:lstStyle/>
          <a:p>
            <a:r>
              <a:rPr lang="en-US" dirty="0"/>
              <a:t>Dijkstra’s Algorithm - Pseudocode</a:t>
            </a:r>
          </a:p>
        </p:txBody>
      </p:sp>
    </p:spTree>
    <p:extLst>
      <p:ext uri="{BB962C8B-B14F-4D97-AF65-F5344CB8AC3E}">
        <p14:creationId xmlns:p14="http://schemas.microsoft.com/office/powerpoint/2010/main" val="4141196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 Running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How many total priority queue operations are necessary?</a:t>
                </a:r>
              </a:p>
              <a:p>
                <a:pPr lvl="1"/>
                <a:r>
                  <a:rPr lang="en-US" dirty="0"/>
                  <a:t>How many times is each node added to the priority queue?</a:t>
                </a:r>
              </a:p>
              <a:p>
                <a:pPr lvl="1"/>
                <a:r>
                  <a:rPr lang="en-US" dirty="0"/>
                  <a:t>How many times might a node’s priority be changed?</a:t>
                </a:r>
              </a:p>
              <a:p>
                <a:r>
                  <a:rPr lang="en-US" dirty="0"/>
                  <a:t>What’s the running time of each priority queue operation?</a:t>
                </a:r>
              </a:p>
              <a:p>
                <a:r>
                  <a:rPr lang="en-US" dirty="0"/>
                  <a:t>Overall running time:</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func>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07206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 Correctness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7417893" cy="4525963"/>
              </a:xfrm>
            </p:spPr>
            <p:txBody>
              <a:bodyPr>
                <a:normAutofit/>
              </a:bodyPr>
              <a:lstStyle/>
              <a:p>
                <a:r>
                  <a:rPr lang="en-US" dirty="0"/>
                  <a:t>Claim: when a node is removed from the priority queue, its distance is that of the shortest path</a:t>
                </a:r>
              </a:p>
              <a:p>
                <a:r>
                  <a:rPr lang="en-US" dirty="0"/>
                  <a:t>Induction over number of completed nodes</a:t>
                </a:r>
              </a:p>
              <a:p>
                <a:r>
                  <a:rPr lang="en-US" dirty="0"/>
                  <a:t>Base Case: Only the start node removed</a:t>
                </a:r>
              </a:p>
              <a:p>
                <a:pPr lvl="1"/>
                <a:r>
                  <a:rPr lang="en-US" dirty="0"/>
                  <a:t>It is indeed 0 away from itself</a:t>
                </a:r>
              </a:p>
              <a:p>
                <a:r>
                  <a:rPr lang="en-US" dirty="0"/>
                  <a:t>Inductive Step:</a:t>
                </a:r>
              </a:p>
              <a:p>
                <a:pPr lvl="1"/>
                <a:r>
                  <a:rPr lang="en-US" dirty="0"/>
                  <a:t>If we have correctly found shortest paths for the first </a:t>
                </a:r>
                <a14:m>
                  <m:oMath xmlns:m="http://schemas.openxmlformats.org/officeDocument/2006/math">
                    <m:r>
                      <a:rPr lang="en-US" b="0" i="1" smtClean="0">
                        <a:latin typeface="Cambria Math" panose="02040503050406030204" pitchFamily="18" charset="0"/>
                      </a:rPr>
                      <m:t>𝑘</m:t>
                    </m:r>
                  </m:oMath>
                </a14:m>
                <a:r>
                  <a:rPr lang="en-US" dirty="0"/>
                  <a:t> nodes, then when we remove node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we have found its shortest path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7417893" cy="4525963"/>
              </a:xfrm>
              <a:blipFill>
                <a:blip r:embed="rId2"/>
                <a:stretch>
                  <a:fillRect l="-1479" t="-2291" r="-1561"/>
                </a:stretch>
              </a:blipFill>
            </p:spPr>
            <p:txBody>
              <a:bodyPr/>
              <a:lstStyle/>
              <a:p>
                <a:r>
                  <a:rPr lang="en-US">
                    <a:noFill/>
                  </a:rPr>
                  <a:t> </a:t>
                </a:r>
              </a:p>
            </p:txBody>
          </p:sp>
        </mc:Fallback>
      </mc:AlternateContent>
      <p:grpSp>
        <p:nvGrpSpPr>
          <p:cNvPr id="50" name="Group 4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D9F51567-0220-C8E3-67DF-59F647C811E1}"/>
              </a:ext>
            </a:extLst>
          </p:cNvPr>
          <p:cNvGrpSpPr/>
          <p:nvPr/>
        </p:nvGrpSpPr>
        <p:grpSpPr>
          <a:xfrm>
            <a:off x="8158085" y="1755227"/>
            <a:ext cx="3196912" cy="2664373"/>
            <a:chOff x="8158085" y="1755227"/>
            <a:chExt cx="3196912" cy="2664373"/>
          </a:xfrm>
        </p:grpSpPr>
        <p:sp>
          <p:nvSpPr>
            <p:cNvPr id="51" name="Freeform: Shape 50">
              <a:extLst>
                <a:ext uri="{FF2B5EF4-FFF2-40B4-BE49-F238E27FC236}">
                  <a16:creationId xmlns:a16="http://schemas.microsoft.com/office/drawing/2014/main" id="{72D717BB-C79F-F287-0BEC-F57D7EE7375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D49F9BE9-05B2-3134-EBE0-6D649BBA4CEE}"/>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AA54A58A-DD11-A6C3-5502-F87E9D3C97FE}"/>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1D95B863-A132-F109-C76B-E02F57ED5026}"/>
                </a:ext>
              </a:extLst>
            </p:cNvPr>
            <p:cNvCxnSpPr>
              <a:cxnSpLocks/>
              <a:stCxn id="57" idx="6"/>
              <a:endCxn id="62"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12ADCD8-B11C-C98E-8D45-5C544E1E2AEE}"/>
                </a:ext>
              </a:extLst>
            </p:cNvPr>
            <p:cNvCxnSpPr>
              <a:stCxn id="59" idx="3"/>
              <a:endCxn id="58"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CECCEFD7-142A-C970-5176-907A3A9F3847}"/>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56" name="Oval 55">
                  <a:extLst>
                    <a:ext uri="{FF2B5EF4-FFF2-40B4-BE49-F238E27FC236}">
                      <a16:creationId xmlns:a16="http://schemas.microsoft.com/office/drawing/2014/main" id="{CECCEFD7-142A-C970-5176-907A3A9F3847}"/>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3"/>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Oval 56">
                  <a:extLst>
                    <a:ext uri="{FF2B5EF4-FFF2-40B4-BE49-F238E27FC236}">
                      <a16:creationId xmlns:a16="http://schemas.microsoft.com/office/drawing/2014/main" id="{ACF6EC2A-831A-A941-C2A8-CE34688ECE26}"/>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57" name="Oval 56">
                  <a:extLst>
                    <a:ext uri="{FF2B5EF4-FFF2-40B4-BE49-F238E27FC236}">
                      <a16:creationId xmlns:a16="http://schemas.microsoft.com/office/drawing/2014/main" id="{ACF6EC2A-831A-A941-C2A8-CE34688ECE26}"/>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6BF00F74-AA5F-F9E3-5FF3-32644B0A23A6}"/>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58" name="Oval 57">
                  <a:extLst>
                    <a:ext uri="{FF2B5EF4-FFF2-40B4-BE49-F238E27FC236}">
                      <a16:creationId xmlns:a16="http://schemas.microsoft.com/office/drawing/2014/main" id="{6BF00F74-AA5F-F9E3-5FF3-32644B0A23A6}"/>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5"/>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274205F9-F459-6B53-7AB4-F0568284481A}"/>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59" name="Oval 58">
                  <a:extLst>
                    <a:ext uri="{FF2B5EF4-FFF2-40B4-BE49-F238E27FC236}">
                      <a16:creationId xmlns:a16="http://schemas.microsoft.com/office/drawing/2014/main" id="{274205F9-F459-6B53-7AB4-F0568284481A}"/>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6"/>
                  <a:stretch>
                    <a:fillRect/>
                  </a:stretch>
                </a:blipFill>
                <a:ln>
                  <a:solidFill>
                    <a:schemeClr val="accent3">
                      <a:lumMod val="50000"/>
                    </a:schemeClr>
                  </a:solidFill>
                </a:ln>
              </p:spPr>
              <p:txBody>
                <a:bodyPr/>
                <a:lstStyle/>
                <a:p>
                  <a:r>
                    <a:rPr lang="en-US">
                      <a:noFill/>
                    </a:rPr>
                    <a:t> </a:t>
                  </a:r>
                </a:p>
              </p:txBody>
            </p:sp>
          </mc:Fallback>
        </mc:AlternateContent>
        <p:sp>
          <p:nvSpPr>
            <p:cNvPr id="60" name="Freeform 2">
              <a:extLst>
                <a:ext uri="{FF2B5EF4-FFF2-40B4-BE49-F238E27FC236}">
                  <a16:creationId xmlns:a16="http://schemas.microsoft.com/office/drawing/2014/main" id="{1AA321F2-CA62-96E6-71A4-74099224ED2B}"/>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1FAA253-D905-16A5-5B0F-C651DBDAB6CE}"/>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61" name="TextBox 60">
                  <a:extLst>
                    <a:ext uri="{FF2B5EF4-FFF2-40B4-BE49-F238E27FC236}">
                      <a16:creationId xmlns:a16="http://schemas.microsoft.com/office/drawing/2014/main" id="{01FAA253-D905-16A5-5B0F-C651DBDAB6CE}"/>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7"/>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Oval 61">
                  <a:extLst>
                    <a:ext uri="{FF2B5EF4-FFF2-40B4-BE49-F238E27FC236}">
                      <a16:creationId xmlns:a16="http://schemas.microsoft.com/office/drawing/2014/main" id="{A9DA4521-2E76-80A8-25EE-FC42B7AB61DD}"/>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62" name="Oval 61">
                  <a:extLst>
                    <a:ext uri="{FF2B5EF4-FFF2-40B4-BE49-F238E27FC236}">
                      <a16:creationId xmlns:a16="http://schemas.microsoft.com/office/drawing/2014/main" id="{A9DA4521-2E76-80A8-25EE-FC42B7AB61DD}"/>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77096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Dijkstra’s: Correctness – Properties of </a:t>
                </a:r>
                <a14:m>
                  <m:oMath xmlns:m="http://schemas.openxmlformats.org/officeDocument/2006/math">
                    <m:r>
                      <a:rPr lang="en-US" b="0" i="1" smtClean="0">
                        <a:latin typeface="Cambria Math" panose="02040503050406030204" pitchFamily="18" charset="0"/>
                      </a:rPr>
                      <m:t>𝑎</m:t>
                    </m:r>
                  </m:oMath>
                </a14:m>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7417893" cy="4525963"/>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What do we know bout </a:t>
                </a:r>
                <a14:m>
                  <m:oMath xmlns:m="http://schemas.openxmlformats.org/officeDocument/2006/math">
                    <m:r>
                      <a:rPr lang="en-US" b="0" i="1" smtClean="0">
                        <a:latin typeface="Cambria Math" panose="02040503050406030204" pitchFamily="18" charset="0"/>
                      </a:rPr>
                      <m:t>𝑎</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7417893" cy="4525963"/>
              </a:xfrm>
              <a:blipFill>
                <a:blip r:embed="rId3"/>
                <a:stretch>
                  <a:fillRect l="-1890" t="-1617"/>
                </a:stretch>
              </a:blipFill>
            </p:spPr>
            <p:txBody>
              <a:bodyPr/>
              <a:lstStyle/>
              <a:p>
                <a:r>
                  <a:rPr lang="en-US">
                    <a:noFill/>
                  </a:rPr>
                  <a:t> </a:t>
                </a:r>
              </a:p>
            </p:txBody>
          </p:sp>
        </mc:Fallback>
      </mc:AlternateContent>
      <p:grpSp>
        <p:nvGrpSpPr>
          <p:cNvPr id="6" name="Group 5"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736FFE37-B68D-8CB3-2DAF-1FA5F7CF6923}"/>
              </a:ext>
            </a:extLst>
          </p:cNvPr>
          <p:cNvGrpSpPr/>
          <p:nvPr/>
        </p:nvGrpSpPr>
        <p:grpSpPr>
          <a:xfrm>
            <a:off x="8158085" y="1755227"/>
            <a:ext cx="3196912" cy="2664373"/>
            <a:chOff x="8158085" y="1755227"/>
            <a:chExt cx="3196912" cy="2664373"/>
          </a:xfrm>
        </p:grpSpPr>
        <p:sp>
          <p:nvSpPr>
            <p:cNvPr id="8" name="Freeform: Shape 7">
              <a:extLst>
                <a:ext uri="{FF2B5EF4-FFF2-40B4-BE49-F238E27FC236}">
                  <a16:creationId xmlns:a16="http://schemas.microsoft.com/office/drawing/2014/main" id="{8EF2FDF0-F493-81A8-D886-31219A363244}"/>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54AB5B1-E3ED-CE58-88FC-89A15DA67352}"/>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85DAC6F-D6AB-8004-1525-261A73856BF3}"/>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F5CDCB4-B120-199D-83F3-7142A47C7D39}"/>
                </a:ext>
              </a:extLst>
            </p:cNvPr>
            <p:cNvCxnSpPr>
              <a:cxnSpLocks/>
              <a:stCxn id="16" idx="6"/>
              <a:endCxn id="21"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3D4B60-94A3-62D7-EE52-4C25ED1DF035}"/>
                </a:ext>
              </a:extLst>
            </p:cNvPr>
            <p:cNvCxnSpPr>
              <a:stCxn id="18" idx="3"/>
              <a:endCxn id="17"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B74F56B5-EA05-9004-9B8B-5BDE35F5D1A9}"/>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15" name="Oval 14">
                  <a:extLst>
                    <a:ext uri="{FF2B5EF4-FFF2-40B4-BE49-F238E27FC236}">
                      <a16:creationId xmlns:a16="http://schemas.microsoft.com/office/drawing/2014/main" id="{B74F56B5-EA05-9004-9B8B-5BDE35F5D1A9}"/>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4"/>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EC10B1F1-F259-C6CE-98D7-6833406F193B}"/>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16" name="Oval 15">
                  <a:extLst>
                    <a:ext uri="{FF2B5EF4-FFF2-40B4-BE49-F238E27FC236}">
                      <a16:creationId xmlns:a16="http://schemas.microsoft.com/office/drawing/2014/main" id="{EC10B1F1-F259-C6CE-98D7-6833406F193B}"/>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220DD1F8-6D41-5A3E-133E-D28416B26C9A}"/>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17" name="Oval 16">
                  <a:extLst>
                    <a:ext uri="{FF2B5EF4-FFF2-40B4-BE49-F238E27FC236}">
                      <a16:creationId xmlns:a16="http://schemas.microsoft.com/office/drawing/2014/main" id="{220DD1F8-6D41-5A3E-133E-D28416B26C9A}"/>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6"/>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9250D169-6AE4-99EC-E73B-2BC84477191A}"/>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18" name="Oval 17">
                  <a:extLst>
                    <a:ext uri="{FF2B5EF4-FFF2-40B4-BE49-F238E27FC236}">
                      <a16:creationId xmlns:a16="http://schemas.microsoft.com/office/drawing/2014/main" id="{9250D169-6AE4-99EC-E73B-2BC84477191A}"/>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7"/>
                  <a:stretch>
                    <a:fillRect/>
                  </a:stretch>
                </a:blipFill>
                <a:ln>
                  <a:solidFill>
                    <a:schemeClr val="accent3">
                      <a:lumMod val="50000"/>
                    </a:schemeClr>
                  </a:solidFill>
                </a:ln>
              </p:spPr>
              <p:txBody>
                <a:bodyPr/>
                <a:lstStyle/>
                <a:p>
                  <a:r>
                    <a:rPr lang="en-US">
                      <a:noFill/>
                    </a:rPr>
                    <a:t> </a:t>
                  </a:r>
                </a:p>
              </p:txBody>
            </p:sp>
          </mc:Fallback>
        </mc:AlternateContent>
        <p:sp>
          <p:nvSpPr>
            <p:cNvPr id="19" name="Freeform 2">
              <a:extLst>
                <a:ext uri="{FF2B5EF4-FFF2-40B4-BE49-F238E27FC236}">
                  <a16:creationId xmlns:a16="http://schemas.microsoft.com/office/drawing/2014/main" id="{FCAA960C-779E-4A36-098D-B35121B174D2}"/>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2DB98B6-1A10-ABD4-44B2-3EA140589CA3}"/>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20" name="TextBox 19">
                  <a:extLst>
                    <a:ext uri="{FF2B5EF4-FFF2-40B4-BE49-F238E27FC236}">
                      <a16:creationId xmlns:a16="http://schemas.microsoft.com/office/drawing/2014/main" id="{B2DB98B6-1A10-ABD4-44B2-3EA140589CA3}"/>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8"/>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550C739-FC10-852E-8C7A-7A2DCBEB988F}"/>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21" name="Oval 20">
                  <a:extLst>
                    <a:ext uri="{FF2B5EF4-FFF2-40B4-BE49-F238E27FC236}">
                      <a16:creationId xmlns:a16="http://schemas.microsoft.com/office/drawing/2014/main" id="{5550C739-FC10-852E-8C7A-7A2DCBEB988F}"/>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396707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Dijkstra’s: Correctness – Why </a:t>
                </a:r>
                <a14:m>
                  <m:oMath xmlns:m="http://schemas.openxmlformats.org/officeDocument/2006/math">
                    <m:r>
                      <a:rPr lang="en-US" b="0" i="1" smtClean="0">
                        <a:latin typeface="Cambria Math" panose="02040503050406030204" pitchFamily="18" charset="0"/>
                      </a:rPr>
                      <m:t>𝑎</m:t>
                    </m:r>
                  </m:oMath>
                </a14:m>
                <a:r>
                  <a:rPr lang="en-US" dirty="0"/>
                  <a:t> is correct</a:t>
                </a:r>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00201"/>
                <a:ext cx="8361699" cy="5121275"/>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a:t>
                </a:r>
              </a:p>
              <a:p>
                <a:pPr lvl="1"/>
                <a:r>
                  <a:rPr lang="en-US" dirty="0"/>
                  <a:t>No other node incomplete node has a shorter path discovered so far</a:t>
                </a:r>
              </a:p>
              <a:p>
                <a:r>
                  <a:rPr lang="en-US" dirty="0"/>
                  <a:t>Claim: no undiscovered path to </a:t>
                </a:r>
                <a14:m>
                  <m:oMath xmlns:m="http://schemas.openxmlformats.org/officeDocument/2006/math">
                    <m:r>
                      <a:rPr lang="en-US" b="0" i="1" smtClean="0">
                        <a:latin typeface="Cambria Math" panose="02040503050406030204" pitchFamily="18" charset="0"/>
                      </a:rPr>
                      <m:t>𝑎</m:t>
                    </m:r>
                  </m:oMath>
                </a14:m>
                <a:r>
                  <a:rPr lang="en-US" dirty="0"/>
                  <a:t> could be shorter</a:t>
                </a:r>
              </a:p>
              <a:p>
                <a:pPr lvl="1"/>
                <a:r>
                  <a:rPr lang="en-US" b="0" dirty="0"/>
                  <a:t>Consider any other incomplete node </a:t>
                </a:r>
                <a14:m>
                  <m:oMath xmlns:m="http://schemas.openxmlformats.org/officeDocument/2006/math">
                    <m:r>
                      <a:rPr lang="en-US" b="0" i="1" smtClean="0">
                        <a:latin typeface="Cambria Math" panose="02040503050406030204" pitchFamily="18" charset="0"/>
                      </a:rPr>
                      <m:t>𝑏</m:t>
                    </m:r>
                  </m:oMath>
                </a14:m>
                <a:r>
                  <a:rPr lang="en-US" dirty="0"/>
                  <a:t> that is 1 edge away from a complete node</a:t>
                </a:r>
              </a:p>
              <a:p>
                <a:pPr lvl="1"/>
                <a14:m>
                  <m:oMath xmlns:m="http://schemas.openxmlformats.org/officeDocument/2006/math">
                    <m:r>
                      <a:rPr lang="en-US" b="0" i="1" smtClean="0">
                        <a:latin typeface="Cambria Math" panose="02040503050406030204" pitchFamily="18" charset="0"/>
                      </a:rPr>
                      <m:t>𝑎</m:t>
                    </m:r>
                  </m:oMath>
                </a14:m>
                <a:r>
                  <a:rPr lang="en-US" dirty="0"/>
                  <a:t> is the closest node that is one away from a complete node</a:t>
                </a:r>
              </a:p>
              <a:p>
                <a:pPr lvl="1"/>
                <a:r>
                  <a:rPr lang="en-US" dirty="0"/>
                  <a:t>Thus no path that includes </a:t>
                </a:r>
                <a14:m>
                  <m:oMath xmlns:m="http://schemas.openxmlformats.org/officeDocument/2006/math">
                    <m:r>
                      <a:rPr lang="en-US" b="0" i="1" smtClean="0">
                        <a:latin typeface="Cambria Math" panose="02040503050406030204" pitchFamily="18" charset="0"/>
                      </a:rPr>
                      <m:t>𝑏</m:t>
                    </m:r>
                  </m:oMath>
                </a14:m>
                <a:r>
                  <a:rPr lang="en-US" dirty="0"/>
                  <a:t> can be a shorter path to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t>Therefore the shortest path to </a:t>
                </a:r>
                <a14:m>
                  <m:oMath xmlns:m="http://schemas.openxmlformats.org/officeDocument/2006/math">
                    <m:r>
                      <a:rPr lang="en-US" b="0" i="1" smtClean="0">
                        <a:latin typeface="Cambria Math" panose="02040503050406030204" pitchFamily="18" charset="0"/>
                      </a:rPr>
                      <m:t>𝑎</m:t>
                    </m:r>
                  </m:oMath>
                </a14:m>
                <a:r>
                  <a:rPr lang="en-US" dirty="0"/>
                  <a:t> must use only complete nodes, and therefore we have found it already!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00201"/>
                <a:ext cx="8361699" cy="5121275"/>
              </a:xfrm>
              <a:blipFill>
                <a:blip r:embed="rId3"/>
                <a:stretch>
                  <a:fillRect l="-1312" t="-2024" r="-219"/>
                </a:stretch>
              </a:blipFill>
            </p:spPr>
            <p:txBody>
              <a:bodyPr/>
              <a:lstStyle/>
              <a:p>
                <a:r>
                  <a:rPr lang="en-US">
                    <a:noFill/>
                  </a:rPr>
                  <a:t> </a:t>
                </a:r>
              </a:p>
            </p:txBody>
          </p:sp>
        </mc:Fallback>
      </mc:AlternateContent>
      <p:grpSp>
        <p:nvGrpSpPr>
          <p:cNvPr id="20" name="Group 1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49357B1E-48F0-D9B6-159A-08FA6DC3CFCF}"/>
              </a:ext>
            </a:extLst>
          </p:cNvPr>
          <p:cNvGrpSpPr/>
          <p:nvPr/>
        </p:nvGrpSpPr>
        <p:grpSpPr>
          <a:xfrm>
            <a:off x="8158085" y="1755227"/>
            <a:ext cx="3196912" cy="2664373"/>
            <a:chOff x="8158085" y="1755227"/>
            <a:chExt cx="3196912" cy="2664373"/>
          </a:xfrm>
        </p:grpSpPr>
        <p:sp>
          <p:nvSpPr>
            <p:cNvPr id="12" name="Freeform: Shape 11">
              <a:extLst>
                <a:ext uri="{FF2B5EF4-FFF2-40B4-BE49-F238E27FC236}">
                  <a16:creationId xmlns:a16="http://schemas.microsoft.com/office/drawing/2014/main" id="{F370E14E-294F-D4D8-77F0-CC545453D0D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497A4C-A31D-1F41-AD5A-57852224D4A6}"/>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EE5EFF-E73D-CC1A-67C7-83B99473A9EF}"/>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5339FE6-70DB-0853-D628-B1D39E14C1A4}"/>
                </a:ext>
              </a:extLst>
            </p:cNvPr>
            <p:cNvCxnSpPr>
              <a:cxnSpLocks/>
              <a:stCxn id="35" idx="6"/>
              <a:endCxn id="47"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B10B90-58C0-64FA-0381-549AB79BDE62}"/>
                </a:ext>
              </a:extLst>
            </p:cNvPr>
            <p:cNvCxnSpPr>
              <a:stCxn id="37" idx="3"/>
              <a:endCxn id="36"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8628FAB3-8BD0-3738-DA2D-79E3D16F1C02}"/>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34" name="Oval 33">
                  <a:extLst>
                    <a:ext uri="{FF2B5EF4-FFF2-40B4-BE49-F238E27FC236}">
                      <a16:creationId xmlns:a16="http://schemas.microsoft.com/office/drawing/2014/main" id="{8628FAB3-8BD0-3738-DA2D-79E3D16F1C02}"/>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4"/>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BABBDF72-2FF5-2183-A9B1-28ADD7420C07}"/>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35" name="Oval 34">
                  <a:extLst>
                    <a:ext uri="{FF2B5EF4-FFF2-40B4-BE49-F238E27FC236}">
                      <a16:creationId xmlns:a16="http://schemas.microsoft.com/office/drawing/2014/main" id="{BABBDF72-2FF5-2183-A9B1-28ADD7420C07}"/>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AE8CEF62-5070-282D-FBC7-78010062099D}"/>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36" name="Oval 35">
                  <a:extLst>
                    <a:ext uri="{FF2B5EF4-FFF2-40B4-BE49-F238E27FC236}">
                      <a16:creationId xmlns:a16="http://schemas.microsoft.com/office/drawing/2014/main" id="{AE8CEF62-5070-282D-FBC7-78010062099D}"/>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6"/>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F0CC2B2E-CACC-9F08-B7C8-C7E525968DFB}"/>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37" name="Oval 36">
                  <a:extLst>
                    <a:ext uri="{FF2B5EF4-FFF2-40B4-BE49-F238E27FC236}">
                      <a16:creationId xmlns:a16="http://schemas.microsoft.com/office/drawing/2014/main" id="{F0CC2B2E-CACC-9F08-B7C8-C7E525968DFB}"/>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7"/>
                  <a:stretch>
                    <a:fillRect/>
                  </a:stretch>
                </a:blipFill>
                <a:ln>
                  <a:solidFill>
                    <a:schemeClr val="accent3">
                      <a:lumMod val="50000"/>
                    </a:schemeClr>
                  </a:solidFill>
                </a:ln>
              </p:spPr>
              <p:txBody>
                <a:bodyPr/>
                <a:lstStyle/>
                <a:p>
                  <a:r>
                    <a:rPr lang="en-US">
                      <a:noFill/>
                    </a:rPr>
                    <a:t> </a:t>
                  </a:r>
                </a:p>
              </p:txBody>
            </p:sp>
          </mc:Fallback>
        </mc:AlternateContent>
        <p:sp>
          <p:nvSpPr>
            <p:cNvPr id="44" name="Freeform 2">
              <a:extLst>
                <a:ext uri="{FF2B5EF4-FFF2-40B4-BE49-F238E27FC236}">
                  <a16:creationId xmlns:a16="http://schemas.microsoft.com/office/drawing/2014/main" id="{187AAD63-1D27-A33B-AA85-F13586E96FD7}"/>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9B7DCAD-FE75-8FAF-B7D8-C443CAF47EA7}"/>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45" name="TextBox 44">
                  <a:extLst>
                    <a:ext uri="{FF2B5EF4-FFF2-40B4-BE49-F238E27FC236}">
                      <a16:creationId xmlns:a16="http://schemas.microsoft.com/office/drawing/2014/main" id="{99B7DCAD-FE75-8FAF-B7D8-C443CAF47EA7}"/>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8"/>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5A4C501F-64FF-88BA-788A-8096A2CFC062}"/>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47" name="Oval 46">
                  <a:extLst>
                    <a:ext uri="{FF2B5EF4-FFF2-40B4-BE49-F238E27FC236}">
                      <a16:creationId xmlns:a16="http://schemas.microsoft.com/office/drawing/2014/main" id="{5A4C501F-64FF-88BA-788A-8096A2CFC062}"/>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168628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954" y="100530"/>
            <a:ext cx="10515600" cy="1325563"/>
          </a:xfrm>
        </p:spPr>
        <p:txBody>
          <a:bodyPr/>
          <a:lstStyle/>
          <a:p>
            <a:r>
              <a:rPr lang="en-US" dirty="0"/>
              <a:t>Why we need non-negative edge weights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00201"/>
                <a:ext cx="8361699" cy="5121275"/>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𝑎</m:t>
                    </m:r>
                  </m:oMath>
                </a14:m>
                <a:r>
                  <a:rPr lang="en-US" dirty="0"/>
                  <a:t> is the next node removed from the queue. </a:t>
                </a:r>
              </a:p>
              <a:p>
                <a:pPr lvl="1"/>
                <a:r>
                  <a:rPr lang="en-US" dirty="0"/>
                  <a:t>No other node incomplete node has a shorter path discovered so far</a:t>
                </a:r>
              </a:p>
              <a:p>
                <a:r>
                  <a:rPr lang="en-US" dirty="0"/>
                  <a:t>Claim: no undiscovered path to </a:t>
                </a:r>
                <a14:m>
                  <m:oMath xmlns:m="http://schemas.openxmlformats.org/officeDocument/2006/math">
                    <m:r>
                      <a:rPr lang="en-US" b="0" i="1" smtClean="0">
                        <a:latin typeface="Cambria Math" panose="02040503050406030204" pitchFamily="18" charset="0"/>
                      </a:rPr>
                      <m:t>𝑎</m:t>
                    </m:r>
                  </m:oMath>
                </a14:m>
                <a:r>
                  <a:rPr lang="en-US" dirty="0"/>
                  <a:t> could be shorter</a:t>
                </a:r>
              </a:p>
              <a:p>
                <a:pPr lvl="1"/>
                <a:r>
                  <a:rPr lang="en-US" b="0" dirty="0"/>
                  <a:t>Consider any other incomplete node </a:t>
                </a:r>
                <a14:m>
                  <m:oMath xmlns:m="http://schemas.openxmlformats.org/officeDocument/2006/math">
                    <m:r>
                      <a:rPr lang="en-US" b="0" i="1" smtClean="0">
                        <a:latin typeface="Cambria Math" panose="02040503050406030204" pitchFamily="18" charset="0"/>
                      </a:rPr>
                      <m:t>𝑏</m:t>
                    </m:r>
                  </m:oMath>
                </a14:m>
                <a:r>
                  <a:rPr lang="en-US" dirty="0"/>
                  <a:t> that is 1 edge away from a complete node</a:t>
                </a:r>
              </a:p>
              <a:p>
                <a:pPr lvl="1"/>
                <a14:m>
                  <m:oMath xmlns:m="http://schemas.openxmlformats.org/officeDocument/2006/math">
                    <m:r>
                      <a:rPr lang="en-US" b="0" i="1" smtClean="0">
                        <a:latin typeface="Cambria Math" panose="02040503050406030204" pitchFamily="18" charset="0"/>
                      </a:rPr>
                      <m:t>𝑎</m:t>
                    </m:r>
                  </m:oMath>
                </a14:m>
                <a:r>
                  <a:rPr lang="en-US" dirty="0"/>
                  <a:t> is the closest node that is one away from a complete node</a:t>
                </a:r>
              </a:p>
              <a:p>
                <a:pPr lvl="1"/>
                <a:r>
                  <a:rPr lang="en-US" dirty="0">
                    <a:solidFill>
                      <a:srgbClr val="FF0000"/>
                    </a:solidFill>
                  </a:rPr>
                  <a:t>No path from </a:t>
                </a:r>
                <a14:m>
                  <m:oMath xmlns:m="http://schemas.openxmlformats.org/officeDocument/2006/math">
                    <m:r>
                      <a:rPr lang="en-US" b="0" i="1" smtClean="0">
                        <a:solidFill>
                          <a:srgbClr val="FF0000"/>
                        </a:solidFill>
                        <a:latin typeface="Cambria Math" panose="02040503050406030204" pitchFamily="18" charset="0"/>
                      </a:rPr>
                      <m:t>𝑏</m:t>
                    </m:r>
                  </m:oMath>
                </a14:m>
                <a:r>
                  <a:rPr lang="en-US" dirty="0">
                    <a:solidFill>
                      <a:srgbClr val="FF0000"/>
                    </a:solidFill>
                  </a:rPr>
                  <a:t> to </a:t>
                </a:r>
                <a14:m>
                  <m:oMath xmlns:m="http://schemas.openxmlformats.org/officeDocument/2006/math">
                    <m:r>
                      <a:rPr lang="en-US" b="0" i="1" smtClean="0">
                        <a:solidFill>
                          <a:srgbClr val="FF0000"/>
                        </a:solidFill>
                        <a:latin typeface="Cambria Math" panose="02040503050406030204" pitchFamily="18" charset="0"/>
                      </a:rPr>
                      <m:t>𝑎</m:t>
                    </m:r>
                  </m:oMath>
                </a14:m>
                <a:r>
                  <a:rPr lang="en-US" dirty="0">
                    <a:solidFill>
                      <a:srgbClr val="FF0000"/>
                    </a:solidFill>
                  </a:rPr>
                  <a:t> can have negative weight</a:t>
                </a:r>
                <a:endParaRPr lang="en-US" dirty="0"/>
              </a:p>
              <a:p>
                <a:pPr lvl="1"/>
                <a:r>
                  <a:rPr lang="en-US" dirty="0"/>
                  <a:t>Thus no path that includes </a:t>
                </a:r>
                <a14:m>
                  <m:oMath xmlns:m="http://schemas.openxmlformats.org/officeDocument/2006/math">
                    <m:r>
                      <a:rPr lang="en-US" b="0" i="1" smtClean="0">
                        <a:latin typeface="Cambria Math" panose="02040503050406030204" pitchFamily="18" charset="0"/>
                      </a:rPr>
                      <m:t>𝑏</m:t>
                    </m:r>
                  </m:oMath>
                </a14:m>
                <a:r>
                  <a:rPr lang="en-US" dirty="0"/>
                  <a:t> can be a shorter path to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t>Therefore the shortest path to </a:t>
                </a:r>
                <a14:m>
                  <m:oMath xmlns:m="http://schemas.openxmlformats.org/officeDocument/2006/math">
                    <m:r>
                      <a:rPr lang="en-US" b="0" i="1" smtClean="0">
                        <a:latin typeface="Cambria Math" panose="02040503050406030204" pitchFamily="18" charset="0"/>
                      </a:rPr>
                      <m:t>𝑎</m:t>
                    </m:r>
                  </m:oMath>
                </a14:m>
                <a:r>
                  <a:rPr lang="en-US" dirty="0"/>
                  <a:t> must use only complete nodes, and therefore we have found it already!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00201"/>
                <a:ext cx="8361699" cy="5121275"/>
              </a:xfrm>
              <a:blipFill>
                <a:blip r:embed="rId2"/>
                <a:stretch>
                  <a:fillRect l="-1312" t="-2024" r="-219"/>
                </a:stretch>
              </a:blipFill>
            </p:spPr>
            <p:txBody>
              <a:bodyPr/>
              <a:lstStyle/>
              <a:p>
                <a:r>
                  <a:rPr lang="en-US">
                    <a:noFill/>
                  </a:rPr>
                  <a:t> </a:t>
                </a:r>
              </a:p>
            </p:txBody>
          </p:sp>
        </mc:Fallback>
      </mc:AlternateContent>
      <p:grpSp>
        <p:nvGrpSpPr>
          <p:cNvPr id="20" name="Group 19" descr="An illustration of the graph when node a is removed from the priority queue during Dijkstra's algorithm.&#10;&#10;We say that, among the k nodes already removed, we have s (the source), x, and y. There is an additional node b that has not yet been removed.&#10;&#10;Because a just got removed, it has an edge to some already-removed node, in this case there is an edge from y to a.">
            <a:extLst>
              <a:ext uri="{FF2B5EF4-FFF2-40B4-BE49-F238E27FC236}">
                <a16:creationId xmlns:a16="http://schemas.microsoft.com/office/drawing/2014/main" id="{49357B1E-48F0-D9B6-159A-08FA6DC3CFCF}"/>
              </a:ext>
            </a:extLst>
          </p:cNvPr>
          <p:cNvGrpSpPr/>
          <p:nvPr/>
        </p:nvGrpSpPr>
        <p:grpSpPr>
          <a:xfrm>
            <a:off x="8158085" y="1755227"/>
            <a:ext cx="3196912" cy="2664373"/>
            <a:chOff x="8158085" y="1755227"/>
            <a:chExt cx="3196912" cy="2664373"/>
          </a:xfrm>
        </p:grpSpPr>
        <p:sp>
          <p:nvSpPr>
            <p:cNvPr id="12" name="Freeform: Shape 11">
              <a:extLst>
                <a:ext uri="{FF2B5EF4-FFF2-40B4-BE49-F238E27FC236}">
                  <a16:creationId xmlns:a16="http://schemas.microsoft.com/office/drawing/2014/main" id="{F370E14E-294F-D4D8-77F0-CC545453D0D1}"/>
                </a:ext>
              </a:extLst>
            </p:cNvPr>
            <p:cNvSpPr/>
            <p:nvPr/>
          </p:nvSpPr>
          <p:spPr>
            <a:xfrm>
              <a:off x="8516679" y="2345631"/>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497A4C-A31D-1F41-AD5A-57852224D4A6}"/>
                </a:ext>
              </a:extLst>
            </p:cNvPr>
            <p:cNvSpPr/>
            <p:nvPr/>
          </p:nvSpPr>
          <p:spPr>
            <a:xfrm>
              <a:off x="10028475" y="2085324"/>
              <a:ext cx="1326522" cy="1307804"/>
            </a:xfrm>
            <a:custGeom>
              <a:avLst/>
              <a:gdLst>
                <a:gd name="connsiteX0" fmla="*/ 1102506 w 1326522"/>
                <a:gd name="connsiteY0" fmla="*/ 0 h 1307804"/>
                <a:gd name="connsiteX1" fmla="*/ 1315157 w 1326522"/>
                <a:gd name="connsiteY1" fmla="*/ 499730 h 1307804"/>
                <a:gd name="connsiteX2" fmla="*/ 794162 w 1326522"/>
                <a:gd name="connsiteY2" fmla="*/ 818707 h 1307804"/>
                <a:gd name="connsiteX3" fmla="*/ 538980 w 1326522"/>
                <a:gd name="connsiteY3" fmla="*/ 478465 h 1307804"/>
                <a:gd name="connsiteX4" fmla="*/ 49882 w 1326522"/>
                <a:gd name="connsiteY4" fmla="*/ 372139 h 1307804"/>
                <a:gd name="connsiteX5" fmla="*/ 49882 w 1326522"/>
                <a:gd name="connsiteY5" fmla="*/ 818707 h 1307804"/>
                <a:gd name="connsiteX6" fmla="*/ 347594 w 1326522"/>
                <a:gd name="connsiteY6" fmla="*/ 1063256 h 1307804"/>
                <a:gd name="connsiteX7" fmla="*/ 113678 w 1326522"/>
                <a:gd name="connsiteY7" fmla="*/ 1307804 h 130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6522" h="1307804">
                  <a:moveTo>
                    <a:pt x="1102506" y="0"/>
                  </a:moveTo>
                  <a:cubicBezTo>
                    <a:pt x="1234527" y="181639"/>
                    <a:pt x="1366548" y="363279"/>
                    <a:pt x="1315157" y="499730"/>
                  </a:cubicBezTo>
                  <a:cubicBezTo>
                    <a:pt x="1263766" y="636181"/>
                    <a:pt x="923525" y="822251"/>
                    <a:pt x="794162" y="818707"/>
                  </a:cubicBezTo>
                  <a:cubicBezTo>
                    <a:pt x="664799" y="815163"/>
                    <a:pt x="663027" y="552893"/>
                    <a:pt x="538980" y="478465"/>
                  </a:cubicBezTo>
                  <a:cubicBezTo>
                    <a:pt x="414933" y="404037"/>
                    <a:pt x="131398" y="315432"/>
                    <a:pt x="49882" y="372139"/>
                  </a:cubicBezTo>
                  <a:cubicBezTo>
                    <a:pt x="-31634" y="428846"/>
                    <a:pt x="263" y="703521"/>
                    <a:pt x="49882" y="818707"/>
                  </a:cubicBezTo>
                  <a:cubicBezTo>
                    <a:pt x="99501" y="933893"/>
                    <a:pt x="336961" y="981740"/>
                    <a:pt x="347594" y="1063256"/>
                  </a:cubicBezTo>
                  <a:cubicBezTo>
                    <a:pt x="358227" y="1144772"/>
                    <a:pt x="104818" y="1217427"/>
                    <a:pt x="113678" y="1307804"/>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EE5EFF-E73D-CC1A-67C7-83B99473A9EF}"/>
                </a:ext>
              </a:extLst>
            </p:cNvPr>
            <p:cNvSpPr/>
            <p:nvPr/>
          </p:nvSpPr>
          <p:spPr>
            <a:xfrm rot="4551713">
              <a:off x="8260434" y="3358209"/>
              <a:ext cx="1113942" cy="558054"/>
            </a:xfrm>
            <a:custGeom>
              <a:avLst/>
              <a:gdLst>
                <a:gd name="connsiteX0" fmla="*/ 0 w 1113942"/>
                <a:gd name="connsiteY0" fmla="*/ 535792 h 558054"/>
                <a:gd name="connsiteX1" fmla="*/ 382772 w 1113942"/>
                <a:gd name="connsiteY1" fmla="*/ 514527 h 558054"/>
                <a:gd name="connsiteX2" fmla="*/ 414670 w 1113942"/>
                <a:gd name="connsiteY2" fmla="*/ 142388 h 558054"/>
                <a:gd name="connsiteX3" fmla="*/ 797442 w 1113942"/>
                <a:gd name="connsiteY3" fmla="*/ 4164 h 558054"/>
                <a:gd name="connsiteX4" fmla="*/ 786809 w 1113942"/>
                <a:gd name="connsiteY4" fmla="*/ 280611 h 558054"/>
                <a:gd name="connsiteX5" fmla="*/ 1095154 w 1113942"/>
                <a:gd name="connsiteY5" fmla="*/ 269978 h 558054"/>
                <a:gd name="connsiteX6" fmla="*/ 1095154 w 1113942"/>
                <a:gd name="connsiteY6" fmla="*/ 57327 h 55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3942" h="558054">
                  <a:moveTo>
                    <a:pt x="0" y="535792"/>
                  </a:moveTo>
                  <a:cubicBezTo>
                    <a:pt x="156830" y="557943"/>
                    <a:pt x="313660" y="580094"/>
                    <a:pt x="382772" y="514527"/>
                  </a:cubicBezTo>
                  <a:cubicBezTo>
                    <a:pt x="451884" y="448960"/>
                    <a:pt x="345558" y="227448"/>
                    <a:pt x="414670" y="142388"/>
                  </a:cubicBezTo>
                  <a:cubicBezTo>
                    <a:pt x="483782" y="57328"/>
                    <a:pt x="735419" y="-18873"/>
                    <a:pt x="797442" y="4164"/>
                  </a:cubicBezTo>
                  <a:cubicBezTo>
                    <a:pt x="859465" y="27201"/>
                    <a:pt x="737190" y="236309"/>
                    <a:pt x="786809" y="280611"/>
                  </a:cubicBezTo>
                  <a:cubicBezTo>
                    <a:pt x="836428" y="324913"/>
                    <a:pt x="1043763" y="307192"/>
                    <a:pt x="1095154" y="269978"/>
                  </a:cubicBezTo>
                  <a:cubicBezTo>
                    <a:pt x="1146545" y="232764"/>
                    <a:pt x="1073889" y="30746"/>
                    <a:pt x="1095154" y="57327"/>
                  </a:cubicBezTo>
                </a:path>
              </a:pathLst>
            </a:custGeom>
            <a:no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5339FE6-70DB-0853-D628-B1D39E14C1A4}"/>
                </a:ext>
              </a:extLst>
            </p:cNvPr>
            <p:cNvCxnSpPr>
              <a:cxnSpLocks/>
              <a:stCxn id="35" idx="6"/>
              <a:endCxn id="47" idx="2"/>
            </p:cNvCxnSpPr>
            <p:nvPr/>
          </p:nvCxnSpPr>
          <p:spPr>
            <a:xfrm flipV="1">
              <a:off x="9901954" y="1970913"/>
              <a:ext cx="1042288" cy="33517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B10B90-58C0-64FA-0381-549AB79BDE62}"/>
                </a:ext>
              </a:extLst>
            </p:cNvPr>
            <p:cNvCxnSpPr>
              <a:stCxn id="37" idx="3"/>
              <a:endCxn id="36" idx="7"/>
            </p:cNvCxnSpPr>
            <p:nvPr/>
          </p:nvCxnSpPr>
          <p:spPr>
            <a:xfrm flipH="1">
              <a:off x="9270609" y="3386098"/>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8628FAB3-8BD0-3738-DA2D-79E3D16F1C02}"/>
                    </a:ext>
                  </a:extLst>
                </p:cNvPr>
                <p:cNvSpPr/>
                <p:nvPr/>
              </p:nvSpPr>
              <p:spPr>
                <a:xfrm>
                  <a:off x="8305800" y="2885594"/>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34" name="Oval 33">
                  <a:extLst>
                    <a:ext uri="{FF2B5EF4-FFF2-40B4-BE49-F238E27FC236}">
                      <a16:creationId xmlns:a16="http://schemas.microsoft.com/office/drawing/2014/main" id="{8628FAB3-8BD0-3738-DA2D-79E3D16F1C02}"/>
                    </a:ext>
                  </a:extLst>
                </p:cNvPr>
                <p:cNvSpPr>
                  <a:spLocks noRot="1" noChangeAspect="1" noMove="1" noResize="1" noEditPoints="1" noAdjustHandles="1" noChangeArrowheads="1" noChangeShapeType="1" noTextEdit="1"/>
                </p:cNvSpPr>
                <p:nvPr/>
              </p:nvSpPr>
              <p:spPr>
                <a:xfrm>
                  <a:off x="8305800" y="2885594"/>
                  <a:ext cx="335171" cy="335171"/>
                </a:xfrm>
                <a:prstGeom prst="ellipse">
                  <a:avLst/>
                </a:prstGeom>
                <a:blipFill>
                  <a:blip r:embed="rId3"/>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BABBDF72-2FF5-2183-A9B1-28ADD7420C07}"/>
                    </a:ext>
                  </a:extLst>
                </p:cNvPr>
                <p:cNvSpPr/>
                <p:nvPr/>
              </p:nvSpPr>
              <p:spPr>
                <a:xfrm>
                  <a:off x="9566783" y="213849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35" name="Oval 34">
                  <a:extLst>
                    <a:ext uri="{FF2B5EF4-FFF2-40B4-BE49-F238E27FC236}">
                      <a16:creationId xmlns:a16="http://schemas.microsoft.com/office/drawing/2014/main" id="{BABBDF72-2FF5-2183-A9B1-28ADD7420C07}"/>
                    </a:ext>
                  </a:extLst>
                </p:cNvPr>
                <p:cNvSpPr>
                  <a:spLocks noRot="1" noChangeAspect="1" noMove="1" noResize="1" noEditPoints="1" noAdjustHandles="1" noChangeArrowheads="1" noChangeShapeType="1" noTextEdit="1"/>
                </p:cNvSpPr>
                <p:nvPr/>
              </p:nvSpPr>
              <p:spPr>
                <a:xfrm>
                  <a:off x="9566783" y="2138498"/>
                  <a:ext cx="335171" cy="335171"/>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AE8CEF62-5070-282D-FBC7-78010062099D}"/>
                    </a:ext>
                  </a:extLst>
                </p:cNvPr>
                <p:cNvSpPr/>
                <p:nvPr/>
              </p:nvSpPr>
              <p:spPr>
                <a:xfrm>
                  <a:off x="8984522" y="385490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36" name="Oval 35">
                  <a:extLst>
                    <a:ext uri="{FF2B5EF4-FFF2-40B4-BE49-F238E27FC236}">
                      <a16:creationId xmlns:a16="http://schemas.microsoft.com/office/drawing/2014/main" id="{AE8CEF62-5070-282D-FBC7-78010062099D}"/>
                    </a:ext>
                  </a:extLst>
                </p:cNvPr>
                <p:cNvSpPr>
                  <a:spLocks noRot="1" noChangeAspect="1" noMove="1" noResize="1" noEditPoints="1" noAdjustHandles="1" noChangeArrowheads="1" noChangeShapeType="1" noTextEdit="1"/>
                </p:cNvSpPr>
                <p:nvPr/>
              </p:nvSpPr>
              <p:spPr>
                <a:xfrm>
                  <a:off x="8984522" y="3854902"/>
                  <a:ext cx="335171" cy="335171"/>
                </a:xfrm>
                <a:prstGeom prst="ellipse">
                  <a:avLst/>
                </a:prstGeom>
                <a:blipFill>
                  <a:blip r:embed="rId5"/>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F0CC2B2E-CACC-9F08-B7C8-C7E525968DFB}"/>
                    </a:ext>
                  </a:extLst>
                </p:cNvPr>
                <p:cNvSpPr/>
                <p:nvPr/>
              </p:nvSpPr>
              <p:spPr>
                <a:xfrm>
                  <a:off x="9986885" y="3100011"/>
                  <a:ext cx="335171" cy="335171"/>
                </a:xfrm>
                <a:prstGeom prst="ellipse">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𝑎</m:t>
                        </m:r>
                      </m:oMath>
                    </m:oMathPara>
                  </a14:m>
                  <a:endParaRPr lang="en-US" dirty="0">
                    <a:solidFill>
                      <a:schemeClr val="tx1"/>
                    </a:solidFill>
                  </a:endParaRPr>
                </a:p>
              </p:txBody>
            </p:sp>
          </mc:Choice>
          <mc:Fallback xmlns="">
            <p:sp>
              <p:nvSpPr>
                <p:cNvPr id="37" name="Oval 36">
                  <a:extLst>
                    <a:ext uri="{FF2B5EF4-FFF2-40B4-BE49-F238E27FC236}">
                      <a16:creationId xmlns:a16="http://schemas.microsoft.com/office/drawing/2014/main" id="{F0CC2B2E-CACC-9F08-B7C8-C7E525968DFB}"/>
                    </a:ext>
                  </a:extLst>
                </p:cNvPr>
                <p:cNvSpPr>
                  <a:spLocks noRot="1" noChangeAspect="1" noMove="1" noResize="1" noEditPoints="1" noAdjustHandles="1" noChangeArrowheads="1" noChangeShapeType="1" noTextEdit="1"/>
                </p:cNvSpPr>
                <p:nvPr/>
              </p:nvSpPr>
              <p:spPr>
                <a:xfrm>
                  <a:off x="9986885" y="3100011"/>
                  <a:ext cx="335171" cy="335171"/>
                </a:xfrm>
                <a:prstGeom prst="ellipse">
                  <a:avLst/>
                </a:prstGeom>
                <a:blipFill>
                  <a:blip r:embed="rId6"/>
                  <a:stretch>
                    <a:fillRect/>
                  </a:stretch>
                </a:blipFill>
                <a:ln>
                  <a:solidFill>
                    <a:schemeClr val="accent3">
                      <a:lumMod val="50000"/>
                    </a:schemeClr>
                  </a:solidFill>
                </a:ln>
              </p:spPr>
              <p:txBody>
                <a:bodyPr/>
                <a:lstStyle/>
                <a:p>
                  <a:r>
                    <a:rPr lang="en-US">
                      <a:noFill/>
                    </a:rPr>
                    <a:t> </a:t>
                  </a:r>
                </a:p>
              </p:txBody>
            </p:sp>
          </mc:Fallback>
        </mc:AlternateContent>
        <p:sp>
          <p:nvSpPr>
            <p:cNvPr id="44" name="Freeform 2">
              <a:extLst>
                <a:ext uri="{FF2B5EF4-FFF2-40B4-BE49-F238E27FC236}">
                  <a16:creationId xmlns:a16="http://schemas.microsoft.com/office/drawing/2014/main" id="{187AAD63-1D27-A33B-AA85-F13586E96FD7}"/>
                </a:ext>
              </a:extLst>
            </p:cNvPr>
            <p:cNvSpPr/>
            <p:nvPr/>
          </p:nvSpPr>
          <p:spPr>
            <a:xfrm>
              <a:off x="8158085" y="1755227"/>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9B7DCAD-FE75-8FAF-B7D8-C443CAF47EA7}"/>
                    </a:ext>
                  </a:extLst>
                </p:cNvPr>
                <p:cNvSpPr txBox="1"/>
                <p:nvPr/>
              </p:nvSpPr>
              <p:spPr>
                <a:xfrm rot="19167461">
                  <a:off x="8886445" y="2873184"/>
                  <a:ext cx="941604" cy="369332"/>
                </a:xfrm>
                <a:prstGeom prst="rect">
                  <a:avLst/>
                </a:prstGeom>
                <a:noFill/>
              </p:spPr>
              <p:txBody>
                <a:bodyPr wrap="none" rtlCol="0">
                  <a:spAutoFit/>
                </a:bodyPr>
                <a:lstStyle/>
                <a:p>
                  <a14:m>
                    <m:oMath xmlns:m="http://schemas.openxmlformats.org/officeDocument/2006/math">
                      <m:r>
                        <a:rPr lang="en-US" b="0" i="1" smtClean="0">
                          <a:solidFill>
                            <a:schemeClr val="tx2">
                              <a:lumMod val="75000"/>
                            </a:schemeClr>
                          </a:solidFill>
                          <a:latin typeface="Cambria Math" panose="02040503050406030204" pitchFamily="18" charset="0"/>
                        </a:rPr>
                        <m:t>𝑘</m:t>
                      </m:r>
                    </m:oMath>
                  </a14:m>
                  <a:r>
                    <a:rPr lang="en-US" dirty="0">
                      <a:solidFill>
                        <a:schemeClr val="tx2">
                          <a:lumMod val="75000"/>
                        </a:schemeClr>
                      </a:solidFill>
                    </a:rPr>
                    <a:t> nodes</a:t>
                  </a:r>
                </a:p>
              </p:txBody>
            </p:sp>
          </mc:Choice>
          <mc:Fallback xmlns="">
            <p:sp>
              <p:nvSpPr>
                <p:cNvPr id="45" name="TextBox 44">
                  <a:extLst>
                    <a:ext uri="{FF2B5EF4-FFF2-40B4-BE49-F238E27FC236}">
                      <a16:creationId xmlns:a16="http://schemas.microsoft.com/office/drawing/2014/main" id="{99B7DCAD-FE75-8FAF-B7D8-C443CAF47EA7}"/>
                    </a:ext>
                  </a:extLst>
                </p:cNvPr>
                <p:cNvSpPr txBox="1">
                  <a:spLocks noRot="1" noChangeAspect="1" noMove="1" noResize="1" noEditPoints="1" noAdjustHandles="1" noChangeArrowheads="1" noChangeShapeType="1" noTextEdit="1"/>
                </p:cNvSpPr>
                <p:nvPr/>
              </p:nvSpPr>
              <p:spPr>
                <a:xfrm rot="19167461">
                  <a:off x="8886445" y="2873184"/>
                  <a:ext cx="941604" cy="369332"/>
                </a:xfrm>
                <a:prstGeom prst="rect">
                  <a:avLst/>
                </a:prstGeom>
                <a:blipFill>
                  <a:blip r:embed="rId7"/>
                  <a:stretch>
                    <a:fillRect t="-6122" r="-10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5A4C501F-64FF-88BA-788A-8096A2CFC062}"/>
                    </a:ext>
                  </a:extLst>
                </p:cNvPr>
                <p:cNvSpPr/>
                <p:nvPr/>
              </p:nvSpPr>
              <p:spPr>
                <a:xfrm>
                  <a:off x="10944242" y="18033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47" name="Oval 46">
                  <a:extLst>
                    <a:ext uri="{FF2B5EF4-FFF2-40B4-BE49-F238E27FC236}">
                      <a16:creationId xmlns:a16="http://schemas.microsoft.com/office/drawing/2014/main" id="{5A4C501F-64FF-88BA-788A-8096A2CFC062}"/>
                    </a:ext>
                  </a:extLst>
                </p:cNvPr>
                <p:cNvSpPr>
                  <a:spLocks noRot="1" noChangeAspect="1" noMove="1" noResize="1" noEditPoints="1" noAdjustHandles="1" noChangeArrowheads="1" noChangeShapeType="1" noTextEdit="1"/>
                </p:cNvSpPr>
                <p:nvPr/>
              </p:nvSpPr>
              <p:spPr>
                <a:xfrm>
                  <a:off x="10944242" y="1803327"/>
                  <a:ext cx="335171" cy="335171"/>
                </a:xfrm>
                <a:prstGeom prst="ellipse">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740959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24486</TotalTime>
  <Words>3505</Words>
  <Application>Microsoft Office PowerPoint</Application>
  <PresentationFormat>Widescreen</PresentationFormat>
  <Paragraphs>1203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Calibri Light</vt:lpstr>
      <vt:lpstr>Calibri</vt:lpstr>
      <vt:lpstr>Cambria Math</vt:lpstr>
      <vt:lpstr>Arial</vt:lpstr>
      <vt:lpstr>Aptos</vt:lpstr>
      <vt:lpstr>Office Theme</vt:lpstr>
      <vt:lpstr>CSE 332 Winter 2026 Lecture 16: Graphs 3</vt:lpstr>
      <vt:lpstr>Breadth-First Search</vt:lpstr>
      <vt:lpstr>BFS – Pseudocode</vt:lpstr>
      <vt:lpstr>BFS – Worked Example</vt:lpstr>
      <vt:lpstr>Find Distance (unweighted)</vt:lpstr>
      <vt:lpstr>Find Distance – Worked Example</vt:lpstr>
      <vt:lpstr>Shortest Path – Worked Example</vt:lpstr>
      <vt:lpstr>Depth-First Search</vt:lpstr>
      <vt:lpstr>DFS (non-recursive)</vt:lpstr>
      <vt:lpstr>DFS Recursively (more common)</vt:lpstr>
      <vt:lpstr>DFS – Worked Example</vt:lpstr>
      <vt:lpstr>Using DFS</vt:lpstr>
      <vt:lpstr>Back Edges</vt:lpstr>
      <vt:lpstr>Cycle Detection</vt:lpstr>
      <vt:lpstr>Cycle Detection – Worked Example</vt:lpstr>
      <vt:lpstr>Single-Source Shortest Path</vt:lpstr>
      <vt:lpstr>Dijkstra’s Algorithm</vt:lpstr>
      <vt:lpstr>Dijkstra’s</vt:lpstr>
      <vt:lpstr>Dijkstra’s Algorithm (1/8)</vt:lpstr>
      <vt:lpstr>Dijkstra’s Algorithm (2/8)</vt:lpstr>
      <vt:lpstr>Dijkstra’s Algorithm (3/8)</vt:lpstr>
      <vt:lpstr>Dijkstra’s Algorithm (4/8)</vt:lpstr>
      <vt:lpstr>Dijkstra’s Algorithm (5/8)</vt:lpstr>
      <vt:lpstr>Dijkstra’s Algorithm (6/8)</vt:lpstr>
      <vt:lpstr>Dijkstra’s Algorithm (7/8)</vt:lpstr>
      <vt:lpstr>Dijkstra’s Algorithm (8/8)</vt:lpstr>
      <vt:lpstr>Dijkstra’s Algorithm - Pseudocode</vt:lpstr>
      <vt:lpstr>Dijkstra’s Algorithm: Running Time</vt:lpstr>
      <vt:lpstr>Dijkstra’s Algorithm: Correctness</vt:lpstr>
      <vt:lpstr>Dijkstra’s: Correctness – Properties of a</vt:lpstr>
      <vt:lpstr>Dijkstra’s: Correctness – Why a is correct</vt:lpstr>
      <vt:lpstr>Why we need non-negative edge weights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285</cp:revision>
  <dcterms:created xsi:type="dcterms:W3CDTF">2023-10-13T16:06:42Z</dcterms:created>
  <dcterms:modified xsi:type="dcterms:W3CDTF">2026-05-08T18:31:22Z</dcterms:modified>
</cp:coreProperties>
</file>