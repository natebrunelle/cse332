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6"/>
  </p:notesMasterIdLst>
  <p:sldIdLst>
    <p:sldId id="257" r:id="rId2"/>
    <p:sldId id="555" r:id="rId3"/>
    <p:sldId id="543" r:id="rId4"/>
    <p:sldId id="545" r:id="rId5"/>
    <p:sldId id="548" r:id="rId6"/>
    <p:sldId id="546" r:id="rId7"/>
    <p:sldId id="549" r:id="rId8"/>
    <p:sldId id="550" r:id="rId9"/>
    <p:sldId id="551" r:id="rId10"/>
    <p:sldId id="547" r:id="rId11"/>
    <p:sldId id="752" r:id="rId12"/>
    <p:sldId id="753" r:id="rId13"/>
    <p:sldId id="830" r:id="rId14"/>
    <p:sldId id="836" r:id="rId15"/>
    <p:sldId id="829" r:id="rId16"/>
    <p:sldId id="837" r:id="rId17"/>
    <p:sldId id="846" r:id="rId18"/>
    <p:sldId id="850" r:id="rId19"/>
    <p:sldId id="756" r:id="rId20"/>
    <p:sldId id="757" r:id="rId21"/>
    <p:sldId id="847" r:id="rId22"/>
    <p:sldId id="848" r:id="rId23"/>
    <p:sldId id="849" r:id="rId24"/>
    <p:sldId id="851" r:id="rId25"/>
  </p:sldIdLst>
  <p:sldSz cx="12192000" cy="6858000"/>
  <p:notesSz cx="6858000" cy="9144000"/>
  <p:embeddedFontLst>
    <p:embeddedFont>
      <p:font typeface="Cambria Math" panose="02040503050406030204" pitchFamily="18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F"/>
    <a:srgbClr val="FF9900"/>
    <a:srgbClr val="FF9797"/>
    <a:srgbClr val="FF6464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49A25B-064F-4940-8CEE-34D7920B25F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DA96D1-356A-4D34-AE7A-0DFABF1C9C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226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A8D94-701F-50B7-FF63-239144983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1BD39A-A942-599F-149A-747401D546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5134E-8798-2A87-98AE-0B134785D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803DE-E5A1-A42D-17E0-52D8A15F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08009D-BD52-D020-26A4-CCFF2596A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30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D3513-3DBF-F295-0635-A76FAD8F7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A398C-CAEC-53AA-8A8B-28B4B6EFE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2AEDF-9628-E07A-C6FB-A23F1B37D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D4231-DF5D-E75E-40A2-4490E3864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61DB8-8E9A-0329-3CC7-DD8BE396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28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190C-5088-0FD4-FA3D-07D222B9F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2422D-2D16-CCA8-2A1C-E13A1E064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6C9900-661D-64EA-83FB-0318C266A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F216F-818C-AE83-8D4F-42EC3C942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494A3-F80F-EC41-DDC0-726FC63A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910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F6897-8ADC-82FB-24C1-148BB152C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07461-A71F-ECE6-AE85-5EA3DB5E18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D9E8EA-550B-F0DB-2472-AE2D0456E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A28DD-EC75-9F30-A7D3-C90A8D02D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D4F3C-0167-D8D5-E58E-83645CE3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DDF0-EBE9-4CB3-A532-8F8C26FCF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648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BC21-07E8-90D6-8FD3-4B7809D35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8688B1-01DC-A6B4-1C44-C73416EC04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4004C5-4EEE-C9A3-0FFF-B154F5B9A8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C95CA1-99E7-80CC-FF66-5C2F25904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21CBD4-5851-D78F-5249-59CDD8C9BC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92F86E-5D21-865D-53AE-77B5C57E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F5E5A8-7D51-605B-E276-A7A5B93FE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9E01F4-D4D9-E56F-9035-05E605811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7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3237B-2CFD-F0AF-D3E6-2FDD100A8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614118-0522-CF53-601D-265A3261E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CC46D9-B22E-C768-B35E-20DA33956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D07EE-0E9C-EC8E-BAC0-7B8C9EFB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16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BA0918-E285-61F1-EDAF-6B7FD149C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AFD855-6290-493F-81E4-A89E8DDED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BAA96-146F-BEF1-15D5-935C1B8E9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84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91D78-E109-DF5D-A589-413429D2A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91868-FB59-5D14-1BCA-C7C43F068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2F535-BC7E-F5E2-864B-461F8404D0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FCF40-365C-13EE-4DB1-CC7C5858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858AA7-3077-1807-CEB8-2C0F27B4C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F74C30-07C1-3F35-E57B-30BFA71AB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81C30-49BA-398C-2DF8-B0736590C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7B813-1595-60AF-F5B3-A0DAE66536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6402F2-AF70-21FD-1449-18CBF4C17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1982EC-DE32-4452-40AB-762F386AF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E76A50-D174-12CE-9CCD-74569685B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D79484-4128-5F97-59B5-3CF00D561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233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C0788-F665-F0AA-D34E-18CDC381E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D25BE1-D418-6610-B976-595A42D78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C710E-4740-E186-8004-9F098E4B8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57D91-6BF0-5F67-0BAA-BA3B5985E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EB95B-64CF-ED1B-895D-0C15FB84A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071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6B0D1A-0325-047A-3C56-DB7DC37D1F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2D4EC8-DF7A-722B-0985-B7E8ED880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F5D96-5B5D-A0E1-6B7E-F894B33DE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1E58B-FD1B-5158-9002-DB7909020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6E6E6-5DB2-B08C-E98E-4CE4CABAB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40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FDEBFE-9C54-D45A-111D-948735AB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F582E-F84E-411A-7F7A-D8EF87E1F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CE3F9-A152-FD27-1D1D-64A1C313F3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F318D-9BE5-6E4A-1795-F02EED65F8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4FB82-C81E-722D-F23A-4047C60DB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621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9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14: Graphs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0443D-CC80-4223-4973-783A2799D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“Linear Time” Sorting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4058D8-9EE1-AE68-B68A-9A002CD5EC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Useable when you are able to make additional assumptions about the contents of your list (beyond the ability to compare)</a:t>
                </a:r>
              </a:p>
              <a:p>
                <a:pPr lvl="1"/>
                <a:r>
                  <a:rPr lang="en-US" dirty="0"/>
                  <a:t>Examples:</a:t>
                </a:r>
              </a:p>
              <a:p>
                <a:pPr lvl="2"/>
                <a:r>
                  <a:rPr lang="en-US" dirty="0"/>
                  <a:t>The list contains only positive integers less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number of distinct values in the list is much smaller than the length of the list</a:t>
                </a:r>
              </a:p>
              <a:p>
                <a:r>
                  <a:rPr lang="en-US" dirty="0"/>
                  <a:t>The running time expression will always have a term other than the list’s length to account for this assumption</a:t>
                </a:r>
              </a:p>
              <a:p>
                <a:pPr lvl="1"/>
                <a:r>
                  <a:rPr lang="en-US" dirty="0"/>
                  <a:t>Examples:</a:t>
                </a:r>
              </a:p>
              <a:p>
                <a:pPr lvl="2"/>
                <a:r>
                  <a:rPr lang="en-US" dirty="0"/>
                  <a:t>Running time might be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range/count of values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4058D8-9EE1-AE68-B68A-9A002CD5EC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4117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D522-A643-E0F7-0203-D79E5BF42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BucketSort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E04AAD-4854-7E00-900E-93F7F0ADE0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Assumes the array contains integers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(or some other small range)</a:t>
                </a:r>
              </a:p>
              <a:p>
                <a:r>
                  <a:rPr lang="en-US" dirty="0"/>
                  <a:t>Idea:</a:t>
                </a:r>
              </a:p>
              <a:p>
                <a:pPr lvl="1"/>
                <a:r>
                  <a:rPr lang="en-US" dirty="0"/>
                  <a:t>Use each value as an index into an array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Add the item into the “bucket” at that index (e.g. linked list)</a:t>
                </a:r>
              </a:p>
              <a:p>
                <a:pPr lvl="1"/>
                <a:r>
                  <a:rPr lang="en-US" dirty="0"/>
                  <a:t>Get sorted array by “appending” all the buckets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E04AAD-4854-7E00-900E-93F7F0ADE0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67AF8E09-4807-2868-A48C-6127E71A25DA}"/>
              </a:ext>
            </a:extLst>
          </p:cNvPr>
          <p:cNvGrpSpPr/>
          <p:nvPr/>
        </p:nvGrpSpPr>
        <p:grpSpPr>
          <a:xfrm>
            <a:off x="5029200" y="4971363"/>
            <a:ext cx="2133600" cy="1817195"/>
            <a:chOff x="4876800" y="4493526"/>
            <a:chExt cx="2133600" cy="181719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7195B6B-8F20-1E06-FD24-55448A14BC22}"/>
                </a:ext>
              </a:extLst>
            </p:cNvPr>
            <p:cNvSpPr/>
            <p:nvPr/>
          </p:nvSpPr>
          <p:spPr>
            <a:xfrm>
              <a:off x="64770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</a:t>
              </a:r>
            </a:p>
            <a:p>
              <a:pPr algn="ctr"/>
              <a:r>
                <a:rPr lang="en-US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CDDC84-F1EE-993E-EAE5-3B0A4221D133}"/>
                </a:ext>
              </a:extLst>
            </p:cNvPr>
            <p:cNvSpPr/>
            <p:nvPr/>
          </p:nvSpPr>
          <p:spPr>
            <a:xfrm>
              <a:off x="59436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2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  <a:p>
              <a:pPr algn="ctr"/>
              <a:r>
                <a:rPr lang="en-US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CBDC5BF-A788-9BB0-473D-1600DF77A3F1}"/>
                </a:ext>
              </a:extLst>
            </p:cNvPr>
            <p:cNvSpPr txBox="1"/>
            <p:nvPr/>
          </p:nvSpPr>
          <p:spPr>
            <a:xfrm>
              <a:off x="49926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FD68542-BB28-5946-6762-7C4484D3871E}"/>
                </a:ext>
              </a:extLst>
            </p:cNvPr>
            <p:cNvSpPr txBox="1"/>
            <p:nvPr/>
          </p:nvSpPr>
          <p:spPr>
            <a:xfrm>
              <a:off x="55260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DF4183B-2334-683F-82D4-12D377A07121}"/>
                </a:ext>
              </a:extLst>
            </p:cNvPr>
            <p:cNvSpPr txBox="1"/>
            <p:nvPr/>
          </p:nvSpPr>
          <p:spPr>
            <a:xfrm>
              <a:off x="6060026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7C120CA-55FF-AB22-BBE5-BF9068E1A493}"/>
                </a:ext>
              </a:extLst>
            </p:cNvPr>
            <p:cNvSpPr txBox="1"/>
            <p:nvPr/>
          </p:nvSpPr>
          <p:spPr>
            <a:xfrm>
              <a:off x="6569800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FA4C3E8-9EFE-C9A8-7B7A-F47C950A259C}"/>
                </a:ext>
              </a:extLst>
            </p:cNvPr>
            <p:cNvSpPr/>
            <p:nvPr/>
          </p:nvSpPr>
          <p:spPr>
            <a:xfrm>
              <a:off x="54102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  <a:p>
              <a:pPr algn="ctr"/>
              <a:r>
                <a:rPr lang="en-US" dirty="0">
                  <a:solidFill>
                    <a:srgbClr val="FF00FF"/>
                  </a:solidFill>
                </a:rPr>
                <a:t>1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562214D-E46D-80EC-D18F-6101DF8377CD}"/>
                </a:ext>
              </a:extLst>
            </p:cNvPr>
            <p:cNvSpPr/>
            <p:nvPr/>
          </p:nvSpPr>
          <p:spPr>
            <a:xfrm>
              <a:off x="48768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B050"/>
                  </a:solidFill>
                </a:rPr>
                <a:t>0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lang="en-US" dirty="0">
                  <a:solidFill>
                    <a:srgbClr val="0070C0"/>
                  </a:solidFill>
                </a:rPr>
                <a:t>0</a:t>
              </a:r>
            </a:p>
            <a:p>
              <a:pPr algn="ctr"/>
              <a:r>
                <a:rPr lang="en-US" dirty="0">
                  <a:solidFill>
                    <a:srgbClr val="FF00FF"/>
                  </a:solidFill>
                </a:rPr>
                <a:t>0</a:t>
              </a:r>
            </a:p>
            <a:p>
              <a:pPr algn="ctr"/>
              <a:r>
                <a:rPr lang="en-US" dirty="0">
                  <a:solidFill>
                    <a:srgbClr val="FF0000"/>
                  </a:solidFill>
                </a:rPr>
                <a:t>0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8D2429C-A2C3-D78D-86E9-11CE8E41D125}"/>
              </a:ext>
            </a:extLst>
          </p:cNvPr>
          <p:cNvGrpSpPr/>
          <p:nvPr/>
        </p:nvGrpSpPr>
        <p:grpSpPr>
          <a:xfrm>
            <a:off x="11911" y="5514575"/>
            <a:ext cx="4386191" cy="365386"/>
            <a:chOff x="1445524" y="2895600"/>
            <a:chExt cx="6403076" cy="533400"/>
          </a:xfrm>
          <a:solidFill>
            <a:schemeClr val="bg1"/>
          </a:solidFill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8991133-53D2-21F2-29C3-E98E7709EE01}"/>
                </a:ext>
              </a:extLst>
            </p:cNvPr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0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30D66B8-A5F7-07FF-D312-C7AC75751DF1}"/>
                </a:ext>
              </a:extLst>
            </p:cNvPr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5E9E219E-11BF-685D-A6D4-EF356E8C2FA7}"/>
                </a:ext>
              </a:extLst>
            </p:cNvPr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D87A812-EAA0-D443-7950-C573364609A0}"/>
                </a:ext>
              </a:extLst>
            </p:cNvPr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0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1707F78-BE73-72CA-F6DC-1515ECE148EE}"/>
                </a:ext>
              </a:extLst>
            </p:cNvPr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0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61E9614-6CC2-15BD-1F3E-2BE8C9109E3A}"/>
                </a:ext>
              </a:extLst>
            </p:cNvPr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12D61F4-D525-E70B-DDA3-1CA9C95D238A}"/>
                </a:ext>
              </a:extLst>
            </p:cNvPr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9D0A8A3-E471-716C-E1E2-84F388209D08}"/>
                </a:ext>
              </a:extLst>
            </p:cNvPr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1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9E38520-A7FB-159F-9CCA-D3E7AF2DAAAB}"/>
                </a:ext>
              </a:extLst>
            </p:cNvPr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5A47277-D855-F580-7023-1EC9C825E2D6}"/>
                </a:ext>
              </a:extLst>
            </p:cNvPr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871D4AD6-315C-B84D-7071-065DA90CB2D5}"/>
                </a:ext>
              </a:extLst>
            </p:cNvPr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2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D60F3EF-76FE-B40C-1312-CAA6D43CD06D}"/>
                </a:ext>
              </a:extLst>
            </p:cNvPr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B050"/>
                  </a:solidFill>
                </a:rPr>
                <a:t>0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C37DF3F-683D-C0A4-0917-907B958B84E0}"/>
              </a:ext>
            </a:extLst>
          </p:cNvPr>
          <p:cNvGrpSpPr/>
          <p:nvPr/>
        </p:nvGrpSpPr>
        <p:grpSpPr>
          <a:xfrm>
            <a:off x="7782872" y="5527885"/>
            <a:ext cx="4386191" cy="365386"/>
            <a:chOff x="1445524" y="2895600"/>
            <a:chExt cx="6403076" cy="533400"/>
          </a:xfrm>
          <a:solidFill>
            <a:schemeClr val="bg1"/>
          </a:solidFill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68E7DD3-EF08-978F-A4CC-F110D4874DFC}"/>
                </a:ext>
              </a:extLst>
            </p:cNvPr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0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9B22446-6F01-32A0-2BB0-AEAB907E04D5}"/>
                </a:ext>
              </a:extLst>
            </p:cNvPr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0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02ABD29-384B-723C-6187-14C726F98BDC}"/>
                </a:ext>
              </a:extLst>
            </p:cNvPr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0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E9E328F-376B-9281-6918-22FBE538C2AE}"/>
                </a:ext>
              </a:extLst>
            </p:cNvPr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29300FB-CEAE-D3F3-1EEE-A6D4FA6E9460}"/>
                </a:ext>
              </a:extLst>
            </p:cNvPr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B050"/>
                  </a:solidFill>
                </a:rPr>
                <a:t>0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84D1EB2-7C2B-B887-349D-881E6E9E1109}"/>
                </a:ext>
              </a:extLst>
            </p:cNvPr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1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41EB973-F099-2F63-CFFA-6B4FE1504307}"/>
                </a:ext>
              </a:extLst>
            </p:cNvPr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16FC5AC-9509-45B7-F650-CED6211C8830}"/>
                </a:ext>
              </a:extLst>
            </p:cNvPr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2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25304CE-B1AA-C3A7-6873-7110DE44C16E}"/>
                </a:ext>
              </a:extLst>
            </p:cNvPr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D07EFFBC-9B46-C790-EF65-9D92153F102F}"/>
                </a:ext>
              </a:extLst>
            </p:cNvPr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2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624E2DD-4DD7-4825-D30E-BEAB32059351}"/>
                </a:ext>
              </a:extLst>
            </p:cNvPr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DFEDECB3-6B8A-6D9C-D63C-0945F37563C3}"/>
                </a:ext>
              </a:extLst>
            </p:cNvPr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1DC3E660-9E6E-B53B-EBBB-B31CCC11C4A0}"/>
              </a:ext>
            </a:extLst>
          </p:cNvPr>
          <p:cNvSpPr/>
          <p:nvPr/>
        </p:nvSpPr>
        <p:spPr>
          <a:xfrm>
            <a:off x="4520023" y="5341155"/>
            <a:ext cx="449486" cy="7721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13A20324-3B66-FEF7-4AD8-FE7A0460A6BD}"/>
              </a:ext>
            </a:extLst>
          </p:cNvPr>
          <p:cNvSpPr/>
          <p:nvPr/>
        </p:nvSpPr>
        <p:spPr>
          <a:xfrm>
            <a:off x="7219147" y="5404803"/>
            <a:ext cx="449486" cy="7721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338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6691A-165A-A4B2-5211-40C5459F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BucketSort</a:t>
            </a:r>
            <a:r>
              <a:rPr lang="en-US" dirty="0"/>
              <a:t>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708F3-E299-035E-25B6-51CE18AF3A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Create array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buckets</a:t>
                </a:r>
              </a:p>
              <a:p>
                <a:pPr lvl="1"/>
                <a:r>
                  <a:rPr lang="en-US" dirty="0"/>
                  <a:t>Either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depending on some things…</a:t>
                </a:r>
              </a:p>
              <a:p>
                <a:r>
                  <a:rPr lang="en-US" dirty="0"/>
                  <a:t>Insert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things into buckets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Empty buckets into an array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Overall: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When is this better than </a:t>
                </a:r>
                <a:r>
                  <a:rPr lang="en-US" dirty="0" err="1"/>
                  <a:t>mergesort</a:t>
                </a:r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708F3-E299-035E-25B6-51CE18AF3A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8997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B8172-18DF-BF9D-15EE-737B44C9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</a:t>
            </a:r>
            <a:r>
              <a:rPr lang="en-US" dirty="0" err="1"/>
              <a:t>BucketSort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1C77C-A95B-025D-AC30-300859213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In-Place?</a:t>
            </a:r>
          </a:p>
          <a:p>
            <a:pPr lvl="1"/>
            <a:r>
              <a:rPr lang="en-US" dirty="0"/>
              <a:t>No</a:t>
            </a:r>
          </a:p>
          <a:p>
            <a:r>
              <a:rPr lang="en-US" dirty="0"/>
              <a:t>Adaptive?</a:t>
            </a:r>
          </a:p>
          <a:p>
            <a:pPr lvl="1"/>
            <a:r>
              <a:rPr lang="en-US" dirty="0"/>
              <a:t>No</a:t>
            </a:r>
          </a:p>
          <a:p>
            <a:r>
              <a:rPr lang="en-US" dirty="0"/>
              <a:t>Stable?</a:t>
            </a:r>
          </a:p>
          <a:p>
            <a:pPr lvl="1"/>
            <a:r>
              <a:rPr lang="en-US" dirty="0"/>
              <a:t>Yes! </a:t>
            </a:r>
          </a:p>
        </p:txBody>
      </p:sp>
    </p:spTree>
    <p:extLst>
      <p:ext uri="{BB962C8B-B14F-4D97-AF65-F5344CB8AC3E}">
        <p14:creationId xmlns:p14="http://schemas.microsoft.com/office/powerpoint/2010/main" val="3028115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D522-A643-E0F7-0203-D79E5BF42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RadixSort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04AAD-4854-7E00-900E-93F7F0ADE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842" y="1517901"/>
            <a:ext cx="11668760" cy="4351338"/>
          </a:xfrm>
        </p:spPr>
        <p:txBody>
          <a:bodyPr/>
          <a:lstStyle/>
          <a:p>
            <a:r>
              <a:rPr lang="en-US" dirty="0"/>
              <a:t>Radix: The base of a number system</a:t>
            </a:r>
          </a:p>
          <a:p>
            <a:pPr lvl="1"/>
            <a:r>
              <a:rPr lang="en-US" dirty="0"/>
              <a:t>We’ll use base 10, most implementations will use larger bases</a:t>
            </a:r>
          </a:p>
          <a:p>
            <a:r>
              <a:rPr lang="en-US" dirty="0"/>
              <a:t>Idea: </a:t>
            </a:r>
          </a:p>
          <a:p>
            <a:pPr lvl="1"/>
            <a:r>
              <a:rPr lang="en-US" dirty="0" err="1"/>
              <a:t>BucketSort</a:t>
            </a:r>
            <a:r>
              <a:rPr lang="en-US" dirty="0"/>
              <a:t> by each digit, one at a time, from least significant to most significant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143260-887A-82E5-E7F0-D8C587242AE1}"/>
              </a:ext>
            </a:extLst>
          </p:cNvPr>
          <p:cNvSpPr txBox="1"/>
          <p:nvPr/>
        </p:nvSpPr>
        <p:spPr>
          <a:xfrm>
            <a:off x="1293363" y="5249289"/>
            <a:ext cx="31847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Place each element into a “bucket” according to its 1’s place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30506CD8-5A21-1B48-F376-2B0346B1442F}"/>
              </a:ext>
            </a:extLst>
          </p:cNvPr>
          <p:cNvGrpSpPr/>
          <p:nvPr/>
        </p:nvGrpSpPr>
        <p:grpSpPr>
          <a:xfrm>
            <a:off x="503842" y="3666399"/>
            <a:ext cx="8561464" cy="849868"/>
            <a:chOff x="1752600" y="2743200"/>
            <a:chExt cx="8561464" cy="84986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68EBC18-C202-3D7E-B926-33134979DB44}"/>
                </a:ext>
              </a:extLst>
            </p:cNvPr>
            <p:cNvGrpSpPr/>
            <p:nvPr/>
          </p:nvGrpSpPr>
          <p:grpSpPr>
            <a:xfrm>
              <a:off x="1752600" y="2743200"/>
              <a:ext cx="4268338" cy="849868"/>
              <a:chOff x="2361062" y="2743200"/>
              <a:chExt cx="4268338" cy="849868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B07EEFA4-C5F7-5449-AE1D-C9DCD31AEE37}"/>
                  </a:ext>
                </a:extLst>
              </p:cNvPr>
              <p:cNvGrpSpPr/>
              <p:nvPr/>
            </p:nvGrpSpPr>
            <p:grpSpPr>
              <a:xfrm>
                <a:off x="2361062" y="2743200"/>
                <a:ext cx="4268338" cy="533400"/>
                <a:chOff x="1445524" y="2971800"/>
                <a:chExt cx="4268338" cy="533400"/>
              </a:xfrm>
            </p:grpSpPr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B772C34B-AE61-051B-E7C0-BD7A0E92C086}"/>
                    </a:ext>
                  </a:extLst>
                </p:cNvPr>
                <p:cNvSpPr/>
                <p:nvPr/>
              </p:nvSpPr>
              <p:spPr>
                <a:xfrm>
                  <a:off x="14455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103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FA76D77E-9B08-5B17-CAB0-434AA7692468}"/>
                    </a:ext>
                  </a:extLst>
                </p:cNvPr>
                <p:cNvSpPr/>
                <p:nvPr/>
              </p:nvSpPr>
              <p:spPr>
                <a:xfrm>
                  <a:off x="19789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801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14E195B0-311A-9164-AE6C-6CC2E9E46C94}"/>
                    </a:ext>
                  </a:extLst>
                </p:cNvPr>
                <p:cNvSpPr/>
                <p:nvPr/>
              </p:nvSpPr>
              <p:spPr>
                <a:xfrm>
                  <a:off x="25128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401</a:t>
                  </a: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5E96D355-24F5-F191-E3B1-402061B50FD0}"/>
                    </a:ext>
                  </a:extLst>
                </p:cNvPr>
                <p:cNvSpPr/>
                <p:nvPr/>
              </p:nvSpPr>
              <p:spPr>
                <a:xfrm>
                  <a:off x="3046293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323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1B07A61B-7381-B0A9-3D0B-7C9945E1349D}"/>
                    </a:ext>
                  </a:extLst>
                </p:cNvPr>
                <p:cNvSpPr/>
                <p:nvPr/>
              </p:nvSpPr>
              <p:spPr>
                <a:xfrm>
                  <a:off x="35796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255</a:t>
                  </a: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DB9E96C-7F87-6C59-7CAB-3D0C04C4A4B9}"/>
                    </a:ext>
                  </a:extLst>
                </p:cNvPr>
                <p:cNvSpPr/>
                <p:nvPr/>
              </p:nvSpPr>
              <p:spPr>
                <a:xfrm>
                  <a:off x="41136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823</a:t>
                  </a: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639CFBAD-84A8-D35F-518F-ACA2E84658C4}"/>
                    </a:ext>
                  </a:extLst>
                </p:cNvPr>
                <p:cNvSpPr/>
                <p:nvPr/>
              </p:nvSpPr>
              <p:spPr>
                <a:xfrm>
                  <a:off x="46470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999</a:t>
                  </a: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8D65DD80-C4D2-3900-188B-E4A300D3349C}"/>
                    </a:ext>
                  </a:extLst>
                </p:cNvPr>
                <p:cNvSpPr/>
                <p:nvPr/>
              </p:nvSpPr>
              <p:spPr>
                <a:xfrm>
                  <a:off x="51804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101</a:t>
                  </a:r>
                </a:p>
              </p:txBody>
            </p:sp>
          </p:grp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35E1F1-0254-0DDD-5734-F8739BDEB8E2}"/>
                  </a:ext>
                </a:extLst>
              </p:cNvPr>
              <p:cNvSpPr txBox="1"/>
              <p:nvPr/>
            </p:nvSpPr>
            <p:spPr>
              <a:xfrm>
                <a:off x="25005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0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8B4C1-48B3-8D43-57B3-DF798D570F2D}"/>
                  </a:ext>
                </a:extLst>
              </p:cNvPr>
              <p:cNvSpPr txBox="1"/>
              <p:nvPr/>
            </p:nvSpPr>
            <p:spPr>
              <a:xfrm>
                <a:off x="30339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CE153C-97D2-2FDC-4F4B-FEDFBB49AE98}"/>
                  </a:ext>
                </a:extLst>
              </p:cNvPr>
              <p:cNvSpPr txBox="1"/>
              <p:nvPr/>
            </p:nvSpPr>
            <p:spPr>
              <a:xfrm>
                <a:off x="3567914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C2625EF-4B40-86AC-DBF7-AEC4DBAC7920}"/>
                  </a:ext>
                </a:extLst>
              </p:cNvPr>
              <p:cNvSpPr txBox="1"/>
              <p:nvPr/>
            </p:nvSpPr>
            <p:spPr>
              <a:xfrm>
                <a:off x="4077688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C37B8A-61E0-DCA9-F6F9-F99C03E50FC5}"/>
                  </a:ext>
                </a:extLst>
              </p:cNvPr>
              <p:cNvSpPr txBox="1"/>
              <p:nvPr/>
            </p:nvSpPr>
            <p:spPr>
              <a:xfrm>
                <a:off x="4611088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51485CC-79A7-5233-BFC5-0C022EE87F6C}"/>
                  </a:ext>
                </a:extLst>
              </p:cNvPr>
              <p:cNvSpPr txBox="1"/>
              <p:nvPr/>
            </p:nvSpPr>
            <p:spPr>
              <a:xfrm>
                <a:off x="5110332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B272925-512C-C00B-7B35-8DB56343F758}"/>
                  </a:ext>
                </a:extLst>
              </p:cNvPr>
              <p:cNvSpPr txBox="1"/>
              <p:nvPr/>
            </p:nvSpPr>
            <p:spPr>
              <a:xfrm>
                <a:off x="5702083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C30E54D-BCBB-11D5-CD6E-F0AA8FE92BDD}"/>
                  </a:ext>
                </a:extLst>
              </p:cNvPr>
              <p:cNvSpPr txBox="1"/>
              <p:nvPr/>
            </p:nvSpPr>
            <p:spPr>
              <a:xfrm>
                <a:off x="6235483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6CAA4EA5-FE3D-8D40-0A90-42A1D5AC8ECF}"/>
                </a:ext>
              </a:extLst>
            </p:cNvPr>
            <p:cNvGrpSpPr/>
            <p:nvPr/>
          </p:nvGrpSpPr>
          <p:grpSpPr>
            <a:xfrm>
              <a:off x="6020939" y="2743200"/>
              <a:ext cx="4293125" cy="849868"/>
              <a:chOff x="2361062" y="2743200"/>
              <a:chExt cx="4293125" cy="849868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028159C-F314-68E3-297B-5DE73893EACE}"/>
                  </a:ext>
                </a:extLst>
              </p:cNvPr>
              <p:cNvGrpSpPr/>
              <p:nvPr/>
            </p:nvGrpSpPr>
            <p:grpSpPr>
              <a:xfrm>
                <a:off x="2361062" y="2743200"/>
                <a:ext cx="4268338" cy="533400"/>
                <a:chOff x="1445524" y="2971800"/>
                <a:chExt cx="4268338" cy="533400"/>
              </a:xfrm>
            </p:grpSpPr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A954409E-4BAF-A95F-544D-B8DF8CE93CEE}"/>
                    </a:ext>
                  </a:extLst>
                </p:cNvPr>
                <p:cNvSpPr/>
                <p:nvPr/>
              </p:nvSpPr>
              <p:spPr>
                <a:xfrm>
                  <a:off x="14455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113</a:t>
                  </a: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245B0D8C-0166-3B37-5CF9-01E6616C1DC7}"/>
                    </a:ext>
                  </a:extLst>
                </p:cNvPr>
                <p:cNvSpPr/>
                <p:nvPr/>
              </p:nvSpPr>
              <p:spPr>
                <a:xfrm>
                  <a:off x="19789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901</a:t>
                  </a:r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D8757A04-74EC-52A0-17F3-20B1DEECB0C4}"/>
                    </a:ext>
                  </a:extLst>
                </p:cNvPr>
                <p:cNvSpPr/>
                <p:nvPr/>
              </p:nvSpPr>
              <p:spPr>
                <a:xfrm>
                  <a:off x="25128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555</a:t>
                  </a:r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9D5D8644-3F22-4B90-4575-591E69E6DD1D}"/>
                    </a:ext>
                  </a:extLst>
                </p:cNvPr>
                <p:cNvSpPr/>
                <p:nvPr/>
              </p:nvSpPr>
              <p:spPr>
                <a:xfrm>
                  <a:off x="3046293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512</a:t>
                  </a:r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D0FB66AC-257C-A3A7-72A2-9BAA64032154}"/>
                    </a:ext>
                  </a:extLst>
                </p:cNvPr>
                <p:cNvSpPr/>
                <p:nvPr/>
              </p:nvSpPr>
              <p:spPr>
                <a:xfrm>
                  <a:off x="35796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245</a:t>
                  </a:r>
                </a:p>
              </p:txBody>
            </p:sp>
            <p:sp>
              <p:nvSpPr>
                <p:cNvPr id="83" name="Rectangle 82">
                  <a:extLst>
                    <a:ext uri="{FF2B5EF4-FFF2-40B4-BE49-F238E27FC236}">
                      <a16:creationId xmlns:a16="http://schemas.microsoft.com/office/drawing/2014/main" id="{B64146E2-4504-A8F1-99F9-D44753821034}"/>
                    </a:ext>
                  </a:extLst>
                </p:cNvPr>
                <p:cNvSpPr/>
                <p:nvPr/>
              </p:nvSpPr>
              <p:spPr>
                <a:xfrm>
                  <a:off x="41136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800</a:t>
                  </a: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24994ADB-06A8-D4BC-7DB5-3CC06E91FA0C}"/>
                    </a:ext>
                  </a:extLst>
                </p:cNvPr>
                <p:cNvSpPr/>
                <p:nvPr/>
              </p:nvSpPr>
              <p:spPr>
                <a:xfrm>
                  <a:off x="46470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018</a:t>
                  </a:r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A8740905-608B-1F49-6E88-49046DEDE13C}"/>
                    </a:ext>
                  </a:extLst>
                </p:cNvPr>
                <p:cNvSpPr/>
                <p:nvPr/>
              </p:nvSpPr>
              <p:spPr>
                <a:xfrm>
                  <a:off x="51804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121</a:t>
                  </a:r>
                </a:p>
              </p:txBody>
            </p:sp>
          </p:grp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A4ED3AF-CE5A-B2A9-1793-8C8C2A1B881B}"/>
                  </a:ext>
                </a:extLst>
              </p:cNvPr>
              <p:cNvSpPr txBox="1"/>
              <p:nvPr/>
            </p:nvSpPr>
            <p:spPr>
              <a:xfrm>
                <a:off x="25005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00116F0-E2BC-4A94-3A2F-68B14E3D9D6D}"/>
                  </a:ext>
                </a:extLst>
              </p:cNvPr>
              <p:cNvSpPr txBox="1"/>
              <p:nvPr/>
            </p:nvSpPr>
            <p:spPr>
              <a:xfrm>
                <a:off x="30339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8EB4907-B83A-178C-0854-3A1D1D6D8064}"/>
                  </a:ext>
                </a:extLst>
              </p:cNvPr>
              <p:cNvSpPr txBox="1"/>
              <p:nvPr/>
            </p:nvSpPr>
            <p:spPr>
              <a:xfrm>
                <a:off x="3567914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10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F29C78F-1BB3-E0F4-23B0-F89C42A85941}"/>
                  </a:ext>
                </a:extLst>
              </p:cNvPr>
              <p:cNvSpPr txBox="1"/>
              <p:nvPr/>
            </p:nvSpPr>
            <p:spPr>
              <a:xfrm>
                <a:off x="4077688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11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155CF0-8F3F-B2B6-B4CE-818EC30457F9}"/>
                  </a:ext>
                </a:extLst>
              </p:cNvPr>
              <p:cNvSpPr txBox="1"/>
              <p:nvPr/>
            </p:nvSpPr>
            <p:spPr>
              <a:xfrm>
                <a:off x="4611088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12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ABAEC95-3AA8-1977-949A-53F10027BACC}"/>
                  </a:ext>
                </a:extLst>
              </p:cNvPr>
              <p:cNvSpPr txBox="1"/>
              <p:nvPr/>
            </p:nvSpPr>
            <p:spPr>
              <a:xfrm>
                <a:off x="5110332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13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9F7C5BDB-74C7-EEA9-FD7A-108150ED3D0B}"/>
                  </a:ext>
                </a:extLst>
              </p:cNvPr>
              <p:cNvSpPr txBox="1"/>
              <p:nvPr/>
            </p:nvSpPr>
            <p:spPr>
              <a:xfrm>
                <a:off x="5702083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14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9C38C609-4A48-7161-25E6-18F44C5174A4}"/>
                  </a:ext>
                </a:extLst>
              </p:cNvPr>
              <p:cNvSpPr txBox="1"/>
              <p:nvPr/>
            </p:nvSpPr>
            <p:spPr>
              <a:xfrm>
                <a:off x="6235483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15</a:t>
                </a:r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4BEB531-3711-E388-CD9E-744269DCB5F9}"/>
              </a:ext>
            </a:extLst>
          </p:cNvPr>
          <p:cNvGrpSpPr/>
          <p:nvPr/>
        </p:nvGrpSpPr>
        <p:grpSpPr>
          <a:xfrm>
            <a:off x="6639080" y="4886764"/>
            <a:ext cx="5334000" cy="1817195"/>
            <a:chOff x="4876800" y="4493526"/>
            <a:chExt cx="5334000" cy="1817195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54D98CC9-1ECA-8EC1-D4F2-F5356BD5D74D}"/>
                </a:ext>
              </a:extLst>
            </p:cNvPr>
            <p:cNvSpPr/>
            <p:nvPr/>
          </p:nvSpPr>
          <p:spPr>
            <a:xfrm>
              <a:off x="96774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AA885E00-B68C-F785-3E08-00904AF4E605}"/>
                </a:ext>
              </a:extLst>
            </p:cNvPr>
            <p:cNvSpPr/>
            <p:nvPr/>
          </p:nvSpPr>
          <p:spPr>
            <a:xfrm>
              <a:off x="91440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E53BF7D-9B29-0146-38F4-473D33D31363}"/>
                </a:ext>
              </a:extLst>
            </p:cNvPr>
            <p:cNvSpPr/>
            <p:nvPr/>
          </p:nvSpPr>
          <p:spPr>
            <a:xfrm>
              <a:off x="86106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26DF8AFB-0BE2-6403-A1E2-1E8D871B2345}"/>
                </a:ext>
              </a:extLst>
            </p:cNvPr>
            <p:cNvSpPr/>
            <p:nvPr/>
          </p:nvSpPr>
          <p:spPr>
            <a:xfrm>
              <a:off x="80772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989718A-7D33-FB9B-C348-2CC0497D6E02}"/>
                </a:ext>
              </a:extLst>
            </p:cNvPr>
            <p:cNvSpPr/>
            <p:nvPr/>
          </p:nvSpPr>
          <p:spPr>
            <a:xfrm>
              <a:off x="75438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DC242C9B-09A4-6117-C57D-D24450AC01BE}"/>
                </a:ext>
              </a:extLst>
            </p:cNvPr>
            <p:cNvSpPr/>
            <p:nvPr/>
          </p:nvSpPr>
          <p:spPr>
            <a:xfrm>
              <a:off x="70104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015C1621-566D-4D9B-4062-CF55647D2ACB}"/>
                </a:ext>
              </a:extLst>
            </p:cNvPr>
            <p:cNvSpPr/>
            <p:nvPr/>
          </p:nvSpPr>
          <p:spPr>
            <a:xfrm>
              <a:off x="64770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7A6F8BB-D41D-CFC2-3B83-378EB0BEE6B6}"/>
                </a:ext>
              </a:extLst>
            </p:cNvPr>
            <p:cNvSpPr/>
            <p:nvPr/>
          </p:nvSpPr>
          <p:spPr>
            <a:xfrm>
              <a:off x="59436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861BB88-9666-9EB5-3623-B2DCEF4360DA}"/>
                </a:ext>
              </a:extLst>
            </p:cNvPr>
            <p:cNvSpPr txBox="1"/>
            <p:nvPr/>
          </p:nvSpPr>
          <p:spPr>
            <a:xfrm>
              <a:off x="49926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DD2ED4B-3174-CE5F-9623-8FFD23B19965}"/>
                </a:ext>
              </a:extLst>
            </p:cNvPr>
            <p:cNvSpPr txBox="1"/>
            <p:nvPr/>
          </p:nvSpPr>
          <p:spPr>
            <a:xfrm>
              <a:off x="55260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3A5957B-0255-9C64-F7B4-05DAE01FEE43}"/>
                </a:ext>
              </a:extLst>
            </p:cNvPr>
            <p:cNvSpPr txBox="1"/>
            <p:nvPr/>
          </p:nvSpPr>
          <p:spPr>
            <a:xfrm>
              <a:off x="6060026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81CAD29-B3DF-A849-5CE5-4BF69DD53C73}"/>
                </a:ext>
              </a:extLst>
            </p:cNvPr>
            <p:cNvSpPr txBox="1"/>
            <p:nvPr/>
          </p:nvSpPr>
          <p:spPr>
            <a:xfrm>
              <a:off x="6569800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DB99E5E6-92D5-F305-7AAD-325721A03303}"/>
                </a:ext>
              </a:extLst>
            </p:cNvPr>
            <p:cNvSpPr txBox="1"/>
            <p:nvPr/>
          </p:nvSpPr>
          <p:spPr>
            <a:xfrm>
              <a:off x="7103200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4D8D65B-6701-8B3A-6DF6-D98B1ED9EBFF}"/>
                </a:ext>
              </a:extLst>
            </p:cNvPr>
            <p:cNvSpPr txBox="1"/>
            <p:nvPr/>
          </p:nvSpPr>
          <p:spPr>
            <a:xfrm>
              <a:off x="7602444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8BC08D99-04C9-E62B-494D-3A181488A7AA}"/>
                </a:ext>
              </a:extLst>
            </p:cNvPr>
            <p:cNvSpPr txBox="1"/>
            <p:nvPr/>
          </p:nvSpPr>
          <p:spPr>
            <a:xfrm>
              <a:off x="819419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614A99-7467-E672-9DB1-AF5A3A8C5BA4}"/>
                </a:ext>
              </a:extLst>
            </p:cNvPr>
            <p:cNvSpPr txBox="1"/>
            <p:nvPr/>
          </p:nvSpPr>
          <p:spPr>
            <a:xfrm>
              <a:off x="8727595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764E1B5-6D75-87C0-89E3-5D3ABC709EDB}"/>
                </a:ext>
              </a:extLst>
            </p:cNvPr>
            <p:cNvSpPr/>
            <p:nvPr/>
          </p:nvSpPr>
          <p:spPr>
            <a:xfrm>
              <a:off x="54102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69EB4A83-5E3A-A769-DCFB-123F8F10F4A7}"/>
                </a:ext>
              </a:extLst>
            </p:cNvPr>
            <p:cNvSpPr/>
            <p:nvPr/>
          </p:nvSpPr>
          <p:spPr>
            <a:xfrm>
              <a:off x="48768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C96E0C1-A550-56EC-FD72-2C4BC9F7C7F9}"/>
                </a:ext>
              </a:extLst>
            </p:cNvPr>
            <p:cNvSpPr txBox="1"/>
            <p:nvPr/>
          </p:nvSpPr>
          <p:spPr>
            <a:xfrm>
              <a:off x="926962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CBA1B4E-2801-0FFF-09AA-4BDE9E2E2705}"/>
                </a:ext>
              </a:extLst>
            </p:cNvPr>
            <p:cNvSpPr txBox="1"/>
            <p:nvPr/>
          </p:nvSpPr>
          <p:spPr>
            <a:xfrm>
              <a:off x="981180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sp>
        <p:nvSpPr>
          <p:cNvPr id="120" name="Arrow: Bent-Up 119">
            <a:extLst>
              <a:ext uri="{FF2B5EF4-FFF2-40B4-BE49-F238E27FC236}">
                <a16:creationId xmlns:a16="http://schemas.microsoft.com/office/drawing/2014/main" id="{F8C1EBBC-2D29-3947-2D55-152820918DA0}"/>
              </a:ext>
            </a:extLst>
          </p:cNvPr>
          <p:cNvSpPr/>
          <p:nvPr/>
        </p:nvSpPr>
        <p:spPr>
          <a:xfrm rot="5400000">
            <a:off x="4443829" y="4592010"/>
            <a:ext cx="1128451" cy="1325563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222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D522-A643-E0F7-0203-D79E5BF42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RadixSort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04AAD-4854-7E00-900E-93F7F0ADE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842" y="1517901"/>
            <a:ext cx="11668760" cy="4351338"/>
          </a:xfrm>
        </p:spPr>
        <p:txBody>
          <a:bodyPr/>
          <a:lstStyle/>
          <a:p>
            <a:r>
              <a:rPr lang="en-US" dirty="0"/>
              <a:t>Radix: The base of a number system</a:t>
            </a:r>
          </a:p>
          <a:p>
            <a:pPr lvl="1"/>
            <a:r>
              <a:rPr lang="en-US" dirty="0"/>
              <a:t>We’ll use base 10, most implementations will use larger bases</a:t>
            </a:r>
          </a:p>
          <a:p>
            <a:r>
              <a:rPr lang="en-US" dirty="0"/>
              <a:t>Idea: </a:t>
            </a:r>
          </a:p>
          <a:p>
            <a:pPr lvl="1"/>
            <a:r>
              <a:rPr lang="en-US" dirty="0" err="1"/>
              <a:t>BucketSort</a:t>
            </a:r>
            <a:r>
              <a:rPr lang="en-US" dirty="0"/>
              <a:t> by each digit, one at a time, from least significant to most significant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143260-887A-82E5-E7F0-D8C587242AE1}"/>
              </a:ext>
            </a:extLst>
          </p:cNvPr>
          <p:cNvSpPr txBox="1"/>
          <p:nvPr/>
        </p:nvSpPr>
        <p:spPr>
          <a:xfrm>
            <a:off x="1308984" y="5534047"/>
            <a:ext cx="31847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Place each element into a “bucket” according to its 10’s place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4BEB531-3711-E388-CD9E-744269DCB5F9}"/>
              </a:ext>
            </a:extLst>
          </p:cNvPr>
          <p:cNvGrpSpPr/>
          <p:nvPr/>
        </p:nvGrpSpPr>
        <p:grpSpPr>
          <a:xfrm>
            <a:off x="452562" y="3381872"/>
            <a:ext cx="5334000" cy="1817195"/>
            <a:chOff x="4876800" y="4493526"/>
            <a:chExt cx="5334000" cy="1817195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54D98CC9-1ECA-8EC1-D4F2-F5356BD5D74D}"/>
                </a:ext>
              </a:extLst>
            </p:cNvPr>
            <p:cNvSpPr/>
            <p:nvPr/>
          </p:nvSpPr>
          <p:spPr>
            <a:xfrm>
              <a:off x="96774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AA885E00-B68C-F785-3E08-00904AF4E605}"/>
                </a:ext>
              </a:extLst>
            </p:cNvPr>
            <p:cNvSpPr/>
            <p:nvPr/>
          </p:nvSpPr>
          <p:spPr>
            <a:xfrm>
              <a:off x="91440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E53BF7D-9B29-0146-38F4-473D33D31363}"/>
                </a:ext>
              </a:extLst>
            </p:cNvPr>
            <p:cNvSpPr/>
            <p:nvPr/>
          </p:nvSpPr>
          <p:spPr>
            <a:xfrm>
              <a:off x="86106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26DF8AFB-0BE2-6403-A1E2-1E8D871B2345}"/>
                </a:ext>
              </a:extLst>
            </p:cNvPr>
            <p:cNvSpPr/>
            <p:nvPr/>
          </p:nvSpPr>
          <p:spPr>
            <a:xfrm>
              <a:off x="80772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989718A-7D33-FB9B-C348-2CC0497D6E02}"/>
                </a:ext>
              </a:extLst>
            </p:cNvPr>
            <p:cNvSpPr/>
            <p:nvPr/>
          </p:nvSpPr>
          <p:spPr>
            <a:xfrm>
              <a:off x="75438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DC242C9B-09A4-6117-C57D-D24450AC01BE}"/>
                </a:ext>
              </a:extLst>
            </p:cNvPr>
            <p:cNvSpPr/>
            <p:nvPr/>
          </p:nvSpPr>
          <p:spPr>
            <a:xfrm>
              <a:off x="70104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015C1621-566D-4D9B-4062-CF55647D2ACB}"/>
                </a:ext>
              </a:extLst>
            </p:cNvPr>
            <p:cNvSpPr/>
            <p:nvPr/>
          </p:nvSpPr>
          <p:spPr>
            <a:xfrm>
              <a:off x="64770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7A6F8BB-D41D-CFC2-3B83-378EB0BEE6B6}"/>
                </a:ext>
              </a:extLst>
            </p:cNvPr>
            <p:cNvSpPr/>
            <p:nvPr/>
          </p:nvSpPr>
          <p:spPr>
            <a:xfrm>
              <a:off x="59436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861BB88-9666-9EB5-3623-B2DCEF4360DA}"/>
                </a:ext>
              </a:extLst>
            </p:cNvPr>
            <p:cNvSpPr txBox="1"/>
            <p:nvPr/>
          </p:nvSpPr>
          <p:spPr>
            <a:xfrm>
              <a:off x="49926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DD2ED4B-3174-CE5F-9623-8FFD23B19965}"/>
                </a:ext>
              </a:extLst>
            </p:cNvPr>
            <p:cNvSpPr txBox="1"/>
            <p:nvPr/>
          </p:nvSpPr>
          <p:spPr>
            <a:xfrm>
              <a:off x="55260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3A5957B-0255-9C64-F7B4-05DAE01FEE43}"/>
                </a:ext>
              </a:extLst>
            </p:cNvPr>
            <p:cNvSpPr txBox="1"/>
            <p:nvPr/>
          </p:nvSpPr>
          <p:spPr>
            <a:xfrm>
              <a:off x="6060026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81CAD29-B3DF-A849-5CE5-4BF69DD53C73}"/>
                </a:ext>
              </a:extLst>
            </p:cNvPr>
            <p:cNvSpPr txBox="1"/>
            <p:nvPr/>
          </p:nvSpPr>
          <p:spPr>
            <a:xfrm>
              <a:off x="6569800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DB99E5E6-92D5-F305-7AAD-325721A03303}"/>
                </a:ext>
              </a:extLst>
            </p:cNvPr>
            <p:cNvSpPr txBox="1"/>
            <p:nvPr/>
          </p:nvSpPr>
          <p:spPr>
            <a:xfrm>
              <a:off x="7103200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4D8D65B-6701-8B3A-6DF6-D98B1ED9EBFF}"/>
                </a:ext>
              </a:extLst>
            </p:cNvPr>
            <p:cNvSpPr txBox="1"/>
            <p:nvPr/>
          </p:nvSpPr>
          <p:spPr>
            <a:xfrm>
              <a:off x="7602444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8BC08D99-04C9-E62B-494D-3A181488A7AA}"/>
                </a:ext>
              </a:extLst>
            </p:cNvPr>
            <p:cNvSpPr txBox="1"/>
            <p:nvPr/>
          </p:nvSpPr>
          <p:spPr>
            <a:xfrm>
              <a:off x="819419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614A99-7467-E672-9DB1-AF5A3A8C5BA4}"/>
                </a:ext>
              </a:extLst>
            </p:cNvPr>
            <p:cNvSpPr txBox="1"/>
            <p:nvPr/>
          </p:nvSpPr>
          <p:spPr>
            <a:xfrm>
              <a:off x="8727595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764E1B5-6D75-87C0-89E3-5D3ABC709EDB}"/>
                </a:ext>
              </a:extLst>
            </p:cNvPr>
            <p:cNvSpPr/>
            <p:nvPr/>
          </p:nvSpPr>
          <p:spPr>
            <a:xfrm>
              <a:off x="54102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69EB4A83-5E3A-A769-DCFB-123F8F10F4A7}"/>
                </a:ext>
              </a:extLst>
            </p:cNvPr>
            <p:cNvSpPr/>
            <p:nvPr/>
          </p:nvSpPr>
          <p:spPr>
            <a:xfrm>
              <a:off x="48768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C96E0C1-A550-56EC-FD72-2C4BC9F7C7F9}"/>
                </a:ext>
              </a:extLst>
            </p:cNvPr>
            <p:cNvSpPr txBox="1"/>
            <p:nvPr/>
          </p:nvSpPr>
          <p:spPr>
            <a:xfrm>
              <a:off x="926962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CBA1B4E-2801-0FFF-09AA-4BDE9E2E2705}"/>
                </a:ext>
              </a:extLst>
            </p:cNvPr>
            <p:cNvSpPr txBox="1"/>
            <p:nvPr/>
          </p:nvSpPr>
          <p:spPr>
            <a:xfrm>
              <a:off x="981180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sp>
        <p:nvSpPr>
          <p:cNvPr id="120" name="Arrow: Bent-Up 119">
            <a:extLst>
              <a:ext uri="{FF2B5EF4-FFF2-40B4-BE49-F238E27FC236}">
                <a16:creationId xmlns:a16="http://schemas.microsoft.com/office/drawing/2014/main" id="{F8C1EBBC-2D29-3947-2D55-152820918DA0}"/>
              </a:ext>
            </a:extLst>
          </p:cNvPr>
          <p:cNvSpPr/>
          <p:nvPr/>
        </p:nvSpPr>
        <p:spPr>
          <a:xfrm rot="5400000">
            <a:off x="4551618" y="5289479"/>
            <a:ext cx="1128451" cy="1325563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03E7495-E90F-2D2E-2DC8-D7DB5BFCCBEB}"/>
              </a:ext>
            </a:extLst>
          </p:cNvPr>
          <p:cNvGrpSpPr/>
          <p:nvPr/>
        </p:nvGrpSpPr>
        <p:grpSpPr>
          <a:xfrm>
            <a:off x="6401447" y="4683760"/>
            <a:ext cx="5334000" cy="1969595"/>
            <a:chOff x="4876800" y="4572000"/>
            <a:chExt cx="5334000" cy="196959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61D6AA-7881-F709-2A3E-E335A463EA74}"/>
                </a:ext>
              </a:extLst>
            </p:cNvPr>
            <p:cNvSpPr/>
            <p:nvPr/>
          </p:nvSpPr>
          <p:spPr>
            <a:xfrm>
              <a:off x="96774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CC28F-B99B-5CE7-2FB0-4AAFD47CDE15}"/>
                </a:ext>
              </a:extLst>
            </p:cNvPr>
            <p:cNvSpPr/>
            <p:nvPr/>
          </p:nvSpPr>
          <p:spPr>
            <a:xfrm>
              <a:off x="91440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966A1E3-10C4-8F36-8163-DECE62BFF72C}"/>
                </a:ext>
              </a:extLst>
            </p:cNvPr>
            <p:cNvSpPr/>
            <p:nvPr/>
          </p:nvSpPr>
          <p:spPr>
            <a:xfrm>
              <a:off x="86106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4EFCA7D-7C8B-740A-99B9-440328E85B88}"/>
                </a:ext>
              </a:extLst>
            </p:cNvPr>
            <p:cNvSpPr/>
            <p:nvPr/>
          </p:nvSpPr>
          <p:spPr>
            <a:xfrm>
              <a:off x="80772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95C9FB0-7648-B3B8-1167-E8E5A5704B01}"/>
                </a:ext>
              </a:extLst>
            </p:cNvPr>
            <p:cNvSpPr/>
            <p:nvPr/>
          </p:nvSpPr>
          <p:spPr>
            <a:xfrm>
              <a:off x="75438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88BC752-BDCA-AD13-4233-89889A8DAC63}"/>
                </a:ext>
              </a:extLst>
            </p:cNvPr>
            <p:cNvSpPr/>
            <p:nvPr/>
          </p:nvSpPr>
          <p:spPr>
            <a:xfrm>
              <a:off x="70104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5678187-148C-0105-9D7E-192A22C6E036}"/>
                </a:ext>
              </a:extLst>
            </p:cNvPr>
            <p:cNvSpPr/>
            <p:nvPr/>
          </p:nvSpPr>
          <p:spPr>
            <a:xfrm>
              <a:off x="64770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CEEE52B-4C01-5D72-A987-4A97F4C6D2D2}"/>
                </a:ext>
              </a:extLst>
            </p:cNvPr>
            <p:cNvSpPr/>
            <p:nvPr/>
          </p:nvSpPr>
          <p:spPr>
            <a:xfrm>
              <a:off x="59436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779D00F-9272-7C1E-9D41-A93C338DF723}"/>
                </a:ext>
              </a:extLst>
            </p:cNvPr>
            <p:cNvSpPr txBox="1"/>
            <p:nvPr/>
          </p:nvSpPr>
          <p:spPr>
            <a:xfrm>
              <a:off x="4992657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7767DD9-39BB-8683-09BF-F85099F5390E}"/>
                </a:ext>
              </a:extLst>
            </p:cNvPr>
            <p:cNvSpPr txBox="1"/>
            <p:nvPr/>
          </p:nvSpPr>
          <p:spPr>
            <a:xfrm>
              <a:off x="5526057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561B223-FD8D-5A03-DA6E-247DED224AB8}"/>
                </a:ext>
              </a:extLst>
            </p:cNvPr>
            <p:cNvSpPr txBox="1"/>
            <p:nvPr/>
          </p:nvSpPr>
          <p:spPr>
            <a:xfrm>
              <a:off x="6060026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6FA6309-8B37-CE8D-E7E5-E5E79AF811D3}"/>
                </a:ext>
              </a:extLst>
            </p:cNvPr>
            <p:cNvSpPr txBox="1"/>
            <p:nvPr/>
          </p:nvSpPr>
          <p:spPr>
            <a:xfrm>
              <a:off x="6569800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759F879-D7EC-6511-A722-BA8C1D510326}"/>
                </a:ext>
              </a:extLst>
            </p:cNvPr>
            <p:cNvSpPr txBox="1"/>
            <p:nvPr/>
          </p:nvSpPr>
          <p:spPr>
            <a:xfrm>
              <a:off x="7103200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D13815-BC06-EB0C-3AC3-4EEE8B2BE084}"/>
                </a:ext>
              </a:extLst>
            </p:cNvPr>
            <p:cNvSpPr txBox="1"/>
            <p:nvPr/>
          </p:nvSpPr>
          <p:spPr>
            <a:xfrm>
              <a:off x="7602444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4813CA8-C813-EE49-18B2-760E4527EEAE}"/>
                </a:ext>
              </a:extLst>
            </p:cNvPr>
            <p:cNvSpPr txBox="1"/>
            <p:nvPr/>
          </p:nvSpPr>
          <p:spPr>
            <a:xfrm>
              <a:off x="819419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EFF9DF0-151C-22B5-5D2E-5DF190627837}"/>
                </a:ext>
              </a:extLst>
            </p:cNvPr>
            <p:cNvSpPr txBox="1"/>
            <p:nvPr/>
          </p:nvSpPr>
          <p:spPr>
            <a:xfrm>
              <a:off x="8727595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45609D8-F348-FC00-0758-0607BF897D4D}"/>
                </a:ext>
              </a:extLst>
            </p:cNvPr>
            <p:cNvSpPr/>
            <p:nvPr/>
          </p:nvSpPr>
          <p:spPr>
            <a:xfrm>
              <a:off x="54102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8EA6627-C543-2DA1-2142-39B063E1F82B}"/>
                </a:ext>
              </a:extLst>
            </p:cNvPr>
            <p:cNvSpPr/>
            <p:nvPr/>
          </p:nvSpPr>
          <p:spPr>
            <a:xfrm>
              <a:off x="4876800" y="4574274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8ECA832-35E5-A9A8-F60B-961FEC7432B8}"/>
                </a:ext>
              </a:extLst>
            </p:cNvPr>
            <p:cNvSpPr txBox="1"/>
            <p:nvPr/>
          </p:nvSpPr>
          <p:spPr>
            <a:xfrm>
              <a:off x="926962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FB00CFA-F0FE-1E0A-4521-EB59CC8578C4}"/>
                </a:ext>
              </a:extLst>
            </p:cNvPr>
            <p:cNvSpPr txBox="1"/>
            <p:nvPr/>
          </p:nvSpPr>
          <p:spPr>
            <a:xfrm>
              <a:off x="981180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43661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D522-A643-E0F7-0203-D79E5BF42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RadixSort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04AAD-4854-7E00-900E-93F7F0ADE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842" y="1517901"/>
            <a:ext cx="11668760" cy="4351338"/>
          </a:xfrm>
        </p:spPr>
        <p:txBody>
          <a:bodyPr/>
          <a:lstStyle/>
          <a:p>
            <a:r>
              <a:rPr lang="en-US" dirty="0"/>
              <a:t>Radix: The base of a number system</a:t>
            </a:r>
          </a:p>
          <a:p>
            <a:pPr lvl="1"/>
            <a:r>
              <a:rPr lang="en-US" dirty="0"/>
              <a:t>We’ll use base 10, most implementations will use larger bases</a:t>
            </a:r>
          </a:p>
          <a:p>
            <a:r>
              <a:rPr lang="en-US" dirty="0"/>
              <a:t>Idea: </a:t>
            </a:r>
          </a:p>
          <a:p>
            <a:pPr lvl="1"/>
            <a:r>
              <a:rPr lang="en-US" dirty="0" err="1"/>
              <a:t>BucketSort</a:t>
            </a:r>
            <a:r>
              <a:rPr lang="en-US" dirty="0"/>
              <a:t> by each digit, one at a time, from least significant to most significant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143260-887A-82E5-E7F0-D8C587242AE1}"/>
              </a:ext>
            </a:extLst>
          </p:cNvPr>
          <p:cNvSpPr txBox="1"/>
          <p:nvPr/>
        </p:nvSpPr>
        <p:spPr>
          <a:xfrm>
            <a:off x="1308984" y="5534047"/>
            <a:ext cx="31847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Place each element into a “bucket” according to its 100’s place</a:t>
            </a:r>
          </a:p>
        </p:txBody>
      </p:sp>
      <p:sp>
        <p:nvSpPr>
          <p:cNvPr id="120" name="Arrow: Bent-Up 119">
            <a:extLst>
              <a:ext uri="{FF2B5EF4-FFF2-40B4-BE49-F238E27FC236}">
                <a16:creationId xmlns:a16="http://schemas.microsoft.com/office/drawing/2014/main" id="{F8C1EBBC-2D29-3947-2D55-152820918DA0}"/>
              </a:ext>
            </a:extLst>
          </p:cNvPr>
          <p:cNvSpPr/>
          <p:nvPr/>
        </p:nvSpPr>
        <p:spPr>
          <a:xfrm rot="5400000">
            <a:off x="4551618" y="5289479"/>
            <a:ext cx="1128451" cy="1325563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03E7495-E90F-2D2E-2DC8-D7DB5BFCCBEB}"/>
              </a:ext>
            </a:extLst>
          </p:cNvPr>
          <p:cNvGrpSpPr/>
          <p:nvPr/>
        </p:nvGrpSpPr>
        <p:grpSpPr>
          <a:xfrm>
            <a:off x="184190" y="3418440"/>
            <a:ext cx="5334000" cy="1969595"/>
            <a:chOff x="4876800" y="4572000"/>
            <a:chExt cx="5334000" cy="196959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61D6AA-7881-F709-2A3E-E335A463EA74}"/>
                </a:ext>
              </a:extLst>
            </p:cNvPr>
            <p:cNvSpPr/>
            <p:nvPr/>
          </p:nvSpPr>
          <p:spPr>
            <a:xfrm>
              <a:off x="96774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CC28F-B99B-5CE7-2FB0-4AAFD47CDE15}"/>
                </a:ext>
              </a:extLst>
            </p:cNvPr>
            <p:cNvSpPr/>
            <p:nvPr/>
          </p:nvSpPr>
          <p:spPr>
            <a:xfrm>
              <a:off x="91440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966A1E3-10C4-8F36-8163-DECE62BFF72C}"/>
                </a:ext>
              </a:extLst>
            </p:cNvPr>
            <p:cNvSpPr/>
            <p:nvPr/>
          </p:nvSpPr>
          <p:spPr>
            <a:xfrm>
              <a:off x="86106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4EFCA7D-7C8B-740A-99B9-440328E85B88}"/>
                </a:ext>
              </a:extLst>
            </p:cNvPr>
            <p:cNvSpPr/>
            <p:nvPr/>
          </p:nvSpPr>
          <p:spPr>
            <a:xfrm>
              <a:off x="80772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95C9FB0-7648-B3B8-1167-E8E5A5704B01}"/>
                </a:ext>
              </a:extLst>
            </p:cNvPr>
            <p:cNvSpPr/>
            <p:nvPr/>
          </p:nvSpPr>
          <p:spPr>
            <a:xfrm>
              <a:off x="75438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88BC752-BDCA-AD13-4233-89889A8DAC63}"/>
                </a:ext>
              </a:extLst>
            </p:cNvPr>
            <p:cNvSpPr/>
            <p:nvPr/>
          </p:nvSpPr>
          <p:spPr>
            <a:xfrm>
              <a:off x="70104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5678187-148C-0105-9D7E-192A22C6E036}"/>
                </a:ext>
              </a:extLst>
            </p:cNvPr>
            <p:cNvSpPr/>
            <p:nvPr/>
          </p:nvSpPr>
          <p:spPr>
            <a:xfrm>
              <a:off x="64770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CEEE52B-4C01-5D72-A987-4A97F4C6D2D2}"/>
                </a:ext>
              </a:extLst>
            </p:cNvPr>
            <p:cNvSpPr/>
            <p:nvPr/>
          </p:nvSpPr>
          <p:spPr>
            <a:xfrm>
              <a:off x="59436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779D00F-9272-7C1E-9D41-A93C338DF723}"/>
                </a:ext>
              </a:extLst>
            </p:cNvPr>
            <p:cNvSpPr txBox="1"/>
            <p:nvPr/>
          </p:nvSpPr>
          <p:spPr>
            <a:xfrm>
              <a:off x="4992657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7767DD9-39BB-8683-09BF-F85099F5390E}"/>
                </a:ext>
              </a:extLst>
            </p:cNvPr>
            <p:cNvSpPr txBox="1"/>
            <p:nvPr/>
          </p:nvSpPr>
          <p:spPr>
            <a:xfrm>
              <a:off x="5526057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561B223-FD8D-5A03-DA6E-247DED224AB8}"/>
                </a:ext>
              </a:extLst>
            </p:cNvPr>
            <p:cNvSpPr txBox="1"/>
            <p:nvPr/>
          </p:nvSpPr>
          <p:spPr>
            <a:xfrm>
              <a:off x="6060026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6FA6309-8B37-CE8D-E7E5-E5E79AF811D3}"/>
                </a:ext>
              </a:extLst>
            </p:cNvPr>
            <p:cNvSpPr txBox="1"/>
            <p:nvPr/>
          </p:nvSpPr>
          <p:spPr>
            <a:xfrm>
              <a:off x="6569800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759F879-D7EC-6511-A722-BA8C1D510326}"/>
                </a:ext>
              </a:extLst>
            </p:cNvPr>
            <p:cNvSpPr txBox="1"/>
            <p:nvPr/>
          </p:nvSpPr>
          <p:spPr>
            <a:xfrm>
              <a:off x="7103200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D13815-BC06-EB0C-3AC3-4EEE8B2BE084}"/>
                </a:ext>
              </a:extLst>
            </p:cNvPr>
            <p:cNvSpPr txBox="1"/>
            <p:nvPr/>
          </p:nvSpPr>
          <p:spPr>
            <a:xfrm>
              <a:off x="7602444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4813CA8-C813-EE49-18B2-760E4527EEAE}"/>
                </a:ext>
              </a:extLst>
            </p:cNvPr>
            <p:cNvSpPr txBox="1"/>
            <p:nvPr/>
          </p:nvSpPr>
          <p:spPr>
            <a:xfrm>
              <a:off x="819419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EFF9DF0-151C-22B5-5D2E-5DF190627837}"/>
                </a:ext>
              </a:extLst>
            </p:cNvPr>
            <p:cNvSpPr txBox="1"/>
            <p:nvPr/>
          </p:nvSpPr>
          <p:spPr>
            <a:xfrm>
              <a:off x="8727595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45609D8-F348-FC00-0758-0607BF897D4D}"/>
                </a:ext>
              </a:extLst>
            </p:cNvPr>
            <p:cNvSpPr/>
            <p:nvPr/>
          </p:nvSpPr>
          <p:spPr>
            <a:xfrm>
              <a:off x="54102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8EA6627-C543-2DA1-2142-39B063E1F82B}"/>
                </a:ext>
              </a:extLst>
            </p:cNvPr>
            <p:cNvSpPr/>
            <p:nvPr/>
          </p:nvSpPr>
          <p:spPr>
            <a:xfrm>
              <a:off x="4876800" y="4574274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8ECA832-35E5-A9A8-F60B-961FEC7432B8}"/>
                </a:ext>
              </a:extLst>
            </p:cNvPr>
            <p:cNvSpPr txBox="1"/>
            <p:nvPr/>
          </p:nvSpPr>
          <p:spPr>
            <a:xfrm>
              <a:off x="926962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FB00CFA-F0FE-1E0A-4521-EB59CC8578C4}"/>
                </a:ext>
              </a:extLst>
            </p:cNvPr>
            <p:cNvSpPr txBox="1"/>
            <p:nvPr/>
          </p:nvSpPr>
          <p:spPr>
            <a:xfrm>
              <a:off x="981180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65A8A20-D2B5-DB28-F722-367EBB815E4D}"/>
              </a:ext>
            </a:extLst>
          </p:cNvPr>
          <p:cNvGrpSpPr/>
          <p:nvPr/>
        </p:nvGrpSpPr>
        <p:grpSpPr>
          <a:xfrm>
            <a:off x="6390963" y="4659805"/>
            <a:ext cx="5334000" cy="1969595"/>
            <a:chOff x="5181600" y="4659805"/>
            <a:chExt cx="5334000" cy="196959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F532373-E7B4-2EFC-071E-679598070FDA}"/>
                </a:ext>
              </a:extLst>
            </p:cNvPr>
            <p:cNvSpPr/>
            <p:nvPr/>
          </p:nvSpPr>
          <p:spPr>
            <a:xfrm>
              <a:off x="99822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9409103-ADAF-06A2-3DA9-520F41B67426}"/>
                </a:ext>
              </a:extLst>
            </p:cNvPr>
            <p:cNvSpPr/>
            <p:nvPr/>
          </p:nvSpPr>
          <p:spPr>
            <a:xfrm>
              <a:off x="94488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88D6195-37CE-2DE2-F382-E40AC4FBDE19}"/>
                </a:ext>
              </a:extLst>
            </p:cNvPr>
            <p:cNvSpPr/>
            <p:nvPr/>
          </p:nvSpPr>
          <p:spPr>
            <a:xfrm>
              <a:off x="89154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9B8B052-6C9D-2F21-F4AF-137DC87A16BA}"/>
                </a:ext>
              </a:extLst>
            </p:cNvPr>
            <p:cNvSpPr/>
            <p:nvPr/>
          </p:nvSpPr>
          <p:spPr>
            <a:xfrm>
              <a:off x="83820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F543091-F86D-2A7A-62E0-72FB4EED00AE}"/>
                </a:ext>
              </a:extLst>
            </p:cNvPr>
            <p:cNvSpPr/>
            <p:nvPr/>
          </p:nvSpPr>
          <p:spPr>
            <a:xfrm>
              <a:off x="78486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EC54B84-6150-A55B-306C-B25020DE0933}"/>
                </a:ext>
              </a:extLst>
            </p:cNvPr>
            <p:cNvSpPr/>
            <p:nvPr/>
          </p:nvSpPr>
          <p:spPr>
            <a:xfrm>
              <a:off x="73152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A7E5AF8-DF4B-8B5D-AB02-D32DC607F5ED}"/>
                </a:ext>
              </a:extLst>
            </p:cNvPr>
            <p:cNvSpPr/>
            <p:nvPr/>
          </p:nvSpPr>
          <p:spPr>
            <a:xfrm>
              <a:off x="67818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9CA04DA-BEA9-9BAE-DFD0-5184E85AC645}"/>
                </a:ext>
              </a:extLst>
            </p:cNvPr>
            <p:cNvSpPr/>
            <p:nvPr/>
          </p:nvSpPr>
          <p:spPr>
            <a:xfrm>
              <a:off x="62484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F1202EA-0602-9D72-2829-CA336835836D}"/>
                </a:ext>
              </a:extLst>
            </p:cNvPr>
            <p:cNvSpPr txBox="1"/>
            <p:nvPr/>
          </p:nvSpPr>
          <p:spPr>
            <a:xfrm>
              <a:off x="5297457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14CB3AD-2265-62FA-CBAC-A400A269E0EC}"/>
                </a:ext>
              </a:extLst>
            </p:cNvPr>
            <p:cNvSpPr txBox="1"/>
            <p:nvPr/>
          </p:nvSpPr>
          <p:spPr>
            <a:xfrm>
              <a:off x="5830857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A289862-1676-90BB-B64A-F5E3668714B1}"/>
                </a:ext>
              </a:extLst>
            </p:cNvPr>
            <p:cNvSpPr txBox="1"/>
            <p:nvPr/>
          </p:nvSpPr>
          <p:spPr>
            <a:xfrm>
              <a:off x="6364826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CD5DA25-C681-B9C5-0B11-EE530F27373E}"/>
                </a:ext>
              </a:extLst>
            </p:cNvPr>
            <p:cNvSpPr txBox="1"/>
            <p:nvPr/>
          </p:nvSpPr>
          <p:spPr>
            <a:xfrm>
              <a:off x="6874600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34D126E-A428-30BC-F5BE-FDB235FDBB28}"/>
                </a:ext>
              </a:extLst>
            </p:cNvPr>
            <p:cNvSpPr txBox="1"/>
            <p:nvPr/>
          </p:nvSpPr>
          <p:spPr>
            <a:xfrm>
              <a:off x="7408000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60968AA-7F88-E791-E5F7-88DF4401112E}"/>
                </a:ext>
              </a:extLst>
            </p:cNvPr>
            <p:cNvSpPr txBox="1"/>
            <p:nvPr/>
          </p:nvSpPr>
          <p:spPr>
            <a:xfrm>
              <a:off x="7907244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5929E61-DF41-C186-5CC6-BCCC84AE1B02}"/>
                </a:ext>
              </a:extLst>
            </p:cNvPr>
            <p:cNvSpPr txBox="1"/>
            <p:nvPr/>
          </p:nvSpPr>
          <p:spPr>
            <a:xfrm>
              <a:off x="849899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6E14B2A-1E62-4CA1-FAB8-3A2E770A1080}"/>
                </a:ext>
              </a:extLst>
            </p:cNvPr>
            <p:cNvSpPr txBox="1"/>
            <p:nvPr/>
          </p:nvSpPr>
          <p:spPr>
            <a:xfrm>
              <a:off x="9032395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7F70415-63E3-60D2-602A-0723249F2C7A}"/>
                </a:ext>
              </a:extLst>
            </p:cNvPr>
            <p:cNvSpPr/>
            <p:nvPr/>
          </p:nvSpPr>
          <p:spPr>
            <a:xfrm>
              <a:off x="57150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D808591-0946-6151-BEE9-DCB1F69336F4}"/>
                </a:ext>
              </a:extLst>
            </p:cNvPr>
            <p:cNvSpPr/>
            <p:nvPr/>
          </p:nvSpPr>
          <p:spPr>
            <a:xfrm>
              <a:off x="5181600" y="4662079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55CB3EC-A71F-D8CE-A8B0-81A8F228A734}"/>
                </a:ext>
              </a:extLst>
            </p:cNvPr>
            <p:cNvSpPr txBox="1"/>
            <p:nvPr/>
          </p:nvSpPr>
          <p:spPr>
            <a:xfrm>
              <a:off x="957442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480DEBB-C234-71D7-F3E1-DA086A8B5893}"/>
                </a:ext>
              </a:extLst>
            </p:cNvPr>
            <p:cNvSpPr txBox="1"/>
            <p:nvPr/>
          </p:nvSpPr>
          <p:spPr>
            <a:xfrm>
              <a:off x="1011660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82324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D522-A643-E0F7-0203-D79E5BF42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RadixSort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04AAD-4854-7E00-900E-93F7F0ADE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842" y="1517901"/>
            <a:ext cx="11668760" cy="4351338"/>
          </a:xfrm>
        </p:spPr>
        <p:txBody>
          <a:bodyPr/>
          <a:lstStyle/>
          <a:p>
            <a:r>
              <a:rPr lang="en-US" dirty="0"/>
              <a:t>Radix: The base of a number system</a:t>
            </a:r>
          </a:p>
          <a:p>
            <a:pPr lvl="1"/>
            <a:r>
              <a:rPr lang="en-US" dirty="0"/>
              <a:t>We’ll use base 10, most implementations will use larger bases</a:t>
            </a:r>
          </a:p>
          <a:p>
            <a:r>
              <a:rPr lang="en-US" dirty="0"/>
              <a:t>Idea: </a:t>
            </a:r>
          </a:p>
          <a:p>
            <a:pPr lvl="1"/>
            <a:r>
              <a:rPr lang="en-US" dirty="0" err="1"/>
              <a:t>BucketSort</a:t>
            </a:r>
            <a:r>
              <a:rPr lang="en-US" dirty="0"/>
              <a:t> by each digit, one at a time, from least significant to most significant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143260-887A-82E5-E7F0-D8C587242AE1}"/>
              </a:ext>
            </a:extLst>
          </p:cNvPr>
          <p:cNvSpPr txBox="1"/>
          <p:nvPr/>
        </p:nvSpPr>
        <p:spPr>
          <a:xfrm>
            <a:off x="7438723" y="4078344"/>
            <a:ext cx="35078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Convert back into an array</a:t>
            </a:r>
          </a:p>
        </p:txBody>
      </p:sp>
      <p:sp>
        <p:nvSpPr>
          <p:cNvPr id="120" name="Arrow: Bent-Up 119">
            <a:extLst>
              <a:ext uri="{FF2B5EF4-FFF2-40B4-BE49-F238E27FC236}">
                <a16:creationId xmlns:a16="http://schemas.microsoft.com/office/drawing/2014/main" id="{F8C1EBBC-2D29-3947-2D55-152820918DA0}"/>
              </a:ext>
            </a:extLst>
          </p:cNvPr>
          <p:cNvSpPr/>
          <p:nvPr/>
        </p:nvSpPr>
        <p:spPr>
          <a:xfrm flipV="1">
            <a:off x="6027125" y="3877228"/>
            <a:ext cx="1128451" cy="1325563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65A8A20-D2B5-DB28-F722-367EBB815E4D}"/>
              </a:ext>
            </a:extLst>
          </p:cNvPr>
          <p:cNvGrpSpPr/>
          <p:nvPr/>
        </p:nvGrpSpPr>
        <p:grpSpPr>
          <a:xfrm>
            <a:off x="34961" y="3418440"/>
            <a:ext cx="5334000" cy="1969595"/>
            <a:chOff x="5181600" y="4659805"/>
            <a:chExt cx="5334000" cy="196959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F532373-E7B4-2EFC-071E-679598070FDA}"/>
                </a:ext>
              </a:extLst>
            </p:cNvPr>
            <p:cNvSpPr/>
            <p:nvPr/>
          </p:nvSpPr>
          <p:spPr>
            <a:xfrm>
              <a:off x="99822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9409103-ADAF-06A2-3DA9-520F41B67426}"/>
                </a:ext>
              </a:extLst>
            </p:cNvPr>
            <p:cNvSpPr/>
            <p:nvPr/>
          </p:nvSpPr>
          <p:spPr>
            <a:xfrm>
              <a:off x="94488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88D6195-37CE-2DE2-F382-E40AC4FBDE19}"/>
                </a:ext>
              </a:extLst>
            </p:cNvPr>
            <p:cNvSpPr/>
            <p:nvPr/>
          </p:nvSpPr>
          <p:spPr>
            <a:xfrm>
              <a:off x="89154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9B8B052-6C9D-2F21-F4AF-137DC87A16BA}"/>
                </a:ext>
              </a:extLst>
            </p:cNvPr>
            <p:cNvSpPr/>
            <p:nvPr/>
          </p:nvSpPr>
          <p:spPr>
            <a:xfrm>
              <a:off x="83820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F543091-F86D-2A7A-62E0-72FB4EED00AE}"/>
                </a:ext>
              </a:extLst>
            </p:cNvPr>
            <p:cNvSpPr/>
            <p:nvPr/>
          </p:nvSpPr>
          <p:spPr>
            <a:xfrm>
              <a:off x="78486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EC54B84-6150-A55B-306C-B25020DE0933}"/>
                </a:ext>
              </a:extLst>
            </p:cNvPr>
            <p:cNvSpPr/>
            <p:nvPr/>
          </p:nvSpPr>
          <p:spPr>
            <a:xfrm>
              <a:off x="73152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A7E5AF8-DF4B-8B5D-AB02-D32DC607F5ED}"/>
                </a:ext>
              </a:extLst>
            </p:cNvPr>
            <p:cNvSpPr/>
            <p:nvPr/>
          </p:nvSpPr>
          <p:spPr>
            <a:xfrm>
              <a:off x="67818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9CA04DA-BEA9-9BAE-DFD0-5184E85AC645}"/>
                </a:ext>
              </a:extLst>
            </p:cNvPr>
            <p:cNvSpPr/>
            <p:nvPr/>
          </p:nvSpPr>
          <p:spPr>
            <a:xfrm>
              <a:off x="62484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F1202EA-0602-9D72-2829-CA336835836D}"/>
                </a:ext>
              </a:extLst>
            </p:cNvPr>
            <p:cNvSpPr txBox="1"/>
            <p:nvPr/>
          </p:nvSpPr>
          <p:spPr>
            <a:xfrm>
              <a:off x="5297457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14CB3AD-2265-62FA-CBAC-A400A269E0EC}"/>
                </a:ext>
              </a:extLst>
            </p:cNvPr>
            <p:cNvSpPr txBox="1"/>
            <p:nvPr/>
          </p:nvSpPr>
          <p:spPr>
            <a:xfrm>
              <a:off x="5830857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A289862-1676-90BB-B64A-F5E3668714B1}"/>
                </a:ext>
              </a:extLst>
            </p:cNvPr>
            <p:cNvSpPr txBox="1"/>
            <p:nvPr/>
          </p:nvSpPr>
          <p:spPr>
            <a:xfrm>
              <a:off x="6364826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CD5DA25-C681-B9C5-0B11-EE530F27373E}"/>
                </a:ext>
              </a:extLst>
            </p:cNvPr>
            <p:cNvSpPr txBox="1"/>
            <p:nvPr/>
          </p:nvSpPr>
          <p:spPr>
            <a:xfrm>
              <a:off x="6874600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34D126E-A428-30BC-F5BE-FDB235FDBB28}"/>
                </a:ext>
              </a:extLst>
            </p:cNvPr>
            <p:cNvSpPr txBox="1"/>
            <p:nvPr/>
          </p:nvSpPr>
          <p:spPr>
            <a:xfrm>
              <a:off x="7408000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60968AA-7F88-E791-E5F7-88DF4401112E}"/>
                </a:ext>
              </a:extLst>
            </p:cNvPr>
            <p:cNvSpPr txBox="1"/>
            <p:nvPr/>
          </p:nvSpPr>
          <p:spPr>
            <a:xfrm>
              <a:off x="7907244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5929E61-DF41-C186-5CC6-BCCC84AE1B02}"/>
                </a:ext>
              </a:extLst>
            </p:cNvPr>
            <p:cNvSpPr txBox="1"/>
            <p:nvPr/>
          </p:nvSpPr>
          <p:spPr>
            <a:xfrm>
              <a:off x="849899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6E14B2A-1E62-4CA1-FAB8-3A2E770A1080}"/>
                </a:ext>
              </a:extLst>
            </p:cNvPr>
            <p:cNvSpPr txBox="1"/>
            <p:nvPr/>
          </p:nvSpPr>
          <p:spPr>
            <a:xfrm>
              <a:off x="9032395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7F70415-63E3-60D2-602A-0723249F2C7A}"/>
                </a:ext>
              </a:extLst>
            </p:cNvPr>
            <p:cNvSpPr/>
            <p:nvPr/>
          </p:nvSpPr>
          <p:spPr>
            <a:xfrm>
              <a:off x="57150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D808591-0946-6151-BEE9-DCB1F69336F4}"/>
                </a:ext>
              </a:extLst>
            </p:cNvPr>
            <p:cNvSpPr/>
            <p:nvPr/>
          </p:nvSpPr>
          <p:spPr>
            <a:xfrm>
              <a:off x="5181600" y="4662079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55CB3EC-A71F-D8CE-A8B0-81A8F228A734}"/>
                </a:ext>
              </a:extLst>
            </p:cNvPr>
            <p:cNvSpPr txBox="1"/>
            <p:nvPr/>
          </p:nvSpPr>
          <p:spPr>
            <a:xfrm>
              <a:off x="957442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480DEBB-C234-71D7-F3E1-DA086A8B5893}"/>
                </a:ext>
              </a:extLst>
            </p:cNvPr>
            <p:cNvSpPr txBox="1"/>
            <p:nvPr/>
          </p:nvSpPr>
          <p:spPr>
            <a:xfrm>
              <a:off x="1011660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68934FF-C8AB-D781-D815-713828A58097}"/>
              </a:ext>
            </a:extLst>
          </p:cNvPr>
          <p:cNvGrpSpPr/>
          <p:nvPr/>
        </p:nvGrpSpPr>
        <p:grpSpPr>
          <a:xfrm>
            <a:off x="503842" y="5962559"/>
            <a:ext cx="8561464" cy="849868"/>
            <a:chOff x="1752600" y="2743200"/>
            <a:chExt cx="8561464" cy="849868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B6C8016D-7B0B-A436-E8B1-2B87C5834C4D}"/>
                </a:ext>
              </a:extLst>
            </p:cNvPr>
            <p:cNvGrpSpPr/>
            <p:nvPr/>
          </p:nvGrpSpPr>
          <p:grpSpPr>
            <a:xfrm>
              <a:off x="1752600" y="2743200"/>
              <a:ext cx="4268338" cy="849868"/>
              <a:chOff x="2361062" y="2743200"/>
              <a:chExt cx="4268338" cy="849868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5755D94F-2867-A4B9-F6AC-E9F1886F3771}"/>
                  </a:ext>
                </a:extLst>
              </p:cNvPr>
              <p:cNvGrpSpPr/>
              <p:nvPr/>
            </p:nvGrpSpPr>
            <p:grpSpPr>
              <a:xfrm>
                <a:off x="2361062" y="2743200"/>
                <a:ext cx="4268338" cy="533400"/>
                <a:chOff x="1445524" y="2971800"/>
                <a:chExt cx="4268338" cy="533400"/>
              </a:xfrm>
            </p:grpSpPr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A514DDEF-0799-B04F-5B56-64D468AAAEE6}"/>
                    </a:ext>
                  </a:extLst>
                </p:cNvPr>
                <p:cNvSpPr/>
                <p:nvPr/>
              </p:nvSpPr>
              <p:spPr>
                <a:xfrm>
                  <a:off x="14455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018</a:t>
                  </a:r>
                </a:p>
              </p:txBody>
            </p:sp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AAB3906E-2D52-9AD8-0556-772ABCB5C5D9}"/>
                    </a:ext>
                  </a:extLst>
                </p:cNvPr>
                <p:cNvSpPr/>
                <p:nvPr/>
              </p:nvSpPr>
              <p:spPr>
                <a:xfrm>
                  <a:off x="19789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101</a:t>
                  </a: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DF0407A3-97AC-D294-9073-A3C5C3C52C0D}"/>
                    </a:ext>
                  </a:extLst>
                </p:cNvPr>
                <p:cNvSpPr/>
                <p:nvPr/>
              </p:nvSpPr>
              <p:spPr>
                <a:xfrm>
                  <a:off x="25128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103</a:t>
                  </a: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5B1E89E9-CD9C-EDED-9F75-F613D3AB91A0}"/>
                    </a:ext>
                  </a:extLst>
                </p:cNvPr>
                <p:cNvSpPr/>
                <p:nvPr/>
              </p:nvSpPr>
              <p:spPr>
                <a:xfrm>
                  <a:off x="3046293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113</a:t>
                  </a:r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4CEFA199-8AEF-A65C-B1DF-DB1BD53B7D4B}"/>
                    </a:ext>
                  </a:extLst>
                </p:cNvPr>
                <p:cNvSpPr/>
                <p:nvPr/>
              </p:nvSpPr>
              <p:spPr>
                <a:xfrm>
                  <a:off x="35796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121</a:t>
                  </a:r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72314B16-133A-0F38-E912-090D0B52981D}"/>
                    </a:ext>
                  </a:extLst>
                </p:cNvPr>
                <p:cNvSpPr/>
                <p:nvPr/>
              </p:nvSpPr>
              <p:spPr>
                <a:xfrm>
                  <a:off x="41136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245</a:t>
                  </a:r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1F53B560-510C-CE26-6FD0-9126FC5E6EE5}"/>
                    </a:ext>
                  </a:extLst>
                </p:cNvPr>
                <p:cNvSpPr/>
                <p:nvPr/>
              </p:nvSpPr>
              <p:spPr>
                <a:xfrm>
                  <a:off x="46470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255</a:t>
                  </a:r>
                </a:p>
              </p:txBody>
            </p:sp>
            <p:sp>
              <p:nvSpPr>
                <p:cNvPr id="83" name="Rectangle 82">
                  <a:extLst>
                    <a:ext uri="{FF2B5EF4-FFF2-40B4-BE49-F238E27FC236}">
                      <a16:creationId xmlns:a16="http://schemas.microsoft.com/office/drawing/2014/main" id="{96B9D8C3-45D5-97A3-0477-A8C14C88AA95}"/>
                    </a:ext>
                  </a:extLst>
                </p:cNvPr>
                <p:cNvSpPr/>
                <p:nvPr/>
              </p:nvSpPr>
              <p:spPr>
                <a:xfrm>
                  <a:off x="51804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323</a:t>
                  </a:r>
                </a:p>
              </p:txBody>
            </p:sp>
          </p:grp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D59D340-F86D-62B2-AE74-933A408B6C2B}"/>
                  </a:ext>
                </a:extLst>
              </p:cNvPr>
              <p:cNvSpPr txBox="1"/>
              <p:nvPr/>
            </p:nvSpPr>
            <p:spPr>
              <a:xfrm>
                <a:off x="25005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0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4369803-FF3D-71C4-321A-534AEA695271}"/>
                  </a:ext>
                </a:extLst>
              </p:cNvPr>
              <p:cNvSpPr txBox="1"/>
              <p:nvPr/>
            </p:nvSpPr>
            <p:spPr>
              <a:xfrm>
                <a:off x="30339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E8CF6890-2735-7463-9DA0-D55F9D0A85CA}"/>
                  </a:ext>
                </a:extLst>
              </p:cNvPr>
              <p:cNvSpPr txBox="1"/>
              <p:nvPr/>
            </p:nvSpPr>
            <p:spPr>
              <a:xfrm>
                <a:off x="3567914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DE0E5BC-B5BB-CFC8-BC80-B3CEBD2B4439}"/>
                  </a:ext>
                </a:extLst>
              </p:cNvPr>
              <p:cNvSpPr txBox="1"/>
              <p:nvPr/>
            </p:nvSpPr>
            <p:spPr>
              <a:xfrm>
                <a:off x="4077688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CA6340E6-115E-DFF8-F7E4-8EBA440A3683}"/>
                  </a:ext>
                </a:extLst>
              </p:cNvPr>
              <p:cNvSpPr txBox="1"/>
              <p:nvPr/>
            </p:nvSpPr>
            <p:spPr>
              <a:xfrm>
                <a:off x="4611088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B8B0F7F2-8B83-8BD0-81C0-AA08A21A6314}"/>
                  </a:ext>
                </a:extLst>
              </p:cNvPr>
              <p:cNvSpPr txBox="1"/>
              <p:nvPr/>
            </p:nvSpPr>
            <p:spPr>
              <a:xfrm>
                <a:off x="5110332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4B3C70A-1F9D-1759-D960-6B5816CDF9D2}"/>
                  </a:ext>
                </a:extLst>
              </p:cNvPr>
              <p:cNvSpPr txBox="1"/>
              <p:nvPr/>
            </p:nvSpPr>
            <p:spPr>
              <a:xfrm>
                <a:off x="5702083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0DA49A2D-6D5E-1096-7255-84F4793E32CE}"/>
                  </a:ext>
                </a:extLst>
              </p:cNvPr>
              <p:cNvSpPr txBox="1"/>
              <p:nvPr/>
            </p:nvSpPr>
            <p:spPr>
              <a:xfrm>
                <a:off x="6235483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0D413D70-40DF-D119-7511-B9F9F3C5A188}"/>
                </a:ext>
              </a:extLst>
            </p:cNvPr>
            <p:cNvGrpSpPr/>
            <p:nvPr/>
          </p:nvGrpSpPr>
          <p:grpSpPr>
            <a:xfrm>
              <a:off x="6020939" y="2743200"/>
              <a:ext cx="4293125" cy="849868"/>
              <a:chOff x="2361062" y="2743200"/>
              <a:chExt cx="4293125" cy="84986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004D5F06-57C0-9561-8DFB-97B713327871}"/>
                  </a:ext>
                </a:extLst>
              </p:cNvPr>
              <p:cNvGrpSpPr/>
              <p:nvPr/>
            </p:nvGrpSpPr>
            <p:grpSpPr>
              <a:xfrm>
                <a:off x="2361062" y="2743200"/>
                <a:ext cx="4268338" cy="533400"/>
                <a:chOff x="1445524" y="2971800"/>
                <a:chExt cx="4268338" cy="533400"/>
              </a:xfrm>
            </p:grpSpPr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550AB95D-A4E6-71A1-23FE-1422E35E9DB0}"/>
                    </a:ext>
                  </a:extLst>
                </p:cNvPr>
                <p:cNvSpPr/>
                <p:nvPr/>
              </p:nvSpPr>
              <p:spPr>
                <a:xfrm>
                  <a:off x="14455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401</a:t>
                  </a:r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6244BB98-1673-3E2D-1F18-41CA51F31C20}"/>
                    </a:ext>
                  </a:extLst>
                </p:cNvPr>
                <p:cNvSpPr/>
                <p:nvPr/>
              </p:nvSpPr>
              <p:spPr>
                <a:xfrm>
                  <a:off x="19789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512</a:t>
                  </a: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EF048AD2-88EF-B37F-B639-FCDFE3693E59}"/>
                    </a:ext>
                  </a:extLst>
                </p:cNvPr>
                <p:cNvSpPr/>
                <p:nvPr/>
              </p:nvSpPr>
              <p:spPr>
                <a:xfrm>
                  <a:off x="25128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555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999EC23D-1356-7C68-7368-D59878A983F4}"/>
                    </a:ext>
                  </a:extLst>
                </p:cNvPr>
                <p:cNvSpPr/>
                <p:nvPr/>
              </p:nvSpPr>
              <p:spPr>
                <a:xfrm>
                  <a:off x="3046293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800</a:t>
                  </a: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1497E028-C52E-675E-3CD6-CCD3F28302F7}"/>
                    </a:ext>
                  </a:extLst>
                </p:cNvPr>
                <p:cNvSpPr/>
                <p:nvPr/>
              </p:nvSpPr>
              <p:spPr>
                <a:xfrm>
                  <a:off x="35796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801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13F32CD9-19E1-834C-26B7-A8F3D2CEE006}"/>
                    </a:ext>
                  </a:extLst>
                </p:cNvPr>
                <p:cNvSpPr/>
                <p:nvPr/>
              </p:nvSpPr>
              <p:spPr>
                <a:xfrm>
                  <a:off x="41136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823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F675C80F-5B7A-BBA8-130A-B3CF5AD7FC84}"/>
                    </a:ext>
                  </a:extLst>
                </p:cNvPr>
                <p:cNvSpPr/>
                <p:nvPr/>
              </p:nvSpPr>
              <p:spPr>
                <a:xfrm>
                  <a:off x="46470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901</a:t>
                  </a: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D19F6413-A167-1DFB-2A37-A3D51542BA28}"/>
                    </a:ext>
                  </a:extLst>
                </p:cNvPr>
                <p:cNvSpPr/>
                <p:nvPr/>
              </p:nvSpPr>
              <p:spPr>
                <a:xfrm>
                  <a:off x="51804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999</a:t>
                  </a:r>
                </a:p>
              </p:txBody>
            </p: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13F22D5-36EF-BD52-DD4A-012D7F9C3B19}"/>
                  </a:ext>
                </a:extLst>
              </p:cNvPr>
              <p:cNvSpPr txBox="1"/>
              <p:nvPr/>
            </p:nvSpPr>
            <p:spPr>
              <a:xfrm>
                <a:off x="25005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08AE7A7-92D6-4BF5-76F1-0BA807B9981D}"/>
                  </a:ext>
                </a:extLst>
              </p:cNvPr>
              <p:cNvSpPr txBox="1"/>
              <p:nvPr/>
            </p:nvSpPr>
            <p:spPr>
              <a:xfrm>
                <a:off x="30339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B441F66-DC45-EE7B-7A4B-9574148133B9}"/>
                  </a:ext>
                </a:extLst>
              </p:cNvPr>
              <p:cNvSpPr txBox="1"/>
              <p:nvPr/>
            </p:nvSpPr>
            <p:spPr>
              <a:xfrm>
                <a:off x="3567914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10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19A5E20-A9BA-2C6A-A149-F0F458A67F9C}"/>
                  </a:ext>
                </a:extLst>
              </p:cNvPr>
              <p:cNvSpPr txBox="1"/>
              <p:nvPr/>
            </p:nvSpPr>
            <p:spPr>
              <a:xfrm>
                <a:off x="4077688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11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419C7F8-2A62-E3D0-DAE0-473ABBD1B157}"/>
                  </a:ext>
                </a:extLst>
              </p:cNvPr>
              <p:cNvSpPr txBox="1"/>
              <p:nvPr/>
            </p:nvSpPr>
            <p:spPr>
              <a:xfrm>
                <a:off x="4611088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12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3815E93-ACC1-5FFF-BD91-42D18964DD18}"/>
                  </a:ext>
                </a:extLst>
              </p:cNvPr>
              <p:cNvSpPr txBox="1"/>
              <p:nvPr/>
            </p:nvSpPr>
            <p:spPr>
              <a:xfrm>
                <a:off x="5110332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13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B69515A-5AB2-AE1D-CB3B-DA3BB84E0EBD}"/>
                  </a:ext>
                </a:extLst>
              </p:cNvPr>
              <p:cNvSpPr txBox="1"/>
              <p:nvPr/>
            </p:nvSpPr>
            <p:spPr>
              <a:xfrm>
                <a:off x="5702083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14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1D7BE6C-86B0-F51C-9E53-5ED83D0CFDAD}"/>
                  </a:ext>
                </a:extLst>
              </p:cNvPr>
              <p:cNvSpPr txBox="1"/>
              <p:nvPr/>
            </p:nvSpPr>
            <p:spPr>
              <a:xfrm>
                <a:off x="6235483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15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0514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6691A-165A-A4B2-5211-40C5459F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RadixSort</a:t>
            </a:r>
            <a:r>
              <a:rPr lang="en-US" dirty="0"/>
              <a:t>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708F3-E299-035E-25B6-51CE18AF3A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Suppose largest value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Choose a radix (base of representation)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BucketSort</a:t>
                </a:r>
                <a:r>
                  <a:rPr lang="en-US" dirty="0"/>
                  <a:t>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things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buckets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Repeat once per each digit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func>
                  </m:oMath>
                </a14:m>
                <a:r>
                  <a:rPr lang="en-US" dirty="0"/>
                  <a:t> iterations</a:t>
                </a:r>
              </a:p>
              <a:p>
                <a:r>
                  <a:rPr lang="en-US" dirty="0"/>
                  <a:t>Overall: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In practice, you can select the 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to optimize running time</a:t>
                </a:r>
              </a:p>
              <a:p>
                <a:r>
                  <a:rPr lang="en-US" dirty="0"/>
                  <a:t>When is this better than </a:t>
                </a:r>
                <a:r>
                  <a:rPr lang="en-US" dirty="0" err="1"/>
                  <a:t>mergesort</a:t>
                </a:r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708F3-E299-035E-25B6-51CE18AF3A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6976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ARPANET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11</a:t>
            </a:fld>
            <a:endParaRPr lang="en-US"/>
          </a:p>
        </p:txBody>
      </p:sp>
      <p:pic>
        <p:nvPicPr>
          <p:cNvPr id="1026" name="Picture 2" descr="Image result for UCL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1" y="4114801"/>
            <a:ext cx="866775" cy="866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 result for SRI International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200" y="2209800"/>
            <a:ext cx="1295400" cy="95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UCS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8691" y="1694568"/>
            <a:ext cx="957755" cy="508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 result for University of Utah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074" y="4419600"/>
            <a:ext cx="1042326" cy="1042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mage result for harvard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4362" y="4850938"/>
            <a:ext cx="678862" cy="66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Image result for yale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4930" y="2590800"/>
            <a:ext cx="674276" cy="704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mage result for cmu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2135" y="3216885"/>
            <a:ext cx="994129" cy="994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Image result for mit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6399" y="3227427"/>
            <a:ext cx="737119" cy="376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Connector 16"/>
          <p:cNvCxnSpPr>
            <a:cxnSpLocks/>
          </p:cNvCxnSpPr>
          <p:nvPr/>
        </p:nvCxnSpPr>
        <p:spPr>
          <a:xfrm flipV="1">
            <a:off x="2624296" y="1948872"/>
            <a:ext cx="1214280" cy="67339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cxnSpLocks/>
          </p:cNvCxnSpPr>
          <p:nvPr/>
        </p:nvCxnSpPr>
        <p:spPr>
          <a:xfrm>
            <a:off x="4676446" y="1807387"/>
            <a:ext cx="110924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cxnSpLocks/>
            <a:stCxn id="1036" idx="2"/>
          </p:cNvCxnSpPr>
          <p:nvPr/>
        </p:nvCxnSpPr>
        <p:spPr>
          <a:xfrm>
            <a:off x="2342068" y="3294857"/>
            <a:ext cx="716596" cy="10290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  <a:stCxn id="1040" idx="1"/>
          </p:cNvCxnSpPr>
          <p:nvPr/>
        </p:nvCxnSpPr>
        <p:spPr>
          <a:xfrm flipH="1">
            <a:off x="3824008" y="3415704"/>
            <a:ext cx="882391" cy="91291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cxnSpLocks/>
          </p:cNvCxnSpPr>
          <p:nvPr/>
        </p:nvCxnSpPr>
        <p:spPr>
          <a:xfrm flipH="1" flipV="1">
            <a:off x="3776917" y="4780959"/>
            <a:ext cx="1135672" cy="4572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cxnSpLocks/>
            <a:stCxn id="1040" idx="2"/>
            <a:endCxn id="1034" idx="0"/>
          </p:cNvCxnSpPr>
          <p:nvPr/>
        </p:nvCxnSpPr>
        <p:spPr>
          <a:xfrm>
            <a:off x="5074959" y="3603980"/>
            <a:ext cx="118834" cy="124695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cxnSpLocks/>
          </p:cNvCxnSpPr>
          <p:nvPr/>
        </p:nvCxnSpPr>
        <p:spPr>
          <a:xfrm flipV="1">
            <a:off x="5193794" y="2318202"/>
            <a:ext cx="787515" cy="9766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cxnSpLocks/>
            <a:stCxn id="1034" idx="3"/>
          </p:cNvCxnSpPr>
          <p:nvPr/>
        </p:nvCxnSpPr>
        <p:spPr>
          <a:xfrm>
            <a:off x="5533224" y="5181601"/>
            <a:ext cx="14009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cxnSpLocks/>
          </p:cNvCxnSpPr>
          <p:nvPr/>
        </p:nvCxnSpPr>
        <p:spPr>
          <a:xfrm flipH="1" flipV="1">
            <a:off x="6249637" y="2412816"/>
            <a:ext cx="836964" cy="23115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cxnSpLocks/>
          </p:cNvCxnSpPr>
          <p:nvPr/>
        </p:nvCxnSpPr>
        <p:spPr>
          <a:xfrm flipH="1" flipV="1">
            <a:off x="6637383" y="2238828"/>
            <a:ext cx="449218" cy="2317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7410450" y="2942829"/>
            <a:ext cx="171450" cy="160535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cxnSpLocks/>
          </p:cNvCxnSpPr>
          <p:nvPr/>
        </p:nvCxnSpPr>
        <p:spPr>
          <a:xfrm flipH="1" flipV="1">
            <a:off x="8013242" y="2872266"/>
            <a:ext cx="469440" cy="4563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cxnSpLocks/>
          </p:cNvCxnSpPr>
          <p:nvPr/>
        </p:nvCxnSpPr>
        <p:spPr>
          <a:xfrm flipH="1">
            <a:off x="7772400" y="4163760"/>
            <a:ext cx="850482" cy="8178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1030" idx="2"/>
            <a:endCxn id="1026" idx="0"/>
          </p:cNvCxnSpPr>
          <p:nvPr/>
        </p:nvCxnSpPr>
        <p:spPr>
          <a:xfrm flipH="1">
            <a:off x="3405188" y="2203174"/>
            <a:ext cx="792380" cy="19116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University of Washington - Wikipedia">
            <a:extLst>
              <a:ext uri="{FF2B5EF4-FFF2-40B4-BE49-F238E27FC236}">
                <a16:creationId xmlns:a16="http://schemas.microsoft.com/office/drawing/2014/main" id="{A9A49F51-0866-954E-BFF9-1DE70B8806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3628" y="1521214"/>
            <a:ext cx="994130" cy="9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3270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Undirected Graphs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12</a:t>
            </a:fld>
            <a:endParaRPr lang="en-US"/>
          </a:p>
        </p:txBody>
      </p:sp>
      <p:grpSp>
        <p:nvGrpSpPr>
          <p:cNvPr id="2070" name="Group 2069"/>
          <p:cNvGrpSpPr/>
          <p:nvPr/>
        </p:nvGrpSpPr>
        <p:grpSpPr>
          <a:xfrm>
            <a:off x="1524000" y="2625729"/>
            <a:ext cx="7044346" cy="3888478"/>
            <a:chOff x="0" y="3020093"/>
            <a:chExt cx="7044346" cy="3888478"/>
          </a:xfrm>
        </p:grpSpPr>
        <p:cxnSp>
          <p:nvCxnSpPr>
            <p:cNvPr id="17" name="Straight Connector 16"/>
            <p:cNvCxnSpPr>
              <a:stCxn id="5" idx="7"/>
              <a:endCxn id="44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stCxn id="44" idx="6"/>
              <a:endCxn id="48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5" idx="4"/>
              <a:endCxn id="45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>
              <a:stCxn id="47" idx="3"/>
              <a:endCxn id="45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50" idx="2"/>
              <a:endCxn id="45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>
              <a:stCxn id="47" idx="5"/>
              <a:endCxn id="5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47" idx="7"/>
              <a:endCxn id="48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50" idx="6"/>
              <a:endCxn id="5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>
              <a:stCxn id="51" idx="1"/>
              <a:endCxn id="48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54" idx="2"/>
              <a:endCxn id="48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>
              <a:stCxn id="51" idx="0"/>
              <a:endCxn id="54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>
              <a:stCxn id="53" idx="1"/>
              <a:endCxn id="54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>
              <a:stCxn id="53" idx="3"/>
              <a:endCxn id="5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>
              <a:stCxn id="44" idx="4"/>
              <a:endCxn id="45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Oval 4"/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45" name="Oval 44"/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47" name="Oval 46"/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50" name="Oval 49"/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51" name="Oval 50"/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54" name="Oval 53"/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67" name="TextBox 2066"/>
              <p:cNvSpPr txBox="1"/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Definition: </a:t>
                </a:r>
                <a14:m>
                  <m:oMath xmlns:m="http://schemas.openxmlformats.org/officeDocument/2006/math">
                    <m:r>
                      <a:rPr lang="en-US" sz="4000" i="1">
                        <a:latin typeface="Cambria Math"/>
                      </a:rPr>
                      <m:t>𝐺</m:t>
                    </m:r>
                    <m:r>
                      <a:rPr lang="en-US" sz="4000" i="1">
                        <a:latin typeface="Cambria Math"/>
                      </a:rPr>
                      <m:t>=(</m:t>
                    </m:r>
                    <m:r>
                      <a:rPr lang="en-US" sz="4000" i="1">
                        <a:solidFill>
                          <a:srgbClr val="0070C0"/>
                        </a:solidFill>
                        <a:latin typeface="Cambria Math"/>
                      </a:rPr>
                      <m:t>𝑉</m:t>
                    </m:r>
                    <m:r>
                      <a:rPr lang="en-US" sz="4000" i="1">
                        <a:latin typeface="Cambria Math"/>
                      </a:rPr>
                      <m:t>,</m:t>
                    </m:r>
                    <m:r>
                      <a:rPr lang="en-US" sz="40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  <m:r>
                      <a:rPr lang="en-US" sz="4000" i="1">
                        <a:latin typeface="Cambria Math"/>
                      </a:rPr>
                      <m:t>)</m:t>
                    </m:r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067" name="TextBox 20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blipFill>
                <a:blip r:embed="rId2"/>
                <a:stretch>
                  <a:fillRect l="-4222" t="-12281" r="-2111" b="-3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8" name="TextBox 2067"/>
          <p:cNvSpPr txBox="1"/>
          <p:nvPr/>
        </p:nvSpPr>
        <p:spPr>
          <a:xfrm>
            <a:off x="6639846" y="1058920"/>
            <a:ext cx="2097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Vertices/Nodes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90052" y="1847846"/>
            <a:ext cx="9085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9" name="TextBox 2068"/>
              <p:cNvSpPr txBox="1"/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𝑉</m:t>
                      </m:r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={1,2,3,4,5,6,7,8,9}</m:t>
                      </m:r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069" name="TextBox 20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blipFill>
                <a:blip r:embed="rId3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/>
              <p:cNvSpPr txBox="1"/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𝐸</m:t>
                      </m:r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={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,(1,3)</m:t>
                      </m:r>
                      <m:r>
                        <a:rPr lang="en-US" sz="2000" i="1">
                          <a:solidFill>
                            <a:srgbClr val="FF0000"/>
                          </a:solidFill>
                          <a:latin typeface="Cambria Math"/>
                        </a:rPr>
                        <m:t>,…}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blipFill>
                <a:blip r:embed="rId4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3147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Directed Graphs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7" name="TextBox 2066"/>
              <p:cNvSpPr txBox="1"/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Definition: </a:t>
                </a:r>
                <a14:m>
                  <m:oMath xmlns:m="http://schemas.openxmlformats.org/officeDocument/2006/math">
                    <m:r>
                      <a:rPr lang="en-US" sz="4000" i="1">
                        <a:latin typeface="Cambria Math"/>
                      </a:rPr>
                      <m:t>𝐺</m:t>
                    </m:r>
                    <m:r>
                      <a:rPr lang="en-US" sz="4000" i="1">
                        <a:latin typeface="Cambria Math"/>
                      </a:rPr>
                      <m:t>=(</m:t>
                    </m:r>
                    <m:r>
                      <a:rPr lang="en-US" sz="4000" i="1">
                        <a:solidFill>
                          <a:srgbClr val="0070C0"/>
                        </a:solidFill>
                        <a:latin typeface="Cambria Math"/>
                      </a:rPr>
                      <m:t>𝑉</m:t>
                    </m:r>
                    <m:r>
                      <a:rPr lang="en-US" sz="4000" i="1">
                        <a:latin typeface="Cambria Math"/>
                      </a:rPr>
                      <m:t>,</m:t>
                    </m:r>
                    <m:r>
                      <a:rPr lang="en-US" sz="40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  <m:r>
                      <a:rPr lang="en-US" sz="4000" i="1">
                        <a:latin typeface="Cambria Math"/>
                      </a:rPr>
                      <m:t>)</m:t>
                    </m:r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067" name="TextBox 20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blipFill>
                <a:blip r:embed="rId2"/>
                <a:stretch>
                  <a:fillRect l="-4222" t="-12281" r="-2111" b="-3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8" name="TextBox 2067"/>
          <p:cNvSpPr txBox="1"/>
          <p:nvPr/>
        </p:nvSpPr>
        <p:spPr>
          <a:xfrm>
            <a:off x="6639846" y="1058920"/>
            <a:ext cx="2097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Vertices/Nodes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90052" y="1847846"/>
            <a:ext cx="9085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9" name="TextBox 2068"/>
              <p:cNvSpPr txBox="1"/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𝑉</m:t>
                      </m:r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={1,2,3,4,5,6,7,8,9}</m:t>
                      </m:r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069" name="TextBox 20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blipFill>
                <a:blip r:embed="rId3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/>
              <p:cNvSpPr txBox="1"/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𝐸</m:t>
                      </m:r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={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,(1,3)</m:t>
                      </m:r>
                      <m:r>
                        <a:rPr lang="en-US" sz="2000" i="1">
                          <a:solidFill>
                            <a:srgbClr val="FF0000"/>
                          </a:solidFill>
                          <a:latin typeface="Cambria Math"/>
                        </a:rPr>
                        <m:t>,…}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blipFill>
                <a:blip r:embed="rId4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3D4F64E0-3961-CFDA-3271-06B48D4D0B4D}"/>
              </a:ext>
            </a:extLst>
          </p:cNvPr>
          <p:cNvGrpSpPr/>
          <p:nvPr/>
        </p:nvGrpSpPr>
        <p:grpSpPr>
          <a:xfrm>
            <a:off x="1524000" y="2625729"/>
            <a:ext cx="7044346" cy="3888478"/>
            <a:chOff x="1524000" y="2625729"/>
            <a:chExt cx="7044346" cy="3888478"/>
          </a:xfrm>
        </p:grpSpPr>
        <p:grpSp>
          <p:nvGrpSpPr>
            <p:cNvPr id="2070" name="Group 2069"/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17" name="Straight Connector 16"/>
              <p:cNvCxnSpPr>
                <a:stCxn id="5" idx="7"/>
                <a:endCxn id="44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/>
              <p:cNvCxnSpPr>
                <a:stCxn id="44" idx="6"/>
                <a:endCxn id="48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/>
              <p:cNvCxnSpPr>
                <a:stCxn id="5" idx="4"/>
                <a:endCxn id="45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>
                <a:stCxn id="47" idx="3"/>
                <a:endCxn id="45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>
                <a:stCxn id="50" idx="2"/>
                <a:endCxn id="45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>
                <a:stCxn id="47" idx="5"/>
                <a:endCxn id="50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>
                <a:stCxn id="47" idx="7"/>
                <a:endCxn id="48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>
                <a:stCxn id="50" idx="6"/>
                <a:endCxn id="51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/>
              <p:cNvCxnSpPr>
                <a:stCxn id="51" idx="1"/>
                <a:endCxn id="48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>
                <a:stCxn id="54" idx="2"/>
                <a:endCxn id="48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>
                <a:stCxn id="51" idx="0"/>
                <a:endCxn id="54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>
                <a:stCxn id="53" idx="1"/>
                <a:endCxn id="54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>
                <a:stCxn id="53" idx="3"/>
                <a:endCxn id="51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>
                <a:stCxn id="44" idx="4"/>
                <a:endCxn id="45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Oval 4"/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5017AB7-164A-F3E8-2283-B6D8043EC3F1}"/>
                </a:ext>
              </a:extLst>
            </p:cNvPr>
            <p:cNvCxnSpPr>
              <a:cxnSpLocks/>
              <a:stCxn id="51" idx="7"/>
              <a:endCxn id="54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F03C30C-4DA2-F5A0-18BB-7C9D45A12607}"/>
                </a:ext>
              </a:extLst>
            </p:cNvPr>
            <p:cNvCxnSpPr>
              <a:cxnSpLocks/>
              <a:stCxn id="50" idx="3"/>
              <a:endCxn id="45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39874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Self-Edges and Duplicate Edges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14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D4F64E0-3961-CFDA-3271-06B48D4D0B4D}"/>
              </a:ext>
            </a:extLst>
          </p:cNvPr>
          <p:cNvGrpSpPr/>
          <p:nvPr/>
        </p:nvGrpSpPr>
        <p:grpSpPr>
          <a:xfrm>
            <a:off x="1524000" y="2625729"/>
            <a:ext cx="7044346" cy="3888478"/>
            <a:chOff x="1524000" y="2625729"/>
            <a:chExt cx="7044346" cy="3888478"/>
          </a:xfrm>
        </p:grpSpPr>
        <p:grpSp>
          <p:nvGrpSpPr>
            <p:cNvPr id="2070" name="Group 2069"/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17" name="Straight Connector 16"/>
              <p:cNvCxnSpPr>
                <a:stCxn id="5" idx="7"/>
                <a:endCxn id="44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/>
              <p:cNvCxnSpPr>
                <a:stCxn id="44" idx="6"/>
                <a:endCxn id="48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/>
              <p:cNvCxnSpPr>
                <a:stCxn id="5" idx="4"/>
                <a:endCxn id="45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>
                <a:stCxn id="47" idx="3"/>
                <a:endCxn id="45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>
                <a:stCxn id="50" idx="2"/>
                <a:endCxn id="45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>
                <a:stCxn id="47" idx="5"/>
                <a:endCxn id="50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>
                <a:stCxn id="47" idx="7"/>
                <a:endCxn id="48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>
                <a:cxnSpLocks/>
                <a:stCxn id="50" idx="6"/>
                <a:endCxn id="51" idx="2"/>
              </p:cNvCxnSpPr>
              <p:nvPr/>
            </p:nvCxnSpPr>
            <p:spPr>
              <a:xfrm flipV="1">
                <a:off x="3360148" y="6395303"/>
                <a:ext cx="1641019" cy="25663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/>
              <p:cNvCxnSpPr>
                <a:stCxn id="51" idx="1"/>
                <a:endCxn id="48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>
                <a:stCxn id="54" idx="2"/>
                <a:endCxn id="48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>
                <a:stCxn id="51" idx="0"/>
                <a:endCxn id="54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>
                <a:stCxn id="53" idx="1"/>
                <a:endCxn id="54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>
                <a:stCxn id="53" idx="3"/>
                <a:endCxn id="51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>
                <a:stCxn id="44" idx="4"/>
                <a:endCxn id="45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Oval 4"/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5017AB7-164A-F3E8-2283-B6D8043EC3F1}"/>
                </a:ext>
              </a:extLst>
            </p:cNvPr>
            <p:cNvCxnSpPr>
              <a:cxnSpLocks/>
              <a:stCxn id="51" idx="7"/>
              <a:endCxn id="54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F03C30C-4DA2-F5A0-18BB-7C9D45A12607}"/>
                </a:ext>
              </a:extLst>
            </p:cNvPr>
            <p:cNvCxnSpPr>
              <a:cxnSpLocks/>
              <a:stCxn id="50" idx="3"/>
              <a:endCxn id="45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D33CB24-50C7-D2CF-FAED-CF4F258497C8}"/>
              </a:ext>
            </a:extLst>
          </p:cNvPr>
          <p:cNvCxnSpPr>
            <a:cxnSpLocks/>
            <a:stCxn id="5" idx="6"/>
            <a:endCxn id="44" idx="3"/>
          </p:cNvCxnSpPr>
          <p:nvPr/>
        </p:nvCxnSpPr>
        <p:spPr>
          <a:xfrm flipV="1">
            <a:off x="2037268" y="3063831"/>
            <a:ext cx="1492916" cy="962604"/>
          </a:xfrm>
          <a:prstGeom prst="line">
            <a:avLst/>
          </a:prstGeom>
          <a:ln w="57150">
            <a:solidFill>
              <a:srgbClr val="FFC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6B0E6A-605D-5996-9043-170D7CC5F07A}"/>
              </a:ext>
            </a:extLst>
          </p:cNvPr>
          <p:cNvCxnSpPr>
            <a:cxnSpLocks/>
            <a:stCxn id="51" idx="3"/>
            <a:endCxn id="50" idx="5"/>
          </p:cNvCxnSpPr>
          <p:nvPr/>
        </p:nvCxnSpPr>
        <p:spPr>
          <a:xfrm flipH="1">
            <a:off x="4808982" y="6182407"/>
            <a:ext cx="1791351" cy="256634"/>
          </a:xfrm>
          <a:prstGeom prst="line">
            <a:avLst/>
          </a:prstGeom>
          <a:ln w="57150">
            <a:solidFill>
              <a:srgbClr val="FFC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49B9F7E4-6D03-3262-1E65-A6910025C7EF}"/>
              </a:ext>
            </a:extLst>
          </p:cNvPr>
          <p:cNvCxnSpPr>
            <a:cxnSpLocks/>
            <a:stCxn id="5" idx="0"/>
            <a:endCxn id="5" idx="2"/>
          </p:cNvCxnSpPr>
          <p:nvPr/>
        </p:nvCxnSpPr>
        <p:spPr>
          <a:xfrm rot="16200000" flipH="1" flipV="1">
            <a:off x="1524000" y="3769801"/>
            <a:ext cx="256634" cy="256634"/>
          </a:xfrm>
          <a:prstGeom prst="curvedConnector4">
            <a:avLst>
              <a:gd name="adj1" fmla="val -135735"/>
              <a:gd name="adj2" fmla="val 235735"/>
            </a:avLst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C3F99A2-D314-6EC0-C057-BC351C4F1666}"/>
              </a:ext>
            </a:extLst>
          </p:cNvPr>
          <p:cNvSpPr txBox="1"/>
          <p:nvPr/>
        </p:nvSpPr>
        <p:spPr>
          <a:xfrm>
            <a:off x="3108113" y="1460924"/>
            <a:ext cx="104071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graphs may have duplicate edges (e.g. here we have the edge (1,2) twice).</a:t>
            </a:r>
          </a:p>
          <a:p>
            <a:r>
              <a:rPr lang="en-US" sz="2000" dirty="0"/>
              <a:t>Some may also have self-edges/loops (e.g. here there is an edge from 1 to 1).</a:t>
            </a:r>
          </a:p>
          <a:p>
            <a:r>
              <a:rPr lang="en-US" sz="2000" dirty="0"/>
              <a:t>Graph with neither self-edges nor duplicate edges are called </a:t>
            </a:r>
            <a:r>
              <a:rPr lang="en-US" sz="2000" b="1" dirty="0">
                <a:solidFill>
                  <a:srgbClr val="FF00FF"/>
                </a:solidFill>
              </a:rPr>
              <a:t>simple graphs</a:t>
            </a:r>
          </a:p>
        </p:txBody>
      </p:sp>
    </p:spTree>
    <p:extLst>
      <p:ext uri="{BB962C8B-B14F-4D97-AF65-F5344CB8AC3E}">
        <p14:creationId xmlns:p14="http://schemas.microsoft.com/office/powerpoint/2010/main" val="3538788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Weighted Graphs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15</a:t>
            </a:fld>
            <a:endParaRPr lang="en-US"/>
          </a:p>
        </p:txBody>
      </p:sp>
      <p:grpSp>
        <p:nvGrpSpPr>
          <p:cNvPr id="2070" name="Group 2069"/>
          <p:cNvGrpSpPr/>
          <p:nvPr/>
        </p:nvGrpSpPr>
        <p:grpSpPr>
          <a:xfrm>
            <a:off x="1524000" y="2743200"/>
            <a:ext cx="7044346" cy="4072018"/>
            <a:chOff x="0" y="2862182"/>
            <a:chExt cx="7044346" cy="4072018"/>
          </a:xfrm>
        </p:grpSpPr>
        <p:cxnSp>
          <p:nvCxnSpPr>
            <p:cNvPr id="17" name="Straight Connector 16"/>
            <p:cNvCxnSpPr>
              <a:stCxn id="5" idx="7"/>
              <a:endCxn id="44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stCxn id="44" idx="6"/>
              <a:endCxn id="48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5" idx="4"/>
              <a:endCxn id="45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>
              <a:stCxn id="47" idx="3"/>
              <a:endCxn id="45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50" idx="2"/>
              <a:endCxn id="45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>
              <a:stCxn id="47" idx="5"/>
              <a:endCxn id="5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47" idx="7"/>
              <a:endCxn id="48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50" idx="6"/>
              <a:endCxn id="5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>
              <a:stCxn id="51" idx="1"/>
              <a:endCxn id="48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54" idx="2"/>
              <a:endCxn id="48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>
              <a:stCxn id="51" idx="0"/>
              <a:endCxn id="54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>
              <a:stCxn id="53" idx="1"/>
              <a:endCxn id="54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>
              <a:stCxn id="53" idx="3"/>
              <a:endCxn id="5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57" name="TextBox 2056"/>
            <p:cNvSpPr txBox="1"/>
            <p:nvPr/>
          </p:nvSpPr>
          <p:spPr>
            <a:xfrm>
              <a:off x="886366" y="3331447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10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6095562" y="409903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2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3895875" y="65648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6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047348" y="5905158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11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5004912" y="471724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119679" y="446277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5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582463" y="32991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3058462" y="554633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3064048" y="385317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7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051034" y="522425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1885966" y="64043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830979" y="286218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56634" y="5096525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12</a:t>
              </a:r>
            </a:p>
          </p:txBody>
        </p:sp>
        <p:cxnSp>
          <p:nvCxnSpPr>
            <p:cNvPr id="69" name="Straight Connector 68"/>
            <p:cNvCxnSpPr>
              <a:stCxn id="44" idx="4"/>
              <a:endCxn id="45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/>
            <p:cNvSpPr txBox="1"/>
            <p:nvPr/>
          </p:nvSpPr>
          <p:spPr>
            <a:xfrm>
              <a:off x="1414258" y="426242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45" name="Oval 44"/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47" name="Oval 46"/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50" name="Oval 49"/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51" name="Oval 50"/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54" name="Oval 53"/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67" name="TextBox 2066"/>
              <p:cNvSpPr txBox="1"/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Definition: </a:t>
                </a:r>
                <a14:m>
                  <m:oMath xmlns:m="http://schemas.openxmlformats.org/officeDocument/2006/math">
                    <m:r>
                      <a:rPr lang="en-US" sz="4000" i="1">
                        <a:latin typeface="Cambria Math"/>
                      </a:rPr>
                      <m:t>𝐺</m:t>
                    </m:r>
                    <m:r>
                      <a:rPr lang="en-US" sz="4000" i="1">
                        <a:latin typeface="Cambria Math"/>
                      </a:rPr>
                      <m:t>=(</m:t>
                    </m:r>
                    <m:r>
                      <a:rPr lang="en-US" sz="4000" i="1">
                        <a:solidFill>
                          <a:srgbClr val="0070C0"/>
                        </a:solidFill>
                        <a:latin typeface="Cambria Math"/>
                      </a:rPr>
                      <m:t>𝑉</m:t>
                    </m:r>
                    <m:r>
                      <a:rPr lang="en-US" sz="4000" i="1">
                        <a:latin typeface="Cambria Math"/>
                      </a:rPr>
                      <m:t>,</m:t>
                    </m:r>
                    <m:r>
                      <a:rPr lang="en-US" sz="40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  <m:r>
                      <a:rPr lang="en-US" sz="4000" i="1">
                        <a:latin typeface="Cambria Math"/>
                      </a:rPr>
                      <m:t>)</m:t>
                    </m:r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067" name="TextBox 20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blipFill>
                <a:blip r:embed="rId2"/>
                <a:stretch>
                  <a:fillRect l="-4222" t="-12281" r="-2111" b="-3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8" name="TextBox 2067"/>
          <p:cNvSpPr txBox="1"/>
          <p:nvPr/>
        </p:nvSpPr>
        <p:spPr>
          <a:xfrm>
            <a:off x="6639846" y="1058920"/>
            <a:ext cx="2097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Vertices/Nodes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90052" y="1847846"/>
            <a:ext cx="9085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/>
              <p:cNvSpPr txBox="1"/>
              <p:nvPr/>
            </p:nvSpPr>
            <p:spPr>
              <a:xfrm>
                <a:off x="2496650" y="1981200"/>
                <a:ext cx="504715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00B050"/>
                        </a:solidFill>
                        <a:latin typeface="Cambria Math"/>
                      </a:rPr>
                      <m:t>𝑤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𝑒</m:t>
                        </m:r>
                      </m:e>
                    </m:d>
                    <m:r>
                      <a:rPr lang="en-US" sz="3200" i="1">
                        <a:latin typeface="Cambria Math"/>
                      </a:rPr>
                      <m:t>=</m:t>
                    </m:r>
                  </m:oMath>
                </a14:m>
                <a:r>
                  <a:rPr lang="en-US" sz="4000" dirty="0"/>
                  <a:t> </a:t>
                </a:r>
                <a:r>
                  <a:rPr lang="en-US" sz="4000" dirty="0">
                    <a:solidFill>
                      <a:srgbClr val="00B050"/>
                    </a:solidFill>
                  </a:rPr>
                  <a:t>weight</a:t>
                </a:r>
                <a:r>
                  <a:rPr lang="en-US" sz="4000" dirty="0"/>
                  <a:t> of </a:t>
                </a:r>
                <a:r>
                  <a:rPr lang="en-US" sz="4000" dirty="0">
                    <a:solidFill>
                      <a:srgbClr val="FF0000"/>
                    </a:solidFill>
                  </a:rPr>
                  <a:t>edge </a:t>
                </a:r>
                <a14:m>
                  <m:oMath xmlns:m="http://schemas.openxmlformats.org/officeDocument/2006/math">
                    <m:r>
                      <a:rPr lang="en-US" sz="4000" i="1" dirty="0">
                        <a:solidFill>
                          <a:srgbClr val="FF0000"/>
                        </a:solidFill>
                        <a:latin typeface="Cambria Math"/>
                      </a:rPr>
                      <m:t>𝑒</m:t>
                    </m:r>
                  </m:oMath>
                </a14:m>
                <a:endParaRPr lang="en-US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" name="TextBox 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650" y="1981200"/>
                <a:ext cx="5047151" cy="707886"/>
              </a:xfrm>
              <a:prstGeom prst="rect">
                <a:avLst/>
              </a:prstGeom>
              <a:blipFill>
                <a:blip r:embed="rId3"/>
                <a:stretch>
                  <a:fillRect l="-251" t="-14286" b="-3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9" name="TextBox 2068"/>
              <p:cNvSpPr txBox="1"/>
              <p:nvPr/>
            </p:nvSpPr>
            <p:spPr>
              <a:xfrm>
                <a:off x="7322224" y="2789982"/>
                <a:ext cx="26516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𝑉</m:t>
                      </m:r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={1,2,3,4,5,6,7,8,9}</m:t>
                      </m:r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069" name="TextBox 20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224" y="2789982"/>
                <a:ext cx="2651623" cy="400110"/>
              </a:xfrm>
              <a:prstGeom prst="rect">
                <a:avLst/>
              </a:prstGeom>
              <a:blipFill>
                <a:blip r:embed="rId4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/>
              <p:cNvSpPr txBox="1"/>
              <p:nvPr/>
            </p:nvSpPr>
            <p:spPr>
              <a:xfrm>
                <a:off x="7315200" y="3214708"/>
                <a:ext cx="31204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𝐸</m:t>
                      </m:r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={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,(1,3)</m:t>
                      </m:r>
                      <m:r>
                        <a:rPr lang="en-US" sz="2000" i="1">
                          <a:solidFill>
                            <a:srgbClr val="FF0000"/>
                          </a:solidFill>
                          <a:latin typeface="Cambria Math"/>
                        </a:rPr>
                        <m:t>,…}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3214708"/>
                <a:ext cx="3120470" cy="400110"/>
              </a:xfrm>
              <a:prstGeom prst="rect">
                <a:avLst/>
              </a:prstGeom>
              <a:blipFill>
                <a:blip r:embed="rId5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5300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1A2D5-C737-A39E-7E2E-D192CB644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0B705-15E4-A291-8248-D337DB23F1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For each application below, consider:</a:t>
            </a:r>
          </a:p>
          <a:p>
            <a:pPr lvl="1"/>
            <a:r>
              <a:rPr lang="en-US" dirty="0"/>
              <a:t>What are the nodes, what are the edges?</a:t>
            </a:r>
          </a:p>
          <a:p>
            <a:pPr lvl="1"/>
            <a:r>
              <a:rPr lang="en-US" dirty="0"/>
              <a:t>Is the graph directed?</a:t>
            </a:r>
          </a:p>
          <a:p>
            <a:pPr lvl="1"/>
            <a:r>
              <a:rPr lang="en-US" dirty="0"/>
              <a:t>Is the graph simple?</a:t>
            </a:r>
          </a:p>
          <a:p>
            <a:pPr lvl="1"/>
            <a:r>
              <a:rPr lang="en-US" dirty="0"/>
              <a:t>Is the graph weighted?</a:t>
            </a:r>
          </a:p>
          <a:p>
            <a:r>
              <a:rPr lang="en-US"/>
              <a:t>LinkedIn </a:t>
            </a:r>
            <a:r>
              <a:rPr lang="en-US" dirty="0"/>
              <a:t>Connections</a:t>
            </a:r>
          </a:p>
          <a:p>
            <a:r>
              <a:rPr lang="en-US" dirty="0"/>
              <a:t>Twitter Followers</a:t>
            </a:r>
          </a:p>
          <a:p>
            <a:r>
              <a:rPr lang="en-US" dirty="0"/>
              <a:t>Java Inheritance</a:t>
            </a:r>
          </a:p>
          <a:p>
            <a:r>
              <a:rPr lang="en-US" dirty="0"/>
              <a:t>Airline Routes</a:t>
            </a:r>
          </a:p>
          <a:p>
            <a:r>
              <a:rPr lang="en-US" dirty="0"/>
              <a:t>Course Prerequisites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656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61270-E0F8-A2B4-DC31-E1498BB47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Graph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15C73-AF4A-DFE5-A3D1-D1EC818DC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7367570" cy="4525963"/>
          </a:xfrm>
        </p:spPr>
        <p:txBody>
          <a:bodyPr>
            <a:normAutofit/>
          </a:bodyPr>
          <a:lstStyle/>
          <a:p>
            <a:r>
              <a:rPr lang="en-US" dirty="0"/>
              <a:t>Adjacent/Neighbors</a:t>
            </a:r>
          </a:p>
          <a:p>
            <a:pPr lvl="1"/>
            <a:r>
              <a:rPr lang="en-US" dirty="0"/>
              <a:t>Nodes are adjacent/neighbors if they share an edge</a:t>
            </a:r>
          </a:p>
          <a:p>
            <a:r>
              <a:rPr lang="en-US" dirty="0"/>
              <a:t>Degree</a:t>
            </a:r>
          </a:p>
          <a:p>
            <a:pPr lvl="1"/>
            <a:r>
              <a:rPr lang="en-US" dirty="0"/>
              <a:t>Number of edges “touching” a vertex</a:t>
            </a:r>
          </a:p>
          <a:p>
            <a:r>
              <a:rPr lang="en-US" dirty="0"/>
              <a:t>Indegree</a:t>
            </a:r>
          </a:p>
          <a:p>
            <a:pPr lvl="1"/>
            <a:r>
              <a:rPr lang="en-US" dirty="0"/>
              <a:t>Number of incoming edges</a:t>
            </a:r>
          </a:p>
          <a:p>
            <a:r>
              <a:rPr lang="en-US" dirty="0"/>
              <a:t>Outdegree</a:t>
            </a:r>
          </a:p>
          <a:p>
            <a:pPr lvl="1"/>
            <a:r>
              <a:rPr lang="en-US" dirty="0"/>
              <a:t>Number of outgoing edges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7077EB-8563-0C5E-9AF2-6FB42457C3F5}"/>
              </a:ext>
            </a:extLst>
          </p:cNvPr>
          <p:cNvGrpSpPr/>
          <p:nvPr/>
        </p:nvGrpSpPr>
        <p:grpSpPr>
          <a:xfrm>
            <a:off x="7848600" y="846138"/>
            <a:ext cx="4301146" cy="2374232"/>
            <a:chOff x="0" y="3020093"/>
            <a:chExt cx="7044346" cy="388847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1C421F4-A457-DB86-1FD3-32D14A13BE0A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6D50B3-9D94-894A-AEF4-03C92A6437D5}"/>
                </a:ext>
              </a:extLst>
            </p:cNvPr>
            <p:cNvCxnSpPr>
              <a:stCxn id="20" idx="6"/>
              <a:endCxn id="23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6F2AEC7-7C95-AF77-5085-BC18C20FED6C}"/>
                </a:ext>
              </a:extLst>
            </p:cNvPr>
            <p:cNvCxnSpPr>
              <a:stCxn id="19" idx="4"/>
              <a:endCxn id="21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D91F591-A554-8D39-D9B1-E0EE5E18BBEA}"/>
                </a:ext>
              </a:extLst>
            </p:cNvPr>
            <p:cNvCxnSpPr>
              <a:stCxn id="22" idx="3"/>
              <a:endCxn id="21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DDE6CD8-5778-FAA9-5C53-CE46081CD71E}"/>
                </a:ext>
              </a:extLst>
            </p:cNvPr>
            <p:cNvCxnSpPr>
              <a:stCxn id="24" idx="2"/>
              <a:endCxn id="21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877BBA0-F365-074C-3764-5C12DEEB2E8F}"/>
                </a:ext>
              </a:extLst>
            </p:cNvPr>
            <p:cNvCxnSpPr>
              <a:stCxn id="22" idx="5"/>
              <a:endCxn id="24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0203ADB-430A-D65F-9723-DAA04ACAFB9C}"/>
                </a:ext>
              </a:extLst>
            </p:cNvPr>
            <p:cNvCxnSpPr>
              <a:stCxn id="22" idx="7"/>
              <a:endCxn id="23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68AE7B9-7053-F6F9-A0D3-5A043D505A2D}"/>
                </a:ext>
              </a:extLst>
            </p:cNvPr>
            <p:cNvCxnSpPr>
              <a:stCxn id="24" idx="6"/>
              <a:endCxn id="25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75ACCEC-0E1D-BF87-4D29-C9EFE7A95074}"/>
                </a:ext>
              </a:extLst>
            </p:cNvPr>
            <p:cNvCxnSpPr>
              <a:stCxn id="25" idx="1"/>
              <a:endCxn id="23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ADBF4-FB3C-D330-300D-00B6AF377E53}"/>
                </a:ext>
              </a:extLst>
            </p:cNvPr>
            <p:cNvCxnSpPr>
              <a:stCxn id="27" idx="2"/>
              <a:endCxn id="23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FFB4587-1690-02D4-BA3C-A0099E7358D5}"/>
                </a:ext>
              </a:extLst>
            </p:cNvPr>
            <p:cNvCxnSpPr>
              <a:stCxn id="25" idx="0"/>
              <a:endCxn id="27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C13D604-B112-B9D1-2FB0-D426EB51FDB5}"/>
                </a:ext>
              </a:extLst>
            </p:cNvPr>
            <p:cNvCxnSpPr>
              <a:stCxn id="26" idx="1"/>
              <a:endCxn id="27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8B21677-B01D-DF4C-8F76-B4A4CCE81DFF}"/>
                </a:ext>
              </a:extLst>
            </p:cNvPr>
            <p:cNvCxnSpPr>
              <a:stCxn id="26" idx="3"/>
              <a:endCxn id="25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A2EE3B9-2788-3830-4E73-9DF1652682FE}"/>
                </a:ext>
              </a:extLst>
            </p:cNvPr>
            <p:cNvCxnSpPr>
              <a:stCxn id="20" idx="4"/>
              <a:endCxn id="21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02ECF91-9510-823B-C909-5F0EB0CA3147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8B09655-F346-B1A3-1410-FB8E825C8643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9E88022-25E7-86C7-8B92-34447DB1CB81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EB710F6-6934-006D-D44B-6C316E606C86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2B6EF87-9ED8-0DE9-D60E-95BDFA888588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41E8C970-DD24-1453-11B9-B8ACAA2F939D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5E1A8BB-249C-43D9-96A3-202B7BEE668A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A1B0CD1-8132-C3B4-B8C7-CDDC25E0B19D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56E15FE-2AC2-BAA6-9B20-EDB3AA8EE9EF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9BC2B0C-3F8F-E385-9C36-453724DCBB67}"/>
              </a:ext>
            </a:extLst>
          </p:cNvPr>
          <p:cNvGrpSpPr/>
          <p:nvPr/>
        </p:nvGrpSpPr>
        <p:grpSpPr>
          <a:xfrm>
            <a:off x="7752750" y="3494747"/>
            <a:ext cx="4385159" cy="2420607"/>
            <a:chOff x="1524000" y="2625729"/>
            <a:chExt cx="7044346" cy="3888478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1311A56-0703-B4CB-4DF3-E964A1EBFC91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F08BE01B-5DBC-5EE1-D933-A8EB34AAAF91}"/>
                  </a:ext>
                </a:extLst>
              </p:cNvPr>
              <p:cNvCxnSpPr>
                <a:stCxn id="94" idx="7"/>
                <a:endCxn id="95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58838333-99B5-EDB2-E636-E37A3041178D}"/>
                  </a:ext>
                </a:extLst>
              </p:cNvPr>
              <p:cNvCxnSpPr>
                <a:stCxn id="95" idx="6"/>
                <a:endCxn id="98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C90C3336-FD01-DDE1-F0D0-03F55BFFCE28}"/>
                  </a:ext>
                </a:extLst>
              </p:cNvPr>
              <p:cNvCxnSpPr>
                <a:stCxn id="94" idx="4"/>
                <a:endCxn id="96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A12F9B32-568D-6074-BFD1-06C1C822970C}"/>
                  </a:ext>
                </a:extLst>
              </p:cNvPr>
              <p:cNvCxnSpPr>
                <a:stCxn id="97" idx="3"/>
                <a:endCxn id="96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927DFB4-FE48-C8DF-70F7-FA2E1E749276}"/>
                  </a:ext>
                </a:extLst>
              </p:cNvPr>
              <p:cNvCxnSpPr>
                <a:stCxn id="99" idx="2"/>
                <a:endCxn id="96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5F6211A5-2B55-D230-16B2-2AD51EA7A0D9}"/>
                  </a:ext>
                </a:extLst>
              </p:cNvPr>
              <p:cNvCxnSpPr>
                <a:stCxn id="97" idx="5"/>
                <a:endCxn id="99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FAC54169-CBFA-C7E2-BC2E-33184A527D9D}"/>
                  </a:ext>
                </a:extLst>
              </p:cNvPr>
              <p:cNvCxnSpPr>
                <a:stCxn id="97" idx="7"/>
                <a:endCxn id="98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2ECDD1BC-741B-9CAD-1105-09E397EE3B17}"/>
                  </a:ext>
                </a:extLst>
              </p:cNvPr>
              <p:cNvCxnSpPr>
                <a:stCxn id="99" idx="6"/>
                <a:endCxn id="100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60CE11B8-8F5D-C7A3-14F8-FBE2BD41B155}"/>
                  </a:ext>
                </a:extLst>
              </p:cNvPr>
              <p:cNvCxnSpPr>
                <a:stCxn id="100" idx="1"/>
                <a:endCxn id="98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4D4A98BB-84E0-53EA-CAB6-B34746A23FB1}"/>
                  </a:ext>
                </a:extLst>
              </p:cNvPr>
              <p:cNvCxnSpPr>
                <a:stCxn id="102" idx="2"/>
                <a:endCxn id="98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3DFE9DAC-A92C-CC96-A200-12881D3F5556}"/>
                  </a:ext>
                </a:extLst>
              </p:cNvPr>
              <p:cNvCxnSpPr>
                <a:stCxn id="100" idx="0"/>
                <a:endCxn id="102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253C9770-FA50-C8A2-029D-50072B26B7AA}"/>
                  </a:ext>
                </a:extLst>
              </p:cNvPr>
              <p:cNvCxnSpPr>
                <a:stCxn id="101" idx="1"/>
                <a:endCxn id="102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E368074D-3071-983E-D9B7-5D8BED13FAD1}"/>
                  </a:ext>
                </a:extLst>
              </p:cNvPr>
              <p:cNvCxnSpPr>
                <a:stCxn id="101" idx="3"/>
                <a:endCxn id="100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3DDF72EC-73F5-C92E-7376-748E30BB74C1}"/>
                  </a:ext>
                </a:extLst>
              </p:cNvPr>
              <p:cNvCxnSpPr>
                <a:stCxn id="95" idx="4"/>
                <a:endCxn id="96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5FC2285-020A-878E-90CE-2ACC450330AE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8AA52F75-BA01-66A5-EF54-E52D90EDD432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C0E6879E-1525-AA65-2114-574042CBEEB6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BDC3F494-6211-1948-0CDB-6CD123A25C3C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3BE19C25-5170-64E5-46A0-C59958E021A7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AB48AE5A-C4EE-BA50-885A-F30C09797C9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587E7852-F9BC-8B04-BCFA-082683DAC53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FE98C314-CBA0-EA5B-6C6F-13F8858E0BBD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C9C4FAAE-5AE5-4514-0BA9-55334F0335B1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CA80272A-3CC3-702F-8EA2-DA7404D25FFB}"/>
                </a:ext>
              </a:extLst>
            </p:cNvPr>
            <p:cNvCxnSpPr>
              <a:cxnSpLocks/>
              <a:stCxn id="100" idx="7"/>
              <a:endCxn id="102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F2BA105-F684-B473-14DF-7C5E0517E06F}"/>
                </a:ext>
              </a:extLst>
            </p:cNvPr>
            <p:cNvCxnSpPr>
              <a:cxnSpLocks/>
              <a:stCxn id="99" idx="3"/>
              <a:endCxn id="96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713036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Complete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an edge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blipFill>
                <a:blip r:embed="rId2"/>
                <a:stretch>
                  <a:fillRect l="-1872" t="-6410" b="-17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1E0F26B5-366A-711E-D723-7F1979D24DA8}"/>
              </a:ext>
            </a:extLst>
          </p:cNvPr>
          <p:cNvSpPr txBox="1"/>
          <p:nvPr/>
        </p:nvSpPr>
        <p:spPr>
          <a:xfrm>
            <a:off x="571923" y="4916821"/>
            <a:ext cx="29083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Complete Undirected Graph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BCCB78-25D1-DA64-D181-C086C657BD95}"/>
              </a:ext>
            </a:extLst>
          </p:cNvPr>
          <p:cNvSpPr txBox="1"/>
          <p:nvPr/>
        </p:nvSpPr>
        <p:spPr>
          <a:xfrm>
            <a:off x="3899919" y="4920228"/>
            <a:ext cx="31354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Complete </a:t>
            </a:r>
          </a:p>
          <a:p>
            <a:r>
              <a:rPr lang="en-US" sz="2800" dirty="0"/>
              <a:t>Directed Graph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DFBE9801-D0B3-6EF8-63EA-B9DCCBFB1CE6}"/>
              </a:ext>
            </a:extLst>
          </p:cNvPr>
          <p:cNvGrpSpPr/>
          <p:nvPr/>
        </p:nvGrpSpPr>
        <p:grpSpPr>
          <a:xfrm>
            <a:off x="718434" y="3206160"/>
            <a:ext cx="1729793" cy="1622043"/>
            <a:chOff x="1378834" y="3116577"/>
            <a:chExt cx="1729793" cy="162204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737F504-B85A-1520-E7F4-8989BE84231C}"/>
                </a:ext>
              </a:extLst>
            </p:cNvPr>
            <p:cNvGrpSpPr/>
            <p:nvPr/>
          </p:nvGrpSpPr>
          <p:grpSpPr>
            <a:xfrm>
              <a:off x="1378834" y="3116577"/>
              <a:ext cx="1729793" cy="1622043"/>
              <a:chOff x="-388725" y="3020093"/>
              <a:chExt cx="2833027" cy="2656555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5E1BD8B7-4CC3-76C2-B59D-BB8E9AB4F6AB}"/>
                  </a:ext>
                </a:extLst>
              </p:cNvPr>
              <p:cNvCxnSpPr>
                <a:cxnSpLocks/>
                <a:stCxn id="85" idx="6"/>
                <a:endCxn id="86" idx="2"/>
              </p:cNvCxnSpPr>
              <p:nvPr/>
            </p:nvCxnSpPr>
            <p:spPr>
              <a:xfrm>
                <a:off x="166749" y="3276727"/>
                <a:ext cx="1764268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0A5863F-100D-A240-865D-33C97E04E063}"/>
                  </a:ext>
                </a:extLst>
              </p:cNvPr>
              <p:cNvCxnSpPr>
                <a:cxnSpLocks/>
                <a:stCxn id="86" idx="4"/>
                <a:endCxn id="88" idx="0"/>
              </p:cNvCxnSpPr>
              <p:nvPr/>
            </p:nvCxnSpPr>
            <p:spPr>
              <a:xfrm>
                <a:off x="2187651" y="3533361"/>
                <a:ext cx="16" cy="160181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CEE1F91-DED4-E4D4-2B84-54D4FDE1057A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 flipH="1">
                <a:off x="-132091" y="3533361"/>
                <a:ext cx="42206" cy="163001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DFEBBBC-BC80-BAFB-02A9-944572FA7FA8}"/>
                  </a:ext>
                </a:extLst>
              </p:cNvPr>
              <p:cNvCxnSpPr>
                <a:cxnSpLocks/>
                <a:stCxn id="88" idx="2"/>
                <a:endCxn id="87" idx="6"/>
              </p:cNvCxnSpPr>
              <p:nvPr/>
            </p:nvCxnSpPr>
            <p:spPr>
              <a:xfrm flipH="1">
                <a:off x="124543" y="5391811"/>
                <a:ext cx="1806490" cy="28203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F75438BD-A475-6206-0EF0-890B3A937474}"/>
                  </a:ext>
                </a:extLst>
              </p:cNvPr>
              <p:cNvCxnSpPr>
                <a:cxnSpLocks/>
                <a:stCxn id="86" idx="3"/>
                <a:endCxn id="87" idx="7"/>
              </p:cNvCxnSpPr>
              <p:nvPr/>
            </p:nvCxnSpPr>
            <p:spPr>
              <a:xfrm flipH="1">
                <a:off x="49377" y="3458195"/>
                <a:ext cx="1956808" cy="1780351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433C72C6-1468-0C1C-DAFA-E75622DA098E}"/>
                  </a:ext>
                </a:extLst>
              </p:cNvPr>
              <p:cNvSpPr/>
              <p:nvPr/>
            </p:nvSpPr>
            <p:spPr>
              <a:xfrm>
                <a:off x="-346519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5C6235E6-E60A-062C-E312-5D5F0758C46F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266721D1-8A4C-2F76-CAA9-FEE941202C62}"/>
                  </a:ext>
                </a:extLst>
              </p:cNvPr>
              <p:cNvSpPr/>
              <p:nvPr/>
            </p:nvSpPr>
            <p:spPr>
              <a:xfrm>
                <a:off x="-388725" y="516338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A11DC63D-5D3B-50C2-0184-D0A5C0983F41}"/>
                  </a:ext>
                </a:extLst>
              </p:cNvPr>
              <p:cNvSpPr/>
              <p:nvPr/>
            </p:nvSpPr>
            <p:spPr>
              <a:xfrm>
                <a:off x="1931034" y="5135177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</p:grp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2E320C1-342B-2917-1FF6-23EADE44AF82}"/>
                </a:ext>
              </a:extLst>
            </p:cNvPr>
            <p:cNvCxnSpPr>
              <a:cxnSpLocks/>
              <a:stCxn id="85" idx="5"/>
              <a:endCxn id="88" idx="1"/>
            </p:cNvCxnSpPr>
            <p:nvPr/>
          </p:nvCxnSpPr>
          <p:spPr>
            <a:xfrm>
              <a:off x="1672101" y="3384074"/>
              <a:ext cx="1169029" cy="1069829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CA9F77F-1A5A-D413-FF40-26A41279BB85}"/>
              </a:ext>
            </a:extLst>
          </p:cNvPr>
          <p:cNvGrpSpPr/>
          <p:nvPr/>
        </p:nvGrpSpPr>
        <p:grpSpPr>
          <a:xfrm>
            <a:off x="3940430" y="3110592"/>
            <a:ext cx="1729793" cy="1622043"/>
            <a:chOff x="8610600" y="3884345"/>
            <a:chExt cx="1729793" cy="1622043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5E6465E-23D4-7A78-2D90-033B0364F71F}"/>
                </a:ext>
              </a:extLst>
            </p:cNvPr>
            <p:cNvGrpSpPr/>
            <p:nvPr/>
          </p:nvGrpSpPr>
          <p:grpSpPr>
            <a:xfrm>
              <a:off x="8610600" y="3884345"/>
              <a:ext cx="1729793" cy="1622043"/>
              <a:chOff x="-388725" y="3020093"/>
              <a:chExt cx="2833027" cy="2656555"/>
            </a:xfrm>
          </p:grpSpPr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8DD0BA37-2B83-48D8-E26B-B217259C66A7}"/>
                  </a:ext>
                </a:extLst>
              </p:cNvPr>
              <p:cNvCxnSpPr>
                <a:cxnSpLocks/>
                <a:stCxn id="74" idx="6"/>
                <a:endCxn id="75" idx="2"/>
              </p:cNvCxnSpPr>
              <p:nvPr/>
            </p:nvCxnSpPr>
            <p:spPr>
              <a:xfrm>
                <a:off x="166749" y="3276727"/>
                <a:ext cx="1764268" cy="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F9CF37D2-E27F-7A71-AA33-5320E9514E61}"/>
                  </a:ext>
                </a:extLst>
              </p:cNvPr>
              <p:cNvCxnSpPr>
                <a:cxnSpLocks/>
                <a:stCxn id="75" idx="4"/>
                <a:endCxn id="77" idx="0"/>
              </p:cNvCxnSpPr>
              <p:nvPr/>
            </p:nvCxnSpPr>
            <p:spPr>
              <a:xfrm>
                <a:off x="2187651" y="3533361"/>
                <a:ext cx="16" cy="160181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54B9CD13-FF66-A5D2-1F8C-EA4244CE544E}"/>
                  </a:ext>
                </a:extLst>
              </p:cNvPr>
              <p:cNvCxnSpPr>
                <a:cxnSpLocks/>
                <a:stCxn id="74" idx="4"/>
                <a:endCxn id="76" idx="0"/>
              </p:cNvCxnSpPr>
              <p:nvPr/>
            </p:nvCxnSpPr>
            <p:spPr>
              <a:xfrm flipH="1">
                <a:off x="-132091" y="3533361"/>
                <a:ext cx="42206" cy="1630019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BAAAAFF1-1B6F-502F-3C12-C0947F002D01}"/>
                  </a:ext>
                </a:extLst>
              </p:cNvPr>
              <p:cNvCxnSpPr>
                <a:cxnSpLocks/>
                <a:stCxn id="77" idx="2"/>
                <a:endCxn id="76" idx="6"/>
              </p:cNvCxnSpPr>
              <p:nvPr/>
            </p:nvCxnSpPr>
            <p:spPr>
              <a:xfrm flipH="1">
                <a:off x="124543" y="5391811"/>
                <a:ext cx="1806490" cy="2820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B2F468B2-2AA2-16F2-91D4-FBD14E916986}"/>
                  </a:ext>
                </a:extLst>
              </p:cNvPr>
              <p:cNvCxnSpPr>
                <a:cxnSpLocks/>
                <a:stCxn id="75" idx="3"/>
                <a:endCxn id="76" idx="7"/>
              </p:cNvCxnSpPr>
              <p:nvPr/>
            </p:nvCxnSpPr>
            <p:spPr>
              <a:xfrm flipH="1">
                <a:off x="49377" y="3458195"/>
                <a:ext cx="1956808" cy="178035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FFBBC902-CBD4-4CB0-72AA-AE5F4733DCCB}"/>
                  </a:ext>
                </a:extLst>
              </p:cNvPr>
              <p:cNvSpPr/>
              <p:nvPr/>
            </p:nvSpPr>
            <p:spPr>
              <a:xfrm>
                <a:off x="-346519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D4FC3465-BB6F-A32D-08ED-ABA63E4E3C5C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32A27BB-C4B2-C204-190D-230D1EDFACFD}"/>
                  </a:ext>
                </a:extLst>
              </p:cNvPr>
              <p:cNvSpPr/>
              <p:nvPr/>
            </p:nvSpPr>
            <p:spPr>
              <a:xfrm>
                <a:off x="-388725" y="516338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DC3F8BBE-8F1A-CB36-09BD-AAC71BEE1AFE}"/>
                  </a:ext>
                </a:extLst>
              </p:cNvPr>
              <p:cNvSpPr/>
              <p:nvPr/>
            </p:nvSpPr>
            <p:spPr>
              <a:xfrm>
                <a:off x="1931034" y="5135177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</p:grp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943D3B1D-6E15-D403-70FD-A1D85F4CE5E3}"/>
                </a:ext>
              </a:extLst>
            </p:cNvPr>
            <p:cNvCxnSpPr>
              <a:cxnSpLocks/>
              <a:stCxn id="74" idx="5"/>
              <a:endCxn id="77" idx="1"/>
            </p:cNvCxnSpPr>
            <p:nvPr/>
          </p:nvCxnSpPr>
          <p:spPr>
            <a:xfrm>
              <a:off x="8903867" y="4151842"/>
              <a:ext cx="1169029" cy="1069829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EDEF3C5F-5BD2-C41A-AD2D-7FDA50A70D73}"/>
              </a:ext>
            </a:extLst>
          </p:cNvPr>
          <p:cNvSpPr txBox="1"/>
          <p:nvPr/>
        </p:nvSpPr>
        <p:spPr>
          <a:xfrm>
            <a:off x="7293345" y="5015796"/>
            <a:ext cx="30088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Complete Directed Non-simple Graph</a:t>
            </a: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32359349-EE97-3770-8BAC-38168D0EF38B}"/>
              </a:ext>
            </a:extLst>
          </p:cNvPr>
          <p:cNvGrpSpPr/>
          <p:nvPr/>
        </p:nvGrpSpPr>
        <p:grpSpPr>
          <a:xfrm>
            <a:off x="7932896" y="3188940"/>
            <a:ext cx="1729793" cy="1622043"/>
            <a:chOff x="7333856" y="3206160"/>
            <a:chExt cx="1729793" cy="1622043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FA94A04F-CBDC-2DFF-3B03-A6FD1C79CAF6}"/>
                </a:ext>
              </a:extLst>
            </p:cNvPr>
            <p:cNvGrpSpPr/>
            <p:nvPr/>
          </p:nvGrpSpPr>
          <p:grpSpPr>
            <a:xfrm>
              <a:off x="7333856" y="3206160"/>
              <a:ext cx="1729793" cy="1622043"/>
              <a:chOff x="8610600" y="3884345"/>
              <a:chExt cx="1729793" cy="1622043"/>
            </a:xfrm>
          </p:grpSpPr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CE6C9A5B-FF03-AA04-A4AE-24D89402B256}"/>
                  </a:ext>
                </a:extLst>
              </p:cNvPr>
              <p:cNvGrpSpPr/>
              <p:nvPr/>
            </p:nvGrpSpPr>
            <p:grpSpPr>
              <a:xfrm>
                <a:off x="8610600" y="3884345"/>
                <a:ext cx="1729793" cy="1622043"/>
                <a:chOff x="-388725" y="3020093"/>
                <a:chExt cx="2833027" cy="2656555"/>
              </a:xfrm>
            </p:grpSpPr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10B5200E-1448-31F4-AA7A-88645C9AD2BD}"/>
                    </a:ext>
                  </a:extLst>
                </p:cNvPr>
                <p:cNvCxnSpPr>
                  <a:cxnSpLocks/>
                  <a:stCxn id="102" idx="6"/>
                  <a:endCxn id="103" idx="2"/>
                </p:cNvCxnSpPr>
                <p:nvPr/>
              </p:nvCxnSpPr>
              <p:spPr>
                <a:xfrm>
                  <a:off x="166749" y="3276727"/>
                  <a:ext cx="1764268" cy="0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D0C0BF86-1F58-EDBC-66CF-FE1283DDCE59}"/>
                    </a:ext>
                  </a:extLst>
                </p:cNvPr>
                <p:cNvCxnSpPr>
                  <a:cxnSpLocks/>
                  <a:stCxn id="103" idx="4"/>
                  <a:endCxn id="105" idx="0"/>
                </p:cNvCxnSpPr>
                <p:nvPr/>
              </p:nvCxnSpPr>
              <p:spPr>
                <a:xfrm>
                  <a:off x="2187651" y="3533361"/>
                  <a:ext cx="16" cy="1601816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8EDC5ECE-C857-8E84-F3DE-369A603DE929}"/>
                    </a:ext>
                  </a:extLst>
                </p:cNvPr>
                <p:cNvCxnSpPr>
                  <a:cxnSpLocks/>
                  <a:stCxn id="102" idx="4"/>
                  <a:endCxn id="104" idx="0"/>
                </p:cNvCxnSpPr>
                <p:nvPr/>
              </p:nvCxnSpPr>
              <p:spPr>
                <a:xfrm flipH="1">
                  <a:off x="-132091" y="3533361"/>
                  <a:ext cx="42206" cy="1630019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CE939F5E-DEAF-A9A8-7B5D-E05002EB01D4}"/>
                    </a:ext>
                  </a:extLst>
                </p:cNvPr>
                <p:cNvCxnSpPr>
                  <a:cxnSpLocks/>
                  <a:stCxn id="105" idx="2"/>
                  <a:endCxn id="104" idx="6"/>
                </p:cNvCxnSpPr>
                <p:nvPr/>
              </p:nvCxnSpPr>
              <p:spPr>
                <a:xfrm flipH="1">
                  <a:off x="124543" y="5391811"/>
                  <a:ext cx="1806490" cy="28203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214D2943-F575-CC14-FDFC-39D72AABD608}"/>
                    </a:ext>
                  </a:extLst>
                </p:cNvPr>
                <p:cNvCxnSpPr>
                  <a:cxnSpLocks/>
                  <a:stCxn id="103" idx="3"/>
                  <a:endCxn id="104" idx="7"/>
                </p:cNvCxnSpPr>
                <p:nvPr/>
              </p:nvCxnSpPr>
              <p:spPr>
                <a:xfrm flipH="1">
                  <a:off x="49377" y="3458195"/>
                  <a:ext cx="1956808" cy="1780351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B21E3DC6-38B7-146E-1A6C-437B5A9E20EA}"/>
                    </a:ext>
                  </a:extLst>
                </p:cNvPr>
                <p:cNvSpPr/>
                <p:nvPr/>
              </p:nvSpPr>
              <p:spPr>
                <a:xfrm>
                  <a:off x="-346519" y="3020093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1</a:t>
                  </a:r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4ED45FA7-5323-F739-FF16-46247FADD7CB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2</a:t>
                  </a:r>
                </a:p>
              </p:txBody>
            </p:sp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57E6E620-E580-606F-5183-439E2E75E879}"/>
                    </a:ext>
                  </a:extLst>
                </p:cNvPr>
                <p:cNvSpPr/>
                <p:nvPr/>
              </p:nvSpPr>
              <p:spPr>
                <a:xfrm>
                  <a:off x="-388725" y="5163380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3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299B76C7-479F-7E2A-8439-49539F65348C}"/>
                    </a:ext>
                  </a:extLst>
                </p:cNvPr>
                <p:cNvSpPr/>
                <p:nvPr/>
              </p:nvSpPr>
              <p:spPr>
                <a:xfrm>
                  <a:off x="1931034" y="5135177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4</a:t>
                  </a:r>
                </a:p>
              </p:txBody>
            </p:sp>
          </p:grp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E849EE9E-1689-9D70-42AC-4990CC1047BC}"/>
                  </a:ext>
                </a:extLst>
              </p:cNvPr>
              <p:cNvCxnSpPr>
                <a:cxnSpLocks/>
                <a:stCxn id="102" idx="5"/>
                <a:endCxn id="105" idx="1"/>
              </p:cNvCxnSpPr>
              <p:nvPr/>
            </p:nvCxnSpPr>
            <p:spPr>
              <a:xfrm>
                <a:off x="8903867" y="4151842"/>
                <a:ext cx="1169029" cy="1069829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9" name="Connector: Curved 108">
              <a:extLst>
                <a:ext uri="{FF2B5EF4-FFF2-40B4-BE49-F238E27FC236}">
                  <a16:creationId xmlns:a16="http://schemas.microsoft.com/office/drawing/2014/main" id="{EAB280D5-8B38-1A02-1A1E-6AAFBCBDFF3C}"/>
                </a:ext>
              </a:extLst>
            </p:cNvPr>
            <p:cNvCxnSpPr>
              <a:cxnSpLocks/>
              <a:stCxn id="102" idx="2"/>
              <a:endCxn id="102" idx="0"/>
            </p:cNvCxnSpPr>
            <p:nvPr/>
          </p:nvCxnSpPr>
          <p:spPr>
            <a:xfrm rot="10800000" flipH="1">
              <a:off x="7359626" y="3206160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or: Curved 112">
              <a:extLst>
                <a:ext uri="{FF2B5EF4-FFF2-40B4-BE49-F238E27FC236}">
                  <a16:creationId xmlns:a16="http://schemas.microsoft.com/office/drawing/2014/main" id="{EC8AAE19-B417-E8DA-AF16-7D2A38B228B3}"/>
                </a:ext>
              </a:extLst>
            </p:cNvPr>
            <p:cNvCxnSpPr>
              <a:cxnSpLocks/>
              <a:stCxn id="103" idx="6"/>
              <a:endCxn id="103" idx="0"/>
            </p:cNvCxnSpPr>
            <p:nvPr/>
          </p:nvCxnSpPr>
          <p:spPr>
            <a:xfrm flipH="1" flipV="1">
              <a:off x="8906943" y="3206160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or: Curved 115">
              <a:extLst>
                <a:ext uri="{FF2B5EF4-FFF2-40B4-BE49-F238E27FC236}">
                  <a16:creationId xmlns:a16="http://schemas.microsoft.com/office/drawing/2014/main" id="{DEDD00C3-0088-64FE-A5C8-A608B44F7253}"/>
                </a:ext>
              </a:extLst>
            </p:cNvPr>
            <p:cNvCxnSpPr>
              <a:cxnSpLocks/>
              <a:stCxn id="105" idx="6"/>
              <a:endCxn id="105" idx="4"/>
            </p:cNvCxnSpPr>
            <p:nvPr/>
          </p:nvCxnSpPr>
          <p:spPr>
            <a:xfrm flipH="1">
              <a:off x="8906953" y="4654287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or: Curved 118">
              <a:extLst>
                <a:ext uri="{FF2B5EF4-FFF2-40B4-BE49-F238E27FC236}">
                  <a16:creationId xmlns:a16="http://schemas.microsoft.com/office/drawing/2014/main" id="{81CBC10A-9968-CBFF-40CB-013C222F0918}"/>
                </a:ext>
              </a:extLst>
            </p:cNvPr>
            <p:cNvCxnSpPr>
              <a:cxnSpLocks/>
              <a:stCxn id="104" idx="4"/>
              <a:endCxn id="104" idx="2"/>
            </p:cNvCxnSpPr>
            <p:nvPr/>
          </p:nvCxnSpPr>
          <p:spPr>
            <a:xfrm rot="5400000" flipH="1">
              <a:off x="7333856" y="4671507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68699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19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1524000" y="1687612"/>
            <a:ext cx="4600060" cy="2787240"/>
            <a:chOff x="0" y="2862182"/>
            <a:chExt cx="7044346" cy="4268266"/>
          </a:xfrm>
        </p:grpSpPr>
        <p:cxnSp>
          <p:nvCxnSpPr>
            <p:cNvPr id="6" name="Straight Connector 5"/>
            <p:cNvCxnSpPr>
              <a:stCxn id="34" idx="7"/>
              <a:endCxn id="35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>
              <a:stCxn id="35" idx="6"/>
              <a:endCxn id="38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>
              <a:stCxn id="34" idx="4"/>
              <a:endCxn id="36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>
              <a:stCxn id="37" idx="3"/>
              <a:endCxn id="36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>
              <a:stCxn id="39" idx="2"/>
              <a:endCxn id="36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>
              <a:stCxn id="37" idx="5"/>
              <a:endCxn id="39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>
              <a:stCxn id="37" idx="7"/>
              <a:endCxn id="38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39" idx="6"/>
              <a:endCxn id="40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>
              <a:stCxn id="40" idx="1"/>
              <a:endCxn id="38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42" idx="2"/>
              <a:endCxn id="38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40" idx="0"/>
              <a:endCxn id="42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41" idx="1"/>
              <a:endCxn id="42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>
              <a:stCxn id="41" idx="3"/>
              <a:endCxn id="40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767228" y="3195081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095562" y="4099030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2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895875" y="6564868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6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47348" y="5905158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11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255801" y="4595356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19679" y="4462779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582463" y="3299181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058462" y="5546336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064048" y="3778529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7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051034" y="5224258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885966" y="6404395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830979" y="2862182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56634" y="5096526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12</a:t>
              </a:r>
            </a:p>
          </p:txBody>
        </p:sp>
        <p:cxnSp>
          <p:nvCxnSpPr>
            <p:cNvPr id="32" name="Straight Connector 31"/>
            <p:cNvCxnSpPr>
              <a:stCxn id="35" idx="4"/>
              <a:endCxn id="36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/>
            <p:cNvSpPr txBox="1"/>
            <p:nvPr/>
          </p:nvSpPr>
          <p:spPr>
            <a:xfrm>
              <a:off x="1414258" y="4262423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34" name="Oval 33"/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</a:t>
              </a:r>
            </a:p>
          </p:txBody>
        </p:sp>
        <p:sp>
          <p:nvSpPr>
            <p:cNvPr id="38" name="Oval 37"/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</a:t>
              </a:r>
            </a:p>
          </p:txBody>
        </p:sp>
        <p:sp>
          <p:nvSpPr>
            <p:cNvPr id="42" name="Oval 41"/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4818101" y="1135560"/>
                <a:ext cx="5492466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 </a:t>
                </a:r>
                <a:r>
                  <a:rPr lang="en-US" sz="2800" dirty="0">
                    <a:solidFill>
                      <a:srgbClr val="7030A0"/>
                    </a:solidFill>
                  </a:rPr>
                  <a:t>sequence of nodes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,…,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𝑘</m:t>
                        </m:r>
                      </m:sub>
                    </m:sSub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rgbClr val="7030A0"/>
                    </a:solidFill>
                  </a:rPr>
                  <a:t> </a:t>
                </a:r>
                <a:endParaRPr lang="en-US" sz="2800" dirty="0"/>
              </a:p>
              <a:p>
                <a:r>
                  <a:rPr lang="en-US" sz="2800" dirty="0" err="1"/>
                  <a:t>s.t.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∀1≤</m:t>
                    </m:r>
                    <m:r>
                      <a:rPr lang="en-US" sz="2800" i="1">
                        <a:latin typeface="Cambria Math"/>
                      </a:rPr>
                      <m:t>𝑖</m:t>
                    </m:r>
                    <m:r>
                      <a:rPr lang="en-US" sz="2800" i="1">
                        <a:latin typeface="Cambria Math"/>
                      </a:rPr>
                      <m:t>≤</m:t>
                    </m:r>
                    <m:r>
                      <a:rPr lang="en-US" sz="2800" i="1">
                        <a:latin typeface="Cambria Math"/>
                      </a:rPr>
                      <m:t>𝑘</m:t>
                    </m:r>
                    <m:r>
                      <a:rPr lang="en-US" sz="2800" i="1"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𝑖</m:t>
                            </m:r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sz="2800" i="1">
                        <a:solidFill>
                          <a:srgbClr val="FF0000"/>
                        </a:solidFill>
                        <a:latin typeface="Cambria Math"/>
                      </a:rPr>
                      <m:t>∈</m:t>
                    </m:r>
                    <m:r>
                      <a:rPr lang="en-US" sz="28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</m:oMath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8101" y="1135560"/>
                <a:ext cx="5492466" cy="954107"/>
              </a:xfrm>
              <a:prstGeom prst="rect">
                <a:avLst/>
              </a:prstGeom>
              <a:blipFill>
                <a:blip r:embed="rId2"/>
                <a:stretch>
                  <a:fillRect l="-2074" t="-5195" b="-15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/>
          <p:cNvSpPr txBox="1"/>
          <p:nvPr/>
        </p:nvSpPr>
        <p:spPr>
          <a:xfrm>
            <a:off x="1783389" y="4800601"/>
            <a:ext cx="41083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u="sng" dirty="0"/>
              <a:t>Simple Path:</a:t>
            </a:r>
          </a:p>
          <a:p>
            <a:r>
              <a:rPr lang="en-US" sz="2800" dirty="0"/>
              <a:t>A path in which each node appears at most once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559680" y="4800600"/>
            <a:ext cx="41083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u="sng" dirty="0"/>
              <a:t>Cycle:</a:t>
            </a:r>
          </a:p>
          <a:p>
            <a:r>
              <a:rPr lang="en-US" sz="2800" dirty="0"/>
              <a:t>A path which starts and ends in the same place</a:t>
            </a:r>
          </a:p>
        </p:txBody>
      </p:sp>
    </p:spTree>
    <p:extLst>
      <p:ext uri="{BB962C8B-B14F-4D97-AF65-F5344CB8AC3E}">
        <p14:creationId xmlns:p14="http://schemas.microsoft.com/office/powerpoint/2010/main" val="10549820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(Strongly) Connected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 path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blipFill>
                <a:blip r:embed="rId2"/>
                <a:stretch>
                  <a:fillRect l="-1855" t="-6579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1BF1141-E287-AF7C-AFF5-2F8E9B62CA1A}"/>
              </a:ext>
            </a:extLst>
          </p:cNvPr>
          <p:cNvGrpSpPr/>
          <p:nvPr/>
        </p:nvGrpSpPr>
        <p:grpSpPr>
          <a:xfrm>
            <a:off x="7066996" y="2971845"/>
            <a:ext cx="4385159" cy="2420607"/>
            <a:chOff x="1524000" y="2625729"/>
            <a:chExt cx="7044346" cy="388847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E66EC6-58BA-8B7F-F97E-CEC5873CDDC7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9AFC12B-39C3-99AC-053B-CE2CCA14BA75}"/>
                  </a:ext>
                </a:extLst>
              </p:cNvPr>
              <p:cNvCxnSpPr>
                <a:stCxn id="22" idx="7"/>
                <a:endCxn id="23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0AF04E6-0506-14DD-C1B8-061A0C100FEC}"/>
                  </a:ext>
                </a:extLst>
              </p:cNvPr>
              <p:cNvCxnSpPr>
                <a:stCxn id="23" idx="6"/>
                <a:endCxn id="26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E6AEB8A-3153-8E0D-0156-6F98D5335F49}"/>
                  </a:ext>
                </a:extLst>
              </p:cNvPr>
              <p:cNvCxnSpPr>
                <a:stCxn id="22" idx="4"/>
                <a:endCxn id="24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D5F06FF-1FBB-51C9-D087-2A0EB822B04D}"/>
                  </a:ext>
                </a:extLst>
              </p:cNvPr>
              <p:cNvCxnSpPr>
                <a:stCxn id="25" idx="3"/>
                <a:endCxn id="24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5098F52-2824-8AA8-3922-992FB49EB3E5}"/>
                  </a:ext>
                </a:extLst>
              </p:cNvPr>
              <p:cNvCxnSpPr>
                <a:stCxn id="27" idx="2"/>
                <a:endCxn id="24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A475DF4-532D-38A5-63C3-9BA7C3D6939C}"/>
                  </a:ext>
                </a:extLst>
              </p:cNvPr>
              <p:cNvCxnSpPr>
                <a:stCxn id="25" idx="5"/>
                <a:endCxn id="27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564BD50-F8D5-5D5A-95EF-5568D430D039}"/>
                  </a:ext>
                </a:extLst>
              </p:cNvPr>
              <p:cNvCxnSpPr>
                <a:stCxn id="25" idx="7"/>
                <a:endCxn id="26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7C31DA-8F2A-8F23-C636-D1342B4A7DF4}"/>
                  </a:ext>
                </a:extLst>
              </p:cNvPr>
              <p:cNvCxnSpPr>
                <a:stCxn id="27" idx="6"/>
                <a:endCxn id="28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EEA4FB5-ABAC-FB0F-FE78-8BE2B901BF66}"/>
                  </a:ext>
                </a:extLst>
              </p:cNvPr>
              <p:cNvCxnSpPr>
                <a:stCxn id="28" idx="1"/>
                <a:endCxn id="26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05BF0B6-60ED-3C2A-9FB3-DC753FC6FAA6}"/>
                  </a:ext>
                </a:extLst>
              </p:cNvPr>
              <p:cNvCxnSpPr>
                <a:stCxn id="30" idx="2"/>
                <a:endCxn id="26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9746BAB-BB1E-C2B2-520A-A86FCCB55CE7}"/>
                  </a:ext>
                </a:extLst>
              </p:cNvPr>
              <p:cNvCxnSpPr>
                <a:stCxn id="28" idx="0"/>
                <a:endCxn id="30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4AC7CFD-ECC5-6018-3782-7B088AECD37C}"/>
                  </a:ext>
                </a:extLst>
              </p:cNvPr>
              <p:cNvCxnSpPr>
                <a:stCxn id="29" idx="1"/>
                <a:endCxn id="30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9AEBB05-4F00-801A-D566-A93053A1D101}"/>
                  </a:ext>
                </a:extLst>
              </p:cNvPr>
              <p:cNvCxnSpPr>
                <a:stCxn id="29" idx="3"/>
                <a:endCxn id="28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EFB02D6-9344-FD5B-8B88-9AC79699BFFE}"/>
                  </a:ext>
                </a:extLst>
              </p:cNvPr>
              <p:cNvCxnSpPr>
                <a:stCxn id="23" idx="4"/>
                <a:endCxn id="24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DAE3905-1B05-6124-AB53-61458D9EB977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C3D966A-9151-52E6-017F-2694581BB748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2A45554-D79D-45C9-7301-93F33FFEF2CB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0BF1C4A5-87DC-6397-F7B4-E8B6A5363133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E2669F6-C388-5DB3-8B7C-276BF872A7B8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E4EA7AE-E274-5D22-6F89-0AB74F01887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ADFF9D3-A17E-83D3-E0AB-24C0F47B6A0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057FAA4-BCDD-0947-760F-FCDFF8FAB60B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9D5AA22-30A7-9811-FE6C-6EDEA48BC1E3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F2B64D-2DF1-BB32-71E0-C22A56E4E2ED}"/>
                </a:ext>
              </a:extLst>
            </p:cNvPr>
            <p:cNvCxnSpPr>
              <a:cxnSpLocks/>
              <a:stCxn id="28" idx="7"/>
              <a:endCxn id="30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CE29F38-5950-0CEC-28BD-9BE87A22D3DB}"/>
                </a:ext>
              </a:extLst>
            </p:cNvPr>
            <p:cNvCxnSpPr>
              <a:cxnSpLocks/>
              <a:stCxn id="27" idx="3"/>
              <a:endCxn id="24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737F504-B85A-1520-E7F4-8989BE84231C}"/>
              </a:ext>
            </a:extLst>
          </p:cNvPr>
          <p:cNvGrpSpPr/>
          <p:nvPr/>
        </p:nvGrpSpPr>
        <p:grpSpPr>
          <a:xfrm>
            <a:off x="1616182" y="3116577"/>
            <a:ext cx="4301146" cy="2374232"/>
            <a:chOff x="0" y="3020093"/>
            <a:chExt cx="7044346" cy="3888478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E1BD8B7-4CC3-76C2-B59D-BB8E9AB4F6AB}"/>
                </a:ext>
              </a:extLst>
            </p:cNvPr>
            <p:cNvCxnSpPr>
              <a:stCxn id="85" idx="7"/>
              <a:endCxn id="86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0A5863F-100D-A240-865D-33C97E04E063}"/>
                </a:ext>
              </a:extLst>
            </p:cNvPr>
            <p:cNvCxnSpPr>
              <a:stCxn id="86" idx="6"/>
              <a:endCxn id="89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CEE1F91-DED4-E4D4-2B84-54D4FDE1057A}"/>
                </a:ext>
              </a:extLst>
            </p:cNvPr>
            <p:cNvCxnSpPr>
              <a:stCxn id="85" idx="4"/>
              <a:endCxn id="87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9DFEBBBC-BC80-BAFB-02A9-944572FA7FA8}"/>
                </a:ext>
              </a:extLst>
            </p:cNvPr>
            <p:cNvCxnSpPr>
              <a:stCxn id="88" idx="3"/>
              <a:endCxn id="87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4ECCA56-B715-95D0-83A6-60AF5A7297FF}"/>
                </a:ext>
              </a:extLst>
            </p:cNvPr>
            <p:cNvCxnSpPr>
              <a:stCxn id="90" idx="2"/>
              <a:endCxn id="87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2590685-BC32-4A6F-5A37-D6428C971D84}"/>
                </a:ext>
              </a:extLst>
            </p:cNvPr>
            <p:cNvCxnSpPr>
              <a:stCxn id="88" idx="5"/>
              <a:endCxn id="9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22BE66F-CBDB-9CEF-9F06-ADB5F68BD1CB}"/>
                </a:ext>
              </a:extLst>
            </p:cNvPr>
            <p:cNvCxnSpPr>
              <a:stCxn id="88" idx="7"/>
              <a:endCxn id="89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ED1E064-189B-F03C-1A06-B7A4627BCB55}"/>
                </a:ext>
              </a:extLst>
            </p:cNvPr>
            <p:cNvCxnSpPr>
              <a:stCxn id="90" idx="6"/>
              <a:endCxn id="9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8FDEE05-0F64-09AD-162E-CEBA1DE2EEA0}"/>
                </a:ext>
              </a:extLst>
            </p:cNvPr>
            <p:cNvCxnSpPr>
              <a:stCxn id="91" idx="1"/>
              <a:endCxn id="89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0AC6570-6D5A-48F4-4C13-5FEA4B295FA6}"/>
                </a:ext>
              </a:extLst>
            </p:cNvPr>
            <p:cNvCxnSpPr>
              <a:stCxn id="93" idx="2"/>
              <a:endCxn id="89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A429117-4959-566E-2650-71AFD0E1BBAA}"/>
                </a:ext>
              </a:extLst>
            </p:cNvPr>
            <p:cNvCxnSpPr>
              <a:stCxn id="91" idx="0"/>
              <a:endCxn id="93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2EDC6FD-F830-449D-BEA8-3A01CC00C88D}"/>
                </a:ext>
              </a:extLst>
            </p:cNvPr>
            <p:cNvCxnSpPr>
              <a:stCxn id="92" idx="1"/>
              <a:endCxn id="93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325B0E-E771-8B2A-813B-1C9C414A2711}"/>
                </a:ext>
              </a:extLst>
            </p:cNvPr>
            <p:cNvCxnSpPr>
              <a:stCxn id="92" idx="3"/>
              <a:endCxn id="9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75438BD-A475-6206-0EF0-890B3A937474}"/>
                </a:ext>
              </a:extLst>
            </p:cNvPr>
            <p:cNvCxnSpPr>
              <a:stCxn id="86" idx="4"/>
              <a:endCxn id="87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433C72C6-1468-0C1C-DAFA-E75622DA098E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C6235E6-E60A-062C-E312-5D5F0758C46F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266721D1-8A4C-2F76-CAA9-FEE941202C62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A11DC63D-5D3B-50C2-0184-D0A5C0983F41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A85C5B94-C7C8-EF44-98C4-BE12B03F5982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2B540B4-CB17-9AE6-4BB0-4C37019F579D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33EC8594-8ABF-2A8A-5F6C-A051BCCEB0DB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4BEDAF14-D53E-75A5-E285-6B0F2B4BACC2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A3638133-CC72-9171-3757-AEDA085786C7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7997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(Strongly) Connected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 path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blipFill>
                <a:blip r:embed="rId2"/>
                <a:stretch>
                  <a:fillRect l="-1855" t="-6579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1BF1141-E287-AF7C-AFF5-2F8E9B62CA1A}"/>
              </a:ext>
            </a:extLst>
          </p:cNvPr>
          <p:cNvGrpSpPr/>
          <p:nvPr/>
        </p:nvGrpSpPr>
        <p:grpSpPr>
          <a:xfrm>
            <a:off x="7066996" y="2971845"/>
            <a:ext cx="4385159" cy="2420607"/>
            <a:chOff x="1524000" y="2625729"/>
            <a:chExt cx="7044346" cy="388847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E66EC6-58BA-8B7F-F97E-CEC5873CDDC7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9AFC12B-39C3-99AC-053B-CE2CCA14BA75}"/>
                  </a:ext>
                </a:extLst>
              </p:cNvPr>
              <p:cNvCxnSpPr>
                <a:stCxn id="22" idx="7"/>
                <a:endCxn id="23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0AF04E6-0506-14DD-C1B8-061A0C100FEC}"/>
                  </a:ext>
                </a:extLst>
              </p:cNvPr>
              <p:cNvCxnSpPr>
                <a:stCxn id="23" idx="6"/>
                <a:endCxn id="26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E6AEB8A-3153-8E0D-0156-6F98D5335F49}"/>
                  </a:ext>
                </a:extLst>
              </p:cNvPr>
              <p:cNvCxnSpPr>
                <a:stCxn id="22" idx="4"/>
                <a:endCxn id="24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D5F06FF-1FBB-51C9-D087-2A0EB822B04D}"/>
                  </a:ext>
                </a:extLst>
              </p:cNvPr>
              <p:cNvCxnSpPr>
                <a:stCxn id="25" idx="3"/>
                <a:endCxn id="24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5098F52-2824-8AA8-3922-992FB49EB3E5}"/>
                  </a:ext>
                </a:extLst>
              </p:cNvPr>
              <p:cNvCxnSpPr>
                <a:stCxn id="27" idx="2"/>
                <a:endCxn id="24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A475DF4-532D-38A5-63C3-9BA7C3D6939C}"/>
                  </a:ext>
                </a:extLst>
              </p:cNvPr>
              <p:cNvCxnSpPr>
                <a:stCxn id="25" idx="5"/>
                <a:endCxn id="27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564BD50-F8D5-5D5A-95EF-5568D430D039}"/>
                  </a:ext>
                </a:extLst>
              </p:cNvPr>
              <p:cNvCxnSpPr>
                <a:stCxn id="25" idx="7"/>
                <a:endCxn id="26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7C31DA-8F2A-8F23-C636-D1342B4A7DF4}"/>
                  </a:ext>
                </a:extLst>
              </p:cNvPr>
              <p:cNvCxnSpPr>
                <a:stCxn id="27" idx="6"/>
                <a:endCxn id="28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EEA4FB5-ABAC-FB0F-FE78-8BE2B901BF66}"/>
                  </a:ext>
                </a:extLst>
              </p:cNvPr>
              <p:cNvCxnSpPr>
                <a:stCxn id="28" idx="1"/>
                <a:endCxn id="26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05BF0B6-60ED-3C2A-9FB3-DC753FC6FAA6}"/>
                  </a:ext>
                </a:extLst>
              </p:cNvPr>
              <p:cNvCxnSpPr>
                <a:stCxn id="30" idx="2"/>
                <a:endCxn id="26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9746BAB-BB1E-C2B2-520A-A86FCCB55CE7}"/>
                  </a:ext>
                </a:extLst>
              </p:cNvPr>
              <p:cNvCxnSpPr>
                <a:stCxn id="28" idx="0"/>
                <a:endCxn id="30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4AC7CFD-ECC5-6018-3782-7B088AECD37C}"/>
                  </a:ext>
                </a:extLst>
              </p:cNvPr>
              <p:cNvCxnSpPr>
                <a:stCxn id="29" idx="1"/>
                <a:endCxn id="30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9AEBB05-4F00-801A-D566-A93053A1D101}"/>
                  </a:ext>
                </a:extLst>
              </p:cNvPr>
              <p:cNvCxnSpPr>
                <a:stCxn id="29" idx="3"/>
                <a:endCxn id="28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EFB02D6-9344-FD5B-8B88-9AC79699BFFE}"/>
                  </a:ext>
                </a:extLst>
              </p:cNvPr>
              <p:cNvCxnSpPr>
                <a:stCxn id="23" idx="4"/>
                <a:endCxn id="24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DAE3905-1B05-6124-AB53-61458D9EB977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C3D966A-9151-52E6-017F-2694581BB748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2A45554-D79D-45C9-7301-93F33FFEF2CB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0BF1C4A5-87DC-6397-F7B4-E8B6A5363133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E2669F6-C388-5DB3-8B7C-276BF872A7B8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E4EA7AE-E274-5D22-6F89-0AB74F01887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ADFF9D3-A17E-83D3-E0AB-24C0F47B6A0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057FAA4-BCDD-0947-760F-FCDFF8FAB60B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9D5AA22-30A7-9811-FE6C-6EDEA48BC1E3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F2B64D-2DF1-BB32-71E0-C22A56E4E2ED}"/>
                </a:ext>
              </a:extLst>
            </p:cNvPr>
            <p:cNvCxnSpPr>
              <a:cxnSpLocks/>
              <a:stCxn id="28" idx="7"/>
              <a:endCxn id="30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CE29F38-5950-0CEC-28BD-9BE87A22D3DB}"/>
                </a:ext>
              </a:extLst>
            </p:cNvPr>
            <p:cNvCxnSpPr>
              <a:cxnSpLocks/>
              <a:stCxn id="27" idx="3"/>
              <a:endCxn id="24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737F504-B85A-1520-E7F4-8989BE84231C}"/>
              </a:ext>
            </a:extLst>
          </p:cNvPr>
          <p:cNvGrpSpPr/>
          <p:nvPr/>
        </p:nvGrpSpPr>
        <p:grpSpPr>
          <a:xfrm>
            <a:off x="1616182" y="3116577"/>
            <a:ext cx="4301146" cy="2374232"/>
            <a:chOff x="0" y="3020093"/>
            <a:chExt cx="7044346" cy="3888478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E1BD8B7-4CC3-76C2-B59D-BB8E9AB4F6AB}"/>
                </a:ext>
              </a:extLst>
            </p:cNvPr>
            <p:cNvCxnSpPr>
              <a:stCxn id="85" idx="7"/>
              <a:endCxn id="86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0A5863F-100D-A240-865D-33C97E04E063}"/>
                </a:ext>
              </a:extLst>
            </p:cNvPr>
            <p:cNvCxnSpPr>
              <a:stCxn id="86" idx="6"/>
              <a:endCxn id="89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CEE1F91-DED4-E4D4-2B84-54D4FDE1057A}"/>
                </a:ext>
              </a:extLst>
            </p:cNvPr>
            <p:cNvCxnSpPr>
              <a:stCxn id="85" idx="4"/>
              <a:endCxn id="87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9DFEBBBC-BC80-BAFB-02A9-944572FA7FA8}"/>
                </a:ext>
              </a:extLst>
            </p:cNvPr>
            <p:cNvCxnSpPr>
              <a:stCxn id="88" idx="3"/>
              <a:endCxn id="87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4ECCA56-B715-95D0-83A6-60AF5A7297FF}"/>
                </a:ext>
              </a:extLst>
            </p:cNvPr>
            <p:cNvCxnSpPr>
              <a:stCxn id="90" idx="2"/>
              <a:endCxn id="87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2590685-BC32-4A6F-5A37-D6428C971D84}"/>
                </a:ext>
              </a:extLst>
            </p:cNvPr>
            <p:cNvCxnSpPr>
              <a:stCxn id="88" idx="5"/>
              <a:endCxn id="9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22BE66F-CBDB-9CEF-9F06-ADB5F68BD1CB}"/>
                </a:ext>
              </a:extLst>
            </p:cNvPr>
            <p:cNvCxnSpPr>
              <a:stCxn id="88" idx="7"/>
              <a:endCxn id="89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ED1E064-189B-F03C-1A06-B7A4627BCB55}"/>
                </a:ext>
              </a:extLst>
            </p:cNvPr>
            <p:cNvCxnSpPr>
              <a:stCxn id="90" idx="6"/>
              <a:endCxn id="9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8FDEE05-0F64-09AD-162E-CEBA1DE2EEA0}"/>
                </a:ext>
              </a:extLst>
            </p:cNvPr>
            <p:cNvCxnSpPr>
              <a:stCxn id="91" idx="1"/>
              <a:endCxn id="89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0AC6570-6D5A-48F4-4C13-5FEA4B295FA6}"/>
                </a:ext>
              </a:extLst>
            </p:cNvPr>
            <p:cNvCxnSpPr>
              <a:stCxn id="93" idx="2"/>
              <a:endCxn id="89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A429117-4959-566E-2650-71AFD0E1BBAA}"/>
                </a:ext>
              </a:extLst>
            </p:cNvPr>
            <p:cNvCxnSpPr>
              <a:stCxn id="91" idx="0"/>
              <a:endCxn id="93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2EDC6FD-F830-449D-BEA8-3A01CC00C88D}"/>
                </a:ext>
              </a:extLst>
            </p:cNvPr>
            <p:cNvCxnSpPr>
              <a:stCxn id="92" idx="1"/>
              <a:endCxn id="93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325B0E-E771-8B2A-813B-1C9C414A2711}"/>
                </a:ext>
              </a:extLst>
            </p:cNvPr>
            <p:cNvCxnSpPr>
              <a:stCxn id="92" idx="3"/>
              <a:endCxn id="9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75438BD-A475-6206-0EF0-890B3A937474}"/>
                </a:ext>
              </a:extLst>
            </p:cNvPr>
            <p:cNvCxnSpPr>
              <a:stCxn id="86" idx="4"/>
              <a:endCxn id="87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433C72C6-1468-0C1C-DAFA-E75622DA098E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C6235E6-E60A-062C-E312-5D5F0758C46F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266721D1-8A4C-2F76-CAA9-FEE941202C62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A11DC63D-5D3B-50C2-0184-D0A5C0983F41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A85C5B94-C7C8-EF44-98C4-BE12B03F5982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2B540B4-CB17-9AE6-4BB0-4C37019F579D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33EC8594-8ABF-2A8A-5F6C-A051BCCEB0DB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4BEDAF14-D53E-75A5-E285-6B0F2B4BACC2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A3638133-CC72-9171-3757-AEDA085786C7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E0F26B5-366A-711E-D723-7F1979D24DA8}"/>
              </a:ext>
            </a:extLst>
          </p:cNvPr>
          <p:cNvSpPr txBox="1"/>
          <p:nvPr/>
        </p:nvSpPr>
        <p:spPr>
          <a:xfrm>
            <a:off x="2548407" y="5745189"/>
            <a:ext cx="17565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Connected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BCCB78-25D1-DA64-D181-C086C657BD95}"/>
              </a:ext>
            </a:extLst>
          </p:cNvPr>
          <p:cNvSpPr txBox="1"/>
          <p:nvPr/>
        </p:nvSpPr>
        <p:spPr>
          <a:xfrm>
            <a:off x="7493777" y="5776040"/>
            <a:ext cx="38466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Not (strongly) Connected</a:t>
            </a:r>
          </a:p>
        </p:txBody>
      </p:sp>
    </p:spTree>
    <p:extLst>
      <p:ext uri="{BB962C8B-B14F-4D97-AF65-F5344CB8AC3E}">
        <p14:creationId xmlns:p14="http://schemas.microsoft.com/office/powerpoint/2010/main" val="21625329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Weakly Connected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 path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/>
                  <a:t> ignoring direction of edges</a:t>
                </a: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blipFill>
                <a:blip r:embed="rId2"/>
                <a:stretch>
                  <a:fillRect l="-1872" t="-4405" b="-1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1BF1141-E287-AF7C-AFF5-2F8E9B62CA1A}"/>
              </a:ext>
            </a:extLst>
          </p:cNvPr>
          <p:cNvGrpSpPr/>
          <p:nvPr/>
        </p:nvGrpSpPr>
        <p:grpSpPr>
          <a:xfrm>
            <a:off x="1345045" y="3509073"/>
            <a:ext cx="4385159" cy="2420607"/>
            <a:chOff x="1524000" y="2625729"/>
            <a:chExt cx="7044346" cy="388847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E66EC6-58BA-8B7F-F97E-CEC5873CDDC7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9AFC12B-39C3-99AC-053B-CE2CCA14BA75}"/>
                  </a:ext>
                </a:extLst>
              </p:cNvPr>
              <p:cNvCxnSpPr>
                <a:stCxn id="22" idx="7"/>
                <a:endCxn id="23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0AF04E6-0506-14DD-C1B8-061A0C100FEC}"/>
                  </a:ext>
                </a:extLst>
              </p:cNvPr>
              <p:cNvCxnSpPr>
                <a:stCxn id="23" idx="6"/>
                <a:endCxn id="26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E6AEB8A-3153-8E0D-0156-6F98D5335F49}"/>
                  </a:ext>
                </a:extLst>
              </p:cNvPr>
              <p:cNvCxnSpPr>
                <a:stCxn id="22" idx="4"/>
                <a:endCxn id="24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D5F06FF-1FBB-51C9-D087-2A0EB822B04D}"/>
                  </a:ext>
                </a:extLst>
              </p:cNvPr>
              <p:cNvCxnSpPr>
                <a:stCxn id="25" idx="3"/>
                <a:endCxn id="24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5098F52-2824-8AA8-3922-992FB49EB3E5}"/>
                  </a:ext>
                </a:extLst>
              </p:cNvPr>
              <p:cNvCxnSpPr>
                <a:stCxn id="27" idx="2"/>
                <a:endCxn id="24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A475DF4-532D-38A5-63C3-9BA7C3D6939C}"/>
                  </a:ext>
                </a:extLst>
              </p:cNvPr>
              <p:cNvCxnSpPr>
                <a:stCxn id="25" idx="5"/>
                <a:endCxn id="27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564BD50-F8D5-5D5A-95EF-5568D430D039}"/>
                  </a:ext>
                </a:extLst>
              </p:cNvPr>
              <p:cNvCxnSpPr>
                <a:stCxn id="25" idx="7"/>
                <a:endCxn id="26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7C31DA-8F2A-8F23-C636-D1342B4A7DF4}"/>
                  </a:ext>
                </a:extLst>
              </p:cNvPr>
              <p:cNvCxnSpPr>
                <a:stCxn id="27" idx="6"/>
                <a:endCxn id="28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EEA4FB5-ABAC-FB0F-FE78-8BE2B901BF66}"/>
                  </a:ext>
                </a:extLst>
              </p:cNvPr>
              <p:cNvCxnSpPr>
                <a:stCxn id="28" idx="1"/>
                <a:endCxn id="26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05BF0B6-60ED-3C2A-9FB3-DC753FC6FAA6}"/>
                  </a:ext>
                </a:extLst>
              </p:cNvPr>
              <p:cNvCxnSpPr>
                <a:stCxn id="30" idx="2"/>
                <a:endCxn id="26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9746BAB-BB1E-C2B2-520A-A86FCCB55CE7}"/>
                  </a:ext>
                </a:extLst>
              </p:cNvPr>
              <p:cNvCxnSpPr>
                <a:stCxn id="28" idx="0"/>
                <a:endCxn id="30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4AC7CFD-ECC5-6018-3782-7B088AECD37C}"/>
                  </a:ext>
                </a:extLst>
              </p:cNvPr>
              <p:cNvCxnSpPr>
                <a:stCxn id="29" idx="1"/>
                <a:endCxn id="30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9AEBB05-4F00-801A-D566-A93053A1D101}"/>
                  </a:ext>
                </a:extLst>
              </p:cNvPr>
              <p:cNvCxnSpPr>
                <a:stCxn id="29" idx="3"/>
                <a:endCxn id="28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EFB02D6-9344-FD5B-8B88-9AC79699BFFE}"/>
                  </a:ext>
                </a:extLst>
              </p:cNvPr>
              <p:cNvCxnSpPr>
                <a:stCxn id="23" idx="4"/>
                <a:endCxn id="24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DAE3905-1B05-6124-AB53-61458D9EB977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C3D966A-9151-52E6-017F-2694581BB748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2A45554-D79D-45C9-7301-93F33FFEF2CB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0BF1C4A5-87DC-6397-F7B4-E8B6A5363133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E2669F6-C388-5DB3-8B7C-276BF872A7B8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E4EA7AE-E274-5D22-6F89-0AB74F01887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ADFF9D3-A17E-83D3-E0AB-24C0F47B6A0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057FAA4-BCDD-0947-760F-FCDFF8FAB60B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9D5AA22-30A7-9811-FE6C-6EDEA48BC1E3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F2B64D-2DF1-BB32-71E0-C22A56E4E2ED}"/>
                </a:ext>
              </a:extLst>
            </p:cNvPr>
            <p:cNvCxnSpPr>
              <a:cxnSpLocks/>
              <a:stCxn id="28" idx="7"/>
              <a:endCxn id="30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CE29F38-5950-0CEC-28BD-9BE87A22D3DB}"/>
                </a:ext>
              </a:extLst>
            </p:cNvPr>
            <p:cNvCxnSpPr>
              <a:cxnSpLocks/>
              <a:stCxn id="27" idx="3"/>
              <a:endCxn id="24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EE1BE191-9ADF-A0F9-9404-022D8FA417F2}"/>
              </a:ext>
            </a:extLst>
          </p:cNvPr>
          <p:cNvSpPr txBox="1"/>
          <p:nvPr/>
        </p:nvSpPr>
        <p:spPr>
          <a:xfrm>
            <a:off x="2038851" y="6080427"/>
            <a:ext cx="29007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Weakly Connected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84C5F6F-58DE-3FC1-BB80-93719F85BC73}"/>
              </a:ext>
            </a:extLst>
          </p:cNvPr>
          <p:cNvGrpSpPr/>
          <p:nvPr/>
        </p:nvGrpSpPr>
        <p:grpSpPr>
          <a:xfrm>
            <a:off x="6788205" y="3626901"/>
            <a:ext cx="4385159" cy="2420607"/>
            <a:chOff x="1524000" y="2625729"/>
            <a:chExt cx="7044346" cy="3888478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18CB4F3E-CB23-97A6-EFAF-F9BD45269D39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82DF5C0A-E8F2-69C9-D8DE-36C592DB1F35}"/>
                  </a:ext>
                </a:extLst>
              </p:cNvPr>
              <p:cNvCxnSpPr>
                <a:stCxn id="65" idx="7"/>
                <a:endCxn id="66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636BDB3A-6A37-BF11-EE32-6CDC3F572EC1}"/>
                  </a:ext>
                </a:extLst>
              </p:cNvPr>
              <p:cNvCxnSpPr>
                <a:stCxn id="66" idx="6"/>
                <a:endCxn id="69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00D29429-F6EA-7784-1BA6-CCC4A20D5296}"/>
                  </a:ext>
                </a:extLst>
              </p:cNvPr>
              <p:cNvCxnSpPr>
                <a:stCxn id="65" idx="4"/>
                <a:endCxn id="67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9F6D26E9-C424-E5E0-5828-DC247F0AE23F}"/>
                  </a:ext>
                </a:extLst>
              </p:cNvPr>
              <p:cNvCxnSpPr>
                <a:stCxn id="68" idx="5"/>
                <a:endCxn id="70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E300FF0-365B-494E-20E5-01CB17669309}"/>
                  </a:ext>
                </a:extLst>
              </p:cNvPr>
              <p:cNvCxnSpPr>
                <a:stCxn id="70" idx="6"/>
                <a:endCxn id="71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1B2ACCC7-4379-03F2-199D-6BA7A3ABBDB0}"/>
                  </a:ext>
                </a:extLst>
              </p:cNvPr>
              <p:cNvCxnSpPr>
                <a:stCxn id="71" idx="0"/>
                <a:endCxn id="73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5EFA6315-8521-AC29-8B30-A0CA8E3B459C}"/>
                  </a:ext>
                </a:extLst>
              </p:cNvPr>
              <p:cNvCxnSpPr>
                <a:stCxn id="72" idx="1"/>
                <a:endCxn id="73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5F159AA-0EEA-ADC5-8921-C9C56BA6C0DF}"/>
                  </a:ext>
                </a:extLst>
              </p:cNvPr>
              <p:cNvCxnSpPr>
                <a:stCxn id="72" idx="3"/>
                <a:endCxn id="71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67F9E7C5-BC15-996A-D145-12AEB7E95473}"/>
                  </a:ext>
                </a:extLst>
              </p:cNvPr>
              <p:cNvCxnSpPr>
                <a:stCxn id="66" idx="4"/>
                <a:endCxn id="67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7CF46F7D-3C0A-7812-5BC4-CD5BDEA859BB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941D961C-8CE3-DBC7-EE64-675C6FF1BF1B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64CF45A4-1E9B-24B3-185C-1ADC7D62BEFF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55B9325F-60F2-4882-622D-1D708738D72E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458B5D4-3984-6FCD-0CF4-D6AD24A19202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3C8E179C-59A4-27DB-665D-DC9BAB2B8C9B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00B9E416-A418-F46B-9E32-E1B19FA507AF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90DCD95A-6DC3-DEE9-8A08-6540DC6B46EA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BB8AC4A4-A928-9D1A-72E3-E11A496D8848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AEFFE30-A635-FC0A-A611-D53C6175AA53}"/>
                </a:ext>
              </a:extLst>
            </p:cNvPr>
            <p:cNvCxnSpPr>
              <a:cxnSpLocks/>
              <a:stCxn id="71" idx="7"/>
              <a:endCxn id="73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5CD567A0-55DE-E659-0F5F-1C52C0C2E415}"/>
              </a:ext>
            </a:extLst>
          </p:cNvPr>
          <p:cNvSpPr txBox="1"/>
          <p:nvPr/>
        </p:nvSpPr>
        <p:spPr>
          <a:xfrm>
            <a:off x="7482011" y="6198255"/>
            <a:ext cx="3524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Not Weakly Connected</a:t>
            </a:r>
          </a:p>
        </p:txBody>
      </p:sp>
    </p:spTree>
    <p:extLst>
      <p:ext uri="{BB962C8B-B14F-4D97-AF65-F5344CB8AC3E}">
        <p14:creationId xmlns:p14="http://schemas.microsoft.com/office/powerpoint/2010/main" val="29215616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F3AC3-3AA8-E27B-FB78-7759EBA9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Density, Data Structures, 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155EE9-7CE2-D431-734A-223076BAE2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The maximum number of edges in a graph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Undirected and simple: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|(|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|−1)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Directed and simple: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|(|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|−1)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Direct and non-simple (but no duplicates):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If the graph is connected, the minimum number of edges is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we say the graph is </a:t>
                </a:r>
                <a:r>
                  <a:rPr lang="en-US" b="1" dirty="0"/>
                  <a:t>dense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d>
                  </m:oMath>
                </a14:m>
                <a:r>
                  <a:rPr lang="en-US" dirty="0"/>
                  <a:t> we say the graph is </a:t>
                </a:r>
                <a:r>
                  <a:rPr lang="en-US" b="1" dirty="0"/>
                  <a:t>sparse</a:t>
                </a:r>
                <a:endParaRPr lang="en-US" dirty="0"/>
              </a:p>
              <a:p>
                <a:r>
                  <a:rPr lang="en-US" dirty="0"/>
                  <a:t>Because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is not always near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we do not typically substitute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in running times, but leave it as a separate variable</a:t>
                </a:r>
              </a:p>
              <a:p>
                <a:pPr lvl="1"/>
                <a:r>
                  <a:rPr lang="en-US" dirty="0"/>
                  <a:t>However,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155EE9-7CE2-D431-734A-223076BAE2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5748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is a tree if it is undirect, connected, and has no cycles (i.e. is acyclic).</a:t>
                </a:r>
              </a:p>
              <a:p>
                <a:r>
                  <a:rPr lang="en-US" sz="2800" dirty="0"/>
                  <a:t>Often one node is identified as the “root”</a:t>
                </a: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blipFill>
                <a:blip r:embed="rId2"/>
                <a:stretch>
                  <a:fillRect l="-1872" t="-4405" b="-1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TextBox 77">
            <a:extLst>
              <a:ext uri="{FF2B5EF4-FFF2-40B4-BE49-F238E27FC236}">
                <a16:creationId xmlns:a16="http://schemas.microsoft.com/office/drawing/2014/main" id="{CB26A4FB-1FF3-22E3-008F-C86C19A60FCA}"/>
              </a:ext>
            </a:extLst>
          </p:cNvPr>
          <p:cNvSpPr txBox="1"/>
          <p:nvPr/>
        </p:nvSpPr>
        <p:spPr>
          <a:xfrm>
            <a:off x="1347968" y="5626650"/>
            <a:ext cx="29083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 Tree</a:t>
            </a: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5759540-9AC3-0DDB-F03A-ACDE045114E3}"/>
              </a:ext>
            </a:extLst>
          </p:cNvPr>
          <p:cNvGrpSpPr/>
          <p:nvPr/>
        </p:nvGrpSpPr>
        <p:grpSpPr>
          <a:xfrm>
            <a:off x="222637" y="3116577"/>
            <a:ext cx="4301146" cy="2374232"/>
            <a:chOff x="0" y="3020093"/>
            <a:chExt cx="7044346" cy="3888478"/>
          </a:xfrm>
        </p:grpSpPr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579F93B-7403-10DF-E95E-AAEF3BA6A367}"/>
                </a:ext>
              </a:extLst>
            </p:cNvPr>
            <p:cNvCxnSpPr>
              <a:stCxn id="118" idx="7"/>
              <a:endCxn id="119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D78E9FC-207A-E53D-7517-EEF9FF99AAF2}"/>
                </a:ext>
              </a:extLst>
            </p:cNvPr>
            <p:cNvCxnSpPr>
              <a:stCxn id="118" idx="4"/>
              <a:endCxn id="120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486C4985-38E1-46D6-CB4D-A6A98BD9ED77}"/>
                </a:ext>
              </a:extLst>
            </p:cNvPr>
            <p:cNvCxnSpPr>
              <a:stCxn id="121" idx="3"/>
              <a:endCxn id="120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D22C930-0352-6899-1E98-8A3AA06731A6}"/>
                </a:ext>
              </a:extLst>
            </p:cNvPr>
            <p:cNvCxnSpPr>
              <a:stCxn id="121" idx="5"/>
              <a:endCxn id="123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26F78A95-92D3-3C83-2D08-884970B4C01A}"/>
                </a:ext>
              </a:extLst>
            </p:cNvPr>
            <p:cNvCxnSpPr>
              <a:stCxn id="121" idx="7"/>
              <a:endCxn id="122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129927E5-909C-C044-BEFF-60F1FEE460A4}"/>
                </a:ext>
              </a:extLst>
            </p:cNvPr>
            <p:cNvCxnSpPr>
              <a:stCxn id="126" idx="2"/>
              <a:endCxn id="122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5423522A-4F24-8A79-8AED-C46B27D17E35}"/>
                </a:ext>
              </a:extLst>
            </p:cNvPr>
            <p:cNvCxnSpPr>
              <a:stCxn id="124" idx="0"/>
              <a:endCxn id="126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E7937C5B-8522-FE68-C63F-72C9C051B3D7}"/>
                </a:ext>
              </a:extLst>
            </p:cNvPr>
            <p:cNvCxnSpPr>
              <a:stCxn id="125" idx="1"/>
              <a:endCxn id="126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6C4D89C-3C85-56BA-4BFC-56F1024D1EBA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49B2B4FA-C1C9-855B-2015-97144E4F2FAB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51D38388-C86D-1D9F-3601-C3BD0D65BAAE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4DB4CA7F-D981-B1C6-AD3C-CD1E9E7E4C56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78C583B9-6AFF-9308-7CA5-EB8DD9BA17F8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3057C619-BB2D-5ED4-80D6-6576D285508F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269B7C16-C0D7-3D0C-6AB3-4D7B9EBFF8B7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CC7ABB57-BAD7-A7C2-0130-69898A09FBD7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3C278552-0929-7F80-E4A2-BC45124A87DB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p:sp>
        <p:nvSpPr>
          <p:cNvPr id="127" name="TextBox 126">
            <a:extLst>
              <a:ext uri="{FF2B5EF4-FFF2-40B4-BE49-F238E27FC236}">
                <a16:creationId xmlns:a16="http://schemas.microsoft.com/office/drawing/2014/main" id="{56204DC0-5532-D2DD-0951-4ED40E184A8D}"/>
              </a:ext>
            </a:extLst>
          </p:cNvPr>
          <p:cNvSpPr txBox="1"/>
          <p:nvPr/>
        </p:nvSpPr>
        <p:spPr>
          <a:xfrm>
            <a:off x="7891433" y="6056177"/>
            <a:ext cx="29083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 Rooted Tree</a:t>
            </a:r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B85FD0C-A578-1C23-26A0-A573C8E06253}"/>
              </a:ext>
            </a:extLst>
          </p:cNvPr>
          <p:cNvGrpSpPr/>
          <p:nvPr/>
        </p:nvGrpSpPr>
        <p:grpSpPr>
          <a:xfrm>
            <a:off x="7972595" y="3069482"/>
            <a:ext cx="1931460" cy="2875894"/>
            <a:chOff x="1975975" y="3234315"/>
            <a:chExt cx="3163313" cy="4710092"/>
          </a:xfrm>
        </p:grpSpPr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50C46145-3AED-D952-D22E-5CD74086CFE4}"/>
                </a:ext>
              </a:extLst>
            </p:cNvPr>
            <p:cNvCxnSpPr>
              <a:cxnSpLocks/>
              <a:stCxn id="137" idx="4"/>
              <a:endCxn id="138" idx="0"/>
            </p:cNvCxnSpPr>
            <p:nvPr/>
          </p:nvCxnSpPr>
          <p:spPr>
            <a:xfrm flipH="1">
              <a:off x="2232609" y="6436506"/>
              <a:ext cx="18769" cy="70534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7FBDAA7A-E23D-7B4C-9341-DEC0ABC0901B}"/>
                </a:ext>
              </a:extLst>
            </p:cNvPr>
            <p:cNvCxnSpPr>
              <a:cxnSpLocks/>
              <a:stCxn id="137" idx="0"/>
              <a:endCxn id="139" idx="4"/>
            </p:cNvCxnSpPr>
            <p:nvPr/>
          </p:nvCxnSpPr>
          <p:spPr>
            <a:xfrm flipH="1" flipV="1">
              <a:off x="2242545" y="5375694"/>
              <a:ext cx="8833" cy="547544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3ABF3FBD-AAF8-E87C-0AE3-3C7987960345}"/>
                </a:ext>
              </a:extLst>
            </p:cNvPr>
            <p:cNvCxnSpPr>
              <a:cxnSpLocks/>
              <a:stCxn id="140" idx="3"/>
              <a:endCxn id="139" idx="7"/>
            </p:cNvCxnSpPr>
            <p:nvPr/>
          </p:nvCxnSpPr>
          <p:spPr>
            <a:xfrm flipH="1">
              <a:off x="2424013" y="3672417"/>
              <a:ext cx="533541" cy="1265175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53F4EC0-D1D9-B03F-5C30-B3D5412FCFB0}"/>
                </a:ext>
              </a:extLst>
            </p:cNvPr>
            <p:cNvCxnSpPr>
              <a:cxnSpLocks/>
              <a:stCxn id="140" idx="4"/>
              <a:endCxn id="142" idx="0"/>
            </p:cNvCxnSpPr>
            <p:nvPr/>
          </p:nvCxnSpPr>
          <p:spPr>
            <a:xfrm flipH="1">
              <a:off x="3113923" y="3747583"/>
              <a:ext cx="25099" cy="1221204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344D2C2C-BFA5-F796-EEBA-B1BE3FD52820}"/>
                </a:ext>
              </a:extLst>
            </p:cNvPr>
            <p:cNvCxnSpPr>
              <a:cxnSpLocks/>
              <a:stCxn id="140" idx="5"/>
              <a:endCxn id="141" idx="1"/>
            </p:cNvCxnSpPr>
            <p:nvPr/>
          </p:nvCxnSpPr>
          <p:spPr>
            <a:xfrm>
              <a:off x="3320490" y="3672417"/>
              <a:ext cx="478336" cy="1281176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C7B95E0A-9DDF-6B65-B8CC-4BA742F228DA}"/>
                </a:ext>
              </a:extLst>
            </p:cNvPr>
            <p:cNvCxnSpPr>
              <a:cxnSpLocks/>
              <a:stCxn id="145" idx="0"/>
              <a:endCxn id="141" idx="4"/>
            </p:cNvCxnSpPr>
            <p:nvPr/>
          </p:nvCxnSpPr>
          <p:spPr>
            <a:xfrm flipH="1" flipV="1">
              <a:off x="3980294" y="5391695"/>
              <a:ext cx="244352" cy="899002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3EB0404-14D3-1B52-3A0F-886A0478956C}"/>
                </a:ext>
              </a:extLst>
            </p:cNvPr>
            <p:cNvCxnSpPr>
              <a:stCxn id="143" idx="0"/>
              <a:endCxn id="145" idx="3"/>
            </p:cNvCxnSpPr>
            <p:nvPr/>
          </p:nvCxnSpPr>
          <p:spPr>
            <a:xfrm flipV="1">
              <a:off x="3816291" y="6728800"/>
              <a:ext cx="226887" cy="702339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C045A29-1865-0404-CBBC-2A9A656F44C8}"/>
                </a:ext>
              </a:extLst>
            </p:cNvPr>
            <p:cNvCxnSpPr>
              <a:cxnSpLocks/>
              <a:stCxn id="144" idx="0"/>
              <a:endCxn id="145" idx="5"/>
            </p:cNvCxnSpPr>
            <p:nvPr/>
          </p:nvCxnSpPr>
          <p:spPr>
            <a:xfrm flipH="1" flipV="1">
              <a:off x="4406115" y="6728800"/>
              <a:ext cx="476539" cy="60277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3DAB289-ACE3-40AF-161A-F60C3F5C8E6D}"/>
                </a:ext>
              </a:extLst>
            </p:cNvPr>
            <p:cNvSpPr/>
            <p:nvPr/>
          </p:nvSpPr>
          <p:spPr>
            <a:xfrm>
              <a:off x="1994744" y="5923238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DF763AAF-F20B-3CCC-54B3-571FE59D285C}"/>
                </a:ext>
              </a:extLst>
            </p:cNvPr>
            <p:cNvSpPr/>
            <p:nvPr/>
          </p:nvSpPr>
          <p:spPr>
            <a:xfrm>
              <a:off x="1975975" y="7141847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3AC2FA7B-BA61-4C22-2789-214F7D17EA4F}"/>
                </a:ext>
              </a:extLst>
            </p:cNvPr>
            <p:cNvSpPr/>
            <p:nvPr/>
          </p:nvSpPr>
          <p:spPr>
            <a:xfrm>
              <a:off x="1985911" y="486242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A38AE445-8301-A81B-8E6A-74DCDE903058}"/>
                </a:ext>
              </a:extLst>
            </p:cNvPr>
            <p:cNvSpPr/>
            <p:nvPr/>
          </p:nvSpPr>
          <p:spPr>
            <a:xfrm>
              <a:off x="2882388" y="32343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E3634F20-61B8-01BA-265B-6D53BFED478F}"/>
                </a:ext>
              </a:extLst>
            </p:cNvPr>
            <p:cNvSpPr/>
            <p:nvPr/>
          </p:nvSpPr>
          <p:spPr>
            <a:xfrm>
              <a:off x="3723660" y="4878427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F0FE370C-E9B0-5F3C-D304-503B3A904DC1}"/>
                </a:ext>
              </a:extLst>
            </p:cNvPr>
            <p:cNvSpPr/>
            <p:nvPr/>
          </p:nvSpPr>
          <p:spPr>
            <a:xfrm>
              <a:off x="2857289" y="4968787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E4375051-9540-4F0A-98CC-A806591EFAC1}"/>
                </a:ext>
              </a:extLst>
            </p:cNvPr>
            <p:cNvSpPr/>
            <p:nvPr/>
          </p:nvSpPr>
          <p:spPr>
            <a:xfrm>
              <a:off x="3559657" y="743113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D85A1BCB-B54D-AFFF-3E9E-3D242BD2890D}"/>
                </a:ext>
              </a:extLst>
            </p:cNvPr>
            <p:cNvSpPr/>
            <p:nvPr/>
          </p:nvSpPr>
          <p:spPr>
            <a:xfrm>
              <a:off x="4626020" y="733157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C99D7300-F782-0F13-A601-B867BFB18170}"/>
                </a:ext>
              </a:extLst>
            </p:cNvPr>
            <p:cNvSpPr/>
            <p:nvPr/>
          </p:nvSpPr>
          <p:spPr>
            <a:xfrm>
              <a:off x="3968012" y="6290698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3796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21332</TotalTime>
  <Words>1561</Words>
  <Application>Microsoft Office PowerPoint</Application>
  <PresentationFormat>Widescreen</PresentationFormat>
  <Paragraphs>597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Calibri Light</vt:lpstr>
      <vt:lpstr>Calibri</vt:lpstr>
      <vt:lpstr>Cambria Math</vt:lpstr>
      <vt:lpstr>Aptos</vt:lpstr>
      <vt:lpstr>Arial</vt:lpstr>
      <vt:lpstr>Office Theme</vt:lpstr>
      <vt:lpstr>CSE 332 Winter 2026 Lecture 14: Graphs</vt:lpstr>
      <vt:lpstr>“Linear Time” Sorting Algorithms</vt:lpstr>
      <vt:lpstr>BucketSort</vt:lpstr>
      <vt:lpstr>BucketSort Running Time</vt:lpstr>
      <vt:lpstr>Properties of BucketSort</vt:lpstr>
      <vt:lpstr>RadixSort</vt:lpstr>
      <vt:lpstr>RadixSort</vt:lpstr>
      <vt:lpstr>RadixSort</vt:lpstr>
      <vt:lpstr>RadixSort</vt:lpstr>
      <vt:lpstr>RadixSort Running Time</vt:lpstr>
      <vt:lpstr>ARPANET</vt:lpstr>
      <vt:lpstr>Undirected Graphs</vt:lpstr>
      <vt:lpstr>Directed Graphs</vt:lpstr>
      <vt:lpstr>Self-Edges and Duplicate Edges</vt:lpstr>
      <vt:lpstr>Weighted Graphs</vt:lpstr>
      <vt:lpstr>Graph Applications</vt:lpstr>
      <vt:lpstr>Some Graph Terms</vt:lpstr>
      <vt:lpstr>Definition: Complete Graph</vt:lpstr>
      <vt:lpstr>Definition: Path</vt:lpstr>
      <vt:lpstr>Definition: (Strongly) Connected Graph</vt:lpstr>
      <vt:lpstr>Definition: (Strongly) Connected Graph</vt:lpstr>
      <vt:lpstr>Definition: Weakly Connected Graph</vt:lpstr>
      <vt:lpstr>Graph Density, Data Structures, Efficiency</vt:lpstr>
      <vt:lpstr>Definition: Tree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8: Dictionaries, BSTs</dc:title>
  <dc:creator>Nathan Brunelle</dc:creator>
  <cp:lastModifiedBy>Nathan Brunelle</cp:lastModifiedBy>
  <cp:revision>243</cp:revision>
  <dcterms:created xsi:type="dcterms:W3CDTF">2023-10-13T16:06:42Z</dcterms:created>
  <dcterms:modified xsi:type="dcterms:W3CDTF">2026-02-06T21:36:33Z</dcterms:modified>
</cp:coreProperties>
</file>